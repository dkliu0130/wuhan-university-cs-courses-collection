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92"/>
  </p:notesMasterIdLst>
  <p:sldIdLst>
    <p:sldId id="256" r:id="rId3"/>
    <p:sldId id="424" r:id="rId4"/>
    <p:sldId id="425" r:id="rId5"/>
    <p:sldId id="257" r:id="rId6"/>
    <p:sldId id="258" r:id="rId7"/>
    <p:sldId id="259" r:id="rId8"/>
    <p:sldId id="260" r:id="rId9"/>
    <p:sldId id="288" r:id="rId10"/>
    <p:sldId id="262" r:id="rId11"/>
    <p:sldId id="263" r:id="rId12"/>
    <p:sldId id="264" r:id="rId13"/>
    <p:sldId id="265" r:id="rId14"/>
    <p:sldId id="266" r:id="rId15"/>
    <p:sldId id="267" r:id="rId16"/>
    <p:sldId id="299" r:id="rId17"/>
    <p:sldId id="269" r:id="rId18"/>
    <p:sldId id="268" r:id="rId19"/>
    <p:sldId id="289" r:id="rId20"/>
    <p:sldId id="285" r:id="rId21"/>
    <p:sldId id="271" r:id="rId22"/>
    <p:sldId id="272" r:id="rId23"/>
    <p:sldId id="361" r:id="rId24"/>
    <p:sldId id="362" r:id="rId25"/>
    <p:sldId id="427" r:id="rId26"/>
    <p:sldId id="311" r:id="rId27"/>
    <p:sldId id="313" r:id="rId28"/>
    <p:sldId id="357" r:id="rId29"/>
    <p:sldId id="359" r:id="rId30"/>
    <p:sldId id="358" r:id="rId31"/>
    <p:sldId id="360" r:id="rId32"/>
    <p:sldId id="273" r:id="rId33"/>
    <p:sldId id="300" r:id="rId34"/>
    <p:sldId id="365" r:id="rId35"/>
    <p:sldId id="364" r:id="rId36"/>
    <p:sldId id="497" r:id="rId37"/>
    <p:sldId id="281" r:id="rId38"/>
    <p:sldId id="275" r:id="rId39"/>
    <p:sldId id="312" r:id="rId40"/>
    <p:sldId id="350" r:id="rId41"/>
    <p:sldId id="351" r:id="rId42"/>
    <p:sldId id="428" r:id="rId43"/>
    <p:sldId id="429" r:id="rId44"/>
    <p:sldId id="318" r:id="rId45"/>
    <p:sldId id="320" r:id="rId46"/>
    <p:sldId id="319" r:id="rId47"/>
    <p:sldId id="430" r:id="rId48"/>
    <p:sldId id="455" r:id="rId49"/>
    <p:sldId id="453" r:id="rId50"/>
    <p:sldId id="454" r:id="rId51"/>
    <p:sldId id="431" r:id="rId52"/>
    <p:sldId id="433" r:id="rId53"/>
    <p:sldId id="434" r:id="rId54"/>
    <p:sldId id="435" r:id="rId55"/>
    <p:sldId id="436" r:id="rId56"/>
    <p:sldId id="437" r:id="rId57"/>
    <p:sldId id="438" r:id="rId58"/>
    <p:sldId id="439" r:id="rId59"/>
    <p:sldId id="441" r:id="rId60"/>
    <p:sldId id="440" r:id="rId61"/>
    <p:sldId id="442" r:id="rId62"/>
    <p:sldId id="498" r:id="rId63"/>
    <p:sldId id="499" r:id="rId64"/>
    <p:sldId id="443" r:id="rId65"/>
    <p:sldId id="444" r:id="rId66"/>
    <p:sldId id="445" r:id="rId67"/>
    <p:sldId id="446" r:id="rId68"/>
    <p:sldId id="447" r:id="rId69"/>
    <p:sldId id="448" r:id="rId70"/>
    <p:sldId id="449" r:id="rId71"/>
    <p:sldId id="450" r:id="rId72"/>
    <p:sldId id="451" r:id="rId73"/>
    <p:sldId id="452" r:id="rId74"/>
    <p:sldId id="538" r:id="rId75"/>
    <p:sldId id="539" r:id="rId76"/>
    <p:sldId id="540" r:id="rId77"/>
    <p:sldId id="541" r:id="rId78"/>
    <p:sldId id="543" r:id="rId79"/>
    <p:sldId id="544" r:id="rId80"/>
    <p:sldId id="545" r:id="rId81"/>
    <p:sldId id="542" r:id="rId82"/>
    <p:sldId id="546" r:id="rId83"/>
    <p:sldId id="547" r:id="rId84"/>
    <p:sldId id="549" r:id="rId85"/>
    <p:sldId id="550" r:id="rId86"/>
    <p:sldId id="551" r:id="rId87"/>
    <p:sldId id="553" r:id="rId88"/>
    <p:sldId id="432" r:id="rId89"/>
    <p:sldId id="456" r:id="rId90"/>
    <p:sldId id="500" r:id="rId91"/>
  </p:sldIdLst>
  <p:sldSz cx="9144000" cy="6858000" type="screen4x3"/>
  <p:notesSz cx="9144000" cy="6858000"/>
  <p:defaultTextStyle>
    <a:defPPr>
      <a:defRPr lang="zh-CN"/>
    </a:defPPr>
    <a:lvl1pPr marL="0" lvl="0"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5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77"/>
    <p:restoredTop sz="82149"/>
  </p:normalViewPr>
  <p:slideViewPr>
    <p:cSldViewPr showGuides="1">
      <p:cViewPr varScale="1">
        <p:scale>
          <a:sx n="72" d="100"/>
          <a:sy n="72" d="100"/>
        </p:scale>
        <p:origin x="1233" y="45"/>
      </p:cViewPr>
      <p:guideLst>
        <p:guide orient="horz" pos="2153"/>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962400" cy="342900"/>
          </a:xfrm>
          <a:prstGeom prst="rect">
            <a:avLst/>
          </a:prstGeom>
          <a:noFill/>
          <a:ln>
            <a:noFill/>
          </a:ln>
          <a:effectLst/>
        </p:spPr>
        <p:txBody>
          <a:bodyPr vert="horz" wrap="square" lIns="91440" tIns="45720" rIns="91440" bIns="45720" numCol="1" anchor="t" anchorCtr="0" compatLnSpc="1"/>
          <a:lstStyle>
            <a:lvl1pPr eaLnBrk="1" hangingPunct="1">
              <a:defRPr sz="1200">
                <a:latin typeface="Arial" panose="020B060402020209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1203" name="Rectangle 3"/>
          <p:cNvSpPr>
            <a:spLocks noGrp="1" noChangeArrowheads="1"/>
          </p:cNvSpPr>
          <p:nvPr>
            <p:ph type="dt" idx="1"/>
          </p:nvPr>
        </p:nvSpPr>
        <p:spPr bwMode="auto">
          <a:xfrm>
            <a:off x="5179484" y="0"/>
            <a:ext cx="3962400" cy="3429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Arial" panose="020B060402020209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124" name="Rectangle 4"/>
          <p:cNvSpPr>
            <a:spLocks noGrp="1" noRot="1" noChangeAspect="1" noTextEdit="1"/>
          </p:cNvSpPr>
          <p:nvPr>
            <p:ph type="sldImg"/>
          </p:nvPr>
        </p:nvSpPr>
        <p:spPr>
          <a:xfrm>
            <a:off x="2857500" y="514350"/>
            <a:ext cx="3429000" cy="2571750"/>
          </a:xfrm>
          <a:prstGeom prst="rect">
            <a:avLst/>
          </a:prstGeom>
          <a:noFill/>
          <a:ln w="9525" cap="flat" cmpd="sng">
            <a:solidFill>
              <a:srgbClr val="000000"/>
            </a:solidFill>
            <a:prstDash val="solid"/>
            <a:miter/>
            <a:headEnd type="none" w="med" len="med"/>
            <a:tailEnd type="none" w="med" len="med"/>
          </a:ln>
        </p:spPr>
      </p:sp>
      <p:sp>
        <p:nvSpPr>
          <p:cNvPr id="51205" name="Rectangle 5"/>
          <p:cNvSpPr>
            <a:spLocks noGrp="1" noChangeArrowheads="1"/>
          </p:cNvSpPr>
          <p:nvPr>
            <p:ph type="body" sz="quarter" idx="3"/>
          </p:nvPr>
        </p:nvSpPr>
        <p:spPr bwMode="auto">
          <a:xfrm>
            <a:off x="914400" y="3257550"/>
            <a:ext cx="7315200" cy="30861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第五级</a:t>
            </a:r>
          </a:p>
        </p:txBody>
      </p:sp>
      <p:sp>
        <p:nvSpPr>
          <p:cNvPr id="51206" name="Rectangle 6"/>
          <p:cNvSpPr>
            <a:spLocks noGrp="1" noChangeArrowheads="1"/>
          </p:cNvSpPr>
          <p:nvPr>
            <p:ph type="ftr" sz="quarter" idx="4"/>
          </p:nvPr>
        </p:nvSpPr>
        <p:spPr bwMode="auto">
          <a:xfrm>
            <a:off x="0" y="6513910"/>
            <a:ext cx="3962400" cy="342900"/>
          </a:xfrm>
          <a:prstGeom prst="rect">
            <a:avLst/>
          </a:prstGeom>
          <a:noFill/>
          <a:ln>
            <a:noFill/>
          </a:ln>
          <a:effectLst/>
        </p:spPr>
        <p:txBody>
          <a:bodyPr vert="horz" wrap="square" lIns="91440" tIns="45720" rIns="91440" bIns="45720" numCol="1" anchor="b" anchorCtr="0" compatLnSpc="1"/>
          <a:lstStyle>
            <a:lvl1pPr eaLnBrk="1" hangingPunct="1">
              <a:defRPr sz="1200">
                <a:latin typeface="Arial" panose="020B060402020209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1207" name="Rectangle 7"/>
          <p:cNvSpPr>
            <a:spLocks noGrp="1" noChangeArrowheads="1"/>
          </p:cNvSpPr>
          <p:nvPr>
            <p:ph type="sldNum" sz="quarter" idx="5"/>
          </p:nvPr>
        </p:nvSpPr>
        <p:spPr bwMode="auto">
          <a:xfrm>
            <a:off x="5179484" y="6513910"/>
            <a:ext cx="3962400" cy="342900"/>
          </a:xfrm>
          <a:prstGeom prst="rect">
            <a:avLst/>
          </a:prstGeom>
          <a:noFill/>
          <a:ln>
            <a:noFill/>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504DFA2-DF3B-49CB-A022-5D5F112EDAC4}" type="slidenum">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latin typeface="Arial" panose="020B0604020202090204" pitchFamily="34" charset="0"/>
                <a:ea typeface="宋体" pitchFamily="2" charset="-122"/>
              </a:rPr>
              <a:t>*</a:t>
            </a:r>
          </a:p>
        </p:txBody>
      </p:sp>
      <p:sp>
        <p:nvSpPr>
          <p:cNvPr id="7170" name="Rectangle 2"/>
          <p:cNvSpPr>
            <a:spLocks noGrp="1" noRot="1" noChangeAspect="1" noTextEdit="1"/>
          </p:cNvSpPr>
          <p:nvPr>
            <p:ph type="sldImg"/>
          </p:nvPr>
        </p:nvSpPr>
        <p:spPr/>
      </p:sp>
      <p:sp>
        <p:nvSpPr>
          <p:cNvPr id="7171"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latin typeface="Arial" panose="020B0604020202090204" pitchFamily="34" charset="0"/>
                <a:ea typeface="宋体" pitchFamily="2" charset="-122"/>
              </a:rPr>
              <a:t>*</a:t>
            </a:r>
          </a:p>
        </p:txBody>
      </p:sp>
      <p:sp>
        <p:nvSpPr>
          <p:cNvPr id="9218" name="Rectangle 2"/>
          <p:cNvSpPr>
            <a:spLocks noGrp="1" noRot="1" noChangeAspect="1" noTextEdit="1"/>
          </p:cNvSpPr>
          <p:nvPr>
            <p:ph type="sldImg"/>
          </p:nvPr>
        </p:nvSpPr>
        <p:spPr/>
      </p:sp>
      <p:sp>
        <p:nvSpPr>
          <p:cNvPr id="921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latin typeface="Arial" panose="020B0604020202090204" pitchFamily="34" charset="0"/>
                <a:ea typeface="宋体" pitchFamily="2" charset="-122"/>
              </a:rPr>
              <a:t>*</a:t>
            </a:r>
          </a:p>
        </p:txBody>
      </p:sp>
      <p:sp>
        <p:nvSpPr>
          <p:cNvPr id="11266" name="Rectangle 2"/>
          <p:cNvSpPr>
            <a:spLocks noGrp="1" noRot="1" noChangeAspect="1" noTextEdit="1"/>
          </p:cNvSpPr>
          <p:nvPr>
            <p:ph type="sldImg"/>
          </p:nvPr>
        </p:nvSpPr>
        <p:spPr/>
      </p:sp>
      <p:sp>
        <p:nvSpPr>
          <p:cNvPr id="11267"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13314" name="Rectangle 2"/>
          <p:cNvSpPr>
            <a:spLocks noGrp="1" noRot="1" noChangeAspect="1" noTextEdit="1"/>
          </p:cNvSpPr>
          <p:nvPr>
            <p:ph type="sldImg"/>
          </p:nvPr>
        </p:nvSpPr>
        <p:spPr/>
      </p:sp>
      <p:sp>
        <p:nvSpPr>
          <p:cNvPr id="13315"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15362" name="Rectangle 2"/>
          <p:cNvSpPr>
            <a:spLocks noGrp="1" noRot="1" noChangeAspect="1" noTextEdit="1"/>
          </p:cNvSpPr>
          <p:nvPr>
            <p:ph type="sldImg"/>
          </p:nvPr>
        </p:nvSpPr>
        <p:spPr/>
      </p:sp>
      <p:sp>
        <p:nvSpPr>
          <p:cNvPr id="1536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17410" name="Rectangle 2"/>
          <p:cNvSpPr>
            <a:spLocks noGrp="1" noRot="1" noChangeAspect="1" noTextEdit="1"/>
          </p:cNvSpPr>
          <p:nvPr>
            <p:ph type="sldImg"/>
          </p:nvPr>
        </p:nvSpPr>
        <p:spPr/>
      </p:sp>
      <p:sp>
        <p:nvSpPr>
          <p:cNvPr id="17411"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19458" name="Rectangle 2"/>
          <p:cNvSpPr>
            <a:spLocks noGrp="1" noRot="1" noChangeAspect="1" noTextEdit="1"/>
          </p:cNvSpPr>
          <p:nvPr>
            <p:ph type="sldImg"/>
          </p:nvPr>
        </p:nvSpPr>
        <p:spPr/>
      </p:sp>
      <p:sp>
        <p:nvSpPr>
          <p:cNvPr id="1945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21506" name="Rectangle 2"/>
          <p:cNvSpPr>
            <a:spLocks noGrp="1" noRot="1" noChangeAspect="1" noTextEdit="1"/>
          </p:cNvSpPr>
          <p:nvPr>
            <p:ph type="sldImg"/>
          </p:nvPr>
        </p:nvSpPr>
        <p:spPr/>
      </p:sp>
      <p:sp>
        <p:nvSpPr>
          <p:cNvPr id="21507"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23554" name="Rectangle 2"/>
          <p:cNvSpPr>
            <a:spLocks noGrp="1" noRot="1" noChangeAspect="1" noTextEdit="1"/>
          </p:cNvSpPr>
          <p:nvPr>
            <p:ph type="sldImg"/>
          </p:nvPr>
        </p:nvSpPr>
        <p:spPr/>
      </p:sp>
      <p:sp>
        <p:nvSpPr>
          <p:cNvPr id="23555"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25602" name="Rectangle 2"/>
          <p:cNvSpPr>
            <a:spLocks noGrp="1" noRot="1" noChangeAspect="1" noTextEdit="1"/>
          </p:cNvSpPr>
          <p:nvPr>
            <p:ph type="sldImg"/>
          </p:nvPr>
        </p:nvSpPr>
        <p:spPr/>
      </p:sp>
      <p:sp>
        <p:nvSpPr>
          <p:cNvPr id="2560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27650" name="Rectangle 2"/>
          <p:cNvSpPr>
            <a:spLocks noGrp="1" noRot="1" noChangeAspect="1" noTextEdit="1"/>
          </p:cNvSpPr>
          <p:nvPr>
            <p:ph type="sldImg"/>
          </p:nvPr>
        </p:nvSpPr>
        <p:spPr/>
      </p:sp>
      <p:sp>
        <p:nvSpPr>
          <p:cNvPr id="27651" name="Rectangle 3"/>
          <p:cNvSpPr>
            <a:spLocks noGrp="1"/>
          </p:cNvSpPr>
          <p:nvPr>
            <p:ph type="body"/>
          </p:nvPr>
        </p:nvSpPr>
        <p:spPr/>
        <p:txBody>
          <a:bodyPr wrap="square" lIns="91440" tIns="45720" rIns="91440" bIns="45720" anchor="t" anchorCtr="0"/>
          <a:lstStyle/>
          <a:p>
            <a:pPr lvl="0" eaLnBrk="1" hangingPunct="1"/>
            <a:r>
              <a:rPr lang="en-US" altLang="zh-CN" dirty="0"/>
              <a:t>K</a:t>
            </a:r>
            <a:r>
              <a:rPr lang="zh-CN" altLang="en-US" dirty="0"/>
              <a:t>：顶点的标记，从</a:t>
            </a:r>
            <a:r>
              <a:rPr lang="en-US" altLang="zh-CN" dirty="0"/>
              <a:t>1-n</a:t>
            </a:r>
          </a:p>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29698" name="Rectangle 2"/>
          <p:cNvSpPr>
            <a:spLocks noGrp="1" noRot="1" noChangeAspect="1" noTextEdit="1"/>
          </p:cNvSpPr>
          <p:nvPr>
            <p:ph type="sldImg"/>
          </p:nvPr>
        </p:nvSpPr>
        <p:spPr/>
      </p:sp>
      <p:sp>
        <p:nvSpPr>
          <p:cNvPr id="2969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31746" name="Rectangle 2"/>
          <p:cNvSpPr>
            <a:spLocks noGrp="1" noRot="1" noChangeAspect="1" noTextEdit="1"/>
          </p:cNvSpPr>
          <p:nvPr>
            <p:ph type="sldImg"/>
          </p:nvPr>
        </p:nvSpPr>
        <p:spPr/>
      </p:sp>
      <p:sp>
        <p:nvSpPr>
          <p:cNvPr id="31747"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33794" name="Rectangle 2"/>
          <p:cNvSpPr>
            <a:spLocks noGrp="1" noRot="1" noChangeAspect="1" noTextEdit="1"/>
          </p:cNvSpPr>
          <p:nvPr>
            <p:ph type="sldImg"/>
          </p:nvPr>
        </p:nvSpPr>
        <p:spPr/>
      </p:sp>
      <p:sp>
        <p:nvSpPr>
          <p:cNvPr id="33795"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36866" name="Rectangle 2"/>
          <p:cNvSpPr>
            <a:spLocks noGrp="1" noRot="1" noChangeAspect="1" noTextEdit="1"/>
          </p:cNvSpPr>
          <p:nvPr>
            <p:ph type="sldImg"/>
          </p:nvPr>
        </p:nvSpPr>
        <p:spPr/>
      </p:sp>
      <p:sp>
        <p:nvSpPr>
          <p:cNvPr id="36867"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38914" name="Rectangle 2"/>
          <p:cNvSpPr>
            <a:spLocks noGrp="1" noRot="1" noChangeAspect="1" noTextEdit="1"/>
          </p:cNvSpPr>
          <p:nvPr>
            <p:ph type="sldImg"/>
          </p:nvPr>
        </p:nvSpPr>
        <p:spPr/>
      </p:sp>
      <p:sp>
        <p:nvSpPr>
          <p:cNvPr id="38915"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40962" name="Rectangle 2"/>
          <p:cNvSpPr>
            <a:spLocks noGrp="1" noRot="1" noChangeAspect="1" noTextEdit="1"/>
          </p:cNvSpPr>
          <p:nvPr>
            <p:ph type="sldImg"/>
          </p:nvPr>
        </p:nvSpPr>
        <p:spPr/>
      </p:sp>
      <p:sp>
        <p:nvSpPr>
          <p:cNvPr id="4096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43010" name="Rectangle 2"/>
          <p:cNvSpPr>
            <a:spLocks noGrp="1" noRot="1" noChangeAspect="1" noTextEdit="1"/>
          </p:cNvSpPr>
          <p:nvPr>
            <p:ph type="sldImg"/>
          </p:nvPr>
        </p:nvSpPr>
        <p:spPr/>
      </p:sp>
      <p:sp>
        <p:nvSpPr>
          <p:cNvPr id="43011"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45058" name="Rectangle 2"/>
          <p:cNvSpPr>
            <a:spLocks noGrp="1" noRot="1" noChangeAspect="1" noTextEdit="1"/>
          </p:cNvSpPr>
          <p:nvPr>
            <p:ph type="sldImg"/>
          </p:nvPr>
        </p:nvSpPr>
        <p:spPr/>
      </p:sp>
      <p:sp>
        <p:nvSpPr>
          <p:cNvPr id="4505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47106" name="Rectangle 2"/>
          <p:cNvSpPr>
            <a:spLocks noGrp="1" noRot="1" noChangeAspect="1" noTextEdit="1"/>
          </p:cNvSpPr>
          <p:nvPr>
            <p:ph type="sldImg"/>
          </p:nvPr>
        </p:nvSpPr>
        <p:spPr/>
      </p:sp>
      <p:sp>
        <p:nvSpPr>
          <p:cNvPr id="47107"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49154" name="Rectangle 2"/>
          <p:cNvSpPr>
            <a:spLocks noGrp="1" noRot="1" noChangeAspect="1" noTextEdit="1"/>
          </p:cNvSpPr>
          <p:nvPr>
            <p:ph type="sldImg"/>
          </p:nvPr>
        </p:nvSpPr>
        <p:spPr/>
      </p:sp>
      <p:sp>
        <p:nvSpPr>
          <p:cNvPr id="49155"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幻灯片图像占位符 1"/>
          <p:cNvSpPr>
            <a:spLocks noGrp="1" noRot="1" noChangeAspect="1" noTextEdit="1"/>
          </p:cNvSpPr>
          <p:nvPr>
            <p:ph type="sldImg"/>
          </p:nvPr>
        </p:nvSpPr>
        <p:spPr/>
      </p:sp>
      <p:sp>
        <p:nvSpPr>
          <p:cNvPr id="63490" name="备注占位符 2"/>
          <p:cNvSpPr>
            <a:spLocks noGrp="1"/>
          </p:cNvSpPr>
          <p:nvPr>
            <p:ph type="body"/>
          </p:nvPr>
        </p:nvSpPr>
        <p:spPr/>
        <p:txBody>
          <a:bodyPr wrap="square" lIns="91440" tIns="45720" rIns="91440" bIns="45720" anchor="t" anchorCtr="0"/>
          <a:lstStyle/>
          <a:p>
            <a:pPr lvl="0"/>
            <a:r>
              <a:rPr lang="zh-CN" altLang="en-US" dirty="0"/>
              <a:t>回溯法的问题要求：满足规范函数取极大或极小值，的</a:t>
            </a:r>
            <a:r>
              <a:rPr lang="en-US" altLang="zh-CN" dirty="0"/>
              <a:t>n</a:t>
            </a:r>
            <a:r>
              <a:rPr lang="zh-CN" altLang="en-US" dirty="0"/>
              <a:t>元组的解向量，可能有多组；比如背包问题，满足要求（规范函数）的物品，价值最大；</a:t>
            </a:r>
            <a:endParaRPr lang="en-US" altLang="zh-CN" dirty="0"/>
          </a:p>
          <a:p>
            <a:pPr lvl="0"/>
            <a:r>
              <a:rPr lang="zh-CN" altLang="en-US" dirty="0"/>
              <a:t>约束条件：显示：给定的所有物品。</a:t>
            </a:r>
            <a:endParaRPr lang="en-US" altLang="zh-CN" dirty="0"/>
          </a:p>
          <a:p>
            <a:pPr lvl="0"/>
            <a:r>
              <a:rPr lang="zh-CN" altLang="en-US" dirty="0"/>
              <a:t>隐式：满足规范函数的元组，加入物品不操过背包体积；</a:t>
            </a:r>
          </a:p>
        </p:txBody>
      </p:sp>
      <p:sp>
        <p:nvSpPr>
          <p:cNvPr id="63491"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p:cNvSpPr>
            <a:spLocks noGrp="1" noRot="1" noChangeAspect="1" noTextEdit="1"/>
          </p:cNvSpPr>
          <p:nvPr>
            <p:ph type="sldImg"/>
          </p:nvPr>
        </p:nvSpPr>
        <p:spPr/>
      </p:sp>
      <p:sp>
        <p:nvSpPr>
          <p:cNvPr id="53250" name="备注占位符 2"/>
          <p:cNvSpPr>
            <a:spLocks noGrp="1"/>
          </p:cNvSpPr>
          <p:nvPr>
            <p:ph type="body"/>
          </p:nvPr>
        </p:nvSpPr>
        <p:spPr/>
        <p:txBody>
          <a:bodyPr wrap="square" lIns="91440" tIns="45720" rIns="91440" bIns="45720" anchor="t" anchorCtr="0"/>
          <a:lstStyle/>
          <a:p>
            <a:pPr lvl="0"/>
            <a:r>
              <a:rPr lang="zh-CN" altLang="en-US" dirty="0"/>
              <a:t>树的每一个分支表示当前该物体放还是不放入背包，</a:t>
            </a:r>
            <a:r>
              <a:rPr lang="en-US" altLang="zh-CN" dirty="0"/>
              <a:t>1</a:t>
            </a:r>
            <a:r>
              <a:rPr lang="zh-CN" altLang="en-US" dirty="0"/>
              <a:t>表示放，</a:t>
            </a:r>
            <a:r>
              <a:rPr lang="en-US" altLang="zh-CN" dirty="0"/>
              <a:t>0</a:t>
            </a:r>
            <a:r>
              <a:rPr lang="zh-CN" altLang="en-US" dirty="0"/>
              <a:t>表示不放</a:t>
            </a:r>
          </a:p>
        </p:txBody>
      </p:sp>
      <p:sp>
        <p:nvSpPr>
          <p:cNvPr id="53251"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幻灯片图像占位符 1"/>
          <p:cNvSpPr>
            <a:spLocks noGrp="1" noRot="1" noChangeAspect="1" noTextEdit="1"/>
          </p:cNvSpPr>
          <p:nvPr>
            <p:ph type="sldImg"/>
          </p:nvPr>
        </p:nvSpPr>
        <p:spPr/>
      </p:sp>
      <p:sp>
        <p:nvSpPr>
          <p:cNvPr id="55298" name="备注占位符 2"/>
          <p:cNvSpPr>
            <a:spLocks noGrp="1"/>
          </p:cNvSpPr>
          <p:nvPr>
            <p:ph type="body"/>
          </p:nvPr>
        </p:nvSpPr>
        <p:spPr/>
        <p:txBody>
          <a:bodyPr wrap="square" lIns="91440" tIns="45720" rIns="91440" bIns="45720" anchor="t" anchorCtr="0"/>
          <a:lstStyle/>
          <a:p>
            <a:pPr lvl="0"/>
            <a:r>
              <a:rPr lang="zh-CN" altLang="en-US" dirty="0"/>
              <a:t>旅行商问题：该问题是在寻求单一旅行者由起点出发，通过所有给定的需求点之后，最后再回到原点的最小路径成本。</a:t>
            </a:r>
          </a:p>
        </p:txBody>
      </p:sp>
      <p:sp>
        <p:nvSpPr>
          <p:cNvPr id="55299"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p:cNvSpPr>
            <a:spLocks noGrp="1" noRot="1" noChangeAspect="1" noTextEdit="1"/>
          </p:cNvSpPr>
          <p:nvPr>
            <p:ph type="sldImg"/>
          </p:nvPr>
        </p:nvSpPr>
        <p:spPr/>
      </p:sp>
      <p:sp>
        <p:nvSpPr>
          <p:cNvPr id="57346" name="备注占位符 2"/>
          <p:cNvSpPr>
            <a:spLocks noGrp="1"/>
          </p:cNvSpPr>
          <p:nvPr>
            <p:ph type="body"/>
          </p:nvPr>
        </p:nvSpPr>
        <p:spPr/>
        <p:txBody>
          <a:bodyPr wrap="square" lIns="91440" tIns="45720" rIns="91440" bIns="45720" anchor="t" anchorCtr="0"/>
          <a:lstStyle/>
          <a:p>
            <a:pPr lvl="0"/>
            <a:r>
              <a:rPr lang="zh-CN" altLang="en-US" dirty="0"/>
              <a:t>树的每一条分支表示选择剩余的哪个点行走，每一层分支逐步递减</a:t>
            </a:r>
          </a:p>
        </p:txBody>
      </p:sp>
      <p:sp>
        <p:nvSpPr>
          <p:cNvPr id="57347"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73730" name="Rectangle 2"/>
          <p:cNvSpPr>
            <a:spLocks noGrp="1" noRot="1" noChangeAspect="1" noTextEdit="1"/>
          </p:cNvSpPr>
          <p:nvPr>
            <p:ph type="sldImg"/>
          </p:nvPr>
        </p:nvSpPr>
        <p:spPr/>
      </p:sp>
      <p:sp>
        <p:nvSpPr>
          <p:cNvPr id="73731"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p:cNvSpPr>
            <a:spLocks noGrp="1" noRot="1" noChangeAspect="1" noTextEdit="1"/>
          </p:cNvSpPr>
          <p:nvPr>
            <p:ph type="sldImg"/>
          </p:nvPr>
        </p:nvSpPr>
        <p:spPr/>
      </p:sp>
      <p:sp>
        <p:nvSpPr>
          <p:cNvPr id="61442" name="备注占位符 2"/>
          <p:cNvSpPr>
            <a:spLocks noGrp="1"/>
          </p:cNvSpPr>
          <p:nvPr>
            <p:ph type="body"/>
          </p:nvPr>
        </p:nvSpPr>
        <p:spPr/>
        <p:txBody>
          <a:bodyPr wrap="square" lIns="91440" tIns="45720" rIns="91440" bIns="45720" anchor="t" anchorCtr="0"/>
          <a:lstStyle/>
          <a:p>
            <a:pPr lvl="0"/>
            <a:r>
              <a:rPr lang="zh-CN" altLang="en-US" dirty="0"/>
              <a:t>根据状态空间树，可以判断哪些是解状态，哪些是答案状态；</a:t>
            </a:r>
          </a:p>
        </p:txBody>
      </p:sp>
      <p:sp>
        <p:nvSpPr>
          <p:cNvPr id="61443"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幻灯片图像占位符 1"/>
          <p:cNvSpPr>
            <a:spLocks noGrp="1" noRot="1" noChangeAspect="1" noTextEdit="1"/>
          </p:cNvSpPr>
          <p:nvPr>
            <p:ph type="sldImg"/>
          </p:nvPr>
        </p:nvSpPr>
        <p:spPr/>
      </p:sp>
      <p:sp>
        <p:nvSpPr>
          <p:cNvPr id="59394" name="备注占位符 2"/>
          <p:cNvSpPr>
            <a:spLocks noGrp="1"/>
          </p:cNvSpPr>
          <p:nvPr>
            <p:ph type="body"/>
          </p:nvPr>
        </p:nvSpPr>
        <p:spPr/>
        <p:txBody>
          <a:bodyPr wrap="square" lIns="91440" tIns="45720" rIns="91440" bIns="45720" anchor="t" anchorCtr="0"/>
          <a:lstStyle/>
          <a:p>
            <a:pPr lvl="0"/>
            <a:r>
              <a:rPr lang="zh-CN" altLang="en-US" dirty="0"/>
              <a:t>问题状态、解状态、答案状态；</a:t>
            </a:r>
          </a:p>
        </p:txBody>
      </p:sp>
      <p:sp>
        <p:nvSpPr>
          <p:cNvPr id="59395"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78850" name="Rectangle 2"/>
          <p:cNvSpPr>
            <a:spLocks noGrp="1" noRot="1" noChangeAspect="1" noTextEdit="1"/>
          </p:cNvSpPr>
          <p:nvPr>
            <p:ph type="sldImg"/>
          </p:nvPr>
        </p:nvSpPr>
        <p:spPr/>
      </p:sp>
      <p:sp>
        <p:nvSpPr>
          <p:cNvPr id="78851"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76802" name="Rectangle 2"/>
          <p:cNvSpPr>
            <a:spLocks noGrp="1" noRot="1" noChangeAspect="1" noTextEdit="1"/>
          </p:cNvSpPr>
          <p:nvPr>
            <p:ph type="sldImg"/>
          </p:nvPr>
        </p:nvSpPr>
        <p:spPr/>
      </p:sp>
      <p:sp>
        <p:nvSpPr>
          <p:cNvPr id="7680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noTextEdit="1"/>
          </p:cNvSpPr>
          <p:nvPr>
            <p:ph type="sldImg"/>
          </p:nvPr>
        </p:nvSpPr>
        <p:spPr/>
      </p:sp>
      <p:sp>
        <p:nvSpPr>
          <p:cNvPr id="66562"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66563"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图像占位符 1"/>
          <p:cNvSpPr>
            <a:spLocks noGrp="1" noRot="1" noChangeAspect="1" noTextEdit="1"/>
          </p:cNvSpPr>
          <p:nvPr>
            <p:ph type="sldImg"/>
          </p:nvPr>
        </p:nvSpPr>
        <p:spPr/>
      </p:sp>
      <p:sp>
        <p:nvSpPr>
          <p:cNvPr id="70658" name="备注占位符 2"/>
          <p:cNvSpPr>
            <a:spLocks noGrp="1"/>
          </p:cNvSpPr>
          <p:nvPr>
            <p:ph type="body"/>
          </p:nvPr>
        </p:nvSpPr>
        <p:spPr/>
        <p:txBody>
          <a:bodyPr wrap="square" lIns="91440" tIns="45720" rIns="91440" bIns="45720" anchor="t" anchorCtr="0"/>
          <a:lstStyle/>
          <a:p>
            <a:pPr lvl="0"/>
            <a:r>
              <a:rPr lang="zh-CN" altLang="en-US" dirty="0"/>
              <a:t>什么是深度优先搜索策略？</a:t>
            </a:r>
            <a:endParaRPr lang="en-US" altLang="zh-CN" dirty="0"/>
          </a:p>
          <a:p>
            <a:pPr lvl="0"/>
            <a:r>
              <a:rPr lang="zh-CN" altLang="en-US" dirty="0"/>
              <a:t>开始顶点（活顶点、扩展顶点）</a:t>
            </a:r>
            <a:r>
              <a:rPr lang="en-US" altLang="zh-CN" dirty="0"/>
              <a:t>-&gt;</a:t>
            </a:r>
            <a:r>
              <a:rPr lang="zh-CN" altLang="en-US" dirty="0"/>
              <a:t>下一个新顶点（新的活顶点、当前扩展顶点）</a:t>
            </a:r>
            <a:r>
              <a:rPr lang="en-US" altLang="zh-CN" dirty="0"/>
              <a:t>--</a:t>
            </a:r>
            <a:r>
              <a:rPr lang="en-US" altLang="zh-CN" dirty="0">
                <a:sym typeface="Wingdings" panose="05000000000000000000" pitchFamily="2" charset="2"/>
              </a:rPr>
              <a:t></a:t>
            </a:r>
            <a:r>
              <a:rPr lang="zh-CN" altLang="en-US" dirty="0">
                <a:sym typeface="Wingdings" panose="05000000000000000000" pitchFamily="2" charset="2"/>
              </a:rPr>
              <a:t>下一个新顶点</a:t>
            </a:r>
            <a:r>
              <a:rPr lang="en-US" altLang="zh-CN" dirty="0">
                <a:sym typeface="Wingdings" panose="05000000000000000000" pitchFamily="2" charset="2"/>
              </a:rPr>
              <a:t>-&gt;</a:t>
            </a:r>
            <a:r>
              <a:rPr lang="zh-CN" altLang="en-US" dirty="0">
                <a:sym typeface="Wingdings" panose="05000000000000000000" pitchFamily="2" charset="2"/>
              </a:rPr>
              <a:t>死顶点</a:t>
            </a:r>
            <a:r>
              <a:rPr lang="en-US" altLang="zh-CN" dirty="0">
                <a:sym typeface="Wingdings" panose="05000000000000000000" pitchFamily="2" charset="2"/>
              </a:rPr>
              <a:t>(</a:t>
            </a:r>
            <a:r>
              <a:rPr lang="zh-CN" altLang="en-US" dirty="0">
                <a:sym typeface="Wingdings" panose="05000000000000000000" pitchFamily="2" charset="2"/>
              </a:rPr>
              <a:t>回溯</a:t>
            </a:r>
            <a:r>
              <a:rPr lang="en-US" altLang="zh-CN" dirty="0">
                <a:sym typeface="Wingdings" panose="05000000000000000000" pitchFamily="2" charset="2"/>
              </a:rPr>
              <a:t>)-</a:t>
            </a:r>
            <a:r>
              <a:rPr lang="zh-CN" altLang="en-US" dirty="0">
                <a:sym typeface="Wingdings" panose="05000000000000000000" pitchFamily="2" charset="2"/>
              </a:rPr>
              <a:t>最近活顶点</a:t>
            </a:r>
            <a:endParaRPr lang="zh-CN" altLang="en-US" dirty="0"/>
          </a:p>
        </p:txBody>
      </p:sp>
      <p:sp>
        <p:nvSpPr>
          <p:cNvPr id="70659"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
        <p:nvSpPr>
          <p:cNvPr id="80898" name="Rectangle 2"/>
          <p:cNvSpPr>
            <a:spLocks noGrp="1" noRot="1" noChangeAspect="1" noTextEdit="1"/>
          </p:cNvSpPr>
          <p:nvPr>
            <p:ph type="sldImg"/>
          </p:nvPr>
        </p:nvSpPr>
        <p:spPr/>
      </p:sp>
      <p:sp>
        <p:nvSpPr>
          <p:cNvPr id="8089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幻灯片图像占位符 1"/>
          <p:cNvSpPr>
            <a:spLocks noGrp="1" noRot="1" noChangeAspect="1" noTextEdit="1"/>
          </p:cNvSpPr>
          <p:nvPr>
            <p:ph type="sldImg"/>
          </p:nvPr>
        </p:nvSpPr>
        <p:spPr/>
      </p:sp>
      <p:sp>
        <p:nvSpPr>
          <p:cNvPr id="84994" name="备注占位符 2"/>
          <p:cNvSpPr>
            <a:spLocks noGrp="1"/>
          </p:cNvSpPr>
          <p:nvPr>
            <p:ph type="body"/>
          </p:nvPr>
        </p:nvSpPr>
        <p:spPr/>
        <p:txBody>
          <a:bodyPr wrap="square" lIns="91440" tIns="45720" rIns="91440" bIns="45720" anchor="t" anchorCtr="0"/>
          <a:lstStyle/>
          <a:p>
            <a:pPr lvl="0"/>
            <a:r>
              <a:rPr lang="en-US" altLang="zh-CN" dirty="0"/>
              <a:t>1</a:t>
            </a:r>
            <a:r>
              <a:rPr lang="zh-CN" altLang="en-US" dirty="0"/>
              <a:t>、前面所有数的加权</a:t>
            </a:r>
            <a:r>
              <a:rPr lang="en-US" altLang="zh-CN" dirty="0"/>
              <a:t>(0,1)</a:t>
            </a:r>
            <a:r>
              <a:rPr lang="zh-CN" altLang="en-US" dirty="0"/>
              <a:t>和，与后面全部数的和</a:t>
            </a:r>
            <a:r>
              <a:rPr lang="en-US" altLang="zh-CN" dirty="0"/>
              <a:t>&gt;=M,</a:t>
            </a:r>
            <a:r>
              <a:rPr lang="zh-CN" altLang="en-US" dirty="0"/>
              <a:t>限界函数为真</a:t>
            </a:r>
            <a:endParaRPr lang="en-US" altLang="zh-CN" dirty="0"/>
          </a:p>
          <a:p>
            <a:pPr lvl="0"/>
            <a:r>
              <a:rPr lang="en-US" altLang="zh-CN" dirty="0"/>
              <a:t>2</a:t>
            </a:r>
            <a:r>
              <a:rPr lang="zh-CN" altLang="en-US" dirty="0"/>
              <a:t>、前面所有数的加权</a:t>
            </a:r>
            <a:r>
              <a:rPr lang="en-US" altLang="zh-CN" dirty="0"/>
              <a:t>(0,1)</a:t>
            </a:r>
            <a:r>
              <a:rPr lang="zh-CN" altLang="en-US" dirty="0"/>
              <a:t>和，与下一个数的和</a:t>
            </a:r>
            <a:r>
              <a:rPr lang="en-US" altLang="zh-CN" dirty="0"/>
              <a:t>&gt;M,</a:t>
            </a:r>
            <a:r>
              <a:rPr lang="zh-CN" altLang="en-US" dirty="0"/>
              <a:t>限界函数为假，即不能再计算下去</a:t>
            </a:r>
            <a:endParaRPr lang="en-US" altLang="zh-CN" dirty="0"/>
          </a:p>
          <a:p>
            <a:pPr lvl="0"/>
            <a:r>
              <a:rPr lang="en-US" altLang="zh-CN" dirty="0"/>
              <a:t>3</a:t>
            </a:r>
            <a:r>
              <a:rPr lang="zh-CN" altLang="en-US" dirty="0"/>
              <a:t>、前面所有数的加权</a:t>
            </a:r>
            <a:r>
              <a:rPr lang="en-US" altLang="zh-CN" dirty="0"/>
              <a:t>(0,1)</a:t>
            </a:r>
            <a:r>
              <a:rPr lang="zh-CN" altLang="en-US" dirty="0"/>
              <a:t>和，与后面全部数的和</a:t>
            </a:r>
            <a:r>
              <a:rPr lang="en-US" altLang="zh-CN" dirty="0"/>
              <a:t>&gt;=M</a:t>
            </a:r>
            <a:r>
              <a:rPr lang="zh-CN" altLang="en-US" dirty="0"/>
              <a:t>；且前面所有数的加权</a:t>
            </a:r>
            <a:r>
              <a:rPr lang="en-US" altLang="zh-CN" dirty="0"/>
              <a:t>(0,1)</a:t>
            </a:r>
            <a:r>
              <a:rPr lang="zh-CN" altLang="en-US" dirty="0"/>
              <a:t>和，与下一个数的和</a:t>
            </a:r>
            <a:r>
              <a:rPr lang="en-US" altLang="zh-CN" dirty="0"/>
              <a:t>&lt;=M,</a:t>
            </a:r>
            <a:r>
              <a:rPr lang="zh-CN" altLang="en-US" dirty="0"/>
              <a:t>限界函数为真，才可以再计算下去</a:t>
            </a:r>
            <a:endParaRPr lang="en-US" altLang="zh-CN" dirty="0"/>
          </a:p>
          <a:p>
            <a:pPr lvl="0"/>
            <a:endParaRPr lang="zh-CN" altLang="en-US" dirty="0"/>
          </a:p>
        </p:txBody>
      </p:sp>
      <p:sp>
        <p:nvSpPr>
          <p:cNvPr id="84995"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nchorCtr="0"/>
          <a:lstStyle/>
          <a:p>
            <a:pPr lvl="0"/>
            <a:r>
              <a:rPr lang="en-US" altLang="zh-CN" dirty="0"/>
              <a:t>s</a:t>
            </a:r>
            <a:r>
              <a:rPr lang="zh-CN" altLang="en-US" dirty="0"/>
              <a:t>：是前面数的加权和</a:t>
            </a:r>
            <a:endParaRPr lang="en-US" altLang="zh-CN" dirty="0"/>
          </a:p>
          <a:p>
            <a:pPr lvl="0"/>
            <a:r>
              <a:rPr lang="en-US" altLang="zh-CN" dirty="0"/>
              <a:t>k</a:t>
            </a:r>
            <a:r>
              <a:rPr lang="zh-CN" altLang="en-US" dirty="0"/>
              <a:t>：是已加到第</a:t>
            </a:r>
            <a:r>
              <a:rPr lang="en-US" altLang="zh-CN" dirty="0"/>
              <a:t>k</a:t>
            </a:r>
            <a:r>
              <a:rPr lang="zh-CN" altLang="en-US" dirty="0"/>
              <a:t>个数</a:t>
            </a:r>
            <a:endParaRPr lang="en-US" altLang="zh-CN" dirty="0"/>
          </a:p>
          <a:p>
            <a:pPr lvl="0"/>
            <a:r>
              <a:rPr lang="en-US" altLang="zh-CN" dirty="0"/>
              <a:t>r</a:t>
            </a:r>
            <a:r>
              <a:rPr lang="zh-CN" altLang="en-US" dirty="0"/>
              <a:t>：是后面所有数的和</a:t>
            </a:r>
            <a:endParaRPr lang="en-US" altLang="zh-CN" dirty="0"/>
          </a:p>
          <a:p>
            <a:pPr lvl="0"/>
            <a:r>
              <a:rPr lang="zh-CN" altLang="en-US" dirty="0"/>
              <a:t>算法中第</a:t>
            </a:r>
            <a:r>
              <a:rPr lang="en-US" altLang="zh-CN" dirty="0"/>
              <a:t>1</a:t>
            </a:r>
            <a:r>
              <a:rPr lang="zh-CN" altLang="en-US" dirty="0"/>
              <a:t>步</a:t>
            </a:r>
            <a:r>
              <a:rPr lang="en-US" altLang="zh-CN" dirty="0">
                <a:sym typeface="Wingdings" panose="05000000000000000000" pitchFamily="2" charset="2"/>
              </a:rPr>
              <a:t>x[k] </a:t>
            </a:r>
            <a:r>
              <a:rPr lang="en-US" altLang="zh-CN" i="1" dirty="0">
                <a:sym typeface="Wingdings" panose="05000000000000000000" pitchFamily="2" charset="2"/>
              </a:rPr>
              <a:t></a:t>
            </a:r>
            <a:r>
              <a:rPr lang="en-US" altLang="zh-CN" dirty="0">
                <a:sym typeface="Wingdings" panose="05000000000000000000" pitchFamily="2" charset="2"/>
              </a:rPr>
              <a:t> 1</a:t>
            </a:r>
            <a:r>
              <a:rPr lang="zh-CN" altLang="en-US" dirty="0">
                <a:sym typeface="Wingdings" panose="05000000000000000000" pitchFamily="2" charset="2"/>
              </a:rPr>
              <a:t>，是取当前值</a:t>
            </a:r>
            <a:r>
              <a:rPr lang="en-US" altLang="zh-CN" dirty="0">
                <a:sym typeface="Wingdings" panose="05000000000000000000" pitchFamily="2" charset="2"/>
              </a:rPr>
              <a:t>w[k]</a:t>
            </a:r>
            <a:r>
              <a:rPr lang="zh-CN" altLang="en-US" dirty="0">
                <a:sym typeface="Wingdings" panose="05000000000000000000" pitchFamily="2" charset="2"/>
              </a:rPr>
              <a:t>的情况，并进行递归调用</a:t>
            </a:r>
            <a:endParaRPr lang="en-US" altLang="zh-CN" dirty="0">
              <a:sym typeface="Wingdings" panose="05000000000000000000" pitchFamily="2" charset="2"/>
            </a:endParaRPr>
          </a:p>
          <a:p>
            <a:pPr lvl="0"/>
            <a:r>
              <a:rPr lang="zh-CN" altLang="en-US" dirty="0"/>
              <a:t>算法中第</a:t>
            </a:r>
            <a:r>
              <a:rPr lang="en-US" altLang="zh-CN" dirty="0"/>
              <a:t>10</a:t>
            </a:r>
            <a:r>
              <a:rPr lang="zh-CN" altLang="en-US" dirty="0"/>
              <a:t>步</a:t>
            </a:r>
            <a:r>
              <a:rPr lang="zh-CN" altLang="en-US" dirty="0">
                <a:sym typeface="Wingdings" panose="05000000000000000000" pitchFamily="2" charset="2"/>
              </a:rPr>
              <a:t>，是不取当前值</a:t>
            </a:r>
            <a:r>
              <a:rPr lang="en-US" altLang="zh-CN" dirty="0">
                <a:sym typeface="Wingdings" panose="05000000000000000000" pitchFamily="2" charset="2"/>
              </a:rPr>
              <a:t>w[k]</a:t>
            </a:r>
            <a:r>
              <a:rPr lang="zh-CN" altLang="en-US" dirty="0">
                <a:sym typeface="Wingdings" panose="05000000000000000000" pitchFamily="2" charset="2"/>
              </a:rPr>
              <a:t>的情况，并进行递归调用</a:t>
            </a:r>
            <a:endParaRPr lang="en-US" altLang="zh-CN" dirty="0">
              <a:sym typeface="Wingdings" panose="05000000000000000000" pitchFamily="2" charset="2"/>
            </a:endParaRPr>
          </a:p>
          <a:p>
            <a:pPr lvl="0"/>
            <a:endParaRPr lang="zh-CN" altLang="en-US" dirty="0"/>
          </a:p>
        </p:txBody>
      </p:sp>
      <p:sp>
        <p:nvSpPr>
          <p:cNvPr id="87043"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en-US" altLang="zh-CN" sz="1200" dirty="0"/>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幻灯片图像占位符 1"/>
          <p:cNvSpPr>
            <a:spLocks noGrp="1" noRot="1" noChangeAspect="1" noTextEdit="1"/>
          </p:cNvSpPr>
          <p:nvPr>
            <p:ph type="sldImg"/>
          </p:nvPr>
        </p:nvSpPr>
        <p:spPr/>
      </p:sp>
      <p:sp>
        <p:nvSpPr>
          <p:cNvPr id="106498"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06499"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zh-CN" altLang="en-US" sz="1200" dirty="0"/>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幻灯片图像占位符 1"/>
          <p:cNvSpPr>
            <a:spLocks noGrp="1" noRot="1" noChangeAspect="1" noTextEdit="1"/>
          </p:cNvSpPr>
          <p:nvPr>
            <p:ph type="sldImg"/>
          </p:nvPr>
        </p:nvSpPr>
        <p:spPr/>
      </p:sp>
      <p:sp>
        <p:nvSpPr>
          <p:cNvPr id="108546"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08547"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zh-CN" altLang="en-US" sz="1200" dirty="0"/>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幻灯片图像占位符 1"/>
          <p:cNvSpPr>
            <a:spLocks noGrp="1" noRot="1" noChangeAspect="1" noTextEdit="1"/>
          </p:cNvSpPr>
          <p:nvPr>
            <p:ph type="sldImg"/>
          </p:nvPr>
        </p:nvSpPr>
        <p:spPr/>
      </p:sp>
      <p:sp>
        <p:nvSpPr>
          <p:cNvPr id="110594"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10595"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zh-CN" altLang="en-US" sz="1200" dirty="0"/>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幻灯片图像占位符 1"/>
          <p:cNvSpPr>
            <a:spLocks noGrp="1" noRot="1" noChangeAspect="1" noTextEdit="1"/>
          </p:cNvSpPr>
          <p:nvPr>
            <p:ph type="sldImg"/>
          </p:nvPr>
        </p:nvSpPr>
        <p:spPr/>
      </p:sp>
      <p:sp>
        <p:nvSpPr>
          <p:cNvPr id="114690"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14691"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zh-CN" altLang="en-US" sz="1200" dirty="0"/>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图像占位符 1"/>
          <p:cNvSpPr>
            <a:spLocks noGrp="1" noRot="1" noChangeAspect="1" noTextEdit="1"/>
          </p:cNvSpPr>
          <p:nvPr>
            <p:ph type="sldImg"/>
          </p:nvPr>
        </p:nvSpPr>
        <p:spPr/>
      </p:sp>
      <p:sp>
        <p:nvSpPr>
          <p:cNvPr id="116738"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16739"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zh-CN" altLang="en-US" sz="1200" dirty="0"/>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p:cNvSpPr>
            <a:spLocks noGrp="1" noRot="1" noChangeAspect="1" noTextEdit="1"/>
          </p:cNvSpPr>
          <p:nvPr>
            <p:ph type="sldImg"/>
          </p:nvPr>
        </p:nvSpPr>
        <p:spPr/>
      </p:sp>
      <p:sp>
        <p:nvSpPr>
          <p:cNvPr id="118786"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18787"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zh-CN" altLang="en-US" sz="1200" dirty="0"/>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幻灯片图像占位符 1"/>
          <p:cNvSpPr>
            <a:spLocks noGrp="1" noRot="1" noChangeAspect="1" noTextEdit="1"/>
          </p:cNvSpPr>
          <p:nvPr>
            <p:ph type="sldImg"/>
          </p:nvPr>
        </p:nvSpPr>
        <p:spPr/>
      </p:sp>
      <p:sp>
        <p:nvSpPr>
          <p:cNvPr id="120834"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20835" name="灯片编号占位符 3"/>
          <p:cNvSpPr txBox="1">
            <a:spLocks noGrp="1"/>
          </p:cNvSpPr>
          <p:nvPr>
            <p:ph type="sldNum" sz="quarter"/>
          </p:nvPr>
        </p:nvSpPr>
        <p:spPr>
          <a:xfrm>
            <a:off x="5179484" y="6513910"/>
            <a:ext cx="3962400" cy="342900"/>
          </a:xfrm>
          <a:prstGeom prst="rect">
            <a:avLst/>
          </a:prstGeom>
          <a:noFill/>
          <a:ln w="9525">
            <a:noFill/>
          </a:ln>
        </p:spPr>
        <p:txBody>
          <a:bodyPr vert="horz" wrap="square" lIns="91440" tIns="45720" rIns="91440" bIns="45720" anchor="b" anchorCtr="0"/>
          <a:lstStyle/>
          <a:p>
            <a:pPr lvl="0" algn="r" eaLnBrk="1" hangingPunct="1"/>
            <a:r>
              <a:rPr lang="zh-CN" altLang="en-US" sz="1200" dirty="0"/>
              <a:t>*</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3074" name="Picture 4" descr="index_07"/>
          <p:cNvPicPr>
            <a:picLocks noChangeAspect="1"/>
          </p:cNvPicPr>
          <p:nvPr/>
        </p:nvPicPr>
        <p:blipFill>
          <a:blip r:embed="rId3"/>
          <a:stretch>
            <a:fillRect/>
          </a:stretch>
        </p:blipFill>
        <p:spPr>
          <a:xfrm>
            <a:off x="0" y="6381750"/>
            <a:ext cx="8243888" cy="476250"/>
          </a:xfrm>
          <a:prstGeom prst="rect">
            <a:avLst/>
          </a:prstGeom>
          <a:noFill/>
          <a:ln w="9525">
            <a:noFill/>
          </a:ln>
        </p:spPr>
      </p:pic>
      <p:pic>
        <p:nvPicPr>
          <p:cNvPr id="3075" name="Picture 5" descr="200311_3"/>
          <p:cNvPicPr>
            <a:picLocks noChangeAspect="1"/>
          </p:cNvPicPr>
          <p:nvPr/>
        </p:nvPicPr>
        <p:blipFill>
          <a:blip r:embed="rId4"/>
          <a:stretch>
            <a:fillRect/>
          </a:stretch>
        </p:blipFill>
        <p:spPr>
          <a:xfrm>
            <a:off x="7308850" y="6381750"/>
            <a:ext cx="1800225" cy="476250"/>
          </a:xfrm>
          <a:prstGeom prst="rect">
            <a:avLst/>
          </a:prstGeom>
          <a:noFill/>
          <a:ln w="9525">
            <a:noFill/>
          </a:ln>
        </p:spPr>
      </p:pic>
      <p:sp>
        <p:nvSpPr>
          <p:cNvPr id="118786"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503050405090304" pitchFamily="18" charset="0"/>
              </a:defRPr>
            </a:lvl1pPr>
          </a:lstStyle>
          <a:p>
            <a:pPr lvl="0" fontAlgn="base"/>
            <a:r>
              <a:rPr lang="zh-CN" altLang="en-US" strike="noStrike" noProof="0"/>
              <a:t>单击此处编辑母版标题样式</a:t>
            </a:r>
          </a:p>
        </p:txBody>
      </p:sp>
      <p:sp>
        <p:nvSpPr>
          <p:cNvPr id="118787"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pPr lvl="0" fontAlgn="base"/>
            <a:r>
              <a:rPr lang="zh-CN" altLang="en-US" strike="noStrike" noProof="0"/>
              <a:t>单击此处编辑母版副标题样式</a:t>
            </a:r>
          </a:p>
        </p:txBody>
      </p:sp>
      <p:sp>
        <p:nvSpPr>
          <p:cNvPr id="9" name="Rectangle 6"/>
          <p:cNvSpPr>
            <a:spLocks noGrp="1" noChangeArrowheads="1"/>
          </p:cNvSpPr>
          <p:nvPr>
            <p:ph type="ftr" sz="quarter" idx="3"/>
          </p:nvPr>
        </p:nvSpPr>
        <p:spPr bwMode="auto">
          <a:xfrm>
            <a:off x="3492500" y="6381750"/>
            <a:ext cx="3816350" cy="431800"/>
          </a:xfrm>
          <a:prstGeom prst="rect">
            <a:avLst/>
          </a:prstGeom>
          <a:noFill/>
          <a:ln>
            <a:noFill/>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879475" y="269875"/>
            <a:ext cx="5749925" cy="55245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868863" y="1268413"/>
            <a:ext cx="3817937" cy="45259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868863" y="1268413"/>
            <a:ext cx="3817937" cy="21859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868863" y="3606800"/>
            <a:ext cx="3817937"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4098" name="Picture 4" descr="index_07"/>
          <p:cNvPicPr>
            <a:picLocks noChangeAspect="1"/>
          </p:cNvPicPr>
          <p:nvPr/>
        </p:nvPicPr>
        <p:blipFill>
          <a:blip r:embed="rId3"/>
          <a:stretch>
            <a:fillRect/>
          </a:stretch>
        </p:blipFill>
        <p:spPr>
          <a:xfrm>
            <a:off x="0" y="6381750"/>
            <a:ext cx="8243888" cy="476250"/>
          </a:xfrm>
          <a:prstGeom prst="rect">
            <a:avLst/>
          </a:prstGeom>
          <a:noFill/>
          <a:ln w="9525">
            <a:noFill/>
          </a:ln>
        </p:spPr>
      </p:pic>
      <p:pic>
        <p:nvPicPr>
          <p:cNvPr id="4099" name="Picture 5" descr="200311_3"/>
          <p:cNvPicPr>
            <a:picLocks noChangeAspect="1"/>
          </p:cNvPicPr>
          <p:nvPr/>
        </p:nvPicPr>
        <p:blipFill>
          <a:blip r:embed="rId4"/>
          <a:stretch>
            <a:fillRect/>
          </a:stretch>
        </p:blipFill>
        <p:spPr>
          <a:xfrm>
            <a:off x="7308850" y="6381750"/>
            <a:ext cx="1800225" cy="476250"/>
          </a:xfrm>
          <a:prstGeom prst="rect">
            <a:avLst/>
          </a:prstGeom>
          <a:noFill/>
          <a:ln w="9525">
            <a:noFill/>
          </a:ln>
        </p:spPr>
      </p:pic>
      <p:sp>
        <p:nvSpPr>
          <p:cNvPr id="118786"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503050405090304" pitchFamily="18" charset="0"/>
              </a:defRPr>
            </a:lvl1pPr>
          </a:lstStyle>
          <a:p>
            <a:pPr lvl="0" fontAlgn="base"/>
            <a:r>
              <a:rPr lang="zh-CN" altLang="en-US" strike="noStrike" noProof="0"/>
              <a:t>单击此处编辑母版标题样式</a:t>
            </a:r>
          </a:p>
        </p:txBody>
      </p:sp>
      <p:sp>
        <p:nvSpPr>
          <p:cNvPr id="118787"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pPr lvl="0" fontAlgn="base"/>
            <a:r>
              <a:rPr lang="zh-CN" altLang="en-US" strike="noStrike" noProof="0"/>
              <a:t>单击此处编辑母版副标题样式</a:t>
            </a:r>
          </a:p>
        </p:txBody>
      </p:sp>
      <p:sp>
        <p:nvSpPr>
          <p:cNvPr id="9" name="Rectangle 6"/>
          <p:cNvSpPr>
            <a:spLocks noGrp="1" noChangeArrowheads="1"/>
          </p:cNvSpPr>
          <p:nvPr>
            <p:ph type="ftr" sz="quarter" idx="3"/>
          </p:nvPr>
        </p:nvSpPr>
        <p:spPr bwMode="auto">
          <a:xfrm>
            <a:off x="3492500" y="6381750"/>
            <a:ext cx="3816350" cy="431800"/>
          </a:xfrm>
          <a:prstGeom prst="rect">
            <a:avLst/>
          </a:prstGeom>
          <a:noFill/>
          <a:ln>
            <a:noFill/>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879475" y="269875"/>
            <a:ext cx="5749925" cy="55245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868863" y="1268413"/>
            <a:ext cx="3817937" cy="45259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868863" y="1268413"/>
            <a:ext cx="3817937" cy="21859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868863" y="3606800"/>
            <a:ext cx="3817937"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e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3.jpeg"/><Relationship Id="rId2" Type="http://schemas.openxmlformats.org/officeDocument/2006/relationships/slideLayout" Target="../slideLayouts/slideLayout15.xml"/><Relationship Id="rId16" Type="http://schemas.openxmlformats.org/officeDocument/2006/relationships/image" Target="../media/image2.jpe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879475" y="269875"/>
            <a:ext cx="7869238" cy="9271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p:nvPr>
        </p:nvSpPr>
        <p:spPr>
          <a:xfrm>
            <a:off x="900113" y="1268413"/>
            <a:ext cx="7786687" cy="4525962"/>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p:txBody>
      </p:sp>
      <p:pic>
        <p:nvPicPr>
          <p:cNvPr id="1028" name="Picture 4" descr="index_07"/>
          <p:cNvPicPr>
            <a:picLocks noChangeAspect="1"/>
          </p:cNvPicPr>
          <p:nvPr/>
        </p:nvPicPr>
        <p:blipFill>
          <a:blip r:embed="rId16"/>
          <a:stretch>
            <a:fillRect/>
          </a:stretch>
        </p:blipFill>
        <p:spPr>
          <a:xfrm>
            <a:off x="0" y="6381750"/>
            <a:ext cx="8243888" cy="476250"/>
          </a:xfrm>
          <a:prstGeom prst="rect">
            <a:avLst/>
          </a:prstGeom>
          <a:noFill/>
          <a:ln w="9525">
            <a:noFill/>
          </a:ln>
        </p:spPr>
      </p:pic>
      <p:pic>
        <p:nvPicPr>
          <p:cNvPr id="1029" name="Picture 5" descr="200311_3"/>
          <p:cNvPicPr>
            <a:picLocks noChangeAspect="1"/>
          </p:cNvPicPr>
          <p:nvPr/>
        </p:nvPicPr>
        <p:blipFill>
          <a:blip r:embed="rId17"/>
          <a:stretch>
            <a:fillRect/>
          </a:stretch>
        </p:blipFill>
        <p:spPr>
          <a:xfrm>
            <a:off x="7308850" y="6381750"/>
            <a:ext cx="1800225" cy="476250"/>
          </a:xfrm>
          <a:prstGeom prst="rect">
            <a:avLst/>
          </a:prstGeom>
          <a:noFill/>
          <a:ln w="9525">
            <a:noFill/>
          </a:ln>
        </p:spPr>
      </p:pic>
      <p:sp>
        <p:nvSpPr>
          <p:cNvPr id="117766" name="Rectangle 6"/>
          <p:cNvSpPr>
            <a:spLocks noGrp="1" noChangeArrowheads="1"/>
          </p:cNvSpPr>
          <p:nvPr>
            <p:ph type="ftr" sz="quarter" idx="3"/>
          </p:nvPr>
        </p:nvSpPr>
        <p:spPr bwMode="auto">
          <a:xfrm>
            <a:off x="3492500" y="6381750"/>
            <a:ext cx="3816350" cy="431800"/>
          </a:xfrm>
          <a:prstGeom prst="rect">
            <a:avLst/>
          </a:prstGeom>
          <a:noFill/>
          <a:ln>
            <a:noFill/>
          </a:ln>
          <a:effectLst/>
        </p:spPr>
        <p:txBody>
          <a:bodyPr vert="horz" wrap="square" lIns="91440" tIns="45720" rIns="91440" bIns="45720" numCol="1" anchor="t" anchorCtr="0" compatLnSpc="1"/>
          <a:lstStyle>
            <a:lvl1pPr algn="ctr" eaLnBrk="1" hangingPunct="1">
              <a:defRPr sz="1400">
                <a:latin typeface="Arial" panose="020B060402020209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90204" pitchFamily="34" charset="0"/>
          <a:ea typeface="华文行楷"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9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9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9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9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9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9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9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879475" y="269875"/>
            <a:ext cx="7869238" cy="927100"/>
          </a:xfrm>
          <a:prstGeom prst="rect">
            <a:avLst/>
          </a:prstGeom>
          <a:noFill/>
          <a:ln w="9525">
            <a:noFill/>
          </a:ln>
        </p:spPr>
        <p:txBody>
          <a:bodyPr anchor="ctr" anchorCtr="0"/>
          <a:lstStyle/>
          <a:p>
            <a:pPr lvl="0"/>
            <a:r>
              <a:rPr lang="zh-CN" altLang="en-US" dirty="0"/>
              <a:t>单击此处编辑母版标题样式</a:t>
            </a:r>
          </a:p>
        </p:txBody>
      </p:sp>
      <p:sp>
        <p:nvSpPr>
          <p:cNvPr id="2051" name="Rectangle 3"/>
          <p:cNvSpPr>
            <a:spLocks noGrp="1"/>
          </p:cNvSpPr>
          <p:nvPr>
            <p:ph type="body"/>
          </p:nvPr>
        </p:nvSpPr>
        <p:spPr>
          <a:xfrm>
            <a:off x="900113" y="1268413"/>
            <a:ext cx="7786687" cy="4525962"/>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p:txBody>
      </p:sp>
      <p:pic>
        <p:nvPicPr>
          <p:cNvPr id="2052" name="Picture 4" descr="index_07"/>
          <p:cNvPicPr>
            <a:picLocks noChangeAspect="1"/>
          </p:cNvPicPr>
          <p:nvPr/>
        </p:nvPicPr>
        <p:blipFill>
          <a:blip r:embed="rId16"/>
          <a:stretch>
            <a:fillRect/>
          </a:stretch>
        </p:blipFill>
        <p:spPr>
          <a:xfrm>
            <a:off x="0" y="6381750"/>
            <a:ext cx="8243888" cy="476250"/>
          </a:xfrm>
          <a:prstGeom prst="rect">
            <a:avLst/>
          </a:prstGeom>
          <a:noFill/>
          <a:ln w="9525">
            <a:noFill/>
          </a:ln>
        </p:spPr>
      </p:pic>
      <p:pic>
        <p:nvPicPr>
          <p:cNvPr id="2053" name="Picture 5" descr="200311_3"/>
          <p:cNvPicPr>
            <a:picLocks noChangeAspect="1"/>
          </p:cNvPicPr>
          <p:nvPr/>
        </p:nvPicPr>
        <p:blipFill>
          <a:blip r:embed="rId17"/>
          <a:stretch>
            <a:fillRect/>
          </a:stretch>
        </p:blipFill>
        <p:spPr>
          <a:xfrm>
            <a:off x="7308850" y="6381750"/>
            <a:ext cx="1800225" cy="476250"/>
          </a:xfrm>
          <a:prstGeom prst="rect">
            <a:avLst/>
          </a:prstGeom>
          <a:noFill/>
          <a:ln w="9525">
            <a:noFill/>
          </a:ln>
        </p:spPr>
      </p:pic>
      <p:sp>
        <p:nvSpPr>
          <p:cNvPr id="117766" name="Rectangle 6"/>
          <p:cNvSpPr>
            <a:spLocks noGrp="1" noChangeArrowheads="1"/>
          </p:cNvSpPr>
          <p:nvPr>
            <p:ph type="ftr" sz="quarter" idx="3"/>
          </p:nvPr>
        </p:nvSpPr>
        <p:spPr bwMode="auto">
          <a:xfrm>
            <a:off x="3492500" y="6381750"/>
            <a:ext cx="3816350" cy="431800"/>
          </a:xfrm>
          <a:prstGeom prst="rect">
            <a:avLst/>
          </a:prstGeom>
          <a:noFill/>
          <a:ln>
            <a:noFill/>
          </a:ln>
          <a:effectLst/>
        </p:spPr>
        <p:txBody>
          <a:bodyPr vert="horz" wrap="square" lIns="91440" tIns="45720" rIns="91440" bIns="45720" numCol="1" anchor="t" anchorCtr="0" compatLnSpc="1"/>
          <a:lstStyle>
            <a:lvl1pPr algn="ctr" eaLnBrk="1" hangingPunct="1">
              <a:defRPr sz="1400">
                <a:latin typeface="Arial" panose="020B060402020209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Algorithms Design Techniques and Analysis</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90204" pitchFamily="34" charset="0"/>
          <a:ea typeface="华文行楷"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9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9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9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9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9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9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9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5.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6"/>
          <p:cNvSpPr>
            <a:spLocks noGrp="1"/>
          </p:cNvSpPr>
          <p:nvPr>
            <p:ph type="ftr" sz="quarter" idx="3"/>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latin typeface="Arial" panose="020B0604020202090204" pitchFamily="34" charset="0"/>
              </a:rPr>
              <a:t>Algorithms Design Techniques and Analysis</a:t>
            </a:r>
          </a:p>
        </p:txBody>
      </p:sp>
      <p:sp>
        <p:nvSpPr>
          <p:cNvPr id="6146" name="Rectangle 2"/>
          <p:cNvSpPr>
            <a:spLocks noGrp="1"/>
          </p:cNvSpPr>
          <p:nvPr>
            <p:ph type="ctrTitle"/>
          </p:nvPr>
        </p:nvSpPr>
        <p:spPr/>
        <p:txBody>
          <a:bodyPr vert="horz" wrap="square" lIns="91440" tIns="45720" rIns="91440" bIns="45720" anchor="ctr" anchorCtr="0"/>
          <a:lstStyle/>
          <a:p>
            <a:pPr algn="ctr" eaLnBrk="1" hangingPunct="1">
              <a:buClrTx/>
              <a:buSzTx/>
              <a:buFontTx/>
            </a:pPr>
            <a:r>
              <a:rPr lang="zh-CN" altLang="en-US" dirty="0">
                <a:solidFill>
                  <a:srgbClr val="0066CC"/>
                </a:solidFill>
                <a:latin typeface="Times New Roman" panose="02020503050405090304" pitchFamily="18" charset="0"/>
                <a:ea typeface="+mj-ea"/>
                <a:cs typeface="+mj-cs"/>
              </a:rPr>
              <a:t>第</a:t>
            </a:r>
            <a:r>
              <a:rPr lang="en-US" altLang="zh-CN" dirty="0"/>
              <a:t>8</a:t>
            </a:r>
            <a:r>
              <a:rPr lang="zh-CN" altLang="en-US" dirty="0"/>
              <a:t>讲</a:t>
            </a:r>
            <a:endParaRPr lang="en-US" altLang="zh-CN" dirty="0">
              <a:solidFill>
                <a:srgbClr val="0066CC"/>
              </a:solidFill>
              <a:latin typeface="Times New Roman" panose="02020503050405090304" pitchFamily="18" charset="0"/>
              <a:ea typeface="+mj-ea"/>
              <a:cs typeface="+mj-cs"/>
            </a:endParaRPr>
          </a:p>
        </p:txBody>
      </p:sp>
      <p:sp>
        <p:nvSpPr>
          <p:cNvPr id="6148" name="Rectangle 3"/>
          <p:cNvSpPr>
            <a:spLocks noGrp="1"/>
          </p:cNvSpPr>
          <p:nvPr>
            <p:ph type="subTitle" idx="1"/>
          </p:nvPr>
        </p:nvSpPr>
        <p:spPr>
          <a:xfrm>
            <a:off x="1371600" y="3500438"/>
            <a:ext cx="6400800" cy="1752600"/>
          </a:xfrm>
        </p:spPr>
        <p:txBody>
          <a:bodyPr vert="horz" wrap="square" lIns="91440" tIns="45720" rIns="91440" bIns="45720" anchor="t" anchorCtr="0"/>
          <a:lstStyle/>
          <a:p>
            <a:pPr marL="0" marR="0" indent="0" algn="ctr" defTabSz="914400" rtl="0" eaLnBrk="1" fontAlgn="base" latinLnBrk="0" hangingPunct="1">
              <a:lnSpc>
                <a:spcPct val="100000"/>
              </a:lnSpc>
              <a:spcBef>
                <a:spcPct val="20000"/>
              </a:spcBef>
              <a:spcAft>
                <a:spcPct val="0"/>
              </a:spcAft>
              <a:buClrTx/>
              <a:buSzTx/>
              <a:buFontTx/>
              <a:buNone/>
            </a:pPr>
            <a:r>
              <a:rPr kumimoji="0" lang="en-US" altLang="en-US" sz="3200" b="0" i="0" u="none" strike="noStrike" kern="0" cap="none" spc="0" normalizeH="0" baseline="0" noProof="1">
                <a:solidFill>
                  <a:srgbClr val="002060"/>
                </a:solidFill>
                <a:latin typeface="+mn-lt"/>
                <a:ea typeface="+mn-ea"/>
                <a:cs typeface="+mn-cs"/>
              </a:rPr>
              <a:t>回溯法</a:t>
            </a:r>
            <a:endParaRPr kumimoji="0" lang="en-US" altLang="zh-CN" sz="3200" b="0" i="0" u="none" strike="noStrike" kern="0" cap="none" spc="0" normalizeH="0" baseline="0" noProof="1">
              <a:solidFill>
                <a:srgbClr val="002060"/>
              </a:solidFill>
              <a:latin typeface="+mn-lt"/>
              <a:ea typeface="+mn-ea"/>
              <a:cs typeface="+mn-cs"/>
            </a:endParaRPr>
          </a:p>
          <a:p>
            <a:pPr marL="0" marR="0" indent="0" algn="ctr" defTabSz="914400" rtl="0" eaLnBrk="1" fontAlgn="base" latinLnBrk="0" hangingPunct="1">
              <a:lnSpc>
                <a:spcPct val="100000"/>
              </a:lnSpc>
              <a:spcBef>
                <a:spcPct val="20000"/>
              </a:spcBef>
              <a:spcAft>
                <a:spcPct val="0"/>
              </a:spcAft>
              <a:buClrTx/>
              <a:buSzTx/>
              <a:buFontTx/>
              <a:buNone/>
            </a:pPr>
            <a:endParaRPr kumimoji="0" lang="en-US" altLang="zh-CN" sz="1000" b="0" i="0" u="none" strike="noStrike" kern="0" cap="none" spc="0" normalizeH="0" baseline="0" noProof="1">
              <a:solidFill>
                <a:srgbClr val="002060"/>
              </a:solidFill>
              <a:latin typeface="+mn-lt"/>
              <a:ea typeface="+mn-ea"/>
              <a:cs typeface="+mn-cs"/>
            </a:endParaRPr>
          </a:p>
          <a:p>
            <a:pPr marL="0" marR="0" indent="0" algn="r" defTabSz="914400" rtl="0" eaLnBrk="1" fontAlgn="base" latinLnBrk="0" hangingPunct="1">
              <a:lnSpc>
                <a:spcPct val="100000"/>
              </a:lnSpc>
              <a:spcBef>
                <a:spcPct val="20000"/>
              </a:spcBef>
              <a:spcAft>
                <a:spcPct val="0"/>
              </a:spcAft>
              <a:buClrTx/>
              <a:buSzTx/>
              <a:buFontTx/>
              <a:buNone/>
            </a:pPr>
            <a:r>
              <a:rPr kumimoji="0" lang="en-US" altLang="zh-CN" sz="2400" b="0" i="0" u="none" strike="noStrike" kern="0" cap="none" spc="0" normalizeH="0" baseline="0" noProof="1">
                <a:solidFill>
                  <a:srgbClr val="002060"/>
                </a:solidFill>
                <a:latin typeface="+mn-lt"/>
                <a:ea typeface="+mn-ea"/>
                <a:cs typeface="+mn-cs"/>
              </a:rPr>
              <a:t>     </a:t>
            </a:r>
            <a:r>
              <a:rPr kumimoji="0" lang="en-US" altLang="zh-CN" sz="1900" b="0" i="0" u="none" strike="noStrike" kern="0" cap="none" spc="0" normalizeH="0" baseline="0" noProof="1">
                <a:solidFill>
                  <a:srgbClr val="002060"/>
                </a:solidFill>
                <a:latin typeface="+mn-lt"/>
                <a:ea typeface="+mn-ea"/>
                <a:cs typeface="+mn-cs"/>
              </a:rPr>
              <a:t>         </a:t>
            </a:r>
            <a:r>
              <a:rPr kumimoji="0" lang="en-US" altLang="zh-CN" sz="2400" b="0" i="0" u="none" strike="noStrike" kern="0" cap="none" spc="0" normalizeH="0" baseline="0" noProof="1">
                <a:solidFill>
                  <a:srgbClr val="002060"/>
                </a:solidFill>
                <a:latin typeface="+mn-lt"/>
                <a:ea typeface="+mn-ea"/>
                <a:cs typeface="+mn-cs"/>
              </a:rPr>
              <a:t>—An Efficient Searching Algorithm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latin typeface="Arial" panose="020B0604020202090204" pitchFamily="34" charset="0"/>
              </a:rPr>
              <a:t>Algorithms Design Techniques and Analysis</a:t>
            </a:r>
          </a:p>
        </p:txBody>
      </p:sp>
      <p:sp>
        <p:nvSpPr>
          <p:cNvPr id="8194" name="Rectangle 2"/>
          <p:cNvSpPr>
            <a:spLocks noGrp="1"/>
          </p:cNvSpPr>
          <p:nvPr>
            <p:ph type="title"/>
          </p:nvPr>
        </p:nvSpPr>
        <p:spPr/>
        <p:txBody>
          <a:bodyPr vert="horz" wrap="square" lIns="91440" tIns="45720" rIns="91440" bIns="45720" anchor="ctr" anchorCtr="0"/>
          <a:lstStyle/>
          <a:p>
            <a:pPr eaLnBrk="1" hangingPunct="1"/>
            <a:r>
              <a:rPr lang="zh-CN" altLang="en-US" b="1" dirty="0"/>
              <a:t>本章内容</a:t>
            </a:r>
            <a:r>
              <a:rPr lang="en-US" altLang="zh-CN" b="1" dirty="0"/>
              <a:t> </a:t>
            </a:r>
          </a:p>
        </p:txBody>
      </p:sp>
      <p:sp>
        <p:nvSpPr>
          <p:cNvPr id="121859"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8.1</a:t>
            </a:r>
            <a:r>
              <a:rPr kumimoji="0" lang="zh-CN" altLang="zh-CN" sz="2000" b="0" i="0" u="none" strike="noStrike" kern="0" cap="none" spc="0" normalizeH="0" baseline="0" noProof="0" dirty="0">
                <a:ln>
                  <a:noFill/>
                </a:ln>
                <a:solidFill>
                  <a:schemeClr val="accent2"/>
                </a:solidFill>
                <a:effectLst/>
                <a:uLnTx/>
                <a:uFillTx/>
                <a:latin typeface="+mn-lt"/>
                <a:ea typeface="+mn-ea"/>
                <a:cs typeface="+mn-cs"/>
              </a:rPr>
              <a:t> 引言</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8.1</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.1 简单问题例的算法描述（图的着色问题，皇后问题）</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8.1</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.2 回溯法解的长度分析</a:t>
            </a:r>
          </a:p>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8.2</a:t>
            </a:r>
            <a:r>
              <a:rPr kumimoji="0" lang="zh-CN" altLang="zh-CN" sz="2000" b="0" i="0" u="none" strike="noStrike" kern="0" cap="none" spc="0" normalizeH="0" baseline="0" noProof="0" dirty="0">
                <a:ln>
                  <a:noFill/>
                </a:ln>
                <a:solidFill>
                  <a:schemeClr val="accent2"/>
                </a:solidFill>
                <a:effectLst/>
                <a:uLnTx/>
                <a:uFillTx/>
                <a:latin typeface="+mn-lt"/>
                <a:ea typeface="+mn-ea"/>
                <a:cs typeface="+mn-cs"/>
              </a:rPr>
              <a:t> 回溯策略的算法设计思想及分析方法</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8.2</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.1 适用条件、问题解的表示、约束函数、状态空间树</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8.2</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.2 回溯策略的基本思想</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8.2</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.3 回溯算法一般框架</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8.2</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.4 回溯策略的本质-约束穷举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p:cTn id="7" dur="500" fill="hold"/>
                                        <p:tgtEl>
                                          <p:spTgt spid="121859">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121859">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animClr clrSpc="rgb" dir="cw">
                                      <p:cBhvr override="childStyle">
                                        <p:cTn dur="1" fill="hold" display="0" masterRel="nextClick" afterEffect="1"/>
                                        <p:tgtEl>
                                          <p:spTgt spid="121859">
                                            <p:txEl>
                                              <p:pRg st="0" end="0"/>
                                            </p:txEl>
                                          </p:spTgt>
                                        </p:tgtEl>
                                        <p:attrNameLst>
                                          <p:attrName>ppt_c</p:attrName>
                                        </p:attrNameLst>
                                      </p:cBhvr>
                                      <p:to>
                                        <a:srgbClr val="EA0000"/>
                                      </p:to>
                                    </p:animClr>
                                  </p:subTnLst>
                                </p:cTn>
                              </p:par>
                              <p:par>
                                <p:cTn id="9" presetID="2" presetClass="entr" presetSubtype="1" fill="hold" grpId="0" nodeType="withEffect">
                                  <p:stCondLst>
                                    <p:cond delay="0"/>
                                  </p:stCondLst>
                                  <p:childTnLst>
                                    <p:set>
                                      <p:cBhvr>
                                        <p:cTn id="10" dur="1" fill="hold">
                                          <p:stCondLst>
                                            <p:cond delay="0"/>
                                          </p:stCondLst>
                                        </p:cTn>
                                        <p:tgtEl>
                                          <p:spTgt spid="121859">
                                            <p:txEl>
                                              <p:pRg st="1" end="1"/>
                                            </p:txEl>
                                          </p:spTgt>
                                        </p:tgtEl>
                                        <p:attrNameLst>
                                          <p:attrName>style.visibility</p:attrName>
                                        </p:attrNameLst>
                                      </p:cBhvr>
                                      <p:to>
                                        <p:strVal val="visible"/>
                                      </p:to>
                                    </p:set>
                                    <p:anim calcmode="lin" valueType="num">
                                      <p:cBhvr>
                                        <p:cTn id="11" dur="500" fill="hold"/>
                                        <p:tgtEl>
                                          <p:spTgt spid="121859">
                                            <p:txEl>
                                              <p:pRg st="1" end="1"/>
                                            </p:txEl>
                                          </p:spTgt>
                                        </p:tgtEl>
                                        <p:attrNameLst>
                                          <p:attrName>ppt_x</p:attrName>
                                        </p:attrNameLst>
                                      </p:cBhvr>
                                      <p:tavLst>
                                        <p:tav tm="0">
                                          <p:val>
                                            <p:strVal val="#ppt_x"/>
                                          </p:val>
                                        </p:tav>
                                        <p:tav tm="100000">
                                          <p:val>
                                            <p:strVal val="#ppt_x"/>
                                          </p:val>
                                        </p:tav>
                                      </p:tavLst>
                                    </p:anim>
                                    <p:anim calcmode="lin" valueType="num">
                                      <p:cBhvr>
                                        <p:cTn id="12" dur="500" fill="hold"/>
                                        <p:tgtEl>
                                          <p:spTgt spid="121859">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1" end="1"/>
                                            </p:txEl>
                                          </p:spTgt>
                                        </p:tgtEl>
                                        <p:attrNameLst>
                                          <p:attrName>ppt_c</p:attrName>
                                        </p:attrNameLst>
                                      </p:cBhvr>
                                      <p:to>
                                        <a:srgbClr val="EA0000"/>
                                      </p:to>
                                    </p:animClr>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par>
                                <p:cTn id="13" presetID="2" presetClass="entr" presetSubtype="1" fill="hold" grpId="0" nodeType="withEffect">
                                  <p:stCondLst>
                                    <p:cond delay="0"/>
                                  </p:stCondLst>
                                  <p:childTnLst>
                                    <p:set>
                                      <p:cBhvr>
                                        <p:cTn id="14" dur="1" fill="hold">
                                          <p:stCondLst>
                                            <p:cond delay="0"/>
                                          </p:stCondLst>
                                        </p:cTn>
                                        <p:tgtEl>
                                          <p:spTgt spid="121859">
                                            <p:txEl>
                                              <p:pRg st="2" end="2"/>
                                            </p:txEl>
                                          </p:spTgt>
                                        </p:tgtEl>
                                        <p:attrNameLst>
                                          <p:attrName>style.visibility</p:attrName>
                                        </p:attrNameLst>
                                      </p:cBhvr>
                                      <p:to>
                                        <p:strVal val="visible"/>
                                      </p:to>
                                    </p:set>
                                    <p:anim calcmode="lin" valueType="num">
                                      <p:cBhvr>
                                        <p:cTn id="15" dur="500" fill="hold"/>
                                        <p:tgtEl>
                                          <p:spTgt spid="121859">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121859">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2" end="2"/>
                                            </p:txEl>
                                          </p:spTgt>
                                        </p:tgtEl>
                                        <p:attrNameLst>
                                          <p:attrName>ppt_c</p:attrName>
                                        </p:attrNameLst>
                                      </p:cBhvr>
                                      <p:to>
                                        <a:srgbClr val="EA0000"/>
                                      </p:to>
                                    </p:animClr>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childTnLst>
                          </p:cTn>
                        </p:par>
                      </p:childTnLst>
                    </p:cTn>
                  </p:par>
                  <p:par>
                    <p:cTn id="17" fill="hold">
                      <p:stCondLst>
                        <p:cond delay="indefinite"/>
                      </p:stCondLst>
                      <p:childTnLst>
                        <p:par>
                          <p:cTn id="18" fill="hold">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121859">
                                            <p:txEl>
                                              <p:pRg st="3" end="3"/>
                                            </p:txEl>
                                          </p:spTgt>
                                        </p:tgtEl>
                                        <p:attrNameLst>
                                          <p:attrName>style.visibility</p:attrName>
                                        </p:attrNameLst>
                                      </p:cBhvr>
                                      <p:to>
                                        <p:strVal val="visible"/>
                                      </p:to>
                                    </p:set>
                                    <p:anim calcmode="lin" valueType="num">
                                      <p:cBhvr>
                                        <p:cTn id="21" dur="500" fill="hold"/>
                                        <p:tgtEl>
                                          <p:spTgt spid="121859">
                                            <p:txEl>
                                              <p:pRg st="3" end="3"/>
                                            </p:txEl>
                                          </p:spTgt>
                                        </p:tgtEl>
                                        <p:attrNameLst>
                                          <p:attrName>ppt_x</p:attrName>
                                        </p:attrNameLst>
                                      </p:cBhvr>
                                      <p:tavLst>
                                        <p:tav tm="0">
                                          <p:val>
                                            <p:strVal val="#ppt_x"/>
                                          </p:val>
                                        </p:tav>
                                        <p:tav tm="100000">
                                          <p:val>
                                            <p:strVal val="#ppt_x"/>
                                          </p:val>
                                        </p:tav>
                                      </p:tavLst>
                                    </p:anim>
                                    <p:anim calcmode="lin" valueType="num">
                                      <p:cBhvr>
                                        <p:cTn id="22" dur="500" fill="hold"/>
                                        <p:tgtEl>
                                          <p:spTgt spid="121859">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3" end="3"/>
                                            </p:txEl>
                                          </p:spTgt>
                                        </p:tgtEl>
                                        <p:attrNameLst>
                                          <p:attrName>ppt_c</p:attrName>
                                        </p:attrNameLst>
                                      </p:cBhvr>
                                      <p:to>
                                        <a:srgbClr val="EA0000"/>
                                      </p:to>
                                    </p:animClr>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par>
                                <p:cTn id="23" presetID="2" presetClass="entr" presetSubtype="1" fill="hold" grpId="0" nodeType="withEffect">
                                  <p:stCondLst>
                                    <p:cond delay="0"/>
                                  </p:stCondLst>
                                  <p:childTnLst>
                                    <p:set>
                                      <p:cBhvr>
                                        <p:cTn id="24" dur="1" fill="hold">
                                          <p:stCondLst>
                                            <p:cond delay="0"/>
                                          </p:stCondLst>
                                        </p:cTn>
                                        <p:tgtEl>
                                          <p:spTgt spid="121859">
                                            <p:txEl>
                                              <p:pRg st="4" end="4"/>
                                            </p:txEl>
                                          </p:spTgt>
                                        </p:tgtEl>
                                        <p:attrNameLst>
                                          <p:attrName>style.visibility</p:attrName>
                                        </p:attrNameLst>
                                      </p:cBhvr>
                                      <p:to>
                                        <p:strVal val="visible"/>
                                      </p:to>
                                    </p:set>
                                    <p:anim calcmode="lin" valueType="num">
                                      <p:cBhvr>
                                        <p:cTn id="25" dur="500" fill="hold"/>
                                        <p:tgtEl>
                                          <p:spTgt spid="121859">
                                            <p:txEl>
                                              <p:pRg st="4" end="4"/>
                                            </p:txEl>
                                          </p:spTgt>
                                        </p:tgtEl>
                                        <p:attrNameLst>
                                          <p:attrName>ppt_x</p:attrName>
                                        </p:attrNameLst>
                                      </p:cBhvr>
                                      <p:tavLst>
                                        <p:tav tm="0">
                                          <p:val>
                                            <p:strVal val="#ppt_x"/>
                                          </p:val>
                                        </p:tav>
                                        <p:tav tm="100000">
                                          <p:val>
                                            <p:strVal val="#ppt_x"/>
                                          </p:val>
                                        </p:tav>
                                      </p:tavLst>
                                    </p:anim>
                                    <p:anim calcmode="lin" valueType="num">
                                      <p:cBhvr>
                                        <p:cTn id="26" dur="500" fill="hold"/>
                                        <p:tgtEl>
                                          <p:spTgt spid="121859">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4" end="4"/>
                                            </p:txEl>
                                          </p:spTgt>
                                        </p:tgtEl>
                                        <p:attrNameLst>
                                          <p:attrName>ppt_c</p:attrName>
                                        </p:attrNameLst>
                                      </p:cBhvr>
                                      <p:to>
                                        <a:srgbClr val="EA0000"/>
                                      </p:to>
                                    </p:animClr>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par>
                                <p:cTn id="27" presetID="2" presetClass="entr" presetSubtype="1" fill="hold" grpId="0" nodeType="withEffect">
                                  <p:stCondLst>
                                    <p:cond delay="0"/>
                                  </p:stCondLst>
                                  <p:childTnLst>
                                    <p:set>
                                      <p:cBhvr>
                                        <p:cTn id="28" dur="1" fill="hold">
                                          <p:stCondLst>
                                            <p:cond delay="0"/>
                                          </p:stCondLst>
                                        </p:cTn>
                                        <p:tgtEl>
                                          <p:spTgt spid="121859">
                                            <p:txEl>
                                              <p:pRg st="5" end="5"/>
                                            </p:txEl>
                                          </p:spTgt>
                                        </p:tgtEl>
                                        <p:attrNameLst>
                                          <p:attrName>style.visibility</p:attrName>
                                        </p:attrNameLst>
                                      </p:cBhvr>
                                      <p:to>
                                        <p:strVal val="visible"/>
                                      </p:to>
                                    </p:set>
                                    <p:anim calcmode="lin" valueType="num">
                                      <p:cBhvr>
                                        <p:cTn id="29" dur="500" fill="hold"/>
                                        <p:tgtEl>
                                          <p:spTgt spid="121859">
                                            <p:txEl>
                                              <p:pRg st="5" end="5"/>
                                            </p:txEl>
                                          </p:spTgt>
                                        </p:tgtEl>
                                        <p:attrNameLst>
                                          <p:attrName>ppt_x</p:attrName>
                                        </p:attrNameLst>
                                      </p:cBhvr>
                                      <p:tavLst>
                                        <p:tav tm="0">
                                          <p:val>
                                            <p:strVal val="#ppt_x"/>
                                          </p:val>
                                        </p:tav>
                                        <p:tav tm="100000">
                                          <p:val>
                                            <p:strVal val="#ppt_x"/>
                                          </p:val>
                                        </p:tav>
                                      </p:tavLst>
                                    </p:anim>
                                    <p:anim calcmode="lin" valueType="num">
                                      <p:cBhvr>
                                        <p:cTn id="30" dur="500" fill="hold"/>
                                        <p:tgtEl>
                                          <p:spTgt spid="121859">
                                            <p:txEl>
                                              <p:pRg st="5" end="5"/>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5" end="5"/>
                                            </p:txEl>
                                          </p:spTgt>
                                        </p:tgtEl>
                                        <p:attrNameLst>
                                          <p:attrName>ppt_c</p:attrName>
                                        </p:attrNameLst>
                                      </p:cBhvr>
                                      <p:to>
                                        <a:srgbClr val="EA0000"/>
                                      </p:to>
                                    </p:animClr>
                                    <p:audio>
                                      <p:cMediaNode>
                                        <p:cTn display="0" masterRel="sameClick">
                                          <p:stCondLst>
                                            <p:cond evt="begin" delay="0">
                                              <p:tn val="27"/>
                                            </p:cond>
                                          </p:stCondLst>
                                          <p:endCondLst>
                                            <p:cond evt="onStopAudio" delay="0">
                                              <p:tgtEl>
                                                <p:sldTgt/>
                                              </p:tgtEl>
                                            </p:cond>
                                          </p:endCondLst>
                                        </p:cTn>
                                        <p:tgtEl>
                                          <p:sndTgt r:embed="rId3" name="type.wav"/>
                                        </p:tgtEl>
                                      </p:cMediaNode>
                                    </p:audio>
                                  </p:subTnLst>
                                </p:cTn>
                              </p:par>
                              <p:par>
                                <p:cTn id="31" presetID="2" presetClass="entr" presetSubtype="1" fill="hold" grpId="0" nodeType="withEffect">
                                  <p:stCondLst>
                                    <p:cond delay="0"/>
                                  </p:stCondLst>
                                  <p:childTnLst>
                                    <p:set>
                                      <p:cBhvr>
                                        <p:cTn id="32" dur="1" fill="hold">
                                          <p:stCondLst>
                                            <p:cond delay="0"/>
                                          </p:stCondLst>
                                        </p:cTn>
                                        <p:tgtEl>
                                          <p:spTgt spid="121859">
                                            <p:txEl>
                                              <p:pRg st="6" end="6"/>
                                            </p:txEl>
                                          </p:spTgt>
                                        </p:tgtEl>
                                        <p:attrNameLst>
                                          <p:attrName>style.visibility</p:attrName>
                                        </p:attrNameLst>
                                      </p:cBhvr>
                                      <p:to>
                                        <p:strVal val="visible"/>
                                      </p:to>
                                    </p:set>
                                    <p:anim calcmode="lin" valueType="num">
                                      <p:cBhvr>
                                        <p:cTn id="33" dur="500" fill="hold"/>
                                        <p:tgtEl>
                                          <p:spTgt spid="121859">
                                            <p:txEl>
                                              <p:pRg st="6" end="6"/>
                                            </p:txEl>
                                          </p:spTgt>
                                        </p:tgtEl>
                                        <p:attrNameLst>
                                          <p:attrName>ppt_x</p:attrName>
                                        </p:attrNameLst>
                                      </p:cBhvr>
                                      <p:tavLst>
                                        <p:tav tm="0">
                                          <p:val>
                                            <p:strVal val="#ppt_x"/>
                                          </p:val>
                                        </p:tav>
                                        <p:tav tm="100000">
                                          <p:val>
                                            <p:strVal val="#ppt_x"/>
                                          </p:val>
                                        </p:tav>
                                      </p:tavLst>
                                    </p:anim>
                                    <p:anim calcmode="lin" valueType="num">
                                      <p:cBhvr>
                                        <p:cTn id="34" dur="500" fill="hold"/>
                                        <p:tgtEl>
                                          <p:spTgt spid="121859">
                                            <p:txEl>
                                              <p:pRg st="6" end="6"/>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6" end="6"/>
                                            </p:txEl>
                                          </p:spTgt>
                                        </p:tgtEl>
                                        <p:attrNameLst>
                                          <p:attrName>ppt_c</p:attrName>
                                        </p:attrNameLst>
                                      </p:cBhvr>
                                      <p:to>
                                        <a:srgbClr val="EA0000"/>
                                      </p:to>
                                    </p:animClr>
                                    <p:audio>
                                      <p:cMediaNode>
                                        <p:cTn display="0" masterRel="sameClick">
                                          <p:stCondLst>
                                            <p:cond evt="begin" delay="0">
                                              <p:tn val="31"/>
                                            </p:cond>
                                          </p:stCondLst>
                                          <p:endCondLst>
                                            <p:cond evt="onStopAudio" delay="0">
                                              <p:tgtEl>
                                                <p:sldTgt/>
                                              </p:tgtEl>
                                            </p:cond>
                                          </p:endCondLst>
                                        </p:cTn>
                                        <p:tgtEl>
                                          <p:sndTgt r:embed="rId3" name="type.wav"/>
                                        </p:tgtEl>
                                      </p:cMediaNode>
                                    </p:audio>
                                  </p:subTnLst>
                                </p:cTn>
                              </p:par>
                              <p:par>
                                <p:cTn id="35" presetID="2" presetClass="entr" presetSubtype="1" fill="hold" grpId="0" nodeType="withEffect">
                                  <p:stCondLst>
                                    <p:cond delay="0"/>
                                  </p:stCondLst>
                                  <p:childTnLst>
                                    <p:set>
                                      <p:cBhvr>
                                        <p:cTn id="36" dur="1" fill="hold">
                                          <p:stCondLst>
                                            <p:cond delay="0"/>
                                          </p:stCondLst>
                                        </p:cTn>
                                        <p:tgtEl>
                                          <p:spTgt spid="121859">
                                            <p:txEl>
                                              <p:pRg st="7" end="7"/>
                                            </p:txEl>
                                          </p:spTgt>
                                        </p:tgtEl>
                                        <p:attrNameLst>
                                          <p:attrName>style.visibility</p:attrName>
                                        </p:attrNameLst>
                                      </p:cBhvr>
                                      <p:to>
                                        <p:strVal val="visible"/>
                                      </p:to>
                                    </p:set>
                                    <p:anim calcmode="lin" valueType="num">
                                      <p:cBhvr>
                                        <p:cTn id="37" dur="500" fill="hold"/>
                                        <p:tgtEl>
                                          <p:spTgt spid="121859">
                                            <p:txEl>
                                              <p:pRg st="7" end="7"/>
                                            </p:txEl>
                                          </p:spTgt>
                                        </p:tgtEl>
                                        <p:attrNameLst>
                                          <p:attrName>ppt_x</p:attrName>
                                        </p:attrNameLst>
                                      </p:cBhvr>
                                      <p:tavLst>
                                        <p:tav tm="0">
                                          <p:val>
                                            <p:strVal val="#ppt_x"/>
                                          </p:val>
                                        </p:tav>
                                        <p:tav tm="100000">
                                          <p:val>
                                            <p:strVal val="#ppt_x"/>
                                          </p:val>
                                        </p:tav>
                                      </p:tavLst>
                                    </p:anim>
                                    <p:anim calcmode="lin" valueType="num">
                                      <p:cBhvr>
                                        <p:cTn id="38" dur="500" fill="hold"/>
                                        <p:tgtEl>
                                          <p:spTgt spid="121859">
                                            <p:txEl>
                                              <p:pRg st="7" end="7"/>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7" end="7"/>
                                            </p:txEl>
                                          </p:spTgt>
                                        </p:tgtEl>
                                        <p:attrNameLst>
                                          <p:attrName>ppt_c</p:attrName>
                                        </p:attrNameLst>
                                      </p:cBhvr>
                                      <p:to>
                                        <a:srgbClr val="EA0000"/>
                                      </p:to>
                                    </p:animClr>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latin typeface="Arial" panose="020B0604020202090204" pitchFamily="34" charset="0"/>
              </a:rPr>
              <a:t>Algorithms Design Techniques and Analysis</a:t>
            </a:r>
          </a:p>
        </p:txBody>
      </p:sp>
      <p:sp>
        <p:nvSpPr>
          <p:cNvPr id="10242" name="Rectangle 2"/>
          <p:cNvSpPr>
            <a:spLocks noGrp="1"/>
          </p:cNvSpPr>
          <p:nvPr>
            <p:ph type="title"/>
          </p:nvPr>
        </p:nvSpPr>
        <p:spPr/>
        <p:txBody>
          <a:bodyPr vert="horz" wrap="square" lIns="91440" tIns="45720" rIns="91440" bIns="45720" anchor="ctr" anchorCtr="0"/>
          <a:lstStyle/>
          <a:p>
            <a:pPr eaLnBrk="1" hangingPunct="1"/>
            <a:r>
              <a:rPr lang="zh-CN" altLang="en-US" b="1" dirty="0"/>
              <a:t>本章内容</a:t>
            </a:r>
            <a:r>
              <a:rPr lang="en-US" altLang="zh-CN" b="1" dirty="0"/>
              <a:t> </a:t>
            </a:r>
          </a:p>
        </p:txBody>
      </p:sp>
      <p:sp>
        <p:nvSpPr>
          <p:cNvPr id="121859"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8.3</a:t>
            </a:r>
            <a:r>
              <a:rPr kumimoji="0" lang="zh-CN" altLang="zh-CN" sz="2000" b="0" i="0" u="none" strike="noStrike" kern="0" cap="none" spc="0" normalizeH="0" baseline="0" noProof="0" dirty="0">
                <a:ln>
                  <a:noFill/>
                </a:ln>
                <a:solidFill>
                  <a:schemeClr val="accent2"/>
                </a:solidFill>
                <a:effectLst/>
                <a:uLnTx/>
                <a:uFillTx/>
                <a:latin typeface="+mn-lt"/>
                <a:ea typeface="+mn-ea"/>
                <a:cs typeface="+mn-cs"/>
              </a:rPr>
              <a:t>. 回溯策略的经典应用（可选讲部分）</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8.3</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.1 可满足问题的算法描述、算法分析、程序实现</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8.3</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.2 子集和问题的算法描述、算法分析、程序实现</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8.3</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.3 哈密顿回路问题的算法描述、算法分析、程序实现</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8.3</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.4 0/1背包问题的算法描述、算法分析、程序实现</a:t>
            </a:r>
          </a:p>
          <a:p>
            <a:pPr marL="876300" marR="0" lvl="1" indent="-4762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8.3</a:t>
            </a:r>
            <a:r>
              <a:rPr kumimoji="0" lang="zh-CN" altLang="zh-CN" sz="2000" b="0" i="0" u="none" strike="noStrike" kern="0" cap="none" spc="0" normalizeH="0" baseline="0" noProof="0" dirty="0">
                <a:ln>
                  <a:noFill/>
                </a:ln>
                <a:solidFill>
                  <a:schemeClr val="accent2"/>
                </a:solidFill>
                <a:effectLst/>
                <a:uLnTx/>
                <a:uFillTx/>
                <a:latin typeface="+mn-ea"/>
                <a:ea typeface="+mn-ea"/>
                <a:cs typeface="+mn-ea"/>
              </a:rPr>
              <a:t>.5货郎担问题问题的算法描述、算法分析、程序实现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p:cTn id="7" dur="500" fill="hold"/>
                                        <p:tgtEl>
                                          <p:spTgt spid="121859">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121859">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animClr clrSpc="rgb" dir="cw">
                                      <p:cBhvr override="childStyle">
                                        <p:cTn dur="1" fill="hold" display="0" masterRel="nextClick" afterEffect="1"/>
                                        <p:tgtEl>
                                          <p:spTgt spid="121859">
                                            <p:txEl>
                                              <p:pRg st="0" end="0"/>
                                            </p:txEl>
                                          </p:spTgt>
                                        </p:tgtEl>
                                        <p:attrNameLst>
                                          <p:attrName>ppt_c</p:attrName>
                                        </p:attrNameLst>
                                      </p:cBhvr>
                                      <p:to>
                                        <a:srgbClr val="EA0000"/>
                                      </p:to>
                                    </p:animClr>
                                  </p:subTnLst>
                                </p:cTn>
                              </p:par>
                              <p:par>
                                <p:cTn id="9" presetID="2" presetClass="entr" presetSubtype="1" fill="hold" grpId="0" nodeType="withEffect">
                                  <p:stCondLst>
                                    <p:cond delay="0"/>
                                  </p:stCondLst>
                                  <p:childTnLst>
                                    <p:set>
                                      <p:cBhvr>
                                        <p:cTn id="10" dur="1" fill="hold">
                                          <p:stCondLst>
                                            <p:cond delay="0"/>
                                          </p:stCondLst>
                                        </p:cTn>
                                        <p:tgtEl>
                                          <p:spTgt spid="121859">
                                            <p:txEl>
                                              <p:pRg st="1" end="1"/>
                                            </p:txEl>
                                          </p:spTgt>
                                        </p:tgtEl>
                                        <p:attrNameLst>
                                          <p:attrName>style.visibility</p:attrName>
                                        </p:attrNameLst>
                                      </p:cBhvr>
                                      <p:to>
                                        <p:strVal val="visible"/>
                                      </p:to>
                                    </p:set>
                                    <p:anim calcmode="lin" valueType="num">
                                      <p:cBhvr>
                                        <p:cTn id="11" dur="500" fill="hold"/>
                                        <p:tgtEl>
                                          <p:spTgt spid="121859">
                                            <p:txEl>
                                              <p:pRg st="1" end="1"/>
                                            </p:txEl>
                                          </p:spTgt>
                                        </p:tgtEl>
                                        <p:attrNameLst>
                                          <p:attrName>ppt_x</p:attrName>
                                        </p:attrNameLst>
                                      </p:cBhvr>
                                      <p:tavLst>
                                        <p:tav tm="0">
                                          <p:val>
                                            <p:strVal val="#ppt_x"/>
                                          </p:val>
                                        </p:tav>
                                        <p:tav tm="100000">
                                          <p:val>
                                            <p:strVal val="#ppt_x"/>
                                          </p:val>
                                        </p:tav>
                                      </p:tavLst>
                                    </p:anim>
                                    <p:anim calcmode="lin" valueType="num">
                                      <p:cBhvr>
                                        <p:cTn id="12" dur="500" fill="hold"/>
                                        <p:tgtEl>
                                          <p:spTgt spid="121859">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1" end="1"/>
                                            </p:txEl>
                                          </p:spTgt>
                                        </p:tgtEl>
                                        <p:attrNameLst>
                                          <p:attrName>ppt_c</p:attrName>
                                        </p:attrNameLst>
                                      </p:cBhvr>
                                      <p:to>
                                        <a:srgbClr val="EA0000"/>
                                      </p:to>
                                    </p:animClr>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par>
                                <p:cTn id="13" presetID="2" presetClass="entr" presetSubtype="1" fill="hold" grpId="0" nodeType="withEffect">
                                  <p:stCondLst>
                                    <p:cond delay="0"/>
                                  </p:stCondLst>
                                  <p:childTnLst>
                                    <p:set>
                                      <p:cBhvr>
                                        <p:cTn id="14" dur="1" fill="hold">
                                          <p:stCondLst>
                                            <p:cond delay="0"/>
                                          </p:stCondLst>
                                        </p:cTn>
                                        <p:tgtEl>
                                          <p:spTgt spid="121859">
                                            <p:txEl>
                                              <p:pRg st="2" end="2"/>
                                            </p:txEl>
                                          </p:spTgt>
                                        </p:tgtEl>
                                        <p:attrNameLst>
                                          <p:attrName>style.visibility</p:attrName>
                                        </p:attrNameLst>
                                      </p:cBhvr>
                                      <p:to>
                                        <p:strVal val="visible"/>
                                      </p:to>
                                    </p:set>
                                    <p:anim calcmode="lin" valueType="num">
                                      <p:cBhvr>
                                        <p:cTn id="15" dur="500" fill="hold"/>
                                        <p:tgtEl>
                                          <p:spTgt spid="121859">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121859">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2" end="2"/>
                                            </p:txEl>
                                          </p:spTgt>
                                        </p:tgtEl>
                                        <p:attrNameLst>
                                          <p:attrName>ppt_c</p:attrName>
                                        </p:attrNameLst>
                                      </p:cBhvr>
                                      <p:to>
                                        <a:srgbClr val="EA0000"/>
                                      </p:to>
                                    </p:animClr>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par>
                                <p:cTn id="17" presetID="2" presetClass="entr" presetSubtype="1" fill="hold" grpId="0" nodeType="withEffect">
                                  <p:stCondLst>
                                    <p:cond delay="0"/>
                                  </p:stCondLst>
                                  <p:childTnLst>
                                    <p:set>
                                      <p:cBhvr>
                                        <p:cTn id="18" dur="1" fill="hold">
                                          <p:stCondLst>
                                            <p:cond delay="0"/>
                                          </p:stCondLst>
                                        </p:cTn>
                                        <p:tgtEl>
                                          <p:spTgt spid="121859">
                                            <p:txEl>
                                              <p:pRg st="3" end="3"/>
                                            </p:txEl>
                                          </p:spTgt>
                                        </p:tgtEl>
                                        <p:attrNameLst>
                                          <p:attrName>style.visibility</p:attrName>
                                        </p:attrNameLst>
                                      </p:cBhvr>
                                      <p:to>
                                        <p:strVal val="visible"/>
                                      </p:to>
                                    </p:set>
                                    <p:anim calcmode="lin" valueType="num">
                                      <p:cBhvr>
                                        <p:cTn id="19" dur="500" fill="hold"/>
                                        <p:tgtEl>
                                          <p:spTgt spid="121859">
                                            <p:txEl>
                                              <p:pRg st="3" end="3"/>
                                            </p:txEl>
                                          </p:spTgt>
                                        </p:tgtEl>
                                        <p:attrNameLst>
                                          <p:attrName>ppt_x</p:attrName>
                                        </p:attrNameLst>
                                      </p:cBhvr>
                                      <p:tavLst>
                                        <p:tav tm="0">
                                          <p:val>
                                            <p:strVal val="#ppt_x"/>
                                          </p:val>
                                        </p:tav>
                                        <p:tav tm="100000">
                                          <p:val>
                                            <p:strVal val="#ppt_x"/>
                                          </p:val>
                                        </p:tav>
                                      </p:tavLst>
                                    </p:anim>
                                    <p:anim calcmode="lin" valueType="num">
                                      <p:cBhvr>
                                        <p:cTn id="20" dur="500" fill="hold"/>
                                        <p:tgtEl>
                                          <p:spTgt spid="121859">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3" end="3"/>
                                            </p:txEl>
                                          </p:spTgt>
                                        </p:tgtEl>
                                        <p:attrNameLst>
                                          <p:attrName>ppt_c</p:attrName>
                                        </p:attrNameLst>
                                      </p:cBhvr>
                                      <p:to>
                                        <a:srgbClr val="EA0000"/>
                                      </p:to>
                                    </p:animClr>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par>
                                <p:cTn id="21" presetID="2" presetClass="entr" presetSubtype="1" fill="hold" grpId="0" nodeType="withEffect">
                                  <p:stCondLst>
                                    <p:cond delay="0"/>
                                  </p:stCondLst>
                                  <p:childTnLst>
                                    <p:set>
                                      <p:cBhvr>
                                        <p:cTn id="22" dur="1" fill="hold">
                                          <p:stCondLst>
                                            <p:cond delay="0"/>
                                          </p:stCondLst>
                                        </p:cTn>
                                        <p:tgtEl>
                                          <p:spTgt spid="121859">
                                            <p:txEl>
                                              <p:pRg st="4" end="4"/>
                                            </p:txEl>
                                          </p:spTgt>
                                        </p:tgtEl>
                                        <p:attrNameLst>
                                          <p:attrName>style.visibility</p:attrName>
                                        </p:attrNameLst>
                                      </p:cBhvr>
                                      <p:to>
                                        <p:strVal val="visible"/>
                                      </p:to>
                                    </p:set>
                                    <p:anim calcmode="lin" valueType="num">
                                      <p:cBhvr>
                                        <p:cTn id="23" dur="500" fill="hold"/>
                                        <p:tgtEl>
                                          <p:spTgt spid="121859">
                                            <p:txEl>
                                              <p:pRg st="4" end="4"/>
                                            </p:txEl>
                                          </p:spTgt>
                                        </p:tgtEl>
                                        <p:attrNameLst>
                                          <p:attrName>ppt_x</p:attrName>
                                        </p:attrNameLst>
                                      </p:cBhvr>
                                      <p:tavLst>
                                        <p:tav tm="0">
                                          <p:val>
                                            <p:strVal val="#ppt_x"/>
                                          </p:val>
                                        </p:tav>
                                        <p:tav tm="100000">
                                          <p:val>
                                            <p:strVal val="#ppt_x"/>
                                          </p:val>
                                        </p:tav>
                                      </p:tavLst>
                                    </p:anim>
                                    <p:anim calcmode="lin" valueType="num">
                                      <p:cBhvr>
                                        <p:cTn id="24" dur="500" fill="hold"/>
                                        <p:tgtEl>
                                          <p:spTgt spid="121859">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4" end="4"/>
                                            </p:txEl>
                                          </p:spTgt>
                                        </p:tgtEl>
                                        <p:attrNameLst>
                                          <p:attrName>ppt_c</p:attrName>
                                        </p:attrNameLst>
                                      </p:cBhvr>
                                      <p:to>
                                        <a:srgbClr val="EA0000"/>
                                      </p:to>
                                    </p:animClr>
                                    <p:audio>
                                      <p:cMediaNode>
                                        <p:cTn display="0" masterRel="sameClick">
                                          <p:stCondLst>
                                            <p:cond evt="begin" delay="0">
                                              <p:tn val="21"/>
                                            </p:cond>
                                          </p:stCondLst>
                                          <p:endCondLst>
                                            <p:cond evt="onStopAudio" delay="0">
                                              <p:tgtEl>
                                                <p:sldTgt/>
                                              </p:tgtEl>
                                            </p:cond>
                                          </p:endCondLst>
                                        </p:cTn>
                                        <p:tgtEl>
                                          <p:sndTgt r:embed="rId3" name="type.wav"/>
                                        </p:tgtEl>
                                      </p:cMediaNode>
                                    </p:audio>
                                  </p:subTnLst>
                                </p:cTn>
                              </p:par>
                              <p:par>
                                <p:cTn id="25" presetID="2" presetClass="entr" presetSubtype="1" fill="hold" grpId="0" nodeType="withEffect">
                                  <p:stCondLst>
                                    <p:cond delay="0"/>
                                  </p:stCondLst>
                                  <p:childTnLst>
                                    <p:set>
                                      <p:cBhvr>
                                        <p:cTn id="26" dur="1" fill="hold">
                                          <p:stCondLst>
                                            <p:cond delay="0"/>
                                          </p:stCondLst>
                                        </p:cTn>
                                        <p:tgtEl>
                                          <p:spTgt spid="121859">
                                            <p:txEl>
                                              <p:pRg st="5" end="5"/>
                                            </p:txEl>
                                          </p:spTgt>
                                        </p:tgtEl>
                                        <p:attrNameLst>
                                          <p:attrName>style.visibility</p:attrName>
                                        </p:attrNameLst>
                                      </p:cBhvr>
                                      <p:to>
                                        <p:strVal val="visible"/>
                                      </p:to>
                                    </p:set>
                                    <p:anim calcmode="lin" valueType="num">
                                      <p:cBhvr>
                                        <p:cTn id="27" dur="500" fill="hold"/>
                                        <p:tgtEl>
                                          <p:spTgt spid="121859">
                                            <p:txEl>
                                              <p:pRg st="5" end="5"/>
                                            </p:txEl>
                                          </p:spTgt>
                                        </p:tgtEl>
                                        <p:attrNameLst>
                                          <p:attrName>ppt_x</p:attrName>
                                        </p:attrNameLst>
                                      </p:cBhvr>
                                      <p:tavLst>
                                        <p:tav tm="0">
                                          <p:val>
                                            <p:strVal val="#ppt_x"/>
                                          </p:val>
                                        </p:tav>
                                        <p:tav tm="100000">
                                          <p:val>
                                            <p:strVal val="#ppt_x"/>
                                          </p:val>
                                        </p:tav>
                                      </p:tavLst>
                                    </p:anim>
                                    <p:anim calcmode="lin" valueType="num">
                                      <p:cBhvr>
                                        <p:cTn id="28" dur="500" fill="hold"/>
                                        <p:tgtEl>
                                          <p:spTgt spid="121859">
                                            <p:txEl>
                                              <p:pRg st="5" end="5"/>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5" end="5"/>
                                            </p:txEl>
                                          </p:spTgt>
                                        </p:tgtEl>
                                        <p:attrNameLst>
                                          <p:attrName>ppt_c</p:attrName>
                                        </p:attrNameLst>
                                      </p:cBhvr>
                                      <p:to>
                                        <a:srgbClr val="EA0000"/>
                                      </p:to>
                                    </p:animClr>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12290" name="Rectangle 2"/>
          <p:cNvSpPr>
            <a:spLocks noGrp="1"/>
          </p:cNvSpPr>
          <p:nvPr>
            <p:ph type="title"/>
          </p:nvPr>
        </p:nvSpPr>
        <p:spPr/>
        <p:txBody>
          <a:bodyPr vert="horz" wrap="square" lIns="91440" tIns="45720" rIns="91440" bIns="45720" anchor="ctr" anchorCtr="0"/>
          <a:lstStyle/>
          <a:p>
            <a:pPr eaLnBrk="1" hangingPunct="1"/>
            <a:r>
              <a:rPr lang="en-US" altLang="zh-CN" dirty="0"/>
              <a:t>8.1 </a:t>
            </a:r>
            <a:r>
              <a:rPr lang="zh-CN" altLang="en-US" dirty="0"/>
              <a:t>简介</a:t>
            </a:r>
            <a:endParaRPr lang="en-US" altLang="zh-CN" dirty="0"/>
          </a:p>
        </p:txBody>
      </p:sp>
      <p:sp>
        <p:nvSpPr>
          <p:cNvPr id="2" name="Rectangle 3"/>
          <p:cNvSpPr>
            <a:spLocks noGrp="1"/>
          </p:cNvSpPr>
          <p:nvPr>
            <p:ph type="body" sz="half" idx="1"/>
          </p:nvPr>
        </p:nvSpPr>
        <p:spPr>
          <a:xfrm>
            <a:off x="900113" y="1268413"/>
            <a:ext cx="7848600" cy="4525962"/>
          </a:xfrm>
        </p:spPr>
        <p:txBody>
          <a:bodyPr vert="horz" wrap="square" lIns="91440" tIns="45720" rIns="91440" bIns="45720" anchor="t" anchorCtr="0"/>
          <a:lstStyle/>
          <a:p>
            <a:pPr eaLnBrk="1" hangingPunct="1">
              <a:lnSpc>
                <a:spcPct val="90000"/>
              </a:lnSpc>
              <a:buClrTx/>
              <a:buSzTx/>
              <a:buFontTx/>
            </a:pPr>
            <a:r>
              <a:rPr lang="zh-CN" altLang="en-US" sz="2400" dirty="0"/>
              <a:t>在许多真实世界的问题中，像大多数</a:t>
            </a:r>
            <a:r>
              <a:rPr lang="en-US" altLang="zh-CN" sz="2400" dirty="0"/>
              <a:t>NP</a:t>
            </a:r>
            <a:r>
              <a:rPr lang="zh-CN" altLang="en-US" sz="2400" dirty="0"/>
              <a:t>难问题一样，通过穷尽搜索数量巨大但有限多个可能性，可以获得一个解。</a:t>
            </a:r>
          </a:p>
          <a:p>
            <a:pPr eaLnBrk="1" hangingPunct="1">
              <a:lnSpc>
                <a:spcPct val="90000"/>
              </a:lnSpc>
              <a:buClrTx/>
              <a:buSzTx/>
              <a:buFontTx/>
            </a:pPr>
            <a:endParaRPr lang="zh-CN" altLang="en-US" sz="2400" dirty="0"/>
          </a:p>
          <a:p>
            <a:pPr eaLnBrk="1" hangingPunct="1">
              <a:lnSpc>
                <a:spcPct val="90000"/>
              </a:lnSpc>
              <a:buClrTx/>
              <a:buSzTx/>
              <a:buFontTx/>
            </a:pPr>
            <a:r>
              <a:rPr lang="zh-CN" altLang="en-US" sz="2400" dirty="0"/>
              <a:t>事实上对于所有这些问题都不存在用穷尽搜索之外的方法来解决问题的算法。</a:t>
            </a:r>
          </a:p>
        </p:txBody>
      </p:sp>
      <p:pic>
        <p:nvPicPr>
          <p:cNvPr id="7172" name="Picture 4" descr="question"/>
          <p:cNvPicPr>
            <a:picLocks noGrp="1" noChangeAspect="1"/>
          </p:cNvPicPr>
          <p:nvPr>
            <p:ph sz="half" idx="2"/>
          </p:nvPr>
        </p:nvPicPr>
        <p:blipFill>
          <a:blip r:embed="rId4"/>
          <a:stretch>
            <a:fillRect/>
          </a:stretch>
        </p:blipFill>
        <p:spPr>
          <a:xfrm>
            <a:off x="611188" y="4221163"/>
            <a:ext cx="685800" cy="685800"/>
          </a:xfrm>
        </p:spPr>
      </p:pic>
      <p:sp>
        <p:nvSpPr>
          <p:cNvPr id="7175" name="Text Box 7"/>
          <p:cNvSpPr txBox="1"/>
          <p:nvPr/>
        </p:nvSpPr>
        <p:spPr>
          <a:xfrm>
            <a:off x="865188" y="4437063"/>
            <a:ext cx="6802437" cy="400050"/>
          </a:xfrm>
          <a:prstGeom prst="rect">
            <a:avLst/>
          </a:prstGeom>
          <a:noFill/>
          <a:ln w="25400">
            <a:noFill/>
          </a:ln>
        </p:spPr>
        <p:txBody>
          <a:bodyPr anchor="t" anchorCtr="0">
            <a:spAutoFit/>
          </a:bodyPr>
          <a:lstStyle/>
          <a:p>
            <a:pPr lvl="1" indent="0" algn="l" rtl="0" eaLnBrk="1" fontAlgn="base" hangingPunct="1">
              <a:spcBef>
                <a:spcPct val="20000"/>
              </a:spcBef>
              <a:spcAft>
                <a:spcPct val="0"/>
              </a:spcAft>
              <a:buNone/>
            </a:pPr>
            <a:r>
              <a:rPr lang="zh-CN" altLang="en-US" sz="2000" dirty="0">
                <a:solidFill>
                  <a:schemeClr val="accent2"/>
                </a:solidFill>
                <a:latin typeface="Arial" panose="020B0604020202090204" pitchFamily="34" charset="0"/>
                <a:ea typeface="宋体" pitchFamily="2" charset="-122"/>
              </a:rPr>
              <a:t>怎么样开发出系统化的搜索技术？</a:t>
            </a:r>
            <a:endParaRPr lang="en-US" altLang="zh-CN" sz="2000" dirty="0">
              <a:solidFill>
                <a:schemeClr val="accent2"/>
              </a:solidFill>
              <a:latin typeface="Arial" panose="020B0604020202090204" pitchFamily="34" charset="0"/>
              <a:ea typeface="宋体" pitchFamily="2" charset="-122"/>
            </a:endParaRPr>
          </a:p>
        </p:txBody>
      </p:sp>
      <p:sp>
        <p:nvSpPr>
          <p:cNvPr id="7176" name="Text Box 8"/>
          <p:cNvSpPr txBox="1"/>
          <p:nvPr/>
        </p:nvSpPr>
        <p:spPr>
          <a:xfrm>
            <a:off x="879475" y="5059363"/>
            <a:ext cx="5262563" cy="400050"/>
          </a:xfrm>
          <a:prstGeom prst="rect">
            <a:avLst/>
          </a:prstGeom>
          <a:noFill/>
          <a:ln w="25400">
            <a:noFill/>
          </a:ln>
        </p:spPr>
        <p:txBody>
          <a:bodyPr wrap="none" anchor="t" anchorCtr="0">
            <a:spAutoFit/>
          </a:bodyPr>
          <a:lstStyle/>
          <a:p>
            <a:pPr lvl="1" indent="0" algn="l" rtl="0" eaLnBrk="1" fontAlgn="base" hangingPunct="1">
              <a:spcBef>
                <a:spcPct val="20000"/>
              </a:spcBef>
              <a:spcAft>
                <a:spcPct val="0"/>
              </a:spcAft>
              <a:buNone/>
            </a:pPr>
            <a:r>
              <a:rPr lang="zh-CN" altLang="en-US" sz="2000" dirty="0">
                <a:solidFill>
                  <a:schemeClr val="accent2"/>
                </a:solidFill>
                <a:latin typeface="Arial" panose="020B0604020202090204" pitchFamily="34" charset="0"/>
                <a:ea typeface="宋体" pitchFamily="2" charset="-122"/>
              </a:rPr>
              <a:t>怎样能够将搜索空间减少到尽可能的小？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2">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2">
                                            <p:txEl>
                                              <p:charRg st="1" end="1"/>
                                            </p:txEl>
                                          </p:spTgt>
                                        </p:tgtEl>
                                        <p:attrNameLst>
                                          <p:attrName>style.visibility</p:attrName>
                                        </p:attrNameLst>
                                      </p:cBhvr>
                                      <p:to>
                                        <p:strVal val="visible"/>
                                      </p:to>
                                    </p:set>
                                    <p:anim calcmode="lin" valueType="num">
                                      <p:cBhvr>
                                        <p:cTn id="15" dur="500" fill="hold"/>
                                        <p:tgtEl>
                                          <p:spTgt spid="2">
                                            <p:txEl>
                                              <p:charRg st="1" end="1"/>
                                            </p:txEl>
                                          </p:spTgt>
                                        </p:tgtEl>
                                        <p:attrNameLst>
                                          <p:attrName>ppt_w</p:attrName>
                                        </p:attrNameLst>
                                      </p:cBhvr>
                                      <p:tavLst>
                                        <p:tav tm="0">
                                          <p:val>
                                            <p:fltVal val="0"/>
                                          </p:val>
                                        </p:tav>
                                        <p:tav tm="100000">
                                          <p:val>
                                            <p:strVal val="#ppt_w"/>
                                          </p:val>
                                        </p:tav>
                                      </p:tavLst>
                                    </p:anim>
                                    <p:anim calcmode="lin" valueType="num">
                                      <p:cBhvr>
                                        <p:cTn id="16" dur="500" fill="hold"/>
                                        <p:tgtEl>
                                          <p:spTgt spid="2">
                                            <p:txEl>
                                              <p:charRg st="1" end="1"/>
                                            </p:txEl>
                                          </p:spTgt>
                                        </p:tgtEl>
                                        <p:attrNameLst>
                                          <p:attrName>ppt_h</p:attrName>
                                        </p:attrNameLst>
                                      </p:cBhvr>
                                      <p:tavLst>
                                        <p:tav tm="0">
                                          <p:val>
                                            <p:fltVal val="0"/>
                                          </p:val>
                                        </p:tav>
                                        <p:tav tm="100000">
                                          <p:val>
                                            <p:strVal val="#ppt_h"/>
                                          </p:val>
                                        </p:tav>
                                      </p:tavLst>
                                    </p:anim>
                                    <p:anim calcmode="lin" valueType="num">
                                      <p:cBhvr>
                                        <p:cTn id="17" dur="500" fill="hold"/>
                                        <p:tgtEl>
                                          <p:spTgt spid="2">
                                            <p:txEl>
                                              <p:charRg st="1" end="1"/>
                                            </p:txEl>
                                          </p:spTgt>
                                        </p:tgtEl>
                                        <p:attrNameLst>
                                          <p:attrName>style.rotation</p:attrName>
                                        </p:attrNameLst>
                                      </p:cBhvr>
                                      <p:tavLst>
                                        <p:tav tm="0">
                                          <p:val>
                                            <p:fltVal val="360"/>
                                          </p:val>
                                        </p:tav>
                                        <p:tav tm="100000">
                                          <p:val>
                                            <p:fltVal val="0"/>
                                          </p:val>
                                        </p:tav>
                                      </p:tavLst>
                                    </p:anim>
                                    <p:animEffect transition="in" filter="fade">
                                      <p:cBhvr>
                                        <p:cTn id="18" dur="500"/>
                                        <p:tgtEl>
                                          <p:spTgt spid="2">
                                            <p:txEl>
                                              <p:char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7172"/>
                                        </p:tgtEl>
                                        <p:attrNameLst>
                                          <p:attrName>style.visibility</p:attrName>
                                        </p:attrNameLst>
                                      </p:cBhvr>
                                      <p:to>
                                        <p:strVal val="visible"/>
                                      </p:to>
                                    </p:set>
                                    <p:anim calcmode="lin" valueType="num">
                                      <p:cBhvr>
                                        <p:cTn id="23" dur="500" fill="hold"/>
                                        <p:tgtEl>
                                          <p:spTgt spid="7172"/>
                                        </p:tgtEl>
                                        <p:attrNameLst>
                                          <p:attrName>ppt_w</p:attrName>
                                        </p:attrNameLst>
                                      </p:cBhvr>
                                      <p:tavLst>
                                        <p:tav tm="0">
                                          <p:val>
                                            <p:fltVal val="0"/>
                                          </p:val>
                                        </p:tav>
                                        <p:tav tm="100000">
                                          <p:val>
                                            <p:strVal val="#ppt_w"/>
                                          </p:val>
                                        </p:tav>
                                      </p:tavLst>
                                    </p:anim>
                                    <p:anim calcmode="lin" valueType="num">
                                      <p:cBhvr>
                                        <p:cTn id="24" dur="500" fill="hold"/>
                                        <p:tgtEl>
                                          <p:spTgt spid="7172"/>
                                        </p:tgtEl>
                                        <p:attrNameLst>
                                          <p:attrName>ppt_h</p:attrName>
                                        </p:attrNameLst>
                                      </p:cBhvr>
                                      <p:tavLst>
                                        <p:tav tm="0">
                                          <p:val>
                                            <p:fltVal val="0"/>
                                          </p:val>
                                        </p:tav>
                                        <p:tav tm="100000">
                                          <p:val>
                                            <p:strVal val="#ppt_h"/>
                                          </p:val>
                                        </p:tav>
                                      </p:tavLst>
                                    </p:anim>
                                    <p:anim calcmode="lin" valueType="num">
                                      <p:cBhvr>
                                        <p:cTn id="25" dur="500" fill="hold"/>
                                        <p:tgtEl>
                                          <p:spTgt spid="7172"/>
                                        </p:tgtEl>
                                        <p:attrNameLst>
                                          <p:attrName>style.rotation</p:attrName>
                                        </p:attrNameLst>
                                      </p:cBhvr>
                                      <p:tavLst>
                                        <p:tav tm="0">
                                          <p:val>
                                            <p:fltVal val="360"/>
                                          </p:val>
                                        </p:tav>
                                        <p:tav tm="100000">
                                          <p:val>
                                            <p:fltVal val="0"/>
                                          </p:val>
                                        </p:tav>
                                      </p:tavLst>
                                    </p:anim>
                                    <p:animEffect transition="in" filter="fade">
                                      <p:cBhvr>
                                        <p:cTn id="26" dur="500"/>
                                        <p:tgtEl>
                                          <p:spTgt spid="7172"/>
                                        </p:tgtEl>
                                      </p:cBhvr>
                                    </p:animEffect>
                                  </p:childTnLst>
                                  <p:subTnLst>
                                    <p:audio>
                                      <p:cMediaNode>
                                        <p:cTn display="0" masterRel="sameClick">
                                          <p:stCondLst>
                                            <p:cond evt="begin" delay="0">
                                              <p:tn val="21"/>
                                            </p:cond>
                                          </p:stCondLst>
                                          <p:endCondLst>
                                            <p:cond evt="onStopAudio" delay="0">
                                              <p:tgtEl>
                                                <p:sldTgt/>
                                              </p:tgtEl>
                                            </p:cond>
                                          </p:endCondLst>
                                        </p:cTn>
                                        <p:tgtEl>
                                          <p:sndTgt r:embed="rId3" name="chimes.wav"/>
                                        </p:tgtEl>
                                      </p:cMediaNode>
                                    </p:audio>
                                  </p:subTnLst>
                                </p:cTn>
                              </p:par>
                              <p:par>
                                <p:cTn id="27" presetID="27" presetClass="entr" presetSubtype="0" fill="hold" grpId="0" nodeType="withEffect">
                                  <p:stCondLst>
                                    <p:cond delay="0"/>
                                  </p:stCondLst>
                                  <p:iterate type="lt">
                                    <p:tmPct val="50000"/>
                                  </p:iterate>
                                  <p:childTnLst>
                                    <p:set>
                                      <p:cBhvr>
                                        <p:cTn id="28" dur="1" fill="hold">
                                          <p:stCondLst>
                                            <p:cond delay="0"/>
                                          </p:stCondLst>
                                        </p:cTn>
                                        <p:tgtEl>
                                          <p:spTgt spid="7175"/>
                                        </p:tgtEl>
                                        <p:attrNameLst>
                                          <p:attrName>style.visibility</p:attrName>
                                        </p:attrNameLst>
                                      </p:cBhvr>
                                      <p:to>
                                        <p:strVal val="visible"/>
                                      </p:to>
                                    </p:set>
                                    <p:anim calcmode="discrete" valueType="clr">
                                      <p:cBhvr override="childStyle">
                                        <p:cTn id="29" dur="80"/>
                                        <p:tgtEl>
                                          <p:spTgt spid="7175"/>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7175"/>
                                        </p:tgtEl>
                                        <p:attrNameLst>
                                          <p:attrName>fillcolor</p:attrName>
                                        </p:attrNameLst>
                                      </p:cBhvr>
                                      <p:tavLst>
                                        <p:tav tm="0">
                                          <p:val>
                                            <p:clrVal>
                                              <a:schemeClr val="accent2"/>
                                            </p:clrVal>
                                          </p:val>
                                        </p:tav>
                                        <p:tav tm="50000">
                                          <p:val>
                                            <p:clrVal>
                                              <a:schemeClr val="hlink"/>
                                            </p:clrVal>
                                          </p:val>
                                        </p:tav>
                                      </p:tavLst>
                                    </p:anim>
                                    <p:set>
                                      <p:cBhvr>
                                        <p:cTn id="31" dur="80"/>
                                        <p:tgtEl>
                                          <p:spTgt spid="7175"/>
                                        </p:tgtEl>
                                        <p:attrNameLst>
                                          <p:attrName>fill.type</p:attrName>
                                        </p:attrNameLst>
                                      </p:cBhvr>
                                      <p:to>
                                        <p:strVal val="solid"/>
                                      </p:to>
                                    </p:set>
                                  </p:childTnLst>
                                </p:cTn>
                              </p:par>
                            </p:childTnLst>
                          </p:cTn>
                        </p:par>
                      </p:childTnLst>
                    </p:cTn>
                  </p:par>
                  <p:par>
                    <p:cTn id="32" fill="hold">
                      <p:stCondLst>
                        <p:cond delay="indefinite"/>
                      </p:stCondLst>
                      <p:childTnLst>
                        <p:par>
                          <p:cTn id="33" fill="hold">
                            <p:stCondLst>
                              <p:cond delay="0"/>
                            </p:stCondLst>
                            <p:childTnLst>
                              <p:par>
                                <p:cTn id="34" presetID="27" presetClass="entr" presetSubtype="0" fill="hold" grpId="0" nodeType="clickEffect">
                                  <p:stCondLst>
                                    <p:cond delay="0"/>
                                  </p:stCondLst>
                                  <p:iterate type="lt">
                                    <p:tmPct val="50000"/>
                                  </p:iterate>
                                  <p:childTnLst>
                                    <p:set>
                                      <p:cBhvr>
                                        <p:cTn id="35" dur="1" fill="hold">
                                          <p:stCondLst>
                                            <p:cond delay="0"/>
                                          </p:stCondLst>
                                        </p:cTn>
                                        <p:tgtEl>
                                          <p:spTgt spid="7176"/>
                                        </p:tgtEl>
                                        <p:attrNameLst>
                                          <p:attrName>style.visibility</p:attrName>
                                        </p:attrNameLst>
                                      </p:cBhvr>
                                      <p:to>
                                        <p:strVal val="visible"/>
                                      </p:to>
                                    </p:set>
                                    <p:anim calcmode="discrete" valueType="clr">
                                      <p:cBhvr override="childStyle">
                                        <p:cTn id="36" dur="80"/>
                                        <p:tgtEl>
                                          <p:spTgt spid="7176"/>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7176"/>
                                        </p:tgtEl>
                                        <p:attrNameLst>
                                          <p:attrName>fillcolor</p:attrName>
                                        </p:attrNameLst>
                                      </p:cBhvr>
                                      <p:tavLst>
                                        <p:tav tm="0">
                                          <p:val>
                                            <p:clrVal>
                                              <a:schemeClr val="accent2"/>
                                            </p:clrVal>
                                          </p:val>
                                        </p:tav>
                                        <p:tav tm="50000">
                                          <p:val>
                                            <p:clrVal>
                                              <a:schemeClr val="hlink"/>
                                            </p:clrVal>
                                          </p:val>
                                        </p:tav>
                                      </p:tavLst>
                                    </p:anim>
                                    <p:set>
                                      <p:cBhvr>
                                        <p:cTn id="38" dur="80"/>
                                        <p:tgtEl>
                                          <p:spTgt spid="717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717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14338" name="Rectangle 2"/>
          <p:cNvSpPr>
            <a:spLocks noGrp="1"/>
          </p:cNvSpPr>
          <p:nvPr>
            <p:ph type="title"/>
          </p:nvPr>
        </p:nvSpPr>
        <p:spPr/>
        <p:txBody>
          <a:bodyPr vert="horz" wrap="square" lIns="91440" tIns="45720" rIns="91440" bIns="45720" anchor="ctr" anchorCtr="0"/>
          <a:lstStyle/>
          <a:p>
            <a:pPr eaLnBrk="1" hangingPunct="1"/>
            <a:r>
              <a:rPr lang="en-US" altLang="zh-CN" dirty="0"/>
              <a:t>8.1.1 </a:t>
            </a:r>
            <a:r>
              <a:rPr lang="zh-CN" altLang="en-US" dirty="0"/>
              <a:t>图着色——问题描述</a:t>
            </a:r>
          </a:p>
        </p:txBody>
      </p:sp>
      <p:sp>
        <p:nvSpPr>
          <p:cNvPr id="8195" name="Rectangle 3"/>
          <p:cNvSpPr>
            <a:spLocks noGrp="1" noChangeArrowheads="1"/>
          </p:cNvSpPr>
          <p:nvPr>
            <p:ph idx="1"/>
          </p:nvPr>
        </p:nvSpPr>
        <p:spPr>
          <a:xfrm>
            <a:off x="806450" y="1341438"/>
            <a:ext cx="7942263" cy="4530725"/>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问题描述</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1000" b="0" i="0" u="none" strike="noStrike" kern="0" cap="none" spc="0" normalizeH="0" baseline="0" noProof="0" dirty="0">
                <a:ln>
                  <a:noFill/>
                </a:ln>
                <a:solidFill>
                  <a:schemeClr val="accent2"/>
                </a:solidFill>
                <a:effectLst/>
                <a:uLnTx/>
                <a:uFillTx/>
                <a:latin typeface="+mn-lt"/>
                <a:ea typeface="+mn-ea"/>
                <a:cs typeface="+mn-cs"/>
              </a:rPr>
              <a:t> </a:t>
            </a: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给出一个无向图</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G=(V,E)</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，需要用三种颜色之一为</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v</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中的每个顶点着色，三种颜色分别为</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1,2</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3</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，使得没有两个邻接的顶点有同样的颜色。</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19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一种着色可以用</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元组（</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c</a:t>
            </a:r>
            <a:r>
              <a:rPr kumimoji="0" lang="en-US" altLang="zh-CN" sz="22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c</a:t>
            </a:r>
            <a:r>
              <a:rPr kumimoji="0" lang="en-US" altLang="zh-CN" sz="2200" b="0" i="0" u="none" strike="noStrike" kern="0" cap="none" spc="0" normalizeH="0" baseline="-25000" noProof="0" dirty="0">
                <a:ln>
                  <a:noFill/>
                </a:ln>
                <a:solidFill>
                  <a:schemeClr val="accent2"/>
                </a:solidFill>
                <a:effectLst/>
                <a:uLnTx/>
                <a:uFillTx/>
                <a:latin typeface="+mn-lt"/>
                <a:ea typeface="+mn-ea"/>
                <a:cs typeface="+mn-ea"/>
              </a:rPr>
              <a:t>2</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 </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c</a:t>
            </a:r>
            <a:r>
              <a:rPr kumimoji="0" lang="en-US" altLang="zh-CN" sz="2200" b="0" i="0" u="none" strike="noStrike" kern="0" cap="none" spc="0" normalizeH="0" baseline="-25000" noProof="0" dirty="0" err="1">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）来表示，使</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c</a:t>
            </a:r>
            <a:r>
              <a:rPr kumimoji="0" lang="en-US" altLang="zh-CN" sz="2200" b="0" i="0" u="none" strike="noStrike" kern="0" cap="none" spc="0" normalizeH="0" baseline="-25000" noProof="0" dirty="0" err="1">
                <a:ln>
                  <a:noFill/>
                </a:ln>
                <a:solidFill>
                  <a:schemeClr val="accent2"/>
                </a:solidFill>
                <a:effectLst/>
                <a:uLnTx/>
                <a:uFillTx/>
                <a:latin typeface="+mn-lt"/>
                <a:ea typeface="+mn-ea"/>
                <a:cs typeface="+mn-ea"/>
              </a:rPr>
              <a:t>i</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1, 2, 3</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1</a:t>
            </a:r>
            <a:r>
              <a:rPr kumimoji="0" lang="en-US" altLang="zh-CN" sz="2200" b="0" i="0" u="none" strike="noStrike" kern="0" cap="none" spc="0" normalizeH="0" baseline="0" noProof="0" dirty="0">
                <a:ln>
                  <a:noFill/>
                </a:ln>
                <a:solidFill>
                  <a:schemeClr val="accent2"/>
                </a:solidFill>
                <a:effectLst/>
                <a:uLnTx/>
                <a:uFillTx/>
                <a:latin typeface="+mn-lt"/>
                <a:ea typeface="+mn-ea"/>
                <a:cs typeface="Arial" panose="020B0604020202090204" pitchFamily="34" charset="0"/>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i</a:t>
            </a:r>
            <a:r>
              <a:rPr kumimoji="0" lang="en-US" altLang="zh-CN" sz="2200" b="0" i="0" u="none" strike="noStrike" kern="0" cap="none" spc="0" normalizeH="0" baseline="0" noProof="0" dirty="0">
                <a:ln>
                  <a:noFill/>
                </a:ln>
                <a:solidFill>
                  <a:schemeClr val="accent2"/>
                </a:solidFill>
                <a:effectLst/>
                <a:uLnTx/>
                <a:uFillTx/>
                <a:latin typeface="+mn-lt"/>
                <a:ea typeface="+mn-ea"/>
                <a:cs typeface="Arial" panose="020B0604020202090204" pitchFamily="34" charset="0"/>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a:t>
            </a: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a:p>
            <a:pPr marL="685800" marR="0" lvl="1" indent="-22860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例如，</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(1,2,2,3,1)</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表示一个有</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5</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个顶点的图的着色，一个</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个顶点的图共有</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3</a:t>
            </a:r>
            <a:r>
              <a:rPr kumimoji="0" lang="en-US" altLang="zh-CN" sz="2200" b="0" i="0" u="none" strike="noStrike" kern="0" cap="none" spc="0" normalizeH="0" baseline="3000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种可能的着色</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合法的和非法的</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p:txBody>
      </p:sp>
      <p:graphicFrame>
        <p:nvGraphicFramePr>
          <p:cNvPr id="14340" name="Object 4"/>
          <p:cNvGraphicFramePr>
            <a:graphicFrameLocks noChangeAspect="1"/>
          </p:cNvGraphicFramePr>
          <p:nvPr/>
        </p:nvGraphicFramePr>
        <p:xfrm>
          <a:off x="4114800" y="3328988"/>
          <a:ext cx="914400" cy="198437"/>
        </p:xfrm>
        <a:graphic>
          <a:graphicData uri="http://schemas.openxmlformats.org/presentationml/2006/ole">
            <mc:AlternateContent xmlns:mc="http://schemas.openxmlformats.org/markup-compatibility/2006">
              <mc:Choice xmlns:v="urn:schemas-microsoft-com:vml" Requires="v">
                <p:oleObj r:id="rId4" imgW="434975" imgH="676910" progId="">
                  <p:embed/>
                </p:oleObj>
              </mc:Choice>
              <mc:Fallback>
                <p:oleObj r:id="rId4" imgW="434975" imgH="676910" progId="">
                  <p:embed/>
                  <p:pic>
                    <p:nvPicPr>
                      <p:cNvPr id="0" name="图片 3075"/>
                      <p:cNvPicPr/>
                      <p:nvPr/>
                    </p:nvPicPr>
                    <p:blipFill>
                      <a:blip r:embed="rId5"/>
                      <a:stretch>
                        <a:fillRect/>
                      </a:stretch>
                    </p:blipFill>
                    <p:spPr>
                      <a:xfrm>
                        <a:off x="4114800" y="3328988"/>
                        <a:ext cx="914400" cy="198437"/>
                      </a:xfrm>
                      <a:prstGeom prst="rect">
                        <a:avLst/>
                      </a:prstGeom>
                      <a:noFill/>
                      <a:ln w="38100">
                        <a:noFill/>
                        <a:miter/>
                      </a:ln>
                    </p:spPr>
                  </p:pic>
                </p:oleObj>
              </mc:Fallback>
            </mc:AlternateContent>
          </a:graphicData>
        </a:graphic>
      </p:graphicFrame>
      <p:pic>
        <p:nvPicPr>
          <p:cNvPr id="8197" name="Picture 5" descr="question"/>
          <p:cNvPicPr>
            <a:picLocks noChangeAspect="1"/>
          </p:cNvPicPr>
          <p:nvPr/>
        </p:nvPicPr>
        <p:blipFill>
          <a:blip r:embed="rId6"/>
          <a:stretch>
            <a:fillRect/>
          </a:stretch>
        </p:blipFill>
        <p:spPr>
          <a:xfrm>
            <a:off x="900113" y="1341438"/>
            <a:ext cx="504825" cy="5048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8197"/>
                                        </p:tgtEl>
                                        <p:attrNameLst>
                                          <p:attrName>style.visibility</p:attrName>
                                        </p:attrNameLst>
                                      </p:cBhvr>
                                      <p:to>
                                        <p:strVal val="visible"/>
                                      </p:to>
                                    </p:set>
                                    <p:anim calcmode="lin" valueType="num">
                                      <p:cBhvr>
                                        <p:cTn id="7" dur="5000" fill="hold"/>
                                        <p:tgtEl>
                                          <p:spTgt spid="8197"/>
                                        </p:tgtEl>
                                        <p:attrNameLst>
                                          <p:attrName>ppt_w</p:attrName>
                                        </p:attrNameLst>
                                      </p:cBhvr>
                                      <p:tavLst>
                                        <p:tav tm="0" fmla="#ppt_w*sin(2.5*pi*$)">
                                          <p:val>
                                            <p:fltVal val="0"/>
                                          </p:val>
                                        </p:tav>
                                        <p:tav tm="100000">
                                          <p:val>
                                            <p:fltVal val="1"/>
                                          </p:val>
                                        </p:tav>
                                      </p:tavLst>
                                    </p:anim>
                                    <p:anim calcmode="lin" valueType="num">
                                      <p:cBhvr>
                                        <p:cTn id="8" dur="5000" fill="hold"/>
                                        <p:tgtEl>
                                          <p:spTgt spid="81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8195">
                                            <p:txEl>
                                              <p:pRg st="0" end="0"/>
                                            </p:txEl>
                                          </p:spTgt>
                                        </p:tgtEl>
                                        <p:attrNameLst>
                                          <p:attrName>style.visibility</p:attrName>
                                        </p:attrNameLst>
                                      </p:cBhvr>
                                      <p:to>
                                        <p:strVal val="visible"/>
                                      </p:to>
                                    </p:set>
                                    <p:animEffect transition="in" filter="blinds(horizontal)">
                                      <p:cBhvr>
                                        <p:cTn id="11" dur="500"/>
                                        <p:tgtEl>
                                          <p:spTgt spid="819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9" presetClass="entr" presetSubtype="0" decel="100000" fill="hold" nodeType="clickEffect">
                                  <p:stCondLst>
                                    <p:cond delay="0"/>
                                  </p:stCondLst>
                                  <p:childTnLst>
                                    <p:set>
                                      <p:cBhvr>
                                        <p:cTn id="15" dur="1" fill="hold">
                                          <p:stCondLst>
                                            <p:cond delay="0"/>
                                          </p:stCondLst>
                                        </p:cTn>
                                        <p:tgtEl>
                                          <p:spTgt spid="8195">
                                            <p:txEl>
                                              <p:pRg st="2" end="2"/>
                                            </p:txEl>
                                          </p:spTgt>
                                        </p:tgtEl>
                                        <p:attrNameLst>
                                          <p:attrName>style.visibility</p:attrName>
                                        </p:attrNameLst>
                                      </p:cBhvr>
                                      <p:to>
                                        <p:strVal val="visible"/>
                                      </p:to>
                                    </p:set>
                                    <p:anim calcmode="lin" valueType="num">
                                      <p:cBhvr>
                                        <p:cTn id="16" dur="500" fill="hold"/>
                                        <p:tgtEl>
                                          <p:spTgt spid="8195">
                                            <p:txEl>
                                              <p:pRg st="2" end="2"/>
                                            </p:txEl>
                                          </p:spTgt>
                                        </p:tgtEl>
                                        <p:attrNameLst>
                                          <p:attrName>ppt_w</p:attrName>
                                        </p:attrNameLst>
                                      </p:cBhvr>
                                      <p:tavLst>
                                        <p:tav tm="0">
                                          <p:val>
                                            <p:fltVal val="0"/>
                                          </p:val>
                                        </p:tav>
                                        <p:tav tm="100000">
                                          <p:val>
                                            <p:strVal val="#ppt_w"/>
                                          </p:val>
                                        </p:tav>
                                      </p:tavLst>
                                    </p:anim>
                                    <p:anim calcmode="lin" valueType="num">
                                      <p:cBhvr>
                                        <p:cTn id="17" dur="500" fill="hold"/>
                                        <p:tgtEl>
                                          <p:spTgt spid="8195">
                                            <p:txEl>
                                              <p:pRg st="2" end="2"/>
                                            </p:txEl>
                                          </p:spTgt>
                                        </p:tgtEl>
                                        <p:attrNameLst>
                                          <p:attrName>ppt_h</p:attrName>
                                        </p:attrNameLst>
                                      </p:cBhvr>
                                      <p:tavLst>
                                        <p:tav tm="0">
                                          <p:val>
                                            <p:fltVal val="0"/>
                                          </p:val>
                                        </p:tav>
                                        <p:tav tm="100000">
                                          <p:val>
                                            <p:strVal val="#ppt_h"/>
                                          </p:val>
                                        </p:tav>
                                      </p:tavLst>
                                    </p:anim>
                                    <p:anim calcmode="lin" valueType="num">
                                      <p:cBhvr>
                                        <p:cTn id="18" dur="500" fill="hold"/>
                                        <p:tgtEl>
                                          <p:spTgt spid="8195">
                                            <p:txEl>
                                              <p:pRg st="2" end="2"/>
                                            </p:txEl>
                                          </p:spTgt>
                                        </p:tgtEl>
                                        <p:attrNameLst>
                                          <p:attrName>style.rotation</p:attrName>
                                        </p:attrNameLst>
                                      </p:cBhvr>
                                      <p:tavLst>
                                        <p:tav tm="0">
                                          <p:val>
                                            <p:fltVal val="360"/>
                                          </p:val>
                                        </p:tav>
                                        <p:tav tm="100000">
                                          <p:val>
                                            <p:fltVal val="0"/>
                                          </p:val>
                                        </p:tav>
                                      </p:tavLst>
                                    </p:anim>
                                    <p:animEffect transition="in" filter="fade">
                                      <p:cBhvr>
                                        <p:cTn id="19" dur="500"/>
                                        <p:tgtEl>
                                          <p:spTgt spid="819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nodeType="clickEffect">
                                  <p:stCondLst>
                                    <p:cond delay="0"/>
                                  </p:stCondLst>
                                  <p:childTnLst>
                                    <p:set>
                                      <p:cBhvr>
                                        <p:cTn id="23" dur="1" fill="hold">
                                          <p:stCondLst>
                                            <p:cond delay="0"/>
                                          </p:stCondLst>
                                        </p:cTn>
                                        <p:tgtEl>
                                          <p:spTgt spid="8195">
                                            <p:txEl>
                                              <p:pRg st="4" end="4"/>
                                            </p:txEl>
                                          </p:spTgt>
                                        </p:tgtEl>
                                        <p:attrNameLst>
                                          <p:attrName>style.visibility</p:attrName>
                                        </p:attrNameLst>
                                      </p:cBhvr>
                                      <p:to>
                                        <p:strVal val="visible"/>
                                      </p:to>
                                    </p:set>
                                    <p:anim calcmode="lin" valueType="num">
                                      <p:cBhvr>
                                        <p:cTn id="24" dur="500" fill="hold"/>
                                        <p:tgtEl>
                                          <p:spTgt spid="8195">
                                            <p:txEl>
                                              <p:pRg st="4" end="4"/>
                                            </p:txEl>
                                          </p:spTgt>
                                        </p:tgtEl>
                                        <p:attrNameLst>
                                          <p:attrName>ppt_w</p:attrName>
                                        </p:attrNameLst>
                                      </p:cBhvr>
                                      <p:tavLst>
                                        <p:tav tm="0">
                                          <p:val>
                                            <p:fltVal val="0"/>
                                          </p:val>
                                        </p:tav>
                                        <p:tav tm="100000">
                                          <p:val>
                                            <p:strVal val="#ppt_w"/>
                                          </p:val>
                                        </p:tav>
                                      </p:tavLst>
                                    </p:anim>
                                    <p:anim calcmode="lin" valueType="num">
                                      <p:cBhvr>
                                        <p:cTn id="25" dur="500" fill="hold"/>
                                        <p:tgtEl>
                                          <p:spTgt spid="8195">
                                            <p:txEl>
                                              <p:pRg st="4" end="4"/>
                                            </p:txEl>
                                          </p:spTgt>
                                        </p:tgtEl>
                                        <p:attrNameLst>
                                          <p:attrName>ppt_h</p:attrName>
                                        </p:attrNameLst>
                                      </p:cBhvr>
                                      <p:tavLst>
                                        <p:tav tm="0">
                                          <p:val>
                                            <p:fltVal val="0"/>
                                          </p:val>
                                        </p:tav>
                                        <p:tav tm="100000">
                                          <p:val>
                                            <p:strVal val="#ppt_h"/>
                                          </p:val>
                                        </p:tav>
                                      </p:tavLst>
                                    </p:anim>
                                    <p:anim calcmode="lin" valueType="num">
                                      <p:cBhvr>
                                        <p:cTn id="26" dur="500" fill="hold"/>
                                        <p:tgtEl>
                                          <p:spTgt spid="8195">
                                            <p:txEl>
                                              <p:pRg st="4" end="4"/>
                                            </p:txEl>
                                          </p:spTgt>
                                        </p:tgtEl>
                                        <p:attrNameLst>
                                          <p:attrName>style.rotation</p:attrName>
                                        </p:attrNameLst>
                                      </p:cBhvr>
                                      <p:tavLst>
                                        <p:tav tm="0">
                                          <p:val>
                                            <p:fltVal val="360"/>
                                          </p:val>
                                        </p:tav>
                                        <p:tav tm="100000">
                                          <p:val>
                                            <p:fltVal val="0"/>
                                          </p:val>
                                        </p:tav>
                                      </p:tavLst>
                                    </p:anim>
                                    <p:animEffect transition="in" filter="fade">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195">
                                            <p:txEl>
                                              <p:pRg st="6" end="6"/>
                                            </p:txEl>
                                          </p:spTgt>
                                        </p:tgtEl>
                                        <p:attrNameLst>
                                          <p:attrName>style.visibility</p:attrName>
                                        </p:attrNameLst>
                                      </p:cBhvr>
                                      <p:to>
                                        <p:strVal val="visible"/>
                                      </p:to>
                                    </p:set>
                                    <p:anim calcmode="lin" valueType="num">
                                      <p:cBhvr additive="base">
                                        <p:cTn id="32" dur="500" fill="hold"/>
                                        <p:tgtEl>
                                          <p:spTgt spid="8195">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819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16386" name="Rectangle 2"/>
          <p:cNvSpPr>
            <a:spLocks noGrp="1"/>
          </p:cNvSpPr>
          <p:nvPr>
            <p:ph type="title"/>
          </p:nvPr>
        </p:nvSpPr>
        <p:spPr/>
        <p:txBody>
          <a:bodyPr vert="horz" wrap="square" lIns="91440" tIns="45720" rIns="91440" bIns="45720" anchor="ctr" anchorCtr="0"/>
          <a:lstStyle/>
          <a:p>
            <a:pPr eaLnBrk="1" hangingPunct="1"/>
            <a:r>
              <a:rPr lang="en-US" altLang="zh-CN" dirty="0"/>
              <a:t>8.1.1 </a:t>
            </a:r>
            <a:r>
              <a:rPr lang="zh-CN" altLang="en-US" dirty="0"/>
              <a:t>图着色——搜索树</a:t>
            </a:r>
            <a:endParaRPr lang="en-US" altLang="zh-CN" dirty="0"/>
          </a:p>
        </p:txBody>
      </p:sp>
      <p:sp>
        <p:nvSpPr>
          <p:cNvPr id="9219" name="Rectangle 3"/>
          <p:cNvSpPr>
            <a:spLocks noGrp="1" noChangeArrowheads="1"/>
          </p:cNvSpPr>
          <p:nvPr>
            <p:ph idx="1"/>
          </p:nvPr>
        </p:nvSpPr>
        <p:spPr>
          <a:xfrm>
            <a:off x="827088" y="1268413"/>
            <a:ext cx="8001000" cy="1222375"/>
          </a:xfrm>
        </p:spPr>
        <p:txBody>
          <a:bodyPr vert="horz" wrap="square" lIns="91440" tIns="45720" rIns="91440" bIns="45720" numCol="1" anchor="t" anchorCtr="0" compatLnSpc="1"/>
          <a:lstStyle/>
          <a:p>
            <a:pPr marL="342900" marR="0" lvl="2" indent="-342900" algn="l" defTabSz="914400" rtl="0" eaLnBrk="1" fontAlgn="base" latinLnBrk="0" hangingPunct="1">
              <a:lnSpc>
                <a:spcPct val="90000"/>
              </a:lnSpc>
              <a:spcBef>
                <a:spcPct val="20000"/>
              </a:spcBef>
              <a:spcAft>
                <a:spcPct val="0"/>
              </a:spcAft>
              <a:buClrTx/>
              <a:buSzTx/>
              <a:buFontTx/>
              <a:buChar char="•"/>
              <a:defRPr/>
            </a:pP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所有可能的着色的集合可以用一棵完全的三叉树来表示，称为</a:t>
            </a:r>
            <a:r>
              <a:rPr kumimoji="0" lang="zh-CN" altLang="en-US" sz="2800" b="0" i="0" u="none" strike="noStrike" kern="0" cap="none" spc="0" normalizeH="0" baseline="0" noProof="0" dirty="0">
                <a:ln>
                  <a:noFill/>
                </a:ln>
                <a:solidFill>
                  <a:srgbClr val="FF0000"/>
                </a:solidFill>
                <a:effectLst/>
                <a:uLnTx/>
                <a:uFillTx/>
                <a:latin typeface="+mn-lt"/>
                <a:ea typeface="+mn-ea"/>
                <a:cs typeface="+mn-cs"/>
              </a:rPr>
              <a:t>搜索树</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。在这棵树中，从根到叶节点的每一条路径代表一种</a:t>
            </a:r>
            <a:r>
              <a:rPr kumimoji="0" lang="zh-CN" altLang="en-US" sz="2800" b="0" i="0" u="none" strike="noStrike" kern="0" cap="none" spc="0" normalizeH="0" baseline="0" noProof="0" dirty="0">
                <a:ln>
                  <a:noFill/>
                </a:ln>
                <a:solidFill>
                  <a:srgbClr val="FF0000"/>
                </a:solidFill>
                <a:effectLst/>
                <a:uLnTx/>
                <a:uFillTx/>
                <a:latin typeface="+mn-lt"/>
                <a:ea typeface="+mn-ea"/>
                <a:cs typeface="+mn-cs"/>
              </a:rPr>
              <a:t>着色指派</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p:txBody>
      </p:sp>
      <p:pic>
        <p:nvPicPr>
          <p:cNvPr id="2" name="图片 1" descr="截屏2023-11-02 07.59.11"/>
          <p:cNvPicPr>
            <a:picLocks noChangeAspect="1"/>
          </p:cNvPicPr>
          <p:nvPr/>
        </p:nvPicPr>
        <p:blipFill>
          <a:blip r:embed="rId3"/>
          <a:stretch>
            <a:fillRect/>
          </a:stretch>
        </p:blipFill>
        <p:spPr>
          <a:xfrm>
            <a:off x="1187450" y="2497138"/>
            <a:ext cx="7597775" cy="3911600"/>
          </a:xfrm>
          <a:prstGeom prst="rect">
            <a:avLst/>
          </a:prstGeom>
          <a:noFill/>
          <a:ln w="9525">
            <a:noFill/>
          </a:ln>
        </p:spPr>
      </p:pic>
      <p:sp>
        <p:nvSpPr>
          <p:cNvPr id="3" name="矩形 2"/>
          <p:cNvSpPr/>
          <p:nvPr/>
        </p:nvSpPr>
        <p:spPr>
          <a:xfrm>
            <a:off x="3708400" y="3389313"/>
            <a:ext cx="2747963" cy="400050"/>
          </a:xfrm>
          <a:prstGeom prst="rect">
            <a:avLst/>
          </a:prstGeom>
          <a:noFill/>
          <a:ln w="9525">
            <a:noFill/>
          </a:ln>
        </p:spPr>
        <p:txBody>
          <a:bodyPr wrap="none" anchor="t" anchorCtr="0">
            <a:spAutoFit/>
          </a:bodyPr>
          <a:lstStyle/>
          <a:p>
            <a:pPr eaLnBrk="0" hangingPunct="0"/>
            <a:r>
              <a:rPr lang="zh-CN" altLang="en-US" dirty="0">
                <a:solidFill>
                  <a:srgbClr val="FF0000"/>
                </a:solidFill>
                <a:latin typeface="Arial" panose="020B0604020202090204" pitchFamily="34" charset="0"/>
                <a:ea typeface="宋体" pitchFamily="2" charset="-122"/>
              </a:rPr>
              <a:t>第一个节点的颜色指派</a:t>
            </a:r>
          </a:p>
        </p:txBody>
      </p:sp>
      <p:sp>
        <p:nvSpPr>
          <p:cNvPr id="84" name="矩形 83"/>
          <p:cNvSpPr/>
          <p:nvPr/>
        </p:nvSpPr>
        <p:spPr>
          <a:xfrm>
            <a:off x="3851275" y="4579938"/>
            <a:ext cx="2749550" cy="400050"/>
          </a:xfrm>
          <a:prstGeom prst="rect">
            <a:avLst/>
          </a:prstGeom>
          <a:noFill/>
          <a:ln w="9525">
            <a:noFill/>
          </a:ln>
        </p:spPr>
        <p:txBody>
          <a:bodyPr wrap="none" anchor="t" anchorCtr="0">
            <a:spAutoFit/>
          </a:bodyPr>
          <a:lstStyle/>
          <a:p>
            <a:pPr eaLnBrk="0" hangingPunct="0"/>
            <a:r>
              <a:rPr lang="zh-CN" altLang="en-US" dirty="0">
                <a:solidFill>
                  <a:srgbClr val="FF0000"/>
                </a:solidFill>
                <a:latin typeface="Arial" panose="020B0604020202090204" pitchFamily="34" charset="0"/>
                <a:ea typeface="宋体" pitchFamily="2" charset="-122"/>
              </a:rPr>
              <a:t>第二个节点的颜色指派</a:t>
            </a:r>
          </a:p>
        </p:txBody>
      </p:sp>
      <p:sp>
        <p:nvSpPr>
          <p:cNvPr id="85" name="矩形 84"/>
          <p:cNvSpPr/>
          <p:nvPr/>
        </p:nvSpPr>
        <p:spPr>
          <a:xfrm>
            <a:off x="3924300" y="5929313"/>
            <a:ext cx="2749550" cy="400050"/>
          </a:xfrm>
          <a:prstGeom prst="rect">
            <a:avLst/>
          </a:prstGeom>
          <a:noFill/>
          <a:ln w="9525">
            <a:noFill/>
          </a:ln>
        </p:spPr>
        <p:txBody>
          <a:bodyPr wrap="none" anchor="t" anchorCtr="0">
            <a:spAutoFit/>
          </a:bodyPr>
          <a:lstStyle/>
          <a:p>
            <a:pPr eaLnBrk="0" hangingPunct="0"/>
            <a:r>
              <a:rPr lang="zh-CN" altLang="en-US" dirty="0">
                <a:solidFill>
                  <a:srgbClr val="FF0000"/>
                </a:solidFill>
                <a:latin typeface="Arial" panose="020B0604020202090204" pitchFamily="34" charset="0"/>
                <a:ea typeface="宋体" pitchFamily="2" charset="-122"/>
              </a:rPr>
              <a:t>第三个节点的颜色指派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p:cTn id="7" dur="500" fill="hold"/>
                                        <p:tgtEl>
                                          <p:spTgt spid="921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219">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9219">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92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100000">
                                          <p:val>
                                            <p:strVal val="#ppt_x"/>
                                          </p:val>
                                        </p:tav>
                                      </p:tavLst>
                                    </p:anim>
                                    <p:anim calcmode="lin" valueType="num">
                                      <p:cBhvr>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4"/>
                                        </p:tgtEl>
                                        <p:attrNameLst>
                                          <p:attrName>style.visibility</p:attrName>
                                        </p:attrNameLst>
                                      </p:cBhvr>
                                      <p:to>
                                        <p:strVal val="visible"/>
                                      </p:to>
                                    </p:set>
                                    <p:anim calcmode="lin" valueType="num">
                                      <p:cBhvr>
                                        <p:cTn id="25" dur="500" fill="hold"/>
                                        <p:tgtEl>
                                          <p:spTgt spid="84"/>
                                        </p:tgtEl>
                                        <p:attrNameLst>
                                          <p:attrName>ppt_x</p:attrName>
                                        </p:attrNameLst>
                                      </p:cBhvr>
                                      <p:tavLst>
                                        <p:tav tm="0">
                                          <p:val>
                                            <p:strVal val="#ppt_x"/>
                                          </p:val>
                                        </p:tav>
                                        <p:tav tm="100000">
                                          <p:val>
                                            <p:strVal val="#ppt_x"/>
                                          </p:val>
                                        </p:tav>
                                      </p:tavLst>
                                    </p:anim>
                                    <p:anim calcmode="lin" valueType="num">
                                      <p:cBhvr>
                                        <p:cTn id="26"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5"/>
                                        </p:tgtEl>
                                        <p:attrNameLst>
                                          <p:attrName>style.visibility</p:attrName>
                                        </p:attrNameLst>
                                      </p:cBhvr>
                                      <p:to>
                                        <p:strVal val="visible"/>
                                      </p:to>
                                    </p:set>
                                    <p:anim calcmode="lin" valueType="num">
                                      <p:cBhvr>
                                        <p:cTn id="31" dur="500" fill="hold"/>
                                        <p:tgtEl>
                                          <p:spTgt spid="85"/>
                                        </p:tgtEl>
                                        <p:attrNameLst>
                                          <p:attrName>ppt_x</p:attrName>
                                        </p:attrNameLst>
                                      </p:cBhvr>
                                      <p:tavLst>
                                        <p:tav tm="0">
                                          <p:val>
                                            <p:strVal val="#ppt_x"/>
                                          </p:val>
                                        </p:tav>
                                        <p:tav tm="100000">
                                          <p:val>
                                            <p:strVal val="#ppt_x"/>
                                          </p:val>
                                        </p:tav>
                                      </p:tavLst>
                                    </p:anim>
                                    <p:anim calcmode="lin" valueType="num">
                                      <p:cBhvr>
                                        <p:cTn id="32"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4" grpId="0"/>
      <p:bldP spid="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18434" name="Rectangle 2"/>
          <p:cNvSpPr>
            <a:spLocks noGrp="1"/>
          </p:cNvSpPr>
          <p:nvPr>
            <p:ph type="title"/>
          </p:nvPr>
        </p:nvSpPr>
        <p:spPr/>
        <p:txBody>
          <a:bodyPr vert="horz" wrap="square" lIns="91440" tIns="45720" rIns="91440" bIns="45720" anchor="ctr" anchorCtr="0"/>
          <a:lstStyle/>
          <a:p>
            <a:pPr eaLnBrk="1" hangingPunct="1"/>
            <a:r>
              <a:rPr lang="en-US" altLang="zh-CN" dirty="0"/>
              <a:t>8.1.1 </a:t>
            </a:r>
            <a:r>
              <a:rPr lang="zh-CN" altLang="en-US" dirty="0"/>
              <a:t>图着色——回溯解法</a:t>
            </a:r>
          </a:p>
        </p:txBody>
      </p:sp>
      <p:sp>
        <p:nvSpPr>
          <p:cNvPr id="21508"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满足条件——两个邻接的着色顶点</a:t>
            </a:r>
            <a:r>
              <a:rPr lang="zh-CN" altLang="en-US" sz="2400" noProof="0" dirty="0">
                <a:ln>
                  <a:noFill/>
                </a:ln>
                <a:effectLst/>
                <a:uLnTx/>
                <a:uFillTx/>
                <a:sym typeface="+mn-ea"/>
              </a:rPr>
              <a:t>没有</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同样的颜色。图的一个不完全着色称为</a:t>
            </a:r>
            <a:r>
              <a:rPr kumimoji="0" lang="zh-CN" altLang="en-US" sz="2400" b="0" i="0" u="none" strike="noStrike" kern="0" cap="none" spc="0" normalizeH="0" baseline="0" noProof="0" dirty="0">
                <a:ln>
                  <a:noFill/>
                </a:ln>
                <a:solidFill>
                  <a:srgbClr val="FF0000"/>
                </a:solidFill>
                <a:effectLst/>
                <a:uLnTx/>
                <a:uFillTx/>
                <a:latin typeface="+mn-lt"/>
                <a:ea typeface="+mn-ea"/>
                <a:cs typeface="+mn-cs"/>
              </a:rPr>
              <a:t>部分解</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思路</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回溯法通过每次一个节点地生成基底树来工作。</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如果从根到当前节点（叶节点）的路径对应于一个合法着色过程就终止</a:t>
            </a: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a:t>
            </a: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除非找到所有可能的</a:t>
            </a:r>
            <a:r>
              <a:rPr lang="zh-CN" altLang="en-US" sz="2000" noProof="0" dirty="0">
                <a:ln>
                  <a:noFill/>
                </a:ln>
                <a:effectLst/>
                <a:uLnTx/>
                <a:uFillTx/>
                <a:latin typeface="+mn-ea"/>
                <a:ea typeface="+mn-ea"/>
                <a:cs typeface="+mn-ea"/>
                <a:sym typeface="+mn-ea"/>
              </a:rPr>
              <a:t>着色方案</a:t>
            </a: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a:t>
            </a: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mn-ea"/>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如果这条路径的长度小于</a:t>
            </a:r>
            <a:r>
              <a:rPr kumimoji="0" lang="en-US" altLang="zh-CN" sz="2000" b="0" i="0" u="none" strike="noStrike" kern="0" cap="none" spc="0" normalizeH="0" baseline="0" noProof="0" dirty="0">
                <a:ln>
                  <a:noFill/>
                </a:ln>
                <a:solidFill>
                  <a:schemeClr val="accent2"/>
                </a:solidFill>
                <a:effectLst/>
                <a:uLnTx/>
                <a:uFillTx/>
                <a:latin typeface="+mn-ea"/>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，并且相应的着色是部分的，那么就生成现节点的一个子节点，并将它标记为</a:t>
            </a:r>
            <a:r>
              <a:rPr kumimoji="0" lang="zh-CN" altLang="en-US" sz="2000" b="0" i="0" u="none" strike="noStrike" kern="0" cap="none" spc="0" normalizeH="0" baseline="0" noProof="0" dirty="0">
                <a:ln>
                  <a:noFill/>
                </a:ln>
                <a:solidFill>
                  <a:srgbClr val="FF0000"/>
                </a:solidFill>
                <a:effectLst/>
                <a:uLnTx/>
                <a:uFillTx/>
                <a:latin typeface="+mn-ea"/>
                <a:ea typeface="+mn-ea"/>
                <a:cs typeface="+mn-ea"/>
              </a:rPr>
              <a:t>现节点</a:t>
            </a: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a:t>
            </a: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accent2"/>
              </a:solidFill>
              <a:effectLst/>
              <a:uLnTx/>
              <a:uFillTx/>
              <a:latin typeface="+mn-ea"/>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另一方面，如果对应的路径不是部分的（最后一个节点已经选定一种</a:t>
            </a:r>
            <a:r>
              <a:rPr lang="zh-CN" altLang="en-US" sz="2000" noProof="0" dirty="0">
                <a:ln>
                  <a:noFill/>
                </a:ln>
                <a:effectLst/>
                <a:uLnTx/>
                <a:uFillTx/>
                <a:latin typeface="+mn-ea"/>
                <a:ea typeface="+mn-ea"/>
                <a:cs typeface="+mn-ea"/>
                <a:sym typeface="+mn-ea"/>
              </a:rPr>
              <a:t>着色方案</a:t>
            </a: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），那么现节点标识为</a:t>
            </a:r>
            <a:r>
              <a:rPr kumimoji="0" lang="zh-CN" altLang="en-US" sz="2000" b="0" i="0" u="none" strike="noStrike" kern="0" cap="none" spc="0" normalizeH="0" baseline="0" noProof="0" dirty="0">
                <a:ln>
                  <a:noFill/>
                </a:ln>
                <a:solidFill>
                  <a:srgbClr val="FF0000"/>
                </a:solidFill>
                <a:effectLst/>
                <a:uLnTx/>
                <a:uFillTx/>
                <a:latin typeface="+mn-ea"/>
                <a:ea typeface="+mn-ea"/>
                <a:cs typeface="+mn-ea"/>
              </a:rPr>
              <a:t>死节点，</a:t>
            </a: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并生成对应于另一种颜色的</a:t>
            </a:r>
            <a:r>
              <a:rPr kumimoji="0" lang="zh-CN" altLang="en-US" sz="2000" b="0" i="0" u="none" strike="noStrike" kern="0" cap="none" spc="0" normalizeH="0" baseline="0" noProof="0" dirty="0">
                <a:ln>
                  <a:noFill/>
                </a:ln>
                <a:solidFill>
                  <a:srgbClr val="FF0000"/>
                </a:solidFill>
                <a:effectLst/>
                <a:uLnTx/>
                <a:uFillTx/>
                <a:latin typeface="+mn-ea"/>
                <a:ea typeface="+mn-ea"/>
                <a:cs typeface="+mn-ea"/>
              </a:rPr>
              <a:t>新节点</a:t>
            </a: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a:t>
            </a:r>
          </a:p>
          <a:p>
            <a:pPr marL="457200" marR="0" lvl="1" indent="0" algn="l" defTabSz="914400" rtl="0" eaLnBrk="1" fontAlgn="base" latinLnBrk="0" hangingPunct="1">
              <a:lnSpc>
                <a:spcPct val="90000"/>
              </a:lnSpc>
              <a:spcBef>
                <a:spcPct val="20000"/>
              </a:spcBef>
              <a:spcAft>
                <a:spcPct val="0"/>
              </a:spcAft>
              <a:buClrTx/>
              <a:buSzTx/>
              <a:buFontTx/>
              <a:buNone/>
              <a:defRPr/>
            </a:pPr>
            <a:endParaRPr kumimoji="0" lang="en-US" altLang="zh-CN" sz="2000" b="0" i="0" u="none" strike="noStrike" kern="0" cap="none" spc="0" normalizeH="0" baseline="0" noProof="0" dirty="0">
              <a:ln>
                <a:noFill/>
              </a:ln>
              <a:solidFill>
                <a:schemeClr val="accent2"/>
              </a:solidFill>
              <a:effectLst/>
              <a:uLnTx/>
              <a:uFillTx/>
              <a:latin typeface="+mn-ea"/>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如果所有三种颜色都已经试过且没有成功，搜索就回溯到父节点，它的颜色被改变，依次类推。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20482" name="Rectangle 2"/>
          <p:cNvSpPr>
            <a:spLocks noGrp="1"/>
          </p:cNvSpPr>
          <p:nvPr>
            <p:ph type="title"/>
          </p:nvPr>
        </p:nvSpPr>
        <p:spPr/>
        <p:txBody>
          <a:bodyPr vert="horz" wrap="square" lIns="91440" tIns="45720" rIns="91440" bIns="45720" anchor="ctr" anchorCtr="0"/>
          <a:lstStyle/>
          <a:p>
            <a:pPr eaLnBrk="1" hangingPunct="1"/>
            <a:r>
              <a:rPr lang="en-US" altLang="zh-CN" dirty="0"/>
              <a:t>8.1.1 </a:t>
            </a:r>
            <a:r>
              <a:rPr lang="zh-CN" altLang="en-US" dirty="0"/>
              <a:t>图</a:t>
            </a:r>
            <a:r>
              <a:rPr lang="zh-CN" altLang="en-US" dirty="0">
                <a:sym typeface="华文楷体" panose="02010600040101010101" pitchFamily="2" charset="-122"/>
              </a:rPr>
              <a:t>着色——算法过程</a:t>
            </a:r>
            <a:endParaRPr lang="en-US" altLang="zh-CN" dirty="0"/>
          </a:p>
        </p:txBody>
      </p:sp>
      <p:sp>
        <p:nvSpPr>
          <p:cNvPr id="83972" name="Oval 4"/>
          <p:cNvSpPr/>
          <p:nvPr/>
        </p:nvSpPr>
        <p:spPr>
          <a:xfrm>
            <a:off x="1881188" y="1412875"/>
            <a:ext cx="533400" cy="533400"/>
          </a:xfrm>
          <a:prstGeom prst="ellipse">
            <a:avLst/>
          </a:prstGeom>
          <a:solidFill>
            <a:srgbClr val="CCFFFF"/>
          </a:solidFill>
          <a:ln w="9525" cap="flat" cmpd="sng">
            <a:solidFill>
              <a:schemeClr val="tx1"/>
            </a:solidFill>
            <a:prstDash val="solid"/>
            <a:round/>
            <a:headEnd type="none" w="med" len="med"/>
            <a:tailEnd type="none" w="med" len="med"/>
          </a:ln>
        </p:spPr>
        <p:txBody>
          <a:bodyPr anchor="ctr" anchorCtr="0">
            <a:spAutoFit/>
          </a:bodyPr>
          <a:lstStyle/>
          <a:p>
            <a:pPr algn="ctr"/>
            <a:r>
              <a:rPr lang="en-US" altLang="zh-CN" dirty="0">
                <a:latin typeface="Times New Roman" panose="02020503050405090304" pitchFamily="18" charset="0"/>
                <a:ea typeface="宋体" pitchFamily="2" charset="-122"/>
              </a:rPr>
              <a:t>a</a:t>
            </a:r>
          </a:p>
        </p:txBody>
      </p:sp>
      <p:sp>
        <p:nvSpPr>
          <p:cNvPr id="83973" name="Oval 5"/>
          <p:cNvSpPr/>
          <p:nvPr/>
        </p:nvSpPr>
        <p:spPr>
          <a:xfrm>
            <a:off x="1042988" y="2136775"/>
            <a:ext cx="533400" cy="533400"/>
          </a:xfrm>
          <a:prstGeom prst="ellipse">
            <a:avLst/>
          </a:prstGeom>
          <a:solidFill>
            <a:srgbClr val="CCFFFF"/>
          </a:solidFill>
          <a:ln w="9525" cap="flat" cmpd="sng">
            <a:solidFill>
              <a:schemeClr val="tx1"/>
            </a:solidFill>
            <a:prstDash val="solid"/>
            <a:round/>
            <a:headEnd type="none" w="med" len="med"/>
            <a:tailEnd type="none" w="med" len="med"/>
          </a:ln>
        </p:spPr>
        <p:txBody>
          <a:bodyPr anchor="ctr" anchorCtr="0">
            <a:spAutoFit/>
          </a:bodyPr>
          <a:lstStyle/>
          <a:p>
            <a:pPr algn="ctr"/>
            <a:r>
              <a:rPr lang="en-US" altLang="zh-CN" dirty="0">
                <a:latin typeface="Times New Roman" panose="02020503050405090304" pitchFamily="18" charset="0"/>
                <a:ea typeface="宋体" pitchFamily="2" charset="-122"/>
              </a:rPr>
              <a:t>b</a:t>
            </a:r>
          </a:p>
        </p:txBody>
      </p:sp>
      <p:sp>
        <p:nvSpPr>
          <p:cNvPr id="83974" name="Oval 6"/>
          <p:cNvSpPr/>
          <p:nvPr/>
        </p:nvSpPr>
        <p:spPr>
          <a:xfrm>
            <a:off x="2643188" y="2136775"/>
            <a:ext cx="533400" cy="533400"/>
          </a:xfrm>
          <a:prstGeom prst="ellipse">
            <a:avLst/>
          </a:prstGeom>
          <a:solidFill>
            <a:srgbClr val="CCFFFF"/>
          </a:solidFill>
          <a:ln w="9525" cap="flat" cmpd="sng">
            <a:solidFill>
              <a:schemeClr val="tx1"/>
            </a:solidFill>
            <a:prstDash val="solid"/>
            <a:round/>
            <a:headEnd type="none" w="med" len="med"/>
            <a:tailEnd type="none" w="med" len="med"/>
          </a:ln>
        </p:spPr>
        <p:txBody>
          <a:bodyPr anchor="ctr" anchorCtr="0">
            <a:spAutoFit/>
          </a:bodyPr>
          <a:lstStyle/>
          <a:p>
            <a:pPr algn="ctr"/>
            <a:r>
              <a:rPr lang="en-US" altLang="zh-CN" dirty="0">
                <a:latin typeface="Times New Roman" panose="02020503050405090304" pitchFamily="18" charset="0"/>
                <a:ea typeface="宋体" pitchFamily="2" charset="-122"/>
              </a:rPr>
              <a:t>c</a:t>
            </a:r>
          </a:p>
        </p:txBody>
      </p:sp>
      <p:sp>
        <p:nvSpPr>
          <p:cNvPr id="83975" name="Oval 7"/>
          <p:cNvSpPr/>
          <p:nvPr/>
        </p:nvSpPr>
        <p:spPr>
          <a:xfrm>
            <a:off x="1500188" y="3051175"/>
            <a:ext cx="533400" cy="533400"/>
          </a:xfrm>
          <a:prstGeom prst="ellipse">
            <a:avLst/>
          </a:prstGeom>
          <a:solidFill>
            <a:srgbClr val="CCFFFF"/>
          </a:solidFill>
          <a:ln w="9525" cap="flat" cmpd="sng">
            <a:solidFill>
              <a:schemeClr val="tx1"/>
            </a:solidFill>
            <a:prstDash val="solid"/>
            <a:round/>
            <a:headEnd type="none" w="med" len="med"/>
            <a:tailEnd type="none" w="med" len="med"/>
          </a:ln>
        </p:spPr>
        <p:txBody>
          <a:bodyPr anchor="ctr" anchorCtr="0">
            <a:spAutoFit/>
          </a:bodyPr>
          <a:lstStyle/>
          <a:p>
            <a:pPr algn="ctr"/>
            <a:r>
              <a:rPr lang="en-US" altLang="zh-CN" dirty="0">
                <a:latin typeface="Times New Roman" panose="02020503050405090304" pitchFamily="18" charset="0"/>
                <a:ea typeface="宋体" pitchFamily="2" charset="-122"/>
              </a:rPr>
              <a:t>d</a:t>
            </a:r>
          </a:p>
        </p:txBody>
      </p:sp>
      <p:sp>
        <p:nvSpPr>
          <p:cNvPr id="83976" name="Oval 8"/>
          <p:cNvSpPr/>
          <p:nvPr/>
        </p:nvSpPr>
        <p:spPr>
          <a:xfrm>
            <a:off x="2262188" y="3051175"/>
            <a:ext cx="533400" cy="533400"/>
          </a:xfrm>
          <a:prstGeom prst="ellipse">
            <a:avLst/>
          </a:prstGeom>
          <a:solidFill>
            <a:srgbClr val="CCFFFF"/>
          </a:solidFill>
          <a:ln w="9525" cap="flat" cmpd="sng">
            <a:solidFill>
              <a:schemeClr val="tx1"/>
            </a:solidFill>
            <a:prstDash val="solid"/>
            <a:round/>
            <a:headEnd type="none" w="med" len="med"/>
            <a:tailEnd type="none" w="med" len="med"/>
          </a:ln>
        </p:spPr>
        <p:txBody>
          <a:bodyPr anchor="ctr" anchorCtr="0">
            <a:spAutoFit/>
          </a:bodyPr>
          <a:lstStyle/>
          <a:p>
            <a:pPr algn="ctr"/>
            <a:r>
              <a:rPr lang="en-US" altLang="zh-CN" dirty="0">
                <a:latin typeface="Times New Roman" panose="02020503050405090304" pitchFamily="18" charset="0"/>
                <a:ea typeface="宋体" pitchFamily="2" charset="-122"/>
              </a:rPr>
              <a:t>e</a:t>
            </a:r>
          </a:p>
        </p:txBody>
      </p:sp>
      <p:sp>
        <p:nvSpPr>
          <p:cNvPr id="83977" name="Line 9"/>
          <p:cNvSpPr/>
          <p:nvPr/>
        </p:nvSpPr>
        <p:spPr>
          <a:xfrm flipH="1">
            <a:off x="1347788" y="1831975"/>
            <a:ext cx="533400" cy="304800"/>
          </a:xfrm>
          <a:prstGeom prst="line">
            <a:avLst/>
          </a:prstGeom>
          <a:ln w="9525" cap="flat" cmpd="sng">
            <a:solidFill>
              <a:schemeClr val="tx1"/>
            </a:solidFill>
            <a:prstDash val="solid"/>
            <a:round/>
            <a:headEnd type="none" w="med" len="med"/>
            <a:tailEnd type="none" w="med" len="med"/>
          </a:ln>
        </p:spPr>
      </p:sp>
      <p:sp>
        <p:nvSpPr>
          <p:cNvPr id="20489" name="Line 10"/>
          <p:cNvSpPr/>
          <p:nvPr/>
        </p:nvSpPr>
        <p:spPr>
          <a:xfrm>
            <a:off x="1271588" y="2670175"/>
            <a:ext cx="304800" cy="457200"/>
          </a:xfrm>
          <a:prstGeom prst="line">
            <a:avLst/>
          </a:prstGeom>
          <a:ln w="9525" cap="flat" cmpd="sng">
            <a:solidFill>
              <a:schemeClr val="tx1"/>
            </a:solidFill>
            <a:prstDash val="solid"/>
            <a:round/>
            <a:headEnd type="none" w="med" len="med"/>
            <a:tailEnd type="none" w="med" len="med"/>
          </a:ln>
        </p:spPr>
      </p:sp>
      <p:sp>
        <p:nvSpPr>
          <p:cNvPr id="83979" name="Line 11"/>
          <p:cNvSpPr/>
          <p:nvPr/>
        </p:nvSpPr>
        <p:spPr>
          <a:xfrm>
            <a:off x="2033588" y="3355975"/>
            <a:ext cx="228600" cy="0"/>
          </a:xfrm>
          <a:prstGeom prst="line">
            <a:avLst/>
          </a:prstGeom>
          <a:ln w="9525" cap="flat" cmpd="sng">
            <a:solidFill>
              <a:schemeClr val="tx1"/>
            </a:solidFill>
            <a:prstDash val="solid"/>
            <a:round/>
            <a:headEnd type="none" w="med" len="med"/>
            <a:tailEnd type="none" w="med" len="med"/>
          </a:ln>
        </p:spPr>
      </p:sp>
      <p:sp>
        <p:nvSpPr>
          <p:cNvPr id="83980" name="Line 12"/>
          <p:cNvSpPr/>
          <p:nvPr/>
        </p:nvSpPr>
        <p:spPr>
          <a:xfrm flipV="1">
            <a:off x="2643188" y="2670175"/>
            <a:ext cx="228600" cy="381000"/>
          </a:xfrm>
          <a:prstGeom prst="line">
            <a:avLst/>
          </a:prstGeom>
          <a:ln w="9525" cap="flat" cmpd="sng">
            <a:solidFill>
              <a:schemeClr val="tx1"/>
            </a:solidFill>
            <a:prstDash val="solid"/>
            <a:round/>
            <a:headEnd type="none" w="med" len="med"/>
            <a:tailEnd type="none" w="med" len="med"/>
          </a:ln>
        </p:spPr>
      </p:sp>
      <p:sp>
        <p:nvSpPr>
          <p:cNvPr id="83981" name="Line 13"/>
          <p:cNvSpPr/>
          <p:nvPr/>
        </p:nvSpPr>
        <p:spPr>
          <a:xfrm>
            <a:off x="2338388" y="1831975"/>
            <a:ext cx="457200" cy="304800"/>
          </a:xfrm>
          <a:prstGeom prst="line">
            <a:avLst/>
          </a:prstGeom>
          <a:ln w="9525" cap="flat" cmpd="sng">
            <a:solidFill>
              <a:schemeClr val="tx1"/>
            </a:solidFill>
            <a:prstDash val="solid"/>
            <a:round/>
            <a:headEnd type="none" w="med" len="med"/>
            <a:tailEnd type="none" w="med" len="med"/>
          </a:ln>
        </p:spPr>
      </p:sp>
      <p:sp>
        <p:nvSpPr>
          <p:cNvPr id="20493" name="Line 14"/>
          <p:cNvSpPr/>
          <p:nvPr/>
        </p:nvSpPr>
        <p:spPr>
          <a:xfrm flipH="1">
            <a:off x="1804988" y="2517775"/>
            <a:ext cx="838200" cy="533400"/>
          </a:xfrm>
          <a:prstGeom prst="line">
            <a:avLst/>
          </a:prstGeom>
          <a:ln w="9525" cap="flat" cmpd="sng">
            <a:solidFill>
              <a:schemeClr val="tx1"/>
            </a:solidFill>
            <a:prstDash val="solid"/>
            <a:round/>
            <a:headEnd type="none" w="med" len="med"/>
            <a:tailEnd type="none" w="med" len="med"/>
          </a:ln>
        </p:spPr>
      </p:sp>
      <p:sp>
        <p:nvSpPr>
          <p:cNvPr id="83983" name="Line 15"/>
          <p:cNvSpPr/>
          <p:nvPr/>
        </p:nvSpPr>
        <p:spPr>
          <a:xfrm>
            <a:off x="1576388" y="2441575"/>
            <a:ext cx="838200" cy="609600"/>
          </a:xfrm>
          <a:prstGeom prst="line">
            <a:avLst/>
          </a:prstGeom>
          <a:ln w="9525" cap="flat" cmpd="sng">
            <a:solidFill>
              <a:schemeClr val="tx1"/>
            </a:solidFill>
            <a:prstDash val="solid"/>
            <a:round/>
            <a:headEnd type="none" w="med" len="med"/>
            <a:tailEnd type="none" w="med" len="med"/>
          </a:ln>
        </p:spPr>
      </p:sp>
      <p:sp>
        <p:nvSpPr>
          <p:cNvPr id="83986" name="Oval 18"/>
          <p:cNvSpPr/>
          <p:nvPr/>
        </p:nvSpPr>
        <p:spPr>
          <a:xfrm>
            <a:off x="6589713" y="333375"/>
            <a:ext cx="503237"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3987" name="Line 19"/>
          <p:cNvSpPr/>
          <p:nvPr/>
        </p:nvSpPr>
        <p:spPr>
          <a:xfrm flipH="1">
            <a:off x="6229350" y="836613"/>
            <a:ext cx="576263" cy="504825"/>
          </a:xfrm>
          <a:prstGeom prst="line">
            <a:avLst/>
          </a:prstGeom>
          <a:ln w="25400" cap="flat" cmpd="sng">
            <a:solidFill>
              <a:schemeClr val="tx1"/>
            </a:solidFill>
            <a:prstDash val="solid"/>
            <a:round/>
            <a:headEnd type="none" w="med" len="med"/>
            <a:tailEnd type="none" w="med" len="med"/>
          </a:ln>
        </p:spPr>
      </p:sp>
      <p:sp>
        <p:nvSpPr>
          <p:cNvPr id="83988" name="Text Box 20"/>
          <p:cNvSpPr txBox="1"/>
          <p:nvPr/>
        </p:nvSpPr>
        <p:spPr>
          <a:xfrm>
            <a:off x="6022975" y="765175"/>
            <a:ext cx="566738" cy="396875"/>
          </a:xfrm>
          <a:prstGeom prst="rect">
            <a:avLst/>
          </a:prstGeom>
          <a:noFill/>
          <a:ln w="25400">
            <a:noFill/>
          </a:ln>
        </p:spPr>
        <p:txBody>
          <a:bodyPr wrap="none" anchor="t" anchorCtr="0">
            <a:spAutoFit/>
          </a:bodyPr>
          <a:lstStyle/>
          <a:p>
            <a:r>
              <a:rPr lang="en-US" altLang="zh-CN" dirty="0">
                <a:latin typeface="Times New Roman" panose="02020503050405090304" pitchFamily="18" charset="0"/>
                <a:ea typeface="宋体" pitchFamily="2" charset="-122"/>
              </a:rPr>
              <a:t>a=1</a:t>
            </a:r>
          </a:p>
        </p:txBody>
      </p:sp>
      <p:sp>
        <p:nvSpPr>
          <p:cNvPr id="83989" name="Oval 21"/>
          <p:cNvSpPr/>
          <p:nvPr/>
        </p:nvSpPr>
        <p:spPr>
          <a:xfrm>
            <a:off x="5940425" y="1339850"/>
            <a:ext cx="503238"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3990" name="Line 22"/>
          <p:cNvSpPr/>
          <p:nvPr/>
        </p:nvSpPr>
        <p:spPr>
          <a:xfrm flipH="1">
            <a:off x="5437188" y="1771650"/>
            <a:ext cx="576262" cy="504825"/>
          </a:xfrm>
          <a:prstGeom prst="line">
            <a:avLst/>
          </a:prstGeom>
          <a:ln w="25400" cap="flat" cmpd="sng">
            <a:solidFill>
              <a:schemeClr val="tx1"/>
            </a:solidFill>
            <a:prstDash val="solid"/>
            <a:round/>
            <a:headEnd type="none" w="med" len="med"/>
            <a:tailEnd type="none" w="med" len="med"/>
          </a:ln>
        </p:spPr>
      </p:sp>
      <p:sp>
        <p:nvSpPr>
          <p:cNvPr id="83991" name="Text Box 23"/>
          <p:cNvSpPr txBox="1"/>
          <p:nvPr/>
        </p:nvSpPr>
        <p:spPr>
          <a:xfrm>
            <a:off x="5230813" y="1700213"/>
            <a:ext cx="581025" cy="396875"/>
          </a:xfrm>
          <a:prstGeom prst="rect">
            <a:avLst/>
          </a:prstGeom>
          <a:noFill/>
          <a:ln w="25400">
            <a:noFill/>
          </a:ln>
        </p:spPr>
        <p:txBody>
          <a:bodyPr wrap="none" anchor="t" anchorCtr="0">
            <a:spAutoFit/>
          </a:bodyPr>
          <a:lstStyle/>
          <a:p>
            <a:r>
              <a:rPr lang="en-US" altLang="zh-CN" dirty="0">
                <a:latin typeface="Times New Roman" panose="02020503050405090304" pitchFamily="18" charset="0"/>
                <a:ea typeface="宋体" pitchFamily="2" charset="-122"/>
              </a:rPr>
              <a:t>b=1</a:t>
            </a:r>
          </a:p>
        </p:txBody>
      </p:sp>
      <p:sp>
        <p:nvSpPr>
          <p:cNvPr id="83992" name="Oval 24"/>
          <p:cNvSpPr/>
          <p:nvPr/>
        </p:nvSpPr>
        <p:spPr>
          <a:xfrm>
            <a:off x="5148263" y="2274888"/>
            <a:ext cx="503237"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3994" name="Line 26"/>
          <p:cNvSpPr/>
          <p:nvPr/>
        </p:nvSpPr>
        <p:spPr>
          <a:xfrm flipH="1">
            <a:off x="6229350" y="1844675"/>
            <a:ext cx="0" cy="504825"/>
          </a:xfrm>
          <a:prstGeom prst="line">
            <a:avLst/>
          </a:prstGeom>
          <a:ln w="25400" cap="flat" cmpd="sng">
            <a:solidFill>
              <a:schemeClr val="tx1"/>
            </a:solidFill>
            <a:prstDash val="solid"/>
            <a:round/>
            <a:headEnd type="none" w="med" len="med"/>
            <a:tailEnd type="none" w="med" len="med"/>
          </a:ln>
        </p:spPr>
      </p:sp>
      <p:sp>
        <p:nvSpPr>
          <p:cNvPr id="83995" name="Text Box 27"/>
          <p:cNvSpPr txBox="1"/>
          <p:nvPr/>
        </p:nvSpPr>
        <p:spPr>
          <a:xfrm>
            <a:off x="6022975" y="1773238"/>
            <a:ext cx="581025" cy="396875"/>
          </a:xfrm>
          <a:prstGeom prst="rect">
            <a:avLst/>
          </a:prstGeom>
          <a:noFill/>
          <a:ln w="25400">
            <a:noFill/>
          </a:ln>
        </p:spPr>
        <p:txBody>
          <a:bodyPr wrap="none" anchor="t" anchorCtr="0">
            <a:spAutoFit/>
          </a:bodyPr>
          <a:lstStyle/>
          <a:p>
            <a:r>
              <a:rPr lang="en-US" altLang="zh-CN" dirty="0">
                <a:latin typeface="Times New Roman" panose="02020503050405090304" pitchFamily="18" charset="0"/>
                <a:ea typeface="宋体" pitchFamily="2" charset="-122"/>
              </a:rPr>
              <a:t>b=2</a:t>
            </a:r>
          </a:p>
        </p:txBody>
      </p:sp>
      <p:sp>
        <p:nvSpPr>
          <p:cNvPr id="83996" name="Oval 28"/>
          <p:cNvSpPr/>
          <p:nvPr/>
        </p:nvSpPr>
        <p:spPr>
          <a:xfrm>
            <a:off x="5940425" y="2347913"/>
            <a:ext cx="503238"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3997" name="Line 29"/>
          <p:cNvSpPr/>
          <p:nvPr/>
        </p:nvSpPr>
        <p:spPr>
          <a:xfrm flipH="1">
            <a:off x="5581650" y="2852738"/>
            <a:ext cx="576263" cy="504825"/>
          </a:xfrm>
          <a:prstGeom prst="line">
            <a:avLst/>
          </a:prstGeom>
          <a:ln w="25400" cap="flat" cmpd="sng">
            <a:solidFill>
              <a:schemeClr val="tx1"/>
            </a:solidFill>
            <a:prstDash val="solid"/>
            <a:round/>
            <a:headEnd type="none" w="med" len="med"/>
            <a:tailEnd type="none" w="med" len="med"/>
          </a:ln>
        </p:spPr>
      </p:sp>
      <p:sp>
        <p:nvSpPr>
          <p:cNvPr id="83998" name="Text Box 30"/>
          <p:cNvSpPr txBox="1"/>
          <p:nvPr/>
        </p:nvSpPr>
        <p:spPr>
          <a:xfrm>
            <a:off x="5375275" y="2781300"/>
            <a:ext cx="566738" cy="396875"/>
          </a:xfrm>
          <a:prstGeom prst="rect">
            <a:avLst/>
          </a:prstGeom>
          <a:noFill/>
          <a:ln w="25400">
            <a:noFill/>
          </a:ln>
        </p:spPr>
        <p:txBody>
          <a:bodyPr wrap="none" anchor="t" anchorCtr="0">
            <a:spAutoFit/>
          </a:bodyPr>
          <a:lstStyle/>
          <a:p>
            <a:r>
              <a:rPr lang="en-US" altLang="zh-CN" dirty="0">
                <a:latin typeface="Times New Roman" panose="02020503050405090304" pitchFamily="18" charset="0"/>
                <a:ea typeface="宋体" pitchFamily="2" charset="-122"/>
              </a:rPr>
              <a:t>c=1</a:t>
            </a:r>
          </a:p>
        </p:txBody>
      </p:sp>
      <p:sp>
        <p:nvSpPr>
          <p:cNvPr id="83999" name="Oval 31"/>
          <p:cNvSpPr/>
          <p:nvPr/>
        </p:nvSpPr>
        <p:spPr>
          <a:xfrm>
            <a:off x="5292725" y="3355975"/>
            <a:ext cx="503238"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4000" name="Line 32"/>
          <p:cNvSpPr/>
          <p:nvPr/>
        </p:nvSpPr>
        <p:spPr>
          <a:xfrm flipH="1">
            <a:off x="6229350" y="2852738"/>
            <a:ext cx="0" cy="576262"/>
          </a:xfrm>
          <a:prstGeom prst="line">
            <a:avLst/>
          </a:prstGeom>
          <a:ln w="25400" cap="flat" cmpd="sng">
            <a:solidFill>
              <a:schemeClr val="tx1"/>
            </a:solidFill>
            <a:prstDash val="solid"/>
            <a:round/>
            <a:headEnd type="none" w="med" len="med"/>
            <a:tailEnd type="none" w="med" len="med"/>
          </a:ln>
        </p:spPr>
      </p:sp>
      <p:sp>
        <p:nvSpPr>
          <p:cNvPr id="84001" name="Text Box 33"/>
          <p:cNvSpPr txBox="1"/>
          <p:nvPr/>
        </p:nvSpPr>
        <p:spPr>
          <a:xfrm>
            <a:off x="6022975" y="2852738"/>
            <a:ext cx="566738" cy="396875"/>
          </a:xfrm>
          <a:prstGeom prst="rect">
            <a:avLst/>
          </a:prstGeom>
          <a:noFill/>
          <a:ln w="25400">
            <a:noFill/>
          </a:ln>
        </p:spPr>
        <p:txBody>
          <a:bodyPr wrap="none" anchor="t" anchorCtr="0">
            <a:spAutoFit/>
          </a:bodyPr>
          <a:lstStyle/>
          <a:p>
            <a:r>
              <a:rPr lang="en-US" altLang="zh-CN" dirty="0">
                <a:latin typeface="Times New Roman" panose="02020503050405090304" pitchFamily="18" charset="0"/>
                <a:ea typeface="宋体" pitchFamily="2" charset="-122"/>
              </a:rPr>
              <a:t>c=2</a:t>
            </a:r>
          </a:p>
        </p:txBody>
      </p:sp>
      <p:sp>
        <p:nvSpPr>
          <p:cNvPr id="84002" name="Oval 34"/>
          <p:cNvSpPr/>
          <p:nvPr/>
        </p:nvSpPr>
        <p:spPr>
          <a:xfrm>
            <a:off x="5940425" y="3427413"/>
            <a:ext cx="503238"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4003" name="Line 35"/>
          <p:cNvSpPr/>
          <p:nvPr/>
        </p:nvSpPr>
        <p:spPr>
          <a:xfrm flipH="1">
            <a:off x="5581650" y="3933825"/>
            <a:ext cx="576263" cy="504825"/>
          </a:xfrm>
          <a:prstGeom prst="line">
            <a:avLst/>
          </a:prstGeom>
          <a:ln w="25400" cap="flat" cmpd="sng">
            <a:solidFill>
              <a:schemeClr val="tx1"/>
            </a:solidFill>
            <a:prstDash val="solid"/>
            <a:round/>
            <a:headEnd type="none" w="med" len="med"/>
            <a:tailEnd type="none" w="med" len="med"/>
          </a:ln>
        </p:spPr>
      </p:sp>
      <p:sp>
        <p:nvSpPr>
          <p:cNvPr id="84004" name="Text Box 36"/>
          <p:cNvSpPr txBox="1"/>
          <p:nvPr/>
        </p:nvSpPr>
        <p:spPr>
          <a:xfrm>
            <a:off x="5375275" y="3862388"/>
            <a:ext cx="581025" cy="396875"/>
          </a:xfrm>
          <a:prstGeom prst="rect">
            <a:avLst/>
          </a:prstGeom>
          <a:noFill/>
          <a:ln w="25400">
            <a:noFill/>
          </a:ln>
        </p:spPr>
        <p:txBody>
          <a:bodyPr wrap="none" anchor="t" anchorCtr="0">
            <a:spAutoFit/>
          </a:bodyPr>
          <a:lstStyle/>
          <a:p>
            <a:r>
              <a:rPr lang="en-US" altLang="zh-CN" dirty="0">
                <a:latin typeface="Times New Roman" panose="02020503050405090304" pitchFamily="18" charset="0"/>
                <a:ea typeface="宋体" pitchFamily="2" charset="-122"/>
              </a:rPr>
              <a:t>d=1</a:t>
            </a:r>
          </a:p>
        </p:txBody>
      </p:sp>
      <p:sp>
        <p:nvSpPr>
          <p:cNvPr id="84005" name="Oval 37"/>
          <p:cNvSpPr/>
          <p:nvPr/>
        </p:nvSpPr>
        <p:spPr>
          <a:xfrm>
            <a:off x="5292725" y="4437063"/>
            <a:ext cx="503238"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4006" name="Line 38"/>
          <p:cNvSpPr/>
          <p:nvPr/>
        </p:nvSpPr>
        <p:spPr>
          <a:xfrm flipH="1">
            <a:off x="4789488" y="4868863"/>
            <a:ext cx="576262" cy="504825"/>
          </a:xfrm>
          <a:prstGeom prst="line">
            <a:avLst/>
          </a:prstGeom>
          <a:ln w="25400" cap="flat" cmpd="sng">
            <a:solidFill>
              <a:schemeClr val="tx1"/>
            </a:solidFill>
            <a:prstDash val="solid"/>
            <a:round/>
            <a:headEnd type="none" w="med" len="med"/>
            <a:tailEnd type="none" w="med" len="med"/>
          </a:ln>
        </p:spPr>
      </p:sp>
      <p:sp>
        <p:nvSpPr>
          <p:cNvPr id="84007" name="Text Box 39"/>
          <p:cNvSpPr txBox="1"/>
          <p:nvPr/>
        </p:nvSpPr>
        <p:spPr>
          <a:xfrm>
            <a:off x="4583113" y="4797425"/>
            <a:ext cx="566737" cy="396875"/>
          </a:xfrm>
          <a:prstGeom prst="rect">
            <a:avLst/>
          </a:prstGeom>
          <a:noFill/>
          <a:ln w="25400">
            <a:noFill/>
          </a:ln>
        </p:spPr>
        <p:txBody>
          <a:bodyPr wrap="none" anchor="t" anchorCtr="0">
            <a:spAutoFit/>
          </a:bodyPr>
          <a:lstStyle/>
          <a:p>
            <a:r>
              <a:rPr lang="en-US" altLang="zh-CN" dirty="0">
                <a:latin typeface="Times New Roman" panose="02020503050405090304" pitchFamily="18" charset="0"/>
                <a:ea typeface="宋体" pitchFamily="2" charset="-122"/>
              </a:rPr>
              <a:t>e=1</a:t>
            </a:r>
          </a:p>
        </p:txBody>
      </p:sp>
      <p:sp>
        <p:nvSpPr>
          <p:cNvPr id="84008" name="Oval 40"/>
          <p:cNvSpPr/>
          <p:nvPr/>
        </p:nvSpPr>
        <p:spPr>
          <a:xfrm>
            <a:off x="4500563" y="5372100"/>
            <a:ext cx="503237"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4009" name="Line 41"/>
          <p:cNvSpPr/>
          <p:nvPr/>
        </p:nvSpPr>
        <p:spPr>
          <a:xfrm>
            <a:off x="5580063" y="4941888"/>
            <a:ext cx="1587" cy="503237"/>
          </a:xfrm>
          <a:prstGeom prst="line">
            <a:avLst/>
          </a:prstGeom>
          <a:ln w="25400" cap="flat" cmpd="sng">
            <a:solidFill>
              <a:schemeClr val="tx1"/>
            </a:solidFill>
            <a:prstDash val="solid"/>
            <a:round/>
            <a:headEnd type="none" w="med" len="med"/>
            <a:tailEnd type="none" w="med" len="med"/>
          </a:ln>
        </p:spPr>
      </p:sp>
      <p:sp>
        <p:nvSpPr>
          <p:cNvPr id="84010" name="Text Box 42"/>
          <p:cNvSpPr txBox="1"/>
          <p:nvPr/>
        </p:nvSpPr>
        <p:spPr>
          <a:xfrm>
            <a:off x="5375275" y="4868863"/>
            <a:ext cx="566738" cy="396875"/>
          </a:xfrm>
          <a:prstGeom prst="rect">
            <a:avLst/>
          </a:prstGeom>
          <a:noFill/>
          <a:ln w="25400">
            <a:noFill/>
          </a:ln>
        </p:spPr>
        <p:txBody>
          <a:bodyPr wrap="none" anchor="t" anchorCtr="0">
            <a:spAutoFit/>
          </a:bodyPr>
          <a:lstStyle/>
          <a:p>
            <a:r>
              <a:rPr lang="en-US" altLang="zh-CN" dirty="0">
                <a:latin typeface="Times New Roman" panose="02020503050405090304" pitchFamily="18" charset="0"/>
                <a:ea typeface="宋体" pitchFamily="2" charset="-122"/>
              </a:rPr>
              <a:t>e=2</a:t>
            </a:r>
          </a:p>
        </p:txBody>
      </p:sp>
      <p:sp>
        <p:nvSpPr>
          <p:cNvPr id="84011" name="Oval 43"/>
          <p:cNvSpPr/>
          <p:nvPr/>
        </p:nvSpPr>
        <p:spPr>
          <a:xfrm>
            <a:off x="5292725" y="5443538"/>
            <a:ext cx="503238"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4012" name="Line 44"/>
          <p:cNvSpPr/>
          <p:nvPr/>
        </p:nvSpPr>
        <p:spPr>
          <a:xfrm>
            <a:off x="5724525" y="4868863"/>
            <a:ext cx="792163" cy="576262"/>
          </a:xfrm>
          <a:prstGeom prst="line">
            <a:avLst/>
          </a:prstGeom>
          <a:ln w="25400" cap="flat" cmpd="sng">
            <a:solidFill>
              <a:schemeClr val="tx1"/>
            </a:solidFill>
            <a:prstDash val="solid"/>
            <a:round/>
            <a:headEnd type="none" w="med" len="med"/>
            <a:tailEnd type="none" w="med" len="med"/>
          </a:ln>
        </p:spPr>
      </p:sp>
      <p:sp>
        <p:nvSpPr>
          <p:cNvPr id="84013" name="Text Box 45"/>
          <p:cNvSpPr txBox="1"/>
          <p:nvPr/>
        </p:nvSpPr>
        <p:spPr>
          <a:xfrm>
            <a:off x="5940425" y="4941888"/>
            <a:ext cx="566738" cy="396875"/>
          </a:xfrm>
          <a:prstGeom prst="rect">
            <a:avLst/>
          </a:prstGeom>
          <a:noFill/>
          <a:ln w="25400">
            <a:noFill/>
          </a:ln>
        </p:spPr>
        <p:txBody>
          <a:bodyPr wrap="none" anchor="t" anchorCtr="0">
            <a:spAutoFit/>
          </a:bodyPr>
          <a:lstStyle/>
          <a:p>
            <a:r>
              <a:rPr lang="en-US" altLang="zh-CN" dirty="0">
                <a:latin typeface="Times New Roman" panose="02020503050405090304" pitchFamily="18" charset="0"/>
                <a:ea typeface="宋体" pitchFamily="2" charset="-122"/>
              </a:rPr>
              <a:t>e=3</a:t>
            </a:r>
          </a:p>
        </p:txBody>
      </p:sp>
      <p:sp>
        <p:nvSpPr>
          <p:cNvPr id="84014" name="Oval 46"/>
          <p:cNvSpPr/>
          <p:nvPr/>
        </p:nvSpPr>
        <p:spPr>
          <a:xfrm>
            <a:off x="6227763" y="5445125"/>
            <a:ext cx="503237" cy="504825"/>
          </a:xfrm>
          <a:prstGeom prst="ellipse">
            <a:avLst/>
          </a:prstGeom>
          <a:solidFill>
            <a:schemeClr val="accent1"/>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4015" name="Text Box 47"/>
          <p:cNvSpPr txBox="1"/>
          <p:nvPr/>
        </p:nvSpPr>
        <p:spPr>
          <a:xfrm>
            <a:off x="1403350" y="5157788"/>
            <a:ext cx="2252663" cy="457200"/>
          </a:xfrm>
          <a:prstGeom prst="rect">
            <a:avLst/>
          </a:prstGeom>
          <a:solidFill>
            <a:srgbClr val="FF0000"/>
          </a:solidFill>
          <a:ln w="25400">
            <a:noFill/>
          </a:ln>
        </p:spPr>
        <p:txBody>
          <a:bodyPr wrap="none" anchor="t" anchorCtr="0">
            <a:spAutoFit/>
          </a:bodyPr>
          <a:lstStyle/>
          <a:p>
            <a:r>
              <a:rPr lang="en-US" altLang="zh-CN" sz="2400" dirty="0">
                <a:latin typeface="Arial" panose="020B0604020202090204" pitchFamily="34" charset="0"/>
                <a:ea typeface="宋体" pitchFamily="2" charset="-122"/>
              </a:rPr>
              <a:t>Find a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986"/>
                                        </p:tgtEl>
                                        <p:attrNameLst>
                                          <p:attrName>style.visibility</p:attrName>
                                        </p:attrNameLst>
                                      </p:cBhvr>
                                      <p:to>
                                        <p:strVal val="visible"/>
                                      </p:to>
                                    </p:set>
                                    <p:animEffect transition="in" filter="blinds(horizontal)">
                                      <p:cBhvr>
                                        <p:cTn id="7" dur="500"/>
                                        <p:tgtEl>
                                          <p:spTgt spid="839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3987"/>
                                        </p:tgtEl>
                                        <p:attrNameLst>
                                          <p:attrName>style.visibility</p:attrName>
                                        </p:attrNameLst>
                                      </p:cBhvr>
                                      <p:to>
                                        <p:strVal val="visible"/>
                                      </p:to>
                                    </p:set>
                                    <p:animEffect transition="in" filter="wipe(up)">
                                      <p:cBhvr>
                                        <p:cTn id="12" dur="500"/>
                                        <p:tgtEl>
                                          <p:spTgt spid="8398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3988"/>
                                        </p:tgtEl>
                                        <p:attrNameLst>
                                          <p:attrName>style.visibility</p:attrName>
                                        </p:attrNameLst>
                                      </p:cBhvr>
                                      <p:to>
                                        <p:strVal val="visible"/>
                                      </p:to>
                                    </p:set>
                                    <p:animEffect transition="in" filter="blinds(horizontal)">
                                      <p:cBhvr>
                                        <p:cTn id="15" dur="500"/>
                                        <p:tgtEl>
                                          <p:spTgt spid="83988"/>
                                        </p:tgtEl>
                                      </p:cBhvr>
                                    </p:animEffect>
                                  </p:childTnLst>
                                </p:cTn>
                              </p:par>
                            </p:childTnLst>
                          </p:cTn>
                        </p:par>
                        <p:par>
                          <p:cTn id="16" fill="hold">
                            <p:stCondLst>
                              <p:cond delay="500"/>
                            </p:stCondLst>
                            <p:childTnLst>
                              <p:par>
                                <p:cTn id="17" presetID="3" presetClass="entr" presetSubtype="10" fill="hold" grpId="0" nodeType="afterEffect">
                                  <p:stCondLst>
                                    <p:cond delay="0"/>
                                  </p:stCondLst>
                                  <p:childTnLst>
                                    <p:set>
                                      <p:cBhvr>
                                        <p:cTn id="18" dur="1" fill="hold">
                                          <p:stCondLst>
                                            <p:cond delay="0"/>
                                          </p:stCondLst>
                                        </p:cTn>
                                        <p:tgtEl>
                                          <p:spTgt spid="83989"/>
                                        </p:tgtEl>
                                        <p:attrNameLst>
                                          <p:attrName>style.visibility</p:attrName>
                                        </p:attrNameLst>
                                      </p:cBhvr>
                                      <p:to>
                                        <p:strVal val="visible"/>
                                      </p:to>
                                    </p:set>
                                    <p:animEffect transition="in" filter="blinds(horizontal)">
                                      <p:cBhvr>
                                        <p:cTn id="19" dur="500"/>
                                        <p:tgtEl>
                                          <p:spTgt spid="8398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83990"/>
                                        </p:tgtEl>
                                        <p:attrNameLst>
                                          <p:attrName>style.visibility</p:attrName>
                                        </p:attrNameLst>
                                      </p:cBhvr>
                                      <p:to>
                                        <p:strVal val="visible"/>
                                      </p:to>
                                    </p:set>
                                    <p:animEffect transition="in" filter="wipe(up)">
                                      <p:cBhvr>
                                        <p:cTn id="24" dur="500"/>
                                        <p:tgtEl>
                                          <p:spTgt spid="83990"/>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83991"/>
                                        </p:tgtEl>
                                        <p:attrNameLst>
                                          <p:attrName>style.visibility</p:attrName>
                                        </p:attrNameLst>
                                      </p:cBhvr>
                                      <p:to>
                                        <p:strVal val="visible"/>
                                      </p:to>
                                    </p:set>
                                    <p:animEffect transition="in" filter="blinds(horizontal)">
                                      <p:cBhvr>
                                        <p:cTn id="27" dur="500"/>
                                        <p:tgtEl>
                                          <p:spTgt spid="83991"/>
                                        </p:tgtEl>
                                      </p:cBhvr>
                                    </p:animEffect>
                                  </p:childTnLst>
                                </p:cTn>
                              </p:par>
                            </p:childTnLst>
                          </p:cTn>
                        </p:par>
                        <p:par>
                          <p:cTn id="28" fill="hold">
                            <p:stCondLst>
                              <p:cond delay="500"/>
                            </p:stCondLst>
                            <p:childTnLst>
                              <p:par>
                                <p:cTn id="29" presetID="3" presetClass="entr" presetSubtype="10" fill="hold" grpId="0" nodeType="afterEffect">
                                  <p:stCondLst>
                                    <p:cond delay="0"/>
                                  </p:stCondLst>
                                  <p:childTnLst>
                                    <p:set>
                                      <p:cBhvr>
                                        <p:cTn id="30" dur="1" fill="hold">
                                          <p:stCondLst>
                                            <p:cond delay="0"/>
                                          </p:stCondLst>
                                        </p:cTn>
                                        <p:tgtEl>
                                          <p:spTgt spid="83992"/>
                                        </p:tgtEl>
                                        <p:attrNameLst>
                                          <p:attrName>style.visibility</p:attrName>
                                        </p:attrNameLst>
                                      </p:cBhvr>
                                      <p:to>
                                        <p:strVal val="visible"/>
                                      </p:to>
                                    </p:set>
                                    <p:animEffect transition="in" filter="blinds(horizontal)">
                                      <p:cBhvr>
                                        <p:cTn id="31" dur="500"/>
                                        <p:tgtEl>
                                          <p:spTgt spid="83992"/>
                                        </p:tgtEl>
                                      </p:cBhvr>
                                    </p:animEffect>
                                  </p:childTnLst>
                                </p:cTn>
                              </p:par>
                            </p:childTnLst>
                          </p:cTn>
                        </p:par>
                      </p:childTnLst>
                    </p:cTn>
                  </p:par>
                  <p:par>
                    <p:cTn id="32" fill="hold">
                      <p:stCondLst>
                        <p:cond delay="indefinite"/>
                      </p:stCondLst>
                      <p:childTnLst>
                        <p:par>
                          <p:cTn id="33" fill="hold">
                            <p:stCondLst>
                              <p:cond delay="0"/>
                            </p:stCondLst>
                            <p:childTnLst>
                              <p:par>
                                <p:cTn id="34" presetID="35" presetClass="emph" presetSubtype="0" fill="hold" grpId="0" nodeType="clickEffect">
                                  <p:stCondLst>
                                    <p:cond delay="0"/>
                                  </p:stCondLst>
                                  <p:childTnLst>
                                    <p:anim calcmode="discrete" valueType="str">
                                      <p:cBhvr>
                                        <p:cTn id="35" dur="1000" fill="hold"/>
                                        <p:tgtEl>
                                          <p:spTgt spid="83973"/>
                                        </p:tgtEl>
                                        <p:attrNameLst>
                                          <p:attrName>style.visibility</p:attrName>
                                        </p:attrNameLst>
                                      </p:cBhvr>
                                      <p:tavLst>
                                        <p:tav tm="0">
                                          <p:val>
                                            <p:strVal val="hidden"/>
                                          </p:val>
                                        </p:tav>
                                        <p:tav tm="50000">
                                          <p:val>
                                            <p:strVal val="visible"/>
                                          </p:val>
                                        </p:tav>
                                      </p:tavLst>
                                    </p:anim>
                                  </p:childTnLst>
                                  <p:subTnLst>
                                    <p:audio>
                                      <p:cMediaNode>
                                        <p:cTn display="0" masterRel="sameClick">
                                          <p:stCondLst>
                                            <p:cond evt="begin" delay="0">
                                              <p:tn val="34"/>
                                            </p:cond>
                                          </p:stCondLst>
                                          <p:endCondLst>
                                            <p:cond evt="onStopAudio" delay="0">
                                              <p:tgtEl>
                                                <p:sldTgt/>
                                              </p:tgtEl>
                                            </p:cond>
                                          </p:endCondLst>
                                        </p:cTn>
                                        <p:tgtEl>
                                          <p:sndTgt r:embed="rId3" name="bomb.wav"/>
                                        </p:tgtEl>
                                      </p:cMediaNode>
                                    </p:audio>
                                  </p:subTnLst>
                                </p:cTn>
                              </p:par>
                              <p:par>
                                <p:cTn id="36" presetID="35" presetClass="emph" presetSubtype="0" fill="hold" grpId="0" nodeType="withEffect">
                                  <p:stCondLst>
                                    <p:cond delay="0"/>
                                  </p:stCondLst>
                                  <p:childTnLst>
                                    <p:anim calcmode="discrete" valueType="str">
                                      <p:cBhvr>
                                        <p:cTn id="37" dur="1000" fill="hold"/>
                                        <p:tgtEl>
                                          <p:spTgt spid="83972"/>
                                        </p:tgtEl>
                                        <p:attrNameLst>
                                          <p:attrName>style.visibility</p:attrName>
                                        </p:attrNameLst>
                                      </p:cBhvr>
                                      <p:tavLst>
                                        <p:tav tm="0">
                                          <p:val>
                                            <p:strVal val="hidden"/>
                                          </p:val>
                                        </p:tav>
                                        <p:tav tm="50000">
                                          <p:val>
                                            <p:strVal val="visible"/>
                                          </p:val>
                                        </p:tav>
                                      </p:tavLst>
                                    </p:anim>
                                  </p:childTnLst>
                                </p:cTn>
                              </p:par>
                              <p:par>
                                <p:cTn id="38" presetID="35" presetClass="emph" presetSubtype="0" fill="hold" nodeType="withEffect">
                                  <p:stCondLst>
                                    <p:cond delay="0"/>
                                  </p:stCondLst>
                                  <p:childTnLst>
                                    <p:anim calcmode="discrete" valueType="str">
                                      <p:cBhvr>
                                        <p:cTn id="39" dur="1000" fill="hold"/>
                                        <p:tgtEl>
                                          <p:spTgt spid="83977"/>
                                        </p:tgtEl>
                                        <p:attrNameLst>
                                          <p:attrName>style.visibility</p:attrName>
                                        </p:attrNameLst>
                                      </p:cBhvr>
                                      <p:tavLst>
                                        <p:tav tm="0">
                                          <p:val>
                                            <p:strVal val="hidden"/>
                                          </p:val>
                                        </p:tav>
                                        <p:tav tm="50000">
                                          <p:val>
                                            <p:strVal val="visible"/>
                                          </p:val>
                                        </p:tav>
                                      </p:tavLst>
                                    </p:anim>
                                  </p:childTnLst>
                                </p:cTn>
                              </p:par>
                            </p:childTnLst>
                          </p:cTn>
                        </p:par>
                      </p:childTnLst>
                    </p:cTn>
                  </p:par>
                  <p:par>
                    <p:cTn id="40" fill="hold">
                      <p:stCondLst>
                        <p:cond delay="indefinite"/>
                      </p:stCondLst>
                      <p:childTnLst>
                        <p:par>
                          <p:cTn id="41" fill="hold">
                            <p:stCondLst>
                              <p:cond delay="0"/>
                            </p:stCondLst>
                            <p:childTnLst>
                              <p:par>
                                <p:cTn id="42" presetID="1" presetClass="emph" presetSubtype="2" fill="hold" nodeType="clickEffect">
                                  <p:stCondLst>
                                    <p:cond delay="0"/>
                                  </p:stCondLst>
                                  <p:childTnLst>
                                    <p:animClr clrSpc="rgb" dir="cw">
                                      <p:cBhvr>
                                        <p:cTn id="43" dur="2000" fill="hold"/>
                                        <p:tgtEl>
                                          <p:spTgt spid="83992"/>
                                        </p:tgtEl>
                                        <p:attrNameLst>
                                          <p:attrName>fillcolor</p:attrName>
                                        </p:attrNameLst>
                                      </p:cBhvr>
                                      <p:to>
                                        <a:srgbClr val="FF0000"/>
                                      </p:to>
                                    </p:animClr>
                                    <p:set>
                                      <p:cBhvr>
                                        <p:cTn id="44" dur="2000" fill="hold"/>
                                        <p:tgtEl>
                                          <p:spTgt spid="83992"/>
                                        </p:tgtEl>
                                        <p:attrNameLst>
                                          <p:attrName>fill.type</p:attrName>
                                        </p:attrNameLst>
                                      </p:cBhvr>
                                      <p:to>
                                        <p:strVal val="solid"/>
                                      </p:to>
                                    </p:set>
                                    <p:set>
                                      <p:cBhvr>
                                        <p:cTn id="45" dur="2000" fill="hold"/>
                                        <p:tgtEl>
                                          <p:spTgt spid="83992"/>
                                        </p:tgtEl>
                                        <p:attrNameLst>
                                          <p:attrName>fill.on</p:attrName>
                                        </p:attrNameLst>
                                      </p:cBhvr>
                                      <p:to>
                                        <p:strVal val="tru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83994"/>
                                        </p:tgtEl>
                                        <p:attrNameLst>
                                          <p:attrName>style.visibility</p:attrName>
                                        </p:attrNameLst>
                                      </p:cBhvr>
                                      <p:to>
                                        <p:strVal val="visible"/>
                                      </p:to>
                                    </p:set>
                                    <p:animEffect transition="in" filter="wipe(up)">
                                      <p:cBhvr>
                                        <p:cTn id="50" dur="500"/>
                                        <p:tgtEl>
                                          <p:spTgt spid="83994"/>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83995"/>
                                        </p:tgtEl>
                                        <p:attrNameLst>
                                          <p:attrName>style.visibility</p:attrName>
                                        </p:attrNameLst>
                                      </p:cBhvr>
                                      <p:to>
                                        <p:strVal val="visible"/>
                                      </p:to>
                                    </p:set>
                                    <p:animEffect transition="in" filter="blinds(horizontal)">
                                      <p:cBhvr>
                                        <p:cTn id="53" dur="500"/>
                                        <p:tgtEl>
                                          <p:spTgt spid="83995"/>
                                        </p:tgtEl>
                                      </p:cBhvr>
                                    </p:animEffect>
                                  </p:childTnLst>
                                </p:cTn>
                              </p:par>
                            </p:childTnLst>
                          </p:cTn>
                        </p:par>
                        <p:par>
                          <p:cTn id="54" fill="hold">
                            <p:stCondLst>
                              <p:cond delay="500"/>
                            </p:stCondLst>
                            <p:childTnLst>
                              <p:par>
                                <p:cTn id="55" presetID="3" presetClass="entr" presetSubtype="10" fill="hold" grpId="0" nodeType="afterEffect">
                                  <p:stCondLst>
                                    <p:cond delay="0"/>
                                  </p:stCondLst>
                                  <p:childTnLst>
                                    <p:set>
                                      <p:cBhvr>
                                        <p:cTn id="56" dur="1" fill="hold">
                                          <p:stCondLst>
                                            <p:cond delay="0"/>
                                          </p:stCondLst>
                                        </p:cTn>
                                        <p:tgtEl>
                                          <p:spTgt spid="83996"/>
                                        </p:tgtEl>
                                        <p:attrNameLst>
                                          <p:attrName>style.visibility</p:attrName>
                                        </p:attrNameLst>
                                      </p:cBhvr>
                                      <p:to>
                                        <p:strVal val="visible"/>
                                      </p:to>
                                    </p:set>
                                    <p:animEffect transition="in" filter="blinds(horizontal)">
                                      <p:cBhvr>
                                        <p:cTn id="57" dur="500"/>
                                        <p:tgtEl>
                                          <p:spTgt spid="8399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83997"/>
                                        </p:tgtEl>
                                        <p:attrNameLst>
                                          <p:attrName>style.visibility</p:attrName>
                                        </p:attrNameLst>
                                      </p:cBhvr>
                                      <p:to>
                                        <p:strVal val="visible"/>
                                      </p:to>
                                    </p:set>
                                    <p:animEffect transition="in" filter="wipe(up)">
                                      <p:cBhvr>
                                        <p:cTn id="62" dur="500"/>
                                        <p:tgtEl>
                                          <p:spTgt spid="83997"/>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83998"/>
                                        </p:tgtEl>
                                        <p:attrNameLst>
                                          <p:attrName>style.visibility</p:attrName>
                                        </p:attrNameLst>
                                      </p:cBhvr>
                                      <p:to>
                                        <p:strVal val="visible"/>
                                      </p:to>
                                    </p:set>
                                    <p:animEffect transition="in" filter="blinds(horizontal)">
                                      <p:cBhvr>
                                        <p:cTn id="65" dur="500"/>
                                        <p:tgtEl>
                                          <p:spTgt spid="83998"/>
                                        </p:tgtEl>
                                      </p:cBhvr>
                                    </p:animEffect>
                                  </p:childTnLst>
                                </p:cTn>
                              </p:par>
                            </p:childTnLst>
                          </p:cTn>
                        </p:par>
                        <p:par>
                          <p:cTn id="66" fill="hold">
                            <p:stCondLst>
                              <p:cond delay="500"/>
                            </p:stCondLst>
                            <p:childTnLst>
                              <p:par>
                                <p:cTn id="67" presetID="3" presetClass="entr" presetSubtype="10" fill="hold" grpId="0" nodeType="afterEffect">
                                  <p:stCondLst>
                                    <p:cond delay="0"/>
                                  </p:stCondLst>
                                  <p:childTnLst>
                                    <p:set>
                                      <p:cBhvr>
                                        <p:cTn id="68" dur="1" fill="hold">
                                          <p:stCondLst>
                                            <p:cond delay="0"/>
                                          </p:stCondLst>
                                        </p:cTn>
                                        <p:tgtEl>
                                          <p:spTgt spid="83999"/>
                                        </p:tgtEl>
                                        <p:attrNameLst>
                                          <p:attrName>style.visibility</p:attrName>
                                        </p:attrNameLst>
                                      </p:cBhvr>
                                      <p:to>
                                        <p:strVal val="visible"/>
                                      </p:to>
                                    </p:set>
                                    <p:animEffect transition="in" filter="blinds(horizontal)">
                                      <p:cBhvr>
                                        <p:cTn id="69" dur="500"/>
                                        <p:tgtEl>
                                          <p:spTgt spid="83999"/>
                                        </p:tgtEl>
                                      </p:cBhvr>
                                    </p:animEffect>
                                  </p:childTnLst>
                                </p:cTn>
                              </p:par>
                            </p:childTnLst>
                          </p:cTn>
                        </p:par>
                      </p:childTnLst>
                    </p:cTn>
                  </p:par>
                  <p:par>
                    <p:cTn id="70" fill="hold">
                      <p:stCondLst>
                        <p:cond delay="indefinite"/>
                      </p:stCondLst>
                      <p:childTnLst>
                        <p:par>
                          <p:cTn id="71" fill="hold">
                            <p:stCondLst>
                              <p:cond delay="0"/>
                            </p:stCondLst>
                            <p:childTnLst>
                              <p:par>
                                <p:cTn id="72" presetID="35" presetClass="emph" presetSubtype="0" fill="hold" grpId="0" nodeType="clickEffect">
                                  <p:stCondLst>
                                    <p:cond delay="0"/>
                                  </p:stCondLst>
                                  <p:childTnLst>
                                    <p:anim calcmode="discrete" valueType="str">
                                      <p:cBhvr>
                                        <p:cTn id="73" dur="1000" fill="hold"/>
                                        <p:tgtEl>
                                          <p:spTgt spid="83974"/>
                                        </p:tgtEl>
                                        <p:attrNameLst>
                                          <p:attrName>style.visibility</p:attrName>
                                        </p:attrNameLst>
                                      </p:cBhvr>
                                      <p:tavLst>
                                        <p:tav tm="0">
                                          <p:val>
                                            <p:strVal val="hidden"/>
                                          </p:val>
                                        </p:tav>
                                        <p:tav tm="50000">
                                          <p:val>
                                            <p:strVal val="visible"/>
                                          </p:val>
                                        </p:tav>
                                      </p:tavLst>
                                    </p:anim>
                                  </p:childTnLst>
                                  <p:subTnLst>
                                    <p:audio>
                                      <p:cMediaNode>
                                        <p:cTn display="0" masterRel="sameClick">
                                          <p:stCondLst>
                                            <p:cond evt="begin" delay="0">
                                              <p:tn val="72"/>
                                            </p:cond>
                                          </p:stCondLst>
                                          <p:endCondLst>
                                            <p:cond evt="onStopAudio" delay="0">
                                              <p:tgtEl>
                                                <p:sldTgt/>
                                              </p:tgtEl>
                                            </p:cond>
                                          </p:endCondLst>
                                        </p:cTn>
                                        <p:tgtEl>
                                          <p:sndTgt r:embed="rId3" name="bomb.wav"/>
                                        </p:tgtEl>
                                      </p:cMediaNode>
                                    </p:audio>
                                  </p:subTnLst>
                                </p:cTn>
                              </p:par>
                              <p:par>
                                <p:cTn id="74" presetID="35" presetClass="emph" presetSubtype="0" fill="hold" grpId="1" nodeType="withEffect">
                                  <p:stCondLst>
                                    <p:cond delay="0"/>
                                  </p:stCondLst>
                                  <p:childTnLst>
                                    <p:anim calcmode="discrete" valueType="str">
                                      <p:cBhvr>
                                        <p:cTn id="75" dur="1000" fill="hold"/>
                                        <p:tgtEl>
                                          <p:spTgt spid="83972"/>
                                        </p:tgtEl>
                                        <p:attrNameLst>
                                          <p:attrName>style.visibility</p:attrName>
                                        </p:attrNameLst>
                                      </p:cBhvr>
                                      <p:tavLst>
                                        <p:tav tm="0">
                                          <p:val>
                                            <p:strVal val="hidden"/>
                                          </p:val>
                                        </p:tav>
                                        <p:tav tm="50000">
                                          <p:val>
                                            <p:strVal val="visible"/>
                                          </p:val>
                                        </p:tav>
                                      </p:tavLst>
                                    </p:anim>
                                  </p:childTnLst>
                                </p:cTn>
                              </p:par>
                              <p:par>
                                <p:cTn id="76" presetID="35" presetClass="emph" presetSubtype="0" fill="hold" nodeType="withEffect">
                                  <p:stCondLst>
                                    <p:cond delay="0"/>
                                  </p:stCondLst>
                                  <p:childTnLst>
                                    <p:anim calcmode="discrete" valueType="str">
                                      <p:cBhvr>
                                        <p:cTn id="77" dur="1000" fill="hold"/>
                                        <p:tgtEl>
                                          <p:spTgt spid="83981"/>
                                        </p:tgtEl>
                                        <p:attrNameLst>
                                          <p:attrName>style.visibility</p:attrName>
                                        </p:attrNameLst>
                                      </p:cBhvr>
                                      <p:tavLst>
                                        <p:tav tm="0">
                                          <p:val>
                                            <p:strVal val="hidden"/>
                                          </p:val>
                                        </p:tav>
                                        <p:tav tm="50000">
                                          <p:val>
                                            <p:strVal val="visible"/>
                                          </p:val>
                                        </p:tav>
                                      </p:tavLst>
                                    </p:anim>
                                  </p:childTnLst>
                                </p:cTn>
                              </p:par>
                            </p:childTnLst>
                          </p:cTn>
                        </p:par>
                      </p:childTnLst>
                    </p:cTn>
                  </p:par>
                  <p:par>
                    <p:cTn id="78" fill="hold">
                      <p:stCondLst>
                        <p:cond delay="indefinite"/>
                      </p:stCondLst>
                      <p:childTnLst>
                        <p:par>
                          <p:cTn id="79" fill="hold">
                            <p:stCondLst>
                              <p:cond delay="0"/>
                            </p:stCondLst>
                            <p:childTnLst>
                              <p:par>
                                <p:cTn id="80" presetID="1" presetClass="emph" presetSubtype="2" fill="hold" nodeType="clickEffect">
                                  <p:stCondLst>
                                    <p:cond delay="0"/>
                                  </p:stCondLst>
                                  <p:childTnLst>
                                    <p:animClr clrSpc="rgb" dir="cw">
                                      <p:cBhvr>
                                        <p:cTn id="81" dur="2000" fill="hold"/>
                                        <p:tgtEl>
                                          <p:spTgt spid="83999"/>
                                        </p:tgtEl>
                                        <p:attrNameLst>
                                          <p:attrName>fillcolor</p:attrName>
                                        </p:attrNameLst>
                                      </p:cBhvr>
                                      <p:to>
                                        <a:srgbClr val="FF0000"/>
                                      </p:to>
                                    </p:animClr>
                                    <p:set>
                                      <p:cBhvr>
                                        <p:cTn id="82" dur="2000" fill="hold"/>
                                        <p:tgtEl>
                                          <p:spTgt spid="83999"/>
                                        </p:tgtEl>
                                        <p:attrNameLst>
                                          <p:attrName>fill.type</p:attrName>
                                        </p:attrNameLst>
                                      </p:cBhvr>
                                      <p:to>
                                        <p:strVal val="solid"/>
                                      </p:to>
                                    </p:set>
                                    <p:set>
                                      <p:cBhvr>
                                        <p:cTn id="83" dur="2000" fill="hold"/>
                                        <p:tgtEl>
                                          <p:spTgt spid="83999"/>
                                        </p:tgtEl>
                                        <p:attrNameLst>
                                          <p:attrName>fill.on</p:attrName>
                                        </p:attrNameLst>
                                      </p:cBhvr>
                                      <p:to>
                                        <p:strVal val="true"/>
                                      </p:to>
                                    </p:se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84000"/>
                                        </p:tgtEl>
                                        <p:attrNameLst>
                                          <p:attrName>style.visibility</p:attrName>
                                        </p:attrNameLst>
                                      </p:cBhvr>
                                      <p:to>
                                        <p:strVal val="visible"/>
                                      </p:to>
                                    </p:set>
                                    <p:animEffect transition="in" filter="wipe(up)">
                                      <p:cBhvr>
                                        <p:cTn id="88" dur="500"/>
                                        <p:tgtEl>
                                          <p:spTgt spid="84000"/>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84001"/>
                                        </p:tgtEl>
                                        <p:attrNameLst>
                                          <p:attrName>style.visibility</p:attrName>
                                        </p:attrNameLst>
                                      </p:cBhvr>
                                      <p:to>
                                        <p:strVal val="visible"/>
                                      </p:to>
                                    </p:set>
                                    <p:animEffect transition="in" filter="blinds(horizontal)">
                                      <p:cBhvr>
                                        <p:cTn id="91" dur="500"/>
                                        <p:tgtEl>
                                          <p:spTgt spid="84001"/>
                                        </p:tgtEl>
                                      </p:cBhvr>
                                    </p:animEffect>
                                  </p:childTnLst>
                                </p:cTn>
                              </p:par>
                            </p:childTnLst>
                          </p:cTn>
                        </p:par>
                        <p:par>
                          <p:cTn id="92" fill="hold">
                            <p:stCondLst>
                              <p:cond delay="500"/>
                            </p:stCondLst>
                            <p:childTnLst>
                              <p:par>
                                <p:cTn id="93" presetID="3" presetClass="entr" presetSubtype="10" fill="hold" grpId="0" nodeType="afterEffect">
                                  <p:stCondLst>
                                    <p:cond delay="0"/>
                                  </p:stCondLst>
                                  <p:childTnLst>
                                    <p:set>
                                      <p:cBhvr>
                                        <p:cTn id="94" dur="1" fill="hold">
                                          <p:stCondLst>
                                            <p:cond delay="0"/>
                                          </p:stCondLst>
                                        </p:cTn>
                                        <p:tgtEl>
                                          <p:spTgt spid="84002"/>
                                        </p:tgtEl>
                                        <p:attrNameLst>
                                          <p:attrName>style.visibility</p:attrName>
                                        </p:attrNameLst>
                                      </p:cBhvr>
                                      <p:to>
                                        <p:strVal val="visible"/>
                                      </p:to>
                                    </p:set>
                                    <p:animEffect transition="in" filter="blinds(horizontal)">
                                      <p:cBhvr>
                                        <p:cTn id="95" dur="500"/>
                                        <p:tgtEl>
                                          <p:spTgt spid="84002"/>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nodeType="clickEffect">
                                  <p:stCondLst>
                                    <p:cond delay="0"/>
                                  </p:stCondLst>
                                  <p:childTnLst>
                                    <p:set>
                                      <p:cBhvr>
                                        <p:cTn id="99" dur="1" fill="hold">
                                          <p:stCondLst>
                                            <p:cond delay="0"/>
                                          </p:stCondLst>
                                        </p:cTn>
                                        <p:tgtEl>
                                          <p:spTgt spid="84003"/>
                                        </p:tgtEl>
                                        <p:attrNameLst>
                                          <p:attrName>style.visibility</p:attrName>
                                        </p:attrNameLst>
                                      </p:cBhvr>
                                      <p:to>
                                        <p:strVal val="visible"/>
                                      </p:to>
                                    </p:set>
                                    <p:animEffect transition="in" filter="wipe(up)">
                                      <p:cBhvr>
                                        <p:cTn id="100" dur="500"/>
                                        <p:tgtEl>
                                          <p:spTgt spid="84003"/>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84004"/>
                                        </p:tgtEl>
                                        <p:attrNameLst>
                                          <p:attrName>style.visibility</p:attrName>
                                        </p:attrNameLst>
                                      </p:cBhvr>
                                      <p:to>
                                        <p:strVal val="visible"/>
                                      </p:to>
                                    </p:set>
                                    <p:animEffect transition="in" filter="blinds(horizontal)">
                                      <p:cBhvr>
                                        <p:cTn id="103" dur="500"/>
                                        <p:tgtEl>
                                          <p:spTgt spid="84004"/>
                                        </p:tgtEl>
                                      </p:cBhvr>
                                    </p:animEffect>
                                  </p:childTnLst>
                                </p:cTn>
                              </p:par>
                            </p:childTnLst>
                          </p:cTn>
                        </p:par>
                        <p:par>
                          <p:cTn id="104" fill="hold">
                            <p:stCondLst>
                              <p:cond delay="500"/>
                            </p:stCondLst>
                            <p:childTnLst>
                              <p:par>
                                <p:cTn id="105" presetID="3" presetClass="entr" presetSubtype="10" fill="hold" grpId="0" nodeType="afterEffect">
                                  <p:stCondLst>
                                    <p:cond delay="0"/>
                                  </p:stCondLst>
                                  <p:childTnLst>
                                    <p:set>
                                      <p:cBhvr>
                                        <p:cTn id="106" dur="1" fill="hold">
                                          <p:stCondLst>
                                            <p:cond delay="0"/>
                                          </p:stCondLst>
                                        </p:cTn>
                                        <p:tgtEl>
                                          <p:spTgt spid="84005"/>
                                        </p:tgtEl>
                                        <p:attrNameLst>
                                          <p:attrName>style.visibility</p:attrName>
                                        </p:attrNameLst>
                                      </p:cBhvr>
                                      <p:to>
                                        <p:strVal val="visible"/>
                                      </p:to>
                                    </p:set>
                                    <p:animEffect transition="in" filter="blinds(horizontal)">
                                      <p:cBhvr>
                                        <p:cTn id="107" dur="500"/>
                                        <p:tgtEl>
                                          <p:spTgt spid="84005"/>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nodeType="clickEffect">
                                  <p:stCondLst>
                                    <p:cond delay="0"/>
                                  </p:stCondLst>
                                  <p:childTnLst>
                                    <p:set>
                                      <p:cBhvr>
                                        <p:cTn id="111" dur="1" fill="hold">
                                          <p:stCondLst>
                                            <p:cond delay="0"/>
                                          </p:stCondLst>
                                        </p:cTn>
                                        <p:tgtEl>
                                          <p:spTgt spid="84006"/>
                                        </p:tgtEl>
                                        <p:attrNameLst>
                                          <p:attrName>style.visibility</p:attrName>
                                        </p:attrNameLst>
                                      </p:cBhvr>
                                      <p:to>
                                        <p:strVal val="visible"/>
                                      </p:to>
                                    </p:set>
                                    <p:animEffect transition="in" filter="wipe(up)">
                                      <p:cBhvr>
                                        <p:cTn id="112" dur="500"/>
                                        <p:tgtEl>
                                          <p:spTgt spid="84006"/>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84007"/>
                                        </p:tgtEl>
                                        <p:attrNameLst>
                                          <p:attrName>style.visibility</p:attrName>
                                        </p:attrNameLst>
                                      </p:cBhvr>
                                      <p:to>
                                        <p:strVal val="visible"/>
                                      </p:to>
                                    </p:set>
                                    <p:animEffect transition="in" filter="blinds(horizontal)">
                                      <p:cBhvr>
                                        <p:cTn id="115" dur="500"/>
                                        <p:tgtEl>
                                          <p:spTgt spid="84007"/>
                                        </p:tgtEl>
                                      </p:cBhvr>
                                    </p:animEffect>
                                  </p:childTnLst>
                                </p:cTn>
                              </p:par>
                            </p:childTnLst>
                          </p:cTn>
                        </p:par>
                        <p:par>
                          <p:cTn id="116" fill="hold">
                            <p:stCondLst>
                              <p:cond delay="500"/>
                            </p:stCondLst>
                            <p:childTnLst>
                              <p:par>
                                <p:cTn id="117" presetID="3" presetClass="entr" presetSubtype="10" fill="hold" grpId="0" nodeType="afterEffect">
                                  <p:stCondLst>
                                    <p:cond delay="0"/>
                                  </p:stCondLst>
                                  <p:childTnLst>
                                    <p:set>
                                      <p:cBhvr>
                                        <p:cTn id="118" dur="1" fill="hold">
                                          <p:stCondLst>
                                            <p:cond delay="0"/>
                                          </p:stCondLst>
                                        </p:cTn>
                                        <p:tgtEl>
                                          <p:spTgt spid="84008"/>
                                        </p:tgtEl>
                                        <p:attrNameLst>
                                          <p:attrName>style.visibility</p:attrName>
                                        </p:attrNameLst>
                                      </p:cBhvr>
                                      <p:to>
                                        <p:strVal val="visible"/>
                                      </p:to>
                                    </p:set>
                                    <p:animEffect transition="in" filter="blinds(horizontal)">
                                      <p:cBhvr>
                                        <p:cTn id="119" dur="500"/>
                                        <p:tgtEl>
                                          <p:spTgt spid="84008"/>
                                        </p:tgtEl>
                                      </p:cBhvr>
                                    </p:animEffect>
                                  </p:childTnLst>
                                </p:cTn>
                              </p:par>
                            </p:childTnLst>
                          </p:cTn>
                        </p:par>
                      </p:childTnLst>
                    </p:cTn>
                  </p:par>
                  <p:par>
                    <p:cTn id="120" fill="hold">
                      <p:stCondLst>
                        <p:cond delay="indefinite"/>
                      </p:stCondLst>
                      <p:childTnLst>
                        <p:par>
                          <p:cTn id="121" fill="hold">
                            <p:stCondLst>
                              <p:cond delay="0"/>
                            </p:stCondLst>
                            <p:childTnLst>
                              <p:par>
                                <p:cTn id="122" presetID="35" presetClass="emph" presetSubtype="0" fill="hold" nodeType="clickEffect">
                                  <p:stCondLst>
                                    <p:cond delay="0"/>
                                  </p:stCondLst>
                                  <p:childTnLst>
                                    <p:anim calcmode="discrete" valueType="str">
                                      <p:cBhvr>
                                        <p:cTn id="123" dur="1000" fill="hold"/>
                                        <p:tgtEl>
                                          <p:spTgt spid="83979"/>
                                        </p:tgtEl>
                                        <p:attrNameLst>
                                          <p:attrName>style.visibility</p:attrName>
                                        </p:attrNameLst>
                                      </p:cBhvr>
                                      <p:tavLst>
                                        <p:tav tm="0">
                                          <p:val>
                                            <p:strVal val="hidden"/>
                                          </p:val>
                                        </p:tav>
                                        <p:tav tm="50000">
                                          <p:val>
                                            <p:strVal val="visible"/>
                                          </p:val>
                                        </p:tav>
                                      </p:tavLst>
                                    </p:anim>
                                  </p:childTnLst>
                                  <p:subTnLst>
                                    <p:audio>
                                      <p:cMediaNode>
                                        <p:cTn display="0" masterRel="sameClick">
                                          <p:stCondLst>
                                            <p:cond evt="begin" delay="0">
                                              <p:tn val="122"/>
                                            </p:cond>
                                          </p:stCondLst>
                                          <p:endCondLst>
                                            <p:cond evt="onStopAudio" delay="0">
                                              <p:tgtEl>
                                                <p:sldTgt/>
                                              </p:tgtEl>
                                            </p:cond>
                                          </p:endCondLst>
                                        </p:cTn>
                                        <p:tgtEl>
                                          <p:sndTgt r:embed="rId3" name="bomb.wav"/>
                                        </p:tgtEl>
                                      </p:cMediaNode>
                                    </p:audio>
                                  </p:subTnLst>
                                </p:cTn>
                              </p:par>
                              <p:par>
                                <p:cTn id="124" presetID="35" presetClass="emph" presetSubtype="0" fill="hold" grpId="0" nodeType="withEffect">
                                  <p:stCondLst>
                                    <p:cond delay="0"/>
                                  </p:stCondLst>
                                  <p:childTnLst>
                                    <p:anim calcmode="discrete" valueType="str">
                                      <p:cBhvr>
                                        <p:cTn id="125" dur="1000" fill="hold"/>
                                        <p:tgtEl>
                                          <p:spTgt spid="83975"/>
                                        </p:tgtEl>
                                        <p:attrNameLst>
                                          <p:attrName>style.visibility</p:attrName>
                                        </p:attrNameLst>
                                      </p:cBhvr>
                                      <p:tavLst>
                                        <p:tav tm="0">
                                          <p:val>
                                            <p:strVal val="hidden"/>
                                          </p:val>
                                        </p:tav>
                                        <p:tav tm="50000">
                                          <p:val>
                                            <p:strVal val="visible"/>
                                          </p:val>
                                        </p:tav>
                                      </p:tavLst>
                                    </p:anim>
                                  </p:childTnLst>
                                </p:cTn>
                              </p:par>
                              <p:par>
                                <p:cTn id="126" presetID="35" presetClass="emph" presetSubtype="0" fill="hold" grpId="0" nodeType="withEffect">
                                  <p:stCondLst>
                                    <p:cond delay="0"/>
                                  </p:stCondLst>
                                  <p:childTnLst>
                                    <p:anim calcmode="discrete" valueType="str">
                                      <p:cBhvr>
                                        <p:cTn id="127" dur="1000" fill="hold"/>
                                        <p:tgtEl>
                                          <p:spTgt spid="83976"/>
                                        </p:tgtEl>
                                        <p:attrNameLst>
                                          <p:attrName>style.visibility</p:attrName>
                                        </p:attrNameLst>
                                      </p:cBhvr>
                                      <p:tavLst>
                                        <p:tav tm="0">
                                          <p:val>
                                            <p:strVal val="hidden"/>
                                          </p:val>
                                        </p:tav>
                                        <p:tav tm="50000">
                                          <p:val>
                                            <p:strVal val="visible"/>
                                          </p:val>
                                        </p:tav>
                                      </p:tavLst>
                                    </p:anim>
                                  </p:childTnLst>
                                </p:cTn>
                              </p:par>
                            </p:childTnLst>
                          </p:cTn>
                        </p:par>
                      </p:childTnLst>
                    </p:cTn>
                  </p:par>
                  <p:par>
                    <p:cTn id="128" fill="hold">
                      <p:stCondLst>
                        <p:cond delay="indefinite"/>
                      </p:stCondLst>
                      <p:childTnLst>
                        <p:par>
                          <p:cTn id="129" fill="hold">
                            <p:stCondLst>
                              <p:cond delay="0"/>
                            </p:stCondLst>
                            <p:childTnLst>
                              <p:par>
                                <p:cTn id="130" presetID="1" presetClass="emph" presetSubtype="2" fill="hold" nodeType="clickEffect">
                                  <p:stCondLst>
                                    <p:cond delay="0"/>
                                  </p:stCondLst>
                                  <p:childTnLst>
                                    <p:animClr clrSpc="rgb" dir="cw">
                                      <p:cBhvr>
                                        <p:cTn id="131" dur="2000" fill="hold"/>
                                        <p:tgtEl>
                                          <p:spTgt spid="84008"/>
                                        </p:tgtEl>
                                        <p:attrNameLst>
                                          <p:attrName>fillcolor</p:attrName>
                                        </p:attrNameLst>
                                      </p:cBhvr>
                                      <p:to>
                                        <a:srgbClr val="FF0000"/>
                                      </p:to>
                                    </p:animClr>
                                    <p:set>
                                      <p:cBhvr>
                                        <p:cTn id="132" dur="2000" fill="hold"/>
                                        <p:tgtEl>
                                          <p:spTgt spid="84008"/>
                                        </p:tgtEl>
                                        <p:attrNameLst>
                                          <p:attrName>fill.type</p:attrName>
                                        </p:attrNameLst>
                                      </p:cBhvr>
                                      <p:to>
                                        <p:strVal val="solid"/>
                                      </p:to>
                                    </p:set>
                                    <p:set>
                                      <p:cBhvr>
                                        <p:cTn id="133" dur="2000" fill="hold"/>
                                        <p:tgtEl>
                                          <p:spTgt spid="84008"/>
                                        </p:tgtEl>
                                        <p:attrNameLst>
                                          <p:attrName>fill.on</p:attrName>
                                        </p:attrNameLst>
                                      </p:cBhvr>
                                      <p:to>
                                        <p:strVal val="true"/>
                                      </p:to>
                                    </p:set>
                                  </p:childTnLst>
                                </p:cTn>
                              </p:par>
                            </p:childTnLst>
                          </p:cTn>
                        </p:par>
                      </p:childTnLst>
                    </p:cTn>
                  </p:par>
                  <p:par>
                    <p:cTn id="134" fill="hold">
                      <p:stCondLst>
                        <p:cond delay="indefinite"/>
                      </p:stCondLst>
                      <p:childTnLst>
                        <p:par>
                          <p:cTn id="135" fill="hold">
                            <p:stCondLst>
                              <p:cond delay="0"/>
                            </p:stCondLst>
                            <p:childTnLst>
                              <p:par>
                                <p:cTn id="136" presetID="22" presetClass="entr" presetSubtype="1" fill="hold" nodeType="clickEffect">
                                  <p:stCondLst>
                                    <p:cond delay="0"/>
                                  </p:stCondLst>
                                  <p:childTnLst>
                                    <p:set>
                                      <p:cBhvr>
                                        <p:cTn id="137" dur="1" fill="hold">
                                          <p:stCondLst>
                                            <p:cond delay="0"/>
                                          </p:stCondLst>
                                        </p:cTn>
                                        <p:tgtEl>
                                          <p:spTgt spid="84009"/>
                                        </p:tgtEl>
                                        <p:attrNameLst>
                                          <p:attrName>style.visibility</p:attrName>
                                        </p:attrNameLst>
                                      </p:cBhvr>
                                      <p:to>
                                        <p:strVal val="visible"/>
                                      </p:to>
                                    </p:set>
                                    <p:animEffect transition="in" filter="wipe(up)">
                                      <p:cBhvr>
                                        <p:cTn id="138" dur="500"/>
                                        <p:tgtEl>
                                          <p:spTgt spid="84009"/>
                                        </p:tgtEl>
                                      </p:cBhvr>
                                    </p:animEffect>
                                  </p:childTnLst>
                                </p:cTn>
                              </p:par>
                              <p:par>
                                <p:cTn id="139" presetID="3" presetClass="entr" presetSubtype="10" fill="hold" grpId="0" nodeType="withEffect">
                                  <p:stCondLst>
                                    <p:cond delay="0"/>
                                  </p:stCondLst>
                                  <p:childTnLst>
                                    <p:set>
                                      <p:cBhvr>
                                        <p:cTn id="140" dur="1" fill="hold">
                                          <p:stCondLst>
                                            <p:cond delay="0"/>
                                          </p:stCondLst>
                                        </p:cTn>
                                        <p:tgtEl>
                                          <p:spTgt spid="84010"/>
                                        </p:tgtEl>
                                        <p:attrNameLst>
                                          <p:attrName>style.visibility</p:attrName>
                                        </p:attrNameLst>
                                      </p:cBhvr>
                                      <p:to>
                                        <p:strVal val="visible"/>
                                      </p:to>
                                    </p:set>
                                    <p:animEffect transition="in" filter="blinds(horizontal)">
                                      <p:cBhvr>
                                        <p:cTn id="141" dur="500"/>
                                        <p:tgtEl>
                                          <p:spTgt spid="84010"/>
                                        </p:tgtEl>
                                      </p:cBhvr>
                                    </p:animEffect>
                                  </p:childTnLst>
                                </p:cTn>
                              </p:par>
                            </p:childTnLst>
                          </p:cTn>
                        </p:par>
                        <p:par>
                          <p:cTn id="142" fill="hold">
                            <p:stCondLst>
                              <p:cond delay="500"/>
                            </p:stCondLst>
                            <p:childTnLst>
                              <p:par>
                                <p:cTn id="143" presetID="3" presetClass="entr" presetSubtype="10" fill="hold" grpId="0" nodeType="afterEffect">
                                  <p:stCondLst>
                                    <p:cond delay="0"/>
                                  </p:stCondLst>
                                  <p:childTnLst>
                                    <p:set>
                                      <p:cBhvr>
                                        <p:cTn id="144" dur="1" fill="hold">
                                          <p:stCondLst>
                                            <p:cond delay="0"/>
                                          </p:stCondLst>
                                        </p:cTn>
                                        <p:tgtEl>
                                          <p:spTgt spid="84011"/>
                                        </p:tgtEl>
                                        <p:attrNameLst>
                                          <p:attrName>style.visibility</p:attrName>
                                        </p:attrNameLst>
                                      </p:cBhvr>
                                      <p:to>
                                        <p:strVal val="visible"/>
                                      </p:to>
                                    </p:set>
                                    <p:animEffect transition="in" filter="blinds(horizontal)">
                                      <p:cBhvr>
                                        <p:cTn id="145" dur="500"/>
                                        <p:tgtEl>
                                          <p:spTgt spid="84011"/>
                                        </p:tgtEl>
                                      </p:cBhvr>
                                    </p:animEffect>
                                  </p:childTnLst>
                                </p:cTn>
                              </p:par>
                            </p:childTnLst>
                          </p:cTn>
                        </p:par>
                      </p:childTnLst>
                    </p:cTn>
                  </p:par>
                  <p:par>
                    <p:cTn id="146" fill="hold">
                      <p:stCondLst>
                        <p:cond delay="indefinite"/>
                      </p:stCondLst>
                      <p:childTnLst>
                        <p:par>
                          <p:cTn id="147" fill="hold">
                            <p:stCondLst>
                              <p:cond delay="0"/>
                            </p:stCondLst>
                            <p:childTnLst>
                              <p:par>
                                <p:cTn id="148" presetID="35" presetClass="emph" presetSubtype="0" fill="hold" grpId="1" nodeType="clickEffect">
                                  <p:stCondLst>
                                    <p:cond delay="0"/>
                                  </p:stCondLst>
                                  <p:childTnLst>
                                    <p:anim calcmode="discrete" valueType="str">
                                      <p:cBhvr>
                                        <p:cTn id="149" dur="1000" fill="hold"/>
                                        <p:tgtEl>
                                          <p:spTgt spid="83976"/>
                                        </p:tgtEl>
                                        <p:attrNameLst>
                                          <p:attrName>style.visibility</p:attrName>
                                        </p:attrNameLst>
                                      </p:cBhvr>
                                      <p:tavLst>
                                        <p:tav tm="0">
                                          <p:val>
                                            <p:strVal val="hidden"/>
                                          </p:val>
                                        </p:tav>
                                        <p:tav tm="50000">
                                          <p:val>
                                            <p:strVal val="visible"/>
                                          </p:val>
                                        </p:tav>
                                      </p:tavLst>
                                    </p:anim>
                                  </p:childTnLst>
                                  <p:subTnLst>
                                    <p:audio>
                                      <p:cMediaNode>
                                        <p:cTn display="0" masterRel="sameClick">
                                          <p:stCondLst>
                                            <p:cond evt="begin" delay="0">
                                              <p:tn val="148"/>
                                            </p:cond>
                                          </p:stCondLst>
                                          <p:endCondLst>
                                            <p:cond evt="onStopAudio" delay="0">
                                              <p:tgtEl>
                                                <p:sldTgt/>
                                              </p:tgtEl>
                                            </p:cond>
                                          </p:endCondLst>
                                        </p:cTn>
                                        <p:tgtEl>
                                          <p:sndTgt r:embed="rId3" name="bomb.wav"/>
                                        </p:tgtEl>
                                      </p:cMediaNode>
                                    </p:audio>
                                  </p:subTnLst>
                                </p:cTn>
                              </p:par>
                              <p:par>
                                <p:cTn id="150" presetID="35" presetClass="emph" presetSubtype="0" fill="hold" grpId="1" nodeType="withEffect">
                                  <p:stCondLst>
                                    <p:cond delay="0"/>
                                  </p:stCondLst>
                                  <p:childTnLst>
                                    <p:anim calcmode="discrete" valueType="str">
                                      <p:cBhvr>
                                        <p:cTn id="151" dur="1000" fill="hold"/>
                                        <p:tgtEl>
                                          <p:spTgt spid="83974"/>
                                        </p:tgtEl>
                                        <p:attrNameLst>
                                          <p:attrName>style.visibility</p:attrName>
                                        </p:attrNameLst>
                                      </p:cBhvr>
                                      <p:tavLst>
                                        <p:tav tm="0">
                                          <p:val>
                                            <p:strVal val="hidden"/>
                                          </p:val>
                                        </p:tav>
                                        <p:tav tm="50000">
                                          <p:val>
                                            <p:strVal val="visible"/>
                                          </p:val>
                                        </p:tav>
                                      </p:tavLst>
                                    </p:anim>
                                  </p:childTnLst>
                                </p:cTn>
                              </p:par>
                              <p:par>
                                <p:cTn id="152" presetID="35" presetClass="emph" presetSubtype="0" fill="hold" nodeType="withEffect">
                                  <p:stCondLst>
                                    <p:cond delay="0"/>
                                  </p:stCondLst>
                                  <p:childTnLst>
                                    <p:anim calcmode="discrete" valueType="str">
                                      <p:cBhvr>
                                        <p:cTn id="153" dur="1000" fill="hold"/>
                                        <p:tgtEl>
                                          <p:spTgt spid="83980"/>
                                        </p:tgtEl>
                                        <p:attrNameLst>
                                          <p:attrName>style.visibility</p:attrName>
                                        </p:attrNameLst>
                                      </p:cBhvr>
                                      <p:tavLst>
                                        <p:tav tm="0">
                                          <p:val>
                                            <p:strVal val="hidden"/>
                                          </p:val>
                                        </p:tav>
                                        <p:tav tm="50000">
                                          <p:val>
                                            <p:strVal val="visible"/>
                                          </p:val>
                                        </p:tav>
                                      </p:tavLst>
                                    </p:anim>
                                  </p:childTnLst>
                                </p:cTn>
                              </p:par>
                              <p:par>
                                <p:cTn id="154" presetID="35" presetClass="emph" presetSubtype="0" fill="hold" nodeType="withEffect">
                                  <p:stCondLst>
                                    <p:cond delay="0"/>
                                  </p:stCondLst>
                                  <p:childTnLst>
                                    <p:anim calcmode="discrete" valueType="str">
                                      <p:cBhvr>
                                        <p:cTn id="155" dur="1000" fill="hold"/>
                                        <p:tgtEl>
                                          <p:spTgt spid="83983"/>
                                        </p:tgtEl>
                                        <p:attrNameLst>
                                          <p:attrName>style.visibility</p:attrName>
                                        </p:attrNameLst>
                                      </p:cBhvr>
                                      <p:tavLst>
                                        <p:tav tm="0">
                                          <p:val>
                                            <p:strVal val="hidden"/>
                                          </p:val>
                                        </p:tav>
                                        <p:tav tm="50000">
                                          <p:val>
                                            <p:strVal val="visible"/>
                                          </p:val>
                                        </p:tav>
                                      </p:tavLst>
                                    </p:anim>
                                  </p:childTnLst>
                                </p:cTn>
                              </p:par>
                              <p:par>
                                <p:cTn id="156" presetID="35" presetClass="emph" presetSubtype="0" fill="hold" grpId="1" nodeType="withEffect">
                                  <p:stCondLst>
                                    <p:cond delay="0"/>
                                  </p:stCondLst>
                                  <p:childTnLst>
                                    <p:anim calcmode="discrete" valueType="str">
                                      <p:cBhvr>
                                        <p:cTn id="157" dur="1000" fill="hold"/>
                                        <p:tgtEl>
                                          <p:spTgt spid="83973"/>
                                        </p:tgtEl>
                                        <p:attrNameLst>
                                          <p:attrName>style.visibility</p:attrName>
                                        </p:attrNameLst>
                                      </p:cBhvr>
                                      <p:tavLst>
                                        <p:tav tm="0">
                                          <p:val>
                                            <p:strVal val="hidden"/>
                                          </p:val>
                                        </p:tav>
                                        <p:tav tm="50000">
                                          <p:val>
                                            <p:strVal val="visible"/>
                                          </p:val>
                                        </p:tav>
                                      </p:tavLst>
                                    </p:anim>
                                  </p:childTnLst>
                                </p:cTn>
                              </p:par>
                            </p:childTnLst>
                          </p:cTn>
                        </p:par>
                      </p:childTnLst>
                    </p:cTn>
                  </p:par>
                  <p:par>
                    <p:cTn id="158" fill="hold">
                      <p:stCondLst>
                        <p:cond delay="indefinite"/>
                      </p:stCondLst>
                      <p:childTnLst>
                        <p:par>
                          <p:cTn id="159" fill="hold">
                            <p:stCondLst>
                              <p:cond delay="0"/>
                            </p:stCondLst>
                            <p:childTnLst>
                              <p:par>
                                <p:cTn id="160" presetID="1" presetClass="emph" presetSubtype="2" fill="hold" nodeType="clickEffect">
                                  <p:stCondLst>
                                    <p:cond delay="0"/>
                                  </p:stCondLst>
                                  <p:childTnLst>
                                    <p:animClr clrSpc="rgb" dir="cw">
                                      <p:cBhvr>
                                        <p:cTn id="161" dur="2000" fill="hold"/>
                                        <p:tgtEl>
                                          <p:spTgt spid="84011"/>
                                        </p:tgtEl>
                                        <p:attrNameLst>
                                          <p:attrName>fillcolor</p:attrName>
                                        </p:attrNameLst>
                                      </p:cBhvr>
                                      <p:to>
                                        <a:srgbClr val="FF0000"/>
                                      </p:to>
                                    </p:animClr>
                                    <p:set>
                                      <p:cBhvr>
                                        <p:cTn id="162" dur="2000" fill="hold"/>
                                        <p:tgtEl>
                                          <p:spTgt spid="84011"/>
                                        </p:tgtEl>
                                        <p:attrNameLst>
                                          <p:attrName>fill.type</p:attrName>
                                        </p:attrNameLst>
                                      </p:cBhvr>
                                      <p:to>
                                        <p:strVal val="solid"/>
                                      </p:to>
                                    </p:set>
                                    <p:set>
                                      <p:cBhvr>
                                        <p:cTn id="163" dur="2000" fill="hold"/>
                                        <p:tgtEl>
                                          <p:spTgt spid="84011"/>
                                        </p:tgtEl>
                                        <p:attrNameLst>
                                          <p:attrName>fill.on</p:attrName>
                                        </p:attrNameLst>
                                      </p:cBhvr>
                                      <p:to>
                                        <p:strVal val="true"/>
                                      </p:to>
                                    </p:set>
                                  </p:childTnLst>
                                </p:cTn>
                              </p:par>
                            </p:childTnLst>
                          </p:cTn>
                        </p:par>
                      </p:childTnLst>
                    </p:cTn>
                  </p:par>
                  <p:par>
                    <p:cTn id="164" fill="hold">
                      <p:stCondLst>
                        <p:cond delay="indefinite"/>
                      </p:stCondLst>
                      <p:childTnLst>
                        <p:par>
                          <p:cTn id="165" fill="hold">
                            <p:stCondLst>
                              <p:cond delay="0"/>
                            </p:stCondLst>
                            <p:childTnLst>
                              <p:par>
                                <p:cTn id="166" presetID="22" presetClass="entr" presetSubtype="1" fill="hold" nodeType="clickEffect">
                                  <p:stCondLst>
                                    <p:cond delay="0"/>
                                  </p:stCondLst>
                                  <p:childTnLst>
                                    <p:set>
                                      <p:cBhvr>
                                        <p:cTn id="167" dur="1" fill="hold">
                                          <p:stCondLst>
                                            <p:cond delay="0"/>
                                          </p:stCondLst>
                                        </p:cTn>
                                        <p:tgtEl>
                                          <p:spTgt spid="84012"/>
                                        </p:tgtEl>
                                        <p:attrNameLst>
                                          <p:attrName>style.visibility</p:attrName>
                                        </p:attrNameLst>
                                      </p:cBhvr>
                                      <p:to>
                                        <p:strVal val="visible"/>
                                      </p:to>
                                    </p:set>
                                    <p:animEffect transition="in" filter="wipe(up)">
                                      <p:cBhvr>
                                        <p:cTn id="168" dur="500"/>
                                        <p:tgtEl>
                                          <p:spTgt spid="84012"/>
                                        </p:tgtEl>
                                      </p:cBhvr>
                                    </p:animEffect>
                                  </p:childTnLst>
                                </p:cTn>
                              </p:par>
                              <p:par>
                                <p:cTn id="169" presetID="3" presetClass="entr" presetSubtype="10" fill="hold" grpId="0" nodeType="withEffect">
                                  <p:stCondLst>
                                    <p:cond delay="0"/>
                                  </p:stCondLst>
                                  <p:childTnLst>
                                    <p:set>
                                      <p:cBhvr>
                                        <p:cTn id="170" dur="1" fill="hold">
                                          <p:stCondLst>
                                            <p:cond delay="0"/>
                                          </p:stCondLst>
                                        </p:cTn>
                                        <p:tgtEl>
                                          <p:spTgt spid="84013"/>
                                        </p:tgtEl>
                                        <p:attrNameLst>
                                          <p:attrName>style.visibility</p:attrName>
                                        </p:attrNameLst>
                                      </p:cBhvr>
                                      <p:to>
                                        <p:strVal val="visible"/>
                                      </p:to>
                                    </p:set>
                                    <p:animEffect transition="in" filter="blinds(horizontal)">
                                      <p:cBhvr>
                                        <p:cTn id="171" dur="500"/>
                                        <p:tgtEl>
                                          <p:spTgt spid="84013"/>
                                        </p:tgtEl>
                                      </p:cBhvr>
                                    </p:animEffect>
                                  </p:childTnLst>
                                </p:cTn>
                              </p:par>
                            </p:childTnLst>
                          </p:cTn>
                        </p:par>
                        <p:par>
                          <p:cTn id="172" fill="hold">
                            <p:stCondLst>
                              <p:cond delay="500"/>
                            </p:stCondLst>
                            <p:childTnLst>
                              <p:par>
                                <p:cTn id="173" presetID="3" presetClass="entr" presetSubtype="10" fill="hold" grpId="0" nodeType="afterEffect">
                                  <p:stCondLst>
                                    <p:cond delay="0"/>
                                  </p:stCondLst>
                                  <p:childTnLst>
                                    <p:set>
                                      <p:cBhvr>
                                        <p:cTn id="174" dur="1" fill="hold">
                                          <p:stCondLst>
                                            <p:cond delay="0"/>
                                          </p:stCondLst>
                                        </p:cTn>
                                        <p:tgtEl>
                                          <p:spTgt spid="84014"/>
                                        </p:tgtEl>
                                        <p:attrNameLst>
                                          <p:attrName>style.visibility</p:attrName>
                                        </p:attrNameLst>
                                      </p:cBhvr>
                                      <p:to>
                                        <p:strVal val="visible"/>
                                      </p:to>
                                    </p:set>
                                    <p:animEffect transition="in" filter="blinds(horizontal)">
                                      <p:cBhvr>
                                        <p:cTn id="175" dur="500"/>
                                        <p:tgtEl>
                                          <p:spTgt spid="84014"/>
                                        </p:tgtEl>
                                      </p:cBhvr>
                                    </p:animEffect>
                                  </p:childTnLst>
                                </p:cTn>
                              </p:par>
                            </p:childTnLst>
                          </p:cTn>
                        </p:par>
                      </p:childTnLst>
                    </p:cTn>
                  </p:par>
                  <p:par>
                    <p:cTn id="176" fill="hold">
                      <p:stCondLst>
                        <p:cond delay="indefinite"/>
                      </p:stCondLst>
                      <p:childTnLst>
                        <p:par>
                          <p:cTn id="177" fill="hold">
                            <p:stCondLst>
                              <p:cond delay="0"/>
                            </p:stCondLst>
                            <p:childTnLst>
                              <p:par>
                                <p:cTn id="178" presetID="3" presetClass="entr" presetSubtype="10" fill="hold" grpId="0" nodeType="clickEffect">
                                  <p:stCondLst>
                                    <p:cond delay="0"/>
                                  </p:stCondLst>
                                  <p:childTnLst>
                                    <p:set>
                                      <p:cBhvr>
                                        <p:cTn id="179" dur="1" fill="hold">
                                          <p:stCondLst>
                                            <p:cond delay="0"/>
                                          </p:stCondLst>
                                        </p:cTn>
                                        <p:tgtEl>
                                          <p:spTgt spid="84015"/>
                                        </p:tgtEl>
                                        <p:attrNameLst>
                                          <p:attrName>style.visibility</p:attrName>
                                        </p:attrNameLst>
                                      </p:cBhvr>
                                      <p:to>
                                        <p:strVal val="visible"/>
                                      </p:to>
                                    </p:set>
                                    <p:animEffect transition="in" filter="blinds(horizontal)">
                                      <p:cBhvr>
                                        <p:cTn id="180" dur="500"/>
                                        <p:tgtEl>
                                          <p:spTgt spid="84015"/>
                                        </p:tgtEl>
                                      </p:cBhvr>
                                    </p:animEffect>
                                  </p:childTnLst>
                                  <p:subTnLst>
                                    <p:audio>
                                      <p:cMediaNode>
                                        <p:cTn display="0" masterRel="sameClick">
                                          <p:stCondLst>
                                            <p:cond evt="begin" delay="0">
                                              <p:tn val="178"/>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2" grpId="0" animBg="1"/>
      <p:bldP spid="83972" grpId="1" animBg="1"/>
      <p:bldP spid="83973" grpId="0" animBg="1"/>
      <p:bldP spid="83973" grpId="1" animBg="1"/>
      <p:bldP spid="83974" grpId="0" animBg="1"/>
      <p:bldP spid="83974" grpId="1" animBg="1"/>
      <p:bldP spid="83975" grpId="0" animBg="1"/>
      <p:bldP spid="83976" grpId="0" animBg="1"/>
      <p:bldP spid="83976" grpId="1" animBg="1"/>
      <p:bldP spid="83986" grpId="0" animBg="1"/>
      <p:bldP spid="83988" grpId="0"/>
      <p:bldP spid="83989" grpId="0" animBg="1"/>
      <p:bldP spid="83991" grpId="0"/>
      <p:bldP spid="83992" grpId="0" animBg="1"/>
      <p:bldP spid="83995" grpId="0"/>
      <p:bldP spid="83996" grpId="0" animBg="1"/>
      <p:bldP spid="83998" grpId="0"/>
      <p:bldP spid="83999" grpId="0" animBg="1"/>
      <p:bldP spid="84001" grpId="0"/>
      <p:bldP spid="84002" grpId="0" animBg="1"/>
      <p:bldP spid="84004" grpId="0"/>
      <p:bldP spid="84005" grpId="0" animBg="1"/>
      <p:bldP spid="84007" grpId="0"/>
      <p:bldP spid="84008" grpId="0" animBg="1"/>
      <p:bldP spid="84010" grpId="0"/>
      <p:bldP spid="84011" grpId="0" animBg="1"/>
      <p:bldP spid="84013" grpId="0"/>
      <p:bldP spid="84014" grpId="0" animBg="1"/>
      <p:bldP spid="840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22530" name="Rectangle 2"/>
          <p:cNvSpPr>
            <a:spLocks noGrp="1"/>
          </p:cNvSpPr>
          <p:nvPr>
            <p:ph type="title"/>
          </p:nvPr>
        </p:nvSpPr>
        <p:spPr/>
        <p:txBody>
          <a:bodyPr vert="horz" wrap="square" lIns="91440" tIns="45720" rIns="91440" bIns="45720" anchor="ctr" anchorCtr="0"/>
          <a:lstStyle/>
          <a:p>
            <a:pPr eaLnBrk="1" hangingPunct="1"/>
            <a:r>
              <a:rPr lang="en-US" altLang="zh-CN" dirty="0"/>
              <a:t>8.1</a:t>
            </a:r>
            <a:r>
              <a:rPr lang="en-US" altLang="zh-CN" dirty="0">
                <a:sym typeface="华文楷体" panose="02010600040101010101" pitchFamily="2" charset="-122"/>
              </a:rPr>
              <a:t>.1 </a:t>
            </a:r>
            <a:r>
              <a:rPr lang="zh-CN" altLang="en-US" dirty="0">
                <a:sym typeface="华文楷体" panose="02010600040101010101" pitchFamily="2" charset="-122"/>
              </a:rPr>
              <a:t>图着色——算法分析</a:t>
            </a:r>
            <a:endParaRPr lang="en-US" altLang="zh-CN" dirty="0"/>
          </a:p>
        </p:txBody>
      </p:sp>
      <p:sp>
        <p:nvSpPr>
          <p:cNvPr id="12291" name="Rectangle 3"/>
          <p:cNvSpPr>
            <a:spLocks noGrp="1"/>
          </p:cNvSpPr>
          <p:nvPr>
            <p:ph idx="1"/>
          </p:nvPr>
        </p:nvSpPr>
        <p:spPr/>
        <p:txBody>
          <a:bodyPr vert="horz" wrap="square" lIns="91440" tIns="45720" rIns="91440" bIns="45720" anchor="t" anchorCtr="0"/>
          <a:lstStyle/>
          <a:p>
            <a:pPr marL="533400" indent="-533400" eaLnBrk="1" hangingPunct="1">
              <a:lnSpc>
                <a:spcPct val="90000"/>
              </a:lnSpc>
              <a:buFont typeface="Wingdings" panose="05000000000000000000" pitchFamily="2" charset="2"/>
              <a:buAutoNum type="arabicPeriod"/>
            </a:pPr>
            <a:r>
              <a:rPr lang="zh-CN" altLang="en-US" sz="2400" dirty="0"/>
              <a:t>我们仅生成了由</a:t>
            </a:r>
            <a:r>
              <a:rPr lang="en-US" altLang="zh-CN" sz="2400" dirty="0"/>
              <a:t>363</a:t>
            </a:r>
            <a:r>
              <a:rPr lang="zh-CN" altLang="en-US" sz="2400" dirty="0"/>
              <a:t>个节点组成的搜索树中</a:t>
            </a:r>
            <a:r>
              <a:rPr lang="en-US" altLang="zh-CN" sz="2400" dirty="0"/>
              <a:t>9</a:t>
            </a:r>
            <a:r>
              <a:rPr lang="zh-CN" altLang="en-US" sz="2400" dirty="0"/>
              <a:t>个节点后就到达了解。（根节点不算）</a:t>
            </a:r>
            <a:endParaRPr lang="en-US" altLang="zh-CN" sz="2400" dirty="0"/>
          </a:p>
          <a:p>
            <a:pPr marL="0" indent="0" eaLnBrk="1" hangingPunct="1">
              <a:lnSpc>
                <a:spcPct val="90000"/>
              </a:lnSpc>
              <a:buFont typeface="Wingdings" panose="05000000000000000000" pitchFamily="2" charset="2"/>
              <a:buNone/>
            </a:pPr>
            <a:r>
              <a:rPr lang="en-US" altLang="zh-CN" sz="2400" dirty="0"/>
              <a:t>       3+9+27+81+243=363     </a:t>
            </a:r>
          </a:p>
          <a:p>
            <a:pPr marL="533400" indent="-533400" eaLnBrk="1" hangingPunct="1">
              <a:lnSpc>
                <a:spcPct val="90000"/>
              </a:lnSpc>
              <a:buFont typeface="Wingdings" panose="05000000000000000000" pitchFamily="2" charset="2"/>
              <a:buAutoNum type="arabicPeriod"/>
            </a:pPr>
            <a:r>
              <a:rPr lang="zh-CN" altLang="en-US" sz="2400" dirty="0"/>
              <a:t>节点是用</a:t>
            </a:r>
            <a:r>
              <a:rPr lang="zh-CN" altLang="en-US" sz="2400" dirty="0">
                <a:solidFill>
                  <a:srgbClr val="FF0000"/>
                </a:solidFill>
              </a:rPr>
              <a:t>深度优先搜索</a:t>
            </a:r>
            <a:r>
              <a:rPr lang="zh-CN" altLang="en-US" sz="2400" dirty="0"/>
              <a:t>的方法生成的</a:t>
            </a:r>
            <a:r>
              <a:rPr lang="en-US" altLang="zh-CN" sz="2400" dirty="0"/>
              <a:t>; </a:t>
            </a:r>
          </a:p>
          <a:p>
            <a:pPr marL="0" indent="0" eaLnBrk="1" hangingPunct="1">
              <a:lnSpc>
                <a:spcPct val="90000"/>
              </a:lnSpc>
              <a:buFont typeface="Wingdings" panose="05000000000000000000" pitchFamily="2" charset="2"/>
              <a:buNone/>
            </a:pPr>
            <a:endParaRPr lang="en-US" altLang="zh-CN" sz="2400" dirty="0"/>
          </a:p>
          <a:p>
            <a:pPr marL="533400" indent="-533400" eaLnBrk="1" hangingPunct="1">
              <a:lnSpc>
                <a:spcPct val="90000"/>
              </a:lnSpc>
              <a:buFont typeface="Wingdings" panose="05000000000000000000" pitchFamily="2" charset="2"/>
              <a:buAutoNum type="arabicPeriod"/>
            </a:pPr>
            <a:r>
              <a:rPr lang="zh-CN" altLang="en-US" sz="2400" dirty="0"/>
              <a:t>不需要存储整棵搜索树，我们只需要存储根到当前活动节点的路径。事实上，根本没有生成有形的物理节点，整棵树是隐含的。在</a:t>
            </a:r>
            <a:r>
              <a:rPr lang="en-US" altLang="zh-CN" sz="2400" dirty="0"/>
              <a:t>3</a:t>
            </a:r>
            <a:r>
              <a:rPr lang="zh-CN" altLang="en-US" sz="2400" dirty="0"/>
              <a:t>着色的例子中，我们只需要保存颜色指派的踪迹就可以了。</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291">
                                            <p:txEl>
                                              <p:charRg st="0" end="33"/>
                                            </p:txEl>
                                          </p:spTgt>
                                        </p:tgtEl>
                                        <p:attrNameLst>
                                          <p:attrName>style.visibility</p:attrName>
                                        </p:attrNameLst>
                                      </p:cBhvr>
                                      <p:to>
                                        <p:strVal val="visible"/>
                                      </p:to>
                                    </p:set>
                                    <p:anim calcmode="lin" valueType="num">
                                      <p:cBhvr additive="base">
                                        <p:cTn id="7" dur="500" fill="hold"/>
                                        <p:tgtEl>
                                          <p:spTgt spid="12291">
                                            <p:txEl>
                                              <p:charRg st="0" end="3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91">
                                            <p:txEl>
                                              <p:charRg st="0" end="3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291">
                                            <p:txEl>
                                              <p:charRg st="1" end="1"/>
                                            </p:txEl>
                                          </p:spTgt>
                                        </p:tgtEl>
                                        <p:attrNameLst>
                                          <p:attrName>style.visibility</p:attrName>
                                        </p:attrNameLst>
                                      </p:cBhvr>
                                      <p:to>
                                        <p:strVal val="visible"/>
                                      </p:to>
                                    </p:set>
                                    <p:anim calcmode="lin" valueType="num">
                                      <p:cBhvr additive="base">
                                        <p:cTn id="13" dur="500" fill="hold"/>
                                        <p:tgtEl>
                                          <p:spTgt spid="12291">
                                            <p:txEl>
                                              <p:char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91">
                                            <p:txEl>
                                              <p:char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2291">
                                            <p:txEl>
                                              <p:charRg st="34" end="53"/>
                                            </p:txEl>
                                          </p:spTgt>
                                        </p:tgtEl>
                                        <p:attrNameLst>
                                          <p:attrName>style.visibility</p:attrName>
                                        </p:attrNameLst>
                                      </p:cBhvr>
                                      <p:to>
                                        <p:strVal val="visible"/>
                                      </p:to>
                                    </p:set>
                                    <p:anim calcmode="lin" valueType="num">
                                      <p:cBhvr additive="base">
                                        <p:cTn id="19" dur="500" fill="hold"/>
                                        <p:tgtEl>
                                          <p:spTgt spid="12291">
                                            <p:txEl>
                                              <p:charRg st="34" end="5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291">
                                            <p:txEl>
                                              <p:charRg st="34" end="5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2291">
                                            <p:txEl>
                                              <p:charRg st="54" end="138"/>
                                            </p:txEl>
                                          </p:spTgt>
                                        </p:tgtEl>
                                        <p:attrNameLst>
                                          <p:attrName>style.visibility</p:attrName>
                                        </p:attrNameLst>
                                      </p:cBhvr>
                                      <p:to>
                                        <p:strVal val="visible"/>
                                      </p:to>
                                    </p:set>
                                    <p:anim calcmode="lin" valueType="num">
                                      <p:cBhvr additive="base">
                                        <p:cTn id="25" dur="500" fill="hold"/>
                                        <p:tgtEl>
                                          <p:spTgt spid="12291">
                                            <p:txEl>
                                              <p:charRg st="54" end="138"/>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291">
                                            <p:txEl>
                                              <p:charRg st="54" end="13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24578" name="Rectangle 3"/>
          <p:cNvSpPr>
            <a:spLocks noGrp="1"/>
          </p:cNvSpPr>
          <p:nvPr>
            <p:ph idx="1"/>
          </p:nvPr>
        </p:nvSpPr>
        <p:spPr>
          <a:xfrm>
            <a:off x="611188" y="260350"/>
            <a:ext cx="8229600" cy="5976938"/>
          </a:xfrm>
          <a:solidFill>
            <a:schemeClr val="bg1"/>
          </a:solidFill>
          <a:ln>
            <a:solidFill>
              <a:schemeClr val="tx1"/>
            </a:solidFill>
            <a:miter/>
          </a:ln>
        </p:spPr>
        <p:txBody>
          <a:bodyPr vert="horz" wrap="square" lIns="91440" tIns="45720" rIns="91440" bIns="45720" anchor="t" anchorCtr="0"/>
          <a:lstStyle/>
          <a:p>
            <a:pPr eaLnBrk="1" hangingPunct="1">
              <a:lnSpc>
                <a:spcPct val="80000"/>
              </a:lnSpc>
              <a:buNone/>
            </a:pPr>
            <a:r>
              <a:rPr lang="zh-CN" altLang="en-US" sz="3200" b="1" dirty="0"/>
              <a:t>算法</a:t>
            </a:r>
            <a:r>
              <a:rPr lang="en-US" altLang="zh-CN" sz="3200" b="1" dirty="0"/>
              <a:t> 8.1 -COLORREC</a:t>
            </a:r>
            <a:r>
              <a:rPr lang="zh-CN" altLang="en-US" sz="3200" b="1" dirty="0"/>
              <a:t>（递归）</a:t>
            </a:r>
            <a:endParaRPr lang="en-US" altLang="zh-CN" sz="3200" b="1" dirty="0"/>
          </a:p>
          <a:p>
            <a:pPr lvl="1" eaLnBrk="1" hangingPunct="1">
              <a:lnSpc>
                <a:spcPct val="80000"/>
              </a:lnSpc>
              <a:buNone/>
            </a:pPr>
            <a:endParaRPr lang="en-US" altLang="zh-CN" sz="2000" b="1" dirty="0">
              <a:ea typeface="华文楷体" panose="02010600040101010101" pitchFamily="2" charset="-122"/>
            </a:endParaRPr>
          </a:p>
          <a:p>
            <a:pPr lvl="1" eaLnBrk="1" hangingPunct="1">
              <a:lnSpc>
                <a:spcPct val="80000"/>
              </a:lnSpc>
              <a:buNone/>
            </a:pPr>
            <a:r>
              <a:rPr lang="zh-CN" altLang="en-US" sz="2000" dirty="0">
                <a:latin typeface="Times New Roman" panose="02020503050405090304" pitchFamily="18" charset="0"/>
                <a:ea typeface="华文楷体" panose="02010600040101010101" pitchFamily="2" charset="-122"/>
              </a:rPr>
              <a:t>输入</a:t>
            </a:r>
            <a:r>
              <a:rPr lang="en-US" altLang="zh-CN" sz="2000" dirty="0">
                <a:latin typeface="Times New Roman" panose="02020503050405090304" pitchFamily="18" charset="0"/>
                <a:ea typeface="华文楷体" panose="02010600040101010101" pitchFamily="2" charset="-122"/>
              </a:rPr>
              <a:t>: </a:t>
            </a:r>
            <a:r>
              <a:rPr lang="zh-CN" altLang="en-US" sz="2000" dirty="0">
                <a:latin typeface="Times New Roman" panose="02020503050405090304" pitchFamily="18" charset="0"/>
                <a:ea typeface="华文楷体" panose="02010600040101010101" pitchFamily="2" charset="-122"/>
              </a:rPr>
              <a:t>无向图</a:t>
            </a:r>
            <a:r>
              <a:rPr lang="en-US" altLang="zh-CN" sz="2000" dirty="0">
                <a:latin typeface="Times New Roman" panose="02020503050405090304" pitchFamily="18" charset="0"/>
                <a:ea typeface="华文楷体" panose="02010600040101010101" pitchFamily="2" charset="-122"/>
              </a:rPr>
              <a:t>G=(V,E).</a:t>
            </a:r>
          </a:p>
          <a:p>
            <a:pPr lvl="1" eaLnBrk="1" hangingPunct="1">
              <a:lnSpc>
                <a:spcPct val="80000"/>
              </a:lnSpc>
              <a:buNone/>
            </a:pPr>
            <a:r>
              <a:rPr lang="zh-CN" altLang="en-US" sz="2000" dirty="0">
                <a:latin typeface="Times New Roman" panose="02020503050405090304" pitchFamily="18" charset="0"/>
                <a:ea typeface="华文楷体" panose="02010600040101010101" pitchFamily="2" charset="-122"/>
              </a:rPr>
              <a:t>输出</a:t>
            </a:r>
            <a:r>
              <a:rPr lang="en-US" altLang="zh-CN" sz="2000" dirty="0">
                <a:latin typeface="Times New Roman" panose="02020503050405090304" pitchFamily="18" charset="0"/>
                <a:ea typeface="华文楷体" panose="02010600040101010101" pitchFamily="2" charset="-122"/>
              </a:rPr>
              <a:t>: G</a:t>
            </a:r>
            <a:r>
              <a:rPr lang="zh-CN" altLang="en-US" sz="2000" dirty="0">
                <a:latin typeface="Times New Roman" panose="02020503050405090304" pitchFamily="18" charset="0"/>
                <a:ea typeface="华文楷体" panose="02010600040101010101" pitchFamily="2" charset="-122"/>
              </a:rPr>
              <a:t>的顶点的</a:t>
            </a:r>
            <a:r>
              <a:rPr lang="en-US" altLang="zh-CN" sz="2000" dirty="0">
                <a:latin typeface="Times New Roman" panose="02020503050405090304" pitchFamily="18" charset="0"/>
                <a:ea typeface="华文楷体" panose="02010600040101010101" pitchFamily="2" charset="-122"/>
              </a:rPr>
              <a:t>3</a:t>
            </a:r>
            <a:r>
              <a:rPr lang="zh-CN" altLang="en-US" sz="2000" dirty="0">
                <a:latin typeface="Times New Roman" panose="02020503050405090304" pitchFamily="18" charset="0"/>
                <a:ea typeface="华文楷体" panose="02010600040101010101" pitchFamily="2" charset="-122"/>
              </a:rPr>
              <a:t>着色</a:t>
            </a:r>
            <a:r>
              <a:rPr lang="en-US" altLang="zh-CN" sz="2000" dirty="0">
                <a:latin typeface="Times New Roman" panose="02020503050405090304" pitchFamily="18" charset="0"/>
                <a:ea typeface="华文楷体" panose="02010600040101010101" pitchFamily="2" charset="-122"/>
              </a:rPr>
              <a:t> c[1..n] </a:t>
            </a:r>
            <a:r>
              <a:rPr lang="zh-CN" altLang="en-US" sz="2000" dirty="0">
                <a:latin typeface="Times New Roman" panose="02020503050405090304" pitchFamily="18" charset="0"/>
                <a:ea typeface="华文楷体" panose="02010600040101010101" pitchFamily="2" charset="-122"/>
              </a:rPr>
              <a:t>，其中每个</a:t>
            </a:r>
            <a:r>
              <a:rPr lang="en-US" altLang="zh-CN" sz="2000" dirty="0">
                <a:latin typeface="Times New Roman" panose="02020503050405090304" pitchFamily="18" charset="0"/>
                <a:ea typeface="华文楷体" panose="02010600040101010101" pitchFamily="2" charset="-122"/>
              </a:rPr>
              <a:t>c[j]</a:t>
            </a:r>
            <a:r>
              <a:rPr lang="zh-CN" altLang="en-US" sz="2000" dirty="0">
                <a:latin typeface="Times New Roman" panose="02020503050405090304" pitchFamily="18" charset="0"/>
                <a:ea typeface="华文楷体" panose="02010600040101010101" pitchFamily="2" charset="-122"/>
              </a:rPr>
              <a:t>为</a:t>
            </a:r>
            <a:r>
              <a:rPr lang="en-US" altLang="zh-CN" sz="2000" dirty="0">
                <a:latin typeface="Times New Roman" panose="02020503050405090304" pitchFamily="18" charset="0"/>
                <a:ea typeface="华文楷体" panose="02010600040101010101" pitchFamily="2" charset="-122"/>
              </a:rPr>
              <a:t>1,2</a:t>
            </a:r>
            <a:r>
              <a:rPr lang="zh-CN" altLang="en-US" sz="2000" dirty="0">
                <a:latin typeface="Times New Roman" panose="02020503050405090304" pitchFamily="18" charset="0"/>
                <a:ea typeface="华文楷体" panose="02010600040101010101" pitchFamily="2" charset="-122"/>
              </a:rPr>
              <a:t>或</a:t>
            </a:r>
            <a:r>
              <a:rPr lang="en-US" altLang="zh-CN" sz="2000" dirty="0">
                <a:latin typeface="Times New Roman" panose="02020503050405090304" pitchFamily="18" charset="0"/>
                <a:ea typeface="华文楷体" panose="02010600040101010101" pitchFamily="2" charset="-122"/>
              </a:rPr>
              <a:t>3</a:t>
            </a:r>
            <a:r>
              <a:rPr lang="zh-CN" altLang="en-US" sz="2000" dirty="0">
                <a:latin typeface="Times New Roman" panose="02020503050405090304" pitchFamily="18" charset="0"/>
                <a:ea typeface="华文楷体" panose="02010600040101010101" pitchFamily="2" charset="-122"/>
              </a:rPr>
              <a:t>。</a:t>
            </a:r>
            <a:endParaRPr lang="en-US" altLang="zh-CN" sz="2000" dirty="0">
              <a:latin typeface="Times New Roman" panose="02020503050405090304" pitchFamily="18" charset="0"/>
              <a:ea typeface="华文楷体" panose="02010600040101010101" pitchFamily="2" charset="-122"/>
            </a:endParaRPr>
          </a:p>
          <a:p>
            <a:pPr lvl="1" eaLnBrk="1" hangingPunct="1">
              <a:lnSpc>
                <a:spcPct val="80000"/>
              </a:lnSpc>
              <a:buNone/>
            </a:pPr>
            <a:r>
              <a:rPr lang="en-US" altLang="zh-CN" sz="2000" dirty="0">
                <a:ea typeface="华文楷体" panose="02010600040101010101" pitchFamily="2" charset="-122"/>
              </a:rPr>
              <a:t>1. </a:t>
            </a:r>
            <a:r>
              <a:rPr lang="en-US" altLang="zh-CN" sz="2000" b="1" dirty="0">
                <a:ea typeface="华文楷体" panose="02010600040101010101" pitchFamily="2" charset="-122"/>
              </a:rPr>
              <a:t>for</a:t>
            </a:r>
            <a:r>
              <a:rPr lang="en-US" altLang="zh-CN" sz="2000" dirty="0">
                <a:ea typeface="华文楷体" panose="02010600040101010101" pitchFamily="2" charset="-122"/>
              </a:rPr>
              <a:t> </a:t>
            </a:r>
            <a:r>
              <a:rPr lang="en-US" altLang="zh-CN" sz="2000" i="1" dirty="0">
                <a:ea typeface="华文楷体" panose="02010600040101010101" pitchFamily="2" charset="-122"/>
              </a:rPr>
              <a:t>k</a:t>
            </a:r>
            <a:r>
              <a:rPr lang="en-US" altLang="zh-CN" sz="2000" i="1" dirty="0">
                <a:ea typeface="华文楷体" panose="02010600040101010101" pitchFamily="2" charset="-122"/>
                <a:sym typeface="Wingdings" panose="05000000000000000000" pitchFamily="2" charset="2"/>
              </a:rPr>
              <a:t>1</a:t>
            </a:r>
            <a:r>
              <a:rPr lang="en-US" altLang="zh-CN" sz="2000" dirty="0">
                <a:ea typeface="华文楷体" panose="02010600040101010101" pitchFamily="2" charset="-122"/>
                <a:sym typeface="Wingdings" panose="05000000000000000000" pitchFamily="2" charset="2"/>
              </a:rPr>
              <a:t> </a:t>
            </a:r>
            <a:r>
              <a:rPr lang="en-US" altLang="zh-CN" sz="2000" b="1" dirty="0">
                <a:ea typeface="华文楷体" panose="02010600040101010101" pitchFamily="2" charset="-122"/>
                <a:sym typeface="Wingdings" panose="05000000000000000000" pitchFamily="2" charset="2"/>
              </a:rPr>
              <a:t>to</a:t>
            </a:r>
            <a:r>
              <a:rPr lang="en-US" altLang="zh-CN" sz="2000" dirty="0">
                <a:ea typeface="华文楷体" panose="02010600040101010101" pitchFamily="2" charset="-122"/>
                <a:sym typeface="Wingdings" panose="05000000000000000000" pitchFamily="2" charset="2"/>
              </a:rPr>
              <a:t> </a:t>
            </a:r>
            <a:r>
              <a:rPr lang="en-US" altLang="zh-CN" sz="2000" i="1" dirty="0">
                <a:ea typeface="华文楷体" panose="02010600040101010101" pitchFamily="2" charset="-122"/>
                <a:sym typeface="Wingdings" panose="05000000000000000000" pitchFamily="2" charset="2"/>
              </a:rPr>
              <a:t>n</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2. 		</a:t>
            </a:r>
            <a:r>
              <a:rPr lang="en-US" altLang="zh-CN" sz="2000" i="1" dirty="0">
                <a:ea typeface="华文楷体" panose="02010600040101010101" pitchFamily="2" charset="-122"/>
                <a:sym typeface="Wingdings" panose="05000000000000000000" pitchFamily="2" charset="2"/>
              </a:rPr>
              <a:t>c[k]0</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3. </a:t>
            </a:r>
            <a:r>
              <a:rPr lang="en-US" altLang="zh-CN" sz="2000" b="1" dirty="0">
                <a:ea typeface="华文楷体" panose="02010600040101010101" pitchFamily="2" charset="-122"/>
                <a:sym typeface="Wingdings" panose="05000000000000000000" pitchFamily="2" charset="2"/>
              </a:rPr>
              <a:t>end for</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4. </a:t>
            </a:r>
            <a:r>
              <a:rPr lang="en-US" altLang="zh-CN" sz="2000" i="1" dirty="0">
                <a:ea typeface="华文楷体" panose="02010600040101010101" pitchFamily="2" charset="-122"/>
                <a:sym typeface="Wingdings" panose="05000000000000000000" pitchFamily="2" charset="2"/>
              </a:rPr>
              <a:t>flagfalse</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5. </a:t>
            </a:r>
            <a:r>
              <a:rPr lang="en-US" altLang="zh-CN" sz="2000" i="1" dirty="0">
                <a:ea typeface="华文楷体" panose="02010600040101010101" pitchFamily="2" charset="-122"/>
                <a:sym typeface="Wingdings" panose="05000000000000000000" pitchFamily="2" charset="2"/>
              </a:rPr>
              <a:t>graphcolor(1)</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6. </a:t>
            </a:r>
            <a:r>
              <a:rPr lang="en-US" altLang="zh-CN" sz="2000" b="1" dirty="0">
                <a:ea typeface="华文楷体" panose="02010600040101010101" pitchFamily="2" charset="-122"/>
                <a:sym typeface="Wingdings" panose="05000000000000000000" pitchFamily="2" charset="2"/>
              </a:rPr>
              <a:t>if</a:t>
            </a:r>
            <a:r>
              <a:rPr lang="en-US" altLang="zh-CN" sz="2000" dirty="0">
                <a:ea typeface="华文楷体" panose="02010600040101010101" pitchFamily="2" charset="-122"/>
                <a:sym typeface="Wingdings" panose="05000000000000000000" pitchFamily="2" charset="2"/>
              </a:rPr>
              <a:t> </a:t>
            </a:r>
            <a:r>
              <a:rPr lang="en-US" altLang="zh-CN" sz="2000" i="1" dirty="0">
                <a:ea typeface="华文楷体" panose="02010600040101010101" pitchFamily="2" charset="-122"/>
                <a:sym typeface="Wingdings" panose="05000000000000000000" pitchFamily="2" charset="2"/>
              </a:rPr>
              <a:t>flag</a:t>
            </a:r>
            <a:r>
              <a:rPr lang="en-US" altLang="zh-CN" sz="2000" dirty="0">
                <a:ea typeface="华文楷体" panose="02010600040101010101" pitchFamily="2" charset="-122"/>
                <a:sym typeface="Wingdings" panose="05000000000000000000" pitchFamily="2" charset="2"/>
              </a:rPr>
              <a:t> </a:t>
            </a:r>
            <a:r>
              <a:rPr lang="en-US" altLang="zh-CN" sz="2000" b="1" dirty="0">
                <a:ea typeface="华文楷体" panose="02010600040101010101" pitchFamily="2" charset="-122"/>
                <a:sym typeface="Wingdings" panose="05000000000000000000" pitchFamily="2" charset="2"/>
              </a:rPr>
              <a:t>then</a:t>
            </a:r>
            <a:r>
              <a:rPr lang="en-US" altLang="zh-CN" sz="2000" dirty="0">
                <a:ea typeface="华文楷体" panose="02010600040101010101" pitchFamily="2" charset="-122"/>
                <a:sym typeface="Wingdings" panose="05000000000000000000" pitchFamily="2" charset="2"/>
              </a:rPr>
              <a:t> </a:t>
            </a:r>
            <a:r>
              <a:rPr lang="en-US" altLang="zh-CN" sz="2000" b="1" dirty="0">
                <a:ea typeface="华文楷体" panose="02010600040101010101" pitchFamily="2" charset="-122"/>
                <a:sym typeface="Wingdings" panose="05000000000000000000" pitchFamily="2" charset="2"/>
              </a:rPr>
              <a:t>output</a:t>
            </a:r>
            <a:r>
              <a:rPr lang="en-US" altLang="zh-CN" sz="2000" dirty="0">
                <a:ea typeface="华文楷体" panose="02010600040101010101" pitchFamily="2" charset="-122"/>
                <a:sym typeface="Wingdings" panose="05000000000000000000" pitchFamily="2" charset="2"/>
              </a:rPr>
              <a:t> </a:t>
            </a:r>
            <a:r>
              <a:rPr lang="en-US" altLang="zh-CN" sz="2000" i="1" dirty="0">
                <a:ea typeface="华文楷体" panose="02010600040101010101" pitchFamily="2" charset="-122"/>
                <a:sym typeface="Wingdings" panose="05000000000000000000" pitchFamily="2" charset="2"/>
              </a:rPr>
              <a:t>c</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7. </a:t>
            </a:r>
            <a:r>
              <a:rPr lang="en-US" altLang="zh-CN" sz="2000" b="1" dirty="0">
                <a:ea typeface="华文楷体" panose="02010600040101010101" pitchFamily="2" charset="-122"/>
                <a:sym typeface="Wingdings" panose="05000000000000000000" pitchFamily="2" charset="2"/>
              </a:rPr>
              <a:t>else</a:t>
            </a:r>
            <a:r>
              <a:rPr lang="en-US" altLang="zh-CN" sz="2000" dirty="0">
                <a:ea typeface="华文楷体" panose="02010600040101010101" pitchFamily="2" charset="-122"/>
                <a:sym typeface="Wingdings" panose="05000000000000000000" pitchFamily="2" charset="2"/>
              </a:rPr>
              <a:t> </a:t>
            </a:r>
            <a:r>
              <a:rPr lang="en-US" altLang="zh-CN" sz="2000" b="1" dirty="0">
                <a:ea typeface="华文楷体" panose="02010600040101010101" pitchFamily="2" charset="-122"/>
                <a:sym typeface="Wingdings" panose="05000000000000000000" pitchFamily="2" charset="2"/>
              </a:rPr>
              <a:t>output</a:t>
            </a:r>
            <a:r>
              <a:rPr lang="en-US" altLang="zh-CN" sz="2000" dirty="0">
                <a:ea typeface="华文楷体" panose="02010600040101010101" pitchFamily="2" charset="-122"/>
                <a:sym typeface="Wingdings" panose="05000000000000000000" pitchFamily="2" charset="2"/>
              </a:rPr>
              <a:t> “no solution”</a:t>
            </a:r>
          </a:p>
          <a:p>
            <a:pPr lvl="1" eaLnBrk="1" hangingPunct="1">
              <a:lnSpc>
                <a:spcPct val="80000"/>
              </a:lnSpc>
              <a:buNone/>
            </a:pPr>
            <a:endParaRPr lang="en-US" altLang="zh-CN" sz="2000" b="1" dirty="0">
              <a:ea typeface="华文楷体" panose="02010600040101010101" pitchFamily="2" charset="-122"/>
              <a:sym typeface="Wingdings" panose="05000000000000000000" pitchFamily="2" charset="2"/>
            </a:endParaRPr>
          </a:p>
          <a:p>
            <a:pPr lvl="1" eaLnBrk="1" hangingPunct="1">
              <a:lnSpc>
                <a:spcPct val="80000"/>
              </a:lnSpc>
              <a:buNone/>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过程</a:t>
            </a:r>
            <a:r>
              <a:rPr lang="zh-CN" altLang="en-US" sz="2000" i="1" dirty="0">
                <a:ea typeface="华文楷体" panose="02010600040101010101" pitchFamily="2" charset="-122"/>
                <a:sym typeface="Wingdings" panose="05000000000000000000" pitchFamily="2" charset="2"/>
              </a:rPr>
              <a:t> </a:t>
            </a:r>
            <a:r>
              <a:rPr lang="en-US" altLang="zh-CN" sz="2000" i="1" dirty="0">
                <a:ea typeface="华文楷体" panose="02010600040101010101" pitchFamily="2" charset="-122"/>
                <a:sym typeface="Wingdings" panose="05000000000000000000" pitchFamily="2" charset="2"/>
              </a:rPr>
              <a:t>graphcolor(k)</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1. </a:t>
            </a:r>
            <a:r>
              <a:rPr lang="en-US" altLang="zh-CN" sz="2000" b="1" dirty="0">
                <a:ea typeface="华文楷体" panose="02010600040101010101" pitchFamily="2" charset="-122"/>
                <a:sym typeface="Wingdings" panose="05000000000000000000" pitchFamily="2" charset="2"/>
              </a:rPr>
              <a:t>for</a:t>
            </a:r>
            <a:r>
              <a:rPr lang="en-US" altLang="zh-CN" sz="2000" dirty="0">
                <a:ea typeface="华文楷体" panose="02010600040101010101" pitchFamily="2" charset="-122"/>
                <a:sym typeface="Wingdings" panose="05000000000000000000" pitchFamily="2" charset="2"/>
              </a:rPr>
              <a:t> </a:t>
            </a:r>
            <a:r>
              <a:rPr lang="en-US" altLang="zh-CN" sz="2000" i="1" dirty="0">
                <a:ea typeface="华文楷体" panose="02010600040101010101" pitchFamily="2" charset="-122"/>
                <a:sym typeface="Wingdings" panose="05000000000000000000" pitchFamily="2" charset="2"/>
              </a:rPr>
              <a:t>color=1</a:t>
            </a:r>
            <a:r>
              <a:rPr lang="en-US" altLang="zh-CN" sz="2000" dirty="0">
                <a:ea typeface="华文楷体" panose="02010600040101010101" pitchFamily="2" charset="-122"/>
                <a:sym typeface="Wingdings" panose="05000000000000000000" pitchFamily="2" charset="2"/>
              </a:rPr>
              <a:t> </a:t>
            </a:r>
            <a:r>
              <a:rPr lang="en-US" altLang="zh-CN" sz="2000" b="1" dirty="0">
                <a:ea typeface="华文楷体" panose="02010600040101010101" pitchFamily="2" charset="-122"/>
                <a:sym typeface="Wingdings" panose="05000000000000000000" pitchFamily="2" charset="2"/>
              </a:rPr>
              <a:t>to</a:t>
            </a:r>
            <a:r>
              <a:rPr lang="en-US" altLang="zh-CN" sz="2000" dirty="0">
                <a:ea typeface="华文楷体" panose="02010600040101010101" pitchFamily="2" charset="-122"/>
                <a:sym typeface="Wingdings" panose="05000000000000000000" pitchFamily="2" charset="2"/>
              </a:rPr>
              <a:t> </a:t>
            </a:r>
            <a:r>
              <a:rPr lang="en-US" altLang="zh-CN" sz="2000" i="1" dirty="0">
                <a:ea typeface="华文楷体" panose="02010600040101010101" pitchFamily="2" charset="-122"/>
                <a:sym typeface="Wingdings" panose="05000000000000000000" pitchFamily="2" charset="2"/>
              </a:rPr>
              <a:t>3</a:t>
            </a:r>
          </a:p>
          <a:p>
            <a:pPr lvl="1" eaLnBrk="1" hangingPunct="1">
              <a:lnSpc>
                <a:spcPct val="80000"/>
              </a:lnSpc>
              <a:buNone/>
            </a:pPr>
            <a:r>
              <a:rPr lang="en-US" altLang="zh-CN" sz="2000" dirty="0">
                <a:ea typeface="华文楷体" panose="02010600040101010101" pitchFamily="2" charset="-122"/>
              </a:rPr>
              <a:t>2.     </a:t>
            </a:r>
            <a:r>
              <a:rPr lang="en-US" altLang="zh-CN" sz="2000" i="1" dirty="0">
                <a:ea typeface="华文楷体" panose="02010600040101010101" pitchFamily="2" charset="-122"/>
              </a:rPr>
              <a:t>c[k]</a:t>
            </a:r>
            <a:r>
              <a:rPr lang="en-US" altLang="zh-CN" sz="2000" i="1" dirty="0">
                <a:ea typeface="华文楷体" panose="02010600040101010101" pitchFamily="2" charset="-122"/>
                <a:sym typeface="Wingdings" panose="05000000000000000000" pitchFamily="2" charset="2"/>
              </a:rPr>
              <a:t>color</a:t>
            </a:r>
          </a:p>
          <a:p>
            <a:pPr lvl="1" eaLnBrk="1" hangingPunct="1">
              <a:lnSpc>
                <a:spcPct val="80000"/>
              </a:lnSpc>
              <a:buNone/>
            </a:pPr>
            <a:r>
              <a:rPr lang="en-US" altLang="zh-CN" sz="2000" dirty="0">
                <a:ea typeface="华文楷体" panose="02010600040101010101" pitchFamily="2" charset="-122"/>
              </a:rPr>
              <a:t>3.     </a:t>
            </a:r>
            <a:r>
              <a:rPr lang="en-US" altLang="zh-CN" sz="2000" b="1" dirty="0">
                <a:ea typeface="华文楷体" panose="02010600040101010101" pitchFamily="2" charset="-122"/>
              </a:rPr>
              <a:t>if</a:t>
            </a:r>
            <a:r>
              <a:rPr lang="en-US" altLang="zh-CN" sz="2000" dirty="0">
                <a:ea typeface="华文楷体" panose="02010600040101010101" pitchFamily="2" charset="-122"/>
              </a:rPr>
              <a:t> c </a:t>
            </a:r>
            <a:r>
              <a:rPr lang="zh-CN" altLang="en-US" sz="2000" dirty="0">
                <a:latin typeface="华文楷体" panose="02010600040101010101" pitchFamily="2" charset="-122"/>
                <a:ea typeface="华文楷体" panose="02010600040101010101" pitchFamily="2" charset="-122"/>
              </a:rPr>
              <a:t>为合法着色</a:t>
            </a:r>
            <a:r>
              <a:rPr lang="en-US" altLang="zh-CN" sz="2000" b="1" dirty="0">
                <a:ea typeface="华文楷体" panose="02010600040101010101" pitchFamily="2" charset="-122"/>
              </a:rPr>
              <a:t>then</a:t>
            </a:r>
            <a:r>
              <a:rPr lang="en-US" altLang="zh-CN" sz="2000" dirty="0">
                <a:ea typeface="华文楷体" panose="02010600040101010101" pitchFamily="2" charset="-122"/>
              </a:rPr>
              <a:t> set </a:t>
            </a:r>
            <a:r>
              <a:rPr lang="en-US" altLang="zh-CN" sz="2000" i="1" dirty="0">
                <a:ea typeface="华文楷体" panose="02010600040101010101" pitchFamily="2" charset="-122"/>
              </a:rPr>
              <a:t>flag</a:t>
            </a:r>
            <a:r>
              <a:rPr lang="en-US" altLang="zh-CN" sz="2000" i="1" dirty="0">
                <a:ea typeface="华文楷体" panose="02010600040101010101" pitchFamily="2" charset="-122"/>
                <a:sym typeface="Wingdings" panose="05000000000000000000" pitchFamily="2" charset="2"/>
              </a:rPr>
              <a:t>true</a:t>
            </a:r>
            <a:r>
              <a:rPr lang="en-US" altLang="zh-CN" sz="2000" dirty="0">
                <a:ea typeface="华文楷体" panose="02010600040101010101" pitchFamily="2" charset="-122"/>
                <a:sym typeface="Wingdings" panose="05000000000000000000" pitchFamily="2" charset="2"/>
              </a:rPr>
              <a:t> and </a:t>
            </a:r>
            <a:r>
              <a:rPr lang="en-US" altLang="zh-CN" sz="2000" b="1" dirty="0">
                <a:ea typeface="华文楷体" panose="02010600040101010101" pitchFamily="2" charset="-122"/>
                <a:sym typeface="Wingdings" panose="05000000000000000000" pitchFamily="2" charset="2"/>
              </a:rPr>
              <a:t>exit</a:t>
            </a:r>
          </a:p>
          <a:p>
            <a:pPr lvl="1" eaLnBrk="1" hangingPunct="1">
              <a:lnSpc>
                <a:spcPct val="80000"/>
              </a:lnSpc>
              <a:buNone/>
            </a:pPr>
            <a:r>
              <a:rPr lang="en-US" altLang="zh-CN" sz="2000" dirty="0">
                <a:ea typeface="华文楷体" panose="02010600040101010101" pitchFamily="2" charset="-122"/>
              </a:rPr>
              <a:t>4.     </a:t>
            </a:r>
            <a:r>
              <a:rPr lang="en-US" altLang="zh-CN" sz="2000" b="1" dirty="0">
                <a:ea typeface="华文楷体" panose="02010600040101010101" pitchFamily="2" charset="-122"/>
              </a:rPr>
              <a:t>else if</a:t>
            </a:r>
            <a:r>
              <a:rPr lang="en-US" altLang="zh-CN" sz="2000" dirty="0">
                <a:ea typeface="华文楷体" panose="02010600040101010101" pitchFamily="2" charset="-122"/>
              </a:rPr>
              <a:t> c </a:t>
            </a:r>
            <a:r>
              <a:rPr lang="zh-CN" altLang="en-US" sz="2000" dirty="0">
                <a:latin typeface="华文楷体" panose="02010600040101010101" pitchFamily="2" charset="-122"/>
                <a:ea typeface="华文楷体" panose="02010600040101010101" pitchFamily="2" charset="-122"/>
              </a:rPr>
              <a:t>是部分的 </a:t>
            </a:r>
            <a:r>
              <a:rPr lang="en-US" altLang="zh-CN" sz="2000" b="1" dirty="0">
                <a:ea typeface="华文楷体" panose="02010600040101010101" pitchFamily="2" charset="-122"/>
              </a:rPr>
              <a:t>then</a:t>
            </a:r>
            <a:r>
              <a:rPr lang="en-US" altLang="zh-CN" sz="2000" dirty="0">
                <a:ea typeface="华文楷体" panose="02010600040101010101" pitchFamily="2" charset="-122"/>
              </a:rPr>
              <a:t> </a:t>
            </a:r>
            <a:r>
              <a:rPr lang="en-US" altLang="zh-CN" sz="2000" i="1" dirty="0">
                <a:ea typeface="华文楷体" panose="02010600040101010101" pitchFamily="2" charset="-122"/>
              </a:rPr>
              <a:t>graphcolor(k+1)</a:t>
            </a:r>
          </a:p>
          <a:p>
            <a:pPr lvl="1" eaLnBrk="1" hangingPunct="1">
              <a:lnSpc>
                <a:spcPct val="80000"/>
              </a:lnSpc>
              <a:buNone/>
            </a:pPr>
            <a:r>
              <a:rPr lang="en-US" altLang="zh-CN" sz="2000" dirty="0">
                <a:ea typeface="华文楷体" panose="02010600040101010101" pitchFamily="2" charset="-122"/>
              </a:rPr>
              <a:t>5. </a:t>
            </a:r>
            <a:r>
              <a:rPr lang="en-US" altLang="zh-CN" sz="2000" b="1" dirty="0">
                <a:ea typeface="华文楷体" panose="02010600040101010101" pitchFamily="2" charset="-122"/>
              </a:rPr>
              <a:t>end for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26626" name="Rectangle 3"/>
          <p:cNvSpPr>
            <a:spLocks noGrp="1"/>
          </p:cNvSpPr>
          <p:nvPr>
            <p:ph idx="1"/>
          </p:nvPr>
        </p:nvSpPr>
        <p:spPr>
          <a:xfrm>
            <a:off x="755650" y="260350"/>
            <a:ext cx="8064500" cy="6408738"/>
          </a:xfrm>
          <a:solidFill>
            <a:schemeClr val="bg1"/>
          </a:solidFill>
          <a:ln>
            <a:solidFill>
              <a:schemeClr val="tx1"/>
            </a:solidFill>
            <a:miter/>
          </a:ln>
        </p:spPr>
        <p:txBody>
          <a:bodyPr vert="horz" wrap="square" lIns="91440" tIns="45720" rIns="91440" bIns="45720" anchor="t" anchorCtr="0"/>
          <a:lstStyle/>
          <a:p>
            <a:pPr eaLnBrk="1" hangingPunct="1">
              <a:lnSpc>
                <a:spcPct val="80000"/>
              </a:lnSpc>
              <a:buNone/>
            </a:pPr>
            <a:r>
              <a:rPr lang="zh-CN" altLang="en-US" sz="2400" b="1" dirty="0"/>
              <a:t>算法</a:t>
            </a:r>
            <a:r>
              <a:rPr lang="en-US" altLang="zh-CN" sz="2400" b="1" dirty="0"/>
              <a:t>8.2-COLORITER</a:t>
            </a:r>
            <a:r>
              <a:rPr lang="zh-CN" altLang="en-US" sz="2400" b="1" dirty="0"/>
              <a:t>（迭代）</a:t>
            </a:r>
            <a:endParaRPr lang="en-US" altLang="zh-CN" sz="2400" b="1" dirty="0"/>
          </a:p>
          <a:p>
            <a:pPr lvl="1" eaLnBrk="1" hangingPunct="1">
              <a:lnSpc>
                <a:spcPct val="80000"/>
              </a:lnSpc>
              <a:buNone/>
            </a:pPr>
            <a:r>
              <a:rPr lang="zh-CN" altLang="en-US" sz="2000" dirty="0">
                <a:ea typeface="华文楷体" panose="02010600040101010101" pitchFamily="2" charset="-122"/>
              </a:rPr>
              <a:t>输入</a:t>
            </a:r>
            <a:r>
              <a:rPr lang="en-US" altLang="zh-CN" sz="2000" dirty="0">
                <a:ea typeface="华文楷体" panose="02010600040101010101" pitchFamily="2" charset="-122"/>
              </a:rPr>
              <a:t>: </a:t>
            </a:r>
            <a:r>
              <a:rPr lang="zh-CN" altLang="en-US" sz="2000" dirty="0">
                <a:ea typeface="华文楷体" panose="02010600040101010101" pitchFamily="2" charset="-122"/>
              </a:rPr>
              <a:t>无向图</a:t>
            </a:r>
            <a:r>
              <a:rPr lang="en-US" altLang="zh-CN" sz="2000" dirty="0">
                <a:ea typeface="华文楷体" panose="02010600040101010101" pitchFamily="2" charset="-122"/>
              </a:rPr>
              <a:t>G=(V,E).</a:t>
            </a:r>
          </a:p>
          <a:p>
            <a:pPr lvl="1" eaLnBrk="1" hangingPunct="1">
              <a:lnSpc>
                <a:spcPct val="80000"/>
              </a:lnSpc>
              <a:buNone/>
            </a:pPr>
            <a:r>
              <a:rPr lang="zh-CN" altLang="en-US" sz="2000" dirty="0">
                <a:ea typeface="华文楷体" panose="02010600040101010101" pitchFamily="2" charset="-122"/>
              </a:rPr>
              <a:t>输出</a:t>
            </a:r>
            <a:r>
              <a:rPr lang="en-US" altLang="zh-CN" sz="2000" dirty="0">
                <a:ea typeface="华文楷体" panose="02010600040101010101" pitchFamily="2" charset="-122"/>
              </a:rPr>
              <a:t>: : G</a:t>
            </a:r>
            <a:r>
              <a:rPr lang="zh-CN" altLang="en-US" sz="2000" dirty="0">
                <a:ea typeface="华文楷体" panose="02010600040101010101" pitchFamily="2" charset="-122"/>
              </a:rPr>
              <a:t>的顶点的</a:t>
            </a:r>
            <a:r>
              <a:rPr lang="en-US" altLang="zh-CN" sz="2000" dirty="0">
                <a:ea typeface="华文楷体" panose="02010600040101010101" pitchFamily="2" charset="-122"/>
              </a:rPr>
              <a:t>3</a:t>
            </a:r>
            <a:r>
              <a:rPr lang="zh-CN" altLang="en-US" sz="2000" dirty="0">
                <a:ea typeface="华文楷体" panose="02010600040101010101" pitchFamily="2" charset="-122"/>
              </a:rPr>
              <a:t>着色</a:t>
            </a:r>
            <a:r>
              <a:rPr lang="en-US" altLang="zh-CN" sz="2000" dirty="0">
                <a:ea typeface="华文楷体" panose="02010600040101010101" pitchFamily="2" charset="-122"/>
              </a:rPr>
              <a:t> c[1..n] </a:t>
            </a:r>
            <a:r>
              <a:rPr lang="zh-CN" altLang="en-US" sz="2000" dirty="0">
                <a:ea typeface="华文楷体" panose="02010600040101010101" pitchFamily="2" charset="-122"/>
              </a:rPr>
              <a:t>，其中每个</a:t>
            </a:r>
            <a:r>
              <a:rPr lang="en-US" altLang="zh-CN" sz="2000" dirty="0">
                <a:ea typeface="华文楷体" panose="02010600040101010101" pitchFamily="2" charset="-122"/>
              </a:rPr>
              <a:t>c[j]</a:t>
            </a:r>
            <a:r>
              <a:rPr lang="zh-CN" altLang="en-US" sz="2000" dirty="0">
                <a:ea typeface="华文楷体" panose="02010600040101010101" pitchFamily="2" charset="-122"/>
              </a:rPr>
              <a:t>为</a:t>
            </a:r>
            <a:r>
              <a:rPr lang="en-US" altLang="zh-CN" sz="2000" dirty="0">
                <a:ea typeface="华文楷体" panose="02010600040101010101" pitchFamily="2" charset="-122"/>
              </a:rPr>
              <a:t>1,2</a:t>
            </a:r>
            <a:r>
              <a:rPr lang="zh-CN" altLang="en-US" sz="2000" dirty="0">
                <a:ea typeface="华文楷体" panose="02010600040101010101" pitchFamily="2" charset="-122"/>
              </a:rPr>
              <a:t>或</a:t>
            </a:r>
            <a:r>
              <a:rPr lang="en-US" altLang="zh-CN" sz="2000" dirty="0">
                <a:ea typeface="华文楷体" panose="02010600040101010101" pitchFamily="2" charset="-122"/>
              </a:rPr>
              <a:t>3</a:t>
            </a:r>
            <a:r>
              <a:rPr lang="zh-CN" altLang="en-US" sz="2000" dirty="0">
                <a:ea typeface="华文楷体" panose="02010600040101010101" pitchFamily="2" charset="-122"/>
              </a:rPr>
              <a:t>。</a:t>
            </a:r>
            <a:endParaRPr lang="en-US" altLang="zh-CN" sz="2000" dirty="0">
              <a:ea typeface="华文楷体" panose="02010600040101010101" pitchFamily="2" charset="-122"/>
            </a:endParaRPr>
          </a:p>
          <a:p>
            <a:pPr lvl="1" eaLnBrk="1" hangingPunct="1">
              <a:lnSpc>
                <a:spcPct val="80000"/>
              </a:lnSpc>
              <a:buNone/>
            </a:pPr>
            <a:r>
              <a:rPr lang="en-US" altLang="zh-CN" sz="2000" dirty="0">
                <a:ea typeface="华文楷体" panose="02010600040101010101" pitchFamily="2" charset="-122"/>
              </a:rPr>
              <a:t>1. </a:t>
            </a:r>
            <a:r>
              <a:rPr lang="en-US" altLang="zh-CN" sz="2000" b="1" dirty="0">
                <a:ea typeface="华文楷体" panose="02010600040101010101" pitchFamily="2" charset="-122"/>
              </a:rPr>
              <a:t>for</a:t>
            </a:r>
            <a:r>
              <a:rPr lang="en-US" altLang="zh-CN" sz="2000" dirty="0">
                <a:ea typeface="华文楷体" panose="02010600040101010101" pitchFamily="2" charset="-122"/>
              </a:rPr>
              <a:t> </a:t>
            </a:r>
            <a:r>
              <a:rPr lang="en-US" altLang="zh-CN" sz="2000" i="1" dirty="0">
                <a:ea typeface="华文楷体" panose="02010600040101010101" pitchFamily="2" charset="-122"/>
              </a:rPr>
              <a:t>k</a:t>
            </a:r>
            <a:r>
              <a:rPr lang="en-US" altLang="zh-CN" sz="2000" i="1" dirty="0">
                <a:ea typeface="华文楷体" panose="02010600040101010101" pitchFamily="2" charset="-122"/>
                <a:sym typeface="Wingdings" panose="05000000000000000000" pitchFamily="2" charset="2"/>
              </a:rPr>
              <a:t>1</a:t>
            </a:r>
            <a:r>
              <a:rPr lang="en-US" altLang="zh-CN" sz="2000" dirty="0">
                <a:ea typeface="华文楷体" panose="02010600040101010101" pitchFamily="2" charset="-122"/>
                <a:sym typeface="Wingdings" panose="05000000000000000000" pitchFamily="2" charset="2"/>
              </a:rPr>
              <a:t> </a:t>
            </a:r>
            <a:r>
              <a:rPr lang="en-US" altLang="zh-CN" sz="2000" b="1" dirty="0">
                <a:ea typeface="华文楷体" panose="02010600040101010101" pitchFamily="2" charset="-122"/>
                <a:sym typeface="Wingdings" panose="05000000000000000000" pitchFamily="2" charset="2"/>
              </a:rPr>
              <a:t>to</a:t>
            </a:r>
            <a:r>
              <a:rPr lang="en-US" altLang="zh-CN" sz="2000" dirty="0">
                <a:ea typeface="华文楷体" panose="02010600040101010101" pitchFamily="2" charset="-122"/>
                <a:sym typeface="Wingdings" panose="05000000000000000000" pitchFamily="2" charset="2"/>
              </a:rPr>
              <a:t> </a:t>
            </a:r>
            <a:r>
              <a:rPr lang="en-US" altLang="zh-CN" sz="2000" i="1" dirty="0">
                <a:ea typeface="华文楷体" panose="02010600040101010101" pitchFamily="2" charset="-122"/>
                <a:sym typeface="Wingdings" panose="05000000000000000000" pitchFamily="2" charset="2"/>
              </a:rPr>
              <a:t>n</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2.		</a:t>
            </a:r>
            <a:r>
              <a:rPr lang="en-US" altLang="zh-CN" sz="2000" i="1" dirty="0">
                <a:ea typeface="华文楷体" panose="02010600040101010101" pitchFamily="2" charset="-122"/>
                <a:sym typeface="Wingdings" panose="05000000000000000000" pitchFamily="2" charset="2"/>
              </a:rPr>
              <a:t>c[k]0</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3. </a:t>
            </a:r>
            <a:r>
              <a:rPr lang="en-US" altLang="zh-CN" sz="2000" b="1" dirty="0">
                <a:ea typeface="华文楷体" panose="02010600040101010101" pitchFamily="2" charset="-122"/>
                <a:sym typeface="Wingdings" panose="05000000000000000000" pitchFamily="2" charset="2"/>
              </a:rPr>
              <a:t>end for</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4. </a:t>
            </a:r>
            <a:r>
              <a:rPr lang="en-US" altLang="zh-CN" sz="2000" i="1" dirty="0">
                <a:ea typeface="华文楷体" panose="02010600040101010101" pitchFamily="2" charset="-122"/>
                <a:sym typeface="Wingdings" panose="05000000000000000000" pitchFamily="2" charset="2"/>
              </a:rPr>
              <a:t>flagfalse</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5. k1</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6. </a:t>
            </a:r>
            <a:r>
              <a:rPr lang="en-US" altLang="zh-CN" sz="2000" b="1" dirty="0">
                <a:ea typeface="华文楷体" panose="02010600040101010101" pitchFamily="2" charset="-122"/>
                <a:sym typeface="Wingdings" panose="05000000000000000000" pitchFamily="2" charset="2"/>
              </a:rPr>
              <a:t>while</a:t>
            </a:r>
            <a:r>
              <a:rPr lang="en-US" altLang="zh-CN" sz="2000" dirty="0">
                <a:ea typeface="华文楷体" panose="02010600040101010101" pitchFamily="2" charset="-122"/>
                <a:sym typeface="Wingdings" panose="05000000000000000000" pitchFamily="2" charset="2"/>
              </a:rPr>
              <a:t> </a:t>
            </a:r>
            <a:r>
              <a:rPr lang="en-US" altLang="zh-CN" sz="2000" i="1" dirty="0">
                <a:ea typeface="华文楷体" panose="02010600040101010101" pitchFamily="2" charset="-122"/>
                <a:sym typeface="Wingdings" panose="05000000000000000000" pitchFamily="2" charset="2"/>
              </a:rPr>
              <a:t>k </a:t>
            </a:r>
            <a:r>
              <a:rPr lang="en-US" altLang="zh-CN" sz="2000" i="1" dirty="0">
                <a:ea typeface="华文楷体" panose="02010600040101010101" pitchFamily="2" charset="-122"/>
                <a:sym typeface="Symbol" pitchFamily="18" charset="2"/>
              </a:rPr>
              <a:t>1</a:t>
            </a:r>
          </a:p>
          <a:p>
            <a:pPr lvl="1" eaLnBrk="1" hangingPunct="1">
              <a:lnSpc>
                <a:spcPct val="80000"/>
              </a:lnSpc>
              <a:buNone/>
            </a:pPr>
            <a:r>
              <a:rPr lang="en-US" altLang="zh-CN" sz="2000" dirty="0">
                <a:ea typeface="华文楷体" panose="02010600040101010101" pitchFamily="2" charset="-122"/>
                <a:sym typeface="Symbol" pitchFamily="18" charset="2"/>
              </a:rPr>
              <a:t>7. 		  </a:t>
            </a:r>
            <a:r>
              <a:rPr lang="en-US" altLang="zh-CN" sz="2000" b="1" dirty="0">
                <a:ea typeface="华文楷体" panose="02010600040101010101" pitchFamily="2" charset="-122"/>
                <a:sym typeface="Symbol" pitchFamily="18" charset="2"/>
              </a:rPr>
              <a:t>while</a:t>
            </a:r>
            <a:r>
              <a:rPr lang="en-US" altLang="zh-CN" sz="2000" dirty="0">
                <a:ea typeface="华文楷体" panose="02010600040101010101" pitchFamily="2" charset="-122"/>
                <a:sym typeface="Symbol" pitchFamily="18" charset="2"/>
              </a:rPr>
              <a:t> </a:t>
            </a:r>
            <a:r>
              <a:rPr lang="en-US" altLang="zh-CN" sz="2000" i="1" dirty="0">
                <a:ea typeface="华文楷体" panose="02010600040101010101" pitchFamily="2" charset="-122"/>
                <a:sym typeface="Symbol" pitchFamily="18" charset="2"/>
              </a:rPr>
              <a:t>c[k] 2</a:t>
            </a:r>
          </a:p>
          <a:p>
            <a:pPr lvl="1" eaLnBrk="1" hangingPunct="1">
              <a:lnSpc>
                <a:spcPct val="80000"/>
              </a:lnSpc>
              <a:buNone/>
            </a:pPr>
            <a:r>
              <a:rPr lang="en-US" altLang="zh-CN" sz="2000" dirty="0">
                <a:ea typeface="华文楷体" panose="02010600040101010101" pitchFamily="2" charset="-122"/>
                <a:sym typeface="Symbol" pitchFamily="18" charset="2"/>
              </a:rPr>
              <a:t>8.			</a:t>
            </a:r>
            <a:r>
              <a:rPr lang="en-US" altLang="zh-CN" sz="2000" i="1" dirty="0">
                <a:ea typeface="华文楷体" panose="02010600040101010101" pitchFamily="2" charset="-122"/>
                <a:sym typeface="Symbol" pitchFamily="18" charset="2"/>
              </a:rPr>
              <a:t>c[k]</a:t>
            </a:r>
            <a:r>
              <a:rPr lang="en-US" altLang="zh-CN" sz="2000" i="1" dirty="0">
                <a:ea typeface="华文楷体" panose="02010600040101010101" pitchFamily="2" charset="-122"/>
                <a:sym typeface="Wingdings" panose="05000000000000000000" pitchFamily="2" charset="2"/>
              </a:rPr>
              <a:t>c[k]+1</a:t>
            </a:r>
          </a:p>
          <a:p>
            <a:pPr lvl="1" eaLnBrk="1" hangingPunct="1">
              <a:lnSpc>
                <a:spcPct val="80000"/>
              </a:lnSpc>
              <a:buAutoNum type="arabicPeriod" startAt="9"/>
            </a:pPr>
            <a:r>
              <a:rPr lang="en-US" altLang="zh-CN" sz="2000" b="1" dirty="0">
                <a:ea typeface="华文楷体" panose="02010600040101010101" pitchFamily="2" charset="-122"/>
                <a:sym typeface="Wingdings" panose="05000000000000000000" pitchFamily="2" charset="2"/>
              </a:rPr>
              <a:t>              if</a:t>
            </a:r>
            <a:r>
              <a:rPr lang="en-US" altLang="zh-CN" sz="2000" dirty="0">
                <a:ea typeface="华文楷体" panose="02010600040101010101" pitchFamily="2" charset="-122"/>
                <a:sym typeface="Wingdings" panose="05000000000000000000" pitchFamily="2" charset="2"/>
              </a:rPr>
              <a:t> c</a:t>
            </a:r>
            <a:r>
              <a:rPr lang="zh-CN" altLang="en-US" sz="2000" dirty="0">
                <a:ea typeface="华文楷体" panose="02010600040101010101" pitchFamily="2" charset="-122"/>
                <a:sym typeface="Wingdings" panose="05000000000000000000" pitchFamily="2" charset="2"/>
              </a:rPr>
              <a:t>为合法着色，</a:t>
            </a:r>
            <a:r>
              <a:rPr lang="en-US" altLang="zh-CN" sz="2000" b="1" dirty="0">
                <a:ea typeface="华文楷体" panose="02010600040101010101" pitchFamily="2" charset="-122"/>
                <a:sym typeface="Wingdings" panose="05000000000000000000" pitchFamily="2" charset="2"/>
              </a:rPr>
              <a:t>then</a:t>
            </a:r>
            <a:r>
              <a:rPr lang="en-US" altLang="zh-CN" sz="2000" dirty="0">
                <a:ea typeface="华文楷体" panose="02010600040101010101" pitchFamily="2" charset="-122"/>
                <a:sym typeface="Wingdings" panose="05000000000000000000" pitchFamily="2" charset="2"/>
              </a:rPr>
              <a:t>  </a:t>
            </a:r>
            <a:r>
              <a:rPr lang="zh-CN" altLang="en-US" sz="2000" dirty="0">
                <a:ea typeface="华文楷体" panose="02010600040101010101" pitchFamily="2" charset="-122"/>
                <a:sym typeface="Wingdings" panose="05000000000000000000" pitchFamily="2" charset="2"/>
              </a:rPr>
              <a:t>设置</a:t>
            </a:r>
            <a:r>
              <a:rPr lang="en-US" altLang="zh-CN" sz="2000" dirty="0">
                <a:ea typeface="华文楷体" panose="02010600040101010101" pitchFamily="2" charset="-122"/>
                <a:sym typeface="Wingdings" panose="05000000000000000000" pitchFamily="2" charset="2"/>
              </a:rPr>
              <a:t>flagtrue</a:t>
            </a:r>
          </a:p>
          <a:p>
            <a:pPr lvl="1" eaLnBrk="1" hangingPunct="1">
              <a:lnSpc>
                <a:spcPct val="80000"/>
              </a:lnSpc>
              <a:buNone/>
            </a:pPr>
            <a:r>
              <a:rPr lang="en-US" altLang="zh-CN" sz="2000" dirty="0">
                <a:ea typeface="华文楷体" panose="02010600040101010101" pitchFamily="2" charset="-122"/>
                <a:sym typeface="Wingdings" panose="05000000000000000000" pitchFamily="2" charset="2"/>
              </a:rPr>
              <a:t>                      </a:t>
            </a:r>
            <a:r>
              <a:rPr lang="zh-CN" altLang="en-US" sz="2000" dirty="0">
                <a:ea typeface="华文楷体" panose="02010600040101010101" pitchFamily="2" charset="-122"/>
                <a:sym typeface="Wingdings" panose="05000000000000000000" pitchFamily="2" charset="2"/>
              </a:rPr>
              <a:t>且从两个</a:t>
            </a:r>
            <a:r>
              <a:rPr lang="en-US" altLang="zh-CN" sz="2000" dirty="0">
                <a:ea typeface="华文楷体" panose="02010600040101010101" pitchFamily="2" charset="-122"/>
                <a:sym typeface="Wingdings" panose="05000000000000000000" pitchFamily="2" charset="2"/>
              </a:rPr>
              <a:t>while</a:t>
            </a:r>
            <a:r>
              <a:rPr lang="zh-CN" altLang="en-US" sz="2000" dirty="0">
                <a:ea typeface="华文楷体" panose="02010600040101010101" pitchFamily="2" charset="-122"/>
                <a:sym typeface="Wingdings" panose="05000000000000000000" pitchFamily="2" charset="2"/>
              </a:rPr>
              <a:t>循环退出</a:t>
            </a:r>
            <a:endParaRPr lang="en-US" altLang="zh-CN" sz="2000" dirty="0">
              <a:ea typeface="华文楷体" panose="02010600040101010101" pitchFamily="2" charset="-122"/>
              <a:sym typeface="Wingdings" panose="05000000000000000000" pitchFamily="2" charset="2"/>
            </a:endParaRPr>
          </a:p>
          <a:p>
            <a:pPr lvl="1" eaLnBrk="1" hangingPunct="1">
              <a:lnSpc>
                <a:spcPct val="80000"/>
              </a:lnSpc>
              <a:buNone/>
            </a:pPr>
            <a:r>
              <a:rPr lang="en-US" altLang="zh-CN" sz="2000" dirty="0">
                <a:ea typeface="华文楷体" panose="02010600040101010101" pitchFamily="2" charset="-122"/>
                <a:sym typeface="Symbol" pitchFamily="18" charset="2"/>
              </a:rPr>
              <a:t>10.  	</a:t>
            </a:r>
            <a:r>
              <a:rPr lang="en-US" altLang="zh-CN" sz="2000" b="1" dirty="0">
                <a:ea typeface="华文楷体" panose="02010600040101010101" pitchFamily="2" charset="-122"/>
                <a:sym typeface="Symbol" pitchFamily="18" charset="2"/>
              </a:rPr>
              <a:t>else if</a:t>
            </a:r>
            <a:r>
              <a:rPr lang="en-US" altLang="zh-CN" sz="2000" dirty="0">
                <a:ea typeface="华文楷体" panose="02010600040101010101" pitchFamily="2" charset="-122"/>
                <a:sym typeface="Symbol" pitchFamily="18" charset="2"/>
              </a:rPr>
              <a:t> c</a:t>
            </a:r>
            <a:r>
              <a:rPr lang="zh-CN" altLang="en-US" sz="2000" dirty="0">
                <a:ea typeface="华文楷体" panose="02010600040101010101" pitchFamily="2" charset="-122"/>
                <a:sym typeface="Symbol" pitchFamily="18" charset="2"/>
              </a:rPr>
              <a:t>是部分解</a:t>
            </a:r>
            <a:r>
              <a:rPr lang="en-US" altLang="zh-CN" sz="2000" b="1" dirty="0">
                <a:ea typeface="华文楷体" panose="02010600040101010101" pitchFamily="2" charset="-122"/>
                <a:sym typeface="Symbol" pitchFamily="18" charset="2"/>
              </a:rPr>
              <a:t>then</a:t>
            </a:r>
            <a:r>
              <a:rPr lang="en-US" altLang="zh-CN" sz="2000" dirty="0">
                <a:ea typeface="华文楷体" panose="02010600040101010101" pitchFamily="2" charset="-122"/>
                <a:sym typeface="Symbol" pitchFamily="18" charset="2"/>
              </a:rPr>
              <a:t> k</a:t>
            </a:r>
            <a:r>
              <a:rPr lang="en-US" altLang="zh-CN" sz="2000" dirty="0">
                <a:ea typeface="华文楷体" panose="02010600040101010101" pitchFamily="2" charset="-122"/>
                <a:sym typeface="Wingdings" panose="05000000000000000000" pitchFamily="2" charset="2"/>
              </a:rPr>
              <a:t>k+1 {</a:t>
            </a:r>
            <a:r>
              <a:rPr lang="zh-CN" altLang="en-US" sz="2000" dirty="0">
                <a:ea typeface="华文楷体" panose="02010600040101010101" pitchFamily="2" charset="-122"/>
                <a:sym typeface="Wingdings" panose="05000000000000000000" pitchFamily="2" charset="2"/>
              </a:rPr>
              <a:t>前进</a:t>
            </a:r>
            <a:r>
              <a:rPr lang="en-US" altLang="zh-CN" sz="2000" dirty="0">
                <a:ea typeface="华文楷体" panose="02010600040101010101" pitchFamily="2" charset="-122"/>
                <a:sym typeface="Wingdings" panose="05000000000000000000" pitchFamily="2" charset="2"/>
              </a:rPr>
              <a:t>}</a:t>
            </a:r>
          </a:p>
          <a:p>
            <a:pPr lvl="1" eaLnBrk="1" hangingPunct="1">
              <a:lnSpc>
                <a:spcPct val="80000"/>
              </a:lnSpc>
              <a:buNone/>
            </a:pPr>
            <a:r>
              <a:rPr lang="en-US" altLang="zh-CN" sz="2000" dirty="0">
                <a:ea typeface="华文楷体" panose="02010600040101010101" pitchFamily="2" charset="-122"/>
                <a:sym typeface="Symbol" pitchFamily="18" charset="2"/>
              </a:rPr>
              <a:t>11.	  </a:t>
            </a:r>
            <a:r>
              <a:rPr lang="en-US" altLang="zh-CN" sz="2000" b="1" dirty="0">
                <a:ea typeface="华文楷体" panose="02010600040101010101" pitchFamily="2" charset="-122"/>
                <a:sym typeface="Symbol" pitchFamily="18" charset="2"/>
              </a:rPr>
              <a:t>end while</a:t>
            </a:r>
          </a:p>
          <a:p>
            <a:pPr lvl="1" eaLnBrk="1" hangingPunct="1">
              <a:lnSpc>
                <a:spcPct val="80000"/>
              </a:lnSpc>
              <a:buNone/>
            </a:pPr>
            <a:r>
              <a:rPr lang="en-US" altLang="zh-CN" sz="2000" dirty="0">
                <a:ea typeface="华文楷体" panose="02010600040101010101" pitchFamily="2" charset="-122"/>
                <a:sym typeface="Symbol" pitchFamily="18" charset="2"/>
              </a:rPr>
              <a:t>12.    c[k]</a:t>
            </a:r>
            <a:r>
              <a:rPr lang="en-US" altLang="zh-CN" sz="2000" dirty="0">
                <a:ea typeface="华文楷体" panose="02010600040101010101" pitchFamily="2" charset="-122"/>
                <a:sym typeface="Wingdings" panose="05000000000000000000" pitchFamily="2" charset="2"/>
              </a:rPr>
              <a:t>0</a:t>
            </a:r>
          </a:p>
          <a:p>
            <a:pPr lvl="1" eaLnBrk="1" hangingPunct="1">
              <a:lnSpc>
                <a:spcPct val="80000"/>
              </a:lnSpc>
              <a:buNone/>
            </a:pPr>
            <a:r>
              <a:rPr lang="en-US" altLang="zh-CN" sz="2000" dirty="0">
                <a:ea typeface="华文楷体" panose="02010600040101010101" pitchFamily="2" charset="-122"/>
                <a:sym typeface="Symbol" pitchFamily="18" charset="2"/>
              </a:rPr>
              <a:t>13.    k</a:t>
            </a:r>
            <a:r>
              <a:rPr lang="en-US" altLang="zh-CN" sz="2000" dirty="0">
                <a:ea typeface="华文楷体" panose="02010600040101010101" pitchFamily="2" charset="-122"/>
                <a:sym typeface="Wingdings" panose="05000000000000000000" pitchFamily="2" charset="2"/>
              </a:rPr>
              <a:t>k-1 {</a:t>
            </a:r>
            <a:r>
              <a:rPr lang="zh-CN" altLang="en-US" sz="2000" dirty="0">
                <a:ea typeface="华文楷体" panose="02010600040101010101" pitchFamily="2" charset="-122"/>
                <a:sym typeface="Wingdings" panose="05000000000000000000" pitchFamily="2" charset="2"/>
              </a:rPr>
              <a:t>回溯</a:t>
            </a:r>
            <a:r>
              <a:rPr lang="en-US" altLang="zh-CN" sz="2000" dirty="0">
                <a:ea typeface="华文楷体" panose="02010600040101010101" pitchFamily="2" charset="-122"/>
                <a:sym typeface="Wingdings" panose="05000000000000000000" pitchFamily="2" charset="2"/>
              </a:rPr>
              <a:t>}</a:t>
            </a:r>
          </a:p>
          <a:p>
            <a:pPr lvl="1" eaLnBrk="1" hangingPunct="1">
              <a:lnSpc>
                <a:spcPct val="80000"/>
              </a:lnSpc>
              <a:buNone/>
            </a:pPr>
            <a:r>
              <a:rPr lang="en-US" altLang="zh-CN" sz="2000" dirty="0">
                <a:ea typeface="华文楷体" panose="02010600040101010101" pitchFamily="2" charset="-122"/>
                <a:sym typeface="Symbol" pitchFamily="18" charset="2"/>
              </a:rPr>
              <a:t>14. </a:t>
            </a:r>
            <a:r>
              <a:rPr lang="en-US" altLang="zh-CN" sz="2000" b="1" dirty="0">
                <a:ea typeface="华文楷体" panose="02010600040101010101" pitchFamily="2" charset="-122"/>
                <a:sym typeface="Symbol" pitchFamily="18" charset="2"/>
              </a:rPr>
              <a:t>end while</a:t>
            </a:r>
          </a:p>
          <a:p>
            <a:pPr lvl="1" eaLnBrk="1" hangingPunct="1">
              <a:lnSpc>
                <a:spcPct val="80000"/>
              </a:lnSpc>
              <a:buNone/>
            </a:pPr>
            <a:r>
              <a:rPr lang="en-US" altLang="zh-CN" sz="2000" dirty="0">
                <a:ea typeface="华文楷体" panose="02010600040101010101" pitchFamily="2" charset="-122"/>
                <a:sym typeface="Symbol" pitchFamily="18" charset="2"/>
              </a:rPr>
              <a:t>15. </a:t>
            </a:r>
            <a:r>
              <a:rPr lang="en-US" altLang="zh-CN" sz="2000" b="1" dirty="0">
                <a:ea typeface="华文楷体" panose="02010600040101010101" pitchFamily="2" charset="-122"/>
                <a:sym typeface="Symbol" pitchFamily="18" charset="2"/>
              </a:rPr>
              <a:t>if</a:t>
            </a:r>
            <a:r>
              <a:rPr lang="en-US" altLang="zh-CN" sz="2000" dirty="0">
                <a:ea typeface="华文楷体" panose="02010600040101010101" pitchFamily="2" charset="-122"/>
                <a:sym typeface="Symbol" pitchFamily="18" charset="2"/>
              </a:rPr>
              <a:t> flag </a:t>
            </a:r>
            <a:r>
              <a:rPr lang="en-US" altLang="zh-CN" sz="2000" b="1" dirty="0">
                <a:ea typeface="华文楷体" panose="02010600040101010101" pitchFamily="2" charset="-122"/>
                <a:sym typeface="Symbol" pitchFamily="18" charset="2"/>
              </a:rPr>
              <a:t>then</a:t>
            </a:r>
            <a:r>
              <a:rPr lang="en-US" altLang="zh-CN" sz="2000" dirty="0">
                <a:ea typeface="华文楷体" panose="02010600040101010101" pitchFamily="2" charset="-122"/>
                <a:sym typeface="Symbol" pitchFamily="18" charset="2"/>
              </a:rPr>
              <a:t> </a:t>
            </a:r>
            <a:r>
              <a:rPr lang="en-US" altLang="zh-CN" sz="2000" b="1" dirty="0">
                <a:ea typeface="华文楷体" panose="02010600040101010101" pitchFamily="2" charset="-122"/>
                <a:sym typeface="Symbol" pitchFamily="18" charset="2"/>
              </a:rPr>
              <a:t>output</a:t>
            </a:r>
            <a:r>
              <a:rPr lang="en-US" altLang="zh-CN" sz="2000" dirty="0">
                <a:ea typeface="华文楷体" panose="02010600040101010101" pitchFamily="2" charset="-122"/>
                <a:sym typeface="Symbol" pitchFamily="18" charset="2"/>
              </a:rPr>
              <a:t> c</a:t>
            </a:r>
          </a:p>
          <a:p>
            <a:pPr lvl="1" eaLnBrk="1" hangingPunct="1">
              <a:lnSpc>
                <a:spcPct val="80000"/>
              </a:lnSpc>
              <a:buNone/>
            </a:pPr>
            <a:r>
              <a:rPr lang="en-US" altLang="zh-CN" sz="2000" dirty="0">
                <a:ea typeface="华文楷体" panose="02010600040101010101" pitchFamily="2" charset="-122"/>
                <a:sym typeface="Symbol" pitchFamily="18" charset="2"/>
              </a:rPr>
              <a:t>16 </a:t>
            </a:r>
            <a:r>
              <a:rPr lang="en-US" altLang="zh-CN" sz="2000" b="1" dirty="0">
                <a:ea typeface="华文楷体" panose="02010600040101010101" pitchFamily="2" charset="-122"/>
                <a:sym typeface="Symbol" pitchFamily="18" charset="2"/>
              </a:rPr>
              <a:t>else output</a:t>
            </a:r>
            <a:r>
              <a:rPr lang="en-US" altLang="zh-CN" sz="2000" dirty="0">
                <a:ea typeface="华文楷体" panose="02010600040101010101" pitchFamily="2" charset="-122"/>
                <a:sym typeface="Symbol" pitchFamily="18" charset="2"/>
              </a:rPr>
              <a:t> “no solution”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28674" name="Rectangle 2"/>
          <p:cNvSpPr>
            <a:spLocks noGrp="1"/>
          </p:cNvSpPr>
          <p:nvPr>
            <p:ph type="title"/>
          </p:nvPr>
        </p:nvSpPr>
        <p:spPr/>
        <p:txBody>
          <a:bodyPr vert="horz" wrap="square" lIns="91440" tIns="45720" rIns="91440" bIns="45720" anchor="ctr" anchorCtr="0"/>
          <a:lstStyle/>
          <a:p>
            <a:pPr eaLnBrk="1" hangingPunct="1"/>
            <a:r>
              <a:rPr lang="en-US" altLang="zh-CN" dirty="0"/>
              <a:t>8.1.1 </a:t>
            </a:r>
            <a:r>
              <a:rPr lang="zh-CN" altLang="en-US" dirty="0"/>
              <a:t>图</a:t>
            </a:r>
            <a:r>
              <a:rPr lang="zh-CN" altLang="en-US" dirty="0">
                <a:sym typeface="华文楷体" panose="02010600040101010101" pitchFamily="2" charset="-122"/>
              </a:rPr>
              <a:t>着色</a:t>
            </a:r>
            <a:r>
              <a:rPr lang="zh-CN" altLang="en-US" dirty="0"/>
              <a:t>——复杂度</a:t>
            </a:r>
          </a:p>
        </p:txBody>
      </p:sp>
      <p:sp>
        <p:nvSpPr>
          <p:cNvPr id="15363" name="Rectangle 3"/>
          <p:cNvSpPr>
            <a:spLocks noGrp="1"/>
          </p:cNvSpPr>
          <p:nvPr>
            <p:ph idx="1"/>
          </p:nvPr>
        </p:nvSpPr>
        <p:spPr/>
        <p:txBody>
          <a:bodyPr vert="horz" wrap="square" lIns="91440" tIns="45720" rIns="91440" bIns="45720" anchor="t" anchorCtr="0"/>
          <a:lstStyle/>
          <a:p>
            <a:pPr eaLnBrk="1" hangingPunct="1"/>
            <a:r>
              <a:rPr lang="zh-CN" altLang="en-US" dirty="0"/>
              <a:t>对于这两种算法的时间复杂性，我们注意到在最坏情况下生成了</a:t>
            </a:r>
            <a:r>
              <a:rPr lang="en-US" altLang="zh-CN" dirty="0"/>
              <a:t>O(3</a:t>
            </a:r>
            <a:r>
              <a:rPr lang="en-US" altLang="zh-CN" baseline="30000" dirty="0"/>
              <a:t>n</a:t>
            </a:r>
            <a:r>
              <a:rPr lang="en-US" altLang="zh-CN" dirty="0"/>
              <a:t>)</a:t>
            </a:r>
            <a:r>
              <a:rPr lang="zh-CN" altLang="en-US" dirty="0"/>
              <a:t>个节点。对于每个生成的节点，如果当前着色是合法的、部分的，或者二者都不是，这需要</a:t>
            </a:r>
            <a:r>
              <a:rPr lang="en-US" altLang="zh-CN" dirty="0"/>
              <a:t>O(n)</a:t>
            </a:r>
            <a:r>
              <a:rPr lang="zh-CN" altLang="en-US" dirty="0"/>
              <a:t>的工作来检查。因此，在最坏情况下，全部的运行时间是</a:t>
            </a:r>
            <a:r>
              <a:rPr lang="en-US" altLang="zh-CN" dirty="0"/>
              <a:t>O(n3</a:t>
            </a:r>
            <a:r>
              <a:rPr lang="en-US" altLang="zh-CN" baseline="30000" dirty="0"/>
              <a:t>n</a:t>
            </a:r>
            <a:r>
              <a:rPr lang="en-US" altLang="zh-CN" dirty="0"/>
              <a:t>) </a:t>
            </a:r>
            <a:r>
              <a:rPr lang="zh-CN" altLang="en-US" dirty="0"/>
              <a:t>。</a:t>
            </a:r>
            <a:endParaRPr lang="en-US" altLang="zh-CN" dirty="0"/>
          </a:p>
          <a:p>
            <a:pPr eaLnBrk="1" hangingPunct="1"/>
            <a:endParaRPr lang="en-US" altLang="zh-CN" sz="800" dirty="0"/>
          </a:p>
          <a:p>
            <a:pPr eaLnBrk="1" hangingPunct="1"/>
            <a:r>
              <a:rPr lang="zh-CN" altLang="en-US" dirty="0">
                <a:latin typeface="宋体" pitchFamily="2" charset="-122"/>
              </a:rPr>
              <a:t>空间复杂度是</a:t>
            </a:r>
            <a:r>
              <a:rPr lang="el-GR" altLang="zh-CN" dirty="0">
                <a:latin typeface="宋体" pitchFamily="2" charset="-122"/>
              </a:rPr>
              <a:t>Θ</a:t>
            </a:r>
            <a:r>
              <a:rPr lang="en-US" altLang="zh-CN" dirty="0">
                <a:latin typeface="宋体" pitchFamily="2" charset="-122"/>
              </a:rPr>
              <a:t>(n)</a:t>
            </a:r>
            <a:r>
              <a:rPr lang="zh-CN" altLang="en-US" dirty="0">
                <a:latin typeface="宋体" pitchFamily="2" charset="-122"/>
              </a:rPr>
              <a:t>。</a:t>
            </a:r>
            <a:endParaRPr lang="el-GR" altLang="zh-CN"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p:cTn id="7" dur="500" fill="hold"/>
                                        <p:tgtEl>
                                          <p:spTgt spid="1536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36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1536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1536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nodeType="clickEffect">
                                  <p:stCondLst>
                                    <p:cond delay="0"/>
                                  </p:stCondLst>
                                  <p:iterate type="lt">
                                    <p:tmPct val="50000"/>
                                  </p:iterate>
                                  <p:childTnLst>
                                    <p:set>
                                      <p:cBhvr>
                                        <p:cTn id="14" dur="1" fill="hold">
                                          <p:stCondLst>
                                            <p:cond delay="0"/>
                                          </p:stCondLst>
                                        </p:cTn>
                                        <p:tgtEl>
                                          <p:spTgt spid="15363">
                                            <p:txEl>
                                              <p:pRg st="2" end="2"/>
                                            </p:txEl>
                                          </p:spTgt>
                                        </p:tgtEl>
                                        <p:attrNameLst>
                                          <p:attrName>style.visibility</p:attrName>
                                        </p:attrNameLst>
                                      </p:cBhvr>
                                      <p:to>
                                        <p:strVal val="visible"/>
                                      </p:to>
                                    </p:set>
                                    <p:anim calcmode="discrete" valueType="clr">
                                      <p:cBhvr override="childStyle">
                                        <p:cTn id="15" dur="80"/>
                                        <p:tgtEl>
                                          <p:spTgt spid="1536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15363">
                                            <p:txEl>
                                              <p:pRg st="2" end="2"/>
                                            </p:txEl>
                                          </p:spTgt>
                                        </p:tgtEl>
                                        <p:attrNameLst>
                                          <p:attrName>fillcolor</p:attrName>
                                        </p:attrNameLst>
                                      </p:cBhvr>
                                      <p:tavLst>
                                        <p:tav tm="0">
                                          <p:val>
                                            <p:clrVal>
                                              <a:schemeClr val="accent2"/>
                                            </p:clrVal>
                                          </p:val>
                                        </p:tav>
                                        <p:tav tm="50000">
                                          <p:val>
                                            <p:clrVal>
                                              <a:schemeClr val="hlink"/>
                                            </p:clrVal>
                                          </p:val>
                                        </p:tav>
                                      </p:tavLst>
                                    </p:anim>
                                    <p:set>
                                      <p:cBhvr>
                                        <p:cTn id="17" dur="80"/>
                                        <p:tgtEl>
                                          <p:spTgt spid="1536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30722" name="Rectangle 2"/>
          <p:cNvSpPr>
            <a:spLocks noGrp="1"/>
          </p:cNvSpPr>
          <p:nvPr>
            <p:ph type="title"/>
          </p:nvPr>
        </p:nvSpPr>
        <p:spPr/>
        <p:txBody>
          <a:bodyPr vert="horz" wrap="square" lIns="91440" tIns="45720" rIns="91440" bIns="45720" anchor="ctr" anchorCtr="0"/>
          <a:lstStyle/>
          <a:p>
            <a:pPr eaLnBrk="1" hangingPunct="1"/>
            <a:r>
              <a:rPr lang="en-US" altLang="zh-CN" dirty="0"/>
              <a:t>8.1.2 </a:t>
            </a:r>
            <a:r>
              <a:rPr lang="zh-CN" altLang="en-US" dirty="0"/>
              <a:t>皇后问题——问题描述</a:t>
            </a:r>
          </a:p>
        </p:txBody>
      </p:sp>
      <p:sp>
        <p:nvSpPr>
          <p:cNvPr id="16387"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8</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皇后问题描述</a:t>
            </a: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如何在</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8x8</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的国际象棋棋盘上安排</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8</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个皇后，使得没有两个皇后能互相攻击</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也就是说：如果两个皇后处在同一行、同一列或同一条对角线上，则她们能互相攻击。</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为了简化讨论，我们将研究</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4</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皇后问题。</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p:txBody>
      </p:sp>
      <p:pic>
        <p:nvPicPr>
          <p:cNvPr id="16388" name="Picture 4" descr="question"/>
          <p:cNvPicPr>
            <a:picLocks noChangeAspect="1"/>
          </p:cNvPicPr>
          <p:nvPr/>
        </p:nvPicPr>
        <p:blipFill>
          <a:blip r:embed="rId4"/>
          <a:stretch>
            <a:fillRect/>
          </a:stretch>
        </p:blipFill>
        <p:spPr>
          <a:xfrm>
            <a:off x="900113" y="1341438"/>
            <a:ext cx="504825" cy="5048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 calcmode="lin" valueType="num">
                                      <p:cBhvr>
                                        <p:cTn id="7" dur="5000" fill="hold"/>
                                        <p:tgtEl>
                                          <p:spTgt spid="16388"/>
                                        </p:tgtEl>
                                        <p:attrNameLst>
                                          <p:attrName>ppt_w</p:attrName>
                                        </p:attrNameLst>
                                      </p:cBhvr>
                                      <p:tavLst>
                                        <p:tav tm="0" fmla="#ppt_w*sin(2.5*pi*$)">
                                          <p:val>
                                            <p:fltVal val="0"/>
                                          </p:val>
                                        </p:tav>
                                        <p:tav tm="100000">
                                          <p:val>
                                            <p:fltVal val="1"/>
                                          </p:val>
                                        </p:tav>
                                      </p:tavLst>
                                    </p:anim>
                                    <p:anim calcmode="lin" valueType="num">
                                      <p:cBhvr>
                                        <p:cTn id="8" dur="5000" fill="hold"/>
                                        <p:tgtEl>
                                          <p:spTgt spid="1638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16387">
                                            <p:txEl>
                                              <p:pRg st="0" end="0"/>
                                            </p:txEl>
                                          </p:spTgt>
                                        </p:tgtEl>
                                        <p:attrNameLst>
                                          <p:attrName>style.visibility</p:attrName>
                                        </p:attrNameLst>
                                      </p:cBhvr>
                                      <p:to>
                                        <p:strVal val="visible"/>
                                      </p:to>
                                    </p:set>
                                    <p:animEffect transition="in" filter="blinds(horizontal)">
                                      <p:cBhvr>
                                        <p:cTn id="11" dur="500"/>
                                        <p:tgtEl>
                                          <p:spTgt spid="1638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9" presetClass="entr" presetSubtype="0" decel="100000" fill="hold" nodeType="clickEffect">
                                  <p:stCondLst>
                                    <p:cond delay="0"/>
                                  </p:stCondLst>
                                  <p:childTnLst>
                                    <p:set>
                                      <p:cBhvr>
                                        <p:cTn id="15" dur="1" fill="hold">
                                          <p:stCondLst>
                                            <p:cond delay="0"/>
                                          </p:stCondLst>
                                        </p:cTn>
                                        <p:tgtEl>
                                          <p:spTgt spid="16387">
                                            <p:txEl>
                                              <p:pRg st="1" end="1"/>
                                            </p:txEl>
                                          </p:spTgt>
                                        </p:tgtEl>
                                        <p:attrNameLst>
                                          <p:attrName>style.visibility</p:attrName>
                                        </p:attrNameLst>
                                      </p:cBhvr>
                                      <p:to>
                                        <p:strVal val="visible"/>
                                      </p:to>
                                    </p:set>
                                    <p:anim calcmode="lin" valueType="num">
                                      <p:cBhvr>
                                        <p:cTn id="16" dur="500" fill="hold"/>
                                        <p:tgtEl>
                                          <p:spTgt spid="16387">
                                            <p:txEl>
                                              <p:pRg st="1" end="1"/>
                                            </p:txEl>
                                          </p:spTgt>
                                        </p:tgtEl>
                                        <p:attrNameLst>
                                          <p:attrName>ppt_w</p:attrName>
                                        </p:attrNameLst>
                                      </p:cBhvr>
                                      <p:tavLst>
                                        <p:tav tm="0">
                                          <p:val>
                                            <p:fltVal val="0"/>
                                          </p:val>
                                        </p:tav>
                                        <p:tav tm="100000">
                                          <p:val>
                                            <p:strVal val="#ppt_w"/>
                                          </p:val>
                                        </p:tav>
                                      </p:tavLst>
                                    </p:anim>
                                    <p:anim calcmode="lin" valueType="num">
                                      <p:cBhvr>
                                        <p:cTn id="17" dur="500" fill="hold"/>
                                        <p:tgtEl>
                                          <p:spTgt spid="16387">
                                            <p:txEl>
                                              <p:pRg st="1" end="1"/>
                                            </p:txEl>
                                          </p:spTgt>
                                        </p:tgtEl>
                                        <p:attrNameLst>
                                          <p:attrName>ppt_h</p:attrName>
                                        </p:attrNameLst>
                                      </p:cBhvr>
                                      <p:tavLst>
                                        <p:tav tm="0">
                                          <p:val>
                                            <p:fltVal val="0"/>
                                          </p:val>
                                        </p:tav>
                                        <p:tav tm="100000">
                                          <p:val>
                                            <p:strVal val="#ppt_h"/>
                                          </p:val>
                                        </p:tav>
                                      </p:tavLst>
                                    </p:anim>
                                    <p:anim calcmode="lin" valueType="num">
                                      <p:cBhvr>
                                        <p:cTn id="18" dur="500" fill="hold"/>
                                        <p:tgtEl>
                                          <p:spTgt spid="16387">
                                            <p:txEl>
                                              <p:pRg st="1" end="1"/>
                                            </p:txEl>
                                          </p:spTgt>
                                        </p:tgtEl>
                                        <p:attrNameLst>
                                          <p:attrName>style.rotation</p:attrName>
                                        </p:attrNameLst>
                                      </p:cBhvr>
                                      <p:tavLst>
                                        <p:tav tm="0">
                                          <p:val>
                                            <p:fltVal val="360"/>
                                          </p:val>
                                        </p:tav>
                                        <p:tav tm="100000">
                                          <p:val>
                                            <p:fltVal val="0"/>
                                          </p:val>
                                        </p:tav>
                                      </p:tavLst>
                                    </p:anim>
                                    <p:animEffect transition="in" filter="fade">
                                      <p:cBhvr>
                                        <p:cTn id="19" dur="500"/>
                                        <p:tgtEl>
                                          <p:spTgt spid="16387">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nodeType="clickEffect">
                                  <p:stCondLst>
                                    <p:cond delay="0"/>
                                  </p:stCondLst>
                                  <p:iterate type="lt">
                                    <p:tmPct val="50000"/>
                                  </p:iterate>
                                  <p:childTnLst>
                                    <p:set>
                                      <p:cBhvr>
                                        <p:cTn id="23" dur="1" fill="hold">
                                          <p:stCondLst>
                                            <p:cond delay="0"/>
                                          </p:stCondLst>
                                        </p:cTn>
                                        <p:tgtEl>
                                          <p:spTgt spid="16387">
                                            <p:txEl>
                                              <p:pRg st="3" end="3"/>
                                            </p:txEl>
                                          </p:spTgt>
                                        </p:tgtEl>
                                        <p:attrNameLst>
                                          <p:attrName>style.visibility</p:attrName>
                                        </p:attrNameLst>
                                      </p:cBhvr>
                                      <p:to>
                                        <p:strVal val="visible"/>
                                      </p:to>
                                    </p:set>
                                    <p:anim calcmode="discrete" valueType="clr">
                                      <p:cBhvr override="childStyle">
                                        <p:cTn id="24" dur="80"/>
                                        <p:tgtEl>
                                          <p:spTgt spid="1638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16387">
                                            <p:txEl>
                                              <p:pRg st="3" end="3"/>
                                            </p:txEl>
                                          </p:spTgt>
                                        </p:tgtEl>
                                        <p:attrNameLst>
                                          <p:attrName>fillcolor</p:attrName>
                                        </p:attrNameLst>
                                      </p:cBhvr>
                                      <p:tavLst>
                                        <p:tav tm="0">
                                          <p:val>
                                            <p:clrVal>
                                              <a:schemeClr val="accent2"/>
                                            </p:clrVal>
                                          </p:val>
                                        </p:tav>
                                        <p:tav tm="50000">
                                          <p:val>
                                            <p:clrVal>
                                              <a:schemeClr val="hlink"/>
                                            </p:clrVal>
                                          </p:val>
                                        </p:tav>
                                      </p:tavLst>
                                    </p:anim>
                                    <p:set>
                                      <p:cBhvr>
                                        <p:cTn id="26" dur="80"/>
                                        <p:tgtEl>
                                          <p:spTgt spid="16387">
                                            <p:txEl>
                                              <p:pRg st="3" end="3"/>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nodeType="clickEffect">
                                  <p:stCondLst>
                                    <p:cond delay="0"/>
                                  </p:stCondLst>
                                  <p:iterate type="lt">
                                    <p:tmPct val="50000"/>
                                  </p:iterate>
                                  <p:childTnLst>
                                    <p:set>
                                      <p:cBhvr>
                                        <p:cTn id="30" dur="1" fill="hold">
                                          <p:stCondLst>
                                            <p:cond delay="0"/>
                                          </p:stCondLst>
                                        </p:cTn>
                                        <p:tgtEl>
                                          <p:spTgt spid="16387">
                                            <p:txEl>
                                              <p:pRg st="5" end="5"/>
                                            </p:txEl>
                                          </p:spTgt>
                                        </p:tgtEl>
                                        <p:attrNameLst>
                                          <p:attrName>style.visibility</p:attrName>
                                        </p:attrNameLst>
                                      </p:cBhvr>
                                      <p:to>
                                        <p:strVal val="visible"/>
                                      </p:to>
                                    </p:set>
                                    <p:anim calcmode="discrete" valueType="clr">
                                      <p:cBhvr override="childStyle">
                                        <p:cTn id="31" dur="80"/>
                                        <p:tgtEl>
                                          <p:spTgt spid="16387">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16387">
                                            <p:txEl>
                                              <p:pRg st="5" end="5"/>
                                            </p:txEl>
                                          </p:spTgt>
                                        </p:tgtEl>
                                        <p:attrNameLst>
                                          <p:attrName>fillcolor</p:attrName>
                                        </p:attrNameLst>
                                      </p:cBhvr>
                                      <p:tavLst>
                                        <p:tav tm="0">
                                          <p:val>
                                            <p:clrVal>
                                              <a:schemeClr val="accent2"/>
                                            </p:clrVal>
                                          </p:val>
                                        </p:tav>
                                        <p:tav tm="50000">
                                          <p:val>
                                            <p:clrVal>
                                              <a:schemeClr val="hlink"/>
                                            </p:clrVal>
                                          </p:val>
                                        </p:tav>
                                      </p:tavLst>
                                    </p:anim>
                                    <p:set>
                                      <p:cBhvr>
                                        <p:cTn id="33" dur="80"/>
                                        <p:tgtEl>
                                          <p:spTgt spid="16387">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32770" name="Rectangle 2"/>
          <p:cNvSpPr>
            <a:spLocks noGrp="1"/>
          </p:cNvSpPr>
          <p:nvPr>
            <p:ph type="title"/>
          </p:nvPr>
        </p:nvSpPr>
        <p:spPr/>
        <p:txBody>
          <a:bodyPr vert="horz" wrap="square" lIns="91440" tIns="45720" rIns="91440" bIns="45720" anchor="ctr" anchorCtr="0"/>
          <a:lstStyle/>
          <a:p>
            <a:pPr eaLnBrk="1" hangingPunct="1"/>
            <a:r>
              <a:rPr lang="en-US" altLang="zh-CN" dirty="0"/>
              <a:t>8.1.1 8</a:t>
            </a:r>
            <a:r>
              <a:rPr lang="zh-CN" altLang="en-US" dirty="0"/>
              <a:t>皇后问题——简化版</a:t>
            </a:r>
            <a:r>
              <a:rPr lang="en-US" altLang="zh-CN" dirty="0"/>
              <a:t>4</a:t>
            </a:r>
            <a:r>
              <a:rPr lang="zh-CN" altLang="en-US" dirty="0"/>
              <a:t>皇后</a:t>
            </a:r>
          </a:p>
        </p:txBody>
      </p:sp>
      <p:sp>
        <p:nvSpPr>
          <p:cNvPr id="17411" name="Rectangle 3"/>
          <p:cNvSpPr>
            <a:spLocks noGrp="1"/>
          </p:cNvSpPr>
          <p:nvPr>
            <p:ph idx="1"/>
          </p:nvPr>
        </p:nvSpPr>
        <p:spPr>
          <a:xfrm>
            <a:off x="827088" y="1196975"/>
            <a:ext cx="7993062" cy="4608513"/>
          </a:xfrm>
        </p:spPr>
        <p:txBody>
          <a:bodyPr vert="horz" wrap="square" lIns="91440" tIns="45720" rIns="91440" bIns="45720" anchor="t" anchorCtr="0"/>
          <a:lstStyle/>
          <a:p>
            <a:pPr eaLnBrk="1" hangingPunct="1">
              <a:lnSpc>
                <a:spcPct val="90000"/>
              </a:lnSpc>
            </a:pPr>
            <a:r>
              <a:rPr lang="zh-CN" altLang="en-US" sz="2400" dirty="0"/>
              <a:t> 考虑一个</a:t>
            </a:r>
            <a:r>
              <a:rPr lang="en-US" altLang="zh-CN" sz="2400" dirty="0"/>
              <a:t>4x4</a:t>
            </a:r>
            <a:r>
              <a:rPr lang="zh-CN" altLang="en-US" sz="2400" dirty="0"/>
              <a:t>的棋盘，由于没有两个皇后能处在同一行，所以每个皇后都在不同的行上。又因为每行有</a:t>
            </a:r>
            <a:r>
              <a:rPr lang="en-US" altLang="zh-CN" sz="2400" dirty="0"/>
              <a:t>4</a:t>
            </a:r>
            <a:r>
              <a:rPr lang="zh-CN" altLang="en-US" sz="2400" dirty="0"/>
              <a:t>个位置，就有</a:t>
            </a:r>
            <a:r>
              <a:rPr lang="en-US" altLang="zh-CN" sz="2400" dirty="0"/>
              <a:t>4</a:t>
            </a:r>
            <a:r>
              <a:rPr lang="en-US" altLang="zh-CN" sz="2400" baseline="30000" dirty="0"/>
              <a:t>4</a:t>
            </a:r>
            <a:r>
              <a:rPr lang="zh-CN" altLang="en-US" sz="2400" dirty="0"/>
              <a:t>种可能的布局，每种可能的布局可以用一个有</a:t>
            </a:r>
            <a:r>
              <a:rPr lang="en-US" altLang="zh-CN" sz="2400" dirty="0"/>
              <a:t>4</a:t>
            </a:r>
            <a:r>
              <a:rPr lang="zh-CN" altLang="en-US" sz="2400" dirty="0"/>
              <a:t>个分量的向量</a:t>
            </a:r>
            <a:r>
              <a:rPr lang="en-US" altLang="zh-CN" sz="2400" dirty="0"/>
              <a:t>x= (x1,x2,x3,x4)</a:t>
            </a:r>
            <a:r>
              <a:rPr lang="zh-CN" altLang="en-US" sz="2400" dirty="0"/>
              <a:t>来描述。</a:t>
            </a:r>
            <a:endParaRPr lang="en-US" altLang="zh-CN" sz="2400" dirty="0"/>
          </a:p>
          <a:p>
            <a:pPr eaLnBrk="1" hangingPunct="1">
              <a:lnSpc>
                <a:spcPct val="90000"/>
              </a:lnSpc>
            </a:pPr>
            <a:endParaRPr lang="en-US" altLang="zh-CN" sz="2400" dirty="0"/>
          </a:p>
          <a:p>
            <a:pPr eaLnBrk="1" hangingPunct="1">
              <a:lnSpc>
                <a:spcPct val="90000"/>
              </a:lnSpc>
            </a:pPr>
            <a:r>
              <a:rPr lang="zh-CN" altLang="en-US" sz="2400" dirty="0"/>
              <a:t>实际上，因为没有两个皇后能放在同一列上，一个合法的放置对应于数</a:t>
            </a:r>
            <a:r>
              <a:rPr lang="en-US" altLang="zh-CN" sz="2400" dirty="0"/>
              <a:t>1, 2, 3, 4</a:t>
            </a:r>
            <a:r>
              <a:rPr lang="zh-CN" altLang="en-US" sz="2400" dirty="0"/>
              <a:t>的一个排列，这把搜索空间从</a:t>
            </a:r>
            <a:r>
              <a:rPr lang="en-US" altLang="zh-CN" sz="2400" dirty="0"/>
              <a:t>4</a:t>
            </a:r>
            <a:r>
              <a:rPr lang="en-US" altLang="zh-CN" sz="2400" baseline="30000" dirty="0"/>
              <a:t>4</a:t>
            </a:r>
            <a:r>
              <a:rPr lang="zh-CN" altLang="en-US" sz="2400" dirty="0"/>
              <a:t>减少到</a:t>
            </a:r>
            <a:r>
              <a:rPr lang="en-US" altLang="zh-CN" sz="2400" dirty="0"/>
              <a:t>4!</a:t>
            </a:r>
            <a:r>
              <a:rPr lang="zh-CN" altLang="en-US" sz="2400" dirty="0"/>
              <a:t>。</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2"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34818" name="Rectangle 49"/>
          <p:cNvSpPr>
            <a:spLocks noGrp="1"/>
          </p:cNvSpPr>
          <p:nvPr>
            <p:ph type="title"/>
          </p:nvPr>
        </p:nvSpPr>
        <p:spPr/>
        <p:txBody>
          <a:bodyPr vert="horz" wrap="square" lIns="91440" tIns="45720" rIns="91440" bIns="45720" anchor="ctr" anchorCtr="0"/>
          <a:lstStyle/>
          <a:p>
            <a:pPr eaLnBrk="1" hangingPunct="1"/>
            <a:r>
              <a:rPr lang="en-US" altLang="zh-CN" dirty="0"/>
              <a:t>8.1.1 8</a:t>
            </a:r>
            <a:r>
              <a:rPr lang="zh-CN" altLang="en-US" dirty="0"/>
              <a:t>皇后问题——求解过程</a:t>
            </a:r>
          </a:p>
        </p:txBody>
      </p:sp>
      <p:sp>
        <p:nvSpPr>
          <p:cNvPr id="126980" name="Rectangle 4"/>
          <p:cNvSpPr/>
          <p:nvPr/>
        </p:nvSpPr>
        <p:spPr>
          <a:xfrm>
            <a:off x="2667000" y="40386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81" name="Rectangle 5"/>
          <p:cNvSpPr/>
          <p:nvPr/>
        </p:nvSpPr>
        <p:spPr>
          <a:xfrm>
            <a:off x="2667000" y="35052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82" name="Rectangle 6"/>
          <p:cNvSpPr/>
          <p:nvPr/>
        </p:nvSpPr>
        <p:spPr>
          <a:xfrm>
            <a:off x="2667000" y="29718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83" name="Rectangle 7"/>
          <p:cNvSpPr/>
          <p:nvPr/>
        </p:nvSpPr>
        <p:spPr>
          <a:xfrm>
            <a:off x="2667000" y="24384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84" name="Rectangle 8"/>
          <p:cNvSpPr/>
          <p:nvPr/>
        </p:nvSpPr>
        <p:spPr>
          <a:xfrm>
            <a:off x="2133600" y="24384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85" name="Rectangle 9"/>
          <p:cNvSpPr/>
          <p:nvPr/>
        </p:nvSpPr>
        <p:spPr>
          <a:xfrm>
            <a:off x="2133600" y="29718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86" name="Rectangle 10"/>
          <p:cNvSpPr/>
          <p:nvPr/>
        </p:nvSpPr>
        <p:spPr>
          <a:xfrm>
            <a:off x="2133600" y="35052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87" name="Rectangle 11"/>
          <p:cNvSpPr/>
          <p:nvPr/>
        </p:nvSpPr>
        <p:spPr>
          <a:xfrm>
            <a:off x="2133600" y="40386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88" name="Rectangle 12"/>
          <p:cNvSpPr/>
          <p:nvPr/>
        </p:nvSpPr>
        <p:spPr>
          <a:xfrm>
            <a:off x="1600200" y="24384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89" name="Rectangle 13"/>
          <p:cNvSpPr/>
          <p:nvPr/>
        </p:nvSpPr>
        <p:spPr>
          <a:xfrm>
            <a:off x="1600200" y="29718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0" name="Rectangle 14"/>
          <p:cNvSpPr/>
          <p:nvPr/>
        </p:nvSpPr>
        <p:spPr>
          <a:xfrm>
            <a:off x="1600200" y="35052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1" name="Rectangle 15"/>
          <p:cNvSpPr/>
          <p:nvPr/>
        </p:nvSpPr>
        <p:spPr>
          <a:xfrm>
            <a:off x="1600200" y="40386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2" name="Rectangle 16"/>
          <p:cNvSpPr/>
          <p:nvPr/>
        </p:nvSpPr>
        <p:spPr>
          <a:xfrm>
            <a:off x="1066800" y="40386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3" name="Rectangle 17"/>
          <p:cNvSpPr/>
          <p:nvPr/>
        </p:nvSpPr>
        <p:spPr>
          <a:xfrm>
            <a:off x="1066800" y="24384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4" name="Rectangle 18"/>
          <p:cNvSpPr/>
          <p:nvPr/>
        </p:nvSpPr>
        <p:spPr>
          <a:xfrm>
            <a:off x="1066800" y="29718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5" name="Rectangle 19"/>
          <p:cNvSpPr/>
          <p:nvPr/>
        </p:nvSpPr>
        <p:spPr>
          <a:xfrm>
            <a:off x="1066800" y="35052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6" name="Rectangle 20"/>
          <p:cNvSpPr/>
          <p:nvPr/>
        </p:nvSpPr>
        <p:spPr>
          <a:xfrm>
            <a:off x="6934200" y="40386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7" name="Rectangle 21"/>
          <p:cNvSpPr/>
          <p:nvPr/>
        </p:nvSpPr>
        <p:spPr>
          <a:xfrm>
            <a:off x="6934200" y="35052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8" name="Rectangle 22"/>
          <p:cNvSpPr/>
          <p:nvPr/>
        </p:nvSpPr>
        <p:spPr>
          <a:xfrm>
            <a:off x="6934200" y="29718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6999" name="Rectangle 23"/>
          <p:cNvSpPr/>
          <p:nvPr/>
        </p:nvSpPr>
        <p:spPr>
          <a:xfrm>
            <a:off x="6934200" y="24384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0" name="Rectangle 24"/>
          <p:cNvSpPr/>
          <p:nvPr/>
        </p:nvSpPr>
        <p:spPr>
          <a:xfrm>
            <a:off x="6400800" y="24384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1" name="Rectangle 25"/>
          <p:cNvSpPr/>
          <p:nvPr/>
        </p:nvSpPr>
        <p:spPr>
          <a:xfrm>
            <a:off x="6400800" y="29718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2" name="Rectangle 26"/>
          <p:cNvSpPr/>
          <p:nvPr/>
        </p:nvSpPr>
        <p:spPr>
          <a:xfrm>
            <a:off x="6400800" y="35052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3" name="Rectangle 27"/>
          <p:cNvSpPr/>
          <p:nvPr/>
        </p:nvSpPr>
        <p:spPr>
          <a:xfrm>
            <a:off x="6400800" y="40386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4" name="Rectangle 28"/>
          <p:cNvSpPr/>
          <p:nvPr/>
        </p:nvSpPr>
        <p:spPr>
          <a:xfrm>
            <a:off x="5867400" y="24384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5" name="Rectangle 29"/>
          <p:cNvSpPr/>
          <p:nvPr/>
        </p:nvSpPr>
        <p:spPr>
          <a:xfrm>
            <a:off x="5867400" y="29718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6" name="Rectangle 30"/>
          <p:cNvSpPr/>
          <p:nvPr/>
        </p:nvSpPr>
        <p:spPr>
          <a:xfrm>
            <a:off x="5867400" y="35052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7" name="Rectangle 31"/>
          <p:cNvSpPr/>
          <p:nvPr/>
        </p:nvSpPr>
        <p:spPr>
          <a:xfrm>
            <a:off x="5867400" y="40386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8" name="Rectangle 32"/>
          <p:cNvSpPr/>
          <p:nvPr/>
        </p:nvSpPr>
        <p:spPr>
          <a:xfrm>
            <a:off x="5334000" y="40386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09" name="Rectangle 33"/>
          <p:cNvSpPr/>
          <p:nvPr/>
        </p:nvSpPr>
        <p:spPr>
          <a:xfrm>
            <a:off x="5334000" y="24384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0" name="Rectangle 34"/>
          <p:cNvSpPr/>
          <p:nvPr/>
        </p:nvSpPr>
        <p:spPr>
          <a:xfrm>
            <a:off x="5334000" y="2971800"/>
            <a:ext cx="533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1" name="Rectangle 35"/>
          <p:cNvSpPr/>
          <p:nvPr/>
        </p:nvSpPr>
        <p:spPr>
          <a:xfrm>
            <a:off x="5334000" y="3505200"/>
            <a:ext cx="5334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2" name="Oval 36"/>
          <p:cNvSpPr/>
          <p:nvPr/>
        </p:nvSpPr>
        <p:spPr>
          <a:xfrm>
            <a:off x="1828800" y="2590800"/>
            <a:ext cx="152400" cy="152400"/>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3" name="Oval 37"/>
          <p:cNvSpPr/>
          <p:nvPr/>
        </p:nvSpPr>
        <p:spPr>
          <a:xfrm>
            <a:off x="1752600" y="2514600"/>
            <a:ext cx="304800" cy="304800"/>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4" name="Oval 38"/>
          <p:cNvSpPr/>
          <p:nvPr/>
        </p:nvSpPr>
        <p:spPr>
          <a:xfrm>
            <a:off x="2286000" y="3200400"/>
            <a:ext cx="152400" cy="152400"/>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5" name="Oval 39"/>
          <p:cNvSpPr/>
          <p:nvPr/>
        </p:nvSpPr>
        <p:spPr>
          <a:xfrm>
            <a:off x="2209800" y="3124200"/>
            <a:ext cx="304800" cy="304800"/>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6" name="Oval 40"/>
          <p:cNvSpPr/>
          <p:nvPr/>
        </p:nvSpPr>
        <p:spPr>
          <a:xfrm>
            <a:off x="2867025" y="3700463"/>
            <a:ext cx="152400" cy="152400"/>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7" name="Oval 41"/>
          <p:cNvSpPr/>
          <p:nvPr/>
        </p:nvSpPr>
        <p:spPr>
          <a:xfrm>
            <a:off x="2790825" y="3624263"/>
            <a:ext cx="304800" cy="304800"/>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8" name="Oval 42"/>
          <p:cNvSpPr/>
          <p:nvPr/>
        </p:nvSpPr>
        <p:spPr>
          <a:xfrm>
            <a:off x="1233488" y="4233863"/>
            <a:ext cx="152400" cy="152400"/>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19" name="Oval 43"/>
          <p:cNvSpPr/>
          <p:nvPr/>
        </p:nvSpPr>
        <p:spPr>
          <a:xfrm>
            <a:off x="1157288" y="4157663"/>
            <a:ext cx="304800" cy="304800"/>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20" name="Oval 44"/>
          <p:cNvSpPr/>
          <p:nvPr/>
        </p:nvSpPr>
        <p:spPr>
          <a:xfrm>
            <a:off x="6581775" y="2638425"/>
            <a:ext cx="152400" cy="152400"/>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21" name="Oval 45"/>
          <p:cNvSpPr/>
          <p:nvPr/>
        </p:nvSpPr>
        <p:spPr>
          <a:xfrm>
            <a:off x="6505575" y="2562225"/>
            <a:ext cx="304800" cy="304800"/>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22" name="Oval 46"/>
          <p:cNvSpPr/>
          <p:nvPr/>
        </p:nvSpPr>
        <p:spPr>
          <a:xfrm>
            <a:off x="5486400" y="3124200"/>
            <a:ext cx="152400" cy="152400"/>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23" name="Oval 47"/>
          <p:cNvSpPr/>
          <p:nvPr/>
        </p:nvSpPr>
        <p:spPr>
          <a:xfrm>
            <a:off x="5410200" y="3048000"/>
            <a:ext cx="304800" cy="304800"/>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90204" pitchFamily="34" charset="0"/>
              <a:ea typeface="宋体" pitchFamily="2" charset="-122"/>
            </a:endParaRPr>
          </a:p>
        </p:txBody>
      </p:sp>
      <p:sp>
        <p:nvSpPr>
          <p:cNvPr id="127027" name="Rectangle 51"/>
          <p:cNvSpPr/>
          <p:nvPr/>
        </p:nvSpPr>
        <p:spPr>
          <a:xfrm>
            <a:off x="539750" y="4724400"/>
            <a:ext cx="2663825" cy="366713"/>
          </a:xfrm>
          <a:prstGeom prst="rect">
            <a:avLst/>
          </a:prstGeom>
          <a:noFill/>
          <a:ln w="25400">
            <a:noFill/>
          </a:ln>
        </p:spPr>
        <p:txBody>
          <a:bodyPr wrap="none" anchor="t" anchorCtr="0">
            <a:spAutoFit/>
          </a:bodyPr>
          <a:lstStyle/>
          <a:p>
            <a:pPr lvl="1" indent="0" algn="l" rtl="0" eaLnBrk="1" fontAlgn="base" hangingPunct="1">
              <a:lnSpc>
                <a:spcPct val="90000"/>
              </a:lnSpc>
              <a:spcBef>
                <a:spcPct val="20000"/>
              </a:spcBef>
              <a:spcAft>
                <a:spcPct val="0"/>
              </a:spcAft>
              <a:buNone/>
            </a:pPr>
            <a:r>
              <a:rPr lang="en-US" altLang="zh-CN" sz="2000" dirty="0">
                <a:solidFill>
                  <a:schemeClr val="accent2"/>
                </a:solidFill>
                <a:latin typeface="Times New Roman" panose="02020503050405090304" pitchFamily="18" charset="0"/>
                <a:ea typeface="宋体" pitchFamily="2" charset="-122"/>
              </a:rPr>
              <a:t>The vector (2,3,4,1)</a:t>
            </a:r>
          </a:p>
        </p:txBody>
      </p:sp>
      <p:sp>
        <p:nvSpPr>
          <p:cNvPr id="127028" name="Rectangle 52"/>
          <p:cNvSpPr/>
          <p:nvPr/>
        </p:nvSpPr>
        <p:spPr>
          <a:xfrm>
            <a:off x="4787900" y="4703763"/>
            <a:ext cx="2992438" cy="366712"/>
          </a:xfrm>
          <a:prstGeom prst="rect">
            <a:avLst/>
          </a:prstGeom>
          <a:noFill/>
          <a:ln w="25400">
            <a:noFill/>
          </a:ln>
        </p:spPr>
        <p:txBody>
          <a:bodyPr wrap="none" anchor="t" anchorCtr="0">
            <a:spAutoFit/>
          </a:bodyPr>
          <a:lstStyle/>
          <a:p>
            <a:pPr lvl="1" indent="0" algn="l" rtl="0" eaLnBrk="1" fontAlgn="base" hangingPunct="1">
              <a:lnSpc>
                <a:spcPct val="90000"/>
              </a:lnSpc>
              <a:spcBef>
                <a:spcPct val="20000"/>
              </a:spcBef>
              <a:spcAft>
                <a:spcPct val="0"/>
              </a:spcAft>
              <a:buNone/>
            </a:pPr>
            <a:r>
              <a:rPr lang="en-US" altLang="zh-CN" sz="2000" dirty="0">
                <a:solidFill>
                  <a:schemeClr val="accent2"/>
                </a:solidFill>
                <a:latin typeface="Times New Roman" panose="02020503050405090304" pitchFamily="18" charset="0"/>
                <a:ea typeface="宋体" pitchFamily="2" charset="-122"/>
              </a:rPr>
              <a:t>The partial vector (3,1)</a:t>
            </a:r>
          </a:p>
        </p:txBody>
      </p:sp>
      <p:sp>
        <p:nvSpPr>
          <p:cNvPr id="34865" name="内容占位符 1"/>
          <p:cNvSpPr>
            <a:spLocks noGrp="1"/>
          </p:cNvSpPr>
          <p:nvPr>
            <p:ph idx="1"/>
          </p:nvPr>
        </p:nvSpPr>
        <p:spPr/>
        <p:txBody>
          <a:bodyPr anchor="t" anchorCtr="0"/>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980"/>
                                        </p:tgtEl>
                                        <p:attrNameLst>
                                          <p:attrName>style.visibility</p:attrName>
                                        </p:attrNameLst>
                                      </p:cBhvr>
                                      <p:to>
                                        <p:strVal val="visible"/>
                                      </p:to>
                                    </p:set>
                                    <p:animEffect transition="in" filter="blinds(horizontal)">
                                      <p:cBhvr>
                                        <p:cTn id="7" dur="500"/>
                                        <p:tgtEl>
                                          <p:spTgt spid="12698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6981"/>
                                        </p:tgtEl>
                                        <p:attrNameLst>
                                          <p:attrName>style.visibility</p:attrName>
                                        </p:attrNameLst>
                                      </p:cBhvr>
                                      <p:to>
                                        <p:strVal val="visible"/>
                                      </p:to>
                                    </p:set>
                                    <p:animEffect transition="in" filter="blinds(horizontal)">
                                      <p:cBhvr>
                                        <p:cTn id="10" dur="500"/>
                                        <p:tgtEl>
                                          <p:spTgt spid="12698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6982"/>
                                        </p:tgtEl>
                                        <p:attrNameLst>
                                          <p:attrName>style.visibility</p:attrName>
                                        </p:attrNameLst>
                                      </p:cBhvr>
                                      <p:to>
                                        <p:strVal val="visible"/>
                                      </p:to>
                                    </p:set>
                                    <p:animEffect transition="in" filter="blinds(horizontal)">
                                      <p:cBhvr>
                                        <p:cTn id="13" dur="500"/>
                                        <p:tgtEl>
                                          <p:spTgt spid="12698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6983"/>
                                        </p:tgtEl>
                                        <p:attrNameLst>
                                          <p:attrName>style.visibility</p:attrName>
                                        </p:attrNameLst>
                                      </p:cBhvr>
                                      <p:to>
                                        <p:strVal val="visible"/>
                                      </p:to>
                                    </p:set>
                                    <p:animEffect transition="in" filter="blinds(horizontal)">
                                      <p:cBhvr>
                                        <p:cTn id="16" dur="500"/>
                                        <p:tgtEl>
                                          <p:spTgt spid="12698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26984"/>
                                        </p:tgtEl>
                                        <p:attrNameLst>
                                          <p:attrName>style.visibility</p:attrName>
                                        </p:attrNameLst>
                                      </p:cBhvr>
                                      <p:to>
                                        <p:strVal val="visible"/>
                                      </p:to>
                                    </p:set>
                                    <p:animEffect transition="in" filter="blinds(horizontal)">
                                      <p:cBhvr>
                                        <p:cTn id="19" dur="500"/>
                                        <p:tgtEl>
                                          <p:spTgt spid="12698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26985"/>
                                        </p:tgtEl>
                                        <p:attrNameLst>
                                          <p:attrName>style.visibility</p:attrName>
                                        </p:attrNameLst>
                                      </p:cBhvr>
                                      <p:to>
                                        <p:strVal val="visible"/>
                                      </p:to>
                                    </p:set>
                                    <p:animEffect transition="in" filter="blinds(horizontal)">
                                      <p:cBhvr>
                                        <p:cTn id="22" dur="500"/>
                                        <p:tgtEl>
                                          <p:spTgt spid="12698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26986"/>
                                        </p:tgtEl>
                                        <p:attrNameLst>
                                          <p:attrName>style.visibility</p:attrName>
                                        </p:attrNameLst>
                                      </p:cBhvr>
                                      <p:to>
                                        <p:strVal val="visible"/>
                                      </p:to>
                                    </p:set>
                                    <p:animEffect transition="in" filter="blinds(horizontal)">
                                      <p:cBhvr>
                                        <p:cTn id="25" dur="500"/>
                                        <p:tgtEl>
                                          <p:spTgt spid="12698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26987"/>
                                        </p:tgtEl>
                                        <p:attrNameLst>
                                          <p:attrName>style.visibility</p:attrName>
                                        </p:attrNameLst>
                                      </p:cBhvr>
                                      <p:to>
                                        <p:strVal val="visible"/>
                                      </p:to>
                                    </p:set>
                                    <p:animEffect transition="in" filter="blinds(horizontal)">
                                      <p:cBhvr>
                                        <p:cTn id="28" dur="500"/>
                                        <p:tgtEl>
                                          <p:spTgt spid="12698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26988"/>
                                        </p:tgtEl>
                                        <p:attrNameLst>
                                          <p:attrName>style.visibility</p:attrName>
                                        </p:attrNameLst>
                                      </p:cBhvr>
                                      <p:to>
                                        <p:strVal val="visible"/>
                                      </p:to>
                                    </p:set>
                                    <p:animEffect transition="in" filter="blinds(horizontal)">
                                      <p:cBhvr>
                                        <p:cTn id="31" dur="500"/>
                                        <p:tgtEl>
                                          <p:spTgt spid="126988"/>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26989"/>
                                        </p:tgtEl>
                                        <p:attrNameLst>
                                          <p:attrName>style.visibility</p:attrName>
                                        </p:attrNameLst>
                                      </p:cBhvr>
                                      <p:to>
                                        <p:strVal val="visible"/>
                                      </p:to>
                                    </p:set>
                                    <p:animEffect transition="in" filter="blinds(horizontal)">
                                      <p:cBhvr>
                                        <p:cTn id="34" dur="500"/>
                                        <p:tgtEl>
                                          <p:spTgt spid="126989"/>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26990"/>
                                        </p:tgtEl>
                                        <p:attrNameLst>
                                          <p:attrName>style.visibility</p:attrName>
                                        </p:attrNameLst>
                                      </p:cBhvr>
                                      <p:to>
                                        <p:strVal val="visible"/>
                                      </p:to>
                                    </p:set>
                                    <p:animEffect transition="in" filter="blinds(horizontal)">
                                      <p:cBhvr>
                                        <p:cTn id="37" dur="500"/>
                                        <p:tgtEl>
                                          <p:spTgt spid="12699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26991"/>
                                        </p:tgtEl>
                                        <p:attrNameLst>
                                          <p:attrName>style.visibility</p:attrName>
                                        </p:attrNameLst>
                                      </p:cBhvr>
                                      <p:to>
                                        <p:strVal val="visible"/>
                                      </p:to>
                                    </p:set>
                                    <p:animEffect transition="in" filter="blinds(horizontal)">
                                      <p:cBhvr>
                                        <p:cTn id="40" dur="500"/>
                                        <p:tgtEl>
                                          <p:spTgt spid="126991"/>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26992"/>
                                        </p:tgtEl>
                                        <p:attrNameLst>
                                          <p:attrName>style.visibility</p:attrName>
                                        </p:attrNameLst>
                                      </p:cBhvr>
                                      <p:to>
                                        <p:strVal val="visible"/>
                                      </p:to>
                                    </p:set>
                                    <p:animEffect transition="in" filter="blinds(horizontal)">
                                      <p:cBhvr>
                                        <p:cTn id="43" dur="500"/>
                                        <p:tgtEl>
                                          <p:spTgt spid="126992"/>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26993"/>
                                        </p:tgtEl>
                                        <p:attrNameLst>
                                          <p:attrName>style.visibility</p:attrName>
                                        </p:attrNameLst>
                                      </p:cBhvr>
                                      <p:to>
                                        <p:strVal val="visible"/>
                                      </p:to>
                                    </p:set>
                                    <p:animEffect transition="in" filter="blinds(horizontal)">
                                      <p:cBhvr>
                                        <p:cTn id="46" dur="500"/>
                                        <p:tgtEl>
                                          <p:spTgt spid="126993"/>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26994"/>
                                        </p:tgtEl>
                                        <p:attrNameLst>
                                          <p:attrName>style.visibility</p:attrName>
                                        </p:attrNameLst>
                                      </p:cBhvr>
                                      <p:to>
                                        <p:strVal val="visible"/>
                                      </p:to>
                                    </p:set>
                                    <p:animEffect transition="in" filter="blinds(horizontal)">
                                      <p:cBhvr>
                                        <p:cTn id="49" dur="500"/>
                                        <p:tgtEl>
                                          <p:spTgt spid="126994"/>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26995"/>
                                        </p:tgtEl>
                                        <p:attrNameLst>
                                          <p:attrName>style.visibility</p:attrName>
                                        </p:attrNameLst>
                                      </p:cBhvr>
                                      <p:to>
                                        <p:strVal val="visible"/>
                                      </p:to>
                                    </p:set>
                                    <p:animEffect transition="in" filter="blinds(horizontal)">
                                      <p:cBhvr>
                                        <p:cTn id="52" dur="500"/>
                                        <p:tgtEl>
                                          <p:spTgt spid="126995"/>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127012"/>
                                        </p:tgtEl>
                                        <p:attrNameLst>
                                          <p:attrName>style.visibility</p:attrName>
                                        </p:attrNameLst>
                                      </p:cBhvr>
                                      <p:to>
                                        <p:strVal val="visible"/>
                                      </p:to>
                                    </p:set>
                                    <p:animEffect transition="in" filter="blinds(horizontal)">
                                      <p:cBhvr>
                                        <p:cTn id="55" dur="500"/>
                                        <p:tgtEl>
                                          <p:spTgt spid="127012"/>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27013"/>
                                        </p:tgtEl>
                                        <p:attrNameLst>
                                          <p:attrName>style.visibility</p:attrName>
                                        </p:attrNameLst>
                                      </p:cBhvr>
                                      <p:to>
                                        <p:strVal val="visible"/>
                                      </p:to>
                                    </p:set>
                                    <p:animEffect transition="in" filter="blinds(horizontal)">
                                      <p:cBhvr>
                                        <p:cTn id="58" dur="500"/>
                                        <p:tgtEl>
                                          <p:spTgt spid="127013"/>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127014"/>
                                        </p:tgtEl>
                                        <p:attrNameLst>
                                          <p:attrName>style.visibility</p:attrName>
                                        </p:attrNameLst>
                                      </p:cBhvr>
                                      <p:to>
                                        <p:strVal val="visible"/>
                                      </p:to>
                                    </p:set>
                                    <p:animEffect transition="in" filter="blinds(horizontal)">
                                      <p:cBhvr>
                                        <p:cTn id="61" dur="500"/>
                                        <p:tgtEl>
                                          <p:spTgt spid="127014"/>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27015"/>
                                        </p:tgtEl>
                                        <p:attrNameLst>
                                          <p:attrName>style.visibility</p:attrName>
                                        </p:attrNameLst>
                                      </p:cBhvr>
                                      <p:to>
                                        <p:strVal val="visible"/>
                                      </p:to>
                                    </p:set>
                                    <p:animEffect transition="in" filter="blinds(horizontal)">
                                      <p:cBhvr>
                                        <p:cTn id="64" dur="500"/>
                                        <p:tgtEl>
                                          <p:spTgt spid="127015"/>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27016"/>
                                        </p:tgtEl>
                                        <p:attrNameLst>
                                          <p:attrName>style.visibility</p:attrName>
                                        </p:attrNameLst>
                                      </p:cBhvr>
                                      <p:to>
                                        <p:strVal val="visible"/>
                                      </p:to>
                                    </p:set>
                                    <p:animEffect transition="in" filter="blinds(horizontal)">
                                      <p:cBhvr>
                                        <p:cTn id="67" dur="500"/>
                                        <p:tgtEl>
                                          <p:spTgt spid="127016"/>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127017"/>
                                        </p:tgtEl>
                                        <p:attrNameLst>
                                          <p:attrName>style.visibility</p:attrName>
                                        </p:attrNameLst>
                                      </p:cBhvr>
                                      <p:to>
                                        <p:strVal val="visible"/>
                                      </p:to>
                                    </p:set>
                                    <p:animEffect transition="in" filter="blinds(horizontal)">
                                      <p:cBhvr>
                                        <p:cTn id="70" dur="500"/>
                                        <p:tgtEl>
                                          <p:spTgt spid="127017"/>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127018"/>
                                        </p:tgtEl>
                                        <p:attrNameLst>
                                          <p:attrName>style.visibility</p:attrName>
                                        </p:attrNameLst>
                                      </p:cBhvr>
                                      <p:to>
                                        <p:strVal val="visible"/>
                                      </p:to>
                                    </p:set>
                                    <p:animEffect transition="in" filter="blinds(horizontal)">
                                      <p:cBhvr>
                                        <p:cTn id="73" dur="500"/>
                                        <p:tgtEl>
                                          <p:spTgt spid="127018"/>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127019"/>
                                        </p:tgtEl>
                                        <p:attrNameLst>
                                          <p:attrName>style.visibility</p:attrName>
                                        </p:attrNameLst>
                                      </p:cBhvr>
                                      <p:to>
                                        <p:strVal val="visible"/>
                                      </p:to>
                                    </p:set>
                                    <p:animEffect transition="in" filter="blinds(horizontal)">
                                      <p:cBhvr>
                                        <p:cTn id="76" dur="500"/>
                                        <p:tgtEl>
                                          <p:spTgt spid="127019"/>
                                        </p:tgtEl>
                                      </p:cBhvr>
                                    </p:animEffect>
                                  </p:childTnLst>
                                </p:cTn>
                              </p:par>
                            </p:childTnLst>
                          </p:cTn>
                        </p:par>
                      </p:childTnLst>
                    </p:cTn>
                  </p:par>
                  <p:par>
                    <p:cTn id="77" fill="hold">
                      <p:stCondLst>
                        <p:cond delay="indefinite"/>
                      </p:stCondLst>
                      <p:childTnLst>
                        <p:par>
                          <p:cTn id="78" fill="hold">
                            <p:stCondLst>
                              <p:cond delay="0"/>
                            </p:stCondLst>
                            <p:childTnLst>
                              <p:par>
                                <p:cTn id="79" presetID="27" presetClass="entr" presetSubtype="0" fill="hold" grpId="0" nodeType="clickEffect">
                                  <p:stCondLst>
                                    <p:cond delay="0"/>
                                  </p:stCondLst>
                                  <p:iterate type="lt">
                                    <p:tmPct val="50000"/>
                                  </p:iterate>
                                  <p:childTnLst>
                                    <p:set>
                                      <p:cBhvr>
                                        <p:cTn id="80" dur="1" fill="hold">
                                          <p:stCondLst>
                                            <p:cond delay="0"/>
                                          </p:stCondLst>
                                        </p:cTn>
                                        <p:tgtEl>
                                          <p:spTgt spid="127027"/>
                                        </p:tgtEl>
                                        <p:attrNameLst>
                                          <p:attrName>style.visibility</p:attrName>
                                        </p:attrNameLst>
                                      </p:cBhvr>
                                      <p:to>
                                        <p:strVal val="visible"/>
                                      </p:to>
                                    </p:set>
                                    <p:anim calcmode="discrete" valueType="clr">
                                      <p:cBhvr override="childStyle">
                                        <p:cTn id="81" dur="80"/>
                                        <p:tgtEl>
                                          <p:spTgt spid="127027"/>
                                        </p:tgtEl>
                                        <p:attrNameLst>
                                          <p:attrName>style.color</p:attrName>
                                        </p:attrNameLst>
                                      </p:cBhvr>
                                      <p:tavLst>
                                        <p:tav tm="0">
                                          <p:val>
                                            <p:clrVal>
                                              <a:schemeClr val="accent2"/>
                                            </p:clrVal>
                                          </p:val>
                                        </p:tav>
                                        <p:tav tm="50000">
                                          <p:val>
                                            <p:clrVal>
                                              <a:schemeClr val="hlink"/>
                                            </p:clrVal>
                                          </p:val>
                                        </p:tav>
                                      </p:tavLst>
                                    </p:anim>
                                    <p:anim calcmode="discrete" valueType="clr">
                                      <p:cBhvr>
                                        <p:cTn id="82" dur="80"/>
                                        <p:tgtEl>
                                          <p:spTgt spid="127027"/>
                                        </p:tgtEl>
                                        <p:attrNameLst>
                                          <p:attrName>fillcolor</p:attrName>
                                        </p:attrNameLst>
                                      </p:cBhvr>
                                      <p:tavLst>
                                        <p:tav tm="0">
                                          <p:val>
                                            <p:clrVal>
                                              <a:schemeClr val="accent2"/>
                                            </p:clrVal>
                                          </p:val>
                                        </p:tav>
                                        <p:tav tm="50000">
                                          <p:val>
                                            <p:clrVal>
                                              <a:schemeClr val="hlink"/>
                                            </p:clrVal>
                                          </p:val>
                                        </p:tav>
                                      </p:tavLst>
                                    </p:anim>
                                    <p:set>
                                      <p:cBhvr>
                                        <p:cTn id="83" dur="80"/>
                                        <p:tgtEl>
                                          <p:spTgt spid="127027"/>
                                        </p:tgtEl>
                                        <p:attrNameLst>
                                          <p:attrName>fill.type</p:attrName>
                                        </p:attrNameLst>
                                      </p:cBhvr>
                                      <p:to>
                                        <p:strVal val="solid"/>
                                      </p:to>
                                    </p:se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26996"/>
                                        </p:tgtEl>
                                        <p:attrNameLst>
                                          <p:attrName>style.visibility</p:attrName>
                                        </p:attrNameLst>
                                      </p:cBhvr>
                                      <p:to>
                                        <p:strVal val="visible"/>
                                      </p:to>
                                    </p:set>
                                    <p:animEffect transition="in" filter="blinds(horizontal)">
                                      <p:cBhvr>
                                        <p:cTn id="88" dur="500"/>
                                        <p:tgtEl>
                                          <p:spTgt spid="126996"/>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126997"/>
                                        </p:tgtEl>
                                        <p:attrNameLst>
                                          <p:attrName>style.visibility</p:attrName>
                                        </p:attrNameLst>
                                      </p:cBhvr>
                                      <p:to>
                                        <p:strVal val="visible"/>
                                      </p:to>
                                    </p:set>
                                    <p:animEffect transition="in" filter="blinds(horizontal)">
                                      <p:cBhvr>
                                        <p:cTn id="91" dur="500"/>
                                        <p:tgtEl>
                                          <p:spTgt spid="126997"/>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126998"/>
                                        </p:tgtEl>
                                        <p:attrNameLst>
                                          <p:attrName>style.visibility</p:attrName>
                                        </p:attrNameLst>
                                      </p:cBhvr>
                                      <p:to>
                                        <p:strVal val="visible"/>
                                      </p:to>
                                    </p:set>
                                    <p:animEffect transition="in" filter="blinds(horizontal)">
                                      <p:cBhvr>
                                        <p:cTn id="94" dur="500"/>
                                        <p:tgtEl>
                                          <p:spTgt spid="126998"/>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126999"/>
                                        </p:tgtEl>
                                        <p:attrNameLst>
                                          <p:attrName>style.visibility</p:attrName>
                                        </p:attrNameLst>
                                      </p:cBhvr>
                                      <p:to>
                                        <p:strVal val="visible"/>
                                      </p:to>
                                    </p:set>
                                    <p:animEffect transition="in" filter="blinds(horizontal)">
                                      <p:cBhvr>
                                        <p:cTn id="97" dur="500"/>
                                        <p:tgtEl>
                                          <p:spTgt spid="126999"/>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127000"/>
                                        </p:tgtEl>
                                        <p:attrNameLst>
                                          <p:attrName>style.visibility</p:attrName>
                                        </p:attrNameLst>
                                      </p:cBhvr>
                                      <p:to>
                                        <p:strVal val="visible"/>
                                      </p:to>
                                    </p:set>
                                    <p:animEffect transition="in" filter="blinds(horizontal)">
                                      <p:cBhvr>
                                        <p:cTn id="100" dur="500"/>
                                        <p:tgtEl>
                                          <p:spTgt spid="127000"/>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127001"/>
                                        </p:tgtEl>
                                        <p:attrNameLst>
                                          <p:attrName>style.visibility</p:attrName>
                                        </p:attrNameLst>
                                      </p:cBhvr>
                                      <p:to>
                                        <p:strVal val="visible"/>
                                      </p:to>
                                    </p:set>
                                    <p:animEffect transition="in" filter="blinds(horizontal)">
                                      <p:cBhvr>
                                        <p:cTn id="103" dur="500"/>
                                        <p:tgtEl>
                                          <p:spTgt spid="127001"/>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127002"/>
                                        </p:tgtEl>
                                        <p:attrNameLst>
                                          <p:attrName>style.visibility</p:attrName>
                                        </p:attrNameLst>
                                      </p:cBhvr>
                                      <p:to>
                                        <p:strVal val="visible"/>
                                      </p:to>
                                    </p:set>
                                    <p:animEffect transition="in" filter="blinds(horizontal)">
                                      <p:cBhvr>
                                        <p:cTn id="106" dur="500"/>
                                        <p:tgtEl>
                                          <p:spTgt spid="127002"/>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127003"/>
                                        </p:tgtEl>
                                        <p:attrNameLst>
                                          <p:attrName>style.visibility</p:attrName>
                                        </p:attrNameLst>
                                      </p:cBhvr>
                                      <p:to>
                                        <p:strVal val="visible"/>
                                      </p:to>
                                    </p:set>
                                    <p:animEffect transition="in" filter="blinds(horizontal)">
                                      <p:cBhvr>
                                        <p:cTn id="109" dur="500"/>
                                        <p:tgtEl>
                                          <p:spTgt spid="127003"/>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127004"/>
                                        </p:tgtEl>
                                        <p:attrNameLst>
                                          <p:attrName>style.visibility</p:attrName>
                                        </p:attrNameLst>
                                      </p:cBhvr>
                                      <p:to>
                                        <p:strVal val="visible"/>
                                      </p:to>
                                    </p:set>
                                    <p:animEffect transition="in" filter="blinds(horizontal)">
                                      <p:cBhvr>
                                        <p:cTn id="112" dur="500"/>
                                        <p:tgtEl>
                                          <p:spTgt spid="127004"/>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127005"/>
                                        </p:tgtEl>
                                        <p:attrNameLst>
                                          <p:attrName>style.visibility</p:attrName>
                                        </p:attrNameLst>
                                      </p:cBhvr>
                                      <p:to>
                                        <p:strVal val="visible"/>
                                      </p:to>
                                    </p:set>
                                    <p:animEffect transition="in" filter="blinds(horizontal)">
                                      <p:cBhvr>
                                        <p:cTn id="115" dur="500"/>
                                        <p:tgtEl>
                                          <p:spTgt spid="127005"/>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127006"/>
                                        </p:tgtEl>
                                        <p:attrNameLst>
                                          <p:attrName>style.visibility</p:attrName>
                                        </p:attrNameLst>
                                      </p:cBhvr>
                                      <p:to>
                                        <p:strVal val="visible"/>
                                      </p:to>
                                    </p:set>
                                    <p:animEffect transition="in" filter="blinds(horizontal)">
                                      <p:cBhvr>
                                        <p:cTn id="118" dur="500"/>
                                        <p:tgtEl>
                                          <p:spTgt spid="127006"/>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127007"/>
                                        </p:tgtEl>
                                        <p:attrNameLst>
                                          <p:attrName>style.visibility</p:attrName>
                                        </p:attrNameLst>
                                      </p:cBhvr>
                                      <p:to>
                                        <p:strVal val="visible"/>
                                      </p:to>
                                    </p:set>
                                    <p:animEffect transition="in" filter="blinds(horizontal)">
                                      <p:cBhvr>
                                        <p:cTn id="121" dur="500"/>
                                        <p:tgtEl>
                                          <p:spTgt spid="127007"/>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127008"/>
                                        </p:tgtEl>
                                        <p:attrNameLst>
                                          <p:attrName>style.visibility</p:attrName>
                                        </p:attrNameLst>
                                      </p:cBhvr>
                                      <p:to>
                                        <p:strVal val="visible"/>
                                      </p:to>
                                    </p:set>
                                    <p:animEffect transition="in" filter="blinds(horizontal)">
                                      <p:cBhvr>
                                        <p:cTn id="124" dur="500"/>
                                        <p:tgtEl>
                                          <p:spTgt spid="127008"/>
                                        </p:tgtEl>
                                      </p:cBhvr>
                                    </p:animEffect>
                                  </p:childTnLst>
                                </p:cTn>
                              </p:par>
                              <p:par>
                                <p:cTn id="125" presetID="3" presetClass="entr" presetSubtype="10" fill="hold" grpId="0" nodeType="withEffect">
                                  <p:stCondLst>
                                    <p:cond delay="0"/>
                                  </p:stCondLst>
                                  <p:childTnLst>
                                    <p:set>
                                      <p:cBhvr>
                                        <p:cTn id="126" dur="1" fill="hold">
                                          <p:stCondLst>
                                            <p:cond delay="0"/>
                                          </p:stCondLst>
                                        </p:cTn>
                                        <p:tgtEl>
                                          <p:spTgt spid="127009"/>
                                        </p:tgtEl>
                                        <p:attrNameLst>
                                          <p:attrName>style.visibility</p:attrName>
                                        </p:attrNameLst>
                                      </p:cBhvr>
                                      <p:to>
                                        <p:strVal val="visible"/>
                                      </p:to>
                                    </p:set>
                                    <p:animEffect transition="in" filter="blinds(horizontal)">
                                      <p:cBhvr>
                                        <p:cTn id="127" dur="500"/>
                                        <p:tgtEl>
                                          <p:spTgt spid="127009"/>
                                        </p:tgtEl>
                                      </p:cBhvr>
                                    </p:animEffect>
                                  </p:childTnLst>
                                </p:cTn>
                              </p:par>
                              <p:par>
                                <p:cTn id="128" presetID="3" presetClass="entr" presetSubtype="10" fill="hold" grpId="0" nodeType="withEffect">
                                  <p:stCondLst>
                                    <p:cond delay="0"/>
                                  </p:stCondLst>
                                  <p:childTnLst>
                                    <p:set>
                                      <p:cBhvr>
                                        <p:cTn id="129" dur="1" fill="hold">
                                          <p:stCondLst>
                                            <p:cond delay="0"/>
                                          </p:stCondLst>
                                        </p:cTn>
                                        <p:tgtEl>
                                          <p:spTgt spid="127010"/>
                                        </p:tgtEl>
                                        <p:attrNameLst>
                                          <p:attrName>style.visibility</p:attrName>
                                        </p:attrNameLst>
                                      </p:cBhvr>
                                      <p:to>
                                        <p:strVal val="visible"/>
                                      </p:to>
                                    </p:set>
                                    <p:animEffect transition="in" filter="blinds(horizontal)">
                                      <p:cBhvr>
                                        <p:cTn id="130" dur="500"/>
                                        <p:tgtEl>
                                          <p:spTgt spid="127010"/>
                                        </p:tgtEl>
                                      </p:cBhvr>
                                    </p:animEffect>
                                  </p:childTnLst>
                                </p:cTn>
                              </p:par>
                              <p:par>
                                <p:cTn id="131" presetID="3" presetClass="entr" presetSubtype="10" fill="hold" grpId="0" nodeType="withEffect">
                                  <p:stCondLst>
                                    <p:cond delay="0"/>
                                  </p:stCondLst>
                                  <p:childTnLst>
                                    <p:set>
                                      <p:cBhvr>
                                        <p:cTn id="132" dur="1" fill="hold">
                                          <p:stCondLst>
                                            <p:cond delay="0"/>
                                          </p:stCondLst>
                                        </p:cTn>
                                        <p:tgtEl>
                                          <p:spTgt spid="127011"/>
                                        </p:tgtEl>
                                        <p:attrNameLst>
                                          <p:attrName>style.visibility</p:attrName>
                                        </p:attrNameLst>
                                      </p:cBhvr>
                                      <p:to>
                                        <p:strVal val="visible"/>
                                      </p:to>
                                    </p:set>
                                    <p:animEffect transition="in" filter="blinds(horizontal)">
                                      <p:cBhvr>
                                        <p:cTn id="133" dur="500"/>
                                        <p:tgtEl>
                                          <p:spTgt spid="127011"/>
                                        </p:tgtEl>
                                      </p:cBhvr>
                                    </p:animEffect>
                                  </p:childTnLst>
                                </p:cTn>
                              </p:par>
                              <p:par>
                                <p:cTn id="134" presetID="3" presetClass="entr" presetSubtype="10" fill="hold" grpId="0" nodeType="withEffect">
                                  <p:stCondLst>
                                    <p:cond delay="0"/>
                                  </p:stCondLst>
                                  <p:childTnLst>
                                    <p:set>
                                      <p:cBhvr>
                                        <p:cTn id="135" dur="1" fill="hold">
                                          <p:stCondLst>
                                            <p:cond delay="0"/>
                                          </p:stCondLst>
                                        </p:cTn>
                                        <p:tgtEl>
                                          <p:spTgt spid="127020"/>
                                        </p:tgtEl>
                                        <p:attrNameLst>
                                          <p:attrName>style.visibility</p:attrName>
                                        </p:attrNameLst>
                                      </p:cBhvr>
                                      <p:to>
                                        <p:strVal val="visible"/>
                                      </p:to>
                                    </p:set>
                                    <p:animEffect transition="in" filter="blinds(horizontal)">
                                      <p:cBhvr>
                                        <p:cTn id="136" dur="500"/>
                                        <p:tgtEl>
                                          <p:spTgt spid="127020"/>
                                        </p:tgtEl>
                                      </p:cBhvr>
                                    </p:animEffect>
                                  </p:childTnLst>
                                </p:cTn>
                              </p:par>
                              <p:par>
                                <p:cTn id="137" presetID="3" presetClass="entr" presetSubtype="10" fill="hold" grpId="0" nodeType="withEffect">
                                  <p:stCondLst>
                                    <p:cond delay="0"/>
                                  </p:stCondLst>
                                  <p:childTnLst>
                                    <p:set>
                                      <p:cBhvr>
                                        <p:cTn id="138" dur="1" fill="hold">
                                          <p:stCondLst>
                                            <p:cond delay="0"/>
                                          </p:stCondLst>
                                        </p:cTn>
                                        <p:tgtEl>
                                          <p:spTgt spid="127021"/>
                                        </p:tgtEl>
                                        <p:attrNameLst>
                                          <p:attrName>style.visibility</p:attrName>
                                        </p:attrNameLst>
                                      </p:cBhvr>
                                      <p:to>
                                        <p:strVal val="visible"/>
                                      </p:to>
                                    </p:set>
                                    <p:animEffect transition="in" filter="blinds(horizontal)">
                                      <p:cBhvr>
                                        <p:cTn id="139" dur="500"/>
                                        <p:tgtEl>
                                          <p:spTgt spid="127021"/>
                                        </p:tgtEl>
                                      </p:cBhvr>
                                    </p:animEffect>
                                  </p:childTnLst>
                                </p:cTn>
                              </p:par>
                              <p:par>
                                <p:cTn id="140" presetID="3" presetClass="entr" presetSubtype="10" fill="hold" grpId="0" nodeType="withEffect">
                                  <p:stCondLst>
                                    <p:cond delay="0"/>
                                  </p:stCondLst>
                                  <p:childTnLst>
                                    <p:set>
                                      <p:cBhvr>
                                        <p:cTn id="141" dur="1" fill="hold">
                                          <p:stCondLst>
                                            <p:cond delay="0"/>
                                          </p:stCondLst>
                                        </p:cTn>
                                        <p:tgtEl>
                                          <p:spTgt spid="127022"/>
                                        </p:tgtEl>
                                        <p:attrNameLst>
                                          <p:attrName>style.visibility</p:attrName>
                                        </p:attrNameLst>
                                      </p:cBhvr>
                                      <p:to>
                                        <p:strVal val="visible"/>
                                      </p:to>
                                    </p:set>
                                    <p:animEffect transition="in" filter="blinds(horizontal)">
                                      <p:cBhvr>
                                        <p:cTn id="142" dur="500"/>
                                        <p:tgtEl>
                                          <p:spTgt spid="127022"/>
                                        </p:tgtEl>
                                      </p:cBhvr>
                                    </p:animEffect>
                                  </p:childTnLst>
                                </p:cTn>
                              </p:par>
                              <p:par>
                                <p:cTn id="143" presetID="3" presetClass="entr" presetSubtype="10" fill="hold" grpId="0" nodeType="withEffect">
                                  <p:stCondLst>
                                    <p:cond delay="0"/>
                                  </p:stCondLst>
                                  <p:childTnLst>
                                    <p:set>
                                      <p:cBhvr>
                                        <p:cTn id="144" dur="1" fill="hold">
                                          <p:stCondLst>
                                            <p:cond delay="0"/>
                                          </p:stCondLst>
                                        </p:cTn>
                                        <p:tgtEl>
                                          <p:spTgt spid="127023"/>
                                        </p:tgtEl>
                                        <p:attrNameLst>
                                          <p:attrName>style.visibility</p:attrName>
                                        </p:attrNameLst>
                                      </p:cBhvr>
                                      <p:to>
                                        <p:strVal val="visible"/>
                                      </p:to>
                                    </p:set>
                                    <p:animEffect transition="in" filter="blinds(horizontal)">
                                      <p:cBhvr>
                                        <p:cTn id="145" dur="500"/>
                                        <p:tgtEl>
                                          <p:spTgt spid="127023"/>
                                        </p:tgtEl>
                                      </p:cBhvr>
                                    </p:animEffect>
                                  </p:childTnLst>
                                </p:cTn>
                              </p:par>
                            </p:childTnLst>
                          </p:cTn>
                        </p:par>
                      </p:childTnLst>
                    </p:cTn>
                  </p:par>
                  <p:par>
                    <p:cTn id="146" fill="hold">
                      <p:stCondLst>
                        <p:cond delay="indefinite"/>
                      </p:stCondLst>
                      <p:childTnLst>
                        <p:par>
                          <p:cTn id="147" fill="hold">
                            <p:stCondLst>
                              <p:cond delay="0"/>
                            </p:stCondLst>
                            <p:childTnLst>
                              <p:par>
                                <p:cTn id="148" presetID="27" presetClass="entr" presetSubtype="0" fill="hold" grpId="0" nodeType="clickEffect">
                                  <p:stCondLst>
                                    <p:cond delay="0"/>
                                  </p:stCondLst>
                                  <p:iterate type="lt">
                                    <p:tmPct val="50000"/>
                                  </p:iterate>
                                  <p:childTnLst>
                                    <p:set>
                                      <p:cBhvr>
                                        <p:cTn id="149" dur="1" fill="hold">
                                          <p:stCondLst>
                                            <p:cond delay="0"/>
                                          </p:stCondLst>
                                        </p:cTn>
                                        <p:tgtEl>
                                          <p:spTgt spid="127028"/>
                                        </p:tgtEl>
                                        <p:attrNameLst>
                                          <p:attrName>style.visibility</p:attrName>
                                        </p:attrNameLst>
                                      </p:cBhvr>
                                      <p:to>
                                        <p:strVal val="visible"/>
                                      </p:to>
                                    </p:set>
                                    <p:anim calcmode="discrete" valueType="clr">
                                      <p:cBhvr override="childStyle">
                                        <p:cTn id="150" dur="80"/>
                                        <p:tgtEl>
                                          <p:spTgt spid="127028"/>
                                        </p:tgtEl>
                                        <p:attrNameLst>
                                          <p:attrName>style.color</p:attrName>
                                        </p:attrNameLst>
                                      </p:cBhvr>
                                      <p:tavLst>
                                        <p:tav tm="0">
                                          <p:val>
                                            <p:clrVal>
                                              <a:schemeClr val="accent2"/>
                                            </p:clrVal>
                                          </p:val>
                                        </p:tav>
                                        <p:tav tm="50000">
                                          <p:val>
                                            <p:clrVal>
                                              <a:schemeClr val="hlink"/>
                                            </p:clrVal>
                                          </p:val>
                                        </p:tav>
                                      </p:tavLst>
                                    </p:anim>
                                    <p:anim calcmode="discrete" valueType="clr">
                                      <p:cBhvr>
                                        <p:cTn id="151" dur="80"/>
                                        <p:tgtEl>
                                          <p:spTgt spid="127028"/>
                                        </p:tgtEl>
                                        <p:attrNameLst>
                                          <p:attrName>fillcolor</p:attrName>
                                        </p:attrNameLst>
                                      </p:cBhvr>
                                      <p:tavLst>
                                        <p:tav tm="0">
                                          <p:val>
                                            <p:clrVal>
                                              <a:schemeClr val="accent2"/>
                                            </p:clrVal>
                                          </p:val>
                                        </p:tav>
                                        <p:tav tm="50000">
                                          <p:val>
                                            <p:clrVal>
                                              <a:schemeClr val="hlink"/>
                                            </p:clrVal>
                                          </p:val>
                                        </p:tav>
                                      </p:tavLst>
                                    </p:anim>
                                    <p:set>
                                      <p:cBhvr>
                                        <p:cTn id="152" dur="80"/>
                                        <p:tgtEl>
                                          <p:spTgt spid="12702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0" grpId="0" animBg="1"/>
      <p:bldP spid="126981" grpId="0" animBg="1"/>
      <p:bldP spid="126982" grpId="0" animBg="1"/>
      <p:bldP spid="126983" grpId="0" animBg="1"/>
      <p:bldP spid="126984" grpId="0" animBg="1"/>
      <p:bldP spid="126985" grpId="0" animBg="1"/>
      <p:bldP spid="126986" grpId="0" animBg="1"/>
      <p:bldP spid="126987" grpId="0" animBg="1"/>
      <p:bldP spid="126988" grpId="0" animBg="1"/>
      <p:bldP spid="126989" grpId="0" animBg="1"/>
      <p:bldP spid="126990" grpId="0" animBg="1"/>
      <p:bldP spid="126991" grpId="0" animBg="1"/>
      <p:bldP spid="126992" grpId="0" animBg="1"/>
      <p:bldP spid="126993" grpId="0" animBg="1"/>
      <p:bldP spid="126994" grpId="0" animBg="1"/>
      <p:bldP spid="126995" grpId="0" animBg="1"/>
      <p:bldP spid="126996" grpId="0" animBg="1"/>
      <p:bldP spid="126997" grpId="0" animBg="1"/>
      <p:bldP spid="126998" grpId="0" animBg="1"/>
      <p:bldP spid="126999" grpId="0" animBg="1"/>
      <p:bldP spid="127000" grpId="0" animBg="1"/>
      <p:bldP spid="127001" grpId="0" animBg="1"/>
      <p:bldP spid="127002" grpId="0" animBg="1"/>
      <p:bldP spid="127003" grpId="0" animBg="1"/>
      <p:bldP spid="127004" grpId="0" animBg="1"/>
      <p:bldP spid="127005" grpId="0" animBg="1"/>
      <p:bldP spid="127006" grpId="0" animBg="1"/>
      <p:bldP spid="127007" grpId="0" animBg="1"/>
      <p:bldP spid="127008" grpId="0" animBg="1"/>
      <p:bldP spid="127009" grpId="0" animBg="1"/>
      <p:bldP spid="127010" grpId="0" animBg="1"/>
      <p:bldP spid="127011" grpId="0" animBg="1"/>
      <p:bldP spid="127012" grpId="0" animBg="1"/>
      <p:bldP spid="127013" grpId="0" animBg="1"/>
      <p:bldP spid="127014" grpId="0" animBg="1"/>
      <p:bldP spid="127015" grpId="0" animBg="1"/>
      <p:bldP spid="127016" grpId="0" animBg="1"/>
      <p:bldP spid="127017" grpId="0" animBg="1"/>
      <p:bldP spid="127018" grpId="0" animBg="1"/>
      <p:bldP spid="127019" grpId="0" animBg="1"/>
      <p:bldP spid="127020" grpId="0" animBg="1"/>
      <p:bldP spid="127021" grpId="0" animBg="1"/>
      <p:bldP spid="127022" grpId="0" animBg="1"/>
      <p:bldP spid="127023" grpId="0" animBg="1"/>
      <p:bldP spid="127027" grpId="0"/>
      <p:bldP spid="1270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35842" name="Rectangle 2"/>
          <p:cNvSpPr>
            <a:spLocks noGrp="1"/>
          </p:cNvSpPr>
          <p:nvPr>
            <p:ph type="title"/>
          </p:nvPr>
        </p:nvSpPr>
        <p:spPr/>
        <p:txBody>
          <a:bodyPr vert="horz" wrap="square" lIns="91440" tIns="45720" rIns="91440" bIns="45720" anchor="ctr" anchorCtr="0"/>
          <a:lstStyle/>
          <a:p>
            <a:pPr eaLnBrk="1" hangingPunct="1"/>
            <a:r>
              <a:rPr lang="en-US" altLang="zh-CN" dirty="0"/>
              <a:t>8.1.1 8</a:t>
            </a:r>
            <a:r>
              <a:rPr lang="zh-CN" altLang="en-US" dirty="0"/>
              <a:t>皇后问题——互相攻击</a:t>
            </a:r>
            <a:endParaRPr lang="en-US" altLang="zh-CN" dirty="0"/>
          </a:p>
        </p:txBody>
      </p:sp>
      <p:sp>
        <p:nvSpPr>
          <p:cNvPr id="19459" name="Rectangle 3"/>
          <p:cNvSpPr>
            <a:spLocks noGrp="1" noChangeArrowheads="1"/>
          </p:cNvSpPr>
          <p:nvPr>
            <p:ph idx="1"/>
          </p:nvPr>
        </p:nvSpPr>
        <p:spPr>
          <a:xfrm>
            <a:off x="957263" y="1268413"/>
            <a:ext cx="7646988" cy="4498975"/>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500" b="0" i="0" u="none" strike="noStrike" kern="0" cap="none" spc="0" normalizeH="0" baseline="0" noProof="0" dirty="0">
                <a:ln>
                  <a:noFill/>
                </a:ln>
                <a:solidFill>
                  <a:srgbClr val="FF0000"/>
                </a:solidFill>
                <a:effectLst/>
                <a:uLnTx/>
                <a:uFillTx/>
                <a:latin typeface="+mn-lt"/>
                <a:ea typeface="+mn-ea"/>
                <a:cs typeface="+mn-cs"/>
              </a:rPr>
              <a:t>假设</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问题的解由</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(x</a:t>
            </a:r>
            <a:r>
              <a:rPr kumimoji="0" lang="en-US" altLang="zh-CN" sz="2500" b="0" i="0" u="none" strike="noStrike" kern="0" cap="none" spc="0" normalizeH="0" baseline="-25000" noProof="0" dirty="0">
                <a:ln>
                  <a:noFill/>
                </a:ln>
                <a:solidFill>
                  <a:schemeClr val="accent2"/>
                </a:solidFill>
                <a:effectLst/>
                <a:uLnTx/>
                <a:uFillTx/>
                <a:latin typeface="+mn-lt"/>
                <a:ea typeface="+mn-ea"/>
                <a:cs typeface="+mn-cs"/>
              </a:rPr>
              <a:t>1</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500" b="0" i="0" u="none" strike="noStrike" kern="0" cap="none" spc="0" normalizeH="0" baseline="0" noProof="0" dirty="0" err="1">
                <a:ln>
                  <a:noFill/>
                </a:ln>
                <a:solidFill>
                  <a:schemeClr val="accent2"/>
                </a:solidFill>
                <a:effectLst/>
                <a:uLnTx/>
                <a:uFillTx/>
                <a:latin typeface="+mn-lt"/>
                <a:ea typeface="+mn-ea"/>
                <a:cs typeface="+mn-cs"/>
              </a:rPr>
              <a:t>x</a:t>
            </a:r>
            <a:r>
              <a:rPr kumimoji="0" lang="en-US" altLang="zh-CN" sz="2500" b="0" i="0" u="none" strike="noStrike" kern="0" cap="none" spc="0" normalizeH="0" baseline="-25000" noProof="0" dirty="0" err="1">
                <a:ln>
                  <a:noFill/>
                </a:ln>
                <a:solidFill>
                  <a:schemeClr val="accent2"/>
                </a:solidFill>
                <a:effectLst/>
                <a:uLnTx/>
                <a:uFillTx/>
                <a:latin typeface="+mn-lt"/>
                <a:ea typeface="+mn-ea"/>
                <a:cs typeface="+mn-cs"/>
              </a:rPr>
              <a:t>n</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表示</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因为每行只放一个皇后，两个皇后不能处在同一行上。</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400" b="0" i="1"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如果两个皇后处在同一列上</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，他们互相攻击</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1143000" marR="0" lvl="2" indent="-228600" algn="l" defTabSz="914400" rtl="0" eaLnBrk="1" fontAlgn="base" latinLnBrk="0" hangingPunct="1">
              <a:lnSpc>
                <a:spcPct val="9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rgbClr val="FF0000"/>
                </a:solidFill>
                <a:effectLst/>
                <a:uLnTx/>
                <a:uFillTx/>
                <a:latin typeface="+mn-lt"/>
                <a:ea typeface="+mn-ea"/>
                <a:cs typeface="+mn-ea"/>
              </a:rPr>
              <a:t>In this case, x</a:t>
            </a:r>
            <a:r>
              <a:rPr kumimoji="0" lang="en-US" altLang="zh-CN" sz="2000" b="0" i="0" u="none" strike="noStrike" kern="0" cap="none" spc="0" normalizeH="0" baseline="-25000" noProof="0" dirty="0">
                <a:ln>
                  <a:noFill/>
                </a:ln>
                <a:solidFill>
                  <a:srgbClr val="FF0000"/>
                </a:solidFill>
                <a:effectLst/>
                <a:uLnTx/>
                <a:uFillTx/>
                <a:latin typeface="+mn-lt"/>
                <a:ea typeface="+mn-ea"/>
                <a:cs typeface="+mn-ea"/>
              </a:rPr>
              <a:t>i</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r>
              <a:rPr kumimoji="0" lang="en-US" altLang="zh-CN" sz="2000" b="0" i="0" u="none" strike="noStrike" kern="0" cap="none" spc="0" normalizeH="0" baseline="0" noProof="0" dirty="0" err="1">
                <a:ln>
                  <a:noFill/>
                </a:ln>
                <a:solidFill>
                  <a:srgbClr val="FF0000"/>
                </a:solidFill>
                <a:effectLst/>
                <a:uLnTx/>
                <a:uFillTx/>
                <a:latin typeface="+mn-lt"/>
                <a:ea typeface="+mn-ea"/>
                <a:cs typeface="+mn-ea"/>
              </a:rPr>
              <a:t>x</a:t>
            </a:r>
            <a:r>
              <a:rPr kumimoji="0" lang="en-US" altLang="zh-CN" sz="2000" b="0" i="0" u="none" strike="noStrike" kern="0" cap="none" spc="0" normalizeH="0" baseline="-25000" noProof="0" dirty="0" err="1">
                <a:ln>
                  <a:noFill/>
                </a:ln>
                <a:solidFill>
                  <a:srgbClr val="FF0000"/>
                </a:solidFill>
                <a:effectLst/>
                <a:uLnTx/>
                <a:uFillTx/>
                <a:latin typeface="+mn-lt"/>
                <a:ea typeface="+mn-ea"/>
                <a:cs typeface="+mn-ea"/>
              </a:rPr>
              <a:t>j</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p>
          <a:p>
            <a:pPr marL="1143000" marR="0" lvl="2" indent="-228600" algn="l" defTabSz="914400" rtl="0" eaLnBrk="1" fontAlgn="base" latinLnBrk="0" hangingPunct="1">
              <a:lnSpc>
                <a:spcPct val="9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rgbClr val="FF0000"/>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如果两个皇后处在同一条对角线上上</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，他们互相攻击</a:t>
            </a:r>
          </a:p>
          <a:p>
            <a:pPr marL="1143000" marR="0" lvl="2" indent="-228600" algn="l" defTabSz="914400" rtl="0" eaLnBrk="1" fontAlgn="base" latinLnBrk="0" hangingPunct="1">
              <a:lnSpc>
                <a:spcPct val="9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rgbClr val="FF0000"/>
                </a:solidFill>
                <a:effectLst/>
                <a:uLnTx/>
                <a:uFillTx/>
                <a:latin typeface="+mn-lt"/>
                <a:ea typeface="+mn-ea"/>
                <a:cs typeface="+mn-ea"/>
              </a:rPr>
              <a:t>In this case, x</a:t>
            </a:r>
            <a:r>
              <a:rPr kumimoji="0" lang="en-US" altLang="zh-CN" sz="2000" b="0" i="0" u="none" strike="noStrike" kern="0" cap="none" spc="0" normalizeH="0" baseline="-25000" noProof="0" dirty="0">
                <a:ln>
                  <a:noFill/>
                </a:ln>
                <a:solidFill>
                  <a:srgbClr val="FF0000"/>
                </a:solidFill>
                <a:effectLst/>
                <a:uLnTx/>
                <a:uFillTx/>
                <a:latin typeface="+mn-lt"/>
                <a:ea typeface="+mn-ea"/>
                <a:cs typeface="+mn-ea"/>
              </a:rPr>
              <a:t>i</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r>
              <a:rPr kumimoji="0" lang="en-US" altLang="zh-CN" sz="2000" b="0" i="0" u="none" strike="noStrike" kern="0" cap="none" spc="0" normalizeH="0" baseline="0" noProof="0" dirty="0" err="1">
                <a:ln>
                  <a:noFill/>
                </a:ln>
                <a:solidFill>
                  <a:srgbClr val="FF0000"/>
                </a:solidFill>
                <a:effectLst/>
                <a:uLnTx/>
                <a:uFillTx/>
                <a:latin typeface="+mn-lt"/>
                <a:ea typeface="+mn-ea"/>
                <a:cs typeface="+mn-ea"/>
              </a:rPr>
              <a:t>x</a:t>
            </a:r>
            <a:r>
              <a:rPr kumimoji="0" lang="en-US" altLang="zh-CN" sz="2000" b="0" i="0" u="none" strike="noStrike" kern="0" cap="none" spc="0" normalizeH="0" baseline="-25000" noProof="0" dirty="0" err="1">
                <a:ln>
                  <a:noFill/>
                </a:ln>
                <a:solidFill>
                  <a:srgbClr val="FF0000"/>
                </a:solidFill>
                <a:effectLst/>
                <a:uLnTx/>
                <a:uFillTx/>
                <a:latin typeface="+mn-lt"/>
                <a:ea typeface="+mn-ea"/>
                <a:cs typeface="+mn-ea"/>
              </a:rPr>
              <a:t>j</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r>
              <a:rPr kumimoji="0" lang="en-US" altLang="zh-CN" sz="2000" b="0" i="0" u="none" strike="noStrike" kern="0" cap="none" spc="0" normalizeH="0" baseline="0" noProof="0" dirty="0" err="1">
                <a:ln>
                  <a:noFill/>
                </a:ln>
                <a:solidFill>
                  <a:srgbClr val="FF0000"/>
                </a:solidFill>
                <a:effectLst/>
                <a:uLnTx/>
                <a:uFillTx/>
                <a:latin typeface="+mn-lt"/>
                <a:ea typeface="+mn-ea"/>
                <a:cs typeface="+mn-ea"/>
              </a:rPr>
              <a:t>i</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-j or x</a:t>
            </a:r>
            <a:r>
              <a:rPr kumimoji="0" lang="en-US" altLang="zh-CN" sz="2000" b="0" i="0" u="none" strike="noStrike" kern="0" cap="none" spc="0" normalizeH="0" baseline="-25000" noProof="0" dirty="0">
                <a:ln>
                  <a:noFill/>
                </a:ln>
                <a:solidFill>
                  <a:srgbClr val="FF0000"/>
                </a:solidFill>
                <a:effectLst/>
                <a:uLnTx/>
                <a:uFillTx/>
                <a:latin typeface="+mn-lt"/>
                <a:ea typeface="+mn-ea"/>
                <a:cs typeface="+mn-ea"/>
              </a:rPr>
              <a:t>i</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r>
              <a:rPr kumimoji="0" lang="en-US" altLang="zh-CN" sz="2000" b="0" i="0" u="none" strike="noStrike" kern="0" cap="none" spc="0" normalizeH="0" baseline="0" noProof="0" dirty="0" err="1">
                <a:ln>
                  <a:noFill/>
                </a:ln>
                <a:solidFill>
                  <a:srgbClr val="FF0000"/>
                </a:solidFill>
                <a:effectLst/>
                <a:uLnTx/>
                <a:uFillTx/>
                <a:latin typeface="+mn-lt"/>
                <a:ea typeface="+mn-ea"/>
                <a:cs typeface="+mn-ea"/>
              </a:rPr>
              <a:t>x</a:t>
            </a:r>
            <a:r>
              <a:rPr kumimoji="0" lang="en-US" altLang="zh-CN" sz="2000" b="0" i="0" u="none" strike="noStrike" kern="0" cap="none" spc="0" normalizeH="0" baseline="-25000" noProof="0" dirty="0" err="1">
                <a:ln>
                  <a:noFill/>
                </a:ln>
                <a:solidFill>
                  <a:srgbClr val="FF0000"/>
                </a:solidFill>
                <a:effectLst/>
                <a:uLnTx/>
                <a:uFillTx/>
                <a:latin typeface="+mn-lt"/>
                <a:ea typeface="+mn-ea"/>
                <a:cs typeface="+mn-ea"/>
              </a:rPr>
              <a:t>j</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=j-</a:t>
            </a:r>
            <a:r>
              <a:rPr kumimoji="0" lang="en-US" altLang="zh-CN" sz="2000" b="0" i="0" u="none" strike="noStrike" kern="0" cap="none" spc="0" normalizeH="0" baseline="0" noProof="0" dirty="0" err="1">
                <a:ln>
                  <a:noFill/>
                </a:ln>
                <a:solidFill>
                  <a:srgbClr val="FF0000"/>
                </a:solidFill>
                <a:effectLst/>
                <a:uLnTx/>
                <a:uFillTx/>
                <a:latin typeface="+mn-lt"/>
                <a:ea typeface="+mn-ea"/>
                <a:cs typeface="+mn-ea"/>
              </a:rPr>
              <a:t>i</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59">
                                            <p:txEl>
                                              <p:pRg st="2" end="2"/>
                                            </p:txEl>
                                          </p:spTgt>
                                        </p:tgtEl>
                                        <p:attrNameLst>
                                          <p:attrName>style.visibility</p:attrName>
                                        </p:attrNameLst>
                                      </p:cBhvr>
                                      <p:to>
                                        <p:strVal val="visible"/>
                                      </p:to>
                                    </p:set>
                                    <p:anim calcmode="lin" valueType="num">
                                      <p:cBhvr additive="base">
                                        <p:cTn id="13"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anim calcmode="lin" valueType="num">
                                      <p:cBhvr additive="base">
                                        <p:cTn id="19"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9459">
                                            <p:txEl>
                                              <p:pRg st="5" end="5"/>
                                            </p:txEl>
                                          </p:spTgt>
                                        </p:tgtEl>
                                        <p:attrNameLst>
                                          <p:attrName>style.visibility</p:attrName>
                                        </p:attrNameLst>
                                      </p:cBhvr>
                                      <p:to>
                                        <p:strVal val="visible"/>
                                      </p:to>
                                    </p:set>
                                    <p:anim calcmode="lin" valueType="num">
                                      <p:cBhvr additive="base">
                                        <p:cTn id="25" dur="500" fill="hold"/>
                                        <p:tgtEl>
                                          <p:spTgt spid="19459">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4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9459">
                                            <p:txEl>
                                              <p:pRg st="7" end="7"/>
                                            </p:txEl>
                                          </p:spTgt>
                                        </p:tgtEl>
                                        <p:attrNameLst>
                                          <p:attrName>style.visibility</p:attrName>
                                        </p:attrNameLst>
                                      </p:cBhvr>
                                      <p:to>
                                        <p:strVal val="visible"/>
                                      </p:to>
                                    </p:set>
                                    <p:anim calcmode="lin" valueType="num">
                                      <p:cBhvr additive="base">
                                        <p:cTn id="31"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19459">
                                            <p:txEl>
                                              <p:pRg st="8" end="8"/>
                                            </p:txEl>
                                          </p:spTgt>
                                        </p:tgtEl>
                                        <p:attrNameLst>
                                          <p:attrName>style.visibility</p:attrName>
                                        </p:attrNameLst>
                                      </p:cBhvr>
                                      <p:to>
                                        <p:strVal val="visible"/>
                                      </p:to>
                                    </p:set>
                                    <p:anim calcmode="lin" valueType="num">
                                      <p:cBhvr additive="base">
                                        <p:cTn id="37" dur="500" fill="hold"/>
                                        <p:tgtEl>
                                          <p:spTgt spid="19459">
                                            <p:txEl>
                                              <p:pRg st="8" end="8"/>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945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37890" name="Rectangle 3"/>
          <p:cNvSpPr>
            <a:spLocks noGrp="1"/>
          </p:cNvSpPr>
          <p:nvPr>
            <p:ph idx="1"/>
          </p:nvPr>
        </p:nvSpPr>
        <p:spPr>
          <a:xfrm>
            <a:off x="395288" y="333375"/>
            <a:ext cx="8748712" cy="5903913"/>
          </a:xfrm>
          <a:solidFill>
            <a:schemeClr val="bg1"/>
          </a:solidFill>
          <a:ln>
            <a:solidFill>
              <a:schemeClr val="tx1"/>
            </a:solidFill>
            <a:miter/>
          </a:ln>
        </p:spPr>
        <p:txBody>
          <a:bodyPr vert="horz" wrap="square" lIns="91440" tIns="45720" rIns="91440" bIns="45720" anchor="t" anchorCtr="0"/>
          <a:lstStyle/>
          <a:p>
            <a:pPr marL="476250" indent="-476250" eaLnBrk="1" hangingPunct="1">
              <a:lnSpc>
                <a:spcPct val="80000"/>
              </a:lnSpc>
              <a:buNone/>
            </a:pPr>
            <a:r>
              <a:rPr lang="zh-CN" altLang="en-US" sz="1800" b="1" dirty="0"/>
              <a:t>算法</a:t>
            </a:r>
            <a:r>
              <a:rPr lang="en-US" altLang="zh-CN" sz="1800" b="1" dirty="0"/>
              <a:t>8.3 4-QUEENS(</a:t>
            </a:r>
            <a:r>
              <a:rPr lang="zh-CN" altLang="en-US" sz="1800" b="1" dirty="0"/>
              <a:t>迭代</a:t>
            </a:r>
            <a:r>
              <a:rPr lang="en-US" altLang="zh-CN" sz="1800" b="1" dirty="0"/>
              <a:t>)</a:t>
            </a:r>
          </a:p>
          <a:p>
            <a:pPr marL="476250" indent="-476250" eaLnBrk="1" hangingPunct="1">
              <a:lnSpc>
                <a:spcPct val="80000"/>
              </a:lnSpc>
              <a:buNone/>
            </a:pPr>
            <a:r>
              <a:rPr lang="zh-CN" altLang="en-US" sz="1800" dirty="0"/>
              <a:t>输入</a:t>
            </a:r>
            <a:r>
              <a:rPr lang="en-US" altLang="zh-CN" sz="1800" dirty="0"/>
              <a:t>: </a:t>
            </a:r>
            <a:r>
              <a:rPr lang="zh-CN" altLang="en-US" sz="1800" dirty="0"/>
              <a:t>空。</a:t>
            </a:r>
            <a:endParaRPr lang="en-US" altLang="zh-CN" sz="1800" dirty="0"/>
          </a:p>
          <a:p>
            <a:pPr marL="476250" indent="-476250" eaLnBrk="1" hangingPunct="1">
              <a:lnSpc>
                <a:spcPct val="80000"/>
              </a:lnSpc>
              <a:buNone/>
            </a:pPr>
            <a:r>
              <a:rPr lang="zh-CN" altLang="en-US" sz="1800" dirty="0"/>
              <a:t>输出</a:t>
            </a:r>
            <a:r>
              <a:rPr lang="en-US" altLang="zh-CN" sz="1800" dirty="0"/>
              <a:t>:</a:t>
            </a:r>
            <a:r>
              <a:rPr lang="zh-CN" altLang="en-US" sz="1800" dirty="0"/>
              <a:t>对应于</a:t>
            </a:r>
            <a:r>
              <a:rPr lang="en-US" altLang="zh-CN" sz="1800" dirty="0"/>
              <a:t>4</a:t>
            </a:r>
            <a:r>
              <a:rPr lang="zh-CN" altLang="en-US" sz="1800" dirty="0"/>
              <a:t>皇后问题的解的向量</a:t>
            </a:r>
            <a:r>
              <a:rPr lang="en-US" altLang="zh-CN" sz="1800" dirty="0"/>
              <a:t>x[1..4]</a:t>
            </a:r>
            <a:r>
              <a:rPr lang="zh-CN" altLang="en-US" sz="1800" dirty="0"/>
              <a:t>。</a:t>
            </a:r>
            <a:endParaRPr lang="en-US" altLang="zh-CN" sz="1800" dirty="0"/>
          </a:p>
          <a:p>
            <a:pPr marL="476250" indent="-476250" eaLnBrk="1" hangingPunct="1">
              <a:lnSpc>
                <a:spcPct val="80000"/>
              </a:lnSpc>
              <a:buNone/>
            </a:pPr>
            <a:endParaRPr lang="en-US" altLang="zh-CN" sz="1800" dirty="0"/>
          </a:p>
          <a:p>
            <a:pPr marL="476250" indent="-476250" eaLnBrk="1" hangingPunct="1">
              <a:lnSpc>
                <a:spcPct val="80000"/>
              </a:lnSpc>
              <a:buNone/>
            </a:pPr>
            <a:r>
              <a:rPr lang="en-US" altLang="zh-CN" sz="1800" dirty="0"/>
              <a:t>1.	</a:t>
            </a:r>
            <a:r>
              <a:rPr lang="en-US" altLang="zh-CN" sz="1800" b="1" dirty="0"/>
              <a:t>for</a:t>
            </a:r>
            <a:r>
              <a:rPr lang="en-US" altLang="zh-CN" sz="1800" dirty="0"/>
              <a:t> k</a:t>
            </a:r>
            <a:r>
              <a:rPr lang="en-US" altLang="zh-CN" sz="1800" dirty="0">
                <a:sym typeface="Wingdings" panose="05000000000000000000" pitchFamily="2" charset="2"/>
              </a:rPr>
              <a:t>1 </a:t>
            </a:r>
            <a:r>
              <a:rPr lang="en-US" altLang="zh-CN" sz="1800" b="1" dirty="0">
                <a:sym typeface="Wingdings" panose="05000000000000000000" pitchFamily="2" charset="2"/>
              </a:rPr>
              <a:t>to</a:t>
            </a:r>
            <a:r>
              <a:rPr lang="en-US" altLang="zh-CN" sz="1800" dirty="0">
                <a:sym typeface="Wingdings" panose="05000000000000000000" pitchFamily="2" charset="2"/>
              </a:rPr>
              <a:t> 4</a:t>
            </a:r>
          </a:p>
          <a:p>
            <a:pPr marL="476250" indent="-476250" eaLnBrk="1" hangingPunct="1">
              <a:lnSpc>
                <a:spcPct val="80000"/>
              </a:lnSpc>
              <a:buNone/>
            </a:pPr>
            <a:r>
              <a:rPr lang="en-US" altLang="zh-CN" sz="1800" dirty="0">
                <a:sym typeface="Wingdings" panose="05000000000000000000" pitchFamily="2" charset="2"/>
              </a:rPr>
              <a:t>2.		x[k]0  {</a:t>
            </a:r>
            <a:r>
              <a:rPr lang="zh-CN" altLang="en-US" sz="1800" dirty="0">
                <a:sym typeface="Wingdings" panose="05000000000000000000" pitchFamily="2" charset="2"/>
              </a:rPr>
              <a:t>没有皇后放置在棋盘上</a:t>
            </a:r>
            <a:r>
              <a:rPr lang="en-US" altLang="zh-CN" sz="1800" dirty="0">
                <a:sym typeface="Wingdings" panose="05000000000000000000" pitchFamily="2" charset="2"/>
              </a:rPr>
              <a:t>}</a:t>
            </a:r>
          </a:p>
          <a:p>
            <a:pPr marL="476250" indent="-476250" eaLnBrk="1" hangingPunct="1">
              <a:lnSpc>
                <a:spcPct val="80000"/>
              </a:lnSpc>
              <a:buNone/>
            </a:pPr>
            <a:r>
              <a:rPr lang="en-US" altLang="zh-CN" sz="1800" dirty="0">
                <a:sym typeface="Wingdings" panose="05000000000000000000" pitchFamily="2" charset="2"/>
              </a:rPr>
              <a:t>3.	</a:t>
            </a:r>
            <a:r>
              <a:rPr lang="en-US" altLang="zh-CN" sz="1800" b="1" dirty="0">
                <a:sym typeface="Wingdings" panose="05000000000000000000" pitchFamily="2" charset="2"/>
              </a:rPr>
              <a:t>end for</a:t>
            </a:r>
          </a:p>
          <a:p>
            <a:pPr marL="476250" indent="-476250" eaLnBrk="1" hangingPunct="1">
              <a:lnSpc>
                <a:spcPct val="80000"/>
              </a:lnSpc>
              <a:buNone/>
            </a:pPr>
            <a:r>
              <a:rPr lang="en-US" altLang="zh-CN" sz="1800" dirty="0">
                <a:sym typeface="Wingdings" panose="05000000000000000000" pitchFamily="2" charset="2"/>
              </a:rPr>
              <a:t>4.	flagfalse</a:t>
            </a:r>
          </a:p>
          <a:p>
            <a:pPr marL="476250" indent="-476250" eaLnBrk="1" hangingPunct="1">
              <a:lnSpc>
                <a:spcPct val="80000"/>
              </a:lnSpc>
              <a:buNone/>
            </a:pPr>
            <a:r>
              <a:rPr lang="en-US" altLang="zh-CN" sz="1800" dirty="0">
                <a:sym typeface="Wingdings" panose="05000000000000000000" pitchFamily="2" charset="2"/>
              </a:rPr>
              <a:t>5.	k1</a:t>
            </a:r>
          </a:p>
          <a:p>
            <a:pPr marL="476250" indent="-476250" eaLnBrk="1" hangingPunct="1">
              <a:lnSpc>
                <a:spcPct val="80000"/>
              </a:lnSpc>
              <a:buNone/>
            </a:pPr>
            <a:r>
              <a:rPr lang="en-US" altLang="zh-CN" sz="1800" dirty="0">
                <a:sym typeface="Wingdings" panose="05000000000000000000" pitchFamily="2" charset="2"/>
              </a:rPr>
              <a:t>6. 	</a:t>
            </a:r>
            <a:r>
              <a:rPr lang="en-US" altLang="zh-CN" sz="1800" b="1" dirty="0">
                <a:sym typeface="Wingdings" panose="05000000000000000000" pitchFamily="2" charset="2"/>
              </a:rPr>
              <a:t>while</a:t>
            </a:r>
            <a:r>
              <a:rPr lang="en-US" altLang="zh-CN" sz="1800" dirty="0">
                <a:sym typeface="Wingdings" panose="05000000000000000000" pitchFamily="2" charset="2"/>
              </a:rPr>
              <a:t> k </a:t>
            </a:r>
            <a:r>
              <a:rPr lang="en-US" altLang="zh-CN" sz="1800" dirty="0">
                <a:sym typeface="Symbol" pitchFamily="18" charset="2"/>
              </a:rPr>
              <a:t>1</a:t>
            </a:r>
          </a:p>
          <a:p>
            <a:pPr marL="476250" indent="-476250" eaLnBrk="1" hangingPunct="1">
              <a:lnSpc>
                <a:spcPct val="80000"/>
              </a:lnSpc>
              <a:buNone/>
            </a:pPr>
            <a:r>
              <a:rPr lang="en-US" altLang="zh-CN" sz="1800" dirty="0">
                <a:sym typeface="Symbol" pitchFamily="18" charset="2"/>
              </a:rPr>
              <a:t>7.   		</a:t>
            </a:r>
            <a:r>
              <a:rPr lang="en-US" altLang="zh-CN" sz="1800" b="1" dirty="0">
                <a:sym typeface="Symbol" pitchFamily="18" charset="2"/>
              </a:rPr>
              <a:t>while</a:t>
            </a:r>
            <a:r>
              <a:rPr lang="en-US" altLang="zh-CN" sz="1800" dirty="0">
                <a:sym typeface="Symbol" pitchFamily="18" charset="2"/>
              </a:rPr>
              <a:t> x[k] 3</a:t>
            </a:r>
          </a:p>
          <a:p>
            <a:pPr marL="476250" indent="-476250" eaLnBrk="1" hangingPunct="1">
              <a:lnSpc>
                <a:spcPct val="80000"/>
              </a:lnSpc>
              <a:buNone/>
            </a:pPr>
            <a:r>
              <a:rPr lang="en-US" altLang="zh-CN" sz="1800" dirty="0">
                <a:sym typeface="Symbol" pitchFamily="18" charset="2"/>
              </a:rPr>
              <a:t>8.	    		x[k]</a:t>
            </a:r>
            <a:r>
              <a:rPr lang="en-US" altLang="zh-CN" sz="1800" dirty="0">
                <a:sym typeface="Wingdings" panose="05000000000000000000" pitchFamily="2" charset="2"/>
              </a:rPr>
              <a:t>x[k]+1</a:t>
            </a:r>
          </a:p>
          <a:p>
            <a:pPr marL="476250" indent="-476250" algn="just" eaLnBrk="1" hangingPunct="1">
              <a:lnSpc>
                <a:spcPct val="80000"/>
              </a:lnSpc>
              <a:buNone/>
            </a:pPr>
            <a:r>
              <a:rPr lang="en-US" altLang="zh-CN" sz="1800" dirty="0">
                <a:sym typeface="Wingdings" panose="05000000000000000000" pitchFamily="2" charset="2"/>
              </a:rPr>
              <a:t>9.	    		</a:t>
            </a:r>
            <a:r>
              <a:rPr lang="en-US" altLang="zh-CN" sz="1800" b="1" dirty="0">
                <a:sym typeface="Wingdings" panose="05000000000000000000" pitchFamily="2" charset="2"/>
              </a:rPr>
              <a:t>if</a:t>
            </a:r>
            <a:r>
              <a:rPr lang="en-US" altLang="zh-CN" sz="1800" dirty="0">
                <a:sym typeface="Wingdings" panose="05000000000000000000" pitchFamily="2" charset="2"/>
              </a:rPr>
              <a:t> x</a:t>
            </a:r>
            <a:r>
              <a:rPr lang="zh-CN" altLang="en-US" sz="1800" dirty="0">
                <a:sym typeface="Wingdings" panose="05000000000000000000" pitchFamily="2" charset="2"/>
              </a:rPr>
              <a:t>为合法解</a:t>
            </a:r>
            <a:r>
              <a:rPr lang="en-US" altLang="zh-CN" sz="1800" dirty="0">
                <a:sym typeface="Wingdings" panose="05000000000000000000" pitchFamily="2" charset="2"/>
              </a:rPr>
              <a:t>then set flagtrue</a:t>
            </a:r>
            <a:r>
              <a:rPr lang="zh-CN" altLang="en-US" sz="1800" dirty="0">
                <a:sym typeface="Wingdings" panose="05000000000000000000" pitchFamily="2" charset="2"/>
              </a:rPr>
              <a:t>且从两个</a:t>
            </a:r>
            <a:r>
              <a:rPr lang="en-US" altLang="zh-CN" sz="1800" dirty="0">
                <a:sym typeface="Wingdings" panose="05000000000000000000" pitchFamily="2" charset="2"/>
              </a:rPr>
              <a:t>while</a:t>
            </a:r>
            <a:r>
              <a:rPr lang="zh-CN" altLang="en-US" sz="1800" dirty="0">
                <a:sym typeface="Wingdings" panose="05000000000000000000" pitchFamily="2" charset="2"/>
              </a:rPr>
              <a:t>循环退出</a:t>
            </a:r>
            <a:endParaRPr lang="en-US" altLang="zh-CN" sz="1800" dirty="0">
              <a:sym typeface="Wingdings" panose="05000000000000000000" pitchFamily="2" charset="2"/>
            </a:endParaRPr>
          </a:p>
          <a:p>
            <a:pPr marL="476250" indent="-476250" eaLnBrk="1" hangingPunct="1">
              <a:lnSpc>
                <a:spcPct val="80000"/>
              </a:lnSpc>
              <a:buNone/>
            </a:pPr>
            <a:r>
              <a:rPr lang="en-US" altLang="zh-CN" sz="1800" dirty="0">
                <a:sym typeface="Symbol" pitchFamily="18" charset="2"/>
              </a:rPr>
              <a:t>10.			</a:t>
            </a:r>
            <a:r>
              <a:rPr lang="en-US" altLang="zh-CN" sz="1800" b="1" dirty="0">
                <a:sym typeface="Symbol" pitchFamily="18" charset="2"/>
              </a:rPr>
              <a:t>else if</a:t>
            </a:r>
            <a:r>
              <a:rPr lang="en-US" altLang="zh-CN" sz="1800" dirty="0">
                <a:sym typeface="Symbol" pitchFamily="18" charset="2"/>
              </a:rPr>
              <a:t> x</a:t>
            </a:r>
            <a:r>
              <a:rPr lang="zh-CN" altLang="en-US" sz="1800" dirty="0">
                <a:sym typeface="Symbol" pitchFamily="18" charset="2"/>
              </a:rPr>
              <a:t>是部分解  </a:t>
            </a:r>
            <a:r>
              <a:rPr lang="en-US" altLang="zh-CN" sz="1800" b="1" dirty="0">
                <a:sym typeface="Symbol" pitchFamily="18" charset="2"/>
              </a:rPr>
              <a:t>then</a:t>
            </a:r>
            <a:r>
              <a:rPr lang="en-US" altLang="zh-CN" sz="1800" dirty="0">
                <a:sym typeface="Symbol" pitchFamily="18" charset="2"/>
              </a:rPr>
              <a:t> k</a:t>
            </a:r>
            <a:r>
              <a:rPr lang="en-US" altLang="zh-CN" sz="1800" dirty="0">
                <a:sym typeface="Wingdings" panose="05000000000000000000" pitchFamily="2" charset="2"/>
              </a:rPr>
              <a:t>k+1  {</a:t>
            </a:r>
            <a:r>
              <a:rPr lang="zh-CN" altLang="en-US" sz="1800" dirty="0">
                <a:sym typeface="Wingdings" panose="05000000000000000000" pitchFamily="2" charset="2"/>
              </a:rPr>
              <a:t>前进</a:t>
            </a:r>
            <a:r>
              <a:rPr lang="en-US" altLang="zh-CN" sz="1800" dirty="0">
                <a:sym typeface="Wingdings" panose="05000000000000000000" pitchFamily="2" charset="2"/>
              </a:rPr>
              <a:t>}</a:t>
            </a:r>
          </a:p>
          <a:p>
            <a:pPr marL="476250" indent="-476250" eaLnBrk="1" hangingPunct="1">
              <a:lnSpc>
                <a:spcPct val="80000"/>
              </a:lnSpc>
              <a:buNone/>
            </a:pPr>
            <a:r>
              <a:rPr lang="en-US" altLang="zh-CN" sz="1800" dirty="0">
                <a:sym typeface="Symbol" pitchFamily="18" charset="2"/>
              </a:rPr>
              <a:t>11.   		</a:t>
            </a:r>
            <a:r>
              <a:rPr lang="en-US" altLang="zh-CN" sz="1800" b="1" dirty="0">
                <a:sym typeface="Symbol" pitchFamily="18" charset="2"/>
              </a:rPr>
              <a:t>end while</a:t>
            </a:r>
          </a:p>
          <a:p>
            <a:pPr marL="476250" indent="-476250" eaLnBrk="1" hangingPunct="1">
              <a:lnSpc>
                <a:spcPct val="80000"/>
              </a:lnSpc>
              <a:buNone/>
            </a:pPr>
            <a:r>
              <a:rPr lang="en-US" altLang="zh-CN" sz="1800" dirty="0">
                <a:sym typeface="Symbol" pitchFamily="18" charset="2"/>
              </a:rPr>
              <a:t>12.   		x[k]</a:t>
            </a:r>
            <a:r>
              <a:rPr lang="en-US" altLang="zh-CN" sz="1800" dirty="0">
                <a:sym typeface="Wingdings" panose="05000000000000000000" pitchFamily="2" charset="2"/>
              </a:rPr>
              <a:t>0</a:t>
            </a:r>
          </a:p>
          <a:p>
            <a:pPr marL="476250" indent="-476250" eaLnBrk="1" hangingPunct="1">
              <a:lnSpc>
                <a:spcPct val="80000"/>
              </a:lnSpc>
              <a:buNone/>
            </a:pPr>
            <a:r>
              <a:rPr lang="en-US" altLang="zh-CN" sz="1800" dirty="0">
                <a:sym typeface="Symbol" pitchFamily="18" charset="2"/>
              </a:rPr>
              <a:t>13.   		k</a:t>
            </a:r>
            <a:r>
              <a:rPr lang="en-US" altLang="zh-CN" sz="1800" dirty="0">
                <a:sym typeface="Wingdings" panose="05000000000000000000" pitchFamily="2" charset="2"/>
              </a:rPr>
              <a:t>k-1 {</a:t>
            </a:r>
            <a:r>
              <a:rPr lang="zh-CN" altLang="en-US" sz="1800" dirty="0">
                <a:sym typeface="Wingdings" panose="05000000000000000000" pitchFamily="2" charset="2"/>
              </a:rPr>
              <a:t>回溯</a:t>
            </a:r>
            <a:r>
              <a:rPr lang="en-US" altLang="zh-CN" sz="1800" dirty="0">
                <a:sym typeface="Wingdings" panose="05000000000000000000" pitchFamily="2" charset="2"/>
              </a:rPr>
              <a:t>}</a:t>
            </a:r>
          </a:p>
          <a:p>
            <a:pPr marL="476250" indent="-476250" eaLnBrk="1" hangingPunct="1">
              <a:lnSpc>
                <a:spcPct val="80000"/>
              </a:lnSpc>
              <a:buNone/>
            </a:pPr>
            <a:r>
              <a:rPr lang="en-US" altLang="zh-CN" sz="1800" dirty="0">
                <a:sym typeface="Symbol" pitchFamily="18" charset="2"/>
              </a:rPr>
              <a:t>14. 	</a:t>
            </a:r>
            <a:r>
              <a:rPr lang="en-US" altLang="zh-CN" sz="1800" b="1" dirty="0">
                <a:sym typeface="Symbol" pitchFamily="18" charset="2"/>
              </a:rPr>
              <a:t>end while</a:t>
            </a:r>
          </a:p>
          <a:p>
            <a:pPr marL="476250" indent="-476250" eaLnBrk="1" hangingPunct="1">
              <a:lnSpc>
                <a:spcPct val="80000"/>
              </a:lnSpc>
              <a:buNone/>
            </a:pPr>
            <a:r>
              <a:rPr lang="en-US" altLang="zh-CN" sz="1800" dirty="0">
                <a:sym typeface="Symbol" pitchFamily="18" charset="2"/>
              </a:rPr>
              <a:t>15. 	</a:t>
            </a:r>
            <a:r>
              <a:rPr lang="en-US" altLang="zh-CN" sz="1800" b="1" dirty="0">
                <a:sym typeface="Symbol" pitchFamily="18" charset="2"/>
              </a:rPr>
              <a:t>if</a:t>
            </a:r>
            <a:r>
              <a:rPr lang="en-US" altLang="zh-CN" sz="1800" dirty="0">
                <a:sym typeface="Symbol" pitchFamily="18" charset="2"/>
              </a:rPr>
              <a:t> flag </a:t>
            </a:r>
            <a:r>
              <a:rPr lang="en-US" altLang="zh-CN" sz="1800" b="1" dirty="0">
                <a:sym typeface="Symbol" pitchFamily="18" charset="2"/>
              </a:rPr>
              <a:t>then output</a:t>
            </a:r>
            <a:r>
              <a:rPr lang="en-US" altLang="zh-CN" sz="1800" dirty="0">
                <a:sym typeface="Symbol" pitchFamily="18" charset="2"/>
              </a:rPr>
              <a:t> x</a:t>
            </a:r>
          </a:p>
          <a:p>
            <a:pPr marL="476250" indent="-476250" eaLnBrk="1" hangingPunct="1">
              <a:lnSpc>
                <a:spcPct val="80000"/>
              </a:lnSpc>
              <a:buNone/>
            </a:pPr>
            <a:r>
              <a:rPr lang="en-US" altLang="zh-CN" sz="1800" dirty="0">
                <a:sym typeface="Symbol" pitchFamily="18" charset="2"/>
              </a:rPr>
              <a:t>16. 	</a:t>
            </a:r>
            <a:r>
              <a:rPr lang="en-US" altLang="zh-CN" sz="1800" b="1" dirty="0">
                <a:sym typeface="Symbol" pitchFamily="18" charset="2"/>
              </a:rPr>
              <a:t>else output</a:t>
            </a:r>
            <a:r>
              <a:rPr lang="en-US" altLang="zh-CN" sz="1800" dirty="0">
                <a:sym typeface="Symbol" pitchFamily="18" charset="2"/>
              </a:rPr>
              <a:t> “no solution”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39938" name="Rectangle 2"/>
          <p:cNvSpPr>
            <a:spLocks noGrp="1"/>
          </p:cNvSpPr>
          <p:nvPr>
            <p:ph type="title"/>
          </p:nvPr>
        </p:nvSpPr>
        <p:spPr/>
        <p:txBody>
          <a:bodyPr vert="horz" wrap="square" lIns="91440" tIns="45720" rIns="91440" bIns="45720" anchor="ctr" anchorCtr="0"/>
          <a:lstStyle/>
          <a:p>
            <a:pPr eaLnBrk="1" hangingPunct="1"/>
            <a:r>
              <a:rPr lang="en-US" altLang="zh-CN" dirty="0"/>
              <a:t> 8.1.2 8</a:t>
            </a:r>
            <a:r>
              <a:rPr lang="zh-CN" altLang="en-US" dirty="0"/>
              <a:t>皇后——搜索树</a:t>
            </a:r>
            <a:r>
              <a:rPr lang="en-US" altLang="zh-CN" dirty="0"/>
              <a:t> </a:t>
            </a:r>
          </a:p>
        </p:txBody>
      </p:sp>
      <p:graphicFrame>
        <p:nvGraphicFramePr>
          <p:cNvPr id="86454" name="Group 438"/>
          <p:cNvGraphicFramePr>
            <a:graphicFrameLocks noGrp="1"/>
          </p:cNvGraphicFramePr>
          <p:nvPr/>
        </p:nvGraphicFramePr>
        <p:xfrm>
          <a:off x="323850" y="1955800"/>
          <a:ext cx="1439863" cy="1473201"/>
        </p:xfrm>
        <a:graphic>
          <a:graphicData uri="http://schemas.openxmlformats.org/drawingml/2006/table">
            <a:tbl>
              <a:tblPr/>
              <a:tblGrid>
                <a:gridCol w="360363">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358775">
                  <a:extLst>
                    <a:ext uri="{9D8B030D-6E8A-4147-A177-3AD203B41FA5}">
                      <a16:colId xmlns:a16="http://schemas.microsoft.com/office/drawing/2014/main" val="20002"/>
                    </a:ext>
                  </a:extLst>
                </a:gridCol>
                <a:gridCol w="360363">
                  <a:extLst>
                    <a:ext uri="{9D8B030D-6E8A-4147-A177-3AD203B41FA5}">
                      <a16:colId xmlns:a16="http://schemas.microsoft.com/office/drawing/2014/main" val="20003"/>
                    </a:ext>
                  </a:extLst>
                </a:gridCol>
              </a:tblGrid>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877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86049" name="Group 33"/>
          <p:cNvGraphicFramePr>
            <a:graphicFrameLocks noGrp="1"/>
          </p:cNvGraphicFramePr>
          <p:nvPr/>
        </p:nvGraphicFramePr>
        <p:xfrm>
          <a:off x="2339975" y="1955800"/>
          <a:ext cx="1439863" cy="1439864"/>
        </p:xfrm>
        <a:graphic>
          <a:graphicData uri="http://schemas.openxmlformats.org/drawingml/2006/table">
            <a:tbl>
              <a:tblPr/>
              <a:tblGrid>
                <a:gridCol w="360363">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358775">
                  <a:extLst>
                    <a:ext uri="{9D8B030D-6E8A-4147-A177-3AD203B41FA5}">
                      <a16:colId xmlns:a16="http://schemas.microsoft.com/office/drawing/2014/main" val="20002"/>
                    </a:ext>
                  </a:extLst>
                </a:gridCol>
                <a:gridCol w="360363">
                  <a:extLst>
                    <a:ext uri="{9D8B030D-6E8A-4147-A177-3AD203B41FA5}">
                      <a16:colId xmlns:a16="http://schemas.microsoft.com/office/drawing/2014/main" val="20003"/>
                    </a:ext>
                  </a:extLst>
                </a:gridCol>
              </a:tblGrid>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877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86490" name="Group 474"/>
          <p:cNvGraphicFramePr>
            <a:graphicFrameLocks noGrp="1"/>
          </p:cNvGraphicFramePr>
          <p:nvPr/>
        </p:nvGraphicFramePr>
        <p:xfrm>
          <a:off x="2344738" y="3860800"/>
          <a:ext cx="1439862" cy="1406526"/>
        </p:xfrm>
        <a:graphic>
          <a:graphicData uri="http://schemas.openxmlformats.org/drawingml/2006/table">
            <a:tbl>
              <a:tblPr/>
              <a:tblGrid>
                <a:gridCol w="360362">
                  <a:extLst>
                    <a:ext uri="{9D8B030D-6E8A-4147-A177-3AD203B41FA5}">
                      <a16:colId xmlns:a16="http://schemas.microsoft.com/office/drawing/2014/main" val="20000"/>
                    </a:ext>
                  </a:extLst>
                </a:gridCol>
                <a:gridCol w="360363">
                  <a:extLst>
                    <a:ext uri="{9D8B030D-6E8A-4147-A177-3AD203B41FA5}">
                      <a16:colId xmlns:a16="http://schemas.microsoft.com/office/drawing/2014/main" val="20001"/>
                    </a:ext>
                  </a:extLst>
                </a:gridCol>
                <a:gridCol w="358775">
                  <a:extLst>
                    <a:ext uri="{9D8B030D-6E8A-4147-A177-3AD203B41FA5}">
                      <a16:colId xmlns:a16="http://schemas.microsoft.com/office/drawing/2014/main" val="20002"/>
                    </a:ext>
                  </a:extLst>
                </a:gridCol>
                <a:gridCol w="360362">
                  <a:extLst>
                    <a:ext uri="{9D8B030D-6E8A-4147-A177-3AD203B41FA5}">
                      <a16:colId xmlns:a16="http://schemas.microsoft.com/office/drawing/2014/main" val="20003"/>
                    </a:ext>
                  </a:extLst>
                </a:gridCol>
              </a:tblGrid>
              <a:tr h="3270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877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86130" name="Text Box 114"/>
          <p:cNvSpPr txBox="1"/>
          <p:nvPr/>
        </p:nvSpPr>
        <p:spPr>
          <a:xfrm>
            <a:off x="323850" y="1955800"/>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1</a:t>
            </a:r>
          </a:p>
        </p:txBody>
      </p:sp>
      <p:sp>
        <p:nvSpPr>
          <p:cNvPr id="86131" name="Text Box 115"/>
          <p:cNvSpPr txBox="1"/>
          <p:nvPr/>
        </p:nvSpPr>
        <p:spPr>
          <a:xfrm>
            <a:off x="323850" y="2276475"/>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32" name="Text Box 116"/>
          <p:cNvSpPr txBox="1"/>
          <p:nvPr/>
        </p:nvSpPr>
        <p:spPr>
          <a:xfrm>
            <a:off x="635000" y="2276475"/>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33" name="Text Box 117"/>
          <p:cNvSpPr txBox="1"/>
          <p:nvPr/>
        </p:nvSpPr>
        <p:spPr>
          <a:xfrm>
            <a:off x="1028700" y="2279650"/>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2</a:t>
            </a:r>
          </a:p>
        </p:txBody>
      </p:sp>
      <p:sp>
        <p:nvSpPr>
          <p:cNvPr id="86134" name="Text Box 118"/>
          <p:cNvSpPr txBox="1"/>
          <p:nvPr/>
        </p:nvSpPr>
        <p:spPr>
          <a:xfrm>
            <a:off x="323850" y="2676525"/>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35" name="Text Box 119"/>
          <p:cNvSpPr txBox="1"/>
          <p:nvPr/>
        </p:nvSpPr>
        <p:spPr>
          <a:xfrm>
            <a:off x="650875" y="2676525"/>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36" name="Text Box 120"/>
          <p:cNvSpPr txBox="1"/>
          <p:nvPr/>
        </p:nvSpPr>
        <p:spPr>
          <a:xfrm>
            <a:off x="1025525" y="2676525"/>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37" name="Text Box 121"/>
          <p:cNvSpPr txBox="1"/>
          <p:nvPr/>
        </p:nvSpPr>
        <p:spPr>
          <a:xfrm>
            <a:off x="1385888" y="2676525"/>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38" name="Text Box 122"/>
          <p:cNvSpPr txBox="1"/>
          <p:nvPr/>
        </p:nvSpPr>
        <p:spPr>
          <a:xfrm>
            <a:off x="2324100" y="1916113"/>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1</a:t>
            </a:r>
          </a:p>
        </p:txBody>
      </p:sp>
      <p:sp>
        <p:nvSpPr>
          <p:cNvPr id="86139" name="Text Box 123"/>
          <p:cNvSpPr txBox="1"/>
          <p:nvPr/>
        </p:nvSpPr>
        <p:spPr>
          <a:xfrm>
            <a:off x="3414713" y="2279650"/>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2</a:t>
            </a:r>
          </a:p>
        </p:txBody>
      </p:sp>
      <p:sp>
        <p:nvSpPr>
          <p:cNvPr id="86140" name="Text Box 124"/>
          <p:cNvSpPr txBox="1"/>
          <p:nvPr/>
        </p:nvSpPr>
        <p:spPr>
          <a:xfrm>
            <a:off x="2339975" y="2655888"/>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41" name="Text Box 125"/>
          <p:cNvSpPr txBox="1"/>
          <p:nvPr/>
        </p:nvSpPr>
        <p:spPr>
          <a:xfrm>
            <a:off x="2695575" y="2676525"/>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3</a:t>
            </a:r>
          </a:p>
        </p:txBody>
      </p:sp>
      <p:sp>
        <p:nvSpPr>
          <p:cNvPr id="86142" name="Text Box 126"/>
          <p:cNvSpPr txBox="1"/>
          <p:nvPr/>
        </p:nvSpPr>
        <p:spPr>
          <a:xfrm>
            <a:off x="2339975" y="3036888"/>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43" name="Text Box 127"/>
          <p:cNvSpPr txBox="1"/>
          <p:nvPr/>
        </p:nvSpPr>
        <p:spPr>
          <a:xfrm>
            <a:off x="2695575" y="3036888"/>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44" name="Text Box 128"/>
          <p:cNvSpPr txBox="1"/>
          <p:nvPr/>
        </p:nvSpPr>
        <p:spPr>
          <a:xfrm>
            <a:off x="3054350" y="3036888"/>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45" name="Text Box 129"/>
          <p:cNvSpPr txBox="1"/>
          <p:nvPr/>
        </p:nvSpPr>
        <p:spPr>
          <a:xfrm>
            <a:off x="3414713" y="3000375"/>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50" name="Text Box 134"/>
          <p:cNvSpPr txBox="1"/>
          <p:nvPr/>
        </p:nvSpPr>
        <p:spPr>
          <a:xfrm>
            <a:off x="2700338" y="3862388"/>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1</a:t>
            </a:r>
          </a:p>
        </p:txBody>
      </p:sp>
      <p:sp>
        <p:nvSpPr>
          <p:cNvPr id="86151" name="Text Box 135"/>
          <p:cNvSpPr txBox="1"/>
          <p:nvPr/>
        </p:nvSpPr>
        <p:spPr>
          <a:xfrm>
            <a:off x="2339975" y="4186238"/>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52" name="Text Box 136"/>
          <p:cNvSpPr txBox="1"/>
          <p:nvPr/>
        </p:nvSpPr>
        <p:spPr>
          <a:xfrm>
            <a:off x="2700338" y="4186238"/>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53" name="Text Box 137"/>
          <p:cNvSpPr txBox="1"/>
          <p:nvPr/>
        </p:nvSpPr>
        <p:spPr>
          <a:xfrm>
            <a:off x="3046413" y="4222750"/>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54" name="Text Box 138"/>
          <p:cNvSpPr txBox="1"/>
          <p:nvPr/>
        </p:nvSpPr>
        <p:spPr>
          <a:xfrm>
            <a:off x="3424238" y="4222750"/>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2</a:t>
            </a:r>
          </a:p>
        </p:txBody>
      </p:sp>
      <p:sp>
        <p:nvSpPr>
          <p:cNvPr id="86155" name="Text Box 139"/>
          <p:cNvSpPr txBox="1"/>
          <p:nvPr/>
        </p:nvSpPr>
        <p:spPr>
          <a:xfrm>
            <a:off x="2344738" y="4583113"/>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3</a:t>
            </a:r>
          </a:p>
        </p:txBody>
      </p:sp>
      <p:sp>
        <p:nvSpPr>
          <p:cNvPr id="86156" name="Text Box 140"/>
          <p:cNvSpPr txBox="1"/>
          <p:nvPr/>
        </p:nvSpPr>
        <p:spPr>
          <a:xfrm>
            <a:off x="2344738" y="4943475"/>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57" name="Text Box 141"/>
          <p:cNvSpPr txBox="1"/>
          <p:nvPr/>
        </p:nvSpPr>
        <p:spPr>
          <a:xfrm>
            <a:off x="2705100" y="4943475"/>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158" name="Text Box 142"/>
          <p:cNvSpPr txBox="1"/>
          <p:nvPr/>
        </p:nvSpPr>
        <p:spPr>
          <a:xfrm>
            <a:off x="3065463" y="4943475"/>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4</a:t>
            </a:r>
          </a:p>
        </p:txBody>
      </p:sp>
      <p:graphicFrame>
        <p:nvGraphicFramePr>
          <p:cNvPr id="86485" name="Group 469"/>
          <p:cNvGraphicFramePr>
            <a:graphicFrameLocks noGrp="1"/>
          </p:cNvGraphicFramePr>
          <p:nvPr/>
        </p:nvGraphicFramePr>
        <p:xfrm>
          <a:off x="328613" y="3860800"/>
          <a:ext cx="1439862" cy="1406526"/>
        </p:xfrm>
        <a:graphic>
          <a:graphicData uri="http://schemas.openxmlformats.org/drawingml/2006/table">
            <a:tbl>
              <a:tblPr/>
              <a:tblGrid>
                <a:gridCol w="360362">
                  <a:extLst>
                    <a:ext uri="{9D8B030D-6E8A-4147-A177-3AD203B41FA5}">
                      <a16:colId xmlns:a16="http://schemas.microsoft.com/office/drawing/2014/main" val="20000"/>
                    </a:ext>
                  </a:extLst>
                </a:gridCol>
                <a:gridCol w="360363">
                  <a:extLst>
                    <a:ext uri="{9D8B030D-6E8A-4147-A177-3AD203B41FA5}">
                      <a16:colId xmlns:a16="http://schemas.microsoft.com/office/drawing/2014/main" val="20001"/>
                    </a:ext>
                  </a:extLst>
                </a:gridCol>
                <a:gridCol w="358775">
                  <a:extLst>
                    <a:ext uri="{9D8B030D-6E8A-4147-A177-3AD203B41FA5}">
                      <a16:colId xmlns:a16="http://schemas.microsoft.com/office/drawing/2014/main" val="20002"/>
                    </a:ext>
                  </a:extLst>
                </a:gridCol>
                <a:gridCol w="360362">
                  <a:extLst>
                    <a:ext uri="{9D8B030D-6E8A-4147-A177-3AD203B41FA5}">
                      <a16:colId xmlns:a16="http://schemas.microsoft.com/office/drawing/2014/main" val="20003"/>
                    </a:ext>
                  </a:extLst>
                </a:gridCol>
              </a:tblGrid>
              <a:tr h="3270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877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600" b="0" i="0" u="none" strike="noStrike" cap="none" normalizeH="0" baseline="0">
                        <a:ln>
                          <a:noFill/>
                        </a:ln>
                        <a:solidFill>
                          <a:schemeClr val="accent2"/>
                        </a:solidFill>
                        <a:effectLst/>
                        <a:latin typeface="Times New Roman" panose="0202050305040509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86421" name="Text Box 405"/>
          <p:cNvSpPr txBox="1"/>
          <p:nvPr/>
        </p:nvSpPr>
        <p:spPr>
          <a:xfrm>
            <a:off x="323850" y="3829050"/>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1</a:t>
            </a:r>
          </a:p>
        </p:txBody>
      </p:sp>
      <p:sp>
        <p:nvSpPr>
          <p:cNvPr id="86422" name="Text Box 406"/>
          <p:cNvSpPr txBox="1"/>
          <p:nvPr/>
        </p:nvSpPr>
        <p:spPr>
          <a:xfrm>
            <a:off x="1403350" y="4189413"/>
            <a:ext cx="3651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2</a:t>
            </a:r>
          </a:p>
        </p:txBody>
      </p:sp>
      <p:sp>
        <p:nvSpPr>
          <p:cNvPr id="86423" name="Text Box 407"/>
          <p:cNvSpPr txBox="1"/>
          <p:nvPr/>
        </p:nvSpPr>
        <p:spPr>
          <a:xfrm>
            <a:off x="1049338" y="4513263"/>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424" name="Text Box 408"/>
          <p:cNvSpPr txBox="1"/>
          <p:nvPr/>
        </p:nvSpPr>
        <p:spPr>
          <a:xfrm>
            <a:off x="1403350" y="4513263"/>
            <a:ext cx="377825" cy="396875"/>
          </a:xfrm>
          <a:prstGeom prst="rect">
            <a:avLst/>
          </a:prstGeom>
          <a:noFill/>
          <a:ln w="9525">
            <a:noFill/>
          </a:ln>
        </p:spPr>
        <p:txBody>
          <a:bodyPr wrap="none" anchor="t" anchorCtr="0">
            <a:spAutoFit/>
          </a:bodyPr>
          <a:lstStyle/>
          <a:p>
            <a:r>
              <a:rPr lang="en-US" altLang="zh-CN" b="1" dirty="0">
                <a:latin typeface="Verdana" panose="020B0804030504040204" pitchFamily="34" charset="0"/>
                <a:ea typeface="宋体" pitchFamily="2" charset="-122"/>
              </a:rPr>
              <a:t>X</a:t>
            </a:r>
          </a:p>
        </p:txBody>
      </p:sp>
      <p:sp>
        <p:nvSpPr>
          <p:cNvPr id="86451" name="Oval 435"/>
          <p:cNvSpPr/>
          <p:nvPr/>
        </p:nvSpPr>
        <p:spPr>
          <a:xfrm>
            <a:off x="6156325" y="1268413"/>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52" name="Line 436"/>
          <p:cNvSpPr/>
          <p:nvPr/>
        </p:nvSpPr>
        <p:spPr>
          <a:xfrm flipH="1">
            <a:off x="5435600" y="1773238"/>
            <a:ext cx="865188" cy="576262"/>
          </a:xfrm>
          <a:prstGeom prst="line">
            <a:avLst/>
          </a:prstGeom>
          <a:ln w="25400" cap="flat" cmpd="sng">
            <a:solidFill>
              <a:schemeClr val="tx1"/>
            </a:solidFill>
            <a:prstDash val="solid"/>
            <a:round/>
            <a:headEnd type="none" w="med" len="med"/>
            <a:tailEnd type="none" w="med" len="med"/>
          </a:ln>
        </p:spPr>
      </p:sp>
      <p:sp>
        <p:nvSpPr>
          <p:cNvPr id="86455" name="Oval 439"/>
          <p:cNvSpPr/>
          <p:nvPr/>
        </p:nvSpPr>
        <p:spPr>
          <a:xfrm>
            <a:off x="5292725" y="2347913"/>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57" name="Line 441"/>
          <p:cNvSpPr/>
          <p:nvPr/>
        </p:nvSpPr>
        <p:spPr>
          <a:xfrm flipH="1">
            <a:off x="4498975" y="2781300"/>
            <a:ext cx="865188" cy="431800"/>
          </a:xfrm>
          <a:prstGeom prst="line">
            <a:avLst/>
          </a:prstGeom>
          <a:ln w="25400" cap="flat" cmpd="sng">
            <a:solidFill>
              <a:schemeClr val="tx1"/>
            </a:solidFill>
            <a:prstDash val="solid"/>
            <a:round/>
            <a:headEnd type="none" w="med" len="med"/>
            <a:tailEnd type="none" w="med" len="med"/>
          </a:ln>
        </p:spPr>
      </p:sp>
      <p:sp>
        <p:nvSpPr>
          <p:cNvPr id="86458" name="Oval 442"/>
          <p:cNvSpPr/>
          <p:nvPr/>
        </p:nvSpPr>
        <p:spPr>
          <a:xfrm>
            <a:off x="4356100" y="3211513"/>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59" name="Line 443"/>
          <p:cNvSpPr/>
          <p:nvPr/>
        </p:nvSpPr>
        <p:spPr>
          <a:xfrm flipH="1">
            <a:off x="4930775" y="2852738"/>
            <a:ext cx="504825" cy="431800"/>
          </a:xfrm>
          <a:prstGeom prst="line">
            <a:avLst/>
          </a:prstGeom>
          <a:ln w="25400" cap="flat" cmpd="sng">
            <a:solidFill>
              <a:schemeClr val="tx1"/>
            </a:solidFill>
            <a:prstDash val="solid"/>
            <a:round/>
            <a:headEnd type="none" w="med" len="med"/>
            <a:tailEnd type="none" w="med" len="med"/>
          </a:ln>
        </p:spPr>
      </p:sp>
      <p:sp>
        <p:nvSpPr>
          <p:cNvPr id="86460" name="Oval 444"/>
          <p:cNvSpPr/>
          <p:nvPr/>
        </p:nvSpPr>
        <p:spPr>
          <a:xfrm>
            <a:off x="4787900" y="3282950"/>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61" name="Line 445"/>
          <p:cNvSpPr/>
          <p:nvPr/>
        </p:nvSpPr>
        <p:spPr>
          <a:xfrm>
            <a:off x="5435600" y="2852738"/>
            <a:ext cx="215900" cy="504825"/>
          </a:xfrm>
          <a:prstGeom prst="line">
            <a:avLst/>
          </a:prstGeom>
          <a:ln w="25400" cap="flat" cmpd="sng">
            <a:solidFill>
              <a:schemeClr val="tx1"/>
            </a:solidFill>
            <a:prstDash val="solid"/>
            <a:round/>
            <a:headEnd type="none" w="med" len="med"/>
            <a:tailEnd type="none" w="med" len="med"/>
          </a:ln>
        </p:spPr>
      </p:sp>
      <p:sp>
        <p:nvSpPr>
          <p:cNvPr id="86462" name="Oval 446"/>
          <p:cNvSpPr/>
          <p:nvPr/>
        </p:nvSpPr>
        <p:spPr>
          <a:xfrm>
            <a:off x="5435600" y="3355975"/>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63" name="Line 447"/>
          <p:cNvSpPr/>
          <p:nvPr/>
        </p:nvSpPr>
        <p:spPr>
          <a:xfrm flipH="1">
            <a:off x="4714875" y="3860800"/>
            <a:ext cx="865188" cy="431800"/>
          </a:xfrm>
          <a:prstGeom prst="line">
            <a:avLst/>
          </a:prstGeom>
          <a:ln w="25400" cap="flat" cmpd="sng">
            <a:solidFill>
              <a:schemeClr val="tx1"/>
            </a:solidFill>
            <a:prstDash val="solid"/>
            <a:round/>
            <a:headEnd type="none" w="med" len="med"/>
            <a:tailEnd type="none" w="med" len="med"/>
          </a:ln>
        </p:spPr>
      </p:sp>
      <p:sp>
        <p:nvSpPr>
          <p:cNvPr id="86464" name="Oval 448"/>
          <p:cNvSpPr/>
          <p:nvPr/>
        </p:nvSpPr>
        <p:spPr>
          <a:xfrm>
            <a:off x="4572000" y="4291013"/>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65" name="Line 449"/>
          <p:cNvSpPr/>
          <p:nvPr/>
        </p:nvSpPr>
        <p:spPr>
          <a:xfrm flipH="1">
            <a:off x="5146675" y="3860800"/>
            <a:ext cx="433388" cy="433388"/>
          </a:xfrm>
          <a:prstGeom prst="line">
            <a:avLst/>
          </a:prstGeom>
          <a:ln w="25400" cap="flat" cmpd="sng">
            <a:solidFill>
              <a:schemeClr val="tx1"/>
            </a:solidFill>
            <a:prstDash val="solid"/>
            <a:round/>
            <a:headEnd type="none" w="med" len="med"/>
            <a:tailEnd type="none" w="med" len="med"/>
          </a:ln>
        </p:spPr>
      </p:sp>
      <p:sp>
        <p:nvSpPr>
          <p:cNvPr id="86466" name="Oval 450"/>
          <p:cNvSpPr/>
          <p:nvPr/>
        </p:nvSpPr>
        <p:spPr>
          <a:xfrm>
            <a:off x="5003800" y="4292600"/>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67" name="Line 451"/>
          <p:cNvSpPr/>
          <p:nvPr/>
        </p:nvSpPr>
        <p:spPr>
          <a:xfrm flipH="1">
            <a:off x="5578475" y="3860800"/>
            <a:ext cx="1588" cy="461963"/>
          </a:xfrm>
          <a:prstGeom prst="line">
            <a:avLst/>
          </a:prstGeom>
          <a:ln w="25400" cap="flat" cmpd="sng">
            <a:solidFill>
              <a:schemeClr val="tx1"/>
            </a:solidFill>
            <a:prstDash val="solid"/>
            <a:round/>
            <a:headEnd type="none" w="med" len="med"/>
            <a:tailEnd type="none" w="med" len="med"/>
          </a:ln>
        </p:spPr>
      </p:sp>
      <p:sp>
        <p:nvSpPr>
          <p:cNvPr id="86468" name="Oval 452"/>
          <p:cNvSpPr/>
          <p:nvPr/>
        </p:nvSpPr>
        <p:spPr>
          <a:xfrm>
            <a:off x="5435600" y="4321175"/>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69" name="Line 453"/>
          <p:cNvSpPr/>
          <p:nvPr/>
        </p:nvSpPr>
        <p:spPr>
          <a:xfrm>
            <a:off x="5651500" y="3860800"/>
            <a:ext cx="358775" cy="474663"/>
          </a:xfrm>
          <a:prstGeom prst="line">
            <a:avLst/>
          </a:prstGeom>
          <a:ln w="25400" cap="flat" cmpd="sng">
            <a:solidFill>
              <a:schemeClr val="tx1"/>
            </a:solidFill>
            <a:prstDash val="solid"/>
            <a:round/>
            <a:headEnd type="none" w="med" len="med"/>
            <a:tailEnd type="none" w="med" len="med"/>
          </a:ln>
        </p:spPr>
      </p:sp>
      <p:sp>
        <p:nvSpPr>
          <p:cNvPr id="86470" name="Oval 454"/>
          <p:cNvSpPr/>
          <p:nvPr/>
        </p:nvSpPr>
        <p:spPr>
          <a:xfrm>
            <a:off x="5867400" y="4333875"/>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71" name="Line 455"/>
          <p:cNvSpPr/>
          <p:nvPr/>
        </p:nvSpPr>
        <p:spPr>
          <a:xfrm>
            <a:off x="5580063" y="2781300"/>
            <a:ext cx="863600" cy="576263"/>
          </a:xfrm>
          <a:prstGeom prst="line">
            <a:avLst/>
          </a:prstGeom>
          <a:ln w="25400" cap="flat" cmpd="sng">
            <a:solidFill>
              <a:schemeClr val="tx1"/>
            </a:solidFill>
            <a:prstDash val="solid"/>
            <a:round/>
            <a:headEnd type="none" w="med" len="med"/>
            <a:tailEnd type="none" w="med" len="med"/>
          </a:ln>
        </p:spPr>
      </p:sp>
      <p:sp>
        <p:nvSpPr>
          <p:cNvPr id="86472" name="Oval 456"/>
          <p:cNvSpPr/>
          <p:nvPr/>
        </p:nvSpPr>
        <p:spPr>
          <a:xfrm>
            <a:off x="6227763" y="3354388"/>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73" name="Line 457"/>
          <p:cNvSpPr/>
          <p:nvPr/>
        </p:nvSpPr>
        <p:spPr>
          <a:xfrm flipH="1">
            <a:off x="6443663" y="3860800"/>
            <a:ext cx="0" cy="504825"/>
          </a:xfrm>
          <a:prstGeom prst="line">
            <a:avLst/>
          </a:prstGeom>
          <a:ln w="25400" cap="flat" cmpd="sng">
            <a:solidFill>
              <a:schemeClr val="tx1"/>
            </a:solidFill>
            <a:prstDash val="solid"/>
            <a:round/>
            <a:headEnd type="none" w="med" len="med"/>
            <a:tailEnd type="none" w="med" len="med"/>
          </a:ln>
        </p:spPr>
      </p:sp>
      <p:sp>
        <p:nvSpPr>
          <p:cNvPr id="86474" name="Oval 458"/>
          <p:cNvSpPr/>
          <p:nvPr/>
        </p:nvSpPr>
        <p:spPr>
          <a:xfrm>
            <a:off x="6300788" y="4364038"/>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75" name="Line 459"/>
          <p:cNvSpPr/>
          <p:nvPr/>
        </p:nvSpPr>
        <p:spPr>
          <a:xfrm>
            <a:off x="6443663" y="3860800"/>
            <a:ext cx="431800" cy="504825"/>
          </a:xfrm>
          <a:prstGeom prst="line">
            <a:avLst/>
          </a:prstGeom>
          <a:ln w="25400" cap="flat" cmpd="sng">
            <a:solidFill>
              <a:schemeClr val="tx1"/>
            </a:solidFill>
            <a:prstDash val="solid"/>
            <a:round/>
            <a:headEnd type="none" w="med" len="med"/>
            <a:tailEnd type="none" w="med" len="med"/>
          </a:ln>
        </p:spPr>
      </p:sp>
      <p:sp>
        <p:nvSpPr>
          <p:cNvPr id="86476" name="Oval 460"/>
          <p:cNvSpPr/>
          <p:nvPr/>
        </p:nvSpPr>
        <p:spPr>
          <a:xfrm>
            <a:off x="6732588" y="4364038"/>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77" name="Line 461"/>
          <p:cNvSpPr/>
          <p:nvPr/>
        </p:nvSpPr>
        <p:spPr>
          <a:xfrm flipH="1">
            <a:off x="6010275" y="4868863"/>
            <a:ext cx="865188" cy="431800"/>
          </a:xfrm>
          <a:prstGeom prst="line">
            <a:avLst/>
          </a:prstGeom>
          <a:ln w="25400" cap="flat" cmpd="sng">
            <a:solidFill>
              <a:schemeClr val="tx1"/>
            </a:solidFill>
            <a:prstDash val="solid"/>
            <a:round/>
            <a:headEnd type="none" w="med" len="med"/>
            <a:tailEnd type="none" w="med" len="med"/>
          </a:ln>
        </p:spPr>
      </p:sp>
      <p:sp>
        <p:nvSpPr>
          <p:cNvPr id="86478" name="Oval 462"/>
          <p:cNvSpPr/>
          <p:nvPr/>
        </p:nvSpPr>
        <p:spPr>
          <a:xfrm>
            <a:off x="5867400" y="5299075"/>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79" name="Line 463"/>
          <p:cNvSpPr/>
          <p:nvPr/>
        </p:nvSpPr>
        <p:spPr>
          <a:xfrm flipH="1">
            <a:off x="6443663" y="4868863"/>
            <a:ext cx="504825" cy="433387"/>
          </a:xfrm>
          <a:prstGeom prst="line">
            <a:avLst/>
          </a:prstGeom>
          <a:ln w="25400" cap="flat" cmpd="sng">
            <a:solidFill>
              <a:schemeClr val="tx1"/>
            </a:solidFill>
            <a:prstDash val="solid"/>
            <a:round/>
            <a:headEnd type="none" w="med" len="med"/>
            <a:tailEnd type="none" w="med" len="med"/>
          </a:ln>
        </p:spPr>
      </p:sp>
      <p:sp>
        <p:nvSpPr>
          <p:cNvPr id="86480" name="Oval 464"/>
          <p:cNvSpPr/>
          <p:nvPr/>
        </p:nvSpPr>
        <p:spPr>
          <a:xfrm>
            <a:off x="6300788" y="5300663"/>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81" name="Line 465"/>
          <p:cNvSpPr/>
          <p:nvPr/>
        </p:nvSpPr>
        <p:spPr>
          <a:xfrm flipH="1">
            <a:off x="6875463" y="4868863"/>
            <a:ext cx="73025" cy="431800"/>
          </a:xfrm>
          <a:prstGeom prst="line">
            <a:avLst/>
          </a:prstGeom>
          <a:ln w="25400" cap="flat" cmpd="sng">
            <a:solidFill>
              <a:schemeClr val="tx1"/>
            </a:solidFill>
            <a:prstDash val="solid"/>
            <a:round/>
            <a:headEnd type="none" w="med" len="med"/>
            <a:tailEnd type="none" w="med" len="med"/>
          </a:ln>
        </p:spPr>
      </p:sp>
      <p:sp>
        <p:nvSpPr>
          <p:cNvPr id="86482" name="Oval 466"/>
          <p:cNvSpPr/>
          <p:nvPr/>
        </p:nvSpPr>
        <p:spPr>
          <a:xfrm>
            <a:off x="6732588" y="5299075"/>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83" name="Line 467"/>
          <p:cNvSpPr/>
          <p:nvPr/>
        </p:nvSpPr>
        <p:spPr>
          <a:xfrm>
            <a:off x="6948488" y="4868863"/>
            <a:ext cx="358775" cy="433387"/>
          </a:xfrm>
          <a:prstGeom prst="line">
            <a:avLst/>
          </a:prstGeom>
          <a:ln w="25400" cap="flat" cmpd="sng">
            <a:solidFill>
              <a:schemeClr val="tx1"/>
            </a:solidFill>
            <a:prstDash val="solid"/>
            <a:round/>
            <a:headEnd type="none" w="med" len="med"/>
            <a:tailEnd type="none" w="med" len="med"/>
          </a:ln>
        </p:spPr>
      </p:sp>
      <p:sp>
        <p:nvSpPr>
          <p:cNvPr id="86484" name="Oval 468"/>
          <p:cNvSpPr/>
          <p:nvPr/>
        </p:nvSpPr>
        <p:spPr>
          <a:xfrm>
            <a:off x="7164388" y="5300663"/>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86" name="Line 470"/>
          <p:cNvSpPr/>
          <p:nvPr/>
        </p:nvSpPr>
        <p:spPr>
          <a:xfrm>
            <a:off x="6443663" y="3860800"/>
            <a:ext cx="863600" cy="504825"/>
          </a:xfrm>
          <a:prstGeom prst="line">
            <a:avLst/>
          </a:prstGeom>
          <a:ln w="25400" cap="flat" cmpd="sng">
            <a:solidFill>
              <a:schemeClr val="tx1"/>
            </a:solidFill>
            <a:prstDash val="solid"/>
            <a:round/>
            <a:headEnd type="none" w="med" len="med"/>
            <a:tailEnd type="none" w="med" len="med"/>
          </a:ln>
        </p:spPr>
      </p:sp>
      <p:sp>
        <p:nvSpPr>
          <p:cNvPr id="86487" name="Oval 471"/>
          <p:cNvSpPr/>
          <p:nvPr/>
        </p:nvSpPr>
        <p:spPr>
          <a:xfrm>
            <a:off x="7135813" y="4364038"/>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88" name="Line 472"/>
          <p:cNvSpPr/>
          <p:nvPr/>
        </p:nvSpPr>
        <p:spPr>
          <a:xfrm>
            <a:off x="6443663" y="3860800"/>
            <a:ext cx="1223962" cy="563563"/>
          </a:xfrm>
          <a:prstGeom prst="line">
            <a:avLst/>
          </a:prstGeom>
          <a:ln w="25400" cap="flat" cmpd="sng">
            <a:solidFill>
              <a:schemeClr val="tx1"/>
            </a:solidFill>
            <a:prstDash val="solid"/>
            <a:round/>
            <a:headEnd type="none" w="med" len="med"/>
            <a:tailEnd type="none" w="med" len="med"/>
          </a:ln>
        </p:spPr>
      </p:sp>
      <p:sp>
        <p:nvSpPr>
          <p:cNvPr id="86489" name="Oval 473"/>
          <p:cNvSpPr/>
          <p:nvPr/>
        </p:nvSpPr>
        <p:spPr>
          <a:xfrm>
            <a:off x="7524750" y="4422775"/>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91" name="Line 475"/>
          <p:cNvSpPr/>
          <p:nvPr/>
        </p:nvSpPr>
        <p:spPr>
          <a:xfrm>
            <a:off x="6443663" y="1773238"/>
            <a:ext cx="1439862" cy="576262"/>
          </a:xfrm>
          <a:prstGeom prst="line">
            <a:avLst/>
          </a:prstGeom>
          <a:ln w="25400" cap="flat" cmpd="sng">
            <a:solidFill>
              <a:schemeClr val="tx1"/>
            </a:solidFill>
            <a:prstDash val="solid"/>
            <a:round/>
            <a:headEnd type="none" w="med" len="med"/>
            <a:tailEnd type="none" w="med" len="med"/>
          </a:ln>
        </p:spPr>
      </p:sp>
      <p:sp>
        <p:nvSpPr>
          <p:cNvPr id="86492" name="Oval 476"/>
          <p:cNvSpPr/>
          <p:nvPr/>
        </p:nvSpPr>
        <p:spPr>
          <a:xfrm>
            <a:off x="7740650" y="2347913"/>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93" name="Line 477"/>
          <p:cNvSpPr/>
          <p:nvPr/>
        </p:nvSpPr>
        <p:spPr>
          <a:xfrm flipH="1">
            <a:off x="6946900" y="2852738"/>
            <a:ext cx="938213" cy="504825"/>
          </a:xfrm>
          <a:prstGeom prst="line">
            <a:avLst/>
          </a:prstGeom>
          <a:ln w="25400" cap="flat" cmpd="sng">
            <a:solidFill>
              <a:schemeClr val="tx1"/>
            </a:solidFill>
            <a:prstDash val="solid"/>
            <a:round/>
            <a:headEnd type="none" w="med" len="med"/>
            <a:tailEnd type="none" w="med" len="med"/>
          </a:ln>
        </p:spPr>
      </p:sp>
      <p:sp>
        <p:nvSpPr>
          <p:cNvPr id="86494" name="Oval 478"/>
          <p:cNvSpPr/>
          <p:nvPr/>
        </p:nvSpPr>
        <p:spPr>
          <a:xfrm>
            <a:off x="6804025" y="3355975"/>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95" name="Line 479"/>
          <p:cNvSpPr/>
          <p:nvPr/>
        </p:nvSpPr>
        <p:spPr>
          <a:xfrm flipH="1">
            <a:off x="7451725" y="2852738"/>
            <a:ext cx="433388" cy="504825"/>
          </a:xfrm>
          <a:prstGeom prst="line">
            <a:avLst/>
          </a:prstGeom>
          <a:ln w="25400" cap="flat" cmpd="sng">
            <a:solidFill>
              <a:schemeClr val="tx1"/>
            </a:solidFill>
            <a:prstDash val="solid"/>
            <a:round/>
            <a:headEnd type="none" w="med" len="med"/>
            <a:tailEnd type="none" w="med" len="med"/>
          </a:ln>
        </p:spPr>
      </p:sp>
      <p:sp>
        <p:nvSpPr>
          <p:cNvPr id="86496" name="Oval 480"/>
          <p:cNvSpPr/>
          <p:nvPr/>
        </p:nvSpPr>
        <p:spPr>
          <a:xfrm>
            <a:off x="7308850" y="3355975"/>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97" name="Line 481"/>
          <p:cNvSpPr/>
          <p:nvPr/>
        </p:nvSpPr>
        <p:spPr>
          <a:xfrm flipH="1">
            <a:off x="7883525" y="2852738"/>
            <a:ext cx="1588" cy="503237"/>
          </a:xfrm>
          <a:prstGeom prst="line">
            <a:avLst/>
          </a:prstGeom>
          <a:ln w="25400" cap="flat" cmpd="sng">
            <a:solidFill>
              <a:schemeClr val="tx1"/>
            </a:solidFill>
            <a:prstDash val="solid"/>
            <a:round/>
            <a:headEnd type="none" w="med" len="med"/>
            <a:tailEnd type="none" w="med" len="med"/>
          </a:ln>
        </p:spPr>
      </p:sp>
      <p:sp>
        <p:nvSpPr>
          <p:cNvPr id="86498" name="Oval 482"/>
          <p:cNvSpPr/>
          <p:nvPr/>
        </p:nvSpPr>
        <p:spPr>
          <a:xfrm>
            <a:off x="7740650" y="3354388"/>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499" name="Line 483"/>
          <p:cNvSpPr/>
          <p:nvPr/>
        </p:nvSpPr>
        <p:spPr>
          <a:xfrm>
            <a:off x="7885113" y="2852738"/>
            <a:ext cx="430212" cy="503237"/>
          </a:xfrm>
          <a:prstGeom prst="line">
            <a:avLst/>
          </a:prstGeom>
          <a:ln w="25400" cap="flat" cmpd="sng">
            <a:solidFill>
              <a:schemeClr val="tx1"/>
            </a:solidFill>
            <a:prstDash val="solid"/>
            <a:round/>
            <a:headEnd type="none" w="med" len="med"/>
            <a:tailEnd type="none" w="med" len="med"/>
          </a:ln>
        </p:spPr>
      </p:sp>
      <p:sp>
        <p:nvSpPr>
          <p:cNvPr id="86500" name="Oval 484"/>
          <p:cNvSpPr/>
          <p:nvPr/>
        </p:nvSpPr>
        <p:spPr>
          <a:xfrm>
            <a:off x="8172450" y="3354388"/>
            <a:ext cx="360363"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501" name="Line 485"/>
          <p:cNvSpPr/>
          <p:nvPr/>
        </p:nvSpPr>
        <p:spPr>
          <a:xfrm flipH="1">
            <a:off x="8170863" y="3860800"/>
            <a:ext cx="146050" cy="577850"/>
          </a:xfrm>
          <a:prstGeom prst="line">
            <a:avLst/>
          </a:prstGeom>
          <a:ln w="25400" cap="flat" cmpd="sng">
            <a:solidFill>
              <a:schemeClr val="tx1"/>
            </a:solidFill>
            <a:prstDash val="solid"/>
            <a:round/>
            <a:headEnd type="none" w="med" len="med"/>
            <a:tailEnd type="none" w="med" len="med"/>
          </a:ln>
        </p:spPr>
      </p:sp>
      <p:sp>
        <p:nvSpPr>
          <p:cNvPr id="86502" name="Oval 486"/>
          <p:cNvSpPr/>
          <p:nvPr/>
        </p:nvSpPr>
        <p:spPr>
          <a:xfrm>
            <a:off x="8027988" y="4437063"/>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503" name="Line 487"/>
          <p:cNvSpPr/>
          <p:nvPr/>
        </p:nvSpPr>
        <p:spPr>
          <a:xfrm flipH="1">
            <a:off x="7739063" y="4941888"/>
            <a:ext cx="433387" cy="360362"/>
          </a:xfrm>
          <a:prstGeom prst="line">
            <a:avLst/>
          </a:prstGeom>
          <a:ln w="25400" cap="flat" cmpd="sng">
            <a:solidFill>
              <a:schemeClr val="tx1"/>
            </a:solidFill>
            <a:prstDash val="solid"/>
            <a:round/>
            <a:headEnd type="none" w="med" len="med"/>
            <a:tailEnd type="none" w="med" len="med"/>
          </a:ln>
        </p:spPr>
      </p:sp>
      <p:sp>
        <p:nvSpPr>
          <p:cNvPr id="86504" name="Oval 488"/>
          <p:cNvSpPr/>
          <p:nvPr/>
        </p:nvSpPr>
        <p:spPr>
          <a:xfrm>
            <a:off x="7596188" y="5300663"/>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505" name="Line 489"/>
          <p:cNvSpPr/>
          <p:nvPr/>
        </p:nvSpPr>
        <p:spPr>
          <a:xfrm flipH="1">
            <a:off x="8170863" y="4941888"/>
            <a:ext cx="1587" cy="360362"/>
          </a:xfrm>
          <a:prstGeom prst="line">
            <a:avLst/>
          </a:prstGeom>
          <a:ln w="25400" cap="flat" cmpd="sng">
            <a:solidFill>
              <a:schemeClr val="tx1"/>
            </a:solidFill>
            <a:prstDash val="solid"/>
            <a:round/>
            <a:headEnd type="none" w="med" len="med"/>
            <a:tailEnd type="none" w="med" len="med"/>
          </a:ln>
        </p:spPr>
      </p:sp>
      <p:sp>
        <p:nvSpPr>
          <p:cNvPr id="86506" name="Oval 490"/>
          <p:cNvSpPr/>
          <p:nvPr/>
        </p:nvSpPr>
        <p:spPr>
          <a:xfrm>
            <a:off x="8027988" y="5300663"/>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507" name="Line 491"/>
          <p:cNvSpPr/>
          <p:nvPr/>
        </p:nvSpPr>
        <p:spPr>
          <a:xfrm>
            <a:off x="8172450" y="4941888"/>
            <a:ext cx="430213" cy="358775"/>
          </a:xfrm>
          <a:prstGeom prst="line">
            <a:avLst/>
          </a:prstGeom>
          <a:ln w="25400" cap="flat" cmpd="sng">
            <a:solidFill>
              <a:schemeClr val="tx1"/>
            </a:solidFill>
            <a:prstDash val="solid"/>
            <a:round/>
            <a:headEnd type="none" w="med" len="med"/>
            <a:tailEnd type="none" w="med" len="med"/>
          </a:ln>
        </p:spPr>
      </p:sp>
      <p:sp>
        <p:nvSpPr>
          <p:cNvPr id="86508" name="Oval 492"/>
          <p:cNvSpPr/>
          <p:nvPr/>
        </p:nvSpPr>
        <p:spPr>
          <a:xfrm>
            <a:off x="8459788" y="5299075"/>
            <a:ext cx="360362" cy="504825"/>
          </a:xfrm>
          <a:prstGeom prst="ellipse">
            <a:avLst/>
          </a:prstGeom>
          <a:solidFill>
            <a:srgbClr val="CCFFFF"/>
          </a:solidFill>
          <a:ln w="25400" cap="flat" cmpd="sng">
            <a:solidFill>
              <a:schemeClr val="tx1"/>
            </a:solidFill>
            <a:prstDash val="solid"/>
            <a:round/>
            <a:headEnd type="none" w="med" len="med"/>
            <a:tailEnd type="none" w="med" len="med"/>
          </a:ln>
        </p:spPr>
        <p:txBody>
          <a:bodyPr anchor="ctr" anchorCtr="0">
            <a:spAutoFit/>
          </a:bodyPr>
          <a:lstStyle/>
          <a:p>
            <a:endParaRPr lang="zh-CN" altLang="en-US" dirty="0">
              <a:latin typeface="Arial" panose="020B0604020202090204" pitchFamily="34" charset="0"/>
              <a:ea typeface="宋体" pitchFamily="2" charset="-122"/>
            </a:endParaRPr>
          </a:p>
        </p:txBody>
      </p:sp>
      <p:sp>
        <p:nvSpPr>
          <p:cNvPr id="86509" name="Text Box 493"/>
          <p:cNvSpPr txBox="1"/>
          <p:nvPr/>
        </p:nvSpPr>
        <p:spPr>
          <a:xfrm>
            <a:off x="2824163" y="5492750"/>
            <a:ext cx="2252662" cy="457200"/>
          </a:xfrm>
          <a:prstGeom prst="rect">
            <a:avLst/>
          </a:prstGeom>
          <a:solidFill>
            <a:srgbClr val="FF0000"/>
          </a:solidFill>
          <a:ln w="25400">
            <a:noFill/>
          </a:ln>
        </p:spPr>
        <p:txBody>
          <a:bodyPr wrap="none" anchor="t" anchorCtr="0">
            <a:spAutoFit/>
          </a:bodyPr>
          <a:lstStyle/>
          <a:p>
            <a:r>
              <a:rPr lang="en-US" altLang="zh-CN" sz="2400" dirty="0">
                <a:latin typeface="Arial" panose="020B0604020202090204" pitchFamily="34" charset="0"/>
                <a:ea typeface="宋体" pitchFamily="2" charset="-122"/>
              </a:rPr>
              <a:t>Find a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451"/>
                                        </p:tgtEl>
                                        <p:attrNameLst>
                                          <p:attrName>style.visibility</p:attrName>
                                        </p:attrNameLst>
                                      </p:cBhvr>
                                      <p:to>
                                        <p:strVal val="visible"/>
                                      </p:to>
                                    </p:set>
                                    <p:animEffect transition="in" filter="blinds(horizontal)">
                                      <p:cBhvr>
                                        <p:cTn id="7" dur="500"/>
                                        <p:tgtEl>
                                          <p:spTgt spid="86451"/>
                                        </p:tgtEl>
                                      </p:cBhvr>
                                    </p:animEffect>
                                  </p:childTnLst>
                                </p:cTn>
                              </p:par>
                              <p:par>
                                <p:cTn id="8" presetID="3" presetClass="entr" presetSubtype="10" fill="hold" nodeType="withEffect">
                                  <p:stCondLst>
                                    <p:cond delay="0"/>
                                  </p:stCondLst>
                                  <p:childTnLst>
                                    <p:set>
                                      <p:cBhvr>
                                        <p:cTn id="9" dur="1" fill="hold">
                                          <p:stCondLst>
                                            <p:cond delay="0"/>
                                          </p:stCondLst>
                                        </p:cTn>
                                        <p:tgtEl>
                                          <p:spTgt spid="86454"/>
                                        </p:tgtEl>
                                        <p:attrNameLst>
                                          <p:attrName>style.visibility</p:attrName>
                                        </p:attrNameLst>
                                      </p:cBhvr>
                                      <p:to>
                                        <p:strVal val="visible"/>
                                      </p:to>
                                    </p:set>
                                    <p:animEffect transition="in" filter="blinds(horizontal)">
                                      <p:cBhvr>
                                        <p:cTn id="10" dur="500"/>
                                        <p:tgtEl>
                                          <p:spTgt spid="86454"/>
                                        </p:tgtEl>
                                      </p:cBhvr>
                                    </p:animEffec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grpId="0" nodeType="clickEffect">
                                  <p:stCondLst>
                                    <p:cond delay="0"/>
                                  </p:stCondLst>
                                  <p:iterate type="lt">
                                    <p:tmPct val="50000"/>
                                  </p:iterate>
                                  <p:childTnLst>
                                    <p:set>
                                      <p:cBhvr>
                                        <p:cTn id="14" dur="1" fill="hold">
                                          <p:stCondLst>
                                            <p:cond delay="0"/>
                                          </p:stCondLst>
                                        </p:cTn>
                                        <p:tgtEl>
                                          <p:spTgt spid="86130"/>
                                        </p:tgtEl>
                                        <p:attrNameLst>
                                          <p:attrName>style.visibility</p:attrName>
                                        </p:attrNameLst>
                                      </p:cBhvr>
                                      <p:to>
                                        <p:strVal val="visible"/>
                                      </p:to>
                                    </p:set>
                                    <p:anim calcmode="discrete" valueType="clr">
                                      <p:cBhvr override="childStyle">
                                        <p:cTn id="15" dur="80"/>
                                        <p:tgtEl>
                                          <p:spTgt spid="86130"/>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86130"/>
                                        </p:tgtEl>
                                        <p:attrNameLst>
                                          <p:attrName>fillcolor</p:attrName>
                                        </p:attrNameLst>
                                      </p:cBhvr>
                                      <p:tavLst>
                                        <p:tav tm="0">
                                          <p:val>
                                            <p:clrVal>
                                              <a:schemeClr val="accent2"/>
                                            </p:clrVal>
                                          </p:val>
                                        </p:tav>
                                        <p:tav tm="50000">
                                          <p:val>
                                            <p:clrVal>
                                              <a:schemeClr val="hlink"/>
                                            </p:clrVal>
                                          </p:val>
                                        </p:tav>
                                      </p:tavLst>
                                    </p:anim>
                                    <p:set>
                                      <p:cBhvr>
                                        <p:cTn id="17" dur="80"/>
                                        <p:tgtEl>
                                          <p:spTgt spid="86130"/>
                                        </p:tgtEl>
                                        <p:attrNameLst>
                                          <p:attrName>fill.type</p:attrName>
                                        </p:attrNameLst>
                                      </p:cBhvr>
                                      <p:to>
                                        <p:strVal val="solid"/>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6452"/>
                                        </p:tgtEl>
                                        <p:attrNameLst>
                                          <p:attrName>style.visibility</p:attrName>
                                        </p:attrNameLst>
                                      </p:cBhvr>
                                      <p:to>
                                        <p:strVal val="visible"/>
                                      </p:to>
                                    </p:set>
                                    <p:animEffect transition="in" filter="wipe(up)">
                                      <p:cBhvr>
                                        <p:cTn id="22" dur="500"/>
                                        <p:tgtEl>
                                          <p:spTgt spid="86452"/>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86455"/>
                                        </p:tgtEl>
                                        <p:attrNameLst>
                                          <p:attrName>style.visibility</p:attrName>
                                        </p:attrNameLst>
                                      </p:cBhvr>
                                      <p:to>
                                        <p:strVal val="visible"/>
                                      </p:to>
                                    </p:set>
                                    <p:animEffect transition="in" filter="wipe(up)">
                                      <p:cBhvr>
                                        <p:cTn id="25" dur="500"/>
                                        <p:tgtEl>
                                          <p:spTgt spid="86455"/>
                                        </p:tgtEl>
                                      </p:cBhvr>
                                    </p:animEffect>
                                  </p:childTnLst>
                                </p:cTn>
                              </p:par>
                            </p:childTnLst>
                          </p:cTn>
                        </p:par>
                      </p:childTnLst>
                    </p:cTn>
                  </p:par>
                  <p:par>
                    <p:cTn id="26" fill="hold">
                      <p:stCondLst>
                        <p:cond delay="indefinite"/>
                      </p:stCondLst>
                      <p:childTnLst>
                        <p:par>
                          <p:cTn id="27" fill="hold">
                            <p:stCondLst>
                              <p:cond delay="0"/>
                            </p:stCondLst>
                            <p:childTnLst>
                              <p:par>
                                <p:cTn id="28" presetID="27" presetClass="entr" presetSubtype="0" fill="hold" grpId="0" nodeType="clickEffect">
                                  <p:stCondLst>
                                    <p:cond delay="0"/>
                                  </p:stCondLst>
                                  <p:iterate type="lt">
                                    <p:tmPct val="50000"/>
                                  </p:iterate>
                                  <p:childTnLst>
                                    <p:set>
                                      <p:cBhvr>
                                        <p:cTn id="29" dur="1" fill="hold">
                                          <p:stCondLst>
                                            <p:cond delay="0"/>
                                          </p:stCondLst>
                                        </p:cTn>
                                        <p:tgtEl>
                                          <p:spTgt spid="86131"/>
                                        </p:tgtEl>
                                        <p:attrNameLst>
                                          <p:attrName>style.visibility</p:attrName>
                                        </p:attrNameLst>
                                      </p:cBhvr>
                                      <p:to>
                                        <p:strVal val="visible"/>
                                      </p:to>
                                    </p:set>
                                    <p:anim calcmode="discrete" valueType="clr">
                                      <p:cBhvr override="childStyle">
                                        <p:cTn id="30" dur="80"/>
                                        <p:tgtEl>
                                          <p:spTgt spid="86131"/>
                                        </p:tgtEl>
                                        <p:attrNameLst>
                                          <p:attrName>style.color</p:attrName>
                                        </p:attrNameLst>
                                      </p:cBhvr>
                                      <p:tavLst>
                                        <p:tav tm="0">
                                          <p:val>
                                            <p:clrVal>
                                              <a:schemeClr val="accent2"/>
                                            </p:clrVal>
                                          </p:val>
                                        </p:tav>
                                        <p:tav tm="50000">
                                          <p:val>
                                            <p:clrVal>
                                              <a:schemeClr val="hlink"/>
                                            </p:clrVal>
                                          </p:val>
                                        </p:tav>
                                      </p:tavLst>
                                    </p:anim>
                                    <p:anim calcmode="discrete" valueType="clr">
                                      <p:cBhvr>
                                        <p:cTn id="31" dur="80"/>
                                        <p:tgtEl>
                                          <p:spTgt spid="86131"/>
                                        </p:tgtEl>
                                        <p:attrNameLst>
                                          <p:attrName>fillcolor</p:attrName>
                                        </p:attrNameLst>
                                      </p:cBhvr>
                                      <p:tavLst>
                                        <p:tav tm="0">
                                          <p:val>
                                            <p:clrVal>
                                              <a:schemeClr val="accent2"/>
                                            </p:clrVal>
                                          </p:val>
                                        </p:tav>
                                        <p:tav tm="50000">
                                          <p:val>
                                            <p:clrVal>
                                              <a:schemeClr val="hlink"/>
                                            </p:clrVal>
                                          </p:val>
                                        </p:tav>
                                      </p:tavLst>
                                    </p:anim>
                                    <p:set>
                                      <p:cBhvr>
                                        <p:cTn id="32" dur="80"/>
                                        <p:tgtEl>
                                          <p:spTgt spid="86131"/>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86457"/>
                                        </p:tgtEl>
                                        <p:attrNameLst>
                                          <p:attrName>style.visibility</p:attrName>
                                        </p:attrNameLst>
                                      </p:cBhvr>
                                      <p:to>
                                        <p:strVal val="visible"/>
                                      </p:to>
                                    </p:set>
                                    <p:animEffect transition="in" filter="wipe(up)">
                                      <p:cBhvr>
                                        <p:cTn id="37" dur="500"/>
                                        <p:tgtEl>
                                          <p:spTgt spid="86457"/>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86458"/>
                                        </p:tgtEl>
                                        <p:attrNameLst>
                                          <p:attrName>style.visibility</p:attrName>
                                        </p:attrNameLst>
                                      </p:cBhvr>
                                      <p:to>
                                        <p:strVal val="visible"/>
                                      </p:to>
                                    </p:set>
                                    <p:animEffect transition="in" filter="wipe(up)">
                                      <p:cBhvr>
                                        <p:cTn id="40" dur="500"/>
                                        <p:tgtEl>
                                          <p:spTgt spid="86458"/>
                                        </p:tgtEl>
                                      </p:cBhvr>
                                    </p:animEffect>
                                  </p:childTnLst>
                                </p:cTn>
                              </p:par>
                            </p:childTnLst>
                          </p:cTn>
                        </p:par>
                      </p:childTnLst>
                    </p:cTn>
                  </p:par>
                  <p:par>
                    <p:cTn id="41" fill="hold">
                      <p:stCondLst>
                        <p:cond delay="indefinite"/>
                      </p:stCondLst>
                      <p:childTnLst>
                        <p:par>
                          <p:cTn id="42" fill="hold">
                            <p:stCondLst>
                              <p:cond delay="0"/>
                            </p:stCondLst>
                            <p:childTnLst>
                              <p:par>
                                <p:cTn id="43" presetID="35" presetClass="emph" presetSubtype="0" fill="hold" grpId="1" nodeType="clickEffect">
                                  <p:stCondLst>
                                    <p:cond delay="0"/>
                                  </p:stCondLst>
                                  <p:iterate type="lt">
                                    <p:tmAbs val="0"/>
                                  </p:iterate>
                                  <p:childTnLst>
                                    <p:anim calcmode="discrete" valueType="str">
                                      <p:cBhvr>
                                        <p:cTn id="44" dur="1000" fill="hold"/>
                                        <p:tgtEl>
                                          <p:spTgt spid="86131"/>
                                        </p:tgtEl>
                                        <p:attrNameLst>
                                          <p:attrName>style.visibility</p:attrName>
                                        </p:attrNameLst>
                                      </p:cBhvr>
                                      <p:tavLst>
                                        <p:tav tm="0">
                                          <p:val>
                                            <p:strVal val="hidden"/>
                                          </p:val>
                                        </p:tav>
                                        <p:tav tm="50000">
                                          <p:val>
                                            <p:strVal val="visible"/>
                                          </p:val>
                                        </p:tav>
                                      </p:tavLst>
                                    </p:anim>
                                  </p:childTnLst>
                                  <p:subTnLst>
                                    <p:audio>
                                      <p:cMediaNode>
                                        <p:cTn display="0" masterRel="sameClick">
                                          <p:stCondLst>
                                            <p:cond evt="begin" delay="0">
                                              <p:tn val="43"/>
                                            </p:cond>
                                          </p:stCondLst>
                                          <p:endCondLst>
                                            <p:cond evt="onStopAudio" delay="0">
                                              <p:tgtEl>
                                                <p:sldTgt/>
                                              </p:tgtEl>
                                            </p:cond>
                                          </p:endCondLst>
                                        </p:cTn>
                                        <p:tgtEl>
                                          <p:sndTgt r:embed="rId3" name="hammer.wav"/>
                                        </p:tgtEl>
                                      </p:cMediaNode>
                                    </p:audio>
                                  </p:subTnLst>
                                </p:cTn>
                              </p:par>
                              <p:par>
                                <p:cTn id="45" presetID="35" presetClass="emph" presetSubtype="0" fill="hold" grpId="1" nodeType="withEffect">
                                  <p:stCondLst>
                                    <p:cond delay="0"/>
                                  </p:stCondLst>
                                  <p:iterate type="lt">
                                    <p:tmAbs val="0"/>
                                  </p:iterate>
                                  <p:childTnLst>
                                    <p:anim calcmode="discrete" valueType="str">
                                      <p:cBhvr>
                                        <p:cTn id="46" dur="1000" fill="hold"/>
                                        <p:tgtEl>
                                          <p:spTgt spid="86130"/>
                                        </p:tgtEl>
                                        <p:attrNameLst>
                                          <p:attrName>style.visibility</p:attrName>
                                        </p:attrNameLst>
                                      </p:cBhvr>
                                      <p:tavLst>
                                        <p:tav tm="0">
                                          <p:val>
                                            <p:strVal val="hidden"/>
                                          </p:val>
                                        </p:tav>
                                        <p:tav tm="50000">
                                          <p:val>
                                            <p:strVal val="visible"/>
                                          </p:val>
                                        </p:tav>
                                      </p:tavLst>
                                    </p:anim>
                                  </p:childTnLst>
                                  <p:subTnLst>
                                    <p:audio>
                                      <p:cMediaNode>
                                        <p:cTn display="0" masterRel="sameClick">
                                          <p:stCondLst>
                                            <p:cond evt="begin" delay="0">
                                              <p:tn val="45"/>
                                            </p:cond>
                                          </p:stCondLst>
                                          <p:endCondLst>
                                            <p:cond evt="onStopAudio" delay="0">
                                              <p:tgtEl>
                                                <p:sldTgt/>
                                              </p:tgtEl>
                                            </p:cond>
                                          </p:endCondLst>
                                        </p:cTn>
                                        <p:tgtEl>
                                          <p:sndTgt r:embed="rId3" name="hammer.wav"/>
                                        </p:tgtEl>
                                      </p:cMediaNode>
                                    </p:audio>
                                  </p:subTnLst>
                                </p:cTn>
                              </p:par>
                            </p:childTnLst>
                          </p:cTn>
                        </p:par>
                      </p:childTnLst>
                    </p:cTn>
                  </p:par>
                  <p:par>
                    <p:cTn id="47" fill="hold">
                      <p:stCondLst>
                        <p:cond delay="indefinite"/>
                      </p:stCondLst>
                      <p:childTnLst>
                        <p:par>
                          <p:cTn id="48" fill="hold">
                            <p:stCondLst>
                              <p:cond delay="0"/>
                            </p:stCondLst>
                            <p:childTnLst>
                              <p:par>
                                <p:cTn id="49" presetID="1" presetClass="emph" presetSubtype="2" fill="hold" nodeType="clickEffect">
                                  <p:stCondLst>
                                    <p:cond delay="0"/>
                                  </p:stCondLst>
                                  <p:childTnLst>
                                    <p:animClr clrSpc="rgb" dir="cw">
                                      <p:cBhvr>
                                        <p:cTn id="50" dur="2000" fill="hold"/>
                                        <p:tgtEl>
                                          <p:spTgt spid="86458"/>
                                        </p:tgtEl>
                                        <p:attrNameLst>
                                          <p:attrName>fillcolor</p:attrName>
                                        </p:attrNameLst>
                                      </p:cBhvr>
                                      <p:to>
                                        <a:srgbClr val="FF0000"/>
                                      </p:to>
                                    </p:animClr>
                                    <p:set>
                                      <p:cBhvr>
                                        <p:cTn id="51" dur="2000" fill="hold"/>
                                        <p:tgtEl>
                                          <p:spTgt spid="86458"/>
                                        </p:tgtEl>
                                        <p:attrNameLst>
                                          <p:attrName>fill.type</p:attrName>
                                        </p:attrNameLst>
                                      </p:cBhvr>
                                      <p:to>
                                        <p:strVal val="solid"/>
                                      </p:to>
                                    </p:set>
                                    <p:set>
                                      <p:cBhvr>
                                        <p:cTn id="52" dur="2000" fill="hold"/>
                                        <p:tgtEl>
                                          <p:spTgt spid="86458"/>
                                        </p:tgtEl>
                                        <p:attrNameLst>
                                          <p:attrName>fill.on</p:attrName>
                                        </p:attrNameLst>
                                      </p:cBhvr>
                                      <p:to>
                                        <p:strVal val="true"/>
                                      </p:to>
                                    </p:set>
                                  </p:childTnLst>
                                </p:cTn>
                              </p:par>
                            </p:childTnLst>
                          </p:cTn>
                        </p:par>
                      </p:childTnLst>
                    </p:cTn>
                  </p:par>
                  <p:par>
                    <p:cTn id="53" fill="hold">
                      <p:stCondLst>
                        <p:cond delay="indefinite"/>
                      </p:stCondLst>
                      <p:childTnLst>
                        <p:par>
                          <p:cTn id="54" fill="hold">
                            <p:stCondLst>
                              <p:cond delay="0"/>
                            </p:stCondLst>
                            <p:childTnLst>
                              <p:par>
                                <p:cTn id="55" presetID="27" presetClass="entr" presetSubtype="0" fill="hold" grpId="0" nodeType="clickEffect">
                                  <p:stCondLst>
                                    <p:cond delay="0"/>
                                  </p:stCondLst>
                                  <p:iterate type="lt">
                                    <p:tmPct val="50000"/>
                                  </p:iterate>
                                  <p:childTnLst>
                                    <p:set>
                                      <p:cBhvr>
                                        <p:cTn id="56" dur="1" fill="hold">
                                          <p:stCondLst>
                                            <p:cond delay="0"/>
                                          </p:stCondLst>
                                        </p:cTn>
                                        <p:tgtEl>
                                          <p:spTgt spid="86132"/>
                                        </p:tgtEl>
                                        <p:attrNameLst>
                                          <p:attrName>style.visibility</p:attrName>
                                        </p:attrNameLst>
                                      </p:cBhvr>
                                      <p:to>
                                        <p:strVal val="visible"/>
                                      </p:to>
                                    </p:set>
                                    <p:anim calcmode="discrete" valueType="clr">
                                      <p:cBhvr override="childStyle">
                                        <p:cTn id="57" dur="80"/>
                                        <p:tgtEl>
                                          <p:spTgt spid="86132"/>
                                        </p:tgtEl>
                                        <p:attrNameLst>
                                          <p:attrName>style.color</p:attrName>
                                        </p:attrNameLst>
                                      </p:cBhvr>
                                      <p:tavLst>
                                        <p:tav tm="0">
                                          <p:val>
                                            <p:clrVal>
                                              <a:schemeClr val="accent2"/>
                                            </p:clrVal>
                                          </p:val>
                                        </p:tav>
                                        <p:tav tm="50000">
                                          <p:val>
                                            <p:clrVal>
                                              <a:schemeClr val="hlink"/>
                                            </p:clrVal>
                                          </p:val>
                                        </p:tav>
                                      </p:tavLst>
                                    </p:anim>
                                    <p:anim calcmode="discrete" valueType="clr">
                                      <p:cBhvr>
                                        <p:cTn id="58" dur="80"/>
                                        <p:tgtEl>
                                          <p:spTgt spid="86132"/>
                                        </p:tgtEl>
                                        <p:attrNameLst>
                                          <p:attrName>fillcolor</p:attrName>
                                        </p:attrNameLst>
                                      </p:cBhvr>
                                      <p:tavLst>
                                        <p:tav tm="0">
                                          <p:val>
                                            <p:clrVal>
                                              <a:schemeClr val="accent2"/>
                                            </p:clrVal>
                                          </p:val>
                                        </p:tav>
                                        <p:tav tm="50000">
                                          <p:val>
                                            <p:clrVal>
                                              <a:schemeClr val="hlink"/>
                                            </p:clrVal>
                                          </p:val>
                                        </p:tav>
                                      </p:tavLst>
                                    </p:anim>
                                    <p:set>
                                      <p:cBhvr>
                                        <p:cTn id="59" dur="80"/>
                                        <p:tgtEl>
                                          <p:spTgt spid="86132"/>
                                        </p:tgtEl>
                                        <p:attrNameLst>
                                          <p:attrName>fill.type</p:attrName>
                                        </p:attrNameLst>
                                      </p:cBhvr>
                                      <p:to>
                                        <p:strVal val="solid"/>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86459"/>
                                        </p:tgtEl>
                                        <p:attrNameLst>
                                          <p:attrName>style.visibility</p:attrName>
                                        </p:attrNameLst>
                                      </p:cBhvr>
                                      <p:to>
                                        <p:strVal val="visible"/>
                                      </p:to>
                                    </p:set>
                                    <p:animEffect transition="in" filter="wipe(up)">
                                      <p:cBhvr>
                                        <p:cTn id="64" dur="500"/>
                                        <p:tgtEl>
                                          <p:spTgt spid="86459"/>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86460"/>
                                        </p:tgtEl>
                                        <p:attrNameLst>
                                          <p:attrName>style.visibility</p:attrName>
                                        </p:attrNameLst>
                                      </p:cBhvr>
                                      <p:to>
                                        <p:strVal val="visible"/>
                                      </p:to>
                                    </p:set>
                                    <p:animEffect transition="in" filter="wipe(up)">
                                      <p:cBhvr>
                                        <p:cTn id="67" dur="500"/>
                                        <p:tgtEl>
                                          <p:spTgt spid="86460"/>
                                        </p:tgtEl>
                                      </p:cBhvr>
                                    </p:animEffect>
                                  </p:childTnLst>
                                </p:cTn>
                              </p:par>
                            </p:childTnLst>
                          </p:cTn>
                        </p:par>
                      </p:childTnLst>
                    </p:cTn>
                  </p:par>
                  <p:par>
                    <p:cTn id="68" fill="hold">
                      <p:stCondLst>
                        <p:cond delay="indefinite"/>
                      </p:stCondLst>
                      <p:childTnLst>
                        <p:par>
                          <p:cTn id="69" fill="hold">
                            <p:stCondLst>
                              <p:cond delay="0"/>
                            </p:stCondLst>
                            <p:childTnLst>
                              <p:par>
                                <p:cTn id="70" presetID="35" presetClass="emph" presetSubtype="0" fill="hold" grpId="1" nodeType="clickEffect">
                                  <p:stCondLst>
                                    <p:cond delay="0"/>
                                  </p:stCondLst>
                                  <p:iterate type="lt">
                                    <p:tmAbs val="0"/>
                                  </p:iterate>
                                  <p:childTnLst>
                                    <p:anim calcmode="discrete" valueType="str">
                                      <p:cBhvr>
                                        <p:cTn id="71" dur="1000" fill="hold"/>
                                        <p:tgtEl>
                                          <p:spTgt spid="86132"/>
                                        </p:tgtEl>
                                        <p:attrNameLst>
                                          <p:attrName>style.visibility</p:attrName>
                                        </p:attrNameLst>
                                      </p:cBhvr>
                                      <p:tavLst>
                                        <p:tav tm="0">
                                          <p:val>
                                            <p:strVal val="hidden"/>
                                          </p:val>
                                        </p:tav>
                                        <p:tav tm="50000">
                                          <p:val>
                                            <p:strVal val="visible"/>
                                          </p:val>
                                        </p:tav>
                                      </p:tavLst>
                                    </p:anim>
                                  </p:childTnLst>
                                </p:cTn>
                              </p:par>
                              <p:par>
                                <p:cTn id="72" presetID="35" presetClass="emph" presetSubtype="0" fill="hold" grpId="2" nodeType="withEffect">
                                  <p:stCondLst>
                                    <p:cond delay="0"/>
                                  </p:stCondLst>
                                  <p:iterate type="lt">
                                    <p:tmAbs val="0"/>
                                  </p:iterate>
                                  <p:childTnLst>
                                    <p:anim calcmode="discrete" valueType="str">
                                      <p:cBhvr>
                                        <p:cTn id="73" dur="1000" fill="hold"/>
                                        <p:tgtEl>
                                          <p:spTgt spid="86130"/>
                                        </p:tgtEl>
                                        <p:attrNameLst>
                                          <p:attrName>style.visibility</p:attrName>
                                        </p:attrNameLst>
                                      </p:cBhvr>
                                      <p:tavLst>
                                        <p:tav tm="0">
                                          <p:val>
                                            <p:strVal val="hidden"/>
                                          </p:val>
                                        </p:tav>
                                        <p:tav tm="50000">
                                          <p:val>
                                            <p:strVal val="visible"/>
                                          </p:val>
                                        </p:tav>
                                      </p:tavLst>
                                    </p:anim>
                                  </p:childTnLst>
                                </p:cTn>
                              </p:par>
                            </p:childTnLst>
                          </p:cTn>
                        </p:par>
                      </p:childTnLst>
                    </p:cTn>
                  </p:par>
                  <p:par>
                    <p:cTn id="74" fill="hold">
                      <p:stCondLst>
                        <p:cond delay="indefinite"/>
                      </p:stCondLst>
                      <p:childTnLst>
                        <p:par>
                          <p:cTn id="75" fill="hold">
                            <p:stCondLst>
                              <p:cond delay="0"/>
                            </p:stCondLst>
                            <p:childTnLst>
                              <p:par>
                                <p:cTn id="76" presetID="1" presetClass="emph" presetSubtype="2" fill="hold" nodeType="clickEffect">
                                  <p:stCondLst>
                                    <p:cond delay="0"/>
                                  </p:stCondLst>
                                  <p:childTnLst>
                                    <p:animClr clrSpc="rgb" dir="cw">
                                      <p:cBhvr>
                                        <p:cTn id="77" dur="2000" fill="hold"/>
                                        <p:tgtEl>
                                          <p:spTgt spid="86460"/>
                                        </p:tgtEl>
                                        <p:attrNameLst>
                                          <p:attrName>fillcolor</p:attrName>
                                        </p:attrNameLst>
                                      </p:cBhvr>
                                      <p:to>
                                        <a:srgbClr val="FF0000"/>
                                      </p:to>
                                    </p:animClr>
                                    <p:set>
                                      <p:cBhvr>
                                        <p:cTn id="78" dur="2000" fill="hold"/>
                                        <p:tgtEl>
                                          <p:spTgt spid="86460"/>
                                        </p:tgtEl>
                                        <p:attrNameLst>
                                          <p:attrName>fill.type</p:attrName>
                                        </p:attrNameLst>
                                      </p:cBhvr>
                                      <p:to>
                                        <p:strVal val="solid"/>
                                      </p:to>
                                    </p:set>
                                    <p:set>
                                      <p:cBhvr>
                                        <p:cTn id="79" dur="2000" fill="hold"/>
                                        <p:tgtEl>
                                          <p:spTgt spid="86460"/>
                                        </p:tgtEl>
                                        <p:attrNameLst>
                                          <p:attrName>fill.on</p:attrName>
                                        </p:attrNameLst>
                                      </p:cBhvr>
                                      <p:to>
                                        <p:strVal val="true"/>
                                      </p:to>
                                    </p:set>
                                  </p:childTnLst>
                                </p:cTn>
                              </p:par>
                            </p:childTnLst>
                          </p:cTn>
                        </p:par>
                      </p:childTnLst>
                    </p:cTn>
                  </p:par>
                  <p:par>
                    <p:cTn id="80" fill="hold">
                      <p:stCondLst>
                        <p:cond delay="indefinite"/>
                      </p:stCondLst>
                      <p:childTnLst>
                        <p:par>
                          <p:cTn id="81" fill="hold">
                            <p:stCondLst>
                              <p:cond delay="0"/>
                            </p:stCondLst>
                            <p:childTnLst>
                              <p:par>
                                <p:cTn id="82" presetID="27" presetClass="entr" presetSubtype="0" fill="hold" grpId="0" nodeType="clickEffect">
                                  <p:stCondLst>
                                    <p:cond delay="0"/>
                                  </p:stCondLst>
                                  <p:iterate type="lt">
                                    <p:tmPct val="50000"/>
                                  </p:iterate>
                                  <p:childTnLst>
                                    <p:set>
                                      <p:cBhvr>
                                        <p:cTn id="83" dur="1" fill="hold">
                                          <p:stCondLst>
                                            <p:cond delay="0"/>
                                          </p:stCondLst>
                                        </p:cTn>
                                        <p:tgtEl>
                                          <p:spTgt spid="86133"/>
                                        </p:tgtEl>
                                        <p:attrNameLst>
                                          <p:attrName>style.visibility</p:attrName>
                                        </p:attrNameLst>
                                      </p:cBhvr>
                                      <p:to>
                                        <p:strVal val="visible"/>
                                      </p:to>
                                    </p:set>
                                    <p:anim calcmode="discrete" valueType="clr">
                                      <p:cBhvr override="childStyle">
                                        <p:cTn id="84" dur="80"/>
                                        <p:tgtEl>
                                          <p:spTgt spid="86133"/>
                                        </p:tgtEl>
                                        <p:attrNameLst>
                                          <p:attrName>style.color</p:attrName>
                                        </p:attrNameLst>
                                      </p:cBhvr>
                                      <p:tavLst>
                                        <p:tav tm="0">
                                          <p:val>
                                            <p:clrVal>
                                              <a:schemeClr val="accent2"/>
                                            </p:clrVal>
                                          </p:val>
                                        </p:tav>
                                        <p:tav tm="50000">
                                          <p:val>
                                            <p:clrVal>
                                              <a:schemeClr val="hlink"/>
                                            </p:clrVal>
                                          </p:val>
                                        </p:tav>
                                      </p:tavLst>
                                    </p:anim>
                                    <p:anim calcmode="discrete" valueType="clr">
                                      <p:cBhvr>
                                        <p:cTn id="85" dur="80"/>
                                        <p:tgtEl>
                                          <p:spTgt spid="86133"/>
                                        </p:tgtEl>
                                        <p:attrNameLst>
                                          <p:attrName>fillcolor</p:attrName>
                                        </p:attrNameLst>
                                      </p:cBhvr>
                                      <p:tavLst>
                                        <p:tav tm="0">
                                          <p:val>
                                            <p:clrVal>
                                              <a:schemeClr val="accent2"/>
                                            </p:clrVal>
                                          </p:val>
                                        </p:tav>
                                        <p:tav tm="50000">
                                          <p:val>
                                            <p:clrVal>
                                              <a:schemeClr val="hlink"/>
                                            </p:clrVal>
                                          </p:val>
                                        </p:tav>
                                      </p:tavLst>
                                    </p:anim>
                                    <p:set>
                                      <p:cBhvr>
                                        <p:cTn id="86" dur="80"/>
                                        <p:tgtEl>
                                          <p:spTgt spid="86133"/>
                                        </p:tgtEl>
                                        <p:attrNameLst>
                                          <p:attrName>fill.type</p:attrName>
                                        </p:attrNameLst>
                                      </p:cBhvr>
                                      <p:to>
                                        <p:strVal val="solid"/>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86461"/>
                                        </p:tgtEl>
                                        <p:attrNameLst>
                                          <p:attrName>style.visibility</p:attrName>
                                        </p:attrNameLst>
                                      </p:cBhvr>
                                      <p:to>
                                        <p:strVal val="visible"/>
                                      </p:to>
                                    </p:set>
                                    <p:animEffect transition="in" filter="wipe(up)">
                                      <p:cBhvr>
                                        <p:cTn id="91" dur="500"/>
                                        <p:tgtEl>
                                          <p:spTgt spid="86461"/>
                                        </p:tgtEl>
                                      </p:cBhvr>
                                    </p:animEffect>
                                  </p:childTnLst>
                                </p:cTn>
                              </p:par>
                              <p:par>
                                <p:cTn id="92" presetID="22" presetClass="entr" presetSubtype="1" fill="hold" grpId="0" nodeType="withEffect">
                                  <p:stCondLst>
                                    <p:cond delay="0"/>
                                  </p:stCondLst>
                                  <p:childTnLst>
                                    <p:set>
                                      <p:cBhvr>
                                        <p:cTn id="93" dur="1" fill="hold">
                                          <p:stCondLst>
                                            <p:cond delay="0"/>
                                          </p:stCondLst>
                                        </p:cTn>
                                        <p:tgtEl>
                                          <p:spTgt spid="86462"/>
                                        </p:tgtEl>
                                        <p:attrNameLst>
                                          <p:attrName>style.visibility</p:attrName>
                                        </p:attrNameLst>
                                      </p:cBhvr>
                                      <p:to>
                                        <p:strVal val="visible"/>
                                      </p:to>
                                    </p:set>
                                    <p:animEffect transition="in" filter="wipe(up)">
                                      <p:cBhvr>
                                        <p:cTn id="94" dur="500"/>
                                        <p:tgtEl>
                                          <p:spTgt spid="86462"/>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86134"/>
                                        </p:tgtEl>
                                        <p:attrNameLst>
                                          <p:attrName>style.visibility</p:attrName>
                                        </p:attrNameLst>
                                      </p:cBhvr>
                                      <p:to>
                                        <p:strVal val="visible"/>
                                      </p:to>
                                    </p:set>
                                    <p:animEffect transition="in" filter="blinds(horizontal)">
                                      <p:cBhvr>
                                        <p:cTn id="99" dur="500"/>
                                        <p:tgtEl>
                                          <p:spTgt spid="86134"/>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nodeType="clickEffect">
                                  <p:stCondLst>
                                    <p:cond delay="0"/>
                                  </p:stCondLst>
                                  <p:childTnLst>
                                    <p:set>
                                      <p:cBhvr>
                                        <p:cTn id="103" dur="1" fill="hold">
                                          <p:stCondLst>
                                            <p:cond delay="0"/>
                                          </p:stCondLst>
                                        </p:cTn>
                                        <p:tgtEl>
                                          <p:spTgt spid="86463"/>
                                        </p:tgtEl>
                                        <p:attrNameLst>
                                          <p:attrName>style.visibility</p:attrName>
                                        </p:attrNameLst>
                                      </p:cBhvr>
                                      <p:to>
                                        <p:strVal val="visible"/>
                                      </p:to>
                                    </p:set>
                                    <p:animEffect transition="in" filter="wipe(up)">
                                      <p:cBhvr>
                                        <p:cTn id="104" dur="500"/>
                                        <p:tgtEl>
                                          <p:spTgt spid="86463"/>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86464"/>
                                        </p:tgtEl>
                                        <p:attrNameLst>
                                          <p:attrName>style.visibility</p:attrName>
                                        </p:attrNameLst>
                                      </p:cBhvr>
                                      <p:to>
                                        <p:strVal val="visible"/>
                                      </p:to>
                                    </p:set>
                                    <p:animEffect transition="in" filter="wipe(up)">
                                      <p:cBhvr>
                                        <p:cTn id="107" dur="500"/>
                                        <p:tgtEl>
                                          <p:spTgt spid="86464"/>
                                        </p:tgtEl>
                                      </p:cBhvr>
                                    </p:animEffect>
                                  </p:childTnLst>
                                </p:cTn>
                              </p:par>
                            </p:childTnLst>
                          </p:cTn>
                        </p:par>
                      </p:childTnLst>
                    </p:cTn>
                  </p:par>
                  <p:par>
                    <p:cTn id="108" fill="hold">
                      <p:stCondLst>
                        <p:cond delay="indefinite"/>
                      </p:stCondLst>
                      <p:childTnLst>
                        <p:par>
                          <p:cTn id="109" fill="hold">
                            <p:stCondLst>
                              <p:cond delay="0"/>
                            </p:stCondLst>
                            <p:childTnLst>
                              <p:par>
                                <p:cTn id="110" presetID="35" presetClass="emph" presetSubtype="0" fill="hold" grpId="1" nodeType="clickEffect">
                                  <p:stCondLst>
                                    <p:cond delay="0"/>
                                  </p:stCondLst>
                                  <p:childTnLst>
                                    <p:anim calcmode="discrete" valueType="str">
                                      <p:cBhvr>
                                        <p:cTn id="111" dur="1000" fill="hold"/>
                                        <p:tgtEl>
                                          <p:spTgt spid="86134"/>
                                        </p:tgtEl>
                                        <p:attrNameLst>
                                          <p:attrName>style.visibility</p:attrName>
                                        </p:attrNameLst>
                                      </p:cBhvr>
                                      <p:tavLst>
                                        <p:tav tm="0">
                                          <p:val>
                                            <p:strVal val="hidden"/>
                                          </p:val>
                                        </p:tav>
                                        <p:tav tm="50000">
                                          <p:val>
                                            <p:strVal val="visible"/>
                                          </p:val>
                                        </p:tav>
                                      </p:tavLst>
                                    </p:anim>
                                  </p:childTnLst>
                                </p:cTn>
                              </p:par>
                              <p:par>
                                <p:cTn id="112" presetID="35" presetClass="emph" presetSubtype="0" fill="hold" grpId="3" nodeType="withEffect">
                                  <p:stCondLst>
                                    <p:cond delay="0"/>
                                  </p:stCondLst>
                                  <p:iterate type="lt">
                                    <p:tmAbs val="0"/>
                                  </p:iterate>
                                  <p:childTnLst>
                                    <p:anim calcmode="discrete" valueType="str">
                                      <p:cBhvr>
                                        <p:cTn id="113" dur="1000" fill="hold"/>
                                        <p:tgtEl>
                                          <p:spTgt spid="86130"/>
                                        </p:tgtEl>
                                        <p:attrNameLst>
                                          <p:attrName>style.visibility</p:attrName>
                                        </p:attrNameLst>
                                      </p:cBhvr>
                                      <p:tavLst>
                                        <p:tav tm="0">
                                          <p:val>
                                            <p:strVal val="hidden"/>
                                          </p:val>
                                        </p:tav>
                                        <p:tav tm="50000">
                                          <p:val>
                                            <p:strVal val="visible"/>
                                          </p:val>
                                        </p:tav>
                                      </p:tavLst>
                                    </p:anim>
                                  </p:childTnLst>
                                </p:cTn>
                              </p:par>
                            </p:childTnLst>
                          </p:cTn>
                        </p:par>
                      </p:childTnLst>
                    </p:cTn>
                  </p:par>
                  <p:par>
                    <p:cTn id="114" fill="hold">
                      <p:stCondLst>
                        <p:cond delay="indefinite"/>
                      </p:stCondLst>
                      <p:childTnLst>
                        <p:par>
                          <p:cTn id="115" fill="hold">
                            <p:stCondLst>
                              <p:cond delay="0"/>
                            </p:stCondLst>
                            <p:childTnLst>
                              <p:par>
                                <p:cTn id="116" presetID="1" presetClass="emph" presetSubtype="2" fill="hold" nodeType="clickEffect">
                                  <p:stCondLst>
                                    <p:cond delay="0"/>
                                  </p:stCondLst>
                                  <p:childTnLst>
                                    <p:animClr clrSpc="rgb" dir="cw">
                                      <p:cBhvr>
                                        <p:cTn id="117" dur="2000" fill="hold"/>
                                        <p:tgtEl>
                                          <p:spTgt spid="86464"/>
                                        </p:tgtEl>
                                        <p:attrNameLst>
                                          <p:attrName>fillcolor</p:attrName>
                                        </p:attrNameLst>
                                      </p:cBhvr>
                                      <p:to>
                                        <a:srgbClr val="FF0000"/>
                                      </p:to>
                                    </p:animClr>
                                    <p:set>
                                      <p:cBhvr>
                                        <p:cTn id="118" dur="2000" fill="hold"/>
                                        <p:tgtEl>
                                          <p:spTgt spid="86464"/>
                                        </p:tgtEl>
                                        <p:attrNameLst>
                                          <p:attrName>fill.type</p:attrName>
                                        </p:attrNameLst>
                                      </p:cBhvr>
                                      <p:to>
                                        <p:strVal val="solid"/>
                                      </p:to>
                                    </p:set>
                                    <p:set>
                                      <p:cBhvr>
                                        <p:cTn id="119" dur="2000" fill="hold"/>
                                        <p:tgtEl>
                                          <p:spTgt spid="86464"/>
                                        </p:tgtEl>
                                        <p:attrNameLst>
                                          <p:attrName>fill.on</p:attrName>
                                        </p:attrNameLst>
                                      </p:cBhvr>
                                      <p:to>
                                        <p:strVal val="true"/>
                                      </p:to>
                                    </p:set>
                                  </p:childTnLst>
                                </p:cTn>
                              </p:par>
                            </p:childTnLst>
                          </p:cTn>
                        </p:par>
                      </p:childTnLst>
                    </p:cTn>
                  </p:par>
                  <p:par>
                    <p:cTn id="120" fill="hold">
                      <p:stCondLst>
                        <p:cond delay="indefinite"/>
                      </p:stCondLst>
                      <p:childTnLst>
                        <p:par>
                          <p:cTn id="121" fill="hold">
                            <p:stCondLst>
                              <p:cond delay="0"/>
                            </p:stCondLst>
                            <p:childTnLst>
                              <p:par>
                                <p:cTn id="122" presetID="27" presetClass="entr" presetSubtype="0" fill="hold" grpId="0" nodeType="clickEffect">
                                  <p:stCondLst>
                                    <p:cond delay="0"/>
                                  </p:stCondLst>
                                  <p:iterate type="lt">
                                    <p:tmPct val="50000"/>
                                  </p:iterate>
                                  <p:childTnLst>
                                    <p:set>
                                      <p:cBhvr>
                                        <p:cTn id="123" dur="1" fill="hold">
                                          <p:stCondLst>
                                            <p:cond delay="0"/>
                                          </p:stCondLst>
                                        </p:cTn>
                                        <p:tgtEl>
                                          <p:spTgt spid="86135"/>
                                        </p:tgtEl>
                                        <p:attrNameLst>
                                          <p:attrName>style.visibility</p:attrName>
                                        </p:attrNameLst>
                                      </p:cBhvr>
                                      <p:to>
                                        <p:strVal val="visible"/>
                                      </p:to>
                                    </p:set>
                                    <p:anim calcmode="discrete" valueType="clr">
                                      <p:cBhvr override="childStyle">
                                        <p:cTn id="124" dur="80"/>
                                        <p:tgtEl>
                                          <p:spTgt spid="86135"/>
                                        </p:tgtEl>
                                        <p:attrNameLst>
                                          <p:attrName>style.color</p:attrName>
                                        </p:attrNameLst>
                                      </p:cBhvr>
                                      <p:tavLst>
                                        <p:tav tm="0">
                                          <p:val>
                                            <p:clrVal>
                                              <a:schemeClr val="accent2"/>
                                            </p:clrVal>
                                          </p:val>
                                        </p:tav>
                                        <p:tav tm="50000">
                                          <p:val>
                                            <p:clrVal>
                                              <a:schemeClr val="hlink"/>
                                            </p:clrVal>
                                          </p:val>
                                        </p:tav>
                                      </p:tavLst>
                                    </p:anim>
                                    <p:anim calcmode="discrete" valueType="clr">
                                      <p:cBhvr>
                                        <p:cTn id="125" dur="80"/>
                                        <p:tgtEl>
                                          <p:spTgt spid="86135"/>
                                        </p:tgtEl>
                                        <p:attrNameLst>
                                          <p:attrName>fillcolor</p:attrName>
                                        </p:attrNameLst>
                                      </p:cBhvr>
                                      <p:tavLst>
                                        <p:tav tm="0">
                                          <p:val>
                                            <p:clrVal>
                                              <a:schemeClr val="accent2"/>
                                            </p:clrVal>
                                          </p:val>
                                        </p:tav>
                                        <p:tav tm="50000">
                                          <p:val>
                                            <p:clrVal>
                                              <a:schemeClr val="hlink"/>
                                            </p:clrVal>
                                          </p:val>
                                        </p:tav>
                                      </p:tavLst>
                                    </p:anim>
                                    <p:set>
                                      <p:cBhvr>
                                        <p:cTn id="126" dur="80"/>
                                        <p:tgtEl>
                                          <p:spTgt spid="86135"/>
                                        </p:tgtEl>
                                        <p:attrNameLst>
                                          <p:attrName>fill.type</p:attrName>
                                        </p:attrNameLst>
                                      </p:cBhvr>
                                      <p:to>
                                        <p:strVal val="solid"/>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nodeType="clickEffect">
                                  <p:stCondLst>
                                    <p:cond delay="0"/>
                                  </p:stCondLst>
                                  <p:childTnLst>
                                    <p:set>
                                      <p:cBhvr>
                                        <p:cTn id="130" dur="1" fill="hold">
                                          <p:stCondLst>
                                            <p:cond delay="0"/>
                                          </p:stCondLst>
                                        </p:cTn>
                                        <p:tgtEl>
                                          <p:spTgt spid="86465"/>
                                        </p:tgtEl>
                                        <p:attrNameLst>
                                          <p:attrName>style.visibility</p:attrName>
                                        </p:attrNameLst>
                                      </p:cBhvr>
                                      <p:to>
                                        <p:strVal val="visible"/>
                                      </p:to>
                                    </p:set>
                                    <p:animEffect transition="in" filter="wipe(up)">
                                      <p:cBhvr>
                                        <p:cTn id="131" dur="500"/>
                                        <p:tgtEl>
                                          <p:spTgt spid="86465"/>
                                        </p:tgtEl>
                                      </p:cBhvr>
                                    </p:animEffect>
                                  </p:childTnLst>
                                </p:cTn>
                              </p:par>
                              <p:par>
                                <p:cTn id="132" presetID="22" presetClass="entr" presetSubtype="1" fill="hold" grpId="0" nodeType="withEffect">
                                  <p:stCondLst>
                                    <p:cond delay="0"/>
                                  </p:stCondLst>
                                  <p:childTnLst>
                                    <p:set>
                                      <p:cBhvr>
                                        <p:cTn id="133" dur="1" fill="hold">
                                          <p:stCondLst>
                                            <p:cond delay="0"/>
                                          </p:stCondLst>
                                        </p:cTn>
                                        <p:tgtEl>
                                          <p:spTgt spid="86466"/>
                                        </p:tgtEl>
                                        <p:attrNameLst>
                                          <p:attrName>style.visibility</p:attrName>
                                        </p:attrNameLst>
                                      </p:cBhvr>
                                      <p:to>
                                        <p:strVal val="visible"/>
                                      </p:to>
                                    </p:set>
                                    <p:animEffect transition="in" filter="wipe(up)">
                                      <p:cBhvr>
                                        <p:cTn id="134" dur="500"/>
                                        <p:tgtEl>
                                          <p:spTgt spid="86466"/>
                                        </p:tgtEl>
                                      </p:cBhvr>
                                    </p:animEffect>
                                  </p:childTnLst>
                                </p:cTn>
                              </p:par>
                            </p:childTnLst>
                          </p:cTn>
                        </p:par>
                      </p:childTnLst>
                    </p:cTn>
                  </p:par>
                  <p:par>
                    <p:cTn id="135" fill="hold">
                      <p:stCondLst>
                        <p:cond delay="indefinite"/>
                      </p:stCondLst>
                      <p:childTnLst>
                        <p:par>
                          <p:cTn id="136" fill="hold">
                            <p:stCondLst>
                              <p:cond delay="0"/>
                            </p:stCondLst>
                            <p:childTnLst>
                              <p:par>
                                <p:cTn id="137" presetID="35" presetClass="emph" presetSubtype="0" fill="hold" grpId="1" nodeType="clickEffect">
                                  <p:stCondLst>
                                    <p:cond delay="0"/>
                                  </p:stCondLst>
                                  <p:iterate type="lt">
                                    <p:tmAbs val="0"/>
                                  </p:iterate>
                                  <p:childTnLst>
                                    <p:anim calcmode="discrete" valueType="str">
                                      <p:cBhvr>
                                        <p:cTn id="138" dur="1000" fill="hold"/>
                                        <p:tgtEl>
                                          <p:spTgt spid="86135"/>
                                        </p:tgtEl>
                                        <p:attrNameLst>
                                          <p:attrName>style.visibility</p:attrName>
                                        </p:attrNameLst>
                                      </p:cBhvr>
                                      <p:tavLst>
                                        <p:tav tm="0">
                                          <p:val>
                                            <p:strVal val="hidden"/>
                                          </p:val>
                                        </p:tav>
                                        <p:tav tm="50000">
                                          <p:val>
                                            <p:strVal val="visible"/>
                                          </p:val>
                                        </p:tav>
                                      </p:tavLst>
                                    </p:anim>
                                  </p:childTnLst>
                                </p:cTn>
                              </p:par>
                              <p:par>
                                <p:cTn id="139" presetID="35" presetClass="emph" presetSubtype="0" fill="hold" grpId="1" nodeType="withEffect">
                                  <p:stCondLst>
                                    <p:cond delay="0"/>
                                  </p:stCondLst>
                                  <p:iterate type="lt">
                                    <p:tmAbs val="0"/>
                                  </p:iterate>
                                  <p:childTnLst>
                                    <p:anim calcmode="discrete" valueType="str">
                                      <p:cBhvr>
                                        <p:cTn id="140" dur="1000" fill="hold"/>
                                        <p:tgtEl>
                                          <p:spTgt spid="86133"/>
                                        </p:tgtEl>
                                        <p:attrNameLst>
                                          <p:attrName>style.visibility</p:attrName>
                                        </p:attrNameLst>
                                      </p:cBhvr>
                                      <p:tavLst>
                                        <p:tav tm="0">
                                          <p:val>
                                            <p:strVal val="hidden"/>
                                          </p:val>
                                        </p:tav>
                                        <p:tav tm="50000">
                                          <p:val>
                                            <p:strVal val="visible"/>
                                          </p:val>
                                        </p:tav>
                                      </p:tavLst>
                                    </p:anim>
                                  </p:childTnLst>
                                </p:cTn>
                              </p:par>
                            </p:childTnLst>
                          </p:cTn>
                        </p:par>
                      </p:childTnLst>
                    </p:cTn>
                  </p:par>
                  <p:par>
                    <p:cTn id="141" fill="hold">
                      <p:stCondLst>
                        <p:cond delay="indefinite"/>
                      </p:stCondLst>
                      <p:childTnLst>
                        <p:par>
                          <p:cTn id="142" fill="hold">
                            <p:stCondLst>
                              <p:cond delay="0"/>
                            </p:stCondLst>
                            <p:childTnLst>
                              <p:par>
                                <p:cTn id="143" presetID="1" presetClass="emph" presetSubtype="2" fill="hold" nodeType="clickEffect">
                                  <p:stCondLst>
                                    <p:cond delay="0"/>
                                  </p:stCondLst>
                                  <p:childTnLst>
                                    <p:animClr clrSpc="rgb" dir="cw">
                                      <p:cBhvr>
                                        <p:cTn id="144" dur="2000" fill="hold"/>
                                        <p:tgtEl>
                                          <p:spTgt spid="86466"/>
                                        </p:tgtEl>
                                        <p:attrNameLst>
                                          <p:attrName>fillcolor</p:attrName>
                                        </p:attrNameLst>
                                      </p:cBhvr>
                                      <p:to>
                                        <a:srgbClr val="FF0000"/>
                                      </p:to>
                                    </p:animClr>
                                    <p:set>
                                      <p:cBhvr>
                                        <p:cTn id="145" dur="2000" fill="hold"/>
                                        <p:tgtEl>
                                          <p:spTgt spid="86466"/>
                                        </p:tgtEl>
                                        <p:attrNameLst>
                                          <p:attrName>fill.type</p:attrName>
                                        </p:attrNameLst>
                                      </p:cBhvr>
                                      <p:to>
                                        <p:strVal val="solid"/>
                                      </p:to>
                                    </p:set>
                                    <p:set>
                                      <p:cBhvr>
                                        <p:cTn id="146" dur="2000" fill="hold"/>
                                        <p:tgtEl>
                                          <p:spTgt spid="86466"/>
                                        </p:tgtEl>
                                        <p:attrNameLst>
                                          <p:attrName>fill.on</p:attrName>
                                        </p:attrNameLst>
                                      </p:cBhvr>
                                      <p:to>
                                        <p:strVal val="true"/>
                                      </p:to>
                                    </p:set>
                                  </p:childTnLst>
                                </p:cTn>
                              </p:par>
                            </p:childTnLst>
                          </p:cTn>
                        </p:par>
                      </p:childTnLst>
                    </p:cTn>
                  </p:par>
                  <p:par>
                    <p:cTn id="147" fill="hold">
                      <p:stCondLst>
                        <p:cond delay="indefinite"/>
                      </p:stCondLst>
                      <p:childTnLst>
                        <p:par>
                          <p:cTn id="148" fill="hold">
                            <p:stCondLst>
                              <p:cond delay="0"/>
                            </p:stCondLst>
                            <p:childTnLst>
                              <p:par>
                                <p:cTn id="149" presetID="27" presetClass="entr" presetSubtype="0" fill="hold" grpId="0" nodeType="clickEffect">
                                  <p:stCondLst>
                                    <p:cond delay="0"/>
                                  </p:stCondLst>
                                  <p:iterate type="lt">
                                    <p:tmPct val="50000"/>
                                  </p:iterate>
                                  <p:childTnLst>
                                    <p:set>
                                      <p:cBhvr>
                                        <p:cTn id="150" dur="1" fill="hold">
                                          <p:stCondLst>
                                            <p:cond delay="0"/>
                                          </p:stCondLst>
                                        </p:cTn>
                                        <p:tgtEl>
                                          <p:spTgt spid="86136"/>
                                        </p:tgtEl>
                                        <p:attrNameLst>
                                          <p:attrName>style.visibility</p:attrName>
                                        </p:attrNameLst>
                                      </p:cBhvr>
                                      <p:to>
                                        <p:strVal val="visible"/>
                                      </p:to>
                                    </p:set>
                                    <p:anim calcmode="discrete" valueType="clr">
                                      <p:cBhvr override="childStyle">
                                        <p:cTn id="151" dur="80"/>
                                        <p:tgtEl>
                                          <p:spTgt spid="86136"/>
                                        </p:tgtEl>
                                        <p:attrNameLst>
                                          <p:attrName>style.color</p:attrName>
                                        </p:attrNameLst>
                                      </p:cBhvr>
                                      <p:tavLst>
                                        <p:tav tm="0">
                                          <p:val>
                                            <p:clrVal>
                                              <a:schemeClr val="accent2"/>
                                            </p:clrVal>
                                          </p:val>
                                        </p:tav>
                                        <p:tav tm="50000">
                                          <p:val>
                                            <p:clrVal>
                                              <a:schemeClr val="hlink"/>
                                            </p:clrVal>
                                          </p:val>
                                        </p:tav>
                                      </p:tavLst>
                                    </p:anim>
                                    <p:anim calcmode="discrete" valueType="clr">
                                      <p:cBhvr>
                                        <p:cTn id="152" dur="80"/>
                                        <p:tgtEl>
                                          <p:spTgt spid="86136"/>
                                        </p:tgtEl>
                                        <p:attrNameLst>
                                          <p:attrName>fillcolor</p:attrName>
                                        </p:attrNameLst>
                                      </p:cBhvr>
                                      <p:tavLst>
                                        <p:tav tm="0">
                                          <p:val>
                                            <p:clrVal>
                                              <a:schemeClr val="accent2"/>
                                            </p:clrVal>
                                          </p:val>
                                        </p:tav>
                                        <p:tav tm="50000">
                                          <p:val>
                                            <p:clrVal>
                                              <a:schemeClr val="hlink"/>
                                            </p:clrVal>
                                          </p:val>
                                        </p:tav>
                                      </p:tavLst>
                                    </p:anim>
                                    <p:set>
                                      <p:cBhvr>
                                        <p:cTn id="153" dur="80"/>
                                        <p:tgtEl>
                                          <p:spTgt spid="86136"/>
                                        </p:tgtEl>
                                        <p:attrNameLst>
                                          <p:attrName>fill.type</p:attrName>
                                        </p:attrNameLst>
                                      </p:cBhvr>
                                      <p:to>
                                        <p:strVal val="solid"/>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1" fill="hold" nodeType="clickEffect">
                                  <p:stCondLst>
                                    <p:cond delay="0"/>
                                  </p:stCondLst>
                                  <p:childTnLst>
                                    <p:set>
                                      <p:cBhvr>
                                        <p:cTn id="157" dur="1" fill="hold">
                                          <p:stCondLst>
                                            <p:cond delay="0"/>
                                          </p:stCondLst>
                                        </p:cTn>
                                        <p:tgtEl>
                                          <p:spTgt spid="86467"/>
                                        </p:tgtEl>
                                        <p:attrNameLst>
                                          <p:attrName>style.visibility</p:attrName>
                                        </p:attrNameLst>
                                      </p:cBhvr>
                                      <p:to>
                                        <p:strVal val="visible"/>
                                      </p:to>
                                    </p:set>
                                    <p:animEffect transition="in" filter="wipe(up)">
                                      <p:cBhvr>
                                        <p:cTn id="158" dur="500"/>
                                        <p:tgtEl>
                                          <p:spTgt spid="86467"/>
                                        </p:tgtEl>
                                      </p:cBhvr>
                                    </p:animEffect>
                                  </p:childTnLst>
                                </p:cTn>
                              </p:par>
                              <p:par>
                                <p:cTn id="159" presetID="22" presetClass="entr" presetSubtype="1" fill="hold" grpId="0" nodeType="withEffect">
                                  <p:stCondLst>
                                    <p:cond delay="0"/>
                                  </p:stCondLst>
                                  <p:childTnLst>
                                    <p:set>
                                      <p:cBhvr>
                                        <p:cTn id="160" dur="1" fill="hold">
                                          <p:stCondLst>
                                            <p:cond delay="0"/>
                                          </p:stCondLst>
                                        </p:cTn>
                                        <p:tgtEl>
                                          <p:spTgt spid="86468"/>
                                        </p:tgtEl>
                                        <p:attrNameLst>
                                          <p:attrName>style.visibility</p:attrName>
                                        </p:attrNameLst>
                                      </p:cBhvr>
                                      <p:to>
                                        <p:strVal val="visible"/>
                                      </p:to>
                                    </p:set>
                                    <p:animEffect transition="in" filter="wipe(up)">
                                      <p:cBhvr>
                                        <p:cTn id="161" dur="500"/>
                                        <p:tgtEl>
                                          <p:spTgt spid="86468"/>
                                        </p:tgtEl>
                                      </p:cBhvr>
                                    </p:animEffect>
                                  </p:childTnLst>
                                </p:cTn>
                              </p:par>
                            </p:childTnLst>
                          </p:cTn>
                        </p:par>
                      </p:childTnLst>
                    </p:cTn>
                  </p:par>
                  <p:par>
                    <p:cTn id="162" fill="hold">
                      <p:stCondLst>
                        <p:cond delay="indefinite"/>
                      </p:stCondLst>
                      <p:childTnLst>
                        <p:par>
                          <p:cTn id="163" fill="hold">
                            <p:stCondLst>
                              <p:cond delay="0"/>
                            </p:stCondLst>
                            <p:childTnLst>
                              <p:par>
                                <p:cTn id="164" presetID="35" presetClass="emph" presetSubtype="0" fill="hold" grpId="1" nodeType="clickEffect">
                                  <p:stCondLst>
                                    <p:cond delay="0"/>
                                  </p:stCondLst>
                                  <p:iterate type="lt">
                                    <p:tmAbs val="0"/>
                                  </p:iterate>
                                  <p:childTnLst>
                                    <p:anim calcmode="discrete" valueType="str">
                                      <p:cBhvr>
                                        <p:cTn id="165" dur="1000" fill="hold"/>
                                        <p:tgtEl>
                                          <p:spTgt spid="86136"/>
                                        </p:tgtEl>
                                        <p:attrNameLst>
                                          <p:attrName>style.visibility</p:attrName>
                                        </p:attrNameLst>
                                      </p:cBhvr>
                                      <p:tavLst>
                                        <p:tav tm="0">
                                          <p:val>
                                            <p:strVal val="hidden"/>
                                          </p:val>
                                        </p:tav>
                                        <p:tav tm="50000">
                                          <p:val>
                                            <p:strVal val="visible"/>
                                          </p:val>
                                        </p:tav>
                                      </p:tavLst>
                                    </p:anim>
                                  </p:childTnLst>
                                </p:cTn>
                              </p:par>
                              <p:par>
                                <p:cTn id="166" presetID="35" presetClass="emph" presetSubtype="0" fill="hold" grpId="2" nodeType="withEffect">
                                  <p:stCondLst>
                                    <p:cond delay="0"/>
                                  </p:stCondLst>
                                  <p:iterate type="lt">
                                    <p:tmAbs val="0"/>
                                  </p:iterate>
                                  <p:childTnLst>
                                    <p:anim calcmode="discrete" valueType="str">
                                      <p:cBhvr>
                                        <p:cTn id="167" dur="1000" fill="hold"/>
                                        <p:tgtEl>
                                          <p:spTgt spid="86133"/>
                                        </p:tgtEl>
                                        <p:attrNameLst>
                                          <p:attrName>style.visibility</p:attrName>
                                        </p:attrNameLst>
                                      </p:cBhvr>
                                      <p:tavLst>
                                        <p:tav tm="0">
                                          <p:val>
                                            <p:strVal val="hidden"/>
                                          </p:val>
                                        </p:tav>
                                        <p:tav tm="50000">
                                          <p:val>
                                            <p:strVal val="visible"/>
                                          </p:val>
                                        </p:tav>
                                      </p:tavLst>
                                    </p:anim>
                                  </p:childTnLst>
                                </p:cTn>
                              </p:par>
                            </p:childTnLst>
                          </p:cTn>
                        </p:par>
                      </p:childTnLst>
                    </p:cTn>
                  </p:par>
                  <p:par>
                    <p:cTn id="168" fill="hold">
                      <p:stCondLst>
                        <p:cond delay="indefinite"/>
                      </p:stCondLst>
                      <p:childTnLst>
                        <p:par>
                          <p:cTn id="169" fill="hold">
                            <p:stCondLst>
                              <p:cond delay="0"/>
                            </p:stCondLst>
                            <p:childTnLst>
                              <p:par>
                                <p:cTn id="170" presetID="1" presetClass="emph" presetSubtype="2" fill="hold" nodeType="clickEffect">
                                  <p:stCondLst>
                                    <p:cond delay="0"/>
                                  </p:stCondLst>
                                  <p:childTnLst>
                                    <p:animClr clrSpc="rgb" dir="cw">
                                      <p:cBhvr>
                                        <p:cTn id="171" dur="2000" fill="hold"/>
                                        <p:tgtEl>
                                          <p:spTgt spid="86468"/>
                                        </p:tgtEl>
                                        <p:attrNameLst>
                                          <p:attrName>fillcolor</p:attrName>
                                        </p:attrNameLst>
                                      </p:cBhvr>
                                      <p:to>
                                        <a:srgbClr val="FF0000"/>
                                      </p:to>
                                    </p:animClr>
                                    <p:set>
                                      <p:cBhvr>
                                        <p:cTn id="172" dur="2000" fill="hold"/>
                                        <p:tgtEl>
                                          <p:spTgt spid="86468"/>
                                        </p:tgtEl>
                                        <p:attrNameLst>
                                          <p:attrName>fill.type</p:attrName>
                                        </p:attrNameLst>
                                      </p:cBhvr>
                                      <p:to>
                                        <p:strVal val="solid"/>
                                      </p:to>
                                    </p:set>
                                    <p:set>
                                      <p:cBhvr>
                                        <p:cTn id="173" dur="2000" fill="hold"/>
                                        <p:tgtEl>
                                          <p:spTgt spid="86468"/>
                                        </p:tgtEl>
                                        <p:attrNameLst>
                                          <p:attrName>fill.on</p:attrName>
                                        </p:attrNameLst>
                                      </p:cBhvr>
                                      <p:to>
                                        <p:strVal val="true"/>
                                      </p:to>
                                    </p:set>
                                  </p:childTnLst>
                                </p:cTn>
                              </p:par>
                            </p:childTnLst>
                          </p:cTn>
                        </p:par>
                      </p:childTnLst>
                    </p:cTn>
                  </p:par>
                  <p:par>
                    <p:cTn id="174" fill="hold">
                      <p:stCondLst>
                        <p:cond delay="indefinite"/>
                      </p:stCondLst>
                      <p:childTnLst>
                        <p:par>
                          <p:cTn id="175" fill="hold">
                            <p:stCondLst>
                              <p:cond delay="0"/>
                            </p:stCondLst>
                            <p:childTnLst>
                              <p:par>
                                <p:cTn id="176" presetID="27" presetClass="entr" presetSubtype="0" fill="hold" grpId="0" nodeType="clickEffect">
                                  <p:stCondLst>
                                    <p:cond delay="0"/>
                                  </p:stCondLst>
                                  <p:iterate type="lt">
                                    <p:tmPct val="50000"/>
                                  </p:iterate>
                                  <p:childTnLst>
                                    <p:set>
                                      <p:cBhvr>
                                        <p:cTn id="177" dur="1" fill="hold">
                                          <p:stCondLst>
                                            <p:cond delay="0"/>
                                          </p:stCondLst>
                                        </p:cTn>
                                        <p:tgtEl>
                                          <p:spTgt spid="86137"/>
                                        </p:tgtEl>
                                        <p:attrNameLst>
                                          <p:attrName>style.visibility</p:attrName>
                                        </p:attrNameLst>
                                      </p:cBhvr>
                                      <p:to>
                                        <p:strVal val="visible"/>
                                      </p:to>
                                    </p:set>
                                    <p:anim calcmode="discrete" valueType="clr">
                                      <p:cBhvr override="childStyle">
                                        <p:cTn id="178" dur="80"/>
                                        <p:tgtEl>
                                          <p:spTgt spid="86137"/>
                                        </p:tgtEl>
                                        <p:attrNameLst>
                                          <p:attrName>style.color</p:attrName>
                                        </p:attrNameLst>
                                      </p:cBhvr>
                                      <p:tavLst>
                                        <p:tav tm="0">
                                          <p:val>
                                            <p:clrVal>
                                              <a:schemeClr val="accent2"/>
                                            </p:clrVal>
                                          </p:val>
                                        </p:tav>
                                        <p:tav tm="50000">
                                          <p:val>
                                            <p:clrVal>
                                              <a:schemeClr val="hlink"/>
                                            </p:clrVal>
                                          </p:val>
                                        </p:tav>
                                      </p:tavLst>
                                    </p:anim>
                                    <p:anim calcmode="discrete" valueType="clr">
                                      <p:cBhvr>
                                        <p:cTn id="179" dur="80"/>
                                        <p:tgtEl>
                                          <p:spTgt spid="86137"/>
                                        </p:tgtEl>
                                        <p:attrNameLst>
                                          <p:attrName>fillcolor</p:attrName>
                                        </p:attrNameLst>
                                      </p:cBhvr>
                                      <p:tavLst>
                                        <p:tav tm="0">
                                          <p:val>
                                            <p:clrVal>
                                              <a:schemeClr val="accent2"/>
                                            </p:clrVal>
                                          </p:val>
                                        </p:tav>
                                        <p:tav tm="50000">
                                          <p:val>
                                            <p:clrVal>
                                              <a:schemeClr val="hlink"/>
                                            </p:clrVal>
                                          </p:val>
                                        </p:tav>
                                      </p:tavLst>
                                    </p:anim>
                                    <p:set>
                                      <p:cBhvr>
                                        <p:cTn id="180" dur="80"/>
                                        <p:tgtEl>
                                          <p:spTgt spid="86137"/>
                                        </p:tgtEl>
                                        <p:attrNameLst>
                                          <p:attrName>fill.type</p:attrName>
                                        </p:attrNameLst>
                                      </p:cBhvr>
                                      <p:to>
                                        <p:strVal val="solid"/>
                                      </p:to>
                                    </p:set>
                                  </p:childTnLst>
                                </p:cTn>
                              </p:par>
                            </p:childTnLst>
                          </p:cTn>
                        </p:par>
                      </p:childTnLst>
                    </p:cTn>
                  </p:par>
                  <p:par>
                    <p:cTn id="181" fill="hold">
                      <p:stCondLst>
                        <p:cond delay="indefinite"/>
                      </p:stCondLst>
                      <p:childTnLst>
                        <p:par>
                          <p:cTn id="182" fill="hold">
                            <p:stCondLst>
                              <p:cond delay="0"/>
                            </p:stCondLst>
                            <p:childTnLst>
                              <p:par>
                                <p:cTn id="183" presetID="22" presetClass="entr" presetSubtype="1" fill="hold" nodeType="clickEffect">
                                  <p:stCondLst>
                                    <p:cond delay="0"/>
                                  </p:stCondLst>
                                  <p:childTnLst>
                                    <p:set>
                                      <p:cBhvr>
                                        <p:cTn id="184" dur="1" fill="hold">
                                          <p:stCondLst>
                                            <p:cond delay="0"/>
                                          </p:stCondLst>
                                        </p:cTn>
                                        <p:tgtEl>
                                          <p:spTgt spid="86469"/>
                                        </p:tgtEl>
                                        <p:attrNameLst>
                                          <p:attrName>style.visibility</p:attrName>
                                        </p:attrNameLst>
                                      </p:cBhvr>
                                      <p:to>
                                        <p:strVal val="visible"/>
                                      </p:to>
                                    </p:set>
                                    <p:animEffect transition="in" filter="wipe(up)">
                                      <p:cBhvr>
                                        <p:cTn id="185" dur="500"/>
                                        <p:tgtEl>
                                          <p:spTgt spid="86469"/>
                                        </p:tgtEl>
                                      </p:cBhvr>
                                    </p:animEffect>
                                  </p:childTnLst>
                                </p:cTn>
                              </p:par>
                              <p:par>
                                <p:cTn id="186" presetID="22" presetClass="entr" presetSubtype="1" fill="hold" grpId="0" nodeType="withEffect">
                                  <p:stCondLst>
                                    <p:cond delay="0"/>
                                  </p:stCondLst>
                                  <p:childTnLst>
                                    <p:set>
                                      <p:cBhvr>
                                        <p:cTn id="187" dur="1" fill="hold">
                                          <p:stCondLst>
                                            <p:cond delay="0"/>
                                          </p:stCondLst>
                                        </p:cTn>
                                        <p:tgtEl>
                                          <p:spTgt spid="86470"/>
                                        </p:tgtEl>
                                        <p:attrNameLst>
                                          <p:attrName>style.visibility</p:attrName>
                                        </p:attrNameLst>
                                      </p:cBhvr>
                                      <p:to>
                                        <p:strVal val="visible"/>
                                      </p:to>
                                    </p:set>
                                    <p:animEffect transition="in" filter="wipe(up)">
                                      <p:cBhvr>
                                        <p:cTn id="188" dur="500"/>
                                        <p:tgtEl>
                                          <p:spTgt spid="86470"/>
                                        </p:tgtEl>
                                      </p:cBhvr>
                                    </p:animEffect>
                                  </p:childTnLst>
                                </p:cTn>
                              </p:par>
                            </p:childTnLst>
                          </p:cTn>
                        </p:par>
                      </p:childTnLst>
                    </p:cTn>
                  </p:par>
                  <p:par>
                    <p:cTn id="189" fill="hold">
                      <p:stCondLst>
                        <p:cond delay="indefinite"/>
                      </p:stCondLst>
                      <p:childTnLst>
                        <p:par>
                          <p:cTn id="190" fill="hold">
                            <p:stCondLst>
                              <p:cond delay="0"/>
                            </p:stCondLst>
                            <p:childTnLst>
                              <p:par>
                                <p:cTn id="191" presetID="35" presetClass="emph" presetSubtype="0" fill="hold" grpId="1" nodeType="clickEffect">
                                  <p:stCondLst>
                                    <p:cond delay="0"/>
                                  </p:stCondLst>
                                  <p:iterate type="lt">
                                    <p:tmAbs val="0"/>
                                  </p:iterate>
                                  <p:childTnLst>
                                    <p:anim calcmode="discrete" valueType="str">
                                      <p:cBhvr>
                                        <p:cTn id="192" dur="1000" fill="hold"/>
                                        <p:tgtEl>
                                          <p:spTgt spid="86137"/>
                                        </p:tgtEl>
                                        <p:attrNameLst>
                                          <p:attrName>style.visibility</p:attrName>
                                        </p:attrNameLst>
                                      </p:cBhvr>
                                      <p:tavLst>
                                        <p:tav tm="0">
                                          <p:val>
                                            <p:strVal val="hidden"/>
                                          </p:val>
                                        </p:tav>
                                        <p:tav tm="50000">
                                          <p:val>
                                            <p:strVal val="visible"/>
                                          </p:val>
                                        </p:tav>
                                      </p:tavLst>
                                    </p:anim>
                                  </p:childTnLst>
                                </p:cTn>
                              </p:par>
                              <p:par>
                                <p:cTn id="193" presetID="35" presetClass="emph" presetSubtype="0" fill="hold" grpId="3" nodeType="withEffect">
                                  <p:stCondLst>
                                    <p:cond delay="0"/>
                                  </p:stCondLst>
                                  <p:iterate type="lt">
                                    <p:tmAbs val="0"/>
                                  </p:iterate>
                                  <p:childTnLst>
                                    <p:anim calcmode="discrete" valueType="str">
                                      <p:cBhvr>
                                        <p:cTn id="194" dur="1000" fill="hold"/>
                                        <p:tgtEl>
                                          <p:spTgt spid="86133"/>
                                        </p:tgtEl>
                                        <p:attrNameLst>
                                          <p:attrName>style.visibility</p:attrName>
                                        </p:attrNameLst>
                                      </p:cBhvr>
                                      <p:tavLst>
                                        <p:tav tm="0">
                                          <p:val>
                                            <p:strVal val="hidden"/>
                                          </p:val>
                                        </p:tav>
                                        <p:tav tm="50000">
                                          <p:val>
                                            <p:strVal val="visible"/>
                                          </p:val>
                                        </p:tav>
                                      </p:tavLst>
                                    </p:anim>
                                  </p:childTnLst>
                                </p:cTn>
                              </p:par>
                            </p:childTnLst>
                          </p:cTn>
                        </p:par>
                      </p:childTnLst>
                    </p:cTn>
                  </p:par>
                  <p:par>
                    <p:cTn id="195" fill="hold">
                      <p:stCondLst>
                        <p:cond delay="indefinite"/>
                      </p:stCondLst>
                      <p:childTnLst>
                        <p:par>
                          <p:cTn id="196" fill="hold">
                            <p:stCondLst>
                              <p:cond delay="0"/>
                            </p:stCondLst>
                            <p:childTnLst>
                              <p:par>
                                <p:cTn id="197" presetID="1" presetClass="emph" presetSubtype="2" fill="hold" nodeType="clickEffect">
                                  <p:stCondLst>
                                    <p:cond delay="0"/>
                                  </p:stCondLst>
                                  <p:childTnLst>
                                    <p:animClr clrSpc="rgb" dir="cw">
                                      <p:cBhvr>
                                        <p:cTn id="198" dur="2000" fill="hold"/>
                                        <p:tgtEl>
                                          <p:spTgt spid="86470"/>
                                        </p:tgtEl>
                                        <p:attrNameLst>
                                          <p:attrName>fillcolor</p:attrName>
                                        </p:attrNameLst>
                                      </p:cBhvr>
                                      <p:to>
                                        <a:srgbClr val="FF0000"/>
                                      </p:to>
                                    </p:animClr>
                                    <p:set>
                                      <p:cBhvr>
                                        <p:cTn id="199" dur="2000" fill="hold"/>
                                        <p:tgtEl>
                                          <p:spTgt spid="86470"/>
                                        </p:tgtEl>
                                        <p:attrNameLst>
                                          <p:attrName>fill.type</p:attrName>
                                        </p:attrNameLst>
                                      </p:cBhvr>
                                      <p:to>
                                        <p:strVal val="solid"/>
                                      </p:to>
                                    </p:set>
                                    <p:set>
                                      <p:cBhvr>
                                        <p:cTn id="200" dur="2000" fill="hold"/>
                                        <p:tgtEl>
                                          <p:spTgt spid="86470"/>
                                        </p:tgtEl>
                                        <p:attrNameLst>
                                          <p:attrName>fill.on</p:attrName>
                                        </p:attrNameLst>
                                      </p:cBhvr>
                                      <p:to>
                                        <p:strVal val="true"/>
                                      </p:to>
                                    </p:set>
                                  </p:childTnLst>
                                </p:cTn>
                              </p:par>
                            </p:childTnLst>
                          </p:cTn>
                        </p:par>
                      </p:childTnLst>
                    </p:cTn>
                  </p:par>
                  <p:par>
                    <p:cTn id="201" fill="hold">
                      <p:stCondLst>
                        <p:cond delay="indefinite"/>
                      </p:stCondLst>
                      <p:childTnLst>
                        <p:par>
                          <p:cTn id="202" fill="hold">
                            <p:stCondLst>
                              <p:cond delay="0"/>
                            </p:stCondLst>
                            <p:childTnLst>
                              <p:par>
                                <p:cTn id="203" presetID="3" presetClass="entr" presetSubtype="10" fill="hold" nodeType="clickEffect">
                                  <p:stCondLst>
                                    <p:cond delay="0"/>
                                  </p:stCondLst>
                                  <p:childTnLst>
                                    <p:set>
                                      <p:cBhvr>
                                        <p:cTn id="204" dur="1" fill="hold">
                                          <p:stCondLst>
                                            <p:cond delay="0"/>
                                          </p:stCondLst>
                                        </p:cTn>
                                        <p:tgtEl>
                                          <p:spTgt spid="86049"/>
                                        </p:tgtEl>
                                        <p:attrNameLst>
                                          <p:attrName>style.visibility</p:attrName>
                                        </p:attrNameLst>
                                      </p:cBhvr>
                                      <p:to>
                                        <p:strVal val="visible"/>
                                      </p:to>
                                    </p:set>
                                    <p:animEffect transition="in" filter="blinds(horizontal)">
                                      <p:cBhvr>
                                        <p:cTn id="205" dur="500"/>
                                        <p:tgtEl>
                                          <p:spTgt spid="86049"/>
                                        </p:tgtEl>
                                      </p:cBhvr>
                                    </p:animEffect>
                                  </p:childTnLst>
                                </p:cTn>
                              </p:par>
                              <p:par>
                                <p:cTn id="206" presetID="3" presetClass="entr" presetSubtype="10" fill="hold" grpId="0" nodeType="withEffect">
                                  <p:stCondLst>
                                    <p:cond delay="0"/>
                                  </p:stCondLst>
                                  <p:childTnLst>
                                    <p:set>
                                      <p:cBhvr>
                                        <p:cTn id="207" dur="1" fill="hold">
                                          <p:stCondLst>
                                            <p:cond delay="0"/>
                                          </p:stCondLst>
                                        </p:cTn>
                                        <p:tgtEl>
                                          <p:spTgt spid="86138"/>
                                        </p:tgtEl>
                                        <p:attrNameLst>
                                          <p:attrName>style.visibility</p:attrName>
                                        </p:attrNameLst>
                                      </p:cBhvr>
                                      <p:to>
                                        <p:strVal val="visible"/>
                                      </p:to>
                                    </p:set>
                                    <p:animEffect transition="in" filter="blinds(horizontal)">
                                      <p:cBhvr>
                                        <p:cTn id="208" dur="500"/>
                                        <p:tgtEl>
                                          <p:spTgt spid="86138"/>
                                        </p:tgtEl>
                                      </p:cBhvr>
                                    </p:animEffect>
                                  </p:childTnLst>
                                </p:cTn>
                              </p:par>
                            </p:childTnLst>
                          </p:cTn>
                        </p:par>
                      </p:childTnLst>
                    </p:cTn>
                  </p:par>
                  <p:par>
                    <p:cTn id="209" fill="hold">
                      <p:stCondLst>
                        <p:cond delay="indefinite"/>
                      </p:stCondLst>
                      <p:childTnLst>
                        <p:par>
                          <p:cTn id="210" fill="hold">
                            <p:stCondLst>
                              <p:cond delay="0"/>
                            </p:stCondLst>
                            <p:childTnLst>
                              <p:par>
                                <p:cTn id="211" presetID="27" presetClass="entr" presetSubtype="0" fill="hold" grpId="0" nodeType="clickEffect">
                                  <p:stCondLst>
                                    <p:cond delay="0"/>
                                  </p:stCondLst>
                                  <p:iterate type="lt">
                                    <p:tmPct val="50000"/>
                                  </p:iterate>
                                  <p:childTnLst>
                                    <p:set>
                                      <p:cBhvr>
                                        <p:cTn id="212" dur="1" fill="hold">
                                          <p:stCondLst>
                                            <p:cond delay="0"/>
                                          </p:stCondLst>
                                        </p:cTn>
                                        <p:tgtEl>
                                          <p:spTgt spid="86139"/>
                                        </p:tgtEl>
                                        <p:attrNameLst>
                                          <p:attrName>style.visibility</p:attrName>
                                        </p:attrNameLst>
                                      </p:cBhvr>
                                      <p:to>
                                        <p:strVal val="visible"/>
                                      </p:to>
                                    </p:set>
                                    <p:anim calcmode="discrete" valueType="clr">
                                      <p:cBhvr override="childStyle">
                                        <p:cTn id="213" dur="80"/>
                                        <p:tgtEl>
                                          <p:spTgt spid="86139"/>
                                        </p:tgtEl>
                                        <p:attrNameLst>
                                          <p:attrName>style.color</p:attrName>
                                        </p:attrNameLst>
                                      </p:cBhvr>
                                      <p:tavLst>
                                        <p:tav tm="0">
                                          <p:val>
                                            <p:clrVal>
                                              <a:schemeClr val="accent2"/>
                                            </p:clrVal>
                                          </p:val>
                                        </p:tav>
                                        <p:tav tm="50000">
                                          <p:val>
                                            <p:clrVal>
                                              <a:schemeClr val="hlink"/>
                                            </p:clrVal>
                                          </p:val>
                                        </p:tav>
                                      </p:tavLst>
                                    </p:anim>
                                    <p:anim calcmode="discrete" valueType="clr">
                                      <p:cBhvr>
                                        <p:cTn id="214" dur="80"/>
                                        <p:tgtEl>
                                          <p:spTgt spid="86139"/>
                                        </p:tgtEl>
                                        <p:attrNameLst>
                                          <p:attrName>fillcolor</p:attrName>
                                        </p:attrNameLst>
                                      </p:cBhvr>
                                      <p:tavLst>
                                        <p:tav tm="0">
                                          <p:val>
                                            <p:clrVal>
                                              <a:schemeClr val="accent2"/>
                                            </p:clrVal>
                                          </p:val>
                                        </p:tav>
                                        <p:tav tm="50000">
                                          <p:val>
                                            <p:clrVal>
                                              <a:schemeClr val="hlink"/>
                                            </p:clrVal>
                                          </p:val>
                                        </p:tav>
                                      </p:tavLst>
                                    </p:anim>
                                    <p:set>
                                      <p:cBhvr>
                                        <p:cTn id="215" dur="80"/>
                                        <p:tgtEl>
                                          <p:spTgt spid="86139"/>
                                        </p:tgtEl>
                                        <p:attrNameLst>
                                          <p:attrName>fill.type</p:attrName>
                                        </p:attrNameLst>
                                      </p:cBhvr>
                                      <p:to>
                                        <p:strVal val="solid"/>
                                      </p:to>
                                    </p:set>
                                  </p:childTnLst>
                                </p:cTn>
                              </p:par>
                            </p:childTnLst>
                          </p:cTn>
                        </p:par>
                      </p:childTnLst>
                    </p:cTn>
                  </p:par>
                  <p:par>
                    <p:cTn id="216" fill="hold">
                      <p:stCondLst>
                        <p:cond delay="indefinite"/>
                      </p:stCondLst>
                      <p:childTnLst>
                        <p:par>
                          <p:cTn id="217" fill="hold">
                            <p:stCondLst>
                              <p:cond delay="0"/>
                            </p:stCondLst>
                            <p:childTnLst>
                              <p:par>
                                <p:cTn id="218" presetID="22" presetClass="entr" presetSubtype="1" fill="hold" nodeType="clickEffect">
                                  <p:stCondLst>
                                    <p:cond delay="0"/>
                                  </p:stCondLst>
                                  <p:childTnLst>
                                    <p:set>
                                      <p:cBhvr>
                                        <p:cTn id="219" dur="1" fill="hold">
                                          <p:stCondLst>
                                            <p:cond delay="0"/>
                                          </p:stCondLst>
                                        </p:cTn>
                                        <p:tgtEl>
                                          <p:spTgt spid="86471"/>
                                        </p:tgtEl>
                                        <p:attrNameLst>
                                          <p:attrName>style.visibility</p:attrName>
                                        </p:attrNameLst>
                                      </p:cBhvr>
                                      <p:to>
                                        <p:strVal val="visible"/>
                                      </p:to>
                                    </p:set>
                                    <p:animEffect transition="in" filter="wipe(up)">
                                      <p:cBhvr>
                                        <p:cTn id="220" dur="500"/>
                                        <p:tgtEl>
                                          <p:spTgt spid="86471"/>
                                        </p:tgtEl>
                                      </p:cBhvr>
                                    </p:animEffect>
                                  </p:childTnLst>
                                </p:cTn>
                              </p:par>
                              <p:par>
                                <p:cTn id="221" presetID="22" presetClass="entr" presetSubtype="1" fill="hold" grpId="0" nodeType="withEffect">
                                  <p:stCondLst>
                                    <p:cond delay="0"/>
                                  </p:stCondLst>
                                  <p:childTnLst>
                                    <p:set>
                                      <p:cBhvr>
                                        <p:cTn id="222" dur="1" fill="hold">
                                          <p:stCondLst>
                                            <p:cond delay="0"/>
                                          </p:stCondLst>
                                        </p:cTn>
                                        <p:tgtEl>
                                          <p:spTgt spid="86472"/>
                                        </p:tgtEl>
                                        <p:attrNameLst>
                                          <p:attrName>style.visibility</p:attrName>
                                        </p:attrNameLst>
                                      </p:cBhvr>
                                      <p:to>
                                        <p:strVal val="visible"/>
                                      </p:to>
                                    </p:set>
                                    <p:animEffect transition="in" filter="wipe(up)">
                                      <p:cBhvr>
                                        <p:cTn id="223" dur="500"/>
                                        <p:tgtEl>
                                          <p:spTgt spid="86472"/>
                                        </p:tgtEl>
                                      </p:cBhvr>
                                    </p:animEffect>
                                  </p:childTnLst>
                                </p:cTn>
                              </p:par>
                            </p:childTnLst>
                          </p:cTn>
                        </p:par>
                      </p:childTnLst>
                    </p:cTn>
                  </p:par>
                  <p:par>
                    <p:cTn id="224" fill="hold">
                      <p:stCondLst>
                        <p:cond delay="indefinite"/>
                      </p:stCondLst>
                      <p:childTnLst>
                        <p:par>
                          <p:cTn id="225" fill="hold">
                            <p:stCondLst>
                              <p:cond delay="0"/>
                            </p:stCondLst>
                            <p:childTnLst>
                              <p:par>
                                <p:cTn id="226" presetID="27" presetClass="entr" presetSubtype="0" fill="hold" grpId="0" nodeType="clickEffect">
                                  <p:stCondLst>
                                    <p:cond delay="0"/>
                                  </p:stCondLst>
                                  <p:iterate type="lt">
                                    <p:tmPct val="50000"/>
                                  </p:iterate>
                                  <p:childTnLst>
                                    <p:set>
                                      <p:cBhvr>
                                        <p:cTn id="227" dur="1" fill="hold">
                                          <p:stCondLst>
                                            <p:cond delay="0"/>
                                          </p:stCondLst>
                                        </p:cTn>
                                        <p:tgtEl>
                                          <p:spTgt spid="86140"/>
                                        </p:tgtEl>
                                        <p:attrNameLst>
                                          <p:attrName>style.visibility</p:attrName>
                                        </p:attrNameLst>
                                      </p:cBhvr>
                                      <p:to>
                                        <p:strVal val="visible"/>
                                      </p:to>
                                    </p:set>
                                    <p:anim calcmode="discrete" valueType="clr">
                                      <p:cBhvr override="childStyle">
                                        <p:cTn id="228" dur="80"/>
                                        <p:tgtEl>
                                          <p:spTgt spid="86140"/>
                                        </p:tgtEl>
                                        <p:attrNameLst>
                                          <p:attrName>style.color</p:attrName>
                                        </p:attrNameLst>
                                      </p:cBhvr>
                                      <p:tavLst>
                                        <p:tav tm="0">
                                          <p:val>
                                            <p:clrVal>
                                              <a:schemeClr val="accent2"/>
                                            </p:clrVal>
                                          </p:val>
                                        </p:tav>
                                        <p:tav tm="50000">
                                          <p:val>
                                            <p:clrVal>
                                              <a:schemeClr val="hlink"/>
                                            </p:clrVal>
                                          </p:val>
                                        </p:tav>
                                      </p:tavLst>
                                    </p:anim>
                                    <p:anim calcmode="discrete" valueType="clr">
                                      <p:cBhvr>
                                        <p:cTn id="229" dur="80"/>
                                        <p:tgtEl>
                                          <p:spTgt spid="86140"/>
                                        </p:tgtEl>
                                        <p:attrNameLst>
                                          <p:attrName>fillcolor</p:attrName>
                                        </p:attrNameLst>
                                      </p:cBhvr>
                                      <p:tavLst>
                                        <p:tav tm="0">
                                          <p:val>
                                            <p:clrVal>
                                              <a:schemeClr val="accent2"/>
                                            </p:clrVal>
                                          </p:val>
                                        </p:tav>
                                        <p:tav tm="50000">
                                          <p:val>
                                            <p:clrVal>
                                              <a:schemeClr val="hlink"/>
                                            </p:clrVal>
                                          </p:val>
                                        </p:tav>
                                      </p:tavLst>
                                    </p:anim>
                                    <p:set>
                                      <p:cBhvr>
                                        <p:cTn id="230" dur="80"/>
                                        <p:tgtEl>
                                          <p:spTgt spid="86140"/>
                                        </p:tgtEl>
                                        <p:attrNameLst>
                                          <p:attrName>fill.type</p:attrName>
                                        </p:attrNameLst>
                                      </p:cBhvr>
                                      <p:to>
                                        <p:strVal val="solid"/>
                                      </p:to>
                                    </p:set>
                                  </p:childTnLst>
                                </p:cTn>
                              </p:par>
                            </p:childTnLst>
                          </p:cTn>
                        </p:par>
                      </p:childTnLst>
                    </p:cTn>
                  </p:par>
                  <p:par>
                    <p:cTn id="231" fill="hold">
                      <p:stCondLst>
                        <p:cond delay="indefinite"/>
                      </p:stCondLst>
                      <p:childTnLst>
                        <p:par>
                          <p:cTn id="232" fill="hold">
                            <p:stCondLst>
                              <p:cond delay="0"/>
                            </p:stCondLst>
                            <p:childTnLst>
                              <p:par>
                                <p:cTn id="233" presetID="22" presetClass="entr" presetSubtype="1" fill="hold" nodeType="clickEffect">
                                  <p:stCondLst>
                                    <p:cond delay="0"/>
                                  </p:stCondLst>
                                  <p:childTnLst>
                                    <p:set>
                                      <p:cBhvr>
                                        <p:cTn id="234" dur="1" fill="hold">
                                          <p:stCondLst>
                                            <p:cond delay="0"/>
                                          </p:stCondLst>
                                        </p:cTn>
                                        <p:tgtEl>
                                          <p:spTgt spid="86473"/>
                                        </p:tgtEl>
                                        <p:attrNameLst>
                                          <p:attrName>style.visibility</p:attrName>
                                        </p:attrNameLst>
                                      </p:cBhvr>
                                      <p:to>
                                        <p:strVal val="visible"/>
                                      </p:to>
                                    </p:set>
                                    <p:animEffect transition="in" filter="wipe(up)">
                                      <p:cBhvr>
                                        <p:cTn id="235" dur="500"/>
                                        <p:tgtEl>
                                          <p:spTgt spid="86473"/>
                                        </p:tgtEl>
                                      </p:cBhvr>
                                    </p:animEffect>
                                  </p:childTnLst>
                                </p:cTn>
                              </p:par>
                              <p:par>
                                <p:cTn id="236" presetID="22" presetClass="entr" presetSubtype="1" fill="hold" grpId="0" nodeType="withEffect">
                                  <p:stCondLst>
                                    <p:cond delay="0"/>
                                  </p:stCondLst>
                                  <p:childTnLst>
                                    <p:set>
                                      <p:cBhvr>
                                        <p:cTn id="237" dur="1" fill="hold">
                                          <p:stCondLst>
                                            <p:cond delay="0"/>
                                          </p:stCondLst>
                                        </p:cTn>
                                        <p:tgtEl>
                                          <p:spTgt spid="86474"/>
                                        </p:tgtEl>
                                        <p:attrNameLst>
                                          <p:attrName>style.visibility</p:attrName>
                                        </p:attrNameLst>
                                      </p:cBhvr>
                                      <p:to>
                                        <p:strVal val="visible"/>
                                      </p:to>
                                    </p:set>
                                    <p:animEffect transition="in" filter="wipe(up)">
                                      <p:cBhvr>
                                        <p:cTn id="238" dur="500"/>
                                        <p:tgtEl>
                                          <p:spTgt spid="86474"/>
                                        </p:tgtEl>
                                      </p:cBhvr>
                                    </p:animEffect>
                                  </p:childTnLst>
                                </p:cTn>
                              </p:par>
                            </p:childTnLst>
                          </p:cTn>
                        </p:par>
                      </p:childTnLst>
                    </p:cTn>
                  </p:par>
                  <p:par>
                    <p:cTn id="239" fill="hold">
                      <p:stCondLst>
                        <p:cond delay="indefinite"/>
                      </p:stCondLst>
                      <p:childTnLst>
                        <p:par>
                          <p:cTn id="240" fill="hold">
                            <p:stCondLst>
                              <p:cond delay="0"/>
                            </p:stCondLst>
                            <p:childTnLst>
                              <p:par>
                                <p:cTn id="241" presetID="35" presetClass="emph" presetSubtype="0" fill="hold" grpId="1" nodeType="clickEffect">
                                  <p:stCondLst>
                                    <p:cond delay="0"/>
                                  </p:stCondLst>
                                  <p:iterate type="lt">
                                    <p:tmAbs val="0"/>
                                  </p:iterate>
                                  <p:childTnLst>
                                    <p:anim calcmode="discrete" valueType="str">
                                      <p:cBhvr>
                                        <p:cTn id="242" dur="1000" fill="hold"/>
                                        <p:tgtEl>
                                          <p:spTgt spid="86140"/>
                                        </p:tgtEl>
                                        <p:attrNameLst>
                                          <p:attrName>style.visibility</p:attrName>
                                        </p:attrNameLst>
                                      </p:cBhvr>
                                      <p:tavLst>
                                        <p:tav tm="0">
                                          <p:val>
                                            <p:strVal val="hidden"/>
                                          </p:val>
                                        </p:tav>
                                        <p:tav tm="50000">
                                          <p:val>
                                            <p:strVal val="visible"/>
                                          </p:val>
                                        </p:tav>
                                      </p:tavLst>
                                    </p:anim>
                                  </p:childTnLst>
                                </p:cTn>
                              </p:par>
                              <p:par>
                                <p:cTn id="243" presetID="35" presetClass="emph" presetSubtype="0" fill="hold" grpId="1" nodeType="withEffect">
                                  <p:stCondLst>
                                    <p:cond delay="0"/>
                                  </p:stCondLst>
                                  <p:childTnLst>
                                    <p:anim calcmode="discrete" valueType="str">
                                      <p:cBhvr>
                                        <p:cTn id="244" dur="1000" fill="hold"/>
                                        <p:tgtEl>
                                          <p:spTgt spid="86138"/>
                                        </p:tgtEl>
                                        <p:attrNameLst>
                                          <p:attrName>style.visibility</p:attrName>
                                        </p:attrNameLst>
                                      </p:cBhvr>
                                      <p:tavLst>
                                        <p:tav tm="0">
                                          <p:val>
                                            <p:strVal val="hidden"/>
                                          </p:val>
                                        </p:tav>
                                        <p:tav tm="50000">
                                          <p:val>
                                            <p:strVal val="visible"/>
                                          </p:val>
                                        </p:tav>
                                      </p:tavLst>
                                    </p:anim>
                                  </p:childTnLst>
                                </p:cTn>
                              </p:par>
                            </p:childTnLst>
                          </p:cTn>
                        </p:par>
                      </p:childTnLst>
                    </p:cTn>
                  </p:par>
                  <p:par>
                    <p:cTn id="245" fill="hold">
                      <p:stCondLst>
                        <p:cond delay="indefinite"/>
                      </p:stCondLst>
                      <p:childTnLst>
                        <p:par>
                          <p:cTn id="246" fill="hold">
                            <p:stCondLst>
                              <p:cond delay="0"/>
                            </p:stCondLst>
                            <p:childTnLst>
                              <p:par>
                                <p:cTn id="247" presetID="1" presetClass="emph" presetSubtype="2" fill="hold" nodeType="clickEffect">
                                  <p:stCondLst>
                                    <p:cond delay="0"/>
                                  </p:stCondLst>
                                  <p:childTnLst>
                                    <p:animClr clrSpc="rgb" dir="cw">
                                      <p:cBhvr>
                                        <p:cTn id="248" dur="2000" fill="hold"/>
                                        <p:tgtEl>
                                          <p:spTgt spid="86474"/>
                                        </p:tgtEl>
                                        <p:attrNameLst>
                                          <p:attrName>fillcolor</p:attrName>
                                        </p:attrNameLst>
                                      </p:cBhvr>
                                      <p:to>
                                        <a:srgbClr val="FF0000"/>
                                      </p:to>
                                    </p:animClr>
                                    <p:set>
                                      <p:cBhvr>
                                        <p:cTn id="249" dur="2000" fill="hold"/>
                                        <p:tgtEl>
                                          <p:spTgt spid="86474"/>
                                        </p:tgtEl>
                                        <p:attrNameLst>
                                          <p:attrName>fill.type</p:attrName>
                                        </p:attrNameLst>
                                      </p:cBhvr>
                                      <p:to>
                                        <p:strVal val="solid"/>
                                      </p:to>
                                    </p:set>
                                    <p:set>
                                      <p:cBhvr>
                                        <p:cTn id="250" dur="2000" fill="hold"/>
                                        <p:tgtEl>
                                          <p:spTgt spid="86474"/>
                                        </p:tgtEl>
                                        <p:attrNameLst>
                                          <p:attrName>fill.on</p:attrName>
                                        </p:attrNameLst>
                                      </p:cBhvr>
                                      <p:to>
                                        <p:strVal val="true"/>
                                      </p:to>
                                    </p:set>
                                  </p:childTnLst>
                                </p:cTn>
                              </p:par>
                            </p:childTnLst>
                          </p:cTn>
                        </p:par>
                      </p:childTnLst>
                    </p:cTn>
                  </p:par>
                  <p:par>
                    <p:cTn id="251" fill="hold">
                      <p:stCondLst>
                        <p:cond delay="indefinite"/>
                      </p:stCondLst>
                      <p:childTnLst>
                        <p:par>
                          <p:cTn id="252" fill="hold">
                            <p:stCondLst>
                              <p:cond delay="0"/>
                            </p:stCondLst>
                            <p:childTnLst>
                              <p:par>
                                <p:cTn id="253" presetID="27" presetClass="entr" presetSubtype="0" fill="hold" grpId="0" nodeType="clickEffect">
                                  <p:stCondLst>
                                    <p:cond delay="0"/>
                                  </p:stCondLst>
                                  <p:iterate type="lt">
                                    <p:tmPct val="50000"/>
                                  </p:iterate>
                                  <p:childTnLst>
                                    <p:set>
                                      <p:cBhvr>
                                        <p:cTn id="254" dur="1" fill="hold">
                                          <p:stCondLst>
                                            <p:cond delay="0"/>
                                          </p:stCondLst>
                                        </p:cTn>
                                        <p:tgtEl>
                                          <p:spTgt spid="86141"/>
                                        </p:tgtEl>
                                        <p:attrNameLst>
                                          <p:attrName>style.visibility</p:attrName>
                                        </p:attrNameLst>
                                      </p:cBhvr>
                                      <p:to>
                                        <p:strVal val="visible"/>
                                      </p:to>
                                    </p:set>
                                    <p:anim calcmode="discrete" valueType="clr">
                                      <p:cBhvr override="childStyle">
                                        <p:cTn id="255" dur="80"/>
                                        <p:tgtEl>
                                          <p:spTgt spid="86141"/>
                                        </p:tgtEl>
                                        <p:attrNameLst>
                                          <p:attrName>style.color</p:attrName>
                                        </p:attrNameLst>
                                      </p:cBhvr>
                                      <p:tavLst>
                                        <p:tav tm="0">
                                          <p:val>
                                            <p:clrVal>
                                              <a:schemeClr val="accent2"/>
                                            </p:clrVal>
                                          </p:val>
                                        </p:tav>
                                        <p:tav tm="50000">
                                          <p:val>
                                            <p:clrVal>
                                              <a:schemeClr val="hlink"/>
                                            </p:clrVal>
                                          </p:val>
                                        </p:tav>
                                      </p:tavLst>
                                    </p:anim>
                                    <p:anim calcmode="discrete" valueType="clr">
                                      <p:cBhvr>
                                        <p:cTn id="256" dur="80"/>
                                        <p:tgtEl>
                                          <p:spTgt spid="86141"/>
                                        </p:tgtEl>
                                        <p:attrNameLst>
                                          <p:attrName>fillcolor</p:attrName>
                                        </p:attrNameLst>
                                      </p:cBhvr>
                                      <p:tavLst>
                                        <p:tav tm="0">
                                          <p:val>
                                            <p:clrVal>
                                              <a:schemeClr val="accent2"/>
                                            </p:clrVal>
                                          </p:val>
                                        </p:tav>
                                        <p:tav tm="50000">
                                          <p:val>
                                            <p:clrVal>
                                              <a:schemeClr val="hlink"/>
                                            </p:clrVal>
                                          </p:val>
                                        </p:tav>
                                      </p:tavLst>
                                    </p:anim>
                                    <p:set>
                                      <p:cBhvr>
                                        <p:cTn id="257" dur="80"/>
                                        <p:tgtEl>
                                          <p:spTgt spid="86141"/>
                                        </p:tgtEl>
                                        <p:attrNameLst>
                                          <p:attrName>fill.type</p:attrName>
                                        </p:attrNameLst>
                                      </p:cBhvr>
                                      <p:to>
                                        <p:strVal val="solid"/>
                                      </p:to>
                                    </p:set>
                                  </p:childTnLst>
                                </p:cTn>
                              </p:par>
                            </p:childTnLst>
                          </p:cTn>
                        </p:par>
                      </p:childTnLst>
                    </p:cTn>
                  </p:par>
                  <p:par>
                    <p:cTn id="258" fill="hold">
                      <p:stCondLst>
                        <p:cond delay="indefinite"/>
                      </p:stCondLst>
                      <p:childTnLst>
                        <p:par>
                          <p:cTn id="259" fill="hold">
                            <p:stCondLst>
                              <p:cond delay="0"/>
                            </p:stCondLst>
                            <p:childTnLst>
                              <p:par>
                                <p:cTn id="260" presetID="22" presetClass="entr" presetSubtype="1" fill="hold" nodeType="clickEffect">
                                  <p:stCondLst>
                                    <p:cond delay="0"/>
                                  </p:stCondLst>
                                  <p:childTnLst>
                                    <p:set>
                                      <p:cBhvr>
                                        <p:cTn id="261" dur="1" fill="hold">
                                          <p:stCondLst>
                                            <p:cond delay="0"/>
                                          </p:stCondLst>
                                        </p:cTn>
                                        <p:tgtEl>
                                          <p:spTgt spid="86475"/>
                                        </p:tgtEl>
                                        <p:attrNameLst>
                                          <p:attrName>style.visibility</p:attrName>
                                        </p:attrNameLst>
                                      </p:cBhvr>
                                      <p:to>
                                        <p:strVal val="visible"/>
                                      </p:to>
                                    </p:set>
                                    <p:animEffect transition="in" filter="wipe(up)">
                                      <p:cBhvr>
                                        <p:cTn id="262" dur="500"/>
                                        <p:tgtEl>
                                          <p:spTgt spid="86475"/>
                                        </p:tgtEl>
                                      </p:cBhvr>
                                    </p:animEffect>
                                  </p:childTnLst>
                                </p:cTn>
                              </p:par>
                              <p:par>
                                <p:cTn id="263" presetID="22" presetClass="entr" presetSubtype="1" fill="hold" grpId="0" nodeType="withEffect">
                                  <p:stCondLst>
                                    <p:cond delay="0"/>
                                  </p:stCondLst>
                                  <p:childTnLst>
                                    <p:set>
                                      <p:cBhvr>
                                        <p:cTn id="264" dur="1" fill="hold">
                                          <p:stCondLst>
                                            <p:cond delay="0"/>
                                          </p:stCondLst>
                                        </p:cTn>
                                        <p:tgtEl>
                                          <p:spTgt spid="86476"/>
                                        </p:tgtEl>
                                        <p:attrNameLst>
                                          <p:attrName>style.visibility</p:attrName>
                                        </p:attrNameLst>
                                      </p:cBhvr>
                                      <p:to>
                                        <p:strVal val="visible"/>
                                      </p:to>
                                    </p:set>
                                    <p:animEffect transition="in" filter="wipe(up)">
                                      <p:cBhvr>
                                        <p:cTn id="265" dur="500"/>
                                        <p:tgtEl>
                                          <p:spTgt spid="86476"/>
                                        </p:tgtEl>
                                      </p:cBhvr>
                                    </p:animEffect>
                                  </p:childTnLst>
                                </p:cTn>
                              </p:par>
                            </p:childTnLst>
                          </p:cTn>
                        </p:par>
                      </p:childTnLst>
                    </p:cTn>
                  </p:par>
                  <p:par>
                    <p:cTn id="266" fill="hold">
                      <p:stCondLst>
                        <p:cond delay="indefinite"/>
                      </p:stCondLst>
                      <p:childTnLst>
                        <p:par>
                          <p:cTn id="267" fill="hold">
                            <p:stCondLst>
                              <p:cond delay="0"/>
                            </p:stCondLst>
                            <p:childTnLst>
                              <p:par>
                                <p:cTn id="268" presetID="27" presetClass="entr" presetSubtype="0" fill="hold" grpId="0" nodeType="clickEffect">
                                  <p:stCondLst>
                                    <p:cond delay="0"/>
                                  </p:stCondLst>
                                  <p:iterate type="lt">
                                    <p:tmPct val="50000"/>
                                  </p:iterate>
                                  <p:childTnLst>
                                    <p:set>
                                      <p:cBhvr>
                                        <p:cTn id="269" dur="1" fill="hold">
                                          <p:stCondLst>
                                            <p:cond delay="0"/>
                                          </p:stCondLst>
                                        </p:cTn>
                                        <p:tgtEl>
                                          <p:spTgt spid="86142"/>
                                        </p:tgtEl>
                                        <p:attrNameLst>
                                          <p:attrName>style.visibility</p:attrName>
                                        </p:attrNameLst>
                                      </p:cBhvr>
                                      <p:to>
                                        <p:strVal val="visible"/>
                                      </p:to>
                                    </p:set>
                                    <p:anim calcmode="discrete" valueType="clr">
                                      <p:cBhvr override="childStyle">
                                        <p:cTn id="270" dur="80"/>
                                        <p:tgtEl>
                                          <p:spTgt spid="86142"/>
                                        </p:tgtEl>
                                        <p:attrNameLst>
                                          <p:attrName>style.color</p:attrName>
                                        </p:attrNameLst>
                                      </p:cBhvr>
                                      <p:tavLst>
                                        <p:tav tm="0">
                                          <p:val>
                                            <p:clrVal>
                                              <a:schemeClr val="accent2"/>
                                            </p:clrVal>
                                          </p:val>
                                        </p:tav>
                                        <p:tav tm="50000">
                                          <p:val>
                                            <p:clrVal>
                                              <a:schemeClr val="hlink"/>
                                            </p:clrVal>
                                          </p:val>
                                        </p:tav>
                                      </p:tavLst>
                                    </p:anim>
                                    <p:anim calcmode="discrete" valueType="clr">
                                      <p:cBhvr>
                                        <p:cTn id="271" dur="80"/>
                                        <p:tgtEl>
                                          <p:spTgt spid="86142"/>
                                        </p:tgtEl>
                                        <p:attrNameLst>
                                          <p:attrName>fillcolor</p:attrName>
                                        </p:attrNameLst>
                                      </p:cBhvr>
                                      <p:tavLst>
                                        <p:tav tm="0">
                                          <p:val>
                                            <p:clrVal>
                                              <a:schemeClr val="accent2"/>
                                            </p:clrVal>
                                          </p:val>
                                        </p:tav>
                                        <p:tav tm="50000">
                                          <p:val>
                                            <p:clrVal>
                                              <a:schemeClr val="hlink"/>
                                            </p:clrVal>
                                          </p:val>
                                        </p:tav>
                                      </p:tavLst>
                                    </p:anim>
                                    <p:set>
                                      <p:cBhvr>
                                        <p:cTn id="272" dur="80"/>
                                        <p:tgtEl>
                                          <p:spTgt spid="86142"/>
                                        </p:tgtEl>
                                        <p:attrNameLst>
                                          <p:attrName>fill.type</p:attrName>
                                        </p:attrNameLst>
                                      </p:cBhvr>
                                      <p:to>
                                        <p:strVal val="solid"/>
                                      </p:to>
                                    </p:set>
                                  </p:childTnLst>
                                </p:cTn>
                              </p:par>
                            </p:childTnLst>
                          </p:cTn>
                        </p:par>
                      </p:childTnLst>
                    </p:cTn>
                  </p:par>
                  <p:par>
                    <p:cTn id="273" fill="hold">
                      <p:stCondLst>
                        <p:cond delay="indefinite"/>
                      </p:stCondLst>
                      <p:childTnLst>
                        <p:par>
                          <p:cTn id="274" fill="hold">
                            <p:stCondLst>
                              <p:cond delay="0"/>
                            </p:stCondLst>
                            <p:childTnLst>
                              <p:par>
                                <p:cTn id="275" presetID="22" presetClass="entr" presetSubtype="1" fill="hold" nodeType="clickEffect">
                                  <p:stCondLst>
                                    <p:cond delay="0"/>
                                  </p:stCondLst>
                                  <p:childTnLst>
                                    <p:set>
                                      <p:cBhvr>
                                        <p:cTn id="276" dur="1" fill="hold">
                                          <p:stCondLst>
                                            <p:cond delay="0"/>
                                          </p:stCondLst>
                                        </p:cTn>
                                        <p:tgtEl>
                                          <p:spTgt spid="86477"/>
                                        </p:tgtEl>
                                        <p:attrNameLst>
                                          <p:attrName>style.visibility</p:attrName>
                                        </p:attrNameLst>
                                      </p:cBhvr>
                                      <p:to>
                                        <p:strVal val="visible"/>
                                      </p:to>
                                    </p:set>
                                    <p:animEffect transition="in" filter="wipe(up)">
                                      <p:cBhvr>
                                        <p:cTn id="277" dur="500"/>
                                        <p:tgtEl>
                                          <p:spTgt spid="86477"/>
                                        </p:tgtEl>
                                      </p:cBhvr>
                                    </p:animEffect>
                                  </p:childTnLst>
                                </p:cTn>
                              </p:par>
                              <p:par>
                                <p:cTn id="278" presetID="22" presetClass="entr" presetSubtype="1" fill="hold" grpId="0" nodeType="withEffect">
                                  <p:stCondLst>
                                    <p:cond delay="0"/>
                                  </p:stCondLst>
                                  <p:childTnLst>
                                    <p:set>
                                      <p:cBhvr>
                                        <p:cTn id="279" dur="1" fill="hold">
                                          <p:stCondLst>
                                            <p:cond delay="0"/>
                                          </p:stCondLst>
                                        </p:cTn>
                                        <p:tgtEl>
                                          <p:spTgt spid="86478"/>
                                        </p:tgtEl>
                                        <p:attrNameLst>
                                          <p:attrName>style.visibility</p:attrName>
                                        </p:attrNameLst>
                                      </p:cBhvr>
                                      <p:to>
                                        <p:strVal val="visible"/>
                                      </p:to>
                                    </p:set>
                                    <p:animEffect transition="in" filter="wipe(up)">
                                      <p:cBhvr>
                                        <p:cTn id="280" dur="500"/>
                                        <p:tgtEl>
                                          <p:spTgt spid="86478"/>
                                        </p:tgtEl>
                                      </p:cBhvr>
                                    </p:animEffect>
                                  </p:childTnLst>
                                </p:cTn>
                              </p:par>
                            </p:childTnLst>
                          </p:cTn>
                        </p:par>
                      </p:childTnLst>
                    </p:cTn>
                  </p:par>
                  <p:par>
                    <p:cTn id="281" fill="hold">
                      <p:stCondLst>
                        <p:cond delay="indefinite"/>
                      </p:stCondLst>
                      <p:childTnLst>
                        <p:par>
                          <p:cTn id="282" fill="hold">
                            <p:stCondLst>
                              <p:cond delay="0"/>
                            </p:stCondLst>
                            <p:childTnLst>
                              <p:par>
                                <p:cTn id="283" presetID="35" presetClass="emph" presetSubtype="0" fill="hold" grpId="1" nodeType="clickEffect">
                                  <p:stCondLst>
                                    <p:cond delay="0"/>
                                  </p:stCondLst>
                                  <p:iterate type="lt">
                                    <p:tmAbs val="0"/>
                                  </p:iterate>
                                  <p:childTnLst>
                                    <p:anim calcmode="discrete" valueType="str">
                                      <p:cBhvr>
                                        <p:cTn id="284" dur="1000" fill="hold"/>
                                        <p:tgtEl>
                                          <p:spTgt spid="86142"/>
                                        </p:tgtEl>
                                        <p:attrNameLst>
                                          <p:attrName>style.visibility</p:attrName>
                                        </p:attrNameLst>
                                      </p:cBhvr>
                                      <p:tavLst>
                                        <p:tav tm="0">
                                          <p:val>
                                            <p:strVal val="hidden"/>
                                          </p:val>
                                        </p:tav>
                                        <p:tav tm="50000">
                                          <p:val>
                                            <p:strVal val="visible"/>
                                          </p:val>
                                        </p:tav>
                                      </p:tavLst>
                                    </p:anim>
                                  </p:childTnLst>
                                </p:cTn>
                              </p:par>
                              <p:par>
                                <p:cTn id="285" presetID="35" presetClass="emph" presetSubtype="0" fill="hold" grpId="2" nodeType="withEffect">
                                  <p:stCondLst>
                                    <p:cond delay="0"/>
                                  </p:stCondLst>
                                  <p:childTnLst>
                                    <p:anim calcmode="discrete" valueType="str">
                                      <p:cBhvr>
                                        <p:cTn id="286" dur="1000" fill="hold"/>
                                        <p:tgtEl>
                                          <p:spTgt spid="86138"/>
                                        </p:tgtEl>
                                        <p:attrNameLst>
                                          <p:attrName>style.visibility</p:attrName>
                                        </p:attrNameLst>
                                      </p:cBhvr>
                                      <p:tavLst>
                                        <p:tav tm="0">
                                          <p:val>
                                            <p:strVal val="hidden"/>
                                          </p:val>
                                        </p:tav>
                                        <p:tav tm="50000">
                                          <p:val>
                                            <p:strVal val="visible"/>
                                          </p:val>
                                        </p:tav>
                                      </p:tavLst>
                                    </p:anim>
                                  </p:childTnLst>
                                </p:cTn>
                              </p:par>
                            </p:childTnLst>
                          </p:cTn>
                        </p:par>
                      </p:childTnLst>
                    </p:cTn>
                  </p:par>
                  <p:par>
                    <p:cTn id="287" fill="hold">
                      <p:stCondLst>
                        <p:cond delay="indefinite"/>
                      </p:stCondLst>
                      <p:childTnLst>
                        <p:par>
                          <p:cTn id="288" fill="hold">
                            <p:stCondLst>
                              <p:cond delay="0"/>
                            </p:stCondLst>
                            <p:childTnLst>
                              <p:par>
                                <p:cTn id="289" presetID="1" presetClass="emph" presetSubtype="2" fill="hold" nodeType="clickEffect">
                                  <p:stCondLst>
                                    <p:cond delay="0"/>
                                  </p:stCondLst>
                                  <p:childTnLst>
                                    <p:animClr clrSpc="rgb" dir="cw">
                                      <p:cBhvr>
                                        <p:cTn id="290" dur="2000" fill="hold"/>
                                        <p:tgtEl>
                                          <p:spTgt spid="86478"/>
                                        </p:tgtEl>
                                        <p:attrNameLst>
                                          <p:attrName>fillcolor</p:attrName>
                                        </p:attrNameLst>
                                      </p:cBhvr>
                                      <p:to>
                                        <a:srgbClr val="FF0000"/>
                                      </p:to>
                                    </p:animClr>
                                    <p:set>
                                      <p:cBhvr>
                                        <p:cTn id="291" dur="2000" fill="hold"/>
                                        <p:tgtEl>
                                          <p:spTgt spid="86478"/>
                                        </p:tgtEl>
                                        <p:attrNameLst>
                                          <p:attrName>fill.type</p:attrName>
                                        </p:attrNameLst>
                                      </p:cBhvr>
                                      <p:to>
                                        <p:strVal val="solid"/>
                                      </p:to>
                                    </p:set>
                                    <p:set>
                                      <p:cBhvr>
                                        <p:cTn id="292" dur="2000" fill="hold"/>
                                        <p:tgtEl>
                                          <p:spTgt spid="86478"/>
                                        </p:tgtEl>
                                        <p:attrNameLst>
                                          <p:attrName>fill.on</p:attrName>
                                        </p:attrNameLst>
                                      </p:cBhvr>
                                      <p:to>
                                        <p:strVal val="true"/>
                                      </p:to>
                                    </p:set>
                                  </p:childTnLst>
                                </p:cTn>
                              </p:par>
                            </p:childTnLst>
                          </p:cTn>
                        </p:par>
                      </p:childTnLst>
                    </p:cTn>
                  </p:par>
                  <p:par>
                    <p:cTn id="293" fill="hold">
                      <p:stCondLst>
                        <p:cond delay="indefinite"/>
                      </p:stCondLst>
                      <p:childTnLst>
                        <p:par>
                          <p:cTn id="294" fill="hold">
                            <p:stCondLst>
                              <p:cond delay="0"/>
                            </p:stCondLst>
                            <p:childTnLst>
                              <p:par>
                                <p:cTn id="295" presetID="27" presetClass="entr" presetSubtype="0" fill="hold" grpId="0" nodeType="clickEffect">
                                  <p:stCondLst>
                                    <p:cond delay="0"/>
                                  </p:stCondLst>
                                  <p:iterate type="lt">
                                    <p:tmPct val="50000"/>
                                  </p:iterate>
                                  <p:childTnLst>
                                    <p:set>
                                      <p:cBhvr>
                                        <p:cTn id="296" dur="1" fill="hold">
                                          <p:stCondLst>
                                            <p:cond delay="0"/>
                                          </p:stCondLst>
                                        </p:cTn>
                                        <p:tgtEl>
                                          <p:spTgt spid="86143"/>
                                        </p:tgtEl>
                                        <p:attrNameLst>
                                          <p:attrName>style.visibility</p:attrName>
                                        </p:attrNameLst>
                                      </p:cBhvr>
                                      <p:to>
                                        <p:strVal val="visible"/>
                                      </p:to>
                                    </p:set>
                                    <p:anim calcmode="discrete" valueType="clr">
                                      <p:cBhvr override="childStyle">
                                        <p:cTn id="297" dur="80"/>
                                        <p:tgtEl>
                                          <p:spTgt spid="86143"/>
                                        </p:tgtEl>
                                        <p:attrNameLst>
                                          <p:attrName>style.color</p:attrName>
                                        </p:attrNameLst>
                                      </p:cBhvr>
                                      <p:tavLst>
                                        <p:tav tm="0">
                                          <p:val>
                                            <p:clrVal>
                                              <a:schemeClr val="accent2"/>
                                            </p:clrVal>
                                          </p:val>
                                        </p:tav>
                                        <p:tav tm="50000">
                                          <p:val>
                                            <p:clrVal>
                                              <a:schemeClr val="hlink"/>
                                            </p:clrVal>
                                          </p:val>
                                        </p:tav>
                                      </p:tavLst>
                                    </p:anim>
                                    <p:anim calcmode="discrete" valueType="clr">
                                      <p:cBhvr>
                                        <p:cTn id="298" dur="80"/>
                                        <p:tgtEl>
                                          <p:spTgt spid="86143"/>
                                        </p:tgtEl>
                                        <p:attrNameLst>
                                          <p:attrName>fillcolor</p:attrName>
                                        </p:attrNameLst>
                                      </p:cBhvr>
                                      <p:tavLst>
                                        <p:tav tm="0">
                                          <p:val>
                                            <p:clrVal>
                                              <a:schemeClr val="accent2"/>
                                            </p:clrVal>
                                          </p:val>
                                        </p:tav>
                                        <p:tav tm="50000">
                                          <p:val>
                                            <p:clrVal>
                                              <a:schemeClr val="hlink"/>
                                            </p:clrVal>
                                          </p:val>
                                        </p:tav>
                                      </p:tavLst>
                                    </p:anim>
                                    <p:set>
                                      <p:cBhvr>
                                        <p:cTn id="299" dur="80"/>
                                        <p:tgtEl>
                                          <p:spTgt spid="86143"/>
                                        </p:tgtEl>
                                        <p:attrNameLst>
                                          <p:attrName>fill.type</p:attrName>
                                        </p:attrNameLst>
                                      </p:cBhvr>
                                      <p:to>
                                        <p:strVal val="solid"/>
                                      </p:to>
                                    </p:set>
                                  </p:childTnLst>
                                </p:cTn>
                              </p:par>
                            </p:childTnLst>
                          </p:cTn>
                        </p:par>
                      </p:childTnLst>
                    </p:cTn>
                  </p:par>
                  <p:par>
                    <p:cTn id="300" fill="hold">
                      <p:stCondLst>
                        <p:cond delay="indefinite"/>
                      </p:stCondLst>
                      <p:childTnLst>
                        <p:par>
                          <p:cTn id="301" fill="hold">
                            <p:stCondLst>
                              <p:cond delay="0"/>
                            </p:stCondLst>
                            <p:childTnLst>
                              <p:par>
                                <p:cTn id="302" presetID="22" presetClass="entr" presetSubtype="1" fill="hold" nodeType="clickEffect">
                                  <p:stCondLst>
                                    <p:cond delay="0"/>
                                  </p:stCondLst>
                                  <p:childTnLst>
                                    <p:set>
                                      <p:cBhvr>
                                        <p:cTn id="303" dur="1" fill="hold">
                                          <p:stCondLst>
                                            <p:cond delay="0"/>
                                          </p:stCondLst>
                                        </p:cTn>
                                        <p:tgtEl>
                                          <p:spTgt spid="86479"/>
                                        </p:tgtEl>
                                        <p:attrNameLst>
                                          <p:attrName>style.visibility</p:attrName>
                                        </p:attrNameLst>
                                      </p:cBhvr>
                                      <p:to>
                                        <p:strVal val="visible"/>
                                      </p:to>
                                    </p:set>
                                    <p:animEffect transition="in" filter="wipe(up)">
                                      <p:cBhvr>
                                        <p:cTn id="304" dur="500"/>
                                        <p:tgtEl>
                                          <p:spTgt spid="86479"/>
                                        </p:tgtEl>
                                      </p:cBhvr>
                                    </p:animEffect>
                                  </p:childTnLst>
                                </p:cTn>
                              </p:par>
                              <p:par>
                                <p:cTn id="305" presetID="22" presetClass="entr" presetSubtype="1" fill="hold" grpId="0" nodeType="withEffect">
                                  <p:stCondLst>
                                    <p:cond delay="0"/>
                                  </p:stCondLst>
                                  <p:childTnLst>
                                    <p:set>
                                      <p:cBhvr>
                                        <p:cTn id="306" dur="1" fill="hold">
                                          <p:stCondLst>
                                            <p:cond delay="0"/>
                                          </p:stCondLst>
                                        </p:cTn>
                                        <p:tgtEl>
                                          <p:spTgt spid="86480"/>
                                        </p:tgtEl>
                                        <p:attrNameLst>
                                          <p:attrName>style.visibility</p:attrName>
                                        </p:attrNameLst>
                                      </p:cBhvr>
                                      <p:to>
                                        <p:strVal val="visible"/>
                                      </p:to>
                                    </p:set>
                                    <p:animEffect transition="in" filter="wipe(up)">
                                      <p:cBhvr>
                                        <p:cTn id="307" dur="500"/>
                                        <p:tgtEl>
                                          <p:spTgt spid="86480"/>
                                        </p:tgtEl>
                                      </p:cBhvr>
                                    </p:animEffect>
                                  </p:childTnLst>
                                </p:cTn>
                              </p:par>
                            </p:childTnLst>
                          </p:cTn>
                        </p:par>
                      </p:childTnLst>
                    </p:cTn>
                  </p:par>
                  <p:par>
                    <p:cTn id="308" fill="hold">
                      <p:stCondLst>
                        <p:cond delay="indefinite"/>
                      </p:stCondLst>
                      <p:childTnLst>
                        <p:par>
                          <p:cTn id="309" fill="hold">
                            <p:stCondLst>
                              <p:cond delay="0"/>
                            </p:stCondLst>
                            <p:childTnLst>
                              <p:par>
                                <p:cTn id="310" presetID="35" presetClass="emph" presetSubtype="0" fill="hold" grpId="1" nodeType="clickEffect">
                                  <p:stCondLst>
                                    <p:cond delay="0"/>
                                  </p:stCondLst>
                                  <p:iterate type="lt">
                                    <p:tmAbs val="0"/>
                                  </p:iterate>
                                  <p:childTnLst>
                                    <p:anim calcmode="discrete" valueType="str">
                                      <p:cBhvr>
                                        <p:cTn id="311" dur="1000" fill="hold"/>
                                        <p:tgtEl>
                                          <p:spTgt spid="86143"/>
                                        </p:tgtEl>
                                        <p:attrNameLst>
                                          <p:attrName>style.visibility</p:attrName>
                                        </p:attrNameLst>
                                      </p:cBhvr>
                                      <p:tavLst>
                                        <p:tav tm="0">
                                          <p:val>
                                            <p:strVal val="hidden"/>
                                          </p:val>
                                        </p:tav>
                                        <p:tav tm="50000">
                                          <p:val>
                                            <p:strVal val="visible"/>
                                          </p:val>
                                        </p:tav>
                                      </p:tavLst>
                                    </p:anim>
                                  </p:childTnLst>
                                </p:cTn>
                              </p:par>
                              <p:par>
                                <p:cTn id="312" presetID="35" presetClass="emph" presetSubtype="0" fill="hold" grpId="1" nodeType="withEffect">
                                  <p:stCondLst>
                                    <p:cond delay="0"/>
                                  </p:stCondLst>
                                  <p:iterate type="lt">
                                    <p:tmAbs val="0"/>
                                  </p:iterate>
                                  <p:childTnLst>
                                    <p:anim calcmode="discrete" valueType="str">
                                      <p:cBhvr>
                                        <p:cTn id="313" dur="1000" fill="hold"/>
                                        <p:tgtEl>
                                          <p:spTgt spid="86141"/>
                                        </p:tgtEl>
                                        <p:attrNameLst>
                                          <p:attrName>style.visibility</p:attrName>
                                        </p:attrNameLst>
                                      </p:cBhvr>
                                      <p:tavLst>
                                        <p:tav tm="0">
                                          <p:val>
                                            <p:strVal val="hidden"/>
                                          </p:val>
                                        </p:tav>
                                        <p:tav tm="50000">
                                          <p:val>
                                            <p:strVal val="visible"/>
                                          </p:val>
                                        </p:tav>
                                      </p:tavLst>
                                    </p:anim>
                                  </p:childTnLst>
                                </p:cTn>
                              </p:par>
                            </p:childTnLst>
                          </p:cTn>
                        </p:par>
                      </p:childTnLst>
                    </p:cTn>
                  </p:par>
                  <p:par>
                    <p:cTn id="314" fill="hold">
                      <p:stCondLst>
                        <p:cond delay="indefinite"/>
                      </p:stCondLst>
                      <p:childTnLst>
                        <p:par>
                          <p:cTn id="315" fill="hold">
                            <p:stCondLst>
                              <p:cond delay="0"/>
                            </p:stCondLst>
                            <p:childTnLst>
                              <p:par>
                                <p:cTn id="316" presetID="1" presetClass="emph" presetSubtype="2" fill="hold" nodeType="clickEffect">
                                  <p:stCondLst>
                                    <p:cond delay="0"/>
                                  </p:stCondLst>
                                  <p:childTnLst>
                                    <p:animClr clrSpc="rgb" dir="cw">
                                      <p:cBhvr>
                                        <p:cTn id="317" dur="2000" fill="hold"/>
                                        <p:tgtEl>
                                          <p:spTgt spid="86480"/>
                                        </p:tgtEl>
                                        <p:attrNameLst>
                                          <p:attrName>fillcolor</p:attrName>
                                        </p:attrNameLst>
                                      </p:cBhvr>
                                      <p:to>
                                        <a:srgbClr val="FF0000"/>
                                      </p:to>
                                    </p:animClr>
                                    <p:set>
                                      <p:cBhvr>
                                        <p:cTn id="318" dur="2000" fill="hold"/>
                                        <p:tgtEl>
                                          <p:spTgt spid="86480"/>
                                        </p:tgtEl>
                                        <p:attrNameLst>
                                          <p:attrName>fill.type</p:attrName>
                                        </p:attrNameLst>
                                      </p:cBhvr>
                                      <p:to>
                                        <p:strVal val="solid"/>
                                      </p:to>
                                    </p:set>
                                    <p:set>
                                      <p:cBhvr>
                                        <p:cTn id="319" dur="2000" fill="hold"/>
                                        <p:tgtEl>
                                          <p:spTgt spid="86480"/>
                                        </p:tgtEl>
                                        <p:attrNameLst>
                                          <p:attrName>fill.on</p:attrName>
                                        </p:attrNameLst>
                                      </p:cBhvr>
                                      <p:to>
                                        <p:strVal val="true"/>
                                      </p:to>
                                    </p:set>
                                  </p:childTnLst>
                                </p:cTn>
                              </p:par>
                            </p:childTnLst>
                          </p:cTn>
                        </p:par>
                      </p:childTnLst>
                    </p:cTn>
                  </p:par>
                  <p:par>
                    <p:cTn id="320" fill="hold">
                      <p:stCondLst>
                        <p:cond delay="indefinite"/>
                      </p:stCondLst>
                      <p:childTnLst>
                        <p:par>
                          <p:cTn id="321" fill="hold">
                            <p:stCondLst>
                              <p:cond delay="0"/>
                            </p:stCondLst>
                            <p:childTnLst>
                              <p:par>
                                <p:cTn id="322" presetID="27" presetClass="entr" presetSubtype="0" fill="hold" grpId="0" nodeType="clickEffect">
                                  <p:stCondLst>
                                    <p:cond delay="0"/>
                                  </p:stCondLst>
                                  <p:iterate type="lt">
                                    <p:tmPct val="50000"/>
                                  </p:iterate>
                                  <p:childTnLst>
                                    <p:set>
                                      <p:cBhvr>
                                        <p:cTn id="323" dur="1" fill="hold">
                                          <p:stCondLst>
                                            <p:cond delay="0"/>
                                          </p:stCondLst>
                                        </p:cTn>
                                        <p:tgtEl>
                                          <p:spTgt spid="86144"/>
                                        </p:tgtEl>
                                        <p:attrNameLst>
                                          <p:attrName>style.visibility</p:attrName>
                                        </p:attrNameLst>
                                      </p:cBhvr>
                                      <p:to>
                                        <p:strVal val="visible"/>
                                      </p:to>
                                    </p:set>
                                    <p:anim calcmode="discrete" valueType="clr">
                                      <p:cBhvr override="childStyle">
                                        <p:cTn id="324" dur="80"/>
                                        <p:tgtEl>
                                          <p:spTgt spid="86144"/>
                                        </p:tgtEl>
                                        <p:attrNameLst>
                                          <p:attrName>style.color</p:attrName>
                                        </p:attrNameLst>
                                      </p:cBhvr>
                                      <p:tavLst>
                                        <p:tav tm="0">
                                          <p:val>
                                            <p:clrVal>
                                              <a:schemeClr val="accent2"/>
                                            </p:clrVal>
                                          </p:val>
                                        </p:tav>
                                        <p:tav tm="50000">
                                          <p:val>
                                            <p:clrVal>
                                              <a:schemeClr val="hlink"/>
                                            </p:clrVal>
                                          </p:val>
                                        </p:tav>
                                      </p:tavLst>
                                    </p:anim>
                                    <p:anim calcmode="discrete" valueType="clr">
                                      <p:cBhvr>
                                        <p:cTn id="325" dur="80"/>
                                        <p:tgtEl>
                                          <p:spTgt spid="86144"/>
                                        </p:tgtEl>
                                        <p:attrNameLst>
                                          <p:attrName>fillcolor</p:attrName>
                                        </p:attrNameLst>
                                      </p:cBhvr>
                                      <p:tavLst>
                                        <p:tav tm="0">
                                          <p:val>
                                            <p:clrVal>
                                              <a:schemeClr val="accent2"/>
                                            </p:clrVal>
                                          </p:val>
                                        </p:tav>
                                        <p:tav tm="50000">
                                          <p:val>
                                            <p:clrVal>
                                              <a:schemeClr val="hlink"/>
                                            </p:clrVal>
                                          </p:val>
                                        </p:tav>
                                      </p:tavLst>
                                    </p:anim>
                                    <p:set>
                                      <p:cBhvr>
                                        <p:cTn id="326" dur="80"/>
                                        <p:tgtEl>
                                          <p:spTgt spid="86144"/>
                                        </p:tgtEl>
                                        <p:attrNameLst>
                                          <p:attrName>fill.type</p:attrName>
                                        </p:attrNameLst>
                                      </p:cBhvr>
                                      <p:to>
                                        <p:strVal val="solid"/>
                                      </p:to>
                                    </p:set>
                                  </p:childTnLst>
                                </p:cTn>
                              </p:par>
                            </p:childTnLst>
                          </p:cTn>
                        </p:par>
                      </p:childTnLst>
                    </p:cTn>
                  </p:par>
                  <p:par>
                    <p:cTn id="327" fill="hold">
                      <p:stCondLst>
                        <p:cond delay="indefinite"/>
                      </p:stCondLst>
                      <p:childTnLst>
                        <p:par>
                          <p:cTn id="328" fill="hold">
                            <p:stCondLst>
                              <p:cond delay="0"/>
                            </p:stCondLst>
                            <p:childTnLst>
                              <p:par>
                                <p:cTn id="329" presetID="22" presetClass="entr" presetSubtype="1" fill="hold" nodeType="clickEffect">
                                  <p:stCondLst>
                                    <p:cond delay="0"/>
                                  </p:stCondLst>
                                  <p:childTnLst>
                                    <p:set>
                                      <p:cBhvr>
                                        <p:cTn id="330" dur="1" fill="hold">
                                          <p:stCondLst>
                                            <p:cond delay="0"/>
                                          </p:stCondLst>
                                        </p:cTn>
                                        <p:tgtEl>
                                          <p:spTgt spid="86481"/>
                                        </p:tgtEl>
                                        <p:attrNameLst>
                                          <p:attrName>style.visibility</p:attrName>
                                        </p:attrNameLst>
                                      </p:cBhvr>
                                      <p:to>
                                        <p:strVal val="visible"/>
                                      </p:to>
                                    </p:set>
                                    <p:animEffect transition="in" filter="wipe(up)">
                                      <p:cBhvr>
                                        <p:cTn id="331" dur="500"/>
                                        <p:tgtEl>
                                          <p:spTgt spid="86481"/>
                                        </p:tgtEl>
                                      </p:cBhvr>
                                    </p:animEffect>
                                  </p:childTnLst>
                                </p:cTn>
                              </p:par>
                              <p:par>
                                <p:cTn id="332" presetID="22" presetClass="entr" presetSubtype="1" fill="hold" grpId="0" nodeType="withEffect">
                                  <p:stCondLst>
                                    <p:cond delay="0"/>
                                  </p:stCondLst>
                                  <p:childTnLst>
                                    <p:set>
                                      <p:cBhvr>
                                        <p:cTn id="333" dur="1" fill="hold">
                                          <p:stCondLst>
                                            <p:cond delay="0"/>
                                          </p:stCondLst>
                                        </p:cTn>
                                        <p:tgtEl>
                                          <p:spTgt spid="86482"/>
                                        </p:tgtEl>
                                        <p:attrNameLst>
                                          <p:attrName>style.visibility</p:attrName>
                                        </p:attrNameLst>
                                      </p:cBhvr>
                                      <p:to>
                                        <p:strVal val="visible"/>
                                      </p:to>
                                    </p:set>
                                    <p:animEffect transition="in" filter="wipe(up)">
                                      <p:cBhvr>
                                        <p:cTn id="334" dur="500"/>
                                        <p:tgtEl>
                                          <p:spTgt spid="86482"/>
                                        </p:tgtEl>
                                      </p:cBhvr>
                                    </p:animEffect>
                                  </p:childTnLst>
                                </p:cTn>
                              </p:par>
                            </p:childTnLst>
                          </p:cTn>
                        </p:par>
                      </p:childTnLst>
                    </p:cTn>
                  </p:par>
                  <p:par>
                    <p:cTn id="335" fill="hold">
                      <p:stCondLst>
                        <p:cond delay="indefinite"/>
                      </p:stCondLst>
                      <p:childTnLst>
                        <p:par>
                          <p:cTn id="336" fill="hold">
                            <p:stCondLst>
                              <p:cond delay="0"/>
                            </p:stCondLst>
                            <p:childTnLst>
                              <p:par>
                                <p:cTn id="337" presetID="35" presetClass="emph" presetSubtype="0" fill="hold" grpId="1" nodeType="clickEffect">
                                  <p:stCondLst>
                                    <p:cond delay="0"/>
                                  </p:stCondLst>
                                  <p:iterate type="lt">
                                    <p:tmAbs val="0"/>
                                  </p:iterate>
                                  <p:childTnLst>
                                    <p:anim calcmode="discrete" valueType="str">
                                      <p:cBhvr>
                                        <p:cTn id="338" dur="1000" fill="hold"/>
                                        <p:tgtEl>
                                          <p:spTgt spid="86144"/>
                                        </p:tgtEl>
                                        <p:attrNameLst>
                                          <p:attrName>style.visibility</p:attrName>
                                        </p:attrNameLst>
                                      </p:cBhvr>
                                      <p:tavLst>
                                        <p:tav tm="0">
                                          <p:val>
                                            <p:strVal val="hidden"/>
                                          </p:val>
                                        </p:tav>
                                        <p:tav tm="50000">
                                          <p:val>
                                            <p:strVal val="visible"/>
                                          </p:val>
                                        </p:tav>
                                      </p:tavLst>
                                    </p:anim>
                                  </p:childTnLst>
                                </p:cTn>
                              </p:par>
                              <p:par>
                                <p:cTn id="339" presetID="35" presetClass="emph" presetSubtype="0" fill="hold" grpId="2" nodeType="withEffect">
                                  <p:stCondLst>
                                    <p:cond delay="0"/>
                                  </p:stCondLst>
                                  <p:iterate type="lt">
                                    <p:tmAbs val="0"/>
                                  </p:iterate>
                                  <p:childTnLst>
                                    <p:anim calcmode="discrete" valueType="str">
                                      <p:cBhvr>
                                        <p:cTn id="340" dur="1000" fill="hold"/>
                                        <p:tgtEl>
                                          <p:spTgt spid="86141"/>
                                        </p:tgtEl>
                                        <p:attrNameLst>
                                          <p:attrName>style.visibility</p:attrName>
                                        </p:attrNameLst>
                                      </p:cBhvr>
                                      <p:tavLst>
                                        <p:tav tm="0">
                                          <p:val>
                                            <p:strVal val="hidden"/>
                                          </p:val>
                                        </p:tav>
                                        <p:tav tm="50000">
                                          <p:val>
                                            <p:strVal val="visible"/>
                                          </p:val>
                                        </p:tav>
                                      </p:tavLst>
                                    </p:anim>
                                  </p:childTnLst>
                                </p:cTn>
                              </p:par>
                            </p:childTnLst>
                          </p:cTn>
                        </p:par>
                      </p:childTnLst>
                    </p:cTn>
                  </p:par>
                  <p:par>
                    <p:cTn id="341" fill="hold">
                      <p:stCondLst>
                        <p:cond delay="indefinite"/>
                      </p:stCondLst>
                      <p:childTnLst>
                        <p:par>
                          <p:cTn id="342" fill="hold">
                            <p:stCondLst>
                              <p:cond delay="0"/>
                            </p:stCondLst>
                            <p:childTnLst>
                              <p:par>
                                <p:cTn id="343" presetID="1" presetClass="emph" presetSubtype="2" fill="hold" nodeType="clickEffect">
                                  <p:stCondLst>
                                    <p:cond delay="0"/>
                                  </p:stCondLst>
                                  <p:childTnLst>
                                    <p:animClr clrSpc="rgb" dir="cw">
                                      <p:cBhvr>
                                        <p:cTn id="344" dur="2000" fill="hold"/>
                                        <p:tgtEl>
                                          <p:spTgt spid="86482"/>
                                        </p:tgtEl>
                                        <p:attrNameLst>
                                          <p:attrName>fillcolor</p:attrName>
                                        </p:attrNameLst>
                                      </p:cBhvr>
                                      <p:to>
                                        <a:srgbClr val="FF0000"/>
                                      </p:to>
                                    </p:animClr>
                                    <p:set>
                                      <p:cBhvr>
                                        <p:cTn id="345" dur="2000" fill="hold"/>
                                        <p:tgtEl>
                                          <p:spTgt spid="86482"/>
                                        </p:tgtEl>
                                        <p:attrNameLst>
                                          <p:attrName>fill.type</p:attrName>
                                        </p:attrNameLst>
                                      </p:cBhvr>
                                      <p:to>
                                        <p:strVal val="solid"/>
                                      </p:to>
                                    </p:set>
                                    <p:set>
                                      <p:cBhvr>
                                        <p:cTn id="346" dur="2000" fill="hold"/>
                                        <p:tgtEl>
                                          <p:spTgt spid="86482"/>
                                        </p:tgtEl>
                                        <p:attrNameLst>
                                          <p:attrName>fill.on</p:attrName>
                                        </p:attrNameLst>
                                      </p:cBhvr>
                                      <p:to>
                                        <p:strVal val="true"/>
                                      </p:to>
                                    </p:set>
                                  </p:childTnLst>
                                </p:cTn>
                              </p:par>
                            </p:childTnLst>
                          </p:cTn>
                        </p:par>
                      </p:childTnLst>
                    </p:cTn>
                  </p:par>
                  <p:par>
                    <p:cTn id="347" fill="hold">
                      <p:stCondLst>
                        <p:cond delay="indefinite"/>
                      </p:stCondLst>
                      <p:childTnLst>
                        <p:par>
                          <p:cTn id="348" fill="hold">
                            <p:stCondLst>
                              <p:cond delay="0"/>
                            </p:stCondLst>
                            <p:childTnLst>
                              <p:par>
                                <p:cTn id="349" presetID="27" presetClass="entr" presetSubtype="0" fill="hold" grpId="0" nodeType="clickEffect">
                                  <p:stCondLst>
                                    <p:cond delay="0"/>
                                  </p:stCondLst>
                                  <p:iterate type="lt">
                                    <p:tmPct val="50000"/>
                                  </p:iterate>
                                  <p:childTnLst>
                                    <p:set>
                                      <p:cBhvr>
                                        <p:cTn id="350" dur="1" fill="hold">
                                          <p:stCondLst>
                                            <p:cond delay="0"/>
                                          </p:stCondLst>
                                        </p:cTn>
                                        <p:tgtEl>
                                          <p:spTgt spid="86145"/>
                                        </p:tgtEl>
                                        <p:attrNameLst>
                                          <p:attrName>style.visibility</p:attrName>
                                        </p:attrNameLst>
                                      </p:cBhvr>
                                      <p:to>
                                        <p:strVal val="visible"/>
                                      </p:to>
                                    </p:set>
                                    <p:anim calcmode="discrete" valueType="clr">
                                      <p:cBhvr override="childStyle">
                                        <p:cTn id="351" dur="80"/>
                                        <p:tgtEl>
                                          <p:spTgt spid="86145"/>
                                        </p:tgtEl>
                                        <p:attrNameLst>
                                          <p:attrName>style.color</p:attrName>
                                        </p:attrNameLst>
                                      </p:cBhvr>
                                      <p:tavLst>
                                        <p:tav tm="0">
                                          <p:val>
                                            <p:clrVal>
                                              <a:schemeClr val="accent2"/>
                                            </p:clrVal>
                                          </p:val>
                                        </p:tav>
                                        <p:tav tm="50000">
                                          <p:val>
                                            <p:clrVal>
                                              <a:schemeClr val="hlink"/>
                                            </p:clrVal>
                                          </p:val>
                                        </p:tav>
                                      </p:tavLst>
                                    </p:anim>
                                    <p:anim calcmode="discrete" valueType="clr">
                                      <p:cBhvr>
                                        <p:cTn id="352" dur="80"/>
                                        <p:tgtEl>
                                          <p:spTgt spid="86145"/>
                                        </p:tgtEl>
                                        <p:attrNameLst>
                                          <p:attrName>fillcolor</p:attrName>
                                        </p:attrNameLst>
                                      </p:cBhvr>
                                      <p:tavLst>
                                        <p:tav tm="0">
                                          <p:val>
                                            <p:clrVal>
                                              <a:schemeClr val="accent2"/>
                                            </p:clrVal>
                                          </p:val>
                                        </p:tav>
                                        <p:tav tm="50000">
                                          <p:val>
                                            <p:clrVal>
                                              <a:schemeClr val="hlink"/>
                                            </p:clrVal>
                                          </p:val>
                                        </p:tav>
                                      </p:tavLst>
                                    </p:anim>
                                    <p:set>
                                      <p:cBhvr>
                                        <p:cTn id="353" dur="80"/>
                                        <p:tgtEl>
                                          <p:spTgt spid="86145"/>
                                        </p:tgtEl>
                                        <p:attrNameLst>
                                          <p:attrName>fill.type</p:attrName>
                                        </p:attrNameLst>
                                      </p:cBhvr>
                                      <p:to>
                                        <p:strVal val="solid"/>
                                      </p:to>
                                    </p:set>
                                  </p:childTnLst>
                                </p:cTn>
                              </p:par>
                            </p:childTnLst>
                          </p:cTn>
                        </p:par>
                      </p:childTnLst>
                    </p:cTn>
                  </p:par>
                  <p:par>
                    <p:cTn id="354" fill="hold">
                      <p:stCondLst>
                        <p:cond delay="indefinite"/>
                      </p:stCondLst>
                      <p:childTnLst>
                        <p:par>
                          <p:cTn id="355" fill="hold">
                            <p:stCondLst>
                              <p:cond delay="0"/>
                            </p:stCondLst>
                            <p:childTnLst>
                              <p:par>
                                <p:cTn id="356" presetID="22" presetClass="entr" presetSubtype="1" fill="hold" nodeType="clickEffect">
                                  <p:stCondLst>
                                    <p:cond delay="0"/>
                                  </p:stCondLst>
                                  <p:childTnLst>
                                    <p:set>
                                      <p:cBhvr>
                                        <p:cTn id="357" dur="1" fill="hold">
                                          <p:stCondLst>
                                            <p:cond delay="0"/>
                                          </p:stCondLst>
                                        </p:cTn>
                                        <p:tgtEl>
                                          <p:spTgt spid="86483"/>
                                        </p:tgtEl>
                                        <p:attrNameLst>
                                          <p:attrName>style.visibility</p:attrName>
                                        </p:attrNameLst>
                                      </p:cBhvr>
                                      <p:to>
                                        <p:strVal val="visible"/>
                                      </p:to>
                                    </p:set>
                                    <p:animEffect transition="in" filter="wipe(up)">
                                      <p:cBhvr>
                                        <p:cTn id="358" dur="500"/>
                                        <p:tgtEl>
                                          <p:spTgt spid="86483"/>
                                        </p:tgtEl>
                                      </p:cBhvr>
                                    </p:animEffect>
                                  </p:childTnLst>
                                </p:cTn>
                              </p:par>
                              <p:par>
                                <p:cTn id="359" presetID="22" presetClass="entr" presetSubtype="1" fill="hold" grpId="0" nodeType="withEffect">
                                  <p:stCondLst>
                                    <p:cond delay="0"/>
                                  </p:stCondLst>
                                  <p:childTnLst>
                                    <p:set>
                                      <p:cBhvr>
                                        <p:cTn id="360" dur="1" fill="hold">
                                          <p:stCondLst>
                                            <p:cond delay="0"/>
                                          </p:stCondLst>
                                        </p:cTn>
                                        <p:tgtEl>
                                          <p:spTgt spid="86484"/>
                                        </p:tgtEl>
                                        <p:attrNameLst>
                                          <p:attrName>style.visibility</p:attrName>
                                        </p:attrNameLst>
                                      </p:cBhvr>
                                      <p:to>
                                        <p:strVal val="visible"/>
                                      </p:to>
                                    </p:set>
                                    <p:animEffect transition="in" filter="wipe(up)">
                                      <p:cBhvr>
                                        <p:cTn id="361" dur="500"/>
                                        <p:tgtEl>
                                          <p:spTgt spid="86484"/>
                                        </p:tgtEl>
                                      </p:cBhvr>
                                    </p:animEffect>
                                  </p:childTnLst>
                                </p:cTn>
                              </p:par>
                            </p:childTnLst>
                          </p:cTn>
                        </p:par>
                      </p:childTnLst>
                    </p:cTn>
                  </p:par>
                  <p:par>
                    <p:cTn id="362" fill="hold">
                      <p:stCondLst>
                        <p:cond delay="indefinite"/>
                      </p:stCondLst>
                      <p:childTnLst>
                        <p:par>
                          <p:cTn id="363" fill="hold">
                            <p:stCondLst>
                              <p:cond delay="0"/>
                            </p:stCondLst>
                            <p:childTnLst>
                              <p:par>
                                <p:cTn id="364" presetID="35" presetClass="emph" presetSubtype="0" fill="hold" grpId="1" nodeType="clickEffect">
                                  <p:stCondLst>
                                    <p:cond delay="0"/>
                                  </p:stCondLst>
                                  <p:iterate type="lt">
                                    <p:tmAbs val="0"/>
                                  </p:iterate>
                                  <p:childTnLst>
                                    <p:anim calcmode="discrete" valueType="str">
                                      <p:cBhvr>
                                        <p:cTn id="365" dur="1000" fill="hold"/>
                                        <p:tgtEl>
                                          <p:spTgt spid="86145"/>
                                        </p:tgtEl>
                                        <p:attrNameLst>
                                          <p:attrName>style.visibility</p:attrName>
                                        </p:attrNameLst>
                                      </p:cBhvr>
                                      <p:tavLst>
                                        <p:tav tm="0">
                                          <p:val>
                                            <p:strVal val="hidden"/>
                                          </p:val>
                                        </p:tav>
                                        <p:tav tm="50000">
                                          <p:val>
                                            <p:strVal val="visible"/>
                                          </p:val>
                                        </p:tav>
                                      </p:tavLst>
                                    </p:anim>
                                  </p:childTnLst>
                                </p:cTn>
                              </p:par>
                              <p:par>
                                <p:cTn id="366" presetID="35" presetClass="emph" presetSubtype="0" fill="hold" grpId="1" nodeType="withEffect">
                                  <p:stCondLst>
                                    <p:cond delay="0"/>
                                  </p:stCondLst>
                                  <p:iterate type="lt">
                                    <p:tmAbs val="0"/>
                                  </p:iterate>
                                  <p:childTnLst>
                                    <p:anim calcmode="discrete" valueType="str">
                                      <p:cBhvr>
                                        <p:cTn id="367" dur="1000" fill="hold"/>
                                        <p:tgtEl>
                                          <p:spTgt spid="86139"/>
                                        </p:tgtEl>
                                        <p:attrNameLst>
                                          <p:attrName>style.visibility</p:attrName>
                                        </p:attrNameLst>
                                      </p:cBhvr>
                                      <p:tavLst>
                                        <p:tav tm="0">
                                          <p:val>
                                            <p:strVal val="hidden"/>
                                          </p:val>
                                        </p:tav>
                                        <p:tav tm="50000">
                                          <p:val>
                                            <p:strVal val="visible"/>
                                          </p:val>
                                        </p:tav>
                                      </p:tavLst>
                                    </p:anim>
                                  </p:childTnLst>
                                </p:cTn>
                              </p:par>
                            </p:childTnLst>
                          </p:cTn>
                        </p:par>
                      </p:childTnLst>
                    </p:cTn>
                  </p:par>
                  <p:par>
                    <p:cTn id="368" fill="hold">
                      <p:stCondLst>
                        <p:cond delay="indefinite"/>
                      </p:stCondLst>
                      <p:childTnLst>
                        <p:par>
                          <p:cTn id="369" fill="hold">
                            <p:stCondLst>
                              <p:cond delay="0"/>
                            </p:stCondLst>
                            <p:childTnLst>
                              <p:par>
                                <p:cTn id="370" presetID="1" presetClass="emph" presetSubtype="2" fill="hold" nodeType="clickEffect">
                                  <p:stCondLst>
                                    <p:cond delay="0"/>
                                  </p:stCondLst>
                                  <p:childTnLst>
                                    <p:animClr clrSpc="rgb" dir="cw">
                                      <p:cBhvr>
                                        <p:cTn id="371" dur="2000" fill="hold"/>
                                        <p:tgtEl>
                                          <p:spTgt spid="86484"/>
                                        </p:tgtEl>
                                        <p:attrNameLst>
                                          <p:attrName>fillcolor</p:attrName>
                                        </p:attrNameLst>
                                      </p:cBhvr>
                                      <p:to>
                                        <a:srgbClr val="FF0000"/>
                                      </p:to>
                                    </p:animClr>
                                    <p:set>
                                      <p:cBhvr>
                                        <p:cTn id="372" dur="2000" fill="hold"/>
                                        <p:tgtEl>
                                          <p:spTgt spid="86484"/>
                                        </p:tgtEl>
                                        <p:attrNameLst>
                                          <p:attrName>fill.type</p:attrName>
                                        </p:attrNameLst>
                                      </p:cBhvr>
                                      <p:to>
                                        <p:strVal val="solid"/>
                                      </p:to>
                                    </p:set>
                                    <p:set>
                                      <p:cBhvr>
                                        <p:cTn id="373" dur="2000" fill="hold"/>
                                        <p:tgtEl>
                                          <p:spTgt spid="86484"/>
                                        </p:tgtEl>
                                        <p:attrNameLst>
                                          <p:attrName>fill.on</p:attrName>
                                        </p:attrNameLst>
                                      </p:cBhvr>
                                      <p:to>
                                        <p:strVal val="true"/>
                                      </p:to>
                                    </p:set>
                                  </p:childTnLst>
                                </p:cTn>
                              </p:par>
                            </p:childTnLst>
                          </p:cTn>
                        </p:par>
                      </p:childTnLst>
                    </p:cTn>
                  </p:par>
                  <p:par>
                    <p:cTn id="374" fill="hold">
                      <p:stCondLst>
                        <p:cond delay="indefinite"/>
                      </p:stCondLst>
                      <p:childTnLst>
                        <p:par>
                          <p:cTn id="375" fill="hold">
                            <p:stCondLst>
                              <p:cond delay="0"/>
                            </p:stCondLst>
                            <p:childTnLst>
                              <p:par>
                                <p:cTn id="376" presetID="3" presetClass="entr" presetSubtype="10" fill="hold" nodeType="clickEffect">
                                  <p:stCondLst>
                                    <p:cond delay="0"/>
                                  </p:stCondLst>
                                  <p:childTnLst>
                                    <p:set>
                                      <p:cBhvr>
                                        <p:cTn id="377" dur="1" fill="hold">
                                          <p:stCondLst>
                                            <p:cond delay="0"/>
                                          </p:stCondLst>
                                        </p:cTn>
                                        <p:tgtEl>
                                          <p:spTgt spid="86485"/>
                                        </p:tgtEl>
                                        <p:attrNameLst>
                                          <p:attrName>style.visibility</p:attrName>
                                        </p:attrNameLst>
                                      </p:cBhvr>
                                      <p:to>
                                        <p:strVal val="visible"/>
                                      </p:to>
                                    </p:set>
                                    <p:animEffect transition="in" filter="blinds(horizontal)">
                                      <p:cBhvr>
                                        <p:cTn id="378" dur="500"/>
                                        <p:tgtEl>
                                          <p:spTgt spid="86485"/>
                                        </p:tgtEl>
                                      </p:cBhvr>
                                    </p:animEffect>
                                  </p:childTnLst>
                                </p:cTn>
                              </p:par>
                              <p:par>
                                <p:cTn id="379" presetID="3" presetClass="entr" presetSubtype="10" fill="hold" grpId="0" nodeType="withEffect">
                                  <p:stCondLst>
                                    <p:cond delay="0"/>
                                  </p:stCondLst>
                                  <p:childTnLst>
                                    <p:set>
                                      <p:cBhvr>
                                        <p:cTn id="380" dur="1" fill="hold">
                                          <p:stCondLst>
                                            <p:cond delay="0"/>
                                          </p:stCondLst>
                                        </p:cTn>
                                        <p:tgtEl>
                                          <p:spTgt spid="86422"/>
                                        </p:tgtEl>
                                        <p:attrNameLst>
                                          <p:attrName>style.visibility</p:attrName>
                                        </p:attrNameLst>
                                      </p:cBhvr>
                                      <p:to>
                                        <p:strVal val="visible"/>
                                      </p:to>
                                    </p:set>
                                    <p:animEffect transition="in" filter="blinds(horizontal)">
                                      <p:cBhvr>
                                        <p:cTn id="381" dur="500"/>
                                        <p:tgtEl>
                                          <p:spTgt spid="86422"/>
                                        </p:tgtEl>
                                      </p:cBhvr>
                                    </p:animEffect>
                                  </p:childTnLst>
                                </p:cTn>
                              </p:par>
                              <p:par>
                                <p:cTn id="382" presetID="3" presetClass="entr" presetSubtype="10" fill="hold" grpId="0" nodeType="withEffect">
                                  <p:stCondLst>
                                    <p:cond delay="0"/>
                                  </p:stCondLst>
                                  <p:childTnLst>
                                    <p:set>
                                      <p:cBhvr>
                                        <p:cTn id="383" dur="1" fill="hold">
                                          <p:stCondLst>
                                            <p:cond delay="0"/>
                                          </p:stCondLst>
                                        </p:cTn>
                                        <p:tgtEl>
                                          <p:spTgt spid="86421"/>
                                        </p:tgtEl>
                                        <p:attrNameLst>
                                          <p:attrName>style.visibility</p:attrName>
                                        </p:attrNameLst>
                                      </p:cBhvr>
                                      <p:to>
                                        <p:strVal val="visible"/>
                                      </p:to>
                                    </p:set>
                                    <p:animEffect transition="in" filter="blinds(horizontal)">
                                      <p:cBhvr>
                                        <p:cTn id="384" dur="500"/>
                                        <p:tgtEl>
                                          <p:spTgt spid="86421"/>
                                        </p:tgtEl>
                                      </p:cBhvr>
                                    </p:animEffect>
                                  </p:childTnLst>
                                </p:cTn>
                              </p:par>
                            </p:childTnLst>
                          </p:cTn>
                        </p:par>
                      </p:childTnLst>
                    </p:cTn>
                  </p:par>
                  <p:par>
                    <p:cTn id="385" fill="hold">
                      <p:stCondLst>
                        <p:cond delay="indefinite"/>
                      </p:stCondLst>
                      <p:childTnLst>
                        <p:par>
                          <p:cTn id="386" fill="hold">
                            <p:stCondLst>
                              <p:cond delay="0"/>
                            </p:stCondLst>
                            <p:childTnLst>
                              <p:par>
                                <p:cTn id="387" presetID="27" presetClass="entr" presetSubtype="0" fill="hold" grpId="0" nodeType="clickEffect">
                                  <p:stCondLst>
                                    <p:cond delay="0"/>
                                  </p:stCondLst>
                                  <p:iterate type="lt">
                                    <p:tmPct val="50000"/>
                                  </p:iterate>
                                  <p:childTnLst>
                                    <p:set>
                                      <p:cBhvr>
                                        <p:cTn id="388" dur="1" fill="hold">
                                          <p:stCondLst>
                                            <p:cond delay="0"/>
                                          </p:stCondLst>
                                        </p:cTn>
                                        <p:tgtEl>
                                          <p:spTgt spid="86423"/>
                                        </p:tgtEl>
                                        <p:attrNameLst>
                                          <p:attrName>style.visibility</p:attrName>
                                        </p:attrNameLst>
                                      </p:cBhvr>
                                      <p:to>
                                        <p:strVal val="visible"/>
                                      </p:to>
                                    </p:set>
                                    <p:anim calcmode="discrete" valueType="clr">
                                      <p:cBhvr override="childStyle">
                                        <p:cTn id="389" dur="80"/>
                                        <p:tgtEl>
                                          <p:spTgt spid="86423"/>
                                        </p:tgtEl>
                                        <p:attrNameLst>
                                          <p:attrName>style.color</p:attrName>
                                        </p:attrNameLst>
                                      </p:cBhvr>
                                      <p:tavLst>
                                        <p:tav tm="0">
                                          <p:val>
                                            <p:clrVal>
                                              <a:schemeClr val="accent2"/>
                                            </p:clrVal>
                                          </p:val>
                                        </p:tav>
                                        <p:tav tm="50000">
                                          <p:val>
                                            <p:clrVal>
                                              <a:schemeClr val="hlink"/>
                                            </p:clrVal>
                                          </p:val>
                                        </p:tav>
                                      </p:tavLst>
                                    </p:anim>
                                    <p:anim calcmode="discrete" valueType="clr">
                                      <p:cBhvr>
                                        <p:cTn id="390" dur="80"/>
                                        <p:tgtEl>
                                          <p:spTgt spid="86423"/>
                                        </p:tgtEl>
                                        <p:attrNameLst>
                                          <p:attrName>fillcolor</p:attrName>
                                        </p:attrNameLst>
                                      </p:cBhvr>
                                      <p:tavLst>
                                        <p:tav tm="0">
                                          <p:val>
                                            <p:clrVal>
                                              <a:schemeClr val="accent2"/>
                                            </p:clrVal>
                                          </p:val>
                                        </p:tav>
                                        <p:tav tm="50000">
                                          <p:val>
                                            <p:clrVal>
                                              <a:schemeClr val="hlink"/>
                                            </p:clrVal>
                                          </p:val>
                                        </p:tav>
                                      </p:tavLst>
                                    </p:anim>
                                    <p:set>
                                      <p:cBhvr>
                                        <p:cTn id="391" dur="80"/>
                                        <p:tgtEl>
                                          <p:spTgt spid="86423"/>
                                        </p:tgtEl>
                                        <p:attrNameLst>
                                          <p:attrName>fill.type</p:attrName>
                                        </p:attrNameLst>
                                      </p:cBhvr>
                                      <p:to>
                                        <p:strVal val="solid"/>
                                      </p:to>
                                    </p:set>
                                  </p:childTnLst>
                                </p:cTn>
                              </p:par>
                            </p:childTnLst>
                          </p:cTn>
                        </p:par>
                      </p:childTnLst>
                    </p:cTn>
                  </p:par>
                  <p:par>
                    <p:cTn id="392" fill="hold">
                      <p:stCondLst>
                        <p:cond delay="indefinite"/>
                      </p:stCondLst>
                      <p:childTnLst>
                        <p:par>
                          <p:cTn id="393" fill="hold">
                            <p:stCondLst>
                              <p:cond delay="0"/>
                            </p:stCondLst>
                            <p:childTnLst>
                              <p:par>
                                <p:cTn id="394" presetID="22" presetClass="entr" presetSubtype="1" fill="hold" nodeType="clickEffect">
                                  <p:stCondLst>
                                    <p:cond delay="0"/>
                                  </p:stCondLst>
                                  <p:childTnLst>
                                    <p:set>
                                      <p:cBhvr>
                                        <p:cTn id="395" dur="1" fill="hold">
                                          <p:stCondLst>
                                            <p:cond delay="0"/>
                                          </p:stCondLst>
                                        </p:cTn>
                                        <p:tgtEl>
                                          <p:spTgt spid="86486"/>
                                        </p:tgtEl>
                                        <p:attrNameLst>
                                          <p:attrName>style.visibility</p:attrName>
                                        </p:attrNameLst>
                                      </p:cBhvr>
                                      <p:to>
                                        <p:strVal val="visible"/>
                                      </p:to>
                                    </p:set>
                                    <p:animEffect transition="in" filter="wipe(up)">
                                      <p:cBhvr>
                                        <p:cTn id="396" dur="500"/>
                                        <p:tgtEl>
                                          <p:spTgt spid="86486"/>
                                        </p:tgtEl>
                                      </p:cBhvr>
                                    </p:animEffect>
                                  </p:childTnLst>
                                </p:cTn>
                              </p:par>
                              <p:par>
                                <p:cTn id="397" presetID="22" presetClass="entr" presetSubtype="1" fill="hold" grpId="0" nodeType="withEffect">
                                  <p:stCondLst>
                                    <p:cond delay="0"/>
                                  </p:stCondLst>
                                  <p:childTnLst>
                                    <p:set>
                                      <p:cBhvr>
                                        <p:cTn id="398" dur="1" fill="hold">
                                          <p:stCondLst>
                                            <p:cond delay="0"/>
                                          </p:stCondLst>
                                        </p:cTn>
                                        <p:tgtEl>
                                          <p:spTgt spid="86487"/>
                                        </p:tgtEl>
                                        <p:attrNameLst>
                                          <p:attrName>style.visibility</p:attrName>
                                        </p:attrNameLst>
                                      </p:cBhvr>
                                      <p:to>
                                        <p:strVal val="visible"/>
                                      </p:to>
                                    </p:set>
                                    <p:animEffect transition="in" filter="wipe(up)">
                                      <p:cBhvr>
                                        <p:cTn id="399" dur="500"/>
                                        <p:tgtEl>
                                          <p:spTgt spid="86487"/>
                                        </p:tgtEl>
                                      </p:cBhvr>
                                    </p:animEffect>
                                  </p:childTnLst>
                                </p:cTn>
                              </p:par>
                            </p:childTnLst>
                          </p:cTn>
                        </p:par>
                      </p:childTnLst>
                    </p:cTn>
                  </p:par>
                  <p:par>
                    <p:cTn id="400" fill="hold">
                      <p:stCondLst>
                        <p:cond delay="indefinite"/>
                      </p:stCondLst>
                      <p:childTnLst>
                        <p:par>
                          <p:cTn id="401" fill="hold">
                            <p:stCondLst>
                              <p:cond delay="0"/>
                            </p:stCondLst>
                            <p:childTnLst>
                              <p:par>
                                <p:cTn id="402" presetID="35" presetClass="emph" presetSubtype="0" fill="hold" grpId="1" nodeType="clickEffect">
                                  <p:stCondLst>
                                    <p:cond delay="0"/>
                                  </p:stCondLst>
                                  <p:iterate type="lt">
                                    <p:tmAbs val="0"/>
                                  </p:iterate>
                                  <p:childTnLst>
                                    <p:anim calcmode="discrete" valueType="str">
                                      <p:cBhvr>
                                        <p:cTn id="403" dur="1000" fill="hold"/>
                                        <p:tgtEl>
                                          <p:spTgt spid="86423"/>
                                        </p:tgtEl>
                                        <p:attrNameLst>
                                          <p:attrName>style.visibility</p:attrName>
                                        </p:attrNameLst>
                                      </p:cBhvr>
                                      <p:tavLst>
                                        <p:tav tm="0">
                                          <p:val>
                                            <p:strVal val="hidden"/>
                                          </p:val>
                                        </p:tav>
                                        <p:tav tm="50000">
                                          <p:val>
                                            <p:strVal val="visible"/>
                                          </p:val>
                                        </p:tav>
                                      </p:tavLst>
                                    </p:anim>
                                  </p:childTnLst>
                                </p:cTn>
                              </p:par>
                              <p:par>
                                <p:cTn id="404" presetID="35" presetClass="emph" presetSubtype="0" fill="hold" grpId="1" nodeType="withEffect">
                                  <p:stCondLst>
                                    <p:cond delay="0"/>
                                  </p:stCondLst>
                                  <p:childTnLst>
                                    <p:anim calcmode="discrete" valueType="str">
                                      <p:cBhvr>
                                        <p:cTn id="405" dur="1000" fill="hold"/>
                                        <p:tgtEl>
                                          <p:spTgt spid="86422"/>
                                        </p:tgtEl>
                                        <p:attrNameLst>
                                          <p:attrName>style.visibility</p:attrName>
                                        </p:attrNameLst>
                                      </p:cBhvr>
                                      <p:tavLst>
                                        <p:tav tm="0">
                                          <p:val>
                                            <p:strVal val="hidden"/>
                                          </p:val>
                                        </p:tav>
                                        <p:tav tm="50000">
                                          <p:val>
                                            <p:strVal val="visible"/>
                                          </p:val>
                                        </p:tav>
                                      </p:tavLst>
                                    </p:anim>
                                  </p:childTnLst>
                                </p:cTn>
                              </p:par>
                            </p:childTnLst>
                          </p:cTn>
                        </p:par>
                      </p:childTnLst>
                    </p:cTn>
                  </p:par>
                  <p:par>
                    <p:cTn id="406" fill="hold">
                      <p:stCondLst>
                        <p:cond delay="indefinite"/>
                      </p:stCondLst>
                      <p:childTnLst>
                        <p:par>
                          <p:cTn id="407" fill="hold">
                            <p:stCondLst>
                              <p:cond delay="0"/>
                            </p:stCondLst>
                            <p:childTnLst>
                              <p:par>
                                <p:cTn id="408" presetID="1" presetClass="emph" presetSubtype="2" fill="hold" nodeType="clickEffect">
                                  <p:stCondLst>
                                    <p:cond delay="0"/>
                                  </p:stCondLst>
                                  <p:childTnLst>
                                    <p:animClr clrSpc="rgb" dir="cw">
                                      <p:cBhvr>
                                        <p:cTn id="409" dur="2000" fill="hold"/>
                                        <p:tgtEl>
                                          <p:spTgt spid="86487"/>
                                        </p:tgtEl>
                                        <p:attrNameLst>
                                          <p:attrName>fillcolor</p:attrName>
                                        </p:attrNameLst>
                                      </p:cBhvr>
                                      <p:to>
                                        <a:srgbClr val="FF0000"/>
                                      </p:to>
                                    </p:animClr>
                                    <p:set>
                                      <p:cBhvr>
                                        <p:cTn id="410" dur="2000" fill="hold"/>
                                        <p:tgtEl>
                                          <p:spTgt spid="86487"/>
                                        </p:tgtEl>
                                        <p:attrNameLst>
                                          <p:attrName>fill.type</p:attrName>
                                        </p:attrNameLst>
                                      </p:cBhvr>
                                      <p:to>
                                        <p:strVal val="solid"/>
                                      </p:to>
                                    </p:set>
                                    <p:set>
                                      <p:cBhvr>
                                        <p:cTn id="411" dur="2000" fill="hold"/>
                                        <p:tgtEl>
                                          <p:spTgt spid="86487"/>
                                        </p:tgtEl>
                                        <p:attrNameLst>
                                          <p:attrName>fill.on</p:attrName>
                                        </p:attrNameLst>
                                      </p:cBhvr>
                                      <p:to>
                                        <p:strVal val="true"/>
                                      </p:to>
                                    </p:set>
                                  </p:childTnLst>
                                </p:cTn>
                              </p:par>
                            </p:childTnLst>
                          </p:cTn>
                        </p:par>
                      </p:childTnLst>
                    </p:cTn>
                  </p:par>
                  <p:par>
                    <p:cTn id="412" fill="hold">
                      <p:stCondLst>
                        <p:cond delay="indefinite"/>
                      </p:stCondLst>
                      <p:childTnLst>
                        <p:par>
                          <p:cTn id="413" fill="hold">
                            <p:stCondLst>
                              <p:cond delay="0"/>
                            </p:stCondLst>
                            <p:childTnLst>
                              <p:par>
                                <p:cTn id="414" presetID="27" presetClass="entr" presetSubtype="0" fill="hold" grpId="0" nodeType="clickEffect">
                                  <p:stCondLst>
                                    <p:cond delay="0"/>
                                  </p:stCondLst>
                                  <p:iterate type="lt">
                                    <p:tmPct val="50000"/>
                                  </p:iterate>
                                  <p:childTnLst>
                                    <p:set>
                                      <p:cBhvr>
                                        <p:cTn id="415" dur="1" fill="hold">
                                          <p:stCondLst>
                                            <p:cond delay="0"/>
                                          </p:stCondLst>
                                        </p:cTn>
                                        <p:tgtEl>
                                          <p:spTgt spid="86424"/>
                                        </p:tgtEl>
                                        <p:attrNameLst>
                                          <p:attrName>style.visibility</p:attrName>
                                        </p:attrNameLst>
                                      </p:cBhvr>
                                      <p:to>
                                        <p:strVal val="visible"/>
                                      </p:to>
                                    </p:set>
                                    <p:anim calcmode="discrete" valueType="clr">
                                      <p:cBhvr override="childStyle">
                                        <p:cTn id="416" dur="80"/>
                                        <p:tgtEl>
                                          <p:spTgt spid="86424"/>
                                        </p:tgtEl>
                                        <p:attrNameLst>
                                          <p:attrName>style.color</p:attrName>
                                        </p:attrNameLst>
                                      </p:cBhvr>
                                      <p:tavLst>
                                        <p:tav tm="0">
                                          <p:val>
                                            <p:clrVal>
                                              <a:schemeClr val="accent2"/>
                                            </p:clrVal>
                                          </p:val>
                                        </p:tav>
                                        <p:tav tm="50000">
                                          <p:val>
                                            <p:clrVal>
                                              <a:schemeClr val="hlink"/>
                                            </p:clrVal>
                                          </p:val>
                                        </p:tav>
                                      </p:tavLst>
                                    </p:anim>
                                    <p:anim calcmode="discrete" valueType="clr">
                                      <p:cBhvr>
                                        <p:cTn id="417" dur="80"/>
                                        <p:tgtEl>
                                          <p:spTgt spid="86424"/>
                                        </p:tgtEl>
                                        <p:attrNameLst>
                                          <p:attrName>fillcolor</p:attrName>
                                        </p:attrNameLst>
                                      </p:cBhvr>
                                      <p:tavLst>
                                        <p:tav tm="0">
                                          <p:val>
                                            <p:clrVal>
                                              <a:schemeClr val="accent2"/>
                                            </p:clrVal>
                                          </p:val>
                                        </p:tav>
                                        <p:tav tm="50000">
                                          <p:val>
                                            <p:clrVal>
                                              <a:schemeClr val="hlink"/>
                                            </p:clrVal>
                                          </p:val>
                                        </p:tav>
                                      </p:tavLst>
                                    </p:anim>
                                    <p:set>
                                      <p:cBhvr>
                                        <p:cTn id="418" dur="80"/>
                                        <p:tgtEl>
                                          <p:spTgt spid="86424"/>
                                        </p:tgtEl>
                                        <p:attrNameLst>
                                          <p:attrName>fill.type</p:attrName>
                                        </p:attrNameLst>
                                      </p:cBhvr>
                                      <p:to>
                                        <p:strVal val="solid"/>
                                      </p:to>
                                    </p:set>
                                  </p:childTnLst>
                                </p:cTn>
                              </p:par>
                            </p:childTnLst>
                          </p:cTn>
                        </p:par>
                      </p:childTnLst>
                    </p:cTn>
                  </p:par>
                  <p:par>
                    <p:cTn id="419" fill="hold">
                      <p:stCondLst>
                        <p:cond delay="indefinite"/>
                      </p:stCondLst>
                      <p:childTnLst>
                        <p:par>
                          <p:cTn id="420" fill="hold">
                            <p:stCondLst>
                              <p:cond delay="0"/>
                            </p:stCondLst>
                            <p:childTnLst>
                              <p:par>
                                <p:cTn id="421" presetID="22" presetClass="entr" presetSubtype="1" fill="hold" nodeType="clickEffect">
                                  <p:stCondLst>
                                    <p:cond delay="0"/>
                                  </p:stCondLst>
                                  <p:childTnLst>
                                    <p:set>
                                      <p:cBhvr>
                                        <p:cTn id="422" dur="1" fill="hold">
                                          <p:stCondLst>
                                            <p:cond delay="0"/>
                                          </p:stCondLst>
                                        </p:cTn>
                                        <p:tgtEl>
                                          <p:spTgt spid="86488"/>
                                        </p:tgtEl>
                                        <p:attrNameLst>
                                          <p:attrName>style.visibility</p:attrName>
                                        </p:attrNameLst>
                                      </p:cBhvr>
                                      <p:to>
                                        <p:strVal val="visible"/>
                                      </p:to>
                                    </p:set>
                                    <p:animEffect transition="in" filter="wipe(up)">
                                      <p:cBhvr>
                                        <p:cTn id="423" dur="500"/>
                                        <p:tgtEl>
                                          <p:spTgt spid="86488"/>
                                        </p:tgtEl>
                                      </p:cBhvr>
                                    </p:animEffect>
                                  </p:childTnLst>
                                </p:cTn>
                              </p:par>
                              <p:par>
                                <p:cTn id="424" presetID="22" presetClass="entr" presetSubtype="1" fill="hold" grpId="0" nodeType="withEffect">
                                  <p:stCondLst>
                                    <p:cond delay="0"/>
                                  </p:stCondLst>
                                  <p:childTnLst>
                                    <p:set>
                                      <p:cBhvr>
                                        <p:cTn id="425" dur="1" fill="hold">
                                          <p:stCondLst>
                                            <p:cond delay="0"/>
                                          </p:stCondLst>
                                        </p:cTn>
                                        <p:tgtEl>
                                          <p:spTgt spid="86489"/>
                                        </p:tgtEl>
                                        <p:attrNameLst>
                                          <p:attrName>style.visibility</p:attrName>
                                        </p:attrNameLst>
                                      </p:cBhvr>
                                      <p:to>
                                        <p:strVal val="visible"/>
                                      </p:to>
                                    </p:set>
                                    <p:animEffect transition="in" filter="wipe(up)">
                                      <p:cBhvr>
                                        <p:cTn id="426" dur="500"/>
                                        <p:tgtEl>
                                          <p:spTgt spid="86489"/>
                                        </p:tgtEl>
                                      </p:cBhvr>
                                    </p:animEffect>
                                  </p:childTnLst>
                                </p:cTn>
                              </p:par>
                            </p:childTnLst>
                          </p:cTn>
                        </p:par>
                      </p:childTnLst>
                    </p:cTn>
                  </p:par>
                  <p:par>
                    <p:cTn id="427" fill="hold">
                      <p:stCondLst>
                        <p:cond delay="indefinite"/>
                      </p:stCondLst>
                      <p:childTnLst>
                        <p:par>
                          <p:cTn id="428" fill="hold">
                            <p:stCondLst>
                              <p:cond delay="0"/>
                            </p:stCondLst>
                            <p:childTnLst>
                              <p:par>
                                <p:cTn id="429" presetID="35" presetClass="emph" presetSubtype="0" fill="hold" grpId="1" nodeType="clickEffect">
                                  <p:stCondLst>
                                    <p:cond delay="0"/>
                                  </p:stCondLst>
                                  <p:iterate type="lt">
                                    <p:tmAbs val="0"/>
                                  </p:iterate>
                                  <p:childTnLst>
                                    <p:anim calcmode="discrete" valueType="str">
                                      <p:cBhvr>
                                        <p:cTn id="430" dur="1000" fill="hold"/>
                                        <p:tgtEl>
                                          <p:spTgt spid="86424"/>
                                        </p:tgtEl>
                                        <p:attrNameLst>
                                          <p:attrName>style.visibility</p:attrName>
                                        </p:attrNameLst>
                                      </p:cBhvr>
                                      <p:tavLst>
                                        <p:tav tm="0">
                                          <p:val>
                                            <p:strVal val="hidden"/>
                                          </p:val>
                                        </p:tav>
                                        <p:tav tm="50000">
                                          <p:val>
                                            <p:strVal val="visible"/>
                                          </p:val>
                                        </p:tav>
                                      </p:tavLst>
                                    </p:anim>
                                  </p:childTnLst>
                                </p:cTn>
                              </p:par>
                              <p:par>
                                <p:cTn id="431" presetID="35" presetClass="emph" presetSubtype="0" fill="hold" grpId="2" nodeType="withEffect">
                                  <p:stCondLst>
                                    <p:cond delay="0"/>
                                  </p:stCondLst>
                                  <p:childTnLst>
                                    <p:anim calcmode="discrete" valueType="str">
                                      <p:cBhvr>
                                        <p:cTn id="432" dur="1000" fill="hold"/>
                                        <p:tgtEl>
                                          <p:spTgt spid="86422"/>
                                        </p:tgtEl>
                                        <p:attrNameLst>
                                          <p:attrName>style.visibility</p:attrName>
                                        </p:attrNameLst>
                                      </p:cBhvr>
                                      <p:tavLst>
                                        <p:tav tm="0">
                                          <p:val>
                                            <p:strVal val="hidden"/>
                                          </p:val>
                                        </p:tav>
                                        <p:tav tm="50000">
                                          <p:val>
                                            <p:strVal val="visible"/>
                                          </p:val>
                                        </p:tav>
                                      </p:tavLst>
                                    </p:anim>
                                  </p:childTnLst>
                                </p:cTn>
                              </p:par>
                            </p:childTnLst>
                          </p:cTn>
                        </p:par>
                      </p:childTnLst>
                    </p:cTn>
                  </p:par>
                  <p:par>
                    <p:cTn id="433" fill="hold">
                      <p:stCondLst>
                        <p:cond delay="indefinite"/>
                      </p:stCondLst>
                      <p:childTnLst>
                        <p:par>
                          <p:cTn id="434" fill="hold">
                            <p:stCondLst>
                              <p:cond delay="0"/>
                            </p:stCondLst>
                            <p:childTnLst>
                              <p:par>
                                <p:cTn id="435" presetID="1" presetClass="emph" presetSubtype="2" fill="hold" nodeType="clickEffect">
                                  <p:stCondLst>
                                    <p:cond delay="0"/>
                                  </p:stCondLst>
                                  <p:childTnLst>
                                    <p:animClr clrSpc="rgb" dir="cw">
                                      <p:cBhvr>
                                        <p:cTn id="436" dur="2000" fill="hold"/>
                                        <p:tgtEl>
                                          <p:spTgt spid="86489"/>
                                        </p:tgtEl>
                                        <p:attrNameLst>
                                          <p:attrName>fillcolor</p:attrName>
                                        </p:attrNameLst>
                                      </p:cBhvr>
                                      <p:to>
                                        <a:srgbClr val="FF0000"/>
                                      </p:to>
                                    </p:animClr>
                                    <p:set>
                                      <p:cBhvr>
                                        <p:cTn id="437" dur="2000" fill="hold"/>
                                        <p:tgtEl>
                                          <p:spTgt spid="86489"/>
                                        </p:tgtEl>
                                        <p:attrNameLst>
                                          <p:attrName>fill.type</p:attrName>
                                        </p:attrNameLst>
                                      </p:cBhvr>
                                      <p:to>
                                        <p:strVal val="solid"/>
                                      </p:to>
                                    </p:set>
                                    <p:set>
                                      <p:cBhvr>
                                        <p:cTn id="438" dur="2000" fill="hold"/>
                                        <p:tgtEl>
                                          <p:spTgt spid="86489"/>
                                        </p:tgtEl>
                                        <p:attrNameLst>
                                          <p:attrName>fill.on</p:attrName>
                                        </p:attrNameLst>
                                      </p:cBhvr>
                                      <p:to>
                                        <p:strVal val="true"/>
                                      </p:to>
                                    </p:set>
                                  </p:childTnLst>
                                </p:cTn>
                              </p:par>
                            </p:childTnLst>
                          </p:cTn>
                        </p:par>
                      </p:childTnLst>
                    </p:cTn>
                  </p:par>
                  <p:par>
                    <p:cTn id="439" fill="hold">
                      <p:stCondLst>
                        <p:cond delay="indefinite"/>
                      </p:stCondLst>
                      <p:childTnLst>
                        <p:par>
                          <p:cTn id="440" fill="hold">
                            <p:stCondLst>
                              <p:cond delay="0"/>
                            </p:stCondLst>
                            <p:childTnLst>
                              <p:par>
                                <p:cTn id="441" presetID="3" presetClass="entr" presetSubtype="10" fill="hold" nodeType="clickEffect">
                                  <p:stCondLst>
                                    <p:cond delay="0"/>
                                  </p:stCondLst>
                                  <p:childTnLst>
                                    <p:set>
                                      <p:cBhvr>
                                        <p:cTn id="442" dur="1" fill="hold">
                                          <p:stCondLst>
                                            <p:cond delay="0"/>
                                          </p:stCondLst>
                                        </p:cTn>
                                        <p:tgtEl>
                                          <p:spTgt spid="86490"/>
                                        </p:tgtEl>
                                        <p:attrNameLst>
                                          <p:attrName>style.visibility</p:attrName>
                                        </p:attrNameLst>
                                      </p:cBhvr>
                                      <p:to>
                                        <p:strVal val="visible"/>
                                      </p:to>
                                    </p:set>
                                    <p:animEffect transition="in" filter="blinds(horizontal)">
                                      <p:cBhvr>
                                        <p:cTn id="443" dur="500"/>
                                        <p:tgtEl>
                                          <p:spTgt spid="86490"/>
                                        </p:tgtEl>
                                      </p:cBhvr>
                                    </p:animEffect>
                                  </p:childTnLst>
                                </p:cTn>
                              </p:par>
                            </p:childTnLst>
                          </p:cTn>
                        </p:par>
                      </p:childTnLst>
                    </p:cTn>
                  </p:par>
                  <p:par>
                    <p:cTn id="444" fill="hold">
                      <p:stCondLst>
                        <p:cond delay="indefinite"/>
                      </p:stCondLst>
                      <p:childTnLst>
                        <p:par>
                          <p:cTn id="445" fill="hold">
                            <p:stCondLst>
                              <p:cond delay="0"/>
                            </p:stCondLst>
                            <p:childTnLst>
                              <p:par>
                                <p:cTn id="446" presetID="27" presetClass="entr" presetSubtype="0" fill="hold" grpId="0" nodeType="clickEffect">
                                  <p:stCondLst>
                                    <p:cond delay="0"/>
                                  </p:stCondLst>
                                  <p:iterate type="lt">
                                    <p:tmPct val="50000"/>
                                  </p:iterate>
                                  <p:childTnLst>
                                    <p:set>
                                      <p:cBhvr>
                                        <p:cTn id="447" dur="1" fill="hold">
                                          <p:stCondLst>
                                            <p:cond delay="0"/>
                                          </p:stCondLst>
                                        </p:cTn>
                                        <p:tgtEl>
                                          <p:spTgt spid="86150"/>
                                        </p:tgtEl>
                                        <p:attrNameLst>
                                          <p:attrName>style.visibility</p:attrName>
                                        </p:attrNameLst>
                                      </p:cBhvr>
                                      <p:to>
                                        <p:strVal val="visible"/>
                                      </p:to>
                                    </p:set>
                                    <p:anim calcmode="discrete" valueType="clr">
                                      <p:cBhvr override="childStyle">
                                        <p:cTn id="448" dur="80"/>
                                        <p:tgtEl>
                                          <p:spTgt spid="86150"/>
                                        </p:tgtEl>
                                        <p:attrNameLst>
                                          <p:attrName>style.color</p:attrName>
                                        </p:attrNameLst>
                                      </p:cBhvr>
                                      <p:tavLst>
                                        <p:tav tm="0">
                                          <p:val>
                                            <p:clrVal>
                                              <a:schemeClr val="accent2"/>
                                            </p:clrVal>
                                          </p:val>
                                        </p:tav>
                                        <p:tav tm="50000">
                                          <p:val>
                                            <p:clrVal>
                                              <a:schemeClr val="hlink"/>
                                            </p:clrVal>
                                          </p:val>
                                        </p:tav>
                                      </p:tavLst>
                                    </p:anim>
                                    <p:anim calcmode="discrete" valueType="clr">
                                      <p:cBhvr>
                                        <p:cTn id="449" dur="80"/>
                                        <p:tgtEl>
                                          <p:spTgt spid="86150"/>
                                        </p:tgtEl>
                                        <p:attrNameLst>
                                          <p:attrName>fillcolor</p:attrName>
                                        </p:attrNameLst>
                                      </p:cBhvr>
                                      <p:tavLst>
                                        <p:tav tm="0">
                                          <p:val>
                                            <p:clrVal>
                                              <a:schemeClr val="accent2"/>
                                            </p:clrVal>
                                          </p:val>
                                        </p:tav>
                                        <p:tav tm="50000">
                                          <p:val>
                                            <p:clrVal>
                                              <a:schemeClr val="hlink"/>
                                            </p:clrVal>
                                          </p:val>
                                        </p:tav>
                                      </p:tavLst>
                                    </p:anim>
                                    <p:set>
                                      <p:cBhvr>
                                        <p:cTn id="450" dur="80"/>
                                        <p:tgtEl>
                                          <p:spTgt spid="86150"/>
                                        </p:tgtEl>
                                        <p:attrNameLst>
                                          <p:attrName>fill.type</p:attrName>
                                        </p:attrNameLst>
                                      </p:cBhvr>
                                      <p:to>
                                        <p:strVal val="solid"/>
                                      </p:to>
                                    </p:set>
                                  </p:childTnLst>
                                </p:cTn>
                              </p:par>
                            </p:childTnLst>
                          </p:cTn>
                        </p:par>
                      </p:childTnLst>
                    </p:cTn>
                  </p:par>
                  <p:par>
                    <p:cTn id="451" fill="hold">
                      <p:stCondLst>
                        <p:cond delay="indefinite"/>
                      </p:stCondLst>
                      <p:childTnLst>
                        <p:par>
                          <p:cTn id="452" fill="hold">
                            <p:stCondLst>
                              <p:cond delay="0"/>
                            </p:stCondLst>
                            <p:childTnLst>
                              <p:par>
                                <p:cTn id="453" presetID="22" presetClass="entr" presetSubtype="1" fill="hold" nodeType="clickEffect">
                                  <p:stCondLst>
                                    <p:cond delay="0"/>
                                  </p:stCondLst>
                                  <p:childTnLst>
                                    <p:set>
                                      <p:cBhvr>
                                        <p:cTn id="454" dur="1" fill="hold">
                                          <p:stCondLst>
                                            <p:cond delay="0"/>
                                          </p:stCondLst>
                                        </p:cTn>
                                        <p:tgtEl>
                                          <p:spTgt spid="86491"/>
                                        </p:tgtEl>
                                        <p:attrNameLst>
                                          <p:attrName>style.visibility</p:attrName>
                                        </p:attrNameLst>
                                      </p:cBhvr>
                                      <p:to>
                                        <p:strVal val="visible"/>
                                      </p:to>
                                    </p:set>
                                    <p:animEffect transition="in" filter="wipe(up)">
                                      <p:cBhvr>
                                        <p:cTn id="455" dur="500"/>
                                        <p:tgtEl>
                                          <p:spTgt spid="86491"/>
                                        </p:tgtEl>
                                      </p:cBhvr>
                                    </p:animEffect>
                                  </p:childTnLst>
                                </p:cTn>
                              </p:par>
                              <p:par>
                                <p:cTn id="456" presetID="22" presetClass="entr" presetSubtype="1" fill="hold" grpId="0" nodeType="withEffect">
                                  <p:stCondLst>
                                    <p:cond delay="0"/>
                                  </p:stCondLst>
                                  <p:childTnLst>
                                    <p:set>
                                      <p:cBhvr>
                                        <p:cTn id="457" dur="1" fill="hold">
                                          <p:stCondLst>
                                            <p:cond delay="0"/>
                                          </p:stCondLst>
                                        </p:cTn>
                                        <p:tgtEl>
                                          <p:spTgt spid="86492"/>
                                        </p:tgtEl>
                                        <p:attrNameLst>
                                          <p:attrName>style.visibility</p:attrName>
                                        </p:attrNameLst>
                                      </p:cBhvr>
                                      <p:to>
                                        <p:strVal val="visible"/>
                                      </p:to>
                                    </p:set>
                                    <p:animEffect transition="in" filter="wipe(up)">
                                      <p:cBhvr>
                                        <p:cTn id="458" dur="500"/>
                                        <p:tgtEl>
                                          <p:spTgt spid="86492"/>
                                        </p:tgtEl>
                                      </p:cBhvr>
                                    </p:animEffect>
                                  </p:childTnLst>
                                </p:cTn>
                              </p:par>
                            </p:childTnLst>
                          </p:cTn>
                        </p:par>
                      </p:childTnLst>
                    </p:cTn>
                  </p:par>
                  <p:par>
                    <p:cTn id="459" fill="hold">
                      <p:stCondLst>
                        <p:cond delay="indefinite"/>
                      </p:stCondLst>
                      <p:childTnLst>
                        <p:par>
                          <p:cTn id="460" fill="hold">
                            <p:stCondLst>
                              <p:cond delay="0"/>
                            </p:stCondLst>
                            <p:childTnLst>
                              <p:par>
                                <p:cTn id="461" presetID="27" presetClass="entr" presetSubtype="0" fill="hold" grpId="0" nodeType="clickEffect">
                                  <p:stCondLst>
                                    <p:cond delay="0"/>
                                  </p:stCondLst>
                                  <p:iterate type="lt">
                                    <p:tmPct val="50000"/>
                                  </p:iterate>
                                  <p:childTnLst>
                                    <p:set>
                                      <p:cBhvr>
                                        <p:cTn id="462" dur="1" fill="hold">
                                          <p:stCondLst>
                                            <p:cond delay="0"/>
                                          </p:stCondLst>
                                        </p:cTn>
                                        <p:tgtEl>
                                          <p:spTgt spid="86151"/>
                                        </p:tgtEl>
                                        <p:attrNameLst>
                                          <p:attrName>style.visibility</p:attrName>
                                        </p:attrNameLst>
                                      </p:cBhvr>
                                      <p:to>
                                        <p:strVal val="visible"/>
                                      </p:to>
                                    </p:set>
                                    <p:anim calcmode="discrete" valueType="clr">
                                      <p:cBhvr override="childStyle">
                                        <p:cTn id="463" dur="80"/>
                                        <p:tgtEl>
                                          <p:spTgt spid="86151"/>
                                        </p:tgtEl>
                                        <p:attrNameLst>
                                          <p:attrName>style.color</p:attrName>
                                        </p:attrNameLst>
                                      </p:cBhvr>
                                      <p:tavLst>
                                        <p:tav tm="0">
                                          <p:val>
                                            <p:clrVal>
                                              <a:schemeClr val="accent2"/>
                                            </p:clrVal>
                                          </p:val>
                                        </p:tav>
                                        <p:tav tm="50000">
                                          <p:val>
                                            <p:clrVal>
                                              <a:schemeClr val="hlink"/>
                                            </p:clrVal>
                                          </p:val>
                                        </p:tav>
                                      </p:tavLst>
                                    </p:anim>
                                    <p:anim calcmode="discrete" valueType="clr">
                                      <p:cBhvr>
                                        <p:cTn id="464" dur="80"/>
                                        <p:tgtEl>
                                          <p:spTgt spid="86151"/>
                                        </p:tgtEl>
                                        <p:attrNameLst>
                                          <p:attrName>fillcolor</p:attrName>
                                        </p:attrNameLst>
                                      </p:cBhvr>
                                      <p:tavLst>
                                        <p:tav tm="0">
                                          <p:val>
                                            <p:clrVal>
                                              <a:schemeClr val="accent2"/>
                                            </p:clrVal>
                                          </p:val>
                                        </p:tav>
                                        <p:tav tm="50000">
                                          <p:val>
                                            <p:clrVal>
                                              <a:schemeClr val="hlink"/>
                                            </p:clrVal>
                                          </p:val>
                                        </p:tav>
                                      </p:tavLst>
                                    </p:anim>
                                    <p:set>
                                      <p:cBhvr>
                                        <p:cTn id="465" dur="80"/>
                                        <p:tgtEl>
                                          <p:spTgt spid="86151"/>
                                        </p:tgtEl>
                                        <p:attrNameLst>
                                          <p:attrName>fill.type</p:attrName>
                                        </p:attrNameLst>
                                      </p:cBhvr>
                                      <p:to>
                                        <p:strVal val="solid"/>
                                      </p:to>
                                    </p:set>
                                  </p:childTnLst>
                                </p:cTn>
                              </p:par>
                            </p:childTnLst>
                          </p:cTn>
                        </p:par>
                      </p:childTnLst>
                    </p:cTn>
                  </p:par>
                  <p:par>
                    <p:cTn id="466" fill="hold">
                      <p:stCondLst>
                        <p:cond delay="indefinite"/>
                      </p:stCondLst>
                      <p:childTnLst>
                        <p:par>
                          <p:cTn id="467" fill="hold">
                            <p:stCondLst>
                              <p:cond delay="0"/>
                            </p:stCondLst>
                            <p:childTnLst>
                              <p:par>
                                <p:cTn id="468" presetID="22" presetClass="entr" presetSubtype="1" fill="hold" nodeType="clickEffect">
                                  <p:stCondLst>
                                    <p:cond delay="0"/>
                                  </p:stCondLst>
                                  <p:childTnLst>
                                    <p:set>
                                      <p:cBhvr>
                                        <p:cTn id="469" dur="1" fill="hold">
                                          <p:stCondLst>
                                            <p:cond delay="0"/>
                                          </p:stCondLst>
                                        </p:cTn>
                                        <p:tgtEl>
                                          <p:spTgt spid="86493"/>
                                        </p:tgtEl>
                                        <p:attrNameLst>
                                          <p:attrName>style.visibility</p:attrName>
                                        </p:attrNameLst>
                                      </p:cBhvr>
                                      <p:to>
                                        <p:strVal val="visible"/>
                                      </p:to>
                                    </p:set>
                                    <p:animEffect transition="in" filter="wipe(up)">
                                      <p:cBhvr>
                                        <p:cTn id="470" dur="500"/>
                                        <p:tgtEl>
                                          <p:spTgt spid="86493"/>
                                        </p:tgtEl>
                                      </p:cBhvr>
                                    </p:animEffect>
                                  </p:childTnLst>
                                </p:cTn>
                              </p:par>
                              <p:par>
                                <p:cTn id="471" presetID="22" presetClass="entr" presetSubtype="1" fill="hold" grpId="0" nodeType="withEffect">
                                  <p:stCondLst>
                                    <p:cond delay="0"/>
                                  </p:stCondLst>
                                  <p:childTnLst>
                                    <p:set>
                                      <p:cBhvr>
                                        <p:cTn id="472" dur="1" fill="hold">
                                          <p:stCondLst>
                                            <p:cond delay="0"/>
                                          </p:stCondLst>
                                        </p:cTn>
                                        <p:tgtEl>
                                          <p:spTgt spid="86494"/>
                                        </p:tgtEl>
                                        <p:attrNameLst>
                                          <p:attrName>style.visibility</p:attrName>
                                        </p:attrNameLst>
                                      </p:cBhvr>
                                      <p:to>
                                        <p:strVal val="visible"/>
                                      </p:to>
                                    </p:set>
                                    <p:animEffect transition="in" filter="wipe(up)">
                                      <p:cBhvr>
                                        <p:cTn id="473" dur="500"/>
                                        <p:tgtEl>
                                          <p:spTgt spid="86494"/>
                                        </p:tgtEl>
                                      </p:cBhvr>
                                    </p:animEffect>
                                  </p:childTnLst>
                                </p:cTn>
                              </p:par>
                            </p:childTnLst>
                          </p:cTn>
                        </p:par>
                      </p:childTnLst>
                    </p:cTn>
                  </p:par>
                  <p:par>
                    <p:cTn id="474" fill="hold">
                      <p:stCondLst>
                        <p:cond delay="indefinite"/>
                      </p:stCondLst>
                      <p:childTnLst>
                        <p:par>
                          <p:cTn id="475" fill="hold">
                            <p:stCondLst>
                              <p:cond delay="0"/>
                            </p:stCondLst>
                            <p:childTnLst>
                              <p:par>
                                <p:cTn id="476" presetID="35" presetClass="emph" presetSubtype="0" fill="hold" grpId="1" nodeType="clickEffect">
                                  <p:stCondLst>
                                    <p:cond delay="0"/>
                                  </p:stCondLst>
                                  <p:iterate type="lt">
                                    <p:tmAbs val="0"/>
                                  </p:iterate>
                                  <p:childTnLst>
                                    <p:anim calcmode="discrete" valueType="str">
                                      <p:cBhvr>
                                        <p:cTn id="477" dur="1000" fill="hold"/>
                                        <p:tgtEl>
                                          <p:spTgt spid="86151"/>
                                        </p:tgtEl>
                                        <p:attrNameLst>
                                          <p:attrName>style.visibility</p:attrName>
                                        </p:attrNameLst>
                                      </p:cBhvr>
                                      <p:tavLst>
                                        <p:tav tm="0">
                                          <p:val>
                                            <p:strVal val="hidden"/>
                                          </p:val>
                                        </p:tav>
                                        <p:tav tm="50000">
                                          <p:val>
                                            <p:strVal val="visible"/>
                                          </p:val>
                                        </p:tav>
                                      </p:tavLst>
                                    </p:anim>
                                  </p:childTnLst>
                                </p:cTn>
                              </p:par>
                              <p:par>
                                <p:cTn id="478" presetID="35" presetClass="emph" presetSubtype="0" fill="hold" grpId="1" nodeType="withEffect">
                                  <p:stCondLst>
                                    <p:cond delay="0"/>
                                  </p:stCondLst>
                                  <p:iterate type="lt">
                                    <p:tmAbs val="0"/>
                                  </p:iterate>
                                  <p:childTnLst>
                                    <p:anim calcmode="discrete" valueType="str">
                                      <p:cBhvr>
                                        <p:cTn id="479" dur="1000" fill="hold"/>
                                        <p:tgtEl>
                                          <p:spTgt spid="86150"/>
                                        </p:tgtEl>
                                        <p:attrNameLst>
                                          <p:attrName>style.visibility</p:attrName>
                                        </p:attrNameLst>
                                      </p:cBhvr>
                                      <p:tavLst>
                                        <p:tav tm="0">
                                          <p:val>
                                            <p:strVal val="hidden"/>
                                          </p:val>
                                        </p:tav>
                                        <p:tav tm="50000">
                                          <p:val>
                                            <p:strVal val="visible"/>
                                          </p:val>
                                        </p:tav>
                                      </p:tavLst>
                                    </p:anim>
                                  </p:childTnLst>
                                </p:cTn>
                              </p:par>
                            </p:childTnLst>
                          </p:cTn>
                        </p:par>
                      </p:childTnLst>
                    </p:cTn>
                  </p:par>
                  <p:par>
                    <p:cTn id="480" fill="hold">
                      <p:stCondLst>
                        <p:cond delay="indefinite"/>
                      </p:stCondLst>
                      <p:childTnLst>
                        <p:par>
                          <p:cTn id="481" fill="hold">
                            <p:stCondLst>
                              <p:cond delay="0"/>
                            </p:stCondLst>
                            <p:childTnLst>
                              <p:par>
                                <p:cTn id="482" presetID="1" presetClass="emph" presetSubtype="2" fill="hold" nodeType="clickEffect">
                                  <p:stCondLst>
                                    <p:cond delay="0"/>
                                  </p:stCondLst>
                                  <p:childTnLst>
                                    <p:animClr clrSpc="rgb" dir="cw">
                                      <p:cBhvr>
                                        <p:cTn id="483" dur="2000" fill="hold"/>
                                        <p:tgtEl>
                                          <p:spTgt spid="86494"/>
                                        </p:tgtEl>
                                        <p:attrNameLst>
                                          <p:attrName>fillcolor</p:attrName>
                                        </p:attrNameLst>
                                      </p:cBhvr>
                                      <p:to>
                                        <a:srgbClr val="FF0000"/>
                                      </p:to>
                                    </p:animClr>
                                    <p:set>
                                      <p:cBhvr>
                                        <p:cTn id="484" dur="2000" fill="hold"/>
                                        <p:tgtEl>
                                          <p:spTgt spid="86494"/>
                                        </p:tgtEl>
                                        <p:attrNameLst>
                                          <p:attrName>fill.type</p:attrName>
                                        </p:attrNameLst>
                                      </p:cBhvr>
                                      <p:to>
                                        <p:strVal val="solid"/>
                                      </p:to>
                                    </p:set>
                                    <p:set>
                                      <p:cBhvr>
                                        <p:cTn id="485" dur="2000" fill="hold"/>
                                        <p:tgtEl>
                                          <p:spTgt spid="86494"/>
                                        </p:tgtEl>
                                        <p:attrNameLst>
                                          <p:attrName>fill.on</p:attrName>
                                        </p:attrNameLst>
                                      </p:cBhvr>
                                      <p:to>
                                        <p:strVal val="true"/>
                                      </p:to>
                                    </p:set>
                                  </p:childTnLst>
                                </p:cTn>
                              </p:par>
                            </p:childTnLst>
                          </p:cTn>
                        </p:par>
                      </p:childTnLst>
                    </p:cTn>
                  </p:par>
                  <p:par>
                    <p:cTn id="486" fill="hold">
                      <p:stCondLst>
                        <p:cond delay="indefinite"/>
                      </p:stCondLst>
                      <p:childTnLst>
                        <p:par>
                          <p:cTn id="487" fill="hold">
                            <p:stCondLst>
                              <p:cond delay="0"/>
                            </p:stCondLst>
                            <p:childTnLst>
                              <p:par>
                                <p:cTn id="488" presetID="27" presetClass="entr" presetSubtype="0" fill="hold" grpId="0" nodeType="clickEffect">
                                  <p:stCondLst>
                                    <p:cond delay="0"/>
                                  </p:stCondLst>
                                  <p:iterate type="lt">
                                    <p:tmPct val="50000"/>
                                  </p:iterate>
                                  <p:childTnLst>
                                    <p:set>
                                      <p:cBhvr>
                                        <p:cTn id="489" dur="1" fill="hold">
                                          <p:stCondLst>
                                            <p:cond delay="0"/>
                                          </p:stCondLst>
                                        </p:cTn>
                                        <p:tgtEl>
                                          <p:spTgt spid="86152"/>
                                        </p:tgtEl>
                                        <p:attrNameLst>
                                          <p:attrName>style.visibility</p:attrName>
                                        </p:attrNameLst>
                                      </p:cBhvr>
                                      <p:to>
                                        <p:strVal val="visible"/>
                                      </p:to>
                                    </p:set>
                                    <p:anim calcmode="discrete" valueType="clr">
                                      <p:cBhvr override="childStyle">
                                        <p:cTn id="490" dur="80"/>
                                        <p:tgtEl>
                                          <p:spTgt spid="86152"/>
                                        </p:tgtEl>
                                        <p:attrNameLst>
                                          <p:attrName>style.color</p:attrName>
                                        </p:attrNameLst>
                                      </p:cBhvr>
                                      <p:tavLst>
                                        <p:tav tm="0">
                                          <p:val>
                                            <p:clrVal>
                                              <a:schemeClr val="accent2"/>
                                            </p:clrVal>
                                          </p:val>
                                        </p:tav>
                                        <p:tav tm="50000">
                                          <p:val>
                                            <p:clrVal>
                                              <a:schemeClr val="hlink"/>
                                            </p:clrVal>
                                          </p:val>
                                        </p:tav>
                                      </p:tavLst>
                                    </p:anim>
                                    <p:anim calcmode="discrete" valueType="clr">
                                      <p:cBhvr>
                                        <p:cTn id="491" dur="80"/>
                                        <p:tgtEl>
                                          <p:spTgt spid="86152"/>
                                        </p:tgtEl>
                                        <p:attrNameLst>
                                          <p:attrName>fillcolor</p:attrName>
                                        </p:attrNameLst>
                                      </p:cBhvr>
                                      <p:tavLst>
                                        <p:tav tm="0">
                                          <p:val>
                                            <p:clrVal>
                                              <a:schemeClr val="accent2"/>
                                            </p:clrVal>
                                          </p:val>
                                        </p:tav>
                                        <p:tav tm="50000">
                                          <p:val>
                                            <p:clrVal>
                                              <a:schemeClr val="hlink"/>
                                            </p:clrVal>
                                          </p:val>
                                        </p:tav>
                                      </p:tavLst>
                                    </p:anim>
                                    <p:set>
                                      <p:cBhvr>
                                        <p:cTn id="492" dur="80"/>
                                        <p:tgtEl>
                                          <p:spTgt spid="86152"/>
                                        </p:tgtEl>
                                        <p:attrNameLst>
                                          <p:attrName>fill.type</p:attrName>
                                        </p:attrNameLst>
                                      </p:cBhvr>
                                      <p:to>
                                        <p:strVal val="solid"/>
                                      </p:to>
                                    </p:set>
                                  </p:childTnLst>
                                </p:cTn>
                              </p:par>
                            </p:childTnLst>
                          </p:cTn>
                        </p:par>
                      </p:childTnLst>
                    </p:cTn>
                  </p:par>
                  <p:par>
                    <p:cTn id="493" fill="hold">
                      <p:stCondLst>
                        <p:cond delay="indefinite"/>
                      </p:stCondLst>
                      <p:childTnLst>
                        <p:par>
                          <p:cTn id="494" fill="hold">
                            <p:stCondLst>
                              <p:cond delay="0"/>
                            </p:stCondLst>
                            <p:childTnLst>
                              <p:par>
                                <p:cTn id="495" presetID="22" presetClass="entr" presetSubtype="1" fill="hold" nodeType="clickEffect">
                                  <p:stCondLst>
                                    <p:cond delay="0"/>
                                  </p:stCondLst>
                                  <p:childTnLst>
                                    <p:set>
                                      <p:cBhvr>
                                        <p:cTn id="496" dur="1" fill="hold">
                                          <p:stCondLst>
                                            <p:cond delay="0"/>
                                          </p:stCondLst>
                                        </p:cTn>
                                        <p:tgtEl>
                                          <p:spTgt spid="86495"/>
                                        </p:tgtEl>
                                        <p:attrNameLst>
                                          <p:attrName>style.visibility</p:attrName>
                                        </p:attrNameLst>
                                      </p:cBhvr>
                                      <p:to>
                                        <p:strVal val="visible"/>
                                      </p:to>
                                    </p:set>
                                    <p:animEffect transition="in" filter="wipe(up)">
                                      <p:cBhvr>
                                        <p:cTn id="497" dur="500"/>
                                        <p:tgtEl>
                                          <p:spTgt spid="86495"/>
                                        </p:tgtEl>
                                      </p:cBhvr>
                                    </p:animEffect>
                                  </p:childTnLst>
                                </p:cTn>
                              </p:par>
                              <p:par>
                                <p:cTn id="498" presetID="22" presetClass="entr" presetSubtype="1" fill="hold" grpId="0" nodeType="withEffect">
                                  <p:stCondLst>
                                    <p:cond delay="0"/>
                                  </p:stCondLst>
                                  <p:childTnLst>
                                    <p:set>
                                      <p:cBhvr>
                                        <p:cTn id="499" dur="1" fill="hold">
                                          <p:stCondLst>
                                            <p:cond delay="0"/>
                                          </p:stCondLst>
                                        </p:cTn>
                                        <p:tgtEl>
                                          <p:spTgt spid="86496"/>
                                        </p:tgtEl>
                                        <p:attrNameLst>
                                          <p:attrName>style.visibility</p:attrName>
                                        </p:attrNameLst>
                                      </p:cBhvr>
                                      <p:to>
                                        <p:strVal val="visible"/>
                                      </p:to>
                                    </p:set>
                                    <p:animEffect transition="in" filter="wipe(up)">
                                      <p:cBhvr>
                                        <p:cTn id="500" dur="500"/>
                                        <p:tgtEl>
                                          <p:spTgt spid="86496"/>
                                        </p:tgtEl>
                                      </p:cBhvr>
                                    </p:animEffect>
                                  </p:childTnLst>
                                </p:cTn>
                              </p:par>
                            </p:childTnLst>
                          </p:cTn>
                        </p:par>
                      </p:childTnLst>
                    </p:cTn>
                  </p:par>
                  <p:par>
                    <p:cTn id="501" fill="hold">
                      <p:stCondLst>
                        <p:cond delay="indefinite"/>
                      </p:stCondLst>
                      <p:childTnLst>
                        <p:par>
                          <p:cTn id="502" fill="hold">
                            <p:stCondLst>
                              <p:cond delay="0"/>
                            </p:stCondLst>
                            <p:childTnLst>
                              <p:par>
                                <p:cTn id="503" presetID="35" presetClass="emph" presetSubtype="0" fill="hold" grpId="1" nodeType="clickEffect">
                                  <p:stCondLst>
                                    <p:cond delay="0"/>
                                  </p:stCondLst>
                                  <p:iterate type="lt">
                                    <p:tmAbs val="0"/>
                                  </p:iterate>
                                  <p:childTnLst>
                                    <p:anim calcmode="discrete" valueType="str">
                                      <p:cBhvr>
                                        <p:cTn id="504" dur="1000" fill="hold"/>
                                        <p:tgtEl>
                                          <p:spTgt spid="86152"/>
                                        </p:tgtEl>
                                        <p:attrNameLst>
                                          <p:attrName>style.visibility</p:attrName>
                                        </p:attrNameLst>
                                      </p:cBhvr>
                                      <p:tavLst>
                                        <p:tav tm="0">
                                          <p:val>
                                            <p:strVal val="hidden"/>
                                          </p:val>
                                        </p:tav>
                                        <p:tav tm="50000">
                                          <p:val>
                                            <p:strVal val="visible"/>
                                          </p:val>
                                        </p:tav>
                                      </p:tavLst>
                                    </p:anim>
                                  </p:childTnLst>
                                </p:cTn>
                              </p:par>
                              <p:par>
                                <p:cTn id="505" presetID="35" presetClass="emph" presetSubtype="0" fill="hold" grpId="2" nodeType="withEffect">
                                  <p:stCondLst>
                                    <p:cond delay="0"/>
                                  </p:stCondLst>
                                  <p:iterate type="lt">
                                    <p:tmAbs val="0"/>
                                  </p:iterate>
                                  <p:childTnLst>
                                    <p:anim calcmode="discrete" valueType="str">
                                      <p:cBhvr>
                                        <p:cTn id="506" dur="1000" fill="hold"/>
                                        <p:tgtEl>
                                          <p:spTgt spid="86150"/>
                                        </p:tgtEl>
                                        <p:attrNameLst>
                                          <p:attrName>style.visibility</p:attrName>
                                        </p:attrNameLst>
                                      </p:cBhvr>
                                      <p:tavLst>
                                        <p:tav tm="0">
                                          <p:val>
                                            <p:strVal val="hidden"/>
                                          </p:val>
                                        </p:tav>
                                        <p:tav tm="50000">
                                          <p:val>
                                            <p:strVal val="visible"/>
                                          </p:val>
                                        </p:tav>
                                      </p:tavLst>
                                    </p:anim>
                                  </p:childTnLst>
                                </p:cTn>
                              </p:par>
                            </p:childTnLst>
                          </p:cTn>
                        </p:par>
                      </p:childTnLst>
                    </p:cTn>
                  </p:par>
                  <p:par>
                    <p:cTn id="507" fill="hold">
                      <p:stCondLst>
                        <p:cond delay="indefinite"/>
                      </p:stCondLst>
                      <p:childTnLst>
                        <p:par>
                          <p:cTn id="508" fill="hold">
                            <p:stCondLst>
                              <p:cond delay="0"/>
                            </p:stCondLst>
                            <p:childTnLst>
                              <p:par>
                                <p:cTn id="509" presetID="1" presetClass="emph" presetSubtype="2" fill="hold" nodeType="clickEffect">
                                  <p:stCondLst>
                                    <p:cond delay="0"/>
                                  </p:stCondLst>
                                  <p:childTnLst>
                                    <p:animClr clrSpc="rgb" dir="cw">
                                      <p:cBhvr>
                                        <p:cTn id="510" dur="2000" fill="hold"/>
                                        <p:tgtEl>
                                          <p:spTgt spid="86496"/>
                                        </p:tgtEl>
                                        <p:attrNameLst>
                                          <p:attrName>fillcolor</p:attrName>
                                        </p:attrNameLst>
                                      </p:cBhvr>
                                      <p:to>
                                        <a:srgbClr val="FF0000"/>
                                      </p:to>
                                    </p:animClr>
                                    <p:set>
                                      <p:cBhvr>
                                        <p:cTn id="511" dur="2000" fill="hold"/>
                                        <p:tgtEl>
                                          <p:spTgt spid="86496"/>
                                        </p:tgtEl>
                                        <p:attrNameLst>
                                          <p:attrName>fill.type</p:attrName>
                                        </p:attrNameLst>
                                      </p:cBhvr>
                                      <p:to>
                                        <p:strVal val="solid"/>
                                      </p:to>
                                    </p:set>
                                    <p:set>
                                      <p:cBhvr>
                                        <p:cTn id="512" dur="2000" fill="hold"/>
                                        <p:tgtEl>
                                          <p:spTgt spid="86496"/>
                                        </p:tgtEl>
                                        <p:attrNameLst>
                                          <p:attrName>fill.on</p:attrName>
                                        </p:attrNameLst>
                                      </p:cBhvr>
                                      <p:to>
                                        <p:strVal val="true"/>
                                      </p:to>
                                    </p:set>
                                  </p:childTnLst>
                                </p:cTn>
                              </p:par>
                            </p:childTnLst>
                          </p:cTn>
                        </p:par>
                      </p:childTnLst>
                    </p:cTn>
                  </p:par>
                  <p:par>
                    <p:cTn id="513" fill="hold">
                      <p:stCondLst>
                        <p:cond delay="indefinite"/>
                      </p:stCondLst>
                      <p:childTnLst>
                        <p:par>
                          <p:cTn id="514" fill="hold">
                            <p:stCondLst>
                              <p:cond delay="0"/>
                            </p:stCondLst>
                            <p:childTnLst>
                              <p:par>
                                <p:cTn id="515" presetID="27" presetClass="entr" presetSubtype="0" fill="hold" grpId="0" nodeType="clickEffect">
                                  <p:stCondLst>
                                    <p:cond delay="0"/>
                                  </p:stCondLst>
                                  <p:iterate type="lt">
                                    <p:tmPct val="50000"/>
                                  </p:iterate>
                                  <p:childTnLst>
                                    <p:set>
                                      <p:cBhvr>
                                        <p:cTn id="516" dur="1" fill="hold">
                                          <p:stCondLst>
                                            <p:cond delay="0"/>
                                          </p:stCondLst>
                                        </p:cTn>
                                        <p:tgtEl>
                                          <p:spTgt spid="86153"/>
                                        </p:tgtEl>
                                        <p:attrNameLst>
                                          <p:attrName>style.visibility</p:attrName>
                                        </p:attrNameLst>
                                      </p:cBhvr>
                                      <p:to>
                                        <p:strVal val="visible"/>
                                      </p:to>
                                    </p:set>
                                    <p:anim calcmode="discrete" valueType="clr">
                                      <p:cBhvr override="childStyle">
                                        <p:cTn id="517" dur="80"/>
                                        <p:tgtEl>
                                          <p:spTgt spid="86153"/>
                                        </p:tgtEl>
                                        <p:attrNameLst>
                                          <p:attrName>style.color</p:attrName>
                                        </p:attrNameLst>
                                      </p:cBhvr>
                                      <p:tavLst>
                                        <p:tav tm="0">
                                          <p:val>
                                            <p:clrVal>
                                              <a:schemeClr val="accent2"/>
                                            </p:clrVal>
                                          </p:val>
                                        </p:tav>
                                        <p:tav tm="50000">
                                          <p:val>
                                            <p:clrVal>
                                              <a:schemeClr val="hlink"/>
                                            </p:clrVal>
                                          </p:val>
                                        </p:tav>
                                      </p:tavLst>
                                    </p:anim>
                                    <p:anim calcmode="discrete" valueType="clr">
                                      <p:cBhvr>
                                        <p:cTn id="518" dur="80"/>
                                        <p:tgtEl>
                                          <p:spTgt spid="86153"/>
                                        </p:tgtEl>
                                        <p:attrNameLst>
                                          <p:attrName>fillcolor</p:attrName>
                                        </p:attrNameLst>
                                      </p:cBhvr>
                                      <p:tavLst>
                                        <p:tav tm="0">
                                          <p:val>
                                            <p:clrVal>
                                              <a:schemeClr val="accent2"/>
                                            </p:clrVal>
                                          </p:val>
                                        </p:tav>
                                        <p:tav tm="50000">
                                          <p:val>
                                            <p:clrVal>
                                              <a:schemeClr val="hlink"/>
                                            </p:clrVal>
                                          </p:val>
                                        </p:tav>
                                      </p:tavLst>
                                    </p:anim>
                                    <p:set>
                                      <p:cBhvr>
                                        <p:cTn id="519" dur="80"/>
                                        <p:tgtEl>
                                          <p:spTgt spid="86153"/>
                                        </p:tgtEl>
                                        <p:attrNameLst>
                                          <p:attrName>fill.type</p:attrName>
                                        </p:attrNameLst>
                                      </p:cBhvr>
                                      <p:to>
                                        <p:strVal val="solid"/>
                                      </p:to>
                                    </p:set>
                                  </p:childTnLst>
                                </p:cTn>
                              </p:par>
                            </p:childTnLst>
                          </p:cTn>
                        </p:par>
                      </p:childTnLst>
                    </p:cTn>
                  </p:par>
                  <p:par>
                    <p:cTn id="520" fill="hold">
                      <p:stCondLst>
                        <p:cond delay="indefinite"/>
                      </p:stCondLst>
                      <p:childTnLst>
                        <p:par>
                          <p:cTn id="521" fill="hold">
                            <p:stCondLst>
                              <p:cond delay="0"/>
                            </p:stCondLst>
                            <p:childTnLst>
                              <p:par>
                                <p:cTn id="522" presetID="22" presetClass="entr" presetSubtype="1" fill="hold" nodeType="clickEffect">
                                  <p:stCondLst>
                                    <p:cond delay="0"/>
                                  </p:stCondLst>
                                  <p:childTnLst>
                                    <p:set>
                                      <p:cBhvr>
                                        <p:cTn id="523" dur="1" fill="hold">
                                          <p:stCondLst>
                                            <p:cond delay="0"/>
                                          </p:stCondLst>
                                        </p:cTn>
                                        <p:tgtEl>
                                          <p:spTgt spid="86497"/>
                                        </p:tgtEl>
                                        <p:attrNameLst>
                                          <p:attrName>style.visibility</p:attrName>
                                        </p:attrNameLst>
                                      </p:cBhvr>
                                      <p:to>
                                        <p:strVal val="visible"/>
                                      </p:to>
                                    </p:set>
                                    <p:animEffect transition="in" filter="wipe(up)">
                                      <p:cBhvr>
                                        <p:cTn id="524" dur="500"/>
                                        <p:tgtEl>
                                          <p:spTgt spid="86497"/>
                                        </p:tgtEl>
                                      </p:cBhvr>
                                    </p:animEffect>
                                  </p:childTnLst>
                                </p:cTn>
                              </p:par>
                              <p:par>
                                <p:cTn id="525" presetID="22" presetClass="entr" presetSubtype="1" fill="hold" grpId="0" nodeType="withEffect">
                                  <p:stCondLst>
                                    <p:cond delay="0"/>
                                  </p:stCondLst>
                                  <p:childTnLst>
                                    <p:set>
                                      <p:cBhvr>
                                        <p:cTn id="526" dur="1" fill="hold">
                                          <p:stCondLst>
                                            <p:cond delay="0"/>
                                          </p:stCondLst>
                                        </p:cTn>
                                        <p:tgtEl>
                                          <p:spTgt spid="86498"/>
                                        </p:tgtEl>
                                        <p:attrNameLst>
                                          <p:attrName>style.visibility</p:attrName>
                                        </p:attrNameLst>
                                      </p:cBhvr>
                                      <p:to>
                                        <p:strVal val="visible"/>
                                      </p:to>
                                    </p:set>
                                    <p:animEffect transition="in" filter="wipe(up)">
                                      <p:cBhvr>
                                        <p:cTn id="527" dur="500"/>
                                        <p:tgtEl>
                                          <p:spTgt spid="86498"/>
                                        </p:tgtEl>
                                      </p:cBhvr>
                                    </p:animEffect>
                                  </p:childTnLst>
                                </p:cTn>
                              </p:par>
                            </p:childTnLst>
                          </p:cTn>
                        </p:par>
                      </p:childTnLst>
                    </p:cTn>
                  </p:par>
                  <p:par>
                    <p:cTn id="528" fill="hold">
                      <p:stCondLst>
                        <p:cond delay="indefinite"/>
                      </p:stCondLst>
                      <p:childTnLst>
                        <p:par>
                          <p:cTn id="529" fill="hold">
                            <p:stCondLst>
                              <p:cond delay="0"/>
                            </p:stCondLst>
                            <p:childTnLst>
                              <p:par>
                                <p:cTn id="530" presetID="35" presetClass="emph" presetSubtype="0" fill="hold" grpId="1" nodeType="clickEffect">
                                  <p:stCondLst>
                                    <p:cond delay="0"/>
                                  </p:stCondLst>
                                  <p:iterate type="lt">
                                    <p:tmAbs val="0"/>
                                  </p:iterate>
                                  <p:childTnLst>
                                    <p:anim calcmode="discrete" valueType="str">
                                      <p:cBhvr>
                                        <p:cTn id="531" dur="1000" fill="hold"/>
                                        <p:tgtEl>
                                          <p:spTgt spid="86153"/>
                                        </p:tgtEl>
                                        <p:attrNameLst>
                                          <p:attrName>style.visibility</p:attrName>
                                        </p:attrNameLst>
                                      </p:cBhvr>
                                      <p:tavLst>
                                        <p:tav tm="0">
                                          <p:val>
                                            <p:strVal val="hidden"/>
                                          </p:val>
                                        </p:tav>
                                        <p:tav tm="50000">
                                          <p:val>
                                            <p:strVal val="visible"/>
                                          </p:val>
                                        </p:tav>
                                      </p:tavLst>
                                    </p:anim>
                                  </p:childTnLst>
                                </p:cTn>
                              </p:par>
                              <p:par>
                                <p:cTn id="532" presetID="35" presetClass="emph" presetSubtype="0" fill="hold" grpId="3" nodeType="withEffect">
                                  <p:stCondLst>
                                    <p:cond delay="0"/>
                                  </p:stCondLst>
                                  <p:iterate type="lt">
                                    <p:tmAbs val="0"/>
                                  </p:iterate>
                                  <p:childTnLst>
                                    <p:anim calcmode="discrete" valueType="str">
                                      <p:cBhvr>
                                        <p:cTn id="533" dur="1000" fill="hold"/>
                                        <p:tgtEl>
                                          <p:spTgt spid="86150"/>
                                        </p:tgtEl>
                                        <p:attrNameLst>
                                          <p:attrName>style.visibility</p:attrName>
                                        </p:attrNameLst>
                                      </p:cBhvr>
                                      <p:tavLst>
                                        <p:tav tm="0">
                                          <p:val>
                                            <p:strVal val="hidden"/>
                                          </p:val>
                                        </p:tav>
                                        <p:tav tm="50000">
                                          <p:val>
                                            <p:strVal val="visible"/>
                                          </p:val>
                                        </p:tav>
                                      </p:tavLst>
                                    </p:anim>
                                  </p:childTnLst>
                                </p:cTn>
                              </p:par>
                            </p:childTnLst>
                          </p:cTn>
                        </p:par>
                      </p:childTnLst>
                    </p:cTn>
                  </p:par>
                  <p:par>
                    <p:cTn id="534" fill="hold">
                      <p:stCondLst>
                        <p:cond delay="indefinite"/>
                      </p:stCondLst>
                      <p:childTnLst>
                        <p:par>
                          <p:cTn id="535" fill="hold">
                            <p:stCondLst>
                              <p:cond delay="0"/>
                            </p:stCondLst>
                            <p:childTnLst>
                              <p:par>
                                <p:cTn id="536" presetID="1" presetClass="emph" presetSubtype="2" fill="hold" nodeType="clickEffect">
                                  <p:stCondLst>
                                    <p:cond delay="0"/>
                                  </p:stCondLst>
                                  <p:childTnLst>
                                    <p:animClr clrSpc="rgb" dir="cw">
                                      <p:cBhvr>
                                        <p:cTn id="537" dur="2000" fill="hold"/>
                                        <p:tgtEl>
                                          <p:spTgt spid="86498"/>
                                        </p:tgtEl>
                                        <p:attrNameLst>
                                          <p:attrName>fillcolor</p:attrName>
                                        </p:attrNameLst>
                                      </p:cBhvr>
                                      <p:to>
                                        <a:srgbClr val="FF0000"/>
                                      </p:to>
                                    </p:animClr>
                                    <p:set>
                                      <p:cBhvr>
                                        <p:cTn id="538" dur="2000" fill="hold"/>
                                        <p:tgtEl>
                                          <p:spTgt spid="86498"/>
                                        </p:tgtEl>
                                        <p:attrNameLst>
                                          <p:attrName>fill.type</p:attrName>
                                        </p:attrNameLst>
                                      </p:cBhvr>
                                      <p:to>
                                        <p:strVal val="solid"/>
                                      </p:to>
                                    </p:set>
                                    <p:set>
                                      <p:cBhvr>
                                        <p:cTn id="539" dur="2000" fill="hold"/>
                                        <p:tgtEl>
                                          <p:spTgt spid="86498"/>
                                        </p:tgtEl>
                                        <p:attrNameLst>
                                          <p:attrName>fill.on</p:attrName>
                                        </p:attrNameLst>
                                      </p:cBhvr>
                                      <p:to>
                                        <p:strVal val="true"/>
                                      </p:to>
                                    </p:set>
                                  </p:childTnLst>
                                </p:cTn>
                              </p:par>
                            </p:childTnLst>
                          </p:cTn>
                        </p:par>
                      </p:childTnLst>
                    </p:cTn>
                  </p:par>
                  <p:par>
                    <p:cTn id="540" fill="hold">
                      <p:stCondLst>
                        <p:cond delay="indefinite"/>
                      </p:stCondLst>
                      <p:childTnLst>
                        <p:par>
                          <p:cTn id="541" fill="hold">
                            <p:stCondLst>
                              <p:cond delay="0"/>
                            </p:stCondLst>
                            <p:childTnLst>
                              <p:par>
                                <p:cTn id="542" presetID="27" presetClass="entr" presetSubtype="0" fill="hold" grpId="0" nodeType="clickEffect">
                                  <p:stCondLst>
                                    <p:cond delay="0"/>
                                  </p:stCondLst>
                                  <p:iterate type="lt">
                                    <p:tmPct val="50000"/>
                                  </p:iterate>
                                  <p:childTnLst>
                                    <p:set>
                                      <p:cBhvr>
                                        <p:cTn id="543" dur="1" fill="hold">
                                          <p:stCondLst>
                                            <p:cond delay="0"/>
                                          </p:stCondLst>
                                        </p:cTn>
                                        <p:tgtEl>
                                          <p:spTgt spid="86154"/>
                                        </p:tgtEl>
                                        <p:attrNameLst>
                                          <p:attrName>style.visibility</p:attrName>
                                        </p:attrNameLst>
                                      </p:cBhvr>
                                      <p:to>
                                        <p:strVal val="visible"/>
                                      </p:to>
                                    </p:set>
                                    <p:anim calcmode="discrete" valueType="clr">
                                      <p:cBhvr override="childStyle">
                                        <p:cTn id="544" dur="80"/>
                                        <p:tgtEl>
                                          <p:spTgt spid="86154"/>
                                        </p:tgtEl>
                                        <p:attrNameLst>
                                          <p:attrName>style.color</p:attrName>
                                        </p:attrNameLst>
                                      </p:cBhvr>
                                      <p:tavLst>
                                        <p:tav tm="0">
                                          <p:val>
                                            <p:clrVal>
                                              <a:schemeClr val="accent2"/>
                                            </p:clrVal>
                                          </p:val>
                                        </p:tav>
                                        <p:tav tm="50000">
                                          <p:val>
                                            <p:clrVal>
                                              <a:schemeClr val="hlink"/>
                                            </p:clrVal>
                                          </p:val>
                                        </p:tav>
                                      </p:tavLst>
                                    </p:anim>
                                    <p:anim calcmode="discrete" valueType="clr">
                                      <p:cBhvr>
                                        <p:cTn id="545" dur="80"/>
                                        <p:tgtEl>
                                          <p:spTgt spid="86154"/>
                                        </p:tgtEl>
                                        <p:attrNameLst>
                                          <p:attrName>fillcolor</p:attrName>
                                        </p:attrNameLst>
                                      </p:cBhvr>
                                      <p:tavLst>
                                        <p:tav tm="0">
                                          <p:val>
                                            <p:clrVal>
                                              <a:schemeClr val="accent2"/>
                                            </p:clrVal>
                                          </p:val>
                                        </p:tav>
                                        <p:tav tm="50000">
                                          <p:val>
                                            <p:clrVal>
                                              <a:schemeClr val="hlink"/>
                                            </p:clrVal>
                                          </p:val>
                                        </p:tav>
                                      </p:tavLst>
                                    </p:anim>
                                    <p:set>
                                      <p:cBhvr>
                                        <p:cTn id="546" dur="80"/>
                                        <p:tgtEl>
                                          <p:spTgt spid="86154"/>
                                        </p:tgtEl>
                                        <p:attrNameLst>
                                          <p:attrName>fill.type</p:attrName>
                                        </p:attrNameLst>
                                      </p:cBhvr>
                                      <p:to>
                                        <p:strVal val="solid"/>
                                      </p:to>
                                    </p:set>
                                  </p:childTnLst>
                                </p:cTn>
                              </p:par>
                            </p:childTnLst>
                          </p:cTn>
                        </p:par>
                      </p:childTnLst>
                    </p:cTn>
                  </p:par>
                  <p:par>
                    <p:cTn id="547" fill="hold">
                      <p:stCondLst>
                        <p:cond delay="indefinite"/>
                      </p:stCondLst>
                      <p:childTnLst>
                        <p:par>
                          <p:cTn id="548" fill="hold">
                            <p:stCondLst>
                              <p:cond delay="0"/>
                            </p:stCondLst>
                            <p:childTnLst>
                              <p:par>
                                <p:cTn id="549" presetID="22" presetClass="entr" presetSubtype="1" fill="hold" nodeType="clickEffect">
                                  <p:stCondLst>
                                    <p:cond delay="0"/>
                                  </p:stCondLst>
                                  <p:childTnLst>
                                    <p:set>
                                      <p:cBhvr>
                                        <p:cTn id="550" dur="1" fill="hold">
                                          <p:stCondLst>
                                            <p:cond delay="0"/>
                                          </p:stCondLst>
                                        </p:cTn>
                                        <p:tgtEl>
                                          <p:spTgt spid="86499"/>
                                        </p:tgtEl>
                                        <p:attrNameLst>
                                          <p:attrName>style.visibility</p:attrName>
                                        </p:attrNameLst>
                                      </p:cBhvr>
                                      <p:to>
                                        <p:strVal val="visible"/>
                                      </p:to>
                                    </p:set>
                                    <p:animEffect transition="in" filter="wipe(up)">
                                      <p:cBhvr>
                                        <p:cTn id="551" dur="500"/>
                                        <p:tgtEl>
                                          <p:spTgt spid="86499"/>
                                        </p:tgtEl>
                                      </p:cBhvr>
                                    </p:animEffect>
                                  </p:childTnLst>
                                </p:cTn>
                              </p:par>
                              <p:par>
                                <p:cTn id="552" presetID="22" presetClass="entr" presetSubtype="1" fill="hold" grpId="0" nodeType="withEffect">
                                  <p:stCondLst>
                                    <p:cond delay="0"/>
                                  </p:stCondLst>
                                  <p:childTnLst>
                                    <p:set>
                                      <p:cBhvr>
                                        <p:cTn id="553" dur="1" fill="hold">
                                          <p:stCondLst>
                                            <p:cond delay="0"/>
                                          </p:stCondLst>
                                        </p:cTn>
                                        <p:tgtEl>
                                          <p:spTgt spid="86500"/>
                                        </p:tgtEl>
                                        <p:attrNameLst>
                                          <p:attrName>style.visibility</p:attrName>
                                        </p:attrNameLst>
                                      </p:cBhvr>
                                      <p:to>
                                        <p:strVal val="visible"/>
                                      </p:to>
                                    </p:set>
                                    <p:animEffect transition="in" filter="wipe(up)">
                                      <p:cBhvr>
                                        <p:cTn id="554" dur="500"/>
                                        <p:tgtEl>
                                          <p:spTgt spid="86500"/>
                                        </p:tgtEl>
                                      </p:cBhvr>
                                    </p:animEffect>
                                  </p:childTnLst>
                                </p:cTn>
                              </p:par>
                            </p:childTnLst>
                          </p:cTn>
                        </p:par>
                      </p:childTnLst>
                    </p:cTn>
                  </p:par>
                  <p:par>
                    <p:cTn id="555" fill="hold">
                      <p:stCondLst>
                        <p:cond delay="indefinite"/>
                      </p:stCondLst>
                      <p:childTnLst>
                        <p:par>
                          <p:cTn id="556" fill="hold">
                            <p:stCondLst>
                              <p:cond delay="0"/>
                            </p:stCondLst>
                            <p:childTnLst>
                              <p:par>
                                <p:cTn id="557" presetID="27" presetClass="entr" presetSubtype="0" fill="hold" grpId="0" nodeType="clickEffect">
                                  <p:stCondLst>
                                    <p:cond delay="0"/>
                                  </p:stCondLst>
                                  <p:iterate type="lt">
                                    <p:tmPct val="50000"/>
                                  </p:iterate>
                                  <p:childTnLst>
                                    <p:set>
                                      <p:cBhvr>
                                        <p:cTn id="558" dur="1" fill="hold">
                                          <p:stCondLst>
                                            <p:cond delay="0"/>
                                          </p:stCondLst>
                                        </p:cTn>
                                        <p:tgtEl>
                                          <p:spTgt spid="86155"/>
                                        </p:tgtEl>
                                        <p:attrNameLst>
                                          <p:attrName>style.visibility</p:attrName>
                                        </p:attrNameLst>
                                      </p:cBhvr>
                                      <p:to>
                                        <p:strVal val="visible"/>
                                      </p:to>
                                    </p:set>
                                    <p:anim calcmode="discrete" valueType="clr">
                                      <p:cBhvr override="childStyle">
                                        <p:cTn id="559" dur="80"/>
                                        <p:tgtEl>
                                          <p:spTgt spid="86155"/>
                                        </p:tgtEl>
                                        <p:attrNameLst>
                                          <p:attrName>style.color</p:attrName>
                                        </p:attrNameLst>
                                      </p:cBhvr>
                                      <p:tavLst>
                                        <p:tav tm="0">
                                          <p:val>
                                            <p:clrVal>
                                              <a:schemeClr val="accent2"/>
                                            </p:clrVal>
                                          </p:val>
                                        </p:tav>
                                        <p:tav tm="50000">
                                          <p:val>
                                            <p:clrVal>
                                              <a:schemeClr val="hlink"/>
                                            </p:clrVal>
                                          </p:val>
                                        </p:tav>
                                      </p:tavLst>
                                    </p:anim>
                                    <p:anim calcmode="discrete" valueType="clr">
                                      <p:cBhvr>
                                        <p:cTn id="560" dur="80"/>
                                        <p:tgtEl>
                                          <p:spTgt spid="86155"/>
                                        </p:tgtEl>
                                        <p:attrNameLst>
                                          <p:attrName>fillcolor</p:attrName>
                                        </p:attrNameLst>
                                      </p:cBhvr>
                                      <p:tavLst>
                                        <p:tav tm="0">
                                          <p:val>
                                            <p:clrVal>
                                              <a:schemeClr val="accent2"/>
                                            </p:clrVal>
                                          </p:val>
                                        </p:tav>
                                        <p:tav tm="50000">
                                          <p:val>
                                            <p:clrVal>
                                              <a:schemeClr val="hlink"/>
                                            </p:clrVal>
                                          </p:val>
                                        </p:tav>
                                      </p:tavLst>
                                    </p:anim>
                                    <p:set>
                                      <p:cBhvr>
                                        <p:cTn id="561" dur="80"/>
                                        <p:tgtEl>
                                          <p:spTgt spid="86155"/>
                                        </p:tgtEl>
                                        <p:attrNameLst>
                                          <p:attrName>fill.type</p:attrName>
                                        </p:attrNameLst>
                                      </p:cBhvr>
                                      <p:to>
                                        <p:strVal val="solid"/>
                                      </p:to>
                                    </p:set>
                                  </p:childTnLst>
                                </p:cTn>
                              </p:par>
                            </p:childTnLst>
                          </p:cTn>
                        </p:par>
                      </p:childTnLst>
                    </p:cTn>
                  </p:par>
                  <p:par>
                    <p:cTn id="562" fill="hold">
                      <p:stCondLst>
                        <p:cond delay="indefinite"/>
                      </p:stCondLst>
                      <p:childTnLst>
                        <p:par>
                          <p:cTn id="563" fill="hold">
                            <p:stCondLst>
                              <p:cond delay="0"/>
                            </p:stCondLst>
                            <p:childTnLst>
                              <p:par>
                                <p:cTn id="564" presetID="22" presetClass="entr" presetSubtype="1" fill="hold" nodeType="clickEffect">
                                  <p:stCondLst>
                                    <p:cond delay="0"/>
                                  </p:stCondLst>
                                  <p:childTnLst>
                                    <p:set>
                                      <p:cBhvr>
                                        <p:cTn id="565" dur="1" fill="hold">
                                          <p:stCondLst>
                                            <p:cond delay="0"/>
                                          </p:stCondLst>
                                        </p:cTn>
                                        <p:tgtEl>
                                          <p:spTgt spid="86501"/>
                                        </p:tgtEl>
                                        <p:attrNameLst>
                                          <p:attrName>style.visibility</p:attrName>
                                        </p:attrNameLst>
                                      </p:cBhvr>
                                      <p:to>
                                        <p:strVal val="visible"/>
                                      </p:to>
                                    </p:set>
                                    <p:animEffect transition="in" filter="wipe(up)">
                                      <p:cBhvr>
                                        <p:cTn id="566" dur="500"/>
                                        <p:tgtEl>
                                          <p:spTgt spid="86501"/>
                                        </p:tgtEl>
                                      </p:cBhvr>
                                    </p:animEffect>
                                  </p:childTnLst>
                                </p:cTn>
                              </p:par>
                              <p:par>
                                <p:cTn id="567" presetID="22" presetClass="entr" presetSubtype="1" fill="hold" grpId="0" nodeType="withEffect">
                                  <p:stCondLst>
                                    <p:cond delay="0"/>
                                  </p:stCondLst>
                                  <p:childTnLst>
                                    <p:set>
                                      <p:cBhvr>
                                        <p:cTn id="568" dur="1" fill="hold">
                                          <p:stCondLst>
                                            <p:cond delay="0"/>
                                          </p:stCondLst>
                                        </p:cTn>
                                        <p:tgtEl>
                                          <p:spTgt spid="86502"/>
                                        </p:tgtEl>
                                        <p:attrNameLst>
                                          <p:attrName>style.visibility</p:attrName>
                                        </p:attrNameLst>
                                      </p:cBhvr>
                                      <p:to>
                                        <p:strVal val="visible"/>
                                      </p:to>
                                    </p:set>
                                    <p:animEffect transition="in" filter="wipe(up)">
                                      <p:cBhvr>
                                        <p:cTn id="569" dur="500"/>
                                        <p:tgtEl>
                                          <p:spTgt spid="86502"/>
                                        </p:tgtEl>
                                      </p:cBhvr>
                                    </p:animEffect>
                                  </p:childTnLst>
                                </p:cTn>
                              </p:par>
                            </p:childTnLst>
                          </p:cTn>
                        </p:par>
                      </p:childTnLst>
                    </p:cTn>
                  </p:par>
                  <p:par>
                    <p:cTn id="570" fill="hold">
                      <p:stCondLst>
                        <p:cond delay="indefinite"/>
                      </p:stCondLst>
                      <p:childTnLst>
                        <p:par>
                          <p:cTn id="571" fill="hold">
                            <p:stCondLst>
                              <p:cond delay="0"/>
                            </p:stCondLst>
                            <p:childTnLst>
                              <p:par>
                                <p:cTn id="572" presetID="27" presetClass="entr" presetSubtype="0" fill="hold" grpId="0" nodeType="clickEffect">
                                  <p:stCondLst>
                                    <p:cond delay="0"/>
                                  </p:stCondLst>
                                  <p:iterate type="lt">
                                    <p:tmPct val="50000"/>
                                  </p:iterate>
                                  <p:childTnLst>
                                    <p:set>
                                      <p:cBhvr>
                                        <p:cTn id="573" dur="1" fill="hold">
                                          <p:stCondLst>
                                            <p:cond delay="0"/>
                                          </p:stCondLst>
                                        </p:cTn>
                                        <p:tgtEl>
                                          <p:spTgt spid="86156"/>
                                        </p:tgtEl>
                                        <p:attrNameLst>
                                          <p:attrName>style.visibility</p:attrName>
                                        </p:attrNameLst>
                                      </p:cBhvr>
                                      <p:to>
                                        <p:strVal val="visible"/>
                                      </p:to>
                                    </p:set>
                                    <p:anim calcmode="discrete" valueType="clr">
                                      <p:cBhvr override="childStyle">
                                        <p:cTn id="574" dur="80"/>
                                        <p:tgtEl>
                                          <p:spTgt spid="86156"/>
                                        </p:tgtEl>
                                        <p:attrNameLst>
                                          <p:attrName>style.color</p:attrName>
                                        </p:attrNameLst>
                                      </p:cBhvr>
                                      <p:tavLst>
                                        <p:tav tm="0">
                                          <p:val>
                                            <p:clrVal>
                                              <a:schemeClr val="accent2"/>
                                            </p:clrVal>
                                          </p:val>
                                        </p:tav>
                                        <p:tav tm="50000">
                                          <p:val>
                                            <p:clrVal>
                                              <a:schemeClr val="hlink"/>
                                            </p:clrVal>
                                          </p:val>
                                        </p:tav>
                                      </p:tavLst>
                                    </p:anim>
                                    <p:anim calcmode="discrete" valueType="clr">
                                      <p:cBhvr>
                                        <p:cTn id="575" dur="80"/>
                                        <p:tgtEl>
                                          <p:spTgt spid="86156"/>
                                        </p:tgtEl>
                                        <p:attrNameLst>
                                          <p:attrName>fillcolor</p:attrName>
                                        </p:attrNameLst>
                                      </p:cBhvr>
                                      <p:tavLst>
                                        <p:tav tm="0">
                                          <p:val>
                                            <p:clrVal>
                                              <a:schemeClr val="accent2"/>
                                            </p:clrVal>
                                          </p:val>
                                        </p:tav>
                                        <p:tav tm="50000">
                                          <p:val>
                                            <p:clrVal>
                                              <a:schemeClr val="hlink"/>
                                            </p:clrVal>
                                          </p:val>
                                        </p:tav>
                                      </p:tavLst>
                                    </p:anim>
                                    <p:set>
                                      <p:cBhvr>
                                        <p:cTn id="576" dur="80"/>
                                        <p:tgtEl>
                                          <p:spTgt spid="86156"/>
                                        </p:tgtEl>
                                        <p:attrNameLst>
                                          <p:attrName>fill.type</p:attrName>
                                        </p:attrNameLst>
                                      </p:cBhvr>
                                      <p:to>
                                        <p:strVal val="solid"/>
                                      </p:to>
                                    </p:set>
                                  </p:childTnLst>
                                </p:cTn>
                              </p:par>
                            </p:childTnLst>
                          </p:cTn>
                        </p:par>
                      </p:childTnLst>
                    </p:cTn>
                  </p:par>
                  <p:par>
                    <p:cTn id="577" fill="hold">
                      <p:stCondLst>
                        <p:cond delay="indefinite"/>
                      </p:stCondLst>
                      <p:childTnLst>
                        <p:par>
                          <p:cTn id="578" fill="hold">
                            <p:stCondLst>
                              <p:cond delay="0"/>
                            </p:stCondLst>
                            <p:childTnLst>
                              <p:par>
                                <p:cTn id="579" presetID="22" presetClass="entr" presetSubtype="1" fill="hold" nodeType="clickEffect">
                                  <p:stCondLst>
                                    <p:cond delay="0"/>
                                  </p:stCondLst>
                                  <p:childTnLst>
                                    <p:set>
                                      <p:cBhvr>
                                        <p:cTn id="580" dur="1" fill="hold">
                                          <p:stCondLst>
                                            <p:cond delay="0"/>
                                          </p:stCondLst>
                                        </p:cTn>
                                        <p:tgtEl>
                                          <p:spTgt spid="86503"/>
                                        </p:tgtEl>
                                        <p:attrNameLst>
                                          <p:attrName>style.visibility</p:attrName>
                                        </p:attrNameLst>
                                      </p:cBhvr>
                                      <p:to>
                                        <p:strVal val="visible"/>
                                      </p:to>
                                    </p:set>
                                    <p:animEffect transition="in" filter="wipe(up)">
                                      <p:cBhvr>
                                        <p:cTn id="581" dur="500"/>
                                        <p:tgtEl>
                                          <p:spTgt spid="86503"/>
                                        </p:tgtEl>
                                      </p:cBhvr>
                                    </p:animEffect>
                                  </p:childTnLst>
                                </p:cTn>
                              </p:par>
                              <p:par>
                                <p:cTn id="582" presetID="22" presetClass="entr" presetSubtype="1" fill="hold" grpId="0" nodeType="withEffect">
                                  <p:stCondLst>
                                    <p:cond delay="0"/>
                                  </p:stCondLst>
                                  <p:childTnLst>
                                    <p:set>
                                      <p:cBhvr>
                                        <p:cTn id="583" dur="1" fill="hold">
                                          <p:stCondLst>
                                            <p:cond delay="0"/>
                                          </p:stCondLst>
                                        </p:cTn>
                                        <p:tgtEl>
                                          <p:spTgt spid="86504"/>
                                        </p:tgtEl>
                                        <p:attrNameLst>
                                          <p:attrName>style.visibility</p:attrName>
                                        </p:attrNameLst>
                                      </p:cBhvr>
                                      <p:to>
                                        <p:strVal val="visible"/>
                                      </p:to>
                                    </p:set>
                                    <p:animEffect transition="in" filter="wipe(up)">
                                      <p:cBhvr>
                                        <p:cTn id="584" dur="500"/>
                                        <p:tgtEl>
                                          <p:spTgt spid="86504"/>
                                        </p:tgtEl>
                                      </p:cBhvr>
                                    </p:animEffect>
                                  </p:childTnLst>
                                </p:cTn>
                              </p:par>
                            </p:childTnLst>
                          </p:cTn>
                        </p:par>
                      </p:childTnLst>
                    </p:cTn>
                  </p:par>
                  <p:par>
                    <p:cTn id="585" fill="hold">
                      <p:stCondLst>
                        <p:cond delay="indefinite"/>
                      </p:stCondLst>
                      <p:childTnLst>
                        <p:par>
                          <p:cTn id="586" fill="hold">
                            <p:stCondLst>
                              <p:cond delay="0"/>
                            </p:stCondLst>
                            <p:childTnLst>
                              <p:par>
                                <p:cTn id="587" presetID="35" presetClass="emph" presetSubtype="0" fill="hold" grpId="1" nodeType="clickEffect">
                                  <p:stCondLst>
                                    <p:cond delay="0"/>
                                  </p:stCondLst>
                                  <p:iterate type="lt">
                                    <p:tmAbs val="0"/>
                                  </p:iterate>
                                  <p:childTnLst>
                                    <p:anim calcmode="discrete" valueType="str">
                                      <p:cBhvr>
                                        <p:cTn id="588" dur="1000" fill="hold"/>
                                        <p:tgtEl>
                                          <p:spTgt spid="86156"/>
                                        </p:tgtEl>
                                        <p:attrNameLst>
                                          <p:attrName>style.visibility</p:attrName>
                                        </p:attrNameLst>
                                      </p:cBhvr>
                                      <p:tavLst>
                                        <p:tav tm="0">
                                          <p:val>
                                            <p:strVal val="hidden"/>
                                          </p:val>
                                        </p:tav>
                                        <p:tav tm="50000">
                                          <p:val>
                                            <p:strVal val="visible"/>
                                          </p:val>
                                        </p:tav>
                                      </p:tavLst>
                                    </p:anim>
                                  </p:childTnLst>
                                </p:cTn>
                              </p:par>
                              <p:par>
                                <p:cTn id="589" presetID="35" presetClass="emph" presetSubtype="0" fill="hold" grpId="1" nodeType="withEffect">
                                  <p:stCondLst>
                                    <p:cond delay="0"/>
                                  </p:stCondLst>
                                  <p:iterate type="lt">
                                    <p:tmAbs val="0"/>
                                  </p:iterate>
                                  <p:childTnLst>
                                    <p:anim calcmode="discrete" valueType="str">
                                      <p:cBhvr>
                                        <p:cTn id="590" dur="1000" fill="hold"/>
                                        <p:tgtEl>
                                          <p:spTgt spid="86155"/>
                                        </p:tgtEl>
                                        <p:attrNameLst>
                                          <p:attrName>style.visibility</p:attrName>
                                        </p:attrNameLst>
                                      </p:cBhvr>
                                      <p:tavLst>
                                        <p:tav tm="0">
                                          <p:val>
                                            <p:strVal val="hidden"/>
                                          </p:val>
                                        </p:tav>
                                        <p:tav tm="50000">
                                          <p:val>
                                            <p:strVal val="visible"/>
                                          </p:val>
                                        </p:tav>
                                      </p:tavLst>
                                    </p:anim>
                                  </p:childTnLst>
                                </p:cTn>
                              </p:par>
                            </p:childTnLst>
                          </p:cTn>
                        </p:par>
                      </p:childTnLst>
                    </p:cTn>
                  </p:par>
                  <p:par>
                    <p:cTn id="591" fill="hold">
                      <p:stCondLst>
                        <p:cond delay="indefinite"/>
                      </p:stCondLst>
                      <p:childTnLst>
                        <p:par>
                          <p:cTn id="592" fill="hold">
                            <p:stCondLst>
                              <p:cond delay="0"/>
                            </p:stCondLst>
                            <p:childTnLst>
                              <p:par>
                                <p:cTn id="593" presetID="1" presetClass="emph" presetSubtype="2" fill="hold" nodeType="clickEffect">
                                  <p:stCondLst>
                                    <p:cond delay="0"/>
                                  </p:stCondLst>
                                  <p:childTnLst>
                                    <p:animClr clrSpc="rgb" dir="cw">
                                      <p:cBhvr>
                                        <p:cTn id="594" dur="2000" fill="hold"/>
                                        <p:tgtEl>
                                          <p:spTgt spid="86504"/>
                                        </p:tgtEl>
                                        <p:attrNameLst>
                                          <p:attrName>fillcolor</p:attrName>
                                        </p:attrNameLst>
                                      </p:cBhvr>
                                      <p:to>
                                        <a:srgbClr val="FF0000"/>
                                      </p:to>
                                    </p:animClr>
                                    <p:set>
                                      <p:cBhvr>
                                        <p:cTn id="595" dur="2000" fill="hold"/>
                                        <p:tgtEl>
                                          <p:spTgt spid="86504"/>
                                        </p:tgtEl>
                                        <p:attrNameLst>
                                          <p:attrName>fill.type</p:attrName>
                                        </p:attrNameLst>
                                      </p:cBhvr>
                                      <p:to>
                                        <p:strVal val="solid"/>
                                      </p:to>
                                    </p:set>
                                    <p:set>
                                      <p:cBhvr>
                                        <p:cTn id="596" dur="2000" fill="hold"/>
                                        <p:tgtEl>
                                          <p:spTgt spid="86504"/>
                                        </p:tgtEl>
                                        <p:attrNameLst>
                                          <p:attrName>fill.on</p:attrName>
                                        </p:attrNameLst>
                                      </p:cBhvr>
                                      <p:to>
                                        <p:strVal val="true"/>
                                      </p:to>
                                    </p:set>
                                  </p:childTnLst>
                                </p:cTn>
                              </p:par>
                            </p:childTnLst>
                          </p:cTn>
                        </p:par>
                      </p:childTnLst>
                    </p:cTn>
                  </p:par>
                  <p:par>
                    <p:cTn id="597" fill="hold">
                      <p:stCondLst>
                        <p:cond delay="indefinite"/>
                      </p:stCondLst>
                      <p:childTnLst>
                        <p:par>
                          <p:cTn id="598" fill="hold">
                            <p:stCondLst>
                              <p:cond delay="0"/>
                            </p:stCondLst>
                            <p:childTnLst>
                              <p:par>
                                <p:cTn id="599" presetID="27" presetClass="entr" presetSubtype="0" fill="hold" grpId="0" nodeType="clickEffect">
                                  <p:stCondLst>
                                    <p:cond delay="0"/>
                                  </p:stCondLst>
                                  <p:iterate type="lt">
                                    <p:tmPct val="50000"/>
                                  </p:iterate>
                                  <p:childTnLst>
                                    <p:set>
                                      <p:cBhvr>
                                        <p:cTn id="600" dur="1" fill="hold">
                                          <p:stCondLst>
                                            <p:cond delay="0"/>
                                          </p:stCondLst>
                                        </p:cTn>
                                        <p:tgtEl>
                                          <p:spTgt spid="86157"/>
                                        </p:tgtEl>
                                        <p:attrNameLst>
                                          <p:attrName>style.visibility</p:attrName>
                                        </p:attrNameLst>
                                      </p:cBhvr>
                                      <p:to>
                                        <p:strVal val="visible"/>
                                      </p:to>
                                    </p:set>
                                    <p:anim calcmode="discrete" valueType="clr">
                                      <p:cBhvr override="childStyle">
                                        <p:cTn id="601" dur="80"/>
                                        <p:tgtEl>
                                          <p:spTgt spid="86157"/>
                                        </p:tgtEl>
                                        <p:attrNameLst>
                                          <p:attrName>style.color</p:attrName>
                                        </p:attrNameLst>
                                      </p:cBhvr>
                                      <p:tavLst>
                                        <p:tav tm="0">
                                          <p:val>
                                            <p:clrVal>
                                              <a:schemeClr val="accent2"/>
                                            </p:clrVal>
                                          </p:val>
                                        </p:tav>
                                        <p:tav tm="50000">
                                          <p:val>
                                            <p:clrVal>
                                              <a:schemeClr val="hlink"/>
                                            </p:clrVal>
                                          </p:val>
                                        </p:tav>
                                      </p:tavLst>
                                    </p:anim>
                                    <p:anim calcmode="discrete" valueType="clr">
                                      <p:cBhvr>
                                        <p:cTn id="602" dur="80"/>
                                        <p:tgtEl>
                                          <p:spTgt spid="86157"/>
                                        </p:tgtEl>
                                        <p:attrNameLst>
                                          <p:attrName>fillcolor</p:attrName>
                                        </p:attrNameLst>
                                      </p:cBhvr>
                                      <p:tavLst>
                                        <p:tav tm="0">
                                          <p:val>
                                            <p:clrVal>
                                              <a:schemeClr val="accent2"/>
                                            </p:clrVal>
                                          </p:val>
                                        </p:tav>
                                        <p:tav tm="50000">
                                          <p:val>
                                            <p:clrVal>
                                              <a:schemeClr val="hlink"/>
                                            </p:clrVal>
                                          </p:val>
                                        </p:tav>
                                      </p:tavLst>
                                    </p:anim>
                                    <p:set>
                                      <p:cBhvr>
                                        <p:cTn id="603" dur="80"/>
                                        <p:tgtEl>
                                          <p:spTgt spid="86157"/>
                                        </p:tgtEl>
                                        <p:attrNameLst>
                                          <p:attrName>fill.type</p:attrName>
                                        </p:attrNameLst>
                                      </p:cBhvr>
                                      <p:to>
                                        <p:strVal val="solid"/>
                                      </p:to>
                                    </p:set>
                                  </p:childTnLst>
                                </p:cTn>
                              </p:par>
                            </p:childTnLst>
                          </p:cTn>
                        </p:par>
                      </p:childTnLst>
                    </p:cTn>
                  </p:par>
                  <p:par>
                    <p:cTn id="604" fill="hold">
                      <p:stCondLst>
                        <p:cond delay="indefinite"/>
                      </p:stCondLst>
                      <p:childTnLst>
                        <p:par>
                          <p:cTn id="605" fill="hold">
                            <p:stCondLst>
                              <p:cond delay="0"/>
                            </p:stCondLst>
                            <p:childTnLst>
                              <p:par>
                                <p:cTn id="606" presetID="22" presetClass="entr" presetSubtype="1" fill="hold" nodeType="clickEffect">
                                  <p:stCondLst>
                                    <p:cond delay="0"/>
                                  </p:stCondLst>
                                  <p:childTnLst>
                                    <p:set>
                                      <p:cBhvr>
                                        <p:cTn id="607" dur="1" fill="hold">
                                          <p:stCondLst>
                                            <p:cond delay="0"/>
                                          </p:stCondLst>
                                        </p:cTn>
                                        <p:tgtEl>
                                          <p:spTgt spid="86505"/>
                                        </p:tgtEl>
                                        <p:attrNameLst>
                                          <p:attrName>style.visibility</p:attrName>
                                        </p:attrNameLst>
                                      </p:cBhvr>
                                      <p:to>
                                        <p:strVal val="visible"/>
                                      </p:to>
                                    </p:set>
                                    <p:animEffect transition="in" filter="wipe(up)">
                                      <p:cBhvr>
                                        <p:cTn id="608" dur="500"/>
                                        <p:tgtEl>
                                          <p:spTgt spid="86505"/>
                                        </p:tgtEl>
                                      </p:cBhvr>
                                    </p:animEffect>
                                  </p:childTnLst>
                                </p:cTn>
                              </p:par>
                              <p:par>
                                <p:cTn id="609" presetID="22" presetClass="entr" presetSubtype="1" fill="hold" grpId="0" nodeType="withEffect">
                                  <p:stCondLst>
                                    <p:cond delay="0"/>
                                  </p:stCondLst>
                                  <p:childTnLst>
                                    <p:set>
                                      <p:cBhvr>
                                        <p:cTn id="610" dur="1" fill="hold">
                                          <p:stCondLst>
                                            <p:cond delay="0"/>
                                          </p:stCondLst>
                                        </p:cTn>
                                        <p:tgtEl>
                                          <p:spTgt spid="86506"/>
                                        </p:tgtEl>
                                        <p:attrNameLst>
                                          <p:attrName>style.visibility</p:attrName>
                                        </p:attrNameLst>
                                      </p:cBhvr>
                                      <p:to>
                                        <p:strVal val="visible"/>
                                      </p:to>
                                    </p:set>
                                    <p:animEffect transition="in" filter="wipe(up)">
                                      <p:cBhvr>
                                        <p:cTn id="611" dur="500"/>
                                        <p:tgtEl>
                                          <p:spTgt spid="86506"/>
                                        </p:tgtEl>
                                      </p:cBhvr>
                                    </p:animEffect>
                                  </p:childTnLst>
                                </p:cTn>
                              </p:par>
                            </p:childTnLst>
                          </p:cTn>
                        </p:par>
                      </p:childTnLst>
                    </p:cTn>
                  </p:par>
                  <p:par>
                    <p:cTn id="612" fill="hold">
                      <p:stCondLst>
                        <p:cond delay="indefinite"/>
                      </p:stCondLst>
                      <p:childTnLst>
                        <p:par>
                          <p:cTn id="613" fill="hold">
                            <p:stCondLst>
                              <p:cond delay="0"/>
                            </p:stCondLst>
                            <p:childTnLst>
                              <p:par>
                                <p:cTn id="614" presetID="35" presetClass="emph" presetSubtype="0" fill="hold" grpId="1" nodeType="clickEffect">
                                  <p:stCondLst>
                                    <p:cond delay="0"/>
                                  </p:stCondLst>
                                  <p:iterate type="lt">
                                    <p:tmAbs val="0"/>
                                  </p:iterate>
                                  <p:childTnLst>
                                    <p:anim calcmode="discrete" valueType="str">
                                      <p:cBhvr>
                                        <p:cTn id="615" dur="1000" fill="hold"/>
                                        <p:tgtEl>
                                          <p:spTgt spid="86157"/>
                                        </p:tgtEl>
                                        <p:attrNameLst>
                                          <p:attrName>style.visibility</p:attrName>
                                        </p:attrNameLst>
                                      </p:cBhvr>
                                      <p:tavLst>
                                        <p:tav tm="0">
                                          <p:val>
                                            <p:strVal val="hidden"/>
                                          </p:val>
                                        </p:tav>
                                        <p:tav tm="50000">
                                          <p:val>
                                            <p:strVal val="visible"/>
                                          </p:val>
                                        </p:tav>
                                      </p:tavLst>
                                    </p:anim>
                                  </p:childTnLst>
                                </p:cTn>
                              </p:par>
                              <p:par>
                                <p:cTn id="616" presetID="35" presetClass="emph" presetSubtype="0" fill="hold" grpId="2" nodeType="withEffect">
                                  <p:stCondLst>
                                    <p:cond delay="0"/>
                                  </p:stCondLst>
                                  <p:iterate type="lt">
                                    <p:tmAbs val="0"/>
                                  </p:iterate>
                                  <p:childTnLst>
                                    <p:anim calcmode="discrete" valueType="str">
                                      <p:cBhvr>
                                        <p:cTn id="617" dur="1000" fill="hold"/>
                                        <p:tgtEl>
                                          <p:spTgt spid="86155"/>
                                        </p:tgtEl>
                                        <p:attrNameLst>
                                          <p:attrName>style.visibility</p:attrName>
                                        </p:attrNameLst>
                                      </p:cBhvr>
                                      <p:tavLst>
                                        <p:tav tm="0">
                                          <p:val>
                                            <p:strVal val="hidden"/>
                                          </p:val>
                                        </p:tav>
                                        <p:tav tm="50000">
                                          <p:val>
                                            <p:strVal val="visible"/>
                                          </p:val>
                                        </p:tav>
                                      </p:tavLst>
                                    </p:anim>
                                  </p:childTnLst>
                                </p:cTn>
                              </p:par>
                            </p:childTnLst>
                          </p:cTn>
                        </p:par>
                      </p:childTnLst>
                    </p:cTn>
                  </p:par>
                  <p:par>
                    <p:cTn id="618" fill="hold">
                      <p:stCondLst>
                        <p:cond delay="indefinite"/>
                      </p:stCondLst>
                      <p:childTnLst>
                        <p:par>
                          <p:cTn id="619" fill="hold">
                            <p:stCondLst>
                              <p:cond delay="0"/>
                            </p:stCondLst>
                            <p:childTnLst>
                              <p:par>
                                <p:cTn id="620" presetID="1" presetClass="emph" presetSubtype="2" fill="hold" nodeType="clickEffect">
                                  <p:stCondLst>
                                    <p:cond delay="0"/>
                                  </p:stCondLst>
                                  <p:childTnLst>
                                    <p:animClr clrSpc="rgb" dir="cw">
                                      <p:cBhvr>
                                        <p:cTn id="621" dur="2000" fill="hold"/>
                                        <p:tgtEl>
                                          <p:spTgt spid="86506"/>
                                        </p:tgtEl>
                                        <p:attrNameLst>
                                          <p:attrName>fillcolor</p:attrName>
                                        </p:attrNameLst>
                                      </p:cBhvr>
                                      <p:to>
                                        <a:srgbClr val="FF0000"/>
                                      </p:to>
                                    </p:animClr>
                                    <p:set>
                                      <p:cBhvr>
                                        <p:cTn id="622" dur="2000" fill="hold"/>
                                        <p:tgtEl>
                                          <p:spTgt spid="86506"/>
                                        </p:tgtEl>
                                        <p:attrNameLst>
                                          <p:attrName>fill.type</p:attrName>
                                        </p:attrNameLst>
                                      </p:cBhvr>
                                      <p:to>
                                        <p:strVal val="solid"/>
                                      </p:to>
                                    </p:set>
                                    <p:set>
                                      <p:cBhvr>
                                        <p:cTn id="623" dur="2000" fill="hold"/>
                                        <p:tgtEl>
                                          <p:spTgt spid="86506"/>
                                        </p:tgtEl>
                                        <p:attrNameLst>
                                          <p:attrName>fill.on</p:attrName>
                                        </p:attrNameLst>
                                      </p:cBhvr>
                                      <p:to>
                                        <p:strVal val="true"/>
                                      </p:to>
                                    </p:set>
                                  </p:childTnLst>
                                </p:cTn>
                              </p:par>
                            </p:childTnLst>
                          </p:cTn>
                        </p:par>
                      </p:childTnLst>
                    </p:cTn>
                  </p:par>
                  <p:par>
                    <p:cTn id="624" fill="hold">
                      <p:stCondLst>
                        <p:cond delay="indefinite"/>
                      </p:stCondLst>
                      <p:childTnLst>
                        <p:par>
                          <p:cTn id="625" fill="hold">
                            <p:stCondLst>
                              <p:cond delay="0"/>
                            </p:stCondLst>
                            <p:childTnLst>
                              <p:par>
                                <p:cTn id="626" presetID="27" presetClass="entr" presetSubtype="0" fill="hold" grpId="0" nodeType="clickEffect">
                                  <p:stCondLst>
                                    <p:cond delay="0"/>
                                  </p:stCondLst>
                                  <p:iterate type="lt">
                                    <p:tmPct val="50000"/>
                                  </p:iterate>
                                  <p:childTnLst>
                                    <p:set>
                                      <p:cBhvr>
                                        <p:cTn id="627" dur="1" fill="hold">
                                          <p:stCondLst>
                                            <p:cond delay="0"/>
                                          </p:stCondLst>
                                        </p:cTn>
                                        <p:tgtEl>
                                          <p:spTgt spid="86158"/>
                                        </p:tgtEl>
                                        <p:attrNameLst>
                                          <p:attrName>style.visibility</p:attrName>
                                        </p:attrNameLst>
                                      </p:cBhvr>
                                      <p:to>
                                        <p:strVal val="visible"/>
                                      </p:to>
                                    </p:set>
                                    <p:anim calcmode="discrete" valueType="clr">
                                      <p:cBhvr override="childStyle">
                                        <p:cTn id="628" dur="80"/>
                                        <p:tgtEl>
                                          <p:spTgt spid="86158"/>
                                        </p:tgtEl>
                                        <p:attrNameLst>
                                          <p:attrName>style.color</p:attrName>
                                        </p:attrNameLst>
                                      </p:cBhvr>
                                      <p:tavLst>
                                        <p:tav tm="0">
                                          <p:val>
                                            <p:clrVal>
                                              <a:schemeClr val="accent2"/>
                                            </p:clrVal>
                                          </p:val>
                                        </p:tav>
                                        <p:tav tm="50000">
                                          <p:val>
                                            <p:clrVal>
                                              <a:schemeClr val="hlink"/>
                                            </p:clrVal>
                                          </p:val>
                                        </p:tav>
                                      </p:tavLst>
                                    </p:anim>
                                    <p:anim calcmode="discrete" valueType="clr">
                                      <p:cBhvr>
                                        <p:cTn id="629" dur="80"/>
                                        <p:tgtEl>
                                          <p:spTgt spid="86158"/>
                                        </p:tgtEl>
                                        <p:attrNameLst>
                                          <p:attrName>fillcolor</p:attrName>
                                        </p:attrNameLst>
                                      </p:cBhvr>
                                      <p:tavLst>
                                        <p:tav tm="0">
                                          <p:val>
                                            <p:clrVal>
                                              <a:schemeClr val="accent2"/>
                                            </p:clrVal>
                                          </p:val>
                                        </p:tav>
                                        <p:tav tm="50000">
                                          <p:val>
                                            <p:clrVal>
                                              <a:schemeClr val="hlink"/>
                                            </p:clrVal>
                                          </p:val>
                                        </p:tav>
                                      </p:tavLst>
                                    </p:anim>
                                    <p:set>
                                      <p:cBhvr>
                                        <p:cTn id="630" dur="80"/>
                                        <p:tgtEl>
                                          <p:spTgt spid="86158"/>
                                        </p:tgtEl>
                                        <p:attrNameLst>
                                          <p:attrName>fill.type</p:attrName>
                                        </p:attrNameLst>
                                      </p:cBhvr>
                                      <p:to>
                                        <p:strVal val="solid"/>
                                      </p:to>
                                    </p:set>
                                  </p:childTnLst>
                                </p:cTn>
                              </p:par>
                            </p:childTnLst>
                          </p:cTn>
                        </p:par>
                      </p:childTnLst>
                    </p:cTn>
                  </p:par>
                  <p:par>
                    <p:cTn id="631" fill="hold">
                      <p:stCondLst>
                        <p:cond delay="indefinite"/>
                      </p:stCondLst>
                      <p:childTnLst>
                        <p:par>
                          <p:cTn id="632" fill="hold">
                            <p:stCondLst>
                              <p:cond delay="0"/>
                            </p:stCondLst>
                            <p:childTnLst>
                              <p:par>
                                <p:cTn id="633" presetID="22" presetClass="entr" presetSubtype="1" fill="hold" nodeType="clickEffect">
                                  <p:stCondLst>
                                    <p:cond delay="0"/>
                                  </p:stCondLst>
                                  <p:childTnLst>
                                    <p:set>
                                      <p:cBhvr>
                                        <p:cTn id="634" dur="1" fill="hold">
                                          <p:stCondLst>
                                            <p:cond delay="0"/>
                                          </p:stCondLst>
                                        </p:cTn>
                                        <p:tgtEl>
                                          <p:spTgt spid="86507"/>
                                        </p:tgtEl>
                                        <p:attrNameLst>
                                          <p:attrName>style.visibility</p:attrName>
                                        </p:attrNameLst>
                                      </p:cBhvr>
                                      <p:to>
                                        <p:strVal val="visible"/>
                                      </p:to>
                                    </p:set>
                                    <p:animEffect transition="in" filter="wipe(up)">
                                      <p:cBhvr>
                                        <p:cTn id="635" dur="500"/>
                                        <p:tgtEl>
                                          <p:spTgt spid="86507"/>
                                        </p:tgtEl>
                                      </p:cBhvr>
                                    </p:animEffect>
                                  </p:childTnLst>
                                </p:cTn>
                              </p:par>
                              <p:par>
                                <p:cTn id="636" presetID="22" presetClass="entr" presetSubtype="1" fill="hold" grpId="0" nodeType="withEffect">
                                  <p:stCondLst>
                                    <p:cond delay="0"/>
                                  </p:stCondLst>
                                  <p:childTnLst>
                                    <p:set>
                                      <p:cBhvr>
                                        <p:cTn id="637" dur="1" fill="hold">
                                          <p:stCondLst>
                                            <p:cond delay="0"/>
                                          </p:stCondLst>
                                        </p:cTn>
                                        <p:tgtEl>
                                          <p:spTgt spid="86508"/>
                                        </p:tgtEl>
                                        <p:attrNameLst>
                                          <p:attrName>style.visibility</p:attrName>
                                        </p:attrNameLst>
                                      </p:cBhvr>
                                      <p:to>
                                        <p:strVal val="visible"/>
                                      </p:to>
                                    </p:set>
                                    <p:animEffect transition="in" filter="wipe(up)">
                                      <p:cBhvr>
                                        <p:cTn id="638" dur="500"/>
                                        <p:tgtEl>
                                          <p:spTgt spid="86508"/>
                                        </p:tgtEl>
                                      </p:cBhvr>
                                    </p:animEffect>
                                  </p:childTnLst>
                                </p:cTn>
                              </p:par>
                            </p:childTnLst>
                          </p:cTn>
                        </p:par>
                      </p:childTnLst>
                    </p:cTn>
                  </p:par>
                  <p:par>
                    <p:cTn id="639" fill="hold">
                      <p:stCondLst>
                        <p:cond delay="indefinite"/>
                      </p:stCondLst>
                      <p:childTnLst>
                        <p:par>
                          <p:cTn id="640" fill="hold">
                            <p:stCondLst>
                              <p:cond delay="0"/>
                            </p:stCondLst>
                            <p:childTnLst>
                              <p:par>
                                <p:cTn id="641" presetID="3" presetClass="entr" presetSubtype="10" fill="hold" grpId="0" nodeType="clickEffect">
                                  <p:stCondLst>
                                    <p:cond delay="0"/>
                                  </p:stCondLst>
                                  <p:childTnLst>
                                    <p:set>
                                      <p:cBhvr>
                                        <p:cTn id="642" dur="1" fill="hold">
                                          <p:stCondLst>
                                            <p:cond delay="0"/>
                                          </p:stCondLst>
                                        </p:cTn>
                                        <p:tgtEl>
                                          <p:spTgt spid="86509"/>
                                        </p:tgtEl>
                                        <p:attrNameLst>
                                          <p:attrName>style.visibility</p:attrName>
                                        </p:attrNameLst>
                                      </p:cBhvr>
                                      <p:to>
                                        <p:strVal val="visible"/>
                                      </p:to>
                                    </p:set>
                                    <p:animEffect transition="in" filter="blinds(horizontal)">
                                      <p:cBhvr>
                                        <p:cTn id="643" dur="500"/>
                                        <p:tgtEl>
                                          <p:spTgt spid="86509"/>
                                        </p:tgtEl>
                                      </p:cBhvr>
                                    </p:animEffect>
                                  </p:childTnLst>
                                  <p:subTnLst>
                                    <p:audio>
                                      <p:cMediaNode>
                                        <p:cTn display="0" masterRel="sameClick">
                                          <p:stCondLst>
                                            <p:cond evt="begin" delay="0">
                                              <p:tn val="641"/>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30" grpId="0"/>
      <p:bldP spid="86130" grpId="1"/>
      <p:bldP spid="86130" grpId="2"/>
      <p:bldP spid="86130" grpId="3"/>
      <p:bldP spid="86131" grpId="0"/>
      <p:bldP spid="86131" grpId="1"/>
      <p:bldP spid="86132" grpId="0"/>
      <p:bldP spid="86132" grpId="1"/>
      <p:bldP spid="86133" grpId="0"/>
      <p:bldP spid="86133" grpId="1"/>
      <p:bldP spid="86133" grpId="2"/>
      <p:bldP spid="86133" grpId="3"/>
      <p:bldP spid="86134" grpId="0"/>
      <p:bldP spid="86134" grpId="1"/>
      <p:bldP spid="86135" grpId="0"/>
      <p:bldP spid="86135" grpId="1"/>
      <p:bldP spid="86136" grpId="0"/>
      <p:bldP spid="86136" grpId="1"/>
      <p:bldP spid="86137" grpId="0"/>
      <p:bldP spid="86137" grpId="1"/>
      <p:bldP spid="86138" grpId="0"/>
      <p:bldP spid="86138" grpId="1"/>
      <p:bldP spid="86138" grpId="2"/>
      <p:bldP spid="86139" grpId="0"/>
      <p:bldP spid="86139" grpId="1"/>
      <p:bldP spid="86140" grpId="0"/>
      <p:bldP spid="86140" grpId="1"/>
      <p:bldP spid="86141" grpId="0"/>
      <p:bldP spid="86141" grpId="1"/>
      <p:bldP spid="86141" grpId="2"/>
      <p:bldP spid="86142" grpId="0"/>
      <p:bldP spid="86142" grpId="1"/>
      <p:bldP spid="86143" grpId="0"/>
      <p:bldP spid="86143" grpId="1"/>
      <p:bldP spid="86144" grpId="0"/>
      <p:bldP spid="86144" grpId="1"/>
      <p:bldP spid="86145" grpId="0"/>
      <p:bldP spid="86145" grpId="1"/>
      <p:bldP spid="86150" grpId="0"/>
      <p:bldP spid="86150" grpId="1"/>
      <p:bldP spid="86150" grpId="2"/>
      <p:bldP spid="86150" grpId="3"/>
      <p:bldP spid="86151" grpId="0"/>
      <p:bldP spid="86151" grpId="1"/>
      <p:bldP spid="86152" grpId="0"/>
      <p:bldP spid="86152" grpId="1"/>
      <p:bldP spid="86153" grpId="0"/>
      <p:bldP spid="86153" grpId="1"/>
      <p:bldP spid="86154" grpId="0"/>
      <p:bldP spid="86155" grpId="0"/>
      <p:bldP spid="86155" grpId="1"/>
      <p:bldP spid="86155" grpId="2"/>
      <p:bldP spid="86156" grpId="0"/>
      <p:bldP spid="86156" grpId="1"/>
      <p:bldP spid="86157" grpId="0"/>
      <p:bldP spid="86157" grpId="1"/>
      <p:bldP spid="86158" grpId="0"/>
      <p:bldP spid="86421" grpId="0"/>
      <p:bldP spid="86422" grpId="0"/>
      <p:bldP spid="86422" grpId="1"/>
      <p:bldP spid="86422" grpId="2"/>
      <p:bldP spid="86423" grpId="0"/>
      <p:bldP spid="86423" grpId="1"/>
      <p:bldP spid="86424" grpId="0"/>
      <p:bldP spid="86424" grpId="1"/>
      <p:bldP spid="86451" grpId="0" animBg="1"/>
      <p:bldP spid="86455" grpId="0" animBg="1"/>
      <p:bldP spid="86458" grpId="0" animBg="1"/>
      <p:bldP spid="86460" grpId="0" animBg="1"/>
      <p:bldP spid="86462" grpId="0" animBg="1"/>
      <p:bldP spid="86464" grpId="0" animBg="1"/>
      <p:bldP spid="86466" grpId="0" animBg="1"/>
      <p:bldP spid="86468" grpId="0" animBg="1"/>
      <p:bldP spid="86470" grpId="0" animBg="1"/>
      <p:bldP spid="86472" grpId="0" animBg="1"/>
      <p:bldP spid="86474" grpId="0" animBg="1"/>
      <p:bldP spid="86476" grpId="0" animBg="1"/>
      <p:bldP spid="86478" grpId="0" animBg="1"/>
      <p:bldP spid="86480" grpId="0" animBg="1"/>
      <p:bldP spid="86482" grpId="0" animBg="1"/>
      <p:bldP spid="86484" grpId="0" animBg="1"/>
      <p:bldP spid="86487" grpId="0" animBg="1"/>
      <p:bldP spid="86489" grpId="0" animBg="1"/>
      <p:bldP spid="86492" grpId="0" animBg="1"/>
      <p:bldP spid="86494" grpId="0" animBg="1"/>
      <p:bldP spid="86496" grpId="0" animBg="1"/>
      <p:bldP spid="86498" grpId="0" animBg="1"/>
      <p:bldP spid="86500" grpId="0" animBg="1"/>
      <p:bldP spid="86502" grpId="0" animBg="1"/>
      <p:bldP spid="86504" grpId="0" animBg="1"/>
      <p:bldP spid="86506" grpId="0" animBg="1"/>
      <p:bldP spid="86508" grpId="0" animBg="1"/>
      <p:bldP spid="8650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41986" name="Rectangle 2"/>
          <p:cNvSpPr>
            <a:spLocks noGrp="1"/>
          </p:cNvSpPr>
          <p:nvPr>
            <p:ph type="title"/>
          </p:nvPr>
        </p:nvSpPr>
        <p:spPr/>
        <p:txBody>
          <a:bodyPr vert="horz" wrap="square" lIns="91440" tIns="45720" rIns="91440" bIns="45720" anchor="ctr" anchorCtr="0"/>
          <a:lstStyle/>
          <a:p>
            <a:pPr eaLnBrk="1" hangingPunct="1"/>
            <a:r>
              <a:rPr lang="en-US" altLang="zh-CN" dirty="0"/>
              <a:t>8.1.1 8</a:t>
            </a:r>
            <a:r>
              <a:rPr lang="zh-CN" altLang="en-US" dirty="0"/>
              <a:t>皇后——复杂度</a:t>
            </a:r>
          </a:p>
        </p:txBody>
      </p:sp>
      <p:sp>
        <p:nvSpPr>
          <p:cNvPr id="48131" name="Rectangle 3"/>
          <p:cNvSpPr>
            <a:spLocks noGrp="1" noChangeArrowheads="1"/>
          </p:cNvSpPr>
          <p:nvPr>
            <p:ph idx="1"/>
          </p:nvPr>
        </p:nvSpPr>
        <p:spPr>
          <a:xfrm>
            <a:off x="827088" y="1158875"/>
            <a:ext cx="8137525" cy="486251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现在考虑一个求解一般的</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n</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皇后问题的蛮力方法</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由于没有两个皇后能放在同一列上，则解向量必须是数</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1,2,…,n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的一个</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排列</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。这样，蛮力方法可以改进为测试</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种布局而不是</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n</a:t>
            </a:r>
            <a:r>
              <a:rPr kumimoji="0" lang="en-US" altLang="zh-CN" sz="2200" b="0" i="0" u="none" strike="noStrike" kern="0" cap="none" spc="0" normalizeH="0" baseline="30000" noProof="0" dirty="0" err="1">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种。</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考虑</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(n-2)!</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个向量，它们对应于前两个皇后放在第一列的那些布局，蛮力方法要盲目地测试所有这些向量，而在回溯法中用</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O(1)</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次测试就可以避免这些测试。</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尽管回溯法在最坏情况下要用</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O(</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n</a:t>
            </a:r>
            <a:r>
              <a:rPr kumimoji="0" lang="en-US" altLang="zh-CN" sz="2200" b="0" i="0" u="none" strike="noStrike" kern="0" cap="none" spc="0" normalizeH="0" baseline="30000" noProof="0" dirty="0" err="1">
                <a:ln>
                  <a:noFill/>
                </a:ln>
                <a:solidFill>
                  <a:schemeClr val="accent2"/>
                </a:solidFill>
                <a:effectLst/>
                <a:uLnTx/>
                <a:uFillTx/>
                <a:latin typeface="+mn-lt"/>
                <a:ea typeface="+mn-ea"/>
                <a:cs typeface="+mn-ea"/>
              </a:rPr>
              <a:t>n</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时间来求解</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皇后问题，根据经验它在有效性上远远超过蛮力方法的</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O(n!)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时间，作为它的可期望运行时间通常要</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快得多</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additive="base">
                                        <p:cTn id="13" dur="500" fill="hold"/>
                                        <p:tgtEl>
                                          <p:spTgt spid="481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131">
                                            <p:txEl>
                                              <p:pRg st="3" end="3"/>
                                            </p:txEl>
                                          </p:spTgt>
                                        </p:tgtEl>
                                        <p:attrNameLst>
                                          <p:attrName>style.visibility</p:attrName>
                                        </p:attrNameLst>
                                      </p:cBhvr>
                                      <p:to>
                                        <p:strVal val="visible"/>
                                      </p:to>
                                    </p:set>
                                    <p:anim calcmode="lin" valueType="num">
                                      <p:cBhvr additive="base">
                                        <p:cTn id="19" dur="500" fill="hold"/>
                                        <p:tgtEl>
                                          <p:spTgt spid="4813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1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8131">
                                            <p:txEl>
                                              <p:pRg st="5" end="5"/>
                                            </p:txEl>
                                          </p:spTgt>
                                        </p:tgtEl>
                                        <p:attrNameLst>
                                          <p:attrName>style.visibility</p:attrName>
                                        </p:attrNameLst>
                                      </p:cBhvr>
                                      <p:to>
                                        <p:strVal val="visible"/>
                                      </p:to>
                                    </p:set>
                                    <p:anim calcmode="lin" valueType="num">
                                      <p:cBhvr additive="base">
                                        <p:cTn id="25" dur="500" fill="hold"/>
                                        <p:tgtEl>
                                          <p:spTgt spid="4813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813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44034" name="Rectangle 2"/>
          <p:cNvSpPr>
            <a:spLocks noGrp="1"/>
          </p:cNvSpPr>
          <p:nvPr>
            <p:ph type="title"/>
          </p:nvPr>
        </p:nvSpPr>
        <p:spPr>
          <a:xfrm>
            <a:off x="971550" y="273050"/>
            <a:ext cx="7656513" cy="923925"/>
          </a:xfrm>
        </p:spPr>
        <p:txBody>
          <a:bodyPr vert="horz" wrap="square" lIns="91440" tIns="45720" rIns="91440" bIns="45720" anchor="ctr" anchorCtr="0"/>
          <a:lstStyle/>
          <a:p>
            <a:pPr eaLnBrk="1" hangingPunct="1"/>
            <a:r>
              <a:rPr lang="en-US" altLang="zh-CN" dirty="0"/>
              <a:t>8.1.2 </a:t>
            </a:r>
            <a:r>
              <a:rPr lang="zh-CN" altLang="en-US" dirty="0">
                <a:sym typeface="+mn-ea"/>
              </a:rPr>
              <a:t>解长度的类型</a:t>
            </a:r>
            <a:endParaRPr lang="zh-CN" altLang="en-US" dirty="0"/>
          </a:p>
        </p:txBody>
      </p:sp>
      <p:sp>
        <p:nvSpPr>
          <p:cNvPr id="21507" name="Rectangle 3"/>
          <p:cNvSpPr>
            <a:spLocks noGrp="1"/>
          </p:cNvSpPr>
          <p:nvPr>
            <p:ph idx="1"/>
          </p:nvPr>
        </p:nvSpPr>
        <p:spPr/>
        <p:txBody>
          <a:bodyPr vert="horz" wrap="square" lIns="91440" tIns="45720" rIns="91440" bIns="45720" anchor="t" anchorCtr="0"/>
          <a:lstStyle/>
          <a:p>
            <a:pPr eaLnBrk="1" hangingPunct="1">
              <a:lnSpc>
                <a:spcPct val="80000"/>
              </a:lnSpc>
            </a:pPr>
            <a:r>
              <a:rPr lang="en-US" altLang="zh-CN" dirty="0"/>
              <a:t>Representation of solution</a:t>
            </a:r>
            <a:r>
              <a:rPr lang="zh-CN" altLang="en-US" dirty="0"/>
              <a:t>（解的表现形式）</a:t>
            </a:r>
            <a:endParaRPr lang="en-US" altLang="zh-CN" dirty="0"/>
          </a:p>
          <a:p>
            <a:pPr lvl="1" eaLnBrk="1" hangingPunct="1">
              <a:lnSpc>
                <a:spcPct val="80000"/>
              </a:lnSpc>
            </a:pPr>
            <a:endParaRPr lang="en-US" altLang="zh-CN" dirty="0">
              <a:ea typeface="华文楷体" panose="02010600040101010101" pitchFamily="2" charset="-122"/>
            </a:endParaRPr>
          </a:p>
          <a:p>
            <a:pPr lvl="1" eaLnBrk="1" hangingPunct="1">
              <a:lnSpc>
                <a:spcPct val="80000"/>
              </a:lnSpc>
            </a:pPr>
            <a:r>
              <a:rPr lang="zh-CN" altLang="en-US" dirty="0">
                <a:latin typeface="Times New Roman" panose="02020503050405090304" pitchFamily="18" charset="0"/>
                <a:ea typeface="华文楷体" panose="02010600040101010101" pitchFamily="2" charset="-122"/>
              </a:rPr>
              <a:t>一般回溯算法，它可以作为一种系统的搜索方法应用到一类搜索问题当中，这类问题的解由满足事先定义好的某个约束的</a:t>
            </a:r>
            <a:r>
              <a:rPr lang="zh-CN" altLang="en-US" dirty="0">
                <a:solidFill>
                  <a:srgbClr val="FF0000"/>
                </a:solidFill>
                <a:latin typeface="Times New Roman" panose="02020503050405090304" pitchFamily="18" charset="0"/>
                <a:ea typeface="华文楷体" panose="02010600040101010101" pitchFamily="2" charset="-122"/>
              </a:rPr>
              <a:t>向量</a:t>
            </a:r>
            <a:r>
              <a:rPr lang="en-US" altLang="zh-CN" dirty="0">
                <a:solidFill>
                  <a:srgbClr val="FF0000"/>
                </a:solidFill>
                <a:latin typeface="Times New Roman" panose="02020503050405090304" pitchFamily="18" charset="0"/>
                <a:ea typeface="华文楷体" panose="02010600040101010101" pitchFamily="2" charset="-122"/>
              </a:rPr>
              <a:t>(x</a:t>
            </a:r>
            <a:r>
              <a:rPr lang="en-US" altLang="zh-CN" baseline="-25000" dirty="0">
                <a:solidFill>
                  <a:srgbClr val="FF0000"/>
                </a:solidFill>
                <a:latin typeface="Times New Roman" panose="02020503050405090304" pitchFamily="18" charset="0"/>
                <a:ea typeface="华文楷体" panose="02010600040101010101" pitchFamily="2" charset="-122"/>
              </a:rPr>
              <a:t>1</a:t>
            </a:r>
            <a:r>
              <a:rPr lang="en-US" altLang="zh-CN" dirty="0">
                <a:solidFill>
                  <a:srgbClr val="FF0000"/>
                </a:solidFill>
                <a:latin typeface="Times New Roman" panose="02020503050405090304" pitchFamily="18" charset="0"/>
                <a:ea typeface="华文楷体" panose="02010600040101010101" pitchFamily="2" charset="-122"/>
              </a:rPr>
              <a:t>, x</a:t>
            </a:r>
            <a:r>
              <a:rPr lang="en-US" altLang="zh-CN" baseline="-25000" dirty="0">
                <a:solidFill>
                  <a:srgbClr val="FF0000"/>
                </a:solidFill>
                <a:latin typeface="Times New Roman" panose="02020503050405090304" pitchFamily="18" charset="0"/>
                <a:ea typeface="华文楷体" panose="02010600040101010101" pitchFamily="2" charset="-122"/>
              </a:rPr>
              <a:t>2</a:t>
            </a:r>
            <a:r>
              <a:rPr lang="en-US" altLang="zh-CN" dirty="0">
                <a:solidFill>
                  <a:srgbClr val="FF0000"/>
                </a:solidFill>
                <a:latin typeface="Times New Roman" panose="02020503050405090304" pitchFamily="18" charset="0"/>
                <a:ea typeface="华文楷体" panose="02010600040101010101" pitchFamily="2" charset="-122"/>
              </a:rPr>
              <a:t>, . . . , x</a:t>
            </a:r>
            <a:r>
              <a:rPr lang="en-US" altLang="zh-CN" baseline="-25000" dirty="0">
                <a:solidFill>
                  <a:srgbClr val="FF0000"/>
                </a:solidFill>
                <a:latin typeface="Times New Roman" panose="02020503050405090304" pitchFamily="18" charset="0"/>
                <a:ea typeface="华文楷体" panose="02010600040101010101" pitchFamily="2" charset="-122"/>
              </a:rPr>
              <a:t>i</a:t>
            </a:r>
            <a:r>
              <a:rPr lang="en-US" altLang="zh-CN" dirty="0">
                <a:solidFill>
                  <a:srgbClr val="FF0000"/>
                </a:solidFill>
                <a:latin typeface="Times New Roman" panose="02020503050405090304" pitchFamily="18" charset="0"/>
                <a:ea typeface="华文楷体" panose="02010600040101010101" pitchFamily="2" charset="-122"/>
              </a:rPr>
              <a:t>)</a:t>
            </a:r>
            <a:r>
              <a:rPr lang="zh-CN" altLang="en-US" dirty="0">
                <a:latin typeface="Times New Roman" panose="02020503050405090304" pitchFamily="18" charset="0"/>
                <a:ea typeface="华文楷体" panose="02010600040101010101" pitchFamily="2" charset="-122"/>
              </a:rPr>
              <a:t>组成。这里</a:t>
            </a:r>
            <a:r>
              <a:rPr lang="en-US" altLang="zh-CN" dirty="0">
                <a:latin typeface="Times New Roman" panose="02020503050405090304" pitchFamily="18" charset="0"/>
                <a:ea typeface="华文楷体" panose="02010600040101010101" pitchFamily="2" charset="-122"/>
              </a:rPr>
              <a:t>i</a:t>
            </a:r>
            <a:r>
              <a:rPr lang="zh-CN" altLang="en-US" dirty="0">
                <a:latin typeface="Times New Roman" panose="02020503050405090304" pitchFamily="18" charset="0"/>
                <a:ea typeface="华文楷体" panose="02010600040101010101" pitchFamily="2" charset="-122"/>
              </a:rPr>
              <a:t>是</a:t>
            </a:r>
            <a:r>
              <a:rPr lang="en-US" altLang="zh-CN" dirty="0">
                <a:latin typeface="Times New Roman" panose="02020503050405090304" pitchFamily="18" charset="0"/>
                <a:ea typeface="华文楷体" panose="02010600040101010101" pitchFamily="2" charset="-122"/>
              </a:rPr>
              <a:t>0</a:t>
            </a:r>
            <a:r>
              <a:rPr lang="zh-CN" altLang="en-US" dirty="0">
                <a:latin typeface="Times New Roman" panose="02020503050405090304" pitchFamily="18" charset="0"/>
                <a:ea typeface="华文楷体" panose="02010600040101010101" pitchFamily="2" charset="-122"/>
              </a:rPr>
              <a:t>到</a:t>
            </a:r>
            <a:r>
              <a:rPr lang="en-US" altLang="zh-CN" dirty="0">
                <a:latin typeface="Times New Roman" panose="02020503050405090304" pitchFamily="18" charset="0"/>
                <a:ea typeface="华文楷体" panose="02010600040101010101" pitchFamily="2" charset="-122"/>
              </a:rPr>
              <a:t>n</a:t>
            </a:r>
            <a:r>
              <a:rPr lang="zh-CN" altLang="en-US" dirty="0">
                <a:latin typeface="Times New Roman" panose="02020503050405090304" pitchFamily="18" charset="0"/>
                <a:ea typeface="华文楷体" panose="02010600040101010101" pitchFamily="2" charset="-122"/>
              </a:rPr>
              <a:t>之间的某个整数，其中</a:t>
            </a:r>
            <a:r>
              <a:rPr lang="en-US" altLang="zh-CN" dirty="0">
                <a:latin typeface="Times New Roman" panose="02020503050405090304" pitchFamily="18" charset="0"/>
                <a:ea typeface="华文楷体" panose="02010600040101010101" pitchFamily="2" charset="-122"/>
              </a:rPr>
              <a:t>n</a:t>
            </a:r>
            <a:r>
              <a:rPr lang="zh-CN" altLang="en-US" dirty="0">
                <a:latin typeface="Times New Roman" panose="02020503050405090304" pitchFamily="18" charset="0"/>
                <a:ea typeface="华文楷体" panose="02010600040101010101" pitchFamily="2" charset="-122"/>
              </a:rPr>
              <a:t>是一个取决于问题规模的常量。在已经提到的两种算法</a:t>
            </a:r>
            <a:r>
              <a:rPr lang="en-US" altLang="zh-CN" dirty="0">
                <a:latin typeface="Times New Roman" panose="02020503050405090304" pitchFamily="18" charset="0"/>
                <a:ea typeface="华文楷体" panose="02010600040101010101" pitchFamily="2" charset="-122"/>
              </a:rPr>
              <a:t>—-3</a:t>
            </a:r>
            <a:r>
              <a:rPr lang="zh-CN" altLang="en-US" dirty="0">
                <a:latin typeface="Times New Roman" panose="02020503050405090304" pitchFamily="18" charset="0"/>
                <a:ea typeface="华文楷体" panose="02010600040101010101" pitchFamily="2" charset="-122"/>
              </a:rPr>
              <a:t>着色和</a:t>
            </a:r>
            <a:r>
              <a:rPr lang="en-US" altLang="zh-CN" dirty="0">
                <a:latin typeface="Times New Roman" panose="02020503050405090304" pitchFamily="18" charset="0"/>
                <a:ea typeface="华文楷体" panose="02010600040101010101" pitchFamily="2" charset="-122"/>
              </a:rPr>
              <a:t>8</a:t>
            </a:r>
            <a:r>
              <a:rPr lang="zh-CN" altLang="en-US" dirty="0">
                <a:latin typeface="Times New Roman" panose="02020503050405090304" pitchFamily="18" charset="0"/>
                <a:ea typeface="华文楷体" panose="02010600040101010101" pitchFamily="2" charset="-122"/>
              </a:rPr>
              <a:t>皇后问题中，</a:t>
            </a:r>
            <a:r>
              <a:rPr lang="en-US" altLang="zh-CN" dirty="0">
                <a:latin typeface="Times New Roman" panose="02020503050405090304" pitchFamily="18" charset="0"/>
                <a:ea typeface="华文楷体" panose="02010600040101010101" pitchFamily="2" charset="-122"/>
              </a:rPr>
              <a:t>i</a:t>
            </a:r>
            <a:r>
              <a:rPr lang="zh-CN" altLang="en-US" dirty="0">
                <a:latin typeface="Times New Roman" panose="02020503050405090304" pitchFamily="18" charset="0"/>
                <a:ea typeface="华文楷体" panose="02010600040101010101" pitchFamily="2" charset="-122"/>
              </a:rPr>
              <a:t>是固定不变的。</a:t>
            </a:r>
          </a:p>
          <a:p>
            <a:pPr eaLnBrk="1" hangingPunct="1">
              <a:lnSpc>
                <a:spcPct val="80000"/>
              </a:lnSpc>
            </a:pPr>
            <a:endParaRPr lang="en-US" altLang="zh-CN" sz="1900" dirty="0"/>
          </a:p>
          <a:p>
            <a:pPr lvl="1" eaLnBrk="1" hangingPunct="1">
              <a:lnSpc>
                <a:spcPct val="80000"/>
              </a:lnSpc>
            </a:pPr>
            <a:r>
              <a:rPr lang="zh-CN" altLang="en-US" dirty="0">
                <a:latin typeface="Times New Roman" panose="02020503050405090304" pitchFamily="18" charset="0"/>
                <a:ea typeface="华文楷体" panose="02010600040101010101" pitchFamily="2" charset="-122"/>
              </a:rPr>
              <a:t>然而在一些问题中，</a:t>
            </a:r>
            <a:r>
              <a:rPr lang="en-US" altLang="zh-CN" dirty="0">
                <a:latin typeface="Times New Roman" panose="02020503050405090304" pitchFamily="18" charset="0"/>
                <a:ea typeface="华文楷体" panose="02010600040101010101" pitchFamily="2" charset="-122"/>
              </a:rPr>
              <a:t>i</a:t>
            </a:r>
            <a:r>
              <a:rPr lang="zh-CN" altLang="en-US" dirty="0">
                <a:latin typeface="Times New Roman" panose="02020503050405090304" pitchFamily="18" charset="0"/>
                <a:ea typeface="华文楷体" panose="02010600040101010101" pitchFamily="2" charset="-122"/>
              </a:rPr>
              <a:t>可以像下面的例子展示的那样，对于不同的解可能有所不同。</a:t>
            </a:r>
            <a:endParaRPr lang="en-US" altLang="zh-CN" dirty="0">
              <a:latin typeface="Times New Roman" panose="02020503050405090304" pitchFamily="18" charset="0"/>
              <a:ea typeface="华文楷体" panose="0201060004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linds(horizontal)">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21507">
                                            <p:txEl>
                                              <p:pRg st="2" end="2"/>
                                            </p:txEl>
                                          </p:spTgt>
                                        </p:tgtEl>
                                        <p:attrNameLst>
                                          <p:attrName>style.visibility</p:attrName>
                                        </p:attrNameLst>
                                      </p:cBhvr>
                                      <p:to>
                                        <p:strVal val="visible"/>
                                      </p:to>
                                    </p:set>
                                    <p:anim calcmode="lin" valueType="num">
                                      <p:cBhvr>
                                        <p:cTn id="12" dur="500" fill="hold"/>
                                        <p:tgtEl>
                                          <p:spTgt spid="21507">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21507">
                                            <p:txEl>
                                              <p:pRg st="2" end="2"/>
                                            </p:txEl>
                                          </p:spTgt>
                                        </p:tgtEl>
                                        <p:attrNameLst>
                                          <p:attrName>ppt_h</p:attrName>
                                        </p:attrNameLst>
                                      </p:cBhvr>
                                      <p:tavLst>
                                        <p:tav tm="0">
                                          <p:val>
                                            <p:fltVal val="0"/>
                                          </p:val>
                                        </p:tav>
                                        <p:tav tm="100000">
                                          <p:val>
                                            <p:strVal val="#ppt_h"/>
                                          </p:val>
                                        </p:tav>
                                      </p:tavLst>
                                    </p:anim>
                                    <p:anim calcmode="lin" valueType="num">
                                      <p:cBhvr>
                                        <p:cTn id="14" dur="500" fill="hold"/>
                                        <p:tgtEl>
                                          <p:spTgt spid="21507">
                                            <p:txEl>
                                              <p:pRg st="2" end="2"/>
                                            </p:txEl>
                                          </p:spTgt>
                                        </p:tgtEl>
                                        <p:attrNameLst>
                                          <p:attrName>style.rotation</p:attrName>
                                        </p:attrNameLst>
                                      </p:cBhvr>
                                      <p:tavLst>
                                        <p:tav tm="0">
                                          <p:val>
                                            <p:fltVal val="360"/>
                                          </p:val>
                                        </p:tav>
                                        <p:tav tm="100000">
                                          <p:val>
                                            <p:fltVal val="0"/>
                                          </p:val>
                                        </p:tav>
                                      </p:tavLst>
                                    </p:anim>
                                    <p:animEffect transition="in" filter="fade">
                                      <p:cBhvr>
                                        <p:cTn id="15" dur="500"/>
                                        <p:tgtEl>
                                          <p:spTgt spid="2150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9" presetClass="entr" presetSubtype="0" decel="100000" fill="hold" nodeType="clickEffect">
                                  <p:stCondLst>
                                    <p:cond delay="0"/>
                                  </p:stCondLst>
                                  <p:childTnLst>
                                    <p:set>
                                      <p:cBhvr>
                                        <p:cTn id="19" dur="1" fill="hold">
                                          <p:stCondLst>
                                            <p:cond delay="0"/>
                                          </p:stCondLst>
                                        </p:cTn>
                                        <p:tgtEl>
                                          <p:spTgt spid="21507">
                                            <p:txEl>
                                              <p:pRg st="4" end="4"/>
                                            </p:txEl>
                                          </p:spTgt>
                                        </p:tgtEl>
                                        <p:attrNameLst>
                                          <p:attrName>style.visibility</p:attrName>
                                        </p:attrNameLst>
                                      </p:cBhvr>
                                      <p:to>
                                        <p:strVal val="visible"/>
                                      </p:to>
                                    </p:set>
                                    <p:anim calcmode="lin" valueType="num">
                                      <p:cBhvr>
                                        <p:cTn id="20" dur="500" fill="hold"/>
                                        <p:tgtEl>
                                          <p:spTgt spid="21507">
                                            <p:txEl>
                                              <p:pRg st="4" end="4"/>
                                            </p:txEl>
                                          </p:spTgt>
                                        </p:tgtEl>
                                        <p:attrNameLst>
                                          <p:attrName>ppt_w</p:attrName>
                                        </p:attrNameLst>
                                      </p:cBhvr>
                                      <p:tavLst>
                                        <p:tav tm="0">
                                          <p:val>
                                            <p:fltVal val="0"/>
                                          </p:val>
                                        </p:tav>
                                        <p:tav tm="100000">
                                          <p:val>
                                            <p:strVal val="#ppt_w"/>
                                          </p:val>
                                        </p:tav>
                                      </p:tavLst>
                                    </p:anim>
                                    <p:anim calcmode="lin" valueType="num">
                                      <p:cBhvr>
                                        <p:cTn id="21" dur="500" fill="hold"/>
                                        <p:tgtEl>
                                          <p:spTgt spid="21507">
                                            <p:txEl>
                                              <p:pRg st="4" end="4"/>
                                            </p:txEl>
                                          </p:spTgt>
                                        </p:tgtEl>
                                        <p:attrNameLst>
                                          <p:attrName>ppt_h</p:attrName>
                                        </p:attrNameLst>
                                      </p:cBhvr>
                                      <p:tavLst>
                                        <p:tav tm="0">
                                          <p:val>
                                            <p:fltVal val="0"/>
                                          </p:val>
                                        </p:tav>
                                        <p:tav tm="100000">
                                          <p:val>
                                            <p:strVal val="#ppt_h"/>
                                          </p:val>
                                        </p:tav>
                                      </p:tavLst>
                                    </p:anim>
                                    <p:anim calcmode="lin" valueType="num">
                                      <p:cBhvr>
                                        <p:cTn id="22" dur="500" fill="hold"/>
                                        <p:tgtEl>
                                          <p:spTgt spid="21507">
                                            <p:txEl>
                                              <p:pRg st="4" end="4"/>
                                            </p:txEl>
                                          </p:spTgt>
                                        </p:tgtEl>
                                        <p:attrNameLst>
                                          <p:attrName>style.rotation</p:attrName>
                                        </p:attrNameLst>
                                      </p:cBhvr>
                                      <p:tavLst>
                                        <p:tav tm="0">
                                          <p:val>
                                            <p:fltVal val="360"/>
                                          </p:val>
                                        </p:tav>
                                        <p:tav tm="100000">
                                          <p:val>
                                            <p:fltVal val="0"/>
                                          </p:val>
                                        </p:tav>
                                      </p:tavLst>
                                    </p:anim>
                                    <p:animEffect transition="in" filter="fade">
                                      <p:cBhvr>
                                        <p:cTn id="23" dur="500"/>
                                        <p:tgtEl>
                                          <p:spTgt spid="215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46082" name="Rectangle 2"/>
          <p:cNvSpPr>
            <a:spLocks noGrp="1"/>
          </p:cNvSpPr>
          <p:nvPr>
            <p:ph type="title"/>
          </p:nvPr>
        </p:nvSpPr>
        <p:spPr>
          <a:xfrm>
            <a:off x="950913" y="57150"/>
            <a:ext cx="8013700" cy="1139825"/>
          </a:xfrm>
        </p:spPr>
        <p:txBody>
          <a:bodyPr vert="horz" wrap="square" lIns="91440" tIns="45720" rIns="91440" bIns="45720" anchor="ctr" anchorCtr="0"/>
          <a:lstStyle/>
          <a:p>
            <a:pPr eaLnBrk="1" hangingPunct="1"/>
            <a:r>
              <a:rPr lang="en-US" altLang="zh-CN" dirty="0"/>
              <a:t>8.1.2 </a:t>
            </a:r>
            <a:r>
              <a:rPr lang="zh-CN" altLang="en-US" dirty="0"/>
              <a:t>解长度的类型</a:t>
            </a:r>
          </a:p>
        </p:txBody>
      </p:sp>
      <p:sp>
        <p:nvSpPr>
          <p:cNvPr id="22531" name="Rectangle 3"/>
          <p:cNvSpPr>
            <a:spLocks noGrp="1"/>
          </p:cNvSpPr>
          <p:nvPr>
            <p:ph idx="1"/>
          </p:nvPr>
        </p:nvSpPr>
        <p:spPr>
          <a:xfrm>
            <a:off x="900113" y="1125538"/>
            <a:ext cx="7786687" cy="4895850"/>
          </a:xfrm>
        </p:spPr>
        <p:txBody>
          <a:bodyPr vert="horz" wrap="square" lIns="91440" tIns="45720" rIns="91440" bIns="45720" anchor="t" anchorCtr="0"/>
          <a:lstStyle/>
          <a:p>
            <a:pPr eaLnBrk="1" hangingPunct="1">
              <a:lnSpc>
                <a:spcPct val="90000"/>
              </a:lnSpc>
            </a:pPr>
            <a:r>
              <a:rPr lang="zh-CN" altLang="en-US" sz="2100" dirty="0"/>
              <a:t>给定一个</a:t>
            </a:r>
            <a:r>
              <a:rPr lang="en-US" altLang="zh-CN" sz="2100" dirty="0"/>
              <a:t>n</a:t>
            </a:r>
            <a:r>
              <a:rPr lang="zh-CN" altLang="en-US" sz="2100" dirty="0"/>
              <a:t>个整数的集合</a:t>
            </a:r>
            <a:r>
              <a:rPr lang="en-US" altLang="zh-CN" sz="2100" dirty="0"/>
              <a:t>X = {x</a:t>
            </a:r>
            <a:r>
              <a:rPr lang="en-US" altLang="zh-CN" sz="2100" baseline="-25000" dirty="0"/>
              <a:t>1</a:t>
            </a:r>
            <a:r>
              <a:rPr lang="en-US" altLang="zh-CN" sz="2100" dirty="0"/>
              <a:t>,x</a:t>
            </a:r>
            <a:r>
              <a:rPr lang="en-US" altLang="zh-CN" sz="2100" baseline="-25000" dirty="0"/>
              <a:t>2</a:t>
            </a:r>
            <a:r>
              <a:rPr lang="en-US" altLang="zh-CN" sz="2100" dirty="0"/>
              <a:t>,...,x</a:t>
            </a:r>
            <a:r>
              <a:rPr lang="en-US" altLang="zh-CN" sz="2100" baseline="-25000" dirty="0"/>
              <a:t>n</a:t>
            </a:r>
            <a:r>
              <a:rPr lang="en-US" altLang="zh-CN" sz="2100" dirty="0"/>
              <a:t>}</a:t>
            </a:r>
            <a:r>
              <a:rPr lang="zh-CN" altLang="en-US" sz="2100" dirty="0"/>
              <a:t>和整数</a:t>
            </a:r>
            <a:r>
              <a:rPr lang="en-US" altLang="zh-CN" sz="2100" dirty="0"/>
              <a:t>y</a:t>
            </a:r>
            <a:r>
              <a:rPr lang="zh-CN" altLang="en-US" sz="2100" dirty="0"/>
              <a:t>，找出和等于</a:t>
            </a:r>
            <a:r>
              <a:rPr lang="en-US" altLang="zh-CN" sz="2100" dirty="0"/>
              <a:t>y</a:t>
            </a:r>
            <a:r>
              <a:rPr lang="zh-CN" altLang="en-US" sz="2100" dirty="0"/>
              <a:t>的</a:t>
            </a:r>
            <a:r>
              <a:rPr lang="en-US" altLang="zh-CN" sz="2100" dirty="0"/>
              <a:t>X</a:t>
            </a:r>
            <a:r>
              <a:rPr lang="zh-CN" altLang="en-US" sz="2100" dirty="0"/>
              <a:t>的子集</a:t>
            </a:r>
            <a:r>
              <a:rPr lang="en-US" altLang="zh-CN" sz="2100" dirty="0"/>
              <a:t>Y</a:t>
            </a:r>
            <a:r>
              <a:rPr lang="zh-CN" altLang="en-US" sz="2100" dirty="0"/>
              <a:t>。比如说，如果</a:t>
            </a:r>
            <a:r>
              <a:rPr lang="en-US" altLang="zh-CN" sz="2100" dirty="0"/>
              <a:t>X = {10,20,30,40,80,60} and y = 60</a:t>
            </a:r>
            <a:endParaRPr lang="en-US" altLang="zh-CN" sz="400" dirty="0">
              <a:solidFill>
                <a:srgbClr val="FF0000"/>
              </a:solidFill>
            </a:endParaRPr>
          </a:p>
          <a:p>
            <a:pPr eaLnBrk="1" hangingPunct="1">
              <a:lnSpc>
                <a:spcPct val="90000"/>
              </a:lnSpc>
            </a:pPr>
            <a:r>
              <a:rPr lang="zh-CN" altLang="en-US" sz="2100" dirty="0">
                <a:solidFill>
                  <a:srgbClr val="FF0000"/>
                </a:solidFill>
              </a:rPr>
              <a:t>变长解</a:t>
            </a:r>
            <a:r>
              <a:rPr lang="en-US" altLang="zh-CN" sz="2100" dirty="0">
                <a:solidFill>
                  <a:srgbClr val="FF0000"/>
                </a:solidFill>
              </a:rPr>
              <a:t>:</a:t>
            </a:r>
          </a:p>
          <a:p>
            <a:pPr lvl="1" eaLnBrk="1" hangingPunct="1">
              <a:lnSpc>
                <a:spcPct val="90000"/>
              </a:lnSpc>
            </a:pPr>
            <a:r>
              <a:rPr lang="zh-CN" altLang="en-US" sz="2000" dirty="0">
                <a:latin typeface="华文楷体" panose="02010600040101010101" pitchFamily="2" charset="-122"/>
                <a:ea typeface="华文楷体" panose="02010600040101010101" pitchFamily="2" charset="-122"/>
              </a:rPr>
              <a:t>三种不同长度的解：</a:t>
            </a:r>
          </a:p>
          <a:p>
            <a:pPr lvl="1" eaLnBrk="1" hangingPunct="1">
              <a:lnSpc>
                <a:spcPct val="90000"/>
              </a:lnSpc>
              <a:buNone/>
            </a:pPr>
            <a:r>
              <a:rPr lang="en-US" altLang="zh-CN" sz="2000" dirty="0">
                <a:ea typeface="华文楷体" panose="02010600040101010101" pitchFamily="2" charset="-122"/>
              </a:rPr>
              <a:t>{10,20,30}</a:t>
            </a:r>
          </a:p>
          <a:p>
            <a:pPr lvl="1" eaLnBrk="1" hangingPunct="1">
              <a:lnSpc>
                <a:spcPct val="90000"/>
              </a:lnSpc>
              <a:buNone/>
            </a:pPr>
            <a:r>
              <a:rPr lang="en-US" altLang="zh-CN" sz="2000" dirty="0">
                <a:ea typeface="华文楷体" panose="02010600040101010101" pitchFamily="2" charset="-122"/>
              </a:rPr>
              <a:t>{20,40}</a:t>
            </a:r>
          </a:p>
          <a:p>
            <a:pPr lvl="1" eaLnBrk="1" hangingPunct="1">
              <a:lnSpc>
                <a:spcPct val="90000"/>
              </a:lnSpc>
              <a:buNone/>
            </a:pPr>
            <a:r>
              <a:rPr lang="en-US" altLang="zh-CN" sz="2000" dirty="0">
                <a:ea typeface="华文楷体" panose="02010600040101010101" pitchFamily="2" charset="-122"/>
              </a:rPr>
              <a:t>{60}</a:t>
            </a:r>
          </a:p>
          <a:p>
            <a:pPr lvl="1" eaLnBrk="1" hangingPunct="1">
              <a:lnSpc>
                <a:spcPct val="90000"/>
              </a:lnSpc>
            </a:pPr>
            <a:endParaRPr lang="en-US" altLang="zh-CN" sz="500" dirty="0">
              <a:ea typeface="华文楷体" panose="02010600040101010101" pitchFamily="2" charset="-122"/>
            </a:endParaRPr>
          </a:p>
          <a:p>
            <a:pPr eaLnBrk="1" hangingPunct="1">
              <a:lnSpc>
                <a:spcPct val="90000"/>
              </a:lnSpc>
            </a:pPr>
            <a:r>
              <a:rPr lang="zh-CN" altLang="en-US" sz="2100" dirty="0">
                <a:solidFill>
                  <a:srgbClr val="FF0000"/>
                </a:solidFill>
              </a:rPr>
              <a:t>定长解</a:t>
            </a:r>
            <a:r>
              <a:rPr lang="en-US" altLang="zh-CN" sz="2100" dirty="0">
                <a:solidFill>
                  <a:srgbClr val="FF0000"/>
                </a:solidFill>
              </a:rPr>
              <a:t>:</a:t>
            </a:r>
          </a:p>
          <a:p>
            <a:pPr lvl="1" eaLnBrk="1" hangingPunct="1">
              <a:lnSpc>
                <a:spcPct val="90000"/>
              </a:lnSpc>
            </a:pPr>
            <a:r>
              <a:rPr lang="zh-CN" altLang="en-US" sz="2000" dirty="0">
                <a:latin typeface="华文楷体" panose="02010600040101010101" pitchFamily="2" charset="-122"/>
                <a:ea typeface="华文楷体" panose="02010600040101010101" pitchFamily="2" charset="-122"/>
              </a:rPr>
              <a:t>这个问题可以用另一种方法明确表达，解是一种明显的长度为</a:t>
            </a:r>
            <a:r>
              <a:rPr lang="en-US" altLang="zh-CN" sz="2000" dirty="0">
                <a:latin typeface="华文楷体" panose="02010600040101010101" pitchFamily="2" charset="-122"/>
                <a:ea typeface="华文楷体" panose="02010600040101010101" pitchFamily="2" charset="-122"/>
              </a:rPr>
              <a:t>n</a:t>
            </a:r>
            <a:r>
              <a:rPr lang="zh-CN" altLang="en-US" sz="2000" dirty="0">
                <a:latin typeface="华文楷体" panose="02010600040101010101" pitchFamily="2" charset="-122"/>
                <a:ea typeface="华文楷体" panose="02010600040101010101" pitchFamily="2" charset="-122"/>
              </a:rPr>
              <a:t>的布尔向量：</a:t>
            </a:r>
          </a:p>
          <a:p>
            <a:pPr lvl="1" eaLnBrk="1" hangingPunct="1">
              <a:lnSpc>
                <a:spcPct val="90000"/>
              </a:lnSpc>
              <a:buNone/>
            </a:pPr>
            <a:r>
              <a:rPr lang="en-US" altLang="zh-CN" sz="2000" dirty="0">
                <a:ea typeface="华文楷体" panose="02010600040101010101" pitchFamily="2" charset="-122"/>
              </a:rPr>
              <a:t>{1,1,1,0,0,0} </a:t>
            </a:r>
          </a:p>
          <a:p>
            <a:pPr lvl="1" eaLnBrk="1" hangingPunct="1">
              <a:lnSpc>
                <a:spcPct val="90000"/>
              </a:lnSpc>
              <a:buNone/>
            </a:pPr>
            <a:r>
              <a:rPr lang="en-US" altLang="zh-CN" sz="2000" dirty="0">
                <a:ea typeface="华文楷体" panose="02010600040101010101" pitchFamily="2" charset="-122"/>
              </a:rPr>
              <a:t>{0,1,0,1,0,0}</a:t>
            </a:r>
          </a:p>
          <a:p>
            <a:pPr lvl="1" eaLnBrk="1" hangingPunct="1">
              <a:lnSpc>
                <a:spcPct val="90000"/>
              </a:lnSpc>
              <a:buNone/>
            </a:pPr>
            <a:r>
              <a:rPr lang="en-US" altLang="zh-CN" sz="2000" dirty="0">
                <a:ea typeface="华文楷体" panose="02010600040101010101" pitchFamily="2" charset="-122"/>
              </a:rPr>
              <a:t>{0,0,0,0,0,l}.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 calcmode="lin" valueType="num">
                                      <p:cBhvr additive="base">
                                        <p:cTn id="19"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2531">
                                            <p:txEl>
                                              <p:pRg st="3" end="3"/>
                                            </p:txEl>
                                          </p:spTgt>
                                        </p:tgtEl>
                                        <p:attrNameLst>
                                          <p:attrName>style.visibility</p:attrName>
                                        </p:attrNameLst>
                                      </p:cBhvr>
                                      <p:to>
                                        <p:strVal val="visible"/>
                                      </p:to>
                                    </p:set>
                                    <p:anim calcmode="lin" valueType="num">
                                      <p:cBhvr additive="base">
                                        <p:cTn id="25" dur="500" fill="hold"/>
                                        <p:tgtEl>
                                          <p:spTgt spid="2253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25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2531">
                                            <p:txEl>
                                              <p:pRg st="4" end="4"/>
                                            </p:txEl>
                                          </p:spTgt>
                                        </p:tgtEl>
                                        <p:attrNameLst>
                                          <p:attrName>style.visibility</p:attrName>
                                        </p:attrNameLst>
                                      </p:cBhvr>
                                      <p:to>
                                        <p:strVal val="visible"/>
                                      </p:to>
                                    </p:set>
                                    <p:anim calcmode="lin" valueType="num">
                                      <p:cBhvr additive="base">
                                        <p:cTn id="31" dur="500" fill="hold"/>
                                        <p:tgtEl>
                                          <p:spTgt spid="2253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25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22531">
                                            <p:txEl>
                                              <p:pRg st="5" end="5"/>
                                            </p:txEl>
                                          </p:spTgt>
                                        </p:tgtEl>
                                        <p:attrNameLst>
                                          <p:attrName>style.visibility</p:attrName>
                                        </p:attrNameLst>
                                      </p:cBhvr>
                                      <p:to>
                                        <p:strVal val="visible"/>
                                      </p:to>
                                    </p:set>
                                    <p:anim calcmode="lin" valueType="num">
                                      <p:cBhvr additive="base">
                                        <p:cTn id="37" dur="500" fill="hold"/>
                                        <p:tgtEl>
                                          <p:spTgt spid="2253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25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2531">
                                            <p:txEl>
                                              <p:pRg st="7" end="7"/>
                                            </p:txEl>
                                          </p:spTgt>
                                        </p:tgtEl>
                                        <p:attrNameLst>
                                          <p:attrName>style.visibility</p:attrName>
                                        </p:attrNameLst>
                                      </p:cBhvr>
                                      <p:to>
                                        <p:strVal val="visible"/>
                                      </p:to>
                                    </p:set>
                                    <p:anim calcmode="lin" valueType="num">
                                      <p:cBhvr additive="base">
                                        <p:cTn id="43" dur="500" fill="hold"/>
                                        <p:tgtEl>
                                          <p:spTgt spid="22531">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253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2531">
                                            <p:txEl>
                                              <p:pRg st="8" end="8"/>
                                            </p:txEl>
                                          </p:spTgt>
                                        </p:tgtEl>
                                        <p:attrNameLst>
                                          <p:attrName>style.visibility</p:attrName>
                                        </p:attrNameLst>
                                      </p:cBhvr>
                                      <p:to>
                                        <p:strVal val="visible"/>
                                      </p:to>
                                    </p:set>
                                    <p:anim calcmode="lin" valueType="num">
                                      <p:cBhvr additive="base">
                                        <p:cTn id="49" dur="500" fill="hold"/>
                                        <p:tgtEl>
                                          <p:spTgt spid="22531">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253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22531">
                                            <p:txEl>
                                              <p:pRg st="9" end="9"/>
                                            </p:txEl>
                                          </p:spTgt>
                                        </p:tgtEl>
                                        <p:attrNameLst>
                                          <p:attrName>style.visibility</p:attrName>
                                        </p:attrNameLst>
                                      </p:cBhvr>
                                      <p:to>
                                        <p:strVal val="visible"/>
                                      </p:to>
                                    </p:set>
                                    <p:anim calcmode="lin" valueType="num">
                                      <p:cBhvr additive="base">
                                        <p:cTn id="55" dur="500" fill="hold"/>
                                        <p:tgtEl>
                                          <p:spTgt spid="22531">
                                            <p:txEl>
                                              <p:pRg st="9" end="9"/>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22531">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22531">
                                            <p:txEl>
                                              <p:pRg st="10" end="10"/>
                                            </p:txEl>
                                          </p:spTgt>
                                        </p:tgtEl>
                                        <p:attrNameLst>
                                          <p:attrName>style.visibility</p:attrName>
                                        </p:attrNameLst>
                                      </p:cBhvr>
                                      <p:to>
                                        <p:strVal val="visible"/>
                                      </p:to>
                                    </p:set>
                                    <p:anim calcmode="lin" valueType="num">
                                      <p:cBhvr additive="base">
                                        <p:cTn id="61" dur="500" fill="hold"/>
                                        <p:tgtEl>
                                          <p:spTgt spid="22531">
                                            <p:txEl>
                                              <p:pRg st="10" end="10"/>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22531">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22531">
                                            <p:txEl>
                                              <p:pRg st="11" end="11"/>
                                            </p:txEl>
                                          </p:spTgt>
                                        </p:tgtEl>
                                        <p:attrNameLst>
                                          <p:attrName>style.visibility</p:attrName>
                                        </p:attrNameLst>
                                      </p:cBhvr>
                                      <p:to>
                                        <p:strVal val="visible"/>
                                      </p:to>
                                    </p:set>
                                    <p:anim calcmode="lin" valueType="num">
                                      <p:cBhvr additive="base">
                                        <p:cTn id="67" dur="500" fill="hold"/>
                                        <p:tgtEl>
                                          <p:spTgt spid="22531">
                                            <p:txEl>
                                              <p:pRg st="11" end="11"/>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22531">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AutoShape 2"/>
          <p:cNvSpPr>
            <a:spLocks noGrp="1"/>
          </p:cNvSpPr>
          <p:nvPr>
            <p:ph type="title"/>
          </p:nvPr>
        </p:nvSpPr>
        <p:spPr/>
        <p:txBody>
          <a:bodyPr vert="horz" wrap="square" lIns="91440" tIns="45720" rIns="91440" bIns="45720" anchor="ctr" anchorCtr="0"/>
          <a:lstStyle/>
          <a:p>
            <a:r>
              <a:rPr lang="zh-CN" altLang="en-US" dirty="0"/>
              <a:t>回溯法的定义</a:t>
            </a:r>
          </a:p>
        </p:txBody>
      </p:sp>
      <p:sp>
        <p:nvSpPr>
          <p:cNvPr id="67586" name="Rectangle 3"/>
          <p:cNvSpPr>
            <a:spLocks noGrp="1"/>
          </p:cNvSpPr>
          <p:nvPr>
            <p:ph idx="1"/>
          </p:nvPr>
        </p:nvSpPr>
        <p:spPr/>
        <p:txBody>
          <a:bodyPr vert="horz" wrap="square" lIns="91440" tIns="45720" rIns="91440" bIns="45720" anchor="t" anchorCtr="0"/>
          <a:lstStyle/>
          <a:p>
            <a:r>
              <a:rPr lang="zh-CN" altLang="en-US" dirty="0">
                <a:solidFill>
                  <a:srgbClr val="FF0000"/>
                </a:solidFill>
              </a:rPr>
              <a:t>回溯法</a:t>
            </a:r>
            <a:r>
              <a:rPr lang="zh-CN" altLang="en-US" dirty="0"/>
              <a:t>（</a:t>
            </a:r>
            <a:r>
              <a:rPr lang="en-US" altLang="zh-CN" dirty="0"/>
              <a:t>backtracking</a:t>
            </a:r>
            <a:r>
              <a:rPr lang="zh-CN" altLang="en-US" dirty="0"/>
              <a:t>）是一种系统地搜索问题解的方法。为实现回溯，首先需要定义一个</a:t>
            </a:r>
            <a:r>
              <a:rPr lang="zh-CN" altLang="en-US" dirty="0">
                <a:solidFill>
                  <a:srgbClr val="FF0000"/>
                </a:solidFill>
              </a:rPr>
              <a:t>解空间</a:t>
            </a:r>
            <a:r>
              <a:rPr lang="zh-CN" altLang="en-US" dirty="0"/>
              <a:t>（</a:t>
            </a:r>
            <a:r>
              <a:rPr lang="en-US" altLang="zh-CN" dirty="0"/>
              <a:t>solution space</a:t>
            </a:r>
            <a:r>
              <a:rPr lang="zh-CN" altLang="en-US" dirty="0"/>
              <a:t>），然后以</a:t>
            </a:r>
            <a:r>
              <a:rPr lang="zh-CN" altLang="en-US" dirty="0">
                <a:solidFill>
                  <a:srgbClr val="FF0000"/>
                </a:solidFill>
              </a:rPr>
              <a:t>易于搜索</a:t>
            </a:r>
            <a:r>
              <a:rPr lang="zh-CN" altLang="en-US" dirty="0"/>
              <a:t>的方式组织解空间，最后用</a:t>
            </a:r>
            <a:r>
              <a:rPr lang="zh-CN" altLang="en-US" dirty="0">
                <a:solidFill>
                  <a:srgbClr val="FF0000"/>
                </a:solidFill>
              </a:rPr>
              <a:t>深度优先</a:t>
            </a:r>
            <a:r>
              <a:rPr lang="zh-CN" altLang="en-US" dirty="0"/>
              <a:t>的方法搜索解空间，获得问题的解。</a:t>
            </a:r>
          </a:p>
        </p:txBody>
      </p:sp>
      <p:sp>
        <p:nvSpPr>
          <p:cNvPr id="67587"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AutoShape 2"/>
          <p:cNvSpPr>
            <a:spLocks noGrp="1"/>
          </p:cNvSpPr>
          <p:nvPr>
            <p:ph type="title"/>
          </p:nvPr>
        </p:nvSpPr>
        <p:spPr/>
        <p:txBody>
          <a:bodyPr vert="horz" wrap="square" lIns="91440" tIns="45720" rIns="91440" bIns="45720" anchor="ctr" anchorCtr="0"/>
          <a:lstStyle/>
          <a:p>
            <a:r>
              <a:rPr lang="zh-CN" altLang="en-US" dirty="0"/>
              <a:t>回溯法的步骤</a:t>
            </a:r>
          </a:p>
        </p:txBody>
      </p:sp>
      <p:sp>
        <p:nvSpPr>
          <p:cNvPr id="68610" name="Rectangle 3"/>
          <p:cNvSpPr>
            <a:spLocks noGrp="1"/>
          </p:cNvSpPr>
          <p:nvPr>
            <p:ph idx="1"/>
          </p:nvPr>
        </p:nvSpPr>
        <p:spPr/>
        <p:txBody>
          <a:bodyPr vert="horz" wrap="square" lIns="91440" tIns="45720" rIns="91440" bIns="45720" anchor="t" anchorCtr="0"/>
          <a:lstStyle/>
          <a:p>
            <a:r>
              <a:rPr lang="zh-CN" altLang="en-US" dirty="0"/>
              <a:t>回溯法求解的三个步骤：</a:t>
            </a:r>
          </a:p>
          <a:p>
            <a:pPr>
              <a:buFont typeface="Wingdings" panose="05000000000000000000" pitchFamily="2" charset="2"/>
              <a:buNone/>
            </a:pPr>
            <a:r>
              <a:rPr lang="zh-CN" altLang="en-US" dirty="0"/>
              <a:t>	（</a:t>
            </a:r>
            <a:r>
              <a:rPr lang="en-US" altLang="zh-CN" dirty="0"/>
              <a:t>1</a:t>
            </a:r>
            <a:r>
              <a:rPr lang="zh-CN" altLang="en-US" dirty="0"/>
              <a:t>）定义一个解空间，它包含问题的解</a:t>
            </a:r>
          </a:p>
          <a:p>
            <a:pPr>
              <a:buFont typeface="Wingdings" panose="05000000000000000000" pitchFamily="2" charset="2"/>
              <a:buNone/>
            </a:pPr>
            <a:r>
              <a:rPr lang="zh-CN" altLang="en-US" dirty="0"/>
              <a:t>	（</a:t>
            </a:r>
            <a:r>
              <a:rPr lang="en-US" altLang="zh-CN" dirty="0"/>
              <a:t>2</a:t>
            </a:r>
            <a:r>
              <a:rPr lang="zh-CN" altLang="en-US" dirty="0"/>
              <a:t>）用易于搜索的方式组织解空间</a:t>
            </a:r>
          </a:p>
          <a:p>
            <a:pPr>
              <a:buFont typeface="Wingdings" panose="05000000000000000000" pitchFamily="2" charset="2"/>
              <a:buNone/>
            </a:pPr>
            <a:r>
              <a:rPr lang="zh-CN" altLang="en-US" dirty="0"/>
              <a:t>	（</a:t>
            </a:r>
            <a:r>
              <a:rPr lang="en-US" altLang="zh-CN" dirty="0"/>
              <a:t>3</a:t>
            </a:r>
            <a:r>
              <a:rPr lang="zh-CN" altLang="en-US" dirty="0"/>
              <a:t>）深度优先搜索解空间，获得问题的解。</a:t>
            </a:r>
          </a:p>
        </p:txBody>
      </p:sp>
      <p:sp>
        <p:nvSpPr>
          <p:cNvPr id="68611"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48130" name="Rectangle 2"/>
          <p:cNvSpPr>
            <a:spLocks noGrp="1"/>
          </p:cNvSpPr>
          <p:nvPr>
            <p:ph type="title"/>
          </p:nvPr>
        </p:nvSpPr>
        <p:spPr/>
        <p:txBody>
          <a:bodyPr vert="horz" wrap="square" lIns="91440" tIns="45720" rIns="91440" bIns="45720" anchor="ctr" anchorCtr="0"/>
          <a:lstStyle/>
          <a:p>
            <a:pPr eaLnBrk="1" hangingPunct="1"/>
            <a:r>
              <a:rPr lang="en-US" altLang="zh-CN" dirty="0"/>
              <a:t>8.2</a:t>
            </a:r>
            <a:r>
              <a:rPr lang="zh-CN" altLang="zh-CN" dirty="0"/>
              <a:t> 回溯策略的算法设计思想及分析方法</a:t>
            </a:r>
            <a:br>
              <a:rPr lang="zh-CN" altLang="zh-CN" dirty="0"/>
            </a:br>
            <a:r>
              <a:rPr lang="en-US" altLang="zh-CN" b="1" dirty="0"/>
              <a:t> </a:t>
            </a:r>
          </a:p>
        </p:txBody>
      </p:sp>
      <p:sp>
        <p:nvSpPr>
          <p:cNvPr id="121859" name="Rectangle 3"/>
          <p:cNvSpPr>
            <a:spLocks noGrp="1" noChangeArrowheads="1"/>
          </p:cNvSpPr>
          <p:nvPr>
            <p:ph idx="1"/>
          </p:nvPr>
        </p:nvSpPr>
        <p:spPr>
          <a:xfrm>
            <a:off x="900430" y="1268730"/>
            <a:ext cx="7968615" cy="4526280"/>
          </a:xfrm>
        </p:spPr>
        <p:txBody>
          <a:bodyPr vert="horz" wrap="square" lIns="91440" tIns="45720" rIns="91440" bIns="45720" numCol="1" anchor="t" anchorCtr="0" compatLnSpc="1"/>
          <a:lstStyle/>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8.2</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.1 问题要求与</a:t>
            </a:r>
            <a:r>
              <a:rPr lang="zh-CN" altLang="zh-CN" sz="2300" noProof="0" dirty="0">
                <a:ln>
                  <a:noFill/>
                </a:ln>
                <a:solidFill>
                  <a:srgbClr val="FF0000"/>
                </a:solidFill>
                <a:effectLst/>
                <a:uLnTx/>
                <a:uFillTx/>
                <a:latin typeface="+mn-ea"/>
                <a:sym typeface="+mn-ea"/>
              </a:rPr>
              <a:t>约束函数、</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问题解的表示、状态空间树</a:t>
            </a:r>
          </a:p>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8.2</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.2 回溯策略的基本思想</a:t>
            </a:r>
          </a:p>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8.2</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.3 回溯算法一般框架</a:t>
            </a:r>
          </a:p>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8.2</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.4 回溯策略的本质-约束穷举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p:cTn id="7" dur="500" fill="hold"/>
                                        <p:tgtEl>
                                          <p:spTgt spid="121859">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121859">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animClr clrSpc="rgb" dir="cw">
                                      <p:cBhvr override="childStyle">
                                        <p:cTn dur="1" fill="hold" display="0" masterRel="nextClick" afterEffect="1"/>
                                        <p:tgtEl>
                                          <p:spTgt spid="121859">
                                            <p:txEl>
                                              <p:pRg st="0" end="0"/>
                                            </p:txEl>
                                          </p:spTgt>
                                        </p:tgtEl>
                                        <p:attrNameLst>
                                          <p:attrName>ppt_c</p:attrName>
                                        </p:attrNameLst>
                                      </p:cBhvr>
                                      <p:to>
                                        <a:srgbClr val="EA0000"/>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21859">
                                            <p:txEl>
                                              <p:pRg st="1" end="1"/>
                                            </p:txEl>
                                          </p:spTgt>
                                        </p:tgtEl>
                                        <p:attrNameLst>
                                          <p:attrName>style.visibility</p:attrName>
                                        </p:attrNameLst>
                                      </p:cBhvr>
                                      <p:to>
                                        <p:strVal val="visible"/>
                                      </p:to>
                                    </p:set>
                                    <p:anim calcmode="lin" valueType="num">
                                      <p:cBhvr>
                                        <p:cTn id="13" dur="500" fill="hold"/>
                                        <p:tgtEl>
                                          <p:spTgt spid="121859">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121859">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1" end="1"/>
                                            </p:txEl>
                                          </p:spTgt>
                                        </p:tgtEl>
                                        <p:attrNameLst>
                                          <p:attrName>ppt_c</p:attrName>
                                        </p:attrNameLst>
                                      </p:cBhvr>
                                      <p:to>
                                        <a:srgbClr val="EA0000"/>
                                      </p:to>
                                    </p:animClr>
                                    <p:audio>
                                      <p:cMediaNode>
                                        <p:cTn display="0" masterRel="sameClick">
                                          <p:stCondLst>
                                            <p:cond evt="begin" delay="0">
                                              <p:tn val="11"/>
                                            </p:cond>
                                          </p:stCondLst>
                                          <p:endCondLst>
                                            <p:cond evt="onStopAudio" delay="0">
                                              <p:tgtEl>
                                                <p:sldTgt/>
                                              </p:tgtEl>
                                            </p:cond>
                                          </p:endCondLst>
                                        </p:cTn>
                                        <p:tgtEl>
                                          <p:sndTgt r:embed="rId3" name="type.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21859">
                                            <p:txEl>
                                              <p:pRg st="2" end="2"/>
                                            </p:txEl>
                                          </p:spTgt>
                                        </p:tgtEl>
                                        <p:attrNameLst>
                                          <p:attrName>style.visibility</p:attrName>
                                        </p:attrNameLst>
                                      </p:cBhvr>
                                      <p:to>
                                        <p:strVal val="visible"/>
                                      </p:to>
                                    </p:set>
                                    <p:anim calcmode="lin" valueType="num">
                                      <p:cBhvr>
                                        <p:cTn id="19" dur="500" fill="hold"/>
                                        <p:tgtEl>
                                          <p:spTgt spid="121859">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121859">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2" end="2"/>
                                            </p:txEl>
                                          </p:spTgt>
                                        </p:tgtEl>
                                        <p:attrNameLst>
                                          <p:attrName>ppt_c</p:attrName>
                                        </p:attrNameLst>
                                      </p:cBhvr>
                                      <p:to>
                                        <a:srgbClr val="EA0000"/>
                                      </p:to>
                                    </p:animClr>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121859">
                                            <p:txEl>
                                              <p:pRg st="3" end="3"/>
                                            </p:txEl>
                                          </p:spTgt>
                                        </p:tgtEl>
                                        <p:attrNameLst>
                                          <p:attrName>style.visibility</p:attrName>
                                        </p:attrNameLst>
                                      </p:cBhvr>
                                      <p:to>
                                        <p:strVal val="visible"/>
                                      </p:to>
                                    </p:set>
                                    <p:anim calcmode="lin" valueType="num">
                                      <p:cBhvr>
                                        <p:cTn id="25" dur="500" fill="hold"/>
                                        <p:tgtEl>
                                          <p:spTgt spid="121859">
                                            <p:txEl>
                                              <p:pRg st="3" end="3"/>
                                            </p:txEl>
                                          </p:spTgt>
                                        </p:tgtEl>
                                        <p:attrNameLst>
                                          <p:attrName>ppt_x</p:attrName>
                                        </p:attrNameLst>
                                      </p:cBhvr>
                                      <p:tavLst>
                                        <p:tav tm="0">
                                          <p:val>
                                            <p:strVal val="#ppt_x"/>
                                          </p:val>
                                        </p:tav>
                                        <p:tav tm="100000">
                                          <p:val>
                                            <p:strVal val="#ppt_x"/>
                                          </p:val>
                                        </p:tav>
                                      </p:tavLst>
                                    </p:anim>
                                    <p:anim calcmode="lin" valueType="num">
                                      <p:cBhvr>
                                        <p:cTn id="26" dur="500" fill="hold"/>
                                        <p:tgtEl>
                                          <p:spTgt spid="121859">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3" end="3"/>
                                            </p:txEl>
                                          </p:spTgt>
                                        </p:tgtEl>
                                        <p:attrNameLst>
                                          <p:attrName>ppt_c</p:attrName>
                                        </p:attrNameLst>
                                      </p:cBhvr>
                                      <p:to>
                                        <a:srgbClr val="EA0000"/>
                                      </p:to>
                                    </p:animClr>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62466" name="Rectangle 2"/>
          <p:cNvSpPr>
            <a:spLocks noGrp="1"/>
          </p:cNvSpPr>
          <p:nvPr>
            <p:ph type="title"/>
          </p:nvPr>
        </p:nvSpPr>
        <p:spPr>
          <a:xfrm>
            <a:off x="989013" y="269875"/>
            <a:ext cx="7643812" cy="871538"/>
          </a:xfrm>
        </p:spPr>
        <p:txBody>
          <a:bodyPr vert="horz" wrap="square" lIns="91440" tIns="45720" rIns="91440" bIns="45720" anchor="ctr" anchorCtr="0"/>
          <a:lstStyle/>
          <a:p>
            <a:pPr eaLnBrk="1" hangingPunct="1"/>
            <a:r>
              <a:rPr lang="en-US" altLang="zh-CN" dirty="0"/>
              <a:t>8.2.1</a:t>
            </a:r>
            <a:r>
              <a:rPr lang="zh-CN" altLang="en-US" dirty="0"/>
              <a:t>回溯法的</a:t>
            </a:r>
            <a:r>
              <a:rPr lang="zh-CN" altLang="zh-CN" noProof="0" dirty="0">
                <a:ln>
                  <a:noFill/>
                </a:ln>
                <a:solidFill>
                  <a:srgbClr val="FF0000"/>
                </a:solidFill>
                <a:effectLst/>
                <a:uLnTx/>
                <a:uFillTx/>
                <a:latin typeface="+mn-ea"/>
                <a:ea typeface="+mn-ea"/>
                <a:cs typeface="+mn-cs"/>
                <a:sym typeface="+mn-ea"/>
              </a:rPr>
              <a:t>问题要求</a:t>
            </a:r>
          </a:p>
        </p:txBody>
      </p:sp>
      <p:sp>
        <p:nvSpPr>
          <p:cNvPr id="62467" name="Rectangle 3"/>
          <p:cNvSpPr>
            <a:spLocks noGrp="1"/>
          </p:cNvSpPr>
          <p:nvPr>
            <p:ph idx="1"/>
          </p:nvPr>
        </p:nvSpPr>
        <p:spPr>
          <a:xfrm>
            <a:off x="457200" y="1341438"/>
            <a:ext cx="8686800" cy="4535487"/>
          </a:xfrm>
        </p:spPr>
        <p:txBody>
          <a:bodyPr vert="horz" wrap="square" lIns="91440" tIns="45720" rIns="91440" bIns="45720" anchor="t" anchorCtr="0"/>
          <a:lstStyle/>
          <a:p>
            <a:pPr eaLnBrk="1" hangingPunct="1"/>
            <a:r>
              <a:rPr lang="zh-CN" altLang="zh-CN" sz="2200" noProof="0" dirty="0">
                <a:ln>
                  <a:noFill/>
                </a:ln>
                <a:solidFill>
                  <a:srgbClr val="FF0000"/>
                </a:solidFill>
                <a:effectLst/>
                <a:uLnTx/>
                <a:uFillTx/>
                <a:latin typeface="+mn-ea"/>
                <a:sym typeface="+mn-ea"/>
              </a:rPr>
              <a:t>问题要求</a:t>
            </a:r>
            <a:r>
              <a:rPr lang="en-US" altLang="zh-CN" sz="2200" dirty="0"/>
              <a:t>:</a:t>
            </a:r>
          </a:p>
          <a:p>
            <a:pPr lvl="1" eaLnBrk="1" hangingPunct="1"/>
            <a:r>
              <a:rPr lang="en-US" altLang="zh-CN" dirty="0">
                <a:latin typeface="华文楷体" panose="02010600040101010101" pitchFamily="2" charset="-122"/>
                <a:ea typeface="华文楷体" panose="02010600040101010101" pitchFamily="2" charset="-122"/>
                <a:sym typeface="Wingdings" panose="05000000000000000000" pitchFamily="2" charset="2"/>
              </a:rPr>
              <a:t>(1)</a:t>
            </a:r>
            <a:r>
              <a:rPr lang="zh-CN" altLang="en-US" dirty="0">
                <a:latin typeface="华文楷体" panose="02010600040101010101" pitchFamily="2" charset="-122"/>
                <a:ea typeface="华文楷体" panose="02010600040101010101" pitchFamily="2" charset="-122"/>
              </a:rPr>
              <a:t>所要求的</a:t>
            </a:r>
            <a:r>
              <a:rPr lang="zh-CN" altLang="en-US" dirty="0">
                <a:solidFill>
                  <a:srgbClr val="FF0000"/>
                </a:solidFill>
                <a:latin typeface="华文楷体" panose="02010600040101010101" pitchFamily="2" charset="-122"/>
                <a:ea typeface="华文楷体" panose="02010600040101010101" pitchFamily="2" charset="-122"/>
              </a:rPr>
              <a:t>解必须能表示成一个</a:t>
            </a:r>
            <a:r>
              <a:rPr lang="en-US" altLang="zh-CN" dirty="0">
                <a:solidFill>
                  <a:srgbClr val="FF0000"/>
                </a:solidFill>
                <a:latin typeface="华文楷体" panose="02010600040101010101" pitchFamily="2" charset="-122"/>
                <a:ea typeface="华文楷体" panose="02010600040101010101" pitchFamily="2" charset="-122"/>
              </a:rPr>
              <a:t>n-</a:t>
            </a:r>
            <a:r>
              <a:rPr lang="zh-CN" altLang="en-US" dirty="0">
                <a:solidFill>
                  <a:srgbClr val="FF0000"/>
                </a:solidFill>
                <a:latin typeface="华文楷体" panose="02010600040101010101" pitchFamily="2" charset="-122"/>
                <a:ea typeface="华文楷体" panose="02010600040101010101" pitchFamily="2" charset="-122"/>
              </a:rPr>
              <a:t>元组</a:t>
            </a:r>
            <a:r>
              <a:rPr lang="en-US" altLang="zh-CN" dirty="0">
                <a:latin typeface="华文楷体" panose="02010600040101010101" pitchFamily="2" charset="-122"/>
                <a:ea typeface="华文楷体" panose="02010600040101010101" pitchFamily="2" charset="-122"/>
              </a:rPr>
              <a:t>(x</a:t>
            </a:r>
            <a:r>
              <a:rPr lang="en-US" altLang="zh-CN" baseline="-25000" dirty="0">
                <a:latin typeface="华文楷体" panose="02010600040101010101" pitchFamily="2" charset="-122"/>
                <a:ea typeface="华文楷体" panose="02010600040101010101" pitchFamily="2" charset="-122"/>
              </a:rPr>
              <a:t>1</a:t>
            </a:r>
            <a:r>
              <a:rPr lang="en-US" altLang="zh-CN" dirty="0">
                <a:latin typeface="华文楷体" panose="02010600040101010101" pitchFamily="2" charset="-122"/>
                <a:ea typeface="华文楷体" panose="02010600040101010101" pitchFamily="2" charset="-122"/>
              </a:rPr>
              <a:t>,x</a:t>
            </a:r>
            <a:r>
              <a:rPr lang="en-US" altLang="zh-CN" baseline="-25000" dirty="0">
                <a:latin typeface="华文楷体" panose="02010600040101010101" pitchFamily="2" charset="-122"/>
                <a:ea typeface="华文楷体" panose="02010600040101010101" pitchFamily="2" charset="-122"/>
              </a:rPr>
              <a:t>2</a:t>
            </a:r>
            <a:r>
              <a:rPr lang="en-US" altLang="zh-CN" dirty="0">
                <a:latin typeface="华文楷体" panose="02010600040101010101" pitchFamily="2" charset="-122"/>
                <a:ea typeface="华文楷体" panose="02010600040101010101" pitchFamily="2" charset="-122"/>
              </a:rPr>
              <a:t>,…,x</a:t>
            </a:r>
            <a:r>
              <a:rPr lang="en-US" altLang="zh-CN" baseline="-25000" dirty="0">
                <a:latin typeface="华文楷体" panose="02010600040101010101" pitchFamily="2" charset="-122"/>
                <a:ea typeface="华文楷体" panose="02010600040101010101" pitchFamily="2" charset="-122"/>
              </a:rPr>
              <a:t>n</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，其中</a:t>
            </a:r>
            <a:r>
              <a:rPr lang="en-US" altLang="zh-CN" dirty="0">
                <a:latin typeface="华文楷体" panose="02010600040101010101" pitchFamily="2" charset="-122"/>
                <a:ea typeface="华文楷体" panose="02010600040101010101" pitchFamily="2" charset="-122"/>
              </a:rPr>
              <a:t>x</a:t>
            </a:r>
            <a:r>
              <a:rPr lang="en-US" altLang="zh-CN" baseline="-25000" dirty="0">
                <a:latin typeface="华文楷体" panose="02010600040101010101" pitchFamily="2" charset="-122"/>
                <a:ea typeface="华文楷体" panose="02010600040101010101" pitchFamily="2" charset="-122"/>
              </a:rPr>
              <a:t>i</a:t>
            </a:r>
            <a:r>
              <a:rPr lang="zh-CN" altLang="en-US" dirty="0">
                <a:latin typeface="华文楷体" panose="02010600040101010101" pitchFamily="2" charset="-122"/>
                <a:ea typeface="华文楷体" panose="02010600040101010101" pitchFamily="2" charset="-122"/>
              </a:rPr>
              <a:t>是取自某个有穷集</a:t>
            </a:r>
            <a:r>
              <a:rPr lang="en-US" altLang="zh-CN" dirty="0">
                <a:latin typeface="华文楷体" panose="02010600040101010101" pitchFamily="2" charset="-122"/>
                <a:ea typeface="华文楷体" panose="02010600040101010101" pitchFamily="2" charset="-122"/>
              </a:rPr>
              <a:t>S</a:t>
            </a:r>
            <a:r>
              <a:rPr lang="en-US" altLang="zh-CN" baseline="-25000" dirty="0">
                <a:latin typeface="华文楷体" panose="02010600040101010101" pitchFamily="2" charset="-122"/>
                <a:ea typeface="华文楷体" panose="02010600040101010101" pitchFamily="2" charset="-122"/>
              </a:rPr>
              <a:t>i</a:t>
            </a:r>
            <a:r>
              <a:rPr lang="zh-CN" altLang="en-US" baseline="-25000"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通常，所求解的问题需要求取一个使某一个</a:t>
            </a:r>
            <a:r>
              <a:rPr lang="zh-CN" altLang="en-US" dirty="0">
                <a:solidFill>
                  <a:srgbClr val="FF0000"/>
                </a:solidFill>
                <a:latin typeface="华文楷体" panose="02010600040101010101" pitchFamily="2" charset="-122"/>
                <a:ea typeface="华文楷体" panose="02010600040101010101" pitchFamily="2" charset="-122"/>
              </a:rPr>
              <a:t>规范函数</a:t>
            </a:r>
            <a:r>
              <a:rPr lang="en-US" altLang="zh-CN" dirty="0">
                <a:latin typeface="华文楷体" panose="02010600040101010101" pitchFamily="2" charset="-122"/>
                <a:ea typeface="华文楷体" panose="02010600040101010101" pitchFamily="2" charset="-122"/>
              </a:rPr>
              <a:t>P(x</a:t>
            </a:r>
            <a:r>
              <a:rPr lang="en-US" altLang="zh-CN" baseline="-25000" dirty="0">
                <a:latin typeface="华文楷体" panose="02010600040101010101" pitchFamily="2" charset="-122"/>
                <a:ea typeface="华文楷体" panose="02010600040101010101" pitchFamily="2" charset="-122"/>
              </a:rPr>
              <a:t>1</a:t>
            </a:r>
            <a:r>
              <a:rPr lang="en-US" altLang="zh-CN" dirty="0">
                <a:latin typeface="华文楷体" panose="02010600040101010101" pitchFamily="2" charset="-122"/>
                <a:ea typeface="华文楷体" panose="02010600040101010101" pitchFamily="2" charset="-122"/>
              </a:rPr>
              <a:t>,x</a:t>
            </a:r>
            <a:r>
              <a:rPr lang="en-US" altLang="zh-CN" baseline="-25000" dirty="0">
                <a:latin typeface="华文楷体" panose="02010600040101010101" pitchFamily="2" charset="-122"/>
                <a:ea typeface="华文楷体" panose="02010600040101010101" pitchFamily="2" charset="-122"/>
              </a:rPr>
              <a:t>2</a:t>
            </a:r>
            <a:r>
              <a:rPr lang="en-US" altLang="zh-CN" dirty="0">
                <a:latin typeface="华文楷体" panose="02010600040101010101" pitchFamily="2" charset="-122"/>
                <a:ea typeface="华文楷体" panose="02010600040101010101" pitchFamily="2" charset="-122"/>
              </a:rPr>
              <a:t>,…,x</a:t>
            </a:r>
            <a:r>
              <a:rPr lang="en-US" altLang="zh-CN" baseline="-25000" dirty="0">
                <a:latin typeface="华文楷体" panose="02010600040101010101" pitchFamily="2" charset="-122"/>
                <a:ea typeface="华文楷体" panose="02010600040101010101" pitchFamily="2" charset="-122"/>
              </a:rPr>
              <a:t>n</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取极值或满足规范条件的向量，有时还要找出满足</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的所有向量。</a:t>
            </a:r>
            <a:endParaRPr lang="en-US" altLang="zh-CN" dirty="0">
              <a:latin typeface="华文楷体" panose="02010600040101010101" pitchFamily="2" charset="-122"/>
              <a:ea typeface="华文楷体" panose="02010600040101010101" pitchFamily="2" charset="-122"/>
            </a:endParaRPr>
          </a:p>
          <a:p>
            <a:pPr lvl="1" eaLnBrk="1" hangingPunct="1"/>
            <a:endParaRPr lang="en-US" altLang="zh-CN" dirty="0">
              <a:ea typeface="华文楷体" panose="02010600040101010101" pitchFamily="2" charset="-122"/>
            </a:endParaRPr>
          </a:p>
          <a:p>
            <a:pPr lvl="1" eaLnBrk="1" hangingPunct="1"/>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许多问题还要求所有的解满足一组综合的约束条件</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这些条件分两种类型</a:t>
            </a:r>
            <a:r>
              <a:rPr lang="en-US" altLang="zh-CN" dirty="0">
                <a:latin typeface="华文楷体" panose="02010600040101010101" pitchFamily="2" charset="-122"/>
                <a:ea typeface="华文楷体" panose="02010600040101010101" pitchFamily="2" charset="-122"/>
              </a:rPr>
              <a:t>:</a:t>
            </a:r>
            <a:r>
              <a:rPr lang="zh-CN" altLang="en-US" b="1" dirty="0">
                <a:solidFill>
                  <a:srgbClr val="FF0000"/>
                </a:solidFill>
                <a:latin typeface="华文楷体" panose="02010600040101010101" pitchFamily="2" charset="-122"/>
                <a:ea typeface="华文楷体" panose="02010600040101010101" pitchFamily="2" charset="-122"/>
              </a:rPr>
              <a:t>显式约束</a:t>
            </a:r>
            <a:r>
              <a:rPr lang="zh-CN" altLang="en-US" dirty="0">
                <a:latin typeface="华文楷体" panose="02010600040101010101" pitchFamily="2" charset="-122"/>
                <a:ea typeface="华文楷体" panose="02010600040101010101" pitchFamily="2" charset="-122"/>
              </a:rPr>
              <a:t>和</a:t>
            </a:r>
            <a:r>
              <a:rPr lang="zh-CN" altLang="en-US" b="1" dirty="0">
                <a:solidFill>
                  <a:srgbClr val="FF0000"/>
                </a:solidFill>
                <a:latin typeface="华文楷体" panose="02010600040101010101" pitchFamily="2" charset="-122"/>
                <a:ea typeface="华文楷体" panose="02010600040101010101" pitchFamily="2" charset="-122"/>
              </a:rPr>
              <a:t>隐式约束</a:t>
            </a:r>
            <a:r>
              <a:rPr lang="en-US" altLang="zh-CN" dirty="0">
                <a:solidFill>
                  <a:srgbClr val="FF0000"/>
                </a:solidFill>
                <a:latin typeface="华文楷体" panose="02010600040101010101" pitchFamily="2" charset="-122"/>
                <a:ea typeface="华文楷体" panose="02010600040101010101" pitchFamily="2" charset="-122"/>
              </a:rPr>
              <a:t>.</a:t>
            </a:r>
          </a:p>
          <a:p>
            <a:pPr lvl="2" eaLnBrk="1" hangingPunct="1"/>
            <a:r>
              <a:rPr lang="zh-CN" altLang="en-US" sz="2200" b="1" dirty="0">
                <a:ea typeface="华文楷体" panose="02010600040101010101" pitchFamily="2" charset="-122"/>
              </a:rPr>
              <a:t>显式约束</a:t>
            </a:r>
            <a:r>
              <a:rPr lang="zh-CN" altLang="en-US" sz="2200" dirty="0">
                <a:ea typeface="华文楷体" panose="02010600040101010101" pitchFamily="2" charset="-122"/>
              </a:rPr>
              <a:t>限定每个</a:t>
            </a:r>
            <a:r>
              <a:rPr lang="en-US" altLang="zh-CN" sz="2200" dirty="0">
                <a:ea typeface="华文楷体" panose="02010600040101010101" pitchFamily="2" charset="-122"/>
              </a:rPr>
              <a:t>x</a:t>
            </a:r>
            <a:r>
              <a:rPr lang="zh-CN" altLang="en-US" sz="2200" dirty="0">
                <a:ea typeface="华文楷体" panose="02010600040101010101" pitchFamily="2" charset="-122"/>
              </a:rPr>
              <a:t>只从一个给定的集合上取值</a:t>
            </a:r>
            <a:r>
              <a:rPr lang="en-US" altLang="zh-CN" sz="2200" dirty="0">
                <a:ea typeface="华文楷体" panose="02010600040101010101" pitchFamily="2" charset="-122"/>
              </a:rPr>
              <a:t>,</a:t>
            </a:r>
            <a:r>
              <a:rPr lang="zh-CN" altLang="en-US" sz="2200" dirty="0">
                <a:ea typeface="华文楷体" panose="02010600040101010101" pitchFamily="2" charset="-122"/>
              </a:rPr>
              <a:t>满足显式约束的所有元组确定一个可能的</a:t>
            </a:r>
            <a:r>
              <a:rPr lang="zh-CN" altLang="en-US" sz="2200" b="1" dirty="0">
                <a:solidFill>
                  <a:srgbClr val="FF0000"/>
                </a:solidFill>
                <a:ea typeface="华文楷体" panose="02010600040101010101" pitchFamily="2" charset="-122"/>
              </a:rPr>
              <a:t>解空间</a:t>
            </a:r>
            <a:r>
              <a:rPr lang="zh-CN" altLang="en-US" sz="2200" dirty="0">
                <a:ea typeface="华文楷体" panose="02010600040101010101" pitchFamily="2" charset="-122"/>
              </a:rPr>
              <a:t>；</a:t>
            </a:r>
            <a:endParaRPr lang="en-US" altLang="zh-CN" sz="2200" dirty="0">
              <a:ea typeface="华文楷体" panose="02010600040101010101" pitchFamily="2" charset="-122"/>
            </a:endParaRPr>
          </a:p>
          <a:p>
            <a:pPr lvl="2" eaLnBrk="1" hangingPunct="1"/>
            <a:r>
              <a:rPr lang="zh-CN" altLang="en-US" sz="2200" b="1" dirty="0">
                <a:ea typeface="华文楷体" panose="02010600040101010101" pitchFamily="2" charset="-122"/>
              </a:rPr>
              <a:t>隐式约束</a:t>
            </a:r>
            <a:r>
              <a:rPr lang="zh-CN" altLang="en-US" sz="2200" dirty="0">
                <a:ea typeface="华文楷体" panose="02010600040101010101" pitchFamily="2" charset="-122"/>
              </a:rPr>
              <a:t>规定解空间中那些实际上满足规范函数的元组</a:t>
            </a:r>
            <a:r>
              <a:rPr lang="en-US" altLang="zh-CN" sz="2200" dirty="0">
                <a:ea typeface="华文楷体" panose="02010600040101010101" pitchFamily="2" charset="-122"/>
              </a:rPr>
              <a:t>,</a:t>
            </a:r>
            <a:r>
              <a:rPr lang="zh-CN" altLang="en-US" sz="2200" dirty="0">
                <a:ea typeface="华文楷体" panose="02010600040101010101" pitchFamily="2" charset="-122"/>
              </a:rPr>
              <a:t>因此</a:t>
            </a:r>
            <a:r>
              <a:rPr lang="en-US" altLang="zh-CN" sz="2200" dirty="0">
                <a:ea typeface="华文楷体" panose="02010600040101010101" pitchFamily="2" charset="-122"/>
              </a:rPr>
              <a:t>,</a:t>
            </a:r>
            <a:r>
              <a:rPr lang="zh-CN" altLang="en-US" sz="2200" dirty="0">
                <a:ea typeface="华文楷体" panose="02010600040101010101" pitchFamily="2" charset="-122"/>
              </a:rPr>
              <a:t>描述了</a:t>
            </a:r>
            <a:r>
              <a:rPr lang="en-US" altLang="zh-CN" sz="2200" dirty="0">
                <a:ea typeface="华文楷体" panose="02010600040101010101" pitchFamily="2" charset="-122"/>
              </a:rPr>
              <a:t>x</a:t>
            </a:r>
            <a:r>
              <a:rPr lang="en-US" altLang="zh-CN" sz="2200" baseline="-25000" dirty="0">
                <a:ea typeface="华文楷体" panose="02010600040101010101" pitchFamily="2" charset="-122"/>
              </a:rPr>
              <a:t>i</a:t>
            </a:r>
            <a:r>
              <a:rPr lang="zh-CN" altLang="en-US" sz="2200" dirty="0">
                <a:ea typeface="华文楷体" panose="02010600040101010101" pitchFamily="2" charset="-122"/>
              </a:rPr>
              <a:t>必须彼此相关的情况。</a:t>
            </a:r>
            <a:endParaRPr lang="en-US" altLang="zh-CN" sz="2200" dirty="0">
              <a:ea typeface="华文楷体" panose="0201060004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64514" name="Rectangle 2"/>
          <p:cNvSpPr>
            <a:spLocks noGrp="1"/>
          </p:cNvSpPr>
          <p:nvPr>
            <p:ph type="title"/>
          </p:nvPr>
        </p:nvSpPr>
        <p:spPr/>
        <p:txBody>
          <a:bodyPr vert="horz" wrap="square" lIns="91440" tIns="45720" rIns="91440" bIns="45720" anchor="ctr" anchorCtr="0"/>
          <a:lstStyle/>
          <a:p>
            <a:pPr eaLnBrk="1" hangingPunct="1"/>
            <a:r>
              <a:rPr lang="zh-CN" altLang="en-US" dirty="0"/>
              <a:t>问题举例</a:t>
            </a:r>
          </a:p>
        </p:txBody>
      </p:sp>
      <p:sp>
        <p:nvSpPr>
          <p:cNvPr id="12292"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8</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－皇后问题：在一个</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8×8</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的棋盘上放</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8</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个皇后，且使得每两个之间都不能互相“攻击”，即都不出现在同一行、同一列及同一条斜对角线上。</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rgbClr val="FF0000"/>
                </a:solidFill>
                <a:effectLst/>
                <a:uLnTx/>
                <a:uFillTx/>
                <a:latin typeface="+mn-lt"/>
                <a:ea typeface="+mn-ea"/>
                <a:cs typeface="+mn-ea"/>
              </a:rPr>
              <a:t>解的表示</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：假定第</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i</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个皇后放在第</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i</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行，用</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8</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－元组</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2</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8</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表示解，其中</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i</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表示放置皇后</a:t>
            </a:r>
            <a:r>
              <a:rPr kumimoji="0" lang="en-US" altLang="zh-CN" sz="2400" b="0" i="0" u="none" strike="noStrike" kern="0" cap="none" spc="0" normalizeH="0" baseline="0" noProof="0" dirty="0" err="1">
                <a:ln>
                  <a:noFill/>
                </a:ln>
                <a:solidFill>
                  <a:schemeClr val="accent2"/>
                </a:solidFill>
                <a:effectLst/>
                <a:uLnTx/>
                <a:uFillTx/>
                <a:latin typeface="+mn-lt"/>
                <a:ea typeface="+mn-ea"/>
                <a:cs typeface="+mn-ea"/>
              </a:rPr>
              <a:t>i</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的列号。</a:t>
            </a: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rgbClr val="FF0000"/>
                </a:solidFill>
                <a:effectLst/>
                <a:uLnTx/>
                <a:uFillTx/>
                <a:latin typeface="+mn-lt"/>
                <a:ea typeface="+mn-ea"/>
                <a:cs typeface="+mn-ea"/>
              </a:rPr>
              <a:t>显示约束</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S</a:t>
            </a:r>
            <a:r>
              <a:rPr kumimoji="0" lang="en-US" altLang="zh-CN" sz="2200" b="0" i="0" u="none" strike="noStrike" kern="0" cap="none" spc="0" normalizeH="0" baseline="-25000" noProof="0" dirty="0">
                <a:ln>
                  <a:noFill/>
                </a:ln>
                <a:solidFill>
                  <a:schemeClr val="accent2"/>
                </a:solidFill>
                <a:effectLst/>
                <a:uLnTx/>
                <a:uFillTx/>
                <a:latin typeface="+mn-lt"/>
                <a:ea typeface="+mn-ea"/>
                <a:cs typeface="+mn-ea"/>
              </a:rPr>
              <a:t>i</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=(1,2,3,…8),1</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itchFamily="18" charset="2"/>
              </a:rPr>
              <a:t>i8</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rgbClr val="FF0000"/>
                </a:solidFill>
                <a:effectLst/>
                <a:uLnTx/>
                <a:uFillTx/>
                <a:latin typeface="+mn-lt"/>
                <a:ea typeface="+mn-ea"/>
                <a:cs typeface="+mn-ea"/>
              </a:rPr>
              <a:t>隐示约束</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：没有两个</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i</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itchFamily="18" charset="2"/>
              </a:rPr>
              <a:t>i8</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可以相同（在不同的列上），且没有两个皇后在同一斜对角线上。</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AutoShape 2"/>
          <p:cNvSpPr>
            <a:spLocks noGrp="1"/>
          </p:cNvSpPr>
          <p:nvPr>
            <p:ph type="title"/>
          </p:nvPr>
        </p:nvSpPr>
        <p:spPr/>
        <p:txBody>
          <a:bodyPr vert="horz" wrap="square" lIns="91440" tIns="45720" rIns="91440" bIns="45720" anchor="ctr" anchorCtr="0"/>
          <a:lstStyle/>
          <a:p>
            <a:r>
              <a:rPr lang="en-US" altLang="zh-CN" dirty="0">
                <a:sym typeface="+mn-ea"/>
              </a:rPr>
              <a:t>8.2</a:t>
            </a:r>
            <a:r>
              <a:rPr lang="zh-CN" altLang="en-US" dirty="0">
                <a:sym typeface="+mn-ea"/>
              </a:rPr>
              <a:t>.1</a:t>
            </a:r>
            <a:r>
              <a:rPr lang="en-US" altLang="zh-CN" dirty="0">
                <a:sym typeface="+mn-ea"/>
              </a:rPr>
              <a:t> </a:t>
            </a:r>
            <a:r>
              <a:rPr lang="zh-CN" altLang="en-US" dirty="0">
                <a:sym typeface="+mn-ea"/>
              </a:rPr>
              <a:t>问题解表示</a:t>
            </a:r>
            <a:endParaRPr lang="zh-CN" altLang="en-US" dirty="0"/>
          </a:p>
        </p:txBody>
      </p:sp>
      <p:sp>
        <p:nvSpPr>
          <p:cNvPr id="51202" name="Rectangle 3"/>
          <p:cNvSpPr>
            <a:spLocks noGrp="1"/>
          </p:cNvSpPr>
          <p:nvPr>
            <p:ph idx="1"/>
          </p:nvPr>
        </p:nvSpPr>
        <p:spPr>
          <a:xfrm>
            <a:off x="900113" y="1285875"/>
            <a:ext cx="7848600" cy="4306888"/>
          </a:xfrm>
        </p:spPr>
        <p:txBody>
          <a:bodyPr vert="horz" wrap="square" lIns="91440" tIns="45720" rIns="91440" bIns="45720" anchor="t" anchorCtr="0"/>
          <a:lstStyle/>
          <a:p>
            <a:pPr>
              <a:buFont typeface="Wingdings" panose="05000000000000000000" pitchFamily="2" charset="2"/>
              <a:buNone/>
            </a:pPr>
            <a:r>
              <a:rPr lang="zh-CN" altLang="en-US" dirty="0"/>
              <a:t>（</a:t>
            </a:r>
            <a:r>
              <a:rPr lang="en-US" altLang="zh-CN" dirty="0"/>
              <a:t>1</a:t>
            </a:r>
            <a:r>
              <a:rPr lang="zh-CN" altLang="en-US" dirty="0"/>
              <a:t>）解空间</a:t>
            </a:r>
          </a:p>
          <a:p>
            <a:pPr>
              <a:buFont typeface="Wingdings" panose="05000000000000000000" pitchFamily="2" charset="2"/>
              <a:buNone/>
            </a:pPr>
            <a:r>
              <a:rPr lang="en-US" altLang="zh-CN" dirty="0">
                <a:sym typeface="+mn-ea"/>
              </a:rPr>
              <a:t>     </a:t>
            </a:r>
            <a:r>
              <a:rPr lang="zh-CN" altLang="en-US" dirty="0">
                <a:sym typeface="+mn-ea"/>
              </a:rPr>
              <a:t>设问题的解向量为</a:t>
            </a:r>
            <a:r>
              <a:rPr lang="en-US" altLang="zh-CN" dirty="0">
                <a:sym typeface="+mn-ea"/>
              </a:rPr>
              <a:t>X=(x</a:t>
            </a:r>
            <a:r>
              <a:rPr lang="en-US" altLang="zh-CN" baseline="-25000" dirty="0">
                <a:sym typeface="+mn-ea"/>
              </a:rPr>
              <a:t>1</a:t>
            </a:r>
            <a:r>
              <a:rPr lang="en-US" altLang="zh-CN" dirty="0">
                <a:sym typeface="+mn-ea"/>
              </a:rPr>
              <a:t>,x</a:t>
            </a:r>
            <a:r>
              <a:rPr lang="en-US" altLang="zh-CN" baseline="-25000" dirty="0">
                <a:sym typeface="+mn-ea"/>
              </a:rPr>
              <a:t>2</a:t>
            </a:r>
            <a:r>
              <a:rPr lang="en-US" altLang="zh-CN" dirty="0">
                <a:sym typeface="+mn-ea"/>
              </a:rPr>
              <a:t>,…,x</a:t>
            </a:r>
            <a:r>
              <a:rPr lang="en-US" altLang="zh-CN" baseline="-25000" dirty="0">
                <a:sym typeface="+mn-ea"/>
              </a:rPr>
              <a:t>n</a:t>
            </a:r>
            <a:r>
              <a:rPr lang="en-US" altLang="zh-CN" dirty="0">
                <a:sym typeface="+mn-ea"/>
              </a:rPr>
              <a:t>) </a:t>
            </a:r>
            <a:r>
              <a:rPr lang="zh-CN" altLang="en-US" dirty="0">
                <a:sym typeface="+mn-ea"/>
              </a:rPr>
              <a:t>，</a:t>
            </a:r>
            <a:r>
              <a:rPr lang="en-US" altLang="zh-CN" dirty="0">
                <a:sym typeface="+mn-ea"/>
              </a:rPr>
              <a:t>x</a:t>
            </a:r>
            <a:r>
              <a:rPr lang="en-US" altLang="zh-CN" baseline="-25000" dirty="0">
                <a:sym typeface="+mn-ea"/>
              </a:rPr>
              <a:t>i</a:t>
            </a:r>
            <a:r>
              <a:rPr lang="zh-CN" altLang="en-US" dirty="0">
                <a:sym typeface="+mn-ea"/>
              </a:rPr>
              <a:t>的取值范围为有穷集</a:t>
            </a:r>
            <a:r>
              <a:rPr lang="en-US" altLang="zh-CN" dirty="0">
                <a:sym typeface="+mn-ea"/>
              </a:rPr>
              <a:t>S</a:t>
            </a:r>
            <a:r>
              <a:rPr lang="en-US" altLang="zh-CN" baseline="-25000" dirty="0">
                <a:sym typeface="+mn-ea"/>
              </a:rPr>
              <a:t>i</a:t>
            </a:r>
            <a:r>
              <a:rPr lang="en-US" altLang="zh-CN" dirty="0">
                <a:sym typeface="+mn-ea"/>
              </a:rPr>
              <a:t> </a:t>
            </a:r>
            <a:r>
              <a:rPr lang="zh-CN" altLang="en-US" dirty="0">
                <a:sym typeface="+mn-ea"/>
              </a:rPr>
              <a:t>。把</a:t>
            </a:r>
            <a:r>
              <a:rPr lang="en-US" altLang="zh-CN" dirty="0">
                <a:sym typeface="+mn-ea"/>
              </a:rPr>
              <a:t>x</a:t>
            </a:r>
            <a:r>
              <a:rPr lang="en-US" altLang="zh-CN" baseline="-25000" dirty="0">
                <a:sym typeface="+mn-ea"/>
              </a:rPr>
              <a:t>i</a:t>
            </a:r>
            <a:r>
              <a:rPr lang="zh-CN" altLang="en-US" dirty="0">
                <a:sym typeface="+mn-ea"/>
              </a:rPr>
              <a:t>的所有可能取值组合，称为问题的解空间。每一个组合是问题的一个可能解。</a:t>
            </a:r>
            <a:endParaRPr lang="zh-CN" altLang="en-US" dirty="0"/>
          </a:p>
          <a:p>
            <a:pPr>
              <a:buFont typeface="Wingdings" panose="05000000000000000000" pitchFamily="2" charset="2"/>
              <a:buNone/>
            </a:pPr>
            <a:r>
              <a:rPr lang="zh-CN" altLang="en-US" dirty="0"/>
              <a:t>	例：</a:t>
            </a:r>
            <a:r>
              <a:rPr lang="en-US" altLang="zh-CN" dirty="0"/>
              <a:t>0/1</a:t>
            </a:r>
            <a:r>
              <a:rPr lang="zh-CN" altLang="en-US" dirty="0"/>
              <a:t>背包问题，</a:t>
            </a:r>
            <a:r>
              <a:rPr lang="en-US" altLang="zh-CN" dirty="0"/>
              <a:t>S={0,1}</a:t>
            </a:r>
            <a:r>
              <a:rPr lang="zh-CN" altLang="en-US" dirty="0"/>
              <a:t>，当</a:t>
            </a:r>
            <a:r>
              <a:rPr lang="en-US" altLang="zh-CN" dirty="0"/>
              <a:t>n=3</a:t>
            </a:r>
            <a:r>
              <a:rPr lang="zh-CN" altLang="en-US" dirty="0"/>
              <a:t>时，</a:t>
            </a:r>
            <a:r>
              <a:rPr lang="en-US" altLang="zh-CN" dirty="0"/>
              <a:t>0/1</a:t>
            </a:r>
            <a:r>
              <a:rPr lang="zh-CN" altLang="en-US" dirty="0"/>
              <a:t>背包问题的解空间是：</a:t>
            </a:r>
          </a:p>
          <a:p>
            <a:pPr>
              <a:buFont typeface="Wingdings" panose="05000000000000000000" pitchFamily="2" charset="2"/>
              <a:buNone/>
            </a:pPr>
            <a:r>
              <a:rPr lang="zh-CN" altLang="en-US" sz="2000" dirty="0"/>
              <a:t>	</a:t>
            </a:r>
            <a:r>
              <a:rPr lang="en-US" altLang="zh-CN" sz="2000" dirty="0"/>
              <a:t>{(0,0,0),(0,0,1),(0,1,0),(0,1,1),(1,0,0),(1,0,1),(1,1,0),(1,1,1)}</a:t>
            </a:r>
          </a:p>
          <a:p>
            <a:pPr>
              <a:buFont typeface="Wingdings" panose="05000000000000000000" pitchFamily="2" charset="2"/>
              <a:buNone/>
            </a:pPr>
            <a:r>
              <a:rPr lang="en-US" altLang="zh-CN" dirty="0"/>
              <a:t>	</a:t>
            </a:r>
            <a:r>
              <a:rPr lang="zh-CN" altLang="en-US" dirty="0"/>
              <a:t>当输入规模为</a:t>
            </a:r>
            <a:r>
              <a:rPr lang="en-US" altLang="zh-CN" dirty="0"/>
              <a:t>n</a:t>
            </a:r>
            <a:r>
              <a:rPr lang="zh-CN" altLang="en-US" dirty="0"/>
              <a:t>时，有</a:t>
            </a:r>
            <a:r>
              <a:rPr lang="en-US" altLang="zh-CN" dirty="0"/>
              <a:t>2</a:t>
            </a:r>
            <a:r>
              <a:rPr lang="en-US" altLang="zh-CN" baseline="30000" dirty="0"/>
              <a:t>n</a:t>
            </a:r>
            <a:r>
              <a:rPr lang="zh-CN" altLang="en-US" dirty="0"/>
              <a:t>种可能的解。</a:t>
            </a:r>
          </a:p>
          <a:p>
            <a:pPr>
              <a:buFont typeface="Wingdings" panose="05000000000000000000" pitchFamily="2" charset="2"/>
              <a:buNone/>
            </a:pPr>
            <a:r>
              <a:rPr lang="zh-CN" altLang="en-US" dirty="0">
                <a:solidFill>
                  <a:srgbClr val="3333FF"/>
                </a:solidFill>
              </a:rPr>
              <a:t>组合问题——问题包含元素所有可能的非空子集，看哪一个非空子集满足要求</a:t>
            </a:r>
          </a:p>
        </p:txBody>
      </p:sp>
      <p:sp>
        <p:nvSpPr>
          <p:cNvPr id="51203" name="Rectangle 5"/>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90204" pitchFamily="34" charset="0"/>
              <a:ea typeface="宋体" pitchFamily="2" charset="-122"/>
            </a:endParaRPr>
          </a:p>
        </p:txBody>
      </p:sp>
      <p:sp>
        <p:nvSpPr>
          <p:cNvPr id="51204"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AutoShape 2"/>
          <p:cNvSpPr>
            <a:spLocks noGrp="1"/>
          </p:cNvSpPr>
          <p:nvPr>
            <p:ph type="title"/>
          </p:nvPr>
        </p:nvSpPr>
        <p:spPr/>
        <p:txBody>
          <a:bodyPr vert="horz" wrap="square" lIns="91440" tIns="45720" rIns="91440" bIns="45720" anchor="ctr" anchorCtr="0"/>
          <a:lstStyle/>
          <a:p>
            <a:r>
              <a:rPr lang="en-US" altLang="zh-CN" dirty="0">
                <a:sym typeface="+mn-ea"/>
              </a:rPr>
              <a:t>8.2</a:t>
            </a:r>
            <a:r>
              <a:rPr lang="zh-CN" altLang="en-US" dirty="0">
                <a:sym typeface="+mn-ea"/>
              </a:rPr>
              <a:t>.1</a:t>
            </a:r>
            <a:r>
              <a:rPr lang="en-US" altLang="zh-CN" dirty="0">
                <a:sym typeface="+mn-ea"/>
              </a:rPr>
              <a:t> </a:t>
            </a:r>
            <a:r>
              <a:rPr lang="zh-CN" altLang="en-US" dirty="0">
                <a:sym typeface="+mn-ea"/>
              </a:rPr>
              <a:t>回溯法的状态空间树</a:t>
            </a:r>
          </a:p>
        </p:txBody>
      </p:sp>
      <p:sp>
        <p:nvSpPr>
          <p:cNvPr id="52226" name="Rectangle 3"/>
          <p:cNvSpPr>
            <a:spLocks noGrp="1"/>
          </p:cNvSpPr>
          <p:nvPr>
            <p:ph idx="1"/>
          </p:nvPr>
        </p:nvSpPr>
        <p:spPr>
          <a:xfrm>
            <a:off x="900113" y="1397000"/>
            <a:ext cx="7993062" cy="1150938"/>
          </a:xfrm>
        </p:spPr>
        <p:txBody>
          <a:bodyPr vert="horz" wrap="square" lIns="91440" tIns="45720" rIns="91440" bIns="45720" anchor="t" anchorCtr="0"/>
          <a:lstStyle/>
          <a:p>
            <a:pPr>
              <a:buFont typeface="Wingdings" panose="05000000000000000000" pitchFamily="2" charset="2"/>
              <a:buNone/>
            </a:pPr>
            <a:r>
              <a:rPr lang="zh-CN" altLang="en-US" dirty="0"/>
              <a:t>（</a:t>
            </a:r>
            <a:r>
              <a:rPr lang="en-US" altLang="zh-CN" dirty="0"/>
              <a:t>2</a:t>
            </a:r>
            <a:r>
              <a:rPr lang="zh-CN" altLang="en-US" dirty="0"/>
              <a:t>）状态空间树：问题解空间的树形式表示 </a:t>
            </a:r>
          </a:p>
          <a:p>
            <a:pPr>
              <a:buFont typeface="Wingdings" panose="05000000000000000000" pitchFamily="2" charset="2"/>
              <a:buNone/>
            </a:pPr>
            <a:r>
              <a:rPr lang="zh-CN" altLang="en-US" dirty="0"/>
              <a:t>	例：</a:t>
            </a:r>
            <a:r>
              <a:rPr lang="en-US" altLang="zh-CN" dirty="0"/>
              <a:t>n=3,  0/1</a:t>
            </a:r>
            <a:r>
              <a:rPr lang="zh-CN" altLang="en-US" dirty="0"/>
              <a:t>背包问题的状态空间树。</a:t>
            </a:r>
          </a:p>
        </p:txBody>
      </p:sp>
      <p:sp>
        <p:nvSpPr>
          <p:cNvPr id="52227" name="Rectangle 4"/>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90204" pitchFamily="34" charset="0"/>
              <a:ea typeface="宋体" pitchFamily="2" charset="-122"/>
            </a:endParaRPr>
          </a:p>
        </p:txBody>
      </p:sp>
      <p:grpSp>
        <p:nvGrpSpPr>
          <p:cNvPr id="52228" name="Group 5"/>
          <p:cNvGrpSpPr/>
          <p:nvPr/>
        </p:nvGrpSpPr>
        <p:grpSpPr>
          <a:xfrm>
            <a:off x="611188" y="2763838"/>
            <a:ext cx="5254625" cy="2447925"/>
            <a:chOff x="1066" y="2160"/>
            <a:chExt cx="3673" cy="1724"/>
          </a:xfrm>
        </p:grpSpPr>
        <p:sp>
          <p:nvSpPr>
            <p:cNvPr id="52229" name="Oval 6"/>
            <p:cNvSpPr/>
            <p:nvPr/>
          </p:nvSpPr>
          <p:spPr>
            <a:xfrm>
              <a:off x="2653" y="2160"/>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A</a:t>
              </a:r>
            </a:p>
          </p:txBody>
        </p:sp>
        <p:sp>
          <p:nvSpPr>
            <p:cNvPr id="52230" name="Oval 7"/>
            <p:cNvSpPr/>
            <p:nvPr/>
          </p:nvSpPr>
          <p:spPr>
            <a:xfrm>
              <a:off x="1791" y="2568"/>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B</a:t>
              </a:r>
            </a:p>
          </p:txBody>
        </p:sp>
        <p:sp>
          <p:nvSpPr>
            <p:cNvPr id="52231" name="Oval 8"/>
            <p:cNvSpPr/>
            <p:nvPr/>
          </p:nvSpPr>
          <p:spPr>
            <a:xfrm>
              <a:off x="3560" y="2568"/>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C</a:t>
              </a:r>
            </a:p>
          </p:txBody>
        </p:sp>
        <p:sp>
          <p:nvSpPr>
            <p:cNvPr id="52232" name="Oval 9"/>
            <p:cNvSpPr/>
            <p:nvPr/>
          </p:nvSpPr>
          <p:spPr>
            <a:xfrm>
              <a:off x="1293" y="3113"/>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D</a:t>
              </a:r>
            </a:p>
          </p:txBody>
        </p:sp>
        <p:sp>
          <p:nvSpPr>
            <p:cNvPr id="52233" name="Oval 10"/>
            <p:cNvSpPr/>
            <p:nvPr/>
          </p:nvSpPr>
          <p:spPr>
            <a:xfrm>
              <a:off x="2290" y="3113"/>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E</a:t>
              </a:r>
            </a:p>
          </p:txBody>
        </p:sp>
        <p:sp>
          <p:nvSpPr>
            <p:cNvPr id="52234" name="Oval 11"/>
            <p:cNvSpPr/>
            <p:nvPr/>
          </p:nvSpPr>
          <p:spPr>
            <a:xfrm>
              <a:off x="3107" y="3113"/>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F</a:t>
              </a:r>
            </a:p>
          </p:txBody>
        </p:sp>
        <p:sp>
          <p:nvSpPr>
            <p:cNvPr id="52235" name="Oval 12"/>
            <p:cNvSpPr/>
            <p:nvPr/>
          </p:nvSpPr>
          <p:spPr>
            <a:xfrm>
              <a:off x="4060" y="3113"/>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G</a:t>
              </a:r>
            </a:p>
          </p:txBody>
        </p:sp>
        <p:sp>
          <p:nvSpPr>
            <p:cNvPr id="52236" name="Oval 13"/>
            <p:cNvSpPr/>
            <p:nvPr/>
          </p:nvSpPr>
          <p:spPr>
            <a:xfrm>
              <a:off x="3787" y="361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N</a:t>
              </a:r>
            </a:p>
          </p:txBody>
        </p:sp>
        <p:sp>
          <p:nvSpPr>
            <p:cNvPr id="52237" name="Oval 14"/>
            <p:cNvSpPr/>
            <p:nvPr/>
          </p:nvSpPr>
          <p:spPr>
            <a:xfrm>
              <a:off x="4422" y="361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O</a:t>
              </a:r>
            </a:p>
          </p:txBody>
        </p:sp>
        <p:sp>
          <p:nvSpPr>
            <p:cNvPr id="52238" name="Oval 15"/>
            <p:cNvSpPr/>
            <p:nvPr/>
          </p:nvSpPr>
          <p:spPr>
            <a:xfrm>
              <a:off x="2880" y="361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L</a:t>
              </a:r>
            </a:p>
          </p:txBody>
        </p:sp>
        <p:sp>
          <p:nvSpPr>
            <p:cNvPr id="52239" name="Oval 16"/>
            <p:cNvSpPr/>
            <p:nvPr/>
          </p:nvSpPr>
          <p:spPr>
            <a:xfrm>
              <a:off x="3334" y="361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M</a:t>
              </a:r>
            </a:p>
          </p:txBody>
        </p:sp>
        <p:sp>
          <p:nvSpPr>
            <p:cNvPr id="52240" name="Oval 17"/>
            <p:cNvSpPr/>
            <p:nvPr/>
          </p:nvSpPr>
          <p:spPr>
            <a:xfrm>
              <a:off x="2064" y="361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J</a:t>
              </a:r>
            </a:p>
          </p:txBody>
        </p:sp>
        <p:sp>
          <p:nvSpPr>
            <p:cNvPr id="52241" name="Oval 18"/>
            <p:cNvSpPr/>
            <p:nvPr/>
          </p:nvSpPr>
          <p:spPr>
            <a:xfrm>
              <a:off x="2517" y="361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K</a:t>
              </a:r>
            </a:p>
          </p:txBody>
        </p:sp>
        <p:sp>
          <p:nvSpPr>
            <p:cNvPr id="52242" name="Oval 19"/>
            <p:cNvSpPr/>
            <p:nvPr/>
          </p:nvSpPr>
          <p:spPr>
            <a:xfrm>
              <a:off x="1066" y="361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H</a:t>
              </a:r>
            </a:p>
          </p:txBody>
        </p:sp>
        <p:sp>
          <p:nvSpPr>
            <p:cNvPr id="52243" name="Oval 20"/>
            <p:cNvSpPr/>
            <p:nvPr/>
          </p:nvSpPr>
          <p:spPr>
            <a:xfrm>
              <a:off x="1610" y="361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I</a:t>
              </a:r>
            </a:p>
          </p:txBody>
        </p:sp>
        <p:sp>
          <p:nvSpPr>
            <p:cNvPr id="52244" name="Line 21"/>
            <p:cNvSpPr/>
            <p:nvPr/>
          </p:nvSpPr>
          <p:spPr>
            <a:xfrm flipV="1">
              <a:off x="2064" y="2341"/>
              <a:ext cx="589" cy="273"/>
            </a:xfrm>
            <a:prstGeom prst="line">
              <a:avLst/>
            </a:prstGeom>
            <a:ln w="9525" cap="flat" cmpd="sng">
              <a:solidFill>
                <a:schemeClr val="tx1"/>
              </a:solidFill>
              <a:prstDash val="solid"/>
              <a:round/>
              <a:headEnd type="none" w="med" len="med"/>
              <a:tailEnd type="none" w="med" len="med"/>
            </a:ln>
          </p:spPr>
        </p:sp>
        <p:sp>
          <p:nvSpPr>
            <p:cNvPr id="52245" name="Line 22"/>
            <p:cNvSpPr/>
            <p:nvPr/>
          </p:nvSpPr>
          <p:spPr>
            <a:xfrm>
              <a:off x="2971" y="2341"/>
              <a:ext cx="590" cy="318"/>
            </a:xfrm>
            <a:prstGeom prst="line">
              <a:avLst/>
            </a:prstGeom>
            <a:ln w="9525" cap="flat" cmpd="sng">
              <a:solidFill>
                <a:schemeClr val="tx1"/>
              </a:solidFill>
              <a:prstDash val="solid"/>
              <a:round/>
              <a:headEnd type="none" w="med" len="med"/>
              <a:tailEnd type="none" w="med" len="med"/>
            </a:ln>
          </p:spPr>
        </p:sp>
        <p:sp>
          <p:nvSpPr>
            <p:cNvPr id="52246" name="Line 23"/>
            <p:cNvSpPr/>
            <p:nvPr/>
          </p:nvSpPr>
          <p:spPr>
            <a:xfrm flipV="1">
              <a:off x="1429" y="2750"/>
              <a:ext cx="408" cy="363"/>
            </a:xfrm>
            <a:prstGeom prst="line">
              <a:avLst/>
            </a:prstGeom>
            <a:ln w="9525" cap="flat" cmpd="sng">
              <a:solidFill>
                <a:schemeClr val="tx1"/>
              </a:solidFill>
              <a:prstDash val="solid"/>
              <a:round/>
              <a:headEnd type="none" w="med" len="med"/>
              <a:tailEnd type="none" w="med" len="med"/>
            </a:ln>
          </p:spPr>
        </p:sp>
        <p:sp>
          <p:nvSpPr>
            <p:cNvPr id="52247" name="Line 24"/>
            <p:cNvSpPr/>
            <p:nvPr/>
          </p:nvSpPr>
          <p:spPr>
            <a:xfrm>
              <a:off x="2064" y="2750"/>
              <a:ext cx="317" cy="363"/>
            </a:xfrm>
            <a:prstGeom prst="line">
              <a:avLst/>
            </a:prstGeom>
            <a:ln w="9525" cap="flat" cmpd="sng">
              <a:solidFill>
                <a:schemeClr val="tx1"/>
              </a:solidFill>
              <a:prstDash val="solid"/>
              <a:round/>
              <a:headEnd type="none" w="med" len="med"/>
              <a:tailEnd type="none" w="med" len="med"/>
            </a:ln>
          </p:spPr>
        </p:sp>
        <p:sp>
          <p:nvSpPr>
            <p:cNvPr id="52248" name="Line 25"/>
            <p:cNvSpPr/>
            <p:nvPr/>
          </p:nvSpPr>
          <p:spPr>
            <a:xfrm flipH="1">
              <a:off x="1202" y="3339"/>
              <a:ext cx="181" cy="318"/>
            </a:xfrm>
            <a:prstGeom prst="line">
              <a:avLst/>
            </a:prstGeom>
            <a:ln w="9525" cap="flat" cmpd="sng">
              <a:solidFill>
                <a:schemeClr val="tx1"/>
              </a:solidFill>
              <a:prstDash val="solid"/>
              <a:round/>
              <a:headEnd type="none" w="med" len="med"/>
              <a:tailEnd type="none" w="med" len="med"/>
            </a:ln>
          </p:spPr>
        </p:sp>
        <p:sp>
          <p:nvSpPr>
            <p:cNvPr id="52249" name="Line 26"/>
            <p:cNvSpPr/>
            <p:nvPr/>
          </p:nvSpPr>
          <p:spPr>
            <a:xfrm>
              <a:off x="1565" y="3339"/>
              <a:ext cx="136" cy="273"/>
            </a:xfrm>
            <a:prstGeom prst="line">
              <a:avLst/>
            </a:prstGeom>
            <a:ln w="9525" cap="flat" cmpd="sng">
              <a:solidFill>
                <a:schemeClr val="tx1"/>
              </a:solidFill>
              <a:prstDash val="solid"/>
              <a:round/>
              <a:headEnd type="none" w="med" len="med"/>
              <a:tailEnd type="none" w="med" len="med"/>
            </a:ln>
          </p:spPr>
        </p:sp>
        <p:sp>
          <p:nvSpPr>
            <p:cNvPr id="52250" name="Line 27"/>
            <p:cNvSpPr/>
            <p:nvPr/>
          </p:nvSpPr>
          <p:spPr>
            <a:xfrm flipH="1">
              <a:off x="2245" y="3385"/>
              <a:ext cx="136" cy="227"/>
            </a:xfrm>
            <a:prstGeom prst="line">
              <a:avLst/>
            </a:prstGeom>
            <a:ln w="9525" cap="flat" cmpd="sng">
              <a:solidFill>
                <a:schemeClr val="tx1"/>
              </a:solidFill>
              <a:prstDash val="solid"/>
              <a:round/>
              <a:headEnd type="none" w="med" len="med"/>
              <a:tailEnd type="none" w="med" len="med"/>
            </a:ln>
          </p:spPr>
        </p:sp>
        <p:sp>
          <p:nvSpPr>
            <p:cNvPr id="52251" name="Line 28"/>
            <p:cNvSpPr/>
            <p:nvPr/>
          </p:nvSpPr>
          <p:spPr>
            <a:xfrm>
              <a:off x="2517" y="3385"/>
              <a:ext cx="136" cy="227"/>
            </a:xfrm>
            <a:prstGeom prst="line">
              <a:avLst/>
            </a:prstGeom>
            <a:ln w="9525" cap="flat" cmpd="sng">
              <a:solidFill>
                <a:schemeClr val="tx1"/>
              </a:solidFill>
              <a:prstDash val="solid"/>
              <a:round/>
              <a:headEnd type="none" w="med" len="med"/>
              <a:tailEnd type="none" w="med" len="med"/>
            </a:ln>
          </p:spPr>
        </p:sp>
        <p:sp>
          <p:nvSpPr>
            <p:cNvPr id="52252" name="Line 29"/>
            <p:cNvSpPr/>
            <p:nvPr/>
          </p:nvSpPr>
          <p:spPr>
            <a:xfrm flipH="1">
              <a:off x="3334" y="2795"/>
              <a:ext cx="272" cy="363"/>
            </a:xfrm>
            <a:prstGeom prst="line">
              <a:avLst/>
            </a:prstGeom>
            <a:ln w="9525" cap="flat" cmpd="sng">
              <a:solidFill>
                <a:schemeClr val="tx1"/>
              </a:solidFill>
              <a:prstDash val="solid"/>
              <a:round/>
              <a:headEnd type="none" w="med" len="med"/>
              <a:tailEnd type="none" w="med" len="med"/>
            </a:ln>
          </p:spPr>
        </p:sp>
        <p:sp>
          <p:nvSpPr>
            <p:cNvPr id="52253" name="Line 30"/>
            <p:cNvSpPr/>
            <p:nvPr/>
          </p:nvSpPr>
          <p:spPr>
            <a:xfrm>
              <a:off x="3833" y="2750"/>
              <a:ext cx="317" cy="363"/>
            </a:xfrm>
            <a:prstGeom prst="line">
              <a:avLst/>
            </a:prstGeom>
            <a:ln w="9525" cap="flat" cmpd="sng">
              <a:solidFill>
                <a:schemeClr val="tx1"/>
              </a:solidFill>
              <a:prstDash val="solid"/>
              <a:round/>
              <a:headEnd type="none" w="med" len="med"/>
              <a:tailEnd type="none" w="med" len="med"/>
            </a:ln>
          </p:spPr>
        </p:sp>
        <p:sp>
          <p:nvSpPr>
            <p:cNvPr id="52254" name="Line 31"/>
            <p:cNvSpPr/>
            <p:nvPr/>
          </p:nvSpPr>
          <p:spPr>
            <a:xfrm flipH="1">
              <a:off x="3061" y="3385"/>
              <a:ext cx="137" cy="227"/>
            </a:xfrm>
            <a:prstGeom prst="line">
              <a:avLst/>
            </a:prstGeom>
            <a:ln w="9525" cap="flat" cmpd="sng">
              <a:solidFill>
                <a:schemeClr val="tx1"/>
              </a:solidFill>
              <a:prstDash val="solid"/>
              <a:round/>
              <a:headEnd type="none" w="med" len="med"/>
              <a:tailEnd type="none" w="med" len="med"/>
            </a:ln>
          </p:spPr>
        </p:sp>
        <p:sp>
          <p:nvSpPr>
            <p:cNvPr id="52255" name="Line 32"/>
            <p:cNvSpPr/>
            <p:nvPr/>
          </p:nvSpPr>
          <p:spPr>
            <a:xfrm>
              <a:off x="3379" y="3339"/>
              <a:ext cx="136" cy="273"/>
            </a:xfrm>
            <a:prstGeom prst="line">
              <a:avLst/>
            </a:prstGeom>
            <a:ln w="9525" cap="flat" cmpd="sng">
              <a:solidFill>
                <a:schemeClr val="tx1"/>
              </a:solidFill>
              <a:prstDash val="solid"/>
              <a:round/>
              <a:headEnd type="none" w="med" len="med"/>
              <a:tailEnd type="none" w="med" len="med"/>
            </a:ln>
          </p:spPr>
        </p:sp>
        <p:sp>
          <p:nvSpPr>
            <p:cNvPr id="52256" name="Line 33"/>
            <p:cNvSpPr/>
            <p:nvPr/>
          </p:nvSpPr>
          <p:spPr>
            <a:xfrm flipH="1">
              <a:off x="4014" y="3339"/>
              <a:ext cx="181" cy="273"/>
            </a:xfrm>
            <a:prstGeom prst="line">
              <a:avLst/>
            </a:prstGeom>
            <a:ln w="9525" cap="flat" cmpd="sng">
              <a:solidFill>
                <a:schemeClr val="tx1"/>
              </a:solidFill>
              <a:prstDash val="solid"/>
              <a:round/>
              <a:headEnd type="none" w="med" len="med"/>
              <a:tailEnd type="none" w="med" len="med"/>
            </a:ln>
          </p:spPr>
        </p:sp>
        <p:sp>
          <p:nvSpPr>
            <p:cNvPr id="52257" name="Line 34"/>
            <p:cNvSpPr/>
            <p:nvPr/>
          </p:nvSpPr>
          <p:spPr>
            <a:xfrm>
              <a:off x="4332" y="3339"/>
              <a:ext cx="181" cy="273"/>
            </a:xfrm>
            <a:prstGeom prst="line">
              <a:avLst/>
            </a:prstGeom>
            <a:ln w="9525" cap="flat" cmpd="sng">
              <a:solidFill>
                <a:schemeClr val="tx1"/>
              </a:solidFill>
              <a:prstDash val="solid"/>
              <a:round/>
              <a:headEnd type="none" w="med" len="med"/>
              <a:tailEnd type="none" w="med" len="med"/>
            </a:ln>
          </p:spPr>
        </p:sp>
        <p:sp>
          <p:nvSpPr>
            <p:cNvPr id="52258" name="Text Box 35"/>
            <p:cNvSpPr txBox="1"/>
            <p:nvPr/>
          </p:nvSpPr>
          <p:spPr>
            <a:xfrm>
              <a:off x="2154" y="2251"/>
              <a:ext cx="318" cy="279"/>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1</a:t>
              </a:r>
            </a:p>
          </p:txBody>
        </p:sp>
        <p:sp>
          <p:nvSpPr>
            <p:cNvPr id="52259" name="Text Box 36"/>
            <p:cNvSpPr txBox="1"/>
            <p:nvPr/>
          </p:nvSpPr>
          <p:spPr>
            <a:xfrm>
              <a:off x="1429" y="2704"/>
              <a:ext cx="318" cy="280"/>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1</a:t>
              </a:r>
            </a:p>
          </p:txBody>
        </p:sp>
        <p:sp>
          <p:nvSpPr>
            <p:cNvPr id="52260" name="Text Box 37"/>
            <p:cNvSpPr txBox="1"/>
            <p:nvPr/>
          </p:nvSpPr>
          <p:spPr>
            <a:xfrm>
              <a:off x="1066" y="3340"/>
              <a:ext cx="318" cy="279"/>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1</a:t>
              </a:r>
            </a:p>
          </p:txBody>
        </p:sp>
        <p:sp>
          <p:nvSpPr>
            <p:cNvPr id="52261" name="Text Box 38"/>
            <p:cNvSpPr txBox="1"/>
            <p:nvPr/>
          </p:nvSpPr>
          <p:spPr>
            <a:xfrm>
              <a:off x="2064" y="3340"/>
              <a:ext cx="318" cy="279"/>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1</a:t>
              </a:r>
            </a:p>
          </p:txBody>
        </p:sp>
        <p:sp>
          <p:nvSpPr>
            <p:cNvPr id="52262" name="Text Box 39"/>
            <p:cNvSpPr txBox="1"/>
            <p:nvPr/>
          </p:nvSpPr>
          <p:spPr>
            <a:xfrm>
              <a:off x="2925" y="3340"/>
              <a:ext cx="318" cy="279"/>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1</a:t>
              </a:r>
            </a:p>
          </p:txBody>
        </p:sp>
        <p:sp>
          <p:nvSpPr>
            <p:cNvPr id="52263" name="Text Box 40"/>
            <p:cNvSpPr txBox="1"/>
            <p:nvPr/>
          </p:nvSpPr>
          <p:spPr>
            <a:xfrm>
              <a:off x="3198" y="2750"/>
              <a:ext cx="318" cy="280"/>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1</a:t>
              </a:r>
            </a:p>
          </p:txBody>
        </p:sp>
        <p:sp>
          <p:nvSpPr>
            <p:cNvPr id="52264" name="Text Box 41"/>
            <p:cNvSpPr txBox="1"/>
            <p:nvPr/>
          </p:nvSpPr>
          <p:spPr>
            <a:xfrm>
              <a:off x="3878" y="3340"/>
              <a:ext cx="318" cy="279"/>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1</a:t>
              </a:r>
            </a:p>
          </p:txBody>
        </p:sp>
        <p:sp>
          <p:nvSpPr>
            <p:cNvPr id="52265" name="Text Box 42"/>
            <p:cNvSpPr txBox="1"/>
            <p:nvPr/>
          </p:nvSpPr>
          <p:spPr>
            <a:xfrm>
              <a:off x="3243" y="2296"/>
              <a:ext cx="318" cy="280"/>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0</a:t>
              </a:r>
            </a:p>
          </p:txBody>
        </p:sp>
        <p:sp>
          <p:nvSpPr>
            <p:cNvPr id="52266" name="Text Box 43"/>
            <p:cNvSpPr txBox="1"/>
            <p:nvPr/>
          </p:nvSpPr>
          <p:spPr>
            <a:xfrm>
              <a:off x="3878" y="2750"/>
              <a:ext cx="318" cy="280"/>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0</a:t>
              </a:r>
            </a:p>
          </p:txBody>
        </p:sp>
        <p:sp>
          <p:nvSpPr>
            <p:cNvPr id="52267" name="Text Box 44"/>
            <p:cNvSpPr txBox="1"/>
            <p:nvPr/>
          </p:nvSpPr>
          <p:spPr>
            <a:xfrm>
              <a:off x="4332" y="3340"/>
              <a:ext cx="318" cy="279"/>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0</a:t>
              </a:r>
            </a:p>
          </p:txBody>
        </p:sp>
        <p:sp>
          <p:nvSpPr>
            <p:cNvPr id="52268" name="Text Box 45"/>
            <p:cNvSpPr txBox="1"/>
            <p:nvPr/>
          </p:nvSpPr>
          <p:spPr>
            <a:xfrm>
              <a:off x="2472" y="3340"/>
              <a:ext cx="318" cy="279"/>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0</a:t>
              </a:r>
            </a:p>
          </p:txBody>
        </p:sp>
        <p:sp>
          <p:nvSpPr>
            <p:cNvPr id="52269" name="Text Box 46"/>
            <p:cNvSpPr txBox="1"/>
            <p:nvPr/>
          </p:nvSpPr>
          <p:spPr>
            <a:xfrm>
              <a:off x="2154" y="2795"/>
              <a:ext cx="318" cy="280"/>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0</a:t>
              </a:r>
            </a:p>
          </p:txBody>
        </p:sp>
        <p:sp>
          <p:nvSpPr>
            <p:cNvPr id="52270" name="Text Box 47"/>
            <p:cNvSpPr txBox="1"/>
            <p:nvPr/>
          </p:nvSpPr>
          <p:spPr>
            <a:xfrm>
              <a:off x="1565" y="3340"/>
              <a:ext cx="318" cy="279"/>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0</a:t>
              </a:r>
            </a:p>
          </p:txBody>
        </p:sp>
      </p:grpSp>
      <p:sp>
        <p:nvSpPr>
          <p:cNvPr id="52271" name="Rectangle 48"/>
          <p:cNvSpPr/>
          <p:nvPr/>
        </p:nvSpPr>
        <p:spPr>
          <a:xfrm>
            <a:off x="5651500" y="3340100"/>
            <a:ext cx="3241675" cy="2089150"/>
          </a:xfrm>
          <a:prstGeom prst="rect">
            <a:avLst/>
          </a:prstGeom>
          <a:noFill/>
          <a:ln w="9525">
            <a:noFill/>
          </a:ln>
        </p:spPr>
        <p:txBody>
          <a:bodyPr anchor="t" anchorCtr="0"/>
          <a:lstStyle/>
          <a:p>
            <a:pPr marL="342900" indent="-342900">
              <a:spcBef>
                <a:spcPct val="20000"/>
              </a:spcBef>
              <a:buClr>
                <a:schemeClr val="tx1"/>
              </a:buClr>
              <a:buSzPct val="75000"/>
              <a:buFont typeface="Wingdings" panose="05000000000000000000" pitchFamily="2" charset="2"/>
            </a:pPr>
            <a:r>
              <a:rPr lang="en-US" altLang="zh-CN" sz="2800" dirty="0">
                <a:latin typeface="Arial" panose="020B0604020202090204" pitchFamily="34" charset="0"/>
                <a:ea typeface="宋体" pitchFamily="2" charset="-122"/>
              </a:rPr>
              <a:t>----</a:t>
            </a:r>
            <a:r>
              <a:rPr lang="zh-CN" altLang="en-US" sz="2800" dirty="0">
                <a:latin typeface="Arial" panose="020B0604020202090204" pitchFamily="34" charset="0"/>
                <a:ea typeface="宋体" pitchFamily="2" charset="-122"/>
              </a:rPr>
              <a:t>子集树</a:t>
            </a:r>
          </a:p>
          <a:p>
            <a:pPr marL="342900" indent="-342900">
              <a:spcBef>
                <a:spcPct val="20000"/>
              </a:spcBef>
              <a:buClr>
                <a:schemeClr val="tx1"/>
              </a:buClr>
              <a:buSzPct val="75000"/>
              <a:buFont typeface="Wingdings" panose="05000000000000000000" pitchFamily="2" charset="2"/>
            </a:pPr>
            <a:r>
              <a:rPr lang="zh-CN" altLang="en-US" sz="2800" dirty="0">
                <a:latin typeface="Arial" panose="020B0604020202090204" pitchFamily="34" charset="0"/>
                <a:ea typeface="宋体" pitchFamily="2" charset="-122"/>
              </a:rPr>
              <a:t>	解空间大小</a:t>
            </a:r>
            <a:r>
              <a:rPr lang="en-US" altLang="zh-CN" sz="2800" dirty="0">
                <a:latin typeface="Arial" panose="020B0604020202090204" pitchFamily="34" charset="0"/>
                <a:ea typeface="宋体" pitchFamily="2" charset="-122"/>
              </a:rPr>
              <a:t>: 2</a:t>
            </a:r>
            <a:r>
              <a:rPr lang="en-US" altLang="zh-CN" sz="2800" baseline="30000" dirty="0">
                <a:latin typeface="Arial" panose="020B0604020202090204" pitchFamily="34" charset="0"/>
                <a:ea typeface="宋体" pitchFamily="2" charset="-122"/>
              </a:rPr>
              <a:t>n</a:t>
            </a:r>
            <a:r>
              <a:rPr lang="en-US" altLang="zh-CN" sz="2800" dirty="0">
                <a:latin typeface="Arial" panose="020B0604020202090204" pitchFamily="34" charset="0"/>
                <a:ea typeface="宋体" pitchFamily="2" charset="-122"/>
              </a:rPr>
              <a:t> </a:t>
            </a:r>
          </a:p>
        </p:txBody>
      </p:sp>
      <p:sp>
        <p:nvSpPr>
          <p:cNvPr id="52272"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AutoShape 2"/>
          <p:cNvSpPr>
            <a:spLocks noGrp="1"/>
          </p:cNvSpPr>
          <p:nvPr>
            <p:ph type="title"/>
          </p:nvPr>
        </p:nvSpPr>
        <p:spPr/>
        <p:txBody>
          <a:bodyPr vert="horz" wrap="square" lIns="91440" tIns="45720" rIns="91440" bIns="45720" anchor="ctr" anchorCtr="0"/>
          <a:lstStyle/>
          <a:p>
            <a:r>
              <a:rPr lang="en-US" altLang="zh-CN" dirty="0">
                <a:sym typeface="+mn-ea"/>
              </a:rPr>
              <a:t>8.2</a:t>
            </a:r>
            <a:r>
              <a:rPr lang="zh-CN" altLang="en-US" dirty="0">
                <a:sym typeface="+mn-ea"/>
              </a:rPr>
              <a:t>.1</a:t>
            </a:r>
            <a:r>
              <a:rPr lang="en-US" altLang="zh-CN" dirty="0">
                <a:sym typeface="+mn-ea"/>
              </a:rPr>
              <a:t> </a:t>
            </a:r>
            <a:r>
              <a:rPr lang="zh-CN" altLang="en-US" dirty="0">
                <a:sym typeface="+mn-ea"/>
              </a:rPr>
              <a:t>回溯法的问题解表示</a:t>
            </a:r>
            <a:endParaRPr lang="zh-CN" altLang="en-US" dirty="0"/>
          </a:p>
        </p:txBody>
      </p:sp>
      <p:sp>
        <p:nvSpPr>
          <p:cNvPr id="54274" name="Rectangle 3"/>
          <p:cNvSpPr>
            <a:spLocks noGrp="1"/>
          </p:cNvSpPr>
          <p:nvPr>
            <p:ph idx="1"/>
          </p:nvPr>
        </p:nvSpPr>
        <p:spPr>
          <a:xfrm>
            <a:off x="900113" y="1357313"/>
            <a:ext cx="7848600" cy="4508500"/>
          </a:xfrm>
        </p:spPr>
        <p:txBody>
          <a:bodyPr vert="horz" wrap="square" lIns="91440" tIns="45720" rIns="91440" bIns="45720" anchor="t" anchorCtr="0"/>
          <a:lstStyle/>
          <a:p>
            <a:pPr>
              <a:lnSpc>
                <a:spcPct val="90000"/>
              </a:lnSpc>
              <a:buFont typeface="Wingdings" panose="05000000000000000000" pitchFamily="2" charset="2"/>
              <a:buNone/>
            </a:pPr>
            <a:r>
              <a:rPr lang="zh-CN" altLang="en-US" dirty="0"/>
              <a:t>（</a:t>
            </a:r>
            <a:r>
              <a:rPr lang="en-US" altLang="zh-CN" dirty="0"/>
              <a:t>1</a:t>
            </a:r>
            <a:r>
              <a:rPr lang="zh-CN" altLang="en-US" dirty="0"/>
              <a:t>）解空间</a:t>
            </a:r>
          </a:p>
          <a:p>
            <a:pPr>
              <a:lnSpc>
                <a:spcPct val="90000"/>
              </a:lnSpc>
              <a:buFont typeface="Wingdings" panose="05000000000000000000" pitchFamily="2" charset="2"/>
              <a:buNone/>
            </a:pPr>
            <a:r>
              <a:rPr lang="zh-CN" altLang="en-US" dirty="0"/>
              <a:t>	例：货郎担</a:t>
            </a:r>
            <a:r>
              <a:rPr lang="en-US" altLang="zh-CN" dirty="0"/>
              <a:t>(</a:t>
            </a:r>
            <a:r>
              <a:rPr lang="zh-CN" altLang="en-US" dirty="0"/>
              <a:t>旅行商</a:t>
            </a:r>
            <a:r>
              <a:rPr lang="en-US" altLang="zh-CN" dirty="0"/>
              <a:t>)</a:t>
            </a:r>
            <a:r>
              <a:rPr lang="zh-CN" altLang="en-US" dirty="0"/>
              <a:t>问题， </a:t>
            </a:r>
            <a:r>
              <a:rPr lang="en-US" altLang="zh-CN" dirty="0"/>
              <a:t>S={1,2,…,n}</a:t>
            </a:r>
            <a:r>
              <a:rPr lang="zh-CN" altLang="en-US" dirty="0"/>
              <a:t>，当</a:t>
            </a:r>
            <a:r>
              <a:rPr lang="en-US" altLang="zh-CN" dirty="0"/>
              <a:t>n=3</a:t>
            </a:r>
            <a:r>
              <a:rPr lang="zh-CN" altLang="en-US" dirty="0"/>
              <a:t>时， </a:t>
            </a:r>
            <a:r>
              <a:rPr lang="en-US" altLang="zh-CN" dirty="0"/>
              <a:t>S={1,2,3} </a:t>
            </a:r>
            <a:r>
              <a:rPr lang="zh-CN" altLang="en-US" dirty="0"/>
              <a:t>，货郎担问题的解空间是：</a:t>
            </a:r>
          </a:p>
          <a:p>
            <a:pPr>
              <a:lnSpc>
                <a:spcPct val="90000"/>
              </a:lnSpc>
              <a:buFont typeface="Wingdings" panose="05000000000000000000" pitchFamily="2" charset="2"/>
              <a:buNone/>
            </a:pPr>
            <a:r>
              <a:rPr lang="zh-CN" altLang="en-US" dirty="0"/>
              <a:t>	</a:t>
            </a:r>
            <a:r>
              <a:rPr lang="en-US" altLang="zh-CN" dirty="0"/>
              <a:t>{(1,1,1),(1,1,2),(1,1,3),(1,2,1),(1,2,2),(1,2,3),┅,(3,3,1),(3,3,2),(3,3,3)}</a:t>
            </a:r>
          </a:p>
          <a:p>
            <a:pPr>
              <a:lnSpc>
                <a:spcPct val="90000"/>
              </a:lnSpc>
              <a:buFont typeface="Wingdings" panose="05000000000000000000" pitchFamily="2" charset="2"/>
              <a:buNone/>
            </a:pPr>
            <a:r>
              <a:rPr lang="en-US" altLang="zh-CN" dirty="0"/>
              <a:t>	</a:t>
            </a:r>
            <a:r>
              <a:rPr lang="zh-CN" altLang="en-US" dirty="0"/>
              <a:t>当输入规模为</a:t>
            </a:r>
            <a:r>
              <a:rPr lang="en-US" altLang="zh-CN" dirty="0"/>
              <a:t>n</a:t>
            </a:r>
            <a:r>
              <a:rPr lang="zh-CN" altLang="en-US" dirty="0"/>
              <a:t>时，它有</a:t>
            </a:r>
            <a:r>
              <a:rPr lang="en-US" altLang="zh-CN" dirty="0"/>
              <a:t>n</a:t>
            </a:r>
            <a:r>
              <a:rPr lang="en-US" altLang="zh-CN" baseline="30000" dirty="0"/>
              <a:t>n</a:t>
            </a:r>
            <a:r>
              <a:rPr lang="zh-CN" altLang="en-US" dirty="0"/>
              <a:t>种可能的解。</a:t>
            </a:r>
          </a:p>
          <a:p>
            <a:pPr>
              <a:lnSpc>
                <a:spcPct val="90000"/>
              </a:lnSpc>
              <a:buFont typeface="Wingdings" panose="05000000000000000000" pitchFamily="2" charset="2"/>
              <a:buNone/>
            </a:pPr>
            <a:r>
              <a:rPr lang="zh-CN" altLang="en-US" dirty="0"/>
              <a:t>	考虑到约束方程</a:t>
            </a:r>
            <a:r>
              <a:rPr lang="en-US" altLang="zh-CN" dirty="0"/>
              <a:t>x</a:t>
            </a:r>
            <a:r>
              <a:rPr lang="en-US" altLang="zh-CN" baseline="-25000" dirty="0"/>
              <a:t>i</a:t>
            </a:r>
            <a:r>
              <a:rPr lang="en-US" altLang="zh-CN" dirty="0"/>
              <a:t>≠x</a:t>
            </a:r>
            <a:r>
              <a:rPr lang="en-US" altLang="zh-CN" baseline="-25000" dirty="0"/>
              <a:t>j</a:t>
            </a:r>
            <a:r>
              <a:rPr lang="zh-CN" altLang="en-US" dirty="0"/>
              <a:t>。因此，货郎担问题的解空间压缩为：</a:t>
            </a:r>
            <a:r>
              <a:rPr lang="en-US" altLang="zh-CN" dirty="0"/>
              <a:t>{(1,2,3),(1,3,2),(2,1,3),(2,3,1),(3,1,2),(3,2,1)}</a:t>
            </a:r>
          </a:p>
          <a:p>
            <a:pPr>
              <a:lnSpc>
                <a:spcPct val="90000"/>
              </a:lnSpc>
              <a:buFont typeface="Wingdings" panose="05000000000000000000" pitchFamily="2" charset="2"/>
              <a:buNone/>
            </a:pPr>
            <a:r>
              <a:rPr lang="en-US" altLang="zh-CN" dirty="0"/>
              <a:t>	</a:t>
            </a:r>
            <a:r>
              <a:rPr lang="zh-CN" altLang="en-US" dirty="0"/>
              <a:t>当输入规模为</a:t>
            </a:r>
            <a:r>
              <a:rPr lang="en-US" altLang="zh-CN" dirty="0"/>
              <a:t>n</a:t>
            </a:r>
            <a:r>
              <a:rPr lang="zh-CN" altLang="en-US" dirty="0"/>
              <a:t>时，它有</a:t>
            </a:r>
            <a:r>
              <a:rPr lang="en-US" altLang="zh-CN" dirty="0"/>
              <a:t>n!</a:t>
            </a:r>
            <a:r>
              <a:rPr lang="zh-CN" altLang="en-US" dirty="0"/>
              <a:t>种可能的解。</a:t>
            </a:r>
          </a:p>
          <a:p>
            <a:pPr>
              <a:lnSpc>
                <a:spcPct val="90000"/>
              </a:lnSpc>
              <a:buFont typeface="Wingdings" panose="05000000000000000000" pitchFamily="2" charset="2"/>
              <a:buNone/>
            </a:pPr>
            <a:r>
              <a:rPr lang="zh-CN" altLang="en-US" dirty="0">
                <a:solidFill>
                  <a:srgbClr val="3333FF"/>
                </a:solidFill>
                <a:sym typeface="+mn-ea"/>
              </a:rPr>
              <a:t>排列问题——问题包含元素必须出现，看哪一个排列满足要求</a:t>
            </a:r>
            <a:endParaRPr lang="zh-CN" altLang="en-US" dirty="0">
              <a:solidFill>
                <a:srgbClr val="3333FF"/>
              </a:solidFill>
            </a:endParaRPr>
          </a:p>
          <a:p>
            <a:pPr>
              <a:lnSpc>
                <a:spcPct val="90000"/>
              </a:lnSpc>
              <a:buFont typeface="Wingdings" panose="05000000000000000000" pitchFamily="2" charset="2"/>
              <a:buNone/>
            </a:pPr>
            <a:endParaRPr lang="zh-CN" altLang="en-US" dirty="0"/>
          </a:p>
          <a:p>
            <a:pPr>
              <a:lnSpc>
                <a:spcPct val="90000"/>
              </a:lnSpc>
              <a:buFont typeface="Wingdings" panose="05000000000000000000" pitchFamily="2" charset="2"/>
              <a:buNone/>
            </a:pPr>
            <a:endParaRPr lang="zh-CN" altLang="en-US" dirty="0"/>
          </a:p>
        </p:txBody>
      </p:sp>
      <p:sp>
        <p:nvSpPr>
          <p:cNvPr id="54275" name="Rectangle 4"/>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90204" pitchFamily="34" charset="0"/>
              <a:ea typeface="宋体" pitchFamily="2" charset="-122"/>
            </a:endParaRPr>
          </a:p>
        </p:txBody>
      </p:sp>
      <p:sp>
        <p:nvSpPr>
          <p:cNvPr id="54276"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AutoShape 2"/>
          <p:cNvSpPr>
            <a:spLocks noGrp="1"/>
          </p:cNvSpPr>
          <p:nvPr>
            <p:ph type="title"/>
          </p:nvPr>
        </p:nvSpPr>
        <p:spPr/>
        <p:txBody>
          <a:bodyPr vert="horz" wrap="square" lIns="91440" tIns="45720" rIns="91440" bIns="45720" anchor="ctr" anchorCtr="0"/>
          <a:lstStyle/>
          <a:p>
            <a:r>
              <a:rPr lang="en-US" altLang="zh-CN" dirty="0">
                <a:sym typeface="+mn-ea"/>
              </a:rPr>
              <a:t>8.2</a:t>
            </a:r>
            <a:r>
              <a:rPr lang="zh-CN" altLang="en-US" dirty="0">
                <a:sym typeface="+mn-ea"/>
              </a:rPr>
              <a:t>.1</a:t>
            </a:r>
            <a:r>
              <a:rPr lang="en-US" altLang="zh-CN" dirty="0">
                <a:sym typeface="+mn-ea"/>
              </a:rPr>
              <a:t> </a:t>
            </a:r>
            <a:r>
              <a:rPr lang="zh-CN" altLang="en-US" dirty="0">
                <a:sym typeface="+mn-ea"/>
              </a:rPr>
              <a:t>回溯法的状态空间树</a:t>
            </a:r>
            <a:endParaRPr lang="zh-CN" altLang="en-US" dirty="0"/>
          </a:p>
        </p:txBody>
      </p:sp>
      <p:sp>
        <p:nvSpPr>
          <p:cNvPr id="56322" name="Rectangle 3"/>
          <p:cNvSpPr>
            <a:spLocks noGrp="1"/>
          </p:cNvSpPr>
          <p:nvPr>
            <p:ph idx="1"/>
          </p:nvPr>
        </p:nvSpPr>
        <p:spPr>
          <a:xfrm>
            <a:off x="900113" y="1643063"/>
            <a:ext cx="7993062" cy="1150937"/>
          </a:xfrm>
        </p:spPr>
        <p:txBody>
          <a:bodyPr vert="horz" wrap="square" lIns="91440" tIns="45720" rIns="91440" bIns="45720" anchor="t" anchorCtr="0"/>
          <a:lstStyle/>
          <a:p>
            <a:pPr>
              <a:buFont typeface="Wingdings" panose="05000000000000000000" pitchFamily="2" charset="2"/>
              <a:buNone/>
            </a:pPr>
            <a:r>
              <a:rPr lang="zh-CN" altLang="en-US" dirty="0"/>
              <a:t>（</a:t>
            </a:r>
            <a:r>
              <a:rPr lang="en-US" altLang="zh-CN" dirty="0"/>
              <a:t>2</a:t>
            </a:r>
            <a:r>
              <a:rPr lang="zh-CN" altLang="en-US" dirty="0"/>
              <a:t>）状态空间树：问题解空间的树形式表示 </a:t>
            </a:r>
          </a:p>
          <a:p>
            <a:pPr>
              <a:buFont typeface="Wingdings" panose="05000000000000000000" pitchFamily="2" charset="2"/>
              <a:buNone/>
            </a:pPr>
            <a:r>
              <a:rPr lang="zh-CN" altLang="en-US" dirty="0"/>
              <a:t>	例：</a:t>
            </a:r>
            <a:r>
              <a:rPr lang="en-US" altLang="zh-CN" dirty="0"/>
              <a:t>n=4,  </a:t>
            </a:r>
            <a:r>
              <a:rPr lang="zh-CN" altLang="en-US" dirty="0"/>
              <a:t>旅行商问题的状态空间树。</a:t>
            </a:r>
          </a:p>
        </p:txBody>
      </p:sp>
      <p:sp>
        <p:nvSpPr>
          <p:cNvPr id="56323" name="Rectangle 4"/>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90204" pitchFamily="34" charset="0"/>
              <a:ea typeface="宋体" pitchFamily="2" charset="-122"/>
            </a:endParaRPr>
          </a:p>
        </p:txBody>
      </p:sp>
      <p:grpSp>
        <p:nvGrpSpPr>
          <p:cNvPr id="56324" name="Group 80"/>
          <p:cNvGrpSpPr/>
          <p:nvPr/>
        </p:nvGrpSpPr>
        <p:grpSpPr>
          <a:xfrm>
            <a:off x="971550" y="2651125"/>
            <a:ext cx="4176713" cy="2951163"/>
            <a:chOff x="612" y="1979"/>
            <a:chExt cx="2722" cy="1995"/>
          </a:xfrm>
        </p:grpSpPr>
        <p:sp>
          <p:nvSpPr>
            <p:cNvPr id="56325" name="Oval 5"/>
            <p:cNvSpPr/>
            <p:nvPr/>
          </p:nvSpPr>
          <p:spPr>
            <a:xfrm>
              <a:off x="1837" y="1979"/>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A</a:t>
              </a:r>
            </a:p>
          </p:txBody>
        </p:sp>
        <p:sp>
          <p:nvSpPr>
            <p:cNvPr id="56326" name="Oval 6"/>
            <p:cNvSpPr/>
            <p:nvPr/>
          </p:nvSpPr>
          <p:spPr>
            <a:xfrm>
              <a:off x="1791" y="243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B</a:t>
              </a:r>
            </a:p>
          </p:txBody>
        </p:sp>
        <p:sp>
          <p:nvSpPr>
            <p:cNvPr id="56327" name="Oval 7"/>
            <p:cNvSpPr/>
            <p:nvPr/>
          </p:nvSpPr>
          <p:spPr>
            <a:xfrm>
              <a:off x="1020" y="2886"/>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C</a:t>
              </a:r>
            </a:p>
          </p:txBody>
        </p:sp>
        <p:sp>
          <p:nvSpPr>
            <p:cNvPr id="56328" name="Oval 8"/>
            <p:cNvSpPr/>
            <p:nvPr/>
          </p:nvSpPr>
          <p:spPr>
            <a:xfrm>
              <a:off x="1747" y="2886"/>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D</a:t>
              </a:r>
            </a:p>
          </p:txBody>
        </p:sp>
        <p:sp>
          <p:nvSpPr>
            <p:cNvPr id="56329" name="Oval 9"/>
            <p:cNvSpPr/>
            <p:nvPr/>
          </p:nvSpPr>
          <p:spPr>
            <a:xfrm>
              <a:off x="2608" y="2886"/>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E</a:t>
              </a:r>
            </a:p>
          </p:txBody>
        </p:sp>
        <p:sp>
          <p:nvSpPr>
            <p:cNvPr id="56330" name="Oval 10"/>
            <p:cNvSpPr/>
            <p:nvPr/>
          </p:nvSpPr>
          <p:spPr>
            <a:xfrm>
              <a:off x="703" y="3249"/>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F</a:t>
              </a:r>
            </a:p>
          </p:txBody>
        </p:sp>
        <p:sp>
          <p:nvSpPr>
            <p:cNvPr id="56331" name="Oval 11"/>
            <p:cNvSpPr/>
            <p:nvPr/>
          </p:nvSpPr>
          <p:spPr>
            <a:xfrm>
              <a:off x="1157" y="3249"/>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G</a:t>
              </a:r>
            </a:p>
          </p:txBody>
        </p:sp>
        <p:sp>
          <p:nvSpPr>
            <p:cNvPr id="56332" name="Oval 12"/>
            <p:cNvSpPr/>
            <p:nvPr/>
          </p:nvSpPr>
          <p:spPr>
            <a:xfrm>
              <a:off x="1565" y="370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N</a:t>
              </a:r>
            </a:p>
          </p:txBody>
        </p:sp>
        <p:sp>
          <p:nvSpPr>
            <p:cNvPr id="56333" name="Oval 13"/>
            <p:cNvSpPr/>
            <p:nvPr/>
          </p:nvSpPr>
          <p:spPr>
            <a:xfrm>
              <a:off x="1973" y="370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O</a:t>
              </a:r>
            </a:p>
          </p:txBody>
        </p:sp>
        <p:sp>
          <p:nvSpPr>
            <p:cNvPr id="56334" name="Oval 14"/>
            <p:cNvSpPr/>
            <p:nvPr/>
          </p:nvSpPr>
          <p:spPr>
            <a:xfrm>
              <a:off x="657" y="370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L</a:t>
              </a:r>
            </a:p>
          </p:txBody>
        </p:sp>
        <p:sp>
          <p:nvSpPr>
            <p:cNvPr id="56335" name="Oval 15"/>
            <p:cNvSpPr/>
            <p:nvPr/>
          </p:nvSpPr>
          <p:spPr>
            <a:xfrm>
              <a:off x="1156" y="370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M</a:t>
              </a:r>
            </a:p>
          </p:txBody>
        </p:sp>
        <p:sp>
          <p:nvSpPr>
            <p:cNvPr id="56336" name="Oval 16"/>
            <p:cNvSpPr/>
            <p:nvPr/>
          </p:nvSpPr>
          <p:spPr>
            <a:xfrm>
              <a:off x="2426" y="3249"/>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J</a:t>
              </a:r>
            </a:p>
          </p:txBody>
        </p:sp>
        <p:sp>
          <p:nvSpPr>
            <p:cNvPr id="56337" name="Oval 17"/>
            <p:cNvSpPr/>
            <p:nvPr/>
          </p:nvSpPr>
          <p:spPr>
            <a:xfrm>
              <a:off x="2880" y="3249"/>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K</a:t>
              </a:r>
            </a:p>
          </p:txBody>
        </p:sp>
        <p:sp>
          <p:nvSpPr>
            <p:cNvPr id="56338" name="Oval 18"/>
            <p:cNvSpPr/>
            <p:nvPr/>
          </p:nvSpPr>
          <p:spPr>
            <a:xfrm>
              <a:off x="1565" y="3249"/>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H</a:t>
              </a:r>
            </a:p>
          </p:txBody>
        </p:sp>
        <p:sp>
          <p:nvSpPr>
            <p:cNvPr id="56339" name="Oval 19"/>
            <p:cNvSpPr/>
            <p:nvPr/>
          </p:nvSpPr>
          <p:spPr>
            <a:xfrm>
              <a:off x="1973" y="3249"/>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I</a:t>
              </a:r>
            </a:p>
          </p:txBody>
        </p:sp>
        <p:sp>
          <p:nvSpPr>
            <p:cNvPr id="56340" name="Text Box 34"/>
            <p:cNvSpPr txBox="1"/>
            <p:nvPr/>
          </p:nvSpPr>
          <p:spPr>
            <a:xfrm>
              <a:off x="1746" y="2251"/>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1</a:t>
              </a:r>
            </a:p>
          </p:txBody>
        </p:sp>
        <p:sp>
          <p:nvSpPr>
            <p:cNvPr id="56341" name="Text Box 35"/>
            <p:cNvSpPr txBox="1"/>
            <p:nvPr/>
          </p:nvSpPr>
          <p:spPr>
            <a:xfrm>
              <a:off x="1383" y="2568"/>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2</a:t>
              </a:r>
            </a:p>
          </p:txBody>
        </p:sp>
        <p:sp>
          <p:nvSpPr>
            <p:cNvPr id="56342" name="Line 48"/>
            <p:cNvSpPr/>
            <p:nvPr/>
          </p:nvSpPr>
          <p:spPr>
            <a:xfrm>
              <a:off x="1973" y="2251"/>
              <a:ext cx="0" cy="182"/>
            </a:xfrm>
            <a:prstGeom prst="line">
              <a:avLst/>
            </a:prstGeom>
            <a:ln w="9525" cap="flat" cmpd="sng">
              <a:solidFill>
                <a:schemeClr val="tx1"/>
              </a:solidFill>
              <a:prstDash val="solid"/>
              <a:round/>
              <a:headEnd type="none" w="med" len="med"/>
              <a:tailEnd type="none" w="med" len="med"/>
            </a:ln>
          </p:spPr>
        </p:sp>
        <p:sp>
          <p:nvSpPr>
            <p:cNvPr id="56343" name="Oval 49"/>
            <p:cNvSpPr/>
            <p:nvPr/>
          </p:nvSpPr>
          <p:spPr>
            <a:xfrm>
              <a:off x="2381" y="370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P</a:t>
              </a:r>
            </a:p>
          </p:txBody>
        </p:sp>
        <p:sp>
          <p:nvSpPr>
            <p:cNvPr id="56344" name="Oval 50"/>
            <p:cNvSpPr/>
            <p:nvPr/>
          </p:nvSpPr>
          <p:spPr>
            <a:xfrm>
              <a:off x="2880" y="3702"/>
              <a:ext cx="317" cy="2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dirty="0">
                  <a:latin typeface="Arial" panose="020B0604020202090204" pitchFamily="34" charset="0"/>
                  <a:ea typeface="宋体" pitchFamily="2" charset="-122"/>
                </a:rPr>
                <a:t>Q</a:t>
              </a:r>
            </a:p>
          </p:txBody>
        </p:sp>
        <p:sp>
          <p:nvSpPr>
            <p:cNvPr id="56345" name="Line 51"/>
            <p:cNvSpPr/>
            <p:nvPr/>
          </p:nvSpPr>
          <p:spPr>
            <a:xfrm flipH="1">
              <a:off x="1247" y="2659"/>
              <a:ext cx="590" cy="272"/>
            </a:xfrm>
            <a:prstGeom prst="line">
              <a:avLst/>
            </a:prstGeom>
            <a:ln w="9525" cap="flat" cmpd="sng">
              <a:solidFill>
                <a:schemeClr val="tx1"/>
              </a:solidFill>
              <a:prstDash val="solid"/>
              <a:round/>
              <a:headEnd type="none" w="med" len="med"/>
              <a:tailEnd type="none" w="med" len="med"/>
            </a:ln>
          </p:spPr>
        </p:sp>
        <p:sp>
          <p:nvSpPr>
            <p:cNvPr id="56346" name="Line 52"/>
            <p:cNvSpPr/>
            <p:nvPr/>
          </p:nvSpPr>
          <p:spPr>
            <a:xfrm>
              <a:off x="1927" y="2704"/>
              <a:ext cx="0" cy="182"/>
            </a:xfrm>
            <a:prstGeom prst="line">
              <a:avLst/>
            </a:prstGeom>
            <a:ln w="9525" cap="flat" cmpd="sng">
              <a:solidFill>
                <a:schemeClr val="tx1"/>
              </a:solidFill>
              <a:prstDash val="solid"/>
              <a:round/>
              <a:headEnd type="none" w="med" len="med"/>
              <a:tailEnd type="none" w="med" len="med"/>
            </a:ln>
          </p:spPr>
        </p:sp>
        <p:sp>
          <p:nvSpPr>
            <p:cNvPr id="56347" name="Line 53"/>
            <p:cNvSpPr/>
            <p:nvPr/>
          </p:nvSpPr>
          <p:spPr>
            <a:xfrm>
              <a:off x="2109" y="2614"/>
              <a:ext cx="544" cy="272"/>
            </a:xfrm>
            <a:prstGeom prst="line">
              <a:avLst/>
            </a:prstGeom>
            <a:ln w="9525" cap="flat" cmpd="sng">
              <a:solidFill>
                <a:schemeClr val="tx1"/>
              </a:solidFill>
              <a:prstDash val="solid"/>
              <a:round/>
              <a:headEnd type="none" w="med" len="med"/>
              <a:tailEnd type="none" w="med" len="med"/>
            </a:ln>
          </p:spPr>
        </p:sp>
        <p:sp>
          <p:nvSpPr>
            <p:cNvPr id="56348" name="Line 54"/>
            <p:cNvSpPr/>
            <p:nvPr/>
          </p:nvSpPr>
          <p:spPr>
            <a:xfrm flipH="1">
              <a:off x="884" y="3113"/>
              <a:ext cx="136" cy="136"/>
            </a:xfrm>
            <a:prstGeom prst="line">
              <a:avLst/>
            </a:prstGeom>
            <a:ln w="9525" cap="flat" cmpd="sng">
              <a:solidFill>
                <a:schemeClr val="tx1"/>
              </a:solidFill>
              <a:prstDash val="solid"/>
              <a:round/>
              <a:headEnd type="none" w="med" len="med"/>
              <a:tailEnd type="none" w="med" len="med"/>
            </a:ln>
          </p:spPr>
        </p:sp>
        <p:sp>
          <p:nvSpPr>
            <p:cNvPr id="56349" name="Line 55"/>
            <p:cNvSpPr/>
            <p:nvPr/>
          </p:nvSpPr>
          <p:spPr>
            <a:xfrm>
              <a:off x="1292" y="3113"/>
              <a:ext cx="91" cy="181"/>
            </a:xfrm>
            <a:prstGeom prst="line">
              <a:avLst/>
            </a:prstGeom>
            <a:ln w="9525" cap="flat" cmpd="sng">
              <a:solidFill>
                <a:schemeClr val="tx1"/>
              </a:solidFill>
              <a:prstDash val="solid"/>
              <a:round/>
              <a:headEnd type="none" w="med" len="med"/>
              <a:tailEnd type="none" w="med" len="med"/>
            </a:ln>
          </p:spPr>
        </p:sp>
        <p:sp>
          <p:nvSpPr>
            <p:cNvPr id="56350" name="Line 56"/>
            <p:cNvSpPr/>
            <p:nvPr/>
          </p:nvSpPr>
          <p:spPr>
            <a:xfrm flipH="1">
              <a:off x="1746" y="3158"/>
              <a:ext cx="91" cy="91"/>
            </a:xfrm>
            <a:prstGeom prst="line">
              <a:avLst/>
            </a:prstGeom>
            <a:ln w="9525" cap="flat" cmpd="sng">
              <a:solidFill>
                <a:schemeClr val="tx1"/>
              </a:solidFill>
              <a:prstDash val="solid"/>
              <a:round/>
              <a:headEnd type="none" w="med" len="med"/>
              <a:tailEnd type="none" w="med" len="med"/>
            </a:ln>
          </p:spPr>
        </p:sp>
        <p:sp>
          <p:nvSpPr>
            <p:cNvPr id="56351" name="Line 57"/>
            <p:cNvSpPr/>
            <p:nvPr/>
          </p:nvSpPr>
          <p:spPr>
            <a:xfrm>
              <a:off x="1973" y="3158"/>
              <a:ext cx="136" cy="136"/>
            </a:xfrm>
            <a:prstGeom prst="line">
              <a:avLst/>
            </a:prstGeom>
            <a:ln w="9525" cap="flat" cmpd="sng">
              <a:solidFill>
                <a:schemeClr val="tx1"/>
              </a:solidFill>
              <a:prstDash val="solid"/>
              <a:round/>
              <a:headEnd type="none" w="med" len="med"/>
              <a:tailEnd type="none" w="med" len="med"/>
            </a:ln>
          </p:spPr>
        </p:sp>
        <p:sp>
          <p:nvSpPr>
            <p:cNvPr id="56352" name="Line 58"/>
            <p:cNvSpPr/>
            <p:nvPr/>
          </p:nvSpPr>
          <p:spPr>
            <a:xfrm flipH="1">
              <a:off x="2653" y="3158"/>
              <a:ext cx="91" cy="91"/>
            </a:xfrm>
            <a:prstGeom prst="line">
              <a:avLst/>
            </a:prstGeom>
            <a:ln w="9525" cap="flat" cmpd="sng">
              <a:solidFill>
                <a:schemeClr val="tx1"/>
              </a:solidFill>
              <a:prstDash val="solid"/>
              <a:round/>
              <a:headEnd type="none" w="med" len="med"/>
              <a:tailEnd type="none" w="med" len="med"/>
            </a:ln>
          </p:spPr>
        </p:sp>
        <p:sp>
          <p:nvSpPr>
            <p:cNvPr id="56353" name="Line 59"/>
            <p:cNvSpPr/>
            <p:nvPr/>
          </p:nvSpPr>
          <p:spPr>
            <a:xfrm>
              <a:off x="2880" y="3113"/>
              <a:ext cx="91" cy="136"/>
            </a:xfrm>
            <a:prstGeom prst="line">
              <a:avLst/>
            </a:prstGeom>
            <a:ln w="9525" cap="flat" cmpd="sng">
              <a:solidFill>
                <a:schemeClr val="tx1"/>
              </a:solidFill>
              <a:prstDash val="solid"/>
              <a:round/>
              <a:headEnd type="none" w="med" len="med"/>
              <a:tailEnd type="none" w="med" len="med"/>
            </a:ln>
          </p:spPr>
        </p:sp>
        <p:sp>
          <p:nvSpPr>
            <p:cNvPr id="56354" name="Line 60"/>
            <p:cNvSpPr/>
            <p:nvPr/>
          </p:nvSpPr>
          <p:spPr>
            <a:xfrm>
              <a:off x="793" y="3521"/>
              <a:ext cx="0" cy="181"/>
            </a:xfrm>
            <a:prstGeom prst="line">
              <a:avLst/>
            </a:prstGeom>
            <a:ln w="9525" cap="flat" cmpd="sng">
              <a:solidFill>
                <a:schemeClr val="tx1"/>
              </a:solidFill>
              <a:prstDash val="solid"/>
              <a:round/>
              <a:headEnd type="none" w="med" len="med"/>
              <a:tailEnd type="none" w="med" len="med"/>
            </a:ln>
          </p:spPr>
        </p:sp>
        <p:sp>
          <p:nvSpPr>
            <p:cNvPr id="56355" name="Line 61"/>
            <p:cNvSpPr/>
            <p:nvPr/>
          </p:nvSpPr>
          <p:spPr>
            <a:xfrm>
              <a:off x="1338" y="3521"/>
              <a:ext cx="0" cy="181"/>
            </a:xfrm>
            <a:prstGeom prst="line">
              <a:avLst/>
            </a:prstGeom>
            <a:ln w="9525" cap="flat" cmpd="sng">
              <a:solidFill>
                <a:schemeClr val="tx1"/>
              </a:solidFill>
              <a:prstDash val="solid"/>
              <a:round/>
              <a:headEnd type="none" w="med" len="med"/>
              <a:tailEnd type="none" w="med" len="med"/>
            </a:ln>
          </p:spPr>
        </p:sp>
        <p:sp>
          <p:nvSpPr>
            <p:cNvPr id="56356" name="Line 62"/>
            <p:cNvSpPr/>
            <p:nvPr/>
          </p:nvSpPr>
          <p:spPr>
            <a:xfrm>
              <a:off x="1701" y="3521"/>
              <a:ext cx="0" cy="227"/>
            </a:xfrm>
            <a:prstGeom prst="line">
              <a:avLst/>
            </a:prstGeom>
            <a:ln w="9525" cap="flat" cmpd="sng">
              <a:solidFill>
                <a:schemeClr val="tx1"/>
              </a:solidFill>
              <a:prstDash val="solid"/>
              <a:round/>
              <a:headEnd type="none" w="med" len="med"/>
              <a:tailEnd type="none" w="med" len="med"/>
            </a:ln>
          </p:spPr>
        </p:sp>
        <p:sp>
          <p:nvSpPr>
            <p:cNvPr id="56357" name="Line 63"/>
            <p:cNvSpPr/>
            <p:nvPr/>
          </p:nvSpPr>
          <p:spPr>
            <a:xfrm>
              <a:off x="2109" y="3521"/>
              <a:ext cx="0" cy="227"/>
            </a:xfrm>
            <a:prstGeom prst="line">
              <a:avLst/>
            </a:prstGeom>
            <a:ln w="9525" cap="flat" cmpd="sng">
              <a:solidFill>
                <a:schemeClr val="tx1"/>
              </a:solidFill>
              <a:prstDash val="solid"/>
              <a:round/>
              <a:headEnd type="none" w="med" len="med"/>
              <a:tailEnd type="none" w="med" len="med"/>
            </a:ln>
          </p:spPr>
        </p:sp>
        <p:sp>
          <p:nvSpPr>
            <p:cNvPr id="56358" name="Line 64"/>
            <p:cNvSpPr/>
            <p:nvPr/>
          </p:nvSpPr>
          <p:spPr>
            <a:xfrm>
              <a:off x="2562" y="3521"/>
              <a:ext cx="0" cy="181"/>
            </a:xfrm>
            <a:prstGeom prst="line">
              <a:avLst/>
            </a:prstGeom>
            <a:ln w="9525" cap="flat" cmpd="sng">
              <a:solidFill>
                <a:schemeClr val="tx1"/>
              </a:solidFill>
              <a:prstDash val="solid"/>
              <a:round/>
              <a:headEnd type="none" w="med" len="med"/>
              <a:tailEnd type="none" w="med" len="med"/>
            </a:ln>
          </p:spPr>
        </p:sp>
        <p:sp>
          <p:nvSpPr>
            <p:cNvPr id="56359" name="Line 65"/>
            <p:cNvSpPr/>
            <p:nvPr/>
          </p:nvSpPr>
          <p:spPr>
            <a:xfrm>
              <a:off x="3061" y="3521"/>
              <a:ext cx="0" cy="181"/>
            </a:xfrm>
            <a:prstGeom prst="line">
              <a:avLst/>
            </a:prstGeom>
            <a:ln w="9525" cap="flat" cmpd="sng">
              <a:solidFill>
                <a:schemeClr val="tx1"/>
              </a:solidFill>
              <a:prstDash val="solid"/>
              <a:round/>
              <a:headEnd type="none" w="med" len="med"/>
              <a:tailEnd type="none" w="med" len="med"/>
            </a:ln>
          </p:spPr>
        </p:sp>
        <p:sp>
          <p:nvSpPr>
            <p:cNvPr id="56360" name="Text Box 66"/>
            <p:cNvSpPr txBox="1"/>
            <p:nvPr/>
          </p:nvSpPr>
          <p:spPr>
            <a:xfrm>
              <a:off x="2426" y="2614"/>
              <a:ext cx="318" cy="269"/>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4</a:t>
              </a:r>
            </a:p>
          </p:txBody>
        </p:sp>
        <p:sp>
          <p:nvSpPr>
            <p:cNvPr id="56361" name="Text Box 67"/>
            <p:cNvSpPr txBox="1"/>
            <p:nvPr/>
          </p:nvSpPr>
          <p:spPr>
            <a:xfrm>
              <a:off x="1791" y="2681"/>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3</a:t>
              </a:r>
            </a:p>
          </p:txBody>
        </p:sp>
        <p:sp>
          <p:nvSpPr>
            <p:cNvPr id="56362" name="Text Box 68"/>
            <p:cNvSpPr txBox="1"/>
            <p:nvPr/>
          </p:nvSpPr>
          <p:spPr>
            <a:xfrm>
              <a:off x="748" y="3067"/>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3</a:t>
              </a:r>
            </a:p>
          </p:txBody>
        </p:sp>
        <p:sp>
          <p:nvSpPr>
            <p:cNvPr id="56363" name="Text Box 69"/>
            <p:cNvSpPr txBox="1"/>
            <p:nvPr/>
          </p:nvSpPr>
          <p:spPr>
            <a:xfrm>
              <a:off x="2880" y="3022"/>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3</a:t>
              </a:r>
            </a:p>
          </p:txBody>
        </p:sp>
        <p:sp>
          <p:nvSpPr>
            <p:cNvPr id="56364" name="Text Box 70"/>
            <p:cNvSpPr txBox="1"/>
            <p:nvPr/>
          </p:nvSpPr>
          <p:spPr>
            <a:xfrm>
              <a:off x="612" y="3521"/>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4</a:t>
              </a:r>
            </a:p>
          </p:txBody>
        </p:sp>
        <p:sp>
          <p:nvSpPr>
            <p:cNvPr id="56365" name="Text Box 71"/>
            <p:cNvSpPr txBox="1"/>
            <p:nvPr/>
          </p:nvSpPr>
          <p:spPr>
            <a:xfrm>
              <a:off x="1292" y="3044"/>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4</a:t>
              </a:r>
            </a:p>
          </p:txBody>
        </p:sp>
        <p:sp>
          <p:nvSpPr>
            <p:cNvPr id="56366" name="Text Box 72"/>
            <p:cNvSpPr txBox="1"/>
            <p:nvPr/>
          </p:nvSpPr>
          <p:spPr>
            <a:xfrm>
              <a:off x="1973" y="3022"/>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4</a:t>
              </a:r>
            </a:p>
          </p:txBody>
        </p:sp>
        <p:sp>
          <p:nvSpPr>
            <p:cNvPr id="56367" name="Text Box 73"/>
            <p:cNvSpPr txBox="1"/>
            <p:nvPr/>
          </p:nvSpPr>
          <p:spPr>
            <a:xfrm>
              <a:off x="1292" y="3475"/>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3</a:t>
              </a:r>
            </a:p>
          </p:txBody>
        </p:sp>
        <p:sp>
          <p:nvSpPr>
            <p:cNvPr id="56368" name="Text Box 74"/>
            <p:cNvSpPr txBox="1"/>
            <p:nvPr/>
          </p:nvSpPr>
          <p:spPr>
            <a:xfrm>
              <a:off x="1565" y="3022"/>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2</a:t>
              </a:r>
            </a:p>
          </p:txBody>
        </p:sp>
        <p:sp>
          <p:nvSpPr>
            <p:cNvPr id="56369" name="Text Box 75"/>
            <p:cNvSpPr txBox="1"/>
            <p:nvPr/>
          </p:nvSpPr>
          <p:spPr>
            <a:xfrm>
              <a:off x="2109" y="3521"/>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2</a:t>
              </a:r>
            </a:p>
          </p:txBody>
        </p:sp>
        <p:sp>
          <p:nvSpPr>
            <p:cNvPr id="56370" name="Text Box 76"/>
            <p:cNvSpPr txBox="1"/>
            <p:nvPr/>
          </p:nvSpPr>
          <p:spPr>
            <a:xfrm>
              <a:off x="1519" y="3475"/>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4</a:t>
              </a:r>
            </a:p>
          </p:txBody>
        </p:sp>
        <p:sp>
          <p:nvSpPr>
            <p:cNvPr id="56371" name="Text Box 77"/>
            <p:cNvSpPr txBox="1"/>
            <p:nvPr/>
          </p:nvSpPr>
          <p:spPr>
            <a:xfrm>
              <a:off x="2472" y="3067"/>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2</a:t>
              </a:r>
            </a:p>
          </p:txBody>
        </p:sp>
        <p:sp>
          <p:nvSpPr>
            <p:cNvPr id="56372" name="Text Box 78"/>
            <p:cNvSpPr txBox="1"/>
            <p:nvPr/>
          </p:nvSpPr>
          <p:spPr>
            <a:xfrm>
              <a:off x="3016" y="3475"/>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2</a:t>
              </a:r>
            </a:p>
          </p:txBody>
        </p:sp>
        <p:sp>
          <p:nvSpPr>
            <p:cNvPr id="56373" name="Text Box 79"/>
            <p:cNvSpPr txBox="1"/>
            <p:nvPr/>
          </p:nvSpPr>
          <p:spPr>
            <a:xfrm>
              <a:off x="2381" y="3475"/>
              <a:ext cx="318" cy="268"/>
            </a:xfrm>
            <a:prstGeom prst="rect">
              <a:avLst/>
            </a:prstGeom>
            <a:noFill/>
            <a:ln w="9525">
              <a:noFill/>
            </a:ln>
          </p:spPr>
          <p:txBody>
            <a:bodyPr anchor="t" anchorCtr="0">
              <a:spAutoFit/>
            </a:bodyPr>
            <a:lstStyle/>
            <a:p>
              <a:pPr>
                <a:spcBef>
                  <a:spcPct val="50000"/>
                </a:spcBef>
              </a:pPr>
              <a:r>
                <a:rPr lang="en-US" altLang="zh-CN" dirty="0">
                  <a:latin typeface="Arial" panose="020B0604020202090204" pitchFamily="34" charset="0"/>
                  <a:ea typeface="宋体" pitchFamily="2" charset="-122"/>
                </a:rPr>
                <a:t>3</a:t>
              </a:r>
            </a:p>
          </p:txBody>
        </p:sp>
      </p:grpSp>
      <p:sp>
        <p:nvSpPr>
          <p:cNvPr id="56374" name="Rectangle 81"/>
          <p:cNvSpPr/>
          <p:nvPr/>
        </p:nvSpPr>
        <p:spPr>
          <a:xfrm>
            <a:off x="5435600" y="3370263"/>
            <a:ext cx="3241675" cy="2089150"/>
          </a:xfrm>
          <a:prstGeom prst="rect">
            <a:avLst/>
          </a:prstGeom>
          <a:noFill/>
          <a:ln w="9525">
            <a:noFill/>
          </a:ln>
        </p:spPr>
        <p:txBody>
          <a:bodyPr anchor="t" anchorCtr="0"/>
          <a:lstStyle/>
          <a:p>
            <a:pPr marL="342900" indent="-342900">
              <a:spcBef>
                <a:spcPct val="20000"/>
              </a:spcBef>
              <a:buClr>
                <a:schemeClr val="tx1"/>
              </a:buClr>
              <a:buSzPct val="75000"/>
              <a:buFont typeface="Wingdings" panose="05000000000000000000" pitchFamily="2" charset="2"/>
            </a:pPr>
            <a:r>
              <a:rPr lang="en-US" altLang="zh-CN" sz="2800" dirty="0">
                <a:latin typeface="Arial" panose="020B0604020202090204" pitchFamily="34" charset="0"/>
                <a:ea typeface="宋体" pitchFamily="2" charset="-122"/>
              </a:rPr>
              <a:t>----</a:t>
            </a:r>
            <a:r>
              <a:rPr lang="zh-CN" altLang="en-US" sz="2800" dirty="0">
                <a:latin typeface="Arial" panose="020B0604020202090204" pitchFamily="34" charset="0"/>
                <a:ea typeface="宋体" pitchFamily="2" charset="-122"/>
              </a:rPr>
              <a:t>排列树</a:t>
            </a:r>
          </a:p>
          <a:p>
            <a:pPr marL="342900" indent="-342900">
              <a:spcBef>
                <a:spcPct val="20000"/>
              </a:spcBef>
              <a:buClr>
                <a:schemeClr val="tx1"/>
              </a:buClr>
              <a:buSzPct val="75000"/>
              <a:buFont typeface="Wingdings" panose="05000000000000000000" pitchFamily="2" charset="2"/>
            </a:pPr>
            <a:r>
              <a:rPr lang="zh-CN" altLang="en-US" sz="2800" dirty="0">
                <a:latin typeface="Arial" panose="020B0604020202090204" pitchFamily="34" charset="0"/>
                <a:ea typeface="宋体" pitchFamily="2" charset="-122"/>
              </a:rPr>
              <a:t>	解空间大小</a:t>
            </a:r>
            <a:r>
              <a:rPr lang="en-US" altLang="zh-CN" sz="2800" dirty="0">
                <a:latin typeface="Arial" panose="020B0604020202090204" pitchFamily="34" charset="0"/>
                <a:ea typeface="宋体" pitchFamily="2" charset="-122"/>
              </a:rPr>
              <a:t>: n!</a:t>
            </a:r>
            <a:endParaRPr lang="en-US" altLang="zh-CN" sz="2800" baseline="30000" dirty="0">
              <a:latin typeface="Arial" panose="020B0604020202090204" pitchFamily="34" charset="0"/>
              <a:ea typeface="宋体" pitchFamily="2" charset="-122"/>
            </a:endParaRPr>
          </a:p>
        </p:txBody>
      </p:sp>
      <p:sp>
        <p:nvSpPr>
          <p:cNvPr id="56375"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72706" name="Rectangle 2"/>
          <p:cNvSpPr>
            <a:spLocks noGrp="1"/>
          </p:cNvSpPr>
          <p:nvPr>
            <p:ph type="title"/>
          </p:nvPr>
        </p:nvSpPr>
        <p:spPr>
          <a:xfrm>
            <a:off x="468313" y="260350"/>
            <a:ext cx="8229600" cy="1139825"/>
          </a:xfrm>
        </p:spPr>
        <p:txBody>
          <a:bodyPr vert="horz" wrap="square" lIns="91440" tIns="45720" rIns="91440" bIns="45720" anchor="ctr" anchorCtr="0"/>
          <a:lstStyle/>
          <a:p>
            <a:pPr eaLnBrk="1" hangingPunct="1"/>
            <a:r>
              <a:rPr lang="en-US" altLang="zh-CN" dirty="0"/>
              <a:t>    8.2.2 </a:t>
            </a:r>
            <a:r>
              <a:rPr lang="zh-CN" altLang="en-US" dirty="0"/>
              <a:t>回溯基本思想</a:t>
            </a:r>
            <a:endParaRPr lang="en-US" altLang="zh-CN" dirty="0"/>
          </a:p>
        </p:txBody>
      </p:sp>
      <p:sp>
        <p:nvSpPr>
          <p:cNvPr id="23555" name="Rectangle 3"/>
          <p:cNvSpPr>
            <a:spLocks noGrp="1"/>
          </p:cNvSpPr>
          <p:nvPr>
            <p:ph idx="1"/>
          </p:nvPr>
        </p:nvSpPr>
        <p:spPr>
          <a:xfrm>
            <a:off x="879475" y="1196975"/>
            <a:ext cx="8229600" cy="4895850"/>
          </a:xfrm>
        </p:spPr>
        <p:txBody>
          <a:bodyPr vert="horz" wrap="square" lIns="91440" tIns="45720" rIns="91440" bIns="45720" anchor="t" anchorCtr="0"/>
          <a:lstStyle/>
          <a:p>
            <a:pPr eaLnBrk="1" hangingPunct="1">
              <a:lnSpc>
                <a:spcPct val="90000"/>
              </a:lnSpc>
            </a:pPr>
            <a:r>
              <a:rPr lang="zh-CN" altLang="en-US" sz="2400" dirty="0"/>
              <a:t>在回溯法中，</a:t>
            </a:r>
            <a:r>
              <a:rPr lang="zh-CN" altLang="en-US" sz="2400" dirty="0">
                <a:solidFill>
                  <a:srgbClr val="FF0000"/>
                </a:solidFill>
              </a:rPr>
              <a:t>解向量</a:t>
            </a:r>
            <a:r>
              <a:rPr lang="zh-CN" altLang="en-US" sz="2400" dirty="0"/>
              <a:t>中每个</a:t>
            </a:r>
            <a:r>
              <a:rPr lang="en-US" altLang="zh-CN" sz="2400" dirty="0"/>
              <a:t>x</a:t>
            </a:r>
            <a:r>
              <a:rPr lang="en-US" altLang="zh-CN" sz="2400" baseline="-25000" dirty="0"/>
              <a:t>i</a:t>
            </a:r>
            <a:r>
              <a:rPr lang="zh-CN" altLang="en-US" sz="2400" dirty="0"/>
              <a:t>都属于一个有限的线序集</a:t>
            </a:r>
            <a:r>
              <a:rPr lang="en-US" altLang="zh-CN" sz="2400" dirty="0"/>
              <a:t>X</a:t>
            </a:r>
            <a:r>
              <a:rPr lang="en-US" altLang="zh-CN" sz="2400" baseline="-25000" dirty="0"/>
              <a:t>i</a:t>
            </a:r>
            <a:r>
              <a:rPr lang="en-US" altLang="zh-CN" sz="2400" dirty="0"/>
              <a:t>; </a:t>
            </a:r>
            <a:r>
              <a:rPr lang="zh-CN" altLang="en-US" sz="2400" dirty="0"/>
              <a:t>因此，回溯算法按词典序考虑笛卡儿积</a:t>
            </a:r>
            <a:r>
              <a:rPr lang="en-US" altLang="zh-CN" sz="2400" dirty="0"/>
              <a:t>X</a:t>
            </a:r>
            <a:r>
              <a:rPr lang="en-US" altLang="zh-CN" sz="2400" baseline="-25000" dirty="0"/>
              <a:t>1</a:t>
            </a:r>
            <a:r>
              <a:rPr lang="en-US" altLang="zh-CN" sz="2400" dirty="0">
                <a:sym typeface="Symbol" pitchFamily="18" charset="2"/>
              </a:rPr>
              <a:t></a:t>
            </a:r>
            <a:r>
              <a:rPr lang="en-US" altLang="zh-CN" sz="2400" dirty="0"/>
              <a:t>X</a:t>
            </a:r>
            <a:r>
              <a:rPr lang="en-US" altLang="zh-CN" sz="2400" baseline="-25000" dirty="0"/>
              <a:t>2 </a:t>
            </a:r>
            <a:r>
              <a:rPr lang="en-US" altLang="zh-CN" sz="2400" dirty="0">
                <a:sym typeface="Symbol" pitchFamily="18" charset="2"/>
              </a:rPr>
              <a:t></a:t>
            </a:r>
            <a:r>
              <a:rPr lang="en-US" altLang="zh-CN" sz="2400" dirty="0"/>
              <a:t> … </a:t>
            </a:r>
            <a:r>
              <a:rPr lang="en-US" altLang="zh-CN" sz="2400" dirty="0">
                <a:sym typeface="Symbol" pitchFamily="18" charset="2"/>
              </a:rPr>
              <a:t></a:t>
            </a:r>
            <a:r>
              <a:rPr lang="en-US" altLang="zh-CN" sz="2400" dirty="0"/>
              <a:t> X</a:t>
            </a:r>
            <a:r>
              <a:rPr lang="en-US" altLang="zh-CN" sz="2400" baseline="-25000" dirty="0"/>
              <a:t>n</a:t>
            </a:r>
            <a:r>
              <a:rPr lang="zh-CN" altLang="en-US" sz="2400" dirty="0"/>
              <a:t>的元素</a:t>
            </a:r>
            <a:endParaRPr lang="en-US" altLang="zh-CN" sz="2400" dirty="0"/>
          </a:p>
          <a:p>
            <a:pPr eaLnBrk="1" hangingPunct="1">
              <a:lnSpc>
                <a:spcPct val="90000"/>
              </a:lnSpc>
            </a:pPr>
            <a:endParaRPr lang="zh-CN" altLang="en-US" sz="2400" dirty="0"/>
          </a:p>
          <a:p>
            <a:pPr eaLnBrk="1" hangingPunct="1">
              <a:lnSpc>
                <a:spcPct val="90000"/>
              </a:lnSpc>
            </a:pPr>
            <a:r>
              <a:rPr lang="zh-CN" altLang="en-US" sz="2400" dirty="0"/>
              <a:t>算法最初</a:t>
            </a:r>
            <a:r>
              <a:rPr lang="zh-CN" altLang="en-US" sz="2400" dirty="0">
                <a:solidFill>
                  <a:srgbClr val="FF0000"/>
                </a:solidFill>
              </a:rPr>
              <a:t>从空向量开始</a:t>
            </a:r>
            <a:r>
              <a:rPr lang="zh-CN" altLang="en-US" sz="2400" dirty="0"/>
              <a:t>，然后选择</a:t>
            </a:r>
            <a:r>
              <a:rPr lang="en-US" altLang="zh-CN" sz="2400" dirty="0"/>
              <a:t>X</a:t>
            </a:r>
            <a:r>
              <a:rPr lang="en-US" altLang="zh-CN" sz="2400" baseline="-25000" dirty="0"/>
              <a:t>1</a:t>
            </a:r>
            <a:r>
              <a:rPr lang="zh-CN" altLang="en-US" sz="2400" dirty="0"/>
              <a:t>中最小元素作为</a:t>
            </a:r>
            <a:r>
              <a:rPr lang="en-US" altLang="zh-CN" sz="2400" dirty="0"/>
              <a:t>x</a:t>
            </a:r>
            <a:r>
              <a:rPr lang="en-US" altLang="zh-CN" sz="2400" baseline="-25000" dirty="0"/>
              <a:t>1 </a:t>
            </a:r>
            <a:r>
              <a:rPr lang="zh-CN" altLang="en-US" sz="2400" dirty="0"/>
              <a:t>，如果</a:t>
            </a:r>
            <a:r>
              <a:rPr lang="en-US" altLang="zh-CN" sz="2400" dirty="0"/>
              <a:t>(x</a:t>
            </a:r>
            <a:r>
              <a:rPr lang="en-US" altLang="zh-CN" sz="2400" baseline="-25000" dirty="0"/>
              <a:t>1</a:t>
            </a:r>
            <a:r>
              <a:rPr lang="en-US" altLang="zh-CN" sz="2400" dirty="0"/>
              <a:t>)</a:t>
            </a:r>
            <a:r>
              <a:rPr lang="zh-CN" altLang="en-US" sz="2400" dirty="0"/>
              <a:t>是一个部分解，算法通过从</a:t>
            </a:r>
            <a:r>
              <a:rPr lang="en-US" altLang="zh-CN" sz="2400" dirty="0"/>
              <a:t>X</a:t>
            </a:r>
            <a:r>
              <a:rPr lang="en-US" altLang="zh-CN" sz="2400" baseline="-25000" dirty="0"/>
              <a:t>2</a:t>
            </a:r>
            <a:r>
              <a:rPr lang="zh-CN" altLang="en-US" sz="2400" dirty="0"/>
              <a:t>中选择最小的元素作为</a:t>
            </a:r>
            <a:r>
              <a:rPr lang="en-US" altLang="zh-CN" sz="2400" dirty="0"/>
              <a:t>x</a:t>
            </a:r>
            <a:r>
              <a:rPr lang="en-US" altLang="zh-CN" sz="2400" baseline="-25000" dirty="0"/>
              <a:t>2 </a:t>
            </a:r>
            <a:r>
              <a:rPr lang="zh-CN" altLang="en-US" sz="2400" dirty="0"/>
              <a:t>继续，如果</a:t>
            </a:r>
            <a:r>
              <a:rPr lang="en-US" altLang="zh-CN" sz="2400" dirty="0"/>
              <a:t>(x</a:t>
            </a:r>
            <a:r>
              <a:rPr lang="en-US" altLang="zh-CN" sz="2400" baseline="-25000" dirty="0"/>
              <a:t>1</a:t>
            </a:r>
            <a:r>
              <a:rPr lang="en-US" altLang="zh-CN" sz="2400" dirty="0"/>
              <a:t>,x</a:t>
            </a:r>
            <a:r>
              <a:rPr lang="en-US" altLang="zh-CN" sz="2400" baseline="-25000" dirty="0"/>
              <a:t>2</a:t>
            </a:r>
            <a:r>
              <a:rPr lang="en-US" altLang="zh-CN" sz="2400" dirty="0"/>
              <a:t>)</a:t>
            </a:r>
            <a:r>
              <a:rPr lang="zh-CN" altLang="en-US" sz="2400" dirty="0"/>
              <a:t>是一个部分解，那么就包括</a:t>
            </a:r>
            <a:r>
              <a:rPr lang="en-US" altLang="zh-CN" sz="2400" dirty="0"/>
              <a:t>X</a:t>
            </a:r>
            <a:r>
              <a:rPr lang="en-US" altLang="zh-CN" sz="2400" baseline="-25000" dirty="0"/>
              <a:t>3</a:t>
            </a:r>
            <a:r>
              <a:rPr lang="zh-CN" altLang="en-US" sz="2400" dirty="0"/>
              <a:t>中最小的元素，否则</a:t>
            </a:r>
            <a:r>
              <a:rPr lang="en-US" altLang="zh-CN" sz="2400" dirty="0"/>
              <a:t>x</a:t>
            </a:r>
            <a:r>
              <a:rPr lang="en-US" altLang="zh-CN" sz="2400" baseline="-25000" dirty="0"/>
              <a:t>2</a:t>
            </a:r>
            <a:r>
              <a:rPr lang="zh-CN" altLang="en-US" sz="2400" dirty="0"/>
              <a:t>被置为</a:t>
            </a:r>
            <a:r>
              <a:rPr lang="en-US" altLang="zh-CN" sz="2400" dirty="0"/>
              <a:t>X</a:t>
            </a:r>
            <a:r>
              <a:rPr lang="en-US" altLang="zh-CN" sz="2400" baseline="-25000" dirty="0"/>
              <a:t>2</a:t>
            </a:r>
            <a:r>
              <a:rPr lang="zh-CN" altLang="en-US" sz="2400" dirty="0"/>
              <a:t>中的下一个元素。</a:t>
            </a:r>
            <a:endParaRPr lang="en-US" altLang="zh-CN" sz="2400" dirty="0"/>
          </a:p>
          <a:p>
            <a:pPr eaLnBrk="1" hangingPunct="1">
              <a:lnSpc>
                <a:spcPct val="90000"/>
              </a:lnSpc>
            </a:pPr>
            <a:endParaRPr lang="en-US" altLang="zh-CN" sz="2400" dirty="0"/>
          </a:p>
          <a:p>
            <a:pPr eaLnBrk="1" hangingPunct="1">
              <a:lnSpc>
                <a:spcPct val="90000"/>
              </a:lnSpc>
            </a:pPr>
            <a:r>
              <a:rPr lang="zh-CN" altLang="en-US" sz="2400" dirty="0"/>
              <a:t>一般地，假定算法已经检测到</a:t>
            </a:r>
            <a:r>
              <a:rPr lang="zh-CN" altLang="en-US" sz="2400" dirty="0">
                <a:solidFill>
                  <a:srgbClr val="FF0000"/>
                </a:solidFill>
              </a:rPr>
              <a:t>部分解</a:t>
            </a:r>
            <a:r>
              <a:rPr lang="zh-CN" altLang="en-US" sz="2400" dirty="0"/>
              <a:t>为</a:t>
            </a:r>
            <a:r>
              <a:rPr lang="en-US" altLang="zh-CN" sz="2400" dirty="0"/>
              <a:t>(x</a:t>
            </a:r>
            <a:r>
              <a:rPr lang="en-US" altLang="zh-CN" sz="2400" baseline="-25000" dirty="0"/>
              <a:t>1</a:t>
            </a:r>
            <a:r>
              <a:rPr lang="en-US" altLang="zh-CN" sz="2400" dirty="0"/>
              <a:t>,x</a:t>
            </a:r>
            <a:r>
              <a:rPr lang="en-US" altLang="zh-CN" sz="2400" baseline="-25000" dirty="0"/>
              <a:t>2</a:t>
            </a:r>
            <a:r>
              <a:rPr lang="en-US" altLang="zh-CN" sz="2400" dirty="0"/>
              <a:t>,…,x</a:t>
            </a:r>
            <a:r>
              <a:rPr lang="en-US" altLang="zh-CN" sz="2400" baseline="-25000" dirty="0"/>
              <a:t>j</a:t>
            </a:r>
            <a:r>
              <a:rPr lang="en-US" altLang="zh-CN" sz="2400" dirty="0"/>
              <a:t>)</a:t>
            </a:r>
            <a:r>
              <a:rPr lang="zh-CN" altLang="en-US" sz="2400" dirty="0"/>
              <a:t>，它然后再去考虑向量</a:t>
            </a:r>
            <a:r>
              <a:rPr lang="en-US" altLang="zh-CN" sz="2400" dirty="0"/>
              <a:t>v=(x</a:t>
            </a:r>
            <a:r>
              <a:rPr lang="en-US" altLang="zh-CN" sz="2400" baseline="-25000" dirty="0"/>
              <a:t>1</a:t>
            </a:r>
            <a:r>
              <a:rPr lang="en-US" altLang="zh-CN" sz="2400" dirty="0"/>
              <a:t>,x</a:t>
            </a:r>
            <a:r>
              <a:rPr lang="en-US" altLang="zh-CN" sz="2400" baseline="-25000" dirty="0"/>
              <a:t>2</a:t>
            </a:r>
            <a:r>
              <a:rPr lang="en-US" altLang="zh-CN" sz="2400" dirty="0"/>
              <a:t>,…,x</a:t>
            </a:r>
            <a:r>
              <a:rPr lang="en-US" altLang="zh-CN" sz="2400" baseline="-25000" dirty="0"/>
              <a:t>j</a:t>
            </a:r>
            <a:r>
              <a:rPr lang="en-US" altLang="zh-CN" sz="2400" dirty="0"/>
              <a:t>,x</a:t>
            </a:r>
            <a:r>
              <a:rPr lang="en-US" altLang="zh-CN" sz="2400" baseline="-25000" dirty="0"/>
              <a:t>j+1</a:t>
            </a:r>
            <a:r>
              <a:rPr lang="en-US" altLang="zh-CN" sz="2400" dirty="0"/>
              <a:t>)</a:t>
            </a:r>
            <a:r>
              <a:rPr lang="zh-CN" altLang="en-US" sz="2400" dirty="0"/>
              <a:t>。我们有下面的情况：</a:t>
            </a:r>
          </a:p>
          <a:p>
            <a:pPr eaLnBrk="1" hangingPunct="1">
              <a:lnSpc>
                <a:spcPct val="90000"/>
              </a:lnSpc>
            </a:pPr>
            <a:endParaRPr lang="en-US" altLang="zh-CN" sz="24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anim calcmode="lin" valueType="num">
                                      <p:cBhvr additive="base">
                                        <p:cTn id="13"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555">
                                            <p:txEl>
                                              <p:pRg st="4" end="4"/>
                                            </p:txEl>
                                          </p:spTgt>
                                        </p:tgtEl>
                                        <p:attrNameLst>
                                          <p:attrName>style.visibility</p:attrName>
                                        </p:attrNameLst>
                                      </p:cBhvr>
                                      <p:to>
                                        <p:strVal val="visible"/>
                                      </p:to>
                                    </p:set>
                                    <p:anim calcmode="lin" valueType="num">
                                      <p:cBhvr additive="base">
                                        <p:cTn id="19" dur="5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74754" name="Rectangle 2"/>
          <p:cNvSpPr>
            <a:spLocks noGrp="1"/>
          </p:cNvSpPr>
          <p:nvPr>
            <p:ph type="title"/>
          </p:nvPr>
        </p:nvSpPr>
        <p:spPr/>
        <p:txBody>
          <a:bodyPr vert="horz" wrap="square" lIns="91440" tIns="45720" rIns="91440" bIns="45720" anchor="ctr" anchorCtr="0"/>
          <a:lstStyle/>
          <a:p>
            <a:pPr eaLnBrk="1" hangingPunct="1"/>
            <a:r>
              <a:rPr lang="en-US" altLang="zh-CN" dirty="0">
                <a:sym typeface="+mn-ea"/>
              </a:rPr>
              <a:t>8.2.2 </a:t>
            </a:r>
            <a:r>
              <a:rPr lang="zh-CN" altLang="en-US" dirty="0"/>
              <a:t>回溯基本思想</a:t>
            </a:r>
            <a:r>
              <a:rPr lang="en-US" altLang="zh-CN" dirty="0"/>
              <a:t>(continue)</a:t>
            </a:r>
          </a:p>
        </p:txBody>
      </p:sp>
      <p:sp>
        <p:nvSpPr>
          <p:cNvPr id="130051" name="Rectangle 3"/>
          <p:cNvSpPr>
            <a:spLocks noGrp="1" noChangeArrowheads="1"/>
          </p:cNvSpPr>
          <p:nvPr>
            <p:ph idx="1"/>
          </p:nvPr>
        </p:nvSpPr>
        <p:spPr>
          <a:xfrm>
            <a:off x="901700" y="1308100"/>
            <a:ext cx="7786688" cy="4895850"/>
          </a:xfrm>
        </p:spPr>
        <p:txBody>
          <a:bodyPr vert="horz" wrap="square" lIns="91440" tIns="45720" rIns="91440" bIns="45720" numCol="1" anchor="t" anchorCtr="0" compatLnSpc="1"/>
          <a:lstStyle/>
          <a:p>
            <a:pPr marL="476250" marR="0" lvl="0" indent="-476250" algn="l" defTabSz="914400" rtl="0" eaLnBrk="1" fontAlgn="base" latinLnBrk="0" hangingPunct="1">
              <a:lnSpc>
                <a:spcPct val="100000"/>
              </a:lnSpc>
              <a:spcBef>
                <a:spcPct val="20000"/>
              </a:spcBef>
              <a:spcAft>
                <a:spcPct val="0"/>
              </a:spcAft>
              <a:buClrTx/>
              <a:buSzTx/>
              <a:buFontTx/>
              <a:buAutoNum type="arabicPeriod"/>
              <a:defRPr/>
            </a:pP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如果</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v</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表示问题的最后解，算法记录下它作为一个解，在仅希望获得一个解时终止或者继续去找出其他解。</a:t>
            </a:r>
            <a:endParaRPr kumimoji="0" lang="en-US" altLang="zh-CN" sz="2100" b="0" i="0" u="none" strike="noStrike" kern="0" cap="none" spc="0" normalizeH="0" baseline="0" noProof="0" dirty="0">
              <a:ln>
                <a:noFill/>
              </a:ln>
              <a:solidFill>
                <a:schemeClr val="accent2"/>
              </a:solidFill>
              <a:effectLst/>
              <a:uLnTx/>
              <a:uFillTx/>
              <a:latin typeface="+mn-lt"/>
              <a:ea typeface="+mn-ea"/>
              <a:cs typeface="+mn-cs"/>
            </a:endParaRPr>
          </a:p>
          <a:p>
            <a:pPr marL="476250" marR="0" lvl="0" indent="-476250" algn="l" defTabSz="914400" rtl="0" eaLnBrk="1" fontAlgn="base" latinLnBrk="0" hangingPunct="1">
              <a:lnSpc>
                <a:spcPct val="100000"/>
              </a:lnSpc>
              <a:spcBef>
                <a:spcPct val="20000"/>
              </a:spcBef>
              <a:spcAft>
                <a:spcPct val="0"/>
              </a:spcAft>
              <a:buClrTx/>
              <a:buSzTx/>
              <a:buFontTx/>
              <a:buAutoNum type="arabicPeriod"/>
              <a:defRPr/>
            </a:pP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100" b="0" i="0" u="none" strike="noStrike" kern="0" cap="none" spc="0" normalizeH="0" baseline="0" noProof="0" dirty="0">
                <a:ln>
                  <a:noFill/>
                </a:ln>
                <a:solidFill>
                  <a:srgbClr val="FF0000"/>
                </a:solidFill>
                <a:effectLst/>
                <a:uLnTx/>
                <a:uFillTx/>
                <a:latin typeface="+mn-lt"/>
                <a:ea typeface="+mn-ea"/>
                <a:cs typeface="+mn-cs"/>
              </a:rPr>
              <a:t>向前步骤</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。如果</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v</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表示一个部分解，算法通过选择集合</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X</a:t>
            </a:r>
            <a:r>
              <a:rPr kumimoji="0" lang="en-US" altLang="zh-CN" sz="2100" b="0" i="0" u="none" strike="noStrike" kern="0" cap="none" spc="0" normalizeH="0" baseline="-25000" noProof="0" dirty="0">
                <a:ln>
                  <a:noFill/>
                </a:ln>
                <a:solidFill>
                  <a:schemeClr val="accent2"/>
                </a:solidFill>
                <a:effectLst/>
                <a:uLnTx/>
                <a:uFillTx/>
                <a:latin typeface="+mn-lt"/>
                <a:ea typeface="+mn-ea"/>
                <a:cs typeface="+mn-cs"/>
              </a:rPr>
              <a:t>j+2</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中的最小元素向前。</a:t>
            </a:r>
          </a:p>
          <a:p>
            <a:pPr marL="476250" marR="0" lvl="0" indent="-476250" algn="l" defTabSz="914400" rtl="0" eaLnBrk="1" fontAlgn="base" latinLnBrk="0" hangingPunct="1">
              <a:lnSpc>
                <a:spcPct val="100000"/>
              </a:lnSpc>
              <a:spcBef>
                <a:spcPct val="20000"/>
              </a:spcBef>
              <a:spcAft>
                <a:spcPct val="0"/>
              </a:spcAft>
              <a:buClrTx/>
              <a:buSzTx/>
              <a:buFontTx/>
              <a:buAutoNum type="arabicPeriod"/>
              <a:defRPr/>
            </a:pP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如果</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v</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既不是最终的解，也不是部分解，则有两种子情况</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a:t>
            </a:r>
          </a:p>
          <a:p>
            <a:pPr marL="876300" marR="0" lvl="1" indent="-419100" algn="l" defTabSz="914400" rtl="0" eaLnBrk="1" fontAlgn="base" latinLnBrk="0" hangingPunct="1">
              <a:lnSpc>
                <a:spcPct val="100000"/>
              </a:lnSpc>
              <a:spcBef>
                <a:spcPct val="20000"/>
              </a:spcBef>
              <a:spcAft>
                <a:spcPct val="0"/>
              </a:spcAft>
              <a:buClrTx/>
              <a:buSzTx/>
              <a:buFontTx/>
              <a:buAutoNum type="alphaLcParen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如果从集合</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j+1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中还有其他的元素可选择，算法将</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j+1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置为</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j+1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中的下一个</a:t>
            </a:r>
          </a:p>
          <a:p>
            <a:pPr marL="876300" marR="0" lvl="1" indent="-419100" algn="l" defTabSz="914400" rtl="0" eaLnBrk="1" fontAlgn="base" latinLnBrk="0" hangingPunct="1">
              <a:lnSpc>
                <a:spcPct val="100000"/>
              </a:lnSpc>
              <a:spcBef>
                <a:spcPct val="20000"/>
              </a:spcBef>
              <a:spcAft>
                <a:spcPct val="0"/>
              </a:spcAft>
              <a:buClrTx/>
              <a:buSzTx/>
              <a:buFontTx/>
              <a:buAutoNum type="alphaLcParenR"/>
              <a:defRPr/>
            </a:pP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000" b="0" i="0" u="none" strike="noStrike" kern="0" cap="none" spc="0" normalizeH="0" baseline="0" noProof="0" dirty="0">
                <a:ln>
                  <a:noFill/>
                </a:ln>
                <a:solidFill>
                  <a:srgbClr val="FF0000"/>
                </a:solidFill>
                <a:effectLst/>
                <a:uLnTx/>
                <a:uFillTx/>
                <a:latin typeface="+mn-lt"/>
                <a:ea typeface="+mn-ea"/>
                <a:cs typeface="+mn-ea"/>
              </a:rPr>
              <a:t>回溯步骤</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。如果从集合</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j+1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中没有更多的元素可选择，算法通过将</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err="1">
                <a:ln>
                  <a:noFill/>
                </a:ln>
                <a:solidFill>
                  <a:schemeClr val="accent2"/>
                </a:solidFill>
                <a:effectLst/>
                <a:uLnTx/>
                <a:uFillTx/>
                <a:latin typeface="+mn-lt"/>
                <a:ea typeface="+mn-ea"/>
                <a:cs typeface="+mn-ea"/>
              </a:rPr>
              <a:t>j</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置为</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err="1">
                <a:ln>
                  <a:noFill/>
                </a:ln>
                <a:solidFill>
                  <a:schemeClr val="accent2"/>
                </a:solidFill>
                <a:effectLst/>
                <a:uLnTx/>
                <a:uFillTx/>
                <a:latin typeface="+mn-lt"/>
                <a:ea typeface="+mn-ea"/>
                <a:cs typeface="+mn-ea"/>
              </a:rPr>
              <a:t>j</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中的下一个元素回溯；如果从集合</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err="1">
                <a:ln>
                  <a:noFill/>
                </a:ln>
                <a:solidFill>
                  <a:schemeClr val="accent2"/>
                </a:solidFill>
                <a:effectLst/>
                <a:uLnTx/>
                <a:uFillTx/>
                <a:latin typeface="+mn-lt"/>
                <a:ea typeface="+mn-ea"/>
                <a:cs typeface="+mn-ea"/>
              </a:rPr>
              <a:t>j</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中仍然没有其他的元素可以选择，算法通过将</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j-1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置为</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j-1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中的下一个元素回溯，依次类推。</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anim calcmode="lin" valueType="num">
                                      <p:cBhvr additive="base">
                                        <p:cTn id="7" dur="500" fill="hold"/>
                                        <p:tgtEl>
                                          <p:spTgt spid="1300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005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30051">
                                            <p:txEl>
                                              <p:pRg st="1" end="1"/>
                                            </p:txEl>
                                          </p:spTgt>
                                        </p:tgtEl>
                                        <p:attrNameLst>
                                          <p:attrName>style.visibility</p:attrName>
                                        </p:attrNameLst>
                                      </p:cBhvr>
                                      <p:to>
                                        <p:strVal val="visible"/>
                                      </p:to>
                                    </p:set>
                                    <p:anim calcmode="lin" valueType="num">
                                      <p:cBhvr additive="base">
                                        <p:cTn id="13" dur="500" fill="hold"/>
                                        <p:tgtEl>
                                          <p:spTgt spid="1300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0051">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30051">
                                            <p:txEl>
                                              <p:pRg st="2" end="2"/>
                                            </p:txEl>
                                          </p:spTgt>
                                        </p:tgtEl>
                                        <p:attrNameLst>
                                          <p:attrName>style.visibility</p:attrName>
                                        </p:attrNameLst>
                                      </p:cBhvr>
                                      <p:to>
                                        <p:strVal val="visible"/>
                                      </p:to>
                                    </p:set>
                                    <p:anim calcmode="lin" valueType="num">
                                      <p:cBhvr additive="base">
                                        <p:cTn id="19" dur="500" fill="hold"/>
                                        <p:tgtEl>
                                          <p:spTgt spid="1300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0051">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0051">
                                            <p:txEl>
                                              <p:pRg st="3" end="3"/>
                                            </p:txEl>
                                          </p:spTgt>
                                        </p:tgtEl>
                                        <p:attrNameLst>
                                          <p:attrName>style.visibility</p:attrName>
                                        </p:attrNameLst>
                                      </p:cBhvr>
                                      <p:to>
                                        <p:strVal val="visible"/>
                                      </p:to>
                                    </p:set>
                                    <p:anim calcmode="lin" valueType="num">
                                      <p:cBhvr additive="base">
                                        <p:cTn id="25" dur="500" fill="hold"/>
                                        <p:tgtEl>
                                          <p:spTgt spid="1300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00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0051">
                                            <p:txEl>
                                              <p:pRg st="4" end="4"/>
                                            </p:txEl>
                                          </p:spTgt>
                                        </p:tgtEl>
                                        <p:attrNameLst>
                                          <p:attrName>style.visibility</p:attrName>
                                        </p:attrNameLst>
                                      </p:cBhvr>
                                      <p:to>
                                        <p:strVal val="visible"/>
                                      </p:to>
                                    </p:set>
                                    <p:anim calcmode="lin" valueType="num">
                                      <p:cBhvr additive="base">
                                        <p:cTn id="31" dur="500" fill="hold"/>
                                        <p:tgtEl>
                                          <p:spTgt spid="13005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00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60418" name="Rectangle 2"/>
          <p:cNvSpPr>
            <a:spLocks noGrp="1"/>
          </p:cNvSpPr>
          <p:nvPr>
            <p:ph type="title"/>
          </p:nvPr>
        </p:nvSpPr>
        <p:spPr>
          <a:xfrm>
            <a:off x="989013" y="328613"/>
            <a:ext cx="7643812" cy="871537"/>
          </a:xfrm>
        </p:spPr>
        <p:txBody>
          <a:bodyPr vert="horz" wrap="square" lIns="91440" tIns="45720" rIns="91440" bIns="45720" anchor="ctr" anchorCtr="0"/>
          <a:lstStyle/>
          <a:p>
            <a:pPr eaLnBrk="1" hangingPunct="1"/>
            <a:r>
              <a:rPr lang="en-US" altLang="zh-CN" dirty="0">
                <a:sym typeface="+mn-ea"/>
              </a:rPr>
              <a:t>8.2.2 </a:t>
            </a:r>
            <a:r>
              <a:rPr lang="zh-CN" altLang="en-US" dirty="0">
                <a:sym typeface="+mn-ea"/>
              </a:rPr>
              <a:t>回溯基本思想</a:t>
            </a:r>
            <a:endParaRPr lang="zh-CN" altLang="en-US" dirty="0"/>
          </a:p>
        </p:txBody>
      </p:sp>
      <p:sp>
        <p:nvSpPr>
          <p:cNvPr id="60419" name="Rectangle 3"/>
          <p:cNvSpPr>
            <a:spLocks noGrp="1"/>
          </p:cNvSpPr>
          <p:nvPr>
            <p:ph idx="1"/>
          </p:nvPr>
        </p:nvSpPr>
        <p:spPr>
          <a:xfrm>
            <a:off x="971550" y="1557338"/>
            <a:ext cx="7715250" cy="4176712"/>
          </a:xfrm>
        </p:spPr>
        <p:txBody>
          <a:bodyPr vert="horz" wrap="square" lIns="91440" tIns="45720" rIns="91440" bIns="45720" anchor="t" anchorCtr="0"/>
          <a:lstStyle/>
          <a:p>
            <a:pPr eaLnBrk="1" hangingPunct="1"/>
            <a:r>
              <a:rPr lang="zh-CN" altLang="en-US" sz="2400" dirty="0"/>
              <a:t>对于任何一个问题</a:t>
            </a:r>
            <a:r>
              <a:rPr lang="en-US" altLang="zh-CN" sz="2400" dirty="0"/>
              <a:t>,</a:t>
            </a:r>
            <a:r>
              <a:rPr lang="zh-CN" altLang="en-US" sz="2400" dirty="0"/>
              <a:t>一旦设想出一种状态空间树</a:t>
            </a:r>
            <a:r>
              <a:rPr lang="en-US" altLang="zh-CN" sz="2400" dirty="0"/>
              <a:t>,</a:t>
            </a:r>
            <a:r>
              <a:rPr lang="zh-CN" altLang="en-US" sz="2400" dirty="0"/>
              <a:t>就可以系统地生成问题状态接着确定这些问题状态中的哪些状态是解状态，最后确定哪些解状态是答案状态，从而将问题解出。</a:t>
            </a:r>
            <a:endParaRPr lang="en-US" altLang="zh-CN" sz="2400" dirty="0"/>
          </a:p>
          <a:p>
            <a:pPr eaLnBrk="1" hangingPunct="1"/>
            <a:r>
              <a:rPr lang="zh-CN" altLang="en-US" sz="2400" dirty="0"/>
              <a:t>问题状态的生成</a:t>
            </a:r>
            <a:r>
              <a:rPr lang="en-US" altLang="zh-CN" sz="2400" dirty="0"/>
              <a:t>: </a:t>
            </a:r>
            <a:r>
              <a:rPr lang="zh-CN" altLang="en-US" sz="2400" dirty="0"/>
              <a:t>从根结点开始生成其它结点。</a:t>
            </a:r>
            <a:endParaRPr lang="en-US" altLang="zh-CN" sz="2400" dirty="0"/>
          </a:p>
          <a:p>
            <a:pPr eaLnBrk="1" hangingPunct="1"/>
            <a:r>
              <a:rPr lang="zh-CN" altLang="en-US" sz="2400" dirty="0">
                <a:solidFill>
                  <a:srgbClr val="FF0000"/>
                </a:solidFill>
              </a:rPr>
              <a:t>活结点</a:t>
            </a:r>
            <a:r>
              <a:rPr lang="en-US" altLang="zh-CN" sz="2400" dirty="0"/>
              <a:t>: </a:t>
            </a:r>
            <a:r>
              <a:rPr lang="zh-CN" altLang="en-US" sz="2400" dirty="0"/>
              <a:t>如果已生成一个结点而它的儿子结点还没有全部生成，则这个结点叫做活结点；当前正在生成其儿子结点的活结点叫</a:t>
            </a:r>
            <a:r>
              <a:rPr lang="en-US" altLang="zh-CN" sz="2400" dirty="0"/>
              <a:t>E-</a:t>
            </a:r>
            <a:r>
              <a:rPr lang="zh-CN" altLang="en-US" sz="2400" dirty="0"/>
              <a:t>结点</a:t>
            </a:r>
            <a:r>
              <a:rPr lang="en-US" altLang="zh-CN" sz="2400" dirty="0"/>
              <a:t>(</a:t>
            </a:r>
            <a:r>
              <a:rPr lang="zh-CN" altLang="en-US" sz="2400" dirty="0">
                <a:solidFill>
                  <a:srgbClr val="FF0000"/>
                </a:solidFill>
              </a:rPr>
              <a:t>正在扩展的结点</a:t>
            </a:r>
            <a:r>
              <a:rPr lang="en-US" altLang="zh-CN" sz="2400" dirty="0"/>
              <a:t>)</a:t>
            </a:r>
            <a:r>
              <a:rPr lang="zh-CN" altLang="en-US" sz="2400" dirty="0"/>
              <a:t>。</a:t>
            </a:r>
            <a:endParaRPr lang="en-US" altLang="zh-CN" sz="2400" dirty="0"/>
          </a:p>
          <a:p>
            <a:pPr eaLnBrk="1" hangingPunct="1"/>
            <a:r>
              <a:rPr lang="zh-CN" altLang="en-US" sz="2400" dirty="0">
                <a:solidFill>
                  <a:srgbClr val="FF0000"/>
                </a:solidFill>
              </a:rPr>
              <a:t>死结点</a:t>
            </a:r>
            <a:r>
              <a:rPr lang="en-US" altLang="zh-CN" sz="2400" dirty="0"/>
              <a:t>:</a:t>
            </a:r>
            <a:r>
              <a:rPr lang="zh-CN" altLang="en-US" sz="2400" dirty="0"/>
              <a:t>不再进一步扩展或者其儿子结点已经全部生成的生成结点是死结点。</a:t>
            </a:r>
            <a:endParaRPr lang="en-US" altLang="zh-CN"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58370" name="Rectangle 2"/>
          <p:cNvSpPr>
            <a:spLocks noGrp="1"/>
          </p:cNvSpPr>
          <p:nvPr>
            <p:ph type="title"/>
          </p:nvPr>
        </p:nvSpPr>
        <p:spPr>
          <a:xfrm>
            <a:off x="928688" y="214313"/>
            <a:ext cx="7126287" cy="1143000"/>
          </a:xfrm>
        </p:spPr>
        <p:txBody>
          <a:bodyPr vert="horz" wrap="square" lIns="91440" tIns="45720" rIns="91440" bIns="45720" anchor="ctr" anchorCtr="0"/>
          <a:lstStyle/>
          <a:p>
            <a:pPr eaLnBrk="1" hangingPunct="1"/>
            <a:r>
              <a:rPr lang="en-US" altLang="zh-CN" sz="3600" dirty="0">
                <a:sym typeface="+mn-ea"/>
              </a:rPr>
              <a:t>8.2.2 </a:t>
            </a:r>
            <a:r>
              <a:rPr lang="zh-CN" altLang="en-US" sz="3600" dirty="0">
                <a:sym typeface="+mn-ea"/>
              </a:rPr>
              <a:t>回溯基本思想</a:t>
            </a:r>
            <a:endParaRPr lang="zh-CN" altLang="en-US" sz="3600" dirty="0"/>
          </a:p>
        </p:txBody>
      </p:sp>
      <p:sp>
        <p:nvSpPr>
          <p:cNvPr id="15364" name="Rectangle 3"/>
          <p:cNvSpPr>
            <a:spLocks noGrp="1" noChangeArrowheads="1"/>
          </p:cNvSpPr>
          <p:nvPr>
            <p:ph idx="1"/>
          </p:nvPr>
        </p:nvSpPr>
        <p:spPr>
          <a:xfrm>
            <a:off x="900113" y="1412875"/>
            <a:ext cx="7993063" cy="43211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由根结点到其它结点的所有路径确定了这个问题的</a:t>
            </a:r>
            <a:r>
              <a:rPr kumimoji="0" lang="zh-CN" altLang="en-US" sz="2600" b="1" i="0" u="none" strike="noStrike" kern="0" cap="none" spc="0" normalizeH="0" baseline="0" noProof="0" dirty="0">
                <a:ln>
                  <a:noFill/>
                </a:ln>
                <a:solidFill>
                  <a:srgbClr val="FF0000"/>
                </a:solidFill>
                <a:effectLst/>
                <a:uLnTx/>
                <a:uFillTx/>
                <a:latin typeface="+mn-ea"/>
                <a:ea typeface="+mn-ea"/>
                <a:cs typeface="+mn-cs"/>
              </a:rPr>
              <a:t>状态空间</a:t>
            </a:r>
            <a:r>
              <a:rPr kumimoji="0" lang="zh-CN" altLang="en-US" sz="2600" b="1" i="0" u="none" strike="noStrike" kern="0" cap="none" spc="0" normalizeH="0" baseline="0" noProof="0" dirty="0">
                <a:ln>
                  <a:noFill/>
                </a:ln>
                <a:solidFill>
                  <a:schemeClr val="accent2"/>
                </a:solidFill>
                <a:effectLst/>
                <a:uLnTx/>
                <a:uFillTx/>
                <a:latin typeface="+mn-ea"/>
                <a:ea typeface="+mn-ea"/>
                <a:cs typeface="+mn-cs"/>
              </a:rPr>
              <a:t>。</a:t>
            </a: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解空间的树结构成为</a:t>
            </a:r>
            <a:r>
              <a:rPr kumimoji="0" lang="zh-CN" altLang="en-US" sz="2600" b="1" i="0" u="none" strike="noStrike" kern="0" cap="none" spc="0" normalizeH="0" baseline="0" noProof="0" dirty="0">
                <a:ln>
                  <a:noFill/>
                </a:ln>
                <a:solidFill>
                  <a:srgbClr val="FF0000"/>
                </a:solidFill>
                <a:effectLst/>
                <a:uLnTx/>
                <a:uFillTx/>
                <a:latin typeface="+mn-ea"/>
                <a:ea typeface="+mn-ea"/>
                <a:cs typeface="+mn-cs"/>
              </a:rPr>
              <a:t>状态空间树</a:t>
            </a:r>
            <a:r>
              <a:rPr kumimoji="0" lang="zh-CN" altLang="en-US" sz="2600" b="1" i="0" u="none" strike="noStrike" kern="0" cap="none" spc="0" normalizeH="0" baseline="0" noProof="0" dirty="0">
                <a:ln>
                  <a:noFill/>
                </a:ln>
                <a:solidFill>
                  <a:schemeClr val="accent2"/>
                </a:solidFill>
                <a:effectLst/>
                <a:uLnTx/>
                <a:uFillTx/>
                <a:latin typeface="+mn-ea"/>
                <a:ea typeface="+mn-ea"/>
                <a:cs typeface="+mn-cs"/>
              </a:rPr>
              <a:t>。</a:t>
            </a:r>
            <a:endParaRPr kumimoji="0" lang="en-US" altLang="zh-CN" sz="2600" b="0" i="0" u="none" strike="noStrike" kern="0" cap="none" spc="0" normalizeH="0" baseline="0" noProof="0" dirty="0">
              <a:ln>
                <a:noFill/>
              </a:ln>
              <a:solidFill>
                <a:schemeClr val="accent2"/>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600" b="0" i="0" u="none" strike="noStrike" kern="0" cap="none" spc="0" normalizeH="0" baseline="0" noProof="0" dirty="0">
              <a:ln>
                <a:noFill/>
              </a:ln>
              <a:solidFill>
                <a:schemeClr val="accent2"/>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树中的每个结点确定所求解问题的一个</a:t>
            </a:r>
            <a:r>
              <a:rPr kumimoji="0" lang="zh-CN" altLang="en-US" sz="2600" b="1" i="0" u="none" strike="noStrike" kern="0" cap="none" spc="0" normalizeH="0" baseline="0" noProof="0" dirty="0">
                <a:ln>
                  <a:noFill/>
                </a:ln>
                <a:solidFill>
                  <a:srgbClr val="FF0000"/>
                </a:solidFill>
                <a:effectLst/>
                <a:uLnTx/>
                <a:uFillTx/>
                <a:latin typeface="+mn-ea"/>
                <a:ea typeface="+mn-ea"/>
                <a:cs typeface="+mn-cs"/>
              </a:rPr>
              <a:t>问题状态</a:t>
            </a:r>
            <a:r>
              <a:rPr kumimoji="0" lang="zh-CN" altLang="en-US" sz="2600" b="1" i="0" u="none" strike="noStrike" kern="0" cap="none" spc="0" normalizeH="0" baseline="0" noProof="0" dirty="0">
                <a:ln>
                  <a:noFill/>
                </a:ln>
                <a:solidFill>
                  <a:schemeClr val="accent2"/>
                </a:solidFill>
                <a:effectLst/>
                <a:uLnTx/>
                <a:uFillTx/>
                <a:latin typeface="+mn-ea"/>
                <a:ea typeface="+mn-ea"/>
                <a:cs typeface="+mn-cs"/>
              </a:rPr>
              <a:t>。</a:t>
            </a:r>
            <a:endParaRPr kumimoji="0" lang="en-US" altLang="zh-CN" sz="2600" b="0" i="0" u="none" strike="noStrike" kern="0" cap="none" spc="0" normalizeH="0" baseline="0" noProof="0" dirty="0">
              <a:ln>
                <a:noFill/>
              </a:ln>
              <a:solidFill>
                <a:schemeClr val="accent2"/>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600" b="1" i="0" u="none" strike="noStrike" kern="0" cap="none" spc="0" normalizeH="0" baseline="0" noProof="0" dirty="0">
                <a:ln>
                  <a:noFill/>
                </a:ln>
                <a:solidFill>
                  <a:srgbClr val="FF0000"/>
                </a:solidFill>
                <a:effectLst/>
                <a:uLnTx/>
                <a:uFillTx/>
                <a:latin typeface="+mn-ea"/>
                <a:ea typeface="+mn-ea"/>
                <a:cs typeface="+mn-cs"/>
              </a:rPr>
              <a:t>解状态</a:t>
            </a: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是这样一些问题状态</a:t>
            </a:r>
            <a:r>
              <a:rPr kumimoji="0" lang="en-US" altLang="zh-CN" sz="2600" b="0" i="0" u="none" strike="noStrike" kern="0" cap="none" spc="0" normalizeH="0" baseline="0" noProof="0" dirty="0">
                <a:ln>
                  <a:noFill/>
                </a:ln>
                <a:solidFill>
                  <a:schemeClr val="accent2"/>
                </a:solidFill>
                <a:effectLst/>
                <a:uLnTx/>
                <a:uFillTx/>
                <a:latin typeface="+mn-ea"/>
                <a:ea typeface="+mn-ea"/>
                <a:cs typeface="+mn-cs"/>
              </a:rPr>
              <a:t>S</a:t>
            </a: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，对于这些问题状态</a:t>
            </a:r>
            <a:r>
              <a:rPr kumimoji="0" lang="en-US" altLang="zh-CN" sz="2600" b="0" i="0" u="none" strike="noStrike" kern="0" cap="none" spc="0" normalizeH="0" baseline="0" noProof="0" dirty="0">
                <a:ln>
                  <a:noFill/>
                </a:ln>
                <a:solidFill>
                  <a:schemeClr val="accent2"/>
                </a:solidFill>
                <a:effectLst/>
                <a:uLnTx/>
                <a:uFillTx/>
                <a:latin typeface="+mn-ea"/>
                <a:ea typeface="+mn-ea"/>
                <a:cs typeface="+mn-cs"/>
              </a:rPr>
              <a:t>,</a:t>
            </a: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由根到</a:t>
            </a:r>
            <a:r>
              <a:rPr kumimoji="0" lang="en-US" altLang="zh-CN" sz="2600" b="0" i="0" u="none" strike="noStrike" kern="0" cap="none" spc="0" normalizeH="0" baseline="0" noProof="0" dirty="0">
                <a:ln>
                  <a:noFill/>
                </a:ln>
                <a:solidFill>
                  <a:schemeClr val="accent2"/>
                </a:solidFill>
                <a:effectLst/>
                <a:uLnTx/>
                <a:uFillTx/>
                <a:latin typeface="+mn-ea"/>
                <a:ea typeface="+mn-ea"/>
                <a:cs typeface="+mn-cs"/>
              </a:rPr>
              <a:t>S</a:t>
            </a: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的那条路径确定了这解空间中的一个元组。</a:t>
            </a:r>
            <a:endParaRPr kumimoji="0" lang="en-US" altLang="zh-CN" sz="2600" b="0" i="0" u="none" strike="noStrike" kern="0" cap="none" spc="0" normalizeH="0" baseline="0" noProof="0" dirty="0">
              <a:ln>
                <a:noFill/>
              </a:ln>
              <a:solidFill>
                <a:schemeClr val="accent2"/>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600" b="1" i="0" u="none" strike="noStrike" kern="0" cap="none" spc="0" normalizeH="0" baseline="0" noProof="0" dirty="0">
                <a:ln>
                  <a:noFill/>
                </a:ln>
                <a:solidFill>
                  <a:srgbClr val="FF0000"/>
                </a:solidFill>
                <a:effectLst/>
                <a:uLnTx/>
                <a:uFillTx/>
                <a:latin typeface="+mn-ea"/>
                <a:ea typeface="+mn-ea"/>
                <a:cs typeface="+mn-cs"/>
              </a:rPr>
              <a:t>答案状态</a:t>
            </a: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是这样的一些解状态</a:t>
            </a:r>
            <a:r>
              <a:rPr kumimoji="0" lang="en-US" altLang="zh-CN" sz="2600" b="0" i="0" u="none" strike="noStrike" kern="0" cap="none" spc="0" normalizeH="0" baseline="0" noProof="0" dirty="0">
                <a:ln>
                  <a:noFill/>
                </a:ln>
                <a:solidFill>
                  <a:schemeClr val="accent2"/>
                </a:solidFill>
                <a:effectLst/>
                <a:uLnTx/>
                <a:uFillTx/>
                <a:latin typeface="+mn-ea"/>
                <a:ea typeface="+mn-ea"/>
                <a:cs typeface="+mn-cs"/>
              </a:rPr>
              <a:t>S</a:t>
            </a: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，对于这些解状态而言，由根到</a:t>
            </a:r>
            <a:r>
              <a:rPr kumimoji="0" lang="en-US" altLang="zh-CN" sz="2600" b="0" i="0" u="none" strike="noStrike" kern="0" cap="none" spc="0" normalizeH="0" baseline="0" noProof="0" dirty="0">
                <a:ln>
                  <a:noFill/>
                </a:ln>
                <a:solidFill>
                  <a:schemeClr val="accent2"/>
                </a:solidFill>
                <a:effectLst/>
                <a:uLnTx/>
                <a:uFillTx/>
                <a:latin typeface="+mn-ea"/>
                <a:ea typeface="+mn-ea"/>
                <a:cs typeface="+mn-cs"/>
              </a:rPr>
              <a:t>S</a:t>
            </a:r>
            <a:r>
              <a:rPr kumimoji="0" lang="zh-CN" altLang="en-US" sz="2600" b="0" i="0" u="none" strike="noStrike" kern="0" cap="none" spc="0" normalizeH="0" baseline="0" noProof="0" dirty="0">
                <a:ln>
                  <a:noFill/>
                </a:ln>
                <a:solidFill>
                  <a:schemeClr val="accent2"/>
                </a:solidFill>
                <a:effectLst/>
                <a:uLnTx/>
                <a:uFillTx/>
                <a:latin typeface="+mn-ea"/>
                <a:ea typeface="+mn-ea"/>
                <a:cs typeface="+mn-cs"/>
              </a:rPr>
              <a:t>的这条路径确定了这问题的一个解。</a:t>
            </a:r>
            <a:endParaRPr kumimoji="0" lang="en-US" altLang="zh-CN" sz="2600" b="0" i="0" u="none" strike="noStrike" kern="0" cap="none" spc="0" normalizeH="0" baseline="0" noProof="0" dirty="0">
              <a:ln>
                <a:noFill/>
              </a:ln>
              <a:solidFill>
                <a:schemeClr val="accent2"/>
              </a:solidFill>
              <a:effectLst/>
              <a:uLnTx/>
              <a:uFillTx/>
              <a:latin typeface="+mn-ea"/>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8.2.3 </a:t>
            </a:r>
            <a:r>
              <a:rPr lang="zh-CN" altLang="en-US" dirty="0"/>
              <a:t>回溯法的基本框架</a:t>
            </a:r>
          </a:p>
        </p:txBody>
      </p:sp>
      <p:sp>
        <p:nvSpPr>
          <p:cNvPr id="3" name="内容占位符 2"/>
          <p:cNvSpPr>
            <a:spLocks noGrp="1"/>
          </p:cNvSpPr>
          <p:nvPr>
            <p:ph idx="1"/>
          </p:nvPr>
        </p:nvSpPr>
        <p:spPr/>
        <p:txBody>
          <a:bodyPr/>
          <a:lstStyle/>
          <a:p>
            <a:pPr algn="l">
              <a:spcBef>
                <a:spcPct val="50000"/>
              </a:spcBef>
              <a:buClrTx/>
              <a:buSzTx/>
              <a:buFontTx/>
            </a:pPr>
            <a:r>
              <a:rPr lang="zh-CN" altLang="en-US">
                <a:sym typeface="+mn-ea"/>
              </a:rPr>
              <a:t>非递归回溯框架</a:t>
            </a:r>
          </a:p>
          <a:p>
            <a:pPr algn="l">
              <a:spcBef>
                <a:spcPct val="50000"/>
              </a:spcBef>
            </a:pPr>
            <a:r>
              <a:rPr lang="zh-CN" altLang="en-US"/>
              <a:t>递归回溯框架</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77826" name="Rectangle 3"/>
          <p:cNvSpPr>
            <a:spLocks noGrp="1"/>
          </p:cNvSpPr>
          <p:nvPr>
            <p:ph idx="1"/>
          </p:nvPr>
        </p:nvSpPr>
        <p:spPr>
          <a:xfrm>
            <a:off x="539750" y="260350"/>
            <a:ext cx="8229600" cy="5832475"/>
          </a:xfrm>
          <a:solidFill>
            <a:schemeClr val="bg1"/>
          </a:solidFill>
          <a:ln>
            <a:solidFill>
              <a:schemeClr val="tx1"/>
            </a:solidFill>
            <a:miter/>
          </a:ln>
        </p:spPr>
        <p:txBody>
          <a:bodyPr vert="horz" wrap="square" lIns="91440" tIns="45720" rIns="91440" bIns="45720" anchor="t" anchorCtr="0"/>
          <a:lstStyle/>
          <a:p>
            <a:pPr eaLnBrk="1" hangingPunct="1">
              <a:lnSpc>
                <a:spcPct val="80000"/>
              </a:lnSpc>
              <a:buNone/>
            </a:pPr>
            <a:r>
              <a:rPr lang="zh-CN" altLang="en-US" sz="2800" b="1" dirty="0"/>
              <a:t>算法</a:t>
            </a:r>
            <a:r>
              <a:rPr lang="en-US" altLang="zh-CN" sz="2800" b="1" dirty="0"/>
              <a:t>8.5 BACKTRACKITER</a:t>
            </a:r>
          </a:p>
          <a:p>
            <a:pPr lvl="1" eaLnBrk="1" hangingPunct="1">
              <a:lnSpc>
                <a:spcPct val="90000"/>
              </a:lnSpc>
              <a:buNone/>
            </a:pPr>
            <a:r>
              <a:rPr lang="zh-CN" altLang="en-US" sz="2000" dirty="0"/>
              <a:t>输入</a:t>
            </a:r>
            <a:r>
              <a:rPr lang="en-US" altLang="zh-CN" sz="2000" dirty="0"/>
              <a:t>:</a:t>
            </a:r>
            <a:r>
              <a:rPr lang="zh-CN" altLang="en-US" sz="2000" dirty="0"/>
              <a:t>集合</a:t>
            </a:r>
            <a:r>
              <a:rPr lang="en-US" altLang="zh-CN" sz="2000" dirty="0"/>
              <a:t>X</a:t>
            </a:r>
            <a:r>
              <a:rPr lang="en-US" altLang="zh-CN" sz="2000" baseline="-25000" dirty="0"/>
              <a:t>1</a:t>
            </a:r>
            <a:r>
              <a:rPr lang="en-US" altLang="zh-CN" sz="2000" dirty="0"/>
              <a:t>,X</a:t>
            </a:r>
            <a:r>
              <a:rPr lang="en-US" altLang="zh-CN" sz="2000" baseline="-25000" dirty="0"/>
              <a:t>2</a:t>
            </a:r>
            <a:r>
              <a:rPr lang="en-US" altLang="zh-CN" sz="2000" dirty="0"/>
              <a:t>,…,X</a:t>
            </a:r>
            <a:r>
              <a:rPr lang="en-US" altLang="zh-CN" sz="2000" baseline="-25000" dirty="0"/>
              <a:t>n.</a:t>
            </a:r>
            <a:r>
              <a:rPr lang="zh-CN" altLang="en-US" sz="2000" dirty="0"/>
              <a:t>的清楚的或隐含的描述。</a:t>
            </a:r>
          </a:p>
          <a:p>
            <a:pPr lvl="1" eaLnBrk="1" hangingPunct="1">
              <a:lnSpc>
                <a:spcPct val="90000"/>
              </a:lnSpc>
              <a:buNone/>
            </a:pPr>
            <a:r>
              <a:rPr lang="zh-CN" altLang="en-US" sz="2000" dirty="0"/>
              <a:t>输出</a:t>
            </a:r>
            <a:r>
              <a:rPr lang="en-US" altLang="zh-CN" sz="2000" dirty="0"/>
              <a:t>:</a:t>
            </a:r>
            <a:r>
              <a:rPr lang="zh-CN" altLang="en-US" sz="2000" dirty="0"/>
              <a:t>解向量</a:t>
            </a:r>
            <a:r>
              <a:rPr lang="en-US" altLang="zh-CN" sz="2000" dirty="0"/>
              <a:t>v=(x</a:t>
            </a:r>
            <a:r>
              <a:rPr lang="en-US" altLang="zh-CN" sz="2000" baseline="-25000" dirty="0"/>
              <a:t>1</a:t>
            </a:r>
            <a:r>
              <a:rPr lang="en-US" altLang="zh-CN" sz="2000" dirty="0"/>
              <a:t>,x</a:t>
            </a:r>
            <a:r>
              <a:rPr lang="en-US" altLang="zh-CN" sz="2000" baseline="-25000" dirty="0"/>
              <a:t>2</a:t>
            </a:r>
            <a:r>
              <a:rPr lang="en-US" altLang="zh-CN" sz="2000" dirty="0"/>
              <a:t>,…,x</a:t>
            </a:r>
            <a:r>
              <a:rPr lang="en-US" altLang="zh-CN" sz="2000" baseline="-25000" dirty="0"/>
              <a:t>i</a:t>
            </a:r>
            <a:r>
              <a:rPr lang="en-US" altLang="zh-CN" sz="2000" dirty="0"/>
              <a:t>), 0 </a:t>
            </a:r>
            <a:r>
              <a:rPr lang="en-US" altLang="zh-CN" sz="2000" dirty="0">
                <a:sym typeface="Symbol" pitchFamily="18" charset="2"/>
              </a:rPr>
              <a:t>i n.</a:t>
            </a:r>
          </a:p>
          <a:p>
            <a:pPr lvl="1" eaLnBrk="1" hangingPunct="1">
              <a:lnSpc>
                <a:spcPct val="80000"/>
              </a:lnSpc>
              <a:buNone/>
            </a:pPr>
            <a:r>
              <a:rPr lang="en-US" altLang="zh-CN" sz="2000" dirty="0"/>
              <a:t>	1.v</a:t>
            </a:r>
            <a:r>
              <a:rPr lang="en-US" altLang="zh-CN" sz="2000" dirty="0">
                <a:sym typeface="Wingdings" panose="05000000000000000000" pitchFamily="2" charset="2"/>
              </a:rPr>
              <a:t>()</a:t>
            </a:r>
          </a:p>
          <a:p>
            <a:pPr lvl="1" eaLnBrk="1" hangingPunct="1">
              <a:lnSpc>
                <a:spcPct val="80000"/>
              </a:lnSpc>
              <a:buNone/>
            </a:pPr>
            <a:r>
              <a:rPr lang="en-US" altLang="zh-CN" sz="2000" dirty="0">
                <a:sym typeface="Wingdings" panose="05000000000000000000" pitchFamily="2" charset="2"/>
              </a:rPr>
              <a:t>	2.flag</a:t>
            </a:r>
            <a:r>
              <a:rPr lang="en-US" altLang="zh-CN" sz="2000" b="1" dirty="0">
                <a:sym typeface="Wingdings" panose="05000000000000000000" pitchFamily="2" charset="2"/>
              </a:rPr>
              <a:t>false</a:t>
            </a:r>
          </a:p>
          <a:p>
            <a:pPr lvl="1" eaLnBrk="1" hangingPunct="1">
              <a:lnSpc>
                <a:spcPct val="80000"/>
              </a:lnSpc>
              <a:buNone/>
            </a:pPr>
            <a:r>
              <a:rPr lang="en-US" altLang="zh-CN" sz="2000" dirty="0">
                <a:sym typeface="Wingdings" panose="05000000000000000000" pitchFamily="2" charset="2"/>
              </a:rPr>
              <a:t>	3.k1</a:t>
            </a:r>
          </a:p>
          <a:p>
            <a:pPr lvl="1" eaLnBrk="1" hangingPunct="1">
              <a:lnSpc>
                <a:spcPct val="80000"/>
              </a:lnSpc>
              <a:buNone/>
            </a:pPr>
            <a:r>
              <a:rPr lang="en-US" altLang="zh-CN" sz="2000" dirty="0">
                <a:sym typeface="Wingdings" panose="05000000000000000000" pitchFamily="2" charset="2"/>
              </a:rPr>
              <a:t>	4.</a:t>
            </a:r>
            <a:r>
              <a:rPr lang="en-US" altLang="zh-CN" sz="2000" b="1" dirty="0">
                <a:sym typeface="Wingdings" panose="05000000000000000000" pitchFamily="2" charset="2"/>
              </a:rPr>
              <a:t>while</a:t>
            </a:r>
            <a:r>
              <a:rPr lang="en-US" altLang="zh-CN" sz="2000" dirty="0">
                <a:sym typeface="Wingdings" panose="05000000000000000000" pitchFamily="2" charset="2"/>
              </a:rPr>
              <a:t> k </a:t>
            </a:r>
            <a:r>
              <a:rPr lang="en-US" altLang="zh-CN" sz="2000" dirty="0">
                <a:sym typeface="Symbol" pitchFamily="18" charset="2"/>
              </a:rPr>
              <a:t>1</a:t>
            </a:r>
          </a:p>
          <a:p>
            <a:pPr lvl="1" eaLnBrk="1" hangingPunct="1">
              <a:lnSpc>
                <a:spcPct val="80000"/>
              </a:lnSpc>
              <a:buNone/>
            </a:pPr>
            <a:r>
              <a:rPr lang="en-US" altLang="zh-CN" sz="2000" dirty="0">
                <a:sym typeface="Symbol" pitchFamily="18" charset="2"/>
              </a:rPr>
              <a:t>	5.	</a:t>
            </a:r>
            <a:r>
              <a:rPr lang="en-US" altLang="zh-CN" sz="2000" b="1" dirty="0">
                <a:sym typeface="Symbol" pitchFamily="18" charset="2"/>
              </a:rPr>
              <a:t>while</a:t>
            </a:r>
            <a:r>
              <a:rPr lang="en-US" altLang="zh-CN" sz="2000" dirty="0">
                <a:sym typeface="Symbol" pitchFamily="18" charset="2"/>
              </a:rPr>
              <a:t> X</a:t>
            </a:r>
            <a:r>
              <a:rPr lang="en-US" altLang="zh-CN" sz="2000" baseline="-25000" dirty="0">
                <a:sym typeface="Symbol" pitchFamily="18" charset="2"/>
              </a:rPr>
              <a:t>k</a:t>
            </a:r>
            <a:r>
              <a:rPr lang="zh-CN" altLang="en-US" sz="2000" dirty="0">
                <a:sym typeface="Symbol" pitchFamily="18" charset="2"/>
              </a:rPr>
              <a:t>没有被穷举</a:t>
            </a:r>
            <a:endParaRPr lang="en-US" altLang="zh-CN" sz="2000" dirty="0">
              <a:sym typeface="Symbol" pitchFamily="18" charset="2"/>
            </a:endParaRPr>
          </a:p>
          <a:p>
            <a:pPr lvl="1" eaLnBrk="1" hangingPunct="1">
              <a:lnSpc>
                <a:spcPct val="80000"/>
              </a:lnSpc>
              <a:buNone/>
            </a:pPr>
            <a:r>
              <a:rPr lang="en-US" altLang="zh-CN" sz="2000" dirty="0">
                <a:sym typeface="Symbol" pitchFamily="18" charset="2"/>
              </a:rPr>
              <a:t>	6.		x</a:t>
            </a:r>
            <a:r>
              <a:rPr lang="en-US" altLang="zh-CN" sz="2000" baseline="-25000" dirty="0">
                <a:sym typeface="Symbol" pitchFamily="18" charset="2"/>
              </a:rPr>
              <a:t>k</a:t>
            </a:r>
            <a:r>
              <a:rPr lang="en-US" altLang="zh-CN" sz="2000" dirty="0">
                <a:sym typeface="Wingdings" panose="05000000000000000000" pitchFamily="2" charset="2"/>
              </a:rPr>
              <a:t>X</a:t>
            </a:r>
            <a:r>
              <a:rPr lang="en-US" altLang="zh-CN" sz="2000" baseline="-25000" dirty="0">
                <a:sym typeface="Wingdings" panose="05000000000000000000" pitchFamily="2" charset="2"/>
              </a:rPr>
              <a:t>k</a:t>
            </a:r>
            <a:r>
              <a:rPr lang="zh-CN" altLang="en-US" sz="2000" dirty="0">
                <a:sym typeface="Wingdings" panose="05000000000000000000" pitchFamily="2" charset="2"/>
              </a:rPr>
              <a:t>中的下一个元素；将</a:t>
            </a:r>
            <a:r>
              <a:rPr lang="en-US" altLang="zh-CN" sz="2000" dirty="0">
                <a:sym typeface="Wingdings" panose="05000000000000000000" pitchFamily="2" charset="2"/>
              </a:rPr>
              <a:t> x</a:t>
            </a:r>
            <a:r>
              <a:rPr lang="en-US" altLang="zh-CN" sz="2000" baseline="-25000" dirty="0">
                <a:sym typeface="Wingdings" panose="05000000000000000000" pitchFamily="2" charset="2"/>
              </a:rPr>
              <a:t>k</a:t>
            </a:r>
            <a:r>
              <a:rPr lang="en-US" altLang="zh-CN" sz="2000" dirty="0">
                <a:sym typeface="Wingdings" panose="05000000000000000000" pitchFamily="2" charset="2"/>
              </a:rPr>
              <a:t> </a:t>
            </a:r>
            <a:r>
              <a:rPr lang="zh-CN" altLang="en-US" sz="2000" dirty="0">
                <a:sym typeface="Wingdings" panose="05000000000000000000" pitchFamily="2" charset="2"/>
              </a:rPr>
              <a:t>加入</a:t>
            </a:r>
            <a:r>
              <a:rPr lang="en-US" altLang="zh-CN" sz="2000" dirty="0">
                <a:sym typeface="Wingdings" panose="05000000000000000000" pitchFamily="2" charset="2"/>
              </a:rPr>
              <a:t> v</a:t>
            </a:r>
          </a:p>
          <a:p>
            <a:pPr lvl="1" eaLnBrk="1" hangingPunct="1">
              <a:lnSpc>
                <a:spcPct val="80000"/>
              </a:lnSpc>
              <a:buNone/>
            </a:pPr>
            <a:r>
              <a:rPr lang="en-US" altLang="zh-CN" sz="2000" dirty="0">
                <a:sym typeface="Wingdings" panose="05000000000000000000" pitchFamily="2" charset="2"/>
              </a:rPr>
              <a:t>	7.		</a:t>
            </a:r>
            <a:r>
              <a:rPr lang="en-US" altLang="zh-CN" sz="2000" b="1" dirty="0">
                <a:sym typeface="Wingdings" panose="05000000000000000000" pitchFamily="2" charset="2"/>
              </a:rPr>
              <a:t>if</a:t>
            </a:r>
            <a:r>
              <a:rPr lang="en-US" altLang="zh-CN" sz="2000" dirty="0">
                <a:sym typeface="Wingdings" panose="05000000000000000000" pitchFamily="2" charset="2"/>
              </a:rPr>
              <a:t> v </a:t>
            </a:r>
            <a:r>
              <a:rPr lang="zh-CN" altLang="en-US" sz="2000" dirty="0">
                <a:sym typeface="Wingdings" panose="05000000000000000000" pitchFamily="2" charset="2"/>
              </a:rPr>
              <a:t>为最终解</a:t>
            </a:r>
            <a:r>
              <a:rPr lang="en-US" altLang="zh-CN" sz="2000" b="1" dirty="0">
                <a:sym typeface="Wingdings" panose="05000000000000000000" pitchFamily="2" charset="2"/>
              </a:rPr>
              <a:t>then</a:t>
            </a:r>
            <a:r>
              <a:rPr lang="en-US" altLang="zh-CN" sz="2000" dirty="0">
                <a:sym typeface="Wingdings" panose="05000000000000000000" pitchFamily="2" charset="2"/>
              </a:rPr>
              <a:t> set flag</a:t>
            </a:r>
            <a:r>
              <a:rPr lang="en-US" altLang="zh-CN" sz="2000" b="1" dirty="0">
                <a:sym typeface="Wingdings" panose="05000000000000000000" pitchFamily="2" charset="2"/>
              </a:rPr>
              <a:t>true</a:t>
            </a:r>
          </a:p>
          <a:p>
            <a:pPr lvl="1" eaLnBrk="1" hangingPunct="1">
              <a:lnSpc>
                <a:spcPct val="80000"/>
              </a:lnSpc>
              <a:buNone/>
            </a:pPr>
            <a:r>
              <a:rPr lang="en-US" altLang="zh-CN" sz="2000" dirty="0">
                <a:sym typeface="Wingdings" panose="05000000000000000000" pitchFamily="2" charset="2"/>
              </a:rPr>
              <a:t>		    			</a:t>
            </a:r>
            <a:r>
              <a:rPr lang="zh-CN" altLang="en-US" sz="2000" dirty="0">
                <a:sym typeface="Wingdings" panose="05000000000000000000" pitchFamily="2" charset="2"/>
              </a:rPr>
              <a:t>且两个</a:t>
            </a:r>
            <a:r>
              <a:rPr lang="en-US" altLang="zh-CN" sz="2000" dirty="0">
                <a:sym typeface="Wingdings" panose="05000000000000000000" pitchFamily="2" charset="2"/>
              </a:rPr>
              <a:t>while</a:t>
            </a:r>
            <a:r>
              <a:rPr lang="zh-CN" altLang="en-US" sz="2000" dirty="0">
                <a:sym typeface="Wingdings" panose="05000000000000000000" pitchFamily="2" charset="2"/>
              </a:rPr>
              <a:t>循环退出</a:t>
            </a:r>
            <a:endParaRPr lang="en-US" altLang="zh-CN" sz="2000" dirty="0">
              <a:sym typeface="Wingdings" panose="05000000000000000000" pitchFamily="2" charset="2"/>
            </a:endParaRPr>
          </a:p>
          <a:p>
            <a:pPr lvl="1" eaLnBrk="1" hangingPunct="1">
              <a:lnSpc>
                <a:spcPct val="80000"/>
              </a:lnSpc>
              <a:buNone/>
            </a:pPr>
            <a:r>
              <a:rPr lang="en-US" altLang="zh-CN" sz="2000" dirty="0">
                <a:sym typeface="Wingdings" panose="05000000000000000000" pitchFamily="2" charset="2"/>
              </a:rPr>
              <a:t>	8	    		</a:t>
            </a:r>
            <a:r>
              <a:rPr lang="en-US" altLang="zh-CN" sz="2000" b="1" dirty="0">
                <a:sym typeface="Wingdings" panose="05000000000000000000" pitchFamily="2" charset="2"/>
              </a:rPr>
              <a:t>else  if</a:t>
            </a:r>
            <a:r>
              <a:rPr lang="en-US" altLang="zh-CN" sz="2000" dirty="0">
                <a:sym typeface="Wingdings" panose="05000000000000000000" pitchFamily="2" charset="2"/>
              </a:rPr>
              <a:t> v </a:t>
            </a:r>
            <a:r>
              <a:rPr lang="zh-CN" altLang="en-US" sz="2000" dirty="0">
                <a:sym typeface="Wingdings" panose="05000000000000000000" pitchFamily="2" charset="2"/>
              </a:rPr>
              <a:t>是部分解 </a:t>
            </a:r>
            <a:r>
              <a:rPr lang="en-US" altLang="zh-CN" sz="2000" b="1" dirty="0">
                <a:sym typeface="Wingdings" panose="05000000000000000000" pitchFamily="2" charset="2"/>
              </a:rPr>
              <a:t>then </a:t>
            </a:r>
            <a:r>
              <a:rPr lang="en-US" altLang="zh-CN" sz="2000" dirty="0">
                <a:sym typeface="Wingdings" panose="05000000000000000000" pitchFamily="2" charset="2"/>
              </a:rPr>
              <a:t>kk+1 {</a:t>
            </a:r>
            <a:r>
              <a:rPr lang="zh-CN" altLang="en-US" sz="2000" dirty="0">
                <a:sym typeface="Wingdings" panose="05000000000000000000" pitchFamily="2" charset="2"/>
              </a:rPr>
              <a:t>前进</a:t>
            </a:r>
            <a:r>
              <a:rPr lang="en-US" altLang="zh-CN" sz="2000" dirty="0">
                <a:sym typeface="Wingdings" panose="05000000000000000000" pitchFamily="2" charset="2"/>
              </a:rPr>
              <a:t>}</a:t>
            </a:r>
          </a:p>
          <a:p>
            <a:pPr lvl="1" eaLnBrk="1" hangingPunct="1">
              <a:lnSpc>
                <a:spcPct val="80000"/>
              </a:lnSpc>
              <a:buNone/>
            </a:pPr>
            <a:r>
              <a:rPr lang="en-US" altLang="zh-CN" sz="2000" dirty="0">
                <a:sym typeface="Wingdings" panose="05000000000000000000" pitchFamily="2" charset="2"/>
              </a:rPr>
              <a:t>	9.	</a:t>
            </a:r>
            <a:r>
              <a:rPr lang="en-US" altLang="zh-CN" sz="2000" b="1" dirty="0">
                <a:sym typeface="Wingdings" panose="05000000000000000000" pitchFamily="2" charset="2"/>
              </a:rPr>
              <a:t>end while</a:t>
            </a:r>
          </a:p>
          <a:p>
            <a:pPr lvl="1" eaLnBrk="1" hangingPunct="1">
              <a:lnSpc>
                <a:spcPct val="80000"/>
              </a:lnSpc>
              <a:buNone/>
            </a:pPr>
            <a:r>
              <a:rPr lang="en-US" altLang="zh-CN" sz="2000" dirty="0">
                <a:sym typeface="Wingdings" panose="05000000000000000000" pitchFamily="2" charset="2"/>
              </a:rPr>
              <a:t>   10.	</a:t>
            </a:r>
            <a:r>
              <a:rPr lang="zh-CN" altLang="en-US" sz="2000" dirty="0">
                <a:sym typeface="Wingdings" panose="05000000000000000000" pitchFamily="2" charset="2"/>
              </a:rPr>
              <a:t>重置</a:t>
            </a:r>
            <a:r>
              <a:rPr lang="en-US" altLang="zh-CN" sz="2000" dirty="0">
                <a:sym typeface="Wingdings" panose="05000000000000000000" pitchFamily="2" charset="2"/>
              </a:rPr>
              <a:t>X</a:t>
            </a:r>
            <a:r>
              <a:rPr lang="en-US" altLang="zh-CN" sz="2000" baseline="-25000" dirty="0">
                <a:sym typeface="Wingdings" panose="05000000000000000000" pitchFamily="2" charset="2"/>
              </a:rPr>
              <a:t>k</a:t>
            </a:r>
            <a:r>
              <a:rPr lang="zh-CN" altLang="en-US" sz="2000" baseline="-25000" dirty="0">
                <a:sym typeface="Wingdings" panose="05000000000000000000" pitchFamily="2" charset="2"/>
              </a:rPr>
              <a:t>，</a:t>
            </a:r>
            <a:r>
              <a:rPr lang="zh-CN" altLang="en-US" sz="2000" dirty="0">
                <a:sym typeface="Wingdings" panose="05000000000000000000" pitchFamily="2" charset="2"/>
              </a:rPr>
              <a:t>使得下一个元素排在第一位</a:t>
            </a:r>
            <a:endParaRPr lang="en-US" altLang="zh-CN" sz="2000" dirty="0">
              <a:sym typeface="Wingdings" panose="05000000000000000000" pitchFamily="2" charset="2"/>
            </a:endParaRPr>
          </a:p>
          <a:p>
            <a:pPr lvl="1" eaLnBrk="1" hangingPunct="1">
              <a:lnSpc>
                <a:spcPct val="80000"/>
              </a:lnSpc>
              <a:buNone/>
            </a:pPr>
            <a:r>
              <a:rPr lang="en-US" altLang="zh-CN" sz="2000" dirty="0">
                <a:sym typeface="Wingdings" panose="05000000000000000000" pitchFamily="2" charset="2"/>
              </a:rPr>
              <a:t>	11.	kk-1</a:t>
            </a:r>
          </a:p>
          <a:p>
            <a:pPr lvl="1" eaLnBrk="1" hangingPunct="1">
              <a:lnSpc>
                <a:spcPct val="80000"/>
              </a:lnSpc>
              <a:buNone/>
            </a:pPr>
            <a:r>
              <a:rPr lang="en-US" altLang="zh-CN" sz="2000" dirty="0">
                <a:sym typeface="Wingdings" panose="05000000000000000000" pitchFamily="2" charset="2"/>
              </a:rPr>
              <a:t>	12. </a:t>
            </a:r>
            <a:r>
              <a:rPr lang="en-US" altLang="zh-CN" sz="2000" b="1" dirty="0">
                <a:sym typeface="Wingdings" panose="05000000000000000000" pitchFamily="2" charset="2"/>
              </a:rPr>
              <a:t>end while</a:t>
            </a:r>
          </a:p>
          <a:p>
            <a:pPr lvl="1" eaLnBrk="1" hangingPunct="1">
              <a:lnSpc>
                <a:spcPct val="80000"/>
              </a:lnSpc>
              <a:buNone/>
            </a:pPr>
            <a:r>
              <a:rPr lang="en-US" altLang="zh-CN" sz="2000" dirty="0">
                <a:sym typeface="Wingdings" panose="05000000000000000000" pitchFamily="2" charset="2"/>
              </a:rPr>
              <a:t>	13. </a:t>
            </a:r>
            <a:r>
              <a:rPr lang="en-US" altLang="zh-CN" sz="2000" b="1" dirty="0">
                <a:sym typeface="Wingdings" panose="05000000000000000000" pitchFamily="2" charset="2"/>
              </a:rPr>
              <a:t>if</a:t>
            </a:r>
            <a:r>
              <a:rPr lang="en-US" altLang="zh-CN" sz="2000" dirty="0">
                <a:sym typeface="Wingdings" panose="05000000000000000000" pitchFamily="2" charset="2"/>
              </a:rPr>
              <a:t> flag </a:t>
            </a:r>
            <a:r>
              <a:rPr lang="en-US" altLang="zh-CN" sz="2000" b="1" dirty="0">
                <a:sym typeface="Wingdings" panose="05000000000000000000" pitchFamily="2" charset="2"/>
              </a:rPr>
              <a:t>then output</a:t>
            </a:r>
            <a:r>
              <a:rPr lang="en-US" altLang="zh-CN" sz="2000" dirty="0">
                <a:sym typeface="Wingdings" panose="05000000000000000000" pitchFamily="2" charset="2"/>
              </a:rPr>
              <a:t> v</a:t>
            </a:r>
          </a:p>
          <a:p>
            <a:pPr lvl="1" eaLnBrk="1" hangingPunct="1">
              <a:lnSpc>
                <a:spcPct val="80000"/>
              </a:lnSpc>
              <a:buNone/>
            </a:pPr>
            <a:r>
              <a:rPr lang="en-US" altLang="zh-CN" sz="2000" dirty="0">
                <a:sym typeface="Wingdings" panose="05000000000000000000" pitchFamily="2" charset="2"/>
              </a:rPr>
              <a:t>	14. </a:t>
            </a:r>
            <a:r>
              <a:rPr lang="en-US" altLang="zh-CN" sz="2000" b="1" dirty="0">
                <a:sym typeface="Wingdings" panose="05000000000000000000" pitchFamily="2" charset="2"/>
              </a:rPr>
              <a:t>else output</a:t>
            </a:r>
            <a:r>
              <a:rPr lang="en-US" altLang="zh-CN" sz="2000" dirty="0">
                <a:sym typeface="Wingdings" panose="05000000000000000000" pitchFamily="2" charset="2"/>
              </a:rPr>
              <a:t> “no solution”	</a:t>
            </a:r>
            <a:endParaRPr lang="en-US" altLang="zh-CN" sz="2000" dirty="0">
              <a:sym typeface="Symbol" pitchFamily="18" charset="2"/>
            </a:endParaRPr>
          </a:p>
          <a:p>
            <a:pPr lvl="1" eaLnBrk="1" hangingPunct="1">
              <a:lnSpc>
                <a:spcPct val="80000"/>
              </a:lnSpc>
              <a:buNone/>
            </a:pPr>
            <a:endParaRPr lang="en-US" altLang="zh-CN" sz="1600" dirty="0">
              <a:sym typeface="Symbol" pitchFamily="18" charset="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75778" name="Rectangle 3"/>
          <p:cNvSpPr>
            <a:spLocks noGrp="1"/>
          </p:cNvSpPr>
          <p:nvPr>
            <p:ph idx="1"/>
          </p:nvPr>
        </p:nvSpPr>
        <p:spPr>
          <a:xfrm>
            <a:off x="611188" y="404813"/>
            <a:ext cx="8229600" cy="5761037"/>
          </a:xfrm>
          <a:solidFill>
            <a:schemeClr val="bg1"/>
          </a:solidFill>
          <a:ln>
            <a:solidFill>
              <a:schemeClr val="tx1"/>
            </a:solidFill>
            <a:miter/>
          </a:ln>
        </p:spPr>
        <p:txBody>
          <a:bodyPr vert="horz" wrap="square" lIns="91440" tIns="45720" rIns="91440" bIns="45720" anchor="t" anchorCtr="0"/>
          <a:lstStyle/>
          <a:p>
            <a:pPr eaLnBrk="1" hangingPunct="1">
              <a:lnSpc>
                <a:spcPct val="90000"/>
              </a:lnSpc>
              <a:buNone/>
            </a:pPr>
            <a:r>
              <a:rPr lang="zh-CN" altLang="en-US" sz="2800" b="1" dirty="0"/>
              <a:t>算法</a:t>
            </a:r>
            <a:r>
              <a:rPr lang="en-US" altLang="zh-CN" sz="2800" b="1" dirty="0"/>
              <a:t>8.4 BACKTRACKREC</a:t>
            </a:r>
          </a:p>
          <a:p>
            <a:pPr lvl="1" eaLnBrk="1" hangingPunct="1">
              <a:lnSpc>
                <a:spcPct val="90000"/>
              </a:lnSpc>
              <a:buNone/>
            </a:pPr>
            <a:endParaRPr lang="en-US" altLang="zh-CN" sz="1600" b="1" dirty="0"/>
          </a:p>
          <a:p>
            <a:pPr lvl="1" eaLnBrk="1" hangingPunct="1">
              <a:lnSpc>
                <a:spcPct val="90000"/>
              </a:lnSpc>
              <a:buNone/>
            </a:pPr>
            <a:r>
              <a:rPr lang="zh-CN" altLang="en-US" sz="2000" dirty="0"/>
              <a:t>输入</a:t>
            </a:r>
            <a:r>
              <a:rPr lang="en-US" altLang="zh-CN" sz="2000" dirty="0"/>
              <a:t>:</a:t>
            </a:r>
            <a:r>
              <a:rPr lang="zh-CN" altLang="en-US" sz="2000" dirty="0"/>
              <a:t>集合</a:t>
            </a:r>
            <a:r>
              <a:rPr lang="en-US" altLang="zh-CN" sz="2000" dirty="0"/>
              <a:t>X</a:t>
            </a:r>
            <a:r>
              <a:rPr lang="en-US" altLang="zh-CN" sz="2000" baseline="-25000" dirty="0"/>
              <a:t>1</a:t>
            </a:r>
            <a:r>
              <a:rPr lang="en-US" altLang="zh-CN" sz="2000" dirty="0"/>
              <a:t>,X</a:t>
            </a:r>
            <a:r>
              <a:rPr lang="en-US" altLang="zh-CN" sz="2000" baseline="-25000" dirty="0"/>
              <a:t>2</a:t>
            </a:r>
            <a:r>
              <a:rPr lang="en-US" altLang="zh-CN" sz="2000" dirty="0"/>
              <a:t>,…,X</a:t>
            </a:r>
            <a:r>
              <a:rPr lang="en-US" altLang="zh-CN" sz="2000" baseline="-25000" dirty="0"/>
              <a:t>n.</a:t>
            </a:r>
            <a:r>
              <a:rPr lang="zh-CN" altLang="en-US" sz="2000" dirty="0"/>
              <a:t>的清楚的或隐含的描述。</a:t>
            </a:r>
          </a:p>
          <a:p>
            <a:pPr lvl="1" eaLnBrk="1" hangingPunct="1">
              <a:lnSpc>
                <a:spcPct val="90000"/>
              </a:lnSpc>
              <a:buNone/>
            </a:pPr>
            <a:r>
              <a:rPr lang="zh-CN" altLang="en-US" sz="2000" dirty="0"/>
              <a:t>输出</a:t>
            </a:r>
            <a:r>
              <a:rPr lang="en-US" altLang="zh-CN" sz="2000" dirty="0"/>
              <a:t>:</a:t>
            </a:r>
            <a:r>
              <a:rPr lang="zh-CN" altLang="en-US" sz="2000" dirty="0"/>
              <a:t>解向量</a:t>
            </a:r>
            <a:r>
              <a:rPr lang="en-US" altLang="zh-CN" sz="2000" dirty="0"/>
              <a:t>v=(x</a:t>
            </a:r>
            <a:r>
              <a:rPr lang="en-US" altLang="zh-CN" sz="2000" baseline="-25000" dirty="0"/>
              <a:t>1</a:t>
            </a:r>
            <a:r>
              <a:rPr lang="en-US" altLang="zh-CN" sz="2000" dirty="0"/>
              <a:t>,x</a:t>
            </a:r>
            <a:r>
              <a:rPr lang="en-US" altLang="zh-CN" sz="2000" baseline="-25000" dirty="0"/>
              <a:t>2</a:t>
            </a:r>
            <a:r>
              <a:rPr lang="en-US" altLang="zh-CN" sz="2000" dirty="0"/>
              <a:t>,…,x</a:t>
            </a:r>
            <a:r>
              <a:rPr lang="en-US" altLang="zh-CN" sz="2000" baseline="-25000" dirty="0"/>
              <a:t>i</a:t>
            </a:r>
            <a:r>
              <a:rPr lang="en-US" altLang="zh-CN" sz="2000" dirty="0"/>
              <a:t>), 0 </a:t>
            </a:r>
            <a:r>
              <a:rPr lang="en-US" altLang="zh-CN" sz="2000" dirty="0">
                <a:sym typeface="Symbol" pitchFamily="18" charset="2"/>
              </a:rPr>
              <a:t>i n.</a:t>
            </a:r>
          </a:p>
          <a:p>
            <a:pPr lvl="1" eaLnBrk="1" hangingPunct="1">
              <a:lnSpc>
                <a:spcPct val="90000"/>
              </a:lnSpc>
              <a:buNone/>
            </a:pPr>
            <a:r>
              <a:rPr lang="en-US" altLang="zh-CN" sz="2000" dirty="0">
                <a:sym typeface="Symbol" pitchFamily="18" charset="2"/>
              </a:rPr>
              <a:t>	1.</a:t>
            </a:r>
            <a:r>
              <a:rPr lang="en-US" altLang="zh-CN" sz="2000" i="1" dirty="0">
                <a:sym typeface="Symbol" pitchFamily="18" charset="2"/>
              </a:rPr>
              <a:t>v</a:t>
            </a:r>
            <a:r>
              <a:rPr lang="en-US" altLang="zh-CN" sz="2000" i="1" dirty="0">
                <a:sym typeface="Wingdings" panose="05000000000000000000" pitchFamily="2" charset="2"/>
              </a:rPr>
              <a:t>()</a:t>
            </a:r>
          </a:p>
          <a:p>
            <a:pPr lvl="1" eaLnBrk="1" hangingPunct="1">
              <a:lnSpc>
                <a:spcPct val="90000"/>
              </a:lnSpc>
              <a:buNone/>
            </a:pPr>
            <a:r>
              <a:rPr lang="en-US" altLang="zh-CN" sz="2000" dirty="0">
                <a:sym typeface="Wingdings" panose="05000000000000000000" pitchFamily="2" charset="2"/>
              </a:rPr>
              <a:t>	2.flagfalse</a:t>
            </a:r>
          </a:p>
          <a:p>
            <a:pPr lvl="1" eaLnBrk="1" hangingPunct="1">
              <a:lnSpc>
                <a:spcPct val="90000"/>
              </a:lnSpc>
              <a:buNone/>
            </a:pPr>
            <a:r>
              <a:rPr lang="en-US" altLang="zh-CN" sz="2000" dirty="0">
                <a:sym typeface="Wingdings" panose="05000000000000000000" pitchFamily="2" charset="2"/>
              </a:rPr>
              <a:t>	3.</a:t>
            </a:r>
            <a:r>
              <a:rPr lang="en-US" altLang="zh-CN" sz="2000" i="1" dirty="0">
                <a:sym typeface="Wingdings" panose="05000000000000000000" pitchFamily="2" charset="2"/>
              </a:rPr>
              <a:t>advance(1)</a:t>
            </a:r>
          </a:p>
          <a:p>
            <a:pPr lvl="1" eaLnBrk="1" hangingPunct="1">
              <a:lnSpc>
                <a:spcPct val="90000"/>
              </a:lnSpc>
              <a:buNone/>
            </a:pPr>
            <a:r>
              <a:rPr lang="en-US" altLang="zh-CN" sz="2000" dirty="0">
                <a:sym typeface="Wingdings" panose="05000000000000000000" pitchFamily="2" charset="2"/>
              </a:rPr>
              <a:t>	4.</a:t>
            </a:r>
            <a:r>
              <a:rPr lang="en-US" altLang="zh-CN" sz="2000" b="1" dirty="0">
                <a:sym typeface="Wingdings" panose="05000000000000000000" pitchFamily="2" charset="2"/>
              </a:rPr>
              <a:t>if</a:t>
            </a:r>
            <a:r>
              <a:rPr lang="en-US" altLang="zh-CN" sz="2000" dirty="0">
                <a:sym typeface="Wingdings" panose="05000000000000000000" pitchFamily="2" charset="2"/>
              </a:rPr>
              <a:t> flag </a:t>
            </a:r>
            <a:r>
              <a:rPr lang="en-US" altLang="zh-CN" sz="2000" b="1" dirty="0">
                <a:sym typeface="Wingdings" panose="05000000000000000000" pitchFamily="2" charset="2"/>
              </a:rPr>
              <a:t>then output</a:t>
            </a:r>
            <a:r>
              <a:rPr lang="en-US" altLang="zh-CN" sz="2000" dirty="0">
                <a:sym typeface="Wingdings" panose="05000000000000000000" pitchFamily="2" charset="2"/>
              </a:rPr>
              <a:t> v</a:t>
            </a:r>
          </a:p>
          <a:p>
            <a:pPr lvl="1" eaLnBrk="1" hangingPunct="1">
              <a:lnSpc>
                <a:spcPct val="90000"/>
              </a:lnSpc>
              <a:buNone/>
            </a:pPr>
            <a:r>
              <a:rPr lang="en-US" altLang="zh-CN" sz="2000" dirty="0">
                <a:sym typeface="Wingdings" panose="05000000000000000000" pitchFamily="2" charset="2"/>
              </a:rPr>
              <a:t>	5.</a:t>
            </a:r>
            <a:r>
              <a:rPr lang="en-US" altLang="zh-CN" sz="2000" b="1" dirty="0">
                <a:sym typeface="Wingdings" panose="05000000000000000000" pitchFamily="2" charset="2"/>
              </a:rPr>
              <a:t>else output</a:t>
            </a:r>
            <a:r>
              <a:rPr lang="en-US" altLang="zh-CN" sz="2000" dirty="0">
                <a:sym typeface="Wingdings" panose="05000000000000000000" pitchFamily="2" charset="2"/>
              </a:rPr>
              <a:t> “no solution”</a:t>
            </a:r>
          </a:p>
          <a:p>
            <a:pPr lvl="1" eaLnBrk="1" hangingPunct="1">
              <a:lnSpc>
                <a:spcPct val="90000"/>
              </a:lnSpc>
              <a:buNone/>
            </a:pPr>
            <a:endParaRPr lang="en-US" altLang="zh-CN" sz="2000" dirty="0">
              <a:sym typeface="Wingdings" panose="05000000000000000000" pitchFamily="2" charset="2"/>
            </a:endParaRPr>
          </a:p>
          <a:p>
            <a:pPr lvl="1" eaLnBrk="1" hangingPunct="1">
              <a:lnSpc>
                <a:spcPct val="90000"/>
              </a:lnSpc>
              <a:buNone/>
            </a:pPr>
            <a:r>
              <a:rPr lang="zh-CN" altLang="en-US" sz="2000" dirty="0">
                <a:sym typeface="Wingdings" panose="05000000000000000000" pitchFamily="2" charset="2"/>
              </a:rPr>
              <a:t>过程 </a:t>
            </a:r>
            <a:r>
              <a:rPr lang="en-US" altLang="zh-CN" sz="2000" i="1" dirty="0">
                <a:sym typeface="Wingdings" panose="05000000000000000000" pitchFamily="2" charset="2"/>
              </a:rPr>
              <a:t>advance(k)</a:t>
            </a:r>
          </a:p>
          <a:p>
            <a:pPr lvl="1" eaLnBrk="1" hangingPunct="1">
              <a:lnSpc>
                <a:spcPct val="90000"/>
              </a:lnSpc>
              <a:buNone/>
            </a:pPr>
            <a:r>
              <a:rPr lang="en-US" altLang="zh-CN" sz="2000" dirty="0">
                <a:sym typeface="Wingdings" panose="05000000000000000000" pitchFamily="2" charset="2"/>
              </a:rPr>
              <a:t>	1.</a:t>
            </a:r>
            <a:r>
              <a:rPr lang="en-US" altLang="zh-CN" sz="2000" b="1" dirty="0">
                <a:sym typeface="Wingdings" panose="05000000000000000000" pitchFamily="2" charset="2"/>
              </a:rPr>
              <a:t>for</a:t>
            </a:r>
            <a:r>
              <a:rPr lang="en-US" altLang="zh-CN" sz="2000" dirty="0">
                <a:sym typeface="Wingdings" panose="05000000000000000000" pitchFamily="2" charset="2"/>
              </a:rPr>
              <a:t> each x </a:t>
            </a:r>
            <a:r>
              <a:rPr lang="en-US" altLang="zh-CN" sz="2000" dirty="0">
                <a:sym typeface="Symbol" pitchFamily="18" charset="2"/>
              </a:rPr>
              <a:t>∈X</a:t>
            </a:r>
            <a:r>
              <a:rPr lang="en-US" altLang="zh-CN" sz="2000" baseline="-25000" dirty="0">
                <a:sym typeface="Symbol" pitchFamily="18" charset="2"/>
              </a:rPr>
              <a:t>k</a:t>
            </a:r>
          </a:p>
          <a:p>
            <a:pPr lvl="1" eaLnBrk="1" hangingPunct="1">
              <a:lnSpc>
                <a:spcPct val="90000"/>
              </a:lnSpc>
              <a:buNone/>
            </a:pPr>
            <a:r>
              <a:rPr lang="en-US" altLang="zh-CN" sz="2000" dirty="0">
                <a:sym typeface="Symbol" pitchFamily="18" charset="2"/>
              </a:rPr>
              <a:t>	2.	x</a:t>
            </a:r>
            <a:r>
              <a:rPr lang="en-US" altLang="zh-CN" sz="2000" baseline="-25000" dirty="0">
                <a:sym typeface="Symbol" pitchFamily="18" charset="2"/>
              </a:rPr>
              <a:t>k</a:t>
            </a:r>
            <a:r>
              <a:rPr lang="en-US" altLang="zh-CN" sz="2000" dirty="0">
                <a:sym typeface="Wingdings" panose="05000000000000000000" pitchFamily="2" charset="2"/>
              </a:rPr>
              <a:t>x; </a:t>
            </a:r>
            <a:r>
              <a:rPr lang="zh-CN" altLang="en-US" sz="2000" dirty="0">
                <a:sym typeface="Wingdings" panose="05000000000000000000" pitchFamily="2" charset="2"/>
              </a:rPr>
              <a:t>将</a:t>
            </a:r>
            <a:r>
              <a:rPr lang="en-US" altLang="zh-CN" sz="2000" dirty="0">
                <a:sym typeface="Wingdings" panose="05000000000000000000" pitchFamily="2" charset="2"/>
              </a:rPr>
              <a:t> x</a:t>
            </a:r>
            <a:r>
              <a:rPr lang="en-US" altLang="zh-CN" sz="2000" baseline="-25000" dirty="0">
                <a:sym typeface="Wingdings" panose="05000000000000000000" pitchFamily="2" charset="2"/>
              </a:rPr>
              <a:t>k</a:t>
            </a:r>
            <a:r>
              <a:rPr lang="en-US" altLang="zh-CN" sz="2000" dirty="0">
                <a:sym typeface="Wingdings" panose="05000000000000000000" pitchFamily="2" charset="2"/>
              </a:rPr>
              <a:t> </a:t>
            </a:r>
            <a:r>
              <a:rPr lang="zh-CN" altLang="en-US" sz="2000" dirty="0">
                <a:sym typeface="Wingdings" panose="05000000000000000000" pitchFamily="2" charset="2"/>
              </a:rPr>
              <a:t>加入</a:t>
            </a:r>
            <a:r>
              <a:rPr lang="en-US" altLang="zh-CN" sz="2000" dirty="0">
                <a:sym typeface="Wingdings" panose="05000000000000000000" pitchFamily="2" charset="2"/>
              </a:rPr>
              <a:t> v</a:t>
            </a:r>
          </a:p>
          <a:p>
            <a:pPr lvl="1" eaLnBrk="1" hangingPunct="1">
              <a:lnSpc>
                <a:spcPct val="90000"/>
              </a:lnSpc>
              <a:buNone/>
            </a:pPr>
            <a:r>
              <a:rPr lang="en-US" altLang="zh-CN" sz="2000" dirty="0">
                <a:sym typeface="Wingdings" panose="05000000000000000000" pitchFamily="2" charset="2"/>
              </a:rPr>
              <a:t>	3.	</a:t>
            </a:r>
            <a:r>
              <a:rPr lang="en-US" altLang="zh-CN" sz="2000" b="1" dirty="0">
                <a:sym typeface="Wingdings" panose="05000000000000000000" pitchFamily="2" charset="2"/>
              </a:rPr>
              <a:t>if</a:t>
            </a:r>
            <a:r>
              <a:rPr lang="en-US" altLang="zh-CN" sz="2000" dirty="0">
                <a:sym typeface="Wingdings" panose="05000000000000000000" pitchFamily="2" charset="2"/>
              </a:rPr>
              <a:t> v</a:t>
            </a:r>
            <a:r>
              <a:rPr lang="zh-CN" altLang="en-US" sz="2000" dirty="0">
                <a:sym typeface="Wingdings" panose="05000000000000000000" pitchFamily="2" charset="2"/>
              </a:rPr>
              <a:t>为最终解</a:t>
            </a:r>
            <a:r>
              <a:rPr lang="en-US" altLang="zh-CN" sz="2000" b="1" dirty="0">
                <a:sym typeface="Wingdings" panose="05000000000000000000" pitchFamily="2" charset="2"/>
              </a:rPr>
              <a:t>then</a:t>
            </a:r>
            <a:r>
              <a:rPr lang="en-US" altLang="zh-CN" sz="2000" dirty="0">
                <a:sym typeface="Wingdings" panose="05000000000000000000" pitchFamily="2" charset="2"/>
              </a:rPr>
              <a:t> set flagtrue and </a:t>
            </a:r>
            <a:r>
              <a:rPr lang="en-US" altLang="zh-CN" sz="2000" b="1" dirty="0">
                <a:sym typeface="Wingdings" panose="05000000000000000000" pitchFamily="2" charset="2"/>
              </a:rPr>
              <a:t>exit</a:t>
            </a:r>
          </a:p>
          <a:p>
            <a:pPr lvl="1" eaLnBrk="1" hangingPunct="1">
              <a:lnSpc>
                <a:spcPct val="90000"/>
              </a:lnSpc>
              <a:buNone/>
            </a:pPr>
            <a:r>
              <a:rPr lang="en-US" altLang="zh-CN" sz="2000" dirty="0">
                <a:sym typeface="Wingdings" panose="05000000000000000000" pitchFamily="2" charset="2"/>
              </a:rPr>
              <a:t>	4.	</a:t>
            </a:r>
            <a:r>
              <a:rPr lang="en-US" altLang="zh-CN" sz="2000" b="1" dirty="0">
                <a:sym typeface="Wingdings" panose="05000000000000000000" pitchFamily="2" charset="2"/>
              </a:rPr>
              <a:t>else if</a:t>
            </a:r>
            <a:r>
              <a:rPr lang="en-US" altLang="zh-CN" sz="2000" dirty="0">
                <a:sym typeface="Wingdings" panose="05000000000000000000" pitchFamily="2" charset="2"/>
              </a:rPr>
              <a:t> v</a:t>
            </a:r>
            <a:r>
              <a:rPr lang="zh-CN" altLang="en-US" sz="2000" dirty="0">
                <a:sym typeface="Wingdings" panose="05000000000000000000" pitchFamily="2" charset="2"/>
              </a:rPr>
              <a:t>是部分解</a:t>
            </a:r>
            <a:r>
              <a:rPr lang="en-US" altLang="zh-CN" sz="2000" b="1" dirty="0">
                <a:sym typeface="Wingdings" panose="05000000000000000000" pitchFamily="2" charset="2"/>
              </a:rPr>
              <a:t>then</a:t>
            </a:r>
            <a:r>
              <a:rPr lang="en-US" altLang="zh-CN" sz="2000" dirty="0">
                <a:sym typeface="Wingdings" panose="05000000000000000000" pitchFamily="2" charset="2"/>
              </a:rPr>
              <a:t> </a:t>
            </a:r>
            <a:r>
              <a:rPr lang="en-US" altLang="zh-CN" sz="2000" i="1" dirty="0">
                <a:sym typeface="Wingdings" panose="05000000000000000000" pitchFamily="2" charset="2"/>
              </a:rPr>
              <a:t>advance(k+1)</a:t>
            </a:r>
          </a:p>
          <a:p>
            <a:pPr lvl="1" eaLnBrk="1" hangingPunct="1">
              <a:lnSpc>
                <a:spcPct val="90000"/>
              </a:lnSpc>
              <a:buNone/>
            </a:pPr>
            <a:r>
              <a:rPr lang="en-US" altLang="zh-CN" sz="2000" dirty="0">
                <a:sym typeface="Symbol" pitchFamily="18" charset="2"/>
              </a:rPr>
              <a:t>	5. </a:t>
            </a:r>
            <a:r>
              <a:rPr lang="en-US" altLang="zh-CN" sz="2000" b="1" dirty="0">
                <a:sym typeface="Symbol" pitchFamily="18" charset="2"/>
              </a:rPr>
              <a:t>end for</a:t>
            </a:r>
            <a:endParaRPr lang="en-US" altLang="zh-CN" sz="2000" dirty="0">
              <a:sym typeface="Wingdings" panose="05000000000000000000" pitchFamily="2" charset="2"/>
            </a:endParaRPr>
          </a:p>
          <a:p>
            <a:pPr lvl="1" eaLnBrk="1" hangingPunct="1">
              <a:lnSpc>
                <a:spcPct val="90000"/>
              </a:lnSpc>
              <a:buNone/>
            </a:pPr>
            <a:r>
              <a:rPr lang="en-US" altLang="zh-CN" sz="1600" dirty="0">
                <a:sym typeface="Wingdings" panose="05000000000000000000" pitchFamily="2" charset="2"/>
              </a:rPr>
              <a:t>                                                     </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65538" name="Rectangle 2"/>
          <p:cNvSpPr>
            <a:spLocks noGrp="1"/>
          </p:cNvSpPr>
          <p:nvPr>
            <p:ph type="title"/>
          </p:nvPr>
        </p:nvSpPr>
        <p:spPr>
          <a:xfrm>
            <a:off x="989013" y="269875"/>
            <a:ext cx="7643812" cy="871538"/>
          </a:xfrm>
        </p:spPr>
        <p:txBody>
          <a:bodyPr vert="horz" wrap="square" lIns="91440" tIns="45720" rIns="91440" bIns="45720" anchor="ctr" anchorCtr="0"/>
          <a:lstStyle/>
          <a:p>
            <a:pPr eaLnBrk="1" hangingPunct="1"/>
            <a:r>
              <a:rPr lang="en-US" altLang="zh-CN" dirty="0"/>
              <a:t>8.2.4 </a:t>
            </a:r>
            <a:r>
              <a:rPr lang="zh-CN" altLang="en-US" dirty="0"/>
              <a:t>回溯法的本质——约束穷举</a:t>
            </a:r>
          </a:p>
        </p:txBody>
      </p:sp>
      <p:sp>
        <p:nvSpPr>
          <p:cNvPr id="11268" name="Rectangle 3"/>
          <p:cNvSpPr>
            <a:spLocks noGrp="1" noChangeArrowheads="1"/>
          </p:cNvSpPr>
          <p:nvPr>
            <p:ph idx="1"/>
          </p:nvPr>
        </p:nvSpPr>
        <p:spPr>
          <a:xfrm>
            <a:off x="468313" y="1268413"/>
            <a:ext cx="8686800" cy="46085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问题的</a:t>
            </a:r>
            <a:r>
              <a:rPr kumimoji="0" lang="zh-CN" altLang="en-US" sz="2000" b="0" i="0" u="none" strike="noStrike" kern="0" cap="none" spc="0" normalizeH="0" baseline="0" noProof="0" dirty="0">
                <a:ln>
                  <a:noFill/>
                </a:ln>
                <a:solidFill>
                  <a:srgbClr val="FF0000"/>
                </a:solidFill>
                <a:effectLst/>
                <a:uLnTx/>
                <a:uFillTx/>
                <a:latin typeface="+mn-lt"/>
                <a:ea typeface="+mn-ea"/>
                <a:cs typeface="+mn-cs"/>
              </a:rPr>
              <a:t>求解方法</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a:t>
            </a: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假定集合</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S</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i</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的大小为</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i</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，于是就有</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 m</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2</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m</a:t>
            </a:r>
            <a:r>
              <a:rPr kumimoji="0" lang="en-US" altLang="zh-CN" sz="2000" b="0" i="0" u="none" strike="noStrike" kern="0" cap="none" spc="0" normalizeH="0" baseline="-25000" noProof="0" dirty="0" err="1">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元组可能满足函数</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问题的</a:t>
            </a:r>
            <a:r>
              <a:rPr kumimoji="0" lang="zh-CN" altLang="en-US" sz="2000" b="0" i="0" u="none" strike="noStrike" kern="0" cap="none" spc="0" normalizeH="0" baseline="0" noProof="0" dirty="0">
                <a:ln>
                  <a:noFill/>
                </a:ln>
                <a:solidFill>
                  <a:srgbClr val="FF0000"/>
                </a:solidFill>
                <a:effectLst/>
                <a:uLnTx/>
                <a:uFillTx/>
                <a:latin typeface="+mn-lt"/>
                <a:ea typeface="+mn-ea"/>
                <a:cs typeface="+mn-ea"/>
              </a:rPr>
              <a:t>硬性处理</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求解方法：</a:t>
            </a: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    构造出</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元组并逐一测试它们是否满足</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，从而找出该问题的所有最优解。</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问题的</a:t>
            </a:r>
            <a:r>
              <a:rPr kumimoji="0" lang="zh-CN" altLang="en-US" sz="2000" b="0" i="0" u="none" strike="noStrike" kern="0" cap="none" spc="0" normalizeH="0" baseline="0" noProof="0" dirty="0">
                <a:ln>
                  <a:noFill/>
                </a:ln>
                <a:solidFill>
                  <a:srgbClr val="FF0000"/>
                </a:solidFill>
                <a:effectLst/>
                <a:uLnTx/>
                <a:uFillTx/>
                <a:latin typeface="+mn-lt"/>
                <a:ea typeface="+mn-ea"/>
                <a:cs typeface="+mn-ea"/>
              </a:rPr>
              <a:t>回溯处理</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求解方法：</a:t>
            </a: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000" b="0" i="0" u="none" strike="noStrike" kern="0" cap="none" spc="0" normalizeH="0" baseline="0" noProof="0" dirty="0">
                <a:ln>
                  <a:noFill/>
                </a:ln>
                <a:solidFill>
                  <a:srgbClr val="FF0000"/>
                </a:solidFill>
                <a:effectLst/>
                <a:uLnTx/>
                <a:uFillTx/>
                <a:latin typeface="+mn-lt"/>
                <a:ea typeface="+mn-ea"/>
                <a:cs typeface="+mn-ea"/>
              </a:rPr>
              <a:t>不断地用修改过的规范函数</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P</a:t>
            </a:r>
            <a:r>
              <a:rPr kumimoji="0" lang="en-US" altLang="zh-CN" sz="2000" b="0" i="0" u="none" strike="noStrike" kern="0" cap="none" spc="0" normalizeH="0" baseline="-25000" noProof="0" dirty="0">
                <a:ln>
                  <a:noFill/>
                </a:ln>
                <a:solidFill>
                  <a:srgbClr val="FF0000"/>
                </a:solidFill>
                <a:effectLst/>
                <a:uLnTx/>
                <a:uFillTx/>
                <a:latin typeface="+mn-lt"/>
                <a:ea typeface="+mn-ea"/>
                <a:cs typeface="+mn-ea"/>
              </a:rPr>
              <a:t>i</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(x</a:t>
            </a:r>
            <a:r>
              <a:rPr kumimoji="0" lang="en-US" altLang="zh-CN" sz="2000" b="0" i="0" u="none" strike="noStrike" kern="0" cap="none" spc="0" normalizeH="0" baseline="-25000" noProof="0" dirty="0">
                <a:ln>
                  <a:noFill/>
                </a:ln>
                <a:solidFill>
                  <a:srgbClr val="FF0000"/>
                </a:solidFill>
                <a:effectLst/>
                <a:uLnTx/>
                <a:uFillTx/>
                <a:latin typeface="+mn-lt"/>
                <a:ea typeface="+mn-ea"/>
                <a:cs typeface="+mn-ea"/>
              </a:rPr>
              <a:t>1</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,x</a:t>
            </a:r>
            <a:r>
              <a:rPr kumimoji="0" lang="en-US" altLang="zh-CN" sz="2000" b="0" i="0" u="none" strike="noStrike" kern="0" cap="none" spc="0" normalizeH="0" baseline="-25000" noProof="0" dirty="0">
                <a:ln>
                  <a:noFill/>
                </a:ln>
                <a:solidFill>
                  <a:srgbClr val="FF0000"/>
                </a:solidFill>
                <a:effectLst/>
                <a:uLnTx/>
                <a:uFillTx/>
                <a:latin typeface="+mn-lt"/>
                <a:ea typeface="+mn-ea"/>
                <a:cs typeface="+mn-ea"/>
              </a:rPr>
              <a:t>2</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r>
              <a:rPr kumimoji="0" lang="en-US" altLang="zh-CN" sz="2000" b="0" i="0" u="none" strike="noStrike" kern="0" cap="none" spc="0" normalizeH="0" baseline="0" noProof="0" dirty="0" err="1">
                <a:ln>
                  <a:noFill/>
                </a:ln>
                <a:solidFill>
                  <a:srgbClr val="FF0000"/>
                </a:solidFill>
                <a:effectLst/>
                <a:uLnTx/>
                <a:uFillTx/>
                <a:latin typeface="+mn-lt"/>
                <a:ea typeface="+mn-ea"/>
                <a:cs typeface="+mn-ea"/>
              </a:rPr>
              <a:t>x</a:t>
            </a:r>
            <a:r>
              <a:rPr kumimoji="0" lang="en-US" altLang="zh-CN" sz="2000" b="0" i="0" u="none" strike="noStrike" kern="0" cap="none" spc="0" normalizeH="0" baseline="-25000" noProof="0" dirty="0" err="1">
                <a:ln>
                  <a:noFill/>
                </a:ln>
                <a:solidFill>
                  <a:srgbClr val="FF0000"/>
                </a:solidFill>
                <a:effectLst/>
                <a:uLnTx/>
                <a:uFillTx/>
                <a:latin typeface="+mn-lt"/>
                <a:ea typeface="+mn-ea"/>
                <a:cs typeface="+mn-ea"/>
              </a:rPr>
              <a:t>n</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r>
              <a:rPr kumimoji="0" lang="zh-CN" altLang="en-US" sz="2000" b="0" i="0" u="none" strike="noStrike" kern="0" cap="none" spc="0" normalizeH="0" baseline="0" noProof="0" dirty="0">
                <a:ln>
                  <a:noFill/>
                </a:ln>
                <a:solidFill>
                  <a:srgbClr val="FF0000"/>
                </a:solidFill>
                <a:effectLst/>
                <a:uLnTx/>
                <a:uFillTx/>
                <a:latin typeface="+mn-lt"/>
                <a:ea typeface="+mn-ea"/>
                <a:cs typeface="+mn-ea"/>
              </a:rPr>
              <a:t>（有时称为限界函数）去测试正在构造中的</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n-</a:t>
            </a:r>
            <a:r>
              <a:rPr kumimoji="0" lang="zh-CN" altLang="en-US" sz="2000" b="0" i="0" u="none" strike="noStrike" kern="0" cap="none" spc="0" normalizeH="0" baseline="0" noProof="0" dirty="0">
                <a:ln>
                  <a:noFill/>
                </a:ln>
                <a:solidFill>
                  <a:srgbClr val="FF0000"/>
                </a:solidFill>
                <a:effectLst/>
                <a:uLnTx/>
                <a:uFillTx/>
                <a:latin typeface="+mn-lt"/>
                <a:ea typeface="+mn-ea"/>
                <a:cs typeface="+mn-ea"/>
              </a:rPr>
              <a:t>元组的部分向量</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(x</a:t>
            </a:r>
            <a:r>
              <a:rPr kumimoji="0" lang="en-US" altLang="zh-CN" sz="2000" b="0" i="0" u="none" strike="noStrike" kern="0" cap="none" spc="0" normalizeH="0" baseline="-25000" noProof="0" dirty="0">
                <a:ln>
                  <a:noFill/>
                </a:ln>
                <a:solidFill>
                  <a:srgbClr val="FF0000"/>
                </a:solidFill>
                <a:effectLst/>
                <a:uLnTx/>
                <a:uFillTx/>
                <a:latin typeface="+mn-lt"/>
                <a:ea typeface="+mn-ea"/>
                <a:cs typeface="+mn-ea"/>
              </a:rPr>
              <a:t>1</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,x</a:t>
            </a:r>
            <a:r>
              <a:rPr kumimoji="0" lang="en-US" altLang="zh-CN" sz="2000" b="0" i="0" u="none" strike="noStrike" kern="0" cap="none" spc="0" normalizeH="0" baseline="-25000" noProof="0" dirty="0">
                <a:ln>
                  <a:noFill/>
                </a:ln>
                <a:solidFill>
                  <a:srgbClr val="FF0000"/>
                </a:solidFill>
                <a:effectLst/>
                <a:uLnTx/>
                <a:uFillTx/>
                <a:latin typeface="+mn-lt"/>
                <a:ea typeface="+mn-ea"/>
                <a:cs typeface="+mn-ea"/>
              </a:rPr>
              <a:t>2</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,…,x</a:t>
            </a:r>
            <a:r>
              <a:rPr kumimoji="0" lang="en-US" altLang="zh-CN" sz="2000" b="0" i="0" u="none" strike="noStrike" kern="0" cap="none" spc="0" normalizeH="0" baseline="-25000" noProof="0" dirty="0">
                <a:ln>
                  <a:noFill/>
                </a:ln>
                <a:solidFill>
                  <a:srgbClr val="FF0000"/>
                </a:solidFill>
                <a:effectLst/>
                <a:uLnTx/>
                <a:uFillTx/>
                <a:latin typeface="+mn-lt"/>
                <a:ea typeface="+mn-ea"/>
                <a:cs typeface="+mn-ea"/>
              </a:rPr>
              <a:t>i</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r>
              <a:rPr kumimoji="0" lang="zh-CN" altLang="en-US" sz="2000" b="0" i="0" u="none" strike="noStrike" kern="0" cap="none" spc="0" normalizeH="0" baseline="0" noProof="0" dirty="0">
                <a:ln>
                  <a:noFill/>
                </a:ln>
                <a:solidFill>
                  <a:srgbClr val="FF0000"/>
                </a:solidFill>
                <a:effectLst/>
                <a:uLnTx/>
                <a:uFillTx/>
                <a:latin typeface="+mn-lt"/>
                <a:ea typeface="+mn-ea"/>
                <a:cs typeface="+mn-ea"/>
              </a:rPr>
              <a:t>看其是否可能导致（最优）解。</a:t>
            </a:r>
            <a:endParaRPr kumimoji="0" lang="en-US" altLang="zh-CN" sz="2000" b="0" i="0" u="none" strike="noStrike" kern="0" cap="none" spc="0" normalizeH="0" baseline="0" noProof="0" dirty="0">
              <a:ln>
                <a:noFill/>
              </a:ln>
              <a:solidFill>
                <a:srgbClr val="FF0000"/>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如果判定</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2</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i</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不可能导致（最优）解，那么就将可能要测试的</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i+1</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a:t>
            </a:r>
            <a:r>
              <a:rPr kumimoji="0" lang="en-US" altLang="zh-CN" sz="2000" b="0" i="0" u="none" strike="noStrike" kern="0" cap="none" spc="0" normalizeH="0" baseline="-25000" noProof="0" dirty="0">
                <a:ln>
                  <a:noFill/>
                </a:ln>
                <a:solidFill>
                  <a:schemeClr val="accent2"/>
                </a:solidFill>
                <a:effectLst/>
                <a:uLnTx/>
                <a:uFillTx/>
                <a:latin typeface="+mn-lt"/>
                <a:ea typeface="+mn-ea"/>
                <a:cs typeface="+mn-ea"/>
              </a:rPr>
              <a:t>i+2</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m</a:t>
            </a:r>
            <a:r>
              <a:rPr kumimoji="0" lang="en-US" altLang="zh-CN" sz="2000" b="0" i="0" u="none" strike="noStrike" kern="0" cap="none" spc="0" normalizeH="0" baseline="-25000" noProof="0" dirty="0" err="1">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个向量一概略去。</a:t>
            </a: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回溯法比硬性处理作的测试（</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次）要少得多。</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p:cNvSpPr>
          <p:nvPr>
            <p:ph type="title"/>
          </p:nvPr>
        </p:nvSpPr>
        <p:spPr/>
        <p:txBody>
          <a:bodyPr vert="horz" wrap="square" lIns="91440" tIns="45720" rIns="91440" bIns="45720" anchor="ctr" anchorCtr="0"/>
          <a:lstStyle/>
          <a:p>
            <a:r>
              <a:rPr lang="en-US" altLang="zh-CN" dirty="0">
                <a:sym typeface="+mn-ea"/>
              </a:rPr>
              <a:t>8.2.4 </a:t>
            </a:r>
            <a:r>
              <a:rPr lang="zh-CN" altLang="en-US" dirty="0">
                <a:sym typeface="+mn-ea"/>
              </a:rPr>
              <a:t>回溯法穷举——</a:t>
            </a:r>
            <a:r>
              <a:rPr lang="zh-CN" altLang="en-US" dirty="0"/>
              <a:t>深度优先策略</a:t>
            </a:r>
          </a:p>
        </p:txBody>
      </p:sp>
      <p:sp>
        <p:nvSpPr>
          <p:cNvPr id="69634" name="内容占位符 2"/>
          <p:cNvSpPr>
            <a:spLocks noGrp="1"/>
          </p:cNvSpPr>
          <p:nvPr>
            <p:ph idx="1"/>
          </p:nvPr>
        </p:nvSpPr>
        <p:spPr/>
        <p:txBody>
          <a:bodyPr vert="horz" wrap="square" lIns="91440" tIns="45720" rIns="91440" bIns="45720" anchor="t" anchorCtr="0"/>
          <a:lstStyle/>
          <a:p>
            <a:r>
              <a:rPr lang="en-US" altLang="zh-CN" sz="2000" dirty="0"/>
              <a:t>1</a:t>
            </a:r>
            <a:r>
              <a:rPr lang="zh-CN" altLang="en-US" sz="2000" dirty="0"/>
              <a:t>、确定了解空间的组织结构后，回溯法就从开始顶点（解空间树的根顶点）出发，以深度优先的方式搜索整个解空间。</a:t>
            </a:r>
            <a:endParaRPr lang="en-US" altLang="zh-CN" sz="2000" dirty="0"/>
          </a:p>
          <a:p>
            <a:endParaRPr lang="en-US" altLang="zh-CN" sz="2000" dirty="0"/>
          </a:p>
          <a:p>
            <a:r>
              <a:rPr lang="en-US" altLang="zh-CN" sz="2000" dirty="0"/>
              <a:t>2</a:t>
            </a:r>
            <a:r>
              <a:rPr lang="zh-CN" altLang="en-US" sz="2000" dirty="0"/>
              <a:t>、这个</a:t>
            </a:r>
            <a:r>
              <a:rPr lang="zh-CN" altLang="en-US" sz="2000" dirty="0">
                <a:solidFill>
                  <a:srgbClr val="FF0000"/>
                </a:solidFill>
              </a:rPr>
              <a:t>开始顶点</a:t>
            </a:r>
            <a:r>
              <a:rPr lang="zh-CN" altLang="en-US" sz="2000" dirty="0"/>
              <a:t>就成为一个活顶点，同时也成为当前的扩展顶点。在当前的扩展顶点处，搜索向纵深方向移至一个</a:t>
            </a:r>
            <a:r>
              <a:rPr lang="zh-CN" altLang="en-US" sz="2000" dirty="0">
                <a:solidFill>
                  <a:srgbClr val="FF0000"/>
                </a:solidFill>
              </a:rPr>
              <a:t>新顶点</a:t>
            </a:r>
            <a:r>
              <a:rPr lang="zh-CN" altLang="en-US" sz="2000" dirty="0"/>
              <a:t>。这个新顶点就成为一个新的活顶点，并且成为当前的扩展顶点。</a:t>
            </a:r>
            <a:endParaRPr lang="en-US" altLang="zh-CN" sz="2000" dirty="0"/>
          </a:p>
          <a:p>
            <a:endParaRPr lang="en-US" altLang="zh-CN" sz="2000" dirty="0"/>
          </a:p>
          <a:p>
            <a:r>
              <a:rPr lang="en-US" altLang="zh-CN" sz="2000" dirty="0"/>
              <a:t>3</a:t>
            </a:r>
            <a:r>
              <a:rPr lang="zh-CN" altLang="en-US" sz="2000" dirty="0"/>
              <a:t>、如果在当前的扩展顶点处不能再向纵深方向移动，则当前的扩展顶点就成为</a:t>
            </a:r>
            <a:r>
              <a:rPr lang="zh-CN" altLang="en-US" sz="2000" dirty="0">
                <a:solidFill>
                  <a:srgbClr val="FF0000"/>
                </a:solidFill>
              </a:rPr>
              <a:t>死顶点</a:t>
            </a:r>
            <a:r>
              <a:rPr lang="zh-CN" altLang="en-US" sz="2000" dirty="0"/>
              <a:t>。此时应往回移动（</a:t>
            </a:r>
            <a:r>
              <a:rPr lang="zh-CN" altLang="en-US" sz="2000" dirty="0">
                <a:solidFill>
                  <a:srgbClr val="FF0000"/>
                </a:solidFill>
              </a:rPr>
              <a:t>回溯</a:t>
            </a:r>
            <a:r>
              <a:rPr lang="zh-CN" altLang="en-US" sz="2000" dirty="0"/>
              <a:t>）至最近一个活顶点处，并使这个活顶点成为当前扩展顶点。</a:t>
            </a:r>
            <a:endParaRPr lang="en-US" altLang="zh-CN" sz="2000" dirty="0"/>
          </a:p>
          <a:p>
            <a:endParaRPr lang="en-US" altLang="zh-CN" sz="2000" dirty="0"/>
          </a:p>
          <a:p>
            <a:r>
              <a:rPr lang="en-US" altLang="zh-CN" sz="2000" dirty="0"/>
              <a:t>4</a:t>
            </a:r>
            <a:r>
              <a:rPr lang="zh-CN" altLang="en-US" sz="2000" dirty="0"/>
              <a:t>、回溯法即以这种工作方式递归地在解空间中搜索，直至找到要求的解或解空间中已无活结点时为止。</a:t>
            </a:r>
            <a:endParaRPr lang="en-US" altLang="zh-CN" sz="2000" dirty="0"/>
          </a:p>
          <a:p>
            <a:endParaRPr lang="en-US" altLang="zh-CN" sz="2000" dirty="0"/>
          </a:p>
          <a:p>
            <a:endParaRPr lang="zh-CN" altLang="en-US" sz="2400" dirty="0"/>
          </a:p>
        </p:txBody>
      </p:sp>
      <p:sp>
        <p:nvSpPr>
          <p:cNvPr id="69635"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p:cNvSpPr>
          <p:nvPr>
            <p:ph type="title"/>
          </p:nvPr>
        </p:nvSpPr>
        <p:spPr>
          <a:xfrm>
            <a:off x="879475" y="269875"/>
            <a:ext cx="8232140" cy="927100"/>
          </a:xfrm>
        </p:spPr>
        <p:txBody>
          <a:bodyPr vert="horz" wrap="square" lIns="91440" tIns="45720" rIns="91440" bIns="45720" anchor="ctr" anchorCtr="0"/>
          <a:lstStyle/>
          <a:p>
            <a:r>
              <a:rPr lang="en-US" altLang="zh-CN" dirty="0">
                <a:sym typeface="+mn-ea"/>
              </a:rPr>
              <a:t>8.2.4 </a:t>
            </a:r>
            <a:r>
              <a:rPr lang="zh-CN" altLang="en-US" dirty="0">
                <a:sym typeface="+mn-ea"/>
              </a:rPr>
              <a:t>回溯法约束——</a:t>
            </a:r>
            <a:r>
              <a:rPr lang="zh-CN" altLang="en-US" dirty="0"/>
              <a:t>限界函数与</a:t>
            </a:r>
            <a:r>
              <a:rPr lang="zh-CN" altLang="en-US" dirty="0">
                <a:solidFill>
                  <a:srgbClr val="FF0000"/>
                </a:solidFill>
                <a:sym typeface="+mn-ea"/>
              </a:rPr>
              <a:t>剪枝函数</a:t>
            </a:r>
            <a:endParaRPr lang="en-US" altLang="zh-CN" dirty="0"/>
          </a:p>
        </p:txBody>
      </p:sp>
      <p:sp>
        <p:nvSpPr>
          <p:cNvPr id="71682" name="内容占位符 2"/>
          <p:cNvSpPr>
            <a:spLocks noGrp="1"/>
          </p:cNvSpPr>
          <p:nvPr>
            <p:ph idx="1"/>
          </p:nvPr>
        </p:nvSpPr>
        <p:spPr/>
        <p:txBody>
          <a:bodyPr vert="horz" wrap="square" lIns="91440" tIns="45720" rIns="91440" bIns="45720" anchor="t" anchorCtr="0"/>
          <a:lstStyle/>
          <a:p>
            <a:r>
              <a:rPr lang="zh-CN" altLang="en-US" sz="2400" b="1" dirty="0">
                <a:solidFill>
                  <a:srgbClr val="FF0000"/>
                </a:solidFill>
                <a:latin typeface="华文楷体" panose="02010600040101010101" pitchFamily="2" charset="-122"/>
              </a:rPr>
              <a:t>回溯法实际上在搜索的同时逐步生成解空间树（实际只需要一部分）。也就是说，对于实际问题我们不必要搜索整个解空间。</a:t>
            </a:r>
            <a:endParaRPr lang="en-US" altLang="zh-CN" sz="2400" b="1" dirty="0">
              <a:solidFill>
                <a:srgbClr val="FF0000"/>
              </a:solidFill>
              <a:latin typeface="华文楷体" panose="02010600040101010101" pitchFamily="2" charset="-122"/>
            </a:endParaRPr>
          </a:p>
          <a:p>
            <a:endParaRPr lang="en-US" altLang="zh-CN" sz="2400" b="1" dirty="0">
              <a:solidFill>
                <a:srgbClr val="FF0000"/>
              </a:solidFill>
              <a:latin typeface="华文楷体" panose="02010600040101010101" pitchFamily="2" charset="-122"/>
            </a:endParaRPr>
          </a:p>
          <a:p>
            <a:r>
              <a:rPr lang="zh-CN" altLang="en-US" sz="2400" dirty="0"/>
              <a:t>为了使搜索更加有效，我们常常在搜索过程中加一些判断以决定搜索是否该终止或改变路线。通常采用两种策略来避免无效的搜索，提高回溯法的搜索效率。其一是使用</a:t>
            </a:r>
            <a:r>
              <a:rPr lang="zh-CN" altLang="en-US" sz="2400" dirty="0">
                <a:solidFill>
                  <a:srgbClr val="FF0000"/>
                </a:solidFill>
              </a:rPr>
              <a:t>约束函数</a:t>
            </a:r>
            <a:r>
              <a:rPr lang="zh-CN" altLang="en-US" sz="2400" dirty="0"/>
              <a:t>在扩展顶点处剪去不满足约束的子树；其二是用</a:t>
            </a:r>
            <a:r>
              <a:rPr lang="zh-CN" altLang="en-US" sz="2400" dirty="0">
                <a:solidFill>
                  <a:srgbClr val="FF0000"/>
                </a:solidFill>
              </a:rPr>
              <a:t>限界函数</a:t>
            </a:r>
            <a:r>
              <a:rPr lang="zh-CN" altLang="en-US" sz="2400" dirty="0"/>
              <a:t>剪去不能得到最优解的子树。这两种函数统称为</a:t>
            </a:r>
            <a:r>
              <a:rPr lang="zh-CN" altLang="en-US" sz="2400" dirty="0">
                <a:solidFill>
                  <a:srgbClr val="FF0000"/>
                </a:solidFill>
              </a:rPr>
              <a:t>剪枝函数</a:t>
            </a:r>
            <a:r>
              <a:rPr lang="zh-CN" altLang="en-US" sz="2400" dirty="0"/>
              <a:t>。</a:t>
            </a:r>
          </a:p>
          <a:p>
            <a:endParaRPr lang="en-US" altLang="zh-CN" sz="2400" b="1" dirty="0">
              <a:solidFill>
                <a:srgbClr val="FF0000"/>
              </a:solidFill>
              <a:latin typeface="华文楷体" panose="02010600040101010101" pitchFamily="2" charset="-122"/>
            </a:endParaRPr>
          </a:p>
          <a:p>
            <a:endParaRPr lang="zh-CN" altLang="en-US" sz="2400" b="1" dirty="0">
              <a:solidFill>
                <a:srgbClr val="FF0000"/>
              </a:solidFill>
              <a:latin typeface="华文楷体" panose="02010600040101010101" pitchFamily="2" charset="-122"/>
            </a:endParaRPr>
          </a:p>
          <a:p>
            <a:endParaRPr lang="zh-CN" altLang="en-US" sz="2400" dirty="0"/>
          </a:p>
        </p:txBody>
      </p:sp>
      <p:sp>
        <p:nvSpPr>
          <p:cNvPr id="71683"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79874" name="Rectangle 2"/>
          <p:cNvSpPr>
            <a:spLocks noGrp="1"/>
          </p:cNvSpPr>
          <p:nvPr>
            <p:ph type="title"/>
          </p:nvPr>
        </p:nvSpPr>
        <p:spPr/>
        <p:txBody>
          <a:bodyPr vert="horz" wrap="square" lIns="91440" tIns="45720" rIns="91440" bIns="45720" anchor="ctr" anchorCtr="0"/>
          <a:lstStyle/>
          <a:p>
            <a:pPr eaLnBrk="1" hangingPunct="1"/>
            <a:r>
              <a:rPr lang="en-US" b="1" dirty="0"/>
              <a:t>8.3</a:t>
            </a:r>
            <a:r>
              <a:rPr lang="zh-CN" altLang="zh-CN" b="1" dirty="0"/>
              <a:t>. 回溯策略的经典应用（可选讲部分）</a:t>
            </a:r>
            <a:endParaRPr lang="en-US" altLang="zh-CN" b="1" dirty="0"/>
          </a:p>
        </p:txBody>
      </p:sp>
      <p:sp>
        <p:nvSpPr>
          <p:cNvPr id="121859" name="Rectangle 3"/>
          <p:cNvSpPr>
            <a:spLocks noGrp="1" noChangeArrowheads="1"/>
          </p:cNvSpPr>
          <p:nvPr>
            <p:ph idx="1"/>
          </p:nvPr>
        </p:nvSpPr>
        <p:spPr>
          <a:xfrm>
            <a:off x="900430" y="1268730"/>
            <a:ext cx="7971155" cy="4526280"/>
          </a:xfrm>
        </p:spPr>
        <p:txBody>
          <a:bodyPr vert="horz" wrap="square" lIns="91440" tIns="45720" rIns="91440" bIns="45720" numCol="1" anchor="t" anchorCtr="0" compatLnSpc="1"/>
          <a:lstStyle/>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8.3</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a:t>
            </a:r>
            <a:r>
              <a:rPr kumimoji="0" lang="en-US" altLang="zh-CN" sz="2300" b="0" i="0" u="none" strike="noStrike" kern="0" cap="none" spc="0" normalizeH="0" baseline="0" noProof="0" dirty="0">
                <a:ln>
                  <a:noFill/>
                </a:ln>
                <a:solidFill>
                  <a:srgbClr val="FF0000"/>
                </a:solidFill>
                <a:effectLst/>
                <a:uLnTx/>
                <a:uFillTx/>
                <a:latin typeface="+mn-ea"/>
                <a:ea typeface="+mn-ea"/>
                <a:cs typeface="+mn-cs"/>
              </a:rPr>
              <a:t>1</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 子集和问题的算法描述、算法分析、程序实现</a:t>
            </a:r>
          </a:p>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8.3</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a:t>
            </a:r>
            <a:r>
              <a:rPr kumimoji="0" lang="en-US" altLang="zh-CN" sz="2300" b="0" i="0" u="none" strike="noStrike" kern="0" cap="none" spc="0" normalizeH="0" baseline="0" noProof="0" dirty="0">
                <a:ln>
                  <a:noFill/>
                </a:ln>
                <a:solidFill>
                  <a:srgbClr val="FF0000"/>
                </a:solidFill>
                <a:effectLst/>
                <a:uLnTx/>
                <a:uFillTx/>
                <a:latin typeface="+mn-ea"/>
                <a:ea typeface="+mn-ea"/>
                <a:cs typeface="+mn-cs"/>
              </a:rPr>
              <a:t>2</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 哈密顿回路问题的算法描述、算法分析、程序实现</a:t>
            </a:r>
          </a:p>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8.3</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a:t>
            </a:r>
            <a:r>
              <a:rPr kumimoji="0" lang="en-US" altLang="zh-CN" sz="2300" b="0" i="0" u="none" strike="noStrike" kern="0" cap="none" spc="0" normalizeH="0" baseline="0" noProof="0" dirty="0">
                <a:ln>
                  <a:noFill/>
                </a:ln>
                <a:solidFill>
                  <a:srgbClr val="FF0000"/>
                </a:solidFill>
                <a:effectLst/>
                <a:uLnTx/>
                <a:uFillTx/>
                <a:latin typeface="+mn-ea"/>
                <a:ea typeface="+mn-ea"/>
                <a:cs typeface="+mn-cs"/>
              </a:rPr>
              <a:t>3</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 0/1背包问题的算法描述、算法分析、程序实现</a:t>
            </a:r>
          </a:p>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8.3.4 </a:t>
            </a:r>
            <a:r>
              <a:rPr lang="zh-CN" altLang="zh-CN" sz="2300" noProof="0" dirty="0">
                <a:ln>
                  <a:noFill/>
                </a:ln>
                <a:solidFill>
                  <a:srgbClr val="FF0000"/>
                </a:solidFill>
                <a:effectLst/>
                <a:uLnTx/>
                <a:uFillTx/>
                <a:latin typeface="+mn-ea"/>
                <a:sym typeface="+mn-ea"/>
              </a:rPr>
              <a:t>求解流水作业调度问题算法描述、算法分析、程序实现</a:t>
            </a:r>
            <a:endParaRPr kumimoji="0" lang="zh-CN" altLang="zh-CN" sz="2300" b="0" i="0" u="none" strike="noStrike" kern="0" cap="none" spc="0" normalizeH="0" baseline="0" noProof="0" dirty="0">
              <a:ln>
                <a:noFill/>
              </a:ln>
              <a:solidFill>
                <a:srgbClr val="FF0000"/>
              </a:solidFill>
              <a:effectLst/>
              <a:uLnTx/>
              <a:uFillTx/>
              <a:latin typeface="+mn-ea"/>
              <a:ea typeface="+mn-ea"/>
              <a:cs typeface="+mn-cs"/>
            </a:endParaRPr>
          </a:p>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8.3</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a:t>
            </a:r>
            <a:r>
              <a:rPr kumimoji="0" lang="en-US" altLang="zh-CN" sz="2300" b="0" i="0" u="none" strike="noStrike" kern="0" cap="none" spc="0" normalizeH="0" baseline="0" noProof="0" dirty="0">
                <a:ln>
                  <a:noFill/>
                </a:ln>
                <a:solidFill>
                  <a:srgbClr val="FF0000"/>
                </a:solidFill>
                <a:effectLst/>
                <a:uLnTx/>
                <a:uFillTx/>
                <a:latin typeface="+mn-ea"/>
                <a:ea typeface="+mn-ea"/>
                <a:cs typeface="+mn-cs"/>
              </a:rPr>
              <a:t>5</a:t>
            </a:r>
            <a:r>
              <a:rPr kumimoji="0" lang="zh-CN" altLang="zh-CN" sz="2300" b="0" i="0" u="none" strike="noStrike" kern="0" cap="none" spc="0" normalizeH="0" baseline="0" noProof="0" dirty="0">
                <a:ln>
                  <a:noFill/>
                </a:ln>
                <a:solidFill>
                  <a:srgbClr val="FF0000"/>
                </a:solidFill>
                <a:effectLst/>
                <a:uLnTx/>
                <a:uFillTx/>
                <a:latin typeface="+mn-ea"/>
                <a:ea typeface="+mn-ea"/>
                <a:cs typeface="+mn-cs"/>
              </a:rPr>
              <a:t>货郎担问题问题的算法描述、算法分析、程序实现</a:t>
            </a:r>
          </a:p>
          <a:p>
            <a:pPr marL="476250" marR="0" lvl="0" indent="-476250" algn="l" defTabSz="914400" rtl="0" eaLnBrk="1" fontAlgn="base" latinLnBrk="0" hangingPunct="1">
              <a:lnSpc>
                <a:spcPct val="100000"/>
              </a:lnSpc>
              <a:spcBef>
                <a:spcPct val="20000"/>
              </a:spcBef>
              <a:spcAft>
                <a:spcPct val="0"/>
              </a:spcAft>
              <a:buClrTx/>
              <a:buSzTx/>
              <a:buFontTx/>
              <a:buChar char="•"/>
              <a:defRPr/>
            </a:pPr>
            <a:r>
              <a:rPr kumimoji="0" lang="en-US" altLang="zh-CN" sz="2300" b="0" i="0" u="none" strike="noStrike" kern="0" cap="none" spc="0" normalizeH="0" baseline="0" noProof="0" dirty="0">
                <a:ln>
                  <a:noFill/>
                </a:ln>
                <a:solidFill>
                  <a:srgbClr val="FF0000"/>
                </a:solidFill>
                <a:effectLst/>
                <a:uLnTx/>
                <a:uFillTx/>
                <a:latin typeface="+mn-ea"/>
                <a:ea typeface="+mn-ea"/>
                <a:cs typeface="+mn-cs"/>
              </a:rPr>
              <a:t>8.3.6 </a:t>
            </a:r>
            <a:r>
              <a:rPr kumimoji="0" lang="zh-CN" altLang="en-US" sz="2300" b="0" i="0" u="none" strike="noStrike" kern="0" cap="none" spc="0" normalizeH="0" baseline="0" noProof="0" dirty="0">
                <a:ln>
                  <a:noFill/>
                </a:ln>
                <a:solidFill>
                  <a:srgbClr val="FF0000"/>
                </a:solidFill>
                <a:effectLst/>
                <a:uLnTx/>
                <a:uFillTx/>
                <a:latin typeface="+mn-ea"/>
                <a:ea typeface="+mn-ea"/>
                <a:cs typeface="+mn-cs"/>
              </a:rPr>
              <a:t>限界函数与剪枝函数实践</a:t>
            </a:r>
            <a:endParaRPr kumimoji="0" lang="zh-CN" altLang="zh-CN" sz="2300" b="0" i="0" u="none" strike="noStrike" kern="0" cap="none" spc="0" normalizeH="0" baseline="0" noProof="0" dirty="0">
              <a:ln>
                <a:noFill/>
              </a:ln>
              <a:solidFill>
                <a:srgbClr val="FF0000"/>
              </a:solidFill>
              <a:effectLst/>
              <a:uLnTx/>
              <a:uFillTx/>
              <a:latin typeface="+mn-ea"/>
              <a:ea typeface="+mn-ea"/>
              <a:cs typeface="+mn-cs"/>
            </a:endParaRPr>
          </a:p>
          <a:p>
            <a:pPr marL="476250" marR="0" lvl="0" indent="-476250" algn="l" defTabSz="914400" rtl="0" eaLnBrk="1" fontAlgn="base" latinLnBrk="0" hangingPunct="1">
              <a:lnSpc>
                <a:spcPct val="100000"/>
              </a:lnSpc>
              <a:spcBef>
                <a:spcPct val="20000"/>
              </a:spcBef>
              <a:spcAft>
                <a:spcPct val="0"/>
              </a:spcAft>
              <a:buClrTx/>
              <a:buSzTx/>
              <a:buFontTx/>
              <a:buChar char="•"/>
              <a:defRPr/>
            </a:pPr>
            <a:endParaRPr kumimoji="0" lang="en-US" altLang="zh-CN" sz="2300" b="0" i="0" u="none" strike="noStrike" kern="0" cap="none" spc="0" normalizeH="0" baseline="0" noProof="0" dirty="0">
              <a:ln>
                <a:noFill/>
              </a:ln>
              <a:solidFill>
                <a:srgbClr val="FF0000"/>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p:cTn id="7" dur="500" fill="hold"/>
                                        <p:tgtEl>
                                          <p:spTgt spid="121859">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121859">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animClr clrSpc="rgb" dir="cw">
                                      <p:cBhvr override="childStyle">
                                        <p:cTn dur="1" fill="hold" display="0" masterRel="nextClick" afterEffect="1"/>
                                        <p:tgtEl>
                                          <p:spTgt spid="121859">
                                            <p:txEl>
                                              <p:pRg st="0" end="0"/>
                                            </p:txEl>
                                          </p:spTgt>
                                        </p:tgtEl>
                                        <p:attrNameLst>
                                          <p:attrName>ppt_c</p:attrName>
                                        </p:attrNameLst>
                                      </p:cBhvr>
                                      <p:to>
                                        <a:srgbClr val="EA0000"/>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21859">
                                            <p:txEl>
                                              <p:pRg st="1" end="1"/>
                                            </p:txEl>
                                          </p:spTgt>
                                        </p:tgtEl>
                                        <p:attrNameLst>
                                          <p:attrName>style.visibility</p:attrName>
                                        </p:attrNameLst>
                                      </p:cBhvr>
                                      <p:to>
                                        <p:strVal val="visible"/>
                                      </p:to>
                                    </p:set>
                                    <p:anim calcmode="lin" valueType="num">
                                      <p:cBhvr>
                                        <p:cTn id="13" dur="500" fill="hold"/>
                                        <p:tgtEl>
                                          <p:spTgt spid="121859">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121859">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1" end="1"/>
                                            </p:txEl>
                                          </p:spTgt>
                                        </p:tgtEl>
                                        <p:attrNameLst>
                                          <p:attrName>ppt_c</p:attrName>
                                        </p:attrNameLst>
                                      </p:cBhvr>
                                      <p:to>
                                        <a:srgbClr val="EA0000"/>
                                      </p:to>
                                    </p:animClr>
                                    <p:audio>
                                      <p:cMediaNode>
                                        <p:cTn display="0" masterRel="sameClick">
                                          <p:stCondLst>
                                            <p:cond evt="begin" delay="0">
                                              <p:tn val="11"/>
                                            </p:cond>
                                          </p:stCondLst>
                                          <p:endCondLst>
                                            <p:cond evt="onStopAudio" delay="0">
                                              <p:tgtEl>
                                                <p:sldTgt/>
                                              </p:tgtEl>
                                            </p:cond>
                                          </p:endCondLst>
                                        </p:cTn>
                                        <p:tgtEl>
                                          <p:sndTgt r:embed="rId3" name="type.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21859">
                                            <p:txEl>
                                              <p:pRg st="2" end="2"/>
                                            </p:txEl>
                                          </p:spTgt>
                                        </p:tgtEl>
                                        <p:attrNameLst>
                                          <p:attrName>style.visibility</p:attrName>
                                        </p:attrNameLst>
                                      </p:cBhvr>
                                      <p:to>
                                        <p:strVal val="visible"/>
                                      </p:to>
                                    </p:set>
                                    <p:anim calcmode="lin" valueType="num">
                                      <p:cBhvr>
                                        <p:cTn id="19" dur="500" fill="hold"/>
                                        <p:tgtEl>
                                          <p:spTgt spid="121859">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121859">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2" end="2"/>
                                            </p:txEl>
                                          </p:spTgt>
                                        </p:tgtEl>
                                        <p:attrNameLst>
                                          <p:attrName>ppt_c</p:attrName>
                                        </p:attrNameLst>
                                      </p:cBhvr>
                                      <p:to>
                                        <a:srgbClr val="EA0000"/>
                                      </p:to>
                                    </p:animClr>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121859">
                                            <p:txEl>
                                              <p:pRg st="3" end="3"/>
                                            </p:txEl>
                                          </p:spTgt>
                                        </p:tgtEl>
                                        <p:attrNameLst>
                                          <p:attrName>style.visibility</p:attrName>
                                        </p:attrNameLst>
                                      </p:cBhvr>
                                      <p:to>
                                        <p:strVal val="visible"/>
                                      </p:to>
                                    </p:set>
                                    <p:anim calcmode="lin" valueType="num">
                                      <p:cBhvr>
                                        <p:cTn id="25" dur="500" fill="hold"/>
                                        <p:tgtEl>
                                          <p:spTgt spid="121859">
                                            <p:txEl>
                                              <p:pRg st="3" end="3"/>
                                            </p:txEl>
                                          </p:spTgt>
                                        </p:tgtEl>
                                        <p:attrNameLst>
                                          <p:attrName>ppt_x</p:attrName>
                                        </p:attrNameLst>
                                      </p:cBhvr>
                                      <p:tavLst>
                                        <p:tav tm="0">
                                          <p:val>
                                            <p:strVal val="#ppt_x"/>
                                          </p:val>
                                        </p:tav>
                                        <p:tav tm="100000">
                                          <p:val>
                                            <p:strVal val="#ppt_x"/>
                                          </p:val>
                                        </p:tav>
                                      </p:tavLst>
                                    </p:anim>
                                    <p:anim calcmode="lin" valueType="num">
                                      <p:cBhvr>
                                        <p:cTn id="26" dur="500" fill="hold"/>
                                        <p:tgtEl>
                                          <p:spTgt spid="121859">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3" end="3"/>
                                            </p:txEl>
                                          </p:spTgt>
                                        </p:tgtEl>
                                        <p:attrNameLst>
                                          <p:attrName>ppt_c</p:attrName>
                                        </p:attrNameLst>
                                      </p:cBhvr>
                                      <p:to>
                                        <a:srgbClr val="EA0000"/>
                                      </p:to>
                                    </p:animClr>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121859">
                                            <p:txEl>
                                              <p:pRg st="4" end="4"/>
                                            </p:txEl>
                                          </p:spTgt>
                                        </p:tgtEl>
                                        <p:attrNameLst>
                                          <p:attrName>style.visibility</p:attrName>
                                        </p:attrNameLst>
                                      </p:cBhvr>
                                      <p:to>
                                        <p:strVal val="visible"/>
                                      </p:to>
                                    </p:set>
                                    <p:anim calcmode="lin" valueType="num">
                                      <p:cBhvr>
                                        <p:cTn id="31" dur="500" fill="hold"/>
                                        <p:tgtEl>
                                          <p:spTgt spid="121859">
                                            <p:txEl>
                                              <p:pRg st="4" end="4"/>
                                            </p:txEl>
                                          </p:spTgt>
                                        </p:tgtEl>
                                        <p:attrNameLst>
                                          <p:attrName>ppt_x</p:attrName>
                                        </p:attrNameLst>
                                      </p:cBhvr>
                                      <p:tavLst>
                                        <p:tav tm="0">
                                          <p:val>
                                            <p:strVal val="#ppt_x"/>
                                          </p:val>
                                        </p:tav>
                                        <p:tav tm="100000">
                                          <p:val>
                                            <p:strVal val="#ppt_x"/>
                                          </p:val>
                                        </p:tav>
                                      </p:tavLst>
                                    </p:anim>
                                    <p:anim calcmode="lin" valueType="num">
                                      <p:cBhvr>
                                        <p:cTn id="32" dur="500" fill="hold"/>
                                        <p:tgtEl>
                                          <p:spTgt spid="121859">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4" end="4"/>
                                            </p:txEl>
                                          </p:spTgt>
                                        </p:tgtEl>
                                        <p:attrNameLst>
                                          <p:attrName>ppt_c</p:attrName>
                                        </p:attrNameLst>
                                      </p:cBhvr>
                                      <p:to>
                                        <a:srgbClr val="EA0000"/>
                                      </p:to>
                                    </p:animClr>
                                    <p:audio>
                                      <p:cMediaNode>
                                        <p:cTn display="0" masterRel="sameClick">
                                          <p:stCondLst>
                                            <p:cond evt="begin" delay="0">
                                              <p:tn val="29"/>
                                            </p:cond>
                                          </p:stCondLst>
                                          <p:endCondLst>
                                            <p:cond evt="onStopAudio" delay="0">
                                              <p:tgtEl>
                                                <p:sldTgt/>
                                              </p:tgtEl>
                                            </p:cond>
                                          </p:endCondLst>
                                        </p:cTn>
                                        <p:tgtEl>
                                          <p:sndTgt r:embed="rId3" name="type.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121859">
                                            <p:txEl>
                                              <p:pRg st="5" end="5"/>
                                            </p:txEl>
                                          </p:spTgt>
                                        </p:tgtEl>
                                        <p:attrNameLst>
                                          <p:attrName>style.visibility</p:attrName>
                                        </p:attrNameLst>
                                      </p:cBhvr>
                                      <p:to>
                                        <p:strVal val="visible"/>
                                      </p:to>
                                    </p:set>
                                    <p:anim calcmode="lin" valueType="num">
                                      <p:cBhvr>
                                        <p:cTn id="37" dur="500" fill="hold"/>
                                        <p:tgtEl>
                                          <p:spTgt spid="121859">
                                            <p:txEl>
                                              <p:pRg st="5" end="5"/>
                                            </p:txEl>
                                          </p:spTgt>
                                        </p:tgtEl>
                                        <p:attrNameLst>
                                          <p:attrName>ppt_x</p:attrName>
                                        </p:attrNameLst>
                                      </p:cBhvr>
                                      <p:tavLst>
                                        <p:tav tm="0">
                                          <p:val>
                                            <p:strVal val="#ppt_x"/>
                                          </p:val>
                                        </p:tav>
                                        <p:tav tm="100000">
                                          <p:val>
                                            <p:strVal val="#ppt_x"/>
                                          </p:val>
                                        </p:tav>
                                      </p:tavLst>
                                    </p:anim>
                                    <p:anim calcmode="lin" valueType="num">
                                      <p:cBhvr>
                                        <p:cTn id="38" dur="500" fill="hold"/>
                                        <p:tgtEl>
                                          <p:spTgt spid="121859">
                                            <p:txEl>
                                              <p:pRg st="5" end="5"/>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1859">
                                            <p:txEl>
                                              <p:pRg st="5" end="5"/>
                                            </p:txEl>
                                          </p:spTgt>
                                        </p:tgtEl>
                                        <p:attrNameLst>
                                          <p:attrName>ppt_c</p:attrName>
                                        </p:attrNameLst>
                                      </p:cBhvr>
                                      <p:to>
                                        <a:srgbClr val="EA0000"/>
                                      </p:to>
                                    </p:animClr>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82946" name="Rectangle 2"/>
          <p:cNvSpPr>
            <a:spLocks noGrp="1"/>
          </p:cNvSpPr>
          <p:nvPr>
            <p:ph type="title"/>
          </p:nvPr>
        </p:nvSpPr>
        <p:spPr/>
        <p:txBody>
          <a:bodyPr vert="horz" wrap="square" lIns="91440" tIns="45720" rIns="91440" bIns="45720" anchor="ctr" anchorCtr="0"/>
          <a:lstStyle/>
          <a:p>
            <a:pPr eaLnBrk="1" hangingPunct="1"/>
            <a:r>
              <a:rPr lang="en-US" altLang="zh-CN" dirty="0"/>
              <a:t>8.3.1</a:t>
            </a:r>
            <a:r>
              <a:rPr lang="zh-CN" altLang="en-US" dirty="0"/>
              <a:t>子集和数问题</a:t>
            </a:r>
          </a:p>
        </p:txBody>
      </p:sp>
      <p:sp>
        <p:nvSpPr>
          <p:cNvPr id="82947" name="Rectangle 3"/>
          <p:cNvSpPr>
            <a:spLocks noGrp="1"/>
          </p:cNvSpPr>
          <p:nvPr>
            <p:ph type="body" sz="half" idx="1"/>
          </p:nvPr>
        </p:nvSpPr>
        <p:spPr>
          <a:xfrm>
            <a:off x="900113" y="1268413"/>
            <a:ext cx="8064500" cy="4525962"/>
          </a:xfrm>
        </p:spPr>
        <p:txBody>
          <a:bodyPr vert="horz" wrap="square" lIns="91440" tIns="45720" rIns="91440" bIns="45720" anchor="t" anchorCtr="0"/>
          <a:lstStyle/>
          <a:p>
            <a:pPr eaLnBrk="1" hangingPunct="1">
              <a:buClrTx/>
              <a:buSzTx/>
              <a:buFontTx/>
            </a:pPr>
            <a:r>
              <a:rPr lang="zh-CN" altLang="en-US" sz="2400" dirty="0"/>
              <a:t>已知</a:t>
            </a:r>
            <a:r>
              <a:rPr lang="en-US" altLang="zh-CN" sz="2400" dirty="0"/>
              <a:t>n+1</a:t>
            </a:r>
            <a:r>
              <a:rPr lang="zh-CN" altLang="en-US" sz="2400" dirty="0"/>
              <a:t>个正数：</a:t>
            </a:r>
            <a:r>
              <a:rPr lang="en-US" altLang="zh-CN" sz="2400" dirty="0"/>
              <a:t>w</a:t>
            </a:r>
            <a:r>
              <a:rPr lang="en-US" altLang="zh-CN" sz="2400" baseline="-25000" dirty="0"/>
              <a:t>i</a:t>
            </a:r>
            <a:r>
              <a:rPr lang="en-US" altLang="zh-CN" sz="2400" dirty="0"/>
              <a:t>,(1</a:t>
            </a:r>
            <a:r>
              <a:rPr lang="en-US" altLang="zh-CN" sz="2400" dirty="0">
                <a:sym typeface="Symbol" pitchFamily="18" charset="2"/>
              </a:rPr>
              <a:t></a:t>
            </a:r>
            <a:r>
              <a:rPr lang="en-US" altLang="zh-CN" sz="2400" dirty="0"/>
              <a:t>i </a:t>
            </a:r>
            <a:r>
              <a:rPr lang="en-US" altLang="zh-CN" sz="2400" dirty="0">
                <a:sym typeface="Symbol" pitchFamily="18" charset="2"/>
              </a:rPr>
              <a:t></a:t>
            </a:r>
            <a:r>
              <a:rPr lang="en-US" altLang="zh-CN" sz="2400" dirty="0"/>
              <a:t> n), </a:t>
            </a:r>
            <a:r>
              <a:rPr lang="zh-CN" altLang="en-US" sz="2400" dirty="0"/>
              <a:t>和</a:t>
            </a:r>
            <a:r>
              <a:rPr lang="en-US" altLang="zh-CN" sz="2400" dirty="0"/>
              <a:t>M, </a:t>
            </a:r>
            <a:r>
              <a:rPr lang="zh-CN" altLang="en-US" sz="2400" dirty="0"/>
              <a:t>要求找出</a:t>
            </a:r>
            <a:r>
              <a:rPr lang="en-US" altLang="zh-CN" sz="2400" dirty="0"/>
              <a:t>w</a:t>
            </a:r>
            <a:r>
              <a:rPr lang="en-US" altLang="zh-CN" sz="2400" baseline="-25000" dirty="0"/>
              <a:t>i</a:t>
            </a:r>
            <a:r>
              <a:rPr lang="zh-CN" altLang="en-US" sz="2400" dirty="0"/>
              <a:t>的和数是</a:t>
            </a:r>
            <a:r>
              <a:rPr lang="en-US" altLang="zh-CN" sz="2400" dirty="0"/>
              <a:t>M</a:t>
            </a:r>
            <a:r>
              <a:rPr lang="zh-CN" altLang="en-US" sz="2400" dirty="0"/>
              <a:t>的所有子集</a:t>
            </a:r>
            <a:endParaRPr lang="en-US" altLang="zh-CN" sz="2400" dirty="0"/>
          </a:p>
          <a:p>
            <a:pPr eaLnBrk="1" hangingPunct="1">
              <a:buClrTx/>
              <a:buSzTx/>
              <a:buFontTx/>
            </a:pPr>
            <a:endParaRPr lang="en-US" altLang="zh-CN" sz="2400" dirty="0"/>
          </a:p>
          <a:p>
            <a:pPr eaLnBrk="1" hangingPunct="1">
              <a:buClrTx/>
              <a:buSzTx/>
              <a:buFontTx/>
            </a:pPr>
            <a:r>
              <a:rPr lang="zh-CN" altLang="en-US" sz="2400" dirty="0"/>
              <a:t>解的</a:t>
            </a:r>
            <a:r>
              <a:rPr lang="zh-CN" altLang="en-US" sz="2400" dirty="0">
                <a:solidFill>
                  <a:srgbClr val="FF0000"/>
                </a:solidFill>
              </a:rPr>
              <a:t>表示形式</a:t>
            </a:r>
            <a:r>
              <a:rPr lang="en-US" altLang="zh-CN" sz="2400" dirty="0"/>
              <a:t>:</a:t>
            </a:r>
          </a:p>
          <a:p>
            <a:pPr lvl="1" eaLnBrk="1" hangingPunct="1"/>
            <a:r>
              <a:rPr lang="zh-CN" altLang="en-US" sz="2400" dirty="0">
                <a:latin typeface="Times New Roman" panose="02020503050405090304" pitchFamily="18" charset="0"/>
                <a:ea typeface="华文楷体" panose="02010600040101010101" pitchFamily="2" charset="-122"/>
              </a:rPr>
              <a:t>采用定长元组</a:t>
            </a:r>
            <a:r>
              <a:rPr lang="en-US" altLang="zh-CN" sz="2400" dirty="0">
                <a:latin typeface="Times New Roman" panose="02020503050405090304" pitchFamily="18" charset="0"/>
                <a:ea typeface="华文楷体" panose="02010600040101010101" pitchFamily="2" charset="-122"/>
              </a:rPr>
              <a:t>:</a:t>
            </a:r>
            <a:r>
              <a:rPr lang="zh-CN" altLang="en-US" sz="2400" dirty="0">
                <a:latin typeface="Times New Roman" panose="02020503050405090304" pitchFamily="18" charset="0"/>
                <a:ea typeface="华文楷体" panose="02010600040101010101" pitchFamily="2" charset="-122"/>
              </a:rPr>
              <a:t>解为</a:t>
            </a:r>
            <a:r>
              <a:rPr lang="en-US" altLang="zh-CN" sz="2400" dirty="0">
                <a:latin typeface="Times New Roman" panose="02020503050405090304" pitchFamily="18" charset="0"/>
                <a:ea typeface="华文楷体" panose="02010600040101010101" pitchFamily="2" charset="-122"/>
              </a:rPr>
              <a:t>n</a:t>
            </a:r>
            <a:r>
              <a:rPr lang="zh-CN" altLang="en-US" sz="2400" dirty="0">
                <a:latin typeface="Times New Roman" panose="02020503050405090304" pitchFamily="18" charset="0"/>
                <a:ea typeface="华文楷体" panose="02010600040101010101" pitchFamily="2" charset="-122"/>
              </a:rPr>
              <a:t>元组</a:t>
            </a:r>
            <a:r>
              <a:rPr lang="en-US" altLang="zh-CN" sz="2400" dirty="0">
                <a:latin typeface="Times New Roman" panose="02020503050405090304" pitchFamily="18" charset="0"/>
                <a:ea typeface="华文楷体" panose="02010600040101010101" pitchFamily="2" charset="-122"/>
              </a:rPr>
              <a:t>(X</a:t>
            </a:r>
            <a:r>
              <a:rPr lang="en-US" altLang="zh-CN" sz="2400" baseline="-25000" dirty="0">
                <a:latin typeface="Times New Roman" panose="02020503050405090304" pitchFamily="18" charset="0"/>
                <a:ea typeface="华文楷体" panose="02010600040101010101" pitchFamily="2" charset="-122"/>
              </a:rPr>
              <a:t>1</a:t>
            </a:r>
            <a:r>
              <a:rPr lang="en-US" altLang="zh-CN" sz="2400" dirty="0">
                <a:latin typeface="Times New Roman" panose="02020503050405090304" pitchFamily="18" charset="0"/>
                <a:ea typeface="华文楷体" panose="02010600040101010101" pitchFamily="2" charset="-122"/>
              </a:rPr>
              <a:t>,X</a:t>
            </a:r>
            <a:r>
              <a:rPr lang="en-US" altLang="zh-CN" sz="2400" baseline="-25000" dirty="0">
                <a:latin typeface="Times New Roman" panose="02020503050405090304" pitchFamily="18" charset="0"/>
                <a:ea typeface="华文楷体" panose="02010600040101010101" pitchFamily="2" charset="-122"/>
              </a:rPr>
              <a:t>2</a:t>
            </a:r>
            <a:r>
              <a:rPr lang="en-US" altLang="zh-CN" sz="2400" dirty="0">
                <a:latin typeface="Times New Roman" panose="02020503050405090304" pitchFamily="18" charset="0"/>
                <a:ea typeface="华文楷体" panose="02010600040101010101" pitchFamily="2" charset="-122"/>
              </a:rPr>
              <a:t>,…,X</a:t>
            </a:r>
            <a:r>
              <a:rPr lang="en-US" altLang="zh-CN" sz="2400" baseline="-25000" dirty="0">
                <a:latin typeface="Times New Roman" panose="02020503050405090304" pitchFamily="18" charset="0"/>
                <a:ea typeface="华文楷体" panose="02010600040101010101" pitchFamily="2" charset="-122"/>
              </a:rPr>
              <a:t>n</a:t>
            </a:r>
            <a:r>
              <a:rPr lang="en-US" altLang="zh-CN" sz="2400" dirty="0">
                <a:latin typeface="Times New Roman" panose="02020503050405090304" pitchFamily="18" charset="0"/>
                <a:ea typeface="华文楷体" panose="02010600040101010101" pitchFamily="2" charset="-122"/>
              </a:rPr>
              <a:t>), </a:t>
            </a:r>
            <a:r>
              <a:rPr lang="zh-CN" altLang="en-US" sz="2400" dirty="0">
                <a:latin typeface="Times New Roman" panose="02020503050405090304" pitchFamily="18" charset="0"/>
                <a:ea typeface="华文楷体" panose="02010600040101010101" pitchFamily="2" charset="-122"/>
              </a:rPr>
              <a:t>其中</a:t>
            </a:r>
            <a:r>
              <a:rPr lang="en-US" altLang="zh-CN" sz="2400" dirty="0">
                <a:latin typeface="Times New Roman" panose="02020503050405090304" pitchFamily="18" charset="0"/>
                <a:ea typeface="华文楷体" panose="02010600040101010101" pitchFamily="2" charset="-122"/>
              </a:rPr>
              <a:t>X</a:t>
            </a:r>
            <a:r>
              <a:rPr lang="en-US" altLang="zh-CN" sz="2400" baseline="-25000" dirty="0">
                <a:latin typeface="Times New Roman" panose="02020503050405090304" pitchFamily="18" charset="0"/>
                <a:ea typeface="华文楷体" panose="02010600040101010101" pitchFamily="2" charset="-122"/>
              </a:rPr>
              <a:t>i</a:t>
            </a:r>
            <a:r>
              <a:rPr lang="zh-CN" altLang="en-US" sz="2400" dirty="0">
                <a:latin typeface="Times New Roman" panose="02020503050405090304" pitchFamily="18" charset="0"/>
                <a:ea typeface="华文楷体" panose="02010600040101010101" pitchFamily="2" charset="-122"/>
              </a:rPr>
              <a:t>表取</a:t>
            </a:r>
            <a:r>
              <a:rPr lang="en-US" altLang="zh-CN" sz="2400" dirty="0">
                <a:latin typeface="Times New Roman" panose="02020503050405090304" pitchFamily="18" charset="0"/>
                <a:ea typeface="华文楷体" panose="02010600040101010101" pitchFamily="2" charset="-122"/>
              </a:rPr>
              <a:t>0</a:t>
            </a:r>
            <a:r>
              <a:rPr lang="zh-CN" altLang="en-US" sz="2400" dirty="0">
                <a:latin typeface="Times New Roman" panose="02020503050405090304" pitchFamily="18" charset="0"/>
                <a:ea typeface="华文楷体" panose="02010600040101010101" pitchFamily="2" charset="-122"/>
              </a:rPr>
              <a:t>或</a:t>
            </a:r>
            <a:r>
              <a:rPr lang="en-US" altLang="zh-CN" sz="2400" dirty="0">
                <a:latin typeface="Times New Roman" panose="02020503050405090304" pitchFamily="18" charset="0"/>
                <a:ea typeface="华文楷体" panose="02010600040101010101" pitchFamily="2" charset="-122"/>
              </a:rPr>
              <a:t>1, </a:t>
            </a:r>
            <a:r>
              <a:rPr lang="zh-CN" altLang="en-US" sz="2400" dirty="0">
                <a:latin typeface="Times New Roman" panose="02020503050405090304" pitchFamily="18" charset="0"/>
                <a:ea typeface="华文楷体" panose="02010600040101010101" pitchFamily="2" charset="-122"/>
              </a:rPr>
              <a:t>表示</a:t>
            </a:r>
            <a:r>
              <a:rPr lang="en-US" altLang="zh-CN" sz="2400" dirty="0">
                <a:latin typeface="Times New Roman" panose="02020503050405090304" pitchFamily="18" charset="0"/>
                <a:ea typeface="华文楷体" panose="02010600040101010101" pitchFamily="2" charset="-122"/>
              </a:rPr>
              <a:t>w</a:t>
            </a:r>
            <a:r>
              <a:rPr lang="en-US" altLang="zh-CN" sz="2400" baseline="-25000" dirty="0">
                <a:latin typeface="Times New Roman" panose="02020503050405090304" pitchFamily="18" charset="0"/>
                <a:ea typeface="华文楷体" panose="02010600040101010101" pitchFamily="2" charset="-122"/>
              </a:rPr>
              <a:t>i</a:t>
            </a:r>
            <a:r>
              <a:rPr lang="zh-CN" altLang="en-US" sz="2400" dirty="0">
                <a:latin typeface="Times New Roman" panose="02020503050405090304" pitchFamily="18" charset="0"/>
                <a:ea typeface="华文楷体" panose="02010600040101010101" pitchFamily="2" charset="-122"/>
              </a:rPr>
              <a:t>的在子集合中是否出现。</a:t>
            </a:r>
          </a:p>
          <a:p>
            <a:pPr lvl="1" eaLnBrk="1" hangingPunct="1"/>
            <a:endParaRPr lang="zh-CN" altLang="en-US" sz="2300" dirty="0">
              <a:ea typeface="华文楷体" panose="02010600040101010101" pitchFamily="2" charset="-122"/>
            </a:endParaRPr>
          </a:p>
          <a:p>
            <a:pPr eaLnBrk="1" hangingPunct="1">
              <a:buClrTx/>
              <a:buSzTx/>
              <a:buFontTx/>
            </a:pPr>
            <a:r>
              <a:rPr lang="zh-CN" altLang="en-US" sz="2400" dirty="0">
                <a:solidFill>
                  <a:srgbClr val="FF0000"/>
                </a:solidFill>
              </a:rPr>
              <a:t>约束条件</a:t>
            </a:r>
            <a:r>
              <a:rPr lang="zh-CN" altLang="en-US" sz="2400" dirty="0"/>
              <a:t>：</a:t>
            </a:r>
            <a:r>
              <a:rPr lang="zh-CN" altLang="en-US" dirty="0"/>
              <a:t>并设定</a:t>
            </a:r>
            <a:r>
              <a:rPr lang="en-US" altLang="zh-CN" dirty="0"/>
              <a:t>w</a:t>
            </a:r>
            <a:r>
              <a:rPr lang="en-US" altLang="zh-CN" baseline="-25000" dirty="0"/>
              <a:t>i</a:t>
            </a:r>
            <a:r>
              <a:rPr lang="en-US" altLang="zh-CN" dirty="0"/>
              <a:t> (1</a:t>
            </a:r>
            <a:r>
              <a:rPr lang="en-US" altLang="zh-CN" dirty="0">
                <a:sym typeface="Symbol" pitchFamily="18" charset="2"/>
              </a:rPr>
              <a:t></a:t>
            </a:r>
            <a:r>
              <a:rPr lang="en-US" altLang="zh-CN" dirty="0"/>
              <a:t>i </a:t>
            </a:r>
            <a:r>
              <a:rPr lang="en-US" altLang="zh-CN" dirty="0">
                <a:sym typeface="Symbol" pitchFamily="18" charset="2"/>
              </a:rPr>
              <a:t></a:t>
            </a:r>
            <a:r>
              <a:rPr lang="en-US" altLang="zh-CN" dirty="0"/>
              <a:t> n)</a:t>
            </a:r>
            <a:r>
              <a:rPr lang="zh-CN" altLang="en-US" dirty="0"/>
              <a:t>按</a:t>
            </a:r>
            <a:r>
              <a:rPr lang="zh-CN" altLang="en-US" dirty="0">
                <a:solidFill>
                  <a:srgbClr val="FF0000"/>
                </a:solidFill>
              </a:rPr>
              <a:t>非降次序排列</a:t>
            </a:r>
            <a:r>
              <a:rPr lang="zh-CN" altLang="en-US" dirty="0"/>
              <a:t>。</a:t>
            </a:r>
          </a:p>
          <a:p>
            <a:pPr eaLnBrk="1" hangingPunct="1">
              <a:buClrTx/>
              <a:buSzTx/>
              <a:buFontTx/>
            </a:pPr>
            <a:endParaRPr lang="en-US" altLang="zh-CN" sz="2400" dirty="0"/>
          </a:p>
        </p:txBody>
      </p:sp>
      <p:graphicFrame>
        <p:nvGraphicFramePr>
          <p:cNvPr id="82948" name="Object 4"/>
          <p:cNvGraphicFramePr>
            <a:graphicFrameLocks noGrp="1" noChangeAspect="1"/>
          </p:cNvGraphicFramePr>
          <p:nvPr>
            <p:ph sz="half" idx="2"/>
          </p:nvPr>
        </p:nvGraphicFramePr>
        <p:xfrm>
          <a:off x="2916238" y="4724400"/>
          <a:ext cx="1928812" cy="873125"/>
        </p:xfrm>
        <a:graphic>
          <a:graphicData uri="http://schemas.openxmlformats.org/presentationml/2006/ole">
            <mc:AlternateContent xmlns:mc="http://schemas.openxmlformats.org/markup-compatibility/2006">
              <mc:Choice xmlns:v="urn:schemas-microsoft-com:vml" Requires="v">
                <p:oleObj r:id="rId2" imgW="673100" imgH="304800" progId="">
                  <p:embed/>
                </p:oleObj>
              </mc:Choice>
              <mc:Fallback>
                <p:oleObj r:id="rId2" imgW="673100" imgH="304800" progId="">
                  <p:embed/>
                  <p:pic>
                    <p:nvPicPr>
                      <p:cNvPr id="0" name="图片 3075"/>
                      <p:cNvPicPr/>
                      <p:nvPr/>
                    </p:nvPicPr>
                    <p:blipFill>
                      <a:blip r:embed="rId3"/>
                      <a:stretch>
                        <a:fillRect/>
                      </a:stretch>
                    </p:blipFill>
                    <p:spPr>
                      <a:xfrm>
                        <a:off x="2916238" y="4724400"/>
                        <a:ext cx="1928812" cy="873125"/>
                      </a:xfrm>
                      <a:prstGeom prst="rect">
                        <a:avLst/>
                      </a:prstGeom>
                      <a:noFill/>
                      <a:ln w="38100">
                        <a:miter/>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83970" name="Rectangle 2"/>
          <p:cNvSpPr>
            <a:spLocks noGrp="1"/>
          </p:cNvSpPr>
          <p:nvPr>
            <p:ph type="title"/>
          </p:nvPr>
        </p:nvSpPr>
        <p:spPr/>
        <p:txBody>
          <a:bodyPr vert="horz" wrap="square" lIns="91440" tIns="45720" rIns="91440" bIns="45720" anchor="ctr" anchorCtr="0"/>
          <a:lstStyle/>
          <a:p>
            <a:pPr eaLnBrk="1" hangingPunct="1"/>
            <a:r>
              <a:rPr lang="zh-CN" altLang="en-US" dirty="0"/>
              <a:t>限界函数</a:t>
            </a:r>
          </a:p>
        </p:txBody>
      </p:sp>
      <p:sp>
        <p:nvSpPr>
          <p:cNvPr id="83971" name="Rectangle 3"/>
          <p:cNvSpPr>
            <a:spLocks noGrp="1"/>
          </p:cNvSpPr>
          <p:nvPr>
            <p:ph idx="1"/>
          </p:nvPr>
        </p:nvSpPr>
        <p:spPr/>
        <p:txBody>
          <a:bodyPr vert="horz" wrap="square" lIns="91440" tIns="45720" rIns="91440" bIns="45720" anchor="t" anchorCtr="0"/>
          <a:lstStyle/>
          <a:p>
            <a:pPr eaLnBrk="1" hangingPunct="1">
              <a:lnSpc>
                <a:spcPct val="90000"/>
              </a:lnSpc>
            </a:pPr>
            <a:r>
              <a:rPr lang="en-US" altLang="zh-CN" sz="2100" dirty="0"/>
              <a:t>B</a:t>
            </a:r>
            <a:r>
              <a:rPr lang="en-US" altLang="zh-CN" sz="2100" baseline="-25000" dirty="0"/>
              <a:t>k</a:t>
            </a:r>
            <a:r>
              <a:rPr lang="en-US" altLang="zh-CN" sz="2100" dirty="0"/>
              <a:t>(x(1),…x(k))=true </a:t>
            </a:r>
            <a:r>
              <a:rPr lang="zh-CN" altLang="en-US" sz="2100" dirty="0"/>
              <a:t>当且仅当</a:t>
            </a:r>
            <a:r>
              <a:rPr lang="en-US" altLang="zh-CN" sz="2100" dirty="0"/>
              <a:t>:</a:t>
            </a:r>
          </a:p>
          <a:p>
            <a:pPr eaLnBrk="1" hangingPunct="1">
              <a:lnSpc>
                <a:spcPct val="90000"/>
              </a:lnSpc>
              <a:buNone/>
            </a:pPr>
            <a:endParaRPr lang="en-US" altLang="zh-CN" sz="2100" dirty="0"/>
          </a:p>
          <a:p>
            <a:pPr eaLnBrk="1" hangingPunct="1">
              <a:lnSpc>
                <a:spcPct val="90000"/>
              </a:lnSpc>
              <a:buNone/>
            </a:pPr>
            <a:endParaRPr lang="en-US" altLang="zh-CN" sz="2100" dirty="0"/>
          </a:p>
          <a:p>
            <a:pPr eaLnBrk="1" hangingPunct="1">
              <a:lnSpc>
                <a:spcPct val="90000"/>
              </a:lnSpc>
            </a:pPr>
            <a:endParaRPr lang="en-US" altLang="zh-CN" sz="2100" dirty="0"/>
          </a:p>
          <a:p>
            <a:pPr eaLnBrk="1" hangingPunct="1">
              <a:lnSpc>
                <a:spcPct val="90000"/>
              </a:lnSpc>
            </a:pPr>
            <a:r>
              <a:rPr lang="zh-CN" altLang="en-US" sz="2100" dirty="0"/>
              <a:t>假定</a:t>
            </a:r>
            <a:r>
              <a:rPr lang="en-US" altLang="zh-CN" sz="2100" dirty="0"/>
              <a:t>w</a:t>
            </a:r>
            <a:r>
              <a:rPr lang="en-US" altLang="zh-CN" sz="2100" baseline="-25000" dirty="0"/>
              <a:t>i</a:t>
            </a:r>
            <a:r>
              <a:rPr lang="zh-CN" altLang="en-US" sz="2100" dirty="0"/>
              <a:t>已经按照非降次序排列</a:t>
            </a:r>
            <a:r>
              <a:rPr lang="en-US" altLang="zh-CN" sz="2100" dirty="0"/>
              <a:t>, </a:t>
            </a:r>
            <a:r>
              <a:rPr lang="zh-CN" altLang="en-US" sz="2100" dirty="0"/>
              <a:t>则可以</a:t>
            </a:r>
            <a:r>
              <a:rPr lang="zh-CN" altLang="en-US" sz="2100" dirty="0">
                <a:solidFill>
                  <a:srgbClr val="FF0000"/>
                </a:solidFill>
              </a:rPr>
              <a:t>强化限界函数</a:t>
            </a:r>
            <a:r>
              <a:rPr lang="en-US" altLang="zh-CN" sz="2100" dirty="0">
                <a:solidFill>
                  <a:srgbClr val="FF0000"/>
                </a:solidFill>
              </a:rPr>
              <a:t>,</a:t>
            </a:r>
            <a:r>
              <a:rPr lang="en-US" altLang="zh-CN" sz="2100" dirty="0"/>
              <a:t> </a:t>
            </a:r>
            <a:r>
              <a:rPr lang="zh-CN" altLang="en-US" sz="2100" dirty="0"/>
              <a:t>如果下式成立</a:t>
            </a:r>
            <a:r>
              <a:rPr lang="en-US" altLang="zh-CN" sz="2100" dirty="0"/>
              <a:t>, B</a:t>
            </a:r>
            <a:r>
              <a:rPr lang="en-US" altLang="zh-CN" sz="2100" baseline="-25000" dirty="0"/>
              <a:t>k</a:t>
            </a:r>
            <a:r>
              <a:rPr lang="en-US" altLang="zh-CN" sz="2100" dirty="0"/>
              <a:t>(x(1),…x(k))</a:t>
            </a:r>
            <a:r>
              <a:rPr lang="zh-CN" altLang="en-US" sz="2100" dirty="0"/>
              <a:t>为假</a:t>
            </a:r>
            <a:r>
              <a:rPr lang="en-US" altLang="zh-CN" sz="2100" dirty="0"/>
              <a:t>:</a:t>
            </a:r>
          </a:p>
          <a:p>
            <a:pPr eaLnBrk="1" hangingPunct="1">
              <a:lnSpc>
                <a:spcPct val="90000"/>
              </a:lnSpc>
            </a:pPr>
            <a:endParaRPr lang="en-US" altLang="zh-CN" sz="2100" dirty="0"/>
          </a:p>
          <a:p>
            <a:pPr eaLnBrk="1" hangingPunct="1">
              <a:lnSpc>
                <a:spcPct val="90000"/>
              </a:lnSpc>
            </a:pPr>
            <a:endParaRPr lang="en-US" altLang="zh-CN" sz="2100" dirty="0"/>
          </a:p>
          <a:p>
            <a:pPr eaLnBrk="1" hangingPunct="1">
              <a:lnSpc>
                <a:spcPct val="90000"/>
              </a:lnSpc>
            </a:pPr>
            <a:r>
              <a:rPr lang="zh-CN" altLang="en-US" sz="2100" dirty="0"/>
              <a:t>故</a:t>
            </a:r>
            <a:r>
              <a:rPr lang="en-US" altLang="zh-CN" sz="2100" dirty="0"/>
              <a:t>,</a:t>
            </a:r>
            <a:r>
              <a:rPr lang="zh-CN" altLang="en-US" sz="2100" dirty="0"/>
              <a:t>假定</a:t>
            </a:r>
            <a:r>
              <a:rPr lang="en-US" altLang="zh-CN" sz="2100" dirty="0"/>
              <a:t>w</a:t>
            </a:r>
            <a:r>
              <a:rPr lang="en-US" altLang="zh-CN" sz="2100" baseline="-25000" dirty="0"/>
              <a:t>i</a:t>
            </a:r>
            <a:r>
              <a:rPr lang="zh-CN" altLang="en-US" sz="2100" dirty="0"/>
              <a:t>已经按照非降次序排列</a:t>
            </a:r>
            <a:r>
              <a:rPr lang="en-US" altLang="zh-CN" sz="2100" dirty="0"/>
              <a:t>, </a:t>
            </a:r>
            <a:r>
              <a:rPr lang="zh-CN" altLang="en-US" sz="2100" dirty="0"/>
              <a:t>限界函数 </a:t>
            </a:r>
            <a:r>
              <a:rPr lang="en-US" altLang="zh-CN" sz="2100" dirty="0"/>
              <a:t>B</a:t>
            </a:r>
            <a:r>
              <a:rPr lang="en-US" altLang="zh-CN" sz="2100" baseline="-25000" dirty="0"/>
              <a:t>k</a:t>
            </a:r>
            <a:r>
              <a:rPr lang="en-US" altLang="zh-CN" sz="2100" dirty="0"/>
              <a:t>(x(1),…x(k))=true </a:t>
            </a:r>
            <a:r>
              <a:rPr lang="zh-CN" altLang="en-US" sz="2100" dirty="0"/>
              <a:t>当且仅当</a:t>
            </a:r>
            <a:r>
              <a:rPr lang="en-US" altLang="zh-CN" sz="2100" dirty="0"/>
              <a:t>:</a:t>
            </a:r>
          </a:p>
          <a:p>
            <a:pPr eaLnBrk="1" hangingPunct="1">
              <a:lnSpc>
                <a:spcPct val="90000"/>
              </a:lnSpc>
              <a:buNone/>
            </a:pPr>
            <a:r>
              <a:rPr lang="en-US" altLang="zh-CN" sz="2100" dirty="0"/>
              <a:t> </a:t>
            </a:r>
          </a:p>
        </p:txBody>
      </p:sp>
      <p:graphicFrame>
        <p:nvGraphicFramePr>
          <p:cNvPr id="83972" name="Object 4"/>
          <p:cNvGraphicFramePr>
            <a:graphicFrameLocks noChangeAspect="1"/>
          </p:cNvGraphicFramePr>
          <p:nvPr/>
        </p:nvGraphicFramePr>
        <p:xfrm>
          <a:off x="2555875" y="1700213"/>
          <a:ext cx="2609850" cy="719137"/>
        </p:xfrm>
        <a:graphic>
          <a:graphicData uri="http://schemas.openxmlformats.org/presentationml/2006/ole">
            <mc:AlternateContent xmlns:mc="http://schemas.openxmlformats.org/markup-compatibility/2006">
              <mc:Choice xmlns:v="urn:schemas-microsoft-com:vml" Requires="v">
                <p:oleObj r:id="rId3" imgW="1104900" imgH="304800" progId="">
                  <p:embed/>
                </p:oleObj>
              </mc:Choice>
              <mc:Fallback>
                <p:oleObj r:id="rId3" imgW="1104900" imgH="304800" progId="">
                  <p:embed/>
                  <p:pic>
                    <p:nvPicPr>
                      <p:cNvPr id="0" name="图片 3076"/>
                      <p:cNvPicPr/>
                      <p:nvPr/>
                    </p:nvPicPr>
                    <p:blipFill>
                      <a:blip r:embed="rId4"/>
                      <a:stretch>
                        <a:fillRect/>
                      </a:stretch>
                    </p:blipFill>
                    <p:spPr>
                      <a:xfrm>
                        <a:off x="2555875" y="1700213"/>
                        <a:ext cx="2609850" cy="719137"/>
                      </a:xfrm>
                      <a:prstGeom prst="rect">
                        <a:avLst/>
                      </a:prstGeom>
                      <a:noFill/>
                      <a:ln w="38100">
                        <a:noFill/>
                        <a:miter/>
                      </a:ln>
                    </p:spPr>
                  </p:pic>
                </p:oleObj>
              </mc:Fallback>
            </mc:AlternateContent>
          </a:graphicData>
        </a:graphic>
      </p:graphicFrame>
      <p:graphicFrame>
        <p:nvGraphicFramePr>
          <p:cNvPr id="83973" name="Object 5"/>
          <p:cNvGraphicFramePr>
            <a:graphicFrameLocks noChangeAspect="1"/>
          </p:cNvGraphicFramePr>
          <p:nvPr/>
        </p:nvGraphicFramePr>
        <p:xfrm>
          <a:off x="2700338" y="3284538"/>
          <a:ext cx="2743200" cy="757237"/>
        </p:xfrm>
        <a:graphic>
          <a:graphicData uri="http://schemas.openxmlformats.org/presentationml/2006/ole">
            <mc:AlternateContent xmlns:mc="http://schemas.openxmlformats.org/markup-compatibility/2006">
              <mc:Choice xmlns:v="urn:schemas-microsoft-com:vml" Requires="v">
                <p:oleObj r:id="rId5" imgW="1104900" imgH="304800" progId="">
                  <p:embed/>
                </p:oleObj>
              </mc:Choice>
              <mc:Fallback>
                <p:oleObj r:id="rId5" imgW="1104900" imgH="304800" progId="">
                  <p:embed/>
                  <p:pic>
                    <p:nvPicPr>
                      <p:cNvPr id="0" name="图片 3077"/>
                      <p:cNvPicPr/>
                      <p:nvPr/>
                    </p:nvPicPr>
                    <p:blipFill>
                      <a:blip r:embed="rId6"/>
                      <a:stretch>
                        <a:fillRect/>
                      </a:stretch>
                    </p:blipFill>
                    <p:spPr>
                      <a:xfrm>
                        <a:off x="2700338" y="3284538"/>
                        <a:ext cx="2743200" cy="757237"/>
                      </a:xfrm>
                      <a:prstGeom prst="rect">
                        <a:avLst/>
                      </a:prstGeom>
                      <a:noFill/>
                      <a:ln w="38100">
                        <a:noFill/>
                        <a:miter/>
                      </a:ln>
                    </p:spPr>
                  </p:pic>
                </p:oleObj>
              </mc:Fallback>
            </mc:AlternateContent>
          </a:graphicData>
        </a:graphic>
      </p:graphicFrame>
      <p:graphicFrame>
        <p:nvGraphicFramePr>
          <p:cNvPr id="83974" name="Object 6"/>
          <p:cNvGraphicFramePr>
            <a:graphicFrameLocks noChangeAspect="1"/>
          </p:cNvGraphicFramePr>
          <p:nvPr/>
        </p:nvGraphicFramePr>
        <p:xfrm>
          <a:off x="1692275" y="4868863"/>
          <a:ext cx="5580063" cy="719137"/>
        </p:xfrm>
        <a:graphic>
          <a:graphicData uri="http://schemas.openxmlformats.org/presentationml/2006/ole">
            <mc:AlternateContent xmlns:mc="http://schemas.openxmlformats.org/markup-compatibility/2006">
              <mc:Choice xmlns:v="urn:schemas-microsoft-com:vml" Requires="v">
                <p:oleObj r:id="rId7" imgW="2362200" imgH="304800" progId="">
                  <p:embed/>
                </p:oleObj>
              </mc:Choice>
              <mc:Fallback>
                <p:oleObj r:id="rId7" imgW="2362200" imgH="304800" progId="">
                  <p:embed/>
                  <p:pic>
                    <p:nvPicPr>
                      <p:cNvPr id="0" name="图片 3078"/>
                      <p:cNvPicPr/>
                      <p:nvPr/>
                    </p:nvPicPr>
                    <p:blipFill>
                      <a:blip r:embed="rId8"/>
                      <a:stretch>
                        <a:fillRect/>
                      </a:stretch>
                    </p:blipFill>
                    <p:spPr>
                      <a:xfrm>
                        <a:off x="1692275" y="4868863"/>
                        <a:ext cx="5580063" cy="719137"/>
                      </a:xfrm>
                      <a:prstGeom prst="rect">
                        <a:avLst/>
                      </a:prstGeom>
                      <a:noFill/>
                      <a:ln w="38100">
                        <a:noFill/>
                        <a:miter/>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86018" name="Rectangle 2"/>
          <p:cNvSpPr>
            <a:spLocks noGrp="1"/>
          </p:cNvSpPr>
          <p:nvPr>
            <p:ph type="title"/>
          </p:nvPr>
        </p:nvSpPr>
        <p:spPr/>
        <p:txBody>
          <a:bodyPr vert="horz" wrap="square" lIns="91440" tIns="45720" rIns="91440" bIns="45720" anchor="ctr" anchorCtr="0"/>
          <a:lstStyle/>
          <a:p>
            <a:pPr eaLnBrk="1" hangingPunct="1"/>
            <a:endParaRPr lang="zh-CN" altLang="zh-CN" dirty="0"/>
          </a:p>
        </p:txBody>
      </p:sp>
      <p:sp>
        <p:nvSpPr>
          <p:cNvPr id="86019" name="Rectangle 4"/>
          <p:cNvSpPr>
            <a:spLocks noGrp="1"/>
          </p:cNvSpPr>
          <p:nvPr>
            <p:ph idx="1"/>
          </p:nvPr>
        </p:nvSpPr>
        <p:spPr>
          <a:xfrm>
            <a:off x="900113" y="476250"/>
            <a:ext cx="7993062" cy="5689600"/>
          </a:xfrm>
          <a:solidFill>
            <a:schemeClr val="bg1"/>
          </a:solidFill>
          <a:ln>
            <a:solidFill>
              <a:schemeClr val="tx1"/>
            </a:solidFill>
            <a:miter/>
          </a:ln>
        </p:spPr>
        <p:txBody>
          <a:bodyPr vert="horz" wrap="square" lIns="91440" tIns="45720" rIns="91440" bIns="45720" anchor="t" anchorCtr="0"/>
          <a:lstStyle/>
          <a:p>
            <a:pPr eaLnBrk="1" hangingPunct="1">
              <a:lnSpc>
                <a:spcPct val="80000"/>
              </a:lnSpc>
              <a:buNone/>
            </a:pPr>
            <a:r>
              <a:rPr lang="zh-CN" altLang="en-US" sz="1700" b="1" dirty="0"/>
              <a:t>算法</a:t>
            </a:r>
            <a:r>
              <a:rPr lang="en-US" altLang="zh-CN" sz="1700" b="1" dirty="0"/>
              <a:t>SUMOFSUBREC</a:t>
            </a:r>
          </a:p>
          <a:p>
            <a:pPr lvl="1" eaLnBrk="1" hangingPunct="1">
              <a:lnSpc>
                <a:spcPct val="80000"/>
              </a:lnSpc>
              <a:buNone/>
            </a:pPr>
            <a:endParaRPr lang="en-US" altLang="zh-CN" sz="1500" b="1" dirty="0">
              <a:ea typeface="华文楷体" panose="02010600040101010101" pitchFamily="2" charset="-122"/>
            </a:endParaRPr>
          </a:p>
          <a:p>
            <a:pPr lvl="1" eaLnBrk="1" hangingPunct="1">
              <a:lnSpc>
                <a:spcPct val="80000"/>
              </a:lnSpc>
              <a:buNone/>
            </a:pPr>
            <a:r>
              <a:rPr lang="zh-CN" altLang="en-US" sz="1500" dirty="0">
                <a:ea typeface="华文楷体" panose="02010600040101010101" pitchFamily="2" charset="-122"/>
              </a:rPr>
              <a:t>输入</a:t>
            </a:r>
            <a:r>
              <a:rPr lang="en-US" altLang="zh-CN" sz="1500" dirty="0">
                <a:ea typeface="华文楷体" panose="02010600040101010101" pitchFamily="2" charset="-122"/>
              </a:rPr>
              <a:t>:w[1,2,…n] and</a:t>
            </a:r>
            <a:r>
              <a:rPr lang="en-US" altLang="zh-CN" sz="1800" baseline="-25000" dirty="0">
                <a:ea typeface="华文楷体" panose="02010600040101010101" pitchFamily="2" charset="-122"/>
              </a:rPr>
              <a:t> </a:t>
            </a:r>
            <a:r>
              <a:rPr lang="en-US" altLang="zh-CN" sz="1800" dirty="0">
                <a:ea typeface="华文楷体" panose="02010600040101010101" pitchFamily="2" charset="-122"/>
              </a:rPr>
              <a:t>M, w[i]&gt;0, M &gt;0</a:t>
            </a:r>
            <a:r>
              <a:rPr lang="en-US" altLang="zh-CN" sz="1500" dirty="0">
                <a:ea typeface="华文楷体" panose="02010600040101010101" pitchFamily="2" charset="-122"/>
              </a:rPr>
              <a:t>.</a:t>
            </a:r>
          </a:p>
          <a:p>
            <a:pPr lvl="1" eaLnBrk="1" hangingPunct="1">
              <a:lnSpc>
                <a:spcPct val="80000"/>
              </a:lnSpc>
              <a:buNone/>
            </a:pPr>
            <a:r>
              <a:rPr lang="zh-CN" altLang="en-US" sz="1500" dirty="0">
                <a:ea typeface="华文楷体" panose="02010600040101010101" pitchFamily="2" charset="-122"/>
              </a:rPr>
              <a:t>输出</a:t>
            </a:r>
            <a:r>
              <a:rPr lang="en-US" altLang="zh-CN" sz="1500" dirty="0">
                <a:ea typeface="华文楷体" panose="02010600040101010101" pitchFamily="2" charset="-122"/>
              </a:rPr>
              <a:t>: A solution vector x[1,2,…,n], </a:t>
            </a:r>
            <a:r>
              <a:rPr lang="en-US" altLang="zh-CN" sz="1300" dirty="0">
                <a:ea typeface="华文楷体" panose="02010600040101010101" pitchFamily="2" charset="-122"/>
              </a:rPr>
              <a:t>where each x[i] is 0 or 1.</a:t>
            </a:r>
            <a:r>
              <a:rPr lang="en-US" altLang="zh-CN" sz="1500" dirty="0">
                <a:ea typeface="华文楷体" panose="02010600040101010101" pitchFamily="2" charset="-122"/>
              </a:rPr>
              <a:t> </a:t>
            </a:r>
            <a:endParaRPr lang="en-US" altLang="zh-CN" sz="1500" dirty="0">
              <a:ea typeface="华文楷体" panose="02010600040101010101" pitchFamily="2" charset="-122"/>
              <a:sym typeface="Symbol" pitchFamily="18" charset="2"/>
            </a:endParaRPr>
          </a:p>
          <a:p>
            <a:pPr lvl="1" eaLnBrk="1" hangingPunct="1">
              <a:lnSpc>
                <a:spcPct val="80000"/>
              </a:lnSpc>
              <a:buNone/>
            </a:pPr>
            <a:r>
              <a:rPr lang="en-US" altLang="zh-CN" sz="1300" dirty="0">
                <a:ea typeface="华文楷体" panose="02010600040101010101" pitchFamily="2" charset="-122"/>
              </a:rPr>
              <a:t>1. </a:t>
            </a:r>
            <a:r>
              <a:rPr lang="en-US" altLang="zh-CN" sz="1300" b="1" dirty="0">
                <a:ea typeface="华文楷体" panose="02010600040101010101" pitchFamily="2" charset="-122"/>
              </a:rPr>
              <a:t>for</a:t>
            </a:r>
            <a:r>
              <a:rPr lang="en-US" altLang="zh-CN" sz="1300" dirty="0">
                <a:ea typeface="华文楷体" panose="02010600040101010101" pitchFamily="2" charset="-122"/>
              </a:rPr>
              <a:t> </a:t>
            </a:r>
            <a:r>
              <a:rPr lang="en-US" altLang="zh-CN" sz="1300" i="1" dirty="0">
                <a:ea typeface="华文楷体" panose="02010600040101010101" pitchFamily="2" charset="-122"/>
              </a:rPr>
              <a:t>k</a:t>
            </a:r>
            <a:r>
              <a:rPr lang="en-US" altLang="zh-CN" sz="1300" i="1" dirty="0">
                <a:ea typeface="华文楷体" panose="02010600040101010101" pitchFamily="2" charset="-122"/>
                <a:sym typeface="Wingdings" panose="05000000000000000000" pitchFamily="2" charset="2"/>
              </a:rPr>
              <a:t>1</a:t>
            </a:r>
            <a:r>
              <a:rPr lang="en-US" altLang="zh-CN" sz="1300" dirty="0">
                <a:ea typeface="华文楷体" panose="02010600040101010101" pitchFamily="2" charset="-122"/>
                <a:sym typeface="Wingdings" panose="05000000000000000000" pitchFamily="2" charset="2"/>
              </a:rPr>
              <a:t> </a:t>
            </a:r>
            <a:r>
              <a:rPr lang="en-US" altLang="zh-CN" sz="1300" b="1" dirty="0">
                <a:ea typeface="华文楷体" panose="02010600040101010101" pitchFamily="2" charset="-122"/>
                <a:sym typeface="Wingdings" panose="05000000000000000000" pitchFamily="2" charset="2"/>
              </a:rPr>
              <a:t>to</a:t>
            </a:r>
            <a:r>
              <a:rPr lang="en-US" altLang="zh-CN" sz="1300" dirty="0">
                <a:ea typeface="华文楷体" panose="02010600040101010101" pitchFamily="2" charset="-122"/>
                <a:sym typeface="Wingdings" panose="05000000000000000000" pitchFamily="2" charset="2"/>
              </a:rPr>
              <a:t> </a:t>
            </a:r>
            <a:r>
              <a:rPr lang="en-US" altLang="zh-CN" sz="1300" i="1" dirty="0">
                <a:ea typeface="华文楷体" panose="02010600040101010101" pitchFamily="2" charset="-122"/>
                <a:sym typeface="Wingdings" panose="05000000000000000000" pitchFamily="2" charset="2"/>
              </a:rPr>
              <a:t>n</a:t>
            </a:r>
          </a:p>
          <a:p>
            <a:pPr lvl="1" eaLnBrk="1" hangingPunct="1">
              <a:lnSpc>
                <a:spcPct val="80000"/>
              </a:lnSpc>
              <a:buNone/>
            </a:pPr>
            <a:r>
              <a:rPr lang="en-US" altLang="zh-CN" sz="1300" dirty="0">
                <a:ea typeface="华文楷体" panose="02010600040101010101" pitchFamily="2" charset="-122"/>
                <a:sym typeface="Wingdings" panose="05000000000000000000" pitchFamily="2" charset="2"/>
              </a:rPr>
              <a:t>2. 		x</a:t>
            </a:r>
            <a:r>
              <a:rPr lang="en-US" altLang="zh-CN" sz="1300" i="1" dirty="0">
                <a:ea typeface="华文楷体" panose="02010600040101010101" pitchFamily="2" charset="-122"/>
                <a:sym typeface="Wingdings" panose="05000000000000000000" pitchFamily="2" charset="2"/>
              </a:rPr>
              <a:t>[k]0</a:t>
            </a:r>
          </a:p>
          <a:p>
            <a:pPr lvl="1" eaLnBrk="1" hangingPunct="1">
              <a:lnSpc>
                <a:spcPct val="80000"/>
              </a:lnSpc>
              <a:buNone/>
            </a:pPr>
            <a:r>
              <a:rPr lang="en-US" altLang="zh-CN" sz="1300" dirty="0">
                <a:ea typeface="华文楷体" panose="02010600040101010101" pitchFamily="2" charset="-122"/>
                <a:sym typeface="Wingdings" panose="05000000000000000000" pitchFamily="2" charset="2"/>
              </a:rPr>
              <a:t>3. </a:t>
            </a:r>
            <a:r>
              <a:rPr lang="en-US" altLang="zh-CN" sz="1300" b="1" dirty="0">
                <a:ea typeface="华文楷体" panose="02010600040101010101" pitchFamily="2" charset="-122"/>
                <a:sym typeface="Wingdings" panose="05000000000000000000" pitchFamily="2" charset="2"/>
              </a:rPr>
              <a:t>end for</a:t>
            </a:r>
          </a:p>
          <a:p>
            <a:pPr lvl="1" eaLnBrk="1" hangingPunct="1">
              <a:lnSpc>
                <a:spcPct val="80000"/>
              </a:lnSpc>
              <a:buNone/>
            </a:pPr>
            <a:r>
              <a:rPr lang="en-US" altLang="zh-CN" sz="1300" dirty="0">
                <a:ea typeface="华文楷体" panose="02010600040101010101" pitchFamily="2" charset="-122"/>
                <a:sym typeface="Wingdings" panose="05000000000000000000" pitchFamily="2" charset="2"/>
              </a:rPr>
              <a:t>4. </a:t>
            </a:r>
            <a:r>
              <a:rPr lang="en-US" altLang="zh-CN" sz="1300" i="1" dirty="0">
                <a:ea typeface="华文楷体" panose="02010600040101010101" pitchFamily="2" charset="-122"/>
                <a:sym typeface="Wingdings" panose="05000000000000000000" pitchFamily="2" charset="2"/>
              </a:rPr>
              <a:t>flagfalse</a:t>
            </a:r>
          </a:p>
          <a:p>
            <a:pPr lvl="1" eaLnBrk="1" hangingPunct="1">
              <a:lnSpc>
                <a:spcPct val="80000"/>
              </a:lnSpc>
              <a:buNone/>
            </a:pPr>
            <a:r>
              <a:rPr lang="en-US" altLang="zh-CN" sz="1300" i="1" dirty="0">
                <a:ea typeface="华文楷体" panose="02010600040101010101" pitchFamily="2" charset="-122"/>
                <a:sym typeface="Wingdings" panose="05000000000000000000" pitchFamily="2" charset="2"/>
              </a:rPr>
              <a:t>5. s  0; r w[1]+w[2]+…+w[n]</a:t>
            </a:r>
          </a:p>
          <a:p>
            <a:pPr lvl="1" eaLnBrk="1" hangingPunct="1">
              <a:lnSpc>
                <a:spcPct val="80000"/>
              </a:lnSpc>
              <a:buNone/>
            </a:pPr>
            <a:r>
              <a:rPr lang="en-US" altLang="zh-CN" sz="1300" dirty="0">
                <a:ea typeface="华文楷体" panose="02010600040101010101" pitchFamily="2" charset="-122"/>
                <a:sym typeface="Wingdings" panose="05000000000000000000" pitchFamily="2" charset="2"/>
              </a:rPr>
              <a:t>6. If r</a:t>
            </a:r>
            <a:r>
              <a:rPr lang="en-US" altLang="zh-CN" sz="1300" dirty="0">
                <a:ea typeface="华文楷体" panose="02010600040101010101" pitchFamily="2" charset="-122"/>
                <a:sym typeface="Symbol" pitchFamily="18" charset="2"/>
              </a:rPr>
              <a:t>  M </a:t>
            </a:r>
            <a:r>
              <a:rPr lang="en-US" altLang="zh-CN" sz="1300" b="1" dirty="0">
                <a:ea typeface="华文楷体" panose="02010600040101010101" pitchFamily="2" charset="-122"/>
                <a:sym typeface="Symbol" pitchFamily="18" charset="2"/>
              </a:rPr>
              <a:t>then</a:t>
            </a:r>
            <a:r>
              <a:rPr lang="en-US" altLang="zh-CN" sz="1300" dirty="0">
                <a:ea typeface="华文楷体" panose="02010600040101010101" pitchFamily="2" charset="-122"/>
                <a:sym typeface="Symbol" pitchFamily="18" charset="2"/>
              </a:rPr>
              <a:t> </a:t>
            </a:r>
            <a:r>
              <a:rPr lang="en-US" altLang="zh-CN" sz="1300" dirty="0">
                <a:ea typeface="华文楷体" panose="02010600040101010101" pitchFamily="2" charset="-122"/>
                <a:sym typeface="Wingdings" panose="05000000000000000000" pitchFamily="2" charset="2"/>
              </a:rPr>
              <a:t>SUMOFSUB(s,</a:t>
            </a:r>
            <a:r>
              <a:rPr lang="en-US" altLang="zh-CN" sz="1300" i="1" dirty="0">
                <a:ea typeface="华文楷体" panose="02010600040101010101" pitchFamily="2" charset="-122"/>
                <a:sym typeface="Wingdings" panose="05000000000000000000" pitchFamily="2" charset="2"/>
              </a:rPr>
              <a:t>1,r) </a:t>
            </a:r>
            <a:r>
              <a:rPr lang="en-US" altLang="zh-CN" sz="1300" b="1" dirty="0">
                <a:ea typeface="华文楷体" panose="02010600040101010101" pitchFamily="2" charset="-122"/>
                <a:sym typeface="Wingdings" panose="05000000000000000000" pitchFamily="2" charset="2"/>
              </a:rPr>
              <a:t>endif</a:t>
            </a:r>
          </a:p>
          <a:p>
            <a:pPr lvl="1" eaLnBrk="1" hangingPunct="1">
              <a:lnSpc>
                <a:spcPct val="80000"/>
              </a:lnSpc>
              <a:buNone/>
            </a:pPr>
            <a:r>
              <a:rPr lang="en-US" altLang="zh-CN" sz="1300" dirty="0">
                <a:ea typeface="华文楷体" panose="02010600040101010101" pitchFamily="2" charset="-122"/>
                <a:sym typeface="Wingdings" panose="05000000000000000000" pitchFamily="2" charset="2"/>
              </a:rPr>
              <a:t>7. </a:t>
            </a:r>
            <a:r>
              <a:rPr lang="en-US" altLang="zh-CN" sz="1300" b="1" dirty="0">
                <a:ea typeface="华文楷体" panose="02010600040101010101" pitchFamily="2" charset="-122"/>
                <a:sym typeface="Wingdings" panose="05000000000000000000" pitchFamily="2" charset="2"/>
              </a:rPr>
              <a:t>if</a:t>
            </a:r>
            <a:r>
              <a:rPr lang="en-US" altLang="zh-CN" sz="1300" dirty="0">
                <a:ea typeface="华文楷体" panose="02010600040101010101" pitchFamily="2" charset="-122"/>
                <a:sym typeface="Wingdings" panose="05000000000000000000" pitchFamily="2" charset="2"/>
              </a:rPr>
              <a:t> </a:t>
            </a:r>
            <a:r>
              <a:rPr lang="en-US" altLang="zh-CN" sz="1300" i="1" dirty="0">
                <a:ea typeface="华文楷体" panose="02010600040101010101" pitchFamily="2" charset="-122"/>
                <a:sym typeface="Wingdings" panose="05000000000000000000" pitchFamily="2" charset="2"/>
              </a:rPr>
              <a:t>flag</a:t>
            </a:r>
            <a:r>
              <a:rPr lang="en-US" altLang="zh-CN" sz="1300" dirty="0">
                <a:ea typeface="华文楷体" panose="02010600040101010101" pitchFamily="2" charset="-122"/>
                <a:sym typeface="Wingdings" panose="05000000000000000000" pitchFamily="2" charset="2"/>
              </a:rPr>
              <a:t> </a:t>
            </a:r>
            <a:r>
              <a:rPr lang="en-US" altLang="zh-CN" sz="1300" b="1" dirty="0">
                <a:ea typeface="华文楷体" panose="02010600040101010101" pitchFamily="2" charset="-122"/>
                <a:sym typeface="Wingdings" panose="05000000000000000000" pitchFamily="2" charset="2"/>
              </a:rPr>
              <a:t>then</a:t>
            </a:r>
            <a:r>
              <a:rPr lang="en-US" altLang="zh-CN" sz="1300" dirty="0">
                <a:ea typeface="华文楷体" panose="02010600040101010101" pitchFamily="2" charset="-122"/>
                <a:sym typeface="Wingdings" panose="05000000000000000000" pitchFamily="2" charset="2"/>
              </a:rPr>
              <a:t> </a:t>
            </a:r>
            <a:r>
              <a:rPr lang="en-US" altLang="zh-CN" sz="1300" b="1" dirty="0">
                <a:ea typeface="华文楷体" panose="02010600040101010101" pitchFamily="2" charset="-122"/>
                <a:sym typeface="Wingdings" panose="05000000000000000000" pitchFamily="2" charset="2"/>
              </a:rPr>
              <a:t>output</a:t>
            </a:r>
            <a:r>
              <a:rPr lang="en-US" altLang="zh-CN" sz="1300" dirty="0">
                <a:ea typeface="华文楷体" panose="02010600040101010101" pitchFamily="2" charset="-122"/>
                <a:sym typeface="Wingdings" panose="05000000000000000000" pitchFamily="2" charset="2"/>
              </a:rPr>
              <a:t> x </a:t>
            </a:r>
            <a:endParaRPr lang="en-US" altLang="zh-CN" sz="1300" b="1" i="1" dirty="0">
              <a:ea typeface="华文楷体" panose="02010600040101010101" pitchFamily="2" charset="-122"/>
              <a:sym typeface="Wingdings" panose="05000000000000000000" pitchFamily="2" charset="2"/>
            </a:endParaRPr>
          </a:p>
          <a:p>
            <a:pPr lvl="1" eaLnBrk="1" hangingPunct="1">
              <a:lnSpc>
                <a:spcPct val="80000"/>
              </a:lnSpc>
              <a:buNone/>
            </a:pPr>
            <a:r>
              <a:rPr lang="en-US" altLang="zh-CN" sz="1300" dirty="0">
                <a:ea typeface="华文楷体" panose="02010600040101010101" pitchFamily="2" charset="-122"/>
                <a:sym typeface="Wingdings" panose="05000000000000000000" pitchFamily="2" charset="2"/>
              </a:rPr>
              <a:t>8. </a:t>
            </a:r>
            <a:r>
              <a:rPr lang="en-US" altLang="zh-CN" sz="1300" b="1" dirty="0">
                <a:ea typeface="华文楷体" panose="02010600040101010101" pitchFamily="2" charset="-122"/>
                <a:sym typeface="Wingdings" panose="05000000000000000000" pitchFamily="2" charset="2"/>
              </a:rPr>
              <a:t>else</a:t>
            </a:r>
            <a:r>
              <a:rPr lang="en-US" altLang="zh-CN" sz="1300" dirty="0">
                <a:ea typeface="华文楷体" panose="02010600040101010101" pitchFamily="2" charset="-122"/>
                <a:sym typeface="Wingdings" panose="05000000000000000000" pitchFamily="2" charset="2"/>
              </a:rPr>
              <a:t> </a:t>
            </a:r>
            <a:r>
              <a:rPr lang="en-US" altLang="zh-CN" sz="1300" b="1" dirty="0">
                <a:ea typeface="华文楷体" panose="02010600040101010101" pitchFamily="2" charset="-122"/>
                <a:sym typeface="Wingdings" panose="05000000000000000000" pitchFamily="2" charset="2"/>
              </a:rPr>
              <a:t>output</a:t>
            </a:r>
            <a:r>
              <a:rPr lang="en-US" altLang="zh-CN" sz="1300" dirty="0">
                <a:ea typeface="华文楷体" panose="02010600040101010101" pitchFamily="2" charset="-122"/>
                <a:sym typeface="Wingdings" panose="05000000000000000000" pitchFamily="2" charset="2"/>
              </a:rPr>
              <a:t> “no solution”</a:t>
            </a:r>
          </a:p>
          <a:p>
            <a:pPr lvl="1" eaLnBrk="1" hangingPunct="1">
              <a:lnSpc>
                <a:spcPct val="80000"/>
              </a:lnSpc>
              <a:buNone/>
            </a:pPr>
            <a:r>
              <a:rPr lang="en-US" altLang="zh-CN" sz="1300" dirty="0">
                <a:ea typeface="华文楷体" panose="02010600040101010101" pitchFamily="2" charset="-122"/>
                <a:sym typeface="Wingdings" panose="05000000000000000000" pitchFamily="2" charset="2"/>
              </a:rPr>
              <a:t>9. </a:t>
            </a:r>
            <a:r>
              <a:rPr lang="en-US" altLang="zh-CN" sz="1300" b="1" dirty="0">
                <a:ea typeface="华文楷体" panose="02010600040101010101" pitchFamily="2" charset="-122"/>
                <a:sym typeface="Wingdings" panose="05000000000000000000" pitchFamily="2" charset="2"/>
              </a:rPr>
              <a:t>end if</a:t>
            </a:r>
          </a:p>
          <a:p>
            <a:pPr lvl="1" eaLnBrk="1" hangingPunct="1">
              <a:lnSpc>
                <a:spcPct val="80000"/>
              </a:lnSpc>
              <a:buNone/>
            </a:pPr>
            <a:endParaRPr lang="en-US" altLang="zh-CN" sz="1300" b="1" dirty="0">
              <a:ea typeface="华文楷体" panose="02010600040101010101" pitchFamily="2" charset="-122"/>
              <a:sym typeface="Wingdings" panose="05000000000000000000" pitchFamily="2" charset="2"/>
            </a:endParaRPr>
          </a:p>
          <a:p>
            <a:pPr lvl="1" eaLnBrk="1" hangingPunct="1">
              <a:lnSpc>
                <a:spcPct val="80000"/>
              </a:lnSpc>
              <a:buNone/>
            </a:pPr>
            <a:r>
              <a:rPr lang="en-US" altLang="zh-CN" sz="1300" b="1" dirty="0">
                <a:ea typeface="华文楷体" panose="02010600040101010101" pitchFamily="2" charset="-122"/>
                <a:sym typeface="Wingdings" panose="05000000000000000000" pitchFamily="2" charset="2"/>
              </a:rPr>
              <a:t>Procedure</a:t>
            </a:r>
            <a:r>
              <a:rPr lang="en-US" altLang="zh-CN" sz="1300" dirty="0">
                <a:ea typeface="华文楷体" panose="02010600040101010101" pitchFamily="2" charset="-122"/>
                <a:sym typeface="Wingdings" panose="05000000000000000000" pitchFamily="2" charset="2"/>
              </a:rPr>
              <a:t> SUMOFSUB</a:t>
            </a:r>
            <a:r>
              <a:rPr lang="en-US" altLang="zh-CN" sz="1300" i="1" dirty="0">
                <a:ea typeface="华文楷体" panose="02010600040101010101" pitchFamily="2" charset="-122"/>
                <a:sym typeface="Wingdings" panose="05000000000000000000" pitchFamily="2" charset="2"/>
              </a:rPr>
              <a:t> (s,k,r)</a:t>
            </a:r>
          </a:p>
          <a:p>
            <a:pPr lvl="1" eaLnBrk="1" hangingPunct="1">
              <a:lnSpc>
                <a:spcPct val="80000"/>
              </a:lnSpc>
              <a:buNone/>
            </a:pPr>
            <a:r>
              <a:rPr lang="en-US" altLang="zh-CN" sz="1300" dirty="0">
                <a:ea typeface="华文楷体" panose="02010600040101010101" pitchFamily="2" charset="-122"/>
                <a:sym typeface="Wingdings" panose="05000000000000000000" pitchFamily="2" charset="2"/>
              </a:rPr>
              <a:t>1. x[k] </a:t>
            </a:r>
            <a:r>
              <a:rPr lang="en-US" altLang="zh-CN" sz="1300" i="1" dirty="0">
                <a:ea typeface="华文楷体" panose="02010600040101010101" pitchFamily="2" charset="-122"/>
                <a:sym typeface="Wingdings" panose="05000000000000000000" pitchFamily="2" charset="2"/>
              </a:rPr>
              <a:t></a:t>
            </a:r>
            <a:r>
              <a:rPr lang="en-US" altLang="zh-CN" sz="1300" dirty="0">
                <a:ea typeface="华文楷体" panose="02010600040101010101" pitchFamily="2" charset="-122"/>
                <a:sym typeface="Wingdings" panose="05000000000000000000" pitchFamily="2" charset="2"/>
              </a:rPr>
              <a:t> 1</a:t>
            </a:r>
            <a:endParaRPr lang="en-US" altLang="zh-CN" sz="1300" i="1" dirty="0">
              <a:ea typeface="华文楷体" panose="02010600040101010101" pitchFamily="2" charset="-122"/>
              <a:sym typeface="Wingdings" panose="05000000000000000000" pitchFamily="2" charset="2"/>
            </a:endParaRPr>
          </a:p>
          <a:p>
            <a:pPr lvl="1" eaLnBrk="1" hangingPunct="1">
              <a:lnSpc>
                <a:spcPct val="80000"/>
              </a:lnSpc>
              <a:buNone/>
            </a:pPr>
            <a:r>
              <a:rPr lang="en-US" altLang="zh-CN" sz="1300" dirty="0">
                <a:ea typeface="华文楷体" panose="02010600040101010101" pitchFamily="2" charset="-122"/>
              </a:rPr>
              <a:t>2. </a:t>
            </a:r>
            <a:r>
              <a:rPr lang="en-US" altLang="zh-CN" sz="1300" b="1" dirty="0">
                <a:ea typeface="华文楷体" panose="02010600040101010101" pitchFamily="2" charset="-122"/>
              </a:rPr>
              <a:t>if</a:t>
            </a:r>
            <a:r>
              <a:rPr lang="en-US" altLang="zh-CN" sz="1300" dirty="0">
                <a:ea typeface="华文楷体" panose="02010600040101010101" pitchFamily="2" charset="-122"/>
              </a:rPr>
              <a:t> s+w[k]=M     //x </a:t>
            </a:r>
            <a:r>
              <a:rPr lang="zh-CN" altLang="en-US" sz="1300" dirty="0">
                <a:ea typeface="华文楷体" panose="02010600040101010101" pitchFamily="2" charset="-122"/>
              </a:rPr>
              <a:t>是合法解</a:t>
            </a:r>
            <a:endParaRPr lang="en-US" altLang="zh-CN" sz="1300" dirty="0">
              <a:ea typeface="华文楷体" panose="02010600040101010101" pitchFamily="2" charset="-122"/>
            </a:endParaRPr>
          </a:p>
          <a:p>
            <a:pPr lvl="1" eaLnBrk="1" hangingPunct="1">
              <a:lnSpc>
                <a:spcPct val="80000"/>
              </a:lnSpc>
              <a:buNone/>
            </a:pPr>
            <a:r>
              <a:rPr lang="en-US" altLang="zh-CN" sz="1300" dirty="0">
                <a:ea typeface="华文楷体" panose="02010600040101010101" pitchFamily="2" charset="-122"/>
              </a:rPr>
              <a:t>3.</a:t>
            </a:r>
            <a:r>
              <a:rPr lang="en-US" altLang="zh-CN" sz="1300" b="1" dirty="0">
                <a:ea typeface="华文楷体" panose="02010600040101010101" pitchFamily="2" charset="-122"/>
              </a:rPr>
              <a:t> then</a:t>
            </a:r>
            <a:r>
              <a:rPr lang="en-US" altLang="zh-CN" sz="1300" dirty="0">
                <a:ea typeface="华文楷体" panose="02010600040101010101" pitchFamily="2" charset="-122"/>
              </a:rPr>
              <a:t> set </a:t>
            </a:r>
            <a:r>
              <a:rPr lang="en-US" altLang="zh-CN" sz="1300" i="1" dirty="0">
                <a:ea typeface="华文楷体" panose="02010600040101010101" pitchFamily="2" charset="-122"/>
              </a:rPr>
              <a:t>flag</a:t>
            </a:r>
            <a:r>
              <a:rPr lang="en-US" altLang="zh-CN" sz="1300" i="1" dirty="0">
                <a:ea typeface="华文楷体" panose="02010600040101010101" pitchFamily="2" charset="-122"/>
                <a:sym typeface="Wingdings" panose="05000000000000000000" pitchFamily="2" charset="2"/>
              </a:rPr>
              <a:t>true</a:t>
            </a:r>
            <a:r>
              <a:rPr lang="en-US" altLang="zh-CN" sz="1300" dirty="0">
                <a:ea typeface="华文楷体" panose="02010600040101010101" pitchFamily="2" charset="-122"/>
                <a:sym typeface="Wingdings" panose="05000000000000000000" pitchFamily="2" charset="2"/>
              </a:rPr>
              <a:t> and </a:t>
            </a:r>
            <a:r>
              <a:rPr lang="en-US" altLang="zh-CN" sz="1300" b="1" dirty="0">
                <a:ea typeface="华文楷体" panose="02010600040101010101" pitchFamily="2" charset="-122"/>
                <a:sym typeface="Wingdings" panose="05000000000000000000" pitchFamily="2" charset="2"/>
              </a:rPr>
              <a:t>exit</a:t>
            </a:r>
          </a:p>
          <a:p>
            <a:pPr lvl="1" eaLnBrk="1" hangingPunct="1">
              <a:lnSpc>
                <a:spcPct val="80000"/>
              </a:lnSpc>
              <a:buNone/>
            </a:pPr>
            <a:r>
              <a:rPr lang="en-US" altLang="zh-CN" sz="1300" dirty="0">
                <a:ea typeface="华文楷体" panose="02010600040101010101" pitchFamily="2" charset="-122"/>
              </a:rPr>
              <a:t>4. </a:t>
            </a:r>
            <a:r>
              <a:rPr lang="en-US" altLang="zh-CN" sz="1300" b="1" dirty="0">
                <a:ea typeface="华文楷体" panose="02010600040101010101" pitchFamily="2" charset="-122"/>
              </a:rPr>
              <a:t>else </a:t>
            </a:r>
          </a:p>
          <a:p>
            <a:pPr lvl="1" eaLnBrk="1" hangingPunct="1">
              <a:lnSpc>
                <a:spcPct val="80000"/>
              </a:lnSpc>
              <a:buNone/>
            </a:pPr>
            <a:r>
              <a:rPr lang="en-US" altLang="zh-CN" sz="1300" dirty="0">
                <a:ea typeface="华文楷体" panose="02010600040101010101" pitchFamily="2" charset="-122"/>
              </a:rPr>
              <a:t>5.</a:t>
            </a:r>
            <a:r>
              <a:rPr lang="en-US" altLang="zh-CN" sz="1300" b="1" dirty="0">
                <a:ea typeface="华文楷体" panose="02010600040101010101" pitchFamily="2" charset="-122"/>
              </a:rPr>
              <a:t>     if</a:t>
            </a:r>
            <a:r>
              <a:rPr lang="en-US" altLang="zh-CN" sz="1300" dirty="0">
                <a:ea typeface="华文楷体" panose="02010600040101010101" pitchFamily="2" charset="-122"/>
              </a:rPr>
              <a:t> s+w[k]+w[k+1]</a:t>
            </a:r>
            <a:r>
              <a:rPr lang="en-US" altLang="zh-CN" sz="1300" dirty="0">
                <a:ea typeface="华文楷体" panose="02010600040101010101" pitchFamily="2" charset="-122"/>
                <a:sym typeface="Symbol" pitchFamily="18" charset="2"/>
              </a:rPr>
              <a:t>M     //</a:t>
            </a:r>
            <a:r>
              <a:rPr lang="en-US" altLang="zh-CN" sz="1300" dirty="0">
                <a:ea typeface="华文楷体" panose="02010600040101010101" pitchFamily="2" charset="-122"/>
              </a:rPr>
              <a:t>x </a:t>
            </a:r>
            <a:r>
              <a:rPr lang="zh-CN" altLang="en-US" sz="1300" dirty="0">
                <a:ea typeface="华文楷体" panose="02010600040101010101" pitchFamily="2" charset="-122"/>
              </a:rPr>
              <a:t>是部分的</a:t>
            </a:r>
            <a:r>
              <a:rPr lang="en-US" altLang="zh-CN" sz="1300" dirty="0">
                <a:ea typeface="华文楷体" panose="02010600040101010101" pitchFamily="2" charset="-122"/>
              </a:rPr>
              <a:t>        </a:t>
            </a:r>
            <a:r>
              <a:rPr lang="en-US" altLang="zh-CN" sz="1300" dirty="0">
                <a:ea typeface="华文楷体" panose="02010600040101010101" pitchFamily="2" charset="-122"/>
                <a:sym typeface="Symbol" pitchFamily="18" charset="2"/>
              </a:rPr>
              <a:t>B</a:t>
            </a:r>
            <a:r>
              <a:rPr lang="en-US" altLang="zh-CN" sz="1300" baseline="-25000" dirty="0">
                <a:ea typeface="华文楷体" panose="02010600040101010101" pitchFamily="2" charset="-122"/>
                <a:sym typeface="Symbol" pitchFamily="18" charset="2"/>
              </a:rPr>
              <a:t>k</a:t>
            </a:r>
            <a:r>
              <a:rPr lang="en-US" altLang="zh-CN" sz="1300" dirty="0">
                <a:ea typeface="华文楷体" panose="02010600040101010101" pitchFamily="2" charset="-122"/>
                <a:sym typeface="Symbol" pitchFamily="18" charset="2"/>
              </a:rPr>
              <a:t>=true</a:t>
            </a:r>
            <a:r>
              <a:rPr lang="zh-CN" altLang="en-US" sz="1300" dirty="0">
                <a:ea typeface="华文楷体" panose="02010600040101010101" pitchFamily="2" charset="-122"/>
                <a:sym typeface="Symbol" pitchFamily="18" charset="2"/>
              </a:rPr>
              <a:t>，</a:t>
            </a:r>
            <a:r>
              <a:rPr lang="zh-CN" altLang="en-US" sz="1300" dirty="0">
                <a:solidFill>
                  <a:srgbClr val="FF0000"/>
                </a:solidFill>
                <a:ea typeface="华文楷体" panose="02010600040101010101" pitchFamily="2" charset="-122"/>
                <a:sym typeface="Symbol" pitchFamily="18" charset="2"/>
              </a:rPr>
              <a:t>第</a:t>
            </a:r>
            <a:r>
              <a:rPr lang="en-US" altLang="zh-CN" sz="1300" dirty="0">
                <a:solidFill>
                  <a:srgbClr val="FF0000"/>
                </a:solidFill>
                <a:ea typeface="华文楷体" panose="02010600040101010101" pitchFamily="2" charset="-122"/>
                <a:sym typeface="Symbol" pitchFamily="18" charset="2"/>
              </a:rPr>
              <a:t>k</a:t>
            </a:r>
            <a:r>
              <a:rPr lang="zh-CN" altLang="en-US" sz="1300" dirty="0">
                <a:solidFill>
                  <a:srgbClr val="FF0000"/>
                </a:solidFill>
                <a:ea typeface="华文楷体" panose="02010600040101010101" pitchFamily="2" charset="-122"/>
                <a:sym typeface="Symbol" pitchFamily="18" charset="2"/>
              </a:rPr>
              <a:t>个数选入</a:t>
            </a:r>
            <a:endParaRPr lang="en-US" altLang="zh-CN" sz="1300" dirty="0">
              <a:solidFill>
                <a:srgbClr val="FF0000"/>
              </a:solidFill>
              <a:ea typeface="华文楷体" panose="02010600040101010101" pitchFamily="2" charset="-122"/>
            </a:endParaRPr>
          </a:p>
          <a:p>
            <a:pPr lvl="1" eaLnBrk="1" hangingPunct="1">
              <a:lnSpc>
                <a:spcPct val="80000"/>
              </a:lnSpc>
              <a:buAutoNum type="arabicPeriod" startAt="6"/>
            </a:pPr>
            <a:r>
              <a:rPr lang="en-US" altLang="zh-CN" sz="1300" b="1" dirty="0">
                <a:ea typeface="华文楷体" panose="02010600040101010101" pitchFamily="2" charset="-122"/>
              </a:rPr>
              <a:t>then</a:t>
            </a:r>
            <a:r>
              <a:rPr lang="en-US" altLang="zh-CN" sz="1300" dirty="0">
                <a:ea typeface="华文楷体" panose="02010600040101010101" pitchFamily="2" charset="-122"/>
              </a:rPr>
              <a:t> SUMOFSUB</a:t>
            </a:r>
            <a:r>
              <a:rPr lang="en-US" altLang="zh-CN" sz="1300" i="1" dirty="0">
                <a:ea typeface="华文楷体" panose="02010600040101010101" pitchFamily="2" charset="-122"/>
              </a:rPr>
              <a:t>(s+w[k],k+1,r-w[k])  //</a:t>
            </a:r>
            <a:r>
              <a:rPr lang="zh-CN" altLang="en-US" sz="1300" dirty="0">
                <a:ea typeface="华文楷体" panose="02010600040101010101" pitchFamily="2" charset="-122"/>
                <a:sym typeface="Symbol" pitchFamily="18" charset="2"/>
              </a:rPr>
              <a:t>递归调用第</a:t>
            </a:r>
            <a:r>
              <a:rPr lang="en-US" altLang="zh-CN" sz="1300" dirty="0">
                <a:ea typeface="华文楷体" panose="02010600040101010101" pitchFamily="2" charset="-122"/>
                <a:sym typeface="Symbol" pitchFamily="18" charset="2"/>
              </a:rPr>
              <a:t>k+1</a:t>
            </a:r>
            <a:r>
              <a:rPr lang="zh-CN" altLang="en-US" sz="1300" dirty="0">
                <a:ea typeface="华文楷体" panose="02010600040101010101" pitchFamily="2" charset="-122"/>
                <a:sym typeface="Symbol" pitchFamily="18" charset="2"/>
              </a:rPr>
              <a:t>个数</a:t>
            </a:r>
            <a:endParaRPr lang="en-US" altLang="zh-CN" sz="1300" dirty="0">
              <a:ea typeface="华文楷体" panose="02010600040101010101" pitchFamily="2" charset="-122"/>
              <a:sym typeface="Symbol" pitchFamily="18" charset="2"/>
            </a:endParaRPr>
          </a:p>
          <a:p>
            <a:pPr lvl="1" eaLnBrk="1" hangingPunct="1">
              <a:lnSpc>
                <a:spcPct val="80000"/>
              </a:lnSpc>
              <a:buNone/>
            </a:pPr>
            <a:r>
              <a:rPr lang="en-US" altLang="zh-CN" sz="1300" i="1" dirty="0">
                <a:ea typeface="华文楷体" panose="02010600040101010101" pitchFamily="2" charset="-122"/>
              </a:rPr>
              <a:t>7.     </a:t>
            </a:r>
            <a:r>
              <a:rPr lang="en-US" altLang="zh-CN" sz="1300" b="1" dirty="0">
                <a:ea typeface="华文楷体" panose="02010600040101010101" pitchFamily="2" charset="-122"/>
              </a:rPr>
              <a:t>end if</a:t>
            </a:r>
          </a:p>
          <a:p>
            <a:pPr lvl="1" eaLnBrk="1" hangingPunct="1">
              <a:lnSpc>
                <a:spcPct val="80000"/>
              </a:lnSpc>
              <a:buNone/>
            </a:pPr>
            <a:r>
              <a:rPr lang="en-US" altLang="zh-CN" sz="1300" dirty="0">
                <a:ea typeface="华文楷体" panose="02010600040101010101" pitchFamily="2" charset="-122"/>
              </a:rPr>
              <a:t>8.</a:t>
            </a:r>
            <a:r>
              <a:rPr lang="en-US" altLang="zh-CN" sz="1300" b="1" dirty="0">
                <a:ea typeface="华文楷体" panose="02010600040101010101" pitchFamily="2" charset="-122"/>
              </a:rPr>
              <a:t> end if</a:t>
            </a:r>
          </a:p>
          <a:p>
            <a:pPr lvl="1" eaLnBrk="1" hangingPunct="1">
              <a:lnSpc>
                <a:spcPct val="80000"/>
              </a:lnSpc>
              <a:buNone/>
            </a:pPr>
            <a:r>
              <a:rPr lang="en-US" altLang="zh-CN" sz="1300" dirty="0">
                <a:ea typeface="华文楷体" panose="02010600040101010101" pitchFamily="2" charset="-122"/>
              </a:rPr>
              <a:t>9.  </a:t>
            </a:r>
            <a:r>
              <a:rPr lang="en-US" altLang="zh-CN" sz="1300" b="1" dirty="0">
                <a:ea typeface="华文楷体" panose="02010600040101010101" pitchFamily="2" charset="-122"/>
              </a:rPr>
              <a:t>if</a:t>
            </a:r>
            <a:r>
              <a:rPr lang="en-US" altLang="zh-CN" sz="1300" dirty="0">
                <a:ea typeface="华文楷体" panose="02010600040101010101" pitchFamily="2" charset="-122"/>
              </a:rPr>
              <a:t> s+r-w[k]</a:t>
            </a:r>
            <a:r>
              <a:rPr lang="en-US" altLang="zh-CN" sz="1300" dirty="0">
                <a:ea typeface="华文楷体" panose="02010600040101010101" pitchFamily="2" charset="-122"/>
                <a:sym typeface="Symbol" pitchFamily="18" charset="2"/>
              </a:rPr>
              <a:t>M and s+w[k+1]M          //B</a:t>
            </a:r>
            <a:r>
              <a:rPr lang="en-US" altLang="zh-CN" sz="1300" baseline="-25000" dirty="0">
                <a:ea typeface="华文楷体" panose="02010600040101010101" pitchFamily="2" charset="-122"/>
                <a:sym typeface="Symbol" pitchFamily="18" charset="2"/>
              </a:rPr>
              <a:t>k</a:t>
            </a:r>
            <a:r>
              <a:rPr lang="en-US" altLang="zh-CN" sz="1300" dirty="0">
                <a:ea typeface="华文楷体" panose="02010600040101010101" pitchFamily="2" charset="-122"/>
                <a:sym typeface="Symbol" pitchFamily="18" charset="2"/>
              </a:rPr>
              <a:t>=false </a:t>
            </a:r>
            <a:r>
              <a:rPr lang="zh-CN" altLang="en-US" sz="1300" dirty="0">
                <a:solidFill>
                  <a:srgbClr val="FF0000"/>
                </a:solidFill>
                <a:ea typeface="华文楷体" panose="02010600040101010101" pitchFamily="2" charset="-122"/>
                <a:sym typeface="Symbol" pitchFamily="18" charset="2"/>
              </a:rPr>
              <a:t>第</a:t>
            </a:r>
            <a:r>
              <a:rPr lang="en-US" altLang="zh-CN" sz="1300" dirty="0">
                <a:solidFill>
                  <a:srgbClr val="FF0000"/>
                </a:solidFill>
                <a:ea typeface="华文楷体" panose="02010600040101010101" pitchFamily="2" charset="-122"/>
                <a:sym typeface="Symbol" pitchFamily="18" charset="2"/>
              </a:rPr>
              <a:t>k</a:t>
            </a:r>
            <a:r>
              <a:rPr lang="zh-CN" altLang="en-US" sz="1300" dirty="0">
                <a:solidFill>
                  <a:srgbClr val="FF0000"/>
                </a:solidFill>
                <a:ea typeface="华文楷体" panose="02010600040101010101" pitchFamily="2" charset="-122"/>
                <a:sym typeface="Symbol" pitchFamily="18" charset="2"/>
              </a:rPr>
              <a:t>个数不选入</a:t>
            </a:r>
            <a:endParaRPr lang="en-US" altLang="zh-CN" sz="1300" dirty="0">
              <a:solidFill>
                <a:srgbClr val="FF0000"/>
              </a:solidFill>
              <a:ea typeface="华文楷体" panose="02010600040101010101" pitchFamily="2" charset="-122"/>
              <a:sym typeface="Symbol" pitchFamily="18" charset="2"/>
            </a:endParaRPr>
          </a:p>
          <a:p>
            <a:pPr lvl="1" eaLnBrk="1" hangingPunct="1">
              <a:lnSpc>
                <a:spcPct val="80000"/>
              </a:lnSpc>
              <a:buNone/>
            </a:pPr>
            <a:r>
              <a:rPr lang="en-US" altLang="zh-CN" sz="1300" dirty="0">
                <a:ea typeface="华文楷体" panose="02010600040101010101" pitchFamily="2" charset="-122"/>
                <a:sym typeface="Symbol" pitchFamily="18" charset="2"/>
              </a:rPr>
              <a:t>10.</a:t>
            </a:r>
            <a:r>
              <a:rPr lang="en-US" altLang="zh-CN" sz="1300" b="1" dirty="0">
                <a:ea typeface="华文楷体" panose="02010600040101010101" pitchFamily="2" charset="-122"/>
                <a:sym typeface="Symbol" pitchFamily="18" charset="2"/>
              </a:rPr>
              <a:t> then </a:t>
            </a:r>
            <a:r>
              <a:rPr lang="en-US" altLang="zh-CN" sz="1300" dirty="0">
                <a:ea typeface="华文楷体" panose="02010600040101010101" pitchFamily="2" charset="-122"/>
                <a:sym typeface="Symbol" pitchFamily="18" charset="2"/>
              </a:rPr>
              <a:t>x[k]</a:t>
            </a:r>
            <a:r>
              <a:rPr lang="en-US" altLang="zh-CN" sz="1300" b="1" dirty="0">
                <a:ea typeface="华文楷体" panose="02010600040101010101" pitchFamily="2" charset="-122"/>
                <a:sym typeface="Symbol" pitchFamily="18" charset="2"/>
              </a:rPr>
              <a:t> </a:t>
            </a:r>
            <a:r>
              <a:rPr lang="en-US" altLang="zh-CN" sz="1300" i="1" dirty="0">
                <a:ea typeface="华文楷体" panose="02010600040101010101" pitchFamily="2" charset="-122"/>
                <a:sym typeface="Wingdings" panose="05000000000000000000" pitchFamily="2" charset="2"/>
              </a:rPr>
              <a:t></a:t>
            </a:r>
            <a:r>
              <a:rPr lang="en-US" altLang="zh-CN" sz="1300" dirty="0">
                <a:latin typeface="Times New Roman" panose="02020503050405090304" pitchFamily="18" charset="0"/>
                <a:ea typeface="华文楷体" panose="02010600040101010101" pitchFamily="2" charset="-122"/>
                <a:sym typeface="Wingdings" panose="05000000000000000000" pitchFamily="2" charset="2"/>
              </a:rPr>
              <a:t> 0, SUMOFSUB(s,k+1,r-w[k])</a:t>
            </a:r>
          </a:p>
          <a:p>
            <a:pPr lvl="1" eaLnBrk="1" hangingPunct="1">
              <a:lnSpc>
                <a:spcPct val="80000"/>
              </a:lnSpc>
              <a:buNone/>
            </a:pPr>
            <a:r>
              <a:rPr lang="en-US" altLang="zh-CN" sz="1300" dirty="0">
                <a:latin typeface="Times New Roman" panose="02020503050405090304" pitchFamily="18" charset="0"/>
                <a:ea typeface="华文楷体" panose="02010600040101010101" pitchFamily="2" charset="-122"/>
                <a:sym typeface="Wingdings" panose="05000000000000000000" pitchFamily="2" charset="2"/>
              </a:rPr>
              <a:t>11.</a:t>
            </a:r>
            <a:r>
              <a:rPr lang="en-US" altLang="zh-CN" sz="1300" b="1" dirty="0">
                <a:latin typeface="Times New Roman" panose="02020503050405090304" pitchFamily="18" charset="0"/>
                <a:ea typeface="华文楷体" panose="02010600040101010101" pitchFamily="2" charset="-122"/>
                <a:sym typeface="Wingdings" panose="05000000000000000000" pitchFamily="2" charset="2"/>
              </a:rPr>
              <a:t>end if</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页脚占位符 3"/>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88066" name="Rectangle 2"/>
          <p:cNvSpPr>
            <a:spLocks noGrp="1"/>
          </p:cNvSpPr>
          <p:nvPr>
            <p:ph type="title"/>
          </p:nvPr>
        </p:nvSpPr>
        <p:spPr/>
        <p:txBody>
          <a:bodyPr vert="horz" wrap="square" lIns="91440" tIns="45720" rIns="91440" bIns="45720" anchor="ctr" anchorCtr="0"/>
          <a:lstStyle/>
          <a:p>
            <a:pPr eaLnBrk="1" hangingPunct="1"/>
            <a:r>
              <a:rPr lang="en-US" altLang="zh-CN" dirty="0"/>
              <a:t>Example </a:t>
            </a:r>
          </a:p>
        </p:txBody>
      </p:sp>
      <p:sp>
        <p:nvSpPr>
          <p:cNvPr id="88067" name="Rectangle 3"/>
          <p:cNvSpPr>
            <a:spLocks noGrp="1"/>
          </p:cNvSpPr>
          <p:nvPr>
            <p:ph idx="1"/>
          </p:nvPr>
        </p:nvSpPr>
        <p:spPr>
          <a:xfrm>
            <a:off x="900113" y="1268413"/>
            <a:ext cx="4103687" cy="1152525"/>
          </a:xfrm>
        </p:spPr>
        <p:txBody>
          <a:bodyPr vert="horz" wrap="square" lIns="91440" tIns="45720" rIns="91440" bIns="45720" anchor="t" anchorCtr="0"/>
          <a:lstStyle/>
          <a:p>
            <a:pPr eaLnBrk="1" hangingPunct="1"/>
            <a:r>
              <a:rPr lang="en-US" altLang="zh-CN" dirty="0"/>
              <a:t>w[1..6]={5,10,12,13,15,18}, M=30</a:t>
            </a:r>
          </a:p>
        </p:txBody>
      </p:sp>
      <p:sp>
        <p:nvSpPr>
          <p:cNvPr id="153604" name="Text Box 4"/>
          <p:cNvSpPr txBox="1"/>
          <p:nvPr/>
        </p:nvSpPr>
        <p:spPr>
          <a:xfrm>
            <a:off x="6875463" y="620713"/>
            <a:ext cx="1008062" cy="392112"/>
          </a:xfrm>
          <a:prstGeom prst="rect">
            <a:avLst/>
          </a:prstGeom>
          <a:noFill/>
          <a:ln w="25400" cap="flat" cmpd="sng">
            <a:solidFill>
              <a:schemeClr val="tx1"/>
            </a:solidFill>
            <a:prstDash val="solid"/>
            <a:miter/>
            <a:headEnd type="none" w="med" len="med"/>
            <a:tailEnd type="none" w="med" len="med"/>
          </a:ln>
        </p:spPr>
        <p:txBody>
          <a:bodyPr anchor="t" anchorCtr="0">
            <a:spAutoFit/>
          </a:bodyPr>
          <a:lstStyle/>
          <a:p>
            <a:r>
              <a:rPr lang="en-US" altLang="zh-CN" sz="1800" dirty="0">
                <a:latin typeface="Arial" panose="020B0604020202090204" pitchFamily="34" charset="0"/>
                <a:ea typeface="宋体" pitchFamily="2" charset="-122"/>
              </a:rPr>
              <a:t>0,1,73</a:t>
            </a:r>
          </a:p>
        </p:txBody>
      </p:sp>
      <p:sp>
        <p:nvSpPr>
          <p:cNvPr id="153605" name="Line 5"/>
          <p:cNvSpPr/>
          <p:nvPr/>
        </p:nvSpPr>
        <p:spPr>
          <a:xfrm flipH="1">
            <a:off x="6659563" y="1052513"/>
            <a:ext cx="576262" cy="431800"/>
          </a:xfrm>
          <a:prstGeom prst="line">
            <a:avLst/>
          </a:prstGeom>
          <a:ln w="25400" cap="flat" cmpd="sng">
            <a:solidFill>
              <a:schemeClr val="tx1"/>
            </a:solidFill>
            <a:prstDash val="solid"/>
            <a:round/>
            <a:headEnd type="none" w="med" len="med"/>
            <a:tailEnd type="none" w="med" len="med"/>
          </a:ln>
        </p:spPr>
      </p:sp>
      <p:sp>
        <p:nvSpPr>
          <p:cNvPr id="153606" name="Text Box 6"/>
          <p:cNvSpPr txBox="1"/>
          <p:nvPr/>
        </p:nvSpPr>
        <p:spPr>
          <a:xfrm>
            <a:off x="5938838" y="981075"/>
            <a:ext cx="850900" cy="366713"/>
          </a:xfrm>
          <a:prstGeom prst="rect">
            <a:avLst/>
          </a:prstGeom>
          <a:noFill/>
          <a:ln w="25400">
            <a:noFill/>
          </a:ln>
        </p:spPr>
        <p:txBody>
          <a:bodyPr wrap="none" anchor="t" anchorCtr="0">
            <a:spAutoFit/>
          </a:bodyPr>
          <a:lstStyle/>
          <a:p>
            <a:r>
              <a:rPr lang="en-US" altLang="zh-CN" sz="1800" dirty="0">
                <a:latin typeface="Arial" panose="020B0604020202090204" pitchFamily="34" charset="0"/>
                <a:ea typeface="宋体" pitchFamily="2" charset="-122"/>
              </a:rPr>
              <a:t>X[1]=1</a:t>
            </a:r>
          </a:p>
        </p:txBody>
      </p:sp>
      <p:sp>
        <p:nvSpPr>
          <p:cNvPr id="153607" name="Text Box 7"/>
          <p:cNvSpPr txBox="1"/>
          <p:nvPr/>
        </p:nvSpPr>
        <p:spPr>
          <a:xfrm>
            <a:off x="6156325" y="1484313"/>
            <a:ext cx="1079500" cy="392112"/>
          </a:xfrm>
          <a:prstGeom prst="rect">
            <a:avLst/>
          </a:prstGeom>
          <a:noFill/>
          <a:ln w="25400" cap="flat" cmpd="sng">
            <a:solidFill>
              <a:schemeClr val="tx1"/>
            </a:solidFill>
            <a:prstDash val="solid"/>
            <a:miter/>
            <a:headEnd type="none" w="med" len="med"/>
            <a:tailEnd type="none" w="med" len="med"/>
          </a:ln>
        </p:spPr>
        <p:txBody>
          <a:bodyPr anchor="t" anchorCtr="0">
            <a:spAutoFit/>
          </a:bodyPr>
          <a:lstStyle/>
          <a:p>
            <a:r>
              <a:rPr lang="en-US" altLang="zh-CN" sz="1800" dirty="0">
                <a:latin typeface="Arial" panose="020B0604020202090204" pitchFamily="34" charset="0"/>
                <a:ea typeface="宋体" pitchFamily="2" charset="-122"/>
              </a:rPr>
              <a:t>5,2,68</a:t>
            </a:r>
          </a:p>
        </p:txBody>
      </p:sp>
      <p:sp>
        <p:nvSpPr>
          <p:cNvPr id="153608" name="Line 8"/>
          <p:cNvSpPr/>
          <p:nvPr/>
        </p:nvSpPr>
        <p:spPr>
          <a:xfrm flipH="1">
            <a:off x="6156325" y="1917700"/>
            <a:ext cx="504825" cy="576263"/>
          </a:xfrm>
          <a:prstGeom prst="line">
            <a:avLst/>
          </a:prstGeom>
          <a:ln w="25400" cap="flat" cmpd="sng">
            <a:solidFill>
              <a:schemeClr val="tx1"/>
            </a:solidFill>
            <a:prstDash val="solid"/>
            <a:round/>
            <a:headEnd type="none" w="med" len="med"/>
            <a:tailEnd type="none" w="med" len="med"/>
          </a:ln>
        </p:spPr>
      </p:sp>
      <p:sp>
        <p:nvSpPr>
          <p:cNvPr id="153609" name="Text Box 9"/>
          <p:cNvSpPr txBox="1"/>
          <p:nvPr/>
        </p:nvSpPr>
        <p:spPr>
          <a:xfrm>
            <a:off x="5507038" y="1989138"/>
            <a:ext cx="850900" cy="366712"/>
          </a:xfrm>
          <a:prstGeom prst="rect">
            <a:avLst/>
          </a:prstGeom>
          <a:noFill/>
          <a:ln w="25400">
            <a:noFill/>
          </a:ln>
        </p:spPr>
        <p:txBody>
          <a:bodyPr wrap="none" anchor="t" anchorCtr="0">
            <a:spAutoFit/>
          </a:bodyPr>
          <a:lstStyle/>
          <a:p>
            <a:r>
              <a:rPr lang="en-US" altLang="zh-CN" sz="1800" dirty="0">
                <a:latin typeface="Arial" panose="020B0604020202090204" pitchFamily="34" charset="0"/>
                <a:ea typeface="宋体" pitchFamily="2" charset="-122"/>
              </a:rPr>
              <a:t>X[2]=1</a:t>
            </a:r>
          </a:p>
        </p:txBody>
      </p:sp>
      <p:sp>
        <p:nvSpPr>
          <p:cNvPr id="153610" name="Text Box 10"/>
          <p:cNvSpPr txBox="1"/>
          <p:nvPr/>
        </p:nvSpPr>
        <p:spPr>
          <a:xfrm>
            <a:off x="5580063" y="2492375"/>
            <a:ext cx="1081087" cy="392113"/>
          </a:xfrm>
          <a:prstGeom prst="rect">
            <a:avLst/>
          </a:prstGeom>
          <a:noFill/>
          <a:ln w="25400" cap="flat" cmpd="sng">
            <a:solidFill>
              <a:schemeClr val="tx1"/>
            </a:solidFill>
            <a:prstDash val="solid"/>
            <a:miter/>
            <a:headEnd type="none" w="med" len="med"/>
            <a:tailEnd type="none" w="med" len="med"/>
          </a:ln>
        </p:spPr>
        <p:txBody>
          <a:bodyPr anchor="t" anchorCtr="0">
            <a:spAutoFit/>
          </a:bodyPr>
          <a:lstStyle/>
          <a:p>
            <a:r>
              <a:rPr lang="en-US" altLang="zh-CN" sz="1800" dirty="0">
                <a:latin typeface="Arial" panose="020B0604020202090204" pitchFamily="34" charset="0"/>
                <a:ea typeface="宋体" pitchFamily="2" charset="-122"/>
              </a:rPr>
              <a:t>15,3,58</a:t>
            </a:r>
          </a:p>
        </p:txBody>
      </p:sp>
      <p:sp>
        <p:nvSpPr>
          <p:cNvPr id="153611" name="Line 11"/>
          <p:cNvSpPr/>
          <p:nvPr/>
        </p:nvSpPr>
        <p:spPr>
          <a:xfrm flipH="1">
            <a:off x="5722938" y="2925763"/>
            <a:ext cx="360362" cy="431800"/>
          </a:xfrm>
          <a:prstGeom prst="line">
            <a:avLst/>
          </a:prstGeom>
          <a:ln w="25400" cap="flat" cmpd="sng">
            <a:solidFill>
              <a:schemeClr val="tx1"/>
            </a:solidFill>
            <a:prstDash val="solid"/>
            <a:round/>
            <a:headEnd type="none" w="med" len="med"/>
            <a:tailEnd type="none" w="med" len="med"/>
          </a:ln>
        </p:spPr>
      </p:sp>
      <p:sp>
        <p:nvSpPr>
          <p:cNvPr id="153612" name="Text Box 12"/>
          <p:cNvSpPr txBox="1"/>
          <p:nvPr/>
        </p:nvSpPr>
        <p:spPr>
          <a:xfrm>
            <a:off x="4787900" y="2852738"/>
            <a:ext cx="850900" cy="366712"/>
          </a:xfrm>
          <a:prstGeom prst="rect">
            <a:avLst/>
          </a:prstGeom>
          <a:noFill/>
          <a:ln w="25400">
            <a:noFill/>
          </a:ln>
        </p:spPr>
        <p:txBody>
          <a:bodyPr wrap="none" anchor="t" anchorCtr="0">
            <a:spAutoFit/>
          </a:bodyPr>
          <a:lstStyle/>
          <a:p>
            <a:r>
              <a:rPr lang="en-US" altLang="zh-CN" sz="1800" dirty="0">
                <a:latin typeface="Arial" panose="020B0604020202090204" pitchFamily="34" charset="0"/>
                <a:ea typeface="宋体" pitchFamily="2" charset="-122"/>
              </a:rPr>
              <a:t>X[3]=1</a:t>
            </a:r>
          </a:p>
        </p:txBody>
      </p:sp>
      <p:sp>
        <p:nvSpPr>
          <p:cNvPr id="153613" name="Oval 13"/>
          <p:cNvSpPr/>
          <p:nvPr/>
        </p:nvSpPr>
        <p:spPr>
          <a:xfrm>
            <a:off x="5435600" y="3284538"/>
            <a:ext cx="503238" cy="504825"/>
          </a:xfrm>
          <a:prstGeom prst="ellipse">
            <a:avLst/>
          </a:prstGeom>
          <a:solidFill>
            <a:schemeClr val="accent1"/>
          </a:solidFill>
          <a:ln w="25400" cap="flat" cmpd="sng">
            <a:solidFill>
              <a:schemeClr val="tx1"/>
            </a:solidFill>
            <a:prstDash val="solid"/>
            <a:round/>
            <a:headEnd type="none" w="med" len="med"/>
            <a:tailEnd type="none" w="med" len="med"/>
          </a:ln>
        </p:spPr>
        <p:txBody>
          <a:bodyPr wrap="none" anchor="ctr" anchorCtr="0">
            <a:spAutoFit/>
          </a:bodyPr>
          <a:lstStyle/>
          <a:p>
            <a:endParaRPr lang="zh-CN" altLang="en-US" dirty="0">
              <a:latin typeface="Arial" panose="020B0604020202090204" pitchFamily="34" charset="0"/>
              <a:ea typeface="宋体" pitchFamily="2" charset="-122"/>
            </a:endParaRPr>
          </a:p>
        </p:txBody>
      </p:sp>
      <p:sp>
        <p:nvSpPr>
          <p:cNvPr id="153614" name="Line 14"/>
          <p:cNvSpPr/>
          <p:nvPr/>
        </p:nvSpPr>
        <p:spPr>
          <a:xfrm>
            <a:off x="6083300" y="2925763"/>
            <a:ext cx="504825" cy="503237"/>
          </a:xfrm>
          <a:prstGeom prst="line">
            <a:avLst/>
          </a:prstGeom>
          <a:ln w="25400" cap="flat" cmpd="sng">
            <a:solidFill>
              <a:schemeClr val="tx1"/>
            </a:solidFill>
            <a:prstDash val="solid"/>
            <a:round/>
            <a:headEnd type="none" w="med" len="med"/>
            <a:tailEnd type="none" w="med" len="med"/>
          </a:ln>
        </p:spPr>
      </p:sp>
      <p:sp>
        <p:nvSpPr>
          <p:cNvPr id="153615" name="Text Box 15"/>
          <p:cNvSpPr txBox="1"/>
          <p:nvPr/>
        </p:nvSpPr>
        <p:spPr>
          <a:xfrm>
            <a:off x="6083300" y="3429000"/>
            <a:ext cx="1081088" cy="392113"/>
          </a:xfrm>
          <a:prstGeom prst="rect">
            <a:avLst/>
          </a:prstGeom>
          <a:noFill/>
          <a:ln w="25400" cap="flat" cmpd="sng">
            <a:solidFill>
              <a:schemeClr val="tx1"/>
            </a:solidFill>
            <a:prstDash val="solid"/>
            <a:miter/>
            <a:headEnd type="none" w="med" len="med"/>
            <a:tailEnd type="none" w="med" len="med"/>
          </a:ln>
        </p:spPr>
        <p:txBody>
          <a:bodyPr anchor="t" anchorCtr="0">
            <a:spAutoFit/>
          </a:bodyPr>
          <a:lstStyle/>
          <a:p>
            <a:r>
              <a:rPr lang="en-US" altLang="zh-CN" sz="1800" dirty="0">
                <a:latin typeface="Arial" panose="020B0604020202090204" pitchFamily="34" charset="0"/>
                <a:ea typeface="宋体" pitchFamily="2" charset="-122"/>
              </a:rPr>
              <a:t>15,4,46</a:t>
            </a:r>
          </a:p>
        </p:txBody>
      </p:sp>
      <p:sp>
        <p:nvSpPr>
          <p:cNvPr id="153616" name="Text Box 16"/>
          <p:cNvSpPr txBox="1"/>
          <p:nvPr/>
        </p:nvSpPr>
        <p:spPr>
          <a:xfrm>
            <a:off x="6515100" y="2997200"/>
            <a:ext cx="850900" cy="366713"/>
          </a:xfrm>
          <a:prstGeom prst="rect">
            <a:avLst/>
          </a:prstGeom>
          <a:noFill/>
          <a:ln w="25400">
            <a:noFill/>
          </a:ln>
        </p:spPr>
        <p:txBody>
          <a:bodyPr wrap="none" anchor="t" anchorCtr="0">
            <a:spAutoFit/>
          </a:bodyPr>
          <a:lstStyle/>
          <a:p>
            <a:r>
              <a:rPr lang="en-US" altLang="zh-CN" sz="1800" dirty="0">
                <a:latin typeface="Arial" panose="020B0604020202090204" pitchFamily="34" charset="0"/>
                <a:ea typeface="宋体" pitchFamily="2" charset="-122"/>
              </a:rPr>
              <a:t>X[3]=0</a:t>
            </a:r>
          </a:p>
        </p:txBody>
      </p:sp>
      <p:sp>
        <p:nvSpPr>
          <p:cNvPr id="153617" name="Line 17"/>
          <p:cNvSpPr/>
          <p:nvPr/>
        </p:nvSpPr>
        <p:spPr>
          <a:xfrm flipH="1">
            <a:off x="6240463" y="3862388"/>
            <a:ext cx="360362" cy="431800"/>
          </a:xfrm>
          <a:prstGeom prst="line">
            <a:avLst/>
          </a:prstGeom>
          <a:ln w="25400" cap="flat" cmpd="sng">
            <a:solidFill>
              <a:schemeClr val="tx1"/>
            </a:solidFill>
            <a:prstDash val="solid"/>
            <a:round/>
            <a:headEnd type="none" w="med" len="med"/>
            <a:tailEnd type="none" w="med" len="med"/>
          </a:ln>
        </p:spPr>
      </p:sp>
      <p:sp>
        <p:nvSpPr>
          <p:cNvPr id="153618" name="Text Box 18"/>
          <p:cNvSpPr txBox="1"/>
          <p:nvPr/>
        </p:nvSpPr>
        <p:spPr>
          <a:xfrm>
            <a:off x="5305425" y="3789363"/>
            <a:ext cx="850900" cy="366712"/>
          </a:xfrm>
          <a:prstGeom prst="rect">
            <a:avLst/>
          </a:prstGeom>
          <a:noFill/>
          <a:ln w="25400">
            <a:noFill/>
          </a:ln>
        </p:spPr>
        <p:txBody>
          <a:bodyPr wrap="none" anchor="t" anchorCtr="0">
            <a:spAutoFit/>
          </a:bodyPr>
          <a:lstStyle/>
          <a:p>
            <a:r>
              <a:rPr lang="en-US" altLang="zh-CN" sz="1800" dirty="0">
                <a:latin typeface="Arial" panose="020B0604020202090204" pitchFamily="34" charset="0"/>
                <a:ea typeface="宋体" pitchFamily="2" charset="-122"/>
              </a:rPr>
              <a:t>X[4]=1</a:t>
            </a:r>
          </a:p>
        </p:txBody>
      </p:sp>
      <p:sp>
        <p:nvSpPr>
          <p:cNvPr id="153619" name="Oval 19"/>
          <p:cNvSpPr/>
          <p:nvPr/>
        </p:nvSpPr>
        <p:spPr>
          <a:xfrm>
            <a:off x="5953125" y="4221163"/>
            <a:ext cx="503238" cy="504825"/>
          </a:xfrm>
          <a:prstGeom prst="ellipse">
            <a:avLst/>
          </a:prstGeom>
          <a:solidFill>
            <a:schemeClr val="accent1"/>
          </a:solidFill>
          <a:ln w="25400" cap="flat" cmpd="sng">
            <a:solidFill>
              <a:schemeClr val="tx1"/>
            </a:solidFill>
            <a:prstDash val="solid"/>
            <a:round/>
            <a:headEnd type="none" w="med" len="med"/>
            <a:tailEnd type="none" w="med" len="med"/>
          </a:ln>
        </p:spPr>
        <p:txBody>
          <a:bodyPr wrap="none" anchor="ctr" anchorCtr="0">
            <a:spAutoFit/>
          </a:bodyPr>
          <a:lstStyle/>
          <a:p>
            <a:endParaRPr lang="zh-CN" altLang="en-US" dirty="0">
              <a:latin typeface="Arial" panose="020B0604020202090204" pitchFamily="34" charset="0"/>
              <a:ea typeface="宋体" pitchFamily="2" charset="-122"/>
            </a:endParaRPr>
          </a:p>
        </p:txBody>
      </p:sp>
      <p:sp>
        <p:nvSpPr>
          <p:cNvPr id="153620" name="Line 20"/>
          <p:cNvSpPr/>
          <p:nvPr/>
        </p:nvSpPr>
        <p:spPr>
          <a:xfrm>
            <a:off x="6600825" y="3862388"/>
            <a:ext cx="504825" cy="503237"/>
          </a:xfrm>
          <a:prstGeom prst="line">
            <a:avLst/>
          </a:prstGeom>
          <a:ln w="25400" cap="flat" cmpd="sng">
            <a:solidFill>
              <a:schemeClr val="tx1"/>
            </a:solidFill>
            <a:prstDash val="solid"/>
            <a:round/>
            <a:headEnd type="none" w="med" len="med"/>
            <a:tailEnd type="none" w="med" len="med"/>
          </a:ln>
        </p:spPr>
      </p:sp>
      <p:sp>
        <p:nvSpPr>
          <p:cNvPr id="153621" name="Text Box 21"/>
          <p:cNvSpPr txBox="1"/>
          <p:nvPr/>
        </p:nvSpPr>
        <p:spPr>
          <a:xfrm>
            <a:off x="6600825" y="4365625"/>
            <a:ext cx="1081088" cy="392113"/>
          </a:xfrm>
          <a:prstGeom prst="rect">
            <a:avLst/>
          </a:prstGeom>
          <a:noFill/>
          <a:ln w="25400" cap="flat" cmpd="sng">
            <a:solidFill>
              <a:schemeClr val="tx1"/>
            </a:solidFill>
            <a:prstDash val="solid"/>
            <a:miter/>
            <a:headEnd type="none" w="med" len="med"/>
            <a:tailEnd type="none" w="med" len="med"/>
          </a:ln>
        </p:spPr>
        <p:txBody>
          <a:bodyPr anchor="t" anchorCtr="0">
            <a:spAutoFit/>
          </a:bodyPr>
          <a:lstStyle/>
          <a:p>
            <a:r>
              <a:rPr lang="en-US" altLang="zh-CN" sz="1800" dirty="0">
                <a:latin typeface="Arial" panose="020B0604020202090204" pitchFamily="34" charset="0"/>
                <a:ea typeface="宋体" pitchFamily="2" charset="-122"/>
              </a:rPr>
              <a:t>15,5,33</a:t>
            </a:r>
          </a:p>
        </p:txBody>
      </p:sp>
      <p:sp>
        <p:nvSpPr>
          <p:cNvPr id="153622" name="Text Box 22"/>
          <p:cNvSpPr txBox="1"/>
          <p:nvPr/>
        </p:nvSpPr>
        <p:spPr>
          <a:xfrm>
            <a:off x="7032625" y="3933825"/>
            <a:ext cx="850900" cy="366713"/>
          </a:xfrm>
          <a:prstGeom prst="rect">
            <a:avLst/>
          </a:prstGeom>
          <a:noFill/>
          <a:ln w="25400">
            <a:noFill/>
          </a:ln>
        </p:spPr>
        <p:txBody>
          <a:bodyPr wrap="none" anchor="t" anchorCtr="0">
            <a:spAutoFit/>
          </a:bodyPr>
          <a:lstStyle/>
          <a:p>
            <a:r>
              <a:rPr lang="en-US" altLang="zh-CN" sz="1800" dirty="0">
                <a:latin typeface="Arial" panose="020B0604020202090204" pitchFamily="34" charset="0"/>
                <a:ea typeface="宋体" pitchFamily="2" charset="-122"/>
              </a:rPr>
              <a:t>X[4]=0</a:t>
            </a:r>
          </a:p>
        </p:txBody>
      </p:sp>
      <p:sp>
        <p:nvSpPr>
          <p:cNvPr id="153624" name="Line 24"/>
          <p:cNvSpPr/>
          <p:nvPr/>
        </p:nvSpPr>
        <p:spPr>
          <a:xfrm flipH="1">
            <a:off x="6659563" y="4724400"/>
            <a:ext cx="504825" cy="576263"/>
          </a:xfrm>
          <a:prstGeom prst="line">
            <a:avLst/>
          </a:prstGeom>
          <a:ln w="25400" cap="flat" cmpd="sng">
            <a:solidFill>
              <a:schemeClr val="tx1"/>
            </a:solidFill>
            <a:prstDash val="solid"/>
            <a:round/>
            <a:headEnd type="none" w="med" len="med"/>
            <a:tailEnd type="none" w="med" len="med"/>
          </a:ln>
        </p:spPr>
      </p:sp>
      <p:sp>
        <p:nvSpPr>
          <p:cNvPr id="153632" name="Text Box 32"/>
          <p:cNvSpPr txBox="1"/>
          <p:nvPr/>
        </p:nvSpPr>
        <p:spPr>
          <a:xfrm>
            <a:off x="5724525" y="4868863"/>
            <a:ext cx="850900" cy="366712"/>
          </a:xfrm>
          <a:prstGeom prst="rect">
            <a:avLst/>
          </a:prstGeom>
          <a:noFill/>
          <a:ln w="25400">
            <a:noFill/>
          </a:ln>
        </p:spPr>
        <p:txBody>
          <a:bodyPr wrap="none" anchor="t" anchorCtr="0">
            <a:spAutoFit/>
          </a:bodyPr>
          <a:lstStyle/>
          <a:p>
            <a:r>
              <a:rPr lang="en-US" altLang="zh-CN" sz="1800" dirty="0">
                <a:latin typeface="Arial" panose="020B0604020202090204" pitchFamily="34" charset="0"/>
                <a:ea typeface="宋体" pitchFamily="2" charset="-122"/>
              </a:rPr>
              <a:t>X[5]=1</a:t>
            </a:r>
          </a:p>
        </p:txBody>
      </p:sp>
      <p:sp>
        <p:nvSpPr>
          <p:cNvPr id="153633" name="Oval 33"/>
          <p:cNvSpPr/>
          <p:nvPr/>
        </p:nvSpPr>
        <p:spPr>
          <a:xfrm>
            <a:off x="6372225" y="5300663"/>
            <a:ext cx="503238" cy="504825"/>
          </a:xfrm>
          <a:prstGeom prst="ellipse">
            <a:avLst/>
          </a:prstGeom>
          <a:solidFill>
            <a:srgbClr val="FF0000"/>
          </a:solidFill>
          <a:ln w="25400" cap="flat" cmpd="sng">
            <a:solidFill>
              <a:srgbClr val="FF0000"/>
            </a:solidFill>
            <a:prstDash val="solid"/>
            <a:round/>
            <a:headEnd type="none" w="med" len="med"/>
            <a:tailEnd type="none" w="med" len="med"/>
          </a:ln>
        </p:spPr>
        <p:txBody>
          <a:bodyPr wrap="none" anchor="ctr" anchorCtr="0">
            <a:spAutoFit/>
          </a:bodyPr>
          <a:lstStyle/>
          <a:p>
            <a:endParaRPr lang="zh-CN" altLang="en-US" dirty="0">
              <a:latin typeface="Arial" panose="020B0604020202090204" pitchFamily="34" charset="0"/>
              <a:ea typeface="宋体" pitchFamily="2" charset="-122"/>
            </a:endParaRPr>
          </a:p>
        </p:txBody>
      </p:sp>
      <p:sp>
        <p:nvSpPr>
          <p:cNvPr id="2" name="矩形 1"/>
          <p:cNvSpPr/>
          <p:nvPr/>
        </p:nvSpPr>
        <p:spPr>
          <a:xfrm>
            <a:off x="3119438" y="3379788"/>
            <a:ext cx="1773237" cy="400050"/>
          </a:xfrm>
          <a:prstGeom prst="rect">
            <a:avLst/>
          </a:prstGeom>
          <a:noFill/>
          <a:ln w="9525">
            <a:noFill/>
          </a:ln>
        </p:spPr>
        <p:txBody>
          <a:bodyPr wrap="none" anchor="t" anchorCtr="0">
            <a:spAutoFit/>
          </a:bodyPr>
          <a:lstStyle/>
          <a:p>
            <a:pPr eaLnBrk="0" hangingPunct="0"/>
            <a:r>
              <a:rPr lang="en-US" altLang="zh-CN" dirty="0">
                <a:solidFill>
                  <a:srgbClr val="FF0000"/>
                </a:solidFill>
                <a:latin typeface="Arial" panose="020B0604020202090204" pitchFamily="34" charset="0"/>
                <a:ea typeface="宋体" pitchFamily="2" charset="-122"/>
              </a:rPr>
              <a:t>15+12+13&gt;30</a:t>
            </a:r>
            <a:endParaRPr lang="zh-CN" altLang="en-US" dirty="0">
              <a:solidFill>
                <a:srgbClr val="FF0000"/>
              </a:solidFill>
              <a:latin typeface="Arial" panose="020B0604020202090204" pitchFamily="34" charset="0"/>
              <a:ea typeface="宋体" pitchFamily="2" charset="-122"/>
            </a:endParaRPr>
          </a:p>
        </p:txBody>
      </p:sp>
      <p:cxnSp>
        <p:nvCxnSpPr>
          <p:cNvPr id="5" name="直接箭头连接符 4"/>
          <p:cNvCxnSpPr>
            <a:stCxn id="2" idx="3"/>
          </p:cNvCxnSpPr>
          <p:nvPr/>
        </p:nvCxnSpPr>
        <p:spPr>
          <a:xfrm flipV="1">
            <a:off x="4892675" y="3573463"/>
            <a:ext cx="412750" cy="6350"/>
          </a:xfrm>
          <a:prstGeom prst="straightConnector1">
            <a:avLst/>
          </a:prstGeom>
          <a:ln w="25400" cap="flat" cmpd="sng">
            <a:solidFill>
              <a:srgbClr val="FF0000"/>
            </a:solidFill>
            <a:prstDash val="solid"/>
            <a:round/>
            <a:headEnd type="none" w="med" len="med"/>
            <a:tailEnd type="triangle" w="med" len="med"/>
          </a:ln>
        </p:spPr>
      </p:cxnSp>
      <p:sp>
        <p:nvSpPr>
          <p:cNvPr id="31" name="矩形 30"/>
          <p:cNvSpPr/>
          <p:nvPr/>
        </p:nvSpPr>
        <p:spPr>
          <a:xfrm>
            <a:off x="3452813" y="4316413"/>
            <a:ext cx="1773237" cy="400050"/>
          </a:xfrm>
          <a:prstGeom prst="rect">
            <a:avLst/>
          </a:prstGeom>
          <a:noFill/>
          <a:ln w="9525">
            <a:noFill/>
          </a:ln>
        </p:spPr>
        <p:txBody>
          <a:bodyPr wrap="none" anchor="t" anchorCtr="0">
            <a:spAutoFit/>
          </a:bodyPr>
          <a:lstStyle/>
          <a:p>
            <a:pPr eaLnBrk="0" hangingPunct="0"/>
            <a:r>
              <a:rPr lang="en-US" altLang="zh-CN" dirty="0">
                <a:solidFill>
                  <a:srgbClr val="FF0000"/>
                </a:solidFill>
                <a:latin typeface="Arial" panose="020B0604020202090204" pitchFamily="34" charset="0"/>
                <a:ea typeface="宋体" pitchFamily="2" charset="-122"/>
              </a:rPr>
              <a:t>15+13+15&gt;30</a:t>
            </a:r>
            <a:endParaRPr lang="zh-CN" altLang="en-US" dirty="0">
              <a:solidFill>
                <a:srgbClr val="FF0000"/>
              </a:solidFill>
              <a:latin typeface="Arial" panose="020B0604020202090204" pitchFamily="34" charset="0"/>
              <a:ea typeface="宋体" pitchFamily="2" charset="-122"/>
            </a:endParaRPr>
          </a:p>
        </p:txBody>
      </p:sp>
      <p:cxnSp>
        <p:nvCxnSpPr>
          <p:cNvPr id="32" name="直接箭头连接符 31"/>
          <p:cNvCxnSpPr>
            <a:stCxn id="31" idx="3"/>
          </p:cNvCxnSpPr>
          <p:nvPr/>
        </p:nvCxnSpPr>
        <p:spPr>
          <a:xfrm flipV="1">
            <a:off x="5226050" y="4510088"/>
            <a:ext cx="412750" cy="6350"/>
          </a:xfrm>
          <a:prstGeom prst="straightConnector1">
            <a:avLst/>
          </a:prstGeom>
          <a:ln w="2540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0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0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6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36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36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36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36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arn(inVertical)">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53614"/>
                                        </p:tgtEl>
                                        <p:attrNameLst>
                                          <p:attrName>style.visibility</p:attrName>
                                        </p:attrNameLst>
                                      </p:cBhvr>
                                      <p:to>
                                        <p:strVal val="visible"/>
                                      </p:to>
                                    </p:set>
                                  </p:childTnLst>
                                </p:cTn>
                              </p:par>
                              <p:par>
                                <p:cTn id="52" presetID="16" presetClass="entr" presetSubtype="21" fill="hold" nodeType="with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barn(inVertical)">
                                      <p:cBhvr>
                                        <p:cTn id="54" dur="500"/>
                                        <p:tgtEl>
                                          <p:spTgt spid="5"/>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36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36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36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361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361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grpId="0" nodeType="click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barn(inVertical)">
                                      <p:cBhvr>
                                        <p:cTn id="79" dur="500"/>
                                        <p:tgtEl>
                                          <p:spTgt spid="31"/>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153620"/>
                                        </p:tgtEl>
                                        <p:attrNameLst>
                                          <p:attrName>style.visibility</p:attrName>
                                        </p:attrNameLst>
                                      </p:cBhvr>
                                      <p:to>
                                        <p:strVal val="visible"/>
                                      </p:to>
                                    </p:set>
                                  </p:childTnLst>
                                </p:cTn>
                              </p:par>
                              <p:par>
                                <p:cTn id="84" presetID="16" presetClass="entr" presetSubtype="21" fill="hold"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barn(inVertical)">
                                      <p:cBhvr>
                                        <p:cTn id="86" dur="500"/>
                                        <p:tgtEl>
                                          <p:spTgt spid="32"/>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5362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5362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5363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5362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536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4" grpId="0" animBg="1"/>
      <p:bldP spid="153606" grpId="0"/>
      <p:bldP spid="153607" grpId="0" animBg="1"/>
      <p:bldP spid="153609" grpId="0"/>
      <p:bldP spid="153610" grpId="0" animBg="1"/>
      <p:bldP spid="153612" grpId="0"/>
      <p:bldP spid="153613" grpId="0" animBg="1"/>
      <p:bldP spid="153615" grpId="0" animBg="1"/>
      <p:bldP spid="153616" grpId="0"/>
      <p:bldP spid="153618" grpId="0"/>
      <p:bldP spid="153619" grpId="0" animBg="1"/>
      <p:bldP spid="153621" grpId="0" animBg="1"/>
      <p:bldP spid="153622" grpId="0"/>
      <p:bldP spid="153632" grpId="0"/>
      <p:bldP spid="153633" grpId="0" animBg="1"/>
      <p:bldP spid="2" grpId="0"/>
      <p:bldP spid="3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89090" name="Rectangle 2"/>
          <p:cNvSpPr>
            <a:spLocks noGrp="1"/>
          </p:cNvSpPr>
          <p:nvPr>
            <p:ph type="title"/>
          </p:nvPr>
        </p:nvSpPr>
        <p:spPr/>
        <p:txBody>
          <a:bodyPr vert="horz" wrap="square" lIns="91440" tIns="45720" rIns="91440" bIns="45720" anchor="ctr" anchorCtr="0"/>
          <a:lstStyle/>
          <a:p>
            <a:pPr eaLnBrk="1" hangingPunct="1"/>
            <a:r>
              <a:rPr lang="en-US" altLang="zh-CN" dirty="0"/>
              <a:t>8.3.2</a:t>
            </a:r>
            <a:r>
              <a:rPr lang="zh-CN" altLang="en-US" dirty="0"/>
              <a:t>哈密顿回路问题</a:t>
            </a:r>
          </a:p>
        </p:txBody>
      </p:sp>
      <p:sp>
        <p:nvSpPr>
          <p:cNvPr id="89091" name="Rectangle 3"/>
          <p:cNvSpPr>
            <a:spLocks noGrp="1"/>
          </p:cNvSpPr>
          <p:nvPr>
            <p:ph type="body" sz="half" idx="1"/>
          </p:nvPr>
        </p:nvSpPr>
        <p:spPr>
          <a:xfrm>
            <a:off x="900113" y="1268413"/>
            <a:ext cx="8064500" cy="4525962"/>
          </a:xfrm>
        </p:spPr>
        <p:txBody>
          <a:bodyPr vert="horz" wrap="square" lIns="91440" tIns="45720" rIns="91440" bIns="45720" anchor="t" anchorCtr="0"/>
          <a:lstStyle/>
          <a:p>
            <a:pPr eaLnBrk="1" hangingPunct="1">
              <a:buClrTx/>
              <a:buSzTx/>
              <a:buFontTx/>
            </a:pPr>
            <a:endParaRPr lang="en-US" altLang="zh-CN" sz="2400" dirty="0"/>
          </a:p>
        </p:txBody>
      </p:sp>
      <p:pic>
        <p:nvPicPr>
          <p:cNvPr id="89092" name="Picture 6" descr="在这里插入图片描述"/>
          <p:cNvPicPr>
            <a:picLocks noChangeAspect="1"/>
          </p:cNvPicPr>
          <p:nvPr/>
        </p:nvPicPr>
        <p:blipFill>
          <a:blip r:embed="rId2"/>
          <a:stretch>
            <a:fillRect/>
          </a:stretch>
        </p:blipFill>
        <p:spPr>
          <a:xfrm>
            <a:off x="1146175" y="1412875"/>
            <a:ext cx="7627938" cy="1363663"/>
          </a:xfrm>
          <a:prstGeom prst="rect">
            <a:avLst/>
          </a:prstGeom>
          <a:noFill/>
          <a:ln w="9525">
            <a:noFill/>
          </a:ln>
        </p:spPr>
      </p:pic>
      <p:pic>
        <p:nvPicPr>
          <p:cNvPr id="89093" name="Picture 8" descr="https://img-blog.csdnimg.cn/20210605190316139.png?x-oss-process=image/watermark,type_ZmFuZ3poZW5naGVpdGk,shadow_10,text_aHR0cHM6Ly9ibG9nLmNzZG4ubmV0L25pY2VfX19hbXVzaW4=,size_16,color_FFFFFF,t_70"/>
          <p:cNvPicPr>
            <a:picLocks noChangeAspect="1"/>
          </p:cNvPicPr>
          <p:nvPr/>
        </p:nvPicPr>
        <p:blipFill>
          <a:blip r:embed="rId3"/>
          <a:stretch>
            <a:fillRect/>
          </a:stretch>
        </p:blipFill>
        <p:spPr>
          <a:xfrm>
            <a:off x="1235075" y="2954338"/>
            <a:ext cx="7008813" cy="225425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p:cNvSpPr>
          <p:nvPr>
            <p:ph type="title"/>
          </p:nvPr>
        </p:nvSpPr>
        <p:spPr/>
        <p:txBody>
          <a:bodyPr vert="horz" wrap="square" lIns="91440" tIns="45720" rIns="91440" bIns="45720" anchor="ctr" anchorCtr="0"/>
          <a:lstStyle/>
          <a:p>
            <a:pPr>
              <a:buNone/>
            </a:pPr>
            <a:r>
              <a:rPr lang="en-US" altLang="zh-CN" dirty="0"/>
              <a:t>8.3.2</a:t>
            </a:r>
            <a:r>
              <a:rPr lang="zh-CN" altLang="en-US" dirty="0"/>
              <a:t>哈密顿回路问题</a:t>
            </a:r>
          </a:p>
        </p:txBody>
      </p:sp>
      <p:sp>
        <p:nvSpPr>
          <p:cNvPr id="90114" name="文本占位符 2"/>
          <p:cNvSpPr>
            <a:spLocks noGrp="1"/>
          </p:cNvSpPr>
          <p:nvPr>
            <p:ph type="body" sz="half" idx="1"/>
          </p:nvPr>
        </p:nvSpPr>
        <p:spPr>
          <a:xfrm>
            <a:off x="900113" y="1268413"/>
            <a:ext cx="7869237" cy="4525962"/>
          </a:xfrm>
        </p:spPr>
        <p:txBody>
          <a:bodyPr vert="horz" wrap="square" lIns="91440" tIns="45720" rIns="91440" bIns="45720" anchor="t" anchorCtr="0"/>
          <a:lstStyle/>
          <a:p>
            <a:pPr>
              <a:buClrTx/>
              <a:buSzTx/>
              <a:buFontTx/>
            </a:pPr>
            <a:r>
              <a:rPr lang="zh-CN" altLang="en-US" b="1" dirty="0"/>
              <a:t>条件约束</a:t>
            </a:r>
            <a:r>
              <a:rPr lang="zh-CN" altLang="en-US" dirty="0"/>
              <a:t>：</a:t>
            </a:r>
            <a:br>
              <a:rPr lang="zh-CN" altLang="en-US" dirty="0"/>
            </a:br>
            <a:r>
              <a:rPr lang="en-US" altLang="zh-CN" dirty="0"/>
              <a:t>1.</a:t>
            </a:r>
            <a:r>
              <a:rPr lang="zh-CN" altLang="en-US" dirty="0"/>
              <a:t>加入路径的节点与前一个加入路径的顶点一定是连通的；</a:t>
            </a:r>
            <a:br>
              <a:rPr lang="zh-CN" altLang="en-US" dirty="0"/>
            </a:br>
            <a:r>
              <a:rPr lang="en-US" altLang="zh-CN" dirty="0"/>
              <a:t>2.</a:t>
            </a:r>
            <a:r>
              <a:rPr lang="zh-CN" altLang="en-US" dirty="0"/>
              <a:t>加入路径的最后一个顶点和第一个顶点一定是连通的；</a:t>
            </a:r>
            <a:br>
              <a:rPr lang="zh-CN" altLang="en-US" dirty="0"/>
            </a:br>
            <a:r>
              <a:rPr lang="en-US" altLang="zh-CN" dirty="0"/>
              <a:t>3.</a:t>
            </a:r>
            <a:r>
              <a:rPr lang="zh-CN" altLang="en-US" dirty="0"/>
              <a:t>路径上不能出现重复的顶点。</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p:cNvSpPr>
          <p:nvPr>
            <p:ph type="title"/>
          </p:nvPr>
        </p:nvSpPr>
        <p:spPr/>
        <p:txBody>
          <a:bodyPr vert="horz" wrap="square" lIns="91440" tIns="45720" rIns="91440" bIns="45720" anchor="ctr" anchorCtr="0"/>
          <a:lstStyle/>
          <a:p>
            <a:pPr>
              <a:buNone/>
            </a:pPr>
            <a:r>
              <a:rPr lang="en-US" altLang="zh-CN" dirty="0"/>
              <a:t>8.3.2</a:t>
            </a:r>
            <a:r>
              <a:rPr lang="zh-CN" altLang="en-US" dirty="0"/>
              <a:t>哈密顿回路问题</a:t>
            </a:r>
          </a:p>
        </p:txBody>
      </p:sp>
      <p:sp>
        <p:nvSpPr>
          <p:cNvPr id="91138" name="文本占位符 2"/>
          <p:cNvSpPr>
            <a:spLocks noGrp="1"/>
          </p:cNvSpPr>
          <p:nvPr>
            <p:ph type="body" sz="half" idx="1"/>
          </p:nvPr>
        </p:nvSpPr>
        <p:spPr/>
        <p:txBody>
          <a:bodyPr vert="horz" wrap="square" lIns="91440" tIns="45720" rIns="91440" bIns="45720" anchor="t" anchorCtr="0"/>
          <a:lstStyle/>
          <a:p>
            <a:pPr>
              <a:buClrTx/>
              <a:buSzTx/>
              <a:buFontTx/>
            </a:pPr>
            <a:endParaRPr lang="zh-CN" altLang="en-US" dirty="0"/>
          </a:p>
        </p:txBody>
      </p:sp>
      <p:sp>
        <p:nvSpPr>
          <p:cNvPr id="91139" name="内容占位符 3"/>
          <p:cNvSpPr>
            <a:spLocks noGrp="1"/>
          </p:cNvSpPr>
          <p:nvPr>
            <p:ph sz="half" idx="2"/>
          </p:nvPr>
        </p:nvSpPr>
        <p:spPr/>
        <p:txBody>
          <a:bodyPr vert="horz" wrap="square" lIns="91440" tIns="45720" rIns="91440" bIns="45720" anchor="t" anchorCtr="0"/>
          <a:lstStyle/>
          <a:p>
            <a:pPr>
              <a:buClrTx/>
              <a:buSzTx/>
              <a:buFontTx/>
            </a:pPr>
            <a:endParaRPr lang="zh-CN" altLang="en-US" dirty="0"/>
          </a:p>
        </p:txBody>
      </p:sp>
      <p:pic>
        <p:nvPicPr>
          <p:cNvPr id="91140" name="Picture 2" descr="在这里插入图片描述"/>
          <p:cNvPicPr>
            <a:picLocks noChangeAspect="1"/>
          </p:cNvPicPr>
          <p:nvPr/>
        </p:nvPicPr>
        <p:blipFill>
          <a:blip r:embed="rId2"/>
          <a:stretch>
            <a:fillRect/>
          </a:stretch>
        </p:blipFill>
        <p:spPr>
          <a:xfrm>
            <a:off x="900113" y="1187450"/>
            <a:ext cx="7502525" cy="5267325"/>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p:cNvSpPr>
          <p:nvPr>
            <p:ph type="title"/>
          </p:nvPr>
        </p:nvSpPr>
        <p:spPr/>
        <p:txBody>
          <a:bodyPr vert="horz" wrap="square" lIns="91440" tIns="45720" rIns="91440" bIns="45720" anchor="ctr" anchorCtr="0"/>
          <a:lstStyle/>
          <a:p>
            <a:pPr>
              <a:buNone/>
            </a:pPr>
            <a:r>
              <a:rPr lang="en-US" altLang="zh-CN" dirty="0"/>
              <a:t>8.3.2</a:t>
            </a:r>
            <a:r>
              <a:rPr lang="zh-CN" altLang="en-US" dirty="0"/>
              <a:t>哈密顿回路问题</a:t>
            </a:r>
          </a:p>
        </p:txBody>
      </p:sp>
      <p:pic>
        <p:nvPicPr>
          <p:cNvPr id="92162" name="Picture 2" descr="https://img-blog.csdnimg.cn/20210605190344635.png?x-oss-process=image/watermark,type_ZmFuZ3poZW5naGVpdGk,shadow_10,text_aHR0cHM6Ly9ibG9nLmNzZG4ubmV0L25pY2VfX19hbXVzaW4=,size_16,color_FFFFFF,t_70"/>
          <p:cNvPicPr>
            <a:picLocks noChangeAspect="1"/>
          </p:cNvPicPr>
          <p:nvPr/>
        </p:nvPicPr>
        <p:blipFill>
          <a:blip r:embed="rId2"/>
          <a:stretch>
            <a:fillRect/>
          </a:stretch>
        </p:blipFill>
        <p:spPr>
          <a:xfrm>
            <a:off x="879475" y="1196975"/>
            <a:ext cx="7451725" cy="4984750"/>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93186" name="Rectangle 2"/>
          <p:cNvSpPr>
            <a:spLocks noGrp="1"/>
          </p:cNvSpPr>
          <p:nvPr>
            <p:ph type="title"/>
          </p:nvPr>
        </p:nvSpPr>
        <p:spPr/>
        <p:txBody>
          <a:bodyPr vert="horz" wrap="square" lIns="91440" tIns="45720" rIns="91440" bIns="45720" anchor="ctr" anchorCtr="0"/>
          <a:lstStyle/>
          <a:p>
            <a:pPr eaLnBrk="1" hangingPunct="1"/>
            <a:r>
              <a:rPr lang="en-US" altLang="zh-CN" dirty="0"/>
              <a:t>8.3.3  0/1</a:t>
            </a:r>
            <a:r>
              <a:rPr lang="zh-CN" altLang="en-US" dirty="0"/>
              <a:t>背包问题</a:t>
            </a:r>
          </a:p>
        </p:txBody>
      </p:sp>
      <p:sp>
        <p:nvSpPr>
          <p:cNvPr id="83971" name="Rectangle 3"/>
          <p:cNvSpPr>
            <a:spLocks noGrp="1" noChangeArrowheads="1"/>
          </p:cNvSpPr>
          <p:nvPr>
            <p:ph type="body" sz="half" idx="1"/>
          </p:nvPr>
        </p:nvSpPr>
        <p:spPr>
          <a:xfrm>
            <a:off x="900113" y="1268413"/>
            <a:ext cx="80645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50000"/>
              </a:spcBef>
              <a:spcAft>
                <a:spcPct val="0"/>
              </a:spcAft>
              <a:buClrTx/>
              <a:buSzTx/>
              <a:buFontTx/>
              <a:buChar char="•"/>
              <a:defRPr/>
            </a:pP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有</a:t>
            </a:r>
            <a:r>
              <a:rPr kumimoji="0" lang="pt-BR" altLang="zh-CN" sz="2400" b="0" i="1"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n</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个重量分别为</a:t>
            </a:r>
            <a:r>
              <a:rPr kumimoji="0" lang="pt-BR" altLang="zh-CN"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pt-BR" altLang="zh-CN" sz="2400" b="0" i="1"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w</a:t>
            </a:r>
            <a:r>
              <a:rPr kumimoji="0" lang="pt-BR" altLang="zh-CN" sz="2400" b="0" i="0" u="none" strike="noStrike" kern="0" cap="none" spc="0" normalizeH="0" baseline="-25000" noProof="0" dirty="0">
                <a:ln>
                  <a:noFill/>
                </a:ln>
                <a:solidFill>
                  <a:srgbClr val="0000FF"/>
                </a:solidFill>
                <a:effectLst/>
                <a:uLnTx/>
                <a:uFillTx/>
                <a:latin typeface="Consolas" pitchFamily="49" charset="0"/>
                <a:ea typeface="楷体" pitchFamily="49" charset="-122"/>
                <a:cs typeface="Consolas" pitchFamily="49" charset="0"/>
              </a:rPr>
              <a:t>1</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pt-BR" altLang="zh-CN" sz="2400" b="0" i="1"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w</a:t>
            </a:r>
            <a:r>
              <a:rPr kumimoji="0" lang="pt-BR" altLang="zh-CN" sz="2400" b="0" i="0" u="none" strike="noStrike" kern="0" cap="none" spc="0" normalizeH="0" baseline="-25000" noProof="0" dirty="0">
                <a:ln>
                  <a:noFill/>
                </a:ln>
                <a:solidFill>
                  <a:srgbClr val="0000FF"/>
                </a:solidFill>
                <a:effectLst/>
                <a:uLnTx/>
                <a:uFillTx/>
                <a:latin typeface="Consolas" pitchFamily="49" charset="0"/>
                <a:ea typeface="楷体" pitchFamily="49" charset="-122"/>
                <a:cs typeface="Consolas" pitchFamily="49" charset="0"/>
              </a:rPr>
              <a:t>2</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pt-BR" altLang="zh-CN"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pt-BR" altLang="zh-CN" sz="2400" b="0" i="1"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w</a:t>
            </a:r>
            <a:r>
              <a:rPr kumimoji="0" lang="pt-BR" altLang="zh-CN" sz="2400" b="0" i="1" u="none" strike="noStrike" kern="0" cap="none" spc="0" normalizeH="0" baseline="-25000" noProof="0" dirty="0">
                <a:ln>
                  <a:noFill/>
                </a:ln>
                <a:solidFill>
                  <a:srgbClr val="0000FF"/>
                </a:solidFill>
                <a:effectLst/>
                <a:uLnTx/>
                <a:uFillTx/>
                <a:latin typeface="Consolas" pitchFamily="49" charset="0"/>
                <a:ea typeface="楷体" pitchFamily="49" charset="-122"/>
                <a:cs typeface="Consolas" pitchFamily="49" charset="0"/>
              </a:rPr>
              <a:t>n</a:t>
            </a:r>
            <a:r>
              <a:rPr kumimoji="0" lang="pt-BR" altLang="zh-CN"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的物品，它们的价值分别为</a:t>
            </a:r>
            <a:r>
              <a:rPr kumimoji="0" lang="pt-BR" altLang="zh-CN"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pt-BR" altLang="zh-CN" sz="2400" b="0" i="1"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v</a:t>
            </a:r>
            <a:r>
              <a:rPr kumimoji="0" lang="pt-BR" altLang="zh-CN" sz="2400" b="0" i="0" u="none" strike="noStrike" kern="0" cap="none" spc="0" normalizeH="0" baseline="-25000" noProof="0" dirty="0">
                <a:ln>
                  <a:noFill/>
                </a:ln>
                <a:solidFill>
                  <a:srgbClr val="0000FF"/>
                </a:solidFill>
                <a:effectLst/>
                <a:uLnTx/>
                <a:uFillTx/>
                <a:latin typeface="Consolas" pitchFamily="49" charset="0"/>
                <a:ea typeface="楷体" pitchFamily="49" charset="-122"/>
                <a:cs typeface="Consolas" pitchFamily="49" charset="0"/>
              </a:rPr>
              <a:t>1</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pt-BR" altLang="zh-CN" sz="2400" b="0" i="1"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v</a:t>
            </a:r>
            <a:r>
              <a:rPr kumimoji="0" lang="pt-BR" altLang="zh-CN" sz="2400" b="0" i="0" u="none" strike="noStrike" kern="0" cap="none" spc="0" normalizeH="0" baseline="-25000" noProof="0" dirty="0">
                <a:ln>
                  <a:noFill/>
                </a:ln>
                <a:solidFill>
                  <a:srgbClr val="0000FF"/>
                </a:solidFill>
                <a:effectLst/>
                <a:uLnTx/>
                <a:uFillTx/>
                <a:latin typeface="Consolas" pitchFamily="49" charset="0"/>
                <a:ea typeface="楷体" pitchFamily="49" charset="-122"/>
                <a:cs typeface="Consolas" pitchFamily="49" charset="0"/>
              </a:rPr>
              <a:t>2</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pt-BR" altLang="zh-CN"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pt-BR" altLang="zh-CN" sz="2400" b="0" i="1"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v</a:t>
            </a:r>
            <a:r>
              <a:rPr kumimoji="0" lang="pt-BR" altLang="zh-CN" sz="2400" b="0" i="1" u="none" strike="noStrike" kern="0" cap="none" spc="0" normalizeH="0" baseline="-25000" noProof="0" dirty="0">
                <a:ln>
                  <a:noFill/>
                </a:ln>
                <a:solidFill>
                  <a:srgbClr val="0000FF"/>
                </a:solidFill>
                <a:effectLst/>
                <a:uLnTx/>
                <a:uFillTx/>
                <a:latin typeface="Consolas" pitchFamily="49" charset="0"/>
                <a:ea typeface="楷体" pitchFamily="49" charset="-122"/>
                <a:cs typeface="Consolas" pitchFamily="49" charset="0"/>
              </a:rPr>
              <a:t>n</a:t>
            </a:r>
            <a:r>
              <a:rPr kumimoji="0" lang="pt-BR" altLang="zh-CN"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，给定一个容量为</a:t>
            </a:r>
            <a:r>
              <a:rPr kumimoji="0" lang="pt-BR" altLang="zh-CN" sz="2400" b="0" i="1"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W</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的背包。</a:t>
            </a:r>
            <a:endParaRPr kumimoji="0" lang="en-US" altLang="zh-CN"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endParaRPr>
          </a:p>
          <a:p>
            <a:pPr marL="342900" marR="0" lvl="0" indent="-342900" algn="l" defTabSz="914400" rtl="0" eaLnBrk="0" fontAlgn="base" latinLnBrk="0" hangingPunct="0">
              <a:lnSpc>
                <a:spcPct val="150000"/>
              </a:lnSpc>
              <a:spcBef>
                <a:spcPct val="50000"/>
              </a:spcBef>
              <a:spcAft>
                <a:spcPct val="0"/>
              </a:spcAft>
              <a:buClrTx/>
              <a:buSzTx/>
              <a:buFontTx/>
              <a:buChar char="•"/>
              <a:defRPr/>
            </a:pP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设计从这些物品中选取一部分物品放入该背包的方案，</a:t>
            </a:r>
            <a:r>
              <a:rPr kumimoji="0" lang="zh-CN" altLang="pt-BR" sz="2400" b="0" i="0" u="none" strike="noStrike" kern="0" cap="none" spc="0" normalizeH="0" baseline="0" noProof="0" dirty="0">
                <a:ln>
                  <a:noFill/>
                </a:ln>
                <a:solidFill>
                  <a:srgbClr val="CC3300"/>
                </a:solidFill>
                <a:effectLst/>
                <a:uLnTx/>
                <a:uFillTx/>
                <a:latin typeface="Consolas" pitchFamily="49" charset="0"/>
                <a:ea typeface="楷体" pitchFamily="49" charset="-122"/>
                <a:cs typeface="Consolas" pitchFamily="49" charset="0"/>
              </a:rPr>
              <a:t>每个物品要么选中要么不选中，要求选中的物品不仅能够放到背包中</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，而且</a:t>
            </a:r>
            <a:r>
              <a:rPr kumimoji="0" lang="zh-CN" altLang="en-US"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满足重量限制</a:t>
            </a:r>
            <a:r>
              <a:rPr kumimoji="0" lang="zh-CN" altLang="pt-BR" sz="2400" b="0" i="0" u="none" strike="noStrike" kern="0" cap="none" spc="0" normalizeH="0" baseline="0" noProof="0" dirty="0">
                <a:ln>
                  <a:noFill/>
                </a:ln>
                <a:solidFill>
                  <a:srgbClr val="0000FF"/>
                </a:solidFill>
                <a:effectLst/>
                <a:uLnTx/>
                <a:uFillTx/>
                <a:latin typeface="Consolas" pitchFamily="49" charset="0"/>
                <a:ea typeface="楷体" pitchFamily="49" charset="-122"/>
                <a:cs typeface="Consolas" pitchFamily="49" charset="0"/>
              </a:rPr>
              <a:t>具有最大的价值。</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文本占位符 2"/>
          <p:cNvSpPr>
            <a:spLocks noGrp="1"/>
          </p:cNvSpPr>
          <p:nvPr>
            <p:ph type="body" sz="half" idx="1"/>
          </p:nvPr>
        </p:nvSpPr>
        <p:spPr>
          <a:xfrm>
            <a:off x="683895" y="1911350"/>
            <a:ext cx="8368030" cy="3745230"/>
          </a:xfrm>
        </p:spPr>
        <p:txBody>
          <a:bodyPr vert="horz" wrap="square" lIns="91440" tIns="45720" rIns="91440" bIns="45720" anchor="t" anchorCtr="0"/>
          <a:lstStyle/>
          <a:p>
            <a:pPr>
              <a:lnSpc>
                <a:spcPct val="200000"/>
              </a:lnSpc>
              <a:buClrTx/>
              <a:buSzTx/>
              <a:buFontTx/>
            </a:pPr>
            <a:r>
              <a:rPr lang="zh-CN" altLang="zh-CN" sz="2400" dirty="0">
                <a:solidFill>
                  <a:srgbClr val="0000FF"/>
                </a:solidFill>
                <a:latin typeface="Consolas" pitchFamily="49" charset="0"/>
                <a:ea typeface="楷体" pitchFamily="49" charset="-122"/>
              </a:rPr>
              <a:t>用</a:t>
            </a:r>
            <a:r>
              <a:rPr lang="en-US" altLang="zh-CN" sz="2400" i="1" dirty="0">
                <a:solidFill>
                  <a:srgbClr val="FF00FF"/>
                </a:solidFill>
                <a:latin typeface="Consolas" pitchFamily="49" charset="0"/>
                <a:ea typeface="楷体" pitchFamily="49" charset="-122"/>
              </a:rPr>
              <a:t>w</a:t>
            </a:r>
            <a:r>
              <a:rPr lang="en-US" altLang="zh-CN" sz="2400" dirty="0">
                <a:solidFill>
                  <a:srgbClr val="FF00FF"/>
                </a:solidFill>
                <a:latin typeface="Consolas" pitchFamily="49" charset="0"/>
                <a:ea typeface="楷体" pitchFamily="49" charset="-122"/>
              </a:rPr>
              <a:t>[1..</a:t>
            </a:r>
            <a:r>
              <a:rPr lang="en-US" altLang="zh-CN" sz="2400" i="1" dirty="0">
                <a:solidFill>
                  <a:srgbClr val="FF00FF"/>
                </a:solidFill>
                <a:latin typeface="Consolas" pitchFamily="49" charset="0"/>
                <a:ea typeface="楷体" pitchFamily="49" charset="-122"/>
              </a:rPr>
              <a:t>n</a:t>
            </a:r>
            <a:r>
              <a:rPr lang="en-US" altLang="zh-CN" sz="2400" dirty="0">
                <a:solidFill>
                  <a:srgbClr val="FF00FF"/>
                </a:solidFill>
                <a:latin typeface="Consolas" pitchFamily="49" charset="0"/>
                <a:ea typeface="楷体" pitchFamily="49" charset="-122"/>
              </a:rPr>
              <a:t>]/</a:t>
            </a:r>
            <a:r>
              <a:rPr lang="en-US" altLang="zh-CN" sz="2400" i="1" dirty="0">
                <a:solidFill>
                  <a:srgbClr val="FF00FF"/>
                </a:solidFill>
                <a:latin typeface="Consolas" pitchFamily="49" charset="0"/>
                <a:ea typeface="楷体" pitchFamily="49" charset="-122"/>
              </a:rPr>
              <a:t>v</a:t>
            </a:r>
            <a:r>
              <a:rPr lang="en-US" altLang="zh-CN" sz="2400" dirty="0">
                <a:solidFill>
                  <a:srgbClr val="FF00FF"/>
                </a:solidFill>
                <a:latin typeface="Consolas" pitchFamily="49" charset="0"/>
                <a:ea typeface="楷体" pitchFamily="49" charset="-122"/>
              </a:rPr>
              <a:t>[1..</a:t>
            </a:r>
            <a:r>
              <a:rPr lang="en-US" altLang="zh-CN" sz="2400" i="1" dirty="0">
                <a:solidFill>
                  <a:srgbClr val="FF00FF"/>
                </a:solidFill>
                <a:latin typeface="Consolas" pitchFamily="49" charset="0"/>
                <a:ea typeface="楷体" pitchFamily="49" charset="-122"/>
              </a:rPr>
              <a:t>n</a:t>
            </a:r>
            <a:r>
              <a:rPr lang="en-US" altLang="zh-CN" sz="2400" dirty="0">
                <a:solidFill>
                  <a:srgbClr val="FF00FF"/>
                </a:solidFill>
                <a:latin typeface="Consolas" pitchFamily="49" charset="0"/>
                <a:ea typeface="楷体" pitchFamily="49" charset="-122"/>
              </a:rPr>
              <a:t>]</a:t>
            </a:r>
            <a:r>
              <a:rPr lang="zh-CN" altLang="en-US" sz="2400" dirty="0">
                <a:solidFill>
                  <a:srgbClr val="0000FF"/>
                </a:solidFill>
                <a:latin typeface="Consolas" pitchFamily="49" charset="0"/>
                <a:ea typeface="楷体" pitchFamily="49" charset="-122"/>
              </a:rPr>
              <a:t>存放物品信息，</a:t>
            </a:r>
            <a:r>
              <a:rPr lang="en-US" altLang="zh-CN" sz="2400" i="1" dirty="0">
                <a:solidFill>
                  <a:srgbClr val="CC00FF"/>
                </a:solidFill>
                <a:latin typeface="Consolas" pitchFamily="49" charset="0"/>
                <a:ea typeface="楷体" pitchFamily="49" charset="-122"/>
              </a:rPr>
              <a:t>x</a:t>
            </a:r>
            <a:r>
              <a:rPr lang="en-US" altLang="zh-CN" sz="2400" dirty="0">
                <a:solidFill>
                  <a:srgbClr val="CC00FF"/>
                </a:solidFill>
                <a:latin typeface="Consolas" pitchFamily="49" charset="0"/>
                <a:ea typeface="楷体" pitchFamily="49" charset="-122"/>
              </a:rPr>
              <a:t>[1..</a:t>
            </a:r>
            <a:r>
              <a:rPr lang="en-US" altLang="zh-CN" sz="2400" i="1" dirty="0">
                <a:solidFill>
                  <a:srgbClr val="CC00FF"/>
                </a:solidFill>
                <a:latin typeface="Consolas" pitchFamily="49" charset="0"/>
                <a:ea typeface="楷体" pitchFamily="49" charset="-122"/>
              </a:rPr>
              <a:t>n</a:t>
            </a:r>
            <a:r>
              <a:rPr lang="en-US" altLang="zh-CN" sz="2400" dirty="0">
                <a:solidFill>
                  <a:srgbClr val="CC00FF"/>
                </a:solidFill>
                <a:latin typeface="Consolas" pitchFamily="49" charset="0"/>
                <a:ea typeface="楷体" pitchFamily="49" charset="-122"/>
              </a:rPr>
              <a:t>]</a:t>
            </a:r>
            <a:r>
              <a:rPr lang="zh-CN" altLang="zh-CN" sz="2400" dirty="0">
                <a:solidFill>
                  <a:srgbClr val="0000FF"/>
                </a:solidFill>
                <a:latin typeface="Consolas" pitchFamily="49" charset="0"/>
                <a:ea typeface="楷体" pitchFamily="49" charset="-122"/>
              </a:rPr>
              <a:t>数组存放最优解，其中每个元素取</a:t>
            </a:r>
            <a:r>
              <a:rPr lang="en-US" altLang="zh-CN" sz="2400" dirty="0">
                <a:solidFill>
                  <a:srgbClr val="0000FF"/>
                </a:solidFill>
                <a:latin typeface="Consolas" pitchFamily="49" charset="0"/>
                <a:ea typeface="楷体" pitchFamily="49" charset="-122"/>
              </a:rPr>
              <a:t>1</a:t>
            </a:r>
            <a:r>
              <a:rPr lang="zh-CN" altLang="zh-CN" sz="2400" dirty="0">
                <a:solidFill>
                  <a:srgbClr val="0000FF"/>
                </a:solidFill>
                <a:latin typeface="Consolas" pitchFamily="49" charset="0"/>
                <a:ea typeface="楷体" pitchFamily="49" charset="-122"/>
              </a:rPr>
              <a:t>或</a:t>
            </a:r>
            <a:r>
              <a:rPr lang="en-US" altLang="zh-CN" sz="2400" dirty="0">
                <a:solidFill>
                  <a:srgbClr val="0000FF"/>
                </a:solidFill>
                <a:latin typeface="Consolas" pitchFamily="49" charset="0"/>
                <a:ea typeface="楷体" pitchFamily="49" charset="-122"/>
              </a:rPr>
              <a:t>0</a:t>
            </a:r>
            <a:r>
              <a:rPr lang="zh-CN" altLang="zh-CN" sz="2400" dirty="0">
                <a:solidFill>
                  <a:srgbClr val="0000FF"/>
                </a:solidFill>
                <a:latin typeface="Consolas" pitchFamily="49" charset="0"/>
                <a:ea typeface="楷体" pitchFamily="49" charset="-122"/>
              </a:rPr>
              <a:t>，</a:t>
            </a:r>
            <a:r>
              <a:rPr lang="en-US" altLang="zh-CN" sz="2400" i="1" dirty="0">
                <a:solidFill>
                  <a:srgbClr val="0000FF"/>
                </a:solidFill>
                <a:latin typeface="Consolas" pitchFamily="49" charset="0"/>
                <a:ea typeface="楷体" pitchFamily="49" charset="-122"/>
              </a:rPr>
              <a:t>x</a:t>
            </a:r>
            <a:r>
              <a:rPr lang="en-US" altLang="zh-CN" sz="2400" dirty="0">
                <a:solidFill>
                  <a:srgbClr val="0000FF"/>
                </a:solidFill>
                <a:latin typeface="Consolas" pitchFamily="49" charset="0"/>
                <a:ea typeface="楷体" pitchFamily="49" charset="-122"/>
              </a:rPr>
              <a:t>[</a:t>
            </a:r>
            <a:r>
              <a:rPr lang="en-US" altLang="zh-CN" sz="2400" i="1" dirty="0">
                <a:solidFill>
                  <a:srgbClr val="0000FF"/>
                </a:solidFill>
                <a:latin typeface="Consolas" pitchFamily="49" charset="0"/>
                <a:ea typeface="楷体" pitchFamily="49" charset="-122"/>
              </a:rPr>
              <a:t>i</a:t>
            </a:r>
            <a:r>
              <a:rPr lang="en-US" altLang="zh-CN" sz="2400" dirty="0">
                <a:solidFill>
                  <a:srgbClr val="0000FF"/>
                </a:solidFill>
                <a:latin typeface="Consolas" pitchFamily="49" charset="0"/>
                <a:ea typeface="楷体" pitchFamily="49" charset="-122"/>
              </a:rPr>
              <a:t>]=1</a:t>
            </a:r>
            <a:r>
              <a:rPr lang="zh-CN" altLang="zh-CN" sz="2400" dirty="0">
                <a:solidFill>
                  <a:srgbClr val="0000FF"/>
                </a:solidFill>
                <a:latin typeface="Consolas" pitchFamily="49" charset="0"/>
                <a:ea typeface="楷体" pitchFamily="49" charset="-122"/>
              </a:rPr>
              <a:t>表示第</a:t>
            </a:r>
            <a:r>
              <a:rPr lang="en-US" altLang="zh-CN" sz="2400" i="1" dirty="0">
                <a:solidFill>
                  <a:srgbClr val="0000FF"/>
                </a:solidFill>
                <a:latin typeface="Consolas" pitchFamily="49" charset="0"/>
                <a:ea typeface="楷体" pitchFamily="49" charset="-122"/>
              </a:rPr>
              <a:t>i</a:t>
            </a:r>
            <a:r>
              <a:rPr lang="zh-CN" altLang="zh-CN" sz="2400" dirty="0">
                <a:solidFill>
                  <a:srgbClr val="0000FF"/>
                </a:solidFill>
                <a:latin typeface="Consolas" pitchFamily="49" charset="0"/>
                <a:ea typeface="楷体" pitchFamily="49" charset="-122"/>
              </a:rPr>
              <a:t>个物品放入背包中，</a:t>
            </a:r>
            <a:r>
              <a:rPr lang="en-US" altLang="zh-CN" sz="2400" i="1" dirty="0">
                <a:solidFill>
                  <a:srgbClr val="0000FF"/>
                </a:solidFill>
                <a:latin typeface="Consolas" pitchFamily="49" charset="0"/>
                <a:ea typeface="楷体" pitchFamily="49" charset="-122"/>
              </a:rPr>
              <a:t>x</a:t>
            </a:r>
            <a:r>
              <a:rPr lang="en-US" altLang="zh-CN" sz="2400" dirty="0">
                <a:solidFill>
                  <a:srgbClr val="0000FF"/>
                </a:solidFill>
                <a:latin typeface="Consolas" pitchFamily="49" charset="0"/>
                <a:ea typeface="楷体" pitchFamily="49" charset="-122"/>
              </a:rPr>
              <a:t>[</a:t>
            </a:r>
            <a:r>
              <a:rPr lang="en-US" altLang="zh-CN" sz="2400" i="1" dirty="0">
                <a:solidFill>
                  <a:srgbClr val="0000FF"/>
                </a:solidFill>
                <a:latin typeface="Consolas" pitchFamily="49" charset="0"/>
                <a:ea typeface="楷体" pitchFamily="49" charset="-122"/>
              </a:rPr>
              <a:t>i</a:t>
            </a:r>
            <a:r>
              <a:rPr lang="en-US" altLang="zh-CN" sz="2400" dirty="0">
                <a:solidFill>
                  <a:srgbClr val="0000FF"/>
                </a:solidFill>
                <a:latin typeface="Consolas" pitchFamily="49" charset="0"/>
                <a:ea typeface="楷体" pitchFamily="49" charset="-122"/>
              </a:rPr>
              <a:t>]=0</a:t>
            </a:r>
            <a:r>
              <a:rPr lang="zh-CN" altLang="zh-CN" sz="2400" dirty="0">
                <a:solidFill>
                  <a:srgbClr val="0000FF"/>
                </a:solidFill>
                <a:latin typeface="Consolas" pitchFamily="49" charset="0"/>
                <a:ea typeface="楷体" pitchFamily="49" charset="-122"/>
              </a:rPr>
              <a:t>表示第</a:t>
            </a:r>
            <a:r>
              <a:rPr lang="en-US" altLang="zh-CN" sz="2400" i="1" dirty="0">
                <a:solidFill>
                  <a:srgbClr val="0000FF"/>
                </a:solidFill>
                <a:latin typeface="Consolas" pitchFamily="49" charset="0"/>
                <a:ea typeface="楷体" pitchFamily="49" charset="-122"/>
              </a:rPr>
              <a:t>i</a:t>
            </a:r>
            <a:r>
              <a:rPr lang="zh-CN" altLang="zh-CN" sz="2400" dirty="0">
                <a:solidFill>
                  <a:srgbClr val="0000FF"/>
                </a:solidFill>
                <a:latin typeface="Consolas" pitchFamily="49" charset="0"/>
                <a:ea typeface="楷体" pitchFamily="49" charset="-122"/>
              </a:rPr>
              <a:t>个物品不放入背包中。</a:t>
            </a:r>
            <a:endParaRPr lang="en-US" altLang="zh-CN" sz="2400" dirty="0">
              <a:solidFill>
                <a:srgbClr val="0000FF"/>
              </a:solidFill>
              <a:latin typeface="Consolas" pitchFamily="49" charset="0"/>
              <a:ea typeface="楷体" pitchFamily="49" charset="-122"/>
            </a:endParaRPr>
          </a:p>
          <a:p>
            <a:pPr>
              <a:lnSpc>
                <a:spcPct val="200000"/>
              </a:lnSpc>
              <a:buClrTx/>
              <a:buSzTx/>
              <a:buFontTx/>
            </a:pPr>
            <a:r>
              <a:rPr lang="zh-CN" altLang="zh-CN" sz="2400" dirty="0">
                <a:solidFill>
                  <a:srgbClr val="0000FF"/>
                </a:solidFill>
                <a:latin typeface="Consolas" pitchFamily="49" charset="0"/>
                <a:ea typeface="楷体" pitchFamily="49" charset="-122"/>
              </a:rPr>
              <a:t>这是一个求</a:t>
            </a:r>
            <a:r>
              <a:rPr lang="zh-CN" altLang="zh-CN" sz="2400" dirty="0">
                <a:solidFill>
                  <a:srgbClr val="C00000"/>
                </a:solidFill>
                <a:latin typeface="Consolas" pitchFamily="49" charset="0"/>
                <a:ea typeface="楷体" pitchFamily="49" charset="-122"/>
              </a:rPr>
              <a:t>最优解</a:t>
            </a:r>
            <a:r>
              <a:rPr lang="zh-CN" altLang="zh-CN" sz="2400" dirty="0">
                <a:solidFill>
                  <a:srgbClr val="0000FF"/>
                </a:solidFill>
                <a:latin typeface="Consolas" pitchFamily="49" charset="0"/>
                <a:ea typeface="楷体" pitchFamily="49" charset="-122"/>
              </a:rPr>
              <a:t>问题</a:t>
            </a:r>
            <a:r>
              <a:rPr lang="zh-CN" altLang="en-US" sz="2400" dirty="0">
                <a:solidFill>
                  <a:srgbClr val="0000FF"/>
                </a:solidFill>
                <a:latin typeface="Consolas" pitchFamily="49" charset="0"/>
                <a:ea typeface="楷体" pitchFamily="49" charset="-122"/>
              </a:rPr>
              <a:t>。找到更优解</a:t>
            </a:r>
            <a:r>
              <a:rPr lang="en-US" altLang="zh-CN" sz="2400" dirty="0">
                <a:solidFill>
                  <a:srgbClr val="006600"/>
                </a:solidFill>
                <a:latin typeface="Consolas" pitchFamily="49" charset="0"/>
                <a:ea typeface="楷体" pitchFamily="49" charset="-122"/>
              </a:rPr>
              <a:t>(op,tv) </a:t>
            </a:r>
            <a:r>
              <a:rPr lang="en-US" altLang="zh-CN" sz="2400" dirty="0">
                <a:solidFill>
                  <a:srgbClr val="006600"/>
                </a:solidFill>
                <a:latin typeface="Consolas" pitchFamily="49" charset="0"/>
                <a:ea typeface="楷体" pitchFamily="49" charset="-122"/>
                <a:sym typeface="Wingdings" panose="05000000000000000000" pitchFamily="2" charset="2"/>
              </a:rPr>
              <a:t> (</a:t>
            </a:r>
            <a:r>
              <a:rPr lang="en-US" altLang="zh-CN" sz="2400" i="1" dirty="0">
                <a:solidFill>
                  <a:srgbClr val="006600"/>
                </a:solidFill>
                <a:latin typeface="Consolas" pitchFamily="49" charset="0"/>
                <a:ea typeface="楷体" pitchFamily="49" charset="-122"/>
              </a:rPr>
              <a:t>x</a:t>
            </a:r>
            <a:r>
              <a:rPr lang="en-US" altLang="zh-CN" sz="2400" dirty="0">
                <a:solidFill>
                  <a:srgbClr val="006600"/>
                </a:solidFill>
                <a:latin typeface="Consolas" pitchFamily="49" charset="0"/>
                <a:ea typeface="楷体" pitchFamily="49" charset="-122"/>
              </a:rPr>
              <a:t>,maxv)</a:t>
            </a:r>
            <a:r>
              <a:rPr lang="zh-CN" altLang="zh-CN" sz="2400" dirty="0">
                <a:solidFill>
                  <a:srgbClr val="0000FF"/>
                </a:solidFill>
                <a:latin typeface="Consolas" pitchFamily="49" charset="0"/>
                <a:ea typeface="楷体" pitchFamily="49" charset="-122"/>
              </a:rPr>
              <a:t>。</a:t>
            </a:r>
          </a:p>
          <a:p>
            <a:pPr>
              <a:buClrTx/>
              <a:buSzTx/>
              <a:buFontTx/>
            </a:pPr>
            <a:endParaRPr lang="zh-CN" altLang="en-US" dirty="0">
              <a:ea typeface="Consolas" pitchFamily="49" charset="0"/>
            </a:endParaRPr>
          </a:p>
        </p:txBody>
      </p:sp>
      <p:sp>
        <p:nvSpPr>
          <p:cNvPr id="94210" name="矩形 4"/>
          <p:cNvSpPr/>
          <p:nvPr/>
        </p:nvSpPr>
        <p:spPr>
          <a:xfrm>
            <a:off x="879475" y="1387475"/>
            <a:ext cx="5641975" cy="523875"/>
          </a:xfrm>
          <a:prstGeom prst="rect">
            <a:avLst/>
          </a:prstGeom>
          <a:noFill/>
          <a:ln w="9525">
            <a:noFill/>
          </a:ln>
        </p:spPr>
        <p:txBody>
          <a:bodyPr wrap="none" anchor="t" anchorCtr="0">
            <a:spAutoFit/>
          </a:bodyPr>
          <a:lstStyle/>
          <a:p>
            <a:pPr algn="ctr"/>
            <a:r>
              <a:rPr lang="en-US" altLang="zh-CN" sz="2800" dirty="0">
                <a:solidFill>
                  <a:srgbClr val="FF0000"/>
                </a:solidFill>
                <a:latin typeface="Consolas" pitchFamily="49" charset="0"/>
                <a:ea typeface="华文中宋" pitchFamily="2" charset="-122"/>
              </a:rPr>
              <a:t>1. </a:t>
            </a:r>
            <a:r>
              <a:rPr lang="zh-CN" altLang="zh-CN" sz="2800" dirty="0">
                <a:solidFill>
                  <a:srgbClr val="FF0000"/>
                </a:solidFill>
                <a:latin typeface="Consolas" pitchFamily="49" charset="0"/>
                <a:ea typeface="华文中宋" pitchFamily="2" charset="-122"/>
              </a:rPr>
              <a:t>装入背包中物品重量和恰好为</a:t>
            </a:r>
            <a:r>
              <a:rPr lang="en-US" altLang="zh-CN" sz="2800" i="1" dirty="0">
                <a:solidFill>
                  <a:srgbClr val="FF0000"/>
                </a:solidFill>
                <a:latin typeface="Consolas" pitchFamily="49" charset="0"/>
                <a:ea typeface="华文中宋" pitchFamily="2" charset="-122"/>
              </a:rPr>
              <a:t>W</a:t>
            </a:r>
            <a:endParaRPr lang="zh-CN" altLang="zh-CN" sz="2800" dirty="0">
              <a:solidFill>
                <a:srgbClr val="FF0000"/>
              </a:solidFill>
              <a:latin typeface="Consolas" pitchFamily="49" charset="0"/>
              <a:ea typeface="华文中宋" pitchFamily="2" charset="-122"/>
            </a:endParaRPr>
          </a:p>
        </p:txBody>
      </p:sp>
      <p:sp>
        <p:nvSpPr>
          <p:cNvPr id="94211" name="Rectangle 2"/>
          <p:cNvSpPr>
            <a:spLocks noGrp="1"/>
          </p:cNvSpPr>
          <p:nvPr>
            <p:ph type="title"/>
          </p:nvPr>
        </p:nvSpPr>
        <p:spPr/>
        <p:txBody>
          <a:bodyPr vert="horz" wrap="square" lIns="91440" tIns="45720" rIns="91440" bIns="45720" anchor="ctr" anchorCtr="0"/>
          <a:lstStyle/>
          <a:p>
            <a:pPr eaLnBrk="1" hangingPunct="1"/>
            <a:r>
              <a:rPr lang="en-US" altLang="zh-CN" dirty="0"/>
              <a:t>8.3.3  0/1</a:t>
            </a:r>
            <a:r>
              <a:rPr lang="zh-CN" altLang="en-US" dirty="0"/>
              <a:t>背包问题</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文本占位符 2"/>
          <p:cNvSpPr>
            <a:spLocks noGrp="1"/>
          </p:cNvSpPr>
          <p:nvPr>
            <p:ph type="body" sz="half" idx="1"/>
          </p:nvPr>
        </p:nvSpPr>
        <p:spPr>
          <a:xfrm>
            <a:off x="879475" y="1125538"/>
            <a:ext cx="7848600" cy="3743325"/>
          </a:xfrm>
        </p:spPr>
        <p:txBody>
          <a:bodyPr vert="horz" wrap="square" lIns="91440" tIns="45720" rIns="91440" bIns="45720" anchor="t" anchorCtr="0"/>
          <a:lstStyle/>
          <a:p>
            <a:pPr>
              <a:lnSpc>
                <a:spcPts val="3200"/>
              </a:lnSpc>
              <a:buClrTx/>
              <a:buSzTx/>
              <a:buFontTx/>
            </a:pPr>
            <a:r>
              <a:rPr lang="zh-CN" altLang="en-US" sz="2000" dirty="0">
                <a:solidFill>
                  <a:srgbClr val="006600"/>
                </a:solidFill>
                <a:latin typeface="华文中宋" pitchFamily="2" charset="-122"/>
                <a:ea typeface="华文中宋" pitchFamily="2" charset="-122"/>
              </a:rPr>
              <a:t>解空间是一棵子集树！</a:t>
            </a:r>
            <a:endParaRPr lang="en-US" altLang="zh-CN" sz="2000" dirty="0">
              <a:solidFill>
                <a:srgbClr val="006600"/>
              </a:solidFill>
              <a:latin typeface="华文中宋" pitchFamily="2" charset="-122"/>
              <a:ea typeface="华文中宋" pitchFamily="2" charset="-122"/>
            </a:endParaRPr>
          </a:p>
          <a:p>
            <a:pPr>
              <a:buClrTx/>
              <a:buSzTx/>
              <a:buFontTx/>
            </a:pPr>
            <a:r>
              <a:rPr lang="en-US" altLang="zh-CN" sz="2000" dirty="0">
                <a:solidFill>
                  <a:srgbClr val="0000FF"/>
                </a:solidFill>
                <a:latin typeface="Consolas" pitchFamily="49" charset="0"/>
                <a:ea typeface="楷体" pitchFamily="49" charset="-122"/>
              </a:rPr>
              <a:t>    </a:t>
            </a:r>
            <a:r>
              <a:rPr lang="zh-CN" altLang="zh-CN" sz="2000" dirty="0">
                <a:solidFill>
                  <a:srgbClr val="0000FF"/>
                </a:solidFill>
                <a:latin typeface="Consolas" pitchFamily="49" charset="0"/>
                <a:ea typeface="楷体" pitchFamily="49" charset="-122"/>
              </a:rPr>
              <a:t>对第</a:t>
            </a:r>
            <a:r>
              <a:rPr lang="en-US" altLang="zh-CN" sz="2000" i="1" dirty="0">
                <a:solidFill>
                  <a:srgbClr val="0000FF"/>
                </a:solidFill>
                <a:latin typeface="Consolas" pitchFamily="49" charset="0"/>
                <a:ea typeface="楷体" pitchFamily="49" charset="-122"/>
              </a:rPr>
              <a:t>i</a:t>
            </a:r>
            <a:r>
              <a:rPr lang="zh-CN" altLang="zh-CN" sz="2000" dirty="0">
                <a:solidFill>
                  <a:srgbClr val="0000FF"/>
                </a:solidFill>
                <a:latin typeface="Consolas" pitchFamily="49" charset="0"/>
                <a:ea typeface="楷体" pitchFamily="49" charset="-122"/>
              </a:rPr>
              <a:t>层上的某个分枝结点，对应的状态为</a:t>
            </a:r>
            <a:r>
              <a:rPr lang="en-US" altLang="zh-CN" sz="2000" dirty="0">
                <a:solidFill>
                  <a:srgbClr val="FF0000"/>
                </a:solidFill>
                <a:latin typeface="Consolas" pitchFamily="49" charset="0"/>
                <a:ea typeface="楷体" pitchFamily="49" charset="-122"/>
              </a:rPr>
              <a:t>dfs(</a:t>
            </a:r>
            <a:r>
              <a:rPr lang="en-US" altLang="zh-CN" sz="2000" i="1" dirty="0">
                <a:solidFill>
                  <a:srgbClr val="FF0000"/>
                </a:solidFill>
                <a:latin typeface="Consolas" pitchFamily="49" charset="0"/>
                <a:ea typeface="楷体" pitchFamily="49" charset="-122"/>
              </a:rPr>
              <a:t>i</a:t>
            </a:r>
            <a:r>
              <a:rPr lang="zh-CN" altLang="zh-CN" sz="2000" dirty="0">
                <a:solidFill>
                  <a:srgbClr val="FF0000"/>
                </a:solidFill>
                <a:latin typeface="Consolas" pitchFamily="49" charset="0"/>
                <a:ea typeface="楷体" pitchFamily="49" charset="-122"/>
              </a:rPr>
              <a:t>，</a:t>
            </a:r>
            <a:r>
              <a:rPr lang="en-US" altLang="zh-CN" sz="2000" dirty="0">
                <a:solidFill>
                  <a:srgbClr val="FF0000"/>
                </a:solidFill>
                <a:latin typeface="Consolas" pitchFamily="49" charset="0"/>
                <a:ea typeface="楷体" pitchFamily="49" charset="-122"/>
              </a:rPr>
              <a:t>tw</a:t>
            </a:r>
            <a:r>
              <a:rPr lang="zh-CN" altLang="zh-CN" sz="2000" dirty="0">
                <a:solidFill>
                  <a:srgbClr val="FF0000"/>
                </a:solidFill>
                <a:latin typeface="Consolas" pitchFamily="49" charset="0"/>
                <a:ea typeface="楷体" pitchFamily="49" charset="-122"/>
              </a:rPr>
              <a:t>，</a:t>
            </a:r>
            <a:r>
              <a:rPr lang="en-US" altLang="zh-CN" sz="2000" dirty="0">
                <a:solidFill>
                  <a:srgbClr val="FF0000"/>
                </a:solidFill>
                <a:latin typeface="Consolas" pitchFamily="49" charset="0"/>
                <a:ea typeface="楷体" pitchFamily="49" charset="-122"/>
              </a:rPr>
              <a:t>tv</a:t>
            </a:r>
            <a:r>
              <a:rPr lang="zh-CN" altLang="zh-CN" sz="2000" dirty="0">
                <a:solidFill>
                  <a:srgbClr val="FF0000"/>
                </a:solidFill>
                <a:latin typeface="Consolas" pitchFamily="49" charset="0"/>
                <a:ea typeface="楷体" pitchFamily="49" charset="-122"/>
              </a:rPr>
              <a:t>，</a:t>
            </a:r>
            <a:r>
              <a:rPr lang="en-US" altLang="zh-CN" sz="2000" dirty="0">
                <a:solidFill>
                  <a:srgbClr val="FF0000"/>
                </a:solidFill>
                <a:latin typeface="Consolas" pitchFamily="49" charset="0"/>
                <a:ea typeface="楷体" pitchFamily="49" charset="-122"/>
              </a:rPr>
              <a:t>op)</a:t>
            </a:r>
            <a:r>
              <a:rPr lang="zh-CN" altLang="zh-CN" sz="2000" dirty="0">
                <a:solidFill>
                  <a:srgbClr val="0000FF"/>
                </a:solidFill>
                <a:latin typeface="Consolas" pitchFamily="49" charset="0"/>
                <a:ea typeface="楷体" pitchFamily="49" charset="-122"/>
              </a:rPr>
              <a:t>，其中</a:t>
            </a:r>
            <a:r>
              <a:rPr lang="en-US" altLang="zh-CN" sz="2000" dirty="0">
                <a:solidFill>
                  <a:srgbClr val="0000FF"/>
                </a:solidFill>
                <a:latin typeface="Consolas" pitchFamily="49" charset="0"/>
                <a:ea typeface="楷体" pitchFamily="49" charset="-122"/>
              </a:rPr>
              <a:t>tw</a:t>
            </a:r>
            <a:r>
              <a:rPr lang="zh-CN" altLang="zh-CN" sz="2000" dirty="0">
                <a:solidFill>
                  <a:srgbClr val="0000FF"/>
                </a:solidFill>
                <a:latin typeface="Consolas" pitchFamily="49" charset="0"/>
                <a:ea typeface="楷体" pitchFamily="49" charset="-122"/>
              </a:rPr>
              <a:t>表示装入背包中的物品总重量，</a:t>
            </a:r>
            <a:r>
              <a:rPr lang="en-US" altLang="zh-CN" sz="2000" dirty="0">
                <a:solidFill>
                  <a:srgbClr val="0000FF"/>
                </a:solidFill>
                <a:latin typeface="Consolas" pitchFamily="49" charset="0"/>
                <a:ea typeface="楷体" pitchFamily="49" charset="-122"/>
              </a:rPr>
              <a:t>tv</a:t>
            </a:r>
            <a:r>
              <a:rPr lang="zh-CN" altLang="zh-CN" sz="2000" dirty="0">
                <a:solidFill>
                  <a:srgbClr val="0000FF"/>
                </a:solidFill>
                <a:latin typeface="Consolas" pitchFamily="49" charset="0"/>
                <a:ea typeface="楷体" pitchFamily="49" charset="-122"/>
              </a:rPr>
              <a:t>表示背包中物品总价值，</a:t>
            </a:r>
            <a:r>
              <a:rPr lang="en-US" altLang="zh-CN" sz="2000" dirty="0">
                <a:solidFill>
                  <a:srgbClr val="0000FF"/>
                </a:solidFill>
                <a:latin typeface="Consolas" pitchFamily="49" charset="0"/>
                <a:ea typeface="楷体" pitchFamily="49" charset="-122"/>
              </a:rPr>
              <a:t>op</a:t>
            </a:r>
            <a:r>
              <a:rPr lang="zh-CN" altLang="zh-CN" sz="2000" dirty="0">
                <a:solidFill>
                  <a:srgbClr val="0000FF"/>
                </a:solidFill>
                <a:latin typeface="Consolas" pitchFamily="49" charset="0"/>
                <a:ea typeface="楷体" pitchFamily="49" charset="-122"/>
              </a:rPr>
              <a:t>记录一个解向量。该状态的两种</a:t>
            </a:r>
            <a:r>
              <a:rPr lang="zh-CN" altLang="zh-CN" sz="2000" dirty="0">
                <a:solidFill>
                  <a:srgbClr val="FF0000"/>
                </a:solidFill>
                <a:latin typeface="Consolas" pitchFamily="49" charset="0"/>
                <a:ea typeface="楷体" pitchFamily="49" charset="-122"/>
              </a:rPr>
              <a:t>扩展</a:t>
            </a:r>
            <a:r>
              <a:rPr lang="zh-CN" altLang="zh-CN" sz="2000" dirty="0">
                <a:solidFill>
                  <a:srgbClr val="0000FF"/>
                </a:solidFill>
                <a:latin typeface="Consolas" pitchFamily="49" charset="0"/>
                <a:ea typeface="楷体" pitchFamily="49" charset="-122"/>
              </a:rPr>
              <a:t>如下：</a:t>
            </a:r>
          </a:p>
          <a:p>
            <a:pPr>
              <a:buClrTx/>
              <a:buSzTx/>
              <a:buFontTx/>
            </a:pPr>
            <a:endParaRPr lang="zh-CN" altLang="en-US" dirty="0"/>
          </a:p>
        </p:txBody>
      </p:sp>
      <p:sp>
        <p:nvSpPr>
          <p:cNvPr id="95234" name="Rectangle 2"/>
          <p:cNvSpPr>
            <a:spLocks noGrp="1"/>
          </p:cNvSpPr>
          <p:nvPr>
            <p:ph type="title"/>
          </p:nvPr>
        </p:nvSpPr>
        <p:spPr/>
        <p:txBody>
          <a:bodyPr vert="horz" wrap="square" lIns="91440" tIns="45720" rIns="91440" bIns="45720" anchor="ctr" anchorCtr="0"/>
          <a:lstStyle/>
          <a:p>
            <a:pPr eaLnBrk="1" hangingPunct="1"/>
            <a:r>
              <a:rPr lang="en-US" altLang="zh-CN" dirty="0"/>
              <a:t>8.3.3  0/1</a:t>
            </a:r>
            <a:r>
              <a:rPr lang="zh-CN" altLang="en-US" dirty="0"/>
              <a:t>背包问题</a:t>
            </a:r>
          </a:p>
        </p:txBody>
      </p:sp>
      <p:sp>
        <p:nvSpPr>
          <p:cNvPr id="7" name="椭圆 6"/>
          <p:cNvSpPr/>
          <p:nvPr/>
        </p:nvSpPr>
        <p:spPr>
          <a:xfrm>
            <a:off x="3989388" y="3232150"/>
            <a:ext cx="428625" cy="500063"/>
          </a:xfrm>
          <a:prstGeom prst="ellipse">
            <a:avLst/>
          </a:prstGeom>
          <a:solidFill>
            <a:srgbClr val="00B0F0"/>
          </a:solidFill>
        </p:spPr>
        <p:style>
          <a:lnRef idx="1">
            <a:schemeClr val="accent3"/>
          </a:lnRef>
          <a:fillRef idx="2">
            <a:schemeClr val="accent3"/>
          </a:fillRef>
          <a:effectRef idx="1">
            <a:schemeClr val="accent3"/>
          </a:effectRef>
          <a:fontRef idx="minor">
            <a:schemeClr val="dk1"/>
          </a:fontRef>
        </p:style>
        <p:txBody>
          <a:bodyPr anchor="ct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dk1"/>
              </a:solidFill>
              <a:effectLst/>
              <a:uLnTx/>
              <a:uFillTx/>
              <a:latin typeface="Consolas" pitchFamily="49" charset="0"/>
              <a:ea typeface="仿宋" pitchFamily="49" charset="-122"/>
              <a:cs typeface="Consolas" pitchFamily="49" charset="0"/>
            </a:endParaRPr>
          </a:p>
        </p:txBody>
      </p:sp>
      <p:sp>
        <p:nvSpPr>
          <p:cNvPr id="95236" name="TextBox 11"/>
          <p:cNvSpPr txBox="1"/>
          <p:nvPr/>
        </p:nvSpPr>
        <p:spPr>
          <a:xfrm>
            <a:off x="2203450" y="2792413"/>
            <a:ext cx="4000500" cy="368300"/>
          </a:xfrm>
          <a:prstGeom prst="rect">
            <a:avLst/>
          </a:prstGeom>
          <a:noFill/>
          <a:ln w="9525">
            <a:noFill/>
          </a:ln>
        </p:spPr>
        <p:txBody>
          <a:bodyPr anchor="t" anchorCtr="0">
            <a:spAutoFit/>
          </a:bodyPr>
          <a:lstStyle/>
          <a:p>
            <a:r>
              <a:rPr lang="zh-CN" altLang="en-US" sz="1800" b="1" dirty="0">
                <a:solidFill>
                  <a:srgbClr val="CC00FF"/>
                </a:solidFill>
                <a:latin typeface="Consolas" pitchFamily="49" charset="0"/>
                <a:ea typeface="仿宋" pitchFamily="49" charset="-122"/>
              </a:rPr>
              <a:t>第</a:t>
            </a:r>
            <a:r>
              <a:rPr lang="en-US" altLang="zh-CN" sz="1800" b="1" i="1" dirty="0">
                <a:solidFill>
                  <a:srgbClr val="CC00FF"/>
                </a:solidFill>
                <a:latin typeface="Consolas" pitchFamily="49" charset="0"/>
                <a:ea typeface="仿宋" pitchFamily="49" charset="-122"/>
              </a:rPr>
              <a:t>i</a:t>
            </a:r>
            <a:r>
              <a:rPr lang="zh-CN" altLang="en-US" sz="1800" b="1" dirty="0">
                <a:solidFill>
                  <a:srgbClr val="CC00FF"/>
                </a:solidFill>
                <a:latin typeface="Consolas" pitchFamily="49" charset="0"/>
                <a:ea typeface="仿宋" pitchFamily="49" charset="-122"/>
              </a:rPr>
              <a:t>层结点：</a:t>
            </a:r>
            <a:r>
              <a:rPr lang="en-US" altLang="zh-CN" sz="1800" b="1" dirty="0">
                <a:solidFill>
                  <a:srgbClr val="FF0000"/>
                </a:solidFill>
                <a:latin typeface="Consolas" pitchFamily="49" charset="0"/>
                <a:ea typeface="仿宋" pitchFamily="49" charset="-122"/>
              </a:rPr>
              <a:t>dfs(</a:t>
            </a:r>
            <a:r>
              <a:rPr lang="en-US" altLang="zh-CN" sz="1800" b="1" i="1" dirty="0">
                <a:solidFill>
                  <a:srgbClr val="FF0000"/>
                </a:solidFill>
                <a:latin typeface="Consolas" pitchFamily="49" charset="0"/>
                <a:ea typeface="仿宋" pitchFamily="49" charset="-122"/>
              </a:rPr>
              <a:t>i</a:t>
            </a:r>
            <a:r>
              <a:rPr lang="zh-CN" altLang="zh-CN" sz="1800" b="1" dirty="0">
                <a:solidFill>
                  <a:srgbClr val="FF0000"/>
                </a:solidFill>
                <a:latin typeface="Consolas" pitchFamily="49" charset="0"/>
                <a:ea typeface="仿宋" pitchFamily="49" charset="-122"/>
              </a:rPr>
              <a:t>，</a:t>
            </a:r>
            <a:r>
              <a:rPr lang="en-US" altLang="zh-CN" sz="1800" b="1" dirty="0">
                <a:solidFill>
                  <a:srgbClr val="FF0000"/>
                </a:solidFill>
                <a:latin typeface="Consolas" pitchFamily="49" charset="0"/>
                <a:ea typeface="仿宋" pitchFamily="49" charset="-122"/>
              </a:rPr>
              <a:t>tw</a:t>
            </a:r>
            <a:r>
              <a:rPr lang="zh-CN" altLang="zh-CN" sz="1800" b="1" dirty="0">
                <a:solidFill>
                  <a:srgbClr val="FF0000"/>
                </a:solidFill>
                <a:latin typeface="Consolas" pitchFamily="49" charset="0"/>
                <a:ea typeface="仿宋" pitchFamily="49" charset="-122"/>
              </a:rPr>
              <a:t>，</a:t>
            </a:r>
            <a:r>
              <a:rPr lang="en-US" altLang="zh-CN" sz="1800" b="1" dirty="0">
                <a:solidFill>
                  <a:srgbClr val="FF0000"/>
                </a:solidFill>
                <a:latin typeface="Consolas" pitchFamily="49" charset="0"/>
                <a:ea typeface="仿宋" pitchFamily="49" charset="-122"/>
              </a:rPr>
              <a:t>tv</a:t>
            </a:r>
            <a:r>
              <a:rPr lang="zh-CN" altLang="zh-CN" sz="1800" b="1" dirty="0">
                <a:solidFill>
                  <a:srgbClr val="FF0000"/>
                </a:solidFill>
                <a:latin typeface="Consolas" pitchFamily="49" charset="0"/>
                <a:ea typeface="仿宋" pitchFamily="49" charset="-122"/>
              </a:rPr>
              <a:t>，</a:t>
            </a:r>
            <a:r>
              <a:rPr lang="en-US" altLang="zh-CN" sz="1800" b="1" dirty="0">
                <a:solidFill>
                  <a:srgbClr val="FF0000"/>
                </a:solidFill>
                <a:latin typeface="Consolas" pitchFamily="49" charset="0"/>
                <a:ea typeface="仿宋" pitchFamily="49" charset="-122"/>
              </a:rPr>
              <a:t>op)</a:t>
            </a:r>
            <a:endParaRPr lang="zh-CN" altLang="en-US" sz="1800" b="1" dirty="0">
              <a:solidFill>
                <a:srgbClr val="CC00FF"/>
              </a:solidFill>
              <a:latin typeface="Consolas" pitchFamily="49" charset="0"/>
              <a:ea typeface="仿宋" pitchFamily="49" charset="-122"/>
            </a:endParaRPr>
          </a:p>
        </p:txBody>
      </p:sp>
      <p:grpSp>
        <p:nvGrpSpPr>
          <p:cNvPr id="95237" name="组合 8"/>
          <p:cNvGrpSpPr/>
          <p:nvPr/>
        </p:nvGrpSpPr>
        <p:grpSpPr>
          <a:xfrm>
            <a:off x="1631950" y="3449638"/>
            <a:ext cx="2571750" cy="2282825"/>
            <a:chOff x="1500166" y="2930909"/>
            <a:chExt cx="2571768" cy="2284041"/>
          </a:xfrm>
        </p:grpSpPr>
        <p:sp>
          <p:nvSpPr>
            <p:cNvPr id="16" name="椭圆 15"/>
            <p:cNvSpPr/>
            <p:nvPr/>
          </p:nvSpPr>
          <p:spPr>
            <a:xfrm>
              <a:off x="2786050" y="4214292"/>
              <a:ext cx="428628" cy="500328"/>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dk1"/>
                </a:solidFill>
                <a:effectLst/>
                <a:uLnTx/>
                <a:uFillTx/>
                <a:latin typeface="Consolas" pitchFamily="49" charset="0"/>
                <a:ea typeface="仿宋" pitchFamily="49" charset="-122"/>
                <a:cs typeface="Consolas" pitchFamily="49" charset="0"/>
              </a:endParaRPr>
            </a:p>
          </p:txBody>
        </p:sp>
        <p:cxnSp>
          <p:nvCxnSpPr>
            <p:cNvPr id="17" name="直接连接符 16"/>
            <p:cNvCxnSpPr>
              <a:stCxn id="7" idx="4"/>
              <a:endCxn id="16" idx="7"/>
            </p:cNvCxnSpPr>
            <p:nvPr/>
          </p:nvCxnSpPr>
          <p:spPr>
            <a:xfrm flipH="1">
              <a:off x="3151813" y="3213952"/>
              <a:ext cx="920121" cy="1073722"/>
            </a:xfrm>
            <a:prstGeom prst="line">
              <a:avLst/>
            </a:prstGeom>
            <a:ln w="12700"/>
          </p:spPr>
          <p:style>
            <a:lnRef idx="2">
              <a:schemeClr val="dk1"/>
            </a:lnRef>
            <a:fillRef idx="0">
              <a:schemeClr val="dk1"/>
            </a:fillRef>
            <a:effectRef idx="1">
              <a:schemeClr val="dk1"/>
            </a:effectRef>
            <a:fontRef idx="minor">
              <a:schemeClr val="tx1"/>
            </a:fontRef>
          </p:style>
        </p:cxnSp>
        <p:sp>
          <p:nvSpPr>
            <p:cNvPr id="95240" name="TextBox 12"/>
            <p:cNvSpPr txBox="1"/>
            <p:nvPr/>
          </p:nvSpPr>
          <p:spPr>
            <a:xfrm>
              <a:off x="1571604" y="2930909"/>
              <a:ext cx="2143140" cy="1200329"/>
            </a:xfrm>
            <a:prstGeom prst="rect">
              <a:avLst/>
            </a:prstGeom>
            <a:noFill/>
            <a:ln w="9525">
              <a:noFill/>
            </a:ln>
          </p:spPr>
          <p:txBody>
            <a:bodyPr anchor="t" anchorCtr="0">
              <a:spAutoFit/>
            </a:bodyPr>
            <a:lstStyle/>
            <a:p>
              <a:r>
                <a:rPr lang="zh-CN" altLang="zh-CN" sz="1800" b="1" dirty="0">
                  <a:solidFill>
                    <a:srgbClr val="C00000"/>
                  </a:solidFill>
                  <a:latin typeface="Consolas" pitchFamily="49" charset="0"/>
                  <a:ea typeface="仿宋" pitchFamily="49" charset="-122"/>
                </a:rPr>
                <a:t>选择第</a:t>
              </a:r>
              <a:r>
                <a:rPr lang="en-US" altLang="zh-CN" sz="1800" b="1" i="1" dirty="0">
                  <a:solidFill>
                    <a:srgbClr val="C00000"/>
                  </a:solidFill>
                  <a:latin typeface="Consolas" pitchFamily="49" charset="0"/>
                  <a:ea typeface="仿宋" pitchFamily="49" charset="-122"/>
                </a:rPr>
                <a:t>i</a:t>
              </a:r>
              <a:r>
                <a:rPr lang="zh-CN" altLang="zh-CN" sz="1800" b="1" dirty="0">
                  <a:solidFill>
                    <a:srgbClr val="C00000"/>
                  </a:solidFill>
                  <a:latin typeface="Consolas" pitchFamily="49" charset="0"/>
                  <a:ea typeface="仿宋" pitchFamily="49" charset="-122"/>
                </a:rPr>
                <a:t>个物品</a:t>
              </a:r>
              <a:r>
                <a:rPr lang="zh-CN" altLang="en-US" sz="1800" b="1" dirty="0">
                  <a:solidFill>
                    <a:srgbClr val="C00000"/>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op[</a:t>
              </a:r>
              <a:r>
                <a:rPr lang="en-US" altLang="zh-CN" sz="1800" b="1" i="1" dirty="0">
                  <a:solidFill>
                    <a:srgbClr val="0000FF"/>
                  </a:solidFill>
                  <a:latin typeface="Consolas" pitchFamily="49" charset="0"/>
                  <a:ea typeface="仿宋" pitchFamily="49" charset="-122"/>
                </a:rPr>
                <a:t>i</a:t>
              </a:r>
              <a:r>
                <a:rPr lang="en-US" altLang="zh-CN" sz="1800" b="1" dirty="0">
                  <a:solidFill>
                    <a:srgbClr val="0000FF"/>
                  </a:solidFill>
                  <a:latin typeface="Consolas" pitchFamily="49" charset="0"/>
                  <a:ea typeface="仿宋" pitchFamily="49" charset="-122"/>
                </a:rPr>
                <a:t>]=1</a:t>
              </a:r>
              <a:r>
                <a:rPr lang="zh-CN" altLang="en-US" sz="1800" b="1" dirty="0">
                  <a:solidFill>
                    <a:srgbClr val="0000FF"/>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 tw=tw+</a:t>
              </a:r>
              <a:r>
                <a:rPr lang="en-US" altLang="zh-CN" sz="1800" b="1" i="1" dirty="0">
                  <a:solidFill>
                    <a:srgbClr val="0000FF"/>
                  </a:solidFill>
                  <a:latin typeface="Consolas" pitchFamily="49" charset="0"/>
                  <a:ea typeface="仿宋" pitchFamily="49" charset="-122"/>
                </a:rPr>
                <a:t>w</a:t>
              </a:r>
              <a:r>
                <a:rPr lang="en-US" altLang="zh-CN" sz="1800" b="1" dirty="0">
                  <a:solidFill>
                    <a:srgbClr val="0000FF"/>
                  </a:solidFill>
                  <a:latin typeface="Consolas" pitchFamily="49" charset="0"/>
                  <a:ea typeface="仿宋" pitchFamily="49" charset="-122"/>
                </a:rPr>
                <a:t>[</a:t>
              </a:r>
              <a:r>
                <a:rPr lang="en-US" altLang="zh-CN" sz="1800" b="1" i="1" dirty="0">
                  <a:solidFill>
                    <a:srgbClr val="0000FF"/>
                  </a:solidFill>
                  <a:latin typeface="Consolas" pitchFamily="49" charset="0"/>
                  <a:ea typeface="仿宋" pitchFamily="49" charset="-122"/>
                </a:rPr>
                <a:t>i</a:t>
              </a:r>
              <a:r>
                <a:rPr lang="en-US" altLang="zh-CN" sz="1800" b="1" dirty="0">
                  <a:solidFill>
                    <a:srgbClr val="0000FF"/>
                  </a:solidFill>
                  <a:latin typeface="Consolas" pitchFamily="49" charset="0"/>
                  <a:ea typeface="仿宋" pitchFamily="49" charset="-122"/>
                </a:rPr>
                <a:t>]</a:t>
              </a:r>
              <a:r>
                <a:rPr lang="zh-CN" altLang="zh-CN" sz="1800" b="1" dirty="0">
                  <a:solidFill>
                    <a:srgbClr val="0000FF"/>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tv=tv+</a:t>
              </a:r>
              <a:r>
                <a:rPr lang="en-US" altLang="zh-CN" sz="1800" b="1" i="1" dirty="0">
                  <a:solidFill>
                    <a:srgbClr val="0000FF"/>
                  </a:solidFill>
                  <a:latin typeface="Consolas" pitchFamily="49" charset="0"/>
                  <a:ea typeface="仿宋" pitchFamily="49" charset="-122"/>
                </a:rPr>
                <a:t>v</a:t>
              </a:r>
              <a:r>
                <a:rPr lang="en-US" altLang="zh-CN" sz="1800" b="1" dirty="0">
                  <a:solidFill>
                    <a:srgbClr val="0000FF"/>
                  </a:solidFill>
                  <a:latin typeface="Consolas" pitchFamily="49" charset="0"/>
                  <a:ea typeface="仿宋" pitchFamily="49" charset="-122"/>
                </a:rPr>
                <a:t>[</a:t>
              </a:r>
              <a:r>
                <a:rPr lang="en-US" altLang="zh-CN" sz="1800" b="1" i="1" dirty="0">
                  <a:solidFill>
                    <a:srgbClr val="0000FF"/>
                  </a:solidFill>
                  <a:latin typeface="Consolas" pitchFamily="49" charset="0"/>
                  <a:ea typeface="仿宋" pitchFamily="49" charset="-122"/>
                </a:rPr>
                <a:t>i</a:t>
              </a:r>
              <a:r>
                <a:rPr lang="en-US" altLang="zh-CN" sz="1800" b="1" dirty="0">
                  <a:solidFill>
                    <a:srgbClr val="0000FF"/>
                  </a:solidFill>
                  <a:latin typeface="Consolas" pitchFamily="49" charset="0"/>
                  <a:ea typeface="仿宋" pitchFamily="49" charset="-122"/>
                </a:rPr>
                <a:t>]</a:t>
              </a:r>
              <a:endParaRPr lang="zh-CN" altLang="en-US" sz="1800" b="1" dirty="0">
                <a:solidFill>
                  <a:srgbClr val="0000FF"/>
                </a:solidFill>
                <a:latin typeface="Consolas" pitchFamily="49" charset="0"/>
                <a:ea typeface="仿宋" pitchFamily="49" charset="-122"/>
              </a:endParaRPr>
            </a:p>
          </p:txBody>
        </p:sp>
        <p:sp>
          <p:nvSpPr>
            <p:cNvPr id="95241" name="TextBox 14"/>
            <p:cNvSpPr txBox="1"/>
            <p:nvPr/>
          </p:nvSpPr>
          <p:spPr>
            <a:xfrm>
              <a:off x="1500166" y="4845618"/>
              <a:ext cx="2571768" cy="369332"/>
            </a:xfrm>
            <a:prstGeom prst="rect">
              <a:avLst/>
            </a:prstGeom>
            <a:noFill/>
            <a:ln w="9525">
              <a:noFill/>
            </a:ln>
          </p:spPr>
          <p:txBody>
            <a:bodyPr anchor="t" anchorCtr="0">
              <a:spAutoFit/>
            </a:bodyPr>
            <a:lstStyle/>
            <a:p>
              <a:r>
                <a:rPr lang="en-US" altLang="zh-CN" sz="1800" b="1" dirty="0">
                  <a:solidFill>
                    <a:srgbClr val="0000FF"/>
                  </a:solidFill>
                  <a:latin typeface="Consolas" pitchFamily="49" charset="0"/>
                  <a:ea typeface="仿宋" pitchFamily="49" charset="-122"/>
                </a:rPr>
                <a:t>dfs(</a:t>
              </a:r>
              <a:r>
                <a:rPr lang="en-US" altLang="zh-CN" sz="1800" b="1" i="1" dirty="0">
                  <a:solidFill>
                    <a:srgbClr val="0000FF"/>
                  </a:solidFill>
                  <a:latin typeface="Consolas" pitchFamily="49" charset="0"/>
                  <a:ea typeface="仿宋" pitchFamily="49" charset="-122"/>
                </a:rPr>
                <a:t>i</a:t>
              </a:r>
              <a:r>
                <a:rPr lang="en-US" altLang="zh-CN" sz="1800" b="1" dirty="0">
                  <a:solidFill>
                    <a:srgbClr val="0000FF"/>
                  </a:solidFill>
                  <a:latin typeface="Consolas" pitchFamily="49" charset="0"/>
                  <a:ea typeface="仿宋" pitchFamily="49" charset="-122"/>
                </a:rPr>
                <a:t>+1</a:t>
              </a:r>
              <a:r>
                <a:rPr lang="zh-CN" altLang="zh-CN" sz="1800" b="1" dirty="0">
                  <a:solidFill>
                    <a:srgbClr val="0000FF"/>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tw</a:t>
              </a:r>
              <a:r>
                <a:rPr lang="zh-CN" altLang="zh-CN" sz="1800" b="1" dirty="0">
                  <a:solidFill>
                    <a:srgbClr val="0000FF"/>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tv</a:t>
              </a:r>
              <a:r>
                <a:rPr lang="zh-CN" altLang="zh-CN" sz="1800" b="1" dirty="0">
                  <a:solidFill>
                    <a:srgbClr val="0000FF"/>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op)</a:t>
              </a:r>
              <a:endParaRPr lang="zh-CN" altLang="en-US" sz="1800" b="1" dirty="0">
                <a:solidFill>
                  <a:srgbClr val="0033CC"/>
                </a:solidFill>
                <a:latin typeface="Consolas" pitchFamily="49" charset="0"/>
                <a:ea typeface="仿宋" pitchFamily="49" charset="-122"/>
              </a:endParaRPr>
            </a:p>
          </p:txBody>
        </p:sp>
      </p:grpSp>
      <p:grpSp>
        <p:nvGrpSpPr>
          <p:cNvPr id="95242" name="组合 9"/>
          <p:cNvGrpSpPr/>
          <p:nvPr/>
        </p:nvGrpSpPr>
        <p:grpSpPr>
          <a:xfrm>
            <a:off x="4211955" y="3521075"/>
            <a:ext cx="3396933" cy="2211388"/>
            <a:chOff x="4176141" y="3002347"/>
            <a:chExt cx="3396255" cy="2212603"/>
          </a:xfrm>
        </p:grpSpPr>
        <p:sp>
          <p:nvSpPr>
            <p:cNvPr id="11" name="椭圆 10"/>
            <p:cNvSpPr/>
            <p:nvPr/>
          </p:nvSpPr>
          <p:spPr>
            <a:xfrm>
              <a:off x="4929735" y="4214276"/>
              <a:ext cx="428539" cy="500337"/>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dk1"/>
                </a:solidFill>
                <a:effectLst/>
                <a:uLnTx/>
                <a:uFillTx/>
                <a:latin typeface="Consolas" pitchFamily="49" charset="0"/>
                <a:ea typeface="仿宋" pitchFamily="49" charset="-122"/>
                <a:cs typeface="Consolas" pitchFamily="49" charset="0"/>
              </a:endParaRPr>
            </a:p>
          </p:txBody>
        </p:sp>
        <p:cxnSp>
          <p:nvCxnSpPr>
            <p:cNvPr id="12" name="直接连接符 11"/>
            <p:cNvCxnSpPr>
              <a:endCxn id="11" idx="1"/>
            </p:cNvCxnSpPr>
            <p:nvPr/>
          </p:nvCxnSpPr>
          <p:spPr>
            <a:xfrm>
              <a:off x="4176141" y="3270464"/>
              <a:ext cx="816447" cy="1017194"/>
            </a:xfrm>
            <a:prstGeom prst="line">
              <a:avLst/>
            </a:prstGeom>
            <a:ln w="12700"/>
          </p:spPr>
          <p:style>
            <a:lnRef idx="2">
              <a:schemeClr val="dk1"/>
            </a:lnRef>
            <a:fillRef idx="0">
              <a:schemeClr val="dk1"/>
            </a:fillRef>
            <a:effectRef idx="1">
              <a:schemeClr val="dk1"/>
            </a:effectRef>
            <a:fontRef idx="minor">
              <a:schemeClr val="tx1"/>
            </a:fontRef>
          </p:style>
        </p:cxnSp>
        <p:sp>
          <p:nvSpPr>
            <p:cNvPr id="95245" name="TextBox 13"/>
            <p:cNvSpPr txBox="1"/>
            <p:nvPr/>
          </p:nvSpPr>
          <p:spPr>
            <a:xfrm>
              <a:off x="4929190" y="3002347"/>
              <a:ext cx="2071702" cy="1200329"/>
            </a:xfrm>
            <a:prstGeom prst="rect">
              <a:avLst/>
            </a:prstGeom>
            <a:noFill/>
            <a:ln w="9525">
              <a:noFill/>
            </a:ln>
          </p:spPr>
          <p:txBody>
            <a:bodyPr anchor="t" anchorCtr="0">
              <a:spAutoFit/>
            </a:bodyPr>
            <a:lstStyle/>
            <a:p>
              <a:r>
                <a:rPr lang="zh-CN" altLang="en-US" sz="1800" b="1" dirty="0">
                  <a:solidFill>
                    <a:srgbClr val="C00000"/>
                  </a:solidFill>
                  <a:latin typeface="Consolas" pitchFamily="49" charset="0"/>
                  <a:ea typeface="仿宋" pitchFamily="49" charset="-122"/>
                </a:rPr>
                <a:t>不</a:t>
              </a:r>
              <a:r>
                <a:rPr lang="zh-CN" altLang="zh-CN" sz="1800" b="1" dirty="0">
                  <a:solidFill>
                    <a:srgbClr val="C00000"/>
                  </a:solidFill>
                  <a:latin typeface="Consolas" pitchFamily="49" charset="0"/>
                  <a:ea typeface="仿宋" pitchFamily="49" charset="-122"/>
                </a:rPr>
                <a:t>选择第</a:t>
              </a:r>
              <a:r>
                <a:rPr lang="en-US" altLang="zh-CN" sz="1800" b="1" i="1" dirty="0">
                  <a:solidFill>
                    <a:srgbClr val="C00000"/>
                  </a:solidFill>
                  <a:latin typeface="Consolas" pitchFamily="49" charset="0"/>
                  <a:ea typeface="仿宋" pitchFamily="49" charset="-122"/>
                </a:rPr>
                <a:t>i</a:t>
              </a:r>
              <a:r>
                <a:rPr lang="zh-CN" altLang="zh-CN" sz="1800" b="1" dirty="0">
                  <a:solidFill>
                    <a:srgbClr val="C00000"/>
                  </a:solidFill>
                  <a:latin typeface="Consolas" pitchFamily="49" charset="0"/>
                  <a:ea typeface="仿宋" pitchFamily="49" charset="-122"/>
                </a:rPr>
                <a:t>个物品</a:t>
              </a:r>
              <a:r>
                <a:rPr lang="zh-CN" altLang="en-US" sz="1800" b="1" dirty="0">
                  <a:solidFill>
                    <a:srgbClr val="C00000"/>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op[</a:t>
              </a:r>
              <a:r>
                <a:rPr lang="en-US" altLang="zh-CN" sz="1800" b="1" i="1" dirty="0">
                  <a:solidFill>
                    <a:srgbClr val="0000FF"/>
                  </a:solidFill>
                  <a:latin typeface="Consolas" pitchFamily="49" charset="0"/>
                  <a:ea typeface="仿宋" pitchFamily="49" charset="-122"/>
                </a:rPr>
                <a:t>i</a:t>
              </a:r>
              <a:r>
                <a:rPr lang="en-US" altLang="zh-CN" sz="1800" b="1" dirty="0">
                  <a:solidFill>
                    <a:srgbClr val="0000FF"/>
                  </a:solidFill>
                  <a:latin typeface="Consolas" pitchFamily="49" charset="0"/>
                  <a:ea typeface="仿宋" pitchFamily="49" charset="-122"/>
                </a:rPr>
                <a:t>]=0</a:t>
              </a:r>
            </a:p>
            <a:p>
              <a:r>
                <a:rPr lang="en-US" altLang="zh-CN" sz="1800" b="1" dirty="0">
                  <a:solidFill>
                    <a:srgbClr val="0000FF"/>
                  </a:solidFill>
                  <a:latin typeface="Consolas" pitchFamily="49" charset="0"/>
                  <a:ea typeface="仿宋" pitchFamily="49" charset="-122"/>
                </a:rPr>
                <a:t>tw</a:t>
              </a:r>
              <a:r>
                <a:rPr lang="zh-CN" altLang="zh-CN" sz="1800" b="1" dirty="0">
                  <a:solidFill>
                    <a:srgbClr val="0000FF"/>
                  </a:solidFill>
                  <a:latin typeface="Consolas" pitchFamily="49" charset="0"/>
                  <a:ea typeface="仿宋" pitchFamily="49" charset="-122"/>
                </a:rPr>
                <a:t>不变</a:t>
              </a:r>
              <a:endParaRPr lang="en-US" altLang="zh-CN" sz="1800" b="1" dirty="0">
                <a:solidFill>
                  <a:srgbClr val="0000FF"/>
                </a:solidFill>
                <a:latin typeface="Consolas" pitchFamily="49" charset="0"/>
                <a:ea typeface="仿宋" pitchFamily="49" charset="-122"/>
              </a:endParaRPr>
            </a:p>
            <a:p>
              <a:r>
                <a:rPr lang="en-US" altLang="zh-CN" sz="1800" b="1" dirty="0">
                  <a:solidFill>
                    <a:srgbClr val="0000FF"/>
                  </a:solidFill>
                  <a:latin typeface="Consolas" pitchFamily="49" charset="0"/>
                  <a:ea typeface="仿宋" pitchFamily="49" charset="-122"/>
                </a:rPr>
                <a:t>tv</a:t>
              </a:r>
              <a:r>
                <a:rPr lang="zh-CN" altLang="zh-CN" sz="1800" b="1" dirty="0">
                  <a:solidFill>
                    <a:srgbClr val="0000FF"/>
                  </a:solidFill>
                  <a:latin typeface="Consolas" pitchFamily="49" charset="0"/>
                  <a:ea typeface="仿宋" pitchFamily="49" charset="-122"/>
                </a:rPr>
                <a:t>不变</a:t>
              </a:r>
              <a:endParaRPr lang="zh-CN" altLang="en-US" sz="1800" b="1" dirty="0">
                <a:solidFill>
                  <a:srgbClr val="0000FF"/>
                </a:solidFill>
                <a:latin typeface="Consolas" pitchFamily="49" charset="0"/>
                <a:ea typeface="仿宋" pitchFamily="49" charset="-122"/>
              </a:endParaRPr>
            </a:p>
          </p:txBody>
        </p:sp>
        <p:sp>
          <p:nvSpPr>
            <p:cNvPr id="95246" name="TextBox 15"/>
            <p:cNvSpPr txBox="1"/>
            <p:nvPr/>
          </p:nvSpPr>
          <p:spPr>
            <a:xfrm>
              <a:off x="4357686" y="4845618"/>
              <a:ext cx="2571768" cy="369332"/>
            </a:xfrm>
            <a:prstGeom prst="rect">
              <a:avLst/>
            </a:prstGeom>
            <a:noFill/>
            <a:ln w="9525">
              <a:noFill/>
            </a:ln>
          </p:spPr>
          <p:txBody>
            <a:bodyPr anchor="t" anchorCtr="0">
              <a:spAutoFit/>
            </a:bodyPr>
            <a:lstStyle/>
            <a:p>
              <a:r>
                <a:rPr lang="en-US" altLang="zh-CN" sz="1800" b="1" dirty="0">
                  <a:solidFill>
                    <a:srgbClr val="0000FF"/>
                  </a:solidFill>
                  <a:latin typeface="Consolas" pitchFamily="49" charset="0"/>
                  <a:ea typeface="仿宋" pitchFamily="49" charset="-122"/>
                </a:rPr>
                <a:t>dfs(</a:t>
              </a:r>
              <a:r>
                <a:rPr lang="en-US" altLang="zh-CN" sz="1800" b="1" i="1" dirty="0">
                  <a:solidFill>
                    <a:srgbClr val="0000FF"/>
                  </a:solidFill>
                  <a:latin typeface="Consolas" pitchFamily="49" charset="0"/>
                  <a:ea typeface="仿宋" pitchFamily="49" charset="-122"/>
                </a:rPr>
                <a:t>i</a:t>
              </a:r>
              <a:r>
                <a:rPr lang="en-US" altLang="zh-CN" sz="1800" b="1" dirty="0">
                  <a:solidFill>
                    <a:srgbClr val="0000FF"/>
                  </a:solidFill>
                  <a:latin typeface="Consolas" pitchFamily="49" charset="0"/>
                  <a:ea typeface="仿宋" pitchFamily="49" charset="-122"/>
                </a:rPr>
                <a:t>+1</a:t>
              </a:r>
              <a:r>
                <a:rPr lang="zh-CN" altLang="zh-CN" sz="1800" b="1" dirty="0">
                  <a:solidFill>
                    <a:srgbClr val="0000FF"/>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tw</a:t>
              </a:r>
              <a:r>
                <a:rPr lang="zh-CN" altLang="zh-CN" sz="1800" b="1" dirty="0">
                  <a:solidFill>
                    <a:srgbClr val="0000FF"/>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tv</a:t>
              </a:r>
              <a:r>
                <a:rPr lang="zh-CN" altLang="zh-CN" sz="1800" b="1" dirty="0">
                  <a:solidFill>
                    <a:srgbClr val="0000FF"/>
                  </a:solidFill>
                  <a:latin typeface="Consolas" pitchFamily="49" charset="0"/>
                  <a:ea typeface="仿宋" pitchFamily="49" charset="-122"/>
                </a:rPr>
                <a:t>，</a:t>
              </a:r>
              <a:r>
                <a:rPr lang="en-US" altLang="zh-CN" sz="1800" b="1" dirty="0">
                  <a:solidFill>
                    <a:srgbClr val="0000FF"/>
                  </a:solidFill>
                  <a:latin typeface="Consolas" pitchFamily="49" charset="0"/>
                  <a:ea typeface="仿宋" pitchFamily="49" charset="-122"/>
                </a:rPr>
                <a:t>op)</a:t>
              </a:r>
              <a:endParaRPr lang="zh-CN" altLang="en-US" sz="1800" b="1" dirty="0">
                <a:solidFill>
                  <a:srgbClr val="0033CC"/>
                </a:solidFill>
                <a:latin typeface="Consolas" pitchFamily="49" charset="0"/>
                <a:ea typeface="仿宋" pitchFamily="49" charset="-122"/>
              </a:endParaRPr>
            </a:p>
          </p:txBody>
        </p:sp>
        <p:sp>
          <p:nvSpPr>
            <p:cNvPr id="95247" name="TextBox 16"/>
            <p:cNvSpPr txBox="1"/>
            <p:nvPr/>
          </p:nvSpPr>
          <p:spPr>
            <a:xfrm>
              <a:off x="5429256" y="4286256"/>
              <a:ext cx="2143140" cy="369332"/>
            </a:xfrm>
            <a:prstGeom prst="rect">
              <a:avLst/>
            </a:prstGeom>
            <a:noFill/>
            <a:ln w="9525">
              <a:noFill/>
            </a:ln>
          </p:spPr>
          <p:txBody>
            <a:bodyPr anchor="t" anchorCtr="0">
              <a:spAutoFit/>
            </a:bodyPr>
            <a:lstStyle/>
            <a:p>
              <a:r>
                <a:rPr lang="zh-CN" altLang="en-US" sz="1800" b="1" dirty="0">
                  <a:solidFill>
                    <a:srgbClr val="CC00FF"/>
                  </a:solidFill>
                  <a:latin typeface="Consolas" pitchFamily="49" charset="0"/>
                  <a:ea typeface="仿宋" pitchFamily="49" charset="-122"/>
                </a:rPr>
                <a:t>第</a:t>
              </a:r>
              <a:r>
                <a:rPr lang="en-US" altLang="zh-CN" sz="1800" b="1" i="1" dirty="0">
                  <a:solidFill>
                    <a:srgbClr val="CC00FF"/>
                  </a:solidFill>
                  <a:latin typeface="Consolas" pitchFamily="49" charset="0"/>
                  <a:ea typeface="仿宋" pitchFamily="49" charset="-122"/>
                </a:rPr>
                <a:t>i</a:t>
              </a:r>
              <a:r>
                <a:rPr lang="en-US" altLang="zh-CN" sz="1800" b="1" dirty="0">
                  <a:solidFill>
                    <a:srgbClr val="CC00FF"/>
                  </a:solidFill>
                  <a:latin typeface="Consolas" pitchFamily="49" charset="0"/>
                  <a:ea typeface="仿宋" pitchFamily="49" charset="-122"/>
                </a:rPr>
                <a:t>+1</a:t>
              </a:r>
              <a:r>
                <a:rPr lang="zh-CN" altLang="en-US" sz="1800" b="1" dirty="0">
                  <a:solidFill>
                    <a:srgbClr val="CC00FF"/>
                  </a:solidFill>
                  <a:latin typeface="Consolas" pitchFamily="49" charset="0"/>
                  <a:ea typeface="仿宋" pitchFamily="49" charset="-122"/>
                </a:rPr>
                <a:t>层结点</a:t>
              </a:r>
              <a:endParaRPr lang="zh-CN" altLang="en-US" sz="1800" b="1" dirty="0">
                <a:solidFill>
                  <a:srgbClr val="0033CC"/>
                </a:solidFill>
                <a:latin typeface="Consolas" pitchFamily="49" charset="0"/>
                <a:ea typeface="仿宋" pitchFamily="49" charset="-122"/>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p:cNvSpPr>
          <p:nvPr>
            <p:ph type="title"/>
          </p:nvPr>
        </p:nvSpPr>
        <p:spPr/>
        <p:txBody>
          <a:bodyPr vert="horz" wrap="square" lIns="91440" tIns="45720" rIns="91440" bIns="45720" anchor="ctr" anchorCtr="0"/>
          <a:lstStyle/>
          <a:p>
            <a:r>
              <a:rPr lang="en-US" altLang="zh-CN" dirty="0">
                <a:sym typeface="+mn-ea"/>
              </a:rPr>
              <a:t>8.3.3</a:t>
            </a:r>
            <a:r>
              <a:rPr lang="en-US" altLang="zh-CN" dirty="0"/>
              <a:t>  0/1</a:t>
            </a:r>
            <a:r>
              <a:rPr lang="zh-CN" altLang="en-US" dirty="0"/>
              <a:t>背包问题</a:t>
            </a:r>
          </a:p>
        </p:txBody>
      </p:sp>
      <p:sp>
        <p:nvSpPr>
          <p:cNvPr id="5" name="椭圆 4"/>
          <p:cNvSpPr/>
          <p:nvPr/>
        </p:nvSpPr>
        <p:spPr>
          <a:xfrm>
            <a:off x="4000500" y="1620838"/>
            <a:ext cx="428625" cy="500063"/>
          </a:xfrm>
          <a:prstGeom prst="ellipse">
            <a:avLst/>
          </a:prstGeom>
          <a:solidFill>
            <a:srgbClr val="00B0F0"/>
          </a:solidFill>
        </p:spPr>
        <p:style>
          <a:lnRef idx="1">
            <a:schemeClr val="accent3"/>
          </a:lnRef>
          <a:fillRef idx="2">
            <a:schemeClr val="accent3"/>
          </a:fillRef>
          <a:effectRef idx="1">
            <a:schemeClr val="accent3"/>
          </a:effectRef>
          <a:fontRef idx="minor">
            <a:schemeClr val="dk1"/>
          </a:fontRef>
        </p:style>
        <p:txBody>
          <a:bodyPr anchor="ct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dk1"/>
              </a:solidFill>
              <a:effectLst/>
              <a:uLnTx/>
              <a:uFillTx/>
              <a:latin typeface="Consolas" pitchFamily="49" charset="0"/>
              <a:ea typeface="仿宋" pitchFamily="49" charset="-122"/>
              <a:cs typeface="Consolas" pitchFamily="49" charset="0"/>
            </a:endParaRPr>
          </a:p>
        </p:txBody>
      </p:sp>
      <p:sp>
        <p:nvSpPr>
          <p:cNvPr id="6" name="椭圆 5"/>
          <p:cNvSpPr/>
          <p:nvPr/>
        </p:nvSpPr>
        <p:spPr>
          <a:xfrm>
            <a:off x="2928938" y="3121025"/>
            <a:ext cx="428625" cy="500063"/>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dk1"/>
              </a:solidFill>
              <a:effectLst/>
              <a:uLnTx/>
              <a:uFillTx/>
              <a:latin typeface="Consolas" pitchFamily="49" charset="0"/>
              <a:ea typeface="仿宋" pitchFamily="49" charset="-122"/>
              <a:cs typeface="Consolas" pitchFamily="49" charset="0"/>
            </a:endParaRPr>
          </a:p>
        </p:txBody>
      </p:sp>
      <p:cxnSp>
        <p:nvCxnSpPr>
          <p:cNvPr id="7" name="直接连接符 6"/>
          <p:cNvCxnSpPr>
            <a:stCxn id="5" idx="3"/>
            <a:endCxn id="6" idx="7"/>
          </p:cNvCxnSpPr>
          <p:nvPr/>
        </p:nvCxnSpPr>
        <p:spPr>
          <a:xfrm rot="5400000">
            <a:off x="3105944" y="2235994"/>
            <a:ext cx="1146175" cy="769938"/>
          </a:xfrm>
          <a:prstGeom prst="line">
            <a:avLst/>
          </a:prstGeom>
          <a:ln w="12700"/>
        </p:spPr>
        <p:style>
          <a:lnRef idx="2">
            <a:schemeClr val="dk1"/>
          </a:lnRef>
          <a:fillRef idx="0">
            <a:schemeClr val="dk1"/>
          </a:fillRef>
          <a:effectRef idx="1">
            <a:schemeClr val="dk1"/>
          </a:effectRef>
          <a:fontRef idx="minor">
            <a:schemeClr val="tx1"/>
          </a:fontRef>
        </p:style>
      </p:cxnSp>
      <p:sp>
        <p:nvSpPr>
          <p:cNvPr id="8" name="椭圆 7"/>
          <p:cNvSpPr/>
          <p:nvPr/>
        </p:nvSpPr>
        <p:spPr>
          <a:xfrm>
            <a:off x="5072063" y="3121025"/>
            <a:ext cx="428625" cy="500063"/>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dk1"/>
              </a:solidFill>
              <a:effectLst/>
              <a:uLnTx/>
              <a:uFillTx/>
              <a:latin typeface="Consolas" pitchFamily="49" charset="0"/>
              <a:ea typeface="仿宋" pitchFamily="49" charset="-122"/>
              <a:cs typeface="Consolas" pitchFamily="49" charset="0"/>
            </a:endParaRPr>
          </a:p>
        </p:txBody>
      </p:sp>
      <p:cxnSp>
        <p:nvCxnSpPr>
          <p:cNvPr id="9" name="直接连接符 8"/>
          <p:cNvCxnSpPr>
            <a:stCxn id="5" idx="5"/>
            <a:endCxn id="8" idx="1"/>
          </p:cNvCxnSpPr>
          <p:nvPr/>
        </p:nvCxnSpPr>
        <p:spPr>
          <a:xfrm rot="16200000" flipH="1">
            <a:off x="4177506" y="2235994"/>
            <a:ext cx="1146175" cy="769938"/>
          </a:xfrm>
          <a:prstGeom prst="line">
            <a:avLst/>
          </a:prstGeom>
          <a:ln w="12700"/>
        </p:spPr>
        <p:style>
          <a:lnRef idx="2">
            <a:schemeClr val="dk1"/>
          </a:lnRef>
          <a:fillRef idx="0">
            <a:schemeClr val="dk1"/>
          </a:fillRef>
          <a:effectRef idx="1">
            <a:schemeClr val="dk1"/>
          </a:effectRef>
          <a:fontRef idx="minor">
            <a:schemeClr val="tx1"/>
          </a:fontRef>
        </p:style>
      </p:cxnSp>
      <p:sp>
        <p:nvSpPr>
          <p:cNvPr id="96263" name="TextBox 10"/>
          <p:cNvSpPr txBox="1"/>
          <p:nvPr/>
        </p:nvSpPr>
        <p:spPr>
          <a:xfrm>
            <a:off x="2214563" y="1179513"/>
            <a:ext cx="4000500" cy="369887"/>
          </a:xfrm>
          <a:prstGeom prst="rect">
            <a:avLst/>
          </a:prstGeom>
          <a:noFill/>
          <a:ln w="9525">
            <a:noFill/>
          </a:ln>
        </p:spPr>
        <p:txBody>
          <a:bodyPr anchor="t" anchorCtr="0">
            <a:spAutoFit/>
          </a:bodyPr>
          <a:lstStyle/>
          <a:p>
            <a:r>
              <a:rPr lang="zh-CN" altLang="en-US" sz="1800" b="1" dirty="0">
                <a:solidFill>
                  <a:srgbClr val="CC00FF"/>
                </a:solidFill>
                <a:latin typeface="Consolas" pitchFamily="49" charset="0"/>
                <a:ea typeface="仿宋" pitchFamily="49" charset="-122"/>
              </a:rPr>
              <a:t>第</a:t>
            </a:r>
            <a:r>
              <a:rPr lang="en-US" altLang="zh-CN" sz="1800" b="1" i="1" dirty="0">
                <a:solidFill>
                  <a:srgbClr val="CC00FF"/>
                </a:solidFill>
                <a:latin typeface="Consolas" pitchFamily="49" charset="0"/>
                <a:ea typeface="仿宋" pitchFamily="49" charset="-122"/>
              </a:rPr>
              <a:t>i</a:t>
            </a:r>
            <a:r>
              <a:rPr lang="zh-CN" altLang="en-US" sz="1800" b="1" dirty="0">
                <a:solidFill>
                  <a:srgbClr val="CC00FF"/>
                </a:solidFill>
                <a:latin typeface="Consolas" pitchFamily="49" charset="0"/>
                <a:ea typeface="仿宋" pitchFamily="49" charset="-122"/>
              </a:rPr>
              <a:t>层结点：</a:t>
            </a:r>
            <a:r>
              <a:rPr lang="en-US" altLang="zh-CN" sz="1800" b="1" dirty="0">
                <a:solidFill>
                  <a:srgbClr val="FF0000"/>
                </a:solidFill>
                <a:latin typeface="Consolas" pitchFamily="49" charset="0"/>
                <a:ea typeface="仿宋" pitchFamily="49" charset="-122"/>
              </a:rPr>
              <a:t>dfs(</a:t>
            </a:r>
            <a:r>
              <a:rPr lang="en-US" altLang="zh-CN" sz="1800" b="1" i="1" dirty="0">
                <a:solidFill>
                  <a:srgbClr val="FF0000"/>
                </a:solidFill>
                <a:latin typeface="Consolas" pitchFamily="49" charset="0"/>
                <a:ea typeface="仿宋" pitchFamily="49" charset="-122"/>
              </a:rPr>
              <a:t>i</a:t>
            </a:r>
            <a:r>
              <a:rPr lang="zh-CN" altLang="zh-CN" sz="1800" b="1" dirty="0">
                <a:solidFill>
                  <a:srgbClr val="FF0000"/>
                </a:solidFill>
                <a:latin typeface="Consolas" pitchFamily="49" charset="0"/>
                <a:ea typeface="仿宋" pitchFamily="49" charset="-122"/>
              </a:rPr>
              <a:t>，</a:t>
            </a:r>
            <a:r>
              <a:rPr lang="en-US" altLang="zh-CN" sz="1800" b="1" dirty="0">
                <a:solidFill>
                  <a:srgbClr val="FF0000"/>
                </a:solidFill>
                <a:latin typeface="Consolas" pitchFamily="49" charset="0"/>
                <a:ea typeface="仿宋" pitchFamily="49" charset="-122"/>
              </a:rPr>
              <a:t>tw</a:t>
            </a:r>
            <a:r>
              <a:rPr lang="zh-CN" altLang="zh-CN" sz="1800" b="1" dirty="0">
                <a:solidFill>
                  <a:srgbClr val="FF0000"/>
                </a:solidFill>
                <a:latin typeface="Consolas" pitchFamily="49" charset="0"/>
                <a:ea typeface="仿宋" pitchFamily="49" charset="-122"/>
              </a:rPr>
              <a:t>，</a:t>
            </a:r>
            <a:r>
              <a:rPr lang="en-US" altLang="zh-CN" sz="1800" b="1" dirty="0">
                <a:solidFill>
                  <a:srgbClr val="FF0000"/>
                </a:solidFill>
                <a:latin typeface="Consolas" pitchFamily="49" charset="0"/>
                <a:ea typeface="仿宋" pitchFamily="49" charset="-122"/>
              </a:rPr>
              <a:t>tv</a:t>
            </a:r>
            <a:r>
              <a:rPr lang="zh-CN" altLang="zh-CN" sz="1800" b="1" dirty="0">
                <a:solidFill>
                  <a:srgbClr val="FF0000"/>
                </a:solidFill>
                <a:latin typeface="Consolas" pitchFamily="49" charset="0"/>
                <a:ea typeface="仿宋" pitchFamily="49" charset="-122"/>
              </a:rPr>
              <a:t>，</a:t>
            </a:r>
            <a:r>
              <a:rPr lang="en-US" altLang="zh-CN" sz="1800" b="1" dirty="0">
                <a:solidFill>
                  <a:srgbClr val="FF0000"/>
                </a:solidFill>
                <a:latin typeface="Consolas" pitchFamily="49" charset="0"/>
                <a:ea typeface="仿宋" pitchFamily="49" charset="-122"/>
              </a:rPr>
              <a:t>op)</a:t>
            </a:r>
            <a:endParaRPr lang="zh-CN" altLang="en-US" sz="1800" b="1" dirty="0">
              <a:solidFill>
                <a:srgbClr val="CC00FF"/>
              </a:solidFill>
              <a:latin typeface="Consolas" pitchFamily="49" charset="0"/>
              <a:ea typeface="仿宋" pitchFamily="49" charset="-122"/>
            </a:endParaRPr>
          </a:p>
        </p:txBody>
      </p:sp>
      <p:sp>
        <p:nvSpPr>
          <p:cNvPr id="11" name="TextBox 11"/>
          <p:cNvSpPr txBox="1"/>
          <p:nvPr/>
        </p:nvSpPr>
        <p:spPr>
          <a:xfrm>
            <a:off x="1428750" y="1836738"/>
            <a:ext cx="1857375" cy="1200150"/>
          </a:xfrm>
          <a:prstGeom prst="rect">
            <a:avLst/>
          </a:prstGeom>
          <a:solidFill>
            <a:schemeClr val="accent1">
              <a:lumMod val="20000"/>
              <a:lumOff val="80000"/>
            </a:schemeClr>
          </a:solidFill>
        </p:spPr>
        <p:txBody>
          <a:bodyPr>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rgbClr val="C00000"/>
                </a:solidFill>
                <a:effectLst/>
                <a:uLnTx/>
                <a:uFillTx/>
                <a:latin typeface="Consolas" pitchFamily="49" charset="0"/>
                <a:ea typeface="仿宋" pitchFamily="49" charset="-122"/>
                <a:cs typeface="Consolas" pitchFamily="49" charset="0"/>
              </a:rPr>
              <a:t>选择第</a:t>
            </a:r>
            <a:r>
              <a:rPr kumimoji="0" lang="en-US" altLang="zh-CN" sz="1800" b="1" i="1" u="none" strike="noStrike" kern="1200" cap="none" spc="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zh-CN" altLang="zh-CN" sz="1800" b="1" i="0" u="none" strike="noStrike" kern="1200" cap="none" spc="0" normalizeH="0" baseline="0" noProof="0">
                <a:ln>
                  <a:noFill/>
                </a:ln>
                <a:solidFill>
                  <a:srgbClr val="C00000"/>
                </a:solidFill>
                <a:effectLst/>
                <a:uLnTx/>
                <a:uFillTx/>
                <a:latin typeface="Consolas" pitchFamily="49" charset="0"/>
                <a:ea typeface="仿宋" pitchFamily="49" charset="-122"/>
                <a:cs typeface="Consolas" pitchFamily="49" charset="0"/>
              </a:rPr>
              <a:t>个物品</a:t>
            </a:r>
            <a:r>
              <a:rPr kumimoji="0" lang="zh-CN" altLang="en-US" sz="1800" b="1" i="0" u="none" strike="noStrike" kern="1200" cap="none" spc="0" normalizeH="0" baseline="0" noProof="0">
                <a:ln>
                  <a:noFill/>
                </a:ln>
                <a:solidFill>
                  <a:srgbClr val="C00000"/>
                </a:solidFill>
                <a:effectLst/>
                <a:uLnTx/>
                <a:uFillTx/>
                <a:latin typeface="Consolas" pitchFamily="49" charset="0"/>
                <a:ea typeface="仿宋" pitchFamily="49" charset="-122"/>
                <a:cs typeface="Consolas" pitchFamily="49" charset="0"/>
              </a:rPr>
              <a:t>：</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op[</a:t>
            </a:r>
            <a:r>
              <a:rPr kumimoji="0" lang="en-US" altLang="zh-CN" sz="1800" b="1" i="1"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]=1</a:t>
            </a:r>
            <a:r>
              <a:rPr kumimoji="0" lang="zh-CN" altLang="en-US"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tw=tw+</a:t>
            </a:r>
            <a:r>
              <a:rPr kumimoji="0" lang="en-US" altLang="zh-CN" sz="1800" b="1" i="1"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w</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a:t>
            </a:r>
            <a:r>
              <a:rPr kumimoji="0" lang="en-US" altLang="zh-CN" sz="1800" b="1" i="1"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tv=tv+</a:t>
            </a:r>
            <a:r>
              <a:rPr kumimoji="0" lang="en-US" altLang="zh-CN" sz="1800" b="1" i="1"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v</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a:t>
            </a:r>
            <a:r>
              <a:rPr kumimoji="0" lang="en-US" altLang="zh-CN" sz="1800" b="1" i="1"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a:t>
            </a:r>
            <a:endParaRPr kumimoji="0" lang="zh-CN" altLang="en-US"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
        <p:nvSpPr>
          <p:cNvPr id="12" name="TextBox 12"/>
          <p:cNvSpPr txBox="1"/>
          <p:nvPr/>
        </p:nvSpPr>
        <p:spPr>
          <a:xfrm>
            <a:off x="5214938" y="1908175"/>
            <a:ext cx="2071688" cy="1200150"/>
          </a:xfrm>
          <a:prstGeom prst="rect">
            <a:avLst/>
          </a:prstGeom>
          <a:solidFill>
            <a:schemeClr val="accent1">
              <a:lumMod val="20000"/>
              <a:lumOff val="80000"/>
            </a:schemeClr>
          </a:solidFill>
        </p:spPr>
        <p:txBody>
          <a:bodyPr>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rgbClr val="C00000"/>
                </a:solidFill>
                <a:effectLst/>
                <a:uLnTx/>
                <a:uFillTx/>
                <a:latin typeface="Consolas" pitchFamily="49" charset="0"/>
                <a:ea typeface="仿宋" pitchFamily="49" charset="-122"/>
                <a:cs typeface="Consolas" pitchFamily="49" charset="0"/>
              </a:rPr>
              <a:t>不</a:t>
            </a:r>
            <a:r>
              <a:rPr kumimoji="0" lang="zh-CN" altLang="zh-CN" sz="1800" b="1" i="0" u="none" strike="noStrike" kern="1200" cap="none" spc="0" normalizeH="0" baseline="0" noProof="0">
                <a:ln>
                  <a:noFill/>
                </a:ln>
                <a:solidFill>
                  <a:srgbClr val="C00000"/>
                </a:solidFill>
                <a:effectLst/>
                <a:uLnTx/>
                <a:uFillTx/>
                <a:latin typeface="Consolas" pitchFamily="49" charset="0"/>
                <a:ea typeface="仿宋" pitchFamily="49" charset="-122"/>
                <a:cs typeface="Consolas" pitchFamily="49" charset="0"/>
              </a:rPr>
              <a:t>选择第</a:t>
            </a:r>
            <a:r>
              <a:rPr kumimoji="0" lang="en-US" altLang="zh-CN" sz="1800" b="1" i="1" u="none" strike="noStrike" kern="1200" cap="none" spc="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zh-CN" altLang="zh-CN" sz="1800" b="1" i="0" u="none" strike="noStrike" kern="1200" cap="none" spc="0" normalizeH="0" baseline="0" noProof="0">
                <a:ln>
                  <a:noFill/>
                </a:ln>
                <a:solidFill>
                  <a:srgbClr val="C00000"/>
                </a:solidFill>
                <a:effectLst/>
                <a:uLnTx/>
                <a:uFillTx/>
                <a:latin typeface="Consolas" pitchFamily="49" charset="0"/>
                <a:ea typeface="仿宋" pitchFamily="49" charset="-122"/>
                <a:cs typeface="Consolas" pitchFamily="49" charset="0"/>
              </a:rPr>
              <a:t>个物品</a:t>
            </a:r>
            <a:r>
              <a:rPr kumimoji="0" lang="zh-CN" altLang="en-US" sz="1800" b="1" i="0" u="none" strike="noStrike" kern="1200" cap="none" spc="0" normalizeH="0" baseline="0" noProof="0">
                <a:ln>
                  <a:noFill/>
                </a:ln>
                <a:solidFill>
                  <a:srgbClr val="C00000"/>
                </a:solidFill>
                <a:effectLst/>
                <a:uLnTx/>
                <a:uFillTx/>
                <a:latin typeface="Consolas" pitchFamily="49" charset="0"/>
                <a:ea typeface="仿宋" pitchFamily="49" charset="-122"/>
                <a:cs typeface="Consolas" pitchFamily="49" charset="0"/>
              </a:rPr>
              <a:t>：</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op[</a:t>
            </a:r>
            <a:r>
              <a:rPr kumimoji="0" lang="en-US" altLang="zh-CN" sz="1800" b="1" i="1"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]=0</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tw</a:t>
            </a:r>
            <a:r>
              <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不变</a:t>
            </a:r>
            <a:endPar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tv</a:t>
            </a:r>
            <a:r>
              <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不变</a:t>
            </a:r>
            <a:endParaRPr kumimoji="0" lang="zh-CN" altLang="en-US"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
        <p:nvSpPr>
          <p:cNvPr id="96266" name="TextBox 15"/>
          <p:cNvSpPr txBox="1"/>
          <p:nvPr/>
        </p:nvSpPr>
        <p:spPr>
          <a:xfrm>
            <a:off x="5572125" y="3192463"/>
            <a:ext cx="2143125" cy="368300"/>
          </a:xfrm>
          <a:prstGeom prst="rect">
            <a:avLst/>
          </a:prstGeom>
          <a:noFill/>
          <a:ln w="9525">
            <a:noFill/>
          </a:ln>
        </p:spPr>
        <p:txBody>
          <a:bodyPr anchor="t" anchorCtr="0">
            <a:spAutoFit/>
          </a:bodyPr>
          <a:lstStyle/>
          <a:p>
            <a:r>
              <a:rPr lang="zh-CN" altLang="en-US" sz="1800" b="1" dirty="0">
                <a:solidFill>
                  <a:srgbClr val="CC00FF"/>
                </a:solidFill>
                <a:latin typeface="Consolas" pitchFamily="49" charset="0"/>
                <a:ea typeface="仿宋" pitchFamily="49" charset="-122"/>
              </a:rPr>
              <a:t>第</a:t>
            </a:r>
            <a:r>
              <a:rPr lang="en-US" altLang="zh-CN" sz="1800" b="1" i="1" dirty="0">
                <a:solidFill>
                  <a:srgbClr val="CC00FF"/>
                </a:solidFill>
                <a:latin typeface="Consolas" pitchFamily="49" charset="0"/>
                <a:ea typeface="仿宋" pitchFamily="49" charset="-122"/>
              </a:rPr>
              <a:t>i</a:t>
            </a:r>
            <a:r>
              <a:rPr lang="en-US" altLang="zh-CN" sz="1800" b="1" dirty="0">
                <a:solidFill>
                  <a:srgbClr val="CC00FF"/>
                </a:solidFill>
                <a:latin typeface="Consolas" pitchFamily="49" charset="0"/>
                <a:ea typeface="仿宋" pitchFamily="49" charset="-122"/>
              </a:rPr>
              <a:t>+1</a:t>
            </a:r>
            <a:r>
              <a:rPr lang="zh-CN" altLang="en-US" sz="1800" b="1" dirty="0">
                <a:solidFill>
                  <a:srgbClr val="CC00FF"/>
                </a:solidFill>
                <a:latin typeface="Consolas" pitchFamily="49" charset="0"/>
                <a:ea typeface="仿宋" pitchFamily="49" charset="-122"/>
              </a:rPr>
              <a:t>层结点</a:t>
            </a:r>
            <a:endParaRPr lang="zh-CN" altLang="en-US" sz="1800" b="1" dirty="0">
              <a:solidFill>
                <a:srgbClr val="0033CC"/>
              </a:solidFill>
              <a:latin typeface="Consolas" pitchFamily="49" charset="0"/>
              <a:ea typeface="仿宋" pitchFamily="49" charset="-122"/>
            </a:endParaRPr>
          </a:p>
        </p:txBody>
      </p:sp>
      <p:grpSp>
        <p:nvGrpSpPr>
          <p:cNvPr id="96267" name="组合 13"/>
          <p:cNvGrpSpPr/>
          <p:nvPr/>
        </p:nvGrpSpPr>
        <p:grpSpPr>
          <a:xfrm>
            <a:off x="2741613" y="3606800"/>
            <a:ext cx="2643187" cy="1182688"/>
            <a:chOff x="2571736" y="2723583"/>
            <a:chExt cx="2643206" cy="1205483"/>
          </a:xfrm>
        </p:grpSpPr>
        <p:cxnSp>
          <p:nvCxnSpPr>
            <p:cNvPr id="15" name="直接连接符 14"/>
            <p:cNvCxnSpPr/>
            <p:nvPr/>
          </p:nvCxnSpPr>
          <p:spPr>
            <a:xfrm flipH="1">
              <a:off x="2793988" y="2723583"/>
              <a:ext cx="179388" cy="760506"/>
            </a:xfrm>
            <a:prstGeom prst="line">
              <a:avLst/>
            </a:prstGeom>
            <a:ln w="28575">
              <a:solidFill>
                <a:schemeClr val="tx1"/>
              </a:solidFill>
              <a:prstDash val="dash"/>
            </a:ln>
          </p:spPr>
          <p:style>
            <a:lnRef idx="1">
              <a:schemeClr val="dk1"/>
            </a:lnRef>
            <a:fillRef idx="0">
              <a:schemeClr val="dk1"/>
            </a:fillRef>
            <a:effectRef idx="0">
              <a:schemeClr val="dk1"/>
            </a:effectRef>
            <a:fontRef idx="minor">
              <a:schemeClr val="tx1"/>
            </a:fontRef>
          </p:style>
        </p:cxnSp>
        <p:sp>
          <p:nvSpPr>
            <p:cNvPr id="16" name="椭圆 15"/>
            <p:cNvSpPr/>
            <p:nvPr/>
          </p:nvSpPr>
          <p:spPr>
            <a:xfrm>
              <a:off x="2571736" y="3429073"/>
              <a:ext cx="428628" cy="499993"/>
            </a:xfrm>
            <a:prstGeom prst="ellipse">
              <a:avLst/>
            </a:prstGeom>
            <a:solidFill>
              <a:srgbClr val="006600"/>
            </a:solidFill>
          </p:spPr>
          <p:style>
            <a:lnRef idx="1">
              <a:schemeClr val="accent3"/>
            </a:lnRef>
            <a:fillRef idx="2">
              <a:schemeClr val="accent3"/>
            </a:fillRef>
            <a:effectRef idx="1">
              <a:schemeClr val="accent3"/>
            </a:effectRef>
            <a:fontRef idx="minor">
              <a:schemeClr val="dk1"/>
            </a:fontRef>
          </p:style>
          <p:txBody>
            <a:bodyPr anchor="ct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dk1"/>
                </a:solidFill>
                <a:effectLst/>
                <a:uLnTx/>
                <a:uFillTx/>
                <a:latin typeface="Consolas" pitchFamily="49" charset="0"/>
                <a:ea typeface="仿宋" pitchFamily="49" charset="-122"/>
                <a:cs typeface="Consolas" pitchFamily="49" charset="0"/>
              </a:endParaRPr>
            </a:p>
          </p:txBody>
        </p:sp>
        <p:sp>
          <p:nvSpPr>
            <p:cNvPr id="96270" name="TextBox 20"/>
            <p:cNvSpPr txBox="1"/>
            <p:nvPr/>
          </p:nvSpPr>
          <p:spPr>
            <a:xfrm>
              <a:off x="3071802" y="3475038"/>
              <a:ext cx="2143140" cy="369332"/>
            </a:xfrm>
            <a:prstGeom prst="rect">
              <a:avLst/>
            </a:prstGeom>
            <a:noFill/>
            <a:ln w="9525">
              <a:noFill/>
            </a:ln>
          </p:spPr>
          <p:txBody>
            <a:bodyPr anchor="t" anchorCtr="0">
              <a:spAutoFit/>
            </a:bodyPr>
            <a:lstStyle/>
            <a:p>
              <a:r>
                <a:rPr lang="zh-CN" altLang="en-US" sz="1800" b="1" dirty="0">
                  <a:solidFill>
                    <a:srgbClr val="CC00FF"/>
                  </a:solidFill>
                  <a:latin typeface="Consolas" pitchFamily="49" charset="0"/>
                  <a:ea typeface="仿宋" pitchFamily="49" charset="-122"/>
                </a:rPr>
                <a:t>第</a:t>
              </a:r>
              <a:r>
                <a:rPr lang="en-US" altLang="zh-CN" sz="1800" b="1" i="1" dirty="0">
                  <a:solidFill>
                    <a:srgbClr val="CC00FF"/>
                  </a:solidFill>
                  <a:latin typeface="Consolas" pitchFamily="49" charset="0"/>
                  <a:ea typeface="仿宋" pitchFamily="49" charset="-122"/>
                </a:rPr>
                <a:t>n</a:t>
              </a:r>
              <a:r>
                <a:rPr lang="en-US" altLang="zh-CN" sz="1800" b="1" dirty="0">
                  <a:solidFill>
                    <a:srgbClr val="CC00FF"/>
                  </a:solidFill>
                  <a:latin typeface="Consolas" pitchFamily="49" charset="0"/>
                  <a:ea typeface="仿宋" pitchFamily="49" charset="-122"/>
                </a:rPr>
                <a:t>+1</a:t>
              </a:r>
              <a:r>
                <a:rPr lang="zh-CN" altLang="en-US" sz="1800" b="1" dirty="0">
                  <a:solidFill>
                    <a:srgbClr val="CC00FF"/>
                  </a:solidFill>
                  <a:latin typeface="Consolas" pitchFamily="49" charset="0"/>
                  <a:ea typeface="仿宋" pitchFamily="49" charset="-122"/>
                </a:rPr>
                <a:t>层结点</a:t>
              </a:r>
              <a:endParaRPr lang="zh-CN" altLang="en-US" sz="1800" b="1" dirty="0">
                <a:solidFill>
                  <a:srgbClr val="0033CC"/>
                </a:solidFill>
                <a:latin typeface="Consolas" pitchFamily="49" charset="0"/>
                <a:ea typeface="仿宋" pitchFamily="49" charset="-122"/>
              </a:endParaRPr>
            </a:p>
          </p:txBody>
        </p:sp>
      </p:grpSp>
      <p:cxnSp>
        <p:nvCxnSpPr>
          <p:cNvPr id="20" name="直接箭头连接符 19"/>
          <p:cNvCxnSpPr/>
          <p:nvPr/>
        </p:nvCxnSpPr>
        <p:spPr>
          <a:xfrm rot="5400000" flipH="1" flipV="1">
            <a:off x="2606675" y="2360613"/>
            <a:ext cx="500063" cy="7143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nvGrpSpPr>
          <p:cNvPr id="24" name="组合 23"/>
          <p:cNvGrpSpPr/>
          <p:nvPr/>
        </p:nvGrpSpPr>
        <p:grpSpPr>
          <a:xfrm>
            <a:off x="1262171" y="4758427"/>
            <a:ext cx="6643734" cy="1746561"/>
            <a:chOff x="1142976" y="3929066"/>
            <a:chExt cx="6643734" cy="1746561"/>
          </a:xfrm>
          <a:solidFill>
            <a:schemeClr val="accent1"/>
          </a:solidFill>
        </p:grpSpPr>
        <p:sp>
          <p:nvSpPr>
            <p:cNvPr id="25" name="TextBox 2"/>
            <p:cNvSpPr txBox="1"/>
            <p:nvPr/>
          </p:nvSpPr>
          <p:spPr>
            <a:xfrm>
              <a:off x="1142976" y="4429132"/>
              <a:ext cx="6643734" cy="1246495"/>
            </a:xfrm>
            <a:prstGeom prst="rect">
              <a:avLst/>
            </a:prstGeom>
            <a:grpFill/>
          </p:spPr>
          <p:txBody>
            <a:bodyPr>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342900" marR="0" lvl="0" indent="-342900" algn="l" defTabSz="914400" rtl="0" eaLnBrk="1" fontAlgn="base" latinLnBrk="0" hangingPunct="1">
                <a:lnSpc>
                  <a:spcPts val="2800"/>
                </a:lnSpc>
                <a:spcBef>
                  <a:spcPts val="600"/>
                </a:spcBef>
                <a:spcAft>
                  <a:spcPct val="0"/>
                </a:spcAft>
                <a:buClrTx/>
                <a:buSzTx/>
                <a:buFontTx/>
                <a:buBlip>
                  <a:blip r:embed="rId2"/>
                </a:buBlip>
                <a:defRPr/>
              </a:pPr>
              <a:r>
                <a:rPr kumimoji="0" lang="zh-CN" altLang="zh-CN" sz="1800" b="1" i="0" u="none" strike="noStrike" kern="1200" cap="none" spc="0" normalizeH="0" baseline="0" noProof="0">
                  <a:ln>
                    <a:noFill/>
                  </a:ln>
                  <a:solidFill>
                    <a:srgbClr val="9900FF"/>
                  </a:solidFill>
                  <a:effectLst/>
                  <a:uLnTx/>
                  <a:uFillTx/>
                  <a:latin typeface="Consolas" pitchFamily="49" charset="0"/>
                  <a:ea typeface="仿宋" pitchFamily="49" charset="-122"/>
                  <a:cs typeface="Consolas" pitchFamily="49" charset="0"/>
                </a:rPr>
                <a:t>叶子结点</a:t>
              </a:r>
              <a:r>
                <a:rPr kumimoji="0" lang="zh-CN"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表示已经对</a:t>
              </a:r>
              <a:r>
                <a:rPr kumimoji="0" lang="en-US" altLang="zh-CN" sz="1800" b="1" i="1"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n</a:t>
              </a:r>
              <a:r>
                <a:rPr kumimoji="0" lang="zh-CN"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个物品做了决策。</a:t>
              </a:r>
              <a:endParaRPr kumimoji="0" lang="en-US"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endParaRPr>
            </a:p>
            <a:p>
              <a:pPr marL="342900" marR="0" lvl="0" indent="-342900" algn="l" defTabSz="914400" rtl="0" eaLnBrk="1" fontAlgn="base" latinLnBrk="0" hangingPunct="1">
                <a:lnSpc>
                  <a:spcPts val="2800"/>
                </a:lnSpc>
                <a:spcBef>
                  <a:spcPts val="600"/>
                </a:spcBef>
                <a:spcAft>
                  <a:spcPct val="0"/>
                </a:spcAft>
                <a:buClrTx/>
                <a:buSzTx/>
                <a:buFontTx/>
                <a:buBlip>
                  <a:blip r:embed="rId2"/>
                </a:buBlip>
                <a:defRPr/>
              </a:pPr>
              <a:r>
                <a:rPr kumimoji="0" lang="zh-CN"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对所有叶子结点进行比较求出满足</a:t>
              </a:r>
              <a:r>
                <a:rPr kumimoji="0" lang="en-US"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tw==</a:t>
              </a:r>
              <a:r>
                <a:rPr kumimoji="0" lang="en-US" altLang="zh-CN" sz="1800" b="1" i="1"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W</a:t>
              </a:r>
              <a:r>
                <a:rPr kumimoji="0" lang="zh-CN"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的最大</a:t>
              </a:r>
              <a:r>
                <a:rPr kumimoji="0" lang="en-US"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maxv</a:t>
              </a:r>
              <a:r>
                <a:rPr kumimoji="0" lang="zh-CN"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，对应的最优解</a:t>
              </a:r>
              <a:r>
                <a:rPr kumimoji="0" lang="en-US"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op</a:t>
              </a:r>
              <a:r>
                <a:rPr kumimoji="0" lang="zh-CN"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存放到</a:t>
              </a:r>
              <a:r>
                <a:rPr kumimoji="0" lang="en-US" altLang="zh-CN" sz="1800" b="1" i="1"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x</a:t>
              </a:r>
              <a:r>
                <a:rPr kumimoji="0" lang="zh-CN" altLang="zh-CN" sz="1800" b="1" i="0" u="none" strike="noStrike" kern="1200" cap="none" spc="0" normalizeH="0" baseline="0" noProof="0">
                  <a:ln>
                    <a:noFill/>
                  </a:ln>
                  <a:solidFill>
                    <a:srgbClr val="006600"/>
                  </a:solidFill>
                  <a:effectLst/>
                  <a:uLnTx/>
                  <a:uFillTx/>
                  <a:latin typeface="Consolas" pitchFamily="49" charset="0"/>
                  <a:ea typeface="仿宋" pitchFamily="49" charset="-122"/>
                  <a:cs typeface="Consolas" pitchFamily="49" charset="0"/>
                </a:rPr>
                <a:t>中。</a:t>
              </a:r>
              <a:endParaRPr kumimoji="0" lang="zh-CN" altLang="en-US" sz="1800" b="1" i="0" u="none" strike="noStrike" kern="1200" cap="none" spc="0" normalizeH="0" baseline="0" noProof="0">
                <a:ln>
                  <a:noFill/>
                </a:ln>
                <a:solidFill>
                  <a:srgbClr val="0033CC"/>
                </a:solidFill>
                <a:effectLst/>
                <a:uLnTx/>
                <a:uFillTx/>
                <a:latin typeface="Consolas" pitchFamily="49" charset="0"/>
                <a:ea typeface="仿宋" pitchFamily="49" charset="-122"/>
                <a:cs typeface="Consolas" pitchFamily="49" charset="0"/>
              </a:endParaRPr>
            </a:p>
          </p:txBody>
        </p:sp>
        <p:sp>
          <p:nvSpPr>
            <p:cNvPr id="26" name="直接箭头连接符 25"/>
            <p:cNvSpPr/>
            <p:nvPr/>
          </p:nvSpPr>
          <p:spPr>
            <a:xfrm rot="5400000" flipH="1" flipV="1">
              <a:off x="2500298" y="4143380"/>
              <a:ext cx="500066" cy="71438"/>
            </a:xfrm>
            <a:prstGeom prst="straightConnector1">
              <a:avLst/>
            </a:prstGeom>
            <a:grpFill/>
            <a:ln>
              <a:tailEnd type="arrow"/>
            </a:ln>
          </p:spPr>
          <p:style>
            <a:lnRef idx="2">
              <a:schemeClr val="accent2"/>
            </a:lnRef>
            <a:fillRef idx="0">
              <a:schemeClr val="accent2"/>
            </a:fillRef>
            <a:effectRef idx="1">
              <a:schemeClr val="accent2"/>
            </a:effectRef>
            <a:fontRef idx="minor">
              <a:schemeClr val="tx1"/>
            </a:fontRef>
          </p:style>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1" name="table"/>
          <p:cNvPicPr>
            <a:picLocks noGrp="1"/>
          </p:cNvPicPr>
          <p:nvPr/>
        </p:nvPicPr>
        <p:blipFill>
          <a:blip r:embed="rId2"/>
          <a:stretch>
            <a:fillRect/>
          </a:stretch>
        </p:blipFill>
        <p:spPr>
          <a:xfrm>
            <a:off x="1963738" y="2681288"/>
            <a:ext cx="5502275" cy="2209800"/>
          </a:xfrm>
          <a:prstGeom prst="rect">
            <a:avLst/>
          </a:prstGeom>
          <a:noFill/>
          <a:ln w="9525">
            <a:noFill/>
          </a:ln>
        </p:spPr>
      </p:pic>
      <p:sp>
        <p:nvSpPr>
          <p:cNvPr id="97282" name="Text Box 103"/>
          <p:cNvSpPr txBox="1"/>
          <p:nvPr/>
        </p:nvSpPr>
        <p:spPr>
          <a:xfrm>
            <a:off x="1677988" y="1966913"/>
            <a:ext cx="3498850" cy="369887"/>
          </a:xfrm>
          <a:prstGeom prst="rect">
            <a:avLst/>
          </a:prstGeom>
          <a:noFill/>
          <a:ln w="9525">
            <a:noFill/>
          </a:ln>
        </p:spPr>
        <p:txBody>
          <a:bodyPr anchor="t" anchorCtr="0">
            <a:spAutoFit/>
          </a:bodyPr>
          <a:lstStyle/>
          <a:p>
            <a:pPr>
              <a:spcBef>
                <a:spcPct val="50000"/>
              </a:spcBef>
            </a:pPr>
            <a:r>
              <a:rPr lang="en-US" altLang="zh-CN" sz="1800" b="1" dirty="0">
                <a:solidFill>
                  <a:srgbClr val="0000FF"/>
                </a:solidFill>
                <a:latin typeface="Consolas" pitchFamily="49" charset="0"/>
                <a:ea typeface="楷体" pitchFamily="49" charset="-122"/>
              </a:rPr>
              <a:t>0/1</a:t>
            </a:r>
            <a:r>
              <a:rPr lang="zh-CN" altLang="en-US" sz="1800" b="1" dirty="0">
                <a:solidFill>
                  <a:srgbClr val="0000FF"/>
                </a:solidFill>
                <a:latin typeface="Consolas" pitchFamily="49" charset="0"/>
                <a:ea typeface="楷体" pitchFamily="49" charset="-122"/>
              </a:rPr>
              <a:t>背包问题（</a:t>
            </a:r>
            <a:r>
              <a:rPr lang="en-US" altLang="zh-CN" sz="1800" b="1" i="1" dirty="0">
                <a:solidFill>
                  <a:srgbClr val="0000FF"/>
                </a:solidFill>
                <a:latin typeface="Consolas" pitchFamily="49" charset="0"/>
                <a:ea typeface="楷体" pitchFamily="49" charset="-122"/>
              </a:rPr>
              <a:t>W</a:t>
            </a:r>
            <a:r>
              <a:rPr lang="en-US" altLang="zh-CN" sz="1800" b="1" dirty="0">
                <a:solidFill>
                  <a:srgbClr val="0000FF"/>
                </a:solidFill>
                <a:latin typeface="Consolas" pitchFamily="49" charset="0"/>
                <a:ea typeface="楷体" pitchFamily="49" charset="-122"/>
              </a:rPr>
              <a:t>=6</a:t>
            </a:r>
            <a:r>
              <a:rPr lang="zh-CN" altLang="en-US" sz="1800" b="1" dirty="0">
                <a:solidFill>
                  <a:srgbClr val="0000FF"/>
                </a:solidFill>
                <a:latin typeface="Consolas" pitchFamily="49" charset="0"/>
                <a:ea typeface="楷体" pitchFamily="49" charset="-122"/>
              </a:rPr>
              <a:t>）：</a:t>
            </a:r>
          </a:p>
        </p:txBody>
      </p:sp>
      <p:sp>
        <p:nvSpPr>
          <p:cNvPr id="97283" name="标题 1"/>
          <p:cNvSpPr>
            <a:spLocks noGrp="1"/>
          </p:cNvSpPr>
          <p:nvPr>
            <p:ph type="title"/>
          </p:nvPr>
        </p:nvSpPr>
        <p:spPr/>
        <p:txBody>
          <a:bodyPr vert="horz" wrap="square" lIns="91440" tIns="45720" rIns="91440" bIns="45720" anchor="ctr" anchorCtr="0"/>
          <a:lstStyle/>
          <a:p>
            <a:r>
              <a:rPr lang="en-US" altLang="zh-CN" dirty="0">
                <a:sym typeface="+mn-ea"/>
              </a:rPr>
              <a:t>8.3.3</a:t>
            </a:r>
            <a:r>
              <a:rPr lang="en-US" altLang="zh-CN" dirty="0"/>
              <a:t>  0/1</a:t>
            </a:r>
            <a:r>
              <a:rPr lang="zh-CN" altLang="en-US" dirty="0"/>
              <a:t>背包问题</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5" name="组合 4"/>
          <p:cNvGrpSpPr/>
          <p:nvPr/>
        </p:nvGrpSpPr>
        <p:grpSpPr>
          <a:xfrm>
            <a:off x="71438" y="4802188"/>
            <a:ext cx="579437" cy="857250"/>
            <a:chOff x="71406" y="4539942"/>
            <a:chExt cx="580496" cy="856694"/>
          </a:xfrm>
        </p:grpSpPr>
        <p:sp>
          <p:nvSpPr>
            <p:cNvPr id="148" name="椭圆 147"/>
            <p:cNvSpPr/>
            <p:nvPr/>
          </p:nvSpPr>
          <p:spPr>
            <a:xfrm>
              <a:off x="71406" y="5000018"/>
              <a:ext cx="580496"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chemeClr val="lt1"/>
                  </a:solidFill>
                  <a:effectLst/>
                  <a:uLnTx/>
                  <a:uFillTx/>
                  <a:latin typeface="Consolas" pitchFamily="49" charset="0"/>
                  <a:ea typeface="仿宋" pitchFamily="49" charset="-122"/>
                  <a:cs typeface="Consolas" pitchFamily="49" charset="0"/>
                </a:rPr>
                <a:t>11,12</a:t>
              </a:r>
              <a:endParaRPr kumimoji="0" lang="zh-CN" altLang="en-US" sz="1400" b="1" i="0" u="none" strike="noStrike" kern="1200" cap="none" spc="-15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49" name="直接连接符 148"/>
            <p:cNvCxnSpPr>
              <a:stCxn id="124" idx="4"/>
              <a:endCxn id="148" idx="0"/>
            </p:cNvCxnSpPr>
            <p:nvPr/>
          </p:nvCxnSpPr>
          <p:spPr>
            <a:xfrm rot="5400000">
              <a:off x="272365" y="4630025"/>
              <a:ext cx="460076" cy="279911"/>
            </a:xfrm>
            <a:prstGeom prst="line">
              <a:avLst/>
            </a:prstGeom>
            <a:ln w="12700"/>
          </p:spPr>
          <p:style>
            <a:lnRef idx="2">
              <a:schemeClr val="dk1"/>
            </a:lnRef>
            <a:fillRef idx="0">
              <a:schemeClr val="dk1"/>
            </a:fillRef>
            <a:effectRef idx="1">
              <a:schemeClr val="dk1"/>
            </a:effectRef>
            <a:fontRef idx="minor">
              <a:schemeClr val="tx1"/>
            </a:fontRef>
          </p:style>
        </p:cxnSp>
        <p:sp>
          <p:nvSpPr>
            <p:cNvPr id="98308" name="TextBox 8"/>
            <p:cNvSpPr txBox="1"/>
            <p:nvPr/>
          </p:nvSpPr>
          <p:spPr>
            <a:xfrm>
              <a:off x="352662"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09" name="组合 5"/>
          <p:cNvGrpSpPr/>
          <p:nvPr/>
        </p:nvGrpSpPr>
        <p:grpSpPr>
          <a:xfrm>
            <a:off x="604838" y="4802188"/>
            <a:ext cx="571500" cy="857250"/>
            <a:chOff x="604810" y="4539942"/>
            <a:chExt cx="571504" cy="856694"/>
          </a:xfrm>
        </p:grpSpPr>
        <p:sp>
          <p:nvSpPr>
            <p:cNvPr id="145" name="椭圆 144"/>
            <p:cNvSpPr/>
            <p:nvPr/>
          </p:nvSpPr>
          <p:spPr>
            <a:xfrm>
              <a:off x="604810" y="5000018"/>
              <a:ext cx="571504"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chemeClr val="lt1"/>
                  </a:solidFill>
                  <a:effectLst/>
                  <a:uLnTx/>
                  <a:uFillTx/>
                  <a:latin typeface="Consolas" pitchFamily="49" charset="0"/>
                  <a:ea typeface="仿宋" pitchFamily="49" charset="-122"/>
                  <a:cs typeface="Consolas" pitchFamily="49" charset="0"/>
                </a:rPr>
                <a:t>10,11</a:t>
              </a:r>
              <a:endParaRPr kumimoji="0" lang="zh-CN" altLang="en-US" sz="1400" b="1" i="0" u="none" strike="noStrike" kern="1200" cap="none" spc="-15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46" name="直接连接符 145"/>
            <p:cNvCxnSpPr>
              <a:stCxn id="124" idx="4"/>
              <a:endCxn id="145" idx="0"/>
            </p:cNvCxnSpPr>
            <p:nvPr/>
          </p:nvCxnSpPr>
          <p:spPr>
            <a:xfrm rot="16200000" flipH="1">
              <a:off x="536697" y="4646155"/>
              <a:ext cx="460076" cy="247652"/>
            </a:xfrm>
            <a:prstGeom prst="line">
              <a:avLst/>
            </a:prstGeom>
            <a:ln w="12700"/>
          </p:spPr>
          <p:style>
            <a:lnRef idx="2">
              <a:schemeClr val="dk1"/>
            </a:lnRef>
            <a:fillRef idx="0">
              <a:schemeClr val="dk1"/>
            </a:fillRef>
            <a:effectRef idx="1">
              <a:schemeClr val="dk1"/>
            </a:effectRef>
            <a:fontRef idx="minor">
              <a:schemeClr val="tx1"/>
            </a:fontRef>
          </p:style>
        </p:cxnSp>
        <p:sp>
          <p:nvSpPr>
            <p:cNvPr id="98312" name="TextBox 9"/>
            <p:cNvSpPr txBox="1"/>
            <p:nvPr/>
          </p:nvSpPr>
          <p:spPr>
            <a:xfrm>
              <a:off x="857224"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13" name="组合 6"/>
          <p:cNvGrpSpPr/>
          <p:nvPr/>
        </p:nvGrpSpPr>
        <p:grpSpPr>
          <a:xfrm>
            <a:off x="1143000" y="4802188"/>
            <a:ext cx="477838" cy="857250"/>
            <a:chOff x="1142976" y="4539943"/>
            <a:chExt cx="478501" cy="856693"/>
          </a:xfrm>
        </p:grpSpPr>
        <p:sp>
          <p:nvSpPr>
            <p:cNvPr id="142" name="椭圆 141"/>
            <p:cNvSpPr/>
            <p:nvPr/>
          </p:nvSpPr>
          <p:spPr>
            <a:xfrm>
              <a:off x="1142976" y="5000019"/>
              <a:ext cx="467373" cy="396617"/>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9,9</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43" name="直接连接符 142"/>
            <p:cNvCxnSpPr>
              <a:stCxn id="121" idx="4"/>
              <a:endCxn id="142" idx="0"/>
            </p:cNvCxnSpPr>
            <p:nvPr/>
          </p:nvCxnSpPr>
          <p:spPr>
            <a:xfrm rot="5400000">
              <a:off x="1269032" y="4647574"/>
              <a:ext cx="460076" cy="244814"/>
            </a:xfrm>
            <a:prstGeom prst="line">
              <a:avLst/>
            </a:prstGeom>
            <a:ln w="12700"/>
          </p:spPr>
          <p:style>
            <a:lnRef idx="2">
              <a:schemeClr val="dk1"/>
            </a:lnRef>
            <a:fillRef idx="0">
              <a:schemeClr val="dk1"/>
            </a:fillRef>
            <a:effectRef idx="1">
              <a:schemeClr val="dk1"/>
            </a:effectRef>
            <a:fontRef idx="minor">
              <a:schemeClr val="tx1"/>
            </a:fontRef>
          </p:style>
        </p:cxnSp>
        <p:sp>
          <p:nvSpPr>
            <p:cNvPr id="98316" name="TextBox 18"/>
            <p:cNvSpPr txBox="1"/>
            <p:nvPr/>
          </p:nvSpPr>
          <p:spPr>
            <a:xfrm>
              <a:off x="1325690"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17" name="组合 7"/>
          <p:cNvGrpSpPr/>
          <p:nvPr/>
        </p:nvGrpSpPr>
        <p:grpSpPr>
          <a:xfrm>
            <a:off x="1620838" y="4802188"/>
            <a:ext cx="490537" cy="857250"/>
            <a:chOff x="1621476" y="4539942"/>
            <a:chExt cx="489566" cy="856694"/>
          </a:xfrm>
        </p:grpSpPr>
        <p:sp>
          <p:nvSpPr>
            <p:cNvPr id="139" name="椭圆 138"/>
            <p:cNvSpPr/>
            <p:nvPr/>
          </p:nvSpPr>
          <p:spPr>
            <a:xfrm>
              <a:off x="1643657" y="5000018"/>
              <a:ext cx="467385"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8,8</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40" name="直接连接符 139"/>
            <p:cNvCxnSpPr>
              <a:stCxn id="121" idx="4"/>
              <a:endCxn id="139" idx="0"/>
            </p:cNvCxnSpPr>
            <p:nvPr/>
          </p:nvCxnSpPr>
          <p:spPr>
            <a:xfrm rot="16200000" flipH="1">
              <a:off x="1518977" y="4642440"/>
              <a:ext cx="460076" cy="255081"/>
            </a:xfrm>
            <a:prstGeom prst="line">
              <a:avLst/>
            </a:prstGeom>
            <a:ln w="12700"/>
          </p:spPr>
          <p:style>
            <a:lnRef idx="2">
              <a:schemeClr val="dk1"/>
            </a:lnRef>
            <a:fillRef idx="0">
              <a:schemeClr val="dk1"/>
            </a:fillRef>
            <a:effectRef idx="1">
              <a:schemeClr val="dk1"/>
            </a:effectRef>
            <a:fontRef idx="minor">
              <a:schemeClr val="tx1"/>
            </a:fontRef>
          </p:style>
        </p:cxnSp>
        <p:sp>
          <p:nvSpPr>
            <p:cNvPr id="98320" name="TextBox 19"/>
            <p:cNvSpPr txBox="1"/>
            <p:nvPr/>
          </p:nvSpPr>
          <p:spPr>
            <a:xfrm>
              <a:off x="1833292"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21" name="组合 8"/>
          <p:cNvGrpSpPr/>
          <p:nvPr/>
        </p:nvGrpSpPr>
        <p:grpSpPr>
          <a:xfrm>
            <a:off x="2166938" y="4802188"/>
            <a:ext cx="511175" cy="857250"/>
            <a:chOff x="2167172" y="4539942"/>
            <a:chExt cx="511306" cy="856694"/>
          </a:xfrm>
        </p:grpSpPr>
        <p:sp>
          <p:nvSpPr>
            <p:cNvPr id="136" name="椭圆 135"/>
            <p:cNvSpPr/>
            <p:nvPr/>
          </p:nvSpPr>
          <p:spPr>
            <a:xfrm>
              <a:off x="2167172" y="5000018"/>
              <a:ext cx="468432"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8,8</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37" name="直接连接符 136"/>
            <p:cNvCxnSpPr>
              <a:stCxn id="118" idx="4"/>
              <a:endCxn id="136" idx="0"/>
            </p:cNvCxnSpPr>
            <p:nvPr/>
          </p:nvCxnSpPr>
          <p:spPr>
            <a:xfrm rot="5400000">
              <a:off x="2309498" y="4631038"/>
              <a:ext cx="460076" cy="277884"/>
            </a:xfrm>
            <a:prstGeom prst="line">
              <a:avLst/>
            </a:prstGeom>
            <a:ln w="12700"/>
          </p:spPr>
          <p:style>
            <a:lnRef idx="2">
              <a:schemeClr val="dk1"/>
            </a:lnRef>
            <a:fillRef idx="0">
              <a:schemeClr val="dk1"/>
            </a:fillRef>
            <a:effectRef idx="1">
              <a:schemeClr val="dk1"/>
            </a:effectRef>
            <a:fontRef idx="minor">
              <a:schemeClr val="tx1"/>
            </a:fontRef>
          </p:style>
        </p:cxnSp>
        <p:sp>
          <p:nvSpPr>
            <p:cNvPr id="98324" name="TextBox 30"/>
            <p:cNvSpPr txBox="1"/>
            <p:nvPr/>
          </p:nvSpPr>
          <p:spPr>
            <a:xfrm>
              <a:off x="2385982"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25" name="组合 9"/>
          <p:cNvGrpSpPr/>
          <p:nvPr/>
        </p:nvGrpSpPr>
        <p:grpSpPr>
          <a:xfrm>
            <a:off x="2673350" y="4802188"/>
            <a:ext cx="466725" cy="857250"/>
            <a:chOff x="2673190" y="4539942"/>
            <a:chExt cx="468000" cy="856694"/>
          </a:xfrm>
        </p:grpSpPr>
        <p:sp>
          <p:nvSpPr>
            <p:cNvPr id="133" name="椭圆 132"/>
            <p:cNvSpPr/>
            <p:nvPr/>
          </p:nvSpPr>
          <p:spPr>
            <a:xfrm>
              <a:off x="2673190" y="5000018"/>
              <a:ext cx="468000"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7,7</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34" name="直接连接符 133"/>
            <p:cNvCxnSpPr>
              <a:stCxn id="118" idx="4"/>
              <a:endCxn id="133" idx="0"/>
            </p:cNvCxnSpPr>
            <p:nvPr/>
          </p:nvCxnSpPr>
          <p:spPr>
            <a:xfrm rot="16200000" flipH="1">
              <a:off x="2562540" y="4655368"/>
              <a:ext cx="460076" cy="229224"/>
            </a:xfrm>
            <a:prstGeom prst="line">
              <a:avLst/>
            </a:prstGeom>
            <a:ln w="12700"/>
          </p:spPr>
          <p:style>
            <a:lnRef idx="2">
              <a:schemeClr val="dk1"/>
            </a:lnRef>
            <a:fillRef idx="0">
              <a:schemeClr val="dk1"/>
            </a:fillRef>
            <a:effectRef idx="1">
              <a:schemeClr val="dk1"/>
            </a:effectRef>
            <a:fontRef idx="minor">
              <a:schemeClr val="tx1"/>
            </a:fontRef>
          </p:style>
        </p:cxnSp>
        <p:sp>
          <p:nvSpPr>
            <p:cNvPr id="98328" name="TextBox 31"/>
            <p:cNvSpPr txBox="1"/>
            <p:nvPr/>
          </p:nvSpPr>
          <p:spPr>
            <a:xfrm>
              <a:off x="2841662" y="4655478"/>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29" name="组合 10"/>
          <p:cNvGrpSpPr/>
          <p:nvPr/>
        </p:nvGrpSpPr>
        <p:grpSpPr>
          <a:xfrm>
            <a:off x="3211513" y="4802188"/>
            <a:ext cx="468312" cy="857250"/>
            <a:chOff x="3212628" y="4539942"/>
            <a:chExt cx="468000" cy="856694"/>
          </a:xfrm>
        </p:grpSpPr>
        <p:sp>
          <p:nvSpPr>
            <p:cNvPr id="130" name="椭圆 129"/>
            <p:cNvSpPr/>
            <p:nvPr/>
          </p:nvSpPr>
          <p:spPr>
            <a:xfrm>
              <a:off x="3212628" y="5000018"/>
              <a:ext cx="468000"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6,5</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31" name="直接连接符 130"/>
            <p:cNvCxnSpPr>
              <a:stCxn id="115" idx="4"/>
              <a:endCxn id="130" idx="0"/>
            </p:cNvCxnSpPr>
            <p:nvPr/>
          </p:nvCxnSpPr>
          <p:spPr>
            <a:xfrm rot="5400000">
              <a:off x="3330812" y="4656550"/>
              <a:ext cx="460076" cy="226861"/>
            </a:xfrm>
            <a:prstGeom prst="line">
              <a:avLst/>
            </a:prstGeom>
            <a:ln w="12700"/>
          </p:spPr>
          <p:style>
            <a:lnRef idx="2">
              <a:schemeClr val="dk1"/>
            </a:lnRef>
            <a:fillRef idx="0">
              <a:schemeClr val="dk1"/>
            </a:fillRef>
            <a:effectRef idx="1">
              <a:schemeClr val="dk1"/>
            </a:effectRef>
            <a:fontRef idx="minor">
              <a:schemeClr val="tx1"/>
            </a:fontRef>
          </p:style>
        </p:cxnSp>
        <p:sp>
          <p:nvSpPr>
            <p:cNvPr id="98332" name="TextBox 37"/>
            <p:cNvSpPr txBox="1"/>
            <p:nvPr/>
          </p:nvSpPr>
          <p:spPr>
            <a:xfrm>
              <a:off x="3381566"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33" name="组合 11"/>
          <p:cNvGrpSpPr/>
          <p:nvPr/>
        </p:nvGrpSpPr>
        <p:grpSpPr>
          <a:xfrm>
            <a:off x="3673475" y="4802188"/>
            <a:ext cx="506413" cy="857250"/>
            <a:chOff x="3674350" y="4539942"/>
            <a:chExt cx="506344" cy="856694"/>
          </a:xfrm>
        </p:grpSpPr>
        <p:sp>
          <p:nvSpPr>
            <p:cNvPr id="127" name="椭圆 126"/>
            <p:cNvSpPr/>
            <p:nvPr/>
          </p:nvSpPr>
          <p:spPr>
            <a:xfrm>
              <a:off x="3712445" y="5000018"/>
              <a:ext cx="468249"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28" name="直接连接符 127"/>
            <p:cNvCxnSpPr>
              <a:stCxn id="115" idx="4"/>
              <a:endCxn id="127" idx="0"/>
            </p:cNvCxnSpPr>
            <p:nvPr/>
          </p:nvCxnSpPr>
          <p:spPr>
            <a:xfrm rot="16200000" flipH="1">
              <a:off x="3580817" y="4633474"/>
              <a:ext cx="460076" cy="273013"/>
            </a:xfrm>
            <a:prstGeom prst="line">
              <a:avLst/>
            </a:prstGeom>
            <a:ln w="12700"/>
          </p:spPr>
          <p:style>
            <a:lnRef idx="2">
              <a:schemeClr val="dk1"/>
            </a:lnRef>
            <a:fillRef idx="0">
              <a:schemeClr val="dk1"/>
            </a:fillRef>
            <a:effectRef idx="1">
              <a:schemeClr val="dk1"/>
            </a:effectRef>
            <a:fontRef idx="minor">
              <a:schemeClr val="tx1"/>
            </a:fontRef>
          </p:style>
        </p:cxnSp>
        <p:sp>
          <p:nvSpPr>
            <p:cNvPr id="98336" name="TextBox 38"/>
            <p:cNvSpPr txBox="1"/>
            <p:nvPr/>
          </p:nvSpPr>
          <p:spPr>
            <a:xfrm>
              <a:off x="3891666"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37" name="组合 12"/>
          <p:cNvGrpSpPr/>
          <p:nvPr/>
        </p:nvGrpSpPr>
        <p:grpSpPr>
          <a:xfrm>
            <a:off x="285750" y="3619500"/>
            <a:ext cx="858838" cy="1182688"/>
            <a:chOff x="285720" y="3357562"/>
            <a:chExt cx="859504" cy="1182380"/>
          </a:xfrm>
        </p:grpSpPr>
        <p:sp>
          <p:nvSpPr>
            <p:cNvPr id="124" name="椭圆 123"/>
            <p:cNvSpPr/>
            <p:nvPr/>
          </p:nvSpPr>
          <p:spPr>
            <a:xfrm>
              <a:off x="285720" y="4071751"/>
              <a:ext cx="714929" cy="468191"/>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10,11</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25" name="直接连接符 124"/>
            <p:cNvCxnSpPr>
              <a:stCxn id="112" idx="4"/>
              <a:endCxn id="124" idx="0"/>
            </p:cNvCxnSpPr>
            <p:nvPr/>
          </p:nvCxnSpPr>
          <p:spPr>
            <a:xfrm rot="5400000">
              <a:off x="537109" y="3463636"/>
              <a:ext cx="714189" cy="502039"/>
            </a:xfrm>
            <a:prstGeom prst="line">
              <a:avLst/>
            </a:prstGeom>
            <a:ln w="12700"/>
          </p:spPr>
          <p:style>
            <a:lnRef idx="2">
              <a:schemeClr val="dk1"/>
            </a:lnRef>
            <a:fillRef idx="0">
              <a:schemeClr val="dk1"/>
            </a:fillRef>
            <a:effectRef idx="1">
              <a:schemeClr val="dk1"/>
            </a:effectRef>
            <a:fontRef idx="minor">
              <a:schemeClr val="tx1"/>
            </a:fontRef>
          </p:style>
        </p:cxnSp>
        <p:sp>
          <p:nvSpPr>
            <p:cNvPr id="98340" name="TextBox 49"/>
            <p:cNvSpPr txBox="1"/>
            <p:nvPr/>
          </p:nvSpPr>
          <p:spPr>
            <a:xfrm>
              <a:off x="714348" y="357187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41" name="组合 13"/>
          <p:cNvGrpSpPr/>
          <p:nvPr/>
        </p:nvGrpSpPr>
        <p:grpSpPr>
          <a:xfrm>
            <a:off x="1144588" y="3619500"/>
            <a:ext cx="765175" cy="1182688"/>
            <a:chOff x="1145223" y="3357562"/>
            <a:chExt cx="764254" cy="1182380"/>
          </a:xfrm>
        </p:grpSpPr>
        <p:sp>
          <p:nvSpPr>
            <p:cNvPr id="121" name="椭圆 120"/>
            <p:cNvSpPr/>
            <p:nvPr/>
          </p:nvSpPr>
          <p:spPr>
            <a:xfrm>
              <a:off x="1333908" y="4071751"/>
              <a:ext cx="575569" cy="468191"/>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8,8</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22" name="直接连接符 121"/>
            <p:cNvCxnSpPr>
              <a:stCxn id="112" idx="4"/>
              <a:endCxn id="121" idx="0"/>
            </p:cNvCxnSpPr>
            <p:nvPr/>
          </p:nvCxnSpPr>
          <p:spPr>
            <a:xfrm rot="16200000" flipH="1">
              <a:off x="1025965" y="3476818"/>
              <a:ext cx="714189" cy="475677"/>
            </a:xfrm>
            <a:prstGeom prst="line">
              <a:avLst/>
            </a:prstGeom>
            <a:ln w="12700"/>
          </p:spPr>
          <p:style>
            <a:lnRef idx="2">
              <a:schemeClr val="dk1"/>
            </a:lnRef>
            <a:fillRef idx="0">
              <a:schemeClr val="dk1"/>
            </a:fillRef>
            <a:effectRef idx="1">
              <a:schemeClr val="dk1"/>
            </a:effectRef>
            <a:fontRef idx="minor">
              <a:schemeClr val="tx1"/>
            </a:fontRef>
          </p:style>
        </p:cxnSp>
        <p:sp>
          <p:nvSpPr>
            <p:cNvPr id="98344" name="TextBox 50"/>
            <p:cNvSpPr txBox="1"/>
            <p:nvPr/>
          </p:nvSpPr>
          <p:spPr>
            <a:xfrm>
              <a:off x="1500166" y="357187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45" name="组合 14"/>
          <p:cNvGrpSpPr/>
          <p:nvPr/>
        </p:nvGrpSpPr>
        <p:grpSpPr>
          <a:xfrm>
            <a:off x="2390775" y="3619500"/>
            <a:ext cx="752475" cy="1182688"/>
            <a:chOff x="2390478" y="3357562"/>
            <a:chExt cx="752960" cy="1182380"/>
          </a:xfrm>
        </p:grpSpPr>
        <p:sp>
          <p:nvSpPr>
            <p:cNvPr id="118" name="椭圆 117"/>
            <p:cNvSpPr/>
            <p:nvPr/>
          </p:nvSpPr>
          <p:spPr>
            <a:xfrm>
              <a:off x="2390478" y="4071751"/>
              <a:ext cx="576634" cy="468191"/>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7,7</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19" name="直接连接符 118"/>
            <p:cNvCxnSpPr>
              <a:stCxn id="109" idx="4"/>
              <a:endCxn id="118" idx="0"/>
            </p:cNvCxnSpPr>
            <p:nvPr/>
          </p:nvCxnSpPr>
          <p:spPr>
            <a:xfrm rot="5400000">
              <a:off x="2553624" y="3481937"/>
              <a:ext cx="714189" cy="465437"/>
            </a:xfrm>
            <a:prstGeom prst="line">
              <a:avLst/>
            </a:prstGeom>
            <a:ln w="12700"/>
          </p:spPr>
          <p:style>
            <a:lnRef idx="2">
              <a:schemeClr val="dk1"/>
            </a:lnRef>
            <a:fillRef idx="0">
              <a:schemeClr val="dk1"/>
            </a:fillRef>
            <a:effectRef idx="1">
              <a:schemeClr val="dk1"/>
            </a:effectRef>
            <a:fontRef idx="minor">
              <a:schemeClr val="tx1"/>
            </a:fontRef>
          </p:style>
        </p:cxnSp>
        <p:sp>
          <p:nvSpPr>
            <p:cNvPr id="98348" name="TextBox 51"/>
            <p:cNvSpPr txBox="1"/>
            <p:nvPr/>
          </p:nvSpPr>
          <p:spPr>
            <a:xfrm>
              <a:off x="2781554" y="357187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49" name="组合 15"/>
          <p:cNvGrpSpPr/>
          <p:nvPr/>
        </p:nvGrpSpPr>
        <p:grpSpPr>
          <a:xfrm>
            <a:off x="3143250" y="3619500"/>
            <a:ext cx="819150" cy="1182688"/>
            <a:chOff x="3143438" y="3357562"/>
            <a:chExt cx="818912" cy="1182380"/>
          </a:xfrm>
        </p:grpSpPr>
        <p:sp>
          <p:nvSpPr>
            <p:cNvPr id="115" name="椭圆 114"/>
            <p:cNvSpPr/>
            <p:nvPr/>
          </p:nvSpPr>
          <p:spPr>
            <a:xfrm>
              <a:off x="3386255" y="4071751"/>
              <a:ext cx="576095" cy="468191"/>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16" name="直接连接符 115"/>
            <p:cNvCxnSpPr>
              <a:stCxn id="109" idx="4"/>
              <a:endCxn id="115" idx="0"/>
            </p:cNvCxnSpPr>
            <p:nvPr/>
          </p:nvCxnSpPr>
          <p:spPr>
            <a:xfrm rot="16200000" flipH="1">
              <a:off x="3052173" y="3448826"/>
              <a:ext cx="714189" cy="531658"/>
            </a:xfrm>
            <a:prstGeom prst="line">
              <a:avLst/>
            </a:prstGeom>
            <a:ln w="12700"/>
          </p:spPr>
          <p:style>
            <a:lnRef idx="2">
              <a:schemeClr val="dk1"/>
            </a:lnRef>
            <a:fillRef idx="0">
              <a:schemeClr val="dk1"/>
            </a:fillRef>
            <a:effectRef idx="1">
              <a:schemeClr val="dk1"/>
            </a:effectRef>
            <a:fontRef idx="minor">
              <a:schemeClr val="tx1"/>
            </a:fontRef>
          </p:style>
        </p:cxnSp>
        <p:sp>
          <p:nvSpPr>
            <p:cNvPr id="98352" name="TextBox 52"/>
            <p:cNvSpPr txBox="1"/>
            <p:nvPr/>
          </p:nvSpPr>
          <p:spPr>
            <a:xfrm>
              <a:off x="3500430" y="357187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53" name="组合 16"/>
          <p:cNvGrpSpPr/>
          <p:nvPr/>
        </p:nvGrpSpPr>
        <p:grpSpPr>
          <a:xfrm>
            <a:off x="857250" y="2730500"/>
            <a:ext cx="1358900" cy="889000"/>
            <a:chOff x="857224" y="2468240"/>
            <a:chExt cx="1359571" cy="889322"/>
          </a:xfrm>
        </p:grpSpPr>
        <p:sp>
          <p:nvSpPr>
            <p:cNvPr id="112" name="椭圆 111"/>
            <p:cNvSpPr/>
            <p:nvPr/>
          </p:nvSpPr>
          <p:spPr>
            <a:xfrm>
              <a:off x="857224" y="2889080"/>
              <a:ext cx="576548" cy="468482"/>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8,8</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13" name="直接连接符 112"/>
            <p:cNvCxnSpPr>
              <a:stCxn id="64" idx="4"/>
              <a:endCxn id="112" idx="7"/>
            </p:cNvCxnSpPr>
            <p:nvPr/>
          </p:nvCxnSpPr>
          <p:spPr>
            <a:xfrm rot="5400000">
              <a:off x="1538629" y="2279201"/>
              <a:ext cx="489127" cy="867203"/>
            </a:xfrm>
            <a:prstGeom prst="line">
              <a:avLst/>
            </a:prstGeom>
            <a:ln w="12700"/>
          </p:spPr>
          <p:style>
            <a:lnRef idx="2">
              <a:schemeClr val="dk1"/>
            </a:lnRef>
            <a:fillRef idx="0">
              <a:schemeClr val="dk1"/>
            </a:fillRef>
            <a:effectRef idx="1">
              <a:schemeClr val="dk1"/>
            </a:effectRef>
            <a:fontRef idx="minor">
              <a:schemeClr val="tx1"/>
            </a:fontRef>
          </p:style>
        </p:cxnSp>
        <p:sp>
          <p:nvSpPr>
            <p:cNvPr id="98356" name="TextBox 53"/>
            <p:cNvSpPr txBox="1"/>
            <p:nvPr/>
          </p:nvSpPr>
          <p:spPr>
            <a:xfrm>
              <a:off x="1638546" y="250030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57" name="组合 17"/>
          <p:cNvGrpSpPr/>
          <p:nvPr/>
        </p:nvGrpSpPr>
        <p:grpSpPr>
          <a:xfrm>
            <a:off x="2216150" y="2730500"/>
            <a:ext cx="1214438" cy="889000"/>
            <a:chOff x="2216794" y="2468239"/>
            <a:chExt cx="1214644" cy="889323"/>
          </a:xfrm>
        </p:grpSpPr>
        <p:sp>
          <p:nvSpPr>
            <p:cNvPr id="109" name="椭圆 108"/>
            <p:cNvSpPr/>
            <p:nvPr/>
          </p:nvSpPr>
          <p:spPr>
            <a:xfrm>
              <a:off x="2855077" y="2889080"/>
              <a:ext cx="576361" cy="468482"/>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10" name="直接连接符 109"/>
            <p:cNvCxnSpPr>
              <a:stCxn id="64" idx="4"/>
              <a:endCxn id="109" idx="1"/>
            </p:cNvCxnSpPr>
            <p:nvPr/>
          </p:nvCxnSpPr>
          <p:spPr>
            <a:xfrm rot="16200000" flipH="1">
              <a:off x="2333448" y="2351585"/>
              <a:ext cx="489128" cy="722436"/>
            </a:xfrm>
            <a:prstGeom prst="line">
              <a:avLst/>
            </a:prstGeom>
            <a:ln w="12700"/>
          </p:spPr>
          <p:style>
            <a:lnRef idx="2">
              <a:schemeClr val="dk1"/>
            </a:lnRef>
            <a:fillRef idx="0">
              <a:schemeClr val="dk1"/>
            </a:fillRef>
            <a:effectRef idx="1">
              <a:schemeClr val="dk1"/>
            </a:effectRef>
            <a:fontRef idx="minor">
              <a:schemeClr val="tx1"/>
            </a:fontRef>
          </p:style>
        </p:cxnSp>
        <p:sp>
          <p:nvSpPr>
            <p:cNvPr id="98360" name="TextBox 54"/>
            <p:cNvSpPr txBox="1"/>
            <p:nvPr/>
          </p:nvSpPr>
          <p:spPr>
            <a:xfrm>
              <a:off x="2643174" y="250030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61" name="组合 18"/>
          <p:cNvGrpSpPr/>
          <p:nvPr/>
        </p:nvGrpSpPr>
        <p:grpSpPr>
          <a:xfrm>
            <a:off x="4286250" y="4802188"/>
            <a:ext cx="511175" cy="857250"/>
            <a:chOff x="4286248" y="4539942"/>
            <a:chExt cx="511306" cy="856694"/>
          </a:xfrm>
        </p:grpSpPr>
        <p:sp>
          <p:nvSpPr>
            <p:cNvPr id="106" name="椭圆 105"/>
            <p:cNvSpPr/>
            <p:nvPr/>
          </p:nvSpPr>
          <p:spPr>
            <a:xfrm>
              <a:off x="4286248" y="5000018"/>
              <a:ext cx="468433" cy="39661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6,8</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07" name="直接连接符 106"/>
            <p:cNvCxnSpPr>
              <a:stCxn id="82" idx="4"/>
              <a:endCxn id="106" idx="0"/>
            </p:cNvCxnSpPr>
            <p:nvPr/>
          </p:nvCxnSpPr>
          <p:spPr>
            <a:xfrm rot="5400000">
              <a:off x="4428573" y="4631039"/>
              <a:ext cx="460076" cy="277883"/>
            </a:xfrm>
            <a:prstGeom prst="line">
              <a:avLst/>
            </a:prstGeom>
            <a:ln w="12700"/>
          </p:spPr>
          <p:style>
            <a:lnRef idx="2">
              <a:schemeClr val="dk1"/>
            </a:lnRef>
            <a:fillRef idx="0">
              <a:schemeClr val="dk1"/>
            </a:fillRef>
            <a:effectRef idx="1">
              <a:schemeClr val="dk1"/>
            </a:effectRef>
            <a:fontRef idx="minor">
              <a:schemeClr val="tx1"/>
            </a:fontRef>
          </p:style>
        </p:cxnSp>
        <p:sp>
          <p:nvSpPr>
            <p:cNvPr id="98364" name="TextBox 60"/>
            <p:cNvSpPr txBox="1"/>
            <p:nvPr/>
          </p:nvSpPr>
          <p:spPr>
            <a:xfrm>
              <a:off x="4505058"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65" name="组合 19"/>
          <p:cNvGrpSpPr/>
          <p:nvPr/>
        </p:nvGrpSpPr>
        <p:grpSpPr>
          <a:xfrm>
            <a:off x="4794250" y="4802188"/>
            <a:ext cx="468313" cy="857250"/>
            <a:chOff x="4795306" y="4539942"/>
            <a:chExt cx="468000" cy="856694"/>
          </a:xfrm>
        </p:grpSpPr>
        <p:sp>
          <p:nvSpPr>
            <p:cNvPr id="103" name="椭圆 102"/>
            <p:cNvSpPr/>
            <p:nvPr/>
          </p:nvSpPr>
          <p:spPr>
            <a:xfrm>
              <a:off x="4795306" y="5000018"/>
              <a:ext cx="468000"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5,7</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04" name="直接连接符 103"/>
            <p:cNvCxnSpPr>
              <a:stCxn id="82" idx="4"/>
              <a:endCxn id="103" idx="0"/>
            </p:cNvCxnSpPr>
            <p:nvPr/>
          </p:nvCxnSpPr>
          <p:spPr>
            <a:xfrm rot="16200000" flipH="1">
              <a:off x="4683457" y="4653378"/>
              <a:ext cx="460076" cy="233206"/>
            </a:xfrm>
            <a:prstGeom prst="line">
              <a:avLst/>
            </a:prstGeom>
            <a:ln w="12700"/>
          </p:spPr>
          <p:style>
            <a:lnRef idx="2">
              <a:schemeClr val="dk1"/>
            </a:lnRef>
            <a:fillRef idx="0">
              <a:schemeClr val="dk1"/>
            </a:fillRef>
            <a:effectRef idx="1">
              <a:schemeClr val="dk1"/>
            </a:effectRef>
            <a:fontRef idx="minor">
              <a:schemeClr val="tx1"/>
            </a:fontRef>
          </p:style>
        </p:cxnSp>
        <p:sp>
          <p:nvSpPr>
            <p:cNvPr id="98368" name="TextBox 61"/>
            <p:cNvSpPr txBox="1"/>
            <p:nvPr/>
          </p:nvSpPr>
          <p:spPr>
            <a:xfrm>
              <a:off x="5009620"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69" name="组合 20"/>
          <p:cNvGrpSpPr/>
          <p:nvPr/>
        </p:nvGrpSpPr>
        <p:grpSpPr>
          <a:xfrm>
            <a:off x="5294313" y="4802188"/>
            <a:ext cx="468312" cy="857250"/>
            <a:chOff x="5295372" y="4539942"/>
            <a:chExt cx="468000" cy="856694"/>
          </a:xfrm>
        </p:grpSpPr>
        <p:sp>
          <p:nvSpPr>
            <p:cNvPr id="100" name="椭圆 99"/>
            <p:cNvSpPr/>
            <p:nvPr/>
          </p:nvSpPr>
          <p:spPr>
            <a:xfrm>
              <a:off x="5295372" y="5000018"/>
              <a:ext cx="468000"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4,5</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01" name="直接连接符 100"/>
            <p:cNvCxnSpPr>
              <a:stCxn id="79" idx="4"/>
              <a:endCxn id="100" idx="0"/>
            </p:cNvCxnSpPr>
            <p:nvPr/>
          </p:nvCxnSpPr>
          <p:spPr>
            <a:xfrm rot="5400000">
              <a:off x="5398485" y="4671621"/>
              <a:ext cx="460076" cy="196719"/>
            </a:xfrm>
            <a:prstGeom prst="line">
              <a:avLst/>
            </a:prstGeom>
            <a:ln w="12700"/>
          </p:spPr>
          <p:style>
            <a:lnRef idx="2">
              <a:schemeClr val="dk1"/>
            </a:lnRef>
            <a:fillRef idx="0">
              <a:schemeClr val="dk1"/>
            </a:fillRef>
            <a:effectRef idx="1">
              <a:schemeClr val="dk1"/>
            </a:effectRef>
            <a:fontRef idx="minor">
              <a:schemeClr val="tx1"/>
            </a:fontRef>
          </p:style>
        </p:cxnSp>
        <p:sp>
          <p:nvSpPr>
            <p:cNvPr id="98372" name="TextBox 67"/>
            <p:cNvSpPr txBox="1"/>
            <p:nvPr/>
          </p:nvSpPr>
          <p:spPr>
            <a:xfrm>
              <a:off x="5478086"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73" name="组合 21"/>
          <p:cNvGrpSpPr/>
          <p:nvPr/>
        </p:nvGrpSpPr>
        <p:grpSpPr>
          <a:xfrm>
            <a:off x="5726113" y="4802188"/>
            <a:ext cx="536575" cy="857250"/>
            <a:chOff x="5726248" y="4539942"/>
            <a:chExt cx="537190" cy="856694"/>
          </a:xfrm>
        </p:grpSpPr>
        <p:sp>
          <p:nvSpPr>
            <p:cNvPr id="97" name="椭圆 96"/>
            <p:cNvSpPr/>
            <p:nvPr/>
          </p:nvSpPr>
          <p:spPr>
            <a:xfrm>
              <a:off x="5796178" y="5000018"/>
              <a:ext cx="467260"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3,4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98" name="直接连接符 97"/>
            <p:cNvCxnSpPr>
              <a:stCxn id="79" idx="4"/>
              <a:endCxn id="97" idx="0"/>
            </p:cNvCxnSpPr>
            <p:nvPr/>
          </p:nvCxnSpPr>
          <p:spPr>
            <a:xfrm rot="16200000" flipH="1">
              <a:off x="5647989" y="4618201"/>
              <a:ext cx="460076" cy="303560"/>
            </a:xfrm>
            <a:prstGeom prst="line">
              <a:avLst/>
            </a:prstGeom>
            <a:ln w="12700"/>
          </p:spPr>
          <p:style>
            <a:lnRef idx="2">
              <a:schemeClr val="dk1"/>
            </a:lnRef>
            <a:fillRef idx="0">
              <a:schemeClr val="dk1"/>
            </a:fillRef>
            <a:effectRef idx="1">
              <a:schemeClr val="dk1"/>
            </a:effectRef>
            <a:fontRef idx="minor">
              <a:schemeClr val="tx1"/>
            </a:fontRef>
          </p:style>
        </p:cxnSp>
        <p:sp>
          <p:nvSpPr>
            <p:cNvPr id="98376" name="TextBox 68"/>
            <p:cNvSpPr txBox="1"/>
            <p:nvPr/>
          </p:nvSpPr>
          <p:spPr>
            <a:xfrm>
              <a:off x="5985688"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77" name="组合 22"/>
          <p:cNvGrpSpPr/>
          <p:nvPr/>
        </p:nvGrpSpPr>
        <p:grpSpPr>
          <a:xfrm>
            <a:off x="6319838" y="4802188"/>
            <a:ext cx="511175" cy="857250"/>
            <a:chOff x="6319568" y="4539942"/>
            <a:chExt cx="511306" cy="856694"/>
          </a:xfrm>
        </p:grpSpPr>
        <p:sp>
          <p:nvSpPr>
            <p:cNvPr id="94" name="椭圆 93"/>
            <p:cNvSpPr/>
            <p:nvPr/>
          </p:nvSpPr>
          <p:spPr>
            <a:xfrm>
              <a:off x="6319568" y="5000018"/>
              <a:ext cx="468432"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3,4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95" name="直接连接符 94"/>
            <p:cNvCxnSpPr>
              <a:stCxn id="76" idx="4"/>
              <a:endCxn id="94" idx="0"/>
            </p:cNvCxnSpPr>
            <p:nvPr/>
          </p:nvCxnSpPr>
          <p:spPr>
            <a:xfrm rot="5400000">
              <a:off x="6461894" y="4631038"/>
              <a:ext cx="460076" cy="277884"/>
            </a:xfrm>
            <a:prstGeom prst="line">
              <a:avLst/>
            </a:prstGeom>
            <a:ln w="12700"/>
          </p:spPr>
          <p:style>
            <a:lnRef idx="2">
              <a:schemeClr val="dk1"/>
            </a:lnRef>
            <a:fillRef idx="0">
              <a:schemeClr val="dk1"/>
            </a:fillRef>
            <a:effectRef idx="1">
              <a:schemeClr val="dk1"/>
            </a:effectRef>
            <a:fontRef idx="minor">
              <a:schemeClr val="tx1"/>
            </a:fontRef>
          </p:style>
        </p:cxnSp>
        <p:sp>
          <p:nvSpPr>
            <p:cNvPr id="98380" name="TextBox 77"/>
            <p:cNvSpPr txBox="1"/>
            <p:nvPr/>
          </p:nvSpPr>
          <p:spPr>
            <a:xfrm>
              <a:off x="6538378"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81" name="组合 23"/>
          <p:cNvGrpSpPr/>
          <p:nvPr/>
        </p:nvGrpSpPr>
        <p:grpSpPr>
          <a:xfrm>
            <a:off x="6824663" y="4802188"/>
            <a:ext cx="468312" cy="857250"/>
            <a:chOff x="6825586" y="4539942"/>
            <a:chExt cx="468000" cy="856694"/>
          </a:xfrm>
        </p:grpSpPr>
        <p:sp>
          <p:nvSpPr>
            <p:cNvPr id="91" name="椭圆 90"/>
            <p:cNvSpPr/>
            <p:nvPr/>
          </p:nvSpPr>
          <p:spPr>
            <a:xfrm>
              <a:off x="6825586" y="5000018"/>
              <a:ext cx="468000"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2,3</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92" name="直接连接符 91"/>
            <p:cNvCxnSpPr>
              <a:stCxn id="76" idx="4"/>
              <a:endCxn id="91" idx="0"/>
            </p:cNvCxnSpPr>
            <p:nvPr/>
          </p:nvCxnSpPr>
          <p:spPr>
            <a:xfrm rot="16200000" flipH="1">
              <a:off x="6715322" y="4654963"/>
              <a:ext cx="460076" cy="230035"/>
            </a:xfrm>
            <a:prstGeom prst="line">
              <a:avLst/>
            </a:prstGeom>
            <a:ln w="12700"/>
          </p:spPr>
          <p:style>
            <a:lnRef idx="2">
              <a:schemeClr val="dk1"/>
            </a:lnRef>
            <a:fillRef idx="0">
              <a:schemeClr val="dk1"/>
            </a:fillRef>
            <a:effectRef idx="1">
              <a:schemeClr val="dk1"/>
            </a:effectRef>
            <a:fontRef idx="minor">
              <a:schemeClr val="tx1"/>
            </a:fontRef>
          </p:style>
        </p:cxnSp>
        <p:sp>
          <p:nvSpPr>
            <p:cNvPr id="98384" name="TextBox 78"/>
            <p:cNvSpPr txBox="1"/>
            <p:nvPr/>
          </p:nvSpPr>
          <p:spPr>
            <a:xfrm>
              <a:off x="6994058" y="4655478"/>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85" name="组合 24"/>
          <p:cNvGrpSpPr/>
          <p:nvPr/>
        </p:nvGrpSpPr>
        <p:grpSpPr>
          <a:xfrm>
            <a:off x="7364413" y="4802188"/>
            <a:ext cx="468312" cy="857250"/>
            <a:chOff x="7365024" y="4539942"/>
            <a:chExt cx="468000" cy="856694"/>
          </a:xfrm>
        </p:grpSpPr>
        <p:sp>
          <p:nvSpPr>
            <p:cNvPr id="88" name="椭圆 87"/>
            <p:cNvSpPr/>
            <p:nvPr/>
          </p:nvSpPr>
          <p:spPr>
            <a:xfrm>
              <a:off x="7365024" y="5000018"/>
              <a:ext cx="468000"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1,1</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89" name="直接连接符 88"/>
            <p:cNvCxnSpPr>
              <a:stCxn id="73" idx="4"/>
              <a:endCxn id="88" idx="0"/>
            </p:cNvCxnSpPr>
            <p:nvPr/>
          </p:nvCxnSpPr>
          <p:spPr>
            <a:xfrm rot="5400000">
              <a:off x="7483208" y="4656550"/>
              <a:ext cx="460076" cy="226861"/>
            </a:xfrm>
            <a:prstGeom prst="line">
              <a:avLst/>
            </a:prstGeom>
            <a:ln w="12700"/>
          </p:spPr>
          <p:style>
            <a:lnRef idx="2">
              <a:schemeClr val="dk1"/>
            </a:lnRef>
            <a:fillRef idx="0">
              <a:schemeClr val="dk1"/>
            </a:fillRef>
            <a:effectRef idx="1">
              <a:schemeClr val="dk1"/>
            </a:effectRef>
            <a:fontRef idx="minor">
              <a:schemeClr val="tx1"/>
            </a:fontRef>
          </p:style>
        </p:cxnSp>
        <p:sp>
          <p:nvSpPr>
            <p:cNvPr id="98388" name="TextBox 84"/>
            <p:cNvSpPr txBox="1"/>
            <p:nvPr/>
          </p:nvSpPr>
          <p:spPr>
            <a:xfrm>
              <a:off x="7533962"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89" name="组合 25"/>
          <p:cNvGrpSpPr/>
          <p:nvPr/>
        </p:nvGrpSpPr>
        <p:grpSpPr>
          <a:xfrm>
            <a:off x="7826375" y="4802188"/>
            <a:ext cx="506413" cy="857250"/>
            <a:chOff x="7826746" y="4539942"/>
            <a:chExt cx="506344" cy="856694"/>
          </a:xfrm>
        </p:grpSpPr>
        <p:sp>
          <p:nvSpPr>
            <p:cNvPr id="85" name="椭圆 84"/>
            <p:cNvSpPr/>
            <p:nvPr/>
          </p:nvSpPr>
          <p:spPr>
            <a:xfrm>
              <a:off x="7864841" y="5000018"/>
              <a:ext cx="468249" cy="39661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86" name="直接连接符 85"/>
            <p:cNvCxnSpPr>
              <a:stCxn id="73" idx="4"/>
              <a:endCxn id="85" idx="0"/>
            </p:cNvCxnSpPr>
            <p:nvPr/>
          </p:nvCxnSpPr>
          <p:spPr>
            <a:xfrm rot="16200000" flipH="1">
              <a:off x="7733213" y="4633474"/>
              <a:ext cx="460076" cy="273013"/>
            </a:xfrm>
            <a:prstGeom prst="line">
              <a:avLst/>
            </a:prstGeom>
            <a:ln w="12700"/>
          </p:spPr>
          <p:style>
            <a:lnRef idx="2">
              <a:schemeClr val="dk1"/>
            </a:lnRef>
            <a:fillRef idx="0">
              <a:schemeClr val="dk1"/>
            </a:fillRef>
            <a:effectRef idx="1">
              <a:schemeClr val="dk1"/>
            </a:effectRef>
            <a:fontRef idx="minor">
              <a:schemeClr val="tx1"/>
            </a:fontRef>
          </p:style>
        </p:cxnSp>
        <p:sp>
          <p:nvSpPr>
            <p:cNvPr id="98392" name="TextBox 85"/>
            <p:cNvSpPr txBox="1"/>
            <p:nvPr/>
          </p:nvSpPr>
          <p:spPr>
            <a:xfrm>
              <a:off x="8044062" y="4679542"/>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393" name="组合 26"/>
          <p:cNvGrpSpPr/>
          <p:nvPr/>
        </p:nvGrpSpPr>
        <p:grpSpPr>
          <a:xfrm>
            <a:off x="4508500" y="3619500"/>
            <a:ext cx="788988" cy="1182688"/>
            <a:chOff x="4509554" y="3357562"/>
            <a:chExt cx="788066" cy="1182380"/>
          </a:xfrm>
        </p:grpSpPr>
        <p:sp>
          <p:nvSpPr>
            <p:cNvPr id="82" name="椭圆 81"/>
            <p:cNvSpPr/>
            <p:nvPr/>
          </p:nvSpPr>
          <p:spPr>
            <a:xfrm>
              <a:off x="4509554" y="4071751"/>
              <a:ext cx="575590" cy="468191"/>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5,7</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83" name="直接连接符 82"/>
            <p:cNvCxnSpPr>
              <a:stCxn id="70" idx="4"/>
              <a:endCxn id="82" idx="0"/>
            </p:cNvCxnSpPr>
            <p:nvPr/>
          </p:nvCxnSpPr>
          <p:spPr>
            <a:xfrm rot="5400000">
              <a:off x="4690785" y="3464916"/>
              <a:ext cx="714189" cy="499479"/>
            </a:xfrm>
            <a:prstGeom prst="line">
              <a:avLst/>
            </a:prstGeom>
            <a:ln w="12700"/>
          </p:spPr>
          <p:style>
            <a:lnRef idx="2">
              <a:schemeClr val="dk1"/>
            </a:lnRef>
            <a:fillRef idx="0">
              <a:schemeClr val="dk1"/>
            </a:fillRef>
            <a:effectRef idx="1">
              <a:schemeClr val="dk1"/>
            </a:effectRef>
            <a:fontRef idx="minor">
              <a:schemeClr val="tx1"/>
            </a:fontRef>
          </p:style>
        </p:cxnSp>
        <p:sp>
          <p:nvSpPr>
            <p:cNvPr id="98396" name="TextBox 92"/>
            <p:cNvSpPr txBox="1"/>
            <p:nvPr/>
          </p:nvSpPr>
          <p:spPr>
            <a:xfrm>
              <a:off x="4866744" y="357187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397" name="组合 27"/>
          <p:cNvGrpSpPr/>
          <p:nvPr/>
        </p:nvGrpSpPr>
        <p:grpSpPr>
          <a:xfrm>
            <a:off x="5297488" y="3619500"/>
            <a:ext cx="715962" cy="1182688"/>
            <a:chOff x="5297620" y="3357562"/>
            <a:chExt cx="716628" cy="1182380"/>
          </a:xfrm>
        </p:grpSpPr>
        <p:sp>
          <p:nvSpPr>
            <p:cNvPr id="79" name="椭圆 78"/>
            <p:cNvSpPr/>
            <p:nvPr/>
          </p:nvSpPr>
          <p:spPr>
            <a:xfrm>
              <a:off x="5439038" y="4071751"/>
              <a:ext cx="575210" cy="468191"/>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3,4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80" name="直接连接符 79"/>
            <p:cNvCxnSpPr>
              <a:stCxn id="70" idx="4"/>
              <a:endCxn id="79" idx="0"/>
            </p:cNvCxnSpPr>
            <p:nvPr/>
          </p:nvCxnSpPr>
          <p:spPr>
            <a:xfrm rot="16200000" flipH="1">
              <a:off x="5155037" y="3500144"/>
              <a:ext cx="714189" cy="429024"/>
            </a:xfrm>
            <a:prstGeom prst="line">
              <a:avLst/>
            </a:prstGeom>
            <a:ln w="12700"/>
          </p:spPr>
          <p:style>
            <a:lnRef idx="2">
              <a:schemeClr val="dk1"/>
            </a:lnRef>
            <a:fillRef idx="0">
              <a:schemeClr val="dk1"/>
            </a:fillRef>
            <a:effectRef idx="1">
              <a:schemeClr val="dk1"/>
            </a:effectRef>
            <a:fontRef idx="minor">
              <a:schemeClr val="tx1"/>
            </a:fontRef>
          </p:style>
        </p:cxnSp>
        <p:sp>
          <p:nvSpPr>
            <p:cNvPr id="98400" name="TextBox 93"/>
            <p:cNvSpPr txBox="1"/>
            <p:nvPr/>
          </p:nvSpPr>
          <p:spPr>
            <a:xfrm>
              <a:off x="5652562" y="357187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401" name="组合 28"/>
          <p:cNvGrpSpPr/>
          <p:nvPr/>
        </p:nvGrpSpPr>
        <p:grpSpPr>
          <a:xfrm>
            <a:off x="6542088" y="3619500"/>
            <a:ext cx="754062" cy="1182688"/>
            <a:chOff x="6542874" y="3357562"/>
            <a:chExt cx="752960" cy="1182380"/>
          </a:xfrm>
        </p:grpSpPr>
        <p:sp>
          <p:nvSpPr>
            <p:cNvPr id="76" name="椭圆 75"/>
            <p:cNvSpPr/>
            <p:nvPr/>
          </p:nvSpPr>
          <p:spPr>
            <a:xfrm>
              <a:off x="6542874" y="4071751"/>
              <a:ext cx="575420" cy="468191"/>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2,3</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77" name="直接连接符 76"/>
            <p:cNvCxnSpPr>
              <a:stCxn id="67" idx="4"/>
              <a:endCxn id="76" idx="0"/>
            </p:cNvCxnSpPr>
            <p:nvPr/>
          </p:nvCxnSpPr>
          <p:spPr>
            <a:xfrm rot="5400000">
              <a:off x="6706510" y="3482427"/>
              <a:ext cx="714189" cy="464457"/>
            </a:xfrm>
            <a:prstGeom prst="line">
              <a:avLst/>
            </a:prstGeom>
            <a:ln w="12700"/>
          </p:spPr>
          <p:style>
            <a:lnRef idx="2">
              <a:schemeClr val="dk1"/>
            </a:lnRef>
            <a:fillRef idx="0">
              <a:schemeClr val="dk1"/>
            </a:fillRef>
            <a:effectRef idx="1">
              <a:schemeClr val="dk1"/>
            </a:effectRef>
            <a:fontRef idx="minor">
              <a:schemeClr val="tx1"/>
            </a:fontRef>
          </p:style>
        </p:cxnSp>
        <p:sp>
          <p:nvSpPr>
            <p:cNvPr id="98404" name="TextBox 94"/>
            <p:cNvSpPr txBox="1"/>
            <p:nvPr/>
          </p:nvSpPr>
          <p:spPr>
            <a:xfrm>
              <a:off x="6933950" y="357187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405" name="组合 29"/>
          <p:cNvGrpSpPr/>
          <p:nvPr/>
        </p:nvGrpSpPr>
        <p:grpSpPr>
          <a:xfrm>
            <a:off x="7296150" y="3619500"/>
            <a:ext cx="817563" cy="1182688"/>
            <a:chOff x="7295834" y="3357562"/>
            <a:chExt cx="818912" cy="1182380"/>
          </a:xfrm>
        </p:grpSpPr>
        <p:sp>
          <p:nvSpPr>
            <p:cNvPr id="73" name="椭圆 72"/>
            <p:cNvSpPr/>
            <p:nvPr/>
          </p:nvSpPr>
          <p:spPr>
            <a:xfrm>
              <a:off x="7539123" y="4071751"/>
              <a:ext cx="575623" cy="468191"/>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74" name="直接连接符 73"/>
            <p:cNvCxnSpPr>
              <a:stCxn id="67" idx="4"/>
              <a:endCxn id="73" idx="0"/>
            </p:cNvCxnSpPr>
            <p:nvPr/>
          </p:nvCxnSpPr>
          <p:spPr>
            <a:xfrm rot="16200000" flipH="1">
              <a:off x="7204289" y="3449106"/>
              <a:ext cx="714189" cy="531100"/>
            </a:xfrm>
            <a:prstGeom prst="line">
              <a:avLst/>
            </a:prstGeom>
            <a:ln w="12700"/>
          </p:spPr>
          <p:style>
            <a:lnRef idx="2">
              <a:schemeClr val="dk1"/>
            </a:lnRef>
            <a:fillRef idx="0">
              <a:schemeClr val="dk1"/>
            </a:fillRef>
            <a:effectRef idx="1">
              <a:schemeClr val="dk1"/>
            </a:effectRef>
            <a:fontRef idx="minor">
              <a:schemeClr val="tx1"/>
            </a:fontRef>
          </p:style>
        </p:cxnSp>
        <p:sp>
          <p:nvSpPr>
            <p:cNvPr id="98408" name="TextBox 95"/>
            <p:cNvSpPr txBox="1"/>
            <p:nvPr/>
          </p:nvSpPr>
          <p:spPr>
            <a:xfrm>
              <a:off x="7652826" y="357187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409" name="组合 30"/>
          <p:cNvGrpSpPr/>
          <p:nvPr/>
        </p:nvGrpSpPr>
        <p:grpSpPr>
          <a:xfrm>
            <a:off x="5008563" y="2730500"/>
            <a:ext cx="1360487" cy="889000"/>
            <a:chOff x="5009620" y="2468240"/>
            <a:chExt cx="1359571" cy="889322"/>
          </a:xfrm>
        </p:grpSpPr>
        <p:sp>
          <p:nvSpPr>
            <p:cNvPr id="70" name="椭圆 69"/>
            <p:cNvSpPr/>
            <p:nvPr/>
          </p:nvSpPr>
          <p:spPr>
            <a:xfrm>
              <a:off x="5009620" y="2889080"/>
              <a:ext cx="575874" cy="468482"/>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3,4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71" name="直接连接符 70"/>
            <p:cNvCxnSpPr>
              <a:stCxn id="61" idx="4"/>
              <a:endCxn id="70" idx="7"/>
            </p:cNvCxnSpPr>
            <p:nvPr/>
          </p:nvCxnSpPr>
          <p:spPr>
            <a:xfrm rot="5400000">
              <a:off x="5690738" y="2278914"/>
              <a:ext cx="489127" cy="867777"/>
            </a:xfrm>
            <a:prstGeom prst="line">
              <a:avLst/>
            </a:prstGeom>
            <a:ln w="12700"/>
          </p:spPr>
          <p:style>
            <a:lnRef idx="2">
              <a:schemeClr val="dk1"/>
            </a:lnRef>
            <a:fillRef idx="0">
              <a:schemeClr val="dk1"/>
            </a:fillRef>
            <a:effectRef idx="1">
              <a:schemeClr val="dk1"/>
            </a:effectRef>
            <a:fontRef idx="minor">
              <a:schemeClr val="tx1"/>
            </a:fontRef>
          </p:style>
        </p:cxnSp>
        <p:sp>
          <p:nvSpPr>
            <p:cNvPr id="98412" name="TextBox 96"/>
            <p:cNvSpPr txBox="1"/>
            <p:nvPr/>
          </p:nvSpPr>
          <p:spPr>
            <a:xfrm>
              <a:off x="5790942" y="250030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413" name="组合 31"/>
          <p:cNvGrpSpPr/>
          <p:nvPr/>
        </p:nvGrpSpPr>
        <p:grpSpPr>
          <a:xfrm>
            <a:off x="6369050" y="2730500"/>
            <a:ext cx="1214438" cy="889000"/>
            <a:chOff x="6369190" y="2468239"/>
            <a:chExt cx="1214644" cy="889323"/>
          </a:xfrm>
        </p:grpSpPr>
        <p:sp>
          <p:nvSpPr>
            <p:cNvPr id="67" name="椭圆 66"/>
            <p:cNvSpPr/>
            <p:nvPr/>
          </p:nvSpPr>
          <p:spPr>
            <a:xfrm>
              <a:off x="7007473" y="2889080"/>
              <a:ext cx="576361" cy="468482"/>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68" name="直接连接符 67"/>
            <p:cNvCxnSpPr>
              <a:stCxn id="61" idx="4"/>
              <a:endCxn id="67" idx="1"/>
            </p:cNvCxnSpPr>
            <p:nvPr/>
          </p:nvCxnSpPr>
          <p:spPr>
            <a:xfrm rot="16200000" flipH="1">
              <a:off x="6485844" y="2351585"/>
              <a:ext cx="489128" cy="722436"/>
            </a:xfrm>
            <a:prstGeom prst="line">
              <a:avLst/>
            </a:prstGeom>
            <a:ln w="12700"/>
          </p:spPr>
          <p:style>
            <a:lnRef idx="2">
              <a:schemeClr val="dk1"/>
            </a:lnRef>
            <a:fillRef idx="0">
              <a:schemeClr val="dk1"/>
            </a:fillRef>
            <a:effectRef idx="1">
              <a:schemeClr val="dk1"/>
            </a:effectRef>
            <a:fontRef idx="minor">
              <a:schemeClr val="tx1"/>
            </a:fontRef>
          </p:style>
        </p:cxnSp>
        <p:sp>
          <p:nvSpPr>
            <p:cNvPr id="98416" name="TextBox 97"/>
            <p:cNvSpPr txBox="1"/>
            <p:nvPr/>
          </p:nvSpPr>
          <p:spPr>
            <a:xfrm>
              <a:off x="6795570" y="250030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sp>
        <p:nvSpPr>
          <p:cNvPr id="33" name="椭圆 32"/>
          <p:cNvSpPr/>
          <p:nvPr/>
        </p:nvSpPr>
        <p:spPr>
          <a:xfrm>
            <a:off x="3924300" y="762000"/>
            <a:ext cx="576263" cy="468313"/>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grpSp>
        <p:nvGrpSpPr>
          <p:cNvPr id="98418" name="组合 33"/>
          <p:cNvGrpSpPr/>
          <p:nvPr/>
        </p:nvGrpSpPr>
        <p:grpSpPr>
          <a:xfrm>
            <a:off x="1928813" y="1230313"/>
            <a:ext cx="2282825" cy="1500187"/>
            <a:chOff x="1928794" y="968042"/>
            <a:chExt cx="2283769" cy="1500198"/>
          </a:xfrm>
        </p:grpSpPr>
        <p:sp>
          <p:nvSpPr>
            <p:cNvPr id="64" name="椭圆 63"/>
            <p:cNvSpPr/>
            <p:nvPr/>
          </p:nvSpPr>
          <p:spPr>
            <a:xfrm>
              <a:off x="1928794" y="1999925"/>
              <a:ext cx="576500" cy="46831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65" name="直接连接符 64"/>
            <p:cNvCxnSpPr>
              <a:stCxn id="33" idx="4"/>
              <a:endCxn id="64" idx="7"/>
            </p:cNvCxnSpPr>
            <p:nvPr/>
          </p:nvCxnSpPr>
          <p:spPr>
            <a:xfrm rot="5400000">
              <a:off x="2766770" y="622394"/>
              <a:ext cx="1100145" cy="1791440"/>
            </a:xfrm>
            <a:prstGeom prst="line">
              <a:avLst/>
            </a:prstGeom>
            <a:ln w="12700"/>
          </p:spPr>
          <p:style>
            <a:lnRef idx="2">
              <a:schemeClr val="dk1"/>
            </a:lnRef>
            <a:fillRef idx="0">
              <a:schemeClr val="dk1"/>
            </a:fillRef>
            <a:effectRef idx="1">
              <a:schemeClr val="dk1"/>
            </a:effectRef>
            <a:fontRef idx="minor">
              <a:schemeClr val="tx1"/>
            </a:fontRef>
          </p:style>
        </p:cxnSp>
        <p:sp>
          <p:nvSpPr>
            <p:cNvPr id="98421" name="TextBox 105"/>
            <p:cNvSpPr txBox="1"/>
            <p:nvPr/>
          </p:nvSpPr>
          <p:spPr>
            <a:xfrm>
              <a:off x="2924430" y="142873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grpSp>
      <p:grpSp>
        <p:nvGrpSpPr>
          <p:cNvPr id="98422" name="组合 34"/>
          <p:cNvGrpSpPr/>
          <p:nvPr/>
        </p:nvGrpSpPr>
        <p:grpSpPr>
          <a:xfrm>
            <a:off x="4211638" y="1230313"/>
            <a:ext cx="2444750" cy="1500187"/>
            <a:chOff x="4212562" y="968041"/>
            <a:chExt cx="2444628" cy="1500199"/>
          </a:xfrm>
        </p:grpSpPr>
        <p:sp>
          <p:nvSpPr>
            <p:cNvPr id="61" name="椭圆 60"/>
            <p:cNvSpPr/>
            <p:nvPr/>
          </p:nvSpPr>
          <p:spPr>
            <a:xfrm>
              <a:off x="6080956" y="1999924"/>
              <a:ext cx="576234" cy="468316"/>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62" name="直接连接符 61"/>
            <p:cNvCxnSpPr>
              <a:stCxn id="33" idx="4"/>
              <a:endCxn id="61" idx="1"/>
            </p:cNvCxnSpPr>
            <p:nvPr/>
          </p:nvCxnSpPr>
          <p:spPr>
            <a:xfrm rot="16200000" flipH="1">
              <a:off x="4638753" y="541850"/>
              <a:ext cx="1100146" cy="1952528"/>
            </a:xfrm>
            <a:prstGeom prst="line">
              <a:avLst/>
            </a:prstGeom>
            <a:ln w="19050"/>
          </p:spPr>
          <p:style>
            <a:lnRef idx="2">
              <a:schemeClr val="dk1"/>
            </a:lnRef>
            <a:fillRef idx="0">
              <a:schemeClr val="dk1"/>
            </a:fillRef>
            <a:effectRef idx="1">
              <a:schemeClr val="dk1"/>
            </a:effectRef>
            <a:fontRef idx="minor">
              <a:schemeClr val="tx1"/>
            </a:fontRef>
          </p:style>
        </p:cxnSp>
        <p:sp>
          <p:nvSpPr>
            <p:cNvPr id="98425" name="TextBox 106"/>
            <p:cNvSpPr txBox="1"/>
            <p:nvPr/>
          </p:nvSpPr>
          <p:spPr>
            <a:xfrm>
              <a:off x="5572132" y="1428736"/>
              <a:ext cx="142876" cy="214314"/>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grpSp>
        <p:nvGrpSpPr>
          <p:cNvPr id="98426" name="组合 35"/>
          <p:cNvGrpSpPr/>
          <p:nvPr/>
        </p:nvGrpSpPr>
        <p:grpSpPr>
          <a:xfrm>
            <a:off x="6048375" y="1474788"/>
            <a:ext cx="3024188" cy="3787775"/>
            <a:chOff x="6048888" y="1212163"/>
            <a:chExt cx="3024460" cy="3788473"/>
          </a:xfrm>
        </p:grpSpPr>
        <p:sp>
          <p:nvSpPr>
            <p:cNvPr id="53" name="TextBox 104"/>
            <p:cNvSpPr txBox="1"/>
            <p:nvPr/>
          </p:nvSpPr>
          <p:spPr>
            <a:xfrm>
              <a:off x="8287464" y="1212163"/>
              <a:ext cx="785884" cy="430291"/>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x1</a:t>
              </a:r>
              <a:r>
                <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：选或不选物品</a:t>
              </a:r>
              <a:r>
                <a:rPr kumimoji="0" lang="en-US" altLang="zh-CN"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1</a:t>
              </a:r>
              <a:endPar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
          <p:nvSpPr>
            <p:cNvPr id="54" name="TextBox 110"/>
            <p:cNvSpPr txBox="1"/>
            <p:nvPr/>
          </p:nvSpPr>
          <p:spPr>
            <a:xfrm>
              <a:off x="8287464" y="2404595"/>
              <a:ext cx="785884" cy="430292"/>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x2</a:t>
              </a:r>
              <a:r>
                <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：选或不选物品</a:t>
              </a:r>
              <a:r>
                <a:rPr kumimoji="0" lang="en-US" altLang="zh-CN"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2</a:t>
              </a:r>
              <a:endPar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
          <p:nvSpPr>
            <p:cNvPr id="55" name="TextBox 111"/>
            <p:cNvSpPr txBox="1"/>
            <p:nvPr/>
          </p:nvSpPr>
          <p:spPr>
            <a:xfrm>
              <a:off x="8287464" y="3427133"/>
              <a:ext cx="785884" cy="430292"/>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x3</a:t>
              </a:r>
              <a:r>
                <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：选或不选物品</a:t>
              </a:r>
              <a:r>
                <a:rPr kumimoji="0" lang="en-US" altLang="zh-CN"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3</a:t>
              </a:r>
              <a:endPar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
          <p:nvSpPr>
            <p:cNvPr id="56" name="TextBox 112"/>
            <p:cNvSpPr txBox="1"/>
            <p:nvPr/>
          </p:nvSpPr>
          <p:spPr>
            <a:xfrm>
              <a:off x="8358909" y="4570344"/>
              <a:ext cx="714439" cy="430292"/>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x4</a:t>
              </a:r>
              <a:r>
                <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：选或不选物品</a:t>
              </a:r>
              <a:r>
                <a:rPr kumimoji="0" lang="en-US" altLang="zh-CN"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4</a:t>
              </a:r>
              <a:endPar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cxnSp>
          <p:nvCxnSpPr>
            <p:cNvPr id="57" name="直接连接符 56"/>
            <p:cNvCxnSpPr/>
            <p:nvPr/>
          </p:nvCxnSpPr>
          <p:spPr>
            <a:xfrm>
              <a:off x="6048888" y="1499553"/>
              <a:ext cx="2286206"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58" name="直接连接符 57"/>
            <p:cNvCxnSpPr/>
            <p:nvPr/>
          </p:nvCxnSpPr>
          <p:spPr>
            <a:xfrm>
              <a:off x="7204692" y="2620534"/>
              <a:ext cx="1141516"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59" name="直接连接符 58"/>
            <p:cNvCxnSpPr/>
            <p:nvPr/>
          </p:nvCxnSpPr>
          <p:spPr>
            <a:xfrm>
              <a:off x="7930245" y="3643073"/>
              <a:ext cx="500107"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60" name="直接连接符 59"/>
            <p:cNvCxnSpPr/>
            <p:nvPr/>
          </p:nvCxnSpPr>
          <p:spPr>
            <a:xfrm>
              <a:off x="8144576" y="4786284"/>
              <a:ext cx="358807"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grpSp>
      <p:grpSp>
        <p:nvGrpSpPr>
          <p:cNvPr id="98435" name="组合 36"/>
          <p:cNvGrpSpPr/>
          <p:nvPr/>
        </p:nvGrpSpPr>
        <p:grpSpPr>
          <a:xfrm>
            <a:off x="4572000" y="833438"/>
            <a:ext cx="4440238" cy="4738687"/>
            <a:chOff x="4572000" y="571480"/>
            <a:chExt cx="4441188" cy="4738218"/>
          </a:xfrm>
        </p:grpSpPr>
        <p:sp>
          <p:nvSpPr>
            <p:cNvPr id="44" name="TextBox 120"/>
            <p:cNvSpPr txBox="1"/>
            <p:nvPr/>
          </p:nvSpPr>
          <p:spPr>
            <a:xfrm>
              <a:off x="4572000" y="571480"/>
              <a:ext cx="1214698" cy="285722"/>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根结点：</a:t>
              </a:r>
              <a:r>
                <a:rPr kumimoji="0" lang="en-US" altLang="zh-CN" sz="1800" b="1" i="1"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1</a:t>
              </a:r>
              <a:endParaRPr kumimoji="0" lang="zh-CN" altLang="en-US" sz="18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endParaRPr>
            </a:p>
          </p:txBody>
        </p:sp>
        <p:sp>
          <p:nvSpPr>
            <p:cNvPr id="45" name="TextBox 121"/>
            <p:cNvSpPr txBox="1"/>
            <p:nvPr/>
          </p:nvSpPr>
          <p:spPr>
            <a:xfrm>
              <a:off x="8655924" y="2035010"/>
              <a:ext cx="357264" cy="214291"/>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en-US" altLang="zh-CN"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2</a:t>
              </a:r>
              <a:endParaRPr kumimoji="0" lang="zh-CN" altLang="en-US"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endParaRPr>
            </a:p>
          </p:txBody>
        </p:sp>
        <p:sp>
          <p:nvSpPr>
            <p:cNvPr id="46" name="TextBox 122"/>
            <p:cNvSpPr txBox="1"/>
            <p:nvPr/>
          </p:nvSpPr>
          <p:spPr>
            <a:xfrm>
              <a:off x="8655924" y="2987416"/>
              <a:ext cx="357264" cy="215879"/>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en-US" altLang="zh-CN"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3</a:t>
              </a:r>
              <a:endParaRPr kumimoji="0" lang="zh-CN" altLang="en-US"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endParaRPr>
            </a:p>
          </p:txBody>
        </p:sp>
        <p:sp>
          <p:nvSpPr>
            <p:cNvPr id="47" name="TextBox 123"/>
            <p:cNvSpPr txBox="1"/>
            <p:nvPr/>
          </p:nvSpPr>
          <p:spPr>
            <a:xfrm>
              <a:off x="8655924" y="4166811"/>
              <a:ext cx="357264" cy="214292"/>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en-US" altLang="zh-CN"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4</a:t>
              </a:r>
              <a:endParaRPr kumimoji="0" lang="zh-CN" altLang="en-US"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endParaRPr>
            </a:p>
          </p:txBody>
        </p:sp>
        <p:sp>
          <p:nvSpPr>
            <p:cNvPr id="48" name="TextBox 124"/>
            <p:cNvSpPr txBox="1"/>
            <p:nvPr/>
          </p:nvSpPr>
          <p:spPr>
            <a:xfrm>
              <a:off x="8655924" y="5093819"/>
              <a:ext cx="357264" cy="215879"/>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en-US" altLang="zh-CN"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5</a:t>
              </a:r>
              <a:endParaRPr kumimoji="0" lang="zh-CN" altLang="en-US"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endParaRPr>
            </a:p>
          </p:txBody>
        </p:sp>
        <p:cxnSp>
          <p:nvCxnSpPr>
            <p:cNvPr id="49" name="直接连接符 48"/>
            <p:cNvCxnSpPr/>
            <p:nvPr/>
          </p:nvCxnSpPr>
          <p:spPr>
            <a:xfrm>
              <a:off x="6715584" y="2177871"/>
              <a:ext cx="1906996"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50" name="直接连接符 49"/>
            <p:cNvCxnSpPr/>
            <p:nvPr/>
          </p:nvCxnSpPr>
          <p:spPr>
            <a:xfrm>
              <a:off x="7563490" y="3095355"/>
              <a:ext cx="1079731"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51" name="直接连接符 50"/>
            <p:cNvCxnSpPr/>
            <p:nvPr/>
          </p:nvCxnSpPr>
          <p:spPr>
            <a:xfrm>
              <a:off x="8176396" y="4285862"/>
              <a:ext cx="503346"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52" name="直接连接符 51"/>
            <p:cNvCxnSpPr/>
            <p:nvPr/>
          </p:nvCxnSpPr>
          <p:spPr>
            <a:xfrm>
              <a:off x="8355822" y="5214457"/>
              <a:ext cx="358852"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grpSp>
      <p:grpSp>
        <p:nvGrpSpPr>
          <p:cNvPr id="98445" name="组合 37"/>
          <p:cNvGrpSpPr/>
          <p:nvPr/>
        </p:nvGrpSpPr>
        <p:grpSpPr>
          <a:xfrm>
            <a:off x="3987800" y="5659438"/>
            <a:ext cx="1071563" cy="830262"/>
            <a:chOff x="3988464" y="5396636"/>
            <a:chExt cx="1071570" cy="830588"/>
          </a:xfrm>
        </p:grpSpPr>
        <p:sp>
          <p:nvSpPr>
            <p:cNvPr id="98446" name="TextBox 129"/>
            <p:cNvSpPr txBox="1"/>
            <p:nvPr/>
          </p:nvSpPr>
          <p:spPr>
            <a:xfrm>
              <a:off x="3988464" y="5857892"/>
              <a:ext cx="1071570" cy="369332"/>
            </a:xfrm>
            <a:prstGeom prst="rect">
              <a:avLst/>
            </a:prstGeom>
            <a:noFill/>
            <a:ln w="9525">
              <a:noFill/>
            </a:ln>
          </p:spPr>
          <p:txBody>
            <a:bodyPr anchor="t" anchorCtr="0">
              <a:spAutoFit/>
            </a:bodyPr>
            <a:lstStyle/>
            <a:p>
              <a:pPr algn="ctr"/>
              <a:r>
                <a:rPr lang="zh-CN" altLang="en-US" sz="1800" b="1" dirty="0">
                  <a:solidFill>
                    <a:srgbClr val="0000FF"/>
                  </a:solidFill>
                  <a:latin typeface="Consolas" pitchFamily="49" charset="0"/>
                  <a:ea typeface="微软雅黑" charset="-122"/>
                </a:rPr>
                <a:t>最优解</a:t>
              </a:r>
            </a:p>
          </p:txBody>
        </p:sp>
        <p:cxnSp>
          <p:nvCxnSpPr>
            <p:cNvPr id="43" name="直接箭头连接符 42"/>
            <p:cNvCxnSpPr>
              <a:stCxn id="98446" idx="0"/>
              <a:endCxn id="106" idx="4"/>
            </p:cNvCxnSpPr>
            <p:nvPr/>
          </p:nvCxnSpPr>
          <p:spPr>
            <a:xfrm rot="16200000" flipV="1">
              <a:off x="4292383" y="5624533"/>
              <a:ext cx="460556" cy="4762"/>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grpSp>
      <p:sp>
        <p:nvSpPr>
          <p:cNvPr id="39" name="TextBox 135"/>
          <p:cNvSpPr txBox="1"/>
          <p:nvPr/>
        </p:nvSpPr>
        <p:spPr>
          <a:xfrm>
            <a:off x="500063" y="534988"/>
            <a:ext cx="2571750" cy="369888"/>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a:t>
            </a:r>
            <a:r>
              <a:rPr kumimoji="0" lang="zh-CN" altLang="en-US"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总重量</a:t>
            </a:r>
            <a:r>
              <a:rPr kumimoji="0" lang="en-US" altLang="zh-CN"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tw,</a:t>
            </a:r>
            <a:r>
              <a:rPr kumimoji="0" lang="zh-CN" altLang="en-US"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总价值</a:t>
            </a:r>
            <a:r>
              <a:rPr kumimoji="0" lang="en-US" altLang="zh-CN"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tv)</a:t>
            </a:r>
            <a:endParaRPr kumimoji="0" lang="zh-CN" altLang="en-US"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endParaRPr>
          </a:p>
        </p:txBody>
      </p:sp>
      <p:sp>
        <p:nvSpPr>
          <p:cNvPr id="40" name="任意多边形 118"/>
          <p:cNvSpPr/>
          <p:nvPr/>
        </p:nvSpPr>
        <p:spPr>
          <a:xfrm>
            <a:off x="1679575" y="368300"/>
            <a:ext cx="2435225" cy="415925"/>
          </a:xfrm>
          <a:custGeom>
            <a:avLst/>
            <a:gdLst>
              <a:gd name="connsiteX0" fmla="*/ 67491 w 2366554"/>
              <a:gd name="connsiteY0" fmla="*/ 315686 h 420189"/>
              <a:gd name="connsiteX1" fmla="*/ 263434 w 2366554"/>
              <a:gd name="connsiteY1" fmla="*/ 41366 h 420189"/>
              <a:gd name="connsiteX2" fmla="*/ 1648097 w 2366554"/>
              <a:gd name="connsiteY2" fmla="*/ 67491 h 420189"/>
              <a:gd name="connsiteX3" fmla="*/ 2366554 w 2366554"/>
              <a:gd name="connsiteY3" fmla="*/ 420189 h 420189"/>
              <a:gd name="connsiteX0-1" fmla="*/ 33746 w 2434066"/>
              <a:gd name="connsiteY0-2" fmla="*/ 179048 h 415835"/>
              <a:gd name="connsiteX1-3" fmla="*/ 330946 w 2434066"/>
              <a:gd name="connsiteY1-4" fmla="*/ 37012 h 415835"/>
              <a:gd name="connsiteX2-5" fmla="*/ 1715609 w 2434066"/>
              <a:gd name="connsiteY2-6" fmla="*/ 63137 h 415835"/>
              <a:gd name="connsiteX3-7" fmla="*/ 2434066 w 2434066"/>
              <a:gd name="connsiteY3-8" fmla="*/ 415835 h 415835"/>
            </a:gdLst>
            <a:ahLst/>
            <a:cxnLst>
              <a:cxn ang="0">
                <a:pos x="connsiteX0-1" y="connsiteY0-2"/>
              </a:cxn>
              <a:cxn ang="0">
                <a:pos x="connsiteX1-3" y="connsiteY1-4"/>
              </a:cxn>
              <a:cxn ang="0">
                <a:pos x="connsiteX2-5" y="connsiteY2-6"/>
              </a:cxn>
              <a:cxn ang="0">
                <a:pos x="connsiteX3-7" y="connsiteY3-8"/>
              </a:cxn>
            </a:cxnLst>
            <a:rect l="l" t="t" r="r" b="b"/>
            <a:pathLst>
              <a:path w="2434066" h="415835">
                <a:moveTo>
                  <a:pt x="33746" y="179048"/>
                </a:moveTo>
                <a:cubicBezTo>
                  <a:pt x="0" y="62571"/>
                  <a:pt x="50636" y="56330"/>
                  <a:pt x="330946" y="37012"/>
                </a:cubicBezTo>
                <a:cubicBezTo>
                  <a:pt x="611256" y="17694"/>
                  <a:pt x="1365089" y="0"/>
                  <a:pt x="1715609" y="63137"/>
                </a:cubicBezTo>
                <a:cubicBezTo>
                  <a:pt x="2066129" y="126274"/>
                  <a:pt x="2250097" y="271054"/>
                  <a:pt x="2434066" y="415835"/>
                </a:cubicBezTo>
              </a:path>
            </a:pathLst>
          </a:custGeom>
          <a:ln>
            <a:tailEnd type="arrow"/>
          </a:ln>
        </p:spPr>
        <p:style>
          <a:lnRef idx="2">
            <a:schemeClr val="accent2"/>
          </a:lnRef>
          <a:fillRef idx="0">
            <a:schemeClr val="accent2"/>
          </a:fillRef>
          <a:effectRef idx="1">
            <a:schemeClr val="accent2"/>
          </a:effectRef>
          <a:fontRef idx="minor">
            <a:schemeClr val="tx1"/>
          </a:fontRef>
        </p:style>
        <p:txBody>
          <a:bodyPr anchor="ctr"/>
          <a:lstStyle>
            <a:defPPr>
              <a:defRPr lang="zh-CN">
                <a:solidFill>
                  <a:schemeClr val="tx1"/>
                </a:solidFill>
              </a:defRPr>
            </a:defPPr>
            <a:lvl1pPr algn="l" rtl="0" fontAlgn="base">
              <a:spcBef>
                <a:spcPct val="0"/>
              </a:spcBef>
              <a:spcAft>
                <a:spcPct val="0"/>
              </a:spcAft>
              <a:defRPr sz="2400" b="1" kern="1200">
                <a:solidFill>
                  <a:schemeClr val="tx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tx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tx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tx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tx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tx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tx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tx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tx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楷体_GB2312" pitchFamily="49" charset="-122"/>
              <a:cs typeface="+mn-cs"/>
            </a:endParaRPr>
          </a:p>
        </p:txBody>
      </p:sp>
      <p:pic>
        <p:nvPicPr>
          <p:cNvPr id="98450" name="table"/>
          <p:cNvPicPr>
            <a:picLocks noGrp="1"/>
          </p:cNvPicPr>
          <p:nvPr/>
        </p:nvPicPr>
        <p:blipFill>
          <a:blip r:embed="rId2"/>
          <a:stretch>
            <a:fillRect/>
          </a:stretch>
        </p:blipFill>
        <p:spPr>
          <a:xfrm>
            <a:off x="71438" y="895350"/>
            <a:ext cx="1785937" cy="1866900"/>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535753" y="1609550"/>
            <a:ext cx="8072494" cy="3638899"/>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180000" tIns="180000" bIns="180000">
            <a:spAutoFit/>
          </a:bodyP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问题表示</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n=4;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//4</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种物品</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W=6;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限制重量</a:t>
            </a:r>
            <a:r>
              <a:rPr kumimoji="0" lang="zh-CN" altLang="en-US"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为</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6</a:t>
            </a:r>
            <a:endPar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w[]={0,5,3,2,1};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存放</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4</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个物品重量</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不用下标</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0</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元素</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v[]={0,4,4,3,1};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存放</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4</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个物品价值</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不用下标</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0</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元素</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求解结果表示</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x[MAXN];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存放最终解</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maxv;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存放最优解的总价值</a:t>
            </a:r>
          </a:p>
        </p:txBody>
      </p:sp>
      <p:sp>
        <p:nvSpPr>
          <p:cNvPr id="99330" name="标题 1"/>
          <p:cNvSpPr>
            <a:spLocks noGrp="1"/>
          </p:cNvSpPr>
          <p:nvPr>
            <p:ph type="title"/>
          </p:nvPr>
        </p:nvSpPr>
        <p:spPr/>
        <p:txBody>
          <a:bodyPr vert="horz" wrap="square" lIns="91440" tIns="45720" rIns="91440" bIns="45720" anchor="ctr" anchorCtr="0"/>
          <a:lstStyle/>
          <a:p>
            <a:r>
              <a:rPr lang="en-US" altLang="zh-CN" dirty="0">
                <a:sym typeface="+mn-ea"/>
              </a:rPr>
              <a:t>8.3.3</a:t>
            </a:r>
            <a:r>
              <a:rPr lang="en-US" altLang="zh-CN" dirty="0"/>
              <a:t>  0/1</a:t>
            </a:r>
            <a:r>
              <a:rPr lang="zh-CN" altLang="en-US" dirty="0"/>
              <a:t>背包问题</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p:cNvSpPr>
          <p:nvPr>
            <p:ph type="title"/>
          </p:nvPr>
        </p:nvSpPr>
        <p:spPr>
          <a:xfrm>
            <a:off x="879475" y="212725"/>
            <a:ext cx="7869238" cy="927100"/>
          </a:xfrm>
        </p:spPr>
        <p:txBody>
          <a:bodyPr vert="horz" wrap="square" lIns="91440" tIns="45720" rIns="91440" bIns="45720" anchor="ctr" anchorCtr="0"/>
          <a:lstStyle/>
          <a:p>
            <a:r>
              <a:rPr lang="en-US" altLang="zh-CN" dirty="0">
                <a:sym typeface="+mn-ea"/>
              </a:rPr>
              <a:t>8.3.3</a:t>
            </a:r>
            <a:r>
              <a:rPr lang="en-US" altLang="zh-CN" dirty="0"/>
              <a:t>  0/1</a:t>
            </a:r>
            <a:r>
              <a:rPr lang="zh-CN" altLang="en-US" dirty="0"/>
              <a:t>背包问题</a:t>
            </a:r>
          </a:p>
        </p:txBody>
      </p:sp>
      <p:sp>
        <p:nvSpPr>
          <p:cNvPr id="7" name="Text Box 2"/>
          <p:cNvSpPr txBox="1">
            <a:spLocks noChangeArrowheads="1"/>
          </p:cNvSpPr>
          <p:nvPr/>
        </p:nvSpPr>
        <p:spPr bwMode="auto">
          <a:xfrm>
            <a:off x="161115" y="1381641"/>
            <a:ext cx="8821769" cy="5072497"/>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180000" tIns="180000" bIns="180000">
            <a:spAutoFit/>
          </a:bodyP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void</a:t>
            </a:r>
            <a:r>
              <a:rPr kumimoji="0" lang="en-US" altLang="zh-CN" sz="1800" b="1" i="0" u="none" strike="noStrike" kern="1200" cap="none" spc="0" normalizeH="0" baseline="0" noProof="0" dirty="0">
                <a:ln>
                  <a:noFill/>
                </a:ln>
                <a:solidFill>
                  <a:srgbClr val="FF0000"/>
                </a:solidFill>
                <a:effectLst/>
                <a:uLnTx/>
                <a:uFillTx/>
                <a:latin typeface="Consolas" pitchFamily="49" charset="0"/>
                <a:ea typeface="仿宋" pitchFamily="49" charset="-122"/>
                <a:cs typeface="Consolas" pitchFamily="49" charset="0"/>
              </a:rPr>
              <a:t> </a:t>
            </a:r>
            <a:r>
              <a:rPr kumimoji="0" lang="en-US" altLang="zh-CN" sz="1800" b="1" i="0" u="none" strike="noStrike" kern="1200" cap="none" spc="0" normalizeH="0" baseline="0" noProof="0" dirty="0" err="1">
                <a:ln>
                  <a:noFill/>
                </a:ln>
                <a:solidFill>
                  <a:srgbClr val="FF0000"/>
                </a:solidFill>
                <a:effectLst/>
                <a:uLnTx/>
                <a:uFillTx/>
                <a:latin typeface="Consolas" pitchFamily="49" charset="0"/>
                <a:ea typeface="仿宋" pitchFamily="49" charset="-122"/>
                <a:cs typeface="Consolas" pitchFamily="49" charset="0"/>
              </a:rPr>
              <a:t>dfs</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(int </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i,int</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tw,int</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tv,int</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op[])</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if (</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&gt;n)				</a:t>
            </a:r>
            <a:r>
              <a:rPr kumimoji="0" lang="en-US"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找到一个叶子结点</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  if (</a:t>
            </a:r>
            <a:r>
              <a:rPr kumimoji="0" lang="en-US" altLang="zh-CN" sz="1800" b="1" i="0" u="none" strike="noStrike" kern="1200" cap="none" spc="0" normalizeH="0" baseline="0" noProof="0" dirty="0" err="1">
                <a:ln>
                  <a:noFill/>
                </a:ln>
                <a:solidFill>
                  <a:srgbClr val="006600"/>
                </a:solidFill>
                <a:effectLst/>
                <a:uLnTx/>
                <a:uFillTx/>
                <a:latin typeface="Consolas" pitchFamily="49" charset="0"/>
                <a:ea typeface="仿宋" pitchFamily="49" charset="-122"/>
                <a:cs typeface="Consolas" pitchFamily="49" charset="0"/>
              </a:rPr>
              <a:t>tw</a:t>
            </a:r>
            <a:r>
              <a:rPr kumimoji="0" lang="en-US" altLang="zh-CN" sz="1800" b="1" i="0" u="none" strike="noStrike" kern="1200" cap="none" spc="0" normalizeH="0" baseline="0" noProof="0" dirty="0">
                <a:ln>
                  <a:noFill/>
                </a:ln>
                <a:solidFill>
                  <a:srgbClr val="006600"/>
                </a:solidFill>
                <a:effectLst/>
                <a:uLnTx/>
                <a:uFillTx/>
                <a:latin typeface="Consolas" pitchFamily="49" charset="0"/>
                <a:ea typeface="仿宋" pitchFamily="49" charset="-122"/>
                <a:cs typeface="Consolas" pitchFamily="49" charset="0"/>
              </a:rPr>
              <a:t>==W &amp;&amp; tv&gt;</a:t>
            </a:r>
            <a:r>
              <a:rPr kumimoji="0" lang="en-US" altLang="zh-CN" sz="1800" b="1" i="0" u="none" strike="noStrike" kern="1200" cap="none" spc="0" normalizeH="0" baseline="0" noProof="0" dirty="0" err="1">
                <a:ln>
                  <a:noFill/>
                </a:ln>
                <a:solidFill>
                  <a:srgbClr val="006600"/>
                </a:solidFill>
                <a:effectLst/>
                <a:uLnTx/>
                <a:uFillTx/>
                <a:latin typeface="Consolas" pitchFamily="49" charset="0"/>
                <a:ea typeface="仿宋" pitchFamily="49" charset="-122"/>
                <a:cs typeface="Consolas" pitchFamily="49" charset="0"/>
              </a:rPr>
              <a:t>maxv</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找到一个满足条件的更优解</a:t>
            </a:r>
            <a:r>
              <a:rPr kumimoji="0" lang="en-US"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保存</a:t>
            </a:r>
            <a:r>
              <a:rPr kumimoji="0" lang="en-US"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  </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maxv</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=tv;</a:t>
            </a:r>
            <a:endParaRPr kumimoji="0" lang="zh-CN"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for (int j=</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1;j</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&lt;=</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n;j</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x[j]=op[j];</a:t>
            </a:r>
            <a:endParaRPr kumimoji="0" lang="zh-CN"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2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else					</a:t>
            </a:r>
            <a:r>
              <a:rPr kumimoji="0" lang="en-US"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尚未找完所有物品</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  op[</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]=1;				</a:t>
            </a:r>
            <a:r>
              <a:rPr kumimoji="0" lang="en-US"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选取第</a:t>
            </a:r>
            <a:r>
              <a:rPr kumimoji="0" lang="en-US" altLang="zh-CN" sz="1800" b="1" i="0" u="none" strike="noStrike" kern="1200" cap="none" spc="0" normalizeH="0" baseline="0" noProof="0" dirty="0" err="1">
                <a:ln>
                  <a:noFill/>
                </a:ln>
                <a:solidFill>
                  <a:srgbClr val="00B0F0"/>
                </a:solidFill>
                <a:effectLst/>
                <a:uLnTx/>
                <a:uFillTx/>
                <a:latin typeface="Consolas" pitchFamily="49" charset="0"/>
                <a:ea typeface="仿宋" pitchFamily="49" charset="-122"/>
                <a:cs typeface="Consolas" pitchFamily="49" charset="0"/>
              </a:rPr>
              <a:t>i</a:t>
            </a:r>
            <a:r>
              <a:rPr kumimoji="0" lang="zh-CN"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个物品</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1" i="0" u="none" strike="noStrike" kern="1200" cap="none" spc="0" normalizeH="0" baseline="0" noProof="0" dirty="0" err="1">
                <a:ln>
                  <a:noFill/>
                </a:ln>
                <a:solidFill>
                  <a:srgbClr val="FF0000"/>
                </a:solidFill>
                <a:effectLst/>
                <a:uLnTx/>
                <a:uFillTx/>
                <a:latin typeface="Consolas" pitchFamily="49" charset="0"/>
                <a:ea typeface="仿宋" pitchFamily="49" charset="-122"/>
                <a:cs typeface="Consolas" pitchFamily="49" charset="0"/>
              </a:rPr>
              <a:t>dfs</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i+1,tw+w</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tv+v</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],op);</a:t>
            </a:r>
            <a:endParaRPr kumimoji="0" lang="zh-CN"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2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op[</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]=0;				</a:t>
            </a:r>
            <a:r>
              <a:rPr kumimoji="0" lang="en-US"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不选取第</a:t>
            </a:r>
            <a:r>
              <a:rPr kumimoji="0" lang="en-US" altLang="zh-CN" sz="1800" b="1" i="0" u="none" strike="noStrike" kern="1200" cap="none" spc="0" normalizeH="0" baseline="0" noProof="0" dirty="0" err="1">
                <a:ln>
                  <a:noFill/>
                </a:ln>
                <a:solidFill>
                  <a:srgbClr val="00B0F0"/>
                </a:solidFill>
                <a:effectLst/>
                <a:uLnTx/>
                <a:uFillTx/>
                <a:latin typeface="Consolas" pitchFamily="49" charset="0"/>
                <a:ea typeface="仿宋" pitchFamily="49" charset="-122"/>
                <a:cs typeface="Consolas" pitchFamily="49" charset="0"/>
              </a:rPr>
              <a:t>i</a:t>
            </a:r>
            <a:r>
              <a:rPr kumimoji="0" lang="zh-CN"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个物品</a:t>
            </a:r>
            <a:r>
              <a:rPr kumimoji="0" lang="en-US"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dirty="0">
                <a:ln>
                  <a:noFill/>
                </a:ln>
                <a:solidFill>
                  <a:srgbClr val="00B0F0"/>
                </a:solidFill>
                <a:effectLst/>
                <a:uLnTx/>
                <a:uFillTx/>
                <a:latin typeface="Consolas" pitchFamily="49" charset="0"/>
                <a:ea typeface="仿宋" pitchFamily="49" charset="-122"/>
                <a:cs typeface="Consolas" pitchFamily="49" charset="0"/>
              </a:rPr>
              <a:t>回溯</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1" i="0" u="none" strike="noStrike" kern="1200" cap="none" spc="0" normalizeH="0" baseline="0" noProof="0" dirty="0" err="1">
                <a:ln>
                  <a:noFill/>
                </a:ln>
                <a:solidFill>
                  <a:srgbClr val="FF0000"/>
                </a:solidFill>
                <a:effectLst/>
                <a:uLnTx/>
                <a:uFillTx/>
                <a:latin typeface="Consolas" pitchFamily="49" charset="0"/>
                <a:ea typeface="仿宋" pitchFamily="49" charset="-122"/>
                <a:cs typeface="Consolas" pitchFamily="49" charset="0"/>
              </a:rPr>
              <a:t>dfs</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a:t>
            </a:r>
            <a:r>
              <a:rPr kumimoji="0" lang="en-US" altLang="zh-CN" sz="1800" b="1" i="0" u="none" strike="noStrike" kern="1200" cap="none" spc="0" normalizeH="0" baseline="0" noProof="0" dirty="0" err="1">
                <a:ln>
                  <a:noFill/>
                </a:ln>
                <a:solidFill>
                  <a:srgbClr val="0000FF"/>
                </a:solidFill>
                <a:effectLst/>
                <a:uLnTx/>
                <a:uFillTx/>
                <a:latin typeface="Consolas" pitchFamily="49" charset="0"/>
                <a:ea typeface="仿宋" pitchFamily="49" charset="-122"/>
                <a:cs typeface="Consolas" pitchFamily="49" charset="0"/>
              </a:rPr>
              <a:t>i+1,tw,tv,op</a:t>
            </a: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itchFamily="49" charset="0"/>
              <a:ea typeface="仿宋" pitchFamily="49" charset="-122"/>
              <a:cs typeface="Consolas" pitchFamily="49" charset="0"/>
            </a:endParaRPr>
          </a:p>
        </p:txBody>
      </p:sp>
      <p:sp>
        <p:nvSpPr>
          <p:cNvPr id="100355" name="TextBox 2"/>
          <p:cNvSpPr txBox="1"/>
          <p:nvPr/>
        </p:nvSpPr>
        <p:spPr>
          <a:xfrm>
            <a:off x="684213" y="1012825"/>
            <a:ext cx="4929187" cy="368300"/>
          </a:xfrm>
          <a:prstGeom prst="rect">
            <a:avLst/>
          </a:prstGeom>
          <a:noFill/>
          <a:ln w="9525">
            <a:noFill/>
          </a:ln>
        </p:spPr>
        <p:txBody>
          <a:bodyPr anchor="t" anchorCtr="0">
            <a:spAutoFit/>
          </a:bodyPr>
          <a:lstStyle/>
          <a:p>
            <a:r>
              <a:rPr lang="zh-CN" altLang="en-US" sz="1800" b="1" dirty="0">
                <a:solidFill>
                  <a:srgbClr val="0000FF"/>
                </a:solidFill>
                <a:latin typeface="Times New Roman" panose="02020503050405090304" pitchFamily="18" charset="0"/>
                <a:ea typeface="楷体" pitchFamily="49" charset="-122"/>
              </a:rPr>
              <a:t>采用</a:t>
            </a:r>
            <a:r>
              <a:rPr lang="zh-CN" altLang="zh-CN" sz="1800" b="1" dirty="0">
                <a:solidFill>
                  <a:srgbClr val="0000FF"/>
                </a:solidFill>
                <a:latin typeface="Times New Roman" panose="02020503050405090304" pitchFamily="18" charset="0"/>
                <a:ea typeface="楷体" pitchFamily="49" charset="-122"/>
              </a:rPr>
              <a:t>解空间为子集树</a:t>
            </a:r>
            <a:r>
              <a:rPr lang="zh-CN" altLang="en-US" sz="1800" b="1" dirty="0">
                <a:solidFill>
                  <a:srgbClr val="0000FF"/>
                </a:solidFill>
                <a:latin typeface="Times New Roman" panose="02020503050405090304" pitchFamily="18" charset="0"/>
                <a:ea typeface="楷体" pitchFamily="49" charset="-122"/>
              </a:rPr>
              <a:t>递归的算法框架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377" name="组合 4"/>
          <p:cNvGrpSpPr/>
          <p:nvPr/>
        </p:nvGrpSpPr>
        <p:grpSpPr>
          <a:xfrm>
            <a:off x="1035050" y="2862263"/>
            <a:ext cx="2635250" cy="3217862"/>
            <a:chOff x="2179529" y="3759895"/>
            <a:chExt cx="2634641" cy="3219189"/>
          </a:xfrm>
        </p:grpSpPr>
        <p:sp>
          <p:nvSpPr>
            <p:cNvPr id="35" name="任意多边形 37"/>
            <p:cNvSpPr/>
            <p:nvPr/>
          </p:nvSpPr>
          <p:spPr>
            <a:xfrm>
              <a:off x="2179529" y="3759895"/>
              <a:ext cx="2634641" cy="3219189"/>
            </a:xfrm>
            <a:custGeom>
              <a:avLst/>
              <a:gdLst>
                <a:gd name="connsiteX0" fmla="*/ 1002082 w 2634641"/>
                <a:gd name="connsiteY0" fmla="*/ 110647 h 3219189"/>
                <a:gd name="connsiteX1" fmla="*/ 839244 w 2634641"/>
                <a:gd name="connsiteY1" fmla="*/ 699371 h 3219189"/>
                <a:gd name="connsiteX2" fmla="*/ 425885 w 2634641"/>
                <a:gd name="connsiteY2" fmla="*/ 1400828 h 3219189"/>
                <a:gd name="connsiteX3" fmla="*/ 62630 w 2634641"/>
                <a:gd name="connsiteY3" fmla="*/ 2315228 h 3219189"/>
                <a:gd name="connsiteX4" fmla="*/ 388307 w 2634641"/>
                <a:gd name="connsiteY4" fmla="*/ 2916478 h 3219189"/>
                <a:gd name="connsiteX5" fmla="*/ 2392471 w 2634641"/>
                <a:gd name="connsiteY5" fmla="*/ 2841321 h 3219189"/>
                <a:gd name="connsiteX6" fmla="*/ 1841326 w 2634641"/>
                <a:gd name="connsiteY6" fmla="*/ 649267 h 3219189"/>
                <a:gd name="connsiteX7" fmla="*/ 1640909 w 2634641"/>
                <a:gd name="connsiteY7" fmla="*/ 235908 h 3219189"/>
                <a:gd name="connsiteX8" fmla="*/ 1265129 w 2634641"/>
                <a:gd name="connsiteY8" fmla="*/ 35491 h 3219189"/>
                <a:gd name="connsiteX9" fmla="*/ 1002082 w 2634641"/>
                <a:gd name="connsiteY9" fmla="*/ 110647 h 32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34641" h="3219189">
                  <a:moveTo>
                    <a:pt x="1002082" y="110647"/>
                  </a:moveTo>
                  <a:cubicBezTo>
                    <a:pt x="931101" y="221294"/>
                    <a:pt x="935277" y="484341"/>
                    <a:pt x="839244" y="699371"/>
                  </a:cubicBezTo>
                  <a:cubicBezTo>
                    <a:pt x="743211" y="914401"/>
                    <a:pt x="555321" y="1131519"/>
                    <a:pt x="425885" y="1400828"/>
                  </a:cubicBezTo>
                  <a:cubicBezTo>
                    <a:pt x="296449" y="1670137"/>
                    <a:pt x="68893" y="2062620"/>
                    <a:pt x="62630" y="2315228"/>
                  </a:cubicBezTo>
                  <a:cubicBezTo>
                    <a:pt x="56367" y="2567836"/>
                    <a:pt x="0" y="2828796"/>
                    <a:pt x="388307" y="2916478"/>
                  </a:cubicBezTo>
                  <a:cubicBezTo>
                    <a:pt x="776614" y="3004160"/>
                    <a:pt x="2150301" y="3219189"/>
                    <a:pt x="2392471" y="2841321"/>
                  </a:cubicBezTo>
                  <a:cubicBezTo>
                    <a:pt x="2634641" y="2463453"/>
                    <a:pt x="1966586" y="1083503"/>
                    <a:pt x="1841326" y="649267"/>
                  </a:cubicBezTo>
                  <a:cubicBezTo>
                    <a:pt x="1716066" y="215032"/>
                    <a:pt x="1736942" y="338204"/>
                    <a:pt x="1640909" y="235908"/>
                  </a:cubicBezTo>
                  <a:cubicBezTo>
                    <a:pt x="1544876" y="133612"/>
                    <a:pt x="1369512" y="62631"/>
                    <a:pt x="1265129" y="35491"/>
                  </a:cubicBezTo>
                  <a:cubicBezTo>
                    <a:pt x="1160746" y="8351"/>
                    <a:pt x="1073063" y="0"/>
                    <a:pt x="1002082" y="110647"/>
                  </a:cubicBezTo>
                  <a:close/>
                </a:path>
              </a:pathLst>
            </a:cu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endParaRPr>
            </a:p>
          </p:txBody>
        </p:sp>
        <p:sp>
          <p:nvSpPr>
            <p:cNvPr id="101379" name="TextBox 30"/>
            <p:cNvSpPr txBox="1"/>
            <p:nvPr/>
          </p:nvSpPr>
          <p:spPr>
            <a:xfrm>
              <a:off x="4071934" y="4000504"/>
              <a:ext cx="285752" cy="369332"/>
            </a:xfrm>
            <a:prstGeom prst="rect">
              <a:avLst/>
            </a:prstGeom>
            <a:noFill/>
            <a:ln w="9525">
              <a:noFill/>
            </a:ln>
          </p:spPr>
          <p:txBody>
            <a:bodyPr lIns="0" tIns="0" rIns="0" bIns="0" anchor="t" anchorCtr="0">
              <a:spAutoFit/>
            </a:bodyPr>
            <a:lstStyle/>
            <a:p>
              <a:r>
                <a:rPr lang="zh-CN" altLang="en-US" sz="2400" b="1" dirty="0">
                  <a:solidFill>
                    <a:srgbClr val="FF0000"/>
                  </a:solidFill>
                  <a:latin typeface="Consolas" pitchFamily="49" charset="0"/>
                  <a:ea typeface="楷体_GB2312"/>
                  <a:sym typeface="Symbol" pitchFamily="18" charset="2"/>
                </a:rPr>
                <a:t></a:t>
              </a:r>
              <a:endParaRPr lang="zh-CN" altLang="en-US" sz="2400" b="1" dirty="0">
                <a:solidFill>
                  <a:srgbClr val="FF0000"/>
                </a:solidFill>
                <a:latin typeface="Consolas" pitchFamily="49" charset="0"/>
                <a:ea typeface="楷体_GB2312"/>
              </a:endParaRPr>
            </a:p>
          </p:txBody>
        </p:sp>
      </p:grpSp>
      <p:sp>
        <p:nvSpPr>
          <p:cNvPr id="6" name="Text Box 2"/>
          <p:cNvSpPr txBox="1">
            <a:spLocks noChangeArrowheads="1"/>
          </p:cNvSpPr>
          <p:nvPr/>
        </p:nvSpPr>
        <p:spPr bwMode="auto">
          <a:xfrm>
            <a:off x="320675" y="777875"/>
            <a:ext cx="8716963" cy="968375"/>
          </a:xfrm>
          <a:prstGeom prst="rect">
            <a:avLst/>
          </a:prstGeom>
          <a:solidFill>
            <a:schemeClr val="accent1">
              <a:lumMod val="20000"/>
              <a:lumOff val="80000"/>
            </a:schemeClr>
          </a:solidFill>
          <a:ln w="9525">
            <a:noFill/>
            <a:miter lim="800000"/>
          </a:ln>
        </p:spPr>
        <p:txBody>
          <a:bodyPr>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50000"/>
              </a:lnSpc>
              <a:spcBef>
                <a:spcPts val="0"/>
              </a:spcBef>
              <a:spcAft>
                <a:spcPct val="0"/>
              </a:spcAft>
              <a:buClrTx/>
              <a:buSzTx/>
              <a:buFontTx/>
              <a:buNone/>
              <a:defRPr/>
            </a:pPr>
            <a:r>
              <a:rPr kumimoji="0" lang="zh-CN" altLang="en-US" sz="2000" b="1" i="0" u="none" strike="noStrike" kern="1200" cap="none" spc="0" normalizeH="0" baseline="0" noProof="0">
                <a:ln>
                  <a:noFill/>
                </a:ln>
                <a:solidFill>
                  <a:srgbClr val="FF0000"/>
                </a:solidFill>
                <a:effectLst/>
                <a:uLnTx/>
                <a:uFillTx/>
                <a:latin typeface="Consolas" pitchFamily="49" charset="0"/>
                <a:ea typeface="华文中宋" pitchFamily="2" charset="-122"/>
                <a:cs typeface="Consolas" pitchFamily="49" charset="0"/>
              </a:rPr>
              <a:t>    改进</a:t>
            </a:r>
            <a:r>
              <a:rPr kumimoji="0" lang="en-US" altLang="zh-CN" sz="2000" b="1" i="0" u="none" strike="noStrike" kern="1200" cap="none" spc="0" normalizeH="0" baseline="0" noProof="0">
                <a:ln>
                  <a:noFill/>
                </a:ln>
                <a:solidFill>
                  <a:srgbClr val="FF0000"/>
                </a:solidFill>
                <a:effectLst/>
                <a:uLnTx/>
                <a:uFillTx/>
                <a:latin typeface="Consolas" pitchFamily="49" charset="0"/>
                <a:ea typeface="华文中宋" pitchFamily="2" charset="-122"/>
                <a:cs typeface="Consolas" pitchFamily="49" charset="0"/>
              </a:rPr>
              <a:t>1</a:t>
            </a:r>
            <a:r>
              <a:rPr kumimoji="0" lang="zh-CN" altLang="en-US" sz="2000" b="1" i="0" u="none" strike="noStrike" kern="1200" cap="none" spc="0" normalizeH="0" baseline="0" noProof="0">
                <a:ln>
                  <a:noFill/>
                </a:ln>
                <a:solidFill>
                  <a:srgbClr val="FF0000"/>
                </a:solidFill>
                <a:effectLst/>
                <a:uLnTx/>
                <a:uFillTx/>
                <a:latin typeface="Consolas" pitchFamily="49" charset="0"/>
                <a:ea typeface="华文中宋" pitchFamily="2" charset="-122"/>
                <a:cs typeface="Consolas" pitchFamily="49" charset="0"/>
              </a:rPr>
              <a:t>：左</a:t>
            </a:r>
            <a:r>
              <a:rPr kumimoji="0" lang="zh-CN" altLang="zh-CN" sz="2000" b="1" i="0" u="none" strike="noStrike" kern="1200" cap="none" spc="0" normalizeH="0" baseline="0" noProof="0">
                <a:ln>
                  <a:noFill/>
                </a:ln>
                <a:solidFill>
                  <a:srgbClr val="FF0000"/>
                </a:solidFill>
                <a:effectLst/>
                <a:uLnTx/>
                <a:uFillTx/>
                <a:latin typeface="Consolas" pitchFamily="49" charset="0"/>
                <a:ea typeface="华文中宋" pitchFamily="2" charset="-122"/>
                <a:cs typeface="Consolas" pitchFamily="49" charset="0"/>
              </a:rPr>
              <a:t>剪枝</a:t>
            </a:r>
            <a:r>
              <a:rPr kumimoji="0" lang="zh-CN" altLang="en-US" sz="2000" b="1" i="0" u="none" strike="noStrike" kern="1200" cap="none" spc="0" normalizeH="0" baseline="0" noProof="0">
                <a:ln>
                  <a:noFill/>
                </a:ln>
                <a:solidFill>
                  <a:srgbClr val="FF0000"/>
                </a:solidFill>
                <a:effectLst/>
                <a:uLnTx/>
                <a:uFillTx/>
                <a:latin typeface="Consolas" pitchFamily="49" charset="0"/>
                <a:ea typeface="华文中宋" pitchFamily="2" charset="-122"/>
                <a:cs typeface="Consolas" pitchFamily="49" charset="0"/>
              </a:rPr>
              <a:t>：</a:t>
            </a:r>
            <a:r>
              <a:rPr kumimoji="0" lang="zh-CN"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对于第</a:t>
            </a:r>
            <a:r>
              <a:rPr kumimoji="0" lang="en-US" altLang="zh-CN" sz="1800" b="1" i="1"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i</a:t>
            </a:r>
            <a:r>
              <a:rPr kumimoji="0" lang="zh-CN"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层的有些结点，</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tw+</a:t>
            </a:r>
            <a:r>
              <a:rPr kumimoji="0" lang="en-US" altLang="zh-CN" sz="1800" b="1" i="1"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w</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a:t>
            </a:r>
            <a:r>
              <a:rPr kumimoji="0" lang="en-US" altLang="zh-CN" sz="1800" b="1" i="1"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i</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a:t>
            </a:r>
            <a:r>
              <a:rPr kumimoji="0" lang="zh-CN"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已超过了</a:t>
            </a:r>
            <a:r>
              <a:rPr kumimoji="0" lang="en-US" altLang="zh-CN" sz="1800" b="1" i="1"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W</a:t>
            </a:r>
            <a:r>
              <a:rPr kumimoji="0" lang="zh-CN" altLang="en-US"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a:t>
            </a:r>
            <a:r>
              <a:rPr kumimoji="0" lang="en-US" altLang="zh-CN" sz="1800" b="1" i="1"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 </a:t>
            </a:r>
            <a:r>
              <a:rPr kumimoji="0" lang="en-US" altLang="zh-CN" sz="1800" b="1" i="1" u="none" strike="noStrike" kern="1200" cap="none" spc="0" normalizeH="0" baseline="0" noProof="0">
                <a:ln>
                  <a:noFill/>
                </a:ln>
                <a:solidFill>
                  <a:srgbClr val="CC00FF"/>
                </a:solidFill>
                <a:effectLst/>
                <a:uLnTx/>
                <a:uFillTx/>
                <a:latin typeface="Consolas" pitchFamily="49" charset="0"/>
                <a:ea typeface="楷体" pitchFamily="49" charset="-122"/>
                <a:cs typeface="Consolas" pitchFamily="49" charset="0"/>
              </a:rPr>
              <a:t>W</a:t>
            </a:r>
            <a:r>
              <a:rPr kumimoji="0" lang="en-US" altLang="zh-CN" sz="1800" b="1" i="0" u="none" strike="noStrike" kern="1200" cap="none" spc="0" normalizeH="0" baseline="0" noProof="0">
                <a:ln>
                  <a:noFill/>
                </a:ln>
                <a:solidFill>
                  <a:srgbClr val="CC00FF"/>
                </a:solidFill>
                <a:effectLst/>
                <a:uLnTx/>
                <a:uFillTx/>
                <a:latin typeface="Consolas" pitchFamily="49" charset="0"/>
                <a:ea typeface="楷体" pitchFamily="49" charset="-122"/>
                <a:cs typeface="Consolas" pitchFamily="49" charset="0"/>
              </a:rPr>
              <a:t>=6</a:t>
            </a:r>
            <a:r>
              <a:rPr kumimoji="0" lang="zh-CN" altLang="en-US"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a:t>
            </a:r>
            <a:r>
              <a:rPr kumimoji="0" lang="zh-CN"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，显然再选择</a:t>
            </a:r>
            <a:r>
              <a:rPr kumimoji="0" lang="en-US" altLang="zh-CN" sz="1800" b="1" i="1"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w</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a:t>
            </a:r>
            <a:r>
              <a:rPr kumimoji="0" lang="en-US" altLang="zh-CN" sz="1800" b="1" i="1"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i</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a:t>
            </a:r>
            <a:r>
              <a:rPr kumimoji="0" lang="zh-CN"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是不合适的。如第</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2</a:t>
            </a:r>
            <a:r>
              <a:rPr kumimoji="0" lang="zh-CN"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层的（</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5</a:t>
            </a:r>
            <a:r>
              <a:rPr kumimoji="0" lang="zh-CN"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4</a:t>
            </a:r>
            <a:r>
              <a:rPr kumimoji="0" lang="zh-CN"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）结点</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 </a:t>
            </a:r>
            <a:r>
              <a:rPr kumimoji="0" lang="en-US"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sym typeface="Wingdings" panose="05000000000000000000"/>
              </a:rPr>
              <a:t> </a:t>
            </a:r>
            <a:r>
              <a:rPr kumimoji="0" lang="zh-CN" altLang="zh-CN"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进行扩展是不必要的</a:t>
            </a:r>
            <a:r>
              <a:rPr kumimoji="0" lang="zh-CN" altLang="en-US" sz="1800" b="1" i="0" u="none" strike="noStrike" kern="1200" cap="none" spc="0" normalizeH="0" baseline="0" noProof="0">
                <a:ln>
                  <a:noFill/>
                </a:ln>
                <a:solidFill>
                  <a:srgbClr val="0000FF"/>
                </a:solidFill>
                <a:effectLst/>
                <a:uLnTx/>
                <a:uFillTx/>
                <a:latin typeface="Consolas" pitchFamily="49" charset="0"/>
                <a:ea typeface="楷体" pitchFamily="49" charset="-122"/>
                <a:cs typeface="Consolas" pitchFamily="49" charset="0"/>
              </a:rPr>
              <a:t>。</a:t>
            </a:r>
          </a:p>
        </p:txBody>
      </p:sp>
      <p:sp>
        <p:nvSpPr>
          <p:cNvPr id="101381" name="Rectangle 4"/>
          <p:cNvSpPr/>
          <p:nvPr/>
        </p:nvSpPr>
        <p:spPr>
          <a:xfrm>
            <a:off x="106363" y="3063875"/>
            <a:ext cx="185737" cy="460375"/>
          </a:xfrm>
          <a:prstGeom prst="rect">
            <a:avLst/>
          </a:prstGeom>
          <a:noFill/>
          <a:ln w="9525">
            <a:noFill/>
          </a:ln>
        </p:spPr>
        <p:txBody>
          <a:bodyPr wrap="none" anchor="ctr" anchorCtr="0">
            <a:spAutoFit/>
          </a:bodyPr>
          <a:lstStyle/>
          <a:p>
            <a:endParaRPr lang="zh-CN" altLang="en-US" sz="2400" b="1" dirty="0">
              <a:solidFill>
                <a:srgbClr val="0033CC"/>
              </a:solidFill>
              <a:latin typeface="Consolas" pitchFamily="49" charset="0"/>
              <a:ea typeface="楷体_GB2312"/>
            </a:endParaRPr>
          </a:p>
        </p:txBody>
      </p:sp>
      <p:sp>
        <p:nvSpPr>
          <p:cNvPr id="8" name="椭圆 7"/>
          <p:cNvSpPr/>
          <p:nvPr/>
        </p:nvSpPr>
        <p:spPr>
          <a:xfrm>
            <a:off x="1355725" y="5207000"/>
            <a:ext cx="573088"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chemeClr val="lt1"/>
                </a:solidFill>
                <a:effectLst/>
                <a:uLnTx/>
                <a:uFillTx/>
                <a:latin typeface="Consolas" pitchFamily="49" charset="0"/>
                <a:ea typeface="楷体_GB2312" pitchFamily="49" charset="-122"/>
                <a:cs typeface="Consolas" pitchFamily="49" charset="0"/>
              </a:rPr>
              <a:t>11,12</a:t>
            </a:r>
            <a:endParaRPr kumimoji="0" lang="zh-CN" altLang="en-US" sz="1400" b="1" i="0" u="none" strike="noStrike" kern="1200" cap="none" spc="-150" normalizeH="0" baseline="0" noProof="0">
              <a:ln>
                <a:noFill/>
              </a:ln>
              <a:solidFill>
                <a:schemeClr val="lt1"/>
              </a:solidFill>
              <a:effectLst/>
              <a:uLnTx/>
              <a:uFillTx/>
              <a:latin typeface="Consolas" pitchFamily="49" charset="0"/>
              <a:ea typeface="楷体_GB2312" pitchFamily="49" charset="-122"/>
              <a:cs typeface="Consolas" pitchFamily="49" charset="0"/>
            </a:endParaRPr>
          </a:p>
        </p:txBody>
      </p:sp>
      <p:sp>
        <p:nvSpPr>
          <p:cNvPr id="9" name="椭圆 8"/>
          <p:cNvSpPr/>
          <p:nvPr/>
        </p:nvSpPr>
        <p:spPr>
          <a:xfrm>
            <a:off x="1903413" y="5207000"/>
            <a:ext cx="56356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chemeClr val="lt1"/>
                </a:solidFill>
                <a:effectLst/>
                <a:uLnTx/>
                <a:uFillTx/>
                <a:latin typeface="Consolas" pitchFamily="49" charset="0"/>
                <a:ea typeface="楷体_GB2312" pitchFamily="49" charset="-122"/>
                <a:cs typeface="Consolas" pitchFamily="49" charset="0"/>
              </a:rPr>
              <a:t>10,11</a:t>
            </a:r>
            <a:endParaRPr kumimoji="0" lang="zh-CN" altLang="en-US" sz="1400" b="1" i="0" u="none" strike="noStrike" kern="1200" cap="none" spc="-150" normalizeH="0" baseline="0" noProof="0">
              <a:ln>
                <a:noFill/>
              </a:ln>
              <a:solidFill>
                <a:schemeClr val="lt1"/>
              </a:solidFill>
              <a:effectLst/>
              <a:uLnTx/>
              <a:uFillTx/>
              <a:latin typeface="Consolas" pitchFamily="49" charset="0"/>
              <a:ea typeface="楷体_GB2312" pitchFamily="49" charset="-122"/>
              <a:cs typeface="Consolas" pitchFamily="49" charset="0"/>
            </a:endParaRPr>
          </a:p>
        </p:txBody>
      </p:sp>
      <p:sp>
        <p:nvSpPr>
          <p:cNvPr id="10" name="椭圆 9"/>
          <p:cNvSpPr/>
          <p:nvPr/>
        </p:nvSpPr>
        <p:spPr>
          <a:xfrm>
            <a:off x="1579563" y="4278313"/>
            <a:ext cx="706438"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rPr>
              <a:t>10,11</a:t>
            </a:r>
            <a:endParaRPr kumimoji="0" lang="zh-CN" altLang="en-US"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endParaRPr>
          </a:p>
        </p:txBody>
      </p:sp>
      <p:cxnSp>
        <p:nvCxnSpPr>
          <p:cNvPr id="11" name="直接连接符 10"/>
          <p:cNvCxnSpPr>
            <a:stCxn id="10" idx="4"/>
            <a:endCxn id="8" idx="0"/>
          </p:cNvCxnSpPr>
          <p:nvPr/>
        </p:nvCxnSpPr>
        <p:spPr>
          <a:xfrm rot="5400000">
            <a:off x="1555750" y="4830763"/>
            <a:ext cx="461963" cy="290513"/>
          </a:xfrm>
          <a:prstGeom prst="line">
            <a:avLst/>
          </a:prstGeom>
          <a:ln w="12700"/>
        </p:spPr>
        <p:style>
          <a:lnRef idx="2">
            <a:schemeClr val="dk1"/>
          </a:lnRef>
          <a:fillRef idx="0">
            <a:schemeClr val="dk1"/>
          </a:fillRef>
          <a:effectRef idx="1">
            <a:schemeClr val="dk1"/>
          </a:effectRef>
          <a:fontRef idx="minor">
            <a:schemeClr val="tx1"/>
          </a:fontRef>
        </p:style>
      </p:cxnSp>
      <p:cxnSp>
        <p:nvCxnSpPr>
          <p:cNvPr id="12" name="直接连接符 11"/>
          <p:cNvCxnSpPr>
            <a:stCxn id="10" idx="4"/>
            <a:endCxn id="9" idx="0"/>
          </p:cNvCxnSpPr>
          <p:nvPr/>
        </p:nvCxnSpPr>
        <p:spPr>
          <a:xfrm rot="16200000" flipH="1">
            <a:off x="1827213" y="4849813"/>
            <a:ext cx="461963" cy="252413"/>
          </a:xfrm>
          <a:prstGeom prst="line">
            <a:avLst/>
          </a:prstGeom>
          <a:ln w="12700"/>
        </p:spPr>
        <p:style>
          <a:lnRef idx="2">
            <a:schemeClr val="dk1"/>
          </a:lnRef>
          <a:fillRef idx="0">
            <a:schemeClr val="dk1"/>
          </a:fillRef>
          <a:effectRef idx="1">
            <a:schemeClr val="dk1"/>
          </a:effectRef>
          <a:fontRef idx="minor">
            <a:schemeClr val="tx1"/>
          </a:fontRef>
        </p:style>
      </p:cxnSp>
      <p:sp>
        <p:nvSpPr>
          <p:cNvPr id="101387" name="TextBox 10"/>
          <p:cNvSpPr txBox="1"/>
          <p:nvPr/>
        </p:nvSpPr>
        <p:spPr>
          <a:xfrm>
            <a:off x="1574800" y="4884738"/>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楷体_GB2312"/>
              </a:rPr>
              <a:t>1</a:t>
            </a:r>
            <a:endParaRPr lang="zh-CN" altLang="en-US" sz="1400" b="1" dirty="0">
              <a:solidFill>
                <a:srgbClr val="0033CC"/>
              </a:solidFill>
              <a:latin typeface="Consolas" pitchFamily="49" charset="0"/>
              <a:ea typeface="楷体_GB2312"/>
            </a:endParaRPr>
          </a:p>
        </p:txBody>
      </p:sp>
      <p:sp>
        <p:nvSpPr>
          <p:cNvPr id="101388" name="TextBox 11"/>
          <p:cNvSpPr txBox="1"/>
          <p:nvPr/>
        </p:nvSpPr>
        <p:spPr>
          <a:xfrm>
            <a:off x="2155825" y="4884738"/>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楷体_GB2312"/>
              </a:rPr>
              <a:t>0</a:t>
            </a:r>
            <a:endParaRPr lang="zh-CN" altLang="en-US" sz="1400" b="1" dirty="0">
              <a:solidFill>
                <a:srgbClr val="0033CC"/>
              </a:solidFill>
              <a:latin typeface="Consolas" pitchFamily="49" charset="0"/>
              <a:ea typeface="楷体_GB2312"/>
            </a:endParaRPr>
          </a:p>
        </p:txBody>
      </p:sp>
      <p:sp>
        <p:nvSpPr>
          <p:cNvPr id="15" name="椭圆 14"/>
          <p:cNvSpPr/>
          <p:nvPr/>
        </p:nvSpPr>
        <p:spPr>
          <a:xfrm>
            <a:off x="2460625" y="5207000"/>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rPr>
              <a:t>9,9</a:t>
            </a:r>
            <a:endParaRPr kumimoji="0" lang="zh-CN" altLang="en-US"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endParaRPr>
          </a:p>
        </p:txBody>
      </p:sp>
      <p:sp>
        <p:nvSpPr>
          <p:cNvPr id="16" name="椭圆 15"/>
          <p:cNvSpPr/>
          <p:nvPr/>
        </p:nvSpPr>
        <p:spPr>
          <a:xfrm>
            <a:off x="2960688" y="5207000"/>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rPr>
              <a:t>8,8</a:t>
            </a:r>
            <a:endParaRPr kumimoji="0" lang="zh-CN" altLang="en-US"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endParaRPr>
          </a:p>
        </p:txBody>
      </p:sp>
      <p:sp>
        <p:nvSpPr>
          <p:cNvPr id="17" name="椭圆 16"/>
          <p:cNvSpPr/>
          <p:nvPr/>
        </p:nvSpPr>
        <p:spPr>
          <a:xfrm>
            <a:off x="2638425" y="4278313"/>
            <a:ext cx="576263"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rPr>
              <a:t>8,8</a:t>
            </a:r>
            <a:endParaRPr kumimoji="0" lang="zh-CN" altLang="en-US"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endParaRPr>
          </a:p>
        </p:txBody>
      </p:sp>
      <p:cxnSp>
        <p:nvCxnSpPr>
          <p:cNvPr id="18" name="直接连接符 17"/>
          <p:cNvCxnSpPr>
            <a:stCxn id="17" idx="4"/>
            <a:endCxn id="15" idx="0"/>
          </p:cNvCxnSpPr>
          <p:nvPr/>
        </p:nvCxnSpPr>
        <p:spPr>
          <a:xfrm rot="5400000">
            <a:off x="2578894" y="4860131"/>
            <a:ext cx="461963" cy="231775"/>
          </a:xfrm>
          <a:prstGeom prst="line">
            <a:avLst/>
          </a:prstGeom>
          <a:ln w="12700"/>
        </p:spPr>
        <p:style>
          <a:lnRef idx="2">
            <a:schemeClr val="dk1"/>
          </a:lnRef>
          <a:fillRef idx="0">
            <a:schemeClr val="dk1"/>
          </a:fillRef>
          <a:effectRef idx="1">
            <a:schemeClr val="dk1"/>
          </a:effectRef>
          <a:fontRef idx="minor">
            <a:schemeClr val="tx1"/>
          </a:fontRef>
        </p:style>
      </p:cxnSp>
      <p:cxnSp>
        <p:nvCxnSpPr>
          <p:cNvPr id="19" name="直接连接符 18"/>
          <p:cNvCxnSpPr>
            <a:stCxn id="17" idx="4"/>
            <a:endCxn id="16" idx="0"/>
          </p:cNvCxnSpPr>
          <p:nvPr/>
        </p:nvCxnSpPr>
        <p:spPr>
          <a:xfrm rot="16200000" flipH="1">
            <a:off x="2828925" y="4841875"/>
            <a:ext cx="461963" cy="268288"/>
          </a:xfrm>
          <a:prstGeom prst="line">
            <a:avLst/>
          </a:prstGeom>
          <a:ln w="12700"/>
        </p:spPr>
        <p:style>
          <a:lnRef idx="2">
            <a:schemeClr val="dk1"/>
          </a:lnRef>
          <a:fillRef idx="0">
            <a:schemeClr val="dk1"/>
          </a:fillRef>
          <a:effectRef idx="1">
            <a:schemeClr val="dk1"/>
          </a:effectRef>
          <a:fontRef idx="minor">
            <a:schemeClr val="tx1"/>
          </a:fontRef>
        </p:style>
      </p:cxnSp>
      <p:sp>
        <p:nvSpPr>
          <p:cNvPr id="101394" name="TextBox 17"/>
          <p:cNvSpPr txBox="1"/>
          <p:nvPr/>
        </p:nvSpPr>
        <p:spPr>
          <a:xfrm>
            <a:off x="2622550" y="4884738"/>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楷体_GB2312"/>
              </a:rPr>
              <a:t>1</a:t>
            </a:r>
            <a:endParaRPr lang="zh-CN" altLang="en-US" sz="1400" b="1" dirty="0">
              <a:solidFill>
                <a:srgbClr val="0033CC"/>
              </a:solidFill>
              <a:latin typeface="Consolas" pitchFamily="49" charset="0"/>
              <a:ea typeface="楷体_GB2312"/>
            </a:endParaRPr>
          </a:p>
        </p:txBody>
      </p:sp>
      <p:sp>
        <p:nvSpPr>
          <p:cNvPr id="101395" name="TextBox 18"/>
          <p:cNvSpPr txBox="1"/>
          <p:nvPr/>
        </p:nvSpPr>
        <p:spPr>
          <a:xfrm>
            <a:off x="3130550" y="4884738"/>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楷体_GB2312"/>
              </a:rPr>
              <a:t>0</a:t>
            </a:r>
            <a:endParaRPr lang="zh-CN" altLang="en-US" sz="1400" b="1" dirty="0">
              <a:solidFill>
                <a:srgbClr val="0033CC"/>
              </a:solidFill>
              <a:latin typeface="Consolas" pitchFamily="49" charset="0"/>
              <a:ea typeface="楷体_GB2312"/>
            </a:endParaRPr>
          </a:p>
        </p:txBody>
      </p:sp>
      <p:sp>
        <p:nvSpPr>
          <p:cNvPr id="22" name="椭圆 21"/>
          <p:cNvSpPr/>
          <p:nvPr/>
        </p:nvSpPr>
        <p:spPr>
          <a:xfrm>
            <a:off x="2079625" y="3095625"/>
            <a:ext cx="574675" cy="468313"/>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FF0000"/>
                </a:solidFill>
                <a:effectLst/>
                <a:uLnTx/>
                <a:uFillTx/>
                <a:latin typeface="Consolas" pitchFamily="49" charset="0"/>
                <a:ea typeface="楷体_GB2312" pitchFamily="49" charset="-122"/>
                <a:cs typeface="Consolas" pitchFamily="49" charset="0"/>
              </a:rPr>
              <a:t>8</a:t>
            </a:r>
            <a:r>
              <a:rPr kumimoji="0" lang="en-US" altLang="zh-CN"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rPr>
              <a:t>,</a:t>
            </a:r>
            <a:r>
              <a:rPr kumimoji="0" lang="en-US" altLang="zh-CN" sz="1400" b="1" i="0" u="none" strike="noStrike" kern="1200" cap="none" spc="0" normalizeH="0" baseline="0" noProof="0">
                <a:ln>
                  <a:noFill/>
                </a:ln>
                <a:solidFill>
                  <a:schemeClr val="bg1"/>
                </a:solidFill>
                <a:effectLst/>
                <a:uLnTx/>
                <a:uFillTx/>
                <a:latin typeface="Consolas" pitchFamily="49" charset="0"/>
                <a:ea typeface="楷体_GB2312" pitchFamily="49" charset="-122"/>
                <a:cs typeface="Consolas" pitchFamily="49" charset="0"/>
              </a:rPr>
              <a:t>8</a:t>
            </a:r>
            <a:endParaRPr kumimoji="0" lang="zh-CN" altLang="en-US" sz="1400" b="1" i="0" u="none" strike="noStrike" kern="1200" cap="none" spc="0" normalizeH="0" baseline="0" noProof="0">
              <a:ln>
                <a:noFill/>
              </a:ln>
              <a:solidFill>
                <a:schemeClr val="bg1"/>
              </a:solidFill>
              <a:effectLst/>
              <a:uLnTx/>
              <a:uFillTx/>
              <a:latin typeface="Consolas" pitchFamily="49" charset="0"/>
              <a:ea typeface="楷体_GB2312" pitchFamily="49" charset="-122"/>
              <a:cs typeface="Consolas" pitchFamily="49" charset="0"/>
            </a:endParaRPr>
          </a:p>
        </p:txBody>
      </p:sp>
      <p:cxnSp>
        <p:nvCxnSpPr>
          <p:cNvPr id="23" name="直接连接符 22"/>
          <p:cNvCxnSpPr>
            <a:stCxn id="22" idx="4"/>
            <a:endCxn id="10" idx="0"/>
          </p:cNvCxnSpPr>
          <p:nvPr/>
        </p:nvCxnSpPr>
        <p:spPr>
          <a:xfrm rot="5400000">
            <a:off x="1792288" y="3703638"/>
            <a:ext cx="714375" cy="434975"/>
          </a:xfrm>
          <a:prstGeom prst="line">
            <a:avLst/>
          </a:prstGeom>
          <a:ln w="12700"/>
        </p:spPr>
        <p:style>
          <a:lnRef idx="2">
            <a:schemeClr val="dk1"/>
          </a:lnRef>
          <a:fillRef idx="0">
            <a:schemeClr val="dk1"/>
          </a:fillRef>
          <a:effectRef idx="1">
            <a:schemeClr val="dk1"/>
          </a:effectRef>
          <a:fontRef idx="minor">
            <a:schemeClr val="tx1"/>
          </a:fontRef>
        </p:style>
      </p:cxnSp>
      <p:cxnSp>
        <p:nvCxnSpPr>
          <p:cNvPr id="24" name="直接连接符 23"/>
          <p:cNvCxnSpPr>
            <a:stCxn id="22" idx="4"/>
            <a:endCxn id="17" idx="0"/>
          </p:cNvCxnSpPr>
          <p:nvPr/>
        </p:nvCxnSpPr>
        <p:spPr>
          <a:xfrm rot="16200000" flipH="1">
            <a:off x="2289175" y="3641725"/>
            <a:ext cx="714375" cy="558800"/>
          </a:xfrm>
          <a:prstGeom prst="line">
            <a:avLst/>
          </a:prstGeom>
          <a:ln w="12700"/>
        </p:spPr>
        <p:style>
          <a:lnRef idx="2">
            <a:schemeClr val="dk1"/>
          </a:lnRef>
          <a:fillRef idx="0">
            <a:schemeClr val="dk1"/>
          </a:fillRef>
          <a:effectRef idx="1">
            <a:schemeClr val="dk1"/>
          </a:effectRef>
          <a:fontRef idx="minor">
            <a:schemeClr val="tx1"/>
          </a:fontRef>
        </p:style>
      </p:cxnSp>
      <p:sp>
        <p:nvSpPr>
          <p:cNvPr id="25" name="椭圆 24"/>
          <p:cNvSpPr/>
          <p:nvPr/>
        </p:nvSpPr>
        <p:spPr>
          <a:xfrm>
            <a:off x="3151188" y="2206625"/>
            <a:ext cx="574675"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rPr>
              <a:t>5,4</a:t>
            </a:r>
            <a:endParaRPr kumimoji="0" lang="zh-CN" altLang="en-US" sz="1400" b="1" i="0" u="none" strike="noStrike" kern="1200" cap="none" spc="0" normalizeH="0" baseline="0" noProof="0">
              <a:ln>
                <a:noFill/>
              </a:ln>
              <a:solidFill>
                <a:schemeClr val="lt1"/>
              </a:solidFill>
              <a:effectLst/>
              <a:uLnTx/>
              <a:uFillTx/>
              <a:latin typeface="Consolas" pitchFamily="49" charset="0"/>
              <a:ea typeface="楷体_GB2312" pitchFamily="49" charset="-122"/>
              <a:cs typeface="Consolas" pitchFamily="49" charset="0"/>
            </a:endParaRPr>
          </a:p>
        </p:txBody>
      </p:sp>
      <p:cxnSp>
        <p:nvCxnSpPr>
          <p:cNvPr id="26" name="直接连接符 25"/>
          <p:cNvCxnSpPr>
            <a:stCxn id="25" idx="3"/>
            <a:endCxn id="22" idx="7"/>
          </p:cNvCxnSpPr>
          <p:nvPr/>
        </p:nvCxnSpPr>
        <p:spPr>
          <a:xfrm rot="5400000">
            <a:off x="2623344" y="2551906"/>
            <a:ext cx="558800" cy="665163"/>
          </a:xfrm>
          <a:prstGeom prst="line">
            <a:avLst/>
          </a:prstGeom>
          <a:ln w="12700"/>
        </p:spPr>
        <p:style>
          <a:lnRef idx="2">
            <a:schemeClr val="dk1"/>
          </a:lnRef>
          <a:fillRef idx="0">
            <a:schemeClr val="dk1"/>
          </a:fillRef>
          <a:effectRef idx="1">
            <a:schemeClr val="dk1"/>
          </a:effectRef>
          <a:fontRef idx="minor">
            <a:schemeClr val="tx1"/>
          </a:fontRef>
        </p:style>
      </p:cxnSp>
      <p:sp>
        <p:nvSpPr>
          <p:cNvPr id="101401" name="TextBox 26"/>
          <p:cNvSpPr txBox="1"/>
          <p:nvPr/>
        </p:nvSpPr>
        <p:spPr>
          <a:xfrm>
            <a:off x="1936750" y="3778250"/>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楷体_GB2312"/>
              </a:rPr>
              <a:t>1</a:t>
            </a:r>
            <a:endParaRPr lang="zh-CN" altLang="en-US" sz="1400" b="1" dirty="0">
              <a:solidFill>
                <a:srgbClr val="0033CC"/>
              </a:solidFill>
              <a:latin typeface="Consolas" pitchFamily="49" charset="0"/>
              <a:ea typeface="楷体_GB2312"/>
            </a:endParaRPr>
          </a:p>
        </p:txBody>
      </p:sp>
      <p:sp>
        <p:nvSpPr>
          <p:cNvPr id="101402" name="TextBox 27"/>
          <p:cNvSpPr txBox="1"/>
          <p:nvPr/>
        </p:nvSpPr>
        <p:spPr>
          <a:xfrm>
            <a:off x="2722563" y="3778250"/>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楷体_GB2312"/>
              </a:rPr>
              <a:t>0</a:t>
            </a:r>
            <a:endParaRPr lang="zh-CN" altLang="en-US" sz="1400" b="1" dirty="0">
              <a:solidFill>
                <a:srgbClr val="0033CC"/>
              </a:solidFill>
              <a:latin typeface="Consolas" pitchFamily="49" charset="0"/>
              <a:ea typeface="楷体_GB2312"/>
            </a:endParaRPr>
          </a:p>
        </p:txBody>
      </p:sp>
      <p:sp>
        <p:nvSpPr>
          <p:cNvPr id="101403" name="TextBox 28"/>
          <p:cNvSpPr txBox="1"/>
          <p:nvPr/>
        </p:nvSpPr>
        <p:spPr>
          <a:xfrm>
            <a:off x="2860675" y="256381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楷体_GB2312"/>
              </a:rPr>
              <a:t>1</a:t>
            </a:r>
            <a:endParaRPr lang="zh-CN" altLang="en-US" sz="1400" b="1" dirty="0">
              <a:solidFill>
                <a:srgbClr val="0033CC"/>
              </a:solidFill>
              <a:latin typeface="Consolas" pitchFamily="49" charset="0"/>
              <a:ea typeface="楷体_GB2312"/>
            </a:endParaRPr>
          </a:p>
        </p:txBody>
      </p:sp>
      <p:sp>
        <p:nvSpPr>
          <p:cNvPr id="30" name="TextBox 29"/>
          <p:cNvSpPr txBox="1"/>
          <p:nvPr/>
        </p:nvSpPr>
        <p:spPr>
          <a:xfrm>
            <a:off x="3857625" y="2244725"/>
            <a:ext cx="357188" cy="277813"/>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1" u="none" strike="noStrike" kern="1200" cap="none" spc="-150" normalizeH="0" baseline="0" noProof="0">
                <a:ln>
                  <a:noFill/>
                </a:ln>
                <a:solidFill>
                  <a:srgbClr val="C00000"/>
                </a:solidFill>
                <a:effectLst/>
                <a:uLnTx/>
                <a:uFillTx/>
                <a:latin typeface="Consolas" pitchFamily="49" charset="0"/>
                <a:ea typeface="微软雅黑" charset="-122"/>
                <a:cs typeface="Consolas" pitchFamily="49" charset="0"/>
              </a:rPr>
              <a:t>i=</a:t>
            </a:r>
            <a:r>
              <a:rPr kumimoji="0" lang="en-US" altLang="zh-CN" sz="1800" b="1" i="0" u="none" strike="noStrike" kern="1200" cap="none" spc="-150" normalizeH="0" baseline="0" noProof="0">
                <a:ln>
                  <a:noFill/>
                </a:ln>
                <a:solidFill>
                  <a:srgbClr val="C00000"/>
                </a:solidFill>
                <a:effectLst/>
                <a:uLnTx/>
                <a:uFillTx/>
                <a:latin typeface="Consolas" pitchFamily="49" charset="0"/>
                <a:ea typeface="微软雅黑" charset="-122"/>
                <a:cs typeface="Consolas" pitchFamily="49" charset="0"/>
              </a:rPr>
              <a:t>2</a:t>
            </a:r>
            <a:endParaRPr kumimoji="0" lang="zh-CN" altLang="en-US" sz="1800" b="1" i="0" u="none" strike="noStrike" kern="1200" cap="none" spc="-150" normalizeH="0" baseline="0" noProof="0">
              <a:ln>
                <a:noFill/>
              </a:ln>
              <a:solidFill>
                <a:srgbClr val="C00000"/>
              </a:solidFill>
              <a:effectLst/>
              <a:uLnTx/>
              <a:uFillTx/>
              <a:latin typeface="Consolas" pitchFamily="49" charset="0"/>
              <a:ea typeface="微软雅黑" charset="-122"/>
              <a:cs typeface="Consolas" pitchFamily="49" charset="0"/>
            </a:endParaRPr>
          </a:p>
        </p:txBody>
      </p:sp>
      <p:grpSp>
        <p:nvGrpSpPr>
          <p:cNvPr id="101405" name="组合 30"/>
          <p:cNvGrpSpPr/>
          <p:nvPr/>
        </p:nvGrpSpPr>
        <p:grpSpPr>
          <a:xfrm>
            <a:off x="1143000" y="3173413"/>
            <a:ext cx="982663" cy="277812"/>
            <a:chOff x="2285984" y="4071942"/>
            <a:chExt cx="983380" cy="276999"/>
          </a:xfrm>
        </p:grpSpPr>
        <p:sp>
          <p:nvSpPr>
            <p:cNvPr id="101406" name="TextBox 33"/>
            <p:cNvSpPr txBox="1"/>
            <p:nvPr/>
          </p:nvSpPr>
          <p:spPr>
            <a:xfrm>
              <a:off x="2285984" y="4071942"/>
              <a:ext cx="857256" cy="276999"/>
            </a:xfrm>
            <a:prstGeom prst="rect">
              <a:avLst/>
            </a:prstGeom>
            <a:noFill/>
            <a:ln w="9525">
              <a:noFill/>
            </a:ln>
          </p:spPr>
          <p:txBody>
            <a:bodyPr lIns="0" tIns="0" rIns="0" bIns="0" anchor="t" anchorCtr="0">
              <a:spAutoFit/>
            </a:bodyPr>
            <a:lstStyle/>
            <a:p>
              <a:r>
                <a:rPr lang="en-US" altLang="zh-CN" sz="1800" b="1" dirty="0">
                  <a:solidFill>
                    <a:srgbClr val="0000FF"/>
                  </a:solidFill>
                  <a:latin typeface="Consolas" pitchFamily="49" charset="0"/>
                  <a:ea typeface="楷体_GB2312"/>
                  <a:sym typeface="Symbol" pitchFamily="18" charset="2"/>
                </a:rPr>
                <a:t>tw&gt;W</a:t>
              </a:r>
              <a:endParaRPr lang="zh-CN" altLang="en-US" sz="1800" b="1" dirty="0">
                <a:solidFill>
                  <a:srgbClr val="0000FF"/>
                </a:solidFill>
                <a:latin typeface="Consolas" pitchFamily="49" charset="0"/>
                <a:ea typeface="楷体_GB2312"/>
              </a:endParaRPr>
            </a:p>
          </p:txBody>
        </p:sp>
        <p:cxnSp>
          <p:nvCxnSpPr>
            <p:cNvPr id="34" name="直接箭头连接符 33"/>
            <p:cNvCxnSpPr/>
            <p:nvPr/>
          </p:nvCxnSpPr>
          <p:spPr>
            <a:xfrm flipV="1">
              <a:off x="2873788" y="4231810"/>
              <a:ext cx="395576" cy="0"/>
            </a:xfrm>
            <a:prstGeom prst="straightConnector1">
              <a:avLst/>
            </a:prstGeom>
            <a:ln>
              <a:solidFill>
                <a:srgbClr val="CC00FF"/>
              </a:solidFill>
              <a:tailEnd type="arrow"/>
            </a:ln>
          </p:spPr>
          <p:style>
            <a:lnRef idx="2">
              <a:schemeClr val="accent2"/>
            </a:lnRef>
            <a:fillRef idx="0">
              <a:schemeClr val="accent2"/>
            </a:fillRef>
            <a:effectRef idx="1">
              <a:schemeClr val="accent2"/>
            </a:effectRef>
            <a:fontRef idx="minor">
              <a:schemeClr val="tx1"/>
            </a:fontRef>
          </p:style>
        </p:cxnSp>
      </p:grpSp>
      <p:sp>
        <p:nvSpPr>
          <p:cNvPr id="101408" name="TextBox 40"/>
          <p:cNvSpPr txBox="1"/>
          <p:nvPr/>
        </p:nvSpPr>
        <p:spPr>
          <a:xfrm>
            <a:off x="3963988" y="3849688"/>
            <a:ext cx="5002212" cy="400050"/>
          </a:xfrm>
          <a:prstGeom prst="rect">
            <a:avLst/>
          </a:prstGeom>
          <a:noFill/>
          <a:ln w="9525">
            <a:noFill/>
          </a:ln>
        </p:spPr>
        <p:txBody>
          <a:bodyPr anchor="t" anchorCtr="0">
            <a:spAutoFit/>
          </a:bodyPr>
          <a:lstStyle/>
          <a:p>
            <a:r>
              <a:rPr lang="zh-CN" altLang="en-US" b="1" dirty="0">
                <a:solidFill>
                  <a:srgbClr val="0000FF"/>
                </a:solidFill>
                <a:latin typeface="Consolas" pitchFamily="49" charset="0"/>
                <a:ea typeface="方正启体简体"/>
              </a:rPr>
              <a:t>仅仅扩展满足</a:t>
            </a:r>
            <a:r>
              <a:rPr lang="en-US" altLang="zh-CN" sz="1800" b="1" dirty="0">
                <a:solidFill>
                  <a:srgbClr val="FF0000"/>
                </a:solidFill>
                <a:latin typeface="Consolas" pitchFamily="49" charset="0"/>
                <a:ea typeface="方正启体简体"/>
              </a:rPr>
              <a:t>tw+</a:t>
            </a:r>
            <a:r>
              <a:rPr lang="en-US" altLang="zh-CN" sz="1800" b="1" i="1" dirty="0">
                <a:solidFill>
                  <a:srgbClr val="FF0000"/>
                </a:solidFill>
                <a:latin typeface="Consolas" pitchFamily="49" charset="0"/>
                <a:ea typeface="方正启体简体"/>
              </a:rPr>
              <a:t>w</a:t>
            </a:r>
            <a:r>
              <a:rPr lang="en-US" altLang="zh-CN" sz="1800" b="1" dirty="0">
                <a:solidFill>
                  <a:srgbClr val="FF0000"/>
                </a:solidFill>
                <a:latin typeface="Consolas" pitchFamily="49" charset="0"/>
                <a:ea typeface="方正启体简体"/>
              </a:rPr>
              <a:t>[</a:t>
            </a:r>
            <a:r>
              <a:rPr lang="en-US" altLang="zh-CN" sz="1800" b="1" i="1" dirty="0">
                <a:solidFill>
                  <a:srgbClr val="FF0000"/>
                </a:solidFill>
                <a:latin typeface="Consolas" pitchFamily="49" charset="0"/>
                <a:ea typeface="方正启体简体"/>
              </a:rPr>
              <a:t>i</a:t>
            </a:r>
            <a:r>
              <a:rPr lang="en-US" altLang="zh-CN" sz="1800" b="1" dirty="0">
                <a:solidFill>
                  <a:srgbClr val="FF0000"/>
                </a:solidFill>
                <a:latin typeface="Consolas" pitchFamily="49" charset="0"/>
                <a:ea typeface="方正启体简体"/>
              </a:rPr>
              <a:t>]&lt;=W</a:t>
            </a:r>
            <a:r>
              <a:rPr lang="zh-CN" altLang="en-US" sz="1800" b="1" dirty="0">
                <a:solidFill>
                  <a:srgbClr val="0000FF"/>
                </a:solidFill>
                <a:latin typeface="Consolas" pitchFamily="49" charset="0"/>
                <a:ea typeface="方正启体简体"/>
              </a:rPr>
              <a:t>的左孩子结点</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椭圆 36"/>
          <p:cNvSpPr/>
          <p:nvPr/>
        </p:nvSpPr>
        <p:spPr>
          <a:xfrm>
            <a:off x="642938" y="2990850"/>
            <a:ext cx="576263" cy="468313"/>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sym typeface="Symbol"/>
              </a:rPr>
              <a:t></a:t>
            </a:r>
            <a:endParaRPr kumimoji="0" lang="zh-CN" altLang="en-US" sz="24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endParaRPr>
          </a:p>
        </p:txBody>
      </p:sp>
      <p:sp>
        <p:nvSpPr>
          <p:cNvPr id="38" name="椭圆 37"/>
          <p:cNvSpPr/>
          <p:nvPr/>
        </p:nvSpPr>
        <p:spPr>
          <a:xfrm>
            <a:off x="2176463" y="4173538"/>
            <a:ext cx="574675" cy="466725"/>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sym typeface="Symbol"/>
              </a:rPr>
              <a:t></a:t>
            </a:r>
            <a:endParaRPr kumimoji="0" lang="zh-CN" altLang="en-US" sz="24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endParaRPr>
          </a:p>
        </p:txBody>
      </p:sp>
      <p:sp>
        <p:nvSpPr>
          <p:cNvPr id="39" name="椭圆 38"/>
          <p:cNvSpPr/>
          <p:nvPr/>
        </p:nvSpPr>
        <p:spPr>
          <a:xfrm>
            <a:off x="2997200" y="5102225"/>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6,5</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40" name="椭圆 39"/>
          <p:cNvSpPr/>
          <p:nvPr/>
        </p:nvSpPr>
        <p:spPr>
          <a:xfrm>
            <a:off x="3497263" y="5102225"/>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41" name="椭圆 40"/>
          <p:cNvSpPr/>
          <p:nvPr/>
        </p:nvSpPr>
        <p:spPr>
          <a:xfrm>
            <a:off x="3171825" y="4173538"/>
            <a:ext cx="576263"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42" name="直接连接符 41"/>
          <p:cNvCxnSpPr>
            <a:stCxn id="41" idx="4"/>
            <a:endCxn id="39" idx="0"/>
          </p:cNvCxnSpPr>
          <p:nvPr/>
        </p:nvCxnSpPr>
        <p:spPr>
          <a:xfrm rot="5400000">
            <a:off x="3114675" y="4757738"/>
            <a:ext cx="461963" cy="227013"/>
          </a:xfrm>
          <a:prstGeom prst="line">
            <a:avLst/>
          </a:prstGeom>
          <a:ln w="12700"/>
        </p:spPr>
        <p:style>
          <a:lnRef idx="2">
            <a:schemeClr val="dk1"/>
          </a:lnRef>
          <a:fillRef idx="0">
            <a:schemeClr val="dk1"/>
          </a:fillRef>
          <a:effectRef idx="1">
            <a:schemeClr val="dk1"/>
          </a:effectRef>
          <a:fontRef idx="minor">
            <a:schemeClr val="tx1"/>
          </a:fontRef>
        </p:style>
      </p:cxnSp>
      <p:cxnSp>
        <p:nvCxnSpPr>
          <p:cNvPr id="43" name="直接连接符 42"/>
          <p:cNvCxnSpPr>
            <a:stCxn id="41" idx="4"/>
            <a:endCxn id="40" idx="0"/>
          </p:cNvCxnSpPr>
          <p:nvPr/>
        </p:nvCxnSpPr>
        <p:spPr>
          <a:xfrm rot="16200000" flipH="1">
            <a:off x="3364706" y="4734719"/>
            <a:ext cx="461963" cy="273050"/>
          </a:xfrm>
          <a:prstGeom prst="line">
            <a:avLst/>
          </a:prstGeom>
          <a:ln w="12700"/>
        </p:spPr>
        <p:style>
          <a:lnRef idx="2">
            <a:schemeClr val="dk1"/>
          </a:lnRef>
          <a:fillRef idx="0">
            <a:schemeClr val="dk1"/>
          </a:fillRef>
          <a:effectRef idx="1">
            <a:schemeClr val="dk1"/>
          </a:effectRef>
          <a:fontRef idx="minor">
            <a:schemeClr val="tx1"/>
          </a:fontRef>
        </p:style>
      </p:cxnSp>
      <p:sp>
        <p:nvSpPr>
          <p:cNvPr id="102408" name="TextBox 37"/>
          <p:cNvSpPr txBox="1"/>
          <p:nvPr/>
        </p:nvSpPr>
        <p:spPr>
          <a:xfrm>
            <a:off x="3167063" y="477996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09" name="TextBox 38"/>
          <p:cNvSpPr txBox="1"/>
          <p:nvPr/>
        </p:nvSpPr>
        <p:spPr>
          <a:xfrm>
            <a:off x="3676650" y="477996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46" name="椭圆 45"/>
          <p:cNvSpPr/>
          <p:nvPr/>
        </p:nvSpPr>
        <p:spPr>
          <a:xfrm>
            <a:off x="2640013" y="2990850"/>
            <a:ext cx="576263" cy="468313"/>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47" name="直接连接符 46"/>
          <p:cNvCxnSpPr>
            <a:stCxn id="46" idx="4"/>
            <a:endCxn id="38" idx="0"/>
          </p:cNvCxnSpPr>
          <p:nvPr/>
        </p:nvCxnSpPr>
        <p:spPr>
          <a:xfrm rot="5400000">
            <a:off x="2339181" y="3583781"/>
            <a:ext cx="714375" cy="465138"/>
          </a:xfrm>
          <a:prstGeom prst="line">
            <a:avLst/>
          </a:prstGeom>
          <a:ln w="12700"/>
        </p:spPr>
        <p:style>
          <a:lnRef idx="2">
            <a:schemeClr val="dk1"/>
          </a:lnRef>
          <a:fillRef idx="0">
            <a:schemeClr val="dk1"/>
          </a:fillRef>
          <a:effectRef idx="1">
            <a:schemeClr val="dk1"/>
          </a:effectRef>
          <a:fontRef idx="minor">
            <a:schemeClr val="tx1"/>
          </a:fontRef>
        </p:style>
      </p:cxnSp>
      <p:cxnSp>
        <p:nvCxnSpPr>
          <p:cNvPr id="48" name="直接连接符 47"/>
          <p:cNvCxnSpPr>
            <a:stCxn id="46" idx="4"/>
            <a:endCxn id="41" idx="0"/>
          </p:cNvCxnSpPr>
          <p:nvPr/>
        </p:nvCxnSpPr>
        <p:spPr>
          <a:xfrm rot="16200000" flipH="1">
            <a:off x="2836863" y="3551238"/>
            <a:ext cx="714375" cy="530225"/>
          </a:xfrm>
          <a:prstGeom prst="line">
            <a:avLst/>
          </a:prstGeom>
          <a:ln w="12700"/>
        </p:spPr>
        <p:style>
          <a:lnRef idx="2">
            <a:schemeClr val="dk1"/>
          </a:lnRef>
          <a:fillRef idx="0">
            <a:schemeClr val="dk1"/>
          </a:fillRef>
          <a:effectRef idx="1">
            <a:schemeClr val="dk1"/>
          </a:effectRef>
          <a:fontRef idx="minor">
            <a:schemeClr val="tx1"/>
          </a:fontRef>
        </p:style>
      </p:cxnSp>
      <p:sp>
        <p:nvSpPr>
          <p:cNvPr id="49" name="椭圆 48"/>
          <p:cNvSpPr/>
          <p:nvPr/>
        </p:nvSpPr>
        <p:spPr>
          <a:xfrm>
            <a:off x="1714500" y="2101850"/>
            <a:ext cx="576263"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50" name="直接连接符 49"/>
          <p:cNvCxnSpPr>
            <a:stCxn id="49" idx="4"/>
            <a:endCxn id="37" idx="7"/>
          </p:cNvCxnSpPr>
          <p:nvPr/>
        </p:nvCxnSpPr>
        <p:spPr>
          <a:xfrm rot="5400000">
            <a:off x="1322388" y="2379663"/>
            <a:ext cx="490538" cy="868363"/>
          </a:xfrm>
          <a:prstGeom prst="line">
            <a:avLst/>
          </a:prstGeom>
          <a:ln w="12700"/>
        </p:spPr>
        <p:style>
          <a:lnRef idx="2">
            <a:schemeClr val="dk1"/>
          </a:lnRef>
          <a:fillRef idx="0">
            <a:schemeClr val="dk1"/>
          </a:fillRef>
          <a:effectRef idx="1">
            <a:schemeClr val="dk1"/>
          </a:effectRef>
          <a:fontRef idx="minor">
            <a:schemeClr val="tx1"/>
          </a:fontRef>
        </p:style>
      </p:cxnSp>
      <p:cxnSp>
        <p:nvCxnSpPr>
          <p:cNvPr id="51" name="直接连接符 50"/>
          <p:cNvCxnSpPr>
            <a:stCxn id="49" idx="4"/>
            <a:endCxn id="46" idx="1"/>
          </p:cNvCxnSpPr>
          <p:nvPr/>
        </p:nvCxnSpPr>
        <p:spPr>
          <a:xfrm rot="16200000" flipH="1">
            <a:off x="2118519" y="2451894"/>
            <a:ext cx="490538" cy="723900"/>
          </a:xfrm>
          <a:prstGeom prst="line">
            <a:avLst/>
          </a:prstGeom>
          <a:ln w="12700"/>
        </p:spPr>
        <p:style>
          <a:lnRef idx="2">
            <a:schemeClr val="dk1"/>
          </a:lnRef>
          <a:fillRef idx="0">
            <a:schemeClr val="dk1"/>
          </a:fillRef>
          <a:effectRef idx="1">
            <a:schemeClr val="dk1"/>
          </a:effectRef>
          <a:fontRef idx="minor">
            <a:schemeClr val="tx1"/>
          </a:fontRef>
        </p:style>
      </p:cxnSp>
      <p:sp>
        <p:nvSpPr>
          <p:cNvPr id="102416" name="TextBox 51"/>
          <p:cNvSpPr txBox="1"/>
          <p:nvPr/>
        </p:nvSpPr>
        <p:spPr>
          <a:xfrm>
            <a:off x="2566988" y="3673475"/>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17" name="TextBox 52"/>
          <p:cNvSpPr txBox="1"/>
          <p:nvPr/>
        </p:nvSpPr>
        <p:spPr>
          <a:xfrm>
            <a:off x="3286125" y="3673475"/>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102418" name="TextBox 53"/>
          <p:cNvSpPr txBox="1"/>
          <p:nvPr/>
        </p:nvSpPr>
        <p:spPr>
          <a:xfrm>
            <a:off x="1423988" y="260191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19" name="TextBox 54"/>
          <p:cNvSpPr txBox="1"/>
          <p:nvPr/>
        </p:nvSpPr>
        <p:spPr>
          <a:xfrm>
            <a:off x="2428875" y="260191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56" name="椭圆 55"/>
          <p:cNvSpPr/>
          <p:nvPr/>
        </p:nvSpPr>
        <p:spPr>
          <a:xfrm>
            <a:off x="4071938" y="5102225"/>
            <a:ext cx="468313" cy="39528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6,8</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57" name="椭圆 56"/>
          <p:cNvSpPr/>
          <p:nvPr/>
        </p:nvSpPr>
        <p:spPr>
          <a:xfrm>
            <a:off x="4579938" y="5102225"/>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5,7</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58" name="椭圆 57"/>
          <p:cNvSpPr/>
          <p:nvPr/>
        </p:nvSpPr>
        <p:spPr>
          <a:xfrm>
            <a:off x="4294188" y="4173538"/>
            <a:ext cx="576263"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5,7</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59" name="直接连接符 58"/>
          <p:cNvCxnSpPr>
            <a:stCxn id="58" idx="4"/>
            <a:endCxn id="56" idx="0"/>
          </p:cNvCxnSpPr>
          <p:nvPr/>
        </p:nvCxnSpPr>
        <p:spPr>
          <a:xfrm rot="5400000">
            <a:off x="4213225" y="4732338"/>
            <a:ext cx="461963" cy="277813"/>
          </a:xfrm>
          <a:prstGeom prst="line">
            <a:avLst/>
          </a:prstGeom>
          <a:ln w="12700"/>
        </p:spPr>
        <p:style>
          <a:lnRef idx="2">
            <a:schemeClr val="dk1"/>
          </a:lnRef>
          <a:fillRef idx="0">
            <a:schemeClr val="dk1"/>
          </a:fillRef>
          <a:effectRef idx="1">
            <a:schemeClr val="dk1"/>
          </a:effectRef>
          <a:fontRef idx="minor">
            <a:schemeClr val="tx1"/>
          </a:fontRef>
        </p:style>
      </p:cxnSp>
      <p:cxnSp>
        <p:nvCxnSpPr>
          <p:cNvPr id="60" name="直接连接符 59"/>
          <p:cNvCxnSpPr>
            <a:stCxn id="58" idx="4"/>
            <a:endCxn id="57" idx="0"/>
          </p:cNvCxnSpPr>
          <p:nvPr/>
        </p:nvCxnSpPr>
        <p:spPr>
          <a:xfrm rot="16200000" flipH="1">
            <a:off x="4468019" y="4755356"/>
            <a:ext cx="461963" cy="231775"/>
          </a:xfrm>
          <a:prstGeom prst="line">
            <a:avLst/>
          </a:prstGeom>
          <a:ln w="12700"/>
        </p:spPr>
        <p:style>
          <a:lnRef idx="2">
            <a:schemeClr val="dk1"/>
          </a:lnRef>
          <a:fillRef idx="0">
            <a:schemeClr val="dk1"/>
          </a:fillRef>
          <a:effectRef idx="1">
            <a:schemeClr val="dk1"/>
          </a:effectRef>
          <a:fontRef idx="minor">
            <a:schemeClr val="tx1"/>
          </a:fontRef>
        </p:style>
      </p:cxnSp>
      <p:sp>
        <p:nvSpPr>
          <p:cNvPr id="102425" name="TextBox 60"/>
          <p:cNvSpPr txBox="1"/>
          <p:nvPr/>
        </p:nvSpPr>
        <p:spPr>
          <a:xfrm>
            <a:off x="4291013" y="477996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26" name="TextBox 61"/>
          <p:cNvSpPr txBox="1"/>
          <p:nvPr/>
        </p:nvSpPr>
        <p:spPr>
          <a:xfrm>
            <a:off x="4794250" y="477996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63" name="椭圆 62"/>
          <p:cNvSpPr/>
          <p:nvPr/>
        </p:nvSpPr>
        <p:spPr>
          <a:xfrm>
            <a:off x="5080000" y="5102225"/>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4,5</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64" name="椭圆 63"/>
          <p:cNvSpPr/>
          <p:nvPr/>
        </p:nvSpPr>
        <p:spPr>
          <a:xfrm>
            <a:off x="5580063" y="5102225"/>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3,4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65" name="椭圆 64"/>
          <p:cNvSpPr/>
          <p:nvPr/>
        </p:nvSpPr>
        <p:spPr>
          <a:xfrm>
            <a:off x="5222875" y="4173538"/>
            <a:ext cx="576263"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3,4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66" name="直接连接符 65"/>
          <p:cNvCxnSpPr>
            <a:stCxn id="65" idx="4"/>
            <a:endCxn id="63" idx="0"/>
          </p:cNvCxnSpPr>
          <p:nvPr/>
        </p:nvCxnSpPr>
        <p:spPr>
          <a:xfrm rot="5400000">
            <a:off x="5182394" y="4772819"/>
            <a:ext cx="461963" cy="196850"/>
          </a:xfrm>
          <a:prstGeom prst="line">
            <a:avLst/>
          </a:prstGeom>
          <a:ln w="12700"/>
        </p:spPr>
        <p:style>
          <a:lnRef idx="2">
            <a:schemeClr val="dk1"/>
          </a:lnRef>
          <a:fillRef idx="0">
            <a:schemeClr val="dk1"/>
          </a:fillRef>
          <a:effectRef idx="1">
            <a:schemeClr val="dk1"/>
          </a:effectRef>
          <a:fontRef idx="minor">
            <a:schemeClr val="tx1"/>
          </a:fontRef>
        </p:style>
      </p:cxnSp>
      <p:cxnSp>
        <p:nvCxnSpPr>
          <p:cNvPr id="67" name="直接连接符 66"/>
          <p:cNvCxnSpPr>
            <a:stCxn id="65" idx="4"/>
            <a:endCxn id="64" idx="0"/>
          </p:cNvCxnSpPr>
          <p:nvPr/>
        </p:nvCxnSpPr>
        <p:spPr>
          <a:xfrm rot="16200000" flipH="1">
            <a:off x="5432425" y="4719638"/>
            <a:ext cx="461963" cy="303213"/>
          </a:xfrm>
          <a:prstGeom prst="line">
            <a:avLst/>
          </a:prstGeom>
          <a:ln w="12700"/>
        </p:spPr>
        <p:style>
          <a:lnRef idx="2">
            <a:schemeClr val="dk1"/>
          </a:lnRef>
          <a:fillRef idx="0">
            <a:schemeClr val="dk1"/>
          </a:fillRef>
          <a:effectRef idx="1">
            <a:schemeClr val="dk1"/>
          </a:effectRef>
          <a:fontRef idx="minor">
            <a:schemeClr val="tx1"/>
          </a:fontRef>
        </p:style>
      </p:cxnSp>
      <p:sp>
        <p:nvSpPr>
          <p:cNvPr id="102432" name="TextBox 67"/>
          <p:cNvSpPr txBox="1"/>
          <p:nvPr/>
        </p:nvSpPr>
        <p:spPr>
          <a:xfrm>
            <a:off x="5264150" y="477996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33" name="TextBox 68"/>
          <p:cNvSpPr txBox="1"/>
          <p:nvPr/>
        </p:nvSpPr>
        <p:spPr>
          <a:xfrm>
            <a:off x="5770563" y="477996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70" name="椭圆 69"/>
          <p:cNvSpPr/>
          <p:nvPr/>
        </p:nvSpPr>
        <p:spPr>
          <a:xfrm>
            <a:off x="4794250" y="2990850"/>
            <a:ext cx="576263" cy="468313"/>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3,4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71" name="直接连接符 70"/>
          <p:cNvCxnSpPr>
            <a:stCxn id="70" idx="4"/>
            <a:endCxn id="58" idx="0"/>
          </p:cNvCxnSpPr>
          <p:nvPr/>
        </p:nvCxnSpPr>
        <p:spPr>
          <a:xfrm rot="5400000">
            <a:off x="4475956" y="3566319"/>
            <a:ext cx="714375" cy="500063"/>
          </a:xfrm>
          <a:prstGeom prst="line">
            <a:avLst/>
          </a:prstGeom>
          <a:ln w="12700"/>
        </p:spPr>
        <p:style>
          <a:lnRef idx="2">
            <a:schemeClr val="dk1"/>
          </a:lnRef>
          <a:fillRef idx="0">
            <a:schemeClr val="dk1"/>
          </a:fillRef>
          <a:effectRef idx="1">
            <a:schemeClr val="dk1"/>
          </a:effectRef>
          <a:fontRef idx="minor">
            <a:schemeClr val="tx1"/>
          </a:fontRef>
        </p:style>
      </p:cxnSp>
      <p:cxnSp>
        <p:nvCxnSpPr>
          <p:cNvPr id="72" name="直接连接符 71"/>
          <p:cNvCxnSpPr>
            <a:stCxn id="70" idx="4"/>
            <a:endCxn id="65" idx="0"/>
          </p:cNvCxnSpPr>
          <p:nvPr/>
        </p:nvCxnSpPr>
        <p:spPr>
          <a:xfrm rot="16200000" flipH="1">
            <a:off x="4940300" y="3602038"/>
            <a:ext cx="714375" cy="428625"/>
          </a:xfrm>
          <a:prstGeom prst="line">
            <a:avLst/>
          </a:prstGeom>
          <a:ln w="12700"/>
        </p:spPr>
        <p:style>
          <a:lnRef idx="2">
            <a:schemeClr val="dk1"/>
          </a:lnRef>
          <a:fillRef idx="0">
            <a:schemeClr val="dk1"/>
          </a:fillRef>
          <a:effectRef idx="1">
            <a:schemeClr val="dk1"/>
          </a:effectRef>
          <a:fontRef idx="minor">
            <a:schemeClr val="tx1"/>
          </a:fontRef>
        </p:style>
      </p:cxnSp>
      <p:sp>
        <p:nvSpPr>
          <p:cNvPr id="73" name="椭圆 72"/>
          <p:cNvSpPr/>
          <p:nvPr/>
        </p:nvSpPr>
        <p:spPr>
          <a:xfrm>
            <a:off x="6105525" y="5102225"/>
            <a:ext cx="466725"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3,4</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74" name="椭圆 73"/>
          <p:cNvSpPr/>
          <p:nvPr/>
        </p:nvSpPr>
        <p:spPr>
          <a:xfrm>
            <a:off x="6610350" y="5102225"/>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2,3</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75" name="椭圆 74"/>
          <p:cNvSpPr/>
          <p:nvPr/>
        </p:nvSpPr>
        <p:spPr>
          <a:xfrm>
            <a:off x="6327775" y="4173538"/>
            <a:ext cx="576263"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2,3</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76" name="直接连接符 75"/>
          <p:cNvCxnSpPr>
            <a:stCxn id="75" idx="4"/>
            <a:endCxn id="73" idx="0"/>
          </p:cNvCxnSpPr>
          <p:nvPr/>
        </p:nvCxnSpPr>
        <p:spPr>
          <a:xfrm rot="5400000">
            <a:off x="6246813" y="4732338"/>
            <a:ext cx="461963" cy="277813"/>
          </a:xfrm>
          <a:prstGeom prst="line">
            <a:avLst/>
          </a:prstGeom>
          <a:ln w="12700"/>
        </p:spPr>
        <p:style>
          <a:lnRef idx="2">
            <a:schemeClr val="dk1"/>
          </a:lnRef>
          <a:fillRef idx="0">
            <a:schemeClr val="dk1"/>
          </a:fillRef>
          <a:effectRef idx="1">
            <a:schemeClr val="dk1"/>
          </a:effectRef>
          <a:fontRef idx="minor">
            <a:schemeClr val="tx1"/>
          </a:fontRef>
        </p:style>
      </p:cxnSp>
      <p:cxnSp>
        <p:nvCxnSpPr>
          <p:cNvPr id="77" name="直接连接符 76"/>
          <p:cNvCxnSpPr>
            <a:stCxn id="75" idx="4"/>
            <a:endCxn id="74" idx="0"/>
          </p:cNvCxnSpPr>
          <p:nvPr/>
        </p:nvCxnSpPr>
        <p:spPr>
          <a:xfrm rot="16200000" flipH="1">
            <a:off x="6500019" y="4756944"/>
            <a:ext cx="461963" cy="228600"/>
          </a:xfrm>
          <a:prstGeom prst="line">
            <a:avLst/>
          </a:prstGeom>
          <a:ln w="12700"/>
        </p:spPr>
        <p:style>
          <a:lnRef idx="2">
            <a:schemeClr val="dk1"/>
          </a:lnRef>
          <a:fillRef idx="0">
            <a:schemeClr val="dk1"/>
          </a:fillRef>
          <a:effectRef idx="1">
            <a:schemeClr val="dk1"/>
          </a:effectRef>
          <a:fontRef idx="minor">
            <a:schemeClr val="tx1"/>
          </a:fontRef>
        </p:style>
      </p:cxnSp>
      <p:sp>
        <p:nvSpPr>
          <p:cNvPr id="102442" name="TextBox 77"/>
          <p:cNvSpPr txBox="1"/>
          <p:nvPr/>
        </p:nvSpPr>
        <p:spPr>
          <a:xfrm>
            <a:off x="6323013" y="477996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43" name="TextBox 78"/>
          <p:cNvSpPr txBox="1"/>
          <p:nvPr/>
        </p:nvSpPr>
        <p:spPr>
          <a:xfrm>
            <a:off x="6778625" y="4756150"/>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80" name="椭圆 79"/>
          <p:cNvSpPr/>
          <p:nvPr/>
        </p:nvSpPr>
        <p:spPr>
          <a:xfrm>
            <a:off x="7150100" y="5102225"/>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1,1</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81" name="椭圆 80"/>
          <p:cNvSpPr/>
          <p:nvPr/>
        </p:nvSpPr>
        <p:spPr>
          <a:xfrm>
            <a:off x="7650163" y="5102225"/>
            <a:ext cx="468313" cy="39528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82" name="椭圆 81"/>
          <p:cNvSpPr/>
          <p:nvPr/>
        </p:nvSpPr>
        <p:spPr>
          <a:xfrm>
            <a:off x="7324725" y="4173538"/>
            <a:ext cx="574675"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83" name="直接连接符 82"/>
          <p:cNvCxnSpPr>
            <a:stCxn id="82" idx="4"/>
            <a:endCxn id="80" idx="0"/>
          </p:cNvCxnSpPr>
          <p:nvPr/>
        </p:nvCxnSpPr>
        <p:spPr>
          <a:xfrm rot="5400000">
            <a:off x="7267575" y="4757738"/>
            <a:ext cx="461963" cy="227013"/>
          </a:xfrm>
          <a:prstGeom prst="line">
            <a:avLst/>
          </a:prstGeom>
          <a:ln w="12700"/>
        </p:spPr>
        <p:style>
          <a:lnRef idx="2">
            <a:schemeClr val="dk1"/>
          </a:lnRef>
          <a:fillRef idx="0">
            <a:schemeClr val="dk1"/>
          </a:fillRef>
          <a:effectRef idx="1">
            <a:schemeClr val="dk1"/>
          </a:effectRef>
          <a:fontRef idx="minor">
            <a:schemeClr val="tx1"/>
          </a:fontRef>
        </p:style>
      </p:cxnSp>
      <p:cxnSp>
        <p:nvCxnSpPr>
          <p:cNvPr id="84" name="直接连接符 83"/>
          <p:cNvCxnSpPr>
            <a:stCxn id="82" idx="4"/>
            <a:endCxn id="81" idx="0"/>
          </p:cNvCxnSpPr>
          <p:nvPr/>
        </p:nvCxnSpPr>
        <p:spPr>
          <a:xfrm rot="16200000" flipH="1">
            <a:off x="7517606" y="4734719"/>
            <a:ext cx="461963" cy="273050"/>
          </a:xfrm>
          <a:prstGeom prst="line">
            <a:avLst/>
          </a:prstGeom>
          <a:ln w="12700"/>
        </p:spPr>
        <p:style>
          <a:lnRef idx="2">
            <a:schemeClr val="dk1"/>
          </a:lnRef>
          <a:fillRef idx="0">
            <a:schemeClr val="dk1"/>
          </a:fillRef>
          <a:effectRef idx="1">
            <a:schemeClr val="dk1"/>
          </a:effectRef>
          <a:fontRef idx="minor">
            <a:schemeClr val="tx1"/>
          </a:fontRef>
        </p:style>
      </p:cxnSp>
      <p:sp>
        <p:nvSpPr>
          <p:cNvPr id="102449" name="TextBox 84"/>
          <p:cNvSpPr txBox="1"/>
          <p:nvPr/>
        </p:nvSpPr>
        <p:spPr>
          <a:xfrm>
            <a:off x="7319963" y="477996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50" name="TextBox 85"/>
          <p:cNvSpPr txBox="1"/>
          <p:nvPr/>
        </p:nvSpPr>
        <p:spPr>
          <a:xfrm>
            <a:off x="7829550" y="477996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87" name="椭圆 86"/>
          <p:cNvSpPr/>
          <p:nvPr/>
        </p:nvSpPr>
        <p:spPr>
          <a:xfrm>
            <a:off x="6792913" y="2990850"/>
            <a:ext cx="576263" cy="468313"/>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88" name="直接连接符 87"/>
          <p:cNvCxnSpPr>
            <a:stCxn id="87" idx="4"/>
            <a:endCxn id="75" idx="0"/>
          </p:cNvCxnSpPr>
          <p:nvPr/>
        </p:nvCxnSpPr>
        <p:spPr>
          <a:xfrm rot="5400000">
            <a:off x="6492081" y="3583781"/>
            <a:ext cx="714375" cy="465138"/>
          </a:xfrm>
          <a:prstGeom prst="line">
            <a:avLst/>
          </a:prstGeom>
          <a:ln w="12700"/>
        </p:spPr>
        <p:style>
          <a:lnRef idx="2">
            <a:schemeClr val="dk1"/>
          </a:lnRef>
          <a:fillRef idx="0">
            <a:schemeClr val="dk1"/>
          </a:fillRef>
          <a:effectRef idx="1">
            <a:schemeClr val="dk1"/>
          </a:effectRef>
          <a:fontRef idx="minor">
            <a:schemeClr val="tx1"/>
          </a:fontRef>
        </p:style>
      </p:cxnSp>
      <p:cxnSp>
        <p:nvCxnSpPr>
          <p:cNvPr id="89" name="直接连接符 88"/>
          <p:cNvCxnSpPr>
            <a:stCxn id="87" idx="4"/>
            <a:endCxn id="82" idx="0"/>
          </p:cNvCxnSpPr>
          <p:nvPr/>
        </p:nvCxnSpPr>
        <p:spPr>
          <a:xfrm rot="16200000" flipH="1">
            <a:off x="6989763" y="3551238"/>
            <a:ext cx="714375" cy="530225"/>
          </a:xfrm>
          <a:prstGeom prst="line">
            <a:avLst/>
          </a:prstGeom>
          <a:ln w="12700"/>
        </p:spPr>
        <p:style>
          <a:lnRef idx="2">
            <a:schemeClr val="dk1"/>
          </a:lnRef>
          <a:fillRef idx="0">
            <a:schemeClr val="dk1"/>
          </a:fillRef>
          <a:effectRef idx="1">
            <a:schemeClr val="dk1"/>
          </a:effectRef>
          <a:fontRef idx="minor">
            <a:schemeClr val="tx1"/>
          </a:fontRef>
        </p:style>
      </p:cxnSp>
      <p:sp>
        <p:nvSpPr>
          <p:cNvPr id="90" name="椭圆 89"/>
          <p:cNvSpPr/>
          <p:nvPr/>
        </p:nvSpPr>
        <p:spPr>
          <a:xfrm>
            <a:off x="5865813" y="2101850"/>
            <a:ext cx="576263"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91" name="直接连接符 90"/>
          <p:cNvCxnSpPr>
            <a:stCxn id="90" idx="4"/>
            <a:endCxn id="70" idx="7"/>
          </p:cNvCxnSpPr>
          <p:nvPr/>
        </p:nvCxnSpPr>
        <p:spPr>
          <a:xfrm rot="5400000">
            <a:off x="5475288" y="2379663"/>
            <a:ext cx="490538" cy="868363"/>
          </a:xfrm>
          <a:prstGeom prst="line">
            <a:avLst/>
          </a:prstGeom>
          <a:ln w="12700"/>
        </p:spPr>
        <p:style>
          <a:lnRef idx="2">
            <a:schemeClr val="dk1"/>
          </a:lnRef>
          <a:fillRef idx="0">
            <a:schemeClr val="dk1"/>
          </a:fillRef>
          <a:effectRef idx="1">
            <a:schemeClr val="dk1"/>
          </a:effectRef>
          <a:fontRef idx="minor">
            <a:schemeClr val="tx1"/>
          </a:fontRef>
        </p:style>
      </p:cxnSp>
      <p:cxnSp>
        <p:nvCxnSpPr>
          <p:cNvPr id="92" name="直接连接符 91"/>
          <p:cNvCxnSpPr>
            <a:stCxn id="90" idx="4"/>
            <a:endCxn id="87" idx="1"/>
          </p:cNvCxnSpPr>
          <p:nvPr/>
        </p:nvCxnSpPr>
        <p:spPr>
          <a:xfrm rot="16200000" flipH="1">
            <a:off x="6270625" y="2452688"/>
            <a:ext cx="490538" cy="722313"/>
          </a:xfrm>
          <a:prstGeom prst="line">
            <a:avLst/>
          </a:prstGeom>
          <a:ln w="12700"/>
        </p:spPr>
        <p:style>
          <a:lnRef idx="2">
            <a:schemeClr val="dk1"/>
          </a:lnRef>
          <a:fillRef idx="0">
            <a:schemeClr val="dk1"/>
          </a:fillRef>
          <a:effectRef idx="1">
            <a:schemeClr val="dk1"/>
          </a:effectRef>
          <a:fontRef idx="minor">
            <a:schemeClr val="tx1"/>
          </a:fontRef>
        </p:style>
      </p:cxnSp>
      <p:sp>
        <p:nvSpPr>
          <p:cNvPr id="102457" name="TextBox 92"/>
          <p:cNvSpPr txBox="1"/>
          <p:nvPr/>
        </p:nvSpPr>
        <p:spPr>
          <a:xfrm>
            <a:off x="4651375" y="3673475"/>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58" name="TextBox 93"/>
          <p:cNvSpPr txBox="1"/>
          <p:nvPr/>
        </p:nvSpPr>
        <p:spPr>
          <a:xfrm>
            <a:off x="5437188" y="3673475"/>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102459" name="TextBox 94"/>
          <p:cNvSpPr txBox="1"/>
          <p:nvPr/>
        </p:nvSpPr>
        <p:spPr>
          <a:xfrm>
            <a:off x="6719888" y="3673475"/>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60" name="TextBox 95"/>
          <p:cNvSpPr txBox="1"/>
          <p:nvPr/>
        </p:nvSpPr>
        <p:spPr>
          <a:xfrm>
            <a:off x="7437438" y="3673475"/>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102461" name="TextBox 96"/>
          <p:cNvSpPr txBox="1"/>
          <p:nvPr/>
        </p:nvSpPr>
        <p:spPr>
          <a:xfrm>
            <a:off x="5576888" y="260191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62" name="TextBox 97"/>
          <p:cNvSpPr txBox="1"/>
          <p:nvPr/>
        </p:nvSpPr>
        <p:spPr>
          <a:xfrm>
            <a:off x="6580188" y="2601913"/>
            <a:ext cx="142875" cy="214312"/>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sp>
        <p:nvSpPr>
          <p:cNvPr id="99" name="椭圆 98"/>
          <p:cNvSpPr/>
          <p:nvPr/>
        </p:nvSpPr>
        <p:spPr>
          <a:xfrm>
            <a:off x="3709988" y="601663"/>
            <a:ext cx="576263" cy="466725"/>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1"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00" name="直接连接符 99"/>
          <p:cNvCxnSpPr>
            <a:stCxn id="99" idx="4"/>
            <a:endCxn id="49" idx="7"/>
          </p:cNvCxnSpPr>
          <p:nvPr/>
        </p:nvCxnSpPr>
        <p:spPr>
          <a:xfrm rot="5400000">
            <a:off x="2550319" y="723106"/>
            <a:ext cx="1101725" cy="1792288"/>
          </a:xfrm>
          <a:prstGeom prst="line">
            <a:avLst/>
          </a:prstGeom>
          <a:ln w="12700"/>
        </p:spPr>
        <p:style>
          <a:lnRef idx="2">
            <a:schemeClr val="dk1"/>
          </a:lnRef>
          <a:fillRef idx="0">
            <a:schemeClr val="dk1"/>
          </a:fillRef>
          <a:effectRef idx="1">
            <a:schemeClr val="dk1"/>
          </a:effectRef>
          <a:fontRef idx="minor">
            <a:schemeClr val="tx1"/>
          </a:fontRef>
        </p:style>
      </p:cxnSp>
      <p:cxnSp>
        <p:nvCxnSpPr>
          <p:cNvPr id="101" name="直接连接符 100"/>
          <p:cNvCxnSpPr>
            <a:stCxn id="99" idx="4"/>
            <a:endCxn id="90" idx="1"/>
          </p:cNvCxnSpPr>
          <p:nvPr/>
        </p:nvCxnSpPr>
        <p:spPr>
          <a:xfrm rot="16200000" flipH="1">
            <a:off x="4423569" y="642144"/>
            <a:ext cx="1101725" cy="1954213"/>
          </a:xfrm>
          <a:prstGeom prst="line">
            <a:avLst/>
          </a:prstGeom>
          <a:ln w="12700"/>
        </p:spPr>
        <p:style>
          <a:lnRef idx="2">
            <a:schemeClr val="dk1"/>
          </a:lnRef>
          <a:fillRef idx="0">
            <a:schemeClr val="dk1"/>
          </a:fillRef>
          <a:effectRef idx="1">
            <a:schemeClr val="dk1"/>
          </a:effectRef>
          <a:fontRef idx="minor">
            <a:schemeClr val="tx1"/>
          </a:fontRef>
        </p:style>
      </p:cxnSp>
      <p:sp>
        <p:nvSpPr>
          <p:cNvPr id="102466" name="TextBox 105"/>
          <p:cNvSpPr txBox="1"/>
          <p:nvPr/>
        </p:nvSpPr>
        <p:spPr>
          <a:xfrm>
            <a:off x="2709863" y="1530350"/>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1</a:t>
            </a:r>
            <a:endParaRPr lang="zh-CN" altLang="en-US" sz="1400" b="1" dirty="0">
              <a:solidFill>
                <a:srgbClr val="0033CC"/>
              </a:solidFill>
              <a:latin typeface="Consolas" pitchFamily="49" charset="0"/>
              <a:ea typeface="仿宋" pitchFamily="49" charset="-122"/>
            </a:endParaRPr>
          </a:p>
        </p:txBody>
      </p:sp>
      <p:sp>
        <p:nvSpPr>
          <p:cNvPr id="102467" name="TextBox 106"/>
          <p:cNvSpPr txBox="1"/>
          <p:nvPr/>
        </p:nvSpPr>
        <p:spPr>
          <a:xfrm>
            <a:off x="5357813" y="1530350"/>
            <a:ext cx="142875" cy="214313"/>
          </a:xfrm>
          <a:prstGeom prst="rect">
            <a:avLst/>
          </a:prstGeom>
          <a:noFill/>
          <a:ln w="9525">
            <a:noFill/>
          </a:ln>
        </p:spPr>
        <p:txBody>
          <a:bodyPr lIns="0" tIns="0" rIns="0" bIns="0" anchor="t" anchorCtr="0">
            <a:spAutoFit/>
          </a:bodyPr>
          <a:lstStyle/>
          <a:p>
            <a:r>
              <a:rPr lang="en-US" altLang="zh-CN" sz="1400" b="1" dirty="0">
                <a:solidFill>
                  <a:srgbClr val="0033CC"/>
                </a:solidFill>
                <a:latin typeface="Consolas" pitchFamily="49" charset="0"/>
                <a:ea typeface="仿宋" pitchFamily="49" charset="-122"/>
              </a:rPr>
              <a:t>0</a:t>
            </a:r>
            <a:endParaRPr lang="zh-CN" altLang="en-US" sz="1400" b="1" dirty="0">
              <a:solidFill>
                <a:srgbClr val="0033CC"/>
              </a:solidFill>
              <a:latin typeface="Consolas" pitchFamily="49" charset="0"/>
              <a:ea typeface="仿宋" pitchFamily="49" charset="-122"/>
            </a:endParaRPr>
          </a:p>
        </p:txBody>
      </p:sp>
      <p:grpSp>
        <p:nvGrpSpPr>
          <p:cNvPr id="102468" name="组合 103"/>
          <p:cNvGrpSpPr/>
          <p:nvPr/>
        </p:nvGrpSpPr>
        <p:grpSpPr>
          <a:xfrm>
            <a:off x="5834063" y="1312863"/>
            <a:ext cx="3024187" cy="3789362"/>
            <a:chOff x="6048888" y="1212163"/>
            <a:chExt cx="3024460" cy="3788473"/>
          </a:xfrm>
        </p:grpSpPr>
        <p:sp>
          <p:nvSpPr>
            <p:cNvPr id="121" name="TextBox 104"/>
            <p:cNvSpPr txBox="1"/>
            <p:nvPr/>
          </p:nvSpPr>
          <p:spPr>
            <a:xfrm>
              <a:off x="8287465" y="1212163"/>
              <a:ext cx="785883" cy="430111"/>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x1</a:t>
              </a:r>
              <a:r>
                <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：选或不选物品</a:t>
              </a:r>
              <a:r>
                <a:rPr kumimoji="0" lang="en-US" altLang="zh-CN"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1</a:t>
              </a:r>
              <a:endPar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
          <p:nvSpPr>
            <p:cNvPr id="122" name="TextBox 110"/>
            <p:cNvSpPr txBox="1"/>
            <p:nvPr/>
          </p:nvSpPr>
          <p:spPr>
            <a:xfrm>
              <a:off x="8287465" y="2404095"/>
              <a:ext cx="785883" cy="430112"/>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x2</a:t>
              </a:r>
              <a:r>
                <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：选或不选物品</a:t>
              </a:r>
              <a:r>
                <a:rPr kumimoji="0" lang="en-US" altLang="zh-CN"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2</a:t>
              </a:r>
              <a:endPar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
          <p:nvSpPr>
            <p:cNvPr id="123" name="TextBox 111"/>
            <p:cNvSpPr txBox="1"/>
            <p:nvPr/>
          </p:nvSpPr>
          <p:spPr>
            <a:xfrm>
              <a:off x="8287465" y="3426205"/>
              <a:ext cx="785883" cy="431699"/>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x3</a:t>
              </a:r>
              <a:r>
                <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：选或不选物品</a:t>
              </a:r>
              <a:r>
                <a:rPr kumimoji="0" lang="en-US" altLang="zh-CN"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3</a:t>
              </a:r>
              <a:endPar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
          <p:nvSpPr>
            <p:cNvPr id="124" name="TextBox 112"/>
            <p:cNvSpPr txBox="1"/>
            <p:nvPr/>
          </p:nvSpPr>
          <p:spPr>
            <a:xfrm>
              <a:off x="8358909" y="4570525"/>
              <a:ext cx="714439" cy="430111"/>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x4</a:t>
              </a:r>
              <a:r>
                <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：选或不选物品</a:t>
              </a:r>
              <a:r>
                <a:rPr kumimoji="0" lang="en-US" altLang="zh-CN"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4</a:t>
              </a:r>
              <a:endParaRPr kumimoji="0" lang="zh-CN" altLang="en-US" sz="14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cxnSp>
          <p:nvCxnSpPr>
            <p:cNvPr id="125" name="直接连接符 124"/>
            <p:cNvCxnSpPr/>
            <p:nvPr/>
          </p:nvCxnSpPr>
          <p:spPr>
            <a:xfrm>
              <a:off x="6048888" y="1499433"/>
              <a:ext cx="2286206"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126" name="直接连接符 125"/>
            <p:cNvCxnSpPr/>
            <p:nvPr/>
          </p:nvCxnSpPr>
          <p:spPr>
            <a:xfrm>
              <a:off x="7204692" y="2619945"/>
              <a:ext cx="1141515"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127" name="直接连接符 126"/>
            <p:cNvCxnSpPr/>
            <p:nvPr/>
          </p:nvCxnSpPr>
          <p:spPr>
            <a:xfrm>
              <a:off x="7930245" y="3643642"/>
              <a:ext cx="500108"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128" name="直接连接符 127"/>
            <p:cNvCxnSpPr/>
            <p:nvPr/>
          </p:nvCxnSpPr>
          <p:spPr>
            <a:xfrm>
              <a:off x="8144577" y="4786374"/>
              <a:ext cx="358807"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grpSp>
      <p:grpSp>
        <p:nvGrpSpPr>
          <p:cNvPr id="102477" name="组合 104"/>
          <p:cNvGrpSpPr/>
          <p:nvPr/>
        </p:nvGrpSpPr>
        <p:grpSpPr>
          <a:xfrm>
            <a:off x="4357688" y="673100"/>
            <a:ext cx="4440237" cy="4737100"/>
            <a:chOff x="4572000" y="571480"/>
            <a:chExt cx="4441188" cy="4738218"/>
          </a:xfrm>
        </p:grpSpPr>
        <p:sp>
          <p:nvSpPr>
            <p:cNvPr id="112" name="TextBox 120"/>
            <p:cNvSpPr txBox="1"/>
            <p:nvPr/>
          </p:nvSpPr>
          <p:spPr>
            <a:xfrm>
              <a:off x="4572000" y="571480"/>
              <a:ext cx="1214697" cy="285817"/>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150" normalizeH="0" baseline="0" noProof="0">
                  <a:ln>
                    <a:noFill/>
                  </a:ln>
                  <a:solidFill>
                    <a:srgbClr val="0000FF"/>
                  </a:solidFill>
                  <a:effectLst/>
                  <a:uLnTx/>
                  <a:uFillTx/>
                  <a:latin typeface="Consolas" pitchFamily="49" charset="0"/>
                  <a:ea typeface="仿宋" pitchFamily="49" charset="-122"/>
                  <a:cs typeface="Consolas" pitchFamily="49" charset="0"/>
                </a:rPr>
                <a:t>根结点：</a:t>
              </a:r>
              <a:r>
                <a:rPr kumimoji="0" lang="en-US" altLang="zh-CN" sz="1800" b="1" i="1"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i=</a:t>
              </a:r>
              <a:r>
                <a:rPr kumimoji="0" lang="en-US" altLang="zh-CN" sz="18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rPr>
                <a:t>1</a:t>
              </a:r>
              <a:endParaRPr kumimoji="0" lang="zh-CN" altLang="en-US" sz="1800" b="1" i="0" u="none" strike="noStrike" kern="1200" cap="none" spc="-150" normalizeH="0" baseline="0" noProof="0">
                <a:ln>
                  <a:noFill/>
                </a:ln>
                <a:solidFill>
                  <a:srgbClr val="FF0000"/>
                </a:solidFill>
                <a:effectLst/>
                <a:uLnTx/>
                <a:uFillTx/>
                <a:latin typeface="Consolas" pitchFamily="49" charset="0"/>
                <a:ea typeface="仿宋" pitchFamily="49" charset="-122"/>
                <a:cs typeface="Consolas" pitchFamily="49" charset="0"/>
              </a:endParaRPr>
            </a:p>
          </p:txBody>
        </p:sp>
        <p:sp>
          <p:nvSpPr>
            <p:cNvPr id="113" name="TextBox 121"/>
            <p:cNvSpPr txBox="1"/>
            <p:nvPr/>
          </p:nvSpPr>
          <p:spPr>
            <a:xfrm>
              <a:off x="8655924" y="2033913"/>
              <a:ext cx="357264" cy="215951"/>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en-US" altLang="zh-CN"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2</a:t>
              </a:r>
              <a:endParaRPr kumimoji="0" lang="zh-CN" altLang="en-US"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endParaRPr>
            </a:p>
          </p:txBody>
        </p:sp>
        <p:sp>
          <p:nvSpPr>
            <p:cNvPr id="114" name="TextBox 122"/>
            <p:cNvSpPr txBox="1"/>
            <p:nvPr/>
          </p:nvSpPr>
          <p:spPr>
            <a:xfrm>
              <a:off x="8655924" y="2988225"/>
              <a:ext cx="357264" cy="215951"/>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en-US" altLang="zh-CN"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3</a:t>
              </a:r>
              <a:endParaRPr kumimoji="0" lang="zh-CN" altLang="en-US"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endParaRPr>
            </a:p>
          </p:txBody>
        </p:sp>
        <p:sp>
          <p:nvSpPr>
            <p:cNvPr id="115" name="TextBox 123"/>
            <p:cNvSpPr txBox="1"/>
            <p:nvPr/>
          </p:nvSpPr>
          <p:spPr>
            <a:xfrm>
              <a:off x="8655924" y="4166428"/>
              <a:ext cx="357264" cy="215951"/>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en-US" altLang="zh-CN"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4</a:t>
              </a:r>
              <a:endParaRPr kumimoji="0" lang="zh-CN" altLang="en-US"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endParaRPr>
            </a:p>
          </p:txBody>
        </p:sp>
        <p:sp>
          <p:nvSpPr>
            <p:cNvPr id="116" name="TextBox 124"/>
            <p:cNvSpPr txBox="1"/>
            <p:nvPr/>
          </p:nvSpPr>
          <p:spPr>
            <a:xfrm>
              <a:off x="8655924" y="5093747"/>
              <a:ext cx="357264" cy="215951"/>
            </a:xfrm>
            <a:prstGeom prst="rect">
              <a:avLst/>
            </a:prstGeom>
            <a:noFill/>
          </p:spPr>
          <p:txBody>
            <a:bodyPr lIns="0" tIns="0" rIns="0" bIns="0">
              <a:spAutoFit/>
            </a:bodyPr>
            <a:lstStyle>
              <a:defPPr>
                <a:defRPr lang="zh-CN"/>
              </a:defPPr>
              <a:lvl1pPr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i=</a:t>
              </a:r>
              <a:r>
                <a:rPr kumimoji="0" lang="en-US" altLang="zh-CN"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rPr>
                <a:t>5</a:t>
              </a:r>
              <a:endParaRPr kumimoji="0" lang="zh-CN" altLang="en-US" sz="1400" b="1" i="0" u="none" strike="noStrike" kern="1200" cap="none" spc="-150" normalizeH="0" baseline="0" noProof="0">
                <a:ln>
                  <a:noFill/>
                </a:ln>
                <a:solidFill>
                  <a:srgbClr val="C00000"/>
                </a:solidFill>
                <a:effectLst/>
                <a:uLnTx/>
                <a:uFillTx/>
                <a:latin typeface="Consolas" pitchFamily="49" charset="0"/>
                <a:ea typeface="仿宋" pitchFamily="49" charset="-122"/>
                <a:cs typeface="Consolas" pitchFamily="49" charset="0"/>
              </a:endParaRPr>
            </a:p>
          </p:txBody>
        </p:sp>
        <p:cxnSp>
          <p:nvCxnSpPr>
            <p:cNvPr id="117" name="直接连接符 116"/>
            <p:cNvCxnSpPr/>
            <p:nvPr/>
          </p:nvCxnSpPr>
          <p:spPr>
            <a:xfrm>
              <a:off x="6715584" y="2178409"/>
              <a:ext cx="1906995"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118" name="直接连接符 117"/>
            <p:cNvCxnSpPr/>
            <p:nvPr/>
          </p:nvCxnSpPr>
          <p:spPr>
            <a:xfrm>
              <a:off x="7563491" y="3096201"/>
              <a:ext cx="1079731"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119" name="直接连接符 118"/>
            <p:cNvCxnSpPr/>
            <p:nvPr/>
          </p:nvCxnSpPr>
          <p:spPr>
            <a:xfrm>
              <a:off x="8176397" y="4285519"/>
              <a:ext cx="503345"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120" name="直接连接符 119"/>
            <p:cNvCxnSpPr/>
            <p:nvPr/>
          </p:nvCxnSpPr>
          <p:spPr>
            <a:xfrm>
              <a:off x="8355822" y="5214426"/>
              <a:ext cx="358852"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grpSp>
      <p:grpSp>
        <p:nvGrpSpPr>
          <p:cNvPr id="102487" name="组合 105"/>
          <p:cNvGrpSpPr/>
          <p:nvPr/>
        </p:nvGrpSpPr>
        <p:grpSpPr>
          <a:xfrm>
            <a:off x="3760788" y="5497513"/>
            <a:ext cx="1071562" cy="830262"/>
            <a:chOff x="3975764" y="5396637"/>
            <a:chExt cx="1071570" cy="830587"/>
          </a:xfrm>
        </p:grpSpPr>
        <p:sp>
          <p:nvSpPr>
            <p:cNvPr id="102488" name="TextBox 129"/>
            <p:cNvSpPr txBox="1"/>
            <p:nvPr/>
          </p:nvSpPr>
          <p:spPr>
            <a:xfrm>
              <a:off x="3975764" y="5857892"/>
              <a:ext cx="1071570" cy="369332"/>
            </a:xfrm>
            <a:prstGeom prst="rect">
              <a:avLst/>
            </a:prstGeom>
            <a:noFill/>
            <a:ln w="9525">
              <a:noFill/>
            </a:ln>
          </p:spPr>
          <p:txBody>
            <a:bodyPr anchor="t" anchorCtr="0">
              <a:spAutoFit/>
            </a:bodyPr>
            <a:lstStyle/>
            <a:p>
              <a:pPr algn="ctr"/>
              <a:r>
                <a:rPr lang="zh-CN" altLang="en-US" sz="1800" b="1" dirty="0">
                  <a:solidFill>
                    <a:srgbClr val="0000FF"/>
                  </a:solidFill>
                  <a:latin typeface="Consolas" pitchFamily="49" charset="0"/>
                  <a:ea typeface="微软雅黑" charset="-122"/>
                </a:rPr>
                <a:t>最优解</a:t>
              </a:r>
            </a:p>
          </p:txBody>
        </p:sp>
        <p:cxnSp>
          <p:nvCxnSpPr>
            <p:cNvPr id="111" name="直接箭头连接符 110"/>
            <p:cNvCxnSpPr>
              <a:stCxn id="102488" idx="0"/>
              <a:endCxn id="56" idx="4"/>
            </p:cNvCxnSpPr>
            <p:nvPr/>
          </p:nvCxnSpPr>
          <p:spPr>
            <a:xfrm rot="5400000" flipH="1" flipV="1">
              <a:off x="4285239" y="5622151"/>
              <a:ext cx="460555" cy="9525"/>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grpSp>
      <p:sp>
        <p:nvSpPr>
          <p:cNvPr id="107" name="TextBox 135"/>
          <p:cNvSpPr txBox="1"/>
          <p:nvPr/>
        </p:nvSpPr>
        <p:spPr>
          <a:xfrm>
            <a:off x="285750" y="530225"/>
            <a:ext cx="2571750" cy="368300"/>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a:t>
            </a:r>
            <a:r>
              <a:rPr kumimoji="0" lang="zh-CN" altLang="en-US"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总重量</a:t>
            </a:r>
            <a:r>
              <a:rPr kumimoji="0" lang="en-US" altLang="zh-CN"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tw,</a:t>
            </a:r>
            <a:r>
              <a:rPr kumimoji="0" lang="zh-CN" altLang="en-US"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总价值</a:t>
            </a:r>
            <a:r>
              <a:rPr kumimoji="0" lang="en-US" altLang="zh-CN"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rPr>
              <a:t>tv)</a:t>
            </a:r>
            <a:endParaRPr kumimoji="0" lang="zh-CN" altLang="en-US" sz="1800" b="1" i="0" u="none" strike="noStrike" kern="1200" cap="none" spc="0" normalizeH="0" baseline="0" noProof="0">
              <a:ln>
                <a:noFill/>
              </a:ln>
              <a:solidFill>
                <a:schemeClr val="bg1"/>
              </a:solidFill>
              <a:effectLst/>
              <a:uLnTx/>
              <a:uFillTx/>
              <a:latin typeface="Consolas" pitchFamily="49" charset="0"/>
              <a:ea typeface="仿宋" pitchFamily="49" charset="-122"/>
              <a:cs typeface="Consolas" pitchFamily="49" charset="0"/>
            </a:endParaRPr>
          </a:p>
        </p:txBody>
      </p:sp>
      <p:cxnSp>
        <p:nvCxnSpPr>
          <p:cNvPr id="108" name="直接箭头连接符 107"/>
          <p:cNvCxnSpPr>
            <a:stCxn id="107" idx="2"/>
            <a:endCxn id="49" idx="1"/>
          </p:cNvCxnSpPr>
          <p:nvPr/>
        </p:nvCxnSpPr>
        <p:spPr>
          <a:xfrm rot="16200000" flipH="1">
            <a:off x="1049338" y="1420813"/>
            <a:ext cx="1271588" cy="227013"/>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pic>
        <p:nvPicPr>
          <p:cNvPr id="102492" name="table"/>
          <p:cNvPicPr>
            <a:picLocks noGrp="1"/>
          </p:cNvPicPr>
          <p:nvPr/>
        </p:nvPicPr>
        <p:blipFill>
          <a:blip r:embed="rId2"/>
          <a:stretch>
            <a:fillRect/>
          </a:stretch>
        </p:blipFill>
        <p:spPr>
          <a:xfrm>
            <a:off x="285750" y="4162425"/>
            <a:ext cx="1785938" cy="1868488"/>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Box 1"/>
          <p:cNvSpPr txBox="1"/>
          <p:nvPr/>
        </p:nvSpPr>
        <p:spPr>
          <a:xfrm>
            <a:off x="214282" y="477253"/>
            <a:ext cx="8715436" cy="5903494"/>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180000" tIns="180000" bIns="180000">
            <a:spAutoFit/>
          </a:bodyPr>
          <a:lstStyle>
            <a:defPPr>
              <a:defRPr lang="zh-CN">
                <a:solidFill>
                  <a:schemeClr val="dk1"/>
                </a:solidFill>
              </a:defRPr>
            </a:defPPr>
            <a:lvl1pPr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dk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dk1"/>
                </a:solidFill>
                <a:latin typeface="Times New Roman" panose="02020503050405090304" pitchFamily="18" charset="0"/>
                <a:ea typeface="楷体_GB2312" pitchFamily="49"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void </a:t>
            </a:r>
            <a:r>
              <a:rPr kumimoji="0" lang="en-US" altLang="zh-CN" sz="18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dfs</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i,int tw,int tv,int op[])</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if (i&gt;n)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找到一个叶子结点</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  if (tw==W &amp;&amp; tv&gt;maxv)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找到一个满足条件的更优解</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保存</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  maxv=tv;</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maxw=tw;</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for (int j=1;j&lt;=n;j++)</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x[j]=op[j];</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else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尚未找完所有物品</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  if ( tw+w[i]&lt;=W )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左孩子结点剪枝</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  op[i]=1;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选取第</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i</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个物品</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dfs</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(i+1,tw+w[i],tv+v[i],op);</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op[i]=0;				</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不选取第</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i</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个物品</a:t>
            </a:r>
            <a:r>
              <a:rPr kumimoji="0" lang="en-US"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1"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回溯</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1"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dfs</a:t>
            </a: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(i+1,tw,tv,op);</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a:t>
            </a:r>
            <a:endParaRPr kumimoji="0" lang="zh-CN" altLang="zh-CN" sz="1800" b="1"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grpSp>
        <p:nvGrpSpPr>
          <p:cNvPr id="103426" name="组合 129"/>
          <p:cNvGrpSpPr/>
          <p:nvPr/>
        </p:nvGrpSpPr>
        <p:grpSpPr>
          <a:xfrm>
            <a:off x="1709738" y="2794000"/>
            <a:ext cx="2576512" cy="1214438"/>
            <a:chOff x="1709717" y="3000372"/>
            <a:chExt cx="2576531" cy="1214446"/>
          </a:xfrm>
        </p:grpSpPr>
        <p:sp>
          <p:nvSpPr>
            <p:cNvPr id="131" name="圆角矩形 2"/>
            <p:cNvSpPr/>
            <p:nvPr/>
          </p:nvSpPr>
          <p:spPr>
            <a:xfrm>
              <a:off x="1709717" y="3714752"/>
              <a:ext cx="1357322" cy="500066"/>
            </a:xfrm>
            <a:prstGeom prst="roundRect">
              <a:avLst/>
            </a:prstGeom>
            <a:solidFill>
              <a:srgbClr val="FF0000">
                <a:alpha val="3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1pPr>
              <a:lvl2pPr marL="4572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2pPr>
              <a:lvl3pPr marL="9144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3pPr>
              <a:lvl4pPr marL="13716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4pPr>
              <a:lvl5pPr marL="1828800" algn="l" rtl="0" fontAlgn="base">
                <a:spcBef>
                  <a:spcPct val="0"/>
                </a:spcBef>
                <a:spcAft>
                  <a:spcPct val="0"/>
                </a:spcAft>
                <a:defRPr sz="2400" b="1" kern="1200">
                  <a:solidFill>
                    <a:schemeClr val="lt1"/>
                  </a:solidFill>
                  <a:latin typeface="Times New Roman" panose="02020503050405090304" pitchFamily="18" charset="0"/>
                  <a:ea typeface="楷体_GB2312" pitchFamily="49" charset="-122"/>
                  <a:cs typeface="+mn-cs"/>
                </a:defRPr>
              </a:lvl5pPr>
              <a:lvl6pPr marL="22860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6pPr>
              <a:lvl7pPr marL="27432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7pPr>
              <a:lvl8pPr marL="32004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8pPr>
              <a:lvl9pPr marL="3657600" algn="l" defTabSz="914400" rtl="0" eaLnBrk="1" latinLnBrk="0" hangingPunct="1">
                <a:defRPr sz="2400" b="1" kern="1200">
                  <a:solidFill>
                    <a:schemeClr val="lt1"/>
                  </a:solidFill>
                  <a:latin typeface="Times New Roman" panose="02020503050405090304" pitchFamily="18" charset="0"/>
                  <a:ea typeface="楷体_GB2312"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lt1"/>
                </a:solidFill>
                <a:effectLst/>
                <a:uLnTx/>
                <a:uFillTx/>
                <a:latin typeface="Times New Roman" panose="02020503050405090304" pitchFamily="18" charset="0"/>
                <a:ea typeface="楷体_GB2312" pitchFamily="49" charset="-122"/>
                <a:cs typeface="+mn-cs"/>
              </a:endParaRPr>
            </a:p>
          </p:txBody>
        </p:sp>
        <p:sp>
          <p:nvSpPr>
            <p:cNvPr id="103428" name="TextBox 3"/>
            <p:cNvSpPr txBox="1"/>
            <p:nvPr/>
          </p:nvSpPr>
          <p:spPr>
            <a:xfrm>
              <a:off x="3071802" y="3000372"/>
              <a:ext cx="1214446" cy="369332"/>
            </a:xfrm>
            <a:prstGeom prst="rect">
              <a:avLst/>
            </a:prstGeom>
            <a:noFill/>
            <a:ln w="9525">
              <a:noFill/>
            </a:ln>
          </p:spPr>
          <p:txBody>
            <a:bodyPr anchor="t" anchorCtr="0">
              <a:spAutoFit/>
            </a:bodyPr>
            <a:lstStyle/>
            <a:p>
              <a:r>
                <a:rPr lang="zh-CN" altLang="en-US" sz="1800" b="1" dirty="0">
                  <a:solidFill>
                    <a:srgbClr val="FF0000"/>
                  </a:solidFill>
                  <a:latin typeface="微软雅黑" charset="-122"/>
                  <a:ea typeface="微软雅黑" charset="-122"/>
                </a:rPr>
                <a:t>左</a:t>
              </a:r>
              <a:r>
                <a:rPr lang="zh-CN" altLang="zh-CN" sz="1800" b="1" dirty="0">
                  <a:solidFill>
                    <a:srgbClr val="FF0000"/>
                  </a:solidFill>
                  <a:latin typeface="微软雅黑" charset="-122"/>
                  <a:ea typeface="微软雅黑" charset="-122"/>
                </a:rPr>
                <a:t>剪枝</a:t>
              </a:r>
              <a:endParaRPr lang="zh-CN" altLang="en-US" sz="1800" b="1" dirty="0">
                <a:solidFill>
                  <a:srgbClr val="FF0000"/>
                </a:solidFill>
                <a:latin typeface="Times New Roman" panose="02020503050405090304" pitchFamily="18" charset="0"/>
                <a:ea typeface="微软雅黑" charset="-122"/>
              </a:endParaRPr>
            </a:p>
          </p:txBody>
        </p:sp>
        <p:cxnSp>
          <p:nvCxnSpPr>
            <p:cNvPr id="133" name="直接箭头连接符 132"/>
            <p:cNvCxnSpPr>
              <a:stCxn id="103428" idx="1"/>
              <a:endCxn id="131" idx="0"/>
            </p:cNvCxnSpPr>
            <p:nvPr/>
          </p:nvCxnSpPr>
          <p:spPr>
            <a:xfrm rot="10800000" flipV="1">
              <a:off x="2387584" y="3184523"/>
              <a:ext cx="684218" cy="5302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2"/>
          <p:cNvSpPr txBox="1">
            <a:spLocks noChangeArrowheads="1"/>
          </p:cNvSpPr>
          <p:nvPr/>
        </p:nvSpPr>
        <p:spPr bwMode="auto">
          <a:xfrm>
            <a:off x="357158" y="333039"/>
            <a:ext cx="8569325" cy="1815882"/>
          </a:xfrm>
          <a:prstGeom prst="rect">
            <a:avLst/>
          </a:prstGeom>
          <a:solidFill>
            <a:schemeClr val="accent1">
              <a:lumMod val="20000"/>
              <a:lumOff val="80000"/>
            </a:schemeClr>
          </a:solidFill>
          <a:ln w="9525">
            <a:noFill/>
            <a:miter lim="800000"/>
          </a:ln>
        </p:spPr>
        <p:txBody>
          <a:bodyPr>
            <a:spAutoFit/>
          </a:bodyPr>
          <a:lstStyle/>
          <a:p>
            <a:pPr>
              <a:lnSpc>
                <a:spcPct val="200000"/>
              </a:lnSpc>
              <a:spcBef>
                <a:spcPts val="0"/>
              </a:spcBef>
            </a:pPr>
            <a:r>
              <a:rPr lang="zh-CN" altLang="en-US" sz="2000">
                <a:solidFill>
                  <a:srgbClr val="FF0000"/>
                </a:solidFill>
                <a:latin typeface="微软雅黑" charset="-122"/>
                <a:ea typeface="微软雅黑" charset="-122"/>
                <a:cs typeface="Consolas" pitchFamily="49" charset="0"/>
              </a:rPr>
              <a:t>      </a:t>
            </a:r>
            <a:r>
              <a:rPr lang="zh-CN" altLang="en-US" sz="2000">
                <a:solidFill>
                  <a:srgbClr val="FF0000"/>
                </a:solidFill>
                <a:latin typeface="Consolas" pitchFamily="49" charset="0"/>
                <a:ea typeface="华文中宋" pitchFamily="2" charset="-122"/>
                <a:cs typeface="Consolas" pitchFamily="49" charset="0"/>
              </a:rPr>
              <a:t>改进</a:t>
            </a:r>
            <a:r>
              <a:rPr lang="en-US" altLang="zh-CN" sz="2000">
                <a:solidFill>
                  <a:srgbClr val="FF0000"/>
                </a:solidFill>
                <a:latin typeface="Consolas" pitchFamily="49" charset="0"/>
                <a:ea typeface="华文中宋" pitchFamily="2" charset="-122"/>
                <a:cs typeface="Consolas" pitchFamily="49" charset="0"/>
              </a:rPr>
              <a:t>2</a:t>
            </a:r>
            <a:r>
              <a:rPr lang="zh-CN" altLang="en-US" sz="2000">
                <a:solidFill>
                  <a:srgbClr val="FF0000"/>
                </a:solidFill>
                <a:latin typeface="Consolas" pitchFamily="49" charset="0"/>
                <a:ea typeface="华文中宋" pitchFamily="2" charset="-122"/>
                <a:cs typeface="Consolas" pitchFamily="49" charset="0"/>
              </a:rPr>
              <a:t>：右</a:t>
            </a:r>
            <a:r>
              <a:rPr lang="zh-CN" altLang="zh-CN" sz="2000">
                <a:solidFill>
                  <a:srgbClr val="FF0000"/>
                </a:solidFill>
                <a:latin typeface="Consolas" pitchFamily="49" charset="0"/>
                <a:ea typeface="华文中宋" pitchFamily="2" charset="-122"/>
                <a:cs typeface="Consolas" pitchFamily="49" charset="0"/>
              </a:rPr>
              <a:t>剪枝</a:t>
            </a:r>
            <a:r>
              <a:rPr lang="zh-CN" altLang="en-US" sz="2000">
                <a:solidFill>
                  <a:srgbClr val="FF0000"/>
                </a:solidFill>
                <a:latin typeface="Consolas" pitchFamily="49" charset="0"/>
                <a:ea typeface="华文中宋" pitchFamily="2" charset="-122"/>
                <a:cs typeface="Consolas" pitchFamily="49" charset="0"/>
              </a:rPr>
              <a:t>：</a:t>
            </a:r>
            <a:r>
              <a:rPr lang="en-US" altLang="zh-CN" sz="1800">
                <a:solidFill>
                  <a:srgbClr val="9900FF"/>
                </a:solidFill>
                <a:latin typeface="Consolas" pitchFamily="49" charset="0"/>
                <a:ea typeface="楷体" pitchFamily="49" charset="-122"/>
                <a:cs typeface="Consolas" pitchFamily="49" charset="0"/>
              </a:rPr>
              <a:t>rw=</a:t>
            </a:r>
            <a:r>
              <a:rPr lang="en-US" altLang="zh-CN" sz="1800" i="1">
                <a:solidFill>
                  <a:srgbClr val="9900FF"/>
                </a:solidFill>
                <a:latin typeface="Consolas" pitchFamily="49" charset="0"/>
                <a:ea typeface="楷体" pitchFamily="49" charset="-122"/>
                <a:cs typeface="Consolas" pitchFamily="49" charset="0"/>
              </a:rPr>
              <a:t>w</a:t>
            </a:r>
            <a:r>
              <a:rPr lang="en-US" altLang="zh-CN" sz="1800">
                <a:solidFill>
                  <a:srgbClr val="99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i</a:t>
            </a:r>
            <a:r>
              <a:rPr lang="en-US" altLang="zh-CN" sz="1800">
                <a:solidFill>
                  <a:srgbClr val="99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w</a:t>
            </a:r>
            <a:r>
              <a:rPr lang="en-US" altLang="zh-CN" sz="1800">
                <a:solidFill>
                  <a:srgbClr val="99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i</a:t>
            </a:r>
            <a:r>
              <a:rPr lang="en-US" altLang="zh-CN" sz="1800">
                <a:solidFill>
                  <a:srgbClr val="9900FF"/>
                </a:solidFill>
                <a:latin typeface="Consolas" pitchFamily="49" charset="0"/>
                <a:ea typeface="楷体" pitchFamily="49" charset="-122"/>
                <a:cs typeface="Consolas" pitchFamily="49" charset="0"/>
              </a:rPr>
              <a:t>+1]+</a:t>
            </a:r>
            <a:r>
              <a:rPr lang="en-US" altLang="zh-CN" sz="1800">
                <a:solidFill>
                  <a:srgbClr val="9900FF"/>
                </a:solidFill>
                <a:latin typeface="宋体" pitchFamily="2" charset="-122"/>
                <a:ea typeface="宋体" pitchFamily="2" charset="-122"/>
                <a:cs typeface="Consolas" pitchFamily="49" charset="0"/>
              </a:rPr>
              <a:t>…</a:t>
            </a:r>
            <a:r>
              <a:rPr lang="en-US" altLang="zh-CN" sz="1800">
                <a:solidFill>
                  <a:srgbClr val="99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w</a:t>
            </a:r>
            <a:r>
              <a:rPr lang="en-US" altLang="zh-CN" sz="1800">
                <a:solidFill>
                  <a:srgbClr val="99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n</a:t>
            </a:r>
            <a:r>
              <a:rPr lang="en-US" altLang="zh-CN" sz="1800">
                <a:solidFill>
                  <a:srgbClr val="9900FF"/>
                </a:solidFill>
                <a:latin typeface="Consolas" pitchFamily="49" charset="0"/>
                <a:ea typeface="楷体" pitchFamily="49" charset="-122"/>
                <a:cs typeface="Consolas" pitchFamily="49" charset="0"/>
              </a:rPr>
              <a:t>]</a:t>
            </a:r>
            <a:r>
              <a:rPr lang="zh-CN" altLang="en-US" sz="1800">
                <a:solidFill>
                  <a:srgbClr val="0000FF"/>
                </a:solidFill>
                <a:latin typeface="Consolas" pitchFamily="49" charset="0"/>
                <a:ea typeface="楷体" pitchFamily="49" charset="-122"/>
                <a:cs typeface="Consolas" pitchFamily="49" charset="0"/>
              </a:rPr>
              <a:t>。</a:t>
            </a:r>
            <a:endParaRPr lang="en-US" altLang="zh-CN" sz="1800">
              <a:solidFill>
                <a:srgbClr val="0000FF"/>
              </a:solidFill>
              <a:latin typeface="Consolas" pitchFamily="49" charset="0"/>
              <a:ea typeface="楷体" pitchFamily="49" charset="-122"/>
              <a:cs typeface="Consolas" pitchFamily="49" charset="0"/>
            </a:endParaRPr>
          </a:p>
          <a:p>
            <a:pPr>
              <a:lnSpc>
                <a:spcPct val="200000"/>
              </a:lnSpc>
              <a:spcBef>
                <a:spcPts val="0"/>
              </a:spcBef>
            </a:pPr>
            <a:r>
              <a:rPr lang="en-US" altLang="zh-CN" sz="1800">
                <a:solidFill>
                  <a:srgbClr val="0000FF"/>
                </a:solidFill>
                <a:latin typeface="Consolas" pitchFamily="49" charset="0"/>
                <a:ea typeface="楷体" pitchFamily="49" charset="-122"/>
                <a:cs typeface="Consolas" pitchFamily="49" charset="0"/>
              </a:rPr>
              <a:t>    </a:t>
            </a:r>
            <a:r>
              <a:rPr lang="zh-CN" altLang="zh-CN" sz="1800">
                <a:solidFill>
                  <a:srgbClr val="0000FF"/>
                </a:solidFill>
                <a:latin typeface="Consolas" pitchFamily="49" charset="0"/>
                <a:ea typeface="楷体" pitchFamily="49" charset="-122"/>
                <a:cs typeface="Consolas" pitchFamily="49" charset="0"/>
              </a:rPr>
              <a:t>当不选择物品</a:t>
            </a:r>
            <a:r>
              <a:rPr lang="en-US" altLang="zh-CN" sz="1800" i="1">
                <a:solidFill>
                  <a:srgbClr val="0000FF"/>
                </a:solidFill>
                <a:latin typeface="Consolas" pitchFamily="49" charset="0"/>
                <a:ea typeface="楷体" pitchFamily="49" charset="-122"/>
                <a:cs typeface="Consolas" pitchFamily="49" charset="0"/>
              </a:rPr>
              <a:t>i</a:t>
            </a:r>
            <a:r>
              <a:rPr lang="zh-CN" altLang="zh-CN" sz="1800">
                <a:solidFill>
                  <a:srgbClr val="0000FF"/>
                </a:solidFill>
                <a:latin typeface="Consolas" pitchFamily="49" charset="0"/>
                <a:ea typeface="楷体" pitchFamily="49" charset="-122"/>
                <a:cs typeface="Consolas" pitchFamily="49" charset="0"/>
              </a:rPr>
              <a:t>时</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rw-</a:t>
            </a:r>
            <a:r>
              <a:rPr lang="en-US" altLang="zh-CN" sz="1800" i="1">
                <a:solidFill>
                  <a:srgbClr val="0000FF"/>
                </a:solidFill>
                <a:latin typeface="Consolas" pitchFamily="49" charset="0"/>
                <a:ea typeface="楷体" pitchFamily="49" charset="-122"/>
                <a:cs typeface="Consolas" pitchFamily="49" charset="0"/>
              </a:rPr>
              <a:t>w</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w</a:t>
            </a:r>
            <a:r>
              <a:rPr lang="en-US" altLang="zh-CN" sz="1800">
                <a:solidFill>
                  <a:srgbClr val="99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i</a:t>
            </a:r>
            <a:r>
              <a:rPr lang="en-US" altLang="zh-CN" sz="1800">
                <a:solidFill>
                  <a:srgbClr val="9900FF"/>
                </a:solidFill>
                <a:latin typeface="Consolas" pitchFamily="49" charset="0"/>
                <a:ea typeface="楷体" pitchFamily="49" charset="-122"/>
                <a:cs typeface="Consolas" pitchFamily="49" charset="0"/>
              </a:rPr>
              <a:t>+1]+</a:t>
            </a:r>
            <a:r>
              <a:rPr lang="en-US" altLang="zh-CN" sz="1800">
                <a:solidFill>
                  <a:srgbClr val="9900FF"/>
                </a:solidFill>
                <a:latin typeface="宋体" pitchFamily="2" charset="-122"/>
                <a:ea typeface="宋体" pitchFamily="2" charset="-122"/>
                <a:cs typeface="Consolas" pitchFamily="49" charset="0"/>
              </a:rPr>
              <a:t>…</a:t>
            </a:r>
            <a:r>
              <a:rPr lang="en-US" altLang="zh-CN" sz="1800">
                <a:solidFill>
                  <a:srgbClr val="99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w</a:t>
            </a:r>
            <a:r>
              <a:rPr lang="en-US" altLang="zh-CN" sz="1800">
                <a:solidFill>
                  <a:srgbClr val="99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n</a:t>
            </a:r>
            <a:r>
              <a:rPr lang="en-US" altLang="zh-CN" sz="1800">
                <a:solidFill>
                  <a:srgbClr val="9900FF"/>
                </a:solidFill>
                <a:latin typeface="Consolas" pitchFamily="49" charset="0"/>
                <a:ea typeface="楷体" pitchFamily="49" charset="-122"/>
                <a:cs typeface="Consolas" pitchFamily="49" charset="0"/>
              </a:rPr>
              <a:t>]</a:t>
            </a:r>
            <a:r>
              <a:rPr lang="zh-CN" altLang="en-US" sz="1800">
                <a:solidFill>
                  <a:srgbClr val="9900FF"/>
                </a:solidFill>
                <a:latin typeface="Consolas" pitchFamily="49" charset="0"/>
                <a:ea typeface="楷体" pitchFamily="49" charset="-122"/>
                <a:cs typeface="Consolas" pitchFamily="49" charset="0"/>
              </a:rPr>
              <a:t>，</a:t>
            </a:r>
            <a:r>
              <a:rPr lang="zh-CN" altLang="zh-CN" sz="1800">
                <a:solidFill>
                  <a:srgbClr val="0000FF"/>
                </a:solidFill>
                <a:latin typeface="Consolas" pitchFamily="49" charset="0"/>
                <a:ea typeface="楷体" pitchFamily="49" charset="-122"/>
                <a:cs typeface="Consolas" pitchFamily="49" charset="0"/>
              </a:rPr>
              <a:t>若</a:t>
            </a:r>
            <a:r>
              <a:rPr lang="en-US" altLang="zh-CN" sz="1800">
                <a:solidFill>
                  <a:srgbClr val="0000FF"/>
                </a:solidFill>
                <a:latin typeface="Consolas" pitchFamily="49" charset="0"/>
                <a:ea typeface="楷体" pitchFamily="49" charset="-122"/>
                <a:cs typeface="Consolas" pitchFamily="49" charset="0"/>
              </a:rPr>
              <a:t>tw+</a:t>
            </a:r>
            <a:r>
              <a:rPr lang="en-US" altLang="zh-CN" sz="1800">
                <a:solidFill>
                  <a:srgbClr val="9900FF"/>
                </a:solidFill>
                <a:latin typeface="Consolas" pitchFamily="49" charset="0"/>
                <a:ea typeface="楷体" pitchFamily="49" charset="-122"/>
                <a:cs typeface="Consolas" pitchFamily="49" charset="0"/>
              </a:rPr>
              <a:t>rw-</a:t>
            </a:r>
            <a:r>
              <a:rPr lang="en-US" altLang="zh-CN" sz="1800" i="1">
                <a:solidFill>
                  <a:srgbClr val="9900FF"/>
                </a:solidFill>
                <a:latin typeface="Consolas" pitchFamily="49" charset="0"/>
                <a:ea typeface="楷体" pitchFamily="49" charset="-122"/>
                <a:cs typeface="Consolas" pitchFamily="49" charset="0"/>
              </a:rPr>
              <a:t>w</a:t>
            </a:r>
            <a:r>
              <a:rPr lang="en-US" altLang="zh-CN" sz="1800">
                <a:solidFill>
                  <a:srgbClr val="9900FF"/>
                </a:solidFill>
                <a:latin typeface="Consolas" pitchFamily="49" charset="0"/>
                <a:ea typeface="楷体" pitchFamily="49" charset="-122"/>
                <a:cs typeface="Consolas" pitchFamily="49" charset="0"/>
              </a:rPr>
              <a:t>[</a:t>
            </a:r>
            <a:r>
              <a:rPr lang="en-US" altLang="zh-CN" sz="1800" i="1">
                <a:solidFill>
                  <a:srgbClr val="9900FF"/>
                </a:solidFill>
                <a:latin typeface="Consolas" pitchFamily="49" charset="0"/>
                <a:ea typeface="楷体" pitchFamily="49" charset="-122"/>
                <a:cs typeface="Consolas" pitchFamily="49" charset="0"/>
              </a:rPr>
              <a:t>i</a:t>
            </a:r>
            <a:r>
              <a:rPr lang="en-US" altLang="zh-CN" sz="1800">
                <a:solidFill>
                  <a:srgbClr val="99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宋体" pitchFamily="2" charset="-122"/>
                <a:cs typeface="Consolas" pitchFamily="49" charset="0"/>
              </a:rPr>
              <a:t>&lt;</a:t>
            </a:r>
            <a:r>
              <a:rPr lang="en-US" altLang="zh-CN" sz="1800">
                <a:solidFill>
                  <a:srgbClr val="0000FF"/>
                </a:solidFill>
                <a:latin typeface="Consolas" pitchFamily="49" charset="0"/>
                <a:ea typeface="楷体" pitchFamily="49" charset="-122"/>
                <a:cs typeface="Consolas" pitchFamily="49" charset="0"/>
              </a:rPr>
              <a:t>W</a:t>
            </a:r>
            <a:r>
              <a:rPr lang="zh-CN" altLang="zh-CN" sz="1800">
                <a:solidFill>
                  <a:srgbClr val="0000FF"/>
                </a:solidFill>
                <a:latin typeface="Consolas" pitchFamily="49" charset="0"/>
                <a:ea typeface="楷体" pitchFamily="49" charset="-122"/>
                <a:cs typeface="Consolas" pitchFamily="49" charset="0"/>
              </a:rPr>
              <a:t>，也就是说即使选择后面的所有物品，重量也不会达到</a:t>
            </a:r>
            <a:r>
              <a:rPr lang="en-US" altLang="zh-CN" sz="1800">
                <a:solidFill>
                  <a:srgbClr val="0000FF"/>
                </a:solidFill>
                <a:latin typeface="Consolas" pitchFamily="49" charset="0"/>
                <a:ea typeface="楷体" pitchFamily="49" charset="-122"/>
                <a:cs typeface="Consolas" pitchFamily="49" charset="0"/>
              </a:rPr>
              <a:t>W</a:t>
            </a:r>
            <a:r>
              <a:rPr lang="zh-CN" altLang="zh-CN" sz="1800">
                <a:solidFill>
                  <a:srgbClr val="0000FF"/>
                </a:solidFill>
                <a:latin typeface="Consolas" pitchFamily="49" charset="0"/>
                <a:ea typeface="楷体" pitchFamily="49" charset="-122"/>
                <a:cs typeface="Consolas" pitchFamily="49" charset="0"/>
              </a:rPr>
              <a:t>，因此不必要再考虑扩展这样的结点</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    </a:t>
            </a:r>
            <a:endParaRPr lang="zh-CN" altLang="en-US" sz="1800">
              <a:solidFill>
                <a:srgbClr val="C00000"/>
              </a:solidFill>
              <a:latin typeface="Consolas" pitchFamily="49" charset="0"/>
              <a:ea typeface="楷体" pitchFamily="49" charset="-122"/>
              <a:cs typeface="Consolas" pitchFamily="49" charset="0"/>
            </a:endParaRPr>
          </a:p>
        </p:txBody>
      </p:sp>
      <p:sp>
        <p:nvSpPr>
          <p:cNvPr id="5" name="TextBox 3"/>
          <p:cNvSpPr txBox="1"/>
          <p:nvPr/>
        </p:nvSpPr>
        <p:spPr>
          <a:xfrm>
            <a:off x="4284345" y="2420620"/>
            <a:ext cx="4674235" cy="368300"/>
          </a:xfrm>
          <a:prstGeom prst="rect">
            <a:avLst/>
          </a:prstGeom>
          <a:noFill/>
        </p:spPr>
        <p:txBody>
          <a:bodyPr wrap="square" rtlCol="0">
            <a:spAutoFit/>
          </a:bodyPr>
          <a:lstStyle/>
          <a:p>
            <a:r>
              <a:rPr lang="zh-CN" altLang="zh-CN" sz="1800">
                <a:solidFill>
                  <a:srgbClr val="0000FF"/>
                </a:solidFill>
                <a:latin typeface="Consolas" pitchFamily="49" charset="0"/>
                <a:ea typeface="方正启体简体" pitchFamily="65" charset="-122"/>
                <a:cs typeface="Consolas" pitchFamily="49" charset="0"/>
              </a:rPr>
              <a:t>仅仅扩展</a:t>
            </a:r>
            <a:r>
              <a:rPr lang="zh-CN" altLang="en-US" sz="1800">
                <a:solidFill>
                  <a:srgbClr val="0000FF"/>
                </a:solidFill>
                <a:latin typeface="Consolas" pitchFamily="49" charset="0"/>
                <a:ea typeface="方正启体简体" pitchFamily="65" charset="-122"/>
                <a:cs typeface="Consolas" pitchFamily="49" charset="0"/>
              </a:rPr>
              <a:t>满足</a:t>
            </a:r>
            <a:r>
              <a:rPr lang="en-US" altLang="zh-CN" sz="1800">
                <a:solidFill>
                  <a:srgbClr val="FF0000"/>
                </a:solidFill>
                <a:latin typeface="Consolas" pitchFamily="49" charset="0"/>
                <a:ea typeface="方正启体简体" pitchFamily="65" charset="-122"/>
                <a:cs typeface="Consolas" pitchFamily="49" charset="0"/>
              </a:rPr>
              <a:t>tw+rw-</a:t>
            </a:r>
            <a:r>
              <a:rPr lang="en-US" altLang="zh-CN" sz="1800" i="1">
                <a:solidFill>
                  <a:srgbClr val="FF0000"/>
                </a:solidFill>
                <a:latin typeface="Consolas" pitchFamily="49" charset="0"/>
                <a:ea typeface="方正启体简体" pitchFamily="65" charset="-122"/>
                <a:cs typeface="Consolas" pitchFamily="49" charset="0"/>
              </a:rPr>
              <a:t>w</a:t>
            </a:r>
            <a:r>
              <a:rPr lang="en-US" altLang="zh-CN" sz="1800">
                <a:solidFill>
                  <a:srgbClr val="FF0000"/>
                </a:solidFill>
                <a:latin typeface="Consolas" pitchFamily="49" charset="0"/>
                <a:ea typeface="方正启体简体" pitchFamily="65" charset="-122"/>
                <a:cs typeface="Consolas" pitchFamily="49" charset="0"/>
              </a:rPr>
              <a:t>[</a:t>
            </a:r>
            <a:r>
              <a:rPr lang="en-US" altLang="zh-CN" sz="1800" i="1">
                <a:solidFill>
                  <a:srgbClr val="FF0000"/>
                </a:solidFill>
                <a:latin typeface="Consolas" pitchFamily="49" charset="0"/>
                <a:ea typeface="方正启体简体" pitchFamily="65" charset="-122"/>
                <a:cs typeface="Consolas" pitchFamily="49" charset="0"/>
              </a:rPr>
              <a:t>i</a:t>
            </a:r>
            <a:r>
              <a:rPr lang="en-US" altLang="zh-CN" sz="1800">
                <a:solidFill>
                  <a:srgbClr val="FF0000"/>
                </a:solidFill>
                <a:latin typeface="Consolas" pitchFamily="49" charset="0"/>
                <a:ea typeface="方正启体简体" pitchFamily="65" charset="-122"/>
                <a:cs typeface="Consolas" pitchFamily="49" charset="0"/>
              </a:rPr>
              <a:t>]</a:t>
            </a:r>
            <a:r>
              <a:rPr lang="zh-CN" altLang="zh-CN" sz="1800">
                <a:solidFill>
                  <a:srgbClr val="FF0000"/>
                </a:solidFill>
                <a:latin typeface="Consolas" pitchFamily="49" charset="0"/>
                <a:ea typeface="方正启体简体" pitchFamily="65" charset="-122"/>
                <a:cs typeface="Consolas" pitchFamily="49" charset="0"/>
              </a:rPr>
              <a:t>≥</a:t>
            </a:r>
            <a:r>
              <a:rPr lang="en-US" altLang="zh-CN" sz="1800">
                <a:solidFill>
                  <a:srgbClr val="FF0000"/>
                </a:solidFill>
                <a:latin typeface="Consolas" pitchFamily="49" charset="0"/>
                <a:ea typeface="方正启体简体" pitchFamily="65" charset="-122"/>
                <a:cs typeface="Consolas" pitchFamily="49" charset="0"/>
              </a:rPr>
              <a:t>W</a:t>
            </a:r>
            <a:r>
              <a:rPr lang="zh-CN" altLang="zh-CN" sz="1800">
                <a:solidFill>
                  <a:srgbClr val="0000FF"/>
                </a:solidFill>
                <a:latin typeface="Consolas" pitchFamily="49" charset="0"/>
                <a:ea typeface="方正启体简体" pitchFamily="65" charset="-122"/>
                <a:cs typeface="Consolas" pitchFamily="49" charset="0"/>
              </a:rPr>
              <a:t>的</a:t>
            </a:r>
            <a:r>
              <a:rPr lang="zh-CN" altLang="en-US" sz="1800">
                <a:solidFill>
                  <a:srgbClr val="0000FF"/>
                </a:solidFill>
                <a:latin typeface="Consolas" pitchFamily="49" charset="0"/>
                <a:ea typeface="方正启体简体" pitchFamily="65" charset="-122"/>
                <a:cs typeface="Consolas" pitchFamily="49" charset="0"/>
              </a:rPr>
              <a:t>右孩子</a:t>
            </a:r>
            <a:r>
              <a:rPr lang="zh-CN" altLang="zh-CN" sz="1800">
                <a:solidFill>
                  <a:srgbClr val="0000FF"/>
                </a:solidFill>
                <a:latin typeface="Consolas" pitchFamily="49" charset="0"/>
                <a:ea typeface="方正启体简体" pitchFamily="65" charset="-122"/>
                <a:cs typeface="Consolas" pitchFamily="49" charset="0"/>
              </a:rPr>
              <a:t>结点</a:t>
            </a:r>
            <a:endParaRPr lang="zh-CN" altLang="en-US" sz="1800">
              <a:solidFill>
                <a:srgbClr val="0000FF"/>
              </a:solidFill>
              <a:latin typeface="Consolas" pitchFamily="49" charset="0"/>
              <a:ea typeface="方正启体简体" pitchFamily="65" charset="-122"/>
              <a:cs typeface="Consolas" pitchFamily="49" charset="0"/>
            </a:endParaRPr>
          </a:p>
        </p:txBody>
      </p:sp>
      <p:grpSp>
        <p:nvGrpSpPr>
          <p:cNvPr id="14" name="组合 23"/>
          <p:cNvGrpSpPr/>
          <p:nvPr/>
        </p:nvGrpSpPr>
        <p:grpSpPr>
          <a:xfrm>
            <a:off x="395906" y="2269393"/>
            <a:ext cx="3000396" cy="2298158"/>
            <a:chOff x="2214546" y="559338"/>
            <a:chExt cx="3000396" cy="2298158"/>
          </a:xfrm>
        </p:grpSpPr>
        <p:sp>
          <p:nvSpPr>
            <p:cNvPr id="8" name="椭圆 7"/>
            <p:cNvSpPr/>
            <p:nvPr/>
          </p:nvSpPr>
          <p:spPr>
            <a:xfrm>
              <a:off x="2924430" y="1175050"/>
              <a:ext cx="928694" cy="468000"/>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a:latin typeface="Consolas" pitchFamily="49" charset="0"/>
                  <a:ea typeface="仿宋" pitchFamily="49" charset="-122"/>
                  <a:cs typeface="Consolas" pitchFamily="49" charset="0"/>
                </a:rPr>
                <a:t>0,0,11</a:t>
              </a:r>
              <a:endParaRPr lang="zh-CN" altLang="en-US" sz="1400">
                <a:latin typeface="Consolas" pitchFamily="49" charset="0"/>
                <a:ea typeface="仿宋" pitchFamily="49" charset="-122"/>
                <a:cs typeface="Consolas" pitchFamily="49" charset="0"/>
              </a:endParaRPr>
            </a:p>
          </p:txBody>
        </p:sp>
        <p:sp>
          <p:nvSpPr>
            <p:cNvPr id="15" name="TextBox 14"/>
            <p:cNvSpPr txBox="1"/>
            <p:nvPr/>
          </p:nvSpPr>
          <p:spPr>
            <a:xfrm>
              <a:off x="4000496" y="1214422"/>
              <a:ext cx="1214446" cy="285752"/>
            </a:xfrm>
            <a:prstGeom prst="rect">
              <a:avLst/>
            </a:prstGeom>
            <a:noFill/>
          </p:spPr>
          <p:txBody>
            <a:bodyPr wrap="square" lIns="0" tIns="0" rIns="0" bIns="0" rtlCol="0">
              <a:spAutoFit/>
            </a:bodyPr>
            <a:lstStyle/>
            <a:p>
              <a:r>
                <a:rPr lang="zh-CN" altLang="en-US" sz="1800" spc="-150">
                  <a:solidFill>
                    <a:srgbClr val="0000FF"/>
                  </a:solidFill>
                  <a:latin typeface="Consolas" pitchFamily="49" charset="0"/>
                  <a:ea typeface="仿宋" pitchFamily="49" charset="-122"/>
                  <a:cs typeface="Consolas" pitchFamily="49" charset="0"/>
                </a:rPr>
                <a:t>根结点：</a:t>
              </a:r>
              <a:r>
                <a:rPr lang="en-US" altLang="zh-CN" sz="1800" i="1" spc="-150">
                  <a:solidFill>
                    <a:srgbClr val="FF0000"/>
                  </a:solidFill>
                  <a:latin typeface="Consolas" pitchFamily="49" charset="0"/>
                  <a:ea typeface="仿宋" pitchFamily="49" charset="-122"/>
                  <a:cs typeface="Consolas" pitchFamily="49" charset="0"/>
                </a:rPr>
                <a:t>i=</a:t>
              </a:r>
              <a:r>
                <a:rPr lang="en-US" altLang="zh-CN" sz="1800" spc="-150">
                  <a:solidFill>
                    <a:srgbClr val="FF0000"/>
                  </a:solidFill>
                  <a:latin typeface="Consolas" pitchFamily="49" charset="0"/>
                  <a:ea typeface="仿宋" pitchFamily="49" charset="-122"/>
                  <a:cs typeface="Consolas" pitchFamily="49" charset="0"/>
                </a:rPr>
                <a:t>1</a:t>
              </a:r>
              <a:endParaRPr lang="zh-CN" altLang="en-US" sz="1800" spc="-150">
                <a:solidFill>
                  <a:srgbClr val="FF0000"/>
                </a:solidFill>
                <a:latin typeface="Consolas" pitchFamily="49" charset="0"/>
                <a:ea typeface="仿宋" pitchFamily="49" charset="-122"/>
                <a:cs typeface="Consolas" pitchFamily="49" charset="0"/>
              </a:endParaRPr>
            </a:p>
          </p:txBody>
        </p:sp>
        <p:sp>
          <p:nvSpPr>
            <p:cNvPr id="16" name="TextBox 15"/>
            <p:cNvSpPr txBox="1"/>
            <p:nvPr/>
          </p:nvSpPr>
          <p:spPr>
            <a:xfrm>
              <a:off x="2624124" y="559338"/>
              <a:ext cx="1947876" cy="369332"/>
            </a:xfrm>
            <a:prstGeom prst="rect">
              <a:avLst/>
            </a:prstGeom>
            <a:noFill/>
          </p:spPr>
          <p:txBody>
            <a:bodyPr wrap="square" rtlCol="0">
              <a:spAutoFit/>
            </a:bodyPr>
            <a:lstStyle/>
            <a:p>
              <a:r>
                <a:rPr lang="en-US" altLang="zh-CN" sz="1800">
                  <a:solidFill>
                    <a:srgbClr val="00B0F0"/>
                  </a:solidFill>
                  <a:latin typeface="Consolas" pitchFamily="49" charset="0"/>
                  <a:cs typeface="Consolas" pitchFamily="49" charset="0"/>
                </a:rPr>
                <a:t>rw=5+3+2+1=11</a:t>
              </a:r>
              <a:endParaRPr lang="zh-CN" altLang="en-US" sz="1800">
                <a:solidFill>
                  <a:srgbClr val="00B0F0"/>
                </a:solidFill>
                <a:latin typeface="Consolas" pitchFamily="49" charset="0"/>
                <a:cs typeface="Consolas" pitchFamily="49" charset="0"/>
              </a:endParaRPr>
            </a:p>
          </p:txBody>
        </p:sp>
        <p:cxnSp>
          <p:nvCxnSpPr>
            <p:cNvPr id="18" name="直接箭头连接符 17"/>
            <p:cNvCxnSpPr/>
            <p:nvPr/>
          </p:nvCxnSpPr>
          <p:spPr>
            <a:xfrm rot="5400000">
              <a:off x="3357554" y="1071546"/>
              <a:ext cx="428628" cy="1588"/>
            </a:xfrm>
            <a:prstGeom prst="straightConnector1">
              <a:avLst/>
            </a:prstGeom>
            <a:ln>
              <a:solidFill>
                <a:srgbClr val="FF00FF"/>
              </a:solidFill>
              <a:tailEnd type="arrow"/>
            </a:ln>
          </p:spPr>
          <p:style>
            <a:lnRef idx="1">
              <a:schemeClr val="dk1"/>
            </a:lnRef>
            <a:fillRef idx="0">
              <a:schemeClr val="dk1"/>
            </a:fillRef>
            <a:effectRef idx="0">
              <a:schemeClr val="dk1"/>
            </a:effectRef>
            <a:fontRef idx="minor">
              <a:schemeClr val="tx1"/>
            </a:fontRef>
          </p:style>
        </p:cxnSp>
        <p:sp>
          <p:nvSpPr>
            <p:cNvPr id="21" name="等腰三角形 20"/>
            <p:cNvSpPr/>
            <p:nvPr/>
          </p:nvSpPr>
          <p:spPr>
            <a:xfrm>
              <a:off x="2214546" y="2071678"/>
              <a:ext cx="785818" cy="78581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8" idx="3"/>
              <a:endCxn id="21" idx="0"/>
            </p:cNvCxnSpPr>
            <p:nvPr/>
          </p:nvCxnSpPr>
          <p:spPr>
            <a:xfrm rot="5400000">
              <a:off x="2585363" y="1596606"/>
              <a:ext cx="497165" cy="452979"/>
            </a:xfrm>
            <a:prstGeom prst="line">
              <a:avLst/>
            </a:prstGeom>
          </p:spPr>
          <p:style>
            <a:lnRef idx="1">
              <a:schemeClr val="dk1"/>
            </a:lnRef>
            <a:fillRef idx="0">
              <a:schemeClr val="dk1"/>
            </a:fillRef>
            <a:effectRef idx="0">
              <a:schemeClr val="dk1"/>
            </a:effectRef>
            <a:fontRef idx="minor">
              <a:schemeClr val="tx1"/>
            </a:fontRef>
          </p:style>
        </p:cxnSp>
      </p:grpSp>
      <p:grpSp>
        <p:nvGrpSpPr>
          <p:cNvPr id="17" name="组合 34"/>
          <p:cNvGrpSpPr/>
          <p:nvPr/>
        </p:nvGrpSpPr>
        <p:grpSpPr>
          <a:xfrm>
            <a:off x="1898479" y="3284568"/>
            <a:ext cx="5198311" cy="1568735"/>
            <a:chOff x="3717119" y="1574513"/>
            <a:chExt cx="5198311" cy="1568735"/>
          </a:xfrm>
        </p:grpSpPr>
        <p:sp>
          <p:nvSpPr>
            <p:cNvPr id="6" name="椭圆 5"/>
            <p:cNvSpPr/>
            <p:nvPr/>
          </p:nvSpPr>
          <p:spPr>
            <a:xfrm>
              <a:off x="5281884" y="2675248"/>
              <a:ext cx="714380" cy="468000"/>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a:latin typeface="Consolas" pitchFamily="49" charset="0"/>
                  <a:ea typeface="仿宋" pitchFamily="49" charset="-122"/>
                  <a:cs typeface="Consolas" pitchFamily="49" charset="0"/>
                </a:rPr>
                <a:t>0,0,6</a:t>
              </a:r>
              <a:endParaRPr lang="zh-CN" altLang="en-US" sz="1400">
                <a:latin typeface="Consolas" pitchFamily="49" charset="0"/>
                <a:ea typeface="仿宋" pitchFamily="49" charset="-122"/>
                <a:cs typeface="Consolas" pitchFamily="49" charset="0"/>
              </a:endParaRPr>
            </a:p>
          </p:txBody>
        </p:sp>
        <p:cxnSp>
          <p:nvCxnSpPr>
            <p:cNvPr id="9" name="直接连接符 8"/>
            <p:cNvCxnSpPr>
              <a:stCxn id="8" idx="5"/>
              <a:endCxn id="6" idx="1"/>
            </p:cNvCxnSpPr>
            <p:nvPr/>
          </p:nvCxnSpPr>
          <p:spPr>
            <a:xfrm>
              <a:off x="3717119" y="1574513"/>
              <a:ext cx="1669415" cy="1169035"/>
            </a:xfrm>
            <a:prstGeom prst="line">
              <a:avLst/>
            </a:prstGeom>
            <a:ln w="12700"/>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4624388" y="1828789"/>
              <a:ext cx="142876" cy="214314"/>
            </a:xfrm>
            <a:prstGeom prst="rect">
              <a:avLst/>
            </a:prstGeom>
            <a:noFill/>
          </p:spPr>
          <p:txBody>
            <a:bodyPr wrap="square" lIns="0" tIns="0" rIns="0" bIns="0" rtlCol="0">
              <a:spAutoFit/>
            </a:bodyPr>
            <a:lstStyle/>
            <a:p>
              <a:r>
                <a:rPr lang="en-US" altLang="zh-CN" sz="1400">
                  <a:latin typeface="Consolas" pitchFamily="49" charset="0"/>
                  <a:ea typeface="仿宋" pitchFamily="49" charset="-122"/>
                  <a:cs typeface="Consolas" pitchFamily="49" charset="0"/>
                </a:rPr>
                <a:t>0</a:t>
              </a:r>
              <a:endParaRPr lang="zh-CN" altLang="en-US" sz="1400">
                <a:latin typeface="Consolas" pitchFamily="49" charset="0"/>
                <a:ea typeface="仿宋" pitchFamily="49" charset="-122"/>
                <a:cs typeface="Consolas" pitchFamily="49" charset="0"/>
              </a:endParaRPr>
            </a:p>
          </p:txBody>
        </p:sp>
        <p:sp>
          <p:nvSpPr>
            <p:cNvPr id="19" name="TextBox 18"/>
            <p:cNvSpPr txBox="1"/>
            <p:nvPr/>
          </p:nvSpPr>
          <p:spPr>
            <a:xfrm>
              <a:off x="7143768" y="1825457"/>
              <a:ext cx="1771662" cy="246221"/>
            </a:xfrm>
            <a:prstGeom prst="rect">
              <a:avLst/>
            </a:prstGeom>
            <a:noFill/>
          </p:spPr>
          <p:txBody>
            <a:bodyPr wrap="square" lIns="0" tIns="0" rIns="0" bIns="0" rtlCol="0">
              <a:spAutoFit/>
            </a:bodyPr>
            <a:lstStyle/>
            <a:p>
              <a:pPr algn="ctr"/>
              <a:r>
                <a:rPr lang="zh-CN" altLang="en-US" sz="1600" spc="-150">
                  <a:solidFill>
                    <a:srgbClr val="0000FF"/>
                  </a:solidFill>
                  <a:latin typeface="Consolas" pitchFamily="49" charset="0"/>
                  <a:ea typeface="仿宋" pitchFamily="49" charset="-122"/>
                  <a:cs typeface="Consolas" pitchFamily="49" charset="0"/>
                </a:rPr>
                <a:t>不选物品</a:t>
              </a:r>
              <a:r>
                <a:rPr lang="en-US" altLang="zh-CN" sz="1600" spc="-150">
                  <a:solidFill>
                    <a:srgbClr val="0000FF"/>
                  </a:solidFill>
                  <a:latin typeface="Consolas" pitchFamily="49" charset="0"/>
                  <a:ea typeface="仿宋" pitchFamily="49" charset="-122"/>
                  <a:cs typeface="Consolas" pitchFamily="49" charset="0"/>
                </a:rPr>
                <a:t>1</a:t>
              </a:r>
              <a:r>
                <a:rPr lang="zh-CN" altLang="en-US" sz="1600" spc="-150">
                  <a:solidFill>
                    <a:srgbClr val="0000FF"/>
                  </a:solidFill>
                  <a:latin typeface="Consolas" pitchFamily="49" charset="0"/>
                  <a:ea typeface="仿宋" pitchFamily="49" charset="-122"/>
                  <a:cs typeface="Consolas" pitchFamily="49" charset="0"/>
                </a:rPr>
                <a:t>：</a:t>
              </a:r>
              <a:r>
                <a:rPr lang="en-US" altLang="zh-CN" sz="1600" spc="-150">
                  <a:solidFill>
                    <a:srgbClr val="0000FF"/>
                  </a:solidFill>
                  <a:latin typeface="Consolas" pitchFamily="49" charset="0"/>
                  <a:ea typeface="仿宋" pitchFamily="49" charset="-122"/>
                  <a:cs typeface="Consolas" pitchFamily="49" charset="0"/>
                </a:rPr>
                <a:t>w[1]=5</a:t>
              </a:r>
              <a:endParaRPr lang="zh-CN" altLang="en-US" sz="1600" spc="-150">
                <a:solidFill>
                  <a:srgbClr val="0000FF"/>
                </a:solidFill>
                <a:latin typeface="Consolas" pitchFamily="49" charset="0"/>
                <a:ea typeface="仿宋" pitchFamily="49" charset="-122"/>
                <a:cs typeface="Consolas" pitchFamily="49" charset="0"/>
              </a:endParaRPr>
            </a:p>
          </p:txBody>
        </p:sp>
        <p:cxnSp>
          <p:nvCxnSpPr>
            <p:cNvPr id="20" name="直接连接符 19"/>
            <p:cNvCxnSpPr/>
            <p:nvPr/>
          </p:nvCxnSpPr>
          <p:spPr>
            <a:xfrm>
              <a:off x="4857752" y="2026312"/>
              <a:ext cx="2286016"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sp>
          <p:nvSpPr>
            <p:cNvPr id="25" name="TextBox 24"/>
            <p:cNvSpPr txBox="1"/>
            <p:nvPr/>
          </p:nvSpPr>
          <p:spPr>
            <a:xfrm>
              <a:off x="5500694" y="2195504"/>
              <a:ext cx="2071702" cy="276999"/>
            </a:xfrm>
            <a:prstGeom prst="rect">
              <a:avLst/>
            </a:prstGeom>
            <a:noFill/>
          </p:spPr>
          <p:txBody>
            <a:bodyPr wrap="square" lIns="0" tIns="0" rIns="0" bIns="0" rtlCol="0">
              <a:spAutoFit/>
            </a:bodyPr>
            <a:lstStyle/>
            <a:p>
              <a:r>
                <a:rPr lang="en-US" altLang="zh-CN" sz="1800" spc="-150">
                  <a:solidFill>
                    <a:srgbClr val="00B0F0"/>
                  </a:solidFill>
                  <a:latin typeface="Consolas" pitchFamily="49" charset="0"/>
                  <a:ea typeface="仿宋" pitchFamily="49" charset="-122"/>
                  <a:cs typeface="Consolas" pitchFamily="49" charset="0"/>
                </a:rPr>
                <a:t>rw=rw-w[1]=11-5=6</a:t>
              </a:r>
              <a:endParaRPr lang="zh-CN" altLang="en-US" sz="1800" spc="-150">
                <a:solidFill>
                  <a:srgbClr val="00B0F0"/>
                </a:solidFill>
                <a:latin typeface="Consolas" pitchFamily="49" charset="0"/>
                <a:ea typeface="仿宋" pitchFamily="49" charset="-122"/>
                <a:cs typeface="Consolas" pitchFamily="49" charset="0"/>
              </a:endParaRPr>
            </a:p>
          </p:txBody>
        </p:sp>
        <p:cxnSp>
          <p:nvCxnSpPr>
            <p:cNvPr id="26" name="直接箭头连接符 25"/>
            <p:cNvCxnSpPr/>
            <p:nvPr/>
          </p:nvCxnSpPr>
          <p:spPr>
            <a:xfrm rot="5400000">
              <a:off x="5606264" y="2632863"/>
              <a:ext cx="428628" cy="1588"/>
            </a:xfrm>
            <a:prstGeom prst="straightConnector1">
              <a:avLst/>
            </a:prstGeom>
            <a:ln>
              <a:solidFill>
                <a:srgbClr val="FF00FF"/>
              </a:solidFill>
              <a:tailEnd type="arrow"/>
            </a:ln>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5000628" y="1714488"/>
              <a:ext cx="2143140" cy="246221"/>
            </a:xfrm>
            <a:prstGeom prst="rect">
              <a:avLst/>
            </a:prstGeom>
            <a:noFill/>
          </p:spPr>
          <p:txBody>
            <a:bodyPr wrap="square" lIns="0" tIns="0" rIns="0" bIns="0" rtlCol="0">
              <a:spAutoFit/>
            </a:bodyPr>
            <a:lstStyle/>
            <a:p>
              <a:r>
                <a:rPr lang="en-US" altLang="zh-CN" sz="1600">
                  <a:solidFill>
                    <a:srgbClr val="FF00FF"/>
                  </a:solidFill>
                  <a:latin typeface="Consolas" pitchFamily="49" charset="0"/>
                  <a:ea typeface="仿宋" pitchFamily="49" charset="-122"/>
                  <a:cs typeface="Consolas" pitchFamily="49" charset="0"/>
                </a:rPr>
                <a:t>tw+rw-w[1]=6≥W</a:t>
              </a:r>
              <a:r>
                <a:rPr lang="zh-CN" altLang="en-US" sz="1600">
                  <a:solidFill>
                    <a:srgbClr val="FF00FF"/>
                  </a:solidFill>
                  <a:latin typeface="Consolas" pitchFamily="49" charset="0"/>
                  <a:ea typeface="仿宋" pitchFamily="49" charset="-122"/>
                  <a:cs typeface="Consolas" pitchFamily="49" charset="0"/>
                </a:rPr>
                <a:t>成立</a:t>
              </a:r>
            </a:p>
          </p:txBody>
        </p:sp>
      </p:grpSp>
      <p:grpSp>
        <p:nvGrpSpPr>
          <p:cNvPr id="22" name="组合 38"/>
          <p:cNvGrpSpPr/>
          <p:nvPr/>
        </p:nvGrpSpPr>
        <p:grpSpPr>
          <a:xfrm>
            <a:off x="4073005" y="4784765"/>
            <a:ext cx="2895197" cy="930557"/>
            <a:chOff x="5891645" y="3074710"/>
            <a:chExt cx="2895197" cy="930557"/>
          </a:xfrm>
        </p:grpSpPr>
        <p:sp>
          <p:nvSpPr>
            <p:cNvPr id="7" name="TextBox 6"/>
            <p:cNvSpPr txBox="1"/>
            <p:nvPr/>
          </p:nvSpPr>
          <p:spPr>
            <a:xfrm>
              <a:off x="6215074" y="3175314"/>
              <a:ext cx="142876" cy="214314"/>
            </a:xfrm>
            <a:prstGeom prst="rect">
              <a:avLst/>
            </a:prstGeom>
            <a:noFill/>
          </p:spPr>
          <p:txBody>
            <a:bodyPr wrap="square" lIns="0" tIns="0" rIns="0" bIns="0" rtlCol="0">
              <a:spAutoFit/>
            </a:bodyPr>
            <a:lstStyle/>
            <a:p>
              <a:r>
                <a:rPr lang="en-US" altLang="zh-CN" sz="1400">
                  <a:latin typeface="Consolas" pitchFamily="49" charset="0"/>
                  <a:ea typeface="仿宋" pitchFamily="49" charset="-122"/>
                  <a:cs typeface="Consolas" pitchFamily="49" charset="0"/>
                </a:rPr>
                <a:t>0</a:t>
              </a:r>
              <a:endParaRPr lang="zh-CN" altLang="en-US" sz="1400">
                <a:latin typeface="Consolas" pitchFamily="49" charset="0"/>
                <a:ea typeface="仿宋" pitchFamily="49" charset="-122"/>
                <a:cs typeface="Consolas" pitchFamily="49" charset="0"/>
              </a:endParaRPr>
            </a:p>
          </p:txBody>
        </p:sp>
        <p:cxnSp>
          <p:nvCxnSpPr>
            <p:cNvPr id="11" name="直接连接符 10"/>
            <p:cNvCxnSpPr>
              <a:stCxn id="6" idx="5"/>
            </p:cNvCxnSpPr>
            <p:nvPr/>
          </p:nvCxnSpPr>
          <p:spPr>
            <a:xfrm rot="16200000" flipH="1">
              <a:off x="5853280" y="3113075"/>
              <a:ext cx="558395" cy="481665"/>
            </a:xfrm>
            <a:prstGeom prst="line">
              <a:avLst/>
            </a:prstGeom>
            <a:ln w="12700"/>
          </p:spPr>
          <p:style>
            <a:lnRef idx="2">
              <a:schemeClr val="dk1"/>
            </a:lnRef>
            <a:fillRef idx="0">
              <a:schemeClr val="dk1"/>
            </a:fillRef>
            <a:effectRef idx="1">
              <a:schemeClr val="dk1"/>
            </a:effectRef>
            <a:fontRef idx="minor">
              <a:schemeClr val="tx1"/>
            </a:fontRef>
          </p:style>
        </p:cxnSp>
        <p:sp>
          <p:nvSpPr>
            <p:cNvPr id="12" name="椭圆 11"/>
            <p:cNvSpPr/>
            <p:nvPr/>
          </p:nvSpPr>
          <p:spPr>
            <a:xfrm>
              <a:off x="6053415" y="3537267"/>
              <a:ext cx="576000" cy="468000"/>
            </a:xfrm>
            <a:prstGeom prst="ellipse">
              <a:avLst/>
            </a:prstGeom>
          </p:spPr>
          <p:style>
            <a:lnRef idx="3">
              <a:schemeClr val="lt1"/>
            </a:lnRef>
            <a:fillRef idx="1">
              <a:schemeClr val="accent6"/>
            </a:fillRef>
            <a:effectRef idx="1">
              <a:schemeClr val="accent6"/>
            </a:effectRef>
            <a:fontRef idx="minor">
              <a:schemeClr val="lt1"/>
            </a:fontRef>
          </p:style>
          <p:txBody>
            <a:bodyPr lIns="0" tIns="0" rIns="0" bIns="0" rtlCol="0" anchor="ctr"/>
            <a:lstStyle/>
            <a:p>
              <a:pPr algn="ctr"/>
              <a:r>
                <a:rPr lang="en-US" altLang="zh-CN">
                  <a:solidFill>
                    <a:srgbClr val="FF0000"/>
                  </a:solidFill>
                  <a:latin typeface="Consolas" pitchFamily="49" charset="0"/>
                  <a:ea typeface="仿宋" pitchFamily="49" charset="-122"/>
                  <a:cs typeface="Consolas" pitchFamily="49" charset="0"/>
                  <a:sym typeface="Symbol"/>
                </a:rPr>
                <a:t></a:t>
              </a:r>
              <a:endParaRPr lang="zh-CN" altLang="en-US">
                <a:solidFill>
                  <a:srgbClr val="FF0000"/>
                </a:solidFill>
                <a:latin typeface="Consolas" pitchFamily="49" charset="0"/>
                <a:ea typeface="仿宋" pitchFamily="49" charset="-122"/>
                <a:cs typeface="Consolas" pitchFamily="49" charset="0"/>
              </a:endParaRPr>
            </a:p>
          </p:txBody>
        </p:sp>
        <p:sp>
          <p:nvSpPr>
            <p:cNvPr id="34" name="TextBox 33"/>
            <p:cNvSpPr txBox="1"/>
            <p:nvPr/>
          </p:nvSpPr>
          <p:spPr>
            <a:xfrm>
              <a:off x="6429388" y="3143248"/>
              <a:ext cx="2357454" cy="246221"/>
            </a:xfrm>
            <a:prstGeom prst="rect">
              <a:avLst/>
            </a:prstGeom>
            <a:noFill/>
          </p:spPr>
          <p:txBody>
            <a:bodyPr wrap="square" lIns="0" tIns="0" rIns="0" bIns="0" rtlCol="0">
              <a:spAutoFit/>
            </a:bodyPr>
            <a:lstStyle/>
            <a:p>
              <a:r>
                <a:rPr lang="en-US" altLang="zh-CN" sz="1600">
                  <a:solidFill>
                    <a:srgbClr val="FF00FF"/>
                  </a:solidFill>
                  <a:latin typeface="Consolas" pitchFamily="49" charset="0"/>
                  <a:ea typeface="仿宋" pitchFamily="49" charset="-122"/>
                  <a:cs typeface="Consolas" pitchFamily="49" charset="0"/>
                </a:rPr>
                <a:t>tw+rw-w[2]=3≥W</a:t>
              </a:r>
              <a:r>
                <a:rPr lang="zh-CN" altLang="en-US" sz="1600">
                  <a:solidFill>
                    <a:srgbClr val="FF00FF"/>
                  </a:solidFill>
                  <a:latin typeface="Consolas" pitchFamily="49" charset="0"/>
                  <a:ea typeface="仿宋" pitchFamily="49" charset="-122"/>
                  <a:cs typeface="Consolas" pitchFamily="49" charset="0"/>
                </a:rPr>
                <a:t>不成立</a:t>
              </a:r>
            </a:p>
          </p:txBody>
        </p:sp>
      </p:grpSp>
      <p:grpSp>
        <p:nvGrpSpPr>
          <p:cNvPr id="24" name="组合 36"/>
          <p:cNvGrpSpPr/>
          <p:nvPr/>
        </p:nvGrpSpPr>
        <p:grpSpPr>
          <a:xfrm>
            <a:off x="2824798" y="4784766"/>
            <a:ext cx="743066" cy="1532971"/>
            <a:chOff x="4643438" y="3074711"/>
            <a:chExt cx="743066" cy="1532971"/>
          </a:xfrm>
        </p:grpSpPr>
        <p:sp>
          <p:nvSpPr>
            <p:cNvPr id="13" name="椭圆 12"/>
            <p:cNvSpPr/>
            <p:nvPr/>
          </p:nvSpPr>
          <p:spPr>
            <a:xfrm>
              <a:off x="4643438" y="3603942"/>
              <a:ext cx="705388" cy="468000"/>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a:latin typeface="Consolas" pitchFamily="49" charset="0"/>
                  <a:ea typeface="仿宋" pitchFamily="49" charset="-122"/>
                  <a:cs typeface="Consolas" pitchFamily="49" charset="0"/>
                </a:rPr>
                <a:t>3,4,3</a:t>
              </a:r>
              <a:endParaRPr lang="zh-CN" altLang="en-US" sz="1400">
                <a:latin typeface="Consolas" pitchFamily="49" charset="0"/>
                <a:ea typeface="仿宋" pitchFamily="49" charset="-122"/>
                <a:cs typeface="Consolas" pitchFamily="49" charset="0"/>
              </a:endParaRPr>
            </a:p>
          </p:txBody>
        </p:sp>
        <p:cxnSp>
          <p:nvCxnSpPr>
            <p:cNvPr id="27" name="直接连接符 26"/>
            <p:cNvCxnSpPr>
              <a:stCxn id="6" idx="3"/>
              <a:endCxn id="13" idx="0"/>
            </p:cNvCxnSpPr>
            <p:nvPr/>
          </p:nvCxnSpPr>
          <p:spPr>
            <a:xfrm flipH="1">
              <a:off x="4996614" y="3074711"/>
              <a:ext cx="389890" cy="528955"/>
            </a:xfrm>
            <a:prstGeom prst="line">
              <a:avLst/>
            </a:prstGeom>
            <a:ln w="12700"/>
          </p:spPr>
          <p:style>
            <a:lnRef idx="2">
              <a:schemeClr val="dk1"/>
            </a:lnRef>
            <a:fillRef idx="0">
              <a:schemeClr val="dk1"/>
            </a:fillRef>
            <a:effectRef idx="1">
              <a:schemeClr val="dk1"/>
            </a:effectRef>
            <a:fontRef idx="minor">
              <a:schemeClr val="tx1"/>
            </a:fontRef>
          </p:style>
        </p:cxnSp>
        <p:sp>
          <p:nvSpPr>
            <p:cNvPr id="28" name="TextBox 5"/>
            <p:cNvSpPr txBox="1"/>
            <p:nvPr/>
          </p:nvSpPr>
          <p:spPr>
            <a:xfrm>
              <a:off x="5072066" y="3175314"/>
              <a:ext cx="142876" cy="214314"/>
            </a:xfrm>
            <a:prstGeom prst="rect">
              <a:avLst/>
            </a:prstGeom>
            <a:noFill/>
          </p:spPr>
          <p:txBody>
            <a:bodyPr wrap="square" lIns="0" tIns="0" rIns="0" bIns="0" rtlCol="0">
              <a:spAutoFit/>
            </a:bodyPr>
            <a:lstStyle/>
            <a:p>
              <a:r>
                <a:rPr lang="en-US" altLang="zh-CN" sz="1400">
                  <a:latin typeface="Consolas" pitchFamily="49" charset="0"/>
                  <a:ea typeface="仿宋" pitchFamily="49" charset="-122"/>
                  <a:cs typeface="Consolas" pitchFamily="49" charset="0"/>
                </a:rPr>
                <a:t>1</a:t>
              </a:r>
              <a:endParaRPr lang="zh-CN" altLang="en-US" sz="1400">
                <a:latin typeface="Consolas" pitchFamily="49" charset="0"/>
                <a:ea typeface="仿宋" pitchFamily="49" charset="-122"/>
                <a:cs typeface="Consolas" pitchFamily="49" charset="0"/>
              </a:endParaRPr>
            </a:p>
          </p:txBody>
        </p:sp>
        <p:sp>
          <p:nvSpPr>
            <p:cNvPr id="36" name="TextBox 35"/>
            <p:cNvSpPr txBox="1"/>
            <p:nvPr/>
          </p:nvSpPr>
          <p:spPr>
            <a:xfrm>
              <a:off x="4643438" y="4214818"/>
              <a:ext cx="642942" cy="392864"/>
            </a:xfrm>
            <a:prstGeom prst="rect">
              <a:avLst/>
            </a:prstGeom>
            <a:noFill/>
          </p:spPr>
          <p:txBody>
            <a:bodyPr wrap="square" rtlCol="0">
              <a:spAutoFit/>
            </a:bodyPr>
            <a:lstStyle/>
            <a:p>
              <a:pPr>
                <a:lnSpc>
                  <a:spcPts val="2000"/>
                </a:lnSpc>
              </a:pPr>
              <a:r>
                <a:rPr lang="en-US" altLang="zh-CN" sz="3600">
                  <a:solidFill>
                    <a:srgbClr val="0000FF"/>
                  </a:solidFill>
                </a:rPr>
                <a:t>…</a:t>
              </a:r>
              <a:endParaRPr lang="zh-CN" altLang="en-US" sz="3600">
                <a:solidFill>
                  <a:srgbClr val="0000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18077"/>
            <a:ext cx="8643998" cy="6661787"/>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44000" tIns="144000" bIns="144000" rtlCol="0">
            <a:spAutoFit/>
          </a:bodyPr>
          <a:lstStyle/>
          <a:p>
            <a:r>
              <a:rPr lang="en-US" altLang="zh-CN" sz="1800">
                <a:solidFill>
                  <a:srgbClr val="0000FF"/>
                </a:solidFill>
                <a:latin typeface="Consolas" pitchFamily="49" charset="0"/>
                <a:ea typeface="仿宋" pitchFamily="49" charset="-122"/>
                <a:cs typeface="Consolas" pitchFamily="49" charset="0"/>
              </a:rPr>
              <a:t>void </a:t>
            </a:r>
            <a:r>
              <a:rPr lang="en-US" altLang="zh-CN" sz="1800">
                <a:solidFill>
                  <a:srgbClr val="FF0000"/>
                </a:solidFill>
                <a:latin typeface="Consolas" pitchFamily="49" charset="0"/>
                <a:ea typeface="仿宋" pitchFamily="49" charset="-122"/>
                <a:cs typeface="Consolas" pitchFamily="49" charset="0"/>
              </a:rPr>
              <a:t>dfs</a:t>
            </a:r>
            <a:r>
              <a:rPr lang="en-US" altLang="zh-CN" sz="1800">
                <a:solidFill>
                  <a:srgbClr val="0000FF"/>
                </a:solidFill>
                <a:latin typeface="Consolas" pitchFamily="49" charset="0"/>
                <a:ea typeface="仿宋" pitchFamily="49" charset="-122"/>
                <a:cs typeface="Consolas" pitchFamily="49" charset="0"/>
              </a:rPr>
              <a:t>(int i,int tw,int tv,int rw,int op[])</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初始调用时</a:t>
            </a:r>
            <a:r>
              <a:rPr lang="en-US" altLang="zh-CN" sz="1800">
                <a:solidFill>
                  <a:srgbClr val="00B0F0"/>
                </a:solidFill>
                <a:latin typeface="Consolas" pitchFamily="49" charset="0"/>
                <a:ea typeface="仿宋" pitchFamily="49" charset="-122"/>
                <a:cs typeface="Consolas" pitchFamily="49" charset="0"/>
              </a:rPr>
              <a:t>rw</a:t>
            </a:r>
            <a:r>
              <a:rPr lang="zh-CN" altLang="zh-CN" sz="1800">
                <a:solidFill>
                  <a:srgbClr val="00B0F0"/>
                </a:solidFill>
                <a:latin typeface="Consolas" pitchFamily="49" charset="0"/>
                <a:ea typeface="仿宋" pitchFamily="49" charset="-122"/>
                <a:cs typeface="Consolas" pitchFamily="49" charset="0"/>
              </a:rPr>
              <a:t>为所有物品重量和</a:t>
            </a:r>
          </a:p>
          <a:p>
            <a:r>
              <a:rPr lang="en-US" altLang="zh-CN" sz="1800">
                <a:solidFill>
                  <a:srgbClr val="0000FF"/>
                </a:solidFill>
                <a:latin typeface="Consolas" pitchFamily="49" charset="0"/>
                <a:ea typeface="仿宋" pitchFamily="49" charset="-122"/>
                <a:cs typeface="Consolas" pitchFamily="49" charset="0"/>
              </a:rPr>
              <a:t>   int j;</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if (i&gt;n)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找到一个叶子结点</a:t>
            </a:r>
          </a:p>
          <a:p>
            <a:r>
              <a:rPr lang="en-US" altLang="zh-CN" sz="1800">
                <a:solidFill>
                  <a:srgbClr val="0000FF"/>
                </a:solidFill>
                <a:latin typeface="Consolas" pitchFamily="49" charset="0"/>
                <a:ea typeface="仿宋" pitchFamily="49" charset="-122"/>
                <a:cs typeface="Consolas" pitchFamily="49" charset="0"/>
              </a:rPr>
              <a:t>   {  if (tw==W &amp;&amp; tv&gt;maxv)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找到一个满足条件的更优解</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保存</a:t>
            </a:r>
          </a:p>
          <a:p>
            <a:r>
              <a:rPr lang="en-US" altLang="zh-CN" sz="1800">
                <a:solidFill>
                  <a:srgbClr val="0000FF"/>
                </a:solidFill>
                <a:latin typeface="Consolas" pitchFamily="49" charset="0"/>
                <a:ea typeface="仿宋" pitchFamily="49" charset="-122"/>
                <a:cs typeface="Consolas" pitchFamily="49" charset="0"/>
              </a:rPr>
              <a:t>      {  maxv=tv;</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for (j=1;j&lt;=n;j++)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复制最优解</a:t>
            </a:r>
          </a:p>
          <a:p>
            <a:r>
              <a:rPr lang="en-US" altLang="zh-CN" sz="1800">
                <a:solidFill>
                  <a:srgbClr val="0000FF"/>
                </a:solidFill>
                <a:latin typeface="Consolas" pitchFamily="49" charset="0"/>
                <a:ea typeface="仿宋" pitchFamily="49" charset="-122"/>
                <a:cs typeface="Consolas" pitchFamily="49" charset="0"/>
              </a:rPr>
              <a:t>            x[j]=op[j];</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else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尚未找完所有物品</a:t>
            </a:r>
          </a:p>
          <a:p>
            <a:r>
              <a:rPr lang="en-US" altLang="zh-CN" sz="1800">
                <a:solidFill>
                  <a:srgbClr val="0000FF"/>
                </a:solidFill>
                <a:latin typeface="Consolas" pitchFamily="49" charset="0"/>
                <a:ea typeface="仿宋" pitchFamily="49" charset="-122"/>
                <a:cs typeface="Consolas" pitchFamily="49" charset="0"/>
              </a:rPr>
              <a:t>   {  if (tw+w[i]&lt;=W)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左孩子结点剪枝</a:t>
            </a:r>
          </a:p>
          <a:p>
            <a:r>
              <a:rPr lang="en-US" altLang="zh-CN" sz="1800">
                <a:solidFill>
                  <a:srgbClr val="0000FF"/>
                </a:solidFill>
                <a:latin typeface="Consolas" pitchFamily="49" charset="0"/>
                <a:ea typeface="仿宋" pitchFamily="49" charset="-122"/>
                <a:cs typeface="Consolas" pitchFamily="49" charset="0"/>
              </a:rPr>
              <a:t>      {  op[i]=1;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选取第</a:t>
            </a:r>
            <a:r>
              <a:rPr lang="en-US" altLang="zh-CN" sz="1800">
                <a:solidFill>
                  <a:srgbClr val="00B0F0"/>
                </a:solidFill>
                <a:latin typeface="Consolas" pitchFamily="49" charset="0"/>
                <a:ea typeface="仿宋" pitchFamily="49" charset="-122"/>
                <a:cs typeface="Consolas" pitchFamily="49" charset="0"/>
              </a:rPr>
              <a:t>i</a:t>
            </a:r>
            <a:r>
              <a:rPr lang="zh-CN" altLang="zh-CN" sz="1800">
                <a:solidFill>
                  <a:srgbClr val="00B0F0"/>
                </a:solidFill>
                <a:latin typeface="Consolas" pitchFamily="49" charset="0"/>
                <a:ea typeface="仿宋" pitchFamily="49" charset="-122"/>
                <a:cs typeface="Consolas" pitchFamily="49" charset="0"/>
              </a:rPr>
              <a:t>个物品</a:t>
            </a: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FF0000"/>
                </a:solidFill>
                <a:latin typeface="Consolas" pitchFamily="49" charset="0"/>
                <a:ea typeface="仿宋" pitchFamily="49" charset="-122"/>
                <a:cs typeface="Consolas" pitchFamily="49" charset="0"/>
              </a:rPr>
              <a:t>dfs</a:t>
            </a:r>
            <a:r>
              <a:rPr lang="en-US" altLang="zh-CN" sz="1800">
                <a:solidFill>
                  <a:srgbClr val="0000FF"/>
                </a:solidFill>
                <a:latin typeface="Consolas" pitchFamily="49" charset="0"/>
                <a:ea typeface="仿宋" pitchFamily="49" charset="-122"/>
                <a:cs typeface="Consolas" pitchFamily="49" charset="0"/>
              </a:rPr>
              <a:t>(i+1,tw+w[i],tv+v[i],rw-w[i],op);</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if (  tw+rw-w[i]&gt;=W )</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  op[i]=0;			</a:t>
            </a:r>
            <a:r>
              <a:rPr lang="en-US" altLang="zh-CN" sz="1800">
                <a:solidFill>
                  <a:srgbClr val="00B0F0"/>
                </a:solidFill>
                <a:latin typeface="Consolas" pitchFamily="49" charset="0"/>
                <a:ea typeface="仿宋" pitchFamily="49" charset="-122"/>
                <a:cs typeface="Consolas" pitchFamily="49" charset="0"/>
              </a:rPr>
              <a:t> //</a:t>
            </a:r>
            <a:r>
              <a:rPr lang="zh-CN" altLang="zh-CN" sz="1800">
                <a:solidFill>
                  <a:srgbClr val="00B0F0"/>
                </a:solidFill>
                <a:latin typeface="Consolas" pitchFamily="49" charset="0"/>
                <a:ea typeface="仿宋" pitchFamily="49" charset="-122"/>
                <a:cs typeface="Consolas" pitchFamily="49" charset="0"/>
              </a:rPr>
              <a:t>不选取第</a:t>
            </a:r>
            <a:r>
              <a:rPr lang="en-US" altLang="zh-CN" sz="1800">
                <a:solidFill>
                  <a:srgbClr val="00B0F0"/>
                </a:solidFill>
                <a:latin typeface="Consolas" pitchFamily="49" charset="0"/>
                <a:ea typeface="仿宋" pitchFamily="49" charset="-122"/>
                <a:cs typeface="Consolas" pitchFamily="49" charset="0"/>
              </a:rPr>
              <a:t>i</a:t>
            </a:r>
            <a:r>
              <a:rPr lang="zh-CN" altLang="zh-CN" sz="1800">
                <a:solidFill>
                  <a:srgbClr val="00B0F0"/>
                </a:solidFill>
                <a:latin typeface="Consolas" pitchFamily="49" charset="0"/>
                <a:ea typeface="仿宋" pitchFamily="49" charset="-122"/>
                <a:cs typeface="Consolas" pitchFamily="49" charset="0"/>
              </a:rPr>
              <a:t>个物品</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回溯</a:t>
            </a:r>
            <a:endParaRPr lang="en-US"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FF0000"/>
                </a:solidFill>
                <a:latin typeface="Consolas" pitchFamily="49" charset="0"/>
                <a:ea typeface="仿宋" pitchFamily="49" charset="-122"/>
                <a:cs typeface="Consolas" pitchFamily="49" charset="0"/>
              </a:rPr>
              <a:t>dfs</a:t>
            </a:r>
            <a:r>
              <a:rPr lang="en-US" altLang="zh-CN" sz="1800">
                <a:solidFill>
                  <a:srgbClr val="0000FF"/>
                </a:solidFill>
                <a:latin typeface="Consolas" pitchFamily="49" charset="0"/>
                <a:ea typeface="仿宋" pitchFamily="49" charset="-122"/>
                <a:cs typeface="Consolas" pitchFamily="49" charset="0"/>
              </a:rPr>
              <a:t>(i+1,tw,tv,rw-w[i],op);</a:t>
            </a:r>
          </a:p>
          <a:p>
            <a:pPr>
              <a:lnSpc>
                <a:spcPct val="150000"/>
              </a:lnSpc>
            </a:pPr>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5" end="1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6" end="1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17" end="1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71550" y="1484313"/>
            <a:ext cx="7345363" cy="120015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0FF"/>
                </a:solidFill>
                <a:effectLst/>
                <a:uLnTx/>
                <a:uFillTx/>
                <a:latin typeface="+mn-ea"/>
                <a:ea typeface="+mn-ea"/>
                <a:cs typeface="Consolas" pitchFamily="49" charset="0"/>
              </a:rPr>
              <a:t> </a:t>
            </a:r>
            <a:r>
              <a:rPr kumimoji="0" lang="zh-CN" altLang="zh-CN" sz="2400" b="0" i="0" u="none" strike="noStrike" kern="1200" cap="none" spc="0" normalizeH="0" baseline="0" noProof="0" dirty="0">
                <a:ln>
                  <a:noFill/>
                </a:ln>
                <a:solidFill>
                  <a:srgbClr val="FF0000"/>
                </a:solidFill>
                <a:effectLst/>
                <a:uLnTx/>
                <a:uFillTx/>
                <a:latin typeface="+mn-ea"/>
                <a:ea typeface="+mn-ea"/>
                <a:cs typeface="Consolas" pitchFamily="49" charset="0"/>
              </a:rPr>
              <a:t>【算法分析】</a:t>
            </a:r>
            <a:r>
              <a:rPr kumimoji="0" lang="zh-CN" altLang="zh-CN" sz="2400" b="0" i="0" u="none" strike="noStrike" kern="1200" cap="none" spc="0" normalizeH="0" baseline="0" noProof="0" dirty="0">
                <a:ln>
                  <a:noFill/>
                </a:ln>
                <a:solidFill>
                  <a:srgbClr val="0000FF"/>
                </a:solidFill>
                <a:effectLst/>
                <a:uLnTx/>
                <a:uFillTx/>
                <a:latin typeface="+mn-ea"/>
                <a:ea typeface="+mn-ea"/>
                <a:cs typeface="Consolas" pitchFamily="49" charset="0"/>
              </a:rPr>
              <a:t>该算法不考虑剪枝时解空间树中有</a:t>
            </a:r>
            <a:r>
              <a:rPr kumimoji="0" lang="en-US" altLang="zh-CN" sz="2400" b="0" i="0" u="none" strike="noStrike" kern="1200" cap="none" spc="0" normalizeH="0" baseline="0" noProof="0" dirty="0" err="1">
                <a:ln>
                  <a:noFill/>
                </a:ln>
                <a:solidFill>
                  <a:srgbClr val="0000FF"/>
                </a:solidFill>
                <a:effectLst/>
                <a:uLnTx/>
                <a:uFillTx/>
                <a:latin typeface="+mn-ea"/>
                <a:ea typeface="+mn-ea"/>
                <a:cs typeface="Consolas" pitchFamily="49" charset="0"/>
              </a:rPr>
              <a:t>2</a:t>
            </a:r>
            <a:r>
              <a:rPr kumimoji="0" lang="en-US" altLang="zh-CN" sz="2400" b="0" i="1" u="none" strike="noStrike" kern="1200" cap="none" spc="0" normalizeH="0" baseline="30000" noProof="0" dirty="0" err="1">
                <a:ln>
                  <a:noFill/>
                </a:ln>
                <a:solidFill>
                  <a:srgbClr val="0000FF"/>
                </a:solidFill>
                <a:effectLst/>
                <a:uLnTx/>
                <a:uFillTx/>
                <a:latin typeface="+mn-ea"/>
                <a:ea typeface="+mn-ea"/>
                <a:cs typeface="Consolas" pitchFamily="49" charset="0"/>
              </a:rPr>
              <a:t>n</a:t>
            </a:r>
            <a:r>
              <a:rPr kumimoji="0" lang="en-US" altLang="zh-CN" sz="2400" b="0" i="0" u="none" strike="noStrike" kern="1200" cap="none" spc="0" normalizeH="0" baseline="30000" noProof="0" dirty="0" err="1">
                <a:ln>
                  <a:noFill/>
                </a:ln>
                <a:solidFill>
                  <a:srgbClr val="0000FF"/>
                </a:solidFill>
                <a:effectLst/>
                <a:uLnTx/>
                <a:uFillTx/>
                <a:latin typeface="+mn-ea"/>
                <a:ea typeface="+mn-ea"/>
                <a:cs typeface="Consolas" pitchFamily="49" charset="0"/>
              </a:rPr>
              <a:t>+1</a:t>
            </a:r>
            <a:r>
              <a:rPr kumimoji="0" lang="en-US" altLang="zh-CN" sz="2400" b="0" i="0" u="none" strike="noStrike" kern="1200" cap="none" spc="0" normalizeH="0" baseline="0" noProof="0" dirty="0" err="1">
                <a:ln>
                  <a:noFill/>
                </a:ln>
                <a:solidFill>
                  <a:srgbClr val="0000FF"/>
                </a:solidFill>
                <a:effectLst/>
                <a:uLnTx/>
                <a:uFillTx/>
                <a:latin typeface="+mn-ea"/>
                <a:ea typeface="+mn-ea"/>
                <a:cs typeface="Consolas" pitchFamily="49" charset="0"/>
              </a:rPr>
              <a:t>-1</a:t>
            </a:r>
            <a:r>
              <a:rPr kumimoji="0" lang="zh-CN" altLang="zh-CN" sz="2400" b="0" i="0" u="none" strike="noStrike" kern="1200" cap="none" spc="0" normalizeH="0" baseline="0" noProof="0" dirty="0">
                <a:ln>
                  <a:noFill/>
                </a:ln>
                <a:solidFill>
                  <a:srgbClr val="0000FF"/>
                </a:solidFill>
                <a:effectLst/>
                <a:uLnTx/>
                <a:uFillTx/>
                <a:latin typeface="+mn-ea"/>
                <a:ea typeface="+mn-ea"/>
                <a:cs typeface="Consolas" pitchFamily="49" charset="0"/>
              </a:rPr>
              <a:t>个结点</a:t>
            </a:r>
            <a:r>
              <a:rPr kumimoji="0" lang="zh-CN" altLang="en-US" sz="2400" b="0" i="0" u="none" strike="noStrike" kern="1200" cap="none" spc="0" normalizeH="0" baseline="0" noProof="0" dirty="0">
                <a:ln>
                  <a:noFill/>
                </a:ln>
                <a:solidFill>
                  <a:srgbClr val="0000FF"/>
                </a:solidFill>
                <a:effectLst/>
                <a:uLnTx/>
                <a:uFillTx/>
                <a:latin typeface="+mn-ea"/>
                <a:ea typeface="+mn-ea"/>
                <a:cs typeface="Consolas" pitchFamily="49" charset="0"/>
              </a:rPr>
              <a:t>（</a:t>
            </a:r>
            <a:r>
              <a:rPr kumimoji="0" lang="zh-CN" altLang="zh-CN" sz="2400" b="0" i="0" u="none" strike="noStrike" kern="1200" cap="none" spc="0" normalizeH="0" baseline="0" noProof="0" dirty="0">
                <a:ln>
                  <a:noFill/>
                </a:ln>
                <a:solidFill>
                  <a:srgbClr val="0000FF"/>
                </a:solidFill>
                <a:effectLst/>
                <a:uLnTx/>
                <a:uFillTx/>
                <a:latin typeface="+mn-ea"/>
                <a:ea typeface="+mn-ea"/>
                <a:cs typeface="Consolas" pitchFamily="49" charset="0"/>
              </a:rPr>
              <a:t>剪枝</a:t>
            </a:r>
            <a:r>
              <a:rPr kumimoji="0" lang="zh-CN" altLang="en-US" sz="2400" b="0" i="0" u="none" strike="noStrike" kern="1200" cap="none" spc="0" normalizeH="0" baseline="0" noProof="0" dirty="0">
                <a:ln>
                  <a:noFill/>
                </a:ln>
                <a:solidFill>
                  <a:srgbClr val="0000FF"/>
                </a:solidFill>
                <a:effectLst/>
                <a:uLnTx/>
                <a:uFillTx/>
                <a:latin typeface="+mn-ea"/>
                <a:ea typeface="+mn-ea"/>
                <a:cs typeface="Consolas" pitchFamily="49" charset="0"/>
              </a:rPr>
              <a:t>的结点个数不确定）</a:t>
            </a:r>
            <a:r>
              <a:rPr kumimoji="0" lang="zh-CN" altLang="zh-CN" sz="2400" b="0" i="0" u="none" strike="noStrike" kern="1200" cap="none" spc="0" normalizeH="0" baseline="0" noProof="0" dirty="0">
                <a:ln>
                  <a:noFill/>
                </a:ln>
                <a:solidFill>
                  <a:srgbClr val="0000FF"/>
                </a:solidFill>
                <a:effectLst/>
                <a:uLnTx/>
                <a:uFillTx/>
                <a:latin typeface="+mn-ea"/>
                <a:ea typeface="+mn-ea"/>
                <a:cs typeface="Consolas" pitchFamily="49" charset="0"/>
              </a:rPr>
              <a:t>，所以最坏情况下算法的时间复杂度为</a:t>
            </a:r>
            <a:r>
              <a:rPr kumimoji="0" lang="en-US" altLang="zh-CN" sz="2400" b="0" i="0" u="none" strike="noStrike" kern="1200" cap="none" spc="0" normalizeH="0" baseline="0" noProof="0" dirty="0">
                <a:ln>
                  <a:noFill/>
                </a:ln>
                <a:solidFill>
                  <a:srgbClr val="0000FF"/>
                </a:solidFill>
                <a:effectLst/>
                <a:uLnTx/>
                <a:uFillTx/>
                <a:latin typeface="+mn-ea"/>
                <a:ea typeface="+mn-ea"/>
                <a:cs typeface="Consolas" pitchFamily="49" charset="0"/>
              </a:rPr>
              <a:t>O(</a:t>
            </a:r>
            <a:r>
              <a:rPr kumimoji="0" lang="en-US" altLang="zh-CN" sz="2400" b="0" i="0" u="none" strike="noStrike" kern="1200" cap="none" spc="0" normalizeH="0" baseline="0" noProof="0" dirty="0" err="1">
                <a:ln>
                  <a:noFill/>
                </a:ln>
                <a:solidFill>
                  <a:srgbClr val="0000FF"/>
                </a:solidFill>
                <a:effectLst/>
                <a:uLnTx/>
                <a:uFillTx/>
                <a:latin typeface="+mn-ea"/>
                <a:ea typeface="+mn-ea"/>
                <a:cs typeface="Consolas" pitchFamily="49" charset="0"/>
              </a:rPr>
              <a:t>2</a:t>
            </a:r>
            <a:r>
              <a:rPr kumimoji="0" lang="en-US" altLang="zh-CN" sz="2400" b="0" i="1" u="none" strike="noStrike" kern="1200" cap="none" spc="0" normalizeH="0" baseline="30000" noProof="0" dirty="0" err="1">
                <a:ln>
                  <a:noFill/>
                </a:ln>
                <a:solidFill>
                  <a:srgbClr val="0000FF"/>
                </a:solidFill>
                <a:effectLst/>
                <a:uLnTx/>
                <a:uFillTx/>
                <a:latin typeface="+mn-ea"/>
                <a:ea typeface="+mn-ea"/>
                <a:cs typeface="Consolas" pitchFamily="49" charset="0"/>
              </a:rPr>
              <a:t>n</a:t>
            </a:r>
            <a:r>
              <a:rPr kumimoji="0" lang="en-US" altLang="zh-CN" sz="2400" b="0" i="0" u="none" strike="noStrike" kern="1200" cap="none" spc="0" normalizeH="0" baseline="0" noProof="0" dirty="0">
                <a:ln>
                  <a:noFill/>
                </a:ln>
                <a:solidFill>
                  <a:srgbClr val="0000FF"/>
                </a:solidFill>
                <a:effectLst/>
                <a:uLnTx/>
                <a:uFillTx/>
                <a:latin typeface="+mn-ea"/>
                <a:ea typeface="+mn-ea"/>
                <a:cs typeface="Consolas" pitchFamily="49" charset="0"/>
              </a:rPr>
              <a:t>)</a:t>
            </a:r>
            <a:r>
              <a:rPr kumimoji="0" lang="zh-CN" altLang="zh-CN" sz="2400" b="0" i="0" u="none" strike="noStrike" kern="1200" cap="none" spc="0" normalizeH="0" baseline="0" noProof="0" dirty="0">
                <a:ln>
                  <a:noFill/>
                </a:ln>
                <a:solidFill>
                  <a:srgbClr val="0000FF"/>
                </a:solidFill>
                <a:effectLst/>
                <a:uLnTx/>
                <a:uFillTx/>
                <a:latin typeface="+mn-ea"/>
                <a:ea typeface="+mn-ea"/>
                <a:cs typeface="Consolas" pitchFamily="49" charset="0"/>
              </a:rPr>
              <a:t>。</a:t>
            </a:r>
            <a:endParaRPr kumimoji="0" lang="zh-CN" altLang="en-US" sz="2400" b="0"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32590" y="928669"/>
            <a:ext cx="4572032" cy="483960"/>
          </a:xfrm>
          <a:prstGeom prst="rect">
            <a:avLst/>
          </a:prstGeom>
          <a:solidFill>
            <a:srgbClr val="00B0F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tIns="72000" bIns="72000">
            <a:spAutoFit/>
          </a:bodyPr>
          <a:lstStyle/>
          <a:p>
            <a:pPr marR="0" algn="ctr" defTabSz="914400">
              <a:buClrTx/>
              <a:buSzTx/>
              <a:buFontTx/>
              <a:buNone/>
              <a:defRPr/>
            </a:pPr>
            <a:r>
              <a:rPr kumimoji="0" lang="en-US" altLang="zh-CN" sz="2200" kern="1200" cap="none" spc="0" normalizeH="0" baseline="0" noProof="0">
                <a:solidFill>
                  <a:srgbClr val="FF0000"/>
                </a:solidFill>
                <a:latin typeface="Consolas" pitchFamily="49" charset="0"/>
                <a:ea typeface="华文中宋" pitchFamily="2" charset="-122"/>
                <a:cs typeface="Consolas" pitchFamily="49" charset="0"/>
              </a:rPr>
              <a:t>2. </a:t>
            </a:r>
            <a:r>
              <a:rPr kumimoji="0" lang="zh-CN" altLang="zh-CN" sz="2200" kern="1200" cap="none" spc="0" normalizeH="0" baseline="0" noProof="0">
                <a:solidFill>
                  <a:srgbClr val="FF0000"/>
                </a:solidFill>
                <a:latin typeface="Consolas" pitchFamily="49" charset="0"/>
                <a:ea typeface="华文中宋" pitchFamily="2" charset="-122"/>
                <a:cs typeface="Consolas" pitchFamily="49" charset="0"/>
              </a:rPr>
              <a:t>装入背包中物品重量和不超过</a:t>
            </a:r>
            <a:r>
              <a:rPr kumimoji="0" lang="en-US" altLang="zh-CN" sz="2200" i="1" kern="1200" cap="none" spc="0" normalizeH="0" baseline="0" noProof="0">
                <a:solidFill>
                  <a:srgbClr val="FF0000"/>
                </a:solidFill>
                <a:latin typeface="Consolas" pitchFamily="49" charset="0"/>
                <a:ea typeface="华文中宋" pitchFamily="2" charset="-122"/>
                <a:cs typeface="Consolas" pitchFamily="49" charset="0"/>
              </a:rPr>
              <a:t>W</a:t>
            </a:r>
            <a:endParaRPr kumimoji="0" lang="zh-CN" altLang="zh-CN" sz="2200" kern="1200" cap="none" spc="0" normalizeH="0" baseline="0" noProof="0">
              <a:solidFill>
                <a:srgbClr val="FF0000"/>
              </a:solidFill>
              <a:latin typeface="Consolas" pitchFamily="49" charset="0"/>
              <a:ea typeface="华文中宋" pitchFamily="2" charset="-122"/>
              <a:cs typeface="Consolas" pitchFamily="49" charset="0"/>
            </a:endParaRPr>
          </a:p>
        </p:txBody>
      </p:sp>
      <p:sp>
        <p:nvSpPr>
          <p:cNvPr id="105474" name="TextBox 3"/>
          <p:cNvSpPr txBox="1"/>
          <p:nvPr/>
        </p:nvSpPr>
        <p:spPr>
          <a:xfrm>
            <a:off x="1031875" y="2576513"/>
            <a:ext cx="7643813" cy="971550"/>
          </a:xfrm>
          <a:prstGeom prst="rect">
            <a:avLst/>
          </a:prstGeom>
          <a:noFill/>
          <a:ln w="9525">
            <a:noFill/>
          </a:ln>
        </p:spPr>
        <p:txBody>
          <a:bodyPr anchor="t" anchorCtr="0">
            <a:spAutoFit/>
          </a:bodyPr>
          <a:lstStyle/>
          <a:p>
            <a:pPr marL="457200" indent="-457200">
              <a:lnSpc>
                <a:spcPct val="150000"/>
              </a:lnSpc>
              <a:buClrTx/>
              <a:buFontTx/>
              <a:buBlip>
                <a:blip r:embed="rId3"/>
              </a:buBlip>
            </a:pPr>
            <a:r>
              <a:rPr lang="zh-CN" altLang="zh-CN">
                <a:solidFill>
                  <a:srgbClr val="0000FF"/>
                </a:solidFill>
                <a:latin typeface="华文楷体" panose="02010600040101010101" pitchFamily="2" charset="-122"/>
                <a:ea typeface="华文楷体" panose="02010600040101010101" pitchFamily="2" charset="-122"/>
              </a:rPr>
              <a:t>前面左剪枝方式不变</a:t>
            </a:r>
            <a:r>
              <a:rPr lang="zh-CN" altLang="en-US">
                <a:solidFill>
                  <a:srgbClr val="0000FF"/>
                </a:solidFill>
                <a:latin typeface="华文楷体" panose="02010600040101010101" pitchFamily="2" charset="-122"/>
                <a:ea typeface="华文楷体" panose="02010600040101010101" pitchFamily="2" charset="-122"/>
              </a:rPr>
              <a:t>。</a:t>
            </a:r>
            <a:endParaRPr lang="en-US" altLang="zh-CN">
              <a:solidFill>
                <a:srgbClr val="0000FF"/>
              </a:solidFill>
              <a:latin typeface="华文楷体" panose="02010600040101010101" pitchFamily="2" charset="-122"/>
              <a:ea typeface="华文楷体" panose="02010600040101010101" pitchFamily="2" charset="-122"/>
            </a:endParaRPr>
          </a:p>
          <a:p>
            <a:pPr marL="457200" indent="-457200">
              <a:lnSpc>
                <a:spcPct val="150000"/>
              </a:lnSpc>
              <a:buClrTx/>
              <a:buFontTx/>
              <a:buBlip>
                <a:blip r:embed="rId3"/>
              </a:buBlip>
            </a:pPr>
            <a:r>
              <a:rPr lang="zh-CN" altLang="zh-CN">
                <a:solidFill>
                  <a:srgbClr val="FF0000"/>
                </a:solidFill>
                <a:latin typeface="华文楷体" panose="02010600040101010101" pitchFamily="2" charset="-122"/>
                <a:ea typeface="华文楷体" panose="02010600040101010101" pitchFamily="2" charset="-122"/>
              </a:rPr>
              <a:t>但右剪枝方式不再有效</a:t>
            </a:r>
            <a:r>
              <a:rPr lang="zh-CN" altLang="zh-CN">
                <a:solidFill>
                  <a:srgbClr val="0000FF"/>
                </a:solidFill>
                <a:latin typeface="华文楷体" panose="02010600040101010101" pitchFamily="2" charset="-122"/>
                <a:ea typeface="华文楷体" panose="02010600040101010101" pitchFamily="2" charset="-122"/>
              </a:rPr>
              <a:t>，改为采用</a:t>
            </a:r>
            <a:r>
              <a:rPr lang="zh-CN" altLang="zh-CN">
                <a:solidFill>
                  <a:srgbClr val="C00000"/>
                </a:solidFill>
                <a:latin typeface="华文楷体" panose="02010600040101010101" pitchFamily="2" charset="-122"/>
                <a:ea typeface="华文楷体" panose="02010600040101010101" pitchFamily="2" charset="-122"/>
              </a:rPr>
              <a:t>上界函数</a:t>
            </a:r>
            <a:r>
              <a:rPr lang="zh-CN" altLang="zh-CN">
                <a:solidFill>
                  <a:srgbClr val="0000FF"/>
                </a:solidFill>
                <a:latin typeface="华文楷体" panose="02010600040101010101" pitchFamily="2" charset="-122"/>
                <a:ea typeface="华文楷体" panose="02010600040101010101" pitchFamily="2" charset="-122"/>
              </a:rPr>
              <a:t>进行右剪枝。</a:t>
            </a:r>
          </a:p>
        </p:txBody>
      </p:sp>
      <p:sp>
        <p:nvSpPr>
          <p:cNvPr id="105475" name="TextBox 4"/>
          <p:cNvSpPr txBox="1"/>
          <p:nvPr/>
        </p:nvSpPr>
        <p:spPr>
          <a:xfrm>
            <a:off x="960438" y="1933575"/>
            <a:ext cx="7072312" cy="400050"/>
          </a:xfrm>
          <a:prstGeom prst="rect">
            <a:avLst/>
          </a:prstGeom>
          <a:noFill/>
          <a:ln w="9525">
            <a:noFill/>
          </a:ln>
        </p:spPr>
        <p:txBody>
          <a:bodyPr anchor="t" anchorCtr="0">
            <a:spAutoFit/>
          </a:bodyPr>
          <a:lstStyle/>
          <a:p>
            <a:pPr>
              <a:buClrTx/>
              <a:buFontTx/>
            </a:pPr>
            <a:r>
              <a:rPr lang="zh-CN" altLang="zh-CN">
                <a:solidFill>
                  <a:srgbClr val="0000FF"/>
                </a:solidFill>
                <a:latin typeface="华文楷体" panose="02010600040101010101" pitchFamily="2" charset="-122"/>
                <a:ea typeface="华文楷体" panose="02010600040101010101" pitchFamily="2" charset="-122"/>
              </a:rPr>
              <a:t>问题变为求背包中物品重量和不超过</a:t>
            </a:r>
            <a:r>
              <a:rPr lang="en-US" altLang="zh-CN" i="1">
                <a:solidFill>
                  <a:srgbClr val="0000FF"/>
                </a:solidFill>
                <a:latin typeface="华文楷体" panose="02010600040101010101" pitchFamily="2" charset="-122"/>
                <a:ea typeface="华文楷体" panose="02010600040101010101" pitchFamily="2" charset="-122"/>
              </a:rPr>
              <a:t>W</a:t>
            </a:r>
            <a:r>
              <a:rPr lang="zh-CN" altLang="zh-CN">
                <a:solidFill>
                  <a:srgbClr val="0000FF"/>
                </a:solidFill>
                <a:latin typeface="华文楷体" panose="02010600040101010101" pitchFamily="2" charset="-122"/>
                <a:ea typeface="华文楷体" panose="02010600040101010101" pitchFamily="2" charset="-122"/>
              </a:rPr>
              <a:t>的最大价值的装入方案</a:t>
            </a:r>
            <a:r>
              <a:rPr lang="zh-CN" altLang="en-US">
                <a:solidFill>
                  <a:srgbClr val="0000FF"/>
                </a:solidFill>
                <a:latin typeface="华文楷体" panose="02010600040101010101" pitchFamily="2" charset="-122"/>
                <a:ea typeface="华文楷体" panose="02010600040101010101" pitchFamily="2" charset="-122"/>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782763" y="2012950"/>
            <a:ext cx="428625" cy="500063"/>
          </a:xfrm>
          <a:prstGeom prst="ellipse">
            <a:avLst/>
          </a:prstGeom>
          <a:solidFill>
            <a:srgbClr val="00B0F0"/>
          </a:solidFill>
        </p:spPr>
        <p:style>
          <a:lnRef idx="1">
            <a:schemeClr val="accent3"/>
          </a:lnRef>
          <a:fillRef idx="2">
            <a:schemeClr val="accent3"/>
          </a:fillRef>
          <a:effectRef idx="1">
            <a:schemeClr val="accent3"/>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dk1"/>
              </a:solidFill>
              <a:effectLst/>
              <a:uLnTx/>
              <a:uFillTx/>
              <a:latin typeface="+mn-ea"/>
              <a:ea typeface="+mn-ea"/>
              <a:cs typeface="Consolas" pitchFamily="49" charset="0"/>
            </a:endParaRPr>
          </a:p>
        </p:txBody>
      </p:sp>
      <p:sp>
        <p:nvSpPr>
          <p:cNvPr id="107522" name="TextBox 11"/>
          <p:cNvSpPr txBox="1"/>
          <p:nvPr/>
        </p:nvSpPr>
        <p:spPr>
          <a:xfrm>
            <a:off x="282575" y="1500188"/>
            <a:ext cx="4000500" cy="400050"/>
          </a:xfrm>
          <a:prstGeom prst="rect">
            <a:avLst/>
          </a:prstGeom>
          <a:noFill/>
          <a:ln w="9525">
            <a:noFill/>
          </a:ln>
        </p:spPr>
        <p:txBody>
          <a:bodyPr anchor="t" anchorCtr="0">
            <a:spAutoFit/>
          </a:bodyPr>
          <a:lstStyle/>
          <a:p>
            <a:pPr>
              <a:buClrTx/>
              <a:buFontTx/>
            </a:pPr>
            <a:r>
              <a:rPr lang="zh-CN" altLang="en-US">
                <a:solidFill>
                  <a:srgbClr val="CC00FF"/>
                </a:solidFill>
                <a:latin typeface="华文楷体" panose="02010600040101010101" pitchFamily="2" charset="-122"/>
                <a:ea typeface="华文楷体" panose="02010600040101010101" pitchFamily="2" charset="-122"/>
              </a:rPr>
              <a:t>第</a:t>
            </a:r>
            <a:r>
              <a:rPr lang="en-US" altLang="zh-CN" i="1">
                <a:solidFill>
                  <a:srgbClr val="CC00FF"/>
                </a:solidFill>
                <a:latin typeface="华文楷体" panose="02010600040101010101" pitchFamily="2" charset="-122"/>
                <a:ea typeface="华文楷体" panose="02010600040101010101" pitchFamily="2" charset="-122"/>
              </a:rPr>
              <a:t>i</a:t>
            </a:r>
            <a:r>
              <a:rPr lang="zh-CN" altLang="en-US">
                <a:solidFill>
                  <a:srgbClr val="CC00FF"/>
                </a:solidFill>
                <a:latin typeface="华文楷体" panose="02010600040101010101" pitchFamily="2" charset="-122"/>
                <a:ea typeface="华文楷体" panose="02010600040101010101" pitchFamily="2" charset="-122"/>
              </a:rPr>
              <a:t>层结点：</a:t>
            </a:r>
            <a:r>
              <a:rPr lang="en-US" altLang="zh-CN">
                <a:solidFill>
                  <a:srgbClr val="0000FF"/>
                </a:solidFill>
                <a:latin typeface="华文楷体" panose="02010600040101010101" pitchFamily="2" charset="-122"/>
                <a:ea typeface="华文楷体" panose="02010600040101010101" pitchFamily="2" charset="-122"/>
              </a:rPr>
              <a:t>dfs(</a:t>
            </a:r>
            <a:r>
              <a:rPr lang="en-US" altLang="zh-CN" i="1">
                <a:solidFill>
                  <a:srgbClr val="0000FF"/>
                </a:solidFill>
                <a:latin typeface="华文楷体" panose="02010600040101010101" pitchFamily="2" charset="-122"/>
                <a:ea typeface="华文楷体" panose="02010600040101010101" pitchFamily="2" charset="-122"/>
              </a:rPr>
              <a:t>i</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tw</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tv</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op)</a:t>
            </a:r>
            <a:endParaRPr lang="zh-CN" altLang="en-US">
              <a:solidFill>
                <a:srgbClr val="0000FF"/>
              </a:solidFill>
              <a:latin typeface="华文楷体" panose="02010600040101010101" pitchFamily="2" charset="-122"/>
              <a:ea typeface="华文楷体" panose="02010600040101010101" pitchFamily="2" charset="-122"/>
            </a:endParaRPr>
          </a:p>
        </p:txBody>
      </p:sp>
      <p:cxnSp>
        <p:nvCxnSpPr>
          <p:cNvPr id="8" name="直接连接符 7"/>
          <p:cNvCxnSpPr>
            <a:stCxn id="5" idx="3"/>
          </p:cNvCxnSpPr>
          <p:nvPr/>
        </p:nvCxnSpPr>
        <p:spPr>
          <a:xfrm rot="5400000">
            <a:off x="889000" y="2628900"/>
            <a:ext cx="1146175" cy="768350"/>
          </a:xfrm>
          <a:prstGeom prst="line">
            <a:avLst/>
          </a:prstGeom>
          <a:ln w="12700"/>
        </p:spPr>
        <p:style>
          <a:lnRef idx="2">
            <a:schemeClr val="dk1"/>
          </a:lnRef>
          <a:fillRef idx="0">
            <a:schemeClr val="dk1"/>
          </a:fillRef>
          <a:effectRef idx="1">
            <a:schemeClr val="dk1"/>
          </a:effectRef>
          <a:fontRef idx="minor">
            <a:schemeClr val="tx1"/>
          </a:fontRef>
        </p:style>
      </p:cxnSp>
      <p:sp>
        <p:nvSpPr>
          <p:cNvPr id="21" name="等腰三角形 20"/>
          <p:cNvSpPr/>
          <p:nvPr/>
        </p:nvSpPr>
        <p:spPr>
          <a:xfrm>
            <a:off x="668338" y="3571875"/>
            <a:ext cx="785813" cy="8572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ea"/>
              <a:ea typeface="+mn-ea"/>
              <a:cs typeface="+mn-cs"/>
            </a:endParaRPr>
          </a:p>
        </p:txBody>
      </p:sp>
      <p:sp>
        <p:nvSpPr>
          <p:cNvPr id="107525" name="TextBox 22"/>
          <p:cNvSpPr txBox="1"/>
          <p:nvPr/>
        </p:nvSpPr>
        <p:spPr>
          <a:xfrm>
            <a:off x="1139825" y="2714625"/>
            <a:ext cx="357188" cy="400050"/>
          </a:xfrm>
          <a:prstGeom prst="rect">
            <a:avLst/>
          </a:prstGeom>
          <a:noFill/>
          <a:ln w="9525">
            <a:noFill/>
          </a:ln>
        </p:spPr>
        <p:txBody>
          <a:bodyPr anchor="t" anchorCtr="0">
            <a:spAutoFit/>
          </a:bodyPr>
          <a:lstStyle/>
          <a:p>
            <a:pPr>
              <a:buClrTx/>
              <a:buFontTx/>
            </a:pPr>
            <a:r>
              <a:rPr lang="en-US" altLang="zh-CN">
                <a:solidFill>
                  <a:srgbClr val="0000FF"/>
                </a:solidFill>
                <a:latin typeface="华文楷体" panose="02010600040101010101" pitchFamily="2" charset="-122"/>
                <a:ea typeface="华文楷体" panose="02010600040101010101" pitchFamily="2" charset="-122"/>
              </a:rPr>
              <a:t>1</a:t>
            </a:r>
            <a:endParaRPr lang="zh-CN" altLang="en-US">
              <a:solidFill>
                <a:srgbClr val="0000FF"/>
              </a:solidFill>
              <a:latin typeface="华文楷体" panose="02010600040101010101" pitchFamily="2" charset="-122"/>
              <a:ea typeface="华文楷体" panose="02010600040101010101" pitchFamily="2" charset="-122"/>
            </a:endParaRPr>
          </a:p>
        </p:txBody>
      </p:sp>
      <p:grpSp>
        <p:nvGrpSpPr>
          <p:cNvPr id="2" name="组合 27"/>
          <p:cNvGrpSpPr/>
          <p:nvPr/>
        </p:nvGrpSpPr>
        <p:grpSpPr>
          <a:xfrm>
            <a:off x="2149475" y="2214563"/>
            <a:ext cx="6708775" cy="2328862"/>
            <a:chOff x="2148737" y="2214554"/>
            <a:chExt cx="6709543" cy="2328936"/>
          </a:xfrm>
        </p:grpSpPr>
        <p:sp>
          <p:nvSpPr>
            <p:cNvPr id="9" name="椭圆 8"/>
            <p:cNvSpPr/>
            <p:nvPr/>
          </p:nvSpPr>
          <p:spPr>
            <a:xfrm>
              <a:off x="2785398" y="3513170"/>
              <a:ext cx="428674" cy="500078"/>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dk1"/>
                </a:solidFill>
                <a:effectLst/>
                <a:uLnTx/>
                <a:uFillTx/>
                <a:latin typeface="+mn-ea"/>
                <a:ea typeface="+mn-ea"/>
                <a:cs typeface="Consolas" pitchFamily="49" charset="0"/>
              </a:endParaRPr>
            </a:p>
          </p:txBody>
        </p:sp>
        <p:cxnSp>
          <p:nvCxnSpPr>
            <p:cNvPr id="11" name="直接连接符 10"/>
            <p:cNvCxnSpPr>
              <a:stCxn id="5" idx="5"/>
              <a:endCxn id="9" idx="1"/>
            </p:cNvCxnSpPr>
            <p:nvPr/>
          </p:nvCxnSpPr>
          <p:spPr>
            <a:xfrm>
              <a:off x="2148737" y="2439986"/>
              <a:ext cx="700168" cy="1146211"/>
            </a:xfrm>
            <a:prstGeom prst="line">
              <a:avLst/>
            </a:prstGeom>
            <a:ln w="12700"/>
          </p:spPr>
          <p:style>
            <a:lnRef idx="2">
              <a:schemeClr val="dk1"/>
            </a:lnRef>
            <a:fillRef idx="0">
              <a:schemeClr val="dk1"/>
            </a:fillRef>
            <a:effectRef idx="1">
              <a:schemeClr val="dk1"/>
            </a:effectRef>
            <a:fontRef idx="minor">
              <a:schemeClr val="tx1"/>
            </a:fontRef>
          </p:style>
        </p:cxnSp>
        <p:sp>
          <p:nvSpPr>
            <p:cNvPr id="107529" name="TextBox 15"/>
            <p:cNvSpPr txBox="1"/>
            <p:nvPr/>
          </p:nvSpPr>
          <p:spPr>
            <a:xfrm>
              <a:off x="2213832" y="4143427"/>
              <a:ext cx="2572044" cy="400063"/>
            </a:xfrm>
            <a:prstGeom prst="rect">
              <a:avLst/>
            </a:prstGeom>
            <a:noFill/>
            <a:ln w="9525">
              <a:noFill/>
            </a:ln>
          </p:spPr>
          <p:txBody>
            <a:bodyPr anchor="t" anchorCtr="0">
              <a:spAutoFit/>
            </a:bodyPr>
            <a:lstStyle/>
            <a:p>
              <a:pPr>
                <a:buClrTx/>
                <a:buFontTx/>
              </a:pPr>
              <a:r>
                <a:rPr lang="en-US" altLang="zh-CN">
                  <a:solidFill>
                    <a:srgbClr val="0000FF"/>
                  </a:solidFill>
                  <a:latin typeface="华文楷体" panose="02010600040101010101" pitchFamily="2" charset="-122"/>
                  <a:ea typeface="华文楷体" panose="02010600040101010101" pitchFamily="2" charset="-122"/>
                </a:rPr>
                <a:t>dfs(</a:t>
              </a:r>
              <a:r>
                <a:rPr lang="en-US" altLang="zh-CN" i="1">
                  <a:solidFill>
                    <a:srgbClr val="0000FF"/>
                  </a:solidFill>
                  <a:latin typeface="华文楷体" panose="02010600040101010101" pitchFamily="2" charset="-122"/>
                  <a:ea typeface="华文楷体" panose="02010600040101010101" pitchFamily="2" charset="-122"/>
                </a:rPr>
                <a:t>i</a:t>
              </a:r>
              <a:r>
                <a:rPr lang="en-US" altLang="zh-CN">
                  <a:solidFill>
                    <a:srgbClr val="0000FF"/>
                  </a:solidFill>
                  <a:latin typeface="华文楷体" panose="02010600040101010101" pitchFamily="2" charset="-122"/>
                  <a:ea typeface="华文楷体" panose="02010600040101010101" pitchFamily="2" charset="-122"/>
                </a:rPr>
                <a:t>+1</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tw</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tv</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op)</a:t>
              </a:r>
              <a:endParaRPr lang="zh-CN" altLang="en-US">
                <a:latin typeface="华文楷体" panose="02010600040101010101" pitchFamily="2" charset="-122"/>
                <a:ea typeface="华文楷体" panose="02010600040101010101" pitchFamily="2" charset="-122"/>
              </a:endParaRPr>
            </a:p>
          </p:txBody>
        </p:sp>
        <p:sp>
          <p:nvSpPr>
            <p:cNvPr id="107530" name="TextBox 16"/>
            <p:cNvSpPr txBox="1"/>
            <p:nvPr/>
          </p:nvSpPr>
          <p:spPr>
            <a:xfrm>
              <a:off x="3285517" y="3584610"/>
              <a:ext cx="2143370" cy="400063"/>
            </a:xfrm>
            <a:prstGeom prst="rect">
              <a:avLst/>
            </a:prstGeom>
            <a:noFill/>
            <a:ln w="9525">
              <a:noFill/>
            </a:ln>
          </p:spPr>
          <p:txBody>
            <a:bodyPr anchor="t" anchorCtr="0">
              <a:spAutoFit/>
            </a:bodyPr>
            <a:lstStyle/>
            <a:p>
              <a:pPr>
                <a:buClrTx/>
                <a:buFontTx/>
              </a:pPr>
              <a:r>
                <a:rPr lang="zh-CN" altLang="en-US">
                  <a:solidFill>
                    <a:srgbClr val="CC00FF"/>
                  </a:solidFill>
                  <a:latin typeface="华文楷体" panose="02010600040101010101" pitchFamily="2" charset="-122"/>
                  <a:ea typeface="华文楷体" panose="02010600040101010101" pitchFamily="2" charset="-122"/>
                </a:rPr>
                <a:t>第</a:t>
              </a:r>
              <a:r>
                <a:rPr lang="en-US" altLang="zh-CN" i="1">
                  <a:solidFill>
                    <a:srgbClr val="CC00FF"/>
                  </a:solidFill>
                  <a:latin typeface="华文楷体" panose="02010600040101010101" pitchFamily="2" charset="-122"/>
                  <a:ea typeface="华文楷体" panose="02010600040101010101" pitchFamily="2" charset="-122"/>
                </a:rPr>
                <a:t>i</a:t>
              </a:r>
              <a:r>
                <a:rPr lang="en-US" altLang="zh-CN">
                  <a:solidFill>
                    <a:srgbClr val="CC00FF"/>
                  </a:solidFill>
                  <a:latin typeface="华文楷体" panose="02010600040101010101" pitchFamily="2" charset="-122"/>
                  <a:ea typeface="华文楷体" panose="02010600040101010101" pitchFamily="2" charset="-122"/>
                </a:rPr>
                <a:t>+1</a:t>
              </a:r>
              <a:r>
                <a:rPr lang="zh-CN" altLang="en-US">
                  <a:solidFill>
                    <a:srgbClr val="CC00FF"/>
                  </a:solidFill>
                  <a:latin typeface="华文楷体" panose="02010600040101010101" pitchFamily="2" charset="-122"/>
                  <a:ea typeface="华文楷体" panose="02010600040101010101" pitchFamily="2" charset="-122"/>
                </a:rPr>
                <a:t>层结点</a:t>
              </a:r>
              <a:endParaRPr lang="zh-CN" altLang="en-US">
                <a:latin typeface="华文楷体" panose="02010600040101010101" pitchFamily="2" charset="-122"/>
                <a:ea typeface="华文楷体" panose="02010600040101010101" pitchFamily="2" charset="-122"/>
              </a:endParaRPr>
            </a:p>
          </p:txBody>
        </p:sp>
        <p:sp>
          <p:nvSpPr>
            <p:cNvPr id="107531" name="TextBox 23"/>
            <p:cNvSpPr txBox="1"/>
            <p:nvPr/>
          </p:nvSpPr>
          <p:spPr>
            <a:xfrm>
              <a:off x="2428169" y="2590803"/>
              <a:ext cx="2143370" cy="708047"/>
            </a:xfrm>
            <a:prstGeom prst="rect">
              <a:avLst/>
            </a:prstGeom>
            <a:noFill/>
            <a:ln w="9525">
              <a:noFill/>
            </a:ln>
          </p:spPr>
          <p:txBody>
            <a:bodyPr anchor="t" anchorCtr="0">
              <a:spAutoFit/>
            </a:bodyPr>
            <a:lstStyle/>
            <a:p>
              <a:pPr>
                <a:buClrTx/>
                <a:buFontTx/>
              </a:pPr>
              <a:r>
                <a:rPr lang="en-US" altLang="zh-CN">
                  <a:solidFill>
                    <a:srgbClr val="0000FF"/>
                  </a:solidFill>
                  <a:latin typeface="华文楷体" panose="02010600040101010101" pitchFamily="2" charset="-122"/>
                  <a:ea typeface="华文楷体" panose="02010600040101010101" pitchFamily="2" charset="-122"/>
                </a:rPr>
                <a:t>0</a:t>
              </a:r>
              <a:r>
                <a:rPr lang="zh-CN" altLang="en-US">
                  <a:solidFill>
                    <a:srgbClr val="0000FF"/>
                  </a:solidFill>
                  <a:latin typeface="华文楷体" panose="02010600040101010101" pitchFamily="2" charset="-122"/>
                  <a:ea typeface="华文楷体" panose="02010600040101010101" pitchFamily="2" charset="-122"/>
                </a:rPr>
                <a:t>：不</a:t>
              </a:r>
              <a:r>
                <a:rPr lang="zh-CN" altLang="zh-CN">
                  <a:solidFill>
                    <a:srgbClr val="0000FF"/>
                  </a:solidFill>
                  <a:latin typeface="华文楷体" panose="02010600040101010101" pitchFamily="2" charset="-122"/>
                  <a:ea typeface="华文楷体" panose="02010600040101010101" pitchFamily="2" charset="-122"/>
                </a:rPr>
                <a:t>选择第</a:t>
              </a:r>
              <a:r>
                <a:rPr lang="en-US" altLang="zh-CN" i="1">
                  <a:solidFill>
                    <a:srgbClr val="0000FF"/>
                  </a:solidFill>
                  <a:latin typeface="华文楷体" panose="02010600040101010101" pitchFamily="2" charset="-122"/>
                  <a:ea typeface="华文楷体" panose="02010600040101010101" pitchFamily="2" charset="-122"/>
                </a:rPr>
                <a:t>i</a:t>
              </a:r>
              <a:r>
                <a:rPr lang="zh-CN" altLang="zh-CN">
                  <a:solidFill>
                    <a:srgbClr val="0000FF"/>
                  </a:solidFill>
                  <a:latin typeface="华文楷体" panose="02010600040101010101" pitchFamily="2" charset="-122"/>
                  <a:ea typeface="华文楷体" panose="02010600040101010101" pitchFamily="2" charset="-122"/>
                </a:rPr>
                <a:t>个物品</a:t>
              </a:r>
              <a:endParaRPr lang="zh-CN" altLang="en-US">
                <a:solidFill>
                  <a:srgbClr val="0000FF"/>
                </a:solidFill>
                <a:latin typeface="华文楷体" panose="02010600040101010101" pitchFamily="2" charset="-122"/>
                <a:ea typeface="华文楷体" panose="02010600040101010101" pitchFamily="2" charset="-122"/>
              </a:endParaRPr>
            </a:p>
          </p:txBody>
        </p:sp>
        <p:sp>
          <p:nvSpPr>
            <p:cNvPr id="107532" name="TextBox 24"/>
            <p:cNvSpPr txBox="1"/>
            <p:nvPr/>
          </p:nvSpPr>
          <p:spPr>
            <a:xfrm>
              <a:off x="4428648" y="2214554"/>
              <a:ext cx="4429632" cy="1403395"/>
            </a:xfrm>
            <a:prstGeom prst="rect">
              <a:avLst/>
            </a:prstGeom>
            <a:noFill/>
            <a:ln w="9525">
              <a:noFill/>
            </a:ln>
          </p:spPr>
          <p:txBody>
            <a:bodyPr anchor="t" anchorCtr="0">
              <a:spAutoFit/>
            </a:bodyPr>
            <a:lstStyle/>
            <a:p>
              <a:pPr marL="342900" indent="-342900">
                <a:lnSpc>
                  <a:spcPts val="2600"/>
                </a:lnSpc>
                <a:buClrTx/>
                <a:buFontTx/>
                <a:buBlip>
                  <a:blip r:embed="rId3"/>
                </a:buBlip>
              </a:pPr>
              <a:r>
                <a:rPr lang="zh-CN" altLang="zh-CN" dirty="0">
                  <a:solidFill>
                    <a:srgbClr val="0000FF"/>
                  </a:solidFill>
                  <a:latin typeface="华文楷体" panose="02010600040101010101" pitchFamily="2" charset="-122"/>
                  <a:ea typeface="华文楷体" panose="02010600040101010101" pitchFamily="2" charset="-122"/>
                </a:rPr>
                <a:t>上界函数</a:t>
              </a:r>
              <a:r>
                <a:rPr lang="en-US" altLang="zh-CN" dirty="0">
                  <a:solidFill>
                    <a:srgbClr val="FF0000"/>
                  </a:solidFill>
                  <a:latin typeface="华文楷体" panose="02010600040101010101" pitchFamily="2" charset="-122"/>
                  <a:ea typeface="华文楷体" panose="02010600040101010101" pitchFamily="2" charset="-122"/>
                </a:rPr>
                <a:t>bound(</a:t>
              </a:r>
              <a:r>
                <a:rPr lang="en-US" altLang="zh-CN" i="1" dirty="0" err="1">
                  <a:solidFill>
                    <a:srgbClr val="FF0000"/>
                  </a:solidFill>
                  <a:latin typeface="华文楷体" panose="02010600040101010101" pitchFamily="2" charset="-122"/>
                  <a:ea typeface="华文楷体" panose="02010600040101010101" pitchFamily="2" charset="-122"/>
                </a:rPr>
                <a:t>i</a:t>
              </a:r>
              <a:r>
                <a:rPr lang="en-US" altLang="zh-CN" dirty="0">
                  <a:solidFill>
                    <a:srgbClr val="FF0000"/>
                  </a:solidFill>
                  <a:latin typeface="华文楷体" panose="02010600040101010101" pitchFamily="2" charset="-122"/>
                  <a:ea typeface="华文楷体" panose="02010600040101010101" pitchFamily="2" charset="-122"/>
                </a:rPr>
                <a:t>)=</a:t>
              </a:r>
              <a:r>
                <a:rPr lang="en-US" altLang="zh-CN" dirty="0" err="1">
                  <a:solidFill>
                    <a:srgbClr val="FF0000"/>
                  </a:solidFill>
                  <a:latin typeface="华文楷体" panose="02010600040101010101" pitchFamily="2" charset="-122"/>
                  <a:ea typeface="华文楷体" panose="02010600040101010101" pitchFamily="2" charset="-122"/>
                </a:rPr>
                <a:t>tv+</a:t>
              </a:r>
              <a:r>
                <a:rPr lang="en-US" altLang="zh-CN" i="1" dirty="0" err="1">
                  <a:solidFill>
                    <a:srgbClr val="FF0000"/>
                  </a:solidFill>
                  <a:latin typeface="华文楷体" panose="02010600040101010101" pitchFamily="2" charset="-122"/>
                  <a:ea typeface="华文楷体" panose="02010600040101010101" pitchFamily="2" charset="-122"/>
                </a:rPr>
                <a:t>r</a:t>
              </a:r>
              <a:endParaRPr lang="en-US" altLang="zh-CN" i="1" dirty="0">
                <a:solidFill>
                  <a:srgbClr val="FF0000"/>
                </a:solidFill>
                <a:latin typeface="华文楷体" panose="02010600040101010101" pitchFamily="2" charset="-122"/>
                <a:ea typeface="华文楷体" panose="02010600040101010101" pitchFamily="2" charset="-122"/>
              </a:endParaRPr>
            </a:p>
            <a:p>
              <a:pPr marL="342900" indent="-342900">
                <a:lnSpc>
                  <a:spcPts val="2600"/>
                </a:lnSpc>
                <a:buClrTx/>
                <a:buFontTx/>
                <a:buBlip>
                  <a:blip r:embed="rId3"/>
                </a:buBlip>
              </a:pPr>
              <a:r>
                <a:rPr lang="zh-CN" altLang="en-US" dirty="0">
                  <a:solidFill>
                    <a:srgbClr val="0000FF"/>
                  </a:solidFill>
                  <a:latin typeface="华文楷体" panose="02010600040101010101" pitchFamily="2" charset="-122"/>
                  <a:ea typeface="华文楷体" panose="02010600040101010101" pitchFamily="2" charset="-122"/>
                </a:rPr>
                <a:t>表示</a:t>
              </a:r>
              <a:r>
                <a:rPr lang="zh-CN" altLang="zh-CN" dirty="0">
                  <a:solidFill>
                    <a:srgbClr val="0000FF"/>
                  </a:solidFill>
                  <a:latin typeface="华文楷体" panose="02010600040101010101" pitchFamily="2" charset="-122"/>
                  <a:ea typeface="华文楷体" panose="02010600040101010101" pitchFamily="2" charset="-122"/>
                </a:rPr>
                <a:t>沿着该方向选择得到物品的价值上界</a:t>
              </a:r>
              <a:endParaRPr lang="en-US" altLang="zh-CN" dirty="0">
                <a:solidFill>
                  <a:srgbClr val="0000FF"/>
                </a:solidFill>
                <a:latin typeface="华文楷体" panose="02010600040101010101" pitchFamily="2" charset="-122"/>
                <a:ea typeface="华文楷体" panose="02010600040101010101" pitchFamily="2" charset="-122"/>
              </a:endParaRPr>
            </a:p>
            <a:p>
              <a:pPr marL="342900" indent="-342900">
                <a:lnSpc>
                  <a:spcPts val="2600"/>
                </a:lnSpc>
                <a:buClrTx/>
                <a:buFontTx/>
                <a:buBlip>
                  <a:blip r:embed="rId3"/>
                </a:buBlip>
              </a:pPr>
              <a:r>
                <a:rPr lang="en-US" altLang="zh-CN" i="1" dirty="0">
                  <a:solidFill>
                    <a:srgbClr val="0000FF"/>
                  </a:solidFill>
                  <a:latin typeface="华文楷体" panose="02010600040101010101" pitchFamily="2" charset="-122"/>
                  <a:ea typeface="华文楷体" panose="02010600040101010101" pitchFamily="2" charset="-122"/>
                </a:rPr>
                <a:t>r</a:t>
              </a:r>
              <a:r>
                <a:rPr lang="zh-CN" altLang="zh-CN" dirty="0">
                  <a:solidFill>
                    <a:srgbClr val="0000FF"/>
                  </a:solidFill>
                  <a:latin typeface="华文楷体" panose="02010600040101010101" pitchFamily="2" charset="-122"/>
                  <a:ea typeface="华文楷体" panose="02010600040101010101" pitchFamily="2" charset="-122"/>
                </a:rPr>
                <a:t>表示剩余物品的总价值</a:t>
              </a:r>
              <a:endParaRPr lang="zh-CN" altLang="en-US" dirty="0">
                <a:solidFill>
                  <a:srgbClr val="0000FF"/>
                </a:solidFill>
                <a:latin typeface="华文楷体" panose="02010600040101010101" pitchFamily="2" charset="-122"/>
                <a:ea typeface="华文楷体"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714500" y="2012950"/>
            <a:ext cx="428625" cy="500063"/>
          </a:xfrm>
          <a:prstGeom prst="ellipse">
            <a:avLst/>
          </a:prstGeom>
          <a:solidFill>
            <a:srgbClr val="00B0F0"/>
          </a:solidFill>
        </p:spPr>
        <p:style>
          <a:lnRef idx="1">
            <a:schemeClr val="accent3"/>
          </a:lnRef>
          <a:fillRef idx="2">
            <a:schemeClr val="accent3"/>
          </a:fillRef>
          <a:effectRef idx="1">
            <a:schemeClr val="accent3"/>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dk1"/>
              </a:solidFill>
              <a:effectLst/>
              <a:uLnTx/>
              <a:uFillTx/>
              <a:latin typeface="+mn-ea"/>
              <a:ea typeface="+mn-ea"/>
              <a:cs typeface="Consolas" pitchFamily="49" charset="0"/>
            </a:endParaRPr>
          </a:p>
        </p:txBody>
      </p:sp>
      <p:sp>
        <p:nvSpPr>
          <p:cNvPr id="109570" name="TextBox 11"/>
          <p:cNvSpPr txBox="1"/>
          <p:nvPr/>
        </p:nvSpPr>
        <p:spPr>
          <a:xfrm>
            <a:off x="214313" y="1500188"/>
            <a:ext cx="4000500" cy="400050"/>
          </a:xfrm>
          <a:prstGeom prst="rect">
            <a:avLst/>
          </a:prstGeom>
          <a:noFill/>
          <a:ln w="9525">
            <a:noFill/>
          </a:ln>
        </p:spPr>
        <p:txBody>
          <a:bodyPr anchor="t" anchorCtr="0">
            <a:spAutoFit/>
          </a:bodyPr>
          <a:lstStyle/>
          <a:p>
            <a:pPr>
              <a:buClrTx/>
              <a:buFontTx/>
            </a:pPr>
            <a:r>
              <a:rPr lang="zh-CN" altLang="en-US">
                <a:solidFill>
                  <a:srgbClr val="CC00FF"/>
                </a:solidFill>
                <a:latin typeface="华文楷体" panose="02010600040101010101" pitchFamily="2" charset="-122"/>
                <a:ea typeface="华文楷体" panose="02010600040101010101" pitchFamily="2" charset="-122"/>
              </a:rPr>
              <a:t>第</a:t>
            </a:r>
            <a:r>
              <a:rPr lang="en-US" altLang="zh-CN" i="1">
                <a:solidFill>
                  <a:srgbClr val="CC00FF"/>
                </a:solidFill>
                <a:latin typeface="华文楷体" panose="02010600040101010101" pitchFamily="2" charset="-122"/>
                <a:ea typeface="华文楷体" panose="02010600040101010101" pitchFamily="2" charset="-122"/>
              </a:rPr>
              <a:t>i</a:t>
            </a:r>
            <a:r>
              <a:rPr lang="zh-CN" altLang="en-US">
                <a:solidFill>
                  <a:srgbClr val="CC00FF"/>
                </a:solidFill>
                <a:latin typeface="华文楷体" panose="02010600040101010101" pitchFamily="2" charset="-122"/>
                <a:ea typeface="华文楷体" panose="02010600040101010101" pitchFamily="2" charset="-122"/>
              </a:rPr>
              <a:t>层结点：</a:t>
            </a:r>
            <a:r>
              <a:rPr lang="en-US" altLang="zh-CN">
                <a:solidFill>
                  <a:srgbClr val="0000FF"/>
                </a:solidFill>
                <a:latin typeface="华文楷体" panose="02010600040101010101" pitchFamily="2" charset="-122"/>
                <a:ea typeface="华文楷体" panose="02010600040101010101" pitchFamily="2" charset="-122"/>
              </a:rPr>
              <a:t>dfs(</a:t>
            </a:r>
            <a:r>
              <a:rPr lang="en-US" altLang="zh-CN" i="1">
                <a:solidFill>
                  <a:srgbClr val="0000FF"/>
                </a:solidFill>
                <a:latin typeface="华文楷体" panose="02010600040101010101" pitchFamily="2" charset="-122"/>
                <a:ea typeface="华文楷体" panose="02010600040101010101" pitchFamily="2" charset="-122"/>
              </a:rPr>
              <a:t>i</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tw</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tv</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op)</a:t>
            </a:r>
            <a:endParaRPr lang="zh-CN" altLang="en-US">
              <a:solidFill>
                <a:srgbClr val="0000FF"/>
              </a:solidFill>
              <a:latin typeface="华文楷体" panose="02010600040101010101" pitchFamily="2" charset="-122"/>
              <a:ea typeface="华文楷体" panose="02010600040101010101" pitchFamily="2" charset="-122"/>
            </a:endParaRPr>
          </a:p>
        </p:txBody>
      </p:sp>
      <p:cxnSp>
        <p:nvCxnSpPr>
          <p:cNvPr id="8" name="直接连接符 7"/>
          <p:cNvCxnSpPr>
            <a:stCxn id="5" idx="3"/>
          </p:cNvCxnSpPr>
          <p:nvPr/>
        </p:nvCxnSpPr>
        <p:spPr>
          <a:xfrm rot="5400000">
            <a:off x="819944" y="2628106"/>
            <a:ext cx="1146175" cy="769938"/>
          </a:xfrm>
          <a:prstGeom prst="line">
            <a:avLst/>
          </a:prstGeom>
          <a:ln w="12700"/>
        </p:spPr>
        <p:style>
          <a:lnRef idx="2">
            <a:schemeClr val="dk1"/>
          </a:lnRef>
          <a:fillRef idx="0">
            <a:schemeClr val="dk1"/>
          </a:fillRef>
          <a:effectRef idx="1">
            <a:schemeClr val="dk1"/>
          </a:effectRef>
          <a:fontRef idx="minor">
            <a:schemeClr val="tx1"/>
          </a:fontRef>
        </p:style>
      </p:cxnSp>
      <p:sp>
        <p:nvSpPr>
          <p:cNvPr id="9" name="椭圆 8"/>
          <p:cNvSpPr/>
          <p:nvPr/>
        </p:nvSpPr>
        <p:spPr>
          <a:xfrm>
            <a:off x="2786063" y="3714750"/>
            <a:ext cx="428625" cy="500063"/>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dk1"/>
              </a:solidFill>
              <a:effectLst/>
              <a:uLnTx/>
              <a:uFillTx/>
              <a:latin typeface="+mn-ea"/>
              <a:ea typeface="+mn-ea"/>
              <a:cs typeface="Consolas" pitchFamily="49" charset="0"/>
            </a:endParaRPr>
          </a:p>
        </p:txBody>
      </p:sp>
      <p:cxnSp>
        <p:nvCxnSpPr>
          <p:cNvPr id="11" name="直接连接符 10"/>
          <p:cNvCxnSpPr>
            <a:stCxn id="5" idx="5"/>
            <a:endCxn id="9" idx="1"/>
          </p:cNvCxnSpPr>
          <p:nvPr/>
        </p:nvCxnSpPr>
        <p:spPr>
          <a:xfrm rot="16200000" flipH="1">
            <a:off x="1790700" y="2728913"/>
            <a:ext cx="1347788" cy="769938"/>
          </a:xfrm>
          <a:prstGeom prst="line">
            <a:avLst/>
          </a:prstGeom>
          <a:ln w="12700"/>
        </p:spPr>
        <p:style>
          <a:lnRef idx="2">
            <a:schemeClr val="dk1"/>
          </a:lnRef>
          <a:fillRef idx="0">
            <a:schemeClr val="dk1"/>
          </a:fillRef>
          <a:effectRef idx="1">
            <a:schemeClr val="dk1"/>
          </a:effectRef>
          <a:fontRef idx="minor">
            <a:schemeClr val="tx1"/>
          </a:fontRef>
        </p:style>
      </p:cxnSp>
      <p:sp>
        <p:nvSpPr>
          <p:cNvPr id="21" name="等腰三角形 20"/>
          <p:cNvSpPr/>
          <p:nvPr/>
        </p:nvSpPr>
        <p:spPr>
          <a:xfrm>
            <a:off x="600075" y="3571875"/>
            <a:ext cx="785813" cy="8572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ea"/>
              <a:ea typeface="+mn-ea"/>
              <a:cs typeface="+mn-cs"/>
            </a:endParaRPr>
          </a:p>
        </p:txBody>
      </p:sp>
      <p:sp>
        <p:nvSpPr>
          <p:cNvPr id="109575" name="TextBox 22"/>
          <p:cNvSpPr txBox="1"/>
          <p:nvPr/>
        </p:nvSpPr>
        <p:spPr>
          <a:xfrm>
            <a:off x="1071563" y="2714625"/>
            <a:ext cx="357187" cy="400050"/>
          </a:xfrm>
          <a:prstGeom prst="rect">
            <a:avLst/>
          </a:prstGeom>
          <a:noFill/>
          <a:ln w="9525">
            <a:noFill/>
          </a:ln>
        </p:spPr>
        <p:txBody>
          <a:bodyPr anchor="t" anchorCtr="0">
            <a:spAutoFit/>
          </a:bodyPr>
          <a:lstStyle/>
          <a:p>
            <a:pPr>
              <a:buClrTx/>
              <a:buFontTx/>
            </a:pPr>
            <a:r>
              <a:rPr lang="en-US" altLang="zh-CN">
                <a:solidFill>
                  <a:srgbClr val="0000FF"/>
                </a:solidFill>
                <a:latin typeface="华文楷体" panose="02010600040101010101" pitchFamily="2" charset="-122"/>
                <a:ea typeface="华文楷体" panose="02010600040101010101" pitchFamily="2" charset="-122"/>
              </a:rPr>
              <a:t>1</a:t>
            </a:r>
            <a:endParaRPr lang="zh-CN" altLang="en-US">
              <a:solidFill>
                <a:srgbClr val="0000FF"/>
              </a:solidFill>
              <a:latin typeface="华文楷体" panose="02010600040101010101" pitchFamily="2" charset="-122"/>
              <a:ea typeface="华文楷体" panose="02010600040101010101" pitchFamily="2" charset="-122"/>
            </a:endParaRPr>
          </a:p>
        </p:txBody>
      </p:sp>
      <p:sp>
        <p:nvSpPr>
          <p:cNvPr id="109576" name="TextBox 23"/>
          <p:cNvSpPr txBox="1"/>
          <p:nvPr/>
        </p:nvSpPr>
        <p:spPr>
          <a:xfrm>
            <a:off x="2428875" y="2590800"/>
            <a:ext cx="428625" cy="400050"/>
          </a:xfrm>
          <a:prstGeom prst="rect">
            <a:avLst/>
          </a:prstGeom>
          <a:noFill/>
          <a:ln w="9525">
            <a:noFill/>
          </a:ln>
        </p:spPr>
        <p:txBody>
          <a:bodyPr anchor="t" anchorCtr="0">
            <a:spAutoFit/>
          </a:bodyPr>
          <a:lstStyle/>
          <a:p>
            <a:pPr>
              <a:buClrTx/>
              <a:buFontTx/>
            </a:pPr>
            <a:r>
              <a:rPr lang="en-US" altLang="zh-CN">
                <a:solidFill>
                  <a:srgbClr val="0000FF"/>
                </a:solidFill>
                <a:latin typeface="华文楷体" panose="02010600040101010101" pitchFamily="2" charset="-122"/>
                <a:ea typeface="华文楷体" panose="02010600040101010101" pitchFamily="2" charset="-122"/>
              </a:rPr>
              <a:t>0</a:t>
            </a:r>
            <a:endParaRPr lang="zh-CN" altLang="en-US">
              <a:solidFill>
                <a:srgbClr val="0000FF"/>
              </a:solidFill>
              <a:latin typeface="华文楷体" panose="02010600040101010101" pitchFamily="2" charset="-122"/>
              <a:ea typeface="华文楷体" panose="02010600040101010101" pitchFamily="2" charset="-122"/>
            </a:endParaRPr>
          </a:p>
        </p:txBody>
      </p:sp>
      <p:sp>
        <p:nvSpPr>
          <p:cNvPr id="25" name="TextBox 24"/>
          <p:cNvSpPr txBox="1"/>
          <p:nvPr/>
        </p:nvSpPr>
        <p:spPr>
          <a:xfrm>
            <a:off x="3143250" y="2071688"/>
            <a:ext cx="5286375" cy="2160587"/>
          </a:xfrm>
          <a:prstGeom prst="rect">
            <a:avLst/>
          </a:prstGeom>
          <a:noFill/>
          <a:ln w="9525">
            <a:noFill/>
          </a:ln>
        </p:spPr>
        <p:txBody>
          <a:bodyPr anchor="t" anchorCtr="0">
            <a:spAutoFit/>
          </a:bodyPr>
          <a:lstStyle/>
          <a:p>
            <a:pPr marL="342900" indent="-342900">
              <a:lnSpc>
                <a:spcPts val="2500"/>
              </a:lnSpc>
              <a:spcBef>
                <a:spcPts val="600"/>
              </a:spcBef>
              <a:buClrTx/>
              <a:buFontTx/>
              <a:buBlip>
                <a:blip r:embed="rId3"/>
              </a:buBlip>
            </a:pPr>
            <a:r>
              <a:rPr lang="zh-CN" altLang="zh-CN">
                <a:solidFill>
                  <a:srgbClr val="0000FF"/>
                </a:solidFill>
                <a:latin typeface="华文楷体" panose="02010600040101010101" pitchFamily="2" charset="-122"/>
                <a:ea typeface="华文楷体" panose="02010600040101010101" pitchFamily="2" charset="-122"/>
              </a:rPr>
              <a:t>上界函数</a:t>
            </a:r>
            <a:r>
              <a:rPr lang="en-US" altLang="zh-CN">
                <a:solidFill>
                  <a:srgbClr val="FF0000"/>
                </a:solidFill>
                <a:latin typeface="华文楷体" panose="02010600040101010101" pitchFamily="2" charset="-122"/>
                <a:ea typeface="华文楷体" panose="02010600040101010101" pitchFamily="2" charset="-122"/>
              </a:rPr>
              <a:t>bound(</a:t>
            </a:r>
            <a:r>
              <a:rPr lang="en-US" altLang="zh-CN" i="1">
                <a:solidFill>
                  <a:srgbClr val="FF0000"/>
                </a:solidFill>
                <a:latin typeface="华文楷体" panose="02010600040101010101" pitchFamily="2" charset="-122"/>
                <a:ea typeface="华文楷体" panose="02010600040101010101" pitchFamily="2" charset="-122"/>
              </a:rPr>
              <a:t>i</a:t>
            </a:r>
            <a:r>
              <a:rPr lang="en-US" altLang="zh-CN">
                <a:solidFill>
                  <a:srgbClr val="FF0000"/>
                </a:solidFill>
                <a:latin typeface="华文楷体" panose="02010600040101010101" pitchFamily="2" charset="-122"/>
                <a:ea typeface="华文楷体" panose="02010600040101010101" pitchFamily="2" charset="-122"/>
              </a:rPr>
              <a:t>)=tv+</a:t>
            </a:r>
            <a:r>
              <a:rPr lang="en-US" altLang="zh-CN" i="1">
                <a:solidFill>
                  <a:srgbClr val="FF0000"/>
                </a:solidFill>
                <a:latin typeface="华文楷体" panose="02010600040101010101" pitchFamily="2" charset="-122"/>
                <a:ea typeface="华文楷体" panose="02010600040101010101" pitchFamily="2" charset="-122"/>
              </a:rPr>
              <a:t>r</a:t>
            </a:r>
          </a:p>
          <a:p>
            <a:pPr marL="342900" indent="-342900">
              <a:lnSpc>
                <a:spcPts val="2500"/>
              </a:lnSpc>
              <a:spcBef>
                <a:spcPts val="600"/>
              </a:spcBef>
              <a:buClrTx/>
              <a:buFontTx/>
              <a:buBlip>
                <a:blip r:embed="rId3"/>
              </a:buBlip>
            </a:pPr>
            <a:r>
              <a:rPr lang="zh-CN" altLang="zh-CN">
                <a:solidFill>
                  <a:srgbClr val="0000FF"/>
                </a:solidFill>
                <a:latin typeface="华文楷体" panose="02010600040101010101" pitchFamily="2" charset="-122"/>
                <a:ea typeface="华文楷体" panose="02010600040101010101" pitchFamily="2" charset="-122"/>
              </a:rPr>
              <a:t>假设当前求出最大价值</a:t>
            </a:r>
            <a:r>
              <a:rPr lang="en-US" altLang="zh-CN">
                <a:solidFill>
                  <a:srgbClr val="0000FF"/>
                </a:solidFill>
                <a:latin typeface="华文楷体" panose="02010600040101010101" pitchFamily="2" charset="-122"/>
                <a:ea typeface="华文楷体" panose="02010600040101010101" pitchFamily="2" charset="-122"/>
              </a:rPr>
              <a:t>maxv</a:t>
            </a:r>
            <a:r>
              <a:rPr lang="zh-CN" altLang="zh-CN">
                <a:solidFill>
                  <a:srgbClr val="0000FF"/>
                </a:solidFill>
                <a:latin typeface="华文楷体" panose="02010600040101010101" pitchFamily="2" charset="-122"/>
                <a:ea typeface="华文楷体" panose="02010600040101010101" pitchFamily="2" charset="-122"/>
              </a:rPr>
              <a:t>，若</a:t>
            </a:r>
            <a:r>
              <a:rPr lang="en-US" altLang="zh-CN">
                <a:solidFill>
                  <a:srgbClr val="FF00FF"/>
                </a:solidFill>
                <a:latin typeface="华文楷体" panose="02010600040101010101" pitchFamily="2" charset="-122"/>
                <a:ea typeface="华文楷体" panose="02010600040101010101" pitchFamily="2" charset="-122"/>
              </a:rPr>
              <a:t>bound(</a:t>
            </a:r>
            <a:r>
              <a:rPr lang="en-US" altLang="zh-CN" i="1">
                <a:solidFill>
                  <a:srgbClr val="FF00FF"/>
                </a:solidFill>
                <a:latin typeface="华文楷体" panose="02010600040101010101" pitchFamily="2" charset="-122"/>
                <a:ea typeface="华文楷体" panose="02010600040101010101" pitchFamily="2" charset="-122"/>
              </a:rPr>
              <a:t>i</a:t>
            </a:r>
            <a:r>
              <a:rPr lang="en-US" altLang="zh-CN">
                <a:solidFill>
                  <a:srgbClr val="FF00FF"/>
                </a:solidFill>
                <a:latin typeface="华文楷体" panose="02010600040101010101" pitchFamily="2" charset="-122"/>
                <a:ea typeface="华文楷体" panose="02010600040101010101" pitchFamily="2" charset="-122"/>
              </a:rPr>
              <a:t>)</a:t>
            </a:r>
            <a:r>
              <a:rPr lang="zh-CN" altLang="zh-CN">
                <a:solidFill>
                  <a:srgbClr val="FF00FF"/>
                </a:solidFill>
                <a:latin typeface="华文楷体" panose="02010600040101010101" pitchFamily="2" charset="-122"/>
                <a:ea typeface="华文楷体" panose="02010600040101010101" pitchFamily="2" charset="-122"/>
              </a:rPr>
              <a:t>≤</a:t>
            </a:r>
            <a:r>
              <a:rPr lang="en-US" altLang="zh-CN">
                <a:solidFill>
                  <a:srgbClr val="FF00FF"/>
                </a:solidFill>
                <a:latin typeface="华文楷体" panose="02010600040101010101" pitchFamily="2" charset="-122"/>
                <a:ea typeface="华文楷体" panose="02010600040101010101" pitchFamily="2" charset="-122"/>
              </a:rPr>
              <a:t>maxv</a:t>
            </a:r>
            <a:r>
              <a:rPr lang="zh-CN" altLang="zh-CN">
                <a:solidFill>
                  <a:srgbClr val="0000FF"/>
                </a:solidFill>
                <a:latin typeface="华文楷体" panose="02010600040101010101" pitchFamily="2" charset="-122"/>
                <a:ea typeface="华文楷体" panose="02010600040101010101" pitchFamily="2" charset="-122"/>
              </a:rPr>
              <a:t>，则右剪枝，否则继续扩展。</a:t>
            </a:r>
            <a:endParaRPr lang="en-US" altLang="zh-CN">
              <a:solidFill>
                <a:srgbClr val="0000FF"/>
              </a:solidFill>
              <a:latin typeface="华文楷体" panose="02010600040101010101" pitchFamily="2" charset="-122"/>
              <a:ea typeface="华文楷体" panose="02010600040101010101" pitchFamily="2" charset="-122"/>
            </a:endParaRPr>
          </a:p>
          <a:p>
            <a:pPr marL="342900" indent="-342900">
              <a:lnSpc>
                <a:spcPts val="2500"/>
              </a:lnSpc>
              <a:spcBef>
                <a:spcPts val="600"/>
              </a:spcBef>
              <a:buClrTx/>
              <a:buFontTx/>
              <a:buBlip>
                <a:blip r:embed="rId3"/>
              </a:buBlip>
            </a:pPr>
            <a:r>
              <a:rPr lang="zh-CN" altLang="zh-CN">
                <a:solidFill>
                  <a:srgbClr val="0000FF"/>
                </a:solidFill>
                <a:latin typeface="华文楷体" panose="02010600040101010101" pitchFamily="2" charset="-122"/>
                <a:ea typeface="华文楷体" panose="02010600040101010101" pitchFamily="2" charset="-122"/>
              </a:rPr>
              <a:t>显然</a:t>
            </a:r>
            <a:r>
              <a:rPr lang="en-US" altLang="zh-CN" i="1">
                <a:solidFill>
                  <a:srgbClr val="0000FF"/>
                </a:solidFill>
                <a:latin typeface="华文楷体" panose="02010600040101010101" pitchFamily="2" charset="-122"/>
                <a:ea typeface="华文楷体" panose="02010600040101010101" pitchFamily="2" charset="-122"/>
              </a:rPr>
              <a:t>r</a:t>
            </a:r>
            <a:r>
              <a:rPr lang="zh-CN" altLang="zh-CN">
                <a:solidFill>
                  <a:srgbClr val="0000FF"/>
                </a:solidFill>
                <a:latin typeface="华文楷体" panose="02010600040101010101" pitchFamily="2" charset="-122"/>
                <a:ea typeface="华文楷体" panose="02010600040101010101" pitchFamily="2" charset="-122"/>
              </a:rPr>
              <a:t>越小，</a:t>
            </a:r>
            <a:r>
              <a:rPr lang="en-US" altLang="zh-CN">
                <a:solidFill>
                  <a:srgbClr val="0000FF"/>
                </a:solidFill>
                <a:latin typeface="华文楷体" panose="02010600040101010101" pitchFamily="2" charset="-122"/>
                <a:ea typeface="华文楷体" panose="02010600040101010101" pitchFamily="2" charset="-122"/>
              </a:rPr>
              <a:t>bound(</a:t>
            </a:r>
            <a:r>
              <a:rPr lang="en-US" altLang="zh-CN" i="1">
                <a:solidFill>
                  <a:srgbClr val="0000FF"/>
                </a:solidFill>
                <a:latin typeface="华文楷体" panose="02010600040101010101" pitchFamily="2" charset="-122"/>
                <a:ea typeface="华文楷体" panose="02010600040101010101" pitchFamily="2" charset="-122"/>
              </a:rPr>
              <a:t>i</a:t>
            </a:r>
            <a:r>
              <a:rPr lang="en-US" altLang="zh-CN">
                <a:solidFill>
                  <a:srgbClr val="0000FF"/>
                </a:solidFill>
                <a:latin typeface="华文楷体" panose="02010600040101010101" pitchFamily="2" charset="-122"/>
                <a:ea typeface="华文楷体" panose="02010600040101010101" pitchFamily="2" charset="-122"/>
              </a:rPr>
              <a:t>)</a:t>
            </a:r>
            <a:r>
              <a:rPr lang="zh-CN" altLang="zh-CN">
                <a:solidFill>
                  <a:srgbClr val="0000FF"/>
                </a:solidFill>
                <a:latin typeface="华文楷体" panose="02010600040101010101" pitchFamily="2" charset="-122"/>
                <a:ea typeface="华文楷体" panose="02010600040101010101" pitchFamily="2" charset="-122"/>
              </a:rPr>
              <a:t>也越小，剪枝越多，为了构造更小的</a:t>
            </a:r>
            <a:r>
              <a:rPr lang="en-US" altLang="zh-CN" i="1">
                <a:solidFill>
                  <a:srgbClr val="0000FF"/>
                </a:solidFill>
                <a:latin typeface="华文楷体" panose="02010600040101010101" pitchFamily="2" charset="-122"/>
                <a:ea typeface="华文楷体" panose="02010600040101010101" pitchFamily="2" charset="-122"/>
              </a:rPr>
              <a:t>r</a:t>
            </a:r>
            <a:r>
              <a:rPr lang="zh-CN" altLang="zh-CN">
                <a:solidFill>
                  <a:srgbClr val="0000FF"/>
                </a:solidFill>
                <a:latin typeface="华文楷体" panose="02010600040101010101" pitchFamily="2" charset="-122"/>
                <a:ea typeface="华文楷体" panose="02010600040101010101" pitchFamily="2" charset="-122"/>
              </a:rPr>
              <a:t>，将</a:t>
            </a:r>
            <a:r>
              <a:rPr lang="zh-CN" altLang="zh-CN">
                <a:solidFill>
                  <a:srgbClr val="FF0000"/>
                </a:solidFill>
                <a:latin typeface="华文楷体" panose="02010600040101010101" pitchFamily="2" charset="-122"/>
                <a:ea typeface="华文楷体" panose="02010600040101010101" pitchFamily="2" charset="-122"/>
              </a:rPr>
              <a:t>所有物品以单位重量价值递减排列</a:t>
            </a:r>
            <a:r>
              <a:rPr lang="zh-CN" altLang="zh-CN">
                <a:solidFill>
                  <a:srgbClr val="0000FF"/>
                </a:solidFill>
                <a:latin typeface="华文楷体" panose="02010600040101010101" pitchFamily="2" charset="-122"/>
                <a:ea typeface="华文楷体"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2600283"/>
            <a:ext cx="8501122" cy="361479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lIns="180000" tIns="144000" bIns="1440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a:t>
            </a:r>
            <a:r>
              <a:rPr kumimoji="0" lang="en-US" altLang="zh-CN" sz="18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bound</a:t>
            </a: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i,int tw,int tv)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求上界</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i++;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从</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i+1</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开始</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while (i&lt;=n &amp;&amp; tw+A[i].w&lt;=W)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若序号为</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i</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的物品可以整个放入</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  tw+=A[i].w;</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tv+=A[i].v;</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i++;</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if (i&lt;=n)</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return tv+(W-tw)*A[i].p;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序号为</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i</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的物品不能整个放入</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else</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return tv;</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a:t>
            </a:r>
            <a:endParaRPr kumimoji="0" lang="zh-CN" altLang="en-US"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
        <p:nvSpPr>
          <p:cNvPr id="10" name="椭圆 9"/>
          <p:cNvSpPr/>
          <p:nvPr/>
        </p:nvSpPr>
        <p:spPr>
          <a:xfrm>
            <a:off x="4597400" y="214313"/>
            <a:ext cx="596900" cy="500063"/>
          </a:xfrm>
          <a:prstGeom prst="ellipse">
            <a:avLst/>
          </a:prstGeom>
          <a:solidFill>
            <a:srgbClr val="00B0F0"/>
          </a:solidFill>
        </p:spPr>
        <p:style>
          <a:lnRef idx="1">
            <a:schemeClr val="accent3"/>
          </a:lnRef>
          <a:fillRef idx="2">
            <a:schemeClr val="accent3"/>
          </a:fillRef>
          <a:effectRef idx="1">
            <a:schemeClr val="accent3"/>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dk1"/>
              </a:solidFill>
              <a:effectLst/>
              <a:uLnTx/>
              <a:uFillTx/>
              <a:latin typeface="+mn-ea"/>
              <a:ea typeface="+mn-ea"/>
              <a:cs typeface="Consolas" pitchFamily="49" charset="0"/>
            </a:endParaRPr>
          </a:p>
        </p:txBody>
      </p:sp>
      <p:sp>
        <p:nvSpPr>
          <p:cNvPr id="111619" name="TextBox 10"/>
          <p:cNvSpPr txBox="1"/>
          <p:nvPr/>
        </p:nvSpPr>
        <p:spPr>
          <a:xfrm>
            <a:off x="811213" y="214313"/>
            <a:ext cx="5275262" cy="400050"/>
          </a:xfrm>
          <a:prstGeom prst="rect">
            <a:avLst/>
          </a:prstGeom>
          <a:noFill/>
          <a:ln w="9525">
            <a:noFill/>
          </a:ln>
        </p:spPr>
        <p:txBody>
          <a:bodyPr anchor="t" anchorCtr="0">
            <a:spAutoFit/>
          </a:bodyPr>
          <a:lstStyle/>
          <a:p>
            <a:pPr>
              <a:buClrTx/>
              <a:buFontTx/>
            </a:pPr>
            <a:r>
              <a:rPr lang="zh-CN" altLang="en-US">
                <a:solidFill>
                  <a:srgbClr val="CC00FF"/>
                </a:solidFill>
                <a:latin typeface="华文楷体" panose="02010600040101010101" pitchFamily="2" charset="-122"/>
                <a:ea typeface="华文楷体" panose="02010600040101010101" pitchFamily="2" charset="-122"/>
              </a:rPr>
              <a:t>第</a:t>
            </a:r>
            <a:r>
              <a:rPr lang="en-US" altLang="zh-CN" i="1">
                <a:solidFill>
                  <a:srgbClr val="CC00FF"/>
                </a:solidFill>
                <a:latin typeface="华文楷体" panose="02010600040101010101" pitchFamily="2" charset="-122"/>
                <a:ea typeface="华文楷体" panose="02010600040101010101" pitchFamily="2" charset="-122"/>
              </a:rPr>
              <a:t>i</a:t>
            </a:r>
            <a:r>
              <a:rPr lang="zh-CN" altLang="en-US">
                <a:solidFill>
                  <a:srgbClr val="CC00FF"/>
                </a:solidFill>
                <a:latin typeface="华文楷体" panose="02010600040101010101" pitchFamily="2" charset="-122"/>
                <a:ea typeface="华文楷体" panose="02010600040101010101" pitchFamily="2" charset="-122"/>
              </a:rPr>
              <a:t>层结点：</a:t>
            </a:r>
            <a:r>
              <a:rPr lang="en-US" altLang="zh-CN">
                <a:solidFill>
                  <a:srgbClr val="0000FF"/>
                </a:solidFill>
                <a:latin typeface="华文楷体" panose="02010600040101010101" pitchFamily="2" charset="-122"/>
                <a:ea typeface="华文楷体" panose="02010600040101010101" pitchFamily="2" charset="-122"/>
              </a:rPr>
              <a:t>dfs(</a:t>
            </a:r>
            <a:r>
              <a:rPr lang="en-US" altLang="zh-CN" i="1">
                <a:solidFill>
                  <a:srgbClr val="0000FF"/>
                </a:solidFill>
                <a:latin typeface="华文楷体" panose="02010600040101010101" pitchFamily="2" charset="-122"/>
                <a:ea typeface="华文楷体" panose="02010600040101010101" pitchFamily="2" charset="-122"/>
              </a:rPr>
              <a:t>i</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tw</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tv</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op)</a:t>
            </a:r>
            <a:endParaRPr lang="zh-CN" altLang="en-US">
              <a:solidFill>
                <a:srgbClr val="0000FF"/>
              </a:solidFill>
              <a:latin typeface="华文楷体" panose="02010600040101010101" pitchFamily="2" charset="-122"/>
              <a:ea typeface="华文楷体" panose="02010600040101010101" pitchFamily="2" charset="-122"/>
            </a:endParaRPr>
          </a:p>
        </p:txBody>
      </p:sp>
      <p:cxnSp>
        <p:nvCxnSpPr>
          <p:cNvPr id="13" name="直接连接符 12"/>
          <p:cNvCxnSpPr>
            <a:stCxn id="10" idx="5"/>
            <a:endCxn id="17" idx="1"/>
          </p:cNvCxnSpPr>
          <p:nvPr/>
        </p:nvCxnSpPr>
        <p:spPr>
          <a:xfrm>
            <a:off x="5106988" y="641350"/>
            <a:ext cx="220663" cy="360363"/>
          </a:xfrm>
          <a:prstGeom prst="line">
            <a:avLst/>
          </a:prstGeom>
          <a:ln w="12700"/>
        </p:spPr>
        <p:style>
          <a:lnRef idx="2">
            <a:schemeClr val="dk1"/>
          </a:lnRef>
          <a:fillRef idx="0">
            <a:schemeClr val="dk1"/>
          </a:fillRef>
          <a:effectRef idx="1">
            <a:schemeClr val="dk1"/>
          </a:effectRef>
          <a:fontRef idx="minor">
            <a:schemeClr val="tx1"/>
          </a:fontRef>
        </p:style>
      </p:cxnSp>
      <p:sp>
        <p:nvSpPr>
          <p:cNvPr id="111621" name="TextBox 14"/>
          <p:cNvSpPr txBox="1"/>
          <p:nvPr/>
        </p:nvSpPr>
        <p:spPr>
          <a:xfrm>
            <a:off x="5883275" y="1000125"/>
            <a:ext cx="2289175" cy="400050"/>
          </a:xfrm>
          <a:prstGeom prst="rect">
            <a:avLst/>
          </a:prstGeom>
          <a:noFill/>
          <a:ln w="9525">
            <a:noFill/>
          </a:ln>
        </p:spPr>
        <p:txBody>
          <a:bodyPr anchor="t" anchorCtr="0">
            <a:spAutoFit/>
          </a:bodyPr>
          <a:lstStyle/>
          <a:p>
            <a:pPr>
              <a:buClrTx/>
              <a:buFontTx/>
            </a:pPr>
            <a:r>
              <a:rPr lang="zh-CN" altLang="en-US">
                <a:solidFill>
                  <a:srgbClr val="CC00FF"/>
                </a:solidFill>
                <a:latin typeface="华文楷体" panose="02010600040101010101" pitchFamily="2" charset="-122"/>
                <a:ea typeface="华文楷体" panose="02010600040101010101" pitchFamily="2" charset="-122"/>
              </a:rPr>
              <a:t>第</a:t>
            </a:r>
            <a:r>
              <a:rPr lang="en-US" altLang="zh-CN" i="1">
                <a:solidFill>
                  <a:srgbClr val="CC00FF"/>
                </a:solidFill>
                <a:latin typeface="华文楷体" panose="02010600040101010101" pitchFamily="2" charset="-122"/>
                <a:ea typeface="华文楷体" panose="02010600040101010101" pitchFamily="2" charset="-122"/>
              </a:rPr>
              <a:t>i</a:t>
            </a:r>
            <a:r>
              <a:rPr lang="en-US" altLang="zh-CN">
                <a:solidFill>
                  <a:srgbClr val="CC00FF"/>
                </a:solidFill>
                <a:latin typeface="华文楷体" panose="02010600040101010101" pitchFamily="2" charset="-122"/>
                <a:ea typeface="华文楷体" panose="02010600040101010101" pitchFamily="2" charset="-122"/>
              </a:rPr>
              <a:t>+1</a:t>
            </a:r>
            <a:r>
              <a:rPr lang="zh-CN" altLang="en-US">
                <a:solidFill>
                  <a:srgbClr val="CC00FF"/>
                </a:solidFill>
                <a:latin typeface="华文楷体" panose="02010600040101010101" pitchFamily="2" charset="-122"/>
                <a:ea typeface="华文楷体" panose="02010600040101010101" pitchFamily="2" charset="-122"/>
              </a:rPr>
              <a:t>层结点</a:t>
            </a:r>
            <a:endParaRPr lang="zh-CN" altLang="en-US">
              <a:latin typeface="华文楷体" panose="02010600040101010101" pitchFamily="2" charset="-122"/>
              <a:ea typeface="华文楷体" panose="02010600040101010101" pitchFamily="2" charset="-122"/>
            </a:endParaRPr>
          </a:p>
        </p:txBody>
      </p:sp>
      <p:sp>
        <p:nvSpPr>
          <p:cNvPr id="111622" name="TextBox 15"/>
          <p:cNvSpPr txBox="1"/>
          <p:nvPr/>
        </p:nvSpPr>
        <p:spPr>
          <a:xfrm>
            <a:off x="5168900" y="500063"/>
            <a:ext cx="2986088" cy="400050"/>
          </a:xfrm>
          <a:prstGeom prst="rect">
            <a:avLst/>
          </a:prstGeom>
          <a:noFill/>
          <a:ln w="9525">
            <a:noFill/>
          </a:ln>
        </p:spPr>
        <p:txBody>
          <a:bodyPr anchor="t" anchorCtr="0">
            <a:spAutoFit/>
          </a:bodyPr>
          <a:lstStyle/>
          <a:p>
            <a:pPr>
              <a:buClrTx/>
              <a:buFontTx/>
            </a:pPr>
            <a:r>
              <a:rPr lang="en-US" altLang="zh-CN">
                <a:solidFill>
                  <a:srgbClr val="0000FF"/>
                </a:solidFill>
                <a:latin typeface="华文楷体" panose="02010600040101010101" pitchFamily="2" charset="-122"/>
                <a:ea typeface="华文楷体" panose="02010600040101010101" pitchFamily="2" charset="-122"/>
              </a:rPr>
              <a:t>0</a:t>
            </a:r>
            <a:r>
              <a:rPr lang="zh-CN" altLang="en-US">
                <a:solidFill>
                  <a:srgbClr val="0000FF"/>
                </a:solidFill>
                <a:latin typeface="华文楷体" panose="02010600040101010101" pitchFamily="2" charset="-122"/>
                <a:ea typeface="华文楷体" panose="02010600040101010101" pitchFamily="2" charset="-122"/>
              </a:rPr>
              <a:t>：不</a:t>
            </a:r>
            <a:r>
              <a:rPr lang="zh-CN" altLang="zh-CN">
                <a:solidFill>
                  <a:srgbClr val="0000FF"/>
                </a:solidFill>
                <a:latin typeface="华文楷体" panose="02010600040101010101" pitchFamily="2" charset="-122"/>
                <a:ea typeface="华文楷体" panose="02010600040101010101" pitchFamily="2" charset="-122"/>
              </a:rPr>
              <a:t>选择第</a:t>
            </a:r>
            <a:r>
              <a:rPr lang="en-US" altLang="zh-CN" i="1">
                <a:solidFill>
                  <a:srgbClr val="0000FF"/>
                </a:solidFill>
                <a:latin typeface="华文楷体" panose="02010600040101010101" pitchFamily="2" charset="-122"/>
                <a:ea typeface="华文楷体" panose="02010600040101010101" pitchFamily="2" charset="-122"/>
              </a:rPr>
              <a:t>i</a:t>
            </a:r>
            <a:r>
              <a:rPr lang="zh-CN" altLang="zh-CN">
                <a:solidFill>
                  <a:srgbClr val="0000FF"/>
                </a:solidFill>
                <a:latin typeface="华文楷体" panose="02010600040101010101" pitchFamily="2" charset="-122"/>
                <a:ea typeface="华文楷体" panose="02010600040101010101" pitchFamily="2" charset="-122"/>
              </a:rPr>
              <a:t>个物品</a:t>
            </a:r>
            <a:endParaRPr lang="zh-CN" altLang="en-US">
              <a:solidFill>
                <a:srgbClr val="0000FF"/>
              </a:solidFill>
              <a:latin typeface="华文楷体" panose="02010600040101010101" pitchFamily="2" charset="-122"/>
              <a:ea typeface="华文楷体" panose="02010600040101010101" pitchFamily="2" charset="-122"/>
            </a:endParaRPr>
          </a:p>
        </p:txBody>
      </p:sp>
      <p:sp>
        <p:nvSpPr>
          <p:cNvPr id="17" name="椭圆 16"/>
          <p:cNvSpPr/>
          <p:nvPr/>
        </p:nvSpPr>
        <p:spPr>
          <a:xfrm>
            <a:off x="5240338" y="928688"/>
            <a:ext cx="596900" cy="500063"/>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dk1"/>
              </a:solidFill>
              <a:effectLst/>
              <a:uLnTx/>
              <a:uFillTx/>
              <a:latin typeface="+mn-ea"/>
              <a:ea typeface="+mn-ea"/>
              <a:cs typeface="Consolas" pitchFamily="49" charset="0"/>
            </a:endParaRPr>
          </a:p>
        </p:txBody>
      </p:sp>
      <p:sp>
        <p:nvSpPr>
          <p:cNvPr id="19" name="椭圆 18"/>
          <p:cNvSpPr/>
          <p:nvPr/>
        </p:nvSpPr>
        <p:spPr>
          <a:xfrm>
            <a:off x="5811838" y="1857375"/>
            <a:ext cx="596900" cy="500063"/>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dk1"/>
              </a:solidFill>
              <a:effectLst/>
              <a:uLnTx/>
              <a:uFillTx/>
              <a:latin typeface="+mn-ea"/>
              <a:ea typeface="+mn-ea"/>
              <a:cs typeface="Consolas" pitchFamily="49" charset="0"/>
            </a:endParaRPr>
          </a:p>
        </p:txBody>
      </p:sp>
      <p:cxnSp>
        <p:nvCxnSpPr>
          <p:cNvPr id="21" name="直接连接符 20"/>
          <p:cNvCxnSpPr>
            <a:stCxn id="17" idx="5"/>
            <a:endCxn id="19" idx="0"/>
          </p:cNvCxnSpPr>
          <p:nvPr/>
        </p:nvCxnSpPr>
        <p:spPr>
          <a:xfrm>
            <a:off x="5749925" y="1355725"/>
            <a:ext cx="360363" cy="501650"/>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11626" name="TextBox 21"/>
          <p:cNvSpPr txBox="1"/>
          <p:nvPr/>
        </p:nvSpPr>
        <p:spPr>
          <a:xfrm>
            <a:off x="6240463" y="1928813"/>
            <a:ext cx="1592262" cy="400050"/>
          </a:xfrm>
          <a:prstGeom prst="rect">
            <a:avLst/>
          </a:prstGeom>
          <a:noFill/>
          <a:ln w="9525">
            <a:noFill/>
          </a:ln>
        </p:spPr>
        <p:txBody>
          <a:bodyPr anchor="t" anchorCtr="0">
            <a:spAutoFit/>
          </a:bodyPr>
          <a:lstStyle/>
          <a:p>
            <a:pPr>
              <a:buClrTx/>
              <a:buFontTx/>
            </a:pPr>
            <a:r>
              <a:rPr lang="zh-CN" altLang="en-US">
                <a:solidFill>
                  <a:srgbClr val="CC00FF"/>
                </a:solidFill>
                <a:latin typeface="华文楷体" panose="02010600040101010101" pitchFamily="2" charset="-122"/>
                <a:ea typeface="华文楷体" panose="02010600040101010101" pitchFamily="2" charset="-122"/>
              </a:rPr>
              <a:t>叶子结点</a:t>
            </a:r>
            <a:endParaRPr lang="zh-CN" altLang="en-US">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extBox 1"/>
          <p:cNvSpPr txBox="1"/>
          <p:nvPr/>
        </p:nvSpPr>
        <p:spPr>
          <a:xfrm>
            <a:off x="952500" y="1500188"/>
            <a:ext cx="1785938" cy="400050"/>
          </a:xfrm>
          <a:prstGeom prst="rect">
            <a:avLst/>
          </a:prstGeom>
          <a:noFill/>
          <a:ln w="9525">
            <a:noFill/>
          </a:ln>
        </p:spPr>
        <p:txBody>
          <a:bodyPr anchor="t" anchorCtr="0">
            <a:spAutoFit/>
          </a:bodyPr>
          <a:lstStyle/>
          <a:p>
            <a:pPr>
              <a:buClrTx/>
              <a:buFontTx/>
            </a:pPr>
            <a:r>
              <a:rPr lang="zh-CN" altLang="zh-CN">
                <a:solidFill>
                  <a:srgbClr val="0000FF"/>
                </a:solidFill>
                <a:latin typeface="华文楷体" panose="02010600040101010101" pitchFamily="2" charset="-122"/>
                <a:ea typeface="华文楷体" panose="02010600040101010101" pitchFamily="2" charset="-122"/>
              </a:rPr>
              <a:t>剪枝</a:t>
            </a:r>
            <a:r>
              <a:rPr lang="zh-CN" altLang="en-US">
                <a:solidFill>
                  <a:srgbClr val="0000FF"/>
                </a:solidFill>
                <a:latin typeface="华文楷体" panose="02010600040101010101" pitchFamily="2" charset="-122"/>
                <a:ea typeface="华文楷体" panose="02010600040101010101" pitchFamily="2" charset="-122"/>
              </a:rPr>
              <a:t>：</a:t>
            </a:r>
          </a:p>
        </p:txBody>
      </p:sp>
      <p:sp>
        <p:nvSpPr>
          <p:cNvPr id="112642" name="TextBox 2"/>
          <p:cNvSpPr txBox="1"/>
          <p:nvPr/>
        </p:nvSpPr>
        <p:spPr>
          <a:xfrm>
            <a:off x="1166813" y="2000250"/>
            <a:ext cx="6429375" cy="971550"/>
          </a:xfrm>
          <a:prstGeom prst="rect">
            <a:avLst/>
          </a:prstGeom>
          <a:noFill/>
          <a:ln w="9525">
            <a:noFill/>
          </a:ln>
        </p:spPr>
        <p:txBody>
          <a:bodyPr anchor="t" anchorCtr="0">
            <a:spAutoFit/>
          </a:bodyPr>
          <a:lstStyle/>
          <a:p>
            <a:pPr marL="342900" indent="-342900">
              <a:lnSpc>
                <a:spcPct val="150000"/>
              </a:lnSpc>
              <a:buClrTx/>
              <a:buFontTx/>
              <a:buBlip>
                <a:blip r:embed="rId2"/>
              </a:buBlip>
            </a:pPr>
            <a:r>
              <a:rPr lang="zh-CN" altLang="en-US">
                <a:solidFill>
                  <a:srgbClr val="FF0000"/>
                </a:solidFill>
                <a:latin typeface="华文楷体" panose="02010600040101010101" pitchFamily="2" charset="-122"/>
                <a:ea typeface="华文楷体" panose="02010600040101010101" pitchFamily="2" charset="-122"/>
              </a:rPr>
              <a:t>左</a:t>
            </a:r>
            <a:r>
              <a:rPr lang="zh-CN" altLang="zh-CN">
                <a:solidFill>
                  <a:srgbClr val="FF0000"/>
                </a:solidFill>
                <a:latin typeface="华文楷体" panose="02010600040101010101" pitchFamily="2" charset="-122"/>
                <a:ea typeface="华文楷体" panose="02010600040101010101" pitchFamily="2" charset="-122"/>
              </a:rPr>
              <a:t>剪枝</a:t>
            </a:r>
            <a:r>
              <a:rPr lang="zh-CN" altLang="en-US">
                <a:solidFill>
                  <a:srgbClr val="0000FF"/>
                </a:solidFill>
                <a:latin typeface="华文楷体" panose="02010600040101010101" pitchFamily="2" charset="-122"/>
                <a:ea typeface="华文楷体" panose="02010600040101010101" pitchFamily="2" charset="-122"/>
              </a:rPr>
              <a:t>：仅仅扩展</a:t>
            </a:r>
            <a:r>
              <a:rPr lang="en-US" altLang="zh-CN">
                <a:solidFill>
                  <a:srgbClr val="0000FF"/>
                </a:solidFill>
                <a:latin typeface="华文楷体" panose="02010600040101010101" pitchFamily="2" charset="-122"/>
                <a:ea typeface="华文楷体" panose="02010600040101010101" pitchFamily="2" charset="-122"/>
              </a:rPr>
              <a:t>tw+w[</a:t>
            </a:r>
            <a:r>
              <a:rPr lang="en-US" altLang="zh-CN" i="1">
                <a:solidFill>
                  <a:srgbClr val="0000FF"/>
                </a:solidFill>
                <a:latin typeface="华文楷体" panose="02010600040101010101" pitchFamily="2" charset="-122"/>
                <a:ea typeface="华文楷体" panose="02010600040101010101" pitchFamily="2" charset="-122"/>
              </a:rPr>
              <a:t>i</a:t>
            </a:r>
            <a:r>
              <a:rPr lang="en-US" altLang="zh-CN">
                <a:solidFill>
                  <a:srgbClr val="0000FF"/>
                </a:solidFill>
                <a:latin typeface="华文楷体" panose="02010600040101010101" pitchFamily="2" charset="-122"/>
                <a:ea typeface="华文楷体" panose="02010600040101010101" pitchFamily="2" charset="-122"/>
              </a:rPr>
              <a:t>]≤W</a:t>
            </a:r>
            <a:r>
              <a:rPr lang="zh-CN" altLang="en-US">
                <a:solidFill>
                  <a:srgbClr val="0000FF"/>
                </a:solidFill>
                <a:latin typeface="华文楷体" panose="02010600040101010101" pitchFamily="2" charset="-122"/>
                <a:ea typeface="华文楷体" panose="02010600040101010101" pitchFamily="2" charset="-122"/>
              </a:rPr>
              <a:t>的左孩子结点</a:t>
            </a:r>
            <a:endParaRPr lang="en-US" altLang="zh-CN">
              <a:solidFill>
                <a:srgbClr val="0000FF"/>
              </a:solidFill>
              <a:latin typeface="华文楷体" panose="02010600040101010101" pitchFamily="2" charset="-122"/>
              <a:ea typeface="华文楷体" panose="02010600040101010101" pitchFamily="2" charset="-122"/>
            </a:endParaRPr>
          </a:p>
          <a:p>
            <a:pPr marL="342900" indent="-342900">
              <a:lnSpc>
                <a:spcPct val="150000"/>
              </a:lnSpc>
              <a:buClrTx/>
              <a:buFontTx/>
              <a:buBlip>
                <a:blip r:embed="rId2"/>
              </a:buBlip>
            </a:pPr>
            <a:r>
              <a:rPr lang="zh-CN" altLang="en-US">
                <a:solidFill>
                  <a:srgbClr val="FF0000"/>
                </a:solidFill>
                <a:latin typeface="华文楷体" panose="02010600040101010101" pitchFamily="2" charset="-122"/>
                <a:ea typeface="华文楷体" panose="02010600040101010101" pitchFamily="2" charset="-122"/>
              </a:rPr>
              <a:t>右</a:t>
            </a:r>
            <a:r>
              <a:rPr lang="zh-CN" altLang="zh-CN">
                <a:solidFill>
                  <a:srgbClr val="FF0000"/>
                </a:solidFill>
                <a:latin typeface="华文楷体" panose="02010600040101010101" pitchFamily="2" charset="-122"/>
                <a:ea typeface="华文楷体" panose="02010600040101010101" pitchFamily="2" charset="-122"/>
              </a:rPr>
              <a:t>剪枝</a:t>
            </a:r>
            <a:r>
              <a:rPr lang="zh-CN" altLang="en-US">
                <a:solidFill>
                  <a:srgbClr val="0000FF"/>
                </a:solidFill>
                <a:latin typeface="华文楷体" panose="02010600040101010101" pitchFamily="2" charset="-122"/>
                <a:ea typeface="华文楷体" panose="02010600040101010101" pitchFamily="2" charset="-122"/>
              </a:rPr>
              <a:t>：仅仅扩展</a:t>
            </a:r>
            <a:r>
              <a:rPr lang="en-US" altLang="zh-CN">
                <a:solidFill>
                  <a:srgbClr val="0000FF"/>
                </a:solidFill>
                <a:latin typeface="华文楷体" panose="02010600040101010101" pitchFamily="2" charset="-122"/>
                <a:ea typeface="华文楷体" panose="02010600040101010101" pitchFamily="2" charset="-122"/>
              </a:rPr>
              <a:t>bound(</a:t>
            </a:r>
            <a:r>
              <a:rPr lang="en-US" altLang="zh-CN" i="1">
                <a:solidFill>
                  <a:srgbClr val="0000FF"/>
                </a:solidFill>
                <a:latin typeface="华文楷体" panose="02010600040101010101" pitchFamily="2" charset="-122"/>
                <a:ea typeface="华文楷体" panose="02010600040101010101" pitchFamily="2" charset="-122"/>
              </a:rPr>
              <a:t>i</a:t>
            </a:r>
            <a:r>
              <a:rPr lang="en-US" altLang="zh-CN">
                <a:solidFill>
                  <a:srgbClr val="0000FF"/>
                </a:solidFill>
                <a:latin typeface="华文楷体" panose="02010600040101010101" pitchFamily="2" charset="-122"/>
                <a:ea typeface="华文楷体" panose="02010600040101010101" pitchFamily="2" charset="-122"/>
              </a:rPr>
              <a:t>,tw,tv)&gt;maxv</a:t>
            </a:r>
            <a:r>
              <a:rPr lang="zh-CN" altLang="en-US">
                <a:solidFill>
                  <a:srgbClr val="0000FF"/>
                </a:solidFill>
                <a:latin typeface="华文楷体" panose="02010600040101010101" pitchFamily="2" charset="-122"/>
                <a:ea typeface="华文楷体" panose="02010600040101010101" pitchFamily="2" charset="-122"/>
              </a:rPr>
              <a:t>的右孩子结点</a:t>
            </a:r>
          </a:p>
        </p:txBody>
      </p:sp>
      <p:grpSp>
        <p:nvGrpSpPr>
          <p:cNvPr id="6" name="组合 5"/>
          <p:cNvGrpSpPr/>
          <p:nvPr/>
        </p:nvGrpSpPr>
        <p:grpSpPr>
          <a:xfrm>
            <a:off x="2238375" y="3000375"/>
            <a:ext cx="4370070" cy="1586230"/>
            <a:chOff x="2071670" y="3000372"/>
            <a:chExt cx="3714776" cy="1585897"/>
          </a:xfrm>
        </p:grpSpPr>
        <p:sp>
          <p:nvSpPr>
            <p:cNvPr id="112644" name="TextBox 3"/>
            <p:cNvSpPr txBox="1"/>
            <p:nvPr/>
          </p:nvSpPr>
          <p:spPr>
            <a:xfrm>
              <a:off x="2071670" y="3571752"/>
              <a:ext cx="3714776" cy="1014517"/>
            </a:xfrm>
            <a:prstGeom prst="rect">
              <a:avLst/>
            </a:prstGeom>
            <a:noFill/>
            <a:ln w="9525">
              <a:noFill/>
            </a:ln>
          </p:spPr>
          <p:txBody>
            <a:bodyPr anchor="t" anchorCtr="0">
              <a:spAutoFit/>
            </a:bodyPr>
            <a:lstStyle/>
            <a:p>
              <a:pPr algn="ctr">
                <a:buClrTx/>
                <a:buFontTx/>
              </a:pPr>
              <a:r>
                <a:rPr lang="zh-CN" altLang="zh-CN">
                  <a:solidFill>
                    <a:srgbClr val="0000FF"/>
                  </a:solidFill>
                  <a:latin typeface="华文楷体" panose="02010600040101010101" pitchFamily="2" charset="-122"/>
                  <a:ea typeface="华文楷体" panose="02010600040101010101" pitchFamily="2" charset="-122"/>
                </a:rPr>
                <a:t>一旦找到一个解后，后面找到的其他解（</a:t>
              </a:r>
              <a:r>
                <a:rPr lang="en-US" altLang="zh-CN">
                  <a:solidFill>
                    <a:srgbClr val="0000FF"/>
                  </a:solidFill>
                  <a:latin typeface="华文楷体" panose="02010600040101010101" pitchFamily="2" charset="-122"/>
                  <a:ea typeface="华文楷体" panose="02010600040101010101" pitchFamily="2" charset="-122"/>
                </a:rPr>
                <a:t>tv</a:t>
              </a:r>
              <a:r>
                <a:rPr lang="zh-CN" altLang="zh-CN">
                  <a:solidFill>
                    <a:srgbClr val="0000FF"/>
                  </a:solidFill>
                  <a:latin typeface="华文楷体" panose="02010600040101010101" pitchFamily="2" charset="-122"/>
                  <a:ea typeface="华文楷体" panose="02010600040101010101" pitchFamily="2" charset="-122"/>
                </a:rPr>
                <a:t>，</a:t>
              </a:r>
              <a:r>
                <a:rPr lang="en-US" altLang="zh-CN">
                  <a:solidFill>
                    <a:srgbClr val="0000FF"/>
                  </a:solidFill>
                  <a:latin typeface="华文楷体" panose="02010600040101010101" pitchFamily="2" charset="-122"/>
                  <a:ea typeface="华文楷体" panose="02010600040101010101" pitchFamily="2" charset="-122"/>
                </a:rPr>
                <a:t>op</a:t>
              </a:r>
              <a:r>
                <a:rPr lang="zh-CN" altLang="zh-CN">
                  <a:solidFill>
                    <a:srgbClr val="0000FF"/>
                  </a:solidFill>
                  <a:latin typeface="华文楷体" panose="02010600040101010101" pitchFamily="2" charset="-122"/>
                  <a:ea typeface="华文楷体" panose="02010600040101010101" pitchFamily="2" charset="-122"/>
                </a:rPr>
                <a:t>）只能越来越优</a:t>
              </a:r>
              <a:endParaRPr lang="zh-CN" altLang="en-US">
                <a:solidFill>
                  <a:srgbClr val="0000FF"/>
                </a:solidFill>
                <a:latin typeface="华文楷体" panose="02010600040101010101" pitchFamily="2" charset="-122"/>
                <a:ea typeface="华文楷体" panose="02010600040101010101" pitchFamily="2" charset="-122"/>
              </a:endParaRPr>
            </a:p>
          </p:txBody>
        </p:sp>
        <p:sp>
          <p:nvSpPr>
            <p:cNvPr id="5" name="下箭头 4"/>
            <p:cNvSpPr/>
            <p:nvPr/>
          </p:nvSpPr>
          <p:spPr>
            <a:xfrm>
              <a:off x="3714745" y="3000372"/>
              <a:ext cx="214313" cy="49995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ea"/>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571480"/>
            <a:ext cx="8715436" cy="5595717"/>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180000" tIns="180000" bIns="180000">
            <a:spAutoFit/>
          </a:bodyPr>
          <a:lstStyle/>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void </a:t>
            </a:r>
            <a:r>
              <a:rPr kumimoji="0" lang="en-US" altLang="zh-CN" sz="18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dfs</a:t>
            </a: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(int i,int tw,int tv,int op[])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求解</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0/1</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背包问题</a:t>
            </a: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if (i&gt;n)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   //</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找到一个叶子结点</a:t>
            </a: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  maxv=tv;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存放更优解</a:t>
            </a: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for (int j=1;j&lt;=n;j++)</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x[j]=op[j];</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else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尚未找完所有物品</a:t>
            </a: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  if (</a:t>
            </a:r>
            <a:r>
              <a:rPr kumimoji="0" lang="en-US" altLang="zh-CN" sz="1800" b="0" i="0" u="none" strike="noStrike" kern="1200" cap="none" spc="0" normalizeH="0" baseline="0" noProof="0">
                <a:ln>
                  <a:noFill/>
                </a:ln>
                <a:solidFill>
                  <a:srgbClr val="FF00FF"/>
                </a:solidFill>
                <a:effectLst/>
                <a:uLnTx/>
                <a:uFillTx/>
                <a:latin typeface="Consolas" pitchFamily="49" charset="0"/>
                <a:ea typeface="仿宋" pitchFamily="49" charset="-122"/>
                <a:cs typeface="Consolas" pitchFamily="49" charset="0"/>
              </a:rPr>
              <a:t>tw+A[i].w&lt;=W</a:t>
            </a: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左孩子结点剪枝</a:t>
            </a: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  op[i]=1;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选取序号为</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i</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的物品</a:t>
            </a: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dfs</a:t>
            </a: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(i+1,tw+A[i].w,tv+A[i].v,op);</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if (</a:t>
            </a:r>
            <a:r>
              <a:rPr kumimoji="0" lang="en-US" altLang="zh-CN" sz="1800" b="0" i="0" u="none" strike="noStrike" kern="1200" cap="none" spc="0" normalizeH="0" baseline="0" noProof="0">
                <a:ln>
                  <a:noFill/>
                </a:ln>
                <a:solidFill>
                  <a:srgbClr val="FF00FF"/>
                </a:solidFill>
                <a:effectLst/>
                <a:uLnTx/>
                <a:uFillTx/>
                <a:latin typeface="Consolas" pitchFamily="49" charset="0"/>
                <a:ea typeface="仿宋" pitchFamily="49" charset="-122"/>
                <a:cs typeface="Consolas" pitchFamily="49" charset="0"/>
              </a:rPr>
              <a:t>bound(i,tw,tv)&gt;maxv</a:t>
            </a: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右孩子结点剪枝</a:t>
            </a: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  op[i]=0;			   </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不选取序号为</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i</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的物品</a:t>
            </a:r>
            <a:r>
              <a:rPr kumimoji="0" lang="en-US"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a:t>
            </a:r>
            <a:r>
              <a:rPr kumimoji="0" lang="zh-CN" altLang="zh-CN" sz="1800" b="0" i="0" u="none" strike="noStrike" kern="1200" cap="none" spc="0" normalizeH="0" baseline="0" noProof="0">
                <a:ln>
                  <a:noFill/>
                </a:ln>
                <a:solidFill>
                  <a:srgbClr val="00B0F0"/>
                </a:solidFill>
                <a:effectLst/>
                <a:uLnTx/>
                <a:uFillTx/>
                <a:latin typeface="Consolas" pitchFamily="49" charset="0"/>
                <a:ea typeface="仿宋" pitchFamily="49" charset="-122"/>
                <a:cs typeface="Consolas" pitchFamily="49" charset="0"/>
              </a:rPr>
              <a:t>回溯</a:t>
            </a: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r>
              <a:rPr kumimoji="0" lang="en-US" altLang="zh-CN" sz="18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rPr>
              <a:t>dfs</a:t>
            </a: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(i+1,tw,tv,op);</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   }</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a:p>
            <a:pPr marL="0" marR="0" lvl="0" indent="0" algn="l" defTabSz="914400" rtl="0" eaLnBrk="1" fontAlgn="base" latinLnBrk="0" hangingPunct="1">
              <a:lnSpc>
                <a:spcPts val="24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rPr>
              <a:t>}</a:t>
            </a:r>
            <a:endParaRPr kumimoji="0" lang="zh-CN" altLang="zh-CN" sz="1800" b="0" i="0" u="none" strike="noStrike" kern="1200" cap="none" spc="0" normalizeH="0" baseline="0" noProof="0">
              <a:ln>
                <a:noFill/>
              </a:ln>
              <a:solidFill>
                <a:srgbClr val="0000FF"/>
              </a:solidFill>
              <a:effectLst/>
              <a:uLnTx/>
              <a:uFillTx/>
              <a:latin typeface="Consolas" pitchFamily="49" charset="0"/>
              <a:ea typeface="仿宋"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5" end="1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2616" name="Group 104"/>
          <p:cNvGraphicFramePr>
            <a:graphicFrameLocks noGrp="1"/>
          </p:cNvGraphicFramePr>
          <p:nvPr/>
        </p:nvGraphicFramePr>
        <p:xfrm>
          <a:off x="1071563" y="1214438"/>
          <a:ext cx="3857625" cy="1785937"/>
        </p:xfrm>
        <a:graphic>
          <a:graphicData uri="http://schemas.openxmlformats.org/drawingml/2006/table">
            <a:tbl>
              <a:tblPr>
                <a:tableStyleId>{69CF1AB2-1976-4502-BF36-3FF5EA218861}</a:tableStyleId>
              </a:tblPr>
              <a:tblGrid>
                <a:gridCol w="1285875">
                  <a:extLst>
                    <a:ext uri="{9D8B030D-6E8A-4147-A177-3AD203B41FA5}">
                      <a16:colId xmlns:a16="http://schemas.microsoft.com/office/drawing/2014/main" val="20000"/>
                    </a:ext>
                  </a:extLst>
                </a:gridCol>
                <a:gridCol w="1285875">
                  <a:extLst>
                    <a:ext uri="{9D8B030D-6E8A-4147-A177-3AD203B41FA5}">
                      <a16:colId xmlns:a16="http://schemas.microsoft.com/office/drawing/2014/main" val="20001"/>
                    </a:ext>
                  </a:extLst>
                </a:gridCol>
                <a:gridCol w="1285875">
                  <a:extLst>
                    <a:ext uri="{9D8B030D-6E8A-4147-A177-3AD203B41FA5}">
                      <a16:colId xmlns:a16="http://schemas.microsoft.com/office/drawing/2014/main" val="20002"/>
                    </a:ext>
                  </a:extLst>
                </a:gridCol>
              </a:tblGrid>
              <a:tr h="362303">
                <a:tc>
                  <a:txBody>
                    <a:bodyPr/>
                    <a:lstStyle/>
                    <a:p>
                      <a:pPr marL="0" marR="0" lvl="0" indent="0" algn="ctr" defTabSz="914400" rtl="0" eaLnBrk="1" fontAlgn="base" latinLnBrk="0" hangingPunct="1">
                        <a:lnSpc>
                          <a:spcPts val="3000"/>
                        </a:lnSpc>
                        <a:spcBef>
                          <a:spcPct val="0"/>
                        </a:spcBef>
                        <a:spcAft>
                          <a:spcPct val="0"/>
                        </a:spcAft>
                        <a:buClrTx/>
                        <a:buSzTx/>
                        <a:buFontTx/>
                        <a:buNone/>
                      </a:pPr>
                      <a:r>
                        <a:rPr kumimoji="0" lang="zh-CN" altLang="pt-BR" sz="1800" b="1" u="none" strike="noStrike" cap="none" normalizeH="0" baseline="0" dirty="0">
                          <a:ln>
                            <a:noFill/>
                          </a:ln>
                          <a:solidFill>
                            <a:srgbClr val="C00000"/>
                          </a:solidFill>
                          <a:effectLst/>
                          <a:latin typeface="Consolas" pitchFamily="49" charset="0"/>
                          <a:ea typeface="仿宋" pitchFamily="49" charset="-122"/>
                          <a:cs typeface="Consolas" pitchFamily="49" charset="0"/>
                        </a:rPr>
                        <a:t>物品编号</a:t>
                      </a:r>
                      <a:endParaRPr kumimoji="0" lang="zh-CN" altLang="pt-BR"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3000"/>
                        </a:lnSpc>
                        <a:spcBef>
                          <a:spcPct val="0"/>
                        </a:spcBef>
                        <a:spcAft>
                          <a:spcPct val="0"/>
                        </a:spcAft>
                        <a:buClrTx/>
                        <a:buSzTx/>
                        <a:buFontTx/>
                        <a:buNone/>
                      </a:pPr>
                      <a:r>
                        <a:rPr kumimoji="0" lang="zh-CN" altLang="pt-BR" sz="1800" b="1" u="none" strike="noStrike" cap="none" normalizeH="0" baseline="0" dirty="0">
                          <a:ln>
                            <a:noFill/>
                          </a:ln>
                          <a:solidFill>
                            <a:srgbClr val="C00000"/>
                          </a:solidFill>
                          <a:effectLst/>
                          <a:latin typeface="Consolas" pitchFamily="49" charset="0"/>
                          <a:ea typeface="仿宋" pitchFamily="49" charset="-122"/>
                          <a:cs typeface="Consolas" pitchFamily="49" charset="0"/>
                        </a:rPr>
                        <a:t>重量</a:t>
                      </a:r>
                      <a:endParaRPr kumimoji="0" lang="zh-CN" altLang="pt-BR"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3000"/>
                        </a:lnSpc>
                        <a:spcBef>
                          <a:spcPct val="0"/>
                        </a:spcBef>
                        <a:spcAft>
                          <a:spcPct val="0"/>
                        </a:spcAft>
                        <a:buClrTx/>
                        <a:buSzTx/>
                        <a:buFontTx/>
                        <a:buNone/>
                      </a:pPr>
                      <a:r>
                        <a:rPr kumimoji="0" lang="zh-CN" altLang="pt-BR" sz="1800" b="1" u="none" strike="noStrike" cap="none" normalizeH="0" baseline="0" dirty="0">
                          <a:ln>
                            <a:noFill/>
                          </a:ln>
                          <a:solidFill>
                            <a:srgbClr val="C00000"/>
                          </a:solidFill>
                          <a:effectLst/>
                          <a:latin typeface="Consolas" pitchFamily="49" charset="0"/>
                          <a:ea typeface="仿宋" pitchFamily="49" charset="-122"/>
                          <a:cs typeface="Consolas" pitchFamily="49" charset="0"/>
                        </a:rPr>
                        <a:t>价值</a:t>
                      </a:r>
                      <a:endParaRPr kumimoji="0" lang="zh-CN" altLang="pt-BR"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extLst>
                  <a:ext uri="{0D108BD9-81ED-4DB2-BD59-A6C34878D82A}">
                    <a16:rowId xmlns:a16="http://schemas.microsoft.com/office/drawing/2014/main" val="10000"/>
                  </a:ext>
                </a:extLst>
              </a:tr>
              <a:tr h="370770">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4</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extLst>
                  <a:ext uri="{0D108BD9-81ED-4DB2-BD59-A6C34878D82A}">
                    <a16:rowId xmlns:a16="http://schemas.microsoft.com/office/drawing/2014/main" val="10001"/>
                  </a:ext>
                </a:extLst>
              </a:tr>
              <a:tr h="341829">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3</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4</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extLst>
                  <a:ext uri="{0D108BD9-81ED-4DB2-BD59-A6C34878D82A}">
                    <a16:rowId xmlns:a16="http://schemas.microsoft.com/office/drawing/2014/main" val="10002"/>
                  </a:ext>
                </a:extLst>
              </a:tr>
              <a:tr h="369988">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3</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3</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extLst>
                  <a:ext uri="{0D108BD9-81ED-4DB2-BD59-A6C34878D82A}">
                    <a16:rowId xmlns:a16="http://schemas.microsoft.com/office/drawing/2014/main" val="10003"/>
                  </a:ext>
                </a:extLst>
              </a:tr>
              <a:tr h="341047">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4</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extLst>
                  <a:ext uri="{0D108BD9-81ED-4DB2-BD59-A6C34878D82A}">
                    <a16:rowId xmlns:a16="http://schemas.microsoft.com/office/drawing/2014/main" val="10004"/>
                  </a:ext>
                </a:extLst>
              </a:tr>
            </a:tbl>
          </a:graphicData>
        </a:graphic>
      </p:graphicFrame>
      <p:sp>
        <p:nvSpPr>
          <p:cNvPr id="115739" name="Text Box 103"/>
          <p:cNvSpPr txBox="1"/>
          <p:nvPr/>
        </p:nvSpPr>
        <p:spPr>
          <a:xfrm>
            <a:off x="785813" y="428625"/>
            <a:ext cx="3498850" cy="369888"/>
          </a:xfrm>
          <a:prstGeom prst="rect">
            <a:avLst/>
          </a:prstGeom>
          <a:noFill/>
          <a:ln w="9525">
            <a:noFill/>
          </a:ln>
        </p:spPr>
        <p:txBody>
          <a:bodyPr anchor="t" anchorCtr="0">
            <a:spAutoFit/>
          </a:bodyPr>
          <a:lstStyle/>
          <a:p>
            <a:pPr>
              <a:spcBef>
                <a:spcPct val="50000"/>
              </a:spcBef>
            </a:pPr>
            <a:r>
              <a:rPr lang="en-US" altLang="zh-CN" sz="1800" dirty="0">
                <a:solidFill>
                  <a:srgbClr val="0000FF"/>
                </a:solidFill>
                <a:latin typeface="Consolas" pitchFamily="49" charset="0"/>
                <a:ea typeface="楷体" pitchFamily="49" charset="-122"/>
              </a:rPr>
              <a:t>0/1</a:t>
            </a:r>
            <a:r>
              <a:rPr lang="zh-CN" altLang="en-US" sz="1800" dirty="0">
                <a:solidFill>
                  <a:srgbClr val="0000FF"/>
                </a:solidFill>
                <a:latin typeface="Consolas" pitchFamily="49" charset="0"/>
                <a:ea typeface="楷体" pitchFamily="49" charset="-122"/>
              </a:rPr>
              <a:t>背包问题（</a:t>
            </a:r>
            <a:r>
              <a:rPr lang="en-US" altLang="zh-CN" sz="1800" i="1" dirty="0">
                <a:solidFill>
                  <a:srgbClr val="0000FF"/>
                </a:solidFill>
                <a:latin typeface="Consolas" pitchFamily="49" charset="0"/>
                <a:ea typeface="楷体" pitchFamily="49" charset="-122"/>
              </a:rPr>
              <a:t>W</a:t>
            </a:r>
            <a:r>
              <a:rPr lang="en-US" altLang="zh-CN" sz="1800" dirty="0">
                <a:solidFill>
                  <a:srgbClr val="0000FF"/>
                </a:solidFill>
                <a:latin typeface="Consolas" pitchFamily="49" charset="0"/>
                <a:ea typeface="楷体" pitchFamily="49" charset="-122"/>
              </a:rPr>
              <a:t>=6</a:t>
            </a:r>
            <a:r>
              <a:rPr lang="zh-CN" altLang="en-US" sz="1800" dirty="0">
                <a:solidFill>
                  <a:srgbClr val="0000FF"/>
                </a:solidFill>
                <a:latin typeface="Consolas" pitchFamily="49" charset="0"/>
                <a:ea typeface="楷体" pitchFamily="49" charset="-122"/>
              </a:rPr>
              <a:t>）：</a:t>
            </a:r>
          </a:p>
        </p:txBody>
      </p:sp>
      <p:graphicFrame>
        <p:nvGraphicFramePr>
          <p:cNvPr id="4" name="Group 104"/>
          <p:cNvGraphicFramePr>
            <a:graphicFrameLocks noGrp="1"/>
          </p:cNvGraphicFramePr>
          <p:nvPr/>
        </p:nvGraphicFramePr>
        <p:xfrm>
          <a:off x="1785938" y="3857625"/>
          <a:ext cx="4286251" cy="1785940"/>
        </p:xfrm>
        <a:graphic>
          <a:graphicData uri="http://schemas.openxmlformats.org/drawingml/2006/table">
            <a:tbl>
              <a:tblPr>
                <a:tableStyleId>{69CF1AB2-1976-4502-BF36-3FF5EA218861}</a:tableStyleId>
              </a:tblPr>
              <a:tblGrid>
                <a:gridCol w="714375">
                  <a:extLst>
                    <a:ext uri="{9D8B030D-6E8A-4147-A177-3AD203B41FA5}">
                      <a16:colId xmlns:a16="http://schemas.microsoft.com/office/drawing/2014/main" val="20000"/>
                    </a:ext>
                  </a:extLst>
                </a:gridCol>
                <a:gridCol w="1178255">
                  <a:extLst>
                    <a:ext uri="{9D8B030D-6E8A-4147-A177-3AD203B41FA5}">
                      <a16:colId xmlns:a16="http://schemas.microsoft.com/office/drawing/2014/main" val="20001"/>
                    </a:ext>
                  </a:extLst>
                </a:gridCol>
                <a:gridCol w="723653">
                  <a:extLst>
                    <a:ext uri="{9D8B030D-6E8A-4147-A177-3AD203B41FA5}">
                      <a16:colId xmlns:a16="http://schemas.microsoft.com/office/drawing/2014/main" val="20002"/>
                    </a:ext>
                  </a:extLst>
                </a:gridCol>
                <a:gridCol w="834984">
                  <a:extLst>
                    <a:ext uri="{9D8B030D-6E8A-4147-A177-3AD203B41FA5}">
                      <a16:colId xmlns:a16="http://schemas.microsoft.com/office/drawing/2014/main" val="20003"/>
                    </a:ext>
                  </a:extLst>
                </a:gridCol>
                <a:gridCol w="834984">
                  <a:extLst>
                    <a:ext uri="{9D8B030D-6E8A-4147-A177-3AD203B41FA5}">
                      <a16:colId xmlns:a16="http://schemas.microsoft.com/office/drawing/2014/main" val="20004"/>
                    </a:ext>
                  </a:extLst>
                </a:gridCol>
              </a:tblGrid>
              <a:tr h="362304">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b="1" i="1" u="none" strike="noStrike" cap="none" normalizeH="0" baseline="0">
                          <a:ln>
                            <a:noFill/>
                          </a:ln>
                          <a:solidFill>
                            <a:srgbClr val="C00000"/>
                          </a:solidFill>
                          <a:effectLst/>
                          <a:latin typeface="Consolas" pitchFamily="49" charset="0"/>
                          <a:ea typeface="仿宋" pitchFamily="49" charset="-122"/>
                          <a:cs typeface="Consolas" pitchFamily="49" charset="0"/>
                        </a:rPr>
                        <a:t>i</a:t>
                      </a:r>
                      <a:endParaRPr kumimoji="0" lang="zh-CN" altLang="pt-BR" sz="1800" b="1" i="1"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b="1" u="none" strike="noStrike" cap="none" normalizeH="0" baseline="0">
                          <a:ln>
                            <a:noFill/>
                          </a:ln>
                          <a:solidFill>
                            <a:srgbClr val="C00000"/>
                          </a:solidFill>
                          <a:effectLst/>
                          <a:latin typeface="Consolas" pitchFamily="49" charset="0"/>
                          <a:ea typeface="仿宋" pitchFamily="49" charset="-122"/>
                          <a:cs typeface="Consolas" pitchFamily="49" charset="0"/>
                        </a:rPr>
                        <a:t>no</a:t>
                      </a:r>
                      <a:endParaRPr kumimoji="0" lang="zh-CN" altLang="pt-BR"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b="1" i="1" u="none" strike="noStrike" cap="none" normalizeH="0" baseline="0">
                          <a:ln>
                            <a:noFill/>
                          </a:ln>
                          <a:solidFill>
                            <a:srgbClr val="C00000"/>
                          </a:solidFill>
                          <a:effectLst/>
                          <a:latin typeface="Consolas" pitchFamily="49" charset="0"/>
                          <a:ea typeface="仿宋" pitchFamily="49" charset="-122"/>
                          <a:cs typeface="Consolas" pitchFamily="49" charset="0"/>
                        </a:rPr>
                        <a:t>w</a:t>
                      </a:r>
                      <a:r>
                        <a:rPr kumimoji="0" lang="en-US" altLang="zh-CN" sz="1800" b="1" i="1" u="none" strike="noStrike" cap="none" normalizeH="0" baseline="-25000">
                          <a:ln>
                            <a:noFill/>
                          </a:ln>
                          <a:solidFill>
                            <a:srgbClr val="C00000"/>
                          </a:solidFill>
                          <a:effectLst/>
                          <a:latin typeface="Consolas" pitchFamily="49" charset="0"/>
                          <a:ea typeface="仿宋" pitchFamily="49" charset="-122"/>
                          <a:cs typeface="Consolas" pitchFamily="49" charset="0"/>
                        </a:rPr>
                        <a:t>i</a:t>
                      </a:r>
                      <a:endParaRPr kumimoji="0" lang="zh-CN" altLang="pt-BR" sz="1800" b="1" i="1" u="none" strike="noStrike" cap="none" normalizeH="0" baseline="-2500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b="1" i="1" u="none" strike="noStrike" cap="none" normalizeH="0" baseline="0">
                          <a:ln>
                            <a:noFill/>
                          </a:ln>
                          <a:solidFill>
                            <a:srgbClr val="C00000"/>
                          </a:solidFill>
                          <a:effectLst/>
                          <a:latin typeface="Consolas" pitchFamily="49" charset="0"/>
                          <a:ea typeface="仿宋" pitchFamily="49" charset="-122"/>
                          <a:cs typeface="Consolas" pitchFamily="49" charset="0"/>
                        </a:rPr>
                        <a:t>v</a:t>
                      </a:r>
                      <a:r>
                        <a:rPr kumimoji="0" lang="en-US" altLang="zh-CN" sz="1800" b="1" i="1" u="none" strike="noStrike" cap="none" normalizeH="0" baseline="-25000">
                          <a:ln>
                            <a:noFill/>
                          </a:ln>
                          <a:solidFill>
                            <a:srgbClr val="C00000"/>
                          </a:solidFill>
                          <a:effectLst/>
                          <a:latin typeface="Consolas" pitchFamily="49" charset="0"/>
                          <a:ea typeface="仿宋" pitchFamily="49" charset="-122"/>
                          <a:cs typeface="Consolas" pitchFamily="49" charset="0"/>
                        </a:rPr>
                        <a:t>i</a:t>
                      </a:r>
                      <a:endParaRPr kumimoji="0" lang="zh-CN" altLang="pt-BR" sz="1800" b="1" i="1" u="none" strike="noStrike" cap="none" normalizeH="0" baseline="-2500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b="1" i="1" u="none" strike="noStrike" cap="none" normalizeH="0" baseline="0">
                          <a:ln>
                            <a:noFill/>
                          </a:ln>
                          <a:solidFill>
                            <a:srgbClr val="C00000"/>
                          </a:solidFill>
                          <a:effectLst/>
                          <a:latin typeface="Consolas" pitchFamily="49" charset="0"/>
                          <a:ea typeface="仿宋" pitchFamily="49" charset="-122"/>
                          <a:cs typeface="Consolas" pitchFamily="49" charset="0"/>
                        </a:rPr>
                        <a:t>p</a:t>
                      </a:r>
                      <a:r>
                        <a:rPr kumimoji="0" lang="en-US" altLang="zh-CN" sz="1800" b="1" i="1" u="none" strike="noStrike" cap="none" normalizeH="0" baseline="-25000">
                          <a:ln>
                            <a:noFill/>
                          </a:ln>
                          <a:solidFill>
                            <a:srgbClr val="C00000"/>
                          </a:solidFill>
                          <a:effectLst/>
                          <a:latin typeface="Consolas" pitchFamily="49" charset="0"/>
                          <a:ea typeface="仿宋" pitchFamily="49" charset="-122"/>
                          <a:cs typeface="Consolas" pitchFamily="49" charset="0"/>
                        </a:rPr>
                        <a:t>i</a:t>
                      </a:r>
                      <a:endParaRPr kumimoji="0" lang="zh-CN" altLang="pt-BR" sz="1800" b="1" i="1" u="none" strike="noStrike" cap="none" normalizeH="0" baseline="-2500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extLst>
                  <a:ext uri="{0D108BD9-81ED-4DB2-BD59-A6C34878D82A}">
                    <a16:rowId xmlns:a16="http://schemas.microsoft.com/office/drawing/2014/main" val="10000"/>
                  </a:ext>
                </a:extLst>
              </a:tr>
              <a:tr h="370771">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1</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3</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2</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3</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1.5</a:t>
                      </a:r>
                    </a:p>
                  </a:txBody>
                  <a:tcPr marL="89999" marR="89999" marT="0" marB="0" horzOverflow="overflow"/>
                </a:tc>
                <a:extLst>
                  <a:ext uri="{0D108BD9-81ED-4DB2-BD59-A6C34878D82A}">
                    <a16:rowId xmlns:a16="http://schemas.microsoft.com/office/drawing/2014/main" val="10001"/>
                  </a:ext>
                </a:extLst>
              </a:tr>
              <a:tr h="341829">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2</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3</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4</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1.3</a:t>
                      </a:r>
                    </a:p>
                  </a:txBody>
                  <a:tcPr marL="89999" marR="89999" marT="0" marB="0" horzOverflow="overflow"/>
                </a:tc>
                <a:extLst>
                  <a:ext uri="{0D108BD9-81ED-4DB2-BD59-A6C34878D82A}">
                    <a16:rowId xmlns:a16="http://schemas.microsoft.com/office/drawing/2014/main" val="10002"/>
                  </a:ext>
                </a:extLst>
              </a:tr>
              <a:tr h="369989">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3</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4</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1</a:t>
                      </a:r>
                    </a:p>
                  </a:txBody>
                  <a:tcPr marL="89999" marR="89999" marT="0" marB="0" horzOverflow="overflow"/>
                </a:tc>
                <a:extLst>
                  <a:ext uri="{0D108BD9-81ED-4DB2-BD59-A6C34878D82A}">
                    <a16:rowId xmlns:a16="http://schemas.microsoft.com/office/drawing/2014/main" val="10003"/>
                  </a:ext>
                </a:extLst>
              </a:tr>
              <a:tr h="341047">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4</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4</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0.8</a:t>
                      </a:r>
                    </a:p>
                  </a:txBody>
                  <a:tcPr marL="89999" marR="89999" marT="0" marB="0" horzOverflow="overflow"/>
                </a:tc>
                <a:extLst>
                  <a:ext uri="{0D108BD9-81ED-4DB2-BD59-A6C34878D82A}">
                    <a16:rowId xmlns:a16="http://schemas.microsoft.com/office/drawing/2014/main" val="10004"/>
                  </a:ext>
                </a:extLst>
              </a:tr>
            </a:tbl>
          </a:graphicData>
        </a:graphic>
      </p:graphicFrame>
      <p:sp>
        <p:nvSpPr>
          <p:cNvPr id="5" name="下箭头 4"/>
          <p:cNvSpPr/>
          <p:nvPr/>
        </p:nvSpPr>
        <p:spPr>
          <a:xfrm>
            <a:off x="3786188" y="3214688"/>
            <a:ext cx="214313" cy="42862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6" name="表格 5"/>
          <p:cNvGraphicFramePr>
            <a:graphicFrameLocks noGrp="1"/>
          </p:cNvGraphicFramePr>
          <p:nvPr/>
        </p:nvGraphicFramePr>
        <p:xfrm>
          <a:off x="5072063" y="1214438"/>
          <a:ext cx="1285875" cy="1785937"/>
        </p:xfrm>
        <a:graphic>
          <a:graphicData uri="http://schemas.openxmlformats.org/drawingml/2006/table">
            <a:tbl>
              <a:tblPr>
                <a:tableStyleId>{69CF1AB2-1976-4502-BF36-3FF5EA218861}</a:tableStyleId>
              </a:tblPr>
              <a:tblGrid>
                <a:gridCol w="1285875">
                  <a:extLst>
                    <a:ext uri="{9D8B030D-6E8A-4147-A177-3AD203B41FA5}">
                      <a16:colId xmlns:a16="http://schemas.microsoft.com/office/drawing/2014/main" val="20000"/>
                    </a:ext>
                  </a:extLst>
                </a:gridCol>
              </a:tblGrid>
              <a:tr h="362303">
                <a:tc>
                  <a:txBody>
                    <a:bodyPr/>
                    <a:lstStyle/>
                    <a:p>
                      <a:pPr marL="0" marR="0" lvl="0" indent="0" algn="ctr" defTabSz="914400" rtl="0" eaLnBrk="1" fontAlgn="base" latinLnBrk="0" hangingPunct="1">
                        <a:lnSpc>
                          <a:spcPts val="3000"/>
                        </a:lnSpc>
                        <a:spcBef>
                          <a:spcPct val="0"/>
                        </a:spcBef>
                        <a:spcAft>
                          <a:spcPct val="0"/>
                        </a:spcAft>
                        <a:buClrTx/>
                        <a:buSzTx/>
                        <a:buFontTx/>
                        <a:buNone/>
                      </a:pPr>
                      <a:r>
                        <a:rPr kumimoji="0" lang="en-US" altLang="zh-CN" sz="1800" b="1" u="none" strike="noStrike" cap="none" normalizeH="0" baseline="0">
                          <a:ln>
                            <a:noFill/>
                          </a:ln>
                          <a:solidFill>
                            <a:srgbClr val="C00000"/>
                          </a:solidFill>
                          <a:effectLst/>
                          <a:latin typeface="Consolas" pitchFamily="49" charset="0"/>
                          <a:ea typeface="仿宋" pitchFamily="49" charset="-122"/>
                          <a:cs typeface="Consolas" pitchFamily="49" charset="0"/>
                        </a:rPr>
                        <a:t>p=v/w</a:t>
                      </a:r>
                      <a:endParaRPr kumimoji="0" lang="zh-CN" altLang="pt-BR"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extLst>
                  <a:ext uri="{0D108BD9-81ED-4DB2-BD59-A6C34878D82A}">
                    <a16:rowId xmlns:a16="http://schemas.microsoft.com/office/drawing/2014/main" val="10000"/>
                  </a:ext>
                </a:extLst>
              </a:tr>
              <a:tr h="370770">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0.8</a:t>
                      </a:r>
                    </a:p>
                  </a:txBody>
                  <a:tcPr marL="89999" marR="89999" marT="0" marB="0" horzOverflow="overflow"/>
                </a:tc>
                <a:extLst>
                  <a:ext uri="{0D108BD9-81ED-4DB2-BD59-A6C34878D82A}">
                    <a16:rowId xmlns:a16="http://schemas.microsoft.com/office/drawing/2014/main" val="10001"/>
                  </a:ext>
                </a:extLst>
              </a:tr>
              <a:tr h="341829">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1.3</a:t>
                      </a:r>
                    </a:p>
                  </a:txBody>
                  <a:tcPr marL="89999" marR="89999" marT="0" marB="0" horzOverflow="overflow"/>
                </a:tc>
                <a:extLst>
                  <a:ext uri="{0D108BD9-81ED-4DB2-BD59-A6C34878D82A}">
                    <a16:rowId xmlns:a16="http://schemas.microsoft.com/office/drawing/2014/main" val="10002"/>
                  </a:ext>
                </a:extLst>
              </a:tr>
              <a:tr h="369988">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rPr>
                        <a:t>1.5</a:t>
                      </a:r>
                    </a:p>
                  </a:txBody>
                  <a:tcPr marL="89999" marR="89999" marT="0" marB="0" horzOverflow="overflow"/>
                </a:tc>
                <a:extLst>
                  <a:ext uri="{0D108BD9-81ED-4DB2-BD59-A6C34878D82A}">
                    <a16:rowId xmlns:a16="http://schemas.microsoft.com/office/drawing/2014/main" val="10003"/>
                  </a:ext>
                </a:extLst>
              </a:tr>
              <a:tr h="341047">
                <a:tc>
                  <a:txBody>
                    <a:bodyPr/>
                    <a:lstStyle/>
                    <a:p>
                      <a:pPr marL="0" marR="0" lvl="0" indent="0" algn="ctr" defTabSz="914400" rtl="0" eaLnBrk="1" fontAlgn="base" latinLnBrk="0" hangingPunct="1">
                        <a:lnSpc>
                          <a:spcPts val="2600"/>
                        </a:lnSpc>
                        <a:spcBef>
                          <a:spcPct val="0"/>
                        </a:spcBef>
                        <a:spcAft>
                          <a:spcPct val="0"/>
                        </a:spcAft>
                        <a:buClrTx/>
                        <a:buSzTx/>
                        <a:buFontTx/>
                        <a:buNone/>
                      </a:pPr>
                      <a:r>
                        <a:rPr kumimoji="0" lang="pt-BR"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a:t>
                      </a:r>
                      <a:endParaRPr kumimoji="0" lang="pt-BR"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extLst>
                  <a:ext uri="{0D108BD9-81ED-4DB2-BD59-A6C34878D82A}">
                    <a16:rowId xmlns:a16="http://schemas.microsoft.com/office/drawing/2014/main" val="10004"/>
                  </a:ext>
                </a:extLst>
              </a:tr>
            </a:tbl>
          </a:graphicData>
        </a:graphic>
      </p:graphicFrame>
      <p:sp>
        <p:nvSpPr>
          <p:cNvPr id="9" name="TextBox 8"/>
          <p:cNvSpPr txBox="1"/>
          <p:nvPr/>
        </p:nvSpPr>
        <p:spPr>
          <a:xfrm>
            <a:off x="642938" y="3714750"/>
            <a:ext cx="928687" cy="400050"/>
          </a:xfrm>
          <a:prstGeom prst="rect">
            <a:avLst/>
          </a:prstGeom>
          <a:noFill/>
          <a:ln w="9525">
            <a:noFill/>
          </a:ln>
        </p:spPr>
        <p:txBody>
          <a:bodyPr anchor="t" anchorCtr="0">
            <a:spAutoFit/>
          </a:bodyPr>
          <a:lstStyle/>
          <a:p>
            <a:r>
              <a:rPr lang="en-US" altLang="zh-CN" dirty="0">
                <a:solidFill>
                  <a:srgbClr val="0000FF"/>
                </a:solidFill>
                <a:latin typeface="Consolas" pitchFamily="49" charset="0"/>
                <a:ea typeface="仿宋" pitchFamily="49" charset="-122"/>
              </a:rPr>
              <a:t>A</a:t>
            </a:r>
            <a:r>
              <a:rPr lang="zh-CN" altLang="en-US" dirty="0">
                <a:solidFill>
                  <a:srgbClr val="0000FF"/>
                </a:solidFill>
                <a:latin typeface="Consolas" pitchFamily="49" charset="0"/>
                <a:ea typeface="仿宋" pitchFamily="49" charset="-122"/>
              </a:rPr>
              <a:t>数组</a:t>
            </a:r>
            <a:r>
              <a:rPr lang="en-US" altLang="zh-CN" dirty="0">
                <a:solidFill>
                  <a:srgbClr val="0000FF"/>
                </a:solidFill>
                <a:latin typeface="Consolas" pitchFamily="49" charset="0"/>
                <a:ea typeface="仿宋" pitchFamily="49" charset="-122"/>
              </a:rPr>
              <a:t>:</a:t>
            </a:r>
            <a:endParaRPr lang="zh-CN" altLang="en-US" dirty="0">
              <a:solidFill>
                <a:srgbClr val="0000FF"/>
              </a:solidFill>
              <a:latin typeface="Consolas" pitchFamily="49" charset="0"/>
              <a:ea typeface="仿宋"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60"/>
          <p:cNvGrpSpPr/>
          <p:nvPr/>
        </p:nvGrpSpPr>
        <p:grpSpPr>
          <a:xfrm>
            <a:off x="4857750" y="1114425"/>
            <a:ext cx="1247775" cy="1139825"/>
            <a:chOff x="4857752" y="1113819"/>
            <a:chExt cx="1247628" cy="1140107"/>
          </a:xfrm>
        </p:grpSpPr>
        <p:sp>
          <p:nvSpPr>
            <p:cNvPr id="45" name="椭圆 44"/>
            <p:cNvSpPr/>
            <p:nvPr/>
          </p:nvSpPr>
          <p:spPr>
            <a:xfrm>
              <a:off x="4857752" y="1785498"/>
              <a:ext cx="714291" cy="468428"/>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2,3</a:t>
              </a:r>
              <a:endParaRPr kumimoji="0" lang="zh-CN" altLang="en-US"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101" name="直接连接符 100"/>
            <p:cNvCxnSpPr>
              <a:stCxn id="99" idx="3"/>
              <a:endCxn id="45" idx="0"/>
            </p:cNvCxnSpPr>
            <p:nvPr/>
          </p:nvCxnSpPr>
          <p:spPr>
            <a:xfrm rot="5400000">
              <a:off x="5324299" y="1004417"/>
              <a:ext cx="671679" cy="890482"/>
            </a:xfrm>
            <a:prstGeom prst="line">
              <a:avLst/>
            </a:prstGeom>
            <a:ln w="12700"/>
          </p:spPr>
          <p:style>
            <a:lnRef idx="2">
              <a:schemeClr val="dk1"/>
            </a:lnRef>
            <a:fillRef idx="0">
              <a:schemeClr val="dk1"/>
            </a:fillRef>
            <a:effectRef idx="1">
              <a:schemeClr val="dk1"/>
            </a:effectRef>
            <a:fontRef idx="minor">
              <a:schemeClr val="tx1"/>
            </a:fontRef>
          </p:style>
        </p:cxnSp>
      </p:grpSp>
      <p:grpSp>
        <p:nvGrpSpPr>
          <p:cNvPr id="3" name="组合 132"/>
          <p:cNvGrpSpPr/>
          <p:nvPr/>
        </p:nvGrpSpPr>
        <p:grpSpPr>
          <a:xfrm>
            <a:off x="3571875" y="5724525"/>
            <a:ext cx="1071563" cy="704850"/>
            <a:chOff x="3979858" y="5521901"/>
            <a:chExt cx="1071570" cy="705323"/>
          </a:xfrm>
        </p:grpSpPr>
        <p:sp>
          <p:nvSpPr>
            <p:cNvPr id="117765" name="TextBox 129"/>
            <p:cNvSpPr txBox="1"/>
            <p:nvPr/>
          </p:nvSpPr>
          <p:spPr>
            <a:xfrm>
              <a:off x="3979858" y="5857892"/>
              <a:ext cx="1071570" cy="369332"/>
            </a:xfrm>
            <a:prstGeom prst="rect">
              <a:avLst/>
            </a:prstGeom>
            <a:noFill/>
            <a:ln w="9525">
              <a:noFill/>
            </a:ln>
          </p:spPr>
          <p:txBody>
            <a:bodyPr anchor="t" anchorCtr="0">
              <a:spAutoFit/>
            </a:bodyPr>
            <a:lstStyle/>
            <a:p>
              <a:pPr algn="ctr"/>
              <a:r>
                <a:rPr lang="zh-CN" altLang="en-US" sz="1800" dirty="0">
                  <a:solidFill>
                    <a:srgbClr val="0000FF"/>
                  </a:solidFill>
                  <a:latin typeface="Consolas" pitchFamily="49" charset="0"/>
                  <a:ea typeface="微软雅黑" charset="-122"/>
                </a:rPr>
                <a:t>最优解</a:t>
              </a:r>
            </a:p>
          </p:txBody>
        </p:sp>
        <p:cxnSp>
          <p:nvCxnSpPr>
            <p:cNvPr id="132" name="直接箭头连接符 131"/>
            <p:cNvCxnSpPr>
              <a:stCxn id="117765" idx="0"/>
            </p:cNvCxnSpPr>
            <p:nvPr/>
          </p:nvCxnSpPr>
          <p:spPr>
            <a:xfrm rot="16200000" flipV="1">
              <a:off x="4329792" y="5672033"/>
              <a:ext cx="336776" cy="36512"/>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grpSp>
      <p:grpSp>
        <p:nvGrpSpPr>
          <p:cNvPr id="4" name="组合 159"/>
          <p:cNvGrpSpPr/>
          <p:nvPr/>
        </p:nvGrpSpPr>
        <p:grpSpPr>
          <a:xfrm>
            <a:off x="4214813" y="214313"/>
            <a:ext cx="3786187" cy="968375"/>
            <a:chOff x="4214810" y="214290"/>
            <a:chExt cx="3786214" cy="968066"/>
          </a:xfrm>
        </p:grpSpPr>
        <p:sp>
          <p:nvSpPr>
            <p:cNvPr id="99" name="椭圆 98"/>
            <p:cNvSpPr/>
            <p:nvPr/>
          </p:nvSpPr>
          <p:spPr>
            <a:xfrm>
              <a:off x="6000760" y="714192"/>
              <a:ext cx="714380" cy="468164"/>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0,0</a:t>
              </a:r>
              <a:endParaRPr kumimoji="0" lang="zh-CN" altLang="en-US"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sp>
          <p:nvSpPr>
            <p:cNvPr id="121" name="TextBox 120"/>
            <p:cNvSpPr txBox="1"/>
            <p:nvPr/>
          </p:nvSpPr>
          <p:spPr>
            <a:xfrm>
              <a:off x="6786578" y="785608"/>
              <a:ext cx="1214446" cy="285659"/>
            </a:xfrm>
            <a:prstGeom prst="rect">
              <a:avLst/>
            </a:prstGeom>
            <a:noFill/>
          </p:spPr>
          <p:txBody>
            <a:bodyPr lIns="0" tIns="0" rIns="0" bIns="0">
              <a:spAutoFit/>
            </a:bodyPr>
            <a:lstStyle/>
            <a:p>
              <a:pPr marR="0" defTabSz="914400">
                <a:buClrTx/>
                <a:buSzTx/>
                <a:buFontTx/>
                <a:buNone/>
                <a:defRPr/>
              </a:pPr>
              <a:r>
                <a:rPr kumimoji="0" lang="zh-CN" altLang="en-US" sz="1800" kern="1200" cap="none" spc="-150" normalizeH="0" baseline="0" noProof="0">
                  <a:solidFill>
                    <a:srgbClr val="0000FF"/>
                  </a:solidFill>
                  <a:latin typeface="Consolas" pitchFamily="49" charset="0"/>
                  <a:ea typeface="仿宋" pitchFamily="49" charset="-122"/>
                  <a:cs typeface="Consolas" pitchFamily="49" charset="0"/>
                </a:rPr>
                <a:t>根结点：</a:t>
              </a:r>
              <a:r>
                <a:rPr kumimoji="0" lang="en-US" altLang="zh-CN" sz="1800" i="1" kern="1200" cap="none" spc="-150" normalizeH="0" baseline="0" noProof="0">
                  <a:solidFill>
                    <a:srgbClr val="FF0000"/>
                  </a:solidFill>
                  <a:latin typeface="Consolas" pitchFamily="49" charset="0"/>
                  <a:ea typeface="仿宋" pitchFamily="49" charset="-122"/>
                  <a:cs typeface="Consolas" pitchFamily="49" charset="0"/>
                </a:rPr>
                <a:t>i=</a:t>
              </a:r>
              <a:r>
                <a:rPr kumimoji="0" lang="en-US" altLang="zh-CN" sz="1800" kern="1200" cap="none" spc="-150" normalizeH="0" baseline="0" noProof="0">
                  <a:solidFill>
                    <a:srgbClr val="FF0000"/>
                  </a:solidFill>
                  <a:latin typeface="Consolas" pitchFamily="49" charset="0"/>
                  <a:ea typeface="仿宋" pitchFamily="49" charset="-122"/>
                  <a:cs typeface="Consolas" pitchFamily="49" charset="0"/>
                </a:rPr>
                <a:t>1</a:t>
              </a:r>
              <a:endParaRPr kumimoji="0" lang="zh-CN" altLang="en-US" sz="1800" kern="1200" cap="none" spc="-150" normalizeH="0" baseline="0" noProof="0">
                <a:solidFill>
                  <a:srgbClr val="FF0000"/>
                </a:solidFill>
                <a:latin typeface="Consolas" pitchFamily="49" charset="0"/>
                <a:ea typeface="仿宋" pitchFamily="49" charset="-122"/>
                <a:cs typeface="Consolas" pitchFamily="49" charset="0"/>
              </a:endParaRPr>
            </a:p>
          </p:txBody>
        </p:sp>
        <p:sp>
          <p:nvSpPr>
            <p:cNvPr id="117770" name="TextBox 135"/>
            <p:cNvSpPr txBox="1"/>
            <p:nvPr/>
          </p:nvSpPr>
          <p:spPr>
            <a:xfrm>
              <a:off x="4214810" y="214290"/>
              <a:ext cx="1143008" cy="369332"/>
            </a:xfrm>
            <a:prstGeom prst="rect">
              <a:avLst/>
            </a:prstGeom>
            <a:solidFill>
              <a:srgbClr val="006600"/>
            </a:solidFill>
            <a:ln w="9525">
              <a:noFill/>
            </a:ln>
          </p:spPr>
          <p:txBody>
            <a:bodyPr anchor="t" anchorCtr="0">
              <a:spAutoFit/>
            </a:bodyPr>
            <a:lstStyle/>
            <a:p>
              <a:r>
                <a:rPr lang="en-US" altLang="zh-CN" sz="1800" dirty="0">
                  <a:solidFill>
                    <a:schemeClr val="bg1"/>
                  </a:solidFill>
                  <a:latin typeface="Consolas" pitchFamily="49" charset="0"/>
                  <a:ea typeface="仿宋" pitchFamily="49" charset="-122"/>
                </a:rPr>
                <a:t>(tw,tv)</a:t>
              </a:r>
              <a:endParaRPr lang="zh-CN" altLang="en-US" sz="1800" dirty="0">
                <a:solidFill>
                  <a:schemeClr val="bg1"/>
                </a:solidFill>
                <a:latin typeface="Consolas" pitchFamily="49" charset="0"/>
                <a:ea typeface="仿宋" pitchFamily="49" charset="-122"/>
              </a:endParaRPr>
            </a:p>
          </p:txBody>
        </p:sp>
        <p:cxnSp>
          <p:nvCxnSpPr>
            <p:cNvPr id="138" name="直接箭头连接符 137"/>
            <p:cNvCxnSpPr>
              <a:stCxn id="117770" idx="2"/>
              <a:endCxn id="99" idx="2"/>
            </p:cNvCxnSpPr>
            <p:nvPr/>
          </p:nvCxnSpPr>
          <p:spPr>
            <a:xfrm rot="16200000" flipH="1">
              <a:off x="5211033" y="159340"/>
              <a:ext cx="365008" cy="1214446"/>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grpSp>
        <p:nvGrpSpPr>
          <p:cNvPr id="5" name="组合 162"/>
          <p:cNvGrpSpPr/>
          <p:nvPr/>
        </p:nvGrpSpPr>
        <p:grpSpPr>
          <a:xfrm>
            <a:off x="3284538" y="3217863"/>
            <a:ext cx="715962" cy="1068387"/>
            <a:chOff x="3284066" y="3217586"/>
            <a:chExt cx="716430" cy="1068670"/>
          </a:xfrm>
        </p:grpSpPr>
        <p:sp>
          <p:nvSpPr>
            <p:cNvPr id="79" name="椭圆 78"/>
            <p:cNvSpPr/>
            <p:nvPr/>
          </p:nvSpPr>
          <p:spPr>
            <a:xfrm>
              <a:off x="3284066" y="3817820"/>
              <a:ext cx="716430" cy="468436"/>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6,8</a:t>
              </a:r>
              <a:endParaRPr kumimoji="0" lang="zh-CN" altLang="en-US"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87" name="直接连接符 86"/>
            <p:cNvCxnSpPr>
              <a:stCxn id="40" idx="3"/>
              <a:endCxn id="79" idx="0"/>
            </p:cNvCxnSpPr>
            <p:nvPr/>
          </p:nvCxnSpPr>
          <p:spPr>
            <a:xfrm rot="5400000">
              <a:off x="3501812" y="3358850"/>
              <a:ext cx="600234" cy="317708"/>
            </a:xfrm>
            <a:prstGeom prst="line">
              <a:avLst/>
            </a:prstGeom>
            <a:ln w="12700"/>
          </p:spPr>
          <p:style>
            <a:lnRef idx="2">
              <a:schemeClr val="dk1"/>
            </a:lnRef>
            <a:fillRef idx="0">
              <a:schemeClr val="dk1"/>
            </a:fillRef>
            <a:effectRef idx="1">
              <a:schemeClr val="dk1"/>
            </a:effectRef>
            <a:fontRef idx="minor">
              <a:schemeClr val="tx1"/>
            </a:fontRef>
          </p:style>
        </p:cxnSp>
      </p:grpSp>
      <p:grpSp>
        <p:nvGrpSpPr>
          <p:cNvPr id="6" name="组合 161"/>
          <p:cNvGrpSpPr/>
          <p:nvPr/>
        </p:nvGrpSpPr>
        <p:grpSpPr>
          <a:xfrm>
            <a:off x="3856038" y="2185988"/>
            <a:ext cx="1106487" cy="1100137"/>
            <a:chOff x="3855570" y="2185388"/>
            <a:chExt cx="1106802" cy="1100736"/>
          </a:xfrm>
        </p:grpSpPr>
        <p:sp>
          <p:nvSpPr>
            <p:cNvPr id="40" name="椭圆 39"/>
            <p:cNvSpPr/>
            <p:nvPr/>
          </p:nvSpPr>
          <p:spPr>
            <a:xfrm>
              <a:off x="3855570" y="2817557"/>
              <a:ext cx="716166" cy="468567"/>
            </a:xfrm>
            <a:prstGeom prst="ellipse">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5,7</a:t>
              </a:r>
              <a:endParaRPr kumimoji="0" lang="zh-CN" altLang="en-US"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89" name="直接连接符 88"/>
            <p:cNvCxnSpPr>
              <a:stCxn id="45" idx="3"/>
              <a:endCxn id="40" idx="0"/>
            </p:cNvCxnSpPr>
            <p:nvPr/>
          </p:nvCxnSpPr>
          <p:spPr>
            <a:xfrm rot="5400000">
              <a:off x="4272324" y="2127510"/>
              <a:ext cx="632169" cy="747925"/>
            </a:xfrm>
            <a:prstGeom prst="line">
              <a:avLst/>
            </a:prstGeom>
            <a:ln w="12700"/>
          </p:spPr>
          <p:style>
            <a:lnRef idx="2">
              <a:schemeClr val="dk1"/>
            </a:lnRef>
            <a:fillRef idx="0">
              <a:schemeClr val="dk1"/>
            </a:fillRef>
            <a:effectRef idx="1">
              <a:schemeClr val="dk1"/>
            </a:effectRef>
            <a:fontRef idx="minor">
              <a:schemeClr val="tx1"/>
            </a:fontRef>
          </p:style>
        </p:cxnSp>
      </p:grpSp>
      <p:graphicFrame>
        <p:nvGraphicFramePr>
          <p:cNvPr id="131" name="Group 104"/>
          <p:cNvGraphicFramePr>
            <a:graphicFrameLocks noGrp="1"/>
          </p:cNvGraphicFramePr>
          <p:nvPr/>
        </p:nvGraphicFramePr>
        <p:xfrm>
          <a:off x="214313" y="1114425"/>
          <a:ext cx="3214688" cy="1785940"/>
        </p:xfrm>
        <a:graphic>
          <a:graphicData uri="http://schemas.openxmlformats.org/drawingml/2006/table">
            <a:tbl>
              <a:tblPr>
                <a:tableStyleId>{69CF1AB2-1976-4502-BF36-3FF5EA218861}</a:tableStyleId>
              </a:tblPr>
              <a:tblGrid>
                <a:gridCol w="535780">
                  <a:extLst>
                    <a:ext uri="{9D8B030D-6E8A-4147-A177-3AD203B41FA5}">
                      <a16:colId xmlns:a16="http://schemas.microsoft.com/office/drawing/2014/main" val="20000"/>
                    </a:ext>
                  </a:extLst>
                </a:gridCol>
                <a:gridCol w="883692">
                  <a:extLst>
                    <a:ext uri="{9D8B030D-6E8A-4147-A177-3AD203B41FA5}">
                      <a16:colId xmlns:a16="http://schemas.microsoft.com/office/drawing/2014/main" val="20001"/>
                    </a:ext>
                  </a:extLst>
                </a:gridCol>
                <a:gridCol w="542740">
                  <a:extLst>
                    <a:ext uri="{9D8B030D-6E8A-4147-A177-3AD203B41FA5}">
                      <a16:colId xmlns:a16="http://schemas.microsoft.com/office/drawing/2014/main" val="20002"/>
                    </a:ext>
                  </a:extLst>
                </a:gridCol>
                <a:gridCol w="626238">
                  <a:extLst>
                    <a:ext uri="{9D8B030D-6E8A-4147-A177-3AD203B41FA5}">
                      <a16:colId xmlns:a16="http://schemas.microsoft.com/office/drawing/2014/main" val="20003"/>
                    </a:ext>
                  </a:extLst>
                </a:gridCol>
                <a:gridCol w="626238">
                  <a:extLst>
                    <a:ext uri="{9D8B030D-6E8A-4147-A177-3AD203B41FA5}">
                      <a16:colId xmlns:a16="http://schemas.microsoft.com/office/drawing/2014/main" val="20004"/>
                    </a:ext>
                  </a:extLst>
                </a:gridCol>
              </a:tblGrid>
              <a:tr h="362304">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600" b="1" i="1" u="none" strike="noStrike" cap="none" normalizeH="0" baseline="0">
                          <a:ln>
                            <a:noFill/>
                          </a:ln>
                          <a:solidFill>
                            <a:srgbClr val="C00000"/>
                          </a:solidFill>
                          <a:effectLst/>
                          <a:latin typeface="Consolas" pitchFamily="49" charset="0"/>
                          <a:ea typeface="仿宋" pitchFamily="49" charset="-122"/>
                          <a:cs typeface="Consolas" pitchFamily="49" charset="0"/>
                        </a:rPr>
                        <a:t>i</a:t>
                      </a:r>
                      <a:endParaRPr kumimoji="0" lang="zh-CN" altLang="pt-BR" sz="1600" b="1" i="1"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600" b="1" u="none" strike="noStrike" cap="none" normalizeH="0" baseline="0">
                          <a:ln>
                            <a:noFill/>
                          </a:ln>
                          <a:solidFill>
                            <a:srgbClr val="C00000"/>
                          </a:solidFill>
                          <a:effectLst/>
                          <a:latin typeface="Consolas" pitchFamily="49" charset="0"/>
                          <a:ea typeface="仿宋" pitchFamily="49" charset="-122"/>
                          <a:cs typeface="Consolas" pitchFamily="49" charset="0"/>
                        </a:rPr>
                        <a:t>no</a:t>
                      </a:r>
                      <a:endParaRPr kumimoji="0" lang="zh-CN" altLang="pt-BR" sz="16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600" b="1" i="1" u="none" strike="noStrike" cap="none" normalizeH="0" baseline="0">
                          <a:ln>
                            <a:noFill/>
                          </a:ln>
                          <a:solidFill>
                            <a:srgbClr val="C00000"/>
                          </a:solidFill>
                          <a:effectLst/>
                          <a:latin typeface="Consolas" pitchFamily="49" charset="0"/>
                          <a:ea typeface="仿宋" pitchFamily="49" charset="-122"/>
                          <a:cs typeface="Consolas" pitchFamily="49" charset="0"/>
                        </a:rPr>
                        <a:t>w</a:t>
                      </a:r>
                      <a:r>
                        <a:rPr kumimoji="0" lang="en-US" altLang="zh-CN" sz="1600" b="1" i="1" u="none" strike="noStrike" cap="none" normalizeH="0" baseline="-25000">
                          <a:ln>
                            <a:noFill/>
                          </a:ln>
                          <a:solidFill>
                            <a:srgbClr val="C00000"/>
                          </a:solidFill>
                          <a:effectLst/>
                          <a:latin typeface="Consolas" pitchFamily="49" charset="0"/>
                          <a:ea typeface="仿宋" pitchFamily="49" charset="-122"/>
                          <a:cs typeface="Consolas" pitchFamily="49" charset="0"/>
                        </a:rPr>
                        <a:t>i</a:t>
                      </a:r>
                      <a:endParaRPr kumimoji="0" lang="zh-CN" altLang="pt-BR" sz="1600" b="1" i="1" u="none" strike="noStrike" cap="none" normalizeH="0" baseline="-2500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600" b="1" i="1" u="none" strike="noStrike" cap="none" normalizeH="0" baseline="0">
                          <a:ln>
                            <a:noFill/>
                          </a:ln>
                          <a:solidFill>
                            <a:srgbClr val="C00000"/>
                          </a:solidFill>
                          <a:effectLst/>
                          <a:latin typeface="Consolas" pitchFamily="49" charset="0"/>
                          <a:ea typeface="仿宋" pitchFamily="49" charset="-122"/>
                          <a:cs typeface="Consolas" pitchFamily="49" charset="0"/>
                        </a:rPr>
                        <a:t>v</a:t>
                      </a:r>
                      <a:r>
                        <a:rPr kumimoji="0" lang="en-US" altLang="zh-CN" sz="1600" b="1" i="1" u="none" strike="noStrike" cap="none" normalizeH="0" baseline="-25000">
                          <a:ln>
                            <a:noFill/>
                          </a:ln>
                          <a:solidFill>
                            <a:srgbClr val="C00000"/>
                          </a:solidFill>
                          <a:effectLst/>
                          <a:latin typeface="Consolas" pitchFamily="49" charset="0"/>
                          <a:ea typeface="仿宋" pitchFamily="49" charset="-122"/>
                          <a:cs typeface="Consolas" pitchFamily="49" charset="0"/>
                        </a:rPr>
                        <a:t>i</a:t>
                      </a:r>
                      <a:endParaRPr kumimoji="0" lang="zh-CN" altLang="pt-BR" sz="1600" b="1" i="1" u="none" strike="noStrike" cap="none" normalizeH="0" baseline="-2500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600" b="1" i="1" u="none" strike="noStrike" cap="none" normalizeH="0" baseline="0">
                          <a:ln>
                            <a:noFill/>
                          </a:ln>
                          <a:solidFill>
                            <a:srgbClr val="C00000"/>
                          </a:solidFill>
                          <a:effectLst/>
                          <a:latin typeface="Consolas" pitchFamily="49" charset="0"/>
                          <a:ea typeface="仿宋" pitchFamily="49" charset="-122"/>
                          <a:cs typeface="Consolas" pitchFamily="49" charset="0"/>
                        </a:rPr>
                        <a:t>p</a:t>
                      </a:r>
                      <a:r>
                        <a:rPr kumimoji="0" lang="en-US" altLang="zh-CN" sz="1600" b="1" i="1" u="none" strike="noStrike" cap="none" normalizeH="0" baseline="-25000">
                          <a:ln>
                            <a:noFill/>
                          </a:ln>
                          <a:solidFill>
                            <a:srgbClr val="C00000"/>
                          </a:solidFill>
                          <a:effectLst/>
                          <a:latin typeface="Consolas" pitchFamily="49" charset="0"/>
                          <a:ea typeface="仿宋" pitchFamily="49" charset="-122"/>
                          <a:cs typeface="Consolas" pitchFamily="49" charset="0"/>
                        </a:rPr>
                        <a:t>i</a:t>
                      </a:r>
                      <a:endParaRPr kumimoji="0" lang="zh-CN" altLang="pt-BR" sz="1600" b="1" i="1" u="none" strike="noStrike" cap="none" normalizeH="0" baseline="-25000" dirty="0">
                        <a:ln>
                          <a:noFill/>
                        </a:ln>
                        <a:solidFill>
                          <a:srgbClr val="C00000"/>
                        </a:solidFill>
                        <a:effectLst/>
                        <a:latin typeface="Consolas" pitchFamily="49" charset="0"/>
                        <a:ea typeface="仿宋" pitchFamily="49" charset="-122"/>
                        <a:cs typeface="Consolas" pitchFamily="49" charset="0"/>
                      </a:endParaRPr>
                    </a:p>
                  </a:txBody>
                  <a:tcPr marL="89999" marR="89999" marT="0" marB="0" horzOverflow="overflow"/>
                </a:tc>
                <a:extLst>
                  <a:ext uri="{0D108BD9-81ED-4DB2-BD59-A6C34878D82A}">
                    <a16:rowId xmlns:a16="http://schemas.microsoft.com/office/drawing/2014/main" val="10000"/>
                  </a:ext>
                </a:extLst>
              </a:tr>
              <a:tr h="370771">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rPr>
                        <a:t>1</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3</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rPr>
                        <a:t>2</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a:t>
                      </a:r>
                      <a:endPar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rPr>
                        <a:t>1.5</a:t>
                      </a:r>
                    </a:p>
                  </a:txBody>
                  <a:tcPr marL="89999" marR="89999" marT="0" marB="0" horzOverflow="overflow"/>
                </a:tc>
                <a:extLst>
                  <a:ext uri="{0D108BD9-81ED-4DB2-BD59-A6C34878D82A}">
                    <a16:rowId xmlns:a16="http://schemas.microsoft.com/office/drawing/2014/main" val="10001"/>
                  </a:ext>
                </a:extLst>
              </a:tr>
              <a:tr h="341829">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rPr>
                        <a:t>2</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2</a:t>
                      </a:r>
                      <a:endParaRPr kumimoji="0" lang="pt-BR"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a:t>
                      </a:r>
                      <a:endPar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4</a:t>
                      </a:r>
                      <a:endPar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rPr>
                        <a:t>1.3</a:t>
                      </a:r>
                    </a:p>
                  </a:txBody>
                  <a:tcPr marL="89999" marR="89999" marT="0" marB="0" horzOverflow="overflow"/>
                </a:tc>
                <a:extLst>
                  <a:ext uri="{0D108BD9-81ED-4DB2-BD59-A6C34878D82A}">
                    <a16:rowId xmlns:a16="http://schemas.microsoft.com/office/drawing/2014/main" val="10002"/>
                  </a:ext>
                </a:extLst>
              </a:tr>
              <a:tr h="369989">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rPr>
                        <a:t>3</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4</a:t>
                      </a:r>
                      <a:endParaRPr kumimoji="0" lang="pt-BR"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a:t>
                      </a:r>
                      <a:endPar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a:t>
                      </a:r>
                      <a:endPar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rPr>
                        <a:t>1</a:t>
                      </a:r>
                    </a:p>
                  </a:txBody>
                  <a:tcPr marL="89999" marR="89999" marT="0" marB="0" horzOverflow="overflow"/>
                </a:tc>
                <a:extLst>
                  <a:ext uri="{0D108BD9-81ED-4DB2-BD59-A6C34878D82A}">
                    <a16:rowId xmlns:a16="http://schemas.microsoft.com/office/drawing/2014/main" val="10003"/>
                  </a:ext>
                </a:extLst>
              </a:tr>
              <a:tr h="341047">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rPr>
                        <a:t>4</a:t>
                      </a: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1</a:t>
                      </a:r>
                      <a:endParaRPr kumimoji="0" lang="pt-BR"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4</a:t>
                      </a:r>
                      <a:endPar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L="89999" marR="89999" marT="0" marB="0" horzOverflow="overflow"/>
                </a:tc>
                <a:tc>
                  <a:txBody>
                    <a:bodyPr/>
                    <a:lstStyle/>
                    <a:p>
                      <a:pPr marL="0" marR="0" lvl="0" indent="0" algn="ctr" defTabSz="914400" rtl="0" eaLnBrk="1" fontAlgn="base" latinLnBrk="0" hangingPunct="1">
                        <a:lnSpc>
                          <a:spcPts val="2800"/>
                        </a:lnSpc>
                        <a:spcBef>
                          <a:spcPct val="0"/>
                        </a:spcBef>
                        <a:spcAft>
                          <a:spcPct val="0"/>
                        </a:spcAft>
                        <a:buClrTx/>
                        <a:buSzTx/>
                        <a:buFontTx/>
                        <a:buNone/>
                      </a:pPr>
                      <a:r>
                        <a:rPr kumimoji="0" lang="pt-BR"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rPr>
                        <a:t>0.8</a:t>
                      </a:r>
                    </a:p>
                  </a:txBody>
                  <a:tcPr marL="89999" marR="89999" marT="0" marB="0" horzOverflow="overflow"/>
                </a:tc>
                <a:extLst>
                  <a:ext uri="{0D108BD9-81ED-4DB2-BD59-A6C34878D82A}">
                    <a16:rowId xmlns:a16="http://schemas.microsoft.com/office/drawing/2014/main" val="10004"/>
                  </a:ext>
                </a:extLst>
              </a:tr>
            </a:tbl>
          </a:graphicData>
        </a:graphic>
      </p:graphicFrame>
      <p:grpSp>
        <p:nvGrpSpPr>
          <p:cNvPr id="7" name="组合 163"/>
          <p:cNvGrpSpPr/>
          <p:nvPr/>
        </p:nvGrpSpPr>
        <p:grpSpPr>
          <a:xfrm>
            <a:off x="2286000" y="4217988"/>
            <a:ext cx="1136650" cy="1117600"/>
            <a:chOff x="2285984" y="4217720"/>
            <a:chExt cx="1136354" cy="1117097"/>
          </a:xfrm>
        </p:grpSpPr>
        <p:sp>
          <p:nvSpPr>
            <p:cNvPr id="28" name="椭圆 27"/>
            <p:cNvSpPr/>
            <p:nvPr/>
          </p:nvSpPr>
          <p:spPr>
            <a:xfrm>
              <a:off x="2846226" y="4866715"/>
              <a:ext cx="576112" cy="468102"/>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sym typeface="Symbol"/>
                </a:rPr>
                <a:t></a:t>
              </a:r>
              <a:endParaRPr kumimoji="0" lang="zh-CN" altLang="en-US" sz="20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endParaRPr>
            </a:p>
          </p:txBody>
        </p:sp>
        <p:cxnSp>
          <p:nvCxnSpPr>
            <p:cNvPr id="83" name="直接连接符 82"/>
            <p:cNvCxnSpPr>
              <a:stCxn id="79" idx="3"/>
              <a:endCxn id="28" idx="0"/>
            </p:cNvCxnSpPr>
            <p:nvPr/>
          </p:nvCxnSpPr>
          <p:spPr>
            <a:xfrm rot="5400000">
              <a:off x="2937545" y="4415250"/>
              <a:ext cx="648995" cy="253934"/>
            </a:xfrm>
            <a:prstGeom prst="line">
              <a:avLst/>
            </a:prstGeom>
            <a:ln w="12700"/>
          </p:spPr>
          <p:style>
            <a:lnRef idx="2">
              <a:schemeClr val="dk1"/>
            </a:lnRef>
            <a:fillRef idx="0">
              <a:schemeClr val="dk1"/>
            </a:fillRef>
            <a:effectRef idx="1">
              <a:schemeClr val="dk1"/>
            </a:effectRef>
            <a:fontRef idx="minor">
              <a:schemeClr val="tx1"/>
            </a:fontRef>
          </p:style>
        </p:cxnSp>
        <p:sp>
          <p:nvSpPr>
            <p:cNvPr id="117819" name="TextBox 140"/>
            <p:cNvSpPr txBox="1"/>
            <p:nvPr/>
          </p:nvSpPr>
          <p:spPr>
            <a:xfrm>
              <a:off x="2285984" y="4509627"/>
              <a:ext cx="857256" cy="215444"/>
            </a:xfrm>
            <a:prstGeom prst="rect">
              <a:avLst/>
            </a:prstGeom>
            <a:noFill/>
            <a:ln w="9525">
              <a:noFill/>
            </a:ln>
          </p:spPr>
          <p:txBody>
            <a:bodyPr lIns="0" tIns="0" rIns="0" bIns="0" anchor="t" anchorCtr="0">
              <a:spAutoFit/>
            </a:bodyPr>
            <a:lstStyle/>
            <a:p>
              <a:r>
                <a:rPr lang="en-US" altLang="zh-CN" sz="1400" dirty="0">
                  <a:solidFill>
                    <a:srgbClr val="0000FF"/>
                  </a:solidFill>
                  <a:latin typeface="Consolas" pitchFamily="49" charset="0"/>
                  <a:ea typeface="仿宋" pitchFamily="49" charset="-122"/>
                </a:rPr>
                <a:t>6+</a:t>
              </a:r>
              <a:r>
                <a:rPr lang="en-US" altLang="zh-CN" sz="1400" i="1" dirty="0">
                  <a:solidFill>
                    <a:srgbClr val="0000FF"/>
                  </a:solidFill>
                  <a:latin typeface="Consolas" pitchFamily="49" charset="0"/>
                  <a:ea typeface="仿宋" pitchFamily="49" charset="-122"/>
                </a:rPr>
                <a:t>w</a:t>
              </a:r>
              <a:r>
                <a:rPr lang="en-US" altLang="zh-CN" sz="1400" dirty="0">
                  <a:solidFill>
                    <a:srgbClr val="0000FF"/>
                  </a:solidFill>
                  <a:latin typeface="Consolas" pitchFamily="49" charset="0"/>
                  <a:ea typeface="仿宋" pitchFamily="49" charset="-122"/>
                </a:rPr>
                <a:t>[4]&gt;</a:t>
              </a:r>
              <a:r>
                <a:rPr lang="en-US" altLang="zh-CN" sz="1400" i="1" dirty="0">
                  <a:solidFill>
                    <a:srgbClr val="0000FF"/>
                  </a:solidFill>
                  <a:latin typeface="Consolas" pitchFamily="49" charset="0"/>
                  <a:ea typeface="仿宋" pitchFamily="49" charset="-122"/>
                </a:rPr>
                <a:t>W</a:t>
              </a:r>
              <a:endParaRPr lang="zh-CN" altLang="en-US" sz="1400" i="1" dirty="0">
                <a:solidFill>
                  <a:srgbClr val="0000FF"/>
                </a:solidFill>
                <a:latin typeface="Consolas" pitchFamily="49" charset="0"/>
                <a:ea typeface="仿宋" pitchFamily="49" charset="-122"/>
              </a:endParaRPr>
            </a:p>
          </p:txBody>
        </p:sp>
      </p:grpSp>
      <p:sp>
        <p:nvSpPr>
          <p:cNvPr id="117820" name="TextBox 141"/>
          <p:cNvSpPr txBox="1"/>
          <p:nvPr/>
        </p:nvSpPr>
        <p:spPr>
          <a:xfrm>
            <a:off x="428625" y="642938"/>
            <a:ext cx="1857375" cy="369887"/>
          </a:xfrm>
          <a:prstGeom prst="rect">
            <a:avLst/>
          </a:prstGeom>
          <a:noFill/>
          <a:ln w="9525">
            <a:noFill/>
          </a:ln>
        </p:spPr>
        <p:txBody>
          <a:bodyPr anchor="t" anchorCtr="0">
            <a:spAutoFit/>
          </a:bodyPr>
          <a:lstStyle/>
          <a:p>
            <a:r>
              <a:rPr lang="en-US" altLang="zh-CN" sz="1800" i="1" dirty="0">
                <a:solidFill>
                  <a:srgbClr val="0000FF"/>
                </a:solidFill>
                <a:latin typeface="Consolas" pitchFamily="49" charset="0"/>
                <a:ea typeface="楷体" pitchFamily="49" charset="-122"/>
              </a:rPr>
              <a:t>W</a:t>
            </a:r>
            <a:r>
              <a:rPr lang="en-US" altLang="zh-CN" sz="1800" dirty="0">
                <a:solidFill>
                  <a:srgbClr val="0000FF"/>
                </a:solidFill>
                <a:latin typeface="Consolas" pitchFamily="49" charset="0"/>
                <a:ea typeface="楷体" pitchFamily="49" charset="-122"/>
              </a:rPr>
              <a:t>=6,maxv=0</a:t>
            </a:r>
            <a:endParaRPr lang="zh-CN" altLang="en-US" sz="1800" dirty="0">
              <a:latin typeface="Arial" panose="020B0604020202090204" pitchFamily="34" charset="0"/>
              <a:ea typeface="宋体" pitchFamily="2" charset="-122"/>
            </a:endParaRPr>
          </a:p>
        </p:txBody>
      </p:sp>
      <p:grpSp>
        <p:nvGrpSpPr>
          <p:cNvPr id="8" name="组合 164"/>
          <p:cNvGrpSpPr/>
          <p:nvPr/>
        </p:nvGrpSpPr>
        <p:grpSpPr>
          <a:xfrm>
            <a:off x="3714750" y="4214813"/>
            <a:ext cx="2071688" cy="1509712"/>
            <a:chOff x="3714744" y="4214818"/>
            <a:chExt cx="2071702" cy="1509255"/>
          </a:xfrm>
        </p:grpSpPr>
        <p:sp>
          <p:nvSpPr>
            <p:cNvPr id="80" name="椭圆 79"/>
            <p:cNvSpPr/>
            <p:nvPr/>
          </p:nvSpPr>
          <p:spPr>
            <a:xfrm>
              <a:off x="3848095" y="4906758"/>
              <a:ext cx="571504" cy="396755"/>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rPr>
                <a:t>6,8</a:t>
              </a:r>
              <a:endParaRPr kumimoji="0" lang="zh-CN" altLang="en-US" sz="1400" b="0" i="0" u="none" strike="noStrike" kern="1200" cap="none" spc="0" normalizeH="0" baseline="0" noProof="0">
                <a:ln>
                  <a:noFill/>
                </a:ln>
                <a:solidFill>
                  <a:schemeClr val="lt1"/>
                </a:solidFill>
                <a:effectLst/>
                <a:uLnTx/>
                <a:uFillTx/>
                <a:latin typeface="Consolas" pitchFamily="49" charset="0"/>
                <a:ea typeface="仿宋" pitchFamily="49" charset="-122"/>
                <a:cs typeface="Consolas" pitchFamily="49" charset="0"/>
              </a:endParaRPr>
            </a:p>
          </p:txBody>
        </p:sp>
        <p:cxnSp>
          <p:nvCxnSpPr>
            <p:cNvPr id="85" name="直接连接符 84"/>
            <p:cNvCxnSpPr>
              <a:stCxn id="79" idx="5"/>
              <a:endCxn id="80" idx="0"/>
            </p:cNvCxnSpPr>
            <p:nvPr/>
          </p:nvCxnSpPr>
          <p:spPr>
            <a:xfrm rot="16200000" flipH="1">
              <a:off x="3670399" y="4443312"/>
              <a:ext cx="688766" cy="238127"/>
            </a:xfrm>
            <a:prstGeom prst="line">
              <a:avLst/>
            </a:prstGeom>
            <a:ln w="12700"/>
          </p:spPr>
          <p:style>
            <a:lnRef idx="2">
              <a:schemeClr val="dk1"/>
            </a:lnRef>
            <a:fillRef idx="0">
              <a:schemeClr val="dk1"/>
            </a:fillRef>
            <a:effectRef idx="1">
              <a:schemeClr val="dk1"/>
            </a:effectRef>
            <a:fontRef idx="minor">
              <a:schemeClr val="tx1"/>
            </a:fontRef>
          </p:style>
        </p:cxnSp>
        <p:sp>
          <p:nvSpPr>
            <p:cNvPr id="117824" name="TextBox 142"/>
            <p:cNvSpPr txBox="1"/>
            <p:nvPr/>
          </p:nvSpPr>
          <p:spPr>
            <a:xfrm>
              <a:off x="4071934" y="4214818"/>
              <a:ext cx="1714512" cy="584775"/>
            </a:xfrm>
            <a:prstGeom prst="rect">
              <a:avLst/>
            </a:prstGeom>
            <a:noFill/>
            <a:ln w="9525">
              <a:noFill/>
            </a:ln>
          </p:spPr>
          <p:txBody>
            <a:bodyPr anchor="t" anchorCtr="0">
              <a:spAutoFit/>
            </a:bodyPr>
            <a:lstStyle/>
            <a:p>
              <a:r>
                <a:rPr lang="en-US" altLang="zh-CN" sz="1600" dirty="0">
                  <a:solidFill>
                    <a:srgbClr val="0000FF"/>
                  </a:solidFill>
                  <a:latin typeface="Consolas" pitchFamily="49" charset="0"/>
                  <a:ea typeface="宋体" pitchFamily="2" charset="-122"/>
                </a:rPr>
                <a:t>bound=8</a:t>
              </a:r>
            </a:p>
            <a:p>
              <a:r>
                <a:rPr lang="en-US" altLang="zh-CN" sz="1600" dirty="0">
                  <a:solidFill>
                    <a:srgbClr val="0000FF"/>
                  </a:solidFill>
                  <a:latin typeface="Consolas" pitchFamily="49" charset="0"/>
                  <a:ea typeface="宋体" pitchFamily="2" charset="-122"/>
                </a:rPr>
                <a:t>bound&gt;maxv </a:t>
              </a:r>
              <a:r>
                <a:rPr lang="en-US" altLang="zh-CN" sz="1600" dirty="0">
                  <a:solidFill>
                    <a:srgbClr val="FF0000"/>
                  </a:solidFill>
                  <a:latin typeface="Consolas" pitchFamily="49" charset="0"/>
                  <a:ea typeface="宋体" pitchFamily="2" charset="-122"/>
                </a:rPr>
                <a:t>√</a:t>
              </a:r>
              <a:endParaRPr lang="zh-CN" altLang="en-US" sz="1600" dirty="0">
                <a:solidFill>
                  <a:srgbClr val="FF0000"/>
                </a:solidFill>
                <a:latin typeface="Consolas" pitchFamily="49" charset="0"/>
                <a:ea typeface="宋体" pitchFamily="2" charset="-122"/>
              </a:endParaRPr>
            </a:p>
          </p:txBody>
        </p:sp>
        <p:sp>
          <p:nvSpPr>
            <p:cNvPr id="117825" name="TextBox 143"/>
            <p:cNvSpPr txBox="1"/>
            <p:nvPr/>
          </p:nvSpPr>
          <p:spPr>
            <a:xfrm>
              <a:off x="3714744" y="5385519"/>
              <a:ext cx="1071570" cy="338554"/>
            </a:xfrm>
            <a:prstGeom prst="rect">
              <a:avLst/>
            </a:prstGeom>
            <a:noFill/>
            <a:ln w="9525">
              <a:noFill/>
            </a:ln>
          </p:spPr>
          <p:txBody>
            <a:bodyPr anchor="t" anchorCtr="0">
              <a:spAutoFit/>
            </a:bodyPr>
            <a:lstStyle/>
            <a:p>
              <a:r>
                <a:rPr lang="en-US" altLang="zh-CN" sz="1600" dirty="0">
                  <a:solidFill>
                    <a:srgbClr val="0000FF"/>
                  </a:solidFill>
                  <a:latin typeface="Consolas" pitchFamily="49" charset="0"/>
                  <a:ea typeface="宋体" pitchFamily="2" charset="-122"/>
                </a:rPr>
                <a:t>maxv=8</a:t>
              </a:r>
              <a:endParaRPr lang="zh-CN" altLang="en-US" sz="1600" dirty="0">
                <a:solidFill>
                  <a:srgbClr val="0000FF"/>
                </a:solidFill>
                <a:latin typeface="Consolas" pitchFamily="49" charset="0"/>
                <a:ea typeface="宋体" pitchFamily="2" charset="-122"/>
              </a:endParaRPr>
            </a:p>
          </p:txBody>
        </p:sp>
      </p:grpSp>
      <p:grpSp>
        <p:nvGrpSpPr>
          <p:cNvPr id="9" name="组合 165"/>
          <p:cNvGrpSpPr/>
          <p:nvPr/>
        </p:nvGrpSpPr>
        <p:grpSpPr>
          <a:xfrm>
            <a:off x="4467225" y="3000375"/>
            <a:ext cx="1890713" cy="1182688"/>
            <a:chOff x="4467081" y="3000372"/>
            <a:chExt cx="1890869" cy="1182380"/>
          </a:xfrm>
        </p:grpSpPr>
        <p:sp>
          <p:nvSpPr>
            <p:cNvPr id="96" name="椭圆 95"/>
            <p:cNvSpPr/>
            <p:nvPr/>
          </p:nvSpPr>
          <p:spPr>
            <a:xfrm>
              <a:off x="4571865" y="3714561"/>
              <a:ext cx="576311" cy="468191"/>
            </a:xfrm>
            <a:prstGeom prst="ellipse">
              <a:avLst/>
            </a:prstGeom>
          </p:spPr>
          <p:style>
            <a:lnRef idx="3">
              <a:schemeClr val="lt1"/>
            </a:lnRef>
            <a:fillRef idx="1">
              <a:schemeClr val="accent6"/>
            </a:fillRef>
            <a:effectRef idx="1">
              <a:schemeClr val="accent6"/>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sym typeface="Symbol"/>
                </a:rPr>
                <a:t></a:t>
              </a:r>
              <a:endParaRPr kumimoji="0" lang="zh-CN" altLang="en-US" sz="20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endParaRPr>
            </a:p>
          </p:txBody>
        </p:sp>
        <p:cxnSp>
          <p:nvCxnSpPr>
            <p:cNvPr id="148" name="直接连接符 147"/>
            <p:cNvCxnSpPr>
              <a:stCxn id="40" idx="5"/>
              <a:endCxn id="96" idx="0"/>
            </p:cNvCxnSpPr>
            <p:nvPr/>
          </p:nvCxnSpPr>
          <p:spPr>
            <a:xfrm rot="16200000" flipH="1">
              <a:off x="4414774" y="3270109"/>
              <a:ext cx="496758" cy="392145"/>
            </a:xfrm>
            <a:prstGeom prst="line">
              <a:avLst/>
            </a:prstGeom>
            <a:ln w="12700"/>
          </p:spPr>
          <p:style>
            <a:lnRef idx="2">
              <a:schemeClr val="dk1"/>
            </a:lnRef>
            <a:fillRef idx="0">
              <a:schemeClr val="dk1"/>
            </a:fillRef>
            <a:effectRef idx="1">
              <a:schemeClr val="dk1"/>
            </a:effectRef>
            <a:fontRef idx="minor">
              <a:schemeClr val="tx1"/>
            </a:fontRef>
          </p:style>
        </p:cxnSp>
        <p:sp>
          <p:nvSpPr>
            <p:cNvPr id="117829" name="TextBox 148"/>
            <p:cNvSpPr txBox="1"/>
            <p:nvPr/>
          </p:nvSpPr>
          <p:spPr>
            <a:xfrm>
              <a:off x="4643438" y="3000372"/>
              <a:ext cx="1714512" cy="584775"/>
            </a:xfrm>
            <a:prstGeom prst="rect">
              <a:avLst/>
            </a:prstGeom>
            <a:noFill/>
            <a:ln w="9525">
              <a:noFill/>
            </a:ln>
          </p:spPr>
          <p:txBody>
            <a:bodyPr anchor="t" anchorCtr="0">
              <a:spAutoFit/>
            </a:bodyPr>
            <a:lstStyle/>
            <a:p>
              <a:r>
                <a:rPr lang="en-US" altLang="zh-CN" sz="1600" dirty="0">
                  <a:solidFill>
                    <a:srgbClr val="0000FF"/>
                  </a:solidFill>
                  <a:latin typeface="Consolas" pitchFamily="49" charset="0"/>
                  <a:ea typeface="宋体" pitchFamily="2" charset="-122"/>
                </a:rPr>
                <a:t>bound=7</a:t>
              </a:r>
            </a:p>
            <a:p>
              <a:r>
                <a:rPr lang="en-US" altLang="zh-CN" sz="1600" dirty="0">
                  <a:solidFill>
                    <a:srgbClr val="0000FF"/>
                  </a:solidFill>
                  <a:latin typeface="Consolas" pitchFamily="49" charset="0"/>
                  <a:ea typeface="宋体" pitchFamily="2" charset="-122"/>
                </a:rPr>
                <a:t>bound&gt;maxv</a:t>
              </a:r>
              <a:r>
                <a:rPr lang="en-US" altLang="zh-CN" sz="1600" dirty="0">
                  <a:solidFill>
                    <a:srgbClr val="FF0000"/>
                  </a:solidFill>
                  <a:latin typeface="Consolas" pitchFamily="49" charset="0"/>
                  <a:ea typeface="宋体" pitchFamily="2" charset="-122"/>
                </a:rPr>
                <a:t>×</a:t>
              </a:r>
              <a:endParaRPr lang="zh-CN" altLang="en-US" sz="1600" dirty="0">
                <a:solidFill>
                  <a:srgbClr val="FF0000"/>
                </a:solidFill>
                <a:latin typeface="Consolas" pitchFamily="49" charset="0"/>
                <a:ea typeface="宋体" pitchFamily="2" charset="-122"/>
              </a:endParaRPr>
            </a:p>
          </p:txBody>
        </p:sp>
      </p:grpSp>
      <p:grpSp>
        <p:nvGrpSpPr>
          <p:cNvPr id="10" name="组合 166"/>
          <p:cNvGrpSpPr/>
          <p:nvPr/>
        </p:nvGrpSpPr>
        <p:grpSpPr>
          <a:xfrm>
            <a:off x="5467350" y="1928813"/>
            <a:ext cx="2105025" cy="1285875"/>
            <a:chOff x="5467513" y="1928802"/>
            <a:chExt cx="2104883" cy="1285884"/>
          </a:xfrm>
        </p:grpSpPr>
        <p:sp>
          <p:nvSpPr>
            <p:cNvPr id="150" name="椭圆 149"/>
            <p:cNvSpPr/>
            <p:nvPr/>
          </p:nvSpPr>
          <p:spPr>
            <a:xfrm>
              <a:off x="6138981" y="2746370"/>
              <a:ext cx="576223" cy="468316"/>
            </a:xfrm>
            <a:prstGeom prst="ellipse">
              <a:avLst/>
            </a:prstGeom>
          </p:spPr>
          <p:style>
            <a:lnRef idx="3">
              <a:schemeClr val="lt1"/>
            </a:lnRef>
            <a:fillRef idx="1">
              <a:schemeClr val="accent6"/>
            </a:fillRef>
            <a:effectRef idx="1">
              <a:schemeClr val="accent6"/>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sym typeface="Symbol"/>
                </a:rPr>
                <a:t></a:t>
              </a:r>
              <a:endParaRPr kumimoji="0" lang="zh-CN" altLang="en-US" sz="20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endParaRPr>
            </a:p>
          </p:txBody>
        </p:sp>
        <p:sp>
          <p:nvSpPr>
            <p:cNvPr id="117832" name="TextBox 150"/>
            <p:cNvSpPr txBox="1"/>
            <p:nvPr/>
          </p:nvSpPr>
          <p:spPr>
            <a:xfrm>
              <a:off x="5857884" y="1928802"/>
              <a:ext cx="1714512" cy="584775"/>
            </a:xfrm>
            <a:prstGeom prst="rect">
              <a:avLst/>
            </a:prstGeom>
            <a:noFill/>
            <a:ln w="9525">
              <a:noFill/>
            </a:ln>
          </p:spPr>
          <p:txBody>
            <a:bodyPr anchor="t" anchorCtr="0">
              <a:spAutoFit/>
            </a:bodyPr>
            <a:lstStyle/>
            <a:p>
              <a:r>
                <a:rPr lang="en-US" altLang="zh-CN" sz="1600" dirty="0">
                  <a:solidFill>
                    <a:srgbClr val="0000FF"/>
                  </a:solidFill>
                  <a:latin typeface="Consolas" pitchFamily="49" charset="0"/>
                  <a:ea typeface="宋体" pitchFamily="2" charset="-122"/>
                </a:rPr>
                <a:t>bound=6</a:t>
              </a:r>
            </a:p>
            <a:p>
              <a:r>
                <a:rPr lang="en-US" altLang="zh-CN" sz="1600" dirty="0">
                  <a:solidFill>
                    <a:srgbClr val="0000FF"/>
                  </a:solidFill>
                  <a:latin typeface="Consolas" pitchFamily="49" charset="0"/>
                  <a:ea typeface="宋体" pitchFamily="2" charset="-122"/>
                </a:rPr>
                <a:t>bound&gt;maxv </a:t>
              </a:r>
              <a:r>
                <a:rPr lang="en-US" altLang="zh-CN" sz="1600" dirty="0">
                  <a:solidFill>
                    <a:srgbClr val="FF0000"/>
                  </a:solidFill>
                  <a:latin typeface="Consolas" pitchFamily="49" charset="0"/>
                  <a:ea typeface="宋体" pitchFamily="2" charset="-122"/>
                </a:rPr>
                <a:t>×</a:t>
              </a:r>
              <a:endParaRPr lang="zh-CN" altLang="en-US" sz="1600" dirty="0">
                <a:solidFill>
                  <a:srgbClr val="FF0000"/>
                </a:solidFill>
                <a:latin typeface="Consolas" pitchFamily="49" charset="0"/>
                <a:ea typeface="宋体" pitchFamily="2" charset="-122"/>
              </a:endParaRPr>
            </a:p>
          </p:txBody>
        </p:sp>
        <p:cxnSp>
          <p:nvCxnSpPr>
            <p:cNvPr id="154" name="直接连接符 153"/>
            <p:cNvCxnSpPr>
              <a:stCxn id="45" idx="5"/>
              <a:endCxn id="150" idx="0"/>
            </p:cNvCxnSpPr>
            <p:nvPr/>
          </p:nvCxnSpPr>
          <p:spPr>
            <a:xfrm rot="16200000" flipH="1">
              <a:off x="5667503" y="1985987"/>
              <a:ext cx="560391" cy="960373"/>
            </a:xfrm>
            <a:prstGeom prst="line">
              <a:avLst/>
            </a:prstGeom>
            <a:ln w="12700"/>
          </p:spPr>
          <p:style>
            <a:lnRef idx="2">
              <a:schemeClr val="dk1"/>
            </a:lnRef>
            <a:fillRef idx="0">
              <a:schemeClr val="dk1"/>
            </a:fillRef>
            <a:effectRef idx="1">
              <a:schemeClr val="dk1"/>
            </a:effectRef>
            <a:fontRef idx="minor">
              <a:schemeClr val="tx1"/>
            </a:fontRef>
          </p:style>
        </p:cxnSp>
      </p:grpSp>
      <p:grpSp>
        <p:nvGrpSpPr>
          <p:cNvPr id="11" name="组合 167"/>
          <p:cNvGrpSpPr/>
          <p:nvPr/>
        </p:nvGrpSpPr>
        <p:grpSpPr>
          <a:xfrm>
            <a:off x="6610350" y="1019175"/>
            <a:ext cx="2247900" cy="1195388"/>
            <a:chOff x="6610521" y="1018903"/>
            <a:chExt cx="2247759" cy="1195651"/>
          </a:xfrm>
        </p:grpSpPr>
        <p:sp>
          <p:nvSpPr>
            <p:cNvPr id="155" name="椭圆 154"/>
            <p:cNvSpPr/>
            <p:nvPr/>
          </p:nvSpPr>
          <p:spPr>
            <a:xfrm>
              <a:off x="7210558" y="1746138"/>
              <a:ext cx="576227" cy="468416"/>
            </a:xfrm>
            <a:prstGeom prst="ellipse">
              <a:avLst/>
            </a:prstGeom>
          </p:spPr>
          <p:style>
            <a:lnRef idx="3">
              <a:schemeClr val="lt1"/>
            </a:lnRef>
            <a:fillRef idx="1">
              <a:schemeClr val="accent6"/>
            </a:fillRef>
            <a:effectRef idx="1">
              <a:schemeClr val="accent6"/>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sym typeface="Symbol"/>
                </a:rPr>
                <a:t></a:t>
              </a:r>
              <a:endParaRPr kumimoji="0" lang="zh-CN" altLang="en-US" sz="2000" b="0" i="0" u="none" strike="noStrike" kern="1200" cap="none" spc="0" normalizeH="0" baseline="0" noProof="0">
                <a:ln>
                  <a:noFill/>
                </a:ln>
                <a:solidFill>
                  <a:srgbClr val="FF0000"/>
                </a:solidFill>
                <a:effectLst/>
                <a:uLnTx/>
                <a:uFillTx/>
                <a:latin typeface="Consolas" pitchFamily="49" charset="0"/>
                <a:ea typeface="仿宋" pitchFamily="49" charset="-122"/>
                <a:cs typeface="Consolas" pitchFamily="49" charset="0"/>
              </a:endParaRPr>
            </a:p>
          </p:txBody>
        </p:sp>
        <p:sp>
          <p:nvSpPr>
            <p:cNvPr id="117836" name="TextBox 155"/>
            <p:cNvSpPr txBox="1"/>
            <p:nvPr/>
          </p:nvSpPr>
          <p:spPr>
            <a:xfrm>
              <a:off x="7143768" y="1018903"/>
              <a:ext cx="1714512" cy="584775"/>
            </a:xfrm>
            <a:prstGeom prst="rect">
              <a:avLst/>
            </a:prstGeom>
            <a:noFill/>
            <a:ln w="9525">
              <a:noFill/>
            </a:ln>
          </p:spPr>
          <p:txBody>
            <a:bodyPr anchor="t" anchorCtr="0">
              <a:spAutoFit/>
            </a:bodyPr>
            <a:lstStyle/>
            <a:p>
              <a:r>
                <a:rPr lang="en-US" altLang="zh-CN" sz="1600" dirty="0">
                  <a:solidFill>
                    <a:srgbClr val="0000FF"/>
                  </a:solidFill>
                  <a:latin typeface="Consolas" pitchFamily="49" charset="0"/>
                  <a:ea typeface="宋体" pitchFamily="2" charset="-122"/>
                </a:rPr>
                <a:t>bound=6</a:t>
              </a:r>
            </a:p>
            <a:p>
              <a:r>
                <a:rPr lang="en-US" altLang="zh-CN" sz="1600" dirty="0">
                  <a:solidFill>
                    <a:srgbClr val="0000FF"/>
                  </a:solidFill>
                  <a:latin typeface="Consolas" pitchFamily="49" charset="0"/>
                  <a:ea typeface="宋体" pitchFamily="2" charset="-122"/>
                </a:rPr>
                <a:t>bound&gt;maxv </a:t>
              </a:r>
              <a:r>
                <a:rPr lang="en-US" altLang="zh-CN" sz="1600" dirty="0">
                  <a:solidFill>
                    <a:srgbClr val="FF0000"/>
                  </a:solidFill>
                  <a:latin typeface="Consolas" pitchFamily="49" charset="0"/>
                  <a:ea typeface="宋体" pitchFamily="2" charset="-122"/>
                </a:rPr>
                <a:t>×</a:t>
              </a:r>
              <a:endParaRPr lang="zh-CN" altLang="en-US" sz="1600" dirty="0">
                <a:solidFill>
                  <a:srgbClr val="FF0000"/>
                </a:solidFill>
                <a:latin typeface="Consolas" pitchFamily="49" charset="0"/>
                <a:ea typeface="宋体" pitchFamily="2" charset="-122"/>
              </a:endParaRPr>
            </a:p>
          </p:txBody>
        </p:sp>
        <p:cxnSp>
          <p:nvCxnSpPr>
            <p:cNvPr id="159" name="直接连接符 158"/>
            <p:cNvCxnSpPr>
              <a:stCxn id="99" idx="5"/>
              <a:endCxn id="155" idx="0"/>
            </p:cNvCxnSpPr>
            <p:nvPr/>
          </p:nvCxnSpPr>
          <p:spPr>
            <a:xfrm rot="16200000" flipH="1">
              <a:off x="6739011" y="985684"/>
              <a:ext cx="631964" cy="888944"/>
            </a:xfrm>
            <a:prstGeom prst="line">
              <a:avLst/>
            </a:prstGeom>
            <a:ln w="12700"/>
          </p:spPr>
          <p:style>
            <a:lnRef idx="2">
              <a:schemeClr val="dk1"/>
            </a:lnRef>
            <a:fillRef idx="0">
              <a:schemeClr val="dk1"/>
            </a:fillRef>
            <a:effectRef idx="1">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extBox 1"/>
          <p:cNvSpPr txBox="1"/>
          <p:nvPr/>
        </p:nvSpPr>
        <p:spPr>
          <a:xfrm>
            <a:off x="857250" y="1785938"/>
            <a:ext cx="7500938" cy="1689100"/>
          </a:xfrm>
          <a:prstGeom prst="rect">
            <a:avLst/>
          </a:prstGeom>
          <a:noFill/>
          <a:ln w="9525">
            <a:noFill/>
          </a:ln>
        </p:spPr>
        <p:txBody>
          <a:bodyPr anchor="t" anchorCtr="0">
            <a:spAutoFit/>
          </a:bodyPr>
          <a:lstStyle/>
          <a:p>
            <a:pPr>
              <a:lnSpc>
                <a:spcPct val="150000"/>
              </a:lnSpc>
              <a:buClrTx/>
              <a:buFontTx/>
            </a:pPr>
            <a:r>
              <a:rPr lang="en-US" altLang="zh-CN" sz="2400">
                <a:solidFill>
                  <a:srgbClr val="0000FF"/>
                </a:solidFill>
                <a:latin typeface="华文楷体" panose="02010600040101010101" pitchFamily="2" charset="-122"/>
                <a:ea typeface="华文楷体" panose="02010600040101010101" pitchFamily="2" charset="-122"/>
              </a:rPr>
              <a:t>     </a:t>
            </a:r>
            <a:r>
              <a:rPr lang="zh-CN" altLang="zh-CN" sz="2400">
                <a:solidFill>
                  <a:srgbClr val="FF0000"/>
                </a:solidFill>
                <a:latin typeface="华文楷体" panose="02010600040101010101" pitchFamily="2" charset="-122"/>
                <a:ea typeface="华文楷体" panose="02010600040101010101" pitchFamily="2" charset="-122"/>
              </a:rPr>
              <a:t>【算法分析】</a:t>
            </a:r>
            <a:r>
              <a:rPr lang="zh-CN" altLang="zh-CN" sz="2400">
                <a:solidFill>
                  <a:srgbClr val="0000FF"/>
                </a:solidFill>
                <a:latin typeface="华文楷体" panose="02010600040101010101" pitchFamily="2" charset="-122"/>
                <a:ea typeface="华文楷体" panose="02010600040101010101" pitchFamily="2" charset="-122"/>
              </a:rPr>
              <a:t>该算法不考虑剪枝时解空间树中有</a:t>
            </a:r>
            <a:r>
              <a:rPr lang="en-US" altLang="zh-CN" sz="2400">
                <a:solidFill>
                  <a:srgbClr val="0000FF"/>
                </a:solidFill>
                <a:latin typeface="华文楷体" panose="02010600040101010101" pitchFamily="2" charset="-122"/>
                <a:ea typeface="华文楷体" panose="02010600040101010101" pitchFamily="2" charset="-122"/>
              </a:rPr>
              <a:t>2</a:t>
            </a:r>
            <a:r>
              <a:rPr lang="en-US" altLang="zh-CN" sz="2400" i="1" baseline="30000">
                <a:solidFill>
                  <a:srgbClr val="0000FF"/>
                </a:solidFill>
                <a:latin typeface="华文楷体" panose="02010600040101010101" pitchFamily="2" charset="-122"/>
                <a:ea typeface="华文楷体" panose="02010600040101010101" pitchFamily="2" charset="-122"/>
              </a:rPr>
              <a:t>n</a:t>
            </a:r>
            <a:r>
              <a:rPr lang="en-US" altLang="zh-CN" sz="2400" baseline="30000">
                <a:solidFill>
                  <a:srgbClr val="0000FF"/>
                </a:solidFill>
                <a:latin typeface="华文楷体" panose="02010600040101010101" pitchFamily="2" charset="-122"/>
                <a:ea typeface="华文楷体" panose="02010600040101010101" pitchFamily="2" charset="-122"/>
              </a:rPr>
              <a:t>+1</a:t>
            </a:r>
            <a:r>
              <a:rPr lang="en-US" altLang="zh-CN" sz="2400">
                <a:solidFill>
                  <a:srgbClr val="0000FF"/>
                </a:solidFill>
                <a:latin typeface="华文楷体" panose="02010600040101010101" pitchFamily="2" charset="-122"/>
                <a:ea typeface="华文楷体" panose="02010600040101010101" pitchFamily="2" charset="-122"/>
              </a:rPr>
              <a:t>-1</a:t>
            </a:r>
            <a:r>
              <a:rPr lang="zh-CN" altLang="zh-CN" sz="2400">
                <a:solidFill>
                  <a:srgbClr val="0000FF"/>
                </a:solidFill>
                <a:latin typeface="华文楷体" panose="02010600040101010101" pitchFamily="2" charset="-122"/>
                <a:ea typeface="华文楷体" panose="02010600040101010101" pitchFamily="2" charset="-122"/>
              </a:rPr>
              <a:t>个结点</a:t>
            </a:r>
            <a:r>
              <a:rPr lang="zh-CN" altLang="en-US" sz="2400">
                <a:solidFill>
                  <a:srgbClr val="0000FF"/>
                </a:solidFill>
                <a:latin typeface="华文楷体" panose="02010600040101010101" pitchFamily="2" charset="-122"/>
                <a:ea typeface="华文楷体" panose="02010600040101010101" pitchFamily="2" charset="-122"/>
              </a:rPr>
              <a:t>（</a:t>
            </a:r>
            <a:r>
              <a:rPr lang="zh-CN" altLang="zh-CN" sz="2400">
                <a:solidFill>
                  <a:srgbClr val="0000FF"/>
                </a:solidFill>
                <a:latin typeface="华文楷体" panose="02010600040101010101" pitchFamily="2" charset="-122"/>
                <a:ea typeface="华文楷体" panose="02010600040101010101" pitchFamily="2" charset="-122"/>
              </a:rPr>
              <a:t>剪枝</a:t>
            </a:r>
            <a:r>
              <a:rPr lang="zh-CN" altLang="en-US" sz="2400">
                <a:solidFill>
                  <a:srgbClr val="0000FF"/>
                </a:solidFill>
                <a:latin typeface="华文楷体" panose="02010600040101010101" pitchFamily="2" charset="-122"/>
                <a:ea typeface="华文楷体" panose="02010600040101010101" pitchFamily="2" charset="-122"/>
              </a:rPr>
              <a:t>的结点个数不确定）</a:t>
            </a:r>
            <a:r>
              <a:rPr lang="zh-CN" altLang="zh-CN" sz="2400">
                <a:solidFill>
                  <a:srgbClr val="0000FF"/>
                </a:solidFill>
                <a:latin typeface="华文楷体" panose="02010600040101010101" pitchFamily="2" charset="-122"/>
                <a:ea typeface="华文楷体" panose="02010600040101010101" pitchFamily="2" charset="-122"/>
              </a:rPr>
              <a:t>，所以最坏情况下算法的时间复杂度为</a:t>
            </a:r>
            <a:r>
              <a:rPr lang="en-US" altLang="zh-CN" sz="2400">
                <a:solidFill>
                  <a:srgbClr val="0000FF"/>
                </a:solidFill>
                <a:latin typeface="华文楷体" panose="02010600040101010101" pitchFamily="2" charset="-122"/>
                <a:ea typeface="华文楷体" panose="02010600040101010101" pitchFamily="2" charset="-122"/>
              </a:rPr>
              <a:t>O(2</a:t>
            </a:r>
            <a:r>
              <a:rPr lang="en-US" altLang="zh-CN" sz="2400" i="1" baseline="30000">
                <a:solidFill>
                  <a:srgbClr val="0000FF"/>
                </a:solidFill>
                <a:latin typeface="华文楷体" panose="02010600040101010101" pitchFamily="2" charset="-122"/>
                <a:ea typeface="华文楷体" panose="02010600040101010101" pitchFamily="2" charset="-122"/>
              </a:rPr>
              <a:t>n</a:t>
            </a:r>
            <a:r>
              <a:rPr lang="en-US" altLang="zh-CN" sz="2400">
                <a:solidFill>
                  <a:srgbClr val="0000FF"/>
                </a:solidFill>
                <a:latin typeface="华文楷体" panose="02010600040101010101" pitchFamily="2" charset="-122"/>
                <a:ea typeface="华文楷体" panose="02010600040101010101" pitchFamily="2" charset="-122"/>
              </a:rPr>
              <a:t>)</a:t>
            </a:r>
            <a:r>
              <a:rPr lang="zh-CN" altLang="zh-CN" sz="2400">
                <a:solidFill>
                  <a:srgbClr val="0000FF"/>
                </a:solidFill>
                <a:latin typeface="华文楷体" panose="02010600040101010101" pitchFamily="2" charset="-122"/>
                <a:ea typeface="华文楷体" panose="02010600040101010101" pitchFamily="2" charset="-122"/>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8.3.4 </a:t>
            </a:r>
            <a:r>
              <a:rPr lang="zh-CN" altLang="zh-CN" dirty="0">
                <a:solidFill>
                  <a:srgbClr val="FF0000"/>
                </a:solidFill>
                <a:latin typeface="叶根友毛笔行书2.0版" pitchFamily="2" charset="-122"/>
                <a:ea typeface="叶根友毛笔行书2.0版" pitchFamily="2" charset="-122"/>
                <a:sym typeface="+mn-ea"/>
              </a:rPr>
              <a:t>求解流水作业调度问题</a:t>
            </a:r>
            <a:endParaRPr lang="en-US" altLang="zh-CN" dirty="0"/>
          </a:p>
        </p:txBody>
      </p:sp>
      <p:sp>
        <p:nvSpPr>
          <p:cNvPr id="4" name="TextBox 2"/>
          <p:cNvSpPr txBox="1"/>
          <p:nvPr/>
        </p:nvSpPr>
        <p:spPr>
          <a:xfrm>
            <a:off x="428596" y="1340471"/>
            <a:ext cx="8501122" cy="3503523"/>
          </a:xfrm>
          <a:prstGeom prst="rect">
            <a:avLst/>
          </a:prstGeom>
          <a:noFill/>
        </p:spPr>
        <p:txBody>
          <a:bodyPr wrap="square" rtlCol="0">
            <a:spAutoFit/>
          </a:bodyPr>
          <a:lstStyle/>
          <a:p>
            <a:pPr>
              <a:lnSpc>
                <a:spcPts val="3800"/>
              </a:lnSpc>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FF0000"/>
                </a:solidFill>
                <a:latin typeface="微软雅黑" charset="-122"/>
                <a:ea typeface="微软雅黑" charset="-122"/>
                <a:cs typeface="Consolas" pitchFamily="49" charset="0"/>
              </a:rPr>
              <a:t>【问题描述】</a:t>
            </a:r>
            <a:r>
              <a:rPr lang="zh-CN" altLang="zh-CN" sz="2000">
                <a:solidFill>
                  <a:srgbClr val="0000FF"/>
                </a:solidFill>
                <a:latin typeface="Consolas" pitchFamily="49" charset="0"/>
                <a:ea typeface="楷体" pitchFamily="49" charset="-122"/>
                <a:cs typeface="Consolas" pitchFamily="49" charset="0"/>
              </a:rPr>
              <a:t>有</a:t>
            </a:r>
            <a:r>
              <a:rPr lang="en-US" altLang="zh-CN" sz="2000" i="1">
                <a:solidFill>
                  <a:srgbClr val="0000FF"/>
                </a:solidFill>
                <a:latin typeface="Consolas" pitchFamily="49" charset="0"/>
                <a:ea typeface="楷体" pitchFamily="49" charset="-122"/>
                <a:cs typeface="Consolas" pitchFamily="49" charset="0"/>
              </a:rPr>
              <a:t>n</a:t>
            </a:r>
            <a:r>
              <a:rPr lang="zh-CN" altLang="zh-CN" sz="2000">
                <a:solidFill>
                  <a:srgbClr val="0000FF"/>
                </a:solidFill>
                <a:latin typeface="Consolas" pitchFamily="49" charset="0"/>
                <a:ea typeface="楷体" pitchFamily="49" charset="-122"/>
                <a:cs typeface="Consolas" pitchFamily="49" charset="0"/>
              </a:rPr>
              <a:t>个作业（编号为</a:t>
            </a:r>
            <a:r>
              <a:rPr lang="en-US" altLang="zh-CN" sz="2000">
                <a:solidFill>
                  <a:srgbClr val="0000FF"/>
                </a:solidFill>
                <a:latin typeface="Consolas" pitchFamily="49" charset="0"/>
                <a:ea typeface="楷体" pitchFamily="49" charset="-122"/>
                <a:cs typeface="Consolas" pitchFamily="49" charset="0"/>
              </a:rPr>
              <a:t>1</a:t>
            </a:r>
            <a:r>
              <a:rPr lang="zh-CN"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zh-CN" altLang="zh-CN" sz="2000">
                <a:solidFill>
                  <a:srgbClr val="0000FF"/>
                </a:solidFill>
                <a:latin typeface="Consolas" pitchFamily="49" charset="0"/>
                <a:ea typeface="楷体" pitchFamily="49" charset="-122"/>
                <a:cs typeface="Consolas" pitchFamily="49" charset="0"/>
              </a:rPr>
              <a:t>）要在由两台机器</a:t>
            </a:r>
            <a:r>
              <a:rPr lang="en-US" altLang="zh-CN" sz="2000">
                <a:solidFill>
                  <a:srgbClr val="0000FF"/>
                </a:solidFill>
                <a:latin typeface="Consolas" pitchFamily="49" charset="0"/>
                <a:ea typeface="楷体" pitchFamily="49" charset="-122"/>
                <a:cs typeface="Consolas" pitchFamily="49" charset="0"/>
              </a:rPr>
              <a:t>M</a:t>
            </a:r>
            <a:r>
              <a:rPr lang="en-US" altLang="zh-CN" sz="2000" baseline="-25000">
                <a:solidFill>
                  <a:srgbClr val="0000FF"/>
                </a:solidFill>
                <a:latin typeface="Consolas" pitchFamily="49" charset="0"/>
                <a:ea typeface="楷体" pitchFamily="49" charset="-122"/>
                <a:cs typeface="Consolas" pitchFamily="49" charset="0"/>
              </a:rPr>
              <a:t>1</a:t>
            </a:r>
            <a:r>
              <a:rPr lang="zh-CN" altLang="zh-CN" sz="2000">
                <a:solidFill>
                  <a:srgbClr val="0000FF"/>
                </a:solidFill>
                <a:latin typeface="Consolas" pitchFamily="49" charset="0"/>
                <a:ea typeface="楷体" pitchFamily="49" charset="-122"/>
                <a:cs typeface="Consolas" pitchFamily="49" charset="0"/>
              </a:rPr>
              <a:t>和</a:t>
            </a:r>
            <a:r>
              <a:rPr lang="en-US" altLang="zh-CN" sz="2000">
                <a:solidFill>
                  <a:srgbClr val="0000FF"/>
                </a:solidFill>
                <a:latin typeface="Consolas" pitchFamily="49" charset="0"/>
                <a:ea typeface="楷体" pitchFamily="49" charset="-122"/>
                <a:cs typeface="Consolas" pitchFamily="49" charset="0"/>
              </a:rPr>
              <a:t>M</a:t>
            </a:r>
            <a:r>
              <a:rPr lang="en-US" altLang="zh-CN" sz="2000" baseline="-25000">
                <a:solidFill>
                  <a:srgbClr val="0000FF"/>
                </a:solidFill>
                <a:latin typeface="Consolas" pitchFamily="49" charset="0"/>
                <a:ea typeface="楷体" pitchFamily="49" charset="-122"/>
                <a:cs typeface="Consolas" pitchFamily="49" charset="0"/>
              </a:rPr>
              <a:t>2</a:t>
            </a:r>
            <a:r>
              <a:rPr lang="zh-CN" altLang="zh-CN" sz="2000">
                <a:solidFill>
                  <a:srgbClr val="0000FF"/>
                </a:solidFill>
                <a:latin typeface="Consolas" pitchFamily="49" charset="0"/>
                <a:ea typeface="楷体" pitchFamily="49" charset="-122"/>
                <a:cs typeface="Consolas" pitchFamily="49" charset="0"/>
              </a:rPr>
              <a:t>组成的流水线上完成加工。每个作业加工的顺序都是先在</a:t>
            </a:r>
            <a:r>
              <a:rPr lang="en-US" altLang="zh-CN" sz="2000">
                <a:solidFill>
                  <a:srgbClr val="0000FF"/>
                </a:solidFill>
                <a:latin typeface="Consolas" pitchFamily="49" charset="0"/>
                <a:ea typeface="楷体" pitchFamily="49" charset="-122"/>
                <a:cs typeface="Consolas" pitchFamily="49" charset="0"/>
              </a:rPr>
              <a:t>M</a:t>
            </a:r>
            <a:r>
              <a:rPr lang="en-US" altLang="zh-CN" sz="2000" baseline="-25000">
                <a:solidFill>
                  <a:srgbClr val="0000FF"/>
                </a:solidFill>
                <a:latin typeface="Consolas" pitchFamily="49" charset="0"/>
                <a:ea typeface="楷体" pitchFamily="49" charset="-122"/>
                <a:cs typeface="Consolas" pitchFamily="49" charset="0"/>
              </a:rPr>
              <a:t>1</a:t>
            </a:r>
            <a:r>
              <a:rPr lang="zh-CN" altLang="zh-CN" sz="2000">
                <a:solidFill>
                  <a:srgbClr val="0000FF"/>
                </a:solidFill>
                <a:latin typeface="Consolas" pitchFamily="49" charset="0"/>
                <a:ea typeface="楷体" pitchFamily="49" charset="-122"/>
                <a:cs typeface="Consolas" pitchFamily="49" charset="0"/>
              </a:rPr>
              <a:t>上加工，然后在</a:t>
            </a:r>
            <a:r>
              <a:rPr lang="en-US" altLang="zh-CN" sz="2000">
                <a:solidFill>
                  <a:srgbClr val="0000FF"/>
                </a:solidFill>
                <a:latin typeface="Consolas" pitchFamily="49" charset="0"/>
                <a:ea typeface="楷体" pitchFamily="49" charset="-122"/>
                <a:cs typeface="Consolas" pitchFamily="49" charset="0"/>
              </a:rPr>
              <a:t>M</a:t>
            </a:r>
            <a:r>
              <a:rPr lang="en-US" altLang="zh-CN" sz="2000" baseline="-25000">
                <a:solidFill>
                  <a:srgbClr val="0000FF"/>
                </a:solidFill>
                <a:latin typeface="Consolas" pitchFamily="49" charset="0"/>
                <a:ea typeface="楷体" pitchFamily="49" charset="-122"/>
                <a:cs typeface="Consolas" pitchFamily="49" charset="0"/>
              </a:rPr>
              <a:t>2</a:t>
            </a:r>
            <a:r>
              <a:rPr lang="zh-CN" altLang="zh-CN" sz="2000">
                <a:solidFill>
                  <a:srgbClr val="0000FF"/>
                </a:solidFill>
                <a:latin typeface="Consolas" pitchFamily="49" charset="0"/>
                <a:ea typeface="楷体" pitchFamily="49" charset="-122"/>
                <a:cs typeface="Consolas" pitchFamily="49" charset="0"/>
              </a:rPr>
              <a:t>上加工。</a:t>
            </a:r>
            <a:r>
              <a:rPr lang="en-US" altLang="zh-CN" sz="2000">
                <a:solidFill>
                  <a:srgbClr val="0000FF"/>
                </a:solidFill>
                <a:latin typeface="Consolas" pitchFamily="49" charset="0"/>
                <a:ea typeface="楷体" pitchFamily="49" charset="-122"/>
                <a:cs typeface="Consolas" pitchFamily="49" charset="0"/>
              </a:rPr>
              <a:t>M</a:t>
            </a:r>
            <a:r>
              <a:rPr lang="en-US" altLang="zh-CN" sz="2000" baseline="-25000">
                <a:solidFill>
                  <a:srgbClr val="0000FF"/>
                </a:solidFill>
                <a:latin typeface="Consolas" pitchFamily="49" charset="0"/>
                <a:ea typeface="楷体" pitchFamily="49" charset="-122"/>
                <a:cs typeface="Consolas" pitchFamily="49" charset="0"/>
              </a:rPr>
              <a:t>1</a:t>
            </a:r>
            <a:r>
              <a:rPr lang="zh-CN" altLang="zh-CN" sz="2000">
                <a:solidFill>
                  <a:srgbClr val="0000FF"/>
                </a:solidFill>
                <a:latin typeface="Consolas" pitchFamily="49" charset="0"/>
                <a:ea typeface="楷体" pitchFamily="49" charset="-122"/>
                <a:cs typeface="Consolas" pitchFamily="49" charset="0"/>
              </a:rPr>
              <a:t>和</a:t>
            </a:r>
            <a:r>
              <a:rPr lang="en-US" altLang="zh-CN" sz="2000">
                <a:solidFill>
                  <a:srgbClr val="0000FF"/>
                </a:solidFill>
                <a:latin typeface="Consolas" pitchFamily="49" charset="0"/>
                <a:ea typeface="楷体" pitchFamily="49" charset="-122"/>
                <a:cs typeface="Consolas" pitchFamily="49" charset="0"/>
              </a:rPr>
              <a:t>M</a:t>
            </a:r>
            <a:r>
              <a:rPr lang="en-US" altLang="zh-CN" sz="2000" baseline="-25000">
                <a:solidFill>
                  <a:srgbClr val="0000FF"/>
                </a:solidFill>
                <a:latin typeface="Consolas" pitchFamily="49" charset="0"/>
                <a:ea typeface="楷体" pitchFamily="49" charset="-122"/>
                <a:cs typeface="Consolas" pitchFamily="49" charset="0"/>
              </a:rPr>
              <a:t>2</a:t>
            </a:r>
            <a:r>
              <a:rPr lang="zh-CN" altLang="zh-CN" sz="2000">
                <a:solidFill>
                  <a:srgbClr val="0000FF"/>
                </a:solidFill>
                <a:latin typeface="Consolas" pitchFamily="49" charset="0"/>
                <a:ea typeface="楷体" pitchFamily="49" charset="-122"/>
                <a:cs typeface="Consolas" pitchFamily="49" charset="0"/>
              </a:rPr>
              <a:t>加工作业</a:t>
            </a:r>
            <a:r>
              <a:rPr lang="en-US" altLang="zh-CN" sz="2000" i="1">
                <a:solidFill>
                  <a:srgbClr val="0000FF"/>
                </a:solidFill>
                <a:latin typeface="Consolas" pitchFamily="49" charset="0"/>
                <a:ea typeface="楷体" pitchFamily="49" charset="-122"/>
                <a:cs typeface="Consolas" pitchFamily="49" charset="0"/>
              </a:rPr>
              <a:t>i</a:t>
            </a:r>
            <a:r>
              <a:rPr lang="zh-CN" altLang="zh-CN" sz="2000">
                <a:solidFill>
                  <a:srgbClr val="0000FF"/>
                </a:solidFill>
                <a:latin typeface="Consolas" pitchFamily="49" charset="0"/>
                <a:ea typeface="楷体" pitchFamily="49" charset="-122"/>
                <a:cs typeface="Consolas" pitchFamily="49" charset="0"/>
              </a:rPr>
              <a:t>所需的时间分别为</a:t>
            </a:r>
            <a:r>
              <a:rPr lang="en-US" altLang="zh-CN" sz="2000" i="1">
                <a:solidFill>
                  <a:srgbClr val="0000FF"/>
                </a:solidFill>
                <a:latin typeface="Consolas" pitchFamily="49" charset="0"/>
                <a:ea typeface="楷体" pitchFamily="49" charset="-122"/>
                <a:cs typeface="Consolas" pitchFamily="49" charset="0"/>
              </a:rPr>
              <a:t>a</a:t>
            </a:r>
            <a:r>
              <a:rPr lang="en-US" altLang="zh-CN" sz="2000" i="1" baseline="-25000">
                <a:solidFill>
                  <a:srgbClr val="0000FF"/>
                </a:solidFill>
                <a:latin typeface="Consolas" pitchFamily="49" charset="0"/>
                <a:ea typeface="楷体" pitchFamily="49" charset="-122"/>
                <a:cs typeface="Consolas" pitchFamily="49" charset="0"/>
              </a:rPr>
              <a:t>i</a:t>
            </a:r>
            <a:r>
              <a:rPr lang="zh-CN" altLang="zh-CN" sz="2000">
                <a:solidFill>
                  <a:srgbClr val="0000FF"/>
                </a:solidFill>
                <a:latin typeface="Consolas" pitchFamily="49" charset="0"/>
                <a:ea typeface="楷体" pitchFamily="49" charset="-122"/>
                <a:cs typeface="Consolas" pitchFamily="49" charset="0"/>
              </a:rPr>
              <a:t>和</a:t>
            </a:r>
            <a:r>
              <a:rPr lang="en-US" altLang="zh-CN" sz="2000" i="1">
                <a:solidFill>
                  <a:srgbClr val="0000FF"/>
                </a:solidFill>
                <a:latin typeface="Consolas" pitchFamily="49" charset="0"/>
                <a:ea typeface="楷体" pitchFamily="49" charset="-122"/>
                <a:cs typeface="Consolas" pitchFamily="49" charset="0"/>
              </a:rPr>
              <a:t>b</a:t>
            </a:r>
            <a:r>
              <a:rPr lang="en-US" altLang="zh-CN" sz="2000" i="1" baseline="-25000">
                <a:solidFill>
                  <a:srgbClr val="0000FF"/>
                </a:solidFill>
                <a:latin typeface="Consolas" pitchFamily="49" charset="0"/>
                <a:ea typeface="楷体" pitchFamily="49" charset="-122"/>
                <a:cs typeface="Consolas" pitchFamily="49" charset="0"/>
              </a:rPr>
              <a:t>i</a:t>
            </a:r>
            <a:r>
              <a:rPr lang="zh-CN" altLang="zh-CN"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1</a:t>
            </a:r>
            <a:r>
              <a:rPr lang="zh-CN" altLang="zh-CN" sz="2000">
                <a:solidFill>
                  <a:srgbClr val="0000FF"/>
                </a:solidFill>
                <a:latin typeface="宋体" pitchFamily="2" charset="-122"/>
                <a:ea typeface="宋体" pitchFamily="2"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i</a:t>
            </a:r>
            <a:r>
              <a:rPr lang="zh-CN" altLang="zh-CN" sz="2000">
                <a:solidFill>
                  <a:srgbClr val="0000FF"/>
                </a:solidFill>
                <a:latin typeface="宋体" pitchFamily="2" charset="-122"/>
                <a:ea typeface="宋体" pitchFamily="2"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zh-CN" altLang="zh-CN" sz="2000">
                <a:solidFill>
                  <a:srgbClr val="0000FF"/>
                </a:solidFill>
                <a:latin typeface="Consolas" pitchFamily="49" charset="0"/>
                <a:ea typeface="楷体" pitchFamily="49" charset="-122"/>
                <a:cs typeface="Consolas" pitchFamily="49" charset="0"/>
              </a:rPr>
              <a:t>）。</a:t>
            </a:r>
          </a:p>
          <a:p>
            <a:pPr>
              <a:lnSpc>
                <a:spcPts val="3800"/>
              </a:lnSpc>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流水作业调度问题要求确定这</a:t>
            </a:r>
            <a:r>
              <a:rPr lang="en-US" altLang="zh-CN" sz="2000" i="1">
                <a:solidFill>
                  <a:srgbClr val="0000FF"/>
                </a:solidFill>
                <a:latin typeface="Consolas" pitchFamily="49" charset="0"/>
                <a:ea typeface="楷体" pitchFamily="49" charset="-122"/>
                <a:cs typeface="Consolas" pitchFamily="49" charset="0"/>
              </a:rPr>
              <a:t>n</a:t>
            </a:r>
            <a:r>
              <a:rPr lang="zh-CN" altLang="zh-CN" sz="2000">
                <a:solidFill>
                  <a:srgbClr val="0000FF"/>
                </a:solidFill>
                <a:latin typeface="Consolas" pitchFamily="49" charset="0"/>
                <a:ea typeface="楷体" pitchFamily="49" charset="-122"/>
                <a:cs typeface="Consolas" pitchFamily="49" charset="0"/>
              </a:rPr>
              <a:t>个作业的最优加工顺序，使得从第一个作业在机器</a:t>
            </a:r>
            <a:r>
              <a:rPr lang="en-US" altLang="zh-CN" sz="2000">
                <a:solidFill>
                  <a:srgbClr val="0000FF"/>
                </a:solidFill>
                <a:latin typeface="Consolas" pitchFamily="49" charset="0"/>
                <a:ea typeface="楷体" pitchFamily="49" charset="-122"/>
                <a:cs typeface="Consolas" pitchFamily="49" charset="0"/>
              </a:rPr>
              <a:t>M</a:t>
            </a:r>
            <a:r>
              <a:rPr lang="en-US" altLang="zh-CN" sz="2000" baseline="-25000">
                <a:solidFill>
                  <a:srgbClr val="0000FF"/>
                </a:solidFill>
                <a:latin typeface="Consolas" pitchFamily="49" charset="0"/>
                <a:ea typeface="楷体" pitchFamily="49" charset="-122"/>
                <a:cs typeface="Consolas" pitchFamily="49" charset="0"/>
              </a:rPr>
              <a:t>1</a:t>
            </a:r>
            <a:r>
              <a:rPr lang="zh-CN" altLang="zh-CN" sz="2000">
                <a:solidFill>
                  <a:srgbClr val="0000FF"/>
                </a:solidFill>
                <a:latin typeface="Consolas" pitchFamily="49" charset="0"/>
                <a:ea typeface="楷体" pitchFamily="49" charset="-122"/>
                <a:cs typeface="Consolas" pitchFamily="49" charset="0"/>
              </a:rPr>
              <a:t>上开始加工，到最后一个作业在机器</a:t>
            </a:r>
            <a:r>
              <a:rPr lang="en-US" altLang="zh-CN" sz="2000">
                <a:solidFill>
                  <a:srgbClr val="0000FF"/>
                </a:solidFill>
                <a:latin typeface="Consolas" pitchFamily="49" charset="0"/>
                <a:ea typeface="楷体" pitchFamily="49" charset="-122"/>
                <a:cs typeface="Consolas" pitchFamily="49" charset="0"/>
              </a:rPr>
              <a:t>M</a:t>
            </a:r>
            <a:r>
              <a:rPr lang="en-US" altLang="zh-CN" sz="2000" baseline="-25000">
                <a:solidFill>
                  <a:srgbClr val="0000FF"/>
                </a:solidFill>
                <a:latin typeface="Consolas" pitchFamily="49" charset="0"/>
                <a:ea typeface="楷体" pitchFamily="49" charset="-122"/>
                <a:cs typeface="Consolas" pitchFamily="49" charset="0"/>
              </a:rPr>
              <a:t>2</a:t>
            </a:r>
            <a:r>
              <a:rPr lang="zh-CN" altLang="zh-CN" sz="2000">
                <a:solidFill>
                  <a:srgbClr val="0000FF"/>
                </a:solidFill>
                <a:latin typeface="Consolas" pitchFamily="49" charset="0"/>
                <a:ea typeface="楷体" pitchFamily="49" charset="-122"/>
                <a:cs typeface="Consolas" pitchFamily="49" charset="0"/>
              </a:rPr>
              <a:t>上加工完成</a:t>
            </a:r>
            <a:r>
              <a:rPr lang="zh-CN" altLang="zh-CN" sz="2000">
                <a:solidFill>
                  <a:srgbClr val="C00000"/>
                </a:solidFill>
                <a:latin typeface="华文中宋" pitchFamily="2" charset="-122"/>
                <a:ea typeface="华文中宋" pitchFamily="2" charset="-122"/>
                <a:cs typeface="Consolas" pitchFamily="49" charset="0"/>
              </a:rPr>
              <a:t>所需的时间最少</a:t>
            </a:r>
            <a:r>
              <a:rPr lang="zh-CN" altLang="zh-CN" sz="2000">
                <a:solidFill>
                  <a:srgbClr val="0000FF"/>
                </a:solidFill>
                <a:latin typeface="Consolas" pitchFamily="49" charset="0"/>
                <a:ea typeface="楷体" pitchFamily="49" charset="-122"/>
                <a:cs typeface="Consolas" pitchFamily="49" charset="0"/>
              </a:rPr>
              <a:t>。可以假定任何作业一旦开始加工，就不允许被中断，直到该作业被完成，即非优先调度。</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例子</a:t>
            </a:r>
          </a:p>
        </p:txBody>
      </p:sp>
      <p:sp>
        <p:nvSpPr>
          <p:cNvPr id="3" name="内容占位符 2"/>
          <p:cNvSpPr>
            <a:spLocks noGrp="1"/>
          </p:cNvSpPr>
          <p:nvPr>
            <p:ph idx="1"/>
          </p:nvPr>
        </p:nvSpPr>
        <p:spPr/>
        <p:txBody>
          <a:bodyPr/>
          <a:lstStyle/>
          <a:p>
            <a:endParaRPr lang="zh-CN" altLang="en-US"/>
          </a:p>
        </p:txBody>
      </p:sp>
      <p:sp>
        <p:nvSpPr>
          <p:cNvPr id="4" name="TextBox 1"/>
          <p:cNvSpPr txBox="1"/>
          <p:nvPr/>
        </p:nvSpPr>
        <p:spPr>
          <a:xfrm>
            <a:off x="500034" y="1197271"/>
            <a:ext cx="8286808" cy="5567394"/>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80000" tIns="108000" rIns="216000" bIns="108000" rtlCol="0">
            <a:spAutoFit/>
          </a:bodyPr>
          <a:lstStyle/>
          <a:p>
            <a:pPr>
              <a:lnSpc>
                <a:spcPts val="3000"/>
              </a:lnSpc>
            </a:pPr>
            <a:r>
              <a:rPr lang="en-US" altLang="zh-CN" sz="1800">
                <a:solidFill>
                  <a:srgbClr val="FF0000"/>
                </a:solidFill>
                <a:latin typeface="Consolas" pitchFamily="49" charset="0"/>
                <a:ea typeface="楷体" pitchFamily="49" charset="-122"/>
                <a:cs typeface="Consolas" pitchFamily="49" charset="0"/>
              </a:rPr>
              <a:t>   </a:t>
            </a:r>
            <a:r>
              <a:rPr lang="zh-CN" altLang="zh-CN" sz="1800">
                <a:solidFill>
                  <a:srgbClr val="FF0000"/>
                </a:solidFill>
                <a:latin typeface="Consolas" pitchFamily="49" charset="0"/>
                <a:ea typeface="楷体" pitchFamily="49" charset="-122"/>
                <a:cs typeface="Consolas" pitchFamily="49" charset="0"/>
              </a:rPr>
              <a:t>【输入格式】</a:t>
            </a:r>
            <a:r>
              <a:rPr lang="zh-CN" altLang="zh-CN" sz="1800">
                <a:solidFill>
                  <a:srgbClr val="0000FF"/>
                </a:solidFill>
                <a:latin typeface="Consolas" pitchFamily="49" charset="0"/>
                <a:ea typeface="楷体" pitchFamily="49" charset="-122"/>
                <a:cs typeface="Consolas" pitchFamily="49" charset="0"/>
              </a:rPr>
              <a:t>输入包含若干个用例。每个用例第一行是作业数</a:t>
            </a:r>
            <a:r>
              <a:rPr lang="en-US" altLang="zh-CN" sz="1800" i="1">
                <a:solidFill>
                  <a:srgbClr val="0000FF"/>
                </a:solidFill>
                <a:latin typeface="Consolas" pitchFamily="49" charset="0"/>
                <a:ea typeface="楷体" pitchFamily="49" charset="-122"/>
                <a:cs typeface="Consolas" pitchFamily="49" charset="0"/>
              </a:rPr>
              <a:t>n</a:t>
            </a:r>
            <a:r>
              <a:rPr lang="zh-CN" altLang="zh-CN"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1</a:t>
            </a:r>
            <a:r>
              <a:rPr lang="zh-CN" altLang="zh-CN" sz="1800">
                <a:solidFill>
                  <a:srgbClr val="0000FF"/>
                </a:solidFill>
                <a:latin typeface="宋体" pitchFamily="2" charset="-122"/>
                <a:ea typeface="宋体" pitchFamily="2"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zh-CN" altLang="zh-CN" sz="1800">
                <a:solidFill>
                  <a:srgbClr val="0000FF"/>
                </a:solidFill>
                <a:latin typeface="宋体" pitchFamily="2" charset="-122"/>
                <a:ea typeface="宋体" pitchFamily="2"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1000</a:t>
            </a:r>
            <a:r>
              <a:rPr lang="zh-CN" altLang="zh-CN" sz="1800">
                <a:solidFill>
                  <a:srgbClr val="0000FF"/>
                </a:solidFill>
                <a:latin typeface="Consolas" pitchFamily="49" charset="0"/>
                <a:ea typeface="楷体" pitchFamily="49" charset="-122"/>
                <a:cs typeface="Consolas" pitchFamily="49" charset="0"/>
              </a:rPr>
              <a:t>），接下来</a:t>
            </a:r>
            <a:r>
              <a:rPr lang="en-US" altLang="zh-CN" sz="1800" i="1">
                <a:solidFill>
                  <a:srgbClr val="0000FF"/>
                </a:solidFill>
                <a:latin typeface="Consolas" pitchFamily="49" charset="0"/>
                <a:ea typeface="楷体" pitchFamily="49" charset="-122"/>
                <a:cs typeface="Consolas" pitchFamily="49" charset="0"/>
              </a:rPr>
              <a:t>n</a:t>
            </a:r>
            <a:r>
              <a:rPr lang="zh-CN" altLang="zh-CN" sz="1800">
                <a:solidFill>
                  <a:srgbClr val="0000FF"/>
                </a:solidFill>
                <a:latin typeface="Consolas" pitchFamily="49" charset="0"/>
                <a:ea typeface="楷体" pitchFamily="49" charset="-122"/>
                <a:cs typeface="Consolas" pitchFamily="49" charset="0"/>
              </a:rPr>
              <a:t>行，每行两个非负整数，第</a:t>
            </a:r>
            <a:r>
              <a:rPr lang="en-US" altLang="zh-CN" sz="1800" i="1">
                <a:solidFill>
                  <a:srgbClr val="0000FF"/>
                </a:solidFill>
                <a:latin typeface="Consolas" pitchFamily="49" charset="0"/>
                <a:ea typeface="楷体" pitchFamily="49" charset="-122"/>
                <a:cs typeface="Consolas" pitchFamily="49" charset="0"/>
              </a:rPr>
              <a:t>i</a:t>
            </a:r>
            <a:r>
              <a:rPr lang="zh-CN" altLang="zh-CN" sz="1800">
                <a:solidFill>
                  <a:srgbClr val="0000FF"/>
                </a:solidFill>
                <a:latin typeface="Consolas" pitchFamily="49" charset="0"/>
                <a:ea typeface="楷体" pitchFamily="49" charset="-122"/>
                <a:cs typeface="Consolas" pitchFamily="49" charset="0"/>
              </a:rPr>
              <a:t>行的两个整数分别表示在第</a:t>
            </a:r>
            <a:r>
              <a:rPr lang="en-US" altLang="zh-CN" sz="1800" i="1">
                <a:solidFill>
                  <a:srgbClr val="0000FF"/>
                </a:solidFill>
                <a:latin typeface="Consolas" pitchFamily="49" charset="0"/>
                <a:ea typeface="楷体" pitchFamily="49" charset="-122"/>
                <a:cs typeface="Consolas" pitchFamily="49" charset="0"/>
              </a:rPr>
              <a:t>i</a:t>
            </a:r>
            <a:r>
              <a:rPr lang="zh-CN" altLang="zh-CN" sz="1800">
                <a:solidFill>
                  <a:srgbClr val="0000FF"/>
                </a:solidFill>
                <a:latin typeface="Consolas" pitchFamily="49" charset="0"/>
                <a:ea typeface="楷体" pitchFamily="49" charset="-122"/>
                <a:cs typeface="Consolas" pitchFamily="49" charset="0"/>
              </a:rPr>
              <a:t>个作业在第一台机器和第二台机器上加工时间。以输入</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=0</a:t>
            </a:r>
            <a:r>
              <a:rPr lang="zh-CN" altLang="zh-CN" sz="1800">
                <a:solidFill>
                  <a:srgbClr val="0000FF"/>
                </a:solidFill>
                <a:latin typeface="Consolas" pitchFamily="49" charset="0"/>
                <a:ea typeface="楷体" pitchFamily="49" charset="-122"/>
                <a:cs typeface="Consolas" pitchFamily="49" charset="0"/>
              </a:rPr>
              <a:t>结束。</a:t>
            </a:r>
          </a:p>
          <a:p>
            <a:pPr>
              <a:lnSpc>
                <a:spcPts val="3000"/>
              </a:lnSpc>
            </a:pPr>
            <a:r>
              <a:rPr lang="en-US" altLang="zh-CN" sz="1800">
                <a:solidFill>
                  <a:srgbClr val="FF0000"/>
                </a:solidFill>
                <a:latin typeface="Consolas" pitchFamily="49" charset="0"/>
                <a:ea typeface="楷体" pitchFamily="49" charset="-122"/>
                <a:cs typeface="Consolas" pitchFamily="49" charset="0"/>
              </a:rPr>
              <a:t>   </a:t>
            </a:r>
            <a:r>
              <a:rPr lang="zh-CN" altLang="zh-CN" sz="1800">
                <a:solidFill>
                  <a:srgbClr val="FF0000"/>
                </a:solidFill>
                <a:latin typeface="Consolas" pitchFamily="49" charset="0"/>
                <a:ea typeface="楷体" pitchFamily="49" charset="-122"/>
                <a:cs typeface="Consolas" pitchFamily="49" charset="0"/>
              </a:rPr>
              <a:t>【输出格式】</a:t>
            </a:r>
            <a:r>
              <a:rPr lang="zh-CN" altLang="zh-CN" sz="1800">
                <a:solidFill>
                  <a:srgbClr val="0000FF"/>
                </a:solidFill>
                <a:latin typeface="Consolas" pitchFamily="49" charset="0"/>
                <a:ea typeface="楷体" pitchFamily="49" charset="-122"/>
                <a:cs typeface="Consolas" pitchFamily="49" charset="0"/>
              </a:rPr>
              <a:t>每个用例输出一行，表示采用最优调度所用的总时间，即从第一台机器开始到第二台机器结束的时间。</a:t>
            </a:r>
          </a:p>
          <a:p>
            <a:pPr>
              <a:lnSpc>
                <a:spcPts val="3000"/>
              </a:lnSpc>
            </a:pPr>
            <a:r>
              <a:rPr lang="en-US" altLang="zh-CN" sz="1800">
                <a:solidFill>
                  <a:srgbClr val="FF0000"/>
                </a:solidFill>
                <a:latin typeface="Consolas" pitchFamily="49" charset="0"/>
                <a:ea typeface="楷体" pitchFamily="49" charset="-122"/>
                <a:cs typeface="Consolas" pitchFamily="49" charset="0"/>
              </a:rPr>
              <a:t>   </a:t>
            </a:r>
            <a:r>
              <a:rPr lang="zh-CN" altLang="zh-CN" sz="1800">
                <a:solidFill>
                  <a:srgbClr val="FF0000"/>
                </a:solidFill>
                <a:latin typeface="Consolas" pitchFamily="49" charset="0"/>
                <a:ea typeface="楷体" pitchFamily="49" charset="-122"/>
                <a:cs typeface="Consolas" pitchFamily="49" charset="0"/>
              </a:rPr>
              <a:t>【输入样例】</a:t>
            </a:r>
          </a:p>
          <a:p>
            <a:pPr>
              <a:lnSpc>
                <a:spcPts val="3000"/>
              </a:lnSpc>
            </a:pPr>
            <a:r>
              <a:rPr lang="en-US" altLang="zh-CN" sz="1800">
                <a:solidFill>
                  <a:srgbClr val="0000FF"/>
                </a:solidFill>
                <a:latin typeface="Consolas" pitchFamily="49" charset="0"/>
                <a:ea typeface="楷体" pitchFamily="49" charset="-122"/>
                <a:cs typeface="Consolas" pitchFamily="49" charset="0"/>
              </a:rPr>
              <a:t>      4</a:t>
            </a:r>
            <a:endParaRPr lang="zh-CN" altLang="zh-CN" sz="1800">
              <a:solidFill>
                <a:srgbClr val="0000FF"/>
              </a:solidFill>
              <a:latin typeface="Consolas" pitchFamily="49" charset="0"/>
              <a:ea typeface="楷体" pitchFamily="49" charset="-122"/>
              <a:cs typeface="Consolas" pitchFamily="49" charset="0"/>
            </a:endParaRPr>
          </a:p>
          <a:p>
            <a:pPr>
              <a:lnSpc>
                <a:spcPts val="3000"/>
              </a:lnSpc>
            </a:pPr>
            <a:r>
              <a:rPr lang="en-US" altLang="zh-CN" sz="1800">
                <a:solidFill>
                  <a:srgbClr val="0000FF"/>
                </a:solidFill>
                <a:latin typeface="Consolas" pitchFamily="49" charset="0"/>
                <a:ea typeface="楷体" pitchFamily="49" charset="-122"/>
                <a:cs typeface="Consolas" pitchFamily="49" charset="0"/>
              </a:rPr>
              <a:t>      5 6</a:t>
            </a:r>
            <a:endParaRPr lang="zh-CN" altLang="zh-CN" sz="1800">
              <a:solidFill>
                <a:srgbClr val="0000FF"/>
              </a:solidFill>
              <a:latin typeface="Consolas" pitchFamily="49" charset="0"/>
              <a:ea typeface="楷体" pitchFamily="49" charset="-122"/>
              <a:cs typeface="Consolas" pitchFamily="49" charset="0"/>
            </a:endParaRPr>
          </a:p>
          <a:p>
            <a:pPr>
              <a:lnSpc>
                <a:spcPts val="3000"/>
              </a:lnSpc>
            </a:pPr>
            <a:r>
              <a:rPr lang="en-US" altLang="zh-CN" sz="1800">
                <a:solidFill>
                  <a:srgbClr val="0000FF"/>
                </a:solidFill>
                <a:latin typeface="Consolas" pitchFamily="49" charset="0"/>
                <a:ea typeface="楷体" pitchFamily="49" charset="-122"/>
                <a:cs typeface="Consolas" pitchFamily="49" charset="0"/>
              </a:rPr>
              <a:t>      12 2</a:t>
            </a:r>
            <a:endParaRPr lang="zh-CN" altLang="zh-CN" sz="1800">
              <a:solidFill>
                <a:srgbClr val="0000FF"/>
              </a:solidFill>
              <a:latin typeface="Consolas" pitchFamily="49" charset="0"/>
              <a:ea typeface="楷体" pitchFamily="49" charset="-122"/>
              <a:cs typeface="Consolas" pitchFamily="49" charset="0"/>
            </a:endParaRPr>
          </a:p>
          <a:p>
            <a:pPr>
              <a:lnSpc>
                <a:spcPts val="3000"/>
              </a:lnSpc>
            </a:pPr>
            <a:r>
              <a:rPr lang="en-US" altLang="zh-CN" sz="1800">
                <a:solidFill>
                  <a:srgbClr val="0000FF"/>
                </a:solidFill>
                <a:latin typeface="Consolas" pitchFamily="49" charset="0"/>
                <a:ea typeface="楷体" pitchFamily="49" charset="-122"/>
                <a:cs typeface="Consolas" pitchFamily="49" charset="0"/>
              </a:rPr>
              <a:t>      4 14</a:t>
            </a:r>
            <a:endParaRPr lang="zh-CN" altLang="zh-CN" sz="1800">
              <a:solidFill>
                <a:srgbClr val="0000FF"/>
              </a:solidFill>
              <a:latin typeface="Consolas" pitchFamily="49" charset="0"/>
              <a:ea typeface="楷体" pitchFamily="49" charset="-122"/>
              <a:cs typeface="Consolas" pitchFamily="49" charset="0"/>
            </a:endParaRPr>
          </a:p>
          <a:p>
            <a:pPr>
              <a:lnSpc>
                <a:spcPts val="3000"/>
              </a:lnSpc>
            </a:pPr>
            <a:r>
              <a:rPr lang="en-US" altLang="zh-CN" sz="1800">
                <a:solidFill>
                  <a:srgbClr val="0000FF"/>
                </a:solidFill>
                <a:latin typeface="Consolas" pitchFamily="49" charset="0"/>
                <a:ea typeface="楷体" pitchFamily="49" charset="-122"/>
                <a:cs typeface="Consolas" pitchFamily="49" charset="0"/>
              </a:rPr>
              <a:t>      8 7</a:t>
            </a:r>
            <a:endParaRPr lang="zh-CN" altLang="zh-CN" sz="1800">
              <a:solidFill>
                <a:srgbClr val="0000FF"/>
              </a:solidFill>
              <a:latin typeface="Consolas" pitchFamily="49" charset="0"/>
              <a:ea typeface="楷体" pitchFamily="49" charset="-122"/>
              <a:cs typeface="Consolas" pitchFamily="49" charset="0"/>
            </a:endParaRPr>
          </a:p>
          <a:p>
            <a:pPr>
              <a:lnSpc>
                <a:spcPts val="3000"/>
              </a:lnSpc>
            </a:pPr>
            <a:r>
              <a:rPr lang="en-US" altLang="zh-CN" sz="1800">
                <a:solidFill>
                  <a:srgbClr val="0000FF"/>
                </a:solidFill>
                <a:latin typeface="Consolas" pitchFamily="49" charset="0"/>
                <a:ea typeface="楷体" pitchFamily="49" charset="-122"/>
                <a:cs typeface="Consolas" pitchFamily="49" charset="0"/>
              </a:rPr>
              <a:t>      0</a:t>
            </a:r>
            <a:endParaRPr lang="zh-CN" altLang="zh-CN" sz="1800">
              <a:solidFill>
                <a:srgbClr val="0000FF"/>
              </a:solidFill>
              <a:latin typeface="Consolas" pitchFamily="49" charset="0"/>
              <a:ea typeface="楷体" pitchFamily="49" charset="-122"/>
              <a:cs typeface="Consolas" pitchFamily="49" charset="0"/>
            </a:endParaRPr>
          </a:p>
          <a:p>
            <a:pPr>
              <a:lnSpc>
                <a:spcPts val="3000"/>
              </a:lnSpc>
            </a:pPr>
            <a:r>
              <a:rPr lang="en-US" altLang="zh-CN" sz="1800">
                <a:solidFill>
                  <a:srgbClr val="FF0000"/>
                </a:solidFill>
                <a:latin typeface="Consolas" pitchFamily="49" charset="0"/>
                <a:ea typeface="楷体" pitchFamily="49" charset="-122"/>
                <a:cs typeface="Consolas" pitchFamily="49" charset="0"/>
              </a:rPr>
              <a:t>   </a:t>
            </a:r>
            <a:r>
              <a:rPr lang="zh-CN" altLang="zh-CN" sz="1800">
                <a:solidFill>
                  <a:srgbClr val="FF0000"/>
                </a:solidFill>
                <a:latin typeface="Consolas" pitchFamily="49" charset="0"/>
                <a:ea typeface="楷体" pitchFamily="49" charset="-122"/>
                <a:cs typeface="Consolas" pitchFamily="49" charset="0"/>
              </a:rPr>
              <a:t>【输出样例】</a:t>
            </a:r>
          </a:p>
          <a:p>
            <a:pPr>
              <a:lnSpc>
                <a:spcPts val="3000"/>
              </a:lnSpc>
            </a:pPr>
            <a:r>
              <a:rPr lang="en-US" altLang="zh-CN" sz="1800">
                <a:solidFill>
                  <a:srgbClr val="0000FF"/>
                </a:solidFill>
                <a:latin typeface="Consolas" pitchFamily="49" charset="0"/>
                <a:ea typeface="楷体" pitchFamily="49" charset="-122"/>
                <a:cs typeface="Consolas" pitchFamily="49" charset="0"/>
              </a:rPr>
              <a:t>      33</a:t>
            </a:r>
            <a:endParaRPr lang="zh-CN" altLang="zh-CN" sz="1800">
              <a:solidFill>
                <a:srgbClr val="0000FF"/>
              </a:solidFill>
              <a:latin typeface="Consolas" pitchFamily="49" charset="0"/>
              <a:ea typeface="楷体" pitchFamily="49" charset="-122"/>
              <a:cs typeface="Consolas" pitchFamily="49" charset="0"/>
            </a:endParaRPr>
          </a:p>
        </p:txBody>
      </p:sp>
      <p:graphicFrame>
        <p:nvGraphicFramePr>
          <p:cNvPr id="5" name="表格 4"/>
          <p:cNvGraphicFramePr>
            <a:graphicFrameLocks noGrp="1"/>
          </p:cNvGraphicFramePr>
          <p:nvPr/>
        </p:nvGraphicFramePr>
        <p:xfrm>
          <a:off x="3714744" y="4000504"/>
          <a:ext cx="3357584" cy="1188240"/>
        </p:xfrm>
        <a:graphic>
          <a:graphicData uri="http://schemas.openxmlformats.org/drawingml/2006/table">
            <a:tbl>
              <a:tblPr>
                <a:tableStyleId>{775DCB02-9BB8-47FD-8907-85C794F793BA}</a:tableStyleId>
              </a:tblPr>
              <a:tblGrid>
                <a:gridCol w="1093376">
                  <a:extLst>
                    <a:ext uri="{9D8B030D-6E8A-4147-A177-3AD203B41FA5}">
                      <a16:colId xmlns:a16="http://schemas.microsoft.com/office/drawing/2014/main" val="20000"/>
                    </a:ext>
                  </a:extLst>
                </a:gridCol>
                <a:gridCol w="566052">
                  <a:extLst>
                    <a:ext uri="{9D8B030D-6E8A-4147-A177-3AD203B41FA5}">
                      <a16:colId xmlns:a16="http://schemas.microsoft.com/office/drawing/2014/main" val="20001"/>
                    </a:ext>
                  </a:extLst>
                </a:gridCol>
                <a:gridCol w="566052">
                  <a:extLst>
                    <a:ext uri="{9D8B030D-6E8A-4147-A177-3AD203B41FA5}">
                      <a16:colId xmlns:a16="http://schemas.microsoft.com/office/drawing/2014/main" val="20002"/>
                    </a:ext>
                  </a:extLst>
                </a:gridCol>
                <a:gridCol w="566052">
                  <a:extLst>
                    <a:ext uri="{9D8B030D-6E8A-4147-A177-3AD203B41FA5}">
                      <a16:colId xmlns:a16="http://schemas.microsoft.com/office/drawing/2014/main" val="20003"/>
                    </a:ext>
                  </a:extLst>
                </a:gridCol>
                <a:gridCol w="566052">
                  <a:extLst>
                    <a:ext uri="{9D8B030D-6E8A-4147-A177-3AD203B41FA5}">
                      <a16:colId xmlns:a16="http://schemas.microsoft.com/office/drawing/2014/main" val="20004"/>
                    </a:ext>
                  </a:extLst>
                </a:gridCol>
              </a:tblGrid>
              <a:tr h="396240">
                <a:tc>
                  <a:txBody>
                    <a:bodyPr/>
                    <a:lstStyle/>
                    <a:p>
                      <a:pPr indent="0" algn="ctr">
                        <a:lnSpc>
                          <a:spcPct val="150000"/>
                        </a:lnSpc>
                        <a:spcAft>
                          <a:spcPts val="0"/>
                        </a:spcAft>
                      </a:pPr>
                      <a:r>
                        <a:rPr lang="zh-CN" sz="1600" b="1" kern="100">
                          <a:solidFill>
                            <a:srgbClr val="C00000"/>
                          </a:solidFill>
                          <a:latin typeface="Consolas" pitchFamily="49" charset="0"/>
                          <a:cs typeface="Consolas" pitchFamily="49" charset="0"/>
                        </a:rPr>
                        <a:t>作业编号</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1</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2</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3</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C00000"/>
                          </a:solidFill>
                          <a:latin typeface="Consolas" pitchFamily="49" charset="0"/>
                          <a:ea typeface="楷体" pitchFamily="49" charset="-122"/>
                          <a:cs typeface="Consolas" pitchFamily="49" charset="0"/>
                        </a:rPr>
                        <a:t>4</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0"/>
                  </a:ext>
                </a:extLst>
              </a:tr>
              <a:tr h="396000">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M</a:t>
                      </a:r>
                      <a:r>
                        <a:rPr lang="en-US" sz="1600" b="1" kern="100" baseline="-25000">
                          <a:solidFill>
                            <a:srgbClr val="C00000"/>
                          </a:solidFill>
                          <a:latin typeface="Consolas" pitchFamily="49" charset="0"/>
                          <a:cs typeface="Consolas" pitchFamily="49" charset="0"/>
                        </a:rPr>
                        <a:t>1</a:t>
                      </a:r>
                      <a:r>
                        <a:rPr lang="zh-CN" sz="1600" b="1" kern="100">
                          <a:solidFill>
                            <a:srgbClr val="C00000"/>
                          </a:solidFill>
                          <a:latin typeface="Consolas" pitchFamily="49" charset="0"/>
                          <a:cs typeface="Consolas" pitchFamily="49" charset="0"/>
                        </a:rPr>
                        <a:t>时间</a:t>
                      </a:r>
                      <a:r>
                        <a:rPr lang="en-US" sz="1600" b="1" i="1" kern="100">
                          <a:solidFill>
                            <a:srgbClr val="C00000"/>
                          </a:solidFill>
                          <a:latin typeface="Consolas" pitchFamily="49" charset="0"/>
                          <a:cs typeface="Consolas" pitchFamily="49" charset="0"/>
                        </a:rPr>
                        <a:t>a</a:t>
                      </a:r>
                      <a:endParaRPr lang="zh-CN" sz="1600" b="1" i="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0000FF"/>
                          </a:solidFill>
                          <a:latin typeface="Consolas" pitchFamily="49" charset="0"/>
                          <a:ea typeface="+mn-ea"/>
                          <a:cs typeface="Consolas" pitchFamily="49" charset="0"/>
                        </a:rPr>
                        <a:t>5</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0000FF"/>
                          </a:solidFill>
                          <a:latin typeface="Consolas" pitchFamily="49" charset="0"/>
                          <a:cs typeface="Consolas" pitchFamily="49" charset="0"/>
                        </a:rPr>
                        <a:t>12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0000FF"/>
                          </a:solidFill>
                          <a:latin typeface="Consolas" pitchFamily="49" charset="0"/>
                          <a:ea typeface="+mn-ea"/>
                          <a:cs typeface="Consolas" pitchFamily="49" charset="0"/>
                        </a:rPr>
                        <a:t>4</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0000FF"/>
                          </a:solidFill>
                          <a:latin typeface="Consolas" pitchFamily="49" charset="0"/>
                          <a:ea typeface="楷体" pitchFamily="49" charset="-122"/>
                          <a:cs typeface="Consolas" pitchFamily="49" charset="0"/>
                        </a:rPr>
                        <a:t>8</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1"/>
                  </a:ext>
                </a:extLst>
              </a:tr>
              <a:tr h="396000">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M</a:t>
                      </a:r>
                      <a:r>
                        <a:rPr lang="en-US" sz="1600" b="1" kern="100" baseline="-25000">
                          <a:solidFill>
                            <a:srgbClr val="C00000"/>
                          </a:solidFill>
                          <a:latin typeface="Consolas" pitchFamily="49" charset="0"/>
                          <a:cs typeface="Consolas" pitchFamily="49" charset="0"/>
                        </a:rPr>
                        <a:t>2</a:t>
                      </a:r>
                      <a:r>
                        <a:rPr lang="zh-CN" sz="1600" b="1" kern="100">
                          <a:solidFill>
                            <a:srgbClr val="C00000"/>
                          </a:solidFill>
                          <a:latin typeface="Consolas" pitchFamily="49" charset="0"/>
                          <a:cs typeface="Consolas" pitchFamily="49" charset="0"/>
                        </a:rPr>
                        <a:t>时间</a:t>
                      </a:r>
                      <a:r>
                        <a:rPr lang="en-US" sz="1600" b="1" i="1" kern="100">
                          <a:solidFill>
                            <a:srgbClr val="C00000"/>
                          </a:solidFill>
                          <a:latin typeface="Consolas" pitchFamily="49" charset="0"/>
                          <a:cs typeface="Consolas" pitchFamily="49" charset="0"/>
                        </a:rPr>
                        <a:t>b</a:t>
                      </a:r>
                      <a:endParaRPr lang="zh-CN" sz="1600" b="1" i="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0000FF"/>
                          </a:solidFill>
                          <a:latin typeface="Consolas" pitchFamily="49" charset="0"/>
                          <a:cs typeface="Consolas" pitchFamily="49" charset="0"/>
                        </a:rPr>
                        <a:t>6</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0000FF"/>
                          </a:solidFill>
                          <a:latin typeface="Consolas" pitchFamily="49" charset="0"/>
                          <a:cs typeface="Consolas" pitchFamily="49" charset="0"/>
                        </a:rPr>
                        <a:t>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0000FF"/>
                          </a:solidFill>
                          <a:latin typeface="Consolas" pitchFamily="49" charset="0"/>
                          <a:cs typeface="Consolas" pitchFamily="49" charset="0"/>
                        </a:rPr>
                        <a:t>14</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0000FF"/>
                          </a:solidFill>
                          <a:latin typeface="Consolas" pitchFamily="49" charset="0"/>
                          <a:ea typeface="楷体" pitchFamily="49" charset="-122"/>
                          <a:cs typeface="Consolas" pitchFamily="49" charset="0"/>
                        </a:rPr>
                        <a:t>7</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问题解空间</a:t>
            </a:r>
          </a:p>
        </p:txBody>
      </p:sp>
      <p:sp>
        <p:nvSpPr>
          <p:cNvPr id="3" name="内容占位符 2"/>
          <p:cNvSpPr>
            <a:spLocks noGrp="1"/>
          </p:cNvSpPr>
          <p:nvPr>
            <p:ph idx="1"/>
          </p:nvPr>
        </p:nvSpPr>
        <p:spPr/>
        <p:txBody>
          <a:bodyPr/>
          <a:lstStyle/>
          <a:p>
            <a:r>
              <a:rPr lang="zh-CN" altLang="en-US"/>
              <a:t>所有的作业都必须做完</a:t>
            </a:r>
          </a:p>
          <a:p>
            <a:r>
              <a:rPr lang="zh-CN" altLang="zh-CN">
                <a:solidFill>
                  <a:srgbClr val="0000FF"/>
                </a:solidFill>
                <a:latin typeface="Consolas" pitchFamily="49" charset="0"/>
                <a:ea typeface="楷体" pitchFamily="49" charset="-122"/>
                <a:cs typeface="Consolas" pitchFamily="49" charset="0"/>
                <a:sym typeface="+mn-ea"/>
              </a:rPr>
              <a:t>采用回溯法求解，对应的解空间是一个是</a:t>
            </a:r>
            <a:r>
              <a:rPr lang="zh-CN" altLang="zh-CN">
                <a:solidFill>
                  <a:srgbClr val="FF0000"/>
                </a:solidFill>
                <a:latin typeface="Consolas" pitchFamily="49" charset="0"/>
                <a:ea typeface="微软雅黑" charset="-122"/>
                <a:cs typeface="Consolas" pitchFamily="49" charset="0"/>
                <a:sym typeface="+mn-ea"/>
              </a:rPr>
              <a:t>排列树</a:t>
            </a:r>
            <a:r>
              <a:rPr lang="zh-CN" altLang="zh-CN">
                <a:solidFill>
                  <a:srgbClr val="0000FF"/>
                </a:solidFill>
                <a:latin typeface="Consolas" pitchFamily="49" charset="0"/>
                <a:ea typeface="楷体" pitchFamily="49" charset="-122"/>
                <a:cs typeface="Consolas" pitchFamily="49" charset="0"/>
                <a:sym typeface="+mn-ea"/>
              </a:rPr>
              <a:t>，相当于求出</a:t>
            </a:r>
            <a:r>
              <a:rPr lang="en-US" altLang="zh-CN" i="1">
                <a:solidFill>
                  <a:srgbClr val="0000FF"/>
                </a:solidFill>
                <a:latin typeface="Consolas" pitchFamily="49" charset="0"/>
                <a:ea typeface="楷体" pitchFamily="49" charset="-122"/>
                <a:cs typeface="Consolas" pitchFamily="49" charset="0"/>
                <a:sym typeface="+mn-ea"/>
              </a:rPr>
              <a:t>n</a:t>
            </a:r>
            <a:r>
              <a:rPr lang="zh-CN" altLang="zh-CN">
                <a:solidFill>
                  <a:srgbClr val="0000FF"/>
                </a:solidFill>
                <a:latin typeface="Consolas" pitchFamily="49" charset="0"/>
                <a:ea typeface="楷体" pitchFamily="49" charset="-122"/>
                <a:cs typeface="Consolas" pitchFamily="49" charset="0"/>
                <a:sym typeface="+mn-ea"/>
              </a:rPr>
              <a:t>个作业的一种排列使完成时间最少。</a:t>
            </a:r>
            <a:endParaRPr lang="en-US" altLang="zh-CN">
              <a:solidFill>
                <a:srgbClr val="0000FF"/>
              </a:solidFill>
              <a:latin typeface="Consolas" pitchFamily="49" charset="0"/>
              <a:ea typeface="楷体" pitchFamily="49" charset="-122"/>
              <a:cs typeface="Consolas" pitchFamily="49" charset="0"/>
            </a:endParaRPr>
          </a:p>
          <a:p>
            <a:endParaRPr lang="zh-CN" altLang="en-US"/>
          </a:p>
        </p:txBody>
      </p:sp>
      <p:grpSp>
        <p:nvGrpSpPr>
          <p:cNvPr id="6" name="组合 7"/>
          <p:cNvGrpSpPr/>
          <p:nvPr/>
        </p:nvGrpSpPr>
        <p:grpSpPr>
          <a:xfrm>
            <a:off x="544180" y="2997195"/>
            <a:ext cx="3357586" cy="1798092"/>
            <a:chOff x="2428860" y="2714620"/>
            <a:chExt cx="3357586" cy="1798092"/>
          </a:xfrm>
        </p:grpSpPr>
        <p:sp>
          <p:nvSpPr>
            <p:cNvPr id="5" name="TextBox 2"/>
            <p:cNvSpPr txBox="1"/>
            <p:nvPr/>
          </p:nvSpPr>
          <p:spPr>
            <a:xfrm>
              <a:off x="2428860" y="4143380"/>
              <a:ext cx="3357586" cy="369332"/>
            </a:xfrm>
            <a:prstGeom prst="rect">
              <a:avLst/>
            </a:prstGeom>
            <a:noFill/>
          </p:spPr>
          <p:txBody>
            <a:bodyPr wrap="square" rtlCol="0">
              <a:spAutoFit/>
            </a:bodyPr>
            <a:lstStyle/>
            <a:p>
              <a:r>
                <a:rPr lang="en-US" altLang="zh-CN" sz="1800" i="1">
                  <a:solidFill>
                    <a:srgbClr val="0000FF"/>
                  </a:solidFill>
                  <a:latin typeface="Consolas" pitchFamily="49" charset="0"/>
                  <a:ea typeface="方正启体简体" pitchFamily="65" charset="-122"/>
                  <a:cs typeface="Consolas" pitchFamily="49" charset="0"/>
                </a:rPr>
                <a:t>n</a:t>
              </a:r>
              <a:r>
                <a:rPr lang="zh-CN" altLang="zh-CN" sz="1800">
                  <a:solidFill>
                    <a:srgbClr val="0000FF"/>
                  </a:solidFill>
                  <a:latin typeface="Consolas" pitchFamily="49" charset="0"/>
                  <a:ea typeface="方正启体简体" pitchFamily="65" charset="-122"/>
                  <a:cs typeface="Consolas" pitchFamily="49" charset="0"/>
                </a:rPr>
                <a:t>个作业</a:t>
              </a:r>
              <a:r>
                <a:rPr lang="zh-CN" altLang="en-US" sz="1800">
                  <a:solidFill>
                    <a:srgbClr val="0000FF"/>
                  </a:solidFill>
                  <a:latin typeface="Consolas" pitchFamily="49" charset="0"/>
                  <a:ea typeface="方正启体简体" pitchFamily="65" charset="-122"/>
                  <a:cs typeface="Consolas" pitchFamily="49" charset="0"/>
                </a:rPr>
                <a:t>的某个排列</a:t>
              </a:r>
              <a:r>
                <a:rPr lang="en-US" altLang="zh-CN" sz="1800">
                  <a:solidFill>
                    <a:srgbClr val="0000FF"/>
                  </a:solidFill>
                  <a:latin typeface="Consolas" pitchFamily="49" charset="0"/>
                  <a:ea typeface="方正启体简体" pitchFamily="65" charset="-122"/>
                  <a:cs typeface="Consolas" pitchFamily="49" charset="0"/>
                </a:rPr>
                <a:t>:</a:t>
              </a:r>
              <a:r>
                <a:rPr lang="zh-CN" altLang="en-US" sz="1800">
                  <a:solidFill>
                    <a:srgbClr val="FF0000"/>
                  </a:solidFill>
                  <a:latin typeface="Consolas" pitchFamily="49" charset="0"/>
                  <a:ea typeface="方正启体简体" pitchFamily="65" charset="-122"/>
                  <a:cs typeface="Consolas" pitchFamily="49" charset="0"/>
                </a:rPr>
                <a:t>最优解</a:t>
              </a:r>
            </a:p>
          </p:txBody>
        </p:sp>
        <p:sp>
          <p:nvSpPr>
            <p:cNvPr id="7" name="TextBox 3"/>
            <p:cNvSpPr txBox="1"/>
            <p:nvPr/>
          </p:nvSpPr>
          <p:spPr>
            <a:xfrm>
              <a:off x="3857620" y="3429000"/>
              <a:ext cx="1785950" cy="369332"/>
            </a:xfrm>
            <a:prstGeom prst="rect">
              <a:avLst/>
            </a:prstGeom>
            <a:noFill/>
          </p:spPr>
          <p:txBody>
            <a:bodyPr wrap="square" rtlCol="0">
              <a:spAutoFit/>
            </a:bodyPr>
            <a:lstStyle/>
            <a:p>
              <a:r>
                <a:rPr lang="zh-CN" altLang="zh-CN" sz="1800">
                  <a:solidFill>
                    <a:srgbClr val="006600"/>
                  </a:solidFill>
                  <a:latin typeface="仿宋" pitchFamily="49" charset="-122"/>
                  <a:ea typeface="仿宋" pitchFamily="49" charset="-122"/>
                  <a:cs typeface="Consolas" pitchFamily="49" charset="0"/>
                </a:rPr>
                <a:t>完成时间最少</a:t>
              </a:r>
              <a:endParaRPr lang="zh-CN" altLang="en-US" sz="1800">
                <a:solidFill>
                  <a:srgbClr val="006600"/>
                </a:solidFill>
                <a:latin typeface="仿宋" pitchFamily="49" charset="-122"/>
                <a:ea typeface="仿宋" pitchFamily="49" charset="-122"/>
              </a:endParaRPr>
            </a:p>
          </p:txBody>
        </p:sp>
        <p:sp>
          <p:nvSpPr>
            <p:cNvPr id="8" name="下箭头 7"/>
            <p:cNvSpPr/>
            <p:nvPr/>
          </p:nvSpPr>
          <p:spPr>
            <a:xfrm>
              <a:off x="3714744" y="3143248"/>
              <a:ext cx="214314" cy="857256"/>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9" name="TextBox 6"/>
            <p:cNvSpPr txBox="1"/>
            <p:nvPr/>
          </p:nvSpPr>
          <p:spPr>
            <a:xfrm>
              <a:off x="2786050" y="2714620"/>
              <a:ext cx="2428892" cy="369332"/>
            </a:xfrm>
            <a:prstGeom prst="rect">
              <a:avLst/>
            </a:prstGeom>
            <a:noFill/>
          </p:spPr>
          <p:txBody>
            <a:bodyPr wrap="square" rtlCol="0">
              <a:spAutoFit/>
            </a:bodyPr>
            <a:lstStyle/>
            <a:p>
              <a:r>
                <a:rPr lang="en-US" altLang="zh-CN" sz="1800" i="1">
                  <a:solidFill>
                    <a:srgbClr val="0000FF"/>
                  </a:solidFill>
                  <a:latin typeface="Consolas" pitchFamily="49" charset="0"/>
                  <a:ea typeface="方正启体简体" pitchFamily="65" charset="-122"/>
                  <a:cs typeface="Consolas" pitchFamily="49" charset="0"/>
                </a:rPr>
                <a:t>n</a:t>
              </a:r>
              <a:r>
                <a:rPr lang="zh-CN" altLang="zh-CN" sz="1800">
                  <a:solidFill>
                    <a:srgbClr val="0000FF"/>
                  </a:solidFill>
                  <a:latin typeface="Consolas" pitchFamily="49" charset="0"/>
                  <a:ea typeface="方正启体简体" pitchFamily="65" charset="-122"/>
                  <a:cs typeface="Consolas" pitchFamily="49" charset="0"/>
                </a:rPr>
                <a:t>个作业</a:t>
              </a:r>
              <a:r>
                <a:rPr lang="zh-CN" altLang="en-US" sz="1800">
                  <a:solidFill>
                    <a:srgbClr val="0000FF"/>
                  </a:solidFill>
                  <a:latin typeface="Consolas" pitchFamily="49" charset="0"/>
                  <a:ea typeface="方正启体简体" pitchFamily="65" charset="-122"/>
                  <a:cs typeface="Consolas" pitchFamily="49" charset="0"/>
                </a:rPr>
                <a:t>的全排列</a:t>
              </a:r>
            </a:p>
          </p:txBody>
        </p:sp>
      </p:grpSp>
      <p:sp>
        <p:nvSpPr>
          <p:cNvPr id="10" name="椭圆 9"/>
          <p:cNvSpPr/>
          <p:nvPr/>
        </p:nvSpPr>
        <p:spPr>
          <a:xfrm>
            <a:off x="6958639" y="4478976"/>
            <a:ext cx="396000" cy="432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i="1">
                <a:solidFill>
                  <a:srgbClr val="0000FF"/>
                </a:solidFill>
                <a:latin typeface="Consolas" pitchFamily="49" charset="0"/>
                <a:cs typeface="Consolas" pitchFamily="49" charset="0"/>
              </a:rPr>
              <a:t>i</a:t>
            </a:r>
            <a:endParaRPr lang="zh-CN" altLang="en-US" sz="1800" i="1">
              <a:solidFill>
                <a:srgbClr val="0000FF"/>
              </a:solidFill>
              <a:latin typeface="Consolas" pitchFamily="49" charset="0"/>
              <a:cs typeface="Consolas" pitchFamily="49" charset="0"/>
            </a:endParaRPr>
          </a:p>
        </p:txBody>
      </p:sp>
      <p:sp>
        <p:nvSpPr>
          <p:cNvPr id="11" name="TextBox 2"/>
          <p:cNvSpPr txBox="1"/>
          <p:nvPr/>
        </p:nvSpPr>
        <p:spPr>
          <a:xfrm>
            <a:off x="4886937" y="4907604"/>
            <a:ext cx="714380" cy="369332"/>
          </a:xfrm>
          <a:prstGeom prst="rect">
            <a:avLst/>
          </a:prstGeom>
          <a:noFill/>
        </p:spPr>
        <p:txBody>
          <a:bodyPr wrap="square" rtlCol="0">
            <a:spAutoFit/>
          </a:bodyPr>
          <a:lstStyle/>
          <a:p>
            <a:r>
              <a:rPr lang="en-US" altLang="zh-CN" sz="1800" i="1">
                <a:solidFill>
                  <a:srgbClr val="0000FF"/>
                </a:solidFill>
                <a:latin typeface="Consolas" pitchFamily="49" charset="0"/>
                <a:cs typeface="Consolas" pitchFamily="49" charset="0"/>
              </a:rPr>
              <a:t>x</a:t>
            </a:r>
            <a:r>
              <a:rPr lang="en-US" altLang="zh-CN" sz="1800">
                <a:solidFill>
                  <a:srgbClr val="0000FF"/>
                </a:solidFill>
                <a:latin typeface="Consolas" pitchFamily="49" charset="0"/>
                <a:cs typeface="Consolas" pitchFamily="49" charset="0"/>
              </a:rPr>
              <a:t>[</a:t>
            </a:r>
            <a:r>
              <a:rPr lang="en-US" altLang="zh-CN" sz="1800" i="1">
                <a:solidFill>
                  <a:srgbClr val="0000FF"/>
                </a:solidFill>
                <a:latin typeface="Consolas" pitchFamily="49" charset="0"/>
                <a:cs typeface="Consolas" pitchFamily="49" charset="0"/>
              </a:rPr>
              <a:t>i</a:t>
            </a:r>
            <a:r>
              <a:rPr lang="en-US" altLang="zh-CN" sz="1800">
                <a:solidFill>
                  <a:srgbClr val="0000FF"/>
                </a:solidFill>
                <a:latin typeface="Consolas" pitchFamily="49" charset="0"/>
                <a:cs typeface="Consolas" pitchFamily="49" charset="0"/>
              </a:rPr>
              <a:t>]</a:t>
            </a:r>
            <a:endParaRPr lang="zh-CN" altLang="en-US" sz="1800">
              <a:solidFill>
                <a:srgbClr val="0000FF"/>
              </a:solidFill>
              <a:latin typeface="Consolas" pitchFamily="49" charset="0"/>
              <a:cs typeface="Consolas" pitchFamily="49" charset="0"/>
            </a:endParaRPr>
          </a:p>
        </p:txBody>
      </p:sp>
      <p:cxnSp>
        <p:nvCxnSpPr>
          <p:cNvPr id="12" name="直接箭头连接符 11"/>
          <p:cNvCxnSpPr>
            <a:stCxn id="10" idx="3"/>
          </p:cNvCxnSpPr>
          <p:nvPr/>
        </p:nvCxnSpPr>
        <p:spPr>
          <a:xfrm rot="5400000">
            <a:off x="6243310" y="4848661"/>
            <a:ext cx="774273" cy="77237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直接箭头连接符 12"/>
          <p:cNvCxnSpPr>
            <a:stCxn id="10" idx="4"/>
          </p:cNvCxnSpPr>
          <p:nvPr/>
        </p:nvCxnSpPr>
        <p:spPr>
          <a:xfrm rot="5400000">
            <a:off x="6702135" y="5238918"/>
            <a:ext cx="782446" cy="1265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直接箭头连接符 13"/>
          <p:cNvCxnSpPr>
            <a:stCxn id="10" idx="5"/>
          </p:cNvCxnSpPr>
          <p:nvPr/>
        </p:nvCxnSpPr>
        <p:spPr>
          <a:xfrm rot="16200000" flipH="1">
            <a:off x="7347729" y="4796627"/>
            <a:ext cx="702835" cy="80500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5" name="TextBox 6"/>
          <p:cNvSpPr txBox="1"/>
          <p:nvPr/>
        </p:nvSpPr>
        <p:spPr>
          <a:xfrm>
            <a:off x="6315697" y="4895462"/>
            <a:ext cx="357190" cy="369332"/>
          </a:xfrm>
          <a:prstGeom prst="rect">
            <a:avLst/>
          </a:prstGeom>
          <a:noFill/>
        </p:spPr>
        <p:txBody>
          <a:bodyPr wrap="square" rtlCol="0">
            <a:spAutoFit/>
          </a:bodyPr>
          <a:lstStyle/>
          <a:p>
            <a:r>
              <a:rPr lang="en-US" altLang="zh-CN" sz="1800" i="1">
                <a:solidFill>
                  <a:srgbClr val="0000FF"/>
                </a:solidFill>
                <a:latin typeface="Consolas" pitchFamily="49" charset="0"/>
                <a:cs typeface="Consolas" pitchFamily="49" charset="0"/>
              </a:rPr>
              <a:t>j</a:t>
            </a:r>
            <a:endParaRPr lang="zh-CN" altLang="en-US" sz="1800" i="1">
              <a:solidFill>
                <a:srgbClr val="0000FF"/>
              </a:solidFill>
              <a:latin typeface="Consolas" pitchFamily="49" charset="0"/>
              <a:cs typeface="Consolas" pitchFamily="49" charset="0"/>
            </a:endParaRPr>
          </a:p>
        </p:txBody>
      </p:sp>
      <p:sp>
        <p:nvSpPr>
          <p:cNvPr id="16" name="TextBox 9"/>
          <p:cNvSpPr txBox="1"/>
          <p:nvPr/>
        </p:nvSpPr>
        <p:spPr>
          <a:xfrm>
            <a:off x="7244391" y="5050480"/>
            <a:ext cx="500066" cy="523220"/>
          </a:xfrm>
          <a:prstGeom prst="rect">
            <a:avLst/>
          </a:prstGeom>
          <a:noFill/>
        </p:spPr>
        <p:txBody>
          <a:bodyPr wrap="square" rtlCol="0">
            <a:spAutoFit/>
          </a:bodyPr>
          <a:lstStyle/>
          <a:p>
            <a:r>
              <a:rPr lang="en-US" altLang="zh-CN" sz="2800">
                <a:solidFill>
                  <a:srgbClr val="0000FF"/>
                </a:solidFill>
                <a:latin typeface="Consolas" pitchFamily="49" charset="0"/>
                <a:cs typeface="Consolas" pitchFamily="49" charset="0"/>
              </a:rPr>
              <a:t>…</a:t>
            </a:r>
            <a:endParaRPr lang="zh-CN" altLang="en-US" sz="2800">
              <a:solidFill>
                <a:srgbClr val="0000FF"/>
              </a:solidFill>
              <a:latin typeface="Consolas" pitchFamily="49" charset="0"/>
              <a:cs typeface="Consolas" pitchFamily="49" charset="0"/>
            </a:endParaRPr>
          </a:p>
        </p:txBody>
      </p:sp>
      <p:sp>
        <p:nvSpPr>
          <p:cNvPr id="17" name="TextBox 10"/>
          <p:cNvSpPr txBox="1"/>
          <p:nvPr/>
        </p:nvSpPr>
        <p:spPr>
          <a:xfrm>
            <a:off x="3809366" y="3970026"/>
            <a:ext cx="3786214" cy="369332"/>
          </a:xfrm>
          <a:prstGeom prst="rect">
            <a:avLst/>
          </a:prstGeom>
          <a:noFill/>
        </p:spPr>
        <p:txBody>
          <a:bodyPr wrap="square" rtlCol="0">
            <a:spAutoFit/>
          </a:bodyPr>
          <a:lstStyle/>
          <a:p>
            <a:r>
              <a:rPr lang="zh-CN" altLang="en-US" sz="1800">
                <a:solidFill>
                  <a:srgbClr val="0000FF"/>
                </a:solidFill>
                <a:latin typeface="Consolas" pitchFamily="49" charset="0"/>
                <a:ea typeface="仿宋" pitchFamily="49" charset="-122"/>
                <a:cs typeface="Consolas" pitchFamily="49" charset="0"/>
              </a:rPr>
              <a:t>设置第</a:t>
            </a:r>
            <a:r>
              <a:rPr lang="en-US" altLang="zh-CN" sz="1800" i="1">
                <a:solidFill>
                  <a:srgbClr val="0000FF"/>
                </a:solidFill>
                <a:latin typeface="Consolas" pitchFamily="49" charset="0"/>
                <a:ea typeface="仿宋" pitchFamily="49" charset="-122"/>
                <a:cs typeface="Consolas" pitchFamily="49" charset="0"/>
              </a:rPr>
              <a:t>i</a:t>
            </a:r>
            <a:r>
              <a:rPr lang="zh-CN" altLang="en-US" sz="1800">
                <a:solidFill>
                  <a:srgbClr val="0000FF"/>
                </a:solidFill>
                <a:latin typeface="Consolas" pitchFamily="49" charset="0"/>
                <a:ea typeface="仿宋" pitchFamily="49" charset="-122"/>
                <a:cs typeface="Consolas" pitchFamily="49" charset="0"/>
              </a:rPr>
              <a:t>步执行的作业</a:t>
            </a:r>
            <a:r>
              <a:rPr lang="en-US" altLang="zh-CN" sz="1800" i="1">
                <a:solidFill>
                  <a:srgbClr val="0000FF"/>
                </a:solidFill>
                <a:latin typeface="Consolas" pitchFamily="49" charset="0"/>
                <a:ea typeface="仿宋" pitchFamily="49" charset="-122"/>
                <a:cs typeface="Consolas" pitchFamily="49" charset="0"/>
              </a:rPr>
              <a:t>j</a:t>
            </a:r>
            <a:r>
              <a:rPr lang="zh-CN" altLang="en-US"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x</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endParaRPr lang="zh-CN" altLang="en-US" sz="1800">
              <a:latin typeface="Consolas" pitchFamily="49" charset="0"/>
              <a:ea typeface="仿宋" pitchFamily="49" charset="-122"/>
              <a:cs typeface="Consolas" pitchFamily="49" charset="0"/>
            </a:endParaRPr>
          </a:p>
        </p:txBody>
      </p:sp>
      <p:cxnSp>
        <p:nvCxnSpPr>
          <p:cNvPr id="18" name="直接连接符 17"/>
          <p:cNvCxnSpPr/>
          <p:nvPr/>
        </p:nvCxnSpPr>
        <p:spPr>
          <a:xfrm rot="5400000">
            <a:off x="6992953" y="4298976"/>
            <a:ext cx="360000" cy="0"/>
          </a:xfrm>
          <a:prstGeom prst="line">
            <a:avLst/>
          </a:prstGeom>
        </p:spPr>
        <p:style>
          <a:lnRef idx="2">
            <a:schemeClr val="dk1"/>
          </a:lnRef>
          <a:fillRef idx="0">
            <a:schemeClr val="dk1"/>
          </a:fillRef>
          <a:effectRef idx="1">
            <a:schemeClr val="dk1"/>
          </a:effectRef>
          <a:fontRef idx="minor">
            <a:schemeClr val="tx1"/>
          </a:fontRef>
        </p:style>
      </p:cxnSp>
      <p:sp>
        <p:nvSpPr>
          <p:cNvPr id="19" name="椭圆 18"/>
          <p:cNvSpPr/>
          <p:nvPr/>
        </p:nvSpPr>
        <p:spPr>
          <a:xfrm>
            <a:off x="7257969" y="2621588"/>
            <a:ext cx="396000" cy="432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cxnSp>
        <p:nvCxnSpPr>
          <p:cNvPr id="20" name="直接连接符 19"/>
          <p:cNvCxnSpPr>
            <a:stCxn id="19" idx="3"/>
          </p:cNvCxnSpPr>
          <p:nvPr/>
        </p:nvCxnSpPr>
        <p:spPr>
          <a:xfrm rot="5400000">
            <a:off x="6938829" y="3199274"/>
            <a:ext cx="586085" cy="168182"/>
          </a:xfrm>
          <a:prstGeom prst="line">
            <a:avLst/>
          </a:prstGeom>
        </p:spPr>
        <p:style>
          <a:lnRef idx="2">
            <a:schemeClr val="dk1"/>
          </a:lnRef>
          <a:fillRef idx="0">
            <a:schemeClr val="dk1"/>
          </a:fillRef>
          <a:effectRef idx="1">
            <a:schemeClr val="dk1"/>
          </a:effectRef>
          <a:fontRef idx="minor">
            <a:schemeClr val="tx1"/>
          </a:fontRef>
        </p:style>
      </p:cxnSp>
      <p:sp>
        <p:nvSpPr>
          <p:cNvPr id="21" name="TextBox 15"/>
          <p:cNvSpPr txBox="1"/>
          <p:nvPr/>
        </p:nvSpPr>
        <p:spPr>
          <a:xfrm>
            <a:off x="6887201" y="3550282"/>
            <a:ext cx="642942" cy="461665"/>
          </a:xfrm>
          <a:prstGeom prst="rect">
            <a:avLst/>
          </a:prstGeom>
          <a:noFill/>
        </p:spPr>
        <p:txBody>
          <a:bodyPr wrap="square" rtlCol="0">
            <a:spAutoFit/>
          </a:bodyPr>
          <a:lstStyle/>
          <a:p>
            <a:r>
              <a:rPr lang="en-US" altLang="zh-CN">
                <a:solidFill>
                  <a:srgbClr val="0000FF"/>
                </a:solidFill>
              </a:rPr>
              <a:t>…</a:t>
            </a:r>
            <a:endParaRPr lang="zh-CN" altLang="en-US">
              <a:solidFill>
                <a:srgbClr val="0000FF"/>
              </a:solidFill>
            </a:endParaRPr>
          </a:p>
        </p:txBody>
      </p:sp>
      <p:sp>
        <p:nvSpPr>
          <p:cNvPr id="22" name="TextBox 16"/>
          <p:cNvSpPr txBox="1"/>
          <p:nvPr/>
        </p:nvSpPr>
        <p:spPr>
          <a:xfrm>
            <a:off x="6887201" y="3121654"/>
            <a:ext cx="285752" cy="369332"/>
          </a:xfrm>
          <a:prstGeom prst="rect">
            <a:avLst/>
          </a:prstGeom>
          <a:noFill/>
        </p:spPr>
        <p:txBody>
          <a:bodyPr wrap="square" rtlCol="0">
            <a:spAutoFit/>
          </a:bodyPr>
          <a:lstStyle/>
          <a:p>
            <a:r>
              <a:rPr lang="en-US" altLang="zh-CN" sz="1800" i="1">
                <a:solidFill>
                  <a:srgbClr val="0000FF"/>
                </a:solidFill>
                <a:latin typeface="Consolas" pitchFamily="49" charset="0"/>
                <a:cs typeface="Consolas" pitchFamily="49" charset="0"/>
              </a:rPr>
              <a:t>j</a:t>
            </a:r>
            <a:endParaRPr lang="zh-CN" altLang="en-US" sz="1800">
              <a:solidFill>
                <a:srgbClr val="0000FF"/>
              </a:solidFill>
              <a:latin typeface="Consolas" pitchFamily="49" charset="0"/>
              <a:cs typeface="Consolas" pitchFamily="49" charset="0"/>
            </a:endParaRPr>
          </a:p>
        </p:txBody>
      </p:sp>
      <p:sp>
        <p:nvSpPr>
          <p:cNvPr id="23" name="TextBox 19"/>
          <p:cNvSpPr txBox="1"/>
          <p:nvPr/>
        </p:nvSpPr>
        <p:spPr>
          <a:xfrm>
            <a:off x="4886937" y="3335968"/>
            <a:ext cx="785818" cy="369332"/>
          </a:xfrm>
          <a:prstGeom prst="rect">
            <a:avLst/>
          </a:prstGeom>
          <a:noFill/>
        </p:spPr>
        <p:txBody>
          <a:bodyPr wrap="square" rtlCol="0">
            <a:spAutoFit/>
          </a:bodyPr>
          <a:lstStyle/>
          <a:p>
            <a:r>
              <a:rPr lang="en-US" altLang="zh-CN" sz="1800" i="1">
                <a:solidFill>
                  <a:srgbClr val="0000FF"/>
                </a:solidFill>
                <a:latin typeface="Consolas" pitchFamily="49" charset="0"/>
                <a:cs typeface="Consolas" pitchFamily="49" charset="0"/>
              </a:rPr>
              <a:t>x</a:t>
            </a:r>
            <a:r>
              <a:rPr lang="en-US" altLang="zh-CN" sz="18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cxnSp>
        <p:nvCxnSpPr>
          <p:cNvPr id="24" name="直接连接符 23"/>
          <p:cNvCxnSpPr>
            <a:stCxn id="19" idx="5"/>
          </p:cNvCxnSpPr>
          <p:nvPr/>
        </p:nvCxnSpPr>
        <p:spPr>
          <a:xfrm rot="16200000" flipH="1">
            <a:off x="7416431" y="3169867"/>
            <a:ext cx="559959" cy="200869"/>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排列的解</a:t>
            </a:r>
          </a:p>
        </p:txBody>
      </p:sp>
      <p:sp>
        <p:nvSpPr>
          <p:cNvPr id="3" name="内容占位符 2"/>
          <p:cNvSpPr>
            <a:spLocks noGrp="1"/>
          </p:cNvSpPr>
          <p:nvPr>
            <p:ph idx="1"/>
          </p:nvPr>
        </p:nvSpPr>
        <p:spPr/>
        <p:txBody>
          <a:bodyPr/>
          <a:lstStyle/>
          <a:p>
            <a:pPr algn="l" latinLnBrk="0">
              <a:lnSpc>
                <a:spcPct val="100000"/>
              </a:lnSpc>
              <a:spcBef>
                <a:spcPct val="20000"/>
              </a:spcBef>
              <a:buClrTx/>
              <a:buSzTx/>
              <a:buFontTx/>
            </a:pPr>
            <a:r>
              <a:rPr lang="zh-CN" altLang="en-US" sz="2500">
                <a:sym typeface="+mn-ea"/>
              </a:rPr>
              <a:t>f1数组：f1[i]表示第i步执行的作业x[i]在M1上执行完的总时间（含前面作业的执行时间）</a:t>
            </a:r>
            <a:endParaRPr lang="zh-CN" altLang="en-US" sz="2500"/>
          </a:p>
          <a:p>
            <a:pPr algn="l" latinLnBrk="0">
              <a:lnSpc>
                <a:spcPct val="100000"/>
              </a:lnSpc>
              <a:spcBef>
                <a:spcPct val="20000"/>
              </a:spcBef>
              <a:buClrTx/>
              <a:buSzTx/>
              <a:buFontTx/>
            </a:pPr>
            <a:r>
              <a:rPr lang="zh-CN" altLang="en-US" sz="2500">
                <a:sym typeface="+mn-ea"/>
              </a:rPr>
              <a:t>f2数组： f2[i]表示第i步执行的作业x[i]在M2上执行完的总时间（含前面作业的执行时间）</a:t>
            </a:r>
            <a:endParaRPr lang="zh-CN" altLang="en-US" sz="2500"/>
          </a:p>
          <a:p>
            <a:pPr algn="l">
              <a:lnSpc>
                <a:spcPct val="100000"/>
              </a:lnSpc>
              <a:buClrTx/>
              <a:buSzTx/>
              <a:buFontTx/>
            </a:pPr>
            <a:r>
              <a:rPr lang="zh-CN" altLang="en-US" sz="2500">
                <a:sym typeface="+mn-ea"/>
              </a:rPr>
              <a:t> 由于一个作业总是先在M1上执行后在M2执行，所以f2[n]就是执行全部作业的总时间。</a:t>
            </a:r>
            <a:endParaRPr lang="zh-CN" altLang="en-US" sz="2500"/>
          </a:p>
        </p:txBody>
      </p:sp>
      <p:grpSp>
        <p:nvGrpSpPr>
          <p:cNvPr id="5" name="组合 7"/>
          <p:cNvGrpSpPr/>
          <p:nvPr/>
        </p:nvGrpSpPr>
        <p:grpSpPr>
          <a:xfrm>
            <a:off x="1691932" y="4221148"/>
            <a:ext cx="5000660" cy="1155150"/>
            <a:chOff x="928662" y="1357298"/>
            <a:chExt cx="5000660" cy="1155150"/>
          </a:xfrm>
        </p:grpSpPr>
        <p:sp>
          <p:nvSpPr>
            <p:cNvPr id="6" name="TextBox 3"/>
            <p:cNvSpPr txBox="1"/>
            <p:nvPr/>
          </p:nvSpPr>
          <p:spPr>
            <a:xfrm>
              <a:off x="928662" y="1357298"/>
              <a:ext cx="5000660" cy="400110"/>
            </a:xfrm>
            <a:prstGeom prst="rect">
              <a:avLst/>
            </a:prstGeom>
            <a:noFill/>
          </p:spPr>
          <p:txBody>
            <a:bodyPr wrap="square" rtlCol="0">
              <a:spAutoFit/>
            </a:bodyPr>
            <a:lstStyle/>
            <a:p>
              <a:r>
                <a:rPr lang="en-US" altLang="zh-CN" sz="2000" i="1">
                  <a:solidFill>
                    <a:srgbClr val="0000FF"/>
                  </a:solidFill>
                  <a:latin typeface="Consolas" pitchFamily="49" charset="0"/>
                  <a:ea typeface="楷体" pitchFamily="49" charset="-122"/>
                  <a:cs typeface="Consolas" pitchFamily="49" charset="0"/>
                </a:rPr>
                <a:t>x</a:t>
              </a:r>
              <a:r>
                <a:rPr lang="en-US" altLang="zh-CN" sz="2000">
                  <a:solidFill>
                    <a:srgbClr val="0000FF"/>
                  </a:solidFill>
                  <a:latin typeface="Consolas" pitchFamily="49" charset="0"/>
                  <a:ea typeface="楷体" pitchFamily="49" charset="-122"/>
                  <a:cs typeface="Consolas" pitchFamily="49" charset="0"/>
                </a:rPr>
                <a:t>={ </a:t>
              </a:r>
              <a:r>
                <a:rPr lang="en-US" altLang="zh-CN" sz="2000" i="1">
                  <a:solidFill>
                    <a:srgbClr val="0000FF"/>
                  </a:solidFill>
                  <a:latin typeface="Consolas" pitchFamily="49" charset="0"/>
                  <a:ea typeface="楷体" pitchFamily="49" charset="-122"/>
                  <a:cs typeface="Consolas" pitchFamily="49" charset="0"/>
                </a:rPr>
                <a:t>x</a:t>
              </a:r>
              <a:r>
                <a:rPr lang="en-US" altLang="zh-CN" sz="2000">
                  <a:solidFill>
                    <a:srgbClr val="0000FF"/>
                  </a:solidFill>
                  <a:latin typeface="Consolas" pitchFamily="49" charset="0"/>
                  <a:ea typeface="楷体" pitchFamily="49" charset="-122"/>
                  <a:cs typeface="Consolas" pitchFamily="49" charset="0"/>
                </a:rPr>
                <a:t>[1], </a:t>
              </a:r>
              <a:r>
                <a:rPr lang="en-US" altLang="zh-CN" sz="2000" i="1">
                  <a:solidFill>
                    <a:srgbClr val="0000FF"/>
                  </a:solidFill>
                  <a:latin typeface="Consolas" pitchFamily="49" charset="0"/>
                  <a:ea typeface="楷体" pitchFamily="49" charset="-122"/>
                  <a:cs typeface="Consolas" pitchFamily="49" charset="0"/>
                </a:rPr>
                <a:t>x</a:t>
              </a:r>
              <a:r>
                <a:rPr lang="en-US" altLang="zh-CN" sz="2000">
                  <a:solidFill>
                    <a:srgbClr val="0000FF"/>
                  </a:solidFill>
                  <a:latin typeface="Consolas" pitchFamily="49" charset="0"/>
                  <a:ea typeface="楷体" pitchFamily="49" charset="-122"/>
                  <a:cs typeface="Consolas" pitchFamily="49" charset="0"/>
                </a:rPr>
                <a:t>[2], …</a:t>
              </a:r>
              <a:r>
                <a:rPr lang="en-US" altLang="zh-CN" sz="2000" i="1">
                  <a:solidFill>
                    <a:srgbClr val="0000FF"/>
                  </a:solidFill>
                  <a:latin typeface="Consolas" pitchFamily="49" charset="0"/>
                  <a:ea typeface="楷体" pitchFamily="49" charset="-122"/>
                  <a:cs typeface="Consolas" pitchFamily="49" charset="0"/>
                </a:rPr>
                <a:t> x</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 … , </a:t>
              </a:r>
              <a:r>
                <a:rPr lang="en-US" altLang="zh-CN" sz="2000" i="1">
                  <a:solidFill>
                    <a:srgbClr val="0000FF"/>
                  </a:solidFill>
                  <a:latin typeface="Consolas" pitchFamily="49" charset="0"/>
                  <a:ea typeface="楷体" pitchFamily="49" charset="-122"/>
                  <a:cs typeface="Consolas" pitchFamily="49" charset="0"/>
                </a:rPr>
                <a:t>x</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 }</a:t>
              </a:r>
              <a:endParaRPr lang="zh-CN" altLang="en-US" sz="2000"/>
            </a:p>
          </p:txBody>
        </p:sp>
        <p:cxnSp>
          <p:nvCxnSpPr>
            <p:cNvPr id="7" name="直接箭头连接符 6"/>
            <p:cNvCxnSpPr/>
            <p:nvPr/>
          </p:nvCxnSpPr>
          <p:spPr>
            <a:xfrm rot="5400000" flipH="1" flipV="1">
              <a:off x="3607587" y="1893083"/>
              <a:ext cx="35719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6"/>
            <p:cNvSpPr txBox="1"/>
            <p:nvPr/>
          </p:nvSpPr>
          <p:spPr>
            <a:xfrm>
              <a:off x="2714612" y="2143116"/>
              <a:ext cx="2357454" cy="369332"/>
            </a:xfrm>
            <a:prstGeom prst="rect">
              <a:avLst/>
            </a:prstGeom>
            <a:noFill/>
          </p:spPr>
          <p:txBody>
            <a:bodyPr wrap="square" rtlCol="0">
              <a:spAutoFit/>
            </a:bodyPr>
            <a:lstStyle/>
            <a:p>
              <a:r>
                <a:rPr lang="zh-CN" altLang="en-US" sz="1800">
                  <a:solidFill>
                    <a:srgbClr val="0000FF"/>
                  </a:solidFill>
                  <a:latin typeface="Consolas" pitchFamily="49" charset="0"/>
                  <a:ea typeface="仿宋" pitchFamily="49" charset="-122"/>
                  <a:cs typeface="Consolas" pitchFamily="49" charset="0"/>
                </a:rPr>
                <a:t>第</a:t>
              </a:r>
              <a:r>
                <a:rPr lang="en-US" altLang="zh-CN" sz="1800" i="1">
                  <a:solidFill>
                    <a:srgbClr val="0000FF"/>
                  </a:solidFill>
                  <a:latin typeface="Consolas" pitchFamily="49" charset="0"/>
                  <a:ea typeface="仿宋" pitchFamily="49" charset="-122"/>
                  <a:cs typeface="Consolas" pitchFamily="49" charset="0"/>
                </a:rPr>
                <a:t>i</a:t>
              </a:r>
              <a:r>
                <a:rPr lang="zh-CN" altLang="en-US" sz="1800">
                  <a:solidFill>
                    <a:srgbClr val="0000FF"/>
                  </a:solidFill>
                  <a:latin typeface="Consolas" pitchFamily="49" charset="0"/>
                  <a:ea typeface="仿宋" pitchFamily="49" charset="-122"/>
                  <a:cs typeface="Consolas" pitchFamily="49" charset="0"/>
                </a:rPr>
                <a:t>步执行的作业</a:t>
              </a:r>
              <a:endParaRPr lang="zh-CN" altLang="en-US" sz="1800">
                <a:latin typeface="Consolas" pitchFamily="49" charset="0"/>
                <a:ea typeface="仿宋" pitchFamily="49" charset="-122"/>
                <a:cs typeface="Consolas"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142852"/>
            <a:ext cx="3714776" cy="400110"/>
          </a:xfrm>
          <a:prstGeom prst="rect">
            <a:avLst/>
          </a:prstGeom>
          <a:solidFill>
            <a:schemeClr val="accent6">
              <a:lumMod val="20000"/>
              <a:lumOff val="80000"/>
            </a:schemeClr>
          </a:solidFill>
        </p:spPr>
        <p:txBody>
          <a:bodyPr wrap="square" rtlCol="0">
            <a:spAutoFit/>
          </a:bodyPr>
          <a:lstStyle/>
          <a:p>
            <a:r>
              <a:rPr lang="zh-CN" altLang="zh-CN" sz="2000">
                <a:solidFill>
                  <a:srgbClr val="0000FF"/>
                </a:solidFill>
                <a:latin typeface="Consolas" pitchFamily="49" charset="0"/>
                <a:ea typeface="楷体" pitchFamily="49" charset="-122"/>
                <a:cs typeface="Consolas" pitchFamily="49" charset="0"/>
              </a:rPr>
              <a:t>一个示例，假设有</a:t>
            </a:r>
            <a:r>
              <a:rPr lang="en-US" altLang="zh-CN" sz="2000">
                <a:solidFill>
                  <a:srgbClr val="0000FF"/>
                </a:solidFill>
                <a:latin typeface="Consolas" pitchFamily="49" charset="0"/>
                <a:ea typeface="楷体" pitchFamily="49" charset="-122"/>
                <a:cs typeface="Consolas" pitchFamily="49" charset="0"/>
              </a:rPr>
              <a:t>3</a:t>
            </a:r>
            <a:r>
              <a:rPr lang="zh-CN" altLang="zh-CN" sz="2000">
                <a:solidFill>
                  <a:srgbClr val="0000FF"/>
                </a:solidFill>
                <a:latin typeface="Consolas" pitchFamily="49" charset="0"/>
                <a:ea typeface="楷体" pitchFamily="49" charset="-122"/>
                <a:cs typeface="Consolas" pitchFamily="49" charset="0"/>
              </a:rPr>
              <a:t>个作业</a:t>
            </a:r>
            <a:r>
              <a:rPr lang="zh-CN" altLang="en-US" sz="2000">
                <a:solidFill>
                  <a:srgbClr val="0000FF"/>
                </a:solidFill>
                <a:latin typeface="Consolas" pitchFamily="49" charset="0"/>
                <a:ea typeface="楷体" pitchFamily="49" charset="-122"/>
                <a:cs typeface="Consolas" pitchFamily="49" charset="0"/>
              </a:rPr>
              <a:t>：</a:t>
            </a:r>
          </a:p>
        </p:txBody>
      </p:sp>
      <p:graphicFrame>
        <p:nvGraphicFramePr>
          <p:cNvPr id="3" name="表格 2"/>
          <p:cNvGraphicFramePr>
            <a:graphicFrameLocks noGrp="1"/>
          </p:cNvGraphicFramePr>
          <p:nvPr/>
        </p:nvGraphicFramePr>
        <p:xfrm>
          <a:off x="714348" y="714356"/>
          <a:ext cx="2721296" cy="1116000"/>
        </p:xfrm>
        <a:graphic>
          <a:graphicData uri="http://schemas.openxmlformats.org/drawingml/2006/table">
            <a:tbl>
              <a:tblPr>
                <a:tableStyleId>{775DCB02-9BB8-47FD-8907-85C794F793BA}</a:tableStyleId>
              </a:tblPr>
              <a:tblGrid>
                <a:gridCol w="1065866">
                  <a:extLst>
                    <a:ext uri="{9D8B030D-6E8A-4147-A177-3AD203B41FA5}">
                      <a16:colId xmlns:a16="http://schemas.microsoft.com/office/drawing/2014/main" val="20000"/>
                    </a:ext>
                  </a:extLst>
                </a:gridCol>
                <a:gridCol w="551810">
                  <a:extLst>
                    <a:ext uri="{9D8B030D-6E8A-4147-A177-3AD203B41FA5}">
                      <a16:colId xmlns:a16="http://schemas.microsoft.com/office/drawing/2014/main" val="20001"/>
                    </a:ext>
                  </a:extLst>
                </a:gridCol>
                <a:gridCol w="551810">
                  <a:extLst>
                    <a:ext uri="{9D8B030D-6E8A-4147-A177-3AD203B41FA5}">
                      <a16:colId xmlns:a16="http://schemas.microsoft.com/office/drawing/2014/main" val="20002"/>
                    </a:ext>
                  </a:extLst>
                </a:gridCol>
                <a:gridCol w="551810">
                  <a:extLst>
                    <a:ext uri="{9D8B030D-6E8A-4147-A177-3AD203B41FA5}">
                      <a16:colId xmlns:a16="http://schemas.microsoft.com/office/drawing/2014/main" val="20003"/>
                    </a:ext>
                  </a:extLst>
                </a:gridCol>
              </a:tblGrid>
              <a:tr h="372000">
                <a:tc>
                  <a:txBody>
                    <a:bodyPr/>
                    <a:lstStyle/>
                    <a:p>
                      <a:pPr indent="0" algn="ctr">
                        <a:lnSpc>
                          <a:spcPts val="2600"/>
                        </a:lnSpc>
                        <a:spcAft>
                          <a:spcPts val="0"/>
                        </a:spcAft>
                      </a:pPr>
                      <a:r>
                        <a:rPr lang="zh-CN" sz="1600" b="1" kern="100">
                          <a:solidFill>
                            <a:srgbClr val="C00000"/>
                          </a:solidFill>
                          <a:latin typeface="Consolas" pitchFamily="49" charset="0"/>
                          <a:cs typeface="Consolas" pitchFamily="49" charset="0"/>
                        </a:rPr>
                        <a:t>作业编号</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1</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3</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0"/>
                  </a:ext>
                </a:extLst>
              </a:tr>
              <a:tr h="372000">
                <a:tc>
                  <a:txBody>
                    <a:bodyPr/>
                    <a:lstStyle/>
                    <a:p>
                      <a:pPr indent="0" algn="ctr">
                        <a:lnSpc>
                          <a:spcPts val="2600"/>
                        </a:lnSpc>
                        <a:spcAft>
                          <a:spcPts val="0"/>
                        </a:spcAft>
                      </a:pPr>
                      <a:r>
                        <a:rPr lang="en-US" sz="1600" b="1" kern="100">
                          <a:solidFill>
                            <a:srgbClr val="C00000"/>
                          </a:solidFill>
                          <a:latin typeface="Consolas" pitchFamily="49" charset="0"/>
                          <a:cs typeface="Consolas" pitchFamily="49" charset="0"/>
                        </a:rPr>
                        <a:t>M</a:t>
                      </a:r>
                      <a:r>
                        <a:rPr lang="en-US" sz="1600" b="1" kern="100" baseline="-25000">
                          <a:solidFill>
                            <a:srgbClr val="C00000"/>
                          </a:solidFill>
                          <a:latin typeface="Consolas" pitchFamily="49" charset="0"/>
                          <a:cs typeface="Consolas" pitchFamily="49" charset="0"/>
                        </a:rPr>
                        <a:t>1</a:t>
                      </a:r>
                      <a:r>
                        <a:rPr lang="zh-CN" sz="1600" b="1" kern="100">
                          <a:solidFill>
                            <a:srgbClr val="C00000"/>
                          </a:solidFill>
                          <a:latin typeface="Consolas" pitchFamily="49" charset="0"/>
                          <a:cs typeface="Consolas" pitchFamily="49" charset="0"/>
                        </a:rPr>
                        <a:t>时间</a:t>
                      </a:r>
                      <a:r>
                        <a:rPr lang="en-US" sz="1600" b="1" i="1" kern="100">
                          <a:solidFill>
                            <a:srgbClr val="C00000"/>
                          </a:solidFill>
                          <a:latin typeface="Consolas" pitchFamily="49" charset="0"/>
                          <a:cs typeface="Consolas" pitchFamily="49" charset="0"/>
                        </a:rPr>
                        <a:t>a</a:t>
                      </a:r>
                      <a:endParaRPr lang="zh-CN" sz="1600" b="1" i="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3</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1"/>
                  </a:ext>
                </a:extLst>
              </a:tr>
              <a:tr h="372000">
                <a:tc>
                  <a:txBody>
                    <a:bodyPr/>
                    <a:lstStyle/>
                    <a:p>
                      <a:pPr indent="0" algn="ctr">
                        <a:lnSpc>
                          <a:spcPts val="2600"/>
                        </a:lnSpc>
                        <a:spcAft>
                          <a:spcPts val="0"/>
                        </a:spcAft>
                      </a:pPr>
                      <a:r>
                        <a:rPr lang="en-US" sz="1600" b="1" kern="100">
                          <a:solidFill>
                            <a:srgbClr val="C00000"/>
                          </a:solidFill>
                          <a:latin typeface="Consolas" pitchFamily="49" charset="0"/>
                          <a:cs typeface="Consolas" pitchFamily="49" charset="0"/>
                        </a:rPr>
                        <a:t>M</a:t>
                      </a:r>
                      <a:r>
                        <a:rPr lang="en-US" sz="1600" b="1" kern="100" baseline="-25000">
                          <a:solidFill>
                            <a:srgbClr val="C00000"/>
                          </a:solidFill>
                          <a:latin typeface="Consolas" pitchFamily="49" charset="0"/>
                          <a:cs typeface="Consolas" pitchFamily="49" charset="0"/>
                        </a:rPr>
                        <a:t>2</a:t>
                      </a:r>
                      <a:r>
                        <a:rPr lang="zh-CN" sz="1600" b="1" kern="100">
                          <a:solidFill>
                            <a:srgbClr val="C00000"/>
                          </a:solidFill>
                          <a:latin typeface="Consolas" pitchFamily="49" charset="0"/>
                          <a:cs typeface="Consolas" pitchFamily="49" charset="0"/>
                        </a:rPr>
                        <a:t>时间</a:t>
                      </a:r>
                      <a:r>
                        <a:rPr lang="en-US" sz="1600" b="1" i="1" kern="100">
                          <a:solidFill>
                            <a:srgbClr val="C00000"/>
                          </a:solidFill>
                          <a:latin typeface="Consolas" pitchFamily="49" charset="0"/>
                          <a:cs typeface="Consolas" pitchFamily="49" charset="0"/>
                        </a:rPr>
                        <a:t>b</a:t>
                      </a:r>
                      <a:endParaRPr lang="zh-CN" sz="1600" b="1" i="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1</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1</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3</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2"/>
                  </a:ext>
                </a:extLst>
              </a:tr>
            </a:tbl>
          </a:graphicData>
        </a:graphic>
      </p:graphicFrame>
      <p:grpSp>
        <p:nvGrpSpPr>
          <p:cNvPr id="4" name="组合 31"/>
          <p:cNvGrpSpPr/>
          <p:nvPr/>
        </p:nvGrpSpPr>
        <p:grpSpPr>
          <a:xfrm>
            <a:off x="940694" y="3141660"/>
            <a:ext cx="2156160" cy="1214446"/>
            <a:chOff x="940694" y="3427412"/>
            <a:chExt cx="2156160" cy="1214446"/>
          </a:xfrm>
        </p:grpSpPr>
        <p:sp>
          <p:nvSpPr>
            <p:cNvPr id="10" name="矩形 9"/>
            <p:cNvSpPr/>
            <p:nvPr/>
          </p:nvSpPr>
          <p:spPr>
            <a:xfrm>
              <a:off x="940694" y="3427412"/>
              <a:ext cx="144000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华文中宋" pitchFamily="2" charset="-122"/>
                  <a:ea typeface="华文中宋" pitchFamily="2" charset="-122"/>
                  <a:cs typeface="Consolas" pitchFamily="49" charset="0"/>
                </a:rPr>
                <a:t>作业</a:t>
              </a:r>
              <a:r>
                <a:rPr lang="en-US" altLang="zh-CN" sz="1600">
                  <a:solidFill>
                    <a:srgbClr val="C00000"/>
                  </a:solidFill>
                  <a:latin typeface="华文中宋" pitchFamily="2" charset="-122"/>
                  <a:ea typeface="华文中宋" pitchFamily="2" charset="-122"/>
                  <a:cs typeface="Consolas" pitchFamily="49" charset="0"/>
                </a:rPr>
                <a:t>1</a:t>
              </a:r>
              <a:endParaRPr lang="zh-CN" altLang="en-US" sz="1600">
                <a:solidFill>
                  <a:srgbClr val="C00000"/>
                </a:solidFill>
                <a:latin typeface="华文中宋" pitchFamily="2" charset="-122"/>
                <a:ea typeface="华文中宋" pitchFamily="2" charset="-122"/>
                <a:cs typeface="Consolas" pitchFamily="49" charset="0"/>
              </a:endParaRPr>
            </a:p>
          </p:txBody>
        </p:sp>
        <p:sp>
          <p:nvSpPr>
            <p:cNvPr id="11" name="矩形 10"/>
            <p:cNvSpPr/>
            <p:nvPr/>
          </p:nvSpPr>
          <p:spPr>
            <a:xfrm>
              <a:off x="2376854" y="4141792"/>
              <a:ext cx="72000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华文中宋" pitchFamily="2" charset="-122"/>
                  <a:ea typeface="华文中宋" pitchFamily="2" charset="-122"/>
                  <a:cs typeface="Consolas" pitchFamily="49" charset="0"/>
                </a:rPr>
                <a:t>作业</a:t>
              </a:r>
              <a:r>
                <a:rPr lang="en-US" altLang="zh-CN" sz="1600">
                  <a:solidFill>
                    <a:srgbClr val="C00000"/>
                  </a:solidFill>
                  <a:latin typeface="华文中宋" pitchFamily="2" charset="-122"/>
                  <a:ea typeface="华文中宋" pitchFamily="2" charset="-122"/>
                  <a:cs typeface="Consolas" pitchFamily="49" charset="0"/>
                </a:rPr>
                <a:t>1</a:t>
              </a:r>
              <a:endParaRPr lang="zh-CN" altLang="en-US" sz="1600">
                <a:solidFill>
                  <a:srgbClr val="C00000"/>
                </a:solidFill>
                <a:latin typeface="华文中宋" pitchFamily="2" charset="-122"/>
                <a:ea typeface="华文中宋" pitchFamily="2" charset="-122"/>
                <a:cs typeface="Consolas" pitchFamily="49" charset="0"/>
              </a:endParaRPr>
            </a:p>
          </p:txBody>
        </p:sp>
      </p:grpSp>
      <p:grpSp>
        <p:nvGrpSpPr>
          <p:cNvPr id="6" name="组合 30"/>
          <p:cNvGrpSpPr/>
          <p:nvPr/>
        </p:nvGrpSpPr>
        <p:grpSpPr>
          <a:xfrm>
            <a:off x="428596" y="2071678"/>
            <a:ext cx="8420066" cy="2571768"/>
            <a:chOff x="428596" y="2357430"/>
            <a:chExt cx="8420066" cy="2571768"/>
          </a:xfrm>
        </p:grpSpPr>
        <p:cxnSp>
          <p:nvCxnSpPr>
            <p:cNvPr id="5" name="直接箭头连接符 4"/>
            <p:cNvCxnSpPr/>
            <p:nvPr/>
          </p:nvCxnSpPr>
          <p:spPr>
            <a:xfrm>
              <a:off x="928662" y="4927610"/>
              <a:ext cx="7920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直接箭头连接符 6"/>
            <p:cNvCxnSpPr/>
            <p:nvPr/>
          </p:nvCxnSpPr>
          <p:spPr>
            <a:xfrm rot="5400000" flipH="1" flipV="1">
              <a:off x="-32" y="3998916"/>
              <a:ext cx="1857388"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8" name="TextBox 7"/>
            <p:cNvSpPr txBox="1"/>
            <p:nvPr/>
          </p:nvSpPr>
          <p:spPr>
            <a:xfrm>
              <a:off x="571472" y="3498850"/>
              <a:ext cx="500066" cy="307777"/>
            </a:xfrm>
            <a:prstGeom prst="rect">
              <a:avLst/>
            </a:prstGeom>
            <a:noFill/>
          </p:spPr>
          <p:txBody>
            <a:bodyPr wrap="square" lIns="0" tIns="0" rIns="0" bIns="0" rtlCol="0">
              <a:spAutoFit/>
            </a:bodyPr>
            <a:lstStyle/>
            <a:p>
              <a:r>
                <a:rPr lang="en-US" altLang="zh-CN" sz="2000">
                  <a:solidFill>
                    <a:srgbClr val="0000FF"/>
                  </a:solidFill>
                  <a:latin typeface="Consolas" pitchFamily="49" charset="0"/>
                  <a:cs typeface="Consolas" pitchFamily="49" charset="0"/>
                </a:rPr>
                <a:t>M</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9" name="TextBox 8"/>
            <p:cNvSpPr txBox="1"/>
            <p:nvPr/>
          </p:nvSpPr>
          <p:spPr>
            <a:xfrm>
              <a:off x="571472" y="4213230"/>
              <a:ext cx="500066" cy="307777"/>
            </a:xfrm>
            <a:prstGeom prst="rect">
              <a:avLst/>
            </a:prstGeom>
            <a:noFill/>
          </p:spPr>
          <p:txBody>
            <a:bodyPr wrap="square" lIns="0" tIns="0" rIns="0" bIns="0" rtlCol="0">
              <a:spAutoFit/>
            </a:bodyPr>
            <a:lstStyle/>
            <a:p>
              <a:r>
                <a:rPr lang="en-US" altLang="zh-CN" sz="2000">
                  <a:solidFill>
                    <a:srgbClr val="0000FF"/>
                  </a:solidFill>
                  <a:latin typeface="Consolas" pitchFamily="49" charset="0"/>
                  <a:cs typeface="Consolas" pitchFamily="49" charset="0"/>
                </a:rPr>
                <a:t>M</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3" name="TextBox 12"/>
            <p:cNvSpPr txBox="1"/>
            <p:nvPr/>
          </p:nvSpPr>
          <p:spPr>
            <a:xfrm>
              <a:off x="428596" y="2357430"/>
              <a:ext cx="928694" cy="492443"/>
            </a:xfrm>
            <a:prstGeom prst="rect">
              <a:avLst/>
            </a:prstGeom>
            <a:noFill/>
          </p:spPr>
          <p:txBody>
            <a:bodyPr wrap="square" lIns="0" tIns="0" rIns="0" bIns="0" rtlCol="0">
              <a:spAutoFit/>
            </a:bodyPr>
            <a:lstStyle/>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[0]=0</a:t>
              </a:r>
            </a:p>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2</a:t>
              </a:r>
              <a:r>
                <a:rPr lang="en-US" altLang="zh-CN" sz="1600">
                  <a:solidFill>
                    <a:srgbClr val="0000FF"/>
                  </a:solidFill>
                  <a:latin typeface="Consolas" pitchFamily="49" charset="0"/>
                  <a:cs typeface="Consolas" pitchFamily="49" charset="0"/>
                </a:rPr>
                <a:t>[0]=0</a:t>
              </a:r>
              <a:endParaRPr lang="zh-CN" altLang="en-US" sz="1600">
                <a:solidFill>
                  <a:srgbClr val="0000FF"/>
                </a:solidFill>
                <a:latin typeface="Consolas" pitchFamily="49" charset="0"/>
                <a:cs typeface="Consolas" pitchFamily="49" charset="0"/>
              </a:endParaRPr>
            </a:p>
          </p:txBody>
        </p:sp>
      </p:grpSp>
      <p:sp>
        <p:nvSpPr>
          <p:cNvPr id="15" name="矩形 14"/>
          <p:cNvSpPr/>
          <p:nvPr/>
        </p:nvSpPr>
        <p:spPr>
          <a:xfrm>
            <a:off x="2382474" y="3141660"/>
            <a:ext cx="2160000" cy="50006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2</a:t>
            </a:r>
            <a:endParaRPr lang="zh-CN" altLang="en-US" sz="1600">
              <a:solidFill>
                <a:srgbClr val="C00000"/>
              </a:solidFill>
              <a:latin typeface="Consolas" pitchFamily="49" charset="0"/>
              <a:ea typeface="华文中宋" pitchFamily="2" charset="-122"/>
              <a:cs typeface="Consolas" pitchFamily="49" charset="0"/>
            </a:endParaRPr>
          </a:p>
        </p:txBody>
      </p:sp>
      <p:sp>
        <p:nvSpPr>
          <p:cNvPr id="19" name="矩形 18"/>
          <p:cNvSpPr/>
          <p:nvPr/>
        </p:nvSpPr>
        <p:spPr>
          <a:xfrm>
            <a:off x="4546948" y="3141660"/>
            <a:ext cx="1440000" cy="50006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3</a:t>
            </a:r>
            <a:endParaRPr lang="zh-CN" altLang="en-US" sz="1600">
              <a:solidFill>
                <a:srgbClr val="C00000"/>
              </a:solidFill>
              <a:latin typeface="Consolas" pitchFamily="49" charset="0"/>
              <a:ea typeface="华文中宋" pitchFamily="2" charset="-122"/>
              <a:cs typeface="Consolas" pitchFamily="49" charset="0"/>
            </a:endParaRPr>
          </a:p>
        </p:txBody>
      </p:sp>
      <p:grpSp>
        <p:nvGrpSpPr>
          <p:cNvPr id="23" name="组合 33"/>
          <p:cNvGrpSpPr/>
          <p:nvPr/>
        </p:nvGrpSpPr>
        <p:grpSpPr>
          <a:xfrm>
            <a:off x="1643042" y="4357694"/>
            <a:ext cx="2000264" cy="921071"/>
            <a:chOff x="1643042" y="4643446"/>
            <a:chExt cx="2000264" cy="921071"/>
          </a:xfrm>
        </p:grpSpPr>
        <p:sp>
          <p:nvSpPr>
            <p:cNvPr id="14" name="TextBox 13"/>
            <p:cNvSpPr txBox="1"/>
            <p:nvPr/>
          </p:nvSpPr>
          <p:spPr>
            <a:xfrm>
              <a:off x="1643042" y="5072074"/>
              <a:ext cx="2000264" cy="492443"/>
            </a:xfrm>
            <a:prstGeom prst="rect">
              <a:avLst/>
            </a:prstGeom>
            <a:noFill/>
          </p:spPr>
          <p:txBody>
            <a:bodyPr wrap="square" lIns="0" tIns="0" rIns="0" bIns="0" rtlCol="0">
              <a:spAutoFit/>
            </a:bodyPr>
            <a:lstStyle/>
            <a:p>
              <a:r>
                <a:rPr lang="zh-CN" altLang="en-US" sz="1600">
                  <a:solidFill>
                    <a:srgbClr val="0000FF"/>
                  </a:solidFill>
                  <a:latin typeface="Consolas" pitchFamily="49" charset="0"/>
                  <a:ea typeface="仿宋" pitchFamily="49" charset="-122"/>
                  <a:cs typeface="Consolas" pitchFamily="49" charset="0"/>
                </a:rPr>
                <a:t>作业</a:t>
              </a:r>
              <a:r>
                <a:rPr lang="en-US" altLang="zh-CN" sz="1600">
                  <a:solidFill>
                    <a:srgbClr val="0000FF"/>
                  </a:solidFill>
                  <a:latin typeface="Consolas" pitchFamily="49" charset="0"/>
                  <a:ea typeface="仿宋" pitchFamily="49" charset="-122"/>
                  <a:cs typeface="Consolas" pitchFamily="49" charset="0"/>
                </a:rPr>
                <a:t>1</a:t>
              </a:r>
              <a:r>
                <a:rPr lang="zh-CN" altLang="en-US" sz="1600">
                  <a:solidFill>
                    <a:srgbClr val="0000FF"/>
                  </a:solidFill>
                  <a:latin typeface="Consolas" pitchFamily="49" charset="0"/>
                  <a:ea typeface="仿宋" pitchFamily="49" charset="-122"/>
                  <a:cs typeface="Consolas" pitchFamily="49" charset="0"/>
                </a:rPr>
                <a:t>在</a:t>
              </a:r>
              <a:r>
                <a:rPr lang="en-US" altLang="zh-CN" sz="1600">
                  <a:solidFill>
                    <a:srgbClr val="0000FF"/>
                  </a:solidFill>
                  <a:latin typeface="Consolas" pitchFamily="49" charset="0"/>
                  <a:ea typeface="仿宋" pitchFamily="49" charset="-122"/>
                  <a:cs typeface="Consolas" pitchFamily="49" charset="0"/>
                </a:rPr>
                <a:t>M</a:t>
              </a:r>
              <a:r>
                <a:rPr lang="en-US" altLang="zh-CN" sz="1600" baseline="-25000">
                  <a:solidFill>
                    <a:srgbClr val="0000FF"/>
                  </a:solidFill>
                  <a:latin typeface="Consolas" pitchFamily="49" charset="0"/>
                  <a:ea typeface="仿宋" pitchFamily="49" charset="-122"/>
                  <a:cs typeface="Consolas" pitchFamily="49" charset="0"/>
                </a:rPr>
                <a:t>2</a:t>
              </a:r>
              <a:r>
                <a:rPr lang="zh-CN" altLang="en-US" sz="1600">
                  <a:solidFill>
                    <a:srgbClr val="C00000"/>
                  </a:solidFill>
                  <a:latin typeface="Consolas" pitchFamily="49" charset="0"/>
                  <a:ea typeface="仿宋" pitchFamily="49" charset="-122"/>
                  <a:cs typeface="Consolas" pitchFamily="49" charset="0"/>
                </a:rPr>
                <a:t>不等</a:t>
              </a:r>
              <a:r>
                <a:rPr lang="zh-CN" altLang="en-US"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[1]=</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[1]+</a:t>
              </a:r>
              <a:r>
                <a:rPr lang="en-US" altLang="zh-CN" sz="1600" i="1">
                  <a:solidFill>
                    <a:srgbClr val="0000FF"/>
                  </a:solidFill>
                  <a:latin typeface="Consolas" pitchFamily="49" charset="0"/>
                  <a:ea typeface="仿宋" pitchFamily="49" charset="-122"/>
                  <a:cs typeface="Consolas" pitchFamily="49" charset="0"/>
                </a:rPr>
                <a:t>b</a:t>
              </a:r>
              <a:r>
                <a:rPr lang="en-US" altLang="zh-CN" sz="1600">
                  <a:solidFill>
                    <a:srgbClr val="0000FF"/>
                  </a:solidFill>
                  <a:latin typeface="Consolas" pitchFamily="49" charset="0"/>
                  <a:ea typeface="仿宋" pitchFamily="49" charset="-122"/>
                  <a:cs typeface="Consolas" pitchFamily="49" charset="0"/>
                </a:rPr>
                <a:t>[1]=3</a:t>
              </a:r>
              <a:endParaRPr lang="zh-CN" altLang="en-US" sz="1600">
                <a:solidFill>
                  <a:srgbClr val="0000FF"/>
                </a:solidFill>
                <a:latin typeface="Consolas" pitchFamily="49" charset="0"/>
                <a:ea typeface="仿宋" pitchFamily="49" charset="-122"/>
                <a:cs typeface="Consolas" pitchFamily="49" charset="0"/>
              </a:endParaRPr>
            </a:p>
          </p:txBody>
        </p:sp>
        <p:cxnSp>
          <p:nvCxnSpPr>
            <p:cNvPr id="24" name="直接箭头连接符 23"/>
            <p:cNvCxnSpPr/>
            <p:nvPr/>
          </p:nvCxnSpPr>
          <p:spPr>
            <a:xfrm rot="5400000" flipH="1" flipV="1">
              <a:off x="2867534" y="4858652"/>
              <a:ext cx="432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25" name="组合 32"/>
          <p:cNvGrpSpPr/>
          <p:nvPr/>
        </p:nvGrpSpPr>
        <p:grpSpPr>
          <a:xfrm>
            <a:off x="1643042" y="2422013"/>
            <a:ext cx="1714512" cy="640081"/>
            <a:chOff x="1643042" y="2707765"/>
            <a:chExt cx="1714512" cy="640081"/>
          </a:xfrm>
        </p:grpSpPr>
        <p:sp>
          <p:nvSpPr>
            <p:cNvPr id="12" name="TextBox 11"/>
            <p:cNvSpPr txBox="1"/>
            <p:nvPr/>
          </p:nvSpPr>
          <p:spPr>
            <a:xfrm>
              <a:off x="1643042" y="2707765"/>
              <a:ext cx="1714512" cy="246221"/>
            </a:xfrm>
            <a:prstGeom prst="rect">
              <a:avLst/>
            </a:prstGeom>
            <a:noFill/>
          </p:spPr>
          <p:txBody>
            <a:bodyPr wrap="square" lIns="0" tIns="0" rIns="0" bIns="0" rtlCol="0">
              <a:spAutoFit/>
            </a:bodyPr>
            <a:lstStyle/>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[1]=</a:t>
              </a:r>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[0]+2=2</a:t>
              </a:r>
              <a:endParaRPr lang="zh-CN" altLang="en-US" sz="1600">
                <a:solidFill>
                  <a:srgbClr val="0000FF"/>
                </a:solidFill>
                <a:latin typeface="Consolas" pitchFamily="49" charset="0"/>
                <a:cs typeface="Consolas" pitchFamily="49" charset="0"/>
              </a:endParaRPr>
            </a:p>
          </p:txBody>
        </p:sp>
        <p:cxnSp>
          <p:nvCxnSpPr>
            <p:cNvPr id="26" name="直接箭头连接符 25"/>
            <p:cNvCxnSpPr/>
            <p:nvPr/>
          </p:nvCxnSpPr>
          <p:spPr>
            <a:xfrm rot="5400000">
              <a:off x="2190742" y="3167052"/>
              <a:ext cx="360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31" name="组合 34"/>
          <p:cNvGrpSpPr/>
          <p:nvPr/>
        </p:nvGrpSpPr>
        <p:grpSpPr>
          <a:xfrm>
            <a:off x="3857620" y="2422013"/>
            <a:ext cx="1714512" cy="652607"/>
            <a:chOff x="3857620" y="2707765"/>
            <a:chExt cx="1714512" cy="652607"/>
          </a:xfrm>
        </p:grpSpPr>
        <p:sp>
          <p:nvSpPr>
            <p:cNvPr id="17" name="TextBox 16"/>
            <p:cNvSpPr txBox="1"/>
            <p:nvPr/>
          </p:nvSpPr>
          <p:spPr>
            <a:xfrm>
              <a:off x="3857620" y="2707765"/>
              <a:ext cx="1714512" cy="246221"/>
            </a:xfrm>
            <a:prstGeom prst="rect">
              <a:avLst/>
            </a:prstGeom>
            <a:noFill/>
          </p:spPr>
          <p:txBody>
            <a:bodyPr wrap="square" lIns="0" tIns="0" rIns="0" bIns="0" rtlCol="0">
              <a:spAutoFit/>
            </a:bodyPr>
            <a:lstStyle/>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[2]=</a:t>
              </a:r>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[1]+3=5</a:t>
              </a:r>
              <a:endParaRPr lang="zh-CN" altLang="en-US" sz="1600">
                <a:solidFill>
                  <a:srgbClr val="0000FF"/>
                </a:solidFill>
                <a:latin typeface="Consolas" pitchFamily="49" charset="0"/>
                <a:cs typeface="Consolas" pitchFamily="49" charset="0"/>
              </a:endParaRPr>
            </a:p>
          </p:txBody>
        </p:sp>
        <p:cxnSp>
          <p:nvCxnSpPr>
            <p:cNvPr id="27" name="直接箭头连接符 26"/>
            <p:cNvCxnSpPr/>
            <p:nvPr/>
          </p:nvCxnSpPr>
          <p:spPr>
            <a:xfrm rot="5400000">
              <a:off x="4366154" y="3179578"/>
              <a:ext cx="360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32" name="组合 36"/>
          <p:cNvGrpSpPr/>
          <p:nvPr/>
        </p:nvGrpSpPr>
        <p:grpSpPr>
          <a:xfrm>
            <a:off x="5786446" y="2422013"/>
            <a:ext cx="1643074" cy="649797"/>
            <a:chOff x="5786446" y="2707765"/>
            <a:chExt cx="1643074" cy="649797"/>
          </a:xfrm>
        </p:grpSpPr>
        <p:sp>
          <p:nvSpPr>
            <p:cNvPr id="21" name="TextBox 20"/>
            <p:cNvSpPr txBox="1"/>
            <p:nvPr/>
          </p:nvSpPr>
          <p:spPr>
            <a:xfrm>
              <a:off x="5786446" y="2707765"/>
              <a:ext cx="1643074" cy="246221"/>
            </a:xfrm>
            <a:prstGeom prst="rect">
              <a:avLst/>
            </a:prstGeom>
            <a:noFill/>
          </p:spPr>
          <p:txBody>
            <a:bodyPr wrap="square" lIns="0" tIns="0" rIns="0" bIns="0" rtlCol="0">
              <a:spAutoFit/>
            </a:bodyPr>
            <a:lstStyle/>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[3]=</a:t>
              </a:r>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[2]+2=7</a:t>
              </a:r>
              <a:endParaRPr lang="zh-CN" altLang="en-US" sz="1600">
                <a:solidFill>
                  <a:srgbClr val="0000FF"/>
                </a:solidFill>
                <a:latin typeface="Consolas" pitchFamily="49" charset="0"/>
                <a:cs typeface="Consolas" pitchFamily="49" charset="0"/>
              </a:endParaRPr>
            </a:p>
          </p:txBody>
        </p:sp>
        <p:cxnSp>
          <p:nvCxnSpPr>
            <p:cNvPr id="28" name="直接箭头连接符 27"/>
            <p:cNvCxnSpPr/>
            <p:nvPr/>
          </p:nvCxnSpPr>
          <p:spPr>
            <a:xfrm rot="5400000">
              <a:off x="5794914" y="3176768"/>
              <a:ext cx="360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33" name="组合 35"/>
          <p:cNvGrpSpPr/>
          <p:nvPr/>
        </p:nvGrpSpPr>
        <p:grpSpPr>
          <a:xfrm>
            <a:off x="4357686" y="3856040"/>
            <a:ext cx="1954372" cy="1422725"/>
            <a:chOff x="4357686" y="4141792"/>
            <a:chExt cx="1954372" cy="1422725"/>
          </a:xfrm>
        </p:grpSpPr>
        <p:sp>
          <p:nvSpPr>
            <p:cNvPr id="16" name="矩形 15"/>
            <p:cNvSpPr/>
            <p:nvPr/>
          </p:nvSpPr>
          <p:spPr>
            <a:xfrm>
              <a:off x="4538140" y="4141792"/>
              <a:ext cx="720000" cy="50006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2</a:t>
              </a:r>
              <a:endParaRPr lang="zh-CN" altLang="en-US" sz="1600">
                <a:solidFill>
                  <a:srgbClr val="C00000"/>
                </a:solidFill>
                <a:latin typeface="Consolas" pitchFamily="49" charset="0"/>
                <a:ea typeface="华文中宋" pitchFamily="2" charset="-122"/>
                <a:cs typeface="Consolas" pitchFamily="49" charset="0"/>
              </a:endParaRPr>
            </a:p>
          </p:txBody>
        </p:sp>
        <p:sp>
          <p:nvSpPr>
            <p:cNvPr id="18" name="TextBox 17"/>
            <p:cNvSpPr txBox="1"/>
            <p:nvPr/>
          </p:nvSpPr>
          <p:spPr>
            <a:xfrm>
              <a:off x="4357686" y="5072074"/>
              <a:ext cx="1954372" cy="492443"/>
            </a:xfrm>
            <a:prstGeom prst="rect">
              <a:avLst/>
            </a:prstGeom>
            <a:noFill/>
          </p:spPr>
          <p:txBody>
            <a:bodyPr wrap="square" lIns="0" tIns="0" rIns="0" bIns="0" rtlCol="0">
              <a:spAutoFit/>
            </a:bodyPr>
            <a:lstStyle/>
            <a:p>
              <a:r>
                <a:rPr lang="zh-CN" altLang="en-US" sz="1600">
                  <a:solidFill>
                    <a:srgbClr val="0000FF"/>
                  </a:solidFill>
                  <a:latin typeface="Consolas" pitchFamily="49" charset="0"/>
                  <a:ea typeface="仿宋" pitchFamily="49" charset="-122"/>
                  <a:cs typeface="Consolas" pitchFamily="49" charset="0"/>
                </a:rPr>
                <a:t>作业</a:t>
              </a:r>
              <a:r>
                <a:rPr lang="en-US" altLang="zh-CN" sz="1600">
                  <a:solidFill>
                    <a:srgbClr val="0000FF"/>
                  </a:solidFill>
                  <a:latin typeface="Consolas" pitchFamily="49" charset="0"/>
                  <a:ea typeface="仿宋" pitchFamily="49" charset="-122"/>
                  <a:cs typeface="Consolas" pitchFamily="49" charset="0"/>
                </a:rPr>
                <a:t>2</a:t>
              </a:r>
              <a:r>
                <a:rPr lang="zh-CN" altLang="en-US" sz="1600">
                  <a:solidFill>
                    <a:srgbClr val="0000FF"/>
                  </a:solidFill>
                  <a:latin typeface="Consolas" pitchFamily="49" charset="0"/>
                  <a:ea typeface="仿宋" pitchFamily="49" charset="-122"/>
                  <a:cs typeface="Consolas" pitchFamily="49" charset="0"/>
                </a:rPr>
                <a:t>在</a:t>
              </a:r>
              <a:r>
                <a:rPr lang="en-US" altLang="zh-CN" sz="1600">
                  <a:solidFill>
                    <a:srgbClr val="0000FF"/>
                  </a:solidFill>
                  <a:latin typeface="Consolas" pitchFamily="49" charset="0"/>
                  <a:ea typeface="仿宋" pitchFamily="49" charset="-122"/>
                  <a:cs typeface="Consolas" pitchFamily="49" charset="0"/>
                </a:rPr>
                <a:t>M</a:t>
              </a:r>
              <a:r>
                <a:rPr lang="en-US" altLang="zh-CN" sz="1600" baseline="-25000">
                  <a:solidFill>
                    <a:srgbClr val="0000FF"/>
                  </a:solidFill>
                  <a:latin typeface="Consolas" pitchFamily="49" charset="0"/>
                  <a:ea typeface="仿宋" pitchFamily="49" charset="-122"/>
                  <a:cs typeface="Consolas" pitchFamily="49" charset="0"/>
                </a:rPr>
                <a:t>2</a:t>
              </a:r>
              <a:r>
                <a:rPr lang="zh-CN" altLang="en-US" sz="1600">
                  <a:solidFill>
                    <a:srgbClr val="C00000"/>
                  </a:solidFill>
                  <a:latin typeface="Consolas" pitchFamily="49" charset="0"/>
                  <a:ea typeface="仿宋" pitchFamily="49" charset="-122"/>
                  <a:cs typeface="Consolas" pitchFamily="49" charset="0"/>
                </a:rPr>
                <a:t>不等</a:t>
              </a:r>
              <a:r>
                <a:rPr lang="zh-CN" altLang="en-US"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[2]=</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[2]+</a:t>
              </a:r>
              <a:r>
                <a:rPr lang="en-US" altLang="zh-CN" sz="1600" i="1">
                  <a:solidFill>
                    <a:srgbClr val="0000FF"/>
                  </a:solidFill>
                  <a:latin typeface="Consolas" pitchFamily="49" charset="0"/>
                  <a:ea typeface="仿宋" pitchFamily="49" charset="-122"/>
                  <a:cs typeface="Consolas" pitchFamily="49" charset="0"/>
                </a:rPr>
                <a:t>b</a:t>
              </a:r>
              <a:r>
                <a:rPr lang="en-US" altLang="zh-CN" sz="1600">
                  <a:solidFill>
                    <a:srgbClr val="0000FF"/>
                  </a:solidFill>
                  <a:latin typeface="Consolas" pitchFamily="49" charset="0"/>
                  <a:ea typeface="仿宋" pitchFamily="49" charset="-122"/>
                  <a:cs typeface="Consolas" pitchFamily="49" charset="0"/>
                </a:rPr>
                <a:t>[2]=6</a:t>
              </a:r>
              <a:endParaRPr lang="zh-CN" altLang="en-US" sz="1600">
                <a:solidFill>
                  <a:srgbClr val="0000FF"/>
                </a:solidFill>
                <a:latin typeface="Consolas" pitchFamily="49" charset="0"/>
                <a:ea typeface="仿宋" pitchFamily="49" charset="-122"/>
                <a:cs typeface="Consolas" pitchFamily="49" charset="0"/>
              </a:endParaRPr>
            </a:p>
          </p:txBody>
        </p:sp>
        <p:cxnSp>
          <p:nvCxnSpPr>
            <p:cNvPr id="29" name="直接箭头连接符 28"/>
            <p:cNvCxnSpPr/>
            <p:nvPr/>
          </p:nvCxnSpPr>
          <p:spPr>
            <a:xfrm rot="5400000" flipH="1" flipV="1">
              <a:off x="5082606" y="4858652"/>
              <a:ext cx="432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34" name="组合 37"/>
          <p:cNvGrpSpPr/>
          <p:nvPr/>
        </p:nvGrpSpPr>
        <p:grpSpPr>
          <a:xfrm>
            <a:off x="5988234" y="3856040"/>
            <a:ext cx="2643206" cy="1422725"/>
            <a:chOff x="5988234" y="4141792"/>
            <a:chExt cx="2643206" cy="1422725"/>
          </a:xfrm>
        </p:grpSpPr>
        <p:sp>
          <p:nvSpPr>
            <p:cNvPr id="20" name="矩形 19"/>
            <p:cNvSpPr/>
            <p:nvPr/>
          </p:nvSpPr>
          <p:spPr>
            <a:xfrm>
              <a:off x="5988234" y="4141792"/>
              <a:ext cx="2160000" cy="50006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3</a:t>
              </a:r>
              <a:endParaRPr lang="zh-CN" altLang="en-US" sz="1600">
                <a:solidFill>
                  <a:srgbClr val="C00000"/>
                </a:solidFill>
                <a:latin typeface="Consolas" pitchFamily="49" charset="0"/>
                <a:ea typeface="华文中宋" pitchFamily="2" charset="-122"/>
                <a:cs typeface="Consolas" pitchFamily="49" charset="0"/>
              </a:endParaRPr>
            </a:p>
          </p:txBody>
        </p:sp>
        <p:sp>
          <p:nvSpPr>
            <p:cNvPr id="22" name="TextBox 21"/>
            <p:cNvSpPr txBox="1"/>
            <p:nvPr/>
          </p:nvSpPr>
          <p:spPr>
            <a:xfrm>
              <a:off x="6500826" y="5072074"/>
              <a:ext cx="2130614" cy="492443"/>
            </a:xfrm>
            <a:prstGeom prst="rect">
              <a:avLst/>
            </a:prstGeom>
            <a:noFill/>
          </p:spPr>
          <p:txBody>
            <a:bodyPr wrap="square" lIns="0" tIns="0" rIns="0" bIns="0" rtlCol="0">
              <a:spAutoFit/>
            </a:bodyPr>
            <a:lstStyle/>
            <a:p>
              <a:r>
                <a:rPr lang="zh-CN" altLang="en-US" sz="1600">
                  <a:solidFill>
                    <a:srgbClr val="0000FF"/>
                  </a:solidFill>
                  <a:latin typeface="Consolas" pitchFamily="49" charset="0"/>
                  <a:ea typeface="仿宋" pitchFamily="49" charset="-122"/>
                  <a:cs typeface="Consolas" pitchFamily="49" charset="0"/>
                </a:rPr>
                <a:t>作业</a:t>
              </a:r>
              <a:r>
                <a:rPr lang="en-US" altLang="zh-CN" sz="1600">
                  <a:solidFill>
                    <a:srgbClr val="0000FF"/>
                  </a:solidFill>
                  <a:latin typeface="Consolas" pitchFamily="49" charset="0"/>
                  <a:ea typeface="仿宋" pitchFamily="49" charset="-122"/>
                  <a:cs typeface="Consolas" pitchFamily="49" charset="0"/>
                </a:rPr>
                <a:t>3</a:t>
              </a:r>
              <a:r>
                <a:rPr lang="zh-CN" altLang="en-US" sz="1600">
                  <a:solidFill>
                    <a:srgbClr val="0000FF"/>
                  </a:solidFill>
                  <a:latin typeface="Consolas" pitchFamily="49" charset="0"/>
                  <a:ea typeface="仿宋" pitchFamily="49" charset="-122"/>
                  <a:cs typeface="Consolas" pitchFamily="49" charset="0"/>
                </a:rPr>
                <a:t>在</a:t>
              </a:r>
              <a:r>
                <a:rPr lang="en-US" altLang="zh-CN" sz="1600">
                  <a:solidFill>
                    <a:srgbClr val="0000FF"/>
                  </a:solidFill>
                  <a:latin typeface="Consolas" pitchFamily="49" charset="0"/>
                  <a:ea typeface="仿宋" pitchFamily="49" charset="-122"/>
                  <a:cs typeface="Consolas" pitchFamily="49" charset="0"/>
                </a:rPr>
                <a:t>M</a:t>
              </a:r>
              <a:r>
                <a:rPr lang="en-US" altLang="zh-CN" sz="1600" baseline="-25000">
                  <a:solidFill>
                    <a:srgbClr val="0000FF"/>
                  </a:solidFill>
                  <a:latin typeface="Consolas" pitchFamily="49" charset="0"/>
                  <a:ea typeface="仿宋" pitchFamily="49" charset="-122"/>
                  <a:cs typeface="Consolas" pitchFamily="49" charset="0"/>
                </a:rPr>
                <a:t>2</a:t>
              </a:r>
              <a:r>
                <a:rPr lang="zh-CN" altLang="en-US" sz="1600">
                  <a:solidFill>
                    <a:srgbClr val="C00000"/>
                  </a:solidFill>
                  <a:latin typeface="Consolas" pitchFamily="49" charset="0"/>
                  <a:ea typeface="仿宋" pitchFamily="49" charset="-122"/>
                  <a:cs typeface="Consolas" pitchFamily="49" charset="0"/>
                </a:rPr>
                <a:t>不等</a:t>
              </a:r>
              <a:r>
                <a:rPr lang="zh-CN" altLang="en-US"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[3]=</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[3]+</a:t>
              </a:r>
              <a:r>
                <a:rPr lang="en-US" altLang="zh-CN" sz="1600" i="1">
                  <a:solidFill>
                    <a:srgbClr val="0000FF"/>
                  </a:solidFill>
                  <a:latin typeface="Consolas" pitchFamily="49" charset="0"/>
                  <a:ea typeface="仿宋" pitchFamily="49" charset="-122"/>
                  <a:cs typeface="Consolas" pitchFamily="49" charset="0"/>
                </a:rPr>
                <a:t>b</a:t>
              </a:r>
              <a:r>
                <a:rPr lang="en-US" altLang="zh-CN" sz="1600">
                  <a:solidFill>
                    <a:srgbClr val="0000FF"/>
                  </a:solidFill>
                  <a:latin typeface="Consolas" pitchFamily="49" charset="0"/>
                  <a:ea typeface="仿宋" pitchFamily="49" charset="-122"/>
                  <a:cs typeface="Consolas" pitchFamily="49" charset="0"/>
                </a:rPr>
                <a:t>[3]=10</a:t>
              </a:r>
              <a:endParaRPr lang="zh-CN" altLang="en-US" sz="1600">
                <a:solidFill>
                  <a:srgbClr val="0000FF"/>
                </a:solidFill>
                <a:latin typeface="Consolas" pitchFamily="49" charset="0"/>
                <a:ea typeface="仿宋" pitchFamily="49" charset="-122"/>
                <a:cs typeface="Consolas" pitchFamily="49" charset="0"/>
              </a:endParaRPr>
            </a:p>
          </p:txBody>
        </p:sp>
        <p:cxnSp>
          <p:nvCxnSpPr>
            <p:cNvPr id="30" name="直接箭头连接符 29"/>
            <p:cNvCxnSpPr/>
            <p:nvPr/>
          </p:nvCxnSpPr>
          <p:spPr>
            <a:xfrm rot="5400000" flipH="1" flipV="1">
              <a:off x="7973491" y="4858652"/>
              <a:ext cx="432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sp>
        <p:nvSpPr>
          <p:cNvPr id="39" name="TextBox 38"/>
          <p:cNvSpPr txBox="1"/>
          <p:nvPr/>
        </p:nvSpPr>
        <p:spPr>
          <a:xfrm>
            <a:off x="214282" y="5429264"/>
            <a:ext cx="6643734" cy="775982"/>
          </a:xfrm>
          <a:prstGeom prst="rect">
            <a:avLst/>
          </a:prstGeom>
          <a:noFill/>
        </p:spPr>
        <p:txBody>
          <a:bodyPr wrap="square" rtlCol="0">
            <a:spAutoFit/>
          </a:bodyPr>
          <a:lstStyle/>
          <a:p>
            <a:pPr>
              <a:lnSpc>
                <a:spcPts val="2800"/>
              </a:lnSpc>
            </a:pPr>
            <a:r>
              <a:rPr lang="zh-CN" altLang="zh-CN" sz="1800">
                <a:solidFill>
                  <a:srgbClr val="0000FF"/>
                </a:solidFill>
                <a:latin typeface="Consolas" pitchFamily="49" charset="0"/>
                <a:ea typeface="仿宋" pitchFamily="49" charset="-122"/>
                <a:cs typeface="Consolas" pitchFamily="49" charset="0"/>
              </a:rPr>
              <a:t>由于每个作业都是从</a:t>
            </a:r>
            <a:r>
              <a:rPr lang="en-US" altLang="zh-CN" sz="1800">
                <a:solidFill>
                  <a:srgbClr val="0000FF"/>
                </a:solidFill>
                <a:latin typeface="Consolas" pitchFamily="49" charset="0"/>
                <a:ea typeface="仿宋" pitchFamily="49" charset="-122"/>
                <a:cs typeface="Consolas" pitchFamily="49" charset="0"/>
              </a:rPr>
              <a:t>M</a:t>
            </a:r>
            <a:r>
              <a:rPr lang="en-US" altLang="zh-CN" sz="1800" baseline="-250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开始的，即</a:t>
            </a:r>
            <a:r>
              <a:rPr lang="en-US" altLang="zh-CN" sz="1800">
                <a:solidFill>
                  <a:srgbClr val="0000FF"/>
                </a:solidFill>
                <a:latin typeface="Consolas" pitchFamily="49" charset="0"/>
                <a:ea typeface="仿宋" pitchFamily="49" charset="-122"/>
                <a:cs typeface="Consolas" pitchFamily="49" charset="0"/>
              </a:rPr>
              <a:t>M</a:t>
            </a:r>
            <a:r>
              <a:rPr lang="en-US" altLang="zh-CN" sz="1800" baseline="-250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上各个作业是连续执行的，不需要等待，所以</a:t>
            </a:r>
            <a:r>
              <a:rPr lang="en-US" altLang="zh-CN" sz="1800" i="1">
                <a:solidFill>
                  <a:srgbClr val="0000FF"/>
                </a:solidFill>
                <a:latin typeface="Consolas" pitchFamily="49" charset="0"/>
                <a:ea typeface="仿宋" pitchFamily="49" charset="-122"/>
                <a:cs typeface="Consolas" pitchFamily="49" charset="0"/>
              </a:rPr>
              <a:t>f</a:t>
            </a:r>
            <a:r>
              <a:rPr lang="en-US" altLang="zh-CN" sz="1800" baseline="-250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不需要用数组表示，直接用单个变量</a:t>
            </a:r>
            <a:r>
              <a:rPr lang="en-US" altLang="zh-CN" sz="1800" i="1">
                <a:solidFill>
                  <a:srgbClr val="0000FF"/>
                </a:solidFill>
                <a:latin typeface="Consolas" pitchFamily="49" charset="0"/>
                <a:ea typeface="仿宋" pitchFamily="49" charset="-122"/>
                <a:cs typeface="Consolas" pitchFamily="49" charset="0"/>
              </a:rPr>
              <a:t>f</a:t>
            </a:r>
            <a:r>
              <a:rPr lang="en-US" altLang="zh-CN" sz="1800" baseline="-250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表示</a:t>
            </a:r>
            <a:r>
              <a:rPr lang="zh-CN" altLang="en-US" sz="1800">
                <a:solidFill>
                  <a:srgbClr val="0000FF"/>
                </a:solidFill>
                <a:latin typeface="Consolas" pitchFamily="49" charset="0"/>
                <a:ea typeface="仿宋" pitchFamily="49" charset="-122"/>
                <a:cs typeface="Consolas" pitchFamily="49" charset="0"/>
              </a:rPr>
              <a:t>。</a:t>
            </a:r>
          </a:p>
        </p:txBody>
      </p:sp>
      <p:sp>
        <p:nvSpPr>
          <p:cNvPr id="40" name="TextBox 39"/>
          <p:cNvSpPr txBox="1"/>
          <p:nvPr/>
        </p:nvSpPr>
        <p:spPr>
          <a:xfrm>
            <a:off x="6929454" y="5435758"/>
            <a:ext cx="1714512" cy="646331"/>
          </a:xfrm>
          <a:prstGeom prst="rect">
            <a:avLst/>
          </a:prstGeom>
          <a:noFill/>
        </p:spPr>
        <p:txBody>
          <a:bodyPr wrap="square" rtlCol="0">
            <a:spAutoFit/>
          </a:bodyPr>
          <a:lstStyle/>
          <a:p>
            <a:pPr algn="ctr"/>
            <a:r>
              <a:rPr lang="zh-CN" altLang="zh-CN" sz="1800">
                <a:solidFill>
                  <a:srgbClr val="0000FF"/>
                </a:solidFill>
                <a:latin typeface="Consolas" pitchFamily="49" charset="0"/>
                <a:ea typeface="华文中宋" pitchFamily="2" charset="-122"/>
                <a:cs typeface="Consolas" pitchFamily="49" charset="0"/>
              </a:rPr>
              <a:t>该调度方案的总时间</a:t>
            </a:r>
            <a:r>
              <a:rPr lang="en-US" altLang="zh-CN" sz="1800">
                <a:solidFill>
                  <a:srgbClr val="0000FF"/>
                </a:solidFill>
                <a:latin typeface="Consolas" pitchFamily="49" charset="0"/>
                <a:ea typeface="华文中宋" pitchFamily="2" charset="-122"/>
                <a:cs typeface="Consolas" pitchFamily="49" charset="0"/>
              </a:rPr>
              <a:t>: 10</a:t>
            </a:r>
            <a:endParaRPr lang="zh-CN" altLang="en-US" sz="1800">
              <a:latin typeface="Consolas" pitchFamily="49" charset="0"/>
              <a:ea typeface="华文中宋" pitchFamily="2" charset="-122"/>
              <a:cs typeface="Consolas" pitchFamily="49" charset="0"/>
            </a:endParaRPr>
          </a:p>
        </p:txBody>
      </p:sp>
      <p:sp>
        <p:nvSpPr>
          <p:cNvPr id="41" name="TextBox 40"/>
          <p:cNvSpPr txBox="1"/>
          <p:nvPr/>
        </p:nvSpPr>
        <p:spPr>
          <a:xfrm>
            <a:off x="3714744" y="605363"/>
            <a:ext cx="5143536" cy="1049106"/>
          </a:xfrm>
          <a:prstGeom prst="rect">
            <a:avLst/>
          </a:prstGeom>
          <a:solidFill>
            <a:schemeClr val="accent1">
              <a:lumMod val="60000"/>
              <a:lumOff val="40000"/>
            </a:schemeClr>
          </a:solidFill>
        </p:spPr>
        <p:txBody>
          <a:bodyPr wrap="square" lIns="144000" tIns="108000" rIns="144000" bIns="108000" rtlCol="0">
            <a:spAutoFit/>
          </a:bodyPr>
          <a:lstStyle/>
          <a:p>
            <a:r>
              <a:rPr lang="zh-CN" altLang="zh-CN" sz="1800">
                <a:solidFill>
                  <a:srgbClr val="0000FF"/>
                </a:solidFill>
                <a:latin typeface="Consolas" pitchFamily="49" charset="0"/>
                <a:ea typeface="仿宋" pitchFamily="49" charset="-122"/>
                <a:cs typeface="Consolas" pitchFamily="49" charset="0"/>
              </a:rPr>
              <a:t>现在的调用方案为</a:t>
            </a:r>
            <a:r>
              <a:rPr lang="en-US" altLang="zh-CN" sz="1800" i="1">
                <a:solidFill>
                  <a:srgbClr val="0000FF"/>
                </a:solidFill>
                <a:latin typeface="Consolas" pitchFamily="49" charset="0"/>
                <a:ea typeface="仿宋" pitchFamily="49" charset="-122"/>
                <a:cs typeface="Consolas" pitchFamily="49" charset="0"/>
              </a:rPr>
              <a:t>x</a:t>
            </a:r>
            <a:r>
              <a:rPr lang="en-US" altLang="zh-CN" sz="1800">
                <a:solidFill>
                  <a:srgbClr val="0000FF"/>
                </a:solidFill>
                <a:latin typeface="Consolas" pitchFamily="49" charset="0"/>
                <a:ea typeface="仿宋" pitchFamily="49" charset="-122"/>
                <a:cs typeface="Consolas" pitchFamily="49" charset="0"/>
              </a:rPr>
              <a:t>=</a:t>
            </a:r>
            <a:r>
              <a:rPr lang="zh-CN" altLang="zh-CN" sz="1800">
                <a:solidFill>
                  <a:srgbClr val="FF0000"/>
                </a:solidFill>
                <a:latin typeface="Consolas" pitchFamily="49" charset="0"/>
                <a:ea typeface="仿宋" pitchFamily="49" charset="-122"/>
                <a:cs typeface="Consolas" pitchFamily="49" charset="0"/>
              </a:rPr>
              <a:t>（</a:t>
            </a:r>
            <a:r>
              <a:rPr lang="en-US" altLang="zh-CN" sz="1800">
                <a:solidFill>
                  <a:srgbClr val="FF0000"/>
                </a:solidFill>
                <a:latin typeface="Consolas" pitchFamily="49" charset="0"/>
                <a:ea typeface="仿宋" pitchFamily="49" charset="-122"/>
                <a:cs typeface="Consolas" pitchFamily="49" charset="0"/>
              </a:rPr>
              <a:t>1</a:t>
            </a:r>
            <a:r>
              <a:rPr lang="zh-CN" altLang="zh-CN" sz="1800">
                <a:solidFill>
                  <a:srgbClr val="FF0000"/>
                </a:solidFill>
                <a:latin typeface="Consolas" pitchFamily="49" charset="0"/>
                <a:ea typeface="仿宋" pitchFamily="49" charset="-122"/>
                <a:cs typeface="Consolas" pitchFamily="49" charset="0"/>
              </a:rPr>
              <a:t>，</a:t>
            </a:r>
            <a:r>
              <a:rPr lang="en-US" altLang="zh-CN" sz="1800">
                <a:solidFill>
                  <a:srgbClr val="FF0000"/>
                </a:solidFill>
                <a:latin typeface="Consolas" pitchFamily="49" charset="0"/>
                <a:ea typeface="仿宋" pitchFamily="49" charset="-122"/>
                <a:cs typeface="Consolas" pitchFamily="49" charset="0"/>
              </a:rPr>
              <a:t>2</a:t>
            </a:r>
            <a:r>
              <a:rPr lang="zh-CN" altLang="zh-CN" sz="1800">
                <a:solidFill>
                  <a:srgbClr val="FF0000"/>
                </a:solidFill>
                <a:latin typeface="Consolas" pitchFamily="49" charset="0"/>
                <a:ea typeface="仿宋" pitchFamily="49" charset="-122"/>
                <a:cs typeface="Consolas" pitchFamily="49" charset="0"/>
              </a:rPr>
              <a:t>，</a:t>
            </a:r>
            <a:r>
              <a:rPr lang="en-US" altLang="zh-CN" sz="1800">
                <a:solidFill>
                  <a:srgbClr val="FF0000"/>
                </a:solidFill>
                <a:latin typeface="Consolas" pitchFamily="49" charset="0"/>
                <a:ea typeface="仿宋" pitchFamily="49" charset="-122"/>
                <a:cs typeface="Consolas" pitchFamily="49" charset="0"/>
              </a:rPr>
              <a:t>3</a:t>
            </a:r>
            <a:r>
              <a:rPr lang="zh-CN" altLang="zh-CN" sz="1800">
                <a:solidFill>
                  <a:srgbClr val="FF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，即按作业</a:t>
            </a:r>
            <a:r>
              <a:rPr lang="en-US" altLang="zh-CN" sz="18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2</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3</a:t>
            </a:r>
            <a:r>
              <a:rPr lang="zh-CN" altLang="zh-CN" sz="1800">
                <a:solidFill>
                  <a:srgbClr val="0000FF"/>
                </a:solidFill>
                <a:latin typeface="Consolas" pitchFamily="49" charset="0"/>
                <a:ea typeface="仿宋" pitchFamily="49" charset="-122"/>
                <a:cs typeface="Consolas" pitchFamily="49" charset="0"/>
              </a:rPr>
              <a:t>的顺序执行。首先将</a:t>
            </a:r>
            <a:r>
              <a:rPr lang="en-US" altLang="zh-CN" sz="1800" i="1">
                <a:solidFill>
                  <a:srgbClr val="0000FF"/>
                </a:solidFill>
                <a:latin typeface="Consolas" pitchFamily="49" charset="0"/>
                <a:ea typeface="仿宋" pitchFamily="49" charset="-122"/>
                <a:cs typeface="Consolas" pitchFamily="49" charset="0"/>
              </a:rPr>
              <a:t>f</a:t>
            </a:r>
            <a:r>
              <a:rPr lang="en-US" altLang="zh-CN" sz="18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和</a:t>
            </a:r>
            <a:r>
              <a:rPr lang="en-US" altLang="zh-CN" sz="1800" i="1">
                <a:solidFill>
                  <a:srgbClr val="0000FF"/>
                </a:solidFill>
                <a:latin typeface="Consolas" pitchFamily="49" charset="0"/>
                <a:ea typeface="仿宋" pitchFamily="49" charset="-122"/>
                <a:cs typeface="Consolas" pitchFamily="49" charset="0"/>
              </a:rPr>
              <a:t>f</a:t>
            </a:r>
            <a:r>
              <a:rPr lang="en-US" altLang="zh-CN" sz="1800">
                <a:solidFill>
                  <a:srgbClr val="0000FF"/>
                </a:solidFill>
                <a:latin typeface="Consolas" pitchFamily="49" charset="0"/>
                <a:ea typeface="仿宋" pitchFamily="49" charset="-122"/>
                <a:cs typeface="Consolas" pitchFamily="49" charset="0"/>
              </a:rPr>
              <a:t>2</a:t>
            </a:r>
            <a:r>
              <a:rPr lang="zh-CN" altLang="zh-CN" sz="1800">
                <a:solidFill>
                  <a:srgbClr val="0000FF"/>
                </a:solidFill>
                <a:latin typeface="Consolas" pitchFamily="49" charset="0"/>
                <a:ea typeface="仿宋" pitchFamily="49" charset="-122"/>
                <a:cs typeface="Consolas" pitchFamily="49" charset="0"/>
              </a:rPr>
              <a:t>数组所有元素初始化为</a:t>
            </a:r>
            <a:r>
              <a:rPr lang="en-US" altLang="zh-CN" sz="1800">
                <a:solidFill>
                  <a:srgbClr val="0000FF"/>
                </a:solidFill>
                <a:latin typeface="Consolas" pitchFamily="49" charset="0"/>
                <a:ea typeface="仿宋" pitchFamily="49" charset="-122"/>
                <a:cs typeface="Consolas" pitchFamily="49" charset="0"/>
              </a:rPr>
              <a:t>0</a:t>
            </a:r>
            <a:r>
              <a:rPr lang="zh-CN" altLang="zh-CN" sz="1800">
                <a:solidFill>
                  <a:srgbClr val="0000FF"/>
                </a:solidFill>
                <a:latin typeface="Consolas" pitchFamily="49" charset="0"/>
                <a:ea typeface="仿宋" pitchFamily="49" charset="-122"/>
                <a:cs typeface="Consolas" pitchFamily="49" charset="0"/>
              </a:rPr>
              <a:t>。该调度方案的总时间计算</a:t>
            </a:r>
            <a:r>
              <a:rPr lang="zh-CN" altLang="en-US" sz="1800">
                <a:solidFill>
                  <a:srgbClr val="0000FF"/>
                </a:solidFill>
                <a:latin typeface="Consolas" pitchFamily="49" charset="0"/>
                <a:ea typeface="仿宋" pitchFamily="49" charset="-122"/>
                <a:cs typeface="Consolas" pitchFamily="49" charset="0"/>
              </a:rPr>
              <a:t>如下</a:t>
            </a:r>
            <a:r>
              <a:rPr lang="zh-CN" altLang="zh-CN" sz="1800">
                <a:solidFill>
                  <a:srgbClr val="0000FF"/>
                </a:solidFill>
                <a:latin typeface="Consolas" pitchFamily="49" charset="0"/>
                <a:ea typeface="仿宋" pitchFamily="49" charset="-122"/>
                <a:cs typeface="Consolas" pitchFamily="49" charset="0"/>
              </a:rPr>
              <a:t>：</a:t>
            </a:r>
            <a:endParaRPr lang="zh-CN" altLang="en-US" sz="1800">
              <a:latin typeface="Consolas" pitchFamily="49" charset="0"/>
              <a:ea typeface="仿宋"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9" grpId="0" bldLvl="0" animBg="1"/>
      <p:bldP spid="4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142852"/>
            <a:ext cx="8786874" cy="369332"/>
          </a:xfrm>
          <a:prstGeom prst="rect">
            <a:avLst/>
          </a:prstGeom>
          <a:solidFill>
            <a:schemeClr val="accent6">
              <a:lumMod val="20000"/>
              <a:lumOff val="80000"/>
            </a:schemeClr>
          </a:solidFill>
        </p:spPr>
        <p:txBody>
          <a:bodyPr wrap="square" rtlCol="0">
            <a:spAutoFit/>
          </a:bodyPr>
          <a:lstStyle/>
          <a:p>
            <a:r>
              <a:rPr lang="zh-CN" altLang="zh-CN" sz="1800">
                <a:solidFill>
                  <a:srgbClr val="0000FF"/>
                </a:solidFill>
                <a:latin typeface="Consolas" pitchFamily="49" charset="0"/>
                <a:ea typeface="楷体" pitchFamily="49" charset="-122"/>
                <a:cs typeface="Consolas" pitchFamily="49" charset="0"/>
              </a:rPr>
              <a:t>再看看另外一种调用方案</a:t>
            </a:r>
            <a:r>
              <a:rPr lang="en-US" altLang="zh-CN" sz="1800" i="1">
                <a:solidFill>
                  <a:srgbClr val="0000FF"/>
                </a:solidFill>
                <a:latin typeface="Consolas" pitchFamily="49" charset="0"/>
                <a:ea typeface="楷体" pitchFamily="49" charset="-122"/>
                <a:cs typeface="Consolas" pitchFamily="49" charset="0"/>
              </a:rPr>
              <a:t>x</a:t>
            </a:r>
            <a:r>
              <a:rPr lang="en-US" altLang="zh-CN" sz="1800">
                <a:solidFill>
                  <a:srgbClr val="0000FF"/>
                </a:solidFill>
                <a:latin typeface="Consolas" pitchFamily="49" charset="0"/>
                <a:ea typeface="楷体" pitchFamily="49" charset="-122"/>
                <a:cs typeface="Consolas" pitchFamily="49" charset="0"/>
              </a:rPr>
              <a:t>=</a:t>
            </a:r>
            <a:r>
              <a:rPr lang="zh-CN" altLang="zh-CN"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3</a:t>
            </a:r>
            <a:r>
              <a:rPr lang="zh-CN" altLang="zh-CN"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1</a:t>
            </a:r>
            <a:r>
              <a:rPr lang="zh-CN" altLang="zh-CN"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2</a:t>
            </a:r>
            <a:r>
              <a:rPr lang="zh-CN" altLang="zh-CN" sz="1800">
                <a:solidFill>
                  <a:srgbClr val="0000FF"/>
                </a:solidFill>
                <a:latin typeface="Consolas" pitchFamily="49" charset="0"/>
                <a:ea typeface="楷体" pitchFamily="49" charset="-122"/>
                <a:cs typeface="Consolas" pitchFamily="49" charset="0"/>
              </a:rPr>
              <a:t>） 。该调度方案的总时间计算：</a:t>
            </a:r>
            <a:endParaRPr lang="zh-CN" altLang="en-US" sz="1800">
              <a:solidFill>
                <a:srgbClr val="0000FF"/>
              </a:solidFill>
              <a:latin typeface="Consolas" pitchFamily="49" charset="0"/>
              <a:ea typeface="楷体" pitchFamily="49" charset="-122"/>
              <a:cs typeface="Consolas" pitchFamily="49" charset="0"/>
            </a:endParaRPr>
          </a:p>
        </p:txBody>
      </p:sp>
      <p:sp>
        <p:nvSpPr>
          <p:cNvPr id="10" name="矩形 9"/>
          <p:cNvSpPr/>
          <p:nvPr/>
        </p:nvSpPr>
        <p:spPr>
          <a:xfrm>
            <a:off x="2357422" y="2855908"/>
            <a:ext cx="144000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1</a:t>
            </a:r>
            <a:endParaRPr lang="zh-CN" altLang="en-US" sz="1600">
              <a:solidFill>
                <a:srgbClr val="C00000"/>
              </a:solidFill>
              <a:latin typeface="Consolas" pitchFamily="49" charset="0"/>
              <a:ea typeface="华文中宋" pitchFamily="2" charset="-122"/>
              <a:cs typeface="Consolas" pitchFamily="49" charset="0"/>
            </a:endParaRPr>
          </a:p>
        </p:txBody>
      </p:sp>
      <p:grpSp>
        <p:nvGrpSpPr>
          <p:cNvPr id="3" name="组合 30"/>
          <p:cNvGrpSpPr/>
          <p:nvPr/>
        </p:nvGrpSpPr>
        <p:grpSpPr>
          <a:xfrm>
            <a:off x="428596" y="1785926"/>
            <a:ext cx="8420066" cy="2571768"/>
            <a:chOff x="428596" y="2357430"/>
            <a:chExt cx="8420066" cy="2571768"/>
          </a:xfrm>
        </p:grpSpPr>
        <p:cxnSp>
          <p:nvCxnSpPr>
            <p:cNvPr id="5" name="直接箭头连接符 4"/>
            <p:cNvCxnSpPr/>
            <p:nvPr/>
          </p:nvCxnSpPr>
          <p:spPr>
            <a:xfrm>
              <a:off x="928662" y="4927610"/>
              <a:ext cx="7920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直接箭头连接符 6"/>
            <p:cNvCxnSpPr/>
            <p:nvPr/>
          </p:nvCxnSpPr>
          <p:spPr>
            <a:xfrm rot="5400000" flipH="1" flipV="1">
              <a:off x="-32" y="3998916"/>
              <a:ext cx="1857388"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8" name="TextBox 7"/>
            <p:cNvSpPr txBox="1"/>
            <p:nvPr/>
          </p:nvSpPr>
          <p:spPr>
            <a:xfrm>
              <a:off x="571472" y="3498850"/>
              <a:ext cx="500066" cy="307777"/>
            </a:xfrm>
            <a:prstGeom prst="rect">
              <a:avLst/>
            </a:prstGeom>
            <a:noFill/>
          </p:spPr>
          <p:txBody>
            <a:bodyPr wrap="square" lIns="0" tIns="0" rIns="0" bIns="0" rtlCol="0">
              <a:spAutoFit/>
            </a:bodyPr>
            <a:lstStyle/>
            <a:p>
              <a:r>
                <a:rPr lang="en-US" altLang="zh-CN" sz="2000">
                  <a:solidFill>
                    <a:srgbClr val="0000FF"/>
                  </a:solidFill>
                  <a:latin typeface="Consolas" pitchFamily="49" charset="0"/>
                  <a:cs typeface="Consolas" pitchFamily="49" charset="0"/>
                </a:rPr>
                <a:t>M</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9" name="TextBox 8"/>
            <p:cNvSpPr txBox="1"/>
            <p:nvPr/>
          </p:nvSpPr>
          <p:spPr>
            <a:xfrm>
              <a:off x="571472" y="4213230"/>
              <a:ext cx="500066" cy="307777"/>
            </a:xfrm>
            <a:prstGeom prst="rect">
              <a:avLst/>
            </a:prstGeom>
            <a:noFill/>
          </p:spPr>
          <p:txBody>
            <a:bodyPr wrap="square" lIns="0" tIns="0" rIns="0" bIns="0" rtlCol="0">
              <a:spAutoFit/>
            </a:bodyPr>
            <a:lstStyle/>
            <a:p>
              <a:r>
                <a:rPr lang="en-US" altLang="zh-CN" sz="2000">
                  <a:solidFill>
                    <a:srgbClr val="0000FF"/>
                  </a:solidFill>
                  <a:latin typeface="Consolas" pitchFamily="49" charset="0"/>
                  <a:cs typeface="Consolas" pitchFamily="49" charset="0"/>
                </a:rPr>
                <a:t>M</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3" name="TextBox 12"/>
            <p:cNvSpPr txBox="1"/>
            <p:nvPr/>
          </p:nvSpPr>
          <p:spPr>
            <a:xfrm>
              <a:off x="428596" y="2357430"/>
              <a:ext cx="928694" cy="492443"/>
            </a:xfrm>
            <a:prstGeom prst="rect">
              <a:avLst/>
            </a:prstGeom>
            <a:noFill/>
          </p:spPr>
          <p:txBody>
            <a:bodyPr wrap="square" lIns="0" tIns="0" rIns="0" bIns="0" rtlCol="0">
              <a:spAutoFit/>
            </a:bodyPr>
            <a:lstStyle/>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=0</a:t>
              </a:r>
            </a:p>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2</a:t>
              </a:r>
              <a:r>
                <a:rPr lang="en-US" altLang="zh-CN" sz="1600">
                  <a:solidFill>
                    <a:srgbClr val="0000FF"/>
                  </a:solidFill>
                  <a:latin typeface="Consolas" pitchFamily="49" charset="0"/>
                  <a:cs typeface="Consolas" pitchFamily="49" charset="0"/>
                </a:rPr>
                <a:t>[0]=0</a:t>
              </a:r>
              <a:endParaRPr lang="zh-CN" altLang="en-US" sz="1600">
                <a:solidFill>
                  <a:srgbClr val="0000FF"/>
                </a:solidFill>
                <a:latin typeface="Consolas" pitchFamily="49" charset="0"/>
                <a:cs typeface="Consolas" pitchFamily="49" charset="0"/>
              </a:endParaRPr>
            </a:p>
          </p:txBody>
        </p:sp>
      </p:grpSp>
      <p:grpSp>
        <p:nvGrpSpPr>
          <p:cNvPr id="4" name="组合 38"/>
          <p:cNvGrpSpPr/>
          <p:nvPr/>
        </p:nvGrpSpPr>
        <p:grpSpPr>
          <a:xfrm>
            <a:off x="2571736" y="4071942"/>
            <a:ext cx="2000264" cy="1278261"/>
            <a:chOff x="2571736" y="4643446"/>
            <a:chExt cx="2000264" cy="1278261"/>
          </a:xfrm>
        </p:grpSpPr>
        <p:sp>
          <p:nvSpPr>
            <p:cNvPr id="14" name="TextBox 13"/>
            <p:cNvSpPr txBox="1"/>
            <p:nvPr/>
          </p:nvSpPr>
          <p:spPr>
            <a:xfrm>
              <a:off x="2571736" y="5429264"/>
              <a:ext cx="1785950" cy="492443"/>
            </a:xfrm>
            <a:prstGeom prst="rect">
              <a:avLst/>
            </a:prstGeom>
            <a:noFill/>
          </p:spPr>
          <p:txBody>
            <a:bodyPr wrap="square" lIns="0" tIns="0" rIns="0" bIns="0" rtlCol="0">
              <a:spAutoFit/>
            </a:bodyPr>
            <a:lstStyle/>
            <a:p>
              <a:r>
                <a:rPr lang="zh-CN" altLang="en-US" sz="1600">
                  <a:solidFill>
                    <a:srgbClr val="0000FF"/>
                  </a:solidFill>
                  <a:latin typeface="Consolas" pitchFamily="49" charset="0"/>
                  <a:ea typeface="仿宋" pitchFamily="49" charset="-122"/>
                  <a:cs typeface="Consolas" pitchFamily="49" charset="0"/>
                </a:rPr>
                <a:t>作业</a:t>
              </a:r>
              <a:r>
                <a:rPr lang="en-US" altLang="zh-CN" sz="1600">
                  <a:solidFill>
                    <a:srgbClr val="0000FF"/>
                  </a:solidFill>
                  <a:latin typeface="Consolas" pitchFamily="49" charset="0"/>
                  <a:ea typeface="仿宋" pitchFamily="49" charset="-122"/>
                  <a:cs typeface="Consolas" pitchFamily="49" charset="0"/>
                </a:rPr>
                <a:t>3</a:t>
              </a:r>
              <a:r>
                <a:rPr lang="zh-CN" altLang="en-US" sz="1600">
                  <a:solidFill>
                    <a:srgbClr val="0000FF"/>
                  </a:solidFill>
                  <a:latin typeface="Consolas" pitchFamily="49" charset="0"/>
                  <a:ea typeface="仿宋" pitchFamily="49" charset="-122"/>
                  <a:cs typeface="Consolas" pitchFamily="49" charset="0"/>
                </a:rPr>
                <a:t>在</a:t>
              </a:r>
              <a:r>
                <a:rPr lang="en-US" altLang="zh-CN" sz="1600">
                  <a:solidFill>
                    <a:srgbClr val="0000FF"/>
                  </a:solidFill>
                  <a:latin typeface="Consolas" pitchFamily="49" charset="0"/>
                  <a:ea typeface="仿宋" pitchFamily="49" charset="-122"/>
                  <a:cs typeface="Consolas" pitchFamily="49" charset="0"/>
                </a:rPr>
                <a:t>M</a:t>
              </a:r>
              <a:r>
                <a:rPr lang="en-US" altLang="zh-CN" sz="1600" baseline="-25000">
                  <a:solidFill>
                    <a:srgbClr val="0000FF"/>
                  </a:solidFill>
                  <a:latin typeface="Consolas" pitchFamily="49" charset="0"/>
                  <a:ea typeface="仿宋" pitchFamily="49" charset="-122"/>
                  <a:cs typeface="Consolas" pitchFamily="49" charset="0"/>
                </a:rPr>
                <a:t>2</a:t>
              </a:r>
              <a:r>
                <a:rPr lang="zh-CN" altLang="en-US" sz="1600">
                  <a:solidFill>
                    <a:srgbClr val="C00000"/>
                  </a:solidFill>
                  <a:latin typeface="Consolas" pitchFamily="49" charset="0"/>
                  <a:ea typeface="仿宋" pitchFamily="49" charset="-122"/>
                  <a:cs typeface="Consolas" pitchFamily="49" charset="0"/>
                </a:rPr>
                <a:t>不等</a:t>
              </a:r>
              <a:r>
                <a:rPr lang="zh-CN" altLang="en-US"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[1]=</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b</a:t>
              </a:r>
              <a:r>
                <a:rPr lang="en-US" altLang="zh-CN" sz="1600">
                  <a:solidFill>
                    <a:srgbClr val="0000FF"/>
                  </a:solidFill>
                  <a:latin typeface="Consolas" pitchFamily="49" charset="0"/>
                  <a:ea typeface="仿宋" pitchFamily="49" charset="-122"/>
                  <a:cs typeface="Consolas" pitchFamily="49" charset="0"/>
                </a:rPr>
                <a:t>[3]=5</a:t>
              </a:r>
              <a:endParaRPr lang="zh-CN" altLang="en-US" sz="1600">
                <a:solidFill>
                  <a:srgbClr val="0000FF"/>
                </a:solidFill>
                <a:latin typeface="Consolas" pitchFamily="49" charset="0"/>
                <a:ea typeface="仿宋" pitchFamily="49" charset="-122"/>
                <a:cs typeface="Consolas" pitchFamily="49" charset="0"/>
              </a:endParaRPr>
            </a:p>
          </p:txBody>
        </p:sp>
        <p:cxnSp>
          <p:nvCxnSpPr>
            <p:cNvPr id="24" name="直接箭头连接符 23"/>
            <p:cNvCxnSpPr/>
            <p:nvPr/>
          </p:nvCxnSpPr>
          <p:spPr>
            <a:xfrm flipV="1">
              <a:off x="3500430" y="4643446"/>
              <a:ext cx="1071570" cy="71438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6" name="组合 37"/>
          <p:cNvGrpSpPr/>
          <p:nvPr/>
        </p:nvGrpSpPr>
        <p:grpSpPr>
          <a:xfrm>
            <a:off x="1857356" y="2136261"/>
            <a:ext cx="1071570" cy="640081"/>
            <a:chOff x="1857356" y="2707765"/>
            <a:chExt cx="1071570" cy="640081"/>
          </a:xfrm>
        </p:grpSpPr>
        <p:sp>
          <p:nvSpPr>
            <p:cNvPr id="12" name="TextBox 11"/>
            <p:cNvSpPr txBox="1"/>
            <p:nvPr/>
          </p:nvSpPr>
          <p:spPr>
            <a:xfrm>
              <a:off x="1857356" y="2707765"/>
              <a:ext cx="1071570" cy="246221"/>
            </a:xfrm>
            <a:prstGeom prst="rect">
              <a:avLst/>
            </a:prstGeom>
            <a:noFill/>
          </p:spPr>
          <p:txBody>
            <a:bodyPr wrap="square" lIns="0" tIns="0" rIns="0" bIns="0" rtlCol="0">
              <a:spAutoFit/>
            </a:bodyPr>
            <a:lstStyle/>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a:t>
              </a:r>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+2=2</a:t>
              </a:r>
              <a:endParaRPr lang="zh-CN" altLang="en-US" sz="1600">
                <a:solidFill>
                  <a:srgbClr val="0000FF"/>
                </a:solidFill>
                <a:latin typeface="Consolas" pitchFamily="49" charset="0"/>
                <a:cs typeface="Consolas" pitchFamily="49" charset="0"/>
              </a:endParaRPr>
            </a:p>
          </p:txBody>
        </p:sp>
        <p:cxnSp>
          <p:nvCxnSpPr>
            <p:cNvPr id="26" name="直接箭头连接符 25"/>
            <p:cNvCxnSpPr/>
            <p:nvPr/>
          </p:nvCxnSpPr>
          <p:spPr>
            <a:xfrm rot="5400000">
              <a:off x="2190742" y="3167052"/>
              <a:ext cx="360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23" name="组合 39"/>
          <p:cNvGrpSpPr/>
          <p:nvPr/>
        </p:nvGrpSpPr>
        <p:grpSpPr>
          <a:xfrm>
            <a:off x="3096854" y="2136261"/>
            <a:ext cx="1000132" cy="652607"/>
            <a:chOff x="3096854" y="2707765"/>
            <a:chExt cx="1000132" cy="652607"/>
          </a:xfrm>
        </p:grpSpPr>
        <p:sp>
          <p:nvSpPr>
            <p:cNvPr id="17" name="TextBox 16"/>
            <p:cNvSpPr txBox="1"/>
            <p:nvPr/>
          </p:nvSpPr>
          <p:spPr>
            <a:xfrm>
              <a:off x="3096854" y="2707765"/>
              <a:ext cx="1000132" cy="246221"/>
            </a:xfrm>
            <a:prstGeom prst="rect">
              <a:avLst/>
            </a:prstGeom>
            <a:noFill/>
          </p:spPr>
          <p:txBody>
            <a:bodyPr wrap="square" lIns="0" tIns="0" rIns="0" bIns="0" rtlCol="0">
              <a:spAutoFit/>
            </a:bodyPr>
            <a:lstStyle/>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a:t>
              </a:r>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+2=4</a:t>
              </a:r>
              <a:endParaRPr lang="zh-CN" altLang="en-US" sz="1600">
                <a:solidFill>
                  <a:srgbClr val="0000FF"/>
                </a:solidFill>
                <a:latin typeface="Consolas" pitchFamily="49" charset="0"/>
                <a:cs typeface="Consolas" pitchFamily="49" charset="0"/>
              </a:endParaRPr>
            </a:p>
          </p:txBody>
        </p:sp>
        <p:cxnSp>
          <p:nvCxnSpPr>
            <p:cNvPr id="27" name="直接箭头连接符 26"/>
            <p:cNvCxnSpPr/>
            <p:nvPr/>
          </p:nvCxnSpPr>
          <p:spPr>
            <a:xfrm rot="5400000">
              <a:off x="3605388" y="3179578"/>
              <a:ext cx="360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25" name="组合 41"/>
          <p:cNvGrpSpPr/>
          <p:nvPr/>
        </p:nvGrpSpPr>
        <p:grpSpPr>
          <a:xfrm>
            <a:off x="3786182" y="2136261"/>
            <a:ext cx="2857520" cy="1219713"/>
            <a:chOff x="3786182" y="2707765"/>
            <a:chExt cx="2857520" cy="1219713"/>
          </a:xfrm>
        </p:grpSpPr>
        <p:sp>
          <p:nvSpPr>
            <p:cNvPr id="15" name="矩形 14"/>
            <p:cNvSpPr/>
            <p:nvPr/>
          </p:nvSpPr>
          <p:spPr>
            <a:xfrm>
              <a:off x="3786182" y="3427412"/>
              <a:ext cx="2160000" cy="50006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2</a:t>
              </a:r>
              <a:endParaRPr lang="zh-CN" altLang="en-US" sz="1600">
                <a:solidFill>
                  <a:srgbClr val="C00000"/>
                </a:solidFill>
                <a:latin typeface="Consolas" pitchFamily="49" charset="0"/>
                <a:ea typeface="华文中宋" pitchFamily="2" charset="-122"/>
                <a:cs typeface="Consolas" pitchFamily="49" charset="0"/>
              </a:endParaRPr>
            </a:p>
          </p:txBody>
        </p:sp>
        <p:sp>
          <p:nvSpPr>
            <p:cNvPr id="21" name="TextBox 20"/>
            <p:cNvSpPr txBox="1"/>
            <p:nvPr/>
          </p:nvSpPr>
          <p:spPr>
            <a:xfrm>
              <a:off x="5572132" y="2707765"/>
              <a:ext cx="1071570" cy="246221"/>
            </a:xfrm>
            <a:prstGeom prst="rect">
              <a:avLst/>
            </a:prstGeom>
            <a:noFill/>
          </p:spPr>
          <p:txBody>
            <a:bodyPr wrap="square" lIns="0" tIns="0" rIns="0" bIns="0" rtlCol="0">
              <a:spAutoFit/>
            </a:bodyPr>
            <a:lstStyle/>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a:t>
              </a:r>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+3=7</a:t>
              </a:r>
              <a:endParaRPr lang="zh-CN" altLang="en-US" sz="1600">
                <a:solidFill>
                  <a:srgbClr val="0000FF"/>
                </a:solidFill>
                <a:latin typeface="Consolas" pitchFamily="49" charset="0"/>
                <a:cs typeface="Consolas" pitchFamily="49" charset="0"/>
              </a:endParaRPr>
            </a:p>
          </p:txBody>
        </p:sp>
        <p:cxnSp>
          <p:nvCxnSpPr>
            <p:cNvPr id="28" name="直接箭头连接符 27"/>
            <p:cNvCxnSpPr/>
            <p:nvPr/>
          </p:nvCxnSpPr>
          <p:spPr>
            <a:xfrm rot="5400000">
              <a:off x="5794914" y="3176768"/>
              <a:ext cx="360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31" name="组合 40"/>
          <p:cNvGrpSpPr/>
          <p:nvPr/>
        </p:nvGrpSpPr>
        <p:grpSpPr>
          <a:xfrm>
            <a:off x="4286248" y="3570288"/>
            <a:ext cx="2000264" cy="2137105"/>
            <a:chOff x="4286248" y="4141792"/>
            <a:chExt cx="2000264" cy="2137105"/>
          </a:xfrm>
        </p:grpSpPr>
        <p:sp>
          <p:nvSpPr>
            <p:cNvPr id="11" name="矩形 10"/>
            <p:cNvSpPr/>
            <p:nvPr/>
          </p:nvSpPr>
          <p:spPr>
            <a:xfrm>
              <a:off x="4546948" y="4141792"/>
              <a:ext cx="72000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1</a:t>
              </a:r>
              <a:endParaRPr lang="zh-CN" altLang="en-US" sz="1600">
                <a:solidFill>
                  <a:srgbClr val="C00000"/>
                </a:solidFill>
                <a:latin typeface="Consolas" pitchFamily="49" charset="0"/>
                <a:ea typeface="华文中宋" pitchFamily="2" charset="-122"/>
                <a:cs typeface="Consolas" pitchFamily="49" charset="0"/>
              </a:endParaRPr>
            </a:p>
          </p:txBody>
        </p:sp>
        <p:sp>
          <p:nvSpPr>
            <p:cNvPr id="18" name="TextBox 17"/>
            <p:cNvSpPr txBox="1"/>
            <p:nvPr/>
          </p:nvSpPr>
          <p:spPr>
            <a:xfrm>
              <a:off x="4286248" y="5786454"/>
              <a:ext cx="2000264" cy="492443"/>
            </a:xfrm>
            <a:prstGeom prst="rect">
              <a:avLst/>
            </a:prstGeom>
            <a:noFill/>
          </p:spPr>
          <p:txBody>
            <a:bodyPr wrap="square" lIns="0" tIns="0" rIns="0" bIns="0" rtlCol="0">
              <a:spAutoFit/>
            </a:bodyPr>
            <a:lstStyle/>
            <a:p>
              <a:r>
                <a:rPr lang="zh-CN" altLang="en-US" sz="1600">
                  <a:solidFill>
                    <a:srgbClr val="0000FF"/>
                  </a:solidFill>
                  <a:latin typeface="Consolas" pitchFamily="49" charset="0"/>
                  <a:ea typeface="仿宋" pitchFamily="49" charset="-122"/>
                  <a:cs typeface="Consolas" pitchFamily="49" charset="0"/>
                </a:rPr>
                <a:t>作业</a:t>
              </a:r>
              <a:r>
                <a:rPr lang="en-US" altLang="zh-CN" sz="1600">
                  <a:solidFill>
                    <a:srgbClr val="0000FF"/>
                  </a:solidFill>
                  <a:latin typeface="Consolas" pitchFamily="49" charset="0"/>
                  <a:ea typeface="仿宋" pitchFamily="49" charset="-122"/>
                  <a:cs typeface="Consolas" pitchFamily="49" charset="0"/>
                </a:rPr>
                <a:t>1</a:t>
              </a:r>
              <a:r>
                <a:rPr lang="zh-CN" altLang="en-US" sz="1600">
                  <a:solidFill>
                    <a:srgbClr val="0000FF"/>
                  </a:solidFill>
                  <a:latin typeface="Consolas" pitchFamily="49" charset="0"/>
                  <a:ea typeface="仿宋" pitchFamily="49" charset="-122"/>
                  <a:cs typeface="Consolas" pitchFamily="49" charset="0"/>
                </a:rPr>
                <a:t>在</a:t>
              </a:r>
              <a:r>
                <a:rPr lang="en-US" altLang="zh-CN" sz="1600">
                  <a:solidFill>
                    <a:srgbClr val="0000FF"/>
                  </a:solidFill>
                  <a:latin typeface="Consolas" pitchFamily="49" charset="0"/>
                  <a:ea typeface="仿宋" pitchFamily="49" charset="-122"/>
                  <a:cs typeface="Consolas" pitchFamily="49" charset="0"/>
                </a:rPr>
                <a:t>M</a:t>
              </a:r>
              <a:r>
                <a:rPr lang="en-US" altLang="zh-CN" sz="1600" baseline="-25000">
                  <a:solidFill>
                    <a:srgbClr val="0000FF"/>
                  </a:solidFill>
                  <a:latin typeface="Consolas" pitchFamily="49" charset="0"/>
                  <a:ea typeface="仿宋" pitchFamily="49" charset="-122"/>
                  <a:cs typeface="Consolas" pitchFamily="49" charset="0"/>
                </a:rPr>
                <a:t>2</a:t>
              </a:r>
              <a:r>
                <a:rPr lang="zh-CN" altLang="en-US" sz="1600">
                  <a:solidFill>
                    <a:srgbClr val="C00000"/>
                  </a:solidFill>
                  <a:latin typeface="Consolas" pitchFamily="49" charset="0"/>
                  <a:ea typeface="仿宋" pitchFamily="49" charset="-122"/>
                  <a:cs typeface="Consolas" pitchFamily="49" charset="0"/>
                </a:rPr>
                <a:t>要等</a:t>
              </a:r>
              <a:r>
                <a:rPr lang="zh-CN" altLang="en-US"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[2]=</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[1]+</a:t>
              </a:r>
              <a:r>
                <a:rPr lang="en-US" altLang="zh-CN" sz="1600" i="1">
                  <a:solidFill>
                    <a:srgbClr val="0000FF"/>
                  </a:solidFill>
                  <a:latin typeface="Consolas" pitchFamily="49" charset="0"/>
                  <a:ea typeface="仿宋" pitchFamily="49" charset="-122"/>
                  <a:cs typeface="Consolas" pitchFamily="49" charset="0"/>
                </a:rPr>
                <a:t>b</a:t>
              </a:r>
              <a:r>
                <a:rPr lang="en-US" altLang="zh-CN" sz="1600">
                  <a:solidFill>
                    <a:srgbClr val="0000FF"/>
                  </a:solidFill>
                  <a:latin typeface="Consolas" pitchFamily="49" charset="0"/>
                  <a:ea typeface="仿宋" pitchFamily="49" charset="-122"/>
                  <a:cs typeface="Consolas" pitchFamily="49" charset="0"/>
                </a:rPr>
                <a:t>[1]=6</a:t>
              </a:r>
              <a:endParaRPr lang="zh-CN" altLang="en-US" sz="1600">
                <a:solidFill>
                  <a:srgbClr val="0000FF"/>
                </a:solidFill>
                <a:latin typeface="Consolas" pitchFamily="49" charset="0"/>
                <a:ea typeface="仿宋" pitchFamily="49" charset="-122"/>
                <a:cs typeface="Consolas" pitchFamily="49" charset="0"/>
              </a:endParaRPr>
            </a:p>
          </p:txBody>
        </p:sp>
        <p:cxnSp>
          <p:nvCxnSpPr>
            <p:cNvPr id="29" name="直接箭头连接符 28"/>
            <p:cNvCxnSpPr/>
            <p:nvPr/>
          </p:nvCxnSpPr>
          <p:spPr>
            <a:xfrm rot="5400000" flipH="1" flipV="1">
              <a:off x="4721386" y="5208440"/>
              <a:ext cx="1143008" cy="1302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32" name="组合 36"/>
          <p:cNvGrpSpPr/>
          <p:nvPr/>
        </p:nvGrpSpPr>
        <p:grpSpPr>
          <a:xfrm>
            <a:off x="928662" y="2855908"/>
            <a:ext cx="3620718" cy="1214446"/>
            <a:chOff x="928662" y="3427412"/>
            <a:chExt cx="3620718" cy="1214446"/>
          </a:xfrm>
        </p:grpSpPr>
        <p:sp>
          <p:nvSpPr>
            <p:cNvPr id="19" name="矩形 18"/>
            <p:cNvSpPr/>
            <p:nvPr/>
          </p:nvSpPr>
          <p:spPr>
            <a:xfrm>
              <a:off x="928662" y="3427412"/>
              <a:ext cx="1440000" cy="50006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3</a:t>
              </a:r>
              <a:endParaRPr lang="zh-CN" altLang="en-US" sz="1600">
                <a:solidFill>
                  <a:srgbClr val="C00000"/>
                </a:solidFill>
                <a:latin typeface="Consolas" pitchFamily="49" charset="0"/>
                <a:ea typeface="华文中宋" pitchFamily="2" charset="-122"/>
                <a:cs typeface="Consolas" pitchFamily="49" charset="0"/>
              </a:endParaRPr>
            </a:p>
          </p:txBody>
        </p:sp>
        <p:sp>
          <p:nvSpPr>
            <p:cNvPr id="20" name="矩形 19"/>
            <p:cNvSpPr/>
            <p:nvPr/>
          </p:nvSpPr>
          <p:spPr>
            <a:xfrm>
              <a:off x="2389380" y="4141792"/>
              <a:ext cx="2160000" cy="50006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3</a:t>
              </a:r>
              <a:endParaRPr lang="zh-CN" altLang="en-US" sz="1600">
                <a:solidFill>
                  <a:srgbClr val="C00000"/>
                </a:solidFill>
                <a:latin typeface="Consolas" pitchFamily="49" charset="0"/>
                <a:ea typeface="华文中宋" pitchFamily="2" charset="-122"/>
                <a:cs typeface="Consolas" pitchFamily="49" charset="0"/>
              </a:endParaRPr>
            </a:p>
          </p:txBody>
        </p:sp>
      </p:grpSp>
      <p:grpSp>
        <p:nvGrpSpPr>
          <p:cNvPr id="33" name="组合 42"/>
          <p:cNvGrpSpPr/>
          <p:nvPr/>
        </p:nvGrpSpPr>
        <p:grpSpPr>
          <a:xfrm>
            <a:off x="5941848" y="3570288"/>
            <a:ext cx="2689592" cy="1422725"/>
            <a:chOff x="5941848" y="4141792"/>
            <a:chExt cx="2689592" cy="1422725"/>
          </a:xfrm>
        </p:grpSpPr>
        <p:sp>
          <p:nvSpPr>
            <p:cNvPr id="16" name="矩形 15"/>
            <p:cNvSpPr/>
            <p:nvPr/>
          </p:nvSpPr>
          <p:spPr>
            <a:xfrm>
              <a:off x="5941848" y="4141792"/>
              <a:ext cx="720000" cy="50006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2</a:t>
              </a:r>
              <a:endParaRPr lang="zh-CN" altLang="en-US" sz="1600">
                <a:solidFill>
                  <a:srgbClr val="C00000"/>
                </a:solidFill>
                <a:latin typeface="Consolas" pitchFamily="49" charset="0"/>
                <a:ea typeface="华文中宋" pitchFamily="2" charset="-122"/>
                <a:cs typeface="Consolas" pitchFamily="49" charset="0"/>
              </a:endParaRPr>
            </a:p>
          </p:txBody>
        </p:sp>
        <p:sp>
          <p:nvSpPr>
            <p:cNvPr id="22" name="TextBox 21"/>
            <p:cNvSpPr txBox="1"/>
            <p:nvPr/>
          </p:nvSpPr>
          <p:spPr>
            <a:xfrm>
              <a:off x="6774052" y="5072074"/>
              <a:ext cx="1857388" cy="492443"/>
            </a:xfrm>
            <a:prstGeom prst="rect">
              <a:avLst/>
            </a:prstGeom>
            <a:noFill/>
          </p:spPr>
          <p:txBody>
            <a:bodyPr wrap="square" lIns="0" tIns="0" rIns="0" bIns="0" rtlCol="0">
              <a:spAutoFit/>
            </a:bodyPr>
            <a:lstStyle/>
            <a:p>
              <a:r>
                <a:rPr lang="zh-CN" altLang="en-US" sz="1600">
                  <a:solidFill>
                    <a:srgbClr val="0000FF"/>
                  </a:solidFill>
                  <a:latin typeface="Consolas" pitchFamily="49" charset="0"/>
                  <a:ea typeface="仿宋" pitchFamily="49" charset="-122"/>
                  <a:cs typeface="Consolas" pitchFamily="49" charset="0"/>
                </a:rPr>
                <a:t>作业</a:t>
              </a:r>
              <a:r>
                <a:rPr lang="en-US" altLang="zh-CN" sz="1600">
                  <a:solidFill>
                    <a:srgbClr val="0000FF"/>
                  </a:solidFill>
                  <a:latin typeface="Consolas" pitchFamily="49" charset="0"/>
                  <a:ea typeface="仿宋" pitchFamily="49" charset="-122"/>
                  <a:cs typeface="Consolas" pitchFamily="49" charset="0"/>
                </a:rPr>
                <a:t>2</a:t>
              </a:r>
              <a:r>
                <a:rPr lang="zh-CN" altLang="en-US" sz="1600">
                  <a:solidFill>
                    <a:srgbClr val="0000FF"/>
                  </a:solidFill>
                  <a:latin typeface="Consolas" pitchFamily="49" charset="0"/>
                  <a:ea typeface="仿宋" pitchFamily="49" charset="-122"/>
                  <a:cs typeface="Consolas" pitchFamily="49" charset="0"/>
                </a:rPr>
                <a:t>在</a:t>
              </a:r>
              <a:r>
                <a:rPr lang="en-US" altLang="zh-CN" sz="1600">
                  <a:solidFill>
                    <a:srgbClr val="0000FF"/>
                  </a:solidFill>
                  <a:latin typeface="Consolas" pitchFamily="49" charset="0"/>
                  <a:ea typeface="仿宋" pitchFamily="49" charset="-122"/>
                  <a:cs typeface="Consolas" pitchFamily="49" charset="0"/>
                </a:rPr>
                <a:t>M</a:t>
              </a:r>
              <a:r>
                <a:rPr lang="en-US" altLang="zh-CN" sz="1600" baseline="-25000">
                  <a:solidFill>
                    <a:srgbClr val="0000FF"/>
                  </a:solidFill>
                  <a:latin typeface="Consolas" pitchFamily="49" charset="0"/>
                  <a:ea typeface="仿宋" pitchFamily="49" charset="-122"/>
                  <a:cs typeface="Consolas" pitchFamily="49" charset="0"/>
                </a:rPr>
                <a:t>2</a:t>
              </a:r>
              <a:r>
                <a:rPr lang="zh-CN" altLang="en-US" sz="1600">
                  <a:solidFill>
                    <a:srgbClr val="C00000"/>
                  </a:solidFill>
                  <a:latin typeface="Consolas" pitchFamily="49" charset="0"/>
                  <a:ea typeface="仿宋" pitchFamily="49" charset="-122"/>
                  <a:cs typeface="Consolas" pitchFamily="49" charset="0"/>
                </a:rPr>
                <a:t>不等</a:t>
              </a:r>
              <a:r>
                <a:rPr lang="zh-CN" altLang="en-US"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[3]=</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b</a:t>
              </a:r>
              <a:r>
                <a:rPr lang="en-US" altLang="zh-CN" sz="1600">
                  <a:solidFill>
                    <a:srgbClr val="0000FF"/>
                  </a:solidFill>
                  <a:latin typeface="Consolas" pitchFamily="49" charset="0"/>
                  <a:ea typeface="仿宋" pitchFamily="49" charset="-122"/>
                  <a:cs typeface="Consolas" pitchFamily="49" charset="0"/>
                </a:rPr>
                <a:t>[2]=8</a:t>
              </a:r>
              <a:endParaRPr lang="zh-CN" altLang="en-US" sz="1600">
                <a:solidFill>
                  <a:srgbClr val="0000FF"/>
                </a:solidFill>
                <a:latin typeface="Consolas" pitchFamily="49" charset="0"/>
                <a:ea typeface="仿宋" pitchFamily="49" charset="-122"/>
                <a:cs typeface="Consolas" pitchFamily="49" charset="0"/>
              </a:endParaRPr>
            </a:p>
          </p:txBody>
        </p:sp>
        <p:cxnSp>
          <p:nvCxnSpPr>
            <p:cNvPr id="30" name="直接箭头连接符 29"/>
            <p:cNvCxnSpPr/>
            <p:nvPr/>
          </p:nvCxnSpPr>
          <p:spPr>
            <a:xfrm rot="5400000" flipH="1" flipV="1">
              <a:off x="6428496" y="4858652"/>
              <a:ext cx="432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sp>
        <p:nvSpPr>
          <p:cNvPr id="44" name="TextBox 43"/>
          <p:cNvSpPr txBox="1"/>
          <p:nvPr/>
        </p:nvSpPr>
        <p:spPr>
          <a:xfrm>
            <a:off x="6572264" y="5357826"/>
            <a:ext cx="2214578" cy="646331"/>
          </a:xfrm>
          <a:prstGeom prst="rect">
            <a:avLst/>
          </a:prstGeom>
          <a:noFill/>
        </p:spPr>
        <p:txBody>
          <a:bodyPr wrap="square" rtlCol="0">
            <a:spAutoFit/>
          </a:bodyPr>
          <a:lstStyle/>
          <a:p>
            <a:pPr algn="ctr"/>
            <a:r>
              <a:rPr lang="zh-CN" altLang="zh-CN" sz="1800">
                <a:solidFill>
                  <a:srgbClr val="0000FF"/>
                </a:solidFill>
                <a:latin typeface="Consolas" pitchFamily="49" charset="0"/>
                <a:ea typeface="华文中宋" pitchFamily="2" charset="-122"/>
                <a:cs typeface="Consolas" pitchFamily="49" charset="0"/>
              </a:rPr>
              <a:t>该调度方案的总时间</a:t>
            </a:r>
            <a:r>
              <a:rPr lang="en-US" altLang="zh-CN" sz="1800">
                <a:solidFill>
                  <a:srgbClr val="0000FF"/>
                </a:solidFill>
                <a:latin typeface="Consolas" pitchFamily="49" charset="0"/>
                <a:ea typeface="华文中宋" pitchFamily="2" charset="-122"/>
                <a:cs typeface="Consolas" pitchFamily="49" charset="0"/>
              </a:rPr>
              <a:t>: 8</a:t>
            </a:r>
            <a:endParaRPr lang="zh-CN" altLang="en-US" sz="1800">
              <a:latin typeface="Consolas" pitchFamily="49" charset="0"/>
              <a:ea typeface="华文中宋" pitchFamily="2" charset="-122"/>
              <a:cs typeface="Consolas" pitchFamily="49" charset="0"/>
            </a:endParaRPr>
          </a:p>
        </p:txBody>
      </p:sp>
      <p:graphicFrame>
        <p:nvGraphicFramePr>
          <p:cNvPr id="36" name="表格 35"/>
          <p:cNvGraphicFramePr>
            <a:graphicFrameLocks noGrp="1"/>
          </p:cNvGraphicFramePr>
          <p:nvPr/>
        </p:nvGraphicFramePr>
        <p:xfrm>
          <a:off x="2143108" y="741364"/>
          <a:ext cx="2721296" cy="1116000"/>
        </p:xfrm>
        <a:graphic>
          <a:graphicData uri="http://schemas.openxmlformats.org/drawingml/2006/table">
            <a:tbl>
              <a:tblPr>
                <a:tableStyleId>{775DCB02-9BB8-47FD-8907-85C794F793BA}</a:tableStyleId>
              </a:tblPr>
              <a:tblGrid>
                <a:gridCol w="1065866">
                  <a:extLst>
                    <a:ext uri="{9D8B030D-6E8A-4147-A177-3AD203B41FA5}">
                      <a16:colId xmlns:a16="http://schemas.microsoft.com/office/drawing/2014/main" val="20000"/>
                    </a:ext>
                  </a:extLst>
                </a:gridCol>
                <a:gridCol w="551810">
                  <a:extLst>
                    <a:ext uri="{9D8B030D-6E8A-4147-A177-3AD203B41FA5}">
                      <a16:colId xmlns:a16="http://schemas.microsoft.com/office/drawing/2014/main" val="20001"/>
                    </a:ext>
                  </a:extLst>
                </a:gridCol>
                <a:gridCol w="551810">
                  <a:extLst>
                    <a:ext uri="{9D8B030D-6E8A-4147-A177-3AD203B41FA5}">
                      <a16:colId xmlns:a16="http://schemas.microsoft.com/office/drawing/2014/main" val="20002"/>
                    </a:ext>
                  </a:extLst>
                </a:gridCol>
                <a:gridCol w="551810">
                  <a:extLst>
                    <a:ext uri="{9D8B030D-6E8A-4147-A177-3AD203B41FA5}">
                      <a16:colId xmlns:a16="http://schemas.microsoft.com/office/drawing/2014/main" val="20003"/>
                    </a:ext>
                  </a:extLst>
                </a:gridCol>
              </a:tblGrid>
              <a:tr h="372000">
                <a:tc>
                  <a:txBody>
                    <a:bodyPr/>
                    <a:lstStyle/>
                    <a:p>
                      <a:pPr indent="0" algn="ctr">
                        <a:lnSpc>
                          <a:spcPts val="2600"/>
                        </a:lnSpc>
                        <a:spcAft>
                          <a:spcPts val="0"/>
                        </a:spcAft>
                      </a:pPr>
                      <a:r>
                        <a:rPr lang="zh-CN" sz="1600" b="1" kern="100">
                          <a:solidFill>
                            <a:srgbClr val="C00000"/>
                          </a:solidFill>
                          <a:latin typeface="Consolas" pitchFamily="49" charset="0"/>
                          <a:cs typeface="Consolas" pitchFamily="49" charset="0"/>
                        </a:rPr>
                        <a:t>作业编号</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3</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1</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0"/>
                  </a:ext>
                </a:extLst>
              </a:tr>
              <a:tr h="372000">
                <a:tc>
                  <a:txBody>
                    <a:bodyPr/>
                    <a:lstStyle/>
                    <a:p>
                      <a:pPr indent="0" algn="ctr">
                        <a:lnSpc>
                          <a:spcPts val="2600"/>
                        </a:lnSpc>
                        <a:spcAft>
                          <a:spcPts val="0"/>
                        </a:spcAft>
                      </a:pPr>
                      <a:r>
                        <a:rPr lang="en-US" sz="1600" b="1" kern="100">
                          <a:solidFill>
                            <a:srgbClr val="C00000"/>
                          </a:solidFill>
                          <a:latin typeface="Consolas" pitchFamily="49" charset="0"/>
                          <a:cs typeface="Consolas" pitchFamily="49" charset="0"/>
                        </a:rPr>
                        <a:t>M</a:t>
                      </a:r>
                      <a:r>
                        <a:rPr lang="en-US" sz="1600" b="1" kern="100" baseline="-25000">
                          <a:solidFill>
                            <a:srgbClr val="C00000"/>
                          </a:solidFill>
                          <a:latin typeface="Consolas" pitchFamily="49" charset="0"/>
                          <a:cs typeface="Consolas" pitchFamily="49" charset="0"/>
                        </a:rPr>
                        <a:t>1</a:t>
                      </a:r>
                      <a:r>
                        <a:rPr lang="zh-CN" sz="1600" b="1" kern="100">
                          <a:solidFill>
                            <a:srgbClr val="C00000"/>
                          </a:solidFill>
                          <a:latin typeface="Consolas" pitchFamily="49" charset="0"/>
                          <a:cs typeface="Consolas" pitchFamily="49" charset="0"/>
                        </a:rPr>
                        <a:t>时间</a:t>
                      </a:r>
                      <a:r>
                        <a:rPr lang="en-US" sz="1600" b="1" i="1" kern="100">
                          <a:solidFill>
                            <a:srgbClr val="C00000"/>
                          </a:solidFill>
                          <a:latin typeface="Consolas" pitchFamily="49" charset="0"/>
                          <a:cs typeface="Consolas" pitchFamily="49" charset="0"/>
                        </a:rPr>
                        <a:t>a</a:t>
                      </a:r>
                      <a:endParaRPr lang="zh-CN" sz="1600" b="1" i="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altLang="zh-CN" sz="1600" b="1" kern="100">
                          <a:solidFill>
                            <a:srgbClr val="0000FF"/>
                          </a:solidFill>
                          <a:latin typeface="Consolas" pitchFamily="49" charset="0"/>
                          <a:ea typeface="+mn-ea"/>
                          <a:cs typeface="Consolas" pitchFamily="49" charset="0"/>
                        </a:rPr>
                        <a:t>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sz="1600" b="1" kern="100">
                          <a:solidFill>
                            <a:srgbClr val="0000FF"/>
                          </a:solidFill>
                          <a:latin typeface="Consolas" pitchFamily="49" charset="0"/>
                          <a:cs typeface="Consolas" pitchFamily="49" charset="0"/>
                        </a:rPr>
                        <a:t>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altLang="zh-CN" sz="1600" b="1" kern="100">
                          <a:solidFill>
                            <a:srgbClr val="0000FF"/>
                          </a:solidFill>
                          <a:latin typeface="Consolas" pitchFamily="49" charset="0"/>
                          <a:ea typeface="+mn-ea"/>
                          <a:cs typeface="Consolas" pitchFamily="49" charset="0"/>
                        </a:rPr>
                        <a:t>3</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1"/>
                  </a:ext>
                </a:extLst>
              </a:tr>
              <a:tr h="372000">
                <a:tc>
                  <a:txBody>
                    <a:bodyPr/>
                    <a:lstStyle/>
                    <a:p>
                      <a:pPr indent="0" algn="ctr">
                        <a:lnSpc>
                          <a:spcPts val="2600"/>
                        </a:lnSpc>
                        <a:spcAft>
                          <a:spcPts val="0"/>
                        </a:spcAft>
                      </a:pPr>
                      <a:r>
                        <a:rPr lang="en-US" sz="1600" b="1" kern="100">
                          <a:solidFill>
                            <a:srgbClr val="C00000"/>
                          </a:solidFill>
                          <a:latin typeface="Consolas" pitchFamily="49" charset="0"/>
                          <a:cs typeface="Consolas" pitchFamily="49" charset="0"/>
                        </a:rPr>
                        <a:t>M</a:t>
                      </a:r>
                      <a:r>
                        <a:rPr lang="en-US" sz="1600" b="1" kern="100" baseline="-25000">
                          <a:solidFill>
                            <a:srgbClr val="C00000"/>
                          </a:solidFill>
                          <a:latin typeface="Consolas" pitchFamily="49" charset="0"/>
                          <a:cs typeface="Consolas" pitchFamily="49" charset="0"/>
                        </a:rPr>
                        <a:t>2</a:t>
                      </a:r>
                      <a:r>
                        <a:rPr lang="zh-CN" sz="1600" b="1" kern="100">
                          <a:solidFill>
                            <a:srgbClr val="C00000"/>
                          </a:solidFill>
                          <a:latin typeface="Consolas" pitchFamily="49" charset="0"/>
                          <a:cs typeface="Consolas" pitchFamily="49" charset="0"/>
                        </a:rPr>
                        <a:t>时间</a:t>
                      </a:r>
                      <a:r>
                        <a:rPr lang="en-US" sz="1600" b="1" i="1" kern="100">
                          <a:solidFill>
                            <a:srgbClr val="C00000"/>
                          </a:solidFill>
                          <a:latin typeface="Consolas" pitchFamily="49" charset="0"/>
                          <a:cs typeface="Consolas" pitchFamily="49" charset="0"/>
                        </a:rPr>
                        <a:t>b</a:t>
                      </a:r>
                      <a:endParaRPr lang="zh-CN" sz="1600" b="1" i="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altLang="zh-CN" sz="1600" b="1" kern="100">
                          <a:solidFill>
                            <a:srgbClr val="0000FF"/>
                          </a:solidFill>
                          <a:latin typeface="Consolas" pitchFamily="49" charset="0"/>
                          <a:ea typeface="+mn-ea"/>
                          <a:cs typeface="Consolas" pitchFamily="49" charset="0"/>
                        </a:rPr>
                        <a:t>3</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altLang="zh-CN" sz="1600" b="1" kern="100">
                          <a:solidFill>
                            <a:srgbClr val="0000FF"/>
                          </a:solidFill>
                          <a:latin typeface="Consolas" pitchFamily="49" charset="0"/>
                          <a:ea typeface="+mn-ea"/>
                          <a:cs typeface="Consolas" pitchFamily="49" charset="0"/>
                        </a:rPr>
                        <a:t>1</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ts val="2600"/>
                        </a:lnSpc>
                        <a:spcAft>
                          <a:spcPts val="0"/>
                        </a:spcAft>
                      </a:pPr>
                      <a:r>
                        <a:rPr lang="en-US" altLang="zh-CN" sz="1600" b="1" kern="100">
                          <a:solidFill>
                            <a:srgbClr val="0000FF"/>
                          </a:solidFill>
                          <a:latin typeface="Consolas" pitchFamily="49" charset="0"/>
                          <a:ea typeface="+mn-ea"/>
                          <a:cs typeface="Consolas" pitchFamily="49" charset="0"/>
                        </a:rPr>
                        <a:t>1</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2"/>
                  </a:ext>
                </a:extLst>
              </a:tr>
            </a:tbl>
          </a:graphicData>
        </a:graphic>
      </p:graphicFrame>
      <p:grpSp>
        <p:nvGrpSpPr>
          <p:cNvPr id="34" name="组合 48"/>
          <p:cNvGrpSpPr/>
          <p:nvPr/>
        </p:nvGrpSpPr>
        <p:grpSpPr>
          <a:xfrm>
            <a:off x="142844" y="5774312"/>
            <a:ext cx="4572032" cy="940836"/>
            <a:chOff x="142844" y="5774312"/>
            <a:chExt cx="4572032" cy="940836"/>
          </a:xfrm>
        </p:grpSpPr>
        <p:sp>
          <p:nvSpPr>
            <p:cNvPr id="45" name="TextBox 44"/>
            <p:cNvSpPr txBox="1"/>
            <p:nvPr/>
          </p:nvSpPr>
          <p:spPr>
            <a:xfrm>
              <a:off x="142844" y="5774312"/>
              <a:ext cx="4572032" cy="369332"/>
            </a:xfrm>
            <a:prstGeom prst="rect">
              <a:avLst/>
            </a:prstGeom>
            <a:noFill/>
          </p:spPr>
          <p:txBody>
            <a:bodyPr wrap="square" rtlCol="0">
              <a:spAutoFit/>
            </a:bodyPr>
            <a:lstStyle/>
            <a:p>
              <a:r>
                <a:rPr lang="en-US" altLang="zh-CN" sz="1800">
                  <a:solidFill>
                    <a:srgbClr val="C00000"/>
                  </a:solidFill>
                  <a:latin typeface="Consolas" pitchFamily="49" charset="0"/>
                  <a:cs typeface="Consolas" pitchFamily="49" charset="0"/>
                </a:rPr>
                <a:t>x=(</a:t>
              </a:r>
              <a:r>
                <a:rPr lang="en-US" altLang="zh-CN" sz="1800" i="1">
                  <a:solidFill>
                    <a:srgbClr val="C00000"/>
                  </a:solidFill>
                  <a:latin typeface="Consolas" pitchFamily="49" charset="0"/>
                  <a:cs typeface="Consolas" pitchFamily="49" charset="0"/>
                </a:rPr>
                <a:t>x</a:t>
              </a:r>
              <a:r>
                <a:rPr lang="en-US" altLang="zh-CN" sz="1800">
                  <a:solidFill>
                    <a:srgbClr val="C00000"/>
                  </a:solidFill>
                  <a:latin typeface="Consolas" pitchFamily="49" charset="0"/>
                  <a:cs typeface="Consolas" pitchFamily="49" charset="0"/>
                </a:rPr>
                <a:t>[1]</a:t>
              </a:r>
              <a:r>
                <a:rPr lang="zh-CN" altLang="en-US" sz="1800">
                  <a:solidFill>
                    <a:srgbClr val="C00000"/>
                  </a:solidFill>
                  <a:latin typeface="Consolas" pitchFamily="49" charset="0"/>
                  <a:cs typeface="Consolas" pitchFamily="49" charset="0"/>
                </a:rPr>
                <a:t>，</a:t>
              </a:r>
              <a:r>
                <a:rPr lang="en-US" altLang="zh-CN" sz="1800" i="1">
                  <a:solidFill>
                    <a:srgbClr val="C00000"/>
                  </a:solidFill>
                  <a:latin typeface="Consolas" pitchFamily="49" charset="0"/>
                  <a:cs typeface="Consolas" pitchFamily="49" charset="0"/>
                </a:rPr>
                <a:t>x</a:t>
              </a:r>
              <a:r>
                <a:rPr lang="en-US" altLang="zh-CN" sz="1800">
                  <a:solidFill>
                    <a:srgbClr val="C00000"/>
                  </a:solidFill>
                  <a:latin typeface="Consolas" pitchFamily="49" charset="0"/>
                  <a:cs typeface="Consolas" pitchFamily="49" charset="0"/>
                </a:rPr>
                <a:t>[2]</a:t>
              </a:r>
              <a:r>
                <a:rPr lang="zh-CN" altLang="en-US" sz="1800">
                  <a:solidFill>
                    <a:srgbClr val="C00000"/>
                  </a:solidFill>
                  <a:latin typeface="Consolas" pitchFamily="49" charset="0"/>
                  <a:cs typeface="Consolas" pitchFamily="49" charset="0"/>
                </a:rPr>
                <a:t>，</a:t>
              </a:r>
              <a:r>
                <a:rPr lang="en-US" altLang="zh-CN" sz="1800">
                  <a:solidFill>
                    <a:srgbClr val="C00000"/>
                  </a:solidFill>
                  <a:latin typeface="Consolas" pitchFamily="49" charset="0"/>
                  <a:cs typeface="Consolas" pitchFamily="49" charset="0"/>
                </a:rPr>
                <a:t>…</a:t>
              </a:r>
              <a:r>
                <a:rPr lang="zh-CN" altLang="en-US" sz="1800">
                  <a:solidFill>
                    <a:srgbClr val="C00000"/>
                  </a:solidFill>
                  <a:latin typeface="Consolas" pitchFamily="49" charset="0"/>
                  <a:cs typeface="Consolas" pitchFamily="49" charset="0"/>
                </a:rPr>
                <a:t>，</a:t>
              </a:r>
              <a:r>
                <a:rPr lang="en-US" altLang="zh-CN" sz="1800" i="1">
                  <a:solidFill>
                    <a:srgbClr val="C00000"/>
                  </a:solidFill>
                  <a:latin typeface="Consolas" pitchFamily="49" charset="0"/>
                  <a:cs typeface="Consolas" pitchFamily="49" charset="0"/>
                </a:rPr>
                <a:t>x</a:t>
              </a:r>
              <a:r>
                <a:rPr lang="en-US" altLang="zh-CN" sz="1800">
                  <a:solidFill>
                    <a:srgbClr val="C00000"/>
                  </a:solidFill>
                  <a:latin typeface="Consolas" pitchFamily="49" charset="0"/>
                  <a:cs typeface="Consolas" pitchFamily="49" charset="0"/>
                </a:rPr>
                <a:t>[</a:t>
              </a:r>
              <a:r>
                <a:rPr lang="en-US" altLang="zh-CN" sz="1800" i="1">
                  <a:solidFill>
                    <a:srgbClr val="C00000"/>
                  </a:solidFill>
                  <a:latin typeface="Consolas" pitchFamily="49" charset="0"/>
                  <a:cs typeface="Consolas" pitchFamily="49" charset="0"/>
                </a:rPr>
                <a:t>i</a:t>
              </a:r>
              <a:r>
                <a:rPr lang="en-US" altLang="zh-CN" sz="1800">
                  <a:solidFill>
                    <a:srgbClr val="C00000"/>
                  </a:solidFill>
                  <a:latin typeface="Consolas" pitchFamily="49" charset="0"/>
                  <a:cs typeface="Consolas" pitchFamily="49" charset="0"/>
                </a:rPr>
                <a:t>]</a:t>
              </a:r>
              <a:r>
                <a:rPr lang="zh-CN" altLang="en-US" sz="1800">
                  <a:solidFill>
                    <a:srgbClr val="C00000"/>
                  </a:solidFill>
                  <a:latin typeface="Consolas" pitchFamily="49" charset="0"/>
                  <a:cs typeface="Consolas" pitchFamily="49" charset="0"/>
                </a:rPr>
                <a:t>，</a:t>
              </a:r>
              <a:r>
                <a:rPr lang="en-US" altLang="zh-CN" sz="1800">
                  <a:solidFill>
                    <a:srgbClr val="C00000"/>
                  </a:solidFill>
                  <a:latin typeface="Consolas" pitchFamily="49" charset="0"/>
                  <a:cs typeface="Consolas" pitchFamily="49" charset="0"/>
                </a:rPr>
                <a:t> … </a:t>
              </a:r>
              <a:r>
                <a:rPr lang="zh-CN" altLang="en-US" sz="1800">
                  <a:solidFill>
                    <a:srgbClr val="C00000"/>
                  </a:solidFill>
                  <a:latin typeface="Consolas" pitchFamily="49" charset="0"/>
                  <a:cs typeface="Consolas" pitchFamily="49" charset="0"/>
                </a:rPr>
                <a:t>，</a:t>
              </a:r>
              <a:r>
                <a:rPr lang="en-US" altLang="zh-CN" sz="1800" i="1">
                  <a:solidFill>
                    <a:srgbClr val="C00000"/>
                  </a:solidFill>
                  <a:latin typeface="Consolas" pitchFamily="49" charset="0"/>
                  <a:cs typeface="Consolas" pitchFamily="49" charset="0"/>
                </a:rPr>
                <a:t>x</a:t>
              </a:r>
              <a:r>
                <a:rPr lang="en-US" altLang="zh-CN" sz="1800">
                  <a:solidFill>
                    <a:srgbClr val="C00000"/>
                  </a:solidFill>
                  <a:latin typeface="Consolas" pitchFamily="49" charset="0"/>
                  <a:cs typeface="Consolas" pitchFamily="49" charset="0"/>
                </a:rPr>
                <a:t>[</a:t>
              </a:r>
              <a:r>
                <a:rPr lang="en-US" altLang="zh-CN" sz="1800" i="1">
                  <a:solidFill>
                    <a:srgbClr val="C00000"/>
                  </a:solidFill>
                  <a:latin typeface="Consolas" pitchFamily="49" charset="0"/>
                  <a:cs typeface="Consolas" pitchFamily="49" charset="0"/>
                </a:rPr>
                <a:t>n</a:t>
              </a:r>
              <a:r>
                <a:rPr lang="en-US" altLang="zh-CN" sz="1800">
                  <a:solidFill>
                    <a:srgbClr val="C00000"/>
                  </a:solidFill>
                  <a:latin typeface="Consolas" pitchFamily="49" charset="0"/>
                  <a:cs typeface="Consolas" pitchFamily="49" charset="0"/>
                </a:rPr>
                <a:t>])</a:t>
              </a:r>
              <a:endParaRPr lang="zh-CN" altLang="en-US" sz="1800">
                <a:solidFill>
                  <a:srgbClr val="C00000"/>
                </a:solidFill>
                <a:latin typeface="Consolas" pitchFamily="49" charset="0"/>
                <a:cs typeface="Consolas" pitchFamily="49" charset="0"/>
              </a:endParaRPr>
            </a:p>
          </p:txBody>
        </p:sp>
        <p:sp>
          <p:nvSpPr>
            <p:cNvPr id="46" name="TextBox 45"/>
            <p:cNvSpPr txBox="1"/>
            <p:nvPr/>
          </p:nvSpPr>
          <p:spPr>
            <a:xfrm>
              <a:off x="1428728" y="6345816"/>
              <a:ext cx="3143272" cy="369332"/>
            </a:xfrm>
            <a:prstGeom prst="rect">
              <a:avLst/>
            </a:prstGeom>
            <a:noFill/>
          </p:spPr>
          <p:txBody>
            <a:bodyPr wrap="square" rtlCol="0">
              <a:spAutoFit/>
            </a:bodyPr>
            <a:lstStyle/>
            <a:p>
              <a:r>
                <a:rPr lang="zh-CN" altLang="en-US" sz="1800">
                  <a:solidFill>
                    <a:srgbClr val="C00000"/>
                  </a:solidFill>
                  <a:latin typeface="Consolas" pitchFamily="49" charset="0"/>
                  <a:ea typeface="仿宋" pitchFamily="49" charset="-122"/>
                  <a:cs typeface="Consolas" pitchFamily="49" charset="0"/>
                </a:rPr>
                <a:t>第</a:t>
              </a:r>
              <a:r>
                <a:rPr lang="en-US" altLang="zh-CN" sz="1800" i="1">
                  <a:solidFill>
                    <a:srgbClr val="C00000"/>
                  </a:solidFill>
                  <a:latin typeface="Consolas" pitchFamily="49" charset="0"/>
                  <a:ea typeface="仿宋" pitchFamily="49" charset="-122"/>
                  <a:cs typeface="Consolas" pitchFamily="49" charset="0"/>
                </a:rPr>
                <a:t>i</a:t>
              </a:r>
              <a:r>
                <a:rPr lang="zh-CN" altLang="en-US" sz="1800">
                  <a:solidFill>
                    <a:srgbClr val="C00000"/>
                  </a:solidFill>
                  <a:latin typeface="Consolas" pitchFamily="49" charset="0"/>
                  <a:ea typeface="仿宋" pitchFamily="49" charset="-122"/>
                  <a:cs typeface="Consolas" pitchFamily="49" charset="0"/>
                </a:rPr>
                <a:t>步执行的作业为</a:t>
              </a:r>
              <a:r>
                <a:rPr lang="en-US" altLang="zh-CN" sz="1800" i="1">
                  <a:solidFill>
                    <a:srgbClr val="C00000"/>
                  </a:solidFill>
                  <a:latin typeface="Consolas" pitchFamily="49" charset="0"/>
                  <a:ea typeface="仿宋" pitchFamily="49" charset="-122"/>
                  <a:cs typeface="Consolas" pitchFamily="49" charset="0"/>
                </a:rPr>
                <a:t>x</a:t>
              </a:r>
              <a:r>
                <a:rPr lang="en-US" altLang="zh-CN" sz="1800">
                  <a:solidFill>
                    <a:srgbClr val="C00000"/>
                  </a:solidFill>
                  <a:latin typeface="Consolas" pitchFamily="49" charset="0"/>
                  <a:ea typeface="仿宋" pitchFamily="49" charset="-122"/>
                  <a:cs typeface="Consolas" pitchFamily="49" charset="0"/>
                </a:rPr>
                <a:t>[</a:t>
              </a:r>
              <a:r>
                <a:rPr lang="en-US" altLang="zh-CN" sz="1800" i="1">
                  <a:solidFill>
                    <a:srgbClr val="C00000"/>
                  </a:solidFill>
                  <a:latin typeface="Consolas" pitchFamily="49" charset="0"/>
                  <a:ea typeface="仿宋" pitchFamily="49" charset="-122"/>
                  <a:cs typeface="Consolas" pitchFamily="49" charset="0"/>
                </a:rPr>
                <a:t>i</a:t>
              </a:r>
              <a:r>
                <a:rPr lang="en-US" altLang="zh-CN" sz="1800">
                  <a:solidFill>
                    <a:srgbClr val="C00000"/>
                  </a:solidFill>
                  <a:latin typeface="Consolas" pitchFamily="49" charset="0"/>
                  <a:ea typeface="仿宋" pitchFamily="49" charset="-122"/>
                  <a:cs typeface="Consolas" pitchFamily="49" charset="0"/>
                </a:rPr>
                <a:t>]</a:t>
              </a:r>
              <a:endParaRPr lang="zh-CN" altLang="en-US" sz="1800">
                <a:solidFill>
                  <a:srgbClr val="C00000"/>
                </a:solidFill>
                <a:latin typeface="Consolas" pitchFamily="49" charset="0"/>
                <a:ea typeface="仿宋" pitchFamily="49" charset="-122"/>
                <a:cs typeface="Consolas" pitchFamily="49" charset="0"/>
              </a:endParaRPr>
            </a:p>
          </p:txBody>
        </p:sp>
        <p:cxnSp>
          <p:nvCxnSpPr>
            <p:cNvPr id="48" name="直接箭头连接符 47"/>
            <p:cNvCxnSpPr/>
            <p:nvPr/>
          </p:nvCxnSpPr>
          <p:spPr>
            <a:xfrm rot="5400000" flipH="1" flipV="1">
              <a:off x="2536017" y="6250801"/>
              <a:ext cx="214314"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nodeType="clickEffect">
                                  <p:stCondLst>
                                    <p:cond delay="0"/>
                                  </p:stCondLst>
                                  <p:childTnLst>
                                    <p:animEffect transition="out" filter="fade">
                                      <p:cBhvr>
                                        <p:cTn id="30" dur="500" tmFilter="0, 0; .2, .5; .8, .5; 1, 0"/>
                                        <p:tgtEl>
                                          <p:spTgt spid="31"/>
                                        </p:tgtEl>
                                      </p:cBhvr>
                                    </p:animEffect>
                                    <p:animScale>
                                      <p:cBhvr>
                                        <p:cTn id="31" dur="250" autoRev="1" fill="hold"/>
                                        <p:tgtEl>
                                          <p:spTgt spid="31"/>
                                        </p:tgtEl>
                                      </p:cBhvr>
                                      <p:by x="105000" y="105000"/>
                                    </p:animScale>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57422" y="1212834"/>
            <a:ext cx="144000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800">
                <a:solidFill>
                  <a:srgbClr val="C00000"/>
                </a:solidFill>
                <a:latin typeface="Consolas" pitchFamily="49" charset="0"/>
                <a:ea typeface="华文中宋" pitchFamily="2" charset="-122"/>
                <a:cs typeface="Consolas" pitchFamily="49" charset="0"/>
              </a:rPr>
              <a:t>作业</a:t>
            </a:r>
            <a:r>
              <a:rPr lang="en-US" altLang="zh-CN" sz="1800">
                <a:solidFill>
                  <a:srgbClr val="C00000"/>
                </a:solidFill>
                <a:latin typeface="Consolas" pitchFamily="49" charset="0"/>
                <a:ea typeface="华文中宋" pitchFamily="2" charset="-122"/>
                <a:cs typeface="Consolas" pitchFamily="49" charset="0"/>
              </a:rPr>
              <a:t>1</a:t>
            </a:r>
            <a:endParaRPr lang="zh-CN" altLang="en-US" sz="1800">
              <a:solidFill>
                <a:srgbClr val="C00000"/>
              </a:solidFill>
              <a:latin typeface="Consolas" pitchFamily="49" charset="0"/>
              <a:ea typeface="华文中宋" pitchFamily="2" charset="-122"/>
              <a:cs typeface="Consolas" pitchFamily="49" charset="0"/>
            </a:endParaRPr>
          </a:p>
        </p:txBody>
      </p:sp>
      <p:grpSp>
        <p:nvGrpSpPr>
          <p:cNvPr id="3" name="组合 30"/>
          <p:cNvGrpSpPr/>
          <p:nvPr/>
        </p:nvGrpSpPr>
        <p:grpSpPr>
          <a:xfrm>
            <a:off x="428596" y="142852"/>
            <a:ext cx="8420066" cy="2571768"/>
            <a:chOff x="428596" y="2357430"/>
            <a:chExt cx="8420066" cy="2571768"/>
          </a:xfrm>
        </p:grpSpPr>
        <p:cxnSp>
          <p:nvCxnSpPr>
            <p:cNvPr id="4" name="直接箭头连接符 3"/>
            <p:cNvCxnSpPr/>
            <p:nvPr/>
          </p:nvCxnSpPr>
          <p:spPr>
            <a:xfrm>
              <a:off x="928662" y="4927610"/>
              <a:ext cx="7920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5" name="直接箭头连接符 4"/>
            <p:cNvCxnSpPr/>
            <p:nvPr/>
          </p:nvCxnSpPr>
          <p:spPr>
            <a:xfrm rot="5400000" flipH="1" flipV="1">
              <a:off x="-32" y="3998916"/>
              <a:ext cx="1857388"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 name="TextBox 5"/>
            <p:cNvSpPr txBox="1"/>
            <p:nvPr/>
          </p:nvSpPr>
          <p:spPr>
            <a:xfrm>
              <a:off x="546072" y="3498850"/>
              <a:ext cx="500066" cy="307777"/>
            </a:xfrm>
            <a:prstGeom prst="rect">
              <a:avLst/>
            </a:prstGeom>
            <a:noFill/>
          </p:spPr>
          <p:txBody>
            <a:bodyPr wrap="square" lIns="0" tIns="0" rIns="0" bIns="0" rtlCol="0">
              <a:spAutoFit/>
            </a:bodyPr>
            <a:lstStyle/>
            <a:p>
              <a:r>
                <a:rPr lang="en-US" altLang="zh-CN" sz="2000">
                  <a:solidFill>
                    <a:srgbClr val="0000FF"/>
                  </a:solidFill>
                  <a:latin typeface="Consolas" pitchFamily="49" charset="0"/>
                  <a:cs typeface="Consolas" pitchFamily="49" charset="0"/>
                </a:rPr>
                <a:t>M</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7" name="TextBox 6"/>
            <p:cNvSpPr txBox="1"/>
            <p:nvPr/>
          </p:nvSpPr>
          <p:spPr>
            <a:xfrm>
              <a:off x="546072" y="4213230"/>
              <a:ext cx="500066" cy="307777"/>
            </a:xfrm>
            <a:prstGeom prst="rect">
              <a:avLst/>
            </a:prstGeom>
            <a:noFill/>
          </p:spPr>
          <p:txBody>
            <a:bodyPr wrap="square" lIns="0" tIns="0" rIns="0" bIns="0" rtlCol="0">
              <a:spAutoFit/>
            </a:bodyPr>
            <a:lstStyle/>
            <a:p>
              <a:r>
                <a:rPr lang="en-US" altLang="zh-CN" sz="2000">
                  <a:solidFill>
                    <a:srgbClr val="0000FF"/>
                  </a:solidFill>
                  <a:latin typeface="Consolas" pitchFamily="49" charset="0"/>
                  <a:cs typeface="Consolas" pitchFamily="49" charset="0"/>
                </a:rPr>
                <a:t>M</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8" name="TextBox 7"/>
            <p:cNvSpPr txBox="1"/>
            <p:nvPr/>
          </p:nvSpPr>
          <p:spPr>
            <a:xfrm>
              <a:off x="428596" y="2357430"/>
              <a:ext cx="928694" cy="492443"/>
            </a:xfrm>
            <a:prstGeom prst="rect">
              <a:avLst/>
            </a:prstGeom>
            <a:noFill/>
          </p:spPr>
          <p:txBody>
            <a:bodyPr wrap="square" lIns="0" tIns="0" rIns="0" bIns="0" rtlCol="0">
              <a:spAutoFit/>
            </a:bodyPr>
            <a:lstStyle/>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1</a:t>
              </a:r>
              <a:r>
                <a:rPr lang="en-US" altLang="zh-CN" sz="1600">
                  <a:solidFill>
                    <a:srgbClr val="0000FF"/>
                  </a:solidFill>
                  <a:latin typeface="Consolas" pitchFamily="49" charset="0"/>
                  <a:cs typeface="Consolas" pitchFamily="49" charset="0"/>
                </a:rPr>
                <a:t>=0</a:t>
              </a:r>
            </a:p>
            <a:p>
              <a:r>
                <a:rPr lang="en-US" altLang="zh-CN" sz="1600" i="1">
                  <a:solidFill>
                    <a:srgbClr val="0000FF"/>
                  </a:solidFill>
                  <a:latin typeface="Consolas" pitchFamily="49" charset="0"/>
                  <a:cs typeface="Consolas" pitchFamily="49" charset="0"/>
                </a:rPr>
                <a:t>f</a:t>
              </a:r>
              <a:r>
                <a:rPr lang="en-US" altLang="zh-CN" sz="1600" baseline="-25000">
                  <a:solidFill>
                    <a:srgbClr val="0000FF"/>
                  </a:solidFill>
                  <a:latin typeface="Consolas" pitchFamily="49" charset="0"/>
                  <a:cs typeface="Consolas" pitchFamily="49" charset="0"/>
                </a:rPr>
                <a:t>2</a:t>
              </a:r>
              <a:r>
                <a:rPr lang="en-US" altLang="zh-CN" sz="1600">
                  <a:solidFill>
                    <a:srgbClr val="0000FF"/>
                  </a:solidFill>
                  <a:latin typeface="Consolas" pitchFamily="49" charset="0"/>
                  <a:cs typeface="Consolas" pitchFamily="49" charset="0"/>
                </a:rPr>
                <a:t>[0]=0</a:t>
              </a:r>
              <a:endParaRPr lang="zh-CN" altLang="en-US" sz="1600">
                <a:solidFill>
                  <a:srgbClr val="0000FF"/>
                </a:solidFill>
                <a:latin typeface="Consolas" pitchFamily="49" charset="0"/>
                <a:cs typeface="Consolas" pitchFamily="49" charset="0"/>
              </a:endParaRPr>
            </a:p>
          </p:txBody>
        </p:sp>
      </p:grpSp>
      <p:grpSp>
        <p:nvGrpSpPr>
          <p:cNvPr id="9" name="组合 8"/>
          <p:cNvGrpSpPr/>
          <p:nvPr/>
        </p:nvGrpSpPr>
        <p:grpSpPr>
          <a:xfrm>
            <a:off x="2571736" y="2428868"/>
            <a:ext cx="2000264" cy="1278261"/>
            <a:chOff x="2571736" y="4643446"/>
            <a:chExt cx="2000264" cy="1278261"/>
          </a:xfrm>
        </p:grpSpPr>
        <p:sp>
          <p:nvSpPr>
            <p:cNvPr id="10" name="TextBox 9"/>
            <p:cNvSpPr txBox="1"/>
            <p:nvPr/>
          </p:nvSpPr>
          <p:spPr>
            <a:xfrm>
              <a:off x="2571736" y="5429264"/>
              <a:ext cx="1785950" cy="492443"/>
            </a:xfrm>
            <a:prstGeom prst="rect">
              <a:avLst/>
            </a:prstGeom>
            <a:noFill/>
          </p:spPr>
          <p:txBody>
            <a:bodyPr wrap="square" lIns="0" tIns="0" rIns="0" bIns="0" rtlCol="0">
              <a:spAutoFit/>
            </a:bodyPr>
            <a:lstStyle/>
            <a:p>
              <a:r>
                <a:rPr lang="zh-CN" altLang="en-US" sz="1600">
                  <a:solidFill>
                    <a:srgbClr val="0000FF"/>
                  </a:solidFill>
                  <a:latin typeface="Consolas" pitchFamily="49" charset="0"/>
                  <a:ea typeface="仿宋" pitchFamily="49" charset="-122"/>
                  <a:cs typeface="Consolas" pitchFamily="49" charset="0"/>
                </a:rPr>
                <a:t>作业</a:t>
              </a:r>
              <a:r>
                <a:rPr lang="en-US" altLang="zh-CN" sz="1600">
                  <a:solidFill>
                    <a:srgbClr val="0000FF"/>
                  </a:solidFill>
                  <a:latin typeface="Consolas" pitchFamily="49" charset="0"/>
                  <a:ea typeface="仿宋" pitchFamily="49" charset="-122"/>
                  <a:cs typeface="Consolas" pitchFamily="49" charset="0"/>
                </a:rPr>
                <a:t>3</a:t>
              </a:r>
              <a:r>
                <a:rPr lang="zh-CN" altLang="en-US" sz="1600">
                  <a:solidFill>
                    <a:srgbClr val="0000FF"/>
                  </a:solidFill>
                  <a:latin typeface="Consolas" pitchFamily="49" charset="0"/>
                  <a:ea typeface="仿宋" pitchFamily="49" charset="-122"/>
                  <a:cs typeface="Consolas" pitchFamily="49" charset="0"/>
                </a:rPr>
                <a:t>在</a:t>
              </a:r>
              <a:r>
                <a:rPr lang="en-US" altLang="zh-CN" sz="1600">
                  <a:solidFill>
                    <a:srgbClr val="0000FF"/>
                  </a:solidFill>
                  <a:latin typeface="Consolas" pitchFamily="49" charset="0"/>
                  <a:ea typeface="仿宋" pitchFamily="49" charset="-122"/>
                  <a:cs typeface="Consolas" pitchFamily="49" charset="0"/>
                </a:rPr>
                <a:t>M</a:t>
              </a:r>
              <a:r>
                <a:rPr lang="en-US" altLang="zh-CN" sz="1600" baseline="-25000">
                  <a:solidFill>
                    <a:srgbClr val="0000FF"/>
                  </a:solidFill>
                  <a:latin typeface="Consolas" pitchFamily="49" charset="0"/>
                  <a:ea typeface="仿宋" pitchFamily="49" charset="-122"/>
                  <a:cs typeface="Consolas" pitchFamily="49" charset="0"/>
                </a:rPr>
                <a:t>2</a:t>
              </a:r>
              <a:r>
                <a:rPr lang="zh-CN" altLang="en-US" sz="1600">
                  <a:solidFill>
                    <a:srgbClr val="C00000"/>
                  </a:solidFill>
                  <a:latin typeface="Consolas" pitchFamily="49" charset="0"/>
                  <a:ea typeface="仿宋" pitchFamily="49" charset="-122"/>
                  <a:cs typeface="Consolas" pitchFamily="49" charset="0"/>
                </a:rPr>
                <a:t>不等</a:t>
              </a:r>
              <a:r>
                <a:rPr lang="zh-CN" altLang="en-US"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[1]=</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b</a:t>
              </a:r>
              <a:r>
                <a:rPr lang="en-US" altLang="zh-CN" sz="1600">
                  <a:solidFill>
                    <a:srgbClr val="0000FF"/>
                  </a:solidFill>
                  <a:latin typeface="Consolas" pitchFamily="49" charset="0"/>
                  <a:ea typeface="仿宋" pitchFamily="49" charset="-122"/>
                  <a:cs typeface="Consolas" pitchFamily="49" charset="0"/>
                </a:rPr>
                <a:t>[3]=5</a:t>
              </a:r>
              <a:endParaRPr lang="zh-CN" altLang="en-US" sz="1600">
                <a:solidFill>
                  <a:srgbClr val="0000FF"/>
                </a:solidFill>
                <a:latin typeface="Consolas" pitchFamily="49" charset="0"/>
                <a:ea typeface="仿宋" pitchFamily="49" charset="-122"/>
                <a:cs typeface="Consolas" pitchFamily="49" charset="0"/>
              </a:endParaRPr>
            </a:p>
          </p:txBody>
        </p:sp>
        <p:cxnSp>
          <p:nvCxnSpPr>
            <p:cNvPr id="11" name="直接箭头连接符 10"/>
            <p:cNvCxnSpPr/>
            <p:nvPr/>
          </p:nvCxnSpPr>
          <p:spPr>
            <a:xfrm flipV="1">
              <a:off x="3500430" y="4643446"/>
              <a:ext cx="1071570" cy="71438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12" name="组合 11"/>
          <p:cNvGrpSpPr/>
          <p:nvPr/>
        </p:nvGrpSpPr>
        <p:grpSpPr>
          <a:xfrm>
            <a:off x="2000232" y="493187"/>
            <a:ext cx="928694" cy="640081"/>
            <a:chOff x="2000232" y="2707765"/>
            <a:chExt cx="928694" cy="640081"/>
          </a:xfrm>
        </p:grpSpPr>
        <p:sp>
          <p:nvSpPr>
            <p:cNvPr id="13" name="TextBox 12"/>
            <p:cNvSpPr txBox="1"/>
            <p:nvPr/>
          </p:nvSpPr>
          <p:spPr>
            <a:xfrm>
              <a:off x="2000232" y="2707765"/>
              <a:ext cx="928694" cy="246221"/>
            </a:xfrm>
            <a:prstGeom prst="rect">
              <a:avLst/>
            </a:prstGeom>
            <a:noFill/>
          </p:spPr>
          <p:txBody>
            <a:bodyPr wrap="square" lIns="0" tIns="0" rIns="0" bIns="0" rtlCol="0">
              <a:spAutoFit/>
            </a:bodyPr>
            <a:lstStyle/>
            <a:p>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+2=2</a:t>
              </a:r>
              <a:endParaRPr lang="zh-CN" altLang="en-US" sz="1600">
                <a:solidFill>
                  <a:srgbClr val="0000FF"/>
                </a:solidFill>
                <a:latin typeface="Consolas" pitchFamily="49" charset="0"/>
                <a:ea typeface="仿宋" pitchFamily="49" charset="-122"/>
                <a:cs typeface="Consolas" pitchFamily="49" charset="0"/>
              </a:endParaRPr>
            </a:p>
          </p:txBody>
        </p:sp>
        <p:cxnSp>
          <p:nvCxnSpPr>
            <p:cNvPr id="14" name="直接箭头连接符 13"/>
            <p:cNvCxnSpPr/>
            <p:nvPr/>
          </p:nvCxnSpPr>
          <p:spPr>
            <a:xfrm rot="5400000">
              <a:off x="2190742" y="3167052"/>
              <a:ext cx="360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15" name="组合 14"/>
          <p:cNvGrpSpPr/>
          <p:nvPr/>
        </p:nvGrpSpPr>
        <p:grpSpPr>
          <a:xfrm>
            <a:off x="3096854" y="493187"/>
            <a:ext cx="1000132" cy="652607"/>
            <a:chOff x="3096854" y="2707765"/>
            <a:chExt cx="1000132" cy="652607"/>
          </a:xfrm>
        </p:grpSpPr>
        <p:sp>
          <p:nvSpPr>
            <p:cNvPr id="16" name="TextBox 15"/>
            <p:cNvSpPr txBox="1"/>
            <p:nvPr/>
          </p:nvSpPr>
          <p:spPr>
            <a:xfrm>
              <a:off x="3096854" y="2707765"/>
              <a:ext cx="1000132" cy="246221"/>
            </a:xfrm>
            <a:prstGeom prst="rect">
              <a:avLst/>
            </a:prstGeom>
            <a:noFill/>
          </p:spPr>
          <p:txBody>
            <a:bodyPr wrap="square" lIns="0" tIns="0" rIns="0" bIns="0" rtlCol="0">
              <a:spAutoFit/>
            </a:bodyPr>
            <a:lstStyle/>
            <a:p>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+2=4</a:t>
              </a:r>
              <a:endParaRPr lang="zh-CN" altLang="en-US" sz="1600">
                <a:solidFill>
                  <a:srgbClr val="0000FF"/>
                </a:solidFill>
                <a:latin typeface="Consolas" pitchFamily="49" charset="0"/>
                <a:ea typeface="仿宋" pitchFamily="49" charset="-122"/>
                <a:cs typeface="Consolas" pitchFamily="49" charset="0"/>
              </a:endParaRPr>
            </a:p>
          </p:txBody>
        </p:sp>
        <p:cxnSp>
          <p:nvCxnSpPr>
            <p:cNvPr id="17" name="直接箭头连接符 16"/>
            <p:cNvCxnSpPr/>
            <p:nvPr/>
          </p:nvCxnSpPr>
          <p:spPr>
            <a:xfrm rot="5400000">
              <a:off x="3605388" y="3179578"/>
              <a:ext cx="360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18" name="组合 17"/>
          <p:cNvGrpSpPr/>
          <p:nvPr/>
        </p:nvGrpSpPr>
        <p:grpSpPr>
          <a:xfrm>
            <a:off x="3786182" y="493187"/>
            <a:ext cx="3000396" cy="1219713"/>
            <a:chOff x="3786182" y="2707765"/>
            <a:chExt cx="3000396" cy="1219713"/>
          </a:xfrm>
        </p:grpSpPr>
        <p:sp>
          <p:nvSpPr>
            <p:cNvPr id="19" name="矩形 18"/>
            <p:cNvSpPr/>
            <p:nvPr/>
          </p:nvSpPr>
          <p:spPr>
            <a:xfrm>
              <a:off x="3786182" y="3427412"/>
              <a:ext cx="2160000" cy="50006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2</a:t>
              </a:r>
              <a:endParaRPr lang="zh-CN" altLang="en-US" sz="1600">
                <a:solidFill>
                  <a:srgbClr val="C00000"/>
                </a:solidFill>
                <a:latin typeface="Consolas" pitchFamily="49" charset="0"/>
                <a:ea typeface="华文中宋" pitchFamily="2" charset="-122"/>
                <a:cs typeface="Consolas" pitchFamily="49" charset="0"/>
              </a:endParaRPr>
            </a:p>
          </p:txBody>
        </p:sp>
        <p:sp>
          <p:nvSpPr>
            <p:cNvPr id="20" name="TextBox 19"/>
            <p:cNvSpPr txBox="1"/>
            <p:nvPr/>
          </p:nvSpPr>
          <p:spPr>
            <a:xfrm>
              <a:off x="5786446" y="2707765"/>
              <a:ext cx="1000132" cy="246221"/>
            </a:xfrm>
            <a:prstGeom prst="rect">
              <a:avLst/>
            </a:prstGeom>
            <a:noFill/>
          </p:spPr>
          <p:txBody>
            <a:bodyPr wrap="square" lIns="0" tIns="0" rIns="0" bIns="0" rtlCol="0">
              <a:spAutoFit/>
            </a:bodyPr>
            <a:lstStyle/>
            <a:p>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+3=7</a:t>
              </a:r>
              <a:endParaRPr lang="zh-CN" altLang="en-US" sz="1600">
                <a:solidFill>
                  <a:srgbClr val="0000FF"/>
                </a:solidFill>
                <a:latin typeface="Consolas" pitchFamily="49" charset="0"/>
                <a:ea typeface="仿宋" pitchFamily="49" charset="-122"/>
                <a:cs typeface="Consolas" pitchFamily="49" charset="0"/>
              </a:endParaRPr>
            </a:p>
          </p:txBody>
        </p:sp>
        <p:cxnSp>
          <p:nvCxnSpPr>
            <p:cNvPr id="21" name="直接箭头连接符 20"/>
            <p:cNvCxnSpPr/>
            <p:nvPr/>
          </p:nvCxnSpPr>
          <p:spPr>
            <a:xfrm rot="5400000">
              <a:off x="5794914" y="3176768"/>
              <a:ext cx="360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22" name="组合 21"/>
          <p:cNvGrpSpPr/>
          <p:nvPr/>
        </p:nvGrpSpPr>
        <p:grpSpPr>
          <a:xfrm>
            <a:off x="4429124" y="1927214"/>
            <a:ext cx="2000264" cy="1779915"/>
            <a:chOff x="4429124" y="4141792"/>
            <a:chExt cx="2000264" cy="1779915"/>
          </a:xfrm>
        </p:grpSpPr>
        <p:sp>
          <p:nvSpPr>
            <p:cNvPr id="23" name="矩形 22"/>
            <p:cNvSpPr/>
            <p:nvPr/>
          </p:nvSpPr>
          <p:spPr>
            <a:xfrm>
              <a:off x="4546948" y="4141792"/>
              <a:ext cx="72000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1</a:t>
              </a:r>
              <a:endParaRPr lang="zh-CN" altLang="en-US" sz="1600">
                <a:solidFill>
                  <a:srgbClr val="C00000"/>
                </a:solidFill>
                <a:latin typeface="Consolas" pitchFamily="49" charset="0"/>
                <a:ea typeface="华文中宋" pitchFamily="2" charset="-122"/>
                <a:cs typeface="Consolas" pitchFamily="49" charset="0"/>
              </a:endParaRPr>
            </a:p>
          </p:txBody>
        </p:sp>
        <p:sp>
          <p:nvSpPr>
            <p:cNvPr id="24" name="TextBox 23"/>
            <p:cNvSpPr txBox="1"/>
            <p:nvPr/>
          </p:nvSpPr>
          <p:spPr>
            <a:xfrm>
              <a:off x="4429124" y="5429264"/>
              <a:ext cx="2000264" cy="492443"/>
            </a:xfrm>
            <a:prstGeom prst="rect">
              <a:avLst/>
            </a:prstGeom>
            <a:noFill/>
          </p:spPr>
          <p:txBody>
            <a:bodyPr wrap="square" lIns="0" tIns="0" rIns="0" bIns="0" rtlCol="0">
              <a:spAutoFit/>
            </a:bodyPr>
            <a:lstStyle/>
            <a:p>
              <a:r>
                <a:rPr lang="zh-CN" altLang="en-US" sz="1600">
                  <a:solidFill>
                    <a:srgbClr val="0000FF"/>
                  </a:solidFill>
                  <a:latin typeface="Consolas" pitchFamily="49" charset="0"/>
                  <a:ea typeface="仿宋" pitchFamily="49" charset="-122"/>
                  <a:cs typeface="Consolas" pitchFamily="49" charset="0"/>
                </a:rPr>
                <a:t>作业</a:t>
              </a:r>
              <a:r>
                <a:rPr lang="en-US" altLang="zh-CN" sz="1600">
                  <a:solidFill>
                    <a:srgbClr val="0000FF"/>
                  </a:solidFill>
                  <a:latin typeface="Consolas" pitchFamily="49" charset="0"/>
                  <a:ea typeface="仿宋" pitchFamily="49" charset="-122"/>
                  <a:cs typeface="Consolas" pitchFamily="49" charset="0"/>
                </a:rPr>
                <a:t>1</a:t>
              </a:r>
              <a:r>
                <a:rPr lang="zh-CN" altLang="en-US" sz="1600">
                  <a:solidFill>
                    <a:srgbClr val="0000FF"/>
                  </a:solidFill>
                  <a:latin typeface="Consolas" pitchFamily="49" charset="0"/>
                  <a:ea typeface="仿宋" pitchFamily="49" charset="-122"/>
                  <a:cs typeface="Consolas" pitchFamily="49" charset="0"/>
                </a:rPr>
                <a:t>在</a:t>
              </a:r>
              <a:r>
                <a:rPr lang="en-US" altLang="zh-CN" sz="1600">
                  <a:solidFill>
                    <a:srgbClr val="0000FF"/>
                  </a:solidFill>
                  <a:latin typeface="Consolas" pitchFamily="49" charset="0"/>
                  <a:ea typeface="仿宋" pitchFamily="49" charset="-122"/>
                  <a:cs typeface="Consolas" pitchFamily="49" charset="0"/>
                </a:rPr>
                <a:t>M</a:t>
              </a:r>
              <a:r>
                <a:rPr lang="en-US" altLang="zh-CN" sz="1600" baseline="-25000">
                  <a:solidFill>
                    <a:srgbClr val="0000FF"/>
                  </a:solidFill>
                  <a:latin typeface="Consolas" pitchFamily="49" charset="0"/>
                  <a:ea typeface="仿宋" pitchFamily="49" charset="-122"/>
                  <a:cs typeface="Consolas" pitchFamily="49" charset="0"/>
                </a:rPr>
                <a:t>2</a:t>
              </a:r>
              <a:r>
                <a:rPr lang="zh-CN" altLang="en-US" sz="1600">
                  <a:solidFill>
                    <a:srgbClr val="C00000"/>
                  </a:solidFill>
                  <a:latin typeface="Consolas" pitchFamily="49" charset="0"/>
                  <a:ea typeface="仿宋" pitchFamily="49" charset="-122"/>
                  <a:cs typeface="Consolas" pitchFamily="49" charset="0"/>
                </a:rPr>
                <a:t>要等</a:t>
              </a:r>
              <a:r>
                <a:rPr lang="zh-CN" altLang="en-US"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[2]=</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[2]+</a:t>
              </a:r>
              <a:r>
                <a:rPr lang="en-US" altLang="zh-CN" sz="1600" i="1">
                  <a:solidFill>
                    <a:srgbClr val="0000FF"/>
                  </a:solidFill>
                  <a:latin typeface="Consolas" pitchFamily="49" charset="0"/>
                  <a:ea typeface="仿宋" pitchFamily="49" charset="-122"/>
                  <a:cs typeface="Consolas" pitchFamily="49" charset="0"/>
                </a:rPr>
                <a:t>b</a:t>
              </a:r>
              <a:r>
                <a:rPr lang="en-US" altLang="zh-CN" sz="1600">
                  <a:solidFill>
                    <a:srgbClr val="0000FF"/>
                  </a:solidFill>
                  <a:latin typeface="Consolas" pitchFamily="49" charset="0"/>
                  <a:ea typeface="仿宋" pitchFamily="49" charset="-122"/>
                  <a:cs typeface="Consolas" pitchFamily="49" charset="0"/>
                </a:rPr>
                <a:t>[1]=6</a:t>
              </a:r>
              <a:endParaRPr lang="zh-CN" altLang="en-US" sz="1600">
                <a:solidFill>
                  <a:srgbClr val="0000FF"/>
                </a:solidFill>
                <a:latin typeface="Consolas" pitchFamily="49" charset="0"/>
                <a:ea typeface="仿宋" pitchFamily="49" charset="-122"/>
                <a:cs typeface="Consolas" pitchFamily="49" charset="0"/>
              </a:endParaRPr>
            </a:p>
          </p:txBody>
        </p:sp>
        <p:cxnSp>
          <p:nvCxnSpPr>
            <p:cNvPr id="25" name="直接箭头连接符 24"/>
            <p:cNvCxnSpPr/>
            <p:nvPr/>
          </p:nvCxnSpPr>
          <p:spPr>
            <a:xfrm rot="5400000" flipH="1" flipV="1">
              <a:off x="4885400" y="5057446"/>
              <a:ext cx="8280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26" name="组合 25"/>
          <p:cNvGrpSpPr/>
          <p:nvPr/>
        </p:nvGrpSpPr>
        <p:grpSpPr>
          <a:xfrm>
            <a:off x="928662" y="1212834"/>
            <a:ext cx="3620718" cy="1214446"/>
            <a:chOff x="928662" y="3427412"/>
            <a:chExt cx="3620718" cy="1214446"/>
          </a:xfrm>
        </p:grpSpPr>
        <p:sp>
          <p:nvSpPr>
            <p:cNvPr id="27" name="矩形 26"/>
            <p:cNvSpPr/>
            <p:nvPr/>
          </p:nvSpPr>
          <p:spPr>
            <a:xfrm>
              <a:off x="928662" y="3427412"/>
              <a:ext cx="1440000" cy="50006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3</a:t>
              </a:r>
              <a:endParaRPr lang="zh-CN" altLang="en-US" sz="1600">
                <a:solidFill>
                  <a:srgbClr val="C00000"/>
                </a:solidFill>
                <a:latin typeface="Consolas" pitchFamily="49" charset="0"/>
                <a:ea typeface="华文中宋" pitchFamily="2" charset="-122"/>
                <a:cs typeface="Consolas" pitchFamily="49" charset="0"/>
              </a:endParaRPr>
            </a:p>
          </p:txBody>
        </p:sp>
        <p:sp>
          <p:nvSpPr>
            <p:cNvPr id="28" name="矩形 27"/>
            <p:cNvSpPr/>
            <p:nvPr/>
          </p:nvSpPr>
          <p:spPr>
            <a:xfrm>
              <a:off x="2389380" y="4141792"/>
              <a:ext cx="2160000" cy="50006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3</a:t>
              </a:r>
              <a:endParaRPr lang="zh-CN" altLang="en-US" sz="1600">
                <a:solidFill>
                  <a:srgbClr val="C00000"/>
                </a:solidFill>
                <a:latin typeface="Consolas" pitchFamily="49" charset="0"/>
                <a:ea typeface="华文中宋" pitchFamily="2" charset="-122"/>
                <a:cs typeface="Consolas" pitchFamily="49" charset="0"/>
              </a:endParaRPr>
            </a:p>
          </p:txBody>
        </p:sp>
      </p:grpSp>
      <p:grpSp>
        <p:nvGrpSpPr>
          <p:cNvPr id="29" name="组合 28"/>
          <p:cNvGrpSpPr/>
          <p:nvPr/>
        </p:nvGrpSpPr>
        <p:grpSpPr>
          <a:xfrm>
            <a:off x="5941848" y="1927214"/>
            <a:ext cx="2689592" cy="1422725"/>
            <a:chOff x="5941848" y="4141792"/>
            <a:chExt cx="2689592" cy="1422725"/>
          </a:xfrm>
        </p:grpSpPr>
        <p:sp>
          <p:nvSpPr>
            <p:cNvPr id="30" name="矩形 29"/>
            <p:cNvSpPr/>
            <p:nvPr/>
          </p:nvSpPr>
          <p:spPr>
            <a:xfrm>
              <a:off x="5941848" y="4141792"/>
              <a:ext cx="720000" cy="50006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a:solidFill>
                    <a:srgbClr val="C00000"/>
                  </a:solidFill>
                  <a:latin typeface="Consolas" pitchFamily="49" charset="0"/>
                  <a:ea typeface="华文中宋" pitchFamily="2" charset="-122"/>
                  <a:cs typeface="Consolas" pitchFamily="49" charset="0"/>
                </a:rPr>
                <a:t>作业</a:t>
              </a:r>
              <a:r>
                <a:rPr lang="en-US" altLang="zh-CN" sz="1600">
                  <a:solidFill>
                    <a:srgbClr val="C00000"/>
                  </a:solidFill>
                  <a:latin typeface="Consolas" pitchFamily="49" charset="0"/>
                  <a:ea typeface="华文中宋" pitchFamily="2" charset="-122"/>
                  <a:cs typeface="Consolas" pitchFamily="49" charset="0"/>
                </a:rPr>
                <a:t>2</a:t>
              </a:r>
              <a:endParaRPr lang="zh-CN" altLang="en-US" sz="1600">
                <a:solidFill>
                  <a:srgbClr val="C00000"/>
                </a:solidFill>
                <a:latin typeface="Consolas" pitchFamily="49" charset="0"/>
                <a:ea typeface="华文中宋" pitchFamily="2" charset="-122"/>
                <a:cs typeface="Consolas" pitchFamily="49" charset="0"/>
              </a:endParaRPr>
            </a:p>
          </p:txBody>
        </p:sp>
        <p:sp>
          <p:nvSpPr>
            <p:cNvPr id="31" name="TextBox 30"/>
            <p:cNvSpPr txBox="1"/>
            <p:nvPr/>
          </p:nvSpPr>
          <p:spPr>
            <a:xfrm>
              <a:off x="6774052" y="5072074"/>
              <a:ext cx="1857388" cy="492443"/>
            </a:xfrm>
            <a:prstGeom prst="rect">
              <a:avLst/>
            </a:prstGeom>
            <a:noFill/>
          </p:spPr>
          <p:txBody>
            <a:bodyPr wrap="square" lIns="0" tIns="0" rIns="0" bIns="0" rtlCol="0">
              <a:spAutoFit/>
            </a:bodyPr>
            <a:lstStyle/>
            <a:p>
              <a:r>
                <a:rPr lang="zh-CN" altLang="en-US" sz="1600">
                  <a:solidFill>
                    <a:srgbClr val="0000FF"/>
                  </a:solidFill>
                  <a:latin typeface="Consolas" pitchFamily="49" charset="0"/>
                  <a:ea typeface="仿宋" pitchFamily="49" charset="-122"/>
                  <a:cs typeface="Consolas" pitchFamily="49" charset="0"/>
                </a:rPr>
                <a:t>作业</a:t>
              </a:r>
              <a:r>
                <a:rPr lang="en-US" altLang="zh-CN" sz="1600">
                  <a:solidFill>
                    <a:srgbClr val="0000FF"/>
                  </a:solidFill>
                  <a:latin typeface="Consolas" pitchFamily="49" charset="0"/>
                  <a:ea typeface="仿宋" pitchFamily="49" charset="-122"/>
                  <a:cs typeface="Consolas" pitchFamily="49" charset="0"/>
                </a:rPr>
                <a:t>2</a:t>
              </a:r>
              <a:r>
                <a:rPr lang="zh-CN" altLang="en-US" sz="1600">
                  <a:solidFill>
                    <a:srgbClr val="0000FF"/>
                  </a:solidFill>
                  <a:latin typeface="Consolas" pitchFamily="49" charset="0"/>
                  <a:ea typeface="仿宋" pitchFamily="49" charset="-122"/>
                  <a:cs typeface="Consolas" pitchFamily="49" charset="0"/>
                </a:rPr>
                <a:t>在</a:t>
              </a:r>
              <a:r>
                <a:rPr lang="en-US" altLang="zh-CN" sz="1600">
                  <a:solidFill>
                    <a:srgbClr val="0000FF"/>
                  </a:solidFill>
                  <a:latin typeface="Consolas" pitchFamily="49" charset="0"/>
                  <a:ea typeface="仿宋" pitchFamily="49" charset="-122"/>
                  <a:cs typeface="Consolas" pitchFamily="49" charset="0"/>
                </a:rPr>
                <a:t>M</a:t>
              </a:r>
              <a:r>
                <a:rPr lang="en-US" altLang="zh-CN" sz="1600" baseline="-25000">
                  <a:solidFill>
                    <a:srgbClr val="0000FF"/>
                  </a:solidFill>
                  <a:latin typeface="Consolas" pitchFamily="49" charset="0"/>
                  <a:ea typeface="仿宋" pitchFamily="49" charset="-122"/>
                  <a:cs typeface="Consolas" pitchFamily="49" charset="0"/>
                </a:rPr>
                <a:t>2</a:t>
              </a:r>
              <a:r>
                <a:rPr lang="zh-CN" altLang="en-US" sz="1600">
                  <a:solidFill>
                    <a:srgbClr val="C00000"/>
                  </a:solidFill>
                  <a:latin typeface="Consolas" pitchFamily="49" charset="0"/>
                  <a:ea typeface="仿宋" pitchFamily="49" charset="-122"/>
                  <a:cs typeface="Consolas" pitchFamily="49" charset="0"/>
                </a:rPr>
                <a:t>不等</a:t>
              </a:r>
              <a:r>
                <a:rPr lang="zh-CN" altLang="en-US"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2</a:t>
              </a:r>
              <a:r>
                <a:rPr lang="en-US" altLang="zh-CN" sz="1600">
                  <a:solidFill>
                    <a:srgbClr val="0000FF"/>
                  </a:solidFill>
                  <a:latin typeface="Consolas" pitchFamily="49" charset="0"/>
                  <a:ea typeface="仿宋" pitchFamily="49" charset="-122"/>
                  <a:cs typeface="Consolas" pitchFamily="49" charset="0"/>
                </a:rPr>
                <a:t>[3]=</a:t>
              </a:r>
              <a:r>
                <a:rPr lang="en-US" altLang="zh-CN" sz="1600" i="1">
                  <a:solidFill>
                    <a:srgbClr val="0000FF"/>
                  </a:solidFill>
                  <a:latin typeface="Consolas" pitchFamily="49" charset="0"/>
                  <a:ea typeface="仿宋" pitchFamily="49" charset="-122"/>
                  <a:cs typeface="Consolas" pitchFamily="49" charset="0"/>
                </a:rPr>
                <a:t>f</a:t>
              </a:r>
              <a:r>
                <a:rPr lang="en-US" altLang="zh-CN" sz="1600" baseline="-25000">
                  <a:solidFill>
                    <a:srgbClr val="0000FF"/>
                  </a:solidFill>
                  <a:latin typeface="Consolas" pitchFamily="49" charset="0"/>
                  <a:ea typeface="仿宋" pitchFamily="49" charset="-122"/>
                  <a:cs typeface="Consolas" pitchFamily="49" charset="0"/>
                </a:rPr>
                <a:t>1</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b</a:t>
              </a:r>
              <a:r>
                <a:rPr lang="en-US" altLang="zh-CN" sz="1600">
                  <a:solidFill>
                    <a:srgbClr val="0000FF"/>
                  </a:solidFill>
                  <a:latin typeface="Consolas" pitchFamily="49" charset="0"/>
                  <a:ea typeface="仿宋" pitchFamily="49" charset="-122"/>
                  <a:cs typeface="Consolas" pitchFamily="49" charset="0"/>
                </a:rPr>
                <a:t>[2]=8</a:t>
              </a:r>
              <a:endParaRPr lang="zh-CN" altLang="en-US" sz="1600">
                <a:solidFill>
                  <a:srgbClr val="0000FF"/>
                </a:solidFill>
                <a:latin typeface="Consolas" pitchFamily="49" charset="0"/>
                <a:ea typeface="仿宋" pitchFamily="49" charset="-122"/>
                <a:cs typeface="Consolas" pitchFamily="49" charset="0"/>
              </a:endParaRPr>
            </a:p>
          </p:txBody>
        </p:sp>
        <p:cxnSp>
          <p:nvCxnSpPr>
            <p:cNvPr id="32" name="直接箭头连接符 31"/>
            <p:cNvCxnSpPr/>
            <p:nvPr/>
          </p:nvCxnSpPr>
          <p:spPr>
            <a:xfrm rot="5400000" flipH="1" flipV="1">
              <a:off x="6428496" y="4858652"/>
              <a:ext cx="432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33" name="组合 39"/>
          <p:cNvGrpSpPr/>
          <p:nvPr/>
        </p:nvGrpSpPr>
        <p:grpSpPr>
          <a:xfrm>
            <a:off x="512560" y="1644235"/>
            <a:ext cx="8072494" cy="2582725"/>
            <a:chOff x="512560" y="1794734"/>
            <a:chExt cx="8072494" cy="2582725"/>
          </a:xfrm>
        </p:grpSpPr>
        <p:sp>
          <p:nvSpPr>
            <p:cNvPr id="34" name="TextBox 33"/>
            <p:cNvSpPr txBox="1"/>
            <p:nvPr/>
          </p:nvSpPr>
          <p:spPr>
            <a:xfrm>
              <a:off x="512560" y="4008127"/>
              <a:ext cx="8072494" cy="369332"/>
            </a:xfrm>
            <a:prstGeom prst="rect">
              <a:avLst/>
            </a:prstGeom>
            <a:noFill/>
          </p:spPr>
          <p:txBody>
            <a:bodyPr wrap="square" rtlCol="0">
              <a:spAutoFit/>
            </a:bodyPr>
            <a:lstStyle/>
            <a:p>
              <a:r>
                <a:rPr lang="zh-CN" altLang="en-US" sz="1800">
                  <a:solidFill>
                    <a:srgbClr val="0000FF"/>
                  </a:solidFill>
                  <a:latin typeface="Consolas" pitchFamily="49" charset="0"/>
                  <a:ea typeface="仿宋" pitchFamily="49" charset="-122"/>
                  <a:cs typeface="Consolas" pitchFamily="49" charset="0"/>
                </a:rPr>
                <a:t>第</a:t>
              </a:r>
              <a:r>
                <a:rPr lang="en-US" altLang="zh-CN" sz="1800" i="1">
                  <a:solidFill>
                    <a:srgbClr val="0000FF"/>
                  </a:solidFill>
                  <a:latin typeface="Consolas" pitchFamily="49" charset="0"/>
                  <a:ea typeface="仿宋" pitchFamily="49" charset="-122"/>
                  <a:cs typeface="Consolas" pitchFamily="49" charset="0"/>
                </a:rPr>
                <a:t>i</a:t>
              </a:r>
              <a:r>
                <a:rPr lang="zh-CN" altLang="en-US" sz="1800">
                  <a:solidFill>
                    <a:srgbClr val="0000FF"/>
                  </a:solidFill>
                  <a:latin typeface="Consolas" pitchFamily="49" charset="0"/>
                  <a:ea typeface="仿宋" pitchFamily="49" charset="-122"/>
                  <a:cs typeface="Consolas" pitchFamily="49" charset="0"/>
                </a:rPr>
                <a:t>步执行作业</a:t>
              </a:r>
              <a:r>
                <a:rPr lang="en-US" altLang="zh-CN" sz="1800" i="1">
                  <a:solidFill>
                    <a:srgbClr val="0000FF"/>
                  </a:solidFill>
                  <a:latin typeface="Consolas" pitchFamily="49" charset="0"/>
                  <a:ea typeface="仿宋" pitchFamily="49" charset="-122"/>
                  <a:cs typeface="Consolas" pitchFamily="49" charset="0"/>
                </a:rPr>
                <a:t>x</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zh-CN" altLang="en-US" sz="1800">
                  <a:solidFill>
                    <a:srgbClr val="0000FF"/>
                  </a:solidFill>
                  <a:latin typeface="Consolas" pitchFamily="49" charset="0"/>
                  <a:ea typeface="仿宋" pitchFamily="49" charset="-122"/>
                  <a:cs typeface="Consolas" pitchFamily="49" charset="0"/>
                </a:rPr>
                <a:t>在</a:t>
              </a:r>
              <a:r>
                <a:rPr lang="en-US" altLang="zh-CN" sz="1800">
                  <a:solidFill>
                    <a:srgbClr val="0000FF"/>
                  </a:solidFill>
                  <a:latin typeface="Consolas" pitchFamily="49" charset="0"/>
                  <a:ea typeface="仿宋" pitchFamily="49" charset="-122"/>
                  <a:cs typeface="Consolas" pitchFamily="49" charset="0"/>
                </a:rPr>
                <a:t>M</a:t>
              </a:r>
              <a:r>
                <a:rPr lang="en-US" altLang="zh-CN" sz="1800" baseline="-25000">
                  <a:solidFill>
                    <a:srgbClr val="0000FF"/>
                  </a:solidFill>
                  <a:latin typeface="Consolas" pitchFamily="49" charset="0"/>
                  <a:ea typeface="仿宋" pitchFamily="49" charset="-122"/>
                  <a:cs typeface="Consolas" pitchFamily="49" charset="0"/>
                </a:rPr>
                <a:t>2</a:t>
              </a:r>
              <a:r>
                <a:rPr lang="zh-CN" altLang="en-US" sz="1800">
                  <a:solidFill>
                    <a:srgbClr val="0000FF"/>
                  </a:solidFill>
                  <a:latin typeface="Consolas" pitchFamily="49" charset="0"/>
                  <a:ea typeface="仿宋" pitchFamily="49" charset="-122"/>
                  <a:cs typeface="Consolas" pitchFamily="49" charset="0"/>
                </a:rPr>
                <a:t>上需要等待的条件：</a:t>
              </a:r>
              <a:r>
                <a:rPr lang="en-US" altLang="zh-CN" sz="1800" i="1">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f</a:t>
              </a:r>
              <a:r>
                <a:rPr lang="en-US" altLang="zh-CN" sz="1800" baseline="-250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2</a:t>
              </a:r>
              <a:r>
                <a:rPr lang="en-US" altLang="zh-CN" sz="18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a:t>
              </a:r>
              <a:r>
                <a:rPr lang="en-US" altLang="zh-CN" sz="1800" i="1">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i</a:t>
              </a:r>
              <a:r>
                <a:rPr lang="en-US" altLang="zh-CN" sz="18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-1]&gt;</a:t>
              </a:r>
              <a:r>
                <a:rPr lang="en-US" altLang="zh-CN" sz="1800" i="1">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f</a:t>
              </a:r>
              <a:r>
                <a:rPr lang="en-US" altLang="zh-CN" sz="1800" baseline="-250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1</a:t>
              </a:r>
              <a:r>
                <a:rPr lang="zh-CN" altLang="en-US" sz="1800">
                  <a:solidFill>
                    <a:srgbClr val="0000FF"/>
                  </a:solidFill>
                  <a:latin typeface="Consolas" pitchFamily="49" charset="0"/>
                  <a:ea typeface="仿宋" pitchFamily="49" charset="-122"/>
                  <a:cs typeface="Consolas" pitchFamily="49" charset="0"/>
                </a:rPr>
                <a:t>；否则不需要等待</a:t>
              </a:r>
            </a:p>
          </p:txBody>
        </p:sp>
        <p:sp>
          <p:nvSpPr>
            <p:cNvPr id="35" name="椭圆 34"/>
            <p:cNvSpPr/>
            <p:nvPr/>
          </p:nvSpPr>
          <p:spPr>
            <a:xfrm>
              <a:off x="3773656" y="1794734"/>
              <a:ext cx="764484" cy="357190"/>
            </a:xfrm>
            <a:prstGeom prst="ellipse">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36"/>
            <p:cNvSpPr/>
            <p:nvPr/>
          </p:nvSpPr>
          <p:spPr>
            <a:xfrm>
              <a:off x="1285852" y="1979112"/>
              <a:ext cx="2497008" cy="2029015"/>
            </a:xfrm>
            <a:custGeom>
              <a:avLst/>
              <a:gdLst>
                <a:gd name="connsiteX0" fmla="*/ 2555309 w 2555309"/>
                <a:gd name="connsiteY0" fmla="*/ 0 h 2480154"/>
                <a:gd name="connsiteX1" fmla="*/ 1578279 w 2555309"/>
                <a:gd name="connsiteY1" fmla="*/ 12526 h 2480154"/>
                <a:gd name="connsiteX2" fmla="*/ 914400 w 2555309"/>
                <a:gd name="connsiteY2" fmla="*/ 62630 h 2480154"/>
                <a:gd name="connsiteX3" fmla="*/ 663879 w 2555309"/>
                <a:gd name="connsiteY3" fmla="*/ 187891 h 2480154"/>
                <a:gd name="connsiteX4" fmla="*/ 413358 w 2555309"/>
                <a:gd name="connsiteY4" fmla="*/ 676406 h 2480154"/>
                <a:gd name="connsiteX5" fmla="*/ 0 w 2555309"/>
                <a:gd name="connsiteY5" fmla="*/ 2480154 h 248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5309" h="2480154">
                  <a:moveTo>
                    <a:pt x="2555309" y="0"/>
                  </a:moveTo>
                  <a:lnTo>
                    <a:pt x="1578279" y="12526"/>
                  </a:lnTo>
                  <a:cubicBezTo>
                    <a:pt x="1304794" y="22964"/>
                    <a:pt x="1066800" y="33402"/>
                    <a:pt x="914400" y="62630"/>
                  </a:cubicBezTo>
                  <a:cubicBezTo>
                    <a:pt x="762000" y="91858"/>
                    <a:pt x="747386" y="85595"/>
                    <a:pt x="663879" y="187891"/>
                  </a:cubicBezTo>
                  <a:cubicBezTo>
                    <a:pt x="580372" y="290187"/>
                    <a:pt x="524005" y="294362"/>
                    <a:pt x="413358" y="676406"/>
                  </a:cubicBezTo>
                  <a:cubicBezTo>
                    <a:pt x="302712" y="1058450"/>
                    <a:pt x="151356" y="1769302"/>
                    <a:pt x="0" y="2480154"/>
                  </a:cubicBezTo>
                </a:path>
              </a:pathLst>
            </a:custGeom>
            <a:ln>
              <a:solidFill>
                <a:srgbClr val="FF0000"/>
              </a:solidFill>
              <a:prstDash val="sysDash"/>
              <a:tailEnd type="arrow"/>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pSp>
      <p:sp>
        <p:nvSpPr>
          <p:cNvPr id="38" name="TextBox 37"/>
          <p:cNvSpPr txBox="1"/>
          <p:nvPr/>
        </p:nvSpPr>
        <p:spPr>
          <a:xfrm>
            <a:off x="1071538" y="5500702"/>
            <a:ext cx="4929222" cy="1013199"/>
          </a:xfrm>
          <a:prstGeom prst="rect">
            <a:avLst/>
          </a:prstGeom>
          <a:solidFill>
            <a:schemeClr val="accent1">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216000" tIns="108000" bIns="108000" rtlCol="0">
            <a:spAutoFit/>
          </a:bodyPr>
          <a:lstStyle/>
          <a:p>
            <a:pPr>
              <a:lnSpc>
                <a:spcPts val="2800"/>
              </a:lnSpc>
              <a:spcBef>
                <a:spcPts val="600"/>
              </a:spcBef>
            </a:pPr>
            <a:r>
              <a:rPr lang="en-US" altLang="zh-CN" sz="1800" i="1">
                <a:solidFill>
                  <a:srgbClr val="0000FF"/>
                </a:solidFill>
                <a:latin typeface="Consolas" pitchFamily="49" charset="0"/>
                <a:ea typeface="楷体" pitchFamily="49" charset="-122"/>
                <a:cs typeface="Consolas" pitchFamily="49" charset="0"/>
              </a:rPr>
              <a:t>f</a:t>
            </a:r>
            <a:r>
              <a:rPr lang="en-US" altLang="zh-CN" sz="1800" baseline="-25000">
                <a:solidFill>
                  <a:srgbClr val="0000FF"/>
                </a:solidFill>
                <a:latin typeface="Consolas" pitchFamily="49" charset="0"/>
                <a:ea typeface="楷体" pitchFamily="49" charset="-122"/>
                <a:cs typeface="Consolas" pitchFamily="49" charset="0"/>
              </a:rPr>
              <a:t>1</a:t>
            </a:r>
            <a:r>
              <a:rPr lang="en-US" altLang="zh-CN" sz="1800">
                <a:solidFill>
                  <a:srgbClr val="0000FF"/>
                </a:solidFill>
                <a:latin typeface="Consolas" pitchFamily="49" charset="0"/>
                <a:ea typeface="楷体" pitchFamily="49" charset="-122"/>
                <a:cs typeface="Consolas" pitchFamily="49" charset="0"/>
              </a:rPr>
              <a:t> += </a:t>
            </a:r>
            <a:r>
              <a:rPr lang="en-US" altLang="zh-CN" sz="1800" i="1">
                <a:solidFill>
                  <a:srgbClr val="0000FF"/>
                </a:solidFill>
                <a:latin typeface="Consolas" pitchFamily="49" charset="0"/>
                <a:ea typeface="楷体" pitchFamily="49" charset="-122"/>
                <a:cs typeface="Consolas" pitchFamily="49" charset="0"/>
              </a:rPr>
              <a:t>a</a:t>
            </a:r>
            <a:r>
              <a:rPr lang="en-US" altLang="zh-CN" sz="1800">
                <a:solidFill>
                  <a:srgbClr val="0000FF"/>
                </a:solidFill>
                <a:latin typeface="Consolas" pitchFamily="49" charset="0"/>
                <a:ea typeface="楷体" pitchFamily="49" charset="-122"/>
                <a:cs typeface="Consolas" pitchFamily="49" charset="0"/>
              </a:rPr>
              <a:t>[x[</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p>
          <a:p>
            <a:pPr>
              <a:lnSpc>
                <a:spcPts val="2800"/>
              </a:lnSpc>
              <a:spcBef>
                <a:spcPts val="600"/>
              </a:spcBef>
            </a:pPr>
            <a:r>
              <a:rPr lang="en-US" altLang="zh-CN" sz="1800" i="1">
                <a:solidFill>
                  <a:srgbClr val="0000FF"/>
                </a:solidFill>
                <a:latin typeface="Consolas" pitchFamily="49" charset="0"/>
                <a:ea typeface="楷体" pitchFamily="49" charset="-122"/>
                <a:cs typeface="Consolas" pitchFamily="49" charset="0"/>
              </a:rPr>
              <a:t>f</a:t>
            </a:r>
            <a:r>
              <a:rPr lang="en-US" altLang="zh-CN" sz="1800" baseline="-25000">
                <a:solidFill>
                  <a:srgbClr val="0000FF"/>
                </a:solidFill>
                <a:latin typeface="Consolas" pitchFamily="49" charset="0"/>
                <a:ea typeface="楷体" pitchFamily="49" charset="-122"/>
                <a:cs typeface="Consolas" pitchFamily="49" charset="0"/>
              </a:rPr>
              <a:t>2</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]=max(</a:t>
            </a:r>
            <a:r>
              <a:rPr lang="en-US" altLang="zh-CN" sz="1800" i="1">
                <a:solidFill>
                  <a:srgbClr val="0000FF"/>
                </a:solidFill>
                <a:latin typeface="Consolas" pitchFamily="49" charset="0"/>
                <a:ea typeface="楷体" pitchFamily="49" charset="-122"/>
                <a:cs typeface="Consolas" pitchFamily="49" charset="0"/>
              </a:rPr>
              <a:t>f</a:t>
            </a:r>
            <a:r>
              <a:rPr lang="en-US" altLang="zh-CN" sz="1800" baseline="-25000">
                <a:solidFill>
                  <a:srgbClr val="0000FF"/>
                </a:solidFill>
                <a:latin typeface="Consolas" pitchFamily="49" charset="0"/>
                <a:ea typeface="楷体" pitchFamily="49" charset="-122"/>
                <a:cs typeface="Consolas" pitchFamily="49" charset="0"/>
              </a:rPr>
              <a:t>1</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f</a:t>
            </a:r>
            <a:r>
              <a:rPr lang="en-US" altLang="zh-CN" sz="1800" baseline="-25000">
                <a:solidFill>
                  <a:srgbClr val="0000FF"/>
                </a:solidFill>
                <a:latin typeface="Consolas" pitchFamily="49" charset="0"/>
                <a:ea typeface="楷体" pitchFamily="49" charset="-122"/>
                <a:cs typeface="Consolas" pitchFamily="49" charset="0"/>
              </a:rPr>
              <a:t>2</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-1])+</a:t>
            </a:r>
            <a:r>
              <a:rPr lang="en-US" altLang="zh-CN" sz="1800" i="1">
                <a:solidFill>
                  <a:srgbClr val="0000FF"/>
                </a:solidFill>
                <a:latin typeface="Consolas" pitchFamily="49" charset="0"/>
                <a:ea typeface="楷体" pitchFamily="49" charset="-122"/>
                <a:cs typeface="Consolas" pitchFamily="49" charset="0"/>
              </a:rPr>
              <a:t>b</a:t>
            </a:r>
            <a:r>
              <a:rPr lang="en-US" altLang="zh-CN" sz="1800">
                <a:solidFill>
                  <a:srgbClr val="0000FF"/>
                </a:solidFill>
                <a:latin typeface="Consolas" pitchFamily="49" charset="0"/>
                <a:ea typeface="楷体" pitchFamily="49" charset="-122"/>
                <a:cs typeface="Consolas" pitchFamily="49" charset="0"/>
              </a:rPr>
              <a:t>[x[</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endParaRPr lang="zh-CN" altLang="en-US" sz="18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571472" y="4429132"/>
            <a:ext cx="6715172" cy="723275"/>
          </a:xfrm>
          <a:prstGeom prst="rect">
            <a:avLst/>
          </a:prstGeom>
          <a:noFill/>
        </p:spPr>
        <p:txBody>
          <a:bodyPr wrap="square" rtlCol="0">
            <a:spAutoFit/>
          </a:bodyPr>
          <a:lstStyle/>
          <a:p>
            <a:pPr marL="457200" indent="-457200">
              <a:spcBef>
                <a:spcPts val="600"/>
              </a:spcBef>
              <a:buBlip>
                <a:blip r:embed="rId3"/>
              </a:buBlip>
            </a:pPr>
            <a:r>
              <a:rPr lang="en-US" altLang="zh-CN" sz="1800" i="1">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f</a:t>
            </a:r>
            <a:r>
              <a:rPr lang="en-US" altLang="zh-CN" sz="1800" baseline="-250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2</a:t>
            </a:r>
            <a:r>
              <a:rPr lang="en-US" altLang="zh-CN" sz="18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a:t>
            </a:r>
            <a:r>
              <a:rPr lang="en-US" altLang="zh-CN" sz="1800" i="1">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i</a:t>
            </a:r>
            <a:r>
              <a:rPr lang="en-US" altLang="zh-CN" sz="18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-1]&gt;</a:t>
            </a:r>
            <a:r>
              <a:rPr lang="en-US" altLang="zh-CN" sz="1800" i="1">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f</a:t>
            </a:r>
            <a:r>
              <a:rPr lang="en-US" altLang="zh-CN" sz="1800" baseline="-250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1</a:t>
            </a:r>
            <a:r>
              <a:rPr lang="zh-CN" altLang="en-US" sz="1800">
                <a:solidFill>
                  <a:srgbClr val="0000FF"/>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：需要</a:t>
            </a:r>
            <a:r>
              <a:rPr lang="zh-CN" altLang="en-US" sz="1800">
                <a:solidFill>
                  <a:srgbClr val="0000FF"/>
                </a:solidFill>
                <a:latin typeface="Consolas" pitchFamily="49" charset="0"/>
                <a:ea typeface="仿宋" pitchFamily="49" charset="-122"/>
                <a:cs typeface="Consolas" pitchFamily="49" charset="0"/>
              </a:rPr>
              <a:t>等待 </a:t>
            </a:r>
            <a:r>
              <a:rPr lang="zh-CN" altLang="en-US" sz="1800">
                <a:solidFill>
                  <a:srgbClr val="FF0000"/>
                </a:solidFill>
                <a:latin typeface="Consolas" pitchFamily="49" charset="0"/>
                <a:ea typeface="仿宋" pitchFamily="49" charset="-122"/>
                <a:cs typeface="Consolas" pitchFamily="49" charset="0"/>
                <a:sym typeface="Wingdings" panose="05000000000000000000"/>
              </a:rPr>
              <a:t></a:t>
            </a:r>
            <a:r>
              <a:rPr lang="zh-CN" altLang="en-US" sz="1800">
                <a:solidFill>
                  <a:srgbClr val="0000FF"/>
                </a:solidFill>
                <a:latin typeface="Consolas" pitchFamily="49" charset="0"/>
                <a:ea typeface="仿宋" pitchFamily="49" charset="-122"/>
                <a:cs typeface="Consolas" pitchFamily="49" charset="0"/>
                <a:sym typeface="Wingdings" panose="05000000000000000000"/>
              </a:rPr>
              <a:t> </a:t>
            </a:r>
            <a:r>
              <a:rPr lang="en-US" altLang="zh-CN" sz="1800" i="1">
                <a:solidFill>
                  <a:srgbClr val="0000FF"/>
                </a:solidFill>
                <a:latin typeface="Consolas" pitchFamily="49" charset="0"/>
                <a:ea typeface="仿宋" pitchFamily="49" charset="-122"/>
                <a:cs typeface="Consolas" pitchFamily="49" charset="0"/>
                <a:sym typeface="Wingdings" panose="05000000000000000000"/>
              </a:rPr>
              <a:t>f</a:t>
            </a:r>
            <a:r>
              <a:rPr lang="en-US" altLang="zh-CN" sz="1800" baseline="-25000">
                <a:solidFill>
                  <a:srgbClr val="0000FF"/>
                </a:solidFill>
                <a:latin typeface="Consolas" pitchFamily="49" charset="0"/>
                <a:ea typeface="仿宋" pitchFamily="49" charset="-122"/>
                <a:cs typeface="Consolas" pitchFamily="49" charset="0"/>
                <a:sym typeface="Wingdings" panose="05000000000000000000"/>
              </a:rPr>
              <a:t>2</a:t>
            </a:r>
            <a:r>
              <a:rPr lang="en-US" altLang="zh-CN" sz="1800">
                <a:solidFill>
                  <a:srgbClr val="0000FF"/>
                </a:solidFill>
                <a:latin typeface="Consolas" pitchFamily="49" charset="0"/>
                <a:ea typeface="仿宋" pitchFamily="49" charset="-122"/>
                <a:cs typeface="Consolas" pitchFamily="49" charset="0"/>
                <a:sym typeface="Wingdings" panose="05000000000000000000"/>
              </a:rPr>
              <a:t>[</a:t>
            </a:r>
            <a:r>
              <a:rPr lang="en-US" altLang="zh-CN" sz="1800" i="1">
                <a:solidFill>
                  <a:srgbClr val="0000FF"/>
                </a:solidFill>
                <a:latin typeface="Consolas" pitchFamily="49" charset="0"/>
                <a:ea typeface="仿宋" pitchFamily="49" charset="-122"/>
                <a:cs typeface="Consolas" pitchFamily="49" charset="0"/>
                <a:sym typeface="Wingdings" panose="05000000000000000000"/>
              </a:rPr>
              <a:t>i</a:t>
            </a:r>
            <a:r>
              <a:rPr lang="en-US" altLang="zh-CN" sz="1800">
                <a:solidFill>
                  <a:srgbClr val="0000FF"/>
                </a:solidFill>
                <a:latin typeface="Consolas" pitchFamily="49" charset="0"/>
                <a:ea typeface="仿宋" pitchFamily="49" charset="-122"/>
                <a:cs typeface="Consolas" pitchFamily="49" charset="0"/>
                <a:sym typeface="Wingdings" panose="05000000000000000000"/>
              </a:rPr>
              <a:t>]=</a:t>
            </a:r>
            <a:r>
              <a:rPr lang="en-US" altLang="zh-CN" sz="1800" i="1">
                <a:solidFill>
                  <a:srgbClr val="0000FF"/>
                </a:solidFill>
                <a:latin typeface="Consolas" pitchFamily="49" charset="0"/>
                <a:ea typeface="仿宋" pitchFamily="49" charset="-122"/>
                <a:cs typeface="Consolas" pitchFamily="49" charset="0"/>
                <a:sym typeface="Wingdings" panose="05000000000000000000"/>
              </a:rPr>
              <a:t>f</a:t>
            </a:r>
            <a:r>
              <a:rPr lang="en-US" altLang="zh-CN" sz="1800" baseline="-25000">
                <a:solidFill>
                  <a:srgbClr val="0000FF"/>
                </a:solidFill>
                <a:latin typeface="Consolas" pitchFamily="49" charset="0"/>
                <a:ea typeface="仿宋" pitchFamily="49" charset="-122"/>
                <a:cs typeface="Consolas" pitchFamily="49" charset="0"/>
                <a:sym typeface="Wingdings" panose="05000000000000000000"/>
              </a:rPr>
              <a:t>2</a:t>
            </a:r>
            <a:r>
              <a:rPr lang="en-US" altLang="zh-CN" sz="1800">
                <a:solidFill>
                  <a:srgbClr val="0000FF"/>
                </a:solidFill>
                <a:latin typeface="Consolas" pitchFamily="49" charset="0"/>
                <a:ea typeface="仿宋" pitchFamily="49" charset="-122"/>
                <a:cs typeface="Consolas" pitchFamily="49" charset="0"/>
                <a:sym typeface="Wingdings" panose="05000000000000000000"/>
              </a:rPr>
              <a:t>[</a:t>
            </a:r>
            <a:r>
              <a:rPr lang="en-US" altLang="zh-CN" sz="1800" i="1">
                <a:solidFill>
                  <a:srgbClr val="0000FF"/>
                </a:solidFill>
                <a:latin typeface="Consolas" pitchFamily="49" charset="0"/>
                <a:ea typeface="仿宋" pitchFamily="49" charset="-122"/>
                <a:cs typeface="Consolas" pitchFamily="49" charset="0"/>
                <a:sym typeface="Wingdings" panose="05000000000000000000"/>
              </a:rPr>
              <a:t>i</a:t>
            </a:r>
            <a:r>
              <a:rPr lang="en-US" altLang="zh-CN" sz="1800">
                <a:solidFill>
                  <a:srgbClr val="0000FF"/>
                </a:solidFill>
                <a:latin typeface="Consolas" pitchFamily="49" charset="0"/>
                <a:ea typeface="仿宋" pitchFamily="49" charset="-122"/>
                <a:cs typeface="Consolas" pitchFamily="49" charset="0"/>
                <a:sym typeface="Wingdings" panose="05000000000000000000"/>
              </a:rPr>
              <a:t>-1]+</a:t>
            </a:r>
            <a:r>
              <a:rPr lang="en-US" altLang="zh-CN" sz="1800" i="1">
                <a:solidFill>
                  <a:srgbClr val="0000FF"/>
                </a:solidFill>
                <a:latin typeface="Consolas" pitchFamily="49" charset="0"/>
                <a:ea typeface="仿宋" pitchFamily="49" charset="-122"/>
                <a:cs typeface="Consolas" pitchFamily="49" charset="0"/>
                <a:sym typeface="Wingdings" panose="05000000000000000000"/>
              </a:rPr>
              <a:t>b</a:t>
            </a:r>
            <a:r>
              <a:rPr lang="en-US" altLang="zh-CN" sz="1800">
                <a:solidFill>
                  <a:srgbClr val="0000FF"/>
                </a:solidFill>
                <a:latin typeface="Consolas" pitchFamily="49" charset="0"/>
                <a:ea typeface="仿宋" pitchFamily="49" charset="-122"/>
                <a:cs typeface="Consolas" pitchFamily="49" charset="0"/>
                <a:sym typeface="Wingdings" panose="05000000000000000000"/>
              </a:rPr>
              <a:t>[x[</a:t>
            </a:r>
            <a:r>
              <a:rPr lang="en-US" altLang="zh-CN" sz="1800" i="1">
                <a:solidFill>
                  <a:srgbClr val="0000FF"/>
                </a:solidFill>
                <a:latin typeface="Consolas" pitchFamily="49" charset="0"/>
                <a:ea typeface="仿宋" pitchFamily="49" charset="-122"/>
                <a:cs typeface="Consolas" pitchFamily="49" charset="0"/>
                <a:sym typeface="Wingdings" panose="05000000000000000000"/>
              </a:rPr>
              <a:t>i</a:t>
            </a:r>
            <a:r>
              <a:rPr lang="en-US" altLang="zh-CN" sz="1800">
                <a:solidFill>
                  <a:srgbClr val="0000FF"/>
                </a:solidFill>
                <a:latin typeface="Consolas" pitchFamily="49" charset="0"/>
                <a:ea typeface="仿宋" pitchFamily="49" charset="-122"/>
                <a:cs typeface="Consolas" pitchFamily="49" charset="0"/>
                <a:sym typeface="Wingdings" panose="05000000000000000000"/>
              </a:rPr>
              <a:t>]]</a:t>
            </a:r>
          </a:p>
          <a:p>
            <a:pPr marL="457200" indent="-457200">
              <a:spcBef>
                <a:spcPts val="600"/>
              </a:spcBef>
              <a:buBlip>
                <a:blip r:embed="rId3"/>
              </a:buBlip>
            </a:pPr>
            <a:r>
              <a:rPr lang="en-US" altLang="zh-CN" sz="1800" i="1">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f</a:t>
            </a:r>
            <a:r>
              <a:rPr lang="en-US" altLang="zh-CN" sz="1800" baseline="-250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2</a:t>
            </a:r>
            <a:r>
              <a:rPr lang="en-US" altLang="zh-CN" sz="18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a:t>
            </a:r>
            <a:r>
              <a:rPr lang="en-US" altLang="zh-CN" sz="1800" i="1">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i</a:t>
            </a:r>
            <a:r>
              <a:rPr lang="en-US" altLang="zh-CN" sz="18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-1]≤</a:t>
            </a:r>
            <a:r>
              <a:rPr lang="en-US" altLang="zh-CN" sz="1800" i="1">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f</a:t>
            </a:r>
            <a:r>
              <a:rPr lang="en-US" altLang="zh-CN" sz="1800" baseline="-25000">
                <a:solidFill>
                  <a:srgbClr val="C0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1</a:t>
            </a:r>
            <a:r>
              <a:rPr lang="zh-CN" altLang="en-US" sz="1800">
                <a:solidFill>
                  <a:srgbClr val="0000FF"/>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：不需</a:t>
            </a:r>
            <a:r>
              <a:rPr lang="zh-CN" altLang="en-US" sz="1800">
                <a:solidFill>
                  <a:srgbClr val="0000FF"/>
                </a:solidFill>
                <a:latin typeface="Consolas" pitchFamily="49" charset="0"/>
                <a:ea typeface="仿宋" pitchFamily="49" charset="-122"/>
                <a:cs typeface="Consolas" pitchFamily="49" charset="0"/>
              </a:rPr>
              <a:t>等待 </a:t>
            </a:r>
            <a:r>
              <a:rPr lang="zh-CN" altLang="en-US" sz="1800">
                <a:solidFill>
                  <a:srgbClr val="FF0000"/>
                </a:solidFill>
                <a:latin typeface="Consolas" pitchFamily="49" charset="0"/>
                <a:ea typeface="仿宋" pitchFamily="49" charset="-122"/>
                <a:cs typeface="Consolas" pitchFamily="49" charset="0"/>
                <a:sym typeface="Wingdings" panose="05000000000000000000"/>
              </a:rPr>
              <a:t></a:t>
            </a:r>
            <a:r>
              <a:rPr lang="zh-CN" altLang="en-US" sz="1800">
                <a:solidFill>
                  <a:srgbClr val="0000FF"/>
                </a:solidFill>
                <a:latin typeface="Consolas" pitchFamily="49" charset="0"/>
                <a:ea typeface="仿宋" pitchFamily="49" charset="-122"/>
                <a:cs typeface="Consolas" pitchFamily="49" charset="0"/>
                <a:sym typeface="Wingdings" panose="05000000000000000000"/>
              </a:rPr>
              <a:t> </a:t>
            </a:r>
            <a:r>
              <a:rPr lang="en-US" altLang="zh-CN" sz="1800" i="1">
                <a:solidFill>
                  <a:srgbClr val="0000FF"/>
                </a:solidFill>
                <a:latin typeface="Consolas" pitchFamily="49" charset="0"/>
                <a:ea typeface="仿宋" pitchFamily="49" charset="-122"/>
                <a:cs typeface="Consolas" pitchFamily="49" charset="0"/>
                <a:sym typeface="Wingdings" panose="05000000000000000000"/>
              </a:rPr>
              <a:t>f</a:t>
            </a:r>
            <a:r>
              <a:rPr lang="en-US" altLang="zh-CN" sz="1800" baseline="-25000">
                <a:solidFill>
                  <a:srgbClr val="0000FF"/>
                </a:solidFill>
                <a:latin typeface="Consolas" pitchFamily="49" charset="0"/>
                <a:ea typeface="仿宋" pitchFamily="49" charset="-122"/>
                <a:cs typeface="Consolas" pitchFamily="49" charset="0"/>
                <a:sym typeface="Wingdings" panose="05000000000000000000"/>
              </a:rPr>
              <a:t>2</a:t>
            </a:r>
            <a:r>
              <a:rPr lang="en-US" altLang="zh-CN" sz="1800">
                <a:solidFill>
                  <a:srgbClr val="0000FF"/>
                </a:solidFill>
                <a:latin typeface="Consolas" pitchFamily="49" charset="0"/>
                <a:ea typeface="仿宋" pitchFamily="49" charset="-122"/>
                <a:cs typeface="Consolas" pitchFamily="49" charset="0"/>
                <a:sym typeface="Wingdings" panose="05000000000000000000"/>
              </a:rPr>
              <a:t>[</a:t>
            </a:r>
            <a:r>
              <a:rPr lang="en-US" altLang="zh-CN" sz="1800" i="1">
                <a:solidFill>
                  <a:srgbClr val="0000FF"/>
                </a:solidFill>
                <a:latin typeface="Consolas" pitchFamily="49" charset="0"/>
                <a:ea typeface="仿宋" pitchFamily="49" charset="-122"/>
                <a:cs typeface="Consolas" pitchFamily="49" charset="0"/>
                <a:sym typeface="Wingdings" panose="05000000000000000000"/>
              </a:rPr>
              <a:t>i</a:t>
            </a:r>
            <a:r>
              <a:rPr lang="en-US" altLang="zh-CN" sz="1800">
                <a:solidFill>
                  <a:srgbClr val="0000FF"/>
                </a:solidFill>
                <a:latin typeface="Consolas" pitchFamily="49" charset="0"/>
                <a:ea typeface="仿宋" pitchFamily="49" charset="-122"/>
                <a:cs typeface="Consolas" pitchFamily="49" charset="0"/>
                <a:sym typeface="Wingdings" panose="05000000000000000000"/>
              </a:rPr>
              <a:t>]=</a:t>
            </a:r>
            <a:r>
              <a:rPr lang="en-US" altLang="zh-CN" sz="1800" i="1">
                <a:solidFill>
                  <a:srgbClr val="0000FF"/>
                </a:solidFill>
                <a:latin typeface="Consolas" pitchFamily="49" charset="0"/>
                <a:ea typeface="仿宋" pitchFamily="49" charset="-122"/>
                <a:cs typeface="Consolas" pitchFamily="49" charset="0"/>
                <a:sym typeface="Wingdings" panose="05000000000000000000"/>
              </a:rPr>
              <a:t>f</a:t>
            </a:r>
            <a:r>
              <a:rPr lang="en-US" altLang="zh-CN" sz="1800" baseline="-25000">
                <a:solidFill>
                  <a:srgbClr val="0000FF"/>
                </a:solidFill>
                <a:latin typeface="Consolas" pitchFamily="49" charset="0"/>
                <a:ea typeface="仿宋" pitchFamily="49" charset="-122"/>
                <a:cs typeface="Consolas" pitchFamily="49" charset="0"/>
                <a:sym typeface="Wingdings" panose="05000000000000000000"/>
              </a:rPr>
              <a:t>1</a:t>
            </a:r>
            <a:r>
              <a:rPr lang="en-US" altLang="zh-CN" sz="1800">
                <a:solidFill>
                  <a:srgbClr val="0000FF"/>
                </a:solidFill>
                <a:latin typeface="Consolas" pitchFamily="49" charset="0"/>
                <a:ea typeface="仿宋" pitchFamily="49" charset="-122"/>
                <a:cs typeface="Consolas" pitchFamily="49" charset="0"/>
                <a:sym typeface="Wingdings" panose="05000000000000000000"/>
              </a:rPr>
              <a:t>+</a:t>
            </a:r>
            <a:r>
              <a:rPr lang="en-US" altLang="zh-CN" sz="1800" i="1">
                <a:solidFill>
                  <a:srgbClr val="0000FF"/>
                </a:solidFill>
                <a:latin typeface="Consolas" pitchFamily="49" charset="0"/>
                <a:ea typeface="仿宋" pitchFamily="49" charset="-122"/>
                <a:cs typeface="Consolas" pitchFamily="49" charset="0"/>
                <a:sym typeface="Wingdings" panose="05000000000000000000"/>
              </a:rPr>
              <a:t>b</a:t>
            </a:r>
            <a:r>
              <a:rPr lang="en-US" altLang="zh-CN" sz="1800">
                <a:solidFill>
                  <a:srgbClr val="0000FF"/>
                </a:solidFill>
                <a:latin typeface="Consolas" pitchFamily="49" charset="0"/>
                <a:ea typeface="仿宋" pitchFamily="49" charset="-122"/>
                <a:cs typeface="Consolas" pitchFamily="49" charset="0"/>
                <a:sym typeface="Wingdings" panose="05000000000000000000"/>
              </a:rPr>
              <a:t>[x[</a:t>
            </a:r>
            <a:r>
              <a:rPr lang="en-US" altLang="zh-CN" sz="1800" i="1">
                <a:solidFill>
                  <a:srgbClr val="0000FF"/>
                </a:solidFill>
                <a:latin typeface="Consolas" pitchFamily="49" charset="0"/>
                <a:ea typeface="仿宋" pitchFamily="49" charset="-122"/>
                <a:cs typeface="Consolas" pitchFamily="49" charset="0"/>
                <a:sym typeface="Wingdings" panose="05000000000000000000"/>
              </a:rPr>
              <a:t>i</a:t>
            </a:r>
            <a:r>
              <a:rPr lang="en-US" altLang="zh-CN" sz="1800">
                <a:solidFill>
                  <a:srgbClr val="0000FF"/>
                </a:solidFill>
                <a:latin typeface="Consolas" pitchFamily="49" charset="0"/>
                <a:ea typeface="仿宋" pitchFamily="49" charset="-122"/>
                <a:cs typeface="Consolas" pitchFamily="49" charset="0"/>
                <a:sym typeface="Wingdings" panose="05000000000000000000"/>
              </a:rPr>
              <a:t>]]</a:t>
            </a:r>
            <a:endParaRPr lang="zh-CN" altLang="en-US" sz="1800">
              <a:latin typeface="Consolas" pitchFamily="49" charset="0"/>
              <a:ea typeface="仿宋" pitchFamily="49" charset="-122"/>
              <a:cs typeface="Consolas" pitchFamily="49" charset="0"/>
            </a:endParaRPr>
          </a:p>
        </p:txBody>
      </p:sp>
      <p:sp>
        <p:nvSpPr>
          <p:cNvPr id="41" name="右弧形箭头 40"/>
          <p:cNvSpPr/>
          <p:nvPr/>
        </p:nvSpPr>
        <p:spPr>
          <a:xfrm>
            <a:off x="6072198" y="5072074"/>
            <a:ext cx="214314" cy="571504"/>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ldLvl="0" animBg="1"/>
      <p:bldP spid="39" grpId="0"/>
      <p:bldP spid="41"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算法实现</a:t>
            </a:r>
          </a:p>
        </p:txBody>
      </p:sp>
      <p:sp>
        <p:nvSpPr>
          <p:cNvPr id="3" name="内容占位符 2"/>
          <p:cNvSpPr>
            <a:spLocks noGrp="1"/>
          </p:cNvSpPr>
          <p:nvPr>
            <p:ph idx="1"/>
          </p:nvPr>
        </p:nvSpPr>
        <p:spPr/>
        <p:txBody>
          <a:bodyPr/>
          <a:lstStyle/>
          <a:p>
            <a:pPr marL="342900" indent="-342900">
              <a:lnSpc>
                <a:spcPts val="3000"/>
              </a:lnSpc>
              <a:spcBef>
                <a:spcPts val="600"/>
              </a:spcBef>
              <a:buBlip>
                <a:blip r:embed="rId2"/>
              </a:buBlip>
            </a:pPr>
            <a:r>
              <a:rPr lang="zh-CN" altLang="en-US">
                <a:solidFill>
                  <a:srgbClr val="FF0000"/>
                </a:solidFill>
                <a:latin typeface="+mn-ea"/>
                <a:cs typeface="+mn-ea"/>
                <a:sym typeface="+mn-ea"/>
              </a:rPr>
              <a:t>排列树递归回溯框架：</a:t>
            </a:r>
            <a:r>
              <a:rPr lang="zh-CN" altLang="en-US">
                <a:solidFill>
                  <a:srgbClr val="0000FF"/>
                </a:solidFill>
                <a:latin typeface="+mn-ea"/>
                <a:cs typeface="+mn-ea"/>
                <a:sym typeface="+mn-ea"/>
              </a:rPr>
              <a:t>在求一个方案的同时求其</a:t>
            </a:r>
            <a:r>
              <a:rPr lang="en-US" altLang="zh-CN" i="1">
                <a:solidFill>
                  <a:srgbClr val="0000FF"/>
                </a:solidFill>
                <a:latin typeface="+mn-ea"/>
                <a:cs typeface="+mn-ea"/>
                <a:sym typeface="+mn-ea"/>
              </a:rPr>
              <a:t>f</a:t>
            </a:r>
            <a:r>
              <a:rPr lang="en-US" altLang="zh-CN" baseline="-25000">
                <a:solidFill>
                  <a:srgbClr val="0000FF"/>
                </a:solidFill>
                <a:latin typeface="+mn-ea"/>
                <a:cs typeface="+mn-ea"/>
                <a:sym typeface="+mn-ea"/>
              </a:rPr>
              <a:t>2</a:t>
            </a:r>
            <a:r>
              <a:rPr lang="en-US" altLang="zh-CN">
                <a:solidFill>
                  <a:srgbClr val="0000FF"/>
                </a:solidFill>
                <a:latin typeface="+mn-ea"/>
                <a:cs typeface="+mn-ea"/>
                <a:sym typeface="+mn-ea"/>
              </a:rPr>
              <a:t>[</a:t>
            </a:r>
            <a:r>
              <a:rPr lang="en-US" altLang="zh-CN" i="1">
                <a:solidFill>
                  <a:srgbClr val="0000FF"/>
                </a:solidFill>
                <a:latin typeface="+mn-ea"/>
                <a:cs typeface="+mn-ea"/>
                <a:sym typeface="+mn-ea"/>
              </a:rPr>
              <a:t>n</a:t>
            </a:r>
            <a:r>
              <a:rPr lang="en-US" altLang="zh-CN">
                <a:solidFill>
                  <a:srgbClr val="0000FF"/>
                </a:solidFill>
                <a:latin typeface="+mn-ea"/>
                <a:cs typeface="+mn-ea"/>
                <a:sym typeface="+mn-ea"/>
              </a:rPr>
              <a:t>]</a:t>
            </a:r>
            <a:r>
              <a:rPr lang="zh-CN" altLang="en-US">
                <a:solidFill>
                  <a:srgbClr val="0000FF"/>
                </a:solidFill>
                <a:latin typeface="+mn-ea"/>
                <a:cs typeface="+mn-ea"/>
                <a:sym typeface="+mn-ea"/>
              </a:rPr>
              <a:t>时间！</a:t>
            </a:r>
            <a:endParaRPr lang="en-US" altLang="zh-CN">
              <a:solidFill>
                <a:srgbClr val="0000FF"/>
              </a:solidFill>
              <a:latin typeface="+mn-ea"/>
              <a:cs typeface="+mn-ea"/>
            </a:endParaRPr>
          </a:p>
          <a:p>
            <a:pPr marL="342900" indent="-342900">
              <a:lnSpc>
                <a:spcPts val="3000"/>
              </a:lnSpc>
              <a:spcBef>
                <a:spcPts val="600"/>
              </a:spcBef>
              <a:buBlip>
                <a:blip r:embed="rId2"/>
              </a:buBlip>
            </a:pPr>
            <a:r>
              <a:rPr lang="zh-CN" altLang="zh-CN">
                <a:solidFill>
                  <a:srgbClr val="FF0000"/>
                </a:solidFill>
                <a:latin typeface="+mn-ea"/>
                <a:cs typeface="+mn-ea"/>
                <a:sym typeface="+mn-ea"/>
              </a:rPr>
              <a:t>剪枝：</a:t>
            </a:r>
            <a:r>
              <a:rPr lang="zh-CN" altLang="zh-CN">
                <a:solidFill>
                  <a:srgbClr val="0000FF"/>
                </a:solidFill>
                <a:latin typeface="+mn-ea"/>
                <a:cs typeface="+mn-ea"/>
                <a:sym typeface="+mn-ea"/>
              </a:rPr>
              <a:t>求出第</a:t>
            </a:r>
            <a:r>
              <a:rPr lang="en-US" altLang="zh-CN" i="1">
                <a:solidFill>
                  <a:srgbClr val="0000FF"/>
                </a:solidFill>
                <a:latin typeface="+mn-ea"/>
                <a:cs typeface="+mn-ea"/>
                <a:sym typeface="+mn-ea"/>
              </a:rPr>
              <a:t>i</a:t>
            </a:r>
            <a:r>
              <a:rPr lang="zh-CN" altLang="zh-CN">
                <a:solidFill>
                  <a:srgbClr val="0000FF"/>
                </a:solidFill>
                <a:latin typeface="+mn-ea"/>
                <a:cs typeface="+mn-ea"/>
                <a:sym typeface="+mn-ea"/>
              </a:rPr>
              <a:t>层的</a:t>
            </a:r>
            <a:r>
              <a:rPr lang="en-US" altLang="zh-CN" i="1">
                <a:solidFill>
                  <a:srgbClr val="0000FF"/>
                </a:solidFill>
                <a:latin typeface="+mn-ea"/>
                <a:cs typeface="+mn-ea"/>
                <a:sym typeface="+mn-ea"/>
              </a:rPr>
              <a:t>f</a:t>
            </a:r>
            <a:r>
              <a:rPr lang="en-US" altLang="zh-CN" baseline="-25000">
                <a:solidFill>
                  <a:srgbClr val="0000FF"/>
                </a:solidFill>
                <a:latin typeface="+mn-ea"/>
                <a:cs typeface="+mn-ea"/>
                <a:sym typeface="+mn-ea"/>
              </a:rPr>
              <a:t>2</a:t>
            </a:r>
            <a:r>
              <a:rPr lang="en-US" altLang="zh-CN">
                <a:solidFill>
                  <a:srgbClr val="0000FF"/>
                </a:solidFill>
                <a:latin typeface="+mn-ea"/>
                <a:cs typeface="+mn-ea"/>
                <a:sym typeface="+mn-ea"/>
              </a:rPr>
              <a:t>[</a:t>
            </a:r>
            <a:r>
              <a:rPr lang="en-US" altLang="zh-CN" i="1">
                <a:solidFill>
                  <a:srgbClr val="0000FF"/>
                </a:solidFill>
                <a:latin typeface="+mn-ea"/>
                <a:cs typeface="+mn-ea"/>
                <a:sym typeface="+mn-ea"/>
              </a:rPr>
              <a:t>i</a:t>
            </a:r>
            <a:r>
              <a:rPr lang="en-US" altLang="zh-CN">
                <a:solidFill>
                  <a:srgbClr val="0000FF"/>
                </a:solidFill>
                <a:latin typeface="+mn-ea"/>
                <a:cs typeface="+mn-ea"/>
                <a:sym typeface="+mn-ea"/>
              </a:rPr>
              <a:t>]</a:t>
            </a:r>
            <a:r>
              <a:rPr lang="zh-CN" altLang="zh-CN">
                <a:solidFill>
                  <a:srgbClr val="0000FF"/>
                </a:solidFill>
                <a:latin typeface="+mn-ea"/>
                <a:cs typeface="+mn-ea"/>
                <a:sym typeface="+mn-ea"/>
              </a:rPr>
              <a:t>即执行作业</a:t>
            </a:r>
            <a:r>
              <a:rPr lang="en-US" altLang="zh-CN" i="1">
                <a:solidFill>
                  <a:srgbClr val="0000FF"/>
                </a:solidFill>
                <a:latin typeface="+mn-ea"/>
                <a:cs typeface="+mn-ea"/>
                <a:sym typeface="+mn-ea"/>
              </a:rPr>
              <a:t>x</a:t>
            </a:r>
            <a:r>
              <a:rPr lang="en-US" altLang="zh-CN">
                <a:solidFill>
                  <a:srgbClr val="0000FF"/>
                </a:solidFill>
                <a:latin typeface="+mn-ea"/>
                <a:cs typeface="+mn-ea"/>
                <a:sym typeface="+mn-ea"/>
              </a:rPr>
              <a:t>[</a:t>
            </a:r>
            <a:r>
              <a:rPr lang="en-US" altLang="zh-CN" i="1">
                <a:solidFill>
                  <a:srgbClr val="0000FF"/>
                </a:solidFill>
                <a:latin typeface="+mn-ea"/>
                <a:cs typeface="+mn-ea"/>
                <a:sym typeface="+mn-ea"/>
              </a:rPr>
              <a:t>i</a:t>
            </a:r>
            <a:r>
              <a:rPr lang="en-US" altLang="zh-CN">
                <a:solidFill>
                  <a:srgbClr val="0000FF"/>
                </a:solidFill>
                <a:latin typeface="+mn-ea"/>
                <a:cs typeface="+mn-ea"/>
                <a:sym typeface="+mn-ea"/>
              </a:rPr>
              <a:t>]</a:t>
            </a:r>
            <a:r>
              <a:rPr lang="zh-CN" altLang="zh-CN">
                <a:solidFill>
                  <a:srgbClr val="0000FF"/>
                </a:solidFill>
                <a:latin typeface="+mn-ea"/>
                <a:cs typeface="+mn-ea"/>
                <a:sym typeface="+mn-ea"/>
              </a:rPr>
              <a:t>后的总时间</a:t>
            </a:r>
            <a:r>
              <a:rPr lang="en-US" altLang="zh-CN">
                <a:solidFill>
                  <a:srgbClr val="0000FF"/>
                </a:solidFill>
                <a:latin typeface="+mn-ea"/>
                <a:cs typeface="+mn-ea"/>
                <a:sym typeface="+mn-ea"/>
              </a:rPr>
              <a:t>,</a:t>
            </a:r>
            <a:r>
              <a:rPr lang="zh-CN" altLang="en-US">
                <a:solidFill>
                  <a:srgbClr val="0000FF"/>
                </a:solidFill>
                <a:latin typeface="+mn-ea"/>
                <a:cs typeface="+mn-ea"/>
                <a:sym typeface="+mn-ea"/>
              </a:rPr>
              <a:t>若</a:t>
            </a:r>
            <a:r>
              <a:rPr lang="en-US" altLang="zh-CN" i="1">
                <a:solidFill>
                  <a:srgbClr val="0000FF"/>
                </a:solidFill>
                <a:latin typeface="+mn-ea"/>
                <a:cs typeface="+mn-ea"/>
                <a:sym typeface="+mn-ea"/>
              </a:rPr>
              <a:t>f</a:t>
            </a:r>
            <a:r>
              <a:rPr lang="en-US" altLang="zh-CN" baseline="-25000">
                <a:solidFill>
                  <a:srgbClr val="0000FF"/>
                </a:solidFill>
                <a:latin typeface="+mn-ea"/>
                <a:cs typeface="+mn-ea"/>
                <a:sym typeface="+mn-ea"/>
              </a:rPr>
              <a:t>2</a:t>
            </a:r>
            <a:r>
              <a:rPr lang="en-US" altLang="zh-CN">
                <a:solidFill>
                  <a:srgbClr val="0000FF"/>
                </a:solidFill>
                <a:latin typeface="+mn-ea"/>
                <a:cs typeface="+mn-ea"/>
                <a:sym typeface="+mn-ea"/>
              </a:rPr>
              <a:t>[</a:t>
            </a:r>
            <a:r>
              <a:rPr lang="en-US" altLang="zh-CN" i="1">
                <a:solidFill>
                  <a:srgbClr val="0000FF"/>
                </a:solidFill>
                <a:latin typeface="+mn-ea"/>
                <a:cs typeface="+mn-ea"/>
                <a:sym typeface="+mn-ea"/>
              </a:rPr>
              <a:t>i</a:t>
            </a:r>
            <a:r>
              <a:rPr lang="en-US" altLang="zh-CN">
                <a:solidFill>
                  <a:srgbClr val="0000FF"/>
                </a:solidFill>
                <a:latin typeface="+mn-ea"/>
                <a:cs typeface="+mn-ea"/>
                <a:sym typeface="+mn-ea"/>
              </a:rPr>
              <a:t>]</a:t>
            </a:r>
            <a:r>
              <a:rPr lang="zh-CN" altLang="en-US">
                <a:solidFill>
                  <a:srgbClr val="0000FF"/>
                </a:solidFill>
                <a:latin typeface="+mn-ea"/>
                <a:cs typeface="+mn-ea"/>
                <a:sym typeface="+mn-ea"/>
              </a:rPr>
              <a:t>≥</a:t>
            </a:r>
            <a:r>
              <a:rPr lang="en-US" altLang="zh-CN">
                <a:solidFill>
                  <a:srgbClr val="0000FF"/>
                </a:solidFill>
                <a:latin typeface="+mn-ea"/>
                <a:cs typeface="+mn-ea"/>
                <a:sym typeface="+mn-ea"/>
              </a:rPr>
              <a:t>bestf </a:t>
            </a:r>
            <a:r>
              <a:rPr lang="zh-CN" altLang="zh-CN">
                <a:solidFill>
                  <a:srgbClr val="0000FF"/>
                </a:solidFill>
                <a:latin typeface="+mn-ea"/>
                <a:cs typeface="+mn-ea"/>
                <a:sym typeface="+mn-ea"/>
              </a:rPr>
              <a:t>（</a:t>
            </a:r>
            <a:r>
              <a:rPr lang="en-US" altLang="zh-CN">
                <a:solidFill>
                  <a:srgbClr val="0000FF"/>
                </a:solidFill>
                <a:latin typeface="+mn-ea"/>
                <a:cs typeface="+mn-ea"/>
                <a:sym typeface="+mn-ea"/>
              </a:rPr>
              <a:t>bestf</a:t>
            </a:r>
            <a:r>
              <a:rPr lang="zh-CN" altLang="zh-CN">
                <a:solidFill>
                  <a:srgbClr val="0000FF"/>
                </a:solidFill>
                <a:latin typeface="+mn-ea"/>
                <a:cs typeface="+mn-ea"/>
                <a:sym typeface="+mn-ea"/>
              </a:rPr>
              <a:t>为当前求出的执行全部作业的最优总时间），就没有必要从该结点向下扩展了，让其成为死结点，也就是说仅仅扩展满足</a:t>
            </a:r>
            <a:r>
              <a:rPr lang="en-US" altLang="zh-CN" i="1">
                <a:solidFill>
                  <a:srgbClr val="FF00FF"/>
                </a:solidFill>
                <a:latin typeface="+mn-ea"/>
                <a:cs typeface="+mn-ea"/>
                <a:sym typeface="+mn-ea"/>
              </a:rPr>
              <a:t>f</a:t>
            </a:r>
            <a:r>
              <a:rPr lang="en-US" altLang="zh-CN" baseline="-25000">
                <a:solidFill>
                  <a:srgbClr val="FF00FF"/>
                </a:solidFill>
                <a:latin typeface="+mn-ea"/>
                <a:cs typeface="+mn-ea"/>
                <a:sym typeface="+mn-ea"/>
              </a:rPr>
              <a:t>2</a:t>
            </a:r>
            <a:r>
              <a:rPr lang="en-US" altLang="zh-CN">
                <a:solidFill>
                  <a:srgbClr val="FF00FF"/>
                </a:solidFill>
                <a:latin typeface="+mn-ea"/>
                <a:cs typeface="+mn-ea"/>
                <a:sym typeface="+mn-ea"/>
              </a:rPr>
              <a:t>[</a:t>
            </a:r>
            <a:r>
              <a:rPr lang="en-US" altLang="zh-CN" i="1">
                <a:solidFill>
                  <a:srgbClr val="FF00FF"/>
                </a:solidFill>
                <a:latin typeface="+mn-ea"/>
                <a:cs typeface="+mn-ea"/>
                <a:sym typeface="+mn-ea"/>
              </a:rPr>
              <a:t>i</a:t>
            </a:r>
            <a:r>
              <a:rPr lang="en-US" altLang="zh-CN">
                <a:solidFill>
                  <a:srgbClr val="FF00FF"/>
                </a:solidFill>
                <a:latin typeface="+mn-ea"/>
                <a:cs typeface="+mn-ea"/>
                <a:sym typeface="+mn-ea"/>
              </a:rPr>
              <a:t>]&lt;bestf</a:t>
            </a:r>
            <a:r>
              <a:rPr lang="zh-CN" altLang="zh-CN">
                <a:solidFill>
                  <a:srgbClr val="0000FF"/>
                </a:solidFill>
                <a:latin typeface="+mn-ea"/>
                <a:cs typeface="+mn-ea"/>
                <a:sym typeface="+mn-ea"/>
              </a:rPr>
              <a:t>的结点。</a:t>
            </a:r>
            <a:endParaRPr lang="zh-CN" altLang="en-US">
              <a:solidFill>
                <a:srgbClr val="0000FF"/>
              </a:solidFill>
              <a:latin typeface="+mn-ea"/>
              <a:cs typeface="+mn-ea"/>
            </a:endParaRPr>
          </a:p>
          <a:p>
            <a:endParaRPr lang="zh-CN" altLang="en-US">
              <a:latin typeface="+mn-ea"/>
              <a:cs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571480"/>
            <a:ext cx="8786874" cy="5976197"/>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216000" bIns="216000" rtlCol="0">
            <a:spAutoFit/>
          </a:bodyPr>
          <a:lstStyle/>
          <a:p>
            <a:r>
              <a:rPr lang="en-US" altLang="zh-CN" sz="1800">
                <a:solidFill>
                  <a:srgbClr val="0000FF"/>
                </a:solidFill>
                <a:latin typeface="Consolas" pitchFamily="49" charset="0"/>
                <a:ea typeface="仿宋" pitchFamily="49" charset="-122"/>
                <a:cs typeface="Consolas" pitchFamily="49" charset="0"/>
              </a:rPr>
              <a:t>void </a:t>
            </a:r>
            <a:r>
              <a:rPr lang="en-US" altLang="zh-CN" sz="1800">
                <a:solidFill>
                  <a:srgbClr val="FF0000"/>
                </a:solidFill>
                <a:latin typeface="Consolas" pitchFamily="49" charset="0"/>
                <a:ea typeface="仿宋" pitchFamily="49" charset="-122"/>
                <a:cs typeface="Consolas" pitchFamily="49" charset="0"/>
              </a:rPr>
              <a:t>dfs</a:t>
            </a:r>
            <a:r>
              <a:rPr lang="en-US" altLang="zh-CN" sz="1800">
                <a:solidFill>
                  <a:srgbClr val="0000FF"/>
                </a:solidFill>
                <a:latin typeface="Consolas" pitchFamily="49" charset="0"/>
                <a:ea typeface="仿宋" pitchFamily="49" charset="-122"/>
                <a:cs typeface="Consolas" pitchFamily="49" charset="0"/>
              </a:rPr>
              <a:t>(int i)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从第</a:t>
            </a:r>
            <a:r>
              <a:rPr lang="en-US" altLang="zh-CN" sz="1800">
                <a:solidFill>
                  <a:srgbClr val="00B0F0"/>
                </a:solidFill>
                <a:latin typeface="Consolas" pitchFamily="49" charset="0"/>
                <a:ea typeface="仿宋" pitchFamily="49" charset="-122"/>
                <a:cs typeface="Consolas" pitchFamily="49" charset="0"/>
              </a:rPr>
              <a:t>i</a:t>
            </a:r>
            <a:r>
              <a:rPr lang="zh-CN" altLang="zh-CN" sz="1800">
                <a:solidFill>
                  <a:srgbClr val="00B0F0"/>
                </a:solidFill>
                <a:latin typeface="Consolas" pitchFamily="49" charset="0"/>
                <a:ea typeface="仿宋" pitchFamily="49" charset="-122"/>
                <a:cs typeface="Consolas" pitchFamily="49" charset="0"/>
              </a:rPr>
              <a:t>层开始搜索</a:t>
            </a:r>
          </a:p>
          <a:p>
            <a:r>
              <a:rPr lang="en-US" altLang="zh-CN" sz="1800">
                <a:solidFill>
                  <a:srgbClr val="0000FF"/>
                </a:solidFill>
                <a:latin typeface="Consolas" pitchFamily="49" charset="0"/>
                <a:ea typeface="仿宋" pitchFamily="49" charset="-122"/>
                <a:cs typeface="Consolas" pitchFamily="49" charset="0"/>
              </a:rPr>
              <a:t>{  if (</a:t>
            </a:r>
            <a:r>
              <a:rPr lang="en-US" altLang="zh-CN" sz="1800">
                <a:solidFill>
                  <a:srgbClr val="CC00FF"/>
                </a:solidFill>
                <a:latin typeface="Consolas" pitchFamily="49" charset="0"/>
                <a:ea typeface="仿宋" pitchFamily="49" charset="-122"/>
                <a:cs typeface="Consolas" pitchFamily="49" charset="0"/>
              </a:rPr>
              <a:t>i&gt;n</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到达叶结点</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产生一种调度方案</a:t>
            </a:r>
          </a:p>
          <a:p>
            <a:r>
              <a:rPr lang="en-US" altLang="zh-CN" sz="1800">
                <a:solidFill>
                  <a:srgbClr val="0000FF"/>
                </a:solidFill>
                <a:latin typeface="Consolas" pitchFamily="49" charset="0"/>
                <a:ea typeface="仿宋" pitchFamily="49" charset="-122"/>
                <a:cs typeface="Consolas" pitchFamily="49" charset="0"/>
              </a:rPr>
              <a:t>   {  if (f2[n]&lt;bestf)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找到更优解</a:t>
            </a:r>
          </a:p>
          <a:p>
            <a:r>
              <a:rPr lang="en-US" altLang="zh-CN" sz="1800">
                <a:solidFill>
                  <a:srgbClr val="0000FF"/>
                </a:solidFill>
                <a:latin typeface="Consolas" pitchFamily="49" charset="0"/>
                <a:ea typeface="仿宋" pitchFamily="49" charset="-122"/>
                <a:cs typeface="Consolas" pitchFamily="49" charset="0"/>
              </a:rPr>
              <a:t>      {  bestf=f2[n];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for(int j=1; j&lt;=n; j++)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复制解向量</a:t>
            </a:r>
          </a:p>
          <a:p>
            <a:r>
              <a:rPr lang="en-US" altLang="zh-CN" sz="1800">
                <a:solidFill>
                  <a:srgbClr val="0000FF"/>
                </a:solidFill>
                <a:latin typeface="Consolas" pitchFamily="49" charset="0"/>
                <a:ea typeface="仿宋" pitchFamily="49" charset="-122"/>
                <a:cs typeface="Consolas" pitchFamily="49" charset="0"/>
              </a:rPr>
              <a:t>            bestx[j] = x[j];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else</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  for(int j=i; j&lt;=n; j++)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没有到达叶结点</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考虑</a:t>
            </a:r>
            <a:r>
              <a:rPr lang="zh-CN" altLang="en-US" sz="1800">
                <a:solidFill>
                  <a:srgbClr val="00B0F0"/>
                </a:solidFill>
                <a:latin typeface="Consolas" pitchFamily="49" charset="0"/>
                <a:ea typeface="仿宋" pitchFamily="49" charset="-122"/>
                <a:cs typeface="Consolas" pitchFamily="49" charset="0"/>
              </a:rPr>
              <a:t>可能的</a:t>
            </a:r>
            <a:r>
              <a:rPr lang="zh-CN" altLang="zh-CN" sz="1800">
                <a:solidFill>
                  <a:srgbClr val="00B0F0"/>
                </a:solidFill>
                <a:latin typeface="Consolas" pitchFamily="49" charset="0"/>
                <a:ea typeface="仿宋" pitchFamily="49" charset="-122"/>
                <a:cs typeface="Consolas" pitchFamily="49" charset="0"/>
              </a:rPr>
              <a:t>作业</a:t>
            </a:r>
          </a:p>
          <a:p>
            <a:r>
              <a:rPr lang="en-US" altLang="zh-CN" sz="1800">
                <a:solidFill>
                  <a:srgbClr val="0000FF"/>
                </a:solidFill>
                <a:latin typeface="Consolas" pitchFamily="49" charset="0"/>
                <a:ea typeface="仿宋" pitchFamily="49" charset="-122"/>
                <a:cs typeface="Consolas" pitchFamily="49" charset="0"/>
              </a:rPr>
              <a:t>      {  </a:t>
            </a:r>
            <a:r>
              <a:rPr lang="en-US" altLang="zh-CN" sz="1800">
                <a:solidFill>
                  <a:srgbClr val="006600"/>
                </a:solidFill>
                <a:latin typeface="Consolas" pitchFamily="49" charset="0"/>
                <a:ea typeface="仿宋" pitchFamily="49" charset="-122"/>
                <a:cs typeface="Consolas" pitchFamily="49" charset="0"/>
              </a:rPr>
              <a:t>swap(x[i],x[j]);</a:t>
            </a:r>
            <a:endParaRPr lang="zh-CN" altLang="zh-CN" sz="1800">
              <a:solidFill>
                <a:srgbClr val="00660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f1 += a[x[i]];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选择作业</a:t>
            </a:r>
            <a:r>
              <a:rPr lang="en-US" altLang="zh-CN" sz="1800">
                <a:solidFill>
                  <a:srgbClr val="00B0F0"/>
                </a:solidFill>
                <a:latin typeface="Consolas" pitchFamily="49" charset="0"/>
                <a:ea typeface="仿宋" pitchFamily="49" charset="-122"/>
                <a:cs typeface="Consolas" pitchFamily="49" charset="0"/>
              </a:rPr>
              <a:t>x[i],</a:t>
            </a:r>
            <a:r>
              <a:rPr lang="zh-CN" altLang="zh-CN" sz="1800">
                <a:solidFill>
                  <a:srgbClr val="00B0F0"/>
                </a:solidFill>
                <a:latin typeface="Consolas" pitchFamily="49" charset="0"/>
                <a:ea typeface="仿宋" pitchFamily="49" charset="-122"/>
                <a:cs typeface="Consolas" pitchFamily="49" charset="0"/>
              </a:rPr>
              <a:t>在</a:t>
            </a:r>
            <a:r>
              <a:rPr lang="en-US" altLang="zh-CN" sz="1800">
                <a:solidFill>
                  <a:srgbClr val="00B0F0"/>
                </a:solidFill>
                <a:latin typeface="Consolas" pitchFamily="49" charset="0"/>
                <a:ea typeface="仿宋" pitchFamily="49" charset="-122"/>
                <a:cs typeface="Consolas" pitchFamily="49" charset="0"/>
              </a:rPr>
              <a:t>M1</a:t>
            </a:r>
            <a:r>
              <a:rPr lang="zh-CN" altLang="zh-CN" sz="1800">
                <a:solidFill>
                  <a:srgbClr val="00B0F0"/>
                </a:solidFill>
                <a:latin typeface="Consolas" pitchFamily="49" charset="0"/>
                <a:ea typeface="仿宋" pitchFamily="49" charset="-122"/>
                <a:cs typeface="Consolas" pitchFamily="49" charset="0"/>
              </a:rPr>
              <a:t>上执行完的时间</a:t>
            </a:r>
          </a:p>
          <a:p>
            <a:r>
              <a:rPr lang="en-US" altLang="zh-CN" sz="1800">
                <a:solidFill>
                  <a:srgbClr val="0000FF"/>
                </a:solidFill>
                <a:latin typeface="Consolas" pitchFamily="49" charset="0"/>
                <a:ea typeface="仿宋" pitchFamily="49" charset="-122"/>
                <a:cs typeface="Consolas" pitchFamily="49" charset="0"/>
              </a:rPr>
              <a:t>         f2[i]=max(f1,f2[i-1])+b[x[i]];</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if (</a:t>
            </a:r>
            <a:r>
              <a:rPr lang="en-US" altLang="zh-CN" sz="1800">
                <a:solidFill>
                  <a:srgbClr val="FF00FF"/>
                </a:solidFill>
                <a:latin typeface="Consolas" pitchFamily="49" charset="0"/>
                <a:ea typeface="仿宋" pitchFamily="49" charset="-122"/>
                <a:cs typeface="Consolas" pitchFamily="49" charset="0"/>
              </a:rPr>
              <a:t>f2[i]&lt;bestf</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剪枝</a:t>
            </a: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FF0000"/>
                </a:solidFill>
                <a:latin typeface="Consolas" pitchFamily="49" charset="0"/>
                <a:ea typeface="仿宋" pitchFamily="49" charset="-122"/>
                <a:cs typeface="Consolas" pitchFamily="49" charset="0"/>
              </a:rPr>
              <a:t>dfs</a:t>
            </a:r>
            <a:r>
              <a:rPr lang="en-US" altLang="zh-CN" sz="1800">
                <a:solidFill>
                  <a:srgbClr val="0000FF"/>
                </a:solidFill>
                <a:latin typeface="Consolas" pitchFamily="49" charset="0"/>
                <a:ea typeface="仿宋" pitchFamily="49" charset="-122"/>
                <a:cs typeface="Consolas" pitchFamily="49" charset="0"/>
              </a:rPr>
              <a:t>(i+1);</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f1 -= a[x[i]];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回溯</a:t>
            </a:r>
            <a:endParaRPr lang="en-US"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6600"/>
                </a:solidFill>
                <a:latin typeface="Consolas" pitchFamily="49" charset="0"/>
                <a:ea typeface="仿宋" pitchFamily="49" charset="-122"/>
                <a:cs typeface="Consolas" pitchFamily="49" charset="0"/>
              </a:rPr>
              <a:t>swap(x[i],x[j]);</a:t>
            </a:r>
            <a:endParaRPr lang="zh-CN" altLang="zh-CN" sz="1800">
              <a:solidFill>
                <a:srgbClr val="00660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6" end="1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7" end="1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8" end="1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8662" y="3539685"/>
            <a:ext cx="7643866" cy="844810"/>
          </a:xfrm>
          <a:prstGeom prst="rect">
            <a:avLst/>
          </a:prstGeom>
          <a:blipFill>
            <a:blip r:embed="rId2" cstate="print"/>
            <a:tile tx="0" ty="0" sx="100000" sy="100000" flip="none" algn="tl"/>
          </a:blip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lIns="180000" tIns="144000" rIns="180000" bIns="144000" rtlCol="0">
            <a:spAutoFit/>
          </a:bodyPr>
          <a:lstStyle/>
          <a:p>
            <a:r>
              <a:rPr lang="zh-CN" altLang="zh-CN" sz="1800">
                <a:solidFill>
                  <a:srgbClr val="0000FF"/>
                </a:solidFill>
                <a:latin typeface="Consolas" pitchFamily="49" charset="0"/>
                <a:ea typeface="楷体" pitchFamily="49" charset="-122"/>
                <a:cs typeface="Consolas" pitchFamily="49" charset="0"/>
              </a:rPr>
              <a:t>求解结果</a:t>
            </a:r>
            <a:r>
              <a:rPr lang="en-US" altLang="zh-CN" sz="1800">
                <a:solidFill>
                  <a:srgbClr val="0000FF"/>
                </a:solidFill>
                <a:latin typeface="Consolas" pitchFamily="49" charset="0"/>
                <a:ea typeface="楷体" pitchFamily="49" charset="-122"/>
                <a:cs typeface="Consolas" pitchFamily="49" charset="0"/>
              </a:rPr>
              <a:t>:</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	</a:t>
            </a:r>
            <a:r>
              <a:rPr lang="zh-CN" altLang="zh-CN" sz="1800">
                <a:solidFill>
                  <a:srgbClr val="0000FF"/>
                </a:solidFill>
                <a:latin typeface="Consolas" pitchFamily="49" charset="0"/>
                <a:ea typeface="楷体" pitchFamily="49" charset="-122"/>
                <a:cs typeface="Consolas" pitchFamily="49" charset="0"/>
              </a:rPr>
              <a:t>最少时间</a:t>
            </a:r>
            <a:r>
              <a:rPr lang="en-US" altLang="zh-CN" sz="1800">
                <a:solidFill>
                  <a:srgbClr val="0000FF"/>
                </a:solidFill>
                <a:latin typeface="Consolas" pitchFamily="49" charset="0"/>
                <a:ea typeface="楷体" pitchFamily="49" charset="-122"/>
                <a:cs typeface="Consolas" pitchFamily="49" charset="0"/>
              </a:rPr>
              <a:t>: 33, </a:t>
            </a:r>
            <a:r>
              <a:rPr lang="zh-CN" altLang="zh-CN" sz="1800">
                <a:solidFill>
                  <a:srgbClr val="0000FF"/>
                </a:solidFill>
                <a:latin typeface="Consolas" pitchFamily="49" charset="0"/>
                <a:ea typeface="楷体" pitchFamily="49" charset="-122"/>
                <a:cs typeface="Consolas" pitchFamily="49" charset="0"/>
              </a:rPr>
              <a:t>最优调度方案</a:t>
            </a: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3 1 4 2</a:t>
            </a:r>
            <a:endParaRPr lang="zh-CN" altLang="zh-CN" sz="18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endParaRPr>
          </a:p>
        </p:txBody>
      </p:sp>
      <p:sp>
        <p:nvSpPr>
          <p:cNvPr id="3" name="TextBox 2"/>
          <p:cNvSpPr txBox="1"/>
          <p:nvPr/>
        </p:nvSpPr>
        <p:spPr>
          <a:xfrm>
            <a:off x="571472" y="500042"/>
            <a:ext cx="8143932" cy="1194512"/>
          </a:xfrm>
          <a:prstGeom prst="rect">
            <a:avLst/>
          </a:prstGeom>
          <a:solidFill>
            <a:schemeClr val="accent4">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80000" tIns="180000" bIns="180000" rtlCol="0">
            <a:spAutoFit/>
          </a:bodyPr>
          <a:lstStyle/>
          <a:p>
            <a:r>
              <a:rPr lang="en-US" altLang="zh-CN" sz="1800">
                <a:solidFill>
                  <a:srgbClr val="0000FF"/>
                </a:solidFill>
                <a:latin typeface="Consolas" pitchFamily="49" charset="0"/>
                <a:ea typeface="仿宋" pitchFamily="49" charset="-122"/>
                <a:cs typeface="Consolas" pitchFamily="49" charset="0"/>
              </a:rPr>
              <a:t>int n=4;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作业数</a:t>
            </a:r>
          </a:p>
          <a:p>
            <a:r>
              <a:rPr lang="en-US" altLang="zh-CN" sz="1800">
                <a:solidFill>
                  <a:srgbClr val="0000FF"/>
                </a:solidFill>
                <a:latin typeface="Consolas" pitchFamily="49" charset="0"/>
                <a:ea typeface="仿宋" pitchFamily="49" charset="-122"/>
                <a:cs typeface="Consolas" pitchFamily="49" charset="0"/>
              </a:rPr>
              <a:t>int a[MAX]={0,5,12,4,8};	</a:t>
            </a:r>
            <a:r>
              <a:rPr lang="en-US" altLang="zh-CN" sz="1800">
                <a:solidFill>
                  <a:srgbClr val="00B0F0"/>
                </a:solidFill>
                <a:latin typeface="Consolas" pitchFamily="49" charset="0"/>
                <a:ea typeface="仿宋" pitchFamily="49" charset="-122"/>
                <a:cs typeface="Consolas" pitchFamily="49" charset="0"/>
              </a:rPr>
              <a:t>//M1</a:t>
            </a:r>
            <a:r>
              <a:rPr lang="zh-CN" altLang="zh-CN" sz="1800">
                <a:solidFill>
                  <a:srgbClr val="00B0F0"/>
                </a:solidFill>
                <a:latin typeface="Consolas" pitchFamily="49" charset="0"/>
                <a:ea typeface="仿宋" pitchFamily="49" charset="-122"/>
                <a:cs typeface="Consolas" pitchFamily="49" charset="0"/>
              </a:rPr>
              <a:t>上的执行时间</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不用下标</a:t>
            </a:r>
            <a:r>
              <a:rPr lang="en-US" altLang="zh-CN" sz="1800">
                <a:solidFill>
                  <a:srgbClr val="00B0F0"/>
                </a:solidFill>
                <a:latin typeface="Consolas" pitchFamily="49" charset="0"/>
                <a:ea typeface="仿宋" pitchFamily="49" charset="-122"/>
                <a:cs typeface="Consolas" pitchFamily="49" charset="0"/>
              </a:rPr>
              <a:t>0</a:t>
            </a:r>
            <a:r>
              <a:rPr lang="zh-CN" altLang="zh-CN" sz="1800">
                <a:solidFill>
                  <a:srgbClr val="00B0F0"/>
                </a:solidFill>
                <a:latin typeface="Consolas" pitchFamily="49" charset="0"/>
                <a:ea typeface="仿宋" pitchFamily="49" charset="-122"/>
                <a:cs typeface="Consolas" pitchFamily="49" charset="0"/>
              </a:rPr>
              <a:t>的元素</a:t>
            </a:r>
          </a:p>
          <a:p>
            <a:r>
              <a:rPr lang="en-US" altLang="zh-CN" sz="1800">
                <a:solidFill>
                  <a:srgbClr val="0000FF"/>
                </a:solidFill>
                <a:latin typeface="Consolas" pitchFamily="49" charset="0"/>
                <a:ea typeface="仿宋" pitchFamily="49" charset="-122"/>
                <a:cs typeface="Consolas" pitchFamily="49" charset="0"/>
              </a:rPr>
              <a:t>int b[MAX]={0,6,2,14,7};	</a:t>
            </a:r>
            <a:r>
              <a:rPr lang="en-US" altLang="zh-CN" sz="1800">
                <a:solidFill>
                  <a:srgbClr val="00B0F0"/>
                </a:solidFill>
                <a:latin typeface="Consolas" pitchFamily="49" charset="0"/>
                <a:ea typeface="仿宋" pitchFamily="49" charset="-122"/>
                <a:cs typeface="Consolas" pitchFamily="49" charset="0"/>
              </a:rPr>
              <a:t>//M2</a:t>
            </a:r>
            <a:r>
              <a:rPr lang="zh-CN" altLang="zh-CN" sz="1800">
                <a:solidFill>
                  <a:srgbClr val="00B0F0"/>
                </a:solidFill>
                <a:latin typeface="Consolas" pitchFamily="49" charset="0"/>
                <a:ea typeface="仿宋" pitchFamily="49" charset="-122"/>
                <a:cs typeface="Consolas" pitchFamily="49" charset="0"/>
              </a:rPr>
              <a:t>上的执行时间</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不用下标</a:t>
            </a:r>
            <a:r>
              <a:rPr lang="en-US" altLang="zh-CN" sz="1800">
                <a:solidFill>
                  <a:srgbClr val="00B0F0"/>
                </a:solidFill>
                <a:latin typeface="Consolas" pitchFamily="49" charset="0"/>
                <a:ea typeface="仿宋" pitchFamily="49" charset="-122"/>
                <a:cs typeface="Consolas" pitchFamily="49" charset="0"/>
              </a:rPr>
              <a:t>0</a:t>
            </a:r>
            <a:r>
              <a:rPr lang="zh-CN" altLang="zh-CN" sz="1800">
                <a:solidFill>
                  <a:srgbClr val="00B0F0"/>
                </a:solidFill>
                <a:latin typeface="Consolas" pitchFamily="49" charset="0"/>
                <a:ea typeface="仿宋" pitchFamily="49" charset="-122"/>
                <a:cs typeface="Consolas" pitchFamily="49" charset="0"/>
              </a:rPr>
              <a:t>的元素</a:t>
            </a:r>
          </a:p>
        </p:txBody>
      </p:sp>
      <p:sp>
        <p:nvSpPr>
          <p:cNvPr id="4" name="下箭头 3"/>
          <p:cNvSpPr/>
          <p:nvPr/>
        </p:nvSpPr>
        <p:spPr>
          <a:xfrm>
            <a:off x="3786182" y="1785926"/>
            <a:ext cx="285752" cy="1714512"/>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latin typeface="Consolas" pitchFamily="49" charset="0"/>
              <a:cs typeface="Consolas" pitchFamily="49" charset="0"/>
            </a:endParaRPr>
          </a:p>
        </p:txBody>
      </p:sp>
      <p:graphicFrame>
        <p:nvGraphicFramePr>
          <p:cNvPr id="5" name="表格 4"/>
          <p:cNvGraphicFramePr>
            <a:graphicFrameLocks noGrp="1"/>
          </p:cNvGraphicFramePr>
          <p:nvPr/>
        </p:nvGraphicFramePr>
        <p:xfrm>
          <a:off x="4143372" y="2045968"/>
          <a:ext cx="3357584" cy="1224000"/>
        </p:xfrm>
        <a:graphic>
          <a:graphicData uri="http://schemas.openxmlformats.org/drawingml/2006/table">
            <a:tbl>
              <a:tblPr>
                <a:tableStyleId>{775DCB02-9BB8-47FD-8907-85C794F793BA}</a:tableStyleId>
              </a:tblPr>
              <a:tblGrid>
                <a:gridCol w="1093376">
                  <a:extLst>
                    <a:ext uri="{9D8B030D-6E8A-4147-A177-3AD203B41FA5}">
                      <a16:colId xmlns:a16="http://schemas.microsoft.com/office/drawing/2014/main" val="20000"/>
                    </a:ext>
                  </a:extLst>
                </a:gridCol>
                <a:gridCol w="566052">
                  <a:extLst>
                    <a:ext uri="{9D8B030D-6E8A-4147-A177-3AD203B41FA5}">
                      <a16:colId xmlns:a16="http://schemas.microsoft.com/office/drawing/2014/main" val="20001"/>
                    </a:ext>
                  </a:extLst>
                </a:gridCol>
                <a:gridCol w="566052">
                  <a:extLst>
                    <a:ext uri="{9D8B030D-6E8A-4147-A177-3AD203B41FA5}">
                      <a16:colId xmlns:a16="http://schemas.microsoft.com/office/drawing/2014/main" val="20002"/>
                    </a:ext>
                  </a:extLst>
                </a:gridCol>
                <a:gridCol w="566052">
                  <a:extLst>
                    <a:ext uri="{9D8B030D-6E8A-4147-A177-3AD203B41FA5}">
                      <a16:colId xmlns:a16="http://schemas.microsoft.com/office/drawing/2014/main" val="20003"/>
                    </a:ext>
                  </a:extLst>
                </a:gridCol>
                <a:gridCol w="566052">
                  <a:extLst>
                    <a:ext uri="{9D8B030D-6E8A-4147-A177-3AD203B41FA5}">
                      <a16:colId xmlns:a16="http://schemas.microsoft.com/office/drawing/2014/main" val="20004"/>
                    </a:ext>
                  </a:extLst>
                </a:gridCol>
              </a:tblGrid>
              <a:tr h="408000">
                <a:tc>
                  <a:txBody>
                    <a:bodyPr/>
                    <a:lstStyle/>
                    <a:p>
                      <a:pPr indent="0" algn="ctr">
                        <a:lnSpc>
                          <a:spcPct val="150000"/>
                        </a:lnSpc>
                        <a:spcAft>
                          <a:spcPts val="0"/>
                        </a:spcAft>
                      </a:pPr>
                      <a:r>
                        <a:rPr lang="zh-CN" sz="1600" b="1" kern="100">
                          <a:solidFill>
                            <a:srgbClr val="C00000"/>
                          </a:solidFill>
                          <a:latin typeface="Consolas" pitchFamily="49" charset="0"/>
                          <a:cs typeface="Consolas" pitchFamily="49" charset="0"/>
                        </a:rPr>
                        <a:t>作业编号</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1</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2</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3</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C00000"/>
                          </a:solidFill>
                          <a:latin typeface="Consolas" pitchFamily="49" charset="0"/>
                          <a:ea typeface="楷体" pitchFamily="49" charset="-122"/>
                          <a:cs typeface="Consolas" pitchFamily="49" charset="0"/>
                        </a:rPr>
                        <a:t>4</a:t>
                      </a:r>
                      <a:endParaRPr lang="zh-CN" sz="1600" b="1" kern="100">
                        <a:solidFill>
                          <a:srgbClr val="C00000"/>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0"/>
                  </a:ext>
                </a:extLst>
              </a:tr>
              <a:tr h="408000">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M1</a:t>
                      </a:r>
                      <a:r>
                        <a:rPr lang="zh-CN" sz="1600" b="1" kern="100">
                          <a:solidFill>
                            <a:srgbClr val="C00000"/>
                          </a:solidFill>
                          <a:latin typeface="Consolas" pitchFamily="49" charset="0"/>
                          <a:cs typeface="Consolas" pitchFamily="49" charset="0"/>
                        </a:rPr>
                        <a:t>时间</a:t>
                      </a:r>
                      <a:r>
                        <a:rPr lang="en-US" sz="1600" b="1" i="1" kern="100">
                          <a:solidFill>
                            <a:srgbClr val="C00000"/>
                          </a:solidFill>
                          <a:latin typeface="Consolas" pitchFamily="49" charset="0"/>
                          <a:cs typeface="Consolas" pitchFamily="49" charset="0"/>
                        </a:rPr>
                        <a:t>a</a:t>
                      </a:r>
                      <a:endParaRPr lang="zh-CN" sz="1600" b="1" i="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0000FF"/>
                          </a:solidFill>
                          <a:latin typeface="Consolas" pitchFamily="49" charset="0"/>
                          <a:ea typeface="+mn-ea"/>
                          <a:cs typeface="Consolas" pitchFamily="49" charset="0"/>
                        </a:rPr>
                        <a:t>5</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0000FF"/>
                          </a:solidFill>
                          <a:latin typeface="Consolas" pitchFamily="49" charset="0"/>
                          <a:cs typeface="Consolas" pitchFamily="49" charset="0"/>
                        </a:rPr>
                        <a:t>12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0000FF"/>
                          </a:solidFill>
                          <a:latin typeface="Consolas" pitchFamily="49" charset="0"/>
                          <a:ea typeface="+mn-ea"/>
                          <a:cs typeface="Consolas" pitchFamily="49" charset="0"/>
                        </a:rPr>
                        <a:t>4</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0000FF"/>
                          </a:solidFill>
                          <a:latin typeface="Consolas" pitchFamily="49" charset="0"/>
                          <a:ea typeface="楷体" pitchFamily="49" charset="-122"/>
                          <a:cs typeface="Consolas" pitchFamily="49" charset="0"/>
                        </a:rPr>
                        <a:t>8</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1"/>
                  </a:ext>
                </a:extLst>
              </a:tr>
              <a:tr h="408000">
                <a:tc>
                  <a:txBody>
                    <a:bodyPr/>
                    <a:lstStyle/>
                    <a:p>
                      <a:pPr indent="0" algn="ctr">
                        <a:lnSpc>
                          <a:spcPct val="150000"/>
                        </a:lnSpc>
                        <a:spcAft>
                          <a:spcPts val="0"/>
                        </a:spcAft>
                      </a:pPr>
                      <a:r>
                        <a:rPr lang="en-US" sz="1600" b="1" kern="100">
                          <a:solidFill>
                            <a:srgbClr val="C00000"/>
                          </a:solidFill>
                          <a:latin typeface="Consolas" pitchFamily="49" charset="0"/>
                          <a:cs typeface="Consolas" pitchFamily="49" charset="0"/>
                        </a:rPr>
                        <a:t>M2</a:t>
                      </a:r>
                      <a:r>
                        <a:rPr lang="zh-CN" sz="1600" b="1" kern="100">
                          <a:solidFill>
                            <a:srgbClr val="C00000"/>
                          </a:solidFill>
                          <a:latin typeface="Consolas" pitchFamily="49" charset="0"/>
                          <a:cs typeface="Consolas" pitchFamily="49" charset="0"/>
                        </a:rPr>
                        <a:t>时间</a:t>
                      </a:r>
                      <a:r>
                        <a:rPr lang="en-US" sz="1600" b="1" i="1" kern="100">
                          <a:solidFill>
                            <a:srgbClr val="C00000"/>
                          </a:solidFill>
                          <a:latin typeface="Consolas" pitchFamily="49" charset="0"/>
                          <a:cs typeface="Consolas" pitchFamily="49" charset="0"/>
                        </a:rPr>
                        <a:t>b</a:t>
                      </a:r>
                      <a:endParaRPr lang="zh-CN" sz="1600" b="1" i="1" kern="100">
                        <a:solidFill>
                          <a:srgbClr val="C00000"/>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0000FF"/>
                          </a:solidFill>
                          <a:latin typeface="Consolas" pitchFamily="49" charset="0"/>
                          <a:cs typeface="Consolas" pitchFamily="49" charset="0"/>
                        </a:rPr>
                        <a:t>6</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0000FF"/>
                          </a:solidFill>
                          <a:latin typeface="Consolas" pitchFamily="49" charset="0"/>
                          <a:cs typeface="Consolas" pitchFamily="49" charset="0"/>
                        </a:rPr>
                        <a:t>2</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sz="1600" b="1" kern="100">
                          <a:solidFill>
                            <a:srgbClr val="0000FF"/>
                          </a:solidFill>
                          <a:latin typeface="Consolas" pitchFamily="49" charset="0"/>
                          <a:cs typeface="Consolas" pitchFamily="49" charset="0"/>
                        </a:rPr>
                        <a:t>14</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tc>
                  <a:txBody>
                    <a:bodyPr/>
                    <a:lstStyle/>
                    <a:p>
                      <a:pPr indent="0" algn="ctr">
                        <a:lnSpc>
                          <a:spcPct val="150000"/>
                        </a:lnSpc>
                        <a:spcAft>
                          <a:spcPts val="0"/>
                        </a:spcAft>
                      </a:pPr>
                      <a:r>
                        <a:rPr lang="en-US" altLang="zh-CN" sz="1600" b="1" kern="100">
                          <a:solidFill>
                            <a:srgbClr val="0000FF"/>
                          </a:solidFill>
                          <a:latin typeface="Consolas" pitchFamily="49" charset="0"/>
                          <a:ea typeface="楷体" pitchFamily="49" charset="-122"/>
                          <a:cs typeface="Consolas" pitchFamily="49" charset="0"/>
                        </a:rPr>
                        <a:t>7</a:t>
                      </a:r>
                      <a:endParaRPr lang="zh-CN" sz="1600" b="1" kern="100">
                        <a:solidFill>
                          <a:srgbClr val="0000FF"/>
                        </a:solidFill>
                        <a:latin typeface="Consolas" pitchFamily="49" charset="0"/>
                        <a:ea typeface="楷体" pitchFamily="49" charset="-122"/>
                        <a:cs typeface="Consolas" pitchFamily="49" charset="0"/>
                      </a:endParaRPr>
                    </a:p>
                  </a:txBody>
                  <a:tcPr marL="68580" marR="6858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进一步剪枝</a:t>
            </a:r>
          </a:p>
        </p:txBody>
      </p:sp>
      <p:sp>
        <p:nvSpPr>
          <p:cNvPr id="4" name="椭圆 3"/>
          <p:cNvSpPr/>
          <p:nvPr/>
        </p:nvSpPr>
        <p:spPr>
          <a:xfrm>
            <a:off x="1785918" y="3058667"/>
            <a:ext cx="396000" cy="432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i="1">
                <a:solidFill>
                  <a:srgbClr val="0000FF"/>
                </a:solidFill>
                <a:latin typeface="Consolas" pitchFamily="49" charset="0"/>
                <a:cs typeface="Consolas" pitchFamily="49" charset="0"/>
              </a:rPr>
              <a:t>i</a:t>
            </a:r>
            <a:endParaRPr lang="zh-CN" altLang="en-US" sz="1800" i="1">
              <a:solidFill>
                <a:srgbClr val="0000FF"/>
              </a:solidFill>
              <a:latin typeface="Consolas" pitchFamily="49" charset="0"/>
              <a:cs typeface="Consolas" pitchFamily="49" charset="0"/>
            </a:endParaRPr>
          </a:p>
        </p:txBody>
      </p:sp>
      <p:sp>
        <p:nvSpPr>
          <p:cNvPr id="5" name="TextBox 3"/>
          <p:cNvSpPr txBox="1"/>
          <p:nvPr/>
        </p:nvSpPr>
        <p:spPr>
          <a:xfrm>
            <a:off x="1214414" y="3555923"/>
            <a:ext cx="785818" cy="338554"/>
          </a:xfrm>
          <a:prstGeom prst="rect">
            <a:avLst/>
          </a:prstGeom>
          <a:noFill/>
        </p:spPr>
        <p:txBody>
          <a:bodyPr wrap="square" rtlCol="0">
            <a:spAutoFit/>
          </a:bodyPr>
          <a:lstStyle/>
          <a:p>
            <a:r>
              <a:rPr lang="en-US" altLang="zh-CN" sz="1600" i="1">
                <a:solidFill>
                  <a:srgbClr val="0000FF"/>
                </a:solidFill>
                <a:latin typeface="Consolas" pitchFamily="49" charset="0"/>
                <a:cs typeface="Consolas" pitchFamily="49" charset="0"/>
              </a:rPr>
              <a:t>x</a:t>
            </a:r>
            <a:r>
              <a:rPr lang="en-US" altLang="zh-CN" sz="1600">
                <a:solidFill>
                  <a:srgbClr val="0000FF"/>
                </a:solidFill>
                <a:latin typeface="Consolas" pitchFamily="49" charset="0"/>
                <a:cs typeface="Consolas" pitchFamily="49" charset="0"/>
              </a:rPr>
              <a:t>[</a:t>
            </a:r>
            <a:r>
              <a:rPr lang="en-US" altLang="zh-CN" sz="1600" i="1">
                <a:solidFill>
                  <a:srgbClr val="0000FF"/>
                </a:solidFill>
                <a:latin typeface="Consolas" pitchFamily="49" charset="0"/>
                <a:cs typeface="Consolas" pitchFamily="49" charset="0"/>
              </a:rPr>
              <a:t>i</a:t>
            </a:r>
            <a:r>
              <a:rPr lang="en-US" altLang="zh-CN" sz="1600">
                <a:solidFill>
                  <a:srgbClr val="0000FF"/>
                </a:solidFill>
                <a:latin typeface="Consolas" pitchFamily="49" charset="0"/>
                <a:cs typeface="Consolas" pitchFamily="49" charset="0"/>
              </a:rPr>
              <a:t>]</a:t>
            </a:r>
            <a:endParaRPr lang="zh-CN" altLang="en-US" sz="1600">
              <a:solidFill>
                <a:srgbClr val="0000FF"/>
              </a:solidFill>
              <a:latin typeface="Consolas" pitchFamily="49" charset="0"/>
              <a:cs typeface="Consolas" pitchFamily="49" charset="0"/>
            </a:endParaRPr>
          </a:p>
        </p:txBody>
      </p:sp>
      <p:cxnSp>
        <p:nvCxnSpPr>
          <p:cNvPr id="13" name="直接连接符 12"/>
          <p:cNvCxnSpPr/>
          <p:nvPr/>
        </p:nvCxnSpPr>
        <p:spPr>
          <a:xfrm rot="5400000">
            <a:off x="1803918" y="2878667"/>
            <a:ext cx="360000" cy="0"/>
          </a:xfrm>
          <a:prstGeom prst="line">
            <a:avLst/>
          </a:prstGeom>
        </p:spPr>
        <p:style>
          <a:lnRef idx="2">
            <a:schemeClr val="dk1"/>
          </a:lnRef>
          <a:fillRef idx="0">
            <a:schemeClr val="dk1"/>
          </a:fillRef>
          <a:effectRef idx="1">
            <a:schemeClr val="dk1"/>
          </a:effectRef>
          <a:fontRef idx="minor">
            <a:schemeClr val="tx1"/>
          </a:fontRef>
        </p:style>
      </p:cxnSp>
      <p:sp>
        <p:nvSpPr>
          <p:cNvPr id="14" name="椭圆 13"/>
          <p:cNvSpPr/>
          <p:nvPr/>
        </p:nvSpPr>
        <p:spPr>
          <a:xfrm>
            <a:off x="1785918" y="1269907"/>
            <a:ext cx="396000" cy="432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8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sp>
        <p:nvSpPr>
          <p:cNvPr id="16" name="TextBox 15"/>
          <p:cNvSpPr txBox="1"/>
          <p:nvPr/>
        </p:nvSpPr>
        <p:spPr>
          <a:xfrm>
            <a:off x="1785918" y="2127163"/>
            <a:ext cx="642942" cy="461665"/>
          </a:xfrm>
          <a:prstGeom prst="rect">
            <a:avLst/>
          </a:prstGeom>
          <a:noFill/>
        </p:spPr>
        <p:txBody>
          <a:bodyPr wrap="square" rtlCol="0">
            <a:spAutoFit/>
          </a:bodyPr>
          <a:lstStyle/>
          <a:p>
            <a:r>
              <a:rPr lang="en-US" altLang="zh-CN">
                <a:solidFill>
                  <a:srgbClr val="0000FF"/>
                </a:solidFill>
              </a:rPr>
              <a:t>…</a:t>
            </a:r>
            <a:endParaRPr lang="zh-CN" altLang="en-US">
              <a:solidFill>
                <a:srgbClr val="0000FF"/>
              </a:solidFill>
            </a:endParaRPr>
          </a:p>
        </p:txBody>
      </p:sp>
      <p:sp>
        <p:nvSpPr>
          <p:cNvPr id="18" name="TextBox 17"/>
          <p:cNvSpPr txBox="1"/>
          <p:nvPr/>
        </p:nvSpPr>
        <p:spPr>
          <a:xfrm>
            <a:off x="1214414" y="1698535"/>
            <a:ext cx="785818" cy="338554"/>
          </a:xfrm>
          <a:prstGeom prst="rect">
            <a:avLst/>
          </a:prstGeom>
          <a:noFill/>
        </p:spPr>
        <p:txBody>
          <a:bodyPr wrap="square" rtlCol="0">
            <a:spAutoFit/>
          </a:bodyPr>
          <a:lstStyle/>
          <a:p>
            <a:r>
              <a:rPr lang="en-US" altLang="zh-CN" sz="1600" i="1">
                <a:solidFill>
                  <a:srgbClr val="0000FF"/>
                </a:solidFill>
                <a:latin typeface="Consolas" pitchFamily="49" charset="0"/>
                <a:cs typeface="Consolas" pitchFamily="49" charset="0"/>
              </a:rPr>
              <a:t>x</a:t>
            </a:r>
            <a:r>
              <a:rPr lang="en-US" altLang="zh-CN" sz="1600">
                <a:solidFill>
                  <a:srgbClr val="0000FF"/>
                </a:solidFill>
                <a:latin typeface="Consolas" pitchFamily="49" charset="0"/>
                <a:cs typeface="Consolas" pitchFamily="49" charset="0"/>
              </a:rPr>
              <a:t>[1]</a:t>
            </a:r>
            <a:endParaRPr lang="zh-CN" altLang="en-US" sz="1600">
              <a:solidFill>
                <a:srgbClr val="0000FF"/>
              </a:solidFill>
              <a:latin typeface="Consolas" pitchFamily="49" charset="0"/>
              <a:cs typeface="Consolas" pitchFamily="49" charset="0"/>
            </a:endParaRPr>
          </a:p>
        </p:txBody>
      </p:sp>
      <p:cxnSp>
        <p:nvCxnSpPr>
          <p:cNvPr id="21" name="直接连接符 20"/>
          <p:cNvCxnSpPr/>
          <p:nvPr/>
        </p:nvCxnSpPr>
        <p:spPr>
          <a:xfrm rot="16200000" flipH="1">
            <a:off x="1771290" y="1914535"/>
            <a:ext cx="425256" cy="0"/>
          </a:xfrm>
          <a:prstGeom prst="line">
            <a:avLst/>
          </a:prstGeom>
        </p:spPr>
        <p:style>
          <a:lnRef idx="2">
            <a:schemeClr val="dk1"/>
          </a:lnRef>
          <a:fillRef idx="0">
            <a:schemeClr val="dk1"/>
          </a:fillRef>
          <a:effectRef idx="1">
            <a:schemeClr val="dk1"/>
          </a:effectRef>
          <a:fontRef idx="minor">
            <a:schemeClr val="tx1"/>
          </a:fontRef>
        </p:style>
      </p:cxnSp>
      <p:cxnSp>
        <p:nvCxnSpPr>
          <p:cNvPr id="26" name="直接连接符 25"/>
          <p:cNvCxnSpPr/>
          <p:nvPr/>
        </p:nvCxnSpPr>
        <p:spPr>
          <a:xfrm rot="16200000" flipH="1">
            <a:off x="1771290" y="3697114"/>
            <a:ext cx="425256" cy="0"/>
          </a:xfrm>
          <a:prstGeom prst="line">
            <a:avLst/>
          </a:prstGeom>
        </p:spPr>
        <p:style>
          <a:lnRef idx="2">
            <a:schemeClr val="dk1"/>
          </a:lnRef>
          <a:fillRef idx="0">
            <a:schemeClr val="dk1"/>
          </a:fillRef>
          <a:effectRef idx="1">
            <a:schemeClr val="dk1"/>
          </a:effectRef>
          <a:fontRef idx="minor">
            <a:schemeClr val="tx1"/>
          </a:fontRef>
        </p:style>
      </p:cxnSp>
      <p:grpSp>
        <p:nvGrpSpPr>
          <p:cNvPr id="6" name="组合 38"/>
          <p:cNvGrpSpPr/>
          <p:nvPr/>
        </p:nvGrpSpPr>
        <p:grpSpPr>
          <a:xfrm>
            <a:off x="1785918" y="3555923"/>
            <a:ext cx="3286148" cy="1717323"/>
            <a:chOff x="1785918" y="3416858"/>
            <a:chExt cx="3286148" cy="1717323"/>
          </a:xfrm>
        </p:grpSpPr>
        <p:sp>
          <p:nvSpPr>
            <p:cNvPr id="23" name="椭圆 22"/>
            <p:cNvSpPr/>
            <p:nvPr/>
          </p:nvSpPr>
          <p:spPr>
            <a:xfrm>
              <a:off x="1785918" y="4702181"/>
              <a:ext cx="396000" cy="432000"/>
            </a:xfrm>
            <a:prstGeom prst="ellipse">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zh-CN" altLang="en-US" sz="1800" i="1">
                <a:solidFill>
                  <a:srgbClr val="0000FF"/>
                </a:solidFill>
                <a:latin typeface="Consolas" pitchFamily="49" charset="0"/>
                <a:cs typeface="Consolas" pitchFamily="49" charset="0"/>
              </a:endParaRPr>
            </a:p>
          </p:txBody>
        </p:sp>
        <p:cxnSp>
          <p:nvCxnSpPr>
            <p:cNvPr id="24" name="直接连接符 23"/>
            <p:cNvCxnSpPr/>
            <p:nvPr/>
          </p:nvCxnSpPr>
          <p:spPr>
            <a:xfrm rot="5400000">
              <a:off x="1803918" y="4522181"/>
              <a:ext cx="360000" cy="0"/>
            </a:xfrm>
            <a:prstGeom prst="line">
              <a:avLst/>
            </a:prstGeom>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785918" y="3770677"/>
              <a:ext cx="642942" cy="461665"/>
            </a:xfrm>
            <a:prstGeom prst="rect">
              <a:avLst/>
            </a:prstGeom>
            <a:noFill/>
          </p:spPr>
          <p:txBody>
            <a:bodyPr wrap="square" rtlCol="0">
              <a:spAutoFit/>
            </a:bodyPr>
            <a:lstStyle/>
            <a:p>
              <a:r>
                <a:rPr lang="en-US" altLang="zh-CN">
                  <a:solidFill>
                    <a:srgbClr val="0000FF"/>
                  </a:solidFill>
                </a:rPr>
                <a:t>…</a:t>
              </a:r>
              <a:endParaRPr lang="zh-CN" altLang="en-US">
                <a:solidFill>
                  <a:srgbClr val="0000FF"/>
                </a:solidFill>
              </a:endParaRPr>
            </a:p>
          </p:txBody>
        </p:sp>
        <p:sp>
          <p:nvSpPr>
            <p:cNvPr id="27" name="右大括号 26"/>
            <p:cNvSpPr/>
            <p:nvPr/>
          </p:nvSpPr>
          <p:spPr>
            <a:xfrm>
              <a:off x="2357422" y="3416858"/>
              <a:ext cx="142876" cy="1571636"/>
            </a:xfrm>
            <a:prstGeom prst="rightBrace">
              <a:avLst/>
            </a:prstGeom>
            <a:ln w="19050">
              <a:solidFill>
                <a:srgbClr val="FF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8" name="TextBox 27"/>
            <p:cNvSpPr txBox="1"/>
            <p:nvPr/>
          </p:nvSpPr>
          <p:spPr>
            <a:xfrm>
              <a:off x="2571736" y="3925677"/>
              <a:ext cx="2500330" cy="646331"/>
            </a:xfrm>
            <a:prstGeom prst="rect">
              <a:avLst/>
            </a:prstGeom>
            <a:noFill/>
          </p:spPr>
          <p:txBody>
            <a:bodyPr wrap="square" rtlCol="0">
              <a:spAutoFit/>
            </a:bodyPr>
            <a:lstStyle/>
            <a:p>
              <a:r>
                <a:rPr lang="en-US" altLang="zh-CN" sz="1800">
                  <a:solidFill>
                    <a:srgbClr val="0000FF"/>
                  </a:solidFill>
                  <a:latin typeface="Consolas" pitchFamily="49" charset="0"/>
                  <a:ea typeface="仿宋" pitchFamily="49" charset="-122"/>
                  <a:cs typeface="Consolas" pitchFamily="49" charset="0"/>
                </a:rPr>
                <a:t>tot-sum</a:t>
              </a:r>
              <a:r>
                <a:rPr lang="zh-CN" altLang="en-US" sz="1800">
                  <a:solidFill>
                    <a:srgbClr val="0000FF"/>
                  </a:solidFill>
                  <a:latin typeface="Consolas" pitchFamily="49" charset="0"/>
                  <a:ea typeface="仿宋" pitchFamily="49" charset="-122"/>
                  <a:cs typeface="Consolas" pitchFamily="49" charset="0"/>
                </a:rPr>
                <a:t>为所有未选择作业的</a:t>
              </a:r>
              <a:r>
                <a:rPr lang="en-US" altLang="zh-CN" sz="1800" i="1">
                  <a:solidFill>
                    <a:srgbClr val="0000FF"/>
                  </a:solidFill>
                  <a:latin typeface="Consolas" pitchFamily="49" charset="0"/>
                  <a:ea typeface="仿宋" pitchFamily="49" charset="-122"/>
                  <a:cs typeface="Consolas" pitchFamily="49" charset="0"/>
                </a:rPr>
                <a:t>b</a:t>
              </a:r>
              <a:r>
                <a:rPr lang="zh-CN" altLang="en-US" sz="1800">
                  <a:solidFill>
                    <a:srgbClr val="0000FF"/>
                  </a:solidFill>
                  <a:latin typeface="Consolas" pitchFamily="49" charset="0"/>
                  <a:ea typeface="仿宋" pitchFamily="49" charset="-122"/>
                  <a:cs typeface="Consolas" pitchFamily="49" charset="0"/>
                </a:rPr>
                <a:t>时间和</a:t>
              </a:r>
            </a:p>
          </p:txBody>
        </p:sp>
      </p:grpSp>
      <p:sp>
        <p:nvSpPr>
          <p:cNvPr id="29" name="TextBox 28"/>
          <p:cNvSpPr txBox="1"/>
          <p:nvPr/>
        </p:nvSpPr>
        <p:spPr>
          <a:xfrm>
            <a:off x="71406" y="5413311"/>
            <a:ext cx="4572032" cy="369332"/>
          </a:xfrm>
          <a:prstGeom prst="rect">
            <a:avLst/>
          </a:prstGeom>
          <a:noFill/>
        </p:spPr>
        <p:txBody>
          <a:bodyPr wrap="square" rtlCol="0">
            <a:spAutoFit/>
          </a:bodyPr>
          <a:lstStyle/>
          <a:p>
            <a:r>
              <a:rPr lang="zh-CN" altLang="en-US" sz="1800">
                <a:solidFill>
                  <a:srgbClr val="0000FF"/>
                </a:solidFill>
                <a:latin typeface="Consolas" pitchFamily="49" charset="0"/>
                <a:ea typeface="仿宋" pitchFamily="49" charset="-122"/>
                <a:cs typeface="Consolas" pitchFamily="49" charset="0"/>
              </a:rPr>
              <a:t>该调度方案的时间和</a:t>
            </a:r>
            <a:r>
              <a:rPr lang="zh-CN" altLang="en-US" sz="1800">
                <a:solidFill>
                  <a:srgbClr val="0000FF"/>
                </a:solidFill>
                <a:latin typeface="宋体" pitchFamily="2" charset="-122"/>
                <a:ea typeface="宋体" pitchFamily="2" charset="-122"/>
                <a:cs typeface="Consolas" pitchFamily="49" charset="0"/>
              </a:rPr>
              <a:t>≥</a:t>
            </a:r>
            <a:r>
              <a:rPr lang="en-US" altLang="zh-CN" sz="1800" i="1">
                <a:solidFill>
                  <a:srgbClr val="FF0000"/>
                </a:solidFill>
                <a:latin typeface="Consolas" pitchFamily="49" charset="0"/>
                <a:ea typeface="仿宋" pitchFamily="49" charset="-122"/>
                <a:cs typeface="Consolas" pitchFamily="49" charset="0"/>
              </a:rPr>
              <a:t>f</a:t>
            </a:r>
            <a:r>
              <a:rPr lang="en-US" altLang="zh-CN" sz="1800" baseline="-25000">
                <a:solidFill>
                  <a:srgbClr val="FF0000"/>
                </a:solidFill>
                <a:latin typeface="Consolas" pitchFamily="49" charset="0"/>
                <a:ea typeface="仿宋" pitchFamily="49" charset="-122"/>
                <a:cs typeface="Consolas" pitchFamily="49" charset="0"/>
              </a:rPr>
              <a:t>2</a:t>
            </a:r>
            <a:r>
              <a:rPr lang="en-US" altLang="zh-CN" sz="1800">
                <a:solidFill>
                  <a:srgbClr val="FF0000"/>
                </a:solidFill>
                <a:latin typeface="Consolas" pitchFamily="49" charset="0"/>
                <a:ea typeface="仿宋" pitchFamily="49" charset="-122"/>
                <a:cs typeface="Consolas" pitchFamily="49" charset="0"/>
              </a:rPr>
              <a:t>[</a:t>
            </a:r>
            <a:r>
              <a:rPr lang="en-US" altLang="zh-CN" sz="1800" i="1">
                <a:solidFill>
                  <a:srgbClr val="FF0000"/>
                </a:solidFill>
                <a:latin typeface="Consolas" pitchFamily="49" charset="0"/>
                <a:ea typeface="仿宋" pitchFamily="49" charset="-122"/>
                <a:cs typeface="Consolas" pitchFamily="49" charset="0"/>
              </a:rPr>
              <a:t>i</a:t>
            </a:r>
            <a:r>
              <a:rPr lang="en-US" altLang="zh-CN" sz="1800">
                <a:solidFill>
                  <a:srgbClr val="FF0000"/>
                </a:solidFill>
                <a:latin typeface="Consolas" pitchFamily="49" charset="0"/>
                <a:ea typeface="仿宋" pitchFamily="49" charset="-122"/>
                <a:cs typeface="Consolas" pitchFamily="49" charset="0"/>
              </a:rPr>
              <a:t>]+tot-sum</a:t>
            </a:r>
            <a:endParaRPr lang="zh-CN" altLang="en-US" sz="1800">
              <a:solidFill>
                <a:srgbClr val="FF0000"/>
              </a:solidFill>
              <a:latin typeface="Consolas" pitchFamily="49" charset="0"/>
              <a:ea typeface="仿宋" pitchFamily="49" charset="-122"/>
              <a:cs typeface="Consolas" pitchFamily="49" charset="0"/>
            </a:endParaRPr>
          </a:p>
        </p:txBody>
      </p:sp>
      <p:grpSp>
        <p:nvGrpSpPr>
          <p:cNvPr id="7" name="组合 37"/>
          <p:cNvGrpSpPr/>
          <p:nvPr/>
        </p:nvGrpSpPr>
        <p:grpSpPr>
          <a:xfrm>
            <a:off x="2214546" y="1470733"/>
            <a:ext cx="3714776" cy="2025894"/>
            <a:chOff x="2214546" y="1331668"/>
            <a:chExt cx="3714776" cy="2025894"/>
          </a:xfrm>
        </p:grpSpPr>
        <p:sp>
          <p:nvSpPr>
            <p:cNvPr id="12" name="TextBox 11"/>
            <p:cNvSpPr txBox="1"/>
            <p:nvPr/>
          </p:nvSpPr>
          <p:spPr>
            <a:xfrm>
              <a:off x="2571736" y="1845222"/>
              <a:ext cx="3357586" cy="646331"/>
            </a:xfrm>
            <a:prstGeom prst="rect">
              <a:avLst/>
            </a:prstGeom>
            <a:noFill/>
          </p:spPr>
          <p:txBody>
            <a:bodyPr wrap="square" rtlCol="0">
              <a:spAutoFit/>
            </a:bodyPr>
            <a:lstStyle/>
            <a:p>
              <a:r>
                <a:rPr lang="en-US" altLang="zh-CN" sz="1800" i="1">
                  <a:solidFill>
                    <a:srgbClr val="0000FF"/>
                  </a:solidFill>
                  <a:latin typeface="Consolas" pitchFamily="49" charset="0"/>
                  <a:ea typeface="仿宋" pitchFamily="49" charset="-122"/>
                  <a:cs typeface="Consolas" pitchFamily="49" charset="0"/>
                </a:rPr>
                <a:t>x</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x</a:t>
              </a:r>
              <a:r>
                <a:rPr lang="en-US" altLang="zh-CN" sz="1800">
                  <a:solidFill>
                    <a:srgbClr val="0000FF"/>
                  </a:solidFill>
                  <a:latin typeface="Consolas" pitchFamily="49" charset="0"/>
                  <a:ea typeface="仿宋" pitchFamily="49" charset="-122"/>
                  <a:cs typeface="Consolas" pitchFamily="49" charset="0"/>
                </a:rPr>
                <a:t>[1], … ,</a:t>
              </a:r>
              <a:r>
                <a:rPr lang="en-US" altLang="zh-CN" sz="1800" i="1">
                  <a:solidFill>
                    <a:srgbClr val="0000FF"/>
                  </a:solidFill>
                  <a:latin typeface="Consolas" pitchFamily="49" charset="0"/>
                  <a:ea typeface="仿宋" pitchFamily="49" charset="-122"/>
                  <a:cs typeface="Consolas" pitchFamily="49" charset="0"/>
                </a:rPr>
                <a:t>x</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zh-CN" altLang="en-US" sz="1800">
                  <a:solidFill>
                    <a:srgbClr val="0000FF"/>
                  </a:solidFill>
                  <a:latin typeface="Consolas" pitchFamily="49" charset="0"/>
                  <a:ea typeface="仿宋" pitchFamily="49" charset="-122"/>
                  <a:cs typeface="Consolas" pitchFamily="49" charset="0"/>
                </a:rPr>
                <a:t>为已经选择的作业</a:t>
              </a:r>
              <a:r>
                <a:rPr lang="en-US" altLang="zh-CN" sz="1800">
                  <a:solidFill>
                    <a:srgbClr val="0000FF"/>
                  </a:solidFill>
                  <a:latin typeface="Consolas" pitchFamily="49" charset="0"/>
                  <a:ea typeface="仿宋" pitchFamily="49" charset="-122"/>
                  <a:cs typeface="Consolas" pitchFamily="49" charset="0"/>
                </a:rPr>
                <a:t>,</a:t>
              </a:r>
              <a:r>
                <a:rPr lang="zh-CN" altLang="en-US" sz="1800">
                  <a:solidFill>
                    <a:srgbClr val="0000FF"/>
                  </a:solidFill>
                  <a:latin typeface="Consolas" pitchFamily="49" charset="0"/>
                  <a:ea typeface="仿宋" pitchFamily="49" charset="-122"/>
                  <a:cs typeface="Consolas" pitchFamily="49" charset="0"/>
                </a:rPr>
                <a:t>它们的</a:t>
              </a:r>
              <a:r>
                <a:rPr lang="en-US" altLang="zh-CN" sz="1800" i="1">
                  <a:solidFill>
                    <a:srgbClr val="0000FF"/>
                  </a:solidFill>
                  <a:latin typeface="Consolas" pitchFamily="49" charset="0"/>
                  <a:ea typeface="仿宋" pitchFamily="49" charset="-122"/>
                  <a:cs typeface="Consolas" pitchFamily="49" charset="0"/>
                </a:rPr>
                <a:t>b</a:t>
              </a:r>
              <a:r>
                <a:rPr lang="zh-CN" altLang="en-US" sz="1800">
                  <a:solidFill>
                    <a:srgbClr val="0000FF"/>
                  </a:solidFill>
                  <a:latin typeface="Consolas" pitchFamily="49" charset="0"/>
                  <a:ea typeface="仿宋" pitchFamily="49" charset="-122"/>
                  <a:cs typeface="Consolas" pitchFamily="49" charset="0"/>
                </a:rPr>
                <a:t>时间和为</a:t>
              </a:r>
              <a:r>
                <a:rPr lang="en-US" altLang="zh-CN" sz="1800">
                  <a:solidFill>
                    <a:srgbClr val="0000FF"/>
                  </a:solidFill>
                  <a:latin typeface="Consolas" pitchFamily="49" charset="0"/>
                  <a:ea typeface="仿宋" pitchFamily="49" charset="-122"/>
                  <a:cs typeface="Consolas" pitchFamily="49" charset="0"/>
                </a:rPr>
                <a:t>sum</a:t>
              </a:r>
              <a:endParaRPr lang="zh-CN" altLang="en-US" sz="1800">
                <a:latin typeface="Consolas" pitchFamily="49" charset="0"/>
                <a:ea typeface="仿宋" pitchFamily="49" charset="-122"/>
                <a:cs typeface="Consolas" pitchFamily="49" charset="0"/>
              </a:endParaRPr>
            </a:p>
          </p:txBody>
        </p:sp>
        <p:sp>
          <p:nvSpPr>
            <p:cNvPr id="22" name="右大括号 21"/>
            <p:cNvSpPr/>
            <p:nvPr/>
          </p:nvSpPr>
          <p:spPr>
            <a:xfrm>
              <a:off x="2285984" y="1331668"/>
              <a:ext cx="214314" cy="1728000"/>
            </a:xfrm>
            <a:prstGeom prst="rightBrace">
              <a:avLst/>
            </a:prstGeom>
            <a:ln w="19050">
              <a:solidFill>
                <a:srgbClr val="FF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30" name="TextBox 29"/>
            <p:cNvSpPr txBox="1"/>
            <p:nvPr/>
          </p:nvSpPr>
          <p:spPr>
            <a:xfrm>
              <a:off x="2714612" y="2988230"/>
              <a:ext cx="928694" cy="369332"/>
            </a:xfrm>
            <a:prstGeom prst="rect">
              <a:avLst/>
            </a:prstGeom>
            <a:noFill/>
          </p:spPr>
          <p:txBody>
            <a:bodyPr wrap="square" rtlCol="0">
              <a:spAutoFit/>
            </a:bodyPr>
            <a:lstStyle/>
            <a:p>
              <a:r>
                <a:rPr lang="en-US" altLang="zh-CN" sz="1800" i="1">
                  <a:solidFill>
                    <a:srgbClr val="FF0000"/>
                  </a:solidFill>
                  <a:latin typeface="Consolas" pitchFamily="49" charset="0"/>
                  <a:cs typeface="Consolas" pitchFamily="49" charset="0"/>
                </a:rPr>
                <a:t>f</a:t>
              </a:r>
              <a:r>
                <a:rPr lang="en-US" altLang="zh-CN" sz="1800" baseline="-25000">
                  <a:solidFill>
                    <a:srgbClr val="FF0000"/>
                  </a:solidFill>
                  <a:latin typeface="Consolas" pitchFamily="49" charset="0"/>
                  <a:cs typeface="Consolas" pitchFamily="49" charset="0"/>
                </a:rPr>
                <a:t>2</a:t>
              </a:r>
              <a:r>
                <a:rPr lang="en-US" altLang="zh-CN" sz="1800">
                  <a:solidFill>
                    <a:srgbClr val="FF0000"/>
                  </a:solidFill>
                  <a:latin typeface="Consolas" pitchFamily="49" charset="0"/>
                  <a:cs typeface="Consolas" pitchFamily="49" charset="0"/>
                </a:rPr>
                <a:t>[</a:t>
              </a:r>
              <a:r>
                <a:rPr lang="en-US" altLang="zh-CN" sz="1800" i="1">
                  <a:solidFill>
                    <a:srgbClr val="FF0000"/>
                  </a:solidFill>
                  <a:latin typeface="Consolas" pitchFamily="49" charset="0"/>
                  <a:cs typeface="Consolas" pitchFamily="49" charset="0"/>
                </a:rPr>
                <a:t>i</a:t>
              </a:r>
              <a:r>
                <a:rPr lang="en-US" altLang="zh-CN" sz="1800">
                  <a:solidFill>
                    <a:srgbClr val="FF0000"/>
                  </a:solidFill>
                  <a:latin typeface="Consolas" pitchFamily="49" charset="0"/>
                  <a:cs typeface="Consolas" pitchFamily="49" charset="0"/>
                </a:rPr>
                <a:t>]</a:t>
              </a:r>
              <a:endParaRPr lang="zh-CN" altLang="en-US" sz="1800">
                <a:solidFill>
                  <a:srgbClr val="FF0000"/>
                </a:solidFill>
                <a:latin typeface="Consolas" pitchFamily="49" charset="0"/>
                <a:cs typeface="Consolas" pitchFamily="49" charset="0"/>
              </a:endParaRPr>
            </a:p>
          </p:txBody>
        </p:sp>
        <p:cxnSp>
          <p:nvCxnSpPr>
            <p:cNvPr id="32" name="直接箭头连接符 31"/>
            <p:cNvCxnSpPr/>
            <p:nvPr/>
          </p:nvCxnSpPr>
          <p:spPr>
            <a:xfrm rot="10800000">
              <a:off x="2214546" y="3202544"/>
              <a:ext cx="500066" cy="1588"/>
            </a:xfrm>
            <a:prstGeom prst="straightConnector1">
              <a:avLst/>
            </a:prstGeom>
            <a:ln>
              <a:prstDash val="dash"/>
              <a:tailEnd type="arrow"/>
            </a:ln>
          </p:spPr>
          <p:style>
            <a:lnRef idx="2">
              <a:schemeClr val="dk1"/>
            </a:lnRef>
            <a:fillRef idx="0">
              <a:schemeClr val="dk1"/>
            </a:fillRef>
            <a:effectRef idx="1">
              <a:schemeClr val="dk1"/>
            </a:effectRef>
            <a:fontRef idx="minor">
              <a:schemeClr val="tx1"/>
            </a:fontRef>
          </p:style>
        </p:cxnSp>
      </p:grpSp>
      <p:grpSp>
        <p:nvGrpSpPr>
          <p:cNvPr id="8" name="组合 39"/>
          <p:cNvGrpSpPr/>
          <p:nvPr/>
        </p:nvGrpSpPr>
        <p:grpSpPr>
          <a:xfrm>
            <a:off x="2071670" y="5841939"/>
            <a:ext cx="3071834" cy="655084"/>
            <a:chOff x="2071670" y="5702874"/>
            <a:chExt cx="3071834" cy="655084"/>
          </a:xfrm>
        </p:grpSpPr>
        <p:sp>
          <p:nvSpPr>
            <p:cNvPr id="33" name="TextBox 32"/>
            <p:cNvSpPr txBox="1"/>
            <p:nvPr/>
          </p:nvSpPr>
          <p:spPr>
            <a:xfrm>
              <a:off x="2071670" y="5988626"/>
              <a:ext cx="3071834" cy="369332"/>
            </a:xfrm>
            <a:prstGeom prst="rect">
              <a:avLst/>
            </a:prstGeom>
            <a:noFill/>
          </p:spPr>
          <p:txBody>
            <a:bodyPr wrap="square" rtlCol="0">
              <a:spAutoFit/>
            </a:bodyPr>
            <a:lstStyle/>
            <a:p>
              <a:r>
                <a:rPr lang="zh-CN" altLang="en-US" sz="1800">
                  <a:solidFill>
                    <a:srgbClr val="FF00FF"/>
                  </a:solidFill>
                  <a:latin typeface="Consolas" pitchFamily="49" charset="0"/>
                  <a:ea typeface="华文中宋" pitchFamily="2" charset="-122"/>
                  <a:cs typeface="Consolas" pitchFamily="49" charset="0"/>
                </a:rPr>
                <a:t>时间下界：</a:t>
              </a:r>
              <a:r>
                <a:rPr lang="en-US" altLang="zh-CN" sz="1800">
                  <a:solidFill>
                    <a:srgbClr val="FF00FF"/>
                  </a:solidFill>
                  <a:latin typeface="Consolas" pitchFamily="49" charset="0"/>
                  <a:ea typeface="华文中宋" pitchFamily="2" charset="-122"/>
                  <a:cs typeface="Consolas" pitchFamily="49" charset="0"/>
                </a:rPr>
                <a:t>bound(</a:t>
              </a:r>
              <a:r>
                <a:rPr lang="en-US" altLang="zh-CN" sz="1800" i="1">
                  <a:solidFill>
                    <a:srgbClr val="FF00FF"/>
                  </a:solidFill>
                  <a:latin typeface="Consolas" pitchFamily="49" charset="0"/>
                  <a:ea typeface="华文中宋" pitchFamily="2" charset="-122"/>
                  <a:cs typeface="Consolas" pitchFamily="49" charset="0"/>
                </a:rPr>
                <a:t>i</a:t>
              </a:r>
              <a:r>
                <a:rPr lang="en-US" altLang="zh-CN" sz="1800">
                  <a:solidFill>
                    <a:srgbClr val="FF00FF"/>
                  </a:solidFill>
                  <a:latin typeface="Consolas" pitchFamily="49" charset="0"/>
                  <a:ea typeface="华文中宋" pitchFamily="2" charset="-122"/>
                  <a:cs typeface="Consolas" pitchFamily="49" charset="0"/>
                </a:rPr>
                <a:t>)</a:t>
              </a:r>
              <a:r>
                <a:rPr lang="zh-CN" altLang="en-US" sz="1800">
                  <a:solidFill>
                    <a:srgbClr val="FF00FF"/>
                  </a:solidFill>
                  <a:latin typeface="Consolas" pitchFamily="49" charset="0"/>
                  <a:ea typeface="华文中宋" pitchFamily="2" charset="-122"/>
                  <a:cs typeface="Consolas" pitchFamily="49" charset="0"/>
                </a:rPr>
                <a:t>表示</a:t>
              </a:r>
            </a:p>
          </p:txBody>
        </p:sp>
        <p:sp>
          <p:nvSpPr>
            <p:cNvPr id="34" name="上箭头 33"/>
            <p:cNvSpPr/>
            <p:nvPr/>
          </p:nvSpPr>
          <p:spPr>
            <a:xfrm>
              <a:off x="3214678" y="5702874"/>
              <a:ext cx="214314" cy="285752"/>
            </a:xfrm>
            <a:prstGeom prst="up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9" name="组合 36"/>
          <p:cNvGrpSpPr/>
          <p:nvPr/>
        </p:nvGrpSpPr>
        <p:grpSpPr>
          <a:xfrm>
            <a:off x="4429124" y="5213838"/>
            <a:ext cx="4572032" cy="925995"/>
            <a:chOff x="4429124" y="5074773"/>
            <a:chExt cx="4572032" cy="925995"/>
          </a:xfrm>
        </p:grpSpPr>
        <p:sp>
          <p:nvSpPr>
            <p:cNvPr id="35" name="TextBox 34"/>
            <p:cNvSpPr txBox="1"/>
            <p:nvPr/>
          </p:nvSpPr>
          <p:spPr>
            <a:xfrm>
              <a:off x="4929190" y="5074773"/>
              <a:ext cx="4071966" cy="925995"/>
            </a:xfrm>
            <a:prstGeom prst="rect">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tIns="108000" bIns="108000" rtlCol="0">
              <a:spAutoFit/>
            </a:bodyPr>
            <a:lstStyle/>
            <a:p>
              <a:pPr marL="342900" indent="-342900">
                <a:spcBef>
                  <a:spcPts val="1200"/>
                </a:spcBef>
                <a:buBlip>
                  <a:blip r:embed="rId2"/>
                </a:buBlip>
              </a:pPr>
              <a:r>
                <a:rPr lang="zh-CN" altLang="en-US" sz="1800">
                  <a:solidFill>
                    <a:srgbClr val="0000FF"/>
                  </a:solidFill>
                  <a:latin typeface="Consolas" pitchFamily="49" charset="0"/>
                  <a:ea typeface="仿宋" pitchFamily="49" charset="-122"/>
                  <a:cs typeface="Consolas" pitchFamily="49" charset="0"/>
                </a:rPr>
                <a:t>总时间≥</a:t>
              </a:r>
              <a:r>
                <a:rPr lang="en-US" altLang="zh-CN" sz="1800">
                  <a:solidFill>
                    <a:srgbClr val="0000FF"/>
                  </a:solidFill>
                  <a:latin typeface="Consolas" pitchFamily="49" charset="0"/>
                  <a:ea typeface="仿宋" pitchFamily="49" charset="-122"/>
                  <a:cs typeface="Consolas" pitchFamily="49" charset="0"/>
                </a:rPr>
                <a:t>bound(</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bestf </a:t>
              </a:r>
              <a:r>
                <a:rPr lang="en-US" altLang="zh-CN" sz="1800">
                  <a:solidFill>
                    <a:srgbClr val="FF00FF"/>
                  </a:solidFill>
                  <a:latin typeface="Consolas" pitchFamily="49" charset="0"/>
                  <a:ea typeface="仿宋" pitchFamily="49" charset="-122"/>
                  <a:cs typeface="Consolas" pitchFamily="49" charset="0"/>
                  <a:sym typeface="Wingdings" panose="05000000000000000000"/>
                </a:rPr>
                <a:t></a:t>
              </a:r>
              <a:r>
                <a:rPr lang="en-US" altLang="zh-CN" sz="1800">
                  <a:solidFill>
                    <a:srgbClr val="0000FF"/>
                  </a:solidFill>
                  <a:latin typeface="Consolas" pitchFamily="49" charset="0"/>
                  <a:ea typeface="仿宋" pitchFamily="49" charset="-122"/>
                  <a:cs typeface="Consolas" pitchFamily="49" charset="0"/>
                  <a:sym typeface="Wingdings" panose="05000000000000000000"/>
                </a:rPr>
                <a:t> </a:t>
              </a:r>
              <a:r>
                <a:rPr lang="zh-CN" altLang="zh-CN" sz="1800">
                  <a:solidFill>
                    <a:srgbClr val="0000FF"/>
                  </a:solidFill>
                  <a:latin typeface="Consolas" pitchFamily="49" charset="0"/>
                  <a:ea typeface="仿宋" pitchFamily="49" charset="-122"/>
                  <a:cs typeface="Consolas" pitchFamily="49" charset="0"/>
                </a:rPr>
                <a:t>剪枝</a:t>
              </a:r>
              <a:endParaRPr lang="en-US" altLang="zh-CN" sz="1800">
                <a:solidFill>
                  <a:srgbClr val="0000FF"/>
                </a:solidFill>
                <a:latin typeface="Consolas" pitchFamily="49" charset="0"/>
                <a:ea typeface="仿宋" pitchFamily="49" charset="-122"/>
                <a:cs typeface="Consolas" pitchFamily="49" charset="0"/>
              </a:endParaRPr>
            </a:p>
            <a:p>
              <a:pPr marL="342900" indent="-342900">
                <a:spcBef>
                  <a:spcPts val="1200"/>
                </a:spcBef>
                <a:buBlip>
                  <a:blip r:embed="rId2"/>
                </a:buBlip>
              </a:pPr>
              <a:r>
                <a:rPr lang="zh-CN" altLang="en-US" sz="1800">
                  <a:solidFill>
                    <a:srgbClr val="0000FF"/>
                  </a:solidFill>
                  <a:latin typeface="Consolas" pitchFamily="49" charset="0"/>
                  <a:ea typeface="仿宋" pitchFamily="49" charset="-122"/>
                  <a:cs typeface="Consolas" pitchFamily="49" charset="0"/>
                </a:rPr>
                <a:t>仅仅扩展</a:t>
              </a:r>
              <a:r>
                <a:rPr lang="en-US" altLang="zh-CN" sz="1800">
                  <a:solidFill>
                    <a:srgbClr val="0000FF"/>
                  </a:solidFill>
                  <a:latin typeface="Consolas" pitchFamily="49" charset="0"/>
                  <a:ea typeface="仿宋" pitchFamily="49" charset="-122"/>
                  <a:cs typeface="Consolas" pitchFamily="49" charset="0"/>
                </a:rPr>
                <a:t>bound(</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)&lt;bestf</a:t>
              </a:r>
              <a:r>
                <a:rPr lang="zh-CN" altLang="en-US" sz="1800">
                  <a:solidFill>
                    <a:srgbClr val="0000FF"/>
                  </a:solidFill>
                  <a:latin typeface="Consolas" pitchFamily="49" charset="0"/>
                  <a:ea typeface="仿宋" pitchFamily="49" charset="-122"/>
                  <a:cs typeface="Consolas" pitchFamily="49" charset="0"/>
                </a:rPr>
                <a:t>的结点</a:t>
              </a:r>
              <a:r>
                <a:rPr lang="en-US" altLang="zh-CN" sz="1800">
                  <a:solidFill>
                    <a:srgbClr val="0000FF"/>
                  </a:solidFill>
                  <a:latin typeface="Consolas" pitchFamily="49" charset="0"/>
                  <a:ea typeface="仿宋" pitchFamily="49" charset="-122"/>
                  <a:cs typeface="Consolas" pitchFamily="49" charset="0"/>
                </a:rPr>
                <a:t> </a:t>
              </a:r>
              <a:endParaRPr lang="zh-CN" altLang="en-US" sz="1800">
                <a:solidFill>
                  <a:srgbClr val="0000FF"/>
                </a:solidFill>
                <a:latin typeface="Consolas" pitchFamily="49" charset="0"/>
                <a:ea typeface="仿宋" pitchFamily="49" charset="-122"/>
                <a:cs typeface="Consolas" pitchFamily="49" charset="0"/>
              </a:endParaRPr>
            </a:p>
          </p:txBody>
        </p:sp>
        <p:sp>
          <p:nvSpPr>
            <p:cNvPr id="36" name="右箭头 35"/>
            <p:cNvSpPr/>
            <p:nvPr/>
          </p:nvSpPr>
          <p:spPr>
            <a:xfrm>
              <a:off x="4429124" y="5357826"/>
              <a:ext cx="500066" cy="28575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剪枝函数</a:t>
            </a:r>
          </a:p>
        </p:txBody>
      </p:sp>
      <p:sp>
        <p:nvSpPr>
          <p:cNvPr id="3" name="TextBox 1"/>
          <p:cNvSpPr txBox="1"/>
          <p:nvPr/>
        </p:nvSpPr>
        <p:spPr>
          <a:xfrm>
            <a:off x="357158" y="1428736"/>
            <a:ext cx="8501122" cy="2671386"/>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216000" rtlCol="0">
            <a:spAutoFit/>
          </a:bodyPr>
          <a:lstStyle/>
          <a:p>
            <a:pPr>
              <a:lnSpc>
                <a:spcPts val="3000"/>
              </a:lnSpc>
            </a:pPr>
            <a:r>
              <a:rPr lang="en-US" altLang="zh-CN" sz="1800">
                <a:solidFill>
                  <a:srgbClr val="0000FF"/>
                </a:solidFill>
                <a:latin typeface="Consolas" pitchFamily="49" charset="0"/>
                <a:ea typeface="仿宋" pitchFamily="49" charset="-122"/>
                <a:cs typeface="Consolas" pitchFamily="49" charset="0"/>
              </a:rPr>
              <a:t>int </a:t>
            </a:r>
            <a:r>
              <a:rPr lang="en-US" altLang="zh-CN" sz="1800">
                <a:solidFill>
                  <a:srgbClr val="FF0000"/>
                </a:solidFill>
                <a:latin typeface="Consolas" pitchFamily="49" charset="0"/>
                <a:ea typeface="仿宋" pitchFamily="49" charset="-122"/>
                <a:cs typeface="Consolas" pitchFamily="49" charset="0"/>
              </a:rPr>
              <a:t>bound</a:t>
            </a:r>
            <a:r>
              <a:rPr lang="en-US" altLang="zh-CN" sz="1800">
                <a:solidFill>
                  <a:srgbClr val="0000FF"/>
                </a:solidFill>
                <a:latin typeface="Consolas" pitchFamily="49" charset="0"/>
                <a:ea typeface="仿宋" pitchFamily="49" charset="-122"/>
                <a:cs typeface="Consolas" pitchFamily="49" charset="0"/>
              </a:rPr>
              <a:t>(int i)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求结点的下界值</a:t>
            </a:r>
          </a:p>
          <a:p>
            <a:pPr>
              <a:lnSpc>
                <a:spcPts val="3000"/>
              </a:lnSpc>
            </a:pPr>
            <a:r>
              <a:rPr lang="en-US" altLang="zh-CN" sz="1800">
                <a:solidFill>
                  <a:srgbClr val="0000FF"/>
                </a:solidFill>
                <a:latin typeface="Consolas" pitchFamily="49" charset="0"/>
                <a:ea typeface="仿宋" pitchFamily="49" charset="-122"/>
                <a:cs typeface="Consolas" pitchFamily="49" charset="0"/>
              </a:rPr>
              <a:t>{  int sum=0;</a:t>
            </a:r>
            <a:endParaRPr lang="zh-CN" altLang="zh-CN" sz="1800">
              <a:solidFill>
                <a:srgbClr val="0000FF"/>
              </a:solidFill>
              <a:latin typeface="Consolas" pitchFamily="49" charset="0"/>
              <a:ea typeface="仿宋" pitchFamily="49" charset="-122"/>
              <a:cs typeface="Consolas" pitchFamily="49" charset="0"/>
            </a:endParaRPr>
          </a:p>
          <a:p>
            <a:pPr>
              <a:lnSpc>
                <a:spcPts val="3000"/>
              </a:lnSpc>
            </a:pPr>
            <a:r>
              <a:rPr lang="en-US" altLang="zh-CN" sz="1800">
                <a:solidFill>
                  <a:srgbClr val="0000FF"/>
                </a:solidFill>
                <a:latin typeface="Consolas" pitchFamily="49" charset="0"/>
                <a:ea typeface="仿宋" pitchFamily="49" charset="-122"/>
                <a:cs typeface="Consolas" pitchFamily="49" charset="0"/>
              </a:rPr>
              <a:t>   for (int j=1;j&lt;=i;j++)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扫描所有选择的作业</a:t>
            </a:r>
          </a:p>
          <a:p>
            <a:pPr>
              <a:lnSpc>
                <a:spcPts val="3000"/>
              </a:lnSpc>
            </a:pPr>
            <a:r>
              <a:rPr lang="en-US" altLang="zh-CN" sz="1800">
                <a:solidFill>
                  <a:srgbClr val="0000FF"/>
                </a:solidFill>
                <a:latin typeface="Consolas" pitchFamily="49" charset="0"/>
                <a:ea typeface="仿宋" pitchFamily="49" charset="-122"/>
                <a:cs typeface="Consolas" pitchFamily="49" charset="0"/>
              </a:rPr>
              <a:t>     sum+=b[x[j]];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累计所有选择作业的</a:t>
            </a:r>
            <a:r>
              <a:rPr lang="en-US" altLang="zh-CN" sz="1800">
                <a:solidFill>
                  <a:srgbClr val="00B0F0"/>
                </a:solidFill>
                <a:latin typeface="Consolas" pitchFamily="49" charset="0"/>
                <a:ea typeface="仿宋" pitchFamily="49" charset="-122"/>
                <a:cs typeface="Consolas" pitchFamily="49" charset="0"/>
              </a:rPr>
              <a:t>b</a:t>
            </a:r>
            <a:r>
              <a:rPr lang="zh-CN" altLang="zh-CN" sz="1800">
                <a:solidFill>
                  <a:srgbClr val="00B0F0"/>
                </a:solidFill>
                <a:latin typeface="Consolas" pitchFamily="49" charset="0"/>
                <a:ea typeface="仿宋" pitchFamily="49" charset="-122"/>
                <a:cs typeface="Consolas" pitchFamily="49" charset="0"/>
              </a:rPr>
              <a:t>时间</a:t>
            </a:r>
          </a:p>
          <a:p>
            <a:pPr>
              <a:lnSpc>
                <a:spcPts val="3000"/>
              </a:lnSpc>
            </a:pPr>
            <a:r>
              <a:rPr lang="en-US" altLang="zh-CN" sz="1800">
                <a:solidFill>
                  <a:srgbClr val="0000FF"/>
                </a:solidFill>
                <a:latin typeface="Consolas" pitchFamily="49" charset="0"/>
                <a:ea typeface="仿宋" pitchFamily="49" charset="-122"/>
                <a:cs typeface="Consolas" pitchFamily="49" charset="0"/>
              </a:rPr>
              <a:t>   return f2[i]+tot-sum;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全部</a:t>
            </a:r>
            <a:r>
              <a:rPr lang="en-US" altLang="zh-CN" sz="1800">
                <a:solidFill>
                  <a:srgbClr val="00B0F0"/>
                </a:solidFill>
                <a:latin typeface="Consolas" pitchFamily="49" charset="0"/>
                <a:ea typeface="仿宋" pitchFamily="49" charset="-122"/>
                <a:cs typeface="Consolas" pitchFamily="49" charset="0"/>
              </a:rPr>
              <a:t>n</a:t>
            </a:r>
            <a:r>
              <a:rPr lang="zh-CN" altLang="zh-CN" sz="1800">
                <a:solidFill>
                  <a:srgbClr val="00B0F0"/>
                </a:solidFill>
                <a:latin typeface="Consolas" pitchFamily="49" charset="0"/>
                <a:ea typeface="仿宋" pitchFamily="49" charset="-122"/>
                <a:cs typeface="Consolas" pitchFamily="49" charset="0"/>
              </a:rPr>
              <a:t>个作业的</a:t>
            </a:r>
            <a:r>
              <a:rPr lang="en-US" altLang="zh-CN" sz="1800" i="1">
                <a:solidFill>
                  <a:srgbClr val="00B0F0"/>
                </a:solidFill>
                <a:latin typeface="Consolas" pitchFamily="49" charset="0"/>
                <a:ea typeface="仿宋" pitchFamily="49" charset="-122"/>
                <a:cs typeface="Consolas" pitchFamily="49" charset="0"/>
              </a:rPr>
              <a:t>b</a:t>
            </a:r>
            <a:r>
              <a:rPr lang="zh-CN" altLang="zh-CN" sz="1800">
                <a:solidFill>
                  <a:srgbClr val="00B0F0"/>
                </a:solidFill>
                <a:latin typeface="Consolas" pitchFamily="49" charset="0"/>
                <a:ea typeface="仿宋" pitchFamily="49" charset="-122"/>
                <a:cs typeface="Consolas" pitchFamily="49" charset="0"/>
              </a:rPr>
              <a:t>时间和为</a:t>
            </a:r>
            <a:r>
              <a:rPr lang="en-US" altLang="zh-CN" sz="1800">
                <a:solidFill>
                  <a:srgbClr val="00B0F0"/>
                </a:solidFill>
                <a:latin typeface="Consolas" pitchFamily="49" charset="0"/>
                <a:ea typeface="仿宋" pitchFamily="49" charset="-122"/>
                <a:cs typeface="Consolas" pitchFamily="49" charset="0"/>
              </a:rPr>
              <a:t>tot</a:t>
            </a:r>
            <a:endParaRPr lang="zh-CN" altLang="zh-CN" sz="1800">
              <a:solidFill>
                <a:srgbClr val="00B0F0"/>
              </a:solidFill>
              <a:latin typeface="Consolas" pitchFamily="49" charset="0"/>
              <a:ea typeface="仿宋" pitchFamily="49" charset="-122"/>
              <a:cs typeface="Consolas" pitchFamily="49" charset="0"/>
            </a:endParaRPr>
          </a:p>
          <a:p>
            <a:pPr>
              <a:lnSpc>
                <a:spcPts val="3000"/>
              </a:lnSpc>
            </a:pP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285728"/>
            <a:ext cx="8786874" cy="6253196"/>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216000" bIns="216000" rtlCol="0">
            <a:spAutoFit/>
          </a:bodyPr>
          <a:lstStyle/>
          <a:p>
            <a:r>
              <a:rPr lang="en-US" altLang="zh-CN" sz="1800">
                <a:solidFill>
                  <a:srgbClr val="0000FF"/>
                </a:solidFill>
                <a:latin typeface="Consolas" pitchFamily="49" charset="0"/>
                <a:ea typeface="仿宋" pitchFamily="49" charset="-122"/>
                <a:cs typeface="Consolas" pitchFamily="49" charset="0"/>
              </a:rPr>
              <a:t>void </a:t>
            </a:r>
            <a:r>
              <a:rPr lang="en-US" altLang="zh-CN" sz="1800">
                <a:solidFill>
                  <a:srgbClr val="FF0000"/>
                </a:solidFill>
                <a:latin typeface="Consolas" pitchFamily="49" charset="0"/>
                <a:ea typeface="仿宋" pitchFamily="49" charset="-122"/>
                <a:cs typeface="Consolas" pitchFamily="49" charset="0"/>
              </a:rPr>
              <a:t>dfs</a:t>
            </a:r>
            <a:r>
              <a:rPr lang="en-US" altLang="zh-CN" sz="1800">
                <a:solidFill>
                  <a:srgbClr val="0000FF"/>
                </a:solidFill>
                <a:latin typeface="Consolas" pitchFamily="49" charset="0"/>
                <a:ea typeface="仿宋" pitchFamily="49" charset="-122"/>
                <a:cs typeface="Consolas" pitchFamily="49" charset="0"/>
              </a:rPr>
              <a:t>(int i)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从第</a:t>
            </a:r>
            <a:r>
              <a:rPr lang="en-US" altLang="zh-CN" sz="1800">
                <a:solidFill>
                  <a:srgbClr val="00B0F0"/>
                </a:solidFill>
                <a:latin typeface="Consolas" pitchFamily="49" charset="0"/>
                <a:ea typeface="仿宋" pitchFamily="49" charset="-122"/>
                <a:cs typeface="Consolas" pitchFamily="49" charset="0"/>
              </a:rPr>
              <a:t>i</a:t>
            </a:r>
            <a:r>
              <a:rPr lang="zh-CN" altLang="zh-CN" sz="1800">
                <a:solidFill>
                  <a:srgbClr val="00B0F0"/>
                </a:solidFill>
                <a:latin typeface="Consolas" pitchFamily="49" charset="0"/>
                <a:ea typeface="仿宋" pitchFamily="49" charset="-122"/>
                <a:cs typeface="Consolas" pitchFamily="49" charset="0"/>
              </a:rPr>
              <a:t>层开始搜索</a:t>
            </a:r>
          </a:p>
          <a:p>
            <a:r>
              <a:rPr lang="en-US" altLang="zh-CN" sz="1800">
                <a:solidFill>
                  <a:srgbClr val="0000FF"/>
                </a:solidFill>
                <a:latin typeface="Consolas" pitchFamily="49" charset="0"/>
                <a:ea typeface="仿宋" pitchFamily="49" charset="-122"/>
                <a:cs typeface="Consolas" pitchFamily="49" charset="0"/>
              </a:rPr>
              <a:t>{  if (</a:t>
            </a:r>
            <a:r>
              <a:rPr lang="en-US" altLang="zh-CN" sz="1800">
                <a:solidFill>
                  <a:srgbClr val="CC00FF"/>
                </a:solidFill>
                <a:latin typeface="Consolas" pitchFamily="49" charset="0"/>
                <a:ea typeface="仿宋" pitchFamily="49" charset="-122"/>
                <a:cs typeface="Consolas" pitchFamily="49" charset="0"/>
              </a:rPr>
              <a:t>i&gt;n</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到达叶结点</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产生一种调度方案</a:t>
            </a:r>
          </a:p>
          <a:p>
            <a:r>
              <a:rPr lang="en-US" altLang="zh-CN" sz="1800">
                <a:solidFill>
                  <a:srgbClr val="0000FF"/>
                </a:solidFill>
                <a:latin typeface="Consolas" pitchFamily="49" charset="0"/>
                <a:ea typeface="仿宋" pitchFamily="49" charset="-122"/>
                <a:cs typeface="Consolas" pitchFamily="49" charset="0"/>
              </a:rPr>
              <a:t>   {  if (f2[n]&lt;bestf)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找到更优解</a:t>
            </a:r>
          </a:p>
          <a:p>
            <a:r>
              <a:rPr lang="en-US" altLang="zh-CN" sz="1800">
                <a:solidFill>
                  <a:srgbClr val="0000FF"/>
                </a:solidFill>
                <a:latin typeface="Consolas" pitchFamily="49" charset="0"/>
                <a:ea typeface="仿宋" pitchFamily="49" charset="-122"/>
                <a:cs typeface="Consolas" pitchFamily="49" charset="0"/>
              </a:rPr>
              <a:t>      {  bestf=f2[n];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for(int j=1; j&lt;=n; j++)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复制解向量</a:t>
            </a:r>
          </a:p>
          <a:p>
            <a:r>
              <a:rPr lang="en-US" altLang="zh-CN" sz="1800">
                <a:solidFill>
                  <a:srgbClr val="0000FF"/>
                </a:solidFill>
                <a:latin typeface="Consolas" pitchFamily="49" charset="0"/>
                <a:ea typeface="仿宋" pitchFamily="49" charset="-122"/>
                <a:cs typeface="Consolas" pitchFamily="49" charset="0"/>
              </a:rPr>
              <a:t>            bestx[j] = x[j];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else</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  for(int j=i; j&lt;=n; j++)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没有到达叶结点</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考虑</a:t>
            </a:r>
            <a:r>
              <a:rPr lang="zh-CN" altLang="en-US" sz="1800">
                <a:solidFill>
                  <a:srgbClr val="00B0F0"/>
                </a:solidFill>
                <a:latin typeface="Consolas" pitchFamily="49" charset="0"/>
                <a:ea typeface="仿宋" pitchFamily="49" charset="-122"/>
                <a:cs typeface="Consolas" pitchFamily="49" charset="0"/>
              </a:rPr>
              <a:t>可能的</a:t>
            </a:r>
            <a:r>
              <a:rPr lang="zh-CN" altLang="zh-CN" sz="1800">
                <a:solidFill>
                  <a:srgbClr val="00B0F0"/>
                </a:solidFill>
                <a:latin typeface="Consolas" pitchFamily="49" charset="0"/>
                <a:ea typeface="仿宋" pitchFamily="49" charset="-122"/>
                <a:cs typeface="Consolas" pitchFamily="49" charset="0"/>
              </a:rPr>
              <a:t>作业</a:t>
            </a:r>
          </a:p>
          <a:p>
            <a:r>
              <a:rPr lang="en-US" altLang="zh-CN" sz="1800">
                <a:solidFill>
                  <a:srgbClr val="0000FF"/>
                </a:solidFill>
                <a:latin typeface="Consolas" pitchFamily="49" charset="0"/>
                <a:ea typeface="仿宋" pitchFamily="49" charset="-122"/>
                <a:cs typeface="Consolas" pitchFamily="49" charset="0"/>
              </a:rPr>
              <a:t>      {  </a:t>
            </a:r>
            <a:r>
              <a:rPr lang="en-US" altLang="zh-CN" sz="1800">
                <a:solidFill>
                  <a:srgbClr val="006600"/>
                </a:solidFill>
                <a:latin typeface="Consolas" pitchFamily="49" charset="0"/>
                <a:ea typeface="仿宋" pitchFamily="49" charset="-122"/>
                <a:cs typeface="Consolas" pitchFamily="49" charset="0"/>
              </a:rPr>
              <a:t>swap(x[i],x[j]);</a:t>
            </a:r>
            <a:endParaRPr lang="zh-CN" altLang="zh-CN" sz="1800">
              <a:solidFill>
                <a:srgbClr val="00660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f1 += a[x[i]];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选择作业</a:t>
            </a:r>
            <a:r>
              <a:rPr lang="en-US" altLang="zh-CN" sz="1800">
                <a:solidFill>
                  <a:srgbClr val="00B0F0"/>
                </a:solidFill>
                <a:latin typeface="Consolas" pitchFamily="49" charset="0"/>
                <a:ea typeface="仿宋" pitchFamily="49" charset="-122"/>
                <a:cs typeface="Consolas" pitchFamily="49" charset="0"/>
              </a:rPr>
              <a:t>x[i],</a:t>
            </a:r>
            <a:r>
              <a:rPr lang="zh-CN" altLang="zh-CN" sz="1800">
                <a:solidFill>
                  <a:srgbClr val="00B0F0"/>
                </a:solidFill>
                <a:latin typeface="Consolas" pitchFamily="49" charset="0"/>
                <a:ea typeface="仿宋" pitchFamily="49" charset="-122"/>
                <a:cs typeface="Consolas" pitchFamily="49" charset="0"/>
              </a:rPr>
              <a:t>在</a:t>
            </a:r>
            <a:r>
              <a:rPr lang="en-US" altLang="zh-CN" sz="1800">
                <a:solidFill>
                  <a:srgbClr val="00B0F0"/>
                </a:solidFill>
                <a:latin typeface="Consolas" pitchFamily="49" charset="0"/>
                <a:ea typeface="仿宋" pitchFamily="49" charset="-122"/>
                <a:cs typeface="Consolas" pitchFamily="49" charset="0"/>
              </a:rPr>
              <a:t>M1</a:t>
            </a:r>
            <a:r>
              <a:rPr lang="zh-CN" altLang="zh-CN" sz="1800">
                <a:solidFill>
                  <a:srgbClr val="00B0F0"/>
                </a:solidFill>
                <a:latin typeface="Consolas" pitchFamily="49" charset="0"/>
                <a:ea typeface="仿宋" pitchFamily="49" charset="-122"/>
                <a:cs typeface="Consolas" pitchFamily="49" charset="0"/>
              </a:rPr>
              <a:t>上执行完的时间</a:t>
            </a:r>
          </a:p>
          <a:p>
            <a:r>
              <a:rPr lang="en-US" altLang="zh-CN" sz="1800">
                <a:solidFill>
                  <a:srgbClr val="0000FF"/>
                </a:solidFill>
                <a:latin typeface="Consolas" pitchFamily="49" charset="0"/>
                <a:ea typeface="仿宋" pitchFamily="49" charset="-122"/>
                <a:cs typeface="Consolas" pitchFamily="49" charset="0"/>
              </a:rPr>
              <a:t>         f2[i]=max(f1,f2[i-1])+b[x[i]];</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if (</a:t>
            </a:r>
            <a:r>
              <a:rPr lang="en-US" altLang="zh-CN" sz="1800">
                <a:solidFill>
                  <a:srgbClr val="FF00FF"/>
                </a:solidFill>
                <a:latin typeface="Consolas" pitchFamily="49" charset="0"/>
                <a:ea typeface="仿宋" pitchFamily="49" charset="-122"/>
                <a:cs typeface="Consolas" pitchFamily="49" charset="0"/>
              </a:rPr>
              <a:t>bound(i)&lt;bestf</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剪枝</a:t>
            </a: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FF0000"/>
                </a:solidFill>
                <a:latin typeface="Consolas" pitchFamily="49" charset="0"/>
                <a:ea typeface="仿宋" pitchFamily="49" charset="-122"/>
                <a:cs typeface="Consolas" pitchFamily="49" charset="0"/>
              </a:rPr>
              <a:t>dfs</a:t>
            </a:r>
            <a:r>
              <a:rPr lang="en-US" altLang="zh-CN" sz="1800">
                <a:solidFill>
                  <a:srgbClr val="0000FF"/>
                </a:solidFill>
                <a:latin typeface="Consolas" pitchFamily="49" charset="0"/>
                <a:ea typeface="仿宋" pitchFamily="49" charset="-122"/>
                <a:cs typeface="Consolas" pitchFamily="49" charset="0"/>
              </a:rPr>
              <a:t>(i+1);</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f1 -= a[x[i]];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回溯</a:t>
            </a:r>
            <a:endParaRPr lang="en-US"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6600"/>
                </a:solidFill>
                <a:latin typeface="Consolas" pitchFamily="49" charset="0"/>
                <a:ea typeface="仿宋" pitchFamily="49" charset="-122"/>
                <a:cs typeface="Consolas" pitchFamily="49" charset="0"/>
              </a:rPr>
              <a:t>swap(x[i],x[j]);</a:t>
            </a:r>
            <a:endParaRPr lang="zh-CN" altLang="zh-CN" sz="1800">
              <a:solidFill>
                <a:srgbClr val="00660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TextBox 1"/>
          <p:cNvSpPr txBox="1"/>
          <p:nvPr/>
        </p:nvSpPr>
        <p:spPr>
          <a:xfrm>
            <a:off x="714348" y="1785926"/>
            <a:ext cx="7929618" cy="1061829"/>
          </a:xfrm>
          <a:prstGeom prst="rect">
            <a:avLst/>
          </a:prstGeom>
          <a:noFill/>
        </p:spPr>
        <p:txBody>
          <a:bodyPr wrap="square" rtlCol="0">
            <a:spAutoFit/>
          </a:bodyPr>
          <a:lstStyle/>
          <a:p>
            <a:pPr>
              <a:lnSpc>
                <a:spcPct val="150000"/>
              </a:lnSpc>
            </a:pPr>
            <a:r>
              <a:rPr lang="en-US" altLang="zh-CN" sz="2200">
                <a:solidFill>
                  <a:srgbClr val="0000FF"/>
                </a:solidFill>
                <a:latin typeface="Consolas" pitchFamily="49" charset="0"/>
                <a:ea typeface="楷体" pitchFamily="49" charset="-122"/>
                <a:cs typeface="Consolas" pitchFamily="49" charset="0"/>
              </a:rPr>
              <a:t>    </a:t>
            </a:r>
            <a:r>
              <a:rPr lang="zh-CN" altLang="zh-CN" sz="2000">
                <a:solidFill>
                  <a:srgbClr val="FF0000"/>
                </a:solidFill>
                <a:latin typeface="微软雅黑" charset="-122"/>
                <a:ea typeface="微软雅黑" charset="-122"/>
                <a:cs typeface="Consolas" pitchFamily="49" charset="0"/>
              </a:rPr>
              <a:t>【算法分析】</a:t>
            </a:r>
            <a:r>
              <a:rPr lang="zh-CN" altLang="zh-CN" sz="2000">
                <a:solidFill>
                  <a:srgbClr val="0000FF"/>
                </a:solidFill>
                <a:latin typeface="Consolas" pitchFamily="49" charset="0"/>
                <a:ea typeface="楷体" pitchFamily="49" charset="-122"/>
                <a:cs typeface="Consolas" pitchFamily="49" charset="0"/>
              </a:rPr>
              <a:t>该算法的解空间树是一棵高度为</a:t>
            </a:r>
            <a:r>
              <a:rPr lang="en-US" altLang="zh-CN" sz="2000" i="1">
                <a:solidFill>
                  <a:srgbClr val="0000FF"/>
                </a:solidFill>
                <a:latin typeface="Consolas" pitchFamily="49" charset="0"/>
                <a:ea typeface="楷体" pitchFamily="49" charset="-122"/>
                <a:cs typeface="Consolas" pitchFamily="49" charset="0"/>
              </a:rPr>
              <a:t>n</a:t>
            </a:r>
            <a:r>
              <a:rPr lang="zh-CN" altLang="zh-CN" sz="2000">
                <a:solidFill>
                  <a:srgbClr val="0000FF"/>
                </a:solidFill>
                <a:latin typeface="Consolas" pitchFamily="49" charset="0"/>
                <a:ea typeface="楷体" pitchFamily="49" charset="-122"/>
                <a:cs typeface="Consolas" pitchFamily="49" charset="0"/>
              </a:rPr>
              <a:t>的</a:t>
            </a:r>
            <a:r>
              <a:rPr lang="zh-CN" altLang="zh-CN" sz="2000">
                <a:solidFill>
                  <a:srgbClr val="C00000"/>
                </a:solidFill>
                <a:latin typeface="Consolas" pitchFamily="49" charset="0"/>
                <a:ea typeface="微软雅黑" charset="-122"/>
                <a:cs typeface="Consolas" pitchFamily="49" charset="0"/>
              </a:rPr>
              <a:t>排列树</a:t>
            </a:r>
            <a:r>
              <a:rPr lang="zh-CN" altLang="zh-CN" sz="2000">
                <a:solidFill>
                  <a:srgbClr val="0000FF"/>
                </a:solidFill>
                <a:latin typeface="Consolas" pitchFamily="49" charset="0"/>
                <a:ea typeface="楷体" pitchFamily="49" charset="-122"/>
                <a:cs typeface="Consolas" pitchFamily="49" charset="0"/>
              </a:rPr>
              <a:t>，对应算法的时间复杂度为</a:t>
            </a:r>
            <a:r>
              <a:rPr lang="en-US" altLang="zh-CN" sz="2000">
                <a:solidFill>
                  <a:srgbClr val="0000FF"/>
                </a:solidFill>
                <a:latin typeface="Consolas" pitchFamily="49" charset="0"/>
                <a:ea typeface="楷体" pitchFamily="49" charset="-122"/>
                <a:cs typeface="Consolas" pitchFamily="49" charset="0"/>
              </a:rPr>
              <a:t>O(</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zh-CN" altLang="zh-CN" sz="2000">
                <a:solidFill>
                  <a:srgbClr val="0000FF"/>
                </a:solidFill>
                <a:latin typeface="Consolas" pitchFamily="49" charset="0"/>
                <a:ea typeface="楷体" pitchFamily="49" charset="-122"/>
                <a:cs typeface="Consolas" pitchFamily="49" charset="0"/>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页脚占位符 4"/>
          <p:cNvSpPr>
            <a:spLocks noGrp="1"/>
          </p:cNvSpPr>
          <p:nvPr>
            <p:ph type="ftr"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stStyle>
          <a:p>
            <a:pPr lvl="0" algn="ctr" eaLnBrk="1" hangingPunct="1"/>
            <a:r>
              <a:rPr lang="en-US" altLang="zh-CN" sz="1400" dirty="0"/>
              <a:t>Algorithms Design Techniques and Analysis</a:t>
            </a:r>
          </a:p>
        </p:txBody>
      </p:sp>
      <p:sp>
        <p:nvSpPr>
          <p:cNvPr id="121858" name="Rectangle 2"/>
          <p:cNvSpPr>
            <a:spLocks noGrp="1"/>
          </p:cNvSpPr>
          <p:nvPr>
            <p:ph type="title"/>
          </p:nvPr>
        </p:nvSpPr>
        <p:spPr/>
        <p:txBody>
          <a:bodyPr vert="horz" wrap="square" lIns="91440" tIns="45720" rIns="91440" bIns="45720" anchor="ctr" anchorCtr="0"/>
          <a:lstStyle/>
          <a:p>
            <a:pPr eaLnBrk="1" hangingPunct="1"/>
            <a:r>
              <a:rPr lang="en-US" altLang="zh-CN" dirty="0"/>
              <a:t>8.3.5</a:t>
            </a:r>
            <a:r>
              <a:rPr lang="zh-CN" altLang="en-US" dirty="0"/>
              <a:t>货郎担问题</a:t>
            </a:r>
          </a:p>
        </p:txBody>
      </p:sp>
      <p:sp>
        <p:nvSpPr>
          <p:cNvPr id="121859" name="Rectangle 3"/>
          <p:cNvSpPr>
            <a:spLocks noGrp="1"/>
          </p:cNvSpPr>
          <p:nvPr>
            <p:ph type="body" sz="half" idx="1"/>
          </p:nvPr>
        </p:nvSpPr>
        <p:spPr>
          <a:xfrm>
            <a:off x="900113" y="1268413"/>
            <a:ext cx="8064500" cy="4525962"/>
          </a:xfrm>
        </p:spPr>
        <p:txBody>
          <a:bodyPr vert="horz" wrap="square" lIns="91440" tIns="45720" rIns="91440" bIns="45720" anchor="t" anchorCtr="0"/>
          <a:lstStyle/>
          <a:p>
            <a:pPr eaLnBrk="1" hangingPunct="1">
              <a:buClrTx/>
              <a:buSzTx/>
              <a:buFontTx/>
            </a:pPr>
            <a:endParaRPr lang="en-US" altLang="zh-CN" sz="2400" dirty="0"/>
          </a:p>
        </p:txBody>
      </p:sp>
      <p:pic>
        <p:nvPicPr>
          <p:cNvPr id="121860" name="图片 1"/>
          <p:cNvPicPr>
            <a:picLocks noChangeAspect="1"/>
          </p:cNvPicPr>
          <p:nvPr/>
        </p:nvPicPr>
        <p:blipFill>
          <a:blip r:embed="rId2"/>
          <a:stretch>
            <a:fillRect/>
          </a:stretch>
        </p:blipFill>
        <p:spPr>
          <a:xfrm>
            <a:off x="866775" y="3725863"/>
            <a:ext cx="8064500" cy="2582862"/>
          </a:xfrm>
          <a:prstGeom prst="rect">
            <a:avLst/>
          </a:prstGeom>
          <a:noFill/>
          <a:ln w="9525">
            <a:noFill/>
          </a:ln>
        </p:spPr>
      </p:pic>
      <p:pic>
        <p:nvPicPr>
          <p:cNvPr id="121861" name="图片 2"/>
          <p:cNvPicPr>
            <a:picLocks noChangeAspect="1"/>
          </p:cNvPicPr>
          <p:nvPr/>
        </p:nvPicPr>
        <p:blipFill>
          <a:blip r:embed="rId3"/>
          <a:stretch>
            <a:fillRect/>
          </a:stretch>
        </p:blipFill>
        <p:spPr>
          <a:xfrm>
            <a:off x="879475" y="1246188"/>
            <a:ext cx="8085138" cy="2274887"/>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p:cNvSpPr>
          <p:nvPr>
            <p:ph type="title"/>
          </p:nvPr>
        </p:nvSpPr>
        <p:spPr/>
        <p:txBody>
          <a:bodyPr vert="horz" wrap="square" lIns="91440" tIns="45720" rIns="91440" bIns="45720" anchor="ctr" anchorCtr="0"/>
          <a:lstStyle/>
          <a:p>
            <a:pPr eaLnBrk="1" hangingPunct="1"/>
            <a:r>
              <a:rPr lang="en-US" altLang="zh-CN" dirty="0"/>
              <a:t>8.3.5</a:t>
            </a:r>
            <a:r>
              <a:rPr lang="zh-CN" altLang="en-US" dirty="0"/>
              <a:t>货郎担问题</a:t>
            </a:r>
          </a:p>
        </p:txBody>
      </p:sp>
      <p:pic>
        <p:nvPicPr>
          <p:cNvPr id="122882" name="图片 3"/>
          <p:cNvPicPr>
            <a:picLocks noChangeAspect="1"/>
          </p:cNvPicPr>
          <p:nvPr/>
        </p:nvPicPr>
        <p:blipFill>
          <a:blip r:embed="rId2"/>
          <a:stretch>
            <a:fillRect/>
          </a:stretch>
        </p:blipFill>
        <p:spPr>
          <a:xfrm>
            <a:off x="468313" y="1422400"/>
            <a:ext cx="8531225" cy="4383088"/>
          </a:xfrm>
          <a:prstGeom prst="rect">
            <a:avLst/>
          </a:prstGeom>
          <a:noFill/>
          <a:ln w="9525">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8.3.6</a:t>
            </a:r>
            <a:r>
              <a:rPr lang="zh-CN" altLang="en-US" dirty="0"/>
              <a:t>——限界函数、剪枝函数实践思考</a:t>
            </a:r>
          </a:p>
        </p:txBody>
      </p:sp>
      <p:sp>
        <p:nvSpPr>
          <p:cNvPr id="3" name="内容占位符 2"/>
          <p:cNvSpPr>
            <a:spLocks noGrp="1"/>
          </p:cNvSpPr>
          <p:nvPr>
            <p:ph idx="1"/>
          </p:nvPr>
        </p:nvSpPr>
        <p:spPr/>
        <p:txBody>
          <a:bodyPr/>
          <a:lstStyle/>
          <a:p>
            <a:r>
              <a:rPr lang="zh-CN" altLang="en-US"/>
              <a:t>给定一个数组，将该数组分成两部分</a:t>
            </a:r>
            <a:r>
              <a:rPr lang="en-US" altLang="zh-CN"/>
              <a:t>S1</a:t>
            </a:r>
            <a:r>
              <a:rPr lang="zh-CN" altLang="en-US"/>
              <a:t>和</a:t>
            </a:r>
            <a:r>
              <a:rPr lang="en-US" altLang="zh-CN"/>
              <a:t>S2</a:t>
            </a:r>
            <a:r>
              <a:rPr lang="zh-CN" altLang="en-US"/>
              <a:t>，使得两部分个数的差最小，和的差最小。（绝对值）</a:t>
            </a:r>
          </a:p>
          <a:p>
            <a:r>
              <a:rPr lang="zh-CN" altLang="en-US">
                <a:sym typeface="+mn-ea"/>
              </a:rPr>
              <a:t>给定一个数组，包含</a:t>
            </a:r>
            <a:r>
              <a:rPr lang="en-US" altLang="zh-CN">
                <a:sym typeface="+mn-ea"/>
              </a:rPr>
              <a:t>2N</a:t>
            </a:r>
            <a:r>
              <a:rPr lang="zh-CN" altLang="en-US">
                <a:sym typeface="+mn-ea"/>
              </a:rPr>
              <a:t>个元素，将该数组分成大小相等的两部分</a:t>
            </a:r>
            <a:r>
              <a:rPr lang="en-US" altLang="zh-CN">
                <a:sym typeface="+mn-ea"/>
              </a:rPr>
              <a:t>S1</a:t>
            </a:r>
            <a:r>
              <a:rPr lang="zh-CN" altLang="en-US">
                <a:sym typeface="+mn-ea"/>
              </a:rPr>
              <a:t>和</a:t>
            </a:r>
            <a:r>
              <a:rPr lang="en-US" altLang="zh-CN">
                <a:sym typeface="+mn-ea"/>
              </a:rPr>
              <a:t>S2</a:t>
            </a:r>
            <a:r>
              <a:rPr lang="zh-CN" altLang="en-US">
                <a:sym typeface="+mn-ea"/>
              </a:rPr>
              <a:t>，</a:t>
            </a:r>
            <a:r>
              <a:rPr lang="en-US" altLang="zh-CN">
                <a:sym typeface="+mn-ea"/>
              </a:rPr>
              <a:t>S1</a:t>
            </a:r>
            <a:r>
              <a:rPr lang="zh-CN" altLang="en-US">
                <a:sym typeface="+mn-ea"/>
              </a:rPr>
              <a:t>和</a:t>
            </a:r>
            <a:r>
              <a:rPr lang="en-US" altLang="zh-CN">
                <a:sym typeface="+mn-ea"/>
              </a:rPr>
              <a:t>S2</a:t>
            </a:r>
            <a:r>
              <a:rPr lang="zh-CN" altLang="en-US">
                <a:sym typeface="+mn-ea"/>
              </a:rPr>
              <a:t>和的差最小。</a:t>
            </a:r>
          </a:p>
          <a:p>
            <a:r>
              <a:rPr lang="zh-CN" altLang="en-US">
                <a:sym typeface="+mn-ea"/>
              </a:rPr>
              <a:t>给定一个数组，将该数组分成两部分</a:t>
            </a:r>
            <a:r>
              <a:rPr lang="en-US" altLang="zh-CN">
                <a:sym typeface="+mn-ea"/>
              </a:rPr>
              <a:t>S1</a:t>
            </a:r>
            <a:r>
              <a:rPr lang="zh-CN" altLang="en-US">
                <a:sym typeface="+mn-ea"/>
              </a:rPr>
              <a:t>和</a:t>
            </a:r>
            <a:r>
              <a:rPr lang="en-US" altLang="zh-CN">
                <a:sym typeface="+mn-ea"/>
              </a:rPr>
              <a:t>S2</a:t>
            </a:r>
            <a:r>
              <a:rPr lang="zh-CN" altLang="en-US">
                <a:sym typeface="+mn-ea"/>
              </a:rPr>
              <a:t>，</a:t>
            </a:r>
            <a:r>
              <a:rPr lang="en-US" altLang="zh-CN">
                <a:sym typeface="+mn-ea"/>
              </a:rPr>
              <a:t>S1</a:t>
            </a:r>
            <a:r>
              <a:rPr lang="zh-CN" altLang="en-US">
                <a:sym typeface="+mn-ea"/>
              </a:rPr>
              <a:t>和</a:t>
            </a:r>
            <a:r>
              <a:rPr lang="en-US" altLang="zh-CN">
                <a:sym typeface="+mn-ea"/>
              </a:rPr>
              <a:t>S2</a:t>
            </a:r>
            <a:r>
              <a:rPr lang="zh-CN" altLang="en-US">
                <a:sym typeface="+mn-ea"/>
              </a:rPr>
              <a:t>和相等。</a:t>
            </a:r>
          </a:p>
          <a:p>
            <a:r>
              <a:rPr lang="zh-CN" altLang="en-US">
                <a:sym typeface="+mn-ea"/>
              </a:rPr>
              <a:t>给定一个数组，将该数组分成两部分</a:t>
            </a:r>
            <a:r>
              <a:rPr lang="en-US" altLang="zh-CN">
                <a:sym typeface="+mn-ea"/>
              </a:rPr>
              <a:t>S1</a:t>
            </a:r>
            <a:r>
              <a:rPr lang="zh-CN" altLang="en-US">
                <a:sym typeface="+mn-ea"/>
              </a:rPr>
              <a:t>和</a:t>
            </a:r>
            <a:r>
              <a:rPr lang="en-US" altLang="zh-CN">
                <a:sym typeface="+mn-ea"/>
              </a:rPr>
              <a:t>S2</a:t>
            </a:r>
            <a:r>
              <a:rPr lang="zh-CN" altLang="en-US">
                <a:sym typeface="+mn-ea"/>
              </a:rPr>
              <a:t>，</a:t>
            </a:r>
            <a:r>
              <a:rPr lang="en-US" altLang="zh-CN">
                <a:sym typeface="+mn-ea"/>
              </a:rPr>
              <a:t>S1</a:t>
            </a:r>
            <a:r>
              <a:rPr lang="zh-CN" altLang="en-US">
                <a:sym typeface="+mn-ea"/>
              </a:rPr>
              <a:t>和</a:t>
            </a:r>
            <a:r>
              <a:rPr lang="en-US" altLang="zh-CN">
                <a:sym typeface="+mn-ea"/>
              </a:rPr>
              <a:t>S2</a:t>
            </a:r>
            <a:r>
              <a:rPr lang="zh-CN" altLang="en-US">
                <a:sym typeface="+mn-ea"/>
              </a:rPr>
              <a:t>和的差最小。</a:t>
            </a:r>
          </a:p>
          <a:p>
            <a:endParaRPr lang="zh-CN" altLang="en-US"/>
          </a:p>
        </p:txBody>
      </p:sp>
    </p:spTree>
  </p:cSld>
  <p:clrMapOvr>
    <a:masterClrMapping/>
  </p:clrMapOvr>
</p:sld>
</file>

<file path=ppt/theme/theme1.xml><?xml version="1.0" encoding="utf-8"?>
<a:theme xmlns:a="http://schemas.openxmlformats.org/drawingml/2006/main" name="1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模版</Template>
  <TotalTime>3</TotalTime>
  <Words>10335</Words>
  <Application>Microsoft Office PowerPoint</Application>
  <PresentationFormat>全屏显示(4:3)</PresentationFormat>
  <Paragraphs>1228</Paragraphs>
  <Slides>89</Slides>
  <Notes>42</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0</vt:i4>
      </vt:variant>
      <vt:variant>
        <vt:lpstr>幻灯片标题</vt:lpstr>
      </vt:variant>
      <vt:variant>
        <vt:i4>89</vt:i4>
      </vt:variant>
    </vt:vector>
  </HeadingPairs>
  <TitlesOfParts>
    <vt:vector size="104" baseType="lpstr">
      <vt:lpstr>仿宋</vt:lpstr>
      <vt:lpstr>华文楷体</vt:lpstr>
      <vt:lpstr>华文中宋</vt:lpstr>
      <vt:lpstr>宋体</vt:lpstr>
      <vt:lpstr>微软雅黑</vt:lpstr>
      <vt:lpstr>叶根友毛笔行书2.0版</vt:lpstr>
      <vt:lpstr>Arial</vt:lpstr>
      <vt:lpstr>Consolas</vt:lpstr>
      <vt:lpstr>Garamond</vt:lpstr>
      <vt:lpstr>Symbol</vt:lpstr>
      <vt:lpstr>Times New Roman</vt:lpstr>
      <vt:lpstr>Verdana</vt:lpstr>
      <vt:lpstr>Wingdings</vt:lpstr>
      <vt:lpstr>1_template</vt:lpstr>
      <vt:lpstr>2_template</vt:lpstr>
      <vt:lpstr>第8讲</vt:lpstr>
      <vt:lpstr>本章内容 </vt:lpstr>
      <vt:lpstr>本章内容 </vt:lpstr>
      <vt:lpstr>8.1 简介</vt:lpstr>
      <vt:lpstr>8.1.1 图着色——问题描述</vt:lpstr>
      <vt:lpstr>8.1.1 图着色——搜索树</vt:lpstr>
      <vt:lpstr>8.1.1 图着色——回溯解法</vt:lpstr>
      <vt:lpstr>8.1.1 图着色——算法过程</vt:lpstr>
      <vt:lpstr>8.1.1 图着色——算法分析</vt:lpstr>
      <vt:lpstr>PowerPoint 演示文稿</vt:lpstr>
      <vt:lpstr>PowerPoint 演示文稿</vt:lpstr>
      <vt:lpstr>8.1.1 图着色——复杂度</vt:lpstr>
      <vt:lpstr>8.1.2 皇后问题——问题描述</vt:lpstr>
      <vt:lpstr>8.1.1 8皇后问题——简化版4皇后</vt:lpstr>
      <vt:lpstr>8.1.1 8皇后问题——求解过程</vt:lpstr>
      <vt:lpstr>8.1.1 8皇后问题——互相攻击</vt:lpstr>
      <vt:lpstr>PowerPoint 演示文稿</vt:lpstr>
      <vt:lpstr> 8.1.2 8皇后——搜索树 </vt:lpstr>
      <vt:lpstr>8.1.1 8皇后——复杂度</vt:lpstr>
      <vt:lpstr>8.1.2 解长度的类型</vt:lpstr>
      <vt:lpstr>8.1.2 解长度的类型</vt:lpstr>
      <vt:lpstr>回溯法的定义</vt:lpstr>
      <vt:lpstr>回溯法的步骤</vt:lpstr>
      <vt:lpstr>8.2 回溯策略的算法设计思想及分析方法  </vt:lpstr>
      <vt:lpstr>8.2.1回溯法的问题要求</vt:lpstr>
      <vt:lpstr>问题举例</vt:lpstr>
      <vt:lpstr>8.2.1 问题解表示</vt:lpstr>
      <vt:lpstr>8.2.1 回溯法的状态空间树</vt:lpstr>
      <vt:lpstr>8.2.1 回溯法的问题解表示</vt:lpstr>
      <vt:lpstr>8.2.1 回溯法的状态空间树</vt:lpstr>
      <vt:lpstr>    8.2.2 回溯基本思想</vt:lpstr>
      <vt:lpstr>8.2.2 回溯基本思想(continue)</vt:lpstr>
      <vt:lpstr>8.2.2 回溯基本思想</vt:lpstr>
      <vt:lpstr>8.2.2 回溯基本思想</vt:lpstr>
      <vt:lpstr>8.2.3 回溯法的基本框架</vt:lpstr>
      <vt:lpstr>PowerPoint 演示文稿</vt:lpstr>
      <vt:lpstr>PowerPoint 演示文稿</vt:lpstr>
      <vt:lpstr>8.2.4 回溯法的本质——约束穷举</vt:lpstr>
      <vt:lpstr>8.2.4 回溯法穷举——深度优先策略</vt:lpstr>
      <vt:lpstr>8.2.4 回溯法约束——限界函数与剪枝函数</vt:lpstr>
      <vt:lpstr>8.3. 回溯策略的经典应用（可选讲部分）</vt:lpstr>
      <vt:lpstr>8.3.1子集和数问题</vt:lpstr>
      <vt:lpstr>限界函数</vt:lpstr>
      <vt:lpstr>PowerPoint 演示文稿</vt:lpstr>
      <vt:lpstr>Example </vt:lpstr>
      <vt:lpstr>8.3.2哈密顿回路问题</vt:lpstr>
      <vt:lpstr>8.3.2哈密顿回路问题</vt:lpstr>
      <vt:lpstr>8.3.2哈密顿回路问题</vt:lpstr>
      <vt:lpstr>8.3.2哈密顿回路问题</vt:lpstr>
      <vt:lpstr>8.3.3  0/1背包问题</vt:lpstr>
      <vt:lpstr>8.3.3  0/1背包问题</vt:lpstr>
      <vt:lpstr>8.3.3  0/1背包问题</vt:lpstr>
      <vt:lpstr>8.3.3  0/1背包问题</vt:lpstr>
      <vt:lpstr>8.3.3  0/1背包问题</vt:lpstr>
      <vt:lpstr>PowerPoint 演示文稿</vt:lpstr>
      <vt:lpstr>8.3.3  0/1背包问题</vt:lpstr>
      <vt:lpstr>8.3.3  0/1背包问题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8.3.4 求解流水作业调度问题</vt:lpstr>
      <vt:lpstr>例子</vt:lpstr>
      <vt:lpstr>问题解空间</vt:lpstr>
      <vt:lpstr>排列的解</vt:lpstr>
      <vt:lpstr>PowerPoint 演示文稿</vt:lpstr>
      <vt:lpstr>PowerPoint 演示文稿</vt:lpstr>
      <vt:lpstr>PowerPoint 演示文稿</vt:lpstr>
      <vt:lpstr>算法实现</vt:lpstr>
      <vt:lpstr>PowerPoint 演示文稿</vt:lpstr>
      <vt:lpstr>PowerPoint 演示文稿</vt:lpstr>
      <vt:lpstr>进一步剪枝</vt:lpstr>
      <vt:lpstr>剪枝函数</vt:lpstr>
      <vt:lpstr>PowerPoint 演示文稿</vt:lpstr>
      <vt:lpstr>PowerPoint 演示文稿</vt:lpstr>
      <vt:lpstr>8.3.5货郎担问题</vt:lpstr>
      <vt:lpstr>8.3.5货郎担问题</vt:lpstr>
      <vt:lpstr>8.3.6——限界函数、剪枝函数实践思考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BackTracing</dc:title>
  <dc:creator>dwy</dc:creator>
  <cp:lastModifiedBy>651359657@qq.com</cp:lastModifiedBy>
  <cp:revision>1015</cp:revision>
  <dcterms:created xsi:type="dcterms:W3CDTF">2023-11-20T11:22:35Z</dcterms:created>
  <dcterms:modified xsi:type="dcterms:W3CDTF">2024-12-12T01:33:59Z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359F5D7A8F0447436EC15665AB6B2AB1_43</vt:lpwstr>
  </property>
  <property fmtid="{D5CDD505-2E9C-101B-9397-08002B2CF9AE}" pid="3" name="KSOProductBuildVer">
    <vt:lpwstr>2052-6.2.2.8394</vt:lpwstr>
  </property>
</Properties>
</file>