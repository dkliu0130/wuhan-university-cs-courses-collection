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36"/>
  </p:notesMasterIdLst>
  <p:sldIdLst>
    <p:sldId id="256" r:id="rId3"/>
    <p:sldId id="425" r:id="rId4"/>
    <p:sldId id="427" r:id="rId5"/>
    <p:sldId id="257" r:id="rId6"/>
    <p:sldId id="441" r:id="rId7"/>
    <p:sldId id="432" r:id="rId8"/>
    <p:sldId id="442" r:id="rId9"/>
    <p:sldId id="443" r:id="rId10"/>
    <p:sldId id="444" r:id="rId11"/>
    <p:sldId id="445" r:id="rId12"/>
    <p:sldId id="446" r:id="rId13"/>
    <p:sldId id="447" r:id="rId14"/>
    <p:sldId id="448" r:id="rId15"/>
    <p:sldId id="450" r:id="rId16"/>
    <p:sldId id="452" r:id="rId17"/>
    <p:sldId id="451" r:id="rId18"/>
    <p:sldId id="453" r:id="rId19"/>
    <p:sldId id="454" r:id="rId20"/>
    <p:sldId id="455" r:id="rId21"/>
    <p:sldId id="456" r:id="rId22"/>
    <p:sldId id="457" r:id="rId23"/>
    <p:sldId id="458" r:id="rId24"/>
    <p:sldId id="461" r:id="rId25"/>
    <p:sldId id="459" r:id="rId26"/>
    <p:sldId id="460" r:id="rId27"/>
    <p:sldId id="463" r:id="rId28"/>
    <p:sldId id="467" r:id="rId29"/>
    <p:sldId id="464" r:id="rId30"/>
    <p:sldId id="469" r:id="rId31"/>
    <p:sldId id="471" r:id="rId32"/>
    <p:sldId id="470" r:id="rId33"/>
    <p:sldId id="468" r:id="rId34"/>
    <p:sldId id="465" r:id="rId35"/>
  </p:sldIdLst>
  <p:sldSz cx="9144000" cy="6858000" type="screen4x3"/>
  <p:notesSz cx="6858000" cy="9144000"/>
  <p:custDataLst>
    <p:tags r:id="rId37"/>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12" autoAdjust="0"/>
    <p:restoredTop sz="84644"/>
  </p:normalViewPr>
  <p:slideViewPr>
    <p:cSldViewPr showGuides="1">
      <p:cViewPr varScale="1">
        <p:scale>
          <a:sx n="75" d="100"/>
          <a:sy n="75" d="100"/>
        </p:scale>
        <p:origin x="360" y="2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4199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29B0E71-59FE-4109-80F9-152D5025071C}"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a:t>
            </a:fld>
            <a:endParaRPr lang="en-US" altLang="zh-CN" dirty="0"/>
          </a:p>
        </p:txBody>
      </p:sp>
      <p:sp>
        <p:nvSpPr>
          <p:cNvPr id="5123" name="Rectangle 2"/>
          <p:cNvSpPr>
            <a:spLocks noGrp="1" noRot="1" noChangeAspect="1" noTextEdit="1"/>
          </p:cNvSpPr>
          <p:nvPr>
            <p:ph type="sldImg"/>
          </p:nvPr>
        </p:nvSpPr>
        <p:spPr>
          <a:ln/>
        </p:spPr>
      </p:sp>
      <p:sp>
        <p:nvSpPr>
          <p:cNvPr id="5124" name="Rectangle 3"/>
          <p:cNvSpPr>
            <a:spLocks noGrp="1"/>
          </p:cNvSpPr>
          <p:nvPr>
            <p:ph type="body" idx="1"/>
          </p:nvPr>
        </p:nvSpPr>
        <p:spPr>
          <a:ln/>
        </p:spPr>
        <p:txBody>
          <a:bodyPr wrap="square" lIns="91440" tIns="45720" rIns="91440" bIns="45720" anchor="t" anchorCtr="0"/>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b="1" i="0" dirty="0">
                <a:solidFill>
                  <a:srgbClr val="333333"/>
                </a:solidFill>
                <a:effectLst/>
                <a:latin typeface="-apple-system"/>
              </a:rPr>
              <a:t>Traversal of Graphs</a:t>
            </a:r>
          </a:p>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a:t>
            </a:fld>
            <a:endParaRPr lang="en-US" altLang="zh-CN" dirty="0"/>
          </a:p>
        </p:txBody>
      </p:sp>
      <p:sp>
        <p:nvSpPr>
          <p:cNvPr id="9219" name="Rectangle 2"/>
          <p:cNvSpPr>
            <a:spLocks noGrp="1" noRot="1" noChangeAspec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81C28-9B6E-51E0-342C-3E4A5AA941E6}"/>
            </a:ext>
          </a:extLst>
        </p:cNvPr>
        <p:cNvGrpSpPr/>
        <p:nvPr/>
      </p:nvGrpSpPr>
      <p:grpSpPr>
        <a:xfrm>
          <a:off x="0" y="0"/>
          <a:ext cx="0" cy="0"/>
          <a:chOff x="0" y="0"/>
          <a:chExt cx="0" cy="0"/>
        </a:xfrm>
      </p:grpSpPr>
      <p:sp>
        <p:nvSpPr>
          <p:cNvPr id="9218" name="Rectangle 7">
            <a:extLst>
              <a:ext uri="{FF2B5EF4-FFF2-40B4-BE49-F238E27FC236}">
                <a16:creationId xmlns:a16="http://schemas.microsoft.com/office/drawing/2014/main" id="{5F66F6CC-724E-165B-0AA4-BD95E936FBC9}"/>
              </a:ext>
            </a:extLst>
          </p:cNvPr>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a:t>
            </a:fld>
            <a:endParaRPr lang="en-US" altLang="zh-CN" dirty="0"/>
          </a:p>
        </p:txBody>
      </p:sp>
      <p:sp>
        <p:nvSpPr>
          <p:cNvPr id="9219" name="Rectangle 2">
            <a:extLst>
              <a:ext uri="{FF2B5EF4-FFF2-40B4-BE49-F238E27FC236}">
                <a16:creationId xmlns:a16="http://schemas.microsoft.com/office/drawing/2014/main" id="{D6C7E790-6C0F-373E-EB9A-2EE0D922C7DC}"/>
              </a:ext>
            </a:extLst>
          </p:cNvPr>
          <p:cNvSpPr>
            <a:spLocks noGrp="1" noRot="1" noChangeAspect="1" noTextEdit="1"/>
          </p:cNvSpPr>
          <p:nvPr>
            <p:ph type="sldImg"/>
          </p:nvPr>
        </p:nvSpPr>
        <p:spPr>
          <a:ln/>
        </p:spPr>
      </p:sp>
      <p:sp>
        <p:nvSpPr>
          <p:cNvPr id="9220" name="Rectangle 3">
            <a:extLst>
              <a:ext uri="{FF2B5EF4-FFF2-40B4-BE49-F238E27FC236}">
                <a16:creationId xmlns:a16="http://schemas.microsoft.com/office/drawing/2014/main" id="{5FCE067A-CE28-DF8E-710C-53C492B68919}"/>
              </a:ext>
            </a:extLst>
          </p:cNvPr>
          <p:cNvSpPr>
            <a:spLocks noGrp="1"/>
          </p:cNvSpPr>
          <p:nvPr>
            <p:ph type="body" idx="1"/>
          </p:nvPr>
        </p:nvSpPr>
        <p:spPr>
          <a:ln/>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597139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89681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0870-E625-227E-651A-2D43320CDC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45582E-A050-1926-964C-2DB2D8E019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5ABEEF-E229-6C34-01A3-84ED05BDB1F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26224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AEFDB-8C31-4CF2-00C6-B77AE07147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053B3F-FDF8-453F-EE56-1B36D1F27F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A1B599-39FF-EA31-2EBD-83D265578BB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79904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9595D-4EBD-D13D-9D3D-CC3C4E5614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D1B192-1478-3873-0D3E-C67EC10555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D5849B-F90F-40FC-336E-1BB49E6A4F1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0879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A361E-A317-AB5A-0C5D-68086B8220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C6BF9B-93B6-BDE3-B5D0-0383AA2119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C44F43-8909-9336-51A3-783B914B9C5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26004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6CD6-041C-7FBB-4564-62A2052FD3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6FB112-0EB5-D375-80CE-A22E7AFCA7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841484-6EDA-023A-8276-F152D3D5F76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95602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1436-8711-5835-71D4-726007A1C8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6EAFFF-DB57-2688-31C3-03B16460CB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94DC42-C8A2-E554-BB25-81C953B176C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98429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7ED4-A245-9D8F-B636-7CCDE10FFB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506377-C558-416C-E171-6AFFDDF51A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6C1BE5-B12F-0878-7382-7654AAD95FD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02848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2A22-AA14-EBCC-39F4-6F3895717E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E83DD3-F6EE-165D-C52F-FB9AF6F104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7F8364-EDAE-9049-0DC8-2128B9662EF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17948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A4E3B-37E6-EC46-1276-8783BD650E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D93D0D-4193-9568-7CE5-D63C5F6D5D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8287A3-907E-16FD-78AB-E7341B8F870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51245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15B25-B8F8-E0E5-0562-56854CBF3A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9B67DD-EF43-E542-4063-5B543CBB80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8009A0-298E-4EF6-26A0-A25C118ED8E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32255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A6FA3-6EBB-8DBF-AB64-F3D7800BA2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DA7A55-CFD4-6420-BC62-09BEE2287CA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B73974-AE47-78C5-9560-42AA5B52B2B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16303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15245-020E-EE5C-F5F5-D7310D9E4F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AA384C-C634-5F39-3B5C-8A516A55B7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CD2AF3-A2A7-3C46-C5A5-67A0ACD140E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31242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9C819-A691-05AF-4C81-352FB29BB0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F3B417-AB86-7FA4-EEC2-E7E867EFA5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977A9C-5737-FD56-06FE-99BDC72A965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11899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A023-61FD-8910-2EE2-4A2FCB7FC2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561FC2-47F0-090D-C885-531C9944F4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6F8874-93B2-D222-32BC-0295B487D4A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71588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BB6-76E2-BC85-B316-3A09E78569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441422-5203-524E-94CC-EE22338AC4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8395E1-5DAB-B401-12DF-F19CECAD49E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15839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4A4E-35AB-C95F-513C-B712A22C43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539635-A035-07D3-0E4D-6B06F29824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E39856-00E1-5D18-81EB-DABED4ED11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18684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10F0-AE84-D96F-1794-6437386D36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A3F774-A002-0E38-7408-E13D1C8AC0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095937-D032-653B-27AE-6F04C33625B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946847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D4F2-CD5B-B95D-339A-782095765A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7E1A98-8B64-234A-3B57-5096A471EB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50CD1C-78EC-A74A-8C59-13131DD6678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54088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48E95-93AA-17AB-4E4E-EA5135735D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A701AA-7B89-6C98-DBC0-F7489E9159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ACBF1A-580F-6A66-D328-9168FF37AE3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3647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1E0DB-E171-BCC2-016A-CAD3A4EC60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390154-4B72-FB78-02C8-234653A072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DA5AA2-5081-A6CD-3079-30F778D2531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91531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1AE4-8C95-DA3C-818F-0FEF617040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984B8D-9F19-A3BD-0282-18687A5F05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39FE44-DF72-B3C4-7F5A-DBF5ABB2F79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31990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2B6BC-8466-35A5-304B-E9454540FC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53E537-A3A1-2F51-D4E8-2D72F0A6DD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96D431-6A9E-E83A-82DB-83AE6F1496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402208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C76FD-5043-D114-D7D5-B04B4C5FDF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B46F70-A1AA-55D1-9834-53340A8C30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152523-5A2F-BC0A-2D7E-60A0DA30C7D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20464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EB249-726B-BB02-F5BA-6DFC675206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54011D-7D1A-F1E7-B0E3-C74385902A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8A0D56-AC2A-C3B0-8867-55EEE97F7F1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972260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563E2-B6EC-3795-DC93-24DDE25F16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FF93E3-8A5C-C6F5-16CD-7B282529B9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0926A3-7A6C-A7DD-2088-2F5F7893EB7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020885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CC15A-40F2-7B49-6A57-DF72625484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5246DF-2FD2-C512-0D3E-32207F4EA7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4FAFCB-81D0-F74D-A4AD-CF3ED0CD214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250089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2051"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33122"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pPr lvl="0"/>
            <a:r>
              <a:rPr lang="zh-CN" altLang="en-US" noProof="0"/>
              <a:t>单击此处编辑母版标题样式</a:t>
            </a:r>
          </a:p>
        </p:txBody>
      </p:sp>
      <p:sp>
        <p:nvSpPr>
          <p:cNvPr id="133123"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a:r>
              <a:rPr lang="zh-CN" altLang="en-US" noProof="0"/>
              <a:t>单击此处编辑母版副标题样式</a:t>
            </a:r>
          </a:p>
        </p:txBody>
      </p:sp>
      <p:sp>
        <p:nvSpPr>
          <p:cNvPr id="9" name="Rectangle 6"/>
          <p:cNvSpPr>
            <a:spLocks noGrp="1" noChangeArrowheads="1"/>
          </p:cNvSpPr>
          <p:nvPr>
            <p:ph type="ftr" sz="quarter" idx="3"/>
          </p:nvPr>
        </p:nvSpPr>
        <p:spPr bwMode="auto">
          <a:xfrm>
            <a:off x="3492500" y="6381750"/>
            <a:ext cx="3816350" cy="4318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68863" y="1268413"/>
            <a:ext cx="3817937" cy="2185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68863" y="3606800"/>
            <a:ext cx="3817937"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2051"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33122"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pPr lvl="0"/>
            <a:r>
              <a:rPr lang="zh-CN" altLang="en-US" noProof="0"/>
              <a:t>单击此处编辑母版标题样式</a:t>
            </a:r>
          </a:p>
        </p:txBody>
      </p:sp>
      <p:sp>
        <p:nvSpPr>
          <p:cNvPr id="133123"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lvl="0"/>
            <a:r>
              <a:rPr lang="zh-CN" altLang="en-US" noProof="0"/>
              <a:t>单击此处编辑母版副标题样式</a:t>
            </a:r>
          </a:p>
        </p:txBody>
      </p:sp>
      <p:sp>
        <p:nvSpPr>
          <p:cNvPr id="9" name="Rectangle 6"/>
          <p:cNvSpPr>
            <a:spLocks noGrp="1" noChangeArrowheads="1"/>
          </p:cNvSpPr>
          <p:nvPr>
            <p:ph type="ftr" sz="quarter" idx="3"/>
          </p:nvPr>
        </p:nvSpPr>
        <p:spPr bwMode="auto">
          <a:xfrm>
            <a:off x="3492500" y="6381750"/>
            <a:ext cx="3816350" cy="4318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68863" y="1268413"/>
            <a:ext cx="3817937" cy="2185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68863" y="3606800"/>
            <a:ext cx="3817937"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jpeg"/><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900113" y="1268413"/>
            <a:ext cx="7786687" cy="45259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pic>
        <p:nvPicPr>
          <p:cNvPr id="1028" name="Picture 4" descr="index_07"/>
          <p:cNvPicPr>
            <a:picLocks noChangeAspect="1"/>
          </p:cNvPicPr>
          <p:nvPr/>
        </p:nvPicPr>
        <p:blipFill>
          <a:blip r:embed="rId16"/>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7"/>
          <a:stretch>
            <a:fillRect/>
          </a:stretch>
        </p:blipFill>
        <p:spPr>
          <a:xfrm>
            <a:off x="7308850" y="6381750"/>
            <a:ext cx="1800225" cy="476250"/>
          </a:xfrm>
          <a:prstGeom prst="rect">
            <a:avLst/>
          </a:prstGeom>
          <a:noFill/>
          <a:ln w="9525">
            <a:noFill/>
          </a:ln>
        </p:spPr>
      </p:pic>
      <p:sp>
        <p:nvSpPr>
          <p:cNvPr id="132102"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900113" y="1268413"/>
            <a:ext cx="7786687" cy="45259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pic>
        <p:nvPicPr>
          <p:cNvPr id="1028" name="Picture 4" descr="index_07"/>
          <p:cNvPicPr>
            <a:picLocks noChangeAspect="1"/>
          </p:cNvPicPr>
          <p:nvPr/>
        </p:nvPicPr>
        <p:blipFill>
          <a:blip r:embed="rId16"/>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7"/>
          <a:stretch>
            <a:fillRect/>
          </a:stretch>
        </p:blipFill>
        <p:spPr>
          <a:xfrm>
            <a:off x="7308850" y="6381750"/>
            <a:ext cx="1800225" cy="476250"/>
          </a:xfrm>
          <a:prstGeom prst="rect">
            <a:avLst/>
          </a:prstGeom>
          <a:noFill/>
          <a:ln w="9525">
            <a:noFill/>
          </a:ln>
        </p:spPr>
      </p:pic>
      <p:sp>
        <p:nvSpPr>
          <p:cNvPr id="132102" name="Rectangle 6"/>
          <p:cNvSpPr>
            <a:spLocks noGrp="1" noChangeArrowheads="1"/>
          </p:cNvSpPr>
          <p:nvPr>
            <p:ph type="ftr" sz="quarter" idx="3"/>
          </p:nvPr>
        </p:nvSpPr>
        <p:spPr bwMode="auto">
          <a:xfrm>
            <a:off x="3492500" y="6381750"/>
            <a:ext cx="3816350" cy="43180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hyperlink" Target="https://zhida.zhihu.com/search?content_id=242427335&amp;content_type=Article&amp;match_order=1&amp;q=%E8%B7%AF%E5%BE%84%E6%90%9C%E7%B4%A2&amp;zhida_source=entity"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hyperlink" Target="https://zhida.zhihu.com/search?content_id=242427335&amp;content_type=Article&amp;match_order=1&amp;q=%E8%B7%AF%E5%BE%84%E6%90%9C%E7%B4%A2&amp;zhida_source=entity"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txBox="1">
            <a:spLocks noGrp="1"/>
          </p:cNvSpPr>
          <p:nvPr>
            <p:ph type="ftr" sz="quarter" idx="3"/>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cs typeface="+mn-cs"/>
              </a:rPr>
              <a:t>Algorithms Design Techniques and Analysis</a:t>
            </a:r>
          </a:p>
        </p:txBody>
      </p:sp>
      <p:sp>
        <p:nvSpPr>
          <p:cNvPr id="4099" name="Rectangle 2"/>
          <p:cNvSpPr>
            <a:spLocks noGrp="1"/>
          </p:cNvSpPr>
          <p:nvPr>
            <p:ph type="ctrTitle"/>
          </p:nvPr>
        </p:nvSpPr>
        <p:spPr>
          <a:ln/>
        </p:spPr>
        <p:txBody>
          <a:bodyPr vert="horz" wrap="square" lIns="91440" tIns="45720" rIns="91440" bIns="45720" anchor="ctr" anchorCtr="0"/>
          <a:lstStyle/>
          <a:p>
            <a:pPr algn="ctr" eaLnBrk="1" hangingPunct="1">
              <a:buClrTx/>
              <a:buSzTx/>
              <a:buFontTx/>
            </a:pPr>
            <a:r>
              <a:rPr lang="zh-CN" altLang="en-US" sz="3600" dirty="0">
                <a:solidFill>
                  <a:srgbClr val="0066CC"/>
                </a:solidFill>
                <a:latin typeface="Times New Roman" panose="02020603050405020304" pitchFamily="18" charset="0"/>
                <a:ea typeface="+mj-ea"/>
                <a:cs typeface="+mj-cs"/>
              </a:rPr>
              <a:t>第</a:t>
            </a:r>
            <a:r>
              <a:rPr lang="en-US" altLang="zh-CN" sz="3600" dirty="0">
                <a:solidFill>
                  <a:srgbClr val="0066CC"/>
                </a:solidFill>
                <a:latin typeface="Times New Roman" panose="02020603050405020304" pitchFamily="18" charset="0"/>
                <a:ea typeface="+mj-ea"/>
                <a:cs typeface="+mj-cs"/>
              </a:rPr>
              <a:t> </a:t>
            </a:r>
            <a:r>
              <a:rPr lang="en-US" altLang="zh-CN" sz="3600" dirty="0"/>
              <a:t>6</a:t>
            </a:r>
            <a:r>
              <a:rPr lang="zh-CN" altLang="en-US" sz="3600" dirty="0"/>
              <a:t>讲</a:t>
            </a:r>
            <a:endParaRPr lang="en-US" altLang="zh-CN" sz="3600" dirty="0">
              <a:solidFill>
                <a:srgbClr val="0066CC"/>
              </a:solidFill>
              <a:latin typeface="Times New Roman" panose="02020603050405020304" pitchFamily="18" charset="0"/>
              <a:ea typeface="+mj-ea"/>
              <a:cs typeface="+mj-cs"/>
            </a:endParaRPr>
          </a:p>
        </p:txBody>
      </p:sp>
      <p:sp>
        <p:nvSpPr>
          <p:cNvPr id="4100" name="Rectangle 3"/>
          <p:cNvSpPr>
            <a:spLocks noGrp="1"/>
          </p:cNvSpPr>
          <p:nvPr>
            <p:ph type="subTitle" idx="1"/>
          </p:nvPr>
        </p:nvSpPr>
        <p:spPr>
          <a:ln/>
        </p:spPr>
        <p:txBody>
          <a:bodyPr vert="horz" wrap="square" lIns="91440" tIns="45720" rIns="91440" bIns="45720" anchor="t" anchorCtr="0"/>
          <a:lstStyle/>
          <a:p>
            <a:pPr eaLnBrk="1" hangingPunct="1">
              <a:buClrTx/>
              <a:buSzTx/>
            </a:pPr>
            <a:r>
              <a:rPr lang="zh-CN" altLang="en-US" sz="3300" dirty="0">
                <a:latin typeface="+mn-lt"/>
                <a:ea typeface="+mn-ea"/>
                <a:cs typeface="+mn-cs"/>
              </a:rPr>
              <a:t>图的遍历</a:t>
            </a:r>
            <a:endParaRPr lang="en-US" altLang="zh-CN" dirty="0"/>
          </a:p>
          <a:p>
            <a:pPr algn="r" eaLnBrk="1" hangingPunct="1"/>
            <a:r>
              <a:rPr lang="en-US" altLang="zh-CN" dirty="0"/>
              <a:t>——Traversal of Graphs</a:t>
            </a:r>
          </a:p>
          <a:p>
            <a:pPr algn="r" eaLnBrk="1" hangingPunct="1">
              <a:buClrTx/>
              <a:buSzTx/>
            </a:pPr>
            <a:endParaRPr lang="en-US" altLang="zh-CN"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000" dirty="0"/>
              <a:t>6.1 引言</a:t>
            </a:r>
          </a:p>
          <a:p>
            <a:r>
              <a:rPr lang="zh-CN" altLang="en-US" sz="2000" dirty="0"/>
              <a:t>6.2 深度优先搜索</a:t>
            </a:r>
            <a:endParaRPr lang="en-US" altLang="zh-CN" sz="2000" dirty="0"/>
          </a:p>
          <a:p>
            <a:pPr lvl="1"/>
            <a:r>
              <a:rPr lang="zh-CN" altLang="en-US" sz="2000" dirty="0">
                <a:latin typeface="+mn-ea"/>
                <a:ea typeface="+mn-ea"/>
                <a:cs typeface="+mn-ea"/>
              </a:rPr>
              <a:t>6.2.</a:t>
            </a:r>
            <a:r>
              <a:rPr lang="en-US" altLang="zh-CN" sz="2000" dirty="0">
                <a:latin typeface="+mn-ea"/>
                <a:ea typeface="+mn-ea"/>
                <a:cs typeface="+mn-ea"/>
              </a:rPr>
              <a:t>1</a:t>
            </a:r>
            <a:r>
              <a:rPr lang="zh-CN" altLang="en-US" sz="2000" dirty="0">
                <a:latin typeface="+mn-ea"/>
                <a:ea typeface="+mn-ea"/>
                <a:cs typeface="+mn-ea"/>
              </a:rPr>
              <a:t>无向图的情况</a:t>
            </a:r>
          </a:p>
          <a:p>
            <a:pPr lvl="1"/>
            <a:r>
              <a:rPr lang="zh-CN" altLang="en-US" sz="2000" dirty="0">
                <a:latin typeface="+mn-ea"/>
                <a:ea typeface="+mn-ea"/>
                <a:cs typeface="+mn-ea"/>
              </a:rPr>
              <a:t>6.2.</a:t>
            </a:r>
            <a:r>
              <a:rPr lang="en-US" altLang="zh-CN" sz="2000" dirty="0">
                <a:latin typeface="+mn-ea"/>
                <a:ea typeface="+mn-ea"/>
                <a:cs typeface="+mn-ea"/>
              </a:rPr>
              <a:t>2</a:t>
            </a:r>
            <a:r>
              <a:rPr lang="zh-CN" altLang="en-US" sz="2000" dirty="0">
                <a:latin typeface="+mn-ea"/>
                <a:ea typeface="+mn-ea"/>
                <a:cs typeface="+mn-ea"/>
              </a:rPr>
              <a:t>有向图的情况</a:t>
            </a:r>
            <a:endParaRPr lang="en-US" altLang="zh-CN" sz="2000" dirty="0">
              <a:latin typeface="+mn-ea"/>
              <a:ea typeface="+mn-ea"/>
              <a:cs typeface="+mn-ea"/>
            </a:endParaRPr>
          </a:p>
          <a:p>
            <a:pPr lvl="1"/>
            <a:r>
              <a:rPr lang="en-US" altLang="zh-CN" sz="2000" dirty="0">
                <a:latin typeface="+mn-ea"/>
                <a:ea typeface="+mn-ea"/>
                <a:cs typeface="+mn-ea"/>
              </a:rPr>
              <a:t>6.2.3 </a:t>
            </a:r>
            <a:r>
              <a:rPr lang="zh-CN" altLang="en-US" sz="2000" dirty="0">
                <a:latin typeface="+mn-ea"/>
                <a:ea typeface="+mn-ea"/>
                <a:cs typeface="+mn-ea"/>
              </a:rPr>
              <a:t>深度优先搜索的时间复杂性</a:t>
            </a:r>
            <a:endParaRPr lang="en-US" altLang="zh-CN" sz="2000" dirty="0">
              <a:latin typeface="+mn-ea"/>
              <a:ea typeface="+mn-ea"/>
              <a:cs typeface="+mn-ea"/>
            </a:endParaRPr>
          </a:p>
          <a:p>
            <a:pPr marL="342900" lvl="1" indent="-342900"/>
            <a:r>
              <a:rPr lang="en-US" altLang="zh-CN" sz="2000" dirty="0">
                <a:latin typeface="+mn-lt"/>
                <a:ea typeface="+mn-ea"/>
                <a:cs typeface="+mn-cs"/>
              </a:rPr>
              <a:t>6.3</a:t>
            </a:r>
            <a:r>
              <a:rPr lang="zh-CN" altLang="en-US" sz="2000" dirty="0">
                <a:latin typeface="+mn-lt"/>
                <a:ea typeface="+mn-ea"/>
                <a:cs typeface="+mn-cs"/>
              </a:rPr>
              <a:t>深度优先搜索的应用</a:t>
            </a:r>
            <a:endParaRPr lang="en-US" altLang="zh-CN" sz="2000" dirty="0">
              <a:latin typeface="+mn-lt"/>
              <a:ea typeface="+mn-ea"/>
              <a:cs typeface="+mn-cs"/>
            </a:endParaRPr>
          </a:p>
          <a:p>
            <a:pPr lvl="1"/>
            <a:r>
              <a:rPr lang="en-US" altLang="zh-CN" sz="2000" dirty="0">
                <a:latin typeface="+mn-ea"/>
                <a:ea typeface="+mn-ea"/>
                <a:cs typeface="+mn-ea"/>
              </a:rPr>
              <a:t>6.3.1</a:t>
            </a:r>
            <a:r>
              <a:rPr lang="zh-CN" altLang="en-US" sz="2000" dirty="0">
                <a:latin typeface="+mn-ea"/>
                <a:ea typeface="+mn-ea"/>
                <a:cs typeface="+mn-ea"/>
              </a:rPr>
              <a:t>图的无回路性</a:t>
            </a:r>
            <a:endParaRPr lang="en-US" altLang="zh-CN" sz="2000" dirty="0">
              <a:latin typeface="+mn-ea"/>
              <a:ea typeface="+mn-ea"/>
              <a:cs typeface="+mn-ea"/>
            </a:endParaRPr>
          </a:p>
          <a:p>
            <a:pPr lvl="1"/>
            <a:r>
              <a:rPr lang="en-US" altLang="zh-CN" sz="2000" dirty="0">
                <a:latin typeface="+mn-ea"/>
                <a:ea typeface="+mn-ea"/>
                <a:cs typeface="+mn-ea"/>
              </a:rPr>
              <a:t>6.3.2</a:t>
            </a:r>
            <a:r>
              <a:rPr lang="zh-CN" altLang="en-US" sz="2000" dirty="0">
                <a:latin typeface="+mn-ea"/>
                <a:ea typeface="+mn-ea"/>
                <a:cs typeface="+mn-ea"/>
              </a:rPr>
              <a:t>拓扑排序</a:t>
            </a:r>
            <a:endParaRPr lang="en-US" altLang="zh-CN" sz="2000" dirty="0">
              <a:latin typeface="+mn-ea"/>
              <a:ea typeface="+mn-ea"/>
              <a:cs typeface="+mn-ea"/>
            </a:endParaRPr>
          </a:p>
          <a:p>
            <a:pPr lvl="1"/>
            <a:r>
              <a:rPr lang="en-US" altLang="zh-CN" sz="2000" dirty="0">
                <a:latin typeface="+mn-ea"/>
                <a:ea typeface="+mn-ea"/>
                <a:cs typeface="+mn-ea"/>
              </a:rPr>
              <a:t>6.3.3</a:t>
            </a:r>
            <a:r>
              <a:rPr lang="zh-CN" altLang="en-US" sz="2000" dirty="0">
                <a:latin typeface="+mn-ea"/>
                <a:ea typeface="+mn-ea"/>
                <a:cs typeface="+mn-ea"/>
              </a:rPr>
              <a:t>寻找图的关节点</a:t>
            </a:r>
            <a:endParaRPr lang="en-US" altLang="zh-CN" sz="2000" dirty="0">
              <a:latin typeface="+mn-ea"/>
              <a:ea typeface="+mn-ea"/>
              <a:cs typeface="+mn-ea"/>
            </a:endParaRPr>
          </a:p>
          <a:p>
            <a:pPr lvl="1"/>
            <a:r>
              <a:rPr lang="en-US" altLang="zh-CN" sz="2000" dirty="0">
                <a:latin typeface="+mn-ea"/>
                <a:ea typeface="+mn-ea"/>
                <a:cs typeface="+mn-ea"/>
              </a:rPr>
              <a:t>6.3.4</a:t>
            </a:r>
            <a:r>
              <a:rPr lang="zh-CN" altLang="en-US" sz="2000" dirty="0">
                <a:latin typeface="+mn-ea"/>
                <a:ea typeface="+mn-ea"/>
                <a:cs typeface="+mn-ea"/>
              </a:rPr>
              <a:t>强联通分分支</a:t>
            </a:r>
            <a:endParaRPr lang="en-US" altLang="zh-CN" sz="2000" dirty="0">
              <a:latin typeface="+mn-ea"/>
              <a:ea typeface="+mn-ea"/>
              <a:cs typeface="+mn-ea"/>
            </a:endParaRPr>
          </a:p>
          <a:p>
            <a:pPr marL="342900" lvl="1" indent="-342900"/>
            <a:r>
              <a:rPr lang="en-US" altLang="zh-CN" sz="2000" dirty="0">
                <a:latin typeface="+mn-lt"/>
                <a:ea typeface="+mn-ea"/>
                <a:cs typeface="+mn-cs"/>
              </a:rPr>
              <a:t>6.4</a:t>
            </a:r>
            <a:r>
              <a:rPr lang="zh-CN" altLang="en-US" sz="2000" dirty="0">
                <a:latin typeface="+mn-lt"/>
                <a:ea typeface="+mn-ea"/>
                <a:cs typeface="+mn-cs"/>
              </a:rPr>
              <a:t>广度优先搜索</a:t>
            </a:r>
            <a:endParaRPr lang="en-US" altLang="zh-CN" sz="2000" dirty="0">
              <a:latin typeface="+mn-lt"/>
              <a:ea typeface="+mn-ea"/>
              <a:cs typeface="+mn-cs"/>
            </a:endParaRPr>
          </a:p>
          <a:p>
            <a:pPr marL="342900" lvl="1" indent="-342900"/>
            <a:r>
              <a:rPr lang="en-US" altLang="zh-CN" sz="2000" dirty="0">
                <a:latin typeface="+mn-lt"/>
                <a:ea typeface="+mn-ea"/>
                <a:cs typeface="+mn-cs"/>
              </a:rPr>
              <a:t>6.5</a:t>
            </a:r>
            <a:r>
              <a:rPr lang="zh-CN" altLang="en-US" sz="2000" dirty="0">
                <a:latin typeface="+mn-lt"/>
                <a:ea typeface="+mn-ea"/>
                <a:cs typeface="+mn-cs"/>
              </a:rPr>
              <a:t>广度优先搜索的应用</a:t>
            </a:r>
            <a:endParaRPr lang="en-US" altLang="zh-CN" sz="2000" dirty="0">
              <a:latin typeface="+mn-lt"/>
              <a:ea typeface="+mn-ea"/>
              <a:cs typeface="+mn-cs"/>
            </a:endParaRPr>
          </a:p>
          <a:p>
            <a:pPr marL="342900" lvl="1" indent="-342900"/>
            <a:r>
              <a:rPr lang="en-US" altLang="zh-CN" sz="2000" dirty="0">
                <a:latin typeface="+mn-lt"/>
                <a:ea typeface="+mn-ea"/>
                <a:cs typeface="+mn-cs"/>
              </a:rPr>
              <a:t>6.6 A*</a:t>
            </a:r>
            <a:r>
              <a:rPr lang="zh-CN" altLang="en-US" sz="2000" dirty="0">
                <a:latin typeface="+mn-lt"/>
                <a:ea typeface="+mn-ea"/>
                <a:cs typeface="+mn-cs"/>
              </a:rPr>
              <a:t>搜索算法</a:t>
            </a:r>
            <a:endParaRPr lang="en-US" altLang="zh-CN" sz="2000" dirty="0">
              <a:latin typeface="+mn-lt"/>
              <a:ea typeface="+mn-ea"/>
              <a:cs typeface="+mn-cs"/>
            </a:endParaRPr>
          </a:p>
          <a:p>
            <a:pPr lvl="1"/>
            <a:endParaRPr lang="zh-CN" altLang="en-US" sz="2000" dirty="0"/>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zh-CN" altLang="en-US" b="1" dirty="0"/>
              <a:t>本章内容</a:t>
            </a:r>
            <a:endParaRPr lang="en-US" altLang="zh-C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800" dirty="0"/>
              <a:t>在一些诸如找出最短路径或最小生成树的图的算法中，用由它们相应的算法顺序访问顶点和边。</a:t>
            </a:r>
            <a:endParaRPr lang="en-US" altLang="zh-CN" sz="2800" dirty="0"/>
          </a:p>
          <a:p>
            <a:r>
              <a:rPr lang="zh-CN" altLang="en-US" sz="2800" dirty="0"/>
              <a:t>然而，在一些其他的算法中，访问顶点的顺序是不重要的，重要的是，不管输入的图如何，</a:t>
            </a:r>
            <a:r>
              <a:rPr lang="zh-CN" altLang="en-US" sz="2800" dirty="0">
                <a:solidFill>
                  <a:srgbClr val="FF0000"/>
                </a:solidFill>
              </a:rPr>
              <a:t>用一种系统的顺序来访问顶点</a:t>
            </a:r>
            <a:r>
              <a:rPr lang="zh-CN" altLang="en-US" sz="2800" dirty="0"/>
              <a:t>。</a:t>
            </a:r>
            <a:endParaRPr lang="en-US" altLang="zh-CN" sz="2800" dirty="0"/>
          </a:p>
          <a:p>
            <a:r>
              <a:rPr lang="zh-CN" altLang="en-US" sz="2800" dirty="0"/>
              <a:t>在本章中，我们讨论图遍历的两种方法</a:t>
            </a:r>
            <a:r>
              <a:rPr lang="en-US" altLang="zh-CN" sz="2800" dirty="0"/>
              <a:t>:</a:t>
            </a:r>
            <a:r>
              <a:rPr lang="zh-CN" altLang="en-US" sz="2800" dirty="0"/>
              <a:t>深度优先搜索和广度优先搜索</a:t>
            </a:r>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zh-CN" altLang="en-US" dirty="0"/>
              <a:t>6.1 引言</a:t>
            </a:r>
            <a:endParaRPr lang="en-US" altLang="zh-CN" b="1" dirty="0"/>
          </a:p>
        </p:txBody>
      </p:sp>
    </p:spTree>
    <p:extLst>
      <p:ext uri="{BB962C8B-B14F-4D97-AF65-F5344CB8AC3E}">
        <p14:creationId xmlns:p14="http://schemas.microsoft.com/office/powerpoint/2010/main" val="258540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r>
              <a:rPr lang="en-US" altLang="zh-CN" dirty="0"/>
              <a:t>6.2 </a:t>
            </a:r>
            <a:r>
              <a:rPr lang="zh-CN" altLang="en-US" dirty="0"/>
              <a:t>深度优先搜索</a:t>
            </a:r>
            <a:r>
              <a:rPr lang="en-US" altLang="zh-CN" dirty="0"/>
              <a:t> </a:t>
            </a:r>
          </a:p>
        </p:txBody>
      </p:sp>
      <p:sp>
        <p:nvSpPr>
          <p:cNvPr id="10243" name="Rectangle 3"/>
          <p:cNvSpPr>
            <a:spLocks noGrp="1"/>
          </p:cNvSpPr>
          <p:nvPr>
            <p:ph idx="1"/>
          </p:nvPr>
        </p:nvSpPr>
        <p:spPr>
          <a:xfrm>
            <a:off x="838200" y="1219200"/>
            <a:ext cx="8229600" cy="4724400"/>
          </a:xfrm>
          <a:ln/>
        </p:spPr>
        <p:txBody>
          <a:bodyPr vert="horz" wrap="square" lIns="91440" tIns="45720" rIns="91440" bIns="45720" anchor="t" anchorCtr="0"/>
          <a:lstStyle/>
          <a:p>
            <a:pPr eaLnBrk="1" hangingPunct="1">
              <a:lnSpc>
                <a:spcPct val="90000"/>
              </a:lnSpc>
            </a:pPr>
            <a:r>
              <a:rPr lang="zh-CN" altLang="en-US" dirty="0"/>
              <a:t>深度优先搜索是一种强有力的遍历方法，它能帮助解决许多包含图的问题，它本质上是根树前序遍历的一个推广。</a:t>
            </a:r>
            <a:endParaRPr lang="en-US" altLang="zh-CN" dirty="0"/>
          </a:p>
          <a:p>
            <a:pPr eaLnBrk="1" hangingPunct="1">
              <a:lnSpc>
                <a:spcPct val="90000"/>
              </a:lnSpc>
            </a:pPr>
            <a:r>
              <a:rPr lang="zh-CN" altLang="en-US" sz="2000" dirty="0"/>
              <a:t>设</a:t>
            </a:r>
            <a:r>
              <a:rPr lang="en-US" altLang="zh-CN" sz="2000" dirty="0"/>
              <a:t>G=(V,E)</a:t>
            </a:r>
            <a:r>
              <a:rPr lang="zh-CN" altLang="en-US" sz="2000" dirty="0"/>
              <a:t>是一个有向或无向图，</a:t>
            </a:r>
            <a:r>
              <a:rPr lang="en-US" altLang="zh-CN" sz="2000" dirty="0"/>
              <a:t>G</a:t>
            </a:r>
            <a:r>
              <a:rPr lang="zh-CN" altLang="en-US" sz="2000" dirty="0"/>
              <a:t>的深度优先搜索运作如下</a:t>
            </a:r>
            <a:r>
              <a:rPr lang="en-US" altLang="zh-CN" sz="2000" dirty="0"/>
              <a:t>:</a:t>
            </a:r>
            <a:r>
              <a:rPr lang="zh-CN" altLang="en-US" sz="2000" dirty="0"/>
              <a:t>首先所有的顶点标上未访问，接着选择一个起始顶点，比如说</a:t>
            </a:r>
            <a:r>
              <a:rPr lang="en-US" altLang="zh-CN" sz="2000" dirty="0" err="1"/>
              <a:t>v∈V</a:t>
            </a:r>
            <a:r>
              <a:rPr lang="en-US" altLang="zh-CN" sz="2000" dirty="0"/>
              <a:t>,</a:t>
            </a:r>
            <a:r>
              <a:rPr lang="zh-CN" altLang="en-US" sz="2000" dirty="0"/>
              <a:t>并标上已访问。设</a:t>
            </a:r>
            <a:r>
              <a:rPr lang="en-US" altLang="zh-CN" sz="2000" dirty="0"/>
              <a:t>w</a:t>
            </a:r>
            <a:r>
              <a:rPr lang="zh-CN" altLang="en-US" sz="2000" dirty="0"/>
              <a:t>是邻接于，的任意一个顶点</a:t>
            </a:r>
            <a:r>
              <a:rPr lang="en-US" altLang="zh-CN" sz="2000" dirty="0"/>
              <a:t>,</a:t>
            </a:r>
            <a:r>
              <a:rPr lang="zh-CN" altLang="en-US" sz="2000" dirty="0"/>
              <a:t>我们把</a:t>
            </a:r>
            <a:r>
              <a:rPr lang="en-US" altLang="zh-CN" sz="2000" dirty="0"/>
              <a:t>w</a:t>
            </a:r>
            <a:r>
              <a:rPr lang="zh-CN" altLang="en-US" sz="2000" dirty="0"/>
              <a:t>标为已访问并且前进到另一个顶点</a:t>
            </a:r>
            <a:r>
              <a:rPr lang="en-US" altLang="zh-CN" sz="2000" dirty="0"/>
              <a:t>,</a:t>
            </a:r>
            <a:r>
              <a:rPr lang="zh-CN" altLang="en-US" sz="2000" dirty="0"/>
              <a:t>比如说称为</a:t>
            </a:r>
            <a:r>
              <a:rPr lang="en-US" altLang="zh-CN" sz="2000" dirty="0"/>
              <a:t>x</a:t>
            </a:r>
            <a:r>
              <a:rPr lang="zh-CN" altLang="en-US" sz="2000" dirty="0"/>
              <a:t>，它是邻接于</a:t>
            </a:r>
            <a:r>
              <a:rPr lang="en-US" altLang="zh-CN" sz="2000" dirty="0"/>
              <a:t>w</a:t>
            </a:r>
            <a:r>
              <a:rPr lang="zh-CN" altLang="en-US" sz="2000" dirty="0"/>
              <a:t>并且被标为未访问的。我们再把</a:t>
            </a:r>
            <a:r>
              <a:rPr lang="en-US" altLang="zh-CN" sz="2000" dirty="0"/>
              <a:t>x</a:t>
            </a:r>
            <a:r>
              <a:rPr lang="zh-CN" altLang="en-US" sz="2000" dirty="0"/>
              <a:t>标为已访问，并且前进到另一个邻接于</a:t>
            </a:r>
            <a:r>
              <a:rPr lang="en-US" altLang="zh-CN" sz="2000" dirty="0"/>
              <a:t>x</a:t>
            </a:r>
            <a:r>
              <a:rPr lang="zh-CN" altLang="en-US" sz="2000" dirty="0"/>
              <a:t>且标为未访问的顶点，这个选择邻接于当前顶点的一个未访问过的顶点的过程尽可能深地继续，直到我们找出一个顶点</a:t>
            </a:r>
            <a:r>
              <a:rPr lang="en-US" altLang="zh-CN" sz="2000" dirty="0"/>
              <a:t>y,</a:t>
            </a:r>
            <a:r>
              <a:rPr lang="zh-CN" altLang="en-US" sz="2000" dirty="0"/>
              <a:t>，邻接于它的所有顶点都已被标上已访问。在这点处，我们返回到最后访问的顶点，比如说，如果还有邻接于它的任何未访问顶点，就访问它。继续这种方法，我们最终返回到起始顶点。</a:t>
            </a:r>
            <a:endParaRPr lang="en-US" altLang="zh-CN" sz="2000" dirty="0"/>
          </a:p>
          <a:p>
            <a:pPr eaLnBrk="1" hangingPunct="1">
              <a:lnSpc>
                <a:spcPct val="90000"/>
              </a:lnSpc>
            </a:pPr>
            <a:r>
              <a:rPr lang="zh-CN" altLang="en-US" dirty="0"/>
              <a:t>这种遍历方法已经给出了深度优先搜索的名称，因为它在朝前</a:t>
            </a:r>
            <a:r>
              <a:rPr lang="en-US" altLang="zh-CN" dirty="0"/>
              <a:t>(</a:t>
            </a:r>
            <a:r>
              <a:rPr lang="zh-CN" altLang="en-US" dirty="0"/>
              <a:t>深</a:t>
            </a:r>
            <a:r>
              <a:rPr lang="en-US" altLang="zh-CN" dirty="0"/>
              <a:t>)</a:t>
            </a:r>
            <a:r>
              <a:rPr lang="zh-CN" altLang="en-US" dirty="0"/>
              <a:t>的方向延伸搜索。这样一个遍历算法能用递归来写，如算法</a:t>
            </a:r>
            <a:r>
              <a:rPr lang="en-US" altLang="zh-CN" dirty="0"/>
              <a:t>DFS</a:t>
            </a:r>
            <a:r>
              <a:rPr lang="zh-CN" altLang="en-US" dirty="0"/>
              <a:t>所示或用一个堆栈写出。</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subTnLst>
                                    <p:animClr clrSpc="rgb" dir="cw">
                                      <p:cBhvr override="childStyle">
                                        <p:cTn dur="1" fill="hold" display="0" masterRel="nextClick" afterEffect="1"/>
                                        <p:tgtEl>
                                          <p:spTgt spid="10243">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subTnLst>
                                    <p:animClr clrSpc="rgb" dir="cw">
                                      <p:cBhvr override="childStyle">
                                        <p:cTn dur="1" fill="hold" display="0" masterRel="nextClick" afterEffect="1"/>
                                        <p:tgtEl>
                                          <p:spTgt spid="1024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A8B66-61DB-DD76-DB4B-7823748F14CB}"/>
            </a:ext>
          </a:extLst>
        </p:cNvPr>
        <p:cNvGrpSpPr/>
        <p:nvPr/>
      </p:nvGrpSpPr>
      <p:grpSpPr>
        <a:xfrm>
          <a:off x="0" y="0"/>
          <a:ext cx="0" cy="0"/>
          <a:chOff x="0" y="0"/>
          <a:chExt cx="0" cy="0"/>
        </a:xfrm>
      </p:grpSpPr>
      <p:sp>
        <p:nvSpPr>
          <p:cNvPr id="8194" name="页脚占位符 3">
            <a:extLst>
              <a:ext uri="{FF2B5EF4-FFF2-40B4-BE49-F238E27FC236}">
                <a16:creationId xmlns:a16="http://schemas.microsoft.com/office/drawing/2014/main" id="{37D6207F-8386-9ABC-6E35-8E9D4B5CD8CF}"/>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195" name="Rectangle 2">
            <a:extLst>
              <a:ext uri="{FF2B5EF4-FFF2-40B4-BE49-F238E27FC236}">
                <a16:creationId xmlns:a16="http://schemas.microsoft.com/office/drawing/2014/main" id="{0FB76928-FBA5-DC45-55A1-6D8E2DFFC02A}"/>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6.2 </a:t>
            </a:r>
            <a:r>
              <a:rPr lang="zh-CN" altLang="en-US" dirty="0"/>
              <a:t>深度优先搜索</a:t>
            </a:r>
            <a:r>
              <a:rPr lang="en-US" altLang="zh-CN" dirty="0"/>
              <a:t> </a:t>
            </a:r>
          </a:p>
        </p:txBody>
      </p:sp>
      <p:sp>
        <p:nvSpPr>
          <p:cNvPr id="10243" name="Rectangle 3">
            <a:extLst>
              <a:ext uri="{FF2B5EF4-FFF2-40B4-BE49-F238E27FC236}">
                <a16:creationId xmlns:a16="http://schemas.microsoft.com/office/drawing/2014/main" id="{215B46DF-43C3-93F2-9661-E15B4A57C330}"/>
              </a:ext>
            </a:extLst>
          </p:cNvPr>
          <p:cNvSpPr>
            <a:spLocks noGrp="1"/>
          </p:cNvSpPr>
          <p:nvPr>
            <p:ph idx="1"/>
          </p:nvPr>
        </p:nvSpPr>
        <p:spPr>
          <a:xfrm>
            <a:off x="609600" y="3000952"/>
            <a:ext cx="2743200" cy="1676400"/>
          </a:xfrm>
          <a:ln/>
        </p:spPr>
        <p:txBody>
          <a:bodyPr vert="horz" wrap="square" lIns="91440" tIns="45720" rIns="91440" bIns="45720" anchor="t" anchorCtr="0"/>
          <a:lstStyle/>
          <a:p>
            <a:pPr eaLnBrk="1" hangingPunct="1">
              <a:lnSpc>
                <a:spcPct val="90000"/>
              </a:lnSpc>
            </a:pPr>
            <a:r>
              <a:rPr lang="zh-CN" altLang="en-US" sz="2000" dirty="0">
                <a:latin typeface="黑体" panose="02010609060101010101" pitchFamily="49" charset="-122"/>
                <a:ea typeface="黑体" panose="02010609060101010101" pitchFamily="49" charset="-122"/>
              </a:rPr>
              <a:t>这样一个遍历算法能用递归来写，如算法</a:t>
            </a:r>
            <a:r>
              <a:rPr lang="en-US" altLang="zh-CN" sz="2000" dirty="0">
                <a:latin typeface="黑体" panose="02010609060101010101" pitchFamily="49" charset="-122"/>
                <a:ea typeface="黑体" panose="02010609060101010101" pitchFamily="49" charset="-122"/>
              </a:rPr>
              <a:t>DFS</a:t>
            </a:r>
            <a:r>
              <a:rPr lang="zh-CN" altLang="en-US" sz="2000" dirty="0">
                <a:latin typeface="黑体" panose="02010609060101010101" pitchFamily="49" charset="-122"/>
                <a:ea typeface="黑体" panose="02010609060101010101" pitchFamily="49" charset="-122"/>
              </a:rPr>
              <a:t>所示或用一个堆栈写出</a:t>
            </a:r>
            <a:r>
              <a:rPr lang="zh-CN" altLang="en-US" dirty="0"/>
              <a:t>。</a:t>
            </a:r>
            <a:endParaRPr lang="en-US" altLang="zh-CN" dirty="0"/>
          </a:p>
        </p:txBody>
      </p:sp>
      <p:pic>
        <p:nvPicPr>
          <p:cNvPr id="7" name="图片 6">
            <a:extLst>
              <a:ext uri="{FF2B5EF4-FFF2-40B4-BE49-F238E27FC236}">
                <a16:creationId xmlns:a16="http://schemas.microsoft.com/office/drawing/2014/main" id="{7D0151BE-B760-2A9D-AC38-51F11AA02D95}"/>
              </a:ext>
            </a:extLst>
          </p:cNvPr>
          <p:cNvPicPr>
            <a:picLocks noChangeAspect="1"/>
          </p:cNvPicPr>
          <p:nvPr/>
        </p:nvPicPr>
        <p:blipFill>
          <a:blip r:embed="rId3"/>
          <a:stretch>
            <a:fillRect/>
          </a:stretch>
        </p:blipFill>
        <p:spPr>
          <a:xfrm>
            <a:off x="3492500" y="990600"/>
            <a:ext cx="5426883" cy="5490729"/>
          </a:xfrm>
          <a:prstGeom prst="rect">
            <a:avLst/>
          </a:prstGeom>
        </p:spPr>
      </p:pic>
      <p:cxnSp>
        <p:nvCxnSpPr>
          <p:cNvPr id="9" name="直接箭头连接符 8">
            <a:extLst>
              <a:ext uri="{FF2B5EF4-FFF2-40B4-BE49-F238E27FC236}">
                <a16:creationId xmlns:a16="http://schemas.microsoft.com/office/drawing/2014/main" id="{FAF66540-12A9-3FD0-7942-E2745ED07167}"/>
              </a:ext>
            </a:extLst>
          </p:cNvPr>
          <p:cNvCxnSpPr>
            <a:cxnSpLocks/>
            <a:stCxn id="10243" idx="3"/>
          </p:cNvCxnSpPr>
          <p:nvPr/>
        </p:nvCxnSpPr>
        <p:spPr bwMode="auto">
          <a:xfrm>
            <a:off x="3352800" y="3839152"/>
            <a:ext cx="990600" cy="428048"/>
          </a:xfrm>
          <a:prstGeom prst="straightConnector1">
            <a:avLst/>
          </a:prstGeom>
          <a:solidFill>
            <a:schemeClr val="accent1"/>
          </a:solidFill>
          <a:ln w="25400" cap="flat" cmpd="sng" algn="ctr">
            <a:solidFill>
              <a:schemeClr val="tx1"/>
            </a:solidFill>
            <a:prstDash val="solid"/>
            <a:round/>
            <a:headEnd type="none" w="med" len="med"/>
            <a:tailEnd type="triangle"/>
          </a:ln>
        </p:spPr>
      </p:cxnSp>
      <p:sp>
        <p:nvSpPr>
          <p:cNvPr id="11" name="文本框 10">
            <a:extLst>
              <a:ext uri="{FF2B5EF4-FFF2-40B4-BE49-F238E27FC236}">
                <a16:creationId xmlns:a16="http://schemas.microsoft.com/office/drawing/2014/main" id="{06071E52-66AA-23FA-D12D-233A991FCB19}"/>
              </a:ext>
            </a:extLst>
          </p:cNvPr>
          <p:cNvSpPr txBox="1"/>
          <p:nvPr/>
        </p:nvSpPr>
        <p:spPr>
          <a:xfrm>
            <a:off x="879475" y="1283355"/>
            <a:ext cx="2549525" cy="1631216"/>
          </a:xfrm>
          <a:prstGeom prst="rect">
            <a:avLst/>
          </a:prstGeom>
          <a:noFill/>
        </p:spPr>
        <p:txBody>
          <a:bodyPr wrap="square">
            <a:spAutoFit/>
          </a:bodyPr>
          <a:lstStyle/>
          <a:p>
            <a:r>
              <a:rPr lang="zh-CN" altLang="en-US" sz="2000" dirty="0">
                <a:solidFill>
                  <a:schemeClr val="accent2"/>
                </a:solidFill>
                <a:latin typeface="黑体" panose="02010609060101010101" pitchFamily="49" charset="-122"/>
                <a:ea typeface="黑体" panose="02010609060101010101" pitchFamily="49" charset="-122"/>
              </a:rPr>
              <a:t>这种遍历方法已经给出了深度优先搜索的名称，因为它在朝前(深)的方向延伸搜索</a:t>
            </a:r>
            <a:r>
              <a:rPr lang="zh-CN" altLang="en-US" dirty="0"/>
              <a:t>。</a:t>
            </a:r>
          </a:p>
        </p:txBody>
      </p:sp>
    </p:spTree>
    <p:extLst>
      <p:ext uri="{BB962C8B-B14F-4D97-AF65-F5344CB8AC3E}">
        <p14:creationId xmlns:p14="http://schemas.microsoft.com/office/powerpoint/2010/main" val="386285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subTnLst>
                                    <p:animClr clrSpc="rgb" dir="cw">
                                      <p:cBhvr override="childStyle">
                                        <p:cTn dur="1" fill="hold" display="0" masterRel="nextClick" afterEffect="1"/>
                                        <p:tgtEl>
                                          <p:spTgt spid="10243">
                                            <p:txEl>
                                              <p:pRg st="0" end="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ln/>
        </p:spPr>
        <p:txBody>
          <a:bodyPr vert="horz" wrap="square" lIns="91440" tIns="45720" rIns="91440" bIns="45720" anchor="ctr" anchorCtr="0"/>
          <a:lstStyle/>
          <a:p>
            <a:pPr eaLnBrk="1" hangingPunct="1"/>
            <a:r>
              <a:rPr lang="en-US" altLang="zh-CN" dirty="0"/>
              <a:t>6.2 </a:t>
            </a:r>
            <a:r>
              <a:rPr lang="zh-CN" altLang="en-US" dirty="0"/>
              <a:t>深度优先搜索</a:t>
            </a:r>
            <a:r>
              <a:rPr lang="en-US" altLang="zh-CN" dirty="0"/>
              <a:t> </a:t>
            </a:r>
            <a:endParaRPr lang="zh-CN" altLang="en-US" dirty="0"/>
          </a:p>
        </p:txBody>
      </p:sp>
      <p:sp>
        <p:nvSpPr>
          <p:cNvPr id="320515" name="Rectangle 3"/>
          <p:cNvSpPr>
            <a:spLocks noGrp="1"/>
          </p:cNvSpPr>
          <p:nvPr>
            <p:ph type="body" sz="half" idx="1"/>
          </p:nvPr>
        </p:nvSpPr>
        <p:spPr>
          <a:xfrm>
            <a:off x="533400" y="1295400"/>
            <a:ext cx="8229600" cy="3886200"/>
          </a:xfrm>
          <a:ln/>
        </p:spPr>
        <p:txBody>
          <a:bodyPr vert="horz" wrap="square" lIns="91440" tIns="45720" rIns="91440" bIns="45720" anchor="t" anchorCtr="0"/>
          <a:lstStyle/>
          <a:p>
            <a:r>
              <a:rPr lang="zh-CN" altLang="en-US" sz="1800" dirty="0"/>
              <a:t>算法从把所有顶点标上未访问开始，它还把两个计数器</a:t>
            </a:r>
            <a:r>
              <a:rPr lang="en-US" altLang="zh-CN" sz="1800" dirty="0" err="1"/>
              <a:t>predfn</a:t>
            </a:r>
            <a:r>
              <a:rPr lang="zh-CN" altLang="en-US" sz="1800" dirty="0"/>
              <a:t>和</a:t>
            </a:r>
            <a:r>
              <a:rPr lang="en-US" altLang="zh-CN" sz="1800" dirty="0" err="1"/>
              <a:t>postdfn</a:t>
            </a:r>
            <a:r>
              <a:rPr lang="en-US" altLang="zh-CN" sz="1800" dirty="0"/>
              <a:t> </a:t>
            </a:r>
            <a:r>
              <a:rPr lang="zh-CN" altLang="en-US" sz="1800" dirty="0"/>
              <a:t>初始化为</a:t>
            </a:r>
            <a:r>
              <a:rPr lang="en-US" altLang="zh-CN" sz="1800" dirty="0"/>
              <a:t>0</a:t>
            </a:r>
            <a:r>
              <a:rPr lang="zh-CN" altLang="en-US" sz="1800" dirty="0"/>
              <a:t>。然后，算法对</a:t>
            </a:r>
            <a:r>
              <a:rPr lang="en-US" altLang="zh-CN" sz="1800" dirty="0"/>
              <a:t>V</a:t>
            </a:r>
            <a:r>
              <a:rPr lang="zh-CN" altLang="en-US" sz="1800" dirty="0"/>
              <a:t>中每一个未访问顶点调用过程</a:t>
            </a:r>
            <a:r>
              <a:rPr lang="en-US" altLang="zh-CN" sz="1800" dirty="0" err="1"/>
              <a:t>dfs</a:t>
            </a:r>
            <a:r>
              <a:rPr lang="zh-CN" altLang="en-US" sz="1800" dirty="0"/>
              <a:t>，这是因为从起始点出发不是所有的顶点都可以到达的。从某个顶点</a:t>
            </a:r>
            <a:r>
              <a:rPr lang="en-US" altLang="zh-CN" sz="1800" dirty="0" err="1"/>
              <a:t>veV</a:t>
            </a:r>
            <a:r>
              <a:rPr lang="zh-CN" altLang="en-US" sz="1800" dirty="0"/>
              <a:t>开始</a:t>
            </a:r>
            <a:r>
              <a:rPr lang="en-US" altLang="zh-CN" sz="1800" dirty="0"/>
              <a:t>,</a:t>
            </a:r>
            <a:r>
              <a:rPr lang="zh-CN" altLang="en-US" sz="1800" dirty="0"/>
              <a:t>过程</a:t>
            </a:r>
            <a:r>
              <a:rPr lang="en-US" altLang="zh-CN" sz="1800" dirty="0"/>
              <a:t>dfs</a:t>
            </a:r>
            <a:r>
              <a:rPr lang="zh-CN" altLang="en-US" sz="1800" dirty="0"/>
              <a:t>通过访问</a:t>
            </a:r>
            <a:r>
              <a:rPr lang="en-US" altLang="zh-CN" sz="1800" dirty="0"/>
              <a:t>v,</a:t>
            </a:r>
            <a:r>
              <a:rPr lang="zh-CN" altLang="en-US" sz="1800" dirty="0"/>
              <a:t>把</a:t>
            </a:r>
            <a:r>
              <a:rPr lang="en-US" altLang="zh-CN" sz="1800" dirty="0"/>
              <a:t>v</a:t>
            </a:r>
            <a:r>
              <a:rPr lang="zh-CN" altLang="en-US" sz="1800" dirty="0"/>
              <a:t>标成已访问，然后递归地访问它的邻接顶点来执行对</a:t>
            </a:r>
            <a:r>
              <a:rPr lang="en-US" altLang="zh-CN" sz="1800" dirty="0"/>
              <a:t>G</a:t>
            </a:r>
            <a:r>
              <a:rPr lang="zh-CN" altLang="en-US" sz="1800" dirty="0"/>
              <a:t>的搜索。当搜索完成时</a:t>
            </a:r>
            <a:r>
              <a:rPr lang="en-US" altLang="zh-CN" sz="1800" dirty="0"/>
              <a:t>,</a:t>
            </a:r>
            <a:r>
              <a:rPr lang="zh-CN" altLang="en-US" sz="1800" dirty="0"/>
              <a:t>如果从起始点开始所有的顶点都可到达，就构建起一棵生成树，称为深度优先搜索生成树，它的边是在前进方向上即当探索未访问顶点时被检查的那些边。</a:t>
            </a:r>
            <a:endParaRPr lang="en-US" altLang="zh-CN" sz="1800" dirty="0"/>
          </a:p>
          <a:p>
            <a:r>
              <a:rPr lang="zh-CN" altLang="en-US" sz="1800" dirty="0"/>
              <a:t>换句话说，设</a:t>
            </a:r>
            <a:r>
              <a:rPr lang="en-US" altLang="zh-CN" sz="1800" dirty="0"/>
              <a:t>(</a:t>
            </a:r>
            <a:r>
              <a:rPr lang="en-US" altLang="zh-CN" sz="1800" dirty="0" err="1"/>
              <a:t>u,w</a:t>
            </a:r>
            <a:r>
              <a:rPr lang="en-US" altLang="zh-CN" sz="1800" dirty="0"/>
              <a:t>)</a:t>
            </a:r>
            <a:r>
              <a:rPr lang="zh-CN" altLang="en-US" sz="1800" dirty="0"/>
              <a:t>是这样一条边，</a:t>
            </a:r>
            <a:r>
              <a:rPr lang="en-US" altLang="zh-CN" sz="1800" dirty="0"/>
              <a:t>w</a:t>
            </a:r>
            <a:r>
              <a:rPr lang="zh-CN" altLang="en-US" sz="1800" dirty="0"/>
              <a:t>标有未访问，而整个过程假设是通过调用</a:t>
            </a:r>
            <a:r>
              <a:rPr lang="en-US" altLang="zh-CN" sz="1800" dirty="0" err="1"/>
              <a:t>dfs</a:t>
            </a:r>
            <a:r>
              <a:rPr lang="en-US" altLang="zh-CN" sz="1800" dirty="0"/>
              <a:t>(v)</a:t>
            </a:r>
            <a:r>
              <a:rPr lang="zh-CN" altLang="en-US" sz="1800" dirty="0"/>
              <a:t>来进行的，在这种情况下，这条边将成为深度优先搜索生成树的一部分。如果从起始点出发不是所有的顶点都是可到达的</a:t>
            </a:r>
            <a:r>
              <a:rPr lang="en-US" altLang="zh-CN" sz="1800" dirty="0"/>
              <a:t>,</a:t>
            </a:r>
            <a:r>
              <a:rPr lang="zh-CN" altLang="en-US" sz="1800" dirty="0"/>
              <a:t>那么搜索的结果产生一个生成树森林。在搜索完成后，每一个顶点标上了</a:t>
            </a:r>
            <a:r>
              <a:rPr lang="en-US" altLang="zh-CN" sz="1800" dirty="0" err="1"/>
              <a:t>predfn</a:t>
            </a:r>
            <a:r>
              <a:rPr lang="zh-CN" altLang="en-US" sz="1800" dirty="0"/>
              <a:t>和</a:t>
            </a:r>
            <a:r>
              <a:rPr lang="en-US" altLang="zh-CN" sz="1800" dirty="0" err="1"/>
              <a:t>postdfn</a:t>
            </a:r>
            <a:r>
              <a:rPr lang="zh-CN" altLang="en-US" sz="1800" dirty="0"/>
              <a:t>数这两个标号</a:t>
            </a:r>
            <a:r>
              <a:rPr lang="en-US" altLang="zh-CN" sz="1800" dirty="0"/>
              <a:t>,</a:t>
            </a:r>
            <a:r>
              <a:rPr lang="zh-CN" altLang="en-US" sz="1800" dirty="0"/>
              <a:t>在深度优先搜索遍历产生的生成树</a:t>
            </a:r>
            <a:r>
              <a:rPr lang="en-US" altLang="zh-CN" sz="1800" dirty="0"/>
              <a:t>(</a:t>
            </a:r>
            <a:r>
              <a:rPr lang="zh-CN" altLang="en-US" sz="1800" dirty="0"/>
              <a:t>或森林</a:t>
            </a:r>
            <a:r>
              <a:rPr lang="en-US" altLang="zh-CN" sz="1800" dirty="0"/>
              <a:t>)</a:t>
            </a:r>
            <a:r>
              <a:rPr lang="zh-CN" altLang="en-US" sz="1800" dirty="0"/>
              <a:t>的顶点上加上了前序和后序号，它们给出了访问一个顶点的开始和结束的序。下面我们说边</a:t>
            </a:r>
            <a:r>
              <a:rPr lang="en-US" altLang="zh-CN" sz="1800" dirty="0"/>
              <a:t>(</a:t>
            </a:r>
            <a:r>
              <a:rPr lang="en-US" altLang="zh-CN" sz="1800" dirty="0" err="1"/>
              <a:t>v,w</a:t>
            </a:r>
            <a:r>
              <a:rPr lang="en-US" altLang="zh-CN" sz="1800" dirty="0"/>
              <a:t>)</a:t>
            </a:r>
            <a:r>
              <a:rPr lang="zh-CN" altLang="en-US" sz="1800" dirty="0"/>
              <a:t>已被探索的意思是指在调用</a:t>
            </a:r>
            <a:r>
              <a:rPr lang="en-US" altLang="zh-CN" sz="1800" dirty="0" err="1"/>
              <a:t>dfs</a:t>
            </a:r>
            <a:r>
              <a:rPr lang="en-US" altLang="zh-CN" sz="1800" dirty="0"/>
              <a:t>(v)</a:t>
            </a:r>
            <a:r>
              <a:rPr lang="zh-CN" altLang="en-US" sz="1800" dirty="0"/>
              <a:t>中，过程检查边</a:t>
            </a:r>
            <a:r>
              <a:rPr lang="en-US" altLang="zh-CN" sz="1800" dirty="0"/>
              <a:t>(</a:t>
            </a:r>
            <a:r>
              <a:rPr lang="en-US" altLang="zh-CN" sz="1800" dirty="0" err="1"/>
              <a:t>u,w</a:t>
            </a:r>
            <a:r>
              <a:rPr lang="en-US" altLang="zh-CN" sz="1800" dirty="0"/>
              <a:t>)</a:t>
            </a:r>
            <a:r>
              <a:rPr lang="zh-CN" altLang="en-US" sz="1800" dirty="0"/>
              <a:t>以测试</a:t>
            </a:r>
            <a:r>
              <a:rPr lang="en-US" altLang="zh-CN" sz="1800" dirty="0"/>
              <a:t>w</a:t>
            </a:r>
            <a:r>
              <a:rPr lang="zh-CN" altLang="en-US" sz="1800" dirty="0"/>
              <a:t>在这以前是否被访问过</a:t>
            </a:r>
            <a:r>
              <a:rPr lang="en-US" altLang="zh-CN" sz="1800" dirty="0"/>
              <a:t>,</a:t>
            </a:r>
            <a:r>
              <a:rPr lang="zh-CN" altLang="en-US" sz="1800" dirty="0"/>
              <a:t>根据图是有向或无向图的边将进行不同的分类。</a:t>
            </a:r>
          </a:p>
        </p:txBody>
      </p:sp>
      <p:sp>
        <p:nvSpPr>
          <p:cNvPr id="10312" name="页脚占位符 3"/>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75203653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18E9-1FC1-48F3-7E25-3FD096E2B69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04E4431-4EDE-F513-FF66-CCA41B421191}"/>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6.2.1 </a:t>
            </a:r>
            <a:r>
              <a:rPr lang="zh-CN" altLang="en-US" dirty="0"/>
              <a:t>深度优先搜索</a:t>
            </a:r>
            <a:r>
              <a:rPr lang="en-US" altLang="zh-CN" dirty="0"/>
              <a:t>——</a:t>
            </a:r>
            <a:r>
              <a:rPr lang="zh-CN" altLang="en-US" dirty="0"/>
              <a:t>无向图的情况</a:t>
            </a:r>
            <a:r>
              <a:rPr lang="en-US" altLang="zh-CN" dirty="0"/>
              <a:t> </a:t>
            </a:r>
            <a:endParaRPr lang="zh-CN" altLang="en-US" dirty="0"/>
          </a:p>
        </p:txBody>
      </p:sp>
      <p:sp>
        <p:nvSpPr>
          <p:cNvPr id="320515" name="Rectangle 3">
            <a:extLst>
              <a:ext uri="{FF2B5EF4-FFF2-40B4-BE49-F238E27FC236}">
                <a16:creationId xmlns:a16="http://schemas.microsoft.com/office/drawing/2014/main" id="{FA8557EF-4C7F-C0C6-8EFE-9CCFD1ABEF22}"/>
              </a:ext>
            </a:extLst>
          </p:cNvPr>
          <p:cNvSpPr>
            <a:spLocks noGrp="1"/>
          </p:cNvSpPr>
          <p:nvPr>
            <p:ph type="body" sz="half" idx="1"/>
          </p:nvPr>
        </p:nvSpPr>
        <p:spPr>
          <a:xfrm>
            <a:off x="533400" y="1295400"/>
            <a:ext cx="8229600" cy="3886200"/>
          </a:xfrm>
          <a:ln/>
        </p:spPr>
        <p:txBody>
          <a:bodyPr vert="horz" wrap="square" lIns="91440" tIns="45720" rIns="91440" bIns="45720" anchor="t" anchorCtr="0"/>
          <a:lstStyle/>
          <a:p>
            <a:r>
              <a:rPr lang="zh-CN" altLang="en-US" sz="2800" dirty="0"/>
              <a:t>设 </a:t>
            </a:r>
            <a:r>
              <a:rPr lang="en-US" altLang="zh-CN" sz="2800" dirty="0"/>
              <a:t>G=(V,E)</a:t>
            </a:r>
            <a:r>
              <a:rPr lang="zh-CN" altLang="en-US" sz="2800" dirty="0"/>
              <a:t>是无向图，作为遍历的结果，</a:t>
            </a:r>
            <a:r>
              <a:rPr lang="en-US" altLang="zh-CN" sz="2800" dirty="0"/>
              <a:t>G</a:t>
            </a:r>
            <a:r>
              <a:rPr lang="zh-CN" altLang="en-US" sz="2800" dirty="0"/>
              <a:t>的边分成以下两种类型。</a:t>
            </a:r>
            <a:endParaRPr lang="en-US" altLang="zh-CN" sz="2800" dirty="0"/>
          </a:p>
          <a:p>
            <a:pPr lvl="1"/>
            <a:r>
              <a:rPr lang="zh-CN" altLang="en-US" sz="2500" dirty="0"/>
              <a:t>树边</a:t>
            </a:r>
            <a:r>
              <a:rPr lang="en-US" altLang="zh-CN" sz="2500" dirty="0"/>
              <a:t>:</a:t>
            </a:r>
            <a:r>
              <a:rPr lang="zh-CN" altLang="en-US" sz="2500" dirty="0"/>
              <a:t>深度优先搜索树中的边，如果在探索边</a:t>
            </a:r>
            <a:r>
              <a:rPr lang="en-US" altLang="zh-CN" sz="2500" dirty="0"/>
              <a:t>(</a:t>
            </a:r>
            <a:r>
              <a:rPr lang="en-US" altLang="zh-CN" sz="2500" dirty="0" err="1"/>
              <a:t>v,w</a:t>
            </a:r>
            <a:r>
              <a:rPr lang="en-US" altLang="zh-CN" sz="2500" dirty="0"/>
              <a:t>)</a:t>
            </a:r>
            <a:r>
              <a:rPr lang="zh-CN" altLang="en-US" sz="2500" dirty="0"/>
              <a:t>时，</a:t>
            </a:r>
            <a:r>
              <a:rPr lang="en-US" altLang="zh-CN" sz="2500" dirty="0"/>
              <a:t>w</a:t>
            </a:r>
            <a:r>
              <a:rPr lang="zh-CN" altLang="en-US" sz="2500" dirty="0"/>
              <a:t>是首次被访问，则边</a:t>
            </a:r>
            <a:r>
              <a:rPr lang="en-US" altLang="zh-CN" sz="2500" dirty="0"/>
              <a:t>(</a:t>
            </a:r>
            <a:r>
              <a:rPr lang="en-US" altLang="zh-CN" sz="2500" dirty="0" err="1"/>
              <a:t>v,w</a:t>
            </a:r>
            <a:r>
              <a:rPr lang="en-US" altLang="zh-CN" sz="2500" dirty="0"/>
              <a:t>)</a:t>
            </a:r>
            <a:r>
              <a:rPr lang="zh-CN" altLang="en-US" sz="2500" dirty="0"/>
              <a:t>是树边</a:t>
            </a:r>
            <a:r>
              <a:rPr lang="en-US" altLang="zh-CN" sz="2500" dirty="0"/>
              <a:t>;</a:t>
            </a:r>
          </a:p>
          <a:p>
            <a:pPr lvl="1"/>
            <a:r>
              <a:rPr lang="zh-CN" altLang="en-US" sz="2500" dirty="0"/>
              <a:t>回边</a:t>
            </a:r>
            <a:r>
              <a:rPr lang="en-US" altLang="zh-CN" sz="2500" dirty="0"/>
              <a:t>:</a:t>
            </a:r>
            <a:r>
              <a:rPr lang="zh-CN" altLang="en-US" sz="2500" dirty="0"/>
              <a:t>所有其他的边。</a:t>
            </a:r>
            <a:endParaRPr lang="en-US" altLang="zh-CN" sz="2500" dirty="0"/>
          </a:p>
        </p:txBody>
      </p:sp>
      <p:sp>
        <p:nvSpPr>
          <p:cNvPr id="10312" name="页脚占位符 3">
            <a:extLst>
              <a:ext uri="{FF2B5EF4-FFF2-40B4-BE49-F238E27FC236}">
                <a16:creationId xmlns:a16="http://schemas.microsoft.com/office/drawing/2014/main" id="{AAFD3A7B-E6F8-F21E-6AFD-F8BA4106F8EE}"/>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2688433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9479-E91B-70F3-9F32-D38FB663D1E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185CD42-316A-B1E7-32AA-424D5D56A78D}"/>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6.2.1 </a:t>
            </a:r>
            <a:r>
              <a:rPr lang="zh-CN" altLang="en-US" dirty="0"/>
              <a:t>深度优先搜索</a:t>
            </a:r>
            <a:r>
              <a:rPr lang="en-US" altLang="zh-CN" dirty="0"/>
              <a:t>——</a:t>
            </a:r>
            <a:r>
              <a:rPr lang="zh-CN" altLang="en-US" dirty="0"/>
              <a:t>无向图的情况</a:t>
            </a:r>
            <a:r>
              <a:rPr lang="en-US" altLang="zh-CN" dirty="0"/>
              <a:t> </a:t>
            </a:r>
            <a:endParaRPr lang="zh-CN" altLang="en-US" dirty="0"/>
          </a:p>
        </p:txBody>
      </p:sp>
      <p:sp>
        <p:nvSpPr>
          <p:cNvPr id="320515" name="Rectangle 3">
            <a:extLst>
              <a:ext uri="{FF2B5EF4-FFF2-40B4-BE49-F238E27FC236}">
                <a16:creationId xmlns:a16="http://schemas.microsoft.com/office/drawing/2014/main" id="{23B73316-E8B5-4001-CCC1-5F95B8576889}"/>
              </a:ext>
            </a:extLst>
          </p:cNvPr>
          <p:cNvSpPr>
            <a:spLocks noGrp="1"/>
          </p:cNvSpPr>
          <p:nvPr>
            <p:ph type="body" sz="half" idx="1"/>
          </p:nvPr>
        </p:nvSpPr>
        <p:spPr>
          <a:xfrm>
            <a:off x="533400" y="1295400"/>
            <a:ext cx="8229600" cy="3886200"/>
          </a:xfrm>
          <a:ln/>
        </p:spPr>
        <p:txBody>
          <a:bodyPr vert="horz" wrap="square" lIns="91440" tIns="45720" rIns="91440" bIns="45720" anchor="t" anchorCtr="0"/>
          <a:lstStyle/>
          <a:p>
            <a:r>
              <a:rPr lang="zh-CN" altLang="en-US" sz="2400" dirty="0"/>
              <a:t>例 </a:t>
            </a:r>
            <a:r>
              <a:rPr lang="en-US" altLang="zh-CN" sz="2400" dirty="0"/>
              <a:t>9.1 </a:t>
            </a:r>
            <a:r>
              <a:rPr lang="zh-CN" altLang="en-US" sz="2400" dirty="0"/>
              <a:t>图</a:t>
            </a:r>
            <a:r>
              <a:rPr lang="en-US" altLang="zh-CN" sz="2400" dirty="0"/>
              <a:t>9.1(b)</a:t>
            </a:r>
            <a:r>
              <a:rPr lang="zh-CN" altLang="en-US" sz="2400" dirty="0"/>
              <a:t>阐明了在图</a:t>
            </a:r>
            <a:r>
              <a:rPr lang="en-US" altLang="zh-CN" sz="2400" dirty="0"/>
              <a:t>9.1(a)</a:t>
            </a:r>
            <a:r>
              <a:rPr lang="zh-CN" altLang="en-US" sz="2400" dirty="0"/>
              <a:t>所示的无向图上进行深度优先搜索遍历的行为。顶点</a:t>
            </a:r>
            <a:r>
              <a:rPr lang="en-US" altLang="zh-CN" sz="2400" dirty="0"/>
              <a:t>a</a:t>
            </a:r>
            <a:r>
              <a:rPr lang="zh-CN" altLang="en-US" sz="2400" dirty="0"/>
              <a:t>被选做起始点，深度优先搜索树如图</a:t>
            </a:r>
            <a:r>
              <a:rPr lang="en-US" altLang="zh-CN" sz="2400" dirty="0"/>
              <a:t>9.1(b)</a:t>
            </a:r>
            <a:r>
              <a:rPr lang="zh-CN" altLang="en-US" sz="2400" dirty="0"/>
              <a:t>用实线表示，虚线表示回边，在深度优先搜索树中的每一个顶点标上了两个数</a:t>
            </a:r>
            <a:r>
              <a:rPr lang="en-US" altLang="zh-CN" sz="2400" dirty="0"/>
              <a:t>:</a:t>
            </a:r>
            <a:r>
              <a:rPr lang="en-US" altLang="zh-CN" sz="2400" dirty="0" err="1"/>
              <a:t>predfn</a:t>
            </a:r>
            <a:r>
              <a:rPr lang="zh-CN" altLang="en-US" sz="2400" dirty="0"/>
              <a:t>和</a:t>
            </a:r>
            <a:r>
              <a:rPr lang="en-US" altLang="zh-CN" sz="2400" dirty="0" err="1"/>
              <a:t>postdn</a:t>
            </a:r>
            <a:r>
              <a:rPr lang="zh-CN" altLang="en-US" sz="2400" dirty="0"/>
              <a:t>。注意，由于顶点</a:t>
            </a:r>
            <a:r>
              <a:rPr lang="en-US" altLang="zh-CN" sz="2400" dirty="0"/>
              <a:t>e</a:t>
            </a:r>
            <a:r>
              <a:rPr lang="zh-CN" altLang="en-US" sz="2400" dirty="0"/>
              <a:t>有</a:t>
            </a:r>
            <a:r>
              <a:rPr lang="en-US" altLang="zh-CN" sz="2400" dirty="0" err="1"/>
              <a:t>postdfn</a:t>
            </a:r>
            <a:r>
              <a:rPr lang="en-US" altLang="zh-CN" sz="2400" dirty="0"/>
              <a:t> =1,</a:t>
            </a:r>
            <a:r>
              <a:rPr lang="zh-CN" altLang="en-US" sz="2400" dirty="0"/>
              <a:t>它是完成深度优先搜索的第一个顶点，又注意到，由于图是连通的，起始点用 </a:t>
            </a:r>
            <a:r>
              <a:rPr lang="en-US" altLang="zh-CN" sz="2400" dirty="0" err="1"/>
              <a:t>predf</a:t>
            </a:r>
            <a:r>
              <a:rPr lang="en-US" altLang="zh-CN" sz="2400" dirty="0"/>
              <a:t> =1</a:t>
            </a:r>
            <a:r>
              <a:rPr lang="zh-CN" altLang="en-US" sz="2400" dirty="0"/>
              <a:t>和</a:t>
            </a:r>
            <a:r>
              <a:rPr lang="en-US" altLang="zh-CN" sz="2400" dirty="0" err="1"/>
              <a:t>postdf</a:t>
            </a:r>
            <a:r>
              <a:rPr lang="en-US" altLang="zh-CN" sz="2400" dirty="0"/>
              <a:t>=10</a:t>
            </a:r>
            <a:r>
              <a:rPr lang="zh-CN" altLang="en-US" sz="2400" dirty="0"/>
              <a:t>标号，</a:t>
            </a:r>
            <a:r>
              <a:rPr lang="en-US" altLang="zh-CN" sz="2400" dirty="0"/>
              <a:t>10</a:t>
            </a:r>
            <a:r>
              <a:rPr lang="zh-CN" altLang="en-US" sz="2400" dirty="0"/>
              <a:t>是图中的顶点数。</a:t>
            </a:r>
          </a:p>
          <a:p>
            <a:endParaRPr lang="zh-CN" altLang="en-US" sz="1800" dirty="0"/>
          </a:p>
        </p:txBody>
      </p:sp>
      <p:sp>
        <p:nvSpPr>
          <p:cNvPr id="10312" name="页脚占位符 3">
            <a:extLst>
              <a:ext uri="{FF2B5EF4-FFF2-40B4-BE49-F238E27FC236}">
                <a16:creationId xmlns:a16="http://schemas.microsoft.com/office/drawing/2014/main" id="{0CBDD86F-8B78-DEA0-3D6F-B57F5FF165FC}"/>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3" name="图片 2">
            <a:extLst>
              <a:ext uri="{FF2B5EF4-FFF2-40B4-BE49-F238E27FC236}">
                <a16:creationId xmlns:a16="http://schemas.microsoft.com/office/drawing/2014/main" id="{84D8846E-DECE-CB28-BE03-F006F66BC9DE}"/>
              </a:ext>
            </a:extLst>
          </p:cNvPr>
          <p:cNvPicPr>
            <a:picLocks noChangeAspect="1"/>
          </p:cNvPicPr>
          <p:nvPr/>
        </p:nvPicPr>
        <p:blipFill>
          <a:blip r:embed="rId3"/>
          <a:stretch>
            <a:fillRect/>
          </a:stretch>
        </p:blipFill>
        <p:spPr>
          <a:xfrm>
            <a:off x="1741165" y="1676400"/>
            <a:ext cx="7402835" cy="4084779"/>
          </a:xfrm>
          <a:prstGeom prst="rect">
            <a:avLst/>
          </a:prstGeom>
        </p:spPr>
      </p:pic>
    </p:spTree>
    <p:extLst>
      <p:ext uri="{BB962C8B-B14F-4D97-AF65-F5344CB8AC3E}">
        <p14:creationId xmlns:p14="http://schemas.microsoft.com/office/powerpoint/2010/main" val="30620468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08F03-3702-E086-3E05-CBA207A1066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ADBD465-6BAE-789D-83B9-64179D2D1F6E}"/>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6.2.2 </a:t>
            </a:r>
            <a:r>
              <a:rPr lang="zh-CN" altLang="en-US" dirty="0"/>
              <a:t>深度优先搜索</a:t>
            </a:r>
            <a:r>
              <a:rPr lang="en-US" altLang="zh-CN" dirty="0"/>
              <a:t>——</a:t>
            </a:r>
            <a:r>
              <a:rPr lang="zh-CN" altLang="en-US" dirty="0"/>
              <a:t>有向图的情况</a:t>
            </a:r>
            <a:r>
              <a:rPr lang="en-US" altLang="zh-CN" dirty="0"/>
              <a:t> </a:t>
            </a:r>
            <a:endParaRPr lang="zh-CN" altLang="en-US" dirty="0"/>
          </a:p>
        </p:txBody>
      </p:sp>
      <p:sp>
        <p:nvSpPr>
          <p:cNvPr id="320515" name="Rectangle 3">
            <a:extLst>
              <a:ext uri="{FF2B5EF4-FFF2-40B4-BE49-F238E27FC236}">
                <a16:creationId xmlns:a16="http://schemas.microsoft.com/office/drawing/2014/main" id="{ED35FFDE-F824-4B83-9EF5-1CBFED559322}"/>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000" dirty="0"/>
              <a:t>有向图中的深度优先搜索导致了一个或多个</a:t>
            </a:r>
            <a:r>
              <a:rPr lang="en-US" altLang="zh-CN" sz="2000" dirty="0"/>
              <a:t>(</a:t>
            </a:r>
            <a:r>
              <a:rPr lang="zh-CN" altLang="en-US" sz="2000" dirty="0"/>
              <a:t>有向</a:t>
            </a:r>
            <a:r>
              <a:rPr lang="en-US" altLang="zh-CN" sz="2000" dirty="0"/>
              <a:t>)</a:t>
            </a:r>
            <a:r>
              <a:rPr lang="zh-CN" altLang="en-US" sz="2000" dirty="0"/>
              <a:t>生成树</a:t>
            </a:r>
            <a:r>
              <a:rPr lang="en-US" altLang="zh-CN" sz="2000" dirty="0"/>
              <a:t>,</a:t>
            </a:r>
            <a:r>
              <a:rPr lang="zh-CN" altLang="en-US" sz="2000" dirty="0"/>
              <a:t>树的多少取决于起始点。如果</a:t>
            </a:r>
            <a:r>
              <a:rPr lang="en-US" altLang="zh-CN" sz="2000" dirty="0"/>
              <a:t>v</a:t>
            </a:r>
            <a:r>
              <a:rPr lang="zh-CN" altLang="en-US" sz="2000" dirty="0"/>
              <a:t>是起始点，深度优先搜索一棵树，它由从</a:t>
            </a:r>
            <a:r>
              <a:rPr lang="en-US" altLang="zh-CN" sz="2000" dirty="0"/>
              <a:t>v</a:t>
            </a:r>
            <a:r>
              <a:rPr lang="zh-CN" altLang="en-US" sz="2000" dirty="0"/>
              <a:t>出发所有可到达的顶点组成。如果那棵树没有包括所有的顶点，搜索从另一个未访问过的称为</a:t>
            </a:r>
            <a:r>
              <a:rPr lang="en-US" altLang="zh-CN" sz="2000" dirty="0"/>
              <a:t>w</a:t>
            </a:r>
            <a:r>
              <a:rPr lang="zh-CN" altLang="en-US" sz="2000" dirty="0"/>
              <a:t>的顶点再继续</a:t>
            </a:r>
            <a:r>
              <a:rPr lang="en-US" altLang="zh-CN" sz="2000" dirty="0"/>
              <a:t>,</a:t>
            </a:r>
            <a:r>
              <a:rPr lang="zh-CN" altLang="en-US" sz="2000" dirty="0"/>
              <a:t>构建一棵从</a:t>
            </a:r>
            <a:r>
              <a:rPr lang="en-US" altLang="zh-CN" sz="2000" dirty="0"/>
              <a:t>w</a:t>
            </a:r>
            <a:r>
              <a:rPr lang="zh-CN" altLang="en-US" sz="2000" dirty="0"/>
              <a:t>可到达的所有未访问顶点组成的树，这个过程继续下去直到所有的顶点都被访问过。</a:t>
            </a:r>
            <a:endParaRPr lang="en-US" altLang="zh-CN" sz="2000" dirty="0"/>
          </a:p>
          <a:p>
            <a:r>
              <a:rPr lang="zh-CN" altLang="en-US" sz="2000" dirty="0"/>
              <a:t>在有向图的深度优先搜索遍历中，</a:t>
            </a:r>
            <a:r>
              <a:rPr lang="en-US" altLang="zh-CN" sz="2000" dirty="0"/>
              <a:t>G</a:t>
            </a:r>
            <a:r>
              <a:rPr lang="zh-CN" altLang="en-US" sz="2000" dirty="0"/>
              <a:t>的边分成</a:t>
            </a:r>
            <a:r>
              <a:rPr lang="en-US" altLang="zh-CN" sz="2000" dirty="0"/>
              <a:t>4</a:t>
            </a:r>
            <a:r>
              <a:rPr lang="zh-CN" altLang="en-US" sz="2000" dirty="0"/>
              <a:t>种类型。</a:t>
            </a:r>
            <a:endParaRPr lang="en-US" altLang="zh-CN" sz="2000" dirty="0"/>
          </a:p>
          <a:p>
            <a:pPr lvl="1"/>
            <a:r>
              <a:rPr lang="zh-CN" altLang="en-US" sz="2100" dirty="0"/>
              <a:t>树边</a:t>
            </a:r>
            <a:r>
              <a:rPr lang="en-US" altLang="zh-CN" sz="2100" dirty="0"/>
              <a:t>:</a:t>
            </a:r>
            <a:r>
              <a:rPr lang="zh-CN" altLang="en-US" sz="2100" dirty="0"/>
              <a:t>深度优先搜索树中的边。如果在探索边</a:t>
            </a:r>
            <a:r>
              <a:rPr lang="en-US" altLang="zh-CN" sz="2100" dirty="0"/>
              <a:t>(</a:t>
            </a:r>
            <a:r>
              <a:rPr lang="en-US" altLang="zh-CN" sz="2100" dirty="0" err="1"/>
              <a:t>u,w</a:t>
            </a:r>
            <a:r>
              <a:rPr lang="en-US" altLang="zh-CN" sz="2100" dirty="0"/>
              <a:t>)</a:t>
            </a:r>
            <a:r>
              <a:rPr lang="zh-CN" altLang="en-US" sz="2100" dirty="0"/>
              <a:t>时</a:t>
            </a:r>
            <a:r>
              <a:rPr lang="en-US" altLang="zh-CN" sz="2100" dirty="0"/>
              <a:t>,w</a:t>
            </a:r>
            <a:r>
              <a:rPr lang="zh-CN" altLang="en-US" sz="2100" dirty="0"/>
              <a:t>是第一次被访问</a:t>
            </a:r>
            <a:r>
              <a:rPr lang="en-US" altLang="zh-CN" sz="2100" dirty="0"/>
              <a:t>,</a:t>
            </a:r>
            <a:r>
              <a:rPr lang="zh-CN" altLang="en-US" sz="2100" dirty="0"/>
              <a:t>则</a:t>
            </a:r>
            <a:r>
              <a:rPr lang="en-US" altLang="zh-CN" sz="2100" dirty="0"/>
              <a:t>(</a:t>
            </a:r>
            <a:r>
              <a:rPr lang="en-US" altLang="zh-CN" sz="2100" dirty="0" err="1"/>
              <a:t>v,w</a:t>
            </a:r>
            <a:r>
              <a:rPr lang="en-US" altLang="zh-CN" sz="2100" dirty="0"/>
              <a:t>)</a:t>
            </a:r>
            <a:r>
              <a:rPr lang="zh-CN" altLang="en-US" sz="2100" dirty="0"/>
              <a:t>是树边</a:t>
            </a:r>
            <a:r>
              <a:rPr lang="en-US" altLang="zh-CN" sz="2100" dirty="0"/>
              <a:t>;</a:t>
            </a:r>
          </a:p>
          <a:p>
            <a:pPr lvl="1"/>
            <a:r>
              <a:rPr lang="zh-CN" altLang="en-US" sz="2100" dirty="0"/>
              <a:t>回边</a:t>
            </a:r>
            <a:r>
              <a:rPr lang="en-US" altLang="zh-CN" sz="2100" dirty="0"/>
              <a:t>:</a:t>
            </a:r>
            <a:r>
              <a:rPr lang="zh-CN" altLang="en-US" sz="2100" dirty="0"/>
              <a:t>在迄今为止构建的深度优先搜索树中</a:t>
            </a:r>
            <a:r>
              <a:rPr lang="en-US" altLang="zh-CN" sz="2100" dirty="0"/>
              <a:t>,w</a:t>
            </a:r>
            <a:r>
              <a:rPr lang="zh-CN" altLang="en-US" sz="2100" dirty="0"/>
              <a:t>是</a:t>
            </a:r>
            <a:r>
              <a:rPr lang="en-US" altLang="zh-CN" sz="2100" dirty="0"/>
              <a:t>v</a:t>
            </a:r>
            <a:r>
              <a:rPr lang="zh-CN" altLang="en-US" sz="2100" dirty="0"/>
              <a:t>的祖先</a:t>
            </a:r>
            <a:r>
              <a:rPr lang="en-US" altLang="zh-CN" sz="2100" dirty="0"/>
              <a:t>,</a:t>
            </a:r>
            <a:r>
              <a:rPr lang="zh-CN" altLang="en-US" sz="2100" dirty="0"/>
              <a:t>并且当探索</a:t>
            </a:r>
            <a:r>
              <a:rPr lang="en-US" altLang="zh-CN" sz="2100" dirty="0"/>
              <a:t>(</a:t>
            </a:r>
            <a:r>
              <a:rPr lang="en-US" altLang="zh-CN" sz="2100" dirty="0" err="1"/>
              <a:t>u,w</a:t>
            </a:r>
            <a:r>
              <a:rPr lang="en-US" altLang="zh-CN" sz="2100" dirty="0"/>
              <a:t>)</a:t>
            </a:r>
            <a:r>
              <a:rPr lang="zh-CN" altLang="en-US" sz="2100" dirty="0"/>
              <a:t>时顶点</a:t>
            </a:r>
            <a:r>
              <a:rPr lang="en-US" altLang="zh-CN" sz="2100" dirty="0"/>
              <a:t>w</a:t>
            </a:r>
            <a:r>
              <a:rPr lang="zh-CN" altLang="en-US" sz="2100" dirty="0"/>
              <a:t>已被标上已访问，这样形式的边</a:t>
            </a:r>
            <a:r>
              <a:rPr lang="en-US" altLang="zh-CN" sz="2100" dirty="0"/>
              <a:t>(</a:t>
            </a:r>
            <a:r>
              <a:rPr lang="en-US" altLang="zh-CN" sz="2100" dirty="0" err="1"/>
              <a:t>v,w</a:t>
            </a:r>
            <a:r>
              <a:rPr lang="en-US" altLang="zh-CN" sz="2100" dirty="0"/>
              <a:t>)</a:t>
            </a:r>
            <a:r>
              <a:rPr lang="zh-CN" altLang="en-US" sz="2100" dirty="0"/>
              <a:t>是回边</a:t>
            </a:r>
            <a:r>
              <a:rPr lang="en-US" altLang="zh-CN" sz="2100" dirty="0"/>
              <a:t>;</a:t>
            </a:r>
          </a:p>
          <a:p>
            <a:pPr lvl="1"/>
            <a:r>
              <a:rPr lang="zh-CN" altLang="en-US" sz="2100" dirty="0"/>
              <a:t>前向边</a:t>
            </a:r>
            <a:r>
              <a:rPr lang="en-US" altLang="zh-CN" sz="2100" dirty="0"/>
              <a:t>:</a:t>
            </a:r>
            <a:r>
              <a:rPr lang="zh-CN" altLang="en-US" sz="2100" dirty="0"/>
              <a:t>在迄今为止构建的深度优先搜索树中，</a:t>
            </a:r>
            <a:r>
              <a:rPr lang="en-US" altLang="zh-CN" sz="2100" dirty="0"/>
              <a:t>w</a:t>
            </a:r>
            <a:r>
              <a:rPr lang="zh-CN" altLang="en-US" sz="2100" dirty="0"/>
              <a:t>是</a:t>
            </a:r>
            <a:r>
              <a:rPr lang="en-US" altLang="zh-CN" sz="2100" dirty="0"/>
              <a:t>v</a:t>
            </a:r>
            <a:r>
              <a:rPr lang="zh-CN" altLang="en-US" sz="2100" dirty="0"/>
              <a:t>的后裔</a:t>
            </a:r>
            <a:r>
              <a:rPr lang="en-US" altLang="zh-CN" sz="2100" dirty="0"/>
              <a:t>,</a:t>
            </a:r>
            <a:r>
              <a:rPr lang="zh-CN" altLang="en-US" sz="2100" dirty="0"/>
              <a:t>并且当探索</a:t>
            </a:r>
            <a:r>
              <a:rPr lang="en-US" altLang="zh-CN" sz="2100" dirty="0"/>
              <a:t>(</a:t>
            </a:r>
            <a:r>
              <a:rPr lang="en-US" altLang="zh-CN" sz="2100" dirty="0" err="1"/>
              <a:t>u,w</a:t>
            </a:r>
            <a:r>
              <a:rPr lang="en-US" altLang="zh-CN" sz="2100" dirty="0"/>
              <a:t>)</a:t>
            </a:r>
            <a:r>
              <a:rPr lang="zh-CN" altLang="en-US" sz="2100" dirty="0"/>
              <a:t>时顶点</a:t>
            </a:r>
            <a:r>
              <a:rPr lang="en-US" altLang="zh-CN" sz="2100" dirty="0"/>
              <a:t>w</a:t>
            </a:r>
            <a:r>
              <a:rPr lang="zh-CN" altLang="en-US" sz="2100" dirty="0"/>
              <a:t>被标上已访问，这种形式的边</a:t>
            </a:r>
            <a:r>
              <a:rPr lang="en-US" altLang="zh-CN" sz="2100" dirty="0"/>
              <a:t>(</a:t>
            </a:r>
            <a:r>
              <a:rPr lang="en-US" altLang="zh-CN" sz="2100" dirty="0" err="1"/>
              <a:t>v,w</a:t>
            </a:r>
            <a:r>
              <a:rPr lang="en-US" altLang="zh-CN" sz="2100" dirty="0"/>
              <a:t>)</a:t>
            </a:r>
            <a:r>
              <a:rPr lang="zh-CN" altLang="en-US" sz="2100" dirty="0"/>
              <a:t>是前向边</a:t>
            </a:r>
            <a:r>
              <a:rPr lang="en-US" altLang="zh-CN" sz="2100" dirty="0"/>
              <a:t>;</a:t>
            </a:r>
          </a:p>
          <a:p>
            <a:pPr lvl="1"/>
            <a:r>
              <a:rPr lang="zh-CN" altLang="en-US" sz="2100" dirty="0"/>
              <a:t>横跨边</a:t>
            </a:r>
            <a:r>
              <a:rPr lang="en-US" altLang="zh-CN" sz="2100" dirty="0"/>
              <a:t>:</a:t>
            </a:r>
            <a:r>
              <a:rPr lang="zh-CN" altLang="en-US" sz="2100" dirty="0"/>
              <a:t>所有其他的边。</a:t>
            </a:r>
          </a:p>
        </p:txBody>
      </p:sp>
      <p:sp>
        <p:nvSpPr>
          <p:cNvPr id="10312" name="页脚占位符 3">
            <a:extLst>
              <a:ext uri="{FF2B5EF4-FFF2-40B4-BE49-F238E27FC236}">
                <a16:creationId xmlns:a16="http://schemas.microsoft.com/office/drawing/2014/main" id="{42051DDB-6417-EBC3-BDC6-18523733E7D2}"/>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49754807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531A5-F0F6-7D14-CE1F-23F14EA8657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C7DC552-0294-E113-41BD-2027016BA891}"/>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6.2.2 </a:t>
            </a:r>
            <a:r>
              <a:rPr lang="zh-CN" altLang="en-US" dirty="0"/>
              <a:t>深度优先搜索</a:t>
            </a:r>
            <a:r>
              <a:rPr lang="en-US" altLang="zh-CN" dirty="0"/>
              <a:t>——</a:t>
            </a:r>
            <a:r>
              <a:rPr lang="zh-CN" altLang="en-US" dirty="0"/>
              <a:t>有向图的情况</a:t>
            </a:r>
            <a:r>
              <a:rPr lang="en-US" altLang="zh-CN" dirty="0"/>
              <a:t> </a:t>
            </a:r>
            <a:endParaRPr lang="zh-CN" altLang="en-US" dirty="0"/>
          </a:p>
        </p:txBody>
      </p:sp>
      <p:sp>
        <p:nvSpPr>
          <p:cNvPr id="320515" name="Rectangle 3">
            <a:extLst>
              <a:ext uri="{FF2B5EF4-FFF2-40B4-BE49-F238E27FC236}">
                <a16:creationId xmlns:a16="http://schemas.microsoft.com/office/drawing/2014/main" id="{CCA05CED-43E3-E4C6-32FF-0D05235CB13C}"/>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000" dirty="0"/>
              <a:t>例</a:t>
            </a:r>
            <a:r>
              <a:rPr lang="en-US" altLang="zh-CN" sz="2000" dirty="0"/>
              <a:t>9.2 </a:t>
            </a:r>
          </a:p>
          <a:p>
            <a:r>
              <a:rPr lang="zh-CN" altLang="en-US" sz="2000" dirty="0"/>
              <a:t>图</a:t>
            </a:r>
            <a:r>
              <a:rPr lang="en-US" altLang="zh-CN" sz="2000" dirty="0"/>
              <a:t>9.2(b)</a:t>
            </a:r>
            <a:r>
              <a:rPr lang="zh-CN" altLang="en-US" sz="2000" dirty="0"/>
              <a:t>阐明了在图</a:t>
            </a:r>
            <a:r>
              <a:rPr lang="en-US" altLang="zh-CN" sz="2000" dirty="0"/>
              <a:t>9.2(a)</a:t>
            </a:r>
            <a:r>
              <a:rPr lang="zh-CN" altLang="en-US" sz="2000" dirty="0"/>
              <a:t>中所示的有向图上进行深度优先搜索遍历的行为从顶点</a:t>
            </a:r>
            <a:r>
              <a:rPr lang="en-US" altLang="zh-CN" sz="2000" dirty="0"/>
              <a:t>a</a:t>
            </a:r>
            <a:r>
              <a:rPr lang="zh-CN" altLang="en-US" sz="2000" dirty="0"/>
              <a:t>开始，依次访问</a:t>
            </a:r>
            <a:r>
              <a:rPr lang="en-US" altLang="zh-CN" sz="2000" dirty="0" err="1"/>
              <a:t>a,b,e</a:t>
            </a:r>
            <a:r>
              <a:rPr lang="zh-CN" altLang="en-US" sz="2000" dirty="0"/>
              <a:t>和</a:t>
            </a:r>
            <a:r>
              <a:rPr lang="en-US" altLang="zh-CN" sz="2000" dirty="0"/>
              <a:t>f</a:t>
            </a:r>
            <a:r>
              <a:rPr lang="zh-CN" altLang="en-US" sz="2000" dirty="0"/>
              <a:t>。当过程 </a:t>
            </a:r>
            <a:r>
              <a:rPr lang="en-US" altLang="zh-CN" sz="2000" dirty="0" err="1"/>
              <a:t>dfs</a:t>
            </a:r>
            <a:r>
              <a:rPr lang="zh-CN" altLang="en-US" sz="2000" dirty="0"/>
              <a:t>再次从顶点</a:t>
            </a:r>
            <a:r>
              <a:rPr lang="en-US" altLang="zh-CN" sz="2000" dirty="0"/>
              <a:t>c</a:t>
            </a:r>
            <a:r>
              <a:rPr lang="zh-CN" altLang="en-US" sz="2000" dirty="0"/>
              <a:t>开始，然后访问 </a:t>
            </a:r>
            <a:r>
              <a:rPr lang="en-US" altLang="zh-CN" sz="2000" dirty="0"/>
              <a:t>d</a:t>
            </a:r>
            <a:r>
              <a:rPr lang="zh-CN" altLang="en-US" sz="2000" dirty="0"/>
              <a:t>，再访问</a:t>
            </a:r>
            <a:r>
              <a:rPr lang="en-US" altLang="zh-CN" sz="2000" dirty="0"/>
              <a:t>b</a:t>
            </a:r>
            <a:r>
              <a:rPr lang="zh-CN" altLang="en-US" sz="2000" dirty="0"/>
              <a:t>后，就完成了遍历。我们注意到边</a:t>
            </a:r>
            <a:r>
              <a:rPr lang="en-US" altLang="zh-CN" sz="2000" dirty="0"/>
              <a:t>(</a:t>
            </a:r>
            <a:r>
              <a:rPr lang="en-US" altLang="zh-CN" sz="2000" dirty="0" err="1"/>
              <a:t>e,a</a:t>
            </a:r>
            <a:r>
              <a:rPr lang="en-US" altLang="zh-CN" sz="2000" dirty="0"/>
              <a:t>)</a:t>
            </a:r>
            <a:r>
              <a:rPr lang="zh-CN" altLang="en-US" sz="2000" dirty="0"/>
              <a:t>是一条回边，因为在深度优先搜索树中是</a:t>
            </a:r>
            <a:r>
              <a:rPr lang="en-US" altLang="zh-CN" sz="2000" dirty="0"/>
              <a:t>a</a:t>
            </a:r>
            <a:r>
              <a:rPr lang="zh-CN" altLang="en-US" sz="2000" dirty="0"/>
              <a:t>的后裔，并且</a:t>
            </a:r>
            <a:r>
              <a:rPr lang="en-US" altLang="zh-CN" sz="2000" dirty="0"/>
              <a:t>(</a:t>
            </a:r>
            <a:r>
              <a:rPr lang="en-US" altLang="zh-CN" sz="2000" dirty="0" err="1"/>
              <a:t>e,a</a:t>
            </a:r>
            <a:r>
              <a:rPr lang="en-US" altLang="zh-CN" sz="2000" dirty="0"/>
              <a:t>)</a:t>
            </a:r>
            <a:r>
              <a:rPr lang="zh-CN" altLang="en-US" sz="2000" dirty="0"/>
              <a:t>不是树边。另一方面，边</a:t>
            </a:r>
            <a:r>
              <a:rPr lang="en-US" altLang="zh-CN" sz="2000" dirty="0"/>
              <a:t>(</a:t>
            </a:r>
            <a:r>
              <a:rPr lang="en-US" altLang="zh-CN" sz="2000" dirty="0" err="1"/>
              <a:t>a,f</a:t>
            </a:r>
            <a:r>
              <a:rPr lang="en-US" altLang="zh-CN" sz="2000" dirty="0"/>
              <a:t>)</a:t>
            </a:r>
            <a:r>
              <a:rPr lang="zh-CN" altLang="en-US" sz="2000" dirty="0"/>
              <a:t>是一条前向边，因为在深度优先搜索树中，</a:t>
            </a:r>
            <a:r>
              <a:rPr lang="en-US" altLang="zh-CN" sz="2000" dirty="0"/>
              <a:t>a </a:t>
            </a:r>
            <a:r>
              <a:rPr lang="zh-CN" altLang="en-US" sz="2000" dirty="0"/>
              <a:t>是</a:t>
            </a:r>
            <a:r>
              <a:rPr lang="en-US" altLang="zh-CN" sz="2000" dirty="0"/>
              <a:t>f</a:t>
            </a:r>
            <a:r>
              <a:rPr lang="zh-CN" altLang="en-US" sz="2000" dirty="0"/>
              <a:t>的祖先，并且</a:t>
            </a:r>
            <a:r>
              <a:rPr lang="en-US" altLang="zh-CN" sz="2000" dirty="0"/>
              <a:t>(</a:t>
            </a:r>
            <a:r>
              <a:rPr lang="en-US" altLang="zh-CN" sz="2000" dirty="0" err="1"/>
              <a:t>a,f</a:t>
            </a:r>
            <a:r>
              <a:rPr lang="en-US" altLang="zh-CN" sz="2000" dirty="0"/>
              <a:t>)</a:t>
            </a:r>
            <a:r>
              <a:rPr lang="zh-CN" altLang="en-US" sz="2000" dirty="0"/>
              <a:t>不是树边。由于在深度优先搜索树中</a:t>
            </a:r>
            <a:r>
              <a:rPr lang="en-US" altLang="zh-CN" sz="2000" dirty="0"/>
              <a:t>e</a:t>
            </a:r>
            <a:r>
              <a:rPr lang="zh-CN" altLang="en-US" sz="2000" dirty="0"/>
              <a:t>和</a:t>
            </a:r>
            <a:r>
              <a:rPr lang="en-US" altLang="zh-CN" sz="2000" dirty="0"/>
              <a:t>f</a:t>
            </a:r>
            <a:r>
              <a:rPr lang="zh-CN" altLang="en-US" sz="2000" dirty="0"/>
              <a:t>都不互为祖先，因此边</a:t>
            </a:r>
            <a:r>
              <a:rPr lang="en-US" altLang="zh-CN" sz="2000" dirty="0"/>
              <a:t>(</a:t>
            </a:r>
            <a:r>
              <a:rPr lang="en-US" altLang="zh-CN" sz="2000" dirty="0" err="1"/>
              <a:t>f,e</a:t>
            </a:r>
            <a:r>
              <a:rPr lang="en-US" altLang="zh-CN" sz="2000" dirty="0"/>
              <a:t>)</a:t>
            </a:r>
            <a:r>
              <a:rPr lang="zh-CN" altLang="en-US" sz="2000" dirty="0"/>
              <a:t>是横跨边。显然，两条边</a:t>
            </a:r>
            <a:r>
              <a:rPr lang="en-US" altLang="zh-CN" sz="2000" dirty="0"/>
              <a:t>(</a:t>
            </a:r>
            <a:r>
              <a:rPr lang="en-US" altLang="zh-CN" sz="2000" dirty="0" err="1"/>
              <a:t>c,b</a:t>
            </a:r>
            <a:r>
              <a:rPr lang="en-US" altLang="zh-CN" sz="2000" dirty="0"/>
              <a:t>)</a:t>
            </a:r>
            <a:r>
              <a:rPr lang="zh-CN" altLang="en-US" sz="2000" dirty="0"/>
              <a:t>和</a:t>
            </a:r>
            <a:r>
              <a:rPr lang="en-US" altLang="zh-CN" sz="2000" dirty="0"/>
              <a:t>(</a:t>
            </a:r>
            <a:r>
              <a:rPr lang="en-US" altLang="zh-CN" sz="2000" dirty="0" err="1"/>
              <a:t>d,e</a:t>
            </a:r>
            <a:r>
              <a:rPr lang="en-US" altLang="zh-CN" sz="2000" dirty="0"/>
              <a:t>)</a:t>
            </a:r>
            <a:r>
              <a:rPr lang="zh-CN" altLang="en-US" sz="2000" dirty="0"/>
              <a:t>连接着两棵不同的树，它们是横跨边。注意，我们可以在访问</a:t>
            </a:r>
            <a:r>
              <a:rPr lang="en-US" altLang="zh-CN" sz="2000" dirty="0"/>
              <a:t>a</a:t>
            </a:r>
            <a:r>
              <a:rPr lang="zh-CN" altLang="en-US" sz="2000" dirty="0"/>
              <a:t>后马上访问</a:t>
            </a:r>
            <a:r>
              <a:rPr lang="en-US" altLang="zh-CN" sz="2000" dirty="0"/>
              <a:t>f</a:t>
            </a:r>
            <a:r>
              <a:rPr lang="zh-CN" altLang="en-US" sz="2000" dirty="0"/>
              <a:t>而不是</a:t>
            </a:r>
            <a:r>
              <a:rPr lang="en-US" altLang="zh-CN" sz="2000" dirty="0"/>
              <a:t>b</a:t>
            </a:r>
            <a:r>
              <a:rPr lang="zh-CN" altLang="en-US" sz="2000" dirty="0"/>
              <a:t>，这样的话</a:t>
            </a:r>
            <a:r>
              <a:rPr lang="en-US" altLang="zh-CN" sz="2000" dirty="0"/>
              <a:t>,(</a:t>
            </a:r>
            <a:r>
              <a:rPr lang="en-US" altLang="zh-CN" sz="2000" dirty="0" err="1"/>
              <a:t>a,b</a:t>
            </a:r>
            <a:r>
              <a:rPr lang="en-US" altLang="zh-CN" sz="2000" dirty="0"/>
              <a:t>)</a:t>
            </a:r>
            <a:r>
              <a:rPr lang="zh-CN" altLang="en-US" sz="2000" dirty="0"/>
              <a:t>和</a:t>
            </a:r>
            <a:r>
              <a:rPr lang="en-US" altLang="zh-CN" sz="2000" dirty="0"/>
              <a:t>(a,/)</a:t>
            </a:r>
            <a:r>
              <a:rPr lang="zh-CN" altLang="en-US" sz="2000" dirty="0"/>
              <a:t>都将是树边，在这种情况下</a:t>
            </a:r>
            <a:r>
              <a:rPr lang="en-US" altLang="zh-CN" sz="2000" dirty="0"/>
              <a:t>,</a:t>
            </a:r>
            <a:r>
              <a:rPr lang="zh-CN" altLang="en-US" sz="2000" dirty="0"/>
              <a:t>深度优先搜索遍历的结果如图</a:t>
            </a:r>
            <a:r>
              <a:rPr lang="en-US" altLang="zh-CN" sz="2000" dirty="0"/>
              <a:t>9.2(c)</a:t>
            </a:r>
            <a:r>
              <a:rPr lang="zh-CN" altLang="en-US" sz="2000" dirty="0"/>
              <a:t>所示。因此边的类型取决于顶点被访问的次序。</a:t>
            </a:r>
            <a:endParaRPr lang="zh-CN" altLang="en-US" sz="2100" dirty="0"/>
          </a:p>
        </p:txBody>
      </p:sp>
      <p:sp>
        <p:nvSpPr>
          <p:cNvPr id="10312" name="页脚占位符 3">
            <a:extLst>
              <a:ext uri="{FF2B5EF4-FFF2-40B4-BE49-F238E27FC236}">
                <a16:creationId xmlns:a16="http://schemas.microsoft.com/office/drawing/2014/main" id="{1F10F248-E6A0-4405-CD83-2C5637C275C7}"/>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3" name="图片 2">
            <a:extLst>
              <a:ext uri="{FF2B5EF4-FFF2-40B4-BE49-F238E27FC236}">
                <a16:creationId xmlns:a16="http://schemas.microsoft.com/office/drawing/2014/main" id="{C35C8EC4-2600-7A65-942D-5403D719ECDB}"/>
              </a:ext>
            </a:extLst>
          </p:cNvPr>
          <p:cNvPicPr>
            <a:picLocks noChangeAspect="1"/>
          </p:cNvPicPr>
          <p:nvPr/>
        </p:nvPicPr>
        <p:blipFill>
          <a:blip r:embed="rId3"/>
          <a:stretch>
            <a:fillRect/>
          </a:stretch>
        </p:blipFill>
        <p:spPr>
          <a:xfrm>
            <a:off x="3817937" y="1007264"/>
            <a:ext cx="5319713" cy="4774411"/>
          </a:xfrm>
          <a:prstGeom prst="rect">
            <a:avLst/>
          </a:prstGeom>
        </p:spPr>
      </p:pic>
    </p:spTree>
    <p:extLst>
      <p:ext uri="{BB962C8B-B14F-4D97-AF65-F5344CB8AC3E}">
        <p14:creationId xmlns:p14="http://schemas.microsoft.com/office/powerpoint/2010/main" val="15571739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064F7-7EE4-8383-02D1-04F25EE229C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1B95993-F31E-37BF-B92B-8784D2843428}"/>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6.2.3 </a:t>
            </a:r>
            <a:r>
              <a:rPr lang="zh-CN" altLang="en-US" dirty="0"/>
              <a:t>深度优先搜索</a:t>
            </a:r>
            <a:r>
              <a:rPr lang="en-US" altLang="zh-CN" dirty="0"/>
              <a:t>——</a:t>
            </a:r>
            <a:r>
              <a:rPr lang="zh-CN" altLang="en-US" dirty="0"/>
              <a:t>时间复杂性</a:t>
            </a:r>
            <a:r>
              <a:rPr lang="en-US" altLang="zh-CN" dirty="0"/>
              <a:t> </a:t>
            </a:r>
            <a:endParaRPr lang="zh-CN" altLang="en-US" dirty="0"/>
          </a:p>
        </p:txBody>
      </p:sp>
      <p:sp>
        <p:nvSpPr>
          <p:cNvPr id="320515" name="Rectangle 3">
            <a:extLst>
              <a:ext uri="{FF2B5EF4-FFF2-40B4-BE49-F238E27FC236}">
                <a16:creationId xmlns:a16="http://schemas.microsoft.com/office/drawing/2014/main" id="{B37031AA-164B-D59E-B279-C120A7C8BB14}"/>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000" dirty="0"/>
              <a:t>分析在具有</a:t>
            </a:r>
            <a:r>
              <a:rPr lang="en-US" altLang="zh-CN" sz="2000" dirty="0"/>
              <a:t>n</a:t>
            </a:r>
            <a:r>
              <a:rPr lang="zh-CN" altLang="en-US" sz="2000" dirty="0"/>
              <a:t>个顶点和</a:t>
            </a:r>
            <a:r>
              <a:rPr lang="en-US" altLang="zh-CN" sz="2000" dirty="0"/>
              <a:t>m</a:t>
            </a:r>
            <a:r>
              <a:rPr lang="zh-CN" altLang="en-US" sz="2000" dirty="0"/>
              <a:t>条边的图上用算法</a:t>
            </a:r>
            <a:r>
              <a:rPr lang="en-US" altLang="zh-CN" sz="2000" dirty="0"/>
              <a:t>DFS</a:t>
            </a:r>
            <a:r>
              <a:rPr lang="zh-CN" altLang="en-US" sz="2000" dirty="0"/>
              <a:t>时的时间复杂性。</a:t>
            </a:r>
            <a:endParaRPr lang="en-US" altLang="zh-CN" sz="2000" dirty="0"/>
          </a:p>
          <a:p>
            <a:r>
              <a:rPr lang="zh-CN" altLang="en-US" sz="2000" dirty="0"/>
              <a:t>由于一旦在顶点</a:t>
            </a:r>
            <a:r>
              <a:rPr lang="en-US" altLang="zh-CN" sz="2000" dirty="0"/>
              <a:t>v</a:t>
            </a:r>
            <a:r>
              <a:rPr lang="zh-CN" altLang="en-US" sz="2000" dirty="0"/>
              <a:t>上调用过程，就将对它标上已访问标记，因此在，上不会有更多的调用发生，于是过程调用的次数恰好是</a:t>
            </a:r>
            <a:r>
              <a:rPr lang="en-US" altLang="zh-CN" sz="2000" dirty="0"/>
              <a:t>n</a:t>
            </a:r>
            <a:r>
              <a:rPr lang="zh-CN" altLang="en-US" sz="2000" dirty="0"/>
              <a:t>次，如果把</a:t>
            </a:r>
            <a:r>
              <a:rPr lang="en-US" altLang="zh-CN" sz="2000" dirty="0"/>
              <a:t>for</a:t>
            </a:r>
            <a:r>
              <a:rPr lang="zh-CN" altLang="en-US" sz="2000" dirty="0"/>
              <a:t>循环排除在外</a:t>
            </a:r>
            <a:r>
              <a:rPr lang="en-US" altLang="zh-CN" sz="2000" dirty="0"/>
              <a:t>,</a:t>
            </a:r>
            <a:r>
              <a:rPr lang="zh-CN" altLang="en-US" sz="2000" dirty="0"/>
              <a:t>过程调用的耗费是 </a:t>
            </a:r>
            <a:r>
              <a:rPr lang="en-US" altLang="zh-CN" sz="2000" dirty="0"/>
              <a:t>Ɵ(1)</a:t>
            </a:r>
            <a:r>
              <a:rPr lang="zh-CN" altLang="en-US" sz="2000" dirty="0"/>
              <a:t>。因此排除</a:t>
            </a:r>
            <a:r>
              <a:rPr lang="en-US" altLang="zh-CN" sz="2000" dirty="0"/>
              <a:t>for </a:t>
            </a:r>
            <a:r>
              <a:rPr lang="zh-CN" altLang="en-US" sz="2000" dirty="0"/>
              <a:t>循环后，过程调用的总耗费是 </a:t>
            </a:r>
            <a:r>
              <a:rPr lang="en-US" altLang="zh-CN" sz="2000" dirty="0"/>
              <a:t>Ɵ(n)</a:t>
            </a:r>
            <a:r>
              <a:rPr lang="zh-CN" altLang="en-US" sz="2000" dirty="0"/>
              <a:t>。</a:t>
            </a:r>
            <a:endParaRPr lang="en-US" altLang="zh-CN" sz="2000" dirty="0"/>
          </a:p>
          <a:p>
            <a:r>
              <a:rPr lang="zh-CN" altLang="en-US" sz="2000" dirty="0"/>
              <a:t>算法的步骤</a:t>
            </a:r>
            <a:r>
              <a:rPr lang="en-US" altLang="zh-CN" sz="2000" dirty="0"/>
              <a:t>1</a:t>
            </a:r>
            <a:r>
              <a:rPr lang="zh-CN" altLang="en-US" sz="2000" dirty="0"/>
              <a:t>和步骤</a:t>
            </a:r>
            <a:r>
              <a:rPr lang="en-US" altLang="zh-CN" sz="2000" dirty="0"/>
              <a:t>3</a:t>
            </a:r>
            <a:r>
              <a:rPr lang="zh-CN" altLang="en-US" sz="2000" dirty="0"/>
              <a:t>分别耗费 </a:t>
            </a:r>
            <a:r>
              <a:rPr lang="en-US" altLang="zh-CN" sz="2000" dirty="0"/>
              <a:t>Ɵ(1)</a:t>
            </a:r>
            <a:r>
              <a:rPr lang="zh-CN" altLang="en-US" sz="2000" dirty="0"/>
              <a:t>和 </a:t>
            </a:r>
            <a:r>
              <a:rPr lang="en-US" altLang="zh-CN" sz="2000" dirty="0"/>
              <a:t>Ɵ(n)</a:t>
            </a:r>
            <a:r>
              <a:rPr lang="zh-CN" altLang="en-US" sz="2000" dirty="0"/>
              <a:t>时间，步骤</a:t>
            </a:r>
            <a:r>
              <a:rPr lang="en-US" altLang="zh-CN" sz="2000" dirty="0"/>
              <a:t>6</a:t>
            </a:r>
            <a:r>
              <a:rPr lang="zh-CN" altLang="en-US" sz="2000" dirty="0"/>
              <a:t>测试一个顶点是否已标记要耗费</a:t>
            </a:r>
            <a:r>
              <a:rPr lang="en-US" altLang="zh-CN" sz="2000" dirty="0"/>
              <a:t>Ɵ(n)</a:t>
            </a:r>
            <a:r>
              <a:rPr lang="zh-CN" altLang="en-US" sz="2000" dirty="0"/>
              <a:t>，现在还剩下找出过程中</a:t>
            </a:r>
            <a:r>
              <a:rPr lang="en-US" altLang="zh-CN" sz="2000" dirty="0"/>
              <a:t>for </a:t>
            </a:r>
            <a:r>
              <a:rPr lang="zh-CN" altLang="en-US" sz="2000" dirty="0"/>
              <a:t>循环的耗费。测试顶点</a:t>
            </a:r>
            <a:r>
              <a:rPr lang="en-US" altLang="zh-CN" sz="2000" dirty="0"/>
              <a:t>w</a:t>
            </a:r>
            <a:r>
              <a:rPr lang="zh-CN" altLang="en-US" sz="2000" dirty="0"/>
              <a:t>是否标记为未访问，这一步的执行次数等于顶点</a:t>
            </a:r>
            <a:r>
              <a:rPr lang="en-US" altLang="zh-CN" sz="2000" dirty="0"/>
              <a:t>v</a:t>
            </a:r>
            <a:r>
              <a:rPr lang="zh-CN" altLang="en-US" sz="2000" dirty="0"/>
              <a:t>的邻接点数。因此这一步执行的总次数，在有向图的情况下等于它的边数，在无向图的情况下是边数的两倍。于是，不论是有向图还是无向图，这一步的耗费是 </a:t>
            </a:r>
            <a:r>
              <a:rPr lang="en-US" altLang="zh-CN" sz="2000" dirty="0"/>
              <a:t>Ɵ(m),</a:t>
            </a:r>
            <a:r>
              <a:rPr lang="zh-CN" altLang="en-US" sz="2000" dirty="0"/>
              <a:t>这样算法运行的时间是</a:t>
            </a:r>
            <a:r>
              <a:rPr lang="en-US" altLang="zh-CN" sz="2000" dirty="0"/>
              <a:t>Ɵ(</a:t>
            </a:r>
            <a:r>
              <a:rPr lang="en-US" altLang="zh-CN" sz="2000" dirty="0" err="1"/>
              <a:t>m+n</a:t>
            </a:r>
            <a:r>
              <a:rPr lang="en-US" altLang="zh-CN" sz="2000" dirty="0"/>
              <a:t>)</a:t>
            </a:r>
            <a:r>
              <a:rPr lang="zh-CN" altLang="en-US" sz="2000" dirty="0"/>
              <a:t>。</a:t>
            </a:r>
            <a:endParaRPr lang="en-US" altLang="zh-CN" sz="2000" dirty="0"/>
          </a:p>
          <a:p>
            <a:r>
              <a:rPr lang="zh-CN" altLang="en-US" sz="2000" dirty="0"/>
              <a:t>如果图是连通的或有 </a:t>
            </a:r>
            <a:r>
              <a:rPr lang="en-US" altLang="zh-CN" sz="2000" dirty="0" err="1"/>
              <a:t>m≥n</a:t>
            </a:r>
            <a:r>
              <a:rPr lang="zh-CN" altLang="en-US" sz="2000" dirty="0"/>
              <a:t>，则运行时间简单地为 </a:t>
            </a:r>
            <a:r>
              <a:rPr lang="en-US" altLang="zh-CN" sz="2000" dirty="0"/>
              <a:t>Ɵ(m)</a:t>
            </a:r>
            <a:r>
              <a:rPr lang="zh-CN" altLang="en-US" sz="2000" dirty="0"/>
              <a:t>。但是必须强调的是，图假设是用邻接表表示的。</a:t>
            </a:r>
            <a:endParaRPr lang="zh-CN" altLang="en-US" sz="2100" dirty="0"/>
          </a:p>
        </p:txBody>
      </p:sp>
      <p:sp>
        <p:nvSpPr>
          <p:cNvPr id="10312" name="页脚占位符 3">
            <a:extLst>
              <a:ext uri="{FF2B5EF4-FFF2-40B4-BE49-F238E27FC236}">
                <a16:creationId xmlns:a16="http://schemas.microsoft.com/office/drawing/2014/main" id="{A09EDEDA-FCCD-6069-9B51-8A7C36411591}"/>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74874797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2C34-C81D-0182-6EB0-96811047C22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0E1D4D4-1F98-5FB8-C430-BA28B8F60CF4}"/>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 </a:t>
            </a:r>
            <a:r>
              <a:rPr lang="zh-CN" altLang="en-US" dirty="0"/>
              <a:t>深度优先搜索的应用</a:t>
            </a:r>
          </a:p>
        </p:txBody>
      </p:sp>
      <p:sp>
        <p:nvSpPr>
          <p:cNvPr id="320515" name="Rectangle 3">
            <a:extLst>
              <a:ext uri="{FF2B5EF4-FFF2-40B4-BE49-F238E27FC236}">
                <a16:creationId xmlns:a16="http://schemas.microsoft.com/office/drawing/2014/main" id="{DBB23E4F-6976-60A1-2CD2-0D7AEB603930}"/>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400" dirty="0"/>
              <a:t>深度优先搜索在图和几何算法中用得很普遍。这是一个强有力的工具，它有无数的应用，在本节中，我们列举它的一些重要应用。</a:t>
            </a:r>
            <a:endParaRPr lang="en-US" altLang="zh-CN" sz="2400" dirty="0"/>
          </a:p>
        </p:txBody>
      </p:sp>
      <p:sp>
        <p:nvSpPr>
          <p:cNvPr id="10312" name="页脚占位符 3">
            <a:extLst>
              <a:ext uri="{FF2B5EF4-FFF2-40B4-BE49-F238E27FC236}">
                <a16:creationId xmlns:a16="http://schemas.microsoft.com/office/drawing/2014/main" id="{BF7352A5-8AA7-681A-6A64-C22D3313829A}"/>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4533080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4051-7B7B-FA30-6D08-73757E8DDBA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46BD201-0F4D-F102-428E-A7CCDBEB77E5}"/>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6.3.1 </a:t>
            </a:r>
            <a:r>
              <a:rPr lang="zh-CN" altLang="en-US" dirty="0"/>
              <a:t>图的无回路性</a:t>
            </a:r>
          </a:p>
        </p:txBody>
      </p:sp>
      <p:sp>
        <p:nvSpPr>
          <p:cNvPr id="320515" name="Rectangle 3">
            <a:extLst>
              <a:ext uri="{FF2B5EF4-FFF2-40B4-BE49-F238E27FC236}">
                <a16:creationId xmlns:a16="http://schemas.microsoft.com/office/drawing/2014/main" id="{73CF4526-CCE2-4233-BF20-6A4B6D0FBECE}"/>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000" dirty="0"/>
              <a:t>设</a:t>
            </a:r>
            <a:r>
              <a:rPr lang="en-US" altLang="zh-CN" sz="2000" dirty="0"/>
              <a:t>G=(V,E)</a:t>
            </a:r>
            <a:r>
              <a:rPr lang="zh-CN" altLang="en-US" sz="2000" dirty="0"/>
              <a:t>是一个有几个顶点和</a:t>
            </a:r>
            <a:r>
              <a:rPr lang="en-US" altLang="zh-CN" sz="2000" dirty="0"/>
              <a:t>m</a:t>
            </a:r>
            <a:r>
              <a:rPr lang="zh-CN" altLang="en-US" sz="2000" dirty="0"/>
              <a:t>条边的有向或无向图。为了测试</a:t>
            </a:r>
            <a:r>
              <a:rPr lang="en-US" altLang="zh-CN" sz="2000" dirty="0"/>
              <a:t>G</a:t>
            </a:r>
            <a:r>
              <a:rPr lang="zh-CN" altLang="en-US" sz="2000" dirty="0"/>
              <a:t>是否至少有一个回路，我们对</a:t>
            </a:r>
            <a:r>
              <a:rPr lang="en-US" altLang="zh-CN" sz="2000" dirty="0"/>
              <a:t>G</a:t>
            </a:r>
            <a:r>
              <a:rPr lang="zh-CN" altLang="en-US" sz="2000" dirty="0"/>
              <a:t>用深度优先搜索，如果在搜索过程中探测到一条回边，那么是有回路的</a:t>
            </a:r>
            <a:r>
              <a:rPr lang="en-US" altLang="zh-CN" sz="2000" dirty="0"/>
              <a:t>;</a:t>
            </a:r>
            <a:r>
              <a:rPr lang="zh-CN" altLang="en-US" sz="2000" dirty="0"/>
              <a:t>否则</a:t>
            </a:r>
            <a:r>
              <a:rPr lang="en-US" altLang="zh-CN" sz="2000" dirty="0"/>
              <a:t>G</a:t>
            </a:r>
            <a:r>
              <a:rPr lang="zh-CN" altLang="en-US" sz="2000" dirty="0"/>
              <a:t>是无回路的。</a:t>
            </a:r>
            <a:endParaRPr lang="en-US" altLang="zh-CN" sz="2000" dirty="0"/>
          </a:p>
          <a:p>
            <a:r>
              <a:rPr lang="zh-CN" altLang="en-US" sz="2000" dirty="0"/>
              <a:t>注意</a:t>
            </a:r>
            <a:r>
              <a:rPr lang="en-US" altLang="zh-CN" sz="2000" dirty="0"/>
              <a:t>G</a:t>
            </a:r>
            <a:r>
              <a:rPr lang="zh-CN" altLang="en-US" sz="2000" dirty="0"/>
              <a:t>可能不连通</a:t>
            </a:r>
            <a:r>
              <a:rPr lang="en-US" altLang="zh-CN" sz="2000" dirty="0"/>
              <a:t>,</a:t>
            </a:r>
            <a:r>
              <a:rPr lang="zh-CN" altLang="en-US" sz="2000" dirty="0"/>
              <a:t>如果</a:t>
            </a:r>
            <a:r>
              <a:rPr lang="en-US" altLang="zh-CN" sz="2000" dirty="0"/>
              <a:t>G</a:t>
            </a:r>
            <a:r>
              <a:rPr lang="zh-CN" altLang="en-US" sz="2000" dirty="0"/>
              <a:t>是连通无向图</a:t>
            </a:r>
            <a:r>
              <a:rPr lang="en-US" altLang="zh-CN" sz="2000" dirty="0"/>
              <a:t>,</a:t>
            </a:r>
            <a:r>
              <a:rPr lang="zh-CN" altLang="en-US" sz="2000" dirty="0"/>
              <a:t>那么不需要对图进行遍历，因为</a:t>
            </a:r>
            <a:r>
              <a:rPr lang="en-US" altLang="zh-CN" sz="2000" dirty="0"/>
              <a:t>G</a:t>
            </a:r>
            <a:r>
              <a:rPr lang="zh-CN" altLang="en-US" sz="2000" dirty="0"/>
              <a:t>是无回路的当且仅当它是一棵树</a:t>
            </a:r>
            <a:r>
              <a:rPr lang="en-US" altLang="zh-CN" sz="2000" dirty="0"/>
              <a:t>,</a:t>
            </a:r>
            <a:r>
              <a:rPr lang="zh-CN" altLang="en-US" sz="2000" dirty="0"/>
              <a:t>则当且仅当</a:t>
            </a:r>
            <a:r>
              <a:rPr lang="en-US" altLang="zh-CN" sz="2000" dirty="0"/>
              <a:t>m=n-1(</a:t>
            </a:r>
            <a:r>
              <a:rPr lang="zh-CN" altLang="en-US" sz="2000" dirty="0"/>
              <a:t>见定理</a:t>
            </a:r>
            <a:r>
              <a:rPr lang="en-US" altLang="zh-CN" sz="2000" dirty="0"/>
              <a:t>3.1)</a:t>
            </a:r>
            <a:r>
              <a:rPr lang="zh-CN" altLang="en-US" sz="2000" dirty="0"/>
              <a:t>。</a:t>
            </a:r>
            <a:endParaRPr lang="zh-CN" altLang="en-US" sz="2100" dirty="0"/>
          </a:p>
        </p:txBody>
      </p:sp>
      <p:sp>
        <p:nvSpPr>
          <p:cNvPr id="10312" name="页脚占位符 3">
            <a:extLst>
              <a:ext uri="{FF2B5EF4-FFF2-40B4-BE49-F238E27FC236}">
                <a16:creationId xmlns:a16="http://schemas.microsoft.com/office/drawing/2014/main" id="{2061C0C0-90D2-A5B8-BABA-2D534E044D48}"/>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26373443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CE81F-E5B5-457A-F55A-5BA16EBB0C7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E9EB118-E898-244E-943B-A498C561E80F}"/>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6.3.2 </a:t>
            </a:r>
            <a:r>
              <a:rPr lang="zh-CN" altLang="en-US" dirty="0"/>
              <a:t>拓扑排序</a:t>
            </a:r>
          </a:p>
        </p:txBody>
      </p:sp>
      <p:sp>
        <p:nvSpPr>
          <p:cNvPr id="320515" name="Rectangle 3">
            <a:extLst>
              <a:ext uri="{FF2B5EF4-FFF2-40B4-BE49-F238E27FC236}">
                <a16:creationId xmlns:a16="http://schemas.microsoft.com/office/drawing/2014/main" id="{5FDA87DB-736E-A7FE-AF14-EEB83DC686AC}"/>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000" dirty="0"/>
              <a:t>给出一个有向无回路图</a:t>
            </a:r>
            <a:r>
              <a:rPr lang="en-US" altLang="zh-CN" sz="2000" dirty="0"/>
              <a:t>(</a:t>
            </a:r>
            <a:r>
              <a:rPr lang="en-US" altLang="zh-CN" sz="2000" dirty="0" err="1"/>
              <a:t>dag</a:t>
            </a:r>
            <a:r>
              <a:rPr lang="en-US" altLang="zh-CN" sz="2000" dirty="0"/>
              <a:t>)G=(V,E),</a:t>
            </a:r>
            <a:r>
              <a:rPr lang="zh-CN" altLang="en-US" sz="2000" dirty="0"/>
              <a:t>拓扑排序问题是找出图顶点的一个线性序，使得如果</a:t>
            </a:r>
            <a:r>
              <a:rPr lang="en-US" altLang="zh-CN" sz="2000" dirty="0"/>
              <a:t>(</a:t>
            </a:r>
            <a:r>
              <a:rPr lang="en-US" altLang="zh-CN" sz="2000" dirty="0" err="1"/>
              <a:t>u,w</a:t>
            </a:r>
            <a:r>
              <a:rPr lang="en-US" altLang="zh-CN" sz="2000" dirty="0"/>
              <a:t>)∈E,</a:t>
            </a:r>
            <a:r>
              <a:rPr lang="zh-CN" altLang="en-US" sz="2000" dirty="0"/>
              <a:t>那么在这个序中</a:t>
            </a:r>
            <a:r>
              <a:rPr lang="en-US" altLang="zh-CN" sz="2000" dirty="0"/>
              <a:t>v</a:t>
            </a:r>
            <a:r>
              <a:rPr lang="zh-CN" altLang="en-US" sz="2000" dirty="0"/>
              <a:t>在</a:t>
            </a:r>
            <a:r>
              <a:rPr lang="en-US" altLang="zh-CN" sz="2000" dirty="0"/>
              <a:t>w</a:t>
            </a:r>
            <a:r>
              <a:rPr lang="zh-CN" altLang="en-US" sz="2000" dirty="0"/>
              <a:t>前出现。</a:t>
            </a:r>
            <a:endParaRPr lang="en-US" altLang="zh-CN" sz="2000" dirty="0"/>
          </a:p>
          <a:p>
            <a:r>
              <a:rPr lang="zh-CN" altLang="en-US" sz="2000" dirty="0"/>
              <a:t>例如</a:t>
            </a:r>
            <a:r>
              <a:rPr lang="en-US" altLang="zh-CN" sz="2000" dirty="0"/>
              <a:t>,</a:t>
            </a:r>
            <a:r>
              <a:rPr lang="zh-CN" altLang="en-US" sz="2000" dirty="0"/>
              <a:t>在图</a:t>
            </a:r>
            <a:r>
              <a:rPr lang="en-US" altLang="zh-CN" sz="2000" dirty="0"/>
              <a:t>9.3(a)</a:t>
            </a:r>
            <a:r>
              <a:rPr lang="zh-CN" altLang="en-US" sz="2000" dirty="0"/>
              <a:t>所示的有向无回路图中，顶点的一个可能的拓扑排序是</a:t>
            </a:r>
            <a:r>
              <a:rPr lang="en-US" altLang="zh-CN" sz="2000" dirty="0" err="1"/>
              <a:t>a,b,d,c,e,f,g</a:t>
            </a:r>
            <a:r>
              <a:rPr lang="zh-CN" altLang="en-US" sz="2000" dirty="0"/>
              <a:t>。我们将假设在这种有向无回路图中有一个人度是</a:t>
            </a:r>
            <a:r>
              <a:rPr lang="en-US" altLang="zh-CN" sz="2000" dirty="0"/>
              <a:t>0</a:t>
            </a:r>
            <a:r>
              <a:rPr lang="zh-CN" altLang="en-US" sz="2000" dirty="0"/>
              <a:t>的惟一的顶点</a:t>
            </a:r>
            <a:r>
              <a:rPr lang="en-US" altLang="zh-CN" sz="2000" dirty="0"/>
              <a:t>s,</a:t>
            </a:r>
            <a:r>
              <a:rPr lang="zh-CN" altLang="en-US" sz="2000" dirty="0"/>
              <a:t>如果不是的话，我们可以简单地添一个新的点</a:t>
            </a:r>
            <a:r>
              <a:rPr lang="en-US" altLang="zh-CN" sz="2000" dirty="0"/>
              <a:t>s</a:t>
            </a:r>
            <a:r>
              <a:rPr lang="zh-CN" altLang="en-US" sz="2000" dirty="0"/>
              <a:t>，然后让</a:t>
            </a:r>
            <a:r>
              <a:rPr lang="en-US" altLang="zh-CN" sz="2000" dirty="0"/>
              <a:t>s</a:t>
            </a:r>
            <a:r>
              <a:rPr lang="zh-CN" altLang="en-US" sz="2000" dirty="0"/>
              <a:t>到所有人度为</a:t>
            </a:r>
            <a:r>
              <a:rPr lang="en-US" altLang="zh-CN" sz="2000" dirty="0"/>
              <a:t>0</a:t>
            </a:r>
            <a:r>
              <a:rPr lang="zh-CN" altLang="en-US" sz="2000" dirty="0"/>
              <a:t>的点加上边，见图</a:t>
            </a:r>
            <a:r>
              <a:rPr lang="en-US" altLang="zh-CN" sz="2000" dirty="0"/>
              <a:t>9.3(b)</a:t>
            </a:r>
            <a:r>
              <a:rPr lang="zh-CN" altLang="en-US" sz="2000" dirty="0"/>
              <a:t>。</a:t>
            </a:r>
            <a:endParaRPr lang="en-US" altLang="zh-CN" sz="2000" dirty="0"/>
          </a:p>
          <a:p>
            <a:r>
              <a:rPr lang="zh-CN" altLang="en-US" sz="2000" dirty="0"/>
              <a:t>接下来，我们从顶点</a:t>
            </a:r>
            <a:r>
              <a:rPr lang="en-US" altLang="zh-CN" sz="2000" dirty="0"/>
              <a:t>s</a:t>
            </a:r>
            <a:r>
              <a:rPr lang="zh-CN" altLang="en-US" sz="2000" dirty="0"/>
              <a:t>起，简单地对图</a:t>
            </a:r>
            <a:r>
              <a:rPr lang="en-US" altLang="zh-CN" sz="2000" dirty="0"/>
              <a:t>G</a:t>
            </a:r>
            <a:r>
              <a:rPr lang="zh-CN" altLang="en-US" sz="2000" dirty="0"/>
              <a:t>执行深度优先搜索。当遍历完成时，计数器</a:t>
            </a:r>
            <a:r>
              <a:rPr lang="en-US" altLang="zh-CN" sz="2000" dirty="0" err="1"/>
              <a:t>postdfn</a:t>
            </a:r>
            <a:r>
              <a:rPr lang="en-US" altLang="zh-CN" sz="2000" dirty="0"/>
              <a:t> </a:t>
            </a:r>
            <a:r>
              <a:rPr lang="zh-CN" altLang="en-US" sz="2000" dirty="0"/>
              <a:t>定义了一个在有向无回路图中顶点的反拓扑序</a:t>
            </a:r>
            <a:r>
              <a:rPr lang="en-US" altLang="zh-CN" sz="2000" dirty="0"/>
              <a:t>,</a:t>
            </a:r>
            <a:r>
              <a:rPr lang="zh-CN" altLang="en-US" sz="2000" dirty="0"/>
              <a:t>于是</a:t>
            </a:r>
            <a:r>
              <a:rPr lang="en-US" altLang="zh-CN" sz="2000" dirty="0"/>
              <a:t>,</a:t>
            </a:r>
            <a:r>
              <a:rPr lang="zh-CN" altLang="en-US" sz="2000" dirty="0"/>
              <a:t>为了得到这个拓扑序，可以在算法 </a:t>
            </a:r>
            <a:r>
              <a:rPr lang="en-US" altLang="zh-CN" sz="2000" dirty="0"/>
              <a:t>DFS</a:t>
            </a:r>
            <a:r>
              <a:rPr lang="zh-CN" altLang="en-US" sz="2000" dirty="0"/>
              <a:t>中恰在计数器 </a:t>
            </a:r>
            <a:r>
              <a:rPr lang="en-US" altLang="zh-CN" sz="2000" dirty="0" err="1"/>
              <a:t>postdfn</a:t>
            </a:r>
            <a:r>
              <a:rPr lang="en-US" altLang="zh-CN" sz="2000" dirty="0"/>
              <a:t> </a:t>
            </a:r>
            <a:r>
              <a:rPr lang="zh-CN" altLang="en-US" sz="2000" dirty="0"/>
              <a:t>刚好被增加后</a:t>
            </a:r>
            <a:r>
              <a:rPr lang="en-US" altLang="zh-CN" sz="2000" dirty="0"/>
              <a:t>,</a:t>
            </a:r>
            <a:r>
              <a:rPr lang="zh-CN" altLang="en-US" sz="2000" dirty="0"/>
              <a:t>加上一个输出步</a:t>
            </a:r>
            <a:r>
              <a:rPr lang="en-US" altLang="zh-CN" sz="2000" dirty="0"/>
              <a:t>,</a:t>
            </a:r>
            <a:r>
              <a:rPr lang="zh-CN" altLang="en-US" sz="2000" dirty="0"/>
              <a:t>把输出结果反转过来就是我们需要的拓扑序。</a:t>
            </a:r>
            <a:endParaRPr lang="zh-CN" altLang="en-US" sz="2100" dirty="0"/>
          </a:p>
        </p:txBody>
      </p:sp>
      <p:sp>
        <p:nvSpPr>
          <p:cNvPr id="10312" name="页脚占位符 3">
            <a:extLst>
              <a:ext uri="{FF2B5EF4-FFF2-40B4-BE49-F238E27FC236}">
                <a16:creationId xmlns:a16="http://schemas.microsoft.com/office/drawing/2014/main" id="{CD3B4022-FA67-751A-B78E-8E9D8ABA6C76}"/>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3" name="图片 2">
            <a:extLst>
              <a:ext uri="{FF2B5EF4-FFF2-40B4-BE49-F238E27FC236}">
                <a16:creationId xmlns:a16="http://schemas.microsoft.com/office/drawing/2014/main" id="{0CB3988A-C113-9C69-E71E-26ED5201D978}"/>
              </a:ext>
            </a:extLst>
          </p:cNvPr>
          <p:cNvPicPr>
            <a:picLocks noChangeAspect="1"/>
          </p:cNvPicPr>
          <p:nvPr/>
        </p:nvPicPr>
        <p:blipFill>
          <a:blip r:embed="rId3"/>
          <a:stretch>
            <a:fillRect/>
          </a:stretch>
        </p:blipFill>
        <p:spPr>
          <a:xfrm>
            <a:off x="1399260" y="4532301"/>
            <a:ext cx="6650280" cy="2293949"/>
          </a:xfrm>
          <a:prstGeom prst="rect">
            <a:avLst/>
          </a:prstGeom>
        </p:spPr>
      </p:pic>
    </p:spTree>
    <p:extLst>
      <p:ext uri="{BB962C8B-B14F-4D97-AF65-F5344CB8AC3E}">
        <p14:creationId xmlns:p14="http://schemas.microsoft.com/office/powerpoint/2010/main" val="3434345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3BC5-A0B9-E3D7-A354-1A733C52FAF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700DAA2-6ACB-E01B-739A-EE62904497B7}"/>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6.3.2 </a:t>
            </a:r>
            <a:r>
              <a:rPr lang="zh-CN" altLang="en-US" dirty="0"/>
              <a:t>寻找图的关节点</a:t>
            </a:r>
          </a:p>
        </p:txBody>
      </p:sp>
      <p:sp>
        <p:nvSpPr>
          <p:cNvPr id="320515" name="Rectangle 3">
            <a:extLst>
              <a:ext uri="{FF2B5EF4-FFF2-40B4-BE49-F238E27FC236}">
                <a16:creationId xmlns:a16="http://schemas.microsoft.com/office/drawing/2014/main" id="{F1CC5507-B461-0B59-FFFE-C48155A521D5}"/>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000" dirty="0"/>
              <a:t>在多于两个顶点的无向图</a:t>
            </a:r>
            <a:r>
              <a:rPr lang="en-US" altLang="zh-CN" sz="2000" dirty="0"/>
              <a:t>G</a:t>
            </a:r>
            <a:r>
              <a:rPr lang="zh-CN" altLang="en-US" sz="2000" dirty="0"/>
              <a:t>中，存在一个顶点，如果有不同于</a:t>
            </a:r>
            <a:r>
              <a:rPr lang="en-US" altLang="zh-CN" sz="2000" dirty="0"/>
              <a:t>v</a:t>
            </a:r>
            <a:r>
              <a:rPr lang="zh-CN" altLang="en-US" sz="2000" dirty="0"/>
              <a:t>的两个顶点</a:t>
            </a:r>
            <a:r>
              <a:rPr lang="en-US" altLang="zh-CN" sz="2000" dirty="0"/>
              <a:t>u</a:t>
            </a:r>
            <a:r>
              <a:rPr lang="zh-CN" altLang="en-US" sz="2000" dirty="0"/>
              <a:t>和</a:t>
            </a:r>
            <a:r>
              <a:rPr lang="en-US" altLang="zh-CN" sz="2000" dirty="0"/>
              <a:t>w,</a:t>
            </a:r>
            <a:r>
              <a:rPr lang="zh-CN" altLang="en-US" sz="2000" dirty="0"/>
              <a:t>在</a:t>
            </a:r>
            <a:r>
              <a:rPr lang="en-US" altLang="zh-CN" sz="2000" dirty="0"/>
              <a:t>u</a:t>
            </a:r>
            <a:r>
              <a:rPr lang="zh-CN" altLang="en-US" sz="2000" dirty="0"/>
              <a:t>和</a:t>
            </a:r>
            <a:r>
              <a:rPr lang="en-US" altLang="zh-CN" sz="2000" dirty="0"/>
              <a:t>w</a:t>
            </a:r>
            <a:r>
              <a:rPr lang="zh-CN" altLang="en-US" sz="2000" dirty="0"/>
              <a:t>间的任何路径都必定经过顶点，则</a:t>
            </a:r>
            <a:r>
              <a:rPr lang="en-US" altLang="zh-CN" sz="2000" dirty="0"/>
              <a:t>v</a:t>
            </a:r>
            <a:r>
              <a:rPr lang="zh-CN" altLang="en-US" sz="2000" dirty="0"/>
              <a:t>称为关节点。这样，如果</a:t>
            </a:r>
            <a:r>
              <a:rPr lang="en-US" altLang="zh-CN" sz="2000" dirty="0"/>
              <a:t>G</a:t>
            </a:r>
            <a:r>
              <a:rPr lang="zh-CN" altLang="en-US" sz="2000" dirty="0"/>
              <a:t>是连通的，移去</a:t>
            </a:r>
            <a:r>
              <a:rPr lang="en-US" altLang="zh-CN" sz="2000" dirty="0"/>
              <a:t>v</a:t>
            </a:r>
            <a:r>
              <a:rPr lang="zh-CN" altLang="en-US" sz="2000" dirty="0"/>
              <a:t>和与它关联的边，将产生</a:t>
            </a:r>
            <a:r>
              <a:rPr lang="en-US" altLang="zh-CN" sz="2000" dirty="0"/>
              <a:t>G</a:t>
            </a:r>
            <a:r>
              <a:rPr lang="zh-CN" altLang="en-US" sz="2000" dirty="0"/>
              <a:t>的不连通子图。一个图如果是连通的并且没有关节点则称为是双连通的。</a:t>
            </a:r>
            <a:endParaRPr lang="en-US" altLang="zh-CN" sz="2000" dirty="0"/>
          </a:p>
          <a:p>
            <a:r>
              <a:rPr lang="zh-CN" altLang="en-US" sz="2000" dirty="0"/>
              <a:t>为了找出关节点的集合，在图</a:t>
            </a:r>
            <a:r>
              <a:rPr lang="en-US" altLang="zh-CN" sz="2000" dirty="0"/>
              <a:t>G</a:t>
            </a:r>
            <a:r>
              <a:rPr lang="zh-CN" altLang="en-US" sz="2000" dirty="0"/>
              <a:t>上执行一个深度优先搜索遍历，在遍历的过程中，对每个顶点</a:t>
            </a:r>
            <a:r>
              <a:rPr lang="en-US" altLang="zh-CN" sz="2000" dirty="0"/>
              <a:t>v</a:t>
            </a:r>
            <a:r>
              <a:rPr lang="zh-CN" altLang="en-US" sz="2000" dirty="0"/>
              <a:t>保持两个标号</a:t>
            </a:r>
            <a:r>
              <a:rPr lang="en-US" altLang="zh-CN" sz="2000" dirty="0"/>
              <a:t>: </a:t>
            </a:r>
            <a:r>
              <a:rPr lang="el-GR" altLang="zh-CN" sz="2000" dirty="0"/>
              <a:t>α</a:t>
            </a:r>
            <a:r>
              <a:rPr lang="en-US" altLang="zh-CN" sz="2000" dirty="0"/>
              <a:t>[v]</a:t>
            </a:r>
            <a:r>
              <a:rPr lang="zh-CN" altLang="en-US" sz="2000" dirty="0"/>
              <a:t>和 </a:t>
            </a:r>
            <a:r>
              <a:rPr lang="el-GR" altLang="zh-CN" sz="2000" dirty="0"/>
              <a:t>β</a:t>
            </a:r>
            <a:r>
              <a:rPr lang="en-US" altLang="zh-CN" sz="2000" dirty="0"/>
              <a:t>[v]</a:t>
            </a:r>
            <a:r>
              <a:rPr lang="zh-CN" altLang="en-US" sz="2000" dirty="0"/>
              <a:t>，</a:t>
            </a:r>
            <a:r>
              <a:rPr lang="el-GR" altLang="zh-CN" sz="2000" dirty="0"/>
              <a:t> α</a:t>
            </a:r>
            <a:r>
              <a:rPr lang="en-US" altLang="zh-CN" sz="2000" dirty="0"/>
              <a:t>[v]</a:t>
            </a:r>
            <a:r>
              <a:rPr lang="zh-CN" altLang="en-US" sz="2000" dirty="0"/>
              <a:t>只是深度优先搜索算法中的 </a:t>
            </a:r>
            <a:r>
              <a:rPr lang="en-US" altLang="zh-CN" sz="2000" dirty="0" err="1"/>
              <a:t>predfn</a:t>
            </a:r>
            <a:r>
              <a:rPr lang="zh-CN" altLang="en-US" sz="2000" dirty="0"/>
              <a:t>，每次调用深度优先搜索过程，就加</a:t>
            </a:r>
            <a:r>
              <a:rPr lang="en-US" altLang="zh-CN" sz="2000" dirty="0"/>
              <a:t>1</a:t>
            </a:r>
            <a:r>
              <a:rPr lang="zh-CN" altLang="en-US" sz="2000" dirty="0"/>
              <a:t>，</a:t>
            </a:r>
            <a:r>
              <a:rPr lang="el-GR" altLang="zh-CN" sz="2000" dirty="0"/>
              <a:t>β</a:t>
            </a:r>
            <a:r>
              <a:rPr lang="en-US" altLang="zh-CN" sz="2000" dirty="0"/>
              <a:t>[v]</a:t>
            </a:r>
            <a:r>
              <a:rPr lang="zh-CN" altLang="en-US" sz="2000" dirty="0"/>
              <a:t>初始化为</a:t>
            </a:r>
            <a:r>
              <a:rPr lang="el-GR" altLang="zh-CN" sz="2000" dirty="0"/>
              <a:t>α</a:t>
            </a:r>
            <a:r>
              <a:rPr lang="en-US" altLang="zh-CN" sz="2000" dirty="0"/>
              <a:t>[v],</a:t>
            </a:r>
            <a:r>
              <a:rPr lang="zh-CN" altLang="en-US" sz="2000" dirty="0"/>
              <a:t>但在后来的遍历过程中可以改变对于每一个访问的顶点，令</a:t>
            </a:r>
            <a:r>
              <a:rPr lang="el-GR" altLang="zh-CN" sz="2000" dirty="0"/>
              <a:t>β</a:t>
            </a:r>
            <a:r>
              <a:rPr lang="en-US" altLang="zh-CN" sz="2000" dirty="0"/>
              <a:t>[v]</a:t>
            </a:r>
            <a:r>
              <a:rPr lang="zh-CN" altLang="en-US" sz="2000" dirty="0"/>
              <a:t>是下面几个中的最小值。</a:t>
            </a:r>
            <a:endParaRPr lang="en-US" altLang="zh-CN" sz="2000" dirty="0"/>
          </a:p>
          <a:p>
            <a:pPr lvl="1"/>
            <a:r>
              <a:rPr lang="en-US" altLang="zh-CN" sz="1800" dirty="0"/>
              <a:t>α[v]</a:t>
            </a:r>
            <a:r>
              <a:rPr lang="zh-CN" altLang="en-US" sz="1800" dirty="0"/>
              <a:t>；</a:t>
            </a:r>
            <a:endParaRPr lang="en-US" altLang="zh-CN" sz="1800" dirty="0"/>
          </a:p>
          <a:p>
            <a:pPr lvl="1"/>
            <a:r>
              <a:rPr lang="en-US" altLang="zh-CN" sz="1800" dirty="0"/>
              <a:t>α[u],</a:t>
            </a:r>
            <a:r>
              <a:rPr lang="zh-CN" altLang="en-US" sz="1800" dirty="0"/>
              <a:t>对于每个顶点 </a:t>
            </a:r>
            <a:r>
              <a:rPr lang="en-US" altLang="zh-CN" sz="1800" dirty="0"/>
              <a:t>u,(</a:t>
            </a:r>
            <a:r>
              <a:rPr lang="en-US" altLang="zh-CN" sz="1800" dirty="0" err="1"/>
              <a:t>v,u</a:t>
            </a:r>
            <a:r>
              <a:rPr lang="en-US" altLang="zh-CN" sz="1800" dirty="0"/>
              <a:t>)</a:t>
            </a:r>
            <a:r>
              <a:rPr lang="zh-CN" altLang="en-US" sz="1800" dirty="0"/>
              <a:t>是回边</a:t>
            </a:r>
            <a:r>
              <a:rPr lang="en-US" altLang="zh-CN" sz="1800" dirty="0"/>
              <a:t>;</a:t>
            </a:r>
          </a:p>
          <a:p>
            <a:pPr lvl="1"/>
            <a:r>
              <a:rPr lang="el-GR" altLang="zh-CN" sz="2100" dirty="0"/>
              <a:t>β</a:t>
            </a:r>
            <a:r>
              <a:rPr lang="en-US" altLang="zh-CN" sz="1800" dirty="0"/>
              <a:t>[w]</a:t>
            </a:r>
            <a:r>
              <a:rPr lang="zh-CN" altLang="en-US" sz="1800" dirty="0"/>
              <a:t>，在深度优先搜索树中的每条边</a:t>
            </a:r>
            <a:r>
              <a:rPr lang="en-US" altLang="zh-CN" sz="1800" dirty="0"/>
              <a:t>(</a:t>
            </a:r>
            <a:r>
              <a:rPr lang="en-US" altLang="zh-CN" sz="1800" dirty="0" err="1"/>
              <a:t>v,w</a:t>
            </a:r>
            <a:r>
              <a:rPr lang="en-US" altLang="zh-CN" sz="1800" dirty="0"/>
              <a:t>)</a:t>
            </a:r>
            <a:r>
              <a:rPr lang="zh-CN" altLang="en-US" sz="1800" dirty="0"/>
              <a:t>。</a:t>
            </a:r>
            <a:endParaRPr lang="en-US" altLang="zh-CN" sz="1800" dirty="0"/>
          </a:p>
        </p:txBody>
      </p:sp>
      <p:sp>
        <p:nvSpPr>
          <p:cNvPr id="10312" name="页脚占位符 3">
            <a:extLst>
              <a:ext uri="{FF2B5EF4-FFF2-40B4-BE49-F238E27FC236}">
                <a16:creationId xmlns:a16="http://schemas.microsoft.com/office/drawing/2014/main" id="{17D989C8-70FA-5504-81A0-D6C76746BF76}"/>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410447788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948C1-0A8E-6048-C66B-5B603582EA0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8A86826-7F48-B0D4-92BA-702AA541138E}"/>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6.3.3 </a:t>
            </a:r>
            <a:r>
              <a:rPr lang="zh-CN" altLang="en-US" dirty="0"/>
              <a:t>寻找图的关节点</a:t>
            </a:r>
          </a:p>
        </p:txBody>
      </p:sp>
      <p:sp>
        <p:nvSpPr>
          <p:cNvPr id="320515" name="Rectangle 3">
            <a:extLst>
              <a:ext uri="{FF2B5EF4-FFF2-40B4-BE49-F238E27FC236}">
                <a16:creationId xmlns:a16="http://schemas.microsoft.com/office/drawing/2014/main" id="{5800354D-50D2-05FF-1138-2692EBD23192}"/>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关节点确定如下：</a:t>
            </a:r>
            <a:endParaRPr lang="en-US" altLang="zh-CN" sz="2100" dirty="0"/>
          </a:p>
          <a:p>
            <a:r>
              <a:rPr lang="zh-CN" altLang="en-US" sz="2100" dirty="0"/>
              <a:t>根是一个关节点当且仅当在深度优先搜索树中，它有两个或更多的儿子</a:t>
            </a:r>
            <a:r>
              <a:rPr lang="en-US" altLang="zh-CN" sz="2100" dirty="0"/>
              <a:t>;</a:t>
            </a:r>
          </a:p>
          <a:p>
            <a:r>
              <a:rPr lang="zh-CN" altLang="en-US" sz="2100" dirty="0"/>
              <a:t>根以外的顶点</a:t>
            </a:r>
            <a:r>
              <a:rPr lang="en-US" altLang="zh-CN" sz="2100" dirty="0"/>
              <a:t>"</a:t>
            </a:r>
            <a:r>
              <a:rPr lang="zh-CN" altLang="en-US" sz="2100" dirty="0"/>
              <a:t>是一个关节点当且仅当</a:t>
            </a:r>
            <a:r>
              <a:rPr lang="en-US" altLang="zh-CN" sz="2100" dirty="0"/>
              <a:t>v</a:t>
            </a:r>
            <a:r>
              <a:rPr lang="zh-CN" altLang="en-US" sz="2100" dirty="0"/>
              <a:t>有一个儿子</a:t>
            </a:r>
            <a:r>
              <a:rPr lang="en-US" altLang="zh-CN" sz="2100" dirty="0"/>
              <a:t>w,</a:t>
            </a:r>
            <a:r>
              <a:rPr lang="zh-CN" altLang="en-US" sz="2100" dirty="0"/>
              <a:t>使得 </a:t>
            </a:r>
            <a:r>
              <a:rPr lang="en-US" altLang="zh-CN" sz="2100" dirty="0"/>
              <a:t>β[w]≥α[v]</a:t>
            </a:r>
            <a:r>
              <a:rPr lang="zh-CN" altLang="en-US" sz="2100" dirty="0"/>
              <a:t>。</a:t>
            </a:r>
          </a:p>
        </p:txBody>
      </p:sp>
      <p:sp>
        <p:nvSpPr>
          <p:cNvPr id="10312" name="页脚占位符 3">
            <a:extLst>
              <a:ext uri="{FF2B5EF4-FFF2-40B4-BE49-F238E27FC236}">
                <a16:creationId xmlns:a16="http://schemas.microsoft.com/office/drawing/2014/main" id="{B17B3470-BBCE-4A24-5665-E865AB0058FE}"/>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96631280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46128-9413-4086-3958-F16180ED76C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3DDB9BB-4E18-D4F5-7897-BA9C519B170A}"/>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6.3.3 </a:t>
            </a:r>
            <a:r>
              <a:rPr lang="zh-CN" altLang="en-US" dirty="0"/>
              <a:t>寻找图的关节点</a:t>
            </a:r>
          </a:p>
        </p:txBody>
      </p:sp>
      <p:sp>
        <p:nvSpPr>
          <p:cNvPr id="320515" name="Rectangle 3">
            <a:extLst>
              <a:ext uri="{FF2B5EF4-FFF2-40B4-BE49-F238E27FC236}">
                <a16:creationId xmlns:a16="http://schemas.microsoft.com/office/drawing/2014/main" id="{F384CD0E-0A86-1BBE-303C-07DE57A4F517}"/>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endParaRPr lang="zh-CN" altLang="en-US" sz="2100" dirty="0"/>
          </a:p>
        </p:txBody>
      </p:sp>
      <p:sp>
        <p:nvSpPr>
          <p:cNvPr id="10312" name="页脚占位符 3">
            <a:extLst>
              <a:ext uri="{FF2B5EF4-FFF2-40B4-BE49-F238E27FC236}">
                <a16:creationId xmlns:a16="http://schemas.microsoft.com/office/drawing/2014/main" id="{79C312AD-2095-80AC-194F-3A97ED86AF86}"/>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3" name="图片 2">
            <a:extLst>
              <a:ext uri="{FF2B5EF4-FFF2-40B4-BE49-F238E27FC236}">
                <a16:creationId xmlns:a16="http://schemas.microsoft.com/office/drawing/2014/main" id="{E720AC60-A215-4A00-0701-A1BB72D9706F}"/>
              </a:ext>
            </a:extLst>
          </p:cNvPr>
          <p:cNvPicPr>
            <a:picLocks noChangeAspect="1"/>
          </p:cNvPicPr>
          <p:nvPr/>
        </p:nvPicPr>
        <p:blipFill>
          <a:blip r:embed="rId3"/>
          <a:stretch>
            <a:fillRect/>
          </a:stretch>
        </p:blipFill>
        <p:spPr>
          <a:xfrm>
            <a:off x="0" y="1047750"/>
            <a:ext cx="4681572" cy="4872073"/>
          </a:xfrm>
          <a:prstGeom prst="rect">
            <a:avLst/>
          </a:prstGeom>
        </p:spPr>
      </p:pic>
      <p:pic>
        <p:nvPicPr>
          <p:cNvPr id="5" name="图片 4">
            <a:extLst>
              <a:ext uri="{FF2B5EF4-FFF2-40B4-BE49-F238E27FC236}">
                <a16:creationId xmlns:a16="http://schemas.microsoft.com/office/drawing/2014/main" id="{7E2B145D-27A9-6A11-58A7-B416532F4019}"/>
              </a:ext>
            </a:extLst>
          </p:cNvPr>
          <p:cNvPicPr>
            <a:picLocks noChangeAspect="1"/>
          </p:cNvPicPr>
          <p:nvPr/>
        </p:nvPicPr>
        <p:blipFill>
          <a:blip r:embed="rId4"/>
          <a:stretch>
            <a:fillRect/>
          </a:stretch>
        </p:blipFill>
        <p:spPr>
          <a:xfrm>
            <a:off x="4838669" y="2919426"/>
            <a:ext cx="4305331" cy="3000397"/>
          </a:xfrm>
          <a:prstGeom prst="rect">
            <a:avLst/>
          </a:prstGeom>
        </p:spPr>
      </p:pic>
      <p:cxnSp>
        <p:nvCxnSpPr>
          <p:cNvPr id="7" name="直接箭头连接符 6">
            <a:extLst>
              <a:ext uri="{FF2B5EF4-FFF2-40B4-BE49-F238E27FC236}">
                <a16:creationId xmlns:a16="http://schemas.microsoft.com/office/drawing/2014/main" id="{F86DFE06-91AE-46DD-6D0B-12FDE5F98535}"/>
              </a:ext>
            </a:extLst>
          </p:cNvPr>
          <p:cNvCxnSpPr/>
          <p:nvPr/>
        </p:nvCxnSpPr>
        <p:spPr bwMode="auto">
          <a:xfrm flipV="1">
            <a:off x="4572000" y="3124200"/>
            <a:ext cx="304800" cy="2590800"/>
          </a:xfrm>
          <a:prstGeom prst="straightConnector1">
            <a:avLst/>
          </a:prstGeom>
          <a:solidFill>
            <a:schemeClr val="accent1"/>
          </a:solidFill>
          <a:ln w="25400" cap="flat" cmpd="sng" algn="ctr">
            <a:solidFill>
              <a:schemeClr val="tx1"/>
            </a:solidFill>
            <a:prstDash val="solid"/>
            <a:round/>
            <a:headEnd type="none" w="med" len="med"/>
            <a:tailEnd type="triangle"/>
          </a:ln>
        </p:spPr>
      </p:cxnSp>
    </p:spTree>
    <p:extLst>
      <p:ext uri="{BB962C8B-B14F-4D97-AF65-F5344CB8AC3E}">
        <p14:creationId xmlns:p14="http://schemas.microsoft.com/office/powerpoint/2010/main" val="364304314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FDA6B-BDBD-5610-0310-F8D96FCD2C0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4B9C97E-01B4-043F-0229-E11435A289C5}"/>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6.3.3 </a:t>
            </a:r>
            <a:r>
              <a:rPr lang="zh-CN" altLang="en-US" dirty="0"/>
              <a:t>寻找图的关节点</a:t>
            </a:r>
          </a:p>
        </p:txBody>
      </p:sp>
      <p:sp>
        <p:nvSpPr>
          <p:cNvPr id="320515" name="Rectangle 3">
            <a:extLst>
              <a:ext uri="{FF2B5EF4-FFF2-40B4-BE49-F238E27FC236}">
                <a16:creationId xmlns:a16="http://schemas.microsoft.com/office/drawing/2014/main" id="{9EFE4743-B40B-0681-16AB-2F71B8BC93D9}"/>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endParaRPr lang="zh-CN" altLang="en-US" sz="2100" dirty="0"/>
          </a:p>
        </p:txBody>
      </p:sp>
      <p:sp>
        <p:nvSpPr>
          <p:cNvPr id="10312" name="页脚占位符 3">
            <a:extLst>
              <a:ext uri="{FF2B5EF4-FFF2-40B4-BE49-F238E27FC236}">
                <a16:creationId xmlns:a16="http://schemas.microsoft.com/office/drawing/2014/main" id="{8ECFA541-18D6-4F6B-80F7-08027E04B28A}"/>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4" name="图片 3">
            <a:extLst>
              <a:ext uri="{FF2B5EF4-FFF2-40B4-BE49-F238E27FC236}">
                <a16:creationId xmlns:a16="http://schemas.microsoft.com/office/drawing/2014/main" id="{2683B26D-1B32-1ACD-D855-A196EF1B4871}"/>
              </a:ext>
            </a:extLst>
          </p:cNvPr>
          <p:cNvPicPr>
            <a:picLocks noChangeAspect="1"/>
          </p:cNvPicPr>
          <p:nvPr/>
        </p:nvPicPr>
        <p:blipFill>
          <a:blip r:embed="rId3"/>
          <a:stretch>
            <a:fillRect/>
          </a:stretch>
        </p:blipFill>
        <p:spPr>
          <a:xfrm>
            <a:off x="713164" y="1295400"/>
            <a:ext cx="8183186" cy="4191000"/>
          </a:xfrm>
          <a:prstGeom prst="rect">
            <a:avLst/>
          </a:prstGeom>
        </p:spPr>
      </p:pic>
    </p:spTree>
    <p:extLst>
      <p:ext uri="{BB962C8B-B14F-4D97-AF65-F5344CB8AC3E}">
        <p14:creationId xmlns:p14="http://schemas.microsoft.com/office/powerpoint/2010/main" val="159532453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65BE-E0B2-1C13-7DE3-47EA6D873E4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48E9C2F-1EA4-E303-83EB-6C2343DD88D7}"/>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6.3.4 </a:t>
            </a:r>
            <a:r>
              <a:rPr lang="zh-CN" altLang="en-US" dirty="0"/>
              <a:t>强连通分支</a:t>
            </a:r>
          </a:p>
        </p:txBody>
      </p:sp>
      <p:sp>
        <p:nvSpPr>
          <p:cNvPr id="320515" name="Rectangle 3">
            <a:extLst>
              <a:ext uri="{FF2B5EF4-FFF2-40B4-BE49-F238E27FC236}">
                <a16:creationId xmlns:a16="http://schemas.microsoft.com/office/drawing/2014/main" id="{86F24653-418F-A7FC-29FB-0C61EC6C314D}"/>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给出一个有向图</a:t>
            </a:r>
            <a:r>
              <a:rPr lang="en-US" altLang="zh-CN" sz="2100" dirty="0"/>
              <a:t>G=(V,E),G</a:t>
            </a:r>
            <a:r>
              <a:rPr lang="zh-CN" altLang="en-US" sz="2100" dirty="0"/>
              <a:t>中的强连通分支是它顶点的极大集</a:t>
            </a:r>
            <a:r>
              <a:rPr lang="en-US" altLang="zh-CN" sz="2100" dirty="0"/>
              <a:t>,</a:t>
            </a:r>
            <a:r>
              <a:rPr lang="zh-CN" altLang="en-US" sz="2100" dirty="0"/>
              <a:t>在该集中，每一对顶点间都存在一条路径。</a:t>
            </a:r>
            <a:endParaRPr lang="en-US" altLang="zh-CN" sz="2100" dirty="0"/>
          </a:p>
          <a:p>
            <a:r>
              <a:rPr lang="zh-CN" altLang="en-US" sz="2100" dirty="0"/>
              <a:t>算法</a:t>
            </a:r>
            <a:r>
              <a:rPr lang="en-US" altLang="zh-CN" sz="2100" dirty="0"/>
              <a:t>STRONGCONNECTCOMP</a:t>
            </a:r>
            <a:r>
              <a:rPr lang="zh-CN" altLang="en-US" sz="2100" dirty="0"/>
              <a:t>用深度优先搜索来确定在有向图中的所有的强连通分支。</a:t>
            </a:r>
          </a:p>
        </p:txBody>
      </p:sp>
      <p:sp>
        <p:nvSpPr>
          <p:cNvPr id="10312" name="页脚占位符 3">
            <a:extLst>
              <a:ext uri="{FF2B5EF4-FFF2-40B4-BE49-F238E27FC236}">
                <a16:creationId xmlns:a16="http://schemas.microsoft.com/office/drawing/2014/main" id="{19F140C7-C763-ECB6-8DFF-F4DBAD521F03}"/>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3" name="图片 2">
            <a:extLst>
              <a:ext uri="{FF2B5EF4-FFF2-40B4-BE49-F238E27FC236}">
                <a16:creationId xmlns:a16="http://schemas.microsoft.com/office/drawing/2014/main" id="{A6163D08-0D08-EA3E-F53D-6357F6C3F634}"/>
              </a:ext>
            </a:extLst>
          </p:cNvPr>
          <p:cNvPicPr>
            <a:picLocks noChangeAspect="1"/>
          </p:cNvPicPr>
          <p:nvPr/>
        </p:nvPicPr>
        <p:blipFill>
          <a:blip r:embed="rId3"/>
          <a:stretch>
            <a:fillRect/>
          </a:stretch>
        </p:blipFill>
        <p:spPr>
          <a:xfrm>
            <a:off x="981281" y="2877338"/>
            <a:ext cx="7486237" cy="2697962"/>
          </a:xfrm>
          <a:prstGeom prst="rect">
            <a:avLst/>
          </a:prstGeom>
        </p:spPr>
      </p:pic>
    </p:spTree>
    <p:extLst>
      <p:ext uri="{BB962C8B-B14F-4D97-AF65-F5344CB8AC3E}">
        <p14:creationId xmlns:p14="http://schemas.microsoft.com/office/powerpoint/2010/main" val="64596008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7F23C-C281-37FC-0A56-3CE3C41534A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F529398-9297-C03D-F992-B48929BD8C33}"/>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6.3.4 </a:t>
            </a:r>
            <a:r>
              <a:rPr lang="zh-CN" altLang="en-US" dirty="0"/>
              <a:t>强连通分支</a:t>
            </a:r>
          </a:p>
        </p:txBody>
      </p:sp>
      <p:sp>
        <p:nvSpPr>
          <p:cNvPr id="320515" name="Rectangle 3">
            <a:extLst>
              <a:ext uri="{FF2B5EF4-FFF2-40B4-BE49-F238E27FC236}">
                <a16:creationId xmlns:a16="http://schemas.microsoft.com/office/drawing/2014/main" id="{E09B3369-4880-78A4-A498-635F6EE7D986}"/>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en-US" altLang="zh-CN" sz="2100" dirty="0"/>
              <a:t>STRONCCONNECTCOMP</a:t>
            </a:r>
            <a:r>
              <a:rPr lang="zh-CN" altLang="en-US" sz="2100" dirty="0"/>
              <a:t>算法</a:t>
            </a:r>
            <a:endParaRPr lang="en-US" altLang="zh-CN" sz="2100" dirty="0"/>
          </a:p>
          <a:p>
            <a:r>
              <a:rPr lang="zh-CN" altLang="en-US" sz="2100" dirty="0"/>
              <a:t>输入</a:t>
            </a:r>
            <a:r>
              <a:rPr lang="en-US" altLang="zh-CN" sz="2100" dirty="0"/>
              <a:t>:</a:t>
            </a:r>
            <a:r>
              <a:rPr lang="zh-CN" altLang="en-US" sz="2100" dirty="0"/>
              <a:t>有向图</a:t>
            </a:r>
            <a:r>
              <a:rPr lang="en-US" altLang="zh-CN" sz="2100" dirty="0"/>
              <a:t>G=(V,E)</a:t>
            </a:r>
            <a:r>
              <a:rPr lang="zh-CN" altLang="en-US" sz="2100" dirty="0"/>
              <a:t>。</a:t>
            </a:r>
            <a:endParaRPr lang="en-US" altLang="zh-CN" sz="2100" dirty="0"/>
          </a:p>
          <a:p>
            <a:r>
              <a:rPr lang="zh-CN" altLang="en-US" sz="2100" dirty="0"/>
              <a:t>输出</a:t>
            </a:r>
            <a:r>
              <a:rPr lang="en-US" altLang="zh-CN" sz="2100" dirty="0"/>
              <a:t>:G</a:t>
            </a:r>
            <a:r>
              <a:rPr lang="zh-CN" altLang="en-US" sz="2100" dirty="0"/>
              <a:t>中的强连通分支</a:t>
            </a:r>
            <a:endParaRPr lang="en-US" altLang="zh-CN" sz="2100" dirty="0"/>
          </a:p>
          <a:p>
            <a:endParaRPr lang="en-US" altLang="zh-CN" sz="2000" dirty="0"/>
          </a:p>
          <a:p>
            <a:pPr marL="457200" lvl="1" indent="0">
              <a:buNone/>
            </a:pPr>
            <a:r>
              <a:rPr lang="en-US" altLang="zh-CN" sz="2000" dirty="0"/>
              <a:t>1.</a:t>
            </a:r>
            <a:r>
              <a:rPr lang="zh-CN" altLang="en-US" sz="2000" dirty="0"/>
              <a:t>在图</a:t>
            </a:r>
            <a:r>
              <a:rPr lang="en-US" altLang="zh-CN" sz="2000" dirty="0"/>
              <a:t>G</a:t>
            </a:r>
            <a:r>
              <a:rPr lang="zh-CN" altLang="en-US" sz="2000" dirty="0"/>
              <a:t>上执行深度优先搜索，对每一个顶点赋给相应的</a:t>
            </a:r>
            <a:r>
              <a:rPr lang="en-US" altLang="zh-CN" sz="2000" dirty="0" err="1"/>
              <a:t>postdfn</a:t>
            </a:r>
            <a:r>
              <a:rPr lang="en-US" altLang="zh-CN" sz="2000" dirty="0"/>
              <a:t> </a:t>
            </a:r>
            <a:r>
              <a:rPr lang="zh-CN" altLang="en-US" sz="2000" dirty="0"/>
              <a:t>值。</a:t>
            </a:r>
            <a:endParaRPr lang="en-US" altLang="zh-CN" sz="2000" dirty="0"/>
          </a:p>
          <a:p>
            <a:pPr marL="457200" lvl="1" indent="0">
              <a:buNone/>
            </a:pPr>
            <a:r>
              <a:rPr lang="en-US" altLang="zh-CN" sz="2000" dirty="0"/>
              <a:t>2.</a:t>
            </a:r>
            <a:r>
              <a:rPr lang="zh-CN" altLang="en-US" sz="2000" dirty="0"/>
              <a:t>颠倒图</a:t>
            </a:r>
            <a:r>
              <a:rPr lang="en-US" altLang="zh-CN" sz="2000" dirty="0"/>
              <a:t>G</a:t>
            </a:r>
            <a:r>
              <a:rPr lang="zh-CN" altLang="en-US" sz="2000" dirty="0"/>
              <a:t>中边的方向，构成一个新的图</a:t>
            </a:r>
            <a:r>
              <a:rPr lang="en-US" altLang="zh-CN" sz="2000" dirty="0"/>
              <a:t>G’</a:t>
            </a:r>
            <a:r>
              <a:rPr lang="zh-CN" altLang="en-US" sz="2000" dirty="0"/>
              <a:t>。</a:t>
            </a:r>
            <a:endParaRPr lang="en-US" altLang="zh-CN" sz="2000" dirty="0"/>
          </a:p>
          <a:p>
            <a:pPr marL="457200" lvl="1" indent="0">
              <a:buNone/>
            </a:pPr>
            <a:r>
              <a:rPr lang="en-US" altLang="zh-CN" sz="2000" dirty="0"/>
              <a:t>3.</a:t>
            </a:r>
            <a:r>
              <a:rPr lang="zh-CN" altLang="en-US" sz="2000" dirty="0"/>
              <a:t>从具有最大 </a:t>
            </a:r>
            <a:r>
              <a:rPr lang="en-US" altLang="zh-CN" sz="2000" dirty="0" err="1"/>
              <a:t>postdfn</a:t>
            </a:r>
            <a:r>
              <a:rPr lang="en-US" altLang="zh-CN" sz="2000" dirty="0"/>
              <a:t> </a:t>
            </a:r>
            <a:r>
              <a:rPr lang="zh-CN" altLang="en-US" sz="2000" dirty="0"/>
              <a:t>数值的顶点开始</a:t>
            </a:r>
            <a:r>
              <a:rPr lang="en-US" altLang="zh-CN" sz="2000" dirty="0"/>
              <a:t>,</a:t>
            </a:r>
            <a:r>
              <a:rPr lang="zh-CN" altLang="en-US" sz="2000" dirty="0"/>
              <a:t>在</a:t>
            </a:r>
            <a:r>
              <a:rPr lang="en-US" altLang="zh-CN" sz="2000" dirty="0"/>
              <a:t>G’</a:t>
            </a:r>
            <a:r>
              <a:rPr lang="zh-CN" altLang="en-US" sz="2000" dirty="0"/>
              <a:t>上执行深度优先搜索，如果深度优先搜索不能到达所有的顶点，则在余下的顶点中找一个</a:t>
            </a:r>
            <a:r>
              <a:rPr lang="en-US" altLang="zh-CN" sz="2000" dirty="0" err="1"/>
              <a:t>postdfn</a:t>
            </a:r>
            <a:r>
              <a:rPr lang="en-US" altLang="zh-CN" sz="2000" dirty="0"/>
              <a:t> </a:t>
            </a:r>
            <a:r>
              <a:rPr lang="zh-CN" altLang="en-US" sz="2000" dirty="0"/>
              <a:t>数值最大的顶点开始下一次深度优先搜索。</a:t>
            </a:r>
            <a:endParaRPr lang="en-US" altLang="zh-CN" sz="2000" dirty="0"/>
          </a:p>
          <a:p>
            <a:pPr marL="457200" lvl="1" indent="0">
              <a:buNone/>
            </a:pPr>
            <a:r>
              <a:rPr lang="en-US" altLang="zh-CN" sz="2000" dirty="0"/>
              <a:t>4.</a:t>
            </a:r>
            <a:r>
              <a:rPr lang="zh-CN" altLang="en-US" sz="2000" dirty="0"/>
              <a:t>在最终得到的森林中的每一棵树对应一个强连通分支。</a:t>
            </a:r>
          </a:p>
        </p:txBody>
      </p:sp>
      <p:sp>
        <p:nvSpPr>
          <p:cNvPr id="10312" name="页脚占位符 3">
            <a:extLst>
              <a:ext uri="{FF2B5EF4-FFF2-40B4-BE49-F238E27FC236}">
                <a16:creationId xmlns:a16="http://schemas.microsoft.com/office/drawing/2014/main" id="{54F5BF77-A841-9FEB-D993-FB96138ADC26}"/>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39923486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2BC0-0333-48EE-0877-EAD0EFD0736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CF193DC-56FD-2AC2-7A3A-CF5E574D1186}"/>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6.4 </a:t>
            </a:r>
            <a:r>
              <a:rPr lang="zh-CN" altLang="en-US" dirty="0"/>
              <a:t>广度优先搜索</a:t>
            </a:r>
          </a:p>
        </p:txBody>
      </p:sp>
      <p:sp>
        <p:nvSpPr>
          <p:cNvPr id="320515" name="Rectangle 3">
            <a:extLst>
              <a:ext uri="{FF2B5EF4-FFF2-40B4-BE49-F238E27FC236}">
                <a16:creationId xmlns:a16="http://schemas.microsoft.com/office/drawing/2014/main" id="{816003BD-0838-F34E-6E4A-5AED188EE6ED}"/>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与深度优先搜索不同，在广度优先搜索中，当访问了一个顶点后，接下来访问邻接于</a:t>
            </a:r>
            <a:r>
              <a:rPr lang="en-US" altLang="zh-CN" sz="2100" dirty="0"/>
              <a:t>v</a:t>
            </a:r>
            <a:r>
              <a:rPr lang="zh-CN" altLang="en-US" sz="2100" dirty="0"/>
              <a:t>的所有顶点，产生出来的树称为广度优先搜索树。这种遍历的方法可以通过用一个队列存储没有检查过的顶点来实现。</a:t>
            </a:r>
            <a:endParaRPr lang="en-US" altLang="zh-CN" sz="2100" dirty="0"/>
          </a:p>
          <a:p>
            <a:r>
              <a:rPr lang="zh-CN" altLang="en-US" sz="2100" dirty="0"/>
              <a:t>广度优先的算法</a:t>
            </a:r>
            <a:r>
              <a:rPr lang="en-US" altLang="zh-CN" sz="2100" dirty="0"/>
              <a:t>BFS</a:t>
            </a:r>
            <a:r>
              <a:rPr lang="zh-CN" altLang="en-US" sz="2100" dirty="0"/>
              <a:t>能够用到有向和无向图。初始的时候，所有的顶点都标上未访问，计数器</a:t>
            </a:r>
            <a:r>
              <a:rPr lang="en-US" altLang="zh-CN" sz="2100" dirty="0"/>
              <a:t>bfn</a:t>
            </a:r>
            <a:r>
              <a:rPr lang="zh-CN" altLang="en-US" sz="2100" dirty="0"/>
              <a:t>初始为</a:t>
            </a:r>
            <a:r>
              <a:rPr lang="en-US" altLang="zh-CN" sz="2100" dirty="0"/>
              <a:t>0</a:t>
            </a:r>
            <a:r>
              <a:rPr lang="zh-CN" altLang="en-US" sz="2100" dirty="0"/>
              <a:t>，它表示顶点从队列中移出的序。在无向图的情况下，一条边或者是树边或者是横跨边；如果图是有向的，那么边可以是树边、回边或横跨边，不存在前向边。</a:t>
            </a:r>
            <a:endParaRPr lang="en-US" altLang="zh-CN" sz="2000" dirty="0"/>
          </a:p>
        </p:txBody>
      </p:sp>
      <p:sp>
        <p:nvSpPr>
          <p:cNvPr id="10312" name="页脚占位符 3">
            <a:extLst>
              <a:ext uri="{FF2B5EF4-FFF2-40B4-BE49-F238E27FC236}">
                <a16:creationId xmlns:a16="http://schemas.microsoft.com/office/drawing/2014/main" id="{626FD19F-EA12-E710-77A8-5F827A9CFD2C}"/>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02024666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4F4A8-9019-B33C-1B58-D84C3D5EB6D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D07DFC3-01F6-1CA9-6860-277F377B00FE}"/>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6.4 </a:t>
            </a:r>
            <a:r>
              <a:rPr lang="zh-CN" altLang="en-US" dirty="0"/>
              <a:t>广度优先搜索</a:t>
            </a:r>
          </a:p>
        </p:txBody>
      </p:sp>
      <p:sp>
        <p:nvSpPr>
          <p:cNvPr id="10312" name="页脚占位符 3">
            <a:extLst>
              <a:ext uri="{FF2B5EF4-FFF2-40B4-BE49-F238E27FC236}">
                <a16:creationId xmlns:a16="http://schemas.microsoft.com/office/drawing/2014/main" id="{9CBE2D54-B01F-28AA-AD5B-595FCC4847FB}"/>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5" name="图片 4">
            <a:extLst>
              <a:ext uri="{FF2B5EF4-FFF2-40B4-BE49-F238E27FC236}">
                <a16:creationId xmlns:a16="http://schemas.microsoft.com/office/drawing/2014/main" id="{C7A39017-19B2-06A9-14CF-7963608919F6}"/>
              </a:ext>
            </a:extLst>
          </p:cNvPr>
          <p:cNvPicPr>
            <a:picLocks noChangeAspect="1"/>
          </p:cNvPicPr>
          <p:nvPr/>
        </p:nvPicPr>
        <p:blipFill>
          <a:blip r:embed="rId3"/>
          <a:stretch>
            <a:fillRect/>
          </a:stretch>
        </p:blipFill>
        <p:spPr>
          <a:xfrm>
            <a:off x="533400" y="1196975"/>
            <a:ext cx="3720135" cy="2971800"/>
          </a:xfrm>
          <a:prstGeom prst="rect">
            <a:avLst/>
          </a:prstGeom>
        </p:spPr>
      </p:pic>
      <p:pic>
        <p:nvPicPr>
          <p:cNvPr id="7" name="图片 6">
            <a:extLst>
              <a:ext uri="{FF2B5EF4-FFF2-40B4-BE49-F238E27FC236}">
                <a16:creationId xmlns:a16="http://schemas.microsoft.com/office/drawing/2014/main" id="{91E1B67F-6E5B-2B42-5F73-5DB4594C9026}"/>
              </a:ext>
            </a:extLst>
          </p:cNvPr>
          <p:cNvPicPr>
            <a:picLocks noChangeAspect="1"/>
          </p:cNvPicPr>
          <p:nvPr/>
        </p:nvPicPr>
        <p:blipFill>
          <a:blip r:embed="rId4"/>
          <a:stretch>
            <a:fillRect/>
          </a:stretch>
        </p:blipFill>
        <p:spPr>
          <a:xfrm>
            <a:off x="4552950" y="1196975"/>
            <a:ext cx="4343400" cy="4566301"/>
          </a:xfrm>
          <a:prstGeom prst="rect">
            <a:avLst/>
          </a:prstGeom>
        </p:spPr>
      </p:pic>
    </p:spTree>
    <p:extLst>
      <p:ext uri="{BB962C8B-B14F-4D97-AF65-F5344CB8AC3E}">
        <p14:creationId xmlns:p14="http://schemas.microsoft.com/office/powerpoint/2010/main" val="35290975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CB1A8-ABDD-27C2-7CE8-F3B964CF795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B53FE6E-F14C-42A2-6BF4-D78F5B774355}"/>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6.4 </a:t>
            </a:r>
            <a:r>
              <a:rPr lang="zh-CN" altLang="en-US" dirty="0"/>
              <a:t>广度优先搜索</a:t>
            </a:r>
          </a:p>
        </p:txBody>
      </p:sp>
      <p:sp>
        <p:nvSpPr>
          <p:cNvPr id="10312" name="页脚占位符 3">
            <a:extLst>
              <a:ext uri="{FF2B5EF4-FFF2-40B4-BE49-F238E27FC236}">
                <a16:creationId xmlns:a16="http://schemas.microsoft.com/office/drawing/2014/main" id="{5061470A-C7EE-5117-4CA5-B7CA49BE6893}"/>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3" name="图片 2">
            <a:extLst>
              <a:ext uri="{FF2B5EF4-FFF2-40B4-BE49-F238E27FC236}">
                <a16:creationId xmlns:a16="http://schemas.microsoft.com/office/drawing/2014/main" id="{91641BA4-EC48-3F2E-DE11-6E6DB4D8E4E8}"/>
              </a:ext>
            </a:extLst>
          </p:cNvPr>
          <p:cNvPicPr>
            <a:picLocks noChangeAspect="1"/>
          </p:cNvPicPr>
          <p:nvPr/>
        </p:nvPicPr>
        <p:blipFill>
          <a:blip r:embed="rId3"/>
          <a:stretch>
            <a:fillRect/>
          </a:stretch>
        </p:blipFill>
        <p:spPr>
          <a:xfrm>
            <a:off x="2403869" y="3668906"/>
            <a:ext cx="4301731" cy="2914724"/>
          </a:xfrm>
          <a:prstGeom prst="rect">
            <a:avLst/>
          </a:prstGeom>
        </p:spPr>
      </p:pic>
      <p:sp>
        <p:nvSpPr>
          <p:cNvPr id="2" name="Rectangle 3">
            <a:extLst>
              <a:ext uri="{FF2B5EF4-FFF2-40B4-BE49-F238E27FC236}">
                <a16:creationId xmlns:a16="http://schemas.microsoft.com/office/drawing/2014/main" id="{02A6301F-6EA1-91EE-E255-71D6929C8EE0}"/>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图</a:t>
            </a:r>
            <a:r>
              <a:rPr lang="en-US" altLang="zh-CN" sz="2100" dirty="0"/>
              <a:t>9.7</a:t>
            </a:r>
            <a:r>
              <a:rPr lang="zh-CN" altLang="en-US" sz="2100" dirty="0"/>
              <a:t>说明了当把广度优先搜索遍历用到图</a:t>
            </a:r>
            <a:r>
              <a:rPr lang="en-US" altLang="zh-CN" sz="2100" dirty="0"/>
              <a:t>9.1(a)</a:t>
            </a:r>
            <a:r>
              <a:rPr lang="zh-CN" altLang="en-US" sz="2100" dirty="0"/>
              <a:t>所示的图上，并以顶点</a:t>
            </a:r>
            <a:r>
              <a:rPr lang="en-US" altLang="zh-CN" sz="2100" dirty="0"/>
              <a:t>a</a:t>
            </a:r>
            <a:r>
              <a:rPr lang="zh-CN" altLang="en-US" sz="2100" dirty="0"/>
              <a:t>为起始点时的运作情况。在弹出顶点</a:t>
            </a:r>
            <a:r>
              <a:rPr lang="en-US" altLang="zh-CN" sz="2100" dirty="0"/>
              <a:t>a</a:t>
            </a:r>
            <a:r>
              <a:rPr lang="zh-CN" altLang="en-US" sz="2100" dirty="0"/>
              <a:t>后，就把顶点</a:t>
            </a:r>
            <a:r>
              <a:rPr lang="en-US" altLang="zh-CN" sz="2100" dirty="0"/>
              <a:t>b</a:t>
            </a:r>
            <a:r>
              <a:rPr lang="zh-CN" altLang="en-US" sz="2100" dirty="0"/>
              <a:t>和</a:t>
            </a:r>
            <a:r>
              <a:rPr lang="en-US" altLang="zh-CN" sz="2100" dirty="0"/>
              <a:t>g</a:t>
            </a:r>
            <a:r>
              <a:rPr lang="zh-CN" altLang="en-US" sz="2100" dirty="0"/>
              <a:t>压入队列并且标上已访问，接着把顶点</a:t>
            </a:r>
            <a:r>
              <a:rPr lang="en-US" altLang="zh-CN" sz="2100" dirty="0"/>
              <a:t>6</a:t>
            </a:r>
            <a:r>
              <a:rPr lang="zh-CN" altLang="en-US" sz="2100" dirty="0"/>
              <a:t>从队列中移出，并且把它的还没有被访问过的邻接点</a:t>
            </a:r>
            <a:r>
              <a:rPr lang="en-US" altLang="zh-CN" sz="2100" dirty="0"/>
              <a:t>c</a:t>
            </a:r>
            <a:r>
              <a:rPr lang="zh-CN" altLang="en-US" sz="2100" dirty="0"/>
              <a:t>和</a:t>
            </a:r>
            <a:r>
              <a:rPr lang="en-US" altLang="zh-CN" sz="2100" dirty="0"/>
              <a:t>f</a:t>
            </a:r>
            <a:r>
              <a:rPr lang="zh-CN" altLang="en-US" sz="2100" dirty="0"/>
              <a:t>压入队列，标上已访问。这个把顶点压入队列以后又把它们从队列中移出来的过程一直继续，直到顶点</a:t>
            </a:r>
            <a:r>
              <a:rPr lang="en-US" altLang="zh-CN" sz="2100" dirty="0" err="1"/>
              <a:t>i</a:t>
            </a:r>
            <a:r>
              <a:rPr lang="zh-CN" altLang="en-US" sz="2100" dirty="0"/>
              <a:t>最终从队列中移出。这时，队列变空，广度优先搜索遍历也完成了。在图中，每一个顶点标上了它的 </a:t>
            </a:r>
            <a:r>
              <a:rPr lang="en-US" altLang="zh-CN" sz="2100" dirty="0"/>
              <a:t>bfn </a:t>
            </a:r>
            <a:r>
              <a:rPr lang="zh-CN" altLang="en-US" sz="2100" dirty="0"/>
              <a:t>数，这就是该顶点从队列中移出的序。</a:t>
            </a:r>
            <a:endParaRPr lang="en-US" altLang="zh-CN" sz="2000" dirty="0"/>
          </a:p>
        </p:txBody>
      </p:sp>
    </p:spTree>
    <p:extLst>
      <p:ext uri="{BB962C8B-B14F-4D97-AF65-F5344CB8AC3E}">
        <p14:creationId xmlns:p14="http://schemas.microsoft.com/office/powerpoint/2010/main" val="302223825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6FF56-BC4C-ACCD-2C59-DD41AA60CE6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25F27C4-2FCB-9C4D-396A-4F67EB01F0D6}"/>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6.4 </a:t>
            </a:r>
            <a:r>
              <a:rPr lang="zh-CN" altLang="en-US" dirty="0"/>
              <a:t>广度优先搜索</a:t>
            </a:r>
            <a:r>
              <a:rPr lang="en-US" altLang="zh-CN" dirty="0"/>
              <a:t>——</a:t>
            </a:r>
            <a:r>
              <a:rPr lang="zh-CN" altLang="en-US" dirty="0"/>
              <a:t>时间复杂度分析</a:t>
            </a:r>
          </a:p>
        </p:txBody>
      </p:sp>
      <p:sp>
        <p:nvSpPr>
          <p:cNvPr id="320515" name="Rectangle 3">
            <a:extLst>
              <a:ext uri="{FF2B5EF4-FFF2-40B4-BE49-F238E27FC236}">
                <a16:creationId xmlns:a16="http://schemas.microsoft.com/office/drawing/2014/main" id="{B22D426A-7A58-7175-7F33-59C7D30D8458}"/>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广度优先搜索应用在具有几个顶点</a:t>
            </a:r>
            <a:r>
              <a:rPr lang="en-US" altLang="zh-CN" sz="2100" dirty="0"/>
              <a:t>m</a:t>
            </a:r>
            <a:r>
              <a:rPr lang="zh-CN" altLang="en-US" sz="2100" dirty="0"/>
              <a:t>条边的图</a:t>
            </a:r>
            <a:r>
              <a:rPr lang="en-US" altLang="zh-CN" sz="2100" dirty="0"/>
              <a:t>(</a:t>
            </a:r>
            <a:r>
              <a:rPr lang="zh-CN" altLang="en-US" sz="2100" dirty="0"/>
              <a:t>包括有向图和无向图</a:t>
            </a:r>
            <a:r>
              <a:rPr lang="en-US" altLang="zh-CN" sz="2100" dirty="0"/>
              <a:t>)</a:t>
            </a:r>
            <a:r>
              <a:rPr lang="zh-CN" altLang="en-US" sz="2100" dirty="0"/>
              <a:t>上时，它的时间复杂性是和深度优先搜索一样的，为</a:t>
            </a:r>
            <a:r>
              <a:rPr lang="en-US" altLang="zh-CN" sz="2400" dirty="0"/>
              <a:t>Ɵ</a:t>
            </a:r>
            <a:r>
              <a:rPr lang="en-US" altLang="zh-CN" sz="2100" dirty="0"/>
              <a:t>(</a:t>
            </a:r>
            <a:r>
              <a:rPr lang="en-US" altLang="zh-CN" sz="2100" dirty="0" err="1"/>
              <a:t>n+m</a:t>
            </a:r>
            <a:r>
              <a:rPr lang="en-US" altLang="zh-CN" sz="2100" dirty="0"/>
              <a:t>)</a:t>
            </a:r>
            <a:r>
              <a:rPr lang="zh-CN" altLang="en-US" sz="2100" dirty="0"/>
              <a:t>，如果图是连通的或者</a:t>
            </a:r>
            <a:r>
              <a:rPr lang="en-US" altLang="zh-CN" sz="2100" dirty="0"/>
              <a:t>m&gt;=n</a:t>
            </a:r>
            <a:r>
              <a:rPr lang="zh-CN" altLang="en-US" sz="2100" dirty="0"/>
              <a:t>，那么时间复杂性可以简化为 </a:t>
            </a:r>
            <a:r>
              <a:rPr lang="en-US" altLang="zh-CN" sz="2400" dirty="0"/>
              <a:t>Ɵ</a:t>
            </a:r>
            <a:r>
              <a:rPr lang="en-US" altLang="zh-CN" sz="2100" dirty="0"/>
              <a:t>(m)</a:t>
            </a:r>
            <a:r>
              <a:rPr lang="zh-CN" altLang="en-US" sz="2100" dirty="0"/>
              <a:t>。</a:t>
            </a:r>
            <a:endParaRPr lang="en-US" altLang="zh-CN" sz="2000" dirty="0"/>
          </a:p>
        </p:txBody>
      </p:sp>
      <p:sp>
        <p:nvSpPr>
          <p:cNvPr id="10312" name="页脚占位符 3">
            <a:extLst>
              <a:ext uri="{FF2B5EF4-FFF2-40B4-BE49-F238E27FC236}">
                <a16:creationId xmlns:a16="http://schemas.microsoft.com/office/drawing/2014/main" id="{731C6C64-8DBF-6B8D-01D2-CEFDE08F5D75}"/>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231016395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D06A6-3617-1214-7AD3-6144015655B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2CCFA59-9125-13B1-DC2D-6523267DD154}"/>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6.5 </a:t>
            </a:r>
            <a:r>
              <a:rPr lang="zh-CN" altLang="en-US" dirty="0"/>
              <a:t>广度优先搜索的应用</a:t>
            </a:r>
          </a:p>
        </p:txBody>
      </p:sp>
      <p:sp>
        <p:nvSpPr>
          <p:cNvPr id="320515" name="Rectangle 3">
            <a:extLst>
              <a:ext uri="{FF2B5EF4-FFF2-40B4-BE49-F238E27FC236}">
                <a16:creationId xmlns:a16="http://schemas.microsoft.com/office/drawing/2014/main" id="{A54C035A-1E23-7E59-3B3C-3EE3EDF118C2}"/>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广度优先搜索的应用在图和网络算法中是很重要的。</a:t>
            </a:r>
            <a:endParaRPr lang="en-US" altLang="zh-CN" sz="2100" dirty="0"/>
          </a:p>
          <a:p>
            <a:r>
              <a:rPr lang="zh-CN" altLang="en-US" sz="2100" dirty="0"/>
              <a:t>设</a:t>
            </a:r>
            <a:r>
              <a:rPr lang="en-US" altLang="zh-CN" sz="2100" dirty="0"/>
              <a:t>G=(V,E)</a:t>
            </a:r>
            <a:r>
              <a:rPr lang="zh-CN" altLang="en-US" sz="2100" dirty="0"/>
              <a:t>是连通无向图，</a:t>
            </a:r>
            <a:r>
              <a:rPr lang="en-US" altLang="zh-CN" sz="2100" dirty="0"/>
              <a:t>s</a:t>
            </a:r>
            <a:r>
              <a:rPr lang="zh-CN" altLang="en-US" sz="2100" dirty="0"/>
              <a:t>是</a:t>
            </a:r>
            <a:r>
              <a:rPr lang="en-US" altLang="zh-CN" sz="2100" dirty="0"/>
              <a:t>V</a:t>
            </a:r>
            <a:r>
              <a:rPr lang="zh-CN" altLang="en-US" sz="2100" dirty="0"/>
              <a:t>中的一个顶点，当把算法</a:t>
            </a:r>
            <a:r>
              <a:rPr lang="en-US" altLang="zh-CN" sz="2100" dirty="0"/>
              <a:t>BFS</a:t>
            </a:r>
            <a:r>
              <a:rPr lang="zh-CN" altLang="en-US" sz="2100" dirty="0"/>
              <a:t>用到</a:t>
            </a:r>
            <a:r>
              <a:rPr lang="en-US" altLang="zh-CN" sz="2100" dirty="0"/>
              <a:t>G</a:t>
            </a:r>
            <a:r>
              <a:rPr lang="zh-CN" altLang="en-US" sz="2100" dirty="0"/>
              <a:t>上并以</a:t>
            </a:r>
            <a:r>
              <a:rPr lang="en-US" altLang="zh-CN" sz="2100" dirty="0"/>
              <a:t>s</a:t>
            </a:r>
            <a:r>
              <a:rPr lang="zh-CN" altLang="en-US" sz="2100" dirty="0"/>
              <a:t>作为起始点时，产生的广度优先搜索树中从</a:t>
            </a:r>
            <a:r>
              <a:rPr lang="en-US" altLang="zh-CN" sz="2100" dirty="0"/>
              <a:t>s</a:t>
            </a:r>
            <a:r>
              <a:rPr lang="zh-CN" altLang="en-US" sz="2100" dirty="0"/>
              <a:t>点到其他任意顶点的路径有最少的边数。这样，假如我们要找出从</a:t>
            </a:r>
            <a:r>
              <a:rPr lang="en-US" altLang="zh-CN" sz="2100" dirty="0"/>
              <a:t>s</a:t>
            </a:r>
            <a:r>
              <a:rPr lang="zh-CN" altLang="en-US" sz="2100" dirty="0"/>
              <a:t>到其他每一顶点的距离，这里从</a:t>
            </a:r>
            <a:r>
              <a:rPr lang="en-US" altLang="zh-CN" sz="2100" dirty="0"/>
              <a:t>s</a:t>
            </a:r>
            <a:r>
              <a:rPr lang="zh-CN" altLang="en-US" sz="2100" dirty="0"/>
              <a:t>到一个顶点</a:t>
            </a:r>
            <a:r>
              <a:rPr lang="en-US" altLang="zh-CN" sz="2100" dirty="0"/>
              <a:t>v</a:t>
            </a:r>
            <a:r>
              <a:rPr lang="zh-CN" altLang="en-US" sz="2100" dirty="0"/>
              <a:t>的距离定义为：从</a:t>
            </a:r>
            <a:r>
              <a:rPr lang="en-US" altLang="zh-CN" sz="2100" dirty="0"/>
              <a:t>s</a:t>
            </a:r>
            <a:r>
              <a:rPr lang="zh-CN" altLang="en-US" sz="2100" dirty="0"/>
              <a:t>到</a:t>
            </a:r>
            <a:r>
              <a:rPr lang="en-US" altLang="zh-CN" sz="2100" dirty="0"/>
              <a:t>v</a:t>
            </a:r>
            <a:r>
              <a:rPr lang="zh-CN" altLang="en-US" sz="2100" dirty="0"/>
              <a:t>的任意路径的最少边数。于是上面的问题可以很容易做到，我们只要在每个顶点压人队列前，标上它的距离就可以了。这样，起始点将标上</a:t>
            </a:r>
            <a:r>
              <a:rPr lang="en-US" altLang="zh-CN" sz="2100" dirty="0"/>
              <a:t>0,</a:t>
            </a:r>
            <a:r>
              <a:rPr lang="zh-CN" altLang="en-US" sz="2100" dirty="0"/>
              <a:t>它的邻接点是</a:t>
            </a:r>
            <a:r>
              <a:rPr lang="en-US" altLang="zh-CN" sz="2100" dirty="0"/>
              <a:t>1,</a:t>
            </a:r>
            <a:r>
              <a:rPr lang="zh-CN" altLang="en-US" sz="2100" dirty="0"/>
              <a:t>依次类推。很明显，每个顶点的标号是它到起始点的最短距离。例如在图</a:t>
            </a:r>
            <a:r>
              <a:rPr lang="en-US" altLang="zh-CN" sz="2100" dirty="0"/>
              <a:t>9.7</a:t>
            </a:r>
            <a:r>
              <a:rPr lang="zh-CN" altLang="en-US" sz="2100" dirty="0"/>
              <a:t>中，顶点</a:t>
            </a:r>
            <a:r>
              <a:rPr lang="en-US" altLang="zh-CN" sz="2100" dirty="0"/>
              <a:t>a</a:t>
            </a:r>
            <a:r>
              <a:rPr lang="zh-CN" altLang="en-US" sz="2100" dirty="0"/>
              <a:t>将被标上</a:t>
            </a:r>
            <a:r>
              <a:rPr lang="en-US" altLang="zh-CN" sz="2100" dirty="0"/>
              <a:t>0</a:t>
            </a:r>
            <a:r>
              <a:rPr lang="zh-CN" altLang="en-US" sz="2100" dirty="0"/>
              <a:t>，顶点</a:t>
            </a:r>
            <a:r>
              <a:rPr lang="en-US" altLang="zh-CN" sz="2100" dirty="0"/>
              <a:t>b</a:t>
            </a:r>
            <a:r>
              <a:rPr lang="zh-CN" altLang="en-US" sz="2100" dirty="0"/>
              <a:t>和</a:t>
            </a:r>
            <a:r>
              <a:rPr lang="en-US" altLang="zh-CN" sz="2100" dirty="0"/>
              <a:t>g</a:t>
            </a:r>
            <a:r>
              <a:rPr lang="zh-CN" altLang="en-US" sz="2100" dirty="0"/>
              <a:t>标上</a:t>
            </a:r>
            <a:r>
              <a:rPr lang="en-US" altLang="zh-CN" sz="2100" dirty="0"/>
              <a:t>1</a:t>
            </a:r>
            <a:r>
              <a:rPr lang="zh-CN" altLang="en-US" sz="2100" dirty="0"/>
              <a:t>，顶点</a:t>
            </a:r>
            <a:r>
              <a:rPr lang="en-US" altLang="zh-CN" sz="2100" dirty="0" err="1"/>
              <a:t>c,f</a:t>
            </a:r>
            <a:r>
              <a:rPr lang="zh-CN" altLang="en-US" sz="2100" dirty="0"/>
              <a:t>和</a:t>
            </a:r>
            <a:r>
              <a:rPr lang="en-US" altLang="zh-CN" sz="2100" dirty="0"/>
              <a:t>h</a:t>
            </a:r>
            <a:r>
              <a:rPr lang="zh-CN" altLang="en-US" sz="2100" dirty="0"/>
              <a:t>标上</a:t>
            </a:r>
            <a:r>
              <a:rPr lang="en-US" altLang="zh-CN" sz="2100" dirty="0"/>
              <a:t>2</a:t>
            </a:r>
            <a:r>
              <a:rPr lang="zh-CN" altLang="en-US" sz="2100" dirty="0"/>
              <a:t>，最后，顶点 </a:t>
            </a:r>
            <a:r>
              <a:rPr lang="en-US" altLang="zh-CN" sz="2100" dirty="0" err="1"/>
              <a:t>d,e,i</a:t>
            </a:r>
            <a:r>
              <a:rPr lang="zh-CN" altLang="en-US" sz="2100" dirty="0"/>
              <a:t>和</a:t>
            </a:r>
            <a:r>
              <a:rPr lang="en-US" altLang="zh-CN" sz="2100" dirty="0"/>
              <a:t>j</a:t>
            </a:r>
            <a:r>
              <a:rPr lang="zh-CN" altLang="en-US" sz="2100" dirty="0"/>
              <a:t>标上</a:t>
            </a:r>
            <a:r>
              <a:rPr lang="en-US" altLang="zh-CN" sz="2100" dirty="0"/>
              <a:t>3</a:t>
            </a:r>
            <a:r>
              <a:rPr lang="zh-CN" altLang="en-US" sz="2100" dirty="0"/>
              <a:t>。</a:t>
            </a:r>
            <a:endParaRPr lang="en-US" altLang="zh-CN" sz="2000" dirty="0"/>
          </a:p>
        </p:txBody>
      </p:sp>
      <p:sp>
        <p:nvSpPr>
          <p:cNvPr id="10312" name="页脚占位符 3">
            <a:extLst>
              <a:ext uri="{FF2B5EF4-FFF2-40B4-BE49-F238E27FC236}">
                <a16:creationId xmlns:a16="http://schemas.microsoft.com/office/drawing/2014/main" id="{6D0C5FC5-6E93-C85C-7928-C0EF8A86FD17}"/>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75930418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0B30B-65FE-8400-3E3C-267A8869889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E07AF33-A7E6-4D5D-4DC0-9B7392529F60}"/>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6.6 A*</a:t>
            </a:r>
            <a:r>
              <a:rPr lang="zh-CN" altLang="en-US" dirty="0"/>
              <a:t>搜索算法</a:t>
            </a:r>
          </a:p>
        </p:txBody>
      </p:sp>
      <p:sp>
        <p:nvSpPr>
          <p:cNvPr id="320515" name="Rectangle 3">
            <a:extLst>
              <a:ext uri="{FF2B5EF4-FFF2-40B4-BE49-F238E27FC236}">
                <a16:creationId xmlns:a16="http://schemas.microsoft.com/office/drawing/2014/main" id="{A567A291-FB80-090D-030F-C581DB9D4077}"/>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pPr algn="l">
              <a:spcAft>
                <a:spcPts val="638"/>
              </a:spcAft>
            </a:pPr>
            <a:r>
              <a:rPr lang="en-US" altLang="zh-CN" sz="2000" dirty="0"/>
              <a:t>A*</a:t>
            </a:r>
            <a:r>
              <a:rPr lang="zh-CN" altLang="en-US" sz="2000" dirty="0"/>
              <a:t>算法是启发式搜索算法，是根据</a:t>
            </a:r>
            <a:r>
              <a:rPr lang="en-US" altLang="zh-CN" sz="2000" dirty="0"/>
              <a:t>Dijkstra</a:t>
            </a:r>
            <a:r>
              <a:rPr lang="zh-CN" altLang="en-US" sz="2000" dirty="0"/>
              <a:t>算法改进而来。</a:t>
            </a:r>
          </a:p>
          <a:p>
            <a:pPr algn="l">
              <a:spcAft>
                <a:spcPts val="638"/>
              </a:spcAft>
            </a:pPr>
            <a:r>
              <a:rPr lang="zh-CN" altLang="en-US" sz="2000" dirty="0"/>
              <a:t>定义：是一种在图形平面上，对于有多个节点的路径求出最低通过成本的算法。它属于图遍历和最佳优先搜索算法，亦是</a:t>
            </a:r>
            <a:r>
              <a:rPr lang="en-US" altLang="zh-CN" sz="2000" dirty="0"/>
              <a:t>BFS </a:t>
            </a:r>
            <a:r>
              <a:rPr lang="zh-CN" altLang="en-US" sz="2000" dirty="0"/>
              <a:t>的改进。</a:t>
            </a:r>
            <a:endParaRPr lang="en-US" altLang="zh-CN" sz="2000" dirty="0"/>
          </a:p>
          <a:p>
            <a:pPr algn="l">
              <a:spcAft>
                <a:spcPts val="638"/>
              </a:spcAft>
            </a:pPr>
            <a:r>
              <a:rPr lang="zh-CN" altLang="en-US" sz="2100" dirty="0"/>
              <a:t>在</a:t>
            </a:r>
            <a:r>
              <a:rPr lang="en-US" altLang="zh-CN" sz="2100" dirty="0"/>
              <a:t>BFS</a:t>
            </a:r>
            <a:r>
              <a:rPr lang="zh-CN" altLang="en-US" sz="2100" dirty="0"/>
              <a:t>搜索算法中，如果能在搜索的每一步都利用估价函数</a:t>
            </a:r>
            <a:r>
              <a:rPr lang="en-US" altLang="zh-CN" sz="2100" dirty="0"/>
              <a:t>f(n)=g(n)+h(n)</a:t>
            </a:r>
            <a:r>
              <a:rPr lang="zh-CN" altLang="en-US" sz="2100" dirty="0"/>
              <a:t>对</a:t>
            </a:r>
            <a:r>
              <a:rPr lang="en-US" altLang="zh-CN" sz="2100" dirty="0"/>
              <a:t>Open</a:t>
            </a:r>
            <a:r>
              <a:rPr lang="zh-CN" altLang="en-US" sz="2100" dirty="0"/>
              <a:t>表</a:t>
            </a:r>
            <a:r>
              <a:rPr lang="en-US" altLang="zh-CN" sz="2100" dirty="0"/>
              <a:t>(</a:t>
            </a:r>
            <a:r>
              <a:rPr lang="zh-CN" altLang="en-US" sz="2100" dirty="0"/>
              <a:t>队列</a:t>
            </a:r>
            <a:r>
              <a:rPr lang="en-US" altLang="zh-CN" sz="2100" dirty="0"/>
              <a:t>)</a:t>
            </a:r>
            <a:r>
              <a:rPr lang="zh-CN" altLang="en-US" sz="2100" dirty="0"/>
              <a:t>中的节点进行排序，则该搜索算法为</a:t>
            </a:r>
            <a:r>
              <a:rPr lang="en-US" altLang="zh-CN" sz="2100" dirty="0"/>
              <a:t>A</a:t>
            </a:r>
            <a:r>
              <a:rPr lang="zh-CN" altLang="en-US" sz="2100" dirty="0"/>
              <a:t>算法。由于估价函数中带有问题自身的启发性信息，因此，</a:t>
            </a:r>
            <a:r>
              <a:rPr lang="en-US" altLang="zh-CN" sz="2100" dirty="0"/>
              <a:t>A</a:t>
            </a:r>
            <a:r>
              <a:rPr lang="zh-CN" altLang="en-US" sz="2100" dirty="0"/>
              <a:t>算法又称为启发式搜索算法。</a:t>
            </a:r>
            <a:endParaRPr lang="en-US" altLang="zh-CN" sz="2100" dirty="0"/>
          </a:p>
          <a:p>
            <a:r>
              <a:rPr lang="zh-CN" altLang="en-US" sz="2100" dirty="0"/>
              <a:t>对启发式搜索算法，又可根据搜索过程中选择扩展节点的范围，将其分为全局择优搜索算法和局部择优搜索算法。</a:t>
            </a:r>
            <a:endParaRPr lang="en-US" altLang="zh-CN" sz="2100" dirty="0"/>
          </a:p>
          <a:p>
            <a:endParaRPr lang="en-US" altLang="zh-CN" sz="2100" dirty="0"/>
          </a:p>
          <a:p>
            <a:r>
              <a:rPr lang="en-US" altLang="zh-CN" sz="2000" dirty="0"/>
              <a:t>A*</a:t>
            </a:r>
            <a:r>
              <a:rPr lang="zh-CN" altLang="en-US" sz="2000" dirty="0"/>
              <a:t>搜索算法是一种用于</a:t>
            </a:r>
            <a:r>
              <a:rPr lang="zh-CN" altLang="en-US" sz="2000" dirty="0">
                <a:hlinkClick r:id="rId3">
                  <a:extLst>
                    <a:ext uri="{A12FA001-AC4F-418D-AE19-62706E023703}">
                      <ahyp:hlinkClr xmlns:ahyp="http://schemas.microsoft.com/office/drawing/2018/hyperlinkcolor" val="tx"/>
                    </a:ext>
                  </a:extLst>
                </a:hlinkClick>
              </a:rPr>
              <a:t>路径搜索</a:t>
            </a:r>
            <a:r>
              <a:rPr lang="zh-CN" altLang="en-US" sz="2000" dirty="0"/>
              <a:t>和图遍历的效果很好、主流的技术之一</a:t>
            </a:r>
            <a:r>
              <a:rPr lang="zh-CN" altLang="en-US" sz="1200" b="0" i="0" dirty="0">
                <a:solidFill>
                  <a:srgbClr val="191B1F"/>
                </a:solidFill>
                <a:effectLst/>
                <a:latin typeface="-apple-system"/>
              </a:rPr>
              <a:t>。</a:t>
            </a:r>
            <a:endParaRPr lang="en-US" altLang="zh-CN" sz="1200" b="0" i="0" dirty="0">
              <a:solidFill>
                <a:srgbClr val="191B1F"/>
              </a:solidFill>
              <a:effectLst/>
              <a:latin typeface="-apple-system"/>
            </a:endParaRPr>
          </a:p>
        </p:txBody>
      </p:sp>
      <p:sp>
        <p:nvSpPr>
          <p:cNvPr id="10312" name="页脚占位符 3">
            <a:extLst>
              <a:ext uri="{FF2B5EF4-FFF2-40B4-BE49-F238E27FC236}">
                <a16:creationId xmlns:a16="http://schemas.microsoft.com/office/drawing/2014/main" id="{F5AF0264-0C6B-BCD9-7F66-7488DEFEE59F}"/>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73494699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701C-BD18-47BC-3D52-365202B2180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617C862-C811-6BB5-9167-05FCD94CE51F}"/>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6.6 A*</a:t>
            </a:r>
            <a:r>
              <a:rPr lang="zh-CN" altLang="en-US" dirty="0"/>
              <a:t>搜索算法</a:t>
            </a:r>
          </a:p>
        </p:txBody>
      </p:sp>
      <p:sp>
        <p:nvSpPr>
          <p:cNvPr id="320515" name="Rectangle 3">
            <a:extLst>
              <a:ext uri="{FF2B5EF4-FFF2-40B4-BE49-F238E27FC236}">
                <a16:creationId xmlns:a16="http://schemas.microsoft.com/office/drawing/2014/main" id="{A311C2B3-6180-D1DA-35F5-F73A8B8871F9}"/>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pPr algn="l">
              <a:spcAft>
                <a:spcPts val="638"/>
              </a:spcAft>
            </a:pPr>
            <a:r>
              <a:rPr lang="en-US" altLang="zh-CN" sz="2000" dirty="0"/>
              <a:t>A*</a:t>
            </a:r>
            <a:r>
              <a:rPr lang="zh-CN" altLang="en-US" sz="2000" dirty="0"/>
              <a:t>算法是启发式搜索算法，是根据</a:t>
            </a:r>
            <a:r>
              <a:rPr lang="en-US" altLang="zh-CN" sz="2000" dirty="0"/>
              <a:t>Dijkstra</a:t>
            </a:r>
            <a:r>
              <a:rPr lang="zh-CN" altLang="en-US" sz="2000" dirty="0"/>
              <a:t>算法改进而来。</a:t>
            </a:r>
          </a:p>
          <a:p>
            <a:pPr algn="l">
              <a:spcAft>
                <a:spcPts val="638"/>
              </a:spcAft>
            </a:pPr>
            <a:r>
              <a:rPr lang="zh-CN" altLang="en-US" sz="2000" b="1" dirty="0"/>
              <a:t>定义：</a:t>
            </a:r>
            <a:r>
              <a:rPr lang="en-US" altLang="zh-CN" sz="2000" dirty="0"/>
              <a:t> A*</a:t>
            </a:r>
            <a:r>
              <a:rPr lang="zh-CN" altLang="en-US" sz="2000" dirty="0"/>
              <a:t>算法是一种在图形平面上，对于有多个节点的路径求出最低通过成本的算法。它属于图遍历和最佳优先搜索算法，亦是</a:t>
            </a:r>
            <a:r>
              <a:rPr lang="en-US" altLang="zh-CN" sz="2000" dirty="0"/>
              <a:t>BFS </a:t>
            </a:r>
            <a:r>
              <a:rPr lang="zh-CN" altLang="en-US" sz="2000" dirty="0"/>
              <a:t>的改进。</a:t>
            </a:r>
            <a:endParaRPr lang="en-US" altLang="zh-CN" sz="2000" dirty="0"/>
          </a:p>
          <a:p>
            <a:pPr algn="l">
              <a:spcAft>
                <a:spcPts val="638"/>
              </a:spcAft>
            </a:pPr>
            <a:r>
              <a:rPr lang="zh-CN" altLang="en-US" sz="2100" dirty="0"/>
              <a:t>在</a:t>
            </a:r>
            <a:r>
              <a:rPr lang="en-US" altLang="zh-CN" sz="2100" dirty="0"/>
              <a:t>BFS</a:t>
            </a:r>
            <a:r>
              <a:rPr lang="zh-CN" altLang="en-US" sz="2100" dirty="0"/>
              <a:t>搜索算法中，如果能在搜索的每一步都利用估价函数</a:t>
            </a:r>
            <a:r>
              <a:rPr lang="en-US" altLang="zh-CN" sz="2100" dirty="0"/>
              <a:t>f(n)=g(n)+h(n)</a:t>
            </a:r>
            <a:r>
              <a:rPr lang="zh-CN" altLang="en-US" sz="2100" dirty="0"/>
              <a:t>对</a:t>
            </a:r>
            <a:r>
              <a:rPr lang="en-US" altLang="zh-CN" sz="2100" dirty="0"/>
              <a:t>Open</a:t>
            </a:r>
            <a:r>
              <a:rPr lang="zh-CN" altLang="en-US" sz="2100" dirty="0"/>
              <a:t>表</a:t>
            </a:r>
            <a:r>
              <a:rPr lang="en-US" altLang="zh-CN" sz="2100" dirty="0"/>
              <a:t>(</a:t>
            </a:r>
            <a:r>
              <a:rPr lang="zh-CN" altLang="en-US" sz="2100" dirty="0"/>
              <a:t>队列</a:t>
            </a:r>
            <a:r>
              <a:rPr lang="en-US" altLang="zh-CN" sz="2100" dirty="0"/>
              <a:t>)</a:t>
            </a:r>
            <a:r>
              <a:rPr lang="zh-CN" altLang="en-US" sz="2100" dirty="0"/>
              <a:t>中的节点进行排序，则该搜索算法为</a:t>
            </a:r>
            <a:r>
              <a:rPr lang="en-US" altLang="zh-CN" sz="2100" dirty="0"/>
              <a:t>A</a:t>
            </a:r>
            <a:r>
              <a:rPr lang="zh-CN" altLang="en-US" sz="2100" dirty="0"/>
              <a:t>算法。由于估价函数中带有问题自身的启发性信息，因此，</a:t>
            </a:r>
            <a:r>
              <a:rPr lang="en-US" altLang="zh-CN" sz="2100" dirty="0"/>
              <a:t>A</a:t>
            </a:r>
            <a:r>
              <a:rPr lang="zh-CN" altLang="en-US" sz="2100" dirty="0"/>
              <a:t>算法又称为启发式搜索算法。</a:t>
            </a:r>
            <a:endParaRPr lang="en-US" altLang="zh-CN" sz="2100" dirty="0"/>
          </a:p>
          <a:p>
            <a:r>
              <a:rPr lang="zh-CN" altLang="en-US" sz="2100" dirty="0"/>
              <a:t>对启发式搜索算法，又可根据搜索过程中选择扩展节点的范围，将其分为全局择优搜索算法和局部择优搜索算法。</a:t>
            </a:r>
            <a:endParaRPr lang="en-US" altLang="zh-CN" sz="2100" dirty="0"/>
          </a:p>
          <a:p>
            <a:r>
              <a:rPr lang="en-US" altLang="zh-CN" sz="2000" dirty="0"/>
              <a:t>A*</a:t>
            </a:r>
            <a:r>
              <a:rPr lang="zh-CN" altLang="en-US" sz="2000" dirty="0"/>
              <a:t>搜索算法是一种用于</a:t>
            </a:r>
            <a:r>
              <a:rPr lang="zh-CN" altLang="en-US" sz="2000" dirty="0">
                <a:hlinkClick r:id="rId3">
                  <a:extLst>
                    <a:ext uri="{A12FA001-AC4F-418D-AE19-62706E023703}">
                      <ahyp:hlinkClr xmlns:ahyp="http://schemas.microsoft.com/office/drawing/2018/hyperlinkcolor" val="tx"/>
                    </a:ext>
                  </a:extLst>
                </a:hlinkClick>
              </a:rPr>
              <a:t>路径搜索</a:t>
            </a:r>
            <a:r>
              <a:rPr lang="zh-CN" altLang="en-US" sz="2000" dirty="0"/>
              <a:t>和图遍历的效果很好、主流的技术之一</a:t>
            </a:r>
            <a:r>
              <a:rPr lang="zh-CN" altLang="en-US" sz="1200" b="0" i="0" dirty="0">
                <a:solidFill>
                  <a:srgbClr val="191B1F"/>
                </a:solidFill>
                <a:effectLst/>
                <a:latin typeface="-apple-system"/>
              </a:rPr>
              <a:t>。</a:t>
            </a:r>
            <a:endParaRPr lang="en-US" altLang="zh-CN" sz="1200" b="0" i="0" dirty="0">
              <a:solidFill>
                <a:srgbClr val="191B1F"/>
              </a:solidFill>
              <a:effectLst/>
              <a:latin typeface="-apple-system"/>
            </a:endParaRPr>
          </a:p>
        </p:txBody>
      </p:sp>
      <p:sp>
        <p:nvSpPr>
          <p:cNvPr id="10312" name="页脚占位符 3">
            <a:extLst>
              <a:ext uri="{FF2B5EF4-FFF2-40B4-BE49-F238E27FC236}">
                <a16:creationId xmlns:a16="http://schemas.microsoft.com/office/drawing/2014/main" id="{AE092F4F-9578-D7C4-B977-D78C34A463EA}"/>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92600845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1B02-D3F8-4146-B095-6F07205617B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94BFD2A-4E6D-A976-3665-F6B65D85AC94}"/>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6.6 A*</a:t>
            </a:r>
            <a:r>
              <a:rPr lang="zh-CN" altLang="en-US" dirty="0"/>
              <a:t>搜索算法</a:t>
            </a:r>
          </a:p>
        </p:txBody>
      </p:sp>
      <p:sp>
        <p:nvSpPr>
          <p:cNvPr id="320515" name="Rectangle 3">
            <a:extLst>
              <a:ext uri="{FF2B5EF4-FFF2-40B4-BE49-F238E27FC236}">
                <a16:creationId xmlns:a16="http://schemas.microsoft.com/office/drawing/2014/main" id="{09F7C3E4-3A6C-F43C-1464-26FFBED0192C}"/>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pPr algn="l">
              <a:spcAft>
                <a:spcPts val="638"/>
              </a:spcAft>
            </a:pPr>
            <a:r>
              <a:rPr lang="zh-CN" altLang="en-US" sz="2100" dirty="0"/>
              <a:t>如何更好的理解</a:t>
            </a:r>
            <a:r>
              <a:rPr lang="en-US" altLang="zh-CN" sz="2100" dirty="0"/>
              <a:t>A*</a:t>
            </a:r>
            <a:r>
              <a:rPr lang="zh-CN" altLang="en-US" sz="2100" dirty="0"/>
              <a:t>算法？</a:t>
            </a:r>
          </a:p>
          <a:p>
            <a:pPr algn="l">
              <a:spcAft>
                <a:spcPts val="638"/>
              </a:spcAft>
            </a:pPr>
            <a:r>
              <a:rPr lang="zh-CN" altLang="en-US" sz="2100" dirty="0"/>
              <a:t>如下图所示，</a:t>
            </a:r>
            <a:r>
              <a:rPr lang="en-US" altLang="zh-CN" sz="2100" dirty="0"/>
              <a:t>S</a:t>
            </a:r>
            <a:r>
              <a:rPr lang="zh-CN" altLang="en-US" sz="2100" dirty="0"/>
              <a:t>为起始（</a:t>
            </a:r>
            <a:r>
              <a:rPr lang="en-US" altLang="zh-CN" sz="2100" dirty="0"/>
              <a:t>start</a:t>
            </a:r>
            <a:r>
              <a:rPr lang="zh-CN" altLang="en-US" sz="2100" dirty="0"/>
              <a:t>）节点，</a:t>
            </a:r>
            <a:r>
              <a:rPr lang="en-US" altLang="zh-CN" sz="2100" dirty="0"/>
              <a:t>G</a:t>
            </a:r>
            <a:r>
              <a:rPr lang="zh-CN" altLang="en-US" sz="2100" dirty="0"/>
              <a:t>为目标（</a:t>
            </a:r>
            <a:r>
              <a:rPr lang="en-US" altLang="zh-CN" sz="2100" dirty="0"/>
              <a:t>goal</a:t>
            </a:r>
            <a:r>
              <a:rPr lang="zh-CN" altLang="en-US" sz="2100" dirty="0"/>
              <a:t>）节点。</a:t>
            </a:r>
          </a:p>
          <a:p>
            <a:pPr>
              <a:spcBef>
                <a:spcPts val="0"/>
              </a:spcBef>
              <a:spcAft>
                <a:spcPts val="0"/>
              </a:spcAft>
            </a:pPr>
            <a:r>
              <a:rPr lang="zh-CN" altLang="en-US" sz="2100" dirty="0"/>
              <a:t>（</a:t>
            </a:r>
            <a:r>
              <a:rPr lang="en-US" altLang="zh-CN" sz="2100" dirty="0"/>
              <a:t>1</a:t>
            </a:r>
            <a:r>
              <a:rPr lang="zh-CN" altLang="en-US" sz="2100" dirty="0"/>
              <a:t>）节点之间连线是两点的路径长度，如</a:t>
            </a:r>
            <a:r>
              <a:rPr lang="en-US" altLang="zh-CN" sz="2100" dirty="0"/>
              <a:t>A</a:t>
            </a:r>
            <a:r>
              <a:rPr lang="zh-CN" altLang="en-US" sz="2100" dirty="0"/>
              <a:t>到</a:t>
            </a:r>
            <a:r>
              <a:rPr lang="en-US" altLang="zh-CN" sz="2100" dirty="0"/>
              <a:t>E</a:t>
            </a:r>
            <a:r>
              <a:rPr lang="zh-CN" altLang="en-US" sz="2100" dirty="0"/>
              <a:t>的路径长度</a:t>
            </a:r>
            <a:r>
              <a:rPr lang="en-US" altLang="zh-CN" sz="2100" dirty="0"/>
              <a:t>c(A,E) = 9</a:t>
            </a:r>
            <a:r>
              <a:rPr lang="zh-CN" altLang="en-US" sz="2100" dirty="0"/>
              <a:t>。</a:t>
            </a:r>
          </a:p>
          <a:p>
            <a:pPr>
              <a:spcBef>
                <a:spcPts val="0"/>
              </a:spcBef>
              <a:spcAft>
                <a:spcPts val="0"/>
              </a:spcAft>
            </a:pPr>
            <a:r>
              <a:rPr lang="zh-CN" altLang="en-US" sz="2100" dirty="0"/>
              <a:t>（</a:t>
            </a:r>
            <a:r>
              <a:rPr lang="en-US" altLang="zh-CN" sz="2100" dirty="0"/>
              <a:t>2</a:t>
            </a:r>
            <a:r>
              <a:rPr lang="zh-CN" altLang="en-US" sz="2100" dirty="0"/>
              <a:t>）节点旁的</a:t>
            </a:r>
            <a:r>
              <a:rPr lang="en-US" altLang="zh-CN" sz="2100" dirty="0"/>
              <a:t>h</a:t>
            </a:r>
            <a:r>
              <a:rPr lang="zh-CN" altLang="en-US" sz="2100" dirty="0"/>
              <a:t>值时当前节点到达目标节点（</a:t>
            </a:r>
            <a:r>
              <a:rPr lang="en-US" altLang="zh-CN" sz="2100" dirty="0"/>
              <a:t>G</a:t>
            </a:r>
            <a:r>
              <a:rPr lang="zh-CN" altLang="en-US" sz="2100" dirty="0"/>
              <a:t>）的预估值，如</a:t>
            </a:r>
            <a:r>
              <a:rPr lang="en-US" altLang="zh-CN" sz="2100" dirty="0"/>
              <a:t>h(A)=15, </a:t>
            </a:r>
            <a:r>
              <a:rPr lang="zh-CN" altLang="en-US" sz="2100" dirty="0"/>
              <a:t>表示从当前点</a:t>
            </a:r>
            <a:r>
              <a:rPr lang="en-US" altLang="zh-CN" sz="2100" dirty="0"/>
              <a:t>A</a:t>
            </a:r>
            <a:r>
              <a:rPr lang="zh-CN" altLang="en-US" sz="2100" dirty="0"/>
              <a:t>到达目标点</a:t>
            </a:r>
            <a:r>
              <a:rPr lang="en-US" altLang="zh-CN" sz="2100" dirty="0"/>
              <a:t>G</a:t>
            </a:r>
            <a:r>
              <a:rPr lang="zh-CN" altLang="en-US" sz="2100" dirty="0"/>
              <a:t>的估计路径长度为</a:t>
            </a:r>
            <a:r>
              <a:rPr lang="en-US" altLang="zh-CN" sz="2100" dirty="0"/>
              <a:t>15</a:t>
            </a:r>
            <a:r>
              <a:rPr lang="zh-CN" altLang="en-US" sz="2100" dirty="0"/>
              <a:t>，此处</a:t>
            </a:r>
            <a:r>
              <a:rPr lang="en-US" altLang="zh-CN" sz="2100" dirty="0"/>
              <a:t>h(x)</a:t>
            </a:r>
            <a:r>
              <a:rPr lang="zh-CN" altLang="en-US" sz="2100" dirty="0"/>
              <a:t>即为启发函数。</a:t>
            </a:r>
          </a:p>
          <a:p>
            <a:pPr>
              <a:spcBef>
                <a:spcPts val="0"/>
              </a:spcBef>
              <a:spcAft>
                <a:spcPts val="0"/>
              </a:spcAft>
            </a:pPr>
            <a:r>
              <a:rPr lang="zh-CN" altLang="en-US" sz="2100" dirty="0"/>
              <a:t>（</a:t>
            </a:r>
            <a:r>
              <a:rPr lang="en-US" altLang="zh-CN" sz="2100" dirty="0"/>
              <a:t>3</a:t>
            </a:r>
            <a:r>
              <a:rPr lang="zh-CN" altLang="en-US" sz="2100" dirty="0"/>
              <a:t>）从起点</a:t>
            </a:r>
            <a:r>
              <a:rPr lang="en-US" altLang="zh-CN" sz="2100" dirty="0"/>
              <a:t>S</a:t>
            </a:r>
            <a:r>
              <a:rPr lang="zh-CN" altLang="en-US" sz="2100" dirty="0"/>
              <a:t>到达当前节点</a:t>
            </a:r>
            <a:r>
              <a:rPr lang="en-US" altLang="zh-CN" sz="2100" dirty="0"/>
              <a:t>x</a:t>
            </a:r>
            <a:r>
              <a:rPr lang="zh-CN" altLang="en-US" sz="2100" dirty="0"/>
              <a:t>的路径长度表示为</a:t>
            </a:r>
            <a:r>
              <a:rPr lang="en-US" altLang="zh-CN" sz="2100" dirty="0"/>
              <a:t>g(x) </a:t>
            </a:r>
            <a:r>
              <a:rPr lang="zh-CN" altLang="en-US" sz="2100" dirty="0"/>
              <a:t>。</a:t>
            </a:r>
          </a:p>
          <a:p>
            <a:pPr>
              <a:spcBef>
                <a:spcPts val="0"/>
              </a:spcBef>
              <a:spcAft>
                <a:spcPts val="0"/>
              </a:spcAft>
            </a:pPr>
            <a:r>
              <a:rPr lang="zh-CN" altLang="en-US" sz="2100" dirty="0"/>
              <a:t>（</a:t>
            </a:r>
            <a:r>
              <a:rPr lang="en-US" altLang="zh-CN" sz="2100" dirty="0"/>
              <a:t>4</a:t>
            </a:r>
            <a:r>
              <a:rPr lang="zh-CN" altLang="en-US" sz="2100" dirty="0"/>
              <a:t>）从起点</a:t>
            </a:r>
            <a:r>
              <a:rPr lang="en-US" altLang="zh-CN" sz="2100" dirty="0"/>
              <a:t>S</a:t>
            </a:r>
            <a:r>
              <a:rPr lang="zh-CN" altLang="en-US" sz="2100" dirty="0"/>
              <a:t>到达目标</a:t>
            </a:r>
            <a:r>
              <a:rPr lang="en-US" altLang="zh-CN" sz="2100" dirty="0"/>
              <a:t>G</a:t>
            </a:r>
            <a:r>
              <a:rPr lang="zh-CN" altLang="en-US" sz="2100" dirty="0"/>
              <a:t>并经过点</a:t>
            </a:r>
            <a:r>
              <a:rPr lang="en-US" altLang="zh-CN" sz="2100" dirty="0"/>
              <a:t>x</a:t>
            </a:r>
            <a:r>
              <a:rPr lang="zh-CN" altLang="en-US" sz="2100" dirty="0"/>
              <a:t>的估计距离长度表示为</a:t>
            </a:r>
            <a:r>
              <a:rPr lang="en-US" altLang="zh-CN" sz="2100" dirty="0"/>
              <a:t>f(x) = g(x) + h(x)</a:t>
            </a:r>
            <a:r>
              <a:rPr lang="zh-CN" altLang="en-US" sz="2100" dirty="0"/>
              <a:t>，该公式是</a:t>
            </a:r>
            <a:r>
              <a:rPr lang="en-US" altLang="zh-CN" sz="2100" dirty="0"/>
              <a:t>A*</a:t>
            </a:r>
            <a:r>
              <a:rPr lang="zh-CN" altLang="en-US" sz="2100" dirty="0"/>
              <a:t>算法的核心公式。</a:t>
            </a:r>
          </a:p>
          <a:p>
            <a:pPr>
              <a:spcBef>
                <a:spcPts val="0"/>
              </a:spcBef>
              <a:spcAft>
                <a:spcPts val="0"/>
              </a:spcAft>
            </a:pPr>
            <a:r>
              <a:rPr lang="zh-CN" altLang="en-US" sz="2100" dirty="0"/>
              <a:t>（</a:t>
            </a:r>
            <a:r>
              <a:rPr lang="en-US" altLang="zh-CN" sz="2100" dirty="0"/>
              <a:t>5</a:t>
            </a:r>
            <a:r>
              <a:rPr lang="zh-CN" altLang="en-US" sz="2100" dirty="0"/>
              <a:t>）</a:t>
            </a:r>
            <a:r>
              <a:rPr lang="en-US" altLang="zh-CN" sz="2100" dirty="0"/>
              <a:t>A*</a:t>
            </a:r>
            <a:r>
              <a:rPr lang="zh-CN" altLang="en-US" sz="2100" dirty="0"/>
              <a:t>算法通过不断的选择估计距离</a:t>
            </a:r>
            <a:r>
              <a:rPr lang="en-US" altLang="zh-CN" sz="2100" dirty="0"/>
              <a:t>f</a:t>
            </a:r>
            <a:r>
              <a:rPr lang="zh-CN" altLang="en-US" sz="2100" dirty="0"/>
              <a:t>最小的节点，逐渐构建最短路径。</a:t>
            </a:r>
          </a:p>
        </p:txBody>
      </p:sp>
      <p:sp>
        <p:nvSpPr>
          <p:cNvPr id="10312" name="页脚占位符 3">
            <a:extLst>
              <a:ext uri="{FF2B5EF4-FFF2-40B4-BE49-F238E27FC236}">
                <a16:creationId xmlns:a16="http://schemas.microsoft.com/office/drawing/2014/main" id="{30D9E7D9-5755-D438-C26A-D269F1AE3E84}"/>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28475441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74F47-6AB0-73C8-BCFE-421705A7D47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6484B85-EB0D-6526-1691-9CF0F2427648}"/>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6.6 A*</a:t>
            </a:r>
            <a:r>
              <a:rPr lang="zh-CN" altLang="en-US" dirty="0"/>
              <a:t>搜索算法</a:t>
            </a:r>
          </a:p>
        </p:txBody>
      </p:sp>
      <p:sp>
        <p:nvSpPr>
          <p:cNvPr id="320515" name="Rectangle 3">
            <a:extLst>
              <a:ext uri="{FF2B5EF4-FFF2-40B4-BE49-F238E27FC236}">
                <a16:creationId xmlns:a16="http://schemas.microsoft.com/office/drawing/2014/main" id="{DCCED0EC-6BFC-0CAB-B0D5-10125BDE535B}"/>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pPr algn="l">
              <a:spcAft>
                <a:spcPts val="638"/>
              </a:spcAft>
            </a:pPr>
            <a:endParaRPr lang="zh-CN" altLang="en-US" sz="2100" dirty="0"/>
          </a:p>
        </p:txBody>
      </p:sp>
      <p:sp>
        <p:nvSpPr>
          <p:cNvPr id="10312" name="页脚占位符 3">
            <a:extLst>
              <a:ext uri="{FF2B5EF4-FFF2-40B4-BE49-F238E27FC236}">
                <a16:creationId xmlns:a16="http://schemas.microsoft.com/office/drawing/2014/main" id="{4466969A-A395-B1E3-9E53-AA53D5A4A955}"/>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pic>
        <p:nvPicPr>
          <p:cNvPr id="2050" name="Picture 2">
            <a:extLst>
              <a:ext uri="{FF2B5EF4-FFF2-40B4-BE49-F238E27FC236}">
                <a16:creationId xmlns:a16="http://schemas.microsoft.com/office/drawing/2014/main" id="{9F37FCDC-4CCE-16CF-8BE9-D7F112D56E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74" y="1295399"/>
            <a:ext cx="7654925" cy="4186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34777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9A61FE39-171C-47F9-7940-D05600BC74D7}"/>
              </a:ext>
            </a:extLst>
          </p:cNvPr>
          <p:cNvSpPr>
            <a:spLocks noGrp="1"/>
          </p:cNvSpPr>
          <p:nvPr>
            <p:ph type="body" sz="half" idx="1"/>
          </p:nvPr>
        </p:nvSpPr>
        <p:spPr>
          <a:xfrm>
            <a:off x="900113" y="1268413"/>
            <a:ext cx="3290887" cy="4525962"/>
          </a:xfrm>
        </p:spPr>
        <p:txBody>
          <a:bodyPr/>
          <a:lstStyle/>
          <a:p>
            <a:pPr algn="l">
              <a:spcBef>
                <a:spcPts val="0"/>
              </a:spcBef>
              <a:spcAft>
                <a:spcPts val="0"/>
              </a:spcAft>
            </a:pPr>
            <a:r>
              <a:rPr lang="zh-CN" altLang="en-US" sz="1600" b="0" i="0" dirty="0">
                <a:solidFill>
                  <a:srgbClr val="555555"/>
                </a:solidFill>
                <a:effectLst/>
                <a:latin typeface="-apple-system"/>
              </a:rPr>
              <a:t>搜索过程</a:t>
            </a:r>
            <a:r>
              <a:rPr lang="en-US" altLang="zh-CN" sz="1600" b="0" i="0" dirty="0">
                <a:solidFill>
                  <a:srgbClr val="555555"/>
                </a:solidFill>
                <a:effectLst/>
                <a:latin typeface="-apple-system"/>
              </a:rPr>
              <a:t>:</a:t>
            </a:r>
            <a:endParaRPr lang="zh-CN" altLang="en-US" sz="1600" b="0" i="0" dirty="0">
              <a:solidFill>
                <a:srgbClr val="555555"/>
              </a:solidFill>
              <a:effectLst/>
              <a:latin typeface="-apple-system"/>
            </a:endParaRPr>
          </a:p>
          <a:p>
            <a:pPr algn="l">
              <a:spcBef>
                <a:spcPts val="0"/>
              </a:spcBef>
              <a:spcAft>
                <a:spcPts val="0"/>
              </a:spcAft>
            </a:pPr>
            <a:r>
              <a:rPr lang="zh-CN" altLang="en-US" sz="1600" b="0" i="0" dirty="0">
                <a:solidFill>
                  <a:srgbClr val="555555"/>
                </a:solidFill>
                <a:effectLst/>
                <a:latin typeface="-apple-system"/>
              </a:rPr>
              <a:t>组合块中：</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a</a:t>
            </a:r>
            <a:r>
              <a:rPr lang="zh-CN" altLang="en-US" sz="1600" b="0" i="0" dirty="0">
                <a:solidFill>
                  <a:srgbClr val="555555"/>
                </a:solidFill>
                <a:effectLst/>
                <a:latin typeface="-apple-system"/>
              </a:rPr>
              <a:t>）灰色为前序节点</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b</a:t>
            </a:r>
            <a:r>
              <a:rPr lang="zh-CN" altLang="en-US" sz="1600" b="0" i="0" dirty="0">
                <a:solidFill>
                  <a:srgbClr val="555555"/>
                </a:solidFill>
                <a:effectLst/>
                <a:latin typeface="-apple-system"/>
              </a:rPr>
              <a:t>）蓝色当前节点</a:t>
            </a:r>
            <a:r>
              <a:rPr lang="en-US" altLang="zh-CN" sz="1600" b="0" i="0" dirty="0">
                <a:solidFill>
                  <a:srgbClr val="555555"/>
                </a:solidFill>
                <a:effectLst/>
                <a:latin typeface="-apple-system"/>
              </a:rPr>
              <a:t>x</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c</a:t>
            </a:r>
            <a:r>
              <a:rPr lang="zh-CN" altLang="en-US" sz="1600" b="0" i="0" dirty="0">
                <a:solidFill>
                  <a:srgbClr val="555555"/>
                </a:solidFill>
                <a:effectLst/>
                <a:latin typeface="-apple-system"/>
              </a:rPr>
              <a:t>）</a:t>
            </a:r>
            <a:r>
              <a:rPr lang="en-US" altLang="zh-CN" sz="1600" b="0" i="0" dirty="0">
                <a:solidFill>
                  <a:srgbClr val="555555"/>
                </a:solidFill>
                <a:effectLst/>
                <a:latin typeface="-apple-system"/>
              </a:rPr>
              <a:t>g</a:t>
            </a:r>
            <a:r>
              <a:rPr lang="zh-CN" altLang="en-US" sz="1600" b="0" i="0" dirty="0">
                <a:solidFill>
                  <a:srgbClr val="555555"/>
                </a:solidFill>
                <a:effectLst/>
                <a:latin typeface="-apple-system"/>
              </a:rPr>
              <a:t>：起点</a:t>
            </a:r>
            <a:r>
              <a:rPr lang="en-US" altLang="zh-CN" sz="1600" b="0" i="0" dirty="0">
                <a:solidFill>
                  <a:srgbClr val="555555"/>
                </a:solidFill>
                <a:effectLst/>
                <a:latin typeface="-apple-system"/>
              </a:rPr>
              <a:t>S</a:t>
            </a:r>
            <a:r>
              <a:rPr lang="zh-CN" altLang="en-US" sz="1600" b="0" i="0" dirty="0">
                <a:solidFill>
                  <a:srgbClr val="555555"/>
                </a:solidFill>
                <a:effectLst/>
                <a:latin typeface="-apple-system"/>
              </a:rPr>
              <a:t>到当前节点</a:t>
            </a:r>
            <a:r>
              <a:rPr lang="en-US" altLang="zh-CN" sz="1600" b="0" i="0" dirty="0">
                <a:solidFill>
                  <a:srgbClr val="555555"/>
                </a:solidFill>
                <a:effectLst/>
                <a:latin typeface="-apple-system"/>
              </a:rPr>
              <a:t>x</a:t>
            </a:r>
            <a:r>
              <a:rPr lang="zh-CN" altLang="en-US" sz="1600" b="0" i="0" dirty="0">
                <a:solidFill>
                  <a:srgbClr val="555555"/>
                </a:solidFill>
                <a:effectLst/>
                <a:latin typeface="-apple-system"/>
              </a:rPr>
              <a:t>的路径距离。</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d</a:t>
            </a:r>
            <a:r>
              <a:rPr lang="zh-CN" altLang="en-US" sz="1600" b="0" i="0" dirty="0">
                <a:solidFill>
                  <a:srgbClr val="555555"/>
                </a:solidFill>
                <a:effectLst/>
                <a:latin typeface="-apple-system"/>
              </a:rPr>
              <a:t>）</a:t>
            </a:r>
            <a:r>
              <a:rPr lang="en-US" altLang="zh-CN" sz="1600" b="0" i="0" dirty="0">
                <a:solidFill>
                  <a:srgbClr val="555555"/>
                </a:solidFill>
                <a:effectLst/>
                <a:latin typeface="-apple-system"/>
              </a:rPr>
              <a:t>h</a:t>
            </a:r>
            <a:r>
              <a:rPr lang="zh-CN" altLang="en-US" sz="1600" b="0" i="0" dirty="0">
                <a:solidFill>
                  <a:srgbClr val="555555"/>
                </a:solidFill>
                <a:effectLst/>
                <a:latin typeface="-apple-system"/>
              </a:rPr>
              <a:t>：当前节点</a:t>
            </a:r>
            <a:r>
              <a:rPr lang="en-US" altLang="zh-CN" sz="1600" b="0" i="0" dirty="0">
                <a:solidFill>
                  <a:srgbClr val="555555"/>
                </a:solidFill>
                <a:effectLst/>
                <a:latin typeface="-apple-system"/>
              </a:rPr>
              <a:t>x</a:t>
            </a:r>
            <a:r>
              <a:rPr lang="zh-CN" altLang="en-US" sz="1600" b="0" i="0" dirty="0">
                <a:solidFill>
                  <a:srgbClr val="555555"/>
                </a:solidFill>
                <a:effectLst/>
                <a:latin typeface="-apple-system"/>
              </a:rPr>
              <a:t>到终点</a:t>
            </a:r>
            <a:r>
              <a:rPr lang="en-US" altLang="zh-CN" sz="1600" b="0" i="0" dirty="0">
                <a:solidFill>
                  <a:srgbClr val="555555"/>
                </a:solidFill>
                <a:effectLst/>
                <a:latin typeface="-apple-system"/>
              </a:rPr>
              <a:t>G</a:t>
            </a:r>
            <a:r>
              <a:rPr lang="zh-CN" altLang="en-US" sz="1600" b="0" i="0" dirty="0">
                <a:solidFill>
                  <a:srgbClr val="555555"/>
                </a:solidFill>
                <a:effectLst/>
                <a:latin typeface="-apple-system"/>
              </a:rPr>
              <a:t>的估计距离</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e</a:t>
            </a:r>
            <a:r>
              <a:rPr lang="zh-CN" altLang="en-US" sz="1600" b="0" i="0" dirty="0">
                <a:solidFill>
                  <a:srgbClr val="555555"/>
                </a:solidFill>
                <a:effectLst/>
                <a:latin typeface="-apple-system"/>
              </a:rPr>
              <a:t>）</a:t>
            </a:r>
            <a:r>
              <a:rPr lang="en-US" altLang="zh-CN" sz="1600" b="0" i="0" dirty="0">
                <a:solidFill>
                  <a:srgbClr val="555555"/>
                </a:solidFill>
                <a:effectLst/>
                <a:latin typeface="-apple-system"/>
              </a:rPr>
              <a:t>f</a:t>
            </a:r>
            <a:r>
              <a:rPr lang="zh-CN" altLang="en-US" sz="1600" b="0" i="0" dirty="0">
                <a:solidFill>
                  <a:srgbClr val="555555"/>
                </a:solidFill>
                <a:effectLst/>
                <a:latin typeface="-apple-system"/>
              </a:rPr>
              <a:t>：起点</a:t>
            </a:r>
            <a:r>
              <a:rPr lang="en-US" altLang="zh-CN" sz="1600" b="0" i="0" dirty="0">
                <a:solidFill>
                  <a:srgbClr val="555555"/>
                </a:solidFill>
                <a:effectLst/>
                <a:latin typeface="-apple-system"/>
              </a:rPr>
              <a:t>S</a:t>
            </a:r>
            <a:r>
              <a:rPr lang="zh-CN" altLang="en-US" sz="1600" b="0" i="0" dirty="0">
                <a:solidFill>
                  <a:srgbClr val="555555"/>
                </a:solidFill>
                <a:effectLst/>
                <a:latin typeface="-apple-system"/>
              </a:rPr>
              <a:t>途径</a:t>
            </a:r>
            <a:r>
              <a:rPr lang="en-US" altLang="zh-CN" sz="1600" b="0" i="0" dirty="0">
                <a:solidFill>
                  <a:srgbClr val="555555"/>
                </a:solidFill>
                <a:effectLst/>
                <a:latin typeface="-apple-system"/>
              </a:rPr>
              <a:t>x</a:t>
            </a:r>
            <a:r>
              <a:rPr lang="zh-CN" altLang="en-US" sz="1600" b="0" i="0" dirty="0">
                <a:solidFill>
                  <a:srgbClr val="555555"/>
                </a:solidFill>
                <a:effectLst/>
                <a:latin typeface="-apple-system"/>
              </a:rPr>
              <a:t>到达终点</a:t>
            </a:r>
            <a:r>
              <a:rPr lang="en-US" altLang="zh-CN" sz="1600" b="0" i="0" dirty="0">
                <a:solidFill>
                  <a:srgbClr val="555555"/>
                </a:solidFill>
                <a:effectLst/>
                <a:latin typeface="-apple-system"/>
              </a:rPr>
              <a:t>G</a:t>
            </a:r>
            <a:r>
              <a:rPr lang="zh-CN" altLang="en-US" sz="1600" b="0" i="0" dirty="0">
                <a:solidFill>
                  <a:srgbClr val="555555"/>
                </a:solidFill>
                <a:effectLst/>
                <a:latin typeface="-apple-system"/>
              </a:rPr>
              <a:t>的估计距离，即 </a:t>
            </a:r>
            <a:r>
              <a:rPr lang="en-US" altLang="zh-CN" sz="1600" b="0" i="0" dirty="0">
                <a:solidFill>
                  <a:srgbClr val="555555"/>
                </a:solidFill>
                <a:effectLst/>
                <a:latin typeface="-apple-system"/>
              </a:rPr>
              <a:t>f = g + h</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f</a:t>
            </a:r>
            <a:r>
              <a:rPr lang="zh-CN" altLang="en-US" sz="1600" b="0" i="0" dirty="0">
                <a:solidFill>
                  <a:srgbClr val="555555"/>
                </a:solidFill>
                <a:effectLst/>
                <a:latin typeface="-apple-system"/>
              </a:rPr>
              <a:t>）绿色框为当前</a:t>
            </a:r>
            <a:r>
              <a:rPr lang="en-US" altLang="zh-CN" sz="1600" b="0" i="0" dirty="0">
                <a:solidFill>
                  <a:srgbClr val="555555"/>
                </a:solidFill>
                <a:effectLst/>
                <a:latin typeface="-apple-system"/>
              </a:rPr>
              <a:t>OPEN</a:t>
            </a:r>
            <a:r>
              <a:rPr lang="zh-CN" altLang="en-US" sz="1600" b="0" i="0" dirty="0">
                <a:solidFill>
                  <a:srgbClr val="555555"/>
                </a:solidFill>
                <a:effectLst/>
                <a:latin typeface="-apple-system"/>
              </a:rPr>
              <a:t>集合中的最优节点</a:t>
            </a:r>
          </a:p>
          <a:p>
            <a:pPr algn="l">
              <a:spcBef>
                <a:spcPts val="0"/>
              </a:spcBef>
              <a:spcAft>
                <a:spcPts val="0"/>
              </a:spcAft>
            </a:pPr>
            <a:r>
              <a:rPr lang="zh-CN" altLang="en-US" sz="1600" b="0" i="0" dirty="0">
                <a:solidFill>
                  <a:srgbClr val="555555"/>
                </a:solidFill>
                <a:effectLst/>
                <a:latin typeface="-apple-system"/>
              </a:rPr>
              <a:t>（</a:t>
            </a:r>
            <a:r>
              <a:rPr lang="en-US" altLang="zh-CN" sz="1600" b="0" i="0" dirty="0">
                <a:solidFill>
                  <a:srgbClr val="555555"/>
                </a:solidFill>
                <a:effectLst/>
                <a:latin typeface="-apple-system"/>
              </a:rPr>
              <a:t>g</a:t>
            </a:r>
            <a:r>
              <a:rPr lang="zh-CN" altLang="en-US" sz="1600" b="0" i="0" dirty="0">
                <a:solidFill>
                  <a:srgbClr val="555555"/>
                </a:solidFill>
                <a:effectLst/>
                <a:latin typeface="-apple-system"/>
              </a:rPr>
              <a:t>）红色框表示当前</a:t>
            </a:r>
            <a:r>
              <a:rPr lang="en-US" altLang="zh-CN" sz="1600" b="0" i="0" dirty="0">
                <a:solidFill>
                  <a:srgbClr val="555555"/>
                </a:solidFill>
                <a:effectLst/>
                <a:latin typeface="-apple-system"/>
              </a:rPr>
              <a:t>OPEN</a:t>
            </a:r>
            <a:r>
              <a:rPr lang="zh-CN" altLang="en-US" sz="1600" b="0" i="0" dirty="0">
                <a:solidFill>
                  <a:srgbClr val="555555"/>
                </a:solidFill>
                <a:effectLst/>
                <a:latin typeface="-apple-system"/>
              </a:rPr>
              <a:t>集合中需要被删除的节点</a:t>
            </a:r>
          </a:p>
          <a:p>
            <a:pPr algn="l">
              <a:spcBef>
                <a:spcPts val="0"/>
              </a:spcBef>
              <a:spcAft>
                <a:spcPts val="0"/>
              </a:spcAft>
            </a:pPr>
            <a:r>
              <a:rPr lang="zh-CN" altLang="en-US" sz="1600" b="0" i="0" dirty="0">
                <a:solidFill>
                  <a:srgbClr val="555555"/>
                </a:solidFill>
                <a:effectLst/>
                <a:latin typeface="-apple-system"/>
              </a:rPr>
              <a:t>在</a:t>
            </a:r>
            <a:r>
              <a:rPr lang="en-US" altLang="zh-CN" sz="1600" b="0" i="0" dirty="0">
                <a:solidFill>
                  <a:srgbClr val="555555"/>
                </a:solidFill>
                <a:effectLst/>
                <a:latin typeface="-apple-system"/>
              </a:rPr>
              <a:t>OPEN</a:t>
            </a:r>
            <a:r>
              <a:rPr lang="zh-CN" altLang="en-US" sz="1600" b="0" i="0" dirty="0">
                <a:solidFill>
                  <a:srgbClr val="555555"/>
                </a:solidFill>
                <a:effectLst/>
                <a:latin typeface="-apple-system"/>
              </a:rPr>
              <a:t>、</a:t>
            </a:r>
            <a:r>
              <a:rPr lang="en-US" altLang="zh-CN" sz="1600" b="0" i="0" dirty="0">
                <a:solidFill>
                  <a:srgbClr val="555555"/>
                </a:solidFill>
                <a:effectLst/>
                <a:latin typeface="-apple-system"/>
              </a:rPr>
              <a:t>CLOSED</a:t>
            </a:r>
            <a:r>
              <a:rPr lang="zh-CN" altLang="en-US" sz="1600" b="0" i="0" dirty="0">
                <a:solidFill>
                  <a:srgbClr val="555555"/>
                </a:solidFill>
                <a:effectLst/>
                <a:latin typeface="-apple-system"/>
              </a:rPr>
              <a:t>中每一行表示一次完整迭代完成时两集合中的节点集合。</a:t>
            </a:r>
          </a:p>
          <a:p>
            <a:pPr algn="l">
              <a:spcBef>
                <a:spcPts val="0"/>
              </a:spcBef>
              <a:spcAft>
                <a:spcPts val="0"/>
              </a:spcAft>
            </a:pPr>
            <a:r>
              <a:rPr lang="zh-CN" altLang="en-US" sz="1600" b="0" i="0" dirty="0">
                <a:solidFill>
                  <a:srgbClr val="555555"/>
                </a:solidFill>
                <a:effectLst/>
                <a:latin typeface="-apple-system"/>
              </a:rPr>
              <a:t>最后的最优路径是：</a:t>
            </a:r>
            <a:r>
              <a:rPr lang="en-US" altLang="zh-CN" sz="1600" b="0" i="0" dirty="0">
                <a:solidFill>
                  <a:srgbClr val="555555"/>
                </a:solidFill>
                <a:effectLst/>
                <a:latin typeface="-apple-system"/>
              </a:rPr>
              <a:t>S-&gt;B-&gt;F-&gt;k-&gt;G</a:t>
            </a:r>
          </a:p>
          <a:p>
            <a:pPr algn="l">
              <a:spcBef>
                <a:spcPts val="0"/>
              </a:spcBef>
              <a:spcAft>
                <a:spcPts val="0"/>
              </a:spcAft>
            </a:pPr>
            <a:r>
              <a:rPr lang="zh-CN" altLang="en-US" sz="1600" b="0" i="0" dirty="0">
                <a:solidFill>
                  <a:srgbClr val="555555"/>
                </a:solidFill>
                <a:effectLst/>
                <a:latin typeface="-apple-system"/>
              </a:rPr>
              <a:t>注：当两个节点</a:t>
            </a:r>
            <a:r>
              <a:rPr lang="en-US" altLang="zh-CN" sz="1600" b="0" i="0" dirty="0">
                <a:solidFill>
                  <a:srgbClr val="555555"/>
                </a:solidFill>
                <a:effectLst/>
                <a:latin typeface="-apple-system"/>
              </a:rPr>
              <a:t>f</a:t>
            </a:r>
            <a:r>
              <a:rPr lang="zh-CN" altLang="en-US" sz="1600" b="0" i="0" dirty="0">
                <a:solidFill>
                  <a:srgbClr val="555555"/>
                </a:solidFill>
                <a:effectLst/>
                <a:latin typeface="-apple-system"/>
              </a:rPr>
              <a:t>相同时，</a:t>
            </a:r>
            <a:r>
              <a:rPr lang="en-US" altLang="zh-CN" sz="1600" b="0" i="0" dirty="0">
                <a:solidFill>
                  <a:srgbClr val="555555"/>
                </a:solidFill>
                <a:effectLst/>
                <a:latin typeface="-apple-system"/>
              </a:rPr>
              <a:t>h</a:t>
            </a:r>
            <a:r>
              <a:rPr lang="zh-CN" altLang="en-US" sz="1600" b="0" i="0" dirty="0">
                <a:solidFill>
                  <a:srgbClr val="555555"/>
                </a:solidFill>
                <a:effectLst/>
                <a:latin typeface="-apple-system"/>
              </a:rPr>
              <a:t>小的更优</a:t>
            </a:r>
          </a:p>
          <a:p>
            <a:endParaRPr lang="zh-CN" altLang="en-US" dirty="0"/>
          </a:p>
        </p:txBody>
      </p:sp>
      <p:sp>
        <p:nvSpPr>
          <p:cNvPr id="4" name="内容占位符 3">
            <a:extLst>
              <a:ext uri="{FF2B5EF4-FFF2-40B4-BE49-F238E27FC236}">
                <a16:creationId xmlns:a16="http://schemas.microsoft.com/office/drawing/2014/main" id="{C66A2F94-61FA-9619-5A00-89947A53147E}"/>
              </a:ext>
            </a:extLst>
          </p:cNvPr>
          <p:cNvSpPr>
            <a:spLocks noGrp="1"/>
          </p:cNvSpPr>
          <p:nvPr>
            <p:ph sz="half" idx="2"/>
          </p:nvPr>
        </p:nvSpPr>
        <p:spPr/>
        <p:txBody>
          <a:bodyPr/>
          <a:lstStyle/>
          <a:p>
            <a:endParaRPr lang="zh-CN" altLang="en-US"/>
          </a:p>
        </p:txBody>
      </p:sp>
      <p:pic>
        <p:nvPicPr>
          <p:cNvPr id="3074" name="Picture 2">
            <a:extLst>
              <a:ext uri="{FF2B5EF4-FFF2-40B4-BE49-F238E27FC236}">
                <a16:creationId xmlns:a16="http://schemas.microsoft.com/office/drawing/2014/main" id="{50CDDC6B-319D-D28C-1C24-AB30F208C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2629" y="269875"/>
            <a:ext cx="4901371" cy="6121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5BF76C70-9B70-3828-E2B7-6002CE24DB3C}"/>
              </a:ext>
            </a:extLst>
          </p:cNvPr>
          <p:cNvSpPr>
            <a:spLocks noGrp="1"/>
          </p:cNvSpPr>
          <p:nvPr>
            <p:ph type="title"/>
          </p:nvPr>
        </p:nvSpPr>
        <p:spPr>
          <a:xfrm>
            <a:off x="879475" y="269875"/>
            <a:ext cx="7869238" cy="927100"/>
          </a:xfrm>
          <a:ln/>
        </p:spPr>
        <p:txBody>
          <a:bodyPr vert="horz" wrap="square" lIns="91440" tIns="45720" rIns="91440" bIns="45720" anchor="ctr" anchorCtr="0"/>
          <a:lstStyle/>
          <a:p>
            <a:pPr eaLnBrk="1" hangingPunct="1"/>
            <a:r>
              <a:rPr lang="en-US" altLang="zh-CN" dirty="0"/>
              <a:t>6.6 A*</a:t>
            </a:r>
            <a:r>
              <a:rPr lang="zh-CN" altLang="en-US" dirty="0"/>
              <a:t>搜索算法</a:t>
            </a:r>
          </a:p>
        </p:txBody>
      </p:sp>
    </p:spTree>
    <p:extLst>
      <p:ext uri="{BB962C8B-B14F-4D97-AF65-F5344CB8AC3E}">
        <p14:creationId xmlns:p14="http://schemas.microsoft.com/office/powerpoint/2010/main" val="31940449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DFEC2-F550-EA42-7E20-873D18BF4E4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588D0E1-1833-C02B-55D7-DE15781EB79A}"/>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6.6 A*</a:t>
            </a:r>
            <a:r>
              <a:rPr lang="zh-CN" altLang="en-US" dirty="0"/>
              <a:t>搜索算法</a:t>
            </a:r>
          </a:p>
        </p:txBody>
      </p:sp>
      <p:sp>
        <p:nvSpPr>
          <p:cNvPr id="320515" name="Rectangle 3">
            <a:extLst>
              <a:ext uri="{FF2B5EF4-FFF2-40B4-BE49-F238E27FC236}">
                <a16:creationId xmlns:a16="http://schemas.microsoft.com/office/drawing/2014/main" id="{BD1F3226-9892-BA3A-3FA0-2E931F5C7249}"/>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pPr algn="l">
              <a:spcAft>
                <a:spcPts val="638"/>
              </a:spcAft>
            </a:pPr>
            <a:r>
              <a:rPr lang="zh-CN" altLang="en-US" sz="2100" dirty="0"/>
              <a:t>创建两个集合</a:t>
            </a:r>
            <a:r>
              <a:rPr lang="en-US" altLang="zh-CN" sz="2100" dirty="0"/>
              <a:t>OPEN</a:t>
            </a:r>
            <a:r>
              <a:rPr lang="zh-CN" altLang="en-US" sz="2100" dirty="0"/>
              <a:t>集，</a:t>
            </a:r>
            <a:r>
              <a:rPr lang="en-US" altLang="zh-CN" sz="2100" dirty="0"/>
              <a:t>CLOSED</a:t>
            </a:r>
            <a:r>
              <a:rPr lang="zh-CN" altLang="en-US" sz="2100" dirty="0"/>
              <a:t>集，算法核心是从</a:t>
            </a:r>
            <a:r>
              <a:rPr lang="en-US" altLang="zh-CN" sz="2100" dirty="0"/>
              <a:t>OPEN</a:t>
            </a:r>
            <a:r>
              <a:rPr lang="zh-CN" altLang="en-US" sz="2100" dirty="0"/>
              <a:t>集中选择最优（</a:t>
            </a:r>
            <a:r>
              <a:rPr lang="en-US" altLang="zh-CN" sz="2100" dirty="0"/>
              <a:t>f</a:t>
            </a:r>
            <a:r>
              <a:rPr lang="zh-CN" altLang="en-US" sz="2100" dirty="0"/>
              <a:t>值小最优，或</a:t>
            </a:r>
            <a:r>
              <a:rPr lang="en-US" altLang="zh-CN" sz="2100" dirty="0"/>
              <a:t>f</a:t>
            </a:r>
            <a:r>
              <a:rPr lang="zh-CN" altLang="en-US" sz="2100" dirty="0"/>
              <a:t>相同时，</a:t>
            </a:r>
            <a:r>
              <a:rPr lang="en-US" altLang="zh-CN" sz="2100" dirty="0"/>
              <a:t>h</a:t>
            </a:r>
            <a:r>
              <a:rPr lang="zh-CN" altLang="en-US" sz="2100" dirty="0"/>
              <a:t>小的更优）的节点到</a:t>
            </a:r>
            <a:r>
              <a:rPr lang="en-US" altLang="zh-CN" sz="2100" dirty="0"/>
              <a:t>CLOSED</a:t>
            </a:r>
            <a:r>
              <a:rPr lang="zh-CN" altLang="en-US" sz="2100" dirty="0"/>
              <a:t>集中，然后将其后继节点放入</a:t>
            </a:r>
            <a:r>
              <a:rPr lang="en-US" altLang="zh-CN" sz="2100" dirty="0"/>
              <a:t>OPEN</a:t>
            </a:r>
            <a:r>
              <a:rPr lang="zh-CN" altLang="en-US" sz="2100" dirty="0"/>
              <a:t>集中，然后重复操作选取最优节点，直到到达目标，或者</a:t>
            </a:r>
            <a:r>
              <a:rPr lang="en-US" altLang="zh-CN" sz="2100" dirty="0"/>
              <a:t>OPEN</a:t>
            </a:r>
            <a:r>
              <a:rPr lang="zh-CN" altLang="en-US" sz="2100" dirty="0"/>
              <a:t>为空为止。最后再</a:t>
            </a:r>
            <a:r>
              <a:rPr lang="en-US" altLang="zh-CN" sz="2100" dirty="0"/>
              <a:t>CLOSED</a:t>
            </a:r>
            <a:r>
              <a:rPr lang="zh-CN" altLang="en-US" sz="2100" dirty="0"/>
              <a:t>集中根据目标</a:t>
            </a:r>
            <a:r>
              <a:rPr lang="en-US" altLang="zh-CN" sz="2100" dirty="0"/>
              <a:t>G</a:t>
            </a:r>
            <a:r>
              <a:rPr lang="zh-CN" altLang="en-US" sz="2100" dirty="0"/>
              <a:t>所包含的前序节点逆序查找最后到达起点</a:t>
            </a:r>
            <a:r>
              <a:rPr lang="en-US" altLang="zh-CN" sz="2100" dirty="0"/>
              <a:t>S</a:t>
            </a:r>
            <a:r>
              <a:rPr lang="zh-CN" altLang="en-US" sz="2100" dirty="0"/>
              <a:t>，这个链路的逆序即最优路径，</a:t>
            </a:r>
          </a:p>
        </p:txBody>
      </p:sp>
      <p:sp>
        <p:nvSpPr>
          <p:cNvPr id="10312" name="页脚占位符 3">
            <a:extLst>
              <a:ext uri="{FF2B5EF4-FFF2-40B4-BE49-F238E27FC236}">
                <a16:creationId xmlns:a16="http://schemas.microsoft.com/office/drawing/2014/main" id="{E4F5B684-D742-25D6-BC7C-F1C61E9372D4}"/>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332449574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985E-0B82-AC2E-4432-573703C7D9E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1DA2C65-2F65-31D2-925E-F67F70CAC7C8}"/>
              </a:ext>
            </a:extLst>
          </p:cNvPr>
          <p:cNvSpPr>
            <a:spLocks noGrp="1"/>
          </p:cNvSpPr>
          <p:nvPr>
            <p:ph type="title"/>
          </p:nvPr>
        </p:nvSpPr>
        <p:spPr>
          <a:ln/>
        </p:spPr>
        <p:txBody>
          <a:bodyPr vert="horz" wrap="square" lIns="91440" tIns="45720" rIns="91440" bIns="45720" anchor="ctr" anchorCtr="0"/>
          <a:lstStyle/>
          <a:p>
            <a:pPr eaLnBrk="1" hangingPunct="1"/>
            <a:r>
              <a:rPr lang="en-US" altLang="zh-CN" dirty="0"/>
              <a:t>6.6 A*</a:t>
            </a:r>
            <a:r>
              <a:rPr lang="zh-CN" altLang="en-US" dirty="0"/>
              <a:t>搜索算法</a:t>
            </a:r>
          </a:p>
        </p:txBody>
      </p:sp>
      <p:sp>
        <p:nvSpPr>
          <p:cNvPr id="320515" name="Rectangle 3">
            <a:extLst>
              <a:ext uri="{FF2B5EF4-FFF2-40B4-BE49-F238E27FC236}">
                <a16:creationId xmlns:a16="http://schemas.microsoft.com/office/drawing/2014/main" id="{48277848-7760-366C-FB00-BAA649D4BB07}"/>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在全局择优搜索中，每当需要扩展节点时，总是从</a:t>
            </a:r>
            <a:r>
              <a:rPr lang="en-US" altLang="zh-CN" sz="2100" dirty="0"/>
              <a:t>Open</a:t>
            </a:r>
            <a:r>
              <a:rPr lang="zh-CN" altLang="en-US" sz="2100" dirty="0"/>
              <a:t>表的所有节点中选择一个估价函数值最小的节点进行扩展。其搜索过程可能描述如下</a:t>
            </a:r>
            <a:r>
              <a:rPr lang="en-US" altLang="zh-CN" sz="2100" dirty="0"/>
              <a:t>:</a:t>
            </a:r>
          </a:p>
          <a:p>
            <a:pPr lvl="1"/>
            <a:r>
              <a:rPr lang="en-US" altLang="zh-CN" sz="1800" dirty="0"/>
              <a:t>(1)</a:t>
            </a:r>
            <a:r>
              <a:rPr lang="zh-CN" altLang="en-US" sz="1800" dirty="0"/>
              <a:t>把初始节点</a:t>
            </a:r>
            <a:r>
              <a:rPr lang="en-US" altLang="zh-CN" sz="1800" dirty="0"/>
              <a:t>S0</a:t>
            </a:r>
            <a:r>
              <a:rPr lang="zh-CN" altLang="en-US" sz="1800" dirty="0"/>
              <a:t>放入</a:t>
            </a:r>
            <a:r>
              <a:rPr lang="en-US" altLang="zh-CN" sz="1800" dirty="0"/>
              <a:t>Open</a:t>
            </a:r>
            <a:r>
              <a:rPr lang="zh-CN" altLang="en-US" sz="1800" dirty="0"/>
              <a:t>表中，</a:t>
            </a:r>
            <a:r>
              <a:rPr lang="en-US" altLang="zh-CN" sz="1800" dirty="0"/>
              <a:t>f(S0)=g(S0)+h(S0)</a:t>
            </a:r>
            <a:r>
              <a:rPr lang="zh-CN" altLang="en-US" sz="1800" dirty="0"/>
              <a:t>；</a:t>
            </a:r>
            <a:endParaRPr lang="en-US" altLang="zh-CN" sz="1800" dirty="0"/>
          </a:p>
          <a:p>
            <a:pPr lvl="1"/>
            <a:r>
              <a:rPr lang="en-US" altLang="zh-CN" sz="1800" dirty="0"/>
              <a:t>(2)</a:t>
            </a:r>
            <a:r>
              <a:rPr lang="zh-CN" altLang="en-US" sz="1800" dirty="0"/>
              <a:t>如果</a:t>
            </a:r>
            <a:r>
              <a:rPr lang="en-US" altLang="zh-CN" sz="1800" dirty="0"/>
              <a:t>Open</a:t>
            </a:r>
            <a:r>
              <a:rPr lang="zh-CN" altLang="en-US" sz="1800" dirty="0"/>
              <a:t>表为空，则问题无解，失败退出</a:t>
            </a:r>
            <a:r>
              <a:rPr lang="en-US" altLang="zh-CN" sz="1800" dirty="0"/>
              <a:t>;</a:t>
            </a:r>
          </a:p>
          <a:p>
            <a:pPr lvl="1"/>
            <a:r>
              <a:rPr lang="en-US" altLang="zh-CN" sz="1800" dirty="0"/>
              <a:t>(3)</a:t>
            </a:r>
            <a:r>
              <a:rPr lang="zh-CN" altLang="en-US" sz="1800" dirty="0"/>
              <a:t>把</a:t>
            </a:r>
            <a:r>
              <a:rPr lang="en-US" altLang="zh-CN" sz="1800" dirty="0"/>
              <a:t>Open</a:t>
            </a:r>
            <a:r>
              <a:rPr lang="zh-CN" altLang="en-US" sz="1800" dirty="0"/>
              <a:t>表的第一个节点取出放入</a:t>
            </a:r>
            <a:r>
              <a:rPr lang="en-US" altLang="zh-CN" sz="1800" dirty="0"/>
              <a:t>Closed</a:t>
            </a:r>
            <a:r>
              <a:rPr lang="zh-CN" altLang="en-US" sz="1800" dirty="0"/>
              <a:t>表，并记该节点为</a:t>
            </a:r>
            <a:r>
              <a:rPr lang="en-US" altLang="zh-CN" sz="1800" dirty="0"/>
              <a:t>n</a:t>
            </a:r>
            <a:r>
              <a:rPr lang="zh-CN" altLang="en-US" sz="1800" dirty="0"/>
              <a:t>；</a:t>
            </a:r>
            <a:endParaRPr lang="en-US" altLang="zh-CN" sz="1800" dirty="0"/>
          </a:p>
          <a:p>
            <a:pPr lvl="1"/>
            <a:r>
              <a:rPr lang="en-US" altLang="zh-CN" sz="1800" dirty="0"/>
              <a:t>(4)</a:t>
            </a:r>
            <a:r>
              <a:rPr lang="zh-CN" altLang="en-US" sz="1800" dirty="0"/>
              <a:t>考察节点</a:t>
            </a:r>
            <a:r>
              <a:rPr lang="en-US" altLang="zh-CN" sz="1800" dirty="0"/>
              <a:t>n</a:t>
            </a:r>
            <a:r>
              <a:rPr lang="zh-CN" altLang="en-US" sz="1800" dirty="0"/>
              <a:t>是否为目标节点。若是，则找到了问题的解，成功退出</a:t>
            </a:r>
            <a:r>
              <a:rPr lang="en-US" altLang="zh-CN" sz="1800" dirty="0"/>
              <a:t>;</a:t>
            </a:r>
          </a:p>
          <a:p>
            <a:pPr lvl="1"/>
            <a:r>
              <a:rPr lang="en-US" altLang="zh-CN" sz="1800" dirty="0"/>
              <a:t>(5)</a:t>
            </a:r>
            <a:r>
              <a:rPr lang="zh-CN" altLang="en-US" sz="1800" dirty="0"/>
              <a:t>若节点</a:t>
            </a:r>
            <a:r>
              <a:rPr lang="en-US" altLang="zh-CN" sz="1800" dirty="0"/>
              <a:t>n</a:t>
            </a:r>
            <a:r>
              <a:rPr lang="zh-CN" altLang="en-US" sz="1800" dirty="0"/>
              <a:t>不可扩展，则转到第</a:t>
            </a:r>
            <a:r>
              <a:rPr lang="en-US" altLang="zh-CN" sz="1800" dirty="0"/>
              <a:t>(2)</a:t>
            </a:r>
            <a:r>
              <a:rPr lang="zh-CN" altLang="en-US" sz="1800" dirty="0"/>
              <a:t>步</a:t>
            </a:r>
            <a:r>
              <a:rPr lang="en-US" altLang="zh-CN" sz="1800" dirty="0"/>
              <a:t>;</a:t>
            </a:r>
          </a:p>
          <a:p>
            <a:pPr lvl="1"/>
            <a:r>
              <a:rPr lang="en-US" altLang="zh-CN" sz="1800" dirty="0"/>
              <a:t>(6)</a:t>
            </a:r>
            <a:r>
              <a:rPr lang="zh-CN" altLang="en-US" sz="1800" dirty="0"/>
              <a:t>扩展节点 生成子节点</a:t>
            </a:r>
            <a:r>
              <a:rPr lang="en-US" altLang="zh-CN" sz="1800" dirty="0" err="1"/>
              <a:t>ni</a:t>
            </a:r>
            <a:r>
              <a:rPr lang="zh-CN" altLang="en-US" sz="1800" dirty="0"/>
              <a:t>（</a:t>
            </a:r>
            <a:r>
              <a:rPr lang="en-US" altLang="zh-CN" sz="1800" dirty="0" err="1"/>
              <a:t>i</a:t>
            </a:r>
            <a:r>
              <a:rPr lang="en-US" altLang="zh-CN" sz="1800" dirty="0"/>
              <a:t>=1,2,3…</a:t>
            </a:r>
            <a:r>
              <a:rPr lang="zh-CN" altLang="en-US" sz="1800" dirty="0"/>
              <a:t>），计算每一个子节点的估价值</a:t>
            </a:r>
            <a:r>
              <a:rPr lang="en-US" altLang="zh-CN" sz="1800" dirty="0"/>
              <a:t>f(</a:t>
            </a:r>
            <a:r>
              <a:rPr lang="en-US" altLang="zh-CN" sz="1800" dirty="0" err="1"/>
              <a:t>ni</a:t>
            </a:r>
            <a:r>
              <a:rPr lang="en-US" altLang="zh-CN" sz="1800" dirty="0"/>
              <a:t>)(</a:t>
            </a:r>
            <a:r>
              <a:rPr lang="en-US" altLang="zh-CN" sz="1800" dirty="0" err="1"/>
              <a:t>i</a:t>
            </a:r>
            <a:r>
              <a:rPr lang="en-US" altLang="zh-CN" sz="1800" dirty="0"/>
              <a:t>=1,2,3…</a:t>
            </a:r>
            <a:r>
              <a:rPr lang="zh-CN" altLang="en-US" sz="1800" dirty="0"/>
              <a:t>），并为每一个子节点设置指向父节点的指针，然后将这些子节点放入</a:t>
            </a:r>
            <a:r>
              <a:rPr lang="en-US" altLang="zh-CN" sz="1800" dirty="0"/>
              <a:t>Open</a:t>
            </a:r>
            <a:r>
              <a:rPr lang="zh-CN" altLang="en-US" sz="1800" dirty="0"/>
              <a:t>表中；</a:t>
            </a:r>
            <a:endParaRPr lang="en-US" altLang="zh-CN" sz="1800" dirty="0"/>
          </a:p>
          <a:p>
            <a:pPr lvl="1"/>
            <a:r>
              <a:rPr lang="en-US" altLang="zh-CN" sz="1800" dirty="0"/>
              <a:t>(7)</a:t>
            </a:r>
            <a:r>
              <a:rPr lang="zh-CN" altLang="en-US" sz="1800" dirty="0"/>
              <a:t>根据各节点的估价函数值，对</a:t>
            </a:r>
            <a:r>
              <a:rPr lang="en-US" altLang="zh-CN" sz="1800" dirty="0"/>
              <a:t>Open</a:t>
            </a:r>
            <a:r>
              <a:rPr lang="zh-CN" altLang="en-US" sz="1800" dirty="0"/>
              <a:t>表中的全部节点按从小到大的顺序重新进行排序</a:t>
            </a:r>
            <a:r>
              <a:rPr lang="en-US" altLang="zh-CN" sz="1800" dirty="0"/>
              <a:t>;</a:t>
            </a:r>
          </a:p>
          <a:p>
            <a:pPr lvl="1"/>
            <a:r>
              <a:rPr lang="en-US" altLang="zh-CN" sz="1800" dirty="0"/>
              <a:t>8)</a:t>
            </a:r>
            <a:r>
              <a:rPr lang="zh-CN" altLang="en-US" sz="1800" dirty="0"/>
              <a:t>转第</a:t>
            </a:r>
            <a:r>
              <a:rPr lang="en-US" altLang="zh-CN" sz="1800" dirty="0"/>
              <a:t>(2)</a:t>
            </a:r>
            <a:r>
              <a:rPr lang="zh-CN" altLang="en-US" sz="1800" dirty="0"/>
              <a:t>步。</a:t>
            </a:r>
            <a:endParaRPr lang="en-US" altLang="zh-CN" sz="1700" dirty="0"/>
          </a:p>
        </p:txBody>
      </p:sp>
      <p:sp>
        <p:nvSpPr>
          <p:cNvPr id="10312" name="页脚占位符 3">
            <a:extLst>
              <a:ext uri="{FF2B5EF4-FFF2-40B4-BE49-F238E27FC236}">
                <a16:creationId xmlns:a16="http://schemas.microsoft.com/office/drawing/2014/main" id="{AFC2D14F-8B20-6F67-DB68-84CAE81FBBD1}"/>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178001288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8168-FD00-B2CA-E033-BD4989FEEEB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68FA5AA-BACC-13AB-5CF6-E96BC68100AD}"/>
              </a:ext>
            </a:extLst>
          </p:cNvPr>
          <p:cNvSpPr>
            <a:spLocks noGrp="1"/>
          </p:cNvSpPr>
          <p:nvPr>
            <p:ph type="title"/>
          </p:nvPr>
        </p:nvSpPr>
        <p:spPr>
          <a:ln/>
        </p:spPr>
        <p:txBody>
          <a:bodyPr vert="horz" wrap="square" lIns="91440" tIns="45720" rIns="91440" bIns="45720" anchor="ctr" anchorCtr="0"/>
          <a:lstStyle/>
          <a:p>
            <a:pPr eaLnBrk="1" hangingPunct="1"/>
            <a:r>
              <a:rPr lang="en-US" altLang="zh-CN"/>
              <a:t>6.</a:t>
            </a:r>
            <a:r>
              <a:rPr lang="en-US" altLang="zh-CN" dirty="0"/>
              <a:t>6</a:t>
            </a:r>
            <a:r>
              <a:rPr lang="en-US" altLang="zh-CN"/>
              <a:t> </a:t>
            </a:r>
            <a:r>
              <a:rPr lang="en-US" altLang="zh-CN" dirty="0"/>
              <a:t>A*</a:t>
            </a:r>
            <a:r>
              <a:rPr lang="zh-CN" altLang="en-US" dirty="0"/>
              <a:t>搜索算法</a:t>
            </a:r>
          </a:p>
        </p:txBody>
      </p:sp>
      <p:sp>
        <p:nvSpPr>
          <p:cNvPr id="320515" name="Rectangle 3">
            <a:extLst>
              <a:ext uri="{FF2B5EF4-FFF2-40B4-BE49-F238E27FC236}">
                <a16:creationId xmlns:a16="http://schemas.microsoft.com/office/drawing/2014/main" id="{A4F33A06-37DD-FFC4-E8E4-58D35C3A89E8}"/>
              </a:ext>
            </a:extLst>
          </p:cNvPr>
          <p:cNvSpPr>
            <a:spLocks noGrp="1"/>
          </p:cNvSpPr>
          <p:nvPr>
            <p:ph type="body" sz="half" idx="1"/>
          </p:nvPr>
        </p:nvSpPr>
        <p:spPr>
          <a:xfrm>
            <a:off x="533400" y="1295400"/>
            <a:ext cx="8382000" cy="3886200"/>
          </a:xfrm>
          <a:ln/>
        </p:spPr>
        <p:txBody>
          <a:bodyPr vert="horz" wrap="square" lIns="91440" tIns="45720" rIns="91440" bIns="45720" anchor="t" anchorCtr="0"/>
          <a:lstStyle/>
          <a:p>
            <a:r>
              <a:rPr lang="zh-CN" altLang="en-US" sz="2100" dirty="0"/>
              <a:t>由于上述算法的第</a:t>
            </a:r>
            <a:r>
              <a:rPr lang="en-US" altLang="zh-CN" sz="2100" dirty="0"/>
              <a:t>(7)</a:t>
            </a:r>
            <a:r>
              <a:rPr lang="zh-CN" altLang="en-US" sz="2100" dirty="0"/>
              <a:t>步要对</a:t>
            </a:r>
            <a:r>
              <a:rPr lang="en-US" altLang="zh-CN" sz="2100" dirty="0"/>
              <a:t>Open</a:t>
            </a:r>
            <a:r>
              <a:rPr lang="zh-CN" altLang="en-US" sz="2100" dirty="0"/>
              <a:t>表中的全部节点按其估价函数值从小到大重新进行排序，这样在算法第</a:t>
            </a:r>
            <a:r>
              <a:rPr lang="en-US" altLang="zh-CN" sz="2100" dirty="0"/>
              <a:t>(3)</a:t>
            </a:r>
            <a:r>
              <a:rPr lang="zh-CN" altLang="en-US" sz="2100" dirty="0"/>
              <a:t>步取出的节点就一定是</a:t>
            </a:r>
            <a:r>
              <a:rPr lang="en-US" altLang="zh-CN" sz="2100" dirty="0"/>
              <a:t>Open</a:t>
            </a:r>
            <a:r>
              <a:rPr lang="zh-CN" altLang="en-US" sz="2100" dirty="0"/>
              <a:t>表的所有节点中估价函数值最小的一个节点。因此，它是一种全局择优的搜索方式。</a:t>
            </a:r>
            <a:endParaRPr lang="en-US" altLang="zh-CN" sz="2100" dirty="0"/>
          </a:p>
          <a:p>
            <a:r>
              <a:rPr lang="zh-CN" altLang="en-US" sz="2100" dirty="0"/>
              <a:t>对上述算法进一步分析还可以发现</a:t>
            </a:r>
            <a:r>
              <a:rPr lang="en-US" altLang="zh-CN" sz="2100" dirty="0"/>
              <a:t>:</a:t>
            </a:r>
            <a:r>
              <a:rPr lang="zh-CN" altLang="en-US" sz="2100" dirty="0"/>
              <a:t>如果取估价函数</a:t>
            </a:r>
            <a:r>
              <a:rPr lang="en-US" altLang="zh-CN" sz="2100" dirty="0"/>
              <a:t>f(n)=q(n)</a:t>
            </a:r>
            <a:r>
              <a:rPr lang="zh-CN" altLang="en-US" sz="2100" dirty="0"/>
              <a:t>，则它将退化为代价树的广度优先搜索</a:t>
            </a:r>
            <a:r>
              <a:rPr lang="en-US" altLang="zh-CN" sz="2100" dirty="0"/>
              <a:t>;</a:t>
            </a:r>
            <a:r>
              <a:rPr lang="zh-CN" altLang="en-US" sz="2100" dirty="0"/>
              <a:t>如果取估价函数</a:t>
            </a:r>
            <a:r>
              <a:rPr lang="en-US" altLang="zh-CN" sz="2100" dirty="0"/>
              <a:t>f(n)=d(n)</a:t>
            </a:r>
            <a:r>
              <a:rPr lang="zh-CN" altLang="en-US" sz="2100" dirty="0"/>
              <a:t>，则它将退化为广度优先搜索。可见，广度优先搜索和代价树的广度优先搜索是全局择优搜索的两个特例</a:t>
            </a:r>
            <a:r>
              <a:rPr lang="en-US" altLang="zh-CN" sz="2100" dirty="0"/>
              <a:t>(g(n)</a:t>
            </a:r>
            <a:r>
              <a:rPr lang="zh-CN" altLang="en-US" sz="2100" dirty="0"/>
              <a:t>是从起点到</a:t>
            </a:r>
            <a:r>
              <a:rPr lang="en-US" altLang="zh-CN" sz="2100" dirty="0"/>
              <a:t>n</a:t>
            </a:r>
            <a:r>
              <a:rPr lang="zh-CN" altLang="en-US" sz="2100" dirty="0"/>
              <a:t>的代价，</a:t>
            </a:r>
            <a:r>
              <a:rPr lang="en-US" altLang="zh-CN" sz="2100" dirty="0"/>
              <a:t>d(n)</a:t>
            </a:r>
            <a:r>
              <a:rPr lang="zh-CN" altLang="en-US" sz="2100" dirty="0"/>
              <a:t>是从起点到</a:t>
            </a:r>
            <a:r>
              <a:rPr lang="en-US" altLang="zh-CN" sz="2100" dirty="0"/>
              <a:t>n</a:t>
            </a:r>
            <a:r>
              <a:rPr lang="zh-CN" altLang="en-US" sz="2100" dirty="0"/>
              <a:t>经过的步数</a:t>
            </a:r>
            <a:r>
              <a:rPr lang="en-US" altLang="zh-CN" sz="2100" dirty="0"/>
              <a:t>(n</a:t>
            </a:r>
            <a:r>
              <a:rPr lang="zh-CN" altLang="en-US" sz="2100" dirty="0"/>
              <a:t>在</a:t>
            </a:r>
            <a:r>
              <a:rPr lang="en-US" altLang="zh-CN" sz="2100" dirty="0"/>
              <a:t>BFS</a:t>
            </a:r>
            <a:r>
              <a:rPr lang="zh-CN" altLang="en-US" sz="2100" dirty="0"/>
              <a:t>搜索树中的层次数</a:t>
            </a:r>
            <a:r>
              <a:rPr lang="en-US" altLang="zh-CN" sz="2100" dirty="0"/>
              <a:t>))</a:t>
            </a:r>
            <a:endParaRPr lang="en-US" altLang="zh-CN" sz="1700" dirty="0"/>
          </a:p>
        </p:txBody>
      </p:sp>
      <p:sp>
        <p:nvSpPr>
          <p:cNvPr id="10312" name="页脚占位符 3">
            <a:extLst>
              <a:ext uri="{FF2B5EF4-FFF2-40B4-BE49-F238E27FC236}">
                <a16:creationId xmlns:a16="http://schemas.microsoft.com/office/drawing/2014/main" id="{F9D68CC6-AA46-D372-89AF-00110CADE01D}"/>
              </a:ext>
            </a:extLst>
          </p:cNvPr>
          <p:cNvSpPr txBox="1">
            <a:spLocks noGrp="1"/>
          </p:cNvSpPr>
          <p:nvPr>
            <p:ph type="ftr" sz="quarter" idx="10"/>
          </p:nvPr>
        </p:nvSpPr>
        <p:spPr>
          <a:ln/>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Tree>
    <p:extLst>
      <p:ext uri="{BB962C8B-B14F-4D97-AF65-F5344CB8AC3E}">
        <p14:creationId xmlns:p14="http://schemas.microsoft.com/office/powerpoint/2010/main" val="8876765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a01fcf26-0ef5-4e0e-a4c4-bb47d7086ce4"/>
  <p:tag name="COMMONDATA" val="eyJoZGlkIjoiYTgzY2MxNGI5M2UyZmViNDA3YWY2YTEzOTdmM2JjNWIifQ=="/>
</p:tagLst>
</file>

<file path=ppt/theme/theme1.xml><?xml version="1.0" encoding="utf-8"?>
<a:theme xmlns:a="http://schemas.openxmlformats.org/drawingml/2006/main" name="1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模版</Template>
  <TotalTime>12592</TotalTime>
  <Words>4678</Words>
  <Application>Microsoft Office PowerPoint</Application>
  <PresentationFormat>全屏显示(4:3)</PresentationFormat>
  <Paragraphs>180</Paragraphs>
  <Slides>33</Slides>
  <Notes>30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33</vt:i4>
      </vt:variant>
    </vt:vector>
  </HeadingPairs>
  <TitlesOfParts>
    <vt:vector size="40" baseType="lpstr">
      <vt:lpstr>-apple-system</vt:lpstr>
      <vt:lpstr>黑体</vt:lpstr>
      <vt:lpstr>Arial</vt:lpstr>
      <vt:lpstr>Garamond</vt:lpstr>
      <vt:lpstr>Times New Roman</vt:lpstr>
      <vt:lpstr>1_template</vt:lpstr>
      <vt:lpstr>2_template</vt:lpstr>
      <vt:lpstr>第 6讲</vt:lpstr>
      <vt:lpstr>本章内容</vt:lpstr>
      <vt:lpstr>6.1 引言</vt:lpstr>
      <vt:lpstr>6.2 深度优先搜索 </vt:lpstr>
      <vt:lpstr>6.2 深度优先搜索 </vt:lpstr>
      <vt:lpstr>6.2 深度优先搜索 </vt:lpstr>
      <vt:lpstr>6.2.1 深度优先搜索——无向图的情况 </vt:lpstr>
      <vt:lpstr>6.2.1 深度优先搜索——无向图的情况 </vt:lpstr>
      <vt:lpstr>6.2.2 深度优先搜索——有向图的情况 </vt:lpstr>
      <vt:lpstr>6.2.2 深度优先搜索——有向图的情况 </vt:lpstr>
      <vt:lpstr>6.2.3 深度优先搜索——时间复杂性 </vt:lpstr>
      <vt:lpstr>6.3 深度优先搜索的应用</vt:lpstr>
      <vt:lpstr>6.3.1 图的无回路性</vt:lpstr>
      <vt:lpstr>6.3.2 拓扑排序</vt:lpstr>
      <vt:lpstr>6.3.2 寻找图的关节点</vt:lpstr>
      <vt:lpstr>6.3.3 寻找图的关节点</vt:lpstr>
      <vt:lpstr>6.3.3 寻找图的关节点</vt:lpstr>
      <vt:lpstr>6.3.3 寻找图的关节点</vt:lpstr>
      <vt:lpstr>6.3.4 强连通分支</vt:lpstr>
      <vt:lpstr>6.3.4 强连通分支</vt:lpstr>
      <vt:lpstr>6.4 广度优先搜索</vt:lpstr>
      <vt:lpstr>6.4 广度优先搜索</vt:lpstr>
      <vt:lpstr>6.4 广度优先搜索</vt:lpstr>
      <vt:lpstr>6.4 广度优先搜索——时间复杂度分析</vt:lpstr>
      <vt:lpstr>6.5 广度优先搜索的应用</vt:lpstr>
      <vt:lpstr>6.6 A*搜索算法</vt:lpstr>
      <vt:lpstr>6.6 A*搜索算法</vt:lpstr>
      <vt:lpstr>6.6 A*搜索算法</vt:lpstr>
      <vt:lpstr>6.6 A*搜索算法</vt:lpstr>
      <vt:lpstr>6.6 A*搜索算法</vt:lpstr>
      <vt:lpstr>6.6 A*搜索算法</vt:lpstr>
      <vt:lpstr>6.6 A*搜索算法</vt:lpstr>
      <vt:lpstr>6.6 A*搜索算法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651359657@qq.com</cp:lastModifiedBy>
  <cp:revision>595</cp:revision>
  <dcterms:created xsi:type="dcterms:W3CDTF">2022-12-04T23:21:54Z</dcterms:created>
  <dcterms:modified xsi:type="dcterms:W3CDTF">2024-12-12T14:00:06Z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AD5AC751432248C8B5128CB17BB94C07</vt:lpwstr>
  </property>
  <property fmtid="{D5CDD505-2E9C-101B-9397-08002B2CF9AE}" pid="4" name="KSOProductBuildVer">
    <vt:lpwstr>2052-11.1.0.12763</vt:lpwstr>
  </property>
</Properties>
</file>