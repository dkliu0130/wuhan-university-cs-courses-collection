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70" r:id="rId2"/>
    <p:sldId id="269" r:id="rId3"/>
    <p:sldId id="271" r:id="rId4"/>
    <p:sldId id="280" r:id="rId5"/>
    <p:sldId id="282" r:id="rId6"/>
    <p:sldId id="293" r:id="rId7"/>
    <p:sldId id="294" r:id="rId8"/>
    <p:sldId id="295" r:id="rId9"/>
    <p:sldId id="298" r:id="rId10"/>
    <p:sldId id="299" r:id="rId11"/>
    <p:sldId id="300" r:id="rId12"/>
    <p:sldId id="296" r:id="rId13"/>
    <p:sldId id="297" r:id="rId14"/>
    <p:sldId id="331" r:id="rId15"/>
    <p:sldId id="301" r:id="rId16"/>
    <p:sldId id="302" r:id="rId17"/>
    <p:sldId id="304" r:id="rId18"/>
    <p:sldId id="305" r:id="rId19"/>
    <p:sldId id="306" r:id="rId20"/>
    <p:sldId id="322" r:id="rId21"/>
    <p:sldId id="318" r:id="rId22"/>
  </p:sldIdLst>
  <p:sldSz cx="9144000" cy="6858000" type="screen4x3"/>
  <p:notesSz cx="7099300" cy="10234613"/>
  <p:custDataLst>
    <p:tags r:id="rId25"/>
  </p:custDataLst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 autoAdjust="0"/>
    <p:restoredTop sz="87810" autoAdjust="0"/>
  </p:normalViewPr>
  <p:slideViewPr>
    <p:cSldViewPr>
      <p:cViewPr varScale="1">
        <p:scale>
          <a:sx n="110" d="100"/>
          <a:sy n="110" d="100"/>
        </p:scale>
        <p:origin x="132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992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.xml"/><Relationship Id="rId2" Type="http://schemas.openxmlformats.org/officeDocument/2006/relationships/slide" Target="slides/slide9.xml"/><Relationship Id="rId1" Type="http://schemas.openxmlformats.org/officeDocument/2006/relationships/slide" Target="slides/slide8.xml"/><Relationship Id="rId6" Type="http://schemas.openxmlformats.org/officeDocument/2006/relationships/slide" Target="slides/slide16.xml"/><Relationship Id="rId5" Type="http://schemas.openxmlformats.org/officeDocument/2006/relationships/slide" Target="slides/slide15.xml"/><Relationship Id="rId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B50DD8C-3CBF-EB99-F440-A5A7270F22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5D7C768-2C34-3B04-BBC5-032B7BABA8E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2E7C6A13-547F-124D-908E-8FF186873161}" type="datetime3">
              <a:rPr lang="en-AU"/>
              <a:pPr>
                <a:defRPr/>
              </a:pPr>
              <a:t>18 October, 2023</a:t>
            </a:fld>
            <a:endParaRPr lang="en-AU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AE7A04EF-D2C1-43B4-4235-3C571430095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3 — Arithmetic for Computers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9F3A04B2-25EF-CE71-EF26-A057D4F0F3D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A9C8510-1A76-EA4C-B364-C03B4915E32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23FBF5A-9219-2826-001A-DAA633FBF0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EEB59CA-DDCB-B57E-929D-DF203752750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4CB545E-050B-ED48-816F-D1594C85B2EB}" type="datetime3">
              <a:rPr lang="en-AU"/>
              <a:pPr>
                <a:defRPr/>
              </a:pPr>
              <a:t>18 October, 2023</a:t>
            </a:fld>
            <a:endParaRPr lang="en-AU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CD84B68-5A98-26BF-0C24-5D93F6AF306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9D2F2974-1186-4F2B-3524-D2BD7D601D9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607B679B-1A0F-9025-B290-CB732249AB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3 — Arithmetic for Computers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523B88E-098E-F613-C182-E49C8A3393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A1DA007-54C0-4746-BC2B-DA856FA4A02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F73BCE22-543C-44E1-2440-BD5BD99B37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78363831-02FC-A687-AC01-61E89B2941B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94EEC9-A101-F24E-8E2C-E57CBC45B202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6">
            <a:extLst>
              <a:ext uri="{FF2B5EF4-FFF2-40B4-BE49-F238E27FC236}">
                <a16:creationId xmlns:a16="http://schemas.microsoft.com/office/drawing/2014/main" id="{37E2E7C8-5853-54DF-855D-8D5214DA23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6388" name="Rectangle 7">
            <a:extLst>
              <a:ext uri="{FF2B5EF4-FFF2-40B4-BE49-F238E27FC236}">
                <a16:creationId xmlns:a16="http://schemas.microsoft.com/office/drawing/2014/main" id="{039D5B89-52FE-80E7-73EB-5F6768AD89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071508-55D5-484B-A232-F9B22D7EA6E9}" type="slidenum">
              <a:rPr lang="en-AU" altLang="en-US" smtClean="0">
                <a:latin typeface="Times New Roman" panose="02020603050405020304" pitchFamily="18" charset="0"/>
              </a:rPr>
              <a:pPr/>
              <a:t>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D91833F4-8C15-3032-D46E-81A648224A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52E6FBF3-1CCA-4AC9-1626-77CCE7D68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8C1D1D2-EFDB-FECE-66B8-2C024E3083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EB15FA66-9FEF-9066-727D-DDA71A3E513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FD9E6B-6698-B640-8AEA-1E8C83565C09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6">
            <a:extLst>
              <a:ext uri="{FF2B5EF4-FFF2-40B4-BE49-F238E27FC236}">
                <a16:creationId xmlns:a16="http://schemas.microsoft.com/office/drawing/2014/main" id="{22DFDE15-3FCF-4BBC-1E0F-C4976DF555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8436" name="Rectangle 7">
            <a:extLst>
              <a:ext uri="{FF2B5EF4-FFF2-40B4-BE49-F238E27FC236}">
                <a16:creationId xmlns:a16="http://schemas.microsoft.com/office/drawing/2014/main" id="{D85E98AA-5596-2FF4-B720-92FB2B3246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6EA8C0-A5F3-1D4F-81F7-6AB85EF8BA63}" type="slidenum">
              <a:rPr lang="en-AU" altLang="en-US" smtClean="0">
                <a:latin typeface="Times New Roman" panose="02020603050405020304" pitchFamily="18" charset="0"/>
              </a:rPr>
              <a:pPr/>
              <a:t>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76BAFFDC-D50E-EF37-6ADF-D729746499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4347B5FB-B5AA-329F-2976-F6978C6AB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77B6C2D-A8B1-3393-3479-75F1A3FC427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20CD62BE-27D2-EBDD-5B7C-BFDF83B2FDD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B0AA0D-673D-7248-A733-452148EC29F6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6">
            <a:extLst>
              <a:ext uri="{FF2B5EF4-FFF2-40B4-BE49-F238E27FC236}">
                <a16:creationId xmlns:a16="http://schemas.microsoft.com/office/drawing/2014/main" id="{E845AED6-F10F-168F-F709-84B1A1F964B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D9AD6ED9-5779-31E3-97B9-F8A8DA1A77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DC9011-48D7-D94D-82E5-DD466BBC8096}" type="slidenum">
              <a:rPr lang="en-AU" altLang="en-US" smtClean="0">
                <a:latin typeface="Times New Roman" panose="02020603050405020304" pitchFamily="18" charset="0"/>
              </a:rPr>
              <a:pPr/>
              <a:t>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40D46404-C659-683E-688B-15594D7A05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D04B1F7E-23E6-EFD6-6721-1A2CB5D35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FF5B66C3-55E6-F247-8E76-BF90DAA495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32F33870-B2E9-9891-7F94-CAE972585CF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8DF4E1-9756-1646-B44A-749BB7D663DD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6">
            <a:extLst>
              <a:ext uri="{FF2B5EF4-FFF2-40B4-BE49-F238E27FC236}">
                <a16:creationId xmlns:a16="http://schemas.microsoft.com/office/drawing/2014/main" id="{76126249-21D7-7745-C46F-0A2AE8C137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2532" name="Rectangle 7">
            <a:extLst>
              <a:ext uri="{FF2B5EF4-FFF2-40B4-BE49-F238E27FC236}">
                <a16:creationId xmlns:a16="http://schemas.microsoft.com/office/drawing/2014/main" id="{4EA71E9D-B6D7-F783-79F3-7735D09B43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9FE2FF-BC74-BC49-9C35-0BCB9461CD2A}" type="slidenum">
              <a:rPr lang="en-AU" altLang="en-US" smtClean="0">
                <a:latin typeface="Times New Roman" panose="02020603050405020304" pitchFamily="18" charset="0"/>
              </a:rPr>
              <a:pPr/>
              <a:t>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502AA32F-6F22-ED84-60F2-57D84ECB8D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8A273988-F977-126C-06DA-49768101D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69D941A1-23DE-4B48-EF0E-83A316AC07F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946539CA-15AE-11D3-AF5A-CD769412E7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74DA83-2DEE-694F-B7AA-3A0A7BA5D51D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6">
            <a:extLst>
              <a:ext uri="{FF2B5EF4-FFF2-40B4-BE49-F238E27FC236}">
                <a16:creationId xmlns:a16="http://schemas.microsoft.com/office/drawing/2014/main" id="{3B3E7612-3B01-96B6-6EC2-2AE3323965F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6A4BC495-D805-413C-F1CD-E268FE9D0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B83D38-A861-4447-8A5D-5E3A74116993}" type="slidenum">
              <a:rPr lang="en-AU" altLang="en-US" smtClean="0">
                <a:latin typeface="Times New Roman" panose="02020603050405020304" pitchFamily="18" charset="0"/>
              </a:rPr>
              <a:pPr/>
              <a:t>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4EEAADBD-24C2-8274-F0E3-EF3E23392D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2ABBEB73-7248-F543-2525-E59E66FFB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6762F68C-FCF3-3041-510F-39BBC9010BE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6155232C-AD37-2BA8-5B57-FF9D00A83A1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4D4249-CDD0-5A46-816E-7BAA96A294F3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6">
            <a:extLst>
              <a:ext uri="{FF2B5EF4-FFF2-40B4-BE49-F238E27FC236}">
                <a16:creationId xmlns:a16="http://schemas.microsoft.com/office/drawing/2014/main" id="{883FD3C7-0897-73A0-AB4B-0CEA1392FC6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BBAFE191-67B1-969B-CF8B-D71CC1C81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C45A1A-18B5-374A-962C-D6ACDB706AB5}" type="slidenum">
              <a:rPr lang="en-AU" altLang="en-US" smtClean="0">
                <a:latin typeface="Times New Roman" panose="02020603050405020304" pitchFamily="18" charset="0"/>
              </a:rPr>
              <a:pPr/>
              <a:t>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E43BAFEC-4EF4-CCB7-44A4-FD55C3AE65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CB03E2D8-5182-0204-5724-E136BDAD84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503DCA9-E865-0EA8-46A0-020F304FA7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5750AE23-E5E8-3273-3B2D-E0E13EE3E9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EF920B-9440-8D4A-84C4-FCFFA839E56E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675" name="Rectangle 6">
            <a:extLst>
              <a:ext uri="{FF2B5EF4-FFF2-40B4-BE49-F238E27FC236}">
                <a16:creationId xmlns:a16="http://schemas.microsoft.com/office/drawing/2014/main" id="{2CAF0EF9-2ABA-C371-C963-756B63036A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7219343D-A950-AE86-215B-C779C6C779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5AA68A-595E-D849-93BB-D8BF528E5BC8}" type="slidenum">
              <a:rPr lang="en-AU" altLang="en-US" smtClean="0">
                <a:latin typeface="Times New Roman" panose="02020603050405020304" pitchFamily="18" charset="0"/>
              </a:rPr>
              <a:pPr/>
              <a:t>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A2757A92-3C35-BE4C-CF5B-877C4828D0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372FE16D-CF35-036F-D782-5B9585E55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C1D6B555-3448-FEBA-AAEB-7EF21ABA78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9C80FB12-C836-6E4E-9712-B7927E1CAC3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F44503-C1BF-814E-B478-E3F4900688DA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6">
            <a:extLst>
              <a:ext uri="{FF2B5EF4-FFF2-40B4-BE49-F238E27FC236}">
                <a16:creationId xmlns:a16="http://schemas.microsoft.com/office/drawing/2014/main" id="{0461AADC-D989-9BDA-B00B-A7AF182F08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0724" name="Rectangle 7">
            <a:extLst>
              <a:ext uri="{FF2B5EF4-FFF2-40B4-BE49-F238E27FC236}">
                <a16:creationId xmlns:a16="http://schemas.microsoft.com/office/drawing/2014/main" id="{B315BF26-9619-5728-1784-434E06A8B0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E83B78-3FC9-1147-A55E-9FCF6AB03320}" type="slidenum">
              <a:rPr lang="en-AU" altLang="en-US" smtClean="0">
                <a:latin typeface="Times New Roman" panose="02020603050405020304" pitchFamily="18" charset="0"/>
              </a:rPr>
              <a:pPr/>
              <a:t>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4AAD0D69-35B6-A147-D5E8-FD5142FDE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F0C345BD-8375-D126-419F-F5469DA57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35233E62-2360-9B46-81AA-47F708F7EA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B5BF75DC-275D-6D7B-058B-F6CBAEFF9FF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A4513A-75B3-BC47-BFEE-59E8C8A04ABE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6">
            <a:extLst>
              <a:ext uri="{FF2B5EF4-FFF2-40B4-BE49-F238E27FC236}">
                <a16:creationId xmlns:a16="http://schemas.microsoft.com/office/drawing/2014/main" id="{30113FFB-1712-F4A3-A973-471AFD9F02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2772" name="Rectangle 7">
            <a:extLst>
              <a:ext uri="{FF2B5EF4-FFF2-40B4-BE49-F238E27FC236}">
                <a16:creationId xmlns:a16="http://schemas.microsoft.com/office/drawing/2014/main" id="{7B42E99A-ED19-E97E-FAA1-00DFC444D9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5759E8-0A1C-B941-B43C-6A562DA8D291}" type="slidenum">
              <a:rPr lang="en-AU" altLang="en-US" smtClean="0">
                <a:latin typeface="Times New Roman" panose="02020603050405020304" pitchFamily="18" charset="0"/>
              </a:rPr>
              <a:pPr/>
              <a:t>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B9C81180-3B59-B4F6-429A-661F83572F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F9A1ACE4-2887-8DBC-3615-1AA13DBC9D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FB0D86AC-943E-529B-9D65-16DAF30DB8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4447390B-B9A4-6D3C-A6FC-BCC47E73999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FFF52C-4E9E-CA43-847D-59C90B133040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6">
            <a:extLst>
              <a:ext uri="{FF2B5EF4-FFF2-40B4-BE49-F238E27FC236}">
                <a16:creationId xmlns:a16="http://schemas.microsoft.com/office/drawing/2014/main" id="{18638817-D4C1-F4F1-524C-5D8E21C511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4820" name="Rectangle 7">
            <a:extLst>
              <a:ext uri="{FF2B5EF4-FFF2-40B4-BE49-F238E27FC236}">
                <a16:creationId xmlns:a16="http://schemas.microsoft.com/office/drawing/2014/main" id="{632BF1EA-18C3-7C5D-039B-E027CEB058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929F7D-5BBE-2346-812F-35088C3C5317}" type="slidenum">
              <a:rPr lang="en-AU" altLang="en-US" smtClean="0">
                <a:latin typeface="Times New Roman" panose="02020603050405020304" pitchFamily="18" charset="0"/>
              </a:rPr>
              <a:pPr/>
              <a:t>10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B96F79B8-1CC0-1F95-D418-7C6F02FF0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C353D87A-352B-BD84-AC00-59BC49983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A5CF4A74-13D0-2740-8366-118D8D360F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4E3900B9-8A5D-1E0B-DEFD-CD27142497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317B3D-F2CD-564E-8BAE-4228D1E03598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6">
            <a:extLst>
              <a:ext uri="{FF2B5EF4-FFF2-40B4-BE49-F238E27FC236}">
                <a16:creationId xmlns:a16="http://schemas.microsoft.com/office/drawing/2014/main" id="{84345439-D214-D586-5AA7-06DBA08B7C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6868" name="Rectangle 7">
            <a:extLst>
              <a:ext uri="{FF2B5EF4-FFF2-40B4-BE49-F238E27FC236}">
                <a16:creationId xmlns:a16="http://schemas.microsoft.com/office/drawing/2014/main" id="{3E4DAD5E-25AB-C3ED-D4F0-7584B39543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BF6A93-9349-9946-B2B6-D88C43F136BE}" type="slidenum">
              <a:rPr lang="en-AU" altLang="en-US" smtClean="0">
                <a:latin typeface="Times New Roman" panose="02020603050405020304" pitchFamily="18" charset="0"/>
              </a:rPr>
              <a:pPr/>
              <a:t>11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81694E1E-81C7-63E1-9903-C18D3814B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8FA324CE-5A20-30B1-1424-B2F70FBF3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DCAA8E52-C551-C305-266A-2ADB4BBDD9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23F8C86B-F0BC-D488-2141-44810B9892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4ED631-4DBB-6F47-B7D0-13CD70B4B2A1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6">
            <a:extLst>
              <a:ext uri="{FF2B5EF4-FFF2-40B4-BE49-F238E27FC236}">
                <a16:creationId xmlns:a16="http://schemas.microsoft.com/office/drawing/2014/main" id="{C13EF70F-FE88-BA02-CA62-CE3EA84C8FE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8916" name="Rectangle 7">
            <a:extLst>
              <a:ext uri="{FF2B5EF4-FFF2-40B4-BE49-F238E27FC236}">
                <a16:creationId xmlns:a16="http://schemas.microsoft.com/office/drawing/2014/main" id="{E4EFAFA2-D26E-F9A3-B32C-90CE4679C4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E767A4-4779-6549-A1DC-4E75848DCAF7}" type="slidenum">
              <a:rPr lang="en-AU" altLang="en-US" smtClean="0">
                <a:latin typeface="Times New Roman" panose="02020603050405020304" pitchFamily="18" charset="0"/>
              </a:rPr>
              <a:pPr/>
              <a:t>12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1BFECB49-A268-E6B4-B87C-44E72031C5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B8EE0A8B-061D-613C-99BF-880B5942E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5A1A14FE-275C-12B2-10FF-0F7C6C04D4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55EDC4A4-5387-6964-8A6C-54F68BEE9AE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74E509-4891-7945-AFFE-8764B3EC84EE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6">
            <a:extLst>
              <a:ext uri="{FF2B5EF4-FFF2-40B4-BE49-F238E27FC236}">
                <a16:creationId xmlns:a16="http://schemas.microsoft.com/office/drawing/2014/main" id="{959E7DAA-D272-5C25-E779-C39330A358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40964" name="Rectangle 7">
            <a:extLst>
              <a:ext uri="{FF2B5EF4-FFF2-40B4-BE49-F238E27FC236}">
                <a16:creationId xmlns:a16="http://schemas.microsoft.com/office/drawing/2014/main" id="{8C822C85-6335-C3D7-DA6D-C90D138D42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5D5D8E-A429-A343-B7EF-58A197AEE8C7}" type="slidenum">
              <a:rPr lang="en-AU" altLang="en-US" smtClean="0">
                <a:latin typeface="Times New Roman" panose="02020603050405020304" pitchFamily="18" charset="0"/>
              </a:rPr>
              <a:pPr/>
              <a:t>13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1A1B03CA-9792-7A59-FDA4-9C148AC7B4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4D2DF195-315C-2D2F-8D2C-5145C26BC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347F7ACA-D32B-A209-3EA9-3E76048FC4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2EA40A37-8AE9-F836-CC0E-17875453437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9B96BA-30DF-5140-943D-707CDDE7BDB7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6">
            <a:extLst>
              <a:ext uri="{FF2B5EF4-FFF2-40B4-BE49-F238E27FC236}">
                <a16:creationId xmlns:a16="http://schemas.microsoft.com/office/drawing/2014/main" id="{A2BC16BB-6595-D15E-9E44-0B126BE177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44036" name="Rectangle 7">
            <a:extLst>
              <a:ext uri="{FF2B5EF4-FFF2-40B4-BE49-F238E27FC236}">
                <a16:creationId xmlns:a16="http://schemas.microsoft.com/office/drawing/2014/main" id="{E877A5E1-22FD-2180-EFC6-216AE712C0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892802-D244-6043-B13B-3A434156F2FE}" type="slidenum">
              <a:rPr lang="en-AU" altLang="en-US" smtClean="0">
                <a:latin typeface="Times New Roman" panose="02020603050405020304" pitchFamily="18" charset="0"/>
              </a:rPr>
              <a:pPr/>
              <a:t>15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id="{0683D3B1-918B-54E9-21DE-1C2C3559DC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8" name="Rectangle 3">
            <a:extLst>
              <a:ext uri="{FF2B5EF4-FFF2-40B4-BE49-F238E27FC236}">
                <a16:creationId xmlns:a16="http://schemas.microsoft.com/office/drawing/2014/main" id="{796172E5-45CF-D5CA-D97F-74F11E64F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58491365-64C0-0A7A-33BD-F9CA6D4954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DD7530CE-3D3D-BD61-7AF3-4A7FCBFEC1E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EE0D70-7646-6E46-A315-3696ECC2F1C8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6083" name="Rectangle 6">
            <a:extLst>
              <a:ext uri="{FF2B5EF4-FFF2-40B4-BE49-F238E27FC236}">
                <a16:creationId xmlns:a16="http://schemas.microsoft.com/office/drawing/2014/main" id="{B7AA9AEE-9367-CF69-1F34-CD606CBF42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46084" name="Rectangle 7">
            <a:extLst>
              <a:ext uri="{FF2B5EF4-FFF2-40B4-BE49-F238E27FC236}">
                <a16:creationId xmlns:a16="http://schemas.microsoft.com/office/drawing/2014/main" id="{4577B9B4-F241-6F49-2467-2E3F41A0FC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6C5AEB-9237-1142-BA69-19C018C434E3}" type="slidenum">
              <a:rPr lang="en-AU" altLang="en-US" smtClean="0">
                <a:latin typeface="Times New Roman" panose="02020603050405020304" pitchFamily="18" charset="0"/>
              </a:rPr>
              <a:pPr/>
              <a:t>16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C4971A8C-8AB1-CD76-03FE-78FB989C6E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3F12E32A-3202-7FAA-F929-FA71FCE2B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演示</a:t>
            </a:r>
            <a:r>
              <a:rPr lang="zh-CN" altLang="en-US"/>
              <a:t>，</a:t>
            </a:r>
            <a:r>
              <a:rPr lang="en-US" altLang="zh-CN"/>
              <a:t>dividedbyzero.c</a:t>
            </a:r>
          </a:p>
          <a:p>
            <a:r>
              <a:rPr lang="en-US" altLang="en-US"/>
              <a:t>mac上是float divided by zero: nan</a:t>
            </a:r>
          </a:p>
          <a:p>
            <a:r>
              <a:rPr lang="en-US" altLang="en-US"/>
              <a:t>linux上是</a:t>
            </a:r>
            <a:r>
              <a:rPr lang="zh-CN" altLang="en-US"/>
              <a:t>：</a:t>
            </a:r>
            <a:r>
              <a:rPr lang="en-US" altLang="zh-CN"/>
              <a:t>Floating point exception (core dumped)</a:t>
            </a:r>
          </a:p>
          <a:p>
            <a:r>
              <a:rPr lang="en-US" altLang="en-US"/>
              <a:t>C</a:t>
            </a:r>
            <a:r>
              <a:rPr lang="en-US" altLang="zh-CN"/>
              <a:t>99</a:t>
            </a:r>
            <a:r>
              <a:rPr lang="zh-CN" altLang="en-US"/>
              <a:t>标准</a:t>
            </a:r>
            <a:r>
              <a:rPr lang="en-US" altLang="zh-CN"/>
              <a:t>6.5.5</a:t>
            </a:r>
            <a:r>
              <a:rPr lang="zh-CN" altLang="en-US"/>
              <a:t>的第</a:t>
            </a:r>
            <a:r>
              <a:rPr lang="en-US" altLang="zh-CN"/>
              <a:t>5</a:t>
            </a:r>
            <a:r>
              <a:rPr lang="zh-CN" altLang="en-US"/>
              <a:t>条</a:t>
            </a: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A4990F99-8369-F6B6-B6E0-69BEAD2D48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40267674-23E6-93A3-10DA-93C159BF42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58A55A-3B32-E84F-BDA0-44EEA6C8FBD6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8131" name="Rectangle 6">
            <a:extLst>
              <a:ext uri="{FF2B5EF4-FFF2-40B4-BE49-F238E27FC236}">
                <a16:creationId xmlns:a16="http://schemas.microsoft.com/office/drawing/2014/main" id="{394D69C7-8343-C0C3-C7D0-0153E76C2A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48132" name="Rectangle 7">
            <a:extLst>
              <a:ext uri="{FF2B5EF4-FFF2-40B4-BE49-F238E27FC236}">
                <a16:creationId xmlns:a16="http://schemas.microsoft.com/office/drawing/2014/main" id="{391CA8B0-31D8-1531-50FC-A5909251B9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B3A6FB-343D-8443-BDFD-32B3F0E9DB05}" type="slidenum">
              <a:rPr lang="en-AU" altLang="en-US" smtClean="0">
                <a:latin typeface="Times New Roman" panose="02020603050405020304" pitchFamily="18" charset="0"/>
              </a:rPr>
              <a:pPr/>
              <a:t>17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8133" name="Rectangle 2">
            <a:extLst>
              <a:ext uri="{FF2B5EF4-FFF2-40B4-BE49-F238E27FC236}">
                <a16:creationId xmlns:a16="http://schemas.microsoft.com/office/drawing/2014/main" id="{1F16375B-18D4-19A9-3BB0-53B3BB458A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>
            <a:extLst>
              <a:ext uri="{FF2B5EF4-FFF2-40B4-BE49-F238E27FC236}">
                <a16:creationId xmlns:a16="http://schemas.microsoft.com/office/drawing/2014/main" id="{991491BB-5550-AAA7-DE53-2FD74F37B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9C0B745A-204C-5F95-A982-1FBFA2B7C9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ECC696CC-47E0-2C60-F129-ABFB1758520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67E628-AD03-E040-8CAA-22B1EA62CEB5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6">
            <a:extLst>
              <a:ext uri="{FF2B5EF4-FFF2-40B4-BE49-F238E27FC236}">
                <a16:creationId xmlns:a16="http://schemas.microsoft.com/office/drawing/2014/main" id="{10A9302D-EA8F-4F05-D81A-194112C228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50180" name="Rectangle 7">
            <a:extLst>
              <a:ext uri="{FF2B5EF4-FFF2-40B4-BE49-F238E27FC236}">
                <a16:creationId xmlns:a16="http://schemas.microsoft.com/office/drawing/2014/main" id="{7C9D838E-57DE-E4A1-BE9F-C25E630D87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00A4CF-7775-614C-920E-FB3CEDF3D3D9}" type="slidenum">
              <a:rPr lang="en-AU" altLang="en-US" smtClean="0">
                <a:latin typeface="Times New Roman" panose="02020603050405020304" pitchFamily="18" charset="0"/>
              </a:rPr>
              <a:pPr/>
              <a:t>18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17C28C88-B7D8-7503-1C95-5B3C631F3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0A4BC878-C397-015C-CD97-5430B9397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219B379C-82F8-E9B8-B178-28CD2F4279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1DC74FD3-C79C-EBD9-CB2C-90ACC0B6B35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FFA649-E534-0241-B519-EF7AC66DB181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6">
            <a:extLst>
              <a:ext uri="{FF2B5EF4-FFF2-40B4-BE49-F238E27FC236}">
                <a16:creationId xmlns:a16="http://schemas.microsoft.com/office/drawing/2014/main" id="{1A9C03FC-3426-132E-5956-89A768492A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52228" name="Rectangle 7">
            <a:extLst>
              <a:ext uri="{FF2B5EF4-FFF2-40B4-BE49-F238E27FC236}">
                <a16:creationId xmlns:a16="http://schemas.microsoft.com/office/drawing/2014/main" id="{2E88C683-70DC-576E-00C1-29C5899FBC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7DA650-0702-AA4A-86CF-A25C1443F4D7}" type="slidenum">
              <a:rPr lang="en-AU" altLang="en-US" smtClean="0">
                <a:latin typeface="Times New Roman" panose="02020603050405020304" pitchFamily="18" charset="0"/>
              </a:rPr>
              <a:pPr/>
              <a:t>19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2229" name="Rectangle 2">
            <a:extLst>
              <a:ext uri="{FF2B5EF4-FFF2-40B4-BE49-F238E27FC236}">
                <a16:creationId xmlns:a16="http://schemas.microsoft.com/office/drawing/2014/main" id="{6944C37A-9A46-A001-2B7E-AEEB5C09B9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0" name="Rectangle 3">
            <a:extLst>
              <a:ext uri="{FF2B5EF4-FFF2-40B4-BE49-F238E27FC236}">
                <a16:creationId xmlns:a16="http://schemas.microsoft.com/office/drawing/2014/main" id="{4659C4D8-73FD-01D6-2916-67075A4DB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3985BF01-07AF-3719-6AE7-8AD18094DA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D8D01902-B281-ED2C-82E8-DDF09B166B8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07AA09-D353-224F-8739-9D5443339223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6">
            <a:extLst>
              <a:ext uri="{FF2B5EF4-FFF2-40B4-BE49-F238E27FC236}">
                <a16:creationId xmlns:a16="http://schemas.microsoft.com/office/drawing/2014/main" id="{1E38B317-073D-0A55-C5CD-9B1D2E5620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54276" name="Rectangle 7">
            <a:extLst>
              <a:ext uri="{FF2B5EF4-FFF2-40B4-BE49-F238E27FC236}">
                <a16:creationId xmlns:a16="http://schemas.microsoft.com/office/drawing/2014/main" id="{D734A9AC-5675-6C65-58CD-659E0776DB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221D57-DF93-D848-BCFE-A7ED8C6F621A}" type="slidenum">
              <a:rPr lang="en-AU" altLang="en-US" smtClean="0">
                <a:latin typeface="Times New Roman" panose="02020603050405020304" pitchFamily="18" charset="0"/>
              </a:rPr>
              <a:pPr/>
              <a:t>20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4277" name="Rectangle 2">
            <a:extLst>
              <a:ext uri="{FF2B5EF4-FFF2-40B4-BE49-F238E27FC236}">
                <a16:creationId xmlns:a16="http://schemas.microsoft.com/office/drawing/2014/main" id="{9DA74CBC-31AE-F670-48B6-00F2817673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8" name="Rectangle 3">
            <a:extLst>
              <a:ext uri="{FF2B5EF4-FFF2-40B4-BE49-F238E27FC236}">
                <a16:creationId xmlns:a16="http://schemas.microsoft.com/office/drawing/2014/main" id="{BCD928CB-950A-9131-DCF0-F4FC90ADF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00360306-EB1D-7D98-D412-A460F95559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D70943A1-2692-924D-ED0F-22C1990232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C0612F-9699-3D4A-ABE3-0A188584E40A}" type="datetime3">
              <a:rPr lang="en-AU" altLang="en-US" smtClean="0">
                <a:latin typeface="Times New Roman" panose="02020603050405020304" pitchFamily="18" charset="0"/>
              </a:rPr>
              <a:pPr/>
              <a:t>18 October,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6">
            <a:extLst>
              <a:ext uri="{FF2B5EF4-FFF2-40B4-BE49-F238E27FC236}">
                <a16:creationId xmlns:a16="http://schemas.microsoft.com/office/drawing/2014/main" id="{4A99C245-640A-AFC4-D6E4-6C779E26B1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56324" name="Rectangle 7">
            <a:extLst>
              <a:ext uri="{FF2B5EF4-FFF2-40B4-BE49-F238E27FC236}">
                <a16:creationId xmlns:a16="http://schemas.microsoft.com/office/drawing/2014/main" id="{CBF8CFFE-E161-0DA7-E0E1-16A29A87D3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FF61D0-75CC-214B-9854-70C1D8FACA79}" type="slidenum">
              <a:rPr lang="en-AU" altLang="en-US" smtClean="0">
                <a:latin typeface="Times New Roman" panose="02020603050405020304" pitchFamily="18" charset="0"/>
              </a:rPr>
              <a:pPr/>
              <a:t>21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6325" name="Rectangle 2">
            <a:extLst>
              <a:ext uri="{FF2B5EF4-FFF2-40B4-BE49-F238E27FC236}">
                <a16:creationId xmlns:a16="http://schemas.microsoft.com/office/drawing/2014/main" id="{56D4278D-B954-E806-EE34-59DA81083E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E33D0697-26EB-7E5C-D04B-18CBC38D4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>
            <a:extLst>
              <a:ext uri="{FF2B5EF4-FFF2-40B4-BE49-F238E27FC236}">
                <a16:creationId xmlns:a16="http://schemas.microsoft.com/office/drawing/2014/main" id="{1DF16AD3-A5BC-854E-C779-8755C28A3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6">
            <a:extLst>
              <a:ext uri="{FF2B5EF4-FFF2-40B4-BE49-F238E27FC236}">
                <a16:creationId xmlns:a16="http://schemas.microsoft.com/office/drawing/2014/main" id="{97884661-3B36-57DF-320E-DC7E8F26F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7">
            <a:extLst>
              <a:ext uri="{FF2B5EF4-FFF2-40B4-BE49-F238E27FC236}">
                <a16:creationId xmlns:a16="http://schemas.microsoft.com/office/drawing/2014/main" id="{F247904C-5161-30F7-36DB-C3558706D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A0B904CF-6104-516C-4404-C95F05AF2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3017E88C-CC93-272F-B4DE-32C44462D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8">
            <a:extLst>
              <a:ext uri="{FF2B5EF4-FFF2-40B4-BE49-F238E27FC236}">
                <a16:creationId xmlns:a16="http://schemas.microsoft.com/office/drawing/2014/main" id="{57C31D73-F817-EBD8-91A5-CEC9BCD0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pSp>
        <p:nvGrpSpPr>
          <p:cNvPr id="8" name="Group 14">
            <a:extLst>
              <a:ext uri="{FF2B5EF4-FFF2-40B4-BE49-F238E27FC236}">
                <a16:creationId xmlns:a16="http://schemas.microsoft.com/office/drawing/2014/main" id="{E4204DEE-CD25-2F96-DE85-39821550CC4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74825" y="104775"/>
            <a:ext cx="6084888" cy="868363"/>
            <a:chOff x="1774113" y="104757"/>
            <a:chExt cx="6084936" cy="8685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BC4CDF-5A7D-646E-82BC-0F3B5E32CC34}"/>
                </a:ext>
              </a:extLst>
            </p:cNvPr>
            <p:cNvSpPr txBox="1"/>
            <p:nvPr userDrawn="1"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3000" b="1" cap="small" dirty="0">
                  <a:solidFill>
                    <a:schemeClr val="bg1"/>
                  </a:solidFill>
                  <a:latin typeface="Corbel" pitchFamily="34" charset="0"/>
                </a:rPr>
                <a:t>Computer Organization and Design</a:t>
              </a:r>
              <a:endParaRPr lang="en-US" sz="3000" b="1" cap="small" dirty="0">
                <a:solidFill>
                  <a:schemeClr val="bg1"/>
                </a:solidFill>
                <a:latin typeface="Corbe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D83BCD-46B0-BBCB-C50C-04520AE3BB57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GB" sz="2000">
                  <a:solidFill>
                    <a:schemeClr val="bg1"/>
                  </a:solidFill>
                </a:rPr>
                <a:t>The Hardware/Software Interface</a:t>
              </a:r>
              <a:endParaRPr lang="en-US" sz="200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7">
            <a:extLst>
              <a:ext uri="{FF2B5EF4-FFF2-40B4-BE49-F238E27FC236}">
                <a16:creationId xmlns:a16="http://schemas.microsoft.com/office/drawing/2014/main" id="{43A901E6-321C-0EA0-3635-9C0C8ED8A68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007350" y="92075"/>
            <a:ext cx="935038" cy="935038"/>
            <a:chOff x="8007350" y="92075"/>
            <a:chExt cx="935038" cy="935038"/>
          </a:xfrm>
        </p:grpSpPr>
        <p:sp>
          <p:nvSpPr>
            <p:cNvPr id="12" name="32-Point Star 11">
              <a:extLst>
                <a:ext uri="{FF2B5EF4-FFF2-40B4-BE49-F238E27FC236}">
                  <a16:creationId xmlns:a16="http://schemas.microsoft.com/office/drawing/2014/main" id="{3C6AD567-571A-3A7B-8400-53B9B62A9C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007350" y="92075"/>
              <a:ext cx="935038" cy="935038"/>
            </a:xfrm>
            <a:prstGeom prst="star32">
              <a:avLst>
                <a:gd name="adj" fmla="val 37500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1267A4-0274-D177-4FE0-EBB891C6B093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8020050" y="293688"/>
              <a:ext cx="909638" cy="614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 spc="-100" dirty="0">
                  <a:solidFill>
                    <a:schemeClr val="bg1"/>
                  </a:solidFill>
                  <a:latin typeface="Arial Black" pitchFamily="34" charset="0"/>
                </a:rPr>
                <a:t>RISC-V</a:t>
              </a:r>
            </a:p>
            <a:p>
              <a:pPr>
                <a:defRPr/>
              </a:pPr>
              <a:endParaRPr lang="en-US" sz="20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F2AF3A-5D96-AC3B-ABFF-FA9470177562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8115300" y="492125"/>
              <a:ext cx="731838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 dirty="0">
                  <a:solidFill>
                    <a:schemeClr val="bg1"/>
                  </a:solidFill>
                </a:rPr>
                <a:t>Edition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419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AU"/>
              <a:t>Chapter …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AU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5261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03E4D369-9363-E467-3118-D42266BB6F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71F520A6-3B05-0F4A-998F-EAB4FC44E0D8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354148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D8517CAD-8322-B10E-0530-5A215942BF9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F17F77BB-1D41-014F-9455-488641B73FFF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1480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9C33BA73-4E3F-31B5-CC10-BB5C4EC91F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00A36871-FEB4-F142-83CF-CF979871722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2417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54F57332-B311-3CD5-E2F7-5211AE1C621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84981DF3-E75F-0F4E-94BC-B2EBED8A60D8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49289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4A02E13E-044A-B4AD-1EF3-1CB35FADA5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B0B6D8D2-3328-F347-9739-24BBC1E11ED3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6678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8E5FDBD2-77BB-6398-036E-510562D88A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2976F7AE-9DC4-AC47-B331-1AA77E8DE289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66303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9E6BD71-9FFB-6664-87B4-AB4EA7BFDE2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990077D0-8FC2-964C-9429-966AA4479DA9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2673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F8A9265D-FB0C-97B3-0A8B-408E14D04B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E3B26713-19A1-054E-8DAA-F343DAC32F82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93222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767C133C-CDF5-5C4B-B7B2-8246474C260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C484D055-1009-F645-9FD6-904C54A7898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31852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9D85BEBE-11E8-8357-CD3C-D086005B1B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1ADF1A21-C4AC-6842-BD81-E8C8BFC2E685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0407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>
            <a:extLst>
              <a:ext uri="{FF2B5EF4-FFF2-40B4-BE49-F238E27FC236}">
                <a16:creationId xmlns:a16="http://schemas.microsoft.com/office/drawing/2014/main" id="{D9BABB38-A8B7-4EA0-9471-A3B33089B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B6103D80-FDE1-7D00-C19C-E3ECB9331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6947BB48-5A51-A7AC-0AED-2F55E65F0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40979" name="Rectangle 19">
            <a:extLst>
              <a:ext uri="{FF2B5EF4-FFF2-40B4-BE49-F238E27FC236}">
                <a16:creationId xmlns:a16="http://schemas.microsoft.com/office/drawing/2014/main" id="{1702E5F7-BE0E-7DE6-BD33-7A245186B6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E308F961-22E2-BE4E-93D3-A3EDE9BB2ADC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  <p:sp>
        <p:nvSpPr>
          <p:cNvPr id="1030" name="Rectangle 25">
            <a:extLst>
              <a:ext uri="{FF2B5EF4-FFF2-40B4-BE49-F238E27FC236}">
                <a16:creationId xmlns:a16="http://schemas.microsoft.com/office/drawing/2014/main" id="{BFAEF8EB-5528-7E9D-DF3B-BE40B381C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>
            <a:extLst>
              <a:ext uri="{FF2B5EF4-FFF2-40B4-BE49-F238E27FC236}">
                <a16:creationId xmlns:a16="http://schemas.microsoft.com/office/drawing/2014/main" id="{2E30D3E5-7882-84F2-45F5-BDD7936E67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solidFill>
                  <a:schemeClr val="tx1"/>
                </a:solidFill>
              </a:rPr>
              <a:t>Chapter 3</a:t>
            </a:r>
          </a:p>
        </p:txBody>
      </p:sp>
      <p:sp>
        <p:nvSpPr>
          <p:cNvPr id="15362" name="Rectangle 5">
            <a:extLst>
              <a:ext uri="{FF2B5EF4-FFF2-40B4-BE49-F238E27FC236}">
                <a16:creationId xmlns:a16="http://schemas.microsoft.com/office/drawing/2014/main" id="{2753FEDA-CC97-3DFE-ED4B-7DAE733801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Arithmetic for Computers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3">
            <a:extLst>
              <a:ext uri="{FF2B5EF4-FFF2-40B4-BE49-F238E27FC236}">
                <a16:creationId xmlns:a16="http://schemas.microsoft.com/office/drawing/2014/main" id="{F4706A03-42C5-5BDD-A425-BEDBF870A9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8EFFE9FA-17D4-AF41-AEFE-6062B61F165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AU" altLang="en-US" sz="1400"/>
          </a:p>
        </p:txBody>
      </p:sp>
      <p:sp>
        <p:nvSpPr>
          <p:cNvPr id="17410" name="Rectangle 4">
            <a:extLst>
              <a:ext uri="{FF2B5EF4-FFF2-40B4-BE49-F238E27FC236}">
                <a16:creationId xmlns:a16="http://schemas.microsoft.com/office/drawing/2014/main" id="{5D1D0094-74DE-A9FE-35FF-0620FFBA8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Arithmetic for Computers</a:t>
            </a:r>
          </a:p>
        </p:txBody>
      </p:sp>
      <p:sp>
        <p:nvSpPr>
          <p:cNvPr id="17411" name="Rectangle 5">
            <a:extLst>
              <a:ext uri="{FF2B5EF4-FFF2-40B4-BE49-F238E27FC236}">
                <a16:creationId xmlns:a16="http://schemas.microsoft.com/office/drawing/2014/main" id="{6E2DB328-F972-A4CC-5872-8B57A7B188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Operations on integers</a:t>
            </a:r>
          </a:p>
          <a:p>
            <a:pPr lvl="1" eaLnBrk="1" hangingPunct="1"/>
            <a:r>
              <a:rPr lang="en-AU" altLang="en-US"/>
              <a:t>Addition and subtraction</a:t>
            </a:r>
          </a:p>
          <a:p>
            <a:pPr eaLnBrk="1" hangingPunct="1"/>
            <a:r>
              <a:rPr lang="en-AU" altLang="en-US"/>
              <a:t>Floating-point real numbers</a:t>
            </a:r>
          </a:p>
          <a:p>
            <a:pPr lvl="1" eaLnBrk="1" hangingPunct="1"/>
            <a:r>
              <a:rPr lang="en-AU" altLang="en-US"/>
              <a:t>Representation and operations </a:t>
            </a:r>
          </a:p>
        </p:txBody>
      </p:sp>
      <p:sp>
        <p:nvSpPr>
          <p:cNvPr id="17412" name="Text Box 9">
            <a:extLst>
              <a:ext uri="{FF2B5EF4-FFF2-40B4-BE49-F238E27FC236}">
                <a16:creationId xmlns:a16="http://schemas.microsoft.com/office/drawing/2014/main" id="{549781E7-1CF9-6BDE-1B0F-B2176740D58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§3.1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3">
            <a:extLst>
              <a:ext uri="{FF2B5EF4-FFF2-40B4-BE49-F238E27FC236}">
                <a16:creationId xmlns:a16="http://schemas.microsoft.com/office/drawing/2014/main" id="{35E03235-997B-8BB0-FD2B-B9CFD157F7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73A2173-E55C-CC44-95C1-D452ADBD6CF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AU" altLang="en-US" sz="1400"/>
          </a:p>
        </p:txBody>
      </p:sp>
      <p:pic>
        <p:nvPicPr>
          <p:cNvPr id="19458" name="Picture 9" descr="f03-01-P374493">
            <a:extLst>
              <a:ext uri="{FF2B5EF4-FFF2-40B4-BE49-F238E27FC236}">
                <a16:creationId xmlns:a16="http://schemas.microsoft.com/office/drawing/2014/main" id="{4E35D447-4A84-EC13-6CED-3CBE0E633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44675"/>
            <a:ext cx="6938962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2">
            <a:extLst>
              <a:ext uri="{FF2B5EF4-FFF2-40B4-BE49-F238E27FC236}">
                <a16:creationId xmlns:a16="http://schemas.microsoft.com/office/drawing/2014/main" id="{3EAE1BCD-5055-DCB0-2AC9-3D08FCE28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Integer Addition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6393444-143A-D6B1-C04C-569618726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74687"/>
          </a:xfrm>
        </p:spPr>
        <p:txBody>
          <a:bodyPr/>
          <a:lstStyle/>
          <a:p>
            <a:pPr eaLnBrk="1" hangingPunct="1"/>
            <a:r>
              <a:rPr lang="en-US" altLang="en-US"/>
              <a:t>Example: 7 + 6</a:t>
            </a:r>
            <a:endParaRPr lang="en-AU" altLang="en-US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DBC451E8-A0DA-6A4C-38D4-2A0AC92496C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369969" y="1407319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§3.2 Addition and Subtraction</a:t>
            </a:r>
          </a:p>
        </p:txBody>
      </p:sp>
      <p:sp>
        <p:nvSpPr>
          <p:cNvPr id="19462" name="Rectangle 7">
            <a:extLst>
              <a:ext uri="{FF2B5EF4-FFF2-40B4-BE49-F238E27FC236}">
                <a16:creationId xmlns:a16="http://schemas.microsoft.com/office/drawing/2014/main" id="{409141EE-9C2A-1AB1-0627-1920CBE6E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644900"/>
            <a:ext cx="777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/>
              <a:t>Overflow if result out of range</a:t>
            </a:r>
          </a:p>
          <a:p>
            <a:pPr lvl="1" eaLnBrk="1" hangingPunct="1"/>
            <a:r>
              <a:rPr lang="en-US" altLang="en-US" sz="2400"/>
              <a:t>Adding +ve and –ve operands, no overflow</a:t>
            </a:r>
          </a:p>
          <a:p>
            <a:pPr lvl="1" eaLnBrk="1" hangingPunct="1"/>
            <a:r>
              <a:rPr lang="en-US" altLang="en-US" sz="2400"/>
              <a:t>Adding two +ve operands</a:t>
            </a:r>
          </a:p>
          <a:p>
            <a:pPr lvl="2" eaLnBrk="1" hangingPunct="1"/>
            <a:r>
              <a:rPr lang="en-US" altLang="en-US" sz="2000"/>
              <a:t>Overflow if result sign is 1</a:t>
            </a:r>
          </a:p>
          <a:p>
            <a:pPr lvl="1" eaLnBrk="1" hangingPunct="1"/>
            <a:r>
              <a:rPr lang="en-US" altLang="en-US" sz="2400"/>
              <a:t>Adding two –ve operands</a:t>
            </a:r>
          </a:p>
          <a:p>
            <a:pPr lvl="2" eaLnBrk="1" hangingPunct="1"/>
            <a:r>
              <a:rPr lang="en-US" altLang="en-US" sz="2000"/>
              <a:t>Overflow if result sign is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3">
            <a:extLst>
              <a:ext uri="{FF2B5EF4-FFF2-40B4-BE49-F238E27FC236}">
                <a16:creationId xmlns:a16="http://schemas.microsoft.com/office/drawing/2014/main" id="{D63A0EBC-3EBE-9AF4-C005-8C2564CCE4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568B3E7F-5A78-C847-898C-3532047C0C3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AU" altLang="en-US" sz="1400"/>
          </a:p>
        </p:txBody>
      </p:sp>
      <p:sp>
        <p:nvSpPr>
          <p:cNvPr id="21506" name="Rectangle 4">
            <a:extLst>
              <a:ext uri="{FF2B5EF4-FFF2-40B4-BE49-F238E27FC236}">
                <a16:creationId xmlns:a16="http://schemas.microsoft.com/office/drawing/2014/main" id="{189C508D-5351-517B-B961-577536A8B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Integer Subtraction</a:t>
            </a:r>
            <a:endParaRPr lang="en-AU" altLang="en-US"/>
          </a:p>
        </p:txBody>
      </p:sp>
      <p:sp>
        <p:nvSpPr>
          <p:cNvPr id="21507" name="Rectangle 5">
            <a:extLst>
              <a:ext uri="{FF2B5EF4-FFF2-40B4-BE49-F238E27FC236}">
                <a16:creationId xmlns:a16="http://schemas.microsoft.com/office/drawing/2014/main" id="{2D9EB50D-7280-5618-C748-7DBEB1760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Add negation of second operand</a:t>
            </a:r>
          </a:p>
          <a:p>
            <a:pPr eaLnBrk="1" hangingPunct="1"/>
            <a:r>
              <a:rPr lang="en-US" altLang="en-US" sz="2800"/>
              <a:t>Example: 7 – 6 = 7 + (–6)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/>
              <a:t>	+7:	0000 0000 … 0000 0111</a:t>
            </a:r>
            <a:br>
              <a:rPr lang="en-US" altLang="en-US" sz="2400"/>
            </a:br>
            <a:r>
              <a:rPr lang="en-US" altLang="en-US" sz="2400" u="sng"/>
              <a:t>–6:	1111 1111 … 1111 1010</a:t>
            </a:r>
            <a:br>
              <a:rPr lang="en-US" altLang="en-US" sz="2400"/>
            </a:br>
            <a:r>
              <a:rPr lang="en-US" altLang="en-US" sz="2400"/>
              <a:t>+1:	0000 0000 … 0000 0001</a:t>
            </a:r>
          </a:p>
          <a:p>
            <a:pPr eaLnBrk="1" hangingPunct="1"/>
            <a:r>
              <a:rPr lang="en-US" altLang="en-US" sz="2800"/>
              <a:t>Overflow if result out of range</a:t>
            </a:r>
          </a:p>
          <a:p>
            <a:pPr lvl="1" eaLnBrk="1" hangingPunct="1"/>
            <a:r>
              <a:rPr lang="en-US" altLang="en-US" sz="2400"/>
              <a:t>Subtracting two +ve or two –ve operands, no overflow</a:t>
            </a:r>
          </a:p>
          <a:p>
            <a:pPr lvl="1" eaLnBrk="1" hangingPunct="1"/>
            <a:r>
              <a:rPr lang="en-US" altLang="en-US" sz="2400"/>
              <a:t>Subtracting +ve from –ve operand</a:t>
            </a:r>
          </a:p>
          <a:p>
            <a:pPr lvl="2" eaLnBrk="1" hangingPunct="1"/>
            <a:r>
              <a:rPr lang="en-US" altLang="en-US" sz="2000"/>
              <a:t>Overflow if result sign is 0</a:t>
            </a:r>
          </a:p>
          <a:p>
            <a:pPr lvl="1" eaLnBrk="1" hangingPunct="1"/>
            <a:r>
              <a:rPr lang="en-US" altLang="en-US" sz="2400"/>
              <a:t>Subtracting –ve from +ve operand</a:t>
            </a:r>
          </a:p>
          <a:p>
            <a:pPr lvl="2" eaLnBrk="1" hangingPunct="1"/>
            <a:r>
              <a:rPr lang="en-US" altLang="en-US" sz="2000"/>
              <a:t>Overflow if result sign is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3">
            <a:extLst>
              <a:ext uri="{FF2B5EF4-FFF2-40B4-BE49-F238E27FC236}">
                <a16:creationId xmlns:a16="http://schemas.microsoft.com/office/drawing/2014/main" id="{DDB1504C-ECAF-D805-83CA-DA897521C2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202E251-7CA1-C742-9DF8-4A5090BE02B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AU" altLang="en-US" sz="14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00A82EC0-48BF-D011-CEED-AE532EA1B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Arithmetic for Multimedia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5BECD4B-6CCC-B76A-02F3-6C69DD764C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Graphics and media processing operates on vectors of 8-bit and 16-bit data</a:t>
            </a:r>
          </a:p>
          <a:p>
            <a:pPr lvl="1" eaLnBrk="1" hangingPunct="1"/>
            <a:r>
              <a:rPr lang="en-AU" altLang="en-US"/>
              <a:t>Use 64-bit adder, with partitioned carry chain</a:t>
            </a:r>
          </a:p>
          <a:p>
            <a:pPr lvl="2" eaLnBrk="1" hangingPunct="1"/>
            <a:r>
              <a:rPr lang="en-AU" altLang="en-US"/>
              <a:t>Operate on 8</a:t>
            </a:r>
            <a:r>
              <a:rPr lang="en-US" altLang="en-US">
                <a:cs typeface="Arial" panose="020B0604020202020204" pitchFamily="34" charset="0"/>
              </a:rPr>
              <a:t>×8-bit, 4×16-bit, or 2×32-bit vectors</a:t>
            </a: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SIMD (single-instruction, multiple-data)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Saturating operations</a:t>
            </a: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On overflow, result is largest representable value</a:t>
            </a:r>
          </a:p>
          <a:p>
            <a:pPr lvl="2" eaLnBrk="1" hangingPunct="1"/>
            <a:r>
              <a:rPr lang="en-US" altLang="en-US">
                <a:cs typeface="Arial" panose="020B0604020202020204" pitchFamily="34" charset="0"/>
              </a:rPr>
              <a:t>c.f. 2s-complement modulo arithmetic</a:t>
            </a: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E.g., clipping in audio, saturation in video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3">
            <a:extLst>
              <a:ext uri="{FF2B5EF4-FFF2-40B4-BE49-F238E27FC236}">
                <a16:creationId xmlns:a16="http://schemas.microsoft.com/office/drawing/2014/main" id="{7F3F6B40-33B3-9E1D-3E95-6178308F75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E319BFD-8BA4-1C49-89D7-B952E0BA5CC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AU" altLang="en-US" sz="14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7ABC316B-1F92-EC9C-E72A-952C22589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 Point</a:t>
            </a:r>
            <a:endParaRPr lang="en-AU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DAB67BF-C629-6E9A-7004-DF6E07097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Representation for non-integral numbers</a:t>
            </a:r>
          </a:p>
          <a:p>
            <a:pPr lvl="1" eaLnBrk="1" hangingPunct="1"/>
            <a:r>
              <a:rPr lang="en-US" altLang="en-US"/>
              <a:t>Including very small and very large numbers</a:t>
            </a:r>
          </a:p>
          <a:p>
            <a:pPr eaLnBrk="1" hangingPunct="1"/>
            <a:r>
              <a:rPr lang="en-US" altLang="en-US"/>
              <a:t>Like scientific notation</a:t>
            </a:r>
          </a:p>
          <a:p>
            <a:pPr lvl="1" eaLnBrk="1" hangingPunct="1"/>
            <a:r>
              <a:rPr lang="en-US" altLang="en-US"/>
              <a:t>–2.34 × 10</a:t>
            </a:r>
            <a:r>
              <a:rPr lang="en-US" altLang="en-US" baseline="30000"/>
              <a:t>56</a:t>
            </a:r>
            <a:endParaRPr lang="en-US" altLang="en-US"/>
          </a:p>
          <a:p>
            <a:pPr lvl="1" eaLnBrk="1" hangingPunct="1"/>
            <a:r>
              <a:rPr lang="en-US" altLang="en-US"/>
              <a:t>+0.002 × 10</a:t>
            </a:r>
            <a:r>
              <a:rPr lang="en-US" altLang="en-US" baseline="30000"/>
              <a:t>–4</a:t>
            </a:r>
            <a:endParaRPr lang="en-US" altLang="en-US"/>
          </a:p>
          <a:p>
            <a:pPr lvl="1" eaLnBrk="1" hangingPunct="1"/>
            <a:r>
              <a:rPr lang="en-US" altLang="en-US"/>
              <a:t>+987.02 × 10</a:t>
            </a:r>
            <a:r>
              <a:rPr lang="en-US" altLang="en-US" baseline="30000"/>
              <a:t>9</a:t>
            </a:r>
            <a:endParaRPr lang="en-US" altLang="en-US"/>
          </a:p>
          <a:p>
            <a:pPr eaLnBrk="1" hangingPunct="1"/>
            <a:r>
              <a:rPr lang="en-US" altLang="en-US"/>
              <a:t>In binary</a:t>
            </a: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±1.</a:t>
            </a:r>
            <a:r>
              <a:rPr lang="en-US" altLang="en-US" i="1">
                <a:cs typeface="Arial" panose="020B0604020202020204" pitchFamily="34" charset="0"/>
              </a:rPr>
              <a:t>xxxxxxx</a:t>
            </a:r>
            <a:r>
              <a:rPr lang="en-US" altLang="en-US" baseline="-25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 × 2</a:t>
            </a:r>
            <a:r>
              <a:rPr lang="en-US" altLang="en-US" i="1" baseline="30000">
                <a:cs typeface="Arial" panose="020B0604020202020204" pitchFamily="34" charset="0"/>
              </a:rPr>
              <a:t>yyyy</a:t>
            </a:r>
          </a:p>
          <a:p>
            <a:pPr eaLnBrk="1" hangingPunct="1"/>
            <a:r>
              <a:rPr lang="en-US" altLang="en-US"/>
              <a:t>Types </a:t>
            </a:r>
            <a:r>
              <a:rPr lang="en-US" altLang="en-US">
                <a:latin typeface="Lucida Console" panose="020B0609040504020204" pitchFamily="49" charset="0"/>
              </a:rPr>
              <a:t>float</a:t>
            </a:r>
            <a:r>
              <a:rPr lang="en-US" altLang="en-US"/>
              <a:t> and </a:t>
            </a:r>
            <a:r>
              <a:rPr lang="en-US" altLang="en-US">
                <a:latin typeface="Lucida Console" panose="020B0609040504020204" pitchFamily="49" charset="0"/>
              </a:rPr>
              <a:t>double</a:t>
            </a:r>
            <a:r>
              <a:rPr lang="en-US" altLang="en-US"/>
              <a:t> in C</a:t>
            </a:r>
            <a:endParaRPr lang="en-AU" altLang="en-US"/>
          </a:p>
        </p:txBody>
      </p:sp>
      <p:sp>
        <p:nvSpPr>
          <p:cNvPr id="25604" name="AutoShape 4">
            <a:extLst>
              <a:ext uri="{FF2B5EF4-FFF2-40B4-BE49-F238E27FC236}">
                <a16:creationId xmlns:a16="http://schemas.microsoft.com/office/drawing/2014/main" id="{7EDA5FBF-D746-A988-06A7-1E87BDBF78BA}"/>
              </a:ext>
            </a:extLst>
          </p:cNvPr>
          <p:cNvSpPr>
            <a:spLocks/>
          </p:cNvSpPr>
          <p:nvPr/>
        </p:nvSpPr>
        <p:spPr bwMode="auto">
          <a:xfrm>
            <a:off x="5219700" y="2924175"/>
            <a:ext cx="1508125" cy="401638"/>
          </a:xfrm>
          <a:prstGeom prst="borderCallout1">
            <a:avLst>
              <a:gd name="adj1" fmla="val 28458"/>
              <a:gd name="adj2" fmla="val -5051"/>
              <a:gd name="adj3" fmla="val 28458"/>
              <a:gd name="adj4" fmla="val -910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normalized</a:t>
            </a:r>
            <a:endParaRPr lang="en-AU" altLang="en-US" sz="1800"/>
          </a:p>
        </p:txBody>
      </p:sp>
      <p:sp>
        <p:nvSpPr>
          <p:cNvPr id="25605" name="AutoShape 5">
            <a:extLst>
              <a:ext uri="{FF2B5EF4-FFF2-40B4-BE49-F238E27FC236}">
                <a16:creationId xmlns:a16="http://schemas.microsoft.com/office/drawing/2014/main" id="{7A765A66-FF09-0974-5041-2FBD0711742D}"/>
              </a:ext>
            </a:extLst>
          </p:cNvPr>
          <p:cNvSpPr>
            <a:spLocks/>
          </p:cNvSpPr>
          <p:nvPr/>
        </p:nvSpPr>
        <p:spPr bwMode="auto">
          <a:xfrm>
            <a:off x="5651500" y="3573463"/>
            <a:ext cx="1944688" cy="401637"/>
          </a:xfrm>
          <a:prstGeom prst="borderCallout1">
            <a:avLst>
              <a:gd name="adj1" fmla="val 28458"/>
              <a:gd name="adj2" fmla="val -3917"/>
              <a:gd name="adj3" fmla="val -2370"/>
              <a:gd name="adj4" fmla="val -872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not normalized</a:t>
            </a:r>
            <a:endParaRPr lang="en-AU" altLang="en-US" sz="1800"/>
          </a:p>
        </p:txBody>
      </p:sp>
      <p:sp>
        <p:nvSpPr>
          <p:cNvPr id="25606" name="Line 6">
            <a:extLst>
              <a:ext uri="{FF2B5EF4-FFF2-40B4-BE49-F238E27FC236}">
                <a16:creationId xmlns:a16="http://schemas.microsoft.com/office/drawing/2014/main" id="{45EE575F-4F0E-247A-3CD7-982C014D80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67175" y="3790950"/>
            <a:ext cx="15128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Text Box 8">
            <a:extLst>
              <a:ext uri="{FF2B5EF4-FFF2-40B4-BE49-F238E27FC236}">
                <a16:creationId xmlns:a16="http://schemas.microsoft.com/office/drawing/2014/main" id="{DEF1195F-88EE-9A54-116B-2F5386E1056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16069" y="861219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§3.5 Floating 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3">
            <a:extLst>
              <a:ext uri="{FF2B5EF4-FFF2-40B4-BE49-F238E27FC236}">
                <a16:creationId xmlns:a16="http://schemas.microsoft.com/office/drawing/2014/main" id="{AA1E9C30-F7B3-B523-8F8B-CA35834D75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86A2E76-A75E-7547-B92E-9C4C32517DA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AU" altLang="en-US" sz="14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FBBC335E-82AA-D204-7229-99AC6FDE0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 Point Standard</a:t>
            </a:r>
            <a:endParaRPr lang="en-AU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80DB45E-7EFC-4F4C-4AE6-3C02E7B49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Defined by IEEE Std 754-1985</a:t>
            </a:r>
          </a:p>
          <a:p>
            <a:pPr eaLnBrk="1" hangingPunct="1"/>
            <a:r>
              <a:rPr lang="en-US" altLang="en-US"/>
              <a:t>Developed in response to divergence of representations</a:t>
            </a:r>
          </a:p>
          <a:p>
            <a:pPr lvl="1" eaLnBrk="1" hangingPunct="1"/>
            <a:r>
              <a:rPr lang="en-US" altLang="en-US"/>
              <a:t>Portability issues for scientific code</a:t>
            </a:r>
          </a:p>
          <a:p>
            <a:pPr eaLnBrk="1" hangingPunct="1"/>
            <a:r>
              <a:rPr lang="en-US" altLang="en-US"/>
              <a:t>Now almost universally adopted</a:t>
            </a:r>
          </a:p>
          <a:p>
            <a:pPr eaLnBrk="1" hangingPunct="1"/>
            <a:r>
              <a:rPr lang="en-US" altLang="en-US"/>
              <a:t>Two representations</a:t>
            </a:r>
          </a:p>
          <a:p>
            <a:pPr lvl="1" eaLnBrk="1" hangingPunct="1"/>
            <a:r>
              <a:rPr lang="en-US" altLang="en-US"/>
              <a:t>Single precision (32-bit)</a:t>
            </a:r>
          </a:p>
          <a:p>
            <a:pPr lvl="1" eaLnBrk="1" hangingPunct="1"/>
            <a:r>
              <a:rPr lang="en-US" altLang="en-US"/>
              <a:t>Double precision (64-bit) </a:t>
            </a:r>
            <a:endParaRPr lang="en-AU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3">
            <a:extLst>
              <a:ext uri="{FF2B5EF4-FFF2-40B4-BE49-F238E27FC236}">
                <a16:creationId xmlns:a16="http://schemas.microsoft.com/office/drawing/2014/main" id="{480EDC23-CB90-8219-33C2-7436BC5C07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F01545B6-80AE-B64F-9378-18992161E35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AU" altLang="en-US" sz="1400"/>
          </a:p>
        </p:txBody>
      </p:sp>
      <p:sp>
        <p:nvSpPr>
          <p:cNvPr id="29698" name="Rectangle 10">
            <a:extLst>
              <a:ext uri="{FF2B5EF4-FFF2-40B4-BE49-F238E27FC236}">
                <a16:creationId xmlns:a16="http://schemas.microsoft.com/office/drawing/2014/main" id="{C550BB2E-A63F-136E-D8D4-9A9DAF290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IEEE Floating-Point Format</a:t>
            </a:r>
          </a:p>
        </p:txBody>
      </p:sp>
      <p:sp>
        <p:nvSpPr>
          <p:cNvPr id="29699" name="Rectangle 11">
            <a:extLst>
              <a:ext uri="{FF2B5EF4-FFF2-40B4-BE49-F238E27FC236}">
                <a16:creationId xmlns:a16="http://schemas.microsoft.com/office/drawing/2014/main" id="{AC7EE199-17D4-D1D0-CE41-E11C77202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3573463"/>
            <a:ext cx="8270875" cy="2663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S: sign bit (0 </a:t>
            </a:r>
            <a:r>
              <a:rPr lang="en-US" altLang="en-US" sz="2400" dirty="0">
                <a:sym typeface="Symbol" pitchFamily="2" charset="2"/>
              </a:rPr>
              <a:t> non-negative, 1  negative)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ym typeface="Symbol" pitchFamily="2" charset="2"/>
              </a:rPr>
              <a:t>Normalize significand: 1.0 ≤ |significand| &lt; 2.0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ym typeface="Symbol" pitchFamily="2" charset="2"/>
              </a:rPr>
              <a:t>Always has a leading pre-binary-point 1 bit, so no need to represent it explicitly (hidden bit)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ym typeface="Symbol" pitchFamily="2" charset="2"/>
              </a:rPr>
              <a:t>Significand is Fraction with the “1.” restored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ym typeface="Symbol" pitchFamily="2" charset="2"/>
              </a:rPr>
              <a:t>Exponent: excess representation: actual exponent + Bias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ym typeface="Symbol" pitchFamily="2" charset="2"/>
              </a:rPr>
              <a:t>Ensures exponent is unsigned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ym typeface="Symbol" pitchFamily="2" charset="2"/>
              </a:rPr>
              <a:t>Single: Bias = 127; Double: Bias = 1023</a:t>
            </a: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87430AD8-5B86-18AA-F488-8859C9411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1917700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D2DB0B79-B5DA-80E8-235C-1E7E264A9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917700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Exponent</a:t>
            </a: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9F828D13-84A6-1EA1-209F-B20618B0E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1917700"/>
            <a:ext cx="3671887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Fraction</a:t>
            </a:r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id="{802B1D5E-A971-EF8C-622C-1790CCDB7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738" y="1196975"/>
            <a:ext cx="1857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single: 8 bits</a:t>
            </a:r>
            <a:br>
              <a:rPr lang="en-US" altLang="en-US" sz="2000">
                <a:latin typeface="Tahoma" panose="020B0604030504040204" pitchFamily="34" charset="0"/>
              </a:rPr>
            </a:br>
            <a:r>
              <a:rPr lang="en-US" altLang="en-US" sz="2000">
                <a:latin typeface="Tahoma" panose="020B0604030504040204" pitchFamily="34" charset="0"/>
              </a:rPr>
              <a:t>double: 11 bits</a:t>
            </a: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F69AE6B7-8F93-1A94-B9A9-E3945BBD6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196975"/>
            <a:ext cx="1857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single: 23 bits</a:t>
            </a:r>
            <a:br>
              <a:rPr lang="en-US" altLang="en-US" sz="2000">
                <a:latin typeface="Tahoma" panose="020B0604030504040204" pitchFamily="34" charset="0"/>
              </a:rPr>
            </a:br>
            <a:r>
              <a:rPr lang="en-US" altLang="en-US" sz="2000">
                <a:latin typeface="Tahoma" panose="020B0604030504040204" pitchFamily="34" charset="0"/>
              </a:rPr>
              <a:t>double: 52 bits</a:t>
            </a:r>
          </a:p>
        </p:txBody>
      </p:sp>
      <p:graphicFrame>
        <p:nvGraphicFramePr>
          <p:cNvPr id="29705" name="Object 9">
            <a:extLst>
              <a:ext uri="{FF2B5EF4-FFF2-40B4-BE49-F238E27FC236}">
                <a16:creationId xmlns:a16="http://schemas.microsoft.com/office/drawing/2014/main" id="{3FB572FE-6654-370F-A904-1D53D858A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667000"/>
          <a:ext cx="5867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6464200" imgH="5270500" progId="Equation.3">
                  <p:embed/>
                </p:oleObj>
              </mc:Choice>
              <mc:Fallback>
                <p:oleObj name="Equation" r:id="rId3" imgW="56464200" imgH="5270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667000"/>
                        <a:ext cx="5867400" cy="5461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3">
            <a:extLst>
              <a:ext uri="{FF2B5EF4-FFF2-40B4-BE49-F238E27FC236}">
                <a16:creationId xmlns:a16="http://schemas.microsoft.com/office/drawing/2014/main" id="{3A767082-2574-66EB-E96A-82EF9B56C5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4349CED6-A563-794B-986C-0B3C83FDE43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AU" altLang="en-US" sz="1400"/>
          </a:p>
        </p:txBody>
      </p:sp>
      <p:sp>
        <p:nvSpPr>
          <p:cNvPr id="31746" name="Rectangle 6">
            <a:extLst>
              <a:ext uri="{FF2B5EF4-FFF2-40B4-BE49-F238E27FC236}">
                <a16:creationId xmlns:a16="http://schemas.microsoft.com/office/drawing/2014/main" id="{3495AFAD-FA97-4389-16D7-737CA9B88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Single-Precision Range</a:t>
            </a:r>
          </a:p>
        </p:txBody>
      </p:sp>
      <p:sp>
        <p:nvSpPr>
          <p:cNvPr id="31747" name="Rectangle 7">
            <a:extLst>
              <a:ext uri="{FF2B5EF4-FFF2-40B4-BE49-F238E27FC236}">
                <a16:creationId xmlns:a16="http://schemas.microsoft.com/office/drawing/2014/main" id="{1CA9CDDE-262A-4857-863B-8C092FD00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Exponents 00000000 and 11111111 reserved</a:t>
            </a:r>
          </a:p>
          <a:p>
            <a:pPr eaLnBrk="1" hangingPunct="1"/>
            <a:r>
              <a:rPr lang="en-US" altLang="en-US" sz="2800"/>
              <a:t>Smallest value</a:t>
            </a:r>
          </a:p>
          <a:p>
            <a:pPr lvl="1" eaLnBrk="1" hangingPunct="1"/>
            <a:r>
              <a:rPr lang="en-US" altLang="en-US" sz="2400"/>
              <a:t>Exponent: 00000001</a:t>
            </a:r>
            <a:br>
              <a:rPr lang="en-US" altLang="en-US" sz="2400"/>
            </a:br>
            <a:r>
              <a:rPr lang="en-US" altLang="en-US" sz="2400">
                <a:sym typeface="Symbol" pitchFamily="2" charset="2"/>
              </a:rPr>
              <a:t> actual exponent = 1 – 127 = –126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Fraction: 000…00</a:t>
            </a:r>
            <a:r>
              <a:rPr lang="en-US" altLang="en-US" sz="2400"/>
              <a:t> </a:t>
            </a:r>
            <a:r>
              <a:rPr lang="en-US" altLang="en-US" sz="2400">
                <a:sym typeface="Symbol" pitchFamily="2" charset="2"/>
              </a:rPr>
              <a:t> significand = 1.0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±1.0 × 2</a:t>
            </a:r>
            <a:r>
              <a:rPr lang="en-US" altLang="en-US" sz="2400" baseline="30000">
                <a:sym typeface="Symbol" pitchFamily="2" charset="2"/>
              </a:rPr>
              <a:t>–126</a:t>
            </a:r>
            <a:r>
              <a:rPr lang="en-US" altLang="en-US" sz="2400">
                <a:sym typeface="Symbol" pitchFamily="2" charset="2"/>
              </a:rPr>
              <a:t> ≈ ±1.2 × 10</a:t>
            </a:r>
            <a:r>
              <a:rPr lang="en-US" altLang="en-US" sz="2400" baseline="30000">
                <a:sym typeface="Symbol" pitchFamily="2" charset="2"/>
              </a:rPr>
              <a:t>–38</a:t>
            </a:r>
          </a:p>
          <a:p>
            <a:pPr eaLnBrk="1" hangingPunct="1"/>
            <a:r>
              <a:rPr lang="en-US" altLang="en-US" sz="2800">
                <a:sym typeface="Symbol" pitchFamily="2" charset="2"/>
              </a:rPr>
              <a:t>Largest value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exponent: 11111110</a:t>
            </a:r>
            <a:br>
              <a:rPr lang="en-US" altLang="en-US" sz="2400">
                <a:sym typeface="Symbol" pitchFamily="2" charset="2"/>
              </a:rPr>
            </a:br>
            <a:r>
              <a:rPr lang="en-US" altLang="en-US" sz="2400">
                <a:sym typeface="Symbol" pitchFamily="2" charset="2"/>
              </a:rPr>
              <a:t> actual exponent = 254 – 127 = +127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Fraction: 111…11</a:t>
            </a:r>
            <a:r>
              <a:rPr lang="en-US" altLang="en-US" sz="2400"/>
              <a:t> </a:t>
            </a:r>
            <a:r>
              <a:rPr lang="en-US" altLang="en-US" sz="2400">
                <a:sym typeface="Symbol" pitchFamily="2" charset="2"/>
              </a:rPr>
              <a:t> significand ≈ 2.0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±2.0 × 2</a:t>
            </a:r>
            <a:r>
              <a:rPr lang="en-US" altLang="en-US" sz="2400" baseline="30000">
                <a:sym typeface="Symbol" pitchFamily="2" charset="2"/>
              </a:rPr>
              <a:t>+127</a:t>
            </a:r>
            <a:r>
              <a:rPr lang="en-US" altLang="en-US" sz="2400">
                <a:sym typeface="Symbol" pitchFamily="2" charset="2"/>
              </a:rPr>
              <a:t> ≈ ±3.4 × 10</a:t>
            </a:r>
            <a:r>
              <a:rPr lang="en-US" altLang="en-US" sz="2400" baseline="30000">
                <a:sym typeface="Symbol" pitchFamily="2" charset="2"/>
              </a:rPr>
              <a:t>+38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3">
            <a:extLst>
              <a:ext uri="{FF2B5EF4-FFF2-40B4-BE49-F238E27FC236}">
                <a16:creationId xmlns:a16="http://schemas.microsoft.com/office/drawing/2014/main" id="{389ED4AD-7219-8FC9-1550-896EFAFBE6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5A3F6679-35AC-C448-B93D-EDCC6563BC5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AU" altLang="en-US" sz="1400"/>
          </a:p>
        </p:txBody>
      </p:sp>
      <p:sp>
        <p:nvSpPr>
          <p:cNvPr id="33794" name="Rectangle 6">
            <a:extLst>
              <a:ext uri="{FF2B5EF4-FFF2-40B4-BE49-F238E27FC236}">
                <a16:creationId xmlns:a16="http://schemas.microsoft.com/office/drawing/2014/main" id="{B21D55F8-BA5A-1AD9-E5A1-E4AD98506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Double-Precision Range</a:t>
            </a:r>
          </a:p>
        </p:txBody>
      </p:sp>
      <p:sp>
        <p:nvSpPr>
          <p:cNvPr id="33795" name="Rectangle 7">
            <a:extLst>
              <a:ext uri="{FF2B5EF4-FFF2-40B4-BE49-F238E27FC236}">
                <a16:creationId xmlns:a16="http://schemas.microsoft.com/office/drawing/2014/main" id="{82F3BDB3-B662-073B-4BF4-7771161B3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Exponents 0000…00 and 1111…11 reserved</a:t>
            </a:r>
          </a:p>
          <a:p>
            <a:pPr eaLnBrk="1" hangingPunct="1"/>
            <a:r>
              <a:rPr lang="en-US" altLang="en-US" sz="2800"/>
              <a:t>Smallest value</a:t>
            </a:r>
          </a:p>
          <a:p>
            <a:pPr lvl="1" eaLnBrk="1" hangingPunct="1"/>
            <a:r>
              <a:rPr lang="en-US" altLang="en-US" sz="2400"/>
              <a:t>Exponent: 00000000001</a:t>
            </a:r>
            <a:br>
              <a:rPr lang="en-US" altLang="en-US" sz="2400"/>
            </a:br>
            <a:r>
              <a:rPr lang="en-US" altLang="en-US" sz="2400">
                <a:sym typeface="Symbol" pitchFamily="2" charset="2"/>
              </a:rPr>
              <a:t> actual exponent = 1 – 1023 = –1022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Fraction: 000…00</a:t>
            </a:r>
            <a:r>
              <a:rPr lang="en-US" altLang="en-US" sz="2400"/>
              <a:t> </a:t>
            </a:r>
            <a:r>
              <a:rPr lang="en-US" altLang="en-US" sz="2400">
                <a:sym typeface="Symbol" pitchFamily="2" charset="2"/>
              </a:rPr>
              <a:t> significand = 1.0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±1.0 × 2</a:t>
            </a:r>
            <a:r>
              <a:rPr lang="en-US" altLang="en-US" sz="2400" baseline="30000">
                <a:sym typeface="Symbol" pitchFamily="2" charset="2"/>
              </a:rPr>
              <a:t>–1022</a:t>
            </a:r>
            <a:r>
              <a:rPr lang="en-US" altLang="en-US" sz="2400">
                <a:sym typeface="Symbol" pitchFamily="2" charset="2"/>
              </a:rPr>
              <a:t> ≈ ±2.2 × 10</a:t>
            </a:r>
            <a:r>
              <a:rPr lang="en-US" altLang="en-US" sz="2400" baseline="30000">
                <a:sym typeface="Symbol" pitchFamily="2" charset="2"/>
              </a:rPr>
              <a:t>–308</a:t>
            </a:r>
          </a:p>
          <a:p>
            <a:pPr eaLnBrk="1" hangingPunct="1"/>
            <a:r>
              <a:rPr lang="en-US" altLang="en-US" sz="2800">
                <a:sym typeface="Symbol" pitchFamily="2" charset="2"/>
              </a:rPr>
              <a:t>Largest value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Exponent: 11111111110</a:t>
            </a:r>
            <a:br>
              <a:rPr lang="en-US" altLang="en-US" sz="2400">
                <a:sym typeface="Symbol" pitchFamily="2" charset="2"/>
              </a:rPr>
            </a:br>
            <a:r>
              <a:rPr lang="en-US" altLang="en-US" sz="2400">
                <a:sym typeface="Symbol" pitchFamily="2" charset="2"/>
              </a:rPr>
              <a:t> actual exponent = 2046 – 1023 = +1023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Fraction: 111…11</a:t>
            </a:r>
            <a:r>
              <a:rPr lang="en-US" altLang="en-US" sz="2400"/>
              <a:t> </a:t>
            </a:r>
            <a:r>
              <a:rPr lang="en-US" altLang="en-US" sz="2400">
                <a:sym typeface="Symbol" pitchFamily="2" charset="2"/>
              </a:rPr>
              <a:t> significand ≈ 2.0</a:t>
            </a:r>
          </a:p>
          <a:p>
            <a:pPr lvl="1" eaLnBrk="1" hangingPunct="1"/>
            <a:r>
              <a:rPr lang="en-US" altLang="en-US" sz="2400">
                <a:sym typeface="Symbol" pitchFamily="2" charset="2"/>
              </a:rPr>
              <a:t>±2.0 × 2</a:t>
            </a:r>
            <a:r>
              <a:rPr lang="en-US" altLang="en-US" sz="2400" baseline="30000">
                <a:sym typeface="Symbol" pitchFamily="2" charset="2"/>
              </a:rPr>
              <a:t>+1023</a:t>
            </a:r>
            <a:r>
              <a:rPr lang="en-US" altLang="en-US" sz="2400">
                <a:sym typeface="Symbol" pitchFamily="2" charset="2"/>
              </a:rPr>
              <a:t> ≈ ±1.8 × 10</a:t>
            </a:r>
            <a:r>
              <a:rPr lang="en-US" altLang="en-US" sz="2400" baseline="30000">
                <a:sym typeface="Symbol" pitchFamily="2" charset="2"/>
              </a:rPr>
              <a:t>+308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3">
            <a:extLst>
              <a:ext uri="{FF2B5EF4-FFF2-40B4-BE49-F238E27FC236}">
                <a16:creationId xmlns:a16="http://schemas.microsoft.com/office/drawing/2014/main" id="{3186BCB0-554F-E891-FDF5-2D34262695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594A79CE-9997-0B44-9A5A-389C4BA0451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AU" altLang="en-US" sz="1400"/>
          </a:p>
        </p:txBody>
      </p:sp>
      <p:sp>
        <p:nvSpPr>
          <p:cNvPr id="35842" name="Rectangle 4">
            <a:extLst>
              <a:ext uri="{FF2B5EF4-FFF2-40B4-BE49-F238E27FC236}">
                <a16:creationId xmlns:a16="http://schemas.microsoft.com/office/drawing/2014/main" id="{6DD63A04-11EF-F838-4F91-12E84737B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Precision</a:t>
            </a: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48C8B9E1-6BFB-594D-1892-BBDA06C80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Relative precision</a:t>
            </a:r>
          </a:p>
          <a:p>
            <a:pPr lvl="1" eaLnBrk="1" hangingPunct="1"/>
            <a:r>
              <a:rPr lang="en-US" altLang="en-US"/>
              <a:t>all fraction bits are significant</a:t>
            </a:r>
          </a:p>
          <a:p>
            <a:pPr lvl="1" eaLnBrk="1" hangingPunct="1"/>
            <a:r>
              <a:rPr lang="en-US" altLang="en-US"/>
              <a:t>Single: approx 2</a:t>
            </a:r>
            <a:r>
              <a:rPr lang="en-US" altLang="en-US" baseline="30000"/>
              <a:t>–23</a:t>
            </a:r>
          </a:p>
          <a:p>
            <a:pPr lvl="2" eaLnBrk="1" hangingPunct="1"/>
            <a:r>
              <a:rPr lang="en-US" altLang="en-US"/>
              <a:t>Equivalent to 23 × log</a:t>
            </a:r>
            <a:r>
              <a:rPr lang="en-US" altLang="en-US" baseline="-25000"/>
              <a:t>10</a:t>
            </a:r>
            <a:r>
              <a:rPr lang="en-US" altLang="en-US"/>
              <a:t>2 ≈ 23 × 0.3 ≈ 6 decimal digits of precision</a:t>
            </a:r>
          </a:p>
          <a:p>
            <a:pPr lvl="1" eaLnBrk="1" hangingPunct="1"/>
            <a:r>
              <a:rPr lang="en-US" altLang="en-US"/>
              <a:t>Double: approx 2</a:t>
            </a:r>
            <a:r>
              <a:rPr lang="en-US" altLang="en-US" baseline="30000"/>
              <a:t>–52</a:t>
            </a:r>
          </a:p>
          <a:p>
            <a:pPr lvl="2" eaLnBrk="1" hangingPunct="1"/>
            <a:r>
              <a:rPr lang="en-US" altLang="en-US"/>
              <a:t>Equivalent to 52 × log</a:t>
            </a:r>
            <a:r>
              <a:rPr lang="en-US" altLang="en-US" baseline="-25000"/>
              <a:t>10</a:t>
            </a:r>
            <a:r>
              <a:rPr lang="en-US" altLang="en-US"/>
              <a:t>2 ≈ 52 × 0.3 ≈ 16 decimal digits of precision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3">
            <a:extLst>
              <a:ext uri="{FF2B5EF4-FFF2-40B4-BE49-F238E27FC236}">
                <a16:creationId xmlns:a16="http://schemas.microsoft.com/office/drawing/2014/main" id="{F66E6B3A-B588-2198-F8FE-61D8147B2C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569022E6-3EC8-C244-9476-C8C1DDE630B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AU" altLang="en-US" sz="14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6FA74007-2510-C497-64FC-261BD2C20A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Example</a:t>
            </a:r>
            <a:endParaRPr lang="en-AU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B03760A-E6C9-B28B-3994-8AA7EC44B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Represent –0.75</a:t>
            </a:r>
          </a:p>
          <a:p>
            <a:pPr lvl="1" eaLnBrk="1" hangingPunct="1"/>
            <a:r>
              <a:rPr lang="en-US" altLang="en-US"/>
              <a:t>–0.75 = (–1)</a:t>
            </a:r>
            <a:r>
              <a:rPr lang="en-US" altLang="en-US" baseline="30000"/>
              <a:t>1</a:t>
            </a:r>
            <a:r>
              <a:rPr lang="en-US" altLang="en-US"/>
              <a:t> × 1.1</a:t>
            </a:r>
            <a:r>
              <a:rPr lang="en-US" altLang="en-US" baseline="-25000"/>
              <a:t>2</a:t>
            </a:r>
            <a:r>
              <a:rPr lang="en-US" altLang="en-US"/>
              <a:t> × 2</a:t>
            </a:r>
            <a:r>
              <a:rPr lang="en-US" altLang="en-US" baseline="30000"/>
              <a:t>–1</a:t>
            </a:r>
          </a:p>
          <a:p>
            <a:pPr lvl="1" eaLnBrk="1" hangingPunct="1"/>
            <a:r>
              <a:rPr lang="en-US" altLang="en-US"/>
              <a:t>S = </a:t>
            </a:r>
            <a:r>
              <a:rPr lang="en-US" altLang="en-US">
                <a:solidFill>
                  <a:schemeClr val="hlink"/>
                </a:solidFill>
              </a:rPr>
              <a:t>1</a:t>
            </a:r>
          </a:p>
          <a:p>
            <a:pPr lvl="1" eaLnBrk="1" hangingPunct="1"/>
            <a:r>
              <a:rPr lang="en-US" altLang="en-US"/>
              <a:t>Fraction = </a:t>
            </a:r>
            <a:r>
              <a:rPr lang="en-US" altLang="en-US">
                <a:solidFill>
                  <a:schemeClr val="tx2"/>
                </a:solidFill>
              </a:rPr>
              <a:t>1000…00</a:t>
            </a:r>
            <a:r>
              <a:rPr lang="en-US" altLang="en-US" baseline="-25000"/>
              <a:t>2</a:t>
            </a:r>
            <a:endParaRPr lang="en-US" altLang="en-US">
              <a:solidFill>
                <a:schemeClr val="folHlink"/>
              </a:solidFill>
            </a:endParaRPr>
          </a:p>
          <a:p>
            <a:pPr lvl="1" eaLnBrk="1" hangingPunct="1"/>
            <a:r>
              <a:rPr lang="en-US" altLang="en-US"/>
              <a:t>Exponent = –1 + Bias</a:t>
            </a:r>
          </a:p>
          <a:p>
            <a:pPr lvl="2" eaLnBrk="1" hangingPunct="1"/>
            <a:r>
              <a:rPr lang="en-US" altLang="en-US"/>
              <a:t>Single: –1 + 127 = 126 = </a:t>
            </a:r>
            <a:r>
              <a:rPr lang="en-US" altLang="en-US">
                <a:solidFill>
                  <a:srgbClr val="008000"/>
                </a:solidFill>
              </a:rPr>
              <a:t>01111110</a:t>
            </a:r>
            <a:r>
              <a:rPr lang="en-US" altLang="en-US" baseline="-25000"/>
              <a:t>2</a:t>
            </a:r>
            <a:endParaRPr lang="en-US" altLang="en-US"/>
          </a:p>
          <a:p>
            <a:pPr lvl="2" eaLnBrk="1" hangingPunct="1"/>
            <a:r>
              <a:rPr lang="en-US" altLang="en-US"/>
              <a:t>Double: –1 + 1023 = 1022 = </a:t>
            </a:r>
            <a:r>
              <a:rPr lang="en-US" altLang="en-US">
                <a:solidFill>
                  <a:srgbClr val="008000"/>
                </a:solidFill>
              </a:rPr>
              <a:t>01111111110</a:t>
            </a:r>
            <a:r>
              <a:rPr lang="en-US" altLang="en-US" baseline="-25000"/>
              <a:t>2</a:t>
            </a:r>
            <a:endParaRPr lang="en-US" altLang="en-US"/>
          </a:p>
          <a:p>
            <a:pPr eaLnBrk="1" hangingPunct="1"/>
            <a:r>
              <a:rPr lang="en-US" altLang="en-US"/>
              <a:t>Single: </a:t>
            </a:r>
            <a:r>
              <a:rPr lang="en-US" altLang="en-US">
                <a:solidFill>
                  <a:schemeClr val="hlink"/>
                </a:solidFill>
              </a:rPr>
              <a:t>1</a:t>
            </a:r>
            <a:r>
              <a:rPr lang="en-US" altLang="en-US">
                <a:solidFill>
                  <a:srgbClr val="008000"/>
                </a:solidFill>
              </a:rPr>
              <a:t>01111110</a:t>
            </a:r>
            <a:r>
              <a:rPr lang="en-US" altLang="en-US">
                <a:solidFill>
                  <a:schemeClr val="tx2"/>
                </a:solidFill>
              </a:rPr>
              <a:t>1000…00</a:t>
            </a:r>
          </a:p>
          <a:p>
            <a:pPr eaLnBrk="1" hangingPunct="1"/>
            <a:r>
              <a:rPr lang="en-US" altLang="en-US"/>
              <a:t>Double: </a:t>
            </a:r>
            <a:r>
              <a:rPr lang="en-US" altLang="en-US">
                <a:solidFill>
                  <a:schemeClr val="hlink"/>
                </a:solidFill>
              </a:rPr>
              <a:t>1</a:t>
            </a:r>
            <a:r>
              <a:rPr lang="en-US" altLang="en-US">
                <a:solidFill>
                  <a:srgbClr val="008000"/>
                </a:solidFill>
              </a:rPr>
              <a:t>01111111110</a:t>
            </a:r>
            <a:r>
              <a:rPr lang="en-US" altLang="en-US">
                <a:solidFill>
                  <a:schemeClr val="tx2"/>
                </a:solidFill>
              </a:rPr>
              <a:t>1000…00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3">
            <a:extLst>
              <a:ext uri="{FF2B5EF4-FFF2-40B4-BE49-F238E27FC236}">
                <a16:creationId xmlns:a16="http://schemas.microsoft.com/office/drawing/2014/main" id="{9C044935-80C6-1A3E-DEA1-8E2E3CC45D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34FDBEFF-0E18-8B40-AD80-178B1A2DEEB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AU" altLang="en-US" sz="140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011B2E24-CDBE-497D-1E8E-F40C673E7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Example</a:t>
            </a:r>
            <a:endParaRPr lang="en-AU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4D43CE6-B7F0-0091-EB80-B6C666855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What number is represented by the single-precision float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chemeClr val="hlink"/>
                </a:solidFill>
              </a:rPr>
              <a:t>	1</a:t>
            </a:r>
            <a:r>
              <a:rPr lang="en-US" altLang="en-US">
                <a:solidFill>
                  <a:srgbClr val="008000"/>
                </a:solidFill>
              </a:rPr>
              <a:t>10000001</a:t>
            </a:r>
            <a:r>
              <a:rPr lang="en-US" altLang="en-US">
                <a:solidFill>
                  <a:schemeClr val="tx2"/>
                </a:solidFill>
              </a:rPr>
              <a:t>01000…00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 = </a:t>
            </a:r>
            <a:r>
              <a:rPr lang="en-US" altLang="en-US">
                <a:solidFill>
                  <a:schemeClr val="hlink"/>
                </a:solidFill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Fraction = </a:t>
            </a:r>
            <a:r>
              <a:rPr lang="en-US" altLang="en-US">
                <a:solidFill>
                  <a:schemeClr val="tx2"/>
                </a:solidFill>
              </a:rPr>
              <a:t>01000…00</a:t>
            </a:r>
            <a:r>
              <a:rPr lang="en-US" altLang="en-US" baseline="-25000"/>
              <a:t>2</a:t>
            </a:r>
            <a:endParaRPr lang="en-US" altLang="en-US">
              <a:solidFill>
                <a:schemeClr val="folHlink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Fxponent = </a:t>
            </a:r>
            <a:r>
              <a:rPr lang="en-US" altLang="en-US">
                <a:solidFill>
                  <a:srgbClr val="008000"/>
                </a:solidFill>
              </a:rPr>
              <a:t>10000001</a:t>
            </a:r>
            <a:r>
              <a:rPr lang="en-US" altLang="en-US" baseline="-25000"/>
              <a:t>2</a:t>
            </a:r>
            <a:r>
              <a:rPr lang="en-US" altLang="en-US"/>
              <a:t> = 129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x = (–1)</a:t>
            </a:r>
            <a:r>
              <a:rPr lang="en-US" altLang="en-US" baseline="30000"/>
              <a:t>1</a:t>
            </a:r>
            <a:r>
              <a:rPr lang="en-US" altLang="en-US"/>
              <a:t> × (1 + 01</a:t>
            </a:r>
            <a:r>
              <a:rPr lang="en-US" altLang="en-US" baseline="-25000"/>
              <a:t>2</a:t>
            </a:r>
            <a:r>
              <a:rPr lang="en-US" altLang="en-US"/>
              <a:t>) × 2</a:t>
            </a:r>
            <a:r>
              <a:rPr lang="en-US" altLang="en-US" baseline="30000"/>
              <a:t>(129 – 127)</a:t>
            </a: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	= (–1) × 1.25 × 2</a:t>
            </a:r>
            <a:r>
              <a:rPr lang="en-US" altLang="en-US" baseline="30000"/>
              <a:t>2</a:t>
            </a: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	= –5.0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D729FF92-C961-586D-9D12-CF0B5C23A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Exercises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07C05FFF-DA1E-0FB9-23FC-4E23E09EF6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Write down the binary bit pattern to represent 63.25 assuming the IEEE 754 double precision format.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What decimal number does the bit pattern 0x0c000000 represent if it is a floating point number? Use the IEEE 754 standard.</a:t>
            </a:r>
          </a:p>
        </p:txBody>
      </p:sp>
      <p:sp>
        <p:nvSpPr>
          <p:cNvPr id="41987" name="Footer Placeholder 3">
            <a:extLst>
              <a:ext uri="{FF2B5EF4-FFF2-40B4-BE49-F238E27FC236}">
                <a16:creationId xmlns:a16="http://schemas.microsoft.com/office/drawing/2014/main" id="{B8D9A9A4-16D9-0ECC-36C9-D748325DF4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>
                <a:ea typeface="ＭＳ Ｐゴシック" panose="020B0600070205080204" pitchFamily="34" charset="-128"/>
              </a:rPr>
              <a:t>Chapter 3 — Arithmetic for Computers — </a:t>
            </a:r>
            <a:fld id="{95269485-0197-3E40-A0AD-506593AF0B24}" type="slidenum">
              <a:rPr lang="en-AU" altLang="zh-CN" sz="1400" smtClean="0"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AU" altLang="zh-CN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>
            <a:extLst>
              <a:ext uri="{FF2B5EF4-FFF2-40B4-BE49-F238E27FC236}">
                <a16:creationId xmlns:a16="http://schemas.microsoft.com/office/drawing/2014/main" id="{6AB3DF42-28D4-EB8E-2CEE-DD8F2AC4F8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5C6C8ABD-FD3E-654F-B11F-EB617E1ED5F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AU" altLang="en-US" sz="1400"/>
          </a:p>
        </p:txBody>
      </p:sp>
      <p:sp>
        <p:nvSpPr>
          <p:cNvPr id="43010" name="Rectangle 9">
            <a:extLst>
              <a:ext uri="{FF2B5EF4-FFF2-40B4-BE49-F238E27FC236}">
                <a16:creationId xmlns:a16="http://schemas.microsoft.com/office/drawing/2014/main" id="{82908FD5-ECAF-F2DB-9060-70C9072E48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Denormal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10">
                <a:extLst>
                  <a:ext uri="{FF2B5EF4-FFF2-40B4-BE49-F238E27FC236}">
                    <a16:creationId xmlns:a16="http://schemas.microsoft.com/office/drawing/2014/main" id="{A6394DCD-7DBB-B456-9CFC-DEC6782020D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Exponent = 000...0 </a:t>
                </a:r>
                <a:r>
                  <a:rPr lang="en-US" altLang="en-US" dirty="0">
                    <a:sym typeface="Symbol" pitchFamily="2" charset="2"/>
                  </a:rPr>
                  <a:t> </a:t>
                </a:r>
                <a:r>
                  <a:rPr lang="en-US" altLang="en-US" dirty="0"/>
                  <a:t>hidden bit is 0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×(0+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43011" name="Rectangle 10">
                <a:extLst>
                  <a:ext uri="{FF2B5EF4-FFF2-40B4-BE49-F238E27FC236}">
                    <a16:creationId xmlns:a16="http://schemas.microsoft.com/office/drawing/2014/main" id="{A6394DCD-7DBB-B456-9CFC-DEC678202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459" t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12" name="Rectangle 5">
                <a:extLst>
                  <a:ext uri="{FF2B5EF4-FFF2-40B4-BE49-F238E27FC236}">
                    <a16:creationId xmlns:a16="http://schemas.microsoft.com/office/drawing/2014/main" id="{83571A0D-F83D-661C-F9D2-D91B7CF7C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213" y="2565400"/>
                <a:ext cx="7772400" cy="2303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/>
                  <a:t>Smaller than normal numbers</a:t>
                </a:r>
              </a:p>
              <a:p>
                <a:pPr lvl="1" eaLnBrk="1" hangingPunct="1"/>
                <a:r>
                  <a:rPr lang="en-US" altLang="en-US" dirty="0"/>
                  <a:t>allow for gradual underflow, with diminishing precision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/>
                  <a:t>Denormal with fraction = 000...0</a:t>
                </a:r>
              </a:p>
              <a:p>
                <a:pPr marL="0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×(0+0)×</m:t>
                      </m:r>
                      <m:sSup>
                        <m:s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altLang="en-US" b="0" dirty="0"/>
              </a:p>
              <a:p>
                <a:pPr marL="0" indent="0" eaLnBrk="1" hangingPunct="1">
                  <a:spcBef>
                    <a:spcPct val="50000"/>
                  </a:spcBef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43012" name="Rectangle 5">
                <a:extLst>
                  <a:ext uri="{FF2B5EF4-FFF2-40B4-BE49-F238E27FC236}">
                    <a16:creationId xmlns:a16="http://schemas.microsoft.com/office/drawing/2014/main" id="{83571A0D-F83D-661C-F9D2-D91B7CF7C1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213" y="2565400"/>
                <a:ext cx="7772400" cy="2303463"/>
              </a:xfrm>
              <a:prstGeom prst="rect">
                <a:avLst/>
              </a:prstGeom>
              <a:blipFill>
                <a:blip r:embed="rId4"/>
                <a:stretch>
                  <a:fillRect l="-489" t="-3846" b="-252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3" name="AutoShape 7">
            <a:extLst>
              <a:ext uri="{FF2B5EF4-FFF2-40B4-BE49-F238E27FC236}">
                <a16:creationId xmlns:a16="http://schemas.microsoft.com/office/drawing/2014/main" id="{B35EF5F0-B84A-442D-9124-5BB5BBF6FB51}"/>
              </a:ext>
            </a:extLst>
          </p:cNvPr>
          <p:cNvSpPr>
            <a:spLocks/>
          </p:cNvSpPr>
          <p:nvPr/>
        </p:nvSpPr>
        <p:spPr bwMode="auto">
          <a:xfrm>
            <a:off x="548481" y="5517232"/>
            <a:ext cx="2287587" cy="647700"/>
          </a:xfrm>
          <a:prstGeom prst="borderCallout1">
            <a:avLst>
              <a:gd name="adj1" fmla="val 17648"/>
              <a:gd name="adj2" fmla="val 103333"/>
              <a:gd name="adj3" fmla="val -26472"/>
              <a:gd name="adj4" fmla="val 123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Two representations of 0.0!</a:t>
            </a:r>
            <a:endParaRPr lang="en-AU" altLang="en-US" sz="1800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3">
            <a:extLst>
              <a:ext uri="{FF2B5EF4-FFF2-40B4-BE49-F238E27FC236}">
                <a16:creationId xmlns:a16="http://schemas.microsoft.com/office/drawing/2014/main" id="{6FF88803-3271-AECF-C708-7C37CD9E7C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F45B55A-34AE-AC47-BEEE-18733CEB24A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AU" altLang="en-US" sz="1400"/>
          </a:p>
        </p:txBody>
      </p:sp>
      <p:sp>
        <p:nvSpPr>
          <p:cNvPr id="45058" name="Rectangle 4">
            <a:extLst>
              <a:ext uri="{FF2B5EF4-FFF2-40B4-BE49-F238E27FC236}">
                <a16:creationId xmlns:a16="http://schemas.microsoft.com/office/drawing/2014/main" id="{FDAEB105-6AA8-D471-4AF6-3D8780906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Infinities and NaNs</a:t>
            </a:r>
          </a:p>
        </p:txBody>
      </p:sp>
      <p:sp>
        <p:nvSpPr>
          <p:cNvPr id="45059" name="Rectangle 5">
            <a:extLst>
              <a:ext uri="{FF2B5EF4-FFF2-40B4-BE49-F238E27FC236}">
                <a16:creationId xmlns:a16="http://schemas.microsoft.com/office/drawing/2014/main" id="{B20C81C6-D8F4-55B2-35A4-2C285C3E79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Exponent = 111...1, Fraction = 000...0</a:t>
            </a:r>
          </a:p>
          <a:p>
            <a:pPr lvl="1" eaLnBrk="1" hangingPunct="1"/>
            <a:r>
              <a:rPr lang="en-US" altLang="en-US"/>
              <a:t>±Infinity</a:t>
            </a:r>
          </a:p>
          <a:p>
            <a:pPr lvl="1" eaLnBrk="1" hangingPunct="1"/>
            <a:r>
              <a:rPr lang="en-US" altLang="en-US"/>
              <a:t>Can be used in subsequent calculations, avoiding need for overflow check</a:t>
            </a:r>
          </a:p>
          <a:p>
            <a:pPr eaLnBrk="1" hangingPunct="1"/>
            <a:r>
              <a:rPr lang="en-US" altLang="en-US"/>
              <a:t>Exponent = 111...1, Fraction ≠ 000...0</a:t>
            </a:r>
          </a:p>
          <a:p>
            <a:pPr lvl="1" eaLnBrk="1" hangingPunct="1"/>
            <a:r>
              <a:rPr lang="en-US" altLang="en-US"/>
              <a:t>Not-a-Number (NaN)</a:t>
            </a:r>
          </a:p>
          <a:p>
            <a:pPr lvl="1" eaLnBrk="1" hangingPunct="1"/>
            <a:r>
              <a:rPr lang="en-US" altLang="en-US"/>
              <a:t>Indicates illegal or undefined result</a:t>
            </a:r>
          </a:p>
          <a:p>
            <a:pPr lvl="2" eaLnBrk="1" hangingPunct="1"/>
            <a:r>
              <a:rPr lang="en-US" altLang="en-US"/>
              <a:t>e.g., 0.0 / 0.0</a:t>
            </a:r>
          </a:p>
          <a:p>
            <a:pPr lvl="1" eaLnBrk="1" hangingPunct="1"/>
            <a:r>
              <a:rPr lang="en-US" altLang="en-US"/>
              <a:t>Can be used in subsequent calculations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>
            <a:extLst>
              <a:ext uri="{FF2B5EF4-FFF2-40B4-BE49-F238E27FC236}">
                <a16:creationId xmlns:a16="http://schemas.microsoft.com/office/drawing/2014/main" id="{8ABAAEED-1F91-51A3-335B-B5F16E15A8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7EE76F1F-CE31-1741-B7EC-EDAA915029A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AU" altLang="en-US" sz="1400"/>
          </a:p>
        </p:txBody>
      </p:sp>
      <p:sp>
        <p:nvSpPr>
          <p:cNvPr id="47106" name="Rectangle 4">
            <a:extLst>
              <a:ext uri="{FF2B5EF4-FFF2-40B4-BE49-F238E27FC236}">
                <a16:creationId xmlns:a16="http://schemas.microsoft.com/office/drawing/2014/main" id="{17D91FCB-D454-DDDF-2B6C-E35346FAB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Addition</a:t>
            </a:r>
            <a:endParaRPr lang="en-AU" altLang="en-US"/>
          </a:p>
        </p:txBody>
      </p:sp>
      <p:sp>
        <p:nvSpPr>
          <p:cNvPr id="47107" name="Rectangle 5">
            <a:extLst>
              <a:ext uri="{FF2B5EF4-FFF2-40B4-BE49-F238E27FC236}">
                <a16:creationId xmlns:a16="http://schemas.microsoft.com/office/drawing/2014/main" id="{8DB96ECE-B227-2EE3-5C60-0AD817BC6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Now consider a 4-digit binary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1.000</a:t>
            </a:r>
            <a:r>
              <a:rPr lang="en-US" altLang="en-US" sz="2400" baseline="-25000"/>
              <a:t>2</a:t>
            </a:r>
            <a:r>
              <a:rPr lang="en-US" altLang="en-US" sz="2400"/>
              <a:t> × 2</a:t>
            </a:r>
            <a:r>
              <a:rPr lang="en-US" altLang="en-US" sz="2400" baseline="30000"/>
              <a:t>–1</a:t>
            </a:r>
            <a:r>
              <a:rPr lang="en-US" altLang="en-US" sz="2400"/>
              <a:t> + –1.110</a:t>
            </a:r>
            <a:r>
              <a:rPr lang="en-US" altLang="en-US" sz="2400" baseline="-25000"/>
              <a:t>2</a:t>
            </a:r>
            <a:r>
              <a:rPr lang="en-US" altLang="en-US" sz="2400"/>
              <a:t> × 2</a:t>
            </a:r>
            <a:r>
              <a:rPr lang="en-US" altLang="en-US" sz="2400" baseline="30000"/>
              <a:t>–2</a:t>
            </a:r>
            <a:r>
              <a:rPr lang="en-US" altLang="en-US" sz="2400"/>
              <a:t> (0.5 + –0.4375)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7030A0"/>
                </a:solidFill>
              </a:rPr>
              <a:t>1. Align binary points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Shift number with smaller exponent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1.000</a:t>
            </a:r>
            <a:r>
              <a:rPr lang="en-US" altLang="en-US" sz="2400" baseline="-25000"/>
              <a:t>2</a:t>
            </a:r>
            <a:r>
              <a:rPr lang="en-US" altLang="en-US" sz="2400"/>
              <a:t> × 2</a:t>
            </a:r>
            <a:r>
              <a:rPr lang="en-US" altLang="en-US" sz="2400" baseline="30000"/>
              <a:t>–1</a:t>
            </a:r>
            <a:r>
              <a:rPr lang="en-US" altLang="en-US" sz="2400"/>
              <a:t> + –0.111</a:t>
            </a:r>
            <a:r>
              <a:rPr lang="en-US" altLang="en-US" sz="2400" baseline="-25000"/>
              <a:t>2</a:t>
            </a:r>
            <a:r>
              <a:rPr lang="en-US" altLang="en-US" sz="2400"/>
              <a:t> × 2</a:t>
            </a:r>
            <a:r>
              <a:rPr lang="en-US" altLang="en-US" sz="2400" baseline="30000"/>
              <a:t>–1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7030A0"/>
                </a:solidFill>
              </a:rPr>
              <a:t>2. Add significands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1.000</a:t>
            </a:r>
            <a:r>
              <a:rPr lang="en-US" altLang="en-US" sz="2400" baseline="-25000"/>
              <a:t>2</a:t>
            </a:r>
            <a:r>
              <a:rPr lang="en-US" altLang="en-US" sz="2400"/>
              <a:t> × 2</a:t>
            </a:r>
            <a:r>
              <a:rPr lang="en-US" altLang="en-US" sz="2400" baseline="30000"/>
              <a:t>–1</a:t>
            </a:r>
            <a:r>
              <a:rPr lang="en-US" altLang="en-US" sz="2400"/>
              <a:t> + –0.111</a:t>
            </a:r>
            <a:r>
              <a:rPr lang="en-US" altLang="en-US" sz="2400" baseline="-25000"/>
              <a:t>2</a:t>
            </a:r>
            <a:r>
              <a:rPr lang="en-US" altLang="en-US" sz="2400"/>
              <a:t> × 2</a:t>
            </a:r>
            <a:r>
              <a:rPr lang="en-US" altLang="en-US" sz="2400" baseline="30000"/>
              <a:t>–</a:t>
            </a:r>
            <a:r>
              <a:rPr lang="en-US" altLang="en-US" sz="2400"/>
              <a:t>1 = 0.001</a:t>
            </a:r>
            <a:r>
              <a:rPr lang="en-US" altLang="en-US" sz="2400" baseline="-25000"/>
              <a:t>2</a:t>
            </a:r>
            <a:r>
              <a:rPr lang="en-US" altLang="en-US" sz="2400"/>
              <a:t> × 2</a:t>
            </a:r>
            <a:r>
              <a:rPr lang="en-US" altLang="en-US" sz="2400" baseline="30000"/>
              <a:t>–1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7030A0"/>
                </a:solidFill>
              </a:rPr>
              <a:t>3. Normalize result &amp; check for over/underflow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1.000</a:t>
            </a:r>
            <a:r>
              <a:rPr lang="en-US" altLang="en-US" sz="2400" baseline="-25000"/>
              <a:t>2</a:t>
            </a:r>
            <a:r>
              <a:rPr lang="en-US" altLang="en-US" sz="2400"/>
              <a:t> × 2</a:t>
            </a:r>
            <a:r>
              <a:rPr lang="en-US" altLang="en-US" sz="2400" baseline="30000"/>
              <a:t>–4</a:t>
            </a:r>
            <a:r>
              <a:rPr lang="en-US" altLang="en-US" sz="2400"/>
              <a:t>, with no over/underflow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7030A0"/>
                </a:solidFill>
              </a:rPr>
              <a:t>4. Round and renormalize if necessary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1.000</a:t>
            </a:r>
            <a:r>
              <a:rPr lang="en-US" altLang="en-US" sz="2400" baseline="-25000"/>
              <a:t>2</a:t>
            </a:r>
            <a:r>
              <a:rPr lang="en-US" altLang="en-US" sz="2400"/>
              <a:t> × 2</a:t>
            </a:r>
            <a:r>
              <a:rPr lang="en-US" altLang="en-US" sz="2400" baseline="30000"/>
              <a:t>–4</a:t>
            </a:r>
            <a:r>
              <a:rPr lang="en-US" altLang="en-US" sz="2400"/>
              <a:t> (no change)  = 0.0625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>
            <a:extLst>
              <a:ext uri="{FF2B5EF4-FFF2-40B4-BE49-F238E27FC236}">
                <a16:creationId xmlns:a16="http://schemas.microsoft.com/office/drawing/2014/main" id="{409236DE-D115-75FA-EB34-FD2F7D7532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C182698D-6FBF-7147-BA4C-C2A5E2B7E17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AU" altLang="en-US" sz="14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6D8FC6A9-9C27-F64F-45A0-A39E42B81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FP Adder Hardware</a:t>
            </a:r>
            <a:endParaRPr lang="en-AU" alt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76DE87C-5432-97A1-E198-E986FF795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Much more complex than integer adder</a:t>
            </a:r>
          </a:p>
          <a:p>
            <a:pPr eaLnBrk="1" hangingPunct="1"/>
            <a:r>
              <a:rPr lang="en-US" altLang="en-US"/>
              <a:t>Doing it in one clock cycle would take too long</a:t>
            </a:r>
          </a:p>
          <a:p>
            <a:pPr lvl="1" eaLnBrk="1" hangingPunct="1"/>
            <a:r>
              <a:rPr lang="en-US" altLang="en-US"/>
              <a:t>Much longer than integer operations</a:t>
            </a:r>
          </a:p>
          <a:p>
            <a:pPr lvl="1" eaLnBrk="1" hangingPunct="1"/>
            <a:r>
              <a:rPr lang="en-US" altLang="en-US"/>
              <a:t>Slower clock would penalize all instructions</a:t>
            </a:r>
          </a:p>
          <a:p>
            <a:pPr eaLnBrk="1" hangingPunct="1"/>
            <a:r>
              <a:rPr lang="en-US" altLang="en-US"/>
              <a:t>FP adder usually takes several cycles</a:t>
            </a:r>
          </a:p>
          <a:p>
            <a:pPr lvl="1" eaLnBrk="1" hangingPunct="1"/>
            <a:r>
              <a:rPr lang="en-US" altLang="en-US"/>
              <a:t>Can be pipelined</a:t>
            </a:r>
            <a:endParaRPr lang="en-AU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>
            <a:extLst>
              <a:ext uri="{FF2B5EF4-FFF2-40B4-BE49-F238E27FC236}">
                <a16:creationId xmlns:a16="http://schemas.microsoft.com/office/drawing/2014/main" id="{4F8CCEA2-AAAE-B747-2E26-463C3672ED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90D6BFD3-00AD-C743-9E73-590A79DDC6B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AU" altLang="en-US" sz="1400"/>
          </a:p>
        </p:txBody>
      </p:sp>
      <p:pic>
        <p:nvPicPr>
          <p:cNvPr id="51202" name="Picture 14" descr="f03-16-P374493">
            <a:extLst>
              <a:ext uri="{FF2B5EF4-FFF2-40B4-BE49-F238E27FC236}">
                <a16:creationId xmlns:a16="http://schemas.microsoft.com/office/drawing/2014/main" id="{3137D492-D7F2-22CA-0BC3-C2877433F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268413"/>
            <a:ext cx="5214937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ctangle 2">
            <a:extLst>
              <a:ext uri="{FF2B5EF4-FFF2-40B4-BE49-F238E27FC236}">
                <a16:creationId xmlns:a16="http://schemas.microsoft.com/office/drawing/2014/main" id="{300905A7-B715-9766-D46D-5AF3B2A41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FP Adder Hardware</a:t>
            </a:r>
            <a:endParaRPr lang="en-AU" altLang="en-US"/>
          </a:p>
        </p:txBody>
      </p:sp>
      <p:sp>
        <p:nvSpPr>
          <p:cNvPr id="51204" name="AutoShape 4">
            <a:extLst>
              <a:ext uri="{FF2B5EF4-FFF2-40B4-BE49-F238E27FC236}">
                <a16:creationId xmlns:a16="http://schemas.microsoft.com/office/drawing/2014/main" id="{3F33AA76-23E1-6020-1286-FC9869B63ED6}"/>
              </a:ext>
            </a:extLst>
          </p:cNvPr>
          <p:cNvSpPr>
            <a:spLocks/>
          </p:cNvSpPr>
          <p:nvPr/>
        </p:nvSpPr>
        <p:spPr bwMode="auto">
          <a:xfrm>
            <a:off x="6588125" y="1844675"/>
            <a:ext cx="144463" cy="1800225"/>
          </a:xfrm>
          <a:prstGeom prst="rightBrace">
            <a:avLst>
              <a:gd name="adj1" fmla="val 10384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1205" name="AutoShape 5">
            <a:extLst>
              <a:ext uri="{FF2B5EF4-FFF2-40B4-BE49-F238E27FC236}">
                <a16:creationId xmlns:a16="http://schemas.microsoft.com/office/drawing/2014/main" id="{46B1C608-C82E-07CC-AFB8-76FA18B60179}"/>
              </a:ext>
            </a:extLst>
          </p:cNvPr>
          <p:cNvSpPr>
            <a:spLocks/>
          </p:cNvSpPr>
          <p:nvPr/>
        </p:nvSpPr>
        <p:spPr bwMode="auto">
          <a:xfrm>
            <a:off x="6588125" y="3716338"/>
            <a:ext cx="144463" cy="792162"/>
          </a:xfrm>
          <a:prstGeom prst="rightBrace">
            <a:avLst>
              <a:gd name="adj1" fmla="val 4569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1206" name="AutoShape 6">
            <a:extLst>
              <a:ext uri="{FF2B5EF4-FFF2-40B4-BE49-F238E27FC236}">
                <a16:creationId xmlns:a16="http://schemas.microsoft.com/office/drawing/2014/main" id="{54EE4CD5-1909-78D5-1DC4-16B79D21434A}"/>
              </a:ext>
            </a:extLst>
          </p:cNvPr>
          <p:cNvSpPr>
            <a:spLocks/>
          </p:cNvSpPr>
          <p:nvPr/>
        </p:nvSpPr>
        <p:spPr bwMode="auto">
          <a:xfrm>
            <a:off x="6588125" y="4795838"/>
            <a:ext cx="144463" cy="576262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1207" name="AutoShape 7">
            <a:extLst>
              <a:ext uri="{FF2B5EF4-FFF2-40B4-BE49-F238E27FC236}">
                <a16:creationId xmlns:a16="http://schemas.microsoft.com/office/drawing/2014/main" id="{A3434776-FAA7-5DB9-0945-51A7AC37DE1F}"/>
              </a:ext>
            </a:extLst>
          </p:cNvPr>
          <p:cNvSpPr>
            <a:spLocks/>
          </p:cNvSpPr>
          <p:nvPr/>
        </p:nvSpPr>
        <p:spPr bwMode="auto">
          <a:xfrm>
            <a:off x="6588125" y="5445125"/>
            <a:ext cx="144463" cy="576263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1208" name="Text Box 8">
            <a:extLst>
              <a:ext uri="{FF2B5EF4-FFF2-40B4-BE49-F238E27FC236}">
                <a16:creationId xmlns:a16="http://schemas.microsoft.com/office/drawing/2014/main" id="{6F3B9698-88C9-09CB-A2D3-E2F77B1D5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8575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1</a:t>
            </a:r>
            <a:endParaRPr lang="en-AU" altLang="en-US" sz="1600"/>
          </a:p>
        </p:txBody>
      </p:sp>
      <p:sp>
        <p:nvSpPr>
          <p:cNvPr id="51209" name="Text Box 9">
            <a:extLst>
              <a:ext uri="{FF2B5EF4-FFF2-40B4-BE49-F238E27FC236}">
                <a16:creationId xmlns:a16="http://schemas.microsoft.com/office/drawing/2014/main" id="{D11230D3-5C4C-EE00-256F-5F55F309B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3937000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2</a:t>
            </a:r>
            <a:endParaRPr lang="en-AU" altLang="en-US" sz="1600"/>
          </a:p>
        </p:txBody>
      </p:sp>
      <p:sp>
        <p:nvSpPr>
          <p:cNvPr id="51210" name="Text Box 10">
            <a:extLst>
              <a:ext uri="{FF2B5EF4-FFF2-40B4-BE49-F238E27FC236}">
                <a16:creationId xmlns:a16="http://schemas.microsoft.com/office/drawing/2014/main" id="{2B46519F-9F1B-A754-6E55-561468855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4873625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3</a:t>
            </a:r>
            <a:endParaRPr lang="en-AU" altLang="en-US" sz="1600"/>
          </a:p>
        </p:txBody>
      </p:sp>
      <p:sp>
        <p:nvSpPr>
          <p:cNvPr id="51211" name="Text Box 11">
            <a:extLst>
              <a:ext uri="{FF2B5EF4-FFF2-40B4-BE49-F238E27FC236}">
                <a16:creationId xmlns:a16="http://schemas.microsoft.com/office/drawing/2014/main" id="{A22912C3-0FB8-5B4A-FE3C-FE753872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5521325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4</a:t>
            </a:r>
            <a:endParaRPr lang="en-AU" altLang="en-US" sz="1600"/>
          </a:p>
        </p:txBody>
      </p:sp>
      <p:sp>
        <p:nvSpPr>
          <p:cNvPr id="51212" name="AutoShape 12">
            <a:extLst>
              <a:ext uri="{FF2B5EF4-FFF2-40B4-BE49-F238E27FC236}">
                <a16:creationId xmlns:a16="http://schemas.microsoft.com/office/drawing/2014/main" id="{7B239CFF-594B-AA62-6E4C-779F7AE0B39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740650" y="4940300"/>
            <a:ext cx="288925" cy="792163"/>
          </a:xfrm>
          <a:prstGeom prst="curvedRightArrow">
            <a:avLst>
              <a:gd name="adj1" fmla="val 54835"/>
              <a:gd name="adj2" fmla="val 10967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2CFB6010-35A0-8CC8-9E9A-0B7A6A8992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BFBC6438-E9D9-1547-81C3-33290BCEA93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AU" altLang="en-US" sz="1400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9C6F3BBC-E872-AB0C-51B2-3ACE79975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Concluding Remarks</a:t>
            </a:r>
            <a:endParaRPr lang="en-AU" alt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99D1299-0C42-283C-96FE-82FDFB100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Bits have no inherent meaning</a:t>
            </a:r>
          </a:p>
          <a:p>
            <a:pPr lvl="1" eaLnBrk="1" hangingPunct="1"/>
            <a:r>
              <a:rPr lang="en-AU" altLang="en-US"/>
              <a:t>Interpretation depends on the instructions applied</a:t>
            </a:r>
          </a:p>
          <a:p>
            <a:pPr lvl="1" eaLnBrk="1" hangingPunct="1"/>
            <a:endParaRPr lang="en-AU" altLang="en-US"/>
          </a:p>
          <a:p>
            <a:pPr eaLnBrk="1" hangingPunct="1"/>
            <a:r>
              <a:rPr lang="en-AU" altLang="en-US"/>
              <a:t>Computer representations of numbers</a:t>
            </a:r>
          </a:p>
          <a:p>
            <a:pPr lvl="1" eaLnBrk="1" hangingPunct="1"/>
            <a:r>
              <a:rPr lang="en-AU" altLang="en-US"/>
              <a:t>Finite range and precision</a:t>
            </a:r>
          </a:p>
          <a:p>
            <a:pPr lvl="1" eaLnBrk="1" hangingPunct="1"/>
            <a:r>
              <a:rPr lang="en-AU" altLang="en-US"/>
              <a:t>Need to account for this in programs</a:t>
            </a:r>
          </a:p>
        </p:txBody>
      </p:sp>
      <p:sp>
        <p:nvSpPr>
          <p:cNvPr id="53252" name="Text Box 5">
            <a:extLst>
              <a:ext uri="{FF2B5EF4-FFF2-40B4-BE49-F238E27FC236}">
                <a16:creationId xmlns:a16="http://schemas.microsoft.com/office/drawing/2014/main" id="{782E6FE0-A912-3575-3F06-C8C53B9240A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81094" y="1299369"/>
            <a:ext cx="2967038" cy="368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§3.10 Concluding Remarks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3">
            <a:extLst>
              <a:ext uri="{FF2B5EF4-FFF2-40B4-BE49-F238E27FC236}">
                <a16:creationId xmlns:a16="http://schemas.microsoft.com/office/drawing/2014/main" id="{80DEBC08-DA6C-4A28-7965-118BA3CD8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B45BD61C-9718-3447-A7D2-3B5451ACE2D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AU" altLang="en-US" sz="14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6E20E9A3-D864-ACCE-7D33-133E4131E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Concluding Remarks</a:t>
            </a:r>
            <a:endParaRPr lang="en-AU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E76AF42-C954-B1F9-B761-265BBEAA5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ISAs support arithmetic</a:t>
            </a:r>
          </a:p>
          <a:p>
            <a:pPr lvl="1" eaLnBrk="1" hangingPunct="1"/>
            <a:r>
              <a:rPr lang="en-US" altLang="en-US"/>
              <a:t>Signed and unsigned integers</a:t>
            </a:r>
          </a:p>
          <a:p>
            <a:pPr lvl="1" eaLnBrk="1" hangingPunct="1"/>
            <a:r>
              <a:rPr lang="en-US" altLang="en-US"/>
              <a:t>Floating-point approximation to reals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Bounded range and precision</a:t>
            </a:r>
          </a:p>
          <a:p>
            <a:pPr lvl="1" eaLnBrk="1" hangingPunct="1"/>
            <a:r>
              <a:rPr lang="en-US" altLang="en-US"/>
              <a:t>Operations can overflow and underflow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JASON20D2E20BAKOS@FJDUIONFUVWZY5H8" val="4636"/>
</p:tagLst>
</file>

<file path=ppt/theme/theme1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10791</TotalTime>
  <Words>1467</Words>
  <Application>Microsoft Macintosh PowerPoint</Application>
  <PresentationFormat>On-screen Show (4:3)</PresentationFormat>
  <Paragraphs>280</Paragraphs>
  <Slides>21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Arial Black</vt:lpstr>
      <vt:lpstr>Cambria Math</vt:lpstr>
      <vt:lpstr>Corbel</vt:lpstr>
      <vt:lpstr>Lucida Console</vt:lpstr>
      <vt:lpstr>Tahoma</vt:lpstr>
      <vt:lpstr>Times New Roman</vt:lpstr>
      <vt:lpstr>Wingdings</vt:lpstr>
      <vt:lpstr>cod4e</vt:lpstr>
      <vt:lpstr>Equation</vt:lpstr>
      <vt:lpstr>Chapter 3</vt:lpstr>
      <vt:lpstr>Arithmetic for Computers</vt:lpstr>
      <vt:lpstr>Integer Addition</vt:lpstr>
      <vt:lpstr>Integer Subtraction</vt:lpstr>
      <vt:lpstr>Arithmetic for Multimedia</vt:lpstr>
      <vt:lpstr>Floating Point</vt:lpstr>
      <vt:lpstr>Floating Point Standard</vt:lpstr>
      <vt:lpstr>IEEE Floating-Point Format</vt:lpstr>
      <vt:lpstr>Single-Precision Range</vt:lpstr>
      <vt:lpstr>Double-Precision Range</vt:lpstr>
      <vt:lpstr>Floating-Point Precision</vt:lpstr>
      <vt:lpstr>Floating-Point Example</vt:lpstr>
      <vt:lpstr>Floating-Point Example</vt:lpstr>
      <vt:lpstr>Exercises</vt:lpstr>
      <vt:lpstr>Denormal Numbers</vt:lpstr>
      <vt:lpstr>Infinities and NaNs</vt:lpstr>
      <vt:lpstr>Floating-Point Addition</vt:lpstr>
      <vt:lpstr>FP Adder Hardware</vt:lpstr>
      <vt:lpstr>FP Adder Hardware</vt:lpstr>
      <vt:lpstr>Concluding Remarks</vt:lpstr>
      <vt:lpstr>Concluding Remarks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...</dc:title>
  <dc:creator>Peter Ashenden</dc:creator>
  <cp:lastModifiedBy>Yili Gong</cp:lastModifiedBy>
  <cp:revision>83</cp:revision>
  <cp:lastPrinted>2021-09-20T16:21:28Z</cp:lastPrinted>
  <dcterms:created xsi:type="dcterms:W3CDTF">2008-07-28T10:20:18Z</dcterms:created>
  <dcterms:modified xsi:type="dcterms:W3CDTF">2023-10-18T15:13:12Z</dcterms:modified>
</cp:coreProperties>
</file>