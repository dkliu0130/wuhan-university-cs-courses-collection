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3"/>
  </p:notesMasterIdLst>
  <p:sldIdLst>
    <p:sldId id="418" r:id="rId2"/>
    <p:sldId id="368" r:id="rId3"/>
    <p:sldId id="419" r:id="rId4"/>
    <p:sldId id="443" r:id="rId5"/>
    <p:sldId id="420" r:id="rId6"/>
    <p:sldId id="421" r:id="rId7"/>
    <p:sldId id="422" r:id="rId8"/>
    <p:sldId id="423" r:id="rId9"/>
    <p:sldId id="425" r:id="rId10"/>
    <p:sldId id="426" r:id="rId11"/>
    <p:sldId id="427" r:id="rId12"/>
    <p:sldId id="428" r:id="rId13"/>
    <p:sldId id="429" r:id="rId14"/>
    <p:sldId id="430" r:id="rId15"/>
    <p:sldId id="431" r:id="rId16"/>
    <p:sldId id="432" r:id="rId17"/>
    <p:sldId id="433" r:id="rId18"/>
    <p:sldId id="434" r:id="rId19"/>
    <p:sldId id="435" r:id="rId20"/>
    <p:sldId id="436" r:id="rId21"/>
    <p:sldId id="437" r:id="rId22"/>
    <p:sldId id="438" r:id="rId23"/>
    <p:sldId id="439" r:id="rId24"/>
    <p:sldId id="440" r:id="rId25"/>
    <p:sldId id="442" r:id="rId26"/>
    <p:sldId id="444" r:id="rId27"/>
    <p:sldId id="445" r:id="rId28"/>
    <p:sldId id="446" r:id="rId29"/>
    <p:sldId id="447" r:id="rId30"/>
    <p:sldId id="448" r:id="rId31"/>
    <p:sldId id="424" r:id="rId32"/>
    <p:sldId id="449" r:id="rId33"/>
    <p:sldId id="450" r:id="rId34"/>
    <p:sldId id="451" r:id="rId35"/>
    <p:sldId id="452" r:id="rId36"/>
    <p:sldId id="453" r:id="rId37"/>
    <p:sldId id="454" r:id="rId38"/>
    <p:sldId id="455" r:id="rId39"/>
    <p:sldId id="456" r:id="rId40"/>
    <p:sldId id="457" r:id="rId41"/>
    <p:sldId id="458" r:id="rId42"/>
    <p:sldId id="459" r:id="rId43"/>
    <p:sldId id="460" r:id="rId44"/>
    <p:sldId id="461" r:id="rId45"/>
    <p:sldId id="462" r:id="rId46"/>
    <p:sldId id="441" r:id="rId47"/>
    <p:sldId id="463" r:id="rId48"/>
    <p:sldId id="464" r:id="rId49"/>
    <p:sldId id="465" r:id="rId50"/>
    <p:sldId id="466" r:id="rId51"/>
    <p:sldId id="467" r:id="rId52"/>
    <p:sldId id="468" r:id="rId53"/>
    <p:sldId id="469" r:id="rId54"/>
    <p:sldId id="470" r:id="rId55"/>
    <p:sldId id="471" r:id="rId56"/>
    <p:sldId id="473" r:id="rId57"/>
    <p:sldId id="474" r:id="rId58"/>
    <p:sldId id="475" r:id="rId59"/>
    <p:sldId id="476" r:id="rId60"/>
    <p:sldId id="477" r:id="rId61"/>
    <p:sldId id="478" r:id="rId62"/>
    <p:sldId id="480" r:id="rId63"/>
    <p:sldId id="481" r:id="rId64"/>
    <p:sldId id="482" r:id="rId65"/>
    <p:sldId id="483" r:id="rId66"/>
    <p:sldId id="484" r:id="rId67"/>
    <p:sldId id="485" r:id="rId68"/>
    <p:sldId id="486" r:id="rId69"/>
    <p:sldId id="487" r:id="rId70"/>
    <p:sldId id="488" r:id="rId71"/>
    <p:sldId id="489" r:id="rId72"/>
    <p:sldId id="490" r:id="rId73"/>
    <p:sldId id="491" r:id="rId74"/>
    <p:sldId id="492" r:id="rId75"/>
    <p:sldId id="493" r:id="rId76"/>
    <p:sldId id="494" r:id="rId77"/>
    <p:sldId id="495" r:id="rId78"/>
    <p:sldId id="496" r:id="rId79"/>
    <p:sldId id="497" r:id="rId80"/>
    <p:sldId id="498" r:id="rId81"/>
    <p:sldId id="499" r:id="rId82"/>
    <p:sldId id="501" r:id="rId83"/>
    <p:sldId id="502" r:id="rId84"/>
    <p:sldId id="503" r:id="rId85"/>
    <p:sldId id="504" r:id="rId86"/>
    <p:sldId id="505" r:id="rId87"/>
    <p:sldId id="506" r:id="rId88"/>
    <p:sldId id="507" r:id="rId89"/>
    <p:sldId id="508" r:id="rId90"/>
    <p:sldId id="509" r:id="rId91"/>
    <p:sldId id="510" r:id="rId92"/>
    <p:sldId id="511" r:id="rId93"/>
    <p:sldId id="512" r:id="rId94"/>
    <p:sldId id="513" r:id="rId95"/>
    <p:sldId id="514" r:id="rId96"/>
    <p:sldId id="515" r:id="rId97"/>
    <p:sldId id="516" r:id="rId98"/>
    <p:sldId id="517" r:id="rId99"/>
    <p:sldId id="518" r:id="rId100"/>
    <p:sldId id="519" r:id="rId101"/>
    <p:sldId id="522" r:id="rId102"/>
    <p:sldId id="523" r:id="rId103"/>
    <p:sldId id="524" r:id="rId104"/>
    <p:sldId id="525" r:id="rId105"/>
    <p:sldId id="526" r:id="rId106"/>
    <p:sldId id="527" r:id="rId107"/>
    <p:sldId id="528" r:id="rId108"/>
    <p:sldId id="529" r:id="rId109"/>
    <p:sldId id="530" r:id="rId110"/>
    <p:sldId id="531" r:id="rId111"/>
    <p:sldId id="532" r:id="rId112"/>
    <p:sldId id="533" r:id="rId113"/>
    <p:sldId id="534" r:id="rId114"/>
    <p:sldId id="535" r:id="rId115"/>
    <p:sldId id="536" r:id="rId116"/>
    <p:sldId id="537" r:id="rId117"/>
    <p:sldId id="538" r:id="rId118"/>
    <p:sldId id="539" r:id="rId119"/>
    <p:sldId id="540" r:id="rId120"/>
    <p:sldId id="541" r:id="rId121"/>
    <p:sldId id="542" r:id="rId122"/>
    <p:sldId id="543" r:id="rId123"/>
    <p:sldId id="544" r:id="rId124"/>
    <p:sldId id="545" r:id="rId125"/>
    <p:sldId id="546" r:id="rId126"/>
    <p:sldId id="547" r:id="rId127"/>
    <p:sldId id="548" r:id="rId128"/>
    <p:sldId id="553" r:id="rId129"/>
    <p:sldId id="550" r:id="rId130"/>
    <p:sldId id="551" r:id="rId131"/>
    <p:sldId id="575" r:id="rId132"/>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a:srgbClr val="3366CC"/>
    <a:srgbClr val="0066CC"/>
    <a:srgbClr val="FF00FF"/>
    <a:srgbClr val="CCFFCC"/>
    <a:srgbClr val="CC0066"/>
    <a:srgbClr val="990099"/>
    <a:srgbClr val="CC0099"/>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83"/>
    <p:restoredTop sz="94603"/>
  </p:normalViewPr>
  <p:slideViewPr>
    <p:cSldViewPr showGuides="1">
      <p:cViewPr varScale="1">
        <p:scale>
          <a:sx n="80" d="100"/>
          <a:sy n="80" d="100"/>
        </p:scale>
        <p:origin x="1555"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3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页眉占位符 22529"/>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latin typeface="Tahoma" panose="020B0604030504040204" pitchFamily="34" charset="0"/>
            </a:endParaRPr>
          </a:p>
        </p:txBody>
      </p:sp>
      <p:sp>
        <p:nvSpPr>
          <p:cNvPr id="22531" name="日期占位符 22530"/>
          <p:cNvSpPr>
            <a:spLocks noGrp="1"/>
          </p:cNvSpPr>
          <p:nvPr>
            <p:ph type="dt" idx="1"/>
          </p:nvPr>
        </p:nvSpPr>
        <p:spPr>
          <a:xfrm>
            <a:off x="3886200" y="0"/>
            <a:ext cx="2971800" cy="457200"/>
          </a:xfrm>
          <a:prstGeom prst="rect">
            <a:avLst/>
          </a:prstGeom>
          <a:noFill/>
          <a:ln w="9525">
            <a:noFill/>
          </a:ln>
        </p:spPr>
        <p:txBody>
          <a:bodyPr/>
          <a:lstStyle/>
          <a:p>
            <a:pPr lvl="0" algn="r" fontAlgn="base"/>
            <a:endParaRPr lang="zh-CN" altLang="en-US" sz="1200" strike="noStrike" noProof="1">
              <a:latin typeface="Tahoma" panose="020B0604030504040204" pitchFamily="34" charset="0"/>
            </a:endParaRPr>
          </a:p>
        </p:txBody>
      </p:sp>
      <p:sp>
        <p:nvSpPr>
          <p:cNvPr id="2052" name="幻灯片图像占位符 22531"/>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文本占位符 22532"/>
          <p:cNvSpPr>
            <a:spLocks noGrp="1"/>
          </p:cNvSpPr>
          <p:nvPr>
            <p:ph type="body" sz="quarter"/>
          </p:nvPr>
        </p:nvSpPr>
        <p:spPr>
          <a:xfrm>
            <a:off x="914400" y="4343400"/>
            <a:ext cx="5029200" cy="4114800"/>
          </a:xfrm>
          <a:prstGeom prst="rect">
            <a:avLst/>
          </a:prstGeom>
          <a:noFill/>
          <a:ln w="9525">
            <a:noFill/>
          </a:ln>
        </p:spPr>
        <p:txBody>
          <a:bodyPr anchor="t"/>
          <a:lstStyle/>
          <a:p>
            <a:pPr lvl="0" indent="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22534" name="页脚占位符 22533"/>
          <p:cNvSpPr>
            <a:spLocks noGrp="1"/>
          </p:cNvSpPr>
          <p:nvPr>
            <p:ph type="ftr" sz="quarter" idx="4"/>
          </p:nvPr>
        </p:nvSpPr>
        <p:spPr>
          <a:xfrm>
            <a:off x="0" y="8686800"/>
            <a:ext cx="2971800" cy="457200"/>
          </a:xfrm>
          <a:prstGeom prst="rect">
            <a:avLst/>
          </a:prstGeom>
          <a:noFill/>
          <a:ln w="9525">
            <a:noFill/>
          </a:ln>
        </p:spPr>
        <p:txBody>
          <a:bodyPr anchor="b"/>
          <a:lstStyle/>
          <a:p>
            <a:pPr lvl="0" fontAlgn="base"/>
            <a:endParaRPr lang="zh-CN" altLang="en-US" sz="1200" strike="noStrike" noProof="1">
              <a:latin typeface="Tahoma" panose="020B0604030504040204" pitchFamily="34" charset="0"/>
            </a:endParaRPr>
          </a:p>
        </p:txBody>
      </p:sp>
      <p:sp>
        <p:nvSpPr>
          <p:cNvPr id="22535" name="灯片编号占位符 22534"/>
          <p:cNvSpPr>
            <a:spLocks noGrp="1"/>
          </p:cNvSpPr>
          <p:nvPr>
            <p:ph type="sldNum" sz="quarter" idx="5"/>
          </p:nvPr>
        </p:nvSpPr>
        <p:spPr>
          <a:xfrm>
            <a:off x="3886200" y="8686800"/>
            <a:ext cx="2971800" cy="457200"/>
          </a:xfrm>
          <a:prstGeom prst="rect">
            <a:avLst/>
          </a:prstGeom>
          <a:noFill/>
          <a:ln w="9525">
            <a:noFill/>
          </a:ln>
        </p:spPr>
        <p:txBody>
          <a:bodyPr anchor="b"/>
          <a:lstStyle/>
          <a:p>
            <a:pPr lvl="0" algn="r" fontAlgn="base"/>
            <a:fld id="{9A0DB2DC-4C9A-4742-B13C-FB6460FD3503}" type="slidenum">
              <a:rPr lang="zh-CN" altLang="en-US" sz="1200" strike="noStrike" noProof="1" dirty="0">
                <a:latin typeface="Tahoma" panose="020B0604030504040204" pitchFamily="34" charset="0"/>
                <a:ea typeface="宋体" panose="02010600030101010101" pitchFamily="2" charset="-122"/>
                <a:cs typeface="+mn-ea"/>
              </a:rPr>
              <a:t>‹#›</a:t>
            </a:fld>
            <a:endParaRPr lang="zh-CN" altLang="en-US" sz="1200" strike="noStrike" noProof="1">
              <a:latin typeface="Tahoma" panose="020B0604030504040204" pitchFamily="34" charset="0"/>
            </a:endParaRPr>
          </a:p>
        </p:txBody>
      </p:sp>
    </p:spTree>
    <p:extLst>
      <p:ext uri="{BB962C8B-B14F-4D97-AF65-F5344CB8AC3E}">
        <p14:creationId xmlns:p14="http://schemas.microsoft.com/office/powerpoint/2010/main" val="2341754177"/>
      </p:ext>
    </p:extLst>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265217"/>
          <p:cNvSpPr>
            <a:spLocks noGrp="1" noRot="1" noChangeAspect="1" noTextEdit="1"/>
          </p:cNvSpPr>
          <p:nvPr>
            <p:ph type="sldImg"/>
          </p:nvPr>
        </p:nvSpPr>
        <p:spPr>
          <a:ln/>
        </p:spPr>
      </p:sp>
      <p:sp>
        <p:nvSpPr>
          <p:cNvPr id="7170" name="文本占位符 265218"/>
          <p:cNvSpPr>
            <a:spLocks noGrp="1"/>
          </p:cNvSpPr>
          <p:nvPr>
            <p:ph type="body"/>
          </p:nvPr>
        </p:nvSpPr>
        <p:spPr>
          <a:xfrm>
            <a:off x="685800" y="4343400"/>
            <a:ext cx="5486400" cy="4114800"/>
          </a:xfrm>
          <a:ln/>
        </p:spPr>
        <p:txBody>
          <a:bodyPr anchor="t"/>
          <a:lstStyle/>
          <a:p>
            <a:pPr lvl="0" indent="0"/>
            <a:endParaRPr lang="zh-CN" altLang="en-US" dirty="0"/>
          </a:p>
        </p:txBody>
      </p:sp>
      <p:sp>
        <p:nvSpPr>
          <p:cNvPr id="7171"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5</a:t>
            </a:fld>
            <a:endParaRPr lang="zh-CN" altLang="en-US" sz="1200" dirty="0">
              <a:latin typeface="Tahom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幻灯片图像占位符 268289"/>
          <p:cNvSpPr>
            <a:spLocks noGrp="1" noRot="1" noChangeAspect="1" noTextEdit="1"/>
          </p:cNvSpPr>
          <p:nvPr>
            <p:ph type="sldImg"/>
          </p:nvPr>
        </p:nvSpPr>
        <p:spPr>
          <a:ln/>
        </p:spPr>
      </p:sp>
      <p:sp>
        <p:nvSpPr>
          <p:cNvPr id="10242" name="文本占位符 268290"/>
          <p:cNvSpPr>
            <a:spLocks noGrp="1"/>
          </p:cNvSpPr>
          <p:nvPr>
            <p:ph type="body"/>
          </p:nvPr>
        </p:nvSpPr>
        <p:spPr>
          <a:xfrm>
            <a:off x="685800" y="4343400"/>
            <a:ext cx="5486400" cy="4114800"/>
          </a:xfrm>
          <a:ln/>
        </p:spPr>
        <p:txBody>
          <a:bodyPr anchor="t"/>
          <a:lstStyle/>
          <a:p>
            <a:pPr lvl="0" indent="0"/>
            <a:endParaRPr lang="zh-CN" altLang="en-US" dirty="0"/>
          </a:p>
        </p:txBody>
      </p:sp>
      <p:sp>
        <p:nvSpPr>
          <p:cNvPr id="10243"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7</a:t>
            </a:fld>
            <a:endParaRPr lang="zh-CN" altLang="en-US" sz="1200" dirty="0">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幻灯片图像占位符 270337"/>
          <p:cNvSpPr>
            <a:spLocks noGrp="1" noRot="1" noChangeAspect="1" noTextEdit="1"/>
          </p:cNvSpPr>
          <p:nvPr>
            <p:ph type="sldImg"/>
          </p:nvPr>
        </p:nvSpPr>
        <p:spPr>
          <a:ln/>
        </p:spPr>
      </p:sp>
      <p:sp>
        <p:nvSpPr>
          <p:cNvPr id="12290" name="文本占位符 270338"/>
          <p:cNvSpPr>
            <a:spLocks noGrp="1"/>
          </p:cNvSpPr>
          <p:nvPr>
            <p:ph type="body"/>
          </p:nvPr>
        </p:nvSpPr>
        <p:spPr>
          <a:xfrm>
            <a:off x="685800" y="4343400"/>
            <a:ext cx="5486400" cy="4114800"/>
          </a:xfrm>
          <a:ln/>
        </p:spPr>
        <p:txBody>
          <a:bodyPr anchor="t"/>
          <a:lstStyle/>
          <a:p>
            <a:pPr lvl="0" indent="0"/>
            <a:endParaRPr lang="zh-CN" altLang="en-US" dirty="0"/>
          </a:p>
        </p:txBody>
      </p:sp>
      <p:sp>
        <p:nvSpPr>
          <p:cNvPr id="12291"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8</a:t>
            </a:fld>
            <a:endParaRPr lang="zh-CN" altLang="en-US" sz="1200" dirty="0">
              <a:latin typeface="Tahoma" panose="020B060403050404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幻灯片图像占位符 276481"/>
          <p:cNvSpPr>
            <a:spLocks noGrp="1" noRot="1" noChangeAspect="1" noTextEdit="1"/>
          </p:cNvSpPr>
          <p:nvPr>
            <p:ph type="sldImg"/>
          </p:nvPr>
        </p:nvSpPr>
        <p:spPr>
          <a:ln/>
        </p:spPr>
      </p:sp>
      <p:sp>
        <p:nvSpPr>
          <p:cNvPr id="16386" name="文本占位符 276482"/>
          <p:cNvSpPr>
            <a:spLocks noGrp="1"/>
          </p:cNvSpPr>
          <p:nvPr>
            <p:ph type="body"/>
          </p:nvPr>
        </p:nvSpPr>
        <p:spPr>
          <a:xfrm>
            <a:off x="685800" y="4343400"/>
            <a:ext cx="5486400" cy="4114800"/>
          </a:xfrm>
          <a:ln/>
        </p:spPr>
        <p:txBody>
          <a:bodyPr anchor="t"/>
          <a:lstStyle/>
          <a:p>
            <a:pPr lvl="0" indent="0"/>
            <a:endParaRPr lang="zh-CN" altLang="en-US" dirty="0"/>
          </a:p>
        </p:txBody>
      </p:sp>
      <p:sp>
        <p:nvSpPr>
          <p:cNvPr id="16387"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9</a:t>
            </a:fld>
            <a:endParaRPr lang="zh-CN" altLang="en-US" sz="1200" dirty="0">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278529"/>
          <p:cNvSpPr>
            <a:spLocks noGrp="1" noRot="1" noChangeAspect="1" noTextEdit="1"/>
          </p:cNvSpPr>
          <p:nvPr>
            <p:ph type="sldImg"/>
          </p:nvPr>
        </p:nvSpPr>
        <p:spPr>
          <a:ln/>
        </p:spPr>
      </p:sp>
      <p:sp>
        <p:nvSpPr>
          <p:cNvPr id="18434" name="文本占位符 278530"/>
          <p:cNvSpPr>
            <a:spLocks noGrp="1"/>
          </p:cNvSpPr>
          <p:nvPr>
            <p:ph type="body"/>
          </p:nvPr>
        </p:nvSpPr>
        <p:spPr>
          <a:xfrm>
            <a:off x="685800" y="4343400"/>
            <a:ext cx="5486400" cy="4114800"/>
          </a:xfrm>
          <a:ln/>
        </p:spPr>
        <p:txBody>
          <a:bodyPr anchor="t"/>
          <a:lstStyle/>
          <a:p>
            <a:pPr lvl="0" indent="0"/>
            <a:endParaRPr lang="zh-CN" altLang="en-US" dirty="0"/>
          </a:p>
        </p:txBody>
      </p:sp>
      <p:sp>
        <p:nvSpPr>
          <p:cNvPr id="18435"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10</a:t>
            </a:fld>
            <a:endParaRPr lang="zh-CN" altLang="en-US" sz="1200" dirty="0">
              <a:latin typeface="Tahoma" panose="020B060403050404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幻灯片图像占位符 280577"/>
          <p:cNvSpPr>
            <a:spLocks noGrp="1" noRot="1" noChangeAspect="1" noTextEdit="1"/>
          </p:cNvSpPr>
          <p:nvPr>
            <p:ph type="sldImg"/>
          </p:nvPr>
        </p:nvSpPr>
        <p:spPr>
          <a:ln/>
        </p:spPr>
      </p:sp>
      <p:sp>
        <p:nvSpPr>
          <p:cNvPr id="20482" name="文本占位符 280578"/>
          <p:cNvSpPr>
            <a:spLocks noGrp="1"/>
          </p:cNvSpPr>
          <p:nvPr>
            <p:ph type="body"/>
          </p:nvPr>
        </p:nvSpPr>
        <p:spPr>
          <a:xfrm>
            <a:off x="685800" y="4343400"/>
            <a:ext cx="5486400" cy="4114800"/>
          </a:xfrm>
          <a:ln/>
        </p:spPr>
        <p:txBody>
          <a:bodyPr anchor="t"/>
          <a:lstStyle/>
          <a:p>
            <a:pPr lvl="0" indent="0"/>
            <a:endParaRPr lang="zh-CN" altLang="en-US" dirty="0"/>
          </a:p>
        </p:txBody>
      </p:sp>
      <p:sp>
        <p:nvSpPr>
          <p:cNvPr id="20483"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11</a:t>
            </a:fld>
            <a:endParaRPr lang="zh-CN" altLang="en-US" sz="1200" dirty="0">
              <a:latin typeface="Tahoma" panose="020B060403050404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282625"/>
          <p:cNvSpPr>
            <a:spLocks noGrp="1" noRot="1" noChangeAspect="1" noTextEdit="1"/>
          </p:cNvSpPr>
          <p:nvPr>
            <p:ph type="sldImg"/>
          </p:nvPr>
        </p:nvSpPr>
        <p:spPr>
          <a:ln/>
        </p:spPr>
      </p:sp>
      <p:sp>
        <p:nvSpPr>
          <p:cNvPr id="22530" name="文本占位符 282626"/>
          <p:cNvSpPr>
            <a:spLocks noGrp="1"/>
          </p:cNvSpPr>
          <p:nvPr>
            <p:ph type="body"/>
          </p:nvPr>
        </p:nvSpPr>
        <p:spPr>
          <a:xfrm>
            <a:off x="685800" y="4343400"/>
            <a:ext cx="5486400" cy="4114800"/>
          </a:xfrm>
          <a:ln/>
        </p:spPr>
        <p:txBody>
          <a:bodyPr anchor="t"/>
          <a:lstStyle/>
          <a:p>
            <a:pPr lvl="0" indent="0"/>
            <a:endParaRPr lang="zh-CN" altLang="en-US" dirty="0"/>
          </a:p>
        </p:txBody>
      </p:sp>
      <p:sp>
        <p:nvSpPr>
          <p:cNvPr id="22531"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12</a:t>
            </a:fld>
            <a:endParaRPr lang="zh-CN" altLang="en-US" sz="1200" dirty="0">
              <a:latin typeface="Tahoma" panose="020B060403050404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284673"/>
          <p:cNvSpPr>
            <a:spLocks noGrp="1" noRot="1" noChangeAspect="1" noTextEdit="1"/>
          </p:cNvSpPr>
          <p:nvPr>
            <p:ph type="sldImg"/>
          </p:nvPr>
        </p:nvSpPr>
        <p:spPr>
          <a:ln/>
        </p:spPr>
      </p:sp>
      <p:sp>
        <p:nvSpPr>
          <p:cNvPr id="24578" name="文本占位符 284674"/>
          <p:cNvSpPr>
            <a:spLocks noGrp="1"/>
          </p:cNvSpPr>
          <p:nvPr>
            <p:ph type="body"/>
          </p:nvPr>
        </p:nvSpPr>
        <p:spPr>
          <a:xfrm>
            <a:off x="685800" y="4343400"/>
            <a:ext cx="5486400" cy="4114800"/>
          </a:xfrm>
          <a:ln/>
        </p:spPr>
        <p:txBody>
          <a:bodyPr anchor="t"/>
          <a:lstStyle/>
          <a:p>
            <a:pPr lvl="0" indent="0"/>
            <a:endParaRPr lang="zh-CN" altLang="en-US" dirty="0"/>
          </a:p>
        </p:txBody>
      </p:sp>
      <p:sp>
        <p:nvSpPr>
          <p:cNvPr id="24579"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13</a:t>
            </a:fld>
            <a:endParaRPr lang="zh-CN" altLang="en-US" sz="1200" dirty="0">
              <a:latin typeface="Tahoma" panose="020B060403050404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幻灯片图像占位符 286721"/>
          <p:cNvSpPr>
            <a:spLocks noGrp="1" noRot="1" noChangeAspect="1" noTextEdit="1"/>
          </p:cNvSpPr>
          <p:nvPr>
            <p:ph type="sldImg"/>
          </p:nvPr>
        </p:nvSpPr>
        <p:spPr>
          <a:ln/>
        </p:spPr>
      </p:sp>
      <p:sp>
        <p:nvSpPr>
          <p:cNvPr id="26626" name="文本占位符 286722"/>
          <p:cNvSpPr>
            <a:spLocks noGrp="1"/>
          </p:cNvSpPr>
          <p:nvPr>
            <p:ph type="body"/>
          </p:nvPr>
        </p:nvSpPr>
        <p:spPr>
          <a:xfrm>
            <a:off x="685800" y="4343400"/>
            <a:ext cx="5486400" cy="4114800"/>
          </a:xfrm>
          <a:ln/>
        </p:spPr>
        <p:txBody>
          <a:bodyPr anchor="t"/>
          <a:lstStyle/>
          <a:p>
            <a:pPr lvl="0" indent="0"/>
            <a:endParaRPr lang="zh-CN" altLang="en-US" dirty="0"/>
          </a:p>
        </p:txBody>
      </p:sp>
      <p:sp>
        <p:nvSpPr>
          <p:cNvPr id="26627"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14</a:t>
            </a:fld>
            <a:endParaRPr lang="zh-CN" altLang="en-US" sz="1200" dirty="0">
              <a:latin typeface="Tahoma" panose="020B060403050404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288769"/>
          <p:cNvSpPr>
            <a:spLocks noGrp="1" noRot="1" noChangeAspect="1" noTextEdit="1"/>
          </p:cNvSpPr>
          <p:nvPr>
            <p:ph type="sldImg"/>
          </p:nvPr>
        </p:nvSpPr>
        <p:spPr>
          <a:ln/>
        </p:spPr>
      </p:sp>
      <p:sp>
        <p:nvSpPr>
          <p:cNvPr id="28674" name="文本占位符 288770"/>
          <p:cNvSpPr>
            <a:spLocks noGrp="1"/>
          </p:cNvSpPr>
          <p:nvPr>
            <p:ph type="body"/>
          </p:nvPr>
        </p:nvSpPr>
        <p:spPr>
          <a:xfrm>
            <a:off x="685800" y="4343400"/>
            <a:ext cx="5486400" cy="4114800"/>
          </a:xfrm>
          <a:ln/>
        </p:spPr>
        <p:txBody>
          <a:bodyPr anchor="t"/>
          <a:lstStyle/>
          <a:p>
            <a:pPr lvl="0" indent="0"/>
            <a:endParaRPr lang="zh-CN" altLang="en-US" dirty="0"/>
          </a:p>
        </p:txBody>
      </p:sp>
      <p:sp>
        <p:nvSpPr>
          <p:cNvPr id="28675"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15</a:t>
            </a:fld>
            <a:endParaRPr lang="zh-CN" altLang="en-US" sz="1200" dirty="0">
              <a:latin typeface="Tahoma" panose="020B060403050404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290817"/>
          <p:cNvSpPr>
            <a:spLocks noGrp="1" noRot="1" noChangeAspect="1" noTextEdit="1"/>
          </p:cNvSpPr>
          <p:nvPr>
            <p:ph type="sldImg"/>
          </p:nvPr>
        </p:nvSpPr>
        <p:spPr>
          <a:ln/>
        </p:spPr>
      </p:sp>
      <p:sp>
        <p:nvSpPr>
          <p:cNvPr id="30722" name="文本占位符 290818"/>
          <p:cNvSpPr>
            <a:spLocks noGrp="1"/>
          </p:cNvSpPr>
          <p:nvPr>
            <p:ph type="body"/>
          </p:nvPr>
        </p:nvSpPr>
        <p:spPr>
          <a:xfrm>
            <a:off x="685800" y="4343400"/>
            <a:ext cx="5486400" cy="4114800"/>
          </a:xfrm>
          <a:ln/>
        </p:spPr>
        <p:txBody>
          <a:bodyPr anchor="t"/>
          <a:lstStyle/>
          <a:p>
            <a:pPr lvl="0" indent="0"/>
            <a:endParaRPr lang="zh-CN" altLang="en-US" dirty="0"/>
          </a:p>
        </p:txBody>
      </p:sp>
      <p:sp>
        <p:nvSpPr>
          <p:cNvPr id="30723"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16</a:t>
            </a:fld>
            <a:endParaRPr lang="zh-CN" altLang="en-US" sz="1200" dirty="0">
              <a:latin typeface="Tahoma" panose="020B060403050404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294913"/>
          <p:cNvSpPr>
            <a:spLocks noGrp="1" noRot="1" noChangeAspect="1" noTextEdit="1"/>
          </p:cNvSpPr>
          <p:nvPr>
            <p:ph type="sldImg"/>
          </p:nvPr>
        </p:nvSpPr>
        <p:spPr>
          <a:ln/>
        </p:spPr>
      </p:sp>
      <p:sp>
        <p:nvSpPr>
          <p:cNvPr id="32770" name="文本占位符 294914"/>
          <p:cNvSpPr>
            <a:spLocks noGrp="1"/>
          </p:cNvSpPr>
          <p:nvPr>
            <p:ph type="body"/>
          </p:nvPr>
        </p:nvSpPr>
        <p:spPr>
          <a:xfrm>
            <a:off x="685800" y="4343400"/>
            <a:ext cx="5486400" cy="4114800"/>
          </a:xfrm>
          <a:ln/>
        </p:spPr>
        <p:txBody>
          <a:bodyPr anchor="t"/>
          <a:lstStyle/>
          <a:p>
            <a:pPr lvl="0" indent="0"/>
            <a:endParaRPr lang="zh-CN" altLang="en-US" dirty="0"/>
          </a:p>
        </p:txBody>
      </p:sp>
      <p:sp>
        <p:nvSpPr>
          <p:cNvPr id="32771"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17</a:t>
            </a:fld>
            <a:endParaRPr lang="zh-CN" altLang="en-US" sz="1200" dirty="0">
              <a:latin typeface="Tahoma" panose="020B060403050404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幻灯片图像占位符 296961"/>
          <p:cNvSpPr>
            <a:spLocks noGrp="1" noRot="1" noChangeAspect="1" noTextEdit="1"/>
          </p:cNvSpPr>
          <p:nvPr>
            <p:ph type="sldImg"/>
          </p:nvPr>
        </p:nvSpPr>
        <p:spPr>
          <a:ln/>
        </p:spPr>
      </p:sp>
      <p:sp>
        <p:nvSpPr>
          <p:cNvPr id="34818" name="文本占位符 296962"/>
          <p:cNvSpPr>
            <a:spLocks noGrp="1"/>
          </p:cNvSpPr>
          <p:nvPr>
            <p:ph type="body"/>
          </p:nvPr>
        </p:nvSpPr>
        <p:spPr>
          <a:xfrm>
            <a:off x="685800" y="4343400"/>
            <a:ext cx="5486400" cy="4114800"/>
          </a:xfrm>
          <a:ln/>
        </p:spPr>
        <p:txBody>
          <a:bodyPr anchor="t"/>
          <a:lstStyle/>
          <a:p>
            <a:pPr lvl="0" indent="0"/>
            <a:endParaRPr lang="zh-CN" altLang="en-US" dirty="0"/>
          </a:p>
        </p:txBody>
      </p:sp>
      <p:sp>
        <p:nvSpPr>
          <p:cNvPr id="34819"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18</a:t>
            </a:fld>
            <a:endParaRPr lang="zh-CN" altLang="en-US" sz="1200" dirty="0">
              <a:latin typeface="Tahoma" panose="020B060403050404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299009"/>
          <p:cNvSpPr>
            <a:spLocks noGrp="1" noRot="1" noChangeAspect="1" noTextEdit="1"/>
          </p:cNvSpPr>
          <p:nvPr>
            <p:ph type="sldImg"/>
          </p:nvPr>
        </p:nvSpPr>
        <p:spPr>
          <a:ln/>
        </p:spPr>
      </p:sp>
      <p:sp>
        <p:nvSpPr>
          <p:cNvPr id="36866" name="文本占位符 299010"/>
          <p:cNvSpPr>
            <a:spLocks noGrp="1"/>
          </p:cNvSpPr>
          <p:nvPr>
            <p:ph type="body"/>
          </p:nvPr>
        </p:nvSpPr>
        <p:spPr>
          <a:xfrm>
            <a:off x="685800" y="4343400"/>
            <a:ext cx="5486400" cy="4114800"/>
          </a:xfrm>
          <a:ln/>
        </p:spPr>
        <p:txBody>
          <a:bodyPr anchor="t"/>
          <a:lstStyle/>
          <a:p>
            <a:pPr lvl="0" indent="0"/>
            <a:endParaRPr lang="zh-CN" altLang="en-US" dirty="0"/>
          </a:p>
        </p:txBody>
      </p:sp>
      <p:sp>
        <p:nvSpPr>
          <p:cNvPr id="36867"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19</a:t>
            </a:fld>
            <a:endParaRPr lang="zh-CN" altLang="en-US" sz="1200" dirty="0">
              <a:latin typeface="Tahoma" panose="020B060403050404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301057"/>
          <p:cNvSpPr>
            <a:spLocks noGrp="1" noRot="1" noChangeAspect="1" noTextEdit="1"/>
          </p:cNvSpPr>
          <p:nvPr>
            <p:ph type="sldImg"/>
          </p:nvPr>
        </p:nvSpPr>
        <p:spPr>
          <a:ln/>
        </p:spPr>
      </p:sp>
      <p:sp>
        <p:nvSpPr>
          <p:cNvPr id="38914" name="文本占位符 301058"/>
          <p:cNvSpPr>
            <a:spLocks noGrp="1"/>
          </p:cNvSpPr>
          <p:nvPr>
            <p:ph type="body"/>
          </p:nvPr>
        </p:nvSpPr>
        <p:spPr>
          <a:xfrm>
            <a:off x="685800" y="4343400"/>
            <a:ext cx="5486400" cy="4114800"/>
          </a:xfrm>
          <a:ln/>
        </p:spPr>
        <p:txBody>
          <a:bodyPr anchor="t"/>
          <a:lstStyle/>
          <a:p>
            <a:pPr lvl="0" indent="0"/>
            <a:endParaRPr lang="zh-CN" altLang="en-US" dirty="0"/>
          </a:p>
        </p:txBody>
      </p:sp>
      <p:sp>
        <p:nvSpPr>
          <p:cNvPr id="38915"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20</a:t>
            </a:fld>
            <a:endParaRPr lang="zh-CN" altLang="en-US" sz="1200" dirty="0">
              <a:latin typeface="Tahoma" panose="020B060403050404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303105"/>
          <p:cNvSpPr>
            <a:spLocks noGrp="1" noRot="1" noChangeAspect="1" noTextEdit="1"/>
          </p:cNvSpPr>
          <p:nvPr>
            <p:ph type="sldImg"/>
          </p:nvPr>
        </p:nvSpPr>
        <p:spPr>
          <a:ln/>
        </p:spPr>
      </p:sp>
      <p:sp>
        <p:nvSpPr>
          <p:cNvPr id="40962" name="文本占位符 303106"/>
          <p:cNvSpPr>
            <a:spLocks noGrp="1"/>
          </p:cNvSpPr>
          <p:nvPr>
            <p:ph type="body"/>
          </p:nvPr>
        </p:nvSpPr>
        <p:spPr>
          <a:xfrm>
            <a:off x="685800" y="4343400"/>
            <a:ext cx="5486400" cy="4114800"/>
          </a:xfrm>
          <a:ln/>
        </p:spPr>
        <p:txBody>
          <a:bodyPr anchor="t"/>
          <a:lstStyle/>
          <a:p>
            <a:pPr lvl="0" indent="0"/>
            <a:endParaRPr lang="zh-CN" altLang="en-US" dirty="0"/>
          </a:p>
        </p:txBody>
      </p:sp>
      <p:sp>
        <p:nvSpPr>
          <p:cNvPr id="40963"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21</a:t>
            </a:fld>
            <a:endParaRPr lang="zh-CN" altLang="en-US" sz="1200" dirty="0">
              <a:latin typeface="Tahoma" panose="020B060403050404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305153"/>
          <p:cNvSpPr>
            <a:spLocks noGrp="1" noRot="1" noChangeAspect="1" noTextEdit="1"/>
          </p:cNvSpPr>
          <p:nvPr>
            <p:ph type="sldImg"/>
          </p:nvPr>
        </p:nvSpPr>
        <p:spPr>
          <a:ln/>
        </p:spPr>
      </p:sp>
      <p:sp>
        <p:nvSpPr>
          <p:cNvPr id="43010" name="文本占位符 305154"/>
          <p:cNvSpPr>
            <a:spLocks noGrp="1"/>
          </p:cNvSpPr>
          <p:nvPr>
            <p:ph type="body"/>
          </p:nvPr>
        </p:nvSpPr>
        <p:spPr>
          <a:xfrm>
            <a:off x="685800" y="4343400"/>
            <a:ext cx="5486400" cy="4114800"/>
          </a:xfrm>
          <a:ln/>
        </p:spPr>
        <p:txBody>
          <a:bodyPr anchor="t"/>
          <a:lstStyle/>
          <a:p>
            <a:pPr lvl="0" indent="0"/>
            <a:endParaRPr lang="zh-CN" altLang="en-US" dirty="0"/>
          </a:p>
        </p:txBody>
      </p:sp>
      <p:sp>
        <p:nvSpPr>
          <p:cNvPr id="43011"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22</a:t>
            </a:fld>
            <a:endParaRPr lang="zh-CN" altLang="en-US" sz="1200" dirty="0">
              <a:latin typeface="Tahoma" panose="020B060403050404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307201"/>
          <p:cNvSpPr>
            <a:spLocks noGrp="1" noRot="1" noChangeAspect="1" noTextEdit="1"/>
          </p:cNvSpPr>
          <p:nvPr>
            <p:ph type="sldImg"/>
          </p:nvPr>
        </p:nvSpPr>
        <p:spPr>
          <a:ln/>
        </p:spPr>
      </p:sp>
      <p:sp>
        <p:nvSpPr>
          <p:cNvPr id="45058" name="文本占位符 307202"/>
          <p:cNvSpPr>
            <a:spLocks noGrp="1"/>
          </p:cNvSpPr>
          <p:nvPr>
            <p:ph type="body"/>
          </p:nvPr>
        </p:nvSpPr>
        <p:spPr>
          <a:xfrm>
            <a:off x="685800" y="4343400"/>
            <a:ext cx="5486400" cy="4114800"/>
          </a:xfrm>
          <a:ln/>
        </p:spPr>
        <p:txBody>
          <a:bodyPr anchor="t"/>
          <a:lstStyle/>
          <a:p>
            <a:pPr lvl="0" indent="0"/>
            <a:endParaRPr lang="zh-CN" altLang="en-US" dirty="0"/>
          </a:p>
        </p:txBody>
      </p:sp>
      <p:sp>
        <p:nvSpPr>
          <p:cNvPr id="45059"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23</a:t>
            </a:fld>
            <a:endParaRPr lang="zh-CN" altLang="en-US" sz="1200" dirty="0">
              <a:latin typeface="Tahoma" panose="020B060403050404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309249"/>
          <p:cNvSpPr>
            <a:spLocks noGrp="1" noRot="1" noChangeAspect="1" noTextEdit="1"/>
          </p:cNvSpPr>
          <p:nvPr>
            <p:ph type="sldImg"/>
          </p:nvPr>
        </p:nvSpPr>
        <p:spPr>
          <a:ln/>
        </p:spPr>
      </p:sp>
      <p:sp>
        <p:nvSpPr>
          <p:cNvPr id="47106" name="文本占位符 309250"/>
          <p:cNvSpPr>
            <a:spLocks noGrp="1"/>
          </p:cNvSpPr>
          <p:nvPr>
            <p:ph type="body"/>
          </p:nvPr>
        </p:nvSpPr>
        <p:spPr>
          <a:xfrm>
            <a:off x="685800" y="4343400"/>
            <a:ext cx="5486400" cy="4114800"/>
          </a:xfrm>
          <a:ln/>
        </p:spPr>
        <p:txBody>
          <a:bodyPr anchor="t"/>
          <a:lstStyle/>
          <a:p>
            <a:pPr lvl="0" indent="0"/>
            <a:endParaRPr lang="zh-CN" altLang="en-US" dirty="0"/>
          </a:p>
        </p:txBody>
      </p:sp>
      <p:sp>
        <p:nvSpPr>
          <p:cNvPr id="47107"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24</a:t>
            </a:fld>
            <a:endParaRPr lang="zh-CN" altLang="en-US" sz="1200" dirty="0">
              <a:latin typeface="Tahoma" panose="020B060403050404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313345"/>
          <p:cNvSpPr>
            <a:spLocks noGrp="1" noRot="1" noChangeAspect="1" noTextEdit="1"/>
          </p:cNvSpPr>
          <p:nvPr>
            <p:ph type="sldImg"/>
          </p:nvPr>
        </p:nvSpPr>
        <p:spPr>
          <a:ln/>
        </p:spPr>
      </p:sp>
      <p:sp>
        <p:nvSpPr>
          <p:cNvPr id="51202" name="文本占位符 313346"/>
          <p:cNvSpPr>
            <a:spLocks noGrp="1"/>
          </p:cNvSpPr>
          <p:nvPr>
            <p:ph type="body"/>
          </p:nvPr>
        </p:nvSpPr>
        <p:spPr>
          <a:xfrm>
            <a:off x="685800" y="4343400"/>
            <a:ext cx="5486400" cy="4114800"/>
          </a:xfrm>
          <a:ln/>
        </p:spPr>
        <p:txBody>
          <a:bodyPr anchor="t"/>
          <a:lstStyle/>
          <a:p>
            <a:pPr lvl="0" indent="0"/>
            <a:endParaRPr lang="zh-CN" altLang="en-US" dirty="0"/>
          </a:p>
        </p:txBody>
      </p:sp>
      <p:sp>
        <p:nvSpPr>
          <p:cNvPr id="51203" name="灯片编号占位符 1"/>
          <p:cNvSpPr>
            <a:spLocks noGrp="1"/>
          </p:cNvSpPr>
          <p:nvPr>
            <p:ph type="sldNum" sz="quarte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dirty="0">
                <a:latin typeface="Tahoma" panose="020B0604030504040204" pitchFamily="34" charset="0"/>
              </a:rPr>
              <a:t>25</a:t>
            </a:fld>
            <a:endParaRPr lang="zh-CN" altLang="en-US" sz="1200" dirty="0">
              <a:latin typeface="Tahoma" panose="020B060403050404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幻灯片图像占位符 319489"/>
          <p:cNvSpPr>
            <a:spLocks noGrp="1" noRot="1" noChangeAspect="1" noTextEdit="1"/>
          </p:cNvSpPr>
          <p:nvPr>
            <p:ph type="sldImg"/>
          </p:nvPr>
        </p:nvSpPr>
        <p:spPr/>
      </p:sp>
      <p:sp>
        <p:nvSpPr>
          <p:cNvPr id="319491" name="文本占位符 319490"/>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26</a:t>
            </a:fld>
            <a:endParaRPr lang="zh-CN" altLang="en-US" sz="1200" dirty="0">
              <a:latin typeface="Tahoma" panose="020B060403050404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幻灯片图像占位符 323585"/>
          <p:cNvSpPr>
            <a:spLocks noGrp="1" noRot="1" noChangeAspect="1" noTextEdit="1"/>
          </p:cNvSpPr>
          <p:nvPr>
            <p:ph type="sldImg"/>
          </p:nvPr>
        </p:nvSpPr>
        <p:spPr/>
      </p:sp>
      <p:sp>
        <p:nvSpPr>
          <p:cNvPr id="323587" name="文本占位符 323586"/>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28</a:t>
            </a:fld>
            <a:endParaRPr lang="zh-CN" altLang="en-US" sz="1200" dirty="0">
              <a:latin typeface="Tahoma" panose="020B060403050404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幻灯片图像占位符 325633"/>
          <p:cNvSpPr>
            <a:spLocks noGrp="1" noRot="1" noChangeAspect="1" noTextEdit="1"/>
          </p:cNvSpPr>
          <p:nvPr>
            <p:ph type="sldImg"/>
          </p:nvPr>
        </p:nvSpPr>
        <p:spPr/>
      </p:sp>
      <p:sp>
        <p:nvSpPr>
          <p:cNvPr id="325635" name="文本占位符 325634"/>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29</a:t>
            </a:fld>
            <a:endParaRPr lang="zh-CN" altLang="en-US" sz="1200" dirty="0">
              <a:latin typeface="Tahoma" panose="020B060403050404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幻灯片图像占位符 327681"/>
          <p:cNvSpPr>
            <a:spLocks noGrp="1" noRot="1" noChangeAspect="1" noTextEdit="1"/>
          </p:cNvSpPr>
          <p:nvPr>
            <p:ph type="sldImg"/>
          </p:nvPr>
        </p:nvSpPr>
        <p:spPr/>
      </p:sp>
      <p:sp>
        <p:nvSpPr>
          <p:cNvPr id="327683" name="文本占位符 327682"/>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30</a:t>
            </a:fld>
            <a:endParaRPr lang="zh-CN" altLang="en-US" sz="1200" dirty="0">
              <a:latin typeface="Tahoma" panose="020B060403050404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329729"/>
          <p:cNvSpPr>
            <a:spLocks noGrp="1" noRot="1" noChangeAspect="1" noTextEdit="1"/>
          </p:cNvSpPr>
          <p:nvPr>
            <p:ph type="sldImg"/>
          </p:nvPr>
        </p:nvSpPr>
        <p:spPr/>
      </p:sp>
      <p:sp>
        <p:nvSpPr>
          <p:cNvPr id="329731" name="文本占位符 329730"/>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31</a:t>
            </a:fld>
            <a:endParaRPr lang="zh-CN" altLang="en-US" sz="1200" dirty="0">
              <a:latin typeface="Tahoma" panose="020B060403050404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幻灯片图像占位符 331777"/>
          <p:cNvSpPr>
            <a:spLocks noGrp="1" noRot="1" noChangeAspect="1" noTextEdit="1"/>
          </p:cNvSpPr>
          <p:nvPr>
            <p:ph type="sldImg"/>
          </p:nvPr>
        </p:nvSpPr>
        <p:spPr/>
      </p:sp>
      <p:sp>
        <p:nvSpPr>
          <p:cNvPr id="331779" name="文本占位符 331778"/>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32</a:t>
            </a:fld>
            <a:endParaRPr lang="zh-CN" altLang="en-US" sz="1200" dirty="0">
              <a:latin typeface="Tahoma" panose="020B060403050404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幻灯片图像占位符 333825"/>
          <p:cNvSpPr>
            <a:spLocks noGrp="1" noRot="1" noChangeAspect="1" noTextEdit="1"/>
          </p:cNvSpPr>
          <p:nvPr>
            <p:ph type="sldImg"/>
          </p:nvPr>
        </p:nvSpPr>
        <p:spPr/>
      </p:sp>
      <p:sp>
        <p:nvSpPr>
          <p:cNvPr id="333827" name="文本占位符 333826"/>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33</a:t>
            </a:fld>
            <a:endParaRPr lang="zh-CN" altLang="en-US" sz="1200" dirty="0">
              <a:latin typeface="Tahoma" panose="020B060403050404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幻灯片图像占位符 335873"/>
          <p:cNvSpPr>
            <a:spLocks noGrp="1" noRot="1" noChangeAspect="1" noTextEdit="1"/>
          </p:cNvSpPr>
          <p:nvPr>
            <p:ph type="sldImg"/>
          </p:nvPr>
        </p:nvSpPr>
        <p:spPr/>
      </p:sp>
      <p:sp>
        <p:nvSpPr>
          <p:cNvPr id="335875" name="文本占位符 335874"/>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34</a:t>
            </a:fld>
            <a:endParaRPr lang="zh-CN" altLang="en-US" sz="1200" dirty="0">
              <a:latin typeface="Tahoma" panose="020B060403050404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幻灯片图像占位符 338945"/>
          <p:cNvSpPr>
            <a:spLocks noGrp="1" noRot="1" noChangeAspect="1" noTextEdit="1"/>
          </p:cNvSpPr>
          <p:nvPr>
            <p:ph type="sldImg"/>
          </p:nvPr>
        </p:nvSpPr>
        <p:spPr/>
      </p:sp>
      <p:sp>
        <p:nvSpPr>
          <p:cNvPr id="338947" name="文本占位符 338946"/>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35</a:t>
            </a:fld>
            <a:endParaRPr lang="zh-CN" altLang="en-US" sz="1200" dirty="0">
              <a:latin typeface="Tahoma" panose="020B060403050404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幻灯片图像占位符 340993"/>
          <p:cNvSpPr>
            <a:spLocks noGrp="1" noRot="1" noChangeAspect="1" noTextEdit="1"/>
          </p:cNvSpPr>
          <p:nvPr>
            <p:ph type="sldImg"/>
          </p:nvPr>
        </p:nvSpPr>
        <p:spPr/>
      </p:sp>
      <p:sp>
        <p:nvSpPr>
          <p:cNvPr id="340995" name="文本占位符 340994"/>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36</a:t>
            </a:fld>
            <a:endParaRPr lang="zh-CN" altLang="en-US" sz="1200" dirty="0">
              <a:latin typeface="Tahoma" panose="020B060403050404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幻灯片图像占位符 343041"/>
          <p:cNvSpPr>
            <a:spLocks noGrp="1" noRot="1" noChangeAspect="1" noTextEdit="1"/>
          </p:cNvSpPr>
          <p:nvPr>
            <p:ph type="sldImg"/>
          </p:nvPr>
        </p:nvSpPr>
        <p:spPr/>
      </p:sp>
      <p:sp>
        <p:nvSpPr>
          <p:cNvPr id="343043" name="文本占位符 343042"/>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37</a:t>
            </a:fld>
            <a:endParaRPr lang="zh-CN" altLang="en-US" sz="1200" dirty="0">
              <a:latin typeface="Tahoma" panose="020B060403050404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幻灯片图像占位符 349185"/>
          <p:cNvSpPr>
            <a:spLocks noGrp="1" noRot="1" noChangeAspect="1" noTextEdit="1"/>
          </p:cNvSpPr>
          <p:nvPr>
            <p:ph type="sldImg"/>
          </p:nvPr>
        </p:nvSpPr>
        <p:spPr/>
      </p:sp>
      <p:sp>
        <p:nvSpPr>
          <p:cNvPr id="349187" name="文本占位符 349186"/>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38</a:t>
            </a:fld>
            <a:endParaRPr lang="zh-CN" altLang="en-US" sz="1200" dirty="0">
              <a:latin typeface="Tahoma" panose="020B060403050404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幻灯片图像占位符 351233"/>
          <p:cNvSpPr>
            <a:spLocks noGrp="1" noRot="1" noChangeAspect="1" noTextEdit="1"/>
          </p:cNvSpPr>
          <p:nvPr>
            <p:ph type="sldImg"/>
          </p:nvPr>
        </p:nvSpPr>
        <p:spPr/>
      </p:sp>
      <p:sp>
        <p:nvSpPr>
          <p:cNvPr id="351235" name="文本占位符 351234"/>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39</a:t>
            </a:fld>
            <a:endParaRPr lang="zh-CN" altLang="en-US" sz="1200" dirty="0">
              <a:latin typeface="Tahoma" panose="020B060403050404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40</a:t>
            </a:fld>
            <a:endParaRPr lang="zh-CN" altLang="en-US" sz="1200" dirty="0">
              <a:latin typeface="Tahoma" panose="020B060403050404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幻灯片图像占位符 355329"/>
          <p:cNvSpPr>
            <a:spLocks noGrp="1" noRot="1" noChangeAspect="1" noTextEdit="1"/>
          </p:cNvSpPr>
          <p:nvPr>
            <p:ph type="sldImg"/>
          </p:nvPr>
        </p:nvSpPr>
        <p:spPr/>
      </p:sp>
      <p:sp>
        <p:nvSpPr>
          <p:cNvPr id="355331" name="文本占位符 355330"/>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41</a:t>
            </a:fld>
            <a:endParaRPr lang="zh-CN" altLang="en-US" sz="1200" dirty="0">
              <a:latin typeface="Tahoma" panose="020B060403050404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幻灯片图像占位符 357377"/>
          <p:cNvSpPr>
            <a:spLocks noGrp="1" noRot="1" noChangeAspect="1" noTextEdit="1"/>
          </p:cNvSpPr>
          <p:nvPr>
            <p:ph type="sldImg"/>
          </p:nvPr>
        </p:nvSpPr>
        <p:spPr/>
      </p:sp>
      <p:sp>
        <p:nvSpPr>
          <p:cNvPr id="357379" name="文本占位符 357378"/>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42</a:t>
            </a:fld>
            <a:endParaRPr lang="zh-CN" altLang="en-US" sz="1200" dirty="0">
              <a:latin typeface="Tahoma" panose="020B060403050404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幻灯片图像占位符 359425"/>
          <p:cNvSpPr>
            <a:spLocks noGrp="1" noRot="1" noChangeAspect="1" noTextEdit="1"/>
          </p:cNvSpPr>
          <p:nvPr>
            <p:ph type="sldImg"/>
          </p:nvPr>
        </p:nvSpPr>
        <p:spPr/>
      </p:sp>
      <p:sp>
        <p:nvSpPr>
          <p:cNvPr id="359427" name="文本占位符 359426"/>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43</a:t>
            </a:fld>
            <a:endParaRPr lang="zh-CN" altLang="en-US" sz="1200" dirty="0">
              <a:latin typeface="Tahoma" panose="020B060403050404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幻灯片图像占位符 361473"/>
          <p:cNvSpPr>
            <a:spLocks noGrp="1" noRot="1" noChangeAspect="1" noTextEdit="1"/>
          </p:cNvSpPr>
          <p:nvPr>
            <p:ph type="sldImg"/>
          </p:nvPr>
        </p:nvSpPr>
        <p:spPr/>
      </p:sp>
      <p:sp>
        <p:nvSpPr>
          <p:cNvPr id="361475" name="文本占位符 361474"/>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44</a:t>
            </a:fld>
            <a:endParaRPr lang="zh-CN" altLang="en-US" sz="1200" dirty="0">
              <a:latin typeface="Tahoma" panose="020B060403050404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幻灯片图像占位符 363521"/>
          <p:cNvSpPr>
            <a:spLocks noGrp="1" noRot="1" noChangeAspect="1" noTextEdit="1"/>
          </p:cNvSpPr>
          <p:nvPr>
            <p:ph type="sldImg"/>
          </p:nvPr>
        </p:nvSpPr>
        <p:spPr/>
      </p:sp>
      <p:sp>
        <p:nvSpPr>
          <p:cNvPr id="363523" name="文本占位符 363522"/>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45</a:t>
            </a:fld>
            <a:endParaRPr lang="zh-CN" altLang="en-US" sz="1200" dirty="0">
              <a:latin typeface="Tahoma" panose="020B060403050404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幻灯片图像占位符 365569"/>
          <p:cNvSpPr>
            <a:spLocks noGrp="1" noRot="1" noChangeAspect="1" noTextEdit="1"/>
          </p:cNvSpPr>
          <p:nvPr>
            <p:ph type="sldImg"/>
          </p:nvPr>
        </p:nvSpPr>
        <p:spPr/>
      </p:sp>
      <p:sp>
        <p:nvSpPr>
          <p:cNvPr id="365571" name="文本占位符 365570"/>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46</a:t>
            </a:fld>
            <a:endParaRPr lang="zh-CN" altLang="en-US" sz="1200" dirty="0">
              <a:latin typeface="Tahoma" panose="020B060403050404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幻灯片图像占位符 367617"/>
          <p:cNvSpPr>
            <a:spLocks noGrp="1" noRot="1" noChangeAspect="1" noTextEdit="1"/>
          </p:cNvSpPr>
          <p:nvPr>
            <p:ph type="sldImg"/>
          </p:nvPr>
        </p:nvSpPr>
        <p:spPr/>
      </p:sp>
      <p:sp>
        <p:nvSpPr>
          <p:cNvPr id="367619" name="文本占位符 367618"/>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47</a:t>
            </a:fld>
            <a:endParaRPr lang="zh-CN" altLang="en-US" sz="1200" dirty="0">
              <a:latin typeface="Tahoma" panose="020B060403050404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幻灯片图像占位符 369665"/>
          <p:cNvSpPr>
            <a:spLocks noGrp="1" noRot="1" noChangeAspect="1" noTextEdit="1"/>
          </p:cNvSpPr>
          <p:nvPr>
            <p:ph type="sldImg"/>
          </p:nvPr>
        </p:nvSpPr>
        <p:spPr/>
      </p:sp>
      <p:sp>
        <p:nvSpPr>
          <p:cNvPr id="369667" name="文本占位符 369666"/>
          <p:cNvSpPr>
            <a:spLocks noGrp="1"/>
          </p:cNvSpPr>
          <p:nvPr>
            <p:ph type="body" idx="1"/>
          </p:nvPr>
        </p:nvSpPr>
        <p:spPr>
          <a:xfrm>
            <a:off x="685800" y="4343400"/>
            <a:ext cx="5486400" cy="4114800"/>
          </a:xfrm>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48</a:t>
            </a:fld>
            <a:endParaRPr lang="zh-CN" altLang="en-US" sz="1200" dirty="0">
              <a:latin typeface="Tahoma" panose="020B060403050404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幻灯片图像占位符 371713"/>
          <p:cNvSpPr>
            <a:spLocks noGrp="1" noRot="1" noChangeAspect="1" noTextEdit="1"/>
          </p:cNvSpPr>
          <p:nvPr>
            <p:ph type="sldImg"/>
          </p:nvPr>
        </p:nvSpPr>
        <p:spPr/>
      </p:sp>
      <p:sp>
        <p:nvSpPr>
          <p:cNvPr id="371715" name="文本占位符 371714"/>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49</a:t>
            </a:fld>
            <a:endParaRPr lang="zh-CN" altLang="en-US" sz="1200" dirty="0">
              <a:latin typeface="Tahoma" panose="020B060403050404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幻灯片图像占位符 373761"/>
          <p:cNvSpPr>
            <a:spLocks noGrp="1" noRot="1" noChangeAspect="1" noTextEdit="1"/>
          </p:cNvSpPr>
          <p:nvPr>
            <p:ph type="sldImg"/>
          </p:nvPr>
        </p:nvSpPr>
        <p:spPr/>
      </p:sp>
      <p:sp>
        <p:nvSpPr>
          <p:cNvPr id="373763" name="文本占位符 373762"/>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50</a:t>
            </a:fld>
            <a:endParaRPr lang="zh-CN" altLang="en-US" sz="1200" dirty="0">
              <a:latin typeface="Tahoma" panose="020B060403050404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幻灯片图像占位符 375809"/>
          <p:cNvSpPr>
            <a:spLocks noGrp="1" noRot="1" noChangeAspect="1" noTextEdit="1"/>
          </p:cNvSpPr>
          <p:nvPr>
            <p:ph type="sldImg"/>
          </p:nvPr>
        </p:nvSpPr>
        <p:spPr/>
      </p:sp>
      <p:sp>
        <p:nvSpPr>
          <p:cNvPr id="375811" name="文本占位符 375810"/>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51</a:t>
            </a:fld>
            <a:endParaRPr lang="zh-CN" altLang="en-US" sz="1200" dirty="0">
              <a:latin typeface="Tahoma" panose="020B060403050404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幻灯片图像占位符 377857"/>
          <p:cNvSpPr>
            <a:spLocks noGrp="1" noRot="1" noChangeAspect="1" noTextEdit="1"/>
          </p:cNvSpPr>
          <p:nvPr>
            <p:ph type="sldImg"/>
          </p:nvPr>
        </p:nvSpPr>
        <p:spPr/>
      </p:sp>
      <p:sp>
        <p:nvSpPr>
          <p:cNvPr id="377859" name="文本占位符 377858"/>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52</a:t>
            </a:fld>
            <a:endParaRPr lang="zh-CN" altLang="en-US" sz="1200" dirty="0">
              <a:latin typeface="Tahoma" panose="020B060403050404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幻灯片图像占位符 379905"/>
          <p:cNvSpPr>
            <a:spLocks noGrp="1" noRot="1" noChangeAspect="1" noTextEdit="1"/>
          </p:cNvSpPr>
          <p:nvPr>
            <p:ph type="sldImg"/>
          </p:nvPr>
        </p:nvSpPr>
        <p:spPr/>
      </p:sp>
      <p:sp>
        <p:nvSpPr>
          <p:cNvPr id="379907" name="文本占位符 379906"/>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53</a:t>
            </a:fld>
            <a:endParaRPr lang="zh-CN" altLang="en-US" sz="1200" dirty="0">
              <a:latin typeface="Tahoma" panose="020B060403050404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幻灯片图像占位符 384001"/>
          <p:cNvSpPr>
            <a:spLocks noGrp="1" noRot="1" noChangeAspect="1" noTextEdit="1"/>
          </p:cNvSpPr>
          <p:nvPr>
            <p:ph type="sldImg"/>
          </p:nvPr>
        </p:nvSpPr>
        <p:spPr/>
      </p:sp>
      <p:sp>
        <p:nvSpPr>
          <p:cNvPr id="384003" name="文本占位符 384002"/>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54</a:t>
            </a:fld>
            <a:endParaRPr lang="zh-CN" altLang="en-US" sz="1200" dirty="0">
              <a:latin typeface="Tahoma" panose="020B060403050404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幻灯片图像占位符 386049"/>
          <p:cNvSpPr>
            <a:spLocks noGrp="1" noRot="1" noChangeAspect="1" noTextEdit="1"/>
          </p:cNvSpPr>
          <p:nvPr>
            <p:ph type="sldImg"/>
          </p:nvPr>
        </p:nvSpPr>
        <p:spPr/>
      </p:sp>
      <p:sp>
        <p:nvSpPr>
          <p:cNvPr id="386051" name="文本占位符 386050"/>
          <p:cNvSpPr>
            <a:spLocks noGrp="1"/>
          </p:cNvSpPr>
          <p:nvPr>
            <p:ph type="body" idx="1"/>
          </p:nvPr>
        </p:nvSpPr>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55</a:t>
            </a:fld>
            <a:endParaRPr lang="zh-CN" altLang="en-US" sz="1200" dirty="0">
              <a:latin typeface="Tahoma" panose="020B060403050404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329729"/>
          <p:cNvSpPr>
            <a:spLocks noGrp="1" noRot="1" noChangeAspect="1" noTextEdit="1"/>
          </p:cNvSpPr>
          <p:nvPr>
            <p:ph type="sldImg"/>
          </p:nvPr>
        </p:nvSpPr>
        <p:spPr>
          <a:ln/>
        </p:spPr>
      </p:sp>
      <p:sp>
        <p:nvSpPr>
          <p:cNvPr id="329731" name="文本占位符 329730"/>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56</a:t>
            </a:fld>
            <a:endParaRPr lang="zh-CN" altLang="en-US" sz="1200" dirty="0">
              <a:latin typeface="Tahoma" panose="020B060403050404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幻灯片图像占位符 388097"/>
          <p:cNvSpPr>
            <a:spLocks noGrp="1" noRot="1" noChangeAspect="1" noTextEdit="1"/>
          </p:cNvSpPr>
          <p:nvPr>
            <p:ph type="sldImg"/>
          </p:nvPr>
        </p:nvSpPr>
        <p:spPr>
          <a:ln/>
        </p:spPr>
      </p:sp>
      <p:sp>
        <p:nvSpPr>
          <p:cNvPr id="388099" name="文本占位符 388098"/>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57</a:t>
            </a:fld>
            <a:endParaRPr lang="zh-CN" altLang="en-US" sz="1200" dirty="0">
              <a:latin typeface="Tahoma" panose="020B060403050404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幻灯片图像占位符 390145"/>
          <p:cNvSpPr>
            <a:spLocks noGrp="1" noRot="1" noChangeAspect="1" noTextEdit="1"/>
          </p:cNvSpPr>
          <p:nvPr>
            <p:ph type="sldImg"/>
          </p:nvPr>
        </p:nvSpPr>
        <p:spPr>
          <a:ln/>
        </p:spPr>
      </p:sp>
      <p:sp>
        <p:nvSpPr>
          <p:cNvPr id="390147" name="文本占位符 390146"/>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58</a:t>
            </a:fld>
            <a:endParaRPr lang="zh-CN" altLang="en-US" sz="1200" dirty="0">
              <a:latin typeface="Tahoma" panose="020B060403050404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幻灯片图像占位符 392193"/>
          <p:cNvSpPr>
            <a:spLocks noGrp="1" noRot="1" noChangeAspect="1" noTextEdit="1"/>
          </p:cNvSpPr>
          <p:nvPr>
            <p:ph type="sldImg"/>
          </p:nvPr>
        </p:nvSpPr>
        <p:spPr>
          <a:ln/>
        </p:spPr>
      </p:sp>
      <p:sp>
        <p:nvSpPr>
          <p:cNvPr id="392195" name="文本占位符 392194"/>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59</a:t>
            </a:fld>
            <a:endParaRPr lang="zh-CN" altLang="en-US" sz="1200" dirty="0">
              <a:latin typeface="Tahoma" panose="020B060403050404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幻灯片图像占位符 394241"/>
          <p:cNvSpPr>
            <a:spLocks noGrp="1" noRot="1" noChangeAspect="1" noTextEdit="1"/>
          </p:cNvSpPr>
          <p:nvPr>
            <p:ph type="sldImg"/>
          </p:nvPr>
        </p:nvSpPr>
        <p:spPr>
          <a:ln/>
        </p:spPr>
      </p:sp>
      <p:sp>
        <p:nvSpPr>
          <p:cNvPr id="394243" name="文本占位符 394242"/>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60</a:t>
            </a:fld>
            <a:endParaRPr lang="zh-CN" altLang="en-US" sz="1200" dirty="0">
              <a:latin typeface="Tahoma" panose="020B060403050404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幻灯片图像占位符 399361"/>
          <p:cNvSpPr>
            <a:spLocks noGrp="1" noRot="1" noChangeAspect="1" noTextEdit="1"/>
          </p:cNvSpPr>
          <p:nvPr>
            <p:ph type="sldImg"/>
          </p:nvPr>
        </p:nvSpPr>
        <p:spPr>
          <a:ln/>
        </p:spPr>
      </p:sp>
      <p:sp>
        <p:nvSpPr>
          <p:cNvPr id="399363" name="文本占位符 399362"/>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62</a:t>
            </a:fld>
            <a:endParaRPr lang="zh-CN" altLang="en-US" sz="1200" dirty="0">
              <a:latin typeface="Tahoma" panose="020B060403050404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幻灯片图像占位符 401409"/>
          <p:cNvSpPr>
            <a:spLocks noGrp="1" noRot="1" noChangeAspect="1" noTextEdit="1"/>
          </p:cNvSpPr>
          <p:nvPr>
            <p:ph type="sldImg"/>
          </p:nvPr>
        </p:nvSpPr>
        <p:spPr>
          <a:ln/>
        </p:spPr>
      </p:sp>
      <p:sp>
        <p:nvSpPr>
          <p:cNvPr id="401411" name="文本占位符 401410"/>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63</a:t>
            </a:fld>
            <a:endParaRPr lang="zh-CN" altLang="en-US" sz="1200" dirty="0">
              <a:latin typeface="Tahoma" panose="020B060403050404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幻灯片图像占位符 407553"/>
          <p:cNvSpPr>
            <a:spLocks noGrp="1" noRot="1" noChangeAspect="1" noTextEdit="1"/>
          </p:cNvSpPr>
          <p:nvPr>
            <p:ph type="sldImg"/>
          </p:nvPr>
        </p:nvSpPr>
        <p:spPr>
          <a:ln/>
        </p:spPr>
      </p:sp>
      <p:sp>
        <p:nvSpPr>
          <p:cNvPr id="407555" name="文本占位符 407554"/>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64</a:t>
            </a:fld>
            <a:endParaRPr lang="zh-CN" altLang="en-US" sz="1200" dirty="0">
              <a:latin typeface="Tahoma" panose="020B060403050404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幻灯片图像占位符 409601"/>
          <p:cNvSpPr>
            <a:spLocks noGrp="1" noRot="1" noChangeAspect="1" noTextEdit="1"/>
          </p:cNvSpPr>
          <p:nvPr>
            <p:ph type="sldImg"/>
          </p:nvPr>
        </p:nvSpPr>
        <p:spPr>
          <a:ln/>
        </p:spPr>
      </p:sp>
      <p:sp>
        <p:nvSpPr>
          <p:cNvPr id="409603" name="文本占位符 409602"/>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65</a:t>
            </a:fld>
            <a:endParaRPr lang="zh-CN" altLang="en-US" sz="1200" dirty="0">
              <a:latin typeface="Tahoma" panose="020B060403050404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幻灯片图像占位符 411649"/>
          <p:cNvSpPr>
            <a:spLocks noGrp="1" noRot="1" noChangeAspect="1" noTextEdit="1"/>
          </p:cNvSpPr>
          <p:nvPr>
            <p:ph type="sldImg"/>
          </p:nvPr>
        </p:nvSpPr>
        <p:spPr>
          <a:ln/>
        </p:spPr>
      </p:sp>
      <p:sp>
        <p:nvSpPr>
          <p:cNvPr id="411651" name="文本占位符 411650"/>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66</a:t>
            </a:fld>
            <a:endParaRPr lang="zh-CN" altLang="en-US" sz="1200" dirty="0">
              <a:latin typeface="Tahoma" panose="020B060403050404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幻灯片图像占位符 413697"/>
          <p:cNvSpPr>
            <a:spLocks noGrp="1" noRot="1" noChangeAspect="1" noTextEdit="1"/>
          </p:cNvSpPr>
          <p:nvPr>
            <p:ph type="sldImg"/>
          </p:nvPr>
        </p:nvSpPr>
        <p:spPr>
          <a:ln/>
        </p:spPr>
      </p:sp>
      <p:sp>
        <p:nvSpPr>
          <p:cNvPr id="413699" name="文本占位符 413698"/>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67</a:t>
            </a:fld>
            <a:endParaRPr lang="zh-CN" altLang="en-US" sz="1200" dirty="0">
              <a:latin typeface="Tahoma" panose="020B060403050404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幻灯片图像占位符 415745"/>
          <p:cNvSpPr>
            <a:spLocks noGrp="1" noRot="1" noChangeAspect="1" noTextEdit="1"/>
          </p:cNvSpPr>
          <p:nvPr>
            <p:ph type="sldImg"/>
          </p:nvPr>
        </p:nvSpPr>
        <p:spPr>
          <a:ln/>
        </p:spPr>
      </p:sp>
      <p:sp>
        <p:nvSpPr>
          <p:cNvPr id="415747" name="文本占位符 415746"/>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68</a:t>
            </a:fld>
            <a:endParaRPr lang="zh-CN" altLang="en-US" sz="1200" dirty="0">
              <a:latin typeface="Tahoma" panose="020B060403050404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幻灯片图像占位符 417793"/>
          <p:cNvSpPr>
            <a:spLocks noGrp="1" noRot="1" noChangeAspect="1" noTextEdit="1"/>
          </p:cNvSpPr>
          <p:nvPr>
            <p:ph type="sldImg"/>
          </p:nvPr>
        </p:nvSpPr>
        <p:spPr>
          <a:ln/>
        </p:spPr>
      </p:sp>
      <p:sp>
        <p:nvSpPr>
          <p:cNvPr id="417795" name="文本占位符 417794"/>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69</a:t>
            </a:fld>
            <a:endParaRPr lang="zh-CN" altLang="en-US" sz="1200" dirty="0">
              <a:latin typeface="Tahoma" panose="020B060403050404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幻灯片图像占位符 419841"/>
          <p:cNvSpPr>
            <a:spLocks noGrp="1" noRot="1" noChangeAspect="1" noTextEdit="1"/>
          </p:cNvSpPr>
          <p:nvPr>
            <p:ph type="sldImg"/>
          </p:nvPr>
        </p:nvSpPr>
        <p:spPr>
          <a:ln/>
        </p:spPr>
      </p:sp>
      <p:sp>
        <p:nvSpPr>
          <p:cNvPr id="419843" name="文本占位符 419842"/>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70</a:t>
            </a:fld>
            <a:endParaRPr lang="zh-CN" altLang="en-US" sz="1200" dirty="0">
              <a:latin typeface="Tahoma" panose="020B060403050404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幻灯片图像占位符 423937"/>
          <p:cNvSpPr>
            <a:spLocks noGrp="1" noRot="1" noChangeAspect="1" noTextEdit="1"/>
          </p:cNvSpPr>
          <p:nvPr>
            <p:ph type="sldImg"/>
          </p:nvPr>
        </p:nvSpPr>
        <p:spPr>
          <a:ln/>
        </p:spPr>
      </p:sp>
      <p:sp>
        <p:nvSpPr>
          <p:cNvPr id="423939" name="文本占位符 423938"/>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71</a:t>
            </a:fld>
            <a:endParaRPr lang="zh-CN" altLang="en-US" sz="1200" dirty="0">
              <a:latin typeface="Tahoma" panose="020B060403050404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幻灯片图像占位符 425985"/>
          <p:cNvSpPr>
            <a:spLocks noGrp="1" noRot="1" noChangeAspect="1" noTextEdit="1"/>
          </p:cNvSpPr>
          <p:nvPr>
            <p:ph type="sldImg"/>
          </p:nvPr>
        </p:nvSpPr>
        <p:spPr>
          <a:ln/>
        </p:spPr>
      </p:sp>
      <p:sp>
        <p:nvSpPr>
          <p:cNvPr id="425987" name="文本占位符 425986"/>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72</a:t>
            </a:fld>
            <a:endParaRPr lang="zh-CN" altLang="en-US" sz="1200" dirty="0">
              <a:latin typeface="Tahoma" panose="020B060403050404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幻灯片图像占位符 428033"/>
          <p:cNvSpPr>
            <a:spLocks noGrp="1" noRot="1" noChangeAspect="1" noTextEdit="1"/>
          </p:cNvSpPr>
          <p:nvPr>
            <p:ph type="sldImg"/>
          </p:nvPr>
        </p:nvSpPr>
        <p:spPr>
          <a:ln/>
        </p:spPr>
      </p:sp>
      <p:sp>
        <p:nvSpPr>
          <p:cNvPr id="428035" name="文本占位符 428034"/>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73</a:t>
            </a:fld>
            <a:endParaRPr lang="zh-CN" altLang="en-US" sz="1200" dirty="0">
              <a:latin typeface="Tahoma" panose="020B060403050404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幻灯片图像占位符 430081"/>
          <p:cNvSpPr>
            <a:spLocks noGrp="1" noRot="1" noChangeAspect="1" noTextEdit="1"/>
          </p:cNvSpPr>
          <p:nvPr>
            <p:ph type="sldImg"/>
          </p:nvPr>
        </p:nvSpPr>
        <p:spPr>
          <a:ln/>
        </p:spPr>
      </p:sp>
      <p:sp>
        <p:nvSpPr>
          <p:cNvPr id="430083" name="文本占位符 430082"/>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74</a:t>
            </a:fld>
            <a:endParaRPr lang="zh-CN" altLang="en-US" sz="1200" dirty="0">
              <a:latin typeface="Tahoma" panose="020B060403050404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幻灯片图像占位符 432129"/>
          <p:cNvSpPr>
            <a:spLocks noGrp="1" noRot="1" noChangeAspect="1" noTextEdit="1"/>
          </p:cNvSpPr>
          <p:nvPr>
            <p:ph type="sldImg"/>
          </p:nvPr>
        </p:nvSpPr>
        <p:spPr>
          <a:ln/>
        </p:spPr>
      </p:sp>
      <p:sp>
        <p:nvSpPr>
          <p:cNvPr id="432131" name="文本占位符 432130"/>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75</a:t>
            </a:fld>
            <a:endParaRPr lang="zh-CN" altLang="en-US" sz="1200" dirty="0">
              <a:latin typeface="Tahoma" panose="020B060403050404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幻灯片图像占位符 434177"/>
          <p:cNvSpPr>
            <a:spLocks noGrp="1" noRot="1" noChangeAspect="1" noTextEdit="1"/>
          </p:cNvSpPr>
          <p:nvPr>
            <p:ph type="sldImg"/>
          </p:nvPr>
        </p:nvSpPr>
        <p:spPr>
          <a:ln/>
        </p:spPr>
      </p:sp>
      <p:sp>
        <p:nvSpPr>
          <p:cNvPr id="434179" name="文本占位符 434178"/>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76</a:t>
            </a:fld>
            <a:endParaRPr lang="zh-CN" altLang="en-US" sz="1200" dirty="0">
              <a:latin typeface="Tahoma" panose="020B060403050404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幻灯片图像占位符 438273"/>
          <p:cNvSpPr>
            <a:spLocks noGrp="1" noRot="1" noChangeAspect="1" noTextEdit="1"/>
          </p:cNvSpPr>
          <p:nvPr>
            <p:ph type="sldImg"/>
          </p:nvPr>
        </p:nvSpPr>
        <p:spPr>
          <a:ln/>
        </p:spPr>
      </p:sp>
      <p:sp>
        <p:nvSpPr>
          <p:cNvPr id="438275" name="文本占位符 438274"/>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77</a:t>
            </a:fld>
            <a:endParaRPr lang="zh-CN" altLang="en-US" sz="1200" dirty="0">
              <a:latin typeface="Tahoma" panose="020B060403050404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幻灯片图像占位符 440321"/>
          <p:cNvSpPr>
            <a:spLocks noGrp="1" noRot="1" noChangeAspect="1" noTextEdit="1"/>
          </p:cNvSpPr>
          <p:nvPr>
            <p:ph type="sldImg"/>
          </p:nvPr>
        </p:nvSpPr>
        <p:spPr>
          <a:ln/>
        </p:spPr>
      </p:sp>
      <p:sp>
        <p:nvSpPr>
          <p:cNvPr id="440323" name="文本占位符 440322"/>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78</a:t>
            </a:fld>
            <a:endParaRPr lang="zh-CN" altLang="en-US" sz="1200" dirty="0">
              <a:latin typeface="Tahoma" panose="020B060403050404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幻灯片图像占位符 442369"/>
          <p:cNvSpPr>
            <a:spLocks noGrp="1" noRot="1" noChangeAspect="1" noTextEdit="1"/>
          </p:cNvSpPr>
          <p:nvPr>
            <p:ph type="sldImg"/>
          </p:nvPr>
        </p:nvSpPr>
        <p:spPr>
          <a:ln/>
        </p:spPr>
      </p:sp>
      <p:sp>
        <p:nvSpPr>
          <p:cNvPr id="442371" name="文本占位符 442370"/>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79</a:t>
            </a:fld>
            <a:endParaRPr lang="zh-CN" altLang="en-US" sz="1200" dirty="0">
              <a:latin typeface="Tahoma" panose="020B060403050404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幻灯片图像占位符 446465"/>
          <p:cNvSpPr>
            <a:spLocks noGrp="1" noRot="1" noChangeAspect="1" noTextEdit="1"/>
          </p:cNvSpPr>
          <p:nvPr>
            <p:ph type="sldImg"/>
          </p:nvPr>
        </p:nvSpPr>
        <p:spPr>
          <a:ln/>
        </p:spPr>
      </p:sp>
      <p:sp>
        <p:nvSpPr>
          <p:cNvPr id="446467" name="文本占位符 446466"/>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80</a:t>
            </a:fld>
            <a:endParaRPr lang="zh-CN" altLang="en-US" sz="1200" dirty="0">
              <a:latin typeface="Tahoma" panose="020B060403050404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幻灯片图像占位符 448513"/>
          <p:cNvSpPr>
            <a:spLocks noGrp="1" noRot="1" noChangeAspect="1" noTextEdit="1"/>
          </p:cNvSpPr>
          <p:nvPr>
            <p:ph type="sldImg"/>
          </p:nvPr>
        </p:nvSpPr>
        <p:spPr>
          <a:ln/>
        </p:spPr>
      </p:sp>
      <p:sp>
        <p:nvSpPr>
          <p:cNvPr id="448515" name="文本占位符 448514"/>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81</a:t>
            </a:fld>
            <a:endParaRPr lang="zh-CN" altLang="en-US" sz="1200" dirty="0">
              <a:latin typeface="Tahoma" panose="020B060403050404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329729"/>
          <p:cNvSpPr>
            <a:spLocks noGrp="1" noRot="1" noChangeAspect="1" noTextEdit="1"/>
          </p:cNvSpPr>
          <p:nvPr>
            <p:ph type="sldImg"/>
          </p:nvPr>
        </p:nvSpPr>
        <p:spPr>
          <a:ln/>
        </p:spPr>
      </p:sp>
      <p:sp>
        <p:nvSpPr>
          <p:cNvPr id="329731" name="文本占位符 329730"/>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82</a:t>
            </a:fld>
            <a:endParaRPr lang="zh-CN" altLang="en-US" sz="1200" dirty="0">
              <a:latin typeface="Tahoma" panose="020B060403050404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幻灯片图像占位符 467969"/>
          <p:cNvSpPr>
            <a:spLocks noGrp="1" noRot="1" noChangeAspect="1" noTextEdit="1"/>
          </p:cNvSpPr>
          <p:nvPr>
            <p:ph type="sldImg"/>
          </p:nvPr>
        </p:nvSpPr>
        <p:spPr>
          <a:ln/>
        </p:spPr>
      </p:sp>
      <p:sp>
        <p:nvSpPr>
          <p:cNvPr id="467971" name="文本占位符 467970"/>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99</a:t>
            </a:fld>
            <a:endParaRPr lang="zh-CN" altLang="en-US" sz="1200" dirty="0">
              <a:latin typeface="Tahoma" panose="020B060403050404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329729"/>
          <p:cNvSpPr>
            <a:spLocks noGrp="1" noRot="1" noChangeAspect="1" noTextEdit="1"/>
          </p:cNvSpPr>
          <p:nvPr>
            <p:ph type="sldImg"/>
          </p:nvPr>
        </p:nvSpPr>
        <p:spPr>
          <a:ln/>
        </p:spPr>
      </p:sp>
      <p:sp>
        <p:nvSpPr>
          <p:cNvPr id="329731" name="文本占位符 329730"/>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101</a:t>
            </a:fld>
            <a:endParaRPr lang="zh-CN" altLang="en-US" sz="1200" dirty="0">
              <a:latin typeface="Tahoma" panose="020B060403050404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幻灯片图像占位符 516097"/>
          <p:cNvSpPr>
            <a:spLocks noGrp="1" noRot="1" noChangeAspect="1" noTextEdit="1"/>
          </p:cNvSpPr>
          <p:nvPr>
            <p:ph type="sldImg"/>
          </p:nvPr>
        </p:nvSpPr>
        <p:spPr>
          <a:ln/>
        </p:spPr>
      </p:sp>
      <p:sp>
        <p:nvSpPr>
          <p:cNvPr id="516099" name="文本占位符 516098"/>
          <p:cNvSpPr>
            <a:spLocks noGrp="1"/>
          </p:cNvSpPr>
          <p:nvPr>
            <p:ph type="body" idx="1"/>
          </p:nvPr>
        </p:nvSpPr>
        <p:spPr>
          <a:ln/>
        </p:spPr>
        <p:txBody>
          <a:bodyPr/>
          <a:lstStyle/>
          <a:p>
            <a:pPr lvl="0"/>
            <a:endParaRPr lang="zh-CN" altLang="en-US" dirty="0"/>
          </a:p>
        </p:txBody>
      </p:sp>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latin typeface="Tahoma" panose="020B0604030504040204" pitchFamily="34" charset="0"/>
              </a:rPr>
              <a:t>129</a:t>
            </a:fld>
            <a:endParaRPr lang="zh-CN" altLang="en-US" sz="1200" dirty="0">
              <a:latin typeface="Tahoma" panose="020B060403050404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22884" name="页眉占位符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2885" name="日期占位符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F03D2A7B-CF19-4758-BA69-AE634F6A5EF8}" type="datetime4">
              <a:rPr lang="en-US" altLang="zh-CN" smtClean="0">
                <a:latin typeface="Times New Roman" panose="02020603050405020304" pitchFamily="18" charset="0"/>
              </a:rPr>
              <a:pPr/>
              <a:t>March 2, 2025</a:t>
            </a:fld>
            <a:endParaRPr lang="en-US" altLang="zh-CN">
              <a:latin typeface="Times New Roman" panose="02020603050405020304" pitchFamily="18" charset="0"/>
            </a:endParaRPr>
          </a:p>
        </p:txBody>
      </p:sp>
      <p:sp>
        <p:nvSpPr>
          <p:cNvPr id="122886" name="页脚占位符 5"/>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2887" name="灯片编号占位符 6"/>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50FD450C-2E9C-4946-B8F5-F4A237137A6A}" type="slidenum">
              <a:rPr lang="en-US" altLang="en-US" smtClean="0">
                <a:latin typeface="Times New Roman" panose="02020603050405020304" pitchFamily="18" charset="0"/>
              </a:rPr>
              <a:pPr/>
              <a:t>131</a:t>
            </a:fld>
            <a:endParaRPr lang="en-US" altLang="en-US">
              <a:latin typeface="Times New Roman" panose="02020603050405020304" pitchFamily="18" charset="0"/>
            </a:endParaRPr>
          </a:p>
        </p:txBody>
      </p:sp>
    </p:spTree>
    <p:extLst>
      <p:ext uri="{BB962C8B-B14F-4D97-AF65-F5344CB8AC3E}">
        <p14:creationId xmlns:p14="http://schemas.microsoft.com/office/powerpoint/2010/main" val="2026235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buClr>
                <a:srgbClr val="000000"/>
              </a:buClr>
            </a:pPr>
            <a:endParaRPr lang="zh-CN" altLang="en-US" strike="noStrike" noProof="1"/>
          </a:p>
        </p:txBody>
      </p:sp>
      <p:sp>
        <p:nvSpPr>
          <p:cNvPr id="6" name="页脚占位符 5"/>
          <p:cNvSpPr>
            <a:spLocks noGrp="1"/>
          </p:cNvSpPr>
          <p:nvPr>
            <p:ph type="ftr" sz="quarter" idx="11"/>
          </p:nvPr>
        </p:nvSpPr>
        <p:spPr/>
        <p:txBody>
          <a:bodyPr/>
          <a:lstStyle/>
          <a:p>
            <a:pPr lvl="0" fontAlgn="base">
              <a:buClr>
                <a:srgbClr val="000000"/>
              </a:buClr>
            </a:pPr>
            <a:endParaRPr lang="zh-CN" altLang="en-US" strike="noStrike" noProof="1"/>
          </a:p>
        </p:txBody>
      </p:sp>
      <p:sp>
        <p:nvSpPr>
          <p:cNvPr id="7" name="灯片编号占位符 6"/>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buClr>
                <a:srgbClr val="000000"/>
              </a:buClr>
            </a:pPr>
            <a:endParaRPr lang="zh-CN" altLang="en-US" strike="noStrike" noProof="1"/>
          </a:p>
        </p:txBody>
      </p:sp>
      <p:sp>
        <p:nvSpPr>
          <p:cNvPr id="8" name="页脚占位符 7"/>
          <p:cNvSpPr>
            <a:spLocks noGrp="1"/>
          </p:cNvSpPr>
          <p:nvPr>
            <p:ph type="ftr" sz="quarter" idx="11"/>
          </p:nvPr>
        </p:nvSpPr>
        <p:spPr/>
        <p:txBody>
          <a:bodyPr/>
          <a:lstStyle/>
          <a:p>
            <a:pPr lvl="0" fontAlgn="base">
              <a:buClr>
                <a:srgbClr val="000000"/>
              </a:buClr>
            </a:pPr>
            <a:endParaRPr lang="zh-CN" altLang="en-US" strike="noStrike" noProof="1"/>
          </a:p>
        </p:txBody>
      </p:sp>
      <p:sp>
        <p:nvSpPr>
          <p:cNvPr id="9" name="灯片编号占位符 8"/>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buClr>
                <a:srgbClr val="000000"/>
              </a:buClr>
            </a:pPr>
            <a:endParaRPr lang="zh-CN" altLang="en-US" strike="noStrike" noProof="1"/>
          </a:p>
        </p:txBody>
      </p:sp>
      <p:sp>
        <p:nvSpPr>
          <p:cNvPr id="4" name="页脚占位符 3"/>
          <p:cNvSpPr>
            <a:spLocks noGrp="1"/>
          </p:cNvSpPr>
          <p:nvPr>
            <p:ph type="ftr" sz="quarter" idx="11"/>
          </p:nvPr>
        </p:nvSpPr>
        <p:spPr/>
        <p:txBody>
          <a:bodyPr/>
          <a:lstStyle/>
          <a:p>
            <a:pPr lvl="0" fontAlgn="base">
              <a:buClr>
                <a:srgbClr val="000000"/>
              </a:buClr>
            </a:pPr>
            <a:endParaRPr lang="zh-CN" altLang="en-US" strike="noStrike" noProof="1"/>
          </a:p>
        </p:txBody>
      </p:sp>
      <p:sp>
        <p:nvSpPr>
          <p:cNvPr id="5" name="灯片编号占位符 4"/>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buClr>
                <a:srgbClr val="000000"/>
              </a:buClr>
            </a:pPr>
            <a:endParaRPr lang="zh-CN" altLang="en-US" strike="noStrike" noProof="1"/>
          </a:p>
        </p:txBody>
      </p:sp>
      <p:sp>
        <p:nvSpPr>
          <p:cNvPr id="3" name="页脚占位符 2"/>
          <p:cNvSpPr>
            <a:spLocks noGrp="1"/>
          </p:cNvSpPr>
          <p:nvPr>
            <p:ph type="ftr" sz="quarter" idx="11"/>
          </p:nvPr>
        </p:nvSpPr>
        <p:spPr/>
        <p:txBody>
          <a:bodyPr/>
          <a:lstStyle/>
          <a:p>
            <a:pPr lvl="0" fontAlgn="base">
              <a:buClr>
                <a:srgbClr val="000000"/>
              </a:buClr>
            </a:pPr>
            <a:endParaRPr lang="zh-CN" altLang="en-US" strike="noStrike" noProof="1"/>
          </a:p>
        </p:txBody>
      </p:sp>
      <p:sp>
        <p:nvSpPr>
          <p:cNvPr id="4" name="灯片编号占位符 3"/>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buClr>
                <a:srgbClr val="000000"/>
              </a:buClr>
            </a:pPr>
            <a:endParaRPr lang="zh-CN" altLang="en-US" strike="noStrike" noProof="1"/>
          </a:p>
        </p:txBody>
      </p:sp>
      <p:sp>
        <p:nvSpPr>
          <p:cNvPr id="6" name="页脚占位符 5"/>
          <p:cNvSpPr>
            <a:spLocks noGrp="1"/>
          </p:cNvSpPr>
          <p:nvPr>
            <p:ph type="ftr" sz="quarter" idx="11"/>
          </p:nvPr>
        </p:nvSpPr>
        <p:spPr/>
        <p:txBody>
          <a:bodyPr/>
          <a:lstStyle/>
          <a:p>
            <a:pPr lvl="0" fontAlgn="base">
              <a:buClr>
                <a:srgbClr val="000000"/>
              </a:buClr>
            </a:pPr>
            <a:endParaRPr lang="zh-CN" altLang="en-US" strike="noStrike" noProof="1"/>
          </a:p>
        </p:txBody>
      </p:sp>
      <p:sp>
        <p:nvSpPr>
          <p:cNvPr id="7" name="灯片编号占位符 6"/>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buClr>
                <a:srgbClr val="000000"/>
              </a:buClr>
            </a:pPr>
            <a:endParaRPr lang="zh-CN" altLang="en-US" strike="noStrike" noProof="1"/>
          </a:p>
        </p:txBody>
      </p:sp>
      <p:sp>
        <p:nvSpPr>
          <p:cNvPr id="6" name="页脚占位符 5"/>
          <p:cNvSpPr>
            <a:spLocks noGrp="1"/>
          </p:cNvSpPr>
          <p:nvPr>
            <p:ph type="ftr" sz="quarter" idx="11"/>
          </p:nvPr>
        </p:nvSpPr>
        <p:spPr/>
        <p:txBody>
          <a:bodyPr/>
          <a:lstStyle/>
          <a:p>
            <a:pPr lvl="0" fontAlgn="base">
              <a:buClr>
                <a:srgbClr val="000000"/>
              </a:buClr>
            </a:pPr>
            <a:endParaRPr lang="zh-CN" altLang="en-US" strike="noStrike" noProof="1"/>
          </a:p>
        </p:txBody>
      </p:sp>
      <p:sp>
        <p:nvSpPr>
          <p:cNvPr id="7" name="灯片编号占位符 6"/>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pPr lvl="0">
              <a:buClrTx/>
            </a:pPr>
            <a:endParaRPr lang="zh-CN" altLang="en-US" dirty="0"/>
          </a:p>
        </p:txBody>
      </p:sp>
      <p:sp>
        <p:nvSpPr>
          <p:cNvPr id="4" name="页脚占位符 3"/>
          <p:cNvSpPr>
            <a:spLocks noGrp="1"/>
          </p:cNvSpPr>
          <p:nvPr>
            <p:ph type="ftr" sz="quarter" idx="11"/>
          </p:nvPr>
        </p:nvSpPr>
        <p:spPr/>
        <p:txBody>
          <a:bodyPr/>
          <a:lstStyle/>
          <a:p>
            <a:pPr lvl="0">
              <a:buClrTx/>
            </a:pPr>
            <a:endParaRPr lang="zh-CN" altLang="en-US" dirty="0"/>
          </a:p>
        </p:txBody>
      </p:sp>
      <p:sp>
        <p:nvSpPr>
          <p:cNvPr id="5" name="灯片编号占位符 4"/>
          <p:cNvSpPr>
            <a:spLocks noGrp="1"/>
          </p:cNvSpPr>
          <p:nvPr>
            <p:ph type="sldNum" sz="quarter" idx="12"/>
          </p:nvPr>
        </p:nvSpPr>
        <p:spPr/>
        <p:txBody>
          <a:bodyPr/>
          <a:lstStyle/>
          <a:p>
            <a:pPr lvl="0">
              <a:buClrTx/>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2576149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210945"/>
          <p:cNvSpPr>
            <a:spLocks noGrp="1"/>
          </p:cNvSpPr>
          <p:nvPr>
            <p:ph type="title"/>
          </p:nvPr>
        </p:nvSpPr>
        <p:spPr>
          <a:xfrm>
            <a:off x="457200" y="274638"/>
            <a:ext cx="8229600" cy="1143000"/>
          </a:xfrm>
          <a:prstGeom prst="rect">
            <a:avLst/>
          </a:prstGeom>
          <a:noFill/>
          <a:ln w="9525">
            <a:noFill/>
          </a:ln>
        </p:spPr>
        <p:txBody>
          <a:bodyPr anchor="ctr"/>
          <a:lstStyle/>
          <a:p>
            <a:pPr lvl="0" indent="0"/>
            <a:r>
              <a:rPr lang="zh-CN" altLang="en-US" dirty="0"/>
              <a:t>单击此处编辑母版标题样式</a:t>
            </a:r>
          </a:p>
        </p:txBody>
      </p:sp>
      <p:sp>
        <p:nvSpPr>
          <p:cNvPr id="1027" name="文本占位符 210946"/>
          <p:cNvSpPr>
            <a:spLocks noGrp="1"/>
          </p:cNvSpPr>
          <p:nvPr>
            <p:ph type="body"/>
          </p:nvPr>
        </p:nvSpPr>
        <p:spPr>
          <a:xfrm>
            <a:off x="457200" y="1600200"/>
            <a:ext cx="8229600" cy="4525963"/>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210948" name="日期占位符 210947"/>
          <p:cNvSpPr>
            <a:spLocks noGrp="1"/>
          </p:cNvSpPr>
          <p:nvPr>
            <p:ph type="dt" sz="half" idx="2"/>
          </p:nvPr>
        </p:nvSpPr>
        <p:spPr>
          <a:xfrm>
            <a:off x="457200" y="6245225"/>
            <a:ext cx="2133600" cy="476250"/>
          </a:xfrm>
          <a:prstGeom prst="rect">
            <a:avLst/>
          </a:prstGeom>
          <a:noFill/>
          <a:ln w="9525">
            <a:noFill/>
          </a:ln>
        </p:spPr>
        <p:txBody>
          <a:bodyPr/>
          <a:lstStyle>
            <a:lvl1pPr>
              <a:defRPr sz="1400">
                <a:latin typeface="Arial" panose="020B0604020202020204" pitchFamily="34" charset="0"/>
              </a:defRPr>
            </a:lvl1pPr>
          </a:lstStyle>
          <a:p>
            <a:pPr lvl="0" fontAlgn="base">
              <a:buClr>
                <a:srgbClr val="000000"/>
              </a:buClr>
            </a:pPr>
            <a:endParaRPr lang="zh-CN" altLang="en-US" strike="noStrike" noProof="1"/>
          </a:p>
        </p:txBody>
      </p:sp>
      <p:sp>
        <p:nvSpPr>
          <p:cNvPr id="210949" name="页脚占位符 2109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atin typeface="Arial" panose="020B0604020202020204" pitchFamily="34" charset="0"/>
              </a:defRPr>
            </a:lvl1pPr>
          </a:lstStyle>
          <a:p>
            <a:pPr lvl="0" fontAlgn="base">
              <a:buClr>
                <a:srgbClr val="000000"/>
              </a:buClr>
            </a:pPr>
            <a:endParaRPr lang="zh-CN" altLang="en-US" strike="noStrike" noProof="1"/>
          </a:p>
        </p:txBody>
      </p:sp>
      <p:sp>
        <p:nvSpPr>
          <p:cNvPr id="210950" name="灯片编号占位符 2109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atin typeface="Arial" panose="020B0604020202020204" pitchFamily="34" charset="0"/>
              </a:defRPr>
            </a:lvl1pPr>
          </a:lstStyle>
          <a:p>
            <a:pPr lvl="0" fontAlgn="base">
              <a:buClr>
                <a:srgbClr val="000000"/>
              </a:buClr>
            </a:pPr>
            <a:fld id="{9A0DB2DC-4C9A-4742-B13C-FB6460FD3503}" type="slidenum">
              <a:rPr lang="zh-CN" altLang="en-US" strike="noStrike" noProof="1" dirty="0">
                <a:latin typeface="Arial" panose="020B0604020202020204" pitchFamily="34" charset="0"/>
                <a:ea typeface="宋体" panose="02010600030101010101" pitchFamily="2" charset="-122"/>
                <a:cs typeface="+mn-ea"/>
              </a:rPr>
              <a:t>‹#›</a:t>
            </a:fld>
            <a:endParaRPr lang="zh-CN" altLang="en-US" strike="noStrike" noProof="1"/>
          </a:p>
        </p:txBody>
      </p:sp>
      <p:sp>
        <p:nvSpPr>
          <p:cNvPr id="1031" name="直接连接符 210953"/>
          <p:cNvSpPr/>
          <p:nvPr userDrawn="1"/>
        </p:nvSpPr>
        <p:spPr>
          <a:xfrm>
            <a:off x="179388" y="765175"/>
            <a:ext cx="8763000" cy="0"/>
          </a:xfrm>
          <a:prstGeom prst="line">
            <a:avLst/>
          </a:prstGeom>
          <a:ln w="53975" cap="flat" cmpd="sng">
            <a:solidFill>
              <a:srgbClr val="CC99FF"/>
            </a:solidFill>
            <a:prstDash val="solid"/>
            <a:miter/>
            <a:headEnd type="none" w="med" len="med"/>
            <a:tailEnd type="none" w="med" len="med"/>
          </a:ln>
        </p:spPr>
      </p:sp>
      <p:pic>
        <p:nvPicPr>
          <p:cNvPr id="1033" name="图片 210957" descr="上一页">
            <a:hlinkClick r:id="" action="ppaction://hlinkshowjump?jump=previousslide"/>
          </p:cNvPr>
          <p:cNvPicPr>
            <a:picLocks noChangeAspect="1"/>
          </p:cNvPicPr>
          <p:nvPr userDrawn="1"/>
        </p:nvPicPr>
        <p:blipFill>
          <a:blip r:embed="rId14"/>
          <a:stretch>
            <a:fillRect/>
          </a:stretch>
        </p:blipFill>
        <p:spPr>
          <a:xfrm>
            <a:off x="5548313" y="6364288"/>
            <a:ext cx="1039812" cy="520700"/>
          </a:xfrm>
          <a:prstGeom prst="rect">
            <a:avLst/>
          </a:prstGeom>
          <a:noFill/>
          <a:ln w="9525">
            <a:noFill/>
          </a:ln>
        </p:spPr>
      </p:pic>
      <p:pic>
        <p:nvPicPr>
          <p:cNvPr id="1034" name="图片 210958" descr="退出">
            <a:hlinkClick r:id="" action="ppaction://hlinkshowjump?jump=endshow"/>
          </p:cNvPr>
          <p:cNvPicPr>
            <a:picLocks noChangeAspect="1"/>
          </p:cNvPicPr>
          <p:nvPr userDrawn="1"/>
        </p:nvPicPr>
        <p:blipFill>
          <a:blip r:embed="rId15"/>
          <a:stretch>
            <a:fillRect/>
          </a:stretch>
        </p:blipFill>
        <p:spPr>
          <a:xfrm>
            <a:off x="7740650" y="6364288"/>
            <a:ext cx="1039813" cy="520700"/>
          </a:xfrm>
          <a:prstGeom prst="rect">
            <a:avLst/>
          </a:prstGeom>
          <a:noFill/>
          <a:ln w="9525">
            <a:noFill/>
          </a:ln>
        </p:spPr>
      </p:pic>
      <p:pic>
        <p:nvPicPr>
          <p:cNvPr id="1035" name="图片 210959" descr="下一页">
            <a:hlinkClick r:id="" action="ppaction://hlinkshowjump?jump=nextslide"/>
          </p:cNvPr>
          <p:cNvPicPr>
            <a:picLocks noChangeAspect="1"/>
          </p:cNvPicPr>
          <p:nvPr userDrawn="1"/>
        </p:nvPicPr>
        <p:blipFill>
          <a:blip r:embed="rId16"/>
          <a:stretch>
            <a:fillRect/>
          </a:stretch>
        </p:blipFill>
        <p:spPr>
          <a:xfrm>
            <a:off x="6627813" y="6364288"/>
            <a:ext cx="1039812" cy="520700"/>
          </a:xfrm>
          <a:prstGeom prst="rect">
            <a:avLst/>
          </a:prstGeom>
          <a:noFill/>
          <a:ln w="9525">
            <a:noFill/>
          </a:ln>
        </p:spPr>
      </p:pic>
      <p:pic>
        <p:nvPicPr>
          <p:cNvPr id="12" name="Object 18"/>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0" y="71"/>
            <a:ext cx="827584" cy="765103"/>
          </a:xfrm>
          <a:prstGeom prst="rect">
            <a:avLst/>
          </a:prstGeom>
          <a:solidFill>
            <a:srgbClr val="458F8F"/>
          </a:solidFill>
          <a:ln w="9525" cmpd="sng">
            <a:solidFill>
              <a:srgbClr val="2B166E"/>
            </a:solidFill>
            <a:miter lim="800000"/>
            <a:headEnd/>
            <a:tailEnd/>
          </a:ln>
        </p:spPr>
      </p:pic>
      <p:pic>
        <p:nvPicPr>
          <p:cNvPr id="13" name="Object 19"/>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845690" y="72"/>
            <a:ext cx="773982" cy="765101"/>
          </a:xfrm>
          <a:prstGeom prst="rect">
            <a:avLst/>
          </a:prstGeom>
          <a:solidFill>
            <a:srgbClr val="458F8F"/>
          </a:solidFill>
          <a:ln w="9525" cmpd="sng">
            <a:solidFill>
              <a:srgbClr val="2B166E"/>
            </a:solid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21.GIF"/><Relationship Id="rId4" Type="http://schemas.openxmlformats.org/officeDocument/2006/relationships/image" Target="../media/image20.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9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0.jpeg"/><Relationship Id="rId4" Type="http://schemas.openxmlformats.org/officeDocument/2006/relationships/image" Target="../media/image19.jpeg"/></Relationships>
</file>

<file path=ppt/slides/_rels/slide10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slide" Target="slide110.xml"/><Relationship Id="rId2" Type="http://schemas.openxmlformats.org/officeDocument/2006/relationships/image" Target="../media/image21.GIF"/><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11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slide" Target="slide11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slide" Target="slide110.xml"/><Relationship Id="rId1" Type="http://schemas.openxmlformats.org/officeDocument/2006/relationships/slideLayout" Target="../slideLayouts/slideLayout2.xml"/><Relationship Id="rId4" Type="http://schemas.openxmlformats.org/officeDocument/2006/relationships/image" Target="../media/image25.GIF"/></Relationships>
</file>

<file path=ppt/slides/_rels/slide114.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slide" Target="slide126.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矩形 215043"/>
          <p:cNvSpPr/>
          <p:nvPr/>
        </p:nvSpPr>
        <p:spPr>
          <a:xfrm>
            <a:off x="971550" y="71438"/>
            <a:ext cx="7848600" cy="620712"/>
          </a:xfrm>
          <a:prstGeom prst="rect">
            <a:avLst/>
          </a:prstGeom>
          <a:noFill/>
          <a:ln w="9525">
            <a:noFill/>
          </a:ln>
        </p:spPr>
        <p:txBody>
          <a:bodyPr anchor="ctr"/>
          <a:lstStyle/>
          <a:p>
            <a:pPr lvl="0" indent="0" algn="ctr">
              <a:buClrTx/>
            </a:pPr>
            <a:r>
              <a:rPr lang="zh-CN" altLang="en-US" sz="4000" b="1" dirty="0">
                <a:latin typeface="Times New Roman" panose="02020603050405020304" pitchFamily="18" charset="0"/>
                <a:ea typeface="宋体" panose="02010600030101010101" pitchFamily="2" charset="-122"/>
              </a:rPr>
              <a:t>第</a:t>
            </a:r>
            <a:r>
              <a:rPr lang="en-US" altLang="zh-CN" sz="4000" b="1" dirty="0">
                <a:latin typeface="Arial" panose="020B0604020202020204" pitchFamily="34" charset="0"/>
                <a:ea typeface="宋体" panose="02010600030101010101" pitchFamily="2" charset="-122"/>
              </a:rPr>
              <a:t>3</a:t>
            </a:r>
            <a:r>
              <a:rPr lang="zh-CN" altLang="en-US" sz="4000" b="1" dirty="0">
                <a:latin typeface="Times New Roman" panose="02020603050405020304" pitchFamily="18" charset="0"/>
                <a:ea typeface="宋体" panose="02010600030101010101" pitchFamily="2" charset="-122"/>
              </a:rPr>
              <a:t>章  寻址方式与指令系统</a:t>
            </a:r>
            <a:r>
              <a:rPr lang="zh-CN" altLang="en-US" sz="4400" dirty="0">
                <a:solidFill>
                  <a:schemeClr val="tx2"/>
                </a:solidFill>
                <a:latin typeface="Times New Roman" panose="02020603050405020304" pitchFamily="18" charset="0"/>
                <a:ea typeface="宋体" panose="02010600030101010101" pitchFamily="2" charset="-122"/>
              </a:rPr>
              <a:t> </a:t>
            </a:r>
          </a:p>
        </p:txBody>
      </p:sp>
      <p:sp>
        <p:nvSpPr>
          <p:cNvPr id="3074" name="矩形 215044"/>
          <p:cNvSpPr/>
          <p:nvPr/>
        </p:nvSpPr>
        <p:spPr>
          <a:xfrm>
            <a:off x="1332230" y="1916430"/>
            <a:ext cx="6769100" cy="1366520"/>
          </a:xfrm>
          <a:prstGeom prst="rect">
            <a:avLst/>
          </a:prstGeom>
          <a:noFill/>
          <a:ln w="9525">
            <a:noFill/>
          </a:ln>
        </p:spPr>
        <p:txBody>
          <a:bodyPr anchor="t"/>
          <a:lstStyle/>
          <a:p>
            <a:pPr lvl="0" indent="0">
              <a:spcBef>
                <a:spcPct val="20000"/>
              </a:spcBef>
            </a:pPr>
            <a:r>
              <a:rPr lang="en-US" altLang="zh-CN" sz="3200" b="1" dirty="0"/>
              <a:t>3.1  </a:t>
            </a:r>
            <a:r>
              <a:rPr lang="zh-CN" altLang="en-US" sz="3200" b="1" dirty="0"/>
              <a:t>指令系统概述</a:t>
            </a:r>
          </a:p>
          <a:p>
            <a:pPr lvl="0" indent="0">
              <a:spcBef>
                <a:spcPct val="20000"/>
              </a:spcBef>
            </a:pPr>
            <a:r>
              <a:rPr lang="en-US" altLang="zh-CN" sz="3200" b="1" dirty="0"/>
              <a:t>3.2  </a:t>
            </a:r>
            <a:r>
              <a:rPr lang="zh-CN" altLang="en-US" sz="3200" b="1" dirty="0"/>
              <a:t>寻址方式 </a:t>
            </a:r>
            <a:endParaRPr lang="en-US" altLang="zh-CN" sz="3200" b="1" dirty="0"/>
          </a:p>
          <a:p>
            <a:pPr lvl="0" indent="0">
              <a:spcBef>
                <a:spcPct val="20000"/>
              </a:spcBef>
            </a:pPr>
            <a:r>
              <a:rPr lang="en-US" altLang="zh-CN" sz="3200" b="1" dirty="0"/>
              <a:t>3.3   8086CPU</a:t>
            </a:r>
            <a:r>
              <a:rPr lang="zh-CN" altLang="en-US" sz="3200" b="1" dirty="0"/>
              <a:t>指令系统</a:t>
            </a:r>
            <a:endParaRPr lang="en-US" altLang="zh-CN" sz="3200" b="1" dirty="0"/>
          </a:p>
          <a:p>
            <a:pPr lvl="0" indent="0">
              <a:spcBef>
                <a:spcPct val="20000"/>
              </a:spcBef>
            </a:pPr>
            <a:r>
              <a:rPr lang="en-US" altLang="zh-CN" sz="3200" b="1" dirty="0"/>
              <a:t>3.4   80x86</a:t>
            </a:r>
            <a:r>
              <a:rPr lang="zh-CN" altLang="en-US" sz="3200" b="1" dirty="0"/>
              <a:t>新增指令简介</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54627"/>
          <p:cNvSpPr>
            <a:spLocks noGrp="1"/>
          </p:cNvSpPr>
          <p:nvPr>
            <p:ph type="title"/>
          </p:nvPr>
        </p:nvSpPr>
        <p:spPr>
          <a:xfrm>
            <a:off x="1548631" y="188913"/>
            <a:ext cx="5111601" cy="431800"/>
          </a:xfrm>
          <a:ln/>
        </p:spPr>
        <p:txBody>
          <a:bodyPr anchor="ctr"/>
          <a:lstStyle/>
          <a:p>
            <a:pPr lvl="0" indent="0"/>
            <a:r>
              <a:rPr lang="en-US" altLang="zh-CN" sz="3200" b="1" dirty="0">
                <a:solidFill>
                  <a:srgbClr val="FF0000"/>
                </a:solidFill>
                <a:ea typeface="隶书" panose="02010509060101010101" pitchFamily="49" charset="-122"/>
              </a:rPr>
              <a:t>3.1  </a:t>
            </a:r>
            <a:r>
              <a:rPr lang="zh-CN" altLang="en-US" sz="3200" b="1" dirty="0">
                <a:solidFill>
                  <a:srgbClr val="FF0000"/>
                </a:solidFill>
                <a:ea typeface="隶书" panose="02010509060101010101" pitchFamily="49" charset="-122"/>
              </a:rPr>
              <a:t>指令系统概述</a:t>
            </a:r>
          </a:p>
        </p:txBody>
      </p:sp>
      <p:sp>
        <p:nvSpPr>
          <p:cNvPr id="4098" name="文本框 154629"/>
          <p:cNvSpPr txBox="1"/>
          <p:nvPr/>
        </p:nvSpPr>
        <p:spPr>
          <a:xfrm>
            <a:off x="611188" y="1412875"/>
            <a:ext cx="8208962" cy="420688"/>
          </a:xfrm>
          <a:prstGeom prst="rect">
            <a:avLst/>
          </a:prstGeom>
          <a:noFill/>
          <a:ln w="9525">
            <a:noFill/>
          </a:ln>
        </p:spPr>
        <p:txBody>
          <a:bodyPr anchor="t">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4099" name="矩形 154631"/>
          <p:cNvSpPr/>
          <p:nvPr/>
        </p:nvSpPr>
        <p:spPr>
          <a:xfrm>
            <a:off x="384330" y="848437"/>
            <a:ext cx="8497887" cy="3588675"/>
          </a:xfrm>
          <a:prstGeom prst="rect">
            <a:avLst/>
          </a:prstGeom>
          <a:noFill/>
          <a:ln w="9525">
            <a:noFill/>
          </a:ln>
        </p:spPr>
        <p:txBody>
          <a:bodyPr anchor="ctr">
            <a:spAutoFit/>
          </a:bodyPr>
          <a:lstStyle/>
          <a:p>
            <a:pPr lvl="0" indent="0"/>
            <a:r>
              <a:rPr lang="zh-CN" altLang="en-US" sz="2800" b="1" dirty="0">
                <a:solidFill>
                  <a:srgbClr val="0000FF"/>
                </a:solidFill>
                <a:latin typeface="Arial" panose="020B0604020202020204" pitchFamily="34" charset="0"/>
                <a:ea typeface="宋体" panose="02010600030101010101" pitchFamily="2" charset="-122"/>
              </a:rPr>
              <a:t>一、基本概念</a:t>
            </a:r>
          </a:p>
          <a:p>
            <a:pPr lvl="0" indent="0"/>
            <a:endParaRPr lang="en-US" altLang="zh-CN" sz="2400" b="1" dirty="0">
              <a:solidFill>
                <a:srgbClr val="0000FF"/>
              </a:solidFill>
              <a:latin typeface="Arial" panose="020B0604020202020204" pitchFamily="34" charset="0"/>
              <a:ea typeface="宋体" panose="02010600030101010101" pitchFamily="2" charset="-122"/>
            </a:endParaRPr>
          </a:p>
          <a:p>
            <a:pPr lvl="0" indent="0"/>
            <a:r>
              <a:rPr lang="zh-CN" altLang="en-US" sz="2400" b="1" dirty="0">
                <a:solidFill>
                  <a:srgbClr val="0000FF"/>
                </a:solidFill>
                <a:latin typeface="Arial" panose="020B0604020202020204" pitchFamily="34" charset="0"/>
                <a:ea typeface="宋体" panose="02010600030101010101" pitchFamily="2" charset="-122"/>
              </a:rPr>
              <a:t>指令：</a:t>
            </a:r>
            <a:r>
              <a:rPr lang="zh-CN" altLang="en-US" sz="2400" b="1" dirty="0">
                <a:latin typeface="Arial" panose="020B0604020202020204" pitchFamily="34" charset="0"/>
                <a:ea typeface="宋体" panose="02010600030101010101" pitchFamily="2" charset="-122"/>
              </a:rPr>
              <a:t>计算机能够识别和执行的操作命令，每条指令都明确规定了计算机必须完成的一套操作以及对哪一组操作数进行操作</a:t>
            </a:r>
            <a:endParaRPr lang="en-US" altLang="zh-CN" sz="2400" b="1" dirty="0">
              <a:latin typeface="Arial" panose="020B0604020202020204" pitchFamily="34" charset="0"/>
              <a:ea typeface="宋体" panose="02010600030101010101" pitchFamily="2" charset="-122"/>
            </a:endParaRPr>
          </a:p>
          <a:p>
            <a:pPr lvl="0" indent="0"/>
            <a:endParaRPr lang="en-US" altLang="zh-CN" sz="2400" b="1" dirty="0">
              <a:solidFill>
                <a:srgbClr val="0000FF"/>
              </a:solidFill>
              <a:latin typeface="Arial" panose="020B0604020202020204" pitchFamily="34" charset="0"/>
            </a:endParaRPr>
          </a:p>
          <a:p>
            <a:pPr lvl="0" indent="0"/>
            <a:r>
              <a:rPr lang="zh-CN" altLang="en-US" sz="2400" b="1" dirty="0">
                <a:solidFill>
                  <a:srgbClr val="0000FF"/>
                </a:solidFill>
                <a:latin typeface="Arial" panose="020B0604020202020204" pitchFamily="34" charset="0"/>
              </a:rPr>
              <a:t>程序：</a:t>
            </a:r>
            <a:r>
              <a:rPr lang="zh-CN" altLang="en-US" sz="2400" b="1" dirty="0">
                <a:latin typeface="Arial" panose="020B0604020202020204" pitchFamily="34" charset="0"/>
                <a:ea typeface="宋体" panose="02010600030101010101" pitchFamily="2" charset="-122"/>
              </a:rPr>
              <a:t>由完成一个完整任务的一系列有序指令组成的。</a:t>
            </a:r>
          </a:p>
          <a:p>
            <a:pPr>
              <a:lnSpc>
                <a:spcPct val="110000"/>
              </a:lnSpc>
            </a:pPr>
            <a:endParaRPr lang="en-US" altLang="zh-CN" sz="2400" b="1" dirty="0">
              <a:solidFill>
                <a:srgbClr val="0000FF"/>
              </a:solidFill>
              <a:latin typeface="Arial" panose="020B0604020202020204" pitchFamily="34" charset="0"/>
            </a:endParaRPr>
          </a:p>
          <a:p>
            <a:pPr>
              <a:lnSpc>
                <a:spcPct val="110000"/>
              </a:lnSpc>
            </a:pPr>
            <a:r>
              <a:rPr lang="zh-CN" altLang="en-US" sz="2400" b="1" dirty="0">
                <a:solidFill>
                  <a:srgbClr val="0000FF"/>
                </a:solidFill>
                <a:latin typeface="Arial" panose="020B0604020202020204" pitchFamily="34" charset="0"/>
              </a:rPr>
              <a:t>指令系统：</a:t>
            </a:r>
            <a:r>
              <a:rPr lang="en-US" altLang="zh-CN" sz="2400" b="1" dirty="0">
                <a:latin typeface="Arial" panose="020B0604020202020204" pitchFamily="34" charset="0"/>
              </a:rPr>
              <a:t>CPU</a:t>
            </a:r>
            <a:r>
              <a:rPr lang="zh-CN" altLang="en-US" sz="2400" b="1" dirty="0">
                <a:latin typeface="Arial" panose="020B0604020202020204" pitchFamily="34" charset="0"/>
              </a:rPr>
              <a:t>所能执行的各种指令的集合，它定义了计算机硬件所能完成的基本操作。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263169"/>
          <p:cNvSpPr>
            <a:spLocks noGrp="1"/>
          </p:cNvSpPr>
          <p:nvPr>
            <p:ph type="title"/>
          </p:nvPr>
        </p:nvSpPr>
        <p:spPr>
          <a:xfrm>
            <a:off x="1044575" y="188913"/>
            <a:ext cx="6696075" cy="431800"/>
          </a:xfrm>
          <a:ln/>
        </p:spPr>
        <p:txBody>
          <a:bodyPr anchor="ctr"/>
          <a:lstStyle/>
          <a:p>
            <a:pPr lvl="0" indent="0"/>
            <a:r>
              <a:rPr lang="en-US" altLang="zh-CN" sz="3600" b="1">
                <a:solidFill>
                  <a:srgbClr val="FF0000"/>
                </a:solidFill>
                <a:ea typeface="隶书" panose="02010509060101010101" pitchFamily="49" charset="-122"/>
              </a:rPr>
              <a:t>3.1  </a:t>
            </a:r>
            <a:r>
              <a:rPr lang="zh-CN" altLang="en-US" sz="3600" b="1" dirty="0">
                <a:solidFill>
                  <a:srgbClr val="FF0000"/>
                </a:solidFill>
                <a:ea typeface="隶书" panose="02010509060101010101" pitchFamily="49" charset="-122"/>
              </a:rPr>
              <a:t>指令格式</a:t>
            </a:r>
          </a:p>
        </p:txBody>
      </p:sp>
      <p:sp>
        <p:nvSpPr>
          <p:cNvPr id="5122" name="文本框 263170"/>
          <p:cNvSpPr txBox="1"/>
          <p:nvPr/>
        </p:nvSpPr>
        <p:spPr>
          <a:xfrm>
            <a:off x="611188" y="1412875"/>
            <a:ext cx="8208962" cy="420688"/>
          </a:xfrm>
          <a:prstGeom prst="rect">
            <a:avLst/>
          </a:prstGeom>
          <a:noFill/>
          <a:ln w="9525">
            <a:noFill/>
          </a:ln>
        </p:spPr>
        <p:txBody>
          <a:bodyPr anchor="t">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5123" name="矩形 263172"/>
          <p:cNvSpPr/>
          <p:nvPr/>
        </p:nvSpPr>
        <p:spPr>
          <a:xfrm>
            <a:off x="251520" y="817548"/>
            <a:ext cx="3970959" cy="523220"/>
          </a:xfrm>
          <a:prstGeom prst="rect">
            <a:avLst/>
          </a:prstGeom>
          <a:noFill/>
          <a:ln w="9525">
            <a:noFill/>
          </a:ln>
        </p:spPr>
        <p:txBody>
          <a:bodyPr wrap="none" anchor="ctr">
            <a:spAutoFit/>
          </a:bodyPr>
          <a:lstStyle/>
          <a:p>
            <a:pPr lvl="0" indent="0"/>
            <a:r>
              <a:rPr lang="zh-CN" altLang="en-US" sz="2800" b="1" dirty="0">
                <a:solidFill>
                  <a:srgbClr val="0000FF"/>
                </a:solidFill>
                <a:latin typeface="Arial" panose="020B0604020202020204" pitchFamily="34" charset="0"/>
                <a:ea typeface="宋体" panose="02010600030101010101" pitchFamily="2" charset="-122"/>
              </a:rPr>
              <a:t>二、</a:t>
            </a:r>
            <a:r>
              <a:rPr lang="en-US" altLang="zh-CN" sz="2800" b="1" dirty="0">
                <a:solidFill>
                  <a:srgbClr val="0000FF"/>
                </a:solidFill>
                <a:latin typeface="Arial" panose="020B0604020202020204" pitchFamily="34" charset="0"/>
                <a:ea typeface="宋体" panose="02010600030101010101" pitchFamily="2" charset="-122"/>
              </a:rPr>
              <a:t>8086</a:t>
            </a:r>
            <a:r>
              <a:rPr lang="zh-CN" altLang="en-US" sz="2800" b="1" dirty="0">
                <a:solidFill>
                  <a:srgbClr val="0000FF"/>
                </a:solidFill>
                <a:latin typeface="Arial" panose="020B0604020202020204" pitchFamily="34" charset="0"/>
                <a:ea typeface="宋体" panose="02010600030101010101" pitchFamily="2" charset="-122"/>
              </a:rPr>
              <a:t>汇编指令格式 </a:t>
            </a:r>
          </a:p>
        </p:txBody>
      </p:sp>
      <p:sp>
        <p:nvSpPr>
          <p:cNvPr id="5124" name="矩形 263173"/>
          <p:cNvSpPr/>
          <p:nvPr/>
        </p:nvSpPr>
        <p:spPr>
          <a:xfrm>
            <a:off x="2979738" y="3838575"/>
            <a:ext cx="1854200" cy="366713"/>
          </a:xfrm>
          <a:prstGeom prst="rect">
            <a:avLst/>
          </a:prstGeom>
        </p:spPr>
        <p:txBody>
          <a:bodyPr wrap="none" fromWordArt="1">
            <a:prstTxWarp prst="textPlain">
              <a:avLst>
                <a:gd name="adj" fmla="val 50000"/>
              </a:avLst>
            </a:prstTxWarp>
            <a:normAutofit fontScale="55000" lnSpcReduction="20000"/>
          </a:bodyPr>
          <a:lstStyle/>
          <a:p>
            <a:pPr algn="ctr"/>
            <a:r>
              <a:rPr lang="zh-CN" altLang="en-US" sz="4000" b="1">
                <a:solidFill>
                  <a:schemeClr val="tx2"/>
                </a:solidFill>
                <a:effectLst>
                  <a:outerShdw dist="35921" dir="2699999" algn="ctr" rotWithShape="0">
                    <a:srgbClr val="C0C0C0">
                      <a:alpha val="80000"/>
                    </a:srgbClr>
                  </a:outerShdw>
                </a:effectLst>
                <a:latin typeface="宋体" panose="02010600030101010101" pitchFamily="2" charset="-122"/>
                <a:ea typeface="宋体" panose="02010600030101010101" pitchFamily="2" charset="-122"/>
              </a:rPr>
              <a:t>操作码 </a:t>
            </a:r>
          </a:p>
        </p:txBody>
      </p:sp>
      <p:sp>
        <p:nvSpPr>
          <p:cNvPr id="5125" name="矩形 263174"/>
          <p:cNvSpPr/>
          <p:nvPr/>
        </p:nvSpPr>
        <p:spPr>
          <a:xfrm>
            <a:off x="4932363" y="3843338"/>
            <a:ext cx="1519237" cy="376237"/>
          </a:xfrm>
          <a:prstGeom prst="rect">
            <a:avLst/>
          </a:prstGeom>
        </p:spPr>
        <p:txBody>
          <a:bodyPr wrap="none" fromWordArt="1">
            <a:prstTxWarp prst="textPlain">
              <a:avLst>
                <a:gd name="adj" fmla="val 50000"/>
              </a:avLst>
            </a:prstTxWarp>
            <a:normAutofit fontScale="55000" lnSpcReduction="20000"/>
          </a:bodyPr>
          <a:lstStyle/>
          <a:p>
            <a:pPr algn="ctr"/>
            <a:r>
              <a:rPr lang="zh-CN" altLang="en-US" sz="4000" b="1">
                <a:solidFill>
                  <a:schemeClr val="tx2"/>
                </a:solidFill>
                <a:effectLst>
                  <a:outerShdw dist="35921" dir="2699999" algn="ctr" rotWithShape="0">
                    <a:srgbClr val="C0C0C0">
                      <a:alpha val="80000"/>
                    </a:srgbClr>
                  </a:outerShdw>
                </a:effectLst>
                <a:latin typeface="宋体" panose="02010600030101010101" pitchFamily="2" charset="-122"/>
                <a:ea typeface="宋体" panose="02010600030101010101" pitchFamily="2" charset="-122"/>
              </a:rPr>
              <a:t>操作数，</a:t>
            </a:r>
          </a:p>
        </p:txBody>
      </p:sp>
      <p:sp>
        <p:nvSpPr>
          <p:cNvPr id="5126" name="矩形 263175"/>
          <p:cNvSpPr/>
          <p:nvPr/>
        </p:nvSpPr>
        <p:spPr>
          <a:xfrm>
            <a:off x="6732588" y="3833813"/>
            <a:ext cx="1423987" cy="376237"/>
          </a:xfrm>
          <a:prstGeom prst="rect">
            <a:avLst/>
          </a:prstGeom>
        </p:spPr>
        <p:txBody>
          <a:bodyPr wrap="none" fromWordArt="1">
            <a:prstTxWarp prst="textPlain">
              <a:avLst>
                <a:gd name="adj" fmla="val 50000"/>
              </a:avLst>
            </a:prstTxWarp>
            <a:normAutofit fontScale="55000" lnSpcReduction="20000"/>
          </a:bodyPr>
          <a:lstStyle/>
          <a:p>
            <a:pPr algn="ctr"/>
            <a:r>
              <a:rPr lang="zh-CN" altLang="en-US" sz="4000" b="1">
                <a:solidFill>
                  <a:schemeClr val="tx2"/>
                </a:solidFill>
                <a:effectLst>
                  <a:outerShdw dist="35921" dir="2699999" algn="ctr" rotWithShape="0">
                    <a:srgbClr val="C0C0C0">
                      <a:alpha val="80000"/>
                    </a:srgbClr>
                  </a:outerShdw>
                </a:effectLst>
                <a:latin typeface="宋体" panose="02010600030101010101" pitchFamily="2" charset="-122"/>
                <a:ea typeface="宋体" panose="02010600030101010101" pitchFamily="2" charset="-122"/>
              </a:rPr>
              <a:t>操作数</a:t>
            </a:r>
          </a:p>
        </p:txBody>
      </p:sp>
      <p:sp>
        <p:nvSpPr>
          <p:cNvPr id="5127" name="文本框 263176"/>
          <p:cNvSpPr txBox="1"/>
          <p:nvPr/>
        </p:nvSpPr>
        <p:spPr>
          <a:xfrm>
            <a:off x="381000" y="2332038"/>
            <a:ext cx="3551238" cy="946150"/>
          </a:xfrm>
          <a:prstGeom prst="rect">
            <a:avLst/>
          </a:prstGeom>
          <a:solidFill>
            <a:srgbClr val="99CCFF"/>
          </a:solidFill>
          <a:ln w="9525">
            <a:noFill/>
          </a:ln>
        </p:spPr>
        <p:txBody>
          <a:bodyPr anchor="t">
            <a:spAutoFit/>
          </a:bodyPr>
          <a:lstStyle/>
          <a:p>
            <a:pPr lvl="0" indent="0">
              <a:spcBef>
                <a:spcPct val="50000"/>
              </a:spcBef>
            </a:pPr>
            <a:r>
              <a:rPr lang="zh-CN" altLang="en-US" sz="2800" b="1" dirty="0">
                <a:solidFill>
                  <a:srgbClr val="FF3300"/>
                </a:solidFill>
                <a:latin typeface="Times New Roman" panose="02020603050405020304" pitchFamily="18" charset="0"/>
                <a:ea typeface="隶书" panose="02010509060101010101" pitchFamily="49" charset="-122"/>
              </a:rPr>
              <a:t>说明要执行的是什么操作</a:t>
            </a:r>
            <a:endParaRPr lang="zh-CN" altLang="en-US" sz="2800" b="1">
              <a:solidFill>
                <a:srgbClr val="FF3300"/>
              </a:solidFill>
              <a:latin typeface="Times New Roman" panose="02020603050405020304" pitchFamily="18" charset="0"/>
              <a:ea typeface="隶书" panose="02010509060101010101" pitchFamily="49" charset="-122"/>
            </a:endParaRPr>
          </a:p>
        </p:txBody>
      </p:sp>
      <p:sp>
        <p:nvSpPr>
          <p:cNvPr id="5128" name="左大括号 263177"/>
          <p:cNvSpPr/>
          <p:nvPr/>
        </p:nvSpPr>
        <p:spPr>
          <a:xfrm rot="-5336328">
            <a:off x="6384925" y="3074988"/>
            <a:ext cx="350838" cy="2736850"/>
          </a:xfrm>
          <a:prstGeom prst="leftBrace">
            <a:avLst>
              <a:gd name="adj1" fmla="val 87146"/>
              <a:gd name="adj2" fmla="val 50588"/>
            </a:avLst>
          </a:prstGeom>
          <a:noFill/>
          <a:ln w="38100"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5129" name="文本框 263178"/>
          <p:cNvSpPr txBox="1"/>
          <p:nvPr/>
        </p:nvSpPr>
        <p:spPr>
          <a:xfrm>
            <a:off x="4237038" y="2332038"/>
            <a:ext cx="4392612" cy="946150"/>
          </a:xfrm>
          <a:prstGeom prst="rect">
            <a:avLst/>
          </a:prstGeom>
          <a:solidFill>
            <a:srgbClr val="99CCFF"/>
          </a:solidFill>
          <a:ln w="9525">
            <a:noFill/>
          </a:ln>
        </p:spPr>
        <p:txBody>
          <a:bodyPr anchor="t">
            <a:spAutoFit/>
          </a:bodyPr>
          <a:lstStyle/>
          <a:p>
            <a:pPr lvl="0" indent="0">
              <a:spcBef>
                <a:spcPct val="50000"/>
              </a:spcBef>
            </a:pPr>
            <a:r>
              <a:rPr lang="zh-CN" altLang="en-US" sz="2800" b="1" dirty="0">
                <a:solidFill>
                  <a:srgbClr val="FF3300"/>
                </a:solidFill>
                <a:latin typeface="Times New Roman" panose="02020603050405020304" pitchFamily="18" charset="0"/>
                <a:ea typeface="隶书" panose="02010509060101010101" pitchFamily="49" charset="-122"/>
              </a:rPr>
              <a:t>操作对象，可以有</a:t>
            </a:r>
            <a:r>
              <a:rPr lang="en-US" altLang="zh-CN" sz="2800" b="1">
                <a:solidFill>
                  <a:srgbClr val="FF3300"/>
                </a:solidFill>
                <a:latin typeface="Times New Roman" panose="02020603050405020304" pitchFamily="18" charset="0"/>
                <a:ea typeface="隶书" panose="02010509060101010101" pitchFamily="49" charset="-122"/>
              </a:rPr>
              <a:t>0</a:t>
            </a:r>
            <a:r>
              <a:rPr lang="zh-CN" altLang="en-US" sz="2800" b="1" dirty="0">
                <a:solidFill>
                  <a:srgbClr val="FF3300"/>
                </a:solidFill>
                <a:latin typeface="Times New Roman" panose="02020603050405020304" pitchFamily="18" charset="0"/>
                <a:ea typeface="隶书" panose="02010509060101010101" pitchFamily="49" charset="-122"/>
              </a:rPr>
              <a:t>个、</a:t>
            </a:r>
            <a:r>
              <a:rPr lang="en-US" altLang="zh-CN" sz="2800" b="1">
                <a:solidFill>
                  <a:srgbClr val="FF3300"/>
                </a:solidFill>
                <a:latin typeface="Times New Roman" panose="02020603050405020304" pitchFamily="18" charset="0"/>
                <a:ea typeface="隶书" panose="02010509060101010101" pitchFamily="49" charset="-122"/>
              </a:rPr>
              <a:t>1</a:t>
            </a:r>
            <a:r>
              <a:rPr lang="zh-CN" altLang="en-US" sz="2800" b="1" dirty="0">
                <a:solidFill>
                  <a:srgbClr val="FF3300"/>
                </a:solidFill>
                <a:latin typeface="Times New Roman" panose="02020603050405020304" pitchFamily="18" charset="0"/>
                <a:ea typeface="隶书" panose="02010509060101010101" pitchFamily="49" charset="-122"/>
              </a:rPr>
              <a:t>个或</a:t>
            </a:r>
            <a:r>
              <a:rPr lang="en-US" altLang="zh-CN" sz="2800" b="1">
                <a:solidFill>
                  <a:srgbClr val="FF3300"/>
                </a:solidFill>
                <a:latin typeface="Times New Roman" panose="02020603050405020304" pitchFamily="18" charset="0"/>
                <a:ea typeface="隶书" panose="02010509060101010101" pitchFamily="49" charset="-122"/>
              </a:rPr>
              <a:t>2</a:t>
            </a:r>
            <a:r>
              <a:rPr lang="zh-CN" altLang="en-US" sz="2800" b="1">
                <a:solidFill>
                  <a:srgbClr val="FF3300"/>
                </a:solidFill>
                <a:latin typeface="Times New Roman" panose="02020603050405020304" pitchFamily="18" charset="0"/>
                <a:ea typeface="隶书" panose="02010509060101010101" pitchFamily="49" charset="-122"/>
              </a:rPr>
              <a:t>个</a:t>
            </a:r>
          </a:p>
        </p:txBody>
      </p:sp>
      <p:sp>
        <p:nvSpPr>
          <p:cNvPr id="5130" name="文本框 263179"/>
          <p:cNvSpPr txBox="1"/>
          <p:nvPr/>
        </p:nvSpPr>
        <p:spPr>
          <a:xfrm>
            <a:off x="5211763" y="3373438"/>
            <a:ext cx="812800" cy="365125"/>
          </a:xfrm>
          <a:prstGeom prst="rect">
            <a:avLst/>
          </a:prstGeom>
          <a:noFill/>
          <a:ln w="9525">
            <a:noFill/>
          </a:ln>
        </p:spPr>
        <p:txBody>
          <a:bodyPr lIns="0" tIns="0" rIns="0" bIns="0" anchor="t">
            <a:spAutoFit/>
          </a:bodyPr>
          <a:lstStyle/>
          <a:p>
            <a:pPr lvl="0" indent="0">
              <a:spcBef>
                <a:spcPct val="50000"/>
              </a:spcBef>
            </a:pPr>
            <a:r>
              <a:rPr lang="zh-CN" altLang="en-US" sz="2400" b="1" dirty="0">
                <a:solidFill>
                  <a:srgbClr val="FF00FF"/>
                </a:solidFill>
                <a:latin typeface="Times New Roman" panose="02020603050405020304" pitchFamily="18" charset="0"/>
                <a:ea typeface="宋体" panose="02010600030101010101" pitchFamily="2" charset="-122"/>
              </a:rPr>
              <a:t>目的</a:t>
            </a:r>
            <a:endParaRPr lang="zh-CN" altLang="en-US" sz="2400" b="1">
              <a:solidFill>
                <a:srgbClr val="FF00FF"/>
              </a:solidFill>
              <a:latin typeface="Times New Roman" panose="02020603050405020304" pitchFamily="18" charset="0"/>
              <a:ea typeface="宋体" panose="02010600030101010101" pitchFamily="2" charset="-122"/>
            </a:endParaRPr>
          </a:p>
        </p:txBody>
      </p:sp>
      <p:sp>
        <p:nvSpPr>
          <p:cNvPr id="5131" name="文本框 263180"/>
          <p:cNvSpPr txBox="1"/>
          <p:nvPr/>
        </p:nvSpPr>
        <p:spPr>
          <a:xfrm>
            <a:off x="7308850" y="3373438"/>
            <a:ext cx="576263" cy="365125"/>
          </a:xfrm>
          <a:prstGeom prst="rect">
            <a:avLst/>
          </a:prstGeom>
          <a:noFill/>
          <a:ln w="9525">
            <a:noFill/>
          </a:ln>
        </p:spPr>
        <p:txBody>
          <a:bodyPr lIns="0" tIns="0" rIns="0" bIns="0" anchor="t">
            <a:spAutoFit/>
          </a:bodyPr>
          <a:lstStyle/>
          <a:p>
            <a:pPr lvl="0" indent="0">
              <a:spcBef>
                <a:spcPct val="50000"/>
              </a:spcBef>
            </a:pPr>
            <a:r>
              <a:rPr lang="zh-CN" altLang="en-US" sz="2400" b="1">
                <a:solidFill>
                  <a:srgbClr val="FF00FF"/>
                </a:solidFill>
                <a:latin typeface="Times New Roman" panose="02020603050405020304" pitchFamily="18" charset="0"/>
                <a:ea typeface="宋体" panose="02010600030101010101" pitchFamily="2" charset="-122"/>
              </a:rPr>
              <a:t>源</a:t>
            </a:r>
          </a:p>
        </p:txBody>
      </p:sp>
      <p:sp>
        <p:nvSpPr>
          <p:cNvPr id="5132" name="矩形 263181"/>
          <p:cNvSpPr/>
          <p:nvPr/>
        </p:nvSpPr>
        <p:spPr>
          <a:xfrm>
            <a:off x="1085850" y="1341438"/>
            <a:ext cx="6985000" cy="358775"/>
          </a:xfrm>
          <a:prstGeom prst="rect">
            <a:avLst/>
          </a:prstGeom>
          <a:solidFill>
            <a:schemeClr val="bg1"/>
          </a:solidFill>
          <a:ln w="9525">
            <a:noFill/>
          </a:ln>
        </p:spPr>
        <p:txBody>
          <a:bodyPr anchor="t"/>
          <a:lstStyle/>
          <a:p>
            <a:pPr lvl="0" indent="0">
              <a:spcBef>
                <a:spcPct val="20000"/>
              </a:spcBef>
            </a:pPr>
            <a:r>
              <a:rPr lang="zh-CN" altLang="en-US" sz="2400" dirty="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标号：</a:t>
            </a:r>
            <a:r>
              <a:rPr lang="en-US" altLang="zh-CN" sz="2400" b="1">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　</a:t>
            </a:r>
            <a:r>
              <a:rPr lang="zh-CN" altLang="en-US" sz="2400" b="1" dirty="0">
                <a:solidFill>
                  <a:srgbClr val="FF00FF"/>
                </a:solidFill>
                <a:latin typeface="宋体" panose="02010600030101010101" pitchFamily="2" charset="-122"/>
                <a:ea typeface="宋体" panose="02010600030101010101" pitchFamily="2" charset="-122"/>
              </a:rPr>
              <a:t>操作码</a:t>
            </a:r>
            <a:r>
              <a:rPr lang="zh-CN" altLang="en-US" sz="2400" b="1" dirty="0">
                <a:latin typeface="宋体" panose="02010600030101010101" pitchFamily="2" charset="-122"/>
                <a:ea typeface="宋体" panose="02010600030101010101" pitchFamily="2" charset="-122"/>
              </a:rPr>
              <a:t>　</a:t>
            </a:r>
            <a:r>
              <a:rPr lang="zh-CN" altLang="en-US" sz="2400" b="1" dirty="0">
                <a:solidFill>
                  <a:srgbClr val="FF00FF"/>
                </a:solidFill>
                <a:latin typeface="宋体" panose="02010600030101010101" pitchFamily="2" charset="-122"/>
                <a:ea typeface="宋体" panose="02010600030101010101" pitchFamily="2" charset="-122"/>
              </a:rPr>
              <a:t>操作数　</a:t>
            </a:r>
            <a:r>
              <a:rPr lang="en-US" altLang="zh-CN" sz="2400" b="1">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；注释</a:t>
            </a:r>
            <a:r>
              <a:rPr lang="en-US" altLang="zh-CN" sz="2400" b="1">
                <a:latin typeface="宋体" panose="02010600030101010101" pitchFamily="2" charset="-122"/>
                <a:ea typeface="宋体" panose="02010600030101010101" pitchFamily="2" charset="-122"/>
              </a:rPr>
              <a:t>]</a:t>
            </a:r>
          </a:p>
        </p:txBody>
      </p:sp>
      <p:sp>
        <p:nvSpPr>
          <p:cNvPr id="5133" name="下箭头 263182"/>
          <p:cNvSpPr/>
          <p:nvPr/>
        </p:nvSpPr>
        <p:spPr>
          <a:xfrm rot="1200000">
            <a:off x="3381375" y="1773238"/>
            <a:ext cx="533400" cy="471487"/>
          </a:xfrm>
          <a:prstGeom prst="downArrow">
            <a:avLst>
              <a:gd name="adj1" fmla="val 50000"/>
              <a:gd name="adj2" fmla="val 25000"/>
            </a:avLst>
          </a:prstGeom>
          <a:solidFill>
            <a:srgbClr val="99FFCC"/>
          </a:solidFill>
          <a:ln w="9525" cap="flat" cmpd="sng">
            <a:solidFill>
              <a:schemeClr val="tx1"/>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5134" name="下箭头 263183"/>
          <p:cNvSpPr/>
          <p:nvPr/>
        </p:nvSpPr>
        <p:spPr>
          <a:xfrm rot="-1200000">
            <a:off x="4887913" y="1774825"/>
            <a:ext cx="533400" cy="471488"/>
          </a:xfrm>
          <a:prstGeom prst="downArrow">
            <a:avLst>
              <a:gd name="adj1" fmla="val 50000"/>
              <a:gd name="adj2" fmla="val 25000"/>
            </a:avLst>
          </a:prstGeom>
          <a:solidFill>
            <a:srgbClr val="99FFCC"/>
          </a:solidFill>
          <a:ln w="9525" cap="flat" cmpd="sng">
            <a:solidFill>
              <a:schemeClr val="tx1"/>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5135" name="矩形 263184"/>
          <p:cNvSpPr/>
          <p:nvPr/>
        </p:nvSpPr>
        <p:spPr>
          <a:xfrm>
            <a:off x="250825" y="3714185"/>
            <a:ext cx="2520950" cy="2677656"/>
          </a:xfrm>
          <a:prstGeom prst="rect">
            <a:avLst/>
          </a:prstGeom>
          <a:noFill/>
          <a:ln w="9525">
            <a:noFill/>
          </a:ln>
        </p:spPr>
        <p:txBody>
          <a:bodyPr anchor="ctr">
            <a:spAutoFit/>
          </a:bodyPr>
          <a:lstStyle/>
          <a:p>
            <a:pPr lvl="0" indent="0"/>
            <a:r>
              <a:rPr lang="zh-CN" altLang="en-US" sz="2400" b="1" dirty="0">
                <a:solidFill>
                  <a:srgbClr val="0000FF"/>
                </a:solidFill>
                <a:latin typeface="Arial" panose="020B0604020202020204" pitchFamily="34" charset="0"/>
                <a:ea typeface="宋体" panose="02010600030101010101" pitchFamily="2" charset="-122"/>
              </a:rPr>
              <a:t>标号：</a:t>
            </a:r>
            <a:r>
              <a:rPr lang="zh-CN" altLang="en-US" sz="2400" b="1" dirty="0">
                <a:latin typeface="Arial" panose="020B0604020202020204" pitchFamily="34" charset="0"/>
                <a:ea typeface="宋体" panose="02010600030101010101" pitchFamily="2" charset="-122"/>
              </a:rPr>
              <a:t>一条指令的位移地址，汇编源程序中，只有在需要转向一条指令处时，才需为该指令设置标号 </a:t>
            </a:r>
          </a:p>
        </p:txBody>
      </p:sp>
      <p:sp>
        <p:nvSpPr>
          <p:cNvPr id="5136" name="矩形 263186"/>
          <p:cNvSpPr/>
          <p:nvPr/>
        </p:nvSpPr>
        <p:spPr>
          <a:xfrm>
            <a:off x="2843213" y="4642317"/>
            <a:ext cx="5976937" cy="1938992"/>
          </a:xfrm>
          <a:prstGeom prst="rect">
            <a:avLst/>
          </a:prstGeom>
          <a:noFill/>
          <a:ln w="9525">
            <a:noFill/>
          </a:ln>
        </p:spPr>
        <p:txBody>
          <a:bodyPr anchor="ctr">
            <a:spAutoFit/>
          </a:bodyPr>
          <a:lstStyle/>
          <a:p>
            <a:pPr lvl="0" indent="0"/>
            <a:r>
              <a:rPr lang="zh-CN" altLang="en-US" sz="2400" b="1" dirty="0">
                <a:latin typeface="Arial" panose="020B0604020202020204" pitchFamily="34" charset="0"/>
                <a:ea typeface="宋体" panose="02010600030101010101" pitchFamily="2" charset="-122"/>
              </a:rPr>
              <a:t>操作码与操作数之间要用</a:t>
            </a:r>
            <a:r>
              <a:rPr lang="zh-CN" altLang="en-US" sz="2400" b="1" dirty="0">
                <a:solidFill>
                  <a:srgbClr val="0000FF"/>
                </a:solidFill>
                <a:latin typeface="Arial" panose="020B0604020202020204" pitchFamily="34" charset="0"/>
                <a:ea typeface="宋体" panose="02010600030101010101" pitchFamily="2" charset="-122"/>
              </a:rPr>
              <a:t>空格</a:t>
            </a:r>
            <a:r>
              <a:rPr lang="zh-CN" altLang="en-US" sz="2400" b="1" dirty="0">
                <a:latin typeface="Arial" panose="020B0604020202020204" pitchFamily="34" charset="0"/>
                <a:ea typeface="宋体" panose="02010600030101010101" pitchFamily="2" charset="-122"/>
              </a:rPr>
              <a:t>分隔</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若为双操作数，之间要用逗号“，”分隔</a:t>
            </a:r>
          </a:p>
          <a:p>
            <a:pPr lvl="0" indent="0"/>
            <a:endParaRPr lang="zh-CN" altLang="en-US" sz="2400" b="1" dirty="0">
              <a:latin typeface="Arial" panose="020B0604020202020204" pitchFamily="34" charset="0"/>
              <a:ea typeface="宋体" panose="02010600030101010101" pitchFamily="2" charset="-122"/>
            </a:endParaRPr>
          </a:p>
          <a:p>
            <a:pPr lvl="0" indent="0"/>
            <a:r>
              <a:rPr lang="zh-CN" altLang="en-US" sz="2400" b="1" dirty="0">
                <a:solidFill>
                  <a:srgbClr val="0000FF"/>
                </a:solidFill>
                <a:latin typeface="Arial" panose="020B0604020202020204" pitchFamily="34" charset="0"/>
                <a:ea typeface="宋体" panose="02010600030101010101" pitchFamily="2" charset="-122"/>
              </a:rPr>
              <a:t>注释：</a:t>
            </a:r>
            <a:r>
              <a:rPr lang="zh-CN" altLang="en-US" sz="2400" b="1" dirty="0">
                <a:latin typeface="Arial" panose="020B0604020202020204" pitchFamily="34" charset="0"/>
                <a:ea typeface="宋体" panose="02010600030101010101" pitchFamily="2" charset="-122"/>
              </a:rPr>
              <a:t>是对有关指令及程序功能的标注性说明，以增加程序的可读性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1" name="标题 263169"/>
          <p:cNvSpPr>
            <a:spLocks noGrp="1"/>
          </p:cNvSpPr>
          <p:nvPr>
            <p:ph type="title" idx="4294967295"/>
          </p:nvPr>
        </p:nvSpPr>
        <p:spPr>
          <a:xfrm>
            <a:off x="1044575" y="188913"/>
            <a:ext cx="6696075" cy="431800"/>
          </a:xfrm>
          <a:ln/>
        </p:spPr>
        <p:txBody>
          <a:bodyPr anchor="ctr"/>
          <a:lstStyle/>
          <a:p>
            <a:pPr lvl="0" indent="0"/>
            <a:r>
              <a:rPr lang="en-US" altLang="zh-CN" sz="3600" b="1">
                <a:solidFill>
                  <a:srgbClr val="FF0000"/>
                </a:solidFill>
                <a:ea typeface="隶书" panose="02010509060101010101" pitchFamily="49" charset="-122"/>
              </a:rPr>
              <a:t>3.1  </a:t>
            </a:r>
            <a:r>
              <a:rPr lang="zh-CN" altLang="en-US" sz="3600" b="1" dirty="0">
                <a:solidFill>
                  <a:srgbClr val="FF0000"/>
                </a:solidFill>
                <a:ea typeface="隶书" panose="02010509060101010101" pitchFamily="49" charset="-122"/>
              </a:rPr>
              <a:t>指令格式</a:t>
            </a:r>
          </a:p>
        </p:txBody>
      </p:sp>
      <p:sp>
        <p:nvSpPr>
          <p:cNvPr id="5122" name="文本框 263170"/>
          <p:cNvSpPr txBox="1"/>
          <p:nvPr/>
        </p:nvSpPr>
        <p:spPr>
          <a:xfrm>
            <a:off x="611188" y="1412875"/>
            <a:ext cx="8208962" cy="420688"/>
          </a:xfrm>
          <a:prstGeom prst="rect">
            <a:avLst/>
          </a:prstGeom>
          <a:noFill/>
          <a:ln w="9525">
            <a:noFill/>
          </a:ln>
        </p:spPr>
        <p:txBody>
          <a:bodyPr anchor="t">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5123" name="矩形 263172"/>
          <p:cNvSpPr/>
          <p:nvPr/>
        </p:nvSpPr>
        <p:spPr>
          <a:xfrm>
            <a:off x="323528" y="836712"/>
            <a:ext cx="4070345" cy="523220"/>
          </a:xfrm>
          <a:prstGeom prst="rect">
            <a:avLst/>
          </a:prstGeom>
          <a:noFill/>
          <a:ln w="9525">
            <a:noFill/>
          </a:ln>
        </p:spPr>
        <p:txBody>
          <a:bodyPr wrap="none" anchor="ctr">
            <a:spAutoFit/>
          </a:bodyPr>
          <a:lstStyle/>
          <a:p>
            <a:pPr lvl="0" indent="0"/>
            <a:r>
              <a:rPr lang="zh-CN" altLang="en-US" sz="2800" b="1" dirty="0">
                <a:solidFill>
                  <a:srgbClr val="0000FF"/>
                </a:solidFill>
                <a:latin typeface="Arial" panose="020B0604020202020204" pitchFamily="34" charset="0"/>
                <a:ea typeface="宋体" panose="02010600030101010101" pitchFamily="2" charset="-122"/>
              </a:rPr>
              <a:t>二、</a:t>
            </a:r>
            <a:r>
              <a:rPr lang="en-US" altLang="zh-CN" sz="2800" b="1" dirty="0">
                <a:solidFill>
                  <a:srgbClr val="0000FF"/>
                </a:solidFill>
                <a:latin typeface="Arial" panose="020B0604020202020204" pitchFamily="34" charset="0"/>
                <a:ea typeface="宋体" panose="02010600030101010101" pitchFamily="2" charset="-122"/>
              </a:rPr>
              <a:t> 8086</a:t>
            </a:r>
            <a:r>
              <a:rPr lang="zh-CN" altLang="en-US" sz="2800" b="1" dirty="0">
                <a:solidFill>
                  <a:srgbClr val="0000FF"/>
                </a:solidFill>
                <a:latin typeface="Arial" panose="020B0604020202020204" pitchFamily="34" charset="0"/>
                <a:ea typeface="宋体" panose="02010600030101010101" pitchFamily="2" charset="-122"/>
              </a:rPr>
              <a:t>汇编指令格式 </a:t>
            </a:r>
          </a:p>
        </p:txBody>
      </p:sp>
      <p:sp>
        <p:nvSpPr>
          <p:cNvPr id="5132" name="矩形 263181"/>
          <p:cNvSpPr/>
          <p:nvPr/>
        </p:nvSpPr>
        <p:spPr>
          <a:xfrm>
            <a:off x="1085850" y="1341438"/>
            <a:ext cx="6985000" cy="358775"/>
          </a:xfrm>
          <a:prstGeom prst="rect">
            <a:avLst/>
          </a:prstGeom>
          <a:solidFill>
            <a:schemeClr val="bg1"/>
          </a:solidFill>
          <a:ln w="9525">
            <a:noFill/>
          </a:ln>
        </p:spPr>
        <p:txBody>
          <a:bodyPr anchor="t"/>
          <a:lstStyle/>
          <a:p>
            <a:pPr lvl="0" indent="0">
              <a:spcBef>
                <a:spcPct val="20000"/>
              </a:spcBef>
            </a:pPr>
            <a:r>
              <a:rPr lang="zh-CN" altLang="en-US" sz="2400" dirty="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标号：</a:t>
            </a:r>
            <a:r>
              <a:rPr lang="en-US" altLang="zh-CN" sz="2400" b="1">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　</a:t>
            </a:r>
            <a:r>
              <a:rPr lang="zh-CN" altLang="en-US" sz="2400" b="1" dirty="0">
                <a:solidFill>
                  <a:srgbClr val="FF00FF"/>
                </a:solidFill>
                <a:latin typeface="宋体" panose="02010600030101010101" pitchFamily="2" charset="-122"/>
                <a:ea typeface="宋体" panose="02010600030101010101" pitchFamily="2" charset="-122"/>
              </a:rPr>
              <a:t>操作码</a:t>
            </a:r>
            <a:r>
              <a:rPr lang="zh-CN" altLang="en-US" sz="2400" b="1" dirty="0">
                <a:latin typeface="宋体" panose="02010600030101010101" pitchFamily="2" charset="-122"/>
                <a:ea typeface="宋体" panose="02010600030101010101" pitchFamily="2" charset="-122"/>
              </a:rPr>
              <a:t>　</a:t>
            </a:r>
            <a:r>
              <a:rPr lang="zh-CN" altLang="en-US" sz="2400" b="1" dirty="0">
                <a:solidFill>
                  <a:srgbClr val="FF00FF"/>
                </a:solidFill>
                <a:latin typeface="宋体" panose="02010600030101010101" pitchFamily="2" charset="-122"/>
                <a:ea typeface="宋体" panose="02010600030101010101" pitchFamily="2" charset="-122"/>
              </a:rPr>
              <a:t>操作数　</a:t>
            </a:r>
            <a:r>
              <a:rPr lang="en-US" altLang="zh-CN" sz="2400" b="1">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；注释</a:t>
            </a:r>
            <a:r>
              <a:rPr lang="en-US" altLang="zh-CN" sz="2400" b="1">
                <a:latin typeface="宋体" panose="02010600030101010101" pitchFamily="2" charset="-122"/>
                <a:ea typeface="宋体" panose="02010600030101010101" pitchFamily="2" charset="-122"/>
              </a:rPr>
              <a:t>]</a:t>
            </a:r>
          </a:p>
        </p:txBody>
      </p:sp>
      <p:sp>
        <p:nvSpPr>
          <p:cNvPr id="18" name="Text Box 28"/>
          <p:cNvSpPr txBox="1">
            <a:spLocks noChangeArrowheads="1"/>
          </p:cNvSpPr>
          <p:nvPr/>
        </p:nvSpPr>
        <p:spPr bwMode="auto">
          <a:xfrm>
            <a:off x="144463" y="2005186"/>
            <a:ext cx="899953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spcBef>
                <a:spcPct val="20000"/>
              </a:spcBef>
            </a:pPr>
            <a:r>
              <a:rPr lang="zh-CN" altLang="en-US" sz="2400" b="1" dirty="0">
                <a:solidFill>
                  <a:srgbClr val="0000FF"/>
                </a:solidFill>
                <a:latin typeface="楷体_GB2312" pitchFamily="49" charset="-122"/>
              </a:rPr>
              <a:t>操作码</a:t>
            </a:r>
            <a:r>
              <a:rPr lang="zh-CN" altLang="en-US" sz="2400" b="1" dirty="0">
                <a:solidFill>
                  <a:srgbClr val="0000FF"/>
                </a:solidFill>
                <a:ea typeface="宋体" charset="-122"/>
              </a:rPr>
              <a:t>：</a:t>
            </a:r>
            <a:r>
              <a:rPr lang="zh-CN" altLang="en-US" sz="2400" b="1" dirty="0">
                <a:latin typeface="楷体_GB2312" pitchFamily="49" charset="-122"/>
              </a:rPr>
              <a:t>由</a:t>
            </a:r>
            <a:r>
              <a:rPr lang="en-US" altLang="zh-CN" sz="2400" b="1" dirty="0"/>
              <a:t>CPU</a:t>
            </a:r>
            <a:r>
              <a:rPr lang="zh-CN" altLang="en-US" sz="2400" b="1" dirty="0">
                <a:latin typeface="楷体_GB2312" pitchFamily="49" charset="-122"/>
              </a:rPr>
              <a:t>设计人员定义。每一种操作唯一对应一个操作码。</a:t>
            </a:r>
          </a:p>
          <a:p>
            <a:pPr lvl="1" algn="l" eaLnBrk="1" hangingPunct="1">
              <a:spcBef>
                <a:spcPct val="20000"/>
              </a:spcBef>
            </a:pPr>
            <a:r>
              <a:rPr lang="zh-CN" altLang="en-US" sz="2400" b="1" dirty="0">
                <a:latin typeface="Arial Narrow" pitchFamily="34" charset="0"/>
                <a:ea typeface="宋体" charset="-122"/>
              </a:rPr>
              <a:t>  </a:t>
            </a:r>
            <a:r>
              <a:rPr lang="zh-CN" altLang="en-US" sz="2400" b="1" dirty="0"/>
              <a:t>例： </a:t>
            </a:r>
            <a:r>
              <a:rPr lang="zh-CN" altLang="en-US" sz="2400" b="1" dirty="0">
                <a:solidFill>
                  <a:srgbClr val="FF5050"/>
                </a:solidFill>
              </a:rPr>
              <a:t>加法</a:t>
            </a:r>
            <a:r>
              <a:rPr lang="zh-CN" altLang="en-US" sz="2400" b="1" dirty="0"/>
              <a:t>操作助记符</a:t>
            </a:r>
            <a:r>
              <a:rPr lang="en-US" altLang="zh-CN" sz="2400" b="1" dirty="0">
                <a:solidFill>
                  <a:srgbClr val="FF5050"/>
                </a:solidFill>
              </a:rPr>
              <a:t>ADD</a:t>
            </a:r>
            <a:r>
              <a:rPr lang="zh-CN" altLang="en-US" sz="2400" b="1" dirty="0"/>
              <a:t>；</a:t>
            </a:r>
          </a:p>
          <a:p>
            <a:pPr lvl="1" algn="l" eaLnBrk="1" hangingPunct="1">
              <a:spcBef>
                <a:spcPct val="20000"/>
              </a:spcBef>
            </a:pPr>
            <a:r>
              <a:rPr lang="zh-CN" altLang="en-US" sz="2400" b="1" dirty="0">
                <a:solidFill>
                  <a:srgbClr val="FF5050"/>
                </a:solidFill>
              </a:rPr>
              <a:t>           数据传送</a:t>
            </a:r>
            <a:r>
              <a:rPr lang="zh-CN" altLang="en-US" sz="2400" b="1" dirty="0"/>
              <a:t>操作助记符</a:t>
            </a:r>
            <a:r>
              <a:rPr lang="en-US" altLang="zh-CN" sz="2400" b="1" dirty="0">
                <a:solidFill>
                  <a:srgbClr val="FF5050"/>
                </a:solidFill>
              </a:rPr>
              <a:t>MOV</a:t>
            </a:r>
            <a:r>
              <a:rPr lang="zh-CN" altLang="en-US" sz="2400" b="1" dirty="0"/>
              <a:t>；</a:t>
            </a:r>
          </a:p>
          <a:p>
            <a:pPr lvl="1" algn="l" eaLnBrk="1" hangingPunct="1">
              <a:spcBef>
                <a:spcPct val="20000"/>
              </a:spcBef>
            </a:pPr>
            <a:r>
              <a:rPr lang="zh-CN" altLang="en-US" sz="2400" b="1" dirty="0">
                <a:solidFill>
                  <a:srgbClr val="FF5050"/>
                </a:solidFill>
              </a:rPr>
              <a:t>           比较</a:t>
            </a:r>
            <a:r>
              <a:rPr lang="zh-CN" altLang="en-US" sz="2400" b="1" dirty="0"/>
              <a:t>操作助记符</a:t>
            </a:r>
            <a:r>
              <a:rPr lang="en-US" altLang="zh-CN" sz="2400" b="1" dirty="0">
                <a:solidFill>
                  <a:srgbClr val="FF5050"/>
                </a:solidFill>
              </a:rPr>
              <a:t>CMP</a:t>
            </a:r>
            <a:r>
              <a:rPr lang="zh-CN" altLang="en-US" sz="2400" b="1" dirty="0"/>
              <a:t>；</a:t>
            </a:r>
          </a:p>
          <a:p>
            <a:pPr algn="l" eaLnBrk="1" hangingPunct="1">
              <a:spcBef>
                <a:spcPct val="20000"/>
              </a:spcBef>
            </a:pPr>
            <a:r>
              <a:rPr lang="zh-CN" altLang="en-US" sz="2400" b="1" dirty="0">
                <a:solidFill>
                  <a:srgbClr val="0000FF"/>
                </a:solidFill>
                <a:latin typeface="楷体_GB2312" pitchFamily="49" charset="-122"/>
              </a:rPr>
              <a:t>操作数：</a:t>
            </a:r>
            <a:r>
              <a:rPr lang="zh-CN" altLang="en-US" sz="2400" b="1" dirty="0"/>
              <a:t>由编程人员采用不同方式给出。</a:t>
            </a:r>
          </a:p>
          <a:p>
            <a:pPr algn="l" eaLnBrk="1" hangingPunct="1">
              <a:spcBef>
                <a:spcPct val="20000"/>
              </a:spcBef>
            </a:pPr>
            <a:r>
              <a:rPr lang="zh-CN" altLang="en-US" sz="2400" b="1" dirty="0">
                <a:solidFill>
                  <a:srgbClr val="0000FF"/>
                </a:solidFill>
                <a:latin typeface="楷体_GB2312" pitchFamily="49" charset="-122"/>
              </a:rPr>
              <a:t>指令格式：</a:t>
            </a:r>
            <a:r>
              <a:rPr lang="zh-CN" altLang="en-US" sz="2400" b="1" dirty="0"/>
              <a:t>指令中对操作码、操作数的编码方式。</a:t>
            </a:r>
          </a:p>
        </p:txBody>
      </p:sp>
    </p:spTree>
    <p:extLst>
      <p:ext uri="{BB962C8B-B14F-4D97-AF65-F5344CB8AC3E}">
        <p14:creationId xmlns:p14="http://schemas.microsoft.com/office/powerpoint/2010/main" val="3834379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5" name="文本框 264193"/>
          <p:cNvSpPr txBox="1"/>
          <p:nvPr/>
        </p:nvSpPr>
        <p:spPr>
          <a:xfrm>
            <a:off x="323850" y="981075"/>
            <a:ext cx="2895600" cy="701675"/>
          </a:xfrm>
          <a:prstGeom prst="rect">
            <a:avLst/>
          </a:prstGeom>
          <a:noFill/>
          <a:ln w="9525">
            <a:noFill/>
          </a:ln>
        </p:spPr>
        <p:txBody>
          <a:bodyPr anchor="t">
            <a:spAutoFit/>
          </a:bodyPr>
          <a:lstStyle/>
          <a:p>
            <a:pPr lvl="0" indent="0">
              <a:spcBef>
                <a:spcPct val="50000"/>
              </a:spcBef>
            </a:pPr>
            <a:r>
              <a:rPr lang="zh-CN" altLang="en-US" sz="4000" dirty="0">
                <a:latin typeface="Times New Roman" panose="02020603050405020304" pitchFamily="18" charset="0"/>
                <a:ea typeface="宋体" panose="02010600030101010101" pitchFamily="2" charset="-122"/>
              </a:rPr>
              <a:t>指令举例：</a:t>
            </a:r>
            <a:endParaRPr lang="zh-CN" altLang="en-US" sz="4000">
              <a:latin typeface="Times New Roman" panose="02020603050405020304" pitchFamily="18" charset="0"/>
              <a:ea typeface="宋体" panose="02010600030101010101" pitchFamily="2" charset="-122"/>
            </a:endParaRPr>
          </a:p>
        </p:txBody>
      </p:sp>
      <p:sp>
        <p:nvSpPr>
          <p:cNvPr id="6146" name="文本框 264194"/>
          <p:cNvSpPr txBox="1"/>
          <p:nvPr/>
        </p:nvSpPr>
        <p:spPr>
          <a:xfrm>
            <a:off x="3519488" y="3352800"/>
            <a:ext cx="5373687" cy="823913"/>
          </a:xfrm>
          <a:prstGeom prst="rect">
            <a:avLst/>
          </a:prstGeom>
          <a:noFill/>
          <a:ln w="9525">
            <a:noFill/>
          </a:ln>
        </p:spPr>
        <p:txBody>
          <a:bodyPr anchor="t">
            <a:spAutoFit/>
          </a:bodyPr>
          <a:lstStyle/>
          <a:p>
            <a:pPr lvl="0" indent="0">
              <a:spcBef>
                <a:spcPct val="50000"/>
              </a:spcBef>
            </a:pPr>
            <a:r>
              <a:rPr lang="en-US" altLang="zh-CN" sz="4800">
                <a:latin typeface="Times New Roman" panose="02020603050405020304" pitchFamily="18" charset="0"/>
                <a:ea typeface="宋体" panose="02010600030101010101" pitchFamily="2" charset="-122"/>
              </a:rPr>
              <a:t>ADD    AX</a:t>
            </a:r>
            <a:r>
              <a:rPr lang="zh-CN" altLang="en-US" sz="4800">
                <a:latin typeface="Times New Roman" panose="02020603050405020304" pitchFamily="18" charset="0"/>
                <a:ea typeface="宋体" panose="02010600030101010101" pitchFamily="2" charset="-122"/>
              </a:rPr>
              <a:t>，</a:t>
            </a:r>
            <a:r>
              <a:rPr lang="en-US" altLang="zh-CN" sz="4800">
                <a:latin typeface="Times New Roman" panose="02020603050405020304" pitchFamily="18" charset="0"/>
                <a:ea typeface="宋体" panose="02010600030101010101" pitchFamily="2" charset="-122"/>
              </a:rPr>
              <a:t>[SI+6]</a:t>
            </a:r>
          </a:p>
        </p:txBody>
      </p:sp>
      <p:sp>
        <p:nvSpPr>
          <p:cNvPr id="6147" name="文本框 264195"/>
          <p:cNvSpPr txBox="1"/>
          <p:nvPr/>
        </p:nvSpPr>
        <p:spPr>
          <a:xfrm>
            <a:off x="3563938" y="1052513"/>
            <a:ext cx="4537075" cy="823912"/>
          </a:xfrm>
          <a:prstGeom prst="rect">
            <a:avLst/>
          </a:prstGeom>
          <a:noFill/>
          <a:ln w="9525">
            <a:noFill/>
          </a:ln>
        </p:spPr>
        <p:txBody>
          <a:bodyPr anchor="t">
            <a:spAutoFit/>
          </a:bodyPr>
          <a:lstStyle/>
          <a:p>
            <a:pPr lvl="0" indent="0">
              <a:spcBef>
                <a:spcPct val="50000"/>
              </a:spcBef>
            </a:pPr>
            <a:r>
              <a:rPr lang="en-US" altLang="zh-CN" sz="4800">
                <a:latin typeface="Times New Roman" panose="02020603050405020304" pitchFamily="18" charset="0"/>
                <a:ea typeface="宋体" panose="02010600030101010101" pitchFamily="2" charset="-122"/>
              </a:rPr>
              <a:t>MOV   AX , BX</a:t>
            </a:r>
            <a:endParaRPr lang="en-US" altLang="zh-CN" sz="4000">
              <a:latin typeface="Times New Roman" panose="02020603050405020304" pitchFamily="18" charset="0"/>
              <a:ea typeface="宋体" panose="02010600030101010101" pitchFamily="2" charset="-122"/>
            </a:endParaRPr>
          </a:p>
        </p:txBody>
      </p:sp>
      <p:sp>
        <p:nvSpPr>
          <p:cNvPr id="6148" name="文本框 264196"/>
          <p:cNvSpPr txBox="1"/>
          <p:nvPr/>
        </p:nvSpPr>
        <p:spPr>
          <a:xfrm>
            <a:off x="3276600" y="2636838"/>
            <a:ext cx="4535488" cy="823912"/>
          </a:xfrm>
          <a:prstGeom prst="rect">
            <a:avLst/>
          </a:prstGeom>
          <a:noFill/>
          <a:ln w="9525">
            <a:noFill/>
          </a:ln>
        </p:spPr>
        <p:txBody>
          <a:bodyPr anchor="t">
            <a:spAutoFit/>
          </a:bodyPr>
          <a:lstStyle/>
          <a:p>
            <a:pPr lvl="0" indent="0">
              <a:spcBef>
                <a:spcPct val="50000"/>
              </a:spcBef>
            </a:pPr>
            <a:r>
              <a:rPr lang="zh-CN" altLang="en-US" sz="4800" dirty="0">
                <a:latin typeface="Times New Roman" panose="02020603050405020304" pitchFamily="18" charset="0"/>
                <a:ea typeface="宋体" panose="02010600030101010101" pitchFamily="2" charset="-122"/>
              </a:rPr>
              <a:t>操作码   操作数</a:t>
            </a:r>
            <a:endParaRPr lang="zh-CN" altLang="en-US" sz="4800">
              <a:latin typeface="Times New Roman" panose="02020603050405020304" pitchFamily="18" charset="0"/>
              <a:ea typeface="宋体" panose="02010600030101010101" pitchFamily="2" charset="-122"/>
            </a:endParaRPr>
          </a:p>
        </p:txBody>
      </p:sp>
      <p:sp>
        <p:nvSpPr>
          <p:cNvPr id="6149" name="下箭头 264197"/>
          <p:cNvSpPr/>
          <p:nvPr/>
        </p:nvSpPr>
        <p:spPr>
          <a:xfrm>
            <a:off x="3995738" y="1844675"/>
            <a:ext cx="381000" cy="838200"/>
          </a:xfrm>
          <a:prstGeom prst="downArrow">
            <a:avLst>
              <a:gd name="adj1" fmla="val 50000"/>
              <a:gd name="adj2" fmla="val 55000"/>
            </a:avLst>
          </a:prstGeom>
          <a:solidFill>
            <a:srgbClr val="99FFCC"/>
          </a:solidFill>
          <a:ln w="9525" cap="flat" cmpd="sng">
            <a:solidFill>
              <a:schemeClr val="tx1"/>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6150" name="直接连接符 264198"/>
          <p:cNvSpPr/>
          <p:nvPr/>
        </p:nvSpPr>
        <p:spPr>
          <a:xfrm>
            <a:off x="5940425" y="1773238"/>
            <a:ext cx="360363" cy="863600"/>
          </a:xfrm>
          <a:prstGeom prst="line">
            <a:avLst/>
          </a:prstGeom>
          <a:ln w="76200" cap="flat" cmpd="sng">
            <a:solidFill>
              <a:srgbClr val="66FFCC"/>
            </a:solidFill>
            <a:prstDash val="solid"/>
            <a:round/>
            <a:headEnd type="none" w="med" len="med"/>
            <a:tailEnd type="triangle" w="med" len="med"/>
          </a:ln>
        </p:spPr>
      </p:sp>
      <p:sp>
        <p:nvSpPr>
          <p:cNvPr id="6151" name="直接连接符 264199"/>
          <p:cNvSpPr/>
          <p:nvPr/>
        </p:nvSpPr>
        <p:spPr>
          <a:xfrm flipH="1">
            <a:off x="6732588" y="1773238"/>
            <a:ext cx="431800" cy="863600"/>
          </a:xfrm>
          <a:prstGeom prst="line">
            <a:avLst/>
          </a:prstGeom>
          <a:ln w="76200" cap="flat" cmpd="sng">
            <a:solidFill>
              <a:srgbClr val="66FFCC"/>
            </a:solidFill>
            <a:prstDash val="solid"/>
            <a:round/>
            <a:headEnd type="none" w="med" len="med"/>
            <a:tailEnd type="triangle" w="med" len="med"/>
          </a:ln>
        </p:spPr>
      </p:sp>
      <p:sp>
        <p:nvSpPr>
          <p:cNvPr id="6152" name="文本框 264200"/>
          <p:cNvSpPr txBox="1"/>
          <p:nvPr/>
        </p:nvSpPr>
        <p:spPr>
          <a:xfrm>
            <a:off x="3595688" y="4343400"/>
            <a:ext cx="3713162" cy="823913"/>
          </a:xfrm>
          <a:prstGeom prst="rect">
            <a:avLst/>
          </a:prstGeom>
          <a:noFill/>
          <a:ln w="9525">
            <a:noFill/>
          </a:ln>
        </p:spPr>
        <p:txBody>
          <a:bodyPr anchor="t">
            <a:spAutoFit/>
          </a:bodyPr>
          <a:lstStyle/>
          <a:p>
            <a:pPr lvl="0" indent="0">
              <a:spcBef>
                <a:spcPct val="50000"/>
              </a:spcBef>
            </a:pPr>
            <a:r>
              <a:rPr lang="en-US" altLang="zh-CN" sz="4800">
                <a:latin typeface="Times New Roman" panose="02020603050405020304" pitchFamily="18" charset="0"/>
                <a:ea typeface="宋体" panose="02010600030101010101" pitchFamily="2" charset="-122"/>
              </a:rPr>
              <a:t>INC     [BX]</a:t>
            </a:r>
            <a:endParaRPr lang="en-US" altLang="zh-CN" sz="4000">
              <a:latin typeface="Times New Roman" panose="02020603050405020304" pitchFamily="18" charset="0"/>
              <a:ea typeface="宋体" panose="02010600030101010101" pitchFamily="2" charset="-122"/>
            </a:endParaRPr>
          </a:p>
        </p:txBody>
      </p:sp>
      <p:sp>
        <p:nvSpPr>
          <p:cNvPr id="6153" name="文本框 264201"/>
          <p:cNvSpPr txBox="1"/>
          <p:nvPr/>
        </p:nvSpPr>
        <p:spPr>
          <a:xfrm>
            <a:off x="3563938" y="5300663"/>
            <a:ext cx="2087562" cy="823912"/>
          </a:xfrm>
          <a:prstGeom prst="rect">
            <a:avLst/>
          </a:prstGeom>
          <a:noFill/>
          <a:ln w="9525">
            <a:noFill/>
          </a:ln>
        </p:spPr>
        <p:txBody>
          <a:bodyPr anchor="t">
            <a:spAutoFit/>
          </a:bodyPr>
          <a:lstStyle/>
          <a:p>
            <a:pPr lvl="0" indent="0">
              <a:spcBef>
                <a:spcPct val="50000"/>
              </a:spcBef>
            </a:pPr>
            <a:r>
              <a:rPr lang="en-US" altLang="zh-CN" sz="4800">
                <a:latin typeface="Times New Roman" panose="02020603050405020304" pitchFamily="18" charset="0"/>
                <a:ea typeface="宋体" panose="02010600030101010101" pitchFamily="2" charset="-122"/>
              </a:rPr>
              <a:t>HLT</a:t>
            </a:r>
          </a:p>
        </p:txBody>
      </p:sp>
      <p:sp>
        <p:nvSpPr>
          <p:cNvPr id="6154" name="矩形 264202"/>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3.1  </a:t>
            </a:r>
            <a:r>
              <a:rPr lang="zh-CN" altLang="en-US" sz="3600" b="1" dirty="0">
                <a:solidFill>
                  <a:srgbClr val="FF0000"/>
                </a:solidFill>
                <a:latin typeface="Times New Roman" panose="02020603050405020304" pitchFamily="18" charset="0"/>
                <a:ea typeface="隶书" panose="02010509060101010101" pitchFamily="49" charset="-122"/>
              </a:rPr>
              <a:t>指令格式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266241"/>
          <p:cNvSpPr>
            <a:spLocks noGrp="1"/>
          </p:cNvSpPr>
          <p:nvPr>
            <p:ph type="title"/>
          </p:nvPr>
        </p:nvSpPr>
        <p:spPr>
          <a:xfrm>
            <a:off x="1044575" y="188913"/>
            <a:ext cx="6696075" cy="431800"/>
          </a:xfrm>
          <a:ln/>
        </p:spPr>
        <p:txBody>
          <a:bodyPr anchor="ctr"/>
          <a:lstStyle/>
          <a:p>
            <a:pPr lvl="0" indent="0"/>
            <a:r>
              <a:rPr lang="en-US" altLang="zh-CN" sz="3600" b="1">
                <a:solidFill>
                  <a:srgbClr val="FF0000"/>
                </a:solidFill>
                <a:ea typeface="隶书" panose="02010509060101010101" pitchFamily="49" charset="-122"/>
              </a:rPr>
              <a:t>3.1  </a:t>
            </a:r>
            <a:r>
              <a:rPr lang="zh-CN" altLang="en-US" sz="3600" b="1" dirty="0">
                <a:solidFill>
                  <a:srgbClr val="FF0000"/>
                </a:solidFill>
                <a:ea typeface="隶书" panose="02010509060101010101" pitchFamily="49" charset="-122"/>
              </a:rPr>
              <a:t>指令格式</a:t>
            </a:r>
          </a:p>
        </p:txBody>
      </p:sp>
      <p:sp>
        <p:nvSpPr>
          <p:cNvPr id="8194" name="矩形 266243"/>
          <p:cNvSpPr/>
          <p:nvPr/>
        </p:nvSpPr>
        <p:spPr>
          <a:xfrm>
            <a:off x="251520" y="836712"/>
            <a:ext cx="3744664" cy="523220"/>
          </a:xfrm>
          <a:prstGeom prst="rect">
            <a:avLst/>
          </a:prstGeom>
          <a:noFill/>
          <a:ln w="9525">
            <a:noFill/>
          </a:ln>
        </p:spPr>
        <p:txBody>
          <a:bodyPr wrap="square" anchor="ctr">
            <a:spAutoFit/>
          </a:bodyPr>
          <a:lstStyle/>
          <a:p>
            <a:pPr lvl="0" indent="0"/>
            <a:r>
              <a:rPr lang="zh-CN" altLang="en-US" sz="2800" b="1" dirty="0">
                <a:solidFill>
                  <a:srgbClr val="0000FF"/>
                </a:solidFill>
                <a:latin typeface="Arial" panose="020B0604020202020204" pitchFamily="34" charset="0"/>
                <a:ea typeface="宋体" panose="02010600030101010101" pitchFamily="2" charset="-122"/>
              </a:rPr>
              <a:t>三、操作数类型 </a:t>
            </a:r>
          </a:p>
        </p:txBody>
      </p:sp>
      <p:sp>
        <p:nvSpPr>
          <p:cNvPr id="8195" name="矩形 266244"/>
          <p:cNvSpPr/>
          <p:nvPr/>
        </p:nvSpPr>
        <p:spPr>
          <a:xfrm>
            <a:off x="468313" y="1412875"/>
            <a:ext cx="8280400" cy="1871663"/>
          </a:xfrm>
          <a:prstGeom prst="rect">
            <a:avLst/>
          </a:prstGeom>
          <a:noFill/>
          <a:ln w="9525">
            <a:noFill/>
          </a:ln>
        </p:spPr>
        <p:txBody>
          <a:bodyPr anchor="t"/>
          <a:lstStyle/>
          <a:p>
            <a:pPr lvl="0" indent="0">
              <a:spcBef>
                <a:spcPct val="20000"/>
              </a:spcBef>
              <a:buClrTx/>
            </a:pPr>
            <a:r>
              <a:rPr lang="en-US" altLang="zh-CN" sz="2400" b="1">
                <a:latin typeface="隶书" panose="02010509060101010101" pitchFamily="49" charset="-122"/>
                <a:ea typeface="隶书" panose="02010509060101010101" pitchFamily="49" charset="-122"/>
              </a:rPr>
              <a:t>1</a:t>
            </a:r>
            <a:r>
              <a:rPr lang="zh-CN" altLang="en-US" sz="2400" b="1" dirty="0">
                <a:latin typeface="隶书" panose="02010509060101010101" pitchFamily="49" charset="-122"/>
                <a:ea typeface="隶书" panose="02010509060101010101" pitchFamily="49" charset="-122"/>
              </a:rPr>
              <a:t>、立即数（常数）</a:t>
            </a:r>
          </a:p>
          <a:p>
            <a:pPr lvl="0" indent="0">
              <a:spcBef>
                <a:spcPct val="20000"/>
              </a:spcBef>
              <a:buClrTx/>
            </a:pPr>
            <a:r>
              <a:rPr lang="zh-CN" altLang="en-US" sz="2400" b="1" dirty="0">
                <a:latin typeface="Times New Roman" panose="02020603050405020304" pitchFamily="18" charset="0"/>
                <a:ea typeface="宋体" panose="02010600030101010101" pitchFamily="2" charset="-122"/>
              </a:rPr>
              <a:t>指具有固定数值的操作数（即常数），它具体可以是一个字节、字或双字</a:t>
            </a:r>
          </a:p>
          <a:p>
            <a:pPr lvl="0" indent="0">
              <a:spcBef>
                <a:spcPct val="20000"/>
              </a:spcBef>
              <a:buClrTx/>
            </a:pPr>
            <a:r>
              <a:rPr lang="zh-CN" altLang="en-US" sz="2400" b="1" dirty="0">
                <a:latin typeface="Times New Roman" panose="02020603050405020304" pitchFamily="18" charset="0"/>
                <a:ea typeface="宋体" panose="02010600030101010101" pitchFamily="2" charset="-122"/>
              </a:rPr>
              <a:t>取值范围如下表</a:t>
            </a:r>
            <a:r>
              <a:rPr lang="zh-CN" altLang="en-US" sz="2400" dirty="0">
                <a:latin typeface="Times New Roman" panose="02020603050405020304" pitchFamily="18" charset="0"/>
                <a:ea typeface="宋体" panose="02010600030101010101" pitchFamily="2" charset="-122"/>
              </a:rPr>
              <a:t>：</a:t>
            </a:r>
          </a:p>
        </p:txBody>
      </p:sp>
      <p:sp>
        <p:nvSpPr>
          <p:cNvPr id="8196" name="文本框 266245"/>
          <p:cNvSpPr txBox="1"/>
          <p:nvPr/>
        </p:nvSpPr>
        <p:spPr>
          <a:xfrm>
            <a:off x="4784725" y="3838575"/>
            <a:ext cx="4359275" cy="1277938"/>
          </a:xfrm>
          <a:prstGeom prst="rect">
            <a:avLst/>
          </a:prstGeom>
          <a:noFill/>
          <a:ln w="9525">
            <a:noFill/>
          </a:ln>
        </p:spPr>
        <p:txBody>
          <a:bodyPr lIns="0" tIns="0" rIns="0" bIns="0" anchor="t">
            <a:spAutoFit/>
          </a:bodyPr>
          <a:lstStyle/>
          <a:p>
            <a:pPr lvl="0" indent="0" algn="ctr"/>
            <a:endParaRPr lang="zh-CN" altLang="en-US" sz="2400">
              <a:latin typeface="Times New Roman" panose="02020603050405020304" pitchFamily="18" charset="0"/>
              <a:ea typeface="宋体" panose="02010600030101010101" pitchFamily="2" charset="-122"/>
            </a:endParaRPr>
          </a:p>
          <a:p>
            <a:pPr lvl="0" indent="0" algn="ctr"/>
            <a:endParaRPr lang="zh-CN" altLang="en-US" sz="2400">
              <a:latin typeface="Times New Roman" panose="02020603050405020304" pitchFamily="18" charset="0"/>
              <a:ea typeface="宋体" panose="02010600030101010101" pitchFamily="2" charset="-122"/>
            </a:endParaRPr>
          </a:p>
          <a:p>
            <a:pPr lvl="0" indent="0" algn="ctr">
              <a:spcBef>
                <a:spcPct val="50000"/>
              </a:spcBef>
            </a:pPr>
            <a:endParaRPr lang="zh-CN" altLang="en-US" sz="2400">
              <a:latin typeface="Times New Roman" panose="02020603050405020304" pitchFamily="18" charset="0"/>
              <a:ea typeface="宋体" panose="02010600030101010101" pitchFamily="2" charset="-122"/>
            </a:endParaRPr>
          </a:p>
        </p:txBody>
      </p:sp>
      <p:sp>
        <p:nvSpPr>
          <p:cNvPr id="8197" name="矩形 266246"/>
          <p:cNvSpPr/>
          <p:nvPr/>
        </p:nvSpPr>
        <p:spPr>
          <a:xfrm>
            <a:off x="684213" y="5156200"/>
            <a:ext cx="5183187" cy="360363"/>
          </a:xfrm>
          <a:prstGeom prst="rect">
            <a:avLst/>
          </a:prstGeom>
        </p:spPr>
        <p:txBody>
          <a:bodyPr wrap="none" fromWordArt="1">
            <a:prstTxWarp prst="textPlain">
              <a:avLst>
                <a:gd name="adj" fmla="val 50000"/>
              </a:avLst>
            </a:prstTxWarp>
            <a:normAutofit fontScale="55000" lnSpcReduction="20000"/>
          </a:bodyPr>
          <a:lstStyle/>
          <a:p>
            <a:pPr algn="ctr"/>
            <a:r>
              <a:rPr lang="zh-CN" altLang="en-US" sz="3600" b="1" dirty="0">
                <a:ln w="9525" cap="flat" cmpd="sng">
                  <a:solidFill>
                    <a:srgbClr val="3366FF"/>
                  </a:solidFill>
                  <a:prstDash val="solid"/>
                  <a:round/>
                  <a:headEnd type="none" w="med" len="med"/>
                  <a:tailEnd type="none" w="med" len="med"/>
                </a:ln>
                <a:solidFill>
                  <a:srgbClr val="FF00FF"/>
                </a:solidFill>
                <a:latin typeface="宋体" panose="02010600030101010101" pitchFamily="2" charset="-122"/>
                <a:ea typeface="宋体" panose="02010600030101010101" pitchFamily="2" charset="-122"/>
              </a:rPr>
              <a:t>注意：立即数只能用作源操作数</a:t>
            </a:r>
          </a:p>
        </p:txBody>
      </p:sp>
      <p:graphicFrame>
        <p:nvGraphicFramePr>
          <p:cNvPr id="266268" name="表格 266267"/>
          <p:cNvGraphicFramePr/>
          <p:nvPr/>
        </p:nvGraphicFramePr>
        <p:xfrm>
          <a:off x="179388" y="3486150"/>
          <a:ext cx="8748713" cy="1463675"/>
        </p:xfrm>
        <a:graphic>
          <a:graphicData uri="http://schemas.openxmlformats.org/drawingml/2006/table">
            <a:tbl>
              <a:tblPr/>
              <a:tblGrid>
                <a:gridCol w="1296988">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4356100">
                  <a:extLst>
                    <a:ext uri="{9D8B030D-6E8A-4147-A177-3AD203B41FA5}">
                      <a16:colId xmlns:a16="http://schemas.microsoft.com/office/drawing/2014/main" val="20002"/>
                    </a:ext>
                  </a:extLst>
                </a:gridCol>
              </a:tblGrid>
              <a:tr h="37465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endParaRPr lang="zh-CN" altLang="en-US" sz="2400" dirty="0"/>
                    </a:p>
                  </a:txBody>
                  <a:tcPr marL="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0"/>
                        </a:spcBef>
                        <a:buNone/>
                      </a:pPr>
                      <a:r>
                        <a:rPr lang="en-US" altLang="zh-CN" sz="2400"/>
                        <a:t>8</a:t>
                      </a:r>
                      <a:r>
                        <a:rPr lang="zh-CN" altLang="en-US" sz="2400" dirty="0"/>
                        <a:t>位</a:t>
                      </a: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400"/>
                        <a:t>16</a:t>
                      </a:r>
                      <a:r>
                        <a:rPr lang="zh-CN" altLang="en-US" sz="2400" dirty="0"/>
                        <a:t>位</a:t>
                      </a:r>
                    </a:p>
                  </a:txBody>
                  <a:tcPr marL="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50000"/>
                        </a:spcBef>
                        <a:buNone/>
                      </a:pPr>
                      <a:r>
                        <a:rPr lang="zh-CN" altLang="en-US" sz="2400" dirty="0"/>
                        <a:t>无符号数</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400"/>
                        <a:t>00H-FFH(0-255)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400"/>
                        <a:t>0000H-FFFFH(0-65535)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6112">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zh-CN" altLang="en-US" sz="2400" dirty="0"/>
                        <a:t>带符号数</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spcBef>
                          <a:spcPct val="50000"/>
                        </a:spcBef>
                        <a:buNone/>
                      </a:pPr>
                      <a:r>
                        <a:rPr lang="en-US" altLang="zh-CN" sz="2400"/>
                        <a:t>80H-7FH(-128~127)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2400" b="1">
                          <a:ea typeface="MingLiU" panose="02020509000000000000" pitchFamily="49" charset="-120"/>
                        </a:rPr>
                        <a:t>8000H-7FFFH(-32768~32767)</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矩形 267265"/>
          <p:cNvSpPr/>
          <p:nvPr/>
        </p:nvSpPr>
        <p:spPr>
          <a:xfrm>
            <a:off x="395288" y="782638"/>
            <a:ext cx="2797175" cy="414337"/>
          </a:xfrm>
          <a:prstGeom prst="rect">
            <a:avLst/>
          </a:prstGeom>
          <a:noFill/>
          <a:ln w="9525">
            <a:noFill/>
          </a:ln>
        </p:spPr>
        <p:txBody>
          <a:bodyPr anchor="t"/>
          <a:lstStyle/>
          <a:p>
            <a:pPr marL="342900" lvl="0" indent="-342900">
              <a:spcBef>
                <a:spcPct val="20000"/>
              </a:spcBef>
              <a:buClrTx/>
            </a:pPr>
            <a:r>
              <a:rPr lang="en-US" altLang="zh-CN" sz="2400" b="1">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、寄存器操作数</a:t>
            </a:r>
          </a:p>
        </p:txBody>
      </p:sp>
      <p:sp>
        <p:nvSpPr>
          <p:cNvPr id="9218" name="文本框 267266"/>
          <p:cNvSpPr txBox="1"/>
          <p:nvPr/>
        </p:nvSpPr>
        <p:spPr>
          <a:xfrm>
            <a:off x="468313" y="1408113"/>
            <a:ext cx="6337300" cy="365125"/>
          </a:xfrm>
          <a:prstGeom prst="rect">
            <a:avLst/>
          </a:prstGeom>
          <a:noFill/>
          <a:ln w="9525">
            <a:noFill/>
          </a:ln>
        </p:spPr>
        <p:txBody>
          <a:bodyPr lIns="0" tIns="0" rIns="0" bIns="0" anchor="t">
            <a:spAutoFit/>
          </a:bodyPr>
          <a:lstStyle/>
          <a:p>
            <a:pPr lvl="0" indent="0">
              <a:spcBef>
                <a:spcPct val="50000"/>
              </a:spcBef>
            </a:pPr>
            <a:r>
              <a:rPr lang="zh-CN" altLang="en-US" sz="2400" b="1" dirty="0">
                <a:latin typeface="Times New Roman" panose="02020603050405020304" pitchFamily="18" charset="0"/>
                <a:ea typeface="宋体" panose="02010600030101010101" pitchFamily="2" charset="-122"/>
              </a:rPr>
              <a:t>放在</a:t>
            </a:r>
            <a:r>
              <a:rPr lang="en-US" altLang="zh-CN" sz="2400" b="1">
                <a:latin typeface="Times New Roman" panose="02020603050405020304" pitchFamily="18" charset="0"/>
                <a:ea typeface="宋体" panose="02010600030101010101" pitchFamily="2" charset="-122"/>
              </a:rPr>
              <a:t>8</a:t>
            </a:r>
            <a:r>
              <a:rPr lang="zh-CN" altLang="en-US" sz="2400" b="1" dirty="0">
                <a:latin typeface="Times New Roman" panose="02020603050405020304" pitchFamily="18" charset="0"/>
                <a:ea typeface="宋体" panose="02010600030101010101" pitchFamily="2" charset="-122"/>
              </a:rPr>
              <a:t>个</a:t>
            </a:r>
            <a:r>
              <a:rPr lang="zh-CN" altLang="en-US" sz="2400" b="1" dirty="0">
                <a:solidFill>
                  <a:srgbClr val="FF00FF"/>
                </a:solidFill>
                <a:latin typeface="Times New Roman" panose="02020603050405020304" pitchFamily="18" charset="0"/>
                <a:ea typeface="宋体" panose="02010600030101010101" pitchFamily="2" charset="-122"/>
              </a:rPr>
              <a:t>通用寄存器</a:t>
            </a:r>
            <a:r>
              <a:rPr lang="zh-CN" altLang="en-US" sz="2400" b="1" dirty="0">
                <a:latin typeface="Times New Roman" panose="02020603050405020304" pitchFamily="18" charset="0"/>
                <a:ea typeface="宋体" panose="02010600030101010101" pitchFamily="2" charset="-122"/>
              </a:rPr>
              <a:t>或</a:t>
            </a:r>
            <a:r>
              <a:rPr lang="en-US" altLang="zh-CN" sz="2400" b="1">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个</a:t>
            </a:r>
            <a:r>
              <a:rPr lang="zh-CN" altLang="en-US" sz="2400" b="1" dirty="0">
                <a:solidFill>
                  <a:srgbClr val="FF00FF"/>
                </a:solidFill>
                <a:latin typeface="Times New Roman" panose="02020603050405020304" pitchFamily="18" charset="0"/>
                <a:ea typeface="宋体" panose="02010600030101010101" pitchFamily="2" charset="-122"/>
              </a:rPr>
              <a:t>段寄存器</a:t>
            </a:r>
            <a:r>
              <a:rPr lang="zh-CN" altLang="en-US" sz="2400" b="1" dirty="0">
                <a:latin typeface="Times New Roman" panose="02020603050405020304" pitchFamily="18" charset="0"/>
                <a:ea typeface="宋体" panose="02010600030101010101" pitchFamily="2" charset="-122"/>
              </a:rPr>
              <a:t>中的操作数</a:t>
            </a:r>
            <a:endParaRPr lang="zh-CN" altLang="en-US" sz="2400" b="1">
              <a:latin typeface="Times New Roman" panose="02020603050405020304" pitchFamily="18" charset="0"/>
              <a:ea typeface="宋体" panose="02010600030101010101" pitchFamily="2" charset="-122"/>
            </a:endParaRPr>
          </a:p>
        </p:txBody>
      </p:sp>
      <p:sp>
        <p:nvSpPr>
          <p:cNvPr id="9219" name="矩形 267267"/>
          <p:cNvSpPr/>
          <p:nvPr/>
        </p:nvSpPr>
        <p:spPr>
          <a:xfrm>
            <a:off x="476250" y="2036763"/>
            <a:ext cx="2590800"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AX</a:t>
            </a:r>
          </a:p>
        </p:txBody>
      </p:sp>
      <p:sp>
        <p:nvSpPr>
          <p:cNvPr id="9220" name="矩形 267268"/>
          <p:cNvSpPr/>
          <p:nvPr/>
        </p:nvSpPr>
        <p:spPr>
          <a:xfrm>
            <a:off x="476250" y="2584450"/>
            <a:ext cx="2590800"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BX</a:t>
            </a:r>
          </a:p>
        </p:txBody>
      </p:sp>
      <p:sp>
        <p:nvSpPr>
          <p:cNvPr id="9221" name="矩形 267269"/>
          <p:cNvSpPr/>
          <p:nvPr/>
        </p:nvSpPr>
        <p:spPr>
          <a:xfrm>
            <a:off x="476250" y="3146425"/>
            <a:ext cx="2590800"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CX</a:t>
            </a:r>
          </a:p>
        </p:txBody>
      </p:sp>
      <p:sp>
        <p:nvSpPr>
          <p:cNvPr id="9222" name="矩形 267270"/>
          <p:cNvSpPr/>
          <p:nvPr/>
        </p:nvSpPr>
        <p:spPr>
          <a:xfrm>
            <a:off x="476250" y="3694113"/>
            <a:ext cx="2590800"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DX</a:t>
            </a:r>
          </a:p>
        </p:txBody>
      </p:sp>
      <p:sp>
        <p:nvSpPr>
          <p:cNvPr id="9223" name="矩形 267271"/>
          <p:cNvSpPr/>
          <p:nvPr/>
        </p:nvSpPr>
        <p:spPr>
          <a:xfrm>
            <a:off x="5013325" y="1989138"/>
            <a:ext cx="2738438"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SI</a:t>
            </a:r>
          </a:p>
        </p:txBody>
      </p:sp>
      <p:sp>
        <p:nvSpPr>
          <p:cNvPr id="9224" name="矩形 267272"/>
          <p:cNvSpPr/>
          <p:nvPr/>
        </p:nvSpPr>
        <p:spPr>
          <a:xfrm>
            <a:off x="5013325" y="2536825"/>
            <a:ext cx="2738438"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DI</a:t>
            </a:r>
          </a:p>
        </p:txBody>
      </p:sp>
      <p:sp>
        <p:nvSpPr>
          <p:cNvPr id="9225" name="矩形 267273"/>
          <p:cNvSpPr/>
          <p:nvPr/>
        </p:nvSpPr>
        <p:spPr>
          <a:xfrm>
            <a:off x="5013325" y="3070225"/>
            <a:ext cx="2738438"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BP</a:t>
            </a:r>
          </a:p>
        </p:txBody>
      </p:sp>
      <p:sp>
        <p:nvSpPr>
          <p:cNvPr id="9226" name="矩形 267274"/>
          <p:cNvSpPr/>
          <p:nvPr/>
        </p:nvSpPr>
        <p:spPr>
          <a:xfrm>
            <a:off x="5013325" y="3617913"/>
            <a:ext cx="2738438"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SP</a:t>
            </a:r>
          </a:p>
        </p:txBody>
      </p:sp>
      <p:sp>
        <p:nvSpPr>
          <p:cNvPr id="9227" name="文本框 267275"/>
          <p:cNvSpPr txBox="1"/>
          <p:nvPr/>
        </p:nvSpPr>
        <p:spPr>
          <a:xfrm>
            <a:off x="8337550" y="2255838"/>
            <a:ext cx="771525" cy="1460500"/>
          </a:xfrm>
          <a:prstGeom prst="rect">
            <a:avLst/>
          </a:prstGeom>
          <a:noFill/>
          <a:ln w="9525">
            <a:noFill/>
          </a:ln>
        </p:spPr>
        <p:txBody>
          <a:bodyPr lIns="0" tIns="0" rIns="0" bIns="0" anchor="t">
            <a:spAutoFit/>
          </a:bodyPr>
          <a:lstStyle/>
          <a:p>
            <a:pPr lvl="0" indent="0"/>
            <a:r>
              <a:rPr lang="zh-CN" altLang="en-US" sz="2400" b="1" dirty="0">
                <a:solidFill>
                  <a:srgbClr val="FF66FF"/>
                </a:solidFill>
                <a:latin typeface="Times New Roman" panose="02020603050405020304" pitchFamily="18" charset="0"/>
                <a:ea typeface="宋体" panose="02010600030101010101" pitchFamily="2" charset="-122"/>
              </a:rPr>
              <a:t>只能</a:t>
            </a:r>
          </a:p>
          <a:p>
            <a:pPr lvl="0" indent="0"/>
            <a:r>
              <a:rPr lang="zh-CN" altLang="en-US" sz="2400" b="1" dirty="0">
                <a:solidFill>
                  <a:srgbClr val="FF66FF"/>
                </a:solidFill>
                <a:latin typeface="Times New Roman" panose="02020603050405020304" pitchFamily="18" charset="0"/>
                <a:ea typeface="宋体" panose="02010600030101010101" pitchFamily="2" charset="-122"/>
              </a:rPr>
              <a:t>存放</a:t>
            </a:r>
          </a:p>
          <a:p>
            <a:pPr lvl="0" indent="0"/>
            <a:r>
              <a:rPr lang="zh-CN" altLang="en-US" sz="2400" b="1" dirty="0">
                <a:solidFill>
                  <a:srgbClr val="FF66FF"/>
                </a:solidFill>
                <a:latin typeface="Times New Roman" panose="02020603050405020304" pitchFamily="18" charset="0"/>
                <a:ea typeface="宋体" panose="02010600030101010101" pitchFamily="2" charset="-122"/>
              </a:rPr>
              <a:t>字操</a:t>
            </a:r>
          </a:p>
          <a:p>
            <a:pPr lvl="0" indent="0"/>
            <a:r>
              <a:rPr lang="zh-CN" altLang="en-US" sz="2400" b="1" dirty="0">
                <a:solidFill>
                  <a:srgbClr val="FF66FF"/>
                </a:solidFill>
                <a:latin typeface="Times New Roman" panose="02020603050405020304" pitchFamily="18" charset="0"/>
                <a:ea typeface="宋体" panose="02010600030101010101" pitchFamily="2" charset="-122"/>
              </a:rPr>
              <a:t>作数</a:t>
            </a:r>
            <a:endParaRPr lang="zh-CN" altLang="en-US" sz="2400">
              <a:solidFill>
                <a:srgbClr val="FF66FF"/>
              </a:solidFill>
              <a:latin typeface="Times New Roman" panose="02020603050405020304" pitchFamily="18" charset="0"/>
              <a:ea typeface="宋体" panose="02010600030101010101" pitchFamily="2" charset="-122"/>
            </a:endParaRPr>
          </a:p>
        </p:txBody>
      </p:sp>
      <p:sp>
        <p:nvSpPr>
          <p:cNvPr id="9228" name="右大括号 267276"/>
          <p:cNvSpPr/>
          <p:nvPr/>
        </p:nvSpPr>
        <p:spPr>
          <a:xfrm>
            <a:off x="7848600" y="1982788"/>
            <a:ext cx="439738" cy="2022475"/>
          </a:xfrm>
          <a:prstGeom prst="rightBrace">
            <a:avLst>
              <a:gd name="adj1" fmla="val 38305"/>
              <a:gd name="adj2" fmla="val 50000"/>
            </a:avLst>
          </a:prstGeom>
          <a:noFill/>
          <a:ln w="31750" cap="flat" cmpd="sng">
            <a:solidFill>
              <a:srgbClr val="0000FF"/>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9229" name="文本框 267277"/>
          <p:cNvSpPr txBox="1"/>
          <p:nvPr/>
        </p:nvSpPr>
        <p:spPr>
          <a:xfrm>
            <a:off x="3663950" y="2060575"/>
            <a:ext cx="1219200" cy="1825625"/>
          </a:xfrm>
          <a:prstGeom prst="rect">
            <a:avLst/>
          </a:prstGeom>
          <a:noFill/>
          <a:ln w="9525">
            <a:noFill/>
          </a:ln>
        </p:spPr>
        <p:txBody>
          <a:bodyPr lIns="0" tIns="0" rIns="0" bIns="0" anchor="t">
            <a:spAutoFit/>
          </a:bodyPr>
          <a:lstStyle/>
          <a:p>
            <a:pPr lvl="0" indent="0"/>
            <a:r>
              <a:rPr lang="zh-CN" altLang="en-US" sz="2400" b="1" dirty="0">
                <a:solidFill>
                  <a:srgbClr val="FF66FF"/>
                </a:solidFill>
                <a:latin typeface="Times New Roman" panose="02020603050405020304" pitchFamily="18" charset="0"/>
                <a:ea typeface="宋体" panose="02010600030101010101" pitchFamily="2" charset="-122"/>
              </a:rPr>
              <a:t>既能存放字操</a:t>
            </a:r>
          </a:p>
          <a:p>
            <a:pPr lvl="0" indent="0"/>
            <a:r>
              <a:rPr lang="zh-CN" altLang="en-US" sz="2400" b="1" dirty="0">
                <a:solidFill>
                  <a:srgbClr val="FF66FF"/>
                </a:solidFill>
                <a:latin typeface="Times New Roman" panose="02020603050405020304" pitchFamily="18" charset="0"/>
                <a:ea typeface="宋体" panose="02010600030101010101" pitchFamily="2" charset="-122"/>
              </a:rPr>
              <a:t>作数又能存放字节</a:t>
            </a:r>
            <a:endParaRPr lang="zh-CN" altLang="en-US" sz="2400">
              <a:solidFill>
                <a:srgbClr val="FF66FF"/>
              </a:solidFill>
              <a:latin typeface="Times New Roman" panose="02020603050405020304" pitchFamily="18" charset="0"/>
              <a:ea typeface="宋体" panose="02010600030101010101" pitchFamily="2" charset="-122"/>
            </a:endParaRPr>
          </a:p>
        </p:txBody>
      </p:sp>
      <p:sp>
        <p:nvSpPr>
          <p:cNvPr id="9230" name="右大括号 267278"/>
          <p:cNvSpPr/>
          <p:nvPr/>
        </p:nvSpPr>
        <p:spPr>
          <a:xfrm>
            <a:off x="3206750" y="2027238"/>
            <a:ext cx="415925" cy="1939925"/>
          </a:xfrm>
          <a:prstGeom prst="rightBrace">
            <a:avLst>
              <a:gd name="adj1" fmla="val 38846"/>
              <a:gd name="adj2" fmla="val 50000"/>
            </a:avLst>
          </a:prstGeom>
          <a:noFill/>
          <a:ln w="31750" cap="flat" cmpd="sng">
            <a:solidFill>
              <a:srgbClr val="0000FF"/>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9231" name="文本框 267279"/>
          <p:cNvSpPr txBox="1"/>
          <p:nvPr/>
        </p:nvSpPr>
        <p:spPr>
          <a:xfrm>
            <a:off x="3890963" y="4781550"/>
            <a:ext cx="2182812" cy="1107996"/>
          </a:xfrm>
          <a:prstGeom prst="rect">
            <a:avLst/>
          </a:prstGeom>
          <a:noFill/>
          <a:ln w="9525">
            <a:noFill/>
          </a:ln>
        </p:spPr>
        <p:txBody>
          <a:bodyPr lIns="0" tIns="0" rIns="0" bIns="0" anchor="t">
            <a:spAutoFit/>
          </a:bodyPr>
          <a:lstStyle/>
          <a:p>
            <a:pPr lvl="0" indent="0"/>
            <a:r>
              <a:rPr lang="en-GB" altLang="en-US" sz="2400" b="1" dirty="0" err="1">
                <a:latin typeface="Times New Roman" panose="02020603050405020304" pitchFamily="18" charset="0"/>
                <a:ea typeface="宋体" panose="02010600030101010101" pitchFamily="2" charset="-122"/>
              </a:rPr>
              <a:t>段寄存器存</a:t>
            </a:r>
            <a:endParaRPr lang="en-GB" altLang="zh-CN" sz="2400" b="1" dirty="0">
              <a:latin typeface="Times New Roman" panose="02020603050405020304" pitchFamily="18" charset="0"/>
              <a:ea typeface="宋体" panose="02010600030101010101" pitchFamily="2" charset="-122"/>
            </a:endParaRPr>
          </a:p>
          <a:p>
            <a:pPr lvl="0" indent="0"/>
            <a:r>
              <a:rPr lang="en-GB" altLang="en-US" sz="2400" b="1" dirty="0" err="1">
                <a:latin typeface="Times New Roman" panose="02020603050405020304" pitchFamily="18" charset="0"/>
                <a:ea typeface="宋体" panose="02010600030101010101" pitchFamily="2" charset="-122"/>
              </a:rPr>
              <a:t>放当前操作</a:t>
            </a:r>
            <a:endParaRPr lang="en-GB" altLang="zh-CN" sz="2400" b="1" dirty="0">
              <a:latin typeface="Times New Roman" panose="02020603050405020304" pitchFamily="18" charset="0"/>
              <a:ea typeface="宋体" panose="02010600030101010101" pitchFamily="2" charset="-122"/>
            </a:endParaRPr>
          </a:p>
          <a:p>
            <a:pPr lvl="0" indent="0"/>
            <a:r>
              <a:rPr lang="en-GB" altLang="en-US" sz="2400" b="1" dirty="0" err="1">
                <a:latin typeface="Times New Roman" panose="02020603050405020304" pitchFamily="18" charset="0"/>
                <a:ea typeface="宋体" panose="02010600030101010101" pitchFamily="2" charset="-122"/>
              </a:rPr>
              <a:t>数的</a:t>
            </a:r>
            <a:r>
              <a:rPr lang="en-GB" altLang="en-US" sz="2400" b="1" dirty="0" err="1">
                <a:solidFill>
                  <a:srgbClr val="FF00FF"/>
                </a:solidFill>
                <a:latin typeface="Times New Roman" panose="02020603050405020304" pitchFamily="18" charset="0"/>
                <a:ea typeface="宋体" panose="02010600030101010101" pitchFamily="2" charset="-122"/>
              </a:rPr>
              <a:t>段地址</a:t>
            </a:r>
            <a:endParaRPr lang="zh-CN" altLang="en-US" sz="2400" dirty="0">
              <a:solidFill>
                <a:srgbClr val="FF00FF"/>
              </a:solidFill>
              <a:latin typeface="Times New Roman" panose="02020603050405020304" pitchFamily="18" charset="0"/>
              <a:ea typeface="宋体" panose="02010600030101010101" pitchFamily="2" charset="-122"/>
            </a:endParaRPr>
          </a:p>
        </p:txBody>
      </p:sp>
      <p:sp>
        <p:nvSpPr>
          <p:cNvPr id="9232" name="矩形 267280"/>
          <p:cNvSpPr/>
          <p:nvPr/>
        </p:nvSpPr>
        <p:spPr>
          <a:xfrm>
            <a:off x="504825" y="4330700"/>
            <a:ext cx="2590800"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CS</a:t>
            </a:r>
          </a:p>
        </p:txBody>
      </p:sp>
      <p:sp>
        <p:nvSpPr>
          <p:cNvPr id="9233" name="矩形 267281"/>
          <p:cNvSpPr/>
          <p:nvPr/>
        </p:nvSpPr>
        <p:spPr>
          <a:xfrm>
            <a:off x="504825" y="4848225"/>
            <a:ext cx="2590800" cy="455613"/>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800">
                <a:latin typeface="Tahoma" panose="020B0604030504040204" pitchFamily="34" charset="0"/>
                <a:ea typeface="宋体" panose="02010600030101010101" pitchFamily="2" charset="-122"/>
              </a:rPr>
              <a:t>DS</a:t>
            </a:r>
          </a:p>
        </p:txBody>
      </p:sp>
      <p:sp>
        <p:nvSpPr>
          <p:cNvPr id="9234" name="矩形 267282"/>
          <p:cNvSpPr/>
          <p:nvPr/>
        </p:nvSpPr>
        <p:spPr>
          <a:xfrm>
            <a:off x="504825" y="5440363"/>
            <a:ext cx="2590800"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ES</a:t>
            </a:r>
          </a:p>
        </p:txBody>
      </p:sp>
      <p:sp>
        <p:nvSpPr>
          <p:cNvPr id="9235" name="矩形 267283"/>
          <p:cNvSpPr/>
          <p:nvPr/>
        </p:nvSpPr>
        <p:spPr>
          <a:xfrm>
            <a:off x="504825" y="5988050"/>
            <a:ext cx="2590800" cy="393700"/>
          </a:xfrm>
          <a:prstGeom prst="rect">
            <a:avLst/>
          </a:prstGeom>
          <a:noFill/>
          <a:ln w="28575" cap="flat" cmpd="sng">
            <a:solidFill>
              <a:schemeClr val="tx1"/>
            </a:solidFill>
            <a:prstDash val="solid"/>
            <a:miter/>
            <a:headEnd type="none" w="med" len="med"/>
            <a:tailEnd type="none" w="med" len="med"/>
          </a:ln>
        </p:spPr>
        <p:txBody>
          <a:bodyPr lIns="0" tIns="0" rIns="0" bIns="0" anchor="ctr">
            <a:spAutoFit/>
          </a:bodyPr>
          <a:lstStyle/>
          <a:p>
            <a:pPr lvl="0" indent="0" algn="ctr"/>
            <a:r>
              <a:rPr lang="en-US" altLang="zh-CN" sz="2400">
                <a:latin typeface="Tahoma" panose="020B0604030504040204" pitchFamily="34" charset="0"/>
                <a:ea typeface="宋体" panose="02010600030101010101" pitchFamily="2" charset="-122"/>
              </a:rPr>
              <a:t>SS</a:t>
            </a:r>
          </a:p>
        </p:txBody>
      </p:sp>
      <p:sp>
        <p:nvSpPr>
          <p:cNvPr id="9236" name="右大括号 267284"/>
          <p:cNvSpPr/>
          <p:nvPr/>
        </p:nvSpPr>
        <p:spPr>
          <a:xfrm>
            <a:off x="3259138" y="4340225"/>
            <a:ext cx="493712" cy="1989138"/>
          </a:xfrm>
          <a:prstGeom prst="rightBrace">
            <a:avLst>
              <a:gd name="adj1" fmla="val 33555"/>
              <a:gd name="adj2" fmla="val 50000"/>
            </a:avLst>
          </a:prstGeom>
          <a:noFill/>
          <a:ln w="57150" cap="flat" cmpd="sng">
            <a:solidFill>
              <a:srgbClr val="66FFCC"/>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9237" name="矩形 267285"/>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3.1  </a:t>
            </a:r>
            <a:r>
              <a:rPr lang="zh-CN" altLang="en-US" sz="3600" b="1" dirty="0">
                <a:solidFill>
                  <a:srgbClr val="FF0000"/>
                </a:solidFill>
                <a:latin typeface="Times New Roman" panose="02020603050405020304" pitchFamily="18" charset="0"/>
                <a:ea typeface="隶书" panose="02010509060101010101" pitchFamily="49" charset="-122"/>
              </a:rPr>
              <a:t>指令格式</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矩形 269313"/>
          <p:cNvSpPr/>
          <p:nvPr/>
        </p:nvSpPr>
        <p:spPr>
          <a:xfrm>
            <a:off x="520700" y="788988"/>
            <a:ext cx="2755900" cy="407987"/>
          </a:xfrm>
          <a:prstGeom prst="rect">
            <a:avLst/>
          </a:prstGeom>
          <a:noFill/>
          <a:ln w="9525">
            <a:noFill/>
          </a:ln>
        </p:spPr>
        <p:txBody>
          <a:bodyPr anchor="t"/>
          <a:lstStyle/>
          <a:p>
            <a:pPr marL="342900" lvl="0" indent="-342900">
              <a:spcBef>
                <a:spcPct val="20000"/>
              </a:spcBef>
              <a:buClrTx/>
            </a:pPr>
            <a:r>
              <a:rPr lang="en-US" altLang="zh-CN" sz="2400" b="1">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、存储器操作数</a:t>
            </a:r>
          </a:p>
        </p:txBody>
      </p:sp>
      <p:sp>
        <p:nvSpPr>
          <p:cNvPr id="11266" name="文本框 269314"/>
          <p:cNvSpPr txBox="1"/>
          <p:nvPr/>
        </p:nvSpPr>
        <p:spPr>
          <a:xfrm>
            <a:off x="1184275" y="2992438"/>
            <a:ext cx="1952625" cy="365125"/>
          </a:xfrm>
          <a:prstGeom prst="rect">
            <a:avLst/>
          </a:prstGeom>
          <a:noFill/>
          <a:ln w="9525">
            <a:noFill/>
          </a:ln>
        </p:spPr>
        <p:txBody>
          <a:bodyPr lIns="0" tIns="0" rIns="0" bIns="0" anchor="t">
            <a:spAutoFit/>
          </a:bodyPr>
          <a:lstStyle/>
          <a:p>
            <a:pPr lvl="0" indent="0">
              <a:spcBef>
                <a:spcPct val="50000"/>
              </a:spcBef>
            </a:pPr>
            <a:r>
              <a:rPr lang="zh-CN" altLang="en-US" sz="2400" b="1" dirty="0">
                <a:latin typeface="Times New Roman" panose="02020603050405020304" pitchFamily="18" charset="0"/>
                <a:ea typeface="宋体" panose="02010600030101010101" pitchFamily="2" charset="-122"/>
              </a:rPr>
              <a:t>存储器操作数</a:t>
            </a:r>
            <a:endParaRPr lang="zh-CN" altLang="en-US" sz="2400">
              <a:latin typeface="Times New Roman" panose="02020603050405020304" pitchFamily="18" charset="0"/>
              <a:ea typeface="宋体" panose="02010600030101010101" pitchFamily="2" charset="-122"/>
            </a:endParaRPr>
          </a:p>
        </p:txBody>
      </p:sp>
      <p:sp>
        <p:nvSpPr>
          <p:cNvPr id="11267" name="文本框 269315"/>
          <p:cNvSpPr txBox="1"/>
          <p:nvPr/>
        </p:nvSpPr>
        <p:spPr>
          <a:xfrm>
            <a:off x="3851275" y="2449513"/>
            <a:ext cx="914400" cy="1460500"/>
          </a:xfrm>
          <a:prstGeom prst="rect">
            <a:avLst/>
          </a:prstGeom>
          <a:noFill/>
          <a:ln w="9525">
            <a:noFill/>
          </a:ln>
        </p:spPr>
        <p:txBody>
          <a:bodyPr lIns="0" tIns="0" rIns="0" bIns="0" anchor="t">
            <a:spAutoFit/>
          </a:bodyPr>
          <a:lstStyle/>
          <a:p>
            <a:pPr lvl="0" indent="0">
              <a:spcBef>
                <a:spcPct val="50000"/>
              </a:spcBef>
            </a:pPr>
            <a:r>
              <a:rPr lang="zh-CN" altLang="en-US" sz="2400" b="1" dirty="0">
                <a:latin typeface="Times New Roman" panose="02020603050405020304" pitchFamily="18" charset="0"/>
                <a:ea typeface="宋体" panose="02010600030101010101" pitchFamily="2" charset="-122"/>
              </a:rPr>
              <a:t>字节</a:t>
            </a:r>
          </a:p>
          <a:p>
            <a:pPr lvl="0" indent="0">
              <a:spcBef>
                <a:spcPct val="50000"/>
              </a:spcBef>
            </a:pPr>
            <a:r>
              <a:rPr lang="zh-CN" altLang="en-US" sz="2400" b="1" dirty="0">
                <a:latin typeface="Times New Roman" panose="02020603050405020304" pitchFamily="18" charset="0"/>
                <a:ea typeface="宋体" panose="02010600030101010101" pitchFamily="2" charset="-122"/>
              </a:rPr>
              <a:t>字</a:t>
            </a:r>
          </a:p>
          <a:p>
            <a:pPr lvl="0" indent="0">
              <a:spcBef>
                <a:spcPct val="50000"/>
              </a:spcBef>
            </a:pPr>
            <a:r>
              <a:rPr lang="zh-CN" altLang="en-US" sz="2400" b="1" dirty="0">
                <a:latin typeface="Times New Roman" panose="02020603050405020304" pitchFamily="18" charset="0"/>
                <a:ea typeface="宋体" panose="02010600030101010101" pitchFamily="2" charset="-122"/>
              </a:rPr>
              <a:t>双字</a:t>
            </a:r>
            <a:endParaRPr lang="zh-CN" altLang="en-US" sz="2400">
              <a:latin typeface="Times New Roman" panose="02020603050405020304" pitchFamily="18" charset="0"/>
              <a:ea typeface="宋体" panose="02010600030101010101" pitchFamily="2" charset="-122"/>
            </a:endParaRPr>
          </a:p>
        </p:txBody>
      </p:sp>
      <p:sp>
        <p:nvSpPr>
          <p:cNvPr id="11268" name="文本框 269316"/>
          <p:cNvSpPr txBox="1"/>
          <p:nvPr/>
        </p:nvSpPr>
        <p:spPr>
          <a:xfrm>
            <a:off x="5627688" y="2449513"/>
            <a:ext cx="914400" cy="1460500"/>
          </a:xfrm>
          <a:prstGeom prst="rect">
            <a:avLst/>
          </a:prstGeom>
          <a:noFill/>
          <a:ln w="9525">
            <a:noFill/>
          </a:ln>
        </p:spPr>
        <p:txBody>
          <a:bodyPr lIns="0" tIns="0" rIns="0" bIns="0" anchor="t">
            <a:spAutoFit/>
          </a:bodyPr>
          <a:lstStyle/>
          <a:p>
            <a:pPr lvl="0" indent="0" algn="ctr">
              <a:spcBef>
                <a:spcPct val="50000"/>
              </a:spcBef>
            </a:pPr>
            <a:r>
              <a:rPr lang="en-US" altLang="zh-CN" sz="2400" b="1">
                <a:latin typeface="Times New Roman" panose="02020603050405020304" pitchFamily="18" charset="0"/>
                <a:ea typeface="宋体" panose="02010600030101010101" pitchFamily="2" charset="-122"/>
              </a:rPr>
              <a:t>1</a:t>
            </a:r>
          </a:p>
          <a:p>
            <a:pPr lvl="0" indent="0" algn="ctr">
              <a:spcBef>
                <a:spcPct val="50000"/>
              </a:spcBef>
            </a:pPr>
            <a:r>
              <a:rPr lang="en-US" altLang="zh-CN" sz="2400" b="1">
                <a:latin typeface="Times New Roman" panose="02020603050405020304" pitchFamily="18" charset="0"/>
                <a:ea typeface="宋体" panose="02010600030101010101" pitchFamily="2" charset="-122"/>
              </a:rPr>
              <a:t>2</a:t>
            </a:r>
          </a:p>
          <a:p>
            <a:pPr lvl="0" indent="0" algn="ctr">
              <a:spcBef>
                <a:spcPct val="50000"/>
              </a:spcBef>
            </a:pPr>
            <a:r>
              <a:rPr lang="en-US" altLang="zh-CN" sz="2400" b="1">
                <a:latin typeface="Times New Roman" panose="02020603050405020304" pitchFamily="18" charset="0"/>
                <a:ea typeface="宋体" panose="02010600030101010101" pitchFamily="2" charset="-122"/>
              </a:rPr>
              <a:t>4</a:t>
            </a:r>
            <a:endParaRPr lang="en-US" altLang="zh-CN" sz="2400">
              <a:latin typeface="Times New Roman" panose="02020603050405020304" pitchFamily="18" charset="0"/>
              <a:ea typeface="宋体" panose="02010600030101010101" pitchFamily="2" charset="-122"/>
            </a:endParaRPr>
          </a:p>
        </p:txBody>
      </p:sp>
      <p:sp>
        <p:nvSpPr>
          <p:cNvPr id="11269" name="文本框 269317"/>
          <p:cNvSpPr txBox="1"/>
          <p:nvPr/>
        </p:nvSpPr>
        <p:spPr>
          <a:xfrm>
            <a:off x="3698875" y="1863725"/>
            <a:ext cx="838200" cy="487363"/>
          </a:xfrm>
          <a:prstGeom prst="rect">
            <a:avLst/>
          </a:prstGeom>
          <a:noFill/>
          <a:ln w="9525">
            <a:noFill/>
          </a:ln>
        </p:spPr>
        <p:txBody>
          <a:bodyPr lIns="0" tIns="0" rIns="0" bIns="0" anchor="t">
            <a:spAutoFit/>
          </a:bodyPr>
          <a:lstStyle/>
          <a:p>
            <a:pPr lvl="0" indent="0">
              <a:spcBef>
                <a:spcPct val="50000"/>
              </a:spcBef>
            </a:pPr>
            <a:r>
              <a:rPr lang="zh-CN" altLang="en-US" sz="3200" b="1" dirty="0">
                <a:solidFill>
                  <a:srgbClr val="FF00FF"/>
                </a:solidFill>
                <a:latin typeface="Times New Roman" panose="02020603050405020304" pitchFamily="18" charset="0"/>
                <a:ea typeface="隶书" panose="02010509060101010101" pitchFamily="49" charset="-122"/>
              </a:rPr>
              <a:t>类型</a:t>
            </a:r>
            <a:endParaRPr lang="zh-CN" altLang="en-US" sz="2400">
              <a:solidFill>
                <a:srgbClr val="FF00FF"/>
              </a:solidFill>
              <a:latin typeface="Times New Roman" panose="02020603050405020304" pitchFamily="18" charset="0"/>
              <a:ea typeface="宋体" panose="02010600030101010101" pitchFamily="2" charset="-122"/>
            </a:endParaRPr>
          </a:p>
        </p:txBody>
      </p:sp>
      <p:sp>
        <p:nvSpPr>
          <p:cNvPr id="11270" name="文本框 269318"/>
          <p:cNvSpPr txBox="1"/>
          <p:nvPr/>
        </p:nvSpPr>
        <p:spPr>
          <a:xfrm>
            <a:off x="4837113" y="1863725"/>
            <a:ext cx="2579687" cy="487363"/>
          </a:xfrm>
          <a:prstGeom prst="rect">
            <a:avLst/>
          </a:prstGeom>
          <a:noFill/>
          <a:ln w="9525">
            <a:noFill/>
          </a:ln>
        </p:spPr>
        <p:txBody>
          <a:bodyPr lIns="0" tIns="0" rIns="0" bIns="0" anchor="t">
            <a:spAutoFit/>
          </a:bodyPr>
          <a:lstStyle/>
          <a:p>
            <a:pPr lvl="0" indent="0">
              <a:spcBef>
                <a:spcPct val="50000"/>
              </a:spcBef>
            </a:pPr>
            <a:r>
              <a:rPr lang="zh-CN" altLang="en-US" sz="3200" b="1" dirty="0">
                <a:solidFill>
                  <a:srgbClr val="FF00FF"/>
                </a:solidFill>
                <a:latin typeface="Times New Roman" panose="02020603050405020304" pitchFamily="18" charset="0"/>
                <a:ea typeface="隶书" panose="02010509060101010101" pitchFamily="49" charset="-122"/>
              </a:rPr>
              <a:t>存储单元个数</a:t>
            </a:r>
            <a:endParaRPr lang="zh-CN" altLang="en-US" sz="2400">
              <a:solidFill>
                <a:srgbClr val="FF00FF"/>
              </a:solidFill>
              <a:latin typeface="Times New Roman" panose="02020603050405020304" pitchFamily="18" charset="0"/>
              <a:ea typeface="宋体" panose="02010600030101010101" pitchFamily="2" charset="-122"/>
            </a:endParaRPr>
          </a:p>
        </p:txBody>
      </p:sp>
      <p:sp>
        <p:nvSpPr>
          <p:cNvPr id="11271" name="左大括号 269319"/>
          <p:cNvSpPr/>
          <p:nvPr/>
        </p:nvSpPr>
        <p:spPr>
          <a:xfrm>
            <a:off x="3241675" y="2574925"/>
            <a:ext cx="358775" cy="1246188"/>
          </a:xfrm>
          <a:prstGeom prst="leftBrace">
            <a:avLst>
              <a:gd name="adj1" fmla="val 28929"/>
              <a:gd name="adj2" fmla="val 50000"/>
            </a:avLst>
          </a:prstGeom>
          <a:noFill/>
          <a:ln w="38100"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269321" name="文本框 269320"/>
          <p:cNvSpPr txBox="1"/>
          <p:nvPr/>
        </p:nvSpPr>
        <p:spPr>
          <a:xfrm>
            <a:off x="6853238" y="2465388"/>
            <a:ext cx="2017712" cy="1825625"/>
          </a:xfrm>
          <a:prstGeom prst="rect">
            <a:avLst/>
          </a:prstGeom>
          <a:solidFill>
            <a:srgbClr val="FFFFCC"/>
          </a:solidFill>
          <a:ln w="9525">
            <a:noFill/>
          </a:ln>
        </p:spPr>
        <p:txBody>
          <a:bodyPr lIns="0" tIns="0" rIns="0" bIns="0" anchor="t">
            <a:spAutoFit/>
          </a:bodyPr>
          <a:lstStyle/>
          <a:p>
            <a:pPr lvl="0" inden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注意：大部分指令</a:t>
            </a:r>
            <a:r>
              <a:rPr lang="en-US" altLang="en-GB" sz="2400" b="1" err="1">
                <a:solidFill>
                  <a:srgbClr val="0000FF"/>
                </a:solidFill>
                <a:latin typeface="Times New Roman" panose="02020603050405020304" pitchFamily="18" charset="0"/>
                <a:ea typeface="宋体" panose="02010600030101010101" pitchFamily="2" charset="-122"/>
              </a:rPr>
              <a:t>不允许</a:t>
            </a:r>
            <a:r>
              <a:rPr lang="en-GB" altLang="zh-CN" sz="2400" b="1" err="1">
                <a:solidFill>
                  <a:srgbClr val="0000FF"/>
                </a:solidFill>
                <a:latin typeface="Times New Roman" panose="02020603050405020304" pitchFamily="18" charset="0"/>
                <a:ea typeface="宋体" panose="02010600030101010101" pitchFamily="2" charset="-122"/>
              </a:rPr>
              <a:t>两个</a:t>
            </a:r>
            <a:r>
              <a:rPr lang="en-GB" altLang="en-US" sz="2400" b="1" err="1">
                <a:solidFill>
                  <a:srgbClr val="0000FF"/>
                </a:solidFill>
                <a:latin typeface="Times New Roman" panose="02020603050405020304" pitchFamily="18" charset="0"/>
                <a:ea typeface="宋体" panose="02010600030101010101" pitchFamily="2" charset="-122"/>
              </a:rPr>
              <a:t>操作数同时为存储器操作数</a:t>
            </a:r>
            <a:endParaRPr lang="zh-CN" altLang="en-US" sz="2400">
              <a:solidFill>
                <a:srgbClr val="0000FF"/>
              </a:solidFill>
              <a:latin typeface="Times New Roman" panose="02020603050405020304" pitchFamily="18" charset="0"/>
              <a:ea typeface="宋体" panose="02010600030101010101" pitchFamily="2" charset="-122"/>
            </a:endParaRPr>
          </a:p>
        </p:txBody>
      </p:sp>
      <p:sp>
        <p:nvSpPr>
          <p:cNvPr id="11273" name="文本框 269321"/>
          <p:cNvSpPr txBox="1"/>
          <p:nvPr/>
        </p:nvSpPr>
        <p:spPr>
          <a:xfrm>
            <a:off x="603250" y="1454150"/>
            <a:ext cx="5935663" cy="365125"/>
          </a:xfrm>
          <a:prstGeom prst="rect">
            <a:avLst/>
          </a:prstGeom>
          <a:noFill/>
          <a:ln w="9525">
            <a:noFill/>
          </a:ln>
        </p:spPr>
        <p:txBody>
          <a:bodyPr lIns="0" tIns="0" rIns="0" bIns="0" anchor="t">
            <a:spAutoFit/>
          </a:bodyPr>
          <a:lstStyle/>
          <a:p>
            <a:pPr lvl="0" indent="0">
              <a:spcBef>
                <a:spcPct val="50000"/>
              </a:spcBef>
            </a:pPr>
            <a:r>
              <a:rPr lang="en-GB" altLang="en-US" sz="2400" b="1" err="1">
                <a:latin typeface="Times New Roman" panose="02020603050405020304" pitchFamily="18" charset="0"/>
                <a:ea typeface="宋体" panose="02010600030101010101" pitchFamily="2" charset="-122"/>
              </a:rPr>
              <a:t>存储器操作数</a:t>
            </a:r>
            <a:r>
              <a:rPr lang="en-GB" altLang="zh-CN" sz="2400" b="1">
                <a:solidFill>
                  <a:srgbClr val="FF00FF"/>
                </a:solidFill>
                <a:latin typeface="Times New Roman" panose="02020603050405020304" pitchFamily="18" charset="0"/>
                <a:ea typeface="宋体" panose="02010600030101010101" pitchFamily="2" charset="-122"/>
              </a:rPr>
              <a:t>：</a:t>
            </a:r>
            <a:r>
              <a:rPr lang="zh-CN" altLang="en-GB" sz="2400" b="1" dirty="0">
                <a:solidFill>
                  <a:srgbClr val="FF00FF"/>
                </a:solidFill>
                <a:latin typeface="Times New Roman" panose="02020603050405020304" pitchFamily="18" charset="0"/>
                <a:ea typeface="宋体" panose="02010600030101010101" pitchFamily="2" charset="-122"/>
              </a:rPr>
              <a:t>存放在存储单元中的操作数</a:t>
            </a:r>
            <a:endParaRPr lang="zh-CN" altLang="en-US" sz="2400">
              <a:solidFill>
                <a:srgbClr val="FF00FF"/>
              </a:solidFill>
              <a:latin typeface="Times New Roman" panose="02020603050405020304" pitchFamily="18" charset="0"/>
              <a:ea typeface="宋体" panose="02010600030101010101" pitchFamily="2" charset="-122"/>
            </a:endParaRPr>
          </a:p>
        </p:txBody>
      </p:sp>
      <p:sp>
        <p:nvSpPr>
          <p:cNvPr id="269323" name="文本框 269322"/>
          <p:cNvSpPr txBox="1"/>
          <p:nvPr/>
        </p:nvSpPr>
        <p:spPr>
          <a:xfrm>
            <a:off x="449263" y="4406900"/>
            <a:ext cx="8528050" cy="1661993"/>
          </a:xfrm>
          <a:prstGeom prst="rect">
            <a:avLst/>
          </a:prstGeom>
          <a:noFill/>
          <a:ln w="9525">
            <a:noFill/>
          </a:ln>
        </p:spPr>
        <p:txBody>
          <a:bodyPr lIns="0" tIns="0" rIns="0" bIns="0" anchor="t">
            <a:spAutoFit/>
          </a:bodyPr>
          <a:lstStyle/>
          <a:p>
            <a:pPr marL="266700" lvl="0" indent="-266700">
              <a:spcBef>
                <a:spcPct val="50000"/>
              </a:spcBef>
              <a:buClrTx/>
              <a:buFont typeface="Wingdings" panose="05000000000000000000" pitchFamily="2" charset="2"/>
              <a:buChar char="Ø"/>
            </a:pPr>
            <a:r>
              <a:rPr lang="en-GB" altLang="en-US" sz="2400" b="1" dirty="0" err="1">
                <a:latin typeface="Times New Roman" panose="02020603050405020304" pitchFamily="18" charset="0"/>
                <a:ea typeface="宋体" panose="02010600030101010101" pitchFamily="2" charset="-122"/>
              </a:rPr>
              <a:t>若指令中没有指明所涉及的</a:t>
            </a:r>
            <a:r>
              <a:rPr lang="en-GB" altLang="en-US" sz="2400" b="1" dirty="0" err="1">
                <a:solidFill>
                  <a:srgbClr val="FF00FF"/>
                </a:solidFill>
                <a:latin typeface="Times New Roman" panose="02020603050405020304" pitchFamily="18" charset="0"/>
                <a:ea typeface="宋体" panose="02010600030101010101" pitchFamily="2" charset="-122"/>
              </a:rPr>
              <a:t>段寄存器</a:t>
            </a:r>
            <a:r>
              <a:rPr lang="en-GB" altLang="en-US" sz="2400" b="1" dirty="0" err="1">
                <a:latin typeface="Times New Roman" panose="02020603050405020304" pitchFamily="18" charset="0"/>
                <a:ea typeface="宋体" panose="02010600030101010101" pitchFamily="2" charset="-122"/>
              </a:rPr>
              <a:t>，</a:t>
            </a:r>
            <a:r>
              <a:rPr lang="en-GB" altLang="zh-CN" sz="2400" b="1" dirty="0" err="1">
                <a:latin typeface="Times New Roman" panose="02020603050405020304" pitchFamily="18" charset="0"/>
                <a:ea typeface="宋体" panose="02010600030101010101" pitchFamily="2" charset="-122"/>
              </a:rPr>
              <a:t>CPU</a:t>
            </a:r>
            <a:r>
              <a:rPr lang="en-GB" altLang="en-US" sz="2400" b="1" dirty="0" err="1">
                <a:latin typeface="Times New Roman" panose="02020603050405020304" pitchFamily="18" charset="0"/>
                <a:ea typeface="宋体" panose="02010600030101010101" pitchFamily="2" charset="-122"/>
              </a:rPr>
              <a:t>就采用</a:t>
            </a:r>
            <a:r>
              <a:rPr lang="en-GB" altLang="en-US" sz="2400" b="1" dirty="0" err="1">
                <a:solidFill>
                  <a:srgbClr val="FF00FF"/>
                </a:solidFill>
                <a:latin typeface="Times New Roman" panose="02020603050405020304" pitchFamily="18" charset="0"/>
                <a:ea typeface="宋体" panose="02010600030101010101" pitchFamily="2" charset="-122"/>
              </a:rPr>
              <a:t>默认的</a:t>
            </a:r>
            <a:r>
              <a:rPr lang="en-GB" altLang="en-US" sz="2400" b="1" dirty="0" err="1">
                <a:latin typeface="Times New Roman" panose="02020603050405020304" pitchFamily="18" charset="0"/>
                <a:ea typeface="宋体" panose="02010600030101010101" pitchFamily="2" charset="-122"/>
              </a:rPr>
              <a:t>段寄存器来确定操作数所在的段</a:t>
            </a:r>
            <a:r>
              <a:rPr lang="en-GB" altLang="en-US" sz="2400" b="1" dirty="0">
                <a:latin typeface="Times New Roman" panose="02020603050405020304" pitchFamily="18" charset="0"/>
                <a:ea typeface="宋体" panose="02010600030101010101" pitchFamily="2" charset="-122"/>
              </a:rPr>
              <a:t>。</a:t>
            </a:r>
          </a:p>
          <a:p>
            <a:pPr marL="266700" lvl="0" indent="-266700">
              <a:spcBef>
                <a:spcPct val="50000"/>
              </a:spcBef>
              <a:buClrTx/>
              <a:buFont typeface="Wingdings" panose="05000000000000000000" pitchFamily="2" charset="2"/>
              <a:buChar char="Ø"/>
            </a:pPr>
            <a:r>
              <a:rPr lang="en-GB" altLang="en-US" sz="2400" b="1" dirty="0" err="1">
                <a:latin typeface="Times New Roman" panose="02020603050405020304" pitchFamily="18" charset="0"/>
                <a:ea typeface="宋体" panose="02010600030101010101" pitchFamily="2" charset="-122"/>
              </a:rPr>
              <a:t>存储器操作数的</a:t>
            </a:r>
            <a:r>
              <a:rPr lang="zh-CN" altLang="en-US" sz="2400" b="1" dirty="0">
                <a:solidFill>
                  <a:srgbClr val="FF00FF"/>
                </a:solidFill>
              </a:rPr>
              <a:t>偏</a:t>
            </a:r>
            <a:r>
              <a:rPr lang="zh-CN" altLang="en-US" sz="2400" b="1" dirty="0">
                <a:solidFill>
                  <a:srgbClr val="FF00FF"/>
                </a:solidFill>
                <a:latin typeface="Times New Roman" panose="02020603050405020304" pitchFamily="18" charset="0"/>
                <a:ea typeface="宋体" panose="02010600030101010101" pitchFamily="2" charset="-122"/>
              </a:rPr>
              <a:t>移</a:t>
            </a:r>
            <a:r>
              <a:rPr lang="en-GB" altLang="en-US" sz="2400" b="1" dirty="0" err="1">
                <a:solidFill>
                  <a:srgbClr val="FF00FF"/>
                </a:solidFill>
                <a:latin typeface="Times New Roman" panose="02020603050405020304" pitchFamily="18" charset="0"/>
                <a:ea typeface="宋体" panose="02010600030101010101" pitchFamily="2" charset="-122"/>
              </a:rPr>
              <a:t>地址</a:t>
            </a:r>
            <a:r>
              <a:rPr lang="en-GB" altLang="en-US" sz="2400" b="1" dirty="0" err="1">
                <a:latin typeface="Times New Roman" panose="02020603050405020304" pitchFamily="18" charset="0"/>
                <a:ea typeface="宋体" panose="02010600030101010101" pitchFamily="2" charset="-122"/>
              </a:rPr>
              <a:t>可以通过不同的寻址方式由指令给出</a:t>
            </a:r>
            <a:r>
              <a:rPr lang="en-GB"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269324" name="矩形 269323"/>
          <p:cNvSpPr/>
          <p:nvPr/>
        </p:nvSpPr>
        <p:spPr>
          <a:xfrm>
            <a:off x="795338" y="3887788"/>
            <a:ext cx="1419225" cy="457200"/>
          </a:xfrm>
          <a:prstGeom prst="rect">
            <a:avLst/>
          </a:prstGeom>
          <a:noFill/>
          <a:ln w="9525">
            <a:noFill/>
          </a:ln>
        </p:spPr>
        <p:txBody>
          <a:bodyPr anchor="t">
            <a:spAutoFit/>
          </a:bodyPr>
          <a:lstStyle/>
          <a:p>
            <a:pPr lvl="0" indent="0">
              <a:buClrTx/>
            </a:pPr>
            <a:r>
              <a:rPr lang="en-GB" altLang="zh-CN" sz="2400" b="1" err="1">
                <a:latin typeface="Times New Roman" panose="02020603050405020304" pitchFamily="18" charset="0"/>
                <a:ea typeface="宋体" panose="02010600030101010101" pitchFamily="2" charset="-122"/>
              </a:rPr>
              <a:t>说明</a:t>
            </a:r>
            <a:r>
              <a:rPr lang="en-GB" altLang="zh-CN" sz="2400" b="1">
                <a:latin typeface="Times New Roman" panose="02020603050405020304" pitchFamily="18" charset="0"/>
                <a:ea typeface="宋体" panose="02010600030101010101" pitchFamily="2" charset="-122"/>
              </a:rPr>
              <a:t>：</a:t>
            </a:r>
            <a:endParaRPr lang="zh-CN" altLang="en-US" sz="2400" b="1">
              <a:latin typeface="Times New Roman" panose="02020603050405020304" pitchFamily="18" charset="0"/>
              <a:ea typeface="宋体" panose="02010600030101010101" pitchFamily="2" charset="-122"/>
            </a:endParaRPr>
          </a:p>
        </p:txBody>
      </p:sp>
      <p:sp>
        <p:nvSpPr>
          <p:cNvPr id="11276" name="矩形 269324"/>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3.1  </a:t>
            </a:r>
            <a:r>
              <a:rPr lang="zh-CN" altLang="en-US" sz="3600" b="1" dirty="0">
                <a:solidFill>
                  <a:srgbClr val="FF0000"/>
                </a:solidFill>
                <a:latin typeface="Times New Roman" panose="02020603050405020304" pitchFamily="18" charset="0"/>
                <a:ea typeface="隶书" panose="02010509060101010101" pitchFamily="49" charset="-122"/>
              </a:rPr>
              <a:t>指令格式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269321"/>
                                        </p:tgtEl>
                                        <p:attrNameLst>
                                          <p:attrName>style.visibility</p:attrName>
                                        </p:attrNameLst>
                                      </p:cBhvr>
                                      <p:to>
                                        <p:strVal val="visible"/>
                                      </p:to>
                                    </p:set>
                                    <p:animEffect transition="in" filter="wheel(4)">
                                      <p:cBhvr>
                                        <p:cTn id="7" dur="2000"/>
                                        <p:tgtEl>
                                          <p:spTgt spid="2693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9324"/>
                                        </p:tgtEl>
                                        <p:attrNameLst>
                                          <p:attrName>style.visibility</p:attrName>
                                        </p:attrNameLst>
                                      </p:cBhvr>
                                      <p:to>
                                        <p:strVal val="visible"/>
                                      </p:to>
                                    </p:set>
                                    <p:animEffect transition="in" filter="dissolve">
                                      <p:cBhvr>
                                        <p:cTn id="12" dur="500"/>
                                        <p:tgtEl>
                                          <p:spTgt spid="26932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69323"/>
                                        </p:tgtEl>
                                        <p:attrNameLst>
                                          <p:attrName>style.visibility</p:attrName>
                                        </p:attrNameLst>
                                      </p:cBhvr>
                                      <p:to>
                                        <p:strVal val="visible"/>
                                      </p:to>
                                    </p:set>
                                    <p:animEffect transition="in" filter="dissolve">
                                      <p:cBhvr>
                                        <p:cTn id="15" dur="500"/>
                                        <p:tgtEl>
                                          <p:spTgt spid="269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21" grpId="0" animBg="1"/>
      <p:bldP spid="269323" grpId="0"/>
      <p:bldP spid="2693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275460"/>
          <p:cNvSpPr/>
          <p:nvPr/>
        </p:nvSpPr>
        <p:spPr>
          <a:xfrm>
            <a:off x="323850" y="1430338"/>
            <a:ext cx="8497888" cy="1027112"/>
          </a:xfrm>
          <a:prstGeom prst="rect">
            <a:avLst/>
          </a:prstGeom>
          <a:noFill/>
          <a:ln w="9525">
            <a:noFill/>
          </a:ln>
        </p:spPr>
        <p:txBody>
          <a:bodyPr anchor="t"/>
          <a:lstStyle/>
          <a:p>
            <a:r>
              <a:rPr lang="zh-CN" altLang="en-US" sz="2400" b="1" dirty="0">
                <a:solidFill>
                  <a:srgbClr val="0000FF"/>
                </a:solidFill>
                <a:latin typeface="Times New Roman" panose="02020603050405020304" pitchFamily="18" charset="0"/>
                <a:ea typeface="宋体" panose="02010600030101010101" pitchFamily="2" charset="-122"/>
              </a:rPr>
              <a:t>寻址方式</a:t>
            </a:r>
            <a:r>
              <a:rPr lang="en-US" altLang="zh-CN" sz="2400" b="1" dirty="0">
                <a:latin typeface="Arial" panose="020B0604020202020204" pitchFamily="34" charset="0"/>
                <a:ea typeface="宋体" panose="02010600030101010101" pitchFamily="2" charset="-122"/>
              </a:rPr>
              <a:t>——</a:t>
            </a:r>
            <a:r>
              <a:rPr lang="zh-CN" altLang="en-US" sz="2400" b="1" dirty="0">
                <a:solidFill>
                  <a:srgbClr val="0000FF"/>
                </a:solidFill>
                <a:latin typeface="楷体_GB2312" pitchFamily="49" charset="-122"/>
              </a:rPr>
              <a:t>操作数的存放形式与如何寻找操作数。</a:t>
            </a:r>
          </a:p>
          <a:p>
            <a:r>
              <a:rPr lang="zh-CN" altLang="en-US" sz="2400" b="1" dirty="0">
                <a:solidFill>
                  <a:srgbClr val="0000FF"/>
                </a:solidFill>
                <a:latin typeface="楷体_GB2312" pitchFamily="49" charset="-122"/>
              </a:rPr>
              <a:t>          依据寻址方式，可方便地访问到各类操作数</a:t>
            </a:r>
            <a:endParaRPr lang="zh-CN" altLang="en-US" sz="2400" b="1" dirty="0">
              <a:solidFill>
                <a:srgbClr val="0000FF"/>
              </a:solidFill>
            </a:endParaRPr>
          </a:p>
        </p:txBody>
      </p:sp>
      <p:sp>
        <p:nvSpPr>
          <p:cNvPr id="15363" name="矩形 275461"/>
          <p:cNvSpPr/>
          <p:nvPr/>
        </p:nvSpPr>
        <p:spPr>
          <a:xfrm>
            <a:off x="349250" y="2857500"/>
            <a:ext cx="8385175" cy="809625"/>
          </a:xfrm>
          <a:prstGeom prst="rect">
            <a:avLst/>
          </a:prstGeom>
          <a:noFill/>
          <a:ln w="9525">
            <a:noFill/>
          </a:ln>
        </p:spPr>
        <p:txBody>
          <a:bodyPr anchor="t"/>
          <a:lstStyle/>
          <a:p>
            <a:pPr lvl="0" indent="0">
              <a:buClrTx/>
            </a:pPr>
            <a:r>
              <a:rPr lang="en-US" altLang="en-US" sz="2400" b="1">
                <a:latin typeface="Arial" panose="020B0604020202020204" pitchFamily="34" charset="0"/>
                <a:ea typeface="宋体" panose="02010600030101010101" pitchFamily="2" charset="-122"/>
              </a:rPr>
              <a:t>在8086指令系统中，说明操作数所在地址的寻址方式可分为</a:t>
            </a:r>
            <a:r>
              <a:rPr lang="en-US" altLang="zh-CN" sz="2400" b="1">
                <a:solidFill>
                  <a:srgbClr val="FF00FF"/>
                </a:solidFill>
                <a:latin typeface="Arial" panose="020B0604020202020204" pitchFamily="34" charset="0"/>
                <a:ea typeface="宋体" panose="02010600030101010101" pitchFamily="2" charset="-122"/>
              </a:rPr>
              <a:t>3</a:t>
            </a:r>
            <a:r>
              <a:rPr lang="zh-CN" altLang="en-US" sz="2400" b="1">
                <a:latin typeface="Arial" panose="020B0604020202020204" pitchFamily="34" charset="0"/>
                <a:ea typeface="宋体" panose="02010600030101010101" pitchFamily="2" charset="-122"/>
              </a:rPr>
              <a:t>大</a:t>
            </a:r>
            <a:r>
              <a:rPr lang="en-US" altLang="en-US" sz="2400" b="1">
                <a:latin typeface="Arial" panose="020B0604020202020204" pitchFamily="34" charset="0"/>
                <a:ea typeface="宋体" panose="02010600030101010101" pitchFamily="2" charset="-122"/>
              </a:rPr>
              <a:t>种</a:t>
            </a:r>
            <a:r>
              <a:rPr lang="zh-CN" altLang="en-US" sz="2400" b="1">
                <a:latin typeface="Arial" panose="020B0604020202020204" pitchFamily="34" charset="0"/>
                <a:ea typeface="宋体" panose="02010600030101010101" pitchFamily="2" charset="-122"/>
              </a:rPr>
              <a:t>（</a:t>
            </a:r>
            <a:r>
              <a:rPr lang="en-US" altLang="zh-CN" sz="2400" b="1">
                <a:solidFill>
                  <a:srgbClr val="FF00FF"/>
                </a:solidFill>
                <a:latin typeface="Arial" panose="020B0604020202020204" pitchFamily="34" charset="0"/>
                <a:ea typeface="宋体" panose="02010600030101010101" pitchFamily="2" charset="-122"/>
              </a:rPr>
              <a:t>7</a:t>
            </a:r>
            <a:r>
              <a:rPr lang="zh-CN" altLang="en-US" sz="2400" b="1" dirty="0">
                <a:latin typeface="Arial" panose="020B0604020202020204" pitchFamily="34" charset="0"/>
                <a:ea typeface="宋体" panose="02010600030101010101" pitchFamily="2" charset="-122"/>
              </a:rPr>
              <a:t>小种）：</a:t>
            </a:r>
            <a:endParaRPr lang="zh-CN" altLang="en-US" sz="2400" b="1">
              <a:solidFill>
                <a:srgbClr val="FF0000"/>
              </a:solidFill>
              <a:latin typeface="Arial" panose="020B0604020202020204" pitchFamily="34" charset="0"/>
              <a:ea typeface="宋体" panose="02010600030101010101" pitchFamily="2" charset="-122"/>
            </a:endParaRPr>
          </a:p>
        </p:txBody>
      </p:sp>
      <p:sp>
        <p:nvSpPr>
          <p:cNvPr id="15364" name="矩形 275462"/>
          <p:cNvSpPr/>
          <p:nvPr/>
        </p:nvSpPr>
        <p:spPr>
          <a:xfrm>
            <a:off x="1727200" y="3744913"/>
            <a:ext cx="6408738" cy="2555875"/>
          </a:xfrm>
          <a:prstGeom prst="rect">
            <a:avLst/>
          </a:prstGeom>
          <a:noFill/>
          <a:ln w="9525">
            <a:noFill/>
          </a:ln>
        </p:spPr>
        <p:txBody>
          <a:bodyPr lIns="0" tIns="0" rIns="0" bIns="0" anchor="t">
            <a:spAutoFit/>
          </a:bodyPr>
          <a:lstStyle/>
          <a:p>
            <a:pPr marL="457200" lvl="0" indent="-457200"/>
            <a:r>
              <a:rPr lang="zh-CN" altLang="en-US" sz="2400" b="1" dirty="0">
                <a:solidFill>
                  <a:srgbClr val="0000FF"/>
                </a:solidFill>
                <a:latin typeface="Times New Roman" panose="02020603050405020304" pitchFamily="18" charset="0"/>
                <a:ea typeface="宋体" panose="02010600030101010101" pitchFamily="2" charset="-122"/>
              </a:rPr>
              <a:t>立即数寻址方式</a:t>
            </a:r>
            <a:endParaRPr lang="zh-CN" altLang="en-US" sz="2400" b="1">
              <a:solidFill>
                <a:srgbClr val="0000FF"/>
              </a:solidFill>
              <a:latin typeface="Times New Roman" panose="02020603050405020304" pitchFamily="18" charset="0"/>
              <a:ea typeface="宋体" panose="02010600030101010101" pitchFamily="2" charset="-122"/>
            </a:endParaRPr>
          </a:p>
          <a:p>
            <a:pPr marL="457200" lvl="0" indent="-457200"/>
            <a:r>
              <a:rPr lang="zh-CN" altLang="en-US" sz="2400" b="1" dirty="0">
                <a:solidFill>
                  <a:srgbClr val="0000FF"/>
                </a:solidFill>
                <a:latin typeface="Times New Roman" panose="02020603050405020304" pitchFamily="18" charset="0"/>
                <a:ea typeface="宋体" panose="02010600030101010101" pitchFamily="2" charset="-122"/>
              </a:rPr>
              <a:t>寄存器寻址方式</a:t>
            </a:r>
          </a:p>
          <a:p>
            <a:pPr marL="457200" lvl="0" indent="-457200"/>
            <a:r>
              <a:rPr lang="zh-CN" altLang="en-US" sz="2400" b="1" dirty="0">
                <a:solidFill>
                  <a:srgbClr val="0000FF"/>
                </a:solidFill>
                <a:latin typeface="Times New Roman" panose="02020603050405020304" pitchFamily="18" charset="0"/>
                <a:ea typeface="宋体" panose="02010600030101010101" pitchFamily="2" charset="-122"/>
              </a:rPr>
              <a:t>　　　　　　　　  寄存器间接寻址</a:t>
            </a:r>
          </a:p>
          <a:p>
            <a:pPr marL="457200" lvl="0" indent="-457200"/>
            <a:r>
              <a:rPr lang="zh-CN" altLang="en-US" sz="2400" b="1" dirty="0">
                <a:solidFill>
                  <a:srgbClr val="0000FF"/>
                </a:solidFill>
                <a:latin typeface="Times New Roman" panose="02020603050405020304" pitchFamily="18" charset="0"/>
                <a:ea typeface="宋体" panose="02010600030101010101" pitchFamily="2" charset="-122"/>
              </a:rPr>
              <a:t>　　　　　　　　  寄存器相对寻址</a:t>
            </a:r>
          </a:p>
          <a:p>
            <a:pPr marL="457200" lvl="0" indent="-457200"/>
            <a:r>
              <a:rPr lang="zh-CN" altLang="en-US" sz="2400" b="1" dirty="0">
                <a:solidFill>
                  <a:srgbClr val="0000FF"/>
                </a:solidFill>
                <a:latin typeface="Times New Roman" panose="02020603050405020304" pitchFamily="18" charset="0"/>
                <a:ea typeface="宋体" panose="02010600030101010101" pitchFamily="2" charset="-122"/>
              </a:rPr>
              <a:t>存储器寻址方式　  基址变址寻址</a:t>
            </a:r>
          </a:p>
          <a:p>
            <a:pPr marL="457200" lvl="0" indent="-457200"/>
            <a:r>
              <a:rPr lang="zh-CN" altLang="en-US" sz="2400" b="1" dirty="0">
                <a:solidFill>
                  <a:srgbClr val="0000FF"/>
                </a:solidFill>
                <a:latin typeface="Times New Roman" panose="02020603050405020304" pitchFamily="18" charset="0"/>
                <a:ea typeface="宋体" panose="02010600030101010101" pitchFamily="2" charset="-122"/>
              </a:rPr>
              <a:t>　　　　　　　　  直接寻址</a:t>
            </a:r>
          </a:p>
          <a:p>
            <a:pPr marL="1371600" lvl="2" indent="-457200"/>
            <a:r>
              <a:rPr lang="zh-CN" altLang="en-US" sz="2400" b="1" dirty="0">
                <a:solidFill>
                  <a:srgbClr val="0000FF"/>
                </a:solidFill>
                <a:latin typeface="Times New Roman" panose="02020603050405020304" pitchFamily="18" charset="0"/>
                <a:ea typeface="宋体" panose="02010600030101010101" pitchFamily="2" charset="-122"/>
              </a:rPr>
              <a:t>　　　　　  基址变址相对寻址</a:t>
            </a:r>
          </a:p>
        </p:txBody>
      </p:sp>
      <p:sp>
        <p:nvSpPr>
          <p:cNvPr id="15365" name="左大括号 275463"/>
          <p:cNvSpPr/>
          <p:nvPr/>
        </p:nvSpPr>
        <p:spPr>
          <a:xfrm>
            <a:off x="1212850" y="3822700"/>
            <a:ext cx="504825" cy="1735138"/>
          </a:xfrm>
          <a:prstGeom prst="leftBrace">
            <a:avLst>
              <a:gd name="adj1" fmla="val 28626"/>
              <a:gd name="adj2" fmla="val 50000"/>
            </a:avLst>
          </a:prstGeom>
          <a:noFill/>
          <a:ln w="57150" cap="flat" cmpd="sng">
            <a:solidFill>
              <a:srgbClr val="0000FF"/>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15366" name="左大括号 275464"/>
          <p:cNvSpPr/>
          <p:nvPr/>
        </p:nvSpPr>
        <p:spPr>
          <a:xfrm>
            <a:off x="3948113" y="4591050"/>
            <a:ext cx="360362" cy="1676400"/>
          </a:xfrm>
          <a:prstGeom prst="leftBrace">
            <a:avLst>
              <a:gd name="adj1" fmla="val 38745"/>
              <a:gd name="adj2" fmla="val 50000"/>
            </a:avLst>
          </a:prstGeom>
          <a:noFill/>
          <a:ln w="57150" cap="flat" cmpd="sng">
            <a:solidFill>
              <a:srgbClr val="0000FF"/>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15367" name="矩形 275466"/>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文本框 277505"/>
          <p:cNvSpPr txBox="1"/>
          <p:nvPr/>
        </p:nvSpPr>
        <p:spPr>
          <a:xfrm>
            <a:off x="314324" y="1196752"/>
            <a:ext cx="8506148" cy="2843855"/>
          </a:xfrm>
          <a:prstGeom prst="rect">
            <a:avLst/>
          </a:prstGeom>
          <a:noFill/>
          <a:ln w="9525">
            <a:noFill/>
          </a:ln>
        </p:spPr>
        <p:txBody>
          <a:bodyPr wrap="square" lIns="0" tIns="0" rIns="0" bIns="0" anchor="t">
            <a:spAutoFit/>
          </a:bodyPr>
          <a:lstStyle/>
          <a:p>
            <a:r>
              <a:rPr lang="zh-CN" altLang="en-US" sz="2400" dirty="0"/>
              <a:t>操作数包含在指令中，紧跟着操作码并与操作码一起存放在代码段中，与代码一起被取入</a:t>
            </a:r>
            <a:r>
              <a:rPr lang="en-US" altLang="zh-CN" sz="2400" dirty="0"/>
              <a:t>CPU</a:t>
            </a:r>
            <a:r>
              <a:rPr lang="zh-CN" altLang="en-US" sz="2400" dirty="0"/>
              <a:t>的指令队列，指令执行时不需要再访问存储器。</a:t>
            </a:r>
          </a:p>
          <a:p>
            <a:pPr>
              <a:lnSpc>
                <a:spcPct val="90000"/>
              </a:lnSpc>
              <a:spcBef>
                <a:spcPct val="50000"/>
              </a:spcBef>
            </a:pPr>
            <a:r>
              <a:rPr lang="zh-CN" altLang="en-US" sz="2400" b="1" dirty="0"/>
              <a:t>立即寻址中的</a:t>
            </a:r>
            <a:r>
              <a:rPr lang="zh-CN" altLang="en-US" sz="2400" b="1" dirty="0">
                <a:latin typeface="Times New Roman" panose="02020603050405020304" pitchFamily="18" charset="0"/>
                <a:ea typeface="宋体" panose="02010600030101010101" pitchFamily="2" charset="-122"/>
              </a:rPr>
              <a:t>操作数可以是计算机有效数制下的数值，也可以是带</a:t>
            </a:r>
            <a:r>
              <a:rPr lang="zh-CN" altLang="en-US" sz="2400" b="1" dirty="0">
                <a:solidFill>
                  <a:srgbClr val="0000FF"/>
                </a:solidFill>
                <a:latin typeface="Times New Roman" panose="02020603050405020304" pitchFamily="18" charset="0"/>
                <a:ea typeface="宋体" panose="02010600030101010101" pitchFamily="2" charset="-122"/>
              </a:rPr>
              <a:t>单引号</a:t>
            </a:r>
            <a:r>
              <a:rPr lang="zh-CN" altLang="en-US" sz="2400" b="1" dirty="0">
                <a:latin typeface="Times New Roman" panose="02020603050405020304" pitchFamily="18" charset="0"/>
                <a:ea typeface="宋体" panose="02010600030101010101" pitchFamily="2" charset="-122"/>
              </a:rPr>
              <a:t>的字符。</a:t>
            </a:r>
          </a:p>
          <a:p>
            <a:pPr lvl="0" indent="0">
              <a:lnSpc>
                <a:spcPct val="90000"/>
              </a:lnSpc>
              <a:spcBef>
                <a:spcPct val="50000"/>
              </a:spcBef>
              <a:buClrTx/>
            </a:pPr>
            <a:r>
              <a:rPr lang="zh-CN" altLang="en-US" sz="2400" b="1" dirty="0">
                <a:latin typeface="Times New Roman" panose="02020603050405020304" pitchFamily="18" charset="0"/>
                <a:ea typeface="宋体" panose="02010600030101010101" pitchFamily="2" charset="-122"/>
              </a:rPr>
              <a:t>例如：   </a:t>
            </a:r>
            <a:r>
              <a:rPr lang="en-US" altLang="zh-CN" sz="2400" b="1" dirty="0">
                <a:latin typeface="Times New Roman" panose="02020603050405020304" pitchFamily="18" charset="0"/>
                <a:ea typeface="宋体" panose="02010600030101010101" pitchFamily="2" charset="-122"/>
              </a:rPr>
              <a:t>MOV    AX</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3102H    </a:t>
            </a:r>
            <a:r>
              <a:rPr lang="en-US" altLang="zh-CN" sz="2400" b="1" dirty="0">
                <a:latin typeface="Arial" panose="020B0604020202020204" pitchFamily="34" charset="0"/>
                <a:ea typeface="宋体" panose="02010600030101010101" pitchFamily="2" charset="-122"/>
              </a:rPr>
              <a:t>; AX          3102H,</a:t>
            </a:r>
            <a:r>
              <a:rPr lang="zh-CN" altLang="en-US" sz="2400" b="1" dirty="0">
                <a:latin typeface="Arial" panose="020B0604020202020204" pitchFamily="34" charset="0"/>
                <a:ea typeface="宋体" panose="02010600030101010101" pitchFamily="2" charset="-122"/>
              </a:rPr>
              <a:t>执行后，</a:t>
            </a:r>
          </a:p>
          <a:p>
            <a:pPr lvl="0" indent="0"/>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MOV    AL</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a:t>
            </a:r>
            <a:r>
              <a:rPr lang="en-US" altLang="zh-CN" sz="2400" b="1" dirty="0">
                <a:latin typeface="Tahoma" panose="020B0604030504040204" pitchFamily="34" charset="0"/>
                <a:ea typeface="宋体" panose="02010600030101010101" pitchFamily="2" charset="-122"/>
              </a:rPr>
              <a:t>         </a:t>
            </a:r>
            <a:r>
              <a:rPr lang="zh-CN" altLang="en-US" sz="2400" b="1" dirty="0">
                <a:latin typeface="Tahoma" panose="020B0604030504040204" pitchFamily="34" charset="0"/>
                <a:ea typeface="宋体" panose="02010600030101010101" pitchFamily="2" charset="-122"/>
              </a:rPr>
              <a:t>；</a:t>
            </a:r>
            <a:r>
              <a:rPr lang="en-US" altLang="zh-CN" sz="2400" b="1" dirty="0">
                <a:latin typeface="Tahoma" panose="020B0604030504040204" pitchFamily="34" charset="0"/>
                <a:ea typeface="宋体" panose="02010600030101010101" pitchFamily="2" charset="-122"/>
              </a:rPr>
              <a:t>AL=41H</a:t>
            </a:r>
          </a:p>
        </p:txBody>
      </p:sp>
      <p:sp>
        <p:nvSpPr>
          <p:cNvPr id="17410" name="矩形 277506"/>
          <p:cNvSpPr/>
          <p:nvPr/>
        </p:nvSpPr>
        <p:spPr>
          <a:xfrm>
            <a:off x="323850" y="764704"/>
            <a:ext cx="2265363" cy="431800"/>
          </a:xfrm>
          <a:prstGeom prst="rect">
            <a:avLst/>
          </a:prstGeom>
          <a:noFill/>
          <a:ln w="9525">
            <a:noFill/>
          </a:ln>
        </p:spPr>
        <p:txBody>
          <a:bodyPr lIns="0" tIns="0" rIns="0" bIns="0" anchor="ctr"/>
          <a:lstStyle/>
          <a:p>
            <a:pPr lvl="0" indent="0">
              <a:buClrTx/>
            </a:pPr>
            <a:r>
              <a:rPr lang="en-US" altLang="zh-CN" sz="2400" b="1" dirty="0">
                <a:solidFill>
                  <a:srgbClr val="0066FF"/>
                </a:solidFill>
                <a:latin typeface="Arial" panose="020B0604020202020204" pitchFamily="34" charset="0"/>
                <a:ea typeface="宋体" panose="02010600030101010101" pitchFamily="2" charset="-122"/>
              </a:rPr>
              <a:t>3.</a:t>
            </a:r>
            <a:r>
              <a:rPr lang="en-US" altLang="zh-CN" sz="2400" b="1" dirty="0">
                <a:solidFill>
                  <a:srgbClr val="0066FF"/>
                </a:solidFill>
                <a:latin typeface="Arial" panose="020B0604020202020204" pitchFamily="34" charset="0"/>
              </a:rPr>
              <a:t>2.</a:t>
            </a:r>
            <a:r>
              <a:rPr lang="en-US" altLang="zh-CN" sz="2400" b="1" dirty="0">
                <a:solidFill>
                  <a:srgbClr val="0066FF"/>
                </a:solidFill>
                <a:latin typeface="Arial" panose="020B0604020202020204" pitchFamily="34" charset="0"/>
                <a:ea typeface="宋体" panose="02010600030101010101" pitchFamily="2" charset="-122"/>
              </a:rPr>
              <a:t>1</a:t>
            </a:r>
            <a:r>
              <a:rPr lang="zh-CN" altLang="en-US" sz="2400" b="1" dirty="0">
                <a:solidFill>
                  <a:srgbClr val="0066FF"/>
                </a:solidFill>
                <a:latin typeface="Times New Roman" panose="02020603050405020304" pitchFamily="18" charset="0"/>
                <a:ea typeface="宋体" panose="02010600030101010101" pitchFamily="2" charset="-122"/>
              </a:rPr>
              <a:t>、立即寻址</a:t>
            </a:r>
          </a:p>
        </p:txBody>
      </p:sp>
      <p:sp>
        <p:nvSpPr>
          <p:cNvPr id="17411" name="直接连接符 277507"/>
          <p:cNvSpPr/>
          <p:nvPr/>
        </p:nvSpPr>
        <p:spPr>
          <a:xfrm flipH="1">
            <a:off x="5044723" y="3501008"/>
            <a:ext cx="596900" cy="0"/>
          </a:xfrm>
          <a:prstGeom prst="line">
            <a:avLst/>
          </a:prstGeom>
          <a:ln w="38100" cap="flat" cmpd="sng">
            <a:solidFill>
              <a:srgbClr val="FF00FF"/>
            </a:solidFill>
            <a:prstDash val="solid"/>
            <a:round/>
            <a:headEnd type="none" w="med" len="med"/>
            <a:tailEnd type="triangle" w="med" len="lg"/>
          </a:ln>
        </p:spPr>
      </p:sp>
      <p:sp>
        <p:nvSpPr>
          <p:cNvPr id="277509" name="文本框 277508"/>
          <p:cNvSpPr txBox="1"/>
          <p:nvPr/>
        </p:nvSpPr>
        <p:spPr>
          <a:xfrm>
            <a:off x="539552" y="4060784"/>
            <a:ext cx="8352928" cy="1846659"/>
          </a:xfrm>
          <a:prstGeom prst="rect">
            <a:avLst/>
          </a:prstGeom>
          <a:noFill/>
          <a:ln w="9525">
            <a:noFill/>
          </a:ln>
        </p:spPr>
        <p:txBody>
          <a:bodyPr wrap="square" lIns="0" tIns="0" rIns="0" bIns="0" anchor="t">
            <a:spAutoFit/>
          </a:bodyPr>
          <a:lstStyle/>
          <a:p>
            <a:pPr lvl="0" indent="0"/>
            <a:r>
              <a:rPr lang="zh-CN" altLang="en-US" sz="2400" b="1" dirty="0">
                <a:latin typeface="Times New Roman" panose="02020603050405020304" pitchFamily="18" charset="0"/>
                <a:ea typeface="宋体" panose="02010600030101010101" pitchFamily="2" charset="-122"/>
              </a:rPr>
              <a:t>分析以下指令的错误原因：</a:t>
            </a:r>
          </a:p>
          <a:p>
            <a:pPr lvl="0" indent="0"/>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MOV	  05H</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AL                MOV	  BL</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324D</a:t>
            </a:r>
          </a:p>
          <a:p>
            <a:pPr lvl="0" indent="0"/>
            <a:r>
              <a:rPr lang="en-US" altLang="zh-CN" sz="2400" b="1" dirty="0">
                <a:latin typeface="Times New Roman" panose="02020603050405020304" pitchFamily="18" charset="0"/>
                <a:ea typeface="宋体" panose="02010600030101010101" pitchFamily="2" charset="-122"/>
              </a:rPr>
              <a:t>  MOV	  CH</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2050H            MOV	  DL</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25’</a:t>
            </a:r>
          </a:p>
          <a:p>
            <a:pPr lvl="0"/>
            <a:r>
              <a:rPr lang="zh-CN" altLang="en-US" sz="2400" b="1" dirty="0">
                <a:solidFill>
                  <a:srgbClr val="FF0000"/>
                </a:solidFill>
                <a:latin typeface="Times New Roman" panose="02020603050405020304" pitchFamily="18" charset="0"/>
                <a:ea typeface="宋体" panose="02010600030101010101" pitchFamily="2" charset="-122"/>
              </a:rPr>
              <a:t>注意</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  </a:t>
            </a:r>
            <a:r>
              <a:rPr lang="zh-CN" altLang="en-US" sz="2400" b="1" dirty="0">
                <a:latin typeface="Times New Roman" panose="02020603050405020304" pitchFamily="18" charset="0"/>
                <a:ea typeface="宋体" panose="02010600030101010101" pitchFamily="2" charset="-122"/>
              </a:rPr>
              <a:t>立即数只能作为源操作数</a:t>
            </a:r>
            <a:r>
              <a:rPr lang="zh-CN" altLang="en-US" sz="2400" b="1" dirty="0"/>
              <a:t>使用，常用于给</a:t>
            </a:r>
            <a:r>
              <a:rPr lang="en-US" altLang="zh-CN" sz="2400" b="1" dirty="0" err="1"/>
              <a:t>Reg</a:t>
            </a:r>
            <a:r>
              <a:rPr lang="zh-CN" altLang="en-US" sz="2400" b="1" dirty="0"/>
              <a:t>赋初值</a:t>
            </a:r>
            <a:endParaRPr lang="zh-CN" altLang="en-US" sz="2400" b="1" dirty="0">
              <a:latin typeface="Times New Roman" panose="02020603050405020304" pitchFamily="18" charset="0"/>
              <a:ea typeface="宋体" panose="02010600030101010101" pitchFamily="2" charset="-122"/>
            </a:endParaRPr>
          </a:p>
          <a:p>
            <a:pPr lvl="0" indent="0"/>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2.   </a:t>
            </a:r>
            <a:r>
              <a:rPr lang="zh-CN" altLang="en-US" sz="2400" b="1" dirty="0">
                <a:latin typeface="Times New Roman" panose="02020603050405020304" pitchFamily="18" charset="0"/>
                <a:ea typeface="宋体" panose="02010600030101010101" pitchFamily="2" charset="-122"/>
              </a:rPr>
              <a:t>源操作数和目的操作数的类型要互相匹配。</a:t>
            </a:r>
            <a:r>
              <a:rPr lang="zh-CN" altLang="en-US" sz="2400" b="1" i="1" dirty="0">
                <a:latin typeface="Tahoma" panose="020B0604030504040204" pitchFamily="34" charset="0"/>
                <a:ea typeface="宋体" panose="02010600030101010101" pitchFamily="2" charset="-122"/>
              </a:rPr>
              <a:t> </a:t>
            </a:r>
          </a:p>
        </p:txBody>
      </p:sp>
      <p:sp>
        <p:nvSpPr>
          <p:cNvPr id="17413" name="矩形 277510"/>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77509"/>
                                        </p:tgtEl>
                                        <p:attrNameLst>
                                          <p:attrName>style.visibility</p:attrName>
                                        </p:attrNameLst>
                                      </p:cBhvr>
                                      <p:to>
                                        <p:strVal val="visible"/>
                                      </p:to>
                                    </p:set>
                                    <p:animEffect transition="in" filter="diamond(in)">
                                      <p:cBhvr>
                                        <p:cTn id="7" dur="3000"/>
                                        <p:tgtEl>
                                          <p:spTgt spid="277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9"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457" name="图片 279558"/>
          <p:cNvPicPr>
            <a:picLocks noChangeAspect="1"/>
          </p:cNvPicPr>
          <p:nvPr/>
        </p:nvPicPr>
        <p:blipFill>
          <a:blip r:embed="rId3"/>
          <a:stretch>
            <a:fillRect/>
          </a:stretch>
        </p:blipFill>
        <p:spPr>
          <a:xfrm>
            <a:off x="1403350" y="1700213"/>
            <a:ext cx="6624638" cy="2714625"/>
          </a:xfrm>
          <a:prstGeom prst="rect">
            <a:avLst/>
          </a:prstGeom>
          <a:noFill/>
          <a:ln w="9525">
            <a:noFill/>
          </a:ln>
        </p:spPr>
      </p:pic>
      <p:sp>
        <p:nvSpPr>
          <p:cNvPr id="19458" name="矩形 279559"/>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文本框 281601"/>
          <p:cNvSpPr txBox="1"/>
          <p:nvPr/>
        </p:nvSpPr>
        <p:spPr>
          <a:xfrm>
            <a:off x="1876425" y="4816475"/>
            <a:ext cx="576263" cy="365125"/>
          </a:xfrm>
          <a:prstGeom prst="rect">
            <a:avLst/>
          </a:prstGeom>
          <a:noFill/>
          <a:ln w="9525">
            <a:noFill/>
          </a:ln>
        </p:spPr>
        <p:txBody>
          <a:bodyPr lIns="0" tIns="0" rIns="0" bIns="0" anchor="t">
            <a:spAutoFit/>
          </a:bodyPr>
          <a:lstStyle/>
          <a:p>
            <a:pPr lvl="0" indent="0" algn="ctr">
              <a:spcBef>
                <a:spcPct val="50000"/>
              </a:spcBef>
            </a:pPr>
            <a:r>
              <a:rPr lang="en-US" altLang="zh-CN" sz="2400" b="1">
                <a:latin typeface="Tahoma" panose="020B0604030504040204" pitchFamily="34" charset="0"/>
                <a:ea typeface="宋体" panose="02010600030101010101" pitchFamily="2" charset="-122"/>
              </a:rPr>
              <a:t>BX</a:t>
            </a:r>
          </a:p>
        </p:txBody>
      </p:sp>
      <p:sp>
        <p:nvSpPr>
          <p:cNvPr id="21506" name="文本框 281602"/>
          <p:cNvSpPr txBox="1"/>
          <p:nvPr/>
        </p:nvSpPr>
        <p:spPr>
          <a:xfrm>
            <a:off x="1835150" y="5948363"/>
            <a:ext cx="576263" cy="365125"/>
          </a:xfrm>
          <a:prstGeom prst="rect">
            <a:avLst/>
          </a:prstGeom>
          <a:noFill/>
          <a:ln w="9525">
            <a:noFill/>
          </a:ln>
        </p:spPr>
        <p:txBody>
          <a:bodyPr lIns="0" tIns="0" rIns="0" bIns="0" anchor="t">
            <a:spAutoFit/>
          </a:bodyPr>
          <a:lstStyle/>
          <a:p>
            <a:pPr lvl="0" indent="0" algn="ctr">
              <a:spcBef>
                <a:spcPct val="50000"/>
              </a:spcBef>
            </a:pPr>
            <a:r>
              <a:rPr lang="en-US" altLang="zh-CN" sz="2400" b="1">
                <a:latin typeface="Tahoma" panose="020B0604030504040204" pitchFamily="34" charset="0"/>
                <a:ea typeface="宋体" panose="02010600030101010101" pitchFamily="2" charset="-122"/>
              </a:rPr>
              <a:t>AX</a:t>
            </a:r>
          </a:p>
        </p:txBody>
      </p:sp>
      <p:sp>
        <p:nvSpPr>
          <p:cNvPr id="21507" name="矩形 281603"/>
          <p:cNvSpPr/>
          <p:nvPr/>
        </p:nvSpPr>
        <p:spPr>
          <a:xfrm>
            <a:off x="2698750" y="5876925"/>
            <a:ext cx="3311525" cy="504825"/>
          </a:xfrm>
          <a:prstGeom prst="rect">
            <a:avLst/>
          </a:prstGeom>
          <a:noFill/>
          <a:ln w="28575" cap="flat" cmpd="sng">
            <a:solidFill>
              <a:schemeClr val="tx1"/>
            </a:solidFill>
            <a:prstDash val="solid"/>
            <a:miter/>
            <a:headEnd type="none" w="med" len="med"/>
            <a:tailEnd type="none" w="med" len="med"/>
          </a:ln>
        </p:spPr>
        <p:txBody>
          <a:bodyPr wrap="none" lIns="0" tIns="0" rIns="0" bIns="0" anchor="ctr"/>
          <a:lstStyle/>
          <a:p>
            <a:pPr lvl="0" indent="0" algn="ctr"/>
            <a:endParaRPr lang="zh-CN" altLang="en-US" sz="2800" b="1" dirty="0">
              <a:latin typeface="Tahoma" panose="020B0604030504040204" pitchFamily="34" charset="0"/>
              <a:ea typeface="宋体" panose="02010600030101010101" pitchFamily="2" charset="-122"/>
            </a:endParaRPr>
          </a:p>
        </p:txBody>
      </p:sp>
      <p:sp>
        <p:nvSpPr>
          <p:cNvPr id="21508" name="下箭头 281604"/>
          <p:cNvSpPr/>
          <p:nvPr/>
        </p:nvSpPr>
        <p:spPr>
          <a:xfrm>
            <a:off x="4124325" y="5313363"/>
            <a:ext cx="431800" cy="503237"/>
          </a:xfrm>
          <a:prstGeom prst="downArrow">
            <a:avLst>
              <a:gd name="adj1" fmla="val 50000"/>
              <a:gd name="adj2" fmla="val 29130"/>
            </a:avLst>
          </a:prstGeom>
          <a:solidFill>
            <a:srgbClr val="66FFCC"/>
          </a:solidFill>
          <a:ln w="9525" cap="flat" cmpd="sng">
            <a:solidFill>
              <a:srgbClr val="99FFCC"/>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21509" name="矩形 281605"/>
          <p:cNvSpPr/>
          <p:nvPr/>
        </p:nvSpPr>
        <p:spPr>
          <a:xfrm>
            <a:off x="2698750" y="4745038"/>
            <a:ext cx="3311525" cy="504825"/>
          </a:xfrm>
          <a:prstGeom prst="rect">
            <a:avLst/>
          </a:prstGeom>
          <a:noFill/>
          <a:ln w="28575" cap="flat" cmpd="sng">
            <a:solidFill>
              <a:schemeClr val="tx1"/>
            </a:solidFill>
            <a:prstDash val="solid"/>
            <a:miter/>
            <a:headEnd type="none" w="med" len="med"/>
            <a:tailEnd type="none" w="med" len="med"/>
          </a:ln>
        </p:spPr>
        <p:txBody>
          <a:bodyPr wrap="none" lIns="0" tIns="0" rIns="0" bIns="0" anchor="ctr"/>
          <a:lstStyle/>
          <a:p>
            <a:pPr lvl="0" indent="0" algn="ctr"/>
            <a:r>
              <a:rPr lang="en-US" altLang="zh-CN" sz="2800" b="1">
                <a:latin typeface="Tahoma" panose="020B0604030504040204" pitchFamily="34" charset="0"/>
                <a:ea typeface="宋体" panose="02010600030101010101" pitchFamily="2" charset="-122"/>
              </a:rPr>
              <a:t>2244H</a:t>
            </a:r>
          </a:p>
        </p:txBody>
      </p:sp>
      <p:sp>
        <p:nvSpPr>
          <p:cNvPr id="21510" name="文本框 281607"/>
          <p:cNvSpPr txBox="1"/>
          <p:nvPr/>
        </p:nvSpPr>
        <p:spPr>
          <a:xfrm>
            <a:off x="696913" y="3454400"/>
            <a:ext cx="7272337" cy="1095375"/>
          </a:xfrm>
          <a:prstGeom prst="rect">
            <a:avLst/>
          </a:prstGeom>
          <a:noFill/>
          <a:ln w="9525">
            <a:noFill/>
          </a:ln>
        </p:spPr>
        <p:txBody>
          <a:bodyPr lIns="0" tIns="0" rIns="0" bIns="0" anchor="t">
            <a:spAutoFit/>
          </a:bodyPr>
          <a:lstStyle/>
          <a:p>
            <a:pPr lvl="0" indent="0">
              <a:buClrTx/>
              <a:buSzPct val="80000"/>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对于指令：</a:t>
            </a:r>
            <a:r>
              <a:rPr lang="en-US" altLang="zh-CN" sz="2400" b="1">
                <a:latin typeface="Times New Roman" panose="02020603050405020304" pitchFamily="18" charset="0"/>
                <a:ea typeface="宋体" panose="02010600030101010101" pitchFamily="2" charset="-122"/>
              </a:rPr>
              <a:t>MOV  AX</a:t>
            </a:r>
            <a:r>
              <a:rPr lang="zh-CN" altLang="en-US" sz="2400" b="1" dirty="0">
                <a:latin typeface="Times New Roman" panose="02020603050405020304" pitchFamily="18" charset="0"/>
                <a:ea typeface="宋体" panose="02010600030101010101" pitchFamily="2" charset="-122"/>
              </a:rPr>
              <a:t>，</a:t>
            </a:r>
            <a:r>
              <a:rPr lang="en-US" altLang="zh-CN" sz="2400" b="1">
                <a:latin typeface="Times New Roman" panose="02020603050405020304" pitchFamily="18" charset="0"/>
                <a:ea typeface="宋体" panose="02010600030101010101" pitchFamily="2" charset="-122"/>
              </a:rPr>
              <a:t>BX    ; </a:t>
            </a:r>
            <a:r>
              <a:rPr lang="en-US" altLang="zh-CN" sz="2400" b="1">
                <a:solidFill>
                  <a:srgbClr val="FF00FF"/>
                </a:solidFill>
                <a:latin typeface="Times New Roman" panose="02020603050405020304" pitchFamily="18" charset="0"/>
                <a:ea typeface="宋体" panose="02010600030101010101" pitchFamily="2" charset="-122"/>
              </a:rPr>
              <a:t>AX        BX</a:t>
            </a:r>
          </a:p>
          <a:p>
            <a:pPr lvl="0" indent="0"/>
            <a:r>
              <a:rPr lang="en-US" altLang="zh-CN" sz="2400">
                <a:latin typeface="Times New Roman" panose="02020603050405020304" pitchFamily="18" charset="0"/>
                <a:ea typeface="宋体" panose="02010600030101010101" pitchFamily="2" charset="-122"/>
              </a:rPr>
              <a:t>   </a:t>
            </a:r>
            <a:r>
              <a:rPr lang="en-US" altLang="en-US" sz="2400" err="1">
                <a:latin typeface="Times New Roman" panose="02020603050405020304" pitchFamily="18" charset="0"/>
                <a:ea typeface="宋体" panose="02010600030101010101" pitchFamily="2" charset="-122"/>
              </a:rPr>
              <a:t>指令执行前</a:t>
            </a:r>
            <a:r>
              <a:rPr lang="zh-CN" altLang="en-US" sz="2400" dirty="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BX=2244H    AX=2003H</a:t>
            </a:r>
          </a:p>
          <a:p>
            <a:pPr lvl="0" indent="0"/>
            <a:r>
              <a:rPr lang="en-US" altLang="zh-CN" sz="2400">
                <a:latin typeface="Times New Roman" panose="02020603050405020304" pitchFamily="18" charset="0"/>
                <a:ea typeface="宋体" panose="02010600030101010101" pitchFamily="2" charset="-122"/>
              </a:rPr>
              <a:t>   </a:t>
            </a:r>
            <a:r>
              <a:rPr lang="en-US" altLang="en-US" sz="2400" err="1">
                <a:latin typeface="Times New Roman" panose="02020603050405020304" pitchFamily="18" charset="0"/>
                <a:ea typeface="宋体" panose="02010600030101010101" pitchFamily="2" charset="-122"/>
              </a:rPr>
              <a:t>指令执行</a:t>
            </a:r>
            <a:r>
              <a:rPr lang="zh-CN" altLang="en-US" sz="2400" dirty="0">
                <a:latin typeface="Times New Roman" panose="02020603050405020304" pitchFamily="18" charset="0"/>
                <a:ea typeface="宋体" panose="02010600030101010101" pitchFamily="2" charset="-122"/>
              </a:rPr>
              <a:t>后：</a:t>
            </a:r>
            <a:r>
              <a:rPr lang="en-US" altLang="zh-CN" sz="2400">
                <a:latin typeface="Times New Roman" panose="02020603050405020304" pitchFamily="18" charset="0"/>
                <a:ea typeface="宋体" panose="02010600030101010101" pitchFamily="2" charset="-122"/>
              </a:rPr>
              <a:t>BX=2244H    AX=2244H</a:t>
            </a:r>
          </a:p>
        </p:txBody>
      </p:sp>
      <p:sp>
        <p:nvSpPr>
          <p:cNvPr id="21511" name="直接连接符 281608"/>
          <p:cNvSpPr/>
          <p:nvPr/>
        </p:nvSpPr>
        <p:spPr>
          <a:xfrm flipH="1">
            <a:off x="5211763" y="3654425"/>
            <a:ext cx="504825" cy="0"/>
          </a:xfrm>
          <a:prstGeom prst="line">
            <a:avLst/>
          </a:prstGeom>
          <a:ln w="28575" cap="flat" cmpd="sng">
            <a:solidFill>
              <a:srgbClr val="FF00FF"/>
            </a:solidFill>
            <a:prstDash val="solid"/>
            <a:round/>
            <a:headEnd type="none" w="med" len="med"/>
            <a:tailEnd type="triangle" w="med" len="lg"/>
          </a:ln>
        </p:spPr>
      </p:sp>
      <p:sp>
        <p:nvSpPr>
          <p:cNvPr id="281610" name="文本框 281609"/>
          <p:cNvSpPr txBox="1"/>
          <p:nvPr/>
        </p:nvSpPr>
        <p:spPr>
          <a:xfrm>
            <a:off x="6479731" y="3463749"/>
            <a:ext cx="2370138" cy="2252924"/>
          </a:xfrm>
          <a:prstGeom prst="rect">
            <a:avLst/>
          </a:prstGeom>
          <a:noFill/>
          <a:ln w="9525">
            <a:noFill/>
          </a:ln>
        </p:spPr>
        <p:txBody>
          <a:bodyPr lIns="0" tIns="0" rIns="0" bIns="0" anchor="t">
            <a:spAutoFit/>
          </a:bodyPr>
          <a:lstStyle/>
          <a:p>
            <a:pPr>
              <a:spcBef>
                <a:spcPct val="10000"/>
              </a:spcBef>
            </a:pPr>
            <a:r>
              <a:rPr lang="zh-CN" altLang="en-US" sz="2400" b="1" dirty="0">
                <a:solidFill>
                  <a:srgbClr val="0000FF"/>
                </a:solidFill>
                <a:latin typeface="Times New Roman" panose="02020603050405020304" pitchFamily="18" charset="0"/>
                <a:ea typeface="宋体" panose="02010600030101010101" pitchFamily="2" charset="-122"/>
              </a:rPr>
              <a:t>说明</a:t>
            </a:r>
            <a:r>
              <a:rPr lang="zh-CN" altLang="en-US" sz="2400" b="1" dirty="0">
                <a:solidFill>
                  <a:srgbClr val="FF33CC"/>
                </a:solidFill>
              </a:rPr>
              <a:t>：寄存器寻址的操作数在</a:t>
            </a:r>
            <a:r>
              <a:rPr lang="en-US" altLang="zh-CN" sz="2400" b="1" dirty="0" err="1">
                <a:solidFill>
                  <a:srgbClr val="FF33CC"/>
                </a:solidFill>
              </a:rPr>
              <a:t>Reg</a:t>
            </a:r>
            <a:r>
              <a:rPr lang="zh-CN" altLang="en-US" sz="2400" b="1" dirty="0">
                <a:solidFill>
                  <a:srgbClr val="FF33CC"/>
                </a:solidFill>
              </a:rPr>
              <a:t>中，无需访问总线，执行速度快</a:t>
            </a:r>
            <a:r>
              <a:rPr lang="zh-CN" altLang="en-US" sz="2400" dirty="0"/>
              <a:t>。</a:t>
            </a:r>
            <a:endParaRPr lang="en-US" altLang="zh-CN" sz="2400" dirty="0"/>
          </a:p>
          <a:p>
            <a:pPr>
              <a:spcBef>
                <a:spcPct val="10000"/>
              </a:spcBef>
            </a:pPr>
            <a:r>
              <a:rPr lang="zh-CN" altLang="en-US" sz="2400" b="1" dirty="0">
                <a:solidFill>
                  <a:srgbClr val="FF33CC"/>
                </a:solidFill>
              </a:rPr>
              <a:t>若选用</a:t>
            </a:r>
            <a:r>
              <a:rPr lang="en-US" altLang="zh-CN" sz="2400" b="1" dirty="0">
                <a:solidFill>
                  <a:srgbClr val="FF33CC"/>
                </a:solidFill>
              </a:rPr>
              <a:t>AX</a:t>
            </a:r>
            <a:r>
              <a:rPr lang="zh-CN" altLang="en-US" sz="2400" b="1" dirty="0">
                <a:solidFill>
                  <a:srgbClr val="FF33CC"/>
                </a:solidFill>
              </a:rPr>
              <a:t>，执行指令时间更短</a:t>
            </a:r>
          </a:p>
        </p:txBody>
      </p:sp>
      <p:sp>
        <p:nvSpPr>
          <p:cNvPr id="21513" name="矩形 281610"/>
          <p:cNvSpPr/>
          <p:nvPr/>
        </p:nvSpPr>
        <p:spPr>
          <a:xfrm>
            <a:off x="468312" y="876300"/>
            <a:ext cx="2663527" cy="392113"/>
          </a:xfrm>
          <a:prstGeom prst="rect">
            <a:avLst/>
          </a:prstGeom>
          <a:noFill/>
          <a:ln w="9525">
            <a:noFill/>
          </a:ln>
        </p:spPr>
        <p:txBody>
          <a:bodyPr lIns="0" tIns="0" rIns="0" bIns="0" anchor="ctr"/>
          <a:lstStyle/>
          <a:p>
            <a:r>
              <a:rPr lang="en-US" altLang="zh-CN" sz="2400" b="1" dirty="0">
                <a:solidFill>
                  <a:srgbClr val="0066FF"/>
                </a:solidFill>
                <a:latin typeface="Arial" panose="020B0604020202020204" pitchFamily="34" charset="0"/>
              </a:rPr>
              <a:t>3.2.2</a:t>
            </a:r>
            <a:r>
              <a:rPr lang="zh-CN" altLang="en-US" sz="2400" b="1" dirty="0">
                <a:solidFill>
                  <a:srgbClr val="0066FF"/>
                </a:solidFill>
                <a:latin typeface="Arial" panose="020B0604020202020204" pitchFamily="34" charset="0"/>
              </a:rPr>
              <a:t>、 寄存器寻址</a:t>
            </a:r>
          </a:p>
        </p:txBody>
      </p:sp>
      <p:sp>
        <p:nvSpPr>
          <p:cNvPr id="21514" name="文本框 281611"/>
          <p:cNvSpPr txBox="1"/>
          <p:nvPr/>
        </p:nvSpPr>
        <p:spPr>
          <a:xfrm>
            <a:off x="312738" y="1357313"/>
            <a:ext cx="8604250" cy="2044700"/>
          </a:xfrm>
          <a:prstGeom prst="rect">
            <a:avLst/>
          </a:prstGeom>
          <a:noFill/>
          <a:ln w="9525">
            <a:noFill/>
          </a:ln>
        </p:spPr>
        <p:txBody>
          <a:bodyPr lIns="0" tIns="0" rIns="0" bIns="0" anchor="t">
            <a:spAutoFit/>
          </a:bodyPr>
          <a:lstStyle/>
          <a:p>
            <a:pPr lvl="0" indent="0">
              <a:spcBef>
                <a:spcPct val="30000"/>
              </a:spcBef>
              <a:buClr>
                <a:srgbClr val="00FFFF"/>
              </a:buClr>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操作数放在某个</a:t>
            </a:r>
            <a:r>
              <a:rPr lang="zh-CN" altLang="en-US" sz="2400" b="1" dirty="0">
                <a:solidFill>
                  <a:srgbClr val="FF00FF"/>
                </a:solidFill>
                <a:latin typeface="Times New Roman" panose="02020603050405020304" pitchFamily="18" charset="0"/>
                <a:ea typeface="宋体" panose="02010600030101010101" pitchFamily="2" charset="-122"/>
              </a:rPr>
              <a:t>寄存器</a:t>
            </a:r>
            <a:r>
              <a:rPr lang="zh-CN" altLang="en-US" sz="2400" b="1" dirty="0">
                <a:latin typeface="Times New Roman" panose="02020603050405020304" pitchFamily="18" charset="0"/>
                <a:ea typeface="宋体" panose="02010600030101010101" pitchFamily="2" charset="-122"/>
              </a:rPr>
              <a:t>中</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注意 源操作数与目的操作数字长要相同</a:t>
            </a:r>
            <a:r>
              <a:rPr lang="en-US" altLang="zh-CN" sz="2400" b="1" dirty="0">
                <a:latin typeface="Times New Roman" panose="02020603050405020304" pitchFamily="18" charset="0"/>
                <a:ea typeface="宋体" panose="02010600030101010101" pitchFamily="2" charset="-122"/>
              </a:rPr>
              <a:t>(</a:t>
            </a:r>
            <a:r>
              <a:rPr lang="zh-CN" altLang="en-US" sz="2400" b="1" dirty="0">
                <a:solidFill>
                  <a:srgbClr val="0000FF"/>
                </a:solidFill>
                <a:latin typeface="Times New Roman" panose="02020603050405020304" pitchFamily="18" charset="0"/>
                <a:ea typeface="宋体" panose="02010600030101010101" pitchFamily="2" charset="-122"/>
              </a:rPr>
              <a:t>匹配</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，例如：</a:t>
            </a:r>
          </a:p>
          <a:p>
            <a:pPr lvl="0" indent="0">
              <a:spcBef>
                <a:spcPct val="20000"/>
              </a:spcBef>
              <a:buClr>
                <a:srgbClr val="00FFFF"/>
              </a:buClr>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MOV    AX,  BX          MOV    [3F00H],  AX</a:t>
            </a:r>
          </a:p>
          <a:p>
            <a:pPr lvl="0" indent="0">
              <a:spcBef>
                <a:spcPct val="20000"/>
              </a:spcBef>
              <a:buClr>
                <a:srgbClr val="00FFFF"/>
              </a:buClr>
              <a:buFont typeface="Wingdings" panose="05000000000000000000" pitchFamily="2" charset="2"/>
              <a:buNone/>
            </a:pPr>
            <a:r>
              <a:rPr lang="en-US" altLang="zh-CN" sz="2400" b="1" dirty="0">
                <a:latin typeface="Times New Roman" panose="02020603050405020304" pitchFamily="18" charset="0"/>
                <a:ea typeface="宋体" panose="02010600030101010101" pitchFamily="2" charset="-122"/>
              </a:rPr>
              <a:t>          MOV    CL,  AL</a:t>
            </a:r>
          </a:p>
          <a:p>
            <a:pPr lvl="0" indent="0">
              <a:spcBef>
                <a:spcPct val="20000"/>
              </a:spcBef>
              <a:buClr>
                <a:srgbClr val="00FFFF"/>
              </a:buClr>
              <a:buFont typeface="Wingdings" panose="05000000000000000000" pitchFamily="2" charset="2"/>
              <a:buNone/>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错误例： </a:t>
            </a:r>
            <a:r>
              <a:rPr lang="en-US" altLang="zh-CN" sz="2400" b="1" dirty="0">
                <a:latin typeface="Times New Roman" panose="02020603050405020304" pitchFamily="18" charset="0"/>
                <a:ea typeface="宋体" panose="02010600030101010101" pitchFamily="2" charset="-122"/>
              </a:rPr>
              <a:t>MOV    AX,  BL            ; </a:t>
            </a:r>
            <a:r>
              <a:rPr lang="zh-CN" altLang="en-US" sz="2400" b="1" dirty="0">
                <a:latin typeface="Times New Roman" panose="02020603050405020304" pitchFamily="18" charset="0"/>
                <a:ea typeface="宋体" panose="02010600030101010101" pitchFamily="2" charset="-122"/>
              </a:rPr>
              <a:t>字长不同</a:t>
            </a:r>
          </a:p>
        </p:txBody>
      </p:sp>
      <p:sp>
        <p:nvSpPr>
          <p:cNvPr id="21515" name="矩形 281612"/>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1610"/>
                                        </p:tgtEl>
                                        <p:attrNameLst>
                                          <p:attrName>style.visibility</p:attrName>
                                        </p:attrNameLst>
                                      </p:cBhvr>
                                      <p:to>
                                        <p:strVal val="visible"/>
                                      </p:to>
                                    </p:set>
                                    <p:anim calcmode="lin" valueType="num">
                                      <p:cBhvr additive="base">
                                        <p:cTn id="7" dur="3000" fill="hold"/>
                                        <p:tgtEl>
                                          <p:spTgt spid="281610"/>
                                        </p:tgtEl>
                                        <p:attrNameLst>
                                          <p:attrName>ppt_x</p:attrName>
                                        </p:attrNameLst>
                                      </p:cBhvr>
                                      <p:tavLst>
                                        <p:tav tm="0">
                                          <p:val>
                                            <p:strVal val="#ppt_x"/>
                                          </p:val>
                                        </p:tav>
                                        <p:tav tm="100000">
                                          <p:val>
                                            <p:strVal val="#ppt_x"/>
                                          </p:val>
                                        </p:tav>
                                      </p:tavLst>
                                    </p:anim>
                                    <p:anim calcmode="lin" valueType="num">
                                      <p:cBhvr additive="base">
                                        <p:cTn id="8" dur="3000" fill="hold"/>
                                        <p:tgtEl>
                                          <p:spTgt spid="2816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文本占位符 283649"/>
          <p:cNvSpPr>
            <a:spLocks noGrp="1"/>
          </p:cNvSpPr>
          <p:nvPr>
            <p:ph idx="1"/>
          </p:nvPr>
        </p:nvSpPr>
        <p:spPr>
          <a:xfrm>
            <a:off x="250825" y="1484313"/>
            <a:ext cx="8642350" cy="865187"/>
          </a:xfrm>
          <a:ln/>
        </p:spPr>
        <p:txBody>
          <a:bodyPr anchor="t"/>
          <a:lstStyle/>
          <a:p>
            <a:pPr marL="0" indent="0">
              <a:lnSpc>
                <a:spcPct val="90000"/>
              </a:lnSpc>
              <a:buClrTx/>
              <a:buNone/>
            </a:pPr>
            <a:r>
              <a:rPr lang="zh-CN" altLang="en-US" sz="2400" b="1" dirty="0"/>
              <a:t>　程序运行时用到的数据绝大部分存放在内存中，如何寻找内存中的数据就是存储器寻址方式。</a:t>
            </a:r>
            <a:endParaRPr lang="zh-CN" altLang="en-US" sz="2400" b="1" dirty="0">
              <a:latin typeface="宋体" panose="02010600030101010101" pitchFamily="2" charset="-122"/>
            </a:endParaRPr>
          </a:p>
        </p:txBody>
      </p:sp>
      <p:sp>
        <p:nvSpPr>
          <p:cNvPr id="23554" name="标题 283650"/>
          <p:cNvSpPr>
            <a:spLocks noGrp="1"/>
          </p:cNvSpPr>
          <p:nvPr>
            <p:ph type="title"/>
          </p:nvPr>
        </p:nvSpPr>
        <p:spPr>
          <a:xfrm>
            <a:off x="250825" y="836613"/>
            <a:ext cx="3457079" cy="571500"/>
          </a:xfrm>
          <a:ln/>
        </p:spPr>
        <p:txBody>
          <a:bodyPr anchor="ctr"/>
          <a:lstStyle/>
          <a:p>
            <a:pPr algn="l"/>
            <a:r>
              <a:rPr lang="en-US" altLang="zh-CN" sz="2400" b="1" dirty="0">
                <a:solidFill>
                  <a:srgbClr val="0000FF"/>
                </a:solidFill>
              </a:rPr>
              <a:t>3.2.3</a:t>
            </a:r>
            <a:r>
              <a:rPr lang="zh-CN" altLang="en-US" sz="2400" b="1" dirty="0">
                <a:solidFill>
                  <a:srgbClr val="0000FF"/>
                </a:solidFill>
              </a:rPr>
              <a:t>、存储器寻址方式</a:t>
            </a:r>
          </a:p>
        </p:txBody>
      </p:sp>
      <p:sp>
        <p:nvSpPr>
          <p:cNvPr id="23555" name="矩形 283652"/>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
        <p:nvSpPr>
          <p:cNvPr id="6" name="矩形 5">
            <a:extLst>
              <a:ext uri="{FF2B5EF4-FFF2-40B4-BE49-F238E27FC236}">
                <a16:creationId xmlns:a16="http://schemas.microsoft.com/office/drawing/2014/main" id="{97B074AA-0734-4E9E-85F4-288078A9DC98}"/>
              </a:ext>
            </a:extLst>
          </p:cNvPr>
          <p:cNvSpPr/>
          <p:nvPr/>
        </p:nvSpPr>
        <p:spPr>
          <a:xfrm>
            <a:off x="534652" y="2291306"/>
            <a:ext cx="7080448" cy="1311128"/>
          </a:xfrm>
          <a:prstGeom prst="rect">
            <a:avLst/>
          </a:prstGeom>
        </p:spPr>
        <p:txBody>
          <a:bodyPr wrap="square">
            <a:spAutoFit/>
          </a:bodyPr>
          <a:lstStyle/>
          <a:p>
            <a:pPr marL="342900" indent="-342900">
              <a:lnSpc>
                <a:spcPct val="110000"/>
              </a:lnSpc>
              <a:buFont typeface="Arial" panose="020B0604020202020204" pitchFamily="34" charset="0"/>
              <a:buChar char="•"/>
            </a:pPr>
            <a:r>
              <a:rPr lang="zh-CN" altLang="en-US" sz="2400" b="1" dirty="0">
                <a:ea typeface="楷体_GB2312" pitchFamily="49" charset="-122"/>
              </a:rPr>
              <a:t>操作数在存储器中</a:t>
            </a:r>
            <a:endParaRPr lang="en-US" altLang="zh-CN" sz="2400" b="1" dirty="0">
              <a:ea typeface="楷体_GB2312" pitchFamily="49" charset="-122"/>
            </a:endParaRPr>
          </a:p>
          <a:p>
            <a:pPr marL="342900" indent="-342900">
              <a:lnSpc>
                <a:spcPct val="110000"/>
              </a:lnSpc>
              <a:buFont typeface="Arial" panose="020B0604020202020204" pitchFamily="34" charset="0"/>
              <a:buChar char="•"/>
            </a:pPr>
            <a:r>
              <a:rPr lang="zh-CN" altLang="en-US" sz="2400" b="1" dirty="0">
                <a:ea typeface="楷体_GB2312" pitchFamily="49" charset="-122"/>
              </a:rPr>
              <a:t>操作数的</a:t>
            </a:r>
            <a:r>
              <a:rPr lang="zh-CN" altLang="en-US" sz="2400" b="1" dirty="0">
                <a:solidFill>
                  <a:srgbClr val="0000FF"/>
                </a:solidFill>
                <a:ea typeface="楷体_GB2312" pitchFamily="49" charset="-122"/>
              </a:rPr>
              <a:t>有效地址</a:t>
            </a:r>
            <a:r>
              <a:rPr lang="en-US" altLang="zh-CN" sz="2400" b="1" dirty="0">
                <a:solidFill>
                  <a:srgbClr val="0000FF"/>
                </a:solidFill>
                <a:ea typeface="楷体_GB2312" pitchFamily="49" charset="-122"/>
              </a:rPr>
              <a:t>EA</a:t>
            </a:r>
            <a:r>
              <a:rPr lang="zh-CN" altLang="en-US" sz="2400" b="1" dirty="0">
                <a:solidFill>
                  <a:srgbClr val="0000FF"/>
                </a:solidFill>
                <a:ea typeface="楷体_GB2312" pitchFamily="49" charset="-122"/>
              </a:rPr>
              <a:t>由指令提供</a:t>
            </a:r>
            <a:endParaRPr lang="en-US" altLang="zh-CN" sz="2400" b="1" dirty="0">
              <a:solidFill>
                <a:srgbClr val="0000FF"/>
              </a:solidFill>
              <a:ea typeface="楷体_GB2312" pitchFamily="49" charset="-122"/>
            </a:endParaRPr>
          </a:p>
          <a:p>
            <a:pPr marL="342900" indent="-342900">
              <a:lnSpc>
                <a:spcPct val="110000"/>
              </a:lnSpc>
              <a:buFont typeface="Arial" panose="020B0604020202020204" pitchFamily="34" charset="0"/>
              <a:buChar char="•"/>
            </a:pPr>
            <a:r>
              <a:rPr lang="zh-CN" altLang="en-US" sz="2400" b="1" dirty="0">
                <a:ea typeface="楷体_GB2312" pitchFamily="49" charset="-122"/>
              </a:rPr>
              <a:t>段地址在</a:t>
            </a:r>
            <a:r>
              <a:rPr lang="zh-CN" altLang="en-US" sz="2400" b="1" dirty="0">
                <a:solidFill>
                  <a:srgbClr val="0000FF"/>
                </a:solidFill>
                <a:ea typeface="楷体_GB2312" pitchFamily="49" charset="-122"/>
              </a:rPr>
              <a:t>默认的或段超越前缀</a:t>
            </a:r>
            <a:r>
              <a:rPr lang="zh-CN" altLang="en-US" sz="2400" b="1" dirty="0">
                <a:ea typeface="楷体_GB2312" pitchFamily="49" charset="-122"/>
              </a:rPr>
              <a:t>指定的段寄存器中</a:t>
            </a:r>
            <a:endParaRPr lang="zh-CN" altLang="en-US" sz="2400" b="1" dirty="0"/>
          </a:p>
        </p:txBody>
      </p:sp>
      <p:sp>
        <p:nvSpPr>
          <p:cNvPr id="7" name="矩形 6">
            <a:extLst>
              <a:ext uri="{FF2B5EF4-FFF2-40B4-BE49-F238E27FC236}">
                <a16:creationId xmlns:a16="http://schemas.microsoft.com/office/drawing/2014/main" id="{C8E64E1D-293C-4B9A-9E05-3A25B3442A23}"/>
              </a:ext>
            </a:extLst>
          </p:cNvPr>
          <p:cNvSpPr/>
          <p:nvPr/>
        </p:nvSpPr>
        <p:spPr>
          <a:xfrm>
            <a:off x="534652" y="4221088"/>
            <a:ext cx="7080448" cy="2123658"/>
          </a:xfrm>
          <a:prstGeom prst="rect">
            <a:avLst/>
          </a:prstGeom>
        </p:spPr>
        <p:txBody>
          <a:bodyPr wrap="square">
            <a:spAutoFit/>
          </a:bodyPr>
          <a:lstStyle/>
          <a:p>
            <a:pPr marL="342900" indent="-342900">
              <a:lnSpc>
                <a:spcPct val="110000"/>
              </a:lnSpc>
              <a:buFont typeface="Arial" panose="020B0604020202020204" pitchFamily="34" charset="0"/>
              <a:buChar char="•"/>
            </a:pPr>
            <a:r>
              <a:rPr lang="zh-CN" altLang="en-US" sz="2400" b="1" dirty="0">
                <a:ea typeface="楷体_GB2312" pitchFamily="49" charset="-122"/>
              </a:rPr>
              <a:t>直接寻址</a:t>
            </a:r>
            <a:endParaRPr lang="en-US" altLang="zh-CN" sz="2400" b="1" dirty="0">
              <a:ea typeface="楷体_GB2312" pitchFamily="49" charset="-122"/>
            </a:endParaRPr>
          </a:p>
          <a:p>
            <a:pPr marL="342900" indent="-342900">
              <a:lnSpc>
                <a:spcPct val="110000"/>
              </a:lnSpc>
              <a:buFont typeface="Arial" panose="020B0604020202020204" pitchFamily="34" charset="0"/>
              <a:buChar char="•"/>
            </a:pPr>
            <a:r>
              <a:rPr lang="zh-CN" altLang="en-US" sz="2400" b="1" dirty="0">
                <a:ea typeface="楷体_GB2312" pitchFamily="49" charset="-122"/>
              </a:rPr>
              <a:t>寄存器间接寻址</a:t>
            </a:r>
            <a:endParaRPr lang="en-US" altLang="zh-CN" sz="2400" b="1" dirty="0">
              <a:ea typeface="楷体_GB2312" pitchFamily="49" charset="-122"/>
            </a:endParaRPr>
          </a:p>
          <a:p>
            <a:pPr marL="342900" indent="-342900">
              <a:lnSpc>
                <a:spcPct val="110000"/>
              </a:lnSpc>
              <a:buFont typeface="Arial" panose="020B0604020202020204" pitchFamily="34" charset="0"/>
              <a:buChar char="•"/>
            </a:pPr>
            <a:r>
              <a:rPr lang="zh-CN" altLang="en-US" sz="2400" b="1" dirty="0">
                <a:ea typeface="楷体_GB2312" pitchFamily="49" charset="-122"/>
              </a:rPr>
              <a:t>寄存器相对寻址</a:t>
            </a:r>
            <a:endParaRPr lang="en-US" altLang="zh-CN" sz="2400" b="1" dirty="0">
              <a:ea typeface="楷体_GB2312" pitchFamily="49" charset="-122"/>
            </a:endParaRPr>
          </a:p>
          <a:p>
            <a:pPr marL="342900" indent="-342900">
              <a:lnSpc>
                <a:spcPct val="110000"/>
              </a:lnSpc>
              <a:buFont typeface="Arial" panose="020B0604020202020204" pitchFamily="34" charset="0"/>
              <a:buChar char="•"/>
            </a:pPr>
            <a:r>
              <a:rPr lang="zh-CN" altLang="en-US" sz="2400" b="1" dirty="0">
                <a:ea typeface="楷体_GB2312" pitchFamily="49" charset="-122"/>
              </a:rPr>
              <a:t>基址变址寻址</a:t>
            </a:r>
            <a:endParaRPr lang="en-US" altLang="zh-CN" sz="2400" b="1" dirty="0">
              <a:ea typeface="楷体_GB2312" pitchFamily="49" charset="-122"/>
            </a:endParaRPr>
          </a:p>
          <a:p>
            <a:pPr marL="342900" indent="-342900">
              <a:lnSpc>
                <a:spcPct val="110000"/>
              </a:lnSpc>
              <a:buFont typeface="Arial" panose="020B0604020202020204" pitchFamily="34" charset="0"/>
              <a:buChar char="•"/>
            </a:pPr>
            <a:r>
              <a:rPr lang="zh-CN" altLang="en-US" sz="2400" b="1" dirty="0">
                <a:ea typeface="楷体_GB2312" pitchFamily="49" charset="-122"/>
              </a:rPr>
              <a:t>基址变址相对寻址</a:t>
            </a:r>
            <a:endParaRPr lang="zh-CN" altLang="en-US" sz="2400" b="1" dirty="0"/>
          </a:p>
        </p:txBody>
      </p:sp>
      <p:sp>
        <p:nvSpPr>
          <p:cNvPr id="8" name="文本占位符 283649">
            <a:extLst>
              <a:ext uri="{FF2B5EF4-FFF2-40B4-BE49-F238E27FC236}">
                <a16:creationId xmlns:a16="http://schemas.microsoft.com/office/drawing/2014/main" id="{B2117AF3-B24E-42A9-A611-2D325A554A46}"/>
              </a:ext>
            </a:extLst>
          </p:cNvPr>
          <p:cNvSpPr txBox="1">
            <a:spLocks/>
          </p:cNvSpPr>
          <p:nvPr/>
        </p:nvSpPr>
        <p:spPr>
          <a:xfrm>
            <a:off x="261060" y="3794530"/>
            <a:ext cx="8642350" cy="461457"/>
          </a:xfrm>
          <a:prstGeom prst="rect">
            <a:avLst/>
          </a:prstGeom>
          <a:noFill/>
          <a:ln w="9525">
            <a:noFill/>
          </a:ln>
        </p:spPr>
        <p:txBody>
          <a:bodyPr anchor="t"/>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lnSpc>
                <a:spcPct val="90000"/>
              </a:lnSpc>
              <a:buFontTx/>
              <a:buNone/>
            </a:pPr>
            <a:r>
              <a:rPr lang="zh-CN" altLang="en-US" sz="2400" b="1" dirty="0"/>
              <a:t>　存储器寻址方式有</a:t>
            </a:r>
            <a:r>
              <a:rPr lang="en-US" altLang="zh-CN" sz="2400" b="1" dirty="0"/>
              <a:t>5</a:t>
            </a:r>
            <a:r>
              <a:rPr lang="zh-CN" altLang="en-US" sz="2400" b="1" dirty="0"/>
              <a:t>种：</a:t>
            </a:r>
            <a:endParaRPr lang="zh-CN" altLang="en-US" sz="2400" b="1" dirty="0">
              <a:latin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文本占位符 285697"/>
          <p:cNvSpPr>
            <a:spLocks noGrp="1"/>
          </p:cNvSpPr>
          <p:nvPr>
            <p:ph idx="1"/>
          </p:nvPr>
        </p:nvSpPr>
        <p:spPr>
          <a:xfrm>
            <a:off x="228600" y="1412776"/>
            <a:ext cx="8807896" cy="4222750"/>
          </a:xfrm>
          <a:solidFill>
            <a:schemeClr val="bg1"/>
          </a:solidFill>
          <a:ln/>
        </p:spPr>
        <p:txBody>
          <a:bodyPr anchor="t"/>
          <a:lstStyle/>
          <a:p>
            <a:pPr>
              <a:lnSpc>
                <a:spcPct val="90000"/>
              </a:lnSpc>
              <a:buClrTx/>
              <a:buFont typeface="Wingdings" panose="05000000000000000000" pitchFamily="2" charset="2"/>
              <a:buNone/>
            </a:pPr>
            <a:r>
              <a:rPr lang="zh-CN" altLang="en-US" sz="2400" b="1" dirty="0">
                <a:solidFill>
                  <a:srgbClr val="FF00FF"/>
                </a:solidFill>
              </a:rPr>
              <a:t>直接寻址</a:t>
            </a:r>
            <a:r>
              <a:rPr lang="zh-CN" altLang="en-US" sz="2400" dirty="0"/>
              <a:t>：</a:t>
            </a:r>
            <a:r>
              <a:rPr lang="zh-CN" altLang="en-US" sz="2400" b="1" dirty="0">
                <a:latin typeface="宋体" panose="02010600030101010101" pitchFamily="2" charset="-122"/>
              </a:rPr>
              <a:t>在指令中直接给出操作数所在单元的</a:t>
            </a:r>
            <a:r>
              <a:rPr lang="zh-CN" altLang="en-US" sz="2400" b="1" dirty="0">
                <a:solidFill>
                  <a:srgbClr val="FF00FF"/>
                </a:solidFill>
              </a:rPr>
              <a:t>偏移地址</a:t>
            </a:r>
            <a:r>
              <a:rPr lang="zh-CN" altLang="en-US" sz="2400" b="1" dirty="0">
                <a:latin typeface="宋体" panose="02010600030101010101" pitchFamily="2" charset="-122"/>
              </a:rPr>
              <a:t>，具体有</a:t>
            </a:r>
            <a:r>
              <a:rPr lang="zh-CN" altLang="en-US" sz="2400" b="1" dirty="0">
                <a:solidFill>
                  <a:srgbClr val="FF00FF"/>
                </a:solidFill>
              </a:rPr>
              <a:t>两种形式</a:t>
            </a:r>
            <a:r>
              <a:rPr lang="zh-CN" altLang="en-US" sz="2400" b="1" dirty="0">
                <a:solidFill>
                  <a:srgbClr val="FFFFFF"/>
                </a:solidFill>
                <a:latin typeface="宋体" panose="02010600030101010101" pitchFamily="2" charset="-122"/>
              </a:rPr>
              <a:t>。</a:t>
            </a:r>
          </a:p>
          <a:p>
            <a:pPr>
              <a:lnSpc>
                <a:spcPct val="90000"/>
              </a:lnSpc>
              <a:buClrTx/>
              <a:buFont typeface="Wingdings" panose="05000000000000000000" pitchFamily="2" charset="2"/>
              <a:buNone/>
            </a:pPr>
            <a:endParaRPr lang="zh-CN" altLang="en-US" sz="2400" b="1" dirty="0">
              <a:solidFill>
                <a:srgbClr val="FF0000"/>
              </a:solidFill>
            </a:endParaRPr>
          </a:p>
          <a:p>
            <a:pPr>
              <a:lnSpc>
                <a:spcPct val="90000"/>
              </a:lnSpc>
              <a:buClrTx/>
              <a:buFont typeface="Wingdings" panose="05000000000000000000" pitchFamily="2" charset="2"/>
              <a:buNone/>
            </a:pPr>
            <a:r>
              <a:rPr lang="en-US" altLang="zh-CN" sz="2400" b="1" dirty="0"/>
              <a:t>(1) MOV   AX</a:t>
            </a:r>
            <a:r>
              <a:rPr lang="zh-CN" altLang="en-US" sz="2400" b="1" dirty="0"/>
              <a:t>，</a:t>
            </a:r>
            <a:r>
              <a:rPr lang="en-US" altLang="zh-CN" sz="2400" b="1" dirty="0"/>
              <a:t>[2050H] </a:t>
            </a:r>
            <a:r>
              <a:rPr lang="zh-CN" altLang="en-US" sz="2400" b="1" dirty="0"/>
              <a:t>；</a:t>
            </a:r>
            <a:r>
              <a:rPr lang="en-US" altLang="zh-CN" sz="2400" b="1" dirty="0"/>
              <a:t>AX←[DS×16</a:t>
            </a:r>
            <a:r>
              <a:rPr lang="zh-CN" altLang="en-US" sz="2400" b="1" dirty="0"/>
              <a:t>＋</a:t>
            </a:r>
            <a:r>
              <a:rPr lang="en-US" altLang="zh-CN" sz="2400" b="1" dirty="0"/>
              <a:t>2050H]</a:t>
            </a:r>
            <a:endParaRPr lang="en-US" altLang="zh-CN" sz="2400" b="1" dirty="0">
              <a:solidFill>
                <a:srgbClr val="FF0000"/>
              </a:solidFill>
            </a:endParaRPr>
          </a:p>
          <a:p>
            <a:pPr>
              <a:lnSpc>
                <a:spcPct val="90000"/>
              </a:lnSpc>
              <a:buClrTx/>
              <a:buFont typeface="Wingdings" panose="05000000000000000000" pitchFamily="2" charset="2"/>
              <a:buNone/>
            </a:pPr>
            <a:endParaRPr lang="en-US" altLang="zh-CN" sz="2400" b="1" dirty="0">
              <a:latin typeface="宋体" panose="02010600030101010101" pitchFamily="2" charset="-122"/>
            </a:endParaRPr>
          </a:p>
          <a:p>
            <a:pPr>
              <a:lnSpc>
                <a:spcPct val="90000"/>
              </a:lnSpc>
              <a:buClrTx/>
              <a:buFont typeface="Wingdings" panose="05000000000000000000" pitchFamily="2" charset="2"/>
              <a:buNone/>
            </a:pPr>
            <a:r>
              <a:rPr lang="zh-CN" altLang="en-US" sz="2400" b="1" dirty="0">
                <a:latin typeface="宋体" panose="02010600030101010101" pitchFamily="2" charset="-122"/>
              </a:rPr>
              <a:t>偏移地址通常以</a:t>
            </a:r>
            <a:r>
              <a:rPr lang="zh-CN" altLang="en-US" sz="2400" b="1" dirty="0">
                <a:solidFill>
                  <a:srgbClr val="FF00FF"/>
                </a:solidFill>
                <a:latin typeface="宋体" panose="02010600030101010101" pitchFamily="2" charset="-122"/>
              </a:rPr>
              <a:t>变量</a:t>
            </a:r>
            <a:r>
              <a:rPr lang="zh-CN" altLang="en-US" sz="2400" b="1" dirty="0">
                <a:latin typeface="宋体" panose="02010600030101010101" pitchFamily="2" charset="-122"/>
              </a:rPr>
              <a:t>的形式出现，在指令中就直接写变量的名字</a:t>
            </a:r>
            <a:endParaRPr lang="en-US" altLang="zh-CN" sz="2400" b="1" dirty="0"/>
          </a:p>
          <a:p>
            <a:pPr>
              <a:lnSpc>
                <a:spcPct val="90000"/>
              </a:lnSpc>
              <a:buClrTx/>
              <a:buFont typeface="Wingdings" panose="05000000000000000000" pitchFamily="2" charset="2"/>
              <a:buNone/>
            </a:pPr>
            <a:r>
              <a:rPr lang="en-US" altLang="zh-CN" sz="2400" b="1" dirty="0"/>
              <a:t>(2) MOV    SI , BUF </a:t>
            </a:r>
            <a:r>
              <a:rPr lang="zh-CN" altLang="en-US" sz="2400" b="1" dirty="0"/>
              <a:t>　； </a:t>
            </a:r>
            <a:r>
              <a:rPr lang="en-US" altLang="zh-CN" sz="2400" b="1" dirty="0"/>
              <a:t>BUF</a:t>
            </a:r>
            <a:r>
              <a:rPr lang="zh-CN" altLang="en-US" sz="2400" b="1" dirty="0"/>
              <a:t>为一</a:t>
            </a:r>
            <a:r>
              <a:rPr lang="zh-CN" altLang="en-US" sz="2400" b="1" dirty="0">
                <a:solidFill>
                  <a:srgbClr val="FF00FF"/>
                </a:solidFill>
                <a:latin typeface="宋体" panose="02010600030101010101" pitchFamily="2" charset="-122"/>
              </a:rPr>
              <a:t>变量</a:t>
            </a:r>
          </a:p>
          <a:p>
            <a:pPr>
              <a:lnSpc>
                <a:spcPct val="90000"/>
              </a:lnSpc>
              <a:buClrTx/>
              <a:buFont typeface="Wingdings" panose="05000000000000000000" pitchFamily="2" charset="2"/>
              <a:buNone/>
            </a:pPr>
            <a:r>
              <a:rPr lang="zh-CN" altLang="en-US" sz="2400" b="1" dirty="0"/>
              <a:t>默认的段寄存器为</a:t>
            </a:r>
            <a:r>
              <a:rPr lang="en-US" altLang="zh-CN" sz="2400" b="1" dirty="0"/>
              <a:t>DS</a:t>
            </a:r>
            <a:r>
              <a:rPr lang="zh-CN" altLang="en-US" sz="2400" b="1" dirty="0"/>
              <a:t>，但也可以</a:t>
            </a:r>
            <a:r>
              <a:rPr lang="zh-CN" altLang="en-US" sz="2400" b="1" dirty="0">
                <a:solidFill>
                  <a:srgbClr val="FF00FF"/>
                </a:solidFill>
                <a:latin typeface="宋体" panose="02010600030101010101" pitchFamily="2" charset="-122"/>
              </a:rPr>
              <a:t>显式</a:t>
            </a:r>
            <a:r>
              <a:rPr lang="zh-CN" altLang="en-US" sz="2400" b="1" dirty="0"/>
              <a:t>地指定其他段寄存器。</a:t>
            </a:r>
          </a:p>
          <a:p>
            <a:pPr>
              <a:lnSpc>
                <a:spcPct val="90000"/>
              </a:lnSpc>
              <a:buClrTx/>
              <a:buFont typeface="Wingdings" panose="05000000000000000000" pitchFamily="2" charset="2"/>
              <a:buNone/>
            </a:pPr>
            <a:r>
              <a:rPr lang="zh-CN" altLang="en-US" sz="2400" b="1" dirty="0"/>
              <a:t>称为“</a:t>
            </a:r>
            <a:r>
              <a:rPr lang="zh-CN" altLang="en-US" sz="2400" b="1" dirty="0">
                <a:solidFill>
                  <a:srgbClr val="FF00FF"/>
                </a:solidFill>
                <a:latin typeface="宋体" panose="02010600030101010101" pitchFamily="2" charset="-122"/>
              </a:rPr>
              <a:t>段超越”前缀。例如：</a:t>
            </a:r>
          </a:p>
          <a:p>
            <a:pPr>
              <a:lnSpc>
                <a:spcPct val="90000"/>
              </a:lnSpc>
              <a:buClrTx/>
              <a:buFont typeface="Wingdings" panose="05000000000000000000" pitchFamily="2" charset="2"/>
              <a:buNone/>
            </a:pPr>
            <a:r>
              <a:rPr lang="en-US" altLang="zh-CN" sz="2400" b="1" dirty="0"/>
              <a:t>MOV   DX</a:t>
            </a:r>
            <a:r>
              <a:rPr lang="zh-CN" altLang="en-US" sz="2400" b="1" dirty="0"/>
              <a:t>，</a:t>
            </a:r>
            <a:r>
              <a:rPr lang="en-US" altLang="zh-CN" sz="2400" b="1" dirty="0"/>
              <a:t>ES:[2050H]</a:t>
            </a:r>
            <a:r>
              <a:rPr lang="zh-CN" altLang="en-US" sz="2400" b="1" dirty="0"/>
              <a:t>；使用段超越；</a:t>
            </a:r>
            <a:r>
              <a:rPr lang="en-US" altLang="zh-CN" sz="2400" b="1" dirty="0"/>
              <a:t>DX←[ES×16</a:t>
            </a:r>
            <a:r>
              <a:rPr lang="zh-CN" altLang="en-US" sz="2400" b="1" dirty="0"/>
              <a:t>＋</a:t>
            </a:r>
            <a:r>
              <a:rPr lang="en-US" altLang="zh-CN" sz="2400" b="1" dirty="0"/>
              <a:t>2050H]</a:t>
            </a:r>
            <a:endParaRPr lang="en-US" altLang="zh-CN" sz="2400" b="1" dirty="0">
              <a:solidFill>
                <a:srgbClr val="FF0000"/>
              </a:solidFill>
            </a:endParaRPr>
          </a:p>
        </p:txBody>
      </p:sp>
      <p:sp>
        <p:nvSpPr>
          <p:cNvPr id="25602" name="圆角矩形标注 285698"/>
          <p:cNvSpPr/>
          <p:nvPr/>
        </p:nvSpPr>
        <p:spPr>
          <a:xfrm>
            <a:off x="1752600" y="5739209"/>
            <a:ext cx="2819400" cy="537988"/>
          </a:xfrm>
          <a:prstGeom prst="wedgeRoundRectCallout">
            <a:avLst>
              <a:gd name="adj1" fmla="val -31364"/>
              <a:gd name="adj2" fmla="val -123938"/>
              <a:gd name="adj3" fmla="val 16667"/>
            </a:avLst>
          </a:prstGeom>
          <a:solidFill>
            <a:srgbClr val="A50021"/>
          </a:solidFill>
          <a:ln w="9525">
            <a:noFill/>
          </a:ln>
        </p:spPr>
        <p:txBody>
          <a:bodyPr anchor="t"/>
          <a:lstStyle/>
          <a:p>
            <a:pPr lvl="0" indent="0" algn="ctr">
              <a:spcBef>
                <a:spcPct val="20000"/>
              </a:spcBef>
              <a:buClrTx/>
            </a:pPr>
            <a:r>
              <a:rPr lang="zh-CN" altLang="en-US" sz="2400" b="1" dirty="0">
                <a:solidFill>
                  <a:srgbClr val="FFFFFF"/>
                </a:solidFill>
                <a:latin typeface="Tahoma" panose="020B0604030504040204" pitchFamily="34" charset="0"/>
                <a:ea typeface="宋体" panose="02010600030101010101" pitchFamily="2" charset="-122"/>
              </a:rPr>
              <a:t>段超越指令格式</a:t>
            </a:r>
            <a:endParaRPr lang="zh-CN" altLang="en-US" sz="2400" b="1">
              <a:solidFill>
                <a:srgbClr val="FFFFFF"/>
              </a:solidFill>
              <a:latin typeface="Tahoma" panose="020B0604030504040204" pitchFamily="34" charset="0"/>
              <a:ea typeface="宋体" panose="02010600030101010101" pitchFamily="2" charset="-122"/>
            </a:endParaRPr>
          </a:p>
        </p:txBody>
      </p:sp>
      <p:sp>
        <p:nvSpPr>
          <p:cNvPr id="25604" name="矩形 285700"/>
          <p:cNvSpPr/>
          <p:nvPr/>
        </p:nvSpPr>
        <p:spPr>
          <a:xfrm>
            <a:off x="395288" y="862013"/>
            <a:ext cx="1944687" cy="479425"/>
          </a:xfrm>
          <a:prstGeom prst="rect">
            <a:avLst/>
          </a:prstGeom>
          <a:noFill/>
          <a:ln w="9525">
            <a:noFill/>
          </a:ln>
        </p:spPr>
        <p:txBody>
          <a:bodyPr lIns="0" tIns="0" rIns="0" bIns="0" anchor="ctr"/>
          <a:lstStyle/>
          <a:p>
            <a:pPr lvl="0" indent="0">
              <a:buClrTx/>
            </a:pPr>
            <a:r>
              <a:rPr lang="en-US" altLang="zh-CN" sz="2400" b="1" dirty="0">
                <a:solidFill>
                  <a:schemeClr val="tx2"/>
                </a:solidFill>
                <a:latin typeface="Arial" panose="020B0604020202020204" pitchFamily="34" charset="0"/>
              </a:rPr>
              <a:t>1</a:t>
            </a:r>
            <a:r>
              <a:rPr lang="zh-CN" altLang="en-US" sz="2400" b="1" dirty="0">
                <a:solidFill>
                  <a:schemeClr val="tx2"/>
                </a:solidFill>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直接寻址</a:t>
            </a:r>
            <a:endParaRPr lang="zh-CN" altLang="en-US" sz="2400" b="1" dirty="0">
              <a:solidFill>
                <a:schemeClr val="tx2"/>
              </a:solidFill>
              <a:latin typeface="Times New Roman" panose="02020603050405020304" pitchFamily="18" charset="0"/>
              <a:ea typeface="宋体" panose="02010600030101010101" pitchFamily="2" charset="-122"/>
            </a:endParaRPr>
          </a:p>
        </p:txBody>
      </p:sp>
      <p:sp>
        <p:nvSpPr>
          <p:cNvPr id="25605" name="矩形 285702"/>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1" name="图片 287775"/>
          <p:cNvPicPr>
            <a:picLocks noChangeAspect="1"/>
          </p:cNvPicPr>
          <p:nvPr/>
        </p:nvPicPr>
        <p:blipFill>
          <a:blip r:embed="rId3"/>
          <a:stretch>
            <a:fillRect/>
          </a:stretch>
        </p:blipFill>
        <p:spPr>
          <a:xfrm>
            <a:off x="4499992" y="2949029"/>
            <a:ext cx="4537075" cy="3216275"/>
          </a:xfrm>
          <a:prstGeom prst="rect">
            <a:avLst/>
          </a:prstGeom>
          <a:noFill/>
          <a:ln w="9525">
            <a:noFill/>
          </a:ln>
        </p:spPr>
      </p:pic>
      <p:sp>
        <p:nvSpPr>
          <p:cNvPr id="27649" name="文本框 287745"/>
          <p:cNvSpPr txBox="1"/>
          <p:nvPr/>
        </p:nvSpPr>
        <p:spPr>
          <a:xfrm>
            <a:off x="684213" y="981075"/>
            <a:ext cx="6337300" cy="427038"/>
          </a:xfrm>
          <a:prstGeom prst="rect">
            <a:avLst/>
          </a:prstGeom>
          <a:noFill/>
          <a:ln w="9525">
            <a:noFill/>
          </a:ln>
        </p:spPr>
        <p:txBody>
          <a:bodyPr lIns="0" tIns="0" rIns="0" bIns="0" anchor="t">
            <a:spAutoFit/>
          </a:bodyPr>
          <a:lstStyle/>
          <a:p>
            <a:pPr lvl="0" indent="0">
              <a:spcBef>
                <a:spcPct val="50000"/>
              </a:spcBef>
            </a:pPr>
            <a:r>
              <a:rPr lang="zh-CN" altLang="en-US" sz="2800" b="1" dirty="0">
                <a:latin typeface="Times New Roman" panose="02020603050405020304" pitchFamily="18" charset="0"/>
                <a:ea typeface="宋体" panose="02010600030101010101" pitchFamily="2" charset="-122"/>
              </a:rPr>
              <a:t>指令操作例：</a:t>
            </a:r>
            <a:r>
              <a:rPr lang="en-US" altLang="zh-CN" sz="2800" b="1" dirty="0">
                <a:solidFill>
                  <a:srgbClr val="0000FF"/>
                </a:solidFill>
                <a:latin typeface="Times New Roman" panose="02020603050405020304" pitchFamily="18" charset="0"/>
                <a:ea typeface="宋体" panose="02010600030101010101" pitchFamily="2" charset="-122"/>
              </a:rPr>
              <a:t>MOV AX</a:t>
            </a:r>
            <a:r>
              <a:rPr lang="zh-CN" altLang="en-US" sz="2800" b="1" dirty="0">
                <a:solidFill>
                  <a:srgbClr val="0000FF"/>
                </a:solidFill>
                <a:latin typeface="Times New Roman" panose="02020603050405020304" pitchFamily="18" charset="0"/>
                <a:ea typeface="宋体" panose="02010600030101010101" pitchFamily="2" charset="-122"/>
              </a:rPr>
              <a:t>，</a:t>
            </a:r>
            <a:r>
              <a:rPr lang="en-US" altLang="zh-CN" sz="2800" b="1" dirty="0">
                <a:solidFill>
                  <a:srgbClr val="0000FF"/>
                </a:solidFill>
                <a:latin typeface="Times New Roman" panose="02020603050405020304" pitchFamily="18" charset="0"/>
                <a:ea typeface="宋体" panose="02010600030101010101" pitchFamily="2" charset="-122"/>
              </a:rPr>
              <a:t>[2000H]</a:t>
            </a:r>
          </a:p>
        </p:txBody>
      </p:sp>
      <p:sp>
        <p:nvSpPr>
          <p:cNvPr id="27650" name="文本框 287746"/>
          <p:cNvSpPr txBox="1"/>
          <p:nvPr/>
        </p:nvSpPr>
        <p:spPr>
          <a:xfrm>
            <a:off x="251520" y="1498600"/>
            <a:ext cx="7993062" cy="2173608"/>
          </a:xfrm>
          <a:prstGeom prst="rect">
            <a:avLst/>
          </a:prstGeom>
          <a:noFill/>
          <a:ln w="9525">
            <a:noFill/>
          </a:ln>
        </p:spPr>
        <p:txBody>
          <a:bodyPr lIns="0" tIns="0" rIns="0" bIns="0" anchor="t">
            <a:spAutoFit/>
          </a:bodyPr>
          <a:lstStyle/>
          <a:p>
            <a:pPr lvl="0" indent="0" algn="just">
              <a:lnSpc>
                <a:spcPct val="120000"/>
              </a:lnSpc>
            </a:pPr>
            <a:r>
              <a:rPr lang="en-US" altLang="en-US" sz="2400" b="1" dirty="0" err="1">
                <a:latin typeface="Times New Roman" panose="02020603050405020304" pitchFamily="18" charset="0"/>
                <a:ea typeface="宋体" panose="02010600030101010101" pitchFamily="2" charset="-122"/>
              </a:rPr>
              <a:t>如果</a:t>
            </a:r>
            <a:r>
              <a:rPr lang="en-US" altLang="zh-CN" sz="2400" b="1" dirty="0" err="1">
                <a:latin typeface="Times New Roman" panose="02020603050405020304" pitchFamily="18" charset="0"/>
                <a:ea typeface="宋体" panose="02010600030101010101" pitchFamily="2" charset="-122"/>
              </a:rPr>
              <a:t>DS</a:t>
            </a:r>
            <a:r>
              <a:rPr lang="en-US" altLang="zh-CN" sz="2400" b="1" dirty="0">
                <a:latin typeface="Times New Roman" panose="02020603050405020304" pitchFamily="18" charset="0"/>
                <a:ea typeface="宋体" panose="02010600030101010101" pitchFamily="2" charset="-122"/>
              </a:rPr>
              <a:t>=3000H, </a:t>
            </a:r>
            <a:r>
              <a:rPr lang="zh-CN" altLang="en-US" sz="2400" b="1" dirty="0">
                <a:latin typeface="Times New Roman" panose="02020603050405020304" pitchFamily="18" charset="0"/>
                <a:ea typeface="宋体" panose="02010600030101010101" pitchFamily="2" charset="-122"/>
              </a:rPr>
              <a:t>则</a:t>
            </a:r>
            <a:r>
              <a:rPr lang="en-US" altLang="en-US" sz="2400" b="1" dirty="0" err="1">
                <a:latin typeface="Times New Roman" panose="02020603050405020304" pitchFamily="18" charset="0"/>
                <a:ea typeface="宋体" panose="02010600030101010101" pitchFamily="2" charset="-122"/>
              </a:rPr>
              <a:t>操作数</a:t>
            </a:r>
            <a:r>
              <a:rPr lang="zh-CN" altLang="en-US" sz="2400" b="1" dirty="0">
                <a:latin typeface="Times New Roman" panose="02020603050405020304" pitchFamily="18" charset="0"/>
                <a:ea typeface="宋体" panose="02010600030101010101" pitchFamily="2" charset="-122"/>
              </a:rPr>
              <a:t>的</a:t>
            </a:r>
            <a:r>
              <a:rPr lang="en-US" altLang="en-US" sz="2400" b="1" dirty="0" err="1">
                <a:latin typeface="Times New Roman" panose="02020603050405020304" pitchFamily="18" charset="0"/>
                <a:ea typeface="宋体" panose="02010600030101010101" pitchFamily="2" charset="-122"/>
              </a:rPr>
              <a:t>物理地址</a:t>
            </a:r>
            <a:r>
              <a:rPr lang="zh-CN" altLang="en-US" sz="2400" b="1" dirty="0">
                <a:latin typeface="Times New Roman" panose="02020603050405020304" pitchFamily="18" charset="0"/>
                <a:ea typeface="宋体" panose="02010600030101010101" pitchFamily="2" charset="-122"/>
              </a:rPr>
              <a:t>为</a:t>
            </a:r>
            <a:r>
              <a:rPr lang="en-US" altLang="en-US"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   </a:t>
            </a:r>
          </a:p>
          <a:p>
            <a:pPr lvl="0" indent="0">
              <a:lnSpc>
                <a:spcPct val="12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3</a:t>
            </a:r>
            <a:r>
              <a:rPr lang="en-US" altLang="en-US" sz="2400" b="1" dirty="0">
                <a:latin typeface="Times New Roman" panose="02020603050405020304" pitchFamily="18" charset="0"/>
                <a:ea typeface="宋体" panose="02010600030101010101" pitchFamily="2" charset="-122"/>
              </a:rPr>
              <a:t>0000</a:t>
            </a:r>
            <a:r>
              <a:rPr lang="en-US" altLang="zh-CN" sz="2400" b="1" dirty="0">
                <a:latin typeface="Times New Roman" panose="02020603050405020304" pitchFamily="18" charset="0"/>
                <a:ea typeface="宋体" panose="02010600030101010101" pitchFamily="2" charset="-122"/>
              </a:rPr>
              <a:t>H+2000H = 32000H</a:t>
            </a:r>
          </a:p>
          <a:p>
            <a:pPr lvl="0" indent="0">
              <a:lnSpc>
                <a:spcPct val="120000"/>
              </a:lnSpc>
            </a:pPr>
            <a:endParaRPr lang="en-US" altLang="zh-CN" sz="2400" b="1" dirty="0"/>
          </a:p>
          <a:p>
            <a:pPr lvl="0" indent="0">
              <a:lnSpc>
                <a:spcPct val="120000"/>
              </a:lnSpc>
            </a:pPr>
            <a:r>
              <a:rPr lang="en-US" altLang="zh-CN" sz="2400" b="1" dirty="0">
                <a:latin typeface="Times New Roman" panose="02020603050405020304" pitchFamily="18" charset="0"/>
                <a:ea typeface="宋体" panose="02010600030101010101" pitchFamily="2" charset="-122"/>
              </a:rPr>
              <a:t>(32000H) = 02H,  (32001H) = 31H</a:t>
            </a:r>
          </a:p>
          <a:p>
            <a:pPr lvl="0" indent="0">
              <a:lnSpc>
                <a:spcPct val="120000"/>
              </a:lnSpc>
            </a:pPr>
            <a:r>
              <a:rPr lang="zh-CN" altLang="en-US" sz="2400" b="1" dirty="0">
                <a:latin typeface="Times New Roman" panose="02020603050405020304" pitchFamily="18" charset="0"/>
                <a:ea typeface="宋体" panose="02010600030101010101" pitchFamily="2" charset="-122"/>
              </a:rPr>
              <a:t>指令执行后：</a:t>
            </a:r>
            <a:r>
              <a:rPr lang="en-US" altLang="zh-CN" sz="2400" b="1" dirty="0">
                <a:latin typeface="Times New Roman" panose="02020603050405020304" pitchFamily="18" charset="0"/>
                <a:ea typeface="宋体" panose="02010600030101010101" pitchFamily="2" charset="-122"/>
              </a:rPr>
              <a:t>AX = 3102H</a:t>
            </a:r>
          </a:p>
        </p:txBody>
      </p:sp>
      <p:sp>
        <p:nvSpPr>
          <p:cNvPr id="27652" name="矩形 287776"/>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
        <p:nvSpPr>
          <p:cNvPr id="6" name="圆角矩形标注 285699">
            <a:extLst>
              <a:ext uri="{FF2B5EF4-FFF2-40B4-BE49-F238E27FC236}">
                <a16:creationId xmlns:a16="http://schemas.microsoft.com/office/drawing/2014/main" id="{6992E25B-1FBA-4FDA-A14F-E4A5AF43FE29}"/>
              </a:ext>
            </a:extLst>
          </p:cNvPr>
          <p:cNvSpPr/>
          <p:nvPr/>
        </p:nvSpPr>
        <p:spPr>
          <a:xfrm>
            <a:off x="5831061" y="1613942"/>
            <a:ext cx="3312939" cy="457200"/>
          </a:xfrm>
          <a:prstGeom prst="wedgeRoundRectCallout">
            <a:avLst>
              <a:gd name="adj1" fmla="val -56650"/>
              <a:gd name="adj2" fmla="val -85069"/>
              <a:gd name="adj3" fmla="val 16667"/>
            </a:avLst>
          </a:prstGeom>
          <a:solidFill>
            <a:srgbClr val="A50021">
              <a:alpha val="50000"/>
            </a:srgbClr>
          </a:solidFill>
          <a:ln w="9525">
            <a:noFill/>
          </a:ln>
        </p:spPr>
        <p:txBody>
          <a:bodyPr anchor="t"/>
          <a:lstStyle/>
          <a:p>
            <a:pPr lvl="0" indent="0" algn="ctr">
              <a:spcBef>
                <a:spcPct val="20000"/>
              </a:spcBef>
              <a:buClrTx/>
            </a:pPr>
            <a:r>
              <a:rPr lang="zh-CN" altLang="en-US" sz="2400" b="1" dirty="0">
                <a:solidFill>
                  <a:srgbClr val="FFFFFF"/>
                </a:solidFill>
                <a:latin typeface="Tahoma" panose="020B0604030504040204" pitchFamily="34" charset="0"/>
                <a:ea typeface="宋体" panose="02010600030101010101" pitchFamily="2" charset="-122"/>
              </a:rPr>
              <a:t>区别</a:t>
            </a:r>
            <a:r>
              <a:rPr lang="en-US" altLang="zh-CN" sz="2400" b="1" dirty="0">
                <a:solidFill>
                  <a:srgbClr val="FFFFFF"/>
                </a:solidFill>
                <a:latin typeface="Times New Roman" panose="02020603050405020304" pitchFamily="18" charset="0"/>
                <a:ea typeface="宋体" panose="02010600030101010101" pitchFamily="2" charset="-122"/>
              </a:rPr>
              <a:t>MOV  AX</a:t>
            </a:r>
            <a:r>
              <a:rPr lang="zh-CN" altLang="en-US" sz="2400" b="1" dirty="0">
                <a:solidFill>
                  <a:srgbClr val="FFFFFF"/>
                </a:solidFill>
                <a:latin typeface="Times New Roman" panose="02020603050405020304" pitchFamily="18" charset="0"/>
                <a:ea typeface="宋体" panose="02010600030101010101" pitchFamily="2" charset="-122"/>
              </a:rPr>
              <a:t>，</a:t>
            </a:r>
            <a:r>
              <a:rPr lang="en-US" altLang="zh-CN" sz="2400" b="1" dirty="0">
                <a:solidFill>
                  <a:srgbClr val="FFFFFF"/>
                </a:solidFill>
                <a:latin typeface="Times New Roman" panose="02020603050405020304" pitchFamily="18" charset="0"/>
                <a:ea typeface="宋体" panose="02010600030101010101" pitchFamily="2" charset="-122"/>
              </a:rPr>
              <a:t>2000H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289793"/>
          <p:cNvSpPr>
            <a:spLocks noGrp="1"/>
          </p:cNvSpPr>
          <p:nvPr>
            <p:ph type="title"/>
          </p:nvPr>
        </p:nvSpPr>
        <p:spPr>
          <a:xfrm>
            <a:off x="250825" y="836613"/>
            <a:ext cx="2952750" cy="360362"/>
          </a:xfrm>
          <a:ln/>
        </p:spPr>
        <p:txBody>
          <a:bodyPr anchor="ctr"/>
          <a:lstStyle/>
          <a:p>
            <a:pPr algn="l"/>
            <a:r>
              <a:rPr lang="en-US" altLang="zh-CN" sz="2400" b="1" dirty="0"/>
              <a:t>2</a:t>
            </a:r>
            <a:r>
              <a:rPr lang="zh-CN" altLang="en-US" sz="2400" b="1" dirty="0"/>
              <a:t>、</a:t>
            </a:r>
            <a:r>
              <a:rPr lang="zh-CN" altLang="en-US" sz="2400" b="1" dirty="0">
                <a:solidFill>
                  <a:schemeClr val="tx1"/>
                </a:solidFill>
              </a:rPr>
              <a:t>寄存器间接寻址</a:t>
            </a:r>
          </a:p>
        </p:txBody>
      </p:sp>
      <p:sp>
        <p:nvSpPr>
          <p:cNvPr id="29698" name="文本占位符 289794"/>
          <p:cNvSpPr>
            <a:spLocks noGrp="1"/>
          </p:cNvSpPr>
          <p:nvPr>
            <p:ph idx="1"/>
          </p:nvPr>
        </p:nvSpPr>
        <p:spPr>
          <a:xfrm>
            <a:off x="395288" y="1247775"/>
            <a:ext cx="8280400" cy="5205413"/>
          </a:xfrm>
          <a:ln/>
        </p:spPr>
        <p:txBody>
          <a:bodyPr wrap="square" lIns="91440" tIns="45720" rIns="91440" bIns="45720" anchor="t"/>
          <a:lstStyle/>
          <a:p>
            <a:pPr marL="0" indent="0">
              <a:lnSpc>
                <a:spcPct val="80000"/>
              </a:lnSpc>
              <a:spcBef>
                <a:spcPct val="0"/>
              </a:spcBef>
              <a:buClrTx/>
              <a:buFont typeface="Wingdings" panose="05000000000000000000" pitchFamily="2" charset="2"/>
              <a:buNone/>
            </a:pPr>
            <a:r>
              <a:rPr lang="zh-CN" altLang="en-US" sz="2800" b="1" dirty="0">
                <a:solidFill>
                  <a:srgbClr val="00FFFF"/>
                </a:solidFill>
                <a:latin typeface="宋体" panose="02010600030101010101" pitchFamily="2" charset="-122"/>
              </a:rPr>
              <a:t> </a:t>
            </a:r>
            <a:r>
              <a:rPr lang="en-US" altLang="en-GB" sz="2400" b="1" dirty="0" err="1">
                <a:latin typeface="宋体" panose="02010600030101010101" pitchFamily="2" charset="-122"/>
              </a:rPr>
              <a:t>操作数</a:t>
            </a:r>
            <a:r>
              <a:rPr lang="zh-CN" altLang="en-US" sz="2400" b="1" dirty="0">
                <a:latin typeface="宋体" panose="02010600030101010101" pitchFamily="2" charset="-122"/>
              </a:rPr>
              <a:t>的偏移</a:t>
            </a:r>
            <a:r>
              <a:rPr lang="en-US" altLang="en-GB" sz="2400" b="1" dirty="0" err="1">
                <a:latin typeface="宋体" panose="02010600030101010101" pitchFamily="2" charset="-122"/>
              </a:rPr>
              <a:t>地址</a:t>
            </a:r>
            <a:r>
              <a:rPr lang="zh-CN" altLang="en-US" sz="2400" b="1" dirty="0">
                <a:latin typeface="宋体" panose="02010600030101010101" pitchFamily="2" charset="-122"/>
              </a:rPr>
              <a:t>放在</a:t>
            </a:r>
            <a:r>
              <a:rPr lang="en-GB" altLang="en-US" sz="2400" b="1" dirty="0" err="1">
                <a:latin typeface="宋体" panose="02010600030101010101" pitchFamily="2" charset="-122"/>
              </a:rPr>
              <a:t>寄存器</a:t>
            </a:r>
            <a:r>
              <a:rPr lang="zh-CN" altLang="en-GB" sz="2400" b="1" dirty="0">
                <a:latin typeface="宋体" panose="02010600030101010101" pitchFamily="2" charset="-122"/>
              </a:rPr>
              <a:t>中，只有</a:t>
            </a:r>
            <a:r>
              <a:rPr lang="en-GB" altLang="zh-CN" sz="2400" b="1" dirty="0">
                <a:latin typeface="宋体" panose="02010600030101010101" pitchFamily="2" charset="-122"/>
              </a:rPr>
              <a:t>SI、DI、BX</a:t>
            </a:r>
            <a:r>
              <a:rPr lang="zh-CN" altLang="en-GB" sz="2400" b="1" dirty="0">
                <a:latin typeface="宋体" panose="02010600030101010101" pitchFamily="2" charset="-122"/>
              </a:rPr>
              <a:t>和</a:t>
            </a:r>
            <a:r>
              <a:rPr lang="en-GB" altLang="zh-CN" sz="2400" b="1" dirty="0">
                <a:latin typeface="宋体" panose="02010600030101010101" pitchFamily="2" charset="-122"/>
              </a:rPr>
              <a:t>BP</a:t>
            </a:r>
            <a:r>
              <a:rPr lang="zh-CN" altLang="en-GB" sz="2400" b="1" dirty="0">
                <a:latin typeface="宋体" panose="02010600030101010101" pitchFamily="2" charset="-122"/>
              </a:rPr>
              <a:t>可作间址寄存器</a:t>
            </a:r>
          </a:p>
          <a:p>
            <a:pPr marL="0" indent="0">
              <a:lnSpc>
                <a:spcPct val="80000"/>
              </a:lnSpc>
              <a:spcBef>
                <a:spcPct val="0"/>
              </a:spcBef>
              <a:buClr>
                <a:schemeClr val="tx1"/>
              </a:buClr>
              <a:buFont typeface="Wingdings" panose="05000000000000000000" pitchFamily="2" charset="2"/>
              <a:buNone/>
            </a:pPr>
            <a:endParaRPr lang="zh-CN" altLang="en-US" sz="2400" b="1" dirty="0"/>
          </a:p>
          <a:p>
            <a:pPr marL="0" indent="0">
              <a:lnSpc>
                <a:spcPct val="80000"/>
              </a:lnSpc>
              <a:spcBef>
                <a:spcPct val="0"/>
              </a:spcBef>
              <a:buClr>
                <a:schemeClr val="tx1"/>
              </a:buClr>
              <a:buFont typeface="Wingdings" panose="05000000000000000000" pitchFamily="2" charset="2"/>
              <a:buNone/>
            </a:pPr>
            <a:endParaRPr lang="zh-CN" altLang="en-US" sz="2800" b="1" dirty="0"/>
          </a:p>
          <a:p>
            <a:pPr marL="0" indent="0">
              <a:lnSpc>
                <a:spcPct val="80000"/>
              </a:lnSpc>
              <a:spcBef>
                <a:spcPct val="0"/>
              </a:spcBef>
              <a:buClr>
                <a:schemeClr val="tx1"/>
              </a:buClr>
              <a:buFont typeface="Wingdings" panose="05000000000000000000" pitchFamily="2" charset="2"/>
              <a:buNone/>
            </a:pPr>
            <a:endParaRPr lang="zh-CN" altLang="en-US" sz="2800" b="1" dirty="0"/>
          </a:p>
          <a:p>
            <a:pPr marL="0" indent="0">
              <a:lnSpc>
                <a:spcPct val="80000"/>
              </a:lnSpc>
              <a:spcBef>
                <a:spcPct val="0"/>
              </a:spcBef>
              <a:buClr>
                <a:schemeClr val="tx1"/>
              </a:buClr>
              <a:buFont typeface="Wingdings" panose="05000000000000000000" pitchFamily="2" charset="2"/>
              <a:buNone/>
            </a:pPr>
            <a:endParaRPr lang="zh-CN" altLang="en-US" sz="2800" b="1" dirty="0"/>
          </a:p>
          <a:p>
            <a:pPr marL="0" indent="0">
              <a:lnSpc>
                <a:spcPct val="80000"/>
              </a:lnSpc>
              <a:spcBef>
                <a:spcPct val="0"/>
              </a:spcBef>
              <a:buClr>
                <a:schemeClr val="tx1"/>
              </a:buClr>
              <a:buFont typeface="Wingdings" panose="05000000000000000000" pitchFamily="2" charset="2"/>
              <a:buNone/>
            </a:pPr>
            <a:r>
              <a:rPr lang="zh-CN" altLang="en-US" sz="2800" b="1" dirty="0"/>
              <a:t> </a:t>
            </a:r>
          </a:p>
          <a:p>
            <a:pPr marL="0" indent="0">
              <a:lnSpc>
                <a:spcPct val="80000"/>
              </a:lnSpc>
              <a:spcBef>
                <a:spcPct val="0"/>
              </a:spcBef>
              <a:buClr>
                <a:schemeClr val="tx1"/>
              </a:buClr>
              <a:buFont typeface="Wingdings" panose="05000000000000000000" pitchFamily="2" charset="2"/>
              <a:buNone/>
            </a:pPr>
            <a:endParaRPr lang="zh-CN" altLang="en-US" sz="2400" dirty="0">
              <a:latin typeface="宋体" panose="02010600030101010101" pitchFamily="2" charset="-122"/>
            </a:endParaRPr>
          </a:p>
          <a:p>
            <a:pPr marL="0" indent="0">
              <a:lnSpc>
                <a:spcPct val="80000"/>
              </a:lnSpc>
              <a:spcBef>
                <a:spcPct val="0"/>
              </a:spcBef>
              <a:buClr>
                <a:schemeClr val="tx1"/>
              </a:buClr>
              <a:buFont typeface="Wingdings" panose="05000000000000000000" pitchFamily="2" charset="2"/>
              <a:buNone/>
            </a:pPr>
            <a:r>
              <a:rPr lang="zh-CN" altLang="en-US" sz="2400" b="1" dirty="0">
                <a:latin typeface="宋体" panose="02010600030101010101" pitchFamily="2" charset="-122"/>
              </a:rPr>
              <a:t>　　　</a:t>
            </a:r>
            <a:r>
              <a:rPr lang="en-US" altLang="zh-CN" sz="2400" b="1" dirty="0">
                <a:latin typeface="宋体" panose="02010600030101010101" pitchFamily="2" charset="-122"/>
              </a:rPr>
              <a:t>MOV  AL</a:t>
            </a:r>
            <a:r>
              <a:rPr lang="zh-CN" altLang="en-US" sz="2400" b="1" dirty="0">
                <a:latin typeface="宋体" panose="02010600030101010101" pitchFamily="2" charset="-122"/>
              </a:rPr>
              <a:t>，</a:t>
            </a:r>
            <a:r>
              <a:rPr lang="en-US" altLang="zh-CN" sz="2400" b="1" dirty="0">
                <a:latin typeface="宋体" panose="02010600030101010101" pitchFamily="2" charset="-122"/>
              </a:rPr>
              <a:t>[BX]</a:t>
            </a:r>
            <a:r>
              <a:rPr lang="zh-CN" altLang="en-US" sz="2400" b="1" dirty="0">
                <a:latin typeface="宋体" panose="02010600030101010101" pitchFamily="2" charset="-122"/>
              </a:rPr>
              <a:t>；</a:t>
            </a:r>
            <a:r>
              <a:rPr lang="en-US" altLang="zh-CN" sz="2400" b="1" dirty="0">
                <a:latin typeface="宋体" panose="02010600030101010101" pitchFamily="2" charset="-122"/>
              </a:rPr>
              <a:t>AL←[DS×16</a:t>
            </a:r>
            <a:r>
              <a:rPr lang="zh-CN" altLang="en-US" sz="2400" b="1" dirty="0">
                <a:latin typeface="宋体" panose="02010600030101010101" pitchFamily="2" charset="-122"/>
              </a:rPr>
              <a:t>＋</a:t>
            </a:r>
            <a:r>
              <a:rPr lang="en-US" altLang="zh-CN" sz="2400" b="1" dirty="0">
                <a:latin typeface="宋体" panose="02010600030101010101" pitchFamily="2" charset="-122"/>
              </a:rPr>
              <a:t>BX]</a:t>
            </a:r>
          </a:p>
          <a:p>
            <a:pPr marL="0" indent="0">
              <a:lnSpc>
                <a:spcPct val="80000"/>
              </a:lnSpc>
              <a:buNone/>
            </a:pPr>
            <a:r>
              <a:rPr lang="zh-CN" altLang="en-US" sz="2400" b="1" dirty="0">
                <a:latin typeface="宋体" panose="02010600030101010101" pitchFamily="2" charset="-122"/>
              </a:rPr>
              <a:t>　　　</a:t>
            </a:r>
            <a:r>
              <a:rPr lang="en-US" altLang="zh-CN" sz="2400" b="1" dirty="0">
                <a:latin typeface="宋体" panose="02010600030101010101" pitchFamily="2" charset="-122"/>
              </a:rPr>
              <a:t>MOV  AX</a:t>
            </a:r>
            <a:r>
              <a:rPr lang="zh-CN" altLang="en-US" sz="2400" b="1" dirty="0">
                <a:latin typeface="宋体" panose="02010600030101010101" pitchFamily="2" charset="-122"/>
              </a:rPr>
              <a:t>，</a:t>
            </a:r>
            <a:r>
              <a:rPr lang="en-US" altLang="zh-CN" sz="2400" b="1" dirty="0">
                <a:latin typeface="宋体" panose="02010600030101010101" pitchFamily="2" charset="-122"/>
              </a:rPr>
              <a:t>[SI]</a:t>
            </a:r>
            <a:r>
              <a:rPr lang="zh-CN" altLang="en-US" sz="2400" b="1" dirty="0">
                <a:latin typeface="宋体" panose="02010600030101010101" pitchFamily="2" charset="-122"/>
              </a:rPr>
              <a:t>；</a:t>
            </a:r>
            <a:r>
              <a:rPr lang="en-US" altLang="zh-CN" sz="2400" b="1" dirty="0">
                <a:latin typeface="宋体" panose="02010600030101010101" pitchFamily="2" charset="-122"/>
              </a:rPr>
              <a:t>AX←[DS×16</a:t>
            </a:r>
            <a:r>
              <a:rPr lang="zh-CN" altLang="en-US" sz="2400" b="1" dirty="0">
                <a:latin typeface="宋体" panose="02010600030101010101" pitchFamily="2" charset="-122"/>
              </a:rPr>
              <a:t>＋</a:t>
            </a:r>
            <a:r>
              <a:rPr lang="en-US" altLang="zh-CN" sz="2400" b="1" dirty="0">
                <a:latin typeface="宋体" panose="02010600030101010101" pitchFamily="2" charset="-122"/>
              </a:rPr>
              <a:t>SI]</a:t>
            </a:r>
          </a:p>
          <a:p>
            <a:pPr marL="0" indent="0">
              <a:lnSpc>
                <a:spcPct val="80000"/>
              </a:lnSpc>
              <a:buNone/>
            </a:pPr>
            <a:r>
              <a:rPr lang="zh-CN" altLang="en-US" sz="2400" b="1" dirty="0">
                <a:latin typeface="宋体" panose="02010600030101010101" pitchFamily="2" charset="-122"/>
              </a:rPr>
              <a:t>　　　</a:t>
            </a:r>
            <a:r>
              <a:rPr lang="en-US" altLang="zh-CN" sz="2400" b="1" dirty="0">
                <a:latin typeface="宋体" panose="02010600030101010101" pitchFamily="2" charset="-122"/>
              </a:rPr>
              <a:t>MOV  EAX</a:t>
            </a:r>
            <a:r>
              <a:rPr lang="zh-CN" altLang="en-US" sz="2400" b="1" dirty="0">
                <a:latin typeface="宋体" panose="02010600030101010101" pitchFamily="2" charset="-122"/>
              </a:rPr>
              <a:t>，</a:t>
            </a:r>
            <a:r>
              <a:rPr lang="en-US" altLang="zh-CN" sz="2400" b="1" dirty="0">
                <a:latin typeface="宋体" panose="02010600030101010101" pitchFamily="2" charset="-122"/>
              </a:rPr>
              <a:t>[DI]</a:t>
            </a:r>
            <a:r>
              <a:rPr lang="zh-CN" altLang="en-US" sz="2400" b="1" dirty="0">
                <a:latin typeface="宋体" panose="02010600030101010101" pitchFamily="2" charset="-122"/>
              </a:rPr>
              <a:t>；</a:t>
            </a:r>
            <a:r>
              <a:rPr lang="en-US" altLang="zh-CN" sz="2400" b="1" dirty="0">
                <a:latin typeface="宋体" panose="02010600030101010101" pitchFamily="2" charset="-122"/>
              </a:rPr>
              <a:t>EAX←[DS×16</a:t>
            </a:r>
            <a:r>
              <a:rPr lang="zh-CN" altLang="en-US" sz="2400" b="1" dirty="0">
                <a:latin typeface="宋体" panose="02010600030101010101" pitchFamily="2" charset="-122"/>
              </a:rPr>
              <a:t>＋</a:t>
            </a:r>
            <a:r>
              <a:rPr lang="en-US" altLang="zh-CN" sz="2400" b="1" dirty="0">
                <a:latin typeface="宋体" panose="02010600030101010101" pitchFamily="2" charset="-122"/>
              </a:rPr>
              <a:t>DI]</a:t>
            </a:r>
          </a:p>
          <a:p>
            <a:pPr marL="0" indent="0">
              <a:lnSpc>
                <a:spcPct val="80000"/>
              </a:lnSpc>
              <a:buNone/>
            </a:pPr>
            <a:r>
              <a:rPr lang="zh-CN" altLang="en-US" sz="2400" b="1" dirty="0">
                <a:latin typeface="宋体" panose="02010600030101010101" pitchFamily="2" charset="-122"/>
              </a:rPr>
              <a:t>　　　</a:t>
            </a:r>
            <a:r>
              <a:rPr lang="en-US" altLang="zh-CN" sz="2400" b="1" dirty="0">
                <a:latin typeface="宋体" panose="02010600030101010101" pitchFamily="2" charset="-122"/>
              </a:rPr>
              <a:t>MOV  AX</a:t>
            </a:r>
            <a:r>
              <a:rPr lang="zh-CN" altLang="en-US" sz="2400" b="1" dirty="0">
                <a:latin typeface="宋体" panose="02010600030101010101" pitchFamily="2" charset="-122"/>
              </a:rPr>
              <a:t>，</a:t>
            </a:r>
            <a:r>
              <a:rPr lang="en-US" altLang="zh-CN" sz="2400" b="1" dirty="0">
                <a:latin typeface="宋体" panose="02010600030101010101" pitchFamily="2" charset="-122"/>
              </a:rPr>
              <a:t>[BP]</a:t>
            </a:r>
            <a:r>
              <a:rPr lang="zh-CN" altLang="en-US" sz="2400" b="1" dirty="0">
                <a:latin typeface="宋体" panose="02010600030101010101" pitchFamily="2" charset="-122"/>
              </a:rPr>
              <a:t>；</a:t>
            </a:r>
            <a:r>
              <a:rPr lang="en-US" altLang="zh-CN" sz="2400" b="1" dirty="0">
                <a:latin typeface="宋体" panose="02010600030101010101" pitchFamily="2" charset="-122"/>
              </a:rPr>
              <a:t>AX←[</a:t>
            </a:r>
            <a:r>
              <a:rPr lang="en-US" altLang="zh-CN" sz="2400" b="1" dirty="0">
                <a:solidFill>
                  <a:srgbClr val="FF00FF"/>
                </a:solidFill>
                <a:latin typeface="宋体" panose="02010600030101010101" pitchFamily="2" charset="-122"/>
              </a:rPr>
              <a:t>SS</a:t>
            </a:r>
            <a:r>
              <a:rPr lang="en-US" altLang="zh-CN" sz="2400" b="1" dirty="0">
                <a:latin typeface="宋体" panose="02010600030101010101" pitchFamily="2" charset="-122"/>
              </a:rPr>
              <a:t>×16</a:t>
            </a:r>
            <a:r>
              <a:rPr lang="zh-CN" altLang="en-US" sz="2400" b="1" dirty="0">
                <a:latin typeface="宋体" panose="02010600030101010101" pitchFamily="2" charset="-122"/>
              </a:rPr>
              <a:t>＋</a:t>
            </a:r>
            <a:r>
              <a:rPr lang="en-US" altLang="zh-CN" sz="2400" b="1" dirty="0">
                <a:solidFill>
                  <a:srgbClr val="FF00FF"/>
                </a:solidFill>
                <a:latin typeface="宋体" panose="02010600030101010101" pitchFamily="2" charset="-122"/>
              </a:rPr>
              <a:t>BP</a:t>
            </a:r>
            <a:r>
              <a:rPr lang="en-US" altLang="zh-CN" sz="2400" b="1" dirty="0">
                <a:latin typeface="宋体" panose="02010600030101010101" pitchFamily="2" charset="-122"/>
              </a:rPr>
              <a:t>]</a:t>
            </a:r>
          </a:p>
          <a:p>
            <a:pPr marL="0" indent="0">
              <a:lnSpc>
                <a:spcPct val="80000"/>
              </a:lnSpc>
              <a:buNone/>
            </a:pPr>
            <a:r>
              <a:rPr lang="zh-CN" altLang="en-US" sz="2400" b="1" dirty="0">
                <a:latin typeface="宋体" panose="02010600030101010101" pitchFamily="2" charset="-122"/>
              </a:rPr>
              <a:t>　　　</a:t>
            </a:r>
            <a:r>
              <a:rPr lang="en-US" altLang="zh-CN" sz="2400" b="1" dirty="0">
                <a:latin typeface="宋体" panose="02010600030101010101" pitchFamily="2" charset="-122"/>
              </a:rPr>
              <a:t>MOV  AX</a:t>
            </a:r>
            <a:r>
              <a:rPr lang="zh-CN" altLang="en-US" sz="2400" b="1" dirty="0">
                <a:latin typeface="宋体" panose="02010600030101010101" pitchFamily="2" charset="-122"/>
              </a:rPr>
              <a:t>，</a:t>
            </a:r>
            <a:r>
              <a:rPr lang="en-US" altLang="zh-CN" sz="2400" b="1" dirty="0">
                <a:solidFill>
                  <a:srgbClr val="FF00FF"/>
                </a:solidFill>
                <a:latin typeface="宋体" panose="02010600030101010101" pitchFamily="2" charset="-122"/>
              </a:rPr>
              <a:t>ES:</a:t>
            </a:r>
            <a:r>
              <a:rPr lang="en-US" altLang="zh-CN" sz="2400" b="1" dirty="0">
                <a:latin typeface="宋体" panose="02010600030101010101" pitchFamily="2" charset="-122"/>
              </a:rPr>
              <a:t>[BX]</a:t>
            </a:r>
            <a:r>
              <a:rPr lang="zh-CN" altLang="en-US" sz="2400" b="1" dirty="0">
                <a:latin typeface="宋体" panose="02010600030101010101" pitchFamily="2" charset="-122"/>
              </a:rPr>
              <a:t>；</a:t>
            </a:r>
            <a:r>
              <a:rPr lang="en-US" altLang="zh-CN" sz="2400" b="1" dirty="0">
                <a:latin typeface="宋体" panose="02010600030101010101" pitchFamily="2" charset="-122"/>
              </a:rPr>
              <a:t>AX←[ES×16</a:t>
            </a:r>
            <a:r>
              <a:rPr lang="zh-CN" altLang="en-US" sz="2400" b="1" dirty="0">
                <a:latin typeface="宋体" panose="02010600030101010101" pitchFamily="2" charset="-122"/>
              </a:rPr>
              <a:t>＋</a:t>
            </a:r>
            <a:r>
              <a:rPr lang="en-US" altLang="zh-CN" sz="2400" b="1" dirty="0">
                <a:latin typeface="宋体" panose="02010600030101010101" pitchFamily="2" charset="-122"/>
              </a:rPr>
              <a:t>BX]</a:t>
            </a:r>
          </a:p>
          <a:p>
            <a:pPr marL="0" indent="0">
              <a:lnSpc>
                <a:spcPct val="80000"/>
              </a:lnSpc>
              <a:buNone/>
            </a:pPr>
            <a:r>
              <a:rPr lang="zh-CN" altLang="en-US" sz="2400" b="1" dirty="0">
                <a:latin typeface="宋体" panose="02010600030101010101" pitchFamily="2" charset="-122"/>
              </a:rPr>
              <a:t>　　　</a:t>
            </a:r>
            <a:r>
              <a:rPr lang="en-US" altLang="zh-CN" sz="2400" b="1" dirty="0">
                <a:latin typeface="宋体" panose="02010600030101010101" pitchFamily="2" charset="-122"/>
              </a:rPr>
              <a:t>MOV  EAX</a:t>
            </a:r>
            <a:r>
              <a:rPr lang="zh-CN" altLang="en-US" sz="2400" b="1" dirty="0">
                <a:latin typeface="宋体" panose="02010600030101010101" pitchFamily="2" charset="-122"/>
              </a:rPr>
              <a:t>，</a:t>
            </a:r>
            <a:r>
              <a:rPr lang="en-US" altLang="zh-CN" sz="2400" b="1" dirty="0">
                <a:solidFill>
                  <a:srgbClr val="FF00FF"/>
                </a:solidFill>
                <a:latin typeface="宋体" panose="02010600030101010101" pitchFamily="2" charset="-122"/>
              </a:rPr>
              <a:t>DS:</a:t>
            </a:r>
            <a:r>
              <a:rPr lang="en-US" altLang="zh-CN" sz="2400" b="1" dirty="0">
                <a:latin typeface="宋体" panose="02010600030101010101" pitchFamily="2" charset="-122"/>
              </a:rPr>
              <a:t>[BP]</a:t>
            </a:r>
            <a:r>
              <a:rPr lang="zh-CN" altLang="en-US" sz="2400" b="1" dirty="0">
                <a:latin typeface="宋体" panose="02010600030101010101" pitchFamily="2" charset="-122"/>
              </a:rPr>
              <a:t>；</a:t>
            </a:r>
            <a:r>
              <a:rPr lang="en-US" altLang="zh-CN" sz="2400" b="1" dirty="0">
                <a:latin typeface="宋体" panose="02010600030101010101" pitchFamily="2" charset="-122"/>
              </a:rPr>
              <a:t>EAX←[DS×16</a:t>
            </a:r>
            <a:r>
              <a:rPr lang="zh-CN" altLang="en-US" sz="2400" b="1" dirty="0">
                <a:latin typeface="宋体" panose="02010600030101010101" pitchFamily="2" charset="-122"/>
              </a:rPr>
              <a:t>＋</a:t>
            </a:r>
            <a:r>
              <a:rPr lang="en-US" altLang="zh-CN" sz="2400" b="1" dirty="0">
                <a:latin typeface="宋体" panose="02010600030101010101" pitchFamily="2" charset="-122"/>
              </a:rPr>
              <a:t>BP]</a:t>
            </a:r>
          </a:p>
        </p:txBody>
      </p:sp>
      <p:grpSp>
        <p:nvGrpSpPr>
          <p:cNvPr id="29699" name="组合 289795"/>
          <p:cNvGrpSpPr/>
          <p:nvPr/>
        </p:nvGrpSpPr>
        <p:grpSpPr>
          <a:xfrm>
            <a:off x="1187450" y="1916113"/>
            <a:ext cx="2735263" cy="1727200"/>
            <a:chOff x="1066" y="1525"/>
            <a:chExt cx="1723" cy="1088"/>
          </a:xfrm>
        </p:grpSpPr>
        <p:sp>
          <p:nvSpPr>
            <p:cNvPr id="29700" name="文本框 289796"/>
            <p:cNvSpPr txBox="1"/>
            <p:nvPr/>
          </p:nvSpPr>
          <p:spPr>
            <a:xfrm>
              <a:off x="1066" y="1933"/>
              <a:ext cx="589" cy="307"/>
            </a:xfrm>
            <a:prstGeom prst="rect">
              <a:avLst/>
            </a:prstGeom>
            <a:noFill/>
            <a:ln w="9525">
              <a:noFill/>
            </a:ln>
          </p:spPr>
          <p:txBody>
            <a:bodyPr lIns="0" tIns="0" rIns="0" bIns="0" anchor="t">
              <a:spAutoFit/>
            </a:bodyPr>
            <a:lstStyle/>
            <a:p>
              <a:pPr lvl="0" indent="0"/>
              <a:r>
                <a:rPr lang="en-US" altLang="zh-CN" sz="3200">
                  <a:latin typeface="Arial" panose="020B0604020202020204" pitchFamily="34" charset="0"/>
                  <a:ea typeface="宋体" panose="02010600030101010101" pitchFamily="2" charset="-122"/>
                </a:rPr>
                <a:t>EA = </a:t>
              </a:r>
            </a:p>
          </p:txBody>
        </p:sp>
        <p:sp>
          <p:nvSpPr>
            <p:cNvPr id="29701" name="文本框 289797"/>
            <p:cNvSpPr txBox="1"/>
            <p:nvPr/>
          </p:nvSpPr>
          <p:spPr>
            <a:xfrm>
              <a:off x="2018" y="1525"/>
              <a:ext cx="498" cy="1058"/>
            </a:xfrm>
            <a:prstGeom prst="rect">
              <a:avLst/>
            </a:prstGeom>
            <a:noFill/>
            <a:ln w="9525">
              <a:noFill/>
            </a:ln>
          </p:spPr>
          <p:txBody>
            <a:bodyPr lIns="0" tIns="0" rIns="0" bIns="0" anchor="t">
              <a:spAutoFit/>
            </a:bodyPr>
            <a:lstStyle/>
            <a:p>
              <a:pPr lvl="0" indent="0" algn="ctr">
                <a:spcBef>
                  <a:spcPct val="20000"/>
                </a:spcBef>
              </a:pPr>
              <a:r>
                <a:rPr lang="en-US" altLang="zh-CN" sz="2400">
                  <a:latin typeface="Arial" panose="020B0604020202020204" pitchFamily="34" charset="0"/>
                  <a:ea typeface="宋体" panose="02010600030101010101" pitchFamily="2" charset="-122"/>
                </a:rPr>
                <a:t>BX</a:t>
              </a:r>
            </a:p>
            <a:p>
              <a:pPr lvl="0" indent="0" algn="ctr">
                <a:spcBef>
                  <a:spcPct val="20000"/>
                </a:spcBef>
              </a:pPr>
              <a:r>
                <a:rPr lang="en-US" altLang="zh-CN" sz="2400">
                  <a:latin typeface="Arial" panose="020B0604020202020204" pitchFamily="34" charset="0"/>
                  <a:ea typeface="宋体" panose="02010600030101010101" pitchFamily="2" charset="-122"/>
                </a:rPr>
                <a:t>BP</a:t>
              </a:r>
            </a:p>
            <a:p>
              <a:pPr lvl="0" indent="0" algn="ctr">
                <a:spcBef>
                  <a:spcPct val="20000"/>
                </a:spcBef>
              </a:pPr>
              <a:r>
                <a:rPr lang="en-US" altLang="zh-CN" sz="2400">
                  <a:latin typeface="Arial" panose="020B0604020202020204" pitchFamily="34" charset="0"/>
                  <a:ea typeface="宋体" panose="02010600030101010101" pitchFamily="2" charset="-122"/>
                </a:rPr>
                <a:t>SI</a:t>
              </a:r>
            </a:p>
            <a:p>
              <a:pPr lvl="0" indent="0" algn="ctr">
                <a:spcBef>
                  <a:spcPct val="20000"/>
                </a:spcBef>
              </a:pPr>
              <a:r>
                <a:rPr lang="en-US" altLang="zh-CN" sz="2400">
                  <a:latin typeface="Arial" panose="020B0604020202020204" pitchFamily="34" charset="0"/>
                  <a:ea typeface="宋体" panose="02010600030101010101" pitchFamily="2" charset="-122"/>
                </a:rPr>
                <a:t>DI</a:t>
              </a:r>
            </a:p>
          </p:txBody>
        </p:sp>
        <p:sp>
          <p:nvSpPr>
            <p:cNvPr id="29702" name="左大括号 289798"/>
            <p:cNvSpPr/>
            <p:nvPr/>
          </p:nvSpPr>
          <p:spPr>
            <a:xfrm>
              <a:off x="1791" y="1570"/>
              <a:ext cx="136" cy="1043"/>
            </a:xfrm>
            <a:prstGeom prst="leftBrace">
              <a:avLst>
                <a:gd name="adj1" fmla="val 63873"/>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29703" name="右大括号 289799"/>
            <p:cNvSpPr/>
            <p:nvPr/>
          </p:nvSpPr>
          <p:spPr>
            <a:xfrm>
              <a:off x="2608" y="1570"/>
              <a:ext cx="181" cy="1043"/>
            </a:xfrm>
            <a:prstGeom prst="rightBrace">
              <a:avLst>
                <a:gd name="adj1" fmla="val 47993"/>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grpSp>
      <p:grpSp>
        <p:nvGrpSpPr>
          <p:cNvPr id="29704" name="组合 289800"/>
          <p:cNvGrpSpPr/>
          <p:nvPr/>
        </p:nvGrpSpPr>
        <p:grpSpPr>
          <a:xfrm>
            <a:off x="5946543" y="2906713"/>
            <a:ext cx="3196721" cy="3100388"/>
            <a:chOff x="3046" y="1877"/>
            <a:chExt cx="1969" cy="1953"/>
          </a:xfrm>
        </p:grpSpPr>
        <p:sp>
          <p:nvSpPr>
            <p:cNvPr id="29705" name="圆角矩形标注 289801"/>
            <p:cNvSpPr/>
            <p:nvPr/>
          </p:nvSpPr>
          <p:spPr>
            <a:xfrm>
              <a:off x="3749" y="2282"/>
              <a:ext cx="1056" cy="288"/>
            </a:xfrm>
            <a:prstGeom prst="wedgeRoundRectCallout">
              <a:avLst>
                <a:gd name="adj1" fmla="val -106875"/>
                <a:gd name="adj2" fmla="val 117013"/>
                <a:gd name="adj3" fmla="val 16667"/>
              </a:avLst>
            </a:prstGeom>
            <a:solidFill>
              <a:srgbClr val="6358F6"/>
            </a:solidFill>
            <a:ln w="9525">
              <a:noFill/>
            </a:ln>
          </p:spPr>
          <p:txBody>
            <a:bodyPr anchor="t"/>
            <a:lstStyle/>
            <a:p>
              <a:pPr lvl="0" indent="0" algn="ctr">
                <a:spcBef>
                  <a:spcPct val="20000"/>
                </a:spcBef>
                <a:buClrTx/>
              </a:pPr>
              <a:r>
                <a:rPr lang="zh-CN" altLang="en-US" sz="2400" b="1" dirty="0">
                  <a:solidFill>
                    <a:srgbClr val="FFFFFF"/>
                  </a:solidFill>
                  <a:latin typeface="Tahoma" panose="020B0604030504040204" pitchFamily="34" charset="0"/>
                  <a:ea typeface="宋体" panose="02010600030101010101" pitchFamily="2" charset="-122"/>
                </a:rPr>
                <a:t>字  操  作</a:t>
              </a:r>
            </a:p>
          </p:txBody>
        </p:sp>
        <p:sp>
          <p:nvSpPr>
            <p:cNvPr id="29706" name="圆角矩形标注 289802"/>
            <p:cNvSpPr/>
            <p:nvPr/>
          </p:nvSpPr>
          <p:spPr>
            <a:xfrm>
              <a:off x="3046" y="1877"/>
              <a:ext cx="1056" cy="288"/>
            </a:xfrm>
            <a:prstGeom prst="wedgeRoundRectCallout">
              <a:avLst>
                <a:gd name="adj1" fmla="val -163916"/>
                <a:gd name="adj2" fmla="val 164930"/>
                <a:gd name="adj3" fmla="val 16667"/>
              </a:avLst>
            </a:prstGeom>
            <a:solidFill>
              <a:srgbClr val="6358F6"/>
            </a:solidFill>
            <a:ln w="9525">
              <a:noFill/>
            </a:ln>
          </p:spPr>
          <p:txBody>
            <a:bodyPr anchor="t"/>
            <a:lstStyle/>
            <a:p>
              <a:pPr lvl="0" indent="0" algn="ctr">
                <a:spcBef>
                  <a:spcPct val="20000"/>
                </a:spcBef>
                <a:buClrTx/>
              </a:pPr>
              <a:r>
                <a:rPr lang="zh-CN" altLang="en-US" sz="2400" b="1" dirty="0">
                  <a:solidFill>
                    <a:srgbClr val="FFFFFF"/>
                  </a:solidFill>
                  <a:latin typeface="Tahoma" panose="020B0604030504040204" pitchFamily="34" charset="0"/>
                  <a:ea typeface="宋体" panose="02010600030101010101" pitchFamily="2" charset="-122"/>
                </a:rPr>
                <a:t>字节操作</a:t>
              </a:r>
            </a:p>
          </p:txBody>
        </p:sp>
        <p:sp>
          <p:nvSpPr>
            <p:cNvPr id="29707" name="圆角矩形标注 289803"/>
            <p:cNvSpPr/>
            <p:nvPr/>
          </p:nvSpPr>
          <p:spPr>
            <a:xfrm>
              <a:off x="3440" y="3031"/>
              <a:ext cx="1575" cy="306"/>
            </a:xfrm>
            <a:prstGeom prst="wedgeRoundRectCallout">
              <a:avLst>
                <a:gd name="adj1" fmla="val -66495"/>
                <a:gd name="adj2" fmla="val 28585"/>
                <a:gd name="adj3" fmla="val 16667"/>
              </a:avLst>
            </a:prstGeom>
            <a:solidFill>
              <a:srgbClr val="6358F6"/>
            </a:solidFill>
            <a:ln w="9525">
              <a:noFill/>
            </a:ln>
          </p:spPr>
          <p:txBody>
            <a:bodyPr anchor="t">
              <a:spAutoFit/>
            </a:bodyPr>
            <a:lstStyle/>
            <a:p>
              <a:pPr lvl="0" indent="0" algn="ctr">
                <a:spcBef>
                  <a:spcPct val="20000"/>
                </a:spcBef>
                <a:buClrTx/>
              </a:pPr>
              <a:r>
                <a:rPr lang="zh-CN" altLang="en-US" sz="2400" b="1" dirty="0">
                  <a:solidFill>
                    <a:srgbClr val="FFFFFF"/>
                  </a:solidFill>
                  <a:latin typeface="Tahoma" panose="020B0604030504040204" pitchFamily="34" charset="0"/>
                  <a:ea typeface="宋体" panose="02010600030101010101" pitchFamily="2" charset="-122"/>
                </a:rPr>
                <a:t>段寄存器使用</a:t>
              </a:r>
              <a:r>
                <a:rPr lang="en-US" altLang="zh-CN" sz="2400" b="1" dirty="0">
                  <a:solidFill>
                    <a:srgbClr val="FFFFFF"/>
                  </a:solidFill>
                  <a:latin typeface="宋体" panose="02010600030101010101" pitchFamily="2" charset="-122"/>
                  <a:ea typeface="宋体" panose="02010600030101010101" pitchFamily="2" charset="-122"/>
                </a:rPr>
                <a:t>SS</a:t>
              </a:r>
            </a:p>
          </p:txBody>
        </p:sp>
        <p:sp>
          <p:nvSpPr>
            <p:cNvPr id="29708" name="圆角矩形标注 289804"/>
            <p:cNvSpPr/>
            <p:nvPr/>
          </p:nvSpPr>
          <p:spPr>
            <a:xfrm>
              <a:off x="3747" y="3524"/>
              <a:ext cx="725" cy="306"/>
            </a:xfrm>
            <a:prstGeom prst="wedgeRoundRectCallout">
              <a:avLst>
                <a:gd name="adj1" fmla="val -86967"/>
                <a:gd name="adj2" fmla="val -53121"/>
                <a:gd name="adj3" fmla="val 16667"/>
              </a:avLst>
            </a:prstGeom>
            <a:solidFill>
              <a:srgbClr val="6358F6"/>
            </a:solidFill>
            <a:ln w="9525">
              <a:noFill/>
            </a:ln>
          </p:spPr>
          <p:txBody>
            <a:bodyPr wrap="none" anchor="t">
              <a:spAutoFit/>
            </a:bodyPr>
            <a:lstStyle/>
            <a:p>
              <a:pPr lvl="0" indent="0" algn="ctr">
                <a:spcBef>
                  <a:spcPct val="20000"/>
                </a:spcBef>
                <a:buClrTx/>
              </a:pPr>
              <a:r>
                <a:rPr lang="zh-CN" altLang="en-US" sz="2400" b="1" dirty="0">
                  <a:solidFill>
                    <a:srgbClr val="FFFFFF"/>
                  </a:solidFill>
                  <a:latin typeface="Tahoma" panose="020B0604030504040204" pitchFamily="34" charset="0"/>
                  <a:ea typeface="宋体" panose="02010600030101010101" pitchFamily="2" charset="-122"/>
                </a:rPr>
                <a:t>段超越</a:t>
              </a:r>
            </a:p>
          </p:txBody>
        </p:sp>
        <p:sp>
          <p:nvSpPr>
            <p:cNvPr id="15" name="圆角矩形标注 289801">
              <a:extLst>
                <a:ext uri="{FF2B5EF4-FFF2-40B4-BE49-F238E27FC236}">
                  <a16:creationId xmlns:a16="http://schemas.microsoft.com/office/drawing/2014/main" id="{B30F029B-C1CA-4B6E-BC0A-6AA002E5DC93}"/>
                </a:ext>
              </a:extLst>
            </p:cNvPr>
            <p:cNvSpPr/>
            <p:nvPr/>
          </p:nvSpPr>
          <p:spPr>
            <a:xfrm>
              <a:off x="3767" y="2645"/>
              <a:ext cx="1056" cy="288"/>
            </a:xfrm>
            <a:prstGeom prst="wedgeRoundRectCallout">
              <a:avLst>
                <a:gd name="adj1" fmla="val -86319"/>
                <a:gd name="adj2" fmla="val 73263"/>
                <a:gd name="adj3" fmla="val 16667"/>
              </a:avLst>
            </a:prstGeom>
            <a:solidFill>
              <a:srgbClr val="6358F6"/>
            </a:solidFill>
            <a:ln w="9525">
              <a:noFill/>
            </a:ln>
          </p:spPr>
          <p:txBody>
            <a:bodyPr anchor="t"/>
            <a:lstStyle/>
            <a:p>
              <a:pPr lvl="0" indent="0" algn="ctr">
                <a:spcBef>
                  <a:spcPct val="20000"/>
                </a:spcBef>
                <a:buClrTx/>
              </a:pPr>
              <a:r>
                <a:rPr lang="zh-CN" altLang="en-US" sz="2400" b="1" dirty="0">
                  <a:solidFill>
                    <a:srgbClr val="FFFFFF"/>
                  </a:solidFill>
                  <a:latin typeface="Tahoma" panose="020B0604030504040204" pitchFamily="34" charset="0"/>
                  <a:ea typeface="宋体" panose="02010600030101010101" pitchFamily="2" charset="-122"/>
                </a:rPr>
                <a:t>双字操作</a:t>
              </a:r>
            </a:p>
          </p:txBody>
        </p:sp>
      </p:grpSp>
      <p:sp>
        <p:nvSpPr>
          <p:cNvPr id="29709" name="矩形 289805"/>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文本框 293889"/>
          <p:cNvSpPr txBox="1"/>
          <p:nvPr/>
        </p:nvSpPr>
        <p:spPr>
          <a:xfrm>
            <a:off x="395288" y="828675"/>
            <a:ext cx="8540750" cy="836613"/>
          </a:xfrm>
          <a:prstGeom prst="rect">
            <a:avLst/>
          </a:prstGeom>
          <a:noFill/>
          <a:ln w="9525">
            <a:noFill/>
          </a:ln>
        </p:spPr>
        <p:txBody>
          <a:bodyPr anchor="t"/>
          <a:lstStyle/>
          <a:p>
            <a:pPr lvl="0" indent="0">
              <a:buClrTx/>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指令操作例：若 </a:t>
            </a:r>
            <a:r>
              <a:rPr lang="en-GB" altLang="zh-CN" sz="2400" b="1" dirty="0">
                <a:latin typeface="Arial" panose="020B0604020202020204" pitchFamily="34" charset="0"/>
                <a:ea typeface="宋体" panose="02010600030101010101" pitchFamily="2" charset="-122"/>
              </a:rPr>
              <a:t>DS=5000H, </a:t>
            </a:r>
            <a:r>
              <a:rPr lang="zh-CN" altLang="en-GB" sz="2400" b="1" dirty="0">
                <a:latin typeface="Times New Roman" panose="02020603050405020304" pitchFamily="18" charset="0"/>
                <a:ea typeface="宋体" panose="02010600030101010101" pitchFamily="2" charset="-122"/>
              </a:rPr>
              <a:t> </a:t>
            </a:r>
            <a:r>
              <a:rPr lang="en-GB" altLang="zh-CN" sz="2400" b="1" dirty="0">
                <a:latin typeface="Arial" panose="020B0604020202020204" pitchFamily="34" charset="0"/>
                <a:ea typeface="宋体" panose="02010600030101010101" pitchFamily="2" charset="-122"/>
              </a:rPr>
              <a:t>SI=1300H,  (51300H)=45H,  (51301H)=35H,</a:t>
            </a:r>
            <a:r>
              <a:rPr lang="zh-CN" altLang="en-GB" sz="2400" b="1" dirty="0">
                <a:latin typeface="Times New Roman" panose="02020603050405020304" pitchFamily="18" charset="0"/>
                <a:ea typeface="宋体" panose="02010600030101010101" pitchFamily="2" charset="-122"/>
              </a:rPr>
              <a:t>则执行</a:t>
            </a:r>
            <a:r>
              <a:rPr lang="en-US" altLang="zh-CN" sz="2400" b="1" dirty="0">
                <a:solidFill>
                  <a:srgbClr val="0000FF"/>
                </a:solidFill>
                <a:latin typeface="Arial" panose="020B0604020202020204" pitchFamily="34" charset="0"/>
                <a:ea typeface="宋体" panose="02010600030101010101" pitchFamily="2" charset="-122"/>
              </a:rPr>
              <a:t>MOV  AX</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Arial" panose="020B0604020202020204" pitchFamily="34" charset="0"/>
                <a:ea typeface="宋体" panose="02010600030101010101" pitchFamily="2" charset="-122"/>
              </a:rPr>
              <a:t>[SI]</a:t>
            </a:r>
            <a:r>
              <a:rPr lang="zh-CN" altLang="en-GB" sz="2400" b="1" dirty="0">
                <a:latin typeface="Times New Roman" panose="02020603050405020304" pitchFamily="18" charset="0"/>
                <a:ea typeface="宋体" panose="02010600030101010101" pitchFamily="2" charset="-122"/>
              </a:rPr>
              <a:t>指令后，</a:t>
            </a:r>
            <a:r>
              <a:rPr lang="en-GB" altLang="zh-CN" sz="2400" b="1" dirty="0">
                <a:latin typeface="Arial" panose="020B0604020202020204" pitchFamily="34" charset="0"/>
                <a:ea typeface="宋体" panose="02010600030101010101" pitchFamily="2" charset="-122"/>
              </a:rPr>
              <a:t>AX=3545H</a:t>
            </a:r>
            <a:endParaRPr lang="zh-CN" altLang="en-US" sz="2400" b="1" dirty="0">
              <a:latin typeface="Times New Roman" panose="02020603050405020304" pitchFamily="18" charset="0"/>
              <a:ea typeface="宋体" panose="02010600030101010101" pitchFamily="2" charset="-122"/>
            </a:endParaRPr>
          </a:p>
        </p:txBody>
      </p:sp>
      <p:grpSp>
        <p:nvGrpSpPr>
          <p:cNvPr id="31746" name="组合 293890"/>
          <p:cNvGrpSpPr/>
          <p:nvPr/>
        </p:nvGrpSpPr>
        <p:grpSpPr>
          <a:xfrm>
            <a:off x="468313" y="1684338"/>
            <a:ext cx="8275637" cy="5173349"/>
            <a:chOff x="113" y="527"/>
            <a:chExt cx="5485" cy="3745"/>
          </a:xfrm>
        </p:grpSpPr>
        <p:sp>
          <p:nvSpPr>
            <p:cNvPr id="31747" name="矩形 293891"/>
            <p:cNvSpPr/>
            <p:nvPr/>
          </p:nvSpPr>
          <p:spPr>
            <a:xfrm>
              <a:off x="3696" y="1248"/>
              <a:ext cx="1392" cy="2400"/>
            </a:xfrm>
            <a:prstGeom prst="rect">
              <a:avLst/>
            </a:prstGeom>
            <a:solidFill>
              <a:srgbClr val="99FFCC"/>
            </a:solidFill>
            <a:ln w="57150" cap="flat" cmpd="sng">
              <a:solidFill>
                <a:srgbClr val="008000"/>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1748" name="直接连接符 293892"/>
            <p:cNvSpPr/>
            <p:nvPr/>
          </p:nvSpPr>
          <p:spPr>
            <a:xfrm>
              <a:off x="3696" y="2640"/>
              <a:ext cx="1392" cy="0"/>
            </a:xfrm>
            <a:prstGeom prst="line">
              <a:avLst/>
            </a:prstGeom>
            <a:ln w="38100" cap="flat" cmpd="sng">
              <a:solidFill>
                <a:srgbClr val="006600"/>
              </a:solidFill>
              <a:prstDash val="solid"/>
              <a:round/>
              <a:headEnd type="none" w="med" len="med"/>
              <a:tailEnd type="none" w="med" len="med"/>
            </a:ln>
          </p:spPr>
        </p:sp>
        <p:sp>
          <p:nvSpPr>
            <p:cNvPr id="31749" name="直接连接符 293893"/>
            <p:cNvSpPr/>
            <p:nvPr/>
          </p:nvSpPr>
          <p:spPr>
            <a:xfrm>
              <a:off x="3696" y="2256"/>
              <a:ext cx="1392" cy="0"/>
            </a:xfrm>
            <a:prstGeom prst="line">
              <a:avLst/>
            </a:prstGeom>
            <a:ln w="38100" cap="flat" cmpd="sng">
              <a:solidFill>
                <a:srgbClr val="006600"/>
              </a:solidFill>
              <a:prstDash val="solid"/>
              <a:round/>
              <a:headEnd type="none" w="med" len="med"/>
              <a:tailEnd type="none" w="med" len="med"/>
            </a:ln>
          </p:spPr>
        </p:sp>
        <p:sp>
          <p:nvSpPr>
            <p:cNvPr id="31750" name="直接连接符 293894"/>
            <p:cNvSpPr/>
            <p:nvPr/>
          </p:nvSpPr>
          <p:spPr>
            <a:xfrm>
              <a:off x="3696" y="3039"/>
              <a:ext cx="1392" cy="0"/>
            </a:xfrm>
            <a:prstGeom prst="line">
              <a:avLst/>
            </a:prstGeom>
            <a:ln w="38100" cap="flat" cmpd="sng">
              <a:solidFill>
                <a:srgbClr val="006600"/>
              </a:solidFill>
              <a:prstDash val="solid"/>
              <a:round/>
              <a:headEnd type="none" w="med" len="med"/>
              <a:tailEnd type="none" w="med" len="med"/>
            </a:ln>
          </p:spPr>
        </p:sp>
        <p:sp>
          <p:nvSpPr>
            <p:cNvPr id="31751" name="文本框 293895"/>
            <p:cNvSpPr txBox="1"/>
            <p:nvPr/>
          </p:nvSpPr>
          <p:spPr>
            <a:xfrm>
              <a:off x="4241" y="2296"/>
              <a:ext cx="430" cy="309"/>
            </a:xfrm>
            <a:prstGeom prst="rect">
              <a:avLst/>
            </a:prstGeom>
            <a:noFill/>
            <a:ln w="9525">
              <a:noFill/>
            </a:ln>
          </p:spPr>
          <p:txBody>
            <a:bodyPr lIns="0" tIns="0" rIns="0" bIns="0" anchor="t">
              <a:spAutoFit/>
            </a:bodyPr>
            <a:lstStyle/>
            <a:p>
              <a:pPr lvl="0" indent="0">
                <a:spcBef>
                  <a:spcPct val="50000"/>
                </a:spcBef>
              </a:pPr>
              <a:r>
                <a:rPr lang="en-US" altLang="zh-CN" sz="2800" b="1">
                  <a:solidFill>
                    <a:srgbClr val="FF3300"/>
                  </a:solidFill>
                  <a:latin typeface="Times New Roman" panose="02020603050405020304" pitchFamily="18" charset="0"/>
                  <a:ea typeface="宋体" panose="02010600030101010101" pitchFamily="2" charset="-122"/>
                </a:rPr>
                <a:t>45H</a:t>
              </a:r>
              <a:endParaRPr lang="en-US" altLang="zh-CN" sz="2400">
                <a:latin typeface="Times New Roman" panose="02020603050405020304" pitchFamily="18" charset="0"/>
                <a:ea typeface="宋体" panose="02010600030101010101" pitchFamily="2" charset="-122"/>
              </a:endParaRPr>
            </a:p>
          </p:txBody>
        </p:sp>
        <p:sp>
          <p:nvSpPr>
            <p:cNvPr id="31752" name="文本框 293896"/>
            <p:cNvSpPr txBox="1"/>
            <p:nvPr/>
          </p:nvSpPr>
          <p:spPr>
            <a:xfrm>
              <a:off x="4241" y="2704"/>
              <a:ext cx="430" cy="309"/>
            </a:xfrm>
            <a:prstGeom prst="rect">
              <a:avLst/>
            </a:prstGeom>
            <a:noFill/>
            <a:ln w="9525">
              <a:noFill/>
            </a:ln>
          </p:spPr>
          <p:txBody>
            <a:bodyPr lIns="0" tIns="0" rIns="0" bIns="0" anchor="t">
              <a:spAutoFit/>
            </a:bodyPr>
            <a:lstStyle/>
            <a:p>
              <a:pPr lvl="0" indent="0">
                <a:spcBef>
                  <a:spcPct val="50000"/>
                </a:spcBef>
              </a:pPr>
              <a:r>
                <a:rPr lang="en-US" altLang="zh-CN" sz="2800" b="1">
                  <a:solidFill>
                    <a:srgbClr val="FF3300"/>
                  </a:solidFill>
                  <a:latin typeface="Times New Roman" panose="02020603050405020304" pitchFamily="18" charset="0"/>
                  <a:ea typeface="宋体" panose="02010600030101010101" pitchFamily="2" charset="-122"/>
                </a:rPr>
                <a:t>35H</a:t>
              </a:r>
              <a:endParaRPr lang="en-US" altLang="zh-CN" sz="2400">
                <a:latin typeface="Times New Roman" panose="02020603050405020304" pitchFamily="18" charset="0"/>
                <a:ea typeface="宋体" panose="02010600030101010101" pitchFamily="2" charset="-122"/>
              </a:endParaRPr>
            </a:p>
          </p:txBody>
        </p:sp>
        <p:sp>
          <p:nvSpPr>
            <p:cNvPr id="31753" name="矩形 293897"/>
            <p:cNvSpPr/>
            <p:nvPr/>
          </p:nvSpPr>
          <p:spPr>
            <a:xfrm>
              <a:off x="295" y="799"/>
              <a:ext cx="1200" cy="336"/>
            </a:xfrm>
            <a:prstGeom prst="rect">
              <a:avLst/>
            </a:prstGeom>
            <a:solidFill>
              <a:srgbClr val="99FFCC"/>
            </a:solidFill>
            <a:ln w="57150" cap="flat" cmpd="sng">
              <a:solidFill>
                <a:srgbClr val="006600"/>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1754" name="矩形 293898"/>
            <p:cNvSpPr/>
            <p:nvPr/>
          </p:nvSpPr>
          <p:spPr>
            <a:xfrm>
              <a:off x="1746" y="799"/>
              <a:ext cx="1200" cy="336"/>
            </a:xfrm>
            <a:prstGeom prst="rect">
              <a:avLst/>
            </a:prstGeom>
            <a:solidFill>
              <a:srgbClr val="99FFCC"/>
            </a:solidFill>
            <a:ln w="57150" cap="flat" cmpd="sng">
              <a:solidFill>
                <a:srgbClr val="006600"/>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1755" name="文本框 293899"/>
            <p:cNvSpPr txBox="1"/>
            <p:nvPr/>
          </p:nvSpPr>
          <p:spPr>
            <a:xfrm>
              <a:off x="612" y="845"/>
              <a:ext cx="490" cy="309"/>
            </a:xfrm>
            <a:prstGeom prst="rect">
              <a:avLst/>
            </a:prstGeom>
            <a:noFill/>
            <a:ln w="9525">
              <a:noFill/>
            </a:ln>
          </p:spPr>
          <p:txBody>
            <a:bodyPr lIns="0" tIns="0" rIns="0" bIns="0" anchor="t">
              <a:spAutoFit/>
            </a:bodyPr>
            <a:lstStyle/>
            <a:p>
              <a:pPr lvl="0" indent="0" algn="ctr">
                <a:spcBef>
                  <a:spcPct val="50000"/>
                </a:spcBef>
              </a:pPr>
              <a:r>
                <a:rPr lang="en-US" altLang="zh-CN" sz="2800" b="1">
                  <a:solidFill>
                    <a:srgbClr val="FF3300"/>
                  </a:solidFill>
                  <a:latin typeface="Times New Roman" panose="02020603050405020304" pitchFamily="18" charset="0"/>
                  <a:ea typeface="宋体" panose="02010600030101010101" pitchFamily="2" charset="-122"/>
                </a:rPr>
                <a:t>5000</a:t>
              </a:r>
              <a:endParaRPr lang="en-US" altLang="zh-CN" sz="2400">
                <a:latin typeface="Times New Roman" panose="02020603050405020304" pitchFamily="18" charset="0"/>
                <a:ea typeface="宋体" panose="02010600030101010101" pitchFamily="2" charset="-122"/>
              </a:endParaRPr>
            </a:p>
          </p:txBody>
        </p:sp>
        <p:sp>
          <p:nvSpPr>
            <p:cNvPr id="31756" name="文本框 293900"/>
            <p:cNvSpPr txBox="1"/>
            <p:nvPr/>
          </p:nvSpPr>
          <p:spPr>
            <a:xfrm>
              <a:off x="2073" y="835"/>
              <a:ext cx="498" cy="309"/>
            </a:xfrm>
            <a:prstGeom prst="rect">
              <a:avLst/>
            </a:prstGeom>
            <a:noFill/>
            <a:ln w="9525">
              <a:noFill/>
            </a:ln>
          </p:spPr>
          <p:txBody>
            <a:bodyPr lIns="0" tIns="0" rIns="0" bIns="0" anchor="t">
              <a:spAutoFit/>
            </a:bodyPr>
            <a:lstStyle/>
            <a:p>
              <a:pPr lvl="0" indent="0" algn="ctr">
                <a:spcBef>
                  <a:spcPct val="50000"/>
                </a:spcBef>
              </a:pPr>
              <a:r>
                <a:rPr lang="en-US" altLang="zh-CN" sz="2800" b="1">
                  <a:solidFill>
                    <a:srgbClr val="FF3300"/>
                  </a:solidFill>
                  <a:latin typeface="Times New Roman" panose="02020603050405020304" pitchFamily="18" charset="0"/>
                  <a:ea typeface="宋体" panose="02010600030101010101" pitchFamily="2" charset="-122"/>
                </a:rPr>
                <a:t>1300</a:t>
              </a:r>
              <a:endParaRPr lang="en-US" altLang="zh-CN" sz="2400">
                <a:latin typeface="Times New Roman" panose="02020603050405020304" pitchFamily="18" charset="0"/>
                <a:ea typeface="宋体" panose="02010600030101010101" pitchFamily="2" charset="-122"/>
              </a:endParaRPr>
            </a:p>
          </p:txBody>
        </p:sp>
        <p:sp>
          <p:nvSpPr>
            <p:cNvPr id="31757" name="文本框 293901"/>
            <p:cNvSpPr txBox="1"/>
            <p:nvPr/>
          </p:nvSpPr>
          <p:spPr>
            <a:xfrm>
              <a:off x="612" y="527"/>
              <a:ext cx="528" cy="309"/>
            </a:xfrm>
            <a:prstGeom prst="rect">
              <a:avLst/>
            </a:prstGeom>
            <a:noFill/>
            <a:ln w="9525">
              <a:noFill/>
            </a:ln>
          </p:spPr>
          <p:txBody>
            <a:bodyPr lIns="0" tIns="0" rIns="0" bIns="0" anchor="t">
              <a:spAutoFit/>
            </a:bodyPr>
            <a:lstStyle/>
            <a:p>
              <a:pPr lvl="0" indent="0" algn="ctr">
                <a:spcBef>
                  <a:spcPct val="50000"/>
                </a:spcBef>
              </a:pPr>
              <a:r>
                <a:rPr lang="en-US" altLang="zh-CN" sz="2800" b="1">
                  <a:latin typeface="Times New Roman" panose="02020603050405020304" pitchFamily="18" charset="0"/>
                  <a:ea typeface="宋体" panose="02010600030101010101" pitchFamily="2" charset="-122"/>
                </a:rPr>
                <a:t>DS</a:t>
              </a:r>
              <a:endParaRPr lang="en-US" altLang="zh-CN" sz="2400">
                <a:latin typeface="Times New Roman" panose="02020603050405020304" pitchFamily="18" charset="0"/>
                <a:ea typeface="宋体" panose="02010600030101010101" pitchFamily="2" charset="-122"/>
              </a:endParaRPr>
            </a:p>
          </p:txBody>
        </p:sp>
        <p:sp>
          <p:nvSpPr>
            <p:cNvPr id="31758" name="文本框 293902"/>
            <p:cNvSpPr txBox="1"/>
            <p:nvPr/>
          </p:nvSpPr>
          <p:spPr>
            <a:xfrm>
              <a:off x="2064" y="527"/>
              <a:ext cx="528" cy="309"/>
            </a:xfrm>
            <a:prstGeom prst="rect">
              <a:avLst/>
            </a:prstGeom>
            <a:noFill/>
            <a:ln w="9525">
              <a:noFill/>
            </a:ln>
          </p:spPr>
          <p:txBody>
            <a:bodyPr lIns="0" tIns="0" rIns="0" bIns="0" anchor="t">
              <a:spAutoFit/>
            </a:bodyPr>
            <a:lstStyle/>
            <a:p>
              <a:pPr lvl="0" indent="0" algn="ctr">
                <a:spcBef>
                  <a:spcPct val="50000"/>
                </a:spcBef>
              </a:pPr>
              <a:r>
                <a:rPr lang="en-US" altLang="zh-CN" sz="2800" b="1">
                  <a:latin typeface="Times New Roman" panose="02020603050405020304" pitchFamily="18" charset="0"/>
                  <a:ea typeface="宋体" panose="02010600030101010101" pitchFamily="2" charset="-122"/>
                </a:rPr>
                <a:t>SI</a:t>
              </a:r>
              <a:endParaRPr lang="en-US" altLang="zh-CN" sz="2400">
                <a:latin typeface="Times New Roman" panose="02020603050405020304" pitchFamily="18" charset="0"/>
                <a:ea typeface="宋体" panose="02010600030101010101" pitchFamily="2" charset="-122"/>
              </a:endParaRPr>
            </a:p>
          </p:txBody>
        </p:sp>
        <p:sp>
          <p:nvSpPr>
            <p:cNvPr id="31759" name="矩形 293903"/>
            <p:cNvSpPr/>
            <p:nvPr/>
          </p:nvSpPr>
          <p:spPr>
            <a:xfrm>
              <a:off x="528" y="1470"/>
              <a:ext cx="672" cy="317"/>
            </a:xfrm>
            <a:prstGeom prst="rect">
              <a:avLst/>
            </a:prstGeom>
            <a:solidFill>
              <a:srgbClr val="3366CC"/>
            </a:solidFill>
            <a:ln w="12700" cap="flat" cmpd="sng">
              <a:solidFill>
                <a:schemeClr val="tx1"/>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1760" name="文本框 293904"/>
            <p:cNvSpPr txBox="1"/>
            <p:nvPr/>
          </p:nvSpPr>
          <p:spPr>
            <a:xfrm>
              <a:off x="537" y="1470"/>
              <a:ext cx="829" cy="356"/>
            </a:xfrm>
            <a:prstGeom prst="rect">
              <a:avLst/>
            </a:prstGeom>
            <a:noFill/>
            <a:ln w="9525">
              <a:noFill/>
            </a:ln>
          </p:spPr>
          <p:txBody>
            <a:bodyPr lIns="0" tIns="0" rIns="0" bIns="0" anchor="t">
              <a:spAutoFit/>
            </a:bodyPr>
            <a:lstStyle/>
            <a:p>
              <a:pPr lvl="0" indent="0" algn="dist">
                <a:spcBef>
                  <a:spcPct val="50000"/>
                </a:spcBef>
              </a:pPr>
              <a:r>
                <a:rPr lang="en-US" altLang="zh-CN" sz="3200" dirty="0">
                  <a:solidFill>
                    <a:srgbClr val="FF00FF"/>
                  </a:solidFill>
                  <a:latin typeface="Arial" panose="020B0604020202020204" pitchFamily="34" charset="0"/>
                  <a:ea typeface="宋体" panose="02010600030101010101" pitchFamily="2" charset="-122"/>
                </a:rPr>
                <a:t>5000</a:t>
              </a:r>
              <a:r>
                <a:rPr lang="en-US" altLang="zh-CN" sz="3200" dirty="0">
                  <a:latin typeface="Arial" panose="020B0604020202020204" pitchFamily="34" charset="0"/>
                  <a:ea typeface="宋体" panose="02010600030101010101" pitchFamily="2" charset="-122"/>
                </a:rPr>
                <a:t>0</a:t>
              </a:r>
            </a:p>
          </p:txBody>
        </p:sp>
        <p:sp>
          <p:nvSpPr>
            <p:cNvPr id="31761" name="直接连接符 293905"/>
            <p:cNvSpPr/>
            <p:nvPr/>
          </p:nvSpPr>
          <p:spPr>
            <a:xfrm>
              <a:off x="158" y="2160"/>
              <a:ext cx="1271" cy="0"/>
            </a:xfrm>
            <a:prstGeom prst="line">
              <a:avLst/>
            </a:prstGeom>
            <a:ln w="57150" cap="flat" cmpd="sng">
              <a:solidFill>
                <a:schemeClr val="tx1"/>
              </a:solidFill>
              <a:prstDash val="solid"/>
              <a:round/>
              <a:headEnd type="none" w="med" len="med"/>
              <a:tailEnd type="none" w="med" len="med"/>
            </a:ln>
          </p:spPr>
        </p:sp>
        <p:sp>
          <p:nvSpPr>
            <p:cNvPr id="31762" name="文本框 293906"/>
            <p:cNvSpPr txBox="1"/>
            <p:nvPr/>
          </p:nvSpPr>
          <p:spPr>
            <a:xfrm>
              <a:off x="531" y="2251"/>
              <a:ext cx="834" cy="353"/>
            </a:xfrm>
            <a:prstGeom prst="rect">
              <a:avLst/>
            </a:prstGeom>
            <a:noFill/>
            <a:ln w="9525">
              <a:noFill/>
            </a:ln>
          </p:spPr>
          <p:txBody>
            <a:bodyPr lIns="0" tIns="0" rIns="0" bIns="0" anchor="t">
              <a:spAutoFit/>
            </a:bodyPr>
            <a:lstStyle/>
            <a:p>
              <a:pPr lvl="0" indent="0" algn="dist">
                <a:spcBef>
                  <a:spcPct val="50000"/>
                </a:spcBef>
              </a:pPr>
              <a:r>
                <a:rPr lang="en-US" altLang="zh-CN" sz="3200">
                  <a:latin typeface="Arial" panose="020B0604020202020204" pitchFamily="34" charset="0"/>
                  <a:ea typeface="宋体" panose="02010600030101010101" pitchFamily="2" charset="-122"/>
                </a:rPr>
                <a:t>51300</a:t>
              </a:r>
              <a:endParaRPr lang="en-US" altLang="zh-CN" sz="2400">
                <a:latin typeface="Arial" panose="020B0604020202020204" pitchFamily="34" charset="0"/>
                <a:ea typeface="宋体" panose="02010600030101010101" pitchFamily="2" charset="-122"/>
              </a:endParaRPr>
            </a:p>
          </p:txBody>
        </p:sp>
        <p:sp>
          <p:nvSpPr>
            <p:cNvPr id="31763" name="文本框 293907"/>
            <p:cNvSpPr txBox="1"/>
            <p:nvPr/>
          </p:nvSpPr>
          <p:spPr>
            <a:xfrm>
              <a:off x="2496" y="2257"/>
              <a:ext cx="1104" cy="352"/>
            </a:xfrm>
            <a:prstGeom prst="rect">
              <a:avLst/>
            </a:prstGeom>
            <a:noFill/>
            <a:ln w="9525">
              <a:noFill/>
            </a:ln>
          </p:spPr>
          <p:txBody>
            <a:bodyPr lIns="0" tIns="0" rIns="0" bIns="0" anchor="t">
              <a:spAutoFit/>
            </a:bodyPr>
            <a:lstStyle/>
            <a:p>
              <a:pPr lvl="0" indent="0" algn="r">
                <a:spcBef>
                  <a:spcPct val="50000"/>
                </a:spcBef>
              </a:pPr>
              <a:r>
                <a:rPr lang="zh-CN" altLang="en-US" sz="2400" dirty="0">
                  <a:latin typeface="Times New Roman" panose="02020603050405020304" pitchFamily="18" charset="0"/>
                  <a:ea typeface="宋体" panose="02010600030101010101" pitchFamily="2" charset="-122"/>
                </a:rPr>
                <a:t>   </a:t>
              </a:r>
              <a:r>
                <a:rPr lang="en-US" altLang="zh-CN" sz="3200" dirty="0">
                  <a:latin typeface="Arial" panose="020B0604020202020204" pitchFamily="34" charset="0"/>
                  <a:ea typeface="宋体" panose="02010600030101010101" pitchFamily="2" charset="-122"/>
                </a:rPr>
                <a:t>51300H</a:t>
              </a:r>
              <a:endParaRPr lang="en-US" altLang="zh-CN" sz="2400" dirty="0">
                <a:latin typeface="Arial" panose="020B0604020202020204" pitchFamily="34" charset="0"/>
                <a:ea typeface="宋体" panose="02010600030101010101" pitchFamily="2" charset="-122"/>
              </a:endParaRPr>
            </a:p>
          </p:txBody>
        </p:sp>
        <p:sp>
          <p:nvSpPr>
            <p:cNvPr id="31764" name="直接连接符 293908"/>
            <p:cNvSpPr/>
            <p:nvPr/>
          </p:nvSpPr>
          <p:spPr>
            <a:xfrm>
              <a:off x="884" y="1162"/>
              <a:ext cx="0" cy="288"/>
            </a:xfrm>
            <a:prstGeom prst="line">
              <a:avLst/>
            </a:prstGeom>
            <a:ln w="57150" cap="flat" cmpd="sng">
              <a:solidFill>
                <a:schemeClr val="tx1"/>
              </a:solidFill>
              <a:prstDash val="solid"/>
              <a:round/>
              <a:headEnd type="none" w="med" len="med"/>
              <a:tailEnd type="triangle" w="med" len="med"/>
            </a:ln>
          </p:spPr>
        </p:sp>
        <p:grpSp>
          <p:nvGrpSpPr>
            <p:cNvPr id="31765" name="组合 293909"/>
            <p:cNvGrpSpPr/>
            <p:nvPr/>
          </p:nvGrpSpPr>
          <p:grpSpPr>
            <a:xfrm>
              <a:off x="1392" y="1162"/>
              <a:ext cx="912" cy="806"/>
              <a:chOff x="1392" y="960"/>
              <a:chExt cx="912" cy="1008"/>
            </a:xfrm>
          </p:grpSpPr>
          <p:sp>
            <p:nvSpPr>
              <p:cNvPr id="31766" name="直接连接符 293910"/>
              <p:cNvSpPr/>
              <p:nvPr/>
            </p:nvSpPr>
            <p:spPr>
              <a:xfrm>
                <a:off x="2304" y="960"/>
                <a:ext cx="0" cy="1008"/>
              </a:xfrm>
              <a:prstGeom prst="line">
                <a:avLst/>
              </a:prstGeom>
              <a:ln w="38100" cap="flat" cmpd="sng">
                <a:solidFill>
                  <a:schemeClr val="tx1"/>
                </a:solidFill>
                <a:prstDash val="solid"/>
                <a:round/>
                <a:headEnd type="none" w="med" len="med"/>
                <a:tailEnd type="none" w="med" len="med"/>
              </a:ln>
            </p:spPr>
          </p:sp>
          <p:sp>
            <p:nvSpPr>
              <p:cNvPr id="31767" name="直接连接符 293911"/>
              <p:cNvSpPr/>
              <p:nvPr/>
            </p:nvSpPr>
            <p:spPr>
              <a:xfrm flipH="1">
                <a:off x="1392" y="1968"/>
                <a:ext cx="912" cy="0"/>
              </a:xfrm>
              <a:prstGeom prst="line">
                <a:avLst/>
              </a:prstGeom>
              <a:ln w="38100" cap="flat" cmpd="sng">
                <a:solidFill>
                  <a:schemeClr val="tx1"/>
                </a:solidFill>
                <a:prstDash val="solid"/>
                <a:round/>
                <a:headEnd type="none" w="med" len="med"/>
                <a:tailEnd type="triangle" w="med" len="med"/>
              </a:ln>
            </p:spPr>
          </p:sp>
        </p:grpSp>
        <p:sp>
          <p:nvSpPr>
            <p:cNvPr id="31768" name="直接连接符 293912"/>
            <p:cNvSpPr/>
            <p:nvPr/>
          </p:nvSpPr>
          <p:spPr>
            <a:xfrm>
              <a:off x="1429" y="2432"/>
              <a:ext cx="1224" cy="0"/>
            </a:xfrm>
            <a:prstGeom prst="line">
              <a:avLst/>
            </a:prstGeom>
            <a:ln w="38100" cap="flat" cmpd="sng">
              <a:solidFill>
                <a:schemeClr val="tx1"/>
              </a:solidFill>
              <a:prstDash val="solid"/>
              <a:round/>
              <a:headEnd type="none" w="med" len="med"/>
              <a:tailEnd type="triangle" w="med" len="lg"/>
            </a:ln>
          </p:spPr>
        </p:sp>
        <p:sp>
          <p:nvSpPr>
            <p:cNvPr id="31769" name="矩形 293913"/>
            <p:cNvSpPr/>
            <p:nvPr/>
          </p:nvSpPr>
          <p:spPr>
            <a:xfrm>
              <a:off x="1296" y="3169"/>
              <a:ext cx="1248" cy="480"/>
            </a:xfrm>
            <a:prstGeom prst="rect">
              <a:avLst/>
            </a:prstGeom>
            <a:solidFill>
              <a:srgbClr val="00FFFF"/>
            </a:solidFill>
            <a:ln w="57150" cap="flat" cmpd="sng">
              <a:solidFill>
                <a:srgbClr val="006600"/>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1770" name="直接连接符 293914"/>
            <p:cNvSpPr/>
            <p:nvPr/>
          </p:nvSpPr>
          <p:spPr>
            <a:xfrm>
              <a:off x="1920" y="3169"/>
              <a:ext cx="0" cy="480"/>
            </a:xfrm>
            <a:prstGeom prst="line">
              <a:avLst/>
            </a:prstGeom>
            <a:ln w="38100" cap="flat" cmpd="sng">
              <a:solidFill>
                <a:srgbClr val="006600"/>
              </a:solidFill>
              <a:prstDash val="dash"/>
              <a:round/>
              <a:headEnd type="none" w="med" len="med"/>
              <a:tailEnd type="none" w="med" len="med"/>
            </a:ln>
          </p:spPr>
        </p:sp>
        <p:sp>
          <p:nvSpPr>
            <p:cNvPr id="31771" name="文本框 293915"/>
            <p:cNvSpPr txBox="1"/>
            <p:nvPr/>
          </p:nvSpPr>
          <p:spPr>
            <a:xfrm>
              <a:off x="1632" y="2833"/>
              <a:ext cx="527" cy="309"/>
            </a:xfrm>
            <a:prstGeom prst="rect">
              <a:avLst/>
            </a:prstGeom>
            <a:noFill/>
            <a:ln w="9525">
              <a:noFill/>
            </a:ln>
          </p:spPr>
          <p:txBody>
            <a:bodyPr lIns="0" tIns="0" rIns="0" bIns="0" anchor="t">
              <a:spAutoFit/>
            </a:bodyPr>
            <a:lstStyle/>
            <a:p>
              <a:pPr lvl="0" indent="0" algn="ctr">
                <a:spcBef>
                  <a:spcPct val="50000"/>
                </a:spcBef>
              </a:pPr>
              <a:r>
                <a:rPr lang="en-US" altLang="zh-CN" sz="2800" b="1" dirty="0">
                  <a:latin typeface="Times New Roman" panose="02020603050405020304" pitchFamily="18" charset="0"/>
                  <a:ea typeface="宋体" panose="02010600030101010101" pitchFamily="2" charset="-122"/>
                </a:rPr>
                <a:t>AX</a:t>
              </a:r>
              <a:endParaRPr lang="en-US" altLang="zh-CN" sz="2400" dirty="0">
                <a:latin typeface="Times New Roman" panose="02020603050405020304" pitchFamily="18" charset="0"/>
                <a:ea typeface="宋体" panose="02010600030101010101" pitchFamily="2" charset="-122"/>
              </a:endParaRPr>
            </a:p>
          </p:txBody>
        </p:sp>
        <p:sp>
          <p:nvSpPr>
            <p:cNvPr id="31772" name="文本框 293916"/>
            <p:cNvSpPr txBox="1"/>
            <p:nvPr/>
          </p:nvSpPr>
          <p:spPr>
            <a:xfrm>
              <a:off x="4014" y="935"/>
              <a:ext cx="768" cy="309"/>
            </a:xfrm>
            <a:prstGeom prst="rect">
              <a:avLst/>
            </a:prstGeom>
            <a:noFill/>
            <a:ln w="9525">
              <a:noFill/>
            </a:ln>
          </p:spPr>
          <p:txBody>
            <a:bodyPr lIns="0" tIns="0" rIns="0" bIns="0" anchor="t">
              <a:spAutoFit/>
            </a:bodyPr>
            <a:lstStyle/>
            <a:p>
              <a:pPr lvl="0" indent="0">
                <a:spcBef>
                  <a:spcPct val="50000"/>
                </a:spcBef>
              </a:pPr>
              <a:r>
                <a:rPr lang="zh-CN" altLang="en-US" sz="2800" b="1" dirty="0">
                  <a:solidFill>
                    <a:srgbClr val="FF00FF"/>
                  </a:solidFill>
                  <a:latin typeface="Times New Roman" panose="02020603050405020304" pitchFamily="18" charset="0"/>
                  <a:ea typeface="宋体" panose="02010600030101010101" pitchFamily="2" charset="-122"/>
                </a:rPr>
                <a:t>存储器</a:t>
              </a:r>
              <a:endParaRPr lang="zh-CN" altLang="en-US" sz="2400">
                <a:solidFill>
                  <a:srgbClr val="FF00FF"/>
                </a:solidFill>
                <a:latin typeface="Times New Roman" panose="02020603050405020304" pitchFamily="18" charset="0"/>
                <a:ea typeface="宋体" panose="02010600030101010101" pitchFamily="2" charset="-122"/>
              </a:endParaRPr>
            </a:p>
          </p:txBody>
        </p:sp>
        <p:sp>
          <p:nvSpPr>
            <p:cNvPr id="31773" name="任意多边形 293917"/>
            <p:cNvSpPr/>
            <p:nvPr/>
          </p:nvSpPr>
          <p:spPr>
            <a:xfrm>
              <a:off x="1632" y="2928"/>
              <a:ext cx="2160" cy="1344"/>
            </a:xfrm>
            <a:custGeom>
              <a:avLst/>
              <a:gdLst/>
              <a:ahLst/>
              <a:cxnLst/>
              <a:rect l="0" t="0" r="0" b="0"/>
              <a:pathLst>
                <a:path w="2112" h="1096">
                  <a:moveTo>
                    <a:pt x="2112" y="0"/>
                  </a:moveTo>
                  <a:cubicBezTo>
                    <a:pt x="1808" y="460"/>
                    <a:pt x="1504" y="920"/>
                    <a:pt x="1152" y="1008"/>
                  </a:cubicBezTo>
                  <a:cubicBezTo>
                    <a:pt x="800" y="1096"/>
                    <a:pt x="400" y="812"/>
                    <a:pt x="0" y="528"/>
                  </a:cubicBezTo>
                </a:path>
              </a:pathLst>
            </a:custGeom>
            <a:noFill/>
            <a:ln w="38100" cap="flat" cmpd="sng">
              <a:solidFill>
                <a:schemeClr val="tx2"/>
              </a:solidFill>
              <a:prstDash val="solid"/>
              <a:round/>
              <a:headEnd type="none" w="med" len="med"/>
              <a:tailEnd type="triangle" w="med" len="lg"/>
            </a:ln>
          </p:spPr>
          <p:txBody>
            <a:bodyPr/>
            <a:lstStyle/>
            <a:p>
              <a:endParaRPr lang="zh-CN" altLang="en-US"/>
            </a:p>
          </p:txBody>
        </p:sp>
        <p:sp>
          <p:nvSpPr>
            <p:cNvPr id="31774" name="任意多边形 293918"/>
            <p:cNvSpPr/>
            <p:nvPr/>
          </p:nvSpPr>
          <p:spPr>
            <a:xfrm>
              <a:off x="2544" y="2448"/>
              <a:ext cx="1248" cy="1057"/>
            </a:xfrm>
            <a:custGeom>
              <a:avLst/>
              <a:gdLst/>
              <a:ahLst/>
              <a:cxnLst/>
              <a:rect l="0" t="0" r="0" b="0"/>
              <a:pathLst>
                <a:path w="1488" h="864">
                  <a:moveTo>
                    <a:pt x="1488" y="0"/>
                  </a:moveTo>
                  <a:cubicBezTo>
                    <a:pt x="1348" y="264"/>
                    <a:pt x="1208" y="528"/>
                    <a:pt x="960" y="672"/>
                  </a:cubicBezTo>
                  <a:cubicBezTo>
                    <a:pt x="712" y="816"/>
                    <a:pt x="356" y="840"/>
                    <a:pt x="0" y="864"/>
                  </a:cubicBezTo>
                </a:path>
              </a:pathLst>
            </a:custGeom>
            <a:noFill/>
            <a:ln w="38100" cap="flat" cmpd="sng">
              <a:solidFill>
                <a:schemeClr val="tx2"/>
              </a:solidFill>
              <a:prstDash val="solid"/>
              <a:round/>
              <a:headEnd type="none" w="med" len="med"/>
              <a:tailEnd type="triangle" w="med" len="lg"/>
            </a:ln>
          </p:spPr>
          <p:txBody>
            <a:bodyPr/>
            <a:lstStyle/>
            <a:p>
              <a:endParaRPr lang="zh-CN" altLang="en-US"/>
            </a:p>
          </p:txBody>
        </p:sp>
        <p:sp>
          <p:nvSpPr>
            <p:cNvPr id="31775" name="椭圆 293919"/>
            <p:cNvSpPr/>
            <p:nvPr/>
          </p:nvSpPr>
          <p:spPr>
            <a:xfrm>
              <a:off x="3792" y="2880"/>
              <a:ext cx="96" cy="96"/>
            </a:xfrm>
            <a:prstGeom prst="ellipse">
              <a:avLst/>
            </a:prstGeom>
            <a:solidFill>
              <a:schemeClr val="tx2"/>
            </a:solidFill>
            <a:ln w="9525">
              <a:noFill/>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1776" name="椭圆 293920"/>
            <p:cNvSpPr/>
            <p:nvPr/>
          </p:nvSpPr>
          <p:spPr>
            <a:xfrm>
              <a:off x="3792" y="2400"/>
              <a:ext cx="96" cy="96"/>
            </a:xfrm>
            <a:prstGeom prst="ellipse">
              <a:avLst/>
            </a:prstGeom>
            <a:solidFill>
              <a:schemeClr val="tx2"/>
            </a:solidFill>
            <a:ln w="9525">
              <a:noFill/>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1777" name="右大括号 293921"/>
            <p:cNvSpPr/>
            <p:nvPr/>
          </p:nvSpPr>
          <p:spPr>
            <a:xfrm>
              <a:off x="5167" y="1894"/>
              <a:ext cx="117" cy="1611"/>
            </a:xfrm>
            <a:prstGeom prst="rightBrace">
              <a:avLst>
                <a:gd name="adj1" fmla="val 106024"/>
                <a:gd name="adj2" fmla="val 50000"/>
              </a:avLst>
            </a:prstGeom>
            <a:noFill/>
            <a:ln w="57150" cap="flat" cmpd="sng">
              <a:solidFill>
                <a:schemeClr val="tx2"/>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1778" name="文本框 293922"/>
            <p:cNvSpPr txBox="1"/>
            <p:nvPr/>
          </p:nvSpPr>
          <p:spPr>
            <a:xfrm>
              <a:off x="5315" y="2388"/>
              <a:ext cx="283" cy="815"/>
            </a:xfrm>
            <a:prstGeom prst="rect">
              <a:avLst/>
            </a:prstGeom>
            <a:noFill/>
            <a:ln w="9525">
              <a:noFill/>
            </a:ln>
          </p:spPr>
          <p:txBody>
            <a:bodyPr vert="eaVert" lIns="0" tIns="0" rIns="0" bIns="0" anchor="t">
              <a:spAutoFit/>
            </a:bodyPr>
            <a:lstStyle/>
            <a:p>
              <a:pPr lvl="0" indent="0">
                <a:spcBef>
                  <a:spcPct val="50000"/>
                </a:spcBef>
              </a:pPr>
              <a:r>
                <a:rPr lang="zh-CN" altLang="en-US" sz="2800" dirty="0">
                  <a:latin typeface="Times New Roman" panose="02020603050405020304" pitchFamily="18" charset="0"/>
                  <a:ea typeface="宋体" panose="02010600030101010101" pitchFamily="2" charset="-122"/>
                </a:rPr>
                <a:t>数据段</a:t>
              </a:r>
              <a:endParaRPr lang="zh-CN" altLang="en-US" sz="2400">
                <a:latin typeface="Times New Roman" panose="02020603050405020304" pitchFamily="18" charset="0"/>
                <a:ea typeface="宋体" panose="02010600030101010101" pitchFamily="2" charset="-122"/>
              </a:endParaRPr>
            </a:p>
          </p:txBody>
        </p:sp>
        <p:sp>
          <p:nvSpPr>
            <p:cNvPr id="31779" name="文本框 293923"/>
            <p:cNvSpPr txBox="1"/>
            <p:nvPr/>
          </p:nvSpPr>
          <p:spPr>
            <a:xfrm>
              <a:off x="113" y="1797"/>
              <a:ext cx="318" cy="353"/>
            </a:xfrm>
            <a:prstGeom prst="rect">
              <a:avLst/>
            </a:prstGeom>
            <a:noFill/>
            <a:ln w="9525">
              <a:noFill/>
            </a:ln>
          </p:spPr>
          <p:txBody>
            <a:bodyPr lIns="0" tIns="0" rIns="0" bIns="0" anchor="t">
              <a:spAutoFit/>
            </a:bodyPr>
            <a:lstStyle/>
            <a:p>
              <a:pPr lvl="0" indent="0">
                <a:spcBef>
                  <a:spcPct val="50000"/>
                </a:spcBef>
              </a:pPr>
              <a:r>
                <a:rPr lang="zh-CN" altLang="en-US" sz="2400">
                  <a:latin typeface="Arial" panose="020B0604020202020204" pitchFamily="34" charset="0"/>
                  <a:ea typeface="宋体" panose="02010600030101010101" pitchFamily="2" charset="-122"/>
                </a:rPr>
                <a:t> </a:t>
              </a:r>
              <a:r>
                <a:rPr lang="en-US" altLang="zh-CN" sz="3200">
                  <a:latin typeface="Arial" panose="020B0604020202020204" pitchFamily="34" charset="0"/>
                  <a:ea typeface="宋体" panose="02010600030101010101" pitchFamily="2" charset="-122"/>
                </a:rPr>
                <a:t>+)  </a:t>
              </a:r>
              <a:endParaRPr lang="en-US" altLang="zh-CN" sz="2400">
                <a:latin typeface="Arial" panose="020B0604020202020204" pitchFamily="34" charset="0"/>
                <a:ea typeface="宋体" panose="02010600030101010101" pitchFamily="2" charset="-122"/>
              </a:endParaRPr>
            </a:p>
          </p:txBody>
        </p:sp>
        <p:sp>
          <p:nvSpPr>
            <p:cNvPr id="31780" name="文本框 293924"/>
            <p:cNvSpPr txBox="1"/>
            <p:nvPr/>
          </p:nvSpPr>
          <p:spPr>
            <a:xfrm>
              <a:off x="701" y="1796"/>
              <a:ext cx="655" cy="353"/>
            </a:xfrm>
            <a:prstGeom prst="rect">
              <a:avLst/>
            </a:prstGeom>
            <a:noFill/>
            <a:ln w="9525">
              <a:noFill/>
            </a:ln>
          </p:spPr>
          <p:txBody>
            <a:bodyPr lIns="0" tIns="0" rIns="0" bIns="0" anchor="t">
              <a:spAutoFit/>
            </a:bodyPr>
            <a:lstStyle/>
            <a:p>
              <a:pPr lvl="0" indent="0" algn="dist">
                <a:spcBef>
                  <a:spcPct val="50000"/>
                </a:spcBef>
              </a:pPr>
              <a:r>
                <a:rPr lang="en-US" altLang="zh-CN" sz="3200">
                  <a:latin typeface="Arial" panose="020B0604020202020204" pitchFamily="34" charset="0"/>
                  <a:ea typeface="宋体" panose="02010600030101010101" pitchFamily="2" charset="-122"/>
                </a:rPr>
                <a:t>1300</a:t>
              </a:r>
              <a:endParaRPr lang="en-US" altLang="zh-CN" sz="2400">
                <a:latin typeface="Arial" panose="020B0604020202020204" pitchFamily="34" charset="0"/>
                <a:ea typeface="宋体" panose="02010600030101010101" pitchFamily="2" charset="-122"/>
              </a:endParaRPr>
            </a:p>
          </p:txBody>
        </p:sp>
        <p:sp>
          <p:nvSpPr>
            <p:cNvPr id="31781" name="文本框 293925"/>
            <p:cNvSpPr txBox="1"/>
            <p:nvPr/>
          </p:nvSpPr>
          <p:spPr>
            <a:xfrm>
              <a:off x="2018" y="3255"/>
              <a:ext cx="430" cy="309"/>
            </a:xfrm>
            <a:prstGeom prst="rect">
              <a:avLst/>
            </a:prstGeom>
            <a:noFill/>
            <a:ln w="9525">
              <a:noFill/>
            </a:ln>
          </p:spPr>
          <p:txBody>
            <a:bodyPr lIns="0" tIns="0" rIns="0" bIns="0" anchor="t">
              <a:spAutoFit/>
            </a:bodyPr>
            <a:lstStyle/>
            <a:p>
              <a:pPr lvl="0" indent="0">
                <a:spcBef>
                  <a:spcPct val="50000"/>
                </a:spcBef>
              </a:pPr>
              <a:r>
                <a:rPr lang="en-US" altLang="zh-CN" sz="2800" b="1">
                  <a:solidFill>
                    <a:srgbClr val="FF3300"/>
                  </a:solidFill>
                  <a:latin typeface="Times New Roman" panose="02020603050405020304" pitchFamily="18" charset="0"/>
                  <a:ea typeface="宋体" panose="02010600030101010101" pitchFamily="2" charset="-122"/>
                </a:rPr>
                <a:t>45H</a:t>
              </a:r>
              <a:endParaRPr lang="en-US" altLang="zh-CN" sz="2400">
                <a:latin typeface="Times New Roman" panose="02020603050405020304" pitchFamily="18" charset="0"/>
                <a:ea typeface="宋体" panose="02010600030101010101" pitchFamily="2" charset="-122"/>
              </a:endParaRPr>
            </a:p>
          </p:txBody>
        </p:sp>
        <p:sp>
          <p:nvSpPr>
            <p:cNvPr id="31782" name="文本框 293926"/>
            <p:cNvSpPr txBox="1"/>
            <p:nvPr/>
          </p:nvSpPr>
          <p:spPr>
            <a:xfrm>
              <a:off x="1429" y="3255"/>
              <a:ext cx="430" cy="309"/>
            </a:xfrm>
            <a:prstGeom prst="rect">
              <a:avLst/>
            </a:prstGeom>
            <a:noFill/>
            <a:ln w="9525">
              <a:noFill/>
            </a:ln>
          </p:spPr>
          <p:txBody>
            <a:bodyPr lIns="0" tIns="0" rIns="0" bIns="0" anchor="t">
              <a:spAutoFit/>
            </a:bodyPr>
            <a:lstStyle/>
            <a:p>
              <a:pPr lvl="0" indent="0">
                <a:spcBef>
                  <a:spcPct val="50000"/>
                </a:spcBef>
              </a:pPr>
              <a:r>
                <a:rPr lang="en-US" altLang="zh-CN" sz="2800" b="1">
                  <a:solidFill>
                    <a:srgbClr val="FF3300"/>
                  </a:solidFill>
                  <a:latin typeface="Times New Roman" panose="02020603050405020304" pitchFamily="18" charset="0"/>
                  <a:ea typeface="宋体" panose="02010600030101010101" pitchFamily="2" charset="-122"/>
                </a:rPr>
                <a:t>35H</a:t>
              </a:r>
              <a:endParaRPr lang="en-US" altLang="zh-CN" sz="2400">
                <a:latin typeface="Times New Roman" panose="02020603050405020304" pitchFamily="18" charset="0"/>
                <a:ea typeface="宋体" panose="02010600030101010101" pitchFamily="2" charset="-122"/>
              </a:endParaRPr>
            </a:p>
          </p:txBody>
        </p:sp>
        <p:sp>
          <p:nvSpPr>
            <p:cNvPr id="41" name="文本框 293907">
              <a:extLst>
                <a:ext uri="{FF2B5EF4-FFF2-40B4-BE49-F238E27FC236}">
                  <a16:creationId xmlns:a16="http://schemas.microsoft.com/office/drawing/2014/main" id="{D61492A7-92A5-495C-A542-9740968E6DC7}"/>
                </a:ext>
              </a:extLst>
            </p:cNvPr>
            <p:cNvSpPr txBox="1"/>
            <p:nvPr/>
          </p:nvSpPr>
          <p:spPr>
            <a:xfrm>
              <a:off x="2513" y="2704"/>
              <a:ext cx="1104" cy="356"/>
            </a:xfrm>
            <a:prstGeom prst="rect">
              <a:avLst/>
            </a:prstGeom>
            <a:noFill/>
            <a:ln w="9525">
              <a:noFill/>
            </a:ln>
          </p:spPr>
          <p:txBody>
            <a:bodyPr lIns="0" tIns="0" rIns="0" bIns="0" anchor="t">
              <a:spAutoFit/>
            </a:bodyPr>
            <a:lstStyle/>
            <a:p>
              <a:pPr lvl="0" indent="0" algn="r">
                <a:spcBef>
                  <a:spcPct val="50000"/>
                </a:spcBef>
              </a:pPr>
              <a:r>
                <a:rPr lang="zh-CN" altLang="en-US" sz="2400" dirty="0">
                  <a:latin typeface="Times New Roman" panose="02020603050405020304" pitchFamily="18" charset="0"/>
                  <a:ea typeface="宋体" panose="02010600030101010101" pitchFamily="2" charset="-122"/>
                </a:rPr>
                <a:t>   </a:t>
              </a:r>
              <a:r>
                <a:rPr lang="en-US" altLang="zh-CN" sz="3200" dirty="0">
                  <a:latin typeface="Arial" panose="020B0604020202020204" pitchFamily="34" charset="0"/>
                  <a:ea typeface="宋体" panose="02010600030101010101" pitchFamily="2" charset="-122"/>
                </a:rPr>
                <a:t>51301H</a:t>
              </a:r>
              <a:endParaRPr lang="en-US" altLang="zh-CN" sz="2400" dirty="0">
                <a:latin typeface="Arial" panose="020B0604020202020204" pitchFamily="34" charset="0"/>
                <a:ea typeface="宋体" panose="02010600030101010101" pitchFamily="2" charset="-122"/>
              </a:endParaRPr>
            </a:p>
          </p:txBody>
        </p:sp>
      </p:grpSp>
      <p:sp>
        <p:nvSpPr>
          <p:cNvPr id="31783" name="矩形 293927"/>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矩形 295937"/>
          <p:cNvSpPr/>
          <p:nvPr/>
        </p:nvSpPr>
        <p:spPr>
          <a:xfrm>
            <a:off x="468313" y="836613"/>
            <a:ext cx="2889250" cy="431800"/>
          </a:xfrm>
          <a:prstGeom prst="rect">
            <a:avLst/>
          </a:prstGeom>
          <a:noFill/>
          <a:ln w="9525">
            <a:noFill/>
          </a:ln>
        </p:spPr>
        <p:txBody>
          <a:bodyPr lIns="0" tIns="0" rIns="0" bIns="0" anchor="ctr"/>
          <a:lstStyle/>
          <a:p>
            <a:pPr lvl="0" indent="0">
              <a:buClrTx/>
            </a:pPr>
            <a:r>
              <a:rPr lang="en-US" altLang="zh-CN" sz="2400" b="1" dirty="0">
                <a:latin typeface="Arial" panose="020B0604020202020204" pitchFamily="34" charset="0"/>
              </a:rPr>
              <a:t>3</a:t>
            </a:r>
            <a:r>
              <a:rPr lang="zh-CN" altLang="en-US" sz="2400" b="1" dirty="0">
                <a:latin typeface="Times New Roman" panose="02020603050405020304" pitchFamily="18" charset="0"/>
                <a:ea typeface="宋体" panose="02010600030101010101" pitchFamily="2" charset="-122"/>
              </a:rPr>
              <a:t>、寄存器相对寻址</a:t>
            </a:r>
          </a:p>
        </p:txBody>
      </p:sp>
      <p:sp>
        <p:nvSpPr>
          <p:cNvPr id="33794" name="文本框 295938"/>
          <p:cNvSpPr txBox="1"/>
          <p:nvPr/>
        </p:nvSpPr>
        <p:spPr>
          <a:xfrm>
            <a:off x="323850" y="1341438"/>
            <a:ext cx="6696075" cy="365125"/>
          </a:xfrm>
          <a:prstGeom prst="rect">
            <a:avLst/>
          </a:prstGeom>
          <a:noFill/>
          <a:ln w="9525">
            <a:noFill/>
          </a:ln>
        </p:spPr>
        <p:txBody>
          <a:bodyPr lIns="0" tIns="0" rIns="0" bIns="0" anchor="t">
            <a:spAutoFit/>
          </a:bodyPr>
          <a:lstStyle/>
          <a:p>
            <a:pPr lvl="0" indent="0">
              <a:spcBef>
                <a:spcPct val="50000"/>
              </a:spcBef>
              <a:buClrTx/>
              <a:buSzPct val="80000"/>
              <a:buFont typeface="Wingdings" panose="05000000000000000000" pitchFamily="2" charset="2"/>
              <a:buNone/>
            </a:pPr>
            <a:r>
              <a:rPr lang="en-GB" altLang="zh-CN" sz="2400" b="1" dirty="0">
                <a:latin typeface="Times New Roman" panose="02020603050405020304" pitchFamily="18" charset="0"/>
                <a:ea typeface="宋体" panose="02010600030101010101" pitchFamily="2" charset="-122"/>
              </a:rPr>
              <a:t> EA=</a:t>
            </a:r>
            <a:r>
              <a:rPr lang="en-US" altLang="en-GB" sz="2400" b="1" dirty="0" err="1">
                <a:latin typeface="Times New Roman" panose="02020603050405020304" pitchFamily="18" charset="0"/>
                <a:ea typeface="宋体" panose="02010600030101010101" pitchFamily="2" charset="-122"/>
              </a:rPr>
              <a:t>间址寄存器的内容加上一个</a:t>
            </a:r>
            <a:r>
              <a:rPr lang="en-GB" altLang="en-US" sz="2400" b="1">
                <a:latin typeface="Times New Roman" panose="02020603050405020304" pitchFamily="18" charset="0"/>
                <a:ea typeface="宋体" panose="02010600030101010101" pitchFamily="2" charset="-122"/>
              </a:rPr>
              <a:t>8</a:t>
            </a:r>
            <a:r>
              <a:rPr lang="en-GB" altLang="zh-CN" sz="2400" b="1">
                <a:latin typeface="Times New Roman" panose="02020603050405020304" pitchFamily="18" charset="0"/>
                <a:ea typeface="宋体" panose="02010600030101010101" pitchFamily="2" charset="-122"/>
              </a:rPr>
              <a:t>/</a:t>
            </a:r>
            <a:r>
              <a:rPr lang="en-GB" altLang="en-US" sz="2400" b="1">
                <a:latin typeface="Times New Roman" panose="02020603050405020304" pitchFamily="18" charset="0"/>
                <a:ea typeface="宋体" panose="02010600030101010101" pitchFamily="2" charset="-122"/>
              </a:rPr>
              <a:t>16位的位移量</a:t>
            </a:r>
            <a:endParaRPr lang="zh-CN" altLang="en-US" sz="2400" b="1" dirty="0">
              <a:latin typeface="Times New Roman" panose="02020603050405020304" pitchFamily="18" charset="0"/>
              <a:ea typeface="宋体" panose="02010600030101010101" pitchFamily="2" charset="-122"/>
            </a:endParaRPr>
          </a:p>
        </p:txBody>
      </p:sp>
      <p:sp>
        <p:nvSpPr>
          <p:cNvPr id="33795" name="文本框 295939"/>
          <p:cNvSpPr txBox="1"/>
          <p:nvPr/>
        </p:nvSpPr>
        <p:spPr>
          <a:xfrm>
            <a:off x="1116013" y="2420938"/>
            <a:ext cx="935037" cy="365125"/>
          </a:xfrm>
          <a:prstGeom prst="rect">
            <a:avLst/>
          </a:prstGeom>
          <a:noFill/>
          <a:ln w="9525">
            <a:noFill/>
          </a:ln>
        </p:spPr>
        <p:txBody>
          <a:bodyPr lIns="0" tIns="0" rIns="0" bIns="0" anchor="t">
            <a:spAutoFit/>
          </a:bodyPr>
          <a:lstStyle/>
          <a:p>
            <a:pPr lvl="0" indent="0"/>
            <a:r>
              <a:rPr lang="en-US" altLang="zh-CN" sz="2400" b="1">
                <a:latin typeface="Arial" panose="020B0604020202020204" pitchFamily="34" charset="0"/>
                <a:ea typeface="宋体" panose="02010600030101010101" pitchFamily="2" charset="-122"/>
              </a:rPr>
              <a:t>EA = </a:t>
            </a:r>
          </a:p>
        </p:txBody>
      </p:sp>
      <p:sp>
        <p:nvSpPr>
          <p:cNvPr id="33796" name="文本框 295940"/>
          <p:cNvSpPr txBox="1"/>
          <p:nvPr/>
        </p:nvSpPr>
        <p:spPr>
          <a:xfrm>
            <a:off x="2627313" y="1773238"/>
            <a:ext cx="790575" cy="1789112"/>
          </a:xfrm>
          <a:prstGeom prst="rect">
            <a:avLst/>
          </a:prstGeom>
          <a:noFill/>
          <a:ln w="9525">
            <a:noFill/>
          </a:ln>
        </p:spPr>
        <p:txBody>
          <a:bodyPr lIns="0" tIns="0" rIns="0" bIns="0" anchor="t">
            <a:spAutoFit/>
          </a:bodyPr>
          <a:lstStyle/>
          <a:p>
            <a:pPr lvl="0" indent="0" algn="ctr">
              <a:spcBef>
                <a:spcPct val="30000"/>
              </a:spcBef>
            </a:pPr>
            <a:r>
              <a:rPr lang="en-US" altLang="zh-CN" sz="2400" b="1">
                <a:latin typeface="Arial" panose="020B0604020202020204" pitchFamily="34" charset="0"/>
                <a:ea typeface="宋体" panose="02010600030101010101" pitchFamily="2" charset="-122"/>
              </a:rPr>
              <a:t>BX</a:t>
            </a:r>
          </a:p>
          <a:p>
            <a:pPr lvl="0" indent="0" algn="ctr">
              <a:spcBef>
                <a:spcPct val="30000"/>
              </a:spcBef>
            </a:pPr>
            <a:r>
              <a:rPr lang="en-US" altLang="zh-CN" sz="2400" b="1">
                <a:latin typeface="Arial" panose="020B0604020202020204" pitchFamily="34" charset="0"/>
                <a:ea typeface="宋体" panose="02010600030101010101" pitchFamily="2" charset="-122"/>
              </a:rPr>
              <a:t>BP</a:t>
            </a:r>
          </a:p>
          <a:p>
            <a:pPr lvl="0" indent="0" algn="ctr">
              <a:spcBef>
                <a:spcPct val="30000"/>
              </a:spcBef>
            </a:pPr>
            <a:r>
              <a:rPr lang="en-US" altLang="zh-CN" sz="2400" b="1">
                <a:latin typeface="Arial" panose="020B0604020202020204" pitchFamily="34" charset="0"/>
                <a:ea typeface="宋体" panose="02010600030101010101" pitchFamily="2" charset="-122"/>
              </a:rPr>
              <a:t>SI</a:t>
            </a:r>
          </a:p>
          <a:p>
            <a:pPr lvl="0" indent="0" algn="ctr">
              <a:spcBef>
                <a:spcPct val="30000"/>
              </a:spcBef>
            </a:pPr>
            <a:r>
              <a:rPr lang="en-US" altLang="zh-CN" sz="2400" b="1">
                <a:latin typeface="Arial" panose="020B0604020202020204" pitchFamily="34" charset="0"/>
                <a:ea typeface="宋体" panose="02010600030101010101" pitchFamily="2" charset="-122"/>
              </a:rPr>
              <a:t>DI</a:t>
            </a:r>
          </a:p>
        </p:txBody>
      </p:sp>
      <p:sp>
        <p:nvSpPr>
          <p:cNvPr id="33797" name="左大括号 295941"/>
          <p:cNvSpPr/>
          <p:nvPr/>
        </p:nvSpPr>
        <p:spPr>
          <a:xfrm>
            <a:off x="2266950" y="1844675"/>
            <a:ext cx="215900" cy="1655763"/>
          </a:xfrm>
          <a:prstGeom prst="leftBrace">
            <a:avLst>
              <a:gd name="adj1" fmla="val 63873"/>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3798" name="右大括号 295942"/>
          <p:cNvSpPr/>
          <p:nvPr/>
        </p:nvSpPr>
        <p:spPr>
          <a:xfrm>
            <a:off x="3563938" y="1844675"/>
            <a:ext cx="287337" cy="1655763"/>
          </a:xfrm>
          <a:prstGeom prst="rightBrace">
            <a:avLst>
              <a:gd name="adj1" fmla="val 47993"/>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3799" name="文本框 295943"/>
          <p:cNvSpPr txBox="1"/>
          <p:nvPr/>
        </p:nvSpPr>
        <p:spPr>
          <a:xfrm>
            <a:off x="4067175" y="2335213"/>
            <a:ext cx="433388" cy="365125"/>
          </a:xfrm>
          <a:prstGeom prst="rect">
            <a:avLst/>
          </a:prstGeom>
          <a:noFill/>
          <a:ln w="9525">
            <a:noFill/>
          </a:ln>
        </p:spPr>
        <p:txBody>
          <a:bodyPr lIns="0" tIns="0" rIns="0" bIns="0" anchor="t">
            <a:spAutoFit/>
          </a:bodyPr>
          <a:lstStyle/>
          <a:p>
            <a:pPr lvl="0" indent="0" algn="ctr"/>
            <a:r>
              <a:rPr lang="en-US" altLang="zh-CN" sz="2400" b="1">
                <a:latin typeface="Arial" panose="020B0604020202020204" pitchFamily="34" charset="0"/>
                <a:ea typeface="宋体" panose="02010600030101010101" pitchFamily="2" charset="-122"/>
              </a:rPr>
              <a:t>+ </a:t>
            </a:r>
          </a:p>
        </p:txBody>
      </p:sp>
      <p:sp>
        <p:nvSpPr>
          <p:cNvPr id="33800" name="文本框 295944"/>
          <p:cNvSpPr txBox="1"/>
          <p:nvPr/>
        </p:nvSpPr>
        <p:spPr>
          <a:xfrm>
            <a:off x="5076825" y="2192338"/>
            <a:ext cx="790575" cy="839787"/>
          </a:xfrm>
          <a:prstGeom prst="rect">
            <a:avLst/>
          </a:prstGeom>
          <a:noFill/>
          <a:ln w="9525">
            <a:noFill/>
          </a:ln>
        </p:spPr>
        <p:txBody>
          <a:bodyPr lIns="0" tIns="0" rIns="0" bIns="0" anchor="t">
            <a:spAutoFit/>
          </a:bodyPr>
          <a:lstStyle/>
          <a:p>
            <a:pPr lvl="0" indent="0" algn="ctr">
              <a:spcBef>
                <a:spcPct val="30000"/>
              </a:spcBef>
            </a:pPr>
            <a:r>
              <a:rPr lang="en-US" altLang="zh-CN" sz="2400" b="1">
                <a:latin typeface="Arial" panose="020B0604020202020204" pitchFamily="34" charset="0"/>
                <a:ea typeface="宋体" panose="02010600030101010101" pitchFamily="2" charset="-122"/>
              </a:rPr>
              <a:t>8</a:t>
            </a:r>
            <a:r>
              <a:rPr lang="zh-CN" altLang="en-US" sz="2400" b="1" dirty="0">
                <a:latin typeface="Arial" panose="020B0604020202020204" pitchFamily="34" charset="0"/>
                <a:ea typeface="宋体" panose="02010600030101010101" pitchFamily="2" charset="-122"/>
              </a:rPr>
              <a:t>位</a:t>
            </a:r>
          </a:p>
          <a:p>
            <a:pPr lvl="0" indent="0" algn="ctr">
              <a:spcBef>
                <a:spcPct val="30000"/>
              </a:spcBef>
            </a:pPr>
            <a:r>
              <a:rPr lang="en-US" altLang="zh-CN" sz="2400" b="1">
                <a:latin typeface="Arial" panose="020B0604020202020204" pitchFamily="34" charset="0"/>
                <a:ea typeface="宋体" panose="02010600030101010101" pitchFamily="2" charset="-122"/>
              </a:rPr>
              <a:t>16</a:t>
            </a:r>
            <a:r>
              <a:rPr lang="zh-CN" altLang="en-US" sz="2400" b="1" dirty="0">
                <a:latin typeface="Arial" panose="020B0604020202020204" pitchFamily="34" charset="0"/>
                <a:ea typeface="宋体" panose="02010600030101010101" pitchFamily="2" charset="-122"/>
              </a:rPr>
              <a:t>位</a:t>
            </a:r>
          </a:p>
        </p:txBody>
      </p:sp>
      <p:sp>
        <p:nvSpPr>
          <p:cNvPr id="33801" name="左大括号 295945"/>
          <p:cNvSpPr/>
          <p:nvPr/>
        </p:nvSpPr>
        <p:spPr>
          <a:xfrm>
            <a:off x="4716463" y="2278063"/>
            <a:ext cx="215900" cy="793750"/>
          </a:xfrm>
          <a:prstGeom prst="leftBrace">
            <a:avLst>
              <a:gd name="adj1" fmla="val 30620"/>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3802" name="右大括号 295946"/>
          <p:cNvSpPr/>
          <p:nvPr/>
        </p:nvSpPr>
        <p:spPr>
          <a:xfrm>
            <a:off x="5997575" y="2278063"/>
            <a:ext cx="215900" cy="792162"/>
          </a:xfrm>
          <a:prstGeom prst="rightBrace">
            <a:avLst>
              <a:gd name="adj1" fmla="val 30558"/>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3803" name="文本框 295947"/>
          <p:cNvSpPr txBox="1"/>
          <p:nvPr/>
        </p:nvSpPr>
        <p:spPr>
          <a:xfrm>
            <a:off x="6011862" y="2528094"/>
            <a:ext cx="1511300" cy="292100"/>
          </a:xfrm>
          <a:prstGeom prst="rect">
            <a:avLst/>
          </a:prstGeom>
          <a:noFill/>
          <a:ln w="9525">
            <a:noFill/>
          </a:ln>
        </p:spPr>
        <p:txBody>
          <a:bodyPr lIns="0" tIns="0" rIns="0" bIns="0" anchor="t">
            <a:spAutoFit/>
          </a:bodyPr>
          <a:lstStyle/>
          <a:p>
            <a:pPr lvl="0" indent="0" algn="ctr">
              <a:lnSpc>
                <a:spcPct val="80000"/>
              </a:lnSpc>
            </a:pPr>
            <a:r>
              <a:rPr lang="zh-CN" altLang="en-US" sz="2400" b="1" dirty="0">
                <a:latin typeface="Arial" panose="020B0604020202020204" pitchFamily="34" charset="0"/>
                <a:ea typeface="宋体" panose="02010600030101010101" pitchFamily="2" charset="-122"/>
              </a:rPr>
              <a:t>位移量 </a:t>
            </a:r>
          </a:p>
        </p:txBody>
      </p:sp>
      <p:sp>
        <p:nvSpPr>
          <p:cNvPr id="33804" name="矩形 295948"/>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
        <p:nvSpPr>
          <p:cNvPr id="33805" name="矩形 295949"/>
          <p:cNvSpPr/>
          <p:nvPr/>
        </p:nvSpPr>
        <p:spPr>
          <a:xfrm>
            <a:off x="323850" y="3797251"/>
            <a:ext cx="8569325" cy="2308324"/>
          </a:xfrm>
          <a:prstGeom prst="rect">
            <a:avLst/>
          </a:prstGeom>
          <a:noFill/>
          <a:ln w="9525">
            <a:noFill/>
          </a:ln>
        </p:spPr>
        <p:txBody>
          <a:bodyPr anchor="ctr">
            <a:spAutoFit/>
          </a:bodyPr>
          <a:lstStyle/>
          <a:p>
            <a:pPr lvl="0" indent="400050" defTabSz="0">
              <a:buClrTx/>
              <a:tabLst>
                <a:tab pos="333375" algn="l"/>
              </a:tabLst>
            </a:pPr>
            <a:r>
              <a:rPr lang="zh-CN" altLang="en-US" sz="2400" b="1" dirty="0">
                <a:latin typeface="Arial" panose="020B0604020202020204" pitchFamily="34" charset="0"/>
                <a:ea typeface="宋体" panose="02010600030101010101" pitchFamily="2" charset="-122"/>
              </a:rPr>
              <a:t>寄存器相对寻址方式操作数的</a:t>
            </a:r>
            <a:r>
              <a:rPr lang="zh-CN" altLang="en-US" sz="2400" b="1" dirty="0">
                <a:solidFill>
                  <a:srgbClr val="FF00FF"/>
                </a:solidFill>
                <a:latin typeface="Arial" panose="020B0604020202020204" pitchFamily="34" charset="0"/>
                <a:ea typeface="宋体" panose="02010600030101010101" pitchFamily="2" charset="-122"/>
              </a:rPr>
              <a:t>书写形式</a:t>
            </a:r>
            <a:r>
              <a:rPr lang="zh-CN" altLang="en-US" sz="2400" b="1" dirty="0">
                <a:latin typeface="Arial" panose="020B0604020202020204" pitchFamily="34" charset="0"/>
                <a:ea typeface="宋体" panose="02010600030101010101" pitchFamily="2" charset="-122"/>
              </a:rPr>
              <a:t>可以采用多种，以下是与</a:t>
            </a:r>
            <a:r>
              <a:rPr lang="en-US" altLang="zh-CN" sz="2400" b="1" dirty="0">
                <a:latin typeface="Arial" panose="020B0604020202020204" pitchFamily="34" charset="0"/>
                <a:ea typeface="宋体" panose="02010600030101010101" pitchFamily="2" charset="-122"/>
              </a:rPr>
              <a:t>MOV  AX,BUF[BX]</a:t>
            </a:r>
            <a:r>
              <a:rPr lang="zh-CN" altLang="en-US" sz="2400" b="1" dirty="0">
                <a:latin typeface="Arial" panose="020B0604020202020204" pitchFamily="34" charset="0"/>
                <a:ea typeface="宋体" panose="02010600030101010101" pitchFamily="2" charset="-122"/>
              </a:rPr>
              <a:t>指令</a:t>
            </a:r>
            <a:r>
              <a:rPr lang="zh-CN" altLang="en-US" sz="2400" b="1" dirty="0">
                <a:solidFill>
                  <a:srgbClr val="FF00FF"/>
                </a:solidFill>
                <a:latin typeface="Arial" panose="020B0604020202020204" pitchFamily="34" charset="0"/>
              </a:rPr>
              <a:t>等价</a:t>
            </a:r>
            <a:r>
              <a:rPr lang="zh-CN" altLang="en-US" sz="2400" b="1" dirty="0">
                <a:latin typeface="Arial" panose="020B0604020202020204" pitchFamily="34" charset="0"/>
                <a:ea typeface="宋体" panose="02010600030101010101" pitchFamily="2" charset="-122"/>
              </a:rPr>
              <a:t>的另外几种书写形式：</a:t>
            </a:r>
          </a:p>
          <a:p>
            <a:pPr lvl="0" indent="400050" defTabSz="0">
              <a:buClrTx/>
              <a:tabLst>
                <a:tab pos="333375" algn="l"/>
              </a:tabLst>
            </a:pPr>
            <a:endParaRPr lang="en-US" altLang="zh-CN" sz="2400" b="1" dirty="0">
              <a:latin typeface="Arial" panose="020B0604020202020204" pitchFamily="34" charset="0"/>
              <a:ea typeface="宋体" panose="02010600030101010101" pitchFamily="2" charset="-122"/>
            </a:endParaRPr>
          </a:p>
          <a:p>
            <a:pPr lvl="0" indent="400050" defTabSz="0">
              <a:buClrTx/>
              <a:tabLst>
                <a:tab pos="333375" algn="l"/>
              </a:tabLst>
            </a:pPr>
            <a:r>
              <a:rPr lang="en-US" altLang="zh-CN" sz="2400" b="1" dirty="0">
                <a:latin typeface="Arial" panose="020B0604020202020204" pitchFamily="34" charset="0"/>
                <a:ea typeface="宋体" panose="02010600030101010101" pitchFamily="2" charset="-122"/>
              </a:rPr>
              <a:t>MOV  AX,[BX+ </a:t>
            </a:r>
            <a:r>
              <a:rPr lang="en-US" altLang="zh-CN" sz="2400" b="1" dirty="0">
                <a:latin typeface="Arial" panose="020B0604020202020204" pitchFamily="34" charset="0"/>
              </a:rPr>
              <a:t>BUF] </a:t>
            </a:r>
            <a:endParaRPr lang="en-US" altLang="zh-CN" sz="2400" b="1" dirty="0">
              <a:latin typeface="Arial" panose="020B0604020202020204" pitchFamily="34" charset="0"/>
              <a:ea typeface="宋体" panose="02010600030101010101" pitchFamily="2" charset="-122"/>
            </a:endParaRPr>
          </a:p>
          <a:p>
            <a:pPr lvl="0" indent="400050" defTabSz="0">
              <a:buClrTx/>
              <a:tabLst>
                <a:tab pos="333375" algn="l"/>
              </a:tabLst>
            </a:pPr>
            <a:r>
              <a:rPr lang="en-US" altLang="zh-CN" sz="2400" b="1" dirty="0">
                <a:latin typeface="Arial" panose="020B0604020202020204" pitchFamily="34" charset="0"/>
                <a:ea typeface="宋体" panose="02010600030101010101" pitchFamily="2" charset="-122"/>
              </a:rPr>
              <a:t>MOV  AX</a:t>
            </a:r>
            <a:r>
              <a:rPr lang="en-US" altLang="zh-CN" sz="2400" b="1" dirty="0">
                <a:latin typeface="Arial" panose="020B0604020202020204" pitchFamily="34" charset="0"/>
              </a:rPr>
              <a:t>,[BUF </a:t>
            </a:r>
            <a:r>
              <a:rPr lang="en-US" altLang="zh-CN" sz="2400" b="1" dirty="0">
                <a:latin typeface="Arial" panose="020B0604020202020204" pitchFamily="34" charset="0"/>
                <a:ea typeface="宋体" panose="02010600030101010101" pitchFamily="2" charset="-122"/>
              </a:rPr>
              <a:t>+ BX]</a:t>
            </a:r>
          </a:p>
          <a:p>
            <a:pPr lvl="0" indent="400050" defTabSz="0">
              <a:buClrTx/>
              <a:tabLst>
                <a:tab pos="333375" algn="l"/>
              </a:tabLst>
            </a:pPr>
            <a:r>
              <a:rPr lang="en-US" altLang="zh-CN" sz="2400" b="1" dirty="0">
                <a:latin typeface="Arial" panose="020B0604020202020204" pitchFamily="34" charset="0"/>
                <a:ea typeface="宋体" panose="02010600030101010101" pitchFamily="2" charset="-122"/>
              </a:rPr>
              <a:t>MOV  AX,[ BX] </a:t>
            </a:r>
            <a:r>
              <a:rPr lang="en-US" altLang="zh-CN" sz="2400" b="1" dirty="0">
                <a:latin typeface="Arial" panose="020B0604020202020204" pitchFamily="34" charset="0"/>
              </a:rPr>
              <a:t>BUF</a:t>
            </a:r>
            <a:endParaRPr lang="en-US" altLang="zh-CN" sz="2400" b="1" dirty="0">
              <a:latin typeface="Arial" panose="020B060402020202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矩形 297996"/>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
        <p:nvSpPr>
          <p:cNvPr id="35842" name="矩形 297998"/>
          <p:cNvSpPr/>
          <p:nvPr/>
        </p:nvSpPr>
        <p:spPr>
          <a:xfrm>
            <a:off x="395288" y="866686"/>
            <a:ext cx="8424862" cy="1200329"/>
          </a:xfrm>
          <a:prstGeom prst="rect">
            <a:avLst/>
          </a:prstGeom>
          <a:noFill/>
          <a:ln w="9525">
            <a:noFill/>
          </a:ln>
        </p:spPr>
        <p:txBody>
          <a:bodyPr anchor="ctr">
            <a:spAutoFit/>
          </a:bodyPr>
          <a:lstStyle/>
          <a:p>
            <a:pPr lvl="0"/>
            <a:r>
              <a:rPr lang="zh-CN" altLang="en-US" sz="2400" b="1" dirty="0">
                <a:latin typeface="Arial" panose="020B0604020202020204" pitchFamily="34" charset="0"/>
                <a:ea typeface="宋体" panose="02010600030101010101" pitchFamily="2" charset="-122"/>
              </a:rPr>
              <a:t>例：设</a:t>
            </a:r>
            <a:r>
              <a:rPr lang="en-US" altLang="zh-CN" sz="2400" b="1" dirty="0">
                <a:latin typeface="Arial" panose="020B0604020202020204" pitchFamily="34" charset="0"/>
                <a:ea typeface="宋体" panose="02010600030101010101" pitchFamily="2" charset="-122"/>
              </a:rPr>
              <a:t>DS=3000H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BX=1000H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rPr>
              <a:t>BUF=4000H</a:t>
            </a:r>
            <a:r>
              <a:rPr lang="zh-CN" altLang="en-US" sz="2400" b="1" dirty="0">
                <a:latin typeface="Arial" panose="020B0604020202020204" pitchFamily="34" charset="0"/>
                <a:ea typeface="宋体" panose="02010600030101010101" pitchFamily="2" charset="-122"/>
              </a:rPr>
              <a:t>，物理地址（</a:t>
            </a:r>
            <a:r>
              <a:rPr lang="en-US" altLang="zh-CN" sz="2400" b="1" dirty="0">
                <a:latin typeface="Arial" panose="020B0604020202020204" pitchFamily="34" charset="0"/>
                <a:ea typeface="宋体" panose="02010600030101010101" pitchFamily="2" charset="-122"/>
              </a:rPr>
              <a:t>35000H</a:t>
            </a:r>
            <a:r>
              <a:rPr lang="zh-CN" altLang="en-US" sz="2400" b="1" dirty="0">
                <a:latin typeface="Arial" panose="020B0604020202020204" pitchFamily="34" charset="0"/>
                <a:ea typeface="宋体" panose="02010600030101010101" pitchFamily="2" charset="-122"/>
              </a:rPr>
              <a:t>）字单元中的内容为</a:t>
            </a:r>
            <a:r>
              <a:rPr lang="en-US" altLang="zh-CN" sz="2400" b="1" dirty="0">
                <a:latin typeface="Arial" panose="020B0604020202020204" pitchFamily="34" charset="0"/>
                <a:ea typeface="宋体" panose="02010600030101010101" pitchFamily="2" charset="-122"/>
              </a:rPr>
              <a:t>1990H</a:t>
            </a:r>
            <a:r>
              <a:rPr lang="zh-CN" altLang="en-US" sz="2400" b="1" dirty="0">
                <a:latin typeface="Arial" panose="020B0604020202020204" pitchFamily="34" charset="0"/>
                <a:ea typeface="宋体" panose="02010600030101010101" pitchFamily="2" charset="-122"/>
              </a:rPr>
              <a:t>，则在执行指令：</a:t>
            </a:r>
          </a:p>
          <a:p>
            <a:pPr lvl="0"/>
            <a:r>
              <a:rPr lang="en-US" altLang="zh-CN" sz="2400" b="1" dirty="0">
                <a:solidFill>
                  <a:srgbClr val="0000FF"/>
                </a:solidFill>
                <a:latin typeface="Arial" panose="020B0604020202020204" pitchFamily="34" charset="0"/>
                <a:ea typeface="宋体" panose="02010600030101010101" pitchFamily="2" charset="-122"/>
              </a:rPr>
              <a:t>MOV AX</a:t>
            </a:r>
            <a:r>
              <a:rPr lang="en-US" altLang="zh-CN" sz="2400" b="1" dirty="0">
                <a:solidFill>
                  <a:srgbClr val="0000FF"/>
                </a:solidFill>
                <a:latin typeface="Arial" panose="020B0604020202020204" pitchFamily="34" charset="0"/>
              </a:rPr>
              <a:t>, BUF </a:t>
            </a:r>
            <a:r>
              <a:rPr lang="en-US" altLang="zh-CN" sz="2400" b="1" dirty="0">
                <a:solidFill>
                  <a:srgbClr val="0000FF"/>
                </a:solidFill>
                <a:latin typeface="Arial" panose="020B0604020202020204" pitchFamily="34" charset="0"/>
                <a:ea typeface="宋体" panose="02010600030101010101" pitchFamily="2" charset="-122"/>
              </a:rPr>
              <a:t>[BX]</a:t>
            </a:r>
            <a:r>
              <a:rPr lang="zh-CN" altLang="en-US" sz="2400" b="1" dirty="0">
                <a:solidFill>
                  <a:srgbClr val="0000FF"/>
                </a:solidFill>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后，</a:t>
            </a:r>
            <a:r>
              <a:rPr lang="en-US" altLang="zh-CN" sz="2400" b="1" dirty="0">
                <a:latin typeface="Arial" panose="020B0604020202020204" pitchFamily="34" charset="0"/>
                <a:ea typeface="宋体" panose="02010600030101010101" pitchFamily="2" charset="-122"/>
              </a:rPr>
              <a:t>AX=1990H </a:t>
            </a:r>
          </a:p>
        </p:txBody>
      </p:sp>
      <p:pic>
        <p:nvPicPr>
          <p:cNvPr id="35843" name="图片 297999"/>
          <p:cNvPicPr>
            <a:picLocks noChangeAspect="1"/>
          </p:cNvPicPr>
          <p:nvPr/>
        </p:nvPicPr>
        <p:blipFill>
          <a:blip r:embed="rId3"/>
          <a:stretch>
            <a:fillRect/>
          </a:stretch>
        </p:blipFill>
        <p:spPr>
          <a:xfrm>
            <a:off x="2843213" y="2233613"/>
            <a:ext cx="3889375" cy="314007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矩形 300033"/>
          <p:cNvSpPr/>
          <p:nvPr/>
        </p:nvSpPr>
        <p:spPr>
          <a:xfrm>
            <a:off x="684213" y="871538"/>
            <a:ext cx="2663825" cy="325437"/>
          </a:xfrm>
          <a:prstGeom prst="rect">
            <a:avLst/>
          </a:prstGeom>
          <a:noFill/>
          <a:ln w="9525">
            <a:noFill/>
          </a:ln>
        </p:spPr>
        <p:txBody>
          <a:bodyPr lIns="0" tIns="0" rIns="0" bIns="0" anchor="ctr"/>
          <a:lstStyle/>
          <a:p>
            <a:pPr lvl="0" indent="0">
              <a:buClrTx/>
            </a:pPr>
            <a:r>
              <a:rPr lang="en-US" altLang="zh-CN" sz="2400" b="1" dirty="0">
                <a:latin typeface="Arial" panose="020B0604020202020204" pitchFamily="34" charset="0"/>
              </a:rPr>
              <a:t>4</a:t>
            </a:r>
            <a:r>
              <a:rPr lang="zh-CN" altLang="en-US" sz="2400" b="1" dirty="0">
                <a:latin typeface="Times New Roman" panose="02020603050405020304" pitchFamily="18" charset="0"/>
                <a:ea typeface="宋体" panose="02010600030101010101" pitchFamily="2" charset="-122"/>
              </a:rPr>
              <a:t>、基址变址寻址</a:t>
            </a:r>
          </a:p>
        </p:txBody>
      </p:sp>
      <p:sp>
        <p:nvSpPr>
          <p:cNvPr id="37890" name="文本框 300034"/>
          <p:cNvSpPr txBox="1"/>
          <p:nvPr/>
        </p:nvSpPr>
        <p:spPr>
          <a:xfrm>
            <a:off x="755650" y="2193925"/>
            <a:ext cx="4176713" cy="812530"/>
          </a:xfrm>
          <a:prstGeom prst="rect">
            <a:avLst/>
          </a:prstGeom>
          <a:noFill/>
          <a:ln w="9525">
            <a:noFill/>
          </a:ln>
        </p:spPr>
        <p:txBody>
          <a:bodyPr wrap="square" lIns="0" tIns="0" rIns="0" bIns="0" anchor="t">
            <a:spAutoFit/>
          </a:bodyPr>
          <a:lstStyle/>
          <a:p>
            <a:pPr lvl="0">
              <a:spcBef>
                <a:spcPct val="20000"/>
              </a:spcBef>
              <a:buSzPct val="80000"/>
            </a:pPr>
            <a:r>
              <a:rPr lang="en-US" altLang="en-US" sz="2400" b="1" dirty="0" err="1">
                <a:latin typeface="Times New Roman" panose="02020603050405020304" pitchFamily="18" charset="0"/>
                <a:ea typeface="宋体" panose="02010600030101010101" pitchFamily="2" charset="-122"/>
              </a:rPr>
              <a:t>基址寄存器</a:t>
            </a:r>
            <a:r>
              <a:rPr lang="zh-CN" altLang="en-US" sz="2400" b="1" dirty="0"/>
              <a:t>由</a:t>
            </a:r>
            <a:r>
              <a:rPr lang="en-US" altLang="zh-CN" sz="2400" b="1" dirty="0">
                <a:latin typeface="宋体" panose="02010600030101010101" pitchFamily="2" charset="-122"/>
                <a:ea typeface="宋体" panose="02010600030101010101" pitchFamily="2" charset="-122"/>
              </a:rPr>
              <a:t>(</a:t>
            </a:r>
            <a:r>
              <a:rPr lang="en-US" altLang="zh-CN" sz="2400" b="1" dirty="0" err="1">
                <a:latin typeface="宋体" panose="02010600030101010101" pitchFamily="2" charset="-122"/>
                <a:ea typeface="宋体" panose="02010600030101010101" pitchFamily="2" charset="-122"/>
              </a:rPr>
              <a:t>BX</a:t>
            </a:r>
            <a:r>
              <a:rPr lang="en-US" altLang="en-US" sz="2400" b="1" dirty="0" err="1">
                <a:latin typeface="宋体" panose="02010600030101010101" pitchFamily="2" charset="-122"/>
                <a:ea typeface="宋体" panose="02010600030101010101" pitchFamily="2" charset="-122"/>
              </a:rPr>
              <a:t>或</a:t>
            </a:r>
            <a:r>
              <a:rPr lang="en-US" altLang="zh-CN" sz="2400" b="1" dirty="0" err="1">
                <a:latin typeface="宋体" panose="02010600030101010101" pitchFamily="2" charset="-122"/>
                <a:ea typeface="宋体" panose="02010600030101010101" pitchFamily="2" charset="-122"/>
              </a:rPr>
              <a:t>BP</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给出</a:t>
            </a:r>
          </a:p>
          <a:p>
            <a:pPr lvl="0">
              <a:spcBef>
                <a:spcPct val="20000"/>
              </a:spcBef>
            </a:pPr>
            <a:r>
              <a:rPr lang="en-US" altLang="en-US" sz="2400" b="1" dirty="0" err="1">
                <a:latin typeface="宋体" panose="02010600030101010101" pitchFamily="2" charset="-122"/>
                <a:ea typeface="宋体" panose="02010600030101010101" pitchFamily="2" charset="-122"/>
              </a:rPr>
              <a:t>变址寄存器</a:t>
            </a:r>
            <a:r>
              <a:rPr lang="zh-CN" altLang="en-US" sz="2400" b="1" dirty="0"/>
              <a:t>由</a:t>
            </a:r>
            <a:r>
              <a:rPr lang="en-US" altLang="zh-CN" sz="2400" b="1" dirty="0">
                <a:latin typeface="宋体" panose="02010600030101010101" pitchFamily="2" charset="-122"/>
                <a:ea typeface="宋体" panose="02010600030101010101" pitchFamily="2" charset="-122"/>
              </a:rPr>
              <a:t>(</a:t>
            </a:r>
            <a:r>
              <a:rPr lang="en-US" altLang="zh-CN" sz="2400" b="1" dirty="0" err="1">
                <a:latin typeface="宋体" panose="02010600030101010101" pitchFamily="2" charset="-122"/>
                <a:ea typeface="宋体" panose="02010600030101010101" pitchFamily="2" charset="-122"/>
              </a:rPr>
              <a:t>SI</a:t>
            </a:r>
            <a:r>
              <a:rPr lang="en-US" altLang="en-US" sz="2400" b="1" dirty="0" err="1">
                <a:latin typeface="宋体" panose="02010600030101010101" pitchFamily="2" charset="-122"/>
                <a:ea typeface="宋体" panose="02010600030101010101" pitchFamily="2" charset="-122"/>
              </a:rPr>
              <a:t>或</a:t>
            </a:r>
            <a:r>
              <a:rPr lang="en-US" altLang="zh-CN" sz="2400" b="1" dirty="0" err="1">
                <a:latin typeface="宋体" panose="02010600030101010101" pitchFamily="2" charset="-122"/>
                <a:ea typeface="宋体" panose="02010600030101010101" pitchFamily="2" charset="-122"/>
              </a:rPr>
              <a:t>DI</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给出</a:t>
            </a:r>
          </a:p>
        </p:txBody>
      </p:sp>
      <p:grpSp>
        <p:nvGrpSpPr>
          <p:cNvPr id="37891" name="组合 300050"/>
          <p:cNvGrpSpPr/>
          <p:nvPr/>
        </p:nvGrpSpPr>
        <p:grpSpPr>
          <a:xfrm>
            <a:off x="2484438" y="3213100"/>
            <a:ext cx="1511300" cy="936625"/>
            <a:chOff x="1565" y="2024"/>
            <a:chExt cx="952" cy="590"/>
          </a:xfrm>
        </p:grpSpPr>
        <p:sp>
          <p:nvSpPr>
            <p:cNvPr id="37892" name="左大括号 300037"/>
            <p:cNvSpPr/>
            <p:nvPr/>
          </p:nvSpPr>
          <p:spPr>
            <a:xfrm>
              <a:off x="1565" y="2024"/>
              <a:ext cx="90" cy="590"/>
            </a:xfrm>
            <a:prstGeom prst="leftBrace">
              <a:avLst>
                <a:gd name="adj1" fmla="val 54599"/>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7893" name="右大括号 300038"/>
            <p:cNvSpPr/>
            <p:nvPr/>
          </p:nvSpPr>
          <p:spPr>
            <a:xfrm>
              <a:off x="2381" y="2024"/>
              <a:ext cx="136" cy="590"/>
            </a:xfrm>
            <a:prstGeom prst="rightBrace">
              <a:avLst>
                <a:gd name="adj1" fmla="val 36131"/>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grpSp>
      <p:grpSp>
        <p:nvGrpSpPr>
          <p:cNvPr id="37895" name="组合 300049"/>
          <p:cNvGrpSpPr/>
          <p:nvPr/>
        </p:nvGrpSpPr>
        <p:grpSpPr>
          <a:xfrm>
            <a:off x="1333500" y="3141663"/>
            <a:ext cx="5110163" cy="996950"/>
            <a:chOff x="840" y="2687"/>
            <a:chExt cx="3219" cy="628"/>
          </a:xfrm>
        </p:grpSpPr>
        <p:sp>
          <p:nvSpPr>
            <p:cNvPr id="37896" name="文本框 300035"/>
            <p:cNvSpPr txBox="1"/>
            <p:nvPr/>
          </p:nvSpPr>
          <p:spPr>
            <a:xfrm>
              <a:off x="840" y="2849"/>
              <a:ext cx="589" cy="307"/>
            </a:xfrm>
            <a:prstGeom prst="rect">
              <a:avLst/>
            </a:prstGeom>
            <a:noFill/>
            <a:ln w="9525">
              <a:noFill/>
            </a:ln>
          </p:spPr>
          <p:txBody>
            <a:bodyPr lIns="0" tIns="0" rIns="0" bIns="0" anchor="t">
              <a:spAutoFit/>
            </a:bodyPr>
            <a:lstStyle/>
            <a:p>
              <a:pPr lvl="0" indent="0"/>
              <a:r>
                <a:rPr lang="en-US" altLang="zh-CN" sz="3200">
                  <a:latin typeface="Arial" panose="020B0604020202020204" pitchFamily="34" charset="0"/>
                  <a:ea typeface="宋体" panose="02010600030101010101" pitchFamily="2" charset="-122"/>
                </a:rPr>
                <a:t>EA = </a:t>
              </a:r>
            </a:p>
          </p:txBody>
        </p:sp>
        <p:sp>
          <p:nvSpPr>
            <p:cNvPr id="37897" name="文本框 300036"/>
            <p:cNvSpPr txBox="1"/>
            <p:nvPr/>
          </p:nvSpPr>
          <p:spPr>
            <a:xfrm>
              <a:off x="1792" y="2696"/>
              <a:ext cx="498" cy="619"/>
            </a:xfrm>
            <a:prstGeom prst="rect">
              <a:avLst/>
            </a:prstGeom>
            <a:noFill/>
            <a:ln w="9525">
              <a:noFill/>
            </a:ln>
          </p:spPr>
          <p:txBody>
            <a:bodyPr lIns="0" tIns="0" rIns="0" bIns="0" anchor="t">
              <a:spAutoFit/>
            </a:bodyPr>
            <a:lstStyle/>
            <a:p>
              <a:pPr lvl="0" indent="0" algn="ctr">
                <a:spcBef>
                  <a:spcPct val="30000"/>
                </a:spcBef>
              </a:pPr>
              <a:r>
                <a:rPr lang="en-US" altLang="zh-CN" sz="2800">
                  <a:latin typeface="Arial" panose="020B0604020202020204" pitchFamily="34" charset="0"/>
                  <a:ea typeface="宋体" panose="02010600030101010101" pitchFamily="2" charset="-122"/>
                </a:rPr>
                <a:t>BX</a:t>
              </a:r>
            </a:p>
            <a:p>
              <a:pPr lvl="0" indent="0" algn="ctr">
                <a:spcBef>
                  <a:spcPct val="30000"/>
                </a:spcBef>
              </a:pPr>
              <a:r>
                <a:rPr lang="en-US" altLang="zh-CN" sz="2800">
                  <a:latin typeface="Arial" panose="020B0604020202020204" pitchFamily="34" charset="0"/>
                  <a:ea typeface="宋体" panose="02010600030101010101" pitchFamily="2" charset="-122"/>
                </a:rPr>
                <a:t>BP</a:t>
              </a:r>
            </a:p>
          </p:txBody>
        </p:sp>
        <p:sp>
          <p:nvSpPr>
            <p:cNvPr id="37898" name="文本框 300039"/>
            <p:cNvSpPr txBox="1"/>
            <p:nvPr/>
          </p:nvSpPr>
          <p:spPr>
            <a:xfrm>
              <a:off x="2699" y="2795"/>
              <a:ext cx="273" cy="422"/>
            </a:xfrm>
            <a:prstGeom prst="rect">
              <a:avLst/>
            </a:prstGeom>
            <a:noFill/>
            <a:ln w="9525">
              <a:noFill/>
            </a:ln>
          </p:spPr>
          <p:txBody>
            <a:bodyPr lIns="0" tIns="0" rIns="0" bIns="0" anchor="t">
              <a:spAutoFit/>
            </a:bodyPr>
            <a:lstStyle/>
            <a:p>
              <a:pPr lvl="0" indent="0" algn="ctr"/>
              <a:r>
                <a:rPr lang="en-US" altLang="zh-CN" sz="4400">
                  <a:latin typeface="Arial" panose="020B0604020202020204" pitchFamily="34" charset="0"/>
                  <a:ea typeface="宋体" panose="02010600030101010101" pitchFamily="2" charset="-122"/>
                </a:rPr>
                <a:t>+ </a:t>
              </a:r>
            </a:p>
          </p:txBody>
        </p:sp>
        <p:sp>
          <p:nvSpPr>
            <p:cNvPr id="37899" name="文本框 300040"/>
            <p:cNvSpPr txBox="1"/>
            <p:nvPr/>
          </p:nvSpPr>
          <p:spPr>
            <a:xfrm>
              <a:off x="3334" y="2687"/>
              <a:ext cx="498" cy="619"/>
            </a:xfrm>
            <a:prstGeom prst="rect">
              <a:avLst/>
            </a:prstGeom>
            <a:noFill/>
            <a:ln w="9525">
              <a:noFill/>
            </a:ln>
          </p:spPr>
          <p:txBody>
            <a:bodyPr lIns="0" tIns="0" rIns="0" bIns="0" anchor="t">
              <a:spAutoFit/>
            </a:bodyPr>
            <a:lstStyle/>
            <a:p>
              <a:pPr lvl="0" indent="0" algn="ctr">
                <a:spcBef>
                  <a:spcPct val="30000"/>
                </a:spcBef>
              </a:pPr>
              <a:r>
                <a:rPr lang="en-US" altLang="zh-CN" sz="2800">
                  <a:latin typeface="Arial" panose="020B0604020202020204" pitchFamily="34" charset="0"/>
                  <a:ea typeface="宋体" panose="02010600030101010101" pitchFamily="2" charset="-122"/>
                </a:rPr>
                <a:t>SI</a:t>
              </a:r>
            </a:p>
            <a:p>
              <a:pPr lvl="0" indent="0" algn="ctr">
                <a:spcBef>
                  <a:spcPct val="30000"/>
                </a:spcBef>
              </a:pPr>
              <a:r>
                <a:rPr lang="en-US" altLang="zh-CN" sz="2800">
                  <a:latin typeface="Arial" panose="020B0604020202020204" pitchFamily="34" charset="0"/>
                  <a:ea typeface="宋体" panose="02010600030101010101" pitchFamily="2" charset="-122"/>
                </a:rPr>
                <a:t>DI</a:t>
              </a:r>
            </a:p>
          </p:txBody>
        </p:sp>
        <p:sp>
          <p:nvSpPr>
            <p:cNvPr id="37900" name="左大括号 300041"/>
            <p:cNvSpPr/>
            <p:nvPr/>
          </p:nvSpPr>
          <p:spPr>
            <a:xfrm>
              <a:off x="3107" y="2705"/>
              <a:ext cx="90" cy="590"/>
            </a:xfrm>
            <a:prstGeom prst="leftBrace">
              <a:avLst>
                <a:gd name="adj1" fmla="val 54599"/>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7901" name="右大括号 300042"/>
            <p:cNvSpPr/>
            <p:nvPr/>
          </p:nvSpPr>
          <p:spPr>
            <a:xfrm>
              <a:off x="3923" y="2705"/>
              <a:ext cx="136" cy="590"/>
            </a:xfrm>
            <a:prstGeom prst="rightBrace">
              <a:avLst>
                <a:gd name="adj1" fmla="val 36131"/>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7902" name="直接连接符 300044"/>
            <p:cNvSpPr/>
            <p:nvPr/>
          </p:nvSpPr>
          <p:spPr>
            <a:xfrm>
              <a:off x="2472" y="2867"/>
              <a:ext cx="624" cy="288"/>
            </a:xfrm>
            <a:prstGeom prst="line">
              <a:avLst/>
            </a:prstGeom>
            <a:ln w="28575" cap="flat" cmpd="sng">
              <a:solidFill>
                <a:srgbClr val="FFFF00"/>
              </a:solidFill>
              <a:prstDash val="solid"/>
              <a:round/>
              <a:headEnd type="none" w="med" len="med"/>
              <a:tailEnd type="none" w="med" len="med"/>
            </a:ln>
          </p:spPr>
        </p:sp>
        <p:sp>
          <p:nvSpPr>
            <p:cNvPr id="37903" name="直接连接符 300045"/>
            <p:cNvSpPr/>
            <p:nvPr/>
          </p:nvSpPr>
          <p:spPr>
            <a:xfrm>
              <a:off x="2472" y="3203"/>
              <a:ext cx="624" cy="0"/>
            </a:xfrm>
            <a:prstGeom prst="line">
              <a:avLst/>
            </a:prstGeom>
            <a:ln w="28575" cap="flat" cmpd="sng">
              <a:solidFill>
                <a:srgbClr val="FF0000"/>
              </a:solidFill>
              <a:prstDash val="solid"/>
              <a:round/>
              <a:headEnd type="none" w="med" len="med"/>
              <a:tailEnd type="none" w="med" len="med"/>
            </a:ln>
          </p:spPr>
        </p:sp>
        <p:sp>
          <p:nvSpPr>
            <p:cNvPr id="37904" name="直接连接符 300046"/>
            <p:cNvSpPr/>
            <p:nvPr/>
          </p:nvSpPr>
          <p:spPr>
            <a:xfrm flipV="1">
              <a:off x="2472" y="2867"/>
              <a:ext cx="624" cy="288"/>
            </a:xfrm>
            <a:prstGeom prst="line">
              <a:avLst/>
            </a:prstGeom>
            <a:ln w="28575" cap="flat" cmpd="sng">
              <a:solidFill>
                <a:srgbClr val="FFFF00"/>
              </a:solidFill>
              <a:prstDash val="solid"/>
              <a:round/>
              <a:headEnd type="none" w="med" len="med"/>
              <a:tailEnd type="none" w="med" len="med"/>
            </a:ln>
          </p:spPr>
        </p:sp>
        <p:sp>
          <p:nvSpPr>
            <p:cNvPr id="37905" name="直接连接符 300047"/>
            <p:cNvSpPr/>
            <p:nvPr/>
          </p:nvSpPr>
          <p:spPr>
            <a:xfrm>
              <a:off x="2472" y="2819"/>
              <a:ext cx="624" cy="0"/>
            </a:xfrm>
            <a:prstGeom prst="line">
              <a:avLst/>
            </a:prstGeom>
            <a:ln w="28575" cap="flat" cmpd="sng">
              <a:solidFill>
                <a:srgbClr val="FF0000"/>
              </a:solidFill>
              <a:prstDash val="solid"/>
              <a:round/>
              <a:headEnd type="none" w="med" len="med"/>
              <a:tailEnd type="none" w="med" len="med"/>
            </a:ln>
          </p:spPr>
        </p:sp>
      </p:grpSp>
      <p:sp>
        <p:nvSpPr>
          <p:cNvPr id="37906" name="文本框 300048"/>
          <p:cNvSpPr txBox="1"/>
          <p:nvPr/>
        </p:nvSpPr>
        <p:spPr>
          <a:xfrm>
            <a:off x="617538" y="1268413"/>
            <a:ext cx="7993062" cy="738664"/>
          </a:xfrm>
          <a:prstGeom prst="rect">
            <a:avLst/>
          </a:prstGeom>
          <a:noFill/>
          <a:ln w="9525">
            <a:noFill/>
          </a:ln>
        </p:spPr>
        <p:txBody>
          <a:bodyPr lIns="0" tIns="0" rIns="0" bIns="0" anchor="t">
            <a:spAutoFit/>
          </a:bodyPr>
          <a:lstStyle/>
          <a:p>
            <a:pPr lvl="0" indent="0">
              <a:spcBef>
                <a:spcPct val="50000"/>
              </a:spcBef>
              <a:buClrTx/>
              <a:buSzPct val="80000"/>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a:t>
            </a:r>
            <a:r>
              <a:rPr lang="en-US" altLang="en-US" sz="2400" b="1" dirty="0" err="1">
                <a:latin typeface="Times New Roman" panose="02020603050405020304" pitchFamily="18" charset="0"/>
                <a:ea typeface="宋体" panose="02010600030101010101" pitchFamily="2" charset="-122"/>
              </a:rPr>
              <a:t>由一个基址寄存器</a:t>
            </a:r>
            <a:r>
              <a:rPr lang="en-US" altLang="en-US" sz="2400" b="1" dirty="0" err="1">
                <a:latin typeface="宋体" panose="02010600030101010101" pitchFamily="2" charset="-122"/>
                <a:ea typeface="宋体" panose="02010600030101010101" pitchFamily="2" charset="-122"/>
              </a:rPr>
              <a:t>的内容和一个变址寄存器</a:t>
            </a:r>
            <a:r>
              <a:rPr lang="en-US" altLang="en-US" sz="2400" b="1" dirty="0" err="1">
                <a:latin typeface="Times New Roman" panose="02020603050405020304" pitchFamily="18" charset="0"/>
                <a:ea typeface="宋体" panose="02010600030101010101" pitchFamily="2" charset="-122"/>
              </a:rPr>
              <a:t>的内容相加而形成操作数的</a:t>
            </a:r>
            <a:r>
              <a:rPr lang="zh-CN" altLang="en-US" sz="2400" b="1" dirty="0">
                <a:latin typeface="Times New Roman" panose="02020603050405020304" pitchFamily="18" charset="0"/>
                <a:ea typeface="宋体" panose="02010600030101010101" pitchFamily="2" charset="-122"/>
              </a:rPr>
              <a:t>偏移</a:t>
            </a:r>
            <a:r>
              <a:rPr lang="en-US" altLang="en-US" sz="2400" b="1" dirty="0" err="1">
                <a:latin typeface="Times New Roman" panose="02020603050405020304" pitchFamily="18" charset="0"/>
                <a:ea typeface="宋体" panose="02010600030101010101" pitchFamily="2" charset="-122"/>
              </a:rPr>
              <a:t>地址</a:t>
            </a:r>
            <a:r>
              <a:rPr lang="en-US"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37907" name="矩形 300051"/>
          <p:cNvSpPr/>
          <p:nvPr/>
        </p:nvSpPr>
        <p:spPr>
          <a:xfrm>
            <a:off x="179388" y="4757738"/>
            <a:ext cx="4537075" cy="1839912"/>
          </a:xfrm>
          <a:prstGeom prst="rect">
            <a:avLst/>
          </a:prstGeom>
          <a:noFill/>
          <a:ln w="9525">
            <a:noFill/>
          </a:ln>
        </p:spPr>
        <p:txBody>
          <a:bodyPr anchor="t"/>
          <a:lstStyle/>
          <a:p>
            <a:pPr marL="342900" lvl="0" indent="-342900">
              <a:spcBef>
                <a:spcPct val="20000"/>
              </a:spcBef>
              <a:buClrTx/>
            </a:pPr>
            <a:r>
              <a:rPr lang="zh-CN" altLang="en-US" sz="2400" b="1" dirty="0">
                <a:latin typeface="Times New Roman" panose="02020603050405020304" pitchFamily="18" charset="0"/>
                <a:ea typeface="宋体" panose="02010600030101010101" pitchFamily="2" charset="-122"/>
              </a:rPr>
              <a:t>正确示例：</a:t>
            </a:r>
          </a:p>
          <a:p>
            <a:pPr marL="342900" lvl="0" indent="-342900">
              <a:spcBef>
                <a:spcPct val="20000"/>
              </a:spcBef>
              <a:buClrTx/>
            </a:pPr>
            <a:r>
              <a:rPr lang="zh-CN" altLang="en-US" sz="2400" b="1" dirty="0">
                <a:latin typeface="Times New Roman" panose="02020603050405020304" pitchFamily="18"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MOV    AX,  [BX] [SI]</a:t>
            </a:r>
          </a:p>
          <a:p>
            <a:pPr marL="342900" lvl="0" indent="-342900">
              <a:spcBef>
                <a:spcPct val="20000"/>
              </a:spcBef>
              <a:buClrTx/>
            </a:pPr>
            <a:r>
              <a:rPr lang="en-US" altLang="zh-CN" sz="2400" b="1" dirty="0">
                <a:latin typeface="Arial" panose="020B0604020202020204" pitchFamily="34" charset="0"/>
                <a:ea typeface="宋体" panose="02010600030101010101" pitchFamily="2" charset="-122"/>
              </a:rPr>
              <a:t>        MOV   AX,  [BX+SI]</a:t>
            </a:r>
          </a:p>
          <a:p>
            <a:pPr marL="342900" lvl="0" indent="-342900">
              <a:spcBef>
                <a:spcPct val="20000"/>
              </a:spcBef>
              <a:buClrTx/>
            </a:pPr>
            <a:r>
              <a:rPr lang="en-US" altLang="zh-CN" sz="2400" b="1" dirty="0">
                <a:latin typeface="Arial" panose="020B0604020202020204" pitchFamily="34" charset="0"/>
                <a:ea typeface="宋体" panose="02010600030101010101" pitchFamily="2" charset="-122"/>
              </a:rPr>
              <a:t>        MOV   AX,  </a:t>
            </a:r>
            <a:r>
              <a:rPr lang="en-US" altLang="zh-CN" sz="2400" b="1" dirty="0">
                <a:solidFill>
                  <a:srgbClr val="FF0000"/>
                </a:solidFill>
                <a:latin typeface="Arial" panose="020B0604020202020204" pitchFamily="34" charset="0"/>
                <a:ea typeface="宋体" panose="02010600030101010101" pitchFamily="2" charset="-122"/>
              </a:rPr>
              <a:t>DS</a:t>
            </a:r>
            <a:r>
              <a:rPr lang="en-US" altLang="zh-CN" sz="2400" b="1" dirty="0">
                <a:latin typeface="Arial" panose="020B0604020202020204" pitchFamily="34" charset="0"/>
                <a:ea typeface="宋体" panose="02010600030101010101" pitchFamily="2" charset="-122"/>
              </a:rPr>
              <a:t>: [BP] [DI]</a:t>
            </a:r>
          </a:p>
        </p:txBody>
      </p:sp>
      <p:sp>
        <p:nvSpPr>
          <p:cNvPr id="37908" name="矩形 300052"/>
          <p:cNvSpPr/>
          <p:nvPr/>
        </p:nvSpPr>
        <p:spPr>
          <a:xfrm>
            <a:off x="4787900" y="5121275"/>
            <a:ext cx="3887788" cy="1187450"/>
          </a:xfrm>
          <a:prstGeom prst="rect">
            <a:avLst/>
          </a:prstGeom>
          <a:noFill/>
          <a:ln w="9525">
            <a:noFill/>
          </a:ln>
        </p:spPr>
        <p:txBody>
          <a:bodyPr anchor="t">
            <a:spAutoFit/>
          </a:bodyPr>
          <a:lstStyle/>
          <a:p>
            <a:pPr lvl="0" indent="0">
              <a:buClrTx/>
            </a:pPr>
            <a:r>
              <a:rPr lang="zh-CN" altLang="en-US" sz="2400" b="1" dirty="0">
                <a:latin typeface="Arial" panose="020B0604020202020204" pitchFamily="34" charset="0"/>
                <a:ea typeface="宋体" panose="02010600030101010101" pitchFamily="2" charset="-122"/>
              </a:rPr>
              <a:t>错误示例：</a:t>
            </a:r>
          </a:p>
          <a:p>
            <a:pPr lvl="0" indent="0">
              <a:buClrTx/>
            </a:pPr>
            <a:r>
              <a:rPr lang="zh-CN" altLang="en-US" sz="2400" b="1" dirty="0">
                <a:latin typeface="Arial" panose="020B0604020202020204" pitchFamily="34" charset="0"/>
                <a:ea typeface="宋体" panose="02010600030101010101" pitchFamily="2" charset="-122"/>
              </a:rPr>
              <a:t> </a:t>
            </a:r>
            <a:r>
              <a:rPr lang="en-US" altLang="zh-CN" sz="2400" b="1">
                <a:solidFill>
                  <a:srgbClr val="FF0000"/>
                </a:solidFill>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  MOV    AX,  [BX] [BP]</a:t>
            </a:r>
          </a:p>
          <a:p>
            <a:pPr lvl="0" indent="0">
              <a:buClrTx/>
            </a:pPr>
            <a:r>
              <a:rPr lang="en-US" altLang="zh-CN" sz="2400" b="1">
                <a:latin typeface="Arial" panose="020B0604020202020204" pitchFamily="34" charset="0"/>
                <a:ea typeface="宋体" panose="02010600030101010101" pitchFamily="2" charset="-122"/>
              </a:rPr>
              <a:t> </a:t>
            </a:r>
            <a:r>
              <a:rPr lang="en-US" altLang="zh-CN" sz="2400" b="1">
                <a:solidFill>
                  <a:srgbClr val="FF0000"/>
                </a:solidFill>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 MOV    AX,  [DI] [SI]</a:t>
            </a:r>
            <a:endParaRPr lang="zh-CN" altLang="en-US" sz="2400" b="1" dirty="0">
              <a:latin typeface="Arial" panose="020B0604020202020204" pitchFamily="34" charset="0"/>
              <a:ea typeface="宋体" panose="02010600030101010101" pitchFamily="2" charset="-122"/>
            </a:endParaRPr>
          </a:p>
        </p:txBody>
      </p:sp>
      <p:sp>
        <p:nvSpPr>
          <p:cNvPr id="37909" name="矩形 300053"/>
          <p:cNvSpPr/>
          <p:nvPr/>
        </p:nvSpPr>
        <p:spPr>
          <a:xfrm>
            <a:off x="1044575" y="188913"/>
            <a:ext cx="6696075"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文本框 302081"/>
          <p:cNvSpPr txBox="1"/>
          <p:nvPr/>
        </p:nvSpPr>
        <p:spPr>
          <a:xfrm>
            <a:off x="2058988" y="4495800"/>
            <a:ext cx="1054100" cy="427038"/>
          </a:xfrm>
          <a:prstGeom prst="rect">
            <a:avLst/>
          </a:prstGeom>
          <a:noFill/>
          <a:ln w="9525">
            <a:noFill/>
          </a:ln>
        </p:spPr>
        <p:txBody>
          <a:bodyPr lIns="0" tIns="0" rIns="0" bIns="0" anchor="t">
            <a:spAutoFit/>
          </a:bodyPr>
          <a:lstStyle/>
          <a:p>
            <a:pPr lvl="0" indent="0">
              <a:spcBef>
                <a:spcPct val="50000"/>
              </a:spcBef>
            </a:pPr>
            <a:r>
              <a:rPr lang="zh-CN" altLang="en-US" sz="2800">
                <a:latin typeface="Times New Roman" panose="02020603050405020304" pitchFamily="18"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29000</a:t>
            </a:r>
          </a:p>
        </p:txBody>
      </p:sp>
      <p:sp>
        <p:nvSpPr>
          <p:cNvPr id="39938" name="矩形 302082"/>
          <p:cNvSpPr/>
          <p:nvPr/>
        </p:nvSpPr>
        <p:spPr>
          <a:xfrm>
            <a:off x="5635625" y="2347913"/>
            <a:ext cx="2005013" cy="4176712"/>
          </a:xfrm>
          <a:prstGeom prst="rect">
            <a:avLst/>
          </a:prstGeom>
          <a:solidFill>
            <a:srgbClr val="99FFCC"/>
          </a:solidFill>
          <a:ln w="57150" cap="flat" cmpd="sng">
            <a:solidFill>
              <a:srgbClr val="008000"/>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9939" name="直接连接符 302083"/>
          <p:cNvSpPr/>
          <p:nvPr/>
        </p:nvSpPr>
        <p:spPr>
          <a:xfrm>
            <a:off x="5635625" y="4081463"/>
            <a:ext cx="2005013" cy="0"/>
          </a:xfrm>
          <a:prstGeom prst="line">
            <a:avLst/>
          </a:prstGeom>
          <a:ln w="38100" cap="flat" cmpd="sng">
            <a:solidFill>
              <a:srgbClr val="006600"/>
            </a:solidFill>
            <a:prstDash val="solid"/>
            <a:round/>
            <a:headEnd type="none" w="med" len="med"/>
            <a:tailEnd type="none" w="med" len="med"/>
          </a:ln>
        </p:spPr>
      </p:sp>
      <p:sp>
        <p:nvSpPr>
          <p:cNvPr id="39940" name="直接连接符 302084"/>
          <p:cNvSpPr/>
          <p:nvPr/>
        </p:nvSpPr>
        <p:spPr>
          <a:xfrm>
            <a:off x="5635625" y="5003800"/>
            <a:ext cx="2005013" cy="0"/>
          </a:xfrm>
          <a:prstGeom prst="line">
            <a:avLst/>
          </a:prstGeom>
          <a:ln w="38100" cap="flat" cmpd="sng">
            <a:solidFill>
              <a:srgbClr val="006600"/>
            </a:solidFill>
            <a:prstDash val="solid"/>
            <a:round/>
            <a:headEnd type="none" w="med" len="med"/>
            <a:tailEnd type="none" w="med" len="med"/>
          </a:ln>
        </p:spPr>
      </p:sp>
      <p:sp>
        <p:nvSpPr>
          <p:cNvPr id="39941" name="文本框 302085"/>
          <p:cNvSpPr txBox="1"/>
          <p:nvPr/>
        </p:nvSpPr>
        <p:spPr>
          <a:xfrm>
            <a:off x="6118225" y="2832100"/>
            <a:ext cx="1106488" cy="365125"/>
          </a:xfrm>
          <a:prstGeom prst="rect">
            <a:avLst/>
          </a:prstGeom>
          <a:noFill/>
          <a:ln w="9525">
            <a:noFill/>
          </a:ln>
        </p:spPr>
        <p:txBody>
          <a:bodyPr lIns="0" tIns="0" rIns="0" bIns="0" anchor="t">
            <a:spAutoFit/>
          </a:bodyPr>
          <a:lstStyle/>
          <a:p>
            <a:pPr lvl="0" indent="0">
              <a:spcBef>
                <a:spcPct val="50000"/>
              </a:spcBef>
            </a:pPr>
            <a:r>
              <a:rPr lang="zh-CN" altLang="en-US" sz="2400" b="1" dirty="0">
                <a:solidFill>
                  <a:srgbClr val="FF3300"/>
                </a:solidFill>
                <a:latin typeface="Times New Roman" panose="02020603050405020304" pitchFamily="18" charset="0"/>
                <a:ea typeface="宋体" panose="02010600030101010101" pitchFamily="2" charset="-122"/>
              </a:rPr>
              <a:t>操作码</a:t>
            </a:r>
            <a:endParaRPr lang="zh-CN" altLang="en-US" sz="2400">
              <a:latin typeface="Times New Roman" panose="02020603050405020304" pitchFamily="18" charset="0"/>
              <a:ea typeface="宋体" panose="02010600030101010101" pitchFamily="2" charset="-122"/>
            </a:endParaRPr>
          </a:p>
        </p:txBody>
      </p:sp>
      <p:sp>
        <p:nvSpPr>
          <p:cNvPr id="39942" name="直接连接符 302086"/>
          <p:cNvSpPr/>
          <p:nvPr/>
        </p:nvSpPr>
        <p:spPr>
          <a:xfrm>
            <a:off x="5635625" y="2832100"/>
            <a:ext cx="2005013" cy="0"/>
          </a:xfrm>
          <a:prstGeom prst="line">
            <a:avLst/>
          </a:prstGeom>
          <a:ln w="38100" cap="flat" cmpd="sng">
            <a:solidFill>
              <a:srgbClr val="006600"/>
            </a:solidFill>
            <a:prstDash val="solid"/>
            <a:round/>
            <a:headEnd type="none" w="med" len="med"/>
            <a:tailEnd type="none" w="med" len="med"/>
          </a:ln>
        </p:spPr>
      </p:sp>
      <p:sp>
        <p:nvSpPr>
          <p:cNvPr id="39943" name="直接连接符 302087"/>
          <p:cNvSpPr/>
          <p:nvPr/>
        </p:nvSpPr>
        <p:spPr>
          <a:xfrm>
            <a:off x="5635625" y="3294063"/>
            <a:ext cx="2005013" cy="0"/>
          </a:xfrm>
          <a:prstGeom prst="line">
            <a:avLst/>
          </a:prstGeom>
          <a:ln w="38100" cap="flat" cmpd="sng">
            <a:solidFill>
              <a:srgbClr val="006600"/>
            </a:solidFill>
            <a:prstDash val="solid"/>
            <a:round/>
            <a:headEnd type="none" w="med" len="med"/>
            <a:tailEnd type="none" w="med" len="med"/>
          </a:ln>
        </p:spPr>
      </p:sp>
      <p:sp>
        <p:nvSpPr>
          <p:cNvPr id="39944" name="直接连接符 302088"/>
          <p:cNvSpPr/>
          <p:nvPr/>
        </p:nvSpPr>
        <p:spPr>
          <a:xfrm>
            <a:off x="5635625" y="3687763"/>
            <a:ext cx="2005013" cy="0"/>
          </a:xfrm>
          <a:prstGeom prst="line">
            <a:avLst/>
          </a:prstGeom>
          <a:ln w="38100" cap="flat" cmpd="sng">
            <a:solidFill>
              <a:srgbClr val="006600"/>
            </a:solidFill>
            <a:prstDash val="solid"/>
            <a:round/>
            <a:headEnd type="none" w="med" len="med"/>
            <a:tailEnd type="none" w="med" len="med"/>
          </a:ln>
        </p:spPr>
      </p:sp>
      <p:sp>
        <p:nvSpPr>
          <p:cNvPr id="39945" name="直接连接符 302089"/>
          <p:cNvSpPr/>
          <p:nvPr/>
        </p:nvSpPr>
        <p:spPr>
          <a:xfrm>
            <a:off x="5635625" y="5397500"/>
            <a:ext cx="2005013" cy="0"/>
          </a:xfrm>
          <a:prstGeom prst="line">
            <a:avLst/>
          </a:prstGeom>
          <a:ln w="38100" cap="flat" cmpd="sng">
            <a:solidFill>
              <a:srgbClr val="006600"/>
            </a:solidFill>
            <a:prstDash val="solid"/>
            <a:round/>
            <a:headEnd type="none" w="med" len="med"/>
            <a:tailEnd type="none" w="med" len="med"/>
          </a:ln>
        </p:spPr>
      </p:sp>
      <p:sp>
        <p:nvSpPr>
          <p:cNvPr id="39946" name="直接连接符 302090"/>
          <p:cNvSpPr/>
          <p:nvPr/>
        </p:nvSpPr>
        <p:spPr>
          <a:xfrm>
            <a:off x="5635625" y="5792788"/>
            <a:ext cx="2005013" cy="0"/>
          </a:xfrm>
          <a:prstGeom prst="line">
            <a:avLst/>
          </a:prstGeom>
          <a:ln w="38100" cap="flat" cmpd="sng">
            <a:solidFill>
              <a:srgbClr val="006600"/>
            </a:solidFill>
            <a:prstDash val="solid"/>
            <a:round/>
            <a:headEnd type="none" w="med" len="med"/>
            <a:tailEnd type="none" w="med" len="med"/>
          </a:ln>
        </p:spPr>
      </p:sp>
      <p:sp>
        <p:nvSpPr>
          <p:cNvPr id="39947" name="文本框 302091"/>
          <p:cNvSpPr txBox="1"/>
          <p:nvPr/>
        </p:nvSpPr>
        <p:spPr>
          <a:xfrm>
            <a:off x="1279525" y="2852738"/>
            <a:ext cx="1552575" cy="492443"/>
          </a:xfrm>
          <a:prstGeom prst="rect">
            <a:avLst/>
          </a:prstGeom>
          <a:noFill/>
          <a:ln w="9525">
            <a:noFill/>
          </a:ln>
        </p:spPr>
        <p:txBody>
          <a:bodyPr lIns="0" tIns="0" rIns="0" bIns="0" anchor="t">
            <a:spAutoFit/>
          </a:bodyPr>
          <a:lstStyle/>
          <a:p>
            <a:pPr lvl="0" indent="0" algn="dist">
              <a:spcBef>
                <a:spcPct val="50000"/>
              </a:spcBef>
            </a:pPr>
            <a:r>
              <a:rPr lang="en-US" altLang="zh-CN" sz="2800" dirty="0">
                <a:latin typeface="Tahoma" panose="020B0604030504040204" pitchFamily="34" charset="0"/>
                <a:ea typeface="宋体" panose="02010600030101010101" pitchFamily="2" charset="-122"/>
              </a:rPr>
              <a:t>DS</a:t>
            </a:r>
            <a:r>
              <a:rPr lang="en-US" altLang="zh-CN" sz="3200" dirty="0">
                <a:latin typeface="Times New Roman" panose="02020603050405020304" pitchFamily="18" charset="0"/>
                <a:ea typeface="宋体" panose="02010600030101010101" pitchFamily="2" charset="-122"/>
              </a:rPr>
              <a:t>  </a:t>
            </a:r>
            <a:r>
              <a:rPr lang="en-US" altLang="zh-CN" sz="2800" dirty="0"/>
              <a:t>2000</a:t>
            </a:r>
          </a:p>
        </p:txBody>
      </p:sp>
      <p:sp>
        <p:nvSpPr>
          <p:cNvPr id="39948" name="文本框 302092"/>
          <p:cNvSpPr txBox="1"/>
          <p:nvPr/>
        </p:nvSpPr>
        <p:spPr>
          <a:xfrm>
            <a:off x="1433513" y="3392488"/>
            <a:ext cx="1590675" cy="492443"/>
          </a:xfrm>
          <a:prstGeom prst="rect">
            <a:avLst/>
          </a:prstGeom>
          <a:noFill/>
          <a:ln w="9525">
            <a:noFill/>
          </a:ln>
        </p:spPr>
        <p:txBody>
          <a:bodyPr lIns="0" tIns="0" rIns="0" bIns="0" anchor="t">
            <a:spAutoFit/>
          </a:bodyPr>
          <a:lstStyle/>
          <a:p>
            <a:pPr lvl="0" indent="0" algn="dist">
              <a:spcBef>
                <a:spcPct val="50000"/>
              </a:spcBef>
            </a:pPr>
            <a:r>
              <a:rPr lang="en-US" altLang="zh-CN" sz="2800" dirty="0">
                <a:latin typeface="Tahoma" panose="020B0604030504040204" pitchFamily="34" charset="0"/>
                <a:ea typeface="宋体" panose="02010600030101010101" pitchFamily="2" charset="-122"/>
              </a:rPr>
              <a:t>BX</a:t>
            </a:r>
            <a:r>
              <a:rPr lang="en-US" altLang="zh-CN" sz="3200" dirty="0">
                <a:latin typeface="Times New Roman" panose="02020603050405020304" pitchFamily="18" charset="0"/>
                <a:ea typeface="宋体" panose="02010600030101010101" pitchFamily="2" charset="-122"/>
              </a:rPr>
              <a:t>  </a:t>
            </a:r>
            <a:r>
              <a:rPr lang="en-US" altLang="zh-CN" sz="2800" dirty="0"/>
              <a:t>8</a:t>
            </a:r>
            <a:r>
              <a:rPr lang="en-US" altLang="zh-CN" sz="2800" dirty="0">
                <a:latin typeface="Times New Roman" panose="02020603050405020304" pitchFamily="18" charset="0"/>
                <a:ea typeface="宋体" panose="02010600030101010101" pitchFamily="2" charset="-122"/>
              </a:rPr>
              <a:t>000</a:t>
            </a:r>
          </a:p>
        </p:txBody>
      </p:sp>
      <p:sp>
        <p:nvSpPr>
          <p:cNvPr id="39949" name="文本框 302093"/>
          <p:cNvSpPr txBox="1"/>
          <p:nvPr/>
        </p:nvSpPr>
        <p:spPr>
          <a:xfrm>
            <a:off x="666750" y="3851275"/>
            <a:ext cx="2351088" cy="492443"/>
          </a:xfrm>
          <a:prstGeom prst="rect">
            <a:avLst/>
          </a:prstGeom>
          <a:noFill/>
          <a:ln w="9525">
            <a:noFill/>
          </a:ln>
        </p:spPr>
        <p:txBody>
          <a:bodyPr lIns="0" tIns="0" rIns="0" bIns="0" anchor="t">
            <a:spAutoFit/>
          </a:bodyPr>
          <a:lstStyle/>
          <a:p>
            <a:pPr lvl="0" indent="0" algn="dist">
              <a:spcBef>
                <a:spcPct val="50000"/>
              </a:spcBef>
            </a:pPr>
            <a:r>
              <a:rPr lang="zh-CN" altLang="en-US" sz="3200" dirty="0">
                <a:latin typeface="Times New Roman" panose="02020603050405020304" pitchFamily="18" charset="0"/>
                <a:ea typeface="宋体" panose="02010600030101010101" pitchFamily="2" charset="-122"/>
              </a:rPr>
              <a:t>  </a:t>
            </a:r>
            <a:r>
              <a:rPr lang="en-US" altLang="zh-CN" sz="3200" dirty="0">
                <a:latin typeface="Times New Roman" panose="02020603050405020304" pitchFamily="18" charset="0"/>
                <a:ea typeface="宋体" panose="02010600030101010101" pitchFamily="2" charset="-122"/>
              </a:rPr>
              <a:t>+   </a:t>
            </a:r>
            <a:r>
              <a:rPr lang="en-US" altLang="zh-CN" sz="2800" dirty="0">
                <a:latin typeface="Tahoma" panose="020B0604030504040204" pitchFamily="34" charset="0"/>
                <a:ea typeface="宋体" panose="02010600030101010101" pitchFamily="2" charset="-122"/>
              </a:rPr>
              <a:t>SI</a:t>
            </a:r>
            <a:r>
              <a:rPr lang="en-US" altLang="zh-CN" sz="3200" dirty="0">
                <a:latin typeface="Times New Roman" panose="02020603050405020304" pitchFamily="18" charset="0"/>
                <a:ea typeface="宋体" panose="02010600030101010101" pitchFamily="2" charset="-122"/>
              </a:rPr>
              <a:t>    </a:t>
            </a:r>
            <a:r>
              <a:rPr lang="en-US" altLang="zh-CN" sz="2800" dirty="0"/>
              <a:t>1</a:t>
            </a:r>
            <a:r>
              <a:rPr lang="en-US" altLang="zh-CN" sz="2800" dirty="0">
                <a:latin typeface="Times New Roman" panose="02020603050405020304" pitchFamily="18" charset="0"/>
                <a:ea typeface="宋体" panose="02010600030101010101" pitchFamily="2" charset="-122"/>
              </a:rPr>
              <a:t>000</a:t>
            </a:r>
          </a:p>
        </p:txBody>
      </p:sp>
      <p:sp>
        <p:nvSpPr>
          <p:cNvPr id="39950" name="矩形 302094"/>
          <p:cNvSpPr/>
          <p:nvPr/>
        </p:nvSpPr>
        <p:spPr>
          <a:xfrm>
            <a:off x="1984375" y="2924175"/>
            <a:ext cx="954088" cy="430213"/>
          </a:xfrm>
          <a:prstGeom prst="rect">
            <a:avLst/>
          </a:prstGeom>
          <a:noFill/>
          <a:ln w="38100" cap="flat" cmpd="sng">
            <a:solidFill>
              <a:srgbClr val="FF3300"/>
            </a:solidFill>
            <a:prstDash val="solid"/>
            <a:miter/>
            <a:headEnd type="none" w="med" len="med"/>
            <a:tailEnd type="none" w="med" len="med"/>
          </a:ln>
        </p:spPr>
        <p:txBody>
          <a:bodyPr anchor="t"/>
          <a:lstStyle/>
          <a:p>
            <a:pPr lvl="0" indent="0"/>
            <a:endParaRPr lang="zh-CN" altLang="en-US" sz="2400" dirty="0">
              <a:latin typeface="Times New Roman" panose="02020603050405020304" pitchFamily="18" charset="0"/>
              <a:ea typeface="宋体" panose="02010600030101010101" pitchFamily="2" charset="-122"/>
            </a:endParaRPr>
          </a:p>
        </p:txBody>
      </p:sp>
      <p:sp>
        <p:nvSpPr>
          <p:cNvPr id="39951" name="矩形 302095"/>
          <p:cNvSpPr/>
          <p:nvPr/>
        </p:nvSpPr>
        <p:spPr>
          <a:xfrm>
            <a:off x="2244725" y="3438525"/>
            <a:ext cx="850900" cy="412750"/>
          </a:xfrm>
          <a:prstGeom prst="rect">
            <a:avLst/>
          </a:prstGeom>
          <a:noFill/>
          <a:ln w="38100" cap="flat" cmpd="sng">
            <a:solidFill>
              <a:srgbClr val="FF3300"/>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9952" name="矩形 302096"/>
          <p:cNvSpPr/>
          <p:nvPr/>
        </p:nvSpPr>
        <p:spPr>
          <a:xfrm>
            <a:off x="2244725" y="3951288"/>
            <a:ext cx="850900" cy="357187"/>
          </a:xfrm>
          <a:prstGeom prst="rect">
            <a:avLst/>
          </a:prstGeom>
          <a:noFill/>
          <a:ln w="38100" cap="flat" cmpd="sng">
            <a:solidFill>
              <a:srgbClr val="FF3300"/>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9953" name="直接连接符 302097"/>
          <p:cNvSpPr/>
          <p:nvPr/>
        </p:nvSpPr>
        <p:spPr>
          <a:xfrm>
            <a:off x="611188" y="4432300"/>
            <a:ext cx="2973387" cy="0"/>
          </a:xfrm>
          <a:prstGeom prst="line">
            <a:avLst/>
          </a:prstGeom>
          <a:ln w="38100" cap="flat" cmpd="sng">
            <a:solidFill>
              <a:schemeClr val="tx1"/>
            </a:solidFill>
            <a:prstDash val="solid"/>
            <a:round/>
            <a:headEnd type="none" w="med" len="med"/>
            <a:tailEnd type="none" w="med" len="med"/>
          </a:ln>
        </p:spPr>
      </p:sp>
      <p:sp>
        <p:nvSpPr>
          <p:cNvPr id="39954" name="文本框 302098"/>
          <p:cNvSpPr txBox="1"/>
          <p:nvPr/>
        </p:nvSpPr>
        <p:spPr>
          <a:xfrm>
            <a:off x="4270375" y="5003800"/>
            <a:ext cx="1228725" cy="427038"/>
          </a:xfrm>
          <a:prstGeom prst="rect">
            <a:avLst/>
          </a:prstGeom>
          <a:noFill/>
          <a:ln w="9525">
            <a:noFill/>
          </a:ln>
        </p:spPr>
        <p:txBody>
          <a:bodyPr lIns="0" tIns="0" rIns="0" bIns="0" anchor="t">
            <a:spAutoFit/>
          </a:bodyPr>
          <a:lstStyle/>
          <a:p>
            <a:pPr lvl="0" indent="0" algn="r">
              <a:spcBef>
                <a:spcPct val="50000"/>
              </a:spcBef>
            </a:pPr>
            <a:r>
              <a:rPr lang="en-US" altLang="zh-CN" sz="2800" dirty="0">
                <a:latin typeface="Times New Roman" panose="02020603050405020304" pitchFamily="18" charset="0"/>
                <a:ea typeface="宋体" panose="02010600030101010101" pitchFamily="2" charset="-122"/>
              </a:rPr>
              <a:t>29000H</a:t>
            </a:r>
          </a:p>
        </p:txBody>
      </p:sp>
      <p:sp>
        <p:nvSpPr>
          <p:cNvPr id="39955" name="矩形 302099"/>
          <p:cNvSpPr/>
          <p:nvPr/>
        </p:nvSpPr>
        <p:spPr>
          <a:xfrm>
            <a:off x="2314575" y="5462588"/>
            <a:ext cx="1798638" cy="658812"/>
          </a:xfrm>
          <a:prstGeom prst="rect">
            <a:avLst/>
          </a:prstGeom>
          <a:solidFill>
            <a:srgbClr val="99FFCC"/>
          </a:solidFill>
          <a:ln w="57150" cap="flat" cmpd="sng">
            <a:solidFill>
              <a:srgbClr val="006600"/>
            </a:solidFill>
            <a:prstDash val="solid"/>
            <a:miter/>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9956" name="直接连接符 302100"/>
          <p:cNvSpPr/>
          <p:nvPr/>
        </p:nvSpPr>
        <p:spPr>
          <a:xfrm>
            <a:off x="3214688" y="5462588"/>
            <a:ext cx="0" cy="658812"/>
          </a:xfrm>
          <a:prstGeom prst="line">
            <a:avLst/>
          </a:prstGeom>
          <a:ln w="38100" cap="flat" cmpd="sng">
            <a:solidFill>
              <a:srgbClr val="006600"/>
            </a:solidFill>
            <a:prstDash val="solid"/>
            <a:round/>
            <a:headEnd type="none" w="med" len="med"/>
            <a:tailEnd type="none" w="med" len="med"/>
          </a:ln>
        </p:spPr>
      </p:sp>
      <p:sp>
        <p:nvSpPr>
          <p:cNvPr id="39957" name="文本框 302101"/>
          <p:cNvSpPr txBox="1"/>
          <p:nvPr/>
        </p:nvSpPr>
        <p:spPr>
          <a:xfrm>
            <a:off x="2386013" y="5595938"/>
            <a:ext cx="828675" cy="427037"/>
          </a:xfrm>
          <a:prstGeom prst="rect">
            <a:avLst/>
          </a:prstGeom>
          <a:noFill/>
          <a:ln w="9525">
            <a:noFill/>
          </a:ln>
        </p:spPr>
        <p:txBody>
          <a:bodyPr lIns="0" tIns="0" rIns="0" bIns="0" anchor="t">
            <a:spAutoFit/>
          </a:bodyPr>
          <a:lstStyle/>
          <a:p>
            <a:pPr lvl="0" indent="0" algn="ctr">
              <a:spcBef>
                <a:spcPct val="50000"/>
              </a:spcBef>
            </a:pPr>
            <a:r>
              <a:rPr lang="en-US" altLang="zh-CN" sz="2800" b="1">
                <a:solidFill>
                  <a:srgbClr val="FF3300"/>
                </a:solidFill>
                <a:latin typeface="Times New Roman" panose="02020603050405020304" pitchFamily="18" charset="0"/>
                <a:ea typeface="宋体" panose="02010600030101010101" pitchFamily="2" charset="-122"/>
              </a:rPr>
              <a:t>AH</a:t>
            </a:r>
          </a:p>
        </p:txBody>
      </p:sp>
      <p:sp>
        <p:nvSpPr>
          <p:cNvPr id="39958" name="文本框 302102"/>
          <p:cNvSpPr txBox="1"/>
          <p:nvPr/>
        </p:nvSpPr>
        <p:spPr>
          <a:xfrm>
            <a:off x="3282950" y="5595938"/>
            <a:ext cx="830263" cy="427037"/>
          </a:xfrm>
          <a:prstGeom prst="rect">
            <a:avLst/>
          </a:prstGeom>
          <a:noFill/>
          <a:ln w="9525">
            <a:noFill/>
          </a:ln>
        </p:spPr>
        <p:txBody>
          <a:bodyPr lIns="0" tIns="0" rIns="0" bIns="0" anchor="t">
            <a:spAutoFit/>
          </a:bodyPr>
          <a:lstStyle/>
          <a:p>
            <a:pPr lvl="0" indent="0" algn="ctr">
              <a:spcBef>
                <a:spcPct val="50000"/>
              </a:spcBef>
            </a:pPr>
            <a:r>
              <a:rPr lang="en-US" altLang="zh-CN" sz="2800" b="1">
                <a:solidFill>
                  <a:srgbClr val="FF3300"/>
                </a:solidFill>
                <a:latin typeface="Times New Roman" panose="02020603050405020304" pitchFamily="18" charset="0"/>
                <a:ea typeface="宋体" panose="02010600030101010101" pitchFamily="2" charset="-122"/>
              </a:rPr>
              <a:t>AL</a:t>
            </a:r>
          </a:p>
        </p:txBody>
      </p:sp>
      <p:sp>
        <p:nvSpPr>
          <p:cNvPr id="39959" name="文本框 302103"/>
          <p:cNvSpPr txBox="1"/>
          <p:nvPr/>
        </p:nvSpPr>
        <p:spPr>
          <a:xfrm>
            <a:off x="1693863" y="5595938"/>
            <a:ext cx="620712" cy="427037"/>
          </a:xfrm>
          <a:prstGeom prst="rect">
            <a:avLst/>
          </a:prstGeom>
          <a:noFill/>
          <a:ln w="9525">
            <a:noFill/>
          </a:ln>
        </p:spPr>
        <p:txBody>
          <a:bodyPr lIns="0" tIns="0" rIns="0" bIns="0" anchor="t">
            <a:spAutoFit/>
          </a:bodyPr>
          <a:lstStyle/>
          <a:p>
            <a:pPr lvl="0" indent="0">
              <a:spcBef>
                <a:spcPct val="50000"/>
              </a:spcBef>
            </a:pPr>
            <a:r>
              <a:rPr lang="en-US" altLang="zh-CN" sz="2800" b="1">
                <a:latin typeface="Times New Roman" panose="02020603050405020304" pitchFamily="18" charset="0"/>
                <a:ea typeface="宋体" panose="02010600030101010101" pitchFamily="2" charset="-122"/>
              </a:rPr>
              <a:t>AX</a:t>
            </a:r>
          </a:p>
        </p:txBody>
      </p:sp>
      <p:sp>
        <p:nvSpPr>
          <p:cNvPr id="39960" name="椭圆 302104"/>
          <p:cNvSpPr/>
          <p:nvPr/>
        </p:nvSpPr>
        <p:spPr>
          <a:xfrm>
            <a:off x="5773738" y="5529263"/>
            <a:ext cx="138112" cy="131762"/>
          </a:xfrm>
          <a:prstGeom prst="ellipse">
            <a:avLst/>
          </a:prstGeom>
          <a:solidFill>
            <a:schemeClr val="tx2"/>
          </a:solidFill>
          <a:ln w="9525">
            <a:noFill/>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9961" name="椭圆 302105"/>
          <p:cNvSpPr/>
          <p:nvPr/>
        </p:nvSpPr>
        <p:spPr>
          <a:xfrm>
            <a:off x="5773738" y="5133975"/>
            <a:ext cx="138112" cy="131763"/>
          </a:xfrm>
          <a:prstGeom prst="ellipse">
            <a:avLst/>
          </a:prstGeom>
          <a:solidFill>
            <a:schemeClr val="tx2"/>
          </a:solidFill>
          <a:ln w="9525">
            <a:noFill/>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39962" name="文本框 302106"/>
          <p:cNvSpPr txBox="1"/>
          <p:nvPr/>
        </p:nvSpPr>
        <p:spPr>
          <a:xfrm>
            <a:off x="7710488" y="2898775"/>
            <a:ext cx="1036637" cy="365125"/>
          </a:xfrm>
          <a:prstGeom prst="rect">
            <a:avLst/>
          </a:prstGeom>
          <a:noFill/>
          <a:ln w="9525">
            <a:noFill/>
          </a:ln>
        </p:spPr>
        <p:txBody>
          <a:bodyPr lIns="0" tIns="0" rIns="0" bIns="0" anchor="t">
            <a:spAutoFit/>
          </a:bodyPr>
          <a:lstStyle/>
          <a:p>
            <a:pPr lvl="0" indent="0">
              <a:spcBef>
                <a:spcPct val="50000"/>
              </a:spcBef>
            </a:pPr>
            <a:r>
              <a:rPr lang="zh-CN" altLang="en-US" sz="2400" dirty="0">
                <a:latin typeface="Times New Roman" panose="02020603050405020304" pitchFamily="18" charset="0"/>
                <a:ea typeface="宋体" panose="02010600030101010101" pitchFamily="2" charset="-122"/>
              </a:rPr>
              <a:t>代码段</a:t>
            </a:r>
            <a:endParaRPr lang="zh-CN" altLang="en-US" sz="2400">
              <a:latin typeface="Times New Roman" panose="02020603050405020304" pitchFamily="18" charset="0"/>
              <a:ea typeface="宋体" panose="02010600030101010101" pitchFamily="2" charset="-122"/>
            </a:endParaRPr>
          </a:p>
        </p:txBody>
      </p:sp>
      <p:sp>
        <p:nvSpPr>
          <p:cNvPr id="39963" name="文本框 302107"/>
          <p:cNvSpPr txBox="1"/>
          <p:nvPr/>
        </p:nvSpPr>
        <p:spPr>
          <a:xfrm>
            <a:off x="7710488" y="5133975"/>
            <a:ext cx="1036637" cy="365125"/>
          </a:xfrm>
          <a:prstGeom prst="rect">
            <a:avLst/>
          </a:prstGeom>
          <a:noFill/>
          <a:ln w="9525">
            <a:noFill/>
          </a:ln>
        </p:spPr>
        <p:txBody>
          <a:bodyPr lIns="0" tIns="0" rIns="0" bIns="0" anchor="t">
            <a:spAutoFit/>
          </a:bodyPr>
          <a:lstStyle/>
          <a:p>
            <a:pPr lvl="0" indent="0">
              <a:spcBef>
                <a:spcPct val="50000"/>
              </a:spcBef>
            </a:pPr>
            <a:r>
              <a:rPr lang="zh-CN" altLang="en-US" sz="2400" dirty="0">
                <a:latin typeface="Times New Roman" panose="02020603050405020304" pitchFamily="18" charset="0"/>
                <a:ea typeface="宋体" panose="02010600030101010101" pitchFamily="2" charset="-122"/>
              </a:rPr>
              <a:t>数据段</a:t>
            </a:r>
            <a:endParaRPr lang="zh-CN" altLang="en-US" sz="2400">
              <a:latin typeface="Times New Roman" panose="02020603050405020304" pitchFamily="18" charset="0"/>
              <a:ea typeface="宋体" panose="02010600030101010101" pitchFamily="2" charset="-122"/>
            </a:endParaRPr>
          </a:p>
        </p:txBody>
      </p:sp>
      <p:sp>
        <p:nvSpPr>
          <p:cNvPr id="39964" name="直接连接符 302108"/>
          <p:cNvSpPr/>
          <p:nvPr/>
        </p:nvSpPr>
        <p:spPr>
          <a:xfrm>
            <a:off x="3160713" y="4745038"/>
            <a:ext cx="1109662" cy="371475"/>
          </a:xfrm>
          <a:prstGeom prst="line">
            <a:avLst/>
          </a:prstGeom>
          <a:ln w="28575" cap="flat" cmpd="sng">
            <a:solidFill>
              <a:schemeClr val="tx1"/>
            </a:solidFill>
            <a:prstDash val="solid"/>
            <a:round/>
            <a:headEnd type="none" w="med" len="med"/>
            <a:tailEnd type="triangle" w="med" len="lg"/>
          </a:ln>
        </p:spPr>
      </p:sp>
      <p:sp>
        <p:nvSpPr>
          <p:cNvPr id="39965" name="任意多边形 302109"/>
          <p:cNvSpPr/>
          <p:nvPr/>
        </p:nvSpPr>
        <p:spPr>
          <a:xfrm>
            <a:off x="2832100" y="5611813"/>
            <a:ext cx="3017838" cy="1058862"/>
          </a:xfrm>
          <a:custGeom>
            <a:avLst/>
            <a:gdLst/>
            <a:ahLst/>
            <a:cxnLst/>
            <a:rect l="0" t="0" r="0" b="0"/>
            <a:pathLst>
              <a:path w="1945" h="708">
                <a:moveTo>
                  <a:pt x="1945" y="0"/>
                </a:moveTo>
                <a:cubicBezTo>
                  <a:pt x="1923" y="61"/>
                  <a:pt x="1904" y="116"/>
                  <a:pt x="1869" y="170"/>
                </a:cubicBezTo>
                <a:cubicBezTo>
                  <a:pt x="1846" y="239"/>
                  <a:pt x="1846" y="228"/>
                  <a:pt x="1803" y="283"/>
                </a:cubicBezTo>
                <a:cubicBezTo>
                  <a:pt x="1766" y="330"/>
                  <a:pt x="1749" y="382"/>
                  <a:pt x="1699" y="415"/>
                </a:cubicBezTo>
                <a:cubicBezTo>
                  <a:pt x="1646" y="496"/>
                  <a:pt x="1716" y="403"/>
                  <a:pt x="1652" y="453"/>
                </a:cubicBezTo>
                <a:cubicBezTo>
                  <a:pt x="1643" y="460"/>
                  <a:pt x="1641" y="473"/>
                  <a:pt x="1633" y="481"/>
                </a:cubicBezTo>
                <a:cubicBezTo>
                  <a:pt x="1614" y="500"/>
                  <a:pt x="1599" y="502"/>
                  <a:pt x="1576" y="510"/>
                </a:cubicBezTo>
                <a:cubicBezTo>
                  <a:pt x="1513" y="573"/>
                  <a:pt x="1582" y="513"/>
                  <a:pt x="1520" y="547"/>
                </a:cubicBezTo>
                <a:cubicBezTo>
                  <a:pt x="1490" y="564"/>
                  <a:pt x="1467" y="593"/>
                  <a:pt x="1435" y="604"/>
                </a:cubicBezTo>
                <a:cubicBezTo>
                  <a:pt x="1416" y="610"/>
                  <a:pt x="1397" y="617"/>
                  <a:pt x="1378" y="623"/>
                </a:cubicBezTo>
                <a:cubicBezTo>
                  <a:pt x="1369" y="626"/>
                  <a:pt x="1350" y="632"/>
                  <a:pt x="1350" y="632"/>
                </a:cubicBezTo>
                <a:cubicBezTo>
                  <a:pt x="1278" y="681"/>
                  <a:pt x="1122" y="700"/>
                  <a:pt x="1038" y="708"/>
                </a:cubicBezTo>
                <a:cubicBezTo>
                  <a:pt x="893" y="705"/>
                  <a:pt x="749" y="705"/>
                  <a:pt x="604" y="699"/>
                </a:cubicBezTo>
                <a:cubicBezTo>
                  <a:pt x="543" y="696"/>
                  <a:pt x="430" y="643"/>
                  <a:pt x="368" y="623"/>
                </a:cubicBezTo>
                <a:cubicBezTo>
                  <a:pt x="294" y="599"/>
                  <a:pt x="234" y="553"/>
                  <a:pt x="170" y="510"/>
                </a:cubicBezTo>
                <a:cubicBezTo>
                  <a:pt x="94" y="460"/>
                  <a:pt x="187" y="522"/>
                  <a:pt x="113" y="472"/>
                </a:cubicBezTo>
                <a:cubicBezTo>
                  <a:pt x="104" y="466"/>
                  <a:pt x="85" y="453"/>
                  <a:pt x="85" y="453"/>
                </a:cubicBezTo>
                <a:cubicBezTo>
                  <a:pt x="35" y="379"/>
                  <a:pt x="101" y="468"/>
                  <a:pt x="37" y="406"/>
                </a:cubicBezTo>
                <a:cubicBezTo>
                  <a:pt x="23" y="392"/>
                  <a:pt x="14" y="373"/>
                  <a:pt x="0" y="359"/>
                </a:cubicBezTo>
              </a:path>
            </a:pathLst>
          </a:custGeom>
          <a:noFill/>
          <a:ln w="38100" cap="flat" cmpd="sng">
            <a:solidFill>
              <a:schemeClr val="tx2"/>
            </a:solidFill>
            <a:prstDash val="solid"/>
            <a:round/>
            <a:headEnd type="none" w="med" len="med"/>
            <a:tailEnd type="triangle" w="lg" len="lg"/>
          </a:ln>
        </p:spPr>
        <p:txBody>
          <a:bodyPr/>
          <a:lstStyle/>
          <a:p>
            <a:endParaRPr lang="zh-CN" altLang="en-US"/>
          </a:p>
        </p:txBody>
      </p:sp>
      <p:sp>
        <p:nvSpPr>
          <p:cNvPr id="39966" name="任意多边形 302110"/>
          <p:cNvSpPr/>
          <p:nvPr/>
        </p:nvSpPr>
        <p:spPr>
          <a:xfrm>
            <a:off x="3752850" y="5183188"/>
            <a:ext cx="2070100" cy="1300162"/>
          </a:xfrm>
          <a:custGeom>
            <a:avLst/>
            <a:gdLst/>
            <a:ahLst/>
            <a:cxnLst/>
            <a:rect l="0" t="0" r="0" b="0"/>
            <a:pathLst>
              <a:path w="1436" h="826">
                <a:moveTo>
                  <a:pt x="1436" y="0"/>
                </a:moveTo>
                <a:cubicBezTo>
                  <a:pt x="1410" y="78"/>
                  <a:pt x="1428" y="41"/>
                  <a:pt x="1379" y="114"/>
                </a:cubicBezTo>
                <a:cubicBezTo>
                  <a:pt x="1373" y="123"/>
                  <a:pt x="1360" y="142"/>
                  <a:pt x="1360" y="142"/>
                </a:cubicBezTo>
                <a:cubicBezTo>
                  <a:pt x="1329" y="239"/>
                  <a:pt x="1236" y="331"/>
                  <a:pt x="1153" y="387"/>
                </a:cubicBezTo>
                <a:cubicBezTo>
                  <a:pt x="1126" y="429"/>
                  <a:pt x="1082" y="439"/>
                  <a:pt x="1049" y="472"/>
                </a:cubicBezTo>
                <a:cubicBezTo>
                  <a:pt x="1021" y="500"/>
                  <a:pt x="1002" y="517"/>
                  <a:pt x="964" y="529"/>
                </a:cubicBezTo>
                <a:cubicBezTo>
                  <a:pt x="930" y="562"/>
                  <a:pt x="891" y="578"/>
                  <a:pt x="850" y="605"/>
                </a:cubicBezTo>
                <a:cubicBezTo>
                  <a:pt x="794" y="642"/>
                  <a:pt x="735" y="687"/>
                  <a:pt x="671" y="708"/>
                </a:cubicBezTo>
                <a:cubicBezTo>
                  <a:pt x="590" y="763"/>
                  <a:pt x="473" y="783"/>
                  <a:pt x="378" y="803"/>
                </a:cubicBezTo>
                <a:cubicBezTo>
                  <a:pt x="247" y="797"/>
                  <a:pt x="176" y="826"/>
                  <a:pt x="86" y="765"/>
                </a:cubicBezTo>
                <a:cubicBezTo>
                  <a:pt x="60" y="726"/>
                  <a:pt x="44" y="689"/>
                  <a:pt x="19" y="652"/>
                </a:cubicBezTo>
                <a:cubicBezTo>
                  <a:pt x="0" y="592"/>
                  <a:pt x="1" y="615"/>
                  <a:pt x="1" y="586"/>
                </a:cubicBezTo>
              </a:path>
            </a:pathLst>
          </a:custGeom>
          <a:noFill/>
          <a:ln w="38100" cap="flat" cmpd="sng">
            <a:solidFill>
              <a:schemeClr val="tx2"/>
            </a:solidFill>
            <a:prstDash val="solid"/>
            <a:round/>
            <a:headEnd type="none" w="med" len="med"/>
            <a:tailEnd type="triangle" w="lg" len="lg"/>
          </a:ln>
        </p:spPr>
        <p:txBody>
          <a:bodyPr/>
          <a:lstStyle/>
          <a:p>
            <a:endParaRPr lang="zh-CN" altLang="en-US"/>
          </a:p>
        </p:txBody>
      </p:sp>
      <p:sp>
        <p:nvSpPr>
          <p:cNvPr id="39967" name="文本框 302111"/>
          <p:cNvSpPr txBox="1"/>
          <p:nvPr/>
        </p:nvSpPr>
        <p:spPr>
          <a:xfrm>
            <a:off x="6492875" y="2257425"/>
            <a:ext cx="193675" cy="585788"/>
          </a:xfrm>
          <a:prstGeom prst="rect">
            <a:avLst/>
          </a:prstGeom>
          <a:noFill/>
          <a:ln w="9525">
            <a:noFill/>
          </a:ln>
        </p:spPr>
        <p:txBody>
          <a:bodyPr lIns="0" tIns="0" rIns="0" bIns="0" anchor="t">
            <a:spAutoFit/>
          </a:bodyPr>
          <a:lstStyle/>
          <a:p>
            <a:pPr lvl="0" indent="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indent="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indent="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endParaRPr lang="en-US" altLang="zh-CN" sz="3200" b="1">
              <a:latin typeface="Times New Roman" panose="02020603050405020304" pitchFamily="18" charset="0"/>
              <a:ea typeface="宋体" panose="02010600030101010101" pitchFamily="2" charset="-122"/>
            </a:endParaRPr>
          </a:p>
        </p:txBody>
      </p:sp>
      <p:sp>
        <p:nvSpPr>
          <p:cNvPr id="39968" name="文本框 302112"/>
          <p:cNvSpPr txBox="1"/>
          <p:nvPr/>
        </p:nvSpPr>
        <p:spPr>
          <a:xfrm>
            <a:off x="6492875" y="4246563"/>
            <a:ext cx="193675" cy="585787"/>
          </a:xfrm>
          <a:prstGeom prst="rect">
            <a:avLst/>
          </a:prstGeom>
          <a:noFill/>
          <a:ln w="9525">
            <a:noFill/>
          </a:ln>
        </p:spPr>
        <p:txBody>
          <a:bodyPr lIns="0" tIns="0" rIns="0" bIns="0" anchor="t">
            <a:spAutoFit/>
          </a:bodyPr>
          <a:lstStyle/>
          <a:p>
            <a:pPr lvl="0" indent="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indent="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indent="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endParaRPr lang="en-US" altLang="zh-CN" sz="3200" b="1">
              <a:latin typeface="Times New Roman" panose="02020603050405020304" pitchFamily="18" charset="0"/>
              <a:ea typeface="宋体" panose="02010600030101010101" pitchFamily="2" charset="-122"/>
            </a:endParaRPr>
          </a:p>
        </p:txBody>
      </p:sp>
      <p:sp>
        <p:nvSpPr>
          <p:cNvPr id="39969" name="文本框 302113"/>
          <p:cNvSpPr txBox="1"/>
          <p:nvPr/>
        </p:nvSpPr>
        <p:spPr>
          <a:xfrm>
            <a:off x="6492875" y="5926138"/>
            <a:ext cx="193675" cy="585787"/>
          </a:xfrm>
          <a:prstGeom prst="rect">
            <a:avLst/>
          </a:prstGeom>
          <a:noFill/>
          <a:ln w="9525">
            <a:noFill/>
          </a:ln>
        </p:spPr>
        <p:txBody>
          <a:bodyPr lIns="0" tIns="0" rIns="0" bIns="0" anchor="t">
            <a:spAutoFit/>
          </a:bodyPr>
          <a:lstStyle/>
          <a:p>
            <a:pPr lvl="0" indent="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indent="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indent="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endParaRPr lang="en-US" altLang="zh-CN" sz="3200" b="1">
              <a:latin typeface="Times New Roman" panose="02020603050405020304" pitchFamily="18" charset="0"/>
              <a:ea typeface="宋体" panose="02010600030101010101" pitchFamily="2" charset="-122"/>
            </a:endParaRPr>
          </a:p>
        </p:txBody>
      </p:sp>
      <p:sp>
        <p:nvSpPr>
          <p:cNvPr id="39970" name="文本框 302114"/>
          <p:cNvSpPr txBox="1"/>
          <p:nvPr/>
        </p:nvSpPr>
        <p:spPr>
          <a:xfrm>
            <a:off x="6230938" y="4992688"/>
            <a:ext cx="828675" cy="365125"/>
          </a:xfrm>
          <a:prstGeom prst="rect">
            <a:avLst/>
          </a:prstGeom>
          <a:noFill/>
          <a:ln w="9525">
            <a:noFill/>
          </a:ln>
        </p:spPr>
        <p:txBody>
          <a:bodyPr lIns="0" tIns="0" rIns="0" bIns="0" anchor="t">
            <a:spAutoFit/>
          </a:bodyPr>
          <a:lstStyle/>
          <a:p>
            <a:pPr lvl="0" indent="0" algn="ctr">
              <a:spcBef>
                <a:spcPct val="50000"/>
              </a:spcBef>
            </a:pPr>
            <a:r>
              <a:rPr lang="en-US" altLang="zh-CN" sz="2400" b="1">
                <a:solidFill>
                  <a:srgbClr val="FF3300"/>
                </a:solidFill>
                <a:latin typeface="Times New Roman" panose="02020603050405020304" pitchFamily="18" charset="0"/>
                <a:ea typeface="宋体" panose="02010600030101010101" pitchFamily="2" charset="-122"/>
              </a:rPr>
              <a:t>78</a:t>
            </a:r>
          </a:p>
        </p:txBody>
      </p:sp>
      <p:sp>
        <p:nvSpPr>
          <p:cNvPr id="39971" name="文本框 302115"/>
          <p:cNvSpPr txBox="1"/>
          <p:nvPr/>
        </p:nvSpPr>
        <p:spPr>
          <a:xfrm>
            <a:off x="6230938" y="5429250"/>
            <a:ext cx="828675" cy="365125"/>
          </a:xfrm>
          <a:prstGeom prst="rect">
            <a:avLst/>
          </a:prstGeom>
          <a:noFill/>
          <a:ln w="9525">
            <a:noFill/>
          </a:ln>
        </p:spPr>
        <p:txBody>
          <a:bodyPr lIns="0" tIns="0" rIns="0" bIns="0" anchor="t">
            <a:spAutoFit/>
          </a:bodyPr>
          <a:lstStyle/>
          <a:p>
            <a:pPr lvl="0" indent="0" algn="ctr">
              <a:spcBef>
                <a:spcPct val="50000"/>
              </a:spcBef>
            </a:pPr>
            <a:r>
              <a:rPr lang="en-US" altLang="zh-CN" sz="2400" b="1">
                <a:solidFill>
                  <a:srgbClr val="FF3300"/>
                </a:solidFill>
                <a:latin typeface="Times New Roman" panose="02020603050405020304" pitchFamily="18" charset="0"/>
                <a:ea typeface="宋体" panose="02010600030101010101" pitchFamily="2" charset="-122"/>
              </a:rPr>
              <a:t>56</a:t>
            </a:r>
          </a:p>
        </p:txBody>
      </p:sp>
      <p:sp>
        <p:nvSpPr>
          <p:cNvPr id="39972" name="文本框 302116"/>
          <p:cNvSpPr txBox="1"/>
          <p:nvPr/>
        </p:nvSpPr>
        <p:spPr>
          <a:xfrm>
            <a:off x="179388" y="892175"/>
            <a:ext cx="8713787" cy="1181862"/>
          </a:xfrm>
          <a:prstGeom prst="rect">
            <a:avLst/>
          </a:prstGeom>
          <a:noFill/>
          <a:ln w="9525">
            <a:noFill/>
          </a:ln>
        </p:spPr>
        <p:txBody>
          <a:bodyPr lIns="0" tIns="0" rIns="0" bIns="0" anchor="t">
            <a:spAutoFit/>
          </a:bodyPr>
          <a:lstStyle/>
          <a:p>
            <a:pPr lvl="0" indent="0">
              <a:spcBef>
                <a:spcPct val="50000"/>
              </a:spcBef>
            </a:pPr>
            <a:r>
              <a:rPr lang="zh-CN" altLang="en-US" sz="2400" b="1" dirty="0">
                <a:latin typeface="Times New Roman" panose="02020603050405020304" pitchFamily="18" charset="0"/>
                <a:ea typeface="宋体" panose="02010600030101010101" pitchFamily="2" charset="-122"/>
              </a:rPr>
              <a:t>指令操作例：</a:t>
            </a:r>
            <a:endParaRPr lang="en-US" altLang="zh-CN" sz="2400" b="1" dirty="0">
              <a:latin typeface="Times New Roman" panose="02020603050405020304" pitchFamily="18" charset="0"/>
              <a:ea typeface="宋体" panose="02010600030101010101" pitchFamily="2" charset="-122"/>
            </a:endParaRPr>
          </a:p>
          <a:p>
            <a:pPr lvl="0" indent="0">
              <a:spcBef>
                <a:spcPct val="20000"/>
              </a:spcBef>
            </a:pPr>
            <a:r>
              <a:rPr lang="zh-CN" altLang="en-US" sz="2400" b="1" dirty="0">
                <a:latin typeface="Times New Roman" panose="02020603050405020304" pitchFamily="18" charset="0"/>
                <a:ea typeface="宋体" panose="02010600030101010101" pitchFamily="2" charset="-122"/>
              </a:rPr>
              <a:t>设</a:t>
            </a:r>
            <a:r>
              <a:rPr lang="en-US" altLang="zh-CN" sz="2400" b="1" dirty="0">
                <a:latin typeface="Times New Roman" panose="02020603050405020304" pitchFamily="18" charset="0"/>
                <a:ea typeface="宋体" panose="02010600030101010101" pitchFamily="2" charset="-122"/>
              </a:rPr>
              <a:t>DS=2000H,  BX=8000H,  SI=1000H</a:t>
            </a:r>
            <a:r>
              <a:rPr lang="zh-CN" altLang="en-US"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物理地址</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29000H</a:t>
            </a:r>
            <a:r>
              <a:rPr lang="zh-CN" altLang="en-US" sz="2400" b="1" dirty="0">
                <a:latin typeface="Arial" panose="020B0604020202020204" pitchFamily="34" charset="0"/>
                <a:ea typeface="宋体" panose="02010600030101010101" pitchFamily="2" charset="-122"/>
              </a:rPr>
              <a:t>）单元内容为</a:t>
            </a:r>
            <a:r>
              <a:rPr lang="en-US" altLang="zh-CN" sz="2400" b="1" dirty="0">
                <a:latin typeface="Arial" panose="020B0604020202020204" pitchFamily="34" charset="0"/>
                <a:ea typeface="宋体" panose="02010600030101010101" pitchFamily="2" charset="-122"/>
              </a:rPr>
              <a:t>5678H</a:t>
            </a:r>
            <a:r>
              <a:rPr lang="zh-CN" altLang="en-US" sz="2400" b="1" dirty="0">
                <a:latin typeface="Arial" panose="020B0604020202020204" pitchFamily="34"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则执行指令</a:t>
            </a:r>
            <a:r>
              <a:rPr lang="en-US" altLang="zh-CN" sz="2400" b="1" dirty="0">
                <a:solidFill>
                  <a:srgbClr val="0000FF"/>
                </a:solidFill>
                <a:latin typeface="Times New Roman" panose="02020603050405020304" pitchFamily="18" charset="0"/>
                <a:ea typeface="宋体" panose="02010600030101010101" pitchFamily="2" charset="-122"/>
              </a:rPr>
              <a:t>MOV  AX</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[BX][SI]</a:t>
            </a:r>
            <a:r>
              <a:rPr lang="zh-CN" altLang="en-US" sz="2400" b="1" dirty="0">
                <a:latin typeface="宋体" panose="02010600030101010101" pitchFamily="2" charset="-122"/>
                <a:ea typeface="宋体" panose="02010600030101010101" pitchFamily="2" charset="-122"/>
              </a:rPr>
              <a:t>后，</a:t>
            </a:r>
            <a:r>
              <a:rPr lang="en-US" altLang="zh-CN" sz="2400" b="1" dirty="0">
                <a:latin typeface="宋体" panose="02010600030101010101" pitchFamily="2" charset="-122"/>
                <a:ea typeface="宋体" panose="02010600030101010101" pitchFamily="2" charset="-122"/>
              </a:rPr>
              <a:t>AX=5678H</a:t>
            </a:r>
          </a:p>
        </p:txBody>
      </p:sp>
      <p:sp>
        <p:nvSpPr>
          <p:cNvPr id="39973" name="矩形 302117"/>
          <p:cNvSpPr/>
          <p:nvPr/>
        </p:nvSpPr>
        <p:spPr>
          <a:xfrm>
            <a:off x="2195513" y="260350"/>
            <a:ext cx="4895850"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
        <p:nvSpPr>
          <p:cNvPr id="39" name="文本框 302098">
            <a:extLst>
              <a:ext uri="{FF2B5EF4-FFF2-40B4-BE49-F238E27FC236}">
                <a16:creationId xmlns:a16="http://schemas.microsoft.com/office/drawing/2014/main" id="{213C0B74-AA44-42F2-8670-07AE58483F17}"/>
              </a:ext>
            </a:extLst>
          </p:cNvPr>
          <p:cNvSpPr txBox="1"/>
          <p:nvPr/>
        </p:nvSpPr>
        <p:spPr>
          <a:xfrm>
            <a:off x="4297363" y="5473701"/>
            <a:ext cx="1228725" cy="427038"/>
          </a:xfrm>
          <a:prstGeom prst="rect">
            <a:avLst/>
          </a:prstGeom>
          <a:noFill/>
          <a:ln w="9525">
            <a:noFill/>
          </a:ln>
        </p:spPr>
        <p:txBody>
          <a:bodyPr lIns="0" tIns="0" rIns="0" bIns="0" anchor="t">
            <a:spAutoFit/>
          </a:bodyPr>
          <a:lstStyle/>
          <a:p>
            <a:pPr lvl="0" indent="0" algn="r">
              <a:spcBef>
                <a:spcPct val="50000"/>
              </a:spcBef>
            </a:pPr>
            <a:r>
              <a:rPr lang="en-US" altLang="zh-CN" sz="2800" dirty="0">
                <a:latin typeface="Times New Roman" panose="02020603050405020304" pitchFamily="18" charset="0"/>
                <a:ea typeface="宋体" panose="02010600030101010101" pitchFamily="2" charset="-122"/>
              </a:rPr>
              <a:t>29001H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矩形 304129"/>
          <p:cNvSpPr/>
          <p:nvPr/>
        </p:nvSpPr>
        <p:spPr>
          <a:xfrm>
            <a:off x="395288" y="871538"/>
            <a:ext cx="3529012" cy="325437"/>
          </a:xfrm>
          <a:prstGeom prst="rect">
            <a:avLst/>
          </a:prstGeom>
          <a:noFill/>
          <a:ln w="9525">
            <a:noFill/>
          </a:ln>
        </p:spPr>
        <p:txBody>
          <a:bodyPr lIns="0" tIns="0" rIns="0" bIns="0" anchor="ctr"/>
          <a:lstStyle/>
          <a:p>
            <a:pPr lvl="0" indent="0">
              <a:buClrTx/>
            </a:pPr>
            <a:r>
              <a:rPr lang="en-US" altLang="zh-CN" sz="2400" b="1" dirty="0">
                <a:latin typeface="Arial" panose="020B0604020202020204" pitchFamily="34" charset="0"/>
              </a:rPr>
              <a:t>5</a:t>
            </a:r>
            <a:r>
              <a:rPr lang="zh-CN" altLang="en-US" sz="2400" b="1" dirty="0">
                <a:latin typeface="Times New Roman" panose="02020603050405020304" pitchFamily="18" charset="0"/>
                <a:ea typeface="宋体" panose="02010600030101010101" pitchFamily="2" charset="-122"/>
              </a:rPr>
              <a:t>、基址变址相对寻址</a:t>
            </a:r>
          </a:p>
        </p:txBody>
      </p:sp>
      <p:sp>
        <p:nvSpPr>
          <p:cNvPr id="41986" name="文本框 304130"/>
          <p:cNvSpPr txBox="1"/>
          <p:nvPr/>
        </p:nvSpPr>
        <p:spPr>
          <a:xfrm>
            <a:off x="395288" y="1341438"/>
            <a:ext cx="8353425" cy="738664"/>
          </a:xfrm>
          <a:prstGeom prst="rect">
            <a:avLst/>
          </a:prstGeom>
          <a:noFill/>
          <a:ln w="9525">
            <a:noFill/>
          </a:ln>
        </p:spPr>
        <p:txBody>
          <a:bodyPr lIns="0" tIns="0" rIns="0" bIns="0" anchor="t">
            <a:spAutoFit/>
          </a:bodyPr>
          <a:lstStyle/>
          <a:p>
            <a:pPr lvl="0" indent="0">
              <a:spcBef>
                <a:spcPct val="50000"/>
              </a:spcBef>
              <a:buClrTx/>
              <a:buSzPct val="80000"/>
              <a:buFont typeface="Wingdings" panose="05000000000000000000" pitchFamily="2" charset="2"/>
              <a:buNone/>
            </a:pPr>
            <a:r>
              <a:rPr lang="zh-CN" altLang="en-US" sz="2400" b="1" dirty="0">
                <a:solidFill>
                  <a:srgbClr val="00FFFF"/>
                </a:solidFill>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在</a:t>
            </a:r>
            <a:r>
              <a:rPr lang="en-US" altLang="en-US" sz="2400" b="1" dirty="0" err="1">
                <a:latin typeface="Times New Roman" panose="02020603050405020304" pitchFamily="18" charset="0"/>
                <a:ea typeface="宋体" panose="02010600030101010101" pitchFamily="2" charset="-122"/>
              </a:rPr>
              <a:t>基址</a:t>
            </a:r>
            <a:r>
              <a:rPr lang="zh-CN" altLang="en-US"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变址寻址的基础上再增加一个</a:t>
            </a:r>
            <a:r>
              <a:rPr lang="en-US" altLang="zh-CN" sz="2400" b="1" dirty="0">
                <a:latin typeface="宋体" panose="02010600030101010101" pitchFamily="2" charset="-122"/>
                <a:ea typeface="宋体" panose="02010600030101010101" pitchFamily="2" charset="-122"/>
              </a:rPr>
              <a:t>8</a:t>
            </a:r>
            <a:r>
              <a:rPr lang="zh-CN" altLang="en-US" sz="2400" b="1" dirty="0">
                <a:latin typeface="宋体" panose="02010600030101010101" pitchFamily="2" charset="-122"/>
                <a:ea typeface="宋体" panose="02010600030101010101" pitchFamily="2" charset="-122"/>
              </a:rPr>
              <a:t>位或</a:t>
            </a:r>
            <a:r>
              <a:rPr lang="en-US" altLang="zh-CN" sz="2400" b="1" dirty="0">
                <a:latin typeface="宋体" panose="02010600030101010101" pitchFamily="2" charset="-122"/>
                <a:ea typeface="宋体" panose="02010600030101010101" pitchFamily="2" charset="-122"/>
              </a:rPr>
              <a:t>16</a:t>
            </a:r>
            <a:r>
              <a:rPr lang="zh-CN" altLang="en-US" sz="2400" b="1" dirty="0">
                <a:latin typeface="宋体" panose="02010600030101010101" pitchFamily="2" charset="-122"/>
                <a:ea typeface="宋体" panose="02010600030101010101" pitchFamily="2" charset="-122"/>
              </a:rPr>
              <a:t>位位移量，三者之和为位移地址</a:t>
            </a:r>
            <a:endParaRPr lang="zh-CN" altLang="en-US" sz="2400" b="1" dirty="0">
              <a:latin typeface="Times New Roman" panose="02020603050405020304" pitchFamily="18" charset="0"/>
              <a:ea typeface="宋体" panose="02010600030101010101" pitchFamily="2" charset="-122"/>
            </a:endParaRPr>
          </a:p>
        </p:txBody>
      </p:sp>
      <p:grpSp>
        <p:nvGrpSpPr>
          <p:cNvPr id="41987" name="组合 304148"/>
          <p:cNvGrpSpPr/>
          <p:nvPr/>
        </p:nvGrpSpPr>
        <p:grpSpPr>
          <a:xfrm>
            <a:off x="1115616" y="2204913"/>
            <a:ext cx="7118350" cy="1008063"/>
            <a:chOff x="477" y="1344"/>
            <a:chExt cx="4484" cy="635"/>
          </a:xfrm>
        </p:grpSpPr>
        <p:sp>
          <p:nvSpPr>
            <p:cNvPr id="41988" name="文本框 304131"/>
            <p:cNvSpPr txBox="1"/>
            <p:nvPr/>
          </p:nvSpPr>
          <p:spPr>
            <a:xfrm>
              <a:off x="477" y="1567"/>
              <a:ext cx="589" cy="230"/>
            </a:xfrm>
            <a:prstGeom prst="rect">
              <a:avLst/>
            </a:prstGeom>
            <a:noFill/>
            <a:ln w="9525">
              <a:noFill/>
            </a:ln>
          </p:spPr>
          <p:txBody>
            <a:bodyPr lIns="0" tIns="0" rIns="0" bIns="0" anchor="t">
              <a:spAutoFit/>
            </a:bodyPr>
            <a:lstStyle/>
            <a:p>
              <a:pPr lvl="0" indent="0"/>
              <a:r>
                <a:rPr lang="en-US" altLang="zh-CN" sz="2400">
                  <a:latin typeface="Arial" panose="020B0604020202020204" pitchFamily="34" charset="0"/>
                  <a:ea typeface="宋体" panose="02010600030101010101" pitchFamily="2" charset="-122"/>
                </a:rPr>
                <a:t>EA = </a:t>
              </a:r>
            </a:p>
          </p:txBody>
        </p:sp>
        <p:sp>
          <p:nvSpPr>
            <p:cNvPr id="41989" name="文本框 304132"/>
            <p:cNvSpPr txBox="1"/>
            <p:nvPr/>
          </p:nvSpPr>
          <p:spPr>
            <a:xfrm>
              <a:off x="1330" y="1353"/>
              <a:ext cx="498" cy="529"/>
            </a:xfrm>
            <a:prstGeom prst="rect">
              <a:avLst/>
            </a:prstGeom>
            <a:noFill/>
            <a:ln w="9525">
              <a:noFill/>
            </a:ln>
          </p:spPr>
          <p:txBody>
            <a:bodyPr lIns="0" tIns="0" rIns="0" bIns="0" anchor="t">
              <a:spAutoFit/>
            </a:bodyPr>
            <a:lstStyle/>
            <a:p>
              <a:pPr lvl="0" indent="0" algn="ctr">
                <a:spcBef>
                  <a:spcPct val="30000"/>
                </a:spcBef>
              </a:pPr>
              <a:r>
                <a:rPr lang="en-US" altLang="zh-CN" sz="2400">
                  <a:latin typeface="Arial" panose="020B0604020202020204" pitchFamily="34" charset="0"/>
                  <a:ea typeface="宋体" panose="02010600030101010101" pitchFamily="2" charset="-122"/>
                </a:rPr>
                <a:t>BX</a:t>
              </a:r>
            </a:p>
            <a:p>
              <a:pPr lvl="0" indent="0" algn="ctr">
                <a:spcBef>
                  <a:spcPct val="30000"/>
                </a:spcBef>
              </a:pPr>
              <a:r>
                <a:rPr lang="en-US" altLang="zh-CN" sz="2400">
                  <a:latin typeface="Arial" panose="020B0604020202020204" pitchFamily="34" charset="0"/>
                  <a:ea typeface="宋体" panose="02010600030101010101" pitchFamily="2" charset="-122"/>
                </a:rPr>
                <a:t>BP</a:t>
              </a:r>
            </a:p>
          </p:txBody>
        </p:sp>
        <p:sp>
          <p:nvSpPr>
            <p:cNvPr id="41990" name="左大括号 304133"/>
            <p:cNvSpPr/>
            <p:nvPr/>
          </p:nvSpPr>
          <p:spPr>
            <a:xfrm>
              <a:off x="1202" y="1371"/>
              <a:ext cx="90" cy="590"/>
            </a:xfrm>
            <a:prstGeom prst="leftBrace">
              <a:avLst>
                <a:gd name="adj1" fmla="val 54599"/>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41991" name="右大括号 304134"/>
            <p:cNvSpPr/>
            <p:nvPr/>
          </p:nvSpPr>
          <p:spPr>
            <a:xfrm>
              <a:off x="1838" y="1371"/>
              <a:ext cx="136" cy="590"/>
            </a:xfrm>
            <a:prstGeom prst="rightBrace">
              <a:avLst>
                <a:gd name="adj1" fmla="val 36131"/>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41992" name="文本框 304135"/>
            <p:cNvSpPr txBox="1"/>
            <p:nvPr/>
          </p:nvSpPr>
          <p:spPr>
            <a:xfrm>
              <a:off x="1976" y="1567"/>
              <a:ext cx="273" cy="230"/>
            </a:xfrm>
            <a:prstGeom prst="rect">
              <a:avLst/>
            </a:prstGeom>
            <a:noFill/>
            <a:ln w="9525">
              <a:noFill/>
            </a:ln>
          </p:spPr>
          <p:txBody>
            <a:bodyPr lIns="0" tIns="0" rIns="0" bIns="0" anchor="t">
              <a:spAutoFit/>
            </a:bodyPr>
            <a:lstStyle/>
            <a:p>
              <a:pPr lvl="0" indent="0" algn="ctr"/>
              <a:r>
                <a:rPr lang="en-US" altLang="zh-CN" sz="2400">
                  <a:latin typeface="Arial" panose="020B0604020202020204" pitchFamily="34" charset="0"/>
                  <a:ea typeface="宋体" panose="02010600030101010101" pitchFamily="2" charset="-122"/>
                </a:rPr>
                <a:t>+ </a:t>
              </a:r>
            </a:p>
          </p:txBody>
        </p:sp>
        <p:sp>
          <p:nvSpPr>
            <p:cNvPr id="41993" name="文本框 304136"/>
            <p:cNvSpPr txBox="1"/>
            <p:nvPr/>
          </p:nvSpPr>
          <p:spPr>
            <a:xfrm>
              <a:off x="2314" y="1344"/>
              <a:ext cx="498" cy="529"/>
            </a:xfrm>
            <a:prstGeom prst="rect">
              <a:avLst/>
            </a:prstGeom>
            <a:noFill/>
            <a:ln w="9525">
              <a:noFill/>
            </a:ln>
          </p:spPr>
          <p:txBody>
            <a:bodyPr lIns="0" tIns="0" rIns="0" bIns="0" anchor="t">
              <a:spAutoFit/>
            </a:bodyPr>
            <a:lstStyle/>
            <a:p>
              <a:pPr lvl="0" indent="0" algn="ctr">
                <a:spcBef>
                  <a:spcPct val="30000"/>
                </a:spcBef>
              </a:pPr>
              <a:r>
                <a:rPr lang="en-US" altLang="zh-CN" sz="2400">
                  <a:latin typeface="Arial" panose="020B0604020202020204" pitchFamily="34" charset="0"/>
                  <a:ea typeface="宋体" panose="02010600030101010101" pitchFamily="2" charset="-122"/>
                </a:rPr>
                <a:t>SI</a:t>
              </a:r>
            </a:p>
            <a:p>
              <a:pPr lvl="0" indent="0" algn="ctr">
                <a:spcBef>
                  <a:spcPct val="30000"/>
                </a:spcBef>
              </a:pPr>
              <a:r>
                <a:rPr lang="en-US" altLang="zh-CN" sz="2400">
                  <a:latin typeface="Arial" panose="020B0604020202020204" pitchFamily="34" charset="0"/>
                  <a:ea typeface="宋体" panose="02010600030101010101" pitchFamily="2" charset="-122"/>
                </a:rPr>
                <a:t>DI</a:t>
              </a:r>
            </a:p>
          </p:txBody>
        </p:sp>
        <p:sp>
          <p:nvSpPr>
            <p:cNvPr id="41994" name="左大括号 304137"/>
            <p:cNvSpPr/>
            <p:nvPr/>
          </p:nvSpPr>
          <p:spPr>
            <a:xfrm>
              <a:off x="2231" y="1389"/>
              <a:ext cx="90" cy="590"/>
            </a:xfrm>
            <a:prstGeom prst="leftBrace">
              <a:avLst>
                <a:gd name="adj1" fmla="val 54599"/>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41995" name="右大括号 304138"/>
            <p:cNvSpPr/>
            <p:nvPr/>
          </p:nvSpPr>
          <p:spPr>
            <a:xfrm>
              <a:off x="2777" y="1389"/>
              <a:ext cx="136" cy="590"/>
            </a:xfrm>
            <a:prstGeom prst="rightBrace">
              <a:avLst>
                <a:gd name="adj1" fmla="val 36131"/>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41996" name="文本框 304139"/>
            <p:cNvSpPr txBox="1"/>
            <p:nvPr/>
          </p:nvSpPr>
          <p:spPr>
            <a:xfrm>
              <a:off x="2970" y="1567"/>
              <a:ext cx="273" cy="230"/>
            </a:xfrm>
            <a:prstGeom prst="rect">
              <a:avLst/>
            </a:prstGeom>
            <a:noFill/>
            <a:ln w="9525">
              <a:noFill/>
            </a:ln>
          </p:spPr>
          <p:txBody>
            <a:bodyPr lIns="0" tIns="0" rIns="0" bIns="0" anchor="t">
              <a:spAutoFit/>
            </a:bodyPr>
            <a:lstStyle/>
            <a:p>
              <a:pPr lvl="0" indent="0" algn="ctr"/>
              <a:r>
                <a:rPr lang="en-US" altLang="zh-CN" sz="2400">
                  <a:latin typeface="Arial" panose="020B0604020202020204" pitchFamily="34" charset="0"/>
                  <a:ea typeface="宋体" panose="02010600030101010101" pitchFamily="2" charset="-122"/>
                </a:rPr>
                <a:t>+ </a:t>
              </a:r>
            </a:p>
          </p:txBody>
        </p:sp>
        <p:sp>
          <p:nvSpPr>
            <p:cNvPr id="41997" name="文本框 304140"/>
            <p:cNvSpPr txBox="1"/>
            <p:nvPr/>
          </p:nvSpPr>
          <p:spPr>
            <a:xfrm>
              <a:off x="3399" y="1353"/>
              <a:ext cx="498" cy="529"/>
            </a:xfrm>
            <a:prstGeom prst="rect">
              <a:avLst/>
            </a:prstGeom>
            <a:noFill/>
            <a:ln w="9525">
              <a:noFill/>
            </a:ln>
          </p:spPr>
          <p:txBody>
            <a:bodyPr lIns="0" tIns="0" rIns="0" bIns="0" anchor="t">
              <a:spAutoFit/>
            </a:bodyPr>
            <a:lstStyle/>
            <a:p>
              <a:pPr lvl="0" indent="0" algn="ctr">
                <a:spcBef>
                  <a:spcPct val="30000"/>
                </a:spcBef>
              </a:pPr>
              <a:r>
                <a:rPr lang="en-US" altLang="zh-CN" sz="2400">
                  <a:latin typeface="Arial" panose="020B0604020202020204" pitchFamily="34" charset="0"/>
                  <a:ea typeface="宋体" panose="02010600030101010101" pitchFamily="2" charset="-122"/>
                </a:rPr>
                <a:t>8</a:t>
              </a:r>
              <a:r>
                <a:rPr lang="zh-CN" altLang="en-US" sz="2400" dirty="0">
                  <a:latin typeface="Arial" panose="020B0604020202020204" pitchFamily="34" charset="0"/>
                  <a:ea typeface="宋体" panose="02010600030101010101" pitchFamily="2" charset="-122"/>
                </a:rPr>
                <a:t>位</a:t>
              </a:r>
            </a:p>
            <a:p>
              <a:pPr lvl="0" indent="0" algn="ctr">
                <a:spcBef>
                  <a:spcPct val="30000"/>
                </a:spcBef>
              </a:pPr>
              <a:r>
                <a:rPr lang="en-US" altLang="zh-CN" sz="2400">
                  <a:latin typeface="Arial" panose="020B0604020202020204" pitchFamily="34" charset="0"/>
                  <a:ea typeface="宋体" panose="02010600030101010101" pitchFamily="2" charset="-122"/>
                </a:rPr>
                <a:t>16</a:t>
              </a:r>
              <a:r>
                <a:rPr lang="zh-CN" altLang="en-US" sz="2400" dirty="0">
                  <a:latin typeface="Arial" panose="020B0604020202020204" pitchFamily="34" charset="0"/>
                  <a:ea typeface="宋体" panose="02010600030101010101" pitchFamily="2" charset="-122"/>
                </a:rPr>
                <a:t>位</a:t>
              </a:r>
            </a:p>
          </p:txBody>
        </p:sp>
        <p:sp>
          <p:nvSpPr>
            <p:cNvPr id="41998" name="左大括号 304141"/>
            <p:cNvSpPr/>
            <p:nvPr/>
          </p:nvSpPr>
          <p:spPr>
            <a:xfrm>
              <a:off x="3262" y="1416"/>
              <a:ext cx="136" cy="500"/>
            </a:xfrm>
            <a:prstGeom prst="leftBrace">
              <a:avLst>
                <a:gd name="adj1" fmla="val 30620"/>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41999" name="右大括号 304142"/>
            <p:cNvSpPr/>
            <p:nvPr/>
          </p:nvSpPr>
          <p:spPr>
            <a:xfrm>
              <a:off x="3898" y="1416"/>
              <a:ext cx="136" cy="499"/>
            </a:xfrm>
            <a:prstGeom prst="rightBrace">
              <a:avLst>
                <a:gd name="adj1" fmla="val 30558"/>
                <a:gd name="adj2" fmla="val 50000"/>
              </a:avLst>
            </a:prstGeom>
            <a:noFill/>
            <a:ln w="28575" cap="flat" cmpd="sng">
              <a:solidFill>
                <a:schemeClr val="tx1"/>
              </a:solidFill>
              <a:prstDash val="solid"/>
              <a:round/>
              <a:headEnd type="none" w="med" len="med"/>
              <a:tailEnd type="none" w="med" len="med"/>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42000" name="文本框 304143"/>
            <p:cNvSpPr txBox="1"/>
            <p:nvPr/>
          </p:nvSpPr>
          <p:spPr>
            <a:xfrm>
              <a:off x="4009" y="1568"/>
              <a:ext cx="952" cy="184"/>
            </a:xfrm>
            <a:prstGeom prst="rect">
              <a:avLst/>
            </a:prstGeom>
            <a:noFill/>
            <a:ln w="9525">
              <a:noFill/>
            </a:ln>
          </p:spPr>
          <p:txBody>
            <a:bodyPr lIns="0" tIns="0" rIns="0" bIns="0" anchor="t">
              <a:spAutoFit/>
            </a:bodyPr>
            <a:lstStyle/>
            <a:p>
              <a:pPr lvl="0" indent="0" algn="ctr">
                <a:lnSpc>
                  <a:spcPct val="80000"/>
                </a:lnSpc>
              </a:pPr>
              <a:r>
                <a:rPr lang="zh-CN" altLang="en-US" sz="2400">
                  <a:latin typeface="Arial" panose="020B0604020202020204" pitchFamily="34" charset="0"/>
                  <a:ea typeface="宋体" panose="02010600030101010101" pitchFamily="2" charset="-122"/>
                </a:rPr>
                <a:t>位移量 </a:t>
              </a:r>
              <a:endParaRPr lang="zh-CN" altLang="en-US" sz="2400" dirty="0">
                <a:latin typeface="Arial" panose="020B0604020202020204" pitchFamily="34" charset="0"/>
                <a:ea typeface="宋体" panose="02010600030101010101" pitchFamily="2" charset="-122"/>
              </a:endParaRPr>
            </a:p>
          </p:txBody>
        </p:sp>
      </p:grpSp>
      <p:sp>
        <p:nvSpPr>
          <p:cNvPr id="42001" name="文本框 304144"/>
          <p:cNvSpPr txBox="1"/>
          <p:nvPr/>
        </p:nvSpPr>
        <p:spPr>
          <a:xfrm>
            <a:off x="611188" y="3568700"/>
            <a:ext cx="7777162" cy="2512226"/>
          </a:xfrm>
          <a:prstGeom prst="rect">
            <a:avLst/>
          </a:prstGeom>
          <a:noFill/>
          <a:ln w="9525">
            <a:noFill/>
          </a:ln>
        </p:spPr>
        <p:txBody>
          <a:bodyPr lIns="0" tIns="0" rIns="0" bIns="0" anchor="t">
            <a:spAutoFit/>
          </a:bodyPr>
          <a:lstStyle/>
          <a:p>
            <a:pPr>
              <a:lnSpc>
                <a:spcPct val="115000"/>
              </a:lnSpc>
            </a:pPr>
            <a:r>
              <a:rPr lang="zh-CN" altLang="en-US" sz="2400" b="1" dirty="0">
                <a:latin typeface="Arial" panose="020B0604020202020204" pitchFamily="34" charset="0"/>
              </a:rPr>
              <a:t>与基址变址寻址方式相同，基址变址相对寻址方式的操作数也可采用</a:t>
            </a:r>
            <a:r>
              <a:rPr lang="zh-CN" altLang="en-US" sz="2400" b="1" dirty="0">
                <a:solidFill>
                  <a:srgbClr val="FF00FF"/>
                </a:solidFill>
                <a:latin typeface="Arial" panose="020B0604020202020204" pitchFamily="34" charset="0"/>
              </a:rPr>
              <a:t>多种等价形式</a:t>
            </a:r>
            <a:r>
              <a:rPr lang="zh-CN" altLang="en-US" sz="2400" b="1" dirty="0">
                <a:latin typeface="Arial" panose="020B0604020202020204" pitchFamily="34" charset="0"/>
              </a:rPr>
              <a:t>，</a:t>
            </a:r>
            <a:r>
              <a:rPr lang="zh-CN" altLang="en-US" sz="2400" b="1" dirty="0"/>
              <a:t>例：</a:t>
            </a:r>
          </a:p>
          <a:p>
            <a:pPr lvl="0" indent="0">
              <a:lnSpc>
                <a:spcPct val="115000"/>
              </a:lnSpc>
              <a:buClrTx/>
            </a:pPr>
            <a:r>
              <a:rPr lang="it-IT" altLang="zh-CN" sz="2400" b="1" dirty="0">
                <a:latin typeface="Arial" panose="020B0604020202020204" pitchFamily="34" charset="0"/>
                <a:ea typeface="宋体" panose="02010600030101010101" pitchFamily="2" charset="-122"/>
              </a:rPr>
              <a:t>MOV  DX ,disp [ BX ][ SI ]</a:t>
            </a:r>
          </a:p>
          <a:p>
            <a:pPr lvl="0" indent="0">
              <a:lnSpc>
                <a:spcPct val="115000"/>
              </a:lnSpc>
              <a:buClrTx/>
            </a:pPr>
            <a:r>
              <a:rPr lang="it-IT" altLang="zh-CN" sz="2400" b="1" dirty="0">
                <a:latin typeface="Arial" panose="020B0604020202020204" pitchFamily="34" charset="0"/>
                <a:ea typeface="宋体" panose="02010600030101010101" pitchFamily="2" charset="-122"/>
              </a:rPr>
              <a:t>MOV  DX ,disp [ BX + SI ] </a:t>
            </a:r>
          </a:p>
          <a:p>
            <a:pPr lvl="0" indent="0">
              <a:lnSpc>
                <a:spcPct val="115000"/>
              </a:lnSpc>
              <a:buClrTx/>
            </a:pPr>
            <a:r>
              <a:rPr lang="it-IT" altLang="zh-CN" sz="2400" b="1" dirty="0">
                <a:latin typeface="Arial" panose="020B0604020202020204" pitchFamily="34" charset="0"/>
                <a:ea typeface="宋体" panose="02010600030101010101" pitchFamily="2" charset="-122"/>
              </a:rPr>
              <a:t>MOV  DX,[ BX + SI + disp ] </a:t>
            </a:r>
          </a:p>
          <a:p>
            <a:pPr>
              <a:lnSpc>
                <a:spcPct val="115000"/>
              </a:lnSpc>
            </a:pPr>
            <a:r>
              <a:rPr lang="it-IT" altLang="zh-CN" sz="2400" b="1" dirty="0">
                <a:latin typeface="Arial" panose="020B0604020202020204" pitchFamily="34" charset="0"/>
                <a:ea typeface="宋体" panose="02010600030101010101" pitchFamily="2" charset="-122"/>
              </a:rPr>
              <a:t>MOV  DX,[ BX + SI ]disp</a:t>
            </a:r>
            <a:endParaRPr lang="zh-CN" altLang="en-US" sz="2400" dirty="0">
              <a:latin typeface="Arial" panose="020B0604020202020204" pitchFamily="34" charset="0"/>
              <a:ea typeface="宋体" panose="02010600030101010101" pitchFamily="2" charset="-122"/>
            </a:endParaRPr>
          </a:p>
        </p:txBody>
      </p:sp>
      <p:sp>
        <p:nvSpPr>
          <p:cNvPr id="42002" name="矩形 304149"/>
          <p:cNvSpPr/>
          <p:nvPr/>
        </p:nvSpPr>
        <p:spPr>
          <a:xfrm>
            <a:off x="2195513" y="260350"/>
            <a:ext cx="4895850"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306194"/>
          <p:cNvSpPr/>
          <p:nvPr/>
        </p:nvSpPr>
        <p:spPr>
          <a:xfrm>
            <a:off x="2195513" y="260350"/>
            <a:ext cx="4895850"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
        <p:nvSpPr>
          <p:cNvPr id="44034" name="矩形 306195"/>
          <p:cNvSpPr/>
          <p:nvPr/>
        </p:nvSpPr>
        <p:spPr>
          <a:xfrm>
            <a:off x="190500" y="788383"/>
            <a:ext cx="8774113" cy="1569660"/>
          </a:xfrm>
          <a:prstGeom prst="rect">
            <a:avLst/>
          </a:prstGeom>
          <a:noFill/>
          <a:ln w="9525">
            <a:noFill/>
          </a:ln>
        </p:spPr>
        <p:txBody>
          <a:bodyPr anchor="ctr">
            <a:spAutoFit/>
          </a:bodyPr>
          <a:lstStyle/>
          <a:p>
            <a:pPr lvl="0" indent="0"/>
            <a:r>
              <a:rPr lang="zh-CN" altLang="it-IT" sz="2400" b="1" dirty="0">
                <a:latin typeface="Arial" panose="020B0604020202020204" pitchFamily="34" charset="0"/>
                <a:ea typeface="宋体" panose="02010600030101010101" pitchFamily="2" charset="-122"/>
              </a:rPr>
              <a:t>设</a:t>
            </a:r>
            <a:r>
              <a:rPr lang="it-IT" altLang="zh-CN" sz="2400" b="1" dirty="0">
                <a:latin typeface="Arial" panose="020B0604020202020204" pitchFamily="34" charset="0"/>
                <a:ea typeface="宋体" panose="02010600030101010101" pitchFamily="2" charset="-122"/>
              </a:rPr>
              <a:t>DS=3000H</a:t>
            </a:r>
            <a:r>
              <a:rPr lang="zh-CN" altLang="it-IT" sz="2400" b="1" dirty="0">
                <a:latin typeface="Arial" panose="020B0604020202020204" pitchFamily="34" charset="0"/>
                <a:ea typeface="宋体" panose="02010600030101010101" pitchFamily="2" charset="-122"/>
              </a:rPr>
              <a:t>，</a:t>
            </a:r>
            <a:r>
              <a:rPr lang="it-IT" altLang="zh-CN" sz="2400" b="1" dirty="0">
                <a:latin typeface="Arial" panose="020B0604020202020204" pitchFamily="34" charset="0"/>
                <a:ea typeface="宋体" panose="02010600030101010101" pitchFamily="2" charset="-122"/>
              </a:rPr>
              <a:t>BX=2000H</a:t>
            </a:r>
            <a:r>
              <a:rPr lang="zh-CN" altLang="it-IT" sz="2400" b="1" dirty="0">
                <a:latin typeface="Arial" panose="020B0604020202020204" pitchFamily="34" charset="0"/>
                <a:ea typeface="宋体" panose="02010600030101010101" pitchFamily="2" charset="-122"/>
              </a:rPr>
              <a:t>，</a:t>
            </a:r>
            <a:r>
              <a:rPr lang="it-IT" altLang="zh-CN" sz="2400" b="1" dirty="0">
                <a:latin typeface="Arial" panose="020B0604020202020204" pitchFamily="34" charset="0"/>
                <a:ea typeface="宋体" panose="02010600030101010101" pitchFamily="2" charset="-122"/>
              </a:rPr>
              <a:t>SI=1000H</a:t>
            </a:r>
            <a:r>
              <a:rPr lang="zh-CN" altLang="it-IT"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位移</a:t>
            </a:r>
            <a:r>
              <a:rPr lang="zh-CN" altLang="it-IT" sz="2400" b="1" dirty="0">
                <a:latin typeface="Arial" panose="020B0604020202020204" pitchFamily="34" charset="0"/>
                <a:ea typeface="宋体" panose="02010600030101010101" pitchFamily="2" charset="-122"/>
              </a:rPr>
              <a:t>量</a:t>
            </a:r>
            <a:r>
              <a:rPr lang="it-IT" altLang="zh-CN" sz="2400" b="1" dirty="0">
                <a:latin typeface="Arial" panose="020B0604020202020204" pitchFamily="34" charset="0"/>
                <a:ea typeface="宋体" panose="02010600030101010101" pitchFamily="2" charset="-122"/>
              </a:rPr>
              <a:t>disp=0250H</a:t>
            </a:r>
            <a:r>
              <a:rPr lang="zh-CN" altLang="it-IT" sz="2400" b="1" dirty="0">
                <a:latin typeface="Arial" panose="020B0604020202020204" pitchFamily="34" charset="0"/>
                <a:ea typeface="宋体" panose="02010600030101010101" pitchFamily="2" charset="-122"/>
              </a:rPr>
              <a:t>，物理地址</a:t>
            </a:r>
            <a:r>
              <a:rPr lang="it-IT" altLang="zh-CN" sz="2400" b="1" dirty="0">
                <a:latin typeface="Arial" panose="020B0604020202020204" pitchFamily="34" charset="0"/>
                <a:ea typeface="宋体" panose="02010600030101010101" pitchFamily="2" charset="-122"/>
              </a:rPr>
              <a:t>=DS×16</a:t>
            </a:r>
            <a:r>
              <a:rPr lang="zh-CN" altLang="it-IT" sz="2400" b="1" dirty="0">
                <a:latin typeface="Arial" panose="020B0604020202020204" pitchFamily="34" charset="0"/>
                <a:ea typeface="宋体" panose="02010600030101010101" pitchFamily="2" charset="-122"/>
              </a:rPr>
              <a:t>＋</a:t>
            </a:r>
            <a:r>
              <a:rPr lang="it-IT" altLang="zh-CN" sz="2400" b="1" dirty="0">
                <a:latin typeface="Arial" panose="020B0604020202020204" pitchFamily="34" charset="0"/>
                <a:ea typeface="宋体" panose="02010600030101010101" pitchFamily="2" charset="-122"/>
              </a:rPr>
              <a:t>BX</a:t>
            </a:r>
            <a:r>
              <a:rPr lang="zh-CN" altLang="it-IT" sz="2400" b="1" dirty="0">
                <a:latin typeface="Arial" panose="020B0604020202020204" pitchFamily="34" charset="0"/>
                <a:ea typeface="宋体" panose="02010600030101010101" pitchFamily="2" charset="-122"/>
              </a:rPr>
              <a:t>＋</a:t>
            </a:r>
            <a:r>
              <a:rPr lang="it-IT" altLang="zh-CN" sz="2400" b="1" dirty="0">
                <a:latin typeface="Arial" panose="020B0604020202020204" pitchFamily="34" charset="0"/>
                <a:ea typeface="宋体" panose="02010600030101010101" pitchFamily="2" charset="-122"/>
              </a:rPr>
              <a:t>SI</a:t>
            </a:r>
            <a:r>
              <a:rPr lang="zh-CN" altLang="it-IT" sz="2400" b="1" dirty="0">
                <a:latin typeface="Arial" panose="020B0604020202020204" pitchFamily="34" charset="0"/>
                <a:ea typeface="宋体" panose="02010600030101010101" pitchFamily="2" charset="-122"/>
              </a:rPr>
              <a:t>＋</a:t>
            </a:r>
            <a:r>
              <a:rPr lang="it-IT" altLang="zh-CN" sz="2400" b="1" dirty="0">
                <a:latin typeface="Arial" panose="020B0604020202020204" pitchFamily="34" charset="0"/>
                <a:ea typeface="宋体" panose="02010600030101010101" pitchFamily="2" charset="-122"/>
              </a:rPr>
              <a:t>disp=30000H</a:t>
            </a:r>
            <a:r>
              <a:rPr lang="zh-CN" altLang="it-IT" sz="2400" b="1" dirty="0">
                <a:latin typeface="Arial" panose="020B0604020202020204" pitchFamily="34" charset="0"/>
                <a:ea typeface="宋体" panose="02010600030101010101" pitchFamily="2" charset="-122"/>
              </a:rPr>
              <a:t>＋</a:t>
            </a:r>
            <a:r>
              <a:rPr lang="it-IT" altLang="zh-CN" sz="2400" b="1" dirty="0">
                <a:latin typeface="Arial" panose="020B0604020202020204" pitchFamily="34" charset="0"/>
                <a:ea typeface="宋体" panose="02010600030101010101" pitchFamily="2" charset="-122"/>
              </a:rPr>
              <a:t>2000H</a:t>
            </a:r>
            <a:r>
              <a:rPr lang="zh-CN" altLang="it-IT" sz="2400" b="1" dirty="0">
                <a:latin typeface="Arial" panose="020B0604020202020204" pitchFamily="34" charset="0"/>
                <a:ea typeface="宋体" panose="02010600030101010101" pitchFamily="2" charset="-122"/>
              </a:rPr>
              <a:t>＋</a:t>
            </a:r>
            <a:r>
              <a:rPr lang="it-IT" altLang="zh-CN" sz="2400" b="1" dirty="0">
                <a:latin typeface="Arial" panose="020B0604020202020204" pitchFamily="34" charset="0"/>
                <a:ea typeface="宋体" panose="02010600030101010101" pitchFamily="2" charset="-122"/>
              </a:rPr>
              <a:t>1000H</a:t>
            </a:r>
            <a:r>
              <a:rPr lang="zh-CN" altLang="it-IT" sz="2400" b="1" dirty="0">
                <a:latin typeface="Arial" panose="020B0604020202020204" pitchFamily="34" charset="0"/>
                <a:ea typeface="宋体" panose="02010600030101010101" pitchFamily="2" charset="-122"/>
              </a:rPr>
              <a:t>＋</a:t>
            </a:r>
            <a:r>
              <a:rPr lang="it-IT" altLang="zh-CN" sz="2400" b="1" dirty="0">
                <a:latin typeface="Arial" panose="020B0604020202020204" pitchFamily="34" charset="0"/>
                <a:ea typeface="宋体" panose="02010600030101010101" pitchFamily="2" charset="-122"/>
              </a:rPr>
              <a:t>0250H=33250H</a:t>
            </a:r>
            <a:r>
              <a:rPr lang="zh-CN" altLang="it-IT" sz="2400" b="1" dirty="0">
                <a:latin typeface="Arial" panose="020B0604020202020204" pitchFamily="34" charset="0"/>
                <a:ea typeface="宋体" panose="02010600030101010101" pitchFamily="2" charset="-122"/>
              </a:rPr>
              <a:t>的字单元内容为</a:t>
            </a:r>
            <a:r>
              <a:rPr lang="it-IT" altLang="zh-CN" sz="2400" b="1" dirty="0">
                <a:latin typeface="Arial" panose="020B0604020202020204" pitchFamily="34" charset="0"/>
                <a:ea typeface="宋体" panose="02010600030101010101" pitchFamily="2" charset="-122"/>
              </a:rPr>
              <a:t>3132H</a:t>
            </a:r>
            <a:r>
              <a:rPr lang="zh-CN" altLang="it-IT" sz="2400" b="1" dirty="0">
                <a:latin typeface="Arial" panose="020B0604020202020204" pitchFamily="34" charset="0"/>
                <a:ea typeface="宋体" panose="02010600030101010101" pitchFamily="2" charset="-122"/>
              </a:rPr>
              <a:t>，则执行指令：</a:t>
            </a:r>
          </a:p>
          <a:p>
            <a:pPr lvl="0" indent="0"/>
            <a:r>
              <a:rPr lang="it-IT" altLang="zh-CN" sz="2400" b="1" dirty="0">
                <a:solidFill>
                  <a:srgbClr val="0000FF"/>
                </a:solidFill>
                <a:latin typeface="Arial" panose="020B0604020202020204" pitchFamily="34" charset="0"/>
                <a:ea typeface="宋体" panose="02010600030101010101" pitchFamily="2" charset="-122"/>
              </a:rPr>
              <a:t>MOV  DX,disp [BX][SI ]</a:t>
            </a:r>
            <a:r>
              <a:rPr lang="zh-CN" altLang="it-IT" sz="2400" b="1" dirty="0">
                <a:solidFill>
                  <a:srgbClr val="0000FF"/>
                </a:solidFill>
                <a:latin typeface="Arial" panose="020B0604020202020204" pitchFamily="34" charset="0"/>
                <a:ea typeface="宋体" panose="02010600030101010101" pitchFamily="2" charset="-122"/>
              </a:rPr>
              <a:t> </a:t>
            </a:r>
            <a:r>
              <a:rPr lang="zh-CN" altLang="it-IT" sz="2400" b="1" dirty="0">
                <a:latin typeface="Arial" panose="020B0604020202020204" pitchFamily="34" charset="0"/>
                <a:ea typeface="宋体" panose="02010600030101010101" pitchFamily="2" charset="-122"/>
              </a:rPr>
              <a:t>后，</a:t>
            </a:r>
            <a:r>
              <a:rPr lang="it-IT" altLang="zh-CN" sz="2400" b="1" dirty="0">
                <a:latin typeface="Arial" panose="020B0604020202020204" pitchFamily="34" charset="0"/>
                <a:ea typeface="宋体" panose="02010600030101010101" pitchFamily="2" charset="-122"/>
              </a:rPr>
              <a:t>DX</a:t>
            </a:r>
            <a:r>
              <a:rPr lang="zh-CN" altLang="it-IT" sz="2400" b="1" dirty="0">
                <a:latin typeface="Arial" panose="020B0604020202020204" pitchFamily="34" charset="0"/>
                <a:ea typeface="宋体" panose="02010600030101010101" pitchFamily="2" charset="-122"/>
              </a:rPr>
              <a:t>中的内容为</a:t>
            </a:r>
            <a:r>
              <a:rPr lang="it-IT" altLang="zh-CN" sz="2400" b="1" dirty="0">
                <a:latin typeface="Arial" panose="020B0604020202020204" pitchFamily="34" charset="0"/>
                <a:ea typeface="宋体" panose="02010600030101010101" pitchFamily="2" charset="-122"/>
              </a:rPr>
              <a:t>3132H</a:t>
            </a:r>
            <a:r>
              <a:rPr lang="en-US" altLang="zh-CN" sz="2400" b="1" dirty="0">
                <a:latin typeface="Arial" panose="020B0604020202020204" pitchFamily="34" charset="0"/>
                <a:ea typeface="宋体" panose="02010600030101010101" pitchFamily="2" charset="-122"/>
              </a:rPr>
              <a:t> </a:t>
            </a:r>
          </a:p>
        </p:txBody>
      </p:sp>
      <p:pic>
        <p:nvPicPr>
          <p:cNvPr id="44035" name="图片 306196"/>
          <p:cNvPicPr>
            <a:picLocks noChangeAspect="1"/>
          </p:cNvPicPr>
          <p:nvPr/>
        </p:nvPicPr>
        <p:blipFill>
          <a:blip r:embed="rId3"/>
          <a:stretch>
            <a:fillRect/>
          </a:stretch>
        </p:blipFill>
        <p:spPr>
          <a:xfrm>
            <a:off x="1979613" y="2565400"/>
            <a:ext cx="4321175" cy="338455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308225"/>
          <p:cNvSpPr>
            <a:spLocks noGrp="1"/>
          </p:cNvSpPr>
          <p:nvPr>
            <p:ph type="title"/>
          </p:nvPr>
        </p:nvSpPr>
        <p:spPr>
          <a:xfrm>
            <a:off x="3851920" y="836712"/>
            <a:ext cx="1079500" cy="404813"/>
          </a:xfrm>
          <a:ln/>
        </p:spPr>
        <p:txBody>
          <a:bodyPr anchor="ctr"/>
          <a:lstStyle/>
          <a:p>
            <a:pPr algn="l"/>
            <a:r>
              <a:rPr lang="zh-CN" altLang="en-US" sz="3200" b="1" dirty="0">
                <a:solidFill>
                  <a:srgbClr val="0000FF"/>
                </a:solidFill>
              </a:rPr>
              <a:t>小结</a:t>
            </a:r>
          </a:p>
        </p:txBody>
      </p:sp>
      <p:sp>
        <p:nvSpPr>
          <p:cNvPr id="46082" name="文本框 308226"/>
          <p:cNvSpPr txBox="1"/>
          <p:nvPr/>
        </p:nvSpPr>
        <p:spPr>
          <a:xfrm>
            <a:off x="901700" y="1345779"/>
            <a:ext cx="7326313" cy="427037"/>
          </a:xfrm>
          <a:prstGeom prst="rect">
            <a:avLst/>
          </a:prstGeom>
          <a:noFill/>
          <a:ln w="9525">
            <a:noFill/>
          </a:ln>
        </p:spPr>
        <p:txBody>
          <a:bodyPr lIns="0" tIns="0" rIns="0" bIns="0" anchor="t">
            <a:spAutoFit/>
          </a:bodyPr>
          <a:lstStyle/>
          <a:p>
            <a:pPr lvl="0" indent="0">
              <a:spcBef>
                <a:spcPct val="50000"/>
              </a:spcBef>
            </a:pPr>
            <a:r>
              <a:rPr lang="zh-CN" altLang="en-US" sz="2800" b="1" dirty="0">
                <a:latin typeface="Times New Roman" panose="02020603050405020304" pitchFamily="18" charset="0"/>
                <a:ea typeface="宋体" panose="02010600030101010101" pitchFamily="2" charset="-122"/>
              </a:rPr>
              <a:t>指令由（</a:t>
            </a:r>
            <a:r>
              <a:rPr lang="zh-CN" altLang="en-US" sz="2800" b="1" dirty="0">
                <a:solidFill>
                  <a:srgbClr val="FF3300"/>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）和　（</a:t>
            </a:r>
            <a:r>
              <a:rPr lang="zh-CN" altLang="en-US" sz="2800" b="1" dirty="0">
                <a:solidFill>
                  <a:srgbClr val="FF3300"/>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）构成</a:t>
            </a:r>
          </a:p>
        </p:txBody>
      </p:sp>
      <p:sp>
        <p:nvSpPr>
          <p:cNvPr id="46083" name="文本框 308227"/>
          <p:cNvSpPr txBox="1"/>
          <p:nvPr/>
        </p:nvSpPr>
        <p:spPr>
          <a:xfrm>
            <a:off x="1606550" y="2018358"/>
            <a:ext cx="6503988" cy="427037"/>
          </a:xfrm>
          <a:prstGeom prst="rect">
            <a:avLst/>
          </a:prstGeom>
          <a:noFill/>
          <a:ln w="9525">
            <a:noFill/>
          </a:ln>
        </p:spPr>
        <p:txBody>
          <a:bodyPr lIns="0" tIns="0" rIns="0" bIns="0" anchor="t">
            <a:spAutoFit/>
          </a:bodyPr>
          <a:lstStyle/>
          <a:p>
            <a:pPr lvl="0" indent="0">
              <a:spcBef>
                <a:spcPct val="50000"/>
              </a:spcBef>
            </a:pPr>
            <a:r>
              <a:rPr lang="zh-CN" altLang="en-US" sz="2800" b="1" dirty="0">
                <a:latin typeface="Times New Roman" panose="02020603050405020304" pitchFamily="18" charset="0"/>
                <a:ea typeface="宋体" panose="02010600030101010101" pitchFamily="2" charset="-122"/>
              </a:rPr>
              <a:t>如何取得操作数</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称为（</a:t>
            </a:r>
            <a:r>
              <a:rPr lang="zh-CN" altLang="en-US" sz="2800" b="1" dirty="0">
                <a:solidFill>
                  <a:srgbClr val="FF3300"/>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　　</a:t>
            </a:r>
          </a:p>
        </p:txBody>
      </p:sp>
      <p:grpSp>
        <p:nvGrpSpPr>
          <p:cNvPr id="46084" name="组合 308228"/>
          <p:cNvGrpSpPr/>
          <p:nvPr/>
        </p:nvGrpSpPr>
        <p:grpSpPr>
          <a:xfrm>
            <a:off x="2212975" y="1329383"/>
            <a:ext cx="4144963" cy="655637"/>
            <a:chOff x="1484" y="1253"/>
            <a:chExt cx="2611" cy="413"/>
          </a:xfrm>
        </p:grpSpPr>
        <p:sp>
          <p:nvSpPr>
            <p:cNvPr id="46085" name="文本框 308229"/>
            <p:cNvSpPr txBox="1"/>
            <p:nvPr/>
          </p:nvSpPr>
          <p:spPr>
            <a:xfrm>
              <a:off x="1484" y="1253"/>
              <a:ext cx="923" cy="307"/>
            </a:xfrm>
            <a:prstGeom prst="rect">
              <a:avLst/>
            </a:prstGeom>
            <a:noFill/>
            <a:ln w="9525">
              <a:noFill/>
            </a:ln>
          </p:spPr>
          <p:txBody>
            <a:bodyPr lIns="0" tIns="0" rIns="0" bIns="0" anchor="t">
              <a:spAutoFit/>
            </a:bodyPr>
            <a:lstStyle/>
            <a:p>
              <a:pPr lvl="0" indent="0" algn="ctr">
                <a:spcBef>
                  <a:spcPct val="50000"/>
                </a:spcBef>
              </a:pPr>
              <a:r>
                <a:rPr lang="zh-CN" altLang="en-US" sz="3200" b="1" dirty="0">
                  <a:solidFill>
                    <a:srgbClr val="FF3300"/>
                  </a:solidFill>
                  <a:latin typeface="Times New Roman" panose="02020603050405020304" pitchFamily="18" charset="0"/>
                  <a:ea typeface="宋体" panose="02010600030101010101" pitchFamily="2" charset="-122"/>
                </a:rPr>
                <a:t>操作码 </a:t>
              </a:r>
              <a:endParaRPr lang="zh-CN" altLang="en-US" sz="3200" b="1">
                <a:solidFill>
                  <a:srgbClr val="FF3300"/>
                </a:solidFill>
                <a:latin typeface="Times New Roman" panose="02020603050405020304" pitchFamily="18" charset="0"/>
                <a:ea typeface="宋体" panose="02010600030101010101" pitchFamily="2" charset="-122"/>
              </a:endParaRPr>
            </a:p>
          </p:txBody>
        </p:sp>
        <p:sp>
          <p:nvSpPr>
            <p:cNvPr id="46086" name="文本框 308230"/>
            <p:cNvSpPr txBox="1"/>
            <p:nvPr/>
          </p:nvSpPr>
          <p:spPr>
            <a:xfrm>
              <a:off x="3152" y="1253"/>
              <a:ext cx="943" cy="307"/>
            </a:xfrm>
            <a:prstGeom prst="rect">
              <a:avLst/>
            </a:prstGeom>
            <a:noFill/>
            <a:ln w="9525">
              <a:noFill/>
            </a:ln>
          </p:spPr>
          <p:txBody>
            <a:bodyPr lIns="0" tIns="0" rIns="0" bIns="0" anchor="t">
              <a:spAutoFit/>
            </a:bodyPr>
            <a:lstStyle/>
            <a:p>
              <a:pPr lvl="0" indent="0" algn="ctr">
                <a:spcBef>
                  <a:spcPct val="50000"/>
                </a:spcBef>
              </a:pPr>
              <a:r>
                <a:rPr lang="zh-CN" altLang="en-US" sz="3200" b="1" dirty="0">
                  <a:solidFill>
                    <a:srgbClr val="FF3300"/>
                  </a:solidFill>
                  <a:latin typeface="Times New Roman" panose="02020603050405020304" pitchFamily="18" charset="0"/>
                  <a:ea typeface="宋体" panose="02010600030101010101" pitchFamily="2" charset="-122"/>
                </a:rPr>
                <a:t>操作数</a:t>
              </a:r>
              <a:endParaRPr lang="zh-CN" altLang="en-US" sz="3200" b="1">
                <a:solidFill>
                  <a:srgbClr val="FF3300"/>
                </a:solidFill>
                <a:latin typeface="Times New Roman" panose="02020603050405020304" pitchFamily="18" charset="0"/>
                <a:ea typeface="宋体" panose="02010600030101010101" pitchFamily="2" charset="-122"/>
              </a:endParaRPr>
            </a:p>
          </p:txBody>
        </p:sp>
        <p:sp>
          <p:nvSpPr>
            <p:cNvPr id="46087" name="椭圆 308231"/>
            <p:cNvSpPr/>
            <p:nvPr/>
          </p:nvSpPr>
          <p:spPr>
            <a:xfrm>
              <a:off x="1882" y="1570"/>
              <a:ext cx="144" cy="96"/>
            </a:xfrm>
            <a:prstGeom prst="ellipse">
              <a:avLst/>
            </a:prstGeom>
            <a:solidFill>
              <a:srgbClr val="99FFCC"/>
            </a:solidFill>
            <a:ln w="9525">
              <a:noFill/>
            </a:ln>
          </p:spPr>
          <p:txBody>
            <a:bodyPr anchor="t"/>
            <a:lstStyle/>
            <a:p>
              <a:pPr lvl="0" indent="0"/>
              <a:endParaRPr lang="zh-CN" altLang="en-US">
                <a:latin typeface="Times New Roman" panose="02020603050405020304" pitchFamily="18" charset="0"/>
                <a:ea typeface="宋体" panose="02010600030101010101" pitchFamily="2" charset="-122"/>
              </a:endParaRPr>
            </a:p>
          </p:txBody>
        </p:sp>
        <p:sp>
          <p:nvSpPr>
            <p:cNvPr id="46088" name="椭圆 308232"/>
            <p:cNvSpPr/>
            <p:nvPr/>
          </p:nvSpPr>
          <p:spPr>
            <a:xfrm>
              <a:off x="3560" y="1570"/>
              <a:ext cx="144" cy="96"/>
            </a:xfrm>
            <a:prstGeom prst="ellipse">
              <a:avLst/>
            </a:prstGeom>
            <a:solidFill>
              <a:srgbClr val="99FFCC"/>
            </a:solidFill>
            <a:ln w="9525">
              <a:noFill/>
            </a:ln>
          </p:spPr>
          <p:txBody>
            <a:bodyPr anchor="t"/>
            <a:lstStyle/>
            <a:p>
              <a:pPr lvl="0" indent="0"/>
              <a:endParaRPr lang="zh-CN" altLang="en-US">
                <a:latin typeface="Times New Roman" panose="02020603050405020304" pitchFamily="18" charset="0"/>
                <a:ea typeface="宋体" panose="02010600030101010101" pitchFamily="2" charset="-122"/>
              </a:endParaRPr>
            </a:p>
          </p:txBody>
        </p:sp>
      </p:grpSp>
      <p:grpSp>
        <p:nvGrpSpPr>
          <p:cNvPr id="46089" name="组合 308233"/>
          <p:cNvGrpSpPr/>
          <p:nvPr/>
        </p:nvGrpSpPr>
        <p:grpSpPr>
          <a:xfrm>
            <a:off x="5867400" y="2002483"/>
            <a:ext cx="914400" cy="706437"/>
            <a:chOff x="3533" y="1811"/>
            <a:chExt cx="576" cy="445"/>
          </a:xfrm>
        </p:grpSpPr>
        <p:sp>
          <p:nvSpPr>
            <p:cNvPr id="46090" name="文本框 308234"/>
            <p:cNvSpPr txBox="1"/>
            <p:nvPr/>
          </p:nvSpPr>
          <p:spPr>
            <a:xfrm>
              <a:off x="3533" y="1811"/>
              <a:ext cx="576" cy="307"/>
            </a:xfrm>
            <a:prstGeom prst="rect">
              <a:avLst/>
            </a:prstGeom>
            <a:noFill/>
            <a:ln w="9525">
              <a:noFill/>
            </a:ln>
          </p:spPr>
          <p:txBody>
            <a:bodyPr lIns="0" tIns="0" rIns="0" bIns="0" anchor="t">
              <a:spAutoFit/>
            </a:bodyPr>
            <a:lstStyle/>
            <a:p>
              <a:pPr lvl="0" indent="0">
                <a:spcBef>
                  <a:spcPct val="50000"/>
                </a:spcBef>
              </a:pPr>
              <a:r>
                <a:rPr lang="zh-CN" altLang="en-US" sz="3200" b="1" dirty="0">
                  <a:solidFill>
                    <a:srgbClr val="FF3300"/>
                  </a:solidFill>
                  <a:latin typeface="Times New Roman" panose="02020603050405020304" pitchFamily="18" charset="0"/>
                  <a:ea typeface="宋体" panose="02010600030101010101" pitchFamily="2" charset="-122"/>
                </a:rPr>
                <a:t>寻址</a:t>
              </a:r>
              <a:endParaRPr lang="zh-CN" altLang="en-US" sz="3200">
                <a:latin typeface="Times New Roman" panose="02020603050405020304" pitchFamily="18" charset="0"/>
                <a:ea typeface="宋体" panose="02010600030101010101" pitchFamily="2" charset="-122"/>
              </a:endParaRPr>
            </a:p>
          </p:txBody>
        </p:sp>
        <p:sp>
          <p:nvSpPr>
            <p:cNvPr id="46091" name="椭圆 308235"/>
            <p:cNvSpPr/>
            <p:nvPr/>
          </p:nvSpPr>
          <p:spPr>
            <a:xfrm>
              <a:off x="3742" y="2160"/>
              <a:ext cx="144" cy="96"/>
            </a:xfrm>
            <a:prstGeom prst="ellipse">
              <a:avLst/>
            </a:prstGeom>
            <a:solidFill>
              <a:srgbClr val="99FFCC"/>
            </a:solidFill>
            <a:ln w="9525">
              <a:noFill/>
            </a:ln>
          </p:spPr>
          <p:txBody>
            <a:bodyPr anchor="t"/>
            <a:lstStyle/>
            <a:p>
              <a:pPr lvl="0" indent="0"/>
              <a:endParaRPr lang="zh-CN" altLang="en-US">
                <a:latin typeface="Times New Roman" panose="02020603050405020304" pitchFamily="18" charset="0"/>
                <a:ea typeface="宋体" panose="02010600030101010101" pitchFamily="2" charset="-122"/>
              </a:endParaRPr>
            </a:p>
          </p:txBody>
        </p:sp>
      </p:grpSp>
      <p:sp>
        <p:nvSpPr>
          <p:cNvPr id="46092" name="文本占位符 308236"/>
          <p:cNvSpPr>
            <a:spLocks noGrp="1"/>
          </p:cNvSpPr>
          <p:nvPr>
            <p:ph idx="1"/>
          </p:nvPr>
        </p:nvSpPr>
        <p:spPr>
          <a:xfrm>
            <a:off x="323850" y="2443187"/>
            <a:ext cx="8534400" cy="3794125"/>
          </a:xfrm>
          <a:ln w="31750"/>
        </p:spPr>
        <p:txBody>
          <a:bodyPr anchor="t"/>
          <a:lstStyle/>
          <a:p>
            <a:pPr>
              <a:buClrTx/>
              <a:buNone/>
            </a:pPr>
            <a:r>
              <a:rPr lang="zh-CN" altLang="en-US" sz="2400" b="1" dirty="0"/>
              <a:t>说明：</a:t>
            </a:r>
          </a:p>
          <a:p>
            <a:pPr>
              <a:buClrTx/>
              <a:buNone/>
            </a:pPr>
            <a:r>
              <a:rPr lang="zh-CN" altLang="en-US" sz="2400" b="1" dirty="0"/>
              <a:t>① 在直接寻址中，地址可以用符号代替，如  </a:t>
            </a:r>
          </a:p>
          <a:p>
            <a:pPr>
              <a:buClrTx/>
              <a:buNone/>
            </a:pPr>
            <a:r>
              <a:rPr lang="zh-CN" altLang="en-US" sz="2400" b="1" dirty="0"/>
              <a:t> “</a:t>
            </a:r>
            <a:r>
              <a:rPr lang="en-US" altLang="zh-CN" sz="2400" b="1" dirty="0"/>
              <a:t>MOV AX</a:t>
            </a:r>
            <a:r>
              <a:rPr lang="zh-CN" altLang="en-US" sz="2400" b="1" dirty="0"/>
              <a:t>，</a:t>
            </a:r>
            <a:r>
              <a:rPr lang="en-US" altLang="zh-CN" sz="2400" b="1" dirty="0"/>
              <a:t>BUF”</a:t>
            </a:r>
            <a:r>
              <a:rPr lang="zh-CN" altLang="en-US" sz="2400" b="1" dirty="0"/>
              <a:t>，相当于“</a:t>
            </a:r>
            <a:r>
              <a:rPr lang="en-US" altLang="zh-CN" sz="2400" b="1" dirty="0"/>
              <a:t>MOV AX</a:t>
            </a:r>
            <a:r>
              <a:rPr lang="zh-CN" altLang="en-US" sz="2400" b="1" dirty="0"/>
              <a:t>，</a:t>
            </a:r>
            <a:r>
              <a:rPr lang="en-US" altLang="zh-CN" sz="2400" b="1" dirty="0"/>
              <a:t>[</a:t>
            </a:r>
            <a:r>
              <a:rPr lang="en-US" altLang="zh-CN" sz="2400" b="1" dirty="0" err="1"/>
              <a:t>xxxxH</a:t>
            </a:r>
            <a:r>
              <a:rPr lang="en-US" altLang="zh-CN" sz="2400" b="1" dirty="0"/>
              <a:t>]”</a:t>
            </a:r>
          </a:p>
          <a:p>
            <a:pPr>
              <a:buClrTx/>
              <a:buNone/>
            </a:pPr>
            <a:r>
              <a:rPr lang="en-US" altLang="zh-CN" sz="2400" b="1" dirty="0"/>
              <a:t> “BUF”</a:t>
            </a:r>
            <a:r>
              <a:rPr lang="zh-CN" altLang="en-US" sz="2400" b="1" dirty="0"/>
              <a:t>称为</a:t>
            </a:r>
            <a:r>
              <a:rPr lang="zh-CN" altLang="en-US" sz="2400" b="1" dirty="0">
                <a:solidFill>
                  <a:schemeClr val="tx2"/>
                </a:solidFill>
              </a:rPr>
              <a:t>变量</a:t>
            </a:r>
            <a:r>
              <a:rPr lang="zh-CN" altLang="en-US" sz="2400" b="1" dirty="0"/>
              <a:t>或</a:t>
            </a:r>
            <a:r>
              <a:rPr lang="zh-CN" altLang="en-US" sz="2400" b="1" dirty="0">
                <a:solidFill>
                  <a:schemeClr val="tx2"/>
                </a:solidFill>
              </a:rPr>
              <a:t>符号地址</a:t>
            </a:r>
            <a:r>
              <a:rPr lang="zh-CN" altLang="en-US" sz="2400" b="1" dirty="0"/>
              <a:t>，后面介绍。 </a:t>
            </a:r>
          </a:p>
          <a:p>
            <a:pPr>
              <a:buClrTx/>
              <a:buNone/>
            </a:pPr>
            <a:r>
              <a:rPr lang="zh-CN" altLang="en-US" sz="2400" b="1" dirty="0"/>
              <a:t>②偏移量可以是</a:t>
            </a:r>
            <a:r>
              <a:rPr lang="zh-CN" altLang="en-US" sz="2400" b="1" dirty="0">
                <a:solidFill>
                  <a:schemeClr val="tx2"/>
                </a:solidFill>
              </a:rPr>
              <a:t>变量或常量</a:t>
            </a:r>
            <a:r>
              <a:rPr lang="zh-CN" altLang="en-US" sz="2400" b="1" dirty="0"/>
              <a:t>，也在后面介绍。</a:t>
            </a:r>
          </a:p>
          <a:p>
            <a:pPr>
              <a:buClrTx/>
              <a:buNone/>
            </a:pPr>
            <a:r>
              <a:rPr lang="zh-CN" altLang="en-US" sz="2400" b="1" dirty="0"/>
              <a:t>③如果一条指令有两个操作数，源操作数和目的操作数的寻址方式可能相同，也可能不同，如指令</a:t>
            </a:r>
          </a:p>
          <a:p>
            <a:pPr>
              <a:buClrTx/>
              <a:buNone/>
            </a:pPr>
            <a:r>
              <a:rPr lang="zh-CN" altLang="en-US" sz="2400" b="1" dirty="0"/>
              <a:t>“</a:t>
            </a:r>
            <a:r>
              <a:rPr lang="en-US" altLang="zh-CN" sz="2400" b="1" dirty="0"/>
              <a:t>MOV AX</a:t>
            </a:r>
            <a:r>
              <a:rPr lang="zh-CN" altLang="en-US" sz="2400" b="1" dirty="0"/>
              <a:t>，</a:t>
            </a:r>
            <a:r>
              <a:rPr lang="en-US" altLang="zh-CN" sz="2400" b="1" dirty="0"/>
              <a:t>[BX]”</a:t>
            </a:r>
            <a:r>
              <a:rPr lang="zh-CN" altLang="en-US" sz="2400" b="1" dirty="0"/>
              <a:t>，源操作数为寄存器间接寻址，目的操作数为寄存器寻址。</a:t>
            </a:r>
          </a:p>
        </p:txBody>
      </p:sp>
      <p:sp>
        <p:nvSpPr>
          <p:cNvPr id="46093" name="矩形 308237"/>
          <p:cNvSpPr/>
          <p:nvPr/>
        </p:nvSpPr>
        <p:spPr>
          <a:xfrm>
            <a:off x="2195513" y="260350"/>
            <a:ext cx="4895850"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7" name="文本占位符 312321"/>
          <p:cNvSpPr>
            <a:spLocks noGrp="1"/>
          </p:cNvSpPr>
          <p:nvPr>
            <p:ph idx="1"/>
          </p:nvPr>
        </p:nvSpPr>
        <p:spPr>
          <a:xfrm>
            <a:off x="539750" y="1125538"/>
            <a:ext cx="8064500" cy="4392612"/>
          </a:xfrm>
          <a:ln/>
        </p:spPr>
        <p:txBody>
          <a:bodyPr anchor="t"/>
          <a:lstStyle/>
          <a:p>
            <a:pPr marL="0" indent="0">
              <a:buNone/>
            </a:pPr>
            <a:r>
              <a:rPr lang="zh-CN" altLang="en-US" b="1" dirty="0"/>
              <a:t>寄存器间接、寄存器相对、基址</a:t>
            </a:r>
            <a:r>
              <a:rPr lang="en-US" altLang="zh-CN" b="1" dirty="0"/>
              <a:t>+</a:t>
            </a:r>
            <a:r>
              <a:rPr lang="zh-CN" altLang="en-US" b="1" dirty="0"/>
              <a:t>变址、相对基址变址四种寻址方式的比较：</a:t>
            </a:r>
          </a:p>
          <a:p>
            <a:pPr marL="0" indent="0">
              <a:buNone/>
            </a:pPr>
            <a:r>
              <a:rPr lang="zh-CN" altLang="en-US" b="1" dirty="0"/>
              <a:t>   </a:t>
            </a:r>
          </a:p>
          <a:p>
            <a:pPr marL="0" indent="0">
              <a:buNone/>
            </a:pPr>
            <a:r>
              <a:rPr lang="zh-CN" altLang="en-US" b="1" dirty="0"/>
              <a:t>   </a:t>
            </a:r>
            <a:r>
              <a:rPr lang="zh-CN" altLang="en-US" sz="2400" b="1" dirty="0"/>
              <a:t>寻址方式             指令操作数形式</a:t>
            </a:r>
          </a:p>
          <a:p>
            <a:pPr marL="0" indent="0">
              <a:lnSpc>
                <a:spcPct val="50000"/>
              </a:lnSpc>
              <a:spcBef>
                <a:spcPct val="0"/>
              </a:spcBef>
              <a:buNone/>
            </a:pPr>
            <a:r>
              <a:rPr lang="zh-CN" altLang="en-US" b="1" dirty="0"/>
              <a:t>   </a:t>
            </a:r>
          </a:p>
          <a:p>
            <a:pPr marL="0" indent="0">
              <a:buClr>
                <a:srgbClr val="00FFFF"/>
              </a:buClr>
              <a:buFont typeface="Wingdings" panose="05000000000000000000" pitchFamily="2" charset="2"/>
              <a:buNone/>
            </a:pPr>
            <a:r>
              <a:rPr lang="zh-CN" altLang="en-US" sz="2400" b="1" dirty="0"/>
              <a:t> 寄存器间接 </a:t>
            </a:r>
            <a:r>
              <a:rPr lang="en-US" altLang="zh-CN" sz="2400" b="1" dirty="0"/>
              <a:t>—— </a:t>
            </a:r>
            <a:r>
              <a:rPr lang="zh-CN" altLang="en-US" sz="2400" b="1" dirty="0"/>
              <a:t>只有一个寄存器（</a:t>
            </a:r>
            <a:r>
              <a:rPr lang="en-US" altLang="zh-CN" sz="2400" b="1" dirty="0"/>
              <a:t>BX/BP/SI/DI</a:t>
            </a:r>
            <a:r>
              <a:rPr lang="zh-CN" altLang="en-US" sz="2400" b="1" dirty="0"/>
              <a:t>之一）</a:t>
            </a:r>
          </a:p>
          <a:p>
            <a:pPr marL="0" indent="0">
              <a:buClrTx/>
              <a:buFont typeface="Wingdings" panose="05000000000000000000" pitchFamily="2" charset="2"/>
              <a:buNone/>
            </a:pPr>
            <a:r>
              <a:rPr lang="zh-CN" altLang="en-US" sz="2400" b="1" dirty="0"/>
              <a:t> 寄存器相对 </a:t>
            </a:r>
            <a:r>
              <a:rPr lang="en-US" altLang="zh-CN" sz="2400" b="1" dirty="0"/>
              <a:t>—— </a:t>
            </a:r>
            <a:r>
              <a:rPr lang="zh-CN" altLang="en-US" sz="2400" b="1" dirty="0"/>
              <a:t>一个寄存器加上位移量</a:t>
            </a:r>
          </a:p>
          <a:p>
            <a:pPr marL="0" indent="0">
              <a:buClrTx/>
              <a:buFont typeface="Wingdings" panose="05000000000000000000" pitchFamily="2" charset="2"/>
              <a:buNone/>
            </a:pPr>
            <a:r>
              <a:rPr lang="zh-CN" altLang="en-US" sz="2400" b="1" dirty="0"/>
              <a:t> 基址＋变址 </a:t>
            </a:r>
            <a:r>
              <a:rPr lang="en-US" altLang="zh-CN" sz="2400" b="1" dirty="0"/>
              <a:t>—— </a:t>
            </a:r>
            <a:r>
              <a:rPr lang="zh-CN" altLang="en-US" sz="2400" b="1" dirty="0"/>
              <a:t>两个不同类别的寄存器</a:t>
            </a:r>
          </a:p>
          <a:p>
            <a:pPr marL="0" indent="0">
              <a:buClrTx/>
              <a:buFont typeface="Wingdings" panose="05000000000000000000" pitchFamily="2" charset="2"/>
              <a:buNone/>
            </a:pPr>
            <a:r>
              <a:rPr lang="zh-CN" altLang="en-US" sz="2400" b="1" dirty="0"/>
              <a:t> 相对基址＋变址 </a:t>
            </a:r>
            <a:r>
              <a:rPr lang="en-US" altLang="zh-CN" sz="2400" b="1" dirty="0"/>
              <a:t>—— </a:t>
            </a:r>
            <a:r>
              <a:rPr lang="zh-CN" altLang="en-US" sz="2400" b="1" dirty="0"/>
              <a:t>两个不同类别的寄存器加上位移量</a:t>
            </a:r>
          </a:p>
        </p:txBody>
      </p:sp>
      <p:sp>
        <p:nvSpPr>
          <p:cNvPr id="50178" name="直接连接符 312322"/>
          <p:cNvSpPr/>
          <p:nvPr/>
        </p:nvSpPr>
        <p:spPr>
          <a:xfrm>
            <a:off x="611188" y="2781300"/>
            <a:ext cx="8137525" cy="0"/>
          </a:xfrm>
          <a:prstGeom prst="line">
            <a:avLst/>
          </a:prstGeom>
          <a:ln w="12700" cap="flat" cmpd="sng">
            <a:solidFill>
              <a:schemeClr val="tx1"/>
            </a:solidFill>
            <a:prstDash val="solid"/>
            <a:round/>
            <a:headEnd type="none" w="med" len="med"/>
            <a:tailEnd type="none" w="med" len="med"/>
          </a:ln>
        </p:spPr>
      </p:sp>
      <p:sp>
        <p:nvSpPr>
          <p:cNvPr id="50179" name="矩形 312323"/>
          <p:cNvSpPr/>
          <p:nvPr/>
        </p:nvSpPr>
        <p:spPr>
          <a:xfrm>
            <a:off x="2195513" y="260350"/>
            <a:ext cx="4895850" cy="431800"/>
          </a:xfrm>
          <a:prstGeom prst="rect">
            <a:avLst/>
          </a:prstGeom>
          <a:noFill/>
          <a:ln w="9525">
            <a:noFill/>
          </a:ln>
        </p:spPr>
        <p:txBody>
          <a:bodyPr anchor="ctr"/>
          <a:lstStyle/>
          <a:p>
            <a:pPr lvl="0" indent="0" algn="ctr">
              <a:buClrTx/>
            </a:pPr>
            <a:r>
              <a:rPr lang="en-US" altLang="zh-CN" sz="3600" b="1">
                <a:solidFill>
                  <a:srgbClr val="FF0000"/>
                </a:solidFill>
                <a:latin typeface="Arial" panose="020B0604020202020204" pitchFamily="34" charset="0"/>
                <a:ea typeface="隶书" panose="02010509060101010101" pitchFamily="49" charset="-122"/>
              </a:rPr>
              <a:t>3.2  </a:t>
            </a:r>
            <a:r>
              <a:rPr lang="zh-CN" altLang="en-US" sz="3600" b="1" dirty="0">
                <a:solidFill>
                  <a:srgbClr val="FF0000"/>
                </a:solidFill>
                <a:latin typeface="Times New Roman" panose="02020603050405020304" pitchFamily="18" charset="0"/>
                <a:ea typeface="隶书" panose="02010509060101010101" pitchFamily="49" charset="-122"/>
              </a:rPr>
              <a:t>寻址方式</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7" name="矩形 318466"/>
          <p:cNvSpPr/>
          <p:nvPr/>
        </p:nvSpPr>
        <p:spPr>
          <a:xfrm>
            <a:off x="611561" y="1293813"/>
            <a:ext cx="3960439" cy="5201424"/>
          </a:xfrm>
          <a:prstGeom prst="rect">
            <a:avLst/>
          </a:prstGeom>
          <a:solidFill>
            <a:srgbClr val="FFFF00"/>
          </a:solidFill>
          <a:ln w="9525">
            <a:noFill/>
          </a:ln>
        </p:spPr>
        <p:txBody>
          <a:bodyPr wrap="square">
            <a:spAutoFit/>
          </a:bodyPr>
          <a:lstStyle/>
          <a:p>
            <a:pPr marL="342900" lvl="0" indent="-342900">
              <a:spcBef>
                <a:spcPct val="20000"/>
              </a:spcBef>
            </a:pPr>
            <a:r>
              <a:rPr lang="en-US" altLang="zh-CN" sz="2000" b="1" dirty="0">
                <a:latin typeface="宋体" panose="02010600030101010101" pitchFamily="2" charset="-122"/>
                <a:ea typeface="宋体" panose="02010600030101010101" pitchFamily="2" charset="-122"/>
              </a:rPr>
              <a:t>DATA SEGMENT</a:t>
            </a:r>
          </a:p>
          <a:p>
            <a:pPr marL="342900" lvl="0" indent="-342900">
              <a:spcBef>
                <a:spcPct val="20000"/>
              </a:spcBef>
            </a:pPr>
            <a:r>
              <a:rPr lang="en-US" altLang="zh-CN" sz="2000" b="1" dirty="0">
                <a:latin typeface="宋体" panose="02010600030101010101" pitchFamily="2" charset="-122"/>
                <a:ea typeface="宋体" panose="02010600030101010101" pitchFamily="2" charset="-122"/>
              </a:rPr>
              <a:t>STR DB ‘PROGRAM EXAMPLE$’</a:t>
            </a:r>
          </a:p>
          <a:p>
            <a:pPr marL="342900" lvl="0" indent="-342900">
              <a:spcBef>
                <a:spcPct val="20000"/>
              </a:spcBef>
            </a:pPr>
            <a:r>
              <a:rPr lang="en-US" altLang="zh-CN" sz="2000" b="1" dirty="0">
                <a:latin typeface="宋体" panose="02010600030101010101" pitchFamily="2" charset="-122"/>
                <a:ea typeface="宋体" panose="02010600030101010101" pitchFamily="2" charset="-122"/>
              </a:rPr>
              <a:t>DATA ENDS</a:t>
            </a:r>
          </a:p>
          <a:p>
            <a:pPr marL="342900" lvl="0" indent="-342900">
              <a:spcBef>
                <a:spcPct val="20000"/>
              </a:spcBef>
            </a:pPr>
            <a:r>
              <a:rPr lang="en-US" altLang="zh-CN" sz="2000" b="1" dirty="0">
                <a:latin typeface="宋体" panose="02010600030101010101" pitchFamily="2" charset="-122"/>
                <a:ea typeface="宋体" panose="02010600030101010101" pitchFamily="2" charset="-122"/>
              </a:rPr>
              <a:t>CODE SEGMENT</a:t>
            </a:r>
          </a:p>
          <a:p>
            <a:pPr marL="342900" lvl="0" indent="-342900">
              <a:spcBef>
                <a:spcPct val="20000"/>
              </a:spcBef>
            </a:pPr>
            <a:r>
              <a:rPr lang="en-US" altLang="zh-CN" sz="2000" b="1" dirty="0">
                <a:latin typeface="宋体" panose="02010600030101010101" pitchFamily="2" charset="-122"/>
                <a:ea typeface="宋体" panose="02010600030101010101" pitchFamily="2" charset="-122"/>
              </a:rPr>
              <a:t>    ASSUME DS:DATA,CS:CODE</a:t>
            </a:r>
          </a:p>
          <a:p>
            <a:pPr marL="342900" lvl="0" indent="-342900">
              <a:spcBef>
                <a:spcPct val="20000"/>
              </a:spcBef>
            </a:pPr>
            <a:r>
              <a:rPr lang="en-US" altLang="zh-CN" sz="2000" b="1" dirty="0">
                <a:latin typeface="宋体" panose="02010600030101010101" pitchFamily="2" charset="-122"/>
                <a:ea typeface="宋体" panose="02010600030101010101" pitchFamily="2" charset="-122"/>
              </a:rPr>
              <a:t>START:  MOV AX,DATA</a:t>
            </a:r>
          </a:p>
          <a:p>
            <a:pPr marL="342900" lvl="0" indent="-342900">
              <a:spcBef>
                <a:spcPct val="20000"/>
              </a:spcBef>
            </a:pPr>
            <a:r>
              <a:rPr lang="en-US" altLang="zh-CN" sz="2000" b="1" dirty="0">
                <a:latin typeface="宋体" panose="02010600030101010101" pitchFamily="2" charset="-122"/>
                <a:ea typeface="宋体" panose="02010600030101010101" pitchFamily="2" charset="-122"/>
              </a:rPr>
              <a:t>        MOV DS,AX</a:t>
            </a:r>
          </a:p>
          <a:p>
            <a:pPr lvl="0">
              <a:spcBef>
                <a:spcPct val="20000"/>
              </a:spcBef>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MOV AH,9</a:t>
            </a:r>
          </a:p>
          <a:p>
            <a:pPr lvl="0">
              <a:spcBef>
                <a:spcPct val="20000"/>
              </a:spcBef>
            </a:pPr>
            <a:r>
              <a:rPr lang="en-US" altLang="zh-CN" sz="2000" b="1" dirty="0">
                <a:latin typeface="宋体" panose="02010600030101010101" pitchFamily="2" charset="-122"/>
                <a:ea typeface="宋体" panose="02010600030101010101" pitchFamily="2" charset="-122"/>
              </a:rPr>
              <a:t>        LEA DX,STR</a:t>
            </a:r>
          </a:p>
          <a:p>
            <a:pPr lvl="0">
              <a:spcBef>
                <a:spcPct val="20000"/>
              </a:spcBef>
            </a:pPr>
            <a:r>
              <a:rPr lang="en-US" altLang="zh-CN" sz="2000" b="1" dirty="0">
                <a:latin typeface="宋体" panose="02010600030101010101" pitchFamily="2" charset="-122"/>
                <a:ea typeface="宋体" panose="02010600030101010101" pitchFamily="2" charset="-122"/>
              </a:rPr>
              <a:t>        INT 21H</a:t>
            </a:r>
          </a:p>
          <a:p>
            <a:pPr lvl="0">
              <a:spcBef>
                <a:spcPct val="20000"/>
              </a:spcBef>
            </a:pPr>
            <a:r>
              <a:rPr lang="en-US" altLang="zh-CN" sz="2000" b="1" dirty="0">
                <a:latin typeface="宋体" panose="02010600030101010101" pitchFamily="2" charset="-122"/>
                <a:ea typeface="宋体" panose="02010600030101010101" pitchFamily="2" charset="-122"/>
              </a:rPr>
              <a:t>        MOV AH,4CH</a:t>
            </a:r>
          </a:p>
          <a:p>
            <a:pPr lvl="0">
              <a:spcBef>
                <a:spcPct val="20000"/>
              </a:spcBef>
            </a:pPr>
            <a:r>
              <a:rPr lang="en-US" altLang="zh-CN" sz="2000" b="1" dirty="0">
                <a:latin typeface="宋体" panose="02010600030101010101" pitchFamily="2" charset="-122"/>
                <a:ea typeface="宋体" panose="02010600030101010101" pitchFamily="2" charset="-122"/>
              </a:rPr>
              <a:t>        INT 21H</a:t>
            </a:r>
          </a:p>
          <a:p>
            <a:pPr lvl="0">
              <a:spcBef>
                <a:spcPct val="20000"/>
              </a:spcBef>
            </a:pPr>
            <a:r>
              <a:rPr lang="en-US" altLang="zh-CN" sz="2000" b="1" dirty="0">
                <a:latin typeface="宋体" panose="02010600030101010101" pitchFamily="2" charset="-122"/>
                <a:ea typeface="宋体" panose="02010600030101010101" pitchFamily="2" charset="-122"/>
              </a:rPr>
              <a:t>CODE ENDS</a:t>
            </a:r>
          </a:p>
          <a:p>
            <a:pPr lvl="0">
              <a:spcBef>
                <a:spcPct val="20000"/>
              </a:spcBef>
            </a:pPr>
            <a:r>
              <a:rPr lang="en-US" altLang="zh-CN" sz="2000" b="1" dirty="0">
                <a:latin typeface="宋体" panose="02010600030101010101" pitchFamily="2" charset="-122"/>
                <a:ea typeface="宋体" panose="02010600030101010101" pitchFamily="2" charset="-122"/>
              </a:rPr>
              <a:t>     END START </a:t>
            </a:r>
          </a:p>
        </p:txBody>
      </p:sp>
      <p:sp>
        <p:nvSpPr>
          <p:cNvPr id="318469" name="矩形 318468"/>
          <p:cNvSpPr/>
          <p:nvPr/>
        </p:nvSpPr>
        <p:spPr>
          <a:xfrm>
            <a:off x="755650" y="836613"/>
            <a:ext cx="3816350" cy="461665"/>
          </a:xfrm>
          <a:prstGeom prst="rect">
            <a:avLst/>
          </a:prstGeom>
          <a:noFill/>
          <a:ln w="9525">
            <a:noFill/>
          </a:ln>
        </p:spPr>
        <p:txBody>
          <a:bodyPr wrap="square">
            <a:spAutoFit/>
          </a:bodyPr>
          <a:lstStyle/>
          <a:p>
            <a:pPr lvl="0">
              <a:buClrTx/>
            </a:pPr>
            <a:r>
              <a:rPr lang="zh-CN" altLang="en-US" sz="2400" b="1" dirty="0">
                <a:latin typeface="Arial" panose="020B0604020202020204" pitchFamily="34" charset="0"/>
              </a:rPr>
              <a:t>汇编语言源程序基本结构</a:t>
            </a:r>
            <a:endParaRPr lang="zh-CN" altLang="en-US" sz="2400" b="1" dirty="0">
              <a:latin typeface="Arial" panose="020B0604020202020204" pitchFamily="34" charset="0"/>
              <a:ea typeface="宋体" panose="02010600030101010101" pitchFamily="2" charset="-122"/>
            </a:endParaRP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7" name="矩形 6">
            <a:extLst>
              <a:ext uri="{FF2B5EF4-FFF2-40B4-BE49-F238E27FC236}">
                <a16:creationId xmlns:a16="http://schemas.microsoft.com/office/drawing/2014/main" id="{8F772A8A-CB30-49C7-AAC7-108F001F1E9F}"/>
              </a:ext>
            </a:extLst>
          </p:cNvPr>
          <p:cNvSpPr/>
          <p:nvPr/>
        </p:nvSpPr>
        <p:spPr>
          <a:xfrm>
            <a:off x="5004049" y="1323920"/>
            <a:ext cx="3960439" cy="5201424"/>
          </a:xfrm>
          <a:prstGeom prst="rect">
            <a:avLst/>
          </a:prstGeom>
          <a:solidFill>
            <a:srgbClr val="0000FF"/>
          </a:solidFill>
          <a:ln w="9525">
            <a:noFill/>
          </a:ln>
        </p:spPr>
        <p:txBody>
          <a:bodyPr wrap="square">
            <a:spAutoFit/>
          </a:bodyPr>
          <a:lstStyle/>
          <a:p>
            <a:pPr marL="342900" lvl="0" indent="-342900">
              <a:spcBef>
                <a:spcPct val="20000"/>
              </a:spcBef>
            </a:pPr>
            <a:r>
              <a:rPr lang="en-US" altLang="zh-CN" sz="2000" b="1" dirty="0">
                <a:solidFill>
                  <a:schemeClr val="bg1"/>
                </a:solidFill>
                <a:latin typeface="宋体" panose="02010600030101010101" pitchFamily="2" charset="-122"/>
                <a:ea typeface="宋体" panose="02010600030101010101" pitchFamily="2" charset="-122"/>
              </a:rPr>
              <a:t>DATA SEGMENT</a:t>
            </a:r>
          </a:p>
          <a:p>
            <a:pPr marL="342900" lvl="0" indent="-342900">
              <a:spcBef>
                <a:spcPct val="20000"/>
              </a:spcBef>
            </a:pPr>
            <a:endParaRPr lang="en-US" altLang="zh-CN" sz="2000" b="1" dirty="0">
              <a:solidFill>
                <a:schemeClr val="bg1"/>
              </a:solidFill>
              <a:latin typeface="宋体" panose="02010600030101010101" pitchFamily="2" charset="-122"/>
              <a:ea typeface="宋体" panose="02010600030101010101" pitchFamily="2" charset="-122"/>
            </a:endParaRPr>
          </a:p>
          <a:p>
            <a:pPr marL="342900" lvl="0" indent="-342900">
              <a:spcBef>
                <a:spcPct val="20000"/>
              </a:spcBef>
            </a:pPr>
            <a:endParaRPr lang="en-US" altLang="zh-CN" sz="2000" b="1" dirty="0">
              <a:solidFill>
                <a:schemeClr val="bg1"/>
              </a:solidFill>
              <a:latin typeface="宋体" panose="02010600030101010101" pitchFamily="2" charset="-122"/>
              <a:ea typeface="宋体" panose="02010600030101010101" pitchFamily="2" charset="-122"/>
            </a:endParaRPr>
          </a:p>
          <a:p>
            <a:pPr marL="342900" lvl="0" indent="-342900">
              <a:spcBef>
                <a:spcPct val="20000"/>
              </a:spcBef>
            </a:pPr>
            <a:r>
              <a:rPr lang="en-US" altLang="zh-CN" sz="2000" b="1" dirty="0">
                <a:solidFill>
                  <a:schemeClr val="bg1"/>
                </a:solidFill>
                <a:latin typeface="宋体" panose="02010600030101010101" pitchFamily="2" charset="-122"/>
                <a:ea typeface="宋体" panose="02010600030101010101" pitchFamily="2" charset="-122"/>
              </a:rPr>
              <a:t>DATA ENDS</a:t>
            </a:r>
          </a:p>
          <a:p>
            <a:pPr marL="342900" lvl="0" indent="-342900">
              <a:spcBef>
                <a:spcPct val="20000"/>
              </a:spcBef>
            </a:pPr>
            <a:r>
              <a:rPr lang="en-US" altLang="zh-CN" sz="2000" b="1" dirty="0">
                <a:solidFill>
                  <a:schemeClr val="bg1"/>
                </a:solidFill>
                <a:latin typeface="宋体" panose="02010600030101010101" pitchFamily="2" charset="-122"/>
                <a:ea typeface="宋体" panose="02010600030101010101" pitchFamily="2" charset="-122"/>
              </a:rPr>
              <a:t>CODE SEGMENT</a:t>
            </a:r>
          </a:p>
          <a:p>
            <a:pPr marL="342900" lvl="0" indent="-342900">
              <a:spcBef>
                <a:spcPct val="20000"/>
              </a:spcBef>
            </a:pPr>
            <a:r>
              <a:rPr lang="en-US" altLang="zh-CN" sz="2000" b="1" dirty="0">
                <a:solidFill>
                  <a:schemeClr val="bg1"/>
                </a:solidFill>
                <a:latin typeface="宋体" panose="02010600030101010101" pitchFamily="2" charset="-122"/>
                <a:ea typeface="宋体" panose="02010600030101010101" pitchFamily="2" charset="-122"/>
              </a:rPr>
              <a:t>    ASSUME DS:DATA,CS:CODE</a:t>
            </a:r>
          </a:p>
          <a:p>
            <a:pPr marL="342900" lvl="0" indent="-342900">
              <a:spcBef>
                <a:spcPct val="20000"/>
              </a:spcBef>
            </a:pPr>
            <a:r>
              <a:rPr lang="en-US" altLang="zh-CN" sz="2000" b="1" dirty="0">
                <a:solidFill>
                  <a:schemeClr val="bg1"/>
                </a:solidFill>
                <a:latin typeface="宋体" panose="02010600030101010101" pitchFamily="2" charset="-122"/>
                <a:ea typeface="宋体" panose="02010600030101010101" pitchFamily="2" charset="-122"/>
              </a:rPr>
              <a:t>START:  MOV AX,DATA</a:t>
            </a:r>
          </a:p>
          <a:p>
            <a:pPr marL="342900" lvl="0" indent="-342900">
              <a:spcBef>
                <a:spcPct val="20000"/>
              </a:spcBef>
            </a:pPr>
            <a:r>
              <a:rPr lang="en-US" altLang="zh-CN" sz="2000" b="1" dirty="0">
                <a:solidFill>
                  <a:schemeClr val="bg1"/>
                </a:solidFill>
                <a:latin typeface="宋体" panose="02010600030101010101" pitchFamily="2" charset="-122"/>
                <a:ea typeface="宋体" panose="02010600030101010101" pitchFamily="2" charset="-122"/>
              </a:rPr>
              <a:t>        MOV DS,AX</a:t>
            </a:r>
          </a:p>
          <a:p>
            <a:pPr lvl="0">
              <a:spcBef>
                <a:spcPct val="20000"/>
              </a:spcBef>
            </a:pPr>
            <a:endParaRPr lang="en-US" altLang="zh-CN" sz="2000" b="1" dirty="0">
              <a:solidFill>
                <a:schemeClr val="bg1"/>
              </a:solidFill>
              <a:latin typeface="宋体" panose="02010600030101010101" pitchFamily="2" charset="-122"/>
              <a:ea typeface="宋体" panose="02010600030101010101" pitchFamily="2" charset="-122"/>
            </a:endParaRPr>
          </a:p>
          <a:p>
            <a:pPr lvl="0">
              <a:spcBef>
                <a:spcPct val="20000"/>
              </a:spcBef>
            </a:pPr>
            <a:endParaRPr lang="en-US" altLang="zh-CN" sz="2000" b="1" dirty="0">
              <a:solidFill>
                <a:schemeClr val="bg1"/>
              </a:solidFill>
              <a:latin typeface="宋体" panose="02010600030101010101" pitchFamily="2" charset="-122"/>
              <a:ea typeface="宋体" panose="02010600030101010101" pitchFamily="2" charset="-122"/>
            </a:endParaRPr>
          </a:p>
          <a:p>
            <a:pPr lvl="0">
              <a:spcBef>
                <a:spcPct val="20000"/>
              </a:spcBef>
            </a:pPr>
            <a:r>
              <a:rPr lang="en-US" altLang="zh-CN" sz="2000" b="1" dirty="0">
                <a:solidFill>
                  <a:schemeClr val="bg1"/>
                </a:solidFill>
                <a:latin typeface="宋体" panose="02010600030101010101" pitchFamily="2" charset="-122"/>
              </a:rPr>
              <a:t>        </a:t>
            </a:r>
            <a:r>
              <a:rPr lang="en-US" altLang="zh-CN" sz="2000" b="1" dirty="0">
                <a:solidFill>
                  <a:schemeClr val="bg1"/>
                </a:solidFill>
                <a:latin typeface="宋体" panose="02010600030101010101" pitchFamily="2" charset="-122"/>
                <a:ea typeface="宋体" panose="02010600030101010101" pitchFamily="2" charset="-122"/>
              </a:rPr>
              <a:t>MOV AH,4CH</a:t>
            </a:r>
          </a:p>
          <a:p>
            <a:pPr lvl="0">
              <a:spcBef>
                <a:spcPct val="20000"/>
              </a:spcBef>
            </a:pPr>
            <a:r>
              <a:rPr lang="en-US" altLang="zh-CN" sz="2000" b="1" dirty="0">
                <a:solidFill>
                  <a:schemeClr val="bg1"/>
                </a:solidFill>
                <a:latin typeface="宋体" panose="02010600030101010101" pitchFamily="2" charset="-122"/>
                <a:ea typeface="宋体" panose="02010600030101010101" pitchFamily="2" charset="-122"/>
              </a:rPr>
              <a:t>        INT 21H</a:t>
            </a:r>
          </a:p>
          <a:p>
            <a:pPr lvl="0">
              <a:spcBef>
                <a:spcPct val="20000"/>
              </a:spcBef>
            </a:pPr>
            <a:r>
              <a:rPr lang="en-US" altLang="zh-CN" sz="2000" b="1" dirty="0">
                <a:solidFill>
                  <a:schemeClr val="bg1"/>
                </a:solidFill>
                <a:latin typeface="宋体" panose="02010600030101010101" pitchFamily="2" charset="-122"/>
                <a:ea typeface="宋体" panose="02010600030101010101" pitchFamily="2" charset="-122"/>
              </a:rPr>
              <a:t>CODE ENDS</a:t>
            </a:r>
          </a:p>
          <a:p>
            <a:pPr lvl="0">
              <a:spcBef>
                <a:spcPct val="20000"/>
              </a:spcBef>
            </a:pPr>
            <a:r>
              <a:rPr lang="en-US" altLang="zh-CN" sz="2000" b="1" dirty="0">
                <a:solidFill>
                  <a:schemeClr val="bg1"/>
                </a:solidFill>
                <a:latin typeface="宋体" panose="02010600030101010101" pitchFamily="2" charset="-122"/>
                <a:ea typeface="宋体" panose="02010600030101010101" pitchFamily="2" charset="-122"/>
              </a:rPr>
              <a:t>     END START </a:t>
            </a:r>
          </a:p>
        </p:txBody>
      </p:sp>
      <p:cxnSp>
        <p:nvCxnSpPr>
          <p:cNvPr id="3" name="直接连接符 2">
            <a:extLst>
              <a:ext uri="{FF2B5EF4-FFF2-40B4-BE49-F238E27FC236}">
                <a16:creationId xmlns:a16="http://schemas.microsoft.com/office/drawing/2014/main" id="{6F7D6963-DB2E-47A1-AAE2-65025F667BEC}"/>
              </a:ext>
            </a:extLst>
          </p:cNvPr>
          <p:cNvCxnSpPr/>
          <p:nvPr/>
        </p:nvCxnSpPr>
        <p:spPr>
          <a:xfrm>
            <a:off x="6084168" y="1844824"/>
            <a:ext cx="0" cy="576064"/>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F013503-0022-4616-9E09-49D617125762}"/>
              </a:ext>
            </a:extLst>
          </p:cNvPr>
          <p:cNvCxnSpPr/>
          <p:nvPr/>
        </p:nvCxnSpPr>
        <p:spPr>
          <a:xfrm>
            <a:off x="6804248" y="4365104"/>
            <a:ext cx="0" cy="576064"/>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4630" name="文本框 154629"/>
          <p:cNvSpPr txBox="1"/>
          <p:nvPr/>
        </p:nvSpPr>
        <p:spPr>
          <a:xfrm>
            <a:off x="611188" y="1412875"/>
            <a:ext cx="8208962" cy="420688"/>
          </a:xfrm>
          <a:prstGeom prst="rect">
            <a:avLst/>
          </a:prstGeom>
          <a:noFill/>
          <a:ln w="9525">
            <a:noFill/>
          </a:ln>
        </p:spPr>
        <p:txBody>
          <a:bodyPr>
            <a:spAutoFit/>
          </a:bodyPr>
          <a:lstStyle/>
          <a:p>
            <a:pPr marL="342900" lvl="0" indent="-342900">
              <a:lnSpc>
                <a:spcPct val="90000"/>
              </a:lnSpc>
              <a:spcBef>
                <a:spcPct val="50000"/>
              </a:spcBef>
              <a:buClr>
                <a:schemeClr val="hlink"/>
              </a:buClr>
              <a:buSzPct val="110000"/>
              <a:buFont typeface="Wingdings" panose="05000000000000000000" pitchFamily="2" charset="2"/>
              <a:buNone/>
            </a:pPr>
            <a:endParaRPr lang="zh-CN" altLang="en-US" sz="2400" dirty="0">
              <a:solidFill>
                <a:srgbClr val="000000"/>
              </a:solidFill>
              <a:latin typeface="Tahoma" panose="020B0604030504040204" pitchFamily="34" charset="0"/>
              <a:ea typeface="宋体" panose="02010600030101010101" pitchFamily="2" charset="-122"/>
            </a:endParaRPr>
          </a:p>
        </p:txBody>
      </p:sp>
      <p:sp>
        <p:nvSpPr>
          <p:cNvPr id="154634" name="矩形 154633"/>
          <p:cNvSpPr/>
          <p:nvPr/>
        </p:nvSpPr>
        <p:spPr>
          <a:xfrm>
            <a:off x="611188" y="1476375"/>
            <a:ext cx="6321425" cy="4473575"/>
          </a:xfrm>
          <a:prstGeom prst="rect">
            <a:avLst/>
          </a:prstGeom>
          <a:noFill/>
          <a:ln w="9525">
            <a:noFill/>
          </a:ln>
        </p:spPr>
        <p:txBody>
          <a:bodyPr wrap="none" anchor="ctr">
            <a:spAutoFit/>
          </a:bodyPr>
          <a:lstStyle/>
          <a:p>
            <a:pPr lvl="0" indent="276225" defTabSz="0">
              <a:buClrTx/>
              <a:tabLst>
                <a:tab pos="333375" algn="l"/>
              </a:tabLst>
            </a:pPr>
            <a:r>
              <a:rPr lang="zh-CN" altLang="en-US" sz="2400" b="1" dirty="0">
                <a:latin typeface="Arial" panose="020B0604020202020204" pitchFamily="34" charset="0"/>
                <a:ea typeface="宋体" panose="02010600030101010101" pitchFamily="2" charset="-122"/>
              </a:rPr>
              <a:t>以下符号所表示的含义：</a:t>
            </a:r>
          </a:p>
          <a:p>
            <a:pPr lvl="0" indent="276225" defTabSz="0">
              <a:buClrTx/>
              <a:tabLst>
                <a:tab pos="333375" algn="l"/>
              </a:tabLst>
            </a:pPr>
            <a:r>
              <a:rPr lang="en-US" altLang="zh-CN" sz="2400" b="1" err="1">
                <a:solidFill>
                  <a:srgbClr val="0000FF"/>
                </a:solidFill>
                <a:latin typeface="Arial" panose="020B0604020202020204" pitchFamily="34" charset="0"/>
                <a:ea typeface="宋体" panose="02010600030101010101" pitchFamily="2" charset="-122"/>
              </a:rPr>
              <a:t>mem</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存储器操作数</a:t>
            </a:r>
          </a:p>
          <a:p>
            <a:pPr lvl="0" indent="276225" defTabSz="0">
              <a:buClrTx/>
              <a:tabLst>
                <a:tab pos="333375" algn="l"/>
              </a:tabLst>
            </a:pPr>
            <a:r>
              <a:rPr lang="en-US" altLang="zh-CN" sz="2400" b="1" err="1">
                <a:solidFill>
                  <a:srgbClr val="0000FF"/>
                </a:solidFill>
                <a:latin typeface="Arial" panose="020B0604020202020204" pitchFamily="34" charset="0"/>
                <a:ea typeface="宋体" panose="02010600030101010101" pitchFamily="2" charset="-122"/>
              </a:rPr>
              <a:t>opr</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操作数</a:t>
            </a:r>
          </a:p>
          <a:p>
            <a:pPr lvl="0" indent="276225" defTabSz="0">
              <a:buClrTx/>
              <a:tabLst>
                <a:tab pos="333375" algn="l"/>
              </a:tabLst>
            </a:pPr>
            <a:r>
              <a:rPr lang="en-US" altLang="zh-CN" sz="2400" b="1" err="1">
                <a:solidFill>
                  <a:srgbClr val="0000FF"/>
                </a:solidFill>
                <a:latin typeface="Arial" panose="020B0604020202020204" pitchFamily="34" charset="0"/>
                <a:ea typeface="宋体" panose="02010600030101010101" pitchFamily="2" charset="-122"/>
              </a:rPr>
              <a:t>src</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源操作数</a:t>
            </a:r>
          </a:p>
          <a:p>
            <a:pPr lvl="0" indent="276225" defTabSz="0">
              <a:buClrTx/>
              <a:tabLst>
                <a:tab pos="333375" algn="l"/>
              </a:tabLst>
            </a:pPr>
            <a:r>
              <a:rPr lang="en-US" altLang="zh-CN" sz="2400" b="1" err="1">
                <a:solidFill>
                  <a:srgbClr val="0000FF"/>
                </a:solidFill>
                <a:latin typeface="Arial" panose="020B0604020202020204" pitchFamily="34" charset="0"/>
                <a:ea typeface="宋体" panose="02010600030101010101" pitchFamily="2" charset="-122"/>
              </a:rPr>
              <a:t>dest</a:t>
            </a:r>
            <a:r>
              <a:rPr lang="en-US" altLang="zh-CN" sz="2400" b="1">
                <a:solidFill>
                  <a:srgbClr val="0000FF"/>
                </a:solidFill>
                <a:latin typeface="Arial" panose="020B0604020202020204" pitchFamily="34" charset="0"/>
                <a:ea typeface="宋体" panose="02010600030101010101" pitchFamily="2" charset="-122"/>
              </a:rPr>
              <a:t> </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目的操作数</a:t>
            </a:r>
          </a:p>
          <a:p>
            <a:pPr lvl="0" indent="276225" defTabSz="0">
              <a:buClrTx/>
              <a:tabLst>
                <a:tab pos="333375" algn="l"/>
              </a:tabLst>
            </a:pPr>
            <a:r>
              <a:rPr lang="en-US" altLang="zh-CN" sz="2400" b="1">
                <a:solidFill>
                  <a:srgbClr val="0000FF"/>
                </a:solidFill>
                <a:latin typeface="Arial" panose="020B0604020202020204" pitchFamily="34" charset="0"/>
                <a:ea typeface="宋体" panose="02010600030101010101" pitchFamily="2" charset="-122"/>
              </a:rPr>
              <a:t>label</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标号</a:t>
            </a:r>
          </a:p>
          <a:p>
            <a:pPr lvl="0" indent="276225" defTabSz="0">
              <a:buClrTx/>
              <a:tabLst>
                <a:tab pos="333375" algn="l"/>
              </a:tabLst>
            </a:pPr>
            <a:r>
              <a:rPr lang="en-US" altLang="zh-CN" sz="2400" b="1" err="1">
                <a:solidFill>
                  <a:srgbClr val="0000FF"/>
                </a:solidFill>
                <a:latin typeface="Arial" panose="020B0604020202020204" pitchFamily="34" charset="0"/>
                <a:ea typeface="宋体" panose="02010600030101010101" pitchFamily="2" charset="-122"/>
              </a:rPr>
              <a:t>disp</a:t>
            </a:r>
            <a:r>
              <a:rPr lang="en-US" altLang="zh-CN" sz="2400" b="1">
                <a:solidFill>
                  <a:srgbClr val="0000FF"/>
                </a:solidFill>
                <a:latin typeface="Arial" panose="020B0604020202020204" pitchFamily="34" charset="0"/>
                <a:ea typeface="宋体" panose="02010600030101010101" pitchFamily="2" charset="-122"/>
              </a:rPr>
              <a:t> </a:t>
            </a:r>
            <a:r>
              <a:rPr lang="en-US" altLang="zh-CN" sz="2400" b="1">
                <a:latin typeface="Arial" panose="020B0604020202020204" pitchFamily="34" charset="0"/>
                <a:ea typeface="宋体" panose="02010600030101010101" pitchFamily="2" charset="-122"/>
              </a:rPr>
              <a:t>  8</a:t>
            </a:r>
            <a:r>
              <a:rPr lang="zh-CN" altLang="en-US" sz="2400" b="1" dirty="0">
                <a:latin typeface="Arial" panose="020B0604020202020204" pitchFamily="34" charset="0"/>
                <a:ea typeface="宋体" panose="02010600030101010101" pitchFamily="2" charset="-122"/>
              </a:rPr>
              <a:t>位或</a:t>
            </a:r>
            <a:r>
              <a:rPr lang="en-US" altLang="zh-CN" sz="2400" b="1">
                <a:latin typeface="Arial" panose="020B0604020202020204" pitchFamily="34" charset="0"/>
                <a:ea typeface="宋体" panose="02010600030101010101" pitchFamily="2" charset="-122"/>
              </a:rPr>
              <a:t>16</a:t>
            </a:r>
            <a:r>
              <a:rPr lang="zh-CN" altLang="en-US" sz="2400" b="1" dirty="0">
                <a:latin typeface="Arial" panose="020B0604020202020204" pitchFamily="34" charset="0"/>
                <a:ea typeface="宋体" panose="02010600030101010101" pitchFamily="2" charset="-122"/>
              </a:rPr>
              <a:t>位偏移量</a:t>
            </a:r>
          </a:p>
          <a:p>
            <a:pPr lvl="0" indent="276225" defTabSz="0">
              <a:buClrTx/>
              <a:tabLst>
                <a:tab pos="333375" algn="l"/>
              </a:tabLst>
            </a:pPr>
            <a:r>
              <a:rPr lang="en-US" altLang="zh-CN" sz="2400" b="1">
                <a:solidFill>
                  <a:srgbClr val="0000FF"/>
                </a:solidFill>
                <a:latin typeface="Arial" panose="020B0604020202020204" pitchFamily="34" charset="0"/>
                <a:ea typeface="宋体" panose="02010600030101010101" pitchFamily="2" charset="-122"/>
              </a:rPr>
              <a:t>port</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输入</a:t>
            </a:r>
            <a:r>
              <a:rPr lang="en-US" altLang="zh-CN" sz="2400" b="1">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输出端口，可用数字或表达式表示</a:t>
            </a:r>
          </a:p>
          <a:p>
            <a:pPr lvl="0" indent="276225" defTabSz="0">
              <a:buClrTx/>
              <a:tabLst>
                <a:tab pos="333375" algn="l"/>
              </a:tabLst>
            </a:pPr>
            <a:r>
              <a:rPr lang="en-US" altLang="zh-CN" sz="2400" b="1">
                <a:solidFill>
                  <a:srgbClr val="0000FF"/>
                </a:solidFill>
                <a:latin typeface="Arial" panose="020B0604020202020204" pitchFamily="34" charset="0"/>
                <a:ea typeface="宋体" panose="02010600030101010101" pitchFamily="2" charset="-122"/>
              </a:rPr>
              <a:t>[ ]</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存储单元的内容</a:t>
            </a:r>
          </a:p>
          <a:p>
            <a:pPr lvl="0" indent="276225" defTabSz="0">
              <a:buClrTx/>
              <a:tabLst>
                <a:tab pos="333375" algn="l"/>
              </a:tabLst>
            </a:pPr>
            <a:r>
              <a:rPr lang="pt-BR" altLang="zh-CN" sz="2400" b="1" dirty="0">
                <a:solidFill>
                  <a:srgbClr val="0000FF"/>
                </a:solidFill>
                <a:latin typeface="Arial" panose="020B0604020202020204" pitchFamily="34" charset="0"/>
                <a:ea typeface="宋体" panose="02010600030101010101" pitchFamily="2" charset="-122"/>
              </a:rPr>
              <a:t>reg</a:t>
            </a:r>
            <a:r>
              <a:rPr lang="pt-BR"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寄存器</a:t>
            </a:r>
          </a:p>
          <a:p>
            <a:pPr lvl="0" indent="276225" defTabSz="0">
              <a:buClrTx/>
              <a:tabLst>
                <a:tab pos="333375" algn="l"/>
              </a:tabLst>
            </a:pPr>
            <a:r>
              <a:rPr lang="en-US" altLang="zh-CN" sz="2400" b="1">
                <a:solidFill>
                  <a:srgbClr val="0000FF"/>
                </a:solidFill>
                <a:latin typeface="Arial" panose="020B0604020202020204" pitchFamily="34" charset="0"/>
                <a:ea typeface="宋体" panose="02010600030101010101" pitchFamily="2" charset="-122"/>
              </a:rPr>
              <a:t>count</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移位次数，可以是</a:t>
            </a:r>
            <a:r>
              <a:rPr lang="en-US" altLang="zh-CN" sz="2400" b="1">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或</a:t>
            </a:r>
            <a:r>
              <a:rPr lang="en-US" altLang="zh-CN" sz="2400" b="1">
                <a:latin typeface="Arial" panose="020B0604020202020204" pitchFamily="34" charset="0"/>
                <a:ea typeface="宋体" panose="02010600030101010101" pitchFamily="2" charset="-122"/>
              </a:rPr>
              <a:t>CL</a:t>
            </a:r>
          </a:p>
          <a:p>
            <a:pPr lvl="0" indent="276225" defTabSz="0">
              <a:buClrTx/>
              <a:tabLst>
                <a:tab pos="333375" algn="l"/>
              </a:tabLst>
            </a:pPr>
            <a:r>
              <a:rPr lang="en-US" altLang="zh-CN" sz="2400" b="1" err="1">
                <a:solidFill>
                  <a:srgbClr val="0000FF"/>
                </a:solidFill>
                <a:latin typeface="Arial" panose="020B0604020202020204" pitchFamily="34" charset="0"/>
                <a:ea typeface="宋体" panose="02010600030101010101" pitchFamily="2" charset="-122"/>
              </a:rPr>
              <a:t>S_ins</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串操作指令</a:t>
            </a:r>
          </a:p>
        </p:txBody>
      </p:sp>
      <p:sp>
        <p:nvSpPr>
          <p:cNvPr id="154635" name="矩形 154634"/>
          <p:cNvSpPr/>
          <p:nvPr/>
        </p:nvSpPr>
        <p:spPr>
          <a:xfrm>
            <a:off x="755650" y="849313"/>
            <a:ext cx="3111500" cy="457200"/>
          </a:xfrm>
          <a:prstGeom prst="rect">
            <a:avLst/>
          </a:prstGeom>
          <a:noFill/>
          <a:ln w="9525">
            <a:noFill/>
          </a:ln>
        </p:spPr>
        <p:txBody>
          <a:bodyPr wrap="none" anchor="t">
            <a:spAutoFit/>
          </a:bodyPr>
          <a:lstStyle/>
          <a:p>
            <a:pPr lvl="0">
              <a:buClrTx/>
            </a:pPr>
            <a:r>
              <a:rPr lang="en-US" altLang="zh-CN" sz="2400" b="1">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、符号所表示的含义</a:t>
            </a:r>
          </a:p>
        </p:txBody>
      </p:sp>
      <p:sp>
        <p:nvSpPr>
          <p:cNvPr id="7" name="矩形 6"/>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2562" name="矩形 322561"/>
          <p:cNvSpPr/>
          <p:nvPr/>
        </p:nvSpPr>
        <p:spPr>
          <a:xfrm>
            <a:off x="539750" y="864964"/>
            <a:ext cx="3455988" cy="331788"/>
          </a:xfrm>
          <a:prstGeom prst="rect">
            <a:avLst/>
          </a:prstGeom>
          <a:noFill/>
          <a:ln w="9525">
            <a:noFill/>
          </a:ln>
        </p:spPr>
        <p:txBody>
          <a:bodyPr lIns="0" tIns="0" rIns="0" bIns="0"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lgn="l"/>
            <a:r>
              <a:rPr lang="en-US" altLang="zh-CN" sz="2400" b="1" dirty="0">
                <a:solidFill>
                  <a:schemeClr val="tx1"/>
                </a:solidFill>
              </a:rPr>
              <a:t>2</a:t>
            </a:r>
            <a:r>
              <a:rPr lang="zh-CN" altLang="en-US" sz="2400" b="1" dirty="0">
                <a:solidFill>
                  <a:schemeClr val="tx1"/>
                </a:solidFill>
              </a:rPr>
              <a:t>、汇编语言指令格式</a:t>
            </a:r>
          </a:p>
        </p:txBody>
      </p:sp>
      <p:sp>
        <p:nvSpPr>
          <p:cNvPr id="322563" name="矩形 322562"/>
          <p:cNvSpPr/>
          <p:nvPr/>
        </p:nvSpPr>
        <p:spPr>
          <a:xfrm>
            <a:off x="358775" y="1555428"/>
            <a:ext cx="8461375" cy="4537868"/>
          </a:xfrm>
          <a:prstGeom prst="rect">
            <a:avLst/>
          </a:prstGeom>
          <a:solidFill>
            <a:srgbClr val="FFFFFF"/>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buNone/>
            </a:pPr>
            <a:r>
              <a:rPr lang="zh-CN" altLang="en-US" sz="2400" b="1" dirty="0"/>
              <a:t>指令的</a:t>
            </a:r>
            <a:r>
              <a:rPr lang="zh-CN" altLang="en-US" sz="2400" b="1" dirty="0">
                <a:solidFill>
                  <a:srgbClr val="0000FF"/>
                </a:solidFill>
              </a:rPr>
              <a:t>一般格式</a:t>
            </a:r>
            <a:r>
              <a:rPr lang="zh-CN" altLang="en-US" sz="2400" b="1" dirty="0"/>
              <a:t>：   </a:t>
            </a:r>
            <a:r>
              <a:rPr lang="en-US" altLang="zh-CN" sz="2400" b="1" dirty="0"/>
              <a:t>[</a:t>
            </a:r>
            <a:r>
              <a:rPr lang="zh-CN" altLang="en-US" sz="2400" b="1" dirty="0"/>
              <a:t>标号</a:t>
            </a:r>
            <a:r>
              <a:rPr lang="en-US" altLang="zh-CN" sz="2400" b="1" dirty="0"/>
              <a:t>]</a:t>
            </a:r>
            <a:r>
              <a:rPr lang="zh-CN" altLang="en-US" sz="2400" b="1" dirty="0"/>
              <a:t>　</a:t>
            </a:r>
            <a:r>
              <a:rPr lang="zh-CN" altLang="en-US" sz="2400" b="1" dirty="0">
                <a:solidFill>
                  <a:srgbClr val="0000FF"/>
                </a:solidFill>
                <a:latin typeface="宋体" panose="02010600030101010101" pitchFamily="2" charset="-122"/>
              </a:rPr>
              <a:t>操作码　操作数</a:t>
            </a:r>
            <a:r>
              <a:rPr lang="zh-CN" altLang="en-US" sz="2400" b="1" dirty="0">
                <a:latin typeface="宋体" panose="02010600030101010101" pitchFamily="2" charset="-122"/>
              </a:rPr>
              <a:t>　</a:t>
            </a:r>
            <a:r>
              <a:rPr lang="en-US" altLang="zh-CN" sz="2400" b="1" dirty="0"/>
              <a:t>[;</a:t>
            </a:r>
            <a:r>
              <a:rPr lang="zh-CN" altLang="en-US" sz="2400" b="1" dirty="0"/>
              <a:t>注释</a:t>
            </a:r>
            <a:r>
              <a:rPr lang="en-US" altLang="zh-CN" sz="2400" b="1" dirty="0"/>
              <a:t>]</a:t>
            </a:r>
          </a:p>
          <a:p>
            <a:pPr lvl="0">
              <a:buClr>
                <a:srgbClr val="0000FF"/>
              </a:buClr>
              <a:buNone/>
            </a:pPr>
            <a:r>
              <a:rPr lang="zh-CN" altLang="en-US" sz="2400" b="1" dirty="0">
                <a:solidFill>
                  <a:srgbClr val="FF00FF"/>
                </a:solidFill>
              </a:rPr>
              <a:t>标号</a:t>
            </a:r>
            <a:r>
              <a:rPr lang="zh-CN" altLang="en-US" sz="2400" b="1" dirty="0"/>
              <a:t>：表示随后紧跟指令在代码段中的</a:t>
            </a:r>
            <a:r>
              <a:rPr lang="zh-CN" altLang="en-US" sz="2400" b="1" dirty="0">
                <a:solidFill>
                  <a:srgbClr val="0000FF"/>
                </a:solidFill>
              </a:rPr>
              <a:t>偏移地址</a:t>
            </a:r>
            <a:r>
              <a:rPr lang="zh-CN" altLang="en-US" sz="2400" b="1" dirty="0"/>
              <a:t>，标号名的命名规则符合标识符的命名。</a:t>
            </a:r>
          </a:p>
          <a:p>
            <a:pPr lvl="0">
              <a:buClr>
                <a:srgbClr val="0000FF"/>
              </a:buClr>
              <a:buNone/>
            </a:pPr>
            <a:r>
              <a:rPr lang="zh-CN" altLang="en-US" sz="2400" b="1" dirty="0">
                <a:solidFill>
                  <a:srgbClr val="FF00FF"/>
                </a:solidFill>
              </a:rPr>
              <a:t>操作码</a:t>
            </a:r>
            <a:r>
              <a:rPr lang="zh-CN" altLang="en-US" sz="2400" b="1" dirty="0"/>
              <a:t>：表明该条指令将进行什么样的操作，它对应一条机器指令</a:t>
            </a:r>
            <a:r>
              <a:rPr lang="en-US" altLang="zh-CN" sz="2400" b="1" dirty="0"/>
              <a:t>,</a:t>
            </a:r>
            <a:r>
              <a:rPr lang="zh-CN" altLang="en-US" sz="2400" b="1" dirty="0"/>
              <a:t>必须有。</a:t>
            </a:r>
          </a:p>
          <a:p>
            <a:pPr lvl="0">
              <a:buClr>
                <a:srgbClr val="0000FF"/>
              </a:buClr>
              <a:buNone/>
            </a:pPr>
            <a:r>
              <a:rPr lang="zh-CN" altLang="en-US" sz="2400" b="1" dirty="0">
                <a:solidFill>
                  <a:srgbClr val="FF00FF"/>
                </a:solidFill>
              </a:rPr>
              <a:t>操作数</a:t>
            </a:r>
            <a:r>
              <a:rPr lang="zh-CN" altLang="en-US" sz="2400" b="1" dirty="0"/>
              <a:t>：指令执行的操作对象。绝大多数指令的操作数明确，部分指令的操作数是隐含。</a:t>
            </a:r>
          </a:p>
          <a:p>
            <a:pPr lvl="0">
              <a:buNone/>
            </a:pPr>
            <a:r>
              <a:rPr lang="zh-CN" altLang="en-US" sz="2400" b="1" dirty="0"/>
              <a:t>    指令助忆符和操作数之间要有分隔符；如果指令中含有多个操作数，操作数之间要用逗号“，”分开。</a:t>
            </a:r>
            <a:endParaRPr lang="en-US" altLang="zh-CN" sz="2400" b="1" dirty="0"/>
          </a:p>
          <a:p>
            <a:pPr lvl="0">
              <a:buNone/>
            </a:pPr>
            <a:endParaRPr lang="zh-CN" altLang="en-US" sz="2400" b="1" dirty="0"/>
          </a:p>
          <a:p>
            <a:pPr lvl="0">
              <a:buClrTx/>
              <a:buFont typeface="Wingdings" panose="05000000000000000000" pitchFamily="2" charset="2"/>
              <a:buNone/>
            </a:pPr>
            <a:r>
              <a:rPr lang="zh-CN" altLang="en-US" sz="2400" b="1" dirty="0"/>
              <a:t>    注释前面需有分号“；”</a:t>
            </a:r>
          </a:p>
        </p:txBody>
      </p:sp>
      <p:sp>
        <p:nvSpPr>
          <p:cNvPr id="5" name="矩形 4"/>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4610" name="矩形 324609"/>
          <p:cNvSpPr/>
          <p:nvPr/>
        </p:nvSpPr>
        <p:spPr>
          <a:xfrm>
            <a:off x="381000" y="1750120"/>
            <a:ext cx="8424863" cy="2759000"/>
          </a:xfrm>
          <a:prstGeom prst="rect">
            <a:avLst/>
          </a:prstGeom>
          <a:solidFill>
            <a:srgbClr val="FFFFFF"/>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buFont typeface="Wingdings" panose="05000000000000000000" pitchFamily="2" charset="2"/>
              <a:buChar char="ü"/>
            </a:pPr>
            <a:r>
              <a:rPr lang="zh-CN" altLang="en-US" sz="2400" b="1" dirty="0">
                <a:solidFill>
                  <a:srgbClr val="0000FF"/>
                </a:solidFill>
              </a:rPr>
              <a:t>指令的</a:t>
            </a:r>
            <a:r>
              <a:rPr lang="zh-CN" altLang="en-US" sz="2400" b="1" dirty="0">
                <a:solidFill>
                  <a:srgbClr val="FF0000"/>
                </a:solidFill>
              </a:rPr>
              <a:t>功能</a:t>
            </a:r>
            <a:r>
              <a:rPr lang="zh-CN" altLang="en-US" sz="2400" b="1" dirty="0">
                <a:solidFill>
                  <a:srgbClr val="0000FF"/>
                </a:solidFill>
              </a:rPr>
              <a:t>是学习和掌握的重点，但要准确、有效地运用这些指令，需要熟悉系统对每条指令的一些</a:t>
            </a:r>
            <a:r>
              <a:rPr lang="zh-CN" altLang="en-US" sz="2400" b="1" dirty="0">
                <a:solidFill>
                  <a:srgbClr val="FF0000"/>
                </a:solidFill>
              </a:rPr>
              <a:t>规定</a:t>
            </a:r>
            <a:r>
              <a:rPr lang="zh-CN" altLang="en-US" sz="2400" b="1" dirty="0">
                <a:solidFill>
                  <a:srgbClr val="0000FF"/>
                </a:solidFill>
              </a:rPr>
              <a:t>或</a:t>
            </a:r>
            <a:r>
              <a:rPr lang="zh-CN" altLang="en-US" sz="2400" b="1" dirty="0">
                <a:solidFill>
                  <a:srgbClr val="FF0000"/>
                </a:solidFill>
              </a:rPr>
              <a:t>约束</a:t>
            </a:r>
            <a:r>
              <a:rPr lang="zh-CN" altLang="en-US" sz="2400" b="1" dirty="0">
                <a:solidFill>
                  <a:srgbClr val="0000FF"/>
                </a:solidFill>
              </a:rPr>
              <a:t>。</a:t>
            </a:r>
          </a:p>
          <a:p>
            <a:pPr lvl="0">
              <a:buNone/>
            </a:pPr>
            <a:r>
              <a:rPr lang="zh-CN" altLang="en-US" sz="2400" b="1" dirty="0">
                <a:solidFill>
                  <a:srgbClr val="0000FF"/>
                </a:solidFill>
              </a:rPr>
              <a:t>另外，还需：</a:t>
            </a:r>
          </a:p>
          <a:p>
            <a:pPr lvl="0">
              <a:buClr>
                <a:schemeClr val="accent1"/>
              </a:buClr>
              <a:buFont typeface="Wingdings" panose="05000000000000000000" pitchFamily="2" charset="2"/>
              <a:buChar char="ü"/>
            </a:pPr>
            <a:r>
              <a:rPr lang="zh-CN" altLang="en-US" sz="2400" b="1" dirty="0">
                <a:solidFill>
                  <a:srgbClr val="0000FF"/>
                </a:solidFill>
              </a:rPr>
              <a:t>熟记每条指令的</a:t>
            </a:r>
            <a:r>
              <a:rPr lang="zh-CN" altLang="en-US" sz="2400" b="1" dirty="0">
                <a:solidFill>
                  <a:srgbClr val="FF0000"/>
                </a:solidFill>
              </a:rPr>
              <a:t>名称</a:t>
            </a:r>
            <a:r>
              <a:rPr lang="zh-CN" altLang="en-US" sz="2400" b="1" dirty="0">
                <a:solidFill>
                  <a:srgbClr val="0000FF"/>
                </a:solidFill>
              </a:rPr>
              <a:t>、</a:t>
            </a:r>
            <a:r>
              <a:rPr lang="zh-CN" altLang="en-US" sz="2400" b="1" dirty="0">
                <a:solidFill>
                  <a:srgbClr val="FF0000"/>
                </a:solidFill>
              </a:rPr>
              <a:t>功能</a:t>
            </a:r>
            <a:r>
              <a:rPr lang="zh-CN" altLang="en-US" sz="2400" b="1" dirty="0">
                <a:solidFill>
                  <a:srgbClr val="0000FF"/>
                </a:solidFill>
              </a:rPr>
              <a:t>、</a:t>
            </a:r>
            <a:r>
              <a:rPr lang="zh-CN" altLang="en-US" sz="2400" b="1" dirty="0">
                <a:solidFill>
                  <a:srgbClr val="FF0000"/>
                </a:solidFill>
              </a:rPr>
              <a:t>书写格式；</a:t>
            </a:r>
            <a:endParaRPr lang="zh-CN" altLang="en-US" sz="2400" b="1" dirty="0">
              <a:solidFill>
                <a:srgbClr val="0000FF"/>
              </a:solidFill>
            </a:endParaRPr>
          </a:p>
          <a:p>
            <a:pPr lvl="0">
              <a:buClrTx/>
              <a:buFont typeface="Wingdings" panose="05000000000000000000" pitchFamily="2" charset="2"/>
              <a:buChar char="ü"/>
            </a:pPr>
            <a:r>
              <a:rPr lang="zh-CN" altLang="en-US" sz="2400" b="1" dirty="0">
                <a:solidFill>
                  <a:schemeClr val="hlink"/>
                </a:solidFill>
              </a:rPr>
              <a:t>指令对标志位</a:t>
            </a:r>
            <a:r>
              <a:rPr lang="zh-CN" altLang="en-US" sz="2400" b="1" dirty="0">
                <a:solidFill>
                  <a:srgbClr val="0000FF"/>
                </a:solidFill>
              </a:rPr>
              <a:t>的影响、</a:t>
            </a:r>
            <a:r>
              <a:rPr lang="zh-CN" altLang="en-US" sz="2400" b="1" dirty="0">
                <a:solidFill>
                  <a:schemeClr val="hlink"/>
                </a:solidFill>
              </a:rPr>
              <a:t>标志位对指令</a:t>
            </a:r>
            <a:r>
              <a:rPr lang="zh-CN" altLang="en-US" sz="2400" b="1" dirty="0">
                <a:solidFill>
                  <a:srgbClr val="0000FF"/>
                </a:solidFill>
              </a:rPr>
              <a:t>的影响以及</a:t>
            </a:r>
            <a:r>
              <a:rPr lang="zh-CN" altLang="en-US" sz="2400" b="1" dirty="0">
                <a:solidFill>
                  <a:srgbClr val="FF0000"/>
                </a:solidFill>
              </a:rPr>
              <a:t>指令隐含使用</a:t>
            </a:r>
            <a:r>
              <a:rPr lang="zh-CN" altLang="en-US" sz="2400" b="1" dirty="0">
                <a:solidFill>
                  <a:srgbClr val="0000FF"/>
                </a:solidFill>
              </a:rPr>
              <a:t>，或</a:t>
            </a:r>
            <a:r>
              <a:rPr lang="zh-CN" altLang="en-US" sz="2400" b="1" dirty="0">
                <a:solidFill>
                  <a:srgbClr val="FF0000"/>
                </a:solidFill>
              </a:rPr>
              <a:t>限制使用</a:t>
            </a:r>
            <a:r>
              <a:rPr lang="zh-CN" altLang="en-US" sz="2400" b="1" dirty="0">
                <a:solidFill>
                  <a:srgbClr val="0000FF"/>
                </a:solidFill>
              </a:rPr>
              <a:t>的寄存器以及需要</a:t>
            </a:r>
            <a:r>
              <a:rPr lang="zh-CN" altLang="en-US" sz="2400" b="1" dirty="0">
                <a:solidFill>
                  <a:srgbClr val="FF0000"/>
                </a:solidFill>
              </a:rPr>
              <a:t>事先设置的参数；</a:t>
            </a:r>
            <a:endParaRPr lang="zh-CN" altLang="en-US" sz="2400" dirty="0">
              <a:solidFill>
                <a:srgbClr val="666699"/>
              </a:solidFill>
            </a:endParaRPr>
          </a:p>
        </p:txBody>
      </p:sp>
      <p:sp>
        <p:nvSpPr>
          <p:cNvPr id="324611" name="矩形 324610"/>
          <p:cNvSpPr/>
          <p:nvPr/>
        </p:nvSpPr>
        <p:spPr>
          <a:xfrm>
            <a:off x="468313" y="836613"/>
            <a:ext cx="3240087" cy="360362"/>
          </a:xfrm>
          <a:prstGeom prst="rect">
            <a:avLst/>
          </a:prstGeom>
          <a:noFill/>
          <a:ln w="9525">
            <a:noFill/>
          </a:ln>
        </p:spPr>
        <p:txBody>
          <a:bodyPr lIns="0" tIns="0" rIns="0" bIns="0"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lgn="l"/>
            <a:r>
              <a:rPr lang="en-US" altLang="zh-CN" sz="2400" b="1" dirty="0">
                <a:solidFill>
                  <a:schemeClr val="tx1"/>
                </a:solidFill>
              </a:rPr>
              <a:t>3</a:t>
            </a:r>
            <a:r>
              <a:rPr lang="zh-CN" altLang="en-US" sz="2400" b="1" dirty="0">
                <a:solidFill>
                  <a:schemeClr val="tx1"/>
                </a:solidFill>
              </a:rPr>
              <a:t>、学习指令前需了解的</a:t>
            </a:r>
          </a:p>
        </p:txBody>
      </p:sp>
      <p:sp>
        <p:nvSpPr>
          <p:cNvPr id="5" name="矩形 4"/>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矩形 326657"/>
          <p:cNvSpPr/>
          <p:nvPr/>
        </p:nvSpPr>
        <p:spPr>
          <a:xfrm>
            <a:off x="323850" y="1341438"/>
            <a:ext cx="8640763" cy="1020762"/>
          </a:xfrm>
          <a:prstGeom prst="rect">
            <a:avLst/>
          </a:prstGeom>
          <a:noFill/>
          <a:ln w="9525">
            <a:noFill/>
          </a:ln>
        </p:spPr>
        <p:txBody>
          <a:bodyPr lIns="0" tIns="0" rIns="0" bIns="0"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lgn="l"/>
            <a:r>
              <a:rPr lang="zh-CN" altLang="en-US" sz="2400" b="1" dirty="0">
                <a:solidFill>
                  <a:srgbClr val="333300"/>
                </a:solidFill>
              </a:rPr>
              <a:t>指令系统是</a:t>
            </a:r>
            <a:r>
              <a:rPr lang="en-US" altLang="zh-CN" sz="2400" b="1">
                <a:solidFill>
                  <a:srgbClr val="333300"/>
                </a:solidFill>
              </a:rPr>
              <a:t>CPU</a:t>
            </a:r>
            <a:r>
              <a:rPr lang="zh-CN" altLang="en-US" sz="2400" b="1" dirty="0">
                <a:solidFill>
                  <a:srgbClr val="333300"/>
                </a:solidFill>
              </a:rPr>
              <a:t>指令的集合，</a:t>
            </a:r>
            <a:r>
              <a:rPr lang="en-US" altLang="zh-CN" sz="2400" b="1">
                <a:solidFill>
                  <a:srgbClr val="333300"/>
                </a:solidFill>
              </a:rPr>
              <a:t>Intel 8086</a:t>
            </a:r>
            <a:r>
              <a:rPr lang="zh-CN" altLang="en-US" sz="2400" b="1" dirty="0">
                <a:solidFill>
                  <a:srgbClr val="333300"/>
                </a:solidFill>
              </a:rPr>
              <a:t>指令系统共有</a:t>
            </a:r>
            <a:r>
              <a:rPr lang="en-US" altLang="zh-CN" sz="2400" b="1">
                <a:solidFill>
                  <a:srgbClr val="0000FF"/>
                </a:solidFill>
              </a:rPr>
              <a:t>117</a:t>
            </a:r>
            <a:r>
              <a:rPr lang="zh-CN" altLang="en-US" sz="2400" b="1" dirty="0">
                <a:solidFill>
                  <a:srgbClr val="333300"/>
                </a:solidFill>
              </a:rPr>
              <a:t>条基本指令，</a:t>
            </a:r>
            <a:r>
              <a:rPr lang="en-US" altLang="en-US" sz="2400" b="1" err="1">
                <a:solidFill>
                  <a:srgbClr val="333300"/>
                </a:solidFill>
              </a:rPr>
              <a:t>按功能分为</a:t>
            </a:r>
            <a:r>
              <a:rPr lang="en-US" altLang="en-US" sz="2400" b="1" err="1">
                <a:solidFill>
                  <a:srgbClr val="0000FF"/>
                </a:solidFill>
              </a:rPr>
              <a:t>六</a:t>
            </a:r>
            <a:r>
              <a:rPr lang="en-US" altLang="en-US" sz="2400" b="1" err="1">
                <a:solidFill>
                  <a:srgbClr val="333300"/>
                </a:solidFill>
              </a:rPr>
              <a:t>大类</a:t>
            </a:r>
            <a:r>
              <a:rPr lang="zh-CN" altLang="en-US" sz="2400" b="1">
                <a:solidFill>
                  <a:srgbClr val="333300"/>
                </a:solidFill>
              </a:rPr>
              <a:t>：</a:t>
            </a:r>
          </a:p>
        </p:txBody>
      </p:sp>
      <p:sp>
        <p:nvSpPr>
          <p:cNvPr id="326659" name="矩形 326658"/>
          <p:cNvSpPr/>
          <p:nvPr/>
        </p:nvSpPr>
        <p:spPr>
          <a:xfrm>
            <a:off x="685800" y="2819400"/>
            <a:ext cx="7777163" cy="3240088"/>
          </a:xfrm>
          <a:prstGeom prst="rect">
            <a:avLst/>
          </a:prstGeom>
          <a:solidFill>
            <a:srgbClr val="FFFFFF"/>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lgn="just">
              <a:lnSpc>
                <a:spcPct val="120000"/>
              </a:lnSpc>
              <a:spcBef>
                <a:spcPct val="0"/>
              </a:spcBef>
              <a:buClrTx/>
              <a:buNone/>
            </a:pPr>
            <a:r>
              <a:rPr lang="en-US" altLang="en-US" sz="2800" b="1" dirty="0"/>
              <a:t>（1）数据传送类；</a:t>
            </a:r>
          </a:p>
          <a:p>
            <a:pPr lvl="0" algn="just">
              <a:lnSpc>
                <a:spcPct val="120000"/>
              </a:lnSpc>
              <a:spcBef>
                <a:spcPct val="0"/>
              </a:spcBef>
              <a:buClrTx/>
              <a:buNone/>
            </a:pPr>
            <a:r>
              <a:rPr lang="en-US" altLang="en-US" sz="2800" b="1" dirty="0"/>
              <a:t>（2）算术运算类；</a:t>
            </a:r>
          </a:p>
          <a:p>
            <a:pPr lvl="0" algn="just">
              <a:lnSpc>
                <a:spcPct val="120000"/>
              </a:lnSpc>
              <a:spcBef>
                <a:spcPct val="0"/>
              </a:spcBef>
              <a:buClrTx/>
              <a:buNone/>
            </a:pPr>
            <a:r>
              <a:rPr lang="en-US" altLang="en-US" sz="2800" b="1" dirty="0"/>
              <a:t>（3）逻辑运算和移位</a:t>
            </a:r>
            <a:r>
              <a:rPr lang="zh-CN" altLang="en-US" sz="2800" b="1" dirty="0"/>
              <a:t>（位操作类）；</a:t>
            </a:r>
          </a:p>
          <a:p>
            <a:pPr algn="just">
              <a:lnSpc>
                <a:spcPct val="120000"/>
              </a:lnSpc>
              <a:spcBef>
                <a:spcPct val="0"/>
              </a:spcBef>
              <a:buNone/>
            </a:pPr>
            <a:r>
              <a:rPr lang="en-US" altLang="en-US" sz="2800" b="1" dirty="0"/>
              <a:t>（4）控制转移类；</a:t>
            </a:r>
          </a:p>
          <a:p>
            <a:pPr algn="just">
              <a:lnSpc>
                <a:spcPct val="120000"/>
              </a:lnSpc>
              <a:spcBef>
                <a:spcPct val="0"/>
              </a:spcBef>
              <a:buNone/>
            </a:pPr>
            <a:r>
              <a:rPr lang="en-US" altLang="en-US" sz="2800" b="1" dirty="0"/>
              <a:t>（5）串操作；</a:t>
            </a:r>
          </a:p>
          <a:p>
            <a:pPr lvl="0" algn="just">
              <a:lnSpc>
                <a:spcPct val="120000"/>
              </a:lnSpc>
              <a:spcBef>
                <a:spcPct val="0"/>
              </a:spcBef>
              <a:buClrTx/>
              <a:buNone/>
            </a:pPr>
            <a:r>
              <a:rPr lang="en-GB" altLang="en-US" sz="2800" b="1" dirty="0"/>
              <a:t>（6）处理器控制</a:t>
            </a:r>
            <a:endParaRPr lang="zh-CN" altLang="en-US" sz="2800" dirty="0"/>
          </a:p>
        </p:txBody>
      </p:sp>
      <p:sp>
        <p:nvSpPr>
          <p:cNvPr id="326660" name="矩形 326659"/>
          <p:cNvSpPr/>
          <p:nvPr/>
        </p:nvSpPr>
        <p:spPr>
          <a:xfrm>
            <a:off x="323850" y="777875"/>
            <a:ext cx="2498725" cy="457200"/>
          </a:xfrm>
          <a:prstGeom prst="rect">
            <a:avLst/>
          </a:prstGeom>
          <a:noFill/>
          <a:ln w="9525">
            <a:noFill/>
          </a:ln>
        </p:spPr>
        <p:txBody>
          <a:bodyPr wrap="none" anchor="t">
            <a:spAutoFit/>
          </a:bodyPr>
          <a:lstStyle/>
          <a:p>
            <a:pPr lvl="0">
              <a:buClrTx/>
            </a:pPr>
            <a:r>
              <a:rPr lang="en-US" altLang="zh-CN" sz="2400" b="1">
                <a:solidFill>
                  <a:srgbClr val="333300"/>
                </a:solidFill>
                <a:latin typeface="Arial" panose="020B0604020202020204" pitchFamily="34" charset="0"/>
                <a:ea typeface="宋体" panose="02010600030101010101" pitchFamily="2" charset="-122"/>
              </a:rPr>
              <a:t>4</a:t>
            </a:r>
            <a:r>
              <a:rPr lang="zh-CN" altLang="en-US" sz="2400" b="1" dirty="0">
                <a:solidFill>
                  <a:srgbClr val="333300"/>
                </a:solidFill>
                <a:latin typeface="Arial" panose="020B0604020202020204" pitchFamily="34" charset="0"/>
                <a:ea typeface="宋体" panose="02010600030101010101" pitchFamily="2" charset="-122"/>
              </a:rPr>
              <a:t>、指令系统分类</a:t>
            </a: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文本占位符 328705"/>
          <p:cNvSpPr>
            <a:spLocks noGrp="1"/>
          </p:cNvSpPr>
          <p:nvPr>
            <p:ph type="body" idx="1"/>
          </p:nvPr>
        </p:nvSpPr>
        <p:spPr>
          <a:xfrm>
            <a:off x="485886" y="1268760"/>
            <a:ext cx="7848600" cy="2303463"/>
          </a:xfrm>
        </p:spPr>
        <p:txBody>
          <a:bodyPr/>
          <a:lstStyle/>
          <a:p>
            <a:pPr algn="just">
              <a:lnSpc>
                <a:spcPct val="80000"/>
              </a:lnSpc>
              <a:buClrTx/>
              <a:buNone/>
            </a:pPr>
            <a:r>
              <a:rPr lang="zh-CN" altLang="en-US" sz="2400" b="1" dirty="0">
                <a:solidFill>
                  <a:srgbClr val="0000FF"/>
                </a:solidFill>
              </a:rPr>
              <a:t>（</a:t>
            </a:r>
            <a:r>
              <a:rPr lang="en-US" altLang="zh-CN" sz="2400" b="1" dirty="0">
                <a:solidFill>
                  <a:srgbClr val="0000FF"/>
                </a:solidFill>
              </a:rPr>
              <a:t>1</a:t>
            </a:r>
            <a:r>
              <a:rPr lang="zh-CN" altLang="en-US" sz="2400" b="1" dirty="0">
                <a:solidFill>
                  <a:srgbClr val="0000FF"/>
                </a:solidFill>
              </a:rPr>
              <a:t>）通用数据传送指令</a:t>
            </a:r>
            <a:r>
              <a:rPr lang="en-US" altLang="zh-CN" sz="2400" b="1" dirty="0">
                <a:solidFill>
                  <a:srgbClr val="0000FF"/>
                </a:solidFill>
              </a:rPr>
              <a:t>MOV</a:t>
            </a:r>
          </a:p>
          <a:p>
            <a:pPr algn="just">
              <a:lnSpc>
                <a:spcPct val="80000"/>
              </a:lnSpc>
              <a:buClrTx/>
              <a:buNone/>
            </a:pPr>
            <a:r>
              <a:rPr lang="zh-CN" altLang="en-US" sz="2400" b="1" dirty="0">
                <a:solidFill>
                  <a:srgbClr val="0000FF"/>
                </a:solidFill>
              </a:rPr>
              <a:t>（</a:t>
            </a:r>
            <a:r>
              <a:rPr lang="en-US" altLang="zh-CN" sz="2400" b="1" dirty="0">
                <a:solidFill>
                  <a:srgbClr val="0000FF"/>
                </a:solidFill>
              </a:rPr>
              <a:t>2</a:t>
            </a:r>
            <a:r>
              <a:rPr lang="zh-CN" altLang="en-US" sz="2400" b="1" dirty="0">
                <a:solidFill>
                  <a:srgbClr val="0000FF"/>
                </a:solidFill>
              </a:rPr>
              <a:t>）数据交换指令</a:t>
            </a:r>
            <a:r>
              <a:rPr lang="en-US" altLang="zh-CN" sz="2400" b="1" dirty="0">
                <a:solidFill>
                  <a:srgbClr val="0000FF"/>
                </a:solidFill>
              </a:rPr>
              <a:t>XCHG</a:t>
            </a:r>
          </a:p>
          <a:p>
            <a:pPr algn="just">
              <a:lnSpc>
                <a:spcPct val="80000"/>
              </a:lnSpc>
              <a:buClrTx/>
              <a:buNone/>
            </a:pPr>
            <a:r>
              <a:rPr lang="zh-CN" altLang="en-US" sz="2400" b="1" dirty="0">
                <a:solidFill>
                  <a:srgbClr val="0000FF"/>
                </a:solidFill>
              </a:rPr>
              <a:t>（</a:t>
            </a:r>
            <a:r>
              <a:rPr lang="en-US" altLang="zh-CN" sz="2400" b="1" dirty="0">
                <a:solidFill>
                  <a:srgbClr val="0000FF"/>
                </a:solidFill>
              </a:rPr>
              <a:t>3</a:t>
            </a:r>
            <a:r>
              <a:rPr lang="zh-CN" altLang="en-US" sz="2400" b="1" dirty="0">
                <a:solidFill>
                  <a:srgbClr val="0000FF"/>
                </a:solidFill>
              </a:rPr>
              <a:t>）地址传送指令</a:t>
            </a:r>
            <a:r>
              <a:rPr lang="en-US" altLang="zh-CN" sz="2400" b="1" dirty="0">
                <a:solidFill>
                  <a:srgbClr val="0000FF"/>
                </a:solidFill>
              </a:rPr>
              <a:t>LEA/LDS/LES</a:t>
            </a:r>
          </a:p>
          <a:p>
            <a:pPr algn="just">
              <a:lnSpc>
                <a:spcPct val="80000"/>
              </a:lnSpc>
              <a:buClrTx/>
              <a:buNone/>
            </a:pPr>
            <a:r>
              <a:rPr lang="zh-CN" altLang="en-US" sz="2400" b="1" dirty="0">
                <a:solidFill>
                  <a:srgbClr val="0000FF"/>
                </a:solidFill>
              </a:rPr>
              <a:t>（</a:t>
            </a:r>
            <a:r>
              <a:rPr lang="en-US" altLang="zh-CN" sz="2400" b="1" dirty="0">
                <a:solidFill>
                  <a:srgbClr val="0000FF"/>
                </a:solidFill>
              </a:rPr>
              <a:t>4</a:t>
            </a:r>
            <a:r>
              <a:rPr lang="zh-CN" altLang="en-US" sz="2400" b="1" dirty="0">
                <a:solidFill>
                  <a:srgbClr val="0000FF"/>
                </a:solidFill>
              </a:rPr>
              <a:t>）堆栈操作指令</a:t>
            </a:r>
            <a:r>
              <a:rPr lang="en-US" altLang="zh-CN" sz="2400" b="1" dirty="0">
                <a:solidFill>
                  <a:srgbClr val="0000FF"/>
                </a:solidFill>
              </a:rPr>
              <a:t>PUSH</a:t>
            </a:r>
            <a:r>
              <a:rPr lang="zh-CN" altLang="en-US" sz="2400" b="1" dirty="0">
                <a:solidFill>
                  <a:srgbClr val="0000FF"/>
                </a:solidFill>
              </a:rPr>
              <a:t>／</a:t>
            </a:r>
            <a:r>
              <a:rPr lang="en-US" altLang="zh-CN" sz="2400" b="1" dirty="0">
                <a:solidFill>
                  <a:srgbClr val="0000FF"/>
                </a:solidFill>
              </a:rPr>
              <a:t>POP</a:t>
            </a:r>
          </a:p>
          <a:p>
            <a:pPr algn="just">
              <a:lnSpc>
                <a:spcPct val="80000"/>
              </a:lnSpc>
              <a:buClrTx/>
              <a:buNone/>
            </a:pPr>
            <a:r>
              <a:rPr lang="zh-CN" altLang="en-US" sz="2400" b="1" dirty="0">
                <a:solidFill>
                  <a:srgbClr val="0000FF"/>
                </a:solidFill>
              </a:rPr>
              <a:t>（</a:t>
            </a:r>
            <a:r>
              <a:rPr lang="en-US" altLang="zh-CN" sz="2400" b="1" dirty="0">
                <a:solidFill>
                  <a:srgbClr val="0000FF"/>
                </a:solidFill>
              </a:rPr>
              <a:t>5</a:t>
            </a:r>
            <a:r>
              <a:rPr lang="zh-CN" altLang="en-US" sz="2400" b="1" dirty="0">
                <a:solidFill>
                  <a:srgbClr val="0000FF"/>
                </a:solidFill>
              </a:rPr>
              <a:t>）标志寄存器传送指令</a:t>
            </a:r>
            <a:r>
              <a:rPr lang="en-US" altLang="zh-CN" sz="2400" b="1" dirty="0">
                <a:solidFill>
                  <a:srgbClr val="0000FF"/>
                </a:solidFill>
              </a:rPr>
              <a:t>LAHF/SAHF</a:t>
            </a:r>
            <a:r>
              <a:rPr lang="zh-CN" altLang="en-US" sz="2400" b="1" dirty="0">
                <a:solidFill>
                  <a:srgbClr val="0000FF"/>
                </a:solidFill>
              </a:rPr>
              <a:t>、 </a:t>
            </a:r>
            <a:r>
              <a:rPr lang="en-US" altLang="zh-CN" sz="2400" b="1" dirty="0">
                <a:solidFill>
                  <a:srgbClr val="0000FF"/>
                </a:solidFill>
              </a:rPr>
              <a:t>PUSHF/POPF </a:t>
            </a:r>
          </a:p>
          <a:p>
            <a:pPr algn="just">
              <a:lnSpc>
                <a:spcPct val="80000"/>
              </a:lnSpc>
              <a:buClrTx/>
              <a:buNone/>
            </a:pPr>
            <a:r>
              <a:rPr lang="zh-CN" altLang="en-US" sz="2400" b="1" dirty="0">
                <a:solidFill>
                  <a:srgbClr val="0000FF"/>
                </a:solidFill>
              </a:rPr>
              <a:t>（</a:t>
            </a:r>
            <a:r>
              <a:rPr lang="en-US" altLang="zh-CN" sz="2400" b="1" dirty="0">
                <a:solidFill>
                  <a:srgbClr val="0000FF"/>
                </a:solidFill>
              </a:rPr>
              <a:t>6</a:t>
            </a:r>
            <a:r>
              <a:rPr lang="zh-CN" altLang="en-US" sz="2400" b="1" dirty="0">
                <a:solidFill>
                  <a:srgbClr val="0000FF"/>
                </a:solidFill>
              </a:rPr>
              <a:t>）换码指令</a:t>
            </a:r>
            <a:r>
              <a:rPr lang="en-US" altLang="zh-CN" sz="2400" b="1" dirty="0">
                <a:solidFill>
                  <a:srgbClr val="0000FF"/>
                </a:solidFill>
              </a:rPr>
              <a:t>XLAT</a:t>
            </a:r>
          </a:p>
        </p:txBody>
      </p:sp>
      <p:sp>
        <p:nvSpPr>
          <p:cNvPr id="328707" name="标题 328706"/>
          <p:cNvSpPr>
            <a:spLocks noGrp="1"/>
          </p:cNvSpPr>
          <p:nvPr>
            <p:ph type="title"/>
          </p:nvPr>
        </p:nvSpPr>
        <p:spPr>
          <a:xfrm>
            <a:off x="539750" y="836613"/>
            <a:ext cx="3240162" cy="431800"/>
          </a:xfrm>
        </p:spPr>
        <p:txBody>
          <a:bodyPr lIns="0" tIns="0" rIns="0" bIns="0" anchor="ctr"/>
          <a:lstStyle/>
          <a:p>
            <a:pPr algn="l"/>
            <a:r>
              <a:rPr lang="en-US" altLang="zh-CN" sz="2400" b="1" dirty="0">
                <a:solidFill>
                  <a:schemeClr val="tx1"/>
                </a:solidFill>
              </a:rPr>
              <a:t>3.3.1</a:t>
            </a:r>
            <a:r>
              <a:rPr lang="zh-CN" altLang="en-US" sz="2400" b="1" dirty="0">
                <a:solidFill>
                  <a:schemeClr val="tx1"/>
                </a:solidFill>
              </a:rPr>
              <a:t>、数据传送类指令</a:t>
            </a:r>
          </a:p>
        </p:txBody>
      </p:sp>
      <p:sp>
        <p:nvSpPr>
          <p:cNvPr id="328708" name="矩形 328707" descr="Rectangle: Click to edit Master text styles&#10;Second level&#10;Third level&#10;Fourth level&#10;Fifth level"/>
          <p:cNvSpPr/>
          <p:nvPr/>
        </p:nvSpPr>
        <p:spPr>
          <a:xfrm>
            <a:off x="539750" y="3645024"/>
            <a:ext cx="8353425" cy="2808287"/>
          </a:xfrm>
          <a:prstGeom prst="rect">
            <a:avLst/>
          </a:prstGeom>
          <a:solidFill>
            <a:srgbClr val="EAEAEA"/>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buClr>
                <a:srgbClr val="CC00FF"/>
              </a:buClr>
              <a:buFont typeface="Wingdings" panose="05000000000000000000" pitchFamily="2" charset="2"/>
              <a:buChar char="u"/>
            </a:pPr>
            <a:r>
              <a:rPr lang="zh-CN" altLang="en-US" sz="2400" b="1" dirty="0">
                <a:solidFill>
                  <a:srgbClr val="002060"/>
                </a:solidFill>
                <a:latin typeface="楷体_GB2312" pitchFamily="49" charset="-122"/>
              </a:rPr>
              <a:t>数据传送是计算机中最基本、最重要的一种操作</a:t>
            </a:r>
            <a:r>
              <a:rPr lang="en-US" altLang="zh-CN" sz="2400" b="1" dirty="0">
                <a:solidFill>
                  <a:srgbClr val="002060"/>
                </a:solidFill>
                <a:latin typeface="楷体_GB2312" pitchFamily="49" charset="-122"/>
              </a:rPr>
              <a:t>,</a:t>
            </a:r>
            <a:r>
              <a:rPr lang="zh-CN" altLang="en-US" sz="2400" b="1" dirty="0">
                <a:solidFill>
                  <a:srgbClr val="002060"/>
                </a:solidFill>
                <a:latin typeface="楷体_GB2312" pitchFamily="49" charset="-122"/>
              </a:rPr>
              <a:t>数据传送指令负责把数据、地址或立即数传送到寄存器或存储单元中。是最常用的一类指令。</a:t>
            </a:r>
          </a:p>
          <a:p>
            <a:pPr lvl="0">
              <a:buClr>
                <a:srgbClr val="CC00FF"/>
              </a:buClr>
              <a:buFont typeface="Wingdings" panose="05000000000000000000" pitchFamily="2" charset="2"/>
              <a:buChar char="u"/>
            </a:pPr>
            <a:r>
              <a:rPr lang="zh-CN" altLang="en-US" sz="2400" b="1" dirty="0">
                <a:solidFill>
                  <a:srgbClr val="002060"/>
                </a:solidFill>
                <a:latin typeface="楷体_GB2312" pitchFamily="49" charset="-122"/>
              </a:rPr>
              <a:t>除标志寄存器传送指令外，均</a:t>
            </a:r>
            <a:r>
              <a:rPr lang="zh-CN" altLang="en-US" sz="2400" b="1" dirty="0">
                <a:solidFill>
                  <a:srgbClr val="FF00FF"/>
                </a:solidFill>
                <a:latin typeface="楷体_GB2312" pitchFamily="49" charset="-122"/>
              </a:rPr>
              <a:t>不影响标志位</a:t>
            </a:r>
          </a:p>
          <a:p>
            <a:pPr lvl="0">
              <a:lnSpc>
                <a:spcPct val="130000"/>
              </a:lnSpc>
              <a:buClr>
                <a:srgbClr val="CC00FF"/>
              </a:buClr>
              <a:buFont typeface="Wingdings" panose="05000000000000000000" pitchFamily="2" charset="2"/>
              <a:buChar char="u"/>
            </a:pPr>
            <a:r>
              <a:rPr lang="zh-CN" altLang="en-US" sz="2400" b="1" dirty="0">
                <a:solidFill>
                  <a:srgbClr val="002060"/>
                </a:solidFill>
                <a:latin typeface="楷体_GB2312" pitchFamily="49" charset="-122"/>
              </a:rPr>
              <a:t>重点掌握</a:t>
            </a:r>
          </a:p>
          <a:p>
            <a:pPr lvl="1">
              <a:lnSpc>
                <a:spcPct val="130000"/>
              </a:lnSpc>
              <a:buNone/>
            </a:pPr>
            <a:r>
              <a:rPr lang="en-US" altLang="zh-CN" sz="2400" b="1" dirty="0">
                <a:solidFill>
                  <a:srgbClr val="002060"/>
                </a:solidFill>
              </a:rPr>
              <a:t>MOV  XCHG  XLAT  PUSH  POP  LEA</a:t>
            </a: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8708"/>
                                        </p:tgtEl>
                                        <p:attrNameLst>
                                          <p:attrName>style.visibility</p:attrName>
                                        </p:attrNameLst>
                                      </p:cBhvr>
                                      <p:to>
                                        <p:strVal val="visible"/>
                                      </p:to>
                                    </p:set>
                                    <p:anim calcmode="lin" valueType="num">
                                      <p:cBhvr additive="base">
                                        <p:cTn id="7" dur="5000" fill="hold"/>
                                        <p:tgtEl>
                                          <p:spTgt spid="328708"/>
                                        </p:tgtEl>
                                        <p:attrNameLst>
                                          <p:attrName>ppt_x</p:attrName>
                                        </p:attrNameLst>
                                      </p:cBhvr>
                                      <p:tavLst>
                                        <p:tav tm="0">
                                          <p:val>
                                            <p:strVal val="#ppt_x"/>
                                          </p:val>
                                        </p:tav>
                                        <p:tav tm="100000">
                                          <p:val>
                                            <p:strVal val="#ppt_x"/>
                                          </p:val>
                                        </p:tav>
                                      </p:tavLst>
                                    </p:anim>
                                    <p:anim calcmode="lin" valueType="num">
                                      <p:cBhvr additive="base">
                                        <p:cTn id="8" dur="5000" fill="hold"/>
                                        <p:tgtEl>
                                          <p:spTgt spid="3287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标题 330753"/>
          <p:cNvSpPr>
            <a:spLocks noGrp="1"/>
          </p:cNvSpPr>
          <p:nvPr>
            <p:ph type="title"/>
          </p:nvPr>
        </p:nvSpPr>
        <p:spPr>
          <a:xfrm>
            <a:off x="395288" y="836613"/>
            <a:ext cx="6121400" cy="431800"/>
          </a:xfrm>
        </p:spPr>
        <p:txBody>
          <a:bodyPr lIns="0" tIns="0" rIns="0" bIns="0" anchor="ctr"/>
          <a:lstStyle/>
          <a:p>
            <a:pPr algn="l"/>
            <a:r>
              <a:rPr lang="en-US" altLang="zh-CN" sz="2400" b="1" dirty="0"/>
              <a:t>1</a:t>
            </a:r>
            <a:r>
              <a:rPr lang="zh-CN" altLang="en-US" sz="2400" b="1" dirty="0"/>
              <a:t>、通用数据传送指令－</a:t>
            </a:r>
            <a:r>
              <a:rPr lang="en-US" altLang="zh-CN" sz="2400" b="1" dirty="0"/>
              <a:t>MOV</a:t>
            </a:r>
          </a:p>
        </p:txBody>
      </p:sp>
      <p:sp>
        <p:nvSpPr>
          <p:cNvPr id="330755" name="文本占位符 330754"/>
          <p:cNvSpPr>
            <a:spLocks noGrp="1"/>
          </p:cNvSpPr>
          <p:nvPr>
            <p:ph type="body" idx="1"/>
          </p:nvPr>
        </p:nvSpPr>
        <p:spPr>
          <a:xfrm>
            <a:off x="395288" y="1412429"/>
            <a:ext cx="8497887" cy="1656531"/>
          </a:xfrm>
        </p:spPr>
        <p:txBody>
          <a:bodyPr/>
          <a:lstStyle/>
          <a:p>
            <a:pPr>
              <a:buClrTx/>
              <a:buNone/>
            </a:pPr>
            <a:r>
              <a:rPr lang="zh-CN" altLang="en-US" sz="2400" b="1" dirty="0"/>
              <a:t>指令格式：</a:t>
            </a:r>
            <a:r>
              <a:rPr lang="en-US" altLang="zh-CN" sz="2400" b="1" dirty="0"/>
              <a:t>MOV</a:t>
            </a:r>
            <a:r>
              <a:rPr lang="en-US" altLang="zh-CN" dirty="0"/>
              <a:t> </a:t>
            </a:r>
            <a:r>
              <a:rPr lang="en-US" altLang="zh-CN" b="1" dirty="0" err="1"/>
              <a:t>dest,src</a:t>
            </a:r>
            <a:r>
              <a:rPr lang="en-US" altLang="zh-CN" dirty="0"/>
              <a:t> </a:t>
            </a:r>
            <a:endParaRPr lang="en-US" altLang="zh-CN" sz="2400" b="1" dirty="0"/>
          </a:p>
          <a:p>
            <a:pPr>
              <a:buClrTx/>
              <a:buNone/>
            </a:pPr>
            <a:r>
              <a:rPr lang="zh-CN" altLang="en-US" sz="2400" b="1" dirty="0"/>
              <a:t>功能：将源操作数</a:t>
            </a:r>
            <a:r>
              <a:rPr lang="en-US" altLang="zh-CN" sz="2400" b="1" dirty="0" err="1"/>
              <a:t>src</a:t>
            </a:r>
            <a:r>
              <a:rPr lang="zh-CN" altLang="en-US" sz="2400" b="1" dirty="0"/>
              <a:t>的内容传送给目的操作数</a:t>
            </a:r>
            <a:r>
              <a:rPr lang="en-US" altLang="zh-CN" sz="2400" b="1" dirty="0" err="1"/>
              <a:t>dest</a:t>
            </a:r>
            <a:r>
              <a:rPr lang="zh-CN" altLang="en-US" sz="2400" b="1" dirty="0"/>
              <a:t>，源操作数内容不变</a:t>
            </a:r>
            <a:r>
              <a:rPr lang="zh-CN" altLang="en-US" dirty="0"/>
              <a:t> </a:t>
            </a:r>
            <a:endParaRPr lang="zh-CN" altLang="en-US" sz="2400" b="1" dirty="0"/>
          </a:p>
        </p:txBody>
      </p:sp>
      <p:sp>
        <p:nvSpPr>
          <p:cNvPr id="330756" name="直接连接符 330755"/>
          <p:cNvSpPr/>
          <p:nvPr/>
        </p:nvSpPr>
        <p:spPr>
          <a:xfrm>
            <a:off x="2843213" y="3357563"/>
            <a:ext cx="144462" cy="0"/>
          </a:xfrm>
          <a:prstGeom prst="line">
            <a:avLst/>
          </a:prstGeom>
          <a:ln w="9525">
            <a:noFill/>
          </a:ln>
        </p:spPr>
      </p:sp>
      <p:pic>
        <p:nvPicPr>
          <p:cNvPr id="330758" name="图片 330757"/>
          <p:cNvPicPr>
            <a:picLocks noChangeAspect="1"/>
          </p:cNvPicPr>
          <p:nvPr/>
        </p:nvPicPr>
        <p:blipFill>
          <a:blip r:embed="rId3"/>
          <a:stretch>
            <a:fillRect/>
          </a:stretch>
        </p:blipFill>
        <p:spPr>
          <a:xfrm>
            <a:off x="2411413" y="3573463"/>
            <a:ext cx="4968875" cy="1943100"/>
          </a:xfrm>
          <a:prstGeom prst="rect">
            <a:avLst/>
          </a:prstGeom>
          <a:noFill/>
          <a:ln w="9525">
            <a:noFill/>
          </a:ln>
        </p:spPr>
      </p:pic>
      <p:sp>
        <p:nvSpPr>
          <p:cNvPr id="330760" name="矩形 330759"/>
          <p:cNvSpPr/>
          <p:nvPr/>
        </p:nvSpPr>
        <p:spPr>
          <a:xfrm>
            <a:off x="1692275" y="5689600"/>
            <a:ext cx="3413125" cy="457200"/>
          </a:xfrm>
          <a:prstGeom prst="rect">
            <a:avLst/>
          </a:prstGeom>
          <a:noFill/>
          <a:ln w="9525">
            <a:noFill/>
          </a:ln>
        </p:spPr>
        <p:txBody>
          <a:bodyPr wrap="none" anchor="ctr">
            <a:spAutoFit/>
          </a:bodyPr>
          <a:lstStyle/>
          <a:p>
            <a:pPr lvl="0"/>
            <a:r>
              <a:rPr lang="en-US" altLang="zh-CN" sz="2400" b="1">
                <a:solidFill>
                  <a:srgbClr val="0000FF"/>
                </a:solidFill>
                <a:latin typeface="Arial" panose="020B0604020202020204" pitchFamily="34" charset="0"/>
                <a:ea typeface="宋体" panose="02010600030101010101" pitchFamily="2" charset="-122"/>
              </a:rPr>
              <a:t>MOV</a:t>
            </a:r>
            <a:r>
              <a:rPr lang="zh-CN" altLang="en-US" sz="2400" b="1" dirty="0">
                <a:solidFill>
                  <a:srgbClr val="0000FF"/>
                </a:solidFill>
                <a:latin typeface="Arial" panose="020B0604020202020204" pitchFamily="34" charset="0"/>
                <a:ea typeface="宋体" panose="02010600030101010101" pitchFamily="2" charset="-122"/>
              </a:rPr>
              <a:t>指令不影响标志位 </a:t>
            </a:r>
          </a:p>
        </p:txBody>
      </p:sp>
      <p:sp>
        <p:nvSpPr>
          <p:cNvPr id="8" name="矩形 7"/>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4" name="直接连接符 332803"/>
          <p:cNvSpPr/>
          <p:nvPr/>
        </p:nvSpPr>
        <p:spPr>
          <a:xfrm>
            <a:off x="2843213" y="3357563"/>
            <a:ext cx="144462" cy="0"/>
          </a:xfrm>
          <a:prstGeom prst="line">
            <a:avLst/>
          </a:prstGeom>
          <a:ln w="9525">
            <a:noFill/>
          </a:ln>
        </p:spPr>
      </p:sp>
      <p:sp>
        <p:nvSpPr>
          <p:cNvPr id="332809" name="矩形 332808"/>
          <p:cNvSpPr/>
          <p:nvPr/>
        </p:nvSpPr>
        <p:spPr>
          <a:xfrm>
            <a:off x="395288" y="1097508"/>
            <a:ext cx="8497887" cy="4154984"/>
          </a:xfrm>
          <a:prstGeom prst="rect">
            <a:avLst/>
          </a:prstGeom>
          <a:noFill/>
          <a:ln w="9525">
            <a:noFill/>
          </a:ln>
        </p:spPr>
        <p:txBody>
          <a:bodyPr anchor="ctr">
            <a:spAutoFit/>
          </a:bodyPr>
          <a:lstStyle/>
          <a:p>
            <a:pPr lvl="0" indent="306705">
              <a:buClrTx/>
            </a:pPr>
            <a:r>
              <a:rPr lang="en-US" altLang="zh-CN" sz="2400" b="1" dirty="0"/>
              <a:t>MOV</a:t>
            </a:r>
            <a:r>
              <a:rPr lang="zh-CN" altLang="en-US" sz="2400" b="1" dirty="0"/>
              <a:t>指令的补充</a:t>
            </a:r>
            <a:r>
              <a:rPr lang="zh-CN" altLang="en-US" sz="2400" b="1" dirty="0">
                <a:latin typeface="Arial" panose="020B0604020202020204" pitchFamily="34" charset="0"/>
              </a:rPr>
              <a:t>说明：</a:t>
            </a:r>
            <a:endParaRPr lang="en-US" altLang="zh-CN" sz="2400" b="1" dirty="0">
              <a:latin typeface="Arial" panose="020B0604020202020204" pitchFamily="34" charset="0"/>
            </a:endParaRPr>
          </a:p>
          <a:p>
            <a:pPr lvl="0" indent="306705">
              <a:buClrTx/>
            </a:pPr>
            <a:r>
              <a:rPr lang="zh-CN" altLang="en-US" sz="2400" b="1" dirty="0">
                <a:latin typeface="Arial" panose="020B0604020202020204" pitchFamily="34" charset="0"/>
              </a:rPr>
              <a:t>图中描述的</a:t>
            </a:r>
            <a:r>
              <a:rPr lang="zh-CN" altLang="en-US" sz="2400" b="1" dirty="0">
                <a:latin typeface="Arial" panose="020B0604020202020204" pitchFamily="34" charset="0"/>
                <a:ea typeface="宋体" panose="02010600030101010101" pitchFamily="2" charset="-122"/>
              </a:rPr>
              <a:t>是</a:t>
            </a:r>
            <a:r>
              <a:rPr lang="en-US" altLang="zh-CN" sz="2400" b="1" dirty="0">
                <a:latin typeface="Arial" panose="020B0604020202020204" pitchFamily="34" charset="0"/>
                <a:ea typeface="宋体" panose="02010600030101010101" pitchFamily="2" charset="-122"/>
              </a:rPr>
              <a:t>MOV</a:t>
            </a:r>
            <a:r>
              <a:rPr lang="zh-CN" altLang="en-US" sz="2400" b="1" dirty="0">
                <a:latin typeface="Arial" panose="020B0604020202020204" pitchFamily="34" charset="0"/>
                <a:ea typeface="宋体" panose="02010600030101010101" pitchFamily="2" charset="-122"/>
              </a:rPr>
              <a:t>指令能实现的大多数的数据传送方式，但也存在一些特殊情况。</a:t>
            </a:r>
            <a:endParaRPr lang="en-US" altLang="zh-CN" sz="2400" b="1" dirty="0">
              <a:latin typeface="Arial" panose="020B0604020202020204" pitchFamily="34" charset="0"/>
              <a:ea typeface="宋体" panose="02010600030101010101" pitchFamily="2" charset="-122"/>
            </a:endParaRPr>
          </a:p>
          <a:p>
            <a:pPr lvl="0" indent="306705">
              <a:buClrTx/>
            </a:pPr>
            <a:endParaRPr lang="en-US" altLang="zh-CN" sz="2400" b="1" dirty="0">
              <a:latin typeface="Arial" panose="020B0604020202020204" pitchFamily="34" charset="0"/>
              <a:ea typeface="宋体" panose="02010600030101010101" pitchFamily="2" charset="-122"/>
            </a:endParaRPr>
          </a:p>
          <a:p>
            <a:pPr lvl="0" indent="306705">
              <a:buClrTx/>
            </a:pPr>
            <a:r>
              <a:rPr lang="zh-CN" altLang="en-US" sz="2400" b="1" dirty="0">
                <a:solidFill>
                  <a:srgbClr val="FF0000"/>
                </a:solidFill>
                <a:latin typeface="Arial" panose="020B0604020202020204" pitchFamily="34" charset="0"/>
              </a:rPr>
              <a:t>特殊</a:t>
            </a:r>
            <a:r>
              <a:rPr lang="zh-CN" altLang="en-US" sz="2400" b="1" dirty="0">
                <a:latin typeface="Arial" panose="020B0604020202020204" pitchFamily="34" charset="0"/>
                <a:ea typeface="宋体" panose="02010600030101010101" pitchFamily="2" charset="-122"/>
              </a:rPr>
              <a:t>规定：</a:t>
            </a:r>
          </a:p>
          <a:p>
            <a:pPr lvl="0" indent="306705">
              <a:buClr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）当是双操作数时，两个操作数的位数需一致；</a:t>
            </a:r>
            <a:endParaRPr lang="en-US" altLang="zh-CN" sz="2400" b="1" dirty="0">
              <a:latin typeface="Arial" panose="020B0604020202020204" pitchFamily="34" charset="0"/>
              <a:ea typeface="宋体" panose="02010600030101010101" pitchFamily="2" charset="-122"/>
            </a:endParaRPr>
          </a:p>
          <a:p>
            <a:pPr lvl="0" indent="306705">
              <a:buClrTx/>
            </a:pPr>
            <a:r>
              <a:rPr lang="zh-CN" altLang="en-US" sz="2400" b="1" dirty="0">
                <a:latin typeface="Arial" panose="020B0604020202020204" pitchFamily="34" charset="0"/>
              </a:rPr>
              <a:t>（</a:t>
            </a:r>
            <a:r>
              <a:rPr lang="en-US" altLang="zh-CN" sz="2400" b="1" dirty="0">
                <a:latin typeface="Arial" panose="020B0604020202020204" pitchFamily="34" charset="0"/>
              </a:rPr>
              <a:t>2</a:t>
            </a:r>
            <a:r>
              <a:rPr lang="zh-CN" altLang="en-US" sz="2400" b="1" dirty="0">
                <a:latin typeface="Arial" panose="020B0604020202020204" pitchFamily="34" charset="0"/>
              </a:rPr>
              <a:t>）两</a:t>
            </a:r>
            <a:r>
              <a:rPr lang="zh-CN" altLang="en-US" sz="2400" b="1" dirty="0">
                <a:latin typeface="Arial" panose="020B0604020202020204" pitchFamily="34" charset="0"/>
                <a:ea typeface="宋体" panose="02010600030101010101" pitchFamily="2" charset="-122"/>
              </a:rPr>
              <a:t>个操作数不能同时为</a:t>
            </a:r>
            <a:r>
              <a:rPr lang="zh-CN" altLang="en-US" sz="2400" b="1" dirty="0">
                <a:solidFill>
                  <a:srgbClr val="0000FF"/>
                </a:solidFill>
                <a:latin typeface="Arial" panose="020B0604020202020204" pitchFamily="34" charset="0"/>
                <a:ea typeface="宋体" panose="02010600030101010101" pitchFamily="2" charset="-122"/>
              </a:rPr>
              <a:t>段寄存器和存储器操作数</a:t>
            </a:r>
            <a:r>
              <a:rPr lang="zh-CN" altLang="en-US" sz="2400" b="1" dirty="0">
                <a:latin typeface="Arial" panose="020B0604020202020204" pitchFamily="34" charset="0"/>
                <a:ea typeface="宋体" panose="02010600030101010101" pitchFamily="2" charset="-122"/>
              </a:rPr>
              <a:t>。</a:t>
            </a:r>
          </a:p>
          <a:p>
            <a:pPr lvl="0" indent="306705">
              <a:buClrTx/>
            </a:pPr>
            <a:r>
              <a:rPr lang="zh-CN" altLang="en-US" sz="2400" b="1" dirty="0">
                <a:latin typeface="Arial" panose="020B0604020202020204" pitchFamily="34" charset="0"/>
              </a:rPr>
              <a:t>（</a:t>
            </a:r>
            <a:r>
              <a:rPr lang="en-US" altLang="zh-CN" sz="2400" b="1" dirty="0">
                <a:latin typeface="Arial" panose="020B0604020202020204" pitchFamily="34" charset="0"/>
              </a:rPr>
              <a:t>3</a:t>
            </a:r>
            <a:r>
              <a:rPr lang="zh-CN" altLang="en-US" sz="2400" b="1" dirty="0">
                <a:latin typeface="Arial" panose="020B0604020202020204" pitchFamily="34" charset="0"/>
              </a:rPr>
              <a:t>）</a:t>
            </a:r>
            <a:r>
              <a:rPr lang="en-US" altLang="zh-CN" sz="2400" b="1" dirty="0">
                <a:solidFill>
                  <a:srgbClr val="0000FF"/>
                </a:solidFill>
                <a:latin typeface="Arial" panose="020B0604020202020204" pitchFamily="34" charset="0"/>
                <a:ea typeface="宋体" panose="02010600030101010101" pitchFamily="2" charset="-122"/>
              </a:rPr>
              <a:t>CS</a:t>
            </a:r>
            <a:r>
              <a:rPr lang="zh-CN" altLang="en-US" sz="2400" b="1" dirty="0">
                <a:latin typeface="Arial" panose="020B0604020202020204" pitchFamily="34" charset="0"/>
                <a:ea typeface="宋体" panose="02010600030101010101" pitchFamily="2" charset="-122"/>
              </a:rPr>
              <a:t>不能作为目的操作数使用，但可作为源操作数。</a:t>
            </a:r>
          </a:p>
          <a:p>
            <a:pPr lvl="0" indent="306705">
              <a:buClrTx/>
            </a:pPr>
            <a:r>
              <a:rPr lang="zh-CN" altLang="en-US" sz="2400" b="1" dirty="0">
                <a:latin typeface="Arial" panose="020B0604020202020204" pitchFamily="34" charset="0"/>
              </a:rPr>
              <a:t>（</a:t>
            </a:r>
            <a:r>
              <a:rPr lang="en-US" altLang="zh-CN" sz="2400" b="1" dirty="0">
                <a:latin typeface="Arial" panose="020B0604020202020204" pitchFamily="34" charset="0"/>
              </a:rPr>
              <a:t>4</a:t>
            </a:r>
            <a:r>
              <a:rPr lang="zh-CN" altLang="en-US" sz="2400" b="1" dirty="0">
                <a:latin typeface="Arial" panose="020B0604020202020204" pitchFamily="34" charset="0"/>
              </a:rPr>
              <a:t>）</a:t>
            </a:r>
            <a:r>
              <a:rPr lang="zh-CN" altLang="en-US" sz="2400" b="1" dirty="0">
                <a:solidFill>
                  <a:srgbClr val="0000FF"/>
                </a:solidFill>
                <a:latin typeface="Arial" panose="020B0604020202020204" pitchFamily="34" charset="0"/>
                <a:ea typeface="宋体" panose="02010600030101010101" pitchFamily="2" charset="-122"/>
              </a:rPr>
              <a:t>立即数</a:t>
            </a:r>
            <a:r>
              <a:rPr lang="zh-CN" altLang="en-US" sz="2400" b="1" dirty="0">
                <a:latin typeface="Arial" panose="020B0604020202020204" pitchFamily="34" charset="0"/>
                <a:ea typeface="宋体" panose="02010600030101010101" pitchFamily="2" charset="-122"/>
              </a:rPr>
              <a:t>不能作为目的操作数，也不能直接传送给段寄存器。</a:t>
            </a:r>
          </a:p>
          <a:p>
            <a:pPr lvl="0" indent="306705">
              <a:buClr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5</a:t>
            </a:r>
            <a:r>
              <a:rPr lang="zh-CN" altLang="en-US" sz="2400" b="1" dirty="0">
                <a:latin typeface="Arial" panose="020B0604020202020204" pitchFamily="34" charset="0"/>
                <a:ea typeface="宋体" panose="02010600030101010101" pitchFamily="2" charset="-122"/>
              </a:rPr>
              <a:t>）指令指针寄存器</a:t>
            </a:r>
            <a:r>
              <a:rPr lang="en-US" altLang="zh-CN" sz="2400" b="1" dirty="0">
                <a:solidFill>
                  <a:srgbClr val="0000FF"/>
                </a:solidFill>
                <a:latin typeface="Arial" panose="020B0604020202020204" pitchFamily="34" charset="0"/>
                <a:ea typeface="宋体" panose="02010600030101010101" pitchFamily="2" charset="-122"/>
              </a:rPr>
              <a:t>IP</a:t>
            </a:r>
            <a:r>
              <a:rPr lang="zh-CN" altLang="en-US" sz="2400" b="1" dirty="0">
                <a:latin typeface="Arial" panose="020B0604020202020204" pitchFamily="34" charset="0"/>
                <a:ea typeface="宋体" panose="02010600030101010101" pitchFamily="2" charset="-122"/>
              </a:rPr>
              <a:t>不能作为操作数使用。 </a:t>
            </a:r>
          </a:p>
        </p:txBody>
      </p:sp>
      <p:sp>
        <p:nvSpPr>
          <p:cNvPr id="5" name="矩形 4"/>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4850" name="直接连接符 334849"/>
          <p:cNvSpPr/>
          <p:nvPr/>
        </p:nvSpPr>
        <p:spPr>
          <a:xfrm>
            <a:off x="2843213" y="3357563"/>
            <a:ext cx="144462" cy="0"/>
          </a:xfrm>
          <a:prstGeom prst="line">
            <a:avLst/>
          </a:prstGeom>
          <a:ln w="9525">
            <a:noFill/>
          </a:ln>
        </p:spPr>
      </p:sp>
      <p:pic>
        <p:nvPicPr>
          <p:cNvPr id="334918" name="图片 334917"/>
          <p:cNvPicPr>
            <a:picLocks noChangeAspect="1"/>
          </p:cNvPicPr>
          <p:nvPr/>
        </p:nvPicPr>
        <p:blipFill>
          <a:blip r:embed="rId3"/>
          <a:stretch>
            <a:fillRect/>
          </a:stretch>
        </p:blipFill>
        <p:spPr>
          <a:xfrm>
            <a:off x="683568" y="1628801"/>
            <a:ext cx="7488882" cy="2714600"/>
          </a:xfrm>
          <a:prstGeom prst="rect">
            <a:avLst/>
          </a:prstGeom>
          <a:noFill/>
          <a:ln w="9525">
            <a:noFill/>
          </a:ln>
        </p:spPr>
      </p:pic>
      <p:sp>
        <p:nvSpPr>
          <p:cNvPr id="334919" name="矩形 334918"/>
          <p:cNvSpPr/>
          <p:nvPr/>
        </p:nvSpPr>
        <p:spPr>
          <a:xfrm>
            <a:off x="395288" y="884238"/>
            <a:ext cx="3278462" cy="461665"/>
          </a:xfrm>
          <a:prstGeom prst="rect">
            <a:avLst/>
          </a:prstGeom>
          <a:noFill/>
          <a:ln w="9525">
            <a:noFill/>
          </a:ln>
        </p:spPr>
        <p:txBody>
          <a:bodyPr wrap="none" anchor="t">
            <a:spAutoFit/>
          </a:bodyPr>
          <a:lstStyle/>
          <a:p>
            <a:pPr lvl="0">
              <a:buClrTx/>
            </a:pPr>
            <a:r>
              <a:rPr lang="zh-CN" altLang="en-US" sz="2400" b="1" dirty="0">
                <a:latin typeface="Arial" panose="020B0604020202020204" pitchFamily="34" charset="0"/>
                <a:ea typeface="宋体" panose="02010600030101010101" pitchFamily="2" charset="-122"/>
              </a:rPr>
              <a:t>以下是正确的指令例子</a:t>
            </a: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22" name="直接连接符 337921"/>
          <p:cNvSpPr/>
          <p:nvPr/>
        </p:nvSpPr>
        <p:spPr>
          <a:xfrm>
            <a:off x="2843213" y="3357563"/>
            <a:ext cx="144462" cy="0"/>
          </a:xfrm>
          <a:prstGeom prst="line">
            <a:avLst/>
          </a:prstGeom>
          <a:ln w="9525">
            <a:noFill/>
          </a:ln>
        </p:spPr>
      </p:sp>
      <p:sp>
        <p:nvSpPr>
          <p:cNvPr id="337926" name="矩形 337925"/>
          <p:cNvSpPr/>
          <p:nvPr/>
        </p:nvSpPr>
        <p:spPr>
          <a:xfrm>
            <a:off x="395536" y="1390046"/>
            <a:ext cx="8497888" cy="3683060"/>
          </a:xfrm>
          <a:prstGeom prst="rect">
            <a:avLst/>
          </a:prstGeom>
          <a:noFill/>
          <a:ln w="9525">
            <a:noFill/>
          </a:ln>
        </p:spPr>
        <p:txBody>
          <a:bodyPr anchor="ctr">
            <a:spAutoFit/>
          </a:bodyPr>
          <a:lstStyle/>
          <a:p>
            <a:pPr lvl="0" defTabSz="0">
              <a:lnSpc>
                <a:spcPts val="3500"/>
              </a:lnSpc>
              <a:buClrTx/>
              <a:tabLst>
                <a:tab pos="333375" algn="l"/>
              </a:tabLst>
            </a:pPr>
            <a:r>
              <a:rPr lang="zh-CN" altLang="en-US" sz="2400" b="1" dirty="0">
                <a:latin typeface="Arial" panose="020B0604020202020204" pitchFamily="34" charset="0"/>
                <a:ea typeface="宋体" panose="02010600030101010101" pitchFamily="2" charset="-122"/>
              </a:rPr>
              <a:t>下面是一些</a:t>
            </a:r>
            <a:r>
              <a:rPr lang="zh-CN" altLang="en-US" sz="2400" b="1" dirty="0">
                <a:latin typeface="Arial" panose="020B0604020202020204" pitchFamily="34" charset="0"/>
              </a:rPr>
              <a:t>错误的指令例子</a:t>
            </a:r>
            <a:r>
              <a:rPr lang="zh-CN" altLang="en-US" sz="2400" b="1" dirty="0">
                <a:latin typeface="Arial" panose="020B0604020202020204" pitchFamily="34" charset="0"/>
                <a:ea typeface="宋体" panose="02010600030101010101" pitchFamily="2" charset="-122"/>
              </a:rPr>
              <a:t>：</a:t>
            </a:r>
          </a:p>
          <a:p>
            <a:pPr lvl="0" defTabSz="0">
              <a:lnSpc>
                <a:spcPts val="3500"/>
              </a:lnSpc>
              <a:buClrTx/>
              <a:tabLst>
                <a:tab pos="333375" algn="l"/>
              </a:tabLst>
            </a:pPr>
            <a:r>
              <a:rPr lang="en-US" altLang="zh-CN" sz="2400" b="1" dirty="0">
                <a:latin typeface="Arial" panose="020B0604020202020204" pitchFamily="34" charset="0"/>
                <a:ea typeface="宋体" panose="02010600030101010101" pitchFamily="2" charset="-122"/>
              </a:rPr>
              <a:t>MOV  BL,AX                 ; </a:t>
            </a:r>
            <a:r>
              <a:rPr lang="zh-CN" altLang="en-US" sz="2400" b="1" dirty="0">
                <a:latin typeface="Arial" panose="020B0604020202020204" pitchFamily="34" charset="0"/>
                <a:ea typeface="宋体" panose="02010600030101010101" pitchFamily="2" charset="-122"/>
              </a:rPr>
              <a:t>操作数类型不匹配 </a:t>
            </a:r>
          </a:p>
          <a:p>
            <a:pPr lvl="0" defTabSz="0">
              <a:lnSpc>
                <a:spcPts val="3500"/>
              </a:lnSpc>
              <a:buClrTx/>
              <a:tabLst>
                <a:tab pos="333375" algn="l"/>
              </a:tabLst>
            </a:pPr>
            <a:r>
              <a:rPr lang="en-US" altLang="zh-CN" sz="2400" b="1" dirty="0">
                <a:latin typeface="Arial" panose="020B0604020202020204" pitchFamily="34" charset="0"/>
                <a:ea typeface="宋体" panose="02010600030101010101" pitchFamily="2" charset="-122"/>
              </a:rPr>
              <a:t>MOV  ES,DS                  ; </a:t>
            </a:r>
            <a:r>
              <a:rPr lang="zh-CN" altLang="en-US" sz="2400" b="1" dirty="0">
                <a:latin typeface="Arial" panose="020B0604020202020204" pitchFamily="34" charset="0"/>
                <a:ea typeface="宋体" panose="02010600030101010101" pitchFamily="2" charset="-122"/>
              </a:rPr>
              <a:t>段寄存器不能互相传送</a:t>
            </a:r>
          </a:p>
          <a:p>
            <a:pPr lvl="0" defTabSz="0">
              <a:lnSpc>
                <a:spcPts val="3500"/>
              </a:lnSpc>
              <a:buClrTx/>
              <a:tabLst>
                <a:tab pos="333375" algn="l"/>
              </a:tabLst>
            </a:pPr>
            <a:r>
              <a:rPr lang="en-US" altLang="zh-CN" sz="2400" b="1" dirty="0">
                <a:latin typeface="Arial" panose="020B0604020202020204" pitchFamily="34" charset="0"/>
                <a:ea typeface="宋体" panose="02010600030101010101" pitchFamily="2" charset="-122"/>
              </a:rPr>
              <a:t>MOV  CS,AX                  ; CS</a:t>
            </a:r>
            <a:r>
              <a:rPr lang="zh-CN" altLang="en-US" sz="2400" b="1" dirty="0">
                <a:latin typeface="Arial" panose="020B0604020202020204" pitchFamily="34" charset="0"/>
                <a:ea typeface="宋体" panose="02010600030101010101" pitchFamily="2" charset="-122"/>
              </a:rPr>
              <a:t>不能为目的操作数</a:t>
            </a:r>
          </a:p>
          <a:p>
            <a:pPr lvl="0" defTabSz="0">
              <a:lnSpc>
                <a:spcPts val="3500"/>
              </a:lnSpc>
              <a:buClrTx/>
              <a:tabLst>
                <a:tab pos="333375" algn="l"/>
              </a:tabLst>
            </a:pPr>
            <a:r>
              <a:rPr lang="en-US" altLang="zh-CN" sz="2400" b="1" dirty="0">
                <a:latin typeface="Arial" panose="020B0604020202020204" pitchFamily="34" charset="0"/>
                <a:ea typeface="宋体" panose="02010600030101010101" pitchFamily="2" charset="-122"/>
              </a:rPr>
              <a:t>MOV  DS,100H              ; </a:t>
            </a:r>
            <a:r>
              <a:rPr lang="zh-CN" altLang="en-US" sz="2400" b="1" dirty="0">
                <a:latin typeface="Arial" panose="020B0604020202020204" pitchFamily="34" charset="0"/>
                <a:ea typeface="宋体" panose="02010600030101010101" pitchFamily="2" charset="-122"/>
              </a:rPr>
              <a:t>立即数不能直接传送给段寄存器</a:t>
            </a:r>
          </a:p>
          <a:p>
            <a:pPr lvl="0" defTabSz="0">
              <a:lnSpc>
                <a:spcPts val="3500"/>
              </a:lnSpc>
              <a:buClrTx/>
              <a:tabLst>
                <a:tab pos="333375" algn="l"/>
              </a:tabLst>
            </a:pPr>
            <a:r>
              <a:rPr lang="en-US" altLang="zh-CN" sz="2400" b="1" dirty="0">
                <a:latin typeface="Arial" panose="020B0604020202020204" pitchFamily="34" charset="0"/>
                <a:ea typeface="宋体" panose="02010600030101010101" pitchFamily="2" charset="-122"/>
              </a:rPr>
              <a:t>MOV  100,AX                ; </a:t>
            </a:r>
            <a:r>
              <a:rPr lang="zh-CN" altLang="en-US" sz="2400" b="1" dirty="0">
                <a:latin typeface="Arial" panose="020B0604020202020204" pitchFamily="34" charset="0"/>
                <a:ea typeface="宋体" panose="02010600030101010101" pitchFamily="2" charset="-122"/>
              </a:rPr>
              <a:t>立即数不能作为目的操作数</a:t>
            </a:r>
          </a:p>
          <a:p>
            <a:pPr lvl="0" defTabSz="0">
              <a:lnSpc>
                <a:spcPts val="3500"/>
              </a:lnSpc>
              <a:buClrTx/>
              <a:tabLst>
                <a:tab pos="333375" algn="l"/>
              </a:tabLst>
            </a:pPr>
            <a:r>
              <a:rPr lang="en-US" altLang="zh-CN" sz="2400" b="1" dirty="0">
                <a:latin typeface="Arial" panose="020B0604020202020204" pitchFamily="34" charset="0"/>
                <a:ea typeface="宋体" panose="02010600030101010101" pitchFamily="2" charset="-122"/>
              </a:rPr>
              <a:t>MOV  VARA,VARB       ; VARA</a:t>
            </a:r>
            <a:r>
              <a:rPr lang="zh-CN" altLang="en-US" sz="2400" b="1" dirty="0">
                <a:latin typeface="Arial" panose="020B0604020202020204" pitchFamily="34" charset="0"/>
                <a:ea typeface="宋体" panose="02010600030101010101" pitchFamily="2" charset="-122"/>
              </a:rPr>
              <a:t>和</a:t>
            </a:r>
            <a:r>
              <a:rPr lang="en-US" altLang="zh-CN" sz="2400" b="1" dirty="0">
                <a:latin typeface="Arial" panose="020B0604020202020204" pitchFamily="34" charset="0"/>
                <a:ea typeface="宋体" panose="02010600030101010101" pitchFamily="2" charset="-122"/>
              </a:rPr>
              <a:t>VARB</a:t>
            </a:r>
            <a:r>
              <a:rPr lang="zh-CN" altLang="en-US" sz="2400" b="1" dirty="0">
                <a:latin typeface="Arial" panose="020B0604020202020204" pitchFamily="34" charset="0"/>
                <a:ea typeface="宋体" panose="02010600030101010101" pitchFamily="2" charset="-122"/>
              </a:rPr>
              <a:t>是两个存储器操作数</a:t>
            </a:r>
          </a:p>
          <a:p>
            <a:pPr lvl="0" defTabSz="0">
              <a:lnSpc>
                <a:spcPts val="3500"/>
              </a:lnSpc>
              <a:buClrTx/>
              <a:tabLst>
                <a:tab pos="333375" algn="l"/>
              </a:tabLst>
            </a:pPr>
            <a:r>
              <a:rPr lang="en-US" altLang="zh-CN" sz="2400" b="1" dirty="0">
                <a:latin typeface="Arial" panose="020B0604020202020204" pitchFamily="34" charset="0"/>
                <a:ea typeface="宋体" panose="02010600030101010101" pitchFamily="2" charset="-122"/>
              </a:rPr>
              <a:t>MOV  [BX],12H             ; </a:t>
            </a:r>
            <a:r>
              <a:rPr lang="zh-CN" altLang="en-US" sz="2400" b="1" dirty="0">
                <a:latin typeface="Arial" panose="020B0604020202020204" pitchFamily="34" charset="0"/>
                <a:ea typeface="宋体" panose="02010600030101010101" pitchFamily="2" charset="-122"/>
              </a:rPr>
              <a:t>两个操作数类型都不明确 </a:t>
            </a:r>
          </a:p>
        </p:txBody>
      </p:sp>
      <p:sp>
        <p:nvSpPr>
          <p:cNvPr id="5" name="矩形 4"/>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标题 339969"/>
          <p:cNvSpPr>
            <a:spLocks noGrp="1"/>
          </p:cNvSpPr>
          <p:nvPr>
            <p:ph type="title"/>
          </p:nvPr>
        </p:nvSpPr>
        <p:spPr>
          <a:xfrm>
            <a:off x="323850" y="836613"/>
            <a:ext cx="4103688" cy="533400"/>
          </a:xfrm>
        </p:spPr>
        <p:txBody>
          <a:bodyPr anchor="ctr"/>
          <a:lstStyle/>
          <a:p>
            <a:pPr algn="l"/>
            <a:r>
              <a:rPr lang="en-US" altLang="zh-CN" sz="2400" b="1">
                <a:solidFill>
                  <a:schemeClr val="tx1"/>
                </a:solidFill>
              </a:rPr>
              <a:t>2</a:t>
            </a:r>
            <a:r>
              <a:rPr lang="zh-CN" altLang="en-US" sz="2400" b="1" dirty="0">
                <a:solidFill>
                  <a:schemeClr val="tx1"/>
                </a:solidFill>
              </a:rPr>
              <a:t>、数据交换指令－</a:t>
            </a:r>
            <a:r>
              <a:rPr lang="en-US" altLang="zh-CN" sz="2400" b="1">
                <a:solidFill>
                  <a:schemeClr val="tx1"/>
                </a:solidFill>
              </a:rPr>
              <a:t>XCHG</a:t>
            </a:r>
          </a:p>
        </p:txBody>
      </p:sp>
      <p:sp>
        <p:nvSpPr>
          <p:cNvPr id="339971" name="文本占位符 339970"/>
          <p:cNvSpPr>
            <a:spLocks noGrp="1"/>
          </p:cNvSpPr>
          <p:nvPr>
            <p:ph type="body" idx="1"/>
          </p:nvPr>
        </p:nvSpPr>
        <p:spPr>
          <a:xfrm>
            <a:off x="250825" y="1484313"/>
            <a:ext cx="8675688" cy="3168650"/>
          </a:xfrm>
        </p:spPr>
        <p:txBody>
          <a:bodyPr/>
          <a:lstStyle/>
          <a:p>
            <a:pPr algn="just">
              <a:lnSpc>
                <a:spcPct val="90000"/>
              </a:lnSpc>
              <a:buClrTx/>
              <a:buNone/>
            </a:pPr>
            <a:r>
              <a:rPr lang="zh-CN" altLang="en-US" sz="2400" b="1" dirty="0"/>
              <a:t>格式：</a:t>
            </a:r>
            <a:r>
              <a:rPr lang="en-US" altLang="zh-CN" sz="2400" b="1" dirty="0"/>
              <a:t>XCHG   </a:t>
            </a:r>
            <a:r>
              <a:rPr lang="nb-NO" altLang="zh-CN" b="1" dirty="0"/>
              <a:t>reg,mem/reg</a:t>
            </a:r>
            <a:r>
              <a:rPr lang="nb-NO" altLang="zh-CN" dirty="0"/>
              <a:t> </a:t>
            </a:r>
            <a:endParaRPr lang="en-US" altLang="zh-CN" sz="2400" b="1" dirty="0"/>
          </a:p>
          <a:p>
            <a:pPr algn="just">
              <a:lnSpc>
                <a:spcPct val="90000"/>
              </a:lnSpc>
              <a:buClrTx/>
              <a:buNone/>
            </a:pPr>
            <a:r>
              <a:rPr lang="zh-CN" altLang="en-US" sz="2400" b="1" dirty="0"/>
              <a:t>功能：实现源操作数和目的操作数之间的内容相互交换</a:t>
            </a:r>
            <a:r>
              <a:rPr lang="zh-CN" altLang="en-US" dirty="0"/>
              <a:t> </a:t>
            </a:r>
            <a:endParaRPr lang="zh-CN" altLang="en-US" sz="2400" b="1" dirty="0"/>
          </a:p>
          <a:p>
            <a:pPr algn="just">
              <a:lnSpc>
                <a:spcPct val="90000"/>
              </a:lnSpc>
              <a:buClrTx/>
              <a:buNone/>
            </a:pPr>
            <a:r>
              <a:rPr lang="zh-CN" altLang="en-US" sz="2400" b="1" dirty="0"/>
              <a:t>例：</a:t>
            </a:r>
            <a:r>
              <a:rPr lang="en-US" altLang="zh-CN" sz="2400" b="1" dirty="0"/>
              <a:t>XCHG  AL,BL  </a:t>
            </a:r>
            <a:r>
              <a:rPr lang="zh-CN" altLang="en-US" sz="2400" b="1" dirty="0"/>
              <a:t>；</a:t>
            </a:r>
            <a:r>
              <a:rPr lang="en-US" altLang="zh-CN" sz="2400" b="1" dirty="0"/>
              <a:t>XCHG  AX,DX</a:t>
            </a:r>
            <a:r>
              <a:rPr lang="en-US" altLang="zh-CN" sz="2400" dirty="0"/>
              <a:t> </a:t>
            </a:r>
            <a:r>
              <a:rPr lang="zh-CN" altLang="en-US" sz="2400" dirty="0"/>
              <a:t>；</a:t>
            </a:r>
            <a:r>
              <a:rPr lang="en-US" altLang="zh-CN" sz="2400" b="1" dirty="0"/>
              <a:t>XCHG  CX,[3450H]</a:t>
            </a:r>
            <a:r>
              <a:rPr lang="en-US" altLang="zh-CN" sz="2400" dirty="0"/>
              <a:t> </a:t>
            </a:r>
            <a:endParaRPr lang="zh-CN" altLang="en-US" sz="2400" b="1" dirty="0"/>
          </a:p>
          <a:p>
            <a:pPr algn="just">
              <a:lnSpc>
                <a:spcPct val="90000"/>
              </a:lnSpc>
              <a:buClrTx/>
              <a:buNone/>
            </a:pPr>
            <a:r>
              <a:rPr lang="zh-CN" altLang="en-US" sz="2400" b="1" dirty="0"/>
              <a:t>以下</a:t>
            </a:r>
            <a:r>
              <a:rPr lang="en-US" altLang="zh-CN" sz="2400" b="1" dirty="0"/>
              <a:t>3</a:t>
            </a:r>
            <a:r>
              <a:rPr lang="zh-CN" altLang="en-US" sz="2400" b="1" dirty="0"/>
              <a:t>条指令实现寄存器与存储器之间的数据交换。</a:t>
            </a:r>
          </a:p>
          <a:p>
            <a:pPr algn="just">
              <a:lnSpc>
                <a:spcPct val="90000"/>
              </a:lnSpc>
              <a:buClrTx/>
              <a:buNone/>
            </a:pPr>
            <a:r>
              <a:rPr lang="en-US" altLang="zh-CN" sz="2400" b="1" dirty="0"/>
              <a:t>MOV	AX</a:t>
            </a:r>
            <a:r>
              <a:rPr lang="zh-CN" altLang="en-US" sz="2400" b="1" dirty="0"/>
              <a:t>，</a:t>
            </a:r>
            <a:r>
              <a:rPr lang="en-US" altLang="zh-CN" sz="2400" b="1" dirty="0"/>
              <a:t>5678H	</a:t>
            </a:r>
            <a:r>
              <a:rPr lang="zh-CN" altLang="en-US" sz="2400" b="1" dirty="0"/>
              <a:t>　　　；</a:t>
            </a:r>
            <a:r>
              <a:rPr lang="en-US" altLang="zh-CN" sz="2400" b="1" dirty="0"/>
              <a:t>AX=5678H</a:t>
            </a:r>
          </a:p>
          <a:p>
            <a:pPr algn="just">
              <a:lnSpc>
                <a:spcPct val="90000"/>
              </a:lnSpc>
              <a:buClrTx/>
              <a:buNone/>
            </a:pPr>
            <a:r>
              <a:rPr lang="en-US" altLang="zh-CN" sz="2400" b="1" dirty="0"/>
              <a:t>MOV	BX</a:t>
            </a:r>
            <a:r>
              <a:rPr lang="zh-CN" altLang="en-US" sz="2400" b="1" dirty="0"/>
              <a:t>，</a:t>
            </a:r>
            <a:r>
              <a:rPr lang="en-US" altLang="zh-CN" sz="2400" b="1" dirty="0"/>
              <a:t>0FFFFH	</a:t>
            </a:r>
            <a:r>
              <a:rPr lang="zh-CN" altLang="en-US" sz="2400" b="1" dirty="0"/>
              <a:t>；</a:t>
            </a:r>
            <a:r>
              <a:rPr lang="en-US" altLang="zh-CN" sz="2400" b="1" dirty="0"/>
              <a:t>BX=0FFFFH</a:t>
            </a:r>
          </a:p>
          <a:p>
            <a:pPr algn="just">
              <a:lnSpc>
                <a:spcPct val="90000"/>
              </a:lnSpc>
              <a:buClrTx/>
              <a:buNone/>
            </a:pPr>
            <a:r>
              <a:rPr lang="en-US" altLang="zh-CN" sz="2400" b="1" dirty="0"/>
              <a:t>XCHG</a:t>
            </a:r>
            <a:r>
              <a:rPr lang="zh-CN" altLang="en-US" sz="2400" b="1" dirty="0"/>
              <a:t>　</a:t>
            </a:r>
            <a:r>
              <a:rPr lang="en-US" altLang="zh-CN" sz="2400" b="1" dirty="0"/>
              <a:t>AX</a:t>
            </a:r>
            <a:r>
              <a:rPr lang="zh-CN" altLang="en-US" sz="2400" b="1" dirty="0"/>
              <a:t>，</a:t>
            </a:r>
            <a:r>
              <a:rPr lang="en-US" altLang="zh-CN" sz="2400" b="1" dirty="0"/>
              <a:t>BX                ; AX=0FFFFH </a:t>
            </a:r>
            <a:r>
              <a:rPr lang="zh-CN" altLang="en-US" sz="2400" b="1" dirty="0"/>
              <a:t>， </a:t>
            </a:r>
            <a:r>
              <a:rPr lang="en-US" altLang="zh-CN" sz="2400" b="1" dirty="0"/>
              <a:t>BX=5678H</a:t>
            </a:r>
          </a:p>
        </p:txBody>
      </p:sp>
      <p:sp>
        <p:nvSpPr>
          <p:cNvPr id="339972" name="矩形 339971"/>
          <p:cNvSpPr/>
          <p:nvPr/>
        </p:nvSpPr>
        <p:spPr>
          <a:xfrm>
            <a:off x="395288" y="5445125"/>
            <a:ext cx="8497887" cy="461665"/>
          </a:xfrm>
          <a:prstGeom prst="rect">
            <a:avLst/>
          </a:prstGeom>
          <a:solidFill>
            <a:schemeClr val="accent5">
              <a:lumMod val="40000"/>
              <a:lumOff val="60000"/>
            </a:schemeClr>
          </a:solidFill>
          <a:ln w="9525">
            <a:noFill/>
          </a:ln>
        </p:spPr>
        <p:txBody>
          <a:bodyPr>
            <a:spAutoFit/>
          </a:bodyPr>
          <a:lstStyle/>
          <a:p>
            <a:pPr marL="342900" lvl="0" indent="-342900">
              <a:spcBef>
                <a:spcPct val="20000"/>
              </a:spcBef>
            </a:pPr>
            <a:r>
              <a:rPr lang="zh-CN" altLang="en-US" sz="2400" b="1" dirty="0">
                <a:solidFill>
                  <a:srgbClr val="0000FF"/>
                </a:solidFill>
                <a:latin typeface="宋体" panose="02010600030101010101" pitchFamily="2" charset="-122"/>
                <a:ea typeface="宋体" panose="02010600030101010101" pitchFamily="2" charset="-122"/>
              </a:rPr>
              <a:t>注意：</a:t>
            </a:r>
            <a:r>
              <a:rPr lang="zh-CN" altLang="en-US" sz="2400" b="1" dirty="0">
                <a:effectLst>
                  <a:outerShdw blurRad="38100" dist="38100" dir="2700000">
                    <a:srgbClr val="C0C0C0"/>
                  </a:outerShdw>
                </a:effectLst>
                <a:latin typeface="Arial" panose="020B0604020202020204" pitchFamily="34" charset="0"/>
                <a:ea typeface="宋体" panose="02010600030101010101" pitchFamily="2" charset="-122"/>
              </a:rPr>
              <a:t>交换只能在通用寄存器之间，通用寄存器与存储器之间</a:t>
            </a:r>
            <a:endParaRPr lang="zh-CN" altLang="en-US" sz="2400" b="1" dirty="0">
              <a:latin typeface="宋体" panose="02010600030101010101" pitchFamily="2" charset="-122"/>
              <a:ea typeface="宋体" panose="02010600030101010101" pitchFamily="2" charset="-122"/>
            </a:endParaRPr>
          </a:p>
        </p:txBody>
      </p:sp>
      <p:sp>
        <p:nvSpPr>
          <p:cNvPr id="339973" name="矩形 339972"/>
          <p:cNvSpPr/>
          <p:nvPr/>
        </p:nvSpPr>
        <p:spPr>
          <a:xfrm>
            <a:off x="1116013" y="4725144"/>
            <a:ext cx="3600450" cy="457200"/>
          </a:xfrm>
          <a:prstGeom prst="rect">
            <a:avLst/>
          </a:prstGeom>
          <a:noFill/>
          <a:ln w="9525">
            <a:noFill/>
          </a:ln>
        </p:spPr>
        <p:txBody>
          <a:bodyPr wrap="none" anchor="ctr">
            <a:spAutoFit/>
          </a:bodyPr>
          <a:lstStyle/>
          <a:p>
            <a:pPr lvl="0"/>
            <a:r>
              <a:rPr lang="en-US" altLang="zh-CN" sz="2400" b="1" dirty="0">
                <a:solidFill>
                  <a:srgbClr val="0000FF"/>
                </a:solidFill>
                <a:latin typeface="Arial" panose="020B0604020202020204" pitchFamily="34" charset="0"/>
                <a:ea typeface="宋体" panose="02010600030101010101" pitchFamily="2" charset="-122"/>
              </a:rPr>
              <a:t>XCHG</a:t>
            </a:r>
            <a:r>
              <a:rPr lang="zh-CN" altLang="en-US" sz="2400" b="1" dirty="0">
                <a:solidFill>
                  <a:srgbClr val="0000FF"/>
                </a:solidFill>
                <a:latin typeface="Arial" panose="020B0604020202020204" pitchFamily="34" charset="0"/>
                <a:ea typeface="宋体" panose="02010600030101010101" pitchFamily="2" charset="-122"/>
              </a:rPr>
              <a:t>指令不影响标志位 </a:t>
            </a:r>
          </a:p>
        </p:txBody>
      </p:sp>
      <p:sp>
        <p:nvSpPr>
          <p:cNvPr id="7" name="矩形 6"/>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文本占位符 342017"/>
          <p:cNvSpPr>
            <a:spLocks noGrp="1"/>
          </p:cNvSpPr>
          <p:nvPr>
            <p:ph type="body" idx="1"/>
          </p:nvPr>
        </p:nvSpPr>
        <p:spPr>
          <a:xfrm>
            <a:off x="250825" y="1412875"/>
            <a:ext cx="1296988" cy="360363"/>
          </a:xfrm>
        </p:spPr>
        <p:txBody>
          <a:bodyPr/>
          <a:lstStyle/>
          <a:p>
            <a:pPr>
              <a:buClrTx/>
              <a:buNone/>
            </a:pPr>
            <a:r>
              <a:rPr lang="zh-CN" altLang="en-US" sz="2400" b="1" dirty="0"/>
              <a:t>　格式：</a:t>
            </a:r>
          </a:p>
        </p:txBody>
      </p:sp>
      <p:sp>
        <p:nvSpPr>
          <p:cNvPr id="342019" name="矩形 342018"/>
          <p:cNvSpPr/>
          <p:nvPr/>
        </p:nvSpPr>
        <p:spPr>
          <a:xfrm>
            <a:off x="539750" y="844550"/>
            <a:ext cx="4535488" cy="496888"/>
          </a:xfrm>
          <a:prstGeom prst="rect">
            <a:avLst/>
          </a:prstGeom>
          <a:noFill/>
          <a:ln w="9525">
            <a:noFill/>
          </a:ln>
        </p:spPr>
        <p:txBody>
          <a:bodyPr lIns="0" tIns="0" rIns="0" bIns="0"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lgn="l"/>
            <a:r>
              <a:rPr lang="en-US" altLang="zh-CN" sz="2400" b="1">
                <a:solidFill>
                  <a:schemeClr val="tx1"/>
                </a:solidFill>
              </a:rPr>
              <a:t>3</a:t>
            </a:r>
            <a:r>
              <a:rPr lang="zh-CN" altLang="en-US" sz="2400" b="1" dirty="0">
                <a:solidFill>
                  <a:schemeClr val="tx1"/>
                </a:solidFill>
              </a:rPr>
              <a:t>、堆栈操作指令－</a:t>
            </a:r>
            <a:r>
              <a:rPr lang="en-US" altLang="zh-CN" sz="2400" b="1">
                <a:solidFill>
                  <a:schemeClr val="tx1"/>
                </a:solidFill>
              </a:rPr>
              <a:t>PUSH/POP</a:t>
            </a:r>
          </a:p>
        </p:txBody>
      </p:sp>
      <p:sp>
        <p:nvSpPr>
          <p:cNvPr id="342020" name="流程图: 可选过程 342019"/>
          <p:cNvSpPr/>
          <p:nvPr/>
        </p:nvSpPr>
        <p:spPr>
          <a:xfrm>
            <a:off x="1429048" y="1922338"/>
            <a:ext cx="4318000" cy="1290638"/>
          </a:xfrm>
          <a:prstGeom prst="flowChartAlternateProcess">
            <a:avLst/>
          </a:prstGeom>
          <a:solidFill>
            <a:srgbClr val="FFFFFF"/>
          </a:solidFill>
          <a:ln w="12700">
            <a:noFill/>
          </a:ln>
          <a:effectLst>
            <a:prstShdw prst="shdw13" dist="53882" dir="13499999">
              <a:srgbClr val="808080"/>
            </a:prstShdw>
          </a:effectLst>
        </p:spPr>
        <p:txBody>
          <a:bodyPr>
            <a:spAutoFit/>
          </a:bodyPr>
          <a:lstStyle/>
          <a:p>
            <a:pPr lvl="0" defTabSz="0">
              <a:spcBef>
                <a:spcPct val="50000"/>
              </a:spcBef>
              <a:tabLst>
                <a:tab pos="2289175" algn="l"/>
              </a:tabLst>
            </a:pPr>
            <a:r>
              <a:rPr lang="en-US" altLang="zh-CN" sz="2800" b="1" dirty="0">
                <a:latin typeface="宋体" panose="02010600030101010101" pitchFamily="2" charset="-122"/>
                <a:ea typeface="宋体" panose="02010600030101010101" pitchFamily="2" charset="-122"/>
              </a:rPr>
              <a:t>PUSH r16/m16/</a:t>
            </a:r>
            <a:r>
              <a:rPr lang="en-US" altLang="zh-CN" sz="2800" b="1" dirty="0" err="1">
                <a:latin typeface="宋体" panose="02010600030101010101" pitchFamily="2" charset="-122"/>
                <a:ea typeface="宋体" panose="02010600030101010101" pitchFamily="2" charset="-122"/>
              </a:rPr>
              <a:t>seg</a:t>
            </a:r>
            <a:endParaRPr lang="en-US" altLang="zh-CN" sz="2800" b="1" dirty="0">
              <a:latin typeface="宋体" panose="02010600030101010101" pitchFamily="2" charset="-122"/>
              <a:ea typeface="宋体" panose="02010600030101010101" pitchFamily="2" charset="-122"/>
            </a:endParaRPr>
          </a:p>
          <a:p>
            <a:pPr lvl="0" defTabSz="0">
              <a:lnSpc>
                <a:spcPct val="60000"/>
              </a:lnSpc>
              <a:spcBef>
                <a:spcPct val="20000"/>
              </a:spcBef>
              <a:tabLst>
                <a:tab pos="2289175" algn="l"/>
              </a:tabLst>
            </a:pP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chemeClr val="accent2"/>
                </a:solidFill>
                <a:latin typeface="宋体" panose="02010600030101010101" pitchFamily="2" charset="-122"/>
                <a:ea typeface="宋体" panose="02010600030101010101" pitchFamily="2" charset="-122"/>
              </a:rPr>
              <a:t>SP←SP</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chemeClr val="accent2"/>
                </a:solidFill>
                <a:latin typeface="宋体" panose="02010600030101010101" pitchFamily="2" charset="-122"/>
                <a:ea typeface="宋体" panose="02010600030101010101" pitchFamily="2" charset="-122"/>
              </a:rPr>
              <a:t>2</a:t>
            </a:r>
          </a:p>
          <a:p>
            <a:pPr lvl="0" defTabSz="0">
              <a:lnSpc>
                <a:spcPct val="60000"/>
              </a:lnSpc>
              <a:spcBef>
                <a:spcPct val="20000"/>
              </a:spcBef>
              <a:tabLst>
                <a:tab pos="2289175" algn="l"/>
              </a:tabLst>
            </a:pP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chemeClr val="accent2"/>
                </a:solidFill>
                <a:latin typeface="宋体" panose="02010600030101010101" pitchFamily="2" charset="-122"/>
                <a:ea typeface="宋体" panose="02010600030101010101" pitchFamily="2" charset="-122"/>
              </a:rPr>
              <a:t>SS:[SP]←r16/m16/</a:t>
            </a:r>
            <a:r>
              <a:rPr lang="en-US" altLang="zh-CN" sz="2800" b="1" dirty="0" err="1">
                <a:solidFill>
                  <a:schemeClr val="accent2"/>
                </a:solidFill>
                <a:latin typeface="宋体" panose="02010600030101010101" pitchFamily="2" charset="-122"/>
                <a:ea typeface="宋体" panose="02010600030101010101" pitchFamily="2" charset="-122"/>
              </a:rPr>
              <a:t>seg</a:t>
            </a:r>
            <a:endParaRPr lang="en-US" altLang="zh-CN" sz="2800" b="1" dirty="0">
              <a:solidFill>
                <a:schemeClr val="accent2"/>
              </a:solidFill>
              <a:latin typeface="宋体" panose="02010600030101010101" pitchFamily="2" charset="-122"/>
              <a:ea typeface="宋体" panose="02010600030101010101" pitchFamily="2" charset="-122"/>
            </a:endParaRPr>
          </a:p>
        </p:txBody>
      </p:sp>
      <p:sp>
        <p:nvSpPr>
          <p:cNvPr id="342021" name="流程图: 可选过程 342020"/>
          <p:cNvSpPr/>
          <p:nvPr/>
        </p:nvSpPr>
        <p:spPr>
          <a:xfrm>
            <a:off x="1403648" y="3789040"/>
            <a:ext cx="4343400" cy="1290638"/>
          </a:xfrm>
          <a:prstGeom prst="flowChartAlternateProcess">
            <a:avLst/>
          </a:prstGeom>
          <a:solidFill>
            <a:srgbClr val="FFFFFF"/>
          </a:solidFill>
          <a:ln w="12700">
            <a:noFill/>
          </a:ln>
          <a:effectLst>
            <a:prstShdw prst="shdw13" dist="53882" dir="13499999">
              <a:srgbClr val="808080"/>
            </a:prstShdw>
          </a:effectLst>
        </p:spPr>
        <p:txBody>
          <a:bodyPr>
            <a:spAutoFit/>
          </a:bodyPr>
          <a:lstStyle/>
          <a:p>
            <a:pPr lvl="0" defTabSz="0">
              <a:spcBef>
                <a:spcPct val="50000"/>
              </a:spcBef>
              <a:tabLst>
                <a:tab pos="2289175" algn="l"/>
              </a:tabLst>
            </a:pPr>
            <a:r>
              <a:rPr lang="en-US" altLang="zh-CN" sz="2800" b="1" dirty="0">
                <a:latin typeface="宋体" panose="02010600030101010101" pitchFamily="2" charset="-122"/>
                <a:ea typeface="宋体" panose="02010600030101010101" pitchFamily="2" charset="-122"/>
              </a:rPr>
              <a:t>POP r16/m16/</a:t>
            </a:r>
            <a:r>
              <a:rPr lang="en-US" altLang="zh-CN" sz="2800" b="1" dirty="0" err="1">
                <a:latin typeface="宋体" panose="02010600030101010101" pitchFamily="2" charset="-122"/>
                <a:ea typeface="宋体" panose="02010600030101010101" pitchFamily="2" charset="-122"/>
              </a:rPr>
              <a:t>seg</a:t>
            </a:r>
            <a:endParaRPr lang="en-US" altLang="zh-CN" sz="2800" b="1" dirty="0">
              <a:latin typeface="宋体" panose="02010600030101010101" pitchFamily="2" charset="-122"/>
              <a:ea typeface="宋体" panose="02010600030101010101" pitchFamily="2" charset="-122"/>
            </a:endParaRPr>
          </a:p>
          <a:p>
            <a:pPr lvl="0" defTabSz="0">
              <a:lnSpc>
                <a:spcPct val="60000"/>
              </a:lnSpc>
              <a:spcBef>
                <a:spcPct val="20000"/>
              </a:spcBef>
              <a:tabLst>
                <a:tab pos="2289175" algn="l"/>
              </a:tabLst>
            </a:pP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chemeClr val="accent2"/>
                </a:solidFill>
                <a:latin typeface="宋体" panose="02010600030101010101" pitchFamily="2" charset="-122"/>
                <a:ea typeface="宋体" panose="02010600030101010101" pitchFamily="2" charset="-122"/>
              </a:rPr>
              <a:t>r16/m16/</a:t>
            </a:r>
            <a:r>
              <a:rPr lang="en-US" altLang="zh-CN" sz="2800" b="1" dirty="0" err="1">
                <a:solidFill>
                  <a:schemeClr val="accent2"/>
                </a:solidFill>
                <a:latin typeface="宋体" panose="02010600030101010101" pitchFamily="2" charset="-122"/>
                <a:ea typeface="宋体" panose="02010600030101010101" pitchFamily="2" charset="-122"/>
              </a:rPr>
              <a:t>seg←SS</a:t>
            </a:r>
            <a:r>
              <a:rPr lang="en-US" altLang="zh-CN" sz="2800" b="1" dirty="0">
                <a:solidFill>
                  <a:schemeClr val="accent2"/>
                </a:solidFill>
                <a:latin typeface="宋体" panose="02010600030101010101" pitchFamily="2" charset="-122"/>
                <a:ea typeface="宋体" panose="02010600030101010101" pitchFamily="2" charset="-122"/>
              </a:rPr>
              <a:t>:[SP]</a:t>
            </a:r>
          </a:p>
          <a:p>
            <a:pPr lvl="0" defTabSz="0">
              <a:lnSpc>
                <a:spcPct val="60000"/>
              </a:lnSpc>
              <a:spcBef>
                <a:spcPct val="20000"/>
              </a:spcBef>
              <a:tabLst>
                <a:tab pos="2289175" algn="l"/>
              </a:tabLst>
            </a:pP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chemeClr val="accent2"/>
                </a:solidFill>
                <a:latin typeface="宋体" panose="02010600030101010101" pitchFamily="2" charset="-122"/>
                <a:ea typeface="宋体" panose="02010600030101010101" pitchFamily="2" charset="-122"/>
              </a:rPr>
              <a:t>SP←SP</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chemeClr val="accent2"/>
                </a:solidFill>
                <a:latin typeface="宋体" panose="02010600030101010101" pitchFamily="2" charset="-122"/>
                <a:ea typeface="宋体" panose="02010600030101010101" pitchFamily="2" charset="-122"/>
              </a:rPr>
              <a:t>2</a:t>
            </a:r>
          </a:p>
        </p:txBody>
      </p:sp>
      <p:sp>
        <p:nvSpPr>
          <p:cNvPr id="8" name="矩形 7"/>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8" name="矩形 348167"/>
          <p:cNvSpPr/>
          <p:nvPr/>
        </p:nvSpPr>
        <p:spPr>
          <a:xfrm>
            <a:off x="250825" y="851228"/>
            <a:ext cx="8642350" cy="1569660"/>
          </a:xfrm>
          <a:prstGeom prst="rect">
            <a:avLst/>
          </a:prstGeom>
          <a:noFill/>
          <a:ln w="9525">
            <a:noFill/>
          </a:ln>
        </p:spPr>
        <p:txBody>
          <a:bodyPr anchor="ctr">
            <a:spAutoFit/>
          </a:bodyPr>
          <a:lstStyle/>
          <a:p>
            <a:pPr lvl="0"/>
            <a:r>
              <a:rPr lang="zh-CN" altLang="en-US" sz="2400" b="1" dirty="0">
                <a:latin typeface="Arial" panose="020B0604020202020204" pitchFamily="34" charset="0"/>
                <a:ea typeface="宋体" panose="02010600030101010101" pitchFamily="2" charset="-122"/>
              </a:rPr>
              <a:t>示例：若</a:t>
            </a:r>
            <a:r>
              <a:rPr lang="en-US" altLang="zh-CN" sz="2400" b="1" dirty="0">
                <a:latin typeface="Arial" panose="020B0604020202020204" pitchFamily="34" charset="0"/>
                <a:ea typeface="宋体" panose="02010600030101010101" pitchFamily="2" charset="-122"/>
              </a:rPr>
              <a:t>SP=00F8H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SS=4000H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AX=5102H</a:t>
            </a:r>
            <a:r>
              <a:rPr lang="zh-CN" altLang="en-US" sz="2400" b="1" dirty="0">
                <a:latin typeface="Arial" panose="020B0604020202020204" pitchFamily="34" charset="0"/>
                <a:ea typeface="宋体" panose="02010600030101010101" pitchFamily="2" charset="-122"/>
              </a:rPr>
              <a:t>，执行指令</a:t>
            </a:r>
            <a:r>
              <a:rPr lang="en-US" altLang="zh-CN" sz="2400" b="1" dirty="0">
                <a:solidFill>
                  <a:srgbClr val="0000FF"/>
                </a:solidFill>
                <a:latin typeface="Arial" panose="020B0604020202020204" pitchFamily="34" charset="0"/>
                <a:ea typeface="宋体" panose="02010600030101010101" pitchFamily="2" charset="-122"/>
              </a:rPr>
              <a:t>PUSH  AX</a:t>
            </a:r>
            <a:r>
              <a:rPr lang="zh-CN" altLang="en-US" sz="2400" b="1" dirty="0">
                <a:latin typeface="Arial" panose="020B0604020202020204" pitchFamily="34" charset="0"/>
                <a:ea typeface="宋体" panose="02010600030101010101" pitchFamily="2" charset="-122"/>
              </a:rPr>
              <a:t>后，</a:t>
            </a:r>
            <a:r>
              <a:rPr lang="en-US" altLang="zh-CN" sz="2400" b="1" dirty="0">
                <a:latin typeface="Arial" panose="020B0604020202020204" pitchFamily="34" charset="0"/>
                <a:ea typeface="宋体" panose="02010600030101010101" pitchFamily="2" charset="-122"/>
              </a:rPr>
              <a:t>SP=00F6H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400F6H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=5102H</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a:endParaRPr lang="en-US" altLang="zh-CN" sz="2400" b="1" dirty="0">
              <a:latin typeface="Arial" panose="020B0604020202020204" pitchFamily="34" charset="0"/>
              <a:ea typeface="宋体" panose="02010600030101010101" pitchFamily="2" charset="-122"/>
            </a:endParaRPr>
          </a:p>
          <a:p>
            <a:pPr lvl="0"/>
            <a:r>
              <a:rPr lang="zh-CN" altLang="en-US" sz="2400" b="1" dirty="0">
                <a:latin typeface="Arial" panose="020B0604020202020204" pitchFamily="34" charset="0"/>
                <a:ea typeface="宋体" panose="02010600030101010101" pitchFamily="2" charset="-122"/>
              </a:rPr>
              <a:t>图示为指令执行前后堆栈变化示意图 </a:t>
            </a:r>
          </a:p>
        </p:txBody>
      </p:sp>
      <p:pic>
        <p:nvPicPr>
          <p:cNvPr id="348169" name="图片 348168"/>
          <p:cNvPicPr>
            <a:picLocks noChangeAspect="1"/>
          </p:cNvPicPr>
          <p:nvPr/>
        </p:nvPicPr>
        <p:blipFill rotWithShape="1">
          <a:blip r:embed="rId3"/>
          <a:srcRect t="-1" b="-21"/>
          <a:stretch/>
        </p:blipFill>
        <p:spPr>
          <a:xfrm>
            <a:off x="1043608" y="2708920"/>
            <a:ext cx="6985000" cy="2880320"/>
          </a:xfrm>
          <a:prstGeom prst="rect">
            <a:avLst/>
          </a:prstGeom>
          <a:noFill/>
          <a:ln w="9525">
            <a:noFill/>
          </a:ln>
        </p:spPr>
      </p:pic>
      <p:sp>
        <p:nvSpPr>
          <p:cNvPr id="5" name="矩形 4"/>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2" name="文本框 1">
            <a:extLst>
              <a:ext uri="{FF2B5EF4-FFF2-40B4-BE49-F238E27FC236}">
                <a16:creationId xmlns:a16="http://schemas.microsoft.com/office/drawing/2014/main" id="{633F8DE5-3B1E-47CB-8ACB-8DBC33E47957}"/>
              </a:ext>
            </a:extLst>
          </p:cNvPr>
          <p:cNvSpPr txBox="1"/>
          <p:nvPr/>
        </p:nvSpPr>
        <p:spPr>
          <a:xfrm>
            <a:off x="3798118" y="2996952"/>
            <a:ext cx="773882" cy="307777"/>
          </a:xfrm>
          <a:prstGeom prst="rect">
            <a:avLst/>
          </a:prstGeom>
          <a:solidFill>
            <a:schemeClr val="bg1"/>
          </a:solidFill>
        </p:spPr>
        <p:txBody>
          <a:bodyPr wrap="square" rtlCol="0">
            <a:spAutoFit/>
          </a:bodyPr>
          <a:lstStyle/>
          <a:p>
            <a:r>
              <a:rPr lang="en-US" altLang="zh-CN" sz="1400" dirty="0"/>
              <a:t>40000H</a:t>
            </a:r>
            <a:endParaRPr lang="zh-CN" altLang="en-US" sz="1400" dirty="0"/>
          </a:p>
        </p:txBody>
      </p:sp>
      <p:sp>
        <p:nvSpPr>
          <p:cNvPr id="6" name="文本框 5">
            <a:extLst>
              <a:ext uri="{FF2B5EF4-FFF2-40B4-BE49-F238E27FC236}">
                <a16:creationId xmlns:a16="http://schemas.microsoft.com/office/drawing/2014/main" id="{91FE98E9-D0A2-4D5F-B547-99875074D060}"/>
              </a:ext>
            </a:extLst>
          </p:cNvPr>
          <p:cNvSpPr txBox="1"/>
          <p:nvPr/>
        </p:nvSpPr>
        <p:spPr>
          <a:xfrm>
            <a:off x="7398518" y="2996952"/>
            <a:ext cx="773882" cy="307777"/>
          </a:xfrm>
          <a:prstGeom prst="rect">
            <a:avLst/>
          </a:prstGeom>
          <a:solidFill>
            <a:schemeClr val="bg1"/>
          </a:solidFill>
        </p:spPr>
        <p:txBody>
          <a:bodyPr wrap="square" rtlCol="0">
            <a:spAutoFit/>
          </a:bodyPr>
          <a:lstStyle/>
          <a:p>
            <a:r>
              <a:rPr lang="en-US" altLang="zh-CN" sz="1400" dirty="0"/>
              <a:t>40000H</a:t>
            </a:r>
            <a:endParaRPr lang="zh-CN" altLang="en-US" sz="1400" dirty="0"/>
          </a:p>
        </p:txBody>
      </p:sp>
      <p:sp>
        <p:nvSpPr>
          <p:cNvPr id="7" name="文本框 6">
            <a:extLst>
              <a:ext uri="{FF2B5EF4-FFF2-40B4-BE49-F238E27FC236}">
                <a16:creationId xmlns:a16="http://schemas.microsoft.com/office/drawing/2014/main" id="{AF204F56-71B3-48DC-B489-2B9906E74948}"/>
              </a:ext>
            </a:extLst>
          </p:cNvPr>
          <p:cNvSpPr txBox="1"/>
          <p:nvPr/>
        </p:nvSpPr>
        <p:spPr>
          <a:xfrm>
            <a:off x="2986247" y="5319563"/>
            <a:ext cx="410383" cy="307777"/>
          </a:xfrm>
          <a:prstGeom prst="rect">
            <a:avLst/>
          </a:prstGeom>
          <a:solidFill>
            <a:schemeClr val="bg1"/>
          </a:solidFill>
        </p:spPr>
        <p:txBody>
          <a:bodyPr wrap="square" rtlCol="0">
            <a:spAutoFit/>
          </a:bodyPr>
          <a:lstStyle/>
          <a:p>
            <a:r>
              <a:rPr lang="en-US" altLang="zh-CN" sz="1400" dirty="0"/>
              <a:t>3.7</a:t>
            </a:r>
            <a:endParaRPr lang="zh-CN" altLang="en-US" sz="1400" dirty="0"/>
          </a:p>
        </p:txBody>
      </p:sp>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50213" name="图片 350212"/>
          <p:cNvPicPr>
            <a:picLocks noChangeAspect="1"/>
          </p:cNvPicPr>
          <p:nvPr/>
        </p:nvPicPr>
        <p:blipFill>
          <a:blip r:embed="rId3"/>
          <a:stretch>
            <a:fillRect/>
          </a:stretch>
        </p:blipFill>
        <p:spPr>
          <a:xfrm>
            <a:off x="437795" y="2579668"/>
            <a:ext cx="6834949" cy="3194392"/>
          </a:xfrm>
          <a:prstGeom prst="rect">
            <a:avLst/>
          </a:prstGeom>
          <a:noFill/>
          <a:ln w="9525">
            <a:noFill/>
          </a:ln>
        </p:spPr>
      </p:pic>
      <p:sp>
        <p:nvSpPr>
          <p:cNvPr id="350214" name="矩形 350213"/>
          <p:cNvSpPr/>
          <p:nvPr/>
        </p:nvSpPr>
        <p:spPr>
          <a:xfrm>
            <a:off x="323851" y="851228"/>
            <a:ext cx="7416502" cy="1569660"/>
          </a:xfrm>
          <a:prstGeom prst="rect">
            <a:avLst/>
          </a:prstGeom>
          <a:noFill/>
          <a:ln w="9525">
            <a:noFill/>
          </a:ln>
        </p:spPr>
        <p:txBody>
          <a:bodyPr wrap="square" anchor="ctr">
            <a:spAutoFit/>
          </a:bodyPr>
          <a:lstStyle/>
          <a:p>
            <a:pPr lvl="0" defTabSz="0">
              <a:tabLst>
                <a:tab pos="333375" algn="l"/>
              </a:tabLst>
            </a:pPr>
            <a:r>
              <a:rPr lang="zh-CN" altLang="en-US" sz="2400" b="1" dirty="0">
                <a:latin typeface="Arial" panose="020B0604020202020204" pitchFamily="34" charset="0"/>
                <a:ea typeface="宋体" panose="02010600030101010101" pitchFamily="2" charset="-122"/>
              </a:rPr>
              <a:t>示例：若</a:t>
            </a:r>
            <a:r>
              <a:rPr lang="en-US" altLang="zh-CN" sz="2400" b="1" dirty="0">
                <a:latin typeface="Arial" panose="020B0604020202020204" pitchFamily="34" charset="0"/>
                <a:ea typeface="宋体" panose="02010600030101010101" pitchFamily="2" charset="-122"/>
              </a:rPr>
              <a:t>SP=0100H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SS=2000H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BX=78C2H</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defTabSz="0">
              <a:tabLst>
                <a:tab pos="333375" algn="l"/>
              </a:tabLst>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20100H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=6B48H</a:t>
            </a:r>
            <a:r>
              <a:rPr lang="zh-CN" altLang="en-US" sz="2400" b="1" dirty="0">
                <a:latin typeface="Arial" panose="020B0604020202020204" pitchFamily="34" charset="0"/>
                <a:ea typeface="宋体" panose="02010600030101010101" pitchFamily="2" charset="-122"/>
              </a:rPr>
              <a:t>，则执行指令</a:t>
            </a:r>
            <a:r>
              <a:rPr lang="en-US" altLang="zh-CN" sz="2400" b="1" dirty="0">
                <a:solidFill>
                  <a:srgbClr val="0000FF"/>
                </a:solidFill>
                <a:latin typeface="Arial" panose="020B0604020202020204" pitchFamily="34" charset="0"/>
                <a:ea typeface="宋体" panose="02010600030101010101" pitchFamily="2" charset="-122"/>
              </a:rPr>
              <a:t>POP  BX</a:t>
            </a:r>
            <a:r>
              <a:rPr lang="zh-CN" altLang="en-US" sz="2400" b="1" dirty="0">
                <a:latin typeface="Arial" panose="020B0604020202020204" pitchFamily="34" charset="0"/>
                <a:ea typeface="宋体" panose="02010600030101010101" pitchFamily="2" charset="-122"/>
              </a:rPr>
              <a:t>后，</a:t>
            </a:r>
            <a:endParaRPr lang="en-US" altLang="zh-CN" sz="2400" b="1" dirty="0">
              <a:latin typeface="Arial" panose="020B0604020202020204" pitchFamily="34" charset="0"/>
              <a:ea typeface="宋体" panose="02010600030101010101" pitchFamily="2" charset="-122"/>
            </a:endParaRPr>
          </a:p>
          <a:p>
            <a:pPr lvl="0" defTabSz="0">
              <a:tabLst>
                <a:tab pos="333375" algn="l"/>
              </a:tabLst>
            </a:pPr>
            <a:r>
              <a:rPr lang="en-US" altLang="zh-CN" sz="2400" b="1" dirty="0">
                <a:latin typeface="Arial" panose="020B0604020202020204" pitchFamily="34" charset="0"/>
                <a:ea typeface="宋体" panose="02010600030101010101" pitchFamily="2" charset="-122"/>
              </a:rPr>
              <a:t>SP=0102H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BX=6B48H</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defTabSz="0">
              <a:tabLst>
                <a:tab pos="333375" algn="l"/>
              </a:tabLst>
            </a:pPr>
            <a:r>
              <a:rPr lang="zh-CN" altLang="en-US" sz="2400" b="1" dirty="0">
                <a:latin typeface="Arial" panose="020B0604020202020204" pitchFamily="34" charset="0"/>
                <a:ea typeface="宋体" panose="02010600030101010101" pitchFamily="2" charset="-122"/>
              </a:rPr>
              <a:t>图示为该指令执行前后堆栈变化示意图</a:t>
            </a:r>
          </a:p>
        </p:txBody>
      </p:sp>
      <p:sp>
        <p:nvSpPr>
          <p:cNvPr id="5" name="矩形 4"/>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6" name="文本框 5">
            <a:extLst>
              <a:ext uri="{FF2B5EF4-FFF2-40B4-BE49-F238E27FC236}">
                <a16:creationId xmlns:a16="http://schemas.microsoft.com/office/drawing/2014/main" id="{C9043226-FC2C-4A29-A415-BF24E94C47CA}"/>
              </a:ext>
            </a:extLst>
          </p:cNvPr>
          <p:cNvSpPr txBox="1"/>
          <p:nvPr/>
        </p:nvSpPr>
        <p:spPr>
          <a:xfrm>
            <a:off x="3078882" y="2924944"/>
            <a:ext cx="773882" cy="307777"/>
          </a:xfrm>
          <a:prstGeom prst="rect">
            <a:avLst/>
          </a:prstGeom>
          <a:solidFill>
            <a:schemeClr val="bg1"/>
          </a:solidFill>
        </p:spPr>
        <p:txBody>
          <a:bodyPr wrap="square" rtlCol="0">
            <a:spAutoFit/>
          </a:bodyPr>
          <a:lstStyle/>
          <a:p>
            <a:r>
              <a:rPr lang="en-US" altLang="zh-CN" sz="1400" dirty="0"/>
              <a:t>20000H</a:t>
            </a:r>
            <a:endParaRPr lang="zh-CN" altLang="en-US" sz="1400" dirty="0"/>
          </a:p>
        </p:txBody>
      </p:sp>
      <p:sp>
        <p:nvSpPr>
          <p:cNvPr id="7" name="文本框 6">
            <a:extLst>
              <a:ext uri="{FF2B5EF4-FFF2-40B4-BE49-F238E27FC236}">
                <a16:creationId xmlns:a16="http://schemas.microsoft.com/office/drawing/2014/main" id="{51A75D81-F172-4E02-9035-06DC42A62A9D}"/>
              </a:ext>
            </a:extLst>
          </p:cNvPr>
          <p:cNvSpPr txBox="1"/>
          <p:nvPr/>
        </p:nvSpPr>
        <p:spPr>
          <a:xfrm>
            <a:off x="6693296" y="2949327"/>
            <a:ext cx="773882" cy="307777"/>
          </a:xfrm>
          <a:prstGeom prst="rect">
            <a:avLst/>
          </a:prstGeom>
          <a:solidFill>
            <a:schemeClr val="bg1"/>
          </a:solidFill>
        </p:spPr>
        <p:txBody>
          <a:bodyPr wrap="square" rtlCol="0">
            <a:spAutoFit/>
          </a:bodyPr>
          <a:lstStyle/>
          <a:p>
            <a:r>
              <a:rPr lang="en-US" altLang="zh-CN" sz="1400" dirty="0"/>
              <a:t>20000H</a:t>
            </a:r>
            <a:endParaRPr lang="zh-CN" altLang="en-US" sz="1400" dirty="0"/>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2258" name="矩形 352257"/>
          <p:cNvSpPr/>
          <p:nvPr/>
        </p:nvSpPr>
        <p:spPr>
          <a:xfrm>
            <a:off x="250825" y="1484313"/>
            <a:ext cx="8763000" cy="2529923"/>
          </a:xfrm>
          <a:prstGeom prst="rect">
            <a:avLst/>
          </a:prstGeom>
          <a:noFill/>
          <a:ln w="9525">
            <a:noFill/>
          </a:ln>
        </p:spPr>
        <p:txBody>
          <a:bodyPr>
            <a:spAutoFit/>
          </a:bodyPr>
          <a:lstStyle/>
          <a:p>
            <a:pPr lvl="0" algn="just" eaLnBrk="0" hangingPunct="0">
              <a:spcBef>
                <a:spcPct val="40000"/>
              </a:spcBef>
            </a:pPr>
            <a:r>
              <a:rPr lang="zh-CN" altLang="en-US" sz="2400" b="1" dirty="0">
                <a:latin typeface="宋体" panose="02010600030101010101" pitchFamily="2" charset="-122"/>
                <a:ea typeface="宋体" panose="02010600030101010101" pitchFamily="2" charset="-122"/>
              </a:rPr>
              <a:t>①单操作数指令，且只能是通用寄存器操作数、存储器操作数</a:t>
            </a:r>
          </a:p>
          <a:p>
            <a:pPr lvl="0" algn="just" eaLnBrk="0" hangingPunct="0">
              <a:spcBef>
                <a:spcPct val="40000"/>
              </a:spcBef>
            </a:pPr>
            <a:r>
              <a:rPr lang="zh-CN" altLang="en-US" sz="2400" b="1" dirty="0">
                <a:latin typeface="宋体" panose="02010600030101010101" pitchFamily="2" charset="-122"/>
                <a:ea typeface="宋体" panose="02010600030101010101" pitchFamily="2" charset="-122"/>
              </a:rPr>
              <a:t>②操作数必须是字类型</a:t>
            </a:r>
          </a:p>
          <a:p>
            <a:pPr lvl="0" algn="just" eaLnBrk="0" hangingPunct="0">
              <a:spcBef>
                <a:spcPct val="40000"/>
              </a:spcBef>
            </a:pPr>
            <a:r>
              <a:rPr lang="zh-CN" altLang="en-US" sz="2400" b="1" dirty="0">
                <a:latin typeface="宋体" panose="02010600030101010101" pitchFamily="2" charset="-122"/>
                <a:ea typeface="宋体" panose="02010600030101010101" pitchFamily="2" charset="-122"/>
              </a:rPr>
              <a:t>③内存操作数可以用任意一种有效的寻址方式表示</a:t>
            </a:r>
          </a:p>
          <a:p>
            <a:pPr lvl="0" algn="just" eaLnBrk="0" hangingPunct="0">
              <a:spcBef>
                <a:spcPct val="40000"/>
              </a:spcBef>
            </a:pPr>
            <a:r>
              <a:rPr lang="zh-CN" altLang="en-US" sz="2400" b="1" dirty="0">
                <a:latin typeface="宋体" panose="02010600030101010101" pitchFamily="2" charset="-122"/>
                <a:ea typeface="宋体" panose="02010600030101010101" pitchFamily="2" charset="-122"/>
              </a:rPr>
              <a:t>④操作数可以是段寄存器 </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POP</a:t>
            </a:r>
            <a:r>
              <a:rPr lang="zh-CN" altLang="en-US" sz="2400" b="1" dirty="0">
                <a:latin typeface="Times New Roman" panose="02020603050405020304" pitchFamily="18" charset="0"/>
                <a:ea typeface="宋体" panose="02010600030101010101" pitchFamily="2" charset="-122"/>
              </a:rPr>
              <a:t>指令</a:t>
            </a:r>
            <a:r>
              <a:rPr lang="en-US" altLang="zh-CN" sz="2400" b="1" dirty="0">
                <a:latin typeface="Times New Roman" panose="02020603050405020304" pitchFamily="18" charset="0"/>
                <a:ea typeface="宋体" panose="02010600030101010101" pitchFamily="2" charset="-122"/>
              </a:rPr>
              <a:t>CS</a:t>
            </a:r>
            <a:r>
              <a:rPr lang="zh-CN" altLang="en-US" sz="2400" b="1" dirty="0">
                <a:latin typeface="Times New Roman" panose="02020603050405020304" pitchFamily="18" charset="0"/>
                <a:ea typeface="宋体" panose="02010600030101010101" pitchFamily="2" charset="-122"/>
              </a:rPr>
              <a:t>除外）</a:t>
            </a:r>
          </a:p>
          <a:p>
            <a:pPr lvl="0" algn="just" eaLnBrk="0" hangingPunct="0">
              <a:spcBef>
                <a:spcPct val="40000"/>
              </a:spcBef>
            </a:pPr>
            <a:r>
              <a:rPr lang="zh-CN" altLang="en-US" sz="2400" b="1" dirty="0">
                <a:latin typeface="宋体" panose="02010600030101010101" pitchFamily="2" charset="-122"/>
                <a:ea typeface="宋体" panose="02010600030101010101" pitchFamily="2" charset="-122"/>
              </a:rPr>
              <a:t>⑤指令操作结果不影响标志寄存器</a:t>
            </a:r>
          </a:p>
        </p:txBody>
      </p:sp>
      <p:sp>
        <p:nvSpPr>
          <p:cNvPr id="352259" name="标题 352258"/>
          <p:cNvSpPr>
            <a:spLocks noGrp="1"/>
          </p:cNvSpPr>
          <p:nvPr>
            <p:ph type="title"/>
          </p:nvPr>
        </p:nvSpPr>
        <p:spPr>
          <a:xfrm>
            <a:off x="468313" y="908050"/>
            <a:ext cx="2232025" cy="433388"/>
          </a:xfrm>
          <a:prstGeom prst="flowChartAlternateProcess">
            <a:avLst/>
          </a:prstGeom>
          <a:ln w="28575">
            <a:solidFill>
              <a:schemeClr val="accent1"/>
            </a:solidFill>
            <a:miter/>
          </a:ln>
        </p:spPr>
        <p:txBody>
          <a:bodyPr lIns="0" tIns="0" rIns="0" bIns="0" anchor="ctr"/>
          <a:lstStyle/>
          <a:p>
            <a:pPr algn="l">
              <a:lnSpc>
                <a:spcPct val="90000"/>
              </a:lnSpc>
            </a:pPr>
            <a:r>
              <a:rPr lang="zh-CN" altLang="en-US" sz="2400" b="1" dirty="0">
                <a:solidFill>
                  <a:srgbClr val="0000FF"/>
                </a:solidFill>
              </a:rPr>
              <a:t>堆栈指令小结：</a:t>
            </a:r>
          </a:p>
        </p:txBody>
      </p:sp>
      <p:sp>
        <p:nvSpPr>
          <p:cNvPr id="352260" name="文本占位符 352259"/>
          <p:cNvSpPr>
            <a:spLocks noGrp="1"/>
          </p:cNvSpPr>
          <p:nvPr>
            <p:ph type="body" idx="1"/>
          </p:nvPr>
        </p:nvSpPr>
        <p:spPr>
          <a:xfrm>
            <a:off x="4932363" y="4221163"/>
            <a:ext cx="3384550" cy="1944687"/>
          </a:xfrm>
        </p:spPr>
        <p:txBody>
          <a:bodyPr/>
          <a:lstStyle/>
          <a:p>
            <a:pPr marL="0" indent="0">
              <a:buClrTx/>
              <a:buNone/>
            </a:pPr>
            <a:r>
              <a:rPr lang="zh-CN" altLang="en-US" sz="2400" b="1" dirty="0">
                <a:solidFill>
                  <a:srgbClr val="0000FF"/>
                </a:solidFill>
              </a:rPr>
              <a:t>堆栈作用，常用来：</a:t>
            </a:r>
          </a:p>
          <a:p>
            <a:pPr marL="0" indent="0">
              <a:buClr>
                <a:srgbClr val="0000FF"/>
              </a:buClr>
              <a:buFont typeface="Wingdings" panose="05000000000000000000" pitchFamily="2" charset="2"/>
              <a:buChar char="ü"/>
            </a:pPr>
            <a:r>
              <a:rPr lang="zh-CN" altLang="en-US" sz="2400" b="1" dirty="0"/>
              <a:t>临时存放数据</a:t>
            </a:r>
          </a:p>
          <a:p>
            <a:pPr marL="0" indent="0">
              <a:buClr>
                <a:srgbClr val="0000FF"/>
              </a:buClr>
              <a:buFont typeface="Wingdings" panose="05000000000000000000" pitchFamily="2" charset="2"/>
              <a:buChar char="ü"/>
            </a:pPr>
            <a:r>
              <a:rPr lang="zh-CN" altLang="en-US" sz="2400" b="1" dirty="0"/>
              <a:t>传递参数</a:t>
            </a:r>
          </a:p>
          <a:p>
            <a:pPr marL="0" indent="0">
              <a:buClr>
                <a:srgbClr val="0000FF"/>
              </a:buClr>
              <a:buFont typeface="Wingdings" panose="05000000000000000000" pitchFamily="2" charset="2"/>
              <a:buChar char="ü"/>
            </a:pPr>
            <a:r>
              <a:rPr lang="zh-CN" altLang="en-US" sz="2400" b="1" dirty="0"/>
              <a:t>保存和恢复寄存器</a:t>
            </a: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13" name="矩形 354312"/>
          <p:cNvSpPr/>
          <p:nvPr/>
        </p:nvSpPr>
        <p:spPr>
          <a:xfrm>
            <a:off x="323850" y="792163"/>
            <a:ext cx="2582863" cy="457200"/>
          </a:xfrm>
          <a:prstGeom prst="rect">
            <a:avLst/>
          </a:prstGeom>
          <a:noFill/>
          <a:ln w="9525">
            <a:noFill/>
          </a:ln>
        </p:spPr>
        <p:txBody>
          <a:bodyPr wrap="none" anchor="ctr">
            <a:spAutoFit/>
          </a:bodyPr>
          <a:lstStyle/>
          <a:p>
            <a:pPr lvl="0"/>
            <a:r>
              <a:rPr lang="en-US" altLang="zh-CN" sz="2400" b="1">
                <a:latin typeface="Arial" panose="020B0604020202020204" pitchFamily="34" charset="0"/>
                <a:ea typeface="宋体" panose="02010600030101010101" pitchFamily="2" charset="-122"/>
              </a:rPr>
              <a:t>4</a:t>
            </a:r>
            <a:r>
              <a:rPr lang="zh-CN" altLang="en-US" sz="2400" b="1" dirty="0">
                <a:latin typeface="Arial" panose="020B0604020202020204" pitchFamily="34" charset="0"/>
                <a:ea typeface="宋体" panose="02010600030101010101" pitchFamily="2" charset="-122"/>
              </a:rPr>
              <a:t>、地址传送指令 </a:t>
            </a:r>
          </a:p>
        </p:txBody>
      </p:sp>
      <p:sp>
        <p:nvSpPr>
          <p:cNvPr id="354314" name="矩形 354313"/>
          <p:cNvSpPr/>
          <p:nvPr/>
        </p:nvSpPr>
        <p:spPr>
          <a:xfrm>
            <a:off x="323850" y="1340768"/>
            <a:ext cx="8351838" cy="1569660"/>
          </a:xfrm>
          <a:prstGeom prst="rect">
            <a:avLst/>
          </a:prstGeom>
          <a:noFill/>
          <a:ln w="9525">
            <a:noFill/>
          </a:ln>
        </p:spPr>
        <p:txBody>
          <a:bodyPr anchor="ctr">
            <a:spAutoFit/>
          </a:bodyPr>
          <a:lstStyle/>
          <a:p>
            <a:pPr lvl="0"/>
            <a:r>
              <a:rPr lang="zh-CN" altLang="en-US" sz="2400" b="1" dirty="0">
                <a:solidFill>
                  <a:srgbClr val="0000FF"/>
                </a:solidFill>
                <a:latin typeface="Arial" panose="020B0604020202020204" pitchFamily="34" charset="0"/>
                <a:ea typeface="宋体" panose="02010600030101010101" pitchFamily="2" charset="-122"/>
              </a:rPr>
              <a:t>特点</a:t>
            </a:r>
            <a:r>
              <a:rPr lang="zh-CN" altLang="en-US" sz="2400" b="1" dirty="0">
                <a:latin typeface="Arial" panose="020B0604020202020204" pitchFamily="34" charset="0"/>
                <a:ea typeface="宋体" panose="02010600030101010101" pitchFamily="2" charset="-122"/>
              </a:rPr>
              <a:t>：传送存储器操作数的</a:t>
            </a:r>
            <a:r>
              <a:rPr lang="zh-CN" altLang="en-US" sz="2400" b="1" dirty="0">
                <a:solidFill>
                  <a:srgbClr val="0000FF"/>
                </a:solidFill>
                <a:latin typeface="Arial" panose="020B0604020202020204" pitchFamily="34" charset="0"/>
                <a:ea typeface="宋体" panose="02010600030101010101" pitchFamily="2" charset="-122"/>
              </a:rPr>
              <a:t>地址</a:t>
            </a:r>
            <a:r>
              <a:rPr lang="zh-CN" altLang="en-US" sz="2400" b="1" dirty="0">
                <a:latin typeface="Arial" panose="020B0604020202020204" pitchFamily="34" charset="0"/>
                <a:ea typeface="宋体" panose="02010600030101010101" pitchFamily="2" charset="-122"/>
              </a:rPr>
              <a:t>（偏移地址、段地址）；</a:t>
            </a:r>
            <a:endParaRPr lang="en-US" altLang="zh-CN" sz="2400" b="1" dirty="0">
              <a:latin typeface="Arial" panose="020B0604020202020204" pitchFamily="34" charset="0"/>
              <a:ea typeface="宋体" panose="02010600030101010101" pitchFamily="2" charset="-122"/>
            </a:endParaRPr>
          </a:p>
          <a:p>
            <a:pPr lvl="0"/>
            <a:r>
              <a:rPr lang="zh-CN" altLang="en-US" sz="2400" b="1" dirty="0">
                <a:latin typeface="Arial" panose="020B0604020202020204" pitchFamily="34" charset="0"/>
                <a:ea typeface="宋体" panose="02010600030101010101" pitchFamily="2" charset="-122"/>
              </a:rPr>
              <a:t>对标志寄存器的各状态标志位均</a:t>
            </a:r>
            <a:r>
              <a:rPr lang="zh-CN" altLang="en-US" sz="2400" b="1" dirty="0">
                <a:solidFill>
                  <a:srgbClr val="0000FF"/>
                </a:solidFill>
                <a:latin typeface="Arial" panose="020B0604020202020204" pitchFamily="34" charset="0"/>
                <a:ea typeface="宋体" panose="02010600030101010101" pitchFamily="2" charset="-122"/>
              </a:rPr>
              <a:t>无影响</a:t>
            </a:r>
            <a:r>
              <a:rPr lang="zh-CN" altLang="en-US" sz="2400" b="1" dirty="0">
                <a:latin typeface="Arial" panose="020B0604020202020204" pitchFamily="34" charset="0"/>
              </a:rPr>
              <a:t>；</a:t>
            </a:r>
            <a:endParaRPr lang="en-US" altLang="zh-CN" sz="2400" b="1" dirty="0">
              <a:latin typeface="Arial" panose="020B0604020202020204" pitchFamily="34" charset="0"/>
            </a:endParaRPr>
          </a:p>
          <a:p>
            <a:pPr lvl="0"/>
            <a:r>
              <a:rPr lang="zh-CN" altLang="en-US" sz="2400" b="1" dirty="0">
                <a:latin typeface="Arial" panose="020B0604020202020204" pitchFamily="34" charset="0"/>
                <a:ea typeface="宋体" panose="02010600030101010101" pitchFamily="2" charset="-122"/>
              </a:rPr>
              <a:t>源操作数必须是</a:t>
            </a:r>
            <a:r>
              <a:rPr lang="zh-CN" altLang="en-US" sz="2400" b="1" dirty="0">
                <a:solidFill>
                  <a:srgbClr val="0000FF"/>
                </a:solidFill>
                <a:latin typeface="Arial" panose="020B0604020202020204" pitchFamily="34" charset="0"/>
                <a:ea typeface="宋体" panose="02010600030101010101" pitchFamily="2" charset="-122"/>
              </a:rPr>
              <a:t>存储器操作数</a:t>
            </a:r>
            <a:r>
              <a:rPr lang="zh-CN" altLang="en-US" sz="2400" b="1" dirty="0">
                <a:latin typeface="Arial" panose="020B0604020202020204" pitchFamily="34" charset="0"/>
                <a:ea typeface="宋体" panose="02010600030101010101" pitchFamily="2" charset="-122"/>
              </a:rPr>
              <a:t>，目的操作数可以是任何一个</a:t>
            </a:r>
            <a:r>
              <a:rPr lang="en-US" altLang="zh-CN" sz="2400" b="1" dirty="0">
                <a:latin typeface="Arial" panose="020B0604020202020204" pitchFamily="34" charset="0"/>
                <a:ea typeface="宋体" panose="02010600030101010101" pitchFamily="2" charset="-122"/>
              </a:rPr>
              <a:t>16 </a:t>
            </a:r>
            <a:r>
              <a:rPr lang="zh-CN" altLang="en-US" sz="2400" b="1" dirty="0">
                <a:latin typeface="Arial" panose="020B0604020202020204" pitchFamily="34" charset="0"/>
                <a:ea typeface="宋体" panose="02010600030101010101" pitchFamily="2" charset="-122"/>
              </a:rPr>
              <a:t>位的</a:t>
            </a:r>
            <a:r>
              <a:rPr lang="zh-CN" altLang="en-US" sz="2400" b="1" dirty="0">
                <a:solidFill>
                  <a:srgbClr val="0000FF"/>
                </a:solidFill>
                <a:latin typeface="Arial" panose="020B0604020202020204" pitchFamily="34" charset="0"/>
                <a:ea typeface="宋体" panose="02010600030101010101" pitchFamily="2" charset="-122"/>
              </a:rPr>
              <a:t>通用寄存器</a:t>
            </a:r>
            <a:r>
              <a:rPr lang="zh-CN" altLang="en-US" sz="2400" b="1" dirty="0">
                <a:latin typeface="Arial" panose="020B0604020202020204" pitchFamily="34" charset="0"/>
                <a:ea typeface="宋体" panose="02010600030101010101" pitchFamily="2" charset="-122"/>
              </a:rPr>
              <a:t> </a:t>
            </a:r>
          </a:p>
        </p:txBody>
      </p:sp>
      <p:grpSp>
        <p:nvGrpSpPr>
          <p:cNvPr id="354315" name="组合 354314"/>
          <p:cNvGrpSpPr/>
          <p:nvPr/>
        </p:nvGrpSpPr>
        <p:grpSpPr>
          <a:xfrm>
            <a:off x="2987675" y="3523456"/>
            <a:ext cx="2590800" cy="2209800"/>
            <a:chOff x="2928" y="1968"/>
            <a:chExt cx="1632" cy="1392"/>
          </a:xfrm>
        </p:grpSpPr>
        <p:sp>
          <p:nvSpPr>
            <p:cNvPr id="354316" name="椭圆 354315" descr="DI-43"/>
            <p:cNvSpPr/>
            <p:nvPr/>
          </p:nvSpPr>
          <p:spPr>
            <a:xfrm>
              <a:off x="3456" y="1968"/>
              <a:ext cx="576" cy="576"/>
            </a:xfrm>
            <a:prstGeom prst="ellipse">
              <a:avLst/>
            </a:prstGeom>
            <a:blipFill rotWithShape="0">
              <a:blip r:embed="rId3"/>
              <a:stretch>
                <a:fillRect/>
              </a:stretch>
            </a:blipFill>
            <a:ln w="9525">
              <a:noFill/>
            </a:ln>
          </p:spPr>
          <p:txBody>
            <a:bodyPr wrap="none" anchor="ctr"/>
            <a:lstStyle/>
            <a:p>
              <a:pPr lvl="0" algn="ctr"/>
              <a:r>
                <a:rPr lang="en-US" altLang="zh-CN" sz="2400" b="1">
                  <a:solidFill>
                    <a:srgbClr val="0000FF"/>
                  </a:solidFill>
                  <a:effectLst>
                    <a:outerShdw blurRad="38100" dist="38100" dir="2700000">
                      <a:srgbClr val="000000"/>
                    </a:outerShdw>
                  </a:effectLst>
                  <a:latin typeface="Arial" panose="020B0604020202020204" pitchFamily="34" charset="0"/>
                  <a:ea typeface="宋体" panose="02010600030101010101" pitchFamily="2" charset="-122"/>
                </a:rPr>
                <a:t>LEA</a:t>
              </a:r>
            </a:p>
          </p:txBody>
        </p:sp>
        <p:sp>
          <p:nvSpPr>
            <p:cNvPr id="354317" name="椭圆 354316" descr="DI-43"/>
            <p:cNvSpPr/>
            <p:nvPr/>
          </p:nvSpPr>
          <p:spPr>
            <a:xfrm>
              <a:off x="2928" y="2784"/>
              <a:ext cx="576" cy="576"/>
            </a:xfrm>
            <a:prstGeom prst="ellipse">
              <a:avLst/>
            </a:prstGeom>
            <a:blipFill rotWithShape="0">
              <a:blip r:embed="rId3"/>
              <a:stretch>
                <a:fillRect/>
              </a:stretch>
            </a:blipFill>
            <a:ln w="9525">
              <a:noFill/>
            </a:ln>
          </p:spPr>
          <p:txBody>
            <a:bodyPr wrap="none" anchor="ctr"/>
            <a:lstStyle/>
            <a:p>
              <a:pPr lvl="0" algn="ctr"/>
              <a:r>
                <a:rPr lang="en-US" altLang="zh-CN" sz="2400" b="1">
                  <a:solidFill>
                    <a:srgbClr val="0000FF"/>
                  </a:solidFill>
                  <a:effectLst>
                    <a:outerShdw blurRad="38100" dist="38100" dir="2700000">
                      <a:srgbClr val="000000"/>
                    </a:outerShdw>
                  </a:effectLst>
                  <a:latin typeface="Arial" panose="020B0604020202020204" pitchFamily="34" charset="0"/>
                  <a:ea typeface="宋体" panose="02010600030101010101" pitchFamily="2" charset="-122"/>
                </a:rPr>
                <a:t>LDS</a:t>
              </a:r>
            </a:p>
          </p:txBody>
        </p:sp>
        <p:sp>
          <p:nvSpPr>
            <p:cNvPr id="354318" name="椭圆 354317" descr="DI-43"/>
            <p:cNvSpPr/>
            <p:nvPr/>
          </p:nvSpPr>
          <p:spPr>
            <a:xfrm>
              <a:off x="3984" y="2784"/>
              <a:ext cx="576" cy="576"/>
            </a:xfrm>
            <a:prstGeom prst="ellipse">
              <a:avLst/>
            </a:prstGeom>
            <a:blipFill rotWithShape="0">
              <a:blip r:embed="rId3"/>
              <a:stretch>
                <a:fillRect/>
              </a:stretch>
            </a:blipFill>
            <a:ln w="9525">
              <a:noFill/>
            </a:ln>
          </p:spPr>
          <p:txBody>
            <a:bodyPr wrap="none" anchor="ctr"/>
            <a:lstStyle/>
            <a:p>
              <a:pPr lvl="0" algn="ctr"/>
              <a:r>
                <a:rPr lang="en-US" altLang="zh-CN" sz="2400" b="1">
                  <a:solidFill>
                    <a:srgbClr val="0000FF"/>
                  </a:solidFill>
                  <a:effectLst>
                    <a:outerShdw blurRad="38100" dist="38100" dir="2700000">
                      <a:srgbClr val="000000"/>
                    </a:outerShdw>
                  </a:effectLst>
                  <a:latin typeface="Arial" panose="020B0604020202020204" pitchFamily="34" charset="0"/>
                  <a:ea typeface="宋体" panose="02010600030101010101" pitchFamily="2" charset="-122"/>
                </a:rPr>
                <a:t>LES</a:t>
              </a:r>
            </a:p>
          </p:txBody>
        </p:sp>
      </p:grpSp>
      <p:sp>
        <p:nvSpPr>
          <p:cNvPr id="9" name="矩形 8"/>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标题 356353"/>
          <p:cNvSpPr>
            <a:spLocks noGrp="1"/>
          </p:cNvSpPr>
          <p:nvPr>
            <p:ph type="title"/>
          </p:nvPr>
        </p:nvSpPr>
        <p:spPr>
          <a:xfrm>
            <a:off x="468313" y="764704"/>
            <a:ext cx="4319587" cy="496887"/>
          </a:xfrm>
        </p:spPr>
        <p:txBody>
          <a:bodyPr anchor="ctr"/>
          <a:lstStyle/>
          <a:p>
            <a:pPr algn="l"/>
            <a:r>
              <a:rPr lang="zh-CN" altLang="en-US" sz="2400" b="1" dirty="0">
                <a:solidFill>
                  <a:schemeClr val="tx1"/>
                </a:solidFill>
              </a:rPr>
              <a:t>（</a:t>
            </a:r>
            <a:r>
              <a:rPr lang="en-US" altLang="zh-CN" sz="2400" b="1" dirty="0">
                <a:solidFill>
                  <a:schemeClr val="tx1"/>
                </a:solidFill>
              </a:rPr>
              <a:t>1</a:t>
            </a:r>
            <a:r>
              <a:rPr lang="zh-CN" altLang="en-US" sz="2400" b="1" dirty="0">
                <a:solidFill>
                  <a:schemeClr val="tx1"/>
                </a:solidFill>
              </a:rPr>
              <a:t>）有效地址传送指令</a:t>
            </a:r>
            <a:r>
              <a:rPr lang="en-US" altLang="zh-CN" sz="2400" b="1" dirty="0">
                <a:solidFill>
                  <a:schemeClr val="tx1"/>
                </a:solidFill>
              </a:rPr>
              <a:t>LEA</a:t>
            </a:r>
          </a:p>
        </p:txBody>
      </p:sp>
      <p:sp>
        <p:nvSpPr>
          <p:cNvPr id="356357" name="流程图: 可选过程 356356"/>
          <p:cNvSpPr/>
          <p:nvPr/>
        </p:nvSpPr>
        <p:spPr>
          <a:xfrm>
            <a:off x="2051050" y="1412776"/>
            <a:ext cx="6769100" cy="601662"/>
          </a:xfrm>
          <a:prstGeom prst="flowChartAlternateProcess">
            <a:avLst/>
          </a:prstGeom>
          <a:solidFill>
            <a:srgbClr val="FFFFFF"/>
          </a:solidFill>
          <a:ln w="12700">
            <a:noFill/>
          </a:ln>
          <a:effectLst>
            <a:prstShdw prst="shdw13" dist="53882" dir="13499999">
              <a:srgbClr val="808080"/>
            </a:prstShdw>
          </a:effectLst>
        </p:spPr>
        <p:txBody>
          <a:bodyPr/>
          <a:lstStyle/>
          <a:p>
            <a:pPr lvl="0" defTabSz="0">
              <a:spcBef>
                <a:spcPct val="50000"/>
              </a:spcBef>
              <a:tabLst>
                <a:tab pos="2289175" algn="l"/>
              </a:tabLst>
            </a:pPr>
            <a:r>
              <a:rPr lang="en-US" altLang="zh-CN" sz="2400" b="1" dirty="0">
                <a:latin typeface="宋体" panose="02010600030101010101" pitchFamily="2" charset="-122"/>
                <a:ea typeface="宋体" panose="02010600030101010101" pitchFamily="2" charset="-122"/>
              </a:rPr>
              <a:t>LEA r16,mem</a:t>
            </a:r>
            <a:r>
              <a:rPr lang="en-US" altLang="zh-CN" sz="2400" b="1" dirty="0">
                <a:solidFill>
                  <a:schemeClr val="bg2"/>
                </a:solidFill>
                <a:latin typeface="宋体" panose="02010600030101010101" pitchFamily="2" charset="-122"/>
                <a:ea typeface="宋体" panose="02010600030101010101" pitchFamily="2" charset="-122"/>
              </a:rPr>
              <a:t>        </a:t>
            </a: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r16←mem</a:t>
            </a:r>
            <a:r>
              <a:rPr lang="zh-CN" altLang="en-US" sz="2400" b="1" dirty="0">
                <a:solidFill>
                  <a:srgbClr val="0000FF"/>
                </a:solidFill>
                <a:latin typeface="宋体" panose="02010600030101010101" pitchFamily="2" charset="-122"/>
                <a:ea typeface="宋体" panose="02010600030101010101" pitchFamily="2" charset="-122"/>
              </a:rPr>
              <a:t>的</a:t>
            </a:r>
            <a:r>
              <a:rPr lang="zh-CN" altLang="en-US" sz="2400" b="1" dirty="0">
                <a:solidFill>
                  <a:schemeClr val="accent1"/>
                </a:solidFill>
                <a:latin typeface="Times New Roman" panose="02020603050405020304" pitchFamily="18" charset="0"/>
                <a:ea typeface="宋体" panose="02010600030101010101" pitchFamily="2" charset="-122"/>
              </a:rPr>
              <a:t>有效地址</a:t>
            </a:r>
            <a:r>
              <a:rPr lang="en-US" altLang="zh-CN" sz="2400" b="1" dirty="0">
                <a:solidFill>
                  <a:srgbClr val="0000FF"/>
                </a:solidFill>
                <a:latin typeface="宋体" panose="02010600030101010101" pitchFamily="2" charset="-122"/>
                <a:ea typeface="宋体" panose="02010600030101010101" pitchFamily="2" charset="-122"/>
              </a:rPr>
              <a:t>EA</a:t>
            </a:r>
          </a:p>
        </p:txBody>
      </p:sp>
      <p:sp>
        <p:nvSpPr>
          <p:cNvPr id="356358" name="矩形 356357"/>
          <p:cNvSpPr/>
          <p:nvPr/>
        </p:nvSpPr>
        <p:spPr>
          <a:xfrm>
            <a:off x="215900" y="2852738"/>
            <a:ext cx="8839200" cy="3096542"/>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a:lnSpc>
                <a:spcPct val="105000"/>
              </a:lnSpc>
              <a:spcBef>
                <a:spcPct val="0"/>
              </a:spcBef>
              <a:buClrTx/>
              <a:buNone/>
            </a:pPr>
            <a:r>
              <a:rPr lang="zh-CN" altLang="en-US" sz="2400" b="1" dirty="0"/>
              <a:t>例：设</a:t>
            </a:r>
            <a:r>
              <a:rPr lang="en-US" altLang="zh-CN" sz="2400" b="1" dirty="0"/>
              <a:t>BX=0400H</a:t>
            </a:r>
            <a:r>
              <a:rPr lang="zh-CN" altLang="en-US" sz="2400" b="1" dirty="0"/>
              <a:t>，</a:t>
            </a:r>
            <a:r>
              <a:rPr lang="en-US" altLang="zh-CN" sz="2400" b="1" dirty="0"/>
              <a:t>SI=003CH</a:t>
            </a:r>
          </a:p>
          <a:p>
            <a:pPr marL="0" lvl="0" indent="0">
              <a:lnSpc>
                <a:spcPct val="105000"/>
              </a:lnSpc>
              <a:spcBef>
                <a:spcPct val="0"/>
              </a:spcBef>
              <a:buClrTx/>
              <a:buNone/>
            </a:pPr>
            <a:r>
              <a:rPr lang="en-US" altLang="zh-CN" sz="2400" b="1" dirty="0"/>
              <a:t>       LEA BP</a:t>
            </a:r>
            <a:r>
              <a:rPr lang="zh-CN" altLang="en-US" sz="2400" b="1" dirty="0"/>
              <a:t>，</a:t>
            </a:r>
            <a:r>
              <a:rPr lang="en-US" altLang="zh-CN" sz="2400" b="1" dirty="0"/>
              <a:t>[2050h]</a:t>
            </a:r>
            <a:r>
              <a:rPr lang="zh-CN" altLang="en-US" sz="2400" b="1" dirty="0"/>
              <a:t>　　　　　　； </a:t>
            </a:r>
            <a:r>
              <a:rPr lang="en-US" altLang="zh-CN" sz="2400" b="1" dirty="0"/>
              <a:t>BP=2050H</a:t>
            </a:r>
          </a:p>
          <a:p>
            <a:pPr marL="0" lvl="0" indent="0">
              <a:lnSpc>
                <a:spcPct val="105000"/>
              </a:lnSpc>
              <a:spcBef>
                <a:spcPct val="0"/>
              </a:spcBef>
              <a:buClrTx/>
              <a:buNone/>
            </a:pPr>
            <a:r>
              <a:rPr lang="en-US" altLang="zh-CN" sz="2400" b="1" dirty="0"/>
              <a:t>       LEA BP</a:t>
            </a:r>
            <a:r>
              <a:rPr lang="zh-CN" altLang="en-US" sz="2400" b="1" dirty="0"/>
              <a:t>，</a:t>
            </a:r>
            <a:r>
              <a:rPr lang="en-US" altLang="zh-CN" sz="2400" b="1" dirty="0"/>
              <a:t>[SI]</a:t>
            </a:r>
            <a:r>
              <a:rPr lang="zh-CN" altLang="en-US" sz="2400" b="1" dirty="0"/>
              <a:t>　　　　　　　　；</a:t>
            </a:r>
            <a:r>
              <a:rPr lang="en-US" altLang="zh-CN" sz="2400" b="1" dirty="0"/>
              <a:t>BP=003CH</a:t>
            </a:r>
          </a:p>
          <a:p>
            <a:pPr marL="0" lvl="0" indent="0">
              <a:lnSpc>
                <a:spcPct val="105000"/>
              </a:lnSpc>
              <a:spcBef>
                <a:spcPct val="0"/>
              </a:spcBef>
              <a:buClrTx/>
              <a:buNone/>
            </a:pPr>
            <a:r>
              <a:rPr lang="zh-CN" altLang="en-US" sz="2400" b="1" dirty="0"/>
              <a:t>　   </a:t>
            </a:r>
            <a:r>
              <a:rPr lang="en-US" altLang="zh-CN" sz="2400" b="1" dirty="0"/>
              <a:t>LEA BX</a:t>
            </a:r>
            <a:r>
              <a:rPr lang="zh-CN" altLang="en-US" sz="2400" b="1" dirty="0"/>
              <a:t>，</a:t>
            </a:r>
            <a:r>
              <a:rPr lang="en-US" altLang="zh-CN" sz="2400" b="1" dirty="0"/>
              <a:t>[BX+SI+0F62H]</a:t>
            </a:r>
            <a:r>
              <a:rPr lang="zh-CN" altLang="en-US" sz="2400" b="1" dirty="0"/>
              <a:t>　　  ； </a:t>
            </a:r>
            <a:r>
              <a:rPr lang="en-US" altLang="zh-CN" sz="2400" b="1" dirty="0"/>
              <a:t>BX=139EH</a:t>
            </a:r>
          </a:p>
          <a:p>
            <a:pPr marL="0" lvl="0" indent="0">
              <a:lnSpc>
                <a:spcPct val="105000"/>
              </a:lnSpc>
              <a:spcBef>
                <a:spcPct val="0"/>
              </a:spcBef>
              <a:buClrTx/>
              <a:buNone/>
            </a:pPr>
            <a:endParaRPr lang="en-US" altLang="zh-CN" sz="2400" b="1" dirty="0"/>
          </a:p>
          <a:p>
            <a:pPr marL="0" lvl="0" indent="0">
              <a:lnSpc>
                <a:spcPct val="105000"/>
              </a:lnSpc>
              <a:spcBef>
                <a:spcPct val="0"/>
              </a:spcBef>
              <a:buClrTx/>
              <a:buNone/>
            </a:pPr>
            <a:r>
              <a:rPr lang="zh-CN" altLang="en-US" sz="2400" b="1" dirty="0"/>
              <a:t>说明：①“</a:t>
            </a:r>
            <a:r>
              <a:rPr lang="en-US" altLang="zh-CN" sz="2400" b="1" dirty="0"/>
              <a:t>r16”</a:t>
            </a:r>
            <a:r>
              <a:rPr lang="zh-CN" altLang="en-US" sz="2400" b="1" dirty="0"/>
              <a:t>通常为寄存器</a:t>
            </a:r>
            <a:r>
              <a:rPr lang="en-US" altLang="zh-CN" sz="2400" b="1" dirty="0"/>
              <a:t>BX</a:t>
            </a:r>
            <a:r>
              <a:rPr lang="zh-CN" altLang="en-US" sz="2400" b="1" dirty="0"/>
              <a:t>、</a:t>
            </a:r>
            <a:r>
              <a:rPr lang="en-US" altLang="zh-CN" sz="2400" b="1" dirty="0"/>
              <a:t>BP</a:t>
            </a:r>
            <a:r>
              <a:rPr lang="zh-CN" altLang="en-US" sz="2400" b="1" dirty="0"/>
              <a:t>、</a:t>
            </a:r>
            <a:r>
              <a:rPr lang="en-US" altLang="zh-CN" sz="2400" b="1" dirty="0"/>
              <a:t>SI</a:t>
            </a:r>
            <a:r>
              <a:rPr lang="zh-CN" altLang="en-US" sz="2400" b="1" dirty="0"/>
              <a:t>、</a:t>
            </a:r>
            <a:r>
              <a:rPr lang="en-US" altLang="zh-CN" sz="2400" b="1" dirty="0"/>
              <a:t>DI</a:t>
            </a:r>
            <a:r>
              <a:rPr lang="zh-CN" altLang="en-US" sz="2400" b="1" dirty="0"/>
              <a:t>。</a:t>
            </a:r>
          </a:p>
          <a:p>
            <a:pPr marL="0" lvl="0" indent="0">
              <a:lnSpc>
                <a:spcPct val="105000"/>
              </a:lnSpc>
              <a:spcBef>
                <a:spcPct val="0"/>
              </a:spcBef>
              <a:buClrTx/>
              <a:buNone/>
            </a:pPr>
            <a:r>
              <a:rPr lang="zh-CN" altLang="en-US" sz="2400" b="1" dirty="0"/>
              <a:t>            ②源操作数</a:t>
            </a:r>
            <a:r>
              <a:rPr lang="en-US" altLang="zh-CN" sz="2400" b="1" dirty="0" err="1"/>
              <a:t>mem</a:t>
            </a:r>
            <a:r>
              <a:rPr lang="zh-CN" altLang="en-US" sz="2400" b="1" dirty="0"/>
              <a:t>为存储器操作数，常用变量名，而不是上面例子中举的形式，如：</a:t>
            </a:r>
            <a:r>
              <a:rPr lang="en-US" altLang="zh-CN" sz="2400" b="1" dirty="0"/>
              <a:t>LEA  BX</a:t>
            </a:r>
            <a:r>
              <a:rPr lang="zh-CN" altLang="en-US" sz="2400" b="1" dirty="0"/>
              <a:t>，</a:t>
            </a:r>
            <a:r>
              <a:rPr lang="en-US" altLang="zh-CN" sz="2400" b="1" dirty="0"/>
              <a:t>BUFFER</a:t>
            </a:r>
            <a:r>
              <a:rPr lang="zh-CN" altLang="en-US" sz="2400" b="1" dirty="0"/>
              <a:t>。</a:t>
            </a:r>
          </a:p>
        </p:txBody>
      </p:sp>
      <p:sp>
        <p:nvSpPr>
          <p:cNvPr id="356361" name="文本占位符 356360"/>
          <p:cNvSpPr>
            <a:spLocks noGrp="1"/>
          </p:cNvSpPr>
          <p:nvPr>
            <p:ph type="body" idx="1"/>
          </p:nvPr>
        </p:nvSpPr>
        <p:spPr>
          <a:xfrm>
            <a:off x="395288" y="2204864"/>
            <a:ext cx="8497887" cy="431800"/>
          </a:xfrm>
        </p:spPr>
        <p:txBody>
          <a:bodyPr/>
          <a:lstStyle/>
          <a:p>
            <a:pPr>
              <a:lnSpc>
                <a:spcPct val="90000"/>
              </a:lnSpc>
              <a:buClrTx/>
              <a:buNone/>
            </a:pPr>
            <a:r>
              <a:rPr lang="zh-CN" altLang="en-US" sz="2400" b="1" dirty="0"/>
              <a:t>功能：将源操作数的偏移地址传送给指定的</a:t>
            </a:r>
            <a:r>
              <a:rPr lang="en-US" altLang="zh-CN" sz="2400" b="1" dirty="0"/>
              <a:t>16</a:t>
            </a:r>
            <a:r>
              <a:rPr lang="zh-CN" altLang="en-US" sz="2400" b="1" dirty="0"/>
              <a:t>位寄存器</a:t>
            </a:r>
          </a:p>
        </p:txBody>
      </p:sp>
      <p:sp>
        <p:nvSpPr>
          <p:cNvPr id="356362" name="矩形 356361"/>
          <p:cNvSpPr/>
          <p:nvPr/>
        </p:nvSpPr>
        <p:spPr>
          <a:xfrm>
            <a:off x="539750" y="1431826"/>
            <a:ext cx="796925" cy="457200"/>
          </a:xfrm>
          <a:prstGeom prst="rect">
            <a:avLst/>
          </a:prstGeom>
          <a:noFill/>
          <a:ln w="9525">
            <a:noFill/>
          </a:ln>
        </p:spPr>
        <p:txBody>
          <a:bodyPr wrap="none" anchor="t">
            <a:spAutoFit/>
          </a:bodyPr>
          <a:lstStyle/>
          <a:p>
            <a:pPr lvl="0">
              <a:buClrTx/>
            </a:pPr>
            <a:r>
              <a:rPr lang="zh-CN" altLang="en-US" sz="2400" b="1" dirty="0">
                <a:latin typeface="Arial" panose="020B0604020202020204" pitchFamily="34" charset="0"/>
                <a:ea typeface="宋体" panose="02010600030101010101" pitchFamily="2" charset="-122"/>
              </a:rPr>
              <a:t>格式</a:t>
            </a:r>
          </a:p>
        </p:txBody>
      </p:sp>
      <p:sp>
        <p:nvSpPr>
          <p:cNvPr id="8" name="矩形 7"/>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0" name="矩形 358409"/>
          <p:cNvSpPr/>
          <p:nvPr/>
        </p:nvSpPr>
        <p:spPr>
          <a:xfrm>
            <a:off x="250825" y="895360"/>
            <a:ext cx="8497888" cy="2677656"/>
          </a:xfrm>
          <a:prstGeom prst="rect">
            <a:avLst/>
          </a:prstGeom>
          <a:noFill/>
          <a:ln w="9525">
            <a:noFill/>
          </a:ln>
        </p:spPr>
        <p:txBody>
          <a:bodyPr anchor="ctr">
            <a:spAutoFit/>
          </a:bodyPr>
          <a:lstStyle/>
          <a:p>
            <a:pPr lvl="0" indent="533400" defTabSz="0">
              <a:buClrTx/>
              <a:tabLst>
                <a:tab pos="333375" algn="l"/>
              </a:tabLst>
            </a:pPr>
            <a:r>
              <a:rPr lang="zh-CN" altLang="en-US" sz="2400" b="1" dirty="0">
                <a:latin typeface="Arial" panose="020B0604020202020204" pitchFamily="34" charset="0"/>
                <a:ea typeface="宋体" panose="02010600030101010101" pitchFamily="2" charset="-122"/>
              </a:rPr>
              <a:t>示例：设</a:t>
            </a:r>
            <a:r>
              <a:rPr lang="en-US" altLang="zh-CN" sz="2400" b="1" dirty="0">
                <a:latin typeface="Arial" panose="020B0604020202020204" pitchFamily="34" charset="0"/>
                <a:ea typeface="宋体" panose="02010600030101010101" pitchFamily="2" charset="-122"/>
              </a:rPr>
              <a:t>BX=1000H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DS=6000H</a:t>
            </a: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[61032H]=33H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[61033H]=44H</a:t>
            </a:r>
            <a:r>
              <a:rPr lang="zh-CN" altLang="en-US" sz="2400" b="1" dirty="0">
                <a:latin typeface="Arial" panose="020B0604020202020204" pitchFamily="34" charset="0"/>
                <a:ea typeface="宋体" panose="02010600030101010101" pitchFamily="2" charset="-122"/>
              </a:rPr>
              <a:t>，试比较以下两条</a:t>
            </a:r>
            <a:r>
              <a:rPr lang="zh-CN" altLang="en-US" sz="2400" b="1" dirty="0">
                <a:latin typeface="Arial" panose="020B0604020202020204" pitchFamily="34" charset="0"/>
              </a:rPr>
              <a:t>指令的执行结果</a:t>
            </a:r>
            <a:r>
              <a:rPr lang="zh-CN" altLang="en-US" sz="2400" b="1" dirty="0">
                <a:latin typeface="Arial" panose="020B0604020202020204" pitchFamily="34" charset="0"/>
                <a:ea typeface="宋体" panose="02010600030101010101" pitchFamily="2" charset="-122"/>
              </a:rPr>
              <a:t>。</a:t>
            </a:r>
          </a:p>
          <a:p>
            <a:pPr lvl="0" indent="533400" defTabSz="0">
              <a:buClrTx/>
              <a:tabLst>
                <a:tab pos="333375" algn="l"/>
              </a:tabLst>
            </a:pPr>
            <a:r>
              <a:rPr lang="en-US" altLang="zh-CN" sz="2400" b="1" dirty="0">
                <a:latin typeface="Arial" panose="020B0604020202020204" pitchFamily="34" charset="0"/>
                <a:ea typeface="宋体" panose="02010600030101010101" pitchFamily="2" charset="-122"/>
              </a:rPr>
              <a:t>        </a:t>
            </a:r>
            <a:r>
              <a:rPr lang="en-US" altLang="zh-CN" sz="2400" b="1" dirty="0">
                <a:solidFill>
                  <a:srgbClr val="0000FF"/>
                </a:solidFill>
                <a:latin typeface="Arial" panose="020B0604020202020204" pitchFamily="34" charset="0"/>
                <a:ea typeface="宋体" panose="02010600030101010101" pitchFamily="2" charset="-122"/>
              </a:rPr>
              <a:t>LEA  BX,50[BX]</a:t>
            </a:r>
          </a:p>
          <a:p>
            <a:pPr lvl="0" indent="533400" defTabSz="0">
              <a:buClrTx/>
              <a:tabLst>
                <a:tab pos="333375" algn="l"/>
              </a:tabLst>
            </a:pPr>
            <a:r>
              <a:rPr lang="en-US" altLang="zh-CN" sz="2400" b="1" dirty="0">
                <a:solidFill>
                  <a:srgbClr val="0000FF"/>
                </a:solidFill>
                <a:latin typeface="Arial" panose="020B0604020202020204" pitchFamily="34" charset="0"/>
                <a:ea typeface="宋体" panose="02010600030101010101" pitchFamily="2" charset="-122"/>
              </a:rPr>
              <a:t>        MOV  BX,50[BX]</a:t>
            </a:r>
          </a:p>
          <a:p>
            <a:pPr lvl="0" indent="533400" defTabSz="0">
              <a:buClrTx/>
              <a:tabLst>
                <a:tab pos="333375" algn="l"/>
              </a:tabLst>
            </a:pPr>
            <a:endParaRPr lang="en-US" altLang="zh-CN" sz="2400" b="1" dirty="0">
              <a:latin typeface="Arial" panose="020B0604020202020204" pitchFamily="34" charset="0"/>
              <a:ea typeface="宋体" panose="02010600030101010101" pitchFamily="2" charset="-122"/>
            </a:endParaRPr>
          </a:p>
          <a:p>
            <a:pPr lvl="0" indent="533400" defTabSz="0">
              <a:buClrTx/>
              <a:tabLst>
                <a:tab pos="333375" algn="l"/>
              </a:tabLst>
            </a:pPr>
            <a:r>
              <a:rPr lang="zh-CN" altLang="en-US" sz="2400" b="1" dirty="0">
                <a:latin typeface="Arial" panose="020B0604020202020204" pitchFamily="34" charset="0"/>
                <a:ea typeface="宋体" panose="02010600030101010101" pitchFamily="2" charset="-122"/>
              </a:rPr>
              <a:t>分析：执行第一条指令后，</a:t>
            </a:r>
            <a:r>
              <a:rPr lang="en-US" altLang="zh-CN" sz="2400" b="1" dirty="0">
                <a:latin typeface="Arial" panose="020B0604020202020204" pitchFamily="34" charset="0"/>
                <a:ea typeface="宋体" panose="02010600030101010101" pitchFamily="2" charset="-122"/>
              </a:rPr>
              <a:t>BX=1032H</a:t>
            </a:r>
            <a:r>
              <a:rPr lang="zh-CN" altLang="en-US"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a:p>
            <a:pPr lvl="0" indent="533400" defTabSz="0">
              <a:buClrTx/>
              <a:tabLst>
                <a:tab pos="333375" algn="l"/>
              </a:tabLst>
            </a:pPr>
            <a:r>
              <a:rPr lang="zh-CN" altLang="en-US" sz="2400" b="1" dirty="0">
                <a:latin typeface="Arial" panose="020B0604020202020204" pitchFamily="34" charset="0"/>
                <a:ea typeface="宋体" panose="02010600030101010101" pitchFamily="2" charset="-122"/>
              </a:rPr>
              <a:t>执行第二条指令后，</a:t>
            </a:r>
            <a:r>
              <a:rPr lang="en-US" altLang="zh-CN" sz="2400" b="1" dirty="0">
                <a:latin typeface="Arial" panose="020B0604020202020204" pitchFamily="34" charset="0"/>
                <a:ea typeface="宋体" panose="02010600030101010101" pitchFamily="2" charset="-122"/>
              </a:rPr>
              <a:t>BX=4433H </a:t>
            </a:r>
          </a:p>
        </p:txBody>
      </p:sp>
      <p:sp>
        <p:nvSpPr>
          <p:cNvPr id="358411" name="圆角矩形 358410"/>
          <p:cNvSpPr/>
          <p:nvPr/>
        </p:nvSpPr>
        <p:spPr>
          <a:xfrm>
            <a:off x="762000" y="3861619"/>
            <a:ext cx="7697788" cy="1439589"/>
          </a:xfrm>
          <a:prstGeom prst="roundRect">
            <a:avLst>
              <a:gd name="adj" fmla="val 16667"/>
            </a:avLst>
          </a:prstGeom>
          <a:solidFill>
            <a:srgbClr val="FFFFFF"/>
          </a:solidFill>
          <a:ln w="9525" cap="flat" cmpd="sng">
            <a:solidFill>
              <a:schemeClr val="accent2"/>
            </a:solidFill>
            <a:prstDash val="solid"/>
            <a:headEnd type="none" w="med" len="med"/>
            <a:tailEnd type="none" w="med" len="med"/>
          </a:ln>
        </p:spPr>
        <p:txBody>
          <a:bodyPr anchor="ctr"/>
          <a:lstStyle/>
          <a:p>
            <a:pPr lvl="0" algn="just">
              <a:buClrTx/>
              <a:buBlip>
                <a:blip r:embed="rId3"/>
              </a:buBlip>
            </a:pPr>
            <a:r>
              <a:rPr lang="zh-CN" altLang="en-US" sz="2800" b="1" dirty="0">
                <a:latin typeface="Arial" panose="020B0604020202020204" pitchFamily="34" charset="0"/>
                <a:ea typeface="宋体" panose="02010600030101010101" pitchFamily="2" charset="-122"/>
              </a:rPr>
              <a:t> 获得内存单元的</a:t>
            </a:r>
            <a:r>
              <a:rPr lang="zh-CN" altLang="en-US" sz="2800" b="1" dirty="0">
                <a:solidFill>
                  <a:srgbClr val="0000FF"/>
                </a:solidFill>
                <a:latin typeface="Arial" panose="020B0604020202020204" pitchFamily="34" charset="0"/>
                <a:ea typeface="宋体" panose="02010600030101010101" pitchFamily="2" charset="-122"/>
              </a:rPr>
              <a:t>有效地址（偏移地址）</a:t>
            </a:r>
            <a:r>
              <a:rPr lang="zh-CN" altLang="en-US" sz="2800" b="1" dirty="0">
                <a:latin typeface="Arial" panose="020B0604020202020204" pitchFamily="34" charset="0"/>
                <a:ea typeface="宋体" panose="02010600030101010101" pitchFamily="2" charset="-122"/>
              </a:rPr>
              <a:t> </a:t>
            </a:r>
            <a:endParaRPr lang="en-US" altLang="zh-CN" sz="2800" b="1" dirty="0">
              <a:latin typeface="Arial" panose="020B0604020202020204" pitchFamily="34" charset="0"/>
              <a:ea typeface="宋体" panose="02010600030101010101" pitchFamily="2" charset="-122"/>
            </a:endParaRPr>
          </a:p>
          <a:p>
            <a:pPr lvl="0" algn="just">
              <a:buClrTx/>
              <a:buBlip>
                <a:blip r:embed="rId3"/>
              </a:buBlip>
            </a:pPr>
            <a:r>
              <a:rPr lang="en-US" altLang="zh-CN" sz="2800" b="1" dirty="0">
                <a:latin typeface="Arial" panose="020B0604020202020204" pitchFamily="34" charset="0"/>
              </a:rPr>
              <a:t> </a:t>
            </a:r>
            <a:r>
              <a:rPr lang="zh-CN" altLang="en-US" sz="2800" b="1" dirty="0">
                <a:latin typeface="Arial" panose="020B0604020202020204" pitchFamily="34" charset="0"/>
                <a:ea typeface="宋体" panose="02010600030101010101" pitchFamily="2" charset="-122"/>
              </a:rPr>
              <a:t>可以实现计算功能</a:t>
            </a:r>
          </a:p>
        </p:txBody>
      </p:sp>
      <p:sp>
        <p:nvSpPr>
          <p:cNvPr id="358412" name="矩形 358411"/>
          <p:cNvSpPr/>
          <p:nvPr/>
        </p:nvSpPr>
        <p:spPr>
          <a:xfrm>
            <a:off x="1042988" y="5472113"/>
            <a:ext cx="5227637" cy="457200"/>
          </a:xfrm>
          <a:prstGeom prst="rect">
            <a:avLst/>
          </a:prstGeom>
          <a:noFill/>
          <a:ln w="9525">
            <a:noFill/>
          </a:ln>
        </p:spPr>
        <p:txBody>
          <a:bodyPr wrap="none" anchor="ctr">
            <a:spAutoFit/>
          </a:bodyPr>
          <a:lstStyle/>
          <a:p>
            <a:pPr lvl="0"/>
            <a:r>
              <a:rPr lang="zh-CN" altLang="en-US" sz="2400" b="1" dirty="0">
                <a:solidFill>
                  <a:srgbClr val="0000FF"/>
                </a:solidFill>
                <a:latin typeface="Arial" panose="020B0604020202020204" pitchFamily="34" charset="0"/>
                <a:ea typeface="宋体" panose="02010600030101010101" pitchFamily="2" charset="-122"/>
              </a:rPr>
              <a:t>注意：</a:t>
            </a:r>
            <a:r>
              <a:rPr lang="en-US" altLang="zh-CN" sz="2400" b="1">
                <a:latin typeface="Arial" panose="020B0604020202020204" pitchFamily="34" charset="0"/>
                <a:ea typeface="宋体" panose="02010600030101010101" pitchFamily="2" charset="-122"/>
              </a:rPr>
              <a:t>LEA</a:t>
            </a:r>
            <a:r>
              <a:rPr lang="zh-CN" altLang="en-US" sz="2400" b="1" dirty="0">
                <a:latin typeface="Arial" panose="020B0604020202020204" pitchFamily="34" charset="0"/>
                <a:ea typeface="宋体" panose="02010600030101010101" pitchFamily="2" charset="-122"/>
              </a:rPr>
              <a:t>指令和</a:t>
            </a:r>
            <a:r>
              <a:rPr lang="en-US" altLang="zh-CN" sz="2400" b="1">
                <a:latin typeface="Arial" panose="020B0604020202020204" pitchFamily="34" charset="0"/>
                <a:ea typeface="宋体" panose="02010600030101010101" pitchFamily="2" charset="-122"/>
              </a:rPr>
              <a:t>MOV</a:t>
            </a:r>
            <a:r>
              <a:rPr lang="zh-CN" altLang="en-US" sz="2400" b="1" dirty="0">
                <a:latin typeface="Arial" panose="020B0604020202020204" pitchFamily="34" charset="0"/>
                <a:ea typeface="宋体" panose="02010600030101010101" pitchFamily="2" charset="-122"/>
              </a:rPr>
              <a:t>指令间的区别</a:t>
            </a:r>
            <a:r>
              <a:rPr lang="zh-CN" altLang="en-US" sz="1800" dirty="0">
                <a:latin typeface="Arial" panose="020B0604020202020204" pitchFamily="34" charset="0"/>
                <a:ea typeface="宋体" panose="02010600030101010101" pitchFamily="2" charset="-122"/>
              </a:rPr>
              <a:t> </a:t>
            </a: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iterate type="wd">
                                    <p:tmPct val="100000"/>
                                  </p:iterate>
                                  <p:childTnLst>
                                    <p:set>
                                      <p:cBhvr>
                                        <p:cTn id="6" dur="1" fill="hold">
                                          <p:stCondLst>
                                            <p:cond delay="0"/>
                                          </p:stCondLst>
                                        </p:cTn>
                                        <p:tgtEl>
                                          <p:spTgt spid="358411"/>
                                        </p:tgtEl>
                                        <p:attrNameLst>
                                          <p:attrName>style.visibility</p:attrName>
                                        </p:attrNameLst>
                                      </p:cBhvr>
                                      <p:to>
                                        <p:strVal val="visible"/>
                                      </p:to>
                                    </p:set>
                                    <p:anim calcmode="lin" valueType="num">
                                      <p:cBhvr>
                                        <p:cTn id="7" dur="300" fill="hold"/>
                                        <p:tgtEl>
                                          <p:spTgt spid="358411"/>
                                        </p:tgtEl>
                                        <p:attrNameLst>
                                          <p:attrName>ppt_x</p:attrName>
                                        </p:attrNameLst>
                                      </p:cBhvr>
                                      <p:tavLst>
                                        <p:tav tm="0">
                                          <p:val>
                                            <p:strVal val="#ppt_x-#ppt_w/2"/>
                                          </p:val>
                                        </p:tav>
                                        <p:tav tm="100000">
                                          <p:val>
                                            <p:strVal val="#ppt_x"/>
                                          </p:val>
                                        </p:tav>
                                      </p:tavLst>
                                    </p:anim>
                                    <p:anim calcmode="lin" valueType="num">
                                      <p:cBhvr>
                                        <p:cTn id="8" dur="300" fill="hold"/>
                                        <p:tgtEl>
                                          <p:spTgt spid="358411"/>
                                        </p:tgtEl>
                                        <p:attrNameLst>
                                          <p:attrName>ppt_y</p:attrName>
                                        </p:attrNameLst>
                                      </p:cBhvr>
                                      <p:tavLst>
                                        <p:tav tm="0">
                                          <p:val>
                                            <p:strVal val="#ppt_y"/>
                                          </p:val>
                                        </p:tav>
                                        <p:tav tm="100000">
                                          <p:val>
                                            <p:strVal val="#ppt_y"/>
                                          </p:val>
                                        </p:tav>
                                      </p:tavLst>
                                    </p:anim>
                                    <p:anim calcmode="lin" valueType="num">
                                      <p:cBhvr>
                                        <p:cTn id="9" dur="300" fill="hold"/>
                                        <p:tgtEl>
                                          <p:spTgt spid="358411"/>
                                        </p:tgtEl>
                                        <p:attrNameLst>
                                          <p:attrName>ppt_w</p:attrName>
                                        </p:attrNameLst>
                                      </p:cBhvr>
                                      <p:tavLst>
                                        <p:tav tm="0">
                                          <p:val>
                                            <p:fltVal val="0"/>
                                          </p:val>
                                        </p:tav>
                                        <p:tav tm="100000">
                                          <p:val>
                                            <p:strVal val="#ppt_w"/>
                                          </p:val>
                                        </p:tav>
                                      </p:tavLst>
                                    </p:anim>
                                    <p:anim calcmode="lin" valueType="num">
                                      <p:cBhvr>
                                        <p:cTn id="10" dur="300" fill="hold"/>
                                        <p:tgtEl>
                                          <p:spTgt spid="3584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11"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0450" name="标题 360449"/>
          <p:cNvSpPr>
            <a:spLocks noGrp="1"/>
          </p:cNvSpPr>
          <p:nvPr>
            <p:ph type="title"/>
          </p:nvPr>
        </p:nvSpPr>
        <p:spPr>
          <a:xfrm>
            <a:off x="468313" y="908050"/>
            <a:ext cx="4751387" cy="433388"/>
          </a:xfrm>
        </p:spPr>
        <p:txBody>
          <a:bodyPr anchor="ctr"/>
          <a:lstStyle/>
          <a:p>
            <a:pPr algn="l"/>
            <a:r>
              <a:rPr lang="zh-CN" altLang="en-US" sz="2400" b="1" dirty="0">
                <a:solidFill>
                  <a:schemeClr val="tx1"/>
                </a:solidFill>
              </a:rPr>
              <a:t>（</a:t>
            </a:r>
            <a:r>
              <a:rPr lang="en-US" altLang="zh-CN" sz="2400" b="1">
                <a:solidFill>
                  <a:schemeClr val="tx1"/>
                </a:solidFill>
              </a:rPr>
              <a:t>2</a:t>
            </a:r>
            <a:r>
              <a:rPr lang="zh-CN" altLang="en-US" sz="2400" b="1" dirty="0">
                <a:solidFill>
                  <a:schemeClr val="tx1"/>
                </a:solidFill>
              </a:rPr>
              <a:t>）指针传送指令</a:t>
            </a:r>
            <a:r>
              <a:rPr lang="en-US" altLang="zh-CN" sz="2400" b="1">
                <a:solidFill>
                  <a:schemeClr val="tx1"/>
                </a:solidFill>
              </a:rPr>
              <a:t>LDS</a:t>
            </a:r>
            <a:r>
              <a:rPr lang="zh-CN" altLang="en-US" sz="2400" b="1" dirty="0">
                <a:solidFill>
                  <a:schemeClr val="tx1"/>
                </a:solidFill>
              </a:rPr>
              <a:t>和</a:t>
            </a:r>
            <a:r>
              <a:rPr lang="en-US" altLang="zh-CN" sz="2400" b="1">
                <a:solidFill>
                  <a:schemeClr val="tx1"/>
                </a:solidFill>
              </a:rPr>
              <a:t>LES</a:t>
            </a:r>
            <a:endParaRPr lang="zh-CN" altLang="zh-CN" sz="2400" b="1" dirty="0">
              <a:solidFill>
                <a:schemeClr val="tx1"/>
              </a:solidFill>
            </a:endParaRPr>
          </a:p>
        </p:txBody>
      </p:sp>
      <p:sp>
        <p:nvSpPr>
          <p:cNvPr id="360451" name="文本占位符 360450"/>
          <p:cNvSpPr>
            <a:spLocks noGrp="1"/>
          </p:cNvSpPr>
          <p:nvPr>
            <p:ph type="body" sz="half" idx="1"/>
          </p:nvPr>
        </p:nvSpPr>
        <p:spPr>
          <a:xfrm>
            <a:off x="533400" y="2236788"/>
            <a:ext cx="3886200" cy="3064420"/>
          </a:xfrm>
          <a:ln>
            <a:solidFill>
              <a:schemeClr val="accent2"/>
            </a:solidFill>
            <a:miter/>
          </a:ln>
        </p:spPr>
        <p:txBody>
          <a:bodyPr/>
          <a:lstStyle/>
          <a:p>
            <a:pPr>
              <a:buClrTx/>
              <a:buNone/>
            </a:pPr>
            <a:r>
              <a:rPr lang="en-US" altLang="zh-CN" sz="2800" b="1" dirty="0">
                <a:latin typeface="宋体" panose="02010600030101010101" pitchFamily="2" charset="-122"/>
              </a:rPr>
              <a:t>LDS r16,mem</a:t>
            </a:r>
          </a:p>
          <a:p>
            <a:pPr>
              <a:buClrTx/>
              <a:buNone/>
            </a:pPr>
            <a:r>
              <a:rPr lang="zh-CN" altLang="en-US" sz="2800" b="1" dirty="0">
                <a:latin typeface="宋体" panose="02010600030101010101" pitchFamily="2" charset="-122"/>
              </a:rPr>
              <a:t>；</a:t>
            </a:r>
            <a:r>
              <a:rPr lang="en-US" altLang="zh-CN" sz="2800" b="1" dirty="0">
                <a:latin typeface="宋体" panose="02010600030101010101" pitchFamily="2" charset="-122"/>
              </a:rPr>
              <a:t>r16←mem</a:t>
            </a:r>
            <a:r>
              <a:rPr lang="zh-CN" altLang="en-US" sz="2800" b="1" dirty="0">
                <a:latin typeface="宋体" panose="02010600030101010101" pitchFamily="2" charset="-122"/>
              </a:rPr>
              <a:t>，</a:t>
            </a:r>
          </a:p>
          <a:p>
            <a:pPr>
              <a:buClrTx/>
              <a:buNone/>
            </a:pPr>
            <a:r>
              <a:rPr lang="zh-CN" altLang="en-US" sz="2800" b="1" dirty="0">
                <a:latin typeface="宋体" panose="02010600030101010101" pitchFamily="2" charset="-122"/>
              </a:rPr>
              <a:t>；</a:t>
            </a:r>
            <a:r>
              <a:rPr lang="en-US" altLang="zh-CN" sz="2800" b="1" dirty="0">
                <a:latin typeface="宋体" panose="02010600030101010101" pitchFamily="2" charset="-122"/>
              </a:rPr>
              <a:t>DS←mem+2</a:t>
            </a:r>
          </a:p>
          <a:p>
            <a:pPr>
              <a:buClrTx/>
              <a:buNone/>
            </a:pPr>
            <a:r>
              <a:rPr lang="en-US" altLang="zh-CN" sz="2800" b="1" dirty="0">
                <a:latin typeface="宋体" panose="02010600030101010101" pitchFamily="2" charset="-122"/>
              </a:rPr>
              <a:t>LDS</a:t>
            </a:r>
            <a:r>
              <a:rPr lang="zh-CN" altLang="en-US" sz="2800" b="1" dirty="0">
                <a:latin typeface="宋体" panose="02010600030101010101" pitchFamily="2" charset="-122"/>
              </a:rPr>
              <a:t>指令将内存中</a:t>
            </a:r>
            <a:r>
              <a:rPr lang="en-US" altLang="zh-CN" sz="2800" b="1" dirty="0" err="1">
                <a:latin typeface="宋体" panose="02010600030101010101" pitchFamily="2" charset="-122"/>
              </a:rPr>
              <a:t>mem</a:t>
            </a:r>
            <a:r>
              <a:rPr lang="zh-CN" altLang="en-US" sz="2800" b="1" dirty="0">
                <a:latin typeface="宋体" panose="02010600030101010101" pitchFamily="2" charset="-122"/>
              </a:rPr>
              <a:t>指定的低字送给</a:t>
            </a:r>
            <a:r>
              <a:rPr lang="en-US" altLang="zh-CN" sz="2800" b="1" dirty="0">
                <a:latin typeface="宋体" panose="02010600030101010101" pitchFamily="2" charset="-122"/>
              </a:rPr>
              <a:t>r16</a:t>
            </a:r>
            <a:r>
              <a:rPr lang="zh-CN" altLang="en-US" sz="2800" b="1" dirty="0">
                <a:latin typeface="宋体" panose="02010600030101010101" pitchFamily="2" charset="-122"/>
              </a:rPr>
              <a:t>，高字送</a:t>
            </a:r>
            <a:r>
              <a:rPr lang="en-US" altLang="zh-CN" sz="2800" b="1" dirty="0">
                <a:latin typeface="宋体" panose="02010600030101010101" pitchFamily="2" charset="-122"/>
              </a:rPr>
              <a:t>DS</a:t>
            </a:r>
            <a:r>
              <a:rPr lang="zh-CN" altLang="en-US" sz="2800" b="1" dirty="0">
                <a:latin typeface="宋体" panose="02010600030101010101" pitchFamily="2" charset="-122"/>
              </a:rPr>
              <a:t>寄存器</a:t>
            </a:r>
          </a:p>
        </p:txBody>
      </p:sp>
      <p:sp>
        <p:nvSpPr>
          <p:cNvPr id="360452" name="文本占位符 360451"/>
          <p:cNvSpPr>
            <a:spLocks noGrp="1"/>
          </p:cNvSpPr>
          <p:nvPr>
            <p:ph type="body" sz="half" idx="2"/>
          </p:nvPr>
        </p:nvSpPr>
        <p:spPr>
          <a:xfrm>
            <a:off x="4752975" y="2236788"/>
            <a:ext cx="3857625" cy="3064420"/>
          </a:xfrm>
          <a:ln>
            <a:solidFill>
              <a:schemeClr val="accent2"/>
            </a:solidFill>
            <a:miter/>
          </a:ln>
        </p:spPr>
        <p:txBody>
          <a:bodyPr/>
          <a:lstStyle/>
          <a:p>
            <a:pPr>
              <a:buClrTx/>
              <a:buNone/>
            </a:pPr>
            <a:r>
              <a:rPr lang="en-US" altLang="zh-CN" sz="2800" b="1" dirty="0">
                <a:latin typeface="宋体" panose="02010600030101010101" pitchFamily="2" charset="-122"/>
              </a:rPr>
              <a:t>LES r16,mem</a:t>
            </a:r>
          </a:p>
          <a:p>
            <a:pPr>
              <a:buClrTx/>
              <a:buNone/>
            </a:pPr>
            <a:r>
              <a:rPr lang="zh-CN" altLang="en-US" sz="2800" b="1" dirty="0">
                <a:latin typeface="宋体" panose="02010600030101010101" pitchFamily="2" charset="-122"/>
              </a:rPr>
              <a:t>；</a:t>
            </a:r>
            <a:r>
              <a:rPr lang="en-US" altLang="zh-CN" sz="2800" b="1" dirty="0">
                <a:latin typeface="宋体" panose="02010600030101010101" pitchFamily="2" charset="-122"/>
              </a:rPr>
              <a:t>r16←mem</a:t>
            </a:r>
            <a:r>
              <a:rPr lang="zh-CN" altLang="en-US" sz="2800" b="1" dirty="0">
                <a:latin typeface="宋体" panose="02010600030101010101" pitchFamily="2" charset="-122"/>
              </a:rPr>
              <a:t>，</a:t>
            </a:r>
          </a:p>
          <a:p>
            <a:pPr>
              <a:buClrTx/>
              <a:buNone/>
            </a:pPr>
            <a:r>
              <a:rPr lang="zh-CN" altLang="en-US" sz="2800" b="1" dirty="0">
                <a:latin typeface="宋体" panose="02010600030101010101" pitchFamily="2" charset="-122"/>
              </a:rPr>
              <a:t>；</a:t>
            </a:r>
            <a:r>
              <a:rPr lang="en-US" altLang="zh-CN" sz="2800" b="1" dirty="0">
                <a:latin typeface="宋体" panose="02010600030101010101" pitchFamily="2" charset="-122"/>
              </a:rPr>
              <a:t>ES←mem+2</a:t>
            </a:r>
          </a:p>
          <a:p>
            <a:pPr>
              <a:buClrTx/>
              <a:buNone/>
            </a:pPr>
            <a:r>
              <a:rPr lang="en-US" altLang="zh-CN" sz="2800" b="1" dirty="0">
                <a:latin typeface="宋体" panose="02010600030101010101" pitchFamily="2" charset="-122"/>
              </a:rPr>
              <a:t>LES</a:t>
            </a:r>
            <a:r>
              <a:rPr lang="zh-CN" altLang="en-US" sz="2800" b="1" dirty="0">
                <a:latin typeface="宋体" panose="02010600030101010101" pitchFamily="2" charset="-122"/>
              </a:rPr>
              <a:t>指令将内存中</a:t>
            </a:r>
            <a:r>
              <a:rPr lang="en-US" altLang="zh-CN" sz="2800" b="1" dirty="0" err="1">
                <a:latin typeface="宋体" panose="02010600030101010101" pitchFamily="2" charset="-122"/>
              </a:rPr>
              <a:t>mem</a:t>
            </a:r>
            <a:r>
              <a:rPr lang="zh-CN" altLang="en-US" sz="2800" b="1" dirty="0">
                <a:latin typeface="宋体" panose="02010600030101010101" pitchFamily="2" charset="-122"/>
              </a:rPr>
              <a:t>指定的低字送至</a:t>
            </a:r>
            <a:r>
              <a:rPr lang="en-US" altLang="zh-CN" sz="2800" b="1" dirty="0">
                <a:latin typeface="宋体" panose="02010600030101010101" pitchFamily="2" charset="-122"/>
              </a:rPr>
              <a:t>r16</a:t>
            </a:r>
            <a:r>
              <a:rPr lang="zh-CN" altLang="en-US" sz="2800" b="1" dirty="0">
                <a:latin typeface="宋体" panose="02010600030101010101" pitchFamily="2" charset="-122"/>
              </a:rPr>
              <a:t>，高字送</a:t>
            </a:r>
            <a:r>
              <a:rPr lang="en-US" altLang="zh-CN" sz="2800" b="1" dirty="0">
                <a:latin typeface="宋体" panose="02010600030101010101" pitchFamily="2" charset="-122"/>
              </a:rPr>
              <a:t>ES</a:t>
            </a:r>
            <a:r>
              <a:rPr lang="zh-CN" altLang="en-US" sz="2800" b="1" dirty="0">
                <a:latin typeface="宋体" panose="02010600030101010101" pitchFamily="2" charset="-122"/>
              </a:rPr>
              <a:t>寄存器</a:t>
            </a: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2498" name="标题 362497"/>
          <p:cNvSpPr>
            <a:spLocks noGrp="1"/>
          </p:cNvSpPr>
          <p:nvPr>
            <p:ph type="title"/>
          </p:nvPr>
        </p:nvSpPr>
        <p:spPr>
          <a:xfrm>
            <a:off x="468313" y="981075"/>
            <a:ext cx="3240087" cy="585788"/>
          </a:xfrm>
          <a:prstGeom prst="flowChartAlternateProcess">
            <a:avLst/>
          </a:prstGeom>
          <a:ln w="28575">
            <a:solidFill>
              <a:schemeClr val="accent1"/>
            </a:solidFill>
            <a:miter/>
          </a:ln>
        </p:spPr>
        <p:txBody>
          <a:bodyPr lIns="0" tIns="0" rIns="0" bIns="0" anchor="ctr"/>
          <a:lstStyle/>
          <a:p>
            <a:pPr algn="l">
              <a:lnSpc>
                <a:spcPct val="90000"/>
              </a:lnSpc>
            </a:pPr>
            <a:r>
              <a:rPr lang="zh-CN" altLang="en-US" sz="2400" b="1" dirty="0">
                <a:solidFill>
                  <a:schemeClr val="tx1"/>
                </a:solidFill>
              </a:rPr>
              <a:t>示例：地址指针传送</a:t>
            </a:r>
          </a:p>
        </p:txBody>
      </p:sp>
      <p:sp>
        <p:nvSpPr>
          <p:cNvPr id="362499" name="矩形 362498"/>
          <p:cNvSpPr/>
          <p:nvPr/>
        </p:nvSpPr>
        <p:spPr>
          <a:xfrm>
            <a:off x="457200" y="2133600"/>
            <a:ext cx="8137525" cy="1655763"/>
          </a:xfrm>
          <a:prstGeom prst="rect">
            <a:avLst/>
          </a:prstGeom>
          <a:solidFill>
            <a:schemeClr val="bg1"/>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390525" defTabSz="0">
              <a:lnSpc>
                <a:spcPct val="120000"/>
              </a:lnSpc>
              <a:spcBef>
                <a:spcPct val="15000"/>
              </a:spcBef>
              <a:buClrTx/>
              <a:buNone/>
              <a:tabLst>
                <a:tab pos="3342005" algn="l"/>
              </a:tabLst>
            </a:pPr>
            <a:r>
              <a:rPr lang="zh-CN" altLang="en-US" sz="2400" b="1"/>
              <a:t>设</a:t>
            </a:r>
            <a:r>
              <a:rPr lang="en-US" altLang="zh-CN" sz="2400" b="1"/>
              <a:t>DS=400H</a:t>
            </a:r>
            <a:r>
              <a:rPr lang="zh-CN" altLang="en-US" sz="2400" b="1"/>
              <a:t>，</a:t>
            </a:r>
            <a:r>
              <a:rPr lang="en-US" altLang="zh-CN" sz="2400" b="1"/>
              <a:t>BX=100H</a:t>
            </a:r>
            <a:r>
              <a:rPr lang="zh-CN" altLang="en-US" sz="2400" b="1"/>
              <a:t>，</a:t>
            </a:r>
            <a:r>
              <a:rPr lang="en-US" altLang="zh-CN" sz="2400" b="1"/>
              <a:t>SI=200H</a:t>
            </a:r>
            <a:r>
              <a:rPr lang="zh-CN" altLang="en-US" sz="2400" b="1"/>
              <a:t>，</a:t>
            </a:r>
          </a:p>
          <a:p>
            <a:pPr marL="0" lvl="0" indent="390525" defTabSz="0">
              <a:lnSpc>
                <a:spcPct val="120000"/>
              </a:lnSpc>
              <a:spcBef>
                <a:spcPct val="15000"/>
              </a:spcBef>
              <a:buClrTx/>
              <a:buNone/>
              <a:tabLst>
                <a:tab pos="3342005" algn="l"/>
              </a:tabLst>
            </a:pPr>
            <a:r>
              <a:rPr lang="en-US" altLang="zh-CN" sz="2400" b="1"/>
              <a:t>[04300]=0005H</a:t>
            </a:r>
            <a:r>
              <a:rPr lang="zh-CN" altLang="en-US" sz="2400" b="1"/>
              <a:t>，</a:t>
            </a:r>
            <a:r>
              <a:rPr lang="en-US" altLang="zh-CN" sz="2400" b="1"/>
              <a:t>[04302H]=5020H,</a:t>
            </a:r>
            <a:r>
              <a:rPr lang="zh-CN" altLang="en-US" sz="2400" b="1" dirty="0"/>
              <a:t>则执行指令</a:t>
            </a:r>
          </a:p>
          <a:p>
            <a:pPr marL="0" lvl="0" indent="390525" defTabSz="0">
              <a:lnSpc>
                <a:spcPct val="120000"/>
              </a:lnSpc>
              <a:spcBef>
                <a:spcPct val="15000"/>
              </a:spcBef>
              <a:buClrTx/>
              <a:buNone/>
              <a:tabLst>
                <a:tab pos="3342005" algn="l"/>
              </a:tabLst>
            </a:pPr>
            <a:r>
              <a:rPr lang="en-US" altLang="zh-CN" sz="2400" b="1"/>
              <a:t>LDS SI</a:t>
            </a:r>
            <a:r>
              <a:rPr lang="zh-CN" altLang="en-US" sz="2400" b="1"/>
              <a:t>，</a:t>
            </a:r>
            <a:r>
              <a:rPr lang="en-US" altLang="zh-CN" sz="2400" b="1"/>
              <a:t>[BX+SI] </a:t>
            </a:r>
            <a:r>
              <a:rPr lang="zh-CN" altLang="en-US" sz="2400" b="1" dirty="0"/>
              <a:t>后，</a:t>
            </a:r>
            <a:r>
              <a:rPr lang="en-US" altLang="zh-CN" sz="2400" b="1"/>
              <a:t>SI=0005H</a:t>
            </a:r>
            <a:r>
              <a:rPr lang="zh-CN" altLang="en-US" sz="2400" b="1"/>
              <a:t>，   </a:t>
            </a:r>
            <a:r>
              <a:rPr lang="en-US" altLang="zh-CN" sz="2400" b="1"/>
              <a:t>DS=5020H</a:t>
            </a:r>
          </a:p>
        </p:txBody>
      </p:sp>
      <p:sp>
        <p:nvSpPr>
          <p:cNvPr id="5" name="矩形 4"/>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4546" name="矩形 364545"/>
          <p:cNvSpPr/>
          <p:nvPr/>
        </p:nvSpPr>
        <p:spPr>
          <a:xfrm>
            <a:off x="1143000" y="1447800"/>
            <a:ext cx="2438400" cy="533400"/>
          </a:xfrm>
          <a:prstGeom prst="rect">
            <a:avLst/>
          </a:prstGeom>
          <a:solidFill>
            <a:schemeClr val="tx1"/>
          </a:solidFill>
          <a:ln w="28575">
            <a:noFill/>
          </a:ln>
        </p:spPr>
        <p:txBody>
          <a:bodyPr/>
          <a:lstStyle/>
          <a:p>
            <a:endParaRPr lang="zh-CN" altLang="en-US"/>
          </a:p>
        </p:txBody>
      </p:sp>
      <p:sp>
        <p:nvSpPr>
          <p:cNvPr id="364547" name="矩形 364546"/>
          <p:cNvSpPr/>
          <p:nvPr/>
        </p:nvSpPr>
        <p:spPr>
          <a:xfrm>
            <a:off x="179388" y="333375"/>
            <a:ext cx="8686800" cy="5181600"/>
          </a:xfrm>
          <a:prstGeom prst="rect">
            <a:avLst/>
          </a:prstGeom>
          <a:solidFill>
            <a:srgbClr val="FFFFFF"/>
          </a:solidFill>
          <a:ln w="28575">
            <a:noFill/>
          </a:ln>
        </p:spPr>
        <p:txBody>
          <a:bodyPr/>
          <a:lstStyle/>
          <a:p>
            <a:endParaRPr lang="zh-CN" altLang="en-US"/>
          </a:p>
        </p:txBody>
      </p:sp>
      <p:grpSp>
        <p:nvGrpSpPr>
          <p:cNvPr id="364548" name="组合 364547"/>
          <p:cNvGrpSpPr/>
          <p:nvPr/>
        </p:nvGrpSpPr>
        <p:grpSpPr>
          <a:xfrm>
            <a:off x="4214813" y="638175"/>
            <a:ext cx="1228725" cy="4648200"/>
            <a:chOff x="2640" y="768"/>
            <a:chExt cx="672" cy="2928"/>
          </a:xfrm>
        </p:grpSpPr>
        <p:sp>
          <p:nvSpPr>
            <p:cNvPr id="364549" name="矩形 364548"/>
            <p:cNvSpPr/>
            <p:nvPr/>
          </p:nvSpPr>
          <p:spPr>
            <a:xfrm>
              <a:off x="2640" y="1941"/>
              <a:ext cx="672" cy="287"/>
            </a:xfrm>
            <a:prstGeom prst="rect">
              <a:avLst/>
            </a:prstGeom>
            <a:noFill/>
            <a:ln w="28575">
              <a:noFill/>
            </a:ln>
          </p:spPr>
          <p: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762000" lvl="0" indent="0"/>
              <a:endParaRPr lang="zh-CN" altLang="en-US" dirty="0"/>
            </a:p>
          </p:txBody>
        </p:sp>
        <p:sp>
          <p:nvSpPr>
            <p:cNvPr id="364550" name="矩形 364549"/>
            <p:cNvSpPr/>
            <p:nvPr/>
          </p:nvSpPr>
          <p:spPr>
            <a:xfrm>
              <a:off x="2640" y="2228"/>
              <a:ext cx="672" cy="287"/>
            </a:xfrm>
            <a:prstGeom prst="rect">
              <a:avLst/>
            </a:prstGeom>
            <a:noFill/>
            <a:ln w="28575">
              <a:noFill/>
            </a:ln>
          </p:spPr>
          <p: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762000" lvl="0" indent="-762000" algn="ctr">
                <a:buClrTx/>
                <a:buNone/>
              </a:pPr>
              <a:r>
                <a:rPr lang="en-US" altLang="zh-CN">
                  <a:solidFill>
                    <a:srgbClr val="0000FF"/>
                  </a:solidFill>
                </a:rPr>
                <a:t>05H</a:t>
              </a:r>
            </a:p>
          </p:txBody>
        </p:sp>
        <p:sp>
          <p:nvSpPr>
            <p:cNvPr id="364551" name="矩形 364550"/>
            <p:cNvSpPr/>
            <p:nvPr/>
          </p:nvSpPr>
          <p:spPr>
            <a:xfrm>
              <a:off x="2640" y="2515"/>
              <a:ext cx="672" cy="287"/>
            </a:xfrm>
            <a:prstGeom prst="rect">
              <a:avLst/>
            </a:prstGeom>
            <a:noFill/>
            <a:ln w="28575">
              <a:noFill/>
            </a:ln>
          </p:spPr>
          <p: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762000" lvl="0" indent="-762000" algn="ctr">
                <a:buClrTx/>
                <a:buNone/>
              </a:pPr>
              <a:r>
                <a:rPr lang="en-US" altLang="zh-CN">
                  <a:solidFill>
                    <a:srgbClr val="0000FF"/>
                  </a:solidFill>
                </a:rPr>
                <a:t>00H</a:t>
              </a:r>
            </a:p>
          </p:txBody>
        </p:sp>
        <p:sp>
          <p:nvSpPr>
            <p:cNvPr id="364552" name="矩形 364551"/>
            <p:cNvSpPr/>
            <p:nvPr/>
          </p:nvSpPr>
          <p:spPr>
            <a:xfrm>
              <a:off x="2640" y="2802"/>
              <a:ext cx="672" cy="287"/>
            </a:xfrm>
            <a:prstGeom prst="rect">
              <a:avLst/>
            </a:prstGeom>
            <a:noFill/>
            <a:ln w="28575">
              <a:noFill/>
            </a:ln>
          </p:spPr>
          <p: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762000" lvl="0" indent="-762000" algn="ctr">
                <a:buClrTx/>
                <a:buNone/>
              </a:pPr>
              <a:r>
                <a:rPr lang="en-US" altLang="zh-CN">
                  <a:solidFill>
                    <a:srgbClr val="0000FF"/>
                  </a:solidFill>
                </a:rPr>
                <a:t>20H</a:t>
              </a:r>
            </a:p>
          </p:txBody>
        </p:sp>
        <p:sp>
          <p:nvSpPr>
            <p:cNvPr id="364553" name="矩形 364552"/>
            <p:cNvSpPr/>
            <p:nvPr/>
          </p:nvSpPr>
          <p:spPr>
            <a:xfrm>
              <a:off x="2640" y="3089"/>
              <a:ext cx="672" cy="287"/>
            </a:xfrm>
            <a:prstGeom prst="rect">
              <a:avLst/>
            </a:prstGeom>
            <a:noFill/>
            <a:ln w="28575">
              <a:noFill/>
            </a:ln>
          </p:spPr>
          <p: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762000" lvl="0" indent="-762000" algn="ctr">
                <a:buClrTx/>
                <a:buNone/>
              </a:pPr>
              <a:r>
                <a:rPr lang="en-US" altLang="zh-CN">
                  <a:solidFill>
                    <a:srgbClr val="0000FF"/>
                  </a:solidFill>
                </a:rPr>
                <a:t>50H</a:t>
              </a:r>
            </a:p>
          </p:txBody>
        </p:sp>
        <p:sp>
          <p:nvSpPr>
            <p:cNvPr id="364554" name="矩形 364553"/>
            <p:cNvSpPr/>
            <p:nvPr/>
          </p:nvSpPr>
          <p:spPr>
            <a:xfrm>
              <a:off x="2640" y="1104"/>
              <a:ext cx="672" cy="837"/>
            </a:xfrm>
            <a:prstGeom prst="rect">
              <a:avLst/>
            </a:prstGeom>
            <a:noFill/>
            <a:ln w="28575">
              <a:noFill/>
            </a:ln>
          </p:spPr>
          <p: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762000" lvl="0" indent="0"/>
              <a:endParaRPr lang="zh-CN" altLang="en-US" dirty="0"/>
            </a:p>
          </p:txBody>
        </p:sp>
        <p:sp>
          <p:nvSpPr>
            <p:cNvPr id="364555" name="直接连接符 364554"/>
            <p:cNvSpPr/>
            <p:nvPr/>
          </p:nvSpPr>
          <p:spPr>
            <a:xfrm>
              <a:off x="2640" y="1104"/>
              <a:ext cx="672" cy="0"/>
            </a:xfrm>
            <a:prstGeom prst="line">
              <a:avLst/>
            </a:prstGeom>
            <a:ln w="28575" cap="sq" cmpd="sng">
              <a:solidFill>
                <a:schemeClr val="tx1"/>
              </a:solidFill>
              <a:prstDash val="solid"/>
              <a:headEnd type="none" w="med" len="med"/>
              <a:tailEnd type="none" w="med" len="med"/>
            </a:ln>
          </p:spPr>
        </p:sp>
        <p:sp>
          <p:nvSpPr>
            <p:cNvPr id="364556" name="直接连接符 364555"/>
            <p:cNvSpPr/>
            <p:nvPr/>
          </p:nvSpPr>
          <p:spPr>
            <a:xfrm>
              <a:off x="2640" y="3376"/>
              <a:ext cx="672" cy="0"/>
            </a:xfrm>
            <a:prstGeom prst="line">
              <a:avLst/>
            </a:prstGeom>
            <a:ln w="28575" cap="sq" cmpd="sng">
              <a:solidFill>
                <a:schemeClr val="tx1"/>
              </a:solidFill>
              <a:prstDash val="solid"/>
              <a:headEnd type="none" w="med" len="med"/>
              <a:tailEnd type="none" w="med" len="med"/>
            </a:ln>
          </p:spPr>
        </p:sp>
        <p:sp>
          <p:nvSpPr>
            <p:cNvPr id="364557" name="直接连接符 364556"/>
            <p:cNvSpPr/>
            <p:nvPr/>
          </p:nvSpPr>
          <p:spPr>
            <a:xfrm>
              <a:off x="2640" y="3089"/>
              <a:ext cx="672" cy="0"/>
            </a:xfrm>
            <a:prstGeom prst="line">
              <a:avLst/>
            </a:prstGeom>
            <a:ln w="28575" cap="flat" cmpd="sng">
              <a:solidFill>
                <a:schemeClr val="tx1"/>
              </a:solidFill>
              <a:prstDash val="solid"/>
              <a:headEnd type="none" w="med" len="med"/>
              <a:tailEnd type="none" w="med" len="med"/>
            </a:ln>
          </p:spPr>
        </p:sp>
        <p:sp>
          <p:nvSpPr>
            <p:cNvPr id="364558" name="直接连接符 364557"/>
            <p:cNvSpPr/>
            <p:nvPr/>
          </p:nvSpPr>
          <p:spPr>
            <a:xfrm>
              <a:off x="2640" y="2802"/>
              <a:ext cx="672" cy="0"/>
            </a:xfrm>
            <a:prstGeom prst="line">
              <a:avLst/>
            </a:prstGeom>
            <a:ln w="28575" cap="flat" cmpd="sng">
              <a:solidFill>
                <a:schemeClr val="tx1"/>
              </a:solidFill>
              <a:prstDash val="solid"/>
              <a:headEnd type="none" w="med" len="med"/>
              <a:tailEnd type="none" w="med" len="med"/>
            </a:ln>
          </p:spPr>
        </p:sp>
        <p:sp>
          <p:nvSpPr>
            <p:cNvPr id="364559" name="直接连接符 364558"/>
            <p:cNvSpPr/>
            <p:nvPr/>
          </p:nvSpPr>
          <p:spPr>
            <a:xfrm>
              <a:off x="2640" y="2515"/>
              <a:ext cx="672" cy="0"/>
            </a:xfrm>
            <a:prstGeom prst="line">
              <a:avLst/>
            </a:prstGeom>
            <a:ln w="28575" cap="flat" cmpd="sng">
              <a:solidFill>
                <a:schemeClr val="tx1"/>
              </a:solidFill>
              <a:prstDash val="solid"/>
              <a:headEnd type="none" w="med" len="med"/>
              <a:tailEnd type="none" w="med" len="med"/>
            </a:ln>
          </p:spPr>
        </p:sp>
        <p:sp>
          <p:nvSpPr>
            <p:cNvPr id="364560" name="直接连接符 364559"/>
            <p:cNvSpPr/>
            <p:nvPr/>
          </p:nvSpPr>
          <p:spPr>
            <a:xfrm>
              <a:off x="2640" y="2228"/>
              <a:ext cx="672" cy="0"/>
            </a:xfrm>
            <a:prstGeom prst="line">
              <a:avLst/>
            </a:prstGeom>
            <a:ln w="28575" cap="flat" cmpd="sng">
              <a:solidFill>
                <a:schemeClr val="tx1"/>
              </a:solidFill>
              <a:prstDash val="solid"/>
              <a:headEnd type="none" w="med" len="med"/>
              <a:tailEnd type="none" w="med" len="med"/>
            </a:ln>
          </p:spPr>
        </p:sp>
        <p:sp>
          <p:nvSpPr>
            <p:cNvPr id="364561" name="直接连接符 364560"/>
            <p:cNvSpPr/>
            <p:nvPr/>
          </p:nvSpPr>
          <p:spPr>
            <a:xfrm>
              <a:off x="2640" y="1941"/>
              <a:ext cx="672" cy="0"/>
            </a:xfrm>
            <a:prstGeom prst="line">
              <a:avLst/>
            </a:prstGeom>
            <a:ln w="28575" cap="flat" cmpd="sng">
              <a:solidFill>
                <a:schemeClr val="tx1"/>
              </a:solidFill>
              <a:prstDash val="solid"/>
              <a:headEnd type="none" w="med" len="med"/>
              <a:tailEnd type="none" w="med" len="med"/>
            </a:ln>
          </p:spPr>
        </p:sp>
        <p:sp>
          <p:nvSpPr>
            <p:cNvPr id="364562" name="直接连接符 364561"/>
            <p:cNvSpPr/>
            <p:nvPr/>
          </p:nvSpPr>
          <p:spPr>
            <a:xfrm>
              <a:off x="2640" y="1104"/>
              <a:ext cx="0" cy="2272"/>
            </a:xfrm>
            <a:prstGeom prst="line">
              <a:avLst/>
            </a:prstGeom>
            <a:ln w="28575" cap="sq" cmpd="sng">
              <a:solidFill>
                <a:schemeClr val="tx1"/>
              </a:solidFill>
              <a:prstDash val="solid"/>
              <a:headEnd type="none" w="med" len="med"/>
              <a:tailEnd type="none" w="med" len="med"/>
            </a:ln>
          </p:spPr>
        </p:sp>
        <p:sp>
          <p:nvSpPr>
            <p:cNvPr id="364563" name="直接连接符 364562"/>
            <p:cNvSpPr/>
            <p:nvPr/>
          </p:nvSpPr>
          <p:spPr>
            <a:xfrm>
              <a:off x="3312" y="1104"/>
              <a:ext cx="0" cy="2272"/>
            </a:xfrm>
            <a:prstGeom prst="line">
              <a:avLst/>
            </a:prstGeom>
            <a:ln w="28575" cap="sq" cmpd="sng">
              <a:solidFill>
                <a:schemeClr val="tx1"/>
              </a:solidFill>
              <a:prstDash val="solid"/>
              <a:headEnd type="none" w="med" len="med"/>
              <a:tailEnd type="none" w="med" len="med"/>
            </a:ln>
          </p:spPr>
        </p:sp>
        <p:sp>
          <p:nvSpPr>
            <p:cNvPr id="364564" name="直接连接符 364563"/>
            <p:cNvSpPr/>
            <p:nvPr/>
          </p:nvSpPr>
          <p:spPr>
            <a:xfrm>
              <a:off x="2640" y="3408"/>
              <a:ext cx="0" cy="288"/>
            </a:xfrm>
            <a:prstGeom prst="line">
              <a:avLst/>
            </a:prstGeom>
            <a:ln w="28575" cap="sq" cmpd="sng">
              <a:solidFill>
                <a:schemeClr val="tx1"/>
              </a:solidFill>
              <a:prstDash val="solid"/>
              <a:headEnd type="none" w="med" len="med"/>
              <a:tailEnd type="none" w="med" len="med"/>
            </a:ln>
          </p:spPr>
        </p:sp>
        <p:sp>
          <p:nvSpPr>
            <p:cNvPr id="364565" name="直接连接符 364564"/>
            <p:cNvSpPr/>
            <p:nvPr/>
          </p:nvSpPr>
          <p:spPr>
            <a:xfrm>
              <a:off x="3312" y="3360"/>
              <a:ext cx="0" cy="336"/>
            </a:xfrm>
            <a:prstGeom prst="line">
              <a:avLst/>
            </a:prstGeom>
            <a:ln w="28575" cap="sq" cmpd="sng">
              <a:solidFill>
                <a:schemeClr val="tx1"/>
              </a:solidFill>
              <a:prstDash val="solid"/>
              <a:headEnd type="none" w="med" len="med"/>
              <a:tailEnd type="none" w="med" len="med"/>
            </a:ln>
          </p:spPr>
        </p:sp>
        <p:sp>
          <p:nvSpPr>
            <p:cNvPr id="364566" name="直接连接符 364565"/>
            <p:cNvSpPr/>
            <p:nvPr/>
          </p:nvSpPr>
          <p:spPr>
            <a:xfrm flipV="1">
              <a:off x="2640" y="816"/>
              <a:ext cx="0" cy="288"/>
            </a:xfrm>
            <a:prstGeom prst="line">
              <a:avLst/>
            </a:prstGeom>
            <a:ln w="28575" cap="sq" cmpd="sng">
              <a:solidFill>
                <a:schemeClr val="tx1"/>
              </a:solidFill>
              <a:prstDash val="solid"/>
              <a:headEnd type="none" w="med" len="med"/>
              <a:tailEnd type="none" w="med" len="med"/>
            </a:ln>
          </p:spPr>
        </p:sp>
        <p:sp>
          <p:nvSpPr>
            <p:cNvPr id="364567" name="直接连接符 364566"/>
            <p:cNvSpPr/>
            <p:nvPr/>
          </p:nvSpPr>
          <p:spPr>
            <a:xfrm flipV="1">
              <a:off x="3312" y="768"/>
              <a:ext cx="0" cy="384"/>
            </a:xfrm>
            <a:prstGeom prst="line">
              <a:avLst/>
            </a:prstGeom>
            <a:ln w="28575" cap="sq" cmpd="sng">
              <a:solidFill>
                <a:schemeClr val="tx1"/>
              </a:solidFill>
              <a:prstDash val="solid"/>
              <a:headEnd type="none" w="med" len="med"/>
              <a:tailEnd type="none" w="med" len="med"/>
            </a:ln>
          </p:spPr>
        </p:sp>
        <p:sp>
          <p:nvSpPr>
            <p:cNvPr id="364568" name="直接连接符 364567"/>
            <p:cNvSpPr/>
            <p:nvPr/>
          </p:nvSpPr>
          <p:spPr>
            <a:xfrm>
              <a:off x="2640" y="3504"/>
              <a:ext cx="672" cy="0"/>
            </a:xfrm>
            <a:prstGeom prst="line">
              <a:avLst/>
            </a:prstGeom>
            <a:ln w="28575" cap="sq" cmpd="sng">
              <a:solidFill>
                <a:schemeClr val="tx1"/>
              </a:solidFill>
              <a:prstDash val="solid"/>
              <a:headEnd type="none" w="med" len="med"/>
              <a:tailEnd type="none" w="med" len="med"/>
            </a:ln>
          </p:spPr>
        </p:sp>
        <p:sp>
          <p:nvSpPr>
            <p:cNvPr id="364569" name="直接连接符 364568"/>
            <p:cNvSpPr/>
            <p:nvPr/>
          </p:nvSpPr>
          <p:spPr>
            <a:xfrm>
              <a:off x="2640" y="3600"/>
              <a:ext cx="672" cy="0"/>
            </a:xfrm>
            <a:prstGeom prst="line">
              <a:avLst/>
            </a:prstGeom>
            <a:ln w="28575" cap="sq" cmpd="sng">
              <a:solidFill>
                <a:schemeClr val="tx1"/>
              </a:solidFill>
              <a:prstDash val="solid"/>
              <a:headEnd type="none" w="med" len="med"/>
              <a:tailEnd type="none" w="med" len="med"/>
            </a:ln>
          </p:spPr>
        </p:sp>
        <p:sp>
          <p:nvSpPr>
            <p:cNvPr id="364570" name="直接连接符 364569"/>
            <p:cNvSpPr/>
            <p:nvPr/>
          </p:nvSpPr>
          <p:spPr>
            <a:xfrm>
              <a:off x="2640" y="1008"/>
              <a:ext cx="624" cy="0"/>
            </a:xfrm>
            <a:prstGeom prst="line">
              <a:avLst/>
            </a:prstGeom>
            <a:ln w="28575" cap="sq" cmpd="sng">
              <a:solidFill>
                <a:schemeClr val="tx1"/>
              </a:solidFill>
              <a:prstDash val="solid"/>
              <a:headEnd type="none" w="med" len="med"/>
              <a:tailEnd type="none" w="med" len="med"/>
            </a:ln>
          </p:spPr>
        </p:sp>
        <p:sp>
          <p:nvSpPr>
            <p:cNvPr id="364571" name="直接连接符 364570"/>
            <p:cNvSpPr/>
            <p:nvPr/>
          </p:nvSpPr>
          <p:spPr>
            <a:xfrm>
              <a:off x="2976" y="864"/>
              <a:ext cx="0" cy="1248"/>
            </a:xfrm>
            <a:prstGeom prst="line">
              <a:avLst/>
            </a:prstGeom>
            <a:ln w="28575" cap="flat" cmpd="sng">
              <a:solidFill>
                <a:schemeClr val="tx1"/>
              </a:solidFill>
              <a:prstDash val="dash"/>
              <a:headEnd type="none" w="med" len="med"/>
              <a:tailEnd type="none" w="med" len="med"/>
            </a:ln>
          </p:spPr>
        </p:sp>
        <p:sp>
          <p:nvSpPr>
            <p:cNvPr id="364572" name="直接连接符 364571"/>
            <p:cNvSpPr/>
            <p:nvPr/>
          </p:nvSpPr>
          <p:spPr>
            <a:xfrm>
              <a:off x="2976" y="3456"/>
              <a:ext cx="0" cy="240"/>
            </a:xfrm>
            <a:prstGeom prst="line">
              <a:avLst/>
            </a:prstGeom>
            <a:ln w="28575" cap="flat" cmpd="sng">
              <a:solidFill>
                <a:schemeClr val="tx1"/>
              </a:solidFill>
              <a:prstDash val="dash"/>
              <a:headEnd type="none" w="med" len="med"/>
              <a:tailEnd type="none" w="med" len="med"/>
            </a:ln>
          </p:spPr>
        </p:sp>
      </p:grpSp>
      <p:grpSp>
        <p:nvGrpSpPr>
          <p:cNvPr id="364573" name="组合 364572"/>
          <p:cNvGrpSpPr/>
          <p:nvPr/>
        </p:nvGrpSpPr>
        <p:grpSpPr>
          <a:xfrm>
            <a:off x="266700" y="638175"/>
            <a:ext cx="3335338" cy="1738313"/>
            <a:chOff x="624" y="768"/>
            <a:chExt cx="1824" cy="1095"/>
          </a:xfrm>
        </p:grpSpPr>
        <p:sp>
          <p:nvSpPr>
            <p:cNvPr id="364574" name="文本框 364573"/>
            <p:cNvSpPr txBox="1"/>
            <p:nvPr/>
          </p:nvSpPr>
          <p:spPr>
            <a:xfrm>
              <a:off x="1344" y="768"/>
              <a:ext cx="912" cy="327"/>
            </a:xfrm>
            <a:prstGeom prst="rect">
              <a:avLst/>
            </a:prstGeom>
            <a:noFill/>
            <a:ln w="28575">
              <a:noFill/>
            </a:ln>
          </p:spPr>
          <p:txBody>
            <a:bodyPr>
              <a:spAutoFit/>
            </a:bodyPr>
            <a:lstStyle/>
            <a:p>
              <a:pPr lvl="0" algn="r">
                <a:spcBef>
                  <a:spcPct val="50000"/>
                </a:spcBef>
                <a:buClrTx/>
                <a:buSzPct val="85000"/>
              </a:pPr>
              <a:r>
                <a:rPr lang="en-US" altLang="zh-CN" sz="2800" b="1">
                  <a:solidFill>
                    <a:srgbClr val="FF00FF"/>
                  </a:solidFill>
                  <a:latin typeface="宋体" panose="02010600030101010101" pitchFamily="2" charset="-122"/>
                  <a:ea typeface="宋体" panose="02010600030101010101" pitchFamily="2" charset="-122"/>
                </a:rPr>
                <a:t>0</a:t>
              </a:r>
              <a:r>
                <a:rPr lang="en-US" altLang="zh-CN" sz="2800" b="1">
                  <a:latin typeface="宋体" panose="02010600030101010101" pitchFamily="2" charset="-122"/>
                  <a:ea typeface="宋体" panose="02010600030101010101" pitchFamily="2" charset="-122"/>
                </a:rPr>
                <a:t>4000H</a:t>
              </a:r>
            </a:p>
          </p:txBody>
        </p:sp>
        <p:sp>
          <p:nvSpPr>
            <p:cNvPr id="364575" name="文本框 364574"/>
            <p:cNvSpPr txBox="1"/>
            <p:nvPr/>
          </p:nvSpPr>
          <p:spPr>
            <a:xfrm>
              <a:off x="1296" y="1008"/>
              <a:ext cx="960" cy="327"/>
            </a:xfrm>
            <a:prstGeom prst="rect">
              <a:avLst/>
            </a:prstGeom>
            <a:noFill/>
            <a:ln w="28575">
              <a:noFill/>
            </a:ln>
          </p:spPr>
          <p:txBody>
            <a:bodyPr>
              <a:spAutoFit/>
            </a:bodyPr>
            <a:lstStyle/>
            <a:p>
              <a:pPr lvl="0" algn="r">
                <a:spcBef>
                  <a:spcPct val="50000"/>
                </a:spcBef>
                <a:buClrTx/>
                <a:buSzPct val="85000"/>
              </a:pPr>
              <a:r>
                <a:rPr lang="en-US" altLang="zh-CN" sz="2800" b="1">
                  <a:latin typeface="宋体" panose="02010600030101010101" pitchFamily="2" charset="-122"/>
                  <a:ea typeface="宋体" panose="02010600030101010101" pitchFamily="2" charset="-122"/>
                </a:rPr>
                <a:t>0100H</a:t>
              </a:r>
            </a:p>
          </p:txBody>
        </p:sp>
        <p:sp>
          <p:nvSpPr>
            <p:cNvPr id="364576" name="文本框 364575"/>
            <p:cNvSpPr txBox="1"/>
            <p:nvPr/>
          </p:nvSpPr>
          <p:spPr>
            <a:xfrm>
              <a:off x="1488" y="1248"/>
              <a:ext cx="768" cy="327"/>
            </a:xfrm>
            <a:prstGeom prst="rect">
              <a:avLst/>
            </a:prstGeom>
            <a:noFill/>
            <a:ln w="28575">
              <a:noFill/>
            </a:ln>
          </p:spPr>
          <p:txBody>
            <a:bodyPr>
              <a:spAutoFit/>
            </a:bodyPr>
            <a:lstStyle/>
            <a:p>
              <a:pPr lvl="0" algn="r">
                <a:spcBef>
                  <a:spcPct val="50000"/>
                </a:spcBef>
                <a:buClrTx/>
                <a:buSzPct val="85000"/>
              </a:pPr>
              <a:r>
                <a:rPr lang="en-US" altLang="zh-CN" sz="2800" b="1">
                  <a:latin typeface="宋体" panose="02010600030101010101" pitchFamily="2" charset="-122"/>
                  <a:ea typeface="宋体" panose="02010600030101010101" pitchFamily="2" charset="-122"/>
                </a:rPr>
                <a:t>0200H</a:t>
              </a:r>
            </a:p>
          </p:txBody>
        </p:sp>
        <p:sp>
          <p:nvSpPr>
            <p:cNvPr id="364577" name="文本框 364576"/>
            <p:cNvSpPr txBox="1"/>
            <p:nvPr/>
          </p:nvSpPr>
          <p:spPr>
            <a:xfrm>
              <a:off x="1152" y="1248"/>
              <a:ext cx="336" cy="365"/>
            </a:xfrm>
            <a:prstGeom prst="rect">
              <a:avLst/>
            </a:prstGeom>
            <a:noFill/>
            <a:ln w="28575">
              <a:noFill/>
            </a:ln>
          </p:spPr>
          <p:txBody>
            <a:bodyPr>
              <a:spAutoFit/>
            </a:bodyPr>
            <a:lstStyle/>
            <a:p>
              <a:pPr lvl="0" algn="r">
                <a:spcBef>
                  <a:spcPct val="50000"/>
                </a:spcBef>
                <a:buClrTx/>
                <a:buSzPct val="85000"/>
              </a:pPr>
              <a:r>
                <a:rPr lang="en-US" altLang="zh-CN" sz="3200" b="1">
                  <a:latin typeface="宋体" panose="02010600030101010101" pitchFamily="2" charset="-122"/>
                  <a:ea typeface="宋体" panose="02010600030101010101" pitchFamily="2" charset="-122"/>
                </a:rPr>
                <a:t>+</a:t>
              </a:r>
            </a:p>
          </p:txBody>
        </p:sp>
        <p:sp>
          <p:nvSpPr>
            <p:cNvPr id="364578" name="文本框 364577"/>
            <p:cNvSpPr txBox="1"/>
            <p:nvPr/>
          </p:nvSpPr>
          <p:spPr>
            <a:xfrm>
              <a:off x="1296" y="1536"/>
              <a:ext cx="960" cy="327"/>
            </a:xfrm>
            <a:prstGeom prst="rect">
              <a:avLst/>
            </a:prstGeom>
            <a:noFill/>
            <a:ln w="28575">
              <a:noFill/>
            </a:ln>
          </p:spPr>
          <p:txBody>
            <a:bodyPr>
              <a:spAutoFit/>
            </a:bodyPr>
            <a:lstStyle/>
            <a:p>
              <a:pPr lvl="0" algn="r">
                <a:spcBef>
                  <a:spcPct val="50000"/>
                </a:spcBef>
                <a:buClrTx/>
                <a:buSzPct val="85000"/>
              </a:pPr>
              <a:r>
                <a:rPr lang="en-US" altLang="zh-CN" sz="2800" b="1">
                  <a:latin typeface="宋体" panose="02010600030101010101" pitchFamily="2" charset="-122"/>
                  <a:ea typeface="宋体" panose="02010600030101010101" pitchFamily="2" charset="-122"/>
                </a:rPr>
                <a:t>04300H</a:t>
              </a:r>
            </a:p>
          </p:txBody>
        </p:sp>
        <p:sp>
          <p:nvSpPr>
            <p:cNvPr id="364579" name="直接连接符 364578"/>
            <p:cNvSpPr/>
            <p:nvPr/>
          </p:nvSpPr>
          <p:spPr>
            <a:xfrm>
              <a:off x="1248" y="1584"/>
              <a:ext cx="1200" cy="0"/>
            </a:xfrm>
            <a:prstGeom prst="line">
              <a:avLst/>
            </a:prstGeom>
            <a:ln w="28575" cap="sq" cmpd="sng">
              <a:solidFill>
                <a:schemeClr val="tx1"/>
              </a:solidFill>
              <a:prstDash val="solid"/>
              <a:headEnd type="none" w="med" len="med"/>
              <a:tailEnd type="none" w="med" len="med"/>
            </a:ln>
          </p:spPr>
        </p:sp>
        <p:sp>
          <p:nvSpPr>
            <p:cNvPr id="364580" name="文本框 364579"/>
            <p:cNvSpPr txBox="1"/>
            <p:nvPr/>
          </p:nvSpPr>
          <p:spPr>
            <a:xfrm>
              <a:off x="624" y="768"/>
              <a:ext cx="720" cy="327"/>
            </a:xfrm>
            <a:prstGeom prst="rect">
              <a:avLst/>
            </a:prstGeom>
            <a:noFill/>
            <a:ln w="28575">
              <a:noFill/>
            </a:ln>
          </p:spPr>
          <p:txBody>
            <a:bodyPr>
              <a:spAutoFit/>
            </a:bodyPr>
            <a:lstStyle/>
            <a:p>
              <a:pPr lvl="0">
                <a:spcBef>
                  <a:spcPct val="50000"/>
                </a:spcBef>
                <a:buClrTx/>
                <a:buSzPct val="85000"/>
              </a:pPr>
              <a:r>
                <a:rPr lang="en-US" altLang="zh-CN" sz="2800" b="1" dirty="0">
                  <a:latin typeface="宋体" panose="02010600030101010101" pitchFamily="2" charset="-122"/>
                </a:rPr>
                <a:t> </a:t>
              </a:r>
              <a:r>
                <a:rPr lang="en-US" altLang="zh-CN" sz="2800" b="1" dirty="0">
                  <a:latin typeface="宋体" panose="02010600030101010101" pitchFamily="2" charset="-122"/>
                  <a:ea typeface="宋体" panose="02010600030101010101" pitchFamily="2" charset="-122"/>
                </a:rPr>
                <a:t>DS</a:t>
              </a:r>
              <a:r>
                <a:rPr lang="zh-CN" altLang="en-US" sz="2800" b="1" dirty="0">
                  <a:latin typeface="宋体" panose="02010600030101010101" pitchFamily="2" charset="-122"/>
                  <a:ea typeface="宋体" panose="02010600030101010101" pitchFamily="2" charset="-122"/>
                </a:rPr>
                <a:t>　　　</a:t>
              </a:r>
            </a:p>
          </p:txBody>
        </p:sp>
        <p:sp>
          <p:nvSpPr>
            <p:cNvPr id="364581" name="文本框 364580"/>
            <p:cNvSpPr txBox="1"/>
            <p:nvPr/>
          </p:nvSpPr>
          <p:spPr>
            <a:xfrm>
              <a:off x="672" y="1008"/>
              <a:ext cx="528" cy="543"/>
            </a:xfrm>
            <a:prstGeom prst="rect">
              <a:avLst/>
            </a:prstGeom>
            <a:noFill/>
            <a:ln w="28575">
              <a:noFill/>
            </a:ln>
          </p:spPr>
          <p:txBody>
            <a:bodyPr>
              <a:spAutoFit/>
            </a:bodyPr>
            <a:lstStyle/>
            <a:p>
              <a:pPr lvl="0">
                <a:spcBef>
                  <a:spcPct val="50000"/>
                </a:spcBef>
                <a:buClrTx/>
                <a:buSzPct val="85000"/>
              </a:pPr>
              <a:r>
                <a:rPr lang="en-US" altLang="zh-CN" sz="2800" b="1">
                  <a:latin typeface="宋体" panose="02010600030101010101" pitchFamily="2" charset="-122"/>
                  <a:ea typeface="宋体" panose="02010600030101010101" pitchFamily="2" charset="-122"/>
                </a:rPr>
                <a:t>BX</a:t>
              </a:r>
            </a:p>
            <a:p>
              <a:pPr lvl="0">
                <a:lnSpc>
                  <a:spcPct val="30000"/>
                </a:lnSpc>
                <a:spcBef>
                  <a:spcPct val="50000"/>
                </a:spcBef>
                <a:buClrTx/>
                <a:buSzPct val="85000"/>
              </a:pPr>
              <a:r>
                <a:rPr lang="en-US" altLang="zh-CN" sz="2800" b="1">
                  <a:latin typeface="宋体" panose="02010600030101010101" pitchFamily="2" charset="-122"/>
                  <a:ea typeface="宋体" panose="02010600030101010101" pitchFamily="2" charset="-122"/>
                </a:rPr>
                <a:t>SI  </a:t>
              </a:r>
            </a:p>
          </p:txBody>
        </p:sp>
      </p:grpSp>
      <p:sp>
        <p:nvSpPr>
          <p:cNvPr id="364582" name="文本框 364581"/>
          <p:cNvSpPr txBox="1"/>
          <p:nvPr/>
        </p:nvSpPr>
        <p:spPr>
          <a:xfrm>
            <a:off x="2843213" y="2781300"/>
            <a:ext cx="1366837" cy="519113"/>
          </a:xfrm>
          <a:prstGeom prst="rect">
            <a:avLst/>
          </a:prstGeom>
          <a:noFill/>
          <a:ln w="28575">
            <a:noFill/>
          </a:ln>
        </p:spPr>
        <p:txBody>
          <a:bodyPr>
            <a:spAutoFit/>
          </a:bodyPr>
          <a:lstStyle/>
          <a:p>
            <a:pPr lvl="0">
              <a:spcBef>
                <a:spcPct val="50000"/>
              </a:spcBef>
              <a:buClrTx/>
              <a:buSzPct val="85000"/>
            </a:pPr>
            <a:r>
              <a:rPr lang="en-US" altLang="zh-CN" sz="2800" b="1">
                <a:latin typeface="宋体" panose="02010600030101010101" pitchFamily="2" charset="-122"/>
                <a:ea typeface="宋体" panose="02010600030101010101" pitchFamily="2" charset="-122"/>
              </a:rPr>
              <a:t>04300H</a:t>
            </a:r>
          </a:p>
        </p:txBody>
      </p:sp>
      <p:cxnSp>
        <p:nvCxnSpPr>
          <p:cNvPr id="364583" name="肘形连接符 364582"/>
          <p:cNvCxnSpPr>
            <a:stCxn id="364578" idx="1"/>
            <a:endCxn id="364582" idx="1"/>
          </p:cNvCxnSpPr>
          <p:nvPr/>
        </p:nvCxnSpPr>
        <p:spPr>
          <a:xfrm rot="10800000" flipH="1" flipV="1">
            <a:off x="1495425" y="2117725"/>
            <a:ext cx="1347788" cy="923925"/>
          </a:xfrm>
          <a:prstGeom prst="bentConnector3">
            <a:avLst>
              <a:gd name="adj1" fmla="val -16963"/>
            </a:avLst>
          </a:prstGeom>
          <a:ln w="28575" cap="sq" cmpd="sng">
            <a:solidFill>
              <a:schemeClr val="tx1"/>
            </a:solidFill>
            <a:prstDash val="solid"/>
            <a:miter/>
            <a:headEnd type="none" w="med" len="med"/>
            <a:tailEnd type="triangle" w="med" len="med"/>
          </a:ln>
        </p:spPr>
      </p:cxnSp>
      <p:sp>
        <p:nvSpPr>
          <p:cNvPr id="364584" name="文本框 364583"/>
          <p:cNvSpPr txBox="1"/>
          <p:nvPr/>
        </p:nvSpPr>
        <p:spPr>
          <a:xfrm>
            <a:off x="5619750" y="1628775"/>
            <a:ext cx="1316038" cy="547688"/>
          </a:xfrm>
          <a:prstGeom prst="rect">
            <a:avLst/>
          </a:prstGeom>
          <a:noFill/>
          <a:ln w="28575" cap="sq" cmpd="sng">
            <a:solidFill>
              <a:schemeClr val="tx1"/>
            </a:solidFill>
            <a:prstDash val="solid"/>
            <a:miter/>
            <a:headEnd type="none" w="med" len="med"/>
            <a:tailEnd type="none" w="med" len="med"/>
          </a:ln>
        </p:spPr>
        <p:txBody>
          <a:bodyPr>
            <a:spAutoFit/>
          </a:bodyPr>
          <a:lstStyle/>
          <a:p>
            <a:pPr lvl="0" algn="ctr">
              <a:spcBef>
                <a:spcPct val="50000"/>
              </a:spcBef>
              <a:buClrTx/>
              <a:buSzPct val="85000"/>
            </a:pPr>
            <a:r>
              <a:rPr lang="en-US" altLang="zh-CN" sz="2800" b="1">
                <a:latin typeface="宋体" panose="02010600030101010101" pitchFamily="2" charset="-122"/>
                <a:ea typeface="宋体" panose="02010600030101010101" pitchFamily="2" charset="-122"/>
              </a:rPr>
              <a:t>SI</a:t>
            </a:r>
          </a:p>
        </p:txBody>
      </p:sp>
      <p:sp>
        <p:nvSpPr>
          <p:cNvPr id="364585" name="文本框 364584"/>
          <p:cNvSpPr txBox="1"/>
          <p:nvPr/>
        </p:nvSpPr>
        <p:spPr>
          <a:xfrm>
            <a:off x="7199313" y="1628775"/>
            <a:ext cx="1316037" cy="547688"/>
          </a:xfrm>
          <a:prstGeom prst="rect">
            <a:avLst/>
          </a:prstGeom>
          <a:noFill/>
          <a:ln w="28575" cap="sq" cmpd="sng">
            <a:solidFill>
              <a:schemeClr val="tx1"/>
            </a:solidFill>
            <a:prstDash val="solid"/>
            <a:miter/>
            <a:headEnd type="none" w="med" len="med"/>
            <a:tailEnd type="none" w="med" len="med"/>
          </a:ln>
        </p:spPr>
        <p:txBody>
          <a:bodyPr>
            <a:spAutoFit/>
          </a:bodyPr>
          <a:lstStyle/>
          <a:p>
            <a:pPr lvl="0" algn="ctr">
              <a:spcBef>
                <a:spcPct val="50000"/>
              </a:spcBef>
              <a:buClrTx/>
              <a:buSzPct val="85000"/>
            </a:pPr>
            <a:r>
              <a:rPr lang="en-US" altLang="zh-CN" sz="2800" b="1">
                <a:latin typeface="宋体" panose="02010600030101010101" pitchFamily="2" charset="-122"/>
                <a:ea typeface="宋体" panose="02010600030101010101" pitchFamily="2" charset="-122"/>
              </a:rPr>
              <a:t>DS</a:t>
            </a:r>
          </a:p>
        </p:txBody>
      </p:sp>
      <p:sp>
        <p:nvSpPr>
          <p:cNvPr id="364586" name="右大括号 364585"/>
          <p:cNvSpPr/>
          <p:nvPr/>
        </p:nvSpPr>
        <p:spPr>
          <a:xfrm>
            <a:off x="5532438" y="4067175"/>
            <a:ext cx="525462" cy="533400"/>
          </a:xfrm>
          <a:prstGeom prst="rightBrace">
            <a:avLst>
              <a:gd name="adj1" fmla="val 8459"/>
              <a:gd name="adj2" fmla="val 50000"/>
            </a:avLst>
          </a:prstGeom>
          <a:noFill/>
          <a:ln w="28575" cap="sq" cmpd="sng">
            <a:solidFill>
              <a:schemeClr val="tx1"/>
            </a:solidFill>
            <a:prstDash val="solid"/>
            <a:headEnd type="none" w="med" len="med"/>
            <a:tailEnd type="none" w="med" len="med"/>
          </a:ln>
        </p:spPr>
        <p:txBody>
          <a:bodyPr/>
          <a:lstStyle/>
          <a:p>
            <a:endParaRPr lang="zh-CN" altLang="en-US"/>
          </a:p>
        </p:txBody>
      </p:sp>
      <p:sp>
        <p:nvSpPr>
          <p:cNvPr id="364587" name="直接连接符 364586"/>
          <p:cNvSpPr/>
          <p:nvPr/>
        </p:nvSpPr>
        <p:spPr>
          <a:xfrm>
            <a:off x="6321425" y="4295775"/>
            <a:ext cx="1666875" cy="0"/>
          </a:xfrm>
          <a:prstGeom prst="line">
            <a:avLst/>
          </a:prstGeom>
          <a:ln w="28575" cap="sq" cmpd="sng">
            <a:solidFill>
              <a:schemeClr val="tx1"/>
            </a:solidFill>
            <a:prstDash val="solid"/>
            <a:headEnd type="none" w="med" len="med"/>
            <a:tailEnd type="none" w="med" len="med"/>
          </a:ln>
        </p:spPr>
      </p:sp>
      <p:sp>
        <p:nvSpPr>
          <p:cNvPr id="364588" name="直接连接符 364587"/>
          <p:cNvSpPr/>
          <p:nvPr/>
        </p:nvSpPr>
        <p:spPr>
          <a:xfrm flipV="1">
            <a:off x="7988300" y="2314575"/>
            <a:ext cx="0" cy="1981200"/>
          </a:xfrm>
          <a:prstGeom prst="line">
            <a:avLst/>
          </a:prstGeom>
          <a:ln w="28575" cap="sq" cmpd="sng">
            <a:solidFill>
              <a:schemeClr val="tx1"/>
            </a:solidFill>
            <a:prstDash val="solid"/>
            <a:headEnd type="none" w="med" len="med"/>
            <a:tailEnd type="stealth" w="med" len="med"/>
          </a:ln>
        </p:spPr>
      </p:sp>
      <p:sp>
        <p:nvSpPr>
          <p:cNvPr id="364589" name="右大括号 364588"/>
          <p:cNvSpPr/>
          <p:nvPr/>
        </p:nvSpPr>
        <p:spPr>
          <a:xfrm>
            <a:off x="5532438" y="3152775"/>
            <a:ext cx="525462" cy="609600"/>
          </a:xfrm>
          <a:prstGeom prst="rightBrace">
            <a:avLst>
              <a:gd name="adj1" fmla="val 9667"/>
              <a:gd name="adj2" fmla="val 50000"/>
            </a:avLst>
          </a:prstGeom>
          <a:noFill/>
          <a:ln w="28575" cap="sq" cmpd="sng">
            <a:solidFill>
              <a:schemeClr val="tx1"/>
            </a:solidFill>
            <a:prstDash val="solid"/>
            <a:headEnd type="none" w="med" len="med"/>
            <a:tailEnd type="none" w="med" len="med"/>
          </a:ln>
        </p:spPr>
        <p:txBody>
          <a:bodyPr/>
          <a:lstStyle/>
          <a:p>
            <a:endParaRPr lang="zh-CN" altLang="en-US"/>
          </a:p>
        </p:txBody>
      </p:sp>
      <p:sp>
        <p:nvSpPr>
          <p:cNvPr id="364590" name="直接连接符 364589"/>
          <p:cNvSpPr/>
          <p:nvPr/>
        </p:nvSpPr>
        <p:spPr>
          <a:xfrm>
            <a:off x="6146800" y="3457575"/>
            <a:ext cx="261938" cy="0"/>
          </a:xfrm>
          <a:prstGeom prst="line">
            <a:avLst/>
          </a:prstGeom>
          <a:ln w="28575" cap="sq" cmpd="sng">
            <a:solidFill>
              <a:schemeClr val="tx1"/>
            </a:solidFill>
            <a:prstDash val="solid"/>
            <a:headEnd type="none" w="med" len="med"/>
            <a:tailEnd type="none" w="med" len="med"/>
          </a:ln>
        </p:spPr>
      </p:sp>
      <p:sp>
        <p:nvSpPr>
          <p:cNvPr id="364591" name="直接连接符 364590"/>
          <p:cNvSpPr/>
          <p:nvPr/>
        </p:nvSpPr>
        <p:spPr>
          <a:xfrm flipV="1">
            <a:off x="6408738" y="2314575"/>
            <a:ext cx="0" cy="1143000"/>
          </a:xfrm>
          <a:prstGeom prst="line">
            <a:avLst/>
          </a:prstGeom>
          <a:ln w="28575" cap="sq" cmpd="sng">
            <a:solidFill>
              <a:schemeClr val="tx1"/>
            </a:solidFill>
            <a:prstDash val="solid"/>
            <a:headEnd type="none" w="med" len="med"/>
            <a:tailEnd type="triangle" w="med" len="med"/>
          </a:ln>
        </p:spPr>
      </p:sp>
      <p:sp>
        <p:nvSpPr>
          <p:cNvPr id="364592" name="矩形 364591"/>
          <p:cNvSpPr/>
          <p:nvPr/>
        </p:nvSpPr>
        <p:spPr>
          <a:xfrm>
            <a:off x="2700338" y="5599113"/>
            <a:ext cx="4481512" cy="604837"/>
          </a:xfrm>
          <a:prstGeom prst="rect">
            <a:avLst/>
          </a:prstGeom>
          <a:noFill/>
          <a:ln w="9525">
            <a:noFill/>
          </a:ln>
        </p:spPr>
        <p:txBody>
          <a:bodyPr wrap="none" anchor="t">
            <a:spAutoFit/>
          </a:bodyPr>
          <a:lstStyle/>
          <a:p>
            <a:pPr marL="342900" lvl="0" indent="-342900">
              <a:lnSpc>
                <a:spcPct val="120000"/>
              </a:lnSpc>
              <a:spcBef>
                <a:spcPct val="15000"/>
              </a:spcBef>
            </a:pPr>
            <a:r>
              <a:rPr lang="zh-CN" altLang="en-US" sz="2800" b="1" dirty="0">
                <a:latin typeface="宋体" panose="02010600030101010101" pitchFamily="2" charset="-122"/>
                <a:ea typeface="宋体" panose="02010600030101010101" pitchFamily="2" charset="-122"/>
              </a:rPr>
              <a:t>示意图： </a:t>
            </a:r>
            <a:r>
              <a:rPr lang="en-US" altLang="zh-CN" sz="2800" b="1">
                <a:latin typeface="宋体" panose="02010600030101010101" pitchFamily="2" charset="-122"/>
                <a:ea typeface="宋体" panose="02010600030101010101" pitchFamily="2" charset="-122"/>
              </a:rPr>
              <a:t>LDS SI</a:t>
            </a:r>
            <a:r>
              <a:rPr lang="zh-CN" altLang="en-US" sz="2800" b="1">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[BX+SI]</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6594" name="标题 366593"/>
          <p:cNvSpPr>
            <a:spLocks noGrp="1"/>
          </p:cNvSpPr>
          <p:nvPr>
            <p:ph type="title"/>
          </p:nvPr>
        </p:nvSpPr>
        <p:spPr>
          <a:xfrm>
            <a:off x="7596188" y="836613"/>
            <a:ext cx="1295400" cy="546100"/>
          </a:xfrm>
        </p:spPr>
        <p:txBody>
          <a:bodyPr lIns="0" tIns="0" rIns="0" bIns="0" anchor="ctr"/>
          <a:lstStyle/>
          <a:p>
            <a:pPr algn="l"/>
            <a:r>
              <a:rPr lang="zh-CN" altLang="en-US" sz="2800" b="1" dirty="0">
                <a:solidFill>
                  <a:schemeClr val="tx1"/>
                </a:solidFill>
              </a:rPr>
              <a:t>小　结</a:t>
            </a:r>
          </a:p>
        </p:txBody>
      </p:sp>
      <p:sp>
        <p:nvSpPr>
          <p:cNvPr id="366595" name="文本占位符 366594"/>
          <p:cNvSpPr>
            <a:spLocks noGrp="1"/>
          </p:cNvSpPr>
          <p:nvPr>
            <p:ph type="body" idx="1"/>
          </p:nvPr>
        </p:nvSpPr>
        <p:spPr>
          <a:xfrm>
            <a:off x="611188" y="1557338"/>
            <a:ext cx="8135937" cy="2303462"/>
          </a:xfrm>
          <a:solidFill>
            <a:schemeClr val="bg1"/>
          </a:solidFill>
        </p:spPr>
        <p:txBody>
          <a:bodyPr/>
          <a:lstStyle/>
          <a:p>
            <a:pPr marL="0" indent="390525" defTabSz="0">
              <a:buClrTx/>
              <a:buNone/>
              <a:tabLst>
                <a:tab pos="3342005" algn="l"/>
              </a:tabLst>
            </a:pPr>
            <a:r>
              <a:rPr lang="en-US" altLang="zh-CN" sz="2400" b="1"/>
              <a:t>LEA</a:t>
            </a:r>
            <a:r>
              <a:rPr lang="zh-CN" altLang="en-US" sz="2400" b="1" dirty="0"/>
              <a:t>指令与</a:t>
            </a:r>
            <a:r>
              <a:rPr lang="en-US" altLang="zh-CN" sz="2400" b="1"/>
              <a:t>MOV</a:t>
            </a:r>
            <a:r>
              <a:rPr lang="zh-CN" altLang="en-US" sz="2400" b="1" dirty="0"/>
              <a:t>指令的区别： </a:t>
            </a:r>
          </a:p>
          <a:p>
            <a:pPr marL="0" indent="390525" defTabSz="0">
              <a:buClrTx/>
              <a:buNone/>
              <a:tabLst>
                <a:tab pos="3342005" algn="l"/>
              </a:tabLst>
            </a:pPr>
            <a:r>
              <a:rPr lang="zh-CN" altLang="en-US" sz="2400" b="1" dirty="0"/>
              <a:t>“</a:t>
            </a:r>
            <a:r>
              <a:rPr lang="en-US" altLang="zh-CN" sz="2400" b="1"/>
              <a:t>LEA”</a:t>
            </a:r>
            <a:r>
              <a:rPr lang="zh-CN" altLang="en-US" sz="2400" b="1" dirty="0"/>
              <a:t>指令取内存单元的</a:t>
            </a:r>
            <a:r>
              <a:rPr lang="zh-CN" altLang="en-US" sz="2400" b="1" dirty="0">
                <a:solidFill>
                  <a:srgbClr val="0000FF"/>
                </a:solidFill>
              </a:rPr>
              <a:t>偏移地址</a:t>
            </a:r>
            <a:r>
              <a:rPr lang="zh-CN" altLang="en-US" sz="2400" b="1" dirty="0"/>
              <a:t>；</a:t>
            </a:r>
          </a:p>
          <a:p>
            <a:pPr marL="0" indent="390525" defTabSz="0">
              <a:buClrTx/>
              <a:buNone/>
              <a:tabLst>
                <a:tab pos="3342005" algn="l"/>
              </a:tabLst>
            </a:pPr>
            <a:r>
              <a:rPr lang="zh-CN" altLang="en-US" sz="2400" b="1" dirty="0"/>
              <a:t> </a:t>
            </a:r>
            <a:r>
              <a:rPr lang="zh-CN" altLang="en-US" sz="2400" b="1"/>
              <a:t>“</a:t>
            </a:r>
            <a:r>
              <a:rPr lang="en-US" altLang="zh-CN" sz="2400" b="1"/>
              <a:t>MOV”</a:t>
            </a:r>
            <a:r>
              <a:rPr lang="zh-CN" altLang="en-US" sz="2400" b="1" dirty="0"/>
              <a:t>指令取内存单元的</a:t>
            </a:r>
            <a:r>
              <a:rPr lang="zh-CN" altLang="en-US" sz="2400" b="1" dirty="0">
                <a:solidFill>
                  <a:srgbClr val="0000FF"/>
                </a:solidFill>
              </a:rPr>
              <a:t>内容</a:t>
            </a:r>
            <a:r>
              <a:rPr lang="zh-CN" altLang="en-US" sz="2400" b="1" dirty="0"/>
              <a:t>。</a:t>
            </a:r>
          </a:p>
          <a:p>
            <a:pPr marL="0" indent="390525" defTabSz="0">
              <a:buClrTx/>
              <a:buNone/>
              <a:tabLst>
                <a:tab pos="3342005" algn="l"/>
              </a:tabLst>
            </a:pPr>
            <a:r>
              <a:rPr lang="zh-CN" altLang="en-US" sz="2400" b="1" dirty="0"/>
              <a:t>举例说明：</a:t>
            </a:r>
          </a:p>
          <a:p>
            <a:pPr marL="0" indent="390525" defTabSz="0">
              <a:buClrTx/>
              <a:buFont typeface="Wingdings" panose="05000000000000000000" pitchFamily="2" charset="2"/>
              <a:buNone/>
              <a:tabLst>
                <a:tab pos="3342005" algn="l"/>
              </a:tabLst>
            </a:pPr>
            <a:r>
              <a:rPr lang="zh-CN" altLang="en-US" sz="2400" b="1" dirty="0"/>
              <a:t>目的操作数只能是</a:t>
            </a:r>
            <a:r>
              <a:rPr lang="en-US" altLang="zh-CN" sz="2400" b="1">
                <a:solidFill>
                  <a:srgbClr val="0000FF"/>
                </a:solidFill>
              </a:rPr>
              <a:t>16</a:t>
            </a:r>
            <a:r>
              <a:rPr lang="zh-CN" altLang="en-US" sz="2400" b="1" dirty="0">
                <a:solidFill>
                  <a:srgbClr val="0000FF"/>
                </a:solidFill>
              </a:rPr>
              <a:t>位</a:t>
            </a:r>
            <a:r>
              <a:rPr lang="zh-CN" altLang="en-US" sz="2400" b="1" dirty="0"/>
              <a:t>通用寄存器</a:t>
            </a:r>
          </a:p>
        </p:txBody>
      </p:sp>
      <p:sp>
        <p:nvSpPr>
          <p:cNvPr id="5" name="矩形 4"/>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42" name="文本框 368641"/>
          <p:cNvSpPr txBox="1"/>
          <p:nvPr/>
        </p:nvSpPr>
        <p:spPr>
          <a:xfrm>
            <a:off x="2058988" y="4495800"/>
            <a:ext cx="1054100" cy="427038"/>
          </a:xfrm>
          <a:prstGeom prst="rect">
            <a:avLst/>
          </a:prstGeom>
          <a:noFill/>
          <a:ln w="9525">
            <a:noFill/>
          </a:ln>
        </p:spPr>
        <p:txBody>
          <a:bodyPr lIns="0" tIns="0" rIns="0" bIns="0">
            <a:spAutoFit/>
          </a:bodyPr>
          <a:lstStyle/>
          <a:p>
            <a:pPr lvl="0">
              <a:spcBef>
                <a:spcPct val="50000"/>
              </a:spcBef>
            </a:pPr>
            <a:r>
              <a:rPr lang="zh-CN" altLang="en-US" sz="2800">
                <a:latin typeface="Times New Roman" panose="02020603050405020304" pitchFamily="18"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rPr>
              <a:t>83000</a:t>
            </a:r>
          </a:p>
        </p:txBody>
      </p:sp>
      <p:sp>
        <p:nvSpPr>
          <p:cNvPr id="368643" name="矩形 368642"/>
          <p:cNvSpPr/>
          <p:nvPr/>
        </p:nvSpPr>
        <p:spPr>
          <a:xfrm>
            <a:off x="5635625" y="2133600"/>
            <a:ext cx="2005013" cy="4381500"/>
          </a:xfrm>
          <a:prstGeom prst="rect">
            <a:avLst/>
          </a:prstGeom>
          <a:solidFill>
            <a:srgbClr val="99FFCC"/>
          </a:solidFill>
          <a:ln w="57150" cap="flat" cmpd="sng">
            <a:solidFill>
              <a:srgbClr val="008000"/>
            </a:solidFill>
            <a:prstDash val="solid"/>
            <a:miter/>
            <a:headEnd type="none" w="med" len="med"/>
            <a:tailEnd type="none" w="med" len="med"/>
          </a:ln>
        </p:spPr>
        <p:txBody>
          <a:bodyPr/>
          <a:lstStyle/>
          <a:p>
            <a:endParaRPr lang="zh-CN" altLang="en-US"/>
          </a:p>
        </p:txBody>
      </p:sp>
      <p:sp>
        <p:nvSpPr>
          <p:cNvPr id="368644" name="直接连接符 368643"/>
          <p:cNvSpPr/>
          <p:nvPr/>
        </p:nvSpPr>
        <p:spPr>
          <a:xfrm>
            <a:off x="5635625" y="4081463"/>
            <a:ext cx="2005013" cy="0"/>
          </a:xfrm>
          <a:prstGeom prst="line">
            <a:avLst/>
          </a:prstGeom>
          <a:ln w="38100" cap="flat" cmpd="sng">
            <a:solidFill>
              <a:srgbClr val="006600"/>
            </a:solidFill>
            <a:prstDash val="solid"/>
            <a:headEnd type="none" w="med" len="med"/>
            <a:tailEnd type="none" w="med" len="med"/>
          </a:ln>
        </p:spPr>
      </p:sp>
      <p:sp>
        <p:nvSpPr>
          <p:cNvPr id="368645" name="直接连接符 368644"/>
          <p:cNvSpPr/>
          <p:nvPr/>
        </p:nvSpPr>
        <p:spPr>
          <a:xfrm>
            <a:off x="5635625" y="5003800"/>
            <a:ext cx="2005013" cy="0"/>
          </a:xfrm>
          <a:prstGeom prst="line">
            <a:avLst/>
          </a:prstGeom>
          <a:ln w="38100" cap="flat" cmpd="sng">
            <a:solidFill>
              <a:srgbClr val="006600"/>
            </a:solidFill>
            <a:prstDash val="solid"/>
            <a:headEnd type="none" w="med" len="med"/>
            <a:tailEnd type="none" w="med" len="med"/>
          </a:ln>
        </p:spPr>
      </p:sp>
      <p:sp>
        <p:nvSpPr>
          <p:cNvPr id="368646" name="文本框 368645"/>
          <p:cNvSpPr txBox="1"/>
          <p:nvPr/>
        </p:nvSpPr>
        <p:spPr>
          <a:xfrm>
            <a:off x="6118225" y="2832100"/>
            <a:ext cx="1106488" cy="365125"/>
          </a:xfrm>
          <a:prstGeom prst="rect">
            <a:avLst/>
          </a:prstGeom>
          <a:noFill/>
          <a:ln w="9525">
            <a:noFill/>
          </a:ln>
        </p:spPr>
        <p:txBody>
          <a:bodyPr lIns="0" tIns="0" rIns="0" bIns="0">
            <a:spAutoFit/>
          </a:bodyPr>
          <a:lstStyle/>
          <a:p>
            <a:pPr lvl="0">
              <a:spcBef>
                <a:spcPct val="50000"/>
              </a:spcBef>
            </a:pPr>
            <a:r>
              <a:rPr lang="zh-CN" altLang="en-US" sz="2400" b="1" dirty="0">
                <a:solidFill>
                  <a:srgbClr val="FF3300"/>
                </a:solidFill>
                <a:latin typeface="Times New Roman" panose="02020603050405020304" pitchFamily="18" charset="0"/>
                <a:ea typeface="宋体" panose="02010600030101010101" pitchFamily="2" charset="-122"/>
              </a:rPr>
              <a:t>操作码</a:t>
            </a:r>
            <a:endParaRPr lang="zh-CN" altLang="en-US" sz="2400">
              <a:latin typeface="Times New Roman" panose="02020603050405020304" pitchFamily="18" charset="0"/>
              <a:ea typeface="宋体" panose="02010600030101010101" pitchFamily="2" charset="-122"/>
            </a:endParaRPr>
          </a:p>
        </p:txBody>
      </p:sp>
      <p:sp>
        <p:nvSpPr>
          <p:cNvPr id="368647" name="直接连接符 368646"/>
          <p:cNvSpPr/>
          <p:nvPr/>
        </p:nvSpPr>
        <p:spPr>
          <a:xfrm>
            <a:off x="5635625" y="2832100"/>
            <a:ext cx="2005013" cy="0"/>
          </a:xfrm>
          <a:prstGeom prst="line">
            <a:avLst/>
          </a:prstGeom>
          <a:ln w="38100" cap="flat" cmpd="sng">
            <a:solidFill>
              <a:srgbClr val="006600"/>
            </a:solidFill>
            <a:prstDash val="solid"/>
            <a:headEnd type="none" w="med" len="med"/>
            <a:tailEnd type="none" w="med" len="med"/>
          </a:ln>
        </p:spPr>
      </p:sp>
      <p:sp>
        <p:nvSpPr>
          <p:cNvPr id="368648" name="直接连接符 368647"/>
          <p:cNvSpPr/>
          <p:nvPr/>
        </p:nvSpPr>
        <p:spPr>
          <a:xfrm>
            <a:off x="5635625" y="3294063"/>
            <a:ext cx="2005013" cy="0"/>
          </a:xfrm>
          <a:prstGeom prst="line">
            <a:avLst/>
          </a:prstGeom>
          <a:ln w="38100" cap="flat" cmpd="sng">
            <a:solidFill>
              <a:srgbClr val="006600"/>
            </a:solidFill>
            <a:prstDash val="solid"/>
            <a:headEnd type="none" w="med" len="med"/>
            <a:tailEnd type="none" w="med" len="med"/>
          </a:ln>
        </p:spPr>
      </p:sp>
      <p:sp>
        <p:nvSpPr>
          <p:cNvPr id="368649" name="直接连接符 368648"/>
          <p:cNvSpPr/>
          <p:nvPr/>
        </p:nvSpPr>
        <p:spPr>
          <a:xfrm>
            <a:off x="5635625" y="3687763"/>
            <a:ext cx="2005013" cy="0"/>
          </a:xfrm>
          <a:prstGeom prst="line">
            <a:avLst/>
          </a:prstGeom>
          <a:ln w="38100" cap="flat" cmpd="sng">
            <a:solidFill>
              <a:srgbClr val="006600"/>
            </a:solidFill>
            <a:prstDash val="solid"/>
            <a:headEnd type="none" w="med" len="med"/>
            <a:tailEnd type="none" w="med" len="med"/>
          </a:ln>
        </p:spPr>
      </p:sp>
      <p:sp>
        <p:nvSpPr>
          <p:cNvPr id="368650" name="直接连接符 368649"/>
          <p:cNvSpPr/>
          <p:nvPr/>
        </p:nvSpPr>
        <p:spPr>
          <a:xfrm>
            <a:off x="5635625" y="5397500"/>
            <a:ext cx="2005013" cy="0"/>
          </a:xfrm>
          <a:prstGeom prst="line">
            <a:avLst/>
          </a:prstGeom>
          <a:ln w="38100" cap="flat" cmpd="sng">
            <a:solidFill>
              <a:srgbClr val="006600"/>
            </a:solidFill>
            <a:prstDash val="solid"/>
            <a:headEnd type="none" w="med" len="med"/>
            <a:tailEnd type="none" w="med" len="med"/>
          </a:ln>
        </p:spPr>
      </p:sp>
      <p:sp>
        <p:nvSpPr>
          <p:cNvPr id="368651" name="直接连接符 368650"/>
          <p:cNvSpPr/>
          <p:nvPr/>
        </p:nvSpPr>
        <p:spPr>
          <a:xfrm>
            <a:off x="5635625" y="5792788"/>
            <a:ext cx="2005013" cy="0"/>
          </a:xfrm>
          <a:prstGeom prst="line">
            <a:avLst/>
          </a:prstGeom>
          <a:ln w="38100" cap="flat" cmpd="sng">
            <a:solidFill>
              <a:srgbClr val="006600"/>
            </a:solidFill>
            <a:prstDash val="solid"/>
            <a:headEnd type="none" w="med" len="med"/>
            <a:tailEnd type="none" w="med" len="med"/>
          </a:ln>
        </p:spPr>
      </p:sp>
      <p:sp>
        <p:nvSpPr>
          <p:cNvPr id="368652" name="文本框 368651"/>
          <p:cNvSpPr txBox="1"/>
          <p:nvPr/>
        </p:nvSpPr>
        <p:spPr>
          <a:xfrm>
            <a:off x="1279525" y="2852738"/>
            <a:ext cx="1552575" cy="492443"/>
          </a:xfrm>
          <a:prstGeom prst="rect">
            <a:avLst/>
          </a:prstGeom>
          <a:noFill/>
          <a:ln w="9525">
            <a:noFill/>
          </a:ln>
        </p:spPr>
        <p:txBody>
          <a:bodyPr lIns="0" tIns="0" rIns="0" bIns="0">
            <a:spAutoFit/>
          </a:bodyPr>
          <a:lstStyle/>
          <a:p>
            <a:pPr lvl="0" algn="dist">
              <a:spcBef>
                <a:spcPct val="50000"/>
              </a:spcBef>
            </a:pPr>
            <a:r>
              <a:rPr lang="en-US" altLang="zh-CN" sz="2800" b="1" dirty="0">
                <a:latin typeface="Tahoma" panose="020B0604030504040204" pitchFamily="34" charset="0"/>
                <a:ea typeface="宋体" panose="02010600030101010101" pitchFamily="2" charset="-122"/>
              </a:rPr>
              <a:t>DS</a:t>
            </a:r>
            <a:r>
              <a:rPr lang="en-US" altLang="zh-CN" sz="3200" b="1" dirty="0">
                <a:solidFill>
                  <a:schemeClr val="bg2"/>
                </a:solidFill>
                <a:latin typeface="Times New Roman" panose="02020603050405020304" pitchFamily="18" charset="0"/>
                <a:ea typeface="宋体" panose="02010600030101010101" pitchFamily="2" charset="-122"/>
              </a:rPr>
              <a:t>  </a:t>
            </a:r>
            <a:r>
              <a:rPr lang="en-US" altLang="zh-CN" sz="2800" b="1" dirty="0">
                <a:solidFill>
                  <a:srgbClr val="0000FF"/>
                </a:solidFill>
                <a:latin typeface="Times New Roman" panose="02020603050405020304" pitchFamily="18" charset="0"/>
                <a:ea typeface="宋体" panose="02010600030101010101" pitchFamily="2" charset="-122"/>
              </a:rPr>
              <a:t>8000</a:t>
            </a:r>
          </a:p>
        </p:txBody>
      </p:sp>
      <p:sp>
        <p:nvSpPr>
          <p:cNvPr id="368653" name="文本框 368652"/>
          <p:cNvSpPr txBox="1"/>
          <p:nvPr/>
        </p:nvSpPr>
        <p:spPr>
          <a:xfrm>
            <a:off x="1433513" y="3392488"/>
            <a:ext cx="1590675" cy="492443"/>
          </a:xfrm>
          <a:prstGeom prst="rect">
            <a:avLst/>
          </a:prstGeom>
          <a:noFill/>
          <a:ln w="9525">
            <a:noFill/>
          </a:ln>
        </p:spPr>
        <p:txBody>
          <a:bodyPr lIns="0" tIns="0" rIns="0" bIns="0">
            <a:spAutoFit/>
          </a:bodyPr>
          <a:lstStyle/>
          <a:p>
            <a:pPr lvl="0" algn="dist">
              <a:spcBef>
                <a:spcPct val="50000"/>
              </a:spcBef>
            </a:pPr>
            <a:r>
              <a:rPr lang="en-US" altLang="zh-CN" sz="2800" b="1" dirty="0">
                <a:latin typeface="Tahoma" panose="020B0604030504040204" pitchFamily="34" charset="0"/>
              </a:rPr>
              <a:t>BX</a:t>
            </a:r>
            <a:r>
              <a:rPr lang="en-US" altLang="zh-CN" sz="3200" b="1" dirty="0">
                <a:solidFill>
                  <a:schemeClr val="bg2"/>
                </a:solidFill>
                <a:latin typeface="Times New Roman" panose="02020603050405020304" pitchFamily="18" charset="0"/>
                <a:ea typeface="宋体" panose="02010600030101010101" pitchFamily="2" charset="-122"/>
              </a:rPr>
              <a:t>  </a:t>
            </a:r>
            <a:r>
              <a:rPr lang="en-US" altLang="zh-CN" sz="2800" b="1" dirty="0">
                <a:solidFill>
                  <a:srgbClr val="0000FF"/>
                </a:solidFill>
              </a:rPr>
              <a:t>2000</a:t>
            </a:r>
          </a:p>
        </p:txBody>
      </p:sp>
      <p:sp>
        <p:nvSpPr>
          <p:cNvPr id="368654" name="文本框 368653"/>
          <p:cNvSpPr txBox="1"/>
          <p:nvPr/>
        </p:nvSpPr>
        <p:spPr>
          <a:xfrm>
            <a:off x="666750" y="3851275"/>
            <a:ext cx="2351088" cy="492443"/>
          </a:xfrm>
          <a:prstGeom prst="rect">
            <a:avLst/>
          </a:prstGeom>
          <a:noFill/>
          <a:ln w="9525">
            <a:noFill/>
          </a:ln>
        </p:spPr>
        <p:txBody>
          <a:bodyPr lIns="0" tIns="0" rIns="0" bIns="0">
            <a:spAutoFit/>
          </a:bodyPr>
          <a:lstStyle/>
          <a:p>
            <a:pPr algn="dist">
              <a:spcBef>
                <a:spcPct val="50000"/>
              </a:spcBef>
            </a:pPr>
            <a:r>
              <a:rPr lang="zh-CN" altLang="en-US" sz="3200" b="1" dirty="0">
                <a:solidFill>
                  <a:schemeClr val="bg2"/>
                </a:solidFill>
                <a:latin typeface="Times New Roman" panose="02020603050405020304" pitchFamily="18" charset="0"/>
                <a:ea typeface="宋体" panose="02010600030101010101" pitchFamily="2" charset="-122"/>
              </a:rPr>
              <a:t>  </a:t>
            </a:r>
            <a:r>
              <a:rPr lang="en-US" altLang="zh-CN" sz="2800" b="1" dirty="0">
                <a:latin typeface="Tahoma" panose="020B0604030504040204" pitchFamily="34" charset="0"/>
              </a:rPr>
              <a:t>+</a:t>
            </a:r>
            <a:r>
              <a:rPr lang="en-US" altLang="zh-CN" sz="3200" b="1" dirty="0">
                <a:solidFill>
                  <a:schemeClr val="bg2"/>
                </a:solidFill>
                <a:latin typeface="Times New Roman" panose="02020603050405020304" pitchFamily="18" charset="0"/>
                <a:ea typeface="宋体" panose="02010600030101010101" pitchFamily="2" charset="-122"/>
              </a:rPr>
              <a:t>   </a:t>
            </a:r>
            <a:r>
              <a:rPr lang="en-US" altLang="zh-CN" sz="2800" b="1" dirty="0">
                <a:latin typeface="Tahoma" panose="020B0604030504040204" pitchFamily="34" charset="0"/>
              </a:rPr>
              <a:t>SI</a:t>
            </a:r>
            <a:r>
              <a:rPr lang="en-US" altLang="zh-CN" sz="3200" b="1" dirty="0">
                <a:solidFill>
                  <a:schemeClr val="bg2"/>
                </a:solidFill>
                <a:latin typeface="Times New Roman" panose="02020603050405020304" pitchFamily="18" charset="0"/>
                <a:ea typeface="宋体" panose="02010600030101010101" pitchFamily="2" charset="-122"/>
              </a:rPr>
              <a:t>    </a:t>
            </a:r>
            <a:r>
              <a:rPr lang="en-US" altLang="zh-CN" sz="2800" b="1" dirty="0">
                <a:solidFill>
                  <a:srgbClr val="0000FF"/>
                </a:solidFill>
              </a:rPr>
              <a:t>1000</a:t>
            </a:r>
          </a:p>
        </p:txBody>
      </p:sp>
      <p:sp>
        <p:nvSpPr>
          <p:cNvPr id="368655" name="矩形 368654"/>
          <p:cNvSpPr/>
          <p:nvPr/>
        </p:nvSpPr>
        <p:spPr>
          <a:xfrm>
            <a:off x="1984375" y="2924175"/>
            <a:ext cx="954088" cy="430213"/>
          </a:xfrm>
          <a:prstGeom prst="rect">
            <a:avLst/>
          </a:prstGeom>
          <a:noFill/>
          <a:ln w="38100" cap="flat" cmpd="sng">
            <a:solidFill>
              <a:srgbClr val="FF3300"/>
            </a:solidFill>
            <a:prstDash val="solid"/>
            <a:miter/>
            <a:headEnd type="none" w="med" len="med"/>
            <a:tailEnd type="none" w="med" len="med"/>
          </a:ln>
        </p:spPr>
        <p:txBody>
          <a:bodyPr/>
          <a:lstStyle/>
          <a:p>
            <a:endParaRPr lang="zh-CN" altLang="en-US"/>
          </a:p>
        </p:txBody>
      </p:sp>
      <p:sp>
        <p:nvSpPr>
          <p:cNvPr id="368656" name="矩形 368655"/>
          <p:cNvSpPr/>
          <p:nvPr/>
        </p:nvSpPr>
        <p:spPr>
          <a:xfrm>
            <a:off x="2244725" y="3438525"/>
            <a:ext cx="850900" cy="412750"/>
          </a:xfrm>
          <a:prstGeom prst="rect">
            <a:avLst/>
          </a:prstGeom>
          <a:noFill/>
          <a:ln w="38100" cap="flat" cmpd="sng">
            <a:solidFill>
              <a:srgbClr val="FF3300"/>
            </a:solidFill>
            <a:prstDash val="solid"/>
            <a:miter/>
            <a:headEnd type="none" w="med" len="med"/>
            <a:tailEnd type="none" w="med" len="med"/>
          </a:ln>
        </p:spPr>
        <p:txBody>
          <a:bodyPr/>
          <a:lstStyle/>
          <a:p>
            <a:endParaRPr lang="zh-CN" altLang="en-US"/>
          </a:p>
        </p:txBody>
      </p:sp>
      <p:sp>
        <p:nvSpPr>
          <p:cNvPr id="368657" name="矩形 368656"/>
          <p:cNvSpPr/>
          <p:nvPr/>
        </p:nvSpPr>
        <p:spPr>
          <a:xfrm>
            <a:off x="2244725" y="3951288"/>
            <a:ext cx="850900" cy="357187"/>
          </a:xfrm>
          <a:prstGeom prst="rect">
            <a:avLst/>
          </a:prstGeom>
          <a:noFill/>
          <a:ln w="38100" cap="flat" cmpd="sng">
            <a:solidFill>
              <a:srgbClr val="FF3300"/>
            </a:solidFill>
            <a:prstDash val="solid"/>
            <a:miter/>
            <a:headEnd type="none" w="med" len="med"/>
            <a:tailEnd type="none" w="med" len="med"/>
          </a:ln>
        </p:spPr>
        <p:txBody>
          <a:bodyPr/>
          <a:lstStyle/>
          <a:p>
            <a:endParaRPr lang="zh-CN" altLang="en-US"/>
          </a:p>
        </p:txBody>
      </p:sp>
      <p:sp>
        <p:nvSpPr>
          <p:cNvPr id="368658" name="直接连接符 368657"/>
          <p:cNvSpPr/>
          <p:nvPr/>
        </p:nvSpPr>
        <p:spPr>
          <a:xfrm>
            <a:off x="611188" y="4432300"/>
            <a:ext cx="2973387" cy="0"/>
          </a:xfrm>
          <a:prstGeom prst="line">
            <a:avLst/>
          </a:prstGeom>
          <a:ln w="38100" cap="flat" cmpd="sng">
            <a:solidFill>
              <a:schemeClr val="tx1"/>
            </a:solidFill>
            <a:prstDash val="solid"/>
            <a:headEnd type="none" w="med" len="med"/>
            <a:tailEnd type="none" w="med" len="med"/>
          </a:ln>
        </p:spPr>
      </p:sp>
      <p:sp>
        <p:nvSpPr>
          <p:cNvPr id="368659" name="文本框 368658"/>
          <p:cNvSpPr txBox="1"/>
          <p:nvPr/>
        </p:nvSpPr>
        <p:spPr>
          <a:xfrm>
            <a:off x="4270375" y="5003800"/>
            <a:ext cx="1228725" cy="427038"/>
          </a:xfrm>
          <a:prstGeom prst="rect">
            <a:avLst/>
          </a:prstGeom>
          <a:noFill/>
          <a:ln w="9525">
            <a:noFill/>
          </a:ln>
        </p:spPr>
        <p:txBody>
          <a:bodyPr lIns="0" tIns="0" rIns="0" bIns="0">
            <a:spAutoFit/>
          </a:bodyPr>
          <a:lstStyle/>
          <a:p>
            <a:pPr lvl="0" algn="r">
              <a:spcBef>
                <a:spcPct val="50000"/>
              </a:spcBef>
            </a:pPr>
            <a:r>
              <a:rPr lang="en-US" altLang="zh-CN" sz="2800">
                <a:latin typeface="Times New Roman" panose="02020603050405020304" pitchFamily="18" charset="0"/>
                <a:ea typeface="宋体" panose="02010600030101010101" pitchFamily="2" charset="-122"/>
              </a:rPr>
              <a:t>83000H</a:t>
            </a:r>
          </a:p>
        </p:txBody>
      </p:sp>
      <p:sp>
        <p:nvSpPr>
          <p:cNvPr id="368660" name="矩形 368659"/>
          <p:cNvSpPr/>
          <p:nvPr/>
        </p:nvSpPr>
        <p:spPr>
          <a:xfrm>
            <a:off x="2314575" y="5462588"/>
            <a:ext cx="1798638" cy="658812"/>
          </a:xfrm>
          <a:prstGeom prst="rect">
            <a:avLst/>
          </a:prstGeom>
          <a:solidFill>
            <a:srgbClr val="99FFCC"/>
          </a:solidFill>
          <a:ln w="57150" cap="flat" cmpd="sng">
            <a:solidFill>
              <a:srgbClr val="006600"/>
            </a:solidFill>
            <a:prstDash val="solid"/>
            <a:miter/>
            <a:headEnd type="none" w="med" len="med"/>
            <a:tailEnd type="none" w="med" len="med"/>
          </a:ln>
        </p:spPr>
        <p:txBody>
          <a:bodyPr/>
          <a:lstStyle/>
          <a:p>
            <a:endParaRPr lang="zh-CN" altLang="en-US"/>
          </a:p>
        </p:txBody>
      </p:sp>
      <p:sp>
        <p:nvSpPr>
          <p:cNvPr id="368661" name="直接连接符 368660"/>
          <p:cNvSpPr/>
          <p:nvPr/>
        </p:nvSpPr>
        <p:spPr>
          <a:xfrm>
            <a:off x="3214688" y="5462588"/>
            <a:ext cx="0" cy="658812"/>
          </a:xfrm>
          <a:prstGeom prst="line">
            <a:avLst/>
          </a:prstGeom>
          <a:ln w="38100" cap="flat" cmpd="sng">
            <a:solidFill>
              <a:srgbClr val="006600"/>
            </a:solidFill>
            <a:prstDash val="solid"/>
            <a:headEnd type="none" w="med" len="med"/>
            <a:tailEnd type="none" w="med" len="med"/>
          </a:ln>
        </p:spPr>
      </p:sp>
      <p:sp>
        <p:nvSpPr>
          <p:cNvPr id="368662" name="文本框 368661"/>
          <p:cNvSpPr txBox="1"/>
          <p:nvPr/>
        </p:nvSpPr>
        <p:spPr>
          <a:xfrm>
            <a:off x="2386013" y="5595938"/>
            <a:ext cx="828675" cy="427037"/>
          </a:xfrm>
          <a:prstGeom prst="rect">
            <a:avLst/>
          </a:prstGeom>
          <a:noFill/>
          <a:ln w="9525">
            <a:noFill/>
          </a:ln>
        </p:spPr>
        <p:txBody>
          <a:bodyPr lIns="0" tIns="0" rIns="0" bIns="0">
            <a:spAutoFit/>
          </a:bodyPr>
          <a:lstStyle/>
          <a:p>
            <a:pPr lvl="0" algn="ctr">
              <a:spcBef>
                <a:spcPct val="50000"/>
              </a:spcBef>
            </a:pPr>
            <a:r>
              <a:rPr lang="en-US" altLang="zh-CN" sz="2800" b="1">
                <a:solidFill>
                  <a:srgbClr val="FF3300"/>
                </a:solidFill>
                <a:latin typeface="Times New Roman" panose="02020603050405020304" pitchFamily="18" charset="0"/>
                <a:ea typeface="宋体" panose="02010600030101010101" pitchFamily="2" charset="-122"/>
              </a:rPr>
              <a:t>AH</a:t>
            </a:r>
          </a:p>
        </p:txBody>
      </p:sp>
      <p:sp>
        <p:nvSpPr>
          <p:cNvPr id="368663" name="文本框 368662"/>
          <p:cNvSpPr txBox="1"/>
          <p:nvPr/>
        </p:nvSpPr>
        <p:spPr>
          <a:xfrm>
            <a:off x="3282950" y="5595938"/>
            <a:ext cx="830263" cy="427037"/>
          </a:xfrm>
          <a:prstGeom prst="rect">
            <a:avLst/>
          </a:prstGeom>
          <a:noFill/>
          <a:ln w="9525">
            <a:noFill/>
          </a:ln>
        </p:spPr>
        <p:txBody>
          <a:bodyPr lIns="0" tIns="0" rIns="0" bIns="0">
            <a:spAutoFit/>
          </a:bodyPr>
          <a:lstStyle/>
          <a:p>
            <a:pPr lvl="0" algn="ctr">
              <a:spcBef>
                <a:spcPct val="50000"/>
              </a:spcBef>
            </a:pPr>
            <a:r>
              <a:rPr lang="en-US" altLang="zh-CN" sz="2800" b="1">
                <a:solidFill>
                  <a:srgbClr val="FF3300"/>
                </a:solidFill>
                <a:latin typeface="Times New Roman" panose="02020603050405020304" pitchFamily="18" charset="0"/>
                <a:ea typeface="宋体" panose="02010600030101010101" pitchFamily="2" charset="-122"/>
              </a:rPr>
              <a:t>AL</a:t>
            </a:r>
          </a:p>
        </p:txBody>
      </p:sp>
      <p:sp>
        <p:nvSpPr>
          <p:cNvPr id="368664" name="文本框 368663"/>
          <p:cNvSpPr txBox="1"/>
          <p:nvPr/>
        </p:nvSpPr>
        <p:spPr>
          <a:xfrm>
            <a:off x="1693863" y="5595938"/>
            <a:ext cx="620712" cy="427037"/>
          </a:xfrm>
          <a:prstGeom prst="rect">
            <a:avLst/>
          </a:prstGeom>
          <a:noFill/>
          <a:ln w="9525">
            <a:noFill/>
          </a:ln>
        </p:spPr>
        <p:txBody>
          <a:bodyPr lIns="0" tIns="0" rIns="0" bIns="0">
            <a:spAutoFit/>
          </a:bodyPr>
          <a:lstStyle/>
          <a:p>
            <a:pPr lvl="0">
              <a:spcBef>
                <a:spcPct val="50000"/>
              </a:spcBef>
            </a:pPr>
            <a:r>
              <a:rPr lang="en-US" altLang="zh-CN" sz="2800" b="1">
                <a:latin typeface="Times New Roman" panose="02020603050405020304" pitchFamily="18" charset="0"/>
                <a:ea typeface="宋体" panose="02010600030101010101" pitchFamily="2" charset="-122"/>
              </a:rPr>
              <a:t>AX</a:t>
            </a:r>
          </a:p>
        </p:txBody>
      </p:sp>
      <p:sp>
        <p:nvSpPr>
          <p:cNvPr id="368665" name="椭圆 368664"/>
          <p:cNvSpPr/>
          <p:nvPr/>
        </p:nvSpPr>
        <p:spPr>
          <a:xfrm>
            <a:off x="5773738" y="5529263"/>
            <a:ext cx="138112" cy="131762"/>
          </a:xfrm>
          <a:prstGeom prst="ellipse">
            <a:avLst/>
          </a:prstGeom>
          <a:solidFill>
            <a:schemeClr val="tx2"/>
          </a:solidFill>
          <a:ln w="9525">
            <a:noFill/>
          </a:ln>
        </p:spPr>
        <p:txBody>
          <a:bodyPr/>
          <a:lstStyle/>
          <a:p>
            <a:endParaRPr lang="zh-CN" altLang="en-US"/>
          </a:p>
        </p:txBody>
      </p:sp>
      <p:sp>
        <p:nvSpPr>
          <p:cNvPr id="368666" name="椭圆 368665"/>
          <p:cNvSpPr/>
          <p:nvPr/>
        </p:nvSpPr>
        <p:spPr>
          <a:xfrm>
            <a:off x="5773738" y="5133975"/>
            <a:ext cx="138112" cy="131763"/>
          </a:xfrm>
          <a:prstGeom prst="ellipse">
            <a:avLst/>
          </a:prstGeom>
          <a:solidFill>
            <a:schemeClr val="tx2"/>
          </a:solidFill>
          <a:ln w="9525">
            <a:noFill/>
          </a:ln>
        </p:spPr>
        <p:txBody>
          <a:bodyPr/>
          <a:lstStyle/>
          <a:p>
            <a:endParaRPr lang="zh-CN" altLang="en-US"/>
          </a:p>
        </p:txBody>
      </p:sp>
      <p:sp>
        <p:nvSpPr>
          <p:cNvPr id="368667" name="文本框 368666"/>
          <p:cNvSpPr txBox="1"/>
          <p:nvPr/>
        </p:nvSpPr>
        <p:spPr>
          <a:xfrm>
            <a:off x="7710488" y="2898775"/>
            <a:ext cx="1036637" cy="365125"/>
          </a:xfrm>
          <a:prstGeom prst="rect">
            <a:avLst/>
          </a:prstGeom>
          <a:noFill/>
          <a:ln w="9525">
            <a:noFill/>
          </a:ln>
        </p:spPr>
        <p:txBody>
          <a:bodyPr lIns="0" tIns="0" rIns="0" bIns="0">
            <a:spAutoFit/>
          </a:bodyPr>
          <a:lstStyle/>
          <a:p>
            <a:pPr lvl="0">
              <a:spcBef>
                <a:spcPct val="50000"/>
              </a:spcBef>
            </a:pPr>
            <a:r>
              <a:rPr lang="zh-CN" altLang="en-US" sz="2400" dirty="0">
                <a:latin typeface="Times New Roman" panose="02020603050405020304" pitchFamily="18" charset="0"/>
                <a:ea typeface="宋体" panose="02010600030101010101" pitchFamily="2" charset="-122"/>
              </a:rPr>
              <a:t>代码段</a:t>
            </a:r>
            <a:endParaRPr lang="zh-CN" altLang="en-US" sz="2400">
              <a:latin typeface="Times New Roman" panose="02020603050405020304" pitchFamily="18" charset="0"/>
              <a:ea typeface="宋体" panose="02010600030101010101" pitchFamily="2" charset="-122"/>
            </a:endParaRPr>
          </a:p>
        </p:txBody>
      </p:sp>
      <p:sp>
        <p:nvSpPr>
          <p:cNvPr id="368668" name="文本框 368667"/>
          <p:cNvSpPr txBox="1"/>
          <p:nvPr/>
        </p:nvSpPr>
        <p:spPr>
          <a:xfrm>
            <a:off x="7710488" y="5133975"/>
            <a:ext cx="1036637" cy="365125"/>
          </a:xfrm>
          <a:prstGeom prst="rect">
            <a:avLst/>
          </a:prstGeom>
          <a:noFill/>
          <a:ln w="9525">
            <a:noFill/>
          </a:ln>
        </p:spPr>
        <p:txBody>
          <a:bodyPr lIns="0" tIns="0" rIns="0" bIns="0">
            <a:spAutoFit/>
          </a:bodyPr>
          <a:lstStyle/>
          <a:p>
            <a:pPr lvl="0">
              <a:spcBef>
                <a:spcPct val="50000"/>
              </a:spcBef>
            </a:pPr>
            <a:r>
              <a:rPr lang="zh-CN" altLang="en-US" sz="2400" dirty="0">
                <a:latin typeface="Times New Roman" panose="02020603050405020304" pitchFamily="18" charset="0"/>
                <a:ea typeface="宋体" panose="02010600030101010101" pitchFamily="2" charset="-122"/>
              </a:rPr>
              <a:t>数据段</a:t>
            </a:r>
            <a:endParaRPr lang="zh-CN" altLang="en-US" sz="2400">
              <a:latin typeface="Times New Roman" panose="02020603050405020304" pitchFamily="18" charset="0"/>
              <a:ea typeface="宋体" panose="02010600030101010101" pitchFamily="2" charset="-122"/>
            </a:endParaRPr>
          </a:p>
        </p:txBody>
      </p:sp>
      <p:sp>
        <p:nvSpPr>
          <p:cNvPr id="368669" name="直接连接符 368668"/>
          <p:cNvSpPr/>
          <p:nvPr/>
        </p:nvSpPr>
        <p:spPr>
          <a:xfrm>
            <a:off x="3160713" y="4745038"/>
            <a:ext cx="1109662" cy="371475"/>
          </a:xfrm>
          <a:prstGeom prst="line">
            <a:avLst/>
          </a:prstGeom>
          <a:ln w="28575" cap="flat" cmpd="sng">
            <a:solidFill>
              <a:schemeClr val="tx1"/>
            </a:solidFill>
            <a:prstDash val="solid"/>
            <a:headEnd type="none" w="med" len="med"/>
            <a:tailEnd type="triangle" w="med" len="lg"/>
          </a:ln>
        </p:spPr>
      </p:sp>
      <p:sp>
        <p:nvSpPr>
          <p:cNvPr id="368670" name="任意多边形 368669"/>
          <p:cNvSpPr/>
          <p:nvPr/>
        </p:nvSpPr>
        <p:spPr>
          <a:xfrm>
            <a:off x="2832100" y="5611813"/>
            <a:ext cx="3017838" cy="1058862"/>
          </a:xfrm>
          <a:custGeom>
            <a:avLst/>
            <a:gdLst/>
            <a:ahLst/>
            <a:cxnLst/>
            <a:rect l="0" t="0" r="0" b="0"/>
            <a:pathLst>
              <a:path w="1945" h="708">
                <a:moveTo>
                  <a:pt x="1945" y="0"/>
                </a:moveTo>
                <a:cubicBezTo>
                  <a:pt x="1923" y="61"/>
                  <a:pt x="1904" y="116"/>
                  <a:pt x="1869" y="170"/>
                </a:cubicBezTo>
                <a:cubicBezTo>
                  <a:pt x="1846" y="239"/>
                  <a:pt x="1846" y="228"/>
                  <a:pt x="1803" y="283"/>
                </a:cubicBezTo>
                <a:cubicBezTo>
                  <a:pt x="1766" y="330"/>
                  <a:pt x="1749" y="382"/>
                  <a:pt x="1699" y="415"/>
                </a:cubicBezTo>
                <a:cubicBezTo>
                  <a:pt x="1646" y="496"/>
                  <a:pt x="1716" y="403"/>
                  <a:pt x="1652" y="453"/>
                </a:cubicBezTo>
                <a:cubicBezTo>
                  <a:pt x="1643" y="460"/>
                  <a:pt x="1641" y="473"/>
                  <a:pt x="1633" y="481"/>
                </a:cubicBezTo>
                <a:cubicBezTo>
                  <a:pt x="1614" y="500"/>
                  <a:pt x="1599" y="502"/>
                  <a:pt x="1576" y="510"/>
                </a:cubicBezTo>
                <a:cubicBezTo>
                  <a:pt x="1513" y="573"/>
                  <a:pt x="1582" y="513"/>
                  <a:pt x="1520" y="547"/>
                </a:cubicBezTo>
                <a:cubicBezTo>
                  <a:pt x="1490" y="564"/>
                  <a:pt x="1467" y="593"/>
                  <a:pt x="1435" y="604"/>
                </a:cubicBezTo>
                <a:cubicBezTo>
                  <a:pt x="1416" y="610"/>
                  <a:pt x="1397" y="617"/>
                  <a:pt x="1378" y="623"/>
                </a:cubicBezTo>
                <a:cubicBezTo>
                  <a:pt x="1369" y="626"/>
                  <a:pt x="1350" y="632"/>
                  <a:pt x="1350" y="632"/>
                </a:cubicBezTo>
                <a:cubicBezTo>
                  <a:pt x="1278" y="681"/>
                  <a:pt x="1122" y="700"/>
                  <a:pt x="1038" y="708"/>
                </a:cubicBezTo>
                <a:cubicBezTo>
                  <a:pt x="893" y="705"/>
                  <a:pt x="749" y="705"/>
                  <a:pt x="604" y="699"/>
                </a:cubicBezTo>
                <a:cubicBezTo>
                  <a:pt x="543" y="696"/>
                  <a:pt x="430" y="643"/>
                  <a:pt x="368" y="623"/>
                </a:cubicBezTo>
                <a:cubicBezTo>
                  <a:pt x="294" y="599"/>
                  <a:pt x="234" y="553"/>
                  <a:pt x="170" y="510"/>
                </a:cubicBezTo>
                <a:cubicBezTo>
                  <a:pt x="94" y="460"/>
                  <a:pt x="187" y="522"/>
                  <a:pt x="113" y="472"/>
                </a:cubicBezTo>
                <a:cubicBezTo>
                  <a:pt x="104" y="466"/>
                  <a:pt x="85" y="453"/>
                  <a:pt x="85" y="453"/>
                </a:cubicBezTo>
                <a:cubicBezTo>
                  <a:pt x="35" y="379"/>
                  <a:pt x="101" y="468"/>
                  <a:pt x="37" y="406"/>
                </a:cubicBezTo>
                <a:cubicBezTo>
                  <a:pt x="23" y="392"/>
                  <a:pt x="14" y="373"/>
                  <a:pt x="0" y="359"/>
                </a:cubicBezTo>
              </a:path>
            </a:pathLst>
          </a:custGeom>
          <a:noFill/>
          <a:ln w="38100" cap="flat" cmpd="sng">
            <a:solidFill>
              <a:schemeClr val="tx2">
                <a:alpha val="100000"/>
              </a:schemeClr>
            </a:solidFill>
            <a:prstDash val="solid"/>
            <a:headEnd type="none" w="med" len="med"/>
            <a:tailEnd type="triangle" w="lg" len="lg"/>
          </a:ln>
        </p:spPr>
        <p:txBody>
          <a:bodyPr/>
          <a:lstStyle/>
          <a:p>
            <a:endParaRPr lang="zh-CN" altLang="en-US"/>
          </a:p>
        </p:txBody>
      </p:sp>
      <p:sp>
        <p:nvSpPr>
          <p:cNvPr id="368671" name="任意多边形 368670"/>
          <p:cNvSpPr/>
          <p:nvPr/>
        </p:nvSpPr>
        <p:spPr>
          <a:xfrm>
            <a:off x="3752850" y="5183188"/>
            <a:ext cx="2070100" cy="1300162"/>
          </a:xfrm>
          <a:custGeom>
            <a:avLst/>
            <a:gdLst/>
            <a:ahLst/>
            <a:cxnLst/>
            <a:rect l="0" t="0" r="0" b="0"/>
            <a:pathLst>
              <a:path w="1436" h="826">
                <a:moveTo>
                  <a:pt x="1436" y="0"/>
                </a:moveTo>
                <a:cubicBezTo>
                  <a:pt x="1410" y="78"/>
                  <a:pt x="1428" y="41"/>
                  <a:pt x="1379" y="114"/>
                </a:cubicBezTo>
                <a:cubicBezTo>
                  <a:pt x="1373" y="123"/>
                  <a:pt x="1360" y="142"/>
                  <a:pt x="1360" y="142"/>
                </a:cubicBezTo>
                <a:cubicBezTo>
                  <a:pt x="1329" y="239"/>
                  <a:pt x="1236" y="331"/>
                  <a:pt x="1153" y="387"/>
                </a:cubicBezTo>
                <a:cubicBezTo>
                  <a:pt x="1126" y="429"/>
                  <a:pt x="1082" y="439"/>
                  <a:pt x="1049" y="472"/>
                </a:cubicBezTo>
                <a:cubicBezTo>
                  <a:pt x="1021" y="500"/>
                  <a:pt x="1002" y="517"/>
                  <a:pt x="964" y="529"/>
                </a:cubicBezTo>
                <a:cubicBezTo>
                  <a:pt x="930" y="562"/>
                  <a:pt x="891" y="578"/>
                  <a:pt x="850" y="605"/>
                </a:cubicBezTo>
                <a:cubicBezTo>
                  <a:pt x="794" y="642"/>
                  <a:pt x="735" y="687"/>
                  <a:pt x="671" y="708"/>
                </a:cubicBezTo>
                <a:cubicBezTo>
                  <a:pt x="590" y="763"/>
                  <a:pt x="473" y="783"/>
                  <a:pt x="378" y="803"/>
                </a:cubicBezTo>
                <a:cubicBezTo>
                  <a:pt x="247" y="797"/>
                  <a:pt x="176" y="826"/>
                  <a:pt x="86" y="765"/>
                </a:cubicBezTo>
                <a:cubicBezTo>
                  <a:pt x="60" y="726"/>
                  <a:pt x="44" y="689"/>
                  <a:pt x="19" y="652"/>
                </a:cubicBezTo>
                <a:cubicBezTo>
                  <a:pt x="0" y="592"/>
                  <a:pt x="1" y="615"/>
                  <a:pt x="1" y="586"/>
                </a:cubicBezTo>
              </a:path>
            </a:pathLst>
          </a:custGeom>
          <a:noFill/>
          <a:ln w="38100" cap="flat" cmpd="sng">
            <a:solidFill>
              <a:schemeClr val="tx2">
                <a:alpha val="100000"/>
              </a:schemeClr>
            </a:solidFill>
            <a:prstDash val="solid"/>
            <a:headEnd type="none" w="med" len="med"/>
            <a:tailEnd type="triangle" w="lg" len="lg"/>
          </a:ln>
        </p:spPr>
        <p:txBody>
          <a:bodyPr/>
          <a:lstStyle/>
          <a:p>
            <a:endParaRPr lang="zh-CN" altLang="en-US"/>
          </a:p>
        </p:txBody>
      </p:sp>
      <p:sp>
        <p:nvSpPr>
          <p:cNvPr id="368672" name="文本框 368671"/>
          <p:cNvSpPr txBox="1"/>
          <p:nvPr/>
        </p:nvSpPr>
        <p:spPr>
          <a:xfrm>
            <a:off x="6492875" y="2257425"/>
            <a:ext cx="193675" cy="585788"/>
          </a:xfrm>
          <a:prstGeom prst="rect">
            <a:avLst/>
          </a:prstGeom>
          <a:noFill/>
          <a:ln w="9525">
            <a:noFill/>
          </a:ln>
        </p:spPr>
        <p:txBody>
          <a:bodyPr lIns="0" tIns="0" rIns="0" bIns="0">
            <a:spAutoFit/>
          </a:bodyPr>
          <a:lstStyle/>
          <a:p>
            <a:pPr lvl="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endParaRPr lang="en-US" altLang="zh-CN" sz="3200" b="1">
              <a:latin typeface="Times New Roman" panose="02020603050405020304" pitchFamily="18" charset="0"/>
              <a:ea typeface="宋体" panose="02010600030101010101" pitchFamily="2" charset="-122"/>
            </a:endParaRPr>
          </a:p>
        </p:txBody>
      </p:sp>
      <p:sp>
        <p:nvSpPr>
          <p:cNvPr id="368673" name="文本框 368672"/>
          <p:cNvSpPr txBox="1"/>
          <p:nvPr/>
        </p:nvSpPr>
        <p:spPr>
          <a:xfrm>
            <a:off x="6492875" y="4246563"/>
            <a:ext cx="193675" cy="585787"/>
          </a:xfrm>
          <a:prstGeom prst="rect">
            <a:avLst/>
          </a:prstGeom>
          <a:noFill/>
          <a:ln w="9525">
            <a:noFill/>
          </a:ln>
        </p:spPr>
        <p:txBody>
          <a:bodyPr lIns="0" tIns="0" rIns="0" bIns="0">
            <a:spAutoFit/>
          </a:bodyPr>
          <a:lstStyle/>
          <a:p>
            <a:pPr lvl="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endParaRPr lang="en-US" altLang="zh-CN" sz="3200" b="1">
              <a:latin typeface="Times New Roman" panose="02020603050405020304" pitchFamily="18" charset="0"/>
              <a:ea typeface="宋体" panose="02010600030101010101" pitchFamily="2" charset="-122"/>
            </a:endParaRPr>
          </a:p>
        </p:txBody>
      </p:sp>
      <p:sp>
        <p:nvSpPr>
          <p:cNvPr id="368674" name="文本框 368673"/>
          <p:cNvSpPr txBox="1"/>
          <p:nvPr/>
        </p:nvSpPr>
        <p:spPr>
          <a:xfrm>
            <a:off x="6492875" y="5926138"/>
            <a:ext cx="193675" cy="585787"/>
          </a:xfrm>
          <a:prstGeom prst="rect">
            <a:avLst/>
          </a:prstGeom>
          <a:noFill/>
          <a:ln w="9525">
            <a:noFill/>
          </a:ln>
        </p:spPr>
        <p:txBody>
          <a:bodyPr lIns="0" tIns="0" rIns="0" bIns="0">
            <a:spAutoFit/>
          </a:bodyPr>
          <a:lstStyle/>
          <a:p>
            <a:pPr lvl="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p>
          <a:p>
            <a:pPr lvl="0" algn="ctr">
              <a:lnSpc>
                <a:spcPct val="40000"/>
              </a:lnSpc>
            </a:pPr>
            <a:r>
              <a:rPr lang="en-US" altLang="zh-CN" sz="3200" b="1">
                <a:solidFill>
                  <a:srgbClr val="FF3300"/>
                </a:solidFill>
                <a:latin typeface="Times New Roman" panose="02020603050405020304" pitchFamily="18" charset="0"/>
                <a:ea typeface="宋体" panose="02010600030101010101" pitchFamily="2" charset="-122"/>
              </a:rPr>
              <a:t>.</a:t>
            </a:r>
            <a:endParaRPr lang="en-US" altLang="zh-CN" sz="3200" b="1">
              <a:latin typeface="Times New Roman" panose="02020603050405020304" pitchFamily="18" charset="0"/>
              <a:ea typeface="宋体" panose="02010600030101010101" pitchFamily="2" charset="-122"/>
            </a:endParaRPr>
          </a:p>
        </p:txBody>
      </p:sp>
      <p:sp>
        <p:nvSpPr>
          <p:cNvPr id="368675" name="文本框 368674"/>
          <p:cNvSpPr txBox="1"/>
          <p:nvPr/>
        </p:nvSpPr>
        <p:spPr>
          <a:xfrm>
            <a:off x="6230938" y="4992688"/>
            <a:ext cx="828675" cy="365125"/>
          </a:xfrm>
          <a:prstGeom prst="rect">
            <a:avLst/>
          </a:prstGeom>
          <a:noFill/>
          <a:ln w="9525">
            <a:noFill/>
          </a:ln>
        </p:spPr>
        <p:txBody>
          <a:bodyPr lIns="0" tIns="0" rIns="0" bIns="0">
            <a:spAutoFit/>
          </a:bodyPr>
          <a:lstStyle/>
          <a:p>
            <a:pPr lvl="0" algn="ctr">
              <a:spcBef>
                <a:spcPct val="50000"/>
              </a:spcBef>
            </a:pPr>
            <a:r>
              <a:rPr lang="en-US" altLang="zh-CN" sz="2400" b="1">
                <a:solidFill>
                  <a:srgbClr val="FF3300"/>
                </a:solidFill>
                <a:latin typeface="Times New Roman" panose="02020603050405020304" pitchFamily="18" charset="0"/>
                <a:ea typeface="宋体" panose="02010600030101010101" pitchFamily="2" charset="-122"/>
              </a:rPr>
              <a:t>23</a:t>
            </a:r>
          </a:p>
        </p:txBody>
      </p:sp>
      <p:sp>
        <p:nvSpPr>
          <p:cNvPr id="368676" name="文本框 368675"/>
          <p:cNvSpPr txBox="1"/>
          <p:nvPr/>
        </p:nvSpPr>
        <p:spPr>
          <a:xfrm>
            <a:off x="6230938" y="5429250"/>
            <a:ext cx="828675" cy="365125"/>
          </a:xfrm>
          <a:prstGeom prst="rect">
            <a:avLst/>
          </a:prstGeom>
          <a:noFill/>
          <a:ln w="9525">
            <a:noFill/>
          </a:ln>
        </p:spPr>
        <p:txBody>
          <a:bodyPr lIns="0" tIns="0" rIns="0" bIns="0">
            <a:spAutoFit/>
          </a:bodyPr>
          <a:lstStyle/>
          <a:p>
            <a:pPr lvl="0" algn="ctr">
              <a:spcBef>
                <a:spcPct val="50000"/>
              </a:spcBef>
            </a:pPr>
            <a:r>
              <a:rPr lang="en-US" altLang="zh-CN" sz="2400" b="1">
                <a:solidFill>
                  <a:srgbClr val="FF3300"/>
                </a:solidFill>
                <a:latin typeface="Times New Roman" panose="02020603050405020304" pitchFamily="18" charset="0"/>
                <a:ea typeface="宋体" panose="02010600030101010101" pitchFamily="2" charset="-122"/>
              </a:rPr>
              <a:t>56</a:t>
            </a:r>
          </a:p>
        </p:txBody>
      </p:sp>
      <p:sp>
        <p:nvSpPr>
          <p:cNvPr id="368677" name="文本框 368676"/>
          <p:cNvSpPr txBox="1"/>
          <p:nvPr/>
        </p:nvSpPr>
        <p:spPr>
          <a:xfrm>
            <a:off x="250825" y="908050"/>
            <a:ext cx="6435725" cy="369332"/>
          </a:xfrm>
          <a:prstGeom prst="rect">
            <a:avLst/>
          </a:prstGeom>
          <a:noFill/>
          <a:ln w="9525">
            <a:noFill/>
          </a:ln>
        </p:spPr>
        <p:txBody>
          <a:bodyPr wrap="square" lIns="0" tIns="0" rIns="0" bIns="0">
            <a:spAutoFit/>
          </a:bodyPr>
          <a:lstStyle/>
          <a:p>
            <a:pPr lvl="0">
              <a:spcBef>
                <a:spcPct val="50000"/>
              </a:spcBef>
            </a:pPr>
            <a:r>
              <a:rPr lang="zh-CN" altLang="en-US" sz="2400" b="1" dirty="0">
                <a:latin typeface="Times New Roman" panose="02020603050405020304" pitchFamily="18" charset="0"/>
                <a:ea typeface="宋体" panose="02010600030101010101" pitchFamily="2" charset="-122"/>
              </a:rPr>
              <a:t>示例：设</a:t>
            </a:r>
            <a:r>
              <a:rPr lang="en-US" altLang="zh-CN" sz="2400" b="1" dirty="0">
                <a:latin typeface="Times New Roman" panose="02020603050405020304" pitchFamily="18" charset="0"/>
                <a:ea typeface="宋体" panose="02010600030101010101" pitchFamily="2" charset="-122"/>
              </a:rPr>
              <a:t>DS=8000H,  BX=2000H,  SI=1000H</a:t>
            </a:r>
            <a:endParaRPr lang="en-US" altLang="zh-CN" sz="2400" b="1" dirty="0">
              <a:latin typeface="宋体" panose="02010600030101010101" pitchFamily="2" charset="-122"/>
              <a:ea typeface="宋体" panose="02010600030101010101" pitchFamily="2" charset="-122"/>
            </a:endParaRPr>
          </a:p>
        </p:txBody>
      </p:sp>
      <p:sp>
        <p:nvSpPr>
          <p:cNvPr id="368678" name="矩形 368677"/>
          <p:cNvSpPr/>
          <p:nvPr/>
        </p:nvSpPr>
        <p:spPr>
          <a:xfrm>
            <a:off x="179388" y="1484784"/>
            <a:ext cx="5408612" cy="457200"/>
          </a:xfrm>
          <a:prstGeom prst="rect">
            <a:avLst/>
          </a:prstGeom>
          <a:noFill/>
          <a:ln w="9525">
            <a:noFill/>
          </a:ln>
        </p:spPr>
        <p:txBody>
          <a:bodyPr wrap="none" anchor="t">
            <a:spAutoFit/>
          </a:bodyPr>
          <a:lstStyle/>
          <a:p>
            <a:pPr marL="342900" lvl="0" indent="-342900">
              <a:spcBef>
                <a:spcPct val="20000"/>
              </a:spcBef>
            </a:pPr>
            <a:r>
              <a:rPr lang="zh-CN" altLang="en-US" sz="2400" b="1" dirty="0">
                <a:latin typeface="宋体" panose="02010600030101010101" pitchFamily="2" charset="-122"/>
                <a:ea typeface="宋体" panose="02010600030101010101" pitchFamily="2" charset="-122"/>
              </a:rPr>
              <a:t>执行指令</a:t>
            </a:r>
            <a:r>
              <a:rPr lang="zh-CN" altLang="en-US" sz="2400" b="1" dirty="0">
                <a:solidFill>
                  <a:srgbClr val="3333CC"/>
                </a:solidFill>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LEA  AX,[BX][SI]</a:t>
            </a:r>
            <a:r>
              <a:rPr lang="zh-CN" altLang="en-US" sz="2400" b="1" dirty="0">
                <a:latin typeface="宋体" panose="02010600030101010101" pitchFamily="2" charset="-122"/>
                <a:ea typeface="宋体" panose="02010600030101010101" pitchFamily="2" charset="-122"/>
              </a:rPr>
              <a:t>后</a:t>
            </a:r>
            <a:r>
              <a:rPr lang="zh-CN" altLang="en-US" sz="2400" b="1" dirty="0">
                <a:solidFill>
                  <a:srgbClr val="3333CC"/>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AX=?</a:t>
            </a:r>
          </a:p>
        </p:txBody>
      </p:sp>
      <p:sp>
        <p:nvSpPr>
          <p:cNvPr id="40" name="矩形 39"/>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文本占位符 370689"/>
          <p:cNvSpPr>
            <a:spLocks noGrp="1"/>
          </p:cNvSpPr>
          <p:nvPr>
            <p:ph type="body" idx="1"/>
          </p:nvPr>
        </p:nvSpPr>
        <p:spPr>
          <a:xfrm>
            <a:off x="468313" y="1412875"/>
            <a:ext cx="8351837" cy="2232025"/>
          </a:xfrm>
        </p:spPr>
        <p:txBody>
          <a:bodyPr/>
          <a:lstStyle/>
          <a:p>
            <a:pPr marL="0" indent="0">
              <a:buClrTx/>
              <a:buNone/>
            </a:pPr>
            <a:r>
              <a:rPr lang="zh-CN" altLang="en-US" sz="2400" b="1" dirty="0"/>
              <a:t>标志寄存器传送指令用来传送标志寄存器</a:t>
            </a:r>
            <a:r>
              <a:rPr lang="en-US" altLang="zh-CN" sz="2400" b="1"/>
              <a:t>FLAGS</a:t>
            </a:r>
            <a:r>
              <a:rPr lang="zh-CN" altLang="en-US" sz="2400" b="1" dirty="0"/>
              <a:t>的</a:t>
            </a:r>
            <a:r>
              <a:rPr lang="zh-CN" altLang="en-US" sz="2400" b="1" dirty="0">
                <a:solidFill>
                  <a:srgbClr val="0000FF"/>
                </a:solidFill>
              </a:rPr>
              <a:t>内容</a:t>
            </a:r>
            <a:r>
              <a:rPr lang="zh-CN" altLang="en-US" sz="2400" b="1" dirty="0"/>
              <a:t>，方便进行对各个标志位的直接操作。</a:t>
            </a:r>
          </a:p>
          <a:p>
            <a:pPr marL="0" indent="0">
              <a:buClrTx/>
              <a:buNone/>
            </a:pPr>
            <a:r>
              <a:rPr lang="zh-CN" altLang="en-US" sz="2400" b="1" dirty="0"/>
              <a:t>有</a:t>
            </a:r>
            <a:r>
              <a:rPr lang="en-US" altLang="zh-CN" sz="2400" b="1">
                <a:solidFill>
                  <a:srgbClr val="0000FF"/>
                </a:solidFill>
              </a:rPr>
              <a:t>2</a:t>
            </a:r>
            <a:r>
              <a:rPr lang="zh-CN" altLang="en-US" sz="2400" b="1"/>
              <a:t>对</a:t>
            </a:r>
            <a:r>
              <a:rPr lang="en-US" altLang="zh-CN" sz="2400" b="1">
                <a:solidFill>
                  <a:srgbClr val="0000FF"/>
                </a:solidFill>
              </a:rPr>
              <a:t>4</a:t>
            </a:r>
            <a:r>
              <a:rPr lang="zh-CN" altLang="en-US" sz="2400" b="1" dirty="0"/>
              <a:t>条指令</a:t>
            </a:r>
          </a:p>
          <a:p>
            <a:pPr marL="179705" lvl="1" indent="0">
              <a:buClrTx/>
              <a:buNone/>
            </a:pPr>
            <a:r>
              <a:rPr lang="zh-CN" altLang="en-US" sz="2400" b="1" dirty="0"/>
              <a:t>低</a:t>
            </a:r>
            <a:r>
              <a:rPr lang="en-US" altLang="zh-CN" sz="2400" b="1">
                <a:solidFill>
                  <a:srgbClr val="0000FF"/>
                </a:solidFill>
              </a:rPr>
              <a:t>8</a:t>
            </a:r>
            <a:r>
              <a:rPr lang="zh-CN" altLang="en-US" sz="2400" b="1" dirty="0">
                <a:solidFill>
                  <a:srgbClr val="0000FF"/>
                </a:solidFill>
              </a:rPr>
              <a:t>位</a:t>
            </a:r>
            <a:r>
              <a:rPr lang="zh-CN" altLang="en-US" sz="2400" b="1" dirty="0"/>
              <a:t>传送：</a:t>
            </a:r>
            <a:r>
              <a:rPr lang="en-US" altLang="zh-CN" sz="2400" b="1"/>
              <a:t>LAHF</a:t>
            </a:r>
            <a:r>
              <a:rPr lang="zh-CN" altLang="en-US" sz="2400" b="1"/>
              <a:t>和</a:t>
            </a:r>
            <a:r>
              <a:rPr lang="en-US" altLang="zh-CN" sz="2400" b="1"/>
              <a:t>SAHF</a:t>
            </a:r>
          </a:p>
          <a:p>
            <a:pPr marL="179705" lvl="1" indent="0">
              <a:buClrTx/>
              <a:buNone/>
            </a:pPr>
            <a:r>
              <a:rPr lang="en-US" altLang="zh-CN" sz="2400" b="1">
                <a:solidFill>
                  <a:srgbClr val="0000FF"/>
                </a:solidFill>
              </a:rPr>
              <a:t>16</a:t>
            </a:r>
            <a:r>
              <a:rPr lang="zh-CN" altLang="en-US" sz="2400" b="1" dirty="0">
                <a:solidFill>
                  <a:srgbClr val="0000FF"/>
                </a:solidFill>
              </a:rPr>
              <a:t>位</a:t>
            </a:r>
            <a:r>
              <a:rPr lang="zh-CN" altLang="en-US" sz="2400" b="1" dirty="0"/>
              <a:t>传送：</a:t>
            </a:r>
            <a:r>
              <a:rPr lang="en-US" altLang="zh-CN" sz="2400" b="1"/>
              <a:t>PUSHF</a:t>
            </a:r>
            <a:r>
              <a:rPr lang="zh-CN" altLang="en-US" sz="2400" b="1"/>
              <a:t>和</a:t>
            </a:r>
            <a:r>
              <a:rPr lang="en-US" altLang="zh-CN" sz="2400" b="1"/>
              <a:t>POPF</a:t>
            </a:r>
          </a:p>
        </p:txBody>
      </p:sp>
      <p:sp>
        <p:nvSpPr>
          <p:cNvPr id="370691" name="标题 370690"/>
          <p:cNvSpPr>
            <a:spLocks noGrp="1"/>
          </p:cNvSpPr>
          <p:nvPr>
            <p:ph type="title"/>
          </p:nvPr>
        </p:nvSpPr>
        <p:spPr>
          <a:xfrm>
            <a:off x="539750" y="836613"/>
            <a:ext cx="3744913" cy="420687"/>
          </a:xfrm>
        </p:spPr>
        <p:txBody>
          <a:bodyPr lIns="0" tIns="0" rIns="0" bIns="0" anchor="ctr"/>
          <a:lstStyle/>
          <a:p>
            <a:pPr algn="l"/>
            <a:r>
              <a:rPr lang="en-US" altLang="zh-CN" sz="2400" b="1">
                <a:solidFill>
                  <a:schemeClr val="tx1"/>
                </a:solidFill>
              </a:rPr>
              <a:t>5</a:t>
            </a:r>
            <a:r>
              <a:rPr lang="zh-CN" altLang="en-US" sz="2400" b="1" dirty="0">
                <a:solidFill>
                  <a:schemeClr val="tx1"/>
                </a:solidFill>
              </a:rPr>
              <a:t>、标志寄存器传送指令</a:t>
            </a:r>
          </a:p>
        </p:txBody>
      </p:sp>
      <p:sp>
        <p:nvSpPr>
          <p:cNvPr id="5" name="矩形 4"/>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2738" name="文本占位符 372737"/>
          <p:cNvSpPr>
            <a:spLocks noGrp="1"/>
          </p:cNvSpPr>
          <p:nvPr>
            <p:ph type="body" sz="half" idx="1"/>
          </p:nvPr>
        </p:nvSpPr>
        <p:spPr>
          <a:xfrm>
            <a:off x="323850" y="2133600"/>
            <a:ext cx="4191000" cy="3024188"/>
          </a:xfrm>
          <a:ln>
            <a:solidFill>
              <a:schemeClr val="accent2"/>
            </a:solidFill>
            <a:miter/>
          </a:ln>
        </p:spPr>
        <p:txBody>
          <a:bodyPr/>
          <a:lstStyle/>
          <a:p>
            <a:pPr>
              <a:buClrTx/>
              <a:buNone/>
            </a:pPr>
            <a:r>
              <a:rPr lang="en-US" altLang="zh-CN" sz="2400" b="1">
                <a:latin typeface="宋体" panose="02010600030101010101" pitchFamily="2" charset="-122"/>
              </a:rPr>
              <a:t>LAHF</a:t>
            </a:r>
          </a:p>
          <a:p>
            <a:pPr>
              <a:buClrTx/>
              <a:buNone/>
            </a:pPr>
            <a:r>
              <a:rPr lang="zh-CN" altLang="en-US" sz="2400" b="1">
                <a:latin typeface="宋体" panose="02010600030101010101" pitchFamily="2" charset="-122"/>
              </a:rPr>
              <a:t>；</a:t>
            </a:r>
            <a:r>
              <a:rPr lang="en-US" altLang="zh-CN" sz="2400" b="1">
                <a:latin typeface="宋体" panose="02010600030101010101" pitchFamily="2" charset="-122"/>
              </a:rPr>
              <a:t>AH←FLAGS</a:t>
            </a:r>
            <a:r>
              <a:rPr lang="zh-CN" altLang="en-US" sz="2400" b="1" dirty="0">
                <a:latin typeface="宋体" panose="02010600030101010101" pitchFamily="2" charset="-122"/>
              </a:rPr>
              <a:t>的低字节</a:t>
            </a:r>
          </a:p>
          <a:p>
            <a:pPr>
              <a:buClrTx/>
              <a:buNone/>
            </a:pPr>
            <a:r>
              <a:rPr lang="en-US" altLang="zh-CN" sz="2400" b="1">
                <a:latin typeface="宋体" panose="02010600030101010101" pitchFamily="2" charset="-122"/>
              </a:rPr>
              <a:t>LAHF</a:t>
            </a:r>
            <a:r>
              <a:rPr lang="zh-CN" altLang="en-US" sz="2400" b="1" dirty="0">
                <a:latin typeface="宋体" panose="02010600030101010101" pitchFamily="2" charset="-122"/>
              </a:rPr>
              <a:t>指令将标志寄存器的低字节送寄存器</a:t>
            </a:r>
            <a:r>
              <a:rPr lang="en-US" altLang="zh-CN" sz="2400" b="1">
                <a:latin typeface="宋体" panose="02010600030101010101" pitchFamily="2" charset="-122"/>
              </a:rPr>
              <a:t>AH</a:t>
            </a:r>
          </a:p>
          <a:p>
            <a:pPr>
              <a:buClrTx/>
              <a:buNone/>
            </a:pPr>
            <a:r>
              <a:rPr lang="en-US" altLang="zh-CN" sz="2400" b="1">
                <a:latin typeface="宋体" panose="02010600030101010101" pitchFamily="2" charset="-122"/>
              </a:rPr>
              <a:t>SF/ZF/AF/PF/CF</a:t>
            </a:r>
            <a:r>
              <a:rPr lang="zh-CN" altLang="en-US" sz="2400" b="1" dirty="0">
                <a:latin typeface="宋体" panose="02010600030101010101" pitchFamily="2" charset="-122"/>
              </a:rPr>
              <a:t>状态标志位分别送入</a:t>
            </a:r>
            <a:r>
              <a:rPr lang="en-US" altLang="zh-CN" sz="2400" b="1">
                <a:latin typeface="宋体" panose="02010600030101010101" pitchFamily="2" charset="-122"/>
              </a:rPr>
              <a:t>AH</a:t>
            </a:r>
            <a:r>
              <a:rPr lang="zh-CN" altLang="en-US" sz="2400" b="1" dirty="0">
                <a:latin typeface="宋体" panose="02010600030101010101" pitchFamily="2" charset="-122"/>
              </a:rPr>
              <a:t>的第</a:t>
            </a:r>
            <a:r>
              <a:rPr lang="en-US" altLang="zh-CN" sz="2400" b="1">
                <a:latin typeface="宋体" panose="02010600030101010101" pitchFamily="2" charset="-122"/>
              </a:rPr>
              <a:t>7/6/4/2/0</a:t>
            </a:r>
            <a:r>
              <a:rPr lang="zh-CN" altLang="en-US" sz="2400" b="1" dirty="0">
                <a:latin typeface="宋体" panose="02010600030101010101" pitchFamily="2" charset="-122"/>
              </a:rPr>
              <a:t>位，</a:t>
            </a:r>
          </a:p>
        </p:txBody>
      </p:sp>
      <p:sp>
        <p:nvSpPr>
          <p:cNvPr id="372739" name="文本占位符 372738"/>
          <p:cNvSpPr>
            <a:spLocks noGrp="1"/>
          </p:cNvSpPr>
          <p:nvPr>
            <p:ph type="body" sz="half" idx="2"/>
          </p:nvPr>
        </p:nvSpPr>
        <p:spPr>
          <a:xfrm>
            <a:off x="4752975" y="2133600"/>
            <a:ext cx="4086225" cy="3024188"/>
          </a:xfrm>
          <a:ln>
            <a:solidFill>
              <a:schemeClr val="accent2"/>
            </a:solidFill>
            <a:miter/>
          </a:ln>
        </p:spPr>
        <p:txBody>
          <a:bodyPr/>
          <a:lstStyle/>
          <a:p>
            <a:pPr>
              <a:buClrTx/>
              <a:buNone/>
            </a:pPr>
            <a:r>
              <a:rPr lang="en-US" altLang="zh-CN" sz="2400" b="1">
                <a:latin typeface="宋体" panose="02010600030101010101" pitchFamily="2" charset="-122"/>
              </a:rPr>
              <a:t>SAHF</a:t>
            </a:r>
          </a:p>
          <a:p>
            <a:pPr>
              <a:buClrTx/>
              <a:buNone/>
            </a:pPr>
            <a:r>
              <a:rPr lang="zh-CN" altLang="en-US" sz="2400" b="1">
                <a:latin typeface="宋体" panose="02010600030101010101" pitchFamily="2" charset="-122"/>
              </a:rPr>
              <a:t>；</a:t>
            </a:r>
            <a:r>
              <a:rPr lang="en-US" altLang="zh-CN" sz="2400" b="1">
                <a:latin typeface="宋体" panose="02010600030101010101" pitchFamily="2" charset="-122"/>
              </a:rPr>
              <a:t>FLAGS</a:t>
            </a:r>
            <a:r>
              <a:rPr lang="zh-CN" altLang="en-US" sz="2400" b="1" dirty="0">
                <a:latin typeface="宋体" panose="02010600030101010101" pitchFamily="2" charset="-122"/>
              </a:rPr>
              <a:t>的低字节</a:t>
            </a:r>
            <a:r>
              <a:rPr lang="zh-CN" altLang="en-US" sz="2400" b="1">
                <a:latin typeface="宋体" panose="02010600030101010101" pitchFamily="2" charset="-122"/>
              </a:rPr>
              <a:t>←</a:t>
            </a:r>
            <a:r>
              <a:rPr lang="en-US" altLang="zh-CN" sz="2400" b="1">
                <a:latin typeface="宋体" panose="02010600030101010101" pitchFamily="2" charset="-122"/>
              </a:rPr>
              <a:t>AH</a:t>
            </a:r>
          </a:p>
          <a:p>
            <a:pPr>
              <a:buClrTx/>
              <a:buNone/>
            </a:pPr>
            <a:r>
              <a:rPr lang="en-US" altLang="zh-CN" sz="2400" b="1">
                <a:latin typeface="宋体" panose="02010600030101010101" pitchFamily="2" charset="-122"/>
              </a:rPr>
              <a:t>SAHF</a:t>
            </a:r>
            <a:r>
              <a:rPr lang="zh-CN" altLang="en-US" sz="2400" b="1">
                <a:latin typeface="宋体" panose="02010600030101010101" pitchFamily="2" charset="-122"/>
              </a:rPr>
              <a:t>将</a:t>
            </a:r>
            <a:r>
              <a:rPr lang="en-US" altLang="zh-CN" sz="2400" b="1">
                <a:latin typeface="宋体" panose="02010600030101010101" pitchFamily="2" charset="-122"/>
              </a:rPr>
              <a:t>AH</a:t>
            </a:r>
            <a:r>
              <a:rPr lang="zh-CN" altLang="en-US" sz="2400" b="1" dirty="0">
                <a:latin typeface="宋体" panose="02010600030101010101" pitchFamily="2" charset="-122"/>
              </a:rPr>
              <a:t>寄存器内容送</a:t>
            </a:r>
            <a:r>
              <a:rPr lang="en-US" altLang="zh-CN" sz="2400" b="1">
                <a:latin typeface="宋体" panose="02010600030101010101" pitchFamily="2" charset="-122"/>
              </a:rPr>
              <a:t>FLAGS</a:t>
            </a:r>
            <a:r>
              <a:rPr lang="zh-CN" altLang="en-US" sz="2400" b="1" dirty="0">
                <a:latin typeface="宋体" panose="02010600030101010101" pitchFamily="2" charset="-122"/>
              </a:rPr>
              <a:t>的低字节</a:t>
            </a:r>
          </a:p>
          <a:p>
            <a:pPr>
              <a:buClrTx/>
              <a:buNone/>
            </a:pPr>
            <a:r>
              <a:rPr lang="zh-CN" altLang="en-US" sz="2400" b="1" dirty="0">
                <a:latin typeface="宋体" panose="02010600030101010101" pitchFamily="2" charset="-122"/>
              </a:rPr>
              <a:t>用</a:t>
            </a:r>
            <a:r>
              <a:rPr lang="en-US" altLang="zh-CN" sz="2400" b="1">
                <a:latin typeface="宋体" panose="02010600030101010101" pitchFamily="2" charset="-122"/>
              </a:rPr>
              <a:t>AH</a:t>
            </a:r>
            <a:r>
              <a:rPr lang="zh-CN" altLang="en-US" sz="2400" b="1" dirty="0">
                <a:latin typeface="宋体" panose="02010600030101010101" pitchFamily="2" charset="-122"/>
              </a:rPr>
              <a:t>的第</a:t>
            </a:r>
            <a:r>
              <a:rPr lang="en-US" altLang="zh-CN" sz="2400" b="1">
                <a:latin typeface="宋体" panose="02010600030101010101" pitchFamily="2" charset="-122"/>
              </a:rPr>
              <a:t>7/6/4/2/0</a:t>
            </a:r>
            <a:r>
              <a:rPr lang="zh-CN" altLang="en-US" sz="2400" b="1" dirty="0">
                <a:latin typeface="宋体" panose="02010600030101010101" pitchFamily="2" charset="-122"/>
              </a:rPr>
              <a:t>位相应设置</a:t>
            </a:r>
            <a:r>
              <a:rPr lang="en-US" altLang="zh-CN" sz="2400" b="1">
                <a:latin typeface="宋体" panose="02010600030101010101" pitchFamily="2" charset="-122"/>
              </a:rPr>
              <a:t>SF/ZF/AF/ PF/CF</a:t>
            </a:r>
            <a:r>
              <a:rPr lang="zh-CN" altLang="en-US" sz="2400" b="1" dirty="0">
                <a:latin typeface="宋体" panose="02010600030101010101" pitchFamily="2" charset="-122"/>
              </a:rPr>
              <a:t>标志</a:t>
            </a:r>
          </a:p>
        </p:txBody>
      </p:sp>
      <p:sp>
        <p:nvSpPr>
          <p:cNvPr id="372740" name="标题 372739"/>
          <p:cNvSpPr>
            <a:spLocks noGrp="1"/>
          </p:cNvSpPr>
          <p:nvPr>
            <p:ph type="title"/>
          </p:nvPr>
        </p:nvSpPr>
        <p:spPr>
          <a:xfrm>
            <a:off x="395288" y="920750"/>
            <a:ext cx="2951162" cy="420688"/>
          </a:xfrm>
        </p:spPr>
        <p:txBody>
          <a:bodyPr lIns="0" tIns="0" rIns="0" bIns="0" anchor="ctr"/>
          <a:lstStyle/>
          <a:p>
            <a:pPr algn="l"/>
            <a:r>
              <a:rPr lang="zh-CN" altLang="en-US" sz="2400" b="1" dirty="0">
                <a:solidFill>
                  <a:schemeClr val="tx1"/>
                </a:solidFill>
              </a:rPr>
              <a:t>（</a:t>
            </a:r>
            <a:r>
              <a:rPr lang="en-US" altLang="zh-CN" sz="2400" b="1">
                <a:solidFill>
                  <a:schemeClr val="tx1"/>
                </a:solidFill>
              </a:rPr>
              <a:t>1</a:t>
            </a:r>
            <a:r>
              <a:rPr lang="zh-CN" altLang="en-US" sz="2400" b="1" dirty="0">
                <a:solidFill>
                  <a:schemeClr val="tx1"/>
                </a:solidFill>
              </a:rPr>
              <a:t>）</a:t>
            </a:r>
            <a:r>
              <a:rPr lang="en-US" altLang="zh-CN" sz="2400" b="1">
                <a:solidFill>
                  <a:schemeClr val="tx1"/>
                </a:solidFill>
              </a:rPr>
              <a:t>LAHF</a:t>
            </a:r>
            <a:r>
              <a:rPr lang="zh-CN" altLang="en-US" sz="2400" b="1" dirty="0">
                <a:solidFill>
                  <a:schemeClr val="tx1"/>
                </a:solidFill>
              </a:rPr>
              <a:t>与</a:t>
            </a:r>
            <a:r>
              <a:rPr lang="en-US" altLang="zh-CN" sz="2400" b="1">
                <a:solidFill>
                  <a:schemeClr val="tx1"/>
                </a:solidFill>
              </a:rPr>
              <a:t>SAHF</a:t>
            </a: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4786" name="标题 374785"/>
          <p:cNvSpPr>
            <a:spLocks noGrp="1"/>
          </p:cNvSpPr>
          <p:nvPr>
            <p:ph type="title"/>
          </p:nvPr>
        </p:nvSpPr>
        <p:spPr>
          <a:xfrm>
            <a:off x="179388" y="981075"/>
            <a:ext cx="4608512" cy="533400"/>
          </a:xfrm>
        </p:spPr>
        <p:txBody>
          <a:bodyPr anchor="ctr"/>
          <a:lstStyle/>
          <a:p>
            <a:pPr algn="l"/>
            <a:r>
              <a:rPr lang="zh-CN" altLang="en-US" sz="2400" b="1" dirty="0">
                <a:solidFill>
                  <a:schemeClr val="tx1"/>
                </a:solidFill>
              </a:rPr>
              <a:t>（</a:t>
            </a:r>
            <a:r>
              <a:rPr lang="en-US" altLang="zh-CN" sz="2400" b="1">
                <a:solidFill>
                  <a:schemeClr val="tx1"/>
                </a:solidFill>
              </a:rPr>
              <a:t>2</a:t>
            </a:r>
            <a:r>
              <a:rPr lang="zh-CN" altLang="en-US" sz="2400" b="1" dirty="0">
                <a:solidFill>
                  <a:schemeClr val="tx1"/>
                </a:solidFill>
              </a:rPr>
              <a:t>）标志寄存器进出堆栈指令</a:t>
            </a:r>
            <a:endParaRPr lang="zh-CN" altLang="zh-CN" sz="2400" b="1">
              <a:solidFill>
                <a:schemeClr val="tx1"/>
              </a:solidFill>
            </a:endParaRPr>
          </a:p>
        </p:txBody>
      </p:sp>
      <p:sp>
        <p:nvSpPr>
          <p:cNvPr id="374787" name="文本占位符 374786"/>
          <p:cNvSpPr>
            <a:spLocks noGrp="1"/>
          </p:cNvSpPr>
          <p:nvPr>
            <p:ph type="body" sz="half" idx="1"/>
          </p:nvPr>
        </p:nvSpPr>
        <p:spPr>
          <a:xfrm>
            <a:off x="395288" y="1905000"/>
            <a:ext cx="4032250" cy="3048000"/>
          </a:xfrm>
          <a:ln>
            <a:solidFill>
              <a:schemeClr val="accent2"/>
            </a:solidFill>
            <a:miter/>
          </a:ln>
        </p:spPr>
        <p:txBody>
          <a:bodyPr/>
          <a:lstStyle/>
          <a:p>
            <a:pPr>
              <a:buClrTx/>
              <a:buNone/>
            </a:pPr>
            <a:r>
              <a:rPr lang="en-US" altLang="zh-CN" sz="2800" b="1" dirty="0">
                <a:latin typeface="宋体" panose="02010600030101010101" pitchFamily="2" charset="-122"/>
              </a:rPr>
              <a:t>PUSHF</a:t>
            </a:r>
          </a:p>
          <a:p>
            <a:pPr>
              <a:buClrTx/>
              <a:buNone/>
            </a:pPr>
            <a:r>
              <a:rPr lang="zh-CN" altLang="en-US" sz="2800" b="1" dirty="0">
                <a:latin typeface="宋体" panose="02010600030101010101" pitchFamily="2" charset="-122"/>
              </a:rPr>
              <a:t>；</a:t>
            </a:r>
            <a:r>
              <a:rPr lang="en-US" altLang="zh-CN" sz="2800" b="1" dirty="0">
                <a:latin typeface="宋体" panose="02010600030101010101" pitchFamily="2" charset="-122"/>
              </a:rPr>
              <a:t>SP←SP</a:t>
            </a:r>
            <a:r>
              <a:rPr lang="zh-CN" altLang="en-US" sz="2800" b="1" dirty="0">
                <a:latin typeface="宋体" panose="02010600030101010101" pitchFamily="2" charset="-122"/>
              </a:rPr>
              <a:t>－</a:t>
            </a:r>
            <a:r>
              <a:rPr lang="en-US" altLang="zh-CN" sz="2800" b="1" dirty="0">
                <a:latin typeface="宋体" panose="02010600030101010101" pitchFamily="2" charset="-122"/>
              </a:rPr>
              <a:t>2</a:t>
            </a:r>
          </a:p>
          <a:p>
            <a:pPr>
              <a:buClrTx/>
              <a:buNone/>
            </a:pPr>
            <a:r>
              <a:rPr lang="zh-CN" altLang="en-US" sz="2800" b="1" dirty="0">
                <a:latin typeface="宋体" panose="02010600030101010101" pitchFamily="2" charset="-122"/>
              </a:rPr>
              <a:t>；</a:t>
            </a:r>
            <a:r>
              <a:rPr lang="en-US" altLang="zh-CN" sz="2800" b="1" dirty="0">
                <a:latin typeface="宋体" panose="02010600030101010101" pitchFamily="2" charset="-122"/>
              </a:rPr>
              <a:t>SS:[SP]←FLAGS</a:t>
            </a:r>
          </a:p>
          <a:p>
            <a:pPr>
              <a:buClrTx/>
              <a:buNone/>
            </a:pPr>
            <a:r>
              <a:rPr lang="en-US" altLang="zh-CN" sz="2800" b="1" dirty="0">
                <a:latin typeface="宋体" panose="02010600030101010101" pitchFamily="2" charset="-122"/>
              </a:rPr>
              <a:t>PUSHF</a:t>
            </a:r>
            <a:r>
              <a:rPr lang="zh-CN" altLang="en-US" sz="2800" b="1" dirty="0">
                <a:latin typeface="宋体" panose="02010600030101010101" pitchFamily="2" charset="-122"/>
              </a:rPr>
              <a:t>指令将标志寄存器的内容压入堆栈，同时栈顶指针</a:t>
            </a:r>
            <a:r>
              <a:rPr lang="en-US" altLang="zh-CN" sz="2800" b="1" dirty="0">
                <a:latin typeface="宋体" panose="02010600030101010101" pitchFamily="2" charset="-122"/>
              </a:rPr>
              <a:t>SP</a:t>
            </a:r>
            <a:r>
              <a:rPr lang="zh-CN" altLang="en-US" sz="2800" b="1" dirty="0">
                <a:latin typeface="宋体" panose="02010600030101010101" pitchFamily="2" charset="-122"/>
              </a:rPr>
              <a:t>减</a:t>
            </a:r>
            <a:r>
              <a:rPr lang="en-US" altLang="zh-CN" sz="2800" b="1" dirty="0">
                <a:latin typeface="宋体" panose="02010600030101010101" pitchFamily="2" charset="-122"/>
              </a:rPr>
              <a:t>2</a:t>
            </a:r>
          </a:p>
        </p:txBody>
      </p:sp>
      <p:sp>
        <p:nvSpPr>
          <p:cNvPr id="374788" name="文本占位符 374787"/>
          <p:cNvSpPr>
            <a:spLocks noGrp="1"/>
          </p:cNvSpPr>
          <p:nvPr>
            <p:ph type="body" sz="half" idx="2"/>
          </p:nvPr>
        </p:nvSpPr>
        <p:spPr>
          <a:xfrm>
            <a:off x="4676775" y="1905000"/>
            <a:ext cx="4216400" cy="3048000"/>
          </a:xfrm>
          <a:ln>
            <a:solidFill>
              <a:schemeClr val="accent2"/>
            </a:solidFill>
            <a:miter/>
          </a:ln>
        </p:spPr>
        <p:txBody>
          <a:bodyPr/>
          <a:lstStyle/>
          <a:p>
            <a:pPr>
              <a:buClrTx/>
              <a:buNone/>
            </a:pPr>
            <a:r>
              <a:rPr lang="en-US" altLang="zh-CN" sz="2800" b="1">
                <a:latin typeface="宋体" panose="02010600030101010101" pitchFamily="2" charset="-122"/>
              </a:rPr>
              <a:t>POPF</a:t>
            </a:r>
          </a:p>
          <a:p>
            <a:pPr>
              <a:buClrTx/>
              <a:buNone/>
            </a:pPr>
            <a:r>
              <a:rPr lang="zh-CN" altLang="en-US" sz="2400" b="1">
                <a:latin typeface="宋体" panose="02010600030101010101" pitchFamily="2" charset="-122"/>
              </a:rPr>
              <a:t>；</a:t>
            </a:r>
            <a:r>
              <a:rPr lang="en-US" altLang="zh-CN" sz="2800" b="1">
                <a:latin typeface="宋体" panose="02010600030101010101" pitchFamily="2" charset="-122"/>
              </a:rPr>
              <a:t>FLAGS←SS:[SP]</a:t>
            </a:r>
          </a:p>
          <a:p>
            <a:pPr>
              <a:buClrTx/>
              <a:buNone/>
            </a:pPr>
            <a:r>
              <a:rPr lang="zh-CN" altLang="en-US" sz="2800" b="1">
                <a:latin typeface="宋体" panose="02010600030101010101" pitchFamily="2" charset="-122"/>
              </a:rPr>
              <a:t>；</a:t>
            </a:r>
            <a:r>
              <a:rPr lang="en-US" altLang="zh-CN" sz="2800" b="1">
                <a:latin typeface="宋体" panose="02010600030101010101" pitchFamily="2" charset="-122"/>
              </a:rPr>
              <a:t>SP←SP</a:t>
            </a:r>
            <a:r>
              <a:rPr lang="zh-CN" altLang="en-US" sz="2800" b="1">
                <a:latin typeface="宋体" panose="02010600030101010101" pitchFamily="2" charset="-122"/>
              </a:rPr>
              <a:t>＋</a:t>
            </a:r>
            <a:r>
              <a:rPr lang="en-US" altLang="zh-CN" sz="2800" b="1">
                <a:latin typeface="宋体" panose="02010600030101010101" pitchFamily="2" charset="-122"/>
              </a:rPr>
              <a:t>2</a:t>
            </a:r>
          </a:p>
          <a:p>
            <a:pPr>
              <a:buClrTx/>
              <a:buNone/>
            </a:pPr>
            <a:r>
              <a:rPr lang="en-US" altLang="zh-CN" sz="2800" b="1">
                <a:latin typeface="宋体" panose="02010600030101010101" pitchFamily="2" charset="-122"/>
              </a:rPr>
              <a:t>POPF</a:t>
            </a:r>
            <a:r>
              <a:rPr lang="zh-CN" altLang="en-US" sz="2800" b="1" dirty="0">
                <a:latin typeface="宋体" panose="02010600030101010101" pitchFamily="2" charset="-122"/>
              </a:rPr>
              <a:t>指令将栈顶字单元内容送标志寄存器，同时栈顶指针</a:t>
            </a:r>
            <a:r>
              <a:rPr lang="en-US" altLang="zh-CN" sz="2800" b="1">
                <a:latin typeface="宋体" panose="02010600030101010101" pitchFamily="2" charset="-122"/>
              </a:rPr>
              <a:t>SP</a:t>
            </a:r>
            <a:r>
              <a:rPr lang="zh-CN" altLang="en-US" sz="2800" b="1">
                <a:latin typeface="宋体" panose="02010600030101010101" pitchFamily="2" charset="-122"/>
              </a:rPr>
              <a:t>加</a:t>
            </a:r>
            <a:r>
              <a:rPr lang="en-US" altLang="zh-CN" sz="2800" b="1">
                <a:latin typeface="宋体" panose="02010600030101010101" pitchFamily="2" charset="-122"/>
              </a:rPr>
              <a:t>2</a:t>
            </a: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6834" name="标题 376833"/>
          <p:cNvSpPr>
            <a:spLocks noGrp="1"/>
          </p:cNvSpPr>
          <p:nvPr>
            <p:ph type="title"/>
          </p:nvPr>
        </p:nvSpPr>
        <p:spPr>
          <a:xfrm>
            <a:off x="250825" y="908050"/>
            <a:ext cx="3733006" cy="433388"/>
          </a:xfrm>
          <a:prstGeom prst="flowChartAlternateProcess">
            <a:avLst/>
          </a:prstGeom>
          <a:ln w="28575">
            <a:solidFill>
              <a:schemeClr val="accent1"/>
            </a:solidFill>
            <a:miter/>
          </a:ln>
        </p:spPr>
        <p:txBody>
          <a:bodyPr anchor="ctr"/>
          <a:lstStyle/>
          <a:p>
            <a:pPr algn="l">
              <a:lnSpc>
                <a:spcPct val="90000"/>
              </a:lnSpc>
            </a:pPr>
            <a:r>
              <a:rPr lang="zh-CN" altLang="en-US" sz="2400" b="1" dirty="0">
                <a:solidFill>
                  <a:schemeClr val="tx1"/>
                </a:solidFill>
              </a:rPr>
              <a:t>示例：置位单步标志状态</a:t>
            </a:r>
          </a:p>
        </p:txBody>
      </p:sp>
      <p:sp>
        <p:nvSpPr>
          <p:cNvPr id="376835" name="文本占位符 376834"/>
          <p:cNvSpPr>
            <a:spLocks noGrp="1"/>
          </p:cNvSpPr>
          <p:nvPr>
            <p:ph type="body" idx="1"/>
          </p:nvPr>
        </p:nvSpPr>
        <p:spPr>
          <a:xfrm>
            <a:off x="323850" y="1570038"/>
            <a:ext cx="8640763" cy="2506662"/>
          </a:xfrm>
          <a:solidFill>
            <a:schemeClr val="bg1"/>
          </a:solidFill>
        </p:spPr>
        <p:txBody>
          <a:bodyPr/>
          <a:lstStyle/>
          <a:p>
            <a:pPr marL="0" indent="0" defTabSz="0">
              <a:lnSpc>
                <a:spcPct val="90000"/>
              </a:lnSpc>
              <a:buClrTx/>
              <a:buNone/>
              <a:tabLst>
                <a:tab pos="2857500" algn="l"/>
              </a:tabLst>
            </a:pPr>
            <a:r>
              <a:rPr lang="en-US" altLang="zh-CN" sz="2400" b="1">
                <a:latin typeface="宋体" panose="02010600030101010101" pitchFamily="2" charset="-122"/>
              </a:rPr>
              <a:t>PUSHF	</a:t>
            </a:r>
            <a:r>
              <a:rPr lang="zh-CN" altLang="en-US" sz="2400" b="1">
                <a:latin typeface="宋体" panose="02010600030101010101" pitchFamily="2" charset="-122"/>
              </a:rPr>
              <a:t>；</a:t>
            </a:r>
            <a:r>
              <a:rPr lang="zh-CN" altLang="en-US" sz="2400" b="1" dirty="0">
                <a:latin typeface="宋体" panose="02010600030101010101" pitchFamily="2" charset="-122"/>
              </a:rPr>
              <a:t>保存全部标志到堆栈</a:t>
            </a:r>
          </a:p>
          <a:p>
            <a:pPr marL="0" indent="0" defTabSz="0">
              <a:lnSpc>
                <a:spcPct val="90000"/>
              </a:lnSpc>
              <a:buClrTx/>
              <a:buNone/>
              <a:tabLst>
                <a:tab pos="2857500" algn="l"/>
              </a:tabLst>
            </a:pPr>
            <a:r>
              <a:rPr lang="en-US" altLang="zh-CN" sz="2400" b="1">
                <a:latin typeface="宋体" panose="02010600030101010101" pitchFamily="2" charset="-122"/>
              </a:rPr>
              <a:t>POP AX	</a:t>
            </a:r>
            <a:r>
              <a:rPr lang="zh-CN" altLang="en-US" sz="2400" b="1">
                <a:latin typeface="宋体" panose="02010600030101010101" pitchFamily="2" charset="-122"/>
              </a:rPr>
              <a:t>；</a:t>
            </a:r>
            <a:r>
              <a:rPr lang="zh-CN" altLang="en-US" sz="2400" b="1" dirty="0">
                <a:latin typeface="宋体" panose="02010600030101010101" pitchFamily="2" charset="-122"/>
              </a:rPr>
              <a:t>从堆栈中取出全部标志</a:t>
            </a:r>
          </a:p>
          <a:p>
            <a:pPr marL="0" indent="0" defTabSz="0">
              <a:lnSpc>
                <a:spcPct val="90000"/>
              </a:lnSpc>
              <a:buClrTx/>
              <a:buNone/>
              <a:tabLst>
                <a:tab pos="2857500" algn="l"/>
              </a:tabLst>
            </a:pPr>
            <a:r>
              <a:rPr lang="en-US" altLang="zh-CN" sz="2400" b="1">
                <a:latin typeface="宋体" panose="02010600030101010101" pitchFamily="2" charset="-122"/>
              </a:rPr>
              <a:t>OR AX,0100H	</a:t>
            </a:r>
            <a:r>
              <a:rPr lang="zh-CN" altLang="en-US" sz="2400" b="1">
                <a:latin typeface="宋体" panose="02010600030101010101" pitchFamily="2" charset="-122"/>
              </a:rPr>
              <a:t>；</a:t>
            </a:r>
            <a:r>
              <a:rPr lang="zh-CN" altLang="en-US" sz="2400" b="1" dirty="0">
                <a:latin typeface="宋体" panose="02010600030101010101" pitchFamily="2" charset="-122"/>
              </a:rPr>
              <a:t>设置</a:t>
            </a:r>
            <a:r>
              <a:rPr lang="en-US" altLang="zh-CN" sz="2400" b="1">
                <a:latin typeface="宋体" panose="02010600030101010101" pitchFamily="2" charset="-122"/>
              </a:rPr>
              <a:t>D8=TF=1</a:t>
            </a:r>
            <a:r>
              <a:rPr lang="zh-CN" altLang="en-US" sz="2400" b="1">
                <a:latin typeface="宋体" panose="02010600030101010101" pitchFamily="2" charset="-122"/>
              </a:rPr>
              <a:t>，</a:t>
            </a:r>
          </a:p>
          <a:p>
            <a:pPr marL="0" indent="0" defTabSz="0">
              <a:lnSpc>
                <a:spcPct val="90000"/>
              </a:lnSpc>
              <a:buClrTx/>
              <a:buNone/>
              <a:tabLst>
                <a:tab pos="2857500" algn="l"/>
              </a:tabLst>
            </a:pPr>
            <a:r>
              <a:rPr lang="zh-CN" altLang="en-US" sz="2400" b="1">
                <a:latin typeface="宋体" panose="02010600030101010101" pitchFamily="2" charset="-122"/>
              </a:rPr>
              <a:t>	；</a:t>
            </a:r>
            <a:r>
              <a:rPr lang="en-US" altLang="zh-CN" sz="2400" b="1">
                <a:latin typeface="宋体" panose="02010600030101010101" pitchFamily="2" charset="-122"/>
              </a:rPr>
              <a:t>AX</a:t>
            </a:r>
            <a:r>
              <a:rPr lang="zh-CN" altLang="en-US" sz="2400" b="1" dirty="0">
                <a:latin typeface="宋体" panose="02010600030101010101" pitchFamily="2" charset="-122"/>
              </a:rPr>
              <a:t>其他位不变</a:t>
            </a:r>
          </a:p>
          <a:p>
            <a:pPr marL="0" indent="0" defTabSz="0">
              <a:lnSpc>
                <a:spcPct val="90000"/>
              </a:lnSpc>
              <a:buClrTx/>
              <a:buNone/>
              <a:tabLst>
                <a:tab pos="2857500" algn="l"/>
              </a:tabLst>
            </a:pPr>
            <a:r>
              <a:rPr lang="en-US" altLang="zh-CN" sz="2400" b="1">
                <a:latin typeface="宋体" panose="02010600030101010101" pitchFamily="2" charset="-122"/>
              </a:rPr>
              <a:t>PUSH AX	</a:t>
            </a:r>
            <a:r>
              <a:rPr lang="zh-CN" altLang="en-US" sz="2400" b="1">
                <a:latin typeface="宋体" panose="02010600030101010101" pitchFamily="2" charset="-122"/>
              </a:rPr>
              <a:t>；将</a:t>
            </a:r>
            <a:r>
              <a:rPr lang="en-US" altLang="zh-CN" sz="2400" b="1">
                <a:latin typeface="宋体" panose="02010600030101010101" pitchFamily="2" charset="-122"/>
              </a:rPr>
              <a:t>AX</a:t>
            </a:r>
            <a:r>
              <a:rPr lang="zh-CN" altLang="en-US" sz="2400" b="1" dirty="0">
                <a:latin typeface="宋体" panose="02010600030101010101" pitchFamily="2" charset="-122"/>
              </a:rPr>
              <a:t>压入堆栈</a:t>
            </a:r>
          </a:p>
          <a:p>
            <a:pPr marL="0" indent="0" defTabSz="0">
              <a:lnSpc>
                <a:spcPct val="90000"/>
              </a:lnSpc>
              <a:buClrTx/>
              <a:buNone/>
              <a:tabLst>
                <a:tab pos="2857500" algn="l"/>
              </a:tabLst>
            </a:pPr>
            <a:r>
              <a:rPr lang="en-US" altLang="zh-CN" sz="2400" b="1">
                <a:latin typeface="宋体" panose="02010600030101010101" pitchFamily="2" charset="-122"/>
              </a:rPr>
              <a:t>POPF              </a:t>
            </a:r>
            <a:r>
              <a:rPr lang="zh-CN" altLang="en-US" sz="2400" b="1" dirty="0">
                <a:latin typeface="宋体" panose="02010600030101010101" pitchFamily="2" charset="-122"/>
              </a:rPr>
              <a:t>；</a:t>
            </a:r>
            <a:r>
              <a:rPr lang="en-US" altLang="zh-CN" sz="2400" b="1">
                <a:latin typeface="宋体" panose="02010600030101010101" pitchFamily="2" charset="-122"/>
              </a:rPr>
              <a:t>FLAGS←AX</a:t>
            </a:r>
            <a:r>
              <a:rPr lang="zh-CN" altLang="en-US" sz="2400" b="1" dirty="0">
                <a:latin typeface="宋体" panose="02010600030101010101" pitchFamily="2" charset="-122"/>
              </a:rPr>
              <a:t>，将堆栈内容取到标志寄存器</a:t>
            </a:r>
          </a:p>
        </p:txBody>
      </p:sp>
      <p:grpSp>
        <p:nvGrpSpPr>
          <p:cNvPr id="376836" name="组合 376835"/>
          <p:cNvGrpSpPr/>
          <p:nvPr/>
        </p:nvGrpSpPr>
        <p:grpSpPr>
          <a:xfrm>
            <a:off x="152400" y="5181600"/>
            <a:ext cx="8991600" cy="882650"/>
            <a:chOff x="96" y="2976"/>
            <a:chExt cx="5664" cy="556"/>
          </a:xfrm>
        </p:grpSpPr>
        <p:sp>
          <p:nvSpPr>
            <p:cNvPr id="376837" name="文本框 376836">
              <a:hlinkClick r:id="" action="ppaction://noaction"/>
            </p:cNvPr>
            <p:cNvSpPr txBox="1"/>
            <p:nvPr/>
          </p:nvSpPr>
          <p:spPr>
            <a:xfrm>
              <a:off x="905" y="3226"/>
              <a:ext cx="405"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r>
                <a:rPr lang="en-US" altLang="zh-CN" sz="2400" b="1">
                  <a:solidFill>
                    <a:srgbClr val="0000FF"/>
                  </a:solidFill>
                  <a:latin typeface="Times New Roman" panose="02020603050405020304" pitchFamily="18" charset="0"/>
                  <a:ea typeface="宋体" panose="02010600030101010101" pitchFamily="2" charset="-122"/>
                </a:rPr>
                <a:t>OF</a:t>
              </a:r>
            </a:p>
          </p:txBody>
        </p:sp>
        <p:sp>
          <p:nvSpPr>
            <p:cNvPr id="376838" name="文本框 376837"/>
            <p:cNvSpPr txBox="1"/>
            <p:nvPr/>
          </p:nvSpPr>
          <p:spPr>
            <a:xfrm>
              <a:off x="905" y="2976"/>
              <a:ext cx="405"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11</a:t>
              </a:r>
            </a:p>
          </p:txBody>
        </p:sp>
        <p:sp>
          <p:nvSpPr>
            <p:cNvPr id="376839" name="文本框 376838"/>
            <p:cNvSpPr txBox="1"/>
            <p:nvPr/>
          </p:nvSpPr>
          <p:spPr>
            <a:xfrm>
              <a:off x="96" y="3226"/>
              <a:ext cx="809"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endParaRPr lang="zh-CN" altLang="zh-CN" sz="2400" b="1" dirty="0">
                <a:solidFill>
                  <a:srgbClr val="CC3300"/>
                </a:solidFill>
                <a:latin typeface="Times New Roman" panose="02020603050405020304" pitchFamily="18" charset="0"/>
                <a:ea typeface="宋体" panose="02010600030101010101" pitchFamily="2" charset="-122"/>
              </a:endParaRPr>
            </a:p>
          </p:txBody>
        </p:sp>
        <p:sp>
          <p:nvSpPr>
            <p:cNvPr id="376840" name="文本框 376839"/>
            <p:cNvSpPr txBox="1"/>
            <p:nvPr/>
          </p:nvSpPr>
          <p:spPr>
            <a:xfrm>
              <a:off x="96" y="2976"/>
              <a:ext cx="809"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15      12</a:t>
              </a:r>
              <a:endParaRPr lang="en-US" altLang="zh-CN" sz="2400" b="1">
                <a:solidFill>
                  <a:srgbClr val="0000FF"/>
                </a:solidFill>
                <a:latin typeface="Times New Roman" panose="02020603050405020304" pitchFamily="18" charset="0"/>
                <a:ea typeface="宋体" panose="02010600030101010101" pitchFamily="2" charset="-122"/>
              </a:endParaRPr>
            </a:p>
          </p:txBody>
        </p:sp>
        <p:sp>
          <p:nvSpPr>
            <p:cNvPr id="376841" name="文本框 376840">
              <a:hlinkClick r:id="" action="ppaction://noaction"/>
            </p:cNvPr>
            <p:cNvSpPr txBox="1"/>
            <p:nvPr/>
          </p:nvSpPr>
          <p:spPr>
            <a:xfrm>
              <a:off x="1310" y="3226"/>
              <a:ext cx="404"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r>
                <a:rPr lang="en-US" altLang="zh-CN" sz="2400" b="1">
                  <a:solidFill>
                    <a:srgbClr val="0000FF"/>
                  </a:solidFill>
                  <a:latin typeface="Times New Roman" panose="02020603050405020304" pitchFamily="18" charset="0"/>
                  <a:ea typeface="宋体" panose="02010600030101010101" pitchFamily="2" charset="-122"/>
                </a:rPr>
                <a:t>DF</a:t>
              </a:r>
            </a:p>
          </p:txBody>
        </p:sp>
        <p:sp>
          <p:nvSpPr>
            <p:cNvPr id="376842" name="文本框 376841"/>
            <p:cNvSpPr txBox="1"/>
            <p:nvPr/>
          </p:nvSpPr>
          <p:spPr>
            <a:xfrm>
              <a:off x="1310" y="2976"/>
              <a:ext cx="404"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10</a:t>
              </a:r>
            </a:p>
          </p:txBody>
        </p:sp>
        <p:sp>
          <p:nvSpPr>
            <p:cNvPr id="376843" name="文本框 376842"/>
            <p:cNvSpPr txBox="1"/>
            <p:nvPr/>
          </p:nvSpPr>
          <p:spPr>
            <a:xfrm>
              <a:off x="1714" y="3226"/>
              <a:ext cx="405"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r>
                <a:rPr lang="en-US" altLang="zh-CN" sz="2400" b="1">
                  <a:solidFill>
                    <a:srgbClr val="0000FF"/>
                  </a:solidFill>
                  <a:latin typeface="Times New Roman" panose="02020603050405020304" pitchFamily="18" charset="0"/>
                  <a:ea typeface="宋体" panose="02010600030101010101" pitchFamily="2" charset="-122"/>
                </a:rPr>
                <a:t>IF</a:t>
              </a:r>
            </a:p>
          </p:txBody>
        </p:sp>
        <p:sp>
          <p:nvSpPr>
            <p:cNvPr id="376844" name="文本框 376843"/>
            <p:cNvSpPr txBox="1"/>
            <p:nvPr/>
          </p:nvSpPr>
          <p:spPr>
            <a:xfrm>
              <a:off x="1714" y="2976"/>
              <a:ext cx="405"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9</a:t>
              </a:r>
            </a:p>
          </p:txBody>
        </p:sp>
        <p:sp>
          <p:nvSpPr>
            <p:cNvPr id="376845" name="文本框 376844">
              <a:hlinkClick r:id="" action="ppaction://noaction"/>
            </p:cNvPr>
            <p:cNvSpPr txBox="1"/>
            <p:nvPr/>
          </p:nvSpPr>
          <p:spPr>
            <a:xfrm>
              <a:off x="2119" y="3226"/>
              <a:ext cx="404"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r>
                <a:rPr lang="en-US" altLang="zh-CN" sz="2400" b="1">
                  <a:solidFill>
                    <a:srgbClr val="0000FF"/>
                  </a:solidFill>
                  <a:latin typeface="Times New Roman" panose="02020603050405020304" pitchFamily="18" charset="0"/>
                  <a:ea typeface="宋体" panose="02010600030101010101" pitchFamily="2" charset="-122"/>
                </a:rPr>
                <a:t>TF</a:t>
              </a:r>
            </a:p>
          </p:txBody>
        </p:sp>
        <p:sp>
          <p:nvSpPr>
            <p:cNvPr id="376846" name="文本框 376845"/>
            <p:cNvSpPr txBox="1"/>
            <p:nvPr/>
          </p:nvSpPr>
          <p:spPr>
            <a:xfrm>
              <a:off x="2119" y="2976"/>
              <a:ext cx="404"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8</a:t>
              </a:r>
            </a:p>
          </p:txBody>
        </p:sp>
        <p:sp>
          <p:nvSpPr>
            <p:cNvPr id="376847" name="文本框 376846">
              <a:hlinkClick r:id="" action="ppaction://noaction"/>
            </p:cNvPr>
            <p:cNvSpPr txBox="1"/>
            <p:nvPr/>
          </p:nvSpPr>
          <p:spPr>
            <a:xfrm>
              <a:off x="2523" y="3226"/>
              <a:ext cx="405"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r>
                <a:rPr lang="en-US" altLang="zh-CN" sz="2400" b="1">
                  <a:solidFill>
                    <a:srgbClr val="0000FF"/>
                  </a:solidFill>
                  <a:latin typeface="Times New Roman" panose="02020603050405020304" pitchFamily="18" charset="0"/>
                  <a:ea typeface="宋体" panose="02010600030101010101" pitchFamily="2" charset="-122"/>
                </a:rPr>
                <a:t>SF</a:t>
              </a:r>
            </a:p>
          </p:txBody>
        </p:sp>
        <p:sp>
          <p:nvSpPr>
            <p:cNvPr id="376848" name="文本框 376847"/>
            <p:cNvSpPr txBox="1"/>
            <p:nvPr/>
          </p:nvSpPr>
          <p:spPr>
            <a:xfrm>
              <a:off x="2523" y="2976"/>
              <a:ext cx="405"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7</a:t>
              </a:r>
            </a:p>
          </p:txBody>
        </p:sp>
        <p:sp>
          <p:nvSpPr>
            <p:cNvPr id="376849" name="文本框 376848">
              <a:hlinkClick r:id="" action="ppaction://noaction"/>
            </p:cNvPr>
            <p:cNvSpPr txBox="1"/>
            <p:nvPr/>
          </p:nvSpPr>
          <p:spPr>
            <a:xfrm>
              <a:off x="2928" y="3226"/>
              <a:ext cx="405"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r>
                <a:rPr lang="en-US" altLang="zh-CN" sz="2400" b="1">
                  <a:solidFill>
                    <a:srgbClr val="0000FF"/>
                  </a:solidFill>
                  <a:latin typeface="Times New Roman" panose="02020603050405020304" pitchFamily="18" charset="0"/>
                  <a:ea typeface="宋体" panose="02010600030101010101" pitchFamily="2" charset="-122"/>
                </a:rPr>
                <a:t>ZF</a:t>
              </a:r>
            </a:p>
          </p:txBody>
        </p:sp>
        <p:sp>
          <p:nvSpPr>
            <p:cNvPr id="376850" name="文本框 376849"/>
            <p:cNvSpPr txBox="1"/>
            <p:nvPr/>
          </p:nvSpPr>
          <p:spPr>
            <a:xfrm>
              <a:off x="2928" y="2976"/>
              <a:ext cx="405"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6</a:t>
              </a:r>
            </a:p>
          </p:txBody>
        </p:sp>
        <p:sp>
          <p:nvSpPr>
            <p:cNvPr id="376851" name="文本框 376850"/>
            <p:cNvSpPr txBox="1"/>
            <p:nvPr/>
          </p:nvSpPr>
          <p:spPr>
            <a:xfrm>
              <a:off x="3333" y="3226"/>
              <a:ext cx="404"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endParaRPr lang="zh-CN" altLang="zh-CN" sz="2400" b="1" dirty="0">
                <a:solidFill>
                  <a:srgbClr val="CC3300"/>
                </a:solidFill>
                <a:latin typeface="Times New Roman" panose="02020603050405020304" pitchFamily="18" charset="0"/>
                <a:ea typeface="宋体" panose="02010600030101010101" pitchFamily="2" charset="-122"/>
              </a:endParaRPr>
            </a:p>
          </p:txBody>
        </p:sp>
        <p:sp>
          <p:nvSpPr>
            <p:cNvPr id="376852" name="文本框 376851"/>
            <p:cNvSpPr txBox="1"/>
            <p:nvPr/>
          </p:nvSpPr>
          <p:spPr>
            <a:xfrm>
              <a:off x="3333" y="2976"/>
              <a:ext cx="404"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5</a:t>
              </a:r>
              <a:endParaRPr lang="zh-CN" altLang="zh-CN" sz="2400" b="1" dirty="0">
                <a:solidFill>
                  <a:srgbClr val="0000FF"/>
                </a:solidFill>
                <a:latin typeface="Times New Roman" panose="02020603050405020304" pitchFamily="18" charset="0"/>
                <a:ea typeface="宋体" panose="02010600030101010101" pitchFamily="2" charset="-122"/>
              </a:endParaRPr>
            </a:p>
          </p:txBody>
        </p:sp>
        <p:sp>
          <p:nvSpPr>
            <p:cNvPr id="376853" name="文本框 376852">
              <a:hlinkClick r:id="" action="ppaction://noaction"/>
            </p:cNvPr>
            <p:cNvSpPr txBox="1"/>
            <p:nvPr/>
          </p:nvSpPr>
          <p:spPr>
            <a:xfrm>
              <a:off x="3737" y="3226"/>
              <a:ext cx="405"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r>
                <a:rPr lang="en-US" altLang="zh-CN" sz="2400" b="1">
                  <a:solidFill>
                    <a:srgbClr val="0000FF"/>
                  </a:solidFill>
                  <a:latin typeface="Times New Roman" panose="02020603050405020304" pitchFamily="18" charset="0"/>
                  <a:ea typeface="宋体" panose="02010600030101010101" pitchFamily="2" charset="-122"/>
                </a:rPr>
                <a:t>AF</a:t>
              </a:r>
            </a:p>
          </p:txBody>
        </p:sp>
        <p:sp>
          <p:nvSpPr>
            <p:cNvPr id="376854" name="文本框 376853"/>
            <p:cNvSpPr txBox="1"/>
            <p:nvPr/>
          </p:nvSpPr>
          <p:spPr>
            <a:xfrm>
              <a:off x="3737" y="2976"/>
              <a:ext cx="405"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4</a:t>
              </a:r>
              <a:endParaRPr lang="zh-CN" altLang="zh-CN" sz="2400" b="1" dirty="0">
                <a:solidFill>
                  <a:srgbClr val="0000FF"/>
                </a:solidFill>
                <a:latin typeface="Times New Roman" panose="02020603050405020304" pitchFamily="18" charset="0"/>
                <a:ea typeface="宋体" panose="02010600030101010101" pitchFamily="2" charset="-122"/>
              </a:endParaRPr>
            </a:p>
          </p:txBody>
        </p:sp>
        <p:sp>
          <p:nvSpPr>
            <p:cNvPr id="376855" name="文本框 376854"/>
            <p:cNvSpPr txBox="1"/>
            <p:nvPr/>
          </p:nvSpPr>
          <p:spPr>
            <a:xfrm>
              <a:off x="4142" y="3226"/>
              <a:ext cx="404"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endParaRPr lang="zh-CN" altLang="zh-CN" sz="2400" b="1" dirty="0">
                <a:solidFill>
                  <a:srgbClr val="CC3300"/>
                </a:solidFill>
                <a:latin typeface="Times New Roman" panose="02020603050405020304" pitchFamily="18" charset="0"/>
                <a:ea typeface="宋体" panose="02010600030101010101" pitchFamily="2" charset="-122"/>
              </a:endParaRPr>
            </a:p>
          </p:txBody>
        </p:sp>
        <p:sp>
          <p:nvSpPr>
            <p:cNvPr id="376856" name="文本框 376855"/>
            <p:cNvSpPr txBox="1"/>
            <p:nvPr/>
          </p:nvSpPr>
          <p:spPr>
            <a:xfrm>
              <a:off x="4142" y="2976"/>
              <a:ext cx="404"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3</a:t>
              </a:r>
              <a:endParaRPr lang="zh-CN" altLang="zh-CN" sz="2400" b="1" dirty="0">
                <a:solidFill>
                  <a:srgbClr val="0000FF"/>
                </a:solidFill>
                <a:latin typeface="Times New Roman" panose="02020603050405020304" pitchFamily="18" charset="0"/>
                <a:ea typeface="宋体" panose="02010600030101010101" pitchFamily="2" charset="-122"/>
              </a:endParaRPr>
            </a:p>
          </p:txBody>
        </p:sp>
        <p:sp>
          <p:nvSpPr>
            <p:cNvPr id="376857" name="文本框 376856">
              <a:hlinkClick r:id="" action="ppaction://noaction"/>
            </p:cNvPr>
            <p:cNvSpPr txBox="1"/>
            <p:nvPr/>
          </p:nvSpPr>
          <p:spPr>
            <a:xfrm>
              <a:off x="4546" y="3226"/>
              <a:ext cx="405"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r>
                <a:rPr lang="en-US" altLang="zh-CN" sz="2400" b="1">
                  <a:solidFill>
                    <a:srgbClr val="0000FF"/>
                  </a:solidFill>
                  <a:latin typeface="Times New Roman" panose="02020603050405020304" pitchFamily="18" charset="0"/>
                  <a:ea typeface="宋体" panose="02010600030101010101" pitchFamily="2" charset="-122"/>
                </a:rPr>
                <a:t>PF</a:t>
              </a:r>
            </a:p>
          </p:txBody>
        </p:sp>
        <p:sp>
          <p:nvSpPr>
            <p:cNvPr id="376858" name="文本框 376857"/>
            <p:cNvSpPr txBox="1"/>
            <p:nvPr/>
          </p:nvSpPr>
          <p:spPr>
            <a:xfrm>
              <a:off x="4546" y="2976"/>
              <a:ext cx="405"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2</a:t>
              </a:r>
              <a:endParaRPr lang="zh-CN" altLang="zh-CN" sz="2400" b="1" dirty="0">
                <a:solidFill>
                  <a:srgbClr val="0000FF"/>
                </a:solidFill>
                <a:latin typeface="Times New Roman" panose="02020603050405020304" pitchFamily="18" charset="0"/>
                <a:ea typeface="宋体" panose="02010600030101010101" pitchFamily="2" charset="-122"/>
              </a:endParaRPr>
            </a:p>
          </p:txBody>
        </p:sp>
        <p:sp>
          <p:nvSpPr>
            <p:cNvPr id="376859" name="文本框 376858"/>
            <p:cNvSpPr txBox="1"/>
            <p:nvPr/>
          </p:nvSpPr>
          <p:spPr>
            <a:xfrm>
              <a:off x="4951" y="3226"/>
              <a:ext cx="404"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endParaRPr lang="zh-CN" altLang="zh-CN" sz="2400" b="1" dirty="0">
                <a:solidFill>
                  <a:srgbClr val="CC3300"/>
                </a:solidFill>
                <a:latin typeface="Times New Roman" panose="02020603050405020304" pitchFamily="18" charset="0"/>
                <a:ea typeface="宋体" panose="02010600030101010101" pitchFamily="2" charset="-122"/>
              </a:endParaRPr>
            </a:p>
          </p:txBody>
        </p:sp>
        <p:sp>
          <p:nvSpPr>
            <p:cNvPr id="376860" name="文本框 376859"/>
            <p:cNvSpPr txBox="1"/>
            <p:nvPr/>
          </p:nvSpPr>
          <p:spPr>
            <a:xfrm>
              <a:off x="4951" y="2976"/>
              <a:ext cx="404"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1</a:t>
              </a:r>
              <a:endParaRPr lang="zh-CN" altLang="zh-CN" sz="2400" b="1" dirty="0">
                <a:solidFill>
                  <a:srgbClr val="0000FF"/>
                </a:solidFill>
                <a:latin typeface="Times New Roman" panose="02020603050405020304" pitchFamily="18" charset="0"/>
                <a:ea typeface="宋体" panose="02010600030101010101" pitchFamily="2" charset="-122"/>
              </a:endParaRPr>
            </a:p>
          </p:txBody>
        </p:sp>
        <p:sp>
          <p:nvSpPr>
            <p:cNvPr id="376861" name="文本框 376860">
              <a:hlinkClick r:id="" action="ppaction://noaction"/>
            </p:cNvPr>
            <p:cNvSpPr txBox="1"/>
            <p:nvPr/>
          </p:nvSpPr>
          <p:spPr>
            <a:xfrm>
              <a:off x="5355" y="3226"/>
              <a:ext cx="405" cy="306"/>
            </a:xfrm>
            <a:prstGeom prst="rect">
              <a:avLst/>
            </a:prstGeom>
            <a:noFill/>
            <a:ln w="28575" cap="sq" cmpd="sng">
              <a:solidFill>
                <a:srgbClr val="0000CC"/>
              </a:solidFill>
              <a:prstDash val="solid"/>
              <a:miter/>
              <a:headEnd type="none" w="sm" len="sm"/>
              <a:tailEnd type="none" w="sm" len="sm"/>
            </a:ln>
          </p:spPr>
          <p:txBody>
            <a:bodyPr>
              <a:spAutoFit/>
            </a:bodyPr>
            <a:lstStyle/>
            <a:p>
              <a:pPr lvl="0" algn="ctr">
                <a:spcBef>
                  <a:spcPct val="50000"/>
                </a:spcBef>
              </a:pPr>
              <a:r>
                <a:rPr lang="en-US" altLang="zh-CN" sz="2400" b="1">
                  <a:solidFill>
                    <a:srgbClr val="0000FF"/>
                  </a:solidFill>
                  <a:latin typeface="Times New Roman" panose="02020603050405020304" pitchFamily="18" charset="0"/>
                  <a:ea typeface="宋体" panose="02010600030101010101" pitchFamily="2" charset="-122"/>
                </a:rPr>
                <a:t>CF</a:t>
              </a:r>
            </a:p>
          </p:txBody>
        </p:sp>
        <p:sp>
          <p:nvSpPr>
            <p:cNvPr id="376862" name="文本框 376861"/>
            <p:cNvSpPr txBox="1"/>
            <p:nvPr/>
          </p:nvSpPr>
          <p:spPr>
            <a:xfrm>
              <a:off x="5355" y="2976"/>
              <a:ext cx="405" cy="250"/>
            </a:xfrm>
            <a:prstGeom prst="rect">
              <a:avLst/>
            </a:prstGeom>
            <a:noFill/>
            <a:ln w="28575">
              <a:noFill/>
            </a:ln>
          </p:spPr>
          <p:txBody>
            <a:bodyPr>
              <a:spAutoFit/>
            </a:bodyPr>
            <a:lstStyle/>
            <a:p>
              <a:pPr lvl="0" algn="ctr">
                <a:spcBef>
                  <a:spcPct val="50000"/>
                </a:spcBef>
              </a:pPr>
              <a:r>
                <a:rPr lang="zh-CN" altLang="zh-CN" sz="2000" b="1" dirty="0">
                  <a:solidFill>
                    <a:srgbClr val="0000FF"/>
                  </a:solidFill>
                  <a:latin typeface="Times New Roman" panose="02020603050405020304" pitchFamily="18" charset="0"/>
                  <a:ea typeface="宋体" panose="02010600030101010101" pitchFamily="2" charset="-122"/>
                </a:rPr>
                <a:t>0</a:t>
              </a:r>
              <a:endParaRPr lang="zh-CN" altLang="zh-CN" sz="2400" b="1" dirty="0">
                <a:solidFill>
                  <a:srgbClr val="0000FF"/>
                </a:solidFill>
                <a:latin typeface="Times New Roman" panose="02020603050405020304" pitchFamily="18" charset="0"/>
                <a:ea typeface="宋体" panose="02010600030101010101" pitchFamily="2" charset="-122"/>
              </a:endParaRPr>
            </a:p>
          </p:txBody>
        </p:sp>
      </p:grpSp>
      <p:sp>
        <p:nvSpPr>
          <p:cNvPr id="376863" name="圆角矩形 376862"/>
          <p:cNvSpPr/>
          <p:nvPr/>
        </p:nvSpPr>
        <p:spPr>
          <a:xfrm>
            <a:off x="1524000" y="4419600"/>
            <a:ext cx="6216352" cy="449263"/>
          </a:xfrm>
          <a:prstGeom prst="roundRect">
            <a:avLst>
              <a:gd name="adj" fmla="val 16667"/>
            </a:avLst>
          </a:prstGeom>
          <a:solidFill>
            <a:srgbClr val="FFFFFF"/>
          </a:solidFill>
          <a:ln w="9525" cap="flat" cmpd="sng">
            <a:solidFill>
              <a:schemeClr val="accent2"/>
            </a:solidFill>
            <a:prstDash val="solid"/>
            <a:headEnd type="none" w="med" len="med"/>
            <a:tailEnd type="none" w="med" len="med"/>
          </a:ln>
        </p:spPr>
        <p:txBody>
          <a:bodyPr wrap="none" anchor="ctr"/>
          <a:lstStyle/>
          <a:p>
            <a:pPr lvl="0">
              <a:buClrTx/>
            </a:pPr>
            <a:r>
              <a:rPr lang="zh-CN" altLang="en-US" sz="2800" b="1" dirty="0">
                <a:solidFill>
                  <a:srgbClr val="FF00FF"/>
                </a:solidFill>
                <a:latin typeface="Arial" panose="020B0604020202020204" pitchFamily="34" charset="0"/>
                <a:ea typeface="宋体" panose="02010600030101010101" pitchFamily="2" charset="-122"/>
              </a:rPr>
              <a:t>通过此程序段可</a:t>
            </a:r>
            <a:r>
              <a:rPr lang="zh-CN" altLang="en-US" sz="2800" b="1" dirty="0">
                <a:solidFill>
                  <a:srgbClr val="FF00FF"/>
                </a:solidFill>
                <a:latin typeface="Arial" panose="020B0604020202020204" pitchFamily="34" charset="0"/>
              </a:rPr>
              <a:t>修改</a:t>
            </a:r>
            <a:r>
              <a:rPr lang="en-US" altLang="zh-CN" sz="2800" b="1" dirty="0">
                <a:solidFill>
                  <a:srgbClr val="FF00FF"/>
                </a:solidFill>
                <a:latin typeface="Arial" panose="020B0604020202020204" pitchFamily="34" charset="0"/>
              </a:rPr>
              <a:t>TF</a:t>
            </a:r>
            <a:r>
              <a:rPr lang="zh-CN" altLang="en-US" sz="2800" b="1" dirty="0">
                <a:solidFill>
                  <a:srgbClr val="FF00FF"/>
                </a:solidFill>
                <a:latin typeface="Arial" panose="020B0604020202020204" pitchFamily="34" charset="0"/>
                <a:ea typeface="宋体" panose="02010600030101010101" pitchFamily="2" charset="-122"/>
              </a:rPr>
              <a:t>标志位的状态</a:t>
            </a:r>
          </a:p>
        </p:txBody>
      </p:sp>
      <p:sp>
        <p:nvSpPr>
          <p:cNvPr id="33" name="矩形 32"/>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iterate type="wd">
                                    <p:tmPct val="100000"/>
                                  </p:iterate>
                                  <p:childTnLst>
                                    <p:set>
                                      <p:cBhvr>
                                        <p:cTn id="6" dur="1" fill="hold">
                                          <p:stCondLst>
                                            <p:cond delay="0"/>
                                          </p:stCondLst>
                                        </p:cTn>
                                        <p:tgtEl>
                                          <p:spTgt spid="376863"/>
                                        </p:tgtEl>
                                        <p:attrNameLst>
                                          <p:attrName>style.visibility</p:attrName>
                                        </p:attrNameLst>
                                      </p:cBhvr>
                                      <p:to>
                                        <p:strVal val="visible"/>
                                      </p:to>
                                    </p:set>
                                    <p:anim calcmode="lin" valueType="num">
                                      <p:cBhvr>
                                        <p:cTn id="7" dur="300" fill="hold"/>
                                        <p:tgtEl>
                                          <p:spTgt spid="376863"/>
                                        </p:tgtEl>
                                        <p:attrNameLst>
                                          <p:attrName>ppt_x</p:attrName>
                                        </p:attrNameLst>
                                      </p:cBhvr>
                                      <p:tavLst>
                                        <p:tav tm="0">
                                          <p:val>
                                            <p:strVal val="#ppt_x-#ppt_w/2"/>
                                          </p:val>
                                        </p:tav>
                                        <p:tav tm="100000">
                                          <p:val>
                                            <p:strVal val="#ppt_x"/>
                                          </p:val>
                                        </p:tav>
                                      </p:tavLst>
                                    </p:anim>
                                    <p:anim calcmode="lin" valueType="num">
                                      <p:cBhvr>
                                        <p:cTn id="8" dur="300" fill="hold"/>
                                        <p:tgtEl>
                                          <p:spTgt spid="376863"/>
                                        </p:tgtEl>
                                        <p:attrNameLst>
                                          <p:attrName>ppt_y</p:attrName>
                                        </p:attrNameLst>
                                      </p:cBhvr>
                                      <p:tavLst>
                                        <p:tav tm="0">
                                          <p:val>
                                            <p:strVal val="#ppt_y"/>
                                          </p:val>
                                        </p:tav>
                                        <p:tav tm="100000">
                                          <p:val>
                                            <p:strVal val="#ppt_y"/>
                                          </p:val>
                                        </p:tav>
                                      </p:tavLst>
                                    </p:anim>
                                    <p:anim calcmode="lin" valueType="num">
                                      <p:cBhvr>
                                        <p:cTn id="9" dur="300" fill="hold"/>
                                        <p:tgtEl>
                                          <p:spTgt spid="376863"/>
                                        </p:tgtEl>
                                        <p:attrNameLst>
                                          <p:attrName>ppt_w</p:attrName>
                                        </p:attrNameLst>
                                      </p:cBhvr>
                                      <p:tavLst>
                                        <p:tav tm="0">
                                          <p:val>
                                            <p:fltVal val="0"/>
                                          </p:val>
                                        </p:tav>
                                        <p:tav tm="100000">
                                          <p:val>
                                            <p:strVal val="#ppt_w"/>
                                          </p:val>
                                        </p:tav>
                                      </p:tavLst>
                                    </p:anim>
                                    <p:anim calcmode="lin" valueType="num">
                                      <p:cBhvr>
                                        <p:cTn id="10" dur="300" fill="hold"/>
                                        <p:tgtEl>
                                          <p:spTgt spid="37686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63"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882" name="标题 378881"/>
          <p:cNvSpPr>
            <a:spLocks noGrp="1"/>
          </p:cNvSpPr>
          <p:nvPr>
            <p:ph type="title"/>
          </p:nvPr>
        </p:nvSpPr>
        <p:spPr>
          <a:xfrm>
            <a:off x="827088" y="765175"/>
            <a:ext cx="792162" cy="433388"/>
          </a:xfrm>
        </p:spPr>
        <p:txBody>
          <a:bodyPr lIns="0" tIns="0" rIns="0" bIns="0" anchor="ctr"/>
          <a:lstStyle/>
          <a:p>
            <a:pPr algn="l"/>
            <a:r>
              <a:rPr lang="zh-CN" altLang="en-US" sz="2400" b="1" dirty="0">
                <a:solidFill>
                  <a:srgbClr val="0000FF"/>
                </a:solidFill>
              </a:rPr>
              <a:t>小结</a:t>
            </a:r>
          </a:p>
        </p:txBody>
      </p:sp>
      <p:sp>
        <p:nvSpPr>
          <p:cNvPr id="378883" name="文本占位符 378882"/>
          <p:cNvSpPr>
            <a:spLocks noGrp="1"/>
          </p:cNvSpPr>
          <p:nvPr>
            <p:ph type="body" idx="1"/>
          </p:nvPr>
        </p:nvSpPr>
        <p:spPr>
          <a:xfrm>
            <a:off x="468313" y="2211388"/>
            <a:ext cx="8451850" cy="3162300"/>
          </a:xfrm>
        </p:spPr>
        <p:txBody>
          <a:bodyPr/>
          <a:lstStyle/>
          <a:p>
            <a:pPr marL="443230" indent="-443230">
              <a:buClrTx/>
              <a:buNone/>
            </a:pPr>
            <a:r>
              <a:rPr lang="zh-CN" altLang="en-US" sz="2400" b="1" dirty="0"/>
              <a:t>  ① </a:t>
            </a:r>
            <a:r>
              <a:rPr lang="en-US" altLang="zh-CN" sz="2400" b="1" dirty="0"/>
              <a:t>LAHF    </a:t>
            </a:r>
            <a:r>
              <a:rPr lang="zh-CN" altLang="en-US" sz="2400" b="1" dirty="0"/>
              <a:t>；</a:t>
            </a:r>
            <a:r>
              <a:rPr lang="en-US" altLang="zh-CN" sz="2400" b="1" dirty="0">
                <a:solidFill>
                  <a:srgbClr val="0000FF"/>
                </a:solidFill>
              </a:rPr>
              <a:t>AH</a:t>
            </a:r>
            <a:r>
              <a:rPr lang="en-US" altLang="zh-CN" sz="2400" b="1" dirty="0"/>
              <a:t>←</a:t>
            </a:r>
            <a:r>
              <a:rPr lang="zh-CN" altLang="en-US" sz="2400" b="1" dirty="0"/>
              <a:t>标志寄存器</a:t>
            </a:r>
            <a:r>
              <a:rPr lang="zh-CN" altLang="en-US" sz="2400" b="1" dirty="0">
                <a:solidFill>
                  <a:srgbClr val="0000FF"/>
                </a:solidFill>
              </a:rPr>
              <a:t>低</a:t>
            </a:r>
            <a:r>
              <a:rPr lang="en-US" altLang="zh-CN" sz="2400" b="1" dirty="0">
                <a:solidFill>
                  <a:srgbClr val="0000FF"/>
                </a:solidFill>
              </a:rPr>
              <a:t>8</a:t>
            </a:r>
            <a:r>
              <a:rPr lang="zh-CN" altLang="en-US" sz="2400" b="1" dirty="0">
                <a:solidFill>
                  <a:srgbClr val="0000FF"/>
                </a:solidFill>
              </a:rPr>
              <a:t>位</a:t>
            </a:r>
            <a:r>
              <a:rPr lang="zh-CN" altLang="en-US" sz="2400" b="1" dirty="0"/>
              <a:t>，即</a:t>
            </a:r>
            <a:r>
              <a:rPr lang="en-US" altLang="zh-CN" sz="2400" b="1" dirty="0"/>
              <a:t>SF/ZF/AF/PF/CF</a:t>
            </a:r>
            <a:r>
              <a:rPr lang="zh-CN" altLang="en-US" sz="2400" b="1" dirty="0"/>
              <a:t>送 </a:t>
            </a:r>
            <a:r>
              <a:rPr lang="en-US" altLang="zh-CN" sz="2400" b="1" dirty="0"/>
              <a:t>AH</a:t>
            </a:r>
            <a:r>
              <a:rPr lang="zh-CN" altLang="en-US" sz="2400" b="1" dirty="0"/>
              <a:t>相应位，不影响标志。</a:t>
            </a:r>
          </a:p>
          <a:p>
            <a:pPr marL="443230" indent="-443230">
              <a:buClrTx/>
              <a:buNone/>
            </a:pPr>
            <a:r>
              <a:rPr lang="zh-CN" altLang="en-US" sz="2400" b="1" dirty="0"/>
              <a:t>  ② </a:t>
            </a:r>
            <a:r>
              <a:rPr lang="en-US" altLang="zh-CN" sz="2400" b="1" dirty="0"/>
              <a:t>SAHF     </a:t>
            </a:r>
            <a:r>
              <a:rPr lang="zh-CN" altLang="en-US" sz="2400" b="1" dirty="0"/>
              <a:t>；标志寄存器低</a:t>
            </a:r>
            <a:r>
              <a:rPr lang="en-US" altLang="zh-CN" sz="2400" b="1" dirty="0"/>
              <a:t>8</a:t>
            </a:r>
            <a:r>
              <a:rPr lang="zh-CN" altLang="en-US" sz="2400" b="1" dirty="0"/>
              <a:t>位← </a:t>
            </a:r>
            <a:r>
              <a:rPr lang="en-US" altLang="zh-CN" sz="2400" b="1" dirty="0"/>
              <a:t>AH</a:t>
            </a:r>
            <a:r>
              <a:rPr lang="zh-CN" altLang="en-US" sz="2400" b="1" dirty="0"/>
              <a:t>，该条指令影响前</a:t>
            </a:r>
            <a:r>
              <a:rPr lang="zh-CN" altLang="en-US" sz="2400" b="1" dirty="0">
                <a:solidFill>
                  <a:srgbClr val="0000FF"/>
                </a:solidFill>
              </a:rPr>
              <a:t>五个标志</a:t>
            </a:r>
            <a:r>
              <a:rPr lang="zh-CN" altLang="en-US" sz="2400" b="1" dirty="0"/>
              <a:t>。</a:t>
            </a:r>
          </a:p>
          <a:p>
            <a:pPr marL="443230" indent="-443230">
              <a:buClrTx/>
              <a:buNone/>
            </a:pPr>
            <a:r>
              <a:rPr lang="zh-CN" altLang="en-US" sz="2400" b="1" dirty="0"/>
              <a:t>  ③ </a:t>
            </a:r>
            <a:r>
              <a:rPr lang="en-US" altLang="zh-CN" sz="2400" b="1" dirty="0"/>
              <a:t>PUSHF    </a:t>
            </a:r>
            <a:r>
              <a:rPr lang="zh-CN" altLang="en-US" sz="2400" b="1" dirty="0"/>
              <a:t>；标志寄存器入栈，不影响标志，</a:t>
            </a:r>
            <a:r>
              <a:rPr lang="en-US" altLang="zh-CN" sz="2400" b="1" dirty="0">
                <a:solidFill>
                  <a:srgbClr val="0000FF"/>
                </a:solidFill>
              </a:rPr>
              <a:t>16</a:t>
            </a:r>
            <a:r>
              <a:rPr lang="zh-CN" altLang="en-US" sz="2400" b="1" dirty="0">
                <a:solidFill>
                  <a:srgbClr val="0000FF"/>
                </a:solidFill>
              </a:rPr>
              <a:t>位</a:t>
            </a:r>
          </a:p>
          <a:p>
            <a:pPr marL="443230" indent="-443230">
              <a:buClrTx/>
              <a:buNone/>
            </a:pPr>
            <a:r>
              <a:rPr lang="zh-CN" altLang="en-US" sz="2400" b="1" dirty="0"/>
              <a:t>  ④ </a:t>
            </a:r>
            <a:r>
              <a:rPr lang="en-US" altLang="zh-CN" sz="2400" b="1" dirty="0"/>
              <a:t>POPF       </a:t>
            </a:r>
            <a:r>
              <a:rPr lang="zh-CN" altLang="en-US" sz="2400" b="1" dirty="0"/>
              <a:t>；标志寄存器←</a:t>
            </a:r>
            <a:r>
              <a:rPr lang="en-US" altLang="zh-CN" sz="2400" b="1" dirty="0"/>
              <a:t>SS:[SP],SP←SP+2</a:t>
            </a:r>
            <a:r>
              <a:rPr lang="zh-CN" altLang="en-US" sz="2400" b="1" dirty="0"/>
              <a:t>；该指令影响标志，</a:t>
            </a:r>
            <a:r>
              <a:rPr lang="en-US" altLang="zh-CN" sz="2400" b="1" dirty="0">
                <a:solidFill>
                  <a:srgbClr val="0000FF"/>
                </a:solidFill>
              </a:rPr>
              <a:t>16</a:t>
            </a:r>
            <a:r>
              <a:rPr lang="zh-CN" altLang="en-US" sz="2400" b="1" dirty="0">
                <a:solidFill>
                  <a:srgbClr val="0000FF"/>
                </a:solidFill>
              </a:rPr>
              <a:t>位</a:t>
            </a:r>
          </a:p>
        </p:txBody>
      </p:sp>
      <p:sp>
        <p:nvSpPr>
          <p:cNvPr id="378884" name="矩形 378883"/>
          <p:cNvSpPr/>
          <p:nvPr/>
        </p:nvSpPr>
        <p:spPr>
          <a:xfrm>
            <a:off x="827088" y="1484313"/>
            <a:ext cx="4751387" cy="457200"/>
          </a:xfrm>
          <a:prstGeom prst="rect">
            <a:avLst/>
          </a:prstGeom>
          <a:noFill/>
          <a:ln w="9525">
            <a:noFill/>
          </a:ln>
        </p:spPr>
        <p:txBody>
          <a:bodyPr>
            <a:spAutoFit/>
          </a:bodyPr>
          <a:lstStyle/>
          <a:p>
            <a:pPr marL="342900" lvl="0" indent="-342900">
              <a:spcBef>
                <a:spcPct val="20000"/>
              </a:spcBef>
              <a:buClrTx/>
            </a:pPr>
            <a:r>
              <a:rPr lang="zh-CN" altLang="en-US" sz="2400" b="1" dirty="0">
                <a:latin typeface="宋体" panose="02010600030101010101" pitchFamily="2" charset="-122"/>
                <a:ea typeface="宋体" panose="02010600030101010101" pitchFamily="2" charset="-122"/>
              </a:rPr>
              <a:t>四条指令均为无操作数指令</a:t>
            </a:r>
          </a:p>
        </p:txBody>
      </p:sp>
      <p:sp>
        <p:nvSpPr>
          <p:cNvPr id="6" name="矩形 5"/>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9" name="文本占位符 382978"/>
          <p:cNvSpPr>
            <a:spLocks noGrp="1"/>
          </p:cNvSpPr>
          <p:nvPr>
            <p:ph type="body" idx="1"/>
          </p:nvPr>
        </p:nvSpPr>
        <p:spPr>
          <a:xfrm>
            <a:off x="251520" y="981075"/>
            <a:ext cx="8641655" cy="3240013"/>
          </a:xfrm>
        </p:spPr>
        <p:txBody>
          <a:bodyPr/>
          <a:lstStyle/>
          <a:p>
            <a:pPr algn="just">
              <a:spcBef>
                <a:spcPct val="0"/>
              </a:spcBef>
              <a:buNone/>
            </a:pPr>
            <a:r>
              <a:rPr lang="en-US" altLang="zh-CN" sz="2400" b="1" dirty="0">
                <a:latin typeface="楷体_GB2312" pitchFamily="49" charset="-122"/>
              </a:rPr>
              <a:t>6</a:t>
            </a:r>
            <a:r>
              <a:rPr lang="zh-CN" altLang="en-US" sz="2400" b="1" dirty="0">
                <a:latin typeface="楷体_GB2312" pitchFamily="49" charset="-122"/>
              </a:rPr>
              <a:t>、换码指令</a:t>
            </a:r>
            <a:r>
              <a:rPr lang="en-US" altLang="zh-CN" sz="2400" b="1" dirty="0">
                <a:latin typeface="楷体_GB2312" pitchFamily="49" charset="-122"/>
              </a:rPr>
              <a:t>XLAT</a:t>
            </a:r>
            <a:endParaRPr lang="zh-CN" altLang="en-US" sz="2400" b="1" dirty="0">
              <a:latin typeface="楷体_GB2312" pitchFamily="49" charset="-122"/>
            </a:endParaRPr>
          </a:p>
          <a:p>
            <a:pPr>
              <a:spcBef>
                <a:spcPct val="0"/>
              </a:spcBef>
              <a:buNone/>
            </a:pPr>
            <a:r>
              <a:rPr lang="zh-CN" altLang="en-US" sz="2400" b="1" dirty="0">
                <a:latin typeface="楷体_GB2312" pitchFamily="49" charset="-122"/>
              </a:rPr>
              <a:t>格式：</a:t>
            </a:r>
            <a:r>
              <a:rPr lang="en-US" altLang="zh-CN" sz="2400" b="1" dirty="0">
                <a:latin typeface="楷体_GB2312" pitchFamily="49" charset="-122"/>
              </a:rPr>
              <a:t>XLAT</a:t>
            </a:r>
            <a:r>
              <a:rPr lang="zh-CN" altLang="en-US" sz="2400" b="1" dirty="0">
                <a:latin typeface="楷体_GB2312" pitchFamily="49" charset="-122"/>
              </a:rPr>
              <a:t>或</a:t>
            </a:r>
            <a:r>
              <a:rPr lang="en-US" altLang="zh-CN" sz="2400" b="1" dirty="0">
                <a:latin typeface="楷体_GB2312" pitchFamily="49" charset="-122"/>
              </a:rPr>
              <a:t>XLAT </a:t>
            </a:r>
            <a:r>
              <a:rPr lang="zh-CN" altLang="en-US" sz="2400" b="1" dirty="0">
                <a:latin typeface="楷体_GB2312" pitchFamily="49" charset="-122"/>
              </a:rPr>
              <a:t>表首址</a:t>
            </a:r>
          </a:p>
          <a:p>
            <a:pPr>
              <a:spcBef>
                <a:spcPct val="0"/>
              </a:spcBef>
              <a:buNone/>
            </a:pPr>
            <a:r>
              <a:rPr lang="zh-CN" altLang="en-US" sz="2400" b="1" dirty="0">
                <a:latin typeface="楷体_GB2312" pitchFamily="49" charset="-122"/>
              </a:rPr>
              <a:t>功能：将</a:t>
            </a:r>
            <a:r>
              <a:rPr lang="en-US" altLang="zh-CN" sz="2400" b="1" dirty="0">
                <a:latin typeface="楷体_GB2312" pitchFamily="49" charset="-122"/>
              </a:rPr>
              <a:t>AL</a:t>
            </a:r>
            <a:r>
              <a:rPr lang="zh-CN" altLang="en-US" sz="2400" b="1" dirty="0">
                <a:latin typeface="楷体_GB2312" pitchFamily="49" charset="-122"/>
              </a:rPr>
              <a:t>与</a:t>
            </a:r>
            <a:r>
              <a:rPr lang="en-US" altLang="zh-CN" sz="2400" b="1" dirty="0">
                <a:latin typeface="楷体_GB2312" pitchFamily="49" charset="-122"/>
              </a:rPr>
              <a:t>BX</a:t>
            </a:r>
            <a:r>
              <a:rPr lang="zh-CN" altLang="en-US" sz="2400" b="1" dirty="0">
                <a:latin typeface="楷体_GB2312" pitchFamily="49" charset="-122"/>
              </a:rPr>
              <a:t>寄存器的内容之和作为偏移地址，将偏移地址所对应的存储单元内容送入</a:t>
            </a:r>
            <a:r>
              <a:rPr lang="en-US" altLang="zh-CN" sz="2400" b="1" dirty="0">
                <a:latin typeface="楷体_GB2312" pitchFamily="49" charset="-122"/>
              </a:rPr>
              <a:t>AL</a:t>
            </a:r>
            <a:r>
              <a:rPr lang="zh-CN" altLang="en-US" sz="2400" b="1" dirty="0">
                <a:latin typeface="楷体_GB2312" pitchFamily="49" charset="-122"/>
              </a:rPr>
              <a:t>寄存器。 </a:t>
            </a:r>
          </a:p>
          <a:p>
            <a:pPr>
              <a:spcBef>
                <a:spcPct val="0"/>
              </a:spcBef>
              <a:buClr>
                <a:srgbClr val="CC00FF"/>
              </a:buClr>
              <a:buFont typeface="Wingdings" panose="05000000000000000000" pitchFamily="2" charset="2"/>
              <a:buNone/>
            </a:pPr>
            <a:endParaRPr lang="en-US" altLang="zh-CN" sz="2400" b="1" dirty="0">
              <a:latin typeface="楷体_GB2312" pitchFamily="49" charset="-122"/>
            </a:endParaRPr>
          </a:p>
          <a:p>
            <a:pPr>
              <a:spcBef>
                <a:spcPct val="0"/>
              </a:spcBef>
              <a:buClr>
                <a:srgbClr val="CC00FF"/>
              </a:buClr>
              <a:buFont typeface="Wingdings" panose="05000000000000000000" pitchFamily="2" charset="2"/>
              <a:buNone/>
            </a:pPr>
            <a:r>
              <a:rPr lang="zh-CN" altLang="en-US" sz="2400" b="1" dirty="0">
                <a:latin typeface="楷体_GB2312" pitchFamily="49" charset="-122"/>
              </a:rPr>
              <a:t>换码指令执行前：</a:t>
            </a:r>
          </a:p>
          <a:p>
            <a:pPr lvl="1">
              <a:spcBef>
                <a:spcPct val="0"/>
              </a:spcBef>
              <a:buClr>
                <a:srgbClr val="FF00FF"/>
              </a:buClr>
              <a:buFont typeface="Wingdings" panose="05000000000000000000" pitchFamily="2" charset="2"/>
              <a:buChar char="Ø"/>
            </a:pPr>
            <a:r>
              <a:rPr lang="zh-CN" altLang="en-US" sz="2400" b="1" dirty="0">
                <a:latin typeface="楷体_GB2312" pitchFamily="49" charset="-122"/>
              </a:rPr>
              <a:t>在内存建立一个</a:t>
            </a:r>
            <a:r>
              <a:rPr lang="zh-CN" altLang="en-US" sz="2400" b="1" dirty="0">
                <a:solidFill>
                  <a:srgbClr val="0000FF"/>
                </a:solidFill>
                <a:latin typeface="楷体_GB2312" pitchFamily="49" charset="-122"/>
              </a:rPr>
              <a:t>字节数据表</a:t>
            </a:r>
            <a:r>
              <a:rPr lang="zh-CN" altLang="en-US" sz="2400" b="1" dirty="0">
                <a:latin typeface="楷体_GB2312" pitchFamily="49" charset="-122"/>
              </a:rPr>
              <a:t>，内含要转换成的目标代码</a:t>
            </a:r>
          </a:p>
          <a:p>
            <a:pPr lvl="1">
              <a:spcBef>
                <a:spcPct val="0"/>
              </a:spcBef>
              <a:buFont typeface="Wingdings" panose="05000000000000000000" pitchFamily="2" charset="2"/>
              <a:buChar char="Ø"/>
            </a:pPr>
            <a:r>
              <a:rPr lang="en-US" altLang="zh-CN" sz="2400" b="1" dirty="0">
                <a:solidFill>
                  <a:srgbClr val="0000FF"/>
                </a:solidFill>
                <a:latin typeface="楷体_GB2312" pitchFamily="49" charset="-122"/>
              </a:rPr>
              <a:t>BX</a:t>
            </a:r>
            <a:r>
              <a:rPr lang="zh-CN" altLang="en-US" sz="2400" b="1" dirty="0">
                <a:latin typeface="楷体_GB2312" pitchFamily="49" charset="-122"/>
              </a:rPr>
              <a:t>中存放</a:t>
            </a:r>
            <a:r>
              <a:rPr lang="zh-CN" altLang="en-US" sz="2400" b="1" dirty="0">
                <a:solidFill>
                  <a:srgbClr val="0000FF"/>
                </a:solidFill>
                <a:latin typeface="楷体_GB2312" pitchFamily="49" charset="-122"/>
              </a:rPr>
              <a:t>数据表</a:t>
            </a:r>
            <a:r>
              <a:rPr lang="zh-CN" altLang="en-US" sz="2400" b="1" dirty="0">
                <a:latin typeface="楷体_GB2312" pitchFamily="49" charset="-122"/>
              </a:rPr>
              <a:t>首地址，</a:t>
            </a:r>
            <a:r>
              <a:rPr lang="en-US" altLang="zh-CN" sz="2400" b="1" dirty="0">
                <a:latin typeface="楷体_GB2312" pitchFamily="49" charset="-122"/>
              </a:rPr>
              <a:t>AL</a:t>
            </a:r>
            <a:r>
              <a:rPr lang="zh-CN" altLang="en-US" sz="2400" b="1" dirty="0">
                <a:latin typeface="楷体_GB2312" pitchFamily="49" charset="-122"/>
              </a:rPr>
              <a:t>存放相对表格首地址的</a:t>
            </a:r>
            <a:r>
              <a:rPr lang="zh-CN" altLang="en-US" sz="2400" b="1" dirty="0">
                <a:solidFill>
                  <a:srgbClr val="0000FF"/>
                </a:solidFill>
                <a:latin typeface="楷体_GB2312" pitchFamily="49" charset="-122"/>
              </a:rPr>
              <a:t>位移量</a:t>
            </a:r>
          </a:p>
          <a:p>
            <a:pPr>
              <a:spcBef>
                <a:spcPct val="0"/>
              </a:spcBef>
              <a:buClr>
                <a:srgbClr val="CC00FF"/>
              </a:buClr>
              <a:buFont typeface="Wingdings" panose="05000000000000000000" pitchFamily="2" charset="2"/>
              <a:buNone/>
            </a:pPr>
            <a:endParaRPr lang="en-US" altLang="zh-CN" sz="2400" b="1" dirty="0">
              <a:latin typeface="楷体_GB2312" pitchFamily="49" charset="-122"/>
            </a:endParaRPr>
          </a:p>
          <a:p>
            <a:pPr>
              <a:spcBef>
                <a:spcPct val="0"/>
              </a:spcBef>
              <a:buClr>
                <a:srgbClr val="CC00FF"/>
              </a:buClr>
              <a:buFont typeface="Wingdings" panose="05000000000000000000" pitchFamily="2" charset="2"/>
              <a:buNone/>
            </a:pPr>
            <a:endParaRPr lang="en-US" altLang="zh-CN" sz="2400" b="1" dirty="0">
              <a:latin typeface="楷体_GB2312" pitchFamily="49" charset="-122"/>
            </a:endParaRPr>
          </a:p>
          <a:p>
            <a:pPr>
              <a:spcBef>
                <a:spcPct val="0"/>
              </a:spcBef>
              <a:buClr>
                <a:srgbClr val="CC00FF"/>
              </a:buClr>
              <a:buFont typeface="Wingdings" panose="05000000000000000000" pitchFamily="2" charset="2"/>
              <a:buNone/>
            </a:pPr>
            <a:r>
              <a:rPr lang="zh-CN" altLang="en-US" sz="2400" b="1" dirty="0">
                <a:latin typeface="楷体_GB2312" pitchFamily="49" charset="-122"/>
              </a:rPr>
              <a:t>换码指令执行后：</a:t>
            </a:r>
          </a:p>
          <a:p>
            <a:pPr lvl="1">
              <a:spcBef>
                <a:spcPct val="0"/>
              </a:spcBef>
              <a:buNone/>
            </a:pPr>
            <a:r>
              <a:rPr lang="zh-CN" altLang="en-US" sz="2400" b="1" dirty="0">
                <a:latin typeface="楷体_GB2312" pitchFamily="49" charset="-122"/>
              </a:rPr>
              <a:t>将</a:t>
            </a:r>
            <a:r>
              <a:rPr lang="en-US" altLang="zh-CN" sz="2400" b="1" dirty="0">
                <a:latin typeface="楷体_GB2312" pitchFamily="49" charset="-122"/>
              </a:rPr>
              <a:t>AL</a:t>
            </a:r>
            <a:r>
              <a:rPr lang="zh-CN" altLang="en-US" sz="2400" b="1" dirty="0">
                <a:latin typeface="楷体_GB2312" pitchFamily="49" charset="-122"/>
              </a:rPr>
              <a:t>寄存器的内容转换为目标代码</a:t>
            </a:r>
          </a:p>
        </p:txBody>
      </p:sp>
      <p:sp>
        <p:nvSpPr>
          <p:cNvPr id="4" name="矩形 3"/>
          <p:cNvSpPr/>
          <p:nvPr/>
        </p:nvSpPr>
        <p:spPr>
          <a:xfrm>
            <a:off x="2232149" y="260648"/>
            <a:ext cx="4356075" cy="431800"/>
          </a:xfrm>
          <a:prstGeom prst="rect">
            <a:avLst/>
          </a:prstGeom>
          <a:noFill/>
          <a:ln w="9525">
            <a:noFill/>
          </a:ln>
        </p:spPr>
        <p:txBody>
          <a:bodyPr anchor="ctr"/>
          <a:lstStyle>
            <a:defPPr>
              <a:defRPr lang="en-US"/>
            </a:defPPr>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800" b="0" i="0" u="none" kern="1200" baseline="0">
                <a:solidFill>
                  <a:schemeClr val="tx1"/>
                </a:solidFill>
                <a:latin typeface="Times New Roman" panose="02020603050405020304" pitchFamily="18" charset="0"/>
                <a:ea typeface="宋体" panose="02010600030101010101" pitchFamily="2" charset="-122"/>
              </a:defRPr>
            </a:lvl9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9" name="矩形 385028"/>
          <p:cNvSpPr/>
          <p:nvPr/>
        </p:nvSpPr>
        <p:spPr>
          <a:xfrm>
            <a:off x="251520" y="886887"/>
            <a:ext cx="5760318" cy="3785652"/>
          </a:xfrm>
          <a:prstGeom prst="rect">
            <a:avLst/>
          </a:prstGeom>
          <a:noFill/>
          <a:ln w="9525">
            <a:noFill/>
          </a:ln>
        </p:spPr>
        <p:txBody>
          <a:bodyPr wrap="square" anchor="ctr">
            <a:spAutoFit/>
          </a:bodyPr>
          <a:lstStyle/>
          <a:p>
            <a:pPr lvl="0" indent="533400">
              <a:buClrTx/>
            </a:pPr>
            <a:r>
              <a:rPr lang="zh-CN" altLang="en-US" sz="2400" b="1" dirty="0">
                <a:latin typeface="Arial" panose="020B0604020202020204" pitchFamily="34" charset="0"/>
                <a:ea typeface="宋体" panose="02010600030101010101" pitchFamily="2" charset="-122"/>
              </a:rPr>
              <a:t> 示例：编程实现将十六进制数</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FH</a:t>
            </a:r>
            <a:r>
              <a:rPr lang="zh-CN" altLang="en-US" sz="2400" b="1" dirty="0">
                <a:latin typeface="Arial" panose="020B0604020202020204" pitchFamily="34" charset="0"/>
                <a:ea typeface="宋体" panose="02010600030101010101" pitchFamily="2" charset="-122"/>
              </a:rPr>
              <a:t>间的某一十六进制数据转换为其字符对应的</a:t>
            </a:r>
            <a:r>
              <a:rPr lang="en-US" altLang="zh-CN" sz="2400" b="1" dirty="0">
                <a:latin typeface="Arial" panose="020B0604020202020204" pitchFamily="34" charset="0"/>
                <a:ea typeface="宋体" panose="02010600030101010101" pitchFamily="2" charset="-122"/>
              </a:rPr>
              <a:t>ASCII</a:t>
            </a:r>
            <a:r>
              <a:rPr lang="zh-CN" altLang="en-US" sz="2400" b="1" dirty="0">
                <a:latin typeface="Arial" panose="020B0604020202020204" pitchFamily="34" charset="0"/>
                <a:ea typeface="宋体" panose="02010600030101010101" pitchFamily="2" charset="-122"/>
              </a:rPr>
              <a:t>码值，假设存放</a:t>
            </a:r>
            <a:r>
              <a:rPr lang="en-US" altLang="zh-CN" sz="2400" b="1" dirty="0">
                <a:latin typeface="Arial" panose="020B0604020202020204" pitchFamily="34" charset="0"/>
                <a:ea typeface="宋体" panose="02010600030101010101" pitchFamily="2" charset="-122"/>
              </a:rPr>
              <a:t>ASCII</a:t>
            </a:r>
            <a:r>
              <a:rPr lang="zh-CN" altLang="en-US" sz="2400" b="1" dirty="0">
                <a:latin typeface="Arial" panose="020B0604020202020204" pitchFamily="34" charset="0"/>
                <a:ea typeface="宋体" panose="02010600030101010101" pitchFamily="2" charset="-122"/>
              </a:rPr>
              <a:t>码值的数据表首地址为</a:t>
            </a:r>
            <a:r>
              <a:rPr lang="en-US" altLang="zh-CN" sz="2400" b="1" dirty="0">
                <a:latin typeface="Arial" panose="020B0604020202020204" pitchFamily="34" charset="0"/>
                <a:ea typeface="宋体" panose="02010600030101010101" pitchFamily="2" charset="-122"/>
              </a:rPr>
              <a:t>2000H</a:t>
            </a:r>
            <a:r>
              <a:rPr lang="zh-CN" altLang="en-US" sz="2400" b="1" dirty="0">
                <a:latin typeface="Arial" panose="020B0604020202020204" pitchFamily="34" charset="0"/>
                <a:ea typeface="宋体" panose="02010600030101010101" pitchFamily="2" charset="-122"/>
              </a:rPr>
              <a:t>。</a:t>
            </a:r>
          </a:p>
          <a:p>
            <a:pPr lvl="0" indent="533400">
              <a:buClrTx/>
            </a:pPr>
            <a:r>
              <a:rPr lang="zh-CN" altLang="en-US" sz="2400" b="1" dirty="0">
                <a:latin typeface="Arial" panose="020B0604020202020204" pitchFamily="34" charset="0"/>
                <a:ea typeface="宋体" panose="02010600030101010101" pitchFamily="2" charset="-122"/>
              </a:rPr>
              <a:t>以下是要取出“</a:t>
            </a:r>
            <a:r>
              <a:rPr lang="en-US" altLang="zh-CN" sz="2400" b="1" dirty="0">
                <a:latin typeface="Arial" panose="020B0604020202020204" pitchFamily="34" charset="0"/>
                <a:ea typeface="宋体" panose="02010600030101010101" pitchFamily="2" charset="-122"/>
              </a:rPr>
              <a:t>B”</a:t>
            </a:r>
            <a:r>
              <a:rPr lang="zh-CN" altLang="en-US" sz="2400" b="1">
                <a:latin typeface="Arial" panose="020B0604020202020204" pitchFamily="34" charset="0"/>
                <a:ea typeface="宋体" panose="02010600030101010101" pitchFamily="2" charset="-122"/>
              </a:rPr>
              <a:t>字符所对应的</a:t>
            </a:r>
            <a:r>
              <a:rPr lang="en-US" altLang="zh-CN" sz="2400" b="1" dirty="0">
                <a:latin typeface="Arial" panose="020B0604020202020204" pitchFamily="34" charset="0"/>
                <a:ea typeface="宋体" panose="02010600030101010101" pitchFamily="2" charset="-122"/>
              </a:rPr>
              <a:t>ASCII</a:t>
            </a:r>
            <a:r>
              <a:rPr lang="zh-CN" altLang="en-US" sz="2400" b="1" dirty="0">
                <a:latin typeface="Arial" panose="020B0604020202020204" pitchFamily="34" charset="0"/>
                <a:ea typeface="宋体" panose="02010600030101010101" pitchFamily="2" charset="-122"/>
              </a:rPr>
              <a:t>码值的程序段：</a:t>
            </a:r>
          </a:p>
          <a:p>
            <a:pPr lvl="0" indent="533400">
              <a:buClrTx/>
            </a:pPr>
            <a:endParaRPr lang="en-US" altLang="zh-CN" sz="2400" b="1" dirty="0">
              <a:latin typeface="Arial" panose="020B0604020202020204" pitchFamily="34" charset="0"/>
              <a:ea typeface="宋体" panose="02010600030101010101" pitchFamily="2" charset="-122"/>
            </a:endParaRPr>
          </a:p>
          <a:p>
            <a:pPr lvl="0" indent="533400">
              <a:buClrTx/>
            </a:pPr>
            <a:r>
              <a:rPr lang="en-US" altLang="zh-CN" sz="2400" b="1" dirty="0">
                <a:latin typeface="Arial" panose="020B0604020202020204" pitchFamily="34" charset="0"/>
                <a:ea typeface="宋体" panose="02010600030101010101" pitchFamily="2" charset="-122"/>
              </a:rPr>
              <a:t>MOV  BX,2000H                     </a:t>
            </a:r>
          </a:p>
          <a:p>
            <a:pPr lvl="0" indent="533400">
              <a:buClrTx/>
            </a:pPr>
            <a:r>
              <a:rPr lang="en-US" altLang="zh-CN" sz="2400" b="1" dirty="0">
                <a:latin typeface="Arial" panose="020B0604020202020204" pitchFamily="34" charset="0"/>
                <a:ea typeface="宋体" panose="02010600030101010101" pitchFamily="2" charset="-122"/>
              </a:rPr>
              <a:t>MOV  AL,0BH</a:t>
            </a:r>
            <a:endParaRPr lang="zh-CN" altLang="en-US" sz="2400" b="1" dirty="0">
              <a:latin typeface="Arial" panose="020B0604020202020204" pitchFamily="34" charset="0"/>
              <a:ea typeface="宋体" panose="02010600030101010101" pitchFamily="2" charset="-122"/>
            </a:endParaRPr>
          </a:p>
          <a:p>
            <a:pPr lvl="0" indent="533400">
              <a:buClrTx/>
            </a:pPr>
            <a:r>
              <a:rPr lang="en-US" altLang="zh-CN" sz="2400" b="1" dirty="0">
                <a:solidFill>
                  <a:srgbClr val="0000FF"/>
                </a:solidFill>
                <a:latin typeface="Arial" panose="020B0604020202020204" pitchFamily="34" charset="0"/>
                <a:ea typeface="宋体" panose="02010600030101010101" pitchFamily="2" charset="-122"/>
              </a:rPr>
              <a:t>XLAT</a:t>
            </a:r>
            <a:r>
              <a:rPr lang="en-US" altLang="zh-CN" sz="2400" b="1" dirty="0">
                <a:latin typeface="Arial" panose="020B0604020202020204" pitchFamily="34" charset="0"/>
                <a:ea typeface="宋体" panose="02010600030101010101" pitchFamily="2" charset="-122"/>
              </a:rPr>
              <a:t>               </a:t>
            </a:r>
          </a:p>
        </p:txBody>
      </p:sp>
      <p:pic>
        <p:nvPicPr>
          <p:cNvPr id="385030" name="图片 385029"/>
          <p:cNvPicPr>
            <a:picLocks noChangeAspect="1"/>
          </p:cNvPicPr>
          <p:nvPr/>
        </p:nvPicPr>
        <p:blipFill>
          <a:blip r:embed="rId3"/>
          <a:stretch>
            <a:fillRect/>
          </a:stretch>
        </p:blipFill>
        <p:spPr>
          <a:xfrm>
            <a:off x="5580063" y="2205038"/>
            <a:ext cx="3313112" cy="3816350"/>
          </a:xfrm>
          <a:prstGeom prst="rect">
            <a:avLst/>
          </a:prstGeom>
          <a:noFill/>
          <a:ln w="9525">
            <a:noFill/>
          </a:ln>
        </p:spPr>
      </p:pic>
      <p:sp>
        <p:nvSpPr>
          <p:cNvPr id="385031" name="矩形 385030"/>
          <p:cNvSpPr/>
          <p:nvPr/>
        </p:nvSpPr>
        <p:spPr>
          <a:xfrm>
            <a:off x="611188" y="5545138"/>
            <a:ext cx="3863975" cy="457200"/>
          </a:xfrm>
          <a:prstGeom prst="rect">
            <a:avLst/>
          </a:prstGeom>
          <a:noFill/>
          <a:ln w="9525">
            <a:noFill/>
          </a:ln>
        </p:spPr>
        <p:txBody>
          <a:bodyPr wrap="none" anchor="ctr">
            <a:spAutoFit/>
          </a:bodyPr>
          <a:lstStyle/>
          <a:p>
            <a:pPr lvl="0"/>
            <a:r>
              <a:rPr lang="zh-CN" altLang="en-US" sz="2400" b="1" dirty="0">
                <a:latin typeface="Arial" panose="020B0604020202020204" pitchFamily="34" charset="0"/>
                <a:ea typeface="宋体" panose="02010600030101010101" pitchFamily="2" charset="-122"/>
              </a:rPr>
              <a:t>完成代码转换后，</a:t>
            </a:r>
            <a:r>
              <a:rPr lang="en-US" altLang="zh-CN" sz="2400" b="1">
                <a:solidFill>
                  <a:srgbClr val="0000FF"/>
                </a:solidFill>
                <a:latin typeface="Arial" panose="020B0604020202020204" pitchFamily="34" charset="0"/>
                <a:ea typeface="宋体" panose="02010600030101010101" pitchFamily="2" charset="-122"/>
              </a:rPr>
              <a:t>AL=42H</a:t>
            </a:r>
            <a:r>
              <a:rPr lang="en-US" altLang="zh-CN" sz="2400" b="1">
                <a:latin typeface="Arial" panose="020B0604020202020204" pitchFamily="34" charset="0"/>
                <a:ea typeface="宋体" panose="02010600030101010101" pitchFamily="2" charset="-122"/>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7" name="标题 328706"/>
          <p:cNvSpPr>
            <a:spLocks noGrp="1"/>
          </p:cNvSpPr>
          <p:nvPr>
            <p:ph type="title"/>
          </p:nvPr>
        </p:nvSpPr>
        <p:spPr>
          <a:xfrm>
            <a:off x="468313" y="924431"/>
            <a:ext cx="3743647" cy="431800"/>
          </a:xfrm>
          <a:ln/>
        </p:spPr>
        <p:txBody>
          <a:bodyPr lIns="0" tIns="0" rIns="0" bIns="0" anchor="ctr"/>
          <a:lstStyle/>
          <a:p>
            <a:pPr algn="l"/>
            <a:r>
              <a:rPr lang="en-US" altLang="zh-CN" sz="2800" b="1" dirty="0">
                <a:solidFill>
                  <a:srgbClr val="0000FF"/>
                </a:solidFill>
              </a:rPr>
              <a:t>3.3.2</a:t>
            </a:r>
            <a:r>
              <a:rPr lang="zh-CN" altLang="en-US" sz="2800" b="1" dirty="0">
                <a:solidFill>
                  <a:srgbClr val="0000FF"/>
                </a:solidFill>
              </a:rPr>
              <a:t>、</a:t>
            </a:r>
            <a:r>
              <a:rPr lang="en-US" altLang="en-US" sz="2800" b="1" dirty="0" err="1">
                <a:solidFill>
                  <a:srgbClr val="0000FF"/>
                </a:solidFill>
              </a:rPr>
              <a:t>算术运算类</a:t>
            </a:r>
            <a:r>
              <a:rPr lang="en-US" altLang="zh-CN" sz="2800" b="1" dirty="0" err="1">
                <a:solidFill>
                  <a:srgbClr val="0000FF"/>
                </a:solidFill>
              </a:rPr>
              <a:t>指令</a:t>
            </a:r>
            <a:endParaRPr lang="zh-CN" altLang="en-US" sz="2800" b="1" dirty="0">
              <a:solidFill>
                <a:srgbClr val="0000FF"/>
              </a:solidFill>
            </a:endParaRPr>
          </a:p>
        </p:txBody>
      </p:sp>
      <p:sp>
        <p:nvSpPr>
          <p:cNvPr id="328709" name="矩形 32870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328711" name="文本框 328710"/>
          <p:cNvSpPr txBox="1"/>
          <p:nvPr/>
        </p:nvSpPr>
        <p:spPr>
          <a:xfrm>
            <a:off x="6011863" y="3933825"/>
            <a:ext cx="2590800" cy="1997075"/>
          </a:xfrm>
          <a:prstGeom prst="rect">
            <a:avLst/>
          </a:prstGeom>
          <a:noFill/>
          <a:ln w="9525">
            <a:noFill/>
          </a:ln>
        </p:spPr>
        <p:txBody>
          <a:bodyPr>
            <a:spAutoFit/>
          </a:bodyPr>
          <a:lstStyle/>
          <a:p>
            <a:pPr lvl="0">
              <a:lnSpc>
                <a:spcPts val="3000"/>
              </a:lnSpc>
              <a:buClr>
                <a:srgbClr val="FF00FF"/>
              </a:buClr>
              <a:buSzPct val="70000"/>
              <a:buFont typeface="Wingdings" panose="05000000000000000000" pitchFamily="2" charset="2"/>
              <a:buChar char="l"/>
            </a:pPr>
            <a:r>
              <a:rPr lang="zh-CN" altLang="en-US" sz="2400" b="1" dirty="0">
                <a:solidFill>
                  <a:srgbClr val="0000FF"/>
                </a:solidFill>
                <a:latin typeface="Arial" panose="020B0604020202020204" pitchFamily="34" charset="0"/>
                <a:ea typeface="宋体" panose="02010600030101010101" pitchFamily="2" charset="-122"/>
              </a:rPr>
              <a:t> 加法指令</a:t>
            </a:r>
          </a:p>
          <a:p>
            <a:pPr lvl="0">
              <a:lnSpc>
                <a:spcPts val="3000"/>
              </a:lnSpc>
              <a:buClr>
                <a:srgbClr val="FF00FF"/>
              </a:buClr>
              <a:buSzPct val="70000"/>
              <a:buFont typeface="Wingdings" panose="05000000000000000000" pitchFamily="2" charset="2"/>
              <a:buChar char="l"/>
            </a:pPr>
            <a:r>
              <a:rPr lang="zh-CN" altLang="en-US" sz="2400" b="1" dirty="0">
                <a:solidFill>
                  <a:srgbClr val="0000FF"/>
                </a:solidFill>
                <a:latin typeface="Arial" panose="020B0604020202020204" pitchFamily="34" charset="0"/>
                <a:ea typeface="宋体" panose="02010600030101010101" pitchFamily="2" charset="-122"/>
              </a:rPr>
              <a:t> 减法指令</a:t>
            </a:r>
          </a:p>
          <a:p>
            <a:pPr lvl="0">
              <a:lnSpc>
                <a:spcPts val="3000"/>
              </a:lnSpc>
              <a:buClr>
                <a:srgbClr val="FF00FF"/>
              </a:buClr>
              <a:buSzPct val="70000"/>
              <a:buFont typeface="Wingdings" panose="05000000000000000000" pitchFamily="2" charset="2"/>
              <a:buChar char="l"/>
            </a:pPr>
            <a:r>
              <a:rPr lang="zh-CN" altLang="en-US" sz="2400" b="1" dirty="0">
                <a:solidFill>
                  <a:srgbClr val="0000FF"/>
                </a:solidFill>
                <a:latin typeface="Arial" panose="020B0604020202020204" pitchFamily="34" charset="0"/>
                <a:ea typeface="宋体" panose="02010600030101010101" pitchFamily="2" charset="-122"/>
              </a:rPr>
              <a:t> 乘法指令</a:t>
            </a:r>
          </a:p>
          <a:p>
            <a:pPr lvl="0">
              <a:lnSpc>
                <a:spcPts val="3000"/>
              </a:lnSpc>
              <a:buClr>
                <a:srgbClr val="FF00FF"/>
              </a:buClr>
              <a:buSzPct val="70000"/>
              <a:buFont typeface="Wingdings" panose="05000000000000000000" pitchFamily="2" charset="2"/>
              <a:buChar char="l"/>
            </a:pPr>
            <a:r>
              <a:rPr lang="zh-CN" altLang="en-US" sz="2400" b="1" dirty="0">
                <a:solidFill>
                  <a:srgbClr val="0000FF"/>
                </a:solidFill>
                <a:latin typeface="Arial" panose="020B0604020202020204" pitchFamily="34" charset="0"/>
                <a:ea typeface="宋体" panose="02010600030101010101" pitchFamily="2" charset="-122"/>
              </a:rPr>
              <a:t> 除法指令</a:t>
            </a:r>
          </a:p>
          <a:p>
            <a:pPr lvl="0">
              <a:lnSpc>
                <a:spcPts val="3000"/>
              </a:lnSpc>
              <a:buClr>
                <a:srgbClr val="FF00FF"/>
              </a:buClr>
              <a:buSzPct val="70000"/>
              <a:buFont typeface="Wingdings" panose="05000000000000000000" pitchFamily="2" charset="2"/>
              <a:buChar char="l"/>
            </a:pPr>
            <a:r>
              <a:rPr lang="zh-CN" altLang="en-US" sz="2400" b="1" dirty="0">
                <a:solidFill>
                  <a:srgbClr val="0000FF"/>
                </a:solidFill>
                <a:latin typeface="Arial" panose="020B0604020202020204" pitchFamily="34" charset="0"/>
                <a:ea typeface="宋体" panose="02010600030101010101" pitchFamily="2" charset="-122"/>
              </a:rPr>
              <a:t> 符号扩展指令</a:t>
            </a:r>
          </a:p>
        </p:txBody>
      </p:sp>
      <p:sp>
        <p:nvSpPr>
          <p:cNvPr id="328712" name="文本框 328711"/>
          <p:cNvSpPr txBox="1"/>
          <p:nvPr/>
        </p:nvSpPr>
        <p:spPr>
          <a:xfrm>
            <a:off x="468313" y="1412875"/>
            <a:ext cx="8388350" cy="3046988"/>
          </a:xfrm>
          <a:prstGeom prst="rect">
            <a:avLst/>
          </a:prstGeom>
          <a:noFill/>
          <a:ln w="9525">
            <a:noFill/>
          </a:ln>
        </p:spPr>
        <p:txBody>
          <a:bodyPr>
            <a:spAutoFit/>
          </a:bodyPr>
          <a:lstStyle/>
          <a:p>
            <a:pPr lvl="0">
              <a:spcBef>
                <a:spcPct val="20000"/>
              </a:spcBef>
            </a:pPr>
            <a:r>
              <a:rPr lang="zh-CN" altLang="en-US" sz="2400" b="1" dirty="0">
                <a:latin typeface="宋体" panose="02010600030101010101" pitchFamily="2" charset="-122"/>
                <a:ea typeface="宋体" panose="02010600030101010101" pitchFamily="2" charset="-122"/>
              </a:rPr>
              <a:t>算术运算是计算机经常进行的一种操作。算术运算指令实现</a:t>
            </a:r>
            <a:r>
              <a:rPr lang="zh-CN" altLang="en-US" sz="2400" b="1" dirty="0">
                <a:solidFill>
                  <a:srgbClr val="0000FF"/>
                </a:solidFill>
                <a:latin typeface="宋体" panose="02010600030101010101" pitchFamily="2" charset="-122"/>
                <a:ea typeface="宋体" panose="02010600030101010101" pitchFamily="2" charset="-122"/>
              </a:rPr>
              <a:t>二进制</a:t>
            </a:r>
            <a:r>
              <a:rPr lang="zh-CN" altLang="en-US" sz="2400" b="1" dirty="0">
                <a:latin typeface="宋体" panose="02010600030101010101" pitchFamily="2" charset="-122"/>
                <a:ea typeface="宋体" panose="02010600030101010101" pitchFamily="2" charset="-122"/>
              </a:rPr>
              <a:t>（和十进制）数据的四则运算</a:t>
            </a:r>
          </a:p>
          <a:p>
            <a:pPr lvl="0">
              <a:spcBef>
                <a:spcPct val="20000"/>
              </a:spcBef>
            </a:pPr>
            <a:r>
              <a:rPr lang="zh-CN" altLang="en-US" sz="2400" b="1" dirty="0">
                <a:latin typeface="宋体" panose="02010600030101010101" pitchFamily="2" charset="-122"/>
                <a:ea typeface="宋体" panose="02010600030101010101" pitchFamily="2" charset="-122"/>
              </a:rPr>
              <a:t>注意：</a:t>
            </a:r>
          </a:p>
          <a:p>
            <a:pPr lvl="0">
              <a:spcBef>
                <a:spcPct val="20000"/>
              </a:spcBef>
            </a:pPr>
            <a:r>
              <a:rPr lang="zh-CN" altLang="en-US" sz="2400" b="1" dirty="0">
                <a:latin typeface="宋体" panose="02010600030101010101" pitchFamily="2" charset="-122"/>
                <a:ea typeface="宋体" panose="02010600030101010101" pitchFamily="2" charset="-122"/>
              </a:rPr>
              <a:t>算术运算类指令对</a:t>
            </a:r>
            <a:r>
              <a:rPr lang="zh-CN" altLang="en-US" sz="2400" b="1" dirty="0">
                <a:solidFill>
                  <a:srgbClr val="0000FF"/>
                </a:solidFill>
                <a:latin typeface="宋体" panose="02010600030101010101" pitchFamily="2" charset="-122"/>
                <a:ea typeface="宋体" panose="02010600030101010101" pitchFamily="2" charset="-122"/>
              </a:rPr>
              <a:t>标志位的影响</a:t>
            </a:r>
          </a:p>
          <a:p>
            <a:pPr marL="952500" lvl="1" indent="0">
              <a:spcBef>
                <a:spcPct val="20000"/>
              </a:spcBef>
            </a:pPr>
            <a:r>
              <a:rPr lang="zh-CN" altLang="en-US" sz="2400" b="1" dirty="0">
                <a:latin typeface="宋体" panose="02010600030101010101" pitchFamily="2" charset="-122"/>
                <a:ea typeface="宋体" panose="02010600030101010101" pitchFamily="2" charset="-122"/>
              </a:rPr>
              <a:t>掌握：</a:t>
            </a:r>
            <a:r>
              <a:rPr lang="en-US" altLang="zh-CN" sz="2400" b="1" dirty="0">
                <a:latin typeface="宋体" panose="02010600030101010101" pitchFamily="2" charset="-122"/>
                <a:ea typeface="宋体" panose="02010600030101010101" pitchFamily="2" charset="-122"/>
              </a:rPr>
              <a:t>ADD/ADC/INC</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SUB/SBB/DEC/NEG/CMP</a:t>
            </a:r>
          </a:p>
          <a:p>
            <a:pPr marL="952500" lvl="1" indent="0">
              <a:spcBef>
                <a:spcPct val="20000"/>
              </a:spcBef>
            </a:pPr>
            <a:r>
              <a:rPr lang="zh-CN" altLang="en-US" sz="2400" b="1" dirty="0">
                <a:latin typeface="宋体" panose="02010600030101010101" pitchFamily="2" charset="-122"/>
                <a:ea typeface="宋体" panose="02010600030101010101" pitchFamily="2" charset="-122"/>
              </a:rPr>
              <a:t>熟悉：</a:t>
            </a:r>
            <a:r>
              <a:rPr lang="en-US" altLang="zh-CN" sz="2400" b="1" dirty="0">
                <a:latin typeface="宋体" panose="02010600030101010101" pitchFamily="2" charset="-122"/>
                <a:ea typeface="宋体" panose="02010600030101010101" pitchFamily="2" charset="-122"/>
              </a:rPr>
              <a:t>MUL/IMUL</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DIV/IDIV</a:t>
            </a:r>
          </a:p>
          <a:p>
            <a:pPr marL="952500" lvl="1" indent="0">
              <a:spcBef>
                <a:spcPct val="20000"/>
              </a:spcBef>
            </a:pPr>
            <a:r>
              <a:rPr lang="zh-CN" altLang="en-US" sz="2400" b="1" dirty="0">
                <a:latin typeface="宋体" panose="02010600030101010101" pitchFamily="2" charset="-122"/>
                <a:ea typeface="宋体" panose="02010600030101010101" pitchFamily="2" charset="-122"/>
              </a:rPr>
              <a:t>理解：</a:t>
            </a:r>
            <a:r>
              <a:rPr lang="en-US" altLang="zh-CN" sz="2400" b="1" dirty="0">
                <a:latin typeface="宋体" panose="02010600030101010101" pitchFamily="2" charset="-122"/>
                <a:ea typeface="宋体" panose="02010600030101010101" pitchFamily="2" charset="-122"/>
              </a:rPr>
              <a:t>CBW/CWD</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标题 387073"/>
          <p:cNvSpPr>
            <a:spLocks noGrp="1"/>
          </p:cNvSpPr>
          <p:nvPr>
            <p:ph type="title"/>
          </p:nvPr>
        </p:nvSpPr>
        <p:spPr>
          <a:xfrm>
            <a:off x="323850" y="908050"/>
            <a:ext cx="2232025" cy="360363"/>
          </a:xfrm>
          <a:ln/>
        </p:spPr>
        <p:txBody>
          <a:bodyPr lIns="0" tIns="0" rIns="0" bIns="0" anchor="ctr"/>
          <a:lstStyle/>
          <a:p>
            <a:pPr algn="l"/>
            <a:r>
              <a:rPr lang="en-US" altLang="zh-CN" sz="2400" b="1" dirty="0">
                <a:solidFill>
                  <a:schemeClr val="tx1"/>
                </a:solidFill>
              </a:rPr>
              <a:t>1</a:t>
            </a:r>
            <a:r>
              <a:rPr lang="zh-CN" altLang="en-US" sz="2400" b="1" dirty="0">
                <a:solidFill>
                  <a:schemeClr val="tx1"/>
                </a:solidFill>
              </a:rPr>
              <a:t>、加法指令</a:t>
            </a:r>
          </a:p>
        </p:txBody>
      </p:sp>
      <p:grpSp>
        <p:nvGrpSpPr>
          <p:cNvPr id="387075" name="组合 387074"/>
          <p:cNvGrpSpPr/>
          <p:nvPr/>
        </p:nvGrpSpPr>
        <p:grpSpPr>
          <a:xfrm>
            <a:off x="3203575" y="2060575"/>
            <a:ext cx="2590800" cy="2209800"/>
            <a:chOff x="2928" y="1968"/>
            <a:chExt cx="1632" cy="1392"/>
          </a:xfrm>
        </p:grpSpPr>
        <p:sp>
          <p:nvSpPr>
            <p:cNvPr id="387076" name="椭圆 387075" descr="DI-43"/>
            <p:cNvSpPr/>
            <p:nvPr/>
          </p:nvSpPr>
          <p:spPr>
            <a:xfrm>
              <a:off x="3456" y="1968"/>
              <a:ext cx="576" cy="576"/>
            </a:xfrm>
            <a:prstGeom prst="ellipse">
              <a:avLst/>
            </a:prstGeom>
            <a:blipFill rotWithShape="0">
              <a:blip r:embed="rId3"/>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ADD</a:t>
              </a:r>
            </a:p>
          </p:txBody>
        </p:sp>
        <p:sp>
          <p:nvSpPr>
            <p:cNvPr id="387077" name="椭圆 387076" descr="DI-43"/>
            <p:cNvSpPr/>
            <p:nvPr/>
          </p:nvSpPr>
          <p:spPr>
            <a:xfrm>
              <a:off x="2928" y="2784"/>
              <a:ext cx="576" cy="576"/>
            </a:xfrm>
            <a:prstGeom prst="ellipse">
              <a:avLst/>
            </a:prstGeom>
            <a:blipFill rotWithShape="0">
              <a:blip r:embed="rId3"/>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ADC</a:t>
              </a:r>
            </a:p>
          </p:txBody>
        </p:sp>
        <p:sp>
          <p:nvSpPr>
            <p:cNvPr id="387078" name="椭圆 387077" descr="DI-43"/>
            <p:cNvSpPr/>
            <p:nvPr/>
          </p:nvSpPr>
          <p:spPr>
            <a:xfrm>
              <a:off x="3984" y="2784"/>
              <a:ext cx="576" cy="576"/>
            </a:xfrm>
            <a:prstGeom prst="ellipse">
              <a:avLst/>
            </a:prstGeom>
            <a:blipFill rotWithShape="0">
              <a:blip r:embed="rId3"/>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INC</a:t>
              </a:r>
            </a:p>
          </p:txBody>
        </p:sp>
      </p:grpSp>
      <p:sp>
        <p:nvSpPr>
          <p:cNvPr id="387079" name="矩形 38707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标题 389121"/>
          <p:cNvSpPr>
            <a:spLocks noGrp="1"/>
          </p:cNvSpPr>
          <p:nvPr>
            <p:ph type="title"/>
          </p:nvPr>
        </p:nvSpPr>
        <p:spPr>
          <a:xfrm>
            <a:off x="395288" y="909638"/>
            <a:ext cx="2520950" cy="431800"/>
          </a:xfrm>
          <a:ln/>
        </p:spPr>
        <p:txBody>
          <a:bodyPr lIns="0" tIns="0" rIns="0" bIns="0" anchor="ctr"/>
          <a:lstStyle/>
          <a:p>
            <a:pPr algn="l"/>
            <a:r>
              <a:rPr lang="en-US" altLang="zh-CN" sz="2400" b="1" dirty="0">
                <a:solidFill>
                  <a:schemeClr val="tx1"/>
                </a:solidFill>
              </a:rPr>
              <a:t>1</a:t>
            </a:r>
            <a:r>
              <a:rPr lang="zh-CN" altLang="en-US" sz="2400" b="1" dirty="0">
                <a:solidFill>
                  <a:schemeClr val="tx1"/>
                </a:solidFill>
              </a:rPr>
              <a:t>）加法指令</a:t>
            </a:r>
            <a:r>
              <a:rPr lang="en-US" altLang="zh-CN" sz="2400" b="1" dirty="0">
                <a:solidFill>
                  <a:schemeClr val="tx1"/>
                </a:solidFill>
              </a:rPr>
              <a:t>ADD</a:t>
            </a:r>
          </a:p>
        </p:txBody>
      </p:sp>
      <p:sp>
        <p:nvSpPr>
          <p:cNvPr id="389123" name="直接连接符 389122"/>
          <p:cNvSpPr/>
          <p:nvPr/>
        </p:nvSpPr>
        <p:spPr>
          <a:xfrm>
            <a:off x="2843213" y="3357563"/>
            <a:ext cx="144462" cy="0"/>
          </a:xfrm>
          <a:prstGeom prst="line">
            <a:avLst/>
          </a:prstGeom>
          <a:ln w="9525">
            <a:noFill/>
          </a:ln>
        </p:spPr>
      </p:sp>
      <p:sp>
        <p:nvSpPr>
          <p:cNvPr id="389124" name="流程图: 可选过程 389123"/>
          <p:cNvSpPr/>
          <p:nvPr/>
        </p:nvSpPr>
        <p:spPr>
          <a:xfrm>
            <a:off x="611188" y="2060848"/>
            <a:ext cx="7162800" cy="2138363"/>
          </a:xfrm>
          <a:prstGeom prst="flowChartAlternateProcess">
            <a:avLst/>
          </a:prstGeom>
          <a:solidFill>
            <a:srgbClr val="FFFFFF"/>
          </a:solidFill>
          <a:ln w="12700">
            <a:noFill/>
          </a:ln>
          <a:effectLst>
            <a:prstShdw prst="shdw13" dist="53882" dir="13499999">
              <a:srgbClr val="808080"/>
            </a:prstShdw>
          </a:effectLst>
        </p:spPr>
        <p:txBody>
          <a:bodyPr/>
          <a:lstStyle/>
          <a:p>
            <a:pPr lvl="0" defTabSz="0">
              <a:spcBef>
                <a:spcPct val="50000"/>
              </a:spcBef>
              <a:tabLst>
                <a:tab pos="2289175" algn="l"/>
              </a:tabLst>
            </a:pPr>
            <a:r>
              <a:rPr lang="en-US" altLang="zh-CN" sz="2800" b="1">
                <a:latin typeface="宋体" panose="02010600030101010101" pitchFamily="2" charset="-122"/>
                <a:ea typeface="宋体" panose="02010600030101010101" pitchFamily="2" charset="-122"/>
              </a:rPr>
              <a:t>ADD </a:t>
            </a:r>
            <a:r>
              <a:rPr lang="en-US" altLang="zh-CN" sz="2800" b="1" err="1">
                <a:latin typeface="宋体" panose="02010600030101010101" pitchFamily="2" charset="-122"/>
                <a:ea typeface="宋体" panose="02010600030101010101" pitchFamily="2" charset="-122"/>
              </a:rPr>
              <a:t>reg,imm/reg/mem</a:t>
            </a:r>
            <a:endParaRPr lang="en-US" altLang="zh-CN" sz="2800" b="1">
              <a:latin typeface="宋体" panose="02010600030101010101" pitchFamily="2" charset="-122"/>
              <a:ea typeface="宋体" panose="02010600030101010101" pitchFamily="2" charset="-122"/>
            </a:endParaRPr>
          </a:p>
          <a:p>
            <a:pPr lvl="0" algn="just" defTabSz="0">
              <a:lnSpc>
                <a:spcPct val="50000"/>
              </a:lnSpc>
              <a:spcBef>
                <a:spcPct val="50000"/>
              </a:spcBef>
              <a:tabLst>
                <a:tab pos="2289175" algn="l"/>
              </a:tabLst>
            </a:pPr>
            <a:r>
              <a:rPr lang="en-US" altLang="zh-CN" sz="2800" b="1">
                <a:solidFill>
                  <a:schemeClr val="accent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reg←reg</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imm/reg/mem</a:t>
            </a:r>
            <a:endParaRPr lang="en-US" altLang="zh-CN" sz="2800" b="1">
              <a:solidFill>
                <a:schemeClr val="accent2"/>
              </a:solidFill>
              <a:latin typeface="宋体" panose="02010600030101010101" pitchFamily="2" charset="-122"/>
              <a:ea typeface="宋体" panose="02010600030101010101" pitchFamily="2" charset="-122"/>
            </a:endParaRPr>
          </a:p>
          <a:p>
            <a:pPr lvl="0" defTabSz="0">
              <a:spcBef>
                <a:spcPct val="50000"/>
              </a:spcBef>
              <a:tabLst>
                <a:tab pos="2289175" algn="l"/>
              </a:tabLst>
            </a:pPr>
            <a:r>
              <a:rPr lang="en-US" altLang="zh-CN" sz="2800" b="1">
                <a:latin typeface="宋体" panose="02010600030101010101" pitchFamily="2" charset="-122"/>
                <a:ea typeface="宋体" panose="02010600030101010101" pitchFamily="2" charset="-122"/>
              </a:rPr>
              <a:t>ADD </a:t>
            </a:r>
            <a:r>
              <a:rPr lang="en-US" altLang="zh-CN" sz="2800" b="1" err="1">
                <a:latin typeface="宋体" panose="02010600030101010101" pitchFamily="2" charset="-122"/>
                <a:ea typeface="宋体" panose="02010600030101010101" pitchFamily="2" charset="-122"/>
              </a:rPr>
              <a:t>mem,imm/reg</a:t>
            </a:r>
            <a:endParaRPr lang="en-US" altLang="zh-CN" sz="2800" b="1">
              <a:latin typeface="宋体" panose="02010600030101010101" pitchFamily="2" charset="-122"/>
              <a:ea typeface="宋体" panose="02010600030101010101" pitchFamily="2" charset="-122"/>
            </a:endParaRPr>
          </a:p>
          <a:p>
            <a:pPr lvl="0" algn="just" defTabSz="0">
              <a:lnSpc>
                <a:spcPct val="50000"/>
              </a:lnSpc>
              <a:spcBef>
                <a:spcPct val="50000"/>
              </a:spcBef>
              <a:tabLst>
                <a:tab pos="2289175" algn="l"/>
              </a:tabLst>
            </a:pPr>
            <a:r>
              <a:rPr lang="en-US" altLang="zh-CN" sz="2800" b="1">
                <a:solidFill>
                  <a:schemeClr val="accent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mem←mem</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imm/reg</a:t>
            </a:r>
            <a:endParaRPr lang="en-US" altLang="zh-CN" sz="2800" b="1">
              <a:solidFill>
                <a:schemeClr val="accent2"/>
              </a:solidFill>
              <a:latin typeface="宋体" panose="02010600030101010101" pitchFamily="2" charset="-122"/>
              <a:ea typeface="宋体" panose="02010600030101010101" pitchFamily="2" charset="-122"/>
            </a:endParaRPr>
          </a:p>
        </p:txBody>
      </p:sp>
      <p:sp>
        <p:nvSpPr>
          <p:cNvPr id="389127" name="文本框 389126"/>
          <p:cNvSpPr txBox="1"/>
          <p:nvPr/>
        </p:nvSpPr>
        <p:spPr>
          <a:xfrm>
            <a:off x="803275" y="1466850"/>
            <a:ext cx="1152525" cy="466725"/>
          </a:xfrm>
          <a:prstGeom prst="rect">
            <a:avLst/>
          </a:prstGeom>
          <a:noFill/>
          <a:ln w="9525" cap="flat" cmpd="sng">
            <a:solidFill>
              <a:srgbClr val="000000"/>
            </a:solidFill>
            <a:prstDash val="solid"/>
            <a:miter/>
            <a:headEnd type="none" w="med" len="med"/>
            <a:tailEnd type="none" w="med" len="med"/>
          </a:ln>
          <a:effectLst>
            <a:outerShdw dist="35921" dir="2699999" algn="ctr" rotWithShape="0">
              <a:srgbClr val="808080"/>
            </a:outerShdw>
          </a:effectLst>
        </p:spPr>
        <p:txBody>
          <a:bodyPr>
            <a:spAutoFit/>
          </a:bodyPr>
          <a:lstStyle/>
          <a:p>
            <a:pPr lvl="0"/>
            <a:r>
              <a:rPr lang="zh-CN" altLang="en-US" sz="2400" b="1" dirty="0">
                <a:solidFill>
                  <a:srgbClr val="FF00FF"/>
                </a:solidFill>
                <a:latin typeface="Arial" panose="020B0604020202020204" pitchFamily="34" charset="0"/>
                <a:ea typeface="宋体" panose="02010600030101010101" pitchFamily="2" charset="-122"/>
              </a:rPr>
              <a:t>格式</a:t>
            </a:r>
            <a:r>
              <a:rPr lang="en-US" altLang="zh-CN" sz="2400" b="1">
                <a:solidFill>
                  <a:srgbClr val="FF00FF"/>
                </a:solidFill>
                <a:latin typeface="Arial" panose="020B0604020202020204" pitchFamily="34" charset="0"/>
                <a:ea typeface="宋体" panose="02010600030101010101" pitchFamily="2" charset="-122"/>
              </a:rPr>
              <a:t>:</a:t>
            </a:r>
          </a:p>
        </p:txBody>
      </p:sp>
      <p:sp>
        <p:nvSpPr>
          <p:cNvPr id="389128" name="矩形 38912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389130" name="文本占位符 389129"/>
          <p:cNvSpPr>
            <a:spLocks noGrp="1"/>
          </p:cNvSpPr>
          <p:nvPr>
            <p:ph type="body" idx="1"/>
          </p:nvPr>
        </p:nvSpPr>
        <p:spPr>
          <a:xfrm>
            <a:off x="250825" y="4293096"/>
            <a:ext cx="8642350" cy="1871662"/>
          </a:xfrm>
          <a:ln/>
        </p:spPr>
        <p:txBody>
          <a:bodyPr/>
          <a:lstStyle/>
          <a:p>
            <a:pPr marL="0" indent="0">
              <a:buClrTx/>
              <a:buNone/>
            </a:pPr>
            <a:r>
              <a:rPr lang="zh-CN" altLang="en-US" sz="2400" b="1" dirty="0"/>
              <a:t>功能：将源操作数的内容与目的操作数的内容相加，相加后的</a:t>
            </a:r>
            <a:r>
              <a:rPr lang="zh-CN" altLang="en-US" sz="2400" b="1" dirty="0">
                <a:solidFill>
                  <a:srgbClr val="0000FF"/>
                </a:solidFill>
              </a:rPr>
              <a:t>结果保存在目的操作数</a:t>
            </a:r>
            <a:r>
              <a:rPr lang="zh-CN" altLang="en-US" sz="2400" b="1" dirty="0"/>
              <a:t>中，并根据结果置相关标志位</a:t>
            </a:r>
            <a:r>
              <a:rPr lang="zh-CN" altLang="en-US" sz="2400" dirty="0"/>
              <a:t> 。</a:t>
            </a:r>
          </a:p>
        </p:txBody>
      </p:sp>
      <p:sp>
        <p:nvSpPr>
          <p:cNvPr id="389131" name="矩形 389130"/>
          <p:cNvSpPr/>
          <p:nvPr/>
        </p:nvSpPr>
        <p:spPr>
          <a:xfrm>
            <a:off x="323850" y="5157192"/>
            <a:ext cx="8569325" cy="1200329"/>
          </a:xfrm>
          <a:prstGeom prst="rect">
            <a:avLst/>
          </a:prstGeom>
          <a:noFill/>
          <a:ln w="9525">
            <a:noFill/>
          </a:ln>
        </p:spPr>
        <p:txBody>
          <a:bodyPr anchor="ctr">
            <a:spAutoFit/>
          </a:bodyPr>
          <a:lstStyle/>
          <a:p>
            <a:pPr lvl="0"/>
            <a:r>
              <a:rPr lang="zh-CN" altLang="en-US" sz="2400" b="1" dirty="0">
                <a:solidFill>
                  <a:srgbClr val="0000FF"/>
                </a:solidFill>
                <a:latin typeface="Arial" panose="020B0604020202020204" pitchFamily="34" charset="0"/>
                <a:ea typeface="宋体" panose="02010600030101010101" pitchFamily="2" charset="-122"/>
              </a:rPr>
              <a:t>注意</a:t>
            </a:r>
            <a:r>
              <a:rPr lang="zh-CN" altLang="en-US" sz="2400" b="1" dirty="0">
                <a:latin typeface="Arial" panose="020B0604020202020204" pitchFamily="34" charset="0"/>
                <a:ea typeface="宋体" panose="02010600030101010101" pitchFamily="2" charset="-122"/>
                <a:sym typeface="Wingdings" panose="05000000000000000000" pitchFamily="2" charset="2"/>
              </a:rPr>
              <a:t>：</a:t>
            </a:r>
            <a:r>
              <a:rPr lang="zh-CN" altLang="en-US" sz="2400" b="1" dirty="0">
                <a:latin typeface="Arial" panose="020B0604020202020204" pitchFamily="34" charset="0"/>
                <a:ea typeface="宋体" panose="02010600030101010101" pitchFamily="2" charset="-122"/>
              </a:rPr>
              <a:t>源操作数可以是通用寄存器、存储器操作数或立即数，目的操作数只能为与源操作数类型相匹配</a:t>
            </a:r>
            <a:r>
              <a:rPr lang="zh-CN" altLang="en-US" sz="2400" b="1" dirty="0">
                <a:latin typeface="Arial" panose="020B0604020202020204" pitchFamily="34" charset="0"/>
              </a:rPr>
              <a:t>的通用寄存器或存储器操作数，两者不能</a:t>
            </a:r>
            <a:r>
              <a:rPr lang="zh-CN" altLang="en-US" sz="2400" b="1" dirty="0">
                <a:solidFill>
                  <a:srgbClr val="0000FF"/>
                </a:solidFill>
                <a:latin typeface="Arial" panose="020B0604020202020204" pitchFamily="34" charset="0"/>
                <a:ea typeface="宋体" panose="02010600030101010101" pitchFamily="2" charset="-122"/>
              </a:rPr>
              <a:t>同时为存储器操作数</a:t>
            </a:r>
            <a:endParaRPr lang="zh-CN" altLang="en-US" sz="2400" b="1" dirty="0">
              <a:latin typeface="Arial" panose="020B0604020202020204" pitchFamily="34" charset="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标题 391169"/>
          <p:cNvSpPr>
            <a:spLocks noGrp="1"/>
          </p:cNvSpPr>
          <p:nvPr>
            <p:ph type="title"/>
          </p:nvPr>
        </p:nvSpPr>
        <p:spPr>
          <a:xfrm>
            <a:off x="250825" y="836613"/>
            <a:ext cx="2305050" cy="431800"/>
          </a:xfrm>
          <a:prstGeom prst="flowChartAlternateProcess">
            <a:avLst/>
          </a:prstGeom>
          <a:ln w="28575">
            <a:solidFill>
              <a:schemeClr val="accent1"/>
            </a:solidFill>
            <a:miter/>
          </a:ln>
        </p:spPr>
        <p:txBody>
          <a:bodyPr lIns="0" tIns="0" rIns="0" bIns="0" anchor="ctr"/>
          <a:lstStyle/>
          <a:p>
            <a:pPr algn="l">
              <a:lnSpc>
                <a:spcPct val="90000"/>
              </a:lnSpc>
            </a:pPr>
            <a:r>
              <a:rPr lang="zh-CN" altLang="en-US" sz="2400" b="1" dirty="0">
                <a:solidFill>
                  <a:schemeClr val="tx1"/>
                </a:solidFill>
              </a:rPr>
              <a:t>例：加法运算</a:t>
            </a:r>
          </a:p>
        </p:txBody>
      </p:sp>
      <p:sp>
        <p:nvSpPr>
          <p:cNvPr id="391171" name="文本占位符 391170"/>
          <p:cNvSpPr>
            <a:spLocks noGrp="1"/>
          </p:cNvSpPr>
          <p:nvPr>
            <p:ph type="body" idx="1"/>
          </p:nvPr>
        </p:nvSpPr>
        <p:spPr>
          <a:xfrm>
            <a:off x="250825" y="1484313"/>
            <a:ext cx="8748713" cy="2304727"/>
          </a:xfrm>
          <a:ln/>
        </p:spPr>
        <p:txBody>
          <a:bodyPr/>
          <a:lstStyle/>
          <a:p>
            <a:pPr marL="0" indent="0" defTabSz="0">
              <a:buClrTx/>
              <a:buNone/>
              <a:tabLst>
                <a:tab pos="3342005" algn="l"/>
              </a:tabLst>
            </a:pPr>
            <a:r>
              <a:rPr lang="en-US" altLang="zh-CN" sz="2400" b="1" dirty="0"/>
              <a:t>ADD  AL </a:t>
            </a:r>
            <a:r>
              <a:rPr lang="zh-CN" altLang="en-US" sz="2400" b="1" dirty="0"/>
              <a:t>， </a:t>
            </a:r>
            <a:r>
              <a:rPr lang="en-US" altLang="zh-CN" sz="2400" b="1" dirty="0"/>
              <a:t>30 </a:t>
            </a:r>
            <a:r>
              <a:rPr lang="zh-CN" altLang="en-US" sz="2400" b="1" dirty="0"/>
              <a:t>　　　   ；累加器与立即数相加 </a:t>
            </a:r>
          </a:p>
          <a:p>
            <a:pPr marL="0" indent="0" defTabSz="0">
              <a:buClrTx/>
              <a:buNone/>
              <a:tabLst>
                <a:tab pos="3342005" algn="l"/>
              </a:tabLst>
            </a:pPr>
            <a:r>
              <a:rPr lang="en-US" altLang="zh-CN" sz="2400" b="1" dirty="0"/>
              <a:t>ADD  BX </a:t>
            </a:r>
            <a:r>
              <a:rPr lang="zh-CN" altLang="en-US" sz="2400" b="1" dirty="0"/>
              <a:t>， </a:t>
            </a:r>
            <a:r>
              <a:rPr lang="en-US" altLang="zh-CN" sz="2400" b="1" dirty="0"/>
              <a:t>[3000H] </a:t>
            </a:r>
            <a:r>
              <a:rPr lang="zh-CN" altLang="en-US" sz="2400" b="1" dirty="0"/>
              <a:t>　 ；通用寄存器与存储器操作数内容相加 </a:t>
            </a:r>
          </a:p>
          <a:p>
            <a:pPr marL="0" indent="0" defTabSz="0">
              <a:buClrTx/>
              <a:buNone/>
              <a:tabLst>
                <a:tab pos="3342005" algn="l"/>
              </a:tabLst>
            </a:pPr>
            <a:r>
              <a:rPr lang="en-US" altLang="zh-CN" sz="2400" b="1" dirty="0"/>
              <a:t>ADD  DI </a:t>
            </a:r>
            <a:r>
              <a:rPr lang="zh-CN" altLang="en-US" sz="2400" b="1" dirty="0"/>
              <a:t>， </a:t>
            </a:r>
            <a:r>
              <a:rPr lang="en-US" altLang="zh-CN" sz="2400" b="1" dirty="0"/>
              <a:t>CX               </a:t>
            </a:r>
            <a:r>
              <a:rPr lang="zh-CN" altLang="en-US" sz="2400" b="1" dirty="0"/>
              <a:t>；通用寄存器之间相加</a:t>
            </a:r>
          </a:p>
          <a:p>
            <a:pPr marL="0" indent="0" defTabSz="0">
              <a:buClrTx/>
              <a:buNone/>
              <a:tabLst>
                <a:tab pos="3342005" algn="l"/>
              </a:tabLst>
            </a:pPr>
            <a:r>
              <a:rPr lang="en-US" altLang="zh-CN" sz="2400" b="1" dirty="0"/>
              <a:t>ADD  BETA[SI] </a:t>
            </a:r>
            <a:r>
              <a:rPr lang="zh-CN" altLang="en-US" sz="2400" b="1" dirty="0"/>
              <a:t>， </a:t>
            </a:r>
            <a:r>
              <a:rPr lang="en-US" altLang="zh-CN" sz="2400" b="1" dirty="0"/>
              <a:t>DX   </a:t>
            </a:r>
            <a:r>
              <a:rPr lang="zh-CN" altLang="en-US" sz="2400" b="1" dirty="0"/>
              <a:t>；存储器操作数与寄存器相加 </a:t>
            </a:r>
          </a:p>
          <a:p>
            <a:pPr marL="0" indent="0" defTabSz="0">
              <a:buClrTx/>
              <a:buNone/>
              <a:tabLst>
                <a:tab pos="3342005" algn="l"/>
              </a:tabLst>
            </a:pPr>
            <a:r>
              <a:rPr lang="zh-CN" altLang="en-US" sz="2400" b="1" dirty="0"/>
              <a:t>这些指令对状态标志位 都有影响。</a:t>
            </a:r>
          </a:p>
        </p:txBody>
      </p:sp>
      <p:sp>
        <p:nvSpPr>
          <p:cNvPr id="391172" name="矩形 391171"/>
          <p:cNvSpPr/>
          <p:nvPr/>
        </p:nvSpPr>
        <p:spPr>
          <a:xfrm>
            <a:off x="179388" y="4244371"/>
            <a:ext cx="8713787" cy="1569660"/>
          </a:xfrm>
          <a:prstGeom prst="rect">
            <a:avLst/>
          </a:prstGeom>
          <a:noFill/>
          <a:ln w="9525">
            <a:noFill/>
          </a:ln>
        </p:spPr>
        <p:txBody>
          <a:bodyPr anchor="ctr">
            <a:spAutoFit/>
          </a:bodyPr>
          <a:lstStyle/>
          <a:p>
            <a:pPr lvl="0">
              <a:buClrTx/>
            </a:pPr>
            <a:r>
              <a:rPr lang="zh-CN" altLang="en-US" sz="2400" b="1" dirty="0">
                <a:latin typeface="Arial" panose="020B0604020202020204" pitchFamily="34" charset="0"/>
                <a:ea typeface="宋体" panose="02010600030101010101" pitchFamily="2" charset="-122"/>
              </a:rPr>
              <a:t>例：设</a:t>
            </a:r>
            <a:r>
              <a:rPr lang="it-IT" altLang="zh-CN" sz="2400" b="1" dirty="0">
                <a:latin typeface="Arial" panose="020B0604020202020204" pitchFamily="34" charset="0"/>
                <a:ea typeface="宋体" panose="02010600030101010101" pitchFamily="2" charset="-122"/>
              </a:rPr>
              <a:t>ADD  AL, BL</a:t>
            </a:r>
            <a:r>
              <a:rPr lang="zh-CN" altLang="en-US" sz="2400" b="1" dirty="0">
                <a:latin typeface="Arial" panose="020B0604020202020204" pitchFamily="34" charset="0"/>
                <a:ea typeface="宋体" panose="02010600030101010101" pitchFamily="2" charset="-122"/>
              </a:rPr>
              <a:t>指令执行前，</a:t>
            </a:r>
            <a:r>
              <a:rPr lang="en-US" altLang="zh-CN" sz="2400" b="1" dirty="0">
                <a:latin typeface="Arial" panose="020B0604020202020204" pitchFamily="34" charset="0"/>
                <a:ea typeface="宋体" panose="02010600030101010101" pitchFamily="2" charset="-122"/>
              </a:rPr>
              <a:t>AL=66H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BL=20H</a:t>
            </a:r>
            <a:r>
              <a:rPr lang="zh-CN" altLang="en-US" sz="2400" b="1" dirty="0">
                <a:latin typeface="Arial" panose="020B0604020202020204" pitchFamily="34" charset="0"/>
                <a:ea typeface="宋体" panose="02010600030101010101" pitchFamily="2" charset="-122"/>
              </a:rPr>
              <a:t>，执行指令之后，</a:t>
            </a:r>
            <a:r>
              <a:rPr lang="en-US" altLang="zh-CN" sz="2400" b="1" dirty="0">
                <a:latin typeface="Arial" panose="020B0604020202020204" pitchFamily="34" charset="0"/>
                <a:ea typeface="宋体" panose="02010600030101010101" pitchFamily="2" charset="-122"/>
              </a:rPr>
              <a:t>AL=86H</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BL</a:t>
            </a:r>
            <a:r>
              <a:rPr lang="zh-CN" altLang="en-US" sz="2400" b="1" dirty="0">
                <a:latin typeface="Arial" panose="020B0604020202020204" pitchFamily="34" charset="0"/>
                <a:ea typeface="宋体" panose="02010600030101010101" pitchFamily="2" charset="-122"/>
              </a:rPr>
              <a:t>仍为</a:t>
            </a:r>
            <a:r>
              <a:rPr lang="en-US" altLang="zh-CN" sz="2400" b="1" dirty="0">
                <a:latin typeface="Arial" panose="020B0604020202020204" pitchFamily="34" charset="0"/>
                <a:ea typeface="宋体" panose="02010600030101010101" pitchFamily="2" charset="-122"/>
              </a:rPr>
              <a:t>20H</a:t>
            </a:r>
            <a:r>
              <a:rPr lang="zh-CN" altLang="en-US" sz="2400" b="1" dirty="0">
                <a:latin typeface="Arial" panose="020B0604020202020204" pitchFamily="34" charset="0"/>
                <a:ea typeface="宋体" panose="02010600030101010101" pitchFamily="2" charset="-122"/>
              </a:rPr>
              <a:t>。 </a:t>
            </a:r>
          </a:p>
          <a:p>
            <a:pPr lvl="0">
              <a:buClrTx/>
            </a:pPr>
            <a:r>
              <a:rPr lang="zh-CN" altLang="en-US" sz="2400" b="1" dirty="0">
                <a:latin typeface="Arial" panose="020B0604020202020204" pitchFamily="34" charset="0"/>
                <a:ea typeface="宋体" panose="02010600030101010101" pitchFamily="2" charset="-122"/>
              </a:rPr>
              <a:t>标志位影响情况为：</a:t>
            </a:r>
            <a:endParaRPr lang="en-US" altLang="zh-CN" sz="2400" b="1" dirty="0">
              <a:latin typeface="Arial" panose="020B0604020202020204" pitchFamily="34" charset="0"/>
              <a:ea typeface="宋体" panose="02010600030101010101" pitchFamily="2" charset="-122"/>
            </a:endParaRPr>
          </a:p>
          <a:p>
            <a:pPr lvl="0">
              <a:buClrTx/>
            </a:pPr>
            <a:r>
              <a:rPr lang="en-US" altLang="zh-CN" sz="2400" b="1" dirty="0">
                <a:latin typeface="Arial" panose="020B0604020202020204" pitchFamily="34" charset="0"/>
                <a:ea typeface="宋体" panose="02010600030101010101" pitchFamily="2" charset="-122"/>
              </a:rPr>
              <a:t>CF=0</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ZF=0</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SF=1</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AF=0</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OF=1</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PF=0</a:t>
            </a:r>
            <a:r>
              <a:rPr lang="en-US" altLang="zh-CN" sz="2400" dirty="0">
                <a:latin typeface="Arial" panose="020B0604020202020204" pitchFamily="34" charset="0"/>
                <a:ea typeface="宋体" panose="02010600030101010101" pitchFamily="2" charset="-122"/>
              </a:rPr>
              <a:t> </a:t>
            </a:r>
          </a:p>
        </p:txBody>
      </p:sp>
      <p:sp>
        <p:nvSpPr>
          <p:cNvPr id="391173" name="矩形 391172"/>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标题 393217"/>
          <p:cNvSpPr>
            <a:spLocks noGrp="1"/>
          </p:cNvSpPr>
          <p:nvPr>
            <p:ph type="title"/>
          </p:nvPr>
        </p:nvSpPr>
        <p:spPr>
          <a:xfrm>
            <a:off x="323850" y="836613"/>
            <a:ext cx="3598863" cy="533400"/>
          </a:xfrm>
          <a:ln/>
        </p:spPr>
        <p:txBody>
          <a:bodyPr anchor="ctr"/>
          <a:lstStyle/>
          <a:p>
            <a:pPr algn="l"/>
            <a:r>
              <a:rPr lang="en-US" altLang="zh-CN" sz="2400" b="1" dirty="0">
                <a:solidFill>
                  <a:schemeClr val="tx1"/>
                </a:solidFill>
              </a:rPr>
              <a:t>2</a:t>
            </a:r>
            <a:r>
              <a:rPr lang="zh-CN" altLang="en-US" sz="2400" b="1" dirty="0">
                <a:solidFill>
                  <a:schemeClr val="tx1"/>
                </a:solidFill>
              </a:rPr>
              <a:t>）带进位加法指令</a:t>
            </a:r>
            <a:r>
              <a:rPr lang="en-US" altLang="zh-CN" sz="2400" b="1" dirty="0">
                <a:solidFill>
                  <a:schemeClr val="tx1"/>
                </a:solidFill>
              </a:rPr>
              <a:t>ADC</a:t>
            </a:r>
          </a:p>
        </p:txBody>
      </p:sp>
      <p:sp>
        <p:nvSpPr>
          <p:cNvPr id="393220" name="流程图: 可选过程 393219"/>
          <p:cNvSpPr/>
          <p:nvPr/>
        </p:nvSpPr>
        <p:spPr>
          <a:xfrm>
            <a:off x="1043608" y="2060848"/>
            <a:ext cx="7162800" cy="2214562"/>
          </a:xfrm>
          <a:prstGeom prst="flowChartAlternateProcess">
            <a:avLst/>
          </a:prstGeom>
          <a:solidFill>
            <a:srgbClr val="FFFFFF"/>
          </a:solidFill>
          <a:ln w="12700">
            <a:noFill/>
          </a:ln>
          <a:effectLst>
            <a:prstShdw prst="shdw13" dist="53882" dir="13499999">
              <a:srgbClr val="808080"/>
            </a:prstShdw>
          </a:effectLst>
        </p:spPr>
        <p:txBody>
          <a:bodyPr/>
          <a:lstStyle/>
          <a:p>
            <a:pPr lvl="0" defTabSz="0">
              <a:spcBef>
                <a:spcPct val="50000"/>
              </a:spcBef>
              <a:tabLst>
                <a:tab pos="1520825" algn="l"/>
              </a:tabLst>
            </a:pPr>
            <a:r>
              <a:rPr lang="en-US" altLang="zh-CN" sz="2800" b="1" dirty="0">
                <a:latin typeface="宋体" panose="02010600030101010101" pitchFamily="2" charset="-122"/>
                <a:ea typeface="宋体" panose="02010600030101010101" pitchFamily="2" charset="-122"/>
              </a:rPr>
              <a:t>ADC </a:t>
            </a:r>
            <a:r>
              <a:rPr lang="en-US" altLang="zh-CN" sz="2800" b="1" dirty="0" err="1">
                <a:latin typeface="宋体" panose="02010600030101010101" pitchFamily="2" charset="-122"/>
                <a:ea typeface="宋体" panose="02010600030101010101" pitchFamily="2" charset="-122"/>
              </a:rPr>
              <a:t>reg,imm</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reg</a:t>
            </a:r>
            <a:r>
              <a:rPr lang="en-US" altLang="zh-CN" sz="2800" b="1" dirty="0">
                <a:latin typeface="宋体" panose="02010600030101010101" pitchFamily="2" charset="-122"/>
                <a:ea typeface="宋体" panose="02010600030101010101" pitchFamily="2" charset="-122"/>
              </a:rPr>
              <a:t>/mem</a:t>
            </a:r>
          </a:p>
          <a:p>
            <a:pPr lvl="0" algn="just" defTabSz="0">
              <a:lnSpc>
                <a:spcPct val="50000"/>
              </a:lnSpc>
              <a:spcBef>
                <a:spcPct val="50000"/>
              </a:spcBef>
              <a:tabLst>
                <a:tab pos="1520825" algn="l"/>
              </a:tabLst>
            </a:pPr>
            <a:r>
              <a:rPr lang="en-US" altLang="zh-CN" sz="2800" b="1" dirty="0">
                <a:solidFill>
                  <a:schemeClr val="accent2"/>
                </a:solidFill>
                <a:latin typeface="宋体" panose="02010600030101010101" pitchFamily="2" charset="-122"/>
                <a:ea typeface="宋体" panose="02010600030101010101" pitchFamily="2" charset="-122"/>
              </a:rPr>
              <a:t>	</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reg←reg</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imm</a:t>
            </a:r>
            <a:r>
              <a:rPr lang="en-US" altLang="zh-CN"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reg</a:t>
            </a:r>
            <a:r>
              <a:rPr lang="en-US" altLang="zh-CN" sz="2800" b="1" dirty="0">
                <a:solidFill>
                  <a:schemeClr val="accent2"/>
                </a:solidFill>
                <a:latin typeface="宋体" panose="02010600030101010101" pitchFamily="2" charset="-122"/>
                <a:ea typeface="宋体" panose="02010600030101010101" pitchFamily="2" charset="-122"/>
              </a:rPr>
              <a:t>/mem</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rgbClr val="0000FF"/>
                </a:solidFill>
                <a:latin typeface="宋体" panose="02010600030101010101" pitchFamily="2" charset="-122"/>
                <a:ea typeface="宋体" panose="02010600030101010101" pitchFamily="2" charset="-122"/>
              </a:rPr>
              <a:t>CF</a:t>
            </a:r>
          </a:p>
          <a:p>
            <a:pPr lvl="0" defTabSz="0">
              <a:spcBef>
                <a:spcPct val="50000"/>
              </a:spcBef>
              <a:tabLst>
                <a:tab pos="1520825" algn="l"/>
              </a:tabLst>
            </a:pPr>
            <a:r>
              <a:rPr lang="en-US" altLang="zh-CN" sz="2800" b="1" dirty="0">
                <a:latin typeface="宋体" panose="02010600030101010101" pitchFamily="2" charset="-122"/>
                <a:ea typeface="宋体" panose="02010600030101010101" pitchFamily="2" charset="-122"/>
              </a:rPr>
              <a:t>ADC </a:t>
            </a:r>
            <a:r>
              <a:rPr lang="en-US" altLang="zh-CN" sz="2800" b="1" dirty="0" err="1">
                <a:latin typeface="宋体" panose="02010600030101010101" pitchFamily="2" charset="-122"/>
                <a:ea typeface="宋体" panose="02010600030101010101" pitchFamily="2" charset="-122"/>
              </a:rPr>
              <a:t>mem,imm</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reg</a:t>
            </a:r>
            <a:endParaRPr lang="en-US" altLang="zh-CN" sz="2800" b="1" dirty="0">
              <a:latin typeface="宋体" panose="02010600030101010101" pitchFamily="2" charset="-122"/>
              <a:ea typeface="宋体" panose="02010600030101010101" pitchFamily="2" charset="-122"/>
            </a:endParaRPr>
          </a:p>
          <a:p>
            <a:pPr lvl="0" algn="just" defTabSz="0">
              <a:lnSpc>
                <a:spcPct val="50000"/>
              </a:lnSpc>
              <a:spcBef>
                <a:spcPct val="50000"/>
              </a:spcBef>
              <a:tabLst>
                <a:tab pos="1520825" algn="l"/>
              </a:tabLst>
            </a:pPr>
            <a:r>
              <a:rPr lang="en-US" altLang="zh-CN" sz="2800" b="1" dirty="0">
                <a:solidFill>
                  <a:schemeClr val="accent2"/>
                </a:solidFill>
                <a:latin typeface="宋体" panose="02010600030101010101" pitchFamily="2" charset="-122"/>
                <a:ea typeface="宋体" panose="02010600030101010101" pitchFamily="2" charset="-122"/>
              </a:rPr>
              <a:t>	</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mem←mem</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imm</a:t>
            </a:r>
            <a:r>
              <a:rPr lang="en-US" altLang="zh-CN"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reg</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a:solidFill>
                  <a:srgbClr val="0000FF"/>
                </a:solidFill>
                <a:latin typeface="宋体" panose="02010600030101010101" pitchFamily="2" charset="-122"/>
                <a:ea typeface="宋体" panose="02010600030101010101" pitchFamily="2" charset="-122"/>
              </a:rPr>
              <a:t>CF</a:t>
            </a:r>
          </a:p>
        </p:txBody>
      </p:sp>
      <p:sp>
        <p:nvSpPr>
          <p:cNvPr id="393222" name="文本框 393221"/>
          <p:cNvSpPr txBox="1"/>
          <p:nvPr/>
        </p:nvSpPr>
        <p:spPr>
          <a:xfrm>
            <a:off x="1187450" y="1397000"/>
            <a:ext cx="1152525" cy="466725"/>
          </a:xfrm>
          <a:prstGeom prst="rect">
            <a:avLst/>
          </a:prstGeom>
          <a:noFill/>
          <a:ln w="9525" cap="flat" cmpd="sng">
            <a:solidFill>
              <a:srgbClr val="000000"/>
            </a:solidFill>
            <a:prstDash val="solid"/>
            <a:miter/>
            <a:headEnd type="none" w="med" len="med"/>
            <a:tailEnd type="none" w="med" len="med"/>
          </a:ln>
          <a:effectLst>
            <a:outerShdw dist="35921" dir="2699999" algn="ctr" rotWithShape="0">
              <a:srgbClr val="808080"/>
            </a:outerShdw>
          </a:effectLst>
        </p:spPr>
        <p:txBody>
          <a:bodyPr>
            <a:spAutoFit/>
          </a:bodyPr>
          <a:lstStyle/>
          <a:p>
            <a:pPr lvl="0"/>
            <a:r>
              <a:rPr lang="zh-CN" altLang="en-US" sz="2400" b="1" dirty="0">
                <a:solidFill>
                  <a:srgbClr val="FF00FF"/>
                </a:solidFill>
                <a:latin typeface="Arial" panose="020B0604020202020204" pitchFamily="34" charset="0"/>
                <a:ea typeface="宋体" panose="02010600030101010101" pitchFamily="2" charset="-122"/>
              </a:rPr>
              <a:t>格式</a:t>
            </a:r>
            <a:r>
              <a:rPr lang="en-US" altLang="zh-CN" sz="2400" b="1">
                <a:solidFill>
                  <a:srgbClr val="FF00FF"/>
                </a:solidFill>
                <a:latin typeface="Arial" panose="020B0604020202020204" pitchFamily="34" charset="0"/>
                <a:ea typeface="宋体" panose="02010600030101010101" pitchFamily="2" charset="-122"/>
              </a:rPr>
              <a:t>:</a:t>
            </a:r>
          </a:p>
        </p:txBody>
      </p:sp>
      <p:sp>
        <p:nvSpPr>
          <p:cNvPr id="393224" name="文本占位符 393223"/>
          <p:cNvSpPr>
            <a:spLocks noGrp="1"/>
          </p:cNvSpPr>
          <p:nvPr>
            <p:ph type="body" idx="1"/>
          </p:nvPr>
        </p:nvSpPr>
        <p:spPr>
          <a:xfrm>
            <a:off x="299834" y="4437112"/>
            <a:ext cx="8642350" cy="1872208"/>
          </a:xfrm>
          <a:ln/>
        </p:spPr>
        <p:txBody>
          <a:bodyPr/>
          <a:lstStyle/>
          <a:p>
            <a:pPr>
              <a:lnSpc>
                <a:spcPts val="3500"/>
              </a:lnSpc>
              <a:spcBef>
                <a:spcPts val="0"/>
              </a:spcBef>
              <a:buClrTx/>
              <a:buNone/>
            </a:pPr>
            <a:r>
              <a:rPr lang="zh-CN" altLang="en-US" sz="2400" b="1" dirty="0"/>
              <a:t>功能：</a:t>
            </a:r>
            <a:r>
              <a:rPr lang="en-US" altLang="zh-CN" sz="2400" b="1" dirty="0"/>
              <a:t>ADC</a:t>
            </a:r>
            <a:r>
              <a:rPr lang="zh-CN" altLang="en-US" sz="2400" b="1" dirty="0"/>
              <a:t>指令将源操作数内容、目的操作数内容及进位标志位</a:t>
            </a:r>
            <a:r>
              <a:rPr lang="en-US" altLang="zh-CN" sz="2400" b="1" dirty="0"/>
              <a:t>CF</a:t>
            </a:r>
            <a:r>
              <a:rPr lang="zh-CN" altLang="en-US" sz="2400" b="1" dirty="0"/>
              <a:t>的值三项相加，相加结果送给目的操作数</a:t>
            </a:r>
          </a:p>
          <a:p>
            <a:pPr>
              <a:lnSpc>
                <a:spcPts val="3500"/>
              </a:lnSpc>
              <a:spcBef>
                <a:spcPts val="0"/>
              </a:spcBef>
              <a:buClrTx/>
              <a:buNone/>
            </a:pPr>
            <a:r>
              <a:rPr lang="en-US" altLang="zh-CN" sz="2400" b="1" dirty="0"/>
              <a:t>ADC</a:t>
            </a:r>
            <a:r>
              <a:rPr lang="zh-CN" altLang="en-US" sz="2400" b="1" dirty="0"/>
              <a:t>指令按状态标志的定义相应设置</a:t>
            </a:r>
          </a:p>
          <a:p>
            <a:pPr>
              <a:lnSpc>
                <a:spcPts val="3500"/>
              </a:lnSpc>
              <a:spcBef>
                <a:spcPts val="0"/>
              </a:spcBef>
              <a:buClrTx/>
              <a:buNone/>
            </a:pPr>
            <a:r>
              <a:rPr lang="zh-CN" altLang="en-US" sz="2400" b="1" dirty="0"/>
              <a:t>用法：</a:t>
            </a:r>
            <a:r>
              <a:rPr lang="en-US" altLang="zh-CN" sz="2400" b="1" dirty="0"/>
              <a:t>ADC</a:t>
            </a:r>
            <a:r>
              <a:rPr lang="zh-CN" altLang="en-US" sz="2400" b="1" dirty="0"/>
              <a:t>指令主要与</a:t>
            </a:r>
            <a:r>
              <a:rPr lang="en-US" altLang="zh-CN" sz="2400" b="1" dirty="0"/>
              <a:t>ADD</a:t>
            </a:r>
            <a:r>
              <a:rPr lang="zh-CN" altLang="en-US" sz="2400" b="1" dirty="0"/>
              <a:t>配合，实现多精度数加法运算</a:t>
            </a:r>
          </a:p>
        </p:txBody>
      </p:sp>
      <p:sp>
        <p:nvSpPr>
          <p:cNvPr id="393225" name="矩形 39322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5266" name="文本占位符 395265"/>
          <p:cNvSpPr>
            <a:spLocks noGrp="1"/>
          </p:cNvSpPr>
          <p:nvPr>
            <p:ph type="body" idx="1"/>
          </p:nvPr>
        </p:nvSpPr>
        <p:spPr>
          <a:xfrm>
            <a:off x="698624" y="1320013"/>
            <a:ext cx="6249988" cy="2438400"/>
          </a:xfrm>
          <a:ln/>
        </p:spPr>
        <p:txBody>
          <a:bodyPr/>
          <a:lstStyle/>
          <a:p>
            <a:pPr algn="just">
              <a:lnSpc>
                <a:spcPct val="110000"/>
              </a:lnSpc>
              <a:buClrTx/>
              <a:buNone/>
            </a:pPr>
            <a:r>
              <a:rPr lang="zh-CN" altLang="en-US" sz="2400" b="1" dirty="0">
                <a:latin typeface="宋体" panose="02010600030101010101" pitchFamily="2" charset="-122"/>
              </a:rPr>
              <a:t>示例：无符号双字加法运算。</a:t>
            </a:r>
          </a:p>
          <a:p>
            <a:pPr algn="just">
              <a:lnSpc>
                <a:spcPct val="110000"/>
              </a:lnSpc>
              <a:buClrTx/>
              <a:buNone/>
            </a:pPr>
            <a:r>
              <a:rPr lang="en-US" altLang="zh-CN" sz="2400" b="1" dirty="0">
                <a:latin typeface="宋体" panose="02010600030101010101" pitchFamily="2" charset="-122"/>
              </a:rPr>
              <a:t>MOV	AX</a:t>
            </a:r>
            <a:r>
              <a:rPr lang="zh-CN" altLang="en-US" sz="2400" b="1" dirty="0">
                <a:latin typeface="宋体" panose="02010600030101010101" pitchFamily="2" charset="-122"/>
              </a:rPr>
              <a:t>，</a:t>
            </a:r>
            <a:r>
              <a:rPr lang="en-US" altLang="zh-CN" sz="2400" b="1" dirty="0">
                <a:latin typeface="宋体" panose="02010600030101010101" pitchFamily="2" charset="-122"/>
              </a:rPr>
              <a:t>4652H	  </a:t>
            </a:r>
            <a:r>
              <a:rPr lang="zh-CN" altLang="en-US" sz="2400" b="1" dirty="0">
                <a:latin typeface="宋体" panose="02010600030101010101" pitchFamily="2" charset="-122"/>
              </a:rPr>
              <a:t>；</a:t>
            </a:r>
            <a:r>
              <a:rPr lang="en-US" altLang="zh-CN" sz="2400" b="1" dirty="0">
                <a:latin typeface="宋体" panose="02010600030101010101" pitchFamily="2" charset="-122"/>
              </a:rPr>
              <a:t>AX=4652H</a:t>
            </a:r>
          </a:p>
          <a:p>
            <a:pPr algn="just">
              <a:lnSpc>
                <a:spcPct val="110000"/>
              </a:lnSpc>
              <a:buClrTx/>
              <a:buNone/>
            </a:pPr>
            <a:r>
              <a:rPr lang="en-US" altLang="zh-CN" sz="2400" b="1" dirty="0">
                <a:latin typeface="宋体" panose="02010600030101010101" pitchFamily="2" charset="-122"/>
              </a:rPr>
              <a:t>ADD	AX</a:t>
            </a:r>
            <a:r>
              <a:rPr lang="zh-CN" altLang="en-US" sz="2400" b="1" dirty="0">
                <a:latin typeface="宋体" panose="02010600030101010101" pitchFamily="2" charset="-122"/>
              </a:rPr>
              <a:t>，</a:t>
            </a:r>
            <a:r>
              <a:rPr lang="en-US" altLang="zh-CN" sz="2400" b="1" dirty="0">
                <a:latin typeface="宋体" panose="02010600030101010101" pitchFamily="2" charset="-122"/>
              </a:rPr>
              <a:t>0F0F0H	  </a:t>
            </a:r>
            <a:r>
              <a:rPr lang="zh-CN" altLang="en-US" sz="2400" b="1" dirty="0">
                <a:latin typeface="宋体" panose="02010600030101010101" pitchFamily="2" charset="-122"/>
              </a:rPr>
              <a:t>；</a:t>
            </a:r>
            <a:r>
              <a:rPr lang="en-US" altLang="zh-CN" sz="2400" b="1" dirty="0">
                <a:latin typeface="宋体" panose="02010600030101010101" pitchFamily="2" charset="-122"/>
              </a:rPr>
              <a:t>AX=3742H</a:t>
            </a:r>
            <a:r>
              <a:rPr lang="zh-CN" altLang="en-US" sz="2400" b="1" dirty="0">
                <a:latin typeface="宋体" panose="02010600030101010101" pitchFamily="2" charset="-122"/>
              </a:rPr>
              <a:t>，</a:t>
            </a:r>
            <a:r>
              <a:rPr lang="en-US" altLang="zh-CN" sz="2400" b="1" dirty="0">
                <a:latin typeface="宋体" panose="02010600030101010101" pitchFamily="2" charset="-122"/>
              </a:rPr>
              <a:t>CF=1</a:t>
            </a:r>
          </a:p>
          <a:p>
            <a:pPr algn="just">
              <a:lnSpc>
                <a:spcPct val="110000"/>
              </a:lnSpc>
              <a:buClrTx/>
              <a:buNone/>
            </a:pPr>
            <a:r>
              <a:rPr lang="en-US" altLang="zh-CN" sz="2400" b="1" dirty="0">
                <a:latin typeface="宋体" panose="02010600030101010101" pitchFamily="2" charset="-122"/>
              </a:rPr>
              <a:t>MOV	DX</a:t>
            </a:r>
            <a:r>
              <a:rPr lang="zh-CN" altLang="en-US" sz="2400" b="1" dirty="0">
                <a:latin typeface="宋体" panose="02010600030101010101" pitchFamily="2" charset="-122"/>
              </a:rPr>
              <a:t>，</a:t>
            </a:r>
            <a:r>
              <a:rPr lang="en-US" altLang="zh-CN" sz="2400" b="1" dirty="0">
                <a:latin typeface="宋体" panose="02010600030101010101" pitchFamily="2" charset="-122"/>
              </a:rPr>
              <a:t>0234H	  </a:t>
            </a:r>
            <a:r>
              <a:rPr lang="zh-CN" altLang="en-US" sz="2400" b="1" dirty="0">
                <a:latin typeface="宋体" panose="02010600030101010101" pitchFamily="2" charset="-122"/>
              </a:rPr>
              <a:t>；</a:t>
            </a:r>
            <a:r>
              <a:rPr lang="en-US" altLang="zh-CN" sz="2400" b="1" dirty="0">
                <a:latin typeface="宋体" panose="02010600030101010101" pitchFamily="2" charset="-122"/>
              </a:rPr>
              <a:t>DX=0234H</a:t>
            </a:r>
          </a:p>
          <a:p>
            <a:pPr algn="just">
              <a:lnSpc>
                <a:spcPct val="110000"/>
              </a:lnSpc>
              <a:buClrTx/>
              <a:buNone/>
            </a:pPr>
            <a:r>
              <a:rPr lang="en-US" altLang="zh-CN" sz="2400" b="1" dirty="0">
                <a:latin typeface="宋体" panose="02010600030101010101" pitchFamily="2" charset="-122"/>
              </a:rPr>
              <a:t>ADC	DX</a:t>
            </a:r>
            <a:r>
              <a:rPr lang="zh-CN" altLang="en-US" sz="2400" b="1" dirty="0">
                <a:latin typeface="宋体" panose="02010600030101010101" pitchFamily="2" charset="-122"/>
              </a:rPr>
              <a:t>，</a:t>
            </a:r>
            <a:r>
              <a:rPr lang="en-US" altLang="zh-CN" sz="2400" b="1" dirty="0">
                <a:latin typeface="宋体" panose="02010600030101010101" pitchFamily="2" charset="-122"/>
              </a:rPr>
              <a:t>0F0F0H	  </a:t>
            </a:r>
            <a:r>
              <a:rPr lang="zh-CN" altLang="en-US" sz="2400" b="1" dirty="0">
                <a:latin typeface="宋体" panose="02010600030101010101" pitchFamily="2" charset="-122"/>
              </a:rPr>
              <a:t>；</a:t>
            </a:r>
            <a:r>
              <a:rPr lang="en-US" altLang="zh-CN" sz="2400" b="1" dirty="0">
                <a:latin typeface="宋体" panose="02010600030101010101" pitchFamily="2" charset="-122"/>
              </a:rPr>
              <a:t>DX=0F325H</a:t>
            </a:r>
            <a:r>
              <a:rPr lang="zh-CN" altLang="en-US" sz="2400" b="1" dirty="0">
                <a:latin typeface="宋体" panose="02010600030101010101" pitchFamily="2" charset="-122"/>
              </a:rPr>
              <a:t>，</a:t>
            </a:r>
            <a:r>
              <a:rPr lang="en-US" altLang="zh-CN" sz="2400" b="1" dirty="0">
                <a:latin typeface="宋体" panose="02010600030101010101" pitchFamily="2" charset="-122"/>
              </a:rPr>
              <a:t>CF=0</a:t>
            </a:r>
            <a:endParaRPr lang="zh-CN" altLang="en-US" sz="2400" b="1" dirty="0">
              <a:latin typeface="宋体" panose="02010600030101010101" pitchFamily="2" charset="-122"/>
            </a:endParaRPr>
          </a:p>
        </p:txBody>
      </p:sp>
      <p:sp>
        <p:nvSpPr>
          <p:cNvPr id="395267" name="矩形 395266"/>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2" name="矩形 1"/>
          <p:cNvSpPr/>
          <p:nvPr/>
        </p:nvSpPr>
        <p:spPr>
          <a:xfrm>
            <a:off x="1475656" y="4221088"/>
            <a:ext cx="6240811" cy="461665"/>
          </a:xfrm>
          <a:prstGeom prst="rect">
            <a:avLst/>
          </a:prstGeom>
        </p:spPr>
        <p:txBody>
          <a:bodyPr wrap="none">
            <a:spAutoFit/>
          </a:bodyPr>
          <a:lstStyle/>
          <a:p>
            <a:r>
              <a:rPr lang="zh-CN" altLang="en-US" sz="2400" b="1" dirty="0">
                <a:latin typeface="宋体" panose="02010600030101010101" pitchFamily="2" charset="-122"/>
              </a:rPr>
              <a:t>最终实现：</a:t>
            </a:r>
            <a:r>
              <a:rPr lang="en-US" altLang="zh-CN" sz="2400" b="1" dirty="0">
                <a:solidFill>
                  <a:srgbClr val="FF00FF"/>
                </a:solidFill>
                <a:latin typeface="宋体" panose="02010600030101010101" pitchFamily="2" charset="-122"/>
              </a:rPr>
              <a:t>02344652H+F0F0F0F0H=F3253742H</a:t>
            </a:r>
            <a:endParaRPr lang="zh-CN" altLang="en-US" sz="2400" dirty="0">
              <a:solidFill>
                <a:srgbClr val="FF00FF"/>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标题 398337"/>
          <p:cNvSpPr>
            <a:spLocks noGrp="1"/>
          </p:cNvSpPr>
          <p:nvPr>
            <p:ph type="title"/>
          </p:nvPr>
        </p:nvSpPr>
        <p:spPr>
          <a:xfrm>
            <a:off x="468313" y="908050"/>
            <a:ext cx="2447925" cy="457200"/>
          </a:xfrm>
          <a:ln/>
        </p:spPr>
        <p:txBody>
          <a:bodyPr anchor="ctr"/>
          <a:lstStyle/>
          <a:p>
            <a:pPr algn="l"/>
            <a:r>
              <a:rPr lang="en-US" altLang="zh-CN" sz="2400" b="1" dirty="0">
                <a:solidFill>
                  <a:schemeClr val="tx1"/>
                </a:solidFill>
              </a:rPr>
              <a:t>3</a:t>
            </a:r>
            <a:r>
              <a:rPr lang="zh-CN" altLang="en-US" sz="2400" b="1" dirty="0">
                <a:solidFill>
                  <a:schemeClr val="tx1"/>
                </a:solidFill>
              </a:rPr>
              <a:t>）增</a:t>
            </a:r>
            <a:r>
              <a:rPr lang="en-US" altLang="zh-CN" sz="2400" b="1" dirty="0">
                <a:solidFill>
                  <a:schemeClr val="tx1"/>
                </a:solidFill>
              </a:rPr>
              <a:t>1</a:t>
            </a:r>
            <a:r>
              <a:rPr lang="zh-CN" altLang="en-US" sz="2400" b="1" dirty="0">
                <a:solidFill>
                  <a:schemeClr val="tx1"/>
                </a:solidFill>
              </a:rPr>
              <a:t>指令</a:t>
            </a:r>
            <a:r>
              <a:rPr lang="en-US" altLang="zh-CN" sz="2400" b="1" dirty="0">
                <a:solidFill>
                  <a:schemeClr val="tx1"/>
                </a:solidFill>
              </a:rPr>
              <a:t>INC</a:t>
            </a:r>
            <a:endParaRPr lang="zh-CN" altLang="en-US" sz="2400" b="1" dirty="0">
              <a:solidFill>
                <a:schemeClr val="tx1"/>
              </a:solidFill>
            </a:endParaRPr>
          </a:p>
        </p:txBody>
      </p:sp>
      <p:sp>
        <p:nvSpPr>
          <p:cNvPr id="398339" name="文本占位符 398338"/>
          <p:cNvSpPr>
            <a:spLocks noGrp="1"/>
          </p:cNvSpPr>
          <p:nvPr>
            <p:ph type="body" idx="1"/>
          </p:nvPr>
        </p:nvSpPr>
        <p:spPr>
          <a:xfrm>
            <a:off x="323528" y="4125508"/>
            <a:ext cx="8640763" cy="1368425"/>
          </a:xfrm>
          <a:ln/>
        </p:spPr>
        <p:txBody>
          <a:bodyPr/>
          <a:lstStyle/>
          <a:p>
            <a:pPr>
              <a:lnSpc>
                <a:spcPct val="90000"/>
              </a:lnSpc>
              <a:buClrTx/>
              <a:buNone/>
            </a:pPr>
            <a:r>
              <a:rPr lang="zh-CN" altLang="en-US" sz="2400" b="1" dirty="0"/>
              <a:t>功能：对指令中指定操作数的内容加</a:t>
            </a:r>
            <a:r>
              <a:rPr lang="en-US" altLang="zh-CN" sz="2400" b="1" dirty="0"/>
              <a:t>1</a:t>
            </a:r>
            <a:r>
              <a:rPr lang="zh-CN" altLang="en-US" sz="2400" b="1" dirty="0"/>
              <a:t>后，又回送给该操作数</a:t>
            </a:r>
            <a:r>
              <a:rPr lang="zh-CN" altLang="en-US" sz="2400" dirty="0"/>
              <a:t> </a:t>
            </a:r>
            <a:endParaRPr lang="zh-CN" altLang="en-US" sz="2400" b="1" dirty="0"/>
          </a:p>
          <a:p>
            <a:pPr>
              <a:lnSpc>
                <a:spcPct val="90000"/>
              </a:lnSpc>
              <a:buClrTx/>
              <a:buNone/>
            </a:pPr>
            <a:r>
              <a:rPr lang="en-US" altLang="zh-CN" sz="2400" b="1" dirty="0"/>
              <a:t>INC</a:t>
            </a:r>
            <a:r>
              <a:rPr lang="zh-CN" altLang="en-US" sz="2400" b="1" dirty="0"/>
              <a:t>指令</a:t>
            </a:r>
            <a:r>
              <a:rPr lang="zh-CN" altLang="en-US" sz="2400" b="1" dirty="0">
                <a:solidFill>
                  <a:srgbClr val="0000FF"/>
                </a:solidFill>
              </a:rPr>
              <a:t>不影响进位</a:t>
            </a:r>
            <a:r>
              <a:rPr lang="zh-CN" altLang="en-US" sz="2400" b="1" dirty="0"/>
              <a:t>标志</a:t>
            </a:r>
            <a:r>
              <a:rPr lang="en-US" altLang="zh-CN" sz="2400" b="1" dirty="0">
                <a:solidFill>
                  <a:srgbClr val="0000FF"/>
                </a:solidFill>
              </a:rPr>
              <a:t>CF</a:t>
            </a:r>
            <a:r>
              <a:rPr lang="zh-CN" altLang="en-US" sz="2400" b="1" dirty="0"/>
              <a:t>，按定义设置其他状态标志</a:t>
            </a:r>
          </a:p>
          <a:p>
            <a:pPr>
              <a:lnSpc>
                <a:spcPct val="90000"/>
              </a:lnSpc>
              <a:buClrTx/>
              <a:buNone/>
            </a:pPr>
            <a:r>
              <a:rPr lang="zh-CN" altLang="en-US" sz="2400" b="1" dirty="0"/>
              <a:t>用法：主要用于在循环程序中修改地址指针和循环次数等</a:t>
            </a:r>
          </a:p>
        </p:txBody>
      </p:sp>
      <p:sp>
        <p:nvSpPr>
          <p:cNvPr id="398340" name="流程图: 可选过程 398339"/>
          <p:cNvSpPr/>
          <p:nvPr/>
        </p:nvSpPr>
        <p:spPr>
          <a:xfrm>
            <a:off x="539750" y="2570163"/>
            <a:ext cx="4343400" cy="1066800"/>
          </a:xfrm>
          <a:prstGeom prst="flowChartAlternateProcess">
            <a:avLst/>
          </a:prstGeom>
          <a:solidFill>
            <a:srgbClr val="FFFFFF"/>
          </a:solidFill>
          <a:ln w="12700">
            <a:noFill/>
          </a:ln>
          <a:effectLst>
            <a:prstShdw prst="shdw13" dist="53882" dir="13499999">
              <a:srgbClr val="808080"/>
            </a:prstShdw>
          </a:effectLst>
        </p:spPr>
        <p:txBody>
          <a:bodyPr/>
          <a:lstStyle/>
          <a:p>
            <a:pPr lvl="0" defTabSz="0">
              <a:spcBef>
                <a:spcPct val="50000"/>
              </a:spcBef>
              <a:tabLst>
                <a:tab pos="2289175" algn="l"/>
              </a:tabLst>
            </a:pPr>
            <a:r>
              <a:rPr lang="en-US" altLang="zh-CN" sz="2800" b="1">
                <a:latin typeface="宋体" panose="02010600030101010101" pitchFamily="2" charset="-122"/>
                <a:ea typeface="宋体" panose="02010600030101010101" pitchFamily="2" charset="-122"/>
              </a:rPr>
              <a:t>INC </a:t>
            </a:r>
            <a:r>
              <a:rPr lang="en-US" altLang="zh-CN" sz="2800" b="1" err="1">
                <a:latin typeface="宋体" panose="02010600030101010101" pitchFamily="2" charset="-122"/>
                <a:ea typeface="宋体" panose="02010600030101010101" pitchFamily="2" charset="-122"/>
              </a:rPr>
              <a:t>reg/mem</a:t>
            </a:r>
            <a:endParaRPr lang="en-US" altLang="zh-CN" sz="2800" b="1">
              <a:latin typeface="宋体" panose="02010600030101010101" pitchFamily="2" charset="-122"/>
              <a:ea typeface="宋体" panose="02010600030101010101" pitchFamily="2" charset="-122"/>
            </a:endParaRPr>
          </a:p>
          <a:p>
            <a:pPr lvl="0" defTabSz="0">
              <a:lnSpc>
                <a:spcPct val="60000"/>
              </a:lnSpc>
              <a:spcBef>
                <a:spcPct val="50000"/>
              </a:spcBef>
              <a:tabLst>
                <a:tab pos="2289175" algn="l"/>
              </a:tabLst>
            </a:pP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reg/mem←reg/mem</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a:solidFill>
                  <a:schemeClr val="accent2"/>
                </a:solidFill>
                <a:latin typeface="宋体" panose="02010600030101010101" pitchFamily="2" charset="-122"/>
                <a:ea typeface="宋体" panose="02010600030101010101" pitchFamily="2" charset="-122"/>
              </a:rPr>
              <a:t>1</a:t>
            </a:r>
          </a:p>
        </p:txBody>
      </p:sp>
      <p:sp>
        <p:nvSpPr>
          <p:cNvPr id="398341" name="矩形 398340"/>
          <p:cNvSpPr/>
          <p:nvPr/>
        </p:nvSpPr>
        <p:spPr>
          <a:xfrm>
            <a:off x="5292725" y="2498725"/>
            <a:ext cx="3455988" cy="1219200"/>
          </a:xfrm>
          <a:prstGeom prst="rect">
            <a:avLst/>
          </a:prstGeom>
          <a:solidFill>
            <a:schemeClr val="bg1"/>
          </a:solidFill>
          <a:ln w="28575" cap="flat" cmpd="sng">
            <a:solidFill>
              <a:srgbClr val="FF3300"/>
            </a:solidFill>
            <a:prstDash val="solid"/>
            <a:miter/>
            <a:headEnd type="none" w="med" len="med"/>
            <a:tailEnd type="none" w="med" len="med"/>
          </a:ln>
        </p:spPr>
        <p:txBody>
          <a:bodyPr lIns="92075" tIns="46038" rIns="92075" bIns="46038"/>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100330" defTabSz="0">
              <a:lnSpc>
                <a:spcPct val="90000"/>
              </a:lnSpc>
              <a:buClrTx/>
              <a:buNone/>
              <a:tabLst>
                <a:tab pos="2472055" algn="l"/>
              </a:tabLst>
            </a:pPr>
            <a:r>
              <a:rPr lang="en-US" altLang="zh-CN" sz="2800" b="1">
                <a:latin typeface="宋体" panose="02010600030101010101" pitchFamily="2" charset="-122"/>
              </a:rPr>
              <a:t>INC BX</a:t>
            </a:r>
          </a:p>
          <a:p>
            <a:pPr marL="0" lvl="0" indent="100330" defTabSz="0">
              <a:lnSpc>
                <a:spcPct val="90000"/>
              </a:lnSpc>
              <a:buClrTx/>
              <a:buNone/>
              <a:tabLst>
                <a:tab pos="2472055" algn="l"/>
              </a:tabLst>
            </a:pPr>
            <a:r>
              <a:rPr lang="en-US" altLang="zh-CN" sz="2800" b="1">
                <a:latin typeface="宋体" panose="02010600030101010101" pitchFamily="2" charset="-122"/>
              </a:rPr>
              <a:t>INC BYTE PTR [BX]</a:t>
            </a:r>
          </a:p>
        </p:txBody>
      </p:sp>
      <p:sp>
        <p:nvSpPr>
          <p:cNvPr id="398342" name="文本框 398341"/>
          <p:cNvSpPr txBox="1"/>
          <p:nvPr/>
        </p:nvSpPr>
        <p:spPr>
          <a:xfrm>
            <a:off x="611188" y="1700213"/>
            <a:ext cx="1152525" cy="466725"/>
          </a:xfrm>
          <a:prstGeom prst="rect">
            <a:avLst/>
          </a:prstGeom>
          <a:noFill/>
          <a:ln w="9525" cap="flat" cmpd="sng">
            <a:solidFill>
              <a:srgbClr val="000000"/>
            </a:solidFill>
            <a:prstDash val="solid"/>
            <a:miter/>
            <a:headEnd type="none" w="med" len="med"/>
            <a:tailEnd type="none" w="med" len="med"/>
          </a:ln>
          <a:effectLst>
            <a:outerShdw dist="35921" dir="2699999" algn="ctr" rotWithShape="0">
              <a:srgbClr val="808080"/>
            </a:outerShdw>
          </a:effectLst>
        </p:spPr>
        <p:txBody>
          <a:bodyPr>
            <a:spAutoFit/>
          </a:bodyPr>
          <a:lstStyle/>
          <a:p>
            <a:pPr lvl="0"/>
            <a:r>
              <a:rPr lang="zh-CN" altLang="en-US" sz="2400" b="1" dirty="0">
                <a:solidFill>
                  <a:srgbClr val="FF00FF"/>
                </a:solidFill>
                <a:latin typeface="Arial" panose="020B0604020202020204" pitchFamily="34" charset="0"/>
                <a:ea typeface="宋体" panose="02010600030101010101" pitchFamily="2" charset="-122"/>
              </a:rPr>
              <a:t>格式</a:t>
            </a:r>
            <a:r>
              <a:rPr lang="en-US" altLang="zh-CN" sz="2400" b="1">
                <a:solidFill>
                  <a:srgbClr val="FF00FF"/>
                </a:solidFill>
                <a:latin typeface="Arial" panose="020B0604020202020204" pitchFamily="34" charset="0"/>
                <a:ea typeface="宋体" panose="02010600030101010101" pitchFamily="2" charset="-122"/>
              </a:rPr>
              <a:t>:</a:t>
            </a:r>
          </a:p>
        </p:txBody>
      </p:sp>
      <p:sp>
        <p:nvSpPr>
          <p:cNvPr id="398343" name="矩形 398342"/>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0386" name="标题 400385"/>
          <p:cNvSpPr>
            <a:spLocks noGrp="1"/>
          </p:cNvSpPr>
          <p:nvPr>
            <p:ph type="title"/>
          </p:nvPr>
        </p:nvSpPr>
        <p:spPr>
          <a:xfrm>
            <a:off x="179388" y="765175"/>
            <a:ext cx="2636837" cy="527050"/>
          </a:xfrm>
          <a:ln/>
        </p:spPr>
        <p:txBody>
          <a:bodyPr anchor="ctr"/>
          <a:lstStyle/>
          <a:p>
            <a:pPr defTabSz="206375"/>
            <a:r>
              <a:rPr lang="zh-CN" altLang="en-US" sz="2400" b="1" dirty="0">
                <a:solidFill>
                  <a:schemeClr val="tx1"/>
                </a:solidFill>
              </a:rPr>
              <a:t>加法指令</a:t>
            </a:r>
            <a:r>
              <a:rPr lang="zh-CN" altLang="en-US" sz="2400" b="1" dirty="0">
                <a:solidFill>
                  <a:srgbClr val="0000FF"/>
                </a:solidFill>
              </a:rPr>
              <a:t>小结</a:t>
            </a:r>
            <a:endParaRPr lang="en-US" altLang="zh-CN" sz="2400" b="1">
              <a:solidFill>
                <a:srgbClr val="0000FF"/>
              </a:solidFill>
            </a:endParaRPr>
          </a:p>
        </p:txBody>
      </p:sp>
      <p:sp>
        <p:nvSpPr>
          <p:cNvPr id="400387" name="文本占位符 400386"/>
          <p:cNvSpPr>
            <a:spLocks noGrp="1"/>
          </p:cNvSpPr>
          <p:nvPr>
            <p:ph type="body" idx="1"/>
          </p:nvPr>
        </p:nvSpPr>
        <p:spPr>
          <a:xfrm>
            <a:off x="179388" y="1392046"/>
            <a:ext cx="8839200" cy="3168650"/>
          </a:xfrm>
          <a:ln/>
        </p:spPr>
        <p:txBody>
          <a:bodyPr/>
          <a:lstStyle/>
          <a:p>
            <a:pPr marL="0" indent="0">
              <a:lnSpc>
                <a:spcPct val="90000"/>
              </a:lnSpc>
              <a:buClrTx/>
              <a:buNone/>
            </a:pPr>
            <a:r>
              <a:rPr lang="zh-CN" altLang="en-US" sz="2400" b="1" dirty="0"/>
              <a:t>  加法指令对标志位的影响：</a:t>
            </a:r>
            <a:r>
              <a:rPr lang="en-US" altLang="zh-CN" sz="2400" b="1" dirty="0"/>
              <a:t>ADD</a:t>
            </a:r>
            <a:r>
              <a:rPr lang="zh-CN" altLang="en-US" sz="2400" b="1" dirty="0"/>
              <a:t>和</a:t>
            </a:r>
            <a:r>
              <a:rPr lang="en-US" altLang="zh-CN" sz="2400" b="1" dirty="0"/>
              <a:t>ADC</a:t>
            </a:r>
            <a:r>
              <a:rPr lang="zh-CN" altLang="en-US" sz="2400" b="1" dirty="0"/>
              <a:t>指令对所有的</a:t>
            </a:r>
            <a:r>
              <a:rPr lang="en-US" altLang="zh-CN" sz="2400" b="1" dirty="0">
                <a:solidFill>
                  <a:srgbClr val="0000FF"/>
                </a:solidFill>
              </a:rPr>
              <a:t>6</a:t>
            </a:r>
            <a:r>
              <a:rPr lang="zh-CN" altLang="en-US" sz="2400" b="1" dirty="0"/>
              <a:t>个状态标志都有影响，</a:t>
            </a:r>
            <a:r>
              <a:rPr lang="en-US" altLang="zh-CN" sz="2400" b="1" dirty="0"/>
              <a:t>INC</a:t>
            </a:r>
            <a:r>
              <a:rPr lang="zh-CN" altLang="en-US" sz="2400" b="1" dirty="0"/>
              <a:t>指令不影响</a:t>
            </a:r>
            <a:r>
              <a:rPr lang="en-US" altLang="zh-CN" sz="2400" b="1" dirty="0"/>
              <a:t>CF</a:t>
            </a:r>
            <a:r>
              <a:rPr lang="zh-CN" altLang="en-US" sz="2400" b="1" dirty="0"/>
              <a:t>，影响其他</a:t>
            </a:r>
            <a:r>
              <a:rPr lang="en-US" altLang="zh-CN" sz="2400" b="1" dirty="0">
                <a:solidFill>
                  <a:srgbClr val="0000FF"/>
                </a:solidFill>
              </a:rPr>
              <a:t>5</a:t>
            </a:r>
            <a:r>
              <a:rPr lang="zh-CN" altLang="en-US" sz="2400" b="1" dirty="0"/>
              <a:t>个标志。学习加减法指令要会设置标志、使用标志。</a:t>
            </a:r>
          </a:p>
          <a:p>
            <a:pPr marL="0" indent="0">
              <a:lnSpc>
                <a:spcPct val="90000"/>
              </a:lnSpc>
              <a:buClrTx/>
              <a:buNone/>
            </a:pPr>
            <a:r>
              <a:rPr lang="zh-CN" altLang="en-US" sz="2400" b="1" dirty="0"/>
              <a:t>示例：</a:t>
            </a:r>
            <a:r>
              <a:rPr lang="en-US" altLang="zh-CN" sz="2400" b="1" dirty="0"/>
              <a:t>(</a:t>
            </a:r>
            <a:r>
              <a:rPr lang="zh-CN" altLang="en-US" sz="2400" b="1" dirty="0"/>
              <a:t>对错混排）</a:t>
            </a:r>
          </a:p>
          <a:p>
            <a:pPr marL="0" indent="0">
              <a:lnSpc>
                <a:spcPct val="90000"/>
              </a:lnSpc>
              <a:buClrTx/>
              <a:buNone/>
            </a:pPr>
            <a:r>
              <a:rPr lang="zh-CN" altLang="en-US" sz="2400" b="1" dirty="0"/>
              <a:t>  </a:t>
            </a:r>
            <a:r>
              <a:rPr lang="en-US" altLang="zh-CN" sz="2400" b="1" dirty="0"/>
              <a:t>ADD AL,25H                ADD BYTE PTR[BX],05</a:t>
            </a:r>
          </a:p>
          <a:p>
            <a:pPr marL="0" indent="0">
              <a:lnSpc>
                <a:spcPct val="90000"/>
              </a:lnSpc>
              <a:buClrTx/>
              <a:buNone/>
            </a:pPr>
            <a:r>
              <a:rPr lang="en-US" altLang="zh-CN" sz="2400" b="1" dirty="0"/>
              <a:t>  ADD AL,125H              ADD WORD PTR[BX],05</a:t>
            </a:r>
          </a:p>
          <a:p>
            <a:pPr marL="0" indent="0">
              <a:lnSpc>
                <a:spcPct val="90000"/>
              </a:lnSpc>
              <a:buClrTx/>
              <a:buNone/>
            </a:pPr>
            <a:r>
              <a:rPr lang="en-US" altLang="zh-CN" sz="2400" b="1" dirty="0"/>
              <a:t>  ADD AX,2500H            ADD AL,BL</a:t>
            </a:r>
          </a:p>
          <a:p>
            <a:pPr marL="0" indent="0">
              <a:lnSpc>
                <a:spcPct val="90000"/>
              </a:lnSpc>
              <a:buClrTx/>
              <a:buNone/>
            </a:pPr>
            <a:r>
              <a:rPr lang="en-US" altLang="zh-CN" sz="2400" b="1" dirty="0"/>
              <a:t>  ADD AX,05                  ADD [BX],05</a:t>
            </a:r>
          </a:p>
        </p:txBody>
      </p:sp>
      <p:sp>
        <p:nvSpPr>
          <p:cNvPr id="400390" name="矩形 400389"/>
          <p:cNvSpPr/>
          <p:nvPr/>
        </p:nvSpPr>
        <p:spPr>
          <a:xfrm>
            <a:off x="467544" y="4660517"/>
            <a:ext cx="7583760" cy="1656184"/>
          </a:xfrm>
          <a:prstGeom prst="rect">
            <a:avLst/>
          </a:prstGeom>
          <a:solidFill>
            <a:schemeClr val="bg2">
              <a:lumMod val="20000"/>
              <a:lumOff val="80000"/>
            </a:schemeClr>
          </a:solidFill>
          <a:ln w="28575">
            <a:noFill/>
          </a:ln>
        </p:spPr>
        <p:txBody>
          <a:bodyPr wrap="none" anchor="ctr" anchorCtr="0"/>
          <a:lstStyle/>
          <a:p>
            <a:pPr lvl="0">
              <a:lnSpc>
                <a:spcPct val="70000"/>
              </a:lnSpc>
              <a:spcBef>
                <a:spcPct val="50000"/>
              </a:spcBef>
              <a:buClrTx/>
              <a:buSzPct val="85000"/>
            </a:pPr>
            <a:r>
              <a:rPr lang="zh-CN" altLang="en-US" sz="2400" b="1" dirty="0">
                <a:solidFill>
                  <a:srgbClr val="002060"/>
                </a:solidFill>
                <a:latin typeface="宋体" panose="02010600030101010101" pitchFamily="2" charset="-122"/>
                <a:ea typeface="宋体" panose="02010600030101010101" pitchFamily="2" charset="-122"/>
              </a:rPr>
              <a:t>对于</a:t>
            </a:r>
            <a:r>
              <a:rPr lang="zh-CN" altLang="en-US" sz="2400" b="1" dirty="0">
                <a:solidFill>
                  <a:srgbClr val="0000FF"/>
                </a:solidFill>
                <a:latin typeface="宋体" panose="02010600030101010101" pitchFamily="2" charset="-122"/>
                <a:ea typeface="宋体" panose="02010600030101010101" pitchFamily="2" charset="-122"/>
              </a:rPr>
              <a:t>多字节</a:t>
            </a:r>
            <a:r>
              <a:rPr lang="zh-CN" altLang="en-US" sz="2400" b="1" dirty="0">
                <a:solidFill>
                  <a:srgbClr val="002060"/>
                </a:solidFill>
                <a:latin typeface="宋体" panose="02010600030101010101" pitchFamily="2" charset="-122"/>
                <a:ea typeface="宋体" panose="02010600030101010101" pitchFamily="2" charset="-122"/>
              </a:rPr>
              <a:t>加法，最低字节（字）可以用</a:t>
            </a:r>
            <a:r>
              <a:rPr lang="en-US" altLang="zh-CN" sz="2400" b="1" dirty="0">
                <a:solidFill>
                  <a:srgbClr val="002060"/>
                </a:solidFill>
                <a:latin typeface="宋体" panose="02010600030101010101" pitchFamily="2" charset="-122"/>
                <a:ea typeface="宋体" panose="02010600030101010101" pitchFamily="2" charset="-122"/>
              </a:rPr>
              <a:t>ADD</a:t>
            </a:r>
            <a:r>
              <a:rPr lang="zh-CN" altLang="en-US" sz="2400" b="1" dirty="0">
                <a:solidFill>
                  <a:srgbClr val="002060"/>
                </a:solidFill>
                <a:latin typeface="宋体" panose="02010600030101010101" pitchFamily="2" charset="-122"/>
                <a:ea typeface="宋体" panose="02010600030101010101" pitchFamily="2" charset="-122"/>
              </a:rPr>
              <a:t>，剩下的</a:t>
            </a:r>
          </a:p>
          <a:p>
            <a:pPr lvl="0">
              <a:lnSpc>
                <a:spcPct val="70000"/>
              </a:lnSpc>
              <a:spcBef>
                <a:spcPct val="50000"/>
              </a:spcBef>
              <a:buClrTx/>
              <a:buSzPct val="85000"/>
            </a:pPr>
            <a:r>
              <a:rPr lang="zh-CN" altLang="en-US" sz="2400" b="1" dirty="0">
                <a:solidFill>
                  <a:srgbClr val="002060"/>
                </a:solidFill>
                <a:latin typeface="宋体" panose="02010600030101010101" pitchFamily="2" charset="-122"/>
                <a:ea typeface="宋体" panose="02010600030101010101" pitchFamily="2" charset="-122"/>
              </a:rPr>
              <a:t>应使用</a:t>
            </a:r>
            <a:r>
              <a:rPr lang="en-US" altLang="zh-CN" sz="2400" b="1" dirty="0">
                <a:solidFill>
                  <a:srgbClr val="002060"/>
                </a:solidFill>
                <a:latin typeface="宋体" panose="02010600030101010101" pitchFamily="2" charset="-122"/>
                <a:ea typeface="宋体" panose="02010600030101010101" pitchFamily="2" charset="-122"/>
              </a:rPr>
              <a:t>ADC</a:t>
            </a:r>
            <a:r>
              <a:rPr lang="zh-CN" altLang="en-US" sz="2400" b="1" dirty="0">
                <a:solidFill>
                  <a:srgbClr val="002060"/>
                </a:solidFill>
                <a:latin typeface="宋体" panose="02010600030101010101" pitchFamily="2" charset="-122"/>
                <a:ea typeface="宋体" panose="02010600030101010101" pitchFamily="2" charset="-122"/>
              </a:rPr>
              <a:t>。如</a:t>
            </a:r>
            <a:r>
              <a:rPr lang="en-US" altLang="zh-CN" sz="2400" b="1" dirty="0">
                <a:solidFill>
                  <a:srgbClr val="002060"/>
                </a:solidFill>
                <a:latin typeface="宋体" panose="02010600030101010101" pitchFamily="2" charset="-122"/>
                <a:ea typeface="宋体" panose="02010600030101010101" pitchFamily="2" charset="-122"/>
              </a:rPr>
              <a:t>(DX AX)+(SI DI)</a:t>
            </a:r>
          </a:p>
          <a:p>
            <a:pPr lvl="0">
              <a:lnSpc>
                <a:spcPct val="40000"/>
              </a:lnSpc>
              <a:spcBef>
                <a:spcPct val="50000"/>
              </a:spcBef>
              <a:buClrTx/>
              <a:buSzPct val="85000"/>
            </a:pPr>
            <a:r>
              <a:rPr lang="en-US" altLang="zh-CN" sz="2400" b="1" dirty="0">
                <a:solidFill>
                  <a:srgbClr val="002060"/>
                </a:solidFill>
                <a:latin typeface="宋体" panose="02010600030101010101" pitchFamily="2" charset="-122"/>
                <a:ea typeface="宋体" panose="02010600030101010101" pitchFamily="2" charset="-122"/>
              </a:rPr>
              <a:t> ADD AX,DI   </a:t>
            </a:r>
            <a:r>
              <a:rPr lang="zh-CN" altLang="en-US" sz="2400" b="1" dirty="0">
                <a:solidFill>
                  <a:srgbClr val="002060"/>
                </a:solidFill>
                <a:latin typeface="宋体" panose="02010600030101010101" pitchFamily="2" charset="-122"/>
                <a:ea typeface="宋体" panose="02010600030101010101" pitchFamily="2" charset="-122"/>
              </a:rPr>
              <a:t>；低</a:t>
            </a:r>
            <a:r>
              <a:rPr lang="en-US" altLang="zh-CN" sz="2400" b="1" dirty="0">
                <a:solidFill>
                  <a:srgbClr val="002060"/>
                </a:solidFill>
                <a:latin typeface="宋体" panose="02010600030101010101" pitchFamily="2" charset="-122"/>
                <a:ea typeface="宋体" panose="02010600030101010101" pitchFamily="2" charset="-122"/>
              </a:rPr>
              <a:t>16</a:t>
            </a:r>
            <a:r>
              <a:rPr lang="zh-CN" altLang="en-US" sz="2400" b="1" dirty="0">
                <a:solidFill>
                  <a:srgbClr val="002060"/>
                </a:solidFill>
                <a:latin typeface="宋体" panose="02010600030101010101" pitchFamily="2" charset="-122"/>
                <a:ea typeface="宋体" panose="02010600030101010101" pitchFamily="2" charset="-122"/>
              </a:rPr>
              <a:t>位相加 </a:t>
            </a:r>
            <a:endParaRPr lang="en-US" altLang="zh-CN" sz="2400" b="1" dirty="0">
              <a:solidFill>
                <a:srgbClr val="002060"/>
              </a:solidFill>
              <a:latin typeface="宋体" panose="02010600030101010101" pitchFamily="2" charset="-122"/>
              <a:ea typeface="宋体" panose="02010600030101010101" pitchFamily="2" charset="-122"/>
            </a:endParaRPr>
          </a:p>
          <a:p>
            <a:pPr lvl="0">
              <a:lnSpc>
                <a:spcPct val="40000"/>
              </a:lnSpc>
              <a:spcBef>
                <a:spcPct val="50000"/>
              </a:spcBef>
              <a:buClrTx/>
              <a:buSzPct val="85000"/>
            </a:pPr>
            <a:r>
              <a:rPr lang="en-US" altLang="zh-CN" sz="2400" b="1" dirty="0">
                <a:solidFill>
                  <a:srgbClr val="002060"/>
                </a:solidFill>
                <a:latin typeface="宋体" panose="02010600030101010101" pitchFamily="2" charset="-122"/>
              </a:rPr>
              <a:t> </a:t>
            </a:r>
            <a:r>
              <a:rPr lang="en-US" altLang="zh-CN" sz="2400" b="1" dirty="0">
                <a:solidFill>
                  <a:srgbClr val="002060"/>
                </a:solidFill>
                <a:latin typeface="宋体" panose="02010600030101010101" pitchFamily="2" charset="-122"/>
                <a:ea typeface="宋体" panose="02010600030101010101" pitchFamily="2" charset="-122"/>
              </a:rPr>
              <a:t>ADC DX,SI   </a:t>
            </a:r>
            <a:r>
              <a:rPr lang="zh-CN" altLang="en-US" sz="2400" b="1" dirty="0">
                <a:solidFill>
                  <a:srgbClr val="002060"/>
                </a:solidFill>
                <a:latin typeface="宋体" panose="02010600030101010101" pitchFamily="2" charset="-122"/>
                <a:ea typeface="宋体" panose="02010600030101010101" pitchFamily="2" charset="-122"/>
              </a:rPr>
              <a:t>；高</a:t>
            </a:r>
            <a:r>
              <a:rPr lang="en-US" altLang="zh-CN" sz="2400" b="1" dirty="0">
                <a:solidFill>
                  <a:srgbClr val="002060"/>
                </a:solidFill>
                <a:latin typeface="宋体" panose="02010600030101010101" pitchFamily="2" charset="-122"/>
                <a:ea typeface="宋体" panose="02010600030101010101" pitchFamily="2" charset="-122"/>
              </a:rPr>
              <a:t>16</a:t>
            </a:r>
            <a:r>
              <a:rPr lang="zh-CN" altLang="en-US" sz="2400" b="1" dirty="0">
                <a:solidFill>
                  <a:srgbClr val="002060"/>
                </a:solidFill>
                <a:latin typeface="宋体" panose="02010600030101010101" pitchFamily="2" charset="-122"/>
                <a:ea typeface="宋体" panose="02010600030101010101" pitchFamily="2" charset="-122"/>
              </a:rPr>
              <a:t>位相加</a:t>
            </a:r>
            <a:r>
              <a:rPr lang="en-US" altLang="zh-CN" sz="2400" b="1" dirty="0">
                <a:solidFill>
                  <a:srgbClr val="002060"/>
                </a:solidFill>
                <a:latin typeface="宋体" panose="02010600030101010101" pitchFamily="2" charset="-122"/>
                <a:ea typeface="宋体" panose="02010600030101010101" pitchFamily="2" charset="-122"/>
              </a:rPr>
              <a:t>+CF</a:t>
            </a:r>
          </a:p>
        </p:txBody>
      </p:sp>
      <p:sp>
        <p:nvSpPr>
          <p:cNvPr id="400391" name="矩形 400390"/>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标题 406529"/>
          <p:cNvSpPr>
            <a:spLocks noGrp="1"/>
          </p:cNvSpPr>
          <p:nvPr>
            <p:ph type="title"/>
          </p:nvPr>
        </p:nvSpPr>
        <p:spPr>
          <a:xfrm>
            <a:off x="323850" y="836613"/>
            <a:ext cx="2160588" cy="431800"/>
          </a:xfrm>
          <a:ln/>
        </p:spPr>
        <p:txBody>
          <a:bodyPr lIns="0" tIns="0" rIns="0" bIns="0" anchor="ctr"/>
          <a:lstStyle/>
          <a:p>
            <a:pPr algn="l"/>
            <a:r>
              <a:rPr lang="en-US" altLang="zh-CN" sz="2400" b="1" dirty="0">
                <a:solidFill>
                  <a:schemeClr val="tx1"/>
                </a:solidFill>
              </a:rPr>
              <a:t>2</a:t>
            </a:r>
            <a:r>
              <a:rPr lang="zh-CN" altLang="en-US" sz="2400" b="1" dirty="0">
                <a:solidFill>
                  <a:schemeClr val="tx1"/>
                </a:solidFill>
              </a:rPr>
              <a:t>、减法指令</a:t>
            </a:r>
          </a:p>
        </p:txBody>
      </p:sp>
      <p:grpSp>
        <p:nvGrpSpPr>
          <p:cNvPr id="406531" name="组合 406530"/>
          <p:cNvGrpSpPr/>
          <p:nvPr/>
        </p:nvGrpSpPr>
        <p:grpSpPr>
          <a:xfrm>
            <a:off x="3276600" y="1484313"/>
            <a:ext cx="2590800" cy="3570287"/>
            <a:chOff x="2925" y="935"/>
            <a:chExt cx="1632" cy="2249"/>
          </a:xfrm>
        </p:grpSpPr>
        <p:grpSp>
          <p:nvGrpSpPr>
            <p:cNvPr id="406532" name="组合 406531"/>
            <p:cNvGrpSpPr/>
            <p:nvPr/>
          </p:nvGrpSpPr>
          <p:grpSpPr>
            <a:xfrm>
              <a:off x="2925" y="935"/>
              <a:ext cx="1632" cy="1392"/>
              <a:chOff x="2928" y="1968"/>
              <a:chExt cx="1632" cy="1392"/>
            </a:xfrm>
          </p:grpSpPr>
          <p:sp>
            <p:nvSpPr>
              <p:cNvPr id="406533" name="椭圆 406532" descr="DI-43"/>
              <p:cNvSpPr/>
              <p:nvPr/>
            </p:nvSpPr>
            <p:spPr>
              <a:xfrm>
                <a:off x="3456" y="1968"/>
                <a:ext cx="576" cy="576"/>
              </a:xfrm>
              <a:prstGeom prst="ellipse">
                <a:avLst/>
              </a:prstGeom>
              <a:blipFill rotWithShape="0">
                <a:blip r:embed="rId3"/>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SUB</a:t>
                </a:r>
              </a:p>
            </p:txBody>
          </p:sp>
          <p:sp>
            <p:nvSpPr>
              <p:cNvPr id="406534" name="椭圆 406533" descr="DI-43"/>
              <p:cNvSpPr/>
              <p:nvPr/>
            </p:nvSpPr>
            <p:spPr>
              <a:xfrm>
                <a:off x="2928" y="2784"/>
                <a:ext cx="576" cy="576"/>
              </a:xfrm>
              <a:prstGeom prst="ellipse">
                <a:avLst/>
              </a:prstGeom>
              <a:blipFill rotWithShape="0">
                <a:blip r:embed="rId3"/>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SBB</a:t>
                </a:r>
              </a:p>
            </p:txBody>
          </p:sp>
          <p:sp>
            <p:nvSpPr>
              <p:cNvPr id="406535" name="椭圆 406534" descr="DI-43"/>
              <p:cNvSpPr/>
              <p:nvPr/>
            </p:nvSpPr>
            <p:spPr>
              <a:xfrm>
                <a:off x="3984" y="2784"/>
                <a:ext cx="576" cy="576"/>
              </a:xfrm>
              <a:prstGeom prst="ellipse">
                <a:avLst/>
              </a:prstGeom>
              <a:blipFill rotWithShape="0">
                <a:blip r:embed="rId3"/>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DEC</a:t>
                </a:r>
              </a:p>
            </p:txBody>
          </p:sp>
        </p:grpSp>
        <p:sp>
          <p:nvSpPr>
            <p:cNvPr id="406536" name="椭圆 406535" descr="DI-43"/>
            <p:cNvSpPr/>
            <p:nvPr/>
          </p:nvSpPr>
          <p:spPr>
            <a:xfrm>
              <a:off x="2925" y="2608"/>
              <a:ext cx="576" cy="576"/>
            </a:xfrm>
            <a:prstGeom prst="ellipse">
              <a:avLst/>
            </a:prstGeom>
            <a:blipFill rotWithShape="0">
              <a:blip r:embed="rId3"/>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NEG</a:t>
              </a:r>
            </a:p>
          </p:txBody>
        </p:sp>
        <p:sp>
          <p:nvSpPr>
            <p:cNvPr id="406537" name="椭圆 406536" descr="DI-43"/>
            <p:cNvSpPr/>
            <p:nvPr/>
          </p:nvSpPr>
          <p:spPr>
            <a:xfrm>
              <a:off x="3981" y="2608"/>
              <a:ext cx="576" cy="576"/>
            </a:xfrm>
            <a:prstGeom prst="ellipse">
              <a:avLst/>
            </a:prstGeom>
            <a:blipFill rotWithShape="0">
              <a:blip r:embed="rId3"/>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CMP</a:t>
              </a:r>
            </a:p>
          </p:txBody>
        </p:sp>
      </p:grpSp>
      <p:sp>
        <p:nvSpPr>
          <p:cNvPr id="406538" name="矩形 40653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标题 408577"/>
          <p:cNvSpPr>
            <a:spLocks noGrp="1"/>
          </p:cNvSpPr>
          <p:nvPr>
            <p:ph type="title"/>
          </p:nvPr>
        </p:nvSpPr>
        <p:spPr>
          <a:xfrm>
            <a:off x="395288" y="908050"/>
            <a:ext cx="2736850" cy="501650"/>
          </a:xfrm>
          <a:ln/>
        </p:spPr>
        <p:txBody>
          <a:bodyPr anchor="ctr"/>
          <a:lstStyle/>
          <a:p>
            <a:pPr algn="l"/>
            <a:r>
              <a:rPr lang="en-US" altLang="zh-CN" sz="2400" b="1" dirty="0">
                <a:solidFill>
                  <a:schemeClr val="tx1"/>
                </a:solidFill>
              </a:rPr>
              <a:t>1</a:t>
            </a:r>
            <a:r>
              <a:rPr lang="zh-CN" altLang="en-US" sz="2400" b="1" dirty="0">
                <a:solidFill>
                  <a:schemeClr val="tx1"/>
                </a:solidFill>
              </a:rPr>
              <a:t>）减法指令</a:t>
            </a:r>
            <a:r>
              <a:rPr lang="en-US" altLang="zh-CN" sz="2400" b="1" dirty="0">
                <a:solidFill>
                  <a:schemeClr val="tx1"/>
                </a:solidFill>
              </a:rPr>
              <a:t>SUB</a:t>
            </a:r>
            <a:endParaRPr lang="zh-CN" altLang="en-US" sz="2400" b="1" dirty="0">
              <a:solidFill>
                <a:schemeClr val="tx1"/>
              </a:solidFill>
            </a:endParaRPr>
          </a:p>
        </p:txBody>
      </p:sp>
      <p:sp>
        <p:nvSpPr>
          <p:cNvPr id="408579" name="文本占位符 408578"/>
          <p:cNvSpPr>
            <a:spLocks noGrp="1"/>
          </p:cNvSpPr>
          <p:nvPr>
            <p:ph type="body" idx="1"/>
          </p:nvPr>
        </p:nvSpPr>
        <p:spPr>
          <a:xfrm>
            <a:off x="323850" y="4652963"/>
            <a:ext cx="8497888" cy="1368425"/>
          </a:xfrm>
          <a:ln/>
        </p:spPr>
        <p:txBody>
          <a:bodyPr/>
          <a:lstStyle/>
          <a:p>
            <a:pPr>
              <a:buClrTx/>
              <a:buNone/>
            </a:pPr>
            <a:r>
              <a:rPr lang="zh-CN" altLang="en-US" sz="2400" b="1" dirty="0"/>
              <a:t>功能：将目的操作数内容与源操作数内容相减之后的结果（差）存入目的操作数中，对操作数的使用及标志位的影响同</a:t>
            </a:r>
            <a:r>
              <a:rPr lang="en-US" altLang="zh-CN" sz="2400" b="1"/>
              <a:t>ADD</a:t>
            </a:r>
            <a:r>
              <a:rPr lang="zh-CN" altLang="en-US" sz="2400" b="1" dirty="0"/>
              <a:t>指令</a:t>
            </a:r>
            <a:r>
              <a:rPr lang="zh-CN" altLang="en-US" sz="2400" dirty="0"/>
              <a:t> </a:t>
            </a:r>
          </a:p>
        </p:txBody>
      </p:sp>
      <p:sp>
        <p:nvSpPr>
          <p:cNvPr id="408580" name="流程图: 可选过程 408579"/>
          <p:cNvSpPr/>
          <p:nvPr/>
        </p:nvSpPr>
        <p:spPr>
          <a:xfrm>
            <a:off x="971550" y="2276475"/>
            <a:ext cx="7162800" cy="2160588"/>
          </a:xfrm>
          <a:prstGeom prst="flowChartAlternateProcess">
            <a:avLst/>
          </a:prstGeom>
          <a:noFill/>
          <a:ln w="12700">
            <a:noFill/>
          </a:ln>
          <a:effectLst>
            <a:prstShdw prst="shdw13" dist="53882" dir="13499999">
              <a:srgbClr val="808080"/>
            </a:prstShdw>
          </a:effectLst>
        </p:spPr>
        <p:txBody>
          <a:bodyPr/>
          <a:lstStyle/>
          <a:p>
            <a:pPr lvl="0" defTabSz="0">
              <a:spcBef>
                <a:spcPct val="50000"/>
              </a:spcBef>
              <a:tabLst>
                <a:tab pos="2289175" algn="l"/>
              </a:tabLst>
            </a:pPr>
            <a:r>
              <a:rPr lang="en-US" altLang="zh-CN" sz="2800" b="1" dirty="0">
                <a:latin typeface="宋体" panose="02010600030101010101" pitchFamily="2" charset="-122"/>
                <a:ea typeface="宋体" panose="02010600030101010101" pitchFamily="2" charset="-122"/>
              </a:rPr>
              <a:t>SUB </a:t>
            </a:r>
            <a:r>
              <a:rPr lang="en-US" altLang="zh-CN" sz="2800" b="1" dirty="0" err="1">
                <a:latin typeface="宋体" panose="02010600030101010101" pitchFamily="2" charset="-122"/>
                <a:ea typeface="宋体" panose="02010600030101010101" pitchFamily="2" charset="-122"/>
              </a:rPr>
              <a:t>reg,imm</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reg</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mem</a:t>
            </a:r>
            <a:endParaRPr lang="en-US" altLang="zh-CN" sz="2800" b="1" dirty="0">
              <a:latin typeface="宋体" panose="02010600030101010101" pitchFamily="2" charset="-122"/>
              <a:ea typeface="宋体" panose="02010600030101010101" pitchFamily="2" charset="-122"/>
            </a:endParaRPr>
          </a:p>
          <a:p>
            <a:pPr lvl="0" algn="just" defTabSz="0">
              <a:lnSpc>
                <a:spcPct val="50000"/>
              </a:lnSpc>
              <a:spcBef>
                <a:spcPct val="50000"/>
              </a:spcBef>
              <a:tabLst>
                <a:tab pos="2289175" algn="l"/>
              </a:tabLst>
            </a:pPr>
            <a:r>
              <a:rPr lang="en-US" altLang="zh-CN" sz="2800" b="1" dirty="0">
                <a:solidFill>
                  <a:schemeClr val="accent2"/>
                </a:solidFill>
                <a:latin typeface="宋体" panose="02010600030101010101" pitchFamily="2" charset="-122"/>
                <a:ea typeface="宋体" panose="02010600030101010101" pitchFamily="2" charset="-122"/>
              </a:rPr>
              <a:t>	</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reg←reg</a:t>
            </a:r>
            <a:r>
              <a:rPr lang="en-US" altLang="zh-CN" sz="2800" b="1" dirty="0">
                <a:solidFill>
                  <a:schemeClr val="accent2"/>
                </a:solidFill>
                <a:latin typeface="宋体" panose="02010600030101010101" pitchFamily="2" charset="-122"/>
                <a:ea typeface="宋体" panose="02010600030101010101" pitchFamily="2" charset="-122"/>
              </a:rPr>
              <a:t> -</a:t>
            </a:r>
            <a:r>
              <a:rPr lang="en-US" altLang="zh-CN" sz="2800" b="1" dirty="0" err="1">
                <a:solidFill>
                  <a:schemeClr val="accent2"/>
                </a:solidFill>
                <a:latin typeface="宋体" panose="02010600030101010101" pitchFamily="2" charset="-122"/>
                <a:ea typeface="宋体" panose="02010600030101010101" pitchFamily="2" charset="-122"/>
              </a:rPr>
              <a:t>imm</a:t>
            </a:r>
            <a:r>
              <a:rPr lang="en-US" altLang="zh-CN"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reg</a:t>
            </a:r>
            <a:r>
              <a:rPr lang="en-US" altLang="zh-CN"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mem</a:t>
            </a:r>
            <a:endParaRPr lang="en-US" altLang="zh-CN" sz="2800" b="1" dirty="0">
              <a:solidFill>
                <a:schemeClr val="accent2"/>
              </a:solidFill>
              <a:latin typeface="宋体" panose="02010600030101010101" pitchFamily="2" charset="-122"/>
              <a:ea typeface="宋体" panose="02010600030101010101" pitchFamily="2" charset="-122"/>
            </a:endParaRPr>
          </a:p>
          <a:p>
            <a:pPr lvl="0" defTabSz="0">
              <a:spcBef>
                <a:spcPct val="50000"/>
              </a:spcBef>
              <a:tabLst>
                <a:tab pos="2289175" algn="l"/>
              </a:tabLst>
            </a:pPr>
            <a:r>
              <a:rPr lang="en-US" altLang="zh-CN" sz="2800" b="1" dirty="0">
                <a:latin typeface="宋体" panose="02010600030101010101" pitchFamily="2" charset="-122"/>
                <a:ea typeface="宋体" panose="02010600030101010101" pitchFamily="2" charset="-122"/>
              </a:rPr>
              <a:t>SUB </a:t>
            </a:r>
            <a:r>
              <a:rPr lang="en-US" altLang="zh-CN" sz="2800" b="1" dirty="0" err="1">
                <a:latin typeface="宋体" panose="02010600030101010101" pitchFamily="2" charset="-122"/>
                <a:ea typeface="宋体" panose="02010600030101010101" pitchFamily="2" charset="-122"/>
              </a:rPr>
              <a:t>mem,imm</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reg</a:t>
            </a:r>
            <a:endParaRPr lang="en-US" altLang="zh-CN" sz="2800" b="1" dirty="0">
              <a:latin typeface="宋体" panose="02010600030101010101" pitchFamily="2" charset="-122"/>
              <a:ea typeface="宋体" panose="02010600030101010101" pitchFamily="2" charset="-122"/>
            </a:endParaRPr>
          </a:p>
          <a:p>
            <a:pPr lvl="0" algn="just" defTabSz="0">
              <a:lnSpc>
                <a:spcPct val="50000"/>
              </a:lnSpc>
              <a:spcBef>
                <a:spcPct val="50000"/>
              </a:spcBef>
              <a:tabLst>
                <a:tab pos="2289175" algn="l"/>
              </a:tabLst>
            </a:pPr>
            <a:r>
              <a:rPr lang="en-US" altLang="zh-CN" sz="2800" b="1" dirty="0">
                <a:solidFill>
                  <a:schemeClr val="accent2"/>
                </a:solidFill>
                <a:latin typeface="宋体" panose="02010600030101010101" pitchFamily="2" charset="-122"/>
                <a:ea typeface="宋体" panose="02010600030101010101" pitchFamily="2" charset="-122"/>
              </a:rPr>
              <a:t>	</a:t>
            </a: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mem←mem</a:t>
            </a:r>
            <a:r>
              <a:rPr lang="en-US" altLang="zh-CN" sz="2800" b="1" dirty="0">
                <a:solidFill>
                  <a:schemeClr val="accent2"/>
                </a:solidFill>
                <a:latin typeface="宋体" panose="02010600030101010101" pitchFamily="2" charset="-122"/>
                <a:ea typeface="宋体" panose="02010600030101010101" pitchFamily="2" charset="-122"/>
              </a:rPr>
              <a:t> -</a:t>
            </a:r>
            <a:r>
              <a:rPr lang="en-US" altLang="zh-CN" sz="2800" b="1" dirty="0" err="1">
                <a:solidFill>
                  <a:schemeClr val="accent2"/>
                </a:solidFill>
                <a:latin typeface="宋体" panose="02010600030101010101" pitchFamily="2" charset="-122"/>
                <a:ea typeface="宋体" panose="02010600030101010101" pitchFamily="2" charset="-122"/>
              </a:rPr>
              <a:t>imm</a:t>
            </a:r>
            <a:r>
              <a:rPr lang="en-US" altLang="zh-CN"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reg</a:t>
            </a:r>
            <a:endParaRPr lang="en-US" altLang="zh-CN" sz="2800" b="1" dirty="0">
              <a:solidFill>
                <a:schemeClr val="accent2"/>
              </a:solidFill>
              <a:latin typeface="宋体" panose="02010600030101010101" pitchFamily="2" charset="-122"/>
              <a:ea typeface="宋体" panose="02010600030101010101" pitchFamily="2" charset="-122"/>
            </a:endParaRPr>
          </a:p>
        </p:txBody>
      </p:sp>
      <p:sp>
        <p:nvSpPr>
          <p:cNvPr id="408582" name="文本框 408581"/>
          <p:cNvSpPr txBox="1"/>
          <p:nvPr/>
        </p:nvSpPr>
        <p:spPr>
          <a:xfrm>
            <a:off x="468313" y="1557338"/>
            <a:ext cx="1152525" cy="466725"/>
          </a:xfrm>
          <a:prstGeom prst="rect">
            <a:avLst/>
          </a:prstGeom>
          <a:noFill/>
          <a:ln w="9525" cap="flat" cmpd="sng">
            <a:solidFill>
              <a:srgbClr val="000000"/>
            </a:solidFill>
            <a:prstDash val="solid"/>
            <a:miter/>
            <a:headEnd type="none" w="med" len="med"/>
            <a:tailEnd type="none" w="med" len="med"/>
          </a:ln>
          <a:effectLst>
            <a:outerShdw dist="35921" dir="2699999" algn="ctr" rotWithShape="0">
              <a:srgbClr val="808080"/>
            </a:outerShdw>
          </a:effectLst>
        </p:spPr>
        <p:txBody>
          <a:bodyPr>
            <a:spAutoFit/>
          </a:bodyPr>
          <a:lstStyle/>
          <a:p>
            <a:pPr lvl="0"/>
            <a:r>
              <a:rPr lang="zh-CN" altLang="en-US" sz="2400" b="1" dirty="0">
                <a:solidFill>
                  <a:srgbClr val="FF00FF"/>
                </a:solidFill>
                <a:latin typeface="Arial" panose="020B0604020202020204" pitchFamily="34" charset="0"/>
                <a:ea typeface="宋体" panose="02010600030101010101" pitchFamily="2" charset="-122"/>
              </a:rPr>
              <a:t>格式</a:t>
            </a:r>
            <a:r>
              <a:rPr lang="en-US" altLang="zh-CN" sz="2400" b="1">
                <a:solidFill>
                  <a:srgbClr val="FF00FF"/>
                </a:solidFill>
                <a:latin typeface="Arial" panose="020B0604020202020204" pitchFamily="34" charset="0"/>
                <a:ea typeface="宋体" panose="02010600030101010101" pitchFamily="2" charset="-122"/>
              </a:rPr>
              <a:t>:</a:t>
            </a:r>
          </a:p>
        </p:txBody>
      </p:sp>
      <p:sp>
        <p:nvSpPr>
          <p:cNvPr id="408583" name="矩形 408582"/>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0626" name="标题 410625"/>
          <p:cNvSpPr>
            <a:spLocks noGrp="1"/>
          </p:cNvSpPr>
          <p:nvPr>
            <p:ph type="title"/>
          </p:nvPr>
        </p:nvSpPr>
        <p:spPr>
          <a:xfrm>
            <a:off x="323850" y="811213"/>
            <a:ext cx="3097213" cy="601662"/>
          </a:xfrm>
          <a:prstGeom prst="flowChartAlternateProcess">
            <a:avLst/>
          </a:prstGeom>
          <a:ln w="28575">
            <a:solidFill>
              <a:schemeClr val="accent1"/>
            </a:solidFill>
            <a:miter/>
          </a:ln>
        </p:spPr>
        <p:txBody>
          <a:bodyPr lIns="0" tIns="0" rIns="0" bIns="0" anchor="ctr"/>
          <a:lstStyle/>
          <a:p>
            <a:pPr>
              <a:lnSpc>
                <a:spcPct val="90000"/>
              </a:lnSpc>
            </a:pPr>
            <a:r>
              <a:rPr lang="zh-CN" altLang="en-US" sz="2800" b="1">
                <a:solidFill>
                  <a:schemeClr val="tx1"/>
                </a:solidFill>
              </a:rPr>
              <a:t>例</a:t>
            </a:r>
            <a:r>
              <a:rPr lang="en-US" altLang="zh-CN" sz="2800" b="1">
                <a:solidFill>
                  <a:schemeClr val="tx1"/>
                </a:solidFill>
              </a:rPr>
              <a:t>3</a:t>
            </a:r>
            <a:r>
              <a:rPr lang="zh-CN" altLang="en-US" sz="2800" b="1" dirty="0">
                <a:solidFill>
                  <a:schemeClr val="tx1"/>
                </a:solidFill>
              </a:rPr>
              <a:t>：减法运算</a:t>
            </a:r>
          </a:p>
        </p:txBody>
      </p:sp>
      <p:sp>
        <p:nvSpPr>
          <p:cNvPr id="410627" name="文本占位符 410626"/>
          <p:cNvSpPr>
            <a:spLocks noGrp="1"/>
          </p:cNvSpPr>
          <p:nvPr>
            <p:ph type="body" idx="1"/>
          </p:nvPr>
        </p:nvSpPr>
        <p:spPr>
          <a:xfrm>
            <a:off x="250825" y="2276475"/>
            <a:ext cx="8713788" cy="1728788"/>
          </a:xfrm>
          <a:solidFill>
            <a:schemeClr val="bg1"/>
          </a:solidFill>
          <a:ln/>
        </p:spPr>
        <p:txBody>
          <a:bodyPr/>
          <a:lstStyle/>
          <a:p>
            <a:pPr marL="0" indent="0" defTabSz="0">
              <a:lnSpc>
                <a:spcPct val="90000"/>
              </a:lnSpc>
              <a:buClrTx/>
              <a:buNone/>
              <a:tabLst>
                <a:tab pos="3342005" algn="l"/>
              </a:tabLst>
            </a:pPr>
            <a:r>
              <a:rPr lang="en-US" altLang="zh-CN" sz="2400" b="1" dirty="0"/>
              <a:t>MOV AL,0FBH                             ;AL=0FBH</a:t>
            </a:r>
          </a:p>
          <a:p>
            <a:pPr marL="0" indent="0" defTabSz="0">
              <a:lnSpc>
                <a:spcPct val="90000"/>
              </a:lnSpc>
              <a:buClrTx/>
              <a:buNone/>
              <a:tabLst>
                <a:tab pos="3342005" algn="l"/>
              </a:tabLst>
            </a:pPr>
            <a:r>
              <a:rPr lang="en-US" altLang="zh-CN" sz="2400" b="1" dirty="0"/>
              <a:t>SUB AL,07H                                 ;AL=0F4H</a:t>
            </a:r>
            <a:r>
              <a:rPr lang="zh-CN" altLang="en-US" sz="2400" b="1" dirty="0"/>
              <a:t>，</a:t>
            </a:r>
            <a:r>
              <a:rPr lang="en-US" altLang="zh-CN" sz="2400" b="1" dirty="0"/>
              <a:t>CF</a:t>
            </a:r>
            <a:r>
              <a:rPr lang="zh-CN" altLang="en-US" sz="2400" b="1" dirty="0"/>
              <a:t>＝</a:t>
            </a:r>
            <a:r>
              <a:rPr lang="en-US" altLang="zh-CN" sz="2400" b="1" dirty="0"/>
              <a:t>0</a:t>
            </a:r>
          </a:p>
          <a:p>
            <a:pPr marL="0" indent="0" defTabSz="0">
              <a:lnSpc>
                <a:spcPct val="90000"/>
              </a:lnSpc>
              <a:buClrTx/>
              <a:buNone/>
              <a:tabLst>
                <a:tab pos="3342005" algn="l"/>
              </a:tabLst>
            </a:pPr>
            <a:r>
              <a:rPr lang="en-US" altLang="zh-CN" sz="2400" b="1" dirty="0"/>
              <a:t>MOV BX,1FEH                             ;BX=1FEH</a:t>
            </a:r>
          </a:p>
          <a:p>
            <a:pPr marL="0" indent="0" defTabSz="0">
              <a:lnSpc>
                <a:spcPct val="90000"/>
              </a:lnSpc>
              <a:buClrTx/>
              <a:buNone/>
              <a:tabLst>
                <a:tab pos="3342005" algn="l"/>
              </a:tabLst>
            </a:pPr>
            <a:r>
              <a:rPr lang="en-US" altLang="zh-CN" sz="2400" b="1" dirty="0"/>
              <a:t>SUB AL,BL                                   ;AL=0F6H</a:t>
            </a:r>
            <a:r>
              <a:rPr lang="zh-CN" altLang="en-US" sz="2400" b="1" dirty="0"/>
              <a:t>，</a:t>
            </a:r>
            <a:r>
              <a:rPr lang="en-US" altLang="zh-CN" sz="2400" b="1" dirty="0"/>
              <a:t>CF</a:t>
            </a:r>
            <a:r>
              <a:rPr lang="zh-CN" altLang="en-US" sz="2400" b="1" dirty="0"/>
              <a:t>＝</a:t>
            </a:r>
            <a:r>
              <a:rPr lang="en-US" altLang="zh-CN" sz="2400" b="1" dirty="0"/>
              <a:t>1</a:t>
            </a:r>
          </a:p>
        </p:txBody>
      </p:sp>
      <p:sp>
        <p:nvSpPr>
          <p:cNvPr id="410628" name="矩形 41062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标题 412673"/>
          <p:cNvSpPr>
            <a:spLocks noGrp="1"/>
          </p:cNvSpPr>
          <p:nvPr>
            <p:ph type="title"/>
          </p:nvPr>
        </p:nvSpPr>
        <p:spPr>
          <a:xfrm>
            <a:off x="323850" y="836613"/>
            <a:ext cx="3527425" cy="576262"/>
          </a:xfrm>
          <a:ln/>
        </p:spPr>
        <p:txBody>
          <a:bodyPr anchor="ctr"/>
          <a:lstStyle/>
          <a:p>
            <a:pPr algn="l"/>
            <a:r>
              <a:rPr lang="en-US" altLang="zh-CN" sz="2400" b="1" dirty="0">
                <a:solidFill>
                  <a:schemeClr val="tx1"/>
                </a:solidFill>
              </a:rPr>
              <a:t>2</a:t>
            </a:r>
            <a:r>
              <a:rPr lang="zh-CN" altLang="en-US" sz="2400" b="1" dirty="0">
                <a:solidFill>
                  <a:schemeClr val="tx1"/>
                </a:solidFill>
              </a:rPr>
              <a:t>）带借位减法指令</a:t>
            </a:r>
            <a:r>
              <a:rPr lang="en-US" altLang="zh-CN" sz="2400" b="1" dirty="0">
                <a:solidFill>
                  <a:schemeClr val="tx1"/>
                </a:solidFill>
              </a:rPr>
              <a:t>SBB</a:t>
            </a:r>
          </a:p>
        </p:txBody>
      </p:sp>
      <p:sp>
        <p:nvSpPr>
          <p:cNvPr id="412675" name="文本占位符 412674"/>
          <p:cNvSpPr>
            <a:spLocks noGrp="1"/>
          </p:cNvSpPr>
          <p:nvPr>
            <p:ph type="body" idx="1"/>
          </p:nvPr>
        </p:nvSpPr>
        <p:spPr>
          <a:xfrm>
            <a:off x="250825" y="4508500"/>
            <a:ext cx="8713788" cy="1944688"/>
          </a:xfrm>
          <a:ln/>
        </p:spPr>
        <p:txBody>
          <a:bodyPr/>
          <a:lstStyle/>
          <a:p>
            <a:pPr>
              <a:lnSpc>
                <a:spcPct val="90000"/>
              </a:lnSpc>
              <a:buClrTx/>
              <a:buNone/>
            </a:pPr>
            <a:r>
              <a:rPr lang="zh-CN" altLang="en-US" sz="2400" b="1" dirty="0"/>
              <a:t>功能：用目的操作数内容减去源操作数内容，还要减去标志位</a:t>
            </a:r>
            <a:r>
              <a:rPr lang="en-US" altLang="zh-CN" sz="2400" b="1" dirty="0">
                <a:solidFill>
                  <a:srgbClr val="0000FF"/>
                </a:solidFill>
              </a:rPr>
              <a:t>CF</a:t>
            </a:r>
            <a:r>
              <a:rPr lang="zh-CN" altLang="en-US" sz="2400" b="1" dirty="0"/>
              <a:t>的值，并将相减的结果回送给目的操作数。与</a:t>
            </a:r>
            <a:r>
              <a:rPr lang="en-US" altLang="zh-CN" sz="2400" b="1" dirty="0"/>
              <a:t>ADC</a:t>
            </a:r>
            <a:r>
              <a:rPr lang="zh-CN" altLang="en-US" sz="2400" b="1" dirty="0"/>
              <a:t>指令类似，在实际编程中，</a:t>
            </a:r>
            <a:r>
              <a:rPr lang="en-US" altLang="zh-CN" sz="2400" b="1" dirty="0">
                <a:solidFill>
                  <a:srgbClr val="0000FF"/>
                </a:solidFill>
              </a:rPr>
              <a:t>SBB</a:t>
            </a:r>
            <a:r>
              <a:rPr lang="zh-CN" altLang="en-US" sz="2400" b="1" dirty="0"/>
              <a:t>指令主要用于两个</a:t>
            </a:r>
            <a:r>
              <a:rPr lang="zh-CN" altLang="en-US" sz="2400" b="1" dirty="0">
                <a:solidFill>
                  <a:srgbClr val="0000FF"/>
                </a:solidFill>
              </a:rPr>
              <a:t>多字节</a:t>
            </a:r>
            <a:r>
              <a:rPr lang="en-US" altLang="zh-CN" sz="2400" b="1" dirty="0">
                <a:solidFill>
                  <a:srgbClr val="0000FF"/>
                </a:solidFill>
              </a:rPr>
              <a:t>/</a:t>
            </a:r>
            <a:r>
              <a:rPr lang="zh-CN" altLang="en-US" sz="2400" b="1" dirty="0">
                <a:solidFill>
                  <a:srgbClr val="0000FF"/>
                </a:solidFill>
              </a:rPr>
              <a:t>字</a:t>
            </a:r>
            <a:r>
              <a:rPr lang="zh-CN" altLang="en-US" sz="2400" b="1" dirty="0"/>
              <a:t>二进制数的相减运算。</a:t>
            </a:r>
            <a:r>
              <a:rPr lang="zh-CN" altLang="en-US" sz="2400" dirty="0"/>
              <a:t> </a:t>
            </a:r>
            <a:endParaRPr lang="zh-CN" altLang="en-US" sz="2400" b="1" dirty="0"/>
          </a:p>
          <a:p>
            <a:pPr>
              <a:lnSpc>
                <a:spcPct val="90000"/>
              </a:lnSpc>
              <a:buClrTx/>
              <a:buNone/>
            </a:pPr>
            <a:r>
              <a:rPr lang="zh-CN" altLang="en-US" sz="2400" b="1" dirty="0"/>
              <a:t>用法：</a:t>
            </a:r>
            <a:r>
              <a:rPr lang="en-US" altLang="zh-CN" sz="2400" b="1" dirty="0">
                <a:solidFill>
                  <a:srgbClr val="0000FF"/>
                </a:solidFill>
              </a:rPr>
              <a:t>SBB</a:t>
            </a:r>
            <a:r>
              <a:rPr lang="zh-CN" altLang="en-US" sz="2400" b="1" dirty="0"/>
              <a:t>指令主要与</a:t>
            </a:r>
            <a:r>
              <a:rPr lang="en-US" altLang="zh-CN" sz="2400" b="1" dirty="0">
                <a:solidFill>
                  <a:srgbClr val="0000FF"/>
                </a:solidFill>
              </a:rPr>
              <a:t>SUB</a:t>
            </a:r>
            <a:r>
              <a:rPr lang="zh-CN" altLang="en-US" sz="2400" b="1" dirty="0"/>
              <a:t>配合，实现</a:t>
            </a:r>
            <a:r>
              <a:rPr lang="zh-CN" altLang="en-US" sz="2400" b="1" dirty="0">
                <a:solidFill>
                  <a:srgbClr val="0000FF"/>
                </a:solidFill>
              </a:rPr>
              <a:t>多精度减法</a:t>
            </a:r>
            <a:r>
              <a:rPr lang="zh-CN" altLang="en-US" sz="2400" b="1" dirty="0"/>
              <a:t>运算</a:t>
            </a:r>
          </a:p>
        </p:txBody>
      </p:sp>
      <p:sp>
        <p:nvSpPr>
          <p:cNvPr id="412676" name="流程图: 可选过程 412675"/>
          <p:cNvSpPr/>
          <p:nvPr/>
        </p:nvSpPr>
        <p:spPr>
          <a:xfrm>
            <a:off x="1042988" y="2205038"/>
            <a:ext cx="7162800" cy="2087562"/>
          </a:xfrm>
          <a:prstGeom prst="flowChartAlternateProcess">
            <a:avLst/>
          </a:prstGeom>
          <a:solidFill>
            <a:srgbClr val="FFFFFF"/>
          </a:solidFill>
          <a:ln w="12700">
            <a:noFill/>
          </a:ln>
          <a:effectLst>
            <a:prstShdw prst="shdw13" dist="53882" dir="13499999">
              <a:srgbClr val="808080"/>
            </a:prstShdw>
          </a:effectLst>
        </p:spPr>
        <p:txBody>
          <a:bodyPr/>
          <a:lstStyle/>
          <a:p>
            <a:pPr lvl="0" defTabSz="0">
              <a:spcBef>
                <a:spcPct val="50000"/>
              </a:spcBef>
              <a:tabLst>
                <a:tab pos="1520825" algn="l"/>
              </a:tabLst>
            </a:pPr>
            <a:r>
              <a:rPr lang="en-US" altLang="zh-CN" sz="2800" b="1">
                <a:latin typeface="宋体" panose="02010600030101010101" pitchFamily="2" charset="-122"/>
                <a:ea typeface="宋体" panose="02010600030101010101" pitchFamily="2" charset="-122"/>
              </a:rPr>
              <a:t>SBB </a:t>
            </a:r>
            <a:r>
              <a:rPr lang="en-US" altLang="zh-CN" sz="2800" b="1" err="1">
                <a:latin typeface="宋体" panose="02010600030101010101" pitchFamily="2" charset="-122"/>
                <a:ea typeface="宋体" panose="02010600030101010101" pitchFamily="2" charset="-122"/>
              </a:rPr>
              <a:t>reg,imm/reg/mem</a:t>
            </a:r>
            <a:endParaRPr lang="en-US" altLang="zh-CN" sz="2800" b="1">
              <a:latin typeface="宋体" panose="02010600030101010101" pitchFamily="2" charset="-122"/>
              <a:ea typeface="宋体" panose="02010600030101010101" pitchFamily="2" charset="-122"/>
            </a:endParaRPr>
          </a:p>
          <a:p>
            <a:pPr lvl="0" algn="just" defTabSz="0">
              <a:lnSpc>
                <a:spcPct val="50000"/>
              </a:lnSpc>
              <a:spcBef>
                <a:spcPct val="50000"/>
              </a:spcBef>
              <a:tabLst>
                <a:tab pos="1520825" algn="l"/>
              </a:tabLst>
            </a:pPr>
            <a:r>
              <a:rPr lang="en-US" altLang="zh-CN" sz="2800" b="1">
                <a:solidFill>
                  <a:schemeClr val="accent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reg←reg</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imm/reg/mem</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a:solidFill>
                  <a:srgbClr val="FF00FF"/>
                </a:solidFill>
                <a:latin typeface="宋体" panose="02010600030101010101" pitchFamily="2" charset="-122"/>
                <a:ea typeface="宋体" panose="02010600030101010101" pitchFamily="2" charset="-122"/>
              </a:rPr>
              <a:t>CF</a:t>
            </a:r>
          </a:p>
          <a:p>
            <a:pPr lvl="0" defTabSz="0">
              <a:spcBef>
                <a:spcPct val="50000"/>
              </a:spcBef>
              <a:tabLst>
                <a:tab pos="1520825" algn="l"/>
              </a:tabLst>
            </a:pPr>
            <a:r>
              <a:rPr lang="en-US" altLang="zh-CN" sz="2800" b="1">
                <a:latin typeface="宋体" panose="02010600030101010101" pitchFamily="2" charset="-122"/>
                <a:ea typeface="宋体" panose="02010600030101010101" pitchFamily="2" charset="-122"/>
              </a:rPr>
              <a:t>SBB </a:t>
            </a:r>
            <a:r>
              <a:rPr lang="en-US" altLang="zh-CN" sz="2800" b="1" err="1">
                <a:latin typeface="宋体" panose="02010600030101010101" pitchFamily="2" charset="-122"/>
                <a:ea typeface="宋体" panose="02010600030101010101" pitchFamily="2" charset="-122"/>
              </a:rPr>
              <a:t>mem,imm/reg</a:t>
            </a:r>
            <a:endParaRPr lang="en-US" altLang="zh-CN" sz="2800" b="1">
              <a:latin typeface="宋体" panose="02010600030101010101" pitchFamily="2" charset="-122"/>
              <a:ea typeface="宋体" panose="02010600030101010101" pitchFamily="2" charset="-122"/>
            </a:endParaRPr>
          </a:p>
          <a:p>
            <a:pPr lvl="0" algn="just" defTabSz="0">
              <a:lnSpc>
                <a:spcPct val="50000"/>
              </a:lnSpc>
              <a:spcBef>
                <a:spcPct val="50000"/>
              </a:spcBef>
              <a:tabLst>
                <a:tab pos="1520825" algn="l"/>
              </a:tabLst>
            </a:pPr>
            <a:r>
              <a:rPr lang="en-US" altLang="zh-CN" sz="2800" b="1">
                <a:solidFill>
                  <a:schemeClr val="accent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mem←mem</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imm/reg</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a:solidFill>
                  <a:srgbClr val="FF00FF"/>
                </a:solidFill>
                <a:latin typeface="宋体" panose="02010600030101010101" pitchFamily="2" charset="-122"/>
                <a:ea typeface="宋体" panose="02010600030101010101" pitchFamily="2" charset="-122"/>
              </a:rPr>
              <a:t>CF</a:t>
            </a:r>
          </a:p>
        </p:txBody>
      </p:sp>
      <p:sp>
        <p:nvSpPr>
          <p:cNvPr id="412678" name="文本框 412677"/>
          <p:cNvSpPr txBox="1"/>
          <p:nvPr/>
        </p:nvSpPr>
        <p:spPr>
          <a:xfrm>
            <a:off x="971550" y="1484313"/>
            <a:ext cx="1152525" cy="466725"/>
          </a:xfrm>
          <a:prstGeom prst="rect">
            <a:avLst/>
          </a:prstGeom>
          <a:noFill/>
          <a:ln w="9525" cap="flat" cmpd="sng">
            <a:solidFill>
              <a:srgbClr val="000000"/>
            </a:solidFill>
            <a:prstDash val="solid"/>
            <a:miter/>
            <a:headEnd type="none" w="med" len="med"/>
            <a:tailEnd type="none" w="med" len="med"/>
          </a:ln>
          <a:effectLst>
            <a:outerShdw dist="35921" dir="2699999" algn="ctr" rotWithShape="0">
              <a:srgbClr val="808080"/>
            </a:outerShdw>
          </a:effectLst>
        </p:spPr>
        <p:txBody>
          <a:bodyPr>
            <a:spAutoFit/>
          </a:bodyPr>
          <a:lstStyle/>
          <a:p>
            <a:pPr lvl="0"/>
            <a:r>
              <a:rPr lang="zh-CN" altLang="en-US" sz="2400" dirty="0">
                <a:solidFill>
                  <a:srgbClr val="FF00FF"/>
                </a:solidFill>
                <a:latin typeface="Arial" panose="020B0604020202020204" pitchFamily="34" charset="0"/>
                <a:ea typeface="宋体" panose="02010600030101010101" pitchFamily="2" charset="-122"/>
              </a:rPr>
              <a:t>格式</a:t>
            </a:r>
            <a:r>
              <a:rPr lang="en-US" altLang="zh-CN" sz="2400" dirty="0">
                <a:solidFill>
                  <a:srgbClr val="FF00FF"/>
                </a:solidFill>
                <a:latin typeface="Arial" panose="020B0604020202020204" pitchFamily="34" charset="0"/>
                <a:ea typeface="宋体" panose="02010600030101010101" pitchFamily="2" charset="-122"/>
              </a:rPr>
              <a:t>:</a:t>
            </a:r>
          </a:p>
        </p:txBody>
      </p:sp>
      <p:sp>
        <p:nvSpPr>
          <p:cNvPr id="412679" name="矩形 41267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4722" name="标题 414721"/>
          <p:cNvSpPr>
            <a:spLocks noGrp="1"/>
          </p:cNvSpPr>
          <p:nvPr>
            <p:ph type="title"/>
          </p:nvPr>
        </p:nvSpPr>
        <p:spPr>
          <a:xfrm>
            <a:off x="467544" y="1052736"/>
            <a:ext cx="2449513" cy="431800"/>
          </a:xfrm>
          <a:prstGeom prst="flowChartAlternateProcess">
            <a:avLst/>
          </a:prstGeom>
          <a:ln w="28575">
            <a:solidFill>
              <a:schemeClr val="accent1"/>
            </a:solidFill>
            <a:miter/>
          </a:ln>
        </p:spPr>
        <p:txBody>
          <a:bodyPr lIns="0" tIns="0" rIns="0" bIns="0" anchor="ctr"/>
          <a:lstStyle/>
          <a:p>
            <a:pPr algn="l">
              <a:lnSpc>
                <a:spcPct val="90000"/>
              </a:lnSpc>
            </a:pPr>
            <a:r>
              <a:rPr lang="zh-CN" altLang="en-US" sz="2400" b="1" dirty="0">
                <a:solidFill>
                  <a:schemeClr val="tx1"/>
                </a:solidFill>
              </a:rPr>
              <a:t>例</a:t>
            </a:r>
            <a:r>
              <a:rPr lang="en-US" altLang="zh-CN" sz="2400" b="1" dirty="0">
                <a:solidFill>
                  <a:schemeClr val="tx1"/>
                </a:solidFill>
              </a:rPr>
              <a:t>4</a:t>
            </a:r>
            <a:r>
              <a:rPr lang="zh-CN" altLang="en-US" sz="2400" b="1" dirty="0">
                <a:solidFill>
                  <a:schemeClr val="tx1"/>
                </a:solidFill>
              </a:rPr>
              <a:t>：双字减法</a:t>
            </a:r>
          </a:p>
        </p:txBody>
      </p:sp>
      <p:sp>
        <p:nvSpPr>
          <p:cNvPr id="414723" name="文本占位符 414722"/>
          <p:cNvSpPr>
            <a:spLocks noGrp="1"/>
          </p:cNvSpPr>
          <p:nvPr>
            <p:ph type="body" idx="1"/>
          </p:nvPr>
        </p:nvSpPr>
        <p:spPr>
          <a:xfrm>
            <a:off x="827584" y="2132856"/>
            <a:ext cx="7696200" cy="3205162"/>
          </a:xfrm>
          <a:solidFill>
            <a:schemeClr val="bg1"/>
          </a:solidFill>
          <a:ln/>
        </p:spPr>
        <p:txBody>
          <a:bodyPr/>
          <a:lstStyle/>
          <a:p>
            <a:pPr marL="0" indent="0" defTabSz="0">
              <a:buClrTx/>
              <a:buNone/>
              <a:tabLst>
                <a:tab pos="2005330" algn="l"/>
                <a:tab pos="3710305" algn="l"/>
              </a:tabLst>
            </a:pPr>
            <a:r>
              <a:rPr lang="en-US" altLang="zh-CN" sz="2400" b="1" dirty="0"/>
              <a:t>MOV AX,4652H	;AX=4652H</a:t>
            </a:r>
          </a:p>
          <a:p>
            <a:pPr marL="0" indent="0" defTabSz="0">
              <a:buClrTx/>
              <a:buNone/>
              <a:tabLst>
                <a:tab pos="2005330" algn="l"/>
                <a:tab pos="3710305" algn="l"/>
              </a:tabLst>
            </a:pPr>
            <a:r>
              <a:rPr lang="en-US" altLang="zh-CN" sz="2400" b="1" dirty="0"/>
              <a:t>SUB AX,0F0F0H	;AX=5562H</a:t>
            </a:r>
            <a:r>
              <a:rPr lang="zh-CN" altLang="en-US" sz="2400" b="1" dirty="0"/>
              <a:t>，</a:t>
            </a:r>
            <a:r>
              <a:rPr lang="en-US" altLang="zh-CN" sz="2400" b="1" dirty="0"/>
              <a:t>CF=1</a:t>
            </a:r>
          </a:p>
          <a:p>
            <a:pPr marL="0" indent="0" defTabSz="0">
              <a:buClrTx/>
              <a:buNone/>
              <a:tabLst>
                <a:tab pos="2005330" algn="l"/>
                <a:tab pos="3710305" algn="l"/>
              </a:tabLst>
            </a:pPr>
            <a:r>
              <a:rPr lang="en-US" altLang="zh-CN" sz="2400" b="1" dirty="0"/>
              <a:t>MOV DX,0234H	;DX=0234H</a:t>
            </a:r>
          </a:p>
          <a:p>
            <a:pPr marL="0" indent="0" defTabSz="0">
              <a:buClrTx/>
              <a:buNone/>
              <a:tabLst>
                <a:tab pos="2005330" algn="l"/>
                <a:tab pos="3710305" algn="l"/>
              </a:tabLst>
            </a:pPr>
            <a:r>
              <a:rPr lang="en-US" altLang="zh-CN" sz="2400" b="1" dirty="0"/>
              <a:t>SBB DX,0F0F0H	;DX=1143H</a:t>
            </a:r>
            <a:r>
              <a:rPr lang="zh-CN" altLang="en-US" sz="2400" b="1" dirty="0"/>
              <a:t>，</a:t>
            </a:r>
            <a:r>
              <a:rPr lang="en-US" altLang="zh-CN" sz="2400" b="1" dirty="0"/>
              <a:t>CF=1</a:t>
            </a:r>
          </a:p>
          <a:p>
            <a:pPr marL="0" indent="0" defTabSz="0">
              <a:buClrTx/>
              <a:buNone/>
              <a:tabLst>
                <a:tab pos="2005330" algn="l"/>
                <a:tab pos="3710305" algn="l"/>
              </a:tabLst>
            </a:pPr>
            <a:r>
              <a:rPr lang="en-US" altLang="zh-CN" sz="2400" b="1" dirty="0"/>
              <a:t>;DX.AX</a:t>
            </a:r>
            <a:r>
              <a:rPr lang="zh-CN" altLang="en-US" sz="2400" b="1" dirty="0"/>
              <a:t>＝</a:t>
            </a:r>
            <a:r>
              <a:rPr lang="en-US" altLang="zh-CN" sz="2400" b="1" dirty="0"/>
              <a:t>0234 4652H</a:t>
            </a:r>
          </a:p>
          <a:p>
            <a:pPr marL="0" indent="0" defTabSz="0">
              <a:buClrTx/>
              <a:buNone/>
              <a:tabLst>
                <a:tab pos="2005330" algn="l"/>
                <a:tab pos="3710305" algn="l"/>
              </a:tabLst>
            </a:pPr>
            <a:r>
              <a:rPr lang="en-US" altLang="zh-CN" sz="2400" b="1" dirty="0"/>
              <a:t>            </a:t>
            </a:r>
            <a:r>
              <a:rPr lang="zh-CN" altLang="en-US" sz="2400" b="1" dirty="0"/>
              <a:t>－</a:t>
            </a:r>
            <a:r>
              <a:rPr lang="en-US" altLang="zh-CN" sz="2400" b="1" dirty="0"/>
              <a:t>F0F0 F0F0H</a:t>
            </a:r>
          </a:p>
          <a:p>
            <a:pPr marL="0" indent="0" defTabSz="0">
              <a:buClrTx/>
              <a:buNone/>
              <a:tabLst>
                <a:tab pos="2005330" algn="l"/>
                <a:tab pos="3710305" algn="l"/>
              </a:tabLst>
            </a:pPr>
            <a:r>
              <a:rPr lang="en-US" altLang="zh-CN" sz="2400" b="1" dirty="0"/>
              <a:t>            </a:t>
            </a:r>
            <a:r>
              <a:rPr lang="zh-CN" altLang="en-US" sz="2400" b="1" dirty="0"/>
              <a:t>＝</a:t>
            </a:r>
            <a:r>
              <a:rPr lang="en-US" altLang="zh-CN" sz="2400" b="1" dirty="0"/>
              <a:t>1143 5562H</a:t>
            </a:r>
          </a:p>
        </p:txBody>
      </p:sp>
      <p:sp>
        <p:nvSpPr>
          <p:cNvPr id="414724" name="矩形 414723"/>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标题 416769"/>
          <p:cNvSpPr>
            <a:spLocks noGrp="1"/>
          </p:cNvSpPr>
          <p:nvPr>
            <p:ph type="title"/>
          </p:nvPr>
        </p:nvSpPr>
        <p:spPr>
          <a:xfrm>
            <a:off x="250825" y="836613"/>
            <a:ext cx="2665413" cy="431800"/>
          </a:xfrm>
          <a:ln/>
        </p:spPr>
        <p:txBody>
          <a:bodyPr anchor="ctr"/>
          <a:lstStyle/>
          <a:p>
            <a:pPr algn="l"/>
            <a:r>
              <a:rPr lang="en-US" altLang="zh-CN" sz="2400" b="1">
                <a:solidFill>
                  <a:schemeClr val="tx1"/>
                </a:solidFill>
              </a:rPr>
              <a:t>3</a:t>
            </a:r>
            <a:r>
              <a:rPr lang="zh-CN" altLang="en-US" sz="2400" b="1" dirty="0">
                <a:solidFill>
                  <a:schemeClr val="tx1"/>
                </a:solidFill>
              </a:rPr>
              <a:t>、减</a:t>
            </a:r>
            <a:r>
              <a:rPr lang="en-US" altLang="zh-CN" sz="2400" b="1">
                <a:solidFill>
                  <a:schemeClr val="tx1"/>
                </a:solidFill>
              </a:rPr>
              <a:t>1</a:t>
            </a:r>
            <a:r>
              <a:rPr lang="zh-CN" altLang="en-US" sz="2400" b="1" dirty="0">
                <a:solidFill>
                  <a:schemeClr val="tx1"/>
                </a:solidFill>
              </a:rPr>
              <a:t>指令</a:t>
            </a:r>
            <a:r>
              <a:rPr lang="en-US" altLang="zh-CN" sz="2400" b="1">
                <a:solidFill>
                  <a:schemeClr val="tx1"/>
                </a:solidFill>
              </a:rPr>
              <a:t>DEC</a:t>
            </a:r>
            <a:endParaRPr lang="zh-CN" altLang="en-US" sz="2400" b="1" dirty="0">
              <a:solidFill>
                <a:schemeClr val="tx1"/>
              </a:solidFill>
            </a:endParaRPr>
          </a:p>
        </p:txBody>
      </p:sp>
      <p:sp>
        <p:nvSpPr>
          <p:cNvPr id="416771" name="文本占位符 416770"/>
          <p:cNvSpPr>
            <a:spLocks noGrp="1"/>
          </p:cNvSpPr>
          <p:nvPr>
            <p:ph type="body" idx="1"/>
          </p:nvPr>
        </p:nvSpPr>
        <p:spPr>
          <a:xfrm>
            <a:off x="468313" y="3357563"/>
            <a:ext cx="8137525" cy="1150937"/>
          </a:xfrm>
          <a:ln/>
        </p:spPr>
        <p:txBody>
          <a:bodyPr/>
          <a:lstStyle/>
          <a:p>
            <a:pPr marL="0" indent="0">
              <a:buClrTx/>
              <a:buNone/>
            </a:pPr>
            <a:r>
              <a:rPr lang="zh-CN" altLang="en-US" sz="2400" b="1" dirty="0"/>
              <a:t>功能：完成对指令中指定操作数的内容减</a:t>
            </a:r>
            <a:r>
              <a:rPr lang="en-US" altLang="zh-CN" sz="2400" b="1"/>
              <a:t>1</a:t>
            </a:r>
            <a:r>
              <a:rPr lang="zh-CN" altLang="en-US" sz="2400" b="1" dirty="0"/>
              <a:t>后，又回送给该操作数。与</a:t>
            </a:r>
            <a:r>
              <a:rPr lang="en-US" altLang="zh-CN" sz="2400" b="1"/>
              <a:t>INC</a:t>
            </a:r>
            <a:r>
              <a:rPr lang="zh-CN" altLang="en-US" sz="2400" b="1" dirty="0"/>
              <a:t>指令一样，</a:t>
            </a:r>
            <a:r>
              <a:rPr lang="en-US" altLang="zh-CN" sz="2400" b="1"/>
              <a:t>DEC</a:t>
            </a:r>
            <a:r>
              <a:rPr lang="zh-CN" altLang="en-US" sz="2400" b="1" dirty="0"/>
              <a:t>指令通常也用于在循环过程中对地址指针和循环次数的修改</a:t>
            </a:r>
            <a:r>
              <a:rPr lang="zh-CN" altLang="en-US" sz="2400" dirty="0"/>
              <a:t> </a:t>
            </a:r>
          </a:p>
        </p:txBody>
      </p:sp>
      <p:sp>
        <p:nvSpPr>
          <p:cNvPr id="416772" name="流程图: 可选过程 416771"/>
          <p:cNvSpPr/>
          <p:nvPr/>
        </p:nvSpPr>
        <p:spPr>
          <a:xfrm>
            <a:off x="611188" y="2133600"/>
            <a:ext cx="4176712" cy="1066800"/>
          </a:xfrm>
          <a:prstGeom prst="flowChartAlternateProcess">
            <a:avLst/>
          </a:prstGeom>
          <a:noFill/>
          <a:ln w="12700">
            <a:noFill/>
          </a:ln>
          <a:effectLst>
            <a:prstShdw prst="shdw13" dist="53882" dir="13499999">
              <a:srgbClr val="808080"/>
            </a:prstShdw>
          </a:effectLst>
        </p:spPr>
        <p:txBody>
          <a:bodyPr/>
          <a:lstStyle/>
          <a:p>
            <a:pPr lvl="0" defTabSz="0">
              <a:spcBef>
                <a:spcPct val="50000"/>
              </a:spcBef>
              <a:tabLst>
                <a:tab pos="2289175" algn="l"/>
              </a:tabLst>
            </a:pPr>
            <a:r>
              <a:rPr lang="en-US" altLang="zh-CN" sz="2800" b="1" dirty="0">
                <a:latin typeface="宋体" panose="02010600030101010101" pitchFamily="2" charset="-122"/>
                <a:ea typeface="宋体" panose="02010600030101010101" pitchFamily="2" charset="-122"/>
              </a:rPr>
              <a:t>DEC </a:t>
            </a:r>
            <a:r>
              <a:rPr lang="en-US" altLang="zh-CN" sz="2800" b="1" dirty="0" err="1">
                <a:latin typeface="宋体" panose="02010600030101010101" pitchFamily="2" charset="-122"/>
                <a:ea typeface="宋体" panose="02010600030101010101" pitchFamily="2" charset="-122"/>
              </a:rPr>
              <a:t>reg</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mem</a:t>
            </a:r>
            <a:endParaRPr lang="en-US" altLang="zh-CN" sz="2800" b="1" dirty="0">
              <a:latin typeface="宋体" panose="02010600030101010101" pitchFamily="2" charset="-122"/>
              <a:ea typeface="宋体" panose="02010600030101010101" pitchFamily="2" charset="-122"/>
            </a:endParaRPr>
          </a:p>
          <a:p>
            <a:pPr lvl="0" defTabSz="0">
              <a:lnSpc>
                <a:spcPct val="60000"/>
              </a:lnSpc>
              <a:spcBef>
                <a:spcPct val="50000"/>
              </a:spcBef>
              <a:tabLst>
                <a:tab pos="2289175" algn="l"/>
              </a:tabLst>
            </a:pPr>
            <a:r>
              <a:rPr lang="zh-CN" altLang="en-US"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reg</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mem←reg</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mem</a:t>
            </a:r>
            <a:r>
              <a:rPr lang="en-US" altLang="zh-CN" sz="2800" b="1" dirty="0">
                <a:latin typeface="宋体" panose="02010600030101010101" pitchFamily="2" charset="-122"/>
                <a:ea typeface="宋体" panose="02010600030101010101" pitchFamily="2" charset="-122"/>
              </a:rPr>
              <a:t> -1</a:t>
            </a:r>
          </a:p>
        </p:txBody>
      </p:sp>
      <p:sp>
        <p:nvSpPr>
          <p:cNvPr id="416773" name="矩形 416772"/>
          <p:cNvSpPr/>
          <p:nvPr/>
        </p:nvSpPr>
        <p:spPr>
          <a:xfrm>
            <a:off x="4932363" y="2133600"/>
            <a:ext cx="3671887" cy="1008063"/>
          </a:xfrm>
          <a:prstGeom prst="rect">
            <a:avLst/>
          </a:prstGeom>
          <a:solidFill>
            <a:schemeClr val="bg1"/>
          </a:solidFill>
          <a:ln w="28575" cap="flat" cmpd="sng">
            <a:solidFill>
              <a:srgbClr val="FF3300"/>
            </a:solidFill>
            <a:prstDash val="solid"/>
            <a:miter/>
            <a:headEnd type="none" w="med" len="med"/>
            <a:tailEnd type="none" w="med" len="med"/>
          </a:ln>
        </p:spPr>
        <p:txBody>
          <a:bodyPr lIns="92075" tIns="46038" rIns="92075" bIns="46038"/>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100330" defTabSz="0">
              <a:lnSpc>
                <a:spcPct val="90000"/>
              </a:lnSpc>
              <a:buClrTx/>
              <a:buNone/>
              <a:tabLst>
                <a:tab pos="2472055" algn="l"/>
              </a:tabLst>
            </a:pPr>
            <a:r>
              <a:rPr lang="en-US" altLang="zh-CN" sz="2800" b="1">
                <a:latin typeface="宋体" panose="02010600030101010101" pitchFamily="2" charset="-122"/>
              </a:rPr>
              <a:t>DEC CX</a:t>
            </a:r>
          </a:p>
          <a:p>
            <a:pPr marL="0" lvl="0" indent="100330" defTabSz="0">
              <a:lnSpc>
                <a:spcPct val="90000"/>
              </a:lnSpc>
              <a:buClrTx/>
              <a:buNone/>
              <a:tabLst>
                <a:tab pos="2472055" algn="l"/>
              </a:tabLst>
            </a:pPr>
            <a:r>
              <a:rPr lang="en-US" altLang="zh-CN" sz="2800" b="1">
                <a:latin typeface="宋体" panose="02010600030101010101" pitchFamily="2" charset="-122"/>
              </a:rPr>
              <a:t>DEC WORD PTR [SI]</a:t>
            </a:r>
          </a:p>
        </p:txBody>
      </p:sp>
      <p:sp>
        <p:nvSpPr>
          <p:cNvPr id="416774" name="圆角矩形 416773"/>
          <p:cNvSpPr/>
          <p:nvPr/>
        </p:nvSpPr>
        <p:spPr>
          <a:xfrm>
            <a:off x="1763713" y="5013325"/>
            <a:ext cx="6048375" cy="1009650"/>
          </a:xfrm>
          <a:prstGeom prst="roundRect">
            <a:avLst>
              <a:gd name="adj" fmla="val 16667"/>
            </a:avLst>
          </a:prstGeom>
          <a:solidFill>
            <a:srgbClr val="FFFFFF"/>
          </a:solidFill>
          <a:ln w="9525" cap="flat" cmpd="sng">
            <a:solidFill>
              <a:schemeClr val="accent2"/>
            </a:solidFill>
            <a:prstDash val="solid"/>
            <a:headEnd type="none" w="med" len="med"/>
            <a:tailEnd type="none" w="med" len="med"/>
          </a:ln>
        </p:spPr>
        <p:txBody>
          <a:bodyPr anchor="ctr"/>
          <a:lstStyle/>
          <a:p>
            <a:pPr lvl="0" algn="just">
              <a:buClrTx/>
              <a:buBlip>
                <a:blip r:embed="rId3"/>
              </a:buBlip>
            </a:pPr>
            <a:r>
              <a:rPr lang="zh-CN" altLang="en-US" sz="2400" b="1">
                <a:solidFill>
                  <a:schemeClr val="accent2"/>
                </a:solidFill>
                <a:latin typeface="Arial" panose="020B0604020202020204" pitchFamily="34" charset="0"/>
                <a:ea typeface="宋体" panose="02010600030101010101" pitchFamily="2" charset="-122"/>
              </a:rPr>
              <a:t> </a:t>
            </a:r>
            <a:r>
              <a:rPr lang="en-US" altLang="zh-CN" sz="2400" b="1">
                <a:solidFill>
                  <a:schemeClr val="accent2"/>
                </a:solidFill>
                <a:latin typeface="Arial" panose="020B0604020202020204" pitchFamily="34" charset="0"/>
                <a:ea typeface="宋体" panose="02010600030101010101" pitchFamily="2" charset="-122"/>
              </a:rPr>
              <a:t>INC</a:t>
            </a:r>
            <a:r>
              <a:rPr lang="zh-CN" altLang="en-US" sz="2400" b="1" dirty="0">
                <a:solidFill>
                  <a:schemeClr val="accent2"/>
                </a:solidFill>
                <a:latin typeface="Arial" panose="020B0604020202020204" pitchFamily="34" charset="0"/>
                <a:ea typeface="宋体" panose="02010600030101010101" pitchFamily="2" charset="-122"/>
              </a:rPr>
              <a:t>指令和</a:t>
            </a:r>
            <a:r>
              <a:rPr lang="en-US" altLang="zh-CN" sz="2400" b="1">
                <a:solidFill>
                  <a:schemeClr val="accent2"/>
                </a:solidFill>
                <a:latin typeface="Arial" panose="020B0604020202020204" pitchFamily="34" charset="0"/>
                <a:ea typeface="宋体" panose="02010600030101010101" pitchFamily="2" charset="-122"/>
              </a:rPr>
              <a:t>DEC</a:t>
            </a:r>
            <a:r>
              <a:rPr lang="zh-CN" altLang="en-US" sz="2400" b="1" dirty="0">
                <a:solidFill>
                  <a:schemeClr val="accent2"/>
                </a:solidFill>
                <a:latin typeface="Arial" panose="020B0604020202020204" pitchFamily="34" charset="0"/>
                <a:ea typeface="宋体" panose="02010600030101010101" pitchFamily="2" charset="-122"/>
              </a:rPr>
              <a:t>指令都是</a:t>
            </a:r>
            <a:r>
              <a:rPr lang="zh-CN" altLang="en-US" sz="2400" b="1" dirty="0">
                <a:solidFill>
                  <a:srgbClr val="FF00FF"/>
                </a:solidFill>
                <a:latin typeface="Arial" panose="020B0604020202020204" pitchFamily="34" charset="0"/>
                <a:ea typeface="宋体" panose="02010600030101010101" pitchFamily="2" charset="-122"/>
              </a:rPr>
              <a:t>单操作数</a:t>
            </a:r>
            <a:r>
              <a:rPr lang="zh-CN" altLang="en-US" sz="2400" b="1" dirty="0">
                <a:solidFill>
                  <a:schemeClr val="accent2"/>
                </a:solidFill>
                <a:latin typeface="Arial" panose="020B0604020202020204" pitchFamily="34" charset="0"/>
                <a:ea typeface="宋体" panose="02010600030101010101" pitchFamily="2" charset="-122"/>
              </a:rPr>
              <a:t>指令</a:t>
            </a:r>
          </a:p>
          <a:p>
            <a:pPr lvl="0" algn="just">
              <a:buClrTx/>
              <a:buBlip>
                <a:blip r:embed="rId3"/>
              </a:buBlip>
            </a:pPr>
            <a:r>
              <a:rPr lang="zh-CN" altLang="en-US" sz="2400" b="1" dirty="0">
                <a:solidFill>
                  <a:schemeClr val="accent2"/>
                </a:solidFill>
                <a:latin typeface="Arial" panose="020B0604020202020204" pitchFamily="34" charset="0"/>
                <a:ea typeface="宋体" panose="02010600030101010101" pitchFamily="2" charset="-122"/>
              </a:rPr>
              <a:t> 主要用于对</a:t>
            </a:r>
            <a:r>
              <a:rPr lang="zh-CN" altLang="en-US" sz="2400" b="1" dirty="0">
                <a:solidFill>
                  <a:srgbClr val="FF00FF"/>
                </a:solidFill>
                <a:latin typeface="Arial" panose="020B0604020202020204" pitchFamily="34" charset="0"/>
                <a:ea typeface="宋体" panose="02010600030101010101" pitchFamily="2" charset="-122"/>
              </a:rPr>
              <a:t>计数器和地址指针的调整</a:t>
            </a:r>
          </a:p>
        </p:txBody>
      </p:sp>
      <p:sp>
        <p:nvSpPr>
          <p:cNvPr id="416775" name="文本框 416774"/>
          <p:cNvSpPr txBox="1"/>
          <p:nvPr/>
        </p:nvSpPr>
        <p:spPr>
          <a:xfrm>
            <a:off x="900113" y="1341438"/>
            <a:ext cx="1152525" cy="466725"/>
          </a:xfrm>
          <a:prstGeom prst="rect">
            <a:avLst/>
          </a:prstGeom>
          <a:noFill/>
          <a:ln w="9525" cap="flat" cmpd="sng">
            <a:solidFill>
              <a:srgbClr val="000000"/>
            </a:solidFill>
            <a:prstDash val="solid"/>
            <a:miter/>
            <a:headEnd type="none" w="med" len="med"/>
            <a:tailEnd type="none" w="med" len="med"/>
          </a:ln>
          <a:effectLst>
            <a:outerShdw dist="35921" dir="2699999" algn="ctr" rotWithShape="0">
              <a:srgbClr val="808080"/>
            </a:outerShdw>
          </a:effectLst>
        </p:spPr>
        <p:txBody>
          <a:bodyPr>
            <a:spAutoFit/>
          </a:bodyPr>
          <a:lstStyle/>
          <a:p>
            <a:pPr lvl="0"/>
            <a:r>
              <a:rPr lang="zh-CN" altLang="en-US" sz="2400" dirty="0">
                <a:solidFill>
                  <a:srgbClr val="FF00FF"/>
                </a:solidFill>
                <a:latin typeface="Arial" panose="020B0604020202020204" pitchFamily="34" charset="0"/>
                <a:ea typeface="宋体" panose="02010600030101010101" pitchFamily="2" charset="-122"/>
              </a:rPr>
              <a:t>格式</a:t>
            </a:r>
            <a:r>
              <a:rPr lang="en-US" altLang="zh-CN" sz="2400">
                <a:solidFill>
                  <a:srgbClr val="FF00FF"/>
                </a:solidFill>
                <a:latin typeface="Arial" panose="020B0604020202020204" pitchFamily="34" charset="0"/>
                <a:ea typeface="宋体" panose="02010600030101010101" pitchFamily="2" charset="-122"/>
              </a:rPr>
              <a:t>:</a:t>
            </a:r>
          </a:p>
        </p:txBody>
      </p:sp>
      <p:sp>
        <p:nvSpPr>
          <p:cNvPr id="416776" name="矩形 416775"/>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8818" name="文本占位符 418817"/>
          <p:cNvSpPr>
            <a:spLocks noGrp="1"/>
          </p:cNvSpPr>
          <p:nvPr>
            <p:ph type="body" idx="1"/>
          </p:nvPr>
        </p:nvSpPr>
        <p:spPr>
          <a:xfrm>
            <a:off x="252413" y="1700213"/>
            <a:ext cx="8640762" cy="2520950"/>
          </a:xfrm>
          <a:ln/>
        </p:spPr>
        <p:txBody>
          <a:bodyPr/>
          <a:lstStyle/>
          <a:p>
            <a:pPr marL="0" indent="0">
              <a:lnSpc>
                <a:spcPct val="90000"/>
              </a:lnSpc>
              <a:buNone/>
            </a:pPr>
            <a:r>
              <a:rPr lang="zh-CN" altLang="en-US" sz="2400" b="1" dirty="0">
                <a:latin typeface="Tahoma" panose="020B0604030504040204" pitchFamily="34" charset="0"/>
              </a:rPr>
              <a:t>        三条减法指令用法：</a:t>
            </a:r>
          </a:p>
          <a:p>
            <a:pPr marL="0" indent="0">
              <a:lnSpc>
                <a:spcPct val="90000"/>
              </a:lnSpc>
              <a:buNone/>
            </a:pPr>
            <a:r>
              <a:rPr lang="zh-CN" altLang="en-US" sz="2400" b="1" dirty="0">
                <a:latin typeface="Tahoma" panose="020B0604030504040204" pitchFamily="34" charset="0"/>
              </a:rPr>
              <a:t>       </a:t>
            </a:r>
          </a:p>
          <a:p>
            <a:pPr marL="0" indent="0">
              <a:lnSpc>
                <a:spcPts val="3500"/>
              </a:lnSpc>
              <a:buNone/>
            </a:pPr>
            <a:r>
              <a:rPr lang="zh-CN" altLang="en-US" sz="2400" b="1" dirty="0">
                <a:latin typeface="Tahoma" panose="020B0604030504040204" pitchFamily="34" charset="0"/>
              </a:rPr>
              <a:t>       ①</a:t>
            </a:r>
            <a:r>
              <a:rPr lang="en-US" altLang="zh-CN" sz="2400" b="1" dirty="0">
                <a:latin typeface="Tahoma" panose="020B0604030504040204" pitchFamily="34" charset="0"/>
              </a:rPr>
              <a:t>SUB</a:t>
            </a:r>
            <a:r>
              <a:rPr lang="zh-CN" altLang="en-US" sz="2400" b="1" dirty="0">
                <a:latin typeface="Tahoma" panose="020B0604030504040204" pitchFamily="34" charset="0"/>
              </a:rPr>
              <a:t>、</a:t>
            </a:r>
            <a:r>
              <a:rPr lang="en-US" altLang="zh-CN" sz="2400" b="1" dirty="0">
                <a:latin typeface="Tahoma" panose="020B0604030504040204" pitchFamily="34" charset="0"/>
              </a:rPr>
              <a:t>SBB</a:t>
            </a:r>
            <a:r>
              <a:rPr lang="zh-CN" altLang="en-US" sz="2400" b="1" dirty="0">
                <a:latin typeface="Tahoma" panose="020B0604030504040204" pitchFamily="34" charset="0"/>
              </a:rPr>
              <a:t>、</a:t>
            </a:r>
            <a:r>
              <a:rPr lang="en-US" altLang="zh-CN" sz="2400" b="1" dirty="0">
                <a:latin typeface="Tahoma" panose="020B0604030504040204" pitchFamily="34" charset="0"/>
              </a:rPr>
              <a:t>DEC</a:t>
            </a:r>
            <a:r>
              <a:rPr lang="zh-CN" altLang="en-US" sz="2400" b="1" dirty="0">
                <a:latin typeface="Tahoma" panose="020B0604030504040204" pitchFamily="34" charset="0"/>
              </a:rPr>
              <a:t>三条指令的指令格式以及基本用法与</a:t>
            </a:r>
            <a:r>
              <a:rPr lang="en-US" altLang="zh-CN" sz="2400" b="1" dirty="0">
                <a:latin typeface="Tahoma" panose="020B0604030504040204" pitchFamily="34" charset="0"/>
              </a:rPr>
              <a:t>ADD</a:t>
            </a:r>
            <a:r>
              <a:rPr lang="zh-CN" altLang="en-US" sz="2400" b="1" dirty="0">
                <a:latin typeface="Tahoma" panose="020B0604030504040204" pitchFamily="34" charset="0"/>
              </a:rPr>
              <a:t>、</a:t>
            </a:r>
            <a:r>
              <a:rPr lang="en-US" altLang="zh-CN" sz="2400" b="1" dirty="0">
                <a:latin typeface="Tahoma" panose="020B0604030504040204" pitchFamily="34" charset="0"/>
              </a:rPr>
              <a:t>ADC</a:t>
            </a:r>
            <a:r>
              <a:rPr lang="zh-CN" altLang="en-US" sz="2400" b="1" dirty="0">
                <a:latin typeface="Tahoma" panose="020B0604030504040204" pitchFamily="34" charset="0"/>
              </a:rPr>
              <a:t>、</a:t>
            </a:r>
            <a:r>
              <a:rPr lang="en-US" altLang="zh-CN" sz="2400" b="1" dirty="0">
                <a:latin typeface="Tahoma" panose="020B0604030504040204" pitchFamily="34" charset="0"/>
              </a:rPr>
              <a:t>INC</a:t>
            </a:r>
            <a:r>
              <a:rPr lang="zh-CN" altLang="en-US" sz="2400" b="1" dirty="0">
                <a:latin typeface="Tahoma" panose="020B0604030504040204" pitchFamily="34" charset="0"/>
              </a:rPr>
              <a:t>相同。</a:t>
            </a:r>
          </a:p>
          <a:p>
            <a:pPr marL="0" indent="0">
              <a:lnSpc>
                <a:spcPts val="3500"/>
              </a:lnSpc>
              <a:buClr>
                <a:srgbClr val="FF0000"/>
              </a:buClr>
              <a:buFont typeface="Wingdings" panose="05000000000000000000" pitchFamily="2" charset="2"/>
              <a:buNone/>
            </a:pPr>
            <a:r>
              <a:rPr lang="zh-CN" altLang="en-US" sz="2400" b="1" dirty="0">
                <a:latin typeface="Tahoma" panose="020B0604030504040204" pitchFamily="34" charset="0"/>
              </a:rPr>
              <a:t>       ②</a:t>
            </a:r>
            <a:r>
              <a:rPr lang="en-US" altLang="zh-CN" sz="2400" b="1" dirty="0">
                <a:latin typeface="Tahoma" panose="020B0604030504040204" pitchFamily="34" charset="0"/>
              </a:rPr>
              <a:t>SUB</a:t>
            </a:r>
            <a:r>
              <a:rPr lang="zh-CN" altLang="en-US" sz="2400" b="1" dirty="0">
                <a:latin typeface="Tahoma" panose="020B0604030504040204" pitchFamily="34" charset="0"/>
              </a:rPr>
              <a:t>和</a:t>
            </a:r>
            <a:r>
              <a:rPr lang="en-US" altLang="zh-CN" sz="2400" b="1" dirty="0">
                <a:latin typeface="Tahoma" panose="020B0604030504040204" pitchFamily="34" charset="0"/>
              </a:rPr>
              <a:t>SBB</a:t>
            </a:r>
            <a:r>
              <a:rPr lang="zh-CN" altLang="en-US" sz="2400" b="1" dirty="0">
                <a:latin typeface="Tahoma" panose="020B0604030504040204" pitchFamily="34" charset="0"/>
              </a:rPr>
              <a:t>影响所有</a:t>
            </a:r>
            <a:r>
              <a:rPr lang="en-US" altLang="zh-CN" sz="2400" b="1" dirty="0">
                <a:solidFill>
                  <a:srgbClr val="0000FF"/>
                </a:solidFill>
                <a:latin typeface="Tahoma" panose="020B0604030504040204" pitchFamily="34" charset="0"/>
              </a:rPr>
              <a:t>6</a:t>
            </a:r>
            <a:r>
              <a:rPr lang="zh-CN" altLang="en-US" sz="2400" b="1" dirty="0">
                <a:latin typeface="Tahoma" panose="020B0604030504040204" pitchFamily="34" charset="0"/>
              </a:rPr>
              <a:t>个状态标志：</a:t>
            </a:r>
          </a:p>
          <a:p>
            <a:pPr marL="0" indent="0">
              <a:lnSpc>
                <a:spcPts val="3500"/>
              </a:lnSpc>
              <a:buClr>
                <a:srgbClr val="FF0000"/>
              </a:buClr>
              <a:buFont typeface="Wingdings" panose="05000000000000000000" pitchFamily="2" charset="2"/>
              <a:buNone/>
            </a:pPr>
            <a:r>
              <a:rPr lang="zh-CN" altLang="en-US" sz="2400" b="1" dirty="0">
                <a:latin typeface="Tahoma" panose="020B0604030504040204" pitchFamily="34" charset="0"/>
              </a:rPr>
              <a:t>       ③</a:t>
            </a:r>
            <a:r>
              <a:rPr lang="en-US" altLang="zh-CN" sz="2400" b="1" dirty="0">
                <a:latin typeface="Tahoma" panose="020B0604030504040204" pitchFamily="34" charset="0"/>
              </a:rPr>
              <a:t>DEC</a:t>
            </a:r>
            <a:r>
              <a:rPr lang="zh-CN" altLang="en-US" sz="2400" b="1" dirty="0">
                <a:latin typeface="Tahoma" panose="020B0604030504040204" pitchFamily="34" charset="0"/>
              </a:rPr>
              <a:t>不影响</a:t>
            </a:r>
            <a:r>
              <a:rPr lang="en-US" altLang="zh-CN" sz="2400" b="1" dirty="0">
                <a:latin typeface="Tahoma" panose="020B0604030504040204" pitchFamily="34" charset="0"/>
              </a:rPr>
              <a:t>CF</a:t>
            </a:r>
            <a:r>
              <a:rPr lang="zh-CN" altLang="en-US" sz="2400" b="1" dirty="0">
                <a:latin typeface="Tahoma" panose="020B0604030504040204" pitchFamily="34" charset="0"/>
              </a:rPr>
              <a:t>标志，影响其他</a:t>
            </a:r>
            <a:r>
              <a:rPr lang="en-US" altLang="zh-CN" sz="2400" b="1" dirty="0">
                <a:solidFill>
                  <a:srgbClr val="0000FF"/>
                </a:solidFill>
                <a:latin typeface="Tahoma" panose="020B0604030504040204" pitchFamily="34" charset="0"/>
              </a:rPr>
              <a:t>5</a:t>
            </a:r>
            <a:r>
              <a:rPr lang="zh-CN" altLang="en-US" sz="2400" b="1" dirty="0">
                <a:latin typeface="Tahoma" panose="020B0604030504040204" pitchFamily="34" charset="0"/>
              </a:rPr>
              <a:t>个标志。</a:t>
            </a:r>
          </a:p>
        </p:txBody>
      </p:sp>
      <p:sp>
        <p:nvSpPr>
          <p:cNvPr id="418819" name="矩形 41881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标题 422913"/>
          <p:cNvSpPr>
            <a:spLocks noGrp="1"/>
          </p:cNvSpPr>
          <p:nvPr>
            <p:ph type="title"/>
          </p:nvPr>
        </p:nvSpPr>
        <p:spPr>
          <a:xfrm>
            <a:off x="250825" y="844550"/>
            <a:ext cx="2736850" cy="496888"/>
          </a:xfrm>
          <a:ln/>
        </p:spPr>
        <p:txBody>
          <a:bodyPr anchor="ctr"/>
          <a:lstStyle/>
          <a:p>
            <a:pPr algn="l"/>
            <a:r>
              <a:rPr lang="en-US" altLang="zh-CN" sz="2400" b="1" dirty="0">
                <a:solidFill>
                  <a:schemeClr val="tx1"/>
                </a:solidFill>
              </a:rPr>
              <a:t>4</a:t>
            </a:r>
            <a:r>
              <a:rPr lang="zh-CN" altLang="en-US" sz="2400" b="1" dirty="0">
                <a:solidFill>
                  <a:schemeClr val="tx1"/>
                </a:solidFill>
              </a:rPr>
              <a:t>）求补指令</a:t>
            </a:r>
            <a:r>
              <a:rPr lang="en-US" altLang="zh-CN" sz="2400" b="1" dirty="0">
                <a:solidFill>
                  <a:schemeClr val="tx1"/>
                </a:solidFill>
              </a:rPr>
              <a:t>NEG</a:t>
            </a:r>
            <a:endParaRPr lang="zh-CN" altLang="en-US" sz="2400" b="1" dirty="0">
              <a:solidFill>
                <a:schemeClr val="tx1"/>
              </a:solidFill>
            </a:endParaRPr>
          </a:p>
        </p:txBody>
      </p:sp>
      <p:sp>
        <p:nvSpPr>
          <p:cNvPr id="422915" name="文本占位符 422914"/>
          <p:cNvSpPr>
            <a:spLocks noGrp="1"/>
          </p:cNvSpPr>
          <p:nvPr>
            <p:ph type="body" idx="1"/>
          </p:nvPr>
        </p:nvSpPr>
        <p:spPr>
          <a:xfrm>
            <a:off x="358775" y="2636838"/>
            <a:ext cx="8461375" cy="3600450"/>
          </a:xfrm>
          <a:ln/>
        </p:spPr>
        <p:txBody>
          <a:bodyPr/>
          <a:lstStyle/>
          <a:p>
            <a:pPr>
              <a:lnSpc>
                <a:spcPct val="90000"/>
              </a:lnSpc>
              <a:buClrTx/>
              <a:buNone/>
            </a:pPr>
            <a:r>
              <a:rPr lang="zh-CN" altLang="en-US" sz="2400" b="1" dirty="0"/>
              <a:t>功能：对指令中指定的操作数内容取补后，再将结果回送给该操作数。</a:t>
            </a:r>
          </a:p>
          <a:p>
            <a:pPr>
              <a:lnSpc>
                <a:spcPct val="90000"/>
              </a:lnSpc>
              <a:buClrTx/>
              <a:buNone/>
            </a:pPr>
            <a:r>
              <a:rPr lang="zh-CN" altLang="en-US" sz="2400" b="1" dirty="0"/>
              <a:t>对一个操作数的求补实际上就相当于用</a:t>
            </a:r>
            <a:r>
              <a:rPr lang="en-US" altLang="zh-CN" sz="2400" b="1" dirty="0"/>
              <a:t>0</a:t>
            </a:r>
            <a:r>
              <a:rPr lang="zh-CN" altLang="en-US" sz="2400" b="1" dirty="0"/>
              <a:t>减去该操作数的内容，故</a:t>
            </a:r>
            <a:r>
              <a:rPr lang="en-US" altLang="zh-CN" sz="2400" b="1" dirty="0"/>
              <a:t>NEG</a:t>
            </a:r>
            <a:r>
              <a:rPr lang="zh-CN" altLang="en-US" sz="2400" b="1" dirty="0"/>
              <a:t>指令也属于减法指令。该指令的间接求法是将操作数的内容按位求反末位加</a:t>
            </a:r>
            <a:r>
              <a:rPr lang="en-US" altLang="zh-CN" sz="2400" b="1" dirty="0"/>
              <a:t>1</a:t>
            </a:r>
            <a:r>
              <a:rPr lang="zh-CN" altLang="en-US" sz="2400" b="1" dirty="0"/>
              <a:t>后，再回送给该操作数  </a:t>
            </a:r>
            <a:endParaRPr lang="en-US" altLang="zh-CN" sz="2400" b="1" dirty="0"/>
          </a:p>
          <a:p>
            <a:pPr>
              <a:lnSpc>
                <a:spcPct val="90000"/>
              </a:lnSpc>
              <a:buClrTx/>
              <a:buNone/>
            </a:pPr>
            <a:endParaRPr lang="en-US" altLang="zh-CN" sz="2400" b="1" dirty="0"/>
          </a:p>
          <a:p>
            <a:pPr>
              <a:lnSpc>
                <a:spcPct val="90000"/>
              </a:lnSpc>
              <a:buClrTx/>
              <a:buNone/>
            </a:pPr>
            <a:r>
              <a:rPr lang="en-US" altLang="zh-CN" sz="2400" b="1" dirty="0"/>
              <a:t>0-XXXX XXXXB =( 1111 1111B + 1 )-XXXX XXXXB </a:t>
            </a:r>
          </a:p>
          <a:p>
            <a:pPr>
              <a:lnSpc>
                <a:spcPct val="90000"/>
              </a:lnSpc>
              <a:buClrTx/>
              <a:buNone/>
            </a:pPr>
            <a:r>
              <a:rPr lang="zh-CN" altLang="en-US" sz="2400" b="1" dirty="0"/>
              <a:t>求补运算也可以表达成：</a:t>
            </a:r>
            <a:r>
              <a:rPr lang="zh-CN" altLang="en-US" sz="2400" b="1" dirty="0">
                <a:solidFill>
                  <a:srgbClr val="0000FF"/>
                </a:solidFill>
              </a:rPr>
              <a:t>将操作数按位取反后加</a:t>
            </a:r>
            <a:r>
              <a:rPr lang="en-US" altLang="zh-CN" sz="2400" b="1" dirty="0">
                <a:solidFill>
                  <a:srgbClr val="0000FF"/>
                </a:solidFill>
              </a:rPr>
              <a:t>1</a:t>
            </a:r>
          </a:p>
          <a:p>
            <a:pPr>
              <a:lnSpc>
                <a:spcPct val="90000"/>
              </a:lnSpc>
              <a:buClrTx/>
              <a:buNone/>
            </a:pPr>
            <a:r>
              <a:rPr lang="en-US" altLang="zh-CN" sz="2400" b="1" dirty="0"/>
              <a:t>NEG</a:t>
            </a:r>
            <a:r>
              <a:rPr lang="zh-CN" altLang="en-US" sz="2400" b="1" dirty="0"/>
              <a:t>指令对标志的影响与用零作减法的</a:t>
            </a:r>
            <a:r>
              <a:rPr lang="en-US" altLang="zh-CN" sz="2400" b="1" dirty="0"/>
              <a:t>SUB</a:t>
            </a:r>
            <a:r>
              <a:rPr lang="zh-CN" altLang="en-US" sz="2400" b="1" dirty="0"/>
              <a:t>指令一样</a:t>
            </a:r>
          </a:p>
        </p:txBody>
      </p:sp>
      <p:sp>
        <p:nvSpPr>
          <p:cNvPr id="422916" name="流程图: 可选过程 422915"/>
          <p:cNvSpPr/>
          <p:nvPr/>
        </p:nvSpPr>
        <p:spPr>
          <a:xfrm>
            <a:off x="2484438" y="1412875"/>
            <a:ext cx="4343400" cy="1066800"/>
          </a:xfrm>
          <a:prstGeom prst="flowChartAlternateProcess">
            <a:avLst/>
          </a:prstGeom>
          <a:noFill/>
          <a:ln w="12700">
            <a:noFill/>
          </a:ln>
          <a:effectLst>
            <a:prstShdw prst="shdw13" dist="53882" dir="13499999">
              <a:srgbClr val="808080"/>
            </a:prstShdw>
          </a:effectLst>
        </p:spPr>
        <p:txBody>
          <a:bodyPr/>
          <a:lstStyle/>
          <a:p>
            <a:pPr lvl="0" defTabSz="0">
              <a:spcBef>
                <a:spcPct val="50000"/>
              </a:spcBef>
              <a:tabLst>
                <a:tab pos="2289175" algn="l"/>
              </a:tabLst>
            </a:pPr>
            <a:r>
              <a:rPr lang="en-US" altLang="zh-CN" sz="2800" b="1" dirty="0">
                <a:latin typeface="宋体" panose="02010600030101010101" pitchFamily="2" charset="-122"/>
                <a:ea typeface="宋体" panose="02010600030101010101" pitchFamily="2" charset="-122"/>
              </a:rPr>
              <a:t>NEG </a:t>
            </a:r>
            <a:r>
              <a:rPr lang="en-US" altLang="zh-CN" sz="2800" b="1" dirty="0" err="1">
                <a:latin typeface="宋体" panose="02010600030101010101" pitchFamily="2" charset="-122"/>
                <a:ea typeface="宋体" panose="02010600030101010101" pitchFamily="2" charset="-122"/>
              </a:rPr>
              <a:t>reg</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mem</a:t>
            </a:r>
            <a:endParaRPr lang="en-US" altLang="zh-CN" sz="2800" b="1" dirty="0">
              <a:latin typeface="宋体" panose="02010600030101010101" pitchFamily="2" charset="-122"/>
              <a:ea typeface="宋体" panose="02010600030101010101" pitchFamily="2" charset="-122"/>
            </a:endParaRPr>
          </a:p>
          <a:p>
            <a:pPr lvl="0" defTabSz="0">
              <a:lnSpc>
                <a:spcPct val="60000"/>
              </a:lnSpc>
              <a:spcBef>
                <a:spcPct val="50000"/>
              </a:spcBef>
              <a:tabLst>
                <a:tab pos="2289175" algn="l"/>
              </a:tabLst>
            </a:pPr>
            <a:r>
              <a:rPr lang="zh-CN" altLang="en-US"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reg</a:t>
            </a:r>
            <a:r>
              <a:rPr lang="en-US" altLang="zh-CN" sz="2800" b="1" dirty="0">
                <a:solidFill>
                  <a:schemeClr val="accent2"/>
                </a:solidFill>
                <a:latin typeface="宋体" panose="02010600030101010101" pitchFamily="2" charset="-122"/>
                <a:ea typeface="宋体" panose="02010600030101010101" pitchFamily="2" charset="-122"/>
              </a:rPr>
              <a:t>/mem←0 - </a:t>
            </a:r>
            <a:r>
              <a:rPr lang="en-US" altLang="zh-CN" sz="2800" b="1" dirty="0" err="1">
                <a:solidFill>
                  <a:schemeClr val="accent2"/>
                </a:solidFill>
                <a:latin typeface="宋体" panose="02010600030101010101" pitchFamily="2" charset="-122"/>
                <a:ea typeface="宋体" panose="02010600030101010101" pitchFamily="2" charset="-122"/>
              </a:rPr>
              <a:t>reg</a:t>
            </a:r>
            <a:r>
              <a:rPr lang="en-US" altLang="zh-CN" sz="2800" b="1" dirty="0">
                <a:solidFill>
                  <a:schemeClr val="accent2"/>
                </a:solidFill>
                <a:latin typeface="宋体" panose="02010600030101010101" pitchFamily="2" charset="-122"/>
                <a:ea typeface="宋体" panose="02010600030101010101" pitchFamily="2" charset="-122"/>
              </a:rPr>
              <a:t>/</a:t>
            </a:r>
            <a:r>
              <a:rPr lang="en-US" altLang="zh-CN" sz="2800" b="1" dirty="0" err="1">
                <a:solidFill>
                  <a:schemeClr val="accent2"/>
                </a:solidFill>
                <a:latin typeface="宋体" panose="02010600030101010101" pitchFamily="2" charset="-122"/>
                <a:ea typeface="宋体" panose="02010600030101010101" pitchFamily="2" charset="-122"/>
              </a:rPr>
              <a:t>mem</a:t>
            </a:r>
            <a:endParaRPr lang="en-US" altLang="zh-CN" sz="2800" b="1" dirty="0">
              <a:solidFill>
                <a:schemeClr val="accent2"/>
              </a:solidFill>
              <a:latin typeface="宋体" panose="02010600030101010101" pitchFamily="2" charset="-122"/>
              <a:ea typeface="宋体" panose="02010600030101010101" pitchFamily="2" charset="-122"/>
            </a:endParaRPr>
          </a:p>
        </p:txBody>
      </p:sp>
      <p:sp>
        <p:nvSpPr>
          <p:cNvPr id="422917" name="文本框 422916"/>
          <p:cNvSpPr txBox="1"/>
          <p:nvPr/>
        </p:nvSpPr>
        <p:spPr>
          <a:xfrm>
            <a:off x="900113" y="1700213"/>
            <a:ext cx="1152525" cy="466725"/>
          </a:xfrm>
          <a:prstGeom prst="rect">
            <a:avLst/>
          </a:prstGeom>
          <a:noFill/>
          <a:ln w="9525" cap="flat" cmpd="sng">
            <a:solidFill>
              <a:srgbClr val="000000"/>
            </a:solidFill>
            <a:prstDash val="solid"/>
            <a:miter/>
            <a:headEnd type="none" w="med" len="med"/>
            <a:tailEnd type="none" w="med" len="med"/>
          </a:ln>
          <a:effectLst>
            <a:outerShdw dist="35921" dir="2699999" algn="ctr" rotWithShape="0">
              <a:srgbClr val="808080"/>
            </a:outerShdw>
          </a:effectLst>
        </p:spPr>
        <p:txBody>
          <a:bodyPr>
            <a:spAutoFit/>
          </a:bodyPr>
          <a:lstStyle/>
          <a:p>
            <a:pPr lvl="0"/>
            <a:r>
              <a:rPr lang="zh-CN" altLang="en-US" sz="2400" b="1" dirty="0">
                <a:solidFill>
                  <a:srgbClr val="FF00FF"/>
                </a:solidFill>
                <a:latin typeface="Arial" panose="020B0604020202020204" pitchFamily="34" charset="0"/>
                <a:ea typeface="宋体" panose="02010600030101010101" pitchFamily="2" charset="-122"/>
              </a:rPr>
              <a:t>格式</a:t>
            </a:r>
            <a:r>
              <a:rPr lang="en-US" altLang="zh-CN" sz="2400" b="1">
                <a:solidFill>
                  <a:srgbClr val="FF00FF"/>
                </a:solidFill>
                <a:latin typeface="Arial" panose="020B0604020202020204" pitchFamily="34" charset="0"/>
                <a:ea typeface="宋体" panose="02010600030101010101" pitchFamily="2" charset="-122"/>
              </a:rPr>
              <a:t>:</a:t>
            </a:r>
          </a:p>
        </p:txBody>
      </p:sp>
      <p:sp>
        <p:nvSpPr>
          <p:cNvPr id="422918" name="矩形 42291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4962" name="文本占位符 424961"/>
          <p:cNvSpPr>
            <a:spLocks noGrp="1"/>
          </p:cNvSpPr>
          <p:nvPr>
            <p:ph type="body" idx="1"/>
          </p:nvPr>
        </p:nvSpPr>
        <p:spPr>
          <a:xfrm>
            <a:off x="304800" y="1281113"/>
            <a:ext cx="8534400" cy="3371850"/>
          </a:xfrm>
          <a:ln/>
        </p:spPr>
        <p:txBody>
          <a:bodyPr/>
          <a:lstStyle/>
          <a:p>
            <a:pPr marL="0" indent="0" defTabSz="195580">
              <a:lnSpc>
                <a:spcPct val="90000"/>
              </a:lnSpc>
              <a:buClrTx/>
              <a:buNone/>
            </a:pPr>
            <a:r>
              <a:rPr lang="zh-CN" altLang="en-US" sz="2400" b="1" dirty="0">
                <a:solidFill>
                  <a:srgbClr val="0000FF"/>
                </a:solidFill>
                <a:latin typeface="Tahoma" panose="020B0604030504040204" pitchFamily="34" charset="0"/>
              </a:rPr>
              <a:t>理解</a:t>
            </a:r>
            <a:r>
              <a:rPr lang="en-US" altLang="zh-CN" sz="2400" b="1">
                <a:solidFill>
                  <a:srgbClr val="0000FF"/>
                </a:solidFill>
                <a:latin typeface="Tahoma" panose="020B0604030504040204" pitchFamily="34" charset="0"/>
              </a:rPr>
              <a:t>NEG</a:t>
            </a:r>
            <a:r>
              <a:rPr lang="zh-CN" altLang="en-US" sz="2400" b="1" dirty="0">
                <a:solidFill>
                  <a:srgbClr val="0000FF"/>
                </a:solidFill>
                <a:latin typeface="Tahoma" panose="020B0604030504040204" pitchFamily="34" charset="0"/>
              </a:rPr>
              <a:t>指令</a:t>
            </a:r>
            <a:r>
              <a:rPr lang="zh-CN" altLang="en-US" sz="2400" b="1" dirty="0">
                <a:latin typeface="Tahoma" panose="020B0604030504040204" pitchFamily="34" charset="0"/>
              </a:rPr>
              <a:t>：</a:t>
            </a:r>
          </a:p>
          <a:p>
            <a:pPr marL="0" indent="0" defTabSz="195580">
              <a:lnSpc>
                <a:spcPct val="90000"/>
              </a:lnSpc>
              <a:buClrTx/>
              <a:buNone/>
            </a:pPr>
            <a:r>
              <a:rPr lang="en-US" altLang="zh-CN" sz="2400" b="1">
                <a:latin typeface="Tahoma" panose="020B0604030504040204" pitchFamily="34" charset="0"/>
              </a:rPr>
              <a:t>NEG</a:t>
            </a:r>
            <a:r>
              <a:rPr lang="zh-CN" altLang="en-US" sz="2400" b="1" dirty="0">
                <a:latin typeface="Tahoma" panose="020B0604030504040204" pitchFamily="34" charset="0"/>
              </a:rPr>
              <a:t>相当于减法指令，标志设置与减法指令相同；（只有对零求补，ＣＦ＝０，其他情况ＣＦ＝１）</a:t>
            </a:r>
            <a:br>
              <a:rPr lang="zh-CN" altLang="en-US" sz="2400" b="1" dirty="0">
                <a:latin typeface="Tahoma" panose="020B0604030504040204" pitchFamily="34" charset="0"/>
              </a:rPr>
            </a:br>
            <a:endParaRPr lang="zh-CN" altLang="en-US" sz="2400" b="1" dirty="0">
              <a:latin typeface="Tahoma" panose="020B0604030504040204" pitchFamily="34" charset="0"/>
            </a:endParaRPr>
          </a:p>
          <a:p>
            <a:pPr marL="0" indent="0" defTabSz="195580">
              <a:lnSpc>
                <a:spcPct val="90000"/>
              </a:lnSpc>
              <a:buClrTx/>
              <a:buNone/>
            </a:pPr>
            <a:r>
              <a:rPr lang="zh-CN" altLang="en-US" sz="2400" b="1" dirty="0">
                <a:latin typeface="Tahoma" panose="020B0604030504040204" pitchFamily="34" charset="0"/>
              </a:rPr>
              <a:t>例：</a:t>
            </a:r>
            <a:r>
              <a:rPr lang="zh-CN" altLang="en-US" sz="2400" b="1" dirty="0"/>
              <a:t>设</a:t>
            </a:r>
            <a:r>
              <a:rPr lang="en-US" altLang="zh-CN" sz="2400" b="1"/>
              <a:t>DS:[BX]=(-4)</a:t>
            </a:r>
            <a:r>
              <a:rPr lang="zh-CN" altLang="en-US" sz="2400" b="1" baseline="-25000"/>
              <a:t>补</a:t>
            </a:r>
            <a:r>
              <a:rPr lang="en-US" altLang="zh-CN" sz="2400" b="1"/>
              <a:t>=1111 1100 </a:t>
            </a:r>
          </a:p>
          <a:p>
            <a:pPr marL="0" indent="0" defTabSz="195580">
              <a:lnSpc>
                <a:spcPct val="90000"/>
              </a:lnSpc>
              <a:buClrTx/>
              <a:buNone/>
            </a:pPr>
            <a:r>
              <a:rPr lang="en-US" altLang="zh-CN" sz="2400" b="1"/>
              <a:t>      </a:t>
            </a:r>
            <a:r>
              <a:rPr lang="zh-CN" altLang="en-US" sz="2400" b="1" dirty="0"/>
              <a:t>执行 </a:t>
            </a:r>
            <a:r>
              <a:rPr lang="en-US" altLang="zh-CN" sz="2400" b="1"/>
              <a:t>NEG BYTE PTR[BX] </a:t>
            </a:r>
            <a:r>
              <a:rPr lang="zh-CN" altLang="en-US" sz="2400" b="1" dirty="0"/>
              <a:t>后</a:t>
            </a:r>
          </a:p>
          <a:p>
            <a:pPr marL="0" indent="0" defTabSz="195580">
              <a:lnSpc>
                <a:spcPct val="90000"/>
              </a:lnSpc>
              <a:buClrTx/>
              <a:buNone/>
            </a:pPr>
            <a:r>
              <a:rPr lang="zh-CN" altLang="en-US" sz="2400" b="1" dirty="0"/>
              <a:t>　　  则 </a:t>
            </a:r>
            <a:r>
              <a:rPr lang="en-US" altLang="zh-CN" sz="2400" b="1"/>
              <a:t>DS:[BX]=0000 0100=+4</a:t>
            </a:r>
            <a:r>
              <a:rPr lang="zh-CN" altLang="en-US" sz="2400" b="1"/>
              <a:t>（</a:t>
            </a:r>
            <a:r>
              <a:rPr lang="en-US" altLang="zh-CN" sz="2400" b="1"/>
              <a:t>-4</a:t>
            </a:r>
            <a:r>
              <a:rPr lang="zh-CN" altLang="en-US" sz="2400" b="1" dirty="0"/>
              <a:t>的绝对值）；</a:t>
            </a:r>
          </a:p>
          <a:p>
            <a:pPr marL="0" indent="0" defTabSz="195580">
              <a:lnSpc>
                <a:spcPct val="90000"/>
              </a:lnSpc>
              <a:buClrTx/>
              <a:buNone/>
            </a:pPr>
            <a:r>
              <a:rPr lang="zh-CN" altLang="en-US" sz="2400" b="1" dirty="0"/>
              <a:t>     结论：</a:t>
            </a:r>
            <a:r>
              <a:rPr lang="zh-CN" altLang="en-US" sz="2400" b="1" dirty="0">
                <a:solidFill>
                  <a:srgbClr val="0000FF"/>
                </a:solidFill>
              </a:rPr>
              <a:t>对一个负数的补码求补，得到该负数的绝对值</a:t>
            </a:r>
            <a:r>
              <a:rPr lang="zh-CN" altLang="en-US" sz="2400" b="1" dirty="0"/>
              <a:t>。</a:t>
            </a:r>
            <a:endParaRPr lang="zh-CN" altLang="en-US" sz="2400" b="1"/>
          </a:p>
        </p:txBody>
      </p:sp>
      <p:sp>
        <p:nvSpPr>
          <p:cNvPr id="424963" name="矩形 424962"/>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424964" name="矩形 424963"/>
          <p:cNvSpPr/>
          <p:nvPr/>
        </p:nvSpPr>
        <p:spPr>
          <a:xfrm>
            <a:off x="611188" y="4679950"/>
            <a:ext cx="6527800" cy="457200"/>
          </a:xfrm>
          <a:prstGeom prst="rect">
            <a:avLst/>
          </a:prstGeom>
          <a:noFill/>
          <a:ln w="9525">
            <a:noFill/>
          </a:ln>
        </p:spPr>
        <p:txBody>
          <a:bodyPr wrap="none" anchor="ctr">
            <a:spAutoFit/>
          </a:bodyPr>
          <a:lstStyle/>
          <a:p>
            <a:pPr lvl="0"/>
            <a:r>
              <a:rPr lang="zh-CN" altLang="en-US" sz="2400" b="1" dirty="0">
                <a:latin typeface="Arial" panose="020B0604020202020204" pitchFamily="34" charset="0"/>
                <a:ea typeface="宋体" panose="02010600030101010101" pitchFamily="2" charset="-122"/>
              </a:rPr>
              <a:t>在实际编程中，常用</a:t>
            </a:r>
            <a:r>
              <a:rPr lang="en-US" altLang="zh-CN" sz="2400" b="1">
                <a:latin typeface="Arial" panose="020B0604020202020204" pitchFamily="34" charset="0"/>
                <a:ea typeface="宋体" panose="02010600030101010101" pitchFamily="2" charset="-122"/>
              </a:rPr>
              <a:t>NEG </a:t>
            </a:r>
            <a:r>
              <a:rPr lang="zh-CN" altLang="en-US" sz="2400" b="1" dirty="0">
                <a:latin typeface="Arial" panose="020B0604020202020204" pitchFamily="34" charset="0"/>
                <a:ea typeface="宋体" panose="02010600030101010101" pitchFamily="2" charset="-122"/>
              </a:rPr>
              <a:t>指令求负数的绝对值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标题 427009"/>
          <p:cNvSpPr>
            <a:spLocks noGrp="1"/>
          </p:cNvSpPr>
          <p:nvPr>
            <p:ph type="title"/>
          </p:nvPr>
        </p:nvSpPr>
        <p:spPr>
          <a:xfrm>
            <a:off x="323850" y="909638"/>
            <a:ext cx="2735263" cy="431800"/>
          </a:xfrm>
          <a:ln/>
        </p:spPr>
        <p:txBody>
          <a:bodyPr anchor="ctr"/>
          <a:lstStyle/>
          <a:p>
            <a:pPr algn="l"/>
            <a:r>
              <a:rPr lang="en-US" altLang="zh-CN" sz="2400" b="1" dirty="0">
                <a:solidFill>
                  <a:schemeClr val="tx1"/>
                </a:solidFill>
              </a:rPr>
              <a:t>5</a:t>
            </a:r>
            <a:r>
              <a:rPr lang="zh-CN" altLang="en-US" sz="2400" b="1" dirty="0">
                <a:solidFill>
                  <a:schemeClr val="tx1"/>
                </a:solidFill>
              </a:rPr>
              <a:t>）比较指令</a:t>
            </a:r>
            <a:r>
              <a:rPr lang="en-US" altLang="zh-CN" sz="2400" b="1" dirty="0">
                <a:solidFill>
                  <a:schemeClr val="tx1"/>
                </a:solidFill>
              </a:rPr>
              <a:t>CMP</a:t>
            </a:r>
            <a:endParaRPr lang="zh-CN" altLang="en-US" sz="2400" b="1" dirty="0">
              <a:solidFill>
                <a:schemeClr val="tx1"/>
              </a:solidFill>
            </a:endParaRPr>
          </a:p>
        </p:txBody>
      </p:sp>
      <p:sp>
        <p:nvSpPr>
          <p:cNvPr id="427011" name="文本占位符 427010"/>
          <p:cNvSpPr>
            <a:spLocks noGrp="1"/>
          </p:cNvSpPr>
          <p:nvPr>
            <p:ph type="body" idx="1"/>
          </p:nvPr>
        </p:nvSpPr>
        <p:spPr>
          <a:xfrm>
            <a:off x="395288" y="3716338"/>
            <a:ext cx="8458200" cy="1143000"/>
          </a:xfrm>
          <a:ln/>
        </p:spPr>
        <p:txBody>
          <a:bodyPr/>
          <a:lstStyle/>
          <a:p>
            <a:pPr marL="0" indent="0">
              <a:buClrTx/>
              <a:buNone/>
            </a:pPr>
            <a:r>
              <a:rPr lang="zh-CN" altLang="en-US" sz="2400" b="1" dirty="0"/>
              <a:t>功能：将目的操作数与源操作数内容相减，相减结果</a:t>
            </a:r>
            <a:r>
              <a:rPr lang="zh-CN" altLang="en-US" sz="2400" b="1" dirty="0">
                <a:solidFill>
                  <a:srgbClr val="0000FF"/>
                </a:solidFill>
              </a:rPr>
              <a:t>不回送</a:t>
            </a:r>
            <a:r>
              <a:rPr lang="zh-CN" altLang="en-US" sz="2400" b="1" dirty="0"/>
              <a:t>目的操作数，仅根据结果影响标志位，对标志位的影响与</a:t>
            </a:r>
            <a:r>
              <a:rPr lang="en-US" altLang="zh-CN" sz="2400" b="1"/>
              <a:t>SUB</a:t>
            </a:r>
            <a:r>
              <a:rPr lang="zh-CN" altLang="en-US" sz="2400" b="1" dirty="0"/>
              <a:t>相同</a:t>
            </a:r>
            <a:r>
              <a:rPr lang="zh-CN" altLang="en-US" sz="2400" dirty="0"/>
              <a:t> </a:t>
            </a:r>
          </a:p>
        </p:txBody>
      </p:sp>
      <p:sp>
        <p:nvSpPr>
          <p:cNvPr id="427012" name="流程图: 可选过程 427011"/>
          <p:cNvSpPr/>
          <p:nvPr/>
        </p:nvSpPr>
        <p:spPr>
          <a:xfrm>
            <a:off x="2124075" y="1628775"/>
            <a:ext cx="5761038" cy="1897063"/>
          </a:xfrm>
          <a:prstGeom prst="flowChartAlternateProcess">
            <a:avLst/>
          </a:prstGeom>
          <a:solidFill>
            <a:srgbClr val="FFFFFF"/>
          </a:solidFill>
          <a:ln w="12700">
            <a:noFill/>
          </a:ln>
          <a:effectLst>
            <a:prstShdw prst="shdw13" dist="53882" dir="13499999">
              <a:srgbClr val="808080"/>
            </a:prstShdw>
          </a:effectLst>
        </p:spPr>
        <p:txBody>
          <a:bodyPr/>
          <a:lstStyle/>
          <a:p>
            <a:pPr lvl="0" defTabSz="0">
              <a:spcBef>
                <a:spcPct val="50000"/>
              </a:spcBef>
              <a:tabLst>
                <a:tab pos="2289175" algn="l"/>
              </a:tabLst>
            </a:pPr>
            <a:r>
              <a:rPr lang="en-US" altLang="zh-CN" sz="2400" b="1" dirty="0">
                <a:latin typeface="宋体" panose="02010600030101010101" pitchFamily="2" charset="-122"/>
                <a:ea typeface="宋体" panose="02010600030101010101" pitchFamily="2" charset="-122"/>
              </a:rPr>
              <a:t>CMP </a:t>
            </a:r>
            <a:r>
              <a:rPr lang="en-US" altLang="zh-CN" sz="2400" b="1" dirty="0" err="1">
                <a:latin typeface="宋体" panose="02010600030101010101" pitchFamily="2" charset="-122"/>
                <a:ea typeface="宋体" panose="02010600030101010101" pitchFamily="2" charset="-122"/>
              </a:rPr>
              <a:t>reg,imm</a:t>
            </a:r>
            <a:r>
              <a:rPr lang="en-US" altLang="zh-CN" sz="2400" b="1" dirty="0">
                <a:latin typeface="宋体" panose="02010600030101010101" pitchFamily="2" charset="-122"/>
                <a:ea typeface="宋体" panose="02010600030101010101" pitchFamily="2" charset="-122"/>
              </a:rPr>
              <a:t>/</a:t>
            </a:r>
            <a:r>
              <a:rPr lang="en-US" altLang="zh-CN" sz="2400" b="1" dirty="0" err="1">
                <a:latin typeface="宋体" panose="02010600030101010101" pitchFamily="2" charset="-122"/>
                <a:ea typeface="宋体" panose="02010600030101010101" pitchFamily="2" charset="-122"/>
              </a:rPr>
              <a:t>reg</a:t>
            </a:r>
            <a:r>
              <a:rPr lang="en-US" altLang="zh-CN" sz="2400" b="1" dirty="0">
                <a:latin typeface="宋体" panose="02010600030101010101" pitchFamily="2" charset="-122"/>
                <a:ea typeface="宋体" panose="02010600030101010101" pitchFamily="2" charset="-122"/>
              </a:rPr>
              <a:t>/</a:t>
            </a:r>
            <a:r>
              <a:rPr lang="en-US" altLang="zh-CN" sz="2400" b="1" dirty="0" err="1">
                <a:latin typeface="宋体" panose="02010600030101010101" pitchFamily="2" charset="-122"/>
                <a:ea typeface="宋体" panose="02010600030101010101" pitchFamily="2" charset="-122"/>
              </a:rPr>
              <a:t>mem</a:t>
            </a:r>
            <a:endParaRPr lang="en-US" altLang="zh-CN" sz="2400" b="1" dirty="0">
              <a:latin typeface="宋体" panose="02010600030101010101" pitchFamily="2" charset="-122"/>
              <a:ea typeface="宋体" panose="02010600030101010101" pitchFamily="2" charset="-122"/>
            </a:endParaRPr>
          </a:p>
          <a:p>
            <a:pPr lvl="0" algn="just" defTabSz="0">
              <a:lnSpc>
                <a:spcPct val="50000"/>
              </a:lnSpc>
              <a:spcBef>
                <a:spcPct val="50000"/>
              </a:spcBef>
              <a:tabLst>
                <a:tab pos="2289175" algn="l"/>
              </a:tabLst>
            </a:pPr>
            <a:r>
              <a:rPr lang="en-US" altLang="zh-CN" sz="2400" b="1" dirty="0">
                <a:solidFill>
                  <a:schemeClr val="accent2"/>
                </a:solidFill>
                <a:latin typeface="宋体" panose="02010600030101010101" pitchFamily="2" charset="-122"/>
                <a:ea typeface="宋体" panose="02010600030101010101" pitchFamily="2" charset="-122"/>
              </a:rPr>
              <a:t>	</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err="1">
                <a:solidFill>
                  <a:srgbClr val="0000FF"/>
                </a:solidFill>
                <a:latin typeface="宋体" panose="02010600030101010101" pitchFamily="2" charset="-122"/>
                <a:ea typeface="宋体" panose="02010600030101010101" pitchFamily="2" charset="-122"/>
              </a:rPr>
              <a:t>reg</a:t>
            </a:r>
            <a:r>
              <a:rPr lang="en-US" altLang="zh-CN" sz="2400" b="1" dirty="0">
                <a:solidFill>
                  <a:srgbClr val="0000FF"/>
                </a:solidFill>
                <a:latin typeface="宋体" panose="02010600030101010101" pitchFamily="2" charset="-122"/>
                <a:ea typeface="宋体" panose="02010600030101010101" pitchFamily="2" charset="-122"/>
              </a:rPr>
              <a:t> -</a:t>
            </a:r>
            <a:r>
              <a:rPr lang="en-US" altLang="zh-CN" sz="2400" b="1" dirty="0" err="1">
                <a:solidFill>
                  <a:srgbClr val="0000FF"/>
                </a:solidFill>
                <a:latin typeface="宋体" panose="02010600030101010101" pitchFamily="2" charset="-122"/>
                <a:ea typeface="宋体" panose="02010600030101010101" pitchFamily="2" charset="-122"/>
              </a:rPr>
              <a:t>imm</a:t>
            </a:r>
            <a:r>
              <a:rPr lang="en-US" altLang="zh-CN" sz="2400" b="1" dirty="0">
                <a:solidFill>
                  <a:srgbClr val="0000FF"/>
                </a:solidFill>
                <a:latin typeface="宋体" panose="02010600030101010101" pitchFamily="2" charset="-122"/>
                <a:ea typeface="宋体" panose="02010600030101010101" pitchFamily="2" charset="-122"/>
              </a:rPr>
              <a:t>/</a:t>
            </a:r>
            <a:r>
              <a:rPr lang="en-US" altLang="zh-CN" sz="2400" b="1" dirty="0" err="1">
                <a:solidFill>
                  <a:srgbClr val="0000FF"/>
                </a:solidFill>
                <a:latin typeface="宋体" panose="02010600030101010101" pitchFamily="2" charset="-122"/>
                <a:ea typeface="宋体" panose="02010600030101010101" pitchFamily="2" charset="-122"/>
              </a:rPr>
              <a:t>reg</a:t>
            </a:r>
            <a:r>
              <a:rPr lang="en-US" altLang="zh-CN" sz="2400" b="1" dirty="0">
                <a:solidFill>
                  <a:srgbClr val="0000FF"/>
                </a:solidFill>
                <a:latin typeface="宋体" panose="02010600030101010101" pitchFamily="2" charset="-122"/>
                <a:ea typeface="宋体" panose="02010600030101010101" pitchFamily="2" charset="-122"/>
              </a:rPr>
              <a:t>/</a:t>
            </a:r>
            <a:r>
              <a:rPr lang="en-US" altLang="zh-CN" sz="2400" b="1" dirty="0" err="1">
                <a:solidFill>
                  <a:srgbClr val="0000FF"/>
                </a:solidFill>
                <a:latin typeface="宋体" panose="02010600030101010101" pitchFamily="2" charset="-122"/>
                <a:ea typeface="宋体" panose="02010600030101010101" pitchFamily="2" charset="-122"/>
              </a:rPr>
              <a:t>mem</a:t>
            </a:r>
            <a:endParaRPr lang="en-US" altLang="zh-CN" sz="2400" b="1" dirty="0">
              <a:solidFill>
                <a:srgbClr val="0000FF"/>
              </a:solidFill>
              <a:latin typeface="宋体" panose="02010600030101010101" pitchFamily="2" charset="-122"/>
              <a:ea typeface="宋体" panose="02010600030101010101" pitchFamily="2" charset="-122"/>
            </a:endParaRPr>
          </a:p>
          <a:p>
            <a:pPr lvl="0" defTabSz="0">
              <a:spcBef>
                <a:spcPct val="50000"/>
              </a:spcBef>
              <a:tabLst>
                <a:tab pos="2289175" algn="l"/>
              </a:tabLst>
            </a:pPr>
            <a:r>
              <a:rPr lang="en-US" altLang="zh-CN" sz="2400" b="1" dirty="0">
                <a:latin typeface="宋体" panose="02010600030101010101" pitchFamily="2" charset="-122"/>
                <a:ea typeface="宋体" panose="02010600030101010101" pitchFamily="2" charset="-122"/>
              </a:rPr>
              <a:t>CMP </a:t>
            </a:r>
            <a:r>
              <a:rPr lang="en-US" altLang="zh-CN" sz="2400" b="1" dirty="0" err="1">
                <a:latin typeface="宋体" panose="02010600030101010101" pitchFamily="2" charset="-122"/>
                <a:ea typeface="宋体" panose="02010600030101010101" pitchFamily="2" charset="-122"/>
              </a:rPr>
              <a:t>mem,imm</a:t>
            </a:r>
            <a:r>
              <a:rPr lang="en-US" altLang="zh-CN" sz="2400" b="1" dirty="0">
                <a:latin typeface="宋体" panose="02010600030101010101" pitchFamily="2" charset="-122"/>
                <a:ea typeface="宋体" panose="02010600030101010101" pitchFamily="2" charset="-122"/>
              </a:rPr>
              <a:t>/</a:t>
            </a:r>
            <a:r>
              <a:rPr lang="en-US" altLang="zh-CN" sz="2400" b="1" dirty="0" err="1">
                <a:latin typeface="宋体" panose="02010600030101010101" pitchFamily="2" charset="-122"/>
                <a:ea typeface="宋体" panose="02010600030101010101" pitchFamily="2" charset="-122"/>
              </a:rPr>
              <a:t>reg</a:t>
            </a:r>
            <a:endParaRPr lang="en-US" altLang="zh-CN" sz="2400" b="1" dirty="0">
              <a:latin typeface="宋体" panose="02010600030101010101" pitchFamily="2" charset="-122"/>
              <a:ea typeface="宋体" panose="02010600030101010101" pitchFamily="2" charset="-122"/>
            </a:endParaRPr>
          </a:p>
          <a:p>
            <a:pPr lvl="0" algn="just" defTabSz="0">
              <a:lnSpc>
                <a:spcPct val="50000"/>
              </a:lnSpc>
              <a:spcBef>
                <a:spcPct val="50000"/>
              </a:spcBef>
              <a:tabLst>
                <a:tab pos="2289175" algn="l"/>
              </a:tabLst>
            </a:pPr>
            <a:r>
              <a:rPr lang="en-US" altLang="zh-CN" sz="2400" b="1" dirty="0">
                <a:solidFill>
                  <a:schemeClr val="accent2"/>
                </a:solidFill>
                <a:latin typeface="宋体" panose="02010600030101010101" pitchFamily="2" charset="-122"/>
                <a:ea typeface="宋体" panose="02010600030101010101" pitchFamily="2" charset="-122"/>
              </a:rPr>
              <a:t>	</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err="1">
                <a:solidFill>
                  <a:srgbClr val="0000FF"/>
                </a:solidFill>
                <a:latin typeface="宋体" panose="02010600030101010101" pitchFamily="2" charset="-122"/>
                <a:ea typeface="宋体" panose="02010600030101010101" pitchFamily="2" charset="-122"/>
              </a:rPr>
              <a:t>mem</a:t>
            </a:r>
            <a:r>
              <a:rPr lang="en-US" altLang="zh-CN" sz="2400" b="1" dirty="0">
                <a:solidFill>
                  <a:srgbClr val="0000FF"/>
                </a:solidFill>
                <a:latin typeface="宋体" panose="02010600030101010101" pitchFamily="2" charset="-122"/>
                <a:ea typeface="宋体" panose="02010600030101010101" pitchFamily="2" charset="-122"/>
              </a:rPr>
              <a:t> -</a:t>
            </a:r>
            <a:r>
              <a:rPr lang="en-US" altLang="zh-CN" sz="2400" b="1" dirty="0" err="1">
                <a:solidFill>
                  <a:srgbClr val="0000FF"/>
                </a:solidFill>
                <a:latin typeface="宋体" panose="02010600030101010101" pitchFamily="2" charset="-122"/>
                <a:ea typeface="宋体" panose="02010600030101010101" pitchFamily="2" charset="-122"/>
              </a:rPr>
              <a:t>imm</a:t>
            </a:r>
            <a:r>
              <a:rPr lang="en-US" altLang="zh-CN" sz="2400" b="1" dirty="0">
                <a:solidFill>
                  <a:srgbClr val="0000FF"/>
                </a:solidFill>
                <a:latin typeface="宋体" panose="02010600030101010101" pitchFamily="2" charset="-122"/>
                <a:ea typeface="宋体" panose="02010600030101010101" pitchFamily="2" charset="-122"/>
              </a:rPr>
              <a:t>/</a:t>
            </a:r>
            <a:r>
              <a:rPr lang="en-US" altLang="zh-CN" sz="2400" b="1" dirty="0" err="1">
                <a:solidFill>
                  <a:srgbClr val="0000FF"/>
                </a:solidFill>
                <a:latin typeface="宋体" panose="02010600030101010101" pitchFamily="2" charset="-122"/>
                <a:ea typeface="宋体" panose="02010600030101010101" pitchFamily="2" charset="-122"/>
              </a:rPr>
              <a:t>reg</a:t>
            </a:r>
            <a:endParaRPr lang="en-US" altLang="zh-CN" sz="2400" b="1" dirty="0">
              <a:solidFill>
                <a:srgbClr val="0000FF"/>
              </a:solidFill>
              <a:latin typeface="宋体" panose="02010600030101010101" pitchFamily="2" charset="-122"/>
              <a:ea typeface="宋体" panose="02010600030101010101" pitchFamily="2" charset="-122"/>
            </a:endParaRPr>
          </a:p>
        </p:txBody>
      </p:sp>
      <p:sp>
        <p:nvSpPr>
          <p:cNvPr id="427014" name="文本框 427013"/>
          <p:cNvSpPr txBox="1"/>
          <p:nvPr/>
        </p:nvSpPr>
        <p:spPr>
          <a:xfrm>
            <a:off x="395288" y="2060575"/>
            <a:ext cx="1152525" cy="466725"/>
          </a:xfrm>
          <a:prstGeom prst="rect">
            <a:avLst/>
          </a:prstGeom>
          <a:noFill/>
          <a:ln w="9525" cap="flat" cmpd="sng">
            <a:solidFill>
              <a:srgbClr val="000000"/>
            </a:solidFill>
            <a:prstDash val="solid"/>
            <a:miter/>
            <a:headEnd type="none" w="med" len="med"/>
            <a:tailEnd type="none" w="med" len="med"/>
          </a:ln>
          <a:effectLst>
            <a:outerShdw dist="35921" dir="2699999" algn="ctr" rotWithShape="0">
              <a:srgbClr val="808080"/>
            </a:outerShdw>
          </a:effectLst>
        </p:spPr>
        <p:txBody>
          <a:bodyPr>
            <a:spAutoFit/>
          </a:bodyPr>
          <a:lstStyle/>
          <a:p>
            <a:pPr lvl="0"/>
            <a:r>
              <a:rPr lang="zh-CN" altLang="en-US" sz="2400" b="1" dirty="0">
                <a:solidFill>
                  <a:srgbClr val="FF00FF"/>
                </a:solidFill>
                <a:latin typeface="Arial" panose="020B0604020202020204" pitchFamily="34" charset="0"/>
                <a:ea typeface="宋体" panose="02010600030101010101" pitchFamily="2" charset="-122"/>
              </a:rPr>
              <a:t>格式</a:t>
            </a:r>
            <a:r>
              <a:rPr lang="en-US" altLang="zh-CN" sz="2400" b="1">
                <a:solidFill>
                  <a:srgbClr val="FF00FF"/>
                </a:solidFill>
                <a:latin typeface="Arial" panose="020B0604020202020204" pitchFamily="34" charset="0"/>
                <a:ea typeface="宋体" panose="02010600030101010101" pitchFamily="2" charset="-122"/>
              </a:rPr>
              <a:t>:</a:t>
            </a:r>
          </a:p>
        </p:txBody>
      </p:sp>
      <p:sp>
        <p:nvSpPr>
          <p:cNvPr id="427015" name="矩形 42701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427016" name="矩形 427015"/>
          <p:cNvSpPr/>
          <p:nvPr/>
        </p:nvSpPr>
        <p:spPr>
          <a:xfrm>
            <a:off x="179388" y="5013325"/>
            <a:ext cx="8713787" cy="1187450"/>
          </a:xfrm>
          <a:prstGeom prst="rect">
            <a:avLst/>
          </a:prstGeom>
          <a:noFill/>
          <a:ln w="9525">
            <a:noFill/>
          </a:ln>
        </p:spPr>
        <p:txBody>
          <a:bodyPr anchor="ctr">
            <a:spAutoFit/>
          </a:bodyPr>
          <a:lstStyle/>
          <a:p>
            <a:pPr lvl="0"/>
            <a:r>
              <a:rPr lang="zh-CN" altLang="en-US" sz="2400" b="1" dirty="0">
                <a:latin typeface="Arial" panose="020B0604020202020204" pitchFamily="34" charset="0"/>
                <a:ea typeface="宋体" panose="02010600030101010101" pitchFamily="2" charset="-122"/>
              </a:rPr>
              <a:t>设指令</a:t>
            </a:r>
            <a:r>
              <a:rPr lang="en-US" altLang="zh-CN" sz="2400" b="1">
                <a:latin typeface="Arial" panose="020B0604020202020204" pitchFamily="34" charset="0"/>
                <a:ea typeface="宋体" panose="02010600030101010101" pitchFamily="2" charset="-122"/>
              </a:rPr>
              <a:t>CMP  AL,CL</a:t>
            </a:r>
            <a:r>
              <a:rPr lang="zh-CN" altLang="en-US" sz="2400" b="1" dirty="0">
                <a:latin typeface="Arial" panose="020B0604020202020204" pitchFamily="34" charset="0"/>
                <a:ea typeface="宋体" panose="02010600030101010101" pitchFamily="2" charset="-122"/>
              </a:rPr>
              <a:t>执行之前， </a:t>
            </a:r>
            <a:r>
              <a:rPr lang="en-US" altLang="zh-CN" sz="2400" b="1">
                <a:latin typeface="Arial" panose="020B0604020202020204" pitchFamily="34" charset="0"/>
                <a:ea typeface="宋体" panose="02010600030101010101" pitchFamily="2" charset="-122"/>
              </a:rPr>
              <a:t>AL=68H</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CL=9AH</a:t>
            </a:r>
            <a:r>
              <a:rPr lang="zh-CN" altLang="en-US" sz="2400" b="1" dirty="0">
                <a:latin typeface="Arial" panose="020B0604020202020204" pitchFamily="34" charset="0"/>
                <a:ea typeface="宋体" panose="02010600030101010101" pitchFamily="2" charset="-122"/>
              </a:rPr>
              <a:t>，该指令执行之后，</a:t>
            </a:r>
            <a:r>
              <a:rPr lang="en-US" altLang="zh-CN" sz="2400" b="1">
                <a:latin typeface="Arial" panose="020B0604020202020204" pitchFamily="34" charset="0"/>
                <a:ea typeface="宋体" panose="02010600030101010101" pitchFamily="2" charset="-122"/>
              </a:rPr>
              <a:t>AL=68H</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CL=9AH</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CF=1</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ZF=0</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SF=1</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AF=1</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OF=1</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PF=0</a:t>
            </a:r>
            <a:r>
              <a:rPr lang="en-US" altLang="zh-CN" sz="240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 </a:t>
            </a:r>
          </a:p>
        </p:txBody>
      </p:sp>
    </p:spTree>
  </p:cSld>
  <p:clrMapOvr>
    <a:masterClrMapping/>
  </p:clrMapOvr>
  <p:transition spd="med">
    <p:random/>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9058" name="标题 429057"/>
          <p:cNvSpPr>
            <a:spLocks noGrp="1"/>
          </p:cNvSpPr>
          <p:nvPr>
            <p:ph type="title"/>
          </p:nvPr>
        </p:nvSpPr>
        <p:spPr>
          <a:xfrm>
            <a:off x="323850" y="898525"/>
            <a:ext cx="8135938" cy="585788"/>
          </a:xfrm>
          <a:prstGeom prst="flowChartAlternateProcess">
            <a:avLst/>
          </a:prstGeom>
          <a:ln w="28575">
            <a:solidFill>
              <a:schemeClr val="accent1"/>
            </a:solidFill>
            <a:miter/>
          </a:ln>
        </p:spPr>
        <p:txBody>
          <a:bodyPr lIns="0" tIns="0" rIns="0" bIns="0" anchor="ctr"/>
          <a:lstStyle/>
          <a:p>
            <a:pPr algn="l">
              <a:lnSpc>
                <a:spcPct val="90000"/>
              </a:lnSpc>
            </a:pPr>
            <a:r>
              <a:rPr lang="zh-CN" altLang="en-US" sz="2400" b="1" dirty="0">
                <a:solidFill>
                  <a:schemeClr val="tx1"/>
                </a:solidFill>
              </a:rPr>
              <a:t>例：比较</a:t>
            </a:r>
            <a:r>
              <a:rPr lang="en-US" altLang="zh-CN" sz="2400" b="1">
                <a:solidFill>
                  <a:schemeClr val="tx1"/>
                </a:solidFill>
              </a:rPr>
              <a:t>AL</a:t>
            </a:r>
            <a:r>
              <a:rPr lang="zh-CN" altLang="en-US" sz="2400" b="1">
                <a:solidFill>
                  <a:schemeClr val="tx1"/>
                </a:solidFill>
              </a:rPr>
              <a:t>与</a:t>
            </a:r>
            <a:r>
              <a:rPr lang="en-US" altLang="zh-CN" sz="2400" b="1">
                <a:solidFill>
                  <a:schemeClr val="tx1"/>
                </a:solidFill>
              </a:rPr>
              <a:t>100</a:t>
            </a:r>
            <a:r>
              <a:rPr lang="zh-CN" altLang="en-US" sz="2400" b="1" dirty="0">
                <a:solidFill>
                  <a:schemeClr val="tx1"/>
                </a:solidFill>
              </a:rPr>
              <a:t>的大小，若 </a:t>
            </a:r>
            <a:r>
              <a:rPr lang="en-US" altLang="zh-CN" sz="2400" b="1"/>
              <a:t>AL&lt;100</a:t>
            </a:r>
            <a:r>
              <a:rPr lang="zh-CN" altLang="en-US" sz="2400" b="1" dirty="0"/>
              <a:t>，则跳转到</a:t>
            </a:r>
            <a:r>
              <a:rPr lang="en-US" altLang="zh-CN" sz="2400" b="1"/>
              <a:t>BE</a:t>
            </a:r>
            <a:r>
              <a:rPr lang="zh-CN" altLang="en-US" sz="2400" b="1" dirty="0"/>
              <a:t>处执行</a:t>
            </a:r>
          </a:p>
        </p:txBody>
      </p:sp>
      <p:sp>
        <p:nvSpPr>
          <p:cNvPr id="429059" name="文本占位符 429058"/>
          <p:cNvSpPr>
            <a:spLocks noGrp="1"/>
          </p:cNvSpPr>
          <p:nvPr>
            <p:ph type="body" idx="1"/>
          </p:nvPr>
        </p:nvSpPr>
        <p:spPr>
          <a:xfrm>
            <a:off x="539750" y="1916113"/>
            <a:ext cx="7696200" cy="2305050"/>
          </a:xfrm>
          <a:solidFill>
            <a:schemeClr val="bg1"/>
          </a:solidFill>
          <a:ln/>
        </p:spPr>
        <p:txBody>
          <a:bodyPr/>
          <a:lstStyle/>
          <a:p>
            <a:pPr marL="0" indent="0" defTabSz="0">
              <a:buClrTx/>
              <a:buNone/>
              <a:tabLst>
                <a:tab pos="1520825" algn="l"/>
                <a:tab pos="4578350" algn="l"/>
              </a:tabLst>
            </a:pPr>
            <a:r>
              <a:rPr lang="zh-CN" altLang="en-US" sz="2400" b="1"/>
              <a:t>       </a:t>
            </a:r>
            <a:r>
              <a:rPr lang="en-US" altLang="zh-CN" sz="2400" b="1">
                <a:solidFill>
                  <a:srgbClr val="0000FF"/>
                </a:solidFill>
              </a:rPr>
              <a:t>CMP</a:t>
            </a:r>
            <a:r>
              <a:rPr lang="en-US" altLang="zh-CN" sz="2400" b="1"/>
              <a:t> AL,100</a:t>
            </a:r>
            <a:r>
              <a:rPr lang="zh-CN" altLang="en-US" sz="2400" b="1"/>
              <a:t>　  ；</a:t>
            </a:r>
            <a:r>
              <a:rPr lang="en-US" altLang="zh-CN" sz="2400" b="1"/>
              <a:t>AL-100</a:t>
            </a:r>
          </a:p>
          <a:p>
            <a:pPr marL="0" indent="0" defTabSz="0">
              <a:buClrTx/>
              <a:buNone/>
              <a:tabLst>
                <a:tab pos="1520825" algn="l"/>
                <a:tab pos="4578350" algn="l"/>
              </a:tabLst>
            </a:pPr>
            <a:r>
              <a:rPr lang="en-US" altLang="zh-CN" sz="2400" b="1"/>
              <a:t>       JB BE        </a:t>
            </a:r>
            <a:r>
              <a:rPr lang="zh-CN" altLang="en-US" sz="2400" b="1"/>
              <a:t>　　 ；</a:t>
            </a:r>
            <a:r>
              <a:rPr lang="en-US" altLang="zh-CN" sz="2400" b="1"/>
              <a:t>AL&lt;100</a:t>
            </a:r>
            <a:r>
              <a:rPr lang="zh-CN" altLang="en-US" sz="2400" b="1"/>
              <a:t>，</a:t>
            </a:r>
            <a:r>
              <a:rPr lang="zh-CN" altLang="en-US" sz="2400" b="1" dirty="0"/>
              <a:t>跳转到</a:t>
            </a:r>
            <a:r>
              <a:rPr lang="en-US" altLang="zh-CN" sz="2400" b="1"/>
              <a:t>BE</a:t>
            </a:r>
            <a:r>
              <a:rPr lang="zh-CN" altLang="en-US" sz="2400" b="1" dirty="0"/>
              <a:t>处执行</a:t>
            </a:r>
          </a:p>
          <a:p>
            <a:pPr marL="0" indent="0" defTabSz="0">
              <a:buClrTx/>
              <a:buNone/>
              <a:tabLst>
                <a:tab pos="1520825" algn="l"/>
                <a:tab pos="4578350" algn="l"/>
              </a:tabLst>
            </a:pPr>
            <a:r>
              <a:rPr lang="zh-CN" altLang="en-US" sz="2400" b="1"/>
              <a:t>       </a:t>
            </a:r>
            <a:r>
              <a:rPr lang="en-US" altLang="zh-CN" sz="2400" b="1"/>
              <a:t>SUB AL,100</a:t>
            </a:r>
            <a:r>
              <a:rPr lang="zh-CN" altLang="en-US" sz="2400" b="1"/>
              <a:t>　</a:t>
            </a:r>
            <a:r>
              <a:rPr lang="zh-CN" altLang="en-US" sz="2400" b="1" dirty="0"/>
              <a:t> </a:t>
            </a:r>
            <a:r>
              <a:rPr lang="zh-CN" altLang="en-US" sz="2400" b="1"/>
              <a:t>  ；</a:t>
            </a:r>
            <a:r>
              <a:rPr lang="en-US" altLang="zh-CN" sz="2400" b="1"/>
              <a:t>AL≥100</a:t>
            </a:r>
            <a:r>
              <a:rPr lang="zh-CN" altLang="en-US" sz="2400" b="1"/>
              <a:t>，</a:t>
            </a:r>
            <a:r>
              <a:rPr lang="en-US" altLang="zh-CN" sz="2400" b="1"/>
              <a:t>AL←AL-100</a:t>
            </a:r>
          </a:p>
          <a:p>
            <a:pPr marL="0" indent="0" defTabSz="0">
              <a:buClrTx/>
              <a:buNone/>
              <a:tabLst>
                <a:tab pos="1520825" algn="l"/>
                <a:tab pos="4578350" algn="l"/>
              </a:tabLst>
            </a:pPr>
            <a:r>
              <a:rPr lang="en-US" altLang="zh-CN" sz="2400" b="1"/>
              <a:t>       INC AH</a:t>
            </a:r>
            <a:r>
              <a:rPr lang="zh-CN" altLang="en-US" sz="2400" b="1"/>
              <a:t>　　　   ；</a:t>
            </a:r>
            <a:r>
              <a:rPr lang="en-US" altLang="zh-CN" sz="2400" b="1"/>
              <a:t>AH←AH+1</a:t>
            </a:r>
          </a:p>
          <a:p>
            <a:pPr marL="0" indent="0" defTabSz="0">
              <a:buClrTx/>
              <a:buNone/>
              <a:tabLst>
                <a:tab pos="1520825" algn="l"/>
                <a:tab pos="4578350" algn="l"/>
              </a:tabLst>
            </a:pPr>
            <a:r>
              <a:rPr lang="en-US" altLang="zh-CN" sz="2400" b="1"/>
              <a:t>BE:	...</a:t>
            </a:r>
          </a:p>
        </p:txBody>
      </p:sp>
      <p:sp>
        <p:nvSpPr>
          <p:cNvPr id="429060" name="圆角矩形 429059"/>
          <p:cNvSpPr/>
          <p:nvPr/>
        </p:nvSpPr>
        <p:spPr>
          <a:xfrm>
            <a:off x="990600" y="4678363"/>
            <a:ext cx="6934200" cy="838200"/>
          </a:xfrm>
          <a:prstGeom prst="roundRect">
            <a:avLst>
              <a:gd name="adj" fmla="val 16667"/>
            </a:avLst>
          </a:prstGeom>
          <a:solidFill>
            <a:srgbClr val="FFFFFF"/>
          </a:solidFill>
          <a:ln w="9525" cap="flat" cmpd="sng">
            <a:solidFill>
              <a:schemeClr val="accent2"/>
            </a:solidFill>
            <a:prstDash val="solid"/>
            <a:headEnd type="none" w="med" len="med"/>
            <a:tailEnd type="none" w="med" len="med"/>
          </a:ln>
        </p:spPr>
        <p:txBody>
          <a:bodyPr anchor="ctr"/>
          <a:lstStyle/>
          <a:p>
            <a:pPr lvl="0" algn="just">
              <a:buClrTx/>
              <a:buBlip>
                <a:blip r:embed="rId3"/>
              </a:buBlip>
            </a:pPr>
            <a:r>
              <a:rPr lang="zh-CN" altLang="en-US" sz="2400" b="1" dirty="0">
                <a:latin typeface="Arial" panose="020B0604020202020204" pitchFamily="34" charset="0"/>
                <a:ea typeface="宋体" panose="02010600030101010101" pitchFamily="2" charset="-122"/>
              </a:rPr>
              <a:t> 执行比较指令之后，可以根据有关标志位判断两个数是否相等、大小关系等</a:t>
            </a:r>
          </a:p>
        </p:txBody>
      </p:sp>
      <p:sp>
        <p:nvSpPr>
          <p:cNvPr id="429061" name="矩形 429060"/>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iterate type="wd">
                                    <p:tmPct val="100000"/>
                                  </p:iterate>
                                  <p:childTnLst>
                                    <p:set>
                                      <p:cBhvr>
                                        <p:cTn id="6" dur="1" fill="hold">
                                          <p:stCondLst>
                                            <p:cond delay="0"/>
                                          </p:stCondLst>
                                        </p:cTn>
                                        <p:tgtEl>
                                          <p:spTgt spid="429060"/>
                                        </p:tgtEl>
                                        <p:attrNameLst>
                                          <p:attrName>style.visibility</p:attrName>
                                        </p:attrNameLst>
                                      </p:cBhvr>
                                      <p:to>
                                        <p:strVal val="visible"/>
                                      </p:to>
                                    </p:set>
                                    <p:anim calcmode="lin" valueType="num">
                                      <p:cBhvr>
                                        <p:cTn id="7" dur="300" fill="hold"/>
                                        <p:tgtEl>
                                          <p:spTgt spid="429060"/>
                                        </p:tgtEl>
                                        <p:attrNameLst>
                                          <p:attrName>ppt_x</p:attrName>
                                        </p:attrNameLst>
                                      </p:cBhvr>
                                      <p:tavLst>
                                        <p:tav tm="0">
                                          <p:val>
                                            <p:strVal val="#ppt_x-#ppt_w/2"/>
                                          </p:val>
                                        </p:tav>
                                        <p:tav tm="100000">
                                          <p:val>
                                            <p:strVal val="#ppt_x"/>
                                          </p:val>
                                        </p:tav>
                                      </p:tavLst>
                                    </p:anim>
                                    <p:anim calcmode="lin" valueType="num">
                                      <p:cBhvr>
                                        <p:cTn id="8" dur="300" fill="hold"/>
                                        <p:tgtEl>
                                          <p:spTgt spid="429060"/>
                                        </p:tgtEl>
                                        <p:attrNameLst>
                                          <p:attrName>ppt_y</p:attrName>
                                        </p:attrNameLst>
                                      </p:cBhvr>
                                      <p:tavLst>
                                        <p:tav tm="0">
                                          <p:val>
                                            <p:strVal val="#ppt_y"/>
                                          </p:val>
                                        </p:tav>
                                        <p:tav tm="100000">
                                          <p:val>
                                            <p:strVal val="#ppt_y"/>
                                          </p:val>
                                        </p:tav>
                                      </p:tavLst>
                                    </p:anim>
                                    <p:anim calcmode="lin" valueType="num">
                                      <p:cBhvr>
                                        <p:cTn id="9" dur="300" fill="hold"/>
                                        <p:tgtEl>
                                          <p:spTgt spid="429060"/>
                                        </p:tgtEl>
                                        <p:attrNameLst>
                                          <p:attrName>ppt_w</p:attrName>
                                        </p:attrNameLst>
                                      </p:cBhvr>
                                      <p:tavLst>
                                        <p:tav tm="0">
                                          <p:val>
                                            <p:fltVal val="0"/>
                                          </p:val>
                                        </p:tav>
                                        <p:tav tm="100000">
                                          <p:val>
                                            <p:strVal val="#ppt_w"/>
                                          </p:val>
                                        </p:tav>
                                      </p:tavLst>
                                    </p:anim>
                                    <p:anim calcmode="lin" valueType="num">
                                      <p:cBhvr>
                                        <p:cTn id="10" dur="300" fill="hold"/>
                                        <p:tgtEl>
                                          <p:spTgt spid="4290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60"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标题 431105"/>
          <p:cNvSpPr>
            <a:spLocks noGrp="1"/>
          </p:cNvSpPr>
          <p:nvPr>
            <p:ph type="title"/>
          </p:nvPr>
        </p:nvSpPr>
        <p:spPr>
          <a:xfrm>
            <a:off x="468313" y="836613"/>
            <a:ext cx="3581400" cy="496887"/>
          </a:xfrm>
          <a:solidFill>
            <a:schemeClr val="bg1">
              <a:alpha val="100000"/>
            </a:schemeClr>
          </a:solidFill>
          <a:ln>
            <a:solidFill>
              <a:schemeClr val="accent2">
                <a:alpha val="100000"/>
              </a:schemeClr>
            </a:solidFill>
            <a:miter lim="800000"/>
          </a:ln>
        </p:spPr>
        <p:txBody>
          <a:bodyPr vert="horz" wrap="square" lIns="91440" tIns="45720" rIns="91440" bIns="45720" anchor="t"/>
          <a:lstStyle/>
          <a:p>
            <a:pPr marL="342900" indent="-342900" algn="l">
              <a:spcBef>
                <a:spcPct val="20000"/>
              </a:spcBef>
              <a:buClrTx/>
            </a:pPr>
            <a:r>
              <a:rPr lang="en-US" altLang="zh-CN" sz="2400" b="1" dirty="0">
                <a:solidFill>
                  <a:schemeClr val="tx1"/>
                </a:solidFill>
                <a:latin typeface="宋体" panose="02010600030101010101" pitchFamily="2" charset="-122"/>
              </a:rPr>
              <a:t>3</a:t>
            </a:r>
            <a:r>
              <a:rPr lang="zh-CN" altLang="en-US" sz="2400" b="1" dirty="0">
                <a:solidFill>
                  <a:schemeClr val="tx1"/>
                </a:solidFill>
                <a:latin typeface="宋体" panose="02010600030101010101" pitchFamily="2" charset="-122"/>
              </a:rPr>
              <a:t>、乘法指令</a:t>
            </a:r>
            <a:endParaRPr lang="zh-CN" altLang="zh-CN" sz="2400" b="1" dirty="0">
              <a:solidFill>
                <a:schemeClr val="tx1"/>
              </a:solidFill>
              <a:latin typeface="宋体" panose="02010600030101010101" pitchFamily="2" charset="-122"/>
            </a:endParaRPr>
          </a:p>
        </p:txBody>
      </p:sp>
      <p:sp>
        <p:nvSpPr>
          <p:cNvPr id="431107" name="文本占位符 431106"/>
          <p:cNvSpPr>
            <a:spLocks noGrp="1"/>
          </p:cNvSpPr>
          <p:nvPr>
            <p:ph type="body" sz="half" idx="1"/>
          </p:nvPr>
        </p:nvSpPr>
        <p:spPr>
          <a:xfrm>
            <a:off x="457200" y="1412875"/>
            <a:ext cx="4010025" cy="2824163"/>
          </a:xfrm>
          <a:solidFill>
            <a:schemeClr val="bg1"/>
          </a:solidFill>
          <a:ln>
            <a:solidFill>
              <a:schemeClr val="accent2"/>
            </a:solidFill>
            <a:miter/>
          </a:ln>
        </p:spPr>
        <p:txBody>
          <a:bodyPr/>
          <a:lstStyle/>
          <a:p>
            <a:pPr>
              <a:buClrTx/>
              <a:buNone/>
            </a:pPr>
            <a:r>
              <a:rPr lang="en-US" altLang="zh-CN" sz="2400" b="1">
                <a:latin typeface="宋体" panose="02010600030101010101" pitchFamily="2" charset="-122"/>
              </a:rPr>
              <a:t>MUL r8/m8</a:t>
            </a:r>
          </a:p>
          <a:p>
            <a:pPr>
              <a:buClrTx/>
              <a:buNone/>
            </a:pPr>
            <a:r>
              <a:rPr lang="zh-CN" altLang="en-US" sz="2400" b="1">
                <a:latin typeface="宋体" panose="02010600030101010101" pitchFamily="2" charset="-122"/>
              </a:rPr>
              <a:t>；</a:t>
            </a:r>
            <a:r>
              <a:rPr lang="zh-CN" altLang="en-US" sz="2400" b="1" dirty="0">
                <a:solidFill>
                  <a:srgbClr val="0000FF"/>
                </a:solidFill>
                <a:latin typeface="宋体" panose="02010600030101010101" pitchFamily="2" charset="-122"/>
              </a:rPr>
              <a:t>无符号字节</a:t>
            </a:r>
            <a:r>
              <a:rPr lang="zh-CN" altLang="en-US" sz="2400" b="1" dirty="0">
                <a:latin typeface="宋体" panose="02010600030101010101" pitchFamily="2" charset="-122"/>
              </a:rPr>
              <a:t>乘法</a:t>
            </a:r>
          </a:p>
          <a:p>
            <a:pPr>
              <a:buClrTx/>
              <a:buNone/>
            </a:pPr>
            <a:r>
              <a:rPr lang="zh-CN" altLang="zh-CN" sz="2400" b="1">
                <a:latin typeface="宋体" panose="02010600030101010101" pitchFamily="2" charset="-122"/>
              </a:rPr>
              <a:t>；</a:t>
            </a:r>
            <a:r>
              <a:rPr lang="en-US" altLang="zh-CN" sz="2400" b="1">
                <a:latin typeface="宋体" panose="02010600030101010101" pitchFamily="2" charset="-122"/>
              </a:rPr>
              <a:t>AX←AL×r8/m8</a:t>
            </a:r>
          </a:p>
          <a:p>
            <a:pPr>
              <a:buClrTx/>
              <a:buNone/>
            </a:pPr>
            <a:r>
              <a:rPr lang="en-US" altLang="zh-CN" sz="2400" b="1">
                <a:latin typeface="宋体" panose="02010600030101010101" pitchFamily="2" charset="-122"/>
              </a:rPr>
              <a:t>MUL r16/m16</a:t>
            </a:r>
          </a:p>
          <a:p>
            <a:pPr>
              <a:buClrTx/>
              <a:buNone/>
            </a:pPr>
            <a:r>
              <a:rPr lang="zh-CN" altLang="en-US" sz="2400" b="1">
                <a:latin typeface="宋体" panose="02010600030101010101" pitchFamily="2" charset="-122"/>
              </a:rPr>
              <a:t>；</a:t>
            </a:r>
            <a:r>
              <a:rPr lang="zh-CN" altLang="en-US" sz="2400" b="1" dirty="0">
                <a:latin typeface="宋体" panose="02010600030101010101" pitchFamily="2" charset="-122"/>
              </a:rPr>
              <a:t>无符号</a:t>
            </a:r>
            <a:r>
              <a:rPr lang="zh-CN" altLang="en-US" sz="2400" b="1" dirty="0">
                <a:solidFill>
                  <a:srgbClr val="0000FF"/>
                </a:solidFill>
                <a:latin typeface="宋体" panose="02010600030101010101" pitchFamily="2" charset="-122"/>
              </a:rPr>
              <a:t>字</a:t>
            </a:r>
            <a:r>
              <a:rPr lang="zh-CN" altLang="en-US" sz="2400" b="1" dirty="0">
                <a:latin typeface="宋体" panose="02010600030101010101" pitchFamily="2" charset="-122"/>
              </a:rPr>
              <a:t>乘法</a:t>
            </a:r>
          </a:p>
          <a:p>
            <a:pPr>
              <a:buClrTx/>
              <a:buNone/>
            </a:pPr>
            <a:r>
              <a:rPr lang="zh-CN" altLang="zh-CN" sz="2400" b="1">
                <a:latin typeface="宋体" panose="02010600030101010101" pitchFamily="2" charset="-122"/>
              </a:rPr>
              <a:t>；</a:t>
            </a:r>
            <a:r>
              <a:rPr lang="en-US" altLang="zh-CN" sz="2400" b="1">
                <a:latin typeface="宋体" panose="02010600030101010101" pitchFamily="2" charset="-122"/>
              </a:rPr>
              <a:t>DX.AX←AX×r16/m16</a:t>
            </a:r>
          </a:p>
        </p:txBody>
      </p:sp>
      <p:sp>
        <p:nvSpPr>
          <p:cNvPr id="431108" name="文本占位符 431107"/>
          <p:cNvSpPr>
            <a:spLocks noGrp="1"/>
          </p:cNvSpPr>
          <p:nvPr>
            <p:ph type="body" sz="half" idx="2"/>
          </p:nvPr>
        </p:nvSpPr>
        <p:spPr>
          <a:xfrm>
            <a:off x="4752975" y="1412875"/>
            <a:ext cx="4010025" cy="2824163"/>
          </a:xfrm>
          <a:solidFill>
            <a:schemeClr val="bg1">
              <a:alpha val="100000"/>
            </a:schemeClr>
          </a:solidFill>
          <a:ln>
            <a:solidFill>
              <a:schemeClr val="accent2">
                <a:alpha val="100000"/>
              </a:schemeClr>
            </a:solidFill>
            <a:miter lim="800000"/>
          </a:ln>
        </p:spPr>
        <p:txBody>
          <a:bodyPr vert="horz" wrap="square" lIns="91440" tIns="45720" rIns="91440" bIns="45720" anchor="t"/>
          <a:lstStyle/>
          <a:p>
            <a:pPr>
              <a:buClrTx/>
              <a:buNone/>
            </a:pPr>
            <a:r>
              <a:rPr lang="en-US" altLang="zh-CN" sz="2400" b="1">
                <a:latin typeface="宋体" panose="02010600030101010101" pitchFamily="2" charset="-122"/>
              </a:rPr>
              <a:t>IMUL r8/m8</a:t>
            </a:r>
          </a:p>
          <a:p>
            <a:pPr>
              <a:buClrTx/>
              <a:buNone/>
            </a:pPr>
            <a:r>
              <a:rPr lang="zh-CN" altLang="en-US" sz="2400" b="1">
                <a:latin typeface="宋体" panose="02010600030101010101" pitchFamily="2" charset="-122"/>
              </a:rPr>
              <a:t>；</a:t>
            </a:r>
            <a:r>
              <a:rPr lang="zh-CN" altLang="en-US" sz="2400" b="1" dirty="0">
                <a:solidFill>
                  <a:srgbClr val="0000FF"/>
                </a:solidFill>
                <a:latin typeface="宋体" panose="02010600030101010101" pitchFamily="2" charset="-122"/>
              </a:rPr>
              <a:t>有符号字节</a:t>
            </a:r>
            <a:r>
              <a:rPr lang="zh-CN" altLang="en-US" sz="2400" b="1" dirty="0">
                <a:latin typeface="宋体" panose="02010600030101010101" pitchFamily="2" charset="-122"/>
              </a:rPr>
              <a:t>乘法</a:t>
            </a:r>
          </a:p>
          <a:p>
            <a:pPr>
              <a:buClrTx/>
              <a:buNone/>
            </a:pPr>
            <a:r>
              <a:rPr lang="zh-CN" altLang="zh-CN" sz="2400" b="1">
                <a:latin typeface="宋体" panose="02010600030101010101" pitchFamily="2" charset="-122"/>
              </a:rPr>
              <a:t>；</a:t>
            </a:r>
            <a:r>
              <a:rPr lang="en-US" altLang="zh-CN" sz="2400" b="1">
                <a:latin typeface="宋体" panose="02010600030101010101" pitchFamily="2" charset="-122"/>
              </a:rPr>
              <a:t>AX←AL×r8/m8</a:t>
            </a:r>
          </a:p>
          <a:p>
            <a:pPr>
              <a:buClrTx/>
              <a:buNone/>
            </a:pPr>
            <a:r>
              <a:rPr lang="en-US" altLang="zh-CN" sz="2400" b="1">
                <a:latin typeface="宋体" panose="02010600030101010101" pitchFamily="2" charset="-122"/>
              </a:rPr>
              <a:t>IMUL r16/m16</a:t>
            </a:r>
          </a:p>
          <a:p>
            <a:pPr>
              <a:buClrTx/>
              <a:buNone/>
            </a:pPr>
            <a:r>
              <a:rPr lang="zh-CN" altLang="en-US" sz="2400" b="1">
                <a:latin typeface="宋体" panose="02010600030101010101" pitchFamily="2" charset="-122"/>
              </a:rPr>
              <a:t>；</a:t>
            </a:r>
            <a:r>
              <a:rPr lang="zh-CN" altLang="en-US" sz="2400" b="1" dirty="0">
                <a:latin typeface="宋体" panose="02010600030101010101" pitchFamily="2" charset="-122"/>
              </a:rPr>
              <a:t>有符号</a:t>
            </a:r>
            <a:r>
              <a:rPr lang="zh-CN" altLang="en-US" sz="2400" b="1" dirty="0">
                <a:solidFill>
                  <a:srgbClr val="0000FF"/>
                </a:solidFill>
                <a:latin typeface="宋体" panose="02010600030101010101" pitchFamily="2" charset="-122"/>
              </a:rPr>
              <a:t>字</a:t>
            </a:r>
            <a:r>
              <a:rPr lang="zh-CN" altLang="en-US" sz="2400" b="1" dirty="0">
                <a:latin typeface="宋体" panose="02010600030101010101" pitchFamily="2" charset="-122"/>
              </a:rPr>
              <a:t>乘法</a:t>
            </a:r>
          </a:p>
          <a:p>
            <a:pPr>
              <a:buClrTx/>
              <a:buNone/>
            </a:pPr>
            <a:r>
              <a:rPr lang="zh-CN" altLang="zh-CN" sz="2400" b="1">
                <a:latin typeface="宋体" panose="02010600030101010101" pitchFamily="2" charset="-122"/>
              </a:rPr>
              <a:t>；</a:t>
            </a:r>
            <a:r>
              <a:rPr lang="en-US" altLang="zh-CN" sz="2400" b="1">
                <a:latin typeface="宋体" panose="02010600030101010101" pitchFamily="2" charset="-122"/>
              </a:rPr>
              <a:t>DX.AX←AX×r16/m16</a:t>
            </a:r>
          </a:p>
        </p:txBody>
      </p:sp>
      <p:sp>
        <p:nvSpPr>
          <p:cNvPr id="431109" name="矩形 43110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431110" name="矩形 431109"/>
          <p:cNvSpPr/>
          <p:nvPr/>
        </p:nvSpPr>
        <p:spPr>
          <a:xfrm>
            <a:off x="179388" y="4365625"/>
            <a:ext cx="8748712" cy="2308324"/>
          </a:xfrm>
          <a:prstGeom prst="rect">
            <a:avLst/>
          </a:prstGeom>
          <a:noFill/>
          <a:ln w="9525">
            <a:noFill/>
          </a:ln>
        </p:spPr>
        <p:txBody>
          <a:bodyPr>
            <a:spAutoFit/>
          </a:bodyPr>
          <a:lstStyle/>
          <a:p>
            <a:pPr lvl="0">
              <a:buClrTx/>
            </a:pPr>
            <a:r>
              <a:rPr lang="zh-CN" altLang="en-US" sz="2400" b="1" dirty="0">
                <a:latin typeface="Arial" panose="020B0604020202020204" pitchFamily="34" charset="0"/>
                <a:ea typeface="宋体" panose="02010600030101010101" pitchFamily="2" charset="-122"/>
              </a:rPr>
              <a:t>乘法指令分</a:t>
            </a:r>
            <a:r>
              <a:rPr lang="zh-CN" altLang="en-US" sz="2400" b="1" dirty="0">
                <a:solidFill>
                  <a:srgbClr val="0000FF"/>
                </a:solidFill>
                <a:latin typeface="Arial" panose="020B0604020202020204" pitchFamily="34" charset="0"/>
                <a:ea typeface="宋体" panose="02010600030101010101" pitchFamily="2" charset="-122"/>
              </a:rPr>
              <a:t>无符号</a:t>
            </a:r>
            <a:r>
              <a:rPr lang="zh-CN" altLang="en-US" sz="2400" b="1" dirty="0">
                <a:latin typeface="Arial" panose="020B0604020202020204" pitchFamily="34" charset="0"/>
                <a:ea typeface="宋体" panose="02010600030101010101" pitchFamily="2" charset="-122"/>
              </a:rPr>
              <a:t>和</a:t>
            </a:r>
            <a:r>
              <a:rPr lang="zh-CN" altLang="en-US" sz="2400" b="1" dirty="0">
                <a:solidFill>
                  <a:srgbClr val="0000FF"/>
                </a:solidFill>
                <a:latin typeface="Arial" panose="020B0604020202020204" pitchFamily="34" charset="0"/>
                <a:ea typeface="宋体" panose="02010600030101010101" pitchFamily="2" charset="-122"/>
              </a:rPr>
              <a:t>有符号</a:t>
            </a:r>
            <a:r>
              <a:rPr lang="zh-CN" altLang="en-US" sz="2400" b="1" dirty="0">
                <a:latin typeface="Arial" panose="020B0604020202020204" pitchFamily="34" charset="0"/>
                <a:ea typeface="宋体" panose="02010600030101010101" pitchFamily="2" charset="-122"/>
              </a:rPr>
              <a:t>乘法指令</a:t>
            </a:r>
            <a:endParaRPr lang="zh-CN" altLang="en-US" sz="2400" b="1" dirty="0">
              <a:latin typeface="Arial" panose="020B0604020202020204" pitchFamily="34" charset="0"/>
              <a:ea typeface="宋体" panose="02010600030101010101" pitchFamily="2" charset="-122"/>
              <a:hlinkClick r:id="" action="ppaction://noaction"/>
            </a:endParaRPr>
          </a:p>
          <a:p>
            <a:pPr lvl="0">
              <a:buClrTx/>
            </a:pPr>
            <a:r>
              <a:rPr lang="zh-CN" altLang="en-US" sz="2400" b="1" dirty="0">
                <a:latin typeface="Arial" panose="020B0604020202020204" pitchFamily="34" charset="0"/>
                <a:ea typeface="宋体" panose="02010600030101010101" pitchFamily="2" charset="-122"/>
              </a:rPr>
              <a:t>乘法指令的源操作数</a:t>
            </a:r>
            <a:r>
              <a:rPr lang="zh-CN" altLang="en-US" sz="2400" b="1" dirty="0">
                <a:solidFill>
                  <a:srgbClr val="0000FF"/>
                </a:solidFill>
                <a:latin typeface="Arial" panose="020B0604020202020204" pitchFamily="34" charset="0"/>
                <a:ea typeface="宋体" panose="02010600030101010101" pitchFamily="2" charset="-122"/>
              </a:rPr>
              <a:t>显式</a:t>
            </a:r>
            <a:r>
              <a:rPr lang="zh-CN" altLang="en-US" sz="2400" b="1" dirty="0">
                <a:latin typeface="Arial" panose="020B0604020202020204" pitchFamily="34" charset="0"/>
                <a:ea typeface="宋体" panose="02010600030101010101" pitchFamily="2" charset="-122"/>
              </a:rPr>
              <a:t>给出，隐含使用的另一个操作数为</a:t>
            </a:r>
            <a:r>
              <a:rPr lang="en-US" altLang="zh-CN" sz="2400" b="1" dirty="0">
                <a:solidFill>
                  <a:srgbClr val="0000FF"/>
                </a:solidFill>
                <a:latin typeface="Arial" panose="020B0604020202020204" pitchFamily="34" charset="0"/>
                <a:ea typeface="宋体" panose="02010600030101010101" pitchFamily="2" charset="-122"/>
              </a:rPr>
              <a:t>AX</a:t>
            </a:r>
            <a:r>
              <a:rPr lang="zh-CN" altLang="en-US" sz="2400" b="1" dirty="0">
                <a:solidFill>
                  <a:srgbClr val="0000FF"/>
                </a:solidFill>
                <a:latin typeface="Arial" panose="020B0604020202020204" pitchFamily="34" charset="0"/>
                <a:ea typeface="宋体" panose="02010600030101010101" pitchFamily="2" charset="-122"/>
              </a:rPr>
              <a:t>和</a:t>
            </a:r>
            <a:r>
              <a:rPr lang="en-US" altLang="zh-CN" sz="2400" b="1" dirty="0">
                <a:solidFill>
                  <a:srgbClr val="0000FF"/>
                </a:solidFill>
                <a:latin typeface="Arial" panose="020B0604020202020204" pitchFamily="34" charset="0"/>
                <a:ea typeface="宋体" panose="02010600030101010101" pitchFamily="2" charset="-122"/>
              </a:rPr>
              <a:t>DX</a:t>
            </a:r>
          </a:p>
          <a:p>
            <a:pPr lvl="1">
              <a:buClrTx/>
            </a:pPr>
            <a:r>
              <a:rPr lang="zh-CN" altLang="en-US" sz="2400" b="1" dirty="0">
                <a:latin typeface="Arial" panose="020B0604020202020204" pitchFamily="34" charset="0"/>
                <a:ea typeface="宋体" panose="02010600030101010101" pitchFamily="2" charset="-122"/>
              </a:rPr>
              <a:t>字节数据相乘：</a:t>
            </a:r>
            <a:r>
              <a:rPr lang="en-US" altLang="zh-CN" sz="2400" b="1" dirty="0">
                <a:latin typeface="Arial" panose="020B0604020202020204" pitchFamily="34" charset="0"/>
                <a:ea typeface="宋体" panose="02010600030101010101" pitchFamily="2" charset="-122"/>
              </a:rPr>
              <a:t>AL</a:t>
            </a:r>
            <a:r>
              <a:rPr lang="zh-CN" altLang="en-US" sz="2400" b="1" dirty="0">
                <a:latin typeface="Arial" panose="020B0604020202020204" pitchFamily="34" charset="0"/>
                <a:ea typeface="宋体" panose="02010600030101010101" pitchFamily="2" charset="-122"/>
              </a:rPr>
              <a:t>与</a:t>
            </a:r>
            <a:r>
              <a:rPr lang="en-US" altLang="zh-CN" sz="2400" b="1" dirty="0">
                <a:latin typeface="Arial" panose="020B0604020202020204" pitchFamily="34" charset="0"/>
                <a:ea typeface="宋体" panose="02010600030101010101" pitchFamily="2" charset="-122"/>
              </a:rPr>
              <a:t>r8/m8</a:t>
            </a:r>
            <a:r>
              <a:rPr lang="zh-CN" altLang="en-US" sz="2400" b="1" dirty="0">
                <a:latin typeface="Arial" panose="020B0604020202020204" pitchFamily="34" charset="0"/>
                <a:ea typeface="宋体" panose="02010600030101010101" pitchFamily="2" charset="-122"/>
              </a:rPr>
              <a:t>相乘，得到</a:t>
            </a:r>
            <a:r>
              <a:rPr lang="zh-CN" altLang="en-US" sz="2400" b="1" dirty="0">
                <a:latin typeface="Arial" panose="020B0604020202020204" pitchFamily="34" charset="0"/>
              </a:rPr>
              <a:t>的</a:t>
            </a:r>
            <a:r>
              <a:rPr lang="en-US" altLang="zh-CN" sz="2400" b="1" dirty="0">
                <a:solidFill>
                  <a:srgbClr val="0000FF"/>
                </a:solidFill>
                <a:latin typeface="Arial" panose="020B0604020202020204" pitchFamily="34" charset="0"/>
                <a:ea typeface="宋体" panose="02010600030101010101" pitchFamily="2" charset="-122"/>
              </a:rPr>
              <a:t>16</a:t>
            </a:r>
            <a:r>
              <a:rPr lang="zh-CN" altLang="en-US" sz="2400" b="1" dirty="0">
                <a:solidFill>
                  <a:srgbClr val="0000FF"/>
                </a:solidFill>
                <a:latin typeface="Arial" panose="020B0604020202020204" pitchFamily="34" charset="0"/>
                <a:ea typeface="宋体" panose="02010600030101010101" pitchFamily="2" charset="-122"/>
              </a:rPr>
              <a:t>位</a:t>
            </a:r>
            <a:r>
              <a:rPr lang="zh-CN" altLang="en-US" sz="2400" b="1" dirty="0">
                <a:latin typeface="Arial" panose="020B0604020202020204" pitchFamily="34" charset="0"/>
                <a:ea typeface="宋体" panose="02010600030101010101" pitchFamily="2" charset="-122"/>
              </a:rPr>
              <a:t>结果存入</a:t>
            </a:r>
            <a:r>
              <a:rPr lang="en-US" altLang="zh-CN" sz="2400" b="1" dirty="0">
                <a:solidFill>
                  <a:srgbClr val="0000FF"/>
                </a:solidFill>
                <a:latin typeface="Arial" panose="020B0604020202020204" pitchFamily="34" charset="0"/>
              </a:rPr>
              <a:t>AX</a:t>
            </a:r>
          </a:p>
          <a:p>
            <a:pPr lvl="1">
              <a:buClrTx/>
            </a:pPr>
            <a:r>
              <a:rPr lang="zh-CN" altLang="en-US" sz="2400" b="1" dirty="0">
                <a:latin typeface="Arial" panose="020B0604020202020204" pitchFamily="34" charset="0"/>
                <a:ea typeface="宋体" panose="02010600030101010101" pitchFamily="2" charset="-122"/>
              </a:rPr>
              <a:t>字数据相乘：</a:t>
            </a:r>
            <a:r>
              <a:rPr lang="en-US" altLang="zh-CN" sz="2400" b="1" dirty="0">
                <a:latin typeface="Arial" panose="020B0604020202020204" pitchFamily="34" charset="0"/>
                <a:ea typeface="宋体" panose="02010600030101010101" pitchFamily="2" charset="-122"/>
              </a:rPr>
              <a:t>AX</a:t>
            </a:r>
            <a:r>
              <a:rPr lang="zh-CN" altLang="en-US" sz="2400" b="1" dirty="0">
                <a:latin typeface="Arial" panose="020B0604020202020204" pitchFamily="34" charset="0"/>
                <a:ea typeface="宋体" panose="02010600030101010101" pitchFamily="2" charset="-122"/>
              </a:rPr>
              <a:t>与</a:t>
            </a:r>
            <a:r>
              <a:rPr lang="en-US" altLang="zh-CN" sz="2400" b="1" dirty="0">
                <a:latin typeface="Arial" panose="020B0604020202020204" pitchFamily="34" charset="0"/>
                <a:ea typeface="宋体" panose="02010600030101010101" pitchFamily="2" charset="-122"/>
              </a:rPr>
              <a:t>r16/m16</a:t>
            </a:r>
            <a:r>
              <a:rPr lang="zh-CN" altLang="en-US" sz="2400" b="1" dirty="0">
                <a:latin typeface="Arial" panose="020B0604020202020204" pitchFamily="34" charset="0"/>
                <a:ea typeface="宋体" panose="02010600030101010101" pitchFamily="2" charset="-122"/>
              </a:rPr>
              <a:t>相乘，</a:t>
            </a:r>
            <a:r>
              <a:rPr lang="zh-CN" altLang="en-US" sz="2400" b="1" dirty="0">
                <a:latin typeface="Arial" panose="020B0604020202020204" pitchFamily="34" charset="0"/>
              </a:rPr>
              <a:t>得到的</a:t>
            </a:r>
            <a:r>
              <a:rPr lang="en-US" altLang="zh-CN" sz="2400" b="1" dirty="0">
                <a:solidFill>
                  <a:srgbClr val="0000FF"/>
                </a:solidFill>
                <a:latin typeface="Arial" panose="020B0604020202020204" pitchFamily="34" charset="0"/>
              </a:rPr>
              <a:t>32</a:t>
            </a:r>
            <a:r>
              <a:rPr lang="zh-CN" altLang="en-US" sz="2400" b="1" dirty="0">
                <a:solidFill>
                  <a:srgbClr val="0000FF"/>
                </a:solidFill>
                <a:latin typeface="Arial" panose="020B0604020202020204" pitchFamily="34" charset="0"/>
              </a:rPr>
              <a:t>位</a:t>
            </a:r>
            <a:r>
              <a:rPr lang="zh-CN" altLang="en-US" sz="2400" b="1" dirty="0">
                <a:latin typeface="Arial" panose="020B0604020202020204" pitchFamily="34" charset="0"/>
                <a:ea typeface="宋体" panose="02010600030101010101" pitchFamily="2" charset="-122"/>
              </a:rPr>
              <a:t>结果，其高字存入</a:t>
            </a:r>
            <a:r>
              <a:rPr lang="en-US" altLang="zh-CN" sz="2400" b="1" dirty="0">
                <a:solidFill>
                  <a:srgbClr val="0000FF"/>
                </a:solidFill>
                <a:latin typeface="Arial" panose="020B0604020202020204" pitchFamily="34" charset="0"/>
              </a:rPr>
              <a:t>DX</a:t>
            </a:r>
            <a:r>
              <a:rPr lang="zh-CN" altLang="en-US" sz="2400" b="1" dirty="0">
                <a:latin typeface="Arial" panose="020B0604020202020204" pitchFamily="34" charset="0"/>
                <a:ea typeface="宋体" panose="02010600030101010101" pitchFamily="2" charset="-122"/>
              </a:rPr>
              <a:t>，低字存入</a:t>
            </a:r>
            <a:r>
              <a:rPr lang="en-US" altLang="zh-CN" sz="2400" b="1" dirty="0">
                <a:solidFill>
                  <a:srgbClr val="0000FF"/>
                </a:solidFill>
                <a:latin typeface="Arial" panose="020B0604020202020204" pitchFamily="34" charset="0"/>
              </a:rPr>
              <a:t>AX</a:t>
            </a:r>
          </a:p>
        </p:txBody>
      </p:sp>
    </p:spTree>
  </p:cSld>
  <p:clrMapOvr>
    <a:masterClrMapping/>
  </p:clrMapOvr>
  <p:transition spd="med">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6" name="矩形 433155"/>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433158" name="标题 433157"/>
          <p:cNvSpPr>
            <a:spLocks noGrp="1"/>
          </p:cNvSpPr>
          <p:nvPr>
            <p:ph type="title"/>
          </p:nvPr>
        </p:nvSpPr>
        <p:spPr>
          <a:xfrm>
            <a:off x="323850" y="908050"/>
            <a:ext cx="8424863" cy="720725"/>
          </a:xfrm>
          <a:ln/>
        </p:spPr>
        <p:txBody>
          <a:bodyPr lIns="0" tIns="0" rIns="0" bIns="0" anchor="ctr"/>
          <a:lstStyle/>
          <a:p>
            <a:pPr algn="l"/>
            <a:r>
              <a:rPr lang="zh-CN" altLang="en-US" sz="2400" b="1" dirty="0"/>
              <a:t>乘法指令对</a:t>
            </a:r>
            <a:r>
              <a:rPr lang="zh-CN" altLang="en-US" sz="2400" b="1" dirty="0">
                <a:solidFill>
                  <a:srgbClr val="0000FF"/>
                </a:solidFill>
              </a:rPr>
              <a:t>标志位的影响</a:t>
            </a:r>
            <a:r>
              <a:rPr lang="zh-CN" altLang="en-US" sz="2400" b="1" dirty="0"/>
              <a:t>：利用</a:t>
            </a:r>
            <a:r>
              <a:rPr lang="en-US" altLang="zh-CN" sz="2400" b="1"/>
              <a:t>OF</a:t>
            </a:r>
            <a:r>
              <a:rPr lang="zh-CN" altLang="en-US" sz="2400" b="1" dirty="0"/>
              <a:t>和</a:t>
            </a:r>
            <a:r>
              <a:rPr lang="en-US" altLang="zh-CN" sz="2400" b="1"/>
              <a:t>CF</a:t>
            </a:r>
            <a:r>
              <a:rPr lang="zh-CN" altLang="en-US" sz="2400" b="1" dirty="0"/>
              <a:t>判断乘积的高一半是否具有有效数值</a:t>
            </a:r>
          </a:p>
        </p:txBody>
      </p:sp>
      <p:sp>
        <p:nvSpPr>
          <p:cNvPr id="433159" name="文本占位符 433158"/>
          <p:cNvSpPr>
            <a:spLocks noGrp="1"/>
          </p:cNvSpPr>
          <p:nvPr>
            <p:ph type="body" idx="1"/>
          </p:nvPr>
        </p:nvSpPr>
        <p:spPr>
          <a:xfrm>
            <a:off x="395288" y="1844675"/>
            <a:ext cx="8280400" cy="2303463"/>
          </a:xfrm>
          <a:ln/>
        </p:spPr>
        <p:txBody>
          <a:bodyPr/>
          <a:lstStyle/>
          <a:p>
            <a:pPr marL="539750" lvl="1" indent="-276225">
              <a:lnSpc>
                <a:spcPts val="3500"/>
              </a:lnSpc>
              <a:spcBef>
                <a:spcPts val="0"/>
              </a:spcBef>
              <a:buClr>
                <a:srgbClr val="0000FF"/>
              </a:buClr>
              <a:buFont typeface="Wingdings" panose="05000000000000000000" pitchFamily="2" charset="2"/>
              <a:buChar char="ü"/>
            </a:pPr>
            <a:r>
              <a:rPr lang="en-US" altLang="zh-CN" sz="2400" b="1" dirty="0"/>
              <a:t>MUL</a:t>
            </a:r>
            <a:r>
              <a:rPr lang="zh-CN" altLang="en-US" sz="2400" b="1" dirty="0"/>
              <a:t>指令</a:t>
            </a:r>
            <a:r>
              <a:rPr lang="en-US" altLang="zh-CN" sz="2400" b="1" dirty="0"/>
              <a:t>——</a:t>
            </a:r>
            <a:r>
              <a:rPr lang="zh-CN" altLang="en-US" sz="2400" b="1" dirty="0"/>
              <a:t>若乘积的高一半（</a:t>
            </a:r>
            <a:r>
              <a:rPr lang="en-US" altLang="zh-CN" sz="2400" b="1" dirty="0"/>
              <a:t>AH</a:t>
            </a:r>
            <a:r>
              <a:rPr lang="zh-CN" altLang="en-US" sz="2400" b="1" dirty="0"/>
              <a:t>或</a:t>
            </a:r>
            <a:r>
              <a:rPr lang="en-US" altLang="zh-CN" sz="2400" b="1" dirty="0"/>
              <a:t>DX</a:t>
            </a:r>
            <a:r>
              <a:rPr lang="zh-CN" altLang="en-US" sz="2400" b="1" dirty="0"/>
              <a:t>）为</a:t>
            </a:r>
            <a:r>
              <a:rPr lang="en-US" altLang="zh-CN" sz="2400" b="1" dirty="0">
                <a:solidFill>
                  <a:srgbClr val="0000FF"/>
                </a:solidFill>
              </a:rPr>
              <a:t>0</a:t>
            </a:r>
            <a:r>
              <a:rPr lang="zh-CN" altLang="en-US" sz="2400" b="1" dirty="0"/>
              <a:t>，则</a:t>
            </a:r>
            <a:r>
              <a:rPr lang="en-US" altLang="zh-CN" sz="2400" b="1" dirty="0"/>
              <a:t>OF=CF=0</a:t>
            </a:r>
            <a:r>
              <a:rPr lang="zh-CN" altLang="en-US" sz="2400" b="1" dirty="0"/>
              <a:t>；否则</a:t>
            </a:r>
            <a:r>
              <a:rPr lang="en-US" altLang="zh-CN" sz="2400" b="1" dirty="0"/>
              <a:t>OF=CF=1</a:t>
            </a:r>
          </a:p>
          <a:p>
            <a:pPr marL="539750" lvl="1" indent="-276225">
              <a:lnSpc>
                <a:spcPts val="3500"/>
              </a:lnSpc>
              <a:spcBef>
                <a:spcPts val="0"/>
              </a:spcBef>
              <a:buClr>
                <a:srgbClr val="0000FF"/>
              </a:buClr>
              <a:buFont typeface="Wingdings" panose="05000000000000000000" pitchFamily="2" charset="2"/>
              <a:buChar char="ü"/>
            </a:pPr>
            <a:r>
              <a:rPr lang="en-US" altLang="zh-CN" sz="2400" b="1" dirty="0"/>
              <a:t>IMUL</a:t>
            </a:r>
            <a:r>
              <a:rPr lang="zh-CN" altLang="en-US" sz="2400" b="1" dirty="0"/>
              <a:t>指令</a:t>
            </a:r>
            <a:r>
              <a:rPr lang="en-US" altLang="zh-CN" sz="2400" b="1" dirty="0"/>
              <a:t>——</a:t>
            </a:r>
            <a:r>
              <a:rPr lang="zh-CN" altLang="en-US" sz="2400" b="1" dirty="0"/>
              <a:t>若乘积的高一半是低一半的</a:t>
            </a:r>
            <a:r>
              <a:rPr lang="zh-CN" altLang="en-US" sz="2400" b="1" dirty="0">
                <a:solidFill>
                  <a:srgbClr val="0000FF"/>
                </a:solidFill>
              </a:rPr>
              <a:t>符号扩展</a:t>
            </a:r>
            <a:r>
              <a:rPr lang="zh-CN" altLang="en-US" sz="2400" b="1" dirty="0"/>
              <a:t>，则</a:t>
            </a:r>
            <a:r>
              <a:rPr lang="en-US" altLang="zh-CN" sz="2400" b="1" dirty="0"/>
              <a:t>OF=CF=0</a:t>
            </a:r>
            <a:r>
              <a:rPr lang="zh-CN" altLang="en-US" sz="2400" b="1" dirty="0"/>
              <a:t>；否则</a:t>
            </a:r>
            <a:r>
              <a:rPr lang="en-US" altLang="zh-CN" sz="2400" b="1" dirty="0"/>
              <a:t>OF=CF=1</a:t>
            </a:r>
          </a:p>
          <a:p>
            <a:pPr marL="0" indent="0">
              <a:lnSpc>
                <a:spcPts val="3500"/>
              </a:lnSpc>
              <a:spcBef>
                <a:spcPts val="0"/>
              </a:spcBef>
              <a:buClrTx/>
              <a:buNone/>
            </a:pPr>
            <a:r>
              <a:rPr lang="zh-CN" altLang="en-US" sz="2400" b="1" dirty="0"/>
              <a:t>乘法指令对其他状态标志没有定义</a:t>
            </a:r>
          </a:p>
        </p:txBody>
      </p:sp>
      <p:sp>
        <p:nvSpPr>
          <p:cNvPr id="433160" name="圆角矩形 433159"/>
          <p:cNvSpPr/>
          <p:nvPr/>
        </p:nvSpPr>
        <p:spPr>
          <a:xfrm>
            <a:off x="228600" y="4649788"/>
            <a:ext cx="8686800" cy="1300162"/>
          </a:xfrm>
          <a:prstGeom prst="roundRect">
            <a:avLst>
              <a:gd name="adj" fmla="val 16667"/>
            </a:avLst>
          </a:prstGeom>
          <a:solidFill>
            <a:srgbClr val="FFFFFF"/>
          </a:solidFill>
          <a:ln w="9525" cap="flat" cmpd="sng">
            <a:solidFill>
              <a:schemeClr val="accent2"/>
            </a:solidFill>
            <a:prstDash val="solid"/>
            <a:headEnd type="none" w="med" len="med"/>
            <a:tailEnd type="none" w="med" len="med"/>
          </a:ln>
        </p:spPr>
        <p:txBody>
          <a:bodyPr anchor="ctr"/>
          <a:lstStyle/>
          <a:p>
            <a:pPr lvl="0" algn="just">
              <a:buClrTx/>
              <a:buBlip>
                <a:blip r:embed="rId3"/>
              </a:buBlip>
            </a:pPr>
            <a:r>
              <a:rPr lang="zh-CN" altLang="en-US" sz="2400" b="1" dirty="0">
                <a:solidFill>
                  <a:schemeClr val="accent2"/>
                </a:solidFill>
                <a:latin typeface="Arial" panose="020B0604020202020204" pitchFamily="34" charset="0"/>
                <a:ea typeface="宋体" panose="02010600030101010101" pitchFamily="2" charset="-122"/>
              </a:rPr>
              <a:t> 对标志位</a:t>
            </a:r>
            <a:r>
              <a:rPr lang="zh-CN" altLang="en-US" sz="2400" b="1" dirty="0">
                <a:solidFill>
                  <a:srgbClr val="FF00FF"/>
                </a:solidFill>
                <a:latin typeface="Arial" panose="020B0604020202020204" pitchFamily="34" charset="0"/>
                <a:ea typeface="宋体" panose="02010600030101010101" pitchFamily="2" charset="-122"/>
              </a:rPr>
              <a:t>没有定义</a:t>
            </a:r>
            <a:r>
              <a:rPr lang="zh-CN" altLang="en-US" sz="2400" b="1" dirty="0">
                <a:solidFill>
                  <a:schemeClr val="accent2"/>
                </a:solidFill>
                <a:latin typeface="Arial" panose="020B0604020202020204" pitchFamily="34" charset="0"/>
                <a:ea typeface="宋体" panose="02010600030101010101" pitchFamily="2" charset="-122"/>
              </a:rPr>
              <a:t>：指令执行后这些标志位是任意的、不可预测（就是不知道是</a:t>
            </a:r>
            <a:r>
              <a:rPr lang="en-US" altLang="zh-CN" sz="2400" b="1" dirty="0">
                <a:solidFill>
                  <a:schemeClr val="accent2"/>
                </a:solidFill>
                <a:latin typeface="Arial" panose="020B0604020202020204" pitchFamily="34" charset="0"/>
                <a:ea typeface="宋体" panose="02010600030101010101" pitchFamily="2" charset="-122"/>
              </a:rPr>
              <a:t>0</a:t>
            </a:r>
            <a:r>
              <a:rPr lang="zh-CN" altLang="en-US" sz="2400" b="1" dirty="0">
                <a:solidFill>
                  <a:schemeClr val="accent2"/>
                </a:solidFill>
                <a:latin typeface="Arial" panose="020B0604020202020204" pitchFamily="34" charset="0"/>
                <a:ea typeface="宋体" panose="02010600030101010101" pitchFamily="2" charset="-122"/>
              </a:rPr>
              <a:t>还是</a:t>
            </a:r>
            <a:r>
              <a:rPr lang="en-US" altLang="zh-CN" sz="2400" b="1" dirty="0">
                <a:solidFill>
                  <a:schemeClr val="accent2"/>
                </a:solidFill>
                <a:latin typeface="Arial" panose="020B0604020202020204" pitchFamily="34" charset="0"/>
                <a:ea typeface="宋体" panose="02010600030101010101" pitchFamily="2" charset="-122"/>
              </a:rPr>
              <a:t>1</a:t>
            </a:r>
            <a:r>
              <a:rPr lang="zh-CN" altLang="en-US" sz="2400" b="1" dirty="0">
                <a:solidFill>
                  <a:schemeClr val="accent2"/>
                </a:solidFill>
                <a:latin typeface="Arial" panose="020B0604020202020204" pitchFamily="34" charset="0"/>
                <a:ea typeface="宋体" panose="02010600030101010101" pitchFamily="2" charset="-122"/>
              </a:rPr>
              <a:t>）</a:t>
            </a:r>
          </a:p>
          <a:p>
            <a:pPr lvl="0" algn="just">
              <a:buClrTx/>
              <a:buBlip>
                <a:blip r:embed="rId3"/>
              </a:buBlip>
            </a:pPr>
            <a:r>
              <a:rPr lang="zh-CN" altLang="en-US" sz="2400" b="1" dirty="0">
                <a:solidFill>
                  <a:schemeClr val="accent2"/>
                </a:solidFill>
                <a:latin typeface="Arial" panose="020B0604020202020204" pitchFamily="34" charset="0"/>
                <a:ea typeface="宋体" panose="02010600030101010101" pitchFamily="2" charset="-122"/>
              </a:rPr>
              <a:t> 对</a:t>
            </a:r>
            <a:r>
              <a:rPr lang="zh-CN" altLang="en-US" sz="2400" b="1" dirty="0">
                <a:solidFill>
                  <a:schemeClr val="accent2"/>
                </a:solidFill>
                <a:latin typeface="Arial" panose="020B0604020202020204" pitchFamily="34" charset="0"/>
              </a:rPr>
              <a:t>标志位</a:t>
            </a:r>
            <a:r>
              <a:rPr lang="zh-CN" altLang="en-US" sz="2400" b="1" dirty="0">
                <a:solidFill>
                  <a:srgbClr val="FF00FF"/>
                </a:solidFill>
                <a:latin typeface="Arial" panose="020B0604020202020204" pitchFamily="34" charset="0"/>
                <a:ea typeface="宋体" panose="02010600030101010101" pitchFamily="2" charset="-122"/>
              </a:rPr>
              <a:t>没有影响</a:t>
            </a:r>
            <a:r>
              <a:rPr lang="zh-CN" altLang="en-US" sz="2400" b="1" dirty="0">
                <a:solidFill>
                  <a:schemeClr val="accent2"/>
                </a:solidFill>
                <a:latin typeface="Arial" panose="020B0604020202020204" pitchFamily="34" charset="0"/>
                <a:ea typeface="宋体" panose="02010600030101010101" pitchFamily="2" charset="-122"/>
              </a:rPr>
              <a:t>：指令执行不改变</a:t>
            </a:r>
            <a:r>
              <a:rPr lang="zh-CN" altLang="en-US" sz="2400" b="1" dirty="0">
                <a:solidFill>
                  <a:schemeClr val="accent2"/>
                </a:solidFill>
                <a:latin typeface="Arial" panose="020B0604020202020204" pitchFamily="34" charset="0"/>
              </a:rPr>
              <a:t>标志位状态</a:t>
            </a:r>
            <a:endParaRPr lang="zh-CN" altLang="en-US" sz="2400" b="1" dirty="0">
              <a:solidFill>
                <a:schemeClr val="accent2"/>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iterate type="wd">
                                    <p:tmPct val="100000"/>
                                  </p:iterate>
                                  <p:childTnLst>
                                    <p:set>
                                      <p:cBhvr>
                                        <p:cTn id="6" dur="1" fill="hold">
                                          <p:stCondLst>
                                            <p:cond delay="0"/>
                                          </p:stCondLst>
                                        </p:cTn>
                                        <p:tgtEl>
                                          <p:spTgt spid="433160"/>
                                        </p:tgtEl>
                                        <p:attrNameLst>
                                          <p:attrName>style.visibility</p:attrName>
                                        </p:attrNameLst>
                                      </p:cBhvr>
                                      <p:to>
                                        <p:strVal val="visible"/>
                                      </p:to>
                                    </p:set>
                                    <p:anim calcmode="lin" valueType="num">
                                      <p:cBhvr>
                                        <p:cTn id="7" dur="300" fill="hold"/>
                                        <p:tgtEl>
                                          <p:spTgt spid="433160"/>
                                        </p:tgtEl>
                                        <p:attrNameLst>
                                          <p:attrName>ppt_x</p:attrName>
                                        </p:attrNameLst>
                                      </p:cBhvr>
                                      <p:tavLst>
                                        <p:tav tm="0">
                                          <p:val>
                                            <p:strVal val="#ppt_x-#ppt_w/2"/>
                                          </p:val>
                                        </p:tav>
                                        <p:tav tm="100000">
                                          <p:val>
                                            <p:strVal val="#ppt_x"/>
                                          </p:val>
                                        </p:tav>
                                      </p:tavLst>
                                    </p:anim>
                                    <p:anim calcmode="lin" valueType="num">
                                      <p:cBhvr>
                                        <p:cTn id="8" dur="300" fill="hold"/>
                                        <p:tgtEl>
                                          <p:spTgt spid="433160"/>
                                        </p:tgtEl>
                                        <p:attrNameLst>
                                          <p:attrName>ppt_y</p:attrName>
                                        </p:attrNameLst>
                                      </p:cBhvr>
                                      <p:tavLst>
                                        <p:tav tm="0">
                                          <p:val>
                                            <p:strVal val="#ppt_y"/>
                                          </p:val>
                                        </p:tav>
                                        <p:tav tm="100000">
                                          <p:val>
                                            <p:strVal val="#ppt_y"/>
                                          </p:val>
                                        </p:tav>
                                      </p:tavLst>
                                    </p:anim>
                                    <p:anim calcmode="lin" valueType="num">
                                      <p:cBhvr>
                                        <p:cTn id="9" dur="300" fill="hold"/>
                                        <p:tgtEl>
                                          <p:spTgt spid="433160"/>
                                        </p:tgtEl>
                                        <p:attrNameLst>
                                          <p:attrName>ppt_w</p:attrName>
                                        </p:attrNameLst>
                                      </p:cBhvr>
                                      <p:tavLst>
                                        <p:tav tm="0">
                                          <p:val>
                                            <p:fltVal val="0"/>
                                          </p:val>
                                        </p:tav>
                                        <p:tav tm="100000">
                                          <p:val>
                                            <p:strVal val="#ppt_w"/>
                                          </p:val>
                                        </p:tav>
                                      </p:tavLst>
                                    </p:anim>
                                    <p:anim calcmode="lin" valueType="num">
                                      <p:cBhvr>
                                        <p:cTn id="10" dur="300" fill="hold"/>
                                        <p:tgtEl>
                                          <p:spTgt spid="4331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60" grpId="0" animBg="1"/>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7250" name="流程图: 可选过程 437249"/>
          <p:cNvSpPr/>
          <p:nvPr/>
        </p:nvSpPr>
        <p:spPr>
          <a:xfrm>
            <a:off x="684213" y="1123950"/>
            <a:ext cx="3857625" cy="514350"/>
          </a:xfrm>
          <a:prstGeom prst="flowChartAlternateProcess">
            <a:avLst/>
          </a:prstGeom>
          <a:noFill/>
          <a:ln w="28575" cap="flat" cmpd="sng">
            <a:solidFill>
              <a:schemeClr val="accent1"/>
            </a:solidFill>
            <a:prstDash val="solid"/>
            <a:miter/>
            <a:headEnd type="none" w="med" len="med"/>
            <a:tailEnd type="none" w="med" len="med"/>
          </a:ln>
        </p:spPr>
        <p:txBody>
          <a:bodyPr lIns="0" tIns="0" rIns="0" bIns="0"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lgn="l">
              <a:lnSpc>
                <a:spcPct val="90000"/>
              </a:lnSpc>
            </a:pPr>
            <a:r>
              <a:rPr lang="zh-CN" altLang="en-US" sz="2400" b="1" dirty="0">
                <a:solidFill>
                  <a:schemeClr val="tx1"/>
                </a:solidFill>
              </a:rPr>
              <a:t>例：乘法运算</a:t>
            </a:r>
          </a:p>
        </p:txBody>
      </p:sp>
      <p:sp>
        <p:nvSpPr>
          <p:cNvPr id="437251" name="文本占位符 437250"/>
          <p:cNvSpPr>
            <a:spLocks noGrp="1"/>
          </p:cNvSpPr>
          <p:nvPr>
            <p:ph type="body" idx="1"/>
          </p:nvPr>
        </p:nvSpPr>
        <p:spPr>
          <a:xfrm>
            <a:off x="762000" y="1806575"/>
            <a:ext cx="7696200" cy="3709988"/>
          </a:xfrm>
          <a:solidFill>
            <a:schemeClr val="bg1"/>
          </a:solidFill>
          <a:ln/>
        </p:spPr>
        <p:txBody>
          <a:bodyPr/>
          <a:lstStyle/>
          <a:p>
            <a:pPr marL="0" indent="390525" defTabSz="0">
              <a:buClrTx/>
              <a:buNone/>
              <a:tabLst>
                <a:tab pos="3342005" algn="l"/>
              </a:tabLst>
            </a:pPr>
            <a:r>
              <a:rPr lang="en-US" altLang="zh-CN" sz="2400" b="1" dirty="0"/>
              <a:t>MOV AL,0B4H	</a:t>
            </a:r>
            <a:r>
              <a:rPr lang="zh-CN" altLang="en-US" sz="2400" b="1" dirty="0"/>
              <a:t>；</a:t>
            </a:r>
            <a:r>
              <a:rPr lang="en-US" altLang="zh-CN" sz="2400" b="1" dirty="0"/>
              <a:t>AL=B4H=180</a:t>
            </a:r>
          </a:p>
          <a:p>
            <a:pPr marL="0" indent="390525" defTabSz="0">
              <a:buClrTx/>
              <a:buNone/>
              <a:tabLst>
                <a:tab pos="3342005" algn="l"/>
              </a:tabLst>
            </a:pPr>
            <a:r>
              <a:rPr lang="en-US" altLang="zh-CN" sz="2400" b="1" dirty="0"/>
              <a:t>MOV BL,11H	</a:t>
            </a:r>
            <a:r>
              <a:rPr lang="zh-CN" altLang="en-US" sz="2400" b="1" dirty="0"/>
              <a:t>；</a:t>
            </a:r>
            <a:r>
              <a:rPr lang="en-US" altLang="zh-CN" sz="2400" b="1" dirty="0"/>
              <a:t>BL=11H=17</a:t>
            </a:r>
          </a:p>
          <a:p>
            <a:pPr marL="0" indent="390525" defTabSz="0">
              <a:buClrTx/>
              <a:buNone/>
              <a:tabLst>
                <a:tab pos="3342005" algn="l"/>
              </a:tabLst>
            </a:pPr>
            <a:r>
              <a:rPr lang="en-US" altLang="zh-CN" sz="2400" b="1" dirty="0"/>
              <a:t>MUL BL	</a:t>
            </a:r>
            <a:r>
              <a:rPr lang="zh-CN" altLang="en-US" sz="2400" b="1" dirty="0"/>
              <a:t>；</a:t>
            </a:r>
            <a:r>
              <a:rPr lang="en-US" altLang="zh-CN" sz="2400" b="1" dirty="0"/>
              <a:t>AX=OBF4H=3060</a:t>
            </a:r>
          </a:p>
          <a:p>
            <a:pPr marL="0" indent="390525" defTabSz="0">
              <a:buClrTx/>
              <a:buNone/>
              <a:tabLst>
                <a:tab pos="3342005" algn="l"/>
              </a:tabLst>
            </a:pPr>
            <a:r>
              <a:rPr lang="zh-CN" altLang="en-US" sz="2400" b="1" dirty="0"/>
              <a:t>；</a:t>
            </a:r>
            <a:r>
              <a:rPr lang="en-US" altLang="zh-CN" sz="2400" b="1" dirty="0"/>
              <a:t>OF=CF=1</a:t>
            </a:r>
            <a:r>
              <a:rPr lang="zh-CN" altLang="en-US" sz="2400" b="1" dirty="0"/>
              <a:t>，</a:t>
            </a:r>
            <a:r>
              <a:rPr lang="en-US" altLang="zh-CN" sz="2400" b="1" dirty="0"/>
              <a:t>AX</a:t>
            </a:r>
            <a:r>
              <a:rPr lang="zh-CN" altLang="en-US" sz="2400" b="1" dirty="0"/>
              <a:t>高</a:t>
            </a:r>
            <a:r>
              <a:rPr lang="en-US" altLang="zh-CN" sz="2400" b="1" dirty="0"/>
              <a:t>8</a:t>
            </a:r>
            <a:r>
              <a:rPr lang="zh-CN" altLang="en-US" sz="2400" b="1" dirty="0"/>
              <a:t>位不为</a:t>
            </a:r>
            <a:r>
              <a:rPr lang="en-US" altLang="zh-CN" sz="2400" b="1" dirty="0"/>
              <a:t>0</a:t>
            </a:r>
          </a:p>
          <a:p>
            <a:pPr marL="0" indent="390525" defTabSz="0">
              <a:buClrTx/>
              <a:buNone/>
              <a:tabLst>
                <a:tab pos="3342005" algn="l"/>
              </a:tabLst>
            </a:pPr>
            <a:r>
              <a:rPr lang="en-US" altLang="zh-CN" sz="2400" b="1" dirty="0"/>
              <a:t>MOV AL,0B4H	</a:t>
            </a:r>
            <a:r>
              <a:rPr lang="zh-CN" altLang="en-US" sz="2400" b="1" dirty="0"/>
              <a:t>；</a:t>
            </a:r>
            <a:r>
              <a:rPr lang="en-US" altLang="zh-CN" sz="2400" b="1" dirty="0"/>
              <a:t>AL=B4H=</a:t>
            </a:r>
            <a:r>
              <a:rPr lang="zh-CN" altLang="en-US" sz="2400" b="1" dirty="0"/>
              <a:t>－</a:t>
            </a:r>
            <a:r>
              <a:rPr lang="en-US" altLang="zh-CN" sz="2400" b="1" dirty="0"/>
              <a:t>76</a:t>
            </a:r>
          </a:p>
          <a:p>
            <a:pPr marL="0" indent="390525" defTabSz="0">
              <a:buClrTx/>
              <a:buNone/>
              <a:tabLst>
                <a:tab pos="3342005" algn="l"/>
              </a:tabLst>
            </a:pPr>
            <a:r>
              <a:rPr lang="en-US" altLang="zh-CN" sz="2400" b="1" dirty="0"/>
              <a:t>MOV BL,11H	</a:t>
            </a:r>
            <a:r>
              <a:rPr lang="zh-CN" altLang="en-US" sz="2400" b="1" dirty="0"/>
              <a:t>；</a:t>
            </a:r>
            <a:r>
              <a:rPr lang="en-US" altLang="zh-CN" sz="2400" b="1" dirty="0"/>
              <a:t>BL=11H=17</a:t>
            </a:r>
          </a:p>
          <a:p>
            <a:pPr marL="0" indent="390525" defTabSz="0">
              <a:buClrTx/>
              <a:buNone/>
              <a:tabLst>
                <a:tab pos="3342005" algn="l"/>
              </a:tabLst>
            </a:pPr>
            <a:r>
              <a:rPr lang="en-US" altLang="zh-CN" sz="2400" b="1" dirty="0"/>
              <a:t>IMUL BL	</a:t>
            </a:r>
            <a:r>
              <a:rPr lang="zh-CN" altLang="en-US" sz="2400" b="1" dirty="0"/>
              <a:t>；</a:t>
            </a:r>
            <a:r>
              <a:rPr lang="en-US" altLang="zh-CN" sz="2400" b="1" dirty="0"/>
              <a:t>AX=FAF4H=</a:t>
            </a:r>
            <a:r>
              <a:rPr lang="zh-CN" altLang="en-US" sz="2400" b="1" dirty="0"/>
              <a:t>－</a:t>
            </a:r>
            <a:r>
              <a:rPr lang="en-US" altLang="zh-CN" sz="2400" b="1" dirty="0"/>
              <a:t>1292</a:t>
            </a:r>
          </a:p>
          <a:p>
            <a:pPr marL="0" indent="390525" defTabSz="0">
              <a:buClrTx/>
              <a:buNone/>
              <a:tabLst>
                <a:tab pos="3342005" algn="l"/>
              </a:tabLst>
            </a:pPr>
            <a:r>
              <a:rPr lang="zh-CN" altLang="en-US" sz="2400" b="1" dirty="0"/>
              <a:t>；</a:t>
            </a:r>
            <a:r>
              <a:rPr lang="en-US" altLang="zh-CN" sz="2400" b="1" dirty="0"/>
              <a:t>OF=CF=1</a:t>
            </a:r>
            <a:r>
              <a:rPr lang="zh-CN" altLang="en-US" sz="2400" b="1" dirty="0"/>
              <a:t>，</a:t>
            </a:r>
            <a:r>
              <a:rPr lang="en-US" altLang="zh-CN" sz="2400" b="1" dirty="0"/>
              <a:t>AX</a:t>
            </a:r>
            <a:r>
              <a:rPr lang="zh-CN" altLang="en-US" sz="2400" b="1" dirty="0"/>
              <a:t>高</a:t>
            </a:r>
            <a:r>
              <a:rPr lang="en-US" altLang="zh-CN" sz="2400" b="1" dirty="0"/>
              <a:t>8</a:t>
            </a:r>
            <a:r>
              <a:rPr lang="zh-CN" altLang="en-US" sz="2400" b="1" dirty="0"/>
              <a:t>位不是</a:t>
            </a:r>
            <a:r>
              <a:rPr lang="en-US" altLang="zh-CN" sz="2400" b="1" dirty="0"/>
              <a:t>FFH</a:t>
            </a:r>
            <a:endParaRPr lang="zh-CN" altLang="en-US" sz="2400" b="1" dirty="0"/>
          </a:p>
        </p:txBody>
      </p:sp>
      <p:sp>
        <p:nvSpPr>
          <p:cNvPr id="437252" name="直接连接符 437251"/>
          <p:cNvSpPr/>
          <p:nvPr/>
        </p:nvSpPr>
        <p:spPr>
          <a:xfrm>
            <a:off x="755650" y="3573463"/>
            <a:ext cx="7704138" cy="0"/>
          </a:xfrm>
          <a:prstGeom prst="line">
            <a:avLst/>
          </a:prstGeom>
          <a:ln w="31750" cap="flat" cmpd="sng">
            <a:solidFill>
              <a:srgbClr val="339966"/>
            </a:solidFill>
            <a:prstDash val="solid"/>
            <a:headEnd type="none" w="med" len="med"/>
            <a:tailEnd type="none" w="med" len="med"/>
          </a:ln>
        </p:spPr>
      </p:sp>
      <p:pic>
        <p:nvPicPr>
          <p:cNvPr id="437253" name="图片 437252" descr="14_6">
            <a:hlinkClick r:id="rId3" action="ppaction://hlinksldjump"/>
          </p:cNvPr>
          <p:cNvPicPr>
            <a:picLocks noChangeAspect="1"/>
          </p:cNvPicPr>
          <p:nvPr/>
        </p:nvPicPr>
        <p:blipFill>
          <a:blip r:embed="rId4"/>
          <a:stretch>
            <a:fillRect/>
          </a:stretch>
        </p:blipFill>
        <p:spPr>
          <a:xfrm>
            <a:off x="8629650" y="5734050"/>
            <a:ext cx="514350" cy="533400"/>
          </a:xfrm>
          <a:prstGeom prst="rect">
            <a:avLst/>
          </a:prstGeom>
          <a:noFill/>
          <a:ln w="9525">
            <a:noFill/>
          </a:ln>
        </p:spPr>
      </p:pic>
      <p:sp>
        <p:nvSpPr>
          <p:cNvPr id="437254" name="矩形 437253"/>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标题 439297"/>
          <p:cNvSpPr>
            <a:spLocks noGrp="1"/>
          </p:cNvSpPr>
          <p:nvPr>
            <p:ph type="title"/>
          </p:nvPr>
        </p:nvSpPr>
        <p:spPr>
          <a:xfrm>
            <a:off x="395288" y="836613"/>
            <a:ext cx="2232025" cy="450850"/>
          </a:xfrm>
          <a:ln/>
        </p:spPr>
        <p:txBody>
          <a:bodyPr anchor="ctr"/>
          <a:lstStyle/>
          <a:p>
            <a:pPr algn="l"/>
            <a:r>
              <a:rPr lang="en-US" altLang="zh-CN" sz="2400" b="1" dirty="0">
                <a:solidFill>
                  <a:schemeClr val="tx1"/>
                </a:solidFill>
              </a:rPr>
              <a:t>4</a:t>
            </a:r>
            <a:r>
              <a:rPr lang="zh-CN" altLang="en-US" sz="2400" b="1" dirty="0">
                <a:solidFill>
                  <a:schemeClr val="tx1"/>
                </a:solidFill>
              </a:rPr>
              <a:t>、除法指令</a:t>
            </a:r>
            <a:endParaRPr lang="zh-CN" altLang="zh-CN" sz="2400" b="1" dirty="0">
              <a:solidFill>
                <a:schemeClr val="tx1"/>
              </a:solidFill>
            </a:endParaRPr>
          </a:p>
        </p:txBody>
      </p:sp>
      <p:sp>
        <p:nvSpPr>
          <p:cNvPr id="439299" name="文本占位符 439298"/>
          <p:cNvSpPr>
            <a:spLocks noGrp="1"/>
          </p:cNvSpPr>
          <p:nvPr>
            <p:ph type="body" sz="half" idx="1"/>
          </p:nvPr>
        </p:nvSpPr>
        <p:spPr>
          <a:xfrm>
            <a:off x="468313" y="1711325"/>
            <a:ext cx="8382000" cy="2078038"/>
          </a:xfrm>
          <a:solidFill>
            <a:schemeClr val="bg1"/>
          </a:solidFill>
          <a:ln w="12700">
            <a:solidFill>
              <a:schemeClr val="accent2"/>
            </a:solidFill>
            <a:miter/>
          </a:ln>
        </p:spPr>
        <p:txBody>
          <a:bodyPr/>
          <a:lstStyle/>
          <a:p>
            <a:pPr marL="0" indent="184150">
              <a:buClrTx/>
              <a:buNone/>
            </a:pPr>
            <a:r>
              <a:rPr lang="en-US" altLang="zh-CN" sz="2400" b="1" dirty="0">
                <a:latin typeface="宋体" panose="02010600030101010101" pitchFamily="2" charset="-122"/>
              </a:rPr>
              <a:t>DIV r8/m8	</a:t>
            </a:r>
            <a:r>
              <a:rPr lang="zh-CN" altLang="en-US" sz="2400" b="1" dirty="0">
                <a:latin typeface="宋体" panose="02010600030101010101" pitchFamily="2" charset="-122"/>
              </a:rPr>
              <a:t>；</a:t>
            </a:r>
            <a:r>
              <a:rPr lang="zh-CN" altLang="en-US" sz="2400" b="1" dirty="0">
                <a:solidFill>
                  <a:srgbClr val="0000FF"/>
                </a:solidFill>
                <a:latin typeface="宋体" panose="02010600030101010101" pitchFamily="2" charset="-122"/>
              </a:rPr>
              <a:t>无符号字节</a:t>
            </a:r>
            <a:r>
              <a:rPr lang="zh-CN" altLang="en-US" sz="2400" b="1" dirty="0">
                <a:latin typeface="宋体" panose="02010600030101010101" pitchFamily="2" charset="-122"/>
              </a:rPr>
              <a:t>除法：</a:t>
            </a:r>
          </a:p>
          <a:p>
            <a:pPr marL="0" indent="184150">
              <a:buClrTx/>
              <a:buNone/>
            </a:pPr>
            <a:r>
              <a:rPr lang="en-US" altLang="zh-CN" sz="2400" b="1" dirty="0">
                <a:latin typeface="宋体" panose="02010600030101010101" pitchFamily="2" charset="-122"/>
              </a:rPr>
              <a:t>AL←AX÷r8/m8</a:t>
            </a:r>
            <a:r>
              <a:rPr lang="zh-CN" altLang="en-US" sz="2400" b="1" dirty="0">
                <a:latin typeface="宋体" panose="02010600030101010101" pitchFamily="2" charset="-122"/>
              </a:rPr>
              <a:t>的商，</a:t>
            </a:r>
            <a:r>
              <a:rPr lang="en-US" altLang="zh-CN" sz="2400" b="1" dirty="0">
                <a:latin typeface="宋体" panose="02010600030101010101" pitchFamily="2" charset="-122"/>
              </a:rPr>
              <a:t>AH←AX÷r8/m8</a:t>
            </a:r>
            <a:r>
              <a:rPr lang="zh-CN" altLang="en-US" sz="2400" b="1" dirty="0">
                <a:latin typeface="宋体" panose="02010600030101010101" pitchFamily="2" charset="-122"/>
              </a:rPr>
              <a:t>的余数</a:t>
            </a:r>
          </a:p>
          <a:p>
            <a:pPr marL="0" indent="184150">
              <a:buClrTx/>
              <a:buNone/>
            </a:pPr>
            <a:r>
              <a:rPr lang="en-US" altLang="zh-CN" sz="2400" b="1" dirty="0">
                <a:latin typeface="宋体" panose="02010600030101010101" pitchFamily="2" charset="-122"/>
              </a:rPr>
              <a:t>DIV r16/m16	</a:t>
            </a:r>
            <a:r>
              <a:rPr lang="zh-CN" altLang="en-US" sz="2400" b="1" dirty="0">
                <a:latin typeface="宋体" panose="02010600030101010101" pitchFamily="2" charset="-122"/>
              </a:rPr>
              <a:t>；无符号</a:t>
            </a:r>
            <a:r>
              <a:rPr lang="zh-CN" altLang="en-US" sz="2400" b="1" dirty="0">
                <a:solidFill>
                  <a:srgbClr val="0000FF"/>
                </a:solidFill>
                <a:latin typeface="宋体" panose="02010600030101010101" pitchFamily="2" charset="-122"/>
              </a:rPr>
              <a:t>字</a:t>
            </a:r>
            <a:r>
              <a:rPr lang="zh-CN" altLang="en-US" sz="2400" b="1" dirty="0">
                <a:latin typeface="宋体" panose="02010600030101010101" pitchFamily="2" charset="-122"/>
              </a:rPr>
              <a:t>除法：</a:t>
            </a:r>
          </a:p>
          <a:p>
            <a:pPr marL="0" indent="184150">
              <a:buClrTx/>
              <a:buNone/>
            </a:pPr>
            <a:r>
              <a:rPr lang="zh-CN" altLang="zh-CN" sz="2400" b="1" dirty="0">
                <a:latin typeface="宋体" panose="02010600030101010101" pitchFamily="2" charset="-122"/>
              </a:rPr>
              <a:t>；</a:t>
            </a:r>
            <a:r>
              <a:rPr lang="en-US" altLang="zh-CN" sz="2400" b="1" dirty="0">
                <a:latin typeface="宋体" panose="02010600030101010101" pitchFamily="2" charset="-122"/>
              </a:rPr>
              <a:t>AX←DX.AX÷r16/m16</a:t>
            </a:r>
            <a:r>
              <a:rPr lang="zh-CN" altLang="en-US" sz="2400" b="1" dirty="0">
                <a:latin typeface="宋体" panose="02010600030101010101" pitchFamily="2" charset="-122"/>
              </a:rPr>
              <a:t>的商，</a:t>
            </a:r>
            <a:r>
              <a:rPr lang="en-US" altLang="zh-CN" sz="2400" b="1" dirty="0">
                <a:latin typeface="宋体" panose="02010600030101010101" pitchFamily="2" charset="-122"/>
              </a:rPr>
              <a:t>DX←DX.AX÷r16/m16</a:t>
            </a:r>
            <a:r>
              <a:rPr lang="zh-CN" altLang="en-US" sz="2400" b="1" dirty="0">
                <a:latin typeface="宋体" panose="02010600030101010101" pitchFamily="2" charset="-122"/>
              </a:rPr>
              <a:t>的余数</a:t>
            </a:r>
          </a:p>
        </p:txBody>
      </p:sp>
      <p:sp>
        <p:nvSpPr>
          <p:cNvPr id="439300" name="矩形 439299"/>
          <p:cNvSpPr/>
          <p:nvPr/>
        </p:nvSpPr>
        <p:spPr>
          <a:xfrm>
            <a:off x="457200" y="4025900"/>
            <a:ext cx="8382000" cy="1995488"/>
          </a:xfrm>
          <a:prstGeom prst="rect">
            <a:avLst/>
          </a:prstGeom>
          <a:solidFill>
            <a:schemeClr val="bg1"/>
          </a:solidFill>
          <a:ln w="12700" cap="flat" cmpd="sng">
            <a:solidFill>
              <a:schemeClr val="accent2"/>
            </a:solidFill>
            <a:prstDash val="solid"/>
            <a:miter/>
            <a:headEnd type="none" w="med" len="med"/>
            <a:tailEnd type="none" w="med" len="med"/>
          </a:ln>
        </p:spPr>
        <p: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184150">
              <a:buClrTx/>
              <a:buNone/>
            </a:pPr>
            <a:r>
              <a:rPr lang="en-US" altLang="zh-CN" sz="2400" b="1" dirty="0">
                <a:latin typeface="宋体" panose="02010600030101010101" pitchFamily="2" charset="-122"/>
              </a:rPr>
              <a:t>IDIV r8/m8	</a:t>
            </a:r>
            <a:r>
              <a:rPr lang="zh-CN" altLang="en-US" sz="2400" b="1" dirty="0">
                <a:latin typeface="宋体" panose="02010600030101010101" pitchFamily="2" charset="-122"/>
              </a:rPr>
              <a:t>；</a:t>
            </a:r>
            <a:r>
              <a:rPr lang="zh-CN" altLang="en-US" sz="2400" b="1" dirty="0">
                <a:solidFill>
                  <a:srgbClr val="0000FF"/>
                </a:solidFill>
                <a:latin typeface="宋体" panose="02010600030101010101" pitchFamily="2" charset="-122"/>
              </a:rPr>
              <a:t>有符号字节</a:t>
            </a:r>
            <a:r>
              <a:rPr lang="zh-CN" altLang="en-US" sz="2400" b="1" dirty="0">
                <a:latin typeface="宋体" panose="02010600030101010101" pitchFamily="2" charset="-122"/>
              </a:rPr>
              <a:t>除法：</a:t>
            </a:r>
          </a:p>
          <a:p>
            <a:pPr marL="0" lvl="0" indent="184150">
              <a:buClrTx/>
              <a:buNone/>
            </a:pPr>
            <a:r>
              <a:rPr lang="en-US" altLang="zh-CN" sz="2400" b="1" dirty="0">
                <a:latin typeface="宋体" panose="02010600030101010101" pitchFamily="2" charset="-122"/>
              </a:rPr>
              <a:t>AL←AX÷r8/m8</a:t>
            </a:r>
            <a:r>
              <a:rPr lang="zh-CN" altLang="en-US" sz="2400" b="1" dirty="0">
                <a:latin typeface="宋体" panose="02010600030101010101" pitchFamily="2" charset="-122"/>
              </a:rPr>
              <a:t>的商，</a:t>
            </a:r>
            <a:r>
              <a:rPr lang="en-US" altLang="zh-CN" sz="2400" b="1" dirty="0">
                <a:latin typeface="宋体" panose="02010600030101010101" pitchFamily="2" charset="-122"/>
              </a:rPr>
              <a:t>AH←AX÷r8/m8</a:t>
            </a:r>
            <a:r>
              <a:rPr lang="zh-CN" altLang="en-US" sz="2400" b="1" dirty="0">
                <a:latin typeface="宋体" panose="02010600030101010101" pitchFamily="2" charset="-122"/>
              </a:rPr>
              <a:t>的余数</a:t>
            </a:r>
          </a:p>
          <a:p>
            <a:pPr marL="0" lvl="0" indent="184150">
              <a:buClrTx/>
              <a:buNone/>
            </a:pPr>
            <a:r>
              <a:rPr lang="en-US" altLang="zh-CN" sz="2400" b="1" dirty="0">
                <a:latin typeface="宋体" panose="02010600030101010101" pitchFamily="2" charset="-122"/>
              </a:rPr>
              <a:t>IDIV r16/m16	</a:t>
            </a:r>
            <a:r>
              <a:rPr lang="zh-CN" altLang="en-US" sz="2400" b="1" dirty="0">
                <a:latin typeface="宋体" panose="02010600030101010101" pitchFamily="2" charset="-122"/>
              </a:rPr>
              <a:t>；有符号</a:t>
            </a:r>
            <a:r>
              <a:rPr lang="zh-CN" altLang="en-US" sz="2400" b="1" dirty="0">
                <a:solidFill>
                  <a:srgbClr val="0000FF"/>
                </a:solidFill>
                <a:latin typeface="宋体" panose="02010600030101010101" pitchFamily="2" charset="-122"/>
              </a:rPr>
              <a:t>字</a:t>
            </a:r>
            <a:r>
              <a:rPr lang="zh-CN" altLang="en-US" sz="2400" b="1" dirty="0">
                <a:latin typeface="宋体" panose="02010600030101010101" pitchFamily="2" charset="-122"/>
              </a:rPr>
              <a:t>除法：</a:t>
            </a:r>
          </a:p>
          <a:p>
            <a:pPr marL="0" lvl="0" indent="184150">
              <a:buClrTx/>
              <a:buNone/>
            </a:pPr>
            <a:r>
              <a:rPr lang="zh-CN" altLang="zh-CN" sz="2400" b="1" dirty="0">
                <a:latin typeface="宋体" panose="02010600030101010101" pitchFamily="2" charset="-122"/>
              </a:rPr>
              <a:t>；</a:t>
            </a:r>
            <a:r>
              <a:rPr lang="en-US" altLang="zh-CN" sz="2400" b="1" dirty="0">
                <a:latin typeface="宋体" panose="02010600030101010101" pitchFamily="2" charset="-122"/>
              </a:rPr>
              <a:t>AX←DX.AX÷r16/m16</a:t>
            </a:r>
            <a:r>
              <a:rPr lang="zh-CN" altLang="en-US" sz="2400" b="1" dirty="0">
                <a:latin typeface="宋体" panose="02010600030101010101" pitchFamily="2" charset="-122"/>
              </a:rPr>
              <a:t>的商，</a:t>
            </a:r>
            <a:r>
              <a:rPr lang="en-US" altLang="zh-CN" sz="2400" b="1" dirty="0">
                <a:latin typeface="宋体" panose="02010600030101010101" pitchFamily="2" charset="-122"/>
              </a:rPr>
              <a:t>DX←DX.AX÷r16/m16</a:t>
            </a:r>
            <a:r>
              <a:rPr lang="zh-CN" altLang="en-US" sz="2400" b="1" dirty="0">
                <a:latin typeface="宋体" panose="02010600030101010101" pitchFamily="2" charset="-122"/>
              </a:rPr>
              <a:t>的余数</a:t>
            </a:r>
          </a:p>
        </p:txBody>
      </p:sp>
      <p:sp>
        <p:nvSpPr>
          <p:cNvPr id="439302" name="矩形 439301"/>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1346" name="标题 441345"/>
          <p:cNvSpPr>
            <a:spLocks noGrp="1"/>
          </p:cNvSpPr>
          <p:nvPr>
            <p:ph type="title"/>
          </p:nvPr>
        </p:nvSpPr>
        <p:spPr>
          <a:xfrm>
            <a:off x="468313" y="836613"/>
            <a:ext cx="2354262" cy="496887"/>
          </a:xfrm>
          <a:ln/>
        </p:spPr>
        <p:txBody>
          <a:bodyPr lIns="0" tIns="0" rIns="0" bIns="0" anchor="ctr"/>
          <a:lstStyle/>
          <a:p>
            <a:pPr algn="l"/>
            <a:r>
              <a:rPr lang="zh-CN" altLang="en-US" sz="2400" b="1" dirty="0">
                <a:solidFill>
                  <a:schemeClr val="tx1"/>
                </a:solidFill>
              </a:rPr>
              <a:t>除法指令的功能</a:t>
            </a:r>
          </a:p>
        </p:txBody>
      </p:sp>
      <p:sp>
        <p:nvSpPr>
          <p:cNvPr id="441347" name="文本占位符 441346"/>
          <p:cNvSpPr>
            <a:spLocks noGrp="1"/>
          </p:cNvSpPr>
          <p:nvPr>
            <p:ph type="body" idx="1"/>
          </p:nvPr>
        </p:nvSpPr>
        <p:spPr>
          <a:xfrm>
            <a:off x="395288" y="1341438"/>
            <a:ext cx="8424862" cy="2879725"/>
          </a:xfrm>
          <a:ln/>
        </p:spPr>
        <p:txBody>
          <a:bodyPr/>
          <a:lstStyle/>
          <a:p>
            <a:pPr marL="0" indent="0">
              <a:buClrTx/>
              <a:buNone/>
            </a:pPr>
            <a:r>
              <a:rPr lang="zh-CN" altLang="en-US" sz="2400" b="1" dirty="0"/>
              <a:t>除法指令分无符号和有符号除法指令，除数显式给出，隐含使用另一个操作数</a:t>
            </a:r>
            <a:r>
              <a:rPr lang="en-US" altLang="zh-CN" sz="2400" b="1"/>
              <a:t>AX</a:t>
            </a:r>
            <a:r>
              <a:rPr lang="zh-CN" altLang="en-US" sz="2400" b="1"/>
              <a:t>和</a:t>
            </a:r>
            <a:r>
              <a:rPr lang="en-US" altLang="zh-CN" sz="2400" b="1"/>
              <a:t>DX</a:t>
            </a:r>
            <a:r>
              <a:rPr lang="zh-CN" altLang="en-US" sz="2400" b="1" dirty="0"/>
              <a:t>作为被除数。</a:t>
            </a:r>
          </a:p>
          <a:p>
            <a:pPr marL="825500" lvl="1">
              <a:buClr>
                <a:srgbClr val="0000FF"/>
              </a:buClr>
              <a:buFont typeface="Wingdings" panose="05000000000000000000" pitchFamily="2" charset="2"/>
              <a:buChar char="ü"/>
            </a:pPr>
            <a:r>
              <a:rPr lang="zh-CN" altLang="en-US" sz="2400" b="1" dirty="0"/>
              <a:t>字节数据除法：</a:t>
            </a:r>
            <a:r>
              <a:rPr lang="en-US" altLang="zh-CN" sz="2400" b="1"/>
              <a:t>AX</a:t>
            </a:r>
            <a:r>
              <a:rPr lang="zh-CN" altLang="en-US" sz="2400" b="1" dirty="0"/>
              <a:t>除以</a:t>
            </a:r>
            <a:r>
              <a:rPr lang="en-US" altLang="zh-CN" sz="2400" b="1"/>
              <a:t>r8/m8</a:t>
            </a:r>
            <a:r>
              <a:rPr lang="zh-CN" altLang="en-US" sz="2400" b="1"/>
              <a:t>，</a:t>
            </a:r>
            <a:r>
              <a:rPr lang="en-US" altLang="zh-CN" sz="2400" b="1"/>
              <a:t>8</a:t>
            </a:r>
            <a:r>
              <a:rPr lang="zh-CN" altLang="en-US" sz="2400" b="1" dirty="0"/>
              <a:t>位商存入</a:t>
            </a:r>
            <a:r>
              <a:rPr lang="en-US" altLang="zh-CN" sz="2400" b="1"/>
              <a:t>AL</a:t>
            </a:r>
            <a:r>
              <a:rPr lang="zh-CN" altLang="en-US" sz="2400" b="1"/>
              <a:t>，</a:t>
            </a:r>
            <a:r>
              <a:rPr lang="en-US" altLang="zh-CN" sz="2400" b="1"/>
              <a:t>8</a:t>
            </a:r>
            <a:r>
              <a:rPr lang="zh-CN" altLang="en-US" sz="2400" b="1" dirty="0"/>
              <a:t>位余数存入</a:t>
            </a:r>
            <a:r>
              <a:rPr lang="en-US" altLang="zh-CN" sz="2400" b="1"/>
              <a:t>AH</a:t>
            </a:r>
          </a:p>
          <a:p>
            <a:pPr marL="825500" lvl="1">
              <a:buClr>
                <a:srgbClr val="0000FF"/>
              </a:buClr>
              <a:buFont typeface="Wingdings" panose="05000000000000000000" pitchFamily="2" charset="2"/>
              <a:buChar char="ü"/>
            </a:pPr>
            <a:r>
              <a:rPr lang="zh-CN" altLang="en-US" sz="2400" b="1" dirty="0"/>
              <a:t>字数据除法：</a:t>
            </a:r>
            <a:r>
              <a:rPr lang="en-US" altLang="zh-CN" sz="2400" b="1"/>
              <a:t>DX.AX</a:t>
            </a:r>
            <a:r>
              <a:rPr lang="zh-CN" altLang="en-US" sz="2400" b="1" dirty="0"/>
              <a:t>除以</a:t>
            </a:r>
            <a:r>
              <a:rPr lang="en-US" altLang="zh-CN" sz="2400" b="1"/>
              <a:t>r16/m16</a:t>
            </a:r>
            <a:r>
              <a:rPr lang="zh-CN" altLang="en-US" sz="2400" b="1"/>
              <a:t>，</a:t>
            </a:r>
            <a:r>
              <a:rPr lang="en-US" altLang="zh-CN" sz="2400" b="1"/>
              <a:t>16</a:t>
            </a:r>
            <a:r>
              <a:rPr lang="zh-CN" altLang="en-US" sz="2400" b="1" dirty="0"/>
              <a:t>位商存入</a:t>
            </a:r>
            <a:r>
              <a:rPr lang="en-US" altLang="zh-CN" sz="2400" b="1"/>
              <a:t>AX</a:t>
            </a:r>
            <a:r>
              <a:rPr lang="zh-CN" altLang="en-US" sz="2400" b="1"/>
              <a:t>，</a:t>
            </a:r>
            <a:r>
              <a:rPr lang="en-US" altLang="zh-CN" sz="2400" b="1"/>
              <a:t>16</a:t>
            </a:r>
            <a:r>
              <a:rPr lang="zh-CN" altLang="en-US" sz="2400" b="1" dirty="0"/>
              <a:t>位余数存入</a:t>
            </a:r>
            <a:r>
              <a:rPr lang="en-US" altLang="zh-CN" sz="2400" b="1"/>
              <a:t>DX</a:t>
            </a:r>
          </a:p>
          <a:p>
            <a:pPr marL="0" indent="0">
              <a:buClrTx/>
              <a:buNone/>
            </a:pPr>
            <a:r>
              <a:rPr lang="zh-CN" altLang="en-US" sz="2400" b="1" dirty="0"/>
              <a:t>除法指令对标志没有定义，但会产生</a:t>
            </a:r>
            <a:r>
              <a:rPr lang="zh-CN" altLang="en-US" sz="2400" b="1" dirty="0">
                <a:solidFill>
                  <a:srgbClr val="0000FF"/>
                </a:solidFill>
              </a:rPr>
              <a:t>除法溢出</a:t>
            </a:r>
            <a:r>
              <a:rPr lang="zh-CN" altLang="en-US" sz="2400" b="1" dirty="0"/>
              <a:t>。</a:t>
            </a:r>
            <a:endParaRPr lang="zh-CN" altLang="en-US" sz="2400" b="1"/>
          </a:p>
        </p:txBody>
      </p:sp>
      <p:sp>
        <p:nvSpPr>
          <p:cNvPr id="441348" name="矩形 44134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441349" name="矩形 441348"/>
          <p:cNvSpPr/>
          <p:nvPr/>
        </p:nvSpPr>
        <p:spPr>
          <a:xfrm>
            <a:off x="250825" y="4292600"/>
            <a:ext cx="8569325" cy="2108200"/>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a:buClrTx/>
              <a:buNone/>
            </a:pPr>
            <a:r>
              <a:rPr lang="en-US" altLang="zh-CN" sz="2400" b="1" dirty="0"/>
              <a:t>      </a:t>
            </a:r>
            <a:r>
              <a:rPr lang="en-US" altLang="zh-CN" sz="2400" b="1" dirty="0">
                <a:solidFill>
                  <a:srgbClr val="0000FF"/>
                </a:solidFill>
              </a:rPr>
              <a:t>DIV</a:t>
            </a:r>
            <a:r>
              <a:rPr lang="zh-CN" altLang="en-US" sz="2400" b="1" dirty="0">
                <a:solidFill>
                  <a:srgbClr val="0000FF"/>
                </a:solidFill>
              </a:rPr>
              <a:t>指令：</a:t>
            </a:r>
            <a:r>
              <a:rPr lang="zh-CN" altLang="en-US" sz="2400" b="1" dirty="0"/>
              <a:t>除数为</a:t>
            </a:r>
            <a:r>
              <a:rPr lang="en-US" altLang="zh-CN" sz="2400" b="1" dirty="0"/>
              <a:t>0</a:t>
            </a:r>
            <a:r>
              <a:rPr lang="zh-CN" altLang="en-US" sz="2400" b="1" dirty="0"/>
              <a:t>，或者在</a:t>
            </a:r>
            <a:r>
              <a:rPr lang="zh-CN" altLang="en-US" sz="2400" b="1" dirty="0">
                <a:solidFill>
                  <a:srgbClr val="0000FF"/>
                </a:solidFill>
              </a:rPr>
              <a:t>字节</a:t>
            </a:r>
            <a:r>
              <a:rPr lang="zh-CN" altLang="en-US" sz="2400" b="1" dirty="0"/>
              <a:t>除时商超过</a:t>
            </a:r>
            <a:r>
              <a:rPr lang="en-US" altLang="zh-CN" sz="2400" b="1" dirty="0">
                <a:solidFill>
                  <a:srgbClr val="0000FF"/>
                </a:solidFill>
              </a:rPr>
              <a:t>8</a:t>
            </a:r>
            <a:r>
              <a:rPr lang="zh-CN" altLang="en-US" sz="2400" b="1" dirty="0"/>
              <a:t>位，或者在</a:t>
            </a:r>
            <a:r>
              <a:rPr lang="zh-CN" altLang="en-US" sz="2400" b="1" dirty="0">
                <a:solidFill>
                  <a:srgbClr val="0000FF"/>
                </a:solidFill>
              </a:rPr>
              <a:t>字</a:t>
            </a:r>
            <a:r>
              <a:rPr lang="zh-CN" altLang="en-US" sz="2400" b="1" dirty="0"/>
              <a:t>除时商超过</a:t>
            </a:r>
            <a:r>
              <a:rPr lang="en-US" altLang="zh-CN" sz="2400" b="1" dirty="0">
                <a:solidFill>
                  <a:srgbClr val="0000FF"/>
                </a:solidFill>
              </a:rPr>
              <a:t>16</a:t>
            </a:r>
            <a:r>
              <a:rPr lang="zh-CN" altLang="en-US" sz="2400" b="1" dirty="0"/>
              <a:t>位，则发生除法溢出</a:t>
            </a:r>
          </a:p>
          <a:p>
            <a:pPr marL="179705" lvl="1" indent="0">
              <a:buClrTx/>
              <a:buNone/>
            </a:pPr>
            <a:r>
              <a:rPr lang="en-US" altLang="zh-CN" sz="2400" b="1" dirty="0">
                <a:solidFill>
                  <a:srgbClr val="0000FF"/>
                </a:solidFill>
              </a:rPr>
              <a:t>    IDIV</a:t>
            </a:r>
            <a:r>
              <a:rPr lang="zh-CN" altLang="en-US" sz="2400" b="1" dirty="0">
                <a:solidFill>
                  <a:srgbClr val="0000FF"/>
                </a:solidFill>
              </a:rPr>
              <a:t>指令：</a:t>
            </a:r>
            <a:r>
              <a:rPr lang="zh-CN" altLang="en-US" sz="2400" b="1" dirty="0"/>
              <a:t>除数为</a:t>
            </a:r>
            <a:r>
              <a:rPr lang="en-US" altLang="zh-CN" sz="2400" b="1" dirty="0"/>
              <a:t>0</a:t>
            </a:r>
            <a:r>
              <a:rPr lang="zh-CN" altLang="en-US" sz="2400" b="1" dirty="0"/>
              <a:t>，或者在</a:t>
            </a:r>
            <a:r>
              <a:rPr lang="zh-CN" altLang="en-US" sz="2400" b="1" dirty="0">
                <a:solidFill>
                  <a:srgbClr val="0000FF"/>
                </a:solidFill>
              </a:rPr>
              <a:t>字节</a:t>
            </a:r>
            <a:r>
              <a:rPr lang="zh-CN" altLang="en-US" sz="2400" b="1" dirty="0"/>
              <a:t>除时商不在</a:t>
            </a:r>
            <a:r>
              <a:rPr lang="en-US" altLang="zh-CN" sz="2400" b="1" dirty="0">
                <a:solidFill>
                  <a:srgbClr val="0000FF"/>
                </a:solidFill>
              </a:rPr>
              <a:t>-128</a:t>
            </a:r>
            <a:r>
              <a:rPr lang="zh-CN" altLang="en-US" sz="2400" b="1" dirty="0">
                <a:solidFill>
                  <a:srgbClr val="0000FF"/>
                </a:solidFill>
              </a:rPr>
              <a:t>～</a:t>
            </a:r>
            <a:r>
              <a:rPr lang="en-US" altLang="zh-CN" sz="2400" b="1" dirty="0">
                <a:solidFill>
                  <a:srgbClr val="0000FF"/>
                </a:solidFill>
              </a:rPr>
              <a:t>127</a:t>
            </a:r>
            <a:r>
              <a:rPr lang="zh-CN" altLang="en-US" sz="2400" b="1" dirty="0"/>
              <a:t>范围内，或者在</a:t>
            </a:r>
            <a:r>
              <a:rPr lang="zh-CN" altLang="en-US" sz="2400" b="1" dirty="0">
                <a:solidFill>
                  <a:srgbClr val="0000FF"/>
                </a:solidFill>
              </a:rPr>
              <a:t>字</a:t>
            </a:r>
            <a:r>
              <a:rPr lang="zh-CN" altLang="en-US" sz="2400" b="1" dirty="0"/>
              <a:t>除时商不在</a:t>
            </a:r>
            <a:r>
              <a:rPr lang="en-US" altLang="zh-CN" sz="2400" b="1" dirty="0">
                <a:solidFill>
                  <a:srgbClr val="0000FF"/>
                </a:solidFill>
              </a:rPr>
              <a:t>-32768</a:t>
            </a:r>
            <a:r>
              <a:rPr lang="zh-CN" altLang="en-US" sz="2400" b="1" dirty="0">
                <a:solidFill>
                  <a:srgbClr val="0000FF"/>
                </a:solidFill>
              </a:rPr>
              <a:t>～</a:t>
            </a:r>
            <a:r>
              <a:rPr lang="en-US" altLang="zh-CN" sz="2400" b="1" dirty="0">
                <a:solidFill>
                  <a:srgbClr val="0000FF"/>
                </a:solidFill>
              </a:rPr>
              <a:t>32767</a:t>
            </a:r>
            <a:r>
              <a:rPr lang="zh-CN" altLang="en-US" sz="2400" b="1" dirty="0"/>
              <a:t>范围内，则发生</a:t>
            </a:r>
            <a:r>
              <a:rPr lang="zh-CN" altLang="en-US" sz="2400" b="1" dirty="0">
                <a:solidFill>
                  <a:srgbClr val="FF00FF"/>
                </a:solidFill>
              </a:rPr>
              <a:t>除法溢出</a:t>
            </a:r>
          </a:p>
        </p:txBody>
      </p:sp>
    </p:spTree>
  </p:cSld>
  <p:clrMapOvr>
    <a:masterClrMapping/>
  </p:clrMapOvr>
  <p:transition spd="med">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标题 445441"/>
          <p:cNvSpPr>
            <a:spLocks noGrp="1"/>
          </p:cNvSpPr>
          <p:nvPr>
            <p:ph type="title"/>
          </p:nvPr>
        </p:nvSpPr>
        <p:spPr>
          <a:xfrm>
            <a:off x="250825" y="908050"/>
            <a:ext cx="2808288" cy="433388"/>
          </a:xfrm>
          <a:ln/>
        </p:spPr>
        <p:txBody>
          <a:bodyPr anchor="ctr"/>
          <a:lstStyle/>
          <a:p>
            <a:pPr algn="l"/>
            <a:r>
              <a:rPr lang="en-US" altLang="zh-CN" sz="2400" b="1" dirty="0">
                <a:solidFill>
                  <a:schemeClr val="tx1"/>
                </a:solidFill>
              </a:rPr>
              <a:t>5</a:t>
            </a:r>
            <a:r>
              <a:rPr lang="zh-CN" altLang="en-US" sz="2400" b="1" dirty="0">
                <a:solidFill>
                  <a:schemeClr val="tx1"/>
                </a:solidFill>
              </a:rPr>
              <a:t>、符号扩展指令</a:t>
            </a:r>
            <a:endParaRPr lang="zh-CN" altLang="zh-CN" sz="2400" b="1" dirty="0">
              <a:solidFill>
                <a:schemeClr val="tx1"/>
              </a:solidFill>
            </a:endParaRPr>
          </a:p>
        </p:txBody>
      </p:sp>
      <p:sp>
        <p:nvSpPr>
          <p:cNvPr id="445443" name="文本占位符 445442"/>
          <p:cNvSpPr>
            <a:spLocks noGrp="1"/>
          </p:cNvSpPr>
          <p:nvPr>
            <p:ph type="body" sz="half" idx="1"/>
          </p:nvPr>
        </p:nvSpPr>
        <p:spPr>
          <a:xfrm>
            <a:off x="1028700" y="2311400"/>
            <a:ext cx="6423025" cy="1333500"/>
          </a:xfrm>
          <a:solidFill>
            <a:schemeClr val="bg1"/>
          </a:solidFill>
          <a:ln>
            <a:solidFill>
              <a:schemeClr val="accent2"/>
            </a:solidFill>
            <a:miter/>
          </a:ln>
        </p:spPr>
        <p:txBody>
          <a:bodyPr/>
          <a:lstStyle/>
          <a:p>
            <a:pPr marL="0" indent="190500">
              <a:lnSpc>
                <a:spcPct val="90000"/>
              </a:lnSpc>
              <a:buClrTx/>
              <a:buNone/>
            </a:pPr>
            <a:r>
              <a:rPr lang="en-US" altLang="zh-CN" sz="2400" b="1" dirty="0">
                <a:solidFill>
                  <a:srgbClr val="0000FF"/>
                </a:solidFill>
                <a:latin typeface="宋体" panose="02010600030101010101" pitchFamily="2" charset="-122"/>
              </a:rPr>
              <a:t>CBW</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AL</a:t>
            </a:r>
            <a:r>
              <a:rPr lang="zh-CN" altLang="en-US" sz="2400" b="1" dirty="0">
                <a:latin typeface="宋体" panose="02010600030101010101" pitchFamily="2" charset="-122"/>
              </a:rPr>
              <a:t>的符号扩展至</a:t>
            </a:r>
            <a:r>
              <a:rPr lang="en-US" altLang="zh-CN" sz="2400" b="1" dirty="0">
                <a:latin typeface="宋体" panose="02010600030101010101" pitchFamily="2" charset="-122"/>
              </a:rPr>
              <a:t>AH</a:t>
            </a:r>
          </a:p>
          <a:p>
            <a:pPr marL="0" indent="190500">
              <a:lnSpc>
                <a:spcPct val="90000"/>
              </a:lnSpc>
              <a:buClrTx/>
              <a:buNone/>
            </a:pPr>
            <a:r>
              <a:rPr lang="zh-CN" altLang="en-US" sz="2400" b="1" dirty="0">
                <a:latin typeface="宋体" panose="02010600030101010101" pitchFamily="2" charset="-122"/>
              </a:rPr>
              <a:t>；若</a:t>
            </a:r>
            <a:r>
              <a:rPr lang="en-US" altLang="zh-CN" sz="2400" b="1" dirty="0">
                <a:latin typeface="宋体" panose="02010600030101010101" pitchFamily="2" charset="-122"/>
              </a:rPr>
              <a:t>AL</a:t>
            </a:r>
            <a:r>
              <a:rPr lang="zh-CN" altLang="en-US" sz="2400" b="1" dirty="0">
                <a:latin typeface="宋体" panose="02010600030101010101" pitchFamily="2" charset="-122"/>
              </a:rPr>
              <a:t>的最高位是</a:t>
            </a:r>
            <a:r>
              <a:rPr lang="en-US" altLang="zh-CN" sz="2400" b="1" dirty="0">
                <a:latin typeface="宋体" panose="02010600030101010101" pitchFamily="2" charset="-122"/>
              </a:rPr>
              <a:t>0</a:t>
            </a:r>
            <a:r>
              <a:rPr lang="zh-CN" altLang="en-US" sz="2400" b="1" dirty="0">
                <a:latin typeface="宋体" panose="02010600030101010101" pitchFamily="2" charset="-122"/>
              </a:rPr>
              <a:t>，则</a:t>
            </a:r>
            <a:r>
              <a:rPr lang="en-US" altLang="zh-CN" sz="2400" b="1" dirty="0">
                <a:latin typeface="宋体" panose="02010600030101010101" pitchFamily="2" charset="-122"/>
              </a:rPr>
              <a:t>AH</a:t>
            </a:r>
            <a:r>
              <a:rPr lang="zh-CN" altLang="en-US" sz="2400" b="1" dirty="0">
                <a:latin typeface="宋体" panose="02010600030101010101" pitchFamily="2" charset="-122"/>
              </a:rPr>
              <a:t>＝</a:t>
            </a:r>
            <a:r>
              <a:rPr lang="en-US" altLang="zh-CN" sz="2400" b="1" dirty="0">
                <a:latin typeface="宋体" panose="02010600030101010101" pitchFamily="2" charset="-122"/>
              </a:rPr>
              <a:t>00</a:t>
            </a:r>
          </a:p>
          <a:p>
            <a:pPr marL="0" indent="190500">
              <a:lnSpc>
                <a:spcPct val="90000"/>
              </a:lnSpc>
              <a:buClrTx/>
              <a:buNone/>
            </a:pPr>
            <a:r>
              <a:rPr lang="zh-CN" altLang="en-US" sz="2400" b="1" dirty="0">
                <a:latin typeface="宋体" panose="02010600030101010101" pitchFamily="2" charset="-122"/>
              </a:rPr>
              <a:t>；</a:t>
            </a:r>
            <a:r>
              <a:rPr lang="en-US" altLang="zh-CN" sz="2400" b="1" dirty="0">
                <a:latin typeface="宋体" panose="02010600030101010101" pitchFamily="2" charset="-122"/>
              </a:rPr>
              <a:t>AL</a:t>
            </a:r>
            <a:r>
              <a:rPr lang="zh-CN" altLang="en-US" sz="2400" b="1" dirty="0">
                <a:latin typeface="宋体" panose="02010600030101010101" pitchFamily="2" charset="-122"/>
              </a:rPr>
              <a:t>的最高位为</a:t>
            </a:r>
            <a:r>
              <a:rPr lang="en-US" altLang="zh-CN" sz="2400" b="1" dirty="0">
                <a:latin typeface="宋体" panose="02010600030101010101" pitchFamily="2" charset="-122"/>
              </a:rPr>
              <a:t>1</a:t>
            </a:r>
            <a:r>
              <a:rPr lang="zh-CN" altLang="en-US" sz="2400" b="1" dirty="0">
                <a:latin typeface="宋体" panose="02010600030101010101" pitchFamily="2" charset="-122"/>
              </a:rPr>
              <a:t>，则</a:t>
            </a:r>
            <a:r>
              <a:rPr lang="en-US" altLang="zh-CN" sz="2400" b="1" dirty="0">
                <a:latin typeface="宋体" panose="02010600030101010101" pitchFamily="2" charset="-122"/>
              </a:rPr>
              <a:t>AH</a:t>
            </a:r>
            <a:r>
              <a:rPr lang="zh-CN" altLang="en-US" sz="2400" b="1" dirty="0">
                <a:latin typeface="宋体" panose="02010600030101010101" pitchFamily="2" charset="-122"/>
              </a:rPr>
              <a:t>＝</a:t>
            </a:r>
            <a:r>
              <a:rPr lang="en-US" altLang="zh-CN" sz="2400" b="1" dirty="0">
                <a:latin typeface="宋体" panose="02010600030101010101" pitchFamily="2" charset="-122"/>
              </a:rPr>
              <a:t>FFH</a:t>
            </a:r>
            <a:r>
              <a:rPr lang="zh-CN" altLang="en-US" sz="2400" b="1" dirty="0">
                <a:latin typeface="宋体" panose="02010600030101010101" pitchFamily="2" charset="-122"/>
              </a:rPr>
              <a:t>，</a:t>
            </a:r>
            <a:r>
              <a:rPr lang="en-US" altLang="zh-CN" sz="2400" b="1" dirty="0">
                <a:latin typeface="宋体" panose="02010600030101010101" pitchFamily="2" charset="-122"/>
              </a:rPr>
              <a:t>AL</a:t>
            </a:r>
            <a:r>
              <a:rPr lang="zh-CN" altLang="en-US" sz="2400" b="1" dirty="0">
                <a:latin typeface="宋体" panose="02010600030101010101" pitchFamily="2" charset="-122"/>
              </a:rPr>
              <a:t>不变</a:t>
            </a:r>
            <a:endParaRPr lang="zh-CN" altLang="zh-CN" sz="2400" b="1" dirty="0">
              <a:latin typeface="宋体" panose="02010600030101010101" pitchFamily="2" charset="-122"/>
            </a:endParaRPr>
          </a:p>
        </p:txBody>
      </p:sp>
      <p:sp>
        <p:nvSpPr>
          <p:cNvPr id="445444" name="文本占位符 445443"/>
          <p:cNvSpPr>
            <a:spLocks noGrp="1"/>
          </p:cNvSpPr>
          <p:nvPr>
            <p:ph type="body" sz="half" idx="2"/>
          </p:nvPr>
        </p:nvSpPr>
        <p:spPr>
          <a:xfrm>
            <a:off x="1028700" y="4064000"/>
            <a:ext cx="6638925" cy="1381125"/>
          </a:xfrm>
          <a:solidFill>
            <a:schemeClr val="bg1">
              <a:alpha val="100000"/>
            </a:schemeClr>
          </a:solidFill>
          <a:ln>
            <a:solidFill>
              <a:schemeClr val="accent2">
                <a:alpha val="100000"/>
              </a:schemeClr>
            </a:solidFill>
            <a:miter lim="800000"/>
          </a:ln>
        </p:spPr>
        <p:txBody>
          <a:bodyPr vert="horz" wrap="square" lIns="91440" tIns="45720" rIns="91440" bIns="45720" anchor="t"/>
          <a:lstStyle/>
          <a:p>
            <a:pPr marL="0" indent="190500">
              <a:lnSpc>
                <a:spcPct val="90000"/>
              </a:lnSpc>
              <a:buClrTx/>
              <a:buNone/>
            </a:pPr>
            <a:r>
              <a:rPr lang="en-US" altLang="zh-CN" sz="2400" b="1" dirty="0">
                <a:solidFill>
                  <a:srgbClr val="0000FF"/>
                </a:solidFill>
                <a:latin typeface="宋体" panose="02010600030101010101" pitchFamily="2" charset="-122"/>
              </a:rPr>
              <a:t>CWD</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AX</a:t>
            </a:r>
            <a:r>
              <a:rPr lang="zh-CN" altLang="en-US" sz="2400" b="1" dirty="0">
                <a:latin typeface="宋体" panose="02010600030101010101" pitchFamily="2" charset="-122"/>
              </a:rPr>
              <a:t>的符号扩展至</a:t>
            </a:r>
            <a:r>
              <a:rPr lang="en-US" altLang="zh-CN" sz="2400" b="1" dirty="0">
                <a:latin typeface="宋体" panose="02010600030101010101" pitchFamily="2" charset="-122"/>
              </a:rPr>
              <a:t>DX</a:t>
            </a:r>
          </a:p>
          <a:p>
            <a:pPr marL="0" indent="190500">
              <a:lnSpc>
                <a:spcPct val="90000"/>
              </a:lnSpc>
              <a:buClrTx/>
              <a:buNone/>
            </a:pPr>
            <a:r>
              <a:rPr lang="zh-CN" altLang="en-US" sz="2400" b="1" dirty="0">
                <a:latin typeface="宋体" panose="02010600030101010101" pitchFamily="2" charset="-122"/>
              </a:rPr>
              <a:t>；若</a:t>
            </a:r>
            <a:r>
              <a:rPr lang="en-US" altLang="zh-CN" sz="2400" b="1" dirty="0">
                <a:latin typeface="宋体" panose="02010600030101010101" pitchFamily="2" charset="-122"/>
              </a:rPr>
              <a:t>AX</a:t>
            </a:r>
            <a:r>
              <a:rPr lang="zh-CN" altLang="en-US" sz="2400" b="1" dirty="0">
                <a:latin typeface="宋体" panose="02010600030101010101" pitchFamily="2" charset="-122"/>
              </a:rPr>
              <a:t>的最高位是</a:t>
            </a:r>
            <a:r>
              <a:rPr lang="en-US" altLang="zh-CN" sz="2400" b="1" dirty="0">
                <a:latin typeface="宋体" panose="02010600030101010101" pitchFamily="2" charset="-122"/>
              </a:rPr>
              <a:t>0</a:t>
            </a:r>
            <a:r>
              <a:rPr lang="zh-CN" altLang="en-US" sz="2400" b="1" dirty="0">
                <a:latin typeface="宋体" panose="02010600030101010101" pitchFamily="2" charset="-122"/>
              </a:rPr>
              <a:t>，则</a:t>
            </a:r>
            <a:r>
              <a:rPr lang="en-US" altLang="zh-CN" sz="2400" b="1" dirty="0">
                <a:latin typeface="宋体" panose="02010600030101010101" pitchFamily="2" charset="-122"/>
              </a:rPr>
              <a:t>DX</a:t>
            </a:r>
            <a:r>
              <a:rPr lang="zh-CN" altLang="en-US" sz="2400" b="1" dirty="0">
                <a:latin typeface="宋体" panose="02010600030101010101" pitchFamily="2" charset="-122"/>
              </a:rPr>
              <a:t>＝</a:t>
            </a:r>
            <a:r>
              <a:rPr lang="en-US" altLang="zh-CN" sz="2400" b="1" dirty="0">
                <a:latin typeface="宋体" panose="02010600030101010101" pitchFamily="2" charset="-122"/>
              </a:rPr>
              <a:t>00</a:t>
            </a:r>
          </a:p>
          <a:p>
            <a:pPr marL="0" indent="190500">
              <a:lnSpc>
                <a:spcPct val="90000"/>
              </a:lnSpc>
              <a:buClrTx/>
              <a:buNone/>
            </a:pPr>
            <a:r>
              <a:rPr lang="zh-CN" altLang="en-US" sz="2400" b="1" dirty="0">
                <a:latin typeface="宋体" panose="02010600030101010101" pitchFamily="2" charset="-122"/>
              </a:rPr>
              <a:t>；</a:t>
            </a:r>
            <a:r>
              <a:rPr lang="en-US" altLang="zh-CN" sz="2400" b="1" dirty="0">
                <a:latin typeface="宋体" panose="02010600030101010101" pitchFamily="2" charset="-122"/>
              </a:rPr>
              <a:t>AX</a:t>
            </a:r>
            <a:r>
              <a:rPr lang="zh-CN" altLang="en-US" sz="2400" b="1" dirty="0">
                <a:latin typeface="宋体" panose="02010600030101010101" pitchFamily="2" charset="-122"/>
              </a:rPr>
              <a:t>的最高位为</a:t>
            </a:r>
            <a:r>
              <a:rPr lang="en-US" altLang="zh-CN" sz="2400" b="1" dirty="0">
                <a:latin typeface="宋体" panose="02010600030101010101" pitchFamily="2" charset="-122"/>
              </a:rPr>
              <a:t>1</a:t>
            </a:r>
            <a:r>
              <a:rPr lang="zh-CN" altLang="en-US" sz="2400" b="1" dirty="0">
                <a:latin typeface="宋体" panose="02010600030101010101" pitchFamily="2" charset="-122"/>
              </a:rPr>
              <a:t>，则</a:t>
            </a:r>
            <a:r>
              <a:rPr lang="en-US" altLang="zh-CN" sz="2400" b="1" dirty="0">
                <a:latin typeface="宋体" panose="02010600030101010101" pitchFamily="2" charset="-122"/>
              </a:rPr>
              <a:t>DX</a:t>
            </a:r>
            <a:r>
              <a:rPr lang="zh-CN" altLang="en-US" sz="2400" b="1" dirty="0">
                <a:latin typeface="宋体" panose="02010600030101010101" pitchFamily="2" charset="-122"/>
              </a:rPr>
              <a:t>＝</a:t>
            </a:r>
            <a:r>
              <a:rPr lang="en-US" altLang="zh-CN" sz="2400" b="1" dirty="0">
                <a:latin typeface="宋体" panose="02010600030101010101" pitchFamily="2" charset="-122"/>
              </a:rPr>
              <a:t>FFFFH</a:t>
            </a:r>
            <a:r>
              <a:rPr lang="zh-CN" altLang="en-US" sz="2400" b="1" dirty="0">
                <a:latin typeface="宋体" panose="02010600030101010101" pitchFamily="2" charset="-122"/>
              </a:rPr>
              <a:t>，</a:t>
            </a:r>
            <a:r>
              <a:rPr lang="en-US" altLang="zh-CN" sz="2400" b="1" dirty="0">
                <a:latin typeface="宋体" panose="02010600030101010101" pitchFamily="2" charset="-122"/>
              </a:rPr>
              <a:t>AX</a:t>
            </a:r>
            <a:r>
              <a:rPr lang="zh-CN" altLang="en-US" sz="2400" b="1" dirty="0">
                <a:latin typeface="宋体" panose="02010600030101010101" pitchFamily="2" charset="-122"/>
              </a:rPr>
              <a:t>不变</a:t>
            </a:r>
          </a:p>
        </p:txBody>
      </p:sp>
      <p:sp>
        <p:nvSpPr>
          <p:cNvPr id="445446" name="圆角矩形 445445"/>
          <p:cNvSpPr/>
          <p:nvPr/>
        </p:nvSpPr>
        <p:spPr>
          <a:xfrm>
            <a:off x="6443663" y="836613"/>
            <a:ext cx="2447925" cy="360362"/>
          </a:xfrm>
          <a:prstGeom prst="roundRect">
            <a:avLst>
              <a:gd name="adj" fmla="val 16667"/>
            </a:avLst>
          </a:prstGeom>
          <a:solidFill>
            <a:srgbClr val="FFFFFF"/>
          </a:solidFill>
          <a:ln w="9525" cap="flat" cmpd="sng">
            <a:solidFill>
              <a:schemeClr val="accent2"/>
            </a:solidFill>
            <a:prstDash val="solid"/>
            <a:headEnd type="none" w="med" len="med"/>
            <a:tailEnd type="none" w="med" len="med"/>
          </a:ln>
        </p:spPr>
        <p:txBody>
          <a:bodyPr anchor="ctr"/>
          <a:lstStyle/>
          <a:p>
            <a:pPr lvl="0" algn="just">
              <a:buClrTx/>
              <a:buBlip>
                <a:blip r:embed="rId3"/>
              </a:buBlip>
            </a:pPr>
            <a:r>
              <a:rPr lang="zh-CN" altLang="en-US" sz="2400" b="1" dirty="0">
                <a:solidFill>
                  <a:schemeClr val="accent2"/>
                </a:solidFill>
                <a:latin typeface="Arial" panose="020B0604020202020204" pitchFamily="34" charset="0"/>
                <a:ea typeface="宋体" panose="02010600030101010101" pitchFamily="2" charset="-122"/>
              </a:rPr>
              <a:t> 不影响标志位</a:t>
            </a:r>
          </a:p>
        </p:txBody>
      </p:sp>
      <p:sp>
        <p:nvSpPr>
          <p:cNvPr id="445448" name="矩形 44544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7490" name="标题 447489"/>
          <p:cNvSpPr>
            <a:spLocks noGrp="1"/>
          </p:cNvSpPr>
          <p:nvPr>
            <p:ph type="title"/>
          </p:nvPr>
        </p:nvSpPr>
        <p:spPr>
          <a:xfrm>
            <a:off x="468313" y="827088"/>
            <a:ext cx="2232025" cy="441325"/>
          </a:xfrm>
          <a:prstGeom prst="flowChartAlternateProcess">
            <a:avLst/>
          </a:prstGeom>
          <a:ln w="28575">
            <a:solidFill>
              <a:schemeClr val="accent1"/>
            </a:solidFill>
            <a:miter/>
          </a:ln>
        </p:spPr>
        <p:txBody>
          <a:bodyPr lIns="0" tIns="0" rIns="0" bIns="0" anchor="ctr"/>
          <a:lstStyle/>
          <a:p>
            <a:pPr algn="l">
              <a:lnSpc>
                <a:spcPct val="90000"/>
              </a:lnSpc>
            </a:pPr>
            <a:r>
              <a:rPr lang="zh-CN" altLang="en-US" sz="2400" b="1">
                <a:solidFill>
                  <a:schemeClr val="tx1"/>
                </a:solidFill>
              </a:rPr>
              <a:t>例</a:t>
            </a:r>
            <a:r>
              <a:rPr lang="en-US" altLang="zh-CN" sz="2400" b="1">
                <a:solidFill>
                  <a:schemeClr val="tx1"/>
                </a:solidFill>
              </a:rPr>
              <a:t>8</a:t>
            </a:r>
            <a:r>
              <a:rPr lang="zh-CN" altLang="en-US" sz="2400" b="1" dirty="0">
                <a:solidFill>
                  <a:schemeClr val="tx1"/>
                </a:solidFill>
              </a:rPr>
              <a:t>：符号扩展</a:t>
            </a:r>
          </a:p>
        </p:txBody>
      </p:sp>
      <p:sp>
        <p:nvSpPr>
          <p:cNvPr id="447491" name="文本占位符 447490"/>
          <p:cNvSpPr>
            <a:spLocks noGrp="1"/>
          </p:cNvSpPr>
          <p:nvPr>
            <p:ph type="body" idx="1"/>
          </p:nvPr>
        </p:nvSpPr>
        <p:spPr>
          <a:xfrm>
            <a:off x="762000" y="1854200"/>
            <a:ext cx="7696200" cy="2438400"/>
          </a:xfrm>
          <a:solidFill>
            <a:schemeClr val="bg1"/>
          </a:solidFill>
          <a:ln/>
        </p:spPr>
        <p:txBody>
          <a:bodyPr/>
          <a:lstStyle/>
          <a:p>
            <a:pPr marL="0" indent="390525" defTabSz="0">
              <a:lnSpc>
                <a:spcPct val="90000"/>
              </a:lnSpc>
              <a:buClrTx/>
              <a:buNone/>
              <a:tabLst>
                <a:tab pos="3342005" algn="l"/>
              </a:tabLst>
            </a:pPr>
            <a:r>
              <a:rPr lang="en-US" altLang="zh-CN" sz="2400" b="1" dirty="0"/>
              <a:t>MOV AL,80H	</a:t>
            </a:r>
            <a:r>
              <a:rPr lang="zh-CN" altLang="en-US" sz="2400" b="1" dirty="0"/>
              <a:t>；</a:t>
            </a:r>
            <a:r>
              <a:rPr lang="en-US" altLang="zh-CN" sz="2400" b="1" dirty="0"/>
              <a:t>AL=80H</a:t>
            </a:r>
          </a:p>
          <a:p>
            <a:pPr marL="0" indent="390525" defTabSz="0">
              <a:lnSpc>
                <a:spcPct val="90000"/>
              </a:lnSpc>
              <a:buClrTx/>
              <a:buNone/>
              <a:tabLst>
                <a:tab pos="3342005" algn="l"/>
              </a:tabLst>
            </a:pPr>
            <a:r>
              <a:rPr lang="en-US" altLang="zh-CN" sz="2400" b="1" dirty="0"/>
              <a:t>CBW	</a:t>
            </a:r>
            <a:r>
              <a:rPr lang="zh-CN" altLang="en-US" sz="2400" b="1" dirty="0"/>
              <a:t>；</a:t>
            </a:r>
            <a:r>
              <a:rPr lang="en-US" altLang="zh-CN" sz="2400" b="1" dirty="0"/>
              <a:t>AX=FF80H</a:t>
            </a:r>
          </a:p>
          <a:p>
            <a:pPr marL="0" indent="390525" defTabSz="0">
              <a:lnSpc>
                <a:spcPct val="90000"/>
              </a:lnSpc>
              <a:buClrTx/>
              <a:buNone/>
              <a:tabLst>
                <a:tab pos="3342005" algn="l"/>
              </a:tabLst>
            </a:pPr>
            <a:r>
              <a:rPr lang="en-US" altLang="zh-CN" sz="2400" b="1" dirty="0"/>
              <a:t>ADD AL,255	</a:t>
            </a:r>
            <a:r>
              <a:rPr lang="zh-CN" altLang="en-US" sz="2400" b="1" dirty="0"/>
              <a:t>；</a:t>
            </a:r>
            <a:r>
              <a:rPr lang="en-US" altLang="zh-CN" sz="2400" b="1" dirty="0"/>
              <a:t>AL=7FH</a:t>
            </a:r>
          </a:p>
          <a:p>
            <a:pPr marL="0" indent="390525" defTabSz="0">
              <a:lnSpc>
                <a:spcPct val="90000"/>
              </a:lnSpc>
              <a:buClrTx/>
              <a:buNone/>
              <a:tabLst>
                <a:tab pos="3342005" algn="l"/>
              </a:tabLst>
            </a:pPr>
            <a:r>
              <a:rPr lang="en-US" altLang="zh-CN" sz="2400" b="1" dirty="0"/>
              <a:t>CBW	</a:t>
            </a:r>
            <a:r>
              <a:rPr lang="zh-CN" altLang="en-US" sz="2400" b="1" dirty="0"/>
              <a:t>；</a:t>
            </a:r>
            <a:r>
              <a:rPr lang="en-US" altLang="zh-CN" sz="2400" b="1" dirty="0"/>
              <a:t>AX=007FH</a:t>
            </a:r>
          </a:p>
          <a:p>
            <a:pPr marL="0" indent="390525" defTabSz="0">
              <a:lnSpc>
                <a:spcPct val="90000"/>
              </a:lnSpc>
              <a:buNone/>
              <a:tabLst>
                <a:tab pos="3342005" algn="l"/>
              </a:tabLst>
            </a:pPr>
            <a:r>
              <a:rPr lang="en-US" altLang="zh-CN" sz="2400" b="1" dirty="0"/>
              <a:t>CWD	</a:t>
            </a:r>
            <a:r>
              <a:rPr lang="zh-CN" altLang="en-US" sz="2400" b="1" dirty="0"/>
              <a:t>；</a:t>
            </a:r>
            <a:r>
              <a:rPr lang="en-US" altLang="zh-CN" sz="2400" b="1" dirty="0"/>
              <a:t>DX=0000H</a:t>
            </a:r>
          </a:p>
          <a:p>
            <a:pPr marL="0" indent="390525" defTabSz="0">
              <a:lnSpc>
                <a:spcPct val="90000"/>
              </a:lnSpc>
              <a:buClrTx/>
              <a:buNone/>
              <a:tabLst>
                <a:tab pos="3342005" algn="l"/>
              </a:tabLst>
            </a:pPr>
            <a:r>
              <a:rPr lang="en-US" altLang="zh-CN" sz="2400" b="1" dirty="0"/>
              <a:t>IDIV BX	</a:t>
            </a:r>
            <a:r>
              <a:rPr lang="zh-CN" altLang="en-US" sz="2400" b="1" dirty="0"/>
              <a:t>；</a:t>
            </a:r>
            <a:r>
              <a:rPr lang="en-US" altLang="zh-CN" sz="2400" b="1" dirty="0"/>
              <a:t>DX.AX÷BX</a:t>
            </a:r>
          </a:p>
        </p:txBody>
      </p:sp>
      <p:sp>
        <p:nvSpPr>
          <p:cNvPr id="447492" name="圆角矩形 447491"/>
          <p:cNvSpPr/>
          <p:nvPr/>
        </p:nvSpPr>
        <p:spPr>
          <a:xfrm>
            <a:off x="684213" y="4537075"/>
            <a:ext cx="7920037" cy="1052165"/>
          </a:xfrm>
          <a:prstGeom prst="roundRect">
            <a:avLst>
              <a:gd name="adj" fmla="val 16667"/>
            </a:avLst>
          </a:prstGeom>
          <a:solidFill>
            <a:srgbClr val="FFFFFF"/>
          </a:solidFill>
          <a:ln w="9525" cap="flat" cmpd="sng">
            <a:solidFill>
              <a:schemeClr val="accent2"/>
            </a:solidFill>
            <a:prstDash val="solid"/>
            <a:headEnd type="none" w="med" len="med"/>
            <a:tailEnd type="none" w="med" len="med"/>
          </a:ln>
        </p:spPr>
        <p:txBody>
          <a:bodyPr anchor="ctr"/>
          <a:lstStyle/>
          <a:p>
            <a:pPr lvl="0" algn="just">
              <a:buClrTx/>
              <a:buBlip>
                <a:blip r:embed="rId3"/>
              </a:buBlip>
            </a:pPr>
            <a:r>
              <a:rPr lang="zh-CN" altLang="en-US" sz="2400" b="1" dirty="0">
                <a:solidFill>
                  <a:schemeClr val="accent2"/>
                </a:solidFill>
                <a:latin typeface="Arial" panose="020B0604020202020204" pitchFamily="34" charset="0"/>
                <a:ea typeface="宋体" panose="02010600030101010101" pitchFamily="2" charset="-122"/>
              </a:rPr>
              <a:t> 利用符号扩展指令得到除法指令所需要的</a:t>
            </a:r>
            <a:r>
              <a:rPr lang="zh-CN" altLang="en-US" sz="2400" b="1" dirty="0">
                <a:solidFill>
                  <a:srgbClr val="FF00FF"/>
                </a:solidFill>
                <a:latin typeface="Arial" panose="020B0604020202020204" pitchFamily="34" charset="0"/>
                <a:ea typeface="宋体" panose="02010600030101010101" pitchFamily="2" charset="-122"/>
              </a:rPr>
              <a:t>倍长于除数</a:t>
            </a:r>
            <a:r>
              <a:rPr lang="zh-CN" altLang="en-US" sz="2400" b="1" dirty="0">
                <a:solidFill>
                  <a:schemeClr val="accent2"/>
                </a:solidFill>
                <a:latin typeface="Arial" panose="020B0604020202020204" pitchFamily="34" charset="0"/>
                <a:ea typeface="宋体" panose="02010600030101010101" pitchFamily="2" charset="-122"/>
              </a:rPr>
              <a:t>的被除数</a:t>
            </a:r>
          </a:p>
        </p:txBody>
      </p:sp>
      <p:sp>
        <p:nvSpPr>
          <p:cNvPr id="447493" name="矩形 447492"/>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7" name="标题 328706"/>
          <p:cNvSpPr>
            <a:spLocks noGrp="1"/>
          </p:cNvSpPr>
          <p:nvPr>
            <p:ph type="title"/>
          </p:nvPr>
        </p:nvSpPr>
        <p:spPr>
          <a:xfrm>
            <a:off x="827584" y="836613"/>
            <a:ext cx="5617666" cy="431800"/>
          </a:xfrm>
          <a:ln/>
        </p:spPr>
        <p:txBody>
          <a:bodyPr lIns="0" tIns="0" rIns="0" bIns="0" anchor="ctr"/>
          <a:lstStyle/>
          <a:p>
            <a:pPr algn="l"/>
            <a:r>
              <a:rPr lang="en-US" altLang="en-US" sz="2400" b="1" dirty="0">
                <a:solidFill>
                  <a:srgbClr val="0000FF"/>
                </a:solidFill>
              </a:rPr>
              <a:t>3.3.3逻辑运算</a:t>
            </a:r>
            <a:r>
              <a:rPr lang="zh-CN" altLang="en-US" sz="2400" b="1" dirty="0">
                <a:solidFill>
                  <a:srgbClr val="0000FF"/>
                </a:solidFill>
              </a:rPr>
              <a:t>与</a:t>
            </a:r>
            <a:r>
              <a:rPr lang="en-US" altLang="en-US" sz="2400" b="1" dirty="0" err="1">
                <a:solidFill>
                  <a:srgbClr val="0000FF"/>
                </a:solidFill>
              </a:rPr>
              <a:t>移位</a:t>
            </a:r>
            <a:r>
              <a:rPr lang="zh-CN" altLang="en-US" sz="2400" b="1" dirty="0">
                <a:solidFill>
                  <a:srgbClr val="0000FF"/>
                </a:solidFill>
              </a:rPr>
              <a:t>类</a:t>
            </a:r>
            <a:r>
              <a:rPr lang="en-US" altLang="zh-CN" sz="2400" b="1" dirty="0">
                <a:solidFill>
                  <a:srgbClr val="0000FF"/>
                </a:solidFill>
              </a:rPr>
              <a:t>（</a:t>
            </a:r>
            <a:r>
              <a:rPr lang="zh-CN" altLang="en-US" sz="2400" b="1" dirty="0">
                <a:solidFill>
                  <a:srgbClr val="0000FF"/>
                </a:solidFill>
              </a:rPr>
              <a:t>位操作）</a:t>
            </a:r>
          </a:p>
        </p:txBody>
      </p:sp>
      <p:sp>
        <p:nvSpPr>
          <p:cNvPr id="328709" name="矩形 32870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328714" name="矩形 328713"/>
          <p:cNvSpPr/>
          <p:nvPr/>
        </p:nvSpPr>
        <p:spPr>
          <a:xfrm>
            <a:off x="395288" y="2781300"/>
            <a:ext cx="8458200" cy="503238"/>
          </a:xfrm>
          <a:prstGeom prst="rect">
            <a:avLst/>
          </a:prstGeom>
          <a:solidFill>
            <a:schemeClr val="bg1"/>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eaLnBrk="0" hangingPunct="0">
              <a:spcBef>
                <a:spcPct val="0"/>
              </a:spcBef>
              <a:buClrTx/>
              <a:buNone/>
            </a:pPr>
            <a:r>
              <a:rPr lang="zh-CN" altLang="en-US" sz="2400" b="1" dirty="0"/>
              <a:t>要求：全面而准确地理解每条指令的</a:t>
            </a:r>
            <a:r>
              <a:rPr lang="zh-CN" altLang="en-US" sz="2400" b="1" dirty="0">
                <a:solidFill>
                  <a:srgbClr val="0000FF"/>
                </a:solidFill>
                <a:latin typeface="楷体_GB2312" pitchFamily="49" charset="-122"/>
              </a:rPr>
              <a:t>功能和应用</a:t>
            </a:r>
            <a:endParaRPr lang="zh-CN" altLang="en-US" sz="2400" b="1" dirty="0"/>
          </a:p>
        </p:txBody>
      </p:sp>
      <p:sp>
        <p:nvSpPr>
          <p:cNvPr id="328715" name="文本占位符 328714" descr="Rectangle: Click to edit Master text styles&#10;Second level&#10;Third level&#10;Fourth level&#10;Fifth level"/>
          <p:cNvSpPr>
            <a:spLocks noGrp="1"/>
          </p:cNvSpPr>
          <p:nvPr>
            <p:ph type="body" idx="1"/>
          </p:nvPr>
        </p:nvSpPr>
        <p:spPr>
          <a:xfrm>
            <a:off x="304800" y="1503363"/>
            <a:ext cx="8534400" cy="1349375"/>
          </a:xfrm>
          <a:solidFill>
            <a:schemeClr val="bg1"/>
          </a:solidFill>
          <a:ln/>
        </p:spPr>
        <p:txBody>
          <a:bodyPr/>
          <a:lstStyle/>
          <a:p>
            <a:pPr marL="0" indent="0">
              <a:buClrTx/>
              <a:buNone/>
            </a:pPr>
            <a:r>
              <a:rPr lang="zh-CN" altLang="en-US" sz="2400" b="1" dirty="0"/>
              <a:t>位操作类指令以</a:t>
            </a:r>
            <a:r>
              <a:rPr lang="zh-CN" altLang="en-US" sz="2400" b="1" dirty="0">
                <a:solidFill>
                  <a:srgbClr val="0000FF"/>
                </a:solidFill>
              </a:rPr>
              <a:t>二进制位</a:t>
            </a:r>
            <a:r>
              <a:rPr lang="zh-CN" altLang="en-US" sz="2400" b="1" dirty="0"/>
              <a:t>为基本单位进行数据的操作；包含逻辑运算类指令和移位指令。是一类常用的指令，应该特别掌握</a:t>
            </a:r>
          </a:p>
          <a:p>
            <a:pPr marL="0" indent="0">
              <a:buClrTx/>
              <a:buNone/>
            </a:pPr>
            <a:r>
              <a:rPr lang="zh-CN" altLang="en-US" sz="2400" b="1" dirty="0">
                <a:solidFill>
                  <a:srgbClr val="0000FF"/>
                </a:solidFill>
              </a:rPr>
              <a:t>注意</a:t>
            </a:r>
            <a:r>
              <a:rPr lang="zh-CN" altLang="en-US" sz="2400" b="1" dirty="0"/>
              <a:t>这些指令对标志位的影响</a:t>
            </a:r>
            <a:endParaRPr lang="zh-CN" altLang="en-US" sz="2400" b="1"/>
          </a:p>
        </p:txBody>
      </p:sp>
      <p:sp>
        <p:nvSpPr>
          <p:cNvPr id="328716" name="矩形 328715"/>
          <p:cNvSpPr/>
          <p:nvPr/>
        </p:nvSpPr>
        <p:spPr>
          <a:xfrm>
            <a:off x="1908175" y="3355975"/>
            <a:ext cx="4968875" cy="2736850"/>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buNone/>
            </a:pPr>
            <a:r>
              <a:rPr lang="zh-CN" altLang="en-US" sz="2400" b="1" dirty="0"/>
              <a:t>    一、逻辑运算指令</a:t>
            </a:r>
          </a:p>
          <a:p>
            <a:pPr lvl="0">
              <a:buNone/>
            </a:pPr>
            <a:r>
              <a:rPr lang="zh-CN" altLang="en-US" sz="2400" b="1" dirty="0"/>
              <a:t>          </a:t>
            </a:r>
            <a:r>
              <a:rPr lang="en-US" altLang="zh-CN" sz="2400" b="1"/>
              <a:t>AND/OR/XOR/NOT/TEST</a:t>
            </a:r>
          </a:p>
          <a:p>
            <a:pPr lvl="0">
              <a:buNone/>
            </a:pPr>
            <a:r>
              <a:rPr lang="en-US" altLang="zh-CN" sz="2400" b="1"/>
              <a:t>    </a:t>
            </a:r>
            <a:r>
              <a:rPr lang="zh-CN" altLang="en-US" sz="2400" b="1" dirty="0"/>
              <a:t>二、移位指令</a:t>
            </a:r>
          </a:p>
          <a:p>
            <a:pPr lvl="0">
              <a:buNone/>
            </a:pPr>
            <a:r>
              <a:rPr lang="zh-CN" altLang="en-US" sz="2400" b="1" dirty="0"/>
              <a:t>          </a:t>
            </a:r>
            <a:r>
              <a:rPr lang="en-US" altLang="zh-CN" sz="2400" b="1"/>
              <a:t>SHL/SHR/SAL/SAR</a:t>
            </a:r>
          </a:p>
          <a:p>
            <a:pPr lvl="0">
              <a:buNone/>
            </a:pPr>
            <a:r>
              <a:rPr lang="zh-CN" altLang="en-US" sz="2400" b="1" dirty="0"/>
              <a:t>　三、循环移位指令</a:t>
            </a:r>
          </a:p>
          <a:p>
            <a:pPr lvl="0">
              <a:buNone/>
            </a:pPr>
            <a:r>
              <a:rPr lang="zh-CN" altLang="en-US" sz="2400" b="1" dirty="0"/>
              <a:t>          </a:t>
            </a:r>
            <a:r>
              <a:rPr lang="en-US" altLang="zh-CN" sz="2400" b="1"/>
              <a:t>ROL/ROR/RCL/RCR    </a:t>
            </a:r>
          </a:p>
        </p:txBody>
      </p:sp>
    </p:spTree>
    <p:extLst>
      <p:ext uri="{BB962C8B-B14F-4D97-AF65-F5344CB8AC3E}">
        <p14:creationId xmlns:p14="http://schemas.microsoft.com/office/powerpoint/2010/main" val="41943469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标题 449537"/>
          <p:cNvSpPr>
            <a:spLocks noGrp="1"/>
          </p:cNvSpPr>
          <p:nvPr>
            <p:ph type="title"/>
          </p:nvPr>
        </p:nvSpPr>
        <p:spPr>
          <a:xfrm>
            <a:off x="395288" y="836613"/>
            <a:ext cx="2663825" cy="504825"/>
          </a:xfrm>
          <a:ln/>
        </p:spPr>
        <p:txBody>
          <a:bodyPr lIns="0" tIns="0" rIns="0" bIns="0" anchor="ctr"/>
          <a:lstStyle/>
          <a:p>
            <a:pPr algn="l"/>
            <a:r>
              <a:rPr lang="en-US" altLang="zh-CN" sz="2400" b="1" dirty="0">
                <a:solidFill>
                  <a:schemeClr val="tx1"/>
                </a:solidFill>
              </a:rPr>
              <a:t>1</a:t>
            </a:r>
            <a:r>
              <a:rPr lang="zh-CN" altLang="en-US" sz="2400" b="1" dirty="0">
                <a:solidFill>
                  <a:schemeClr val="tx1"/>
                </a:solidFill>
              </a:rPr>
              <a:t>、逻辑运算指令</a:t>
            </a:r>
          </a:p>
        </p:txBody>
      </p:sp>
      <p:grpSp>
        <p:nvGrpSpPr>
          <p:cNvPr id="449539" name="组合 449538"/>
          <p:cNvGrpSpPr/>
          <p:nvPr/>
        </p:nvGrpSpPr>
        <p:grpSpPr>
          <a:xfrm>
            <a:off x="3132138" y="1844675"/>
            <a:ext cx="2632075" cy="3290888"/>
            <a:chOff x="1992" y="1298"/>
            <a:chExt cx="1658" cy="2073"/>
          </a:xfrm>
        </p:grpSpPr>
        <p:sp>
          <p:nvSpPr>
            <p:cNvPr id="449540" name="椭圆 449539" descr="DI-43"/>
            <p:cNvSpPr/>
            <p:nvPr/>
          </p:nvSpPr>
          <p:spPr>
            <a:xfrm>
              <a:off x="1992" y="1298"/>
              <a:ext cx="576" cy="576"/>
            </a:xfrm>
            <a:prstGeom prst="ellipse">
              <a:avLst/>
            </a:prstGeom>
            <a:blipFill rotWithShape="0">
              <a:blip r:embed="rId2"/>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AND</a:t>
              </a:r>
            </a:p>
          </p:txBody>
        </p:sp>
        <p:sp>
          <p:nvSpPr>
            <p:cNvPr id="449541" name="椭圆 449540" descr="DI-43"/>
            <p:cNvSpPr/>
            <p:nvPr/>
          </p:nvSpPr>
          <p:spPr>
            <a:xfrm>
              <a:off x="2018" y="2114"/>
              <a:ext cx="576" cy="576"/>
            </a:xfrm>
            <a:prstGeom prst="ellipse">
              <a:avLst/>
            </a:prstGeom>
            <a:blipFill rotWithShape="0">
              <a:blip r:embed="rId2"/>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NOT</a:t>
              </a:r>
            </a:p>
          </p:txBody>
        </p:sp>
        <p:sp>
          <p:nvSpPr>
            <p:cNvPr id="449542" name="椭圆 449541" descr="DI-43"/>
            <p:cNvSpPr/>
            <p:nvPr/>
          </p:nvSpPr>
          <p:spPr>
            <a:xfrm>
              <a:off x="3074" y="2114"/>
              <a:ext cx="576" cy="576"/>
            </a:xfrm>
            <a:prstGeom prst="ellipse">
              <a:avLst/>
            </a:prstGeom>
            <a:blipFill rotWithShape="0">
              <a:blip r:embed="rId2"/>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XOR</a:t>
              </a:r>
            </a:p>
          </p:txBody>
        </p:sp>
        <p:sp>
          <p:nvSpPr>
            <p:cNvPr id="449543" name="椭圆 449542" descr="DI-43"/>
            <p:cNvSpPr/>
            <p:nvPr/>
          </p:nvSpPr>
          <p:spPr>
            <a:xfrm>
              <a:off x="3025" y="1298"/>
              <a:ext cx="576" cy="576"/>
            </a:xfrm>
            <a:prstGeom prst="ellipse">
              <a:avLst/>
            </a:prstGeom>
            <a:blipFill rotWithShape="0">
              <a:blip r:embed="rId2"/>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OR</a:t>
              </a:r>
            </a:p>
          </p:txBody>
        </p:sp>
        <p:sp>
          <p:nvSpPr>
            <p:cNvPr id="449544" name="椭圆 449543" descr="DI-43"/>
            <p:cNvSpPr/>
            <p:nvPr/>
          </p:nvSpPr>
          <p:spPr>
            <a:xfrm>
              <a:off x="2562" y="2795"/>
              <a:ext cx="576" cy="576"/>
            </a:xfrm>
            <a:prstGeom prst="ellipse">
              <a:avLst/>
            </a:prstGeom>
            <a:blipFill rotWithShape="0">
              <a:blip r:embed="rId2"/>
              <a:stretch>
                <a:fillRect/>
              </a:stretch>
            </a:blipFill>
            <a:ln w="9525">
              <a:noFill/>
            </a:ln>
          </p:spPr>
          <p:txBody>
            <a:bodyPr wrap="none" anchor="ctr"/>
            <a:lstStyle/>
            <a:p>
              <a:pPr lvl="0" algn="ctr"/>
              <a:r>
                <a:rPr lang="en-US" altLang="zh-CN" sz="2400" b="1">
                  <a:effectLst>
                    <a:outerShdw blurRad="38100" dist="38100" dir="2700000">
                      <a:srgbClr val="FFFFFF"/>
                    </a:outerShdw>
                  </a:effectLst>
                  <a:latin typeface="Arial" panose="020B0604020202020204" pitchFamily="34" charset="0"/>
                  <a:ea typeface="宋体" panose="02010600030101010101" pitchFamily="2" charset="-122"/>
                </a:rPr>
                <a:t>TEST</a:t>
              </a:r>
            </a:p>
          </p:txBody>
        </p:sp>
      </p:grpSp>
      <p:sp>
        <p:nvSpPr>
          <p:cNvPr id="449545" name="矩形 44954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31355445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标题 450561"/>
          <p:cNvSpPr>
            <a:spLocks noGrp="1"/>
          </p:cNvSpPr>
          <p:nvPr>
            <p:ph type="title"/>
          </p:nvPr>
        </p:nvSpPr>
        <p:spPr>
          <a:xfrm>
            <a:off x="395288" y="850900"/>
            <a:ext cx="3384550" cy="417513"/>
          </a:xfrm>
          <a:ln/>
        </p:spPr>
        <p:txBody>
          <a:bodyPr anchor="ctr"/>
          <a:lstStyle/>
          <a:p>
            <a:pPr algn="l"/>
            <a:r>
              <a:rPr lang="en-US" altLang="zh-CN" sz="2400" b="1" dirty="0"/>
              <a:t>1</a:t>
            </a:r>
            <a:r>
              <a:rPr lang="zh-CN" altLang="en-US" sz="2400" b="1" dirty="0"/>
              <a:t>）逻辑与指令</a:t>
            </a:r>
            <a:r>
              <a:rPr lang="en-US" altLang="zh-CN" sz="2400" b="1" dirty="0"/>
              <a:t>AND</a:t>
            </a:r>
          </a:p>
        </p:txBody>
      </p:sp>
      <p:sp>
        <p:nvSpPr>
          <p:cNvPr id="450563" name="文本占位符 450562"/>
          <p:cNvSpPr>
            <a:spLocks noGrp="1"/>
          </p:cNvSpPr>
          <p:nvPr>
            <p:ph type="body" idx="1"/>
          </p:nvPr>
        </p:nvSpPr>
        <p:spPr>
          <a:xfrm>
            <a:off x="323850" y="2852738"/>
            <a:ext cx="8642350" cy="792162"/>
          </a:xfrm>
          <a:ln/>
        </p:spPr>
        <p:txBody>
          <a:bodyPr/>
          <a:lstStyle/>
          <a:p>
            <a:pPr marL="0" indent="0">
              <a:lnSpc>
                <a:spcPct val="90000"/>
              </a:lnSpc>
              <a:buNone/>
            </a:pPr>
            <a:r>
              <a:rPr lang="zh-CN" altLang="en-US" sz="2400" b="1" dirty="0"/>
              <a:t>功能：对两个操作数执行</a:t>
            </a:r>
            <a:r>
              <a:rPr lang="zh-CN" altLang="en-US" sz="2400" b="1" dirty="0">
                <a:solidFill>
                  <a:srgbClr val="0000FF"/>
                </a:solidFill>
              </a:rPr>
              <a:t>按位的逻辑与</a:t>
            </a:r>
            <a:r>
              <a:rPr lang="zh-CN" altLang="en-US" sz="2400" b="1" dirty="0"/>
              <a:t>运算，结果送到目的操作数</a:t>
            </a:r>
          </a:p>
        </p:txBody>
      </p:sp>
      <p:sp>
        <p:nvSpPr>
          <p:cNvPr id="450564" name="矩形 450563"/>
          <p:cNvSpPr/>
          <p:nvPr/>
        </p:nvSpPr>
        <p:spPr>
          <a:xfrm>
            <a:off x="250825" y="5229225"/>
            <a:ext cx="8499475" cy="863600"/>
          </a:xfrm>
          <a:prstGeom prst="rect">
            <a:avLst/>
          </a:prstGeom>
          <a:noFill/>
          <a:ln w="9525">
            <a:noFill/>
          </a:ln>
        </p:spPr>
        <p:txBody>
          <a:bodyPr lIns="92075" tIns="46038" rIns="92075" bIns="46038"/>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buNone/>
            </a:pPr>
            <a:endParaRPr lang="zh-CN" altLang="en-US" sz="2400" dirty="0">
              <a:latin typeface="宋体" panose="02010600030101010101" pitchFamily="2" charset="-122"/>
            </a:endParaRPr>
          </a:p>
        </p:txBody>
      </p:sp>
      <p:grpSp>
        <p:nvGrpSpPr>
          <p:cNvPr id="450565" name="组合 450564"/>
          <p:cNvGrpSpPr/>
          <p:nvPr/>
        </p:nvGrpSpPr>
        <p:grpSpPr>
          <a:xfrm>
            <a:off x="611188" y="1484313"/>
            <a:ext cx="8153400" cy="1265237"/>
            <a:chOff x="336" y="1747"/>
            <a:chExt cx="5136" cy="797"/>
          </a:xfrm>
        </p:grpSpPr>
        <p:sp>
          <p:nvSpPr>
            <p:cNvPr id="450566" name="流程图: 可选过程 450565"/>
            <p:cNvSpPr/>
            <p:nvPr/>
          </p:nvSpPr>
          <p:spPr>
            <a:xfrm>
              <a:off x="336" y="1747"/>
              <a:ext cx="5136" cy="365"/>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800" b="1">
                  <a:latin typeface="宋体" panose="02010600030101010101" pitchFamily="2" charset="-122"/>
                  <a:ea typeface="宋体" panose="02010600030101010101" pitchFamily="2" charset="-122"/>
                </a:rPr>
                <a:t>AND </a:t>
              </a:r>
              <a:r>
                <a:rPr lang="en-US" altLang="zh-CN" sz="2800" b="1" err="1">
                  <a:latin typeface="宋体" panose="02010600030101010101" pitchFamily="2" charset="-122"/>
                  <a:ea typeface="宋体" panose="02010600030101010101" pitchFamily="2" charset="-122"/>
                </a:rPr>
                <a:t>reg,imm/reg/mem</a:t>
              </a:r>
              <a:r>
                <a:rPr lang="en-US" altLang="zh-CN" sz="2800" b="1">
                  <a:solidFill>
                    <a:schemeClr val="bg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reg←reg</a:t>
              </a:r>
              <a:r>
                <a:rPr lang="en-US" altLang="zh-CN" sz="2400" b="1" err="1">
                  <a:solidFill>
                    <a:srgbClr val="0000FF"/>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imm/reg/mem</a:t>
              </a:r>
              <a:endParaRPr lang="en-US" altLang="zh-CN" sz="2800" b="1">
                <a:solidFill>
                  <a:srgbClr val="0000FF"/>
                </a:solidFill>
                <a:latin typeface="宋体" panose="02010600030101010101" pitchFamily="2" charset="-122"/>
                <a:ea typeface="宋体" panose="02010600030101010101" pitchFamily="2" charset="-122"/>
              </a:endParaRPr>
            </a:p>
          </p:txBody>
        </p:sp>
        <p:sp>
          <p:nvSpPr>
            <p:cNvPr id="450567" name="流程图: 可选过程 450566"/>
            <p:cNvSpPr/>
            <p:nvPr/>
          </p:nvSpPr>
          <p:spPr>
            <a:xfrm>
              <a:off x="336" y="2160"/>
              <a:ext cx="4290" cy="384"/>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800" b="1">
                  <a:latin typeface="宋体" panose="02010600030101010101" pitchFamily="2" charset="-122"/>
                  <a:ea typeface="宋体" panose="02010600030101010101" pitchFamily="2" charset="-122"/>
                </a:rPr>
                <a:t>AND </a:t>
              </a:r>
              <a:r>
                <a:rPr lang="en-US" altLang="zh-CN" sz="2800" b="1" err="1">
                  <a:latin typeface="宋体" panose="02010600030101010101" pitchFamily="2" charset="-122"/>
                  <a:ea typeface="宋体" panose="02010600030101010101" pitchFamily="2" charset="-122"/>
                </a:rPr>
                <a:t>mem,imm/reg</a:t>
              </a:r>
              <a:r>
                <a:rPr lang="en-US" altLang="zh-CN" sz="2800" b="1">
                  <a:solidFill>
                    <a:schemeClr val="bg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mem←mem</a:t>
              </a:r>
              <a:r>
                <a:rPr lang="en-US" altLang="zh-CN" sz="2400" b="1" err="1">
                  <a:solidFill>
                    <a:srgbClr val="0000FF"/>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imm/reg</a:t>
              </a:r>
              <a:endParaRPr lang="en-US" altLang="zh-CN" sz="2800" b="1">
                <a:solidFill>
                  <a:srgbClr val="0000FF"/>
                </a:solidFill>
                <a:latin typeface="宋体" panose="02010600030101010101" pitchFamily="2" charset="-122"/>
                <a:ea typeface="宋体" panose="02010600030101010101" pitchFamily="2" charset="-122"/>
              </a:endParaRPr>
            </a:p>
          </p:txBody>
        </p:sp>
      </p:grpSp>
      <p:sp>
        <p:nvSpPr>
          <p:cNvPr id="450568" name="圆角矩形 450567"/>
          <p:cNvSpPr/>
          <p:nvPr/>
        </p:nvSpPr>
        <p:spPr>
          <a:xfrm>
            <a:off x="250825" y="3757613"/>
            <a:ext cx="8713788" cy="2566987"/>
          </a:xfrm>
          <a:prstGeom prst="roundRect">
            <a:avLst>
              <a:gd name="adj" fmla="val 16667"/>
            </a:avLst>
          </a:prstGeom>
          <a:solidFill>
            <a:schemeClr val="bg1"/>
          </a:solidFill>
          <a:ln w="9525" cap="flat" cmpd="sng">
            <a:solidFill>
              <a:schemeClr val="accent2"/>
            </a:solidFill>
            <a:prstDash val="solid"/>
            <a:headEnd type="none" w="med" len="med"/>
            <a:tailEnd type="none" w="med" len="med"/>
          </a:ln>
        </p:spPr>
        <p:txBody>
          <a:bodyPr anchor="ctr"/>
          <a:lstStyle/>
          <a:p>
            <a:pPr lvl="0" algn="just">
              <a:buClrTx/>
            </a:pPr>
            <a:r>
              <a:rPr lang="zh-CN" altLang="en-US" sz="2400" b="1" dirty="0">
                <a:solidFill>
                  <a:schemeClr val="accent2"/>
                </a:solidFill>
                <a:latin typeface="Arial" panose="020B0604020202020204" pitchFamily="34" charset="0"/>
                <a:ea typeface="宋体" panose="02010600030101010101" pitchFamily="2" charset="-122"/>
              </a:rPr>
              <a:t>说明</a:t>
            </a:r>
            <a:r>
              <a:rPr lang="zh-CN" altLang="en-US" sz="2400" b="1" dirty="0">
                <a:solidFill>
                  <a:schemeClr val="accent2"/>
                </a:solidFill>
                <a:latin typeface="Arial" panose="020B0604020202020204" pitchFamily="34" charset="0"/>
                <a:ea typeface="宋体" panose="02010600030101010101" pitchFamily="2" charset="-122"/>
                <a:sym typeface="Wingdings" panose="05000000000000000000" pitchFamily="2" charset="2"/>
              </a:rPr>
              <a:t>：</a:t>
            </a:r>
            <a:r>
              <a:rPr lang="zh-CN" altLang="en-US" sz="2400" b="1" dirty="0">
                <a:latin typeface="Arial" panose="020B0604020202020204" pitchFamily="34" charset="0"/>
                <a:ea typeface="宋体" panose="02010600030101010101" pitchFamily="2" charset="-122"/>
                <a:sym typeface="Wingdings" panose="05000000000000000000" pitchFamily="2" charset="2"/>
              </a:rPr>
              <a:t>（</a:t>
            </a:r>
            <a:r>
              <a:rPr lang="en-US" altLang="zh-CN" sz="2400" b="1" dirty="0">
                <a:latin typeface="Arial" panose="020B0604020202020204" pitchFamily="34" charset="0"/>
                <a:ea typeface="宋体" panose="02010600030101010101" pitchFamily="2" charset="-122"/>
                <a:sym typeface="Wingdings" panose="05000000000000000000" pitchFamily="2" charset="2"/>
              </a:rPr>
              <a:t>1</a:t>
            </a:r>
            <a:r>
              <a:rPr lang="zh-CN" altLang="en-US" sz="2400" b="1" dirty="0">
                <a:latin typeface="Arial" panose="020B0604020202020204" pitchFamily="34" charset="0"/>
                <a:ea typeface="宋体" panose="02010600030101010101" pitchFamily="2" charset="-122"/>
                <a:sym typeface="Wingdings" panose="05000000000000000000" pitchFamily="2" charset="2"/>
              </a:rPr>
              <a:t>）</a:t>
            </a:r>
            <a:r>
              <a:rPr lang="zh-CN" altLang="en-US" sz="2400" b="1" dirty="0">
                <a:latin typeface="Arial" panose="020B0604020202020204" pitchFamily="34" charset="0"/>
                <a:ea typeface="宋体" panose="02010600030101010101" pitchFamily="2" charset="-122"/>
              </a:rPr>
              <a:t>按位的逻辑与运算；　</a:t>
            </a:r>
          </a:p>
          <a:p>
            <a:pPr lvl="0" algn="just">
              <a:buClr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）两个操作数</a:t>
            </a:r>
            <a:r>
              <a:rPr lang="zh-CN" altLang="en-US" sz="2400" b="1" dirty="0">
                <a:solidFill>
                  <a:srgbClr val="0000FF"/>
                </a:solidFill>
                <a:latin typeface="Arial" panose="020B0604020202020204" pitchFamily="34" charset="0"/>
                <a:ea typeface="宋体" panose="02010600030101010101" pitchFamily="2" charset="-122"/>
              </a:rPr>
              <a:t>不能同时</a:t>
            </a:r>
            <a:r>
              <a:rPr lang="zh-CN" altLang="en-US" sz="2400" b="1" dirty="0">
                <a:latin typeface="Arial" panose="020B0604020202020204" pitchFamily="34" charset="0"/>
                <a:ea typeface="宋体" panose="02010600030101010101" pitchFamily="2" charset="-122"/>
              </a:rPr>
              <a:t>为</a:t>
            </a:r>
            <a:r>
              <a:rPr lang="zh-CN" altLang="en-US" sz="2400" b="1" dirty="0">
                <a:solidFill>
                  <a:srgbClr val="0000FF"/>
                </a:solidFill>
                <a:latin typeface="Arial" panose="020B0604020202020204" pitchFamily="34" charset="0"/>
                <a:ea typeface="宋体" panose="02010600030101010101" pitchFamily="2" charset="-122"/>
              </a:rPr>
              <a:t>存储器操作数</a:t>
            </a:r>
            <a:r>
              <a:rPr lang="zh-CN" altLang="en-US" sz="2400" b="1" dirty="0">
                <a:latin typeface="Arial" panose="020B0604020202020204" pitchFamily="34" charset="0"/>
                <a:ea typeface="宋体" panose="02010600030101010101" pitchFamily="2" charset="-122"/>
              </a:rPr>
              <a:t>；寄存器只能是通用寄存器； </a:t>
            </a:r>
          </a:p>
          <a:p>
            <a:pPr lvl="0" algn="just">
              <a:buClr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）注意对标志位的影响；</a:t>
            </a:r>
          </a:p>
          <a:p>
            <a:pPr lvl="0" algn="just">
              <a:buClrTx/>
            </a:pPr>
            <a:r>
              <a:rPr lang="zh-CN" altLang="en-US" sz="2400" b="1" dirty="0">
                <a:solidFill>
                  <a:schemeClr val="accent2"/>
                </a:solidFill>
                <a:latin typeface="Arial" panose="020B0604020202020204" pitchFamily="34" charset="0"/>
                <a:ea typeface="宋体" panose="02010600030101010101" pitchFamily="2" charset="-122"/>
              </a:rPr>
              <a:t>思考：</a:t>
            </a:r>
          </a:p>
          <a:p>
            <a:pPr lvl="0" algn="just">
              <a:buClr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）某一个操作数自己和自己相逻辑与，结果是？</a:t>
            </a:r>
          </a:p>
          <a:p>
            <a:pPr lvl="0" algn="just">
              <a:buClr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AND</a:t>
            </a:r>
            <a:r>
              <a:rPr lang="zh-CN" altLang="en-US" sz="2400" b="1" dirty="0">
                <a:latin typeface="Arial" panose="020B0604020202020204" pitchFamily="34" charset="0"/>
                <a:ea typeface="宋体" panose="02010600030101010101" pitchFamily="2" charset="-122"/>
              </a:rPr>
              <a:t>指令主要用在什么场合？</a:t>
            </a:r>
          </a:p>
        </p:txBody>
      </p:sp>
      <p:sp>
        <p:nvSpPr>
          <p:cNvPr id="450569" name="矩形 450568"/>
          <p:cNvSpPr/>
          <p:nvPr/>
        </p:nvSpPr>
        <p:spPr>
          <a:xfrm>
            <a:off x="7149307" y="5864225"/>
            <a:ext cx="1708150" cy="457200"/>
          </a:xfrm>
          <a:prstGeom prst="rect">
            <a:avLst/>
          </a:prstGeom>
          <a:noFill/>
          <a:ln w="9525">
            <a:noFill/>
          </a:ln>
        </p:spPr>
        <p:txBody>
          <a:bodyPr wrap="none" anchor="t">
            <a:spAutoFit/>
          </a:bodyPr>
          <a:lstStyle/>
          <a:p>
            <a:pPr lvl="0"/>
            <a:r>
              <a:rPr lang="zh-CN" altLang="en-US" sz="2400" b="1" dirty="0">
                <a:solidFill>
                  <a:srgbClr val="0000FF"/>
                </a:solidFill>
                <a:latin typeface="Arial" panose="020B0604020202020204" pitchFamily="34" charset="0"/>
                <a:ea typeface="宋体" panose="02010600030101010101" pitchFamily="2" charset="-122"/>
              </a:rPr>
              <a:t>屏蔽某些位</a:t>
            </a:r>
            <a:endParaRPr lang="en-US" altLang="zh-CN" sz="2400" b="1" dirty="0">
              <a:solidFill>
                <a:srgbClr val="0000FF"/>
              </a:solidFill>
              <a:latin typeface="Arial" panose="020B0604020202020204" pitchFamily="34" charset="0"/>
              <a:ea typeface="宋体" panose="02010600030101010101" pitchFamily="2" charset="-122"/>
            </a:endParaRPr>
          </a:p>
        </p:txBody>
      </p:sp>
      <p:sp>
        <p:nvSpPr>
          <p:cNvPr id="450570" name="矩形 450569"/>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1570324568"/>
      </p:ext>
    </p:extLst>
  </p:cSld>
  <p:clrMapOvr>
    <a:masterClrMapping/>
  </p:clrMapOvr>
  <p:transition spd="med">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标题 451585"/>
          <p:cNvSpPr>
            <a:spLocks noGrp="1"/>
          </p:cNvSpPr>
          <p:nvPr>
            <p:ph type="title"/>
          </p:nvPr>
        </p:nvSpPr>
        <p:spPr>
          <a:xfrm>
            <a:off x="395288" y="850900"/>
            <a:ext cx="2890837" cy="490538"/>
          </a:xfrm>
          <a:ln/>
        </p:spPr>
        <p:txBody>
          <a:bodyPr anchor="ctr"/>
          <a:lstStyle/>
          <a:p>
            <a:pPr algn="l"/>
            <a:r>
              <a:rPr lang="en-US" altLang="zh-CN" sz="2400" b="1" dirty="0"/>
              <a:t>2</a:t>
            </a:r>
            <a:r>
              <a:rPr lang="zh-CN" altLang="en-US" sz="2400" b="1" dirty="0"/>
              <a:t>）逻辑或指令</a:t>
            </a:r>
            <a:r>
              <a:rPr lang="en-US" altLang="zh-CN" sz="2400" b="1" dirty="0"/>
              <a:t>OR</a:t>
            </a:r>
          </a:p>
        </p:txBody>
      </p:sp>
      <p:sp>
        <p:nvSpPr>
          <p:cNvPr id="451587" name="文本占位符 451586"/>
          <p:cNvSpPr>
            <a:spLocks noGrp="1"/>
          </p:cNvSpPr>
          <p:nvPr>
            <p:ph type="body" idx="1"/>
          </p:nvPr>
        </p:nvSpPr>
        <p:spPr>
          <a:xfrm>
            <a:off x="468313" y="3141663"/>
            <a:ext cx="8424862" cy="792162"/>
          </a:xfrm>
          <a:ln/>
        </p:spPr>
        <p:txBody>
          <a:bodyPr/>
          <a:lstStyle/>
          <a:p>
            <a:pPr marL="0" indent="0">
              <a:lnSpc>
                <a:spcPct val="90000"/>
              </a:lnSpc>
              <a:buNone/>
            </a:pPr>
            <a:r>
              <a:rPr lang="zh-CN" altLang="en-US" sz="2400" b="1" dirty="0"/>
              <a:t>功能：对两个操作数执行按位</a:t>
            </a:r>
            <a:r>
              <a:rPr lang="zh-CN" altLang="en-US" sz="2400" b="1" dirty="0">
                <a:solidFill>
                  <a:srgbClr val="0000FF"/>
                </a:solidFill>
              </a:rPr>
              <a:t>逻辑或</a:t>
            </a:r>
            <a:r>
              <a:rPr lang="zh-CN" altLang="en-US" sz="2400" b="1" dirty="0"/>
              <a:t>运算，结果送到目的操作数</a:t>
            </a:r>
          </a:p>
        </p:txBody>
      </p:sp>
      <p:grpSp>
        <p:nvGrpSpPr>
          <p:cNvPr id="451588" name="组合 451587"/>
          <p:cNvGrpSpPr/>
          <p:nvPr/>
        </p:nvGrpSpPr>
        <p:grpSpPr>
          <a:xfrm>
            <a:off x="539750" y="1484313"/>
            <a:ext cx="8153400" cy="1265237"/>
            <a:chOff x="336" y="1747"/>
            <a:chExt cx="5136" cy="797"/>
          </a:xfrm>
        </p:grpSpPr>
        <p:sp>
          <p:nvSpPr>
            <p:cNvPr id="451589" name="流程图: 可选过程 451588"/>
            <p:cNvSpPr/>
            <p:nvPr/>
          </p:nvSpPr>
          <p:spPr>
            <a:xfrm>
              <a:off x="336" y="1747"/>
              <a:ext cx="5136" cy="365"/>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800" b="1">
                  <a:latin typeface="宋体" panose="02010600030101010101" pitchFamily="2" charset="-122"/>
                  <a:ea typeface="宋体" panose="02010600030101010101" pitchFamily="2" charset="-122"/>
                </a:rPr>
                <a:t>OR </a:t>
              </a:r>
              <a:r>
                <a:rPr lang="en-US" altLang="zh-CN" sz="2800" b="1" err="1">
                  <a:latin typeface="宋体" panose="02010600030101010101" pitchFamily="2" charset="-122"/>
                  <a:ea typeface="宋体" panose="02010600030101010101" pitchFamily="2" charset="-122"/>
                </a:rPr>
                <a:t>reg,imm/reg/mem</a:t>
              </a:r>
              <a:r>
                <a:rPr lang="en-US" altLang="zh-CN" sz="2800" b="1">
                  <a:solidFill>
                    <a:schemeClr val="bg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reg←reg</a:t>
              </a:r>
              <a:r>
                <a:rPr lang="en-US" altLang="zh-CN" sz="2400" b="1" err="1">
                  <a:solidFill>
                    <a:srgbClr val="0000FF"/>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imm/reg/mem</a:t>
              </a:r>
              <a:endParaRPr lang="en-US" altLang="zh-CN" sz="2800" b="1">
                <a:solidFill>
                  <a:srgbClr val="0000FF"/>
                </a:solidFill>
                <a:latin typeface="宋体" panose="02010600030101010101" pitchFamily="2" charset="-122"/>
                <a:ea typeface="宋体" panose="02010600030101010101" pitchFamily="2" charset="-122"/>
              </a:endParaRPr>
            </a:p>
          </p:txBody>
        </p:sp>
        <p:sp>
          <p:nvSpPr>
            <p:cNvPr id="451590" name="流程图: 可选过程 451589"/>
            <p:cNvSpPr/>
            <p:nvPr/>
          </p:nvSpPr>
          <p:spPr>
            <a:xfrm>
              <a:off x="336" y="2160"/>
              <a:ext cx="4290" cy="384"/>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800" b="1">
                  <a:latin typeface="宋体" panose="02010600030101010101" pitchFamily="2" charset="-122"/>
                  <a:ea typeface="宋体" panose="02010600030101010101" pitchFamily="2" charset="-122"/>
                </a:rPr>
                <a:t>OR </a:t>
              </a:r>
              <a:r>
                <a:rPr lang="en-US" altLang="zh-CN" sz="2800" b="1" err="1">
                  <a:latin typeface="宋体" panose="02010600030101010101" pitchFamily="2" charset="-122"/>
                  <a:ea typeface="宋体" panose="02010600030101010101" pitchFamily="2" charset="-122"/>
                </a:rPr>
                <a:t>mem,imm/reg</a:t>
              </a:r>
              <a:r>
                <a:rPr lang="en-US" altLang="zh-CN" sz="2800" b="1">
                  <a:solidFill>
                    <a:schemeClr val="bg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mem←mem</a:t>
              </a:r>
              <a:r>
                <a:rPr lang="en-US" altLang="zh-CN" sz="2400" b="1" err="1">
                  <a:solidFill>
                    <a:srgbClr val="0000FF"/>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imm/reg</a:t>
              </a:r>
              <a:endParaRPr lang="en-US" altLang="zh-CN" sz="2800" b="1">
                <a:solidFill>
                  <a:srgbClr val="0000FF"/>
                </a:solidFill>
                <a:latin typeface="宋体" panose="02010600030101010101" pitchFamily="2" charset="-122"/>
                <a:ea typeface="宋体" panose="02010600030101010101" pitchFamily="2" charset="-122"/>
              </a:endParaRPr>
            </a:p>
          </p:txBody>
        </p:sp>
      </p:grpSp>
      <p:sp>
        <p:nvSpPr>
          <p:cNvPr id="451591" name="圆角矩形 451590"/>
          <p:cNvSpPr/>
          <p:nvPr/>
        </p:nvSpPr>
        <p:spPr>
          <a:xfrm>
            <a:off x="647700" y="4183063"/>
            <a:ext cx="7885113" cy="2198687"/>
          </a:xfrm>
          <a:prstGeom prst="roundRect">
            <a:avLst>
              <a:gd name="adj" fmla="val 16667"/>
            </a:avLst>
          </a:prstGeom>
          <a:solidFill>
            <a:schemeClr val="bg1"/>
          </a:solidFill>
          <a:ln w="9525" cap="flat" cmpd="sng">
            <a:solidFill>
              <a:schemeClr val="accent2"/>
            </a:solidFill>
            <a:prstDash val="solid"/>
            <a:headEnd type="none" w="med" len="med"/>
            <a:tailEnd type="none" w="med" len="med"/>
          </a:ln>
        </p:spPr>
        <p:txBody>
          <a:bodyPr anchor="ctr"/>
          <a:lstStyle/>
          <a:p>
            <a:pPr lvl="0" algn="just">
              <a:buClrTx/>
            </a:pPr>
            <a:r>
              <a:rPr lang="zh-CN" altLang="en-US" sz="2400" b="1" dirty="0">
                <a:solidFill>
                  <a:schemeClr val="accent2"/>
                </a:solidFill>
                <a:latin typeface="Arial" panose="020B0604020202020204" pitchFamily="34" charset="0"/>
                <a:ea typeface="宋体" panose="02010600030101010101" pitchFamily="2" charset="-122"/>
              </a:rPr>
              <a:t>说明</a:t>
            </a:r>
            <a:r>
              <a:rPr lang="en-US" altLang="zh-CN" sz="2400" b="1">
                <a:latin typeface="Arial" panose="020B0604020202020204" pitchFamily="34" charset="0"/>
                <a:ea typeface="宋体" panose="02010600030101010101" pitchFamily="2" charset="-122"/>
                <a:sym typeface="Wingdings" panose="05000000000000000000" pitchFamily="2" charset="2"/>
              </a:rPr>
              <a:t>:(1)</a:t>
            </a:r>
            <a:r>
              <a:rPr lang="zh-CN" altLang="en-US" sz="2400" b="1" dirty="0">
                <a:latin typeface="Arial" panose="020B0604020202020204" pitchFamily="34" charset="0"/>
                <a:ea typeface="宋体" panose="02010600030101010101" pitchFamily="2" charset="-122"/>
              </a:rPr>
              <a:t>按位逻辑或运算； </a:t>
            </a:r>
          </a:p>
          <a:p>
            <a:pPr lvl="0" algn="just">
              <a:buClrTx/>
            </a:pPr>
            <a:r>
              <a:rPr lang="zh-CN" altLang="en-US" sz="2400" b="1" dirty="0">
                <a:latin typeface="Arial" panose="020B0604020202020204" pitchFamily="34" charset="0"/>
                <a:ea typeface="宋体" panose="02010600030101010101" pitchFamily="2" charset="-122"/>
              </a:rPr>
              <a:t>　　（</a:t>
            </a:r>
            <a:r>
              <a:rPr lang="en-US" altLang="zh-CN" sz="2400" b="1">
                <a:latin typeface="Arial" panose="020B0604020202020204" pitchFamily="34" charset="0"/>
                <a:ea typeface="宋体" panose="02010600030101010101" pitchFamily="2" charset="-122"/>
              </a:rPr>
              <a:t>2</a:t>
            </a:r>
            <a:r>
              <a:rPr lang="zh-CN" altLang="en-US" sz="2400" b="1">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OR</a:t>
            </a:r>
            <a:r>
              <a:rPr lang="zh-CN" altLang="en-US" sz="2400" b="1" dirty="0">
                <a:latin typeface="Arial" panose="020B0604020202020204" pitchFamily="34" charset="0"/>
                <a:ea typeface="宋体" panose="02010600030101010101" pitchFamily="2" charset="-122"/>
              </a:rPr>
              <a:t>指令对操作数的限制和对标志位的影响；</a:t>
            </a:r>
          </a:p>
          <a:p>
            <a:pPr lvl="0"/>
            <a:r>
              <a:rPr lang="zh-CN" altLang="en-US" sz="2400" b="1" dirty="0">
                <a:solidFill>
                  <a:schemeClr val="accent2"/>
                </a:solidFill>
                <a:latin typeface="Arial" panose="020B0604020202020204" pitchFamily="34" charset="0"/>
                <a:ea typeface="宋体" panose="02010600030101010101" pitchFamily="2" charset="-122"/>
              </a:rPr>
              <a:t>思考：</a:t>
            </a:r>
          </a:p>
          <a:p>
            <a:pPr lvl="0"/>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）某一个操作数自己和自己相逻辑或，结果是？</a:t>
            </a:r>
          </a:p>
          <a:p>
            <a:pPr lvl="0"/>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2</a:t>
            </a:r>
            <a:r>
              <a:rPr lang="zh-CN" altLang="en-US" sz="2400" b="1">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OR</a:t>
            </a:r>
            <a:r>
              <a:rPr lang="zh-CN" altLang="en-US" sz="2400" b="1" dirty="0">
                <a:latin typeface="Arial" panose="020B0604020202020204" pitchFamily="34" charset="0"/>
                <a:ea typeface="宋体" panose="02010600030101010101" pitchFamily="2" charset="-122"/>
              </a:rPr>
              <a:t>指令主要用在什么场合？</a:t>
            </a:r>
            <a:endParaRPr lang="zh-CN" altLang="en-US" sz="2400" b="1">
              <a:latin typeface="Arial" panose="020B0604020202020204" pitchFamily="34" charset="0"/>
              <a:ea typeface="宋体" panose="02010600030101010101" pitchFamily="2" charset="-122"/>
            </a:endParaRPr>
          </a:p>
        </p:txBody>
      </p:sp>
      <p:sp>
        <p:nvSpPr>
          <p:cNvPr id="451592" name="矩形 451591"/>
          <p:cNvSpPr/>
          <p:nvPr/>
        </p:nvSpPr>
        <p:spPr>
          <a:xfrm>
            <a:off x="6629400" y="5867400"/>
            <a:ext cx="1409700" cy="457200"/>
          </a:xfrm>
          <a:prstGeom prst="rect">
            <a:avLst/>
          </a:prstGeom>
          <a:noFill/>
          <a:ln w="9525">
            <a:noFill/>
          </a:ln>
        </p:spPr>
        <p:txBody>
          <a:bodyPr wrap="none" anchor="t">
            <a:spAutoFit/>
          </a:bodyPr>
          <a:lstStyle/>
          <a:p>
            <a:pPr lvl="0"/>
            <a:r>
              <a:rPr lang="zh-CN" altLang="en-US" sz="2400" b="1" dirty="0">
                <a:solidFill>
                  <a:srgbClr val="0000FF"/>
                </a:solidFill>
                <a:latin typeface="Arial" panose="020B0604020202020204" pitchFamily="34" charset="0"/>
                <a:ea typeface="宋体" panose="02010600030101010101" pitchFamily="2" charset="-122"/>
              </a:rPr>
              <a:t>置某些位</a:t>
            </a:r>
          </a:p>
        </p:txBody>
      </p:sp>
      <p:sp>
        <p:nvSpPr>
          <p:cNvPr id="451593" name="矩形 451592"/>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3778108721"/>
      </p:ext>
    </p:extLst>
  </p:cSld>
  <p:clrMapOvr>
    <a:masterClrMapping/>
  </p:clrMapOvr>
  <p:transition spd="med">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标题 452609"/>
          <p:cNvSpPr>
            <a:spLocks noGrp="1"/>
          </p:cNvSpPr>
          <p:nvPr>
            <p:ph type="title"/>
          </p:nvPr>
        </p:nvSpPr>
        <p:spPr>
          <a:xfrm>
            <a:off x="323850" y="850900"/>
            <a:ext cx="3467100" cy="490538"/>
          </a:xfrm>
          <a:ln/>
        </p:spPr>
        <p:txBody>
          <a:bodyPr anchor="ctr"/>
          <a:lstStyle/>
          <a:p>
            <a:pPr algn="l"/>
            <a:r>
              <a:rPr lang="en-US" altLang="zh-CN" sz="2400" b="1" dirty="0"/>
              <a:t>3</a:t>
            </a:r>
            <a:r>
              <a:rPr lang="zh-CN" altLang="en-US" sz="2400" b="1" dirty="0"/>
              <a:t>）逻辑异或指令</a:t>
            </a:r>
            <a:r>
              <a:rPr lang="en-US" altLang="zh-CN" sz="2400" b="1" dirty="0"/>
              <a:t>XOR</a:t>
            </a:r>
          </a:p>
        </p:txBody>
      </p:sp>
      <p:sp>
        <p:nvSpPr>
          <p:cNvPr id="452611" name="文本占位符 452610"/>
          <p:cNvSpPr>
            <a:spLocks noGrp="1"/>
          </p:cNvSpPr>
          <p:nvPr>
            <p:ph type="body" idx="1"/>
          </p:nvPr>
        </p:nvSpPr>
        <p:spPr>
          <a:xfrm>
            <a:off x="395288" y="2924175"/>
            <a:ext cx="8382000" cy="990600"/>
          </a:xfrm>
          <a:solidFill>
            <a:schemeClr val="bg1"/>
          </a:solidFill>
          <a:ln/>
        </p:spPr>
        <p:txBody>
          <a:bodyPr/>
          <a:lstStyle/>
          <a:p>
            <a:pPr>
              <a:buNone/>
            </a:pPr>
            <a:r>
              <a:rPr lang="zh-CN" altLang="en-US" sz="2400" b="1" dirty="0"/>
              <a:t>功能：对两个操作数执行</a:t>
            </a:r>
            <a:r>
              <a:rPr lang="zh-CN" altLang="en-US" sz="2400" b="1" dirty="0">
                <a:solidFill>
                  <a:srgbClr val="0000FF"/>
                </a:solidFill>
              </a:rPr>
              <a:t>按位逻辑异或</a:t>
            </a:r>
            <a:r>
              <a:rPr lang="zh-CN" altLang="en-US" sz="2400" b="1" dirty="0"/>
              <a:t>运算，结果送到目的操作数</a:t>
            </a:r>
          </a:p>
        </p:txBody>
      </p:sp>
      <p:grpSp>
        <p:nvGrpSpPr>
          <p:cNvPr id="452612" name="组合 452611"/>
          <p:cNvGrpSpPr/>
          <p:nvPr/>
        </p:nvGrpSpPr>
        <p:grpSpPr>
          <a:xfrm>
            <a:off x="611188" y="1484313"/>
            <a:ext cx="8153400" cy="1265237"/>
            <a:chOff x="336" y="1747"/>
            <a:chExt cx="5136" cy="797"/>
          </a:xfrm>
        </p:grpSpPr>
        <p:sp>
          <p:nvSpPr>
            <p:cNvPr id="452613" name="流程图: 可选过程 452612"/>
            <p:cNvSpPr/>
            <p:nvPr/>
          </p:nvSpPr>
          <p:spPr>
            <a:xfrm>
              <a:off x="336" y="1747"/>
              <a:ext cx="5136" cy="365"/>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800" b="1">
                  <a:latin typeface="宋体" panose="02010600030101010101" pitchFamily="2" charset="-122"/>
                  <a:ea typeface="宋体" panose="02010600030101010101" pitchFamily="2" charset="-122"/>
                </a:rPr>
                <a:t>XOR </a:t>
              </a:r>
              <a:r>
                <a:rPr lang="en-US" altLang="zh-CN" sz="2800" b="1" err="1">
                  <a:latin typeface="宋体" panose="02010600030101010101" pitchFamily="2" charset="-122"/>
                  <a:ea typeface="宋体" panose="02010600030101010101" pitchFamily="2" charset="-122"/>
                </a:rPr>
                <a:t>reg,imm/reg/mem</a:t>
              </a:r>
              <a:r>
                <a:rPr lang="en-US" altLang="zh-CN" sz="2800" b="1">
                  <a:solidFill>
                    <a:schemeClr val="bg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reg←reg</a:t>
              </a:r>
              <a:r>
                <a:rPr lang="en-US" altLang="zh-CN" sz="2800" b="1" err="1">
                  <a:solidFill>
                    <a:srgbClr val="CC3300"/>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imm/reg/mem</a:t>
              </a:r>
              <a:endParaRPr lang="en-US" altLang="zh-CN" sz="2800" b="1">
                <a:solidFill>
                  <a:schemeClr val="accent2"/>
                </a:solidFill>
                <a:latin typeface="宋体" panose="02010600030101010101" pitchFamily="2" charset="-122"/>
                <a:ea typeface="宋体" panose="02010600030101010101" pitchFamily="2" charset="-122"/>
              </a:endParaRPr>
            </a:p>
          </p:txBody>
        </p:sp>
        <p:sp>
          <p:nvSpPr>
            <p:cNvPr id="452614" name="流程图: 可选过程 452613"/>
            <p:cNvSpPr/>
            <p:nvPr/>
          </p:nvSpPr>
          <p:spPr>
            <a:xfrm>
              <a:off x="336" y="2160"/>
              <a:ext cx="4290" cy="384"/>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800" b="1">
                  <a:latin typeface="宋体" panose="02010600030101010101" pitchFamily="2" charset="-122"/>
                  <a:ea typeface="宋体" panose="02010600030101010101" pitchFamily="2" charset="-122"/>
                </a:rPr>
                <a:t>XOR </a:t>
              </a:r>
              <a:r>
                <a:rPr lang="en-US" altLang="zh-CN" sz="2800" b="1" err="1">
                  <a:latin typeface="宋体" panose="02010600030101010101" pitchFamily="2" charset="-122"/>
                  <a:ea typeface="宋体" panose="02010600030101010101" pitchFamily="2" charset="-122"/>
                </a:rPr>
                <a:t>mem,imm/reg</a:t>
              </a:r>
              <a:r>
                <a:rPr lang="en-US" altLang="zh-CN" sz="2800" b="1">
                  <a:solidFill>
                    <a:schemeClr val="bg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mem←mem</a:t>
              </a:r>
              <a:r>
                <a:rPr lang="en-US" altLang="zh-CN" sz="2800" b="1" err="1">
                  <a:solidFill>
                    <a:srgbClr val="CC3300"/>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imm/reg</a:t>
              </a:r>
              <a:endParaRPr lang="en-US" altLang="zh-CN" sz="2800" b="1">
                <a:solidFill>
                  <a:schemeClr val="accent2"/>
                </a:solidFill>
                <a:latin typeface="宋体" panose="02010600030101010101" pitchFamily="2" charset="-122"/>
                <a:ea typeface="宋体" panose="02010600030101010101" pitchFamily="2" charset="-122"/>
              </a:endParaRPr>
            </a:p>
          </p:txBody>
        </p:sp>
      </p:grpSp>
      <p:sp>
        <p:nvSpPr>
          <p:cNvPr id="452615" name="圆角矩形 452614"/>
          <p:cNvSpPr/>
          <p:nvPr/>
        </p:nvSpPr>
        <p:spPr>
          <a:xfrm>
            <a:off x="179388" y="3932238"/>
            <a:ext cx="8964612" cy="2520950"/>
          </a:xfrm>
          <a:prstGeom prst="roundRect">
            <a:avLst>
              <a:gd name="adj" fmla="val 16667"/>
            </a:avLst>
          </a:prstGeom>
          <a:solidFill>
            <a:schemeClr val="bg1"/>
          </a:solidFill>
          <a:ln w="9525" cap="flat" cmpd="sng">
            <a:solidFill>
              <a:schemeClr val="accent2"/>
            </a:solidFill>
            <a:prstDash val="solid"/>
            <a:headEnd type="none" w="med" len="med"/>
            <a:tailEnd type="none" w="med" len="med"/>
          </a:ln>
        </p:spPr>
        <p:txBody>
          <a:bodyPr anchor="ctr"/>
          <a:lstStyle/>
          <a:p>
            <a:pPr lvl="0" algn="just">
              <a:buClrTx/>
            </a:pPr>
            <a:r>
              <a:rPr lang="zh-CN" altLang="en-US" sz="2400" b="1" dirty="0">
                <a:solidFill>
                  <a:schemeClr val="accent2"/>
                </a:solidFill>
                <a:latin typeface="Arial" panose="020B0604020202020204" pitchFamily="34" charset="0"/>
                <a:ea typeface="宋体" panose="02010600030101010101" pitchFamily="2" charset="-122"/>
              </a:rPr>
              <a:t>说明：</a:t>
            </a:r>
          </a:p>
          <a:p>
            <a:pPr lvl="0" algn="just">
              <a:buClrTx/>
            </a:pPr>
            <a:r>
              <a:rPr lang="zh-CN" altLang="en-US" sz="2400" b="1" dirty="0">
                <a:solidFill>
                  <a:schemeClr val="accent2"/>
                </a:solidFill>
                <a:latin typeface="Arial" panose="020B0604020202020204" pitchFamily="34" charset="0"/>
                <a:ea typeface="宋体" panose="02010600030101010101" pitchFamily="2" charset="-122"/>
              </a:rPr>
              <a:t>（</a:t>
            </a:r>
            <a:r>
              <a:rPr lang="en-US" altLang="zh-CN" sz="2400" b="1" dirty="0">
                <a:solidFill>
                  <a:schemeClr val="accent2"/>
                </a:solidFill>
                <a:latin typeface="Arial" panose="020B0604020202020204" pitchFamily="34" charset="0"/>
                <a:ea typeface="宋体" panose="02010600030101010101" pitchFamily="2" charset="-122"/>
              </a:rPr>
              <a:t>1</a:t>
            </a:r>
            <a:r>
              <a:rPr lang="zh-CN" altLang="en-US" sz="2400" b="1" dirty="0">
                <a:solidFill>
                  <a:schemeClr val="accent2"/>
                </a:solidFill>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只有相“异或”的两位</a:t>
            </a:r>
            <a:r>
              <a:rPr lang="zh-CN" altLang="en-US" sz="2400" b="1" dirty="0">
                <a:solidFill>
                  <a:srgbClr val="0000FF"/>
                </a:solidFill>
                <a:latin typeface="Arial" panose="020B0604020202020204" pitchFamily="34" charset="0"/>
                <a:ea typeface="宋体" panose="02010600030101010101" pitchFamily="2" charset="-122"/>
              </a:rPr>
              <a:t>不相同</a:t>
            </a:r>
            <a:r>
              <a:rPr lang="zh-CN" altLang="en-US" sz="2400" b="1" dirty="0">
                <a:latin typeface="Arial" panose="020B0604020202020204" pitchFamily="34" charset="0"/>
                <a:ea typeface="宋体" panose="02010600030101010101" pitchFamily="2" charset="-122"/>
              </a:rPr>
              <a:t>，结果才是</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a:t>
            </a:r>
          </a:p>
          <a:p>
            <a:pPr lvl="0"/>
            <a:r>
              <a:rPr lang="zh-CN" altLang="en-US" sz="2400" b="1" dirty="0">
                <a:solidFill>
                  <a:schemeClr val="accent2"/>
                </a:solidFill>
                <a:latin typeface="Arial" panose="020B0604020202020204" pitchFamily="34" charset="0"/>
                <a:ea typeface="宋体" panose="02010600030101010101" pitchFamily="2" charset="-122"/>
              </a:rPr>
              <a:t>（</a:t>
            </a:r>
            <a:r>
              <a:rPr lang="en-US" altLang="zh-CN" sz="2400" b="1" dirty="0">
                <a:solidFill>
                  <a:schemeClr val="accent2"/>
                </a:solidFill>
                <a:latin typeface="Arial" panose="020B0604020202020204" pitchFamily="34" charset="0"/>
                <a:ea typeface="宋体" panose="02010600030101010101" pitchFamily="2" charset="-122"/>
              </a:rPr>
              <a:t>2</a:t>
            </a:r>
            <a:r>
              <a:rPr lang="zh-CN" altLang="en-US" sz="2400" b="1" dirty="0">
                <a:solidFill>
                  <a:schemeClr val="accent2"/>
                </a:solidFill>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XOR</a:t>
            </a:r>
            <a:r>
              <a:rPr lang="zh-CN" altLang="en-US" sz="2400" b="1" dirty="0">
                <a:latin typeface="Arial" panose="020B0604020202020204" pitchFamily="34" charset="0"/>
                <a:ea typeface="宋体" panose="02010600030101010101" pitchFamily="2" charset="-122"/>
              </a:rPr>
              <a:t>指令对操作数的限制和对标志位的影响同</a:t>
            </a:r>
            <a:r>
              <a:rPr lang="en-US" altLang="zh-CN" sz="2400" b="1" dirty="0">
                <a:latin typeface="Arial" panose="020B0604020202020204" pitchFamily="34" charset="0"/>
                <a:ea typeface="宋体" panose="02010600030101010101" pitchFamily="2" charset="-122"/>
              </a:rPr>
              <a:t>AND</a:t>
            </a:r>
            <a:r>
              <a:rPr lang="zh-CN" altLang="en-US" sz="2400" b="1" dirty="0">
                <a:latin typeface="Arial" panose="020B0604020202020204" pitchFamily="34" charset="0"/>
                <a:ea typeface="宋体" panose="02010600030101010101" pitchFamily="2" charset="-122"/>
              </a:rPr>
              <a:t>指令</a:t>
            </a:r>
          </a:p>
          <a:p>
            <a:pPr lvl="0"/>
            <a:r>
              <a:rPr lang="zh-CN" altLang="en-US" sz="2400" b="1" dirty="0">
                <a:solidFill>
                  <a:schemeClr val="accent2"/>
                </a:solidFill>
                <a:latin typeface="Arial" panose="020B0604020202020204" pitchFamily="34" charset="0"/>
                <a:ea typeface="宋体" panose="02010600030101010101" pitchFamily="2" charset="-122"/>
              </a:rPr>
              <a:t>思考：</a:t>
            </a:r>
          </a:p>
          <a:p>
            <a:pPr lvl="0"/>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）某一个操作数自己和自己相异或，结果是？</a:t>
            </a:r>
          </a:p>
          <a:p>
            <a:pPr lvl="0"/>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XOR</a:t>
            </a:r>
            <a:r>
              <a:rPr lang="zh-CN" altLang="en-US" sz="2400" b="1" dirty="0">
                <a:latin typeface="Arial" panose="020B0604020202020204" pitchFamily="34" charset="0"/>
                <a:ea typeface="宋体" panose="02010600030101010101" pitchFamily="2" charset="-122"/>
              </a:rPr>
              <a:t>指令主要用在什么场合？</a:t>
            </a:r>
          </a:p>
        </p:txBody>
      </p:sp>
      <p:sp>
        <p:nvSpPr>
          <p:cNvPr id="452616" name="矩形 452615"/>
          <p:cNvSpPr/>
          <p:nvPr/>
        </p:nvSpPr>
        <p:spPr>
          <a:xfrm>
            <a:off x="7092950" y="5445224"/>
            <a:ext cx="1716088" cy="457200"/>
          </a:xfrm>
          <a:prstGeom prst="rect">
            <a:avLst/>
          </a:prstGeom>
          <a:noFill/>
          <a:ln w="9525">
            <a:noFill/>
          </a:ln>
        </p:spPr>
        <p:txBody>
          <a:bodyPr>
            <a:spAutoFit/>
          </a:bodyPr>
          <a:lstStyle/>
          <a:p>
            <a:pPr lvl="0"/>
            <a:r>
              <a:rPr lang="zh-CN" altLang="en-US" sz="2400" b="1" dirty="0">
                <a:solidFill>
                  <a:srgbClr val="0000FF"/>
                </a:solidFill>
                <a:latin typeface="Arial" panose="020B0604020202020204" pitchFamily="34" charset="0"/>
                <a:ea typeface="宋体" panose="02010600030101010101" pitchFamily="2" charset="-122"/>
              </a:rPr>
              <a:t>寄存器清０</a:t>
            </a:r>
          </a:p>
        </p:txBody>
      </p:sp>
      <p:sp>
        <p:nvSpPr>
          <p:cNvPr id="452617" name="矩形 452616"/>
          <p:cNvSpPr/>
          <p:nvPr/>
        </p:nvSpPr>
        <p:spPr>
          <a:xfrm>
            <a:off x="7104063" y="5877272"/>
            <a:ext cx="1716087" cy="457200"/>
          </a:xfrm>
          <a:prstGeom prst="rect">
            <a:avLst/>
          </a:prstGeom>
          <a:noFill/>
          <a:ln w="9525">
            <a:noFill/>
          </a:ln>
        </p:spPr>
        <p:txBody>
          <a:bodyPr>
            <a:spAutoFit/>
          </a:bodyPr>
          <a:lstStyle/>
          <a:p>
            <a:pPr lvl="0"/>
            <a:r>
              <a:rPr lang="zh-CN" altLang="en-US" sz="2400" b="1" dirty="0">
                <a:solidFill>
                  <a:srgbClr val="0000FF"/>
                </a:solidFill>
                <a:latin typeface="Arial" panose="020B0604020202020204" pitchFamily="34" charset="0"/>
                <a:ea typeface="宋体" panose="02010600030101010101" pitchFamily="2" charset="-122"/>
              </a:rPr>
              <a:t>求反某些位</a:t>
            </a:r>
          </a:p>
        </p:txBody>
      </p:sp>
      <p:sp>
        <p:nvSpPr>
          <p:cNvPr id="452618" name="矩形 45261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273255379"/>
      </p:ext>
    </p:extLst>
  </p:cSld>
  <p:clrMapOvr>
    <a:masterClrMapping/>
  </p:clrMapOvr>
  <p:transition spd="med">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标题 453633"/>
          <p:cNvSpPr>
            <a:spLocks noGrp="1"/>
          </p:cNvSpPr>
          <p:nvPr>
            <p:ph type="title"/>
          </p:nvPr>
        </p:nvSpPr>
        <p:spPr>
          <a:xfrm>
            <a:off x="684213" y="836613"/>
            <a:ext cx="2879725" cy="417512"/>
          </a:xfrm>
          <a:ln/>
        </p:spPr>
        <p:txBody>
          <a:bodyPr vert="horz" wrap="square" lIns="91440" tIns="45720" rIns="91440" bIns="45720" anchor="t"/>
          <a:lstStyle/>
          <a:p>
            <a:pPr marL="342900" indent="-342900" algn="l">
              <a:lnSpc>
                <a:spcPct val="90000"/>
              </a:lnSpc>
              <a:spcBef>
                <a:spcPct val="20000"/>
              </a:spcBef>
            </a:pPr>
            <a:r>
              <a:rPr lang="en-US" altLang="zh-CN" sz="2400" b="1" dirty="0">
                <a:solidFill>
                  <a:schemeClr val="tx1"/>
                </a:solidFill>
              </a:rPr>
              <a:t>4</a:t>
            </a:r>
            <a:r>
              <a:rPr lang="zh-CN" altLang="en-US" sz="2400" b="1" dirty="0">
                <a:solidFill>
                  <a:schemeClr val="tx1"/>
                </a:solidFill>
              </a:rPr>
              <a:t>）逻辑非指令</a:t>
            </a:r>
            <a:r>
              <a:rPr lang="en-US" altLang="zh-CN" sz="2400" b="1" dirty="0">
                <a:solidFill>
                  <a:schemeClr val="tx1"/>
                </a:solidFill>
              </a:rPr>
              <a:t>NOT</a:t>
            </a:r>
          </a:p>
        </p:txBody>
      </p:sp>
      <p:sp>
        <p:nvSpPr>
          <p:cNvPr id="453635" name="文本占位符 453634"/>
          <p:cNvSpPr>
            <a:spLocks noGrp="1"/>
          </p:cNvSpPr>
          <p:nvPr>
            <p:ph type="body" idx="1"/>
          </p:nvPr>
        </p:nvSpPr>
        <p:spPr>
          <a:xfrm>
            <a:off x="684213" y="3573463"/>
            <a:ext cx="6059487" cy="460375"/>
          </a:xfrm>
          <a:ln/>
        </p:spPr>
        <p:txBody>
          <a:bodyPr/>
          <a:lstStyle/>
          <a:p>
            <a:pPr>
              <a:lnSpc>
                <a:spcPct val="90000"/>
              </a:lnSpc>
              <a:buNone/>
            </a:pPr>
            <a:r>
              <a:rPr lang="zh-CN" altLang="en-US" sz="2400" b="1" dirty="0"/>
              <a:t>功能：对一个操作数执行按位逻辑非运算</a:t>
            </a:r>
          </a:p>
        </p:txBody>
      </p:sp>
      <p:sp>
        <p:nvSpPr>
          <p:cNvPr id="453636" name="矩形 453635"/>
          <p:cNvSpPr/>
          <p:nvPr/>
        </p:nvSpPr>
        <p:spPr>
          <a:xfrm>
            <a:off x="609600" y="5105400"/>
            <a:ext cx="7543800" cy="1295400"/>
          </a:xfrm>
          <a:prstGeom prst="rect">
            <a:avLst/>
          </a:prstGeom>
          <a:noFill/>
          <a:ln w="9525">
            <a:noFill/>
          </a:ln>
        </p:spPr>
        <p:txBody>
          <a:bodyPr lIns="92075" tIns="46038" rIns="92075" bIns="46038"/>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endParaRPr lang="zh-CN" altLang="en-US" sz="2800" dirty="0"/>
          </a:p>
        </p:txBody>
      </p:sp>
      <p:sp>
        <p:nvSpPr>
          <p:cNvPr id="453637" name="流程图: 可选过程 453636"/>
          <p:cNvSpPr/>
          <p:nvPr/>
        </p:nvSpPr>
        <p:spPr>
          <a:xfrm>
            <a:off x="827088" y="1700213"/>
            <a:ext cx="6810375" cy="609600"/>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800" b="1">
                <a:latin typeface="宋体" panose="02010600030101010101" pitchFamily="2" charset="-122"/>
                <a:ea typeface="宋体" panose="02010600030101010101" pitchFamily="2" charset="-122"/>
              </a:rPr>
              <a:t>NOT </a:t>
            </a:r>
            <a:r>
              <a:rPr lang="en-US" altLang="zh-CN" sz="2800" b="1" err="1">
                <a:latin typeface="宋体" panose="02010600030101010101" pitchFamily="2" charset="-122"/>
                <a:ea typeface="宋体" panose="02010600030101010101" pitchFamily="2" charset="-122"/>
              </a:rPr>
              <a:t>reg/mem</a:t>
            </a:r>
            <a:r>
              <a:rPr lang="en-US" altLang="zh-CN" sz="2800" b="1">
                <a:solidFill>
                  <a:schemeClr val="bg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reg/mem</a:t>
            </a:r>
            <a:r>
              <a:rPr lang="en-US" altLang="zh-CN" sz="2800" b="1">
                <a:solidFill>
                  <a:schemeClr val="accent2"/>
                </a:solidFill>
                <a:latin typeface="宋体" panose="02010600030101010101" pitchFamily="2" charset="-122"/>
                <a:ea typeface="宋体" panose="02010600030101010101" pitchFamily="2" charset="-122"/>
              </a:rPr>
              <a:t>←</a:t>
            </a:r>
            <a:r>
              <a:rPr lang="zh-CN" altLang="en-US" sz="2400" b="1">
                <a:solidFill>
                  <a:srgbClr val="CC3300"/>
                </a:solidFill>
                <a:latin typeface="宋体" panose="02010600030101010101" pitchFamily="2" charset="-122"/>
                <a:ea typeface="宋体" panose="02010600030101010101" pitchFamily="2" charset="-122"/>
              </a:rPr>
              <a:t>～</a:t>
            </a:r>
            <a:r>
              <a:rPr lang="en-US" altLang="zh-CN" sz="2800" b="1" err="1">
                <a:solidFill>
                  <a:schemeClr val="accent2"/>
                </a:solidFill>
                <a:latin typeface="宋体" panose="02010600030101010101" pitchFamily="2" charset="-122"/>
                <a:ea typeface="宋体" panose="02010600030101010101" pitchFamily="2" charset="-122"/>
              </a:rPr>
              <a:t>reg/mem</a:t>
            </a:r>
            <a:endParaRPr lang="en-US" altLang="zh-CN" sz="2800" b="1">
              <a:solidFill>
                <a:schemeClr val="accent2"/>
              </a:solidFill>
              <a:latin typeface="宋体" panose="02010600030101010101" pitchFamily="2" charset="-122"/>
              <a:ea typeface="宋体" panose="02010600030101010101" pitchFamily="2" charset="-122"/>
            </a:endParaRPr>
          </a:p>
        </p:txBody>
      </p:sp>
      <p:sp>
        <p:nvSpPr>
          <p:cNvPr id="453638" name="圆角矩形 453637"/>
          <p:cNvSpPr/>
          <p:nvPr/>
        </p:nvSpPr>
        <p:spPr>
          <a:xfrm>
            <a:off x="539750" y="4300538"/>
            <a:ext cx="8147050" cy="2008187"/>
          </a:xfrm>
          <a:prstGeom prst="roundRect">
            <a:avLst>
              <a:gd name="adj" fmla="val 16667"/>
            </a:avLst>
          </a:prstGeom>
          <a:solidFill>
            <a:schemeClr val="bg1"/>
          </a:solidFill>
          <a:ln w="9525" cap="flat" cmpd="sng">
            <a:solidFill>
              <a:schemeClr val="accent2"/>
            </a:solidFill>
            <a:prstDash val="solid"/>
            <a:headEnd type="none" w="med" len="med"/>
            <a:tailEnd type="none" w="med" len="med"/>
          </a:ln>
        </p:spPr>
        <p:txBody>
          <a:bodyPr anchor="ctr"/>
          <a:lstStyle/>
          <a:p>
            <a:pPr lvl="0"/>
            <a:r>
              <a:rPr lang="zh-CN" altLang="en-US" sz="2400" b="1" dirty="0">
                <a:solidFill>
                  <a:schemeClr val="accent2"/>
                </a:solidFill>
                <a:latin typeface="Arial" panose="020B0604020202020204" pitchFamily="34" charset="0"/>
                <a:ea typeface="宋体" panose="02010600030101010101" pitchFamily="2" charset="-122"/>
              </a:rPr>
              <a:t> 说明：</a:t>
            </a:r>
          </a:p>
          <a:p>
            <a:pPr lvl="0"/>
            <a:r>
              <a:rPr lang="zh-CN" altLang="en-US" sz="2400" b="1" dirty="0">
                <a:solidFill>
                  <a:schemeClr val="accent2"/>
                </a:solidFill>
                <a:latin typeface="Arial" panose="020B0604020202020204" pitchFamily="34" charset="0"/>
                <a:ea typeface="宋体" panose="02010600030101010101" pitchFamily="2" charset="-122"/>
              </a:rPr>
              <a:t>（</a:t>
            </a:r>
            <a:r>
              <a:rPr lang="en-US" altLang="zh-CN" sz="2400" b="1">
                <a:solidFill>
                  <a:schemeClr val="accent2"/>
                </a:solidFill>
                <a:latin typeface="Arial" panose="020B0604020202020204" pitchFamily="34" charset="0"/>
                <a:ea typeface="宋体" panose="02010600030101010101" pitchFamily="2" charset="-122"/>
              </a:rPr>
              <a:t>1</a:t>
            </a:r>
            <a:r>
              <a:rPr lang="zh-CN" altLang="en-US" sz="2400" b="1" dirty="0">
                <a:solidFill>
                  <a:schemeClr val="accent2"/>
                </a:solidFill>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按位取反，原来是“</a:t>
            </a:r>
            <a:r>
              <a:rPr lang="en-US" altLang="zh-CN" sz="2400" b="1">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的位变为“</a:t>
            </a:r>
            <a:r>
              <a:rPr lang="en-US" altLang="zh-CN" sz="2400" b="1">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，原来是“</a:t>
            </a:r>
            <a:r>
              <a:rPr lang="en-US" altLang="zh-CN" sz="2400" b="1">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的位变为“</a:t>
            </a:r>
            <a:r>
              <a:rPr lang="en-US" altLang="zh-CN" sz="2400" b="1">
                <a:latin typeface="Arial" panose="020B0604020202020204" pitchFamily="34" charset="0"/>
                <a:ea typeface="宋体" panose="02010600030101010101" pitchFamily="2" charset="-122"/>
              </a:rPr>
              <a:t>0”</a:t>
            </a:r>
            <a:r>
              <a:rPr lang="en-US" altLang="zh-CN" sz="2400" b="1">
                <a:solidFill>
                  <a:schemeClr val="accent2"/>
                </a:solidFill>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a:t>
            </a:r>
          </a:p>
          <a:p>
            <a:pPr lvl="0"/>
            <a:r>
              <a:rPr lang="zh-CN" altLang="en-US" sz="2400" b="1" dirty="0">
                <a:solidFill>
                  <a:schemeClr val="accent2"/>
                </a:solidFill>
                <a:latin typeface="Arial" panose="020B0604020202020204" pitchFamily="34" charset="0"/>
                <a:ea typeface="宋体" panose="02010600030101010101" pitchFamily="2" charset="-122"/>
              </a:rPr>
              <a:t>（</a:t>
            </a:r>
            <a:r>
              <a:rPr lang="en-US" altLang="zh-CN" sz="2400" b="1">
                <a:solidFill>
                  <a:schemeClr val="accent2"/>
                </a:solidFill>
                <a:latin typeface="Arial" panose="020B0604020202020204" pitchFamily="34" charset="0"/>
                <a:ea typeface="宋体" panose="02010600030101010101" pitchFamily="2" charset="-122"/>
              </a:rPr>
              <a:t>2</a:t>
            </a:r>
            <a:r>
              <a:rPr lang="zh-CN" altLang="en-US" sz="2400" b="1">
                <a:solidFill>
                  <a:schemeClr val="accent2"/>
                </a:solidFill>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NOT</a:t>
            </a:r>
            <a:r>
              <a:rPr lang="zh-CN" altLang="en-US" sz="2400" b="1" dirty="0">
                <a:latin typeface="Arial" panose="020B0604020202020204" pitchFamily="34" charset="0"/>
                <a:ea typeface="宋体" panose="02010600030101010101" pitchFamily="2" charset="-122"/>
              </a:rPr>
              <a:t>指令是一个单操作数指令；</a:t>
            </a:r>
          </a:p>
          <a:p>
            <a:pPr lvl="0"/>
            <a:r>
              <a:rPr lang="zh-CN" altLang="en-US" sz="2400" b="1" dirty="0">
                <a:solidFill>
                  <a:schemeClr val="accent2"/>
                </a:solidFill>
                <a:latin typeface="Arial" panose="020B0604020202020204" pitchFamily="34" charset="0"/>
                <a:ea typeface="宋体" panose="02010600030101010101" pitchFamily="2" charset="-122"/>
              </a:rPr>
              <a:t>（</a:t>
            </a:r>
            <a:r>
              <a:rPr lang="en-US" altLang="zh-CN" sz="2400" b="1">
                <a:solidFill>
                  <a:schemeClr val="accent2"/>
                </a:solidFill>
                <a:latin typeface="Arial" panose="020B0604020202020204" pitchFamily="34" charset="0"/>
                <a:ea typeface="宋体" panose="02010600030101010101" pitchFamily="2" charset="-122"/>
              </a:rPr>
              <a:t>3</a:t>
            </a:r>
            <a:r>
              <a:rPr lang="zh-CN" altLang="en-US" sz="2400" b="1">
                <a:solidFill>
                  <a:schemeClr val="accent2"/>
                </a:solidFill>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NOT</a:t>
            </a:r>
            <a:r>
              <a:rPr lang="zh-CN" altLang="en-US" sz="2400" b="1" dirty="0">
                <a:latin typeface="Arial" panose="020B0604020202020204" pitchFamily="34" charset="0"/>
                <a:ea typeface="宋体" panose="02010600030101010101" pitchFamily="2" charset="-122"/>
              </a:rPr>
              <a:t>指令</a:t>
            </a:r>
            <a:r>
              <a:rPr lang="zh-CN" altLang="en-US" sz="2400" b="1" dirty="0">
                <a:solidFill>
                  <a:srgbClr val="0000FF"/>
                </a:solidFill>
                <a:latin typeface="Arial" panose="020B0604020202020204" pitchFamily="34" charset="0"/>
                <a:ea typeface="宋体" panose="02010600030101010101" pitchFamily="2" charset="-122"/>
              </a:rPr>
              <a:t>不影响</a:t>
            </a:r>
            <a:r>
              <a:rPr lang="zh-CN" altLang="en-US" sz="2400" b="1" dirty="0">
                <a:latin typeface="Arial" panose="020B0604020202020204" pitchFamily="34" charset="0"/>
                <a:ea typeface="宋体" panose="02010600030101010101" pitchFamily="2" charset="-122"/>
              </a:rPr>
              <a:t>标志位；</a:t>
            </a:r>
            <a:endParaRPr lang="zh-CN" altLang="en-US" sz="2400" b="1">
              <a:latin typeface="Arial" panose="020B0604020202020204" pitchFamily="34" charset="0"/>
              <a:ea typeface="宋体" panose="02010600030101010101" pitchFamily="2" charset="-122"/>
            </a:endParaRPr>
          </a:p>
        </p:txBody>
      </p:sp>
      <p:sp>
        <p:nvSpPr>
          <p:cNvPr id="453639" name="矩形 45363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1793874981"/>
      </p:ext>
    </p:extLst>
  </p:cSld>
  <p:clrMapOvr>
    <a:masterClrMapping/>
  </p:clrMapOvr>
  <p:transition spd="med">
    <p:random/>
  </p:transition>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4658" name="标题 454657"/>
          <p:cNvSpPr>
            <a:spLocks noGrp="1"/>
          </p:cNvSpPr>
          <p:nvPr>
            <p:ph type="title"/>
          </p:nvPr>
        </p:nvSpPr>
        <p:spPr>
          <a:xfrm>
            <a:off x="468313" y="836613"/>
            <a:ext cx="2519362" cy="431800"/>
          </a:xfrm>
          <a:ln/>
        </p:spPr>
        <p:txBody>
          <a:bodyPr anchor="ctr"/>
          <a:lstStyle/>
          <a:p>
            <a:pPr algn="l"/>
            <a:r>
              <a:rPr lang="zh-CN" altLang="en-US" sz="2400" b="1" dirty="0">
                <a:solidFill>
                  <a:schemeClr val="tx1"/>
                </a:solidFill>
              </a:rPr>
              <a:t>小结逻辑指令：</a:t>
            </a:r>
            <a:endParaRPr lang="zh-CN" altLang="en-US" sz="2400" b="1">
              <a:solidFill>
                <a:schemeClr val="tx1"/>
              </a:solidFill>
            </a:endParaRPr>
          </a:p>
        </p:txBody>
      </p:sp>
      <p:sp>
        <p:nvSpPr>
          <p:cNvPr id="454659" name="文本占位符 454658"/>
          <p:cNvSpPr>
            <a:spLocks noGrp="1"/>
          </p:cNvSpPr>
          <p:nvPr>
            <p:ph type="body" idx="1"/>
          </p:nvPr>
        </p:nvSpPr>
        <p:spPr>
          <a:xfrm>
            <a:off x="395288" y="1268413"/>
            <a:ext cx="7391400" cy="1366837"/>
          </a:xfrm>
          <a:ln/>
        </p:spPr>
        <p:txBody>
          <a:bodyPr/>
          <a:lstStyle/>
          <a:p>
            <a:pPr>
              <a:lnSpc>
                <a:spcPct val="110000"/>
              </a:lnSpc>
              <a:buNone/>
            </a:pPr>
            <a:r>
              <a:rPr lang="zh-CN" altLang="en-US" sz="2400" b="1" dirty="0"/>
              <a:t>主要应用：对一个操作数的某些位进行</a:t>
            </a:r>
            <a:r>
              <a:rPr lang="zh-CN" altLang="en-US" sz="2400" b="1" dirty="0">
                <a:solidFill>
                  <a:srgbClr val="0000FF"/>
                </a:solidFill>
              </a:rPr>
              <a:t>置位</a:t>
            </a:r>
            <a:r>
              <a:rPr lang="zh-CN" altLang="en-US" sz="2400" b="1" dirty="0"/>
              <a:t>（变为</a:t>
            </a:r>
            <a:r>
              <a:rPr lang="en-US" altLang="zh-CN" sz="2400" b="1"/>
              <a:t>1</a:t>
            </a:r>
            <a:r>
              <a:rPr lang="zh-CN" altLang="en-US" sz="2400" b="1" dirty="0"/>
              <a:t>）或</a:t>
            </a:r>
            <a:r>
              <a:rPr lang="zh-CN" altLang="en-US" sz="2400" b="1" dirty="0">
                <a:solidFill>
                  <a:srgbClr val="0000FF"/>
                </a:solidFill>
              </a:rPr>
              <a:t>复位</a:t>
            </a:r>
            <a:r>
              <a:rPr lang="zh-CN" altLang="en-US" sz="2400" b="1" dirty="0"/>
              <a:t>（变为</a:t>
            </a:r>
            <a:r>
              <a:rPr lang="en-US" altLang="zh-CN" sz="2400" b="1"/>
              <a:t>0 </a:t>
            </a:r>
            <a:r>
              <a:rPr lang="zh-CN" altLang="en-US" sz="2400" b="1" dirty="0"/>
              <a:t>）。源操作数往往是</a:t>
            </a:r>
            <a:r>
              <a:rPr lang="zh-CN" altLang="en-US" sz="2400" b="1" dirty="0">
                <a:solidFill>
                  <a:srgbClr val="0000FF"/>
                </a:solidFill>
              </a:rPr>
              <a:t>立即数</a:t>
            </a:r>
            <a:r>
              <a:rPr lang="zh-CN" altLang="en-US" sz="2400" b="1" dirty="0"/>
              <a:t>。</a:t>
            </a:r>
          </a:p>
          <a:p>
            <a:pPr>
              <a:lnSpc>
                <a:spcPct val="110000"/>
              </a:lnSpc>
              <a:buNone/>
            </a:pPr>
            <a:r>
              <a:rPr lang="zh-CN" altLang="en-US" sz="2400" b="1" dirty="0"/>
              <a:t>实际编程时，需要正确地</a:t>
            </a:r>
            <a:r>
              <a:rPr lang="zh-CN" altLang="en-US" sz="2400" b="1" dirty="0">
                <a:solidFill>
                  <a:srgbClr val="0000FF"/>
                </a:solidFill>
              </a:rPr>
              <a:t>选取立即数。</a:t>
            </a:r>
          </a:p>
        </p:txBody>
      </p:sp>
      <p:sp>
        <p:nvSpPr>
          <p:cNvPr id="454660" name="矩形 454659"/>
          <p:cNvSpPr/>
          <p:nvPr/>
        </p:nvSpPr>
        <p:spPr>
          <a:xfrm>
            <a:off x="609600" y="5105400"/>
            <a:ext cx="7543800" cy="1295400"/>
          </a:xfrm>
          <a:prstGeom prst="rect">
            <a:avLst/>
          </a:prstGeom>
          <a:noFill/>
          <a:ln w="9525">
            <a:noFill/>
          </a:ln>
        </p:spPr>
        <p:txBody>
          <a:bodyPr lIns="92075" tIns="46038" rIns="92075" bIns="46038"/>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endParaRPr lang="zh-CN" altLang="en-US" sz="2800" dirty="0"/>
          </a:p>
        </p:txBody>
      </p:sp>
      <p:sp>
        <p:nvSpPr>
          <p:cNvPr id="454661" name="矩形 454660"/>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454662" name="矩形 454661"/>
          <p:cNvSpPr/>
          <p:nvPr/>
        </p:nvSpPr>
        <p:spPr>
          <a:xfrm>
            <a:off x="836613" y="3176588"/>
            <a:ext cx="7264400" cy="3205162"/>
          </a:xfrm>
          <a:prstGeom prst="rect">
            <a:avLst/>
          </a:prstGeom>
          <a:solidFill>
            <a:schemeClr val="bg1"/>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184150" defTabSz="0">
              <a:spcBef>
                <a:spcPct val="5000"/>
              </a:spcBef>
              <a:buNone/>
              <a:tabLst>
                <a:tab pos="2473325" algn="l"/>
              </a:tabLst>
            </a:pPr>
            <a:r>
              <a:rPr lang="en-US" altLang="zh-CN" sz="2400" b="1" err="1">
                <a:solidFill>
                  <a:schemeClr val="accent2"/>
                </a:solidFill>
                <a:latin typeface="宋体" panose="02010600030101010101" pitchFamily="2" charset="-122"/>
              </a:rPr>
              <a:t>mov</a:t>
            </a:r>
            <a:r>
              <a:rPr lang="en-US" altLang="zh-CN" sz="2400" b="1">
                <a:solidFill>
                  <a:schemeClr val="accent2"/>
                </a:solidFill>
                <a:latin typeface="宋体" panose="02010600030101010101" pitchFamily="2" charset="-122"/>
              </a:rPr>
              <a:t> al,45h	</a:t>
            </a:r>
            <a:r>
              <a:rPr lang="zh-CN" altLang="en-US" sz="2400" b="1">
                <a:latin typeface="宋体" panose="02010600030101010101" pitchFamily="2" charset="-122"/>
              </a:rPr>
              <a:t>；</a:t>
            </a:r>
            <a:r>
              <a:rPr lang="zh-CN" altLang="en-US" sz="2400" b="1" dirty="0">
                <a:latin typeface="宋体" panose="02010600030101010101" pitchFamily="2" charset="-122"/>
              </a:rPr>
              <a:t>逻辑与 </a:t>
            </a:r>
            <a:r>
              <a:rPr lang="en-US" altLang="zh-CN" sz="2400" b="1">
                <a:latin typeface="宋体" panose="02010600030101010101" pitchFamily="2" charset="-122"/>
              </a:rPr>
              <a:t>al=01h</a:t>
            </a:r>
          </a:p>
          <a:p>
            <a:pPr marL="0" lvl="0" indent="184150" defTabSz="0">
              <a:spcBef>
                <a:spcPct val="5000"/>
              </a:spcBef>
              <a:buNone/>
              <a:tabLst>
                <a:tab pos="2473325" algn="l"/>
              </a:tabLst>
            </a:pPr>
            <a:r>
              <a:rPr lang="en-US" altLang="zh-CN" sz="2400" b="1">
                <a:solidFill>
                  <a:srgbClr val="0000FF"/>
                </a:solidFill>
                <a:latin typeface="宋体" panose="02010600030101010101" pitchFamily="2" charset="-122"/>
              </a:rPr>
              <a:t>and</a:t>
            </a:r>
            <a:r>
              <a:rPr lang="en-US" altLang="zh-CN" sz="2400" b="1">
                <a:solidFill>
                  <a:schemeClr val="accent2"/>
                </a:solidFill>
                <a:latin typeface="宋体" panose="02010600030101010101" pitchFamily="2" charset="-122"/>
              </a:rPr>
              <a:t> al,31h</a:t>
            </a:r>
            <a:r>
              <a:rPr lang="en-US" altLang="zh-CN" sz="2400" b="1">
                <a:latin typeface="宋体" panose="02010600030101010101" pitchFamily="2" charset="-122"/>
              </a:rPr>
              <a:t>	</a:t>
            </a:r>
            <a:r>
              <a:rPr lang="zh-CN" altLang="en-US" sz="2400" b="1">
                <a:latin typeface="宋体" panose="02010600030101010101" pitchFamily="2" charset="-122"/>
              </a:rPr>
              <a:t>；</a:t>
            </a:r>
            <a:r>
              <a:rPr lang="en-US" altLang="zh-CN" sz="2400" b="1">
                <a:latin typeface="宋体" panose="02010600030101010101" pitchFamily="2" charset="-122"/>
              </a:rPr>
              <a:t>CF=OF=0</a:t>
            </a:r>
            <a:r>
              <a:rPr lang="zh-CN" altLang="en-US" sz="2400" b="1">
                <a:latin typeface="宋体" panose="02010600030101010101" pitchFamily="2" charset="-122"/>
              </a:rPr>
              <a:t>，</a:t>
            </a:r>
            <a:r>
              <a:rPr lang="en-US" altLang="zh-CN" sz="2400" b="1">
                <a:latin typeface="宋体" panose="02010600030101010101" pitchFamily="2" charset="-122"/>
              </a:rPr>
              <a:t>SF=0</a:t>
            </a:r>
            <a:r>
              <a:rPr lang="zh-CN" altLang="en-US" sz="2400" b="1">
                <a:latin typeface="宋体" panose="02010600030101010101" pitchFamily="2" charset="-122"/>
              </a:rPr>
              <a:t>、</a:t>
            </a:r>
            <a:r>
              <a:rPr lang="en-US" altLang="zh-CN" sz="2400" b="1">
                <a:latin typeface="宋体" panose="02010600030101010101" pitchFamily="2" charset="-122"/>
              </a:rPr>
              <a:t>ZF=0</a:t>
            </a:r>
            <a:r>
              <a:rPr lang="zh-CN" altLang="en-US" sz="2400" b="1">
                <a:latin typeface="宋体" panose="02010600030101010101" pitchFamily="2" charset="-122"/>
              </a:rPr>
              <a:t>、</a:t>
            </a:r>
            <a:r>
              <a:rPr lang="en-US" altLang="zh-CN" sz="2400" b="1">
                <a:latin typeface="宋体" panose="02010600030101010101" pitchFamily="2" charset="-122"/>
              </a:rPr>
              <a:t>PF=0</a:t>
            </a:r>
          </a:p>
          <a:p>
            <a:pPr marL="0" lvl="0" indent="184150" defTabSz="0">
              <a:spcBef>
                <a:spcPct val="5000"/>
              </a:spcBef>
              <a:buNone/>
              <a:tabLst>
                <a:tab pos="2473325" algn="l"/>
              </a:tabLst>
            </a:pPr>
            <a:r>
              <a:rPr lang="en-US" altLang="zh-CN" sz="2400" b="1" err="1">
                <a:solidFill>
                  <a:schemeClr val="accent2"/>
                </a:solidFill>
                <a:latin typeface="宋体" panose="02010600030101010101" pitchFamily="2" charset="-122"/>
              </a:rPr>
              <a:t>mov</a:t>
            </a:r>
            <a:r>
              <a:rPr lang="en-US" altLang="zh-CN" sz="2400" b="1">
                <a:solidFill>
                  <a:schemeClr val="accent2"/>
                </a:solidFill>
                <a:latin typeface="宋体" panose="02010600030101010101" pitchFamily="2" charset="-122"/>
              </a:rPr>
              <a:t> al,45h</a:t>
            </a:r>
            <a:r>
              <a:rPr lang="en-US" altLang="zh-CN" sz="2400" b="1">
                <a:latin typeface="宋体" panose="02010600030101010101" pitchFamily="2" charset="-122"/>
              </a:rPr>
              <a:t>	</a:t>
            </a:r>
            <a:r>
              <a:rPr lang="zh-CN" altLang="en-US" sz="2400" b="1">
                <a:latin typeface="宋体" panose="02010600030101010101" pitchFamily="2" charset="-122"/>
              </a:rPr>
              <a:t>；</a:t>
            </a:r>
            <a:r>
              <a:rPr lang="zh-CN" altLang="en-US" sz="2400" b="1" dirty="0">
                <a:latin typeface="宋体" panose="02010600030101010101" pitchFamily="2" charset="-122"/>
              </a:rPr>
              <a:t>逻辑或 </a:t>
            </a:r>
            <a:r>
              <a:rPr lang="en-US" altLang="zh-CN" sz="2400" b="1">
                <a:latin typeface="宋体" panose="02010600030101010101" pitchFamily="2" charset="-122"/>
              </a:rPr>
              <a:t>al=75h</a:t>
            </a:r>
          </a:p>
          <a:p>
            <a:pPr marL="0" lvl="0" indent="184150" defTabSz="0">
              <a:spcBef>
                <a:spcPct val="5000"/>
              </a:spcBef>
              <a:buNone/>
              <a:tabLst>
                <a:tab pos="2473325" algn="l"/>
              </a:tabLst>
            </a:pPr>
            <a:r>
              <a:rPr lang="en-US" altLang="zh-CN" sz="2400" b="1">
                <a:solidFill>
                  <a:srgbClr val="FF00FF"/>
                </a:solidFill>
                <a:latin typeface="宋体" panose="02010600030101010101" pitchFamily="2" charset="-122"/>
              </a:rPr>
              <a:t>or</a:t>
            </a:r>
            <a:r>
              <a:rPr lang="en-US" altLang="zh-CN" sz="2400" b="1">
                <a:solidFill>
                  <a:schemeClr val="accent2"/>
                </a:solidFill>
                <a:latin typeface="宋体" panose="02010600030101010101" pitchFamily="2" charset="-122"/>
              </a:rPr>
              <a:t> al,31h</a:t>
            </a:r>
            <a:r>
              <a:rPr lang="en-US" altLang="zh-CN" sz="2400" b="1">
                <a:latin typeface="宋体" panose="02010600030101010101" pitchFamily="2" charset="-122"/>
              </a:rPr>
              <a:t>	</a:t>
            </a:r>
            <a:r>
              <a:rPr lang="zh-CN" altLang="en-US" sz="2400" b="1">
                <a:latin typeface="宋体" panose="02010600030101010101" pitchFamily="2" charset="-122"/>
              </a:rPr>
              <a:t>；</a:t>
            </a:r>
            <a:r>
              <a:rPr lang="en-US" altLang="zh-CN" sz="2400" b="1">
                <a:latin typeface="宋体" panose="02010600030101010101" pitchFamily="2" charset="-122"/>
              </a:rPr>
              <a:t>CF=OF=0</a:t>
            </a:r>
            <a:r>
              <a:rPr lang="zh-CN" altLang="en-US" sz="2400" b="1">
                <a:latin typeface="宋体" panose="02010600030101010101" pitchFamily="2" charset="-122"/>
              </a:rPr>
              <a:t>，</a:t>
            </a:r>
            <a:r>
              <a:rPr lang="en-US" altLang="zh-CN" sz="2400" b="1">
                <a:latin typeface="宋体" panose="02010600030101010101" pitchFamily="2" charset="-122"/>
              </a:rPr>
              <a:t>SF=0</a:t>
            </a:r>
            <a:r>
              <a:rPr lang="zh-CN" altLang="en-US" sz="2400" b="1">
                <a:latin typeface="宋体" panose="02010600030101010101" pitchFamily="2" charset="-122"/>
              </a:rPr>
              <a:t>、</a:t>
            </a:r>
            <a:r>
              <a:rPr lang="en-US" altLang="zh-CN" sz="2400" b="1">
                <a:latin typeface="宋体" panose="02010600030101010101" pitchFamily="2" charset="-122"/>
              </a:rPr>
              <a:t>ZF=0</a:t>
            </a:r>
            <a:r>
              <a:rPr lang="zh-CN" altLang="en-US" sz="2400" b="1">
                <a:latin typeface="宋体" panose="02010600030101010101" pitchFamily="2" charset="-122"/>
              </a:rPr>
              <a:t>、</a:t>
            </a:r>
            <a:r>
              <a:rPr lang="en-US" altLang="zh-CN" sz="2400" b="1">
                <a:latin typeface="宋体" panose="02010600030101010101" pitchFamily="2" charset="-122"/>
              </a:rPr>
              <a:t>PF=0</a:t>
            </a:r>
          </a:p>
          <a:p>
            <a:pPr marL="0" lvl="0" indent="184150" defTabSz="0">
              <a:spcBef>
                <a:spcPct val="5000"/>
              </a:spcBef>
              <a:buNone/>
              <a:tabLst>
                <a:tab pos="2473325" algn="l"/>
              </a:tabLst>
            </a:pPr>
            <a:r>
              <a:rPr lang="en-US" altLang="zh-CN" sz="2400" b="1" err="1">
                <a:solidFill>
                  <a:schemeClr val="accent2"/>
                </a:solidFill>
                <a:latin typeface="宋体" panose="02010600030101010101" pitchFamily="2" charset="-122"/>
              </a:rPr>
              <a:t>mov</a:t>
            </a:r>
            <a:r>
              <a:rPr lang="en-US" altLang="zh-CN" sz="2400" b="1">
                <a:solidFill>
                  <a:schemeClr val="accent2"/>
                </a:solidFill>
                <a:latin typeface="宋体" panose="02010600030101010101" pitchFamily="2" charset="-122"/>
              </a:rPr>
              <a:t> al,45h</a:t>
            </a:r>
            <a:r>
              <a:rPr lang="en-US" altLang="zh-CN" sz="2400" b="1">
                <a:latin typeface="宋体" panose="02010600030101010101" pitchFamily="2" charset="-122"/>
              </a:rPr>
              <a:t>	</a:t>
            </a:r>
            <a:r>
              <a:rPr lang="zh-CN" altLang="en-US" sz="2400" b="1">
                <a:latin typeface="宋体" panose="02010600030101010101" pitchFamily="2" charset="-122"/>
              </a:rPr>
              <a:t>；</a:t>
            </a:r>
            <a:r>
              <a:rPr lang="zh-CN" altLang="en-US" sz="2400" b="1" dirty="0">
                <a:latin typeface="宋体" panose="02010600030101010101" pitchFamily="2" charset="-122"/>
              </a:rPr>
              <a:t>逻辑异或 </a:t>
            </a:r>
            <a:r>
              <a:rPr lang="en-US" altLang="zh-CN" sz="2400" b="1">
                <a:latin typeface="宋体" panose="02010600030101010101" pitchFamily="2" charset="-122"/>
              </a:rPr>
              <a:t>al=74h</a:t>
            </a:r>
          </a:p>
          <a:p>
            <a:pPr marL="0" lvl="0" indent="184150" defTabSz="0">
              <a:spcBef>
                <a:spcPct val="5000"/>
              </a:spcBef>
              <a:buNone/>
              <a:tabLst>
                <a:tab pos="2473325" algn="l"/>
              </a:tabLst>
            </a:pPr>
            <a:r>
              <a:rPr lang="en-US" altLang="zh-CN" sz="2400" b="1" err="1">
                <a:solidFill>
                  <a:srgbClr val="990099"/>
                </a:solidFill>
                <a:latin typeface="宋体" panose="02010600030101010101" pitchFamily="2" charset="-122"/>
              </a:rPr>
              <a:t>xor</a:t>
            </a:r>
            <a:r>
              <a:rPr lang="en-US" altLang="zh-CN" sz="2400" b="1">
                <a:solidFill>
                  <a:schemeClr val="accent2"/>
                </a:solidFill>
                <a:latin typeface="宋体" panose="02010600030101010101" pitchFamily="2" charset="-122"/>
              </a:rPr>
              <a:t> al,31h</a:t>
            </a:r>
            <a:r>
              <a:rPr lang="en-US" altLang="zh-CN" sz="2400" b="1">
                <a:latin typeface="宋体" panose="02010600030101010101" pitchFamily="2" charset="-122"/>
              </a:rPr>
              <a:t>	</a:t>
            </a:r>
            <a:r>
              <a:rPr lang="zh-CN" altLang="en-US" sz="2400" b="1">
                <a:latin typeface="宋体" panose="02010600030101010101" pitchFamily="2" charset="-122"/>
              </a:rPr>
              <a:t>；</a:t>
            </a:r>
            <a:r>
              <a:rPr lang="en-US" altLang="zh-CN" sz="2400" b="1">
                <a:latin typeface="宋体" panose="02010600030101010101" pitchFamily="2" charset="-122"/>
              </a:rPr>
              <a:t>CF=OF=0</a:t>
            </a:r>
            <a:r>
              <a:rPr lang="zh-CN" altLang="en-US" sz="2400" b="1">
                <a:latin typeface="宋体" panose="02010600030101010101" pitchFamily="2" charset="-122"/>
              </a:rPr>
              <a:t>，</a:t>
            </a:r>
            <a:r>
              <a:rPr lang="en-US" altLang="zh-CN" sz="2400" b="1">
                <a:latin typeface="宋体" panose="02010600030101010101" pitchFamily="2" charset="-122"/>
              </a:rPr>
              <a:t>SF=0</a:t>
            </a:r>
            <a:r>
              <a:rPr lang="zh-CN" altLang="en-US" sz="2400" b="1">
                <a:latin typeface="宋体" panose="02010600030101010101" pitchFamily="2" charset="-122"/>
              </a:rPr>
              <a:t>、</a:t>
            </a:r>
            <a:r>
              <a:rPr lang="en-US" altLang="zh-CN" sz="2400" b="1">
                <a:latin typeface="宋体" panose="02010600030101010101" pitchFamily="2" charset="-122"/>
              </a:rPr>
              <a:t>ZF=0</a:t>
            </a:r>
            <a:r>
              <a:rPr lang="zh-CN" altLang="en-US" sz="2400" b="1">
                <a:latin typeface="宋体" panose="02010600030101010101" pitchFamily="2" charset="-122"/>
              </a:rPr>
              <a:t>、</a:t>
            </a:r>
            <a:r>
              <a:rPr lang="en-US" altLang="zh-CN" sz="2400" b="1">
                <a:latin typeface="宋体" panose="02010600030101010101" pitchFamily="2" charset="-122"/>
              </a:rPr>
              <a:t>PF=1</a:t>
            </a:r>
          </a:p>
          <a:p>
            <a:pPr marL="0" lvl="0" indent="184150" defTabSz="0">
              <a:spcBef>
                <a:spcPct val="5000"/>
              </a:spcBef>
              <a:buNone/>
              <a:tabLst>
                <a:tab pos="2473325" algn="l"/>
              </a:tabLst>
            </a:pPr>
            <a:r>
              <a:rPr lang="en-US" altLang="zh-CN" sz="2400" b="1" err="1">
                <a:solidFill>
                  <a:schemeClr val="accent2"/>
                </a:solidFill>
                <a:latin typeface="宋体" panose="02010600030101010101" pitchFamily="2" charset="-122"/>
              </a:rPr>
              <a:t>mov</a:t>
            </a:r>
            <a:r>
              <a:rPr lang="en-US" altLang="zh-CN" sz="2400" b="1">
                <a:solidFill>
                  <a:schemeClr val="accent2"/>
                </a:solidFill>
                <a:latin typeface="宋体" panose="02010600030101010101" pitchFamily="2" charset="-122"/>
              </a:rPr>
              <a:t> al,45h</a:t>
            </a:r>
            <a:r>
              <a:rPr lang="en-US" altLang="zh-CN" sz="2400" b="1">
                <a:latin typeface="宋体" panose="02010600030101010101" pitchFamily="2" charset="-122"/>
              </a:rPr>
              <a:t>	</a:t>
            </a:r>
            <a:r>
              <a:rPr lang="zh-CN" altLang="en-US" sz="2400" b="1">
                <a:latin typeface="宋体" panose="02010600030101010101" pitchFamily="2" charset="-122"/>
              </a:rPr>
              <a:t>；</a:t>
            </a:r>
            <a:r>
              <a:rPr lang="zh-CN" altLang="en-US" sz="2400" b="1" dirty="0">
                <a:latin typeface="宋体" panose="02010600030101010101" pitchFamily="2" charset="-122"/>
              </a:rPr>
              <a:t>逻辑非 </a:t>
            </a:r>
            <a:r>
              <a:rPr lang="en-US" altLang="zh-CN" sz="2400" b="1">
                <a:latin typeface="宋体" panose="02010600030101010101" pitchFamily="2" charset="-122"/>
              </a:rPr>
              <a:t>al=0bah</a:t>
            </a:r>
          </a:p>
          <a:p>
            <a:pPr marL="0" lvl="0" indent="184150" defTabSz="0">
              <a:spcBef>
                <a:spcPct val="5000"/>
              </a:spcBef>
              <a:buNone/>
              <a:tabLst>
                <a:tab pos="2473325" algn="l"/>
              </a:tabLst>
            </a:pPr>
            <a:r>
              <a:rPr lang="en-US" altLang="zh-CN" sz="2400" b="1">
                <a:solidFill>
                  <a:srgbClr val="FF0000"/>
                </a:solidFill>
                <a:latin typeface="宋体" panose="02010600030101010101" pitchFamily="2" charset="-122"/>
              </a:rPr>
              <a:t>not</a:t>
            </a:r>
            <a:r>
              <a:rPr lang="en-US" altLang="zh-CN" sz="2400" b="1">
                <a:solidFill>
                  <a:schemeClr val="accent2"/>
                </a:solidFill>
                <a:latin typeface="宋体" panose="02010600030101010101" pitchFamily="2" charset="-122"/>
              </a:rPr>
              <a:t> al</a:t>
            </a:r>
            <a:r>
              <a:rPr lang="en-US" altLang="zh-CN" sz="2400" b="1">
                <a:latin typeface="宋体" panose="02010600030101010101" pitchFamily="2" charset="-122"/>
              </a:rPr>
              <a:t>	</a:t>
            </a:r>
            <a:r>
              <a:rPr lang="zh-CN" altLang="en-US" sz="2400" b="1">
                <a:latin typeface="宋体" panose="02010600030101010101" pitchFamily="2" charset="-122"/>
              </a:rPr>
              <a:t>；</a:t>
            </a:r>
            <a:r>
              <a:rPr lang="zh-CN" altLang="en-US" sz="2400" b="1" dirty="0">
                <a:latin typeface="宋体" panose="02010600030101010101" pitchFamily="2" charset="-122"/>
              </a:rPr>
              <a:t>标志不变</a:t>
            </a:r>
          </a:p>
        </p:txBody>
      </p:sp>
      <p:sp>
        <p:nvSpPr>
          <p:cNvPr id="454663" name="流程图: 可选过程 454662"/>
          <p:cNvSpPr/>
          <p:nvPr/>
        </p:nvSpPr>
        <p:spPr>
          <a:xfrm>
            <a:off x="468313" y="2708275"/>
            <a:ext cx="2392362" cy="457200"/>
          </a:xfrm>
          <a:prstGeom prst="flowChartAlternateProcess">
            <a:avLst/>
          </a:prstGeom>
          <a:noFill/>
          <a:ln w="28575" cap="flat" cmpd="sng">
            <a:solidFill>
              <a:schemeClr val="accent1"/>
            </a:solidFill>
            <a:prstDash val="solid"/>
            <a:miter/>
            <a:headEnd type="none" w="med" len="med"/>
            <a:tailEnd type="none" w="med" len="med"/>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lgn="l">
              <a:lnSpc>
                <a:spcPct val="90000"/>
              </a:lnSpc>
            </a:pPr>
            <a:r>
              <a:rPr lang="zh-CN" altLang="en-US" sz="2400" b="1" dirty="0">
                <a:solidFill>
                  <a:schemeClr val="tx1"/>
                </a:solidFill>
              </a:rPr>
              <a:t>例题：逻辑运算</a:t>
            </a:r>
          </a:p>
        </p:txBody>
      </p:sp>
    </p:spTree>
    <p:extLst>
      <p:ext uri="{BB962C8B-B14F-4D97-AF65-F5344CB8AC3E}">
        <p14:creationId xmlns:p14="http://schemas.microsoft.com/office/powerpoint/2010/main" val="112426740"/>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54662">
                                            <p:txEl>
                                              <p:pRg st="0" end="0"/>
                                            </p:txEl>
                                          </p:spTgt>
                                        </p:tgtEl>
                                        <p:attrNameLst>
                                          <p:attrName>style.visibility</p:attrName>
                                        </p:attrNameLst>
                                      </p:cBhvr>
                                      <p:to>
                                        <p:strVal val="visible"/>
                                      </p:to>
                                    </p:set>
                                    <p:animEffect transition="in" filter="slide(fromBottom)">
                                      <p:cBhvr>
                                        <p:cTn id="7" dur="500"/>
                                        <p:tgtEl>
                                          <p:spTgt spid="4546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54662">
                                            <p:txEl>
                                              <p:pRg st="1" end="1"/>
                                            </p:txEl>
                                          </p:spTgt>
                                        </p:tgtEl>
                                        <p:attrNameLst>
                                          <p:attrName>style.visibility</p:attrName>
                                        </p:attrNameLst>
                                      </p:cBhvr>
                                      <p:to>
                                        <p:strVal val="visible"/>
                                      </p:to>
                                    </p:set>
                                    <p:animEffect transition="in" filter="slide(fromBottom)">
                                      <p:cBhvr>
                                        <p:cTn id="12" dur="500"/>
                                        <p:tgtEl>
                                          <p:spTgt spid="4546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54662">
                                            <p:txEl>
                                              <p:pRg st="2" end="2"/>
                                            </p:txEl>
                                          </p:spTgt>
                                        </p:tgtEl>
                                        <p:attrNameLst>
                                          <p:attrName>style.visibility</p:attrName>
                                        </p:attrNameLst>
                                      </p:cBhvr>
                                      <p:to>
                                        <p:strVal val="visible"/>
                                      </p:to>
                                    </p:set>
                                    <p:animEffect transition="in" filter="slide(fromBottom)">
                                      <p:cBhvr>
                                        <p:cTn id="17" dur="500"/>
                                        <p:tgtEl>
                                          <p:spTgt spid="4546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54662">
                                            <p:txEl>
                                              <p:pRg st="3" end="3"/>
                                            </p:txEl>
                                          </p:spTgt>
                                        </p:tgtEl>
                                        <p:attrNameLst>
                                          <p:attrName>style.visibility</p:attrName>
                                        </p:attrNameLst>
                                      </p:cBhvr>
                                      <p:to>
                                        <p:strVal val="visible"/>
                                      </p:to>
                                    </p:set>
                                    <p:animEffect transition="in" filter="slide(fromBottom)">
                                      <p:cBhvr>
                                        <p:cTn id="22" dur="500"/>
                                        <p:tgtEl>
                                          <p:spTgt spid="4546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54662">
                                            <p:txEl>
                                              <p:pRg st="4" end="4"/>
                                            </p:txEl>
                                          </p:spTgt>
                                        </p:tgtEl>
                                        <p:attrNameLst>
                                          <p:attrName>style.visibility</p:attrName>
                                        </p:attrNameLst>
                                      </p:cBhvr>
                                      <p:to>
                                        <p:strVal val="visible"/>
                                      </p:to>
                                    </p:set>
                                    <p:animEffect transition="in" filter="slide(fromBottom)">
                                      <p:cBhvr>
                                        <p:cTn id="27" dur="500"/>
                                        <p:tgtEl>
                                          <p:spTgt spid="45466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54662">
                                            <p:txEl>
                                              <p:pRg st="5" end="5"/>
                                            </p:txEl>
                                          </p:spTgt>
                                        </p:tgtEl>
                                        <p:attrNameLst>
                                          <p:attrName>style.visibility</p:attrName>
                                        </p:attrNameLst>
                                      </p:cBhvr>
                                      <p:to>
                                        <p:strVal val="visible"/>
                                      </p:to>
                                    </p:set>
                                    <p:animEffect transition="in" filter="slide(fromBottom)">
                                      <p:cBhvr>
                                        <p:cTn id="32" dur="500"/>
                                        <p:tgtEl>
                                          <p:spTgt spid="45466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54662">
                                            <p:txEl>
                                              <p:pRg st="6" end="6"/>
                                            </p:txEl>
                                          </p:spTgt>
                                        </p:tgtEl>
                                        <p:attrNameLst>
                                          <p:attrName>style.visibility</p:attrName>
                                        </p:attrNameLst>
                                      </p:cBhvr>
                                      <p:to>
                                        <p:strVal val="visible"/>
                                      </p:to>
                                    </p:set>
                                    <p:animEffect transition="in" filter="slide(fromBottom)">
                                      <p:cBhvr>
                                        <p:cTn id="37" dur="500"/>
                                        <p:tgtEl>
                                          <p:spTgt spid="45466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54662">
                                            <p:txEl>
                                              <p:pRg st="7" end="7"/>
                                            </p:txEl>
                                          </p:spTgt>
                                        </p:tgtEl>
                                        <p:attrNameLst>
                                          <p:attrName>style.visibility</p:attrName>
                                        </p:attrNameLst>
                                      </p:cBhvr>
                                      <p:to>
                                        <p:strVal val="visible"/>
                                      </p:to>
                                    </p:set>
                                    <p:animEffect transition="in" filter="slide(fromBottom)">
                                      <p:cBhvr>
                                        <p:cTn id="42" dur="500"/>
                                        <p:tgtEl>
                                          <p:spTgt spid="45466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62"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56706" name="组合 456705"/>
          <p:cNvGrpSpPr/>
          <p:nvPr/>
        </p:nvGrpSpPr>
        <p:grpSpPr>
          <a:xfrm>
            <a:off x="250825" y="836613"/>
            <a:ext cx="8662988" cy="5643562"/>
            <a:chOff x="147" y="196"/>
            <a:chExt cx="5457" cy="3927"/>
          </a:xfrm>
        </p:grpSpPr>
        <p:pic>
          <p:nvPicPr>
            <p:cNvPr id="456707" name="图片 456706" descr="D2b"/>
            <p:cNvPicPr>
              <a:picLocks noChangeAspect="1"/>
            </p:cNvPicPr>
            <p:nvPr/>
          </p:nvPicPr>
          <p:blipFill>
            <a:blip r:embed="rId2">
              <a:clrChange>
                <a:clrFrom>
                  <a:srgbClr val="000100"/>
                </a:clrFrom>
                <a:clrTo>
                  <a:srgbClr val="000100">
                    <a:alpha val="0"/>
                  </a:srgbClr>
                </a:clrTo>
              </a:clrChange>
            </a:blip>
            <a:stretch>
              <a:fillRect/>
            </a:stretch>
          </p:blipFill>
          <p:spPr>
            <a:xfrm>
              <a:off x="186" y="790"/>
              <a:ext cx="325" cy="2985"/>
            </a:xfrm>
            <a:prstGeom prst="rect">
              <a:avLst/>
            </a:prstGeom>
            <a:noFill/>
            <a:ln w="9525">
              <a:noFill/>
            </a:ln>
          </p:spPr>
        </p:pic>
        <p:pic>
          <p:nvPicPr>
            <p:cNvPr id="456708" name="图片 456707" descr="D2a"/>
            <p:cNvPicPr>
              <a:picLocks noChangeAspect="1"/>
            </p:cNvPicPr>
            <p:nvPr/>
          </p:nvPicPr>
          <p:blipFill>
            <a:blip r:embed="rId3">
              <a:clrChange>
                <a:clrFrom>
                  <a:srgbClr val="010001"/>
                </a:clrFrom>
                <a:clrTo>
                  <a:srgbClr val="010001">
                    <a:alpha val="0"/>
                  </a:srgbClr>
                </a:clrTo>
              </a:clrChange>
            </a:blip>
            <a:stretch>
              <a:fillRect/>
            </a:stretch>
          </p:blipFill>
          <p:spPr>
            <a:xfrm>
              <a:off x="147" y="196"/>
              <a:ext cx="5457" cy="862"/>
            </a:xfrm>
            <a:prstGeom prst="rect">
              <a:avLst/>
            </a:prstGeom>
            <a:noFill/>
            <a:ln w="9525">
              <a:noFill/>
            </a:ln>
          </p:spPr>
        </p:pic>
        <p:pic>
          <p:nvPicPr>
            <p:cNvPr id="456709" name="图片 456708" descr="D2b"/>
            <p:cNvPicPr>
              <a:picLocks noChangeAspect="1"/>
            </p:cNvPicPr>
            <p:nvPr/>
          </p:nvPicPr>
          <p:blipFill>
            <a:blip r:embed="rId2">
              <a:clrChange>
                <a:clrFrom>
                  <a:srgbClr val="000100"/>
                </a:clrFrom>
                <a:clrTo>
                  <a:srgbClr val="000100">
                    <a:alpha val="0"/>
                  </a:srgbClr>
                </a:clrTo>
              </a:clrChange>
            </a:blip>
            <a:stretch>
              <a:fillRect/>
            </a:stretch>
          </p:blipFill>
          <p:spPr>
            <a:xfrm>
              <a:off x="5270" y="1047"/>
              <a:ext cx="325" cy="2985"/>
            </a:xfrm>
            <a:prstGeom prst="rect">
              <a:avLst/>
            </a:prstGeom>
            <a:noFill/>
            <a:ln w="9525">
              <a:noFill/>
            </a:ln>
          </p:spPr>
        </p:pic>
        <p:pic>
          <p:nvPicPr>
            <p:cNvPr id="456710" name="图片 456709" descr="D2c"/>
            <p:cNvPicPr/>
            <p:nvPr/>
          </p:nvPicPr>
          <p:blipFill>
            <a:blip r:embed="rId4">
              <a:clrChange>
                <a:clrFrom>
                  <a:srgbClr val="000000"/>
                </a:clrFrom>
                <a:clrTo>
                  <a:srgbClr val="000000">
                    <a:alpha val="0"/>
                  </a:srgbClr>
                </a:clrTo>
              </a:clrChange>
            </a:blip>
            <a:stretch>
              <a:fillRect/>
            </a:stretch>
          </p:blipFill>
          <p:spPr>
            <a:xfrm>
              <a:off x="189" y="3727"/>
              <a:ext cx="5411" cy="396"/>
            </a:xfrm>
            <a:prstGeom prst="rect">
              <a:avLst/>
            </a:prstGeom>
            <a:noFill/>
            <a:ln w="9525">
              <a:noFill/>
            </a:ln>
          </p:spPr>
        </p:pic>
        <p:sp>
          <p:nvSpPr>
            <p:cNvPr id="456711" name="矩形 456710"/>
            <p:cNvSpPr/>
            <p:nvPr/>
          </p:nvSpPr>
          <p:spPr>
            <a:xfrm>
              <a:off x="3294" y="3696"/>
              <a:ext cx="2064" cy="212"/>
            </a:xfrm>
            <a:prstGeom prst="rect">
              <a:avLst/>
            </a:prstGeom>
            <a:solidFill>
              <a:schemeClr val="bg1"/>
            </a:solidFill>
            <a:ln w="9525">
              <a:noFill/>
            </a:ln>
          </p:spPr>
          <p:txBody>
            <a:bodyPr/>
            <a:lstStyle/>
            <a:p>
              <a:endParaRPr lang="zh-CN" altLang="en-US"/>
            </a:p>
          </p:txBody>
        </p:sp>
      </p:grpSp>
      <p:sp>
        <p:nvSpPr>
          <p:cNvPr id="456712" name="标题 456711"/>
          <p:cNvSpPr>
            <a:spLocks noGrp="1"/>
          </p:cNvSpPr>
          <p:nvPr>
            <p:ph type="title"/>
          </p:nvPr>
        </p:nvSpPr>
        <p:spPr>
          <a:xfrm>
            <a:off x="5003800" y="836613"/>
            <a:ext cx="3063875" cy="457200"/>
          </a:xfrm>
          <a:prstGeom prst="flowChartAlternateProcess">
            <a:avLst/>
          </a:prstGeom>
          <a:ln w="28575">
            <a:solidFill>
              <a:schemeClr val="accent1"/>
            </a:solidFill>
            <a:miter/>
          </a:ln>
        </p:spPr>
        <p:txBody>
          <a:bodyPr anchor="ctr"/>
          <a:lstStyle/>
          <a:p>
            <a:pPr algn="l">
              <a:lnSpc>
                <a:spcPct val="90000"/>
              </a:lnSpc>
            </a:pPr>
            <a:r>
              <a:rPr lang="zh-CN" altLang="en-US" sz="2400" b="1" dirty="0">
                <a:solidFill>
                  <a:schemeClr val="tx1"/>
                </a:solidFill>
              </a:rPr>
              <a:t>例题：逻辑指令</a:t>
            </a:r>
            <a:r>
              <a:rPr lang="zh-CN" altLang="en-US" sz="2400" b="1" dirty="0">
                <a:solidFill>
                  <a:srgbClr val="0000FF"/>
                </a:solidFill>
              </a:rPr>
              <a:t>应用</a:t>
            </a:r>
          </a:p>
        </p:txBody>
      </p:sp>
      <p:sp>
        <p:nvSpPr>
          <p:cNvPr id="456713" name="文本占位符 456712"/>
          <p:cNvSpPr>
            <a:spLocks noGrp="1"/>
          </p:cNvSpPr>
          <p:nvPr>
            <p:ph type="body" idx="1"/>
          </p:nvPr>
        </p:nvSpPr>
        <p:spPr>
          <a:xfrm>
            <a:off x="762000" y="2025650"/>
            <a:ext cx="7696200" cy="3995738"/>
          </a:xfrm>
          <a:solidFill>
            <a:schemeClr val="bg1"/>
          </a:solidFill>
          <a:ln/>
        </p:spPr>
        <p:txBody>
          <a:bodyPr/>
          <a:lstStyle/>
          <a:p>
            <a:pPr marL="0" indent="184150" defTabSz="0">
              <a:buNone/>
              <a:tabLst>
                <a:tab pos="2473325" algn="l"/>
              </a:tabLst>
            </a:pPr>
            <a:r>
              <a:rPr lang="zh-CN" altLang="en-US" sz="2400" b="1">
                <a:latin typeface="宋体" panose="02010600030101010101" pitchFamily="2" charset="-122"/>
              </a:rPr>
              <a:t>；</a:t>
            </a:r>
            <a:r>
              <a:rPr lang="en-US" altLang="zh-CN" sz="2400" b="1">
                <a:latin typeface="宋体" panose="02010600030101010101" pitchFamily="2" charset="-122"/>
              </a:rPr>
              <a:t>AND</a:t>
            </a:r>
            <a:r>
              <a:rPr lang="zh-CN" altLang="en-US" sz="2400" b="1" dirty="0">
                <a:latin typeface="宋体" panose="02010600030101010101" pitchFamily="2" charset="-122"/>
              </a:rPr>
              <a:t>指令可用于</a:t>
            </a:r>
            <a:r>
              <a:rPr lang="zh-CN" altLang="en-US" sz="2400" b="1" dirty="0">
                <a:solidFill>
                  <a:srgbClr val="0000FF"/>
                </a:solidFill>
                <a:latin typeface="宋体" panose="02010600030101010101" pitchFamily="2" charset="-122"/>
              </a:rPr>
              <a:t>复位</a:t>
            </a:r>
            <a:r>
              <a:rPr lang="zh-CN" altLang="en-US" sz="2400" b="1" dirty="0">
                <a:latin typeface="宋体" panose="02010600030101010101" pitchFamily="2" charset="-122"/>
              </a:rPr>
              <a:t>某些位（同</a:t>
            </a:r>
            <a:r>
              <a:rPr lang="en-US" altLang="zh-CN" sz="2400" b="1">
                <a:latin typeface="宋体" panose="02010600030101010101" pitchFamily="2" charset="-122"/>
              </a:rPr>
              <a:t>0</a:t>
            </a:r>
            <a:r>
              <a:rPr lang="zh-CN" altLang="en-US" sz="2400" b="1" dirty="0">
                <a:latin typeface="宋体" panose="02010600030101010101" pitchFamily="2" charset="-122"/>
              </a:rPr>
              <a:t>相与），不影响其他位：将</a:t>
            </a:r>
            <a:r>
              <a:rPr lang="en-US" altLang="zh-CN" sz="2400" b="1">
                <a:latin typeface="宋体" panose="02010600030101010101" pitchFamily="2" charset="-122"/>
              </a:rPr>
              <a:t>BL</a:t>
            </a:r>
            <a:r>
              <a:rPr lang="zh-CN" altLang="en-US" sz="2400" b="1">
                <a:latin typeface="宋体" panose="02010600030101010101" pitchFamily="2" charset="-122"/>
              </a:rPr>
              <a:t>中</a:t>
            </a:r>
            <a:r>
              <a:rPr lang="en-US" altLang="zh-CN" sz="2400" b="1">
                <a:latin typeface="宋体" panose="02010600030101010101" pitchFamily="2" charset="-122"/>
              </a:rPr>
              <a:t>D3</a:t>
            </a:r>
            <a:r>
              <a:rPr lang="zh-CN" altLang="en-US" sz="2400" b="1">
                <a:latin typeface="宋体" panose="02010600030101010101" pitchFamily="2" charset="-122"/>
              </a:rPr>
              <a:t>和</a:t>
            </a:r>
            <a:r>
              <a:rPr lang="en-US" altLang="zh-CN" sz="2400" b="1">
                <a:latin typeface="宋体" panose="02010600030101010101" pitchFamily="2" charset="-122"/>
              </a:rPr>
              <a:t>D0</a:t>
            </a:r>
            <a:r>
              <a:rPr lang="zh-CN" altLang="en-US" sz="2400" b="1" dirty="0">
                <a:latin typeface="宋体" panose="02010600030101010101" pitchFamily="2" charset="-122"/>
              </a:rPr>
              <a:t>位清</a:t>
            </a:r>
            <a:r>
              <a:rPr lang="en-US" altLang="zh-CN" sz="2400" b="1">
                <a:latin typeface="宋体" panose="02010600030101010101" pitchFamily="2" charset="-122"/>
              </a:rPr>
              <a:t>0</a:t>
            </a:r>
            <a:r>
              <a:rPr lang="zh-CN" altLang="en-US" sz="2400" b="1" dirty="0">
                <a:latin typeface="宋体" panose="02010600030101010101" pitchFamily="2" charset="-122"/>
              </a:rPr>
              <a:t>，其他位不变</a:t>
            </a:r>
          </a:p>
          <a:p>
            <a:pPr marL="0" indent="184150" defTabSz="0">
              <a:buNone/>
              <a:tabLst>
                <a:tab pos="2473325" algn="l"/>
              </a:tabLst>
            </a:pPr>
            <a:r>
              <a:rPr lang="en-US" altLang="zh-CN" sz="2400" b="1">
                <a:solidFill>
                  <a:srgbClr val="0000FF"/>
                </a:solidFill>
                <a:latin typeface="宋体" panose="02010600030101010101" pitchFamily="2" charset="-122"/>
              </a:rPr>
              <a:t>and</a:t>
            </a:r>
            <a:r>
              <a:rPr lang="en-US" altLang="zh-CN" sz="2400" b="1">
                <a:solidFill>
                  <a:schemeClr val="accent2"/>
                </a:solidFill>
                <a:latin typeface="宋体" panose="02010600030101010101" pitchFamily="2" charset="-122"/>
              </a:rPr>
              <a:t> </a:t>
            </a:r>
            <a:r>
              <a:rPr lang="en-US" altLang="zh-CN" sz="2400" b="1">
                <a:latin typeface="宋体" panose="02010600030101010101" pitchFamily="2" charset="-122"/>
              </a:rPr>
              <a:t>bl,1111</a:t>
            </a:r>
            <a:r>
              <a:rPr lang="en-US" altLang="zh-CN" sz="2400" b="1">
                <a:solidFill>
                  <a:srgbClr val="0000FF"/>
                </a:solidFill>
                <a:latin typeface="宋体" panose="02010600030101010101" pitchFamily="2" charset="-122"/>
              </a:rPr>
              <a:t>0</a:t>
            </a:r>
            <a:r>
              <a:rPr lang="en-US" altLang="zh-CN" sz="2400" b="1">
                <a:latin typeface="宋体" panose="02010600030101010101" pitchFamily="2" charset="-122"/>
              </a:rPr>
              <a:t>11</a:t>
            </a:r>
            <a:r>
              <a:rPr lang="en-US" altLang="zh-CN" sz="2400" b="1">
                <a:solidFill>
                  <a:srgbClr val="0000FF"/>
                </a:solidFill>
                <a:latin typeface="宋体" panose="02010600030101010101" pitchFamily="2" charset="-122"/>
              </a:rPr>
              <a:t>0</a:t>
            </a:r>
            <a:r>
              <a:rPr lang="en-US" altLang="zh-CN" sz="2400" b="1">
                <a:latin typeface="宋体" panose="02010600030101010101" pitchFamily="2" charset="-122"/>
              </a:rPr>
              <a:t>B</a:t>
            </a:r>
          </a:p>
          <a:p>
            <a:pPr marL="0" indent="184150" defTabSz="0">
              <a:spcBef>
                <a:spcPct val="50000"/>
              </a:spcBef>
              <a:buNone/>
              <a:tabLst>
                <a:tab pos="2473325" algn="l"/>
              </a:tabLst>
            </a:pPr>
            <a:r>
              <a:rPr lang="zh-CN" altLang="en-US" sz="2400" b="1">
                <a:latin typeface="宋体" panose="02010600030101010101" pitchFamily="2" charset="-122"/>
              </a:rPr>
              <a:t>；</a:t>
            </a:r>
            <a:r>
              <a:rPr lang="en-US" altLang="zh-CN" sz="2400" b="1">
                <a:latin typeface="宋体" panose="02010600030101010101" pitchFamily="2" charset="-122"/>
              </a:rPr>
              <a:t>OR</a:t>
            </a:r>
            <a:r>
              <a:rPr lang="zh-CN" altLang="en-US" sz="2400" b="1" dirty="0">
                <a:latin typeface="宋体" panose="02010600030101010101" pitchFamily="2" charset="-122"/>
              </a:rPr>
              <a:t>指令可用于</a:t>
            </a:r>
            <a:r>
              <a:rPr lang="zh-CN" altLang="en-US" sz="2400" b="1" dirty="0">
                <a:solidFill>
                  <a:srgbClr val="0000FF"/>
                </a:solidFill>
                <a:latin typeface="宋体" panose="02010600030101010101" pitchFamily="2" charset="-122"/>
              </a:rPr>
              <a:t>置位</a:t>
            </a:r>
            <a:r>
              <a:rPr lang="zh-CN" altLang="en-US" sz="2400" b="1" dirty="0">
                <a:latin typeface="宋体" panose="02010600030101010101" pitchFamily="2" charset="-122"/>
              </a:rPr>
              <a:t>某些位（同</a:t>
            </a:r>
            <a:r>
              <a:rPr lang="en-US" altLang="zh-CN" sz="2400" b="1">
                <a:latin typeface="宋体" panose="02010600030101010101" pitchFamily="2" charset="-122"/>
              </a:rPr>
              <a:t>1</a:t>
            </a:r>
            <a:r>
              <a:rPr lang="zh-CN" altLang="en-US" sz="2400" b="1" dirty="0">
                <a:latin typeface="宋体" panose="02010600030101010101" pitchFamily="2" charset="-122"/>
              </a:rPr>
              <a:t>相或），不影响其他位：将</a:t>
            </a:r>
            <a:r>
              <a:rPr lang="en-US" altLang="zh-CN" sz="2400" b="1">
                <a:latin typeface="宋体" panose="02010600030101010101" pitchFamily="2" charset="-122"/>
              </a:rPr>
              <a:t>BL</a:t>
            </a:r>
            <a:r>
              <a:rPr lang="zh-CN" altLang="en-US" sz="2400" b="1">
                <a:latin typeface="宋体" panose="02010600030101010101" pitchFamily="2" charset="-122"/>
              </a:rPr>
              <a:t>中</a:t>
            </a:r>
            <a:r>
              <a:rPr lang="en-US" altLang="zh-CN" sz="2400" b="1">
                <a:latin typeface="宋体" panose="02010600030101010101" pitchFamily="2" charset="-122"/>
              </a:rPr>
              <a:t>D3</a:t>
            </a:r>
            <a:r>
              <a:rPr lang="zh-CN" altLang="en-US" sz="2400" b="1">
                <a:latin typeface="宋体" panose="02010600030101010101" pitchFamily="2" charset="-122"/>
              </a:rPr>
              <a:t>和</a:t>
            </a:r>
            <a:r>
              <a:rPr lang="en-US" altLang="zh-CN" sz="2400" b="1">
                <a:latin typeface="宋体" panose="02010600030101010101" pitchFamily="2" charset="-122"/>
              </a:rPr>
              <a:t>D0</a:t>
            </a:r>
            <a:r>
              <a:rPr lang="zh-CN" altLang="en-US" sz="2400" b="1" dirty="0">
                <a:latin typeface="宋体" panose="02010600030101010101" pitchFamily="2" charset="-122"/>
              </a:rPr>
              <a:t>位置</a:t>
            </a:r>
            <a:r>
              <a:rPr lang="en-US" altLang="zh-CN" sz="2400" b="1">
                <a:latin typeface="宋体" panose="02010600030101010101" pitchFamily="2" charset="-122"/>
              </a:rPr>
              <a:t>1</a:t>
            </a:r>
            <a:r>
              <a:rPr lang="zh-CN" altLang="en-US" sz="2400" b="1" dirty="0">
                <a:latin typeface="宋体" panose="02010600030101010101" pitchFamily="2" charset="-122"/>
              </a:rPr>
              <a:t>，其他位不变</a:t>
            </a:r>
          </a:p>
          <a:p>
            <a:pPr marL="0" indent="184150" defTabSz="0">
              <a:buNone/>
              <a:tabLst>
                <a:tab pos="2473325" algn="l"/>
              </a:tabLst>
            </a:pPr>
            <a:r>
              <a:rPr lang="en-US" altLang="zh-CN" sz="2400" b="1">
                <a:solidFill>
                  <a:srgbClr val="0000FF"/>
                </a:solidFill>
                <a:latin typeface="宋体" panose="02010600030101010101" pitchFamily="2" charset="-122"/>
              </a:rPr>
              <a:t>or </a:t>
            </a:r>
            <a:r>
              <a:rPr lang="en-US" altLang="zh-CN" sz="2400" b="1" err="1">
                <a:latin typeface="宋体" panose="02010600030101010101" pitchFamily="2" charset="-122"/>
              </a:rPr>
              <a:t>bl</a:t>
            </a:r>
            <a:r>
              <a:rPr lang="en-US" altLang="zh-CN" sz="2400" b="1">
                <a:latin typeface="宋体" panose="02010600030101010101" pitchFamily="2" charset="-122"/>
              </a:rPr>
              <a:t>, 0000</a:t>
            </a:r>
            <a:r>
              <a:rPr lang="en-US" altLang="zh-CN" sz="2400" b="1">
                <a:solidFill>
                  <a:srgbClr val="0000FF"/>
                </a:solidFill>
                <a:latin typeface="宋体" panose="02010600030101010101" pitchFamily="2" charset="-122"/>
              </a:rPr>
              <a:t>1</a:t>
            </a:r>
            <a:r>
              <a:rPr lang="en-US" altLang="zh-CN" sz="2400" b="1">
                <a:latin typeface="宋体" panose="02010600030101010101" pitchFamily="2" charset="-122"/>
              </a:rPr>
              <a:t>00</a:t>
            </a:r>
            <a:r>
              <a:rPr lang="en-US" altLang="zh-CN" sz="2400" b="1">
                <a:solidFill>
                  <a:srgbClr val="0000FF"/>
                </a:solidFill>
                <a:latin typeface="宋体" panose="02010600030101010101" pitchFamily="2" charset="-122"/>
              </a:rPr>
              <a:t>1</a:t>
            </a:r>
            <a:r>
              <a:rPr lang="en-US" altLang="zh-CN" sz="2400" b="1">
                <a:latin typeface="宋体" panose="02010600030101010101" pitchFamily="2" charset="-122"/>
              </a:rPr>
              <a:t>B</a:t>
            </a:r>
          </a:p>
          <a:p>
            <a:pPr marL="0" indent="184150" defTabSz="0">
              <a:spcBef>
                <a:spcPct val="50000"/>
              </a:spcBef>
              <a:buNone/>
              <a:tabLst>
                <a:tab pos="2473325" algn="l"/>
              </a:tabLst>
            </a:pPr>
            <a:r>
              <a:rPr lang="zh-CN" altLang="en-US" sz="2400" b="1">
                <a:latin typeface="宋体" panose="02010600030101010101" pitchFamily="2" charset="-122"/>
              </a:rPr>
              <a:t>；</a:t>
            </a:r>
            <a:r>
              <a:rPr lang="en-US" altLang="zh-CN" sz="2400" b="1">
                <a:latin typeface="宋体" panose="02010600030101010101" pitchFamily="2" charset="-122"/>
              </a:rPr>
              <a:t>XOR</a:t>
            </a:r>
            <a:r>
              <a:rPr lang="zh-CN" altLang="en-US" sz="2400" b="1" dirty="0">
                <a:latin typeface="宋体" panose="02010600030101010101" pitchFamily="2" charset="-122"/>
              </a:rPr>
              <a:t>指令可用于</a:t>
            </a:r>
            <a:r>
              <a:rPr lang="zh-CN" altLang="en-US" sz="2400" b="1" dirty="0">
                <a:solidFill>
                  <a:srgbClr val="0000FF"/>
                </a:solidFill>
                <a:latin typeface="宋体" panose="02010600030101010101" pitchFamily="2" charset="-122"/>
              </a:rPr>
              <a:t>求反</a:t>
            </a:r>
            <a:r>
              <a:rPr lang="zh-CN" altLang="en-US" sz="2400" b="1" dirty="0">
                <a:latin typeface="宋体" panose="02010600030101010101" pitchFamily="2" charset="-122"/>
              </a:rPr>
              <a:t>某些位（同</a:t>
            </a:r>
            <a:r>
              <a:rPr lang="en-US" altLang="zh-CN" sz="2400" b="1">
                <a:solidFill>
                  <a:srgbClr val="0000FF"/>
                </a:solidFill>
                <a:latin typeface="宋体" panose="02010600030101010101" pitchFamily="2" charset="-122"/>
              </a:rPr>
              <a:t>1</a:t>
            </a:r>
            <a:r>
              <a:rPr lang="zh-CN" altLang="en-US" sz="2400" b="1" dirty="0">
                <a:latin typeface="宋体" panose="02010600030101010101" pitchFamily="2" charset="-122"/>
              </a:rPr>
              <a:t>相异或），不影响其他位：将</a:t>
            </a:r>
            <a:r>
              <a:rPr lang="en-US" altLang="zh-CN" sz="2400" b="1">
                <a:latin typeface="宋体" panose="02010600030101010101" pitchFamily="2" charset="-122"/>
              </a:rPr>
              <a:t>BL</a:t>
            </a:r>
            <a:r>
              <a:rPr lang="zh-CN" altLang="en-US" sz="2400" b="1">
                <a:latin typeface="宋体" panose="02010600030101010101" pitchFamily="2" charset="-122"/>
              </a:rPr>
              <a:t>中</a:t>
            </a:r>
            <a:r>
              <a:rPr lang="en-US" altLang="zh-CN" sz="2400" b="1">
                <a:latin typeface="宋体" panose="02010600030101010101" pitchFamily="2" charset="-122"/>
              </a:rPr>
              <a:t>D3</a:t>
            </a:r>
            <a:r>
              <a:rPr lang="zh-CN" altLang="en-US" sz="2400" b="1">
                <a:latin typeface="宋体" panose="02010600030101010101" pitchFamily="2" charset="-122"/>
              </a:rPr>
              <a:t>和</a:t>
            </a:r>
            <a:r>
              <a:rPr lang="en-US" altLang="zh-CN" sz="2400" b="1">
                <a:latin typeface="宋体" panose="02010600030101010101" pitchFamily="2" charset="-122"/>
              </a:rPr>
              <a:t>D0</a:t>
            </a:r>
            <a:r>
              <a:rPr lang="zh-CN" altLang="en-US" sz="2400" b="1" dirty="0">
                <a:latin typeface="宋体" panose="02010600030101010101" pitchFamily="2" charset="-122"/>
              </a:rPr>
              <a:t>位求反，其他不变</a:t>
            </a:r>
          </a:p>
          <a:p>
            <a:pPr marL="0" indent="184150" defTabSz="0">
              <a:buNone/>
              <a:tabLst>
                <a:tab pos="2473325" algn="l"/>
              </a:tabLst>
            </a:pPr>
            <a:r>
              <a:rPr lang="en-US" altLang="zh-CN" sz="2400" b="1" err="1">
                <a:solidFill>
                  <a:srgbClr val="0000FF"/>
                </a:solidFill>
                <a:latin typeface="宋体" panose="02010600030101010101" pitchFamily="2" charset="-122"/>
              </a:rPr>
              <a:t>xor</a:t>
            </a:r>
            <a:r>
              <a:rPr lang="en-US" altLang="zh-CN" sz="2400" b="1">
                <a:solidFill>
                  <a:schemeClr val="accent2"/>
                </a:solidFill>
                <a:latin typeface="宋体" panose="02010600030101010101" pitchFamily="2" charset="-122"/>
              </a:rPr>
              <a:t> </a:t>
            </a:r>
            <a:r>
              <a:rPr lang="en-US" altLang="zh-CN" sz="2400" b="1" err="1">
                <a:latin typeface="宋体" panose="02010600030101010101" pitchFamily="2" charset="-122"/>
              </a:rPr>
              <a:t>bl</a:t>
            </a:r>
            <a:r>
              <a:rPr lang="en-US" altLang="zh-CN" sz="2400" b="1">
                <a:latin typeface="宋体" panose="02010600030101010101" pitchFamily="2" charset="-122"/>
              </a:rPr>
              <a:t>, 0000</a:t>
            </a:r>
            <a:r>
              <a:rPr lang="en-US" altLang="zh-CN" sz="2400" b="1">
                <a:solidFill>
                  <a:srgbClr val="0000FF"/>
                </a:solidFill>
                <a:latin typeface="宋体" panose="02010600030101010101" pitchFamily="2" charset="-122"/>
              </a:rPr>
              <a:t>1</a:t>
            </a:r>
            <a:r>
              <a:rPr lang="en-US" altLang="zh-CN" sz="2400" b="1">
                <a:latin typeface="宋体" panose="02010600030101010101" pitchFamily="2" charset="-122"/>
              </a:rPr>
              <a:t>00</a:t>
            </a:r>
            <a:r>
              <a:rPr lang="en-US" altLang="zh-CN" sz="2400" b="1">
                <a:solidFill>
                  <a:srgbClr val="0000FF"/>
                </a:solidFill>
                <a:latin typeface="宋体" panose="02010600030101010101" pitchFamily="2" charset="-122"/>
              </a:rPr>
              <a:t>1</a:t>
            </a:r>
            <a:r>
              <a:rPr lang="en-US" altLang="zh-CN" sz="2400" b="1">
                <a:latin typeface="宋体" panose="02010600030101010101" pitchFamily="2" charset="-122"/>
              </a:rPr>
              <a:t>B</a:t>
            </a:r>
          </a:p>
        </p:txBody>
      </p:sp>
      <p:pic>
        <p:nvPicPr>
          <p:cNvPr id="456714" name="图片 456713" descr="142"/>
          <p:cNvPicPr>
            <a:picLocks noChangeAspect="1"/>
          </p:cNvPicPr>
          <p:nvPr/>
        </p:nvPicPr>
        <p:blipFill>
          <a:blip r:embed="rId5"/>
          <a:stretch>
            <a:fillRect/>
          </a:stretch>
        </p:blipFill>
        <p:spPr>
          <a:xfrm>
            <a:off x="684213" y="3352800"/>
            <a:ext cx="7848600" cy="76200"/>
          </a:xfrm>
          <a:prstGeom prst="rect">
            <a:avLst/>
          </a:prstGeom>
          <a:noFill/>
          <a:ln w="9525">
            <a:noFill/>
          </a:ln>
        </p:spPr>
      </p:pic>
      <p:pic>
        <p:nvPicPr>
          <p:cNvPr id="456715" name="图片 456714" descr="142"/>
          <p:cNvPicPr>
            <a:picLocks noChangeAspect="1"/>
          </p:cNvPicPr>
          <p:nvPr/>
        </p:nvPicPr>
        <p:blipFill>
          <a:blip r:embed="rId5"/>
          <a:stretch>
            <a:fillRect/>
          </a:stretch>
        </p:blipFill>
        <p:spPr>
          <a:xfrm>
            <a:off x="684213" y="4648200"/>
            <a:ext cx="7848600" cy="76200"/>
          </a:xfrm>
          <a:prstGeom prst="rect">
            <a:avLst/>
          </a:prstGeom>
          <a:noFill/>
          <a:ln w="9525">
            <a:noFill/>
          </a:ln>
        </p:spPr>
      </p:pic>
      <p:sp>
        <p:nvSpPr>
          <p:cNvPr id="456716" name="矩形 456715"/>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224761153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56713">
                                            <p:txEl>
                                              <p:pRg st="0" end="0"/>
                                            </p:txEl>
                                          </p:spTgt>
                                        </p:tgtEl>
                                        <p:attrNameLst>
                                          <p:attrName>style.visibility</p:attrName>
                                        </p:attrNameLst>
                                      </p:cBhvr>
                                      <p:to>
                                        <p:strVal val="visible"/>
                                      </p:to>
                                    </p:set>
                                    <p:animEffect transition="in" filter="slide(fromBottom)">
                                      <p:cBhvr>
                                        <p:cTn id="7" dur="500"/>
                                        <p:tgtEl>
                                          <p:spTgt spid="4567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56713">
                                            <p:txEl>
                                              <p:pRg st="1" end="1"/>
                                            </p:txEl>
                                          </p:spTgt>
                                        </p:tgtEl>
                                        <p:attrNameLst>
                                          <p:attrName>style.visibility</p:attrName>
                                        </p:attrNameLst>
                                      </p:cBhvr>
                                      <p:to>
                                        <p:strVal val="visible"/>
                                      </p:to>
                                    </p:set>
                                    <p:animEffect transition="in" filter="slide(fromBottom)">
                                      <p:cBhvr>
                                        <p:cTn id="12" dur="500"/>
                                        <p:tgtEl>
                                          <p:spTgt spid="4567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56713">
                                            <p:txEl>
                                              <p:pRg st="2" end="2"/>
                                            </p:txEl>
                                          </p:spTgt>
                                        </p:tgtEl>
                                        <p:attrNameLst>
                                          <p:attrName>style.visibility</p:attrName>
                                        </p:attrNameLst>
                                      </p:cBhvr>
                                      <p:to>
                                        <p:strVal val="visible"/>
                                      </p:to>
                                    </p:set>
                                    <p:animEffect transition="in" filter="slide(fromBottom)">
                                      <p:cBhvr>
                                        <p:cTn id="17" dur="500"/>
                                        <p:tgtEl>
                                          <p:spTgt spid="4567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56713">
                                            <p:txEl>
                                              <p:pRg st="3" end="3"/>
                                            </p:txEl>
                                          </p:spTgt>
                                        </p:tgtEl>
                                        <p:attrNameLst>
                                          <p:attrName>style.visibility</p:attrName>
                                        </p:attrNameLst>
                                      </p:cBhvr>
                                      <p:to>
                                        <p:strVal val="visible"/>
                                      </p:to>
                                    </p:set>
                                    <p:animEffect transition="in" filter="slide(fromBottom)">
                                      <p:cBhvr>
                                        <p:cTn id="22" dur="500"/>
                                        <p:tgtEl>
                                          <p:spTgt spid="4567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56713">
                                            <p:txEl>
                                              <p:pRg st="4" end="4"/>
                                            </p:txEl>
                                          </p:spTgt>
                                        </p:tgtEl>
                                        <p:attrNameLst>
                                          <p:attrName>style.visibility</p:attrName>
                                        </p:attrNameLst>
                                      </p:cBhvr>
                                      <p:to>
                                        <p:strVal val="visible"/>
                                      </p:to>
                                    </p:set>
                                    <p:animEffect transition="in" filter="slide(fromBottom)">
                                      <p:cBhvr>
                                        <p:cTn id="27" dur="500"/>
                                        <p:tgtEl>
                                          <p:spTgt spid="4567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56713">
                                            <p:txEl>
                                              <p:pRg st="5" end="5"/>
                                            </p:txEl>
                                          </p:spTgt>
                                        </p:tgtEl>
                                        <p:attrNameLst>
                                          <p:attrName>style.visibility</p:attrName>
                                        </p:attrNameLst>
                                      </p:cBhvr>
                                      <p:to>
                                        <p:strVal val="visible"/>
                                      </p:to>
                                    </p:set>
                                    <p:animEffect transition="in" filter="slide(fromBottom)">
                                      <p:cBhvr>
                                        <p:cTn id="32" dur="500"/>
                                        <p:tgtEl>
                                          <p:spTgt spid="4567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1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标题 457729"/>
          <p:cNvSpPr>
            <a:spLocks noGrp="1"/>
          </p:cNvSpPr>
          <p:nvPr>
            <p:ph type="title"/>
          </p:nvPr>
        </p:nvSpPr>
        <p:spPr>
          <a:xfrm>
            <a:off x="468313" y="908050"/>
            <a:ext cx="2735262" cy="490538"/>
          </a:xfrm>
          <a:ln/>
        </p:spPr>
        <p:txBody>
          <a:bodyPr vert="horz" wrap="square" lIns="91440" tIns="45720" rIns="91440" bIns="45720" anchor="t"/>
          <a:lstStyle/>
          <a:p>
            <a:pPr marL="342900" indent="-342900" algn="l">
              <a:spcBef>
                <a:spcPct val="20000"/>
              </a:spcBef>
            </a:pPr>
            <a:r>
              <a:rPr lang="en-US" altLang="zh-CN" sz="2400" b="1" dirty="0">
                <a:solidFill>
                  <a:schemeClr val="tx1"/>
                </a:solidFill>
              </a:rPr>
              <a:t>5</a:t>
            </a:r>
            <a:r>
              <a:rPr lang="zh-CN" altLang="en-US" sz="2400" b="1" dirty="0">
                <a:solidFill>
                  <a:schemeClr val="tx1"/>
                </a:solidFill>
              </a:rPr>
              <a:t>）测试指令</a:t>
            </a:r>
            <a:r>
              <a:rPr lang="en-US" altLang="zh-CN" sz="2400" b="1" dirty="0">
                <a:solidFill>
                  <a:schemeClr val="tx1"/>
                </a:solidFill>
              </a:rPr>
              <a:t>TEST</a:t>
            </a:r>
          </a:p>
        </p:txBody>
      </p:sp>
      <p:sp>
        <p:nvSpPr>
          <p:cNvPr id="457731" name="文本占位符 457730"/>
          <p:cNvSpPr>
            <a:spLocks noGrp="1"/>
          </p:cNvSpPr>
          <p:nvPr>
            <p:ph type="body" idx="1"/>
          </p:nvPr>
        </p:nvSpPr>
        <p:spPr>
          <a:xfrm>
            <a:off x="395288" y="3213100"/>
            <a:ext cx="8353425" cy="863600"/>
          </a:xfrm>
          <a:ln/>
        </p:spPr>
        <p:txBody>
          <a:bodyPr/>
          <a:lstStyle/>
          <a:p>
            <a:pPr>
              <a:buNone/>
            </a:pPr>
            <a:r>
              <a:rPr lang="zh-CN" altLang="en-US" sz="2400" b="1" dirty="0"/>
              <a:t>功能：对两个操作数执行</a:t>
            </a:r>
            <a:r>
              <a:rPr lang="zh-CN" altLang="en-US" sz="2400" b="1" dirty="0">
                <a:solidFill>
                  <a:srgbClr val="0000FF"/>
                </a:solidFill>
              </a:rPr>
              <a:t>逻辑与</a:t>
            </a:r>
            <a:r>
              <a:rPr lang="zh-CN" altLang="en-US" sz="2400" b="1" dirty="0"/>
              <a:t>运算，结果</a:t>
            </a:r>
            <a:r>
              <a:rPr lang="zh-CN" altLang="en-US" sz="2400" b="1" dirty="0">
                <a:solidFill>
                  <a:srgbClr val="0000FF"/>
                </a:solidFill>
              </a:rPr>
              <a:t>不回送</a:t>
            </a:r>
            <a:r>
              <a:rPr lang="zh-CN" altLang="en-US" sz="2400" b="1" dirty="0"/>
              <a:t>到目的操作数，但要影响标志位，标志位影响同</a:t>
            </a:r>
            <a:r>
              <a:rPr lang="en-US" altLang="zh-CN" sz="2400" b="1"/>
              <a:t>AND</a:t>
            </a:r>
            <a:r>
              <a:rPr lang="zh-CN" altLang="en-US" sz="2400" b="1" dirty="0"/>
              <a:t>指令。</a:t>
            </a:r>
          </a:p>
        </p:txBody>
      </p:sp>
      <p:sp>
        <p:nvSpPr>
          <p:cNvPr id="457732" name="矩形 457731"/>
          <p:cNvSpPr/>
          <p:nvPr/>
        </p:nvSpPr>
        <p:spPr>
          <a:xfrm>
            <a:off x="609600" y="5334000"/>
            <a:ext cx="7543800" cy="687388"/>
          </a:xfrm>
          <a:prstGeom prst="rect">
            <a:avLst/>
          </a:prstGeom>
          <a:noFill/>
          <a:ln w="9525">
            <a:noFill/>
          </a:ln>
        </p:spPr>
        <p:txBody>
          <a:bodyPr lIns="92075" tIns="46038" rIns="92075" bIns="46038"/>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endParaRPr lang="zh-CN" altLang="en-US" sz="2400" dirty="0">
              <a:latin typeface="宋体" panose="02010600030101010101" pitchFamily="2" charset="-122"/>
            </a:endParaRPr>
          </a:p>
        </p:txBody>
      </p:sp>
      <p:sp>
        <p:nvSpPr>
          <p:cNvPr id="457733" name="圆角矩形 457732"/>
          <p:cNvSpPr/>
          <p:nvPr/>
        </p:nvSpPr>
        <p:spPr>
          <a:xfrm>
            <a:off x="468313" y="4437063"/>
            <a:ext cx="8305800" cy="1719262"/>
          </a:xfrm>
          <a:prstGeom prst="roundRect">
            <a:avLst>
              <a:gd name="adj" fmla="val 16667"/>
            </a:avLst>
          </a:prstGeom>
          <a:solidFill>
            <a:schemeClr val="bg1"/>
          </a:solidFill>
          <a:ln w="9525" cap="flat" cmpd="sng">
            <a:solidFill>
              <a:schemeClr val="accent2"/>
            </a:solidFill>
            <a:prstDash val="solid"/>
            <a:headEnd type="none" w="med" len="med"/>
            <a:tailEnd type="none" w="med" len="med"/>
          </a:ln>
        </p:spPr>
        <p:txBody>
          <a:bodyPr anchor="ctr"/>
          <a:lstStyle/>
          <a:p>
            <a:pPr lvl="0"/>
            <a:r>
              <a:rPr lang="zh-CN" altLang="en-US" sz="2400" b="1" dirty="0">
                <a:solidFill>
                  <a:schemeClr val="accent2"/>
                </a:solidFill>
                <a:latin typeface="Arial" panose="020B0604020202020204" pitchFamily="34" charset="0"/>
                <a:ea typeface="宋体" panose="02010600030101010101" pitchFamily="2" charset="-122"/>
              </a:rPr>
              <a:t> 说明：</a:t>
            </a:r>
          </a:p>
          <a:p>
            <a:pPr lvl="0"/>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）本条指令通常是用于检测一些条件是否满足，但又</a:t>
            </a:r>
            <a:r>
              <a:rPr lang="zh-CN" altLang="en-US" sz="2400" b="1" dirty="0">
                <a:solidFill>
                  <a:srgbClr val="0000FF"/>
                </a:solidFill>
                <a:latin typeface="Arial" panose="020B0604020202020204" pitchFamily="34" charset="0"/>
                <a:ea typeface="宋体" panose="02010600030101010101" pitchFamily="2" charset="-122"/>
              </a:rPr>
              <a:t>不希望改变原有的操作数</a:t>
            </a:r>
            <a:r>
              <a:rPr lang="zh-CN" altLang="en-US" sz="2400" b="1" dirty="0">
                <a:latin typeface="Arial" panose="020B0604020202020204" pitchFamily="34" charset="0"/>
                <a:ea typeface="宋体" panose="02010600030101010101" pitchFamily="2" charset="-122"/>
              </a:rPr>
              <a:t>的情况下。</a:t>
            </a:r>
          </a:p>
          <a:p>
            <a:pPr lvl="0"/>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）本条指令通常在其后</a:t>
            </a:r>
            <a:r>
              <a:rPr lang="zh-CN" altLang="en-US" sz="2400" b="1" dirty="0">
                <a:solidFill>
                  <a:srgbClr val="0000FF"/>
                </a:solidFill>
                <a:latin typeface="Arial" panose="020B0604020202020204" pitchFamily="34" charset="0"/>
                <a:ea typeface="宋体" panose="02010600030101010101" pitchFamily="2" charset="-122"/>
              </a:rPr>
              <a:t>紧跟一条条件转移指令</a:t>
            </a:r>
            <a:r>
              <a:rPr lang="zh-CN" altLang="en-US" sz="2400" b="1" dirty="0">
                <a:latin typeface="Arial" panose="020B0604020202020204" pitchFamily="34" charset="0"/>
                <a:ea typeface="宋体" panose="02010600030101010101" pitchFamily="2" charset="-122"/>
              </a:rPr>
              <a:t>。</a:t>
            </a:r>
            <a:endParaRPr lang="zh-CN" altLang="en-US" sz="2400" b="1">
              <a:latin typeface="Arial" panose="020B0604020202020204" pitchFamily="34" charset="0"/>
              <a:ea typeface="宋体" panose="02010600030101010101" pitchFamily="2" charset="-122"/>
            </a:endParaRPr>
          </a:p>
        </p:txBody>
      </p:sp>
      <p:grpSp>
        <p:nvGrpSpPr>
          <p:cNvPr id="457734" name="组合 457733"/>
          <p:cNvGrpSpPr/>
          <p:nvPr/>
        </p:nvGrpSpPr>
        <p:grpSpPr>
          <a:xfrm>
            <a:off x="611188" y="1484313"/>
            <a:ext cx="8153400" cy="1265237"/>
            <a:chOff x="336" y="1747"/>
            <a:chExt cx="5136" cy="797"/>
          </a:xfrm>
        </p:grpSpPr>
        <p:sp>
          <p:nvSpPr>
            <p:cNvPr id="457735" name="流程图: 可选过程 457734"/>
            <p:cNvSpPr/>
            <p:nvPr/>
          </p:nvSpPr>
          <p:spPr>
            <a:xfrm>
              <a:off x="336" y="1747"/>
              <a:ext cx="5136" cy="365"/>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800" b="1">
                  <a:latin typeface="宋体" panose="02010600030101010101" pitchFamily="2" charset="-122"/>
                  <a:ea typeface="宋体" panose="02010600030101010101" pitchFamily="2" charset="-122"/>
                </a:rPr>
                <a:t>TEST </a:t>
              </a:r>
              <a:r>
                <a:rPr lang="en-US" altLang="zh-CN" sz="2800" b="1" err="1">
                  <a:latin typeface="宋体" panose="02010600030101010101" pitchFamily="2" charset="-122"/>
                  <a:ea typeface="宋体" panose="02010600030101010101" pitchFamily="2" charset="-122"/>
                </a:rPr>
                <a:t>reg,imm/reg/mem</a:t>
              </a:r>
              <a:r>
                <a:rPr lang="en-US" altLang="zh-CN" sz="2800" b="1">
                  <a:solidFill>
                    <a:schemeClr val="bg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reg←reg</a:t>
              </a:r>
              <a:r>
                <a:rPr lang="en-US" altLang="zh-CN" sz="2400" b="1" err="1">
                  <a:solidFill>
                    <a:srgbClr val="0000FF"/>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imm/reg/mem</a:t>
              </a:r>
              <a:endParaRPr lang="en-US" altLang="zh-CN" sz="2800" b="1">
                <a:solidFill>
                  <a:srgbClr val="0000FF"/>
                </a:solidFill>
                <a:latin typeface="宋体" panose="02010600030101010101" pitchFamily="2" charset="-122"/>
                <a:ea typeface="宋体" panose="02010600030101010101" pitchFamily="2" charset="-122"/>
              </a:endParaRPr>
            </a:p>
          </p:txBody>
        </p:sp>
        <p:sp>
          <p:nvSpPr>
            <p:cNvPr id="457736" name="流程图: 可选过程 457735"/>
            <p:cNvSpPr/>
            <p:nvPr/>
          </p:nvSpPr>
          <p:spPr>
            <a:xfrm>
              <a:off x="336" y="2160"/>
              <a:ext cx="4290" cy="384"/>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800" b="1">
                  <a:latin typeface="宋体" panose="02010600030101010101" pitchFamily="2" charset="-122"/>
                  <a:ea typeface="宋体" panose="02010600030101010101" pitchFamily="2" charset="-122"/>
                </a:rPr>
                <a:t>TEST </a:t>
              </a:r>
              <a:r>
                <a:rPr lang="en-US" altLang="zh-CN" sz="2800" b="1" err="1">
                  <a:latin typeface="宋体" panose="02010600030101010101" pitchFamily="2" charset="-122"/>
                  <a:ea typeface="宋体" panose="02010600030101010101" pitchFamily="2" charset="-122"/>
                </a:rPr>
                <a:t>mem,imm/reg</a:t>
              </a:r>
              <a:r>
                <a:rPr lang="en-US" altLang="zh-CN" sz="2800" b="1">
                  <a:solidFill>
                    <a:schemeClr val="bg2"/>
                  </a:solidFill>
                  <a:latin typeface="宋体" panose="02010600030101010101" pitchFamily="2" charset="-122"/>
                  <a:ea typeface="宋体" panose="02010600030101010101" pitchFamily="2" charset="-122"/>
                </a:rPr>
                <a:t> </a:t>
              </a:r>
              <a:r>
                <a:rPr lang="zh-CN" altLang="en-US" sz="2800" b="1">
                  <a:solidFill>
                    <a:schemeClr val="accent2"/>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mem←mem</a:t>
              </a:r>
              <a:r>
                <a:rPr lang="en-US" altLang="zh-CN" sz="2400" b="1" err="1">
                  <a:solidFill>
                    <a:srgbClr val="0000FF"/>
                  </a:solidFill>
                  <a:latin typeface="宋体" panose="02010600030101010101" pitchFamily="2" charset="-122"/>
                  <a:ea typeface="宋体" panose="02010600030101010101" pitchFamily="2" charset="-122"/>
                </a:rPr>
                <a:t>∧</a:t>
              </a:r>
              <a:r>
                <a:rPr lang="en-US" altLang="zh-CN" sz="2800" b="1" err="1">
                  <a:solidFill>
                    <a:srgbClr val="0000FF"/>
                  </a:solidFill>
                  <a:latin typeface="宋体" panose="02010600030101010101" pitchFamily="2" charset="-122"/>
                  <a:ea typeface="宋体" panose="02010600030101010101" pitchFamily="2" charset="-122"/>
                </a:rPr>
                <a:t>imm/reg</a:t>
              </a:r>
              <a:endParaRPr lang="en-US" altLang="zh-CN" sz="2800" b="1">
                <a:solidFill>
                  <a:srgbClr val="0000FF"/>
                </a:solidFill>
                <a:latin typeface="宋体" panose="02010600030101010101" pitchFamily="2" charset="-122"/>
                <a:ea typeface="宋体" panose="02010600030101010101" pitchFamily="2" charset="-122"/>
              </a:endParaRPr>
            </a:p>
          </p:txBody>
        </p:sp>
      </p:grpSp>
      <p:sp>
        <p:nvSpPr>
          <p:cNvPr id="457737" name="矩形 457736"/>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2297534855"/>
      </p:ext>
    </p:extLst>
  </p:cSld>
  <p:clrMapOvr>
    <a:masterClrMapping/>
  </p:clrMapOvr>
  <p:transition spd="med">
    <p:random/>
  </p:transition>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58754" name="组合 458753"/>
          <p:cNvGrpSpPr/>
          <p:nvPr/>
        </p:nvGrpSpPr>
        <p:grpSpPr>
          <a:xfrm>
            <a:off x="76200" y="620713"/>
            <a:ext cx="8910638" cy="5832475"/>
            <a:chOff x="147" y="196"/>
            <a:chExt cx="5457" cy="3927"/>
          </a:xfrm>
        </p:grpSpPr>
        <p:pic>
          <p:nvPicPr>
            <p:cNvPr id="458755" name="图片 458754" descr="D2b"/>
            <p:cNvPicPr>
              <a:picLocks noChangeAspect="1"/>
            </p:cNvPicPr>
            <p:nvPr/>
          </p:nvPicPr>
          <p:blipFill>
            <a:blip r:embed="rId2">
              <a:clrChange>
                <a:clrFrom>
                  <a:srgbClr val="000100"/>
                </a:clrFrom>
                <a:clrTo>
                  <a:srgbClr val="000100">
                    <a:alpha val="0"/>
                  </a:srgbClr>
                </a:clrTo>
              </a:clrChange>
            </a:blip>
            <a:stretch>
              <a:fillRect/>
            </a:stretch>
          </p:blipFill>
          <p:spPr>
            <a:xfrm>
              <a:off x="186" y="790"/>
              <a:ext cx="325" cy="2985"/>
            </a:xfrm>
            <a:prstGeom prst="rect">
              <a:avLst/>
            </a:prstGeom>
            <a:noFill/>
            <a:ln w="9525">
              <a:noFill/>
            </a:ln>
          </p:spPr>
        </p:pic>
        <p:pic>
          <p:nvPicPr>
            <p:cNvPr id="458756" name="图片 458755" descr="D2a"/>
            <p:cNvPicPr>
              <a:picLocks noChangeAspect="1"/>
            </p:cNvPicPr>
            <p:nvPr/>
          </p:nvPicPr>
          <p:blipFill>
            <a:blip r:embed="rId3">
              <a:clrChange>
                <a:clrFrom>
                  <a:srgbClr val="010001"/>
                </a:clrFrom>
                <a:clrTo>
                  <a:srgbClr val="010001">
                    <a:alpha val="0"/>
                  </a:srgbClr>
                </a:clrTo>
              </a:clrChange>
            </a:blip>
            <a:stretch>
              <a:fillRect/>
            </a:stretch>
          </p:blipFill>
          <p:spPr>
            <a:xfrm>
              <a:off x="147" y="196"/>
              <a:ext cx="5457" cy="862"/>
            </a:xfrm>
            <a:prstGeom prst="rect">
              <a:avLst/>
            </a:prstGeom>
            <a:noFill/>
            <a:ln w="9525">
              <a:noFill/>
            </a:ln>
          </p:spPr>
        </p:pic>
        <p:pic>
          <p:nvPicPr>
            <p:cNvPr id="458757" name="图片 458756" descr="D2b"/>
            <p:cNvPicPr>
              <a:picLocks noChangeAspect="1"/>
            </p:cNvPicPr>
            <p:nvPr/>
          </p:nvPicPr>
          <p:blipFill>
            <a:blip r:embed="rId2">
              <a:clrChange>
                <a:clrFrom>
                  <a:srgbClr val="000100"/>
                </a:clrFrom>
                <a:clrTo>
                  <a:srgbClr val="000100">
                    <a:alpha val="0"/>
                  </a:srgbClr>
                </a:clrTo>
              </a:clrChange>
            </a:blip>
            <a:stretch>
              <a:fillRect/>
            </a:stretch>
          </p:blipFill>
          <p:spPr>
            <a:xfrm>
              <a:off x="5270" y="1047"/>
              <a:ext cx="325" cy="2985"/>
            </a:xfrm>
            <a:prstGeom prst="rect">
              <a:avLst/>
            </a:prstGeom>
            <a:noFill/>
            <a:ln w="9525">
              <a:noFill/>
            </a:ln>
          </p:spPr>
        </p:pic>
        <p:pic>
          <p:nvPicPr>
            <p:cNvPr id="458758" name="图片 458757" descr="D2c"/>
            <p:cNvPicPr/>
            <p:nvPr/>
          </p:nvPicPr>
          <p:blipFill>
            <a:blip r:embed="rId4">
              <a:clrChange>
                <a:clrFrom>
                  <a:srgbClr val="000000"/>
                </a:clrFrom>
                <a:clrTo>
                  <a:srgbClr val="000000">
                    <a:alpha val="0"/>
                  </a:srgbClr>
                </a:clrTo>
              </a:clrChange>
            </a:blip>
            <a:stretch>
              <a:fillRect/>
            </a:stretch>
          </p:blipFill>
          <p:spPr>
            <a:xfrm>
              <a:off x="189" y="3727"/>
              <a:ext cx="5411" cy="396"/>
            </a:xfrm>
            <a:prstGeom prst="rect">
              <a:avLst/>
            </a:prstGeom>
            <a:noFill/>
            <a:ln w="9525">
              <a:noFill/>
            </a:ln>
          </p:spPr>
        </p:pic>
        <p:sp>
          <p:nvSpPr>
            <p:cNvPr id="458759" name="矩形 458758"/>
            <p:cNvSpPr/>
            <p:nvPr/>
          </p:nvSpPr>
          <p:spPr>
            <a:xfrm>
              <a:off x="3294" y="3696"/>
              <a:ext cx="2064" cy="212"/>
            </a:xfrm>
            <a:prstGeom prst="rect">
              <a:avLst/>
            </a:prstGeom>
            <a:solidFill>
              <a:schemeClr val="bg1"/>
            </a:solidFill>
            <a:ln w="9525">
              <a:noFill/>
            </a:ln>
          </p:spPr>
          <p:txBody>
            <a:bodyPr/>
            <a:lstStyle/>
            <a:p>
              <a:endParaRPr lang="zh-CN" altLang="en-US"/>
            </a:p>
          </p:txBody>
        </p:sp>
      </p:grpSp>
      <p:sp>
        <p:nvSpPr>
          <p:cNvPr id="458760" name="标题 458759"/>
          <p:cNvSpPr>
            <a:spLocks noGrp="1"/>
          </p:cNvSpPr>
          <p:nvPr>
            <p:ph type="title"/>
          </p:nvPr>
        </p:nvSpPr>
        <p:spPr>
          <a:xfrm>
            <a:off x="5653088" y="841375"/>
            <a:ext cx="2519362" cy="355600"/>
          </a:xfrm>
          <a:prstGeom prst="flowChartAlternateProcess">
            <a:avLst/>
          </a:prstGeom>
          <a:ln w="28575">
            <a:solidFill>
              <a:schemeClr val="accent1"/>
            </a:solidFill>
            <a:miter/>
          </a:ln>
        </p:spPr>
        <p:txBody>
          <a:bodyPr anchor="ctr"/>
          <a:lstStyle/>
          <a:p>
            <a:pPr algn="l">
              <a:lnSpc>
                <a:spcPct val="90000"/>
              </a:lnSpc>
            </a:pPr>
            <a:r>
              <a:rPr lang="zh-CN" altLang="en-US" sz="2400" b="1" dirty="0">
                <a:solidFill>
                  <a:schemeClr val="tx1"/>
                </a:solidFill>
              </a:rPr>
              <a:t>例：测试为</a:t>
            </a:r>
            <a:r>
              <a:rPr lang="en-US" altLang="zh-CN" sz="2400" b="1">
                <a:solidFill>
                  <a:schemeClr val="tx1"/>
                </a:solidFill>
              </a:rPr>
              <a:t>0</a:t>
            </a:r>
            <a:r>
              <a:rPr lang="zh-CN" altLang="en-US" sz="2400" b="1">
                <a:solidFill>
                  <a:schemeClr val="tx1"/>
                </a:solidFill>
              </a:rPr>
              <a:t>或</a:t>
            </a:r>
            <a:r>
              <a:rPr lang="en-US" altLang="zh-CN" sz="2400" b="1">
                <a:solidFill>
                  <a:schemeClr val="tx1"/>
                </a:solidFill>
              </a:rPr>
              <a:t>1</a:t>
            </a:r>
          </a:p>
        </p:txBody>
      </p:sp>
      <p:sp>
        <p:nvSpPr>
          <p:cNvPr id="458761" name="文本占位符 458760"/>
          <p:cNvSpPr>
            <a:spLocks noGrp="1"/>
          </p:cNvSpPr>
          <p:nvPr>
            <p:ph type="body" idx="1"/>
          </p:nvPr>
        </p:nvSpPr>
        <p:spPr>
          <a:xfrm>
            <a:off x="547688" y="2132013"/>
            <a:ext cx="8115300" cy="2736850"/>
          </a:xfrm>
          <a:solidFill>
            <a:schemeClr val="bg1"/>
          </a:solidFill>
          <a:ln/>
        </p:spPr>
        <p:txBody>
          <a:bodyPr/>
          <a:lstStyle/>
          <a:p>
            <a:pPr marL="0" indent="184150" defTabSz="0">
              <a:buNone/>
              <a:tabLst>
                <a:tab pos="2473325" algn="l"/>
              </a:tabLst>
            </a:pPr>
            <a:r>
              <a:rPr lang="zh-CN" altLang="en-US" sz="2400" b="1" dirty="0">
                <a:latin typeface="宋体" panose="02010600030101010101" pitchFamily="2" charset="-122"/>
              </a:rPr>
              <a:t>若要检测</a:t>
            </a:r>
            <a:r>
              <a:rPr lang="en-US" altLang="zh-CN" sz="2400" b="1">
                <a:latin typeface="宋体" panose="02010600030101010101" pitchFamily="2" charset="-122"/>
              </a:rPr>
              <a:t>AL</a:t>
            </a:r>
            <a:r>
              <a:rPr lang="zh-CN" altLang="en-US" sz="2400" b="1" dirty="0">
                <a:latin typeface="宋体" panose="02010600030101010101" pitchFamily="2" charset="-122"/>
              </a:rPr>
              <a:t>中的</a:t>
            </a:r>
            <a:r>
              <a:rPr lang="zh-CN" altLang="en-US" sz="2400" b="1" dirty="0">
                <a:solidFill>
                  <a:srgbClr val="0000FF"/>
                </a:solidFill>
                <a:latin typeface="宋体" panose="02010600030101010101" pitchFamily="2" charset="-122"/>
              </a:rPr>
              <a:t>最低位</a:t>
            </a:r>
            <a:r>
              <a:rPr lang="zh-CN" altLang="en-US" sz="2400" b="1" dirty="0">
                <a:latin typeface="宋体" panose="02010600030101010101" pitchFamily="2" charset="-122"/>
              </a:rPr>
              <a:t>是否为</a:t>
            </a:r>
            <a:r>
              <a:rPr lang="en-US" altLang="zh-CN" sz="2400" b="1">
                <a:latin typeface="宋体" panose="02010600030101010101" pitchFamily="2" charset="-122"/>
              </a:rPr>
              <a:t>1</a:t>
            </a:r>
            <a:r>
              <a:rPr lang="zh-CN" altLang="en-US" sz="2400" b="1" dirty="0">
                <a:latin typeface="宋体" panose="02010600030101010101" pitchFamily="2" charset="-122"/>
              </a:rPr>
              <a:t>，若为</a:t>
            </a:r>
            <a:r>
              <a:rPr lang="en-US" altLang="zh-CN" sz="2400" b="1">
                <a:solidFill>
                  <a:srgbClr val="0000FF"/>
                </a:solidFill>
                <a:latin typeface="宋体" panose="02010600030101010101" pitchFamily="2" charset="-122"/>
              </a:rPr>
              <a:t>1</a:t>
            </a:r>
            <a:r>
              <a:rPr lang="zh-CN" altLang="en-US" sz="2400" b="1" dirty="0">
                <a:solidFill>
                  <a:srgbClr val="0000FF"/>
                </a:solidFill>
                <a:latin typeface="宋体" panose="02010600030101010101" pitchFamily="2" charset="-122"/>
              </a:rPr>
              <a:t>则转移</a:t>
            </a:r>
            <a:r>
              <a:rPr lang="zh-CN" altLang="en-US" sz="2400" b="1" dirty="0">
                <a:latin typeface="宋体" panose="02010600030101010101" pitchFamily="2" charset="-122"/>
              </a:rPr>
              <a:t>。</a:t>
            </a:r>
          </a:p>
          <a:p>
            <a:pPr marL="0" indent="184150" defTabSz="0">
              <a:buNone/>
              <a:tabLst>
                <a:tab pos="2473325" algn="l"/>
              </a:tabLst>
            </a:pPr>
            <a:r>
              <a:rPr lang="en-US" altLang="zh-CN" sz="2400" b="1">
                <a:latin typeface="宋体" panose="02010600030101010101" pitchFamily="2" charset="-122"/>
              </a:rPr>
              <a:t>test al,</a:t>
            </a:r>
            <a:r>
              <a:rPr lang="en-US" altLang="zh-CN" sz="2400" b="1">
                <a:solidFill>
                  <a:srgbClr val="FF00FF"/>
                </a:solidFill>
                <a:latin typeface="宋体" panose="02010600030101010101" pitchFamily="2" charset="-122"/>
              </a:rPr>
              <a:t>01h</a:t>
            </a:r>
            <a:r>
              <a:rPr lang="en-US" altLang="zh-CN" sz="2400" b="1">
                <a:latin typeface="宋体" panose="02010600030101010101" pitchFamily="2" charset="-122"/>
              </a:rPr>
              <a:t>	</a:t>
            </a:r>
            <a:r>
              <a:rPr lang="zh-CN" altLang="en-US" sz="2400" b="1">
                <a:latin typeface="宋体" panose="02010600030101010101" pitchFamily="2" charset="-122"/>
              </a:rPr>
              <a:t>；</a:t>
            </a:r>
            <a:r>
              <a:rPr lang="zh-CN" altLang="en-US" sz="2400" b="1" dirty="0">
                <a:latin typeface="宋体" panose="02010600030101010101" pitchFamily="2" charset="-122"/>
              </a:rPr>
              <a:t>测试</a:t>
            </a:r>
            <a:r>
              <a:rPr lang="en-US" altLang="zh-CN" sz="2400" b="1">
                <a:latin typeface="宋体" panose="02010600030101010101" pitchFamily="2" charset="-122"/>
              </a:rPr>
              <a:t>AL</a:t>
            </a:r>
            <a:r>
              <a:rPr lang="zh-CN" altLang="en-US" sz="2400" b="1" dirty="0">
                <a:latin typeface="宋体" panose="02010600030101010101" pitchFamily="2" charset="-122"/>
              </a:rPr>
              <a:t>的最低位</a:t>
            </a:r>
            <a:r>
              <a:rPr lang="en-US" altLang="zh-CN" sz="2400" b="1">
                <a:latin typeface="宋体" panose="02010600030101010101" pitchFamily="2" charset="-122"/>
              </a:rPr>
              <a:t>D0</a:t>
            </a:r>
          </a:p>
          <a:p>
            <a:pPr marL="0" indent="184150" defTabSz="0">
              <a:buNone/>
              <a:tabLst>
                <a:tab pos="2473325" algn="l"/>
              </a:tabLst>
            </a:pPr>
            <a:r>
              <a:rPr lang="en-US" altLang="zh-CN" sz="2400" b="1" err="1">
                <a:latin typeface="宋体" panose="02010600030101010101" pitchFamily="2" charset="-122"/>
              </a:rPr>
              <a:t>jnz</a:t>
            </a:r>
            <a:r>
              <a:rPr lang="en-US" altLang="zh-CN" sz="2400" b="1">
                <a:latin typeface="宋体" panose="02010600030101010101" pitchFamily="2" charset="-122"/>
              </a:rPr>
              <a:t> </a:t>
            </a:r>
            <a:r>
              <a:rPr lang="en-US" altLang="zh-CN" sz="2400" b="1">
                <a:solidFill>
                  <a:srgbClr val="0000FF"/>
                </a:solidFill>
                <a:latin typeface="宋体" panose="02010600030101010101" pitchFamily="2" charset="-122"/>
              </a:rPr>
              <a:t>NO</a:t>
            </a:r>
            <a:r>
              <a:rPr lang="en-US" altLang="zh-CN" sz="2400" b="1">
                <a:latin typeface="宋体" panose="02010600030101010101" pitchFamily="2" charset="-122"/>
              </a:rPr>
              <a:t>	</a:t>
            </a:r>
            <a:r>
              <a:rPr lang="zh-CN" altLang="en-US" sz="2400" b="1">
                <a:latin typeface="宋体" panose="02010600030101010101" pitchFamily="2" charset="-122"/>
              </a:rPr>
              <a:t>；</a:t>
            </a:r>
            <a:r>
              <a:rPr lang="zh-CN" altLang="en-US" sz="2400" b="1" dirty="0">
                <a:latin typeface="宋体" panose="02010600030101010101" pitchFamily="2" charset="-122"/>
              </a:rPr>
              <a:t>标志</a:t>
            </a:r>
            <a:r>
              <a:rPr lang="en-US" altLang="zh-CN" sz="2400" b="1">
                <a:latin typeface="宋体" panose="02010600030101010101" pitchFamily="2" charset="-122"/>
              </a:rPr>
              <a:t>ZF=0</a:t>
            </a:r>
            <a:r>
              <a:rPr lang="zh-CN" altLang="en-US" sz="2400" b="1">
                <a:latin typeface="宋体" panose="02010600030101010101" pitchFamily="2" charset="-122"/>
              </a:rPr>
              <a:t>，即</a:t>
            </a:r>
            <a:r>
              <a:rPr lang="en-US" altLang="zh-CN" sz="2400" b="1">
                <a:latin typeface="宋体" panose="02010600030101010101" pitchFamily="2" charset="-122"/>
              </a:rPr>
              <a:t>D0=1</a:t>
            </a:r>
          </a:p>
          <a:p>
            <a:pPr marL="0" indent="184150" defTabSz="0">
              <a:buNone/>
              <a:tabLst>
                <a:tab pos="2473325" algn="l"/>
              </a:tabLst>
            </a:pPr>
            <a:r>
              <a:rPr lang="en-US" altLang="zh-CN" sz="2400" b="1">
                <a:latin typeface="宋体" panose="02010600030101010101" pitchFamily="2" charset="-122"/>
              </a:rPr>
              <a:t>	</a:t>
            </a:r>
            <a:r>
              <a:rPr lang="zh-CN" altLang="en-US" sz="2400" b="1">
                <a:latin typeface="宋体" panose="02010600030101010101" pitchFamily="2" charset="-122"/>
              </a:rPr>
              <a:t>；</a:t>
            </a:r>
            <a:r>
              <a:rPr lang="zh-CN" altLang="en-US" sz="2400" b="1" dirty="0">
                <a:latin typeface="宋体" panose="02010600030101010101" pitchFamily="2" charset="-122"/>
              </a:rPr>
              <a:t>则程序转移到</a:t>
            </a:r>
            <a:r>
              <a:rPr lang="en-US" altLang="zh-CN" sz="2400" b="1">
                <a:latin typeface="宋体" panose="02010600030101010101" pitchFamily="2" charset="-122"/>
              </a:rPr>
              <a:t>NO</a:t>
            </a:r>
          </a:p>
          <a:p>
            <a:pPr marL="0" indent="184150" defTabSz="0">
              <a:buNone/>
              <a:tabLst>
                <a:tab pos="2473325" algn="l"/>
              </a:tabLst>
            </a:pPr>
            <a:r>
              <a:rPr lang="en-US" altLang="zh-CN" sz="2400" b="1">
                <a:latin typeface="宋体" panose="02010600030101010101" pitchFamily="2" charset="-122"/>
              </a:rPr>
              <a:t>...	</a:t>
            </a:r>
            <a:r>
              <a:rPr lang="zh-CN" altLang="en-US" sz="2400" b="1">
                <a:latin typeface="宋体" panose="02010600030101010101" pitchFamily="2" charset="-122"/>
              </a:rPr>
              <a:t>；</a:t>
            </a:r>
            <a:r>
              <a:rPr lang="zh-CN" altLang="en-US" sz="2400" b="1" dirty="0">
                <a:latin typeface="宋体" panose="02010600030101010101" pitchFamily="2" charset="-122"/>
              </a:rPr>
              <a:t>否则</a:t>
            </a:r>
            <a:r>
              <a:rPr lang="en-US" altLang="zh-CN" sz="2400" b="1">
                <a:latin typeface="宋体" panose="02010600030101010101" pitchFamily="2" charset="-122"/>
              </a:rPr>
              <a:t>ZF=1</a:t>
            </a:r>
            <a:r>
              <a:rPr lang="zh-CN" altLang="en-US" sz="2400" b="1">
                <a:latin typeface="宋体" panose="02010600030101010101" pitchFamily="2" charset="-122"/>
              </a:rPr>
              <a:t>，即</a:t>
            </a:r>
            <a:r>
              <a:rPr lang="en-US" altLang="zh-CN" sz="2400" b="1">
                <a:latin typeface="宋体" panose="02010600030101010101" pitchFamily="2" charset="-122"/>
              </a:rPr>
              <a:t>D0=0</a:t>
            </a:r>
            <a:r>
              <a:rPr lang="zh-CN" altLang="en-US" sz="2400" b="1">
                <a:latin typeface="宋体" panose="02010600030101010101" pitchFamily="2" charset="-122"/>
              </a:rPr>
              <a:t>，</a:t>
            </a:r>
            <a:r>
              <a:rPr lang="zh-CN" altLang="en-US" sz="2400" b="1" dirty="0">
                <a:latin typeface="宋体" panose="02010600030101010101" pitchFamily="2" charset="-122"/>
              </a:rPr>
              <a:t>顺序执行</a:t>
            </a:r>
          </a:p>
          <a:p>
            <a:pPr marL="0" indent="184150" defTabSz="0">
              <a:buNone/>
              <a:tabLst>
                <a:tab pos="2473325" algn="l"/>
              </a:tabLst>
            </a:pPr>
            <a:r>
              <a:rPr lang="en-US" altLang="zh-CN" sz="2400" b="1">
                <a:solidFill>
                  <a:srgbClr val="0000FF"/>
                </a:solidFill>
                <a:latin typeface="宋体" panose="02010600030101010101" pitchFamily="2" charset="-122"/>
              </a:rPr>
              <a:t>NO</a:t>
            </a:r>
            <a:r>
              <a:rPr lang="en-US" altLang="zh-CN" sz="2400" b="1">
                <a:latin typeface="宋体" panose="02010600030101010101" pitchFamily="2" charset="-122"/>
              </a:rPr>
              <a:t>: ...</a:t>
            </a:r>
          </a:p>
        </p:txBody>
      </p:sp>
      <p:sp>
        <p:nvSpPr>
          <p:cNvPr id="458763" name="矩形 458762"/>
          <p:cNvSpPr/>
          <p:nvPr/>
        </p:nvSpPr>
        <p:spPr>
          <a:xfrm>
            <a:off x="685800" y="5127625"/>
            <a:ext cx="7772400" cy="822325"/>
          </a:xfrm>
          <a:prstGeom prst="rect">
            <a:avLst/>
          </a:prstGeom>
          <a:noFill/>
          <a:ln w="9525">
            <a:noFill/>
          </a:ln>
        </p:spPr>
        <p:txBody>
          <a:bodyPr>
            <a:spAutoFit/>
          </a:bodyPr>
          <a:lstStyle/>
          <a:p>
            <a:pPr lvl="0"/>
            <a:r>
              <a:rPr lang="zh-CN" altLang="en-US" sz="2400" b="1" dirty="0">
                <a:latin typeface="宋体" panose="02010600030101010101" pitchFamily="2" charset="-122"/>
                <a:ea typeface="宋体" panose="02010600030101010101" pitchFamily="2" charset="-122"/>
              </a:rPr>
              <a:t>思考</a:t>
            </a:r>
            <a:r>
              <a:rPr lang="zh-CN" altLang="en-US" sz="2400" b="1" dirty="0">
                <a:latin typeface="宋体" panose="02010600030101010101" pitchFamily="2" charset="-122"/>
                <a:ea typeface="宋体" panose="02010600030101010101" pitchFamily="2" charset="-122"/>
                <a:sym typeface="Wingdings" panose="05000000000000000000" pitchFamily="2" charset="2"/>
              </a:rPr>
              <a:t>：（</a:t>
            </a:r>
            <a:r>
              <a:rPr lang="en-US" altLang="zh-CN" sz="2400" b="1">
                <a:latin typeface="宋体" panose="02010600030101010101" pitchFamily="2" charset="-122"/>
                <a:ea typeface="宋体" panose="02010600030101010101" pitchFamily="2" charset="-122"/>
                <a:sym typeface="Wingdings" panose="05000000000000000000" pitchFamily="2" charset="2"/>
              </a:rPr>
              <a:t>1</a:t>
            </a:r>
            <a:r>
              <a:rPr lang="zh-CN" altLang="en-US" sz="2400" b="1" dirty="0">
                <a:latin typeface="宋体" panose="02010600030101010101" pitchFamily="2" charset="-122"/>
                <a:ea typeface="宋体" panose="02010600030101010101" pitchFamily="2" charset="-122"/>
                <a:sym typeface="Wingdings" panose="05000000000000000000" pitchFamily="2" charset="2"/>
              </a:rPr>
              <a:t>）</a:t>
            </a:r>
            <a:r>
              <a:rPr lang="zh-CN" altLang="en-US" sz="2400" b="1" dirty="0">
                <a:latin typeface="宋体" panose="02010600030101010101" pitchFamily="2" charset="-122"/>
                <a:ea typeface="宋体" panose="02010600030101010101" pitchFamily="2" charset="-122"/>
              </a:rPr>
              <a:t>以上检测的是最低位，若要检测</a:t>
            </a:r>
            <a:r>
              <a:rPr lang="en-US" altLang="zh-CN" sz="2400" b="1">
                <a:solidFill>
                  <a:srgbClr val="0000FF"/>
                </a:solidFill>
                <a:latin typeface="宋体" panose="02010600030101010101" pitchFamily="2" charset="-122"/>
                <a:ea typeface="宋体" panose="02010600030101010101" pitchFamily="2" charset="-122"/>
              </a:rPr>
              <a:t>AX</a:t>
            </a:r>
            <a:r>
              <a:rPr lang="zh-CN" altLang="en-US" sz="2400" b="1" dirty="0">
                <a:latin typeface="宋体" panose="02010600030101010101" pitchFamily="2" charset="-122"/>
                <a:ea typeface="宋体" panose="02010600030101010101" pitchFamily="2" charset="-122"/>
              </a:rPr>
              <a:t>的</a:t>
            </a:r>
            <a:r>
              <a:rPr lang="zh-CN" altLang="en-US" sz="2400" b="1" dirty="0">
                <a:solidFill>
                  <a:srgbClr val="0000FF"/>
                </a:solidFill>
                <a:latin typeface="宋体" panose="02010600030101010101" pitchFamily="2" charset="-122"/>
                <a:ea typeface="宋体" panose="02010600030101010101" pitchFamily="2" charset="-122"/>
              </a:rPr>
              <a:t>最高位</a:t>
            </a:r>
            <a:r>
              <a:rPr lang="zh-CN" altLang="en-US" sz="2400" b="1" dirty="0">
                <a:latin typeface="宋体" panose="02010600030101010101" pitchFamily="2" charset="-122"/>
                <a:ea typeface="宋体" panose="02010600030101010101" pitchFamily="2" charset="-122"/>
              </a:rPr>
              <a:t>是否为</a:t>
            </a:r>
            <a:r>
              <a:rPr lang="en-US" altLang="zh-CN" sz="2400" b="1">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，若为</a:t>
            </a:r>
            <a:r>
              <a:rPr lang="en-US" altLang="zh-CN" sz="2400" b="1">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则转移，如何编程？</a:t>
            </a:r>
          </a:p>
        </p:txBody>
      </p:sp>
      <p:sp>
        <p:nvSpPr>
          <p:cNvPr id="458764" name="矩形 458763"/>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171263096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2" fill="hold" grpId="0" nodeType="clickEffect">
                                  <p:stCondLst>
                                    <p:cond delay="0"/>
                                  </p:stCondLst>
                                  <p:childTnLst>
                                    <p:set>
                                      <p:cBhvr>
                                        <p:cTn id="6" dur="1" fill="hold">
                                          <p:stCondLst>
                                            <p:cond delay="0"/>
                                          </p:stCondLst>
                                        </p:cTn>
                                        <p:tgtEl>
                                          <p:spTgt spid="458763"/>
                                        </p:tgtEl>
                                        <p:attrNameLst>
                                          <p:attrName>style.visibility</p:attrName>
                                        </p:attrNameLst>
                                      </p:cBhvr>
                                      <p:to>
                                        <p:strVal val="visible"/>
                                      </p:to>
                                    </p:set>
                                    <p:anim calcmode="lin" valueType="num">
                                      <p:cBhvr additive="base">
                                        <p:cTn id="7" dur="5000" fill="hold"/>
                                        <p:tgtEl>
                                          <p:spTgt spid="458763"/>
                                        </p:tgtEl>
                                        <p:attrNameLst>
                                          <p:attrName>ppt_x</p:attrName>
                                        </p:attrNameLst>
                                      </p:cBhvr>
                                      <p:tavLst>
                                        <p:tav tm="0">
                                          <p:val>
                                            <p:strVal val="1+#ppt_w/2"/>
                                          </p:val>
                                        </p:tav>
                                        <p:tav tm="100000">
                                          <p:val>
                                            <p:strVal val="#ppt_x"/>
                                          </p:val>
                                        </p:tav>
                                      </p:tavLst>
                                    </p:anim>
                                    <p:anim calcmode="lin" valueType="num">
                                      <p:cBhvr additive="base">
                                        <p:cTn id="8" dur="5000" fill="hold"/>
                                        <p:tgtEl>
                                          <p:spTgt spid="4587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6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标题 459777"/>
          <p:cNvSpPr>
            <a:spLocks noGrp="1"/>
          </p:cNvSpPr>
          <p:nvPr>
            <p:ph type="title"/>
          </p:nvPr>
        </p:nvSpPr>
        <p:spPr>
          <a:xfrm>
            <a:off x="468312" y="836614"/>
            <a:ext cx="3311600" cy="792186"/>
          </a:xfrm>
          <a:ln/>
        </p:spPr>
        <p:txBody>
          <a:bodyPr lIns="0" tIns="0" rIns="0" bIns="0" anchor="ctr"/>
          <a:lstStyle/>
          <a:p>
            <a:pPr algn="l"/>
            <a:r>
              <a:rPr lang="en-US" altLang="zh-CN" sz="2400" b="1" dirty="0">
                <a:solidFill>
                  <a:schemeClr val="tx1"/>
                </a:solidFill>
              </a:rPr>
              <a:t>2</a:t>
            </a:r>
            <a:r>
              <a:rPr lang="zh-CN" altLang="en-US" sz="2400" b="1" dirty="0">
                <a:solidFill>
                  <a:schemeClr val="tx1"/>
                </a:solidFill>
              </a:rPr>
              <a:t>、移位指令</a:t>
            </a:r>
            <a:br>
              <a:rPr lang="en-US" altLang="zh-CN" sz="2400" b="1" dirty="0">
                <a:solidFill>
                  <a:schemeClr val="tx1"/>
                </a:solidFill>
              </a:rPr>
            </a:br>
            <a:r>
              <a:rPr lang="en-US" altLang="zh-CN" sz="2400" b="1" dirty="0">
                <a:solidFill>
                  <a:schemeClr val="tx1"/>
                </a:solidFill>
              </a:rPr>
              <a:t>1</a:t>
            </a:r>
            <a:r>
              <a:rPr lang="zh-CN" altLang="en-US" sz="2400" b="1" dirty="0">
                <a:solidFill>
                  <a:schemeClr val="tx1"/>
                </a:solidFill>
              </a:rPr>
              <a:t>）非循环移位指令</a:t>
            </a:r>
          </a:p>
        </p:txBody>
      </p:sp>
      <p:grpSp>
        <p:nvGrpSpPr>
          <p:cNvPr id="459779" name="组合 459778"/>
          <p:cNvGrpSpPr/>
          <p:nvPr/>
        </p:nvGrpSpPr>
        <p:grpSpPr>
          <a:xfrm>
            <a:off x="3276600" y="1557338"/>
            <a:ext cx="2632075" cy="2209800"/>
            <a:chOff x="2109" y="663"/>
            <a:chExt cx="1658" cy="1392"/>
          </a:xfrm>
        </p:grpSpPr>
        <p:sp>
          <p:nvSpPr>
            <p:cNvPr id="459780" name="椭圆 459779"/>
            <p:cNvSpPr/>
            <p:nvPr/>
          </p:nvSpPr>
          <p:spPr>
            <a:xfrm>
              <a:off x="2109" y="663"/>
              <a:ext cx="576" cy="576"/>
            </a:xfrm>
            <a:prstGeom prst="ellipse">
              <a:avLst/>
            </a:prstGeom>
            <a:solidFill>
              <a:schemeClr val="bg1"/>
            </a:solidFill>
            <a:ln w="9525">
              <a:noFill/>
            </a:ln>
          </p:spPr>
          <p:txBody>
            <a:bodyPr wrap="none" anchor="ctr"/>
            <a:lstStyle/>
            <a:p>
              <a:pPr lvl="0" algn="ctr"/>
              <a:r>
                <a:rPr lang="en-US" altLang="zh-CN" sz="2800" b="1" dirty="0">
                  <a:solidFill>
                    <a:srgbClr val="0000FF"/>
                  </a:solidFill>
                  <a:effectLst>
                    <a:outerShdw blurRad="38100" dist="38100" dir="2700000">
                      <a:srgbClr val="C0C0C0"/>
                    </a:outerShdw>
                  </a:effectLst>
                  <a:latin typeface="Arial" panose="020B0604020202020204" pitchFamily="34" charset="0"/>
                  <a:ea typeface="宋体" panose="02010600030101010101" pitchFamily="2" charset="-122"/>
                </a:rPr>
                <a:t>SHL</a:t>
              </a:r>
            </a:p>
          </p:txBody>
        </p:sp>
        <p:sp>
          <p:nvSpPr>
            <p:cNvPr id="459781" name="椭圆 459780"/>
            <p:cNvSpPr/>
            <p:nvPr/>
          </p:nvSpPr>
          <p:spPr>
            <a:xfrm>
              <a:off x="2138" y="1479"/>
              <a:ext cx="576" cy="576"/>
            </a:xfrm>
            <a:prstGeom prst="ellipse">
              <a:avLst/>
            </a:prstGeom>
            <a:solidFill>
              <a:schemeClr val="bg1"/>
            </a:solidFill>
            <a:ln w="9525">
              <a:noFill/>
            </a:ln>
          </p:spPr>
          <p:txBody>
            <a:bodyPr wrap="none" anchor="ctr"/>
            <a:lstStyle/>
            <a:p>
              <a:pPr lvl="0" algn="ctr"/>
              <a:r>
                <a:rPr lang="en-US" altLang="zh-CN" sz="2800" b="1" dirty="0">
                  <a:solidFill>
                    <a:srgbClr val="0000FF"/>
                  </a:solidFill>
                  <a:effectLst>
                    <a:outerShdw blurRad="38100" dist="38100" dir="2700000">
                      <a:srgbClr val="C0C0C0"/>
                    </a:outerShdw>
                  </a:effectLst>
                  <a:latin typeface="Arial" panose="020B0604020202020204" pitchFamily="34" charset="0"/>
                </a:rPr>
                <a:t>SAL</a:t>
              </a:r>
            </a:p>
          </p:txBody>
        </p:sp>
        <p:sp>
          <p:nvSpPr>
            <p:cNvPr id="459782" name="椭圆 459781"/>
            <p:cNvSpPr/>
            <p:nvPr/>
          </p:nvSpPr>
          <p:spPr>
            <a:xfrm>
              <a:off x="3191" y="1479"/>
              <a:ext cx="576" cy="576"/>
            </a:xfrm>
            <a:prstGeom prst="ellipse">
              <a:avLst/>
            </a:prstGeom>
            <a:solidFill>
              <a:schemeClr val="bg1"/>
            </a:solidFill>
            <a:ln w="9525">
              <a:noFill/>
            </a:ln>
          </p:spPr>
          <p:txBody>
            <a:bodyPr wrap="none" anchor="ctr"/>
            <a:lstStyle/>
            <a:p>
              <a:pPr lvl="0" algn="ctr"/>
              <a:r>
                <a:rPr lang="en-US" altLang="zh-CN" sz="2800" b="1">
                  <a:solidFill>
                    <a:srgbClr val="0000FF"/>
                  </a:solidFill>
                  <a:effectLst>
                    <a:outerShdw blurRad="38100" dist="38100" dir="2700000">
                      <a:srgbClr val="C0C0C0"/>
                    </a:outerShdw>
                  </a:effectLst>
                  <a:latin typeface="Arial" panose="020B0604020202020204" pitchFamily="34" charset="0"/>
                  <a:ea typeface="宋体" panose="02010600030101010101" pitchFamily="2" charset="-122"/>
                </a:rPr>
                <a:t>SAR</a:t>
              </a:r>
            </a:p>
          </p:txBody>
        </p:sp>
        <p:sp>
          <p:nvSpPr>
            <p:cNvPr id="459783" name="椭圆 459782"/>
            <p:cNvSpPr/>
            <p:nvPr/>
          </p:nvSpPr>
          <p:spPr>
            <a:xfrm>
              <a:off x="3142" y="663"/>
              <a:ext cx="576" cy="576"/>
            </a:xfrm>
            <a:prstGeom prst="ellipse">
              <a:avLst/>
            </a:prstGeom>
            <a:solidFill>
              <a:schemeClr val="bg1"/>
            </a:solidFill>
            <a:ln w="9525">
              <a:noFill/>
            </a:ln>
          </p:spPr>
          <p:txBody>
            <a:bodyPr wrap="none" anchor="ctr"/>
            <a:lstStyle/>
            <a:p>
              <a:pPr lvl="0" algn="ctr"/>
              <a:r>
                <a:rPr lang="en-US" altLang="zh-CN" sz="2800" b="1">
                  <a:solidFill>
                    <a:srgbClr val="0000FF"/>
                  </a:solidFill>
                  <a:effectLst>
                    <a:outerShdw blurRad="38100" dist="38100" dir="2700000">
                      <a:srgbClr val="C0C0C0"/>
                    </a:outerShdw>
                  </a:effectLst>
                  <a:latin typeface="Arial" panose="020B0604020202020204" pitchFamily="34" charset="0"/>
                  <a:ea typeface="宋体" panose="02010600030101010101" pitchFamily="2" charset="-122"/>
                </a:rPr>
                <a:t>SHR</a:t>
              </a:r>
            </a:p>
          </p:txBody>
        </p:sp>
      </p:grpSp>
      <p:sp>
        <p:nvSpPr>
          <p:cNvPr id="459784" name="文本占位符 459783"/>
          <p:cNvSpPr>
            <a:spLocks noGrp="1"/>
          </p:cNvSpPr>
          <p:nvPr>
            <p:ph type="body" idx="1"/>
          </p:nvPr>
        </p:nvSpPr>
        <p:spPr>
          <a:xfrm>
            <a:off x="539750" y="4076700"/>
            <a:ext cx="8208963" cy="1584325"/>
          </a:xfrm>
          <a:ln/>
        </p:spPr>
        <p:txBody>
          <a:bodyPr/>
          <a:lstStyle/>
          <a:p>
            <a:pPr>
              <a:lnSpc>
                <a:spcPct val="90000"/>
              </a:lnSpc>
              <a:spcBef>
                <a:spcPct val="50000"/>
              </a:spcBef>
              <a:buClr>
                <a:srgbClr val="0000FF"/>
              </a:buClr>
              <a:buFont typeface="Wingdings" panose="05000000000000000000" pitchFamily="2" charset="2"/>
              <a:buChar char="ü"/>
            </a:pPr>
            <a:r>
              <a:rPr lang="zh-CN" altLang="en-US" sz="2400" b="1" dirty="0">
                <a:latin typeface="Times New Roman" panose="02020603050405020304" pitchFamily="18" charset="0"/>
              </a:rPr>
              <a:t>其中两条左移指令对应</a:t>
            </a:r>
            <a:r>
              <a:rPr lang="zh-CN" altLang="en-US" sz="2400" b="1" dirty="0">
                <a:solidFill>
                  <a:srgbClr val="0000FF"/>
                </a:solidFill>
                <a:latin typeface="Times New Roman" panose="02020603050405020304" pitchFamily="18" charset="0"/>
              </a:rPr>
              <a:t>同一条</a:t>
            </a:r>
            <a:r>
              <a:rPr lang="zh-CN" altLang="en-US" sz="2400" b="1" dirty="0">
                <a:latin typeface="Times New Roman" panose="02020603050405020304" pitchFamily="18" charset="0"/>
              </a:rPr>
              <a:t>机器指令，所以，从</a:t>
            </a:r>
            <a:r>
              <a:rPr lang="zh-CN" altLang="en-US" sz="2400" b="1" dirty="0">
                <a:solidFill>
                  <a:srgbClr val="0000FF"/>
                </a:solidFill>
                <a:latin typeface="Times New Roman" panose="02020603050405020304" pitchFamily="18" charset="0"/>
              </a:rPr>
              <a:t>机器指令</a:t>
            </a:r>
            <a:r>
              <a:rPr lang="zh-CN" altLang="en-US" sz="2400" b="1" dirty="0">
                <a:latin typeface="Times New Roman" panose="02020603050405020304" pitchFamily="18" charset="0"/>
              </a:rPr>
              <a:t>的角度来说，移位指令只有</a:t>
            </a:r>
            <a:r>
              <a:rPr lang="zh-CN" altLang="en-US" sz="2400" b="1" dirty="0">
                <a:solidFill>
                  <a:srgbClr val="0000FF"/>
                </a:solidFill>
                <a:latin typeface="Times New Roman" panose="02020603050405020304" pitchFamily="18" charset="0"/>
              </a:rPr>
              <a:t>三条</a:t>
            </a:r>
            <a:r>
              <a:rPr lang="zh-CN" altLang="en-US" sz="2400" b="1" dirty="0">
                <a:latin typeface="Times New Roman" panose="02020603050405020304" pitchFamily="18" charset="0"/>
              </a:rPr>
              <a:t>。</a:t>
            </a:r>
          </a:p>
          <a:p>
            <a:pPr>
              <a:lnSpc>
                <a:spcPct val="90000"/>
              </a:lnSpc>
              <a:spcBef>
                <a:spcPct val="50000"/>
              </a:spcBef>
              <a:buClr>
                <a:srgbClr val="0000FF"/>
              </a:buClr>
              <a:buFont typeface="Wingdings" panose="05000000000000000000" pitchFamily="2" charset="2"/>
              <a:buChar char="ü"/>
            </a:pPr>
            <a:r>
              <a:rPr lang="zh-CN" altLang="en-US" sz="2400" b="1" dirty="0"/>
              <a:t>四条指令分成</a:t>
            </a:r>
            <a:r>
              <a:rPr lang="zh-CN" altLang="en-US" sz="2400" b="1" dirty="0">
                <a:solidFill>
                  <a:srgbClr val="0000FF"/>
                </a:solidFill>
                <a:latin typeface="Times New Roman" panose="02020603050405020304" pitchFamily="18" charset="0"/>
              </a:rPr>
              <a:t>逻辑</a:t>
            </a:r>
            <a:r>
              <a:rPr lang="zh-CN" altLang="en-US" sz="2400" b="1" dirty="0"/>
              <a:t>移位和</a:t>
            </a:r>
            <a:r>
              <a:rPr lang="zh-CN" altLang="en-US" sz="2400" b="1" dirty="0">
                <a:solidFill>
                  <a:srgbClr val="0000FF"/>
                </a:solidFill>
                <a:latin typeface="Times New Roman" panose="02020603050405020304" pitchFamily="18" charset="0"/>
              </a:rPr>
              <a:t>算术</a:t>
            </a:r>
            <a:r>
              <a:rPr lang="zh-CN" altLang="en-US" sz="2400" b="1" dirty="0"/>
              <a:t>移位，分别具有</a:t>
            </a:r>
            <a:r>
              <a:rPr lang="zh-CN" altLang="en-US" sz="2400" b="1" dirty="0">
                <a:solidFill>
                  <a:srgbClr val="0000FF"/>
                </a:solidFill>
                <a:latin typeface="Times New Roman" panose="02020603050405020304" pitchFamily="18" charset="0"/>
              </a:rPr>
              <a:t>左移</a:t>
            </a:r>
            <a:r>
              <a:rPr lang="zh-CN" altLang="en-US" sz="2400" b="1" dirty="0"/>
              <a:t>或</a:t>
            </a:r>
            <a:r>
              <a:rPr lang="zh-CN" altLang="en-US" sz="2400" b="1" dirty="0">
                <a:solidFill>
                  <a:srgbClr val="0000FF"/>
                </a:solidFill>
                <a:latin typeface="Times New Roman" panose="02020603050405020304" pitchFamily="18" charset="0"/>
              </a:rPr>
              <a:t>右移</a:t>
            </a:r>
            <a:r>
              <a:rPr lang="zh-CN" altLang="en-US" sz="2400" b="1" dirty="0"/>
              <a:t>操作，将操作数移动</a:t>
            </a:r>
            <a:r>
              <a:rPr lang="en-US" altLang="zh-CN" sz="2400" b="1">
                <a:solidFill>
                  <a:srgbClr val="0000FF"/>
                </a:solidFill>
              </a:rPr>
              <a:t>1</a:t>
            </a:r>
            <a:r>
              <a:rPr lang="zh-CN" altLang="en-US" sz="2400" b="1" dirty="0">
                <a:solidFill>
                  <a:srgbClr val="0000FF"/>
                </a:solidFill>
                <a:latin typeface="Times New Roman" panose="02020603050405020304" pitchFamily="18" charset="0"/>
              </a:rPr>
              <a:t>位</a:t>
            </a:r>
            <a:r>
              <a:rPr lang="zh-CN" altLang="en-US" sz="2400" b="1" dirty="0"/>
              <a:t>或</a:t>
            </a:r>
            <a:r>
              <a:rPr lang="zh-CN" altLang="en-US" sz="2400" b="1" dirty="0">
                <a:solidFill>
                  <a:srgbClr val="0000FF"/>
                </a:solidFill>
                <a:latin typeface="Times New Roman" panose="02020603050405020304" pitchFamily="18" charset="0"/>
              </a:rPr>
              <a:t>多位</a:t>
            </a:r>
            <a:r>
              <a:rPr lang="zh-CN" altLang="en-US" sz="2400" b="1" dirty="0">
                <a:solidFill>
                  <a:schemeClr val="bg2"/>
                </a:solidFill>
              </a:rPr>
              <a:t>。</a:t>
            </a:r>
            <a:endParaRPr lang="zh-CN" altLang="en-US" sz="2400" b="1" dirty="0"/>
          </a:p>
        </p:txBody>
      </p:sp>
      <p:sp>
        <p:nvSpPr>
          <p:cNvPr id="459785" name="矩形 45978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152363698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16" name="组合 460815"/>
          <p:cNvGrpSpPr/>
          <p:nvPr/>
        </p:nvGrpSpPr>
        <p:grpSpPr>
          <a:xfrm>
            <a:off x="441325" y="1327150"/>
            <a:ext cx="8169276" cy="3391185"/>
            <a:chOff x="278" y="1153"/>
            <a:chExt cx="5146" cy="2136"/>
          </a:xfrm>
        </p:grpSpPr>
        <p:sp>
          <p:nvSpPr>
            <p:cNvPr id="460803" name="流程图: 可选过程 460802"/>
            <p:cNvSpPr/>
            <p:nvPr/>
          </p:nvSpPr>
          <p:spPr>
            <a:xfrm>
              <a:off x="278" y="1153"/>
              <a:ext cx="5136" cy="582"/>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400" b="1" dirty="0">
                  <a:latin typeface="宋体" panose="02010600030101010101" pitchFamily="2" charset="-122"/>
                  <a:ea typeface="宋体" panose="02010600030101010101" pitchFamily="2" charset="-122"/>
                </a:rPr>
                <a:t>SHL </a:t>
              </a:r>
              <a:r>
                <a:rPr lang="en-US" altLang="zh-CN" sz="2400" b="1" dirty="0" err="1">
                  <a:latin typeface="宋体" panose="02010600030101010101" pitchFamily="2" charset="-122"/>
                  <a:ea typeface="宋体" panose="02010600030101010101" pitchFamily="2" charset="-122"/>
                </a:rPr>
                <a:t>reg</a:t>
              </a:r>
              <a:r>
                <a:rPr lang="en-US" altLang="zh-CN" sz="2400" b="1" dirty="0">
                  <a:latin typeface="宋体" panose="02010600030101010101" pitchFamily="2" charset="-122"/>
                  <a:ea typeface="宋体" panose="02010600030101010101" pitchFamily="2" charset="-122"/>
                </a:rPr>
                <a:t>/mem,1/CL</a:t>
              </a:r>
            </a:p>
            <a:p>
              <a:pPr lvl="0" algn="r">
                <a:lnSpc>
                  <a:spcPct val="110000"/>
                </a:lnSpc>
              </a:pPr>
              <a:r>
                <a:rPr lang="zh-CN" altLang="en-US" sz="2400" b="1" dirty="0">
                  <a:solidFill>
                    <a:schemeClr val="accent2"/>
                  </a:solidFill>
                  <a:latin typeface="宋体" panose="02010600030101010101" pitchFamily="2" charset="-122"/>
                  <a:ea typeface="宋体" panose="02010600030101010101" pitchFamily="2" charset="-122"/>
                </a:rPr>
                <a:t>；逻辑左移，最高位进入</a:t>
              </a:r>
              <a:r>
                <a:rPr lang="en-US" altLang="zh-CN" sz="2400" b="1" dirty="0">
                  <a:solidFill>
                    <a:schemeClr val="accent2"/>
                  </a:solidFill>
                  <a:latin typeface="宋体" panose="02010600030101010101" pitchFamily="2" charset="-122"/>
                  <a:ea typeface="宋体" panose="02010600030101010101" pitchFamily="2" charset="-122"/>
                </a:rPr>
                <a:t>CF</a:t>
              </a:r>
              <a:r>
                <a:rPr lang="zh-CN" altLang="en-US" sz="2400" b="1" dirty="0">
                  <a:solidFill>
                    <a:schemeClr val="accent2"/>
                  </a:solidFill>
                  <a:latin typeface="宋体" panose="02010600030101010101" pitchFamily="2" charset="-122"/>
                  <a:ea typeface="宋体" panose="02010600030101010101" pitchFamily="2" charset="-122"/>
                </a:rPr>
                <a:t>，最低位补</a:t>
              </a:r>
              <a:r>
                <a:rPr lang="en-US" altLang="zh-CN" sz="2400" b="1" dirty="0">
                  <a:solidFill>
                    <a:schemeClr val="accent2"/>
                  </a:solidFill>
                  <a:latin typeface="宋体" panose="02010600030101010101" pitchFamily="2" charset="-122"/>
                  <a:ea typeface="宋体" panose="02010600030101010101" pitchFamily="2" charset="-122"/>
                </a:rPr>
                <a:t>0</a:t>
              </a:r>
            </a:p>
          </p:txBody>
        </p:sp>
        <p:sp>
          <p:nvSpPr>
            <p:cNvPr id="460804" name="流程图: 可选过程 460803"/>
            <p:cNvSpPr/>
            <p:nvPr/>
          </p:nvSpPr>
          <p:spPr>
            <a:xfrm>
              <a:off x="288" y="1735"/>
              <a:ext cx="5136" cy="560"/>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400" b="1" dirty="0">
                  <a:latin typeface="宋体" panose="02010600030101010101" pitchFamily="2" charset="-122"/>
                  <a:ea typeface="宋体" panose="02010600030101010101" pitchFamily="2" charset="-122"/>
                </a:rPr>
                <a:t>SHR </a:t>
              </a:r>
              <a:r>
                <a:rPr lang="en-US" altLang="zh-CN" sz="2400" b="1" dirty="0" err="1">
                  <a:latin typeface="宋体" panose="02010600030101010101" pitchFamily="2" charset="-122"/>
                  <a:ea typeface="宋体" panose="02010600030101010101" pitchFamily="2" charset="-122"/>
                </a:rPr>
                <a:t>reg</a:t>
              </a:r>
              <a:r>
                <a:rPr lang="en-US" altLang="zh-CN" sz="2400" b="1" dirty="0">
                  <a:latin typeface="宋体" panose="02010600030101010101" pitchFamily="2" charset="-122"/>
                  <a:ea typeface="宋体" panose="02010600030101010101" pitchFamily="2" charset="-122"/>
                </a:rPr>
                <a:t>/mem,1/CL</a:t>
              </a:r>
            </a:p>
            <a:p>
              <a:pPr lvl="0" algn="r">
                <a:lnSpc>
                  <a:spcPct val="110000"/>
                </a:lnSpc>
              </a:pPr>
              <a:r>
                <a:rPr lang="zh-CN" altLang="en-US" sz="2400" b="1" dirty="0">
                  <a:solidFill>
                    <a:schemeClr val="accent2"/>
                  </a:solidFill>
                  <a:latin typeface="宋体" panose="02010600030101010101" pitchFamily="2" charset="-122"/>
                  <a:ea typeface="宋体" panose="02010600030101010101" pitchFamily="2" charset="-122"/>
                </a:rPr>
                <a:t>；逻辑右移，最低位进入</a:t>
              </a:r>
              <a:r>
                <a:rPr lang="en-US" altLang="zh-CN" sz="2400" b="1" dirty="0">
                  <a:solidFill>
                    <a:schemeClr val="accent2"/>
                  </a:solidFill>
                  <a:latin typeface="宋体" panose="02010600030101010101" pitchFamily="2" charset="-122"/>
                  <a:ea typeface="宋体" panose="02010600030101010101" pitchFamily="2" charset="-122"/>
                </a:rPr>
                <a:t>CF</a:t>
              </a:r>
              <a:r>
                <a:rPr lang="zh-CN" altLang="en-US" sz="2400" b="1" dirty="0">
                  <a:solidFill>
                    <a:schemeClr val="accent2"/>
                  </a:solidFill>
                  <a:latin typeface="宋体" panose="02010600030101010101" pitchFamily="2" charset="-122"/>
                  <a:ea typeface="宋体" panose="02010600030101010101" pitchFamily="2" charset="-122"/>
                </a:rPr>
                <a:t>，最高位补</a:t>
              </a:r>
              <a:r>
                <a:rPr lang="en-US" altLang="zh-CN" sz="2400" b="1" dirty="0">
                  <a:solidFill>
                    <a:schemeClr val="accent2"/>
                  </a:solidFill>
                  <a:latin typeface="宋体" panose="02010600030101010101" pitchFamily="2" charset="-122"/>
                  <a:ea typeface="宋体" panose="02010600030101010101" pitchFamily="2" charset="-122"/>
                </a:rPr>
                <a:t>0</a:t>
              </a:r>
            </a:p>
          </p:txBody>
        </p:sp>
        <p:sp>
          <p:nvSpPr>
            <p:cNvPr id="460805" name="流程图: 可选过程 460804"/>
            <p:cNvSpPr/>
            <p:nvPr/>
          </p:nvSpPr>
          <p:spPr>
            <a:xfrm>
              <a:off x="288" y="2261"/>
              <a:ext cx="5136" cy="536"/>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400" b="1" dirty="0">
                  <a:latin typeface="宋体" panose="02010600030101010101" pitchFamily="2" charset="-122"/>
                  <a:ea typeface="宋体" panose="02010600030101010101" pitchFamily="2" charset="-122"/>
                </a:rPr>
                <a:t>SAL </a:t>
              </a:r>
              <a:r>
                <a:rPr lang="en-US" altLang="zh-CN" sz="2400" b="1" dirty="0" err="1">
                  <a:latin typeface="宋体" panose="02010600030101010101" pitchFamily="2" charset="-122"/>
                  <a:ea typeface="宋体" panose="02010600030101010101" pitchFamily="2" charset="-122"/>
                </a:rPr>
                <a:t>reg</a:t>
              </a:r>
              <a:r>
                <a:rPr lang="en-US" altLang="zh-CN" sz="2400" b="1" dirty="0">
                  <a:latin typeface="宋体" panose="02010600030101010101" pitchFamily="2" charset="-122"/>
                  <a:ea typeface="宋体" panose="02010600030101010101" pitchFamily="2" charset="-122"/>
                </a:rPr>
                <a:t>/mem,1/CL</a:t>
              </a:r>
            </a:p>
            <a:p>
              <a:pPr lvl="0" algn="r">
                <a:lnSpc>
                  <a:spcPct val="110000"/>
                </a:lnSpc>
              </a:pPr>
              <a:r>
                <a:rPr lang="zh-CN" altLang="en-US" sz="2400" b="1" dirty="0">
                  <a:solidFill>
                    <a:schemeClr val="accent2"/>
                  </a:solidFill>
                  <a:latin typeface="宋体" panose="02010600030101010101" pitchFamily="2" charset="-122"/>
                  <a:ea typeface="宋体" panose="02010600030101010101" pitchFamily="2" charset="-122"/>
                </a:rPr>
                <a:t>；算术左移，最高位进入</a:t>
              </a:r>
              <a:r>
                <a:rPr lang="en-US" altLang="zh-CN" sz="2400" b="1" dirty="0">
                  <a:solidFill>
                    <a:schemeClr val="accent2"/>
                  </a:solidFill>
                  <a:latin typeface="宋体" panose="02010600030101010101" pitchFamily="2" charset="-122"/>
                  <a:ea typeface="宋体" panose="02010600030101010101" pitchFamily="2" charset="-122"/>
                </a:rPr>
                <a:t>CF</a:t>
              </a:r>
              <a:r>
                <a:rPr lang="zh-CN" altLang="en-US" sz="2400" b="1" dirty="0">
                  <a:solidFill>
                    <a:schemeClr val="accent2"/>
                  </a:solidFill>
                  <a:latin typeface="宋体" panose="02010600030101010101" pitchFamily="2" charset="-122"/>
                  <a:ea typeface="宋体" panose="02010600030101010101" pitchFamily="2" charset="-122"/>
                </a:rPr>
                <a:t>，最低位补</a:t>
              </a:r>
              <a:r>
                <a:rPr lang="en-US" altLang="zh-CN" sz="2400" b="1" dirty="0">
                  <a:solidFill>
                    <a:schemeClr val="accent2"/>
                  </a:solidFill>
                  <a:latin typeface="宋体" panose="02010600030101010101" pitchFamily="2" charset="-122"/>
                  <a:ea typeface="宋体" panose="02010600030101010101" pitchFamily="2" charset="-122"/>
                </a:rPr>
                <a:t>0</a:t>
              </a:r>
            </a:p>
          </p:txBody>
        </p:sp>
        <p:sp>
          <p:nvSpPr>
            <p:cNvPr id="460806" name="流程图: 可选过程 460805"/>
            <p:cNvSpPr/>
            <p:nvPr/>
          </p:nvSpPr>
          <p:spPr>
            <a:xfrm>
              <a:off x="288" y="2797"/>
              <a:ext cx="5136" cy="492"/>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400" b="1" dirty="0">
                  <a:latin typeface="宋体" panose="02010600030101010101" pitchFamily="2" charset="-122"/>
                  <a:ea typeface="宋体" panose="02010600030101010101" pitchFamily="2" charset="-122"/>
                </a:rPr>
                <a:t>SAR </a:t>
              </a:r>
              <a:r>
                <a:rPr lang="en-US" altLang="zh-CN" sz="2400" b="1" dirty="0" err="1">
                  <a:latin typeface="宋体" panose="02010600030101010101" pitchFamily="2" charset="-122"/>
                  <a:ea typeface="宋体" panose="02010600030101010101" pitchFamily="2" charset="-122"/>
                </a:rPr>
                <a:t>reg</a:t>
              </a:r>
              <a:r>
                <a:rPr lang="en-US" altLang="zh-CN" sz="2400" b="1" dirty="0">
                  <a:latin typeface="宋体" panose="02010600030101010101" pitchFamily="2" charset="-122"/>
                  <a:ea typeface="宋体" panose="02010600030101010101" pitchFamily="2" charset="-122"/>
                </a:rPr>
                <a:t>/mem,1/CL</a:t>
              </a:r>
            </a:p>
            <a:p>
              <a:pPr lvl="0" algn="r">
                <a:lnSpc>
                  <a:spcPct val="110000"/>
                </a:lnSpc>
              </a:pPr>
              <a:r>
                <a:rPr lang="zh-CN" altLang="en-US" sz="2400" b="1" dirty="0">
                  <a:solidFill>
                    <a:schemeClr val="accent2"/>
                  </a:solidFill>
                  <a:latin typeface="宋体" panose="02010600030101010101" pitchFamily="2" charset="-122"/>
                  <a:ea typeface="宋体" panose="02010600030101010101" pitchFamily="2" charset="-122"/>
                </a:rPr>
                <a:t>；算术右移，最低位进入</a:t>
              </a:r>
              <a:r>
                <a:rPr lang="en-US" altLang="zh-CN" sz="2400" b="1" dirty="0">
                  <a:solidFill>
                    <a:schemeClr val="accent2"/>
                  </a:solidFill>
                  <a:latin typeface="宋体" panose="02010600030101010101" pitchFamily="2" charset="-122"/>
                  <a:ea typeface="宋体" panose="02010600030101010101" pitchFamily="2" charset="-122"/>
                </a:rPr>
                <a:t>CF</a:t>
              </a:r>
              <a:r>
                <a:rPr lang="zh-CN" altLang="en-US" sz="2400" b="1" dirty="0">
                  <a:solidFill>
                    <a:schemeClr val="accent2"/>
                  </a:solidFill>
                  <a:latin typeface="宋体" panose="02010600030101010101" pitchFamily="2" charset="-122"/>
                  <a:ea typeface="宋体" panose="02010600030101010101" pitchFamily="2" charset="-122"/>
                </a:rPr>
                <a:t>，但符号位保持不变</a:t>
              </a:r>
            </a:p>
          </p:txBody>
        </p:sp>
        <p:sp>
          <p:nvSpPr>
            <p:cNvPr id="460807" name="右弧形箭头 460806"/>
            <p:cNvSpPr/>
            <p:nvPr/>
          </p:nvSpPr>
          <p:spPr>
            <a:xfrm>
              <a:off x="2032" y="1302"/>
              <a:ext cx="672" cy="1288"/>
            </a:xfrm>
            <a:prstGeom prst="curvedLeftArrow">
              <a:avLst>
                <a:gd name="adj1" fmla="val 14884"/>
                <a:gd name="adj2" fmla="val 53872"/>
                <a:gd name="adj3" fmla="val 27231"/>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60808" name="矩形 460807"/>
            <p:cNvSpPr/>
            <p:nvPr/>
          </p:nvSpPr>
          <p:spPr>
            <a:xfrm>
              <a:off x="3152" y="1661"/>
              <a:ext cx="1488" cy="384"/>
            </a:xfrm>
            <a:prstGeom prst="rect">
              <a:avLst/>
            </a:prstGeom>
            <a:solidFill>
              <a:schemeClr val="bg1"/>
            </a:solidFill>
            <a:ln w="9525" cap="flat" cmpd="sng">
              <a:solidFill>
                <a:schemeClr val="tx1"/>
              </a:solidFill>
              <a:prstDash val="solid"/>
              <a:miter/>
              <a:headEnd type="none" w="med" len="med"/>
              <a:tailEnd type="none" w="med" len="med"/>
            </a:ln>
          </p:spPr>
          <p:txBody>
            <a:bodyPr lIns="92075" tIns="46038" rIns="92075" bIns="46038"/>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lgn="ctr">
                <a:lnSpc>
                  <a:spcPct val="110000"/>
                </a:lnSpc>
                <a:buNone/>
              </a:pPr>
              <a:r>
                <a:rPr lang="en-US" altLang="zh-CN" sz="2400" b="1" dirty="0">
                  <a:solidFill>
                    <a:srgbClr val="0000FF"/>
                  </a:solidFill>
                  <a:latin typeface="宋体" panose="02010600030101010101" pitchFamily="2" charset="-122"/>
                </a:rPr>
                <a:t>SAL</a:t>
              </a:r>
              <a:r>
                <a:rPr lang="zh-CN" altLang="en-US" sz="2400" b="1" dirty="0">
                  <a:solidFill>
                    <a:srgbClr val="0000FF"/>
                  </a:solidFill>
                  <a:latin typeface="宋体" panose="02010600030101010101" pitchFamily="2" charset="-122"/>
                </a:rPr>
                <a:t>与</a:t>
              </a:r>
              <a:r>
                <a:rPr lang="en-US" altLang="zh-CN" sz="2400" b="1" dirty="0">
                  <a:solidFill>
                    <a:srgbClr val="0000FF"/>
                  </a:solidFill>
                  <a:latin typeface="宋体" panose="02010600030101010101" pitchFamily="2" charset="-122"/>
                </a:rPr>
                <a:t>SHL</a:t>
              </a:r>
              <a:r>
                <a:rPr lang="zh-CN" altLang="en-US" sz="2400" b="1" dirty="0">
                  <a:solidFill>
                    <a:srgbClr val="0000FF"/>
                  </a:solidFill>
                  <a:latin typeface="宋体" panose="02010600030101010101" pitchFamily="2" charset="-122"/>
                </a:rPr>
                <a:t>相同</a:t>
              </a:r>
              <a:endParaRPr lang="zh-CN" altLang="en-US" sz="2800" b="1" dirty="0">
                <a:solidFill>
                  <a:srgbClr val="0000FF"/>
                </a:solidFill>
                <a:latin typeface="宋体" panose="02010600030101010101" pitchFamily="2" charset="-122"/>
              </a:endParaRPr>
            </a:p>
          </p:txBody>
        </p:sp>
      </p:grpSp>
      <p:sp>
        <p:nvSpPr>
          <p:cNvPr id="460815" name="矩形 460814"/>
          <p:cNvSpPr/>
          <p:nvPr/>
        </p:nvSpPr>
        <p:spPr>
          <a:xfrm>
            <a:off x="441325" y="732939"/>
            <a:ext cx="1150937" cy="457200"/>
          </a:xfrm>
          <a:prstGeom prst="rect">
            <a:avLst/>
          </a:prstGeom>
          <a:noFill/>
          <a:ln w="9525">
            <a:noFill/>
          </a:ln>
        </p:spPr>
        <p:txBody>
          <a:bodyPr>
            <a:spAutoFit/>
          </a:bodyPr>
          <a:lstStyle/>
          <a:p>
            <a:pPr lvl="0">
              <a:buClrTx/>
            </a:pPr>
            <a:r>
              <a:rPr lang="zh-CN" altLang="en-US" sz="2400" b="1" dirty="0">
                <a:latin typeface="Arial" panose="020B0604020202020204" pitchFamily="34" charset="0"/>
                <a:ea typeface="宋体" panose="02010600030101010101" pitchFamily="2" charset="-122"/>
              </a:rPr>
              <a:t>格式：</a:t>
            </a:r>
          </a:p>
        </p:txBody>
      </p:sp>
      <p:pic>
        <p:nvPicPr>
          <p:cNvPr id="460817" name="图片 460816"/>
          <p:cNvPicPr>
            <a:picLocks noChangeAspect="1"/>
          </p:cNvPicPr>
          <p:nvPr/>
        </p:nvPicPr>
        <p:blipFill>
          <a:blip r:embed="rId2"/>
          <a:stretch>
            <a:fillRect/>
          </a:stretch>
        </p:blipFill>
        <p:spPr>
          <a:xfrm>
            <a:off x="1907704" y="5046319"/>
            <a:ext cx="5832475" cy="1800225"/>
          </a:xfrm>
          <a:prstGeom prst="rect">
            <a:avLst/>
          </a:prstGeom>
          <a:noFill/>
          <a:ln w="9525">
            <a:noFill/>
          </a:ln>
        </p:spPr>
      </p:pic>
      <p:sp>
        <p:nvSpPr>
          <p:cNvPr id="460818" name="矩形 46081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3802351006"/>
      </p:ext>
    </p:extLst>
  </p:cSld>
  <p:clrMapOvr>
    <a:masterClrMapping/>
  </p:clrMapOvr>
  <p:transition spd="med">
    <p:random/>
  </p:transition>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1826" name="标题 461825"/>
          <p:cNvSpPr>
            <a:spLocks noGrp="1"/>
          </p:cNvSpPr>
          <p:nvPr>
            <p:ph type="title"/>
          </p:nvPr>
        </p:nvSpPr>
        <p:spPr>
          <a:xfrm>
            <a:off x="482073" y="742381"/>
            <a:ext cx="1223963" cy="549275"/>
          </a:xfrm>
          <a:ln/>
        </p:spPr>
        <p:txBody>
          <a:bodyPr anchor="ctr"/>
          <a:lstStyle/>
          <a:p>
            <a:pPr algn="l"/>
            <a:r>
              <a:rPr lang="zh-CN" altLang="en-US" sz="2400" b="1" dirty="0">
                <a:solidFill>
                  <a:srgbClr val="0000FF"/>
                </a:solidFill>
              </a:rPr>
              <a:t>说明：</a:t>
            </a:r>
          </a:p>
        </p:txBody>
      </p:sp>
      <p:sp>
        <p:nvSpPr>
          <p:cNvPr id="461829" name="矩形 461828"/>
          <p:cNvSpPr/>
          <p:nvPr/>
        </p:nvSpPr>
        <p:spPr>
          <a:xfrm>
            <a:off x="474065" y="1412776"/>
            <a:ext cx="8424862" cy="4608512"/>
          </a:xfrm>
          <a:prstGeom prst="rect">
            <a:avLst/>
          </a:prstGeom>
          <a:solidFill>
            <a:srgbClr val="FFFFFF"/>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a:lnSpc>
                <a:spcPts val="3500"/>
              </a:lnSpc>
              <a:buClr>
                <a:srgbClr val="0000FF"/>
              </a:buClr>
              <a:buFont typeface="Wingdings" panose="05000000000000000000" pitchFamily="2" charset="2"/>
              <a:buChar char="ü"/>
            </a:pPr>
            <a:r>
              <a:rPr lang="zh-CN" altLang="en-US" sz="2400" b="1" dirty="0"/>
              <a:t>对于操作数：（</a:t>
            </a:r>
            <a:r>
              <a:rPr lang="en-US" altLang="zh-CN" sz="2400" b="1" dirty="0"/>
              <a:t>1</a:t>
            </a:r>
            <a:r>
              <a:rPr lang="zh-CN" altLang="en-US" sz="2400" b="1" dirty="0"/>
              <a:t>）第一个操作数是指定的</a:t>
            </a:r>
            <a:r>
              <a:rPr lang="zh-CN" altLang="en-US" sz="2400" b="1" dirty="0">
                <a:solidFill>
                  <a:srgbClr val="0000FF"/>
                </a:solidFill>
              </a:rPr>
              <a:t>被移位</a:t>
            </a:r>
            <a:r>
              <a:rPr lang="zh-CN" altLang="en-US" sz="2400" b="1" dirty="0"/>
              <a:t>的操作数，可以是寄存器或存储器操作数；第二个操作数表示</a:t>
            </a:r>
            <a:r>
              <a:rPr lang="zh-CN" altLang="en-US" sz="2400" b="1" dirty="0">
                <a:solidFill>
                  <a:srgbClr val="0000FF"/>
                </a:solidFill>
              </a:rPr>
              <a:t>移位位数</a:t>
            </a:r>
            <a:r>
              <a:rPr lang="zh-CN" altLang="en-US" sz="2400" b="1" dirty="0"/>
              <a:t>，该操作数为</a:t>
            </a:r>
            <a:r>
              <a:rPr lang="en-US" altLang="zh-CN" sz="2400" b="1" dirty="0">
                <a:solidFill>
                  <a:srgbClr val="0000FF"/>
                </a:solidFill>
              </a:rPr>
              <a:t>1</a:t>
            </a:r>
            <a:r>
              <a:rPr lang="zh-CN" altLang="en-US" sz="2400" b="1" dirty="0"/>
              <a:t>，表示移动一位；当移位位数大于</a:t>
            </a:r>
            <a:r>
              <a:rPr lang="en-US" altLang="zh-CN" sz="2400" b="1" dirty="0"/>
              <a:t>1</a:t>
            </a:r>
            <a:r>
              <a:rPr lang="zh-CN" altLang="en-US" sz="2400" b="1" dirty="0"/>
              <a:t>时，则用</a:t>
            </a:r>
            <a:r>
              <a:rPr lang="en-US" altLang="zh-CN" sz="2400" b="1" dirty="0">
                <a:solidFill>
                  <a:srgbClr val="0000FF"/>
                </a:solidFill>
              </a:rPr>
              <a:t>CL</a:t>
            </a:r>
            <a:r>
              <a:rPr lang="zh-CN" altLang="en-US" sz="2400" b="1" dirty="0"/>
              <a:t>寄存器值表示。</a:t>
            </a:r>
          </a:p>
          <a:p>
            <a:pPr marL="0" lvl="0" indent="0">
              <a:lnSpc>
                <a:spcPts val="3500"/>
              </a:lnSpc>
              <a:buClr>
                <a:srgbClr val="0000FF"/>
              </a:buClr>
              <a:buFont typeface="Wingdings" panose="05000000000000000000" pitchFamily="2" charset="2"/>
              <a:buChar char="ü"/>
            </a:pPr>
            <a:r>
              <a:rPr lang="zh-CN" altLang="en-US" sz="2400" b="1" dirty="0"/>
              <a:t>对于标志位：按照移入的位设置进位标志</a:t>
            </a:r>
            <a:r>
              <a:rPr lang="en-US" altLang="zh-CN" sz="2400" b="1" dirty="0"/>
              <a:t>CF</a:t>
            </a:r>
            <a:r>
              <a:rPr lang="zh-CN" altLang="en-US" sz="2400" b="1" dirty="0"/>
              <a:t>；根据移位后的结果影响</a:t>
            </a:r>
            <a:r>
              <a:rPr lang="en-US" altLang="zh-CN" sz="2400" b="1" dirty="0"/>
              <a:t>SF</a:t>
            </a:r>
            <a:r>
              <a:rPr lang="zh-CN" altLang="en-US" sz="2400" b="1" dirty="0"/>
              <a:t>、</a:t>
            </a:r>
            <a:r>
              <a:rPr lang="en-US" altLang="zh-CN" sz="2400" b="1" dirty="0"/>
              <a:t>ZF</a:t>
            </a:r>
            <a:r>
              <a:rPr lang="zh-CN" altLang="en-US" sz="2400" b="1" dirty="0"/>
              <a:t>、</a:t>
            </a:r>
            <a:r>
              <a:rPr lang="en-US" altLang="zh-CN" sz="2400" b="1" dirty="0"/>
              <a:t>PF</a:t>
            </a:r>
            <a:r>
              <a:rPr lang="zh-CN" altLang="en-US" sz="2400" b="1" dirty="0"/>
              <a:t>；对</a:t>
            </a:r>
            <a:r>
              <a:rPr lang="en-US" altLang="zh-CN" sz="2400" b="1" dirty="0">
                <a:solidFill>
                  <a:srgbClr val="0000FF"/>
                </a:solidFill>
              </a:rPr>
              <a:t>AF</a:t>
            </a:r>
            <a:r>
              <a:rPr lang="zh-CN" altLang="en-US" sz="2400" b="1" dirty="0">
                <a:solidFill>
                  <a:srgbClr val="0000FF"/>
                </a:solidFill>
              </a:rPr>
              <a:t>没有定义</a:t>
            </a:r>
            <a:r>
              <a:rPr lang="zh-CN" altLang="en-US" sz="2400" b="1" dirty="0"/>
              <a:t>。对于</a:t>
            </a:r>
            <a:r>
              <a:rPr lang="en-US" altLang="zh-CN" sz="2400" b="1" dirty="0"/>
              <a:t>OF</a:t>
            </a:r>
            <a:r>
              <a:rPr lang="zh-CN" altLang="en-US" sz="2400" b="1" dirty="0"/>
              <a:t>，如果进行一位移动，则按照操作数的最高符号位是否改变，相应设置：如果移位前的操作数最高位与移位后操作数的最高位不同（有变化），则</a:t>
            </a:r>
            <a:r>
              <a:rPr lang="en-US" altLang="zh-CN" sz="2400" b="1" dirty="0"/>
              <a:t>OF = 1</a:t>
            </a:r>
            <a:r>
              <a:rPr lang="zh-CN" altLang="en-US" sz="2400" b="1" dirty="0"/>
              <a:t>；否则</a:t>
            </a:r>
            <a:r>
              <a:rPr lang="en-US" altLang="zh-CN" sz="2400" b="1" dirty="0"/>
              <a:t>OF = 0</a:t>
            </a:r>
            <a:r>
              <a:rPr lang="zh-CN" altLang="en-US" sz="2400" b="1" dirty="0"/>
              <a:t>。当移位次数大于</a:t>
            </a:r>
            <a:r>
              <a:rPr lang="en-US" altLang="zh-CN" sz="2400" b="1" dirty="0"/>
              <a:t>1</a:t>
            </a:r>
            <a:r>
              <a:rPr lang="zh-CN" altLang="en-US" sz="2400" b="1" dirty="0"/>
              <a:t>时，</a:t>
            </a:r>
            <a:r>
              <a:rPr lang="en-US" altLang="zh-CN" sz="2400" b="1" dirty="0"/>
              <a:t>OF</a:t>
            </a:r>
            <a:r>
              <a:rPr lang="zh-CN" altLang="en-US" sz="2400" b="1" dirty="0"/>
              <a:t>不确定。</a:t>
            </a:r>
          </a:p>
        </p:txBody>
      </p:sp>
      <p:sp>
        <p:nvSpPr>
          <p:cNvPr id="461830" name="矩形 461829"/>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1378556449"/>
      </p:ext>
    </p:extLst>
  </p:cSld>
  <p:clrMapOvr>
    <a:masterClrMapping/>
  </p:clrMapOvr>
  <p:transition spd="med">
    <p:random/>
  </p:transition>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62850" name="组合 462849"/>
          <p:cNvGrpSpPr/>
          <p:nvPr/>
        </p:nvGrpSpPr>
        <p:grpSpPr>
          <a:xfrm>
            <a:off x="233363" y="836613"/>
            <a:ext cx="8662987" cy="5616575"/>
            <a:chOff x="147" y="196"/>
            <a:chExt cx="5457" cy="3927"/>
          </a:xfrm>
        </p:grpSpPr>
        <p:pic>
          <p:nvPicPr>
            <p:cNvPr id="462851" name="图片 462850" descr="D2b"/>
            <p:cNvPicPr>
              <a:picLocks noChangeAspect="1"/>
            </p:cNvPicPr>
            <p:nvPr/>
          </p:nvPicPr>
          <p:blipFill>
            <a:blip r:embed="rId2">
              <a:clrChange>
                <a:clrFrom>
                  <a:srgbClr val="000100"/>
                </a:clrFrom>
                <a:clrTo>
                  <a:srgbClr val="000100">
                    <a:alpha val="0"/>
                  </a:srgbClr>
                </a:clrTo>
              </a:clrChange>
            </a:blip>
            <a:stretch>
              <a:fillRect/>
            </a:stretch>
          </p:blipFill>
          <p:spPr>
            <a:xfrm>
              <a:off x="186" y="790"/>
              <a:ext cx="325" cy="2985"/>
            </a:xfrm>
            <a:prstGeom prst="rect">
              <a:avLst/>
            </a:prstGeom>
            <a:noFill/>
            <a:ln w="9525">
              <a:noFill/>
            </a:ln>
          </p:spPr>
        </p:pic>
        <p:pic>
          <p:nvPicPr>
            <p:cNvPr id="462852" name="图片 462851" descr="D2a"/>
            <p:cNvPicPr>
              <a:picLocks noChangeAspect="1"/>
            </p:cNvPicPr>
            <p:nvPr/>
          </p:nvPicPr>
          <p:blipFill>
            <a:blip r:embed="rId3">
              <a:clrChange>
                <a:clrFrom>
                  <a:srgbClr val="010001"/>
                </a:clrFrom>
                <a:clrTo>
                  <a:srgbClr val="010001">
                    <a:alpha val="0"/>
                  </a:srgbClr>
                </a:clrTo>
              </a:clrChange>
            </a:blip>
            <a:stretch>
              <a:fillRect/>
            </a:stretch>
          </p:blipFill>
          <p:spPr>
            <a:xfrm>
              <a:off x="147" y="196"/>
              <a:ext cx="5457" cy="862"/>
            </a:xfrm>
            <a:prstGeom prst="rect">
              <a:avLst/>
            </a:prstGeom>
            <a:noFill/>
            <a:ln w="9525">
              <a:noFill/>
            </a:ln>
          </p:spPr>
        </p:pic>
        <p:pic>
          <p:nvPicPr>
            <p:cNvPr id="462853" name="图片 462852" descr="D2b"/>
            <p:cNvPicPr>
              <a:picLocks noChangeAspect="1"/>
            </p:cNvPicPr>
            <p:nvPr/>
          </p:nvPicPr>
          <p:blipFill>
            <a:blip r:embed="rId2">
              <a:clrChange>
                <a:clrFrom>
                  <a:srgbClr val="000100"/>
                </a:clrFrom>
                <a:clrTo>
                  <a:srgbClr val="000100">
                    <a:alpha val="0"/>
                  </a:srgbClr>
                </a:clrTo>
              </a:clrChange>
            </a:blip>
            <a:stretch>
              <a:fillRect/>
            </a:stretch>
          </p:blipFill>
          <p:spPr>
            <a:xfrm>
              <a:off x="5270" y="1047"/>
              <a:ext cx="325" cy="2985"/>
            </a:xfrm>
            <a:prstGeom prst="rect">
              <a:avLst/>
            </a:prstGeom>
            <a:noFill/>
            <a:ln w="9525">
              <a:noFill/>
            </a:ln>
          </p:spPr>
        </p:pic>
        <p:pic>
          <p:nvPicPr>
            <p:cNvPr id="462854" name="图片 462853" descr="D2c"/>
            <p:cNvPicPr/>
            <p:nvPr/>
          </p:nvPicPr>
          <p:blipFill>
            <a:blip r:embed="rId4">
              <a:clrChange>
                <a:clrFrom>
                  <a:srgbClr val="000000"/>
                </a:clrFrom>
                <a:clrTo>
                  <a:srgbClr val="000000">
                    <a:alpha val="0"/>
                  </a:srgbClr>
                </a:clrTo>
              </a:clrChange>
            </a:blip>
            <a:stretch>
              <a:fillRect/>
            </a:stretch>
          </p:blipFill>
          <p:spPr>
            <a:xfrm>
              <a:off x="189" y="3727"/>
              <a:ext cx="5411" cy="396"/>
            </a:xfrm>
            <a:prstGeom prst="rect">
              <a:avLst/>
            </a:prstGeom>
            <a:noFill/>
            <a:ln w="9525">
              <a:noFill/>
            </a:ln>
          </p:spPr>
        </p:pic>
        <p:sp>
          <p:nvSpPr>
            <p:cNvPr id="462855" name="矩形 462854"/>
            <p:cNvSpPr/>
            <p:nvPr/>
          </p:nvSpPr>
          <p:spPr>
            <a:xfrm>
              <a:off x="3294" y="3696"/>
              <a:ext cx="2064" cy="212"/>
            </a:xfrm>
            <a:prstGeom prst="rect">
              <a:avLst/>
            </a:prstGeom>
            <a:solidFill>
              <a:schemeClr val="bg1"/>
            </a:solidFill>
            <a:ln w="9525">
              <a:noFill/>
            </a:ln>
          </p:spPr>
          <p:txBody>
            <a:bodyPr/>
            <a:lstStyle/>
            <a:p>
              <a:endParaRPr lang="zh-CN" altLang="en-US"/>
            </a:p>
          </p:txBody>
        </p:sp>
      </p:grpSp>
      <p:sp>
        <p:nvSpPr>
          <p:cNvPr id="462856" name="标题 462855"/>
          <p:cNvSpPr>
            <a:spLocks noGrp="1"/>
          </p:cNvSpPr>
          <p:nvPr>
            <p:ph type="title"/>
          </p:nvPr>
        </p:nvSpPr>
        <p:spPr>
          <a:xfrm>
            <a:off x="6011863" y="765175"/>
            <a:ext cx="2219325" cy="623888"/>
          </a:xfrm>
          <a:prstGeom prst="flowChartAlternateProcess">
            <a:avLst/>
          </a:prstGeom>
          <a:ln w="28575">
            <a:solidFill>
              <a:schemeClr val="accent1"/>
            </a:solidFill>
            <a:miter/>
          </a:ln>
        </p:spPr>
        <p:txBody>
          <a:bodyPr anchor="ctr"/>
          <a:lstStyle/>
          <a:p>
            <a:pPr algn="l">
              <a:lnSpc>
                <a:spcPct val="90000"/>
              </a:lnSpc>
            </a:pPr>
            <a:r>
              <a:rPr lang="zh-CN" altLang="en-US" sz="2400" b="1" dirty="0">
                <a:solidFill>
                  <a:schemeClr val="tx1"/>
                </a:solidFill>
              </a:rPr>
              <a:t>移位指令举例</a:t>
            </a:r>
          </a:p>
        </p:txBody>
      </p:sp>
      <p:sp>
        <p:nvSpPr>
          <p:cNvPr id="462857" name="文本占位符 462856"/>
          <p:cNvSpPr>
            <a:spLocks noGrp="1"/>
          </p:cNvSpPr>
          <p:nvPr>
            <p:ph type="body" idx="1"/>
          </p:nvPr>
        </p:nvSpPr>
        <p:spPr>
          <a:xfrm>
            <a:off x="762000" y="2024063"/>
            <a:ext cx="7696200" cy="3997325"/>
          </a:xfrm>
          <a:solidFill>
            <a:schemeClr val="bg1"/>
          </a:solidFill>
          <a:ln/>
        </p:spPr>
        <p:txBody>
          <a:bodyPr/>
          <a:lstStyle/>
          <a:p>
            <a:pPr marL="0" indent="390525" defTabSz="0">
              <a:lnSpc>
                <a:spcPct val="70000"/>
              </a:lnSpc>
              <a:buNone/>
              <a:tabLst>
                <a:tab pos="3342005" algn="l"/>
              </a:tabLst>
            </a:pPr>
            <a:r>
              <a:rPr lang="en-US" altLang="zh-CN" sz="2800" b="1" err="1">
                <a:solidFill>
                  <a:schemeClr val="accent2"/>
                </a:solidFill>
                <a:latin typeface="宋体" panose="02010600030101010101" pitchFamily="2" charset="-122"/>
              </a:rPr>
              <a:t>mov</a:t>
            </a:r>
            <a:r>
              <a:rPr lang="en-US" altLang="zh-CN" sz="2800" b="1">
                <a:solidFill>
                  <a:schemeClr val="accent2"/>
                </a:solidFill>
                <a:latin typeface="宋体" panose="02010600030101010101" pitchFamily="2" charset="-122"/>
              </a:rPr>
              <a:t> cl,4</a:t>
            </a:r>
          </a:p>
          <a:p>
            <a:pPr marL="0" indent="390525" defTabSz="0">
              <a:lnSpc>
                <a:spcPct val="70000"/>
              </a:lnSpc>
              <a:buNone/>
              <a:tabLst>
                <a:tab pos="3342005" algn="l"/>
              </a:tabLst>
            </a:pPr>
            <a:r>
              <a:rPr lang="en-US" altLang="zh-CN" sz="2800" b="1" err="1">
                <a:solidFill>
                  <a:schemeClr val="accent2"/>
                </a:solidFill>
                <a:latin typeface="宋体" panose="02010600030101010101" pitchFamily="2" charset="-122"/>
              </a:rPr>
              <a:t>mov</a:t>
            </a:r>
            <a:r>
              <a:rPr lang="en-US" altLang="zh-CN" sz="2800" b="1">
                <a:solidFill>
                  <a:schemeClr val="accent2"/>
                </a:solidFill>
                <a:latin typeface="宋体" panose="02010600030101010101" pitchFamily="2" charset="-122"/>
              </a:rPr>
              <a:t> al,0f0h</a:t>
            </a:r>
            <a:r>
              <a:rPr lang="en-US" altLang="zh-CN" sz="2800" b="1">
                <a:latin typeface="宋体" panose="02010600030101010101" pitchFamily="2" charset="-122"/>
              </a:rPr>
              <a:t>	</a:t>
            </a:r>
            <a:r>
              <a:rPr lang="zh-CN" altLang="en-US" sz="2800" b="1">
                <a:latin typeface="宋体" panose="02010600030101010101" pitchFamily="2" charset="-122"/>
              </a:rPr>
              <a:t>；</a:t>
            </a:r>
            <a:r>
              <a:rPr lang="en-US" altLang="zh-CN" sz="2800" b="1">
                <a:latin typeface="宋体" panose="02010600030101010101" pitchFamily="2" charset="-122"/>
              </a:rPr>
              <a:t>al=f0h</a:t>
            </a:r>
          </a:p>
          <a:p>
            <a:pPr marL="0" indent="390525" defTabSz="0">
              <a:lnSpc>
                <a:spcPct val="70000"/>
              </a:lnSpc>
              <a:buNone/>
              <a:tabLst>
                <a:tab pos="3342005" algn="l"/>
              </a:tabLst>
            </a:pPr>
            <a:r>
              <a:rPr lang="en-US" altLang="zh-CN" sz="2800" b="1" err="1">
                <a:solidFill>
                  <a:srgbClr val="0000FF"/>
                </a:solidFill>
                <a:latin typeface="宋体" panose="02010600030101010101" pitchFamily="2" charset="-122"/>
              </a:rPr>
              <a:t>shl</a:t>
            </a:r>
            <a:r>
              <a:rPr lang="en-US" altLang="zh-CN" sz="2800" b="1">
                <a:solidFill>
                  <a:srgbClr val="0000FF"/>
                </a:solidFill>
                <a:latin typeface="宋体" panose="02010600030101010101" pitchFamily="2" charset="-122"/>
              </a:rPr>
              <a:t> al,1</a:t>
            </a:r>
            <a:r>
              <a:rPr lang="en-US" altLang="zh-CN" sz="2800" b="1">
                <a:latin typeface="宋体" panose="02010600030101010101" pitchFamily="2" charset="-122"/>
              </a:rPr>
              <a:t>	</a:t>
            </a:r>
            <a:r>
              <a:rPr lang="zh-CN" altLang="en-US" sz="2800" b="1">
                <a:latin typeface="宋体" panose="02010600030101010101" pitchFamily="2" charset="-122"/>
              </a:rPr>
              <a:t>；</a:t>
            </a:r>
            <a:r>
              <a:rPr lang="en-US" altLang="zh-CN" sz="2800" b="1">
                <a:latin typeface="宋体" panose="02010600030101010101" pitchFamily="2" charset="-122"/>
              </a:rPr>
              <a:t>al=</a:t>
            </a:r>
            <a:r>
              <a:rPr lang="en-US" altLang="zh-CN" sz="2800" b="1">
                <a:solidFill>
                  <a:srgbClr val="FF00FF"/>
                </a:solidFill>
                <a:latin typeface="宋体" panose="02010600030101010101" pitchFamily="2" charset="-122"/>
              </a:rPr>
              <a:t>e0h</a:t>
            </a:r>
          </a:p>
          <a:p>
            <a:pPr marL="0" indent="390525" defTabSz="0">
              <a:lnSpc>
                <a:spcPct val="70000"/>
              </a:lnSpc>
              <a:buNone/>
              <a:tabLst>
                <a:tab pos="3342005" algn="l"/>
              </a:tabLst>
            </a:pPr>
            <a:r>
              <a:rPr lang="zh-CN" altLang="en-US" sz="2800" b="1" dirty="0">
                <a:latin typeface="宋体" panose="02010600030101010101" pitchFamily="2" charset="-122"/>
              </a:rPr>
              <a:t>      ；</a:t>
            </a:r>
            <a:r>
              <a:rPr lang="en-US" altLang="zh-CN" sz="2800" b="1">
                <a:latin typeface="宋体" panose="02010600030101010101" pitchFamily="2" charset="-122"/>
              </a:rPr>
              <a:t>CF=1</a:t>
            </a:r>
            <a:r>
              <a:rPr lang="zh-CN" altLang="en-US" sz="2800" b="1">
                <a:latin typeface="宋体" panose="02010600030101010101" pitchFamily="2" charset="-122"/>
              </a:rPr>
              <a:t>，</a:t>
            </a:r>
            <a:r>
              <a:rPr lang="en-US" altLang="zh-CN" sz="2800" b="1">
                <a:latin typeface="宋体" panose="02010600030101010101" pitchFamily="2" charset="-122"/>
              </a:rPr>
              <a:t>SF=1</a:t>
            </a:r>
            <a:r>
              <a:rPr lang="zh-CN" altLang="en-US" sz="2800" b="1">
                <a:latin typeface="宋体" panose="02010600030101010101" pitchFamily="2" charset="-122"/>
              </a:rPr>
              <a:t>、</a:t>
            </a:r>
            <a:r>
              <a:rPr lang="en-US" altLang="zh-CN" sz="2800" b="1">
                <a:latin typeface="宋体" panose="02010600030101010101" pitchFamily="2" charset="-122"/>
              </a:rPr>
              <a:t>ZF=0</a:t>
            </a:r>
            <a:r>
              <a:rPr lang="zh-CN" altLang="en-US" sz="2800" b="1">
                <a:latin typeface="宋体" panose="02010600030101010101" pitchFamily="2" charset="-122"/>
              </a:rPr>
              <a:t>、</a:t>
            </a:r>
            <a:r>
              <a:rPr lang="en-US" altLang="zh-CN" sz="2800" b="1">
                <a:latin typeface="宋体" panose="02010600030101010101" pitchFamily="2" charset="-122"/>
              </a:rPr>
              <a:t>PF=0</a:t>
            </a:r>
            <a:r>
              <a:rPr lang="zh-CN" altLang="en-US" sz="2800" b="1">
                <a:latin typeface="宋体" panose="02010600030101010101" pitchFamily="2" charset="-122"/>
              </a:rPr>
              <a:t>，</a:t>
            </a:r>
            <a:r>
              <a:rPr lang="en-US" altLang="zh-CN" sz="2800" b="1">
                <a:latin typeface="宋体" panose="02010600030101010101" pitchFamily="2" charset="-122"/>
              </a:rPr>
              <a:t>OF=0</a:t>
            </a:r>
          </a:p>
          <a:p>
            <a:pPr marL="0" indent="390525" defTabSz="0">
              <a:lnSpc>
                <a:spcPct val="70000"/>
              </a:lnSpc>
              <a:buNone/>
              <a:tabLst>
                <a:tab pos="3342005" algn="l"/>
              </a:tabLst>
            </a:pPr>
            <a:r>
              <a:rPr lang="en-US" altLang="zh-CN" sz="2800" b="1" err="1">
                <a:solidFill>
                  <a:srgbClr val="0000FF"/>
                </a:solidFill>
                <a:latin typeface="宋体" panose="02010600030101010101" pitchFamily="2" charset="-122"/>
              </a:rPr>
              <a:t>shr</a:t>
            </a:r>
            <a:r>
              <a:rPr lang="en-US" altLang="zh-CN" sz="2800" b="1">
                <a:solidFill>
                  <a:srgbClr val="0000FF"/>
                </a:solidFill>
                <a:latin typeface="宋体" panose="02010600030101010101" pitchFamily="2" charset="-122"/>
              </a:rPr>
              <a:t> al,1</a:t>
            </a:r>
            <a:r>
              <a:rPr lang="en-US" altLang="zh-CN" sz="2800" b="1">
                <a:latin typeface="宋体" panose="02010600030101010101" pitchFamily="2" charset="-122"/>
              </a:rPr>
              <a:t>	</a:t>
            </a:r>
            <a:r>
              <a:rPr lang="zh-CN" altLang="en-US" sz="2800" b="1">
                <a:latin typeface="宋体" panose="02010600030101010101" pitchFamily="2" charset="-122"/>
              </a:rPr>
              <a:t>；</a:t>
            </a:r>
            <a:r>
              <a:rPr lang="en-US" altLang="zh-CN" sz="2800" b="1">
                <a:latin typeface="宋体" panose="02010600030101010101" pitchFamily="2" charset="-122"/>
              </a:rPr>
              <a:t>al=</a:t>
            </a:r>
            <a:r>
              <a:rPr lang="en-US" altLang="zh-CN" sz="2800" b="1">
                <a:solidFill>
                  <a:srgbClr val="FF00FF"/>
                </a:solidFill>
                <a:latin typeface="宋体" panose="02010600030101010101" pitchFamily="2" charset="-122"/>
              </a:rPr>
              <a:t>70h</a:t>
            </a:r>
          </a:p>
          <a:p>
            <a:pPr marL="0" indent="390525" defTabSz="0">
              <a:lnSpc>
                <a:spcPct val="70000"/>
              </a:lnSpc>
              <a:buNone/>
              <a:tabLst>
                <a:tab pos="3342005" algn="l"/>
              </a:tabLst>
            </a:pPr>
            <a:r>
              <a:rPr lang="zh-CN" altLang="en-US" sz="2800" b="1" dirty="0">
                <a:latin typeface="宋体" panose="02010600030101010101" pitchFamily="2" charset="-122"/>
              </a:rPr>
              <a:t>      ；</a:t>
            </a:r>
            <a:r>
              <a:rPr lang="en-US" altLang="zh-CN" sz="2800" b="1">
                <a:latin typeface="宋体" panose="02010600030101010101" pitchFamily="2" charset="-122"/>
              </a:rPr>
              <a:t>CF=0</a:t>
            </a:r>
            <a:r>
              <a:rPr lang="zh-CN" altLang="en-US" sz="2800" b="1">
                <a:latin typeface="宋体" panose="02010600030101010101" pitchFamily="2" charset="-122"/>
              </a:rPr>
              <a:t>，</a:t>
            </a:r>
            <a:r>
              <a:rPr lang="en-US" altLang="zh-CN" sz="2800" b="1">
                <a:latin typeface="宋体" panose="02010600030101010101" pitchFamily="2" charset="-122"/>
              </a:rPr>
              <a:t>SF=0</a:t>
            </a:r>
            <a:r>
              <a:rPr lang="zh-CN" altLang="en-US" sz="2800" b="1">
                <a:latin typeface="宋体" panose="02010600030101010101" pitchFamily="2" charset="-122"/>
              </a:rPr>
              <a:t>、</a:t>
            </a:r>
            <a:r>
              <a:rPr lang="en-US" altLang="zh-CN" sz="2800" b="1">
                <a:latin typeface="宋体" panose="02010600030101010101" pitchFamily="2" charset="-122"/>
              </a:rPr>
              <a:t>ZF=0</a:t>
            </a:r>
            <a:r>
              <a:rPr lang="zh-CN" altLang="en-US" sz="2800" b="1">
                <a:latin typeface="宋体" panose="02010600030101010101" pitchFamily="2" charset="-122"/>
              </a:rPr>
              <a:t>、</a:t>
            </a:r>
            <a:r>
              <a:rPr lang="en-US" altLang="zh-CN" sz="2800" b="1">
                <a:latin typeface="宋体" panose="02010600030101010101" pitchFamily="2" charset="-122"/>
              </a:rPr>
              <a:t>PF=0</a:t>
            </a:r>
            <a:r>
              <a:rPr lang="zh-CN" altLang="en-US" sz="2800" b="1">
                <a:latin typeface="宋体" panose="02010600030101010101" pitchFamily="2" charset="-122"/>
              </a:rPr>
              <a:t>、</a:t>
            </a:r>
            <a:r>
              <a:rPr lang="en-US" altLang="zh-CN" sz="2800" b="1">
                <a:latin typeface="宋体" panose="02010600030101010101" pitchFamily="2" charset="-122"/>
              </a:rPr>
              <a:t>OF=1</a:t>
            </a:r>
          </a:p>
          <a:p>
            <a:pPr marL="0" indent="390525" defTabSz="0">
              <a:lnSpc>
                <a:spcPct val="70000"/>
              </a:lnSpc>
              <a:buNone/>
              <a:tabLst>
                <a:tab pos="3342005" algn="l"/>
              </a:tabLst>
            </a:pPr>
            <a:r>
              <a:rPr lang="en-US" altLang="zh-CN" sz="2800" b="1" err="1">
                <a:solidFill>
                  <a:srgbClr val="0000FF"/>
                </a:solidFill>
                <a:latin typeface="宋体" panose="02010600030101010101" pitchFamily="2" charset="-122"/>
              </a:rPr>
              <a:t>sar</a:t>
            </a:r>
            <a:r>
              <a:rPr lang="en-US" altLang="zh-CN" sz="2800" b="1">
                <a:solidFill>
                  <a:srgbClr val="0000FF"/>
                </a:solidFill>
                <a:latin typeface="宋体" panose="02010600030101010101" pitchFamily="2" charset="-122"/>
              </a:rPr>
              <a:t> al,1</a:t>
            </a:r>
            <a:r>
              <a:rPr lang="en-US" altLang="zh-CN" sz="2800" b="1">
                <a:latin typeface="宋体" panose="02010600030101010101" pitchFamily="2" charset="-122"/>
              </a:rPr>
              <a:t>	</a:t>
            </a:r>
            <a:r>
              <a:rPr lang="zh-CN" altLang="en-US" sz="2800" b="1">
                <a:latin typeface="宋体" panose="02010600030101010101" pitchFamily="2" charset="-122"/>
              </a:rPr>
              <a:t>；</a:t>
            </a:r>
            <a:r>
              <a:rPr lang="en-US" altLang="zh-CN" sz="2800" b="1">
                <a:latin typeface="宋体" panose="02010600030101010101" pitchFamily="2" charset="-122"/>
              </a:rPr>
              <a:t>al=</a:t>
            </a:r>
            <a:r>
              <a:rPr lang="en-US" altLang="zh-CN" sz="2800" b="1">
                <a:solidFill>
                  <a:srgbClr val="FF00FF"/>
                </a:solidFill>
                <a:latin typeface="宋体" panose="02010600030101010101" pitchFamily="2" charset="-122"/>
              </a:rPr>
              <a:t>38h</a:t>
            </a:r>
          </a:p>
          <a:p>
            <a:pPr marL="0" indent="390525" defTabSz="0">
              <a:lnSpc>
                <a:spcPct val="70000"/>
              </a:lnSpc>
              <a:buNone/>
              <a:tabLst>
                <a:tab pos="3342005" algn="l"/>
              </a:tabLst>
            </a:pPr>
            <a:r>
              <a:rPr lang="zh-CN" altLang="en-US" sz="2800" b="1" dirty="0">
                <a:latin typeface="宋体" panose="02010600030101010101" pitchFamily="2" charset="-122"/>
              </a:rPr>
              <a:t>      ；</a:t>
            </a:r>
            <a:r>
              <a:rPr lang="en-US" altLang="zh-CN" sz="2800" b="1">
                <a:latin typeface="宋体" panose="02010600030101010101" pitchFamily="2" charset="-122"/>
              </a:rPr>
              <a:t>CF=0</a:t>
            </a:r>
            <a:r>
              <a:rPr lang="zh-CN" altLang="en-US" sz="2800" b="1">
                <a:latin typeface="宋体" panose="02010600030101010101" pitchFamily="2" charset="-122"/>
              </a:rPr>
              <a:t>，</a:t>
            </a:r>
            <a:r>
              <a:rPr lang="en-US" altLang="zh-CN" sz="2800" b="1">
                <a:latin typeface="宋体" panose="02010600030101010101" pitchFamily="2" charset="-122"/>
              </a:rPr>
              <a:t>SF=0</a:t>
            </a:r>
            <a:r>
              <a:rPr lang="zh-CN" altLang="en-US" sz="2800" b="1">
                <a:latin typeface="宋体" panose="02010600030101010101" pitchFamily="2" charset="-122"/>
              </a:rPr>
              <a:t>、</a:t>
            </a:r>
            <a:r>
              <a:rPr lang="en-US" altLang="zh-CN" sz="2800" b="1">
                <a:latin typeface="宋体" panose="02010600030101010101" pitchFamily="2" charset="-122"/>
              </a:rPr>
              <a:t>ZF=0</a:t>
            </a:r>
            <a:r>
              <a:rPr lang="zh-CN" altLang="en-US" sz="2800" b="1">
                <a:latin typeface="宋体" panose="02010600030101010101" pitchFamily="2" charset="-122"/>
              </a:rPr>
              <a:t>、</a:t>
            </a:r>
            <a:r>
              <a:rPr lang="en-US" altLang="zh-CN" sz="2800" b="1">
                <a:latin typeface="宋体" panose="02010600030101010101" pitchFamily="2" charset="-122"/>
              </a:rPr>
              <a:t>PF=0</a:t>
            </a:r>
            <a:r>
              <a:rPr lang="zh-CN" altLang="en-US" sz="2800" b="1">
                <a:latin typeface="宋体" panose="02010600030101010101" pitchFamily="2" charset="-122"/>
              </a:rPr>
              <a:t>、</a:t>
            </a:r>
            <a:r>
              <a:rPr lang="en-US" altLang="zh-CN" sz="2800" b="1">
                <a:latin typeface="宋体" panose="02010600030101010101" pitchFamily="2" charset="-122"/>
              </a:rPr>
              <a:t>OF=0</a:t>
            </a:r>
          </a:p>
          <a:p>
            <a:pPr marL="0" indent="390525" defTabSz="0">
              <a:lnSpc>
                <a:spcPct val="70000"/>
              </a:lnSpc>
              <a:buNone/>
              <a:tabLst>
                <a:tab pos="3342005" algn="l"/>
              </a:tabLst>
            </a:pPr>
            <a:r>
              <a:rPr lang="en-US" altLang="zh-CN" sz="2800" b="1" err="1">
                <a:solidFill>
                  <a:srgbClr val="0000FF"/>
                </a:solidFill>
                <a:latin typeface="宋体" panose="02010600030101010101" pitchFamily="2" charset="-122"/>
              </a:rPr>
              <a:t>sar</a:t>
            </a:r>
            <a:r>
              <a:rPr lang="en-US" altLang="zh-CN" sz="2800" b="1">
                <a:solidFill>
                  <a:srgbClr val="0000FF"/>
                </a:solidFill>
                <a:latin typeface="宋体" panose="02010600030101010101" pitchFamily="2" charset="-122"/>
              </a:rPr>
              <a:t> </a:t>
            </a:r>
            <a:r>
              <a:rPr lang="en-US" altLang="zh-CN" sz="2800" b="1" err="1">
                <a:solidFill>
                  <a:srgbClr val="0000FF"/>
                </a:solidFill>
                <a:latin typeface="宋体" panose="02010600030101010101" pitchFamily="2" charset="-122"/>
              </a:rPr>
              <a:t>al,cl</a:t>
            </a:r>
            <a:r>
              <a:rPr lang="en-US" altLang="zh-CN" sz="2800" b="1">
                <a:latin typeface="宋体" panose="02010600030101010101" pitchFamily="2" charset="-122"/>
              </a:rPr>
              <a:t>	</a:t>
            </a:r>
            <a:r>
              <a:rPr lang="zh-CN" altLang="en-US" sz="2800" b="1">
                <a:latin typeface="宋体" panose="02010600030101010101" pitchFamily="2" charset="-122"/>
              </a:rPr>
              <a:t>；</a:t>
            </a:r>
            <a:r>
              <a:rPr lang="en-US" altLang="zh-CN" sz="2800" b="1">
                <a:latin typeface="宋体" panose="02010600030101010101" pitchFamily="2" charset="-122"/>
              </a:rPr>
              <a:t>al=</a:t>
            </a:r>
            <a:r>
              <a:rPr lang="en-US" altLang="zh-CN" sz="2800" b="1">
                <a:solidFill>
                  <a:srgbClr val="FF00FF"/>
                </a:solidFill>
                <a:latin typeface="宋体" panose="02010600030101010101" pitchFamily="2" charset="-122"/>
              </a:rPr>
              <a:t>03h</a:t>
            </a:r>
          </a:p>
          <a:p>
            <a:pPr marL="0" indent="390525" defTabSz="0">
              <a:lnSpc>
                <a:spcPct val="70000"/>
              </a:lnSpc>
              <a:buNone/>
              <a:tabLst>
                <a:tab pos="3342005" algn="l"/>
              </a:tabLst>
            </a:pPr>
            <a:r>
              <a:rPr lang="zh-CN" altLang="en-US" sz="2800" b="1" dirty="0">
                <a:latin typeface="宋体" panose="02010600030101010101" pitchFamily="2" charset="-122"/>
              </a:rPr>
              <a:t>      ；</a:t>
            </a:r>
            <a:r>
              <a:rPr lang="en-US" altLang="zh-CN" sz="2800" b="1">
                <a:latin typeface="宋体" panose="02010600030101010101" pitchFamily="2" charset="-122"/>
              </a:rPr>
              <a:t>CF=1</a:t>
            </a:r>
            <a:r>
              <a:rPr lang="zh-CN" altLang="en-US" sz="2800" b="1">
                <a:latin typeface="宋体" panose="02010600030101010101" pitchFamily="2" charset="-122"/>
              </a:rPr>
              <a:t>，</a:t>
            </a:r>
            <a:r>
              <a:rPr lang="en-US" altLang="zh-CN" sz="2800" b="1">
                <a:latin typeface="宋体" panose="02010600030101010101" pitchFamily="2" charset="-122"/>
              </a:rPr>
              <a:t>SF=0</a:t>
            </a:r>
            <a:r>
              <a:rPr lang="zh-CN" altLang="en-US" sz="2800" b="1">
                <a:latin typeface="宋体" panose="02010600030101010101" pitchFamily="2" charset="-122"/>
              </a:rPr>
              <a:t>、</a:t>
            </a:r>
            <a:r>
              <a:rPr lang="en-US" altLang="zh-CN" sz="2800" b="1">
                <a:latin typeface="宋体" panose="02010600030101010101" pitchFamily="2" charset="-122"/>
              </a:rPr>
              <a:t>ZF=0</a:t>
            </a:r>
            <a:r>
              <a:rPr lang="zh-CN" altLang="en-US" sz="2800" b="1">
                <a:latin typeface="宋体" panose="02010600030101010101" pitchFamily="2" charset="-122"/>
              </a:rPr>
              <a:t>、</a:t>
            </a:r>
            <a:r>
              <a:rPr lang="en-US" altLang="zh-CN" sz="2800" b="1">
                <a:latin typeface="宋体" panose="02010600030101010101" pitchFamily="2" charset="-122"/>
              </a:rPr>
              <a:t>PF=1 </a:t>
            </a:r>
            <a:r>
              <a:rPr lang="zh-CN" altLang="en-US" sz="2800" b="1">
                <a:latin typeface="宋体" panose="02010600030101010101" pitchFamily="2" charset="-122"/>
              </a:rPr>
              <a:t>、</a:t>
            </a:r>
            <a:r>
              <a:rPr lang="en-US" altLang="zh-CN" sz="2800" b="1">
                <a:latin typeface="宋体" panose="02010600030101010101" pitchFamily="2" charset="-122"/>
              </a:rPr>
              <a:t>OF=0</a:t>
            </a:r>
          </a:p>
        </p:txBody>
      </p:sp>
      <p:sp>
        <p:nvSpPr>
          <p:cNvPr id="462858" name="矩形 46285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384616878"/>
      </p:ext>
    </p:extLst>
  </p:cSld>
  <p:clrMapOvr>
    <a:masterClrMapping/>
  </p:clrMapOvr>
  <p:transition spd="med">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标题 463873"/>
          <p:cNvSpPr>
            <a:spLocks noGrp="1"/>
          </p:cNvSpPr>
          <p:nvPr>
            <p:ph type="title"/>
          </p:nvPr>
        </p:nvSpPr>
        <p:spPr>
          <a:xfrm>
            <a:off x="323850" y="908050"/>
            <a:ext cx="2879725" cy="504825"/>
          </a:xfrm>
          <a:ln/>
        </p:spPr>
        <p:txBody>
          <a:bodyPr vert="horz" wrap="square" lIns="91440" tIns="45720" rIns="91440" bIns="45720" anchor="t"/>
          <a:lstStyle/>
          <a:p>
            <a:pPr marL="342900" indent="-342900" algn="l">
              <a:lnSpc>
                <a:spcPct val="90000"/>
              </a:lnSpc>
              <a:spcBef>
                <a:spcPct val="20000"/>
              </a:spcBef>
            </a:pPr>
            <a:r>
              <a:rPr lang="en-US" altLang="zh-CN" sz="2400" b="1" dirty="0">
                <a:solidFill>
                  <a:schemeClr val="tx1"/>
                </a:solidFill>
              </a:rPr>
              <a:t>2</a:t>
            </a:r>
            <a:r>
              <a:rPr lang="zh-CN" altLang="en-US" sz="2400" b="1" dirty="0">
                <a:solidFill>
                  <a:schemeClr val="tx1"/>
                </a:solidFill>
              </a:rPr>
              <a:t>）循环移位指令</a:t>
            </a:r>
          </a:p>
        </p:txBody>
      </p:sp>
      <p:grpSp>
        <p:nvGrpSpPr>
          <p:cNvPr id="463875" name="组合 463874"/>
          <p:cNvGrpSpPr/>
          <p:nvPr/>
        </p:nvGrpSpPr>
        <p:grpSpPr>
          <a:xfrm>
            <a:off x="3276600" y="2011363"/>
            <a:ext cx="2632075" cy="2209800"/>
            <a:chOff x="2109" y="663"/>
            <a:chExt cx="1658" cy="1392"/>
          </a:xfrm>
        </p:grpSpPr>
        <p:sp>
          <p:nvSpPr>
            <p:cNvPr id="463876" name="椭圆 463875" descr="DI-43"/>
            <p:cNvSpPr/>
            <p:nvPr/>
          </p:nvSpPr>
          <p:spPr>
            <a:xfrm>
              <a:off x="2109" y="663"/>
              <a:ext cx="576" cy="576"/>
            </a:xfrm>
            <a:prstGeom prst="ellipse">
              <a:avLst/>
            </a:prstGeom>
            <a:blipFill rotWithShape="0">
              <a:blip r:embed="rId2"/>
              <a:stretch>
                <a:fillRect/>
              </a:stretch>
            </a:blipFill>
            <a:ln w="9525">
              <a:noFill/>
            </a:ln>
          </p:spPr>
          <p:txBody>
            <a:bodyPr wrap="none" anchor="ctr"/>
            <a:lstStyle/>
            <a:p>
              <a:pPr lvl="0" algn="ctr"/>
              <a:r>
                <a:rPr lang="en-US" altLang="zh-CN" sz="2400" b="1">
                  <a:solidFill>
                    <a:srgbClr val="0000FF"/>
                  </a:solidFill>
                  <a:effectLst>
                    <a:outerShdw blurRad="38100" dist="38100" dir="2700000">
                      <a:srgbClr val="000000"/>
                    </a:outerShdw>
                  </a:effectLst>
                  <a:latin typeface="Arial" panose="020B0604020202020204" pitchFamily="34" charset="0"/>
                  <a:ea typeface="宋体" panose="02010600030101010101" pitchFamily="2" charset="-122"/>
                </a:rPr>
                <a:t>ROL</a:t>
              </a:r>
            </a:p>
          </p:txBody>
        </p:sp>
        <p:sp>
          <p:nvSpPr>
            <p:cNvPr id="463877" name="椭圆 463876" descr="DI-43"/>
            <p:cNvSpPr/>
            <p:nvPr/>
          </p:nvSpPr>
          <p:spPr>
            <a:xfrm>
              <a:off x="2135" y="1479"/>
              <a:ext cx="576" cy="576"/>
            </a:xfrm>
            <a:prstGeom prst="ellipse">
              <a:avLst/>
            </a:prstGeom>
            <a:blipFill rotWithShape="0">
              <a:blip r:embed="rId2"/>
              <a:stretch>
                <a:fillRect/>
              </a:stretch>
            </a:blipFill>
            <a:ln w="9525">
              <a:noFill/>
            </a:ln>
          </p:spPr>
          <p:txBody>
            <a:bodyPr wrap="none" anchor="ctr"/>
            <a:lstStyle/>
            <a:p>
              <a:pPr lvl="0" algn="ctr"/>
              <a:r>
                <a:rPr lang="en-US" altLang="zh-CN" sz="2400" b="1">
                  <a:solidFill>
                    <a:srgbClr val="0000FF"/>
                  </a:solidFill>
                  <a:effectLst>
                    <a:outerShdw blurRad="38100" dist="38100" dir="2700000">
                      <a:srgbClr val="000000"/>
                    </a:outerShdw>
                  </a:effectLst>
                  <a:latin typeface="Arial" panose="020B0604020202020204" pitchFamily="34" charset="0"/>
                  <a:ea typeface="宋体" panose="02010600030101010101" pitchFamily="2" charset="-122"/>
                </a:rPr>
                <a:t>RCL</a:t>
              </a:r>
            </a:p>
          </p:txBody>
        </p:sp>
        <p:sp>
          <p:nvSpPr>
            <p:cNvPr id="463878" name="椭圆 463877" descr="DI-43"/>
            <p:cNvSpPr/>
            <p:nvPr/>
          </p:nvSpPr>
          <p:spPr>
            <a:xfrm>
              <a:off x="3191" y="1479"/>
              <a:ext cx="576" cy="576"/>
            </a:xfrm>
            <a:prstGeom prst="ellipse">
              <a:avLst/>
            </a:prstGeom>
            <a:blipFill rotWithShape="0">
              <a:blip r:embed="rId2"/>
              <a:stretch>
                <a:fillRect/>
              </a:stretch>
            </a:blipFill>
            <a:ln w="9525">
              <a:noFill/>
            </a:ln>
          </p:spPr>
          <p:txBody>
            <a:bodyPr wrap="none" anchor="ctr"/>
            <a:lstStyle/>
            <a:p>
              <a:pPr lvl="0" algn="ctr"/>
              <a:r>
                <a:rPr lang="en-US" altLang="zh-CN" sz="2400" b="1">
                  <a:solidFill>
                    <a:srgbClr val="0000FF"/>
                  </a:solidFill>
                  <a:effectLst>
                    <a:outerShdw blurRad="38100" dist="38100" dir="2700000">
                      <a:srgbClr val="000000"/>
                    </a:outerShdw>
                  </a:effectLst>
                  <a:latin typeface="Arial" panose="020B0604020202020204" pitchFamily="34" charset="0"/>
                  <a:ea typeface="宋体" panose="02010600030101010101" pitchFamily="2" charset="-122"/>
                </a:rPr>
                <a:t>RCR</a:t>
              </a:r>
            </a:p>
          </p:txBody>
        </p:sp>
        <p:sp>
          <p:nvSpPr>
            <p:cNvPr id="463879" name="椭圆 463878" descr="DI-43"/>
            <p:cNvSpPr/>
            <p:nvPr/>
          </p:nvSpPr>
          <p:spPr>
            <a:xfrm>
              <a:off x="3142" y="663"/>
              <a:ext cx="576" cy="576"/>
            </a:xfrm>
            <a:prstGeom prst="ellipse">
              <a:avLst/>
            </a:prstGeom>
            <a:blipFill rotWithShape="0">
              <a:blip r:embed="rId2"/>
              <a:stretch>
                <a:fillRect/>
              </a:stretch>
            </a:blipFill>
            <a:ln w="9525">
              <a:noFill/>
            </a:ln>
          </p:spPr>
          <p:txBody>
            <a:bodyPr wrap="none" anchor="ctr"/>
            <a:lstStyle/>
            <a:p>
              <a:pPr lvl="0" algn="ctr"/>
              <a:r>
                <a:rPr lang="en-US" altLang="zh-CN" sz="2400" b="1">
                  <a:solidFill>
                    <a:srgbClr val="0000FF"/>
                  </a:solidFill>
                  <a:effectLst>
                    <a:outerShdw blurRad="38100" dist="38100" dir="2700000">
                      <a:srgbClr val="000000"/>
                    </a:outerShdw>
                  </a:effectLst>
                  <a:latin typeface="Arial" panose="020B0604020202020204" pitchFamily="34" charset="0"/>
                  <a:ea typeface="宋体" panose="02010600030101010101" pitchFamily="2" charset="-122"/>
                </a:rPr>
                <a:t>ROR</a:t>
              </a:r>
            </a:p>
          </p:txBody>
        </p:sp>
      </p:grpSp>
      <p:sp>
        <p:nvSpPr>
          <p:cNvPr id="463880" name="文本占位符 463879"/>
          <p:cNvSpPr>
            <a:spLocks noGrp="1"/>
          </p:cNvSpPr>
          <p:nvPr>
            <p:ph type="body" idx="1"/>
          </p:nvPr>
        </p:nvSpPr>
        <p:spPr>
          <a:xfrm>
            <a:off x="683568" y="4741332"/>
            <a:ext cx="7391400" cy="991923"/>
          </a:xfrm>
          <a:ln/>
        </p:spPr>
        <p:txBody>
          <a:bodyPr/>
          <a:lstStyle/>
          <a:p>
            <a:pPr>
              <a:lnSpc>
                <a:spcPts val="3500"/>
              </a:lnSpc>
              <a:spcBef>
                <a:spcPts val="0"/>
              </a:spcBef>
              <a:buNone/>
            </a:pPr>
            <a:r>
              <a:rPr lang="zh-CN" altLang="en-US" sz="2400" b="1" dirty="0"/>
              <a:t>将操作数从一端移出的</a:t>
            </a:r>
            <a:r>
              <a:rPr lang="zh-CN" altLang="en-US" sz="2400" b="1" dirty="0">
                <a:solidFill>
                  <a:srgbClr val="0000FF"/>
                </a:solidFill>
              </a:rPr>
              <a:t>位返回</a:t>
            </a:r>
            <a:r>
              <a:rPr lang="zh-CN" altLang="en-US" sz="2400" b="1" dirty="0"/>
              <a:t>到另一端形成</a:t>
            </a:r>
            <a:r>
              <a:rPr lang="zh-CN" altLang="en-US" sz="2400" b="1" dirty="0">
                <a:solidFill>
                  <a:srgbClr val="0000FF"/>
                </a:solidFill>
              </a:rPr>
              <a:t>循环</a:t>
            </a:r>
            <a:r>
              <a:rPr lang="zh-CN" altLang="en-US" sz="2400" b="1" dirty="0"/>
              <a:t>，分成</a:t>
            </a:r>
            <a:r>
              <a:rPr lang="zh-CN" altLang="en-US" sz="2400" b="1" dirty="0">
                <a:solidFill>
                  <a:srgbClr val="0000FF"/>
                </a:solidFill>
              </a:rPr>
              <a:t>不带进位</a:t>
            </a:r>
            <a:r>
              <a:rPr lang="zh-CN" altLang="en-US" sz="2400" b="1" dirty="0"/>
              <a:t>和带进位，分别具有左移或右移操作</a:t>
            </a:r>
          </a:p>
        </p:txBody>
      </p:sp>
      <p:sp>
        <p:nvSpPr>
          <p:cNvPr id="463881" name="矩形 463880"/>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37961083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标题 464897"/>
          <p:cNvSpPr>
            <a:spLocks noGrp="1"/>
          </p:cNvSpPr>
          <p:nvPr>
            <p:ph type="title"/>
          </p:nvPr>
        </p:nvSpPr>
        <p:spPr>
          <a:xfrm>
            <a:off x="395288" y="836613"/>
            <a:ext cx="2663825" cy="549275"/>
          </a:xfrm>
          <a:ln/>
        </p:spPr>
        <p:txBody>
          <a:bodyPr anchor="ctr"/>
          <a:lstStyle/>
          <a:p>
            <a:pPr algn="l"/>
            <a:r>
              <a:rPr lang="zh-CN" altLang="en-US" sz="2400" b="1" dirty="0"/>
              <a:t>循环移位指令格式</a:t>
            </a:r>
            <a:endParaRPr lang="zh-CN" altLang="en-US" sz="2400" b="1" dirty="0">
              <a:solidFill>
                <a:schemeClr val="tx1"/>
              </a:solidFill>
            </a:endParaRPr>
          </a:p>
        </p:txBody>
      </p:sp>
      <p:sp>
        <p:nvSpPr>
          <p:cNvPr id="464899" name="流程图: 可选过程 464898"/>
          <p:cNvSpPr/>
          <p:nvPr/>
        </p:nvSpPr>
        <p:spPr>
          <a:xfrm>
            <a:off x="609600" y="1556792"/>
            <a:ext cx="7239000" cy="609600"/>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400" b="1" dirty="0">
                <a:latin typeface="宋体" panose="02010600030101010101" pitchFamily="2" charset="-122"/>
                <a:ea typeface="宋体" panose="02010600030101010101" pitchFamily="2" charset="-122"/>
              </a:rPr>
              <a:t>ROL </a:t>
            </a:r>
            <a:r>
              <a:rPr lang="en-US" altLang="zh-CN" sz="2400" b="1" dirty="0" err="1">
                <a:latin typeface="宋体" panose="02010600030101010101" pitchFamily="2" charset="-122"/>
                <a:ea typeface="宋体" panose="02010600030101010101" pitchFamily="2" charset="-122"/>
              </a:rPr>
              <a:t>reg</a:t>
            </a:r>
            <a:r>
              <a:rPr lang="en-US" altLang="zh-CN" sz="2400" b="1" dirty="0">
                <a:latin typeface="宋体" panose="02010600030101010101" pitchFamily="2" charset="-122"/>
                <a:ea typeface="宋体" panose="02010600030101010101" pitchFamily="2" charset="-122"/>
              </a:rPr>
              <a:t>/mem,1/CL</a:t>
            </a:r>
            <a:r>
              <a:rPr lang="en-US" altLang="zh-CN" sz="2400" b="1" dirty="0">
                <a:solidFill>
                  <a:schemeClr val="bg2"/>
                </a:solidFill>
                <a:latin typeface="宋体" panose="02010600030101010101" pitchFamily="2" charset="-122"/>
                <a:ea typeface="宋体" panose="02010600030101010101" pitchFamily="2" charset="-122"/>
              </a:rPr>
              <a:t>  </a:t>
            </a:r>
            <a:r>
              <a:rPr lang="zh-CN" altLang="en-US" sz="2400" b="1" dirty="0">
                <a:solidFill>
                  <a:schemeClr val="accent2"/>
                </a:solidFill>
                <a:latin typeface="宋体" panose="02010600030101010101" pitchFamily="2" charset="-122"/>
                <a:ea typeface="宋体" panose="02010600030101010101" pitchFamily="2" charset="-122"/>
              </a:rPr>
              <a:t>；不带进位循环左移</a:t>
            </a:r>
          </a:p>
        </p:txBody>
      </p:sp>
      <p:sp>
        <p:nvSpPr>
          <p:cNvPr id="464900" name="流程图: 可选过程 464899"/>
          <p:cNvSpPr/>
          <p:nvPr/>
        </p:nvSpPr>
        <p:spPr>
          <a:xfrm>
            <a:off x="609600" y="2166392"/>
            <a:ext cx="7239000" cy="609600"/>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400" b="1">
                <a:latin typeface="宋体" panose="02010600030101010101" pitchFamily="2" charset="-122"/>
                <a:ea typeface="宋体" panose="02010600030101010101" pitchFamily="2" charset="-122"/>
              </a:rPr>
              <a:t>ROR reg/mem,1/CL</a:t>
            </a:r>
            <a:r>
              <a:rPr lang="en-US" altLang="zh-CN" sz="2400" b="1">
                <a:solidFill>
                  <a:schemeClr val="bg2"/>
                </a:solidFill>
                <a:latin typeface="宋体" panose="02010600030101010101" pitchFamily="2" charset="-122"/>
                <a:ea typeface="宋体" panose="02010600030101010101" pitchFamily="2" charset="-122"/>
              </a:rPr>
              <a:t>  </a:t>
            </a:r>
            <a:r>
              <a:rPr lang="zh-CN" altLang="en-US" sz="2400" b="1">
                <a:solidFill>
                  <a:schemeClr val="accent2"/>
                </a:solidFill>
                <a:latin typeface="宋体" panose="02010600030101010101" pitchFamily="2" charset="-122"/>
                <a:ea typeface="宋体" panose="02010600030101010101" pitchFamily="2" charset="-122"/>
              </a:rPr>
              <a:t>；</a:t>
            </a:r>
            <a:r>
              <a:rPr lang="zh-CN" altLang="en-US" sz="2400" b="1" dirty="0">
                <a:solidFill>
                  <a:schemeClr val="accent2"/>
                </a:solidFill>
                <a:latin typeface="宋体" panose="02010600030101010101" pitchFamily="2" charset="-122"/>
                <a:ea typeface="宋体" panose="02010600030101010101" pitchFamily="2" charset="-122"/>
              </a:rPr>
              <a:t>不带进位循环右移</a:t>
            </a:r>
          </a:p>
        </p:txBody>
      </p:sp>
      <p:sp>
        <p:nvSpPr>
          <p:cNvPr id="464901" name="流程图: 可选过程 464900"/>
          <p:cNvSpPr/>
          <p:nvPr/>
        </p:nvSpPr>
        <p:spPr>
          <a:xfrm>
            <a:off x="609600" y="2775992"/>
            <a:ext cx="7239000" cy="609600"/>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400" b="1">
                <a:latin typeface="宋体" panose="02010600030101010101" pitchFamily="2" charset="-122"/>
                <a:ea typeface="宋体" panose="02010600030101010101" pitchFamily="2" charset="-122"/>
              </a:rPr>
              <a:t>RCL reg/mem,1/CL</a:t>
            </a:r>
            <a:r>
              <a:rPr lang="en-US" altLang="zh-CN" sz="2400" b="1">
                <a:solidFill>
                  <a:schemeClr val="bg2"/>
                </a:solidFill>
                <a:latin typeface="宋体" panose="02010600030101010101" pitchFamily="2" charset="-122"/>
                <a:ea typeface="宋体" panose="02010600030101010101" pitchFamily="2" charset="-122"/>
              </a:rPr>
              <a:t>  </a:t>
            </a:r>
            <a:r>
              <a:rPr lang="zh-CN" altLang="en-US" sz="2400" b="1">
                <a:solidFill>
                  <a:schemeClr val="accent2"/>
                </a:solidFill>
                <a:latin typeface="宋体" panose="02010600030101010101" pitchFamily="2" charset="-122"/>
                <a:ea typeface="宋体" panose="02010600030101010101" pitchFamily="2" charset="-122"/>
              </a:rPr>
              <a:t>；</a:t>
            </a:r>
            <a:r>
              <a:rPr lang="zh-CN" altLang="en-US" sz="2400" b="1" dirty="0">
                <a:solidFill>
                  <a:schemeClr val="accent2"/>
                </a:solidFill>
                <a:latin typeface="宋体" panose="02010600030101010101" pitchFamily="2" charset="-122"/>
                <a:ea typeface="宋体" panose="02010600030101010101" pitchFamily="2" charset="-122"/>
              </a:rPr>
              <a:t>带进位循环左移</a:t>
            </a:r>
          </a:p>
        </p:txBody>
      </p:sp>
      <p:sp>
        <p:nvSpPr>
          <p:cNvPr id="464902" name="流程图: 可选过程 464901"/>
          <p:cNvSpPr/>
          <p:nvPr/>
        </p:nvSpPr>
        <p:spPr>
          <a:xfrm>
            <a:off x="609600" y="3385592"/>
            <a:ext cx="7239000" cy="609600"/>
          </a:xfrm>
          <a:prstGeom prst="flowChartAlternateProcess">
            <a:avLst/>
          </a:prstGeom>
          <a:solidFill>
            <a:schemeClr val="bg1"/>
          </a:solidFill>
          <a:ln w="12700">
            <a:noFill/>
          </a:ln>
          <a:effectLst>
            <a:prstShdw prst="shdw13" dist="53882" dir="13499999">
              <a:srgbClr val="808080"/>
            </a:prstShdw>
          </a:effectLst>
        </p:spPr>
        <p:txBody>
          <a:bodyPr/>
          <a:lstStyle/>
          <a:p>
            <a:pPr lvl="0"/>
            <a:r>
              <a:rPr lang="en-US" altLang="zh-CN" sz="2400" b="1">
                <a:latin typeface="宋体" panose="02010600030101010101" pitchFamily="2" charset="-122"/>
                <a:ea typeface="宋体" panose="02010600030101010101" pitchFamily="2" charset="-122"/>
              </a:rPr>
              <a:t>RCR reg/mem,1/CL</a:t>
            </a:r>
            <a:r>
              <a:rPr lang="en-US" altLang="zh-CN" sz="2400" b="1">
                <a:solidFill>
                  <a:schemeClr val="bg2"/>
                </a:solidFill>
                <a:latin typeface="宋体" panose="02010600030101010101" pitchFamily="2" charset="-122"/>
                <a:ea typeface="宋体" panose="02010600030101010101" pitchFamily="2" charset="-122"/>
              </a:rPr>
              <a:t>  </a:t>
            </a:r>
            <a:r>
              <a:rPr lang="zh-CN" altLang="en-US" sz="2400" b="1">
                <a:solidFill>
                  <a:schemeClr val="accent2"/>
                </a:solidFill>
                <a:latin typeface="宋体" panose="02010600030101010101" pitchFamily="2" charset="-122"/>
                <a:ea typeface="宋体" panose="02010600030101010101" pitchFamily="2" charset="-122"/>
              </a:rPr>
              <a:t>；</a:t>
            </a:r>
            <a:r>
              <a:rPr lang="zh-CN" altLang="en-US" sz="2400" b="1" dirty="0">
                <a:solidFill>
                  <a:schemeClr val="accent2"/>
                </a:solidFill>
                <a:latin typeface="宋体" panose="02010600030101010101" pitchFamily="2" charset="-122"/>
                <a:ea typeface="宋体" panose="02010600030101010101" pitchFamily="2" charset="-122"/>
              </a:rPr>
              <a:t>带进位循环右移</a:t>
            </a:r>
          </a:p>
        </p:txBody>
      </p:sp>
      <p:pic>
        <p:nvPicPr>
          <p:cNvPr id="464907" name="图片 464906"/>
          <p:cNvPicPr>
            <a:picLocks noChangeAspect="1"/>
          </p:cNvPicPr>
          <p:nvPr/>
        </p:nvPicPr>
        <p:blipFill>
          <a:blip r:embed="rId2"/>
          <a:stretch>
            <a:fillRect/>
          </a:stretch>
        </p:blipFill>
        <p:spPr>
          <a:xfrm>
            <a:off x="2195513" y="4254500"/>
            <a:ext cx="5545137" cy="2087563"/>
          </a:xfrm>
          <a:prstGeom prst="rect">
            <a:avLst/>
          </a:prstGeom>
          <a:noFill/>
          <a:ln w="9525">
            <a:noFill/>
          </a:ln>
        </p:spPr>
      </p:pic>
      <p:sp>
        <p:nvSpPr>
          <p:cNvPr id="464908" name="矩形 46490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3232101787"/>
      </p:ext>
    </p:extLst>
  </p:cSld>
  <p:clrMapOvr>
    <a:masterClrMapping/>
  </p:clrMapOvr>
  <p:transition spd="med">
    <p:random/>
  </p:transition>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5922" name="标题 465921"/>
          <p:cNvSpPr>
            <a:spLocks noGrp="1"/>
          </p:cNvSpPr>
          <p:nvPr>
            <p:ph type="title"/>
          </p:nvPr>
        </p:nvSpPr>
        <p:spPr>
          <a:xfrm>
            <a:off x="395536" y="836613"/>
            <a:ext cx="3024187" cy="504825"/>
          </a:xfrm>
          <a:ln/>
        </p:spPr>
        <p:txBody>
          <a:bodyPr vert="horz" wrap="square" lIns="91440" tIns="45720" rIns="91440" bIns="45720" anchor="t"/>
          <a:lstStyle/>
          <a:p>
            <a:pPr marL="342900" indent="-342900" algn="l">
              <a:lnSpc>
                <a:spcPct val="90000"/>
              </a:lnSpc>
              <a:spcBef>
                <a:spcPct val="20000"/>
              </a:spcBef>
              <a:buClrTx/>
            </a:pPr>
            <a:r>
              <a:rPr lang="zh-CN" altLang="en-US" sz="2400" b="1" dirty="0">
                <a:solidFill>
                  <a:schemeClr val="tx1"/>
                </a:solidFill>
              </a:rPr>
              <a:t>循环移位指令</a:t>
            </a:r>
            <a:r>
              <a:rPr lang="zh-CN" altLang="en-US" sz="2400" b="1" dirty="0">
                <a:solidFill>
                  <a:srgbClr val="0000FF"/>
                </a:solidFill>
              </a:rPr>
              <a:t>说明</a:t>
            </a:r>
          </a:p>
        </p:txBody>
      </p:sp>
      <p:sp>
        <p:nvSpPr>
          <p:cNvPr id="465923" name="文本占位符 465922"/>
          <p:cNvSpPr>
            <a:spLocks noGrp="1"/>
          </p:cNvSpPr>
          <p:nvPr>
            <p:ph type="body" idx="1"/>
          </p:nvPr>
        </p:nvSpPr>
        <p:spPr>
          <a:xfrm>
            <a:off x="598488" y="1557338"/>
            <a:ext cx="8305800" cy="4319934"/>
          </a:xfrm>
          <a:ln/>
        </p:spPr>
        <p:txBody>
          <a:bodyPr/>
          <a:lstStyle/>
          <a:p>
            <a:pPr>
              <a:lnSpc>
                <a:spcPts val="3500"/>
              </a:lnSpc>
              <a:buClr>
                <a:srgbClr val="0000FF"/>
              </a:buClr>
              <a:buFont typeface="Wingdings" panose="05000000000000000000" pitchFamily="2" charset="2"/>
              <a:buChar char="ü"/>
            </a:pPr>
            <a:r>
              <a:rPr lang="zh-CN" altLang="en-US" sz="2400" b="1" dirty="0"/>
              <a:t>对于操作数：同移位指令。</a:t>
            </a:r>
          </a:p>
          <a:p>
            <a:pPr>
              <a:lnSpc>
                <a:spcPts val="3500"/>
              </a:lnSpc>
              <a:buClr>
                <a:srgbClr val="0000FF"/>
              </a:buClr>
              <a:buFont typeface="Wingdings" panose="05000000000000000000" pitchFamily="2" charset="2"/>
              <a:buChar char="ü"/>
            </a:pPr>
            <a:r>
              <a:rPr lang="zh-CN" altLang="en-US" sz="2400" b="1" dirty="0"/>
              <a:t>对于标志位的影响：</a:t>
            </a:r>
          </a:p>
          <a:p>
            <a:pPr>
              <a:lnSpc>
                <a:spcPts val="3500"/>
              </a:lnSpc>
              <a:buClrTx/>
              <a:buNone/>
            </a:pPr>
            <a:r>
              <a:rPr lang="zh-CN" altLang="en-US" sz="2400" b="1" dirty="0"/>
              <a:t>（</a:t>
            </a:r>
            <a:r>
              <a:rPr lang="en-US" altLang="zh-CN" sz="2400" b="1" dirty="0"/>
              <a:t>1</a:t>
            </a:r>
            <a:r>
              <a:rPr lang="zh-CN" altLang="en-US" sz="2400" b="1" dirty="0"/>
              <a:t>）按照指令功能设置进位标志</a:t>
            </a:r>
            <a:r>
              <a:rPr lang="en-US" altLang="zh-CN" sz="2400" b="1" dirty="0">
                <a:solidFill>
                  <a:srgbClr val="0000FF"/>
                </a:solidFill>
              </a:rPr>
              <a:t>CF</a:t>
            </a:r>
          </a:p>
          <a:p>
            <a:pPr>
              <a:lnSpc>
                <a:spcPts val="3500"/>
              </a:lnSpc>
              <a:buClrTx/>
              <a:buNone/>
            </a:pPr>
            <a:r>
              <a:rPr lang="zh-CN" altLang="en-US" sz="2400" b="1" dirty="0"/>
              <a:t>（</a:t>
            </a:r>
            <a:r>
              <a:rPr lang="en-US" altLang="zh-CN" sz="2400" b="1" dirty="0"/>
              <a:t>2</a:t>
            </a:r>
            <a:r>
              <a:rPr lang="zh-CN" altLang="en-US" sz="2400" b="1" dirty="0"/>
              <a:t>）不影响</a:t>
            </a:r>
            <a:r>
              <a:rPr lang="en-US" altLang="zh-CN" sz="2400" b="1" dirty="0">
                <a:solidFill>
                  <a:srgbClr val="FF00FF"/>
                </a:solidFill>
              </a:rPr>
              <a:t>SF</a:t>
            </a:r>
            <a:r>
              <a:rPr lang="zh-CN" altLang="en-US" sz="2400" b="1" dirty="0">
                <a:solidFill>
                  <a:srgbClr val="FF00FF"/>
                </a:solidFill>
              </a:rPr>
              <a:t>、</a:t>
            </a:r>
            <a:r>
              <a:rPr lang="en-US" altLang="zh-CN" sz="2400" b="1" dirty="0">
                <a:solidFill>
                  <a:srgbClr val="FF00FF"/>
                </a:solidFill>
              </a:rPr>
              <a:t>ZF</a:t>
            </a:r>
            <a:r>
              <a:rPr lang="zh-CN" altLang="en-US" sz="2400" b="1" dirty="0">
                <a:solidFill>
                  <a:srgbClr val="FF00FF"/>
                </a:solidFill>
              </a:rPr>
              <a:t>、</a:t>
            </a:r>
            <a:r>
              <a:rPr lang="en-US" altLang="zh-CN" sz="2400" b="1" dirty="0">
                <a:solidFill>
                  <a:srgbClr val="FF00FF"/>
                </a:solidFill>
              </a:rPr>
              <a:t>PF</a:t>
            </a:r>
            <a:r>
              <a:rPr lang="zh-CN" altLang="en-US" sz="2400" b="1" dirty="0">
                <a:solidFill>
                  <a:srgbClr val="FF00FF"/>
                </a:solidFill>
              </a:rPr>
              <a:t>、</a:t>
            </a:r>
            <a:r>
              <a:rPr lang="en-US" altLang="zh-CN" sz="2400" b="1" dirty="0">
                <a:solidFill>
                  <a:srgbClr val="FF00FF"/>
                </a:solidFill>
              </a:rPr>
              <a:t>AF</a:t>
            </a:r>
          </a:p>
          <a:p>
            <a:pPr>
              <a:lnSpc>
                <a:spcPts val="3500"/>
              </a:lnSpc>
              <a:buClrTx/>
              <a:buNone/>
            </a:pPr>
            <a:r>
              <a:rPr lang="zh-CN" altLang="en-US" sz="2400" b="1" dirty="0"/>
              <a:t>（</a:t>
            </a:r>
            <a:r>
              <a:rPr lang="en-US" altLang="zh-CN" sz="2400" b="1" dirty="0"/>
              <a:t>3</a:t>
            </a:r>
            <a:r>
              <a:rPr lang="zh-CN" altLang="en-US" sz="2400" b="1" dirty="0"/>
              <a:t>）对于</a:t>
            </a:r>
            <a:r>
              <a:rPr lang="en-US" altLang="zh-CN" sz="2400" b="1" dirty="0">
                <a:solidFill>
                  <a:srgbClr val="0000FF"/>
                </a:solidFill>
              </a:rPr>
              <a:t>OF</a:t>
            </a:r>
            <a:r>
              <a:rPr lang="zh-CN" altLang="en-US" sz="2400" b="1" dirty="0">
                <a:solidFill>
                  <a:schemeClr val="accent2"/>
                </a:solidFill>
              </a:rPr>
              <a:t>，</a:t>
            </a:r>
            <a:r>
              <a:rPr lang="zh-CN" altLang="en-US" sz="2400" b="1" dirty="0"/>
              <a:t>同移位指令。如果进行</a:t>
            </a:r>
            <a:r>
              <a:rPr lang="zh-CN" altLang="en-US" sz="2400" b="1" dirty="0">
                <a:solidFill>
                  <a:schemeClr val="accent2"/>
                </a:solidFill>
              </a:rPr>
              <a:t>一位</a:t>
            </a:r>
            <a:r>
              <a:rPr lang="zh-CN" altLang="en-US" sz="2400" b="1" dirty="0"/>
              <a:t>移动，则按照操作数的</a:t>
            </a:r>
            <a:r>
              <a:rPr lang="zh-CN" altLang="en-US" sz="2400" b="1" dirty="0">
                <a:solidFill>
                  <a:srgbClr val="FF00FF"/>
                </a:solidFill>
              </a:rPr>
              <a:t>最高符号位是否改变</a:t>
            </a:r>
            <a:r>
              <a:rPr lang="zh-CN" altLang="en-US" sz="2400" b="1" dirty="0"/>
              <a:t>，相应设置溢出标志</a:t>
            </a:r>
            <a:r>
              <a:rPr lang="en-US" altLang="zh-CN" sz="2400" b="1" dirty="0">
                <a:solidFill>
                  <a:schemeClr val="accent2"/>
                </a:solidFill>
              </a:rPr>
              <a:t>OF</a:t>
            </a:r>
            <a:r>
              <a:rPr lang="zh-CN" altLang="en-US" sz="2400" b="1" dirty="0"/>
              <a:t>：如果移位前的操作数最高位与移位后操作数的最高位</a:t>
            </a:r>
            <a:r>
              <a:rPr lang="zh-CN" altLang="en-US" sz="2400" b="1" dirty="0">
                <a:solidFill>
                  <a:srgbClr val="0000FF"/>
                </a:solidFill>
              </a:rPr>
              <a:t>不同</a:t>
            </a:r>
            <a:r>
              <a:rPr lang="zh-CN" altLang="en-US" sz="2400" b="1" dirty="0"/>
              <a:t>（有变化），则</a:t>
            </a:r>
            <a:r>
              <a:rPr lang="en-US" altLang="zh-CN" sz="2400" b="1" dirty="0"/>
              <a:t>OF = 1</a:t>
            </a:r>
            <a:r>
              <a:rPr lang="zh-CN" altLang="en-US" sz="2400" b="1" dirty="0"/>
              <a:t>；否则</a:t>
            </a:r>
            <a:r>
              <a:rPr lang="en-US" altLang="zh-CN" sz="2400" b="1" dirty="0"/>
              <a:t>OF = 0</a:t>
            </a:r>
            <a:r>
              <a:rPr lang="zh-CN" altLang="en-US" sz="2400" b="1" dirty="0"/>
              <a:t>。当移位次数</a:t>
            </a:r>
            <a:r>
              <a:rPr lang="zh-CN" altLang="en-US" sz="2400" b="1" dirty="0">
                <a:solidFill>
                  <a:srgbClr val="0000FF"/>
                </a:solidFill>
              </a:rPr>
              <a:t>大于</a:t>
            </a:r>
            <a:r>
              <a:rPr lang="en-US" altLang="zh-CN" sz="2400" b="1" dirty="0">
                <a:solidFill>
                  <a:srgbClr val="0000FF"/>
                </a:solidFill>
              </a:rPr>
              <a:t>1</a:t>
            </a:r>
            <a:r>
              <a:rPr lang="zh-CN" altLang="en-US" sz="2400" b="1" dirty="0">
                <a:solidFill>
                  <a:srgbClr val="0000FF"/>
                </a:solidFill>
              </a:rPr>
              <a:t>时</a:t>
            </a:r>
            <a:r>
              <a:rPr lang="zh-CN" altLang="en-US" sz="2400" b="1" dirty="0">
                <a:solidFill>
                  <a:schemeClr val="accent2"/>
                </a:solidFill>
              </a:rPr>
              <a:t>，</a:t>
            </a:r>
            <a:r>
              <a:rPr lang="en-US" altLang="zh-CN" sz="2400" b="1" dirty="0">
                <a:solidFill>
                  <a:srgbClr val="0000FF"/>
                </a:solidFill>
              </a:rPr>
              <a:t>OF</a:t>
            </a:r>
            <a:r>
              <a:rPr lang="zh-CN" altLang="en-US" sz="2400" b="1" dirty="0">
                <a:solidFill>
                  <a:srgbClr val="0000FF"/>
                </a:solidFill>
              </a:rPr>
              <a:t>不确定</a:t>
            </a:r>
          </a:p>
        </p:txBody>
      </p:sp>
      <p:sp>
        <p:nvSpPr>
          <p:cNvPr id="465924" name="矩形 465923"/>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2068602642"/>
      </p:ext>
    </p:extLst>
  </p:cSld>
  <p:clrMapOvr>
    <a:masterClrMapping/>
  </p:clrMapOvr>
  <p:transition spd="med">
    <p:random/>
  </p:transition>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66946" name="组合 466945"/>
          <p:cNvGrpSpPr/>
          <p:nvPr/>
        </p:nvGrpSpPr>
        <p:grpSpPr>
          <a:xfrm>
            <a:off x="5181600" y="6113463"/>
            <a:ext cx="3276600" cy="211137"/>
            <a:chOff x="1824" y="2640"/>
            <a:chExt cx="2064" cy="133"/>
          </a:xfrm>
        </p:grpSpPr>
        <p:sp>
          <p:nvSpPr>
            <p:cNvPr id="466947" name="直接连接符 466946"/>
            <p:cNvSpPr/>
            <p:nvPr/>
          </p:nvSpPr>
          <p:spPr>
            <a:xfrm>
              <a:off x="1824" y="2711"/>
              <a:ext cx="2064" cy="0"/>
            </a:xfrm>
            <a:prstGeom prst="line">
              <a:avLst/>
            </a:prstGeom>
            <a:ln w="38100" cap="flat" cmpd="sng">
              <a:solidFill>
                <a:schemeClr val="hlink"/>
              </a:solidFill>
              <a:prstDash val="solid"/>
              <a:headEnd type="none" w="med" len="med"/>
              <a:tailEnd type="none" w="med" len="med"/>
            </a:ln>
          </p:spPr>
        </p:sp>
        <p:sp>
          <p:nvSpPr>
            <p:cNvPr id="466948" name="矩形 466947"/>
            <p:cNvSpPr/>
            <p:nvPr/>
          </p:nvSpPr>
          <p:spPr>
            <a:xfrm>
              <a:off x="2592" y="2640"/>
              <a:ext cx="133" cy="133"/>
            </a:xfrm>
            <a:prstGeom prst="rect">
              <a:avLst/>
            </a:prstGeom>
            <a:solidFill>
              <a:schemeClr val="accent2"/>
            </a:solidFill>
            <a:ln w="28575" cap="flat" cmpd="sng">
              <a:solidFill>
                <a:schemeClr val="hlink"/>
              </a:solidFill>
              <a:prstDash val="solid"/>
              <a:miter/>
              <a:headEnd type="none" w="med" len="med"/>
              <a:tailEnd type="none" w="med" len="med"/>
            </a:ln>
          </p:spPr>
          <p:txBody>
            <a:bodyPr wrap="none" anchor="ctr"/>
            <a:lstStyle/>
            <a:p>
              <a:pPr lvl="0" algn="ctr"/>
              <a:endParaRPr lang="zh-CN" altLang="en-US" sz="2400" dirty="0">
                <a:latin typeface="Arial" panose="020B0604020202020204" pitchFamily="34" charset="0"/>
                <a:ea typeface="宋体" panose="02010600030101010101" pitchFamily="2" charset="-122"/>
              </a:endParaRPr>
            </a:p>
          </p:txBody>
        </p:sp>
        <p:sp>
          <p:nvSpPr>
            <p:cNvPr id="466949" name="矩形 466948"/>
            <p:cNvSpPr/>
            <p:nvPr/>
          </p:nvSpPr>
          <p:spPr>
            <a:xfrm>
              <a:off x="2784" y="2640"/>
              <a:ext cx="133" cy="133"/>
            </a:xfrm>
            <a:prstGeom prst="rect">
              <a:avLst/>
            </a:prstGeom>
            <a:solidFill>
              <a:schemeClr val="bg2"/>
            </a:solidFill>
            <a:ln w="28575" cap="flat" cmpd="sng">
              <a:solidFill>
                <a:schemeClr val="hlink"/>
              </a:solidFill>
              <a:prstDash val="solid"/>
              <a:miter/>
              <a:headEnd type="none" w="med" len="med"/>
              <a:tailEnd type="none" w="med" len="med"/>
            </a:ln>
          </p:spPr>
          <p:txBody>
            <a:bodyPr wrap="none" anchor="ctr"/>
            <a:lstStyle/>
            <a:p>
              <a:pPr lvl="0" algn="ctr"/>
              <a:endParaRPr lang="zh-CN" altLang="en-US" sz="2400" dirty="0">
                <a:latin typeface="Arial" panose="020B0604020202020204" pitchFamily="34" charset="0"/>
                <a:ea typeface="宋体" panose="02010600030101010101" pitchFamily="2" charset="-122"/>
              </a:endParaRPr>
            </a:p>
          </p:txBody>
        </p:sp>
        <p:sp>
          <p:nvSpPr>
            <p:cNvPr id="466950" name="矩形 466949"/>
            <p:cNvSpPr/>
            <p:nvPr/>
          </p:nvSpPr>
          <p:spPr>
            <a:xfrm>
              <a:off x="2976" y="2640"/>
              <a:ext cx="133" cy="133"/>
            </a:xfrm>
            <a:prstGeom prst="rect">
              <a:avLst/>
            </a:prstGeom>
            <a:solidFill>
              <a:schemeClr val="accent1"/>
            </a:solidFill>
            <a:ln w="28575" cap="flat" cmpd="sng">
              <a:solidFill>
                <a:schemeClr val="hlink"/>
              </a:solidFill>
              <a:prstDash val="solid"/>
              <a:miter/>
              <a:headEnd type="none" w="med" len="med"/>
              <a:tailEnd type="none" w="med" len="med"/>
            </a:ln>
          </p:spPr>
          <p:txBody>
            <a:bodyPr wrap="none" anchor="ctr"/>
            <a:lstStyle/>
            <a:p>
              <a:pPr lvl="0" algn="ctr"/>
              <a:endParaRPr lang="zh-CN" altLang="en-US" sz="2400" dirty="0">
                <a:latin typeface="Arial" panose="020B0604020202020204" pitchFamily="34" charset="0"/>
                <a:ea typeface="宋体" panose="02010600030101010101" pitchFamily="2" charset="-122"/>
              </a:endParaRPr>
            </a:p>
          </p:txBody>
        </p:sp>
      </p:grpSp>
      <p:grpSp>
        <p:nvGrpSpPr>
          <p:cNvPr id="466951" name="组合 466950"/>
          <p:cNvGrpSpPr/>
          <p:nvPr/>
        </p:nvGrpSpPr>
        <p:grpSpPr>
          <a:xfrm>
            <a:off x="449263" y="619125"/>
            <a:ext cx="8662987" cy="5905500"/>
            <a:chOff x="147" y="196"/>
            <a:chExt cx="5457" cy="3927"/>
          </a:xfrm>
        </p:grpSpPr>
        <p:pic>
          <p:nvPicPr>
            <p:cNvPr id="466952" name="图片 466951" descr="D2b"/>
            <p:cNvPicPr>
              <a:picLocks noChangeAspect="1"/>
            </p:cNvPicPr>
            <p:nvPr/>
          </p:nvPicPr>
          <p:blipFill>
            <a:blip r:embed="rId3">
              <a:clrChange>
                <a:clrFrom>
                  <a:srgbClr val="000100"/>
                </a:clrFrom>
                <a:clrTo>
                  <a:srgbClr val="000100">
                    <a:alpha val="0"/>
                  </a:srgbClr>
                </a:clrTo>
              </a:clrChange>
            </a:blip>
            <a:stretch>
              <a:fillRect/>
            </a:stretch>
          </p:blipFill>
          <p:spPr>
            <a:xfrm>
              <a:off x="186" y="790"/>
              <a:ext cx="325" cy="2985"/>
            </a:xfrm>
            <a:prstGeom prst="rect">
              <a:avLst/>
            </a:prstGeom>
            <a:noFill/>
            <a:ln w="9525">
              <a:noFill/>
            </a:ln>
          </p:spPr>
        </p:pic>
        <p:pic>
          <p:nvPicPr>
            <p:cNvPr id="466953" name="图片 466952" descr="D2a"/>
            <p:cNvPicPr>
              <a:picLocks noChangeAspect="1"/>
            </p:cNvPicPr>
            <p:nvPr/>
          </p:nvPicPr>
          <p:blipFill>
            <a:blip r:embed="rId4">
              <a:clrChange>
                <a:clrFrom>
                  <a:srgbClr val="010001"/>
                </a:clrFrom>
                <a:clrTo>
                  <a:srgbClr val="010001">
                    <a:alpha val="0"/>
                  </a:srgbClr>
                </a:clrTo>
              </a:clrChange>
            </a:blip>
            <a:stretch>
              <a:fillRect/>
            </a:stretch>
          </p:blipFill>
          <p:spPr>
            <a:xfrm>
              <a:off x="147" y="196"/>
              <a:ext cx="5457" cy="862"/>
            </a:xfrm>
            <a:prstGeom prst="rect">
              <a:avLst/>
            </a:prstGeom>
            <a:noFill/>
            <a:ln w="9525">
              <a:noFill/>
            </a:ln>
          </p:spPr>
        </p:pic>
        <p:pic>
          <p:nvPicPr>
            <p:cNvPr id="466954" name="图片 466953" descr="D2b"/>
            <p:cNvPicPr>
              <a:picLocks noChangeAspect="1"/>
            </p:cNvPicPr>
            <p:nvPr/>
          </p:nvPicPr>
          <p:blipFill>
            <a:blip r:embed="rId3">
              <a:clrChange>
                <a:clrFrom>
                  <a:srgbClr val="000100"/>
                </a:clrFrom>
                <a:clrTo>
                  <a:srgbClr val="000100">
                    <a:alpha val="0"/>
                  </a:srgbClr>
                </a:clrTo>
              </a:clrChange>
            </a:blip>
            <a:stretch>
              <a:fillRect/>
            </a:stretch>
          </p:blipFill>
          <p:spPr>
            <a:xfrm>
              <a:off x="5270" y="1047"/>
              <a:ext cx="325" cy="2985"/>
            </a:xfrm>
            <a:prstGeom prst="rect">
              <a:avLst/>
            </a:prstGeom>
            <a:noFill/>
            <a:ln w="9525">
              <a:noFill/>
            </a:ln>
          </p:spPr>
        </p:pic>
        <p:pic>
          <p:nvPicPr>
            <p:cNvPr id="466955" name="图片 466954" descr="D2c"/>
            <p:cNvPicPr/>
            <p:nvPr/>
          </p:nvPicPr>
          <p:blipFill>
            <a:blip r:embed="rId5">
              <a:clrChange>
                <a:clrFrom>
                  <a:srgbClr val="000000"/>
                </a:clrFrom>
                <a:clrTo>
                  <a:srgbClr val="000000">
                    <a:alpha val="0"/>
                  </a:srgbClr>
                </a:clrTo>
              </a:clrChange>
            </a:blip>
            <a:stretch>
              <a:fillRect/>
            </a:stretch>
          </p:blipFill>
          <p:spPr>
            <a:xfrm>
              <a:off x="189" y="3727"/>
              <a:ext cx="5411" cy="396"/>
            </a:xfrm>
            <a:prstGeom prst="rect">
              <a:avLst/>
            </a:prstGeom>
            <a:noFill/>
            <a:ln w="9525">
              <a:noFill/>
            </a:ln>
          </p:spPr>
        </p:pic>
        <p:sp>
          <p:nvSpPr>
            <p:cNvPr id="466956" name="矩形 466955"/>
            <p:cNvSpPr/>
            <p:nvPr/>
          </p:nvSpPr>
          <p:spPr>
            <a:xfrm>
              <a:off x="3294" y="3696"/>
              <a:ext cx="2064" cy="212"/>
            </a:xfrm>
            <a:prstGeom prst="rect">
              <a:avLst/>
            </a:prstGeom>
            <a:solidFill>
              <a:schemeClr val="bg1"/>
            </a:solidFill>
            <a:ln w="9525">
              <a:noFill/>
            </a:ln>
          </p:spPr>
          <p:txBody>
            <a:bodyPr/>
            <a:lstStyle/>
            <a:p>
              <a:endParaRPr lang="zh-CN" altLang="en-US"/>
            </a:p>
          </p:txBody>
        </p:sp>
      </p:grpSp>
      <p:sp>
        <p:nvSpPr>
          <p:cNvPr id="466958" name="圆角矩形 466957"/>
          <p:cNvSpPr/>
          <p:nvPr/>
        </p:nvSpPr>
        <p:spPr>
          <a:xfrm>
            <a:off x="915987" y="4974445"/>
            <a:ext cx="7777163" cy="1219200"/>
          </a:xfrm>
          <a:prstGeom prst="roundRect">
            <a:avLst>
              <a:gd name="adj" fmla="val 16667"/>
            </a:avLst>
          </a:prstGeom>
          <a:solidFill>
            <a:schemeClr val="bg1"/>
          </a:solidFill>
          <a:ln w="9525" cap="flat" cmpd="sng">
            <a:solidFill>
              <a:schemeClr val="accent2"/>
            </a:solidFill>
            <a:prstDash val="solid"/>
            <a:headEnd type="none" w="med" len="med"/>
            <a:tailEnd type="none" w="med" len="med"/>
          </a:ln>
        </p:spPr>
        <p:txBody>
          <a:bodyPr anchor="ctr"/>
          <a:lstStyle/>
          <a:p>
            <a:pPr lvl="0" algn="just">
              <a:buClrTx/>
              <a:buBlip>
                <a:blip r:embed="rId6"/>
              </a:buBlip>
            </a:pPr>
            <a:r>
              <a:rPr lang="zh-CN" altLang="en-US" sz="2400" b="1" dirty="0">
                <a:solidFill>
                  <a:schemeClr val="tx2"/>
                </a:solidFill>
                <a:latin typeface="Arial" panose="020B0604020202020204" pitchFamily="34" charset="0"/>
                <a:ea typeface="宋体" panose="02010600030101010101" pitchFamily="2" charset="-122"/>
              </a:rPr>
              <a:t>只要左移以后的数未超出一个字节或字的范围</a:t>
            </a:r>
          </a:p>
          <a:p>
            <a:pPr lvl="0" algn="just">
              <a:buClrTx/>
              <a:buBlip>
                <a:blip r:embed="rId6"/>
              </a:buBlip>
            </a:pPr>
            <a:r>
              <a:rPr lang="zh-CN" altLang="en-US" sz="2400" b="1" dirty="0">
                <a:solidFill>
                  <a:schemeClr val="tx2"/>
                </a:solidFill>
                <a:latin typeface="Arial" panose="020B0604020202020204" pitchFamily="34" charset="0"/>
                <a:ea typeface="宋体" panose="02010600030101010101" pitchFamily="2" charset="-122"/>
              </a:rPr>
              <a:t>逻辑左移一位相当于无符号数</a:t>
            </a:r>
            <a:r>
              <a:rPr lang="zh-CN" altLang="en-US" sz="2400" b="1" dirty="0">
                <a:solidFill>
                  <a:srgbClr val="0000FF"/>
                </a:solidFill>
                <a:latin typeface="Arial" panose="020B0604020202020204" pitchFamily="34" charset="0"/>
                <a:ea typeface="宋体" panose="02010600030101010101" pitchFamily="2" charset="-122"/>
              </a:rPr>
              <a:t>乘以</a:t>
            </a:r>
            <a:r>
              <a:rPr lang="en-US" altLang="zh-CN" sz="2400" b="1" dirty="0">
                <a:solidFill>
                  <a:srgbClr val="0000FF"/>
                </a:solidFill>
                <a:latin typeface="Arial" panose="020B0604020202020204" pitchFamily="34" charset="0"/>
                <a:ea typeface="宋体" panose="02010600030101010101" pitchFamily="2" charset="-122"/>
              </a:rPr>
              <a:t>2</a:t>
            </a:r>
          </a:p>
          <a:p>
            <a:pPr lvl="0" algn="just">
              <a:buClrTx/>
              <a:buBlip>
                <a:blip r:embed="rId6"/>
              </a:buBlip>
            </a:pPr>
            <a:r>
              <a:rPr lang="zh-CN" altLang="en-US" sz="2400" b="1" dirty="0">
                <a:solidFill>
                  <a:schemeClr val="tx2"/>
                </a:solidFill>
                <a:latin typeface="Arial" panose="020B0604020202020204" pitchFamily="34" charset="0"/>
                <a:ea typeface="宋体" panose="02010600030101010101" pitchFamily="2" charset="-122"/>
              </a:rPr>
              <a:t>逻辑右移一位相当于无符号数</a:t>
            </a:r>
            <a:r>
              <a:rPr lang="zh-CN" altLang="en-US" sz="2400" b="1" dirty="0">
                <a:solidFill>
                  <a:srgbClr val="0000FF"/>
                </a:solidFill>
                <a:latin typeface="Arial" panose="020B0604020202020204" pitchFamily="34" charset="0"/>
                <a:ea typeface="宋体" panose="02010600030101010101" pitchFamily="2" charset="-122"/>
              </a:rPr>
              <a:t>除以</a:t>
            </a:r>
            <a:r>
              <a:rPr lang="en-US" altLang="zh-CN" sz="2400" b="1" dirty="0">
                <a:solidFill>
                  <a:srgbClr val="0000FF"/>
                </a:solidFill>
                <a:latin typeface="Arial" panose="020B0604020202020204" pitchFamily="34" charset="0"/>
                <a:ea typeface="宋体" panose="02010600030101010101" pitchFamily="2" charset="-122"/>
              </a:rPr>
              <a:t>2</a:t>
            </a:r>
          </a:p>
        </p:txBody>
      </p:sp>
      <p:sp>
        <p:nvSpPr>
          <p:cNvPr id="466959" name="矩形 466958"/>
          <p:cNvSpPr/>
          <p:nvPr/>
        </p:nvSpPr>
        <p:spPr>
          <a:xfrm>
            <a:off x="34851" y="717475"/>
            <a:ext cx="3488605" cy="2160588"/>
          </a:xfrm>
          <a:prstGeom prst="rect">
            <a:avLst/>
          </a:prstGeom>
          <a:solidFill>
            <a:schemeClr val="bg1"/>
          </a:solidFill>
          <a:ln w="9525">
            <a:noFill/>
          </a:ln>
        </p:spPr>
        <p:txBody>
          <a:bodyPr/>
          <a:lstStyle>
            <a:lvl1pPr marL="0" lvl="0" indent="0" algn="ctr" defTabSz="914400" eaLnBrk="1" fontAlgn="base" latinLnBrk="0" hangingPunct="1">
              <a:lnSpc>
                <a:spcPct val="100000"/>
              </a:lnSpc>
              <a:spcBef>
                <a:spcPct val="20000"/>
              </a:spcBef>
              <a:spcAft>
                <a:spcPct val="0"/>
              </a:spcAft>
              <a:buNone/>
              <a:defRPr sz="3200" b="0" i="0" u="none" kern="1200" baseline="0">
                <a:solidFill>
                  <a:schemeClr val="tx1"/>
                </a:solidFill>
                <a:latin typeface="Arial" panose="020B0604020202020204" pitchFamily="34" charset="0"/>
                <a:ea typeface="宋体" panose="02010600030101010101" pitchFamily="2" charset="-122"/>
              </a:defRPr>
            </a:lvl1pPr>
            <a:lvl2pPr marL="457200" lvl="1" indent="0" algn="ctr">
              <a:buNone/>
              <a:defRPr sz="2800" kern="1200"/>
            </a:lvl2pPr>
            <a:lvl3pPr marL="914400" lvl="2" indent="0" algn="ctr">
              <a:buNone/>
              <a:defRPr sz="2400" kern="1200"/>
            </a:lvl3pPr>
            <a:lvl4pPr marL="1371600" lvl="3" indent="0" algn="ctr">
              <a:buNone/>
              <a:defRPr sz="2000" kern="1200"/>
            </a:lvl4pPr>
            <a:lvl5pPr marL="1828800" lvl="4" indent="0" algn="ctr">
              <a:buNone/>
              <a:defRPr kern="1200"/>
            </a:lvl5pPr>
          </a:lstStyle>
          <a:p>
            <a:pPr lvl="0" algn="l" defTabSz="0">
              <a:lnSpc>
                <a:spcPct val="90000"/>
              </a:lnSpc>
              <a:tabLst>
                <a:tab pos="3342005" algn="l"/>
              </a:tabLst>
            </a:pPr>
            <a:r>
              <a:rPr lang="zh-CN" altLang="en-US" sz="2400" b="1" dirty="0"/>
              <a:t>示例：用移位指令实现乘法。</a:t>
            </a:r>
            <a:r>
              <a:rPr lang="zh-CN" altLang="en-US" sz="2400" b="1" dirty="0">
                <a:latin typeface="宋体" panose="02010600030101010101" pitchFamily="2" charset="-122"/>
              </a:rPr>
              <a:t>实现</a:t>
            </a:r>
            <a:r>
              <a:rPr lang="en-US" altLang="zh-CN" sz="2400" b="1" dirty="0">
                <a:latin typeface="宋体" panose="02010600030101010101" pitchFamily="2" charset="-122"/>
              </a:rPr>
              <a:t>16</a:t>
            </a:r>
            <a:r>
              <a:rPr lang="zh-CN" altLang="en-US" sz="2400" b="1" dirty="0">
                <a:latin typeface="宋体" panose="02010600030101010101" pitchFamily="2" charset="-122"/>
              </a:rPr>
              <a:t>位无符号数</a:t>
            </a:r>
            <a:r>
              <a:rPr lang="en-US" altLang="zh-CN" sz="2400" b="1" dirty="0">
                <a:solidFill>
                  <a:srgbClr val="FF00FF"/>
                </a:solidFill>
                <a:latin typeface="宋体" panose="02010600030101010101" pitchFamily="2" charset="-122"/>
              </a:rPr>
              <a:t>X</a:t>
            </a:r>
            <a:r>
              <a:rPr lang="zh-CN" altLang="en-US" sz="2400" b="1" dirty="0">
                <a:solidFill>
                  <a:srgbClr val="FF00FF"/>
                </a:solidFill>
                <a:latin typeface="宋体" panose="02010600030101010101" pitchFamily="2" charset="-122"/>
              </a:rPr>
              <a:t>＊</a:t>
            </a:r>
            <a:r>
              <a:rPr lang="en-US" altLang="zh-CN" sz="2400" b="1" dirty="0">
                <a:solidFill>
                  <a:srgbClr val="FF00FF"/>
                </a:solidFill>
                <a:latin typeface="宋体" panose="02010600030101010101" pitchFamily="2" charset="-122"/>
              </a:rPr>
              <a:t>10</a:t>
            </a:r>
            <a:r>
              <a:rPr lang="zh-CN" altLang="en-US" sz="2400" b="1" dirty="0">
                <a:latin typeface="宋体" panose="02010600030101010101" pitchFamily="2" charset="-122"/>
              </a:rPr>
              <a:t>的运算</a:t>
            </a:r>
          </a:p>
          <a:p>
            <a:pPr lvl="0" algn="l" defTabSz="0">
              <a:lnSpc>
                <a:spcPct val="90000"/>
              </a:lnSpc>
              <a:tabLst>
                <a:tab pos="3342005" algn="l"/>
              </a:tabLst>
            </a:pPr>
            <a:r>
              <a:rPr lang="zh-CN" altLang="en-US" sz="2400" b="1" dirty="0">
                <a:latin typeface="宋体" panose="02010600030101010101" pitchFamily="2" charset="-122"/>
              </a:rPr>
              <a:t>（</a:t>
            </a:r>
            <a:r>
              <a:rPr lang="en-US" altLang="zh-CN" sz="2400" b="1" dirty="0">
                <a:latin typeface="宋体" panose="02010600030101010101" pitchFamily="2" charset="-122"/>
              </a:rPr>
              <a:t>1</a:t>
            </a:r>
            <a:r>
              <a:rPr lang="zh-CN" altLang="en-US" sz="2400" b="1" dirty="0">
                <a:latin typeface="宋体" panose="02010600030101010101" pitchFamily="2" charset="-122"/>
              </a:rPr>
              <a:t>）用乘法指令</a:t>
            </a:r>
          </a:p>
          <a:p>
            <a:pPr lvl="0" algn="l" defTabSz="0">
              <a:lnSpc>
                <a:spcPct val="90000"/>
              </a:lnSpc>
              <a:tabLst>
                <a:tab pos="3342005" algn="l"/>
              </a:tabLst>
            </a:pPr>
            <a:r>
              <a:rPr lang="zh-CN" altLang="en-US" sz="2400" b="1" dirty="0">
                <a:latin typeface="宋体" panose="02010600030101010101" pitchFamily="2" charset="-122"/>
              </a:rPr>
              <a:t>（</a:t>
            </a:r>
            <a:r>
              <a:rPr lang="en-US" altLang="zh-CN" sz="2400" b="1" dirty="0">
                <a:latin typeface="宋体" panose="02010600030101010101" pitchFamily="2" charset="-122"/>
              </a:rPr>
              <a:t>2</a:t>
            </a:r>
            <a:r>
              <a:rPr lang="zh-CN" altLang="en-US" sz="2400" b="1" dirty="0">
                <a:latin typeface="宋体" panose="02010600030101010101" pitchFamily="2" charset="-122"/>
              </a:rPr>
              <a:t>）用移位与加法指令</a:t>
            </a:r>
          </a:p>
        </p:txBody>
      </p:sp>
      <p:sp>
        <p:nvSpPr>
          <p:cNvPr id="466960" name="矩形 466959"/>
          <p:cNvSpPr/>
          <p:nvPr/>
        </p:nvSpPr>
        <p:spPr>
          <a:xfrm>
            <a:off x="4321969" y="1602476"/>
            <a:ext cx="4368800" cy="3167062"/>
          </a:xfrm>
          <a:prstGeom prst="rect">
            <a:avLst/>
          </a:prstGeom>
          <a:solidFill>
            <a:schemeClr val="bg1"/>
          </a:solidFill>
          <a:ln w="9525">
            <a:noFill/>
          </a:ln>
        </p:spPr>
        <p:txBody>
          <a:bodyPr>
            <a:spAutoFit/>
          </a:bodyPr>
          <a:lstStyle/>
          <a:p>
            <a:pPr lvl="0">
              <a:lnSpc>
                <a:spcPct val="60000"/>
              </a:lnSpc>
              <a:spcBef>
                <a:spcPct val="50000"/>
              </a:spcBef>
              <a:buClr>
                <a:schemeClr val="accent2"/>
              </a:buClr>
              <a:buSzPct val="90000"/>
              <a:buFont typeface="Wingdings" panose="05000000000000000000" pitchFamily="2" charset="2"/>
              <a:buNone/>
            </a:pPr>
            <a:r>
              <a:rPr lang="en-US" altLang="zh-CN" sz="2800" b="1" dirty="0" err="1">
                <a:latin typeface="宋体" panose="02010600030101010101" pitchFamily="2" charset="-122"/>
                <a:ea typeface="宋体" panose="02010600030101010101" pitchFamily="2" charset="-122"/>
              </a:rPr>
              <a:t>mov</a:t>
            </a: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ax,x</a:t>
            </a:r>
            <a:endParaRPr lang="en-US" altLang="zh-CN" sz="2800" b="1" dirty="0">
              <a:latin typeface="宋体" panose="02010600030101010101" pitchFamily="2" charset="-122"/>
              <a:ea typeface="宋体" panose="02010600030101010101" pitchFamily="2" charset="-122"/>
            </a:endParaRPr>
          </a:p>
          <a:p>
            <a:pPr lvl="0">
              <a:lnSpc>
                <a:spcPct val="60000"/>
              </a:lnSpc>
              <a:spcBef>
                <a:spcPct val="50000"/>
              </a:spcBef>
              <a:buClr>
                <a:schemeClr val="accent2"/>
              </a:buClr>
              <a:buSzPct val="90000"/>
              <a:buFont typeface="Wingdings" panose="05000000000000000000" pitchFamily="2" charset="2"/>
              <a:buNone/>
            </a:pPr>
            <a:r>
              <a:rPr lang="en-US" altLang="zh-CN" sz="2800" b="1" dirty="0" err="1">
                <a:solidFill>
                  <a:srgbClr val="0000FF"/>
                </a:solidFill>
                <a:latin typeface="宋体" panose="02010600030101010101" pitchFamily="2" charset="-122"/>
                <a:ea typeface="宋体" panose="02010600030101010101" pitchFamily="2" charset="-122"/>
              </a:rPr>
              <a:t>shl</a:t>
            </a:r>
            <a:r>
              <a:rPr lang="en-US" altLang="zh-CN" sz="2800" b="1" dirty="0">
                <a:solidFill>
                  <a:srgbClr val="0000FF"/>
                </a:solidFill>
                <a:latin typeface="宋体" panose="02010600030101010101" pitchFamily="2" charset="-122"/>
                <a:ea typeface="宋体" panose="02010600030101010101" pitchFamily="2" charset="-122"/>
              </a:rPr>
              <a:t> ax,1</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ax← ax×2</a:t>
            </a:r>
          </a:p>
          <a:p>
            <a:pPr lvl="0">
              <a:lnSpc>
                <a:spcPct val="60000"/>
              </a:lnSpc>
              <a:spcBef>
                <a:spcPct val="50000"/>
              </a:spcBef>
              <a:buClr>
                <a:schemeClr val="accent2"/>
              </a:buClr>
              <a:buSzPct val="90000"/>
              <a:buFont typeface="Wingdings" panose="05000000000000000000" pitchFamily="2" charset="2"/>
              <a:buNone/>
            </a:pPr>
            <a:r>
              <a:rPr lang="en-US" altLang="zh-CN" sz="2800" b="1" dirty="0" err="1">
                <a:latin typeface="宋体" panose="02010600030101010101" pitchFamily="2" charset="-122"/>
                <a:ea typeface="宋体" panose="02010600030101010101" pitchFamily="2" charset="-122"/>
              </a:rPr>
              <a:t>Mov</a:t>
            </a: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bx,x</a:t>
            </a:r>
            <a:endParaRPr lang="en-US" altLang="zh-CN" sz="2800" b="1" dirty="0">
              <a:latin typeface="宋体" panose="02010600030101010101" pitchFamily="2" charset="-122"/>
              <a:ea typeface="宋体" panose="02010600030101010101" pitchFamily="2" charset="-122"/>
            </a:endParaRPr>
          </a:p>
          <a:p>
            <a:pPr lvl="0">
              <a:lnSpc>
                <a:spcPct val="60000"/>
              </a:lnSpc>
              <a:spcBef>
                <a:spcPct val="50000"/>
              </a:spcBef>
              <a:buClr>
                <a:schemeClr val="accent2"/>
              </a:buClr>
              <a:buSzPct val="90000"/>
              <a:buFont typeface="Wingdings" panose="05000000000000000000" pitchFamily="2" charset="2"/>
              <a:buNone/>
            </a:pPr>
            <a:r>
              <a:rPr lang="en-US" altLang="zh-CN" sz="2800" b="1" dirty="0" err="1">
                <a:latin typeface="宋体" panose="02010600030101010101" pitchFamily="2" charset="-122"/>
                <a:ea typeface="宋体" panose="02010600030101010101" pitchFamily="2" charset="-122"/>
              </a:rPr>
              <a:t>Mov</a:t>
            </a:r>
            <a:r>
              <a:rPr lang="en-US" altLang="zh-CN" sz="2800" b="1" dirty="0">
                <a:latin typeface="宋体" panose="02010600030101010101" pitchFamily="2" charset="-122"/>
                <a:ea typeface="宋体" panose="02010600030101010101" pitchFamily="2" charset="-122"/>
              </a:rPr>
              <a:t> cl,3</a:t>
            </a:r>
          </a:p>
          <a:p>
            <a:pPr lvl="0">
              <a:lnSpc>
                <a:spcPct val="60000"/>
              </a:lnSpc>
              <a:spcBef>
                <a:spcPct val="50000"/>
              </a:spcBef>
              <a:buClr>
                <a:schemeClr val="accent2"/>
              </a:buClr>
              <a:buSzPct val="90000"/>
              <a:buFont typeface="Wingdings" panose="05000000000000000000" pitchFamily="2" charset="2"/>
              <a:buNone/>
            </a:pPr>
            <a:r>
              <a:rPr lang="en-US" altLang="zh-CN" sz="2800" b="1" dirty="0" err="1">
                <a:solidFill>
                  <a:srgbClr val="0000FF"/>
                </a:solidFill>
                <a:latin typeface="宋体" panose="02010600030101010101" pitchFamily="2" charset="-122"/>
                <a:ea typeface="宋体" panose="02010600030101010101" pitchFamily="2" charset="-122"/>
              </a:rPr>
              <a:t>shl</a:t>
            </a:r>
            <a:r>
              <a:rPr lang="en-US" altLang="zh-CN" sz="2800" b="1" dirty="0">
                <a:solidFill>
                  <a:srgbClr val="0000FF"/>
                </a:solidFill>
                <a:latin typeface="宋体" panose="02010600030101010101" pitchFamily="2" charset="-122"/>
                <a:ea typeface="宋体" panose="02010600030101010101" pitchFamily="2" charset="-122"/>
              </a:rPr>
              <a:t> </a:t>
            </a:r>
            <a:r>
              <a:rPr lang="en-US" altLang="zh-CN" sz="2800" b="1" dirty="0" err="1">
                <a:solidFill>
                  <a:srgbClr val="0000FF"/>
                </a:solidFill>
                <a:latin typeface="宋体" panose="02010600030101010101" pitchFamily="2" charset="-122"/>
                <a:ea typeface="宋体" panose="02010600030101010101" pitchFamily="2" charset="-122"/>
              </a:rPr>
              <a:t>bx,cl</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bx</a:t>
            </a:r>
            <a:r>
              <a:rPr lang="en-US" altLang="zh-CN" sz="2800" b="1" dirty="0">
                <a:latin typeface="宋体" panose="02010600030101010101" pitchFamily="2" charset="-122"/>
                <a:ea typeface="宋体" panose="02010600030101010101" pitchFamily="2" charset="-122"/>
              </a:rPr>
              <a:t>← bx×8</a:t>
            </a:r>
          </a:p>
          <a:p>
            <a:pPr lvl="0">
              <a:lnSpc>
                <a:spcPct val="60000"/>
              </a:lnSpc>
              <a:spcBef>
                <a:spcPct val="50000"/>
              </a:spcBef>
              <a:buClr>
                <a:schemeClr val="accent2"/>
              </a:buClr>
              <a:buSzPct val="90000"/>
              <a:buFont typeface="Wingdings" panose="05000000000000000000" pitchFamily="2" charset="2"/>
              <a:buNone/>
            </a:pPr>
            <a:r>
              <a:rPr lang="en-US" altLang="zh-CN" sz="2800" b="1" dirty="0">
                <a:solidFill>
                  <a:srgbClr val="FF00FF"/>
                </a:solidFill>
                <a:latin typeface="宋体" panose="02010600030101010101" pitchFamily="2" charset="-122"/>
                <a:ea typeface="宋体" panose="02010600030101010101" pitchFamily="2" charset="-122"/>
              </a:rPr>
              <a:t>add </a:t>
            </a:r>
            <a:r>
              <a:rPr lang="en-US" altLang="zh-CN" sz="2800" b="1" dirty="0" err="1">
                <a:solidFill>
                  <a:srgbClr val="FF00FF"/>
                </a:solidFill>
                <a:latin typeface="宋体" panose="02010600030101010101" pitchFamily="2" charset="-122"/>
                <a:ea typeface="宋体" panose="02010600030101010101" pitchFamily="2" charset="-122"/>
              </a:rPr>
              <a:t>bx,ax</a:t>
            </a:r>
            <a:r>
              <a:rPr lang="en-US" altLang="zh-CN" sz="2800" b="1" dirty="0">
                <a:latin typeface="宋体" panose="02010600030101010101" pitchFamily="2" charset="-122"/>
                <a:ea typeface="宋体" panose="02010600030101010101" pitchFamily="2" charset="-122"/>
              </a:rPr>
              <a:t>	</a:t>
            </a:r>
          </a:p>
          <a:p>
            <a:pPr lvl="0">
              <a:lnSpc>
                <a:spcPct val="60000"/>
              </a:lnSpc>
              <a:spcBef>
                <a:spcPct val="50000"/>
              </a:spcBef>
              <a:buClr>
                <a:schemeClr val="accent2"/>
              </a:buClr>
              <a:buSzPct val="90000"/>
              <a:buFont typeface="Wingdings" panose="05000000000000000000" pitchFamily="2" charset="2"/>
              <a:buNone/>
            </a:pPr>
            <a:r>
              <a:rPr lang="en-US" altLang="zh-CN" sz="2800" b="1" dirty="0" err="1">
                <a:latin typeface="宋体" panose="02010600030101010101" pitchFamily="2" charset="-122"/>
                <a:ea typeface="宋体" panose="02010600030101010101" pitchFamily="2" charset="-122"/>
              </a:rPr>
              <a:t>Mov</a:t>
            </a: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x,bx</a:t>
            </a:r>
            <a:endParaRPr lang="en-US" altLang="zh-CN" sz="2800" b="1" dirty="0">
              <a:latin typeface="宋体" panose="02010600030101010101" pitchFamily="2" charset="-122"/>
              <a:ea typeface="宋体" panose="02010600030101010101" pitchFamily="2" charset="-122"/>
            </a:endParaRPr>
          </a:p>
        </p:txBody>
      </p:sp>
      <p:sp>
        <p:nvSpPr>
          <p:cNvPr id="466961" name="矩形 466960"/>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3218130342"/>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6960"/>
                                        </p:tgtEl>
                                        <p:attrNameLst>
                                          <p:attrName>style.visibility</p:attrName>
                                        </p:attrNameLst>
                                      </p:cBhvr>
                                      <p:to>
                                        <p:strVal val="visible"/>
                                      </p:to>
                                    </p:set>
                                    <p:anim calcmode="lin" valueType="num">
                                      <p:cBhvr additive="base">
                                        <p:cTn id="7" dur="500" fill="hold"/>
                                        <p:tgtEl>
                                          <p:spTgt spid="466960"/>
                                        </p:tgtEl>
                                        <p:attrNameLst>
                                          <p:attrName>ppt_x</p:attrName>
                                        </p:attrNameLst>
                                      </p:cBhvr>
                                      <p:tavLst>
                                        <p:tav tm="0">
                                          <p:val>
                                            <p:strVal val="0-#ppt_w/2"/>
                                          </p:val>
                                        </p:tav>
                                        <p:tav tm="100000">
                                          <p:val>
                                            <p:strVal val="#ppt_x"/>
                                          </p:val>
                                        </p:tav>
                                      </p:tavLst>
                                    </p:anim>
                                    <p:anim calcmode="lin" valueType="num">
                                      <p:cBhvr additive="base">
                                        <p:cTn id="8" dur="500" fill="hold"/>
                                        <p:tgtEl>
                                          <p:spTgt spid="4669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type="wd">
                                    <p:tmPct val="100000"/>
                                  </p:iterate>
                                  <p:childTnLst>
                                    <p:set>
                                      <p:cBhvr>
                                        <p:cTn id="12" dur="1" fill="hold">
                                          <p:stCondLst>
                                            <p:cond delay="0"/>
                                          </p:stCondLst>
                                        </p:cTn>
                                        <p:tgtEl>
                                          <p:spTgt spid="466958"/>
                                        </p:tgtEl>
                                        <p:attrNameLst>
                                          <p:attrName>style.visibility</p:attrName>
                                        </p:attrNameLst>
                                      </p:cBhvr>
                                      <p:to>
                                        <p:strVal val="visible"/>
                                      </p:to>
                                    </p:set>
                                    <p:anim calcmode="lin" valueType="num">
                                      <p:cBhvr additive="base">
                                        <p:cTn id="13" dur="300" fill="hold"/>
                                        <p:tgtEl>
                                          <p:spTgt spid="466958"/>
                                        </p:tgtEl>
                                        <p:attrNameLst>
                                          <p:attrName>ppt_x</p:attrName>
                                        </p:attrNameLst>
                                      </p:cBhvr>
                                      <p:tavLst>
                                        <p:tav tm="0">
                                          <p:val>
                                            <p:strVal val="0-#ppt_w/2"/>
                                          </p:val>
                                        </p:tav>
                                        <p:tav tm="100000">
                                          <p:val>
                                            <p:strVal val="#ppt_x"/>
                                          </p:val>
                                        </p:tav>
                                      </p:tavLst>
                                    </p:anim>
                                    <p:anim calcmode="lin" valueType="num">
                                      <p:cBhvr additive="base">
                                        <p:cTn id="14" dur="300" fill="hold"/>
                                        <p:tgtEl>
                                          <p:spTgt spid="4669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58" grpId="0" animBg="1"/>
      <p:bldP spid="466960" grpId="0" animBg="1"/>
    </p:bld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71042" name="组合 471041"/>
          <p:cNvGrpSpPr/>
          <p:nvPr/>
        </p:nvGrpSpPr>
        <p:grpSpPr>
          <a:xfrm>
            <a:off x="233363" y="598488"/>
            <a:ext cx="8662987" cy="5854700"/>
            <a:chOff x="147" y="196"/>
            <a:chExt cx="5457" cy="3927"/>
          </a:xfrm>
        </p:grpSpPr>
        <p:pic>
          <p:nvPicPr>
            <p:cNvPr id="471043" name="图片 471042" descr="D2b"/>
            <p:cNvPicPr>
              <a:picLocks noChangeAspect="1"/>
            </p:cNvPicPr>
            <p:nvPr/>
          </p:nvPicPr>
          <p:blipFill>
            <a:blip r:embed="rId2">
              <a:clrChange>
                <a:clrFrom>
                  <a:srgbClr val="000100"/>
                </a:clrFrom>
                <a:clrTo>
                  <a:srgbClr val="000100">
                    <a:alpha val="0"/>
                  </a:srgbClr>
                </a:clrTo>
              </a:clrChange>
            </a:blip>
            <a:stretch>
              <a:fillRect/>
            </a:stretch>
          </p:blipFill>
          <p:spPr>
            <a:xfrm>
              <a:off x="186" y="790"/>
              <a:ext cx="325" cy="2985"/>
            </a:xfrm>
            <a:prstGeom prst="rect">
              <a:avLst/>
            </a:prstGeom>
            <a:noFill/>
            <a:ln w="9525">
              <a:noFill/>
            </a:ln>
          </p:spPr>
        </p:pic>
        <p:pic>
          <p:nvPicPr>
            <p:cNvPr id="471044" name="图片 471043" descr="D2a"/>
            <p:cNvPicPr>
              <a:picLocks noChangeAspect="1"/>
            </p:cNvPicPr>
            <p:nvPr/>
          </p:nvPicPr>
          <p:blipFill>
            <a:blip r:embed="rId3">
              <a:clrChange>
                <a:clrFrom>
                  <a:srgbClr val="010001"/>
                </a:clrFrom>
                <a:clrTo>
                  <a:srgbClr val="010001">
                    <a:alpha val="0"/>
                  </a:srgbClr>
                </a:clrTo>
              </a:clrChange>
            </a:blip>
            <a:stretch>
              <a:fillRect/>
            </a:stretch>
          </p:blipFill>
          <p:spPr>
            <a:xfrm>
              <a:off x="147" y="196"/>
              <a:ext cx="5457" cy="862"/>
            </a:xfrm>
            <a:prstGeom prst="rect">
              <a:avLst/>
            </a:prstGeom>
            <a:noFill/>
            <a:ln w="9525">
              <a:noFill/>
            </a:ln>
          </p:spPr>
        </p:pic>
        <p:pic>
          <p:nvPicPr>
            <p:cNvPr id="471045" name="图片 471044" descr="D2b"/>
            <p:cNvPicPr>
              <a:picLocks noChangeAspect="1"/>
            </p:cNvPicPr>
            <p:nvPr/>
          </p:nvPicPr>
          <p:blipFill>
            <a:blip r:embed="rId2">
              <a:clrChange>
                <a:clrFrom>
                  <a:srgbClr val="000100"/>
                </a:clrFrom>
                <a:clrTo>
                  <a:srgbClr val="000100">
                    <a:alpha val="0"/>
                  </a:srgbClr>
                </a:clrTo>
              </a:clrChange>
            </a:blip>
            <a:stretch>
              <a:fillRect/>
            </a:stretch>
          </p:blipFill>
          <p:spPr>
            <a:xfrm>
              <a:off x="5270" y="1047"/>
              <a:ext cx="325" cy="2985"/>
            </a:xfrm>
            <a:prstGeom prst="rect">
              <a:avLst/>
            </a:prstGeom>
            <a:noFill/>
            <a:ln w="9525">
              <a:noFill/>
            </a:ln>
          </p:spPr>
        </p:pic>
        <p:pic>
          <p:nvPicPr>
            <p:cNvPr id="471046" name="图片 471045" descr="D2c"/>
            <p:cNvPicPr/>
            <p:nvPr/>
          </p:nvPicPr>
          <p:blipFill>
            <a:blip r:embed="rId4">
              <a:clrChange>
                <a:clrFrom>
                  <a:srgbClr val="000000"/>
                </a:clrFrom>
                <a:clrTo>
                  <a:srgbClr val="000000">
                    <a:alpha val="0"/>
                  </a:srgbClr>
                </a:clrTo>
              </a:clrChange>
            </a:blip>
            <a:stretch>
              <a:fillRect/>
            </a:stretch>
          </p:blipFill>
          <p:spPr>
            <a:xfrm>
              <a:off x="189" y="3727"/>
              <a:ext cx="5411" cy="396"/>
            </a:xfrm>
            <a:prstGeom prst="rect">
              <a:avLst/>
            </a:prstGeom>
            <a:noFill/>
            <a:ln w="9525">
              <a:noFill/>
            </a:ln>
          </p:spPr>
        </p:pic>
        <p:sp>
          <p:nvSpPr>
            <p:cNvPr id="471047" name="矩形 471046"/>
            <p:cNvSpPr/>
            <p:nvPr/>
          </p:nvSpPr>
          <p:spPr>
            <a:xfrm>
              <a:off x="3294" y="3696"/>
              <a:ext cx="2064" cy="212"/>
            </a:xfrm>
            <a:prstGeom prst="rect">
              <a:avLst/>
            </a:prstGeom>
            <a:solidFill>
              <a:schemeClr val="bg1"/>
            </a:solidFill>
            <a:ln w="9525">
              <a:noFill/>
            </a:ln>
          </p:spPr>
          <p:txBody>
            <a:bodyPr/>
            <a:lstStyle/>
            <a:p>
              <a:endParaRPr lang="zh-CN" altLang="en-US"/>
            </a:p>
          </p:txBody>
        </p:sp>
      </p:grpSp>
      <p:sp>
        <p:nvSpPr>
          <p:cNvPr id="471048" name="标题 471047"/>
          <p:cNvSpPr>
            <a:spLocks noGrp="1"/>
          </p:cNvSpPr>
          <p:nvPr>
            <p:ph type="title"/>
          </p:nvPr>
        </p:nvSpPr>
        <p:spPr>
          <a:xfrm>
            <a:off x="428601" y="683973"/>
            <a:ext cx="4600599" cy="457200"/>
          </a:xfrm>
          <a:prstGeom prst="flowChartAlternateProcess">
            <a:avLst/>
          </a:prstGeom>
          <a:solidFill>
            <a:schemeClr val="bg1"/>
          </a:solidFill>
          <a:ln w="28575">
            <a:solidFill>
              <a:schemeClr val="accent1"/>
            </a:solidFill>
            <a:miter/>
          </a:ln>
        </p:spPr>
        <p:txBody>
          <a:bodyPr anchor="ctr"/>
          <a:lstStyle/>
          <a:p>
            <a:pPr algn="l">
              <a:lnSpc>
                <a:spcPct val="90000"/>
              </a:lnSpc>
            </a:pPr>
            <a:r>
              <a:rPr lang="zh-CN" altLang="en-US" sz="2800" b="1" dirty="0">
                <a:solidFill>
                  <a:srgbClr val="0000FF"/>
                </a:solidFill>
              </a:rPr>
              <a:t>循环移位</a:t>
            </a:r>
            <a:r>
              <a:rPr lang="zh-CN" altLang="en-US" sz="2800" b="1" dirty="0">
                <a:solidFill>
                  <a:schemeClr val="tx1"/>
                </a:solidFill>
              </a:rPr>
              <a:t>示例：</a:t>
            </a:r>
            <a:r>
              <a:rPr lang="en-US" altLang="zh-CN" sz="2800" b="1" dirty="0">
                <a:solidFill>
                  <a:schemeClr val="tx1"/>
                </a:solidFill>
              </a:rPr>
              <a:t>32</a:t>
            </a:r>
            <a:r>
              <a:rPr lang="zh-CN" altLang="en-US" sz="2800" b="1" dirty="0">
                <a:solidFill>
                  <a:schemeClr val="tx1"/>
                </a:solidFill>
              </a:rPr>
              <a:t>位数移位</a:t>
            </a:r>
          </a:p>
        </p:txBody>
      </p:sp>
      <p:sp>
        <p:nvSpPr>
          <p:cNvPr id="471049" name="文本占位符 471048"/>
          <p:cNvSpPr>
            <a:spLocks noGrp="1"/>
          </p:cNvSpPr>
          <p:nvPr>
            <p:ph type="body" idx="1"/>
          </p:nvPr>
        </p:nvSpPr>
        <p:spPr>
          <a:xfrm>
            <a:off x="1482725" y="2132013"/>
            <a:ext cx="5465763" cy="1260475"/>
          </a:xfrm>
          <a:solidFill>
            <a:schemeClr val="bg1"/>
          </a:solidFill>
          <a:ln/>
        </p:spPr>
        <p:txBody>
          <a:bodyPr/>
          <a:lstStyle/>
          <a:p>
            <a:pPr marL="0" indent="390525" defTabSz="0">
              <a:lnSpc>
                <a:spcPct val="90000"/>
              </a:lnSpc>
              <a:buNone/>
              <a:tabLst>
                <a:tab pos="3342005" algn="l"/>
              </a:tabLst>
            </a:pPr>
            <a:r>
              <a:rPr lang="zh-CN" altLang="en-US" sz="2400" b="1" dirty="0">
                <a:latin typeface="宋体" panose="02010600030101010101" pitchFamily="2" charset="-122"/>
              </a:rPr>
              <a:t>；将</a:t>
            </a:r>
            <a:r>
              <a:rPr lang="en-US" altLang="zh-CN" sz="2400" b="1">
                <a:latin typeface="宋体" panose="02010600030101010101" pitchFamily="2" charset="-122"/>
              </a:rPr>
              <a:t>DX.AX</a:t>
            </a:r>
            <a:r>
              <a:rPr lang="zh-CN" altLang="en-US" sz="2400" b="1">
                <a:latin typeface="宋体" panose="02010600030101010101" pitchFamily="2" charset="-122"/>
              </a:rPr>
              <a:t>中</a:t>
            </a:r>
            <a:r>
              <a:rPr lang="en-US" altLang="zh-CN" sz="2400" b="1">
                <a:latin typeface="宋体" panose="02010600030101010101" pitchFamily="2" charset="-122"/>
              </a:rPr>
              <a:t>32</a:t>
            </a:r>
            <a:r>
              <a:rPr lang="zh-CN" altLang="en-US" sz="2400" b="1" dirty="0">
                <a:latin typeface="宋体" panose="02010600030101010101" pitchFamily="2" charset="-122"/>
              </a:rPr>
              <a:t>位数值整个左移一位</a:t>
            </a:r>
          </a:p>
          <a:p>
            <a:pPr marL="0" indent="390525" defTabSz="0">
              <a:lnSpc>
                <a:spcPct val="90000"/>
              </a:lnSpc>
              <a:buNone/>
              <a:tabLst>
                <a:tab pos="3342005" algn="l"/>
              </a:tabLst>
            </a:pPr>
            <a:r>
              <a:rPr lang="en-US" altLang="zh-CN" sz="2400" b="1" err="1">
                <a:solidFill>
                  <a:schemeClr val="accent2"/>
                </a:solidFill>
                <a:latin typeface="宋体" panose="02010600030101010101" pitchFamily="2" charset="-122"/>
              </a:rPr>
              <a:t>shl</a:t>
            </a:r>
            <a:r>
              <a:rPr lang="en-US" altLang="zh-CN" sz="2400" b="1">
                <a:solidFill>
                  <a:schemeClr val="accent2"/>
                </a:solidFill>
                <a:latin typeface="宋体" panose="02010600030101010101" pitchFamily="2" charset="-122"/>
              </a:rPr>
              <a:t> ax,1</a:t>
            </a:r>
          </a:p>
          <a:p>
            <a:pPr marL="0" indent="390525" defTabSz="0">
              <a:lnSpc>
                <a:spcPct val="90000"/>
              </a:lnSpc>
              <a:buNone/>
              <a:tabLst>
                <a:tab pos="3342005" algn="l"/>
              </a:tabLst>
            </a:pPr>
            <a:r>
              <a:rPr lang="en-US" altLang="zh-CN" sz="2400" b="1" err="1">
                <a:solidFill>
                  <a:schemeClr val="accent2"/>
                </a:solidFill>
                <a:latin typeface="宋体" panose="02010600030101010101" pitchFamily="2" charset="-122"/>
              </a:rPr>
              <a:t>rcl</a:t>
            </a:r>
            <a:r>
              <a:rPr lang="en-US" altLang="zh-CN" sz="2400" b="1">
                <a:solidFill>
                  <a:schemeClr val="accent2"/>
                </a:solidFill>
                <a:latin typeface="宋体" panose="02010600030101010101" pitchFamily="2" charset="-122"/>
              </a:rPr>
              <a:t> dx,1</a:t>
            </a:r>
            <a:endParaRPr lang="en-US" altLang="zh-CN" sz="2400" b="1">
              <a:latin typeface="宋体" panose="02010600030101010101" pitchFamily="2" charset="-122"/>
            </a:endParaRPr>
          </a:p>
        </p:txBody>
      </p:sp>
      <p:sp>
        <p:nvSpPr>
          <p:cNvPr id="471050" name="任意多边形 471049"/>
          <p:cNvSpPr/>
          <p:nvPr/>
        </p:nvSpPr>
        <p:spPr>
          <a:xfrm>
            <a:off x="3276600" y="2725738"/>
            <a:ext cx="2895600" cy="129540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28575" cap="flat" cmpd="sng">
            <a:solidFill>
              <a:schemeClr val="tx2"/>
            </a:solidFill>
            <a:prstDash val="solid"/>
            <a:headEnd type="diamond" w="med" len="med"/>
            <a:tailEnd type="triangle" w="med" len="med"/>
          </a:ln>
        </p:spPr>
        <p:txBody>
          <a:bodyPr wrap="none" anchor="ctr"/>
          <a:lstStyle/>
          <a:p>
            <a:pPr lvl="0" algn="ctr"/>
            <a:endParaRPr lang="zh-CN" altLang="en-US" sz="2800" i="1" dirty="0">
              <a:solidFill>
                <a:schemeClr val="tx2"/>
              </a:solidFill>
              <a:latin typeface="Arial" panose="020B0604020202020204" pitchFamily="34" charset="0"/>
              <a:ea typeface="宋体" panose="02010600030101010101" pitchFamily="2" charset="-122"/>
            </a:endParaRPr>
          </a:p>
        </p:txBody>
      </p:sp>
      <p:grpSp>
        <p:nvGrpSpPr>
          <p:cNvPr id="471051" name="组合 471050"/>
          <p:cNvGrpSpPr/>
          <p:nvPr/>
        </p:nvGrpSpPr>
        <p:grpSpPr>
          <a:xfrm>
            <a:off x="1447800" y="4173538"/>
            <a:ext cx="6934200" cy="1844675"/>
            <a:chOff x="912" y="2448"/>
            <a:chExt cx="4368" cy="1162"/>
          </a:xfrm>
        </p:grpSpPr>
        <p:sp>
          <p:nvSpPr>
            <p:cNvPr id="471052" name="矩形 471051"/>
            <p:cNvSpPr/>
            <p:nvPr/>
          </p:nvSpPr>
          <p:spPr>
            <a:xfrm>
              <a:off x="1200" y="3034"/>
              <a:ext cx="1392" cy="288"/>
            </a:xfrm>
            <a:prstGeom prst="rect">
              <a:avLst/>
            </a:prstGeom>
            <a:solidFill>
              <a:srgbClr val="FFCC99"/>
            </a:solidFill>
            <a:ln w="9525" cap="flat" cmpd="sng">
              <a:solidFill>
                <a:schemeClr val="tx1"/>
              </a:solidFill>
              <a:prstDash val="solid"/>
              <a:miter/>
              <a:headEnd type="none" w="med" len="med"/>
              <a:tailEnd type="none" w="med" len="med"/>
            </a:ln>
          </p:spPr>
          <p:txBody>
            <a:bodyPr/>
            <a:lstStyle/>
            <a:p>
              <a:endParaRPr lang="zh-CN" altLang="en-US"/>
            </a:p>
          </p:txBody>
        </p:sp>
        <p:sp>
          <p:nvSpPr>
            <p:cNvPr id="471053" name="直接连接符 471052"/>
            <p:cNvSpPr/>
            <p:nvPr/>
          </p:nvSpPr>
          <p:spPr>
            <a:xfrm>
              <a:off x="1296" y="3178"/>
              <a:ext cx="1152" cy="0"/>
            </a:xfrm>
            <a:prstGeom prst="line">
              <a:avLst/>
            </a:prstGeom>
            <a:ln w="28575" cap="flat" cmpd="sng">
              <a:solidFill>
                <a:srgbClr val="FF0066"/>
              </a:solidFill>
              <a:prstDash val="solid"/>
              <a:headEnd type="triangle" w="med" len="med"/>
              <a:tailEnd type="none" w="med" len="med"/>
            </a:ln>
          </p:spPr>
        </p:sp>
        <p:sp>
          <p:nvSpPr>
            <p:cNvPr id="471054" name="直接连接符 471053"/>
            <p:cNvSpPr/>
            <p:nvPr/>
          </p:nvSpPr>
          <p:spPr>
            <a:xfrm>
              <a:off x="1008" y="3178"/>
              <a:ext cx="192" cy="0"/>
            </a:xfrm>
            <a:prstGeom prst="line">
              <a:avLst/>
            </a:prstGeom>
            <a:ln w="28575" cap="flat" cmpd="sng">
              <a:solidFill>
                <a:srgbClr val="FF0066"/>
              </a:solidFill>
              <a:prstDash val="solid"/>
              <a:headEnd type="triangle" w="med" len="med"/>
              <a:tailEnd type="none" w="med" len="med"/>
            </a:ln>
          </p:spPr>
        </p:sp>
        <p:sp>
          <p:nvSpPr>
            <p:cNvPr id="471055" name="直接连接符 471054"/>
            <p:cNvSpPr/>
            <p:nvPr/>
          </p:nvSpPr>
          <p:spPr>
            <a:xfrm>
              <a:off x="1008" y="3178"/>
              <a:ext cx="0" cy="432"/>
            </a:xfrm>
            <a:prstGeom prst="line">
              <a:avLst/>
            </a:prstGeom>
            <a:ln w="28575" cap="flat" cmpd="sng">
              <a:solidFill>
                <a:srgbClr val="FF0066"/>
              </a:solidFill>
              <a:prstDash val="solid"/>
              <a:headEnd type="none" w="med" len="med"/>
              <a:tailEnd type="none" w="med" len="med"/>
            </a:ln>
          </p:spPr>
        </p:sp>
        <p:sp>
          <p:nvSpPr>
            <p:cNvPr id="471056" name="直接连接符 471055"/>
            <p:cNvSpPr/>
            <p:nvPr/>
          </p:nvSpPr>
          <p:spPr>
            <a:xfrm>
              <a:off x="1008" y="3610"/>
              <a:ext cx="2170" cy="0"/>
            </a:xfrm>
            <a:prstGeom prst="line">
              <a:avLst/>
            </a:prstGeom>
            <a:ln w="28575" cap="flat" cmpd="sng">
              <a:solidFill>
                <a:srgbClr val="FF0066"/>
              </a:solidFill>
              <a:prstDash val="solid"/>
              <a:headEnd type="none" w="med" len="med"/>
              <a:tailEnd type="none" w="med" len="med"/>
            </a:ln>
          </p:spPr>
        </p:sp>
        <p:sp>
          <p:nvSpPr>
            <p:cNvPr id="471057" name="直接连接符 471056"/>
            <p:cNvSpPr/>
            <p:nvPr/>
          </p:nvSpPr>
          <p:spPr>
            <a:xfrm>
              <a:off x="3168" y="3168"/>
              <a:ext cx="0" cy="432"/>
            </a:xfrm>
            <a:prstGeom prst="line">
              <a:avLst/>
            </a:prstGeom>
            <a:ln w="28575" cap="flat" cmpd="sng">
              <a:solidFill>
                <a:srgbClr val="FF0066"/>
              </a:solidFill>
              <a:prstDash val="solid"/>
              <a:headEnd type="none" w="med" len="med"/>
              <a:tailEnd type="none" w="med" len="med"/>
            </a:ln>
          </p:spPr>
        </p:sp>
        <p:sp>
          <p:nvSpPr>
            <p:cNvPr id="471058" name="直接连接符 471057"/>
            <p:cNvSpPr/>
            <p:nvPr/>
          </p:nvSpPr>
          <p:spPr>
            <a:xfrm>
              <a:off x="2592" y="3178"/>
              <a:ext cx="240" cy="0"/>
            </a:xfrm>
            <a:prstGeom prst="line">
              <a:avLst/>
            </a:prstGeom>
            <a:ln w="28575" cap="flat" cmpd="sng">
              <a:solidFill>
                <a:srgbClr val="FF0066"/>
              </a:solidFill>
              <a:prstDash val="solid"/>
              <a:headEnd type="triangle" w="med" len="med"/>
              <a:tailEnd type="none" w="med" len="med"/>
            </a:ln>
          </p:spPr>
        </p:sp>
        <p:sp>
          <p:nvSpPr>
            <p:cNvPr id="471059" name="文本框 471058"/>
            <p:cNvSpPr txBox="1"/>
            <p:nvPr/>
          </p:nvSpPr>
          <p:spPr>
            <a:xfrm>
              <a:off x="1728" y="2698"/>
              <a:ext cx="384" cy="250"/>
            </a:xfrm>
            <a:prstGeom prst="rect">
              <a:avLst/>
            </a:prstGeom>
            <a:noFill/>
            <a:ln w="9525">
              <a:noFill/>
            </a:ln>
          </p:spPr>
          <p:txBody>
            <a:bodyPr>
              <a:spAutoFit/>
            </a:bodyPr>
            <a:lstStyle/>
            <a:p>
              <a:pPr lvl="0">
                <a:spcBef>
                  <a:spcPct val="50000"/>
                </a:spcBef>
              </a:pPr>
              <a:r>
                <a:rPr lang="en-US" altLang="zh-CN" sz="2000" b="1">
                  <a:solidFill>
                    <a:schemeClr val="accent2"/>
                  </a:solidFill>
                  <a:latin typeface="Times New Roman" panose="02020603050405020304" pitchFamily="18" charset="0"/>
                  <a:ea typeface="宋体" panose="02010600030101010101" pitchFamily="2" charset="-122"/>
                </a:rPr>
                <a:t>DX</a:t>
              </a:r>
            </a:p>
          </p:txBody>
        </p:sp>
        <p:sp>
          <p:nvSpPr>
            <p:cNvPr id="471060" name="矩形 471059"/>
            <p:cNvSpPr/>
            <p:nvPr/>
          </p:nvSpPr>
          <p:spPr>
            <a:xfrm>
              <a:off x="3216" y="3024"/>
              <a:ext cx="1392" cy="288"/>
            </a:xfrm>
            <a:prstGeom prst="rect">
              <a:avLst/>
            </a:prstGeom>
            <a:solidFill>
              <a:srgbClr val="FFCC99"/>
            </a:solidFill>
            <a:ln w="9525" cap="flat" cmpd="sng">
              <a:solidFill>
                <a:schemeClr val="tx1"/>
              </a:solidFill>
              <a:prstDash val="solid"/>
              <a:miter/>
              <a:headEnd type="none" w="med" len="med"/>
              <a:tailEnd type="none" w="med" len="med"/>
            </a:ln>
          </p:spPr>
          <p:txBody>
            <a:bodyPr/>
            <a:lstStyle/>
            <a:p>
              <a:endParaRPr lang="zh-CN" altLang="en-US"/>
            </a:p>
          </p:txBody>
        </p:sp>
        <p:sp>
          <p:nvSpPr>
            <p:cNvPr id="471061" name="矩形 471060"/>
            <p:cNvSpPr/>
            <p:nvPr/>
          </p:nvSpPr>
          <p:spPr>
            <a:xfrm>
              <a:off x="2832" y="3024"/>
              <a:ext cx="192" cy="288"/>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71062" name="直接连接符 471061"/>
            <p:cNvSpPr/>
            <p:nvPr/>
          </p:nvSpPr>
          <p:spPr>
            <a:xfrm>
              <a:off x="3312" y="3168"/>
              <a:ext cx="1152" cy="0"/>
            </a:xfrm>
            <a:prstGeom prst="line">
              <a:avLst/>
            </a:prstGeom>
            <a:ln w="28575" cap="flat" cmpd="sng">
              <a:solidFill>
                <a:srgbClr val="FF0066"/>
              </a:solidFill>
              <a:prstDash val="solid"/>
              <a:headEnd type="triangle" w="med" len="med"/>
              <a:tailEnd type="none" w="med" len="med"/>
            </a:ln>
          </p:spPr>
        </p:sp>
        <p:sp>
          <p:nvSpPr>
            <p:cNvPr id="471063" name="直接连接符 471062"/>
            <p:cNvSpPr/>
            <p:nvPr/>
          </p:nvSpPr>
          <p:spPr>
            <a:xfrm>
              <a:off x="3024" y="3168"/>
              <a:ext cx="192" cy="0"/>
            </a:xfrm>
            <a:prstGeom prst="line">
              <a:avLst/>
            </a:prstGeom>
            <a:ln w="28575" cap="flat" cmpd="sng">
              <a:solidFill>
                <a:srgbClr val="FF0066"/>
              </a:solidFill>
              <a:prstDash val="solid"/>
              <a:headEnd type="triangle" w="med" len="med"/>
              <a:tailEnd type="none" w="med" len="med"/>
            </a:ln>
          </p:spPr>
        </p:sp>
        <p:sp>
          <p:nvSpPr>
            <p:cNvPr id="471064" name="直接连接符 471063"/>
            <p:cNvSpPr/>
            <p:nvPr/>
          </p:nvSpPr>
          <p:spPr>
            <a:xfrm>
              <a:off x="4608" y="3168"/>
              <a:ext cx="240" cy="0"/>
            </a:xfrm>
            <a:prstGeom prst="line">
              <a:avLst/>
            </a:prstGeom>
            <a:ln w="28575" cap="flat" cmpd="sng">
              <a:solidFill>
                <a:srgbClr val="FF0066"/>
              </a:solidFill>
              <a:prstDash val="solid"/>
              <a:headEnd type="triangle" w="med" len="med"/>
              <a:tailEnd type="none" w="med" len="med"/>
            </a:ln>
          </p:spPr>
        </p:sp>
        <p:sp>
          <p:nvSpPr>
            <p:cNvPr id="471065" name="文本框 471064"/>
            <p:cNvSpPr txBox="1"/>
            <p:nvPr/>
          </p:nvSpPr>
          <p:spPr>
            <a:xfrm>
              <a:off x="3696" y="2688"/>
              <a:ext cx="384" cy="250"/>
            </a:xfrm>
            <a:prstGeom prst="rect">
              <a:avLst/>
            </a:prstGeom>
            <a:noFill/>
            <a:ln w="9525">
              <a:noFill/>
            </a:ln>
          </p:spPr>
          <p:txBody>
            <a:bodyPr>
              <a:spAutoFit/>
            </a:bodyPr>
            <a:lstStyle/>
            <a:p>
              <a:pPr lvl="0">
                <a:spcBef>
                  <a:spcPct val="50000"/>
                </a:spcBef>
              </a:pPr>
              <a:r>
                <a:rPr lang="en-US" altLang="zh-CN" sz="2000" b="1">
                  <a:solidFill>
                    <a:schemeClr val="accent2"/>
                  </a:solidFill>
                  <a:latin typeface="Times New Roman" panose="02020603050405020304" pitchFamily="18" charset="0"/>
                  <a:ea typeface="宋体" panose="02010600030101010101" pitchFamily="2" charset="-122"/>
                </a:rPr>
                <a:t>AX</a:t>
              </a:r>
            </a:p>
          </p:txBody>
        </p:sp>
        <p:sp>
          <p:nvSpPr>
            <p:cNvPr id="471066" name="文本框 471065"/>
            <p:cNvSpPr txBox="1"/>
            <p:nvPr/>
          </p:nvSpPr>
          <p:spPr>
            <a:xfrm>
              <a:off x="2784" y="2784"/>
              <a:ext cx="330" cy="250"/>
            </a:xfrm>
            <a:prstGeom prst="rect">
              <a:avLst/>
            </a:prstGeom>
            <a:noFill/>
            <a:ln w="9525">
              <a:noFill/>
            </a:ln>
          </p:spPr>
          <p:txBody>
            <a:bodyPr wrap="none" anchor="t">
              <a:spAutoFit/>
            </a:bodyPr>
            <a:lstStyle/>
            <a:p>
              <a:pPr lvl="0"/>
              <a:r>
                <a:rPr lang="en-US" altLang="zh-CN" sz="2000" b="1">
                  <a:solidFill>
                    <a:srgbClr val="990000"/>
                  </a:solidFill>
                  <a:latin typeface="Times New Roman" panose="02020603050405020304" pitchFamily="18" charset="0"/>
                  <a:ea typeface="宋体" panose="02010600030101010101" pitchFamily="2" charset="-122"/>
                </a:rPr>
                <a:t>CF</a:t>
              </a:r>
            </a:p>
          </p:txBody>
        </p:sp>
        <p:sp>
          <p:nvSpPr>
            <p:cNvPr id="471067" name="文本框 471066"/>
            <p:cNvSpPr txBox="1"/>
            <p:nvPr/>
          </p:nvSpPr>
          <p:spPr>
            <a:xfrm>
              <a:off x="4896" y="3044"/>
              <a:ext cx="384" cy="250"/>
            </a:xfrm>
            <a:prstGeom prst="rect">
              <a:avLst/>
            </a:prstGeom>
            <a:noFill/>
            <a:ln w="9525">
              <a:noFill/>
            </a:ln>
          </p:spPr>
          <p:txBody>
            <a:bodyPr>
              <a:spAutoFit/>
            </a:bodyPr>
            <a:lstStyle/>
            <a:p>
              <a:pPr lvl="0">
                <a:spcBef>
                  <a:spcPct val="50000"/>
                </a:spcBef>
              </a:pPr>
              <a:r>
                <a:rPr lang="en-US" altLang="zh-CN" sz="2000" b="1">
                  <a:solidFill>
                    <a:schemeClr val="accent2"/>
                  </a:solidFill>
                  <a:latin typeface="Times New Roman" panose="02020603050405020304" pitchFamily="18" charset="0"/>
                  <a:ea typeface="宋体" panose="02010600030101010101" pitchFamily="2" charset="-122"/>
                </a:rPr>
                <a:t>0</a:t>
              </a:r>
            </a:p>
          </p:txBody>
        </p:sp>
        <p:sp>
          <p:nvSpPr>
            <p:cNvPr id="471068" name="左大括号 471067"/>
            <p:cNvSpPr/>
            <p:nvPr/>
          </p:nvSpPr>
          <p:spPr>
            <a:xfrm rot="5400000">
              <a:off x="3744" y="1488"/>
              <a:ext cx="384" cy="2304"/>
            </a:xfrm>
            <a:prstGeom prst="leftBrace">
              <a:avLst>
                <a:gd name="adj1" fmla="val 50500"/>
                <a:gd name="adj2" fmla="val 49866"/>
              </a:avLst>
            </a:prstGeom>
            <a:noFill/>
            <a:ln w="28575" cap="flat" cmpd="sng">
              <a:solidFill>
                <a:schemeClr val="tx1"/>
              </a:solidFill>
              <a:prstDash val="solid"/>
              <a:headEnd type="none" w="med" len="med"/>
              <a:tailEnd type="none" w="med" len="med"/>
            </a:ln>
          </p:spPr>
          <p:txBody>
            <a:bodyPr/>
            <a:lstStyle/>
            <a:p>
              <a:endParaRPr lang="zh-CN" altLang="en-US"/>
            </a:p>
          </p:txBody>
        </p:sp>
        <p:sp>
          <p:nvSpPr>
            <p:cNvPr id="471069" name="左大括号 471068"/>
            <p:cNvSpPr/>
            <p:nvPr/>
          </p:nvSpPr>
          <p:spPr>
            <a:xfrm rot="5400000">
              <a:off x="1872" y="1488"/>
              <a:ext cx="384" cy="2304"/>
            </a:xfrm>
            <a:prstGeom prst="leftBrace">
              <a:avLst>
                <a:gd name="adj1" fmla="val 50500"/>
                <a:gd name="adj2" fmla="val 49866"/>
              </a:avLst>
            </a:prstGeom>
            <a:noFill/>
            <a:ln w="28575" cap="flat" cmpd="sng">
              <a:solidFill>
                <a:schemeClr val="tx1"/>
              </a:solidFill>
              <a:prstDash val="solid"/>
              <a:headEnd type="none" w="med" len="med"/>
              <a:tailEnd type="none" w="med" len="med"/>
            </a:ln>
          </p:spPr>
          <p:txBody>
            <a:bodyPr/>
            <a:lstStyle/>
            <a:p>
              <a:endParaRPr lang="zh-CN" altLang="en-US"/>
            </a:p>
          </p:txBody>
        </p:sp>
      </p:grpSp>
      <p:sp>
        <p:nvSpPr>
          <p:cNvPr id="471070" name="任意多边形 471069"/>
          <p:cNvSpPr/>
          <p:nvPr/>
        </p:nvSpPr>
        <p:spPr>
          <a:xfrm>
            <a:off x="3200400" y="3416300"/>
            <a:ext cx="76200" cy="1295400"/>
          </a:xfrm>
          <a:custGeom>
            <a:avLst/>
            <a:gdLst>
              <a:gd name="txL" fmla="*/ 0 w 18925"/>
              <a:gd name="txT" fmla="*/ 0 h 21600"/>
              <a:gd name="txR" fmla="*/ 18925 w 18925"/>
              <a:gd name="txB" fmla="*/ 21600 h 21600"/>
            </a:gdLst>
            <a:ahLst/>
            <a:cxnLst>
              <a:cxn ang="270">
                <a:pos x="0" y="0"/>
              </a:cxn>
              <a:cxn ang="0">
                <a:pos x="18924" y="11187"/>
              </a:cxn>
              <a:cxn ang="90">
                <a:pos x="0" y="21600"/>
              </a:cxn>
            </a:cxnLst>
            <a:rect l="txL" t="txT" r="txR" b="txB"/>
            <a:pathLst>
              <a:path w="18925" h="21600" fill="none">
                <a:moveTo>
                  <a:pt x="0" y="0"/>
                </a:moveTo>
                <a:arcTo wR="21600" hR="21600" stAng="-5400000" swAng="3670683"/>
              </a:path>
              <a:path w="18925" h="21600" stroke="0">
                <a:moveTo>
                  <a:pt x="0" y="0"/>
                </a:moveTo>
                <a:arcTo wR="21600" hR="21600" stAng="-5400000" swAng="3670683"/>
                <a:lnTo>
                  <a:pt x="0" y="21600"/>
                </a:lnTo>
                <a:close/>
              </a:path>
            </a:pathLst>
          </a:custGeom>
          <a:noFill/>
          <a:ln w="28575" cap="flat" cmpd="sng">
            <a:solidFill>
              <a:schemeClr val="tx2"/>
            </a:solidFill>
            <a:prstDash val="solid"/>
            <a:headEnd type="diamond" w="med" len="med"/>
            <a:tailEnd type="triangle" w="med" len="med"/>
          </a:ln>
        </p:spPr>
        <p:txBody>
          <a:bodyPr wrap="none" anchor="ctr"/>
          <a:lstStyle/>
          <a:p>
            <a:pPr lvl="0" algn="ctr"/>
            <a:endParaRPr lang="zh-CN" altLang="en-US" sz="2800" i="1" dirty="0">
              <a:solidFill>
                <a:schemeClr val="tx2"/>
              </a:solidFill>
              <a:latin typeface="Arial" panose="020B0604020202020204" pitchFamily="34" charset="0"/>
              <a:ea typeface="宋体" panose="02010600030101010101" pitchFamily="2" charset="-122"/>
            </a:endParaRPr>
          </a:p>
        </p:txBody>
      </p:sp>
      <p:sp>
        <p:nvSpPr>
          <p:cNvPr id="471071" name="矩形 471070"/>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extLst>
      <p:ext uri="{BB962C8B-B14F-4D97-AF65-F5344CB8AC3E}">
        <p14:creationId xmlns:p14="http://schemas.microsoft.com/office/powerpoint/2010/main" val="280032983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471050"/>
                                        </p:tgtEl>
                                        <p:attrNameLst>
                                          <p:attrName>style.visibility</p:attrName>
                                        </p:attrNameLst>
                                      </p:cBhvr>
                                      <p:to>
                                        <p:strVal val="visible"/>
                                      </p:to>
                                    </p:set>
                                    <p:anim calcmode="lin" valueType="num">
                                      <p:cBhvr>
                                        <p:cTn id="7" dur="500" fill="hold"/>
                                        <p:tgtEl>
                                          <p:spTgt spid="471050"/>
                                        </p:tgtEl>
                                        <p:attrNameLst>
                                          <p:attrName>ppt_x</p:attrName>
                                        </p:attrNameLst>
                                      </p:cBhvr>
                                      <p:tavLst>
                                        <p:tav tm="0">
                                          <p:val>
                                            <p:strVal val="#ppt_x"/>
                                          </p:val>
                                        </p:tav>
                                        <p:tav tm="100000">
                                          <p:val>
                                            <p:strVal val="#ppt_x"/>
                                          </p:val>
                                        </p:tav>
                                      </p:tavLst>
                                    </p:anim>
                                    <p:anim calcmode="lin" valueType="num">
                                      <p:cBhvr>
                                        <p:cTn id="8" dur="500" fill="hold"/>
                                        <p:tgtEl>
                                          <p:spTgt spid="471050"/>
                                        </p:tgtEl>
                                        <p:attrNameLst>
                                          <p:attrName>ppt_y</p:attrName>
                                        </p:attrNameLst>
                                      </p:cBhvr>
                                      <p:tavLst>
                                        <p:tav tm="0">
                                          <p:val>
                                            <p:strVal val="#ppt_y-#ppt_h/2"/>
                                          </p:val>
                                        </p:tav>
                                        <p:tav tm="100000">
                                          <p:val>
                                            <p:strVal val="#ppt_y"/>
                                          </p:val>
                                        </p:tav>
                                      </p:tavLst>
                                    </p:anim>
                                    <p:anim calcmode="lin" valueType="num">
                                      <p:cBhvr>
                                        <p:cTn id="9" dur="500" fill="hold"/>
                                        <p:tgtEl>
                                          <p:spTgt spid="471050"/>
                                        </p:tgtEl>
                                        <p:attrNameLst>
                                          <p:attrName>ppt_w</p:attrName>
                                        </p:attrNameLst>
                                      </p:cBhvr>
                                      <p:tavLst>
                                        <p:tav tm="0">
                                          <p:val>
                                            <p:strVal val="#ppt_w"/>
                                          </p:val>
                                        </p:tav>
                                        <p:tav tm="100000">
                                          <p:val>
                                            <p:strVal val="#ppt_w"/>
                                          </p:val>
                                        </p:tav>
                                      </p:tavLst>
                                    </p:anim>
                                    <p:anim calcmode="lin" valueType="num">
                                      <p:cBhvr>
                                        <p:cTn id="10" dur="500" fill="hold"/>
                                        <p:tgtEl>
                                          <p:spTgt spid="471050"/>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471070"/>
                                        </p:tgtEl>
                                        <p:attrNameLst>
                                          <p:attrName>style.visibility</p:attrName>
                                        </p:attrNameLst>
                                      </p:cBhvr>
                                      <p:to>
                                        <p:strVal val="visible"/>
                                      </p:to>
                                    </p:set>
                                    <p:anim calcmode="lin" valueType="num">
                                      <p:cBhvr>
                                        <p:cTn id="15" dur="500" fill="hold"/>
                                        <p:tgtEl>
                                          <p:spTgt spid="471070"/>
                                        </p:tgtEl>
                                        <p:attrNameLst>
                                          <p:attrName>ppt_x</p:attrName>
                                        </p:attrNameLst>
                                      </p:cBhvr>
                                      <p:tavLst>
                                        <p:tav tm="0">
                                          <p:val>
                                            <p:strVal val="#ppt_x"/>
                                          </p:val>
                                        </p:tav>
                                        <p:tav tm="100000">
                                          <p:val>
                                            <p:strVal val="#ppt_x"/>
                                          </p:val>
                                        </p:tav>
                                      </p:tavLst>
                                    </p:anim>
                                    <p:anim calcmode="lin" valueType="num">
                                      <p:cBhvr>
                                        <p:cTn id="16" dur="500" fill="hold"/>
                                        <p:tgtEl>
                                          <p:spTgt spid="471070"/>
                                        </p:tgtEl>
                                        <p:attrNameLst>
                                          <p:attrName>ppt_y</p:attrName>
                                        </p:attrNameLst>
                                      </p:cBhvr>
                                      <p:tavLst>
                                        <p:tav tm="0">
                                          <p:val>
                                            <p:strVal val="#ppt_y-#ppt_h/2"/>
                                          </p:val>
                                        </p:tav>
                                        <p:tav tm="100000">
                                          <p:val>
                                            <p:strVal val="#ppt_y"/>
                                          </p:val>
                                        </p:tav>
                                      </p:tavLst>
                                    </p:anim>
                                    <p:anim calcmode="lin" valueType="num">
                                      <p:cBhvr>
                                        <p:cTn id="17" dur="500" fill="hold"/>
                                        <p:tgtEl>
                                          <p:spTgt spid="471070"/>
                                        </p:tgtEl>
                                        <p:attrNameLst>
                                          <p:attrName>ppt_w</p:attrName>
                                        </p:attrNameLst>
                                      </p:cBhvr>
                                      <p:tavLst>
                                        <p:tav tm="0">
                                          <p:val>
                                            <p:strVal val="#ppt_w"/>
                                          </p:val>
                                        </p:tav>
                                        <p:tav tm="100000">
                                          <p:val>
                                            <p:strVal val="#ppt_w"/>
                                          </p:val>
                                        </p:tav>
                                      </p:tavLst>
                                    </p:anim>
                                    <p:anim calcmode="lin" valueType="num">
                                      <p:cBhvr>
                                        <p:cTn id="18" dur="500" fill="hold"/>
                                        <p:tgtEl>
                                          <p:spTgt spid="4710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50" grpId="0" animBg="1"/>
      <p:bldP spid="471070"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9" name="矩形 32870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
        <p:nvSpPr>
          <p:cNvPr id="328718" name="文本占位符 328717"/>
          <p:cNvSpPr>
            <a:spLocks noGrp="1"/>
          </p:cNvSpPr>
          <p:nvPr>
            <p:ph type="body" idx="1"/>
          </p:nvPr>
        </p:nvSpPr>
        <p:spPr>
          <a:xfrm>
            <a:off x="611560" y="1101725"/>
            <a:ext cx="4824412" cy="2303462"/>
          </a:xfrm>
          <a:ln/>
        </p:spPr>
        <p:txBody>
          <a:bodyPr/>
          <a:lstStyle/>
          <a:p>
            <a:pPr>
              <a:buClrTx/>
              <a:buNone/>
            </a:pPr>
            <a:r>
              <a:rPr lang="en-US" altLang="zh-CN" sz="2400" b="1" dirty="0"/>
              <a:t>3.3.4</a:t>
            </a:r>
            <a:r>
              <a:rPr lang="zh-CN" altLang="en-US" sz="2400" b="1" dirty="0"/>
              <a:t>控制转移指令       </a:t>
            </a:r>
            <a:endParaRPr lang="en-US" altLang="zh-CN" sz="2400" b="1" dirty="0"/>
          </a:p>
          <a:p>
            <a:pPr>
              <a:buClr>
                <a:srgbClr val="FF0000"/>
              </a:buClr>
              <a:buFont typeface="Wingdings" panose="05000000000000000000" pitchFamily="2" charset="2"/>
              <a:buChar char="u"/>
            </a:pPr>
            <a:r>
              <a:rPr lang="zh-CN" altLang="en-US" sz="2400" b="1" dirty="0"/>
              <a:t>       无条件、条件转移指令</a:t>
            </a:r>
          </a:p>
          <a:p>
            <a:pPr>
              <a:buClr>
                <a:srgbClr val="FF0000"/>
              </a:buClr>
              <a:buFont typeface="Wingdings" panose="05000000000000000000" pitchFamily="2" charset="2"/>
              <a:buChar char="u"/>
            </a:pPr>
            <a:r>
              <a:rPr lang="zh-CN" altLang="en-US" sz="2400" b="1" dirty="0"/>
              <a:t>       循环指令</a:t>
            </a:r>
          </a:p>
          <a:p>
            <a:pPr>
              <a:buClr>
                <a:srgbClr val="FF0000"/>
              </a:buClr>
              <a:buFont typeface="Wingdings" panose="05000000000000000000" pitchFamily="2" charset="2"/>
              <a:buChar char="u"/>
            </a:pPr>
            <a:r>
              <a:rPr lang="zh-CN" altLang="en-US" sz="2400" b="1" dirty="0"/>
              <a:t>　　子程序调用及返回指令</a:t>
            </a:r>
          </a:p>
          <a:p>
            <a:pPr>
              <a:buClr>
                <a:srgbClr val="FF0000"/>
              </a:buClr>
              <a:buFont typeface="Wingdings" panose="05000000000000000000" pitchFamily="2" charset="2"/>
              <a:buChar char="u"/>
            </a:pPr>
            <a:r>
              <a:rPr lang="zh-CN" altLang="en-US" sz="2400" b="1" dirty="0"/>
              <a:t>　　中断指令</a:t>
            </a:r>
          </a:p>
          <a:p>
            <a:pPr>
              <a:buClr>
                <a:srgbClr val="FF0000"/>
              </a:buClr>
              <a:buFont typeface="Wingdings" panose="05000000000000000000" pitchFamily="2" charset="2"/>
              <a:buChar char="u"/>
            </a:pPr>
            <a:r>
              <a:rPr lang="zh-CN" altLang="en-US" sz="2400" b="1" dirty="0"/>
              <a:t>　　系统功能调用</a:t>
            </a:r>
          </a:p>
        </p:txBody>
      </p:sp>
      <p:sp>
        <p:nvSpPr>
          <p:cNvPr id="328719" name="矩形 328718"/>
          <p:cNvSpPr/>
          <p:nvPr/>
        </p:nvSpPr>
        <p:spPr>
          <a:xfrm>
            <a:off x="228600" y="5105400"/>
            <a:ext cx="8763000" cy="1200329"/>
          </a:xfrm>
          <a:prstGeom prst="rect">
            <a:avLst/>
          </a:prstGeom>
          <a:noFill/>
          <a:ln w="9525">
            <a:noFill/>
          </a:ln>
        </p:spPr>
        <p:txBody>
          <a:bodyPr>
            <a:spAutoFit/>
          </a:bodyPr>
          <a:lstStyle/>
          <a:p>
            <a:pPr lvl="0">
              <a:buClrTx/>
            </a:pPr>
            <a:r>
              <a:rPr lang="zh-CN" altLang="en-US" sz="2400" b="1" dirty="0">
                <a:latin typeface="Arial" panose="020B0604020202020204" pitchFamily="34" charset="0"/>
                <a:ea typeface="宋体" panose="02010600030101010101" pitchFamily="2" charset="-122"/>
              </a:rPr>
              <a:t>控制转移类指令通过改变</a:t>
            </a:r>
            <a:r>
              <a:rPr lang="en-US" altLang="zh-CN" sz="2400" b="1" dirty="0">
                <a:solidFill>
                  <a:srgbClr val="0000FF"/>
                </a:solidFill>
                <a:latin typeface="Arial" panose="020B0604020202020204" pitchFamily="34" charset="0"/>
                <a:ea typeface="宋体" panose="02010600030101010101" pitchFamily="2" charset="-122"/>
              </a:rPr>
              <a:t>IP</a:t>
            </a:r>
            <a:r>
              <a:rPr lang="zh-CN" altLang="en-US" sz="2400" b="1" dirty="0">
                <a:solidFill>
                  <a:srgbClr val="0000FF"/>
                </a:solidFill>
                <a:latin typeface="Arial" panose="020B0604020202020204" pitchFamily="34" charset="0"/>
                <a:ea typeface="宋体" panose="02010600030101010101" pitchFamily="2" charset="-122"/>
              </a:rPr>
              <a:t>（和</a:t>
            </a:r>
            <a:r>
              <a:rPr lang="en-US" altLang="zh-CN" sz="2400" b="1" dirty="0">
                <a:solidFill>
                  <a:srgbClr val="0000FF"/>
                </a:solidFill>
                <a:latin typeface="Arial" panose="020B0604020202020204" pitchFamily="34" charset="0"/>
                <a:ea typeface="宋体" panose="02010600030101010101" pitchFamily="2" charset="-122"/>
              </a:rPr>
              <a:t>CS</a:t>
            </a:r>
            <a:r>
              <a:rPr lang="zh-CN" altLang="en-US" sz="2400" b="1" dirty="0">
                <a:solidFill>
                  <a:srgbClr val="0000FF"/>
                </a:solidFill>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值，实现程序执行顺序的改变，用于实现分支、循环、子程序等程序结构，是仅次于传送指令的常用指令，</a:t>
            </a:r>
            <a:r>
              <a:rPr lang="zh-CN" altLang="en-US" sz="2400" b="1" dirty="0">
                <a:latin typeface="Arial" panose="020B0604020202020204" pitchFamily="34" charset="0"/>
              </a:rPr>
              <a:t>需</a:t>
            </a:r>
            <a:r>
              <a:rPr lang="zh-CN" altLang="en-US" sz="2400" b="1" dirty="0">
                <a:latin typeface="Arial" panose="020B0604020202020204" pitchFamily="34" charset="0"/>
                <a:ea typeface="宋体" panose="02010600030101010101" pitchFamily="2" charset="-122"/>
              </a:rPr>
              <a:t>很好掌握</a:t>
            </a:r>
          </a:p>
        </p:txBody>
      </p:sp>
      <p:sp>
        <p:nvSpPr>
          <p:cNvPr id="328720" name="矩形 328719"/>
          <p:cNvSpPr/>
          <p:nvPr/>
        </p:nvSpPr>
        <p:spPr>
          <a:xfrm>
            <a:off x="381000" y="3886200"/>
            <a:ext cx="8001000" cy="822325"/>
          </a:xfrm>
          <a:prstGeom prst="rect">
            <a:avLst/>
          </a:prstGeom>
          <a:noFill/>
          <a:ln w="9525">
            <a:noFill/>
          </a:ln>
        </p:spPr>
        <p:txBody>
          <a:bodyPr>
            <a:spAutoFit/>
          </a:bodyPr>
          <a:lstStyle/>
          <a:p>
            <a:pPr lvl="0">
              <a:buClrTx/>
            </a:pPr>
            <a:r>
              <a:rPr lang="zh-CN" altLang="en-US" sz="2400" b="1" dirty="0">
                <a:solidFill>
                  <a:schemeClr val="accent2"/>
                </a:solidFill>
                <a:latin typeface="Arial" panose="020B0604020202020204" pitchFamily="34" charset="0"/>
                <a:ea typeface="宋体" panose="02010600030101010101" pitchFamily="2" charset="-122"/>
              </a:rPr>
              <a:t>重点</a:t>
            </a:r>
            <a:r>
              <a:rPr lang="zh-CN" altLang="en-US" sz="2400" b="1" dirty="0">
                <a:latin typeface="Arial" panose="020B0604020202020204" pitchFamily="34" charset="0"/>
                <a:ea typeface="宋体" panose="02010600030101010101" pitchFamily="2" charset="-122"/>
              </a:rPr>
              <a:t>：</a:t>
            </a:r>
            <a:r>
              <a:rPr lang="en-US" altLang="zh-CN" sz="2400" b="1" err="1">
                <a:latin typeface="Arial" panose="020B0604020202020204" pitchFamily="34" charset="0"/>
                <a:ea typeface="宋体" panose="02010600030101010101" pitchFamily="2" charset="-122"/>
              </a:rPr>
              <a:t>Jmp</a:t>
            </a:r>
            <a:r>
              <a:rPr lang="zh-CN" altLang="en-US" sz="2400" b="1">
                <a:latin typeface="Arial" panose="020B0604020202020204" pitchFamily="34" charset="0"/>
                <a:ea typeface="宋体" panose="02010600030101010101" pitchFamily="2" charset="-122"/>
              </a:rPr>
              <a:t>、</a:t>
            </a:r>
            <a:r>
              <a:rPr lang="en-US" altLang="zh-CN" sz="2400" b="1" err="1">
                <a:latin typeface="Arial" panose="020B0604020202020204" pitchFamily="34" charset="0"/>
                <a:ea typeface="宋体" panose="02010600030101010101" pitchFamily="2" charset="-122"/>
              </a:rPr>
              <a:t>Jcc</a:t>
            </a:r>
            <a:r>
              <a:rPr lang="zh-CN" altLang="en-US" sz="2400" b="1">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Loop</a:t>
            </a:r>
            <a:r>
              <a:rPr lang="zh-CN" altLang="en-US" sz="2400" b="1">
                <a:latin typeface="Arial" panose="020B0604020202020204" pitchFamily="34" charset="0"/>
                <a:ea typeface="宋体" panose="02010600030101010101" pitchFamily="2" charset="-122"/>
              </a:rPr>
              <a:t>、 </a:t>
            </a:r>
            <a:r>
              <a:rPr lang="en-US" altLang="zh-CN" sz="2400" b="1">
                <a:latin typeface="Arial" panose="020B0604020202020204" pitchFamily="34" charset="0"/>
                <a:ea typeface="宋体" panose="02010600030101010101" pitchFamily="2" charset="-122"/>
              </a:rPr>
              <a:t>CALL/RET </a:t>
            </a:r>
            <a:r>
              <a:rPr lang="zh-CN" altLang="en-US" sz="2400" b="1">
                <a:latin typeface="Arial" panose="020B0604020202020204" pitchFamily="34" charset="0"/>
                <a:ea typeface="宋体" panose="02010600030101010101" pitchFamily="2" charset="-122"/>
              </a:rPr>
              <a:t>、</a:t>
            </a:r>
            <a:r>
              <a:rPr lang="en-US" altLang="zh-CN" sz="2400" b="1" err="1">
                <a:latin typeface="Arial" panose="020B0604020202020204" pitchFamily="34" charset="0"/>
                <a:ea typeface="宋体" panose="02010600030101010101" pitchFamily="2" charset="-122"/>
              </a:rPr>
              <a:t>Int</a:t>
            </a:r>
            <a:r>
              <a:rPr lang="zh-CN" altLang="en-US" sz="2400" b="1" dirty="0">
                <a:latin typeface="Arial" panose="020B0604020202020204" pitchFamily="34" charset="0"/>
                <a:ea typeface="宋体" panose="02010600030101010101" pitchFamily="2" charset="-122"/>
              </a:rPr>
              <a:t>指令的理解</a:t>
            </a:r>
          </a:p>
          <a:p>
            <a:pPr lvl="0">
              <a:buClrTx/>
            </a:pPr>
            <a:r>
              <a:rPr lang="zh-CN" altLang="en-US" sz="2400" b="1" dirty="0">
                <a:solidFill>
                  <a:schemeClr val="accent2"/>
                </a:solidFill>
                <a:latin typeface="Arial" panose="020B0604020202020204" pitchFamily="34" charset="0"/>
                <a:ea typeface="宋体" panose="02010600030101010101" pitchFamily="2" charset="-122"/>
              </a:rPr>
              <a:t>难点</a:t>
            </a:r>
            <a:r>
              <a:rPr lang="zh-CN" altLang="en-US" sz="2400" b="1" dirty="0">
                <a:latin typeface="Arial" panose="020B0604020202020204" pitchFamily="34" charset="0"/>
                <a:ea typeface="宋体" panose="02010600030101010101" pitchFamily="2" charset="-122"/>
              </a:rPr>
              <a:t>：</a:t>
            </a:r>
            <a:r>
              <a:rPr lang="en-US" altLang="zh-CN" sz="2400" b="1" err="1">
                <a:latin typeface="Arial" panose="020B0604020202020204" pitchFamily="34" charset="0"/>
                <a:ea typeface="宋体" panose="02010600030101010101" pitchFamily="2" charset="-122"/>
              </a:rPr>
              <a:t>Jmp</a:t>
            </a:r>
            <a:r>
              <a:rPr lang="zh-CN" altLang="en-US" sz="2400" b="1">
                <a:latin typeface="Arial" panose="020B0604020202020204" pitchFamily="34" charset="0"/>
                <a:ea typeface="宋体" panose="02010600030101010101" pitchFamily="2" charset="-122"/>
              </a:rPr>
              <a:t>、</a:t>
            </a:r>
            <a:r>
              <a:rPr lang="en-US" altLang="zh-CN" sz="2400" b="1" err="1">
                <a:latin typeface="Arial" panose="020B0604020202020204" pitchFamily="34" charset="0"/>
                <a:ea typeface="宋体" panose="02010600030101010101" pitchFamily="2" charset="-122"/>
              </a:rPr>
              <a:t>Jcc</a:t>
            </a:r>
            <a:r>
              <a:rPr lang="zh-CN" altLang="en-US" sz="2400" b="1">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Loop</a:t>
            </a:r>
            <a:r>
              <a:rPr lang="zh-CN" altLang="en-US" sz="2400" b="1">
                <a:latin typeface="Arial" panose="020B0604020202020204" pitchFamily="34" charset="0"/>
                <a:ea typeface="宋体" panose="02010600030101010101" pitchFamily="2" charset="-122"/>
              </a:rPr>
              <a:t>、</a:t>
            </a:r>
            <a:r>
              <a:rPr lang="en-US" altLang="zh-CN" sz="2400" b="1" err="1">
                <a:latin typeface="Arial" panose="020B0604020202020204" pitchFamily="34" charset="0"/>
                <a:ea typeface="宋体" panose="02010600030101010101" pitchFamily="2" charset="-122"/>
              </a:rPr>
              <a:t>Int</a:t>
            </a:r>
            <a:r>
              <a:rPr lang="zh-CN" altLang="en-US" sz="2400" b="1" dirty="0">
                <a:latin typeface="Arial" panose="020B0604020202020204" pitchFamily="34" charset="0"/>
                <a:ea typeface="宋体" panose="02010600030101010101" pitchFamily="2" charset="-122"/>
              </a:rPr>
              <a:t>指令的应用</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标题 485377"/>
          <p:cNvSpPr>
            <a:spLocks noGrp="1"/>
          </p:cNvSpPr>
          <p:nvPr>
            <p:ph type="title"/>
          </p:nvPr>
        </p:nvSpPr>
        <p:spPr>
          <a:xfrm>
            <a:off x="457200" y="908050"/>
            <a:ext cx="3106738" cy="561975"/>
          </a:xfrm>
          <a:ln/>
        </p:spPr>
        <p:txBody>
          <a:bodyPr anchor="ctr"/>
          <a:lstStyle/>
          <a:p>
            <a:pPr algn="l"/>
            <a:r>
              <a:rPr lang="en-US" altLang="zh-CN" sz="2400" b="1" dirty="0">
                <a:solidFill>
                  <a:schemeClr val="tx1"/>
                </a:solidFill>
              </a:rPr>
              <a:t>1</a:t>
            </a:r>
            <a:r>
              <a:rPr lang="zh-CN" altLang="en-US" sz="2400" b="1" dirty="0">
                <a:solidFill>
                  <a:schemeClr val="tx1"/>
                </a:solidFill>
              </a:rPr>
              <a:t>、无条件转移指令</a:t>
            </a:r>
          </a:p>
        </p:txBody>
      </p:sp>
      <p:sp>
        <p:nvSpPr>
          <p:cNvPr id="485379" name="文本占位符 485378"/>
          <p:cNvSpPr>
            <a:spLocks noGrp="1"/>
          </p:cNvSpPr>
          <p:nvPr>
            <p:ph type="body" idx="1"/>
          </p:nvPr>
        </p:nvSpPr>
        <p:spPr>
          <a:xfrm>
            <a:off x="1295400" y="3733800"/>
            <a:ext cx="4140200" cy="2216150"/>
          </a:xfrm>
          <a:ln/>
        </p:spPr>
        <p:txBody>
          <a:bodyPr/>
          <a:lstStyle/>
          <a:p>
            <a:pPr>
              <a:buNone/>
            </a:pPr>
            <a:r>
              <a:rPr lang="zh-CN" altLang="en-US" sz="2400" b="1" dirty="0"/>
              <a:t>　　</a:t>
            </a:r>
            <a:r>
              <a:rPr lang="en-US" altLang="zh-CN" sz="2400" b="1"/>
              <a:t>JMP</a:t>
            </a:r>
            <a:r>
              <a:rPr lang="zh-CN" altLang="en-US" sz="2400" b="1" dirty="0"/>
              <a:t>指令分成</a:t>
            </a:r>
            <a:r>
              <a:rPr lang="en-US" altLang="zh-CN" sz="2400" b="1"/>
              <a:t>4</a:t>
            </a:r>
            <a:r>
              <a:rPr lang="zh-CN" altLang="en-US" sz="2400" b="1" dirty="0"/>
              <a:t>种类型：</a:t>
            </a:r>
          </a:p>
          <a:p>
            <a:pPr lvl="2">
              <a:buNone/>
            </a:pPr>
            <a:r>
              <a:rPr lang="zh-CN" altLang="en-US" b="1"/>
              <a:t>⑴  </a:t>
            </a:r>
            <a:r>
              <a:rPr lang="zh-CN" altLang="en-US" b="1" dirty="0">
                <a:solidFill>
                  <a:srgbClr val="0000FF"/>
                </a:solidFill>
              </a:rPr>
              <a:t>段内</a:t>
            </a:r>
            <a:r>
              <a:rPr lang="zh-CN" altLang="en-US" b="1" dirty="0">
                <a:solidFill>
                  <a:srgbClr val="990099"/>
                </a:solidFill>
              </a:rPr>
              <a:t>直接</a:t>
            </a:r>
            <a:r>
              <a:rPr lang="zh-CN" altLang="en-US" b="1" dirty="0"/>
              <a:t>转移</a:t>
            </a:r>
            <a:endParaRPr lang="zh-CN" altLang="en-US" b="1"/>
          </a:p>
          <a:p>
            <a:pPr lvl="2">
              <a:buNone/>
            </a:pPr>
            <a:r>
              <a:rPr lang="zh-CN" altLang="en-US" b="1"/>
              <a:t>⑵  </a:t>
            </a:r>
            <a:r>
              <a:rPr lang="zh-CN" altLang="en-US" b="1" dirty="0">
                <a:solidFill>
                  <a:srgbClr val="0000FF"/>
                </a:solidFill>
              </a:rPr>
              <a:t>段内</a:t>
            </a:r>
            <a:r>
              <a:rPr lang="zh-CN" altLang="en-US" b="1" dirty="0">
                <a:solidFill>
                  <a:schemeClr val="accent1"/>
                </a:solidFill>
              </a:rPr>
              <a:t>间接</a:t>
            </a:r>
            <a:r>
              <a:rPr lang="zh-CN" altLang="en-US" b="1" dirty="0"/>
              <a:t>转移</a:t>
            </a:r>
            <a:endParaRPr lang="zh-CN" altLang="en-US" b="1"/>
          </a:p>
          <a:p>
            <a:pPr lvl="2">
              <a:buNone/>
            </a:pPr>
            <a:r>
              <a:rPr lang="zh-CN" altLang="en-US" b="1"/>
              <a:t>⑶  </a:t>
            </a:r>
            <a:r>
              <a:rPr lang="zh-CN" altLang="en-US" b="1" dirty="0">
                <a:solidFill>
                  <a:srgbClr val="FF00FF"/>
                </a:solidFill>
              </a:rPr>
              <a:t>段间</a:t>
            </a:r>
            <a:r>
              <a:rPr lang="zh-CN" altLang="en-US" b="1" dirty="0">
                <a:solidFill>
                  <a:srgbClr val="990099"/>
                </a:solidFill>
              </a:rPr>
              <a:t>直接</a:t>
            </a:r>
            <a:r>
              <a:rPr lang="zh-CN" altLang="en-US" b="1" dirty="0"/>
              <a:t>转移</a:t>
            </a:r>
            <a:endParaRPr lang="zh-CN" altLang="en-US" b="1"/>
          </a:p>
          <a:p>
            <a:pPr lvl="2">
              <a:buNone/>
            </a:pPr>
            <a:r>
              <a:rPr lang="zh-CN" altLang="en-US" b="1"/>
              <a:t>⑷  </a:t>
            </a:r>
            <a:r>
              <a:rPr lang="zh-CN" altLang="en-US" b="1" dirty="0">
                <a:solidFill>
                  <a:srgbClr val="FF00FF"/>
                </a:solidFill>
              </a:rPr>
              <a:t>段间</a:t>
            </a:r>
            <a:r>
              <a:rPr lang="zh-CN" altLang="en-US" b="1" dirty="0">
                <a:solidFill>
                  <a:schemeClr val="accent1"/>
                </a:solidFill>
              </a:rPr>
              <a:t>间接</a:t>
            </a:r>
            <a:r>
              <a:rPr lang="zh-CN" altLang="en-US" b="1" dirty="0"/>
              <a:t>转移</a:t>
            </a:r>
            <a:endParaRPr lang="zh-CN" altLang="en-US" b="1"/>
          </a:p>
        </p:txBody>
      </p:sp>
      <p:sp>
        <p:nvSpPr>
          <p:cNvPr id="485380" name="流程图: 可选过程 485379"/>
          <p:cNvSpPr/>
          <p:nvPr/>
        </p:nvSpPr>
        <p:spPr>
          <a:xfrm>
            <a:off x="2198688" y="1719263"/>
            <a:ext cx="1939925" cy="485775"/>
          </a:xfrm>
          <a:prstGeom prst="flowChartAlternateProcess">
            <a:avLst/>
          </a:prstGeom>
          <a:solidFill>
            <a:schemeClr val="bg1"/>
          </a:solidFill>
          <a:ln w="12700">
            <a:noFill/>
          </a:ln>
          <a:effectLst>
            <a:prstShdw prst="shdw13" dist="53882" dir="13499999">
              <a:srgbClr val="808080"/>
            </a:prstShdw>
          </a:effectLst>
        </p:spPr>
        <p:txBody>
          <a:bodyPr>
            <a:spAutoFit/>
          </a:bodyPr>
          <a:lstStyle/>
          <a:p>
            <a:pPr lvl="0" defTabSz="0">
              <a:spcBef>
                <a:spcPct val="50000"/>
              </a:spcBef>
              <a:tabLst>
                <a:tab pos="2089150" algn="l"/>
              </a:tabLst>
            </a:pPr>
            <a:r>
              <a:rPr lang="en-US" altLang="zh-CN" sz="2400" b="1">
                <a:latin typeface="宋体" panose="02010600030101010101" pitchFamily="2" charset="-122"/>
                <a:ea typeface="宋体" panose="02010600030101010101" pitchFamily="2" charset="-122"/>
              </a:rPr>
              <a:t>JMP label</a:t>
            </a:r>
          </a:p>
        </p:txBody>
      </p:sp>
      <p:sp>
        <p:nvSpPr>
          <p:cNvPr id="485382" name="矩形 485381"/>
          <p:cNvSpPr/>
          <p:nvPr/>
        </p:nvSpPr>
        <p:spPr>
          <a:xfrm>
            <a:off x="827088" y="1663700"/>
            <a:ext cx="1150937" cy="457200"/>
          </a:xfrm>
          <a:prstGeom prst="rect">
            <a:avLst/>
          </a:prstGeom>
          <a:noFill/>
          <a:ln w="9525">
            <a:noFill/>
          </a:ln>
        </p:spPr>
        <p:txBody>
          <a:bodyPr>
            <a:spAutoFit/>
          </a:bodyPr>
          <a:lstStyle/>
          <a:p>
            <a:pPr lvl="0"/>
            <a:r>
              <a:rPr lang="zh-CN" altLang="en-US" sz="2400" b="1" dirty="0">
                <a:latin typeface="Arial" panose="020B0604020202020204" pitchFamily="34" charset="0"/>
                <a:ea typeface="宋体" panose="02010600030101010101" pitchFamily="2" charset="-122"/>
              </a:rPr>
              <a:t>格式：</a:t>
            </a:r>
          </a:p>
        </p:txBody>
      </p:sp>
      <p:sp>
        <p:nvSpPr>
          <p:cNvPr id="485383" name="流程图: 可选过程 485382"/>
          <p:cNvSpPr/>
          <p:nvPr/>
        </p:nvSpPr>
        <p:spPr>
          <a:xfrm>
            <a:off x="2198688" y="2511425"/>
            <a:ext cx="6281737" cy="485775"/>
          </a:xfrm>
          <a:prstGeom prst="flowChartAlternateProcess">
            <a:avLst/>
          </a:prstGeom>
          <a:solidFill>
            <a:schemeClr val="bg1"/>
          </a:solidFill>
          <a:ln w="12700">
            <a:noFill/>
          </a:ln>
          <a:effectLst>
            <a:prstShdw prst="shdw13" dist="53882" dir="13499999">
              <a:srgbClr val="808080"/>
            </a:prstShdw>
          </a:effectLst>
        </p:spPr>
        <p:txBody>
          <a:bodyPr>
            <a:spAutoFit/>
          </a:bodyPr>
          <a:lstStyle/>
          <a:p>
            <a:pPr lvl="0" defTabSz="0">
              <a:spcBef>
                <a:spcPct val="50000"/>
              </a:spcBef>
              <a:tabLst>
                <a:tab pos="2089150" algn="l"/>
              </a:tabLst>
            </a:pPr>
            <a:r>
              <a:rPr lang="zh-CN" altLang="en-US" sz="2400" b="1" dirty="0">
                <a:latin typeface="宋体" panose="02010600030101010101" pitchFamily="2" charset="-122"/>
                <a:ea typeface="宋体" panose="02010600030101010101" pitchFamily="2" charset="-122"/>
              </a:rPr>
              <a:t>程序转向</a:t>
            </a:r>
            <a:r>
              <a:rPr lang="en-US" altLang="zh-CN" sz="2400" b="1">
                <a:latin typeface="宋体" panose="02010600030101010101" pitchFamily="2" charset="-122"/>
                <a:ea typeface="宋体" panose="02010600030101010101" pitchFamily="2" charset="-122"/>
              </a:rPr>
              <a:t>label</a:t>
            </a:r>
            <a:r>
              <a:rPr lang="zh-CN" altLang="en-US" sz="2400" b="1" dirty="0">
                <a:latin typeface="宋体" panose="02010600030101010101" pitchFamily="2" charset="-122"/>
                <a:ea typeface="宋体" panose="02010600030101010101" pitchFamily="2" charset="-122"/>
              </a:rPr>
              <a:t>标号指定的地址处执行</a:t>
            </a:r>
            <a:r>
              <a:rPr lang="zh-CN" altLang="en-US" sz="2400" b="1" i="1" dirty="0">
                <a:latin typeface="Arial" panose="020B0604020202020204" pitchFamily="34" charset="0"/>
                <a:ea typeface="宋体" panose="02010600030101010101" pitchFamily="2" charset="-122"/>
              </a:rPr>
              <a:t> </a:t>
            </a:r>
          </a:p>
        </p:txBody>
      </p:sp>
      <p:sp>
        <p:nvSpPr>
          <p:cNvPr id="485384" name="矩形 485383"/>
          <p:cNvSpPr/>
          <p:nvPr/>
        </p:nvSpPr>
        <p:spPr>
          <a:xfrm>
            <a:off x="827088" y="2455863"/>
            <a:ext cx="1552575" cy="457200"/>
          </a:xfrm>
          <a:prstGeom prst="rect">
            <a:avLst/>
          </a:prstGeom>
          <a:noFill/>
          <a:ln w="9525">
            <a:noFill/>
          </a:ln>
        </p:spPr>
        <p:txBody>
          <a:bodyPr>
            <a:spAutoFit/>
          </a:bodyPr>
          <a:lstStyle/>
          <a:p>
            <a:pPr lvl="0"/>
            <a:r>
              <a:rPr lang="zh-CN" altLang="en-US" sz="2400" b="1" dirty="0">
                <a:latin typeface="Arial" panose="020B0604020202020204" pitchFamily="34" charset="0"/>
                <a:ea typeface="宋体" panose="02010600030101010101" pitchFamily="2" charset="-122"/>
              </a:rPr>
              <a:t>功能：</a:t>
            </a:r>
          </a:p>
        </p:txBody>
      </p:sp>
      <p:sp>
        <p:nvSpPr>
          <p:cNvPr id="485385" name="矩形 485384"/>
          <p:cNvSpPr/>
          <p:nvPr/>
        </p:nvSpPr>
        <p:spPr>
          <a:xfrm>
            <a:off x="971550" y="3357563"/>
            <a:ext cx="1152525" cy="457200"/>
          </a:xfrm>
          <a:prstGeom prst="rect">
            <a:avLst/>
          </a:prstGeom>
          <a:noFill/>
          <a:ln w="9525">
            <a:noFill/>
          </a:ln>
        </p:spPr>
        <p:txBody>
          <a:bodyPr>
            <a:spAutoFit/>
          </a:bodyPr>
          <a:lstStyle/>
          <a:p>
            <a:pPr lvl="0"/>
            <a:r>
              <a:rPr lang="zh-CN" altLang="en-US" sz="2400" b="1" dirty="0">
                <a:solidFill>
                  <a:srgbClr val="0000FF"/>
                </a:solidFill>
                <a:latin typeface="Arial" panose="020B0604020202020204" pitchFamily="34" charset="0"/>
                <a:ea typeface="宋体" panose="02010600030101010101" pitchFamily="2" charset="-122"/>
              </a:rPr>
              <a:t>说明：</a:t>
            </a:r>
          </a:p>
        </p:txBody>
      </p:sp>
      <p:sp>
        <p:nvSpPr>
          <p:cNvPr id="10" name="矩形 9"/>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6402" name="标题 486401"/>
          <p:cNvSpPr>
            <a:spLocks noGrp="1"/>
          </p:cNvSpPr>
          <p:nvPr>
            <p:ph type="title"/>
          </p:nvPr>
        </p:nvSpPr>
        <p:spPr>
          <a:xfrm>
            <a:off x="539750" y="908050"/>
            <a:ext cx="2303463" cy="490538"/>
          </a:xfrm>
          <a:ln/>
        </p:spPr>
        <p:txBody>
          <a:bodyPr anchor="ctr"/>
          <a:lstStyle/>
          <a:p>
            <a:pPr algn="l"/>
            <a:r>
              <a:rPr lang="zh-CN" altLang="en-US" sz="2400" b="1" dirty="0">
                <a:solidFill>
                  <a:schemeClr val="tx1"/>
                </a:solidFill>
              </a:rPr>
              <a:t>解释</a:t>
            </a:r>
            <a:r>
              <a:rPr lang="zh-CN" altLang="en-US" sz="2400" b="1" dirty="0">
                <a:solidFill>
                  <a:srgbClr val="0000FF"/>
                </a:solidFill>
              </a:rPr>
              <a:t>段内</a:t>
            </a:r>
            <a:r>
              <a:rPr lang="zh-CN" altLang="en-US" sz="2400" b="1" dirty="0">
                <a:solidFill>
                  <a:schemeClr val="tx1"/>
                </a:solidFill>
              </a:rPr>
              <a:t>涵义</a:t>
            </a:r>
            <a:endParaRPr lang="zh-CN" altLang="zh-CN" sz="2400" b="1">
              <a:solidFill>
                <a:schemeClr val="tx1"/>
              </a:solidFill>
            </a:endParaRPr>
          </a:p>
        </p:txBody>
      </p:sp>
      <p:sp>
        <p:nvSpPr>
          <p:cNvPr id="486403" name="文本占位符 486402"/>
          <p:cNvSpPr>
            <a:spLocks noGrp="1"/>
          </p:cNvSpPr>
          <p:nvPr>
            <p:ph type="body" idx="1"/>
          </p:nvPr>
        </p:nvSpPr>
        <p:spPr>
          <a:xfrm>
            <a:off x="228600" y="1412875"/>
            <a:ext cx="6781800" cy="3844925"/>
          </a:xfrm>
          <a:ln/>
        </p:spPr>
        <p:txBody>
          <a:bodyPr/>
          <a:lstStyle/>
          <a:p>
            <a:pPr marL="0" indent="0">
              <a:buNone/>
            </a:pPr>
            <a:r>
              <a:rPr lang="zh-CN" altLang="en-US" sz="2400" b="1" dirty="0"/>
              <a:t>（</a:t>
            </a:r>
            <a:r>
              <a:rPr lang="en-US" altLang="zh-CN" sz="2400" b="1" dirty="0"/>
              <a:t>1</a:t>
            </a:r>
            <a:r>
              <a:rPr lang="zh-CN" altLang="en-US" sz="2400" b="1" dirty="0"/>
              <a:t>）段内</a:t>
            </a:r>
            <a:r>
              <a:rPr lang="zh-CN" altLang="en-US" sz="2400" b="1" dirty="0">
                <a:solidFill>
                  <a:srgbClr val="FF00FF"/>
                </a:solidFill>
              </a:rPr>
              <a:t>近转移</a:t>
            </a:r>
            <a:r>
              <a:rPr lang="zh-CN" altLang="en-US" sz="2400" b="1" dirty="0"/>
              <a:t>（</a:t>
            </a:r>
            <a:r>
              <a:rPr lang="en-US" altLang="zh-CN" sz="2400" b="1" dirty="0">
                <a:solidFill>
                  <a:srgbClr val="FF00FF"/>
                </a:solidFill>
              </a:rPr>
              <a:t>near</a:t>
            </a:r>
            <a:r>
              <a:rPr lang="zh-CN" altLang="en-US" sz="2400" b="1" dirty="0"/>
              <a:t>）</a:t>
            </a:r>
          </a:p>
          <a:p>
            <a:pPr marL="443230" lvl="1" indent="0">
              <a:buNone/>
            </a:pPr>
            <a:r>
              <a:rPr lang="zh-CN" altLang="en-US" sz="2400" b="1" dirty="0"/>
              <a:t>在当前</a:t>
            </a:r>
            <a:r>
              <a:rPr lang="zh-CN" altLang="en-US" sz="2400" b="1" dirty="0">
                <a:solidFill>
                  <a:schemeClr val="tx2"/>
                </a:solidFill>
              </a:rPr>
              <a:t>代码段</a:t>
            </a:r>
            <a:r>
              <a:rPr lang="en-US" altLang="zh-CN" sz="2400" b="1" dirty="0">
                <a:solidFill>
                  <a:srgbClr val="FF00FF"/>
                </a:solidFill>
              </a:rPr>
              <a:t>64KB</a:t>
            </a:r>
            <a:r>
              <a:rPr lang="zh-CN" altLang="en-US" sz="2400" b="1" dirty="0">
                <a:solidFill>
                  <a:schemeClr val="tx2"/>
                </a:solidFill>
              </a:rPr>
              <a:t>范围内</a:t>
            </a:r>
            <a:r>
              <a:rPr lang="zh-CN" altLang="en-US" sz="2400" b="1" dirty="0"/>
              <a:t>转移（ </a:t>
            </a:r>
            <a:r>
              <a:rPr lang="en-US" altLang="zh-CN" sz="2400" b="1" dirty="0">
                <a:solidFill>
                  <a:srgbClr val="FF00FF"/>
                </a:solidFill>
              </a:rPr>
              <a:t>±32KB</a:t>
            </a:r>
            <a:r>
              <a:rPr lang="zh-CN" altLang="en-US" sz="2400" b="1" dirty="0"/>
              <a:t>范围）</a:t>
            </a:r>
          </a:p>
          <a:p>
            <a:pPr marL="0" indent="0">
              <a:buNone/>
            </a:pPr>
            <a:r>
              <a:rPr lang="zh-CN" altLang="en-US" sz="2400" b="1" dirty="0"/>
              <a:t>（</a:t>
            </a:r>
            <a:r>
              <a:rPr lang="en-US" altLang="zh-CN" sz="2400" b="1" dirty="0"/>
              <a:t>2</a:t>
            </a:r>
            <a:r>
              <a:rPr lang="zh-CN" altLang="en-US" sz="2400" b="1" dirty="0"/>
              <a:t>）段内</a:t>
            </a:r>
            <a:r>
              <a:rPr lang="zh-CN" altLang="en-US" sz="2400" b="1" dirty="0">
                <a:solidFill>
                  <a:srgbClr val="FF00FF"/>
                </a:solidFill>
              </a:rPr>
              <a:t>短转移</a:t>
            </a:r>
            <a:r>
              <a:rPr lang="zh-CN" altLang="en-US" sz="2400" b="1" dirty="0"/>
              <a:t>（</a:t>
            </a:r>
            <a:r>
              <a:rPr lang="en-US" altLang="zh-CN" sz="2400" b="1" dirty="0">
                <a:solidFill>
                  <a:srgbClr val="FF00FF"/>
                </a:solidFill>
              </a:rPr>
              <a:t>short</a:t>
            </a:r>
            <a:r>
              <a:rPr lang="zh-CN" altLang="en-US" sz="2400" b="1" dirty="0"/>
              <a:t>）</a:t>
            </a:r>
          </a:p>
          <a:p>
            <a:pPr marL="443230" lvl="1" indent="0">
              <a:buNone/>
            </a:pPr>
            <a:r>
              <a:rPr lang="zh-CN" altLang="en-US" sz="2400" b="1" dirty="0"/>
              <a:t>转移范围当前</a:t>
            </a:r>
            <a:r>
              <a:rPr lang="zh-CN" altLang="en-US" sz="2400" b="1" dirty="0">
                <a:solidFill>
                  <a:schemeClr val="tx2"/>
                </a:solidFill>
              </a:rPr>
              <a:t>代码段</a:t>
            </a:r>
            <a:r>
              <a:rPr lang="en-US" altLang="zh-CN" sz="2400" b="1" dirty="0">
                <a:solidFill>
                  <a:srgbClr val="FF00FF"/>
                </a:solidFill>
              </a:rPr>
              <a:t>±127B</a:t>
            </a:r>
            <a:r>
              <a:rPr lang="zh-CN" altLang="en-US" sz="2400" b="1" dirty="0"/>
              <a:t>范围内转移（可用</a:t>
            </a:r>
            <a:r>
              <a:rPr lang="zh-CN" altLang="en-US" sz="2400" b="1" dirty="0">
                <a:solidFill>
                  <a:schemeClr val="tx2"/>
                </a:solidFill>
              </a:rPr>
              <a:t>一个字节</a:t>
            </a:r>
            <a:r>
              <a:rPr lang="zh-CN" altLang="en-US" sz="2400" b="1" dirty="0"/>
              <a:t>表达，在段内</a:t>
            </a:r>
            <a:r>
              <a:rPr lang="zh-CN" altLang="en-US" sz="2400" b="1" dirty="0">
                <a:solidFill>
                  <a:srgbClr val="FF00FF"/>
                </a:solidFill>
              </a:rPr>
              <a:t>－</a:t>
            </a:r>
            <a:r>
              <a:rPr lang="en-US" altLang="zh-CN" sz="2400" b="1" dirty="0">
                <a:solidFill>
                  <a:srgbClr val="FF00FF"/>
                </a:solidFill>
              </a:rPr>
              <a:t>128B</a:t>
            </a:r>
            <a:r>
              <a:rPr lang="zh-CN" altLang="en-US" sz="2400" b="1" dirty="0">
                <a:solidFill>
                  <a:srgbClr val="FF00FF"/>
                </a:solidFill>
              </a:rPr>
              <a:t>～＋</a:t>
            </a:r>
            <a:r>
              <a:rPr lang="en-US" altLang="zh-CN" sz="2400" b="1" dirty="0">
                <a:solidFill>
                  <a:srgbClr val="FF00FF"/>
                </a:solidFill>
              </a:rPr>
              <a:t>127B</a:t>
            </a:r>
            <a:r>
              <a:rPr lang="zh-CN" altLang="en-US" sz="2400" b="1" dirty="0"/>
              <a:t>范围的转移）</a:t>
            </a:r>
          </a:p>
          <a:p>
            <a:pPr marL="443230" lvl="1" indent="0">
              <a:buNone/>
            </a:pPr>
            <a:r>
              <a:rPr lang="zh-CN" altLang="en-US" sz="2400" b="1" dirty="0"/>
              <a:t>段内转移不需要更改</a:t>
            </a:r>
            <a:r>
              <a:rPr lang="en-US" altLang="zh-CN" sz="2400" b="1" dirty="0"/>
              <a:t>CS</a:t>
            </a:r>
            <a:r>
              <a:rPr lang="zh-CN" altLang="en-US" sz="2400" b="1" dirty="0"/>
              <a:t>段地址，</a:t>
            </a:r>
            <a:r>
              <a:rPr lang="zh-CN" altLang="en-US" sz="2400" b="1" dirty="0">
                <a:solidFill>
                  <a:srgbClr val="FF00FF"/>
                </a:solidFill>
              </a:rPr>
              <a:t>只需改变</a:t>
            </a:r>
            <a:r>
              <a:rPr lang="en-US" altLang="zh-CN" sz="2400" b="1" dirty="0">
                <a:solidFill>
                  <a:srgbClr val="FF00FF"/>
                </a:solidFill>
              </a:rPr>
              <a:t>IP</a:t>
            </a:r>
            <a:r>
              <a:rPr lang="zh-CN" altLang="en-US" sz="2400" b="1" dirty="0">
                <a:solidFill>
                  <a:srgbClr val="FF00FF"/>
                </a:solidFill>
              </a:rPr>
              <a:t>偏移地址</a:t>
            </a:r>
          </a:p>
        </p:txBody>
      </p:sp>
      <p:grpSp>
        <p:nvGrpSpPr>
          <p:cNvPr id="486404" name="组合 486403"/>
          <p:cNvGrpSpPr/>
          <p:nvPr/>
        </p:nvGrpSpPr>
        <p:grpSpPr>
          <a:xfrm>
            <a:off x="7315200" y="1524000"/>
            <a:ext cx="1447800" cy="4419600"/>
            <a:chOff x="4608" y="960"/>
            <a:chExt cx="912" cy="2784"/>
          </a:xfrm>
        </p:grpSpPr>
        <p:grpSp>
          <p:nvGrpSpPr>
            <p:cNvPr id="486405" name="组合 486404"/>
            <p:cNvGrpSpPr/>
            <p:nvPr/>
          </p:nvGrpSpPr>
          <p:grpSpPr>
            <a:xfrm>
              <a:off x="4608" y="960"/>
              <a:ext cx="624" cy="2784"/>
              <a:chOff x="4320" y="1200"/>
              <a:chExt cx="528" cy="2688"/>
            </a:xfrm>
          </p:grpSpPr>
          <p:sp>
            <p:nvSpPr>
              <p:cNvPr id="486406" name="直接连接符 486405"/>
              <p:cNvSpPr/>
              <p:nvPr/>
            </p:nvSpPr>
            <p:spPr>
              <a:xfrm>
                <a:off x="4320" y="1200"/>
                <a:ext cx="0" cy="2688"/>
              </a:xfrm>
              <a:prstGeom prst="line">
                <a:avLst/>
              </a:prstGeom>
              <a:ln w="28575" cap="flat" cmpd="sng">
                <a:solidFill>
                  <a:schemeClr val="tx1"/>
                </a:solidFill>
                <a:prstDash val="solid"/>
                <a:headEnd type="none" w="med" len="med"/>
                <a:tailEnd type="none" w="med" len="med"/>
              </a:ln>
            </p:spPr>
          </p:sp>
          <p:sp>
            <p:nvSpPr>
              <p:cNvPr id="486407" name="直接连接符 486406"/>
              <p:cNvSpPr/>
              <p:nvPr/>
            </p:nvSpPr>
            <p:spPr>
              <a:xfrm>
                <a:off x="4848" y="1200"/>
                <a:ext cx="0" cy="2688"/>
              </a:xfrm>
              <a:prstGeom prst="line">
                <a:avLst/>
              </a:prstGeom>
              <a:ln w="28575" cap="flat" cmpd="sng">
                <a:solidFill>
                  <a:schemeClr val="tx1"/>
                </a:solidFill>
                <a:prstDash val="solid"/>
                <a:headEnd type="none" w="med" len="med"/>
                <a:tailEnd type="none" w="med" len="med"/>
              </a:ln>
            </p:spPr>
          </p:sp>
        </p:grpSp>
        <p:grpSp>
          <p:nvGrpSpPr>
            <p:cNvPr id="486408" name="组合 486407"/>
            <p:cNvGrpSpPr/>
            <p:nvPr/>
          </p:nvGrpSpPr>
          <p:grpSpPr>
            <a:xfrm rot="-5400000">
              <a:off x="4428" y="2580"/>
              <a:ext cx="984" cy="624"/>
              <a:chOff x="4320" y="1200"/>
              <a:chExt cx="528" cy="2688"/>
            </a:xfrm>
          </p:grpSpPr>
          <p:sp>
            <p:nvSpPr>
              <p:cNvPr id="486409" name="直接连接符 486408"/>
              <p:cNvSpPr/>
              <p:nvPr/>
            </p:nvSpPr>
            <p:spPr>
              <a:xfrm>
                <a:off x="4320" y="1200"/>
                <a:ext cx="0" cy="2688"/>
              </a:xfrm>
              <a:prstGeom prst="line">
                <a:avLst/>
              </a:prstGeom>
              <a:ln w="28575" cap="flat" cmpd="sng">
                <a:solidFill>
                  <a:srgbClr val="7AA3DA"/>
                </a:solidFill>
                <a:prstDash val="solid"/>
                <a:headEnd type="none" w="med" len="med"/>
                <a:tailEnd type="none" w="med" len="med"/>
              </a:ln>
            </p:spPr>
          </p:sp>
          <p:sp>
            <p:nvSpPr>
              <p:cNvPr id="486410" name="直接连接符 486409"/>
              <p:cNvSpPr/>
              <p:nvPr/>
            </p:nvSpPr>
            <p:spPr>
              <a:xfrm>
                <a:off x="4848" y="1200"/>
                <a:ext cx="0" cy="2688"/>
              </a:xfrm>
              <a:prstGeom prst="line">
                <a:avLst/>
              </a:prstGeom>
              <a:ln w="28575" cap="flat" cmpd="sng">
                <a:solidFill>
                  <a:srgbClr val="7AA3DA"/>
                </a:solidFill>
                <a:prstDash val="solid"/>
                <a:headEnd type="none" w="med" len="med"/>
                <a:tailEnd type="none" w="med" len="med"/>
              </a:ln>
            </p:spPr>
          </p:sp>
        </p:grpSp>
        <p:sp>
          <p:nvSpPr>
            <p:cNvPr id="486411" name="右弧形箭头 486410"/>
            <p:cNvSpPr/>
            <p:nvPr/>
          </p:nvSpPr>
          <p:spPr>
            <a:xfrm flipV="1">
              <a:off x="5232" y="2544"/>
              <a:ext cx="288" cy="672"/>
            </a:xfrm>
            <a:prstGeom prst="curvedLeftArrow">
              <a:avLst>
                <a:gd name="adj1" fmla="val 25440"/>
                <a:gd name="adj2" fmla="val 72107"/>
                <a:gd name="adj3" fmla="val 33333"/>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nvGrpSpPr>
            <p:cNvPr id="486412" name="组合 486411"/>
            <p:cNvGrpSpPr/>
            <p:nvPr/>
          </p:nvGrpSpPr>
          <p:grpSpPr>
            <a:xfrm rot="-5400000">
              <a:off x="4428" y="1428"/>
              <a:ext cx="984" cy="624"/>
              <a:chOff x="4320" y="1200"/>
              <a:chExt cx="528" cy="2688"/>
            </a:xfrm>
          </p:grpSpPr>
          <p:sp>
            <p:nvSpPr>
              <p:cNvPr id="486413" name="直接连接符 486412"/>
              <p:cNvSpPr/>
              <p:nvPr/>
            </p:nvSpPr>
            <p:spPr>
              <a:xfrm>
                <a:off x="4320" y="1200"/>
                <a:ext cx="0" cy="2688"/>
              </a:xfrm>
              <a:prstGeom prst="line">
                <a:avLst/>
              </a:prstGeom>
              <a:ln w="28575" cap="flat" cmpd="sng">
                <a:solidFill>
                  <a:srgbClr val="7AA3DA"/>
                </a:solidFill>
                <a:prstDash val="solid"/>
                <a:headEnd type="none" w="med" len="med"/>
                <a:tailEnd type="none" w="med" len="med"/>
              </a:ln>
            </p:spPr>
          </p:sp>
          <p:sp>
            <p:nvSpPr>
              <p:cNvPr id="486414" name="直接连接符 486413"/>
              <p:cNvSpPr/>
              <p:nvPr/>
            </p:nvSpPr>
            <p:spPr>
              <a:xfrm>
                <a:off x="4848" y="1200"/>
                <a:ext cx="0" cy="2688"/>
              </a:xfrm>
              <a:prstGeom prst="line">
                <a:avLst/>
              </a:prstGeom>
              <a:ln w="28575" cap="flat" cmpd="sng">
                <a:solidFill>
                  <a:srgbClr val="7AA3DA"/>
                </a:solidFill>
                <a:prstDash val="solid"/>
                <a:headEnd type="none" w="med" len="med"/>
                <a:tailEnd type="none" w="med" len="med"/>
              </a:ln>
            </p:spPr>
          </p:sp>
        </p:grpSp>
        <p:sp>
          <p:nvSpPr>
            <p:cNvPr id="486415" name="文本框 486414"/>
            <p:cNvSpPr txBox="1"/>
            <p:nvPr/>
          </p:nvSpPr>
          <p:spPr>
            <a:xfrm>
              <a:off x="4758" y="1459"/>
              <a:ext cx="346" cy="625"/>
            </a:xfrm>
            <a:prstGeom prst="rect">
              <a:avLst/>
            </a:prstGeom>
            <a:noFill/>
            <a:ln w="9525">
              <a:noFill/>
            </a:ln>
          </p:spPr>
          <p:txBody>
            <a:bodyPr vert="eaVert" wrap="none" anchor="t">
              <a:spAutoFit/>
            </a:bodyPr>
            <a:lstStyle/>
            <a:p>
              <a:pPr lvl="0"/>
              <a:r>
                <a:rPr lang="zh-CN" altLang="en-US" sz="2400" b="1" dirty="0">
                  <a:latin typeface="Arial" panose="020B0604020202020204" pitchFamily="34" charset="0"/>
                  <a:ea typeface="宋体" panose="02010600030101010101" pitchFamily="2" charset="-122"/>
                </a:rPr>
                <a:t>代码段</a:t>
              </a:r>
            </a:p>
          </p:txBody>
        </p:sp>
        <p:sp>
          <p:nvSpPr>
            <p:cNvPr id="486416" name="文本框 486415"/>
            <p:cNvSpPr txBox="1"/>
            <p:nvPr/>
          </p:nvSpPr>
          <p:spPr>
            <a:xfrm>
              <a:off x="4752" y="2592"/>
              <a:ext cx="346" cy="625"/>
            </a:xfrm>
            <a:prstGeom prst="rect">
              <a:avLst/>
            </a:prstGeom>
            <a:noFill/>
            <a:ln w="9525">
              <a:noFill/>
            </a:ln>
          </p:spPr>
          <p:txBody>
            <a:bodyPr vert="eaVert" wrap="none" anchor="t">
              <a:spAutoFit/>
            </a:bodyPr>
            <a:lstStyle/>
            <a:p>
              <a:pPr lvl="0"/>
              <a:r>
                <a:rPr lang="zh-CN" altLang="en-US" sz="2400" b="1" dirty="0">
                  <a:latin typeface="Arial" panose="020B0604020202020204" pitchFamily="34" charset="0"/>
                  <a:ea typeface="宋体" panose="02010600030101010101" pitchFamily="2" charset="-122"/>
                </a:rPr>
                <a:t>代码段</a:t>
              </a:r>
            </a:p>
          </p:txBody>
        </p:sp>
        <p:sp>
          <p:nvSpPr>
            <p:cNvPr id="486417" name="右弧形箭头 486416"/>
            <p:cNvSpPr/>
            <p:nvPr/>
          </p:nvSpPr>
          <p:spPr>
            <a:xfrm>
              <a:off x="5232" y="1344"/>
              <a:ext cx="288" cy="672"/>
            </a:xfrm>
            <a:prstGeom prst="curvedLeftArrow">
              <a:avLst>
                <a:gd name="adj1" fmla="val 25440"/>
                <a:gd name="adj2" fmla="val 72107"/>
                <a:gd name="adj3" fmla="val 33333"/>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sp>
        <p:nvSpPr>
          <p:cNvPr id="20" name="矩形 19"/>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7426" name="标题 487425"/>
          <p:cNvSpPr>
            <a:spLocks noGrp="1"/>
          </p:cNvSpPr>
          <p:nvPr>
            <p:ph type="title"/>
          </p:nvPr>
        </p:nvSpPr>
        <p:spPr>
          <a:xfrm>
            <a:off x="323850" y="836613"/>
            <a:ext cx="2170113" cy="561975"/>
          </a:xfrm>
          <a:ln/>
        </p:spPr>
        <p:txBody>
          <a:bodyPr anchor="ctr"/>
          <a:lstStyle/>
          <a:p>
            <a:pPr algn="l"/>
            <a:r>
              <a:rPr lang="zh-CN" altLang="en-US" sz="2400" b="1" dirty="0">
                <a:solidFill>
                  <a:schemeClr val="tx1"/>
                </a:solidFill>
              </a:rPr>
              <a:t>解释</a:t>
            </a:r>
            <a:r>
              <a:rPr lang="zh-CN" altLang="en-US" sz="2400" b="1" dirty="0">
                <a:solidFill>
                  <a:srgbClr val="FF00FF"/>
                </a:solidFill>
              </a:rPr>
              <a:t>段间</a:t>
            </a:r>
            <a:r>
              <a:rPr lang="zh-CN" altLang="en-US" sz="2400" b="1" dirty="0">
                <a:solidFill>
                  <a:schemeClr val="tx1"/>
                </a:solidFill>
              </a:rPr>
              <a:t>涵义</a:t>
            </a:r>
            <a:endParaRPr lang="zh-CN" altLang="zh-CN" sz="2400" b="1">
              <a:solidFill>
                <a:schemeClr val="tx1"/>
              </a:solidFill>
            </a:endParaRPr>
          </a:p>
        </p:txBody>
      </p:sp>
      <p:sp>
        <p:nvSpPr>
          <p:cNvPr id="487427" name="文本占位符 487426"/>
          <p:cNvSpPr>
            <a:spLocks noGrp="1"/>
          </p:cNvSpPr>
          <p:nvPr>
            <p:ph type="body" idx="1"/>
          </p:nvPr>
        </p:nvSpPr>
        <p:spPr>
          <a:xfrm>
            <a:off x="381000" y="2095500"/>
            <a:ext cx="6172200" cy="2557463"/>
          </a:xfrm>
          <a:ln/>
        </p:spPr>
        <p:txBody>
          <a:bodyPr/>
          <a:lstStyle/>
          <a:p>
            <a:pPr>
              <a:buClrTx/>
              <a:buNone/>
            </a:pPr>
            <a:r>
              <a:rPr lang="zh-CN" altLang="en-US" sz="2400" b="1" dirty="0"/>
              <a:t>段间转移</a:t>
            </a:r>
            <a:r>
              <a:rPr lang="en-US" altLang="zh-CN" sz="2400" b="1"/>
              <a:t>——</a:t>
            </a:r>
            <a:r>
              <a:rPr lang="zh-CN" altLang="en-US" sz="2400" b="1" dirty="0"/>
              <a:t>远转移（</a:t>
            </a:r>
            <a:r>
              <a:rPr lang="en-US" altLang="zh-CN" sz="2400" b="1"/>
              <a:t>far</a:t>
            </a:r>
            <a:r>
              <a:rPr lang="zh-CN" altLang="en-US" sz="2400" b="1"/>
              <a:t>）</a:t>
            </a:r>
            <a:endParaRPr lang="zh-CN" altLang="en-US" sz="2400" b="1" dirty="0"/>
          </a:p>
          <a:p>
            <a:pPr lvl="1">
              <a:buClrTx/>
              <a:buNone/>
            </a:pPr>
            <a:r>
              <a:rPr lang="zh-CN" altLang="en-US" sz="2400" b="1" dirty="0"/>
              <a:t>从</a:t>
            </a:r>
            <a:r>
              <a:rPr lang="zh-CN" altLang="en-US" sz="2400" b="1" dirty="0">
                <a:solidFill>
                  <a:srgbClr val="0000FF"/>
                </a:solidFill>
              </a:rPr>
              <a:t>当前代码段</a:t>
            </a:r>
            <a:r>
              <a:rPr lang="zh-CN" altLang="en-US" sz="2400" b="1" dirty="0"/>
              <a:t>跳转到</a:t>
            </a:r>
            <a:r>
              <a:rPr lang="zh-CN" altLang="en-US" sz="2400" b="1" dirty="0">
                <a:solidFill>
                  <a:srgbClr val="0000FF"/>
                </a:solidFill>
              </a:rPr>
              <a:t>另一个代码段</a:t>
            </a:r>
            <a:r>
              <a:rPr lang="zh-CN" altLang="en-US" sz="2400" b="1" dirty="0"/>
              <a:t>，可以在</a:t>
            </a:r>
            <a:r>
              <a:rPr lang="en-US" altLang="zh-CN" sz="2400" b="1">
                <a:solidFill>
                  <a:srgbClr val="0000FF"/>
                </a:solidFill>
              </a:rPr>
              <a:t>1MB</a:t>
            </a:r>
            <a:r>
              <a:rPr lang="zh-CN" altLang="en-US" sz="2400" b="1" dirty="0"/>
              <a:t>范围</a:t>
            </a:r>
          </a:p>
          <a:p>
            <a:pPr lvl="1">
              <a:buClrTx/>
              <a:buNone/>
            </a:pPr>
            <a:r>
              <a:rPr lang="zh-CN" altLang="en-US" sz="2400" b="1" dirty="0"/>
              <a:t>需要更改</a:t>
            </a:r>
            <a:r>
              <a:rPr lang="en-US" altLang="zh-CN" sz="2400" b="1">
                <a:solidFill>
                  <a:srgbClr val="0000FF"/>
                </a:solidFill>
              </a:rPr>
              <a:t>CS</a:t>
            </a:r>
            <a:r>
              <a:rPr lang="zh-CN" altLang="en-US" sz="2400" b="1" dirty="0"/>
              <a:t>段地址和</a:t>
            </a:r>
            <a:r>
              <a:rPr lang="en-US" altLang="zh-CN" sz="2400" b="1">
                <a:solidFill>
                  <a:srgbClr val="0000FF"/>
                </a:solidFill>
              </a:rPr>
              <a:t>IP</a:t>
            </a:r>
            <a:r>
              <a:rPr lang="zh-CN" altLang="en-US" sz="2400" b="1" dirty="0"/>
              <a:t>偏移地址</a:t>
            </a:r>
          </a:p>
          <a:p>
            <a:pPr lvl="1">
              <a:buClrTx/>
              <a:buNone/>
            </a:pPr>
            <a:r>
              <a:rPr lang="zh-CN" altLang="en-US" sz="2400" b="1" dirty="0"/>
              <a:t>目标地址必须用一个</a:t>
            </a:r>
            <a:r>
              <a:rPr lang="en-US" altLang="zh-CN" sz="2400" b="1">
                <a:solidFill>
                  <a:srgbClr val="0000FF"/>
                </a:solidFill>
              </a:rPr>
              <a:t>32</a:t>
            </a:r>
            <a:r>
              <a:rPr lang="zh-CN" altLang="en-US" sz="2400" b="1" dirty="0">
                <a:solidFill>
                  <a:srgbClr val="0000FF"/>
                </a:solidFill>
              </a:rPr>
              <a:t>位数</a:t>
            </a:r>
            <a:r>
              <a:rPr lang="zh-CN" altLang="en-US" sz="2400" b="1" dirty="0"/>
              <a:t>表达，叫做</a:t>
            </a:r>
            <a:r>
              <a:rPr lang="en-US" altLang="zh-CN" sz="2400" b="1"/>
              <a:t>32</a:t>
            </a:r>
            <a:r>
              <a:rPr lang="zh-CN" altLang="en-US" sz="2400" b="1" dirty="0"/>
              <a:t>位远指针。</a:t>
            </a:r>
          </a:p>
        </p:txBody>
      </p:sp>
      <p:grpSp>
        <p:nvGrpSpPr>
          <p:cNvPr id="487438" name="组合 487437"/>
          <p:cNvGrpSpPr/>
          <p:nvPr/>
        </p:nvGrpSpPr>
        <p:grpSpPr>
          <a:xfrm rot="-5400000">
            <a:off x="7029450" y="4095750"/>
            <a:ext cx="1562100" cy="990600"/>
            <a:chOff x="4320" y="1200"/>
            <a:chExt cx="528" cy="2688"/>
          </a:xfrm>
        </p:grpSpPr>
        <p:sp>
          <p:nvSpPr>
            <p:cNvPr id="487439" name="直接连接符 487438"/>
            <p:cNvSpPr/>
            <p:nvPr/>
          </p:nvSpPr>
          <p:spPr>
            <a:xfrm>
              <a:off x="4320" y="1200"/>
              <a:ext cx="0" cy="2688"/>
            </a:xfrm>
            <a:prstGeom prst="line">
              <a:avLst/>
            </a:prstGeom>
            <a:ln w="28575" cap="flat" cmpd="sng">
              <a:solidFill>
                <a:srgbClr val="7AA3DA"/>
              </a:solidFill>
              <a:prstDash val="solid"/>
              <a:headEnd type="none" w="med" len="med"/>
              <a:tailEnd type="none" w="med" len="med"/>
            </a:ln>
          </p:spPr>
        </p:sp>
        <p:sp>
          <p:nvSpPr>
            <p:cNvPr id="487440" name="直接连接符 487439"/>
            <p:cNvSpPr/>
            <p:nvPr/>
          </p:nvSpPr>
          <p:spPr>
            <a:xfrm>
              <a:off x="4848" y="1200"/>
              <a:ext cx="0" cy="2688"/>
            </a:xfrm>
            <a:prstGeom prst="line">
              <a:avLst/>
            </a:prstGeom>
            <a:ln w="28575" cap="flat" cmpd="sng">
              <a:solidFill>
                <a:srgbClr val="7AA3DA"/>
              </a:solidFill>
              <a:prstDash val="solid"/>
              <a:headEnd type="none" w="med" len="med"/>
              <a:tailEnd type="none" w="med" len="med"/>
            </a:ln>
          </p:spPr>
        </p:sp>
      </p:grpSp>
      <p:grpSp>
        <p:nvGrpSpPr>
          <p:cNvPr id="487450" name="组合 487449"/>
          <p:cNvGrpSpPr/>
          <p:nvPr/>
        </p:nvGrpSpPr>
        <p:grpSpPr>
          <a:xfrm>
            <a:off x="6858000" y="1457325"/>
            <a:ext cx="1905000" cy="4419600"/>
            <a:chOff x="4320" y="527"/>
            <a:chExt cx="1200" cy="2784"/>
          </a:xfrm>
        </p:grpSpPr>
        <p:grpSp>
          <p:nvGrpSpPr>
            <p:cNvPr id="487435" name="组合 487434"/>
            <p:cNvGrpSpPr/>
            <p:nvPr/>
          </p:nvGrpSpPr>
          <p:grpSpPr>
            <a:xfrm>
              <a:off x="4608" y="527"/>
              <a:ext cx="624" cy="2784"/>
              <a:chOff x="4320" y="1200"/>
              <a:chExt cx="528" cy="2688"/>
            </a:xfrm>
          </p:grpSpPr>
          <p:sp>
            <p:nvSpPr>
              <p:cNvPr id="487436" name="直接连接符 487435"/>
              <p:cNvSpPr/>
              <p:nvPr/>
            </p:nvSpPr>
            <p:spPr>
              <a:xfrm>
                <a:off x="4320" y="1200"/>
                <a:ext cx="0" cy="2688"/>
              </a:xfrm>
              <a:prstGeom prst="line">
                <a:avLst/>
              </a:prstGeom>
              <a:ln w="28575" cap="flat" cmpd="sng">
                <a:solidFill>
                  <a:schemeClr val="tx1"/>
                </a:solidFill>
                <a:prstDash val="solid"/>
                <a:headEnd type="none" w="med" len="med"/>
                <a:tailEnd type="none" w="med" len="med"/>
              </a:ln>
            </p:spPr>
          </p:sp>
          <p:sp>
            <p:nvSpPr>
              <p:cNvPr id="487437" name="直接连接符 487436"/>
              <p:cNvSpPr/>
              <p:nvPr/>
            </p:nvSpPr>
            <p:spPr>
              <a:xfrm>
                <a:off x="4848" y="1200"/>
                <a:ext cx="0" cy="2688"/>
              </a:xfrm>
              <a:prstGeom prst="line">
                <a:avLst/>
              </a:prstGeom>
              <a:ln w="28575" cap="flat" cmpd="sng">
                <a:solidFill>
                  <a:schemeClr val="tx1"/>
                </a:solidFill>
                <a:prstDash val="solid"/>
                <a:headEnd type="none" w="med" len="med"/>
                <a:tailEnd type="none" w="med" len="med"/>
              </a:ln>
            </p:spPr>
          </p:sp>
        </p:grpSp>
        <p:grpSp>
          <p:nvGrpSpPr>
            <p:cNvPr id="487441" name="组合 487440"/>
            <p:cNvGrpSpPr/>
            <p:nvPr/>
          </p:nvGrpSpPr>
          <p:grpSpPr>
            <a:xfrm rot="-5400000">
              <a:off x="4428" y="995"/>
              <a:ext cx="984" cy="624"/>
              <a:chOff x="4320" y="1200"/>
              <a:chExt cx="528" cy="2688"/>
            </a:xfrm>
          </p:grpSpPr>
          <p:sp>
            <p:nvSpPr>
              <p:cNvPr id="487442" name="直接连接符 487441"/>
              <p:cNvSpPr/>
              <p:nvPr/>
            </p:nvSpPr>
            <p:spPr>
              <a:xfrm>
                <a:off x="4320" y="1200"/>
                <a:ext cx="0" cy="2688"/>
              </a:xfrm>
              <a:prstGeom prst="line">
                <a:avLst/>
              </a:prstGeom>
              <a:ln w="28575" cap="flat" cmpd="sng">
                <a:solidFill>
                  <a:srgbClr val="7AA3DA"/>
                </a:solidFill>
                <a:prstDash val="solid"/>
                <a:headEnd type="none" w="med" len="med"/>
                <a:tailEnd type="none" w="med" len="med"/>
              </a:ln>
            </p:spPr>
          </p:sp>
          <p:sp>
            <p:nvSpPr>
              <p:cNvPr id="487443" name="直接连接符 487442"/>
              <p:cNvSpPr/>
              <p:nvPr/>
            </p:nvSpPr>
            <p:spPr>
              <a:xfrm>
                <a:off x="4848" y="1200"/>
                <a:ext cx="0" cy="2688"/>
              </a:xfrm>
              <a:prstGeom prst="line">
                <a:avLst/>
              </a:prstGeom>
              <a:ln w="28575" cap="flat" cmpd="sng">
                <a:solidFill>
                  <a:srgbClr val="7AA3DA"/>
                </a:solidFill>
                <a:prstDash val="solid"/>
                <a:headEnd type="none" w="med" len="med"/>
                <a:tailEnd type="none" w="med" len="med"/>
              </a:ln>
            </p:spPr>
          </p:sp>
        </p:grpSp>
        <p:sp>
          <p:nvSpPr>
            <p:cNvPr id="487444" name="文本框 487443"/>
            <p:cNvSpPr txBox="1"/>
            <p:nvPr/>
          </p:nvSpPr>
          <p:spPr>
            <a:xfrm>
              <a:off x="4758" y="1026"/>
              <a:ext cx="346" cy="625"/>
            </a:xfrm>
            <a:prstGeom prst="rect">
              <a:avLst/>
            </a:prstGeom>
            <a:noFill/>
            <a:ln w="9525">
              <a:noFill/>
            </a:ln>
          </p:spPr>
          <p:txBody>
            <a:bodyPr vert="eaVert" wrap="none" anchor="t">
              <a:spAutoFit/>
            </a:bodyPr>
            <a:lstStyle/>
            <a:p>
              <a:pPr lvl="0"/>
              <a:r>
                <a:rPr lang="zh-CN" altLang="en-US" sz="2400" b="1" dirty="0">
                  <a:latin typeface="Arial" panose="020B0604020202020204" pitchFamily="34" charset="0"/>
                  <a:ea typeface="宋体" panose="02010600030101010101" pitchFamily="2" charset="-122"/>
                </a:rPr>
                <a:t>代码段</a:t>
              </a:r>
            </a:p>
          </p:txBody>
        </p:sp>
        <p:sp>
          <p:nvSpPr>
            <p:cNvPr id="487445" name="文本框 487444"/>
            <p:cNvSpPr txBox="1"/>
            <p:nvPr/>
          </p:nvSpPr>
          <p:spPr>
            <a:xfrm>
              <a:off x="4752" y="2159"/>
              <a:ext cx="346" cy="625"/>
            </a:xfrm>
            <a:prstGeom prst="rect">
              <a:avLst/>
            </a:prstGeom>
            <a:noFill/>
            <a:ln w="9525">
              <a:noFill/>
            </a:ln>
          </p:spPr>
          <p:txBody>
            <a:bodyPr vert="eaVert" wrap="none" anchor="t">
              <a:spAutoFit/>
            </a:bodyPr>
            <a:lstStyle/>
            <a:p>
              <a:pPr lvl="0"/>
              <a:r>
                <a:rPr lang="zh-CN" altLang="en-US" sz="2400" b="1" dirty="0">
                  <a:latin typeface="Arial" panose="020B0604020202020204" pitchFamily="34" charset="0"/>
                  <a:ea typeface="宋体" panose="02010600030101010101" pitchFamily="2" charset="-122"/>
                </a:rPr>
                <a:t>代码段</a:t>
              </a:r>
            </a:p>
          </p:txBody>
        </p:sp>
        <p:sp>
          <p:nvSpPr>
            <p:cNvPr id="487446" name="右弧形箭头 487445"/>
            <p:cNvSpPr/>
            <p:nvPr/>
          </p:nvSpPr>
          <p:spPr>
            <a:xfrm>
              <a:off x="5232" y="1151"/>
              <a:ext cx="288" cy="1584"/>
            </a:xfrm>
            <a:prstGeom prst="curvedLeftArrow">
              <a:avLst>
                <a:gd name="adj1" fmla="val 30965"/>
                <a:gd name="adj2" fmla="val 140965"/>
                <a:gd name="adj3" fmla="val 51388"/>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487447" name="右弧形箭头 487446"/>
            <p:cNvSpPr/>
            <p:nvPr/>
          </p:nvSpPr>
          <p:spPr>
            <a:xfrm flipH="1" flipV="1">
              <a:off x="4320" y="1199"/>
              <a:ext cx="288" cy="1584"/>
            </a:xfrm>
            <a:prstGeom prst="curvedLeftArrow">
              <a:avLst>
                <a:gd name="adj1" fmla="val 30965"/>
                <a:gd name="adj2" fmla="val 140965"/>
                <a:gd name="adj3" fmla="val 51388"/>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grpSp>
      <p:sp>
        <p:nvSpPr>
          <p:cNvPr id="19" name="矩形 1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42" name="矩形 522241"/>
          <p:cNvSpPr/>
          <p:nvPr/>
        </p:nvSpPr>
        <p:spPr>
          <a:xfrm>
            <a:off x="467544" y="1246030"/>
            <a:ext cx="8424862" cy="3683060"/>
          </a:xfrm>
          <a:prstGeom prst="rect">
            <a:avLst/>
          </a:prstGeom>
          <a:noFill/>
          <a:ln w="9525">
            <a:noFill/>
          </a:ln>
        </p:spPr>
        <p:txBody>
          <a:bodyPr anchor="ctr">
            <a:spAutoFit/>
          </a:bodyPr>
          <a:lstStyle/>
          <a:p>
            <a:pPr lvl="0">
              <a:lnSpc>
                <a:spcPts val="3500"/>
              </a:lnSpc>
            </a:pPr>
            <a:r>
              <a:rPr lang="zh-CN" altLang="en-US" sz="2400" b="1" dirty="0">
                <a:solidFill>
                  <a:srgbClr val="0000FF"/>
                </a:solidFill>
                <a:latin typeface="Arial" panose="020B0604020202020204" pitchFamily="34" charset="0"/>
                <a:ea typeface="宋体" panose="02010600030101010101" pitchFamily="2" charset="-122"/>
              </a:rPr>
              <a:t>段内</a:t>
            </a:r>
            <a:r>
              <a:rPr lang="zh-CN" altLang="en-US" sz="2400" b="1" dirty="0">
                <a:latin typeface="Arial" panose="020B0604020202020204" pitchFamily="34" charset="0"/>
                <a:ea typeface="宋体" panose="02010600030101010101" pitchFamily="2" charset="-122"/>
              </a:rPr>
              <a:t>与</a:t>
            </a:r>
            <a:r>
              <a:rPr lang="zh-CN" altLang="en-US" sz="2400" b="1" dirty="0">
                <a:solidFill>
                  <a:srgbClr val="0000FF"/>
                </a:solidFill>
                <a:latin typeface="Arial" panose="020B0604020202020204" pitchFamily="34" charset="0"/>
                <a:ea typeface="宋体" panose="02010600030101010101" pitchFamily="2" charset="-122"/>
              </a:rPr>
              <a:t>段间</a:t>
            </a:r>
            <a:r>
              <a:rPr lang="zh-CN" altLang="en-US" sz="2400" b="1" dirty="0">
                <a:latin typeface="Arial" panose="020B0604020202020204" pitchFamily="34" charset="0"/>
                <a:ea typeface="宋体" panose="02010600030101010101" pitchFamily="2" charset="-122"/>
              </a:rPr>
              <a:t>转移</a:t>
            </a:r>
            <a:r>
              <a:rPr lang="zh-CN" altLang="en-US" sz="2400" b="1" dirty="0">
                <a:solidFill>
                  <a:srgbClr val="0000FF"/>
                </a:solidFill>
                <a:latin typeface="Arial" panose="020B0604020202020204" pitchFamily="34" charset="0"/>
                <a:ea typeface="宋体" panose="02010600030101010101" pitchFamily="2" charset="-122"/>
              </a:rPr>
              <a:t>说明</a:t>
            </a:r>
            <a:r>
              <a:rPr lang="zh-CN" altLang="en-US" sz="2400" b="1" dirty="0">
                <a:latin typeface="Arial" panose="020B0604020202020204" pitchFamily="34" charset="0"/>
                <a:ea typeface="宋体" panose="02010600030101010101" pitchFamily="2" charset="-122"/>
              </a:rPr>
              <a:t>：</a:t>
            </a:r>
          </a:p>
          <a:p>
            <a:pPr lvl="0">
              <a:lnSpc>
                <a:spcPts val="3500"/>
              </a:lnSpc>
              <a:buClr>
                <a:srgbClr val="FF00FF"/>
              </a:buClr>
              <a:buFont typeface="Wingdings" panose="05000000000000000000" pitchFamily="2" charset="2"/>
              <a:buChar char="ü"/>
            </a:pPr>
            <a:r>
              <a:rPr lang="zh-CN" altLang="en-US" sz="2400" b="1" dirty="0">
                <a:latin typeface="Arial" panose="020B0604020202020204" pitchFamily="34" charset="0"/>
                <a:ea typeface="宋体" panose="02010600030101010101" pitchFamily="2" charset="-122"/>
              </a:rPr>
              <a:t>  对于段内转移，在指令中可以统写成</a:t>
            </a:r>
            <a:r>
              <a:rPr lang="en-US" altLang="zh-CN" sz="2400" b="1" dirty="0">
                <a:solidFill>
                  <a:srgbClr val="0000FF"/>
                </a:solidFill>
                <a:latin typeface="Arial" panose="020B0604020202020204" pitchFamily="34" charset="0"/>
                <a:ea typeface="宋体" panose="02010600030101010101" pitchFamily="2" charset="-122"/>
              </a:rPr>
              <a:t>JMP label</a:t>
            </a:r>
            <a:r>
              <a:rPr lang="zh-CN" altLang="en-US" sz="2400" b="1" dirty="0">
                <a:latin typeface="Arial" panose="020B0604020202020204" pitchFamily="34" charset="0"/>
                <a:ea typeface="宋体" panose="02010600030101010101" pitchFamily="2" charset="-122"/>
              </a:rPr>
              <a:t>形式，转移过程也基本相同，即都是在同一段内实现从当前</a:t>
            </a:r>
            <a:r>
              <a:rPr lang="en-US" altLang="zh-CN" sz="2400" b="1" dirty="0">
                <a:latin typeface="Arial" panose="020B0604020202020204" pitchFamily="34" charset="0"/>
                <a:ea typeface="宋体" panose="02010600030101010101" pitchFamily="2" charset="-122"/>
              </a:rPr>
              <a:t>IP</a:t>
            </a:r>
            <a:r>
              <a:rPr lang="zh-CN" altLang="en-US" sz="2400" b="1" dirty="0">
                <a:latin typeface="Arial" panose="020B0604020202020204" pitchFamily="34" charset="0"/>
                <a:ea typeface="宋体" panose="02010600030101010101" pitchFamily="2" charset="-122"/>
              </a:rPr>
              <a:t>所指的地址转移到</a:t>
            </a:r>
            <a:r>
              <a:rPr lang="en-US" altLang="zh-CN" sz="2400" b="1" dirty="0">
                <a:latin typeface="Arial" panose="020B0604020202020204" pitchFamily="34" charset="0"/>
                <a:ea typeface="宋体" panose="02010600030101010101" pitchFamily="2" charset="-122"/>
              </a:rPr>
              <a:t>label</a:t>
            </a:r>
            <a:r>
              <a:rPr lang="zh-CN" altLang="en-US" sz="2400" b="1" dirty="0">
                <a:latin typeface="Arial" panose="020B0604020202020204" pitchFamily="34" charset="0"/>
                <a:ea typeface="宋体" panose="02010600030101010101" pitchFamily="2" charset="-122"/>
              </a:rPr>
              <a:t>所指的目标地址，只是转移的</a:t>
            </a:r>
            <a:r>
              <a:rPr lang="zh-CN" altLang="en-US" sz="2400" b="1" dirty="0">
                <a:solidFill>
                  <a:srgbClr val="0000FF"/>
                </a:solidFill>
                <a:latin typeface="Arial" panose="020B0604020202020204" pitchFamily="34" charset="0"/>
                <a:ea typeface="宋体" panose="02010600030101010101" pitchFamily="2" charset="-122"/>
              </a:rPr>
              <a:t>范围不同</a:t>
            </a:r>
            <a:r>
              <a:rPr lang="zh-CN" altLang="en-US" sz="2400" b="1" dirty="0">
                <a:latin typeface="Arial" panose="020B0604020202020204" pitchFamily="34" charset="0"/>
                <a:ea typeface="宋体" panose="02010600030101010101" pitchFamily="2" charset="-122"/>
              </a:rPr>
              <a:t>。但在具体指令中用户不必考虑是短转移还是近转移，具体在汇编时，汇编程序通过计算程序中</a:t>
            </a:r>
            <a:r>
              <a:rPr lang="en-US" altLang="zh-CN" sz="2400" b="1" dirty="0">
                <a:latin typeface="Arial" panose="020B0604020202020204" pitchFamily="34" charset="0"/>
                <a:ea typeface="宋体" panose="02010600030101010101" pitchFamily="2" charset="-122"/>
              </a:rPr>
              <a:t>JMP</a:t>
            </a:r>
            <a:r>
              <a:rPr lang="zh-CN" altLang="en-US" sz="2400" b="1" dirty="0">
                <a:latin typeface="Arial" panose="020B0604020202020204" pitchFamily="34" charset="0"/>
                <a:ea typeface="宋体" panose="02010600030101010101" pitchFamily="2" charset="-122"/>
              </a:rPr>
              <a:t>的下一条指令与目标地址间的</a:t>
            </a:r>
            <a:r>
              <a:rPr lang="zh-CN" altLang="en-US" sz="2400" b="1" dirty="0">
                <a:solidFill>
                  <a:srgbClr val="0000FF"/>
                </a:solidFill>
                <a:latin typeface="Arial" panose="020B0604020202020204" pitchFamily="34" charset="0"/>
                <a:ea typeface="宋体" panose="02010600030101010101" pitchFamily="2" charset="-122"/>
              </a:rPr>
              <a:t>相对位移量</a:t>
            </a:r>
            <a:r>
              <a:rPr lang="zh-CN" altLang="en-US" sz="2400" b="1" dirty="0">
                <a:latin typeface="Arial" panose="020B0604020202020204" pitchFamily="34" charset="0"/>
                <a:ea typeface="宋体" panose="02010600030101010101" pitchFamily="2" charset="-122"/>
              </a:rPr>
              <a:t>，就可以判定出是短转移还是近转移 </a:t>
            </a:r>
          </a:p>
          <a:p>
            <a:pPr lvl="0">
              <a:lnSpc>
                <a:spcPts val="3500"/>
              </a:lnSpc>
              <a:buClr>
                <a:srgbClr val="FF00FF"/>
              </a:buClr>
              <a:buFont typeface="Wingdings" panose="05000000000000000000" pitchFamily="2" charset="2"/>
              <a:buChar char="ü"/>
            </a:pPr>
            <a:r>
              <a:rPr lang="zh-CN" altLang="en-US" sz="2400" b="1" dirty="0">
                <a:latin typeface="Arial" panose="020B0604020202020204" pitchFamily="34" charset="0"/>
                <a:ea typeface="宋体" panose="02010600030101010101" pitchFamily="2" charset="-122"/>
              </a:rPr>
              <a:t>  对于段间指令，指令需用操作符</a:t>
            </a:r>
            <a:r>
              <a:rPr lang="en-US" altLang="zh-CN" sz="2400" b="1" dirty="0">
                <a:solidFill>
                  <a:srgbClr val="0000FF"/>
                </a:solidFill>
                <a:latin typeface="Arial" panose="020B0604020202020204" pitchFamily="34" charset="0"/>
              </a:rPr>
              <a:t>far </a:t>
            </a:r>
            <a:r>
              <a:rPr lang="en-US" altLang="zh-CN" sz="2400" b="1" dirty="0" err="1">
                <a:solidFill>
                  <a:srgbClr val="0000FF"/>
                </a:solidFill>
                <a:latin typeface="Arial" panose="020B0604020202020204" pitchFamily="34" charset="0"/>
              </a:rPr>
              <a:t>ptr</a:t>
            </a:r>
            <a:r>
              <a:rPr lang="en-US" altLang="zh-CN" sz="2400" b="1" dirty="0">
                <a:solidFill>
                  <a:srgbClr val="0000FF"/>
                </a:solidFill>
                <a:latin typeface="Arial" panose="020B0604020202020204" pitchFamily="34" charset="0"/>
              </a:rPr>
              <a:t> </a:t>
            </a:r>
            <a:r>
              <a:rPr lang="zh-CN" altLang="en-US" sz="2400" b="1" dirty="0">
                <a:latin typeface="Arial" panose="020B0604020202020204" pitchFamily="34" charset="0"/>
                <a:ea typeface="宋体" panose="02010600030101010101" pitchFamily="2" charset="-122"/>
              </a:rPr>
              <a:t>强制说明</a:t>
            </a:r>
          </a:p>
        </p:txBody>
      </p:sp>
      <p:sp>
        <p:nvSpPr>
          <p:cNvPr id="4" name="矩形 3"/>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8450" name="文本占位符 488449"/>
          <p:cNvSpPr>
            <a:spLocks noGrp="1"/>
          </p:cNvSpPr>
          <p:nvPr>
            <p:ph type="body" idx="1"/>
          </p:nvPr>
        </p:nvSpPr>
        <p:spPr>
          <a:xfrm>
            <a:off x="395288" y="1773238"/>
            <a:ext cx="7916862" cy="936625"/>
          </a:xfrm>
          <a:ln/>
        </p:spPr>
        <p:txBody>
          <a:bodyPr/>
          <a:lstStyle/>
          <a:p>
            <a:pPr marL="0" indent="0">
              <a:buNone/>
            </a:pPr>
            <a:r>
              <a:rPr lang="zh-CN" altLang="en-US" sz="2400" b="1" dirty="0">
                <a:solidFill>
                  <a:srgbClr val="FF00FF"/>
                </a:solidFill>
              </a:rPr>
              <a:t>直接</a:t>
            </a:r>
            <a:r>
              <a:rPr lang="zh-CN" altLang="en-US" sz="2400" b="1" dirty="0"/>
              <a:t>：转移地址象立即数一样，</a:t>
            </a:r>
            <a:r>
              <a:rPr lang="zh-CN" altLang="en-US" sz="2400" b="1" dirty="0">
                <a:solidFill>
                  <a:srgbClr val="FF00FF"/>
                </a:solidFill>
              </a:rPr>
              <a:t>直接</a:t>
            </a:r>
            <a:r>
              <a:rPr lang="zh-CN" altLang="en-US" sz="2400" b="1" dirty="0"/>
              <a:t>出现在指令中</a:t>
            </a:r>
          </a:p>
          <a:p>
            <a:pPr marL="0" indent="0">
              <a:buNone/>
            </a:pPr>
            <a:r>
              <a:rPr lang="zh-CN" altLang="en-US" sz="2400" b="1" dirty="0">
                <a:solidFill>
                  <a:srgbClr val="FF00FF"/>
                </a:solidFill>
              </a:rPr>
              <a:t>间接</a:t>
            </a:r>
            <a:r>
              <a:rPr lang="zh-CN" altLang="en-US" sz="2400" b="1" dirty="0"/>
              <a:t>：转移地址在</a:t>
            </a:r>
            <a:r>
              <a:rPr lang="zh-CN" altLang="en-US" sz="2400" b="1" dirty="0">
                <a:solidFill>
                  <a:srgbClr val="FF00FF"/>
                </a:solidFill>
              </a:rPr>
              <a:t>寄存器</a:t>
            </a:r>
            <a:r>
              <a:rPr lang="zh-CN" altLang="en-US" sz="2400" b="1" dirty="0"/>
              <a:t>或</a:t>
            </a:r>
            <a:r>
              <a:rPr lang="zh-CN" altLang="en-US" sz="2400" b="1" dirty="0">
                <a:solidFill>
                  <a:srgbClr val="FF00FF"/>
                </a:solidFill>
              </a:rPr>
              <a:t>内存单元</a:t>
            </a:r>
            <a:r>
              <a:rPr lang="zh-CN" altLang="en-US" sz="2400" b="1" dirty="0"/>
              <a:t>中</a:t>
            </a:r>
          </a:p>
        </p:txBody>
      </p:sp>
      <p:sp>
        <p:nvSpPr>
          <p:cNvPr id="488458" name="圆角矩形标注 488457"/>
          <p:cNvSpPr/>
          <p:nvPr/>
        </p:nvSpPr>
        <p:spPr>
          <a:xfrm>
            <a:off x="5580063" y="908050"/>
            <a:ext cx="2160587" cy="609600"/>
          </a:xfrm>
          <a:prstGeom prst="wedgeRoundRectCallout">
            <a:avLst>
              <a:gd name="adj1" fmla="val -71454"/>
              <a:gd name="adj2" fmla="val 104690"/>
              <a:gd name="adj3" fmla="val 16667"/>
            </a:avLst>
          </a:prstGeom>
          <a:solidFill>
            <a:schemeClr val="bg1"/>
          </a:solidFill>
          <a:ln w="9525" cap="flat" cmpd="sng">
            <a:solidFill>
              <a:srgbClr val="FF0000"/>
            </a:solidFill>
            <a:prstDash val="solid"/>
            <a:miter/>
            <a:headEnd type="none" w="med" len="med"/>
            <a:tailEnd type="none" w="med" len="med"/>
          </a:ln>
        </p:spPr>
        <p:txBody>
          <a:bodyPr/>
          <a:lstStyle/>
          <a:p>
            <a:pPr lvl="0"/>
            <a:r>
              <a:rPr lang="zh-CN" altLang="en-US" sz="2400" b="1" dirty="0">
                <a:solidFill>
                  <a:schemeClr val="accent2"/>
                </a:solidFill>
                <a:latin typeface="Arial" panose="020B0604020202020204" pitchFamily="34" charset="0"/>
                <a:ea typeface="宋体" panose="02010600030101010101" pitchFamily="2" charset="-122"/>
              </a:rPr>
              <a:t>用标号表达</a:t>
            </a:r>
          </a:p>
        </p:txBody>
      </p:sp>
      <p:sp>
        <p:nvSpPr>
          <p:cNvPr id="488459" name="圆角矩形标注 488458"/>
          <p:cNvSpPr/>
          <p:nvPr/>
        </p:nvSpPr>
        <p:spPr>
          <a:xfrm>
            <a:off x="5003800" y="2708275"/>
            <a:ext cx="2520950" cy="990600"/>
          </a:xfrm>
          <a:prstGeom prst="wedgeRoundRectCallout">
            <a:avLst>
              <a:gd name="adj1" fmla="val -81361"/>
              <a:gd name="adj2" fmla="val -65384"/>
              <a:gd name="adj3" fmla="val 16667"/>
            </a:avLst>
          </a:prstGeom>
          <a:solidFill>
            <a:schemeClr val="bg1"/>
          </a:solidFill>
          <a:ln w="9525" cap="flat" cmpd="sng">
            <a:solidFill>
              <a:srgbClr val="FF0000"/>
            </a:solidFill>
            <a:prstDash val="solid"/>
            <a:miter/>
            <a:headEnd type="none" w="med" len="med"/>
            <a:tailEnd type="none" w="med" len="med"/>
          </a:ln>
        </p:spPr>
        <p:txBody>
          <a:bodyPr/>
          <a:lstStyle/>
          <a:p>
            <a:pPr lvl="0"/>
            <a:r>
              <a:rPr lang="zh-CN" altLang="en-US" sz="2400" b="1" dirty="0">
                <a:solidFill>
                  <a:schemeClr val="accent2"/>
                </a:solidFill>
                <a:latin typeface="Arial" panose="020B0604020202020204" pitchFamily="34" charset="0"/>
                <a:ea typeface="宋体" panose="02010600030101010101" pitchFamily="2" charset="-122"/>
              </a:rPr>
              <a:t>用寄存器或存储器操作数表达</a:t>
            </a:r>
          </a:p>
        </p:txBody>
      </p:sp>
      <p:sp>
        <p:nvSpPr>
          <p:cNvPr id="488461" name="矩形 488460"/>
          <p:cNvSpPr/>
          <p:nvPr/>
        </p:nvSpPr>
        <p:spPr>
          <a:xfrm>
            <a:off x="395288" y="884238"/>
            <a:ext cx="2941637" cy="457200"/>
          </a:xfrm>
          <a:prstGeom prst="rect">
            <a:avLst/>
          </a:prstGeom>
          <a:noFill/>
          <a:ln w="9525">
            <a:noFill/>
          </a:ln>
        </p:spPr>
        <p:txBody>
          <a:bodyPr wrap="none" anchor="t">
            <a:spAutoFit/>
          </a:bodyPr>
          <a:lstStyle/>
          <a:p>
            <a:pPr lvl="0">
              <a:buClrTx/>
            </a:pPr>
            <a:r>
              <a:rPr lang="zh-CN" altLang="en-US" sz="2400" b="1" dirty="0">
                <a:solidFill>
                  <a:srgbClr val="0000FF"/>
                </a:solidFill>
                <a:latin typeface="Arial" panose="020B0604020202020204" pitchFamily="34" charset="0"/>
                <a:ea typeface="宋体" panose="02010600030101010101" pitchFamily="2" charset="-122"/>
              </a:rPr>
              <a:t>直接</a:t>
            </a:r>
            <a:r>
              <a:rPr lang="zh-CN" altLang="en-US" sz="2400" b="1" dirty="0">
                <a:latin typeface="Arial" panose="020B0604020202020204" pitchFamily="34" charset="0"/>
                <a:ea typeface="宋体" panose="02010600030101010101" pitchFamily="2" charset="-122"/>
              </a:rPr>
              <a:t>与</a:t>
            </a:r>
            <a:r>
              <a:rPr lang="zh-CN" altLang="en-US" sz="2400" b="1" dirty="0">
                <a:solidFill>
                  <a:srgbClr val="0000FF"/>
                </a:solidFill>
                <a:latin typeface="Arial" panose="020B0604020202020204" pitchFamily="34" charset="0"/>
                <a:ea typeface="宋体" panose="02010600030101010101" pitchFamily="2" charset="-122"/>
              </a:rPr>
              <a:t>间接</a:t>
            </a:r>
            <a:r>
              <a:rPr lang="zh-CN" altLang="en-US" sz="2400" b="1" dirty="0">
                <a:latin typeface="Arial" panose="020B0604020202020204" pitchFamily="34" charset="0"/>
                <a:ea typeface="宋体" panose="02010600030101010101" pitchFamily="2" charset="-122"/>
              </a:rPr>
              <a:t>的</a:t>
            </a:r>
            <a:r>
              <a:rPr lang="zh-CN" altLang="en-US" sz="2400" b="1" dirty="0">
                <a:solidFill>
                  <a:srgbClr val="0000FF"/>
                </a:solidFill>
                <a:latin typeface="Arial" panose="020B0604020202020204" pitchFamily="34" charset="0"/>
                <a:ea typeface="宋体" panose="02010600030101010101" pitchFamily="2" charset="-122"/>
              </a:rPr>
              <a:t>解释</a:t>
            </a:r>
            <a:r>
              <a:rPr lang="zh-CN" altLang="en-US" sz="2400" b="1" dirty="0">
                <a:latin typeface="Arial" panose="020B0604020202020204" pitchFamily="34" charset="0"/>
                <a:ea typeface="宋体" panose="02010600030101010101" pitchFamily="2" charset="-122"/>
              </a:rPr>
              <a:t>：</a:t>
            </a:r>
          </a:p>
        </p:txBody>
      </p:sp>
      <p:sp>
        <p:nvSpPr>
          <p:cNvPr id="7" name="矩形 6"/>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88458"/>
                                        </p:tgtEl>
                                        <p:attrNameLst>
                                          <p:attrName>style.visibility</p:attrName>
                                        </p:attrNameLst>
                                      </p:cBhvr>
                                      <p:to>
                                        <p:strVal val="visible"/>
                                      </p:to>
                                    </p:set>
                                    <p:animEffect transition="in" filter="slide(fromTop)">
                                      <p:cBhvr>
                                        <p:cTn id="7" dur="500"/>
                                        <p:tgtEl>
                                          <p:spTgt spid="488458"/>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488459"/>
                                        </p:tgtEl>
                                        <p:attrNameLst>
                                          <p:attrName>style.visibility</p:attrName>
                                        </p:attrNameLst>
                                      </p:cBhvr>
                                      <p:to>
                                        <p:strVal val="visible"/>
                                      </p:to>
                                    </p:set>
                                    <p:animEffect transition="in" filter="slide(fromTop)">
                                      <p:cBhvr>
                                        <p:cTn id="11" dur="500"/>
                                        <p:tgtEl>
                                          <p:spTgt spid="488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8" grpId="0" animBg="1"/>
      <p:bldP spid="488459"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73" name="标题 523272"/>
          <p:cNvSpPr>
            <a:spLocks noGrp="1"/>
          </p:cNvSpPr>
          <p:nvPr>
            <p:ph type="title"/>
          </p:nvPr>
        </p:nvSpPr>
        <p:spPr>
          <a:xfrm>
            <a:off x="4713288" y="1773238"/>
            <a:ext cx="2095500" cy="509587"/>
          </a:xfrm>
          <a:ln/>
        </p:spPr>
        <p:txBody>
          <a:bodyPr anchor="ctr"/>
          <a:lstStyle/>
          <a:p>
            <a:r>
              <a:rPr lang="zh-CN" altLang="en-US" sz="2400" b="1" dirty="0">
                <a:solidFill>
                  <a:srgbClr val="0000FF"/>
                </a:solidFill>
              </a:rPr>
              <a:t>段内</a:t>
            </a:r>
            <a:r>
              <a:rPr lang="zh-CN" altLang="en-US" sz="2400" b="1" dirty="0">
                <a:solidFill>
                  <a:srgbClr val="FF00FF"/>
                </a:solidFill>
              </a:rPr>
              <a:t>直接</a:t>
            </a:r>
            <a:r>
              <a:rPr lang="zh-CN" altLang="en-US" sz="2400" b="1" dirty="0">
                <a:solidFill>
                  <a:schemeClr val="tx1"/>
                </a:solidFill>
              </a:rPr>
              <a:t>转移</a:t>
            </a:r>
          </a:p>
        </p:txBody>
      </p:sp>
      <p:sp>
        <p:nvSpPr>
          <p:cNvPr id="523274" name="矩形 523273"/>
          <p:cNvSpPr/>
          <p:nvPr/>
        </p:nvSpPr>
        <p:spPr>
          <a:xfrm>
            <a:off x="7956550" y="836613"/>
            <a:ext cx="936625" cy="509587"/>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zh-CN" altLang="en-US" sz="2800" b="1" dirty="0">
                <a:solidFill>
                  <a:srgbClr val="FF0000"/>
                </a:solidFill>
              </a:rPr>
              <a:t>举例</a:t>
            </a:r>
          </a:p>
        </p:txBody>
      </p:sp>
      <p:sp>
        <p:nvSpPr>
          <p:cNvPr id="523275" name="矩形 523274"/>
          <p:cNvSpPr/>
          <p:nvPr/>
        </p:nvSpPr>
        <p:spPr>
          <a:xfrm>
            <a:off x="395288" y="2997200"/>
            <a:ext cx="8078787" cy="1295400"/>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390525" defTabSz="0">
              <a:lnSpc>
                <a:spcPct val="90000"/>
              </a:lnSpc>
              <a:buNone/>
              <a:tabLst>
                <a:tab pos="1914525" algn="l"/>
                <a:tab pos="4762500" algn="l"/>
              </a:tabLst>
            </a:pPr>
            <a:r>
              <a:rPr lang="en-US" altLang="zh-CN" sz="2400" b="1">
                <a:latin typeface="宋体" panose="02010600030101010101" pitchFamily="2" charset="-122"/>
              </a:rPr>
              <a:t>JMP r16/m16   </a:t>
            </a:r>
            <a:r>
              <a:rPr lang="zh-CN" altLang="en-US" sz="2400" b="1" dirty="0">
                <a:latin typeface="宋体" panose="02010600030101010101" pitchFamily="2" charset="-122"/>
              </a:rPr>
              <a:t>例如：</a:t>
            </a:r>
            <a:r>
              <a:rPr lang="zh-CN" altLang="en-US" sz="2400" b="1">
                <a:solidFill>
                  <a:schemeClr val="bg2"/>
                </a:solidFill>
                <a:latin typeface="宋体" panose="02010600030101010101" pitchFamily="2" charset="-122"/>
              </a:rPr>
              <a:t> 	</a:t>
            </a:r>
          </a:p>
          <a:p>
            <a:pPr marL="0" lvl="0" indent="390525" defTabSz="0">
              <a:lnSpc>
                <a:spcPct val="90000"/>
              </a:lnSpc>
              <a:buNone/>
              <a:tabLst>
                <a:tab pos="1914525" algn="l"/>
                <a:tab pos="4762500" algn="l"/>
              </a:tabLst>
            </a:pPr>
            <a:r>
              <a:rPr lang="en-US" altLang="zh-CN" sz="2400" b="1" err="1">
                <a:latin typeface="宋体" panose="02010600030101010101" pitchFamily="2" charset="-122"/>
              </a:rPr>
              <a:t>jmp</a:t>
            </a:r>
            <a:r>
              <a:rPr lang="en-US" altLang="zh-CN" sz="2400" b="1">
                <a:latin typeface="宋体" panose="02010600030101010101" pitchFamily="2" charset="-122"/>
              </a:rPr>
              <a:t> </a:t>
            </a:r>
            <a:r>
              <a:rPr lang="en-US" altLang="zh-CN" sz="2400" b="1">
                <a:solidFill>
                  <a:srgbClr val="0000FF"/>
                </a:solidFill>
                <a:latin typeface="宋体" panose="02010600030101010101" pitchFamily="2" charset="-122"/>
              </a:rPr>
              <a:t>ax</a:t>
            </a:r>
            <a:r>
              <a:rPr lang="en-US" altLang="zh-CN" sz="2400" b="1">
                <a:latin typeface="宋体" panose="02010600030101010101" pitchFamily="2" charset="-122"/>
              </a:rPr>
              <a:t>		</a:t>
            </a:r>
          </a:p>
          <a:p>
            <a:pPr marL="0" lvl="0" indent="390525" defTabSz="0">
              <a:lnSpc>
                <a:spcPct val="90000"/>
              </a:lnSpc>
              <a:buNone/>
              <a:tabLst>
                <a:tab pos="1914525" algn="l"/>
                <a:tab pos="4762500" algn="l"/>
              </a:tabLst>
            </a:pPr>
            <a:r>
              <a:rPr lang="en-US" altLang="zh-CN" sz="2400" b="1" err="1">
                <a:latin typeface="宋体" panose="02010600030101010101" pitchFamily="2" charset="-122"/>
              </a:rPr>
              <a:t>jmp</a:t>
            </a:r>
            <a:r>
              <a:rPr lang="en-US" altLang="zh-CN" sz="2400" b="1">
                <a:latin typeface="宋体" panose="02010600030101010101" pitchFamily="2" charset="-122"/>
              </a:rPr>
              <a:t> </a:t>
            </a:r>
            <a:r>
              <a:rPr lang="en-US" altLang="zh-CN" sz="2400" b="1">
                <a:solidFill>
                  <a:srgbClr val="0000FF"/>
                </a:solidFill>
                <a:latin typeface="宋体" panose="02010600030101010101" pitchFamily="2" charset="-122"/>
              </a:rPr>
              <a:t>word </a:t>
            </a:r>
            <a:r>
              <a:rPr lang="en-US" altLang="zh-CN" sz="2400" b="1" err="1">
                <a:solidFill>
                  <a:srgbClr val="0000FF"/>
                </a:solidFill>
                <a:latin typeface="宋体" panose="02010600030101010101" pitchFamily="2" charset="-122"/>
              </a:rPr>
              <a:t>ptr</a:t>
            </a:r>
            <a:r>
              <a:rPr lang="en-US" altLang="zh-CN" sz="2400" b="1">
                <a:solidFill>
                  <a:srgbClr val="0000FF"/>
                </a:solidFill>
                <a:latin typeface="宋体" panose="02010600030101010101" pitchFamily="2" charset="-122"/>
              </a:rPr>
              <a:t> [2000h]</a:t>
            </a:r>
            <a:r>
              <a:rPr lang="zh-CN" altLang="en-US" sz="2400" b="1">
                <a:solidFill>
                  <a:schemeClr val="bg2"/>
                </a:solidFill>
                <a:latin typeface="宋体" panose="02010600030101010101" pitchFamily="2" charset="-122"/>
              </a:rPr>
              <a:t>　　</a:t>
            </a:r>
            <a:r>
              <a:rPr lang="zh-CN" altLang="en-US" sz="2400" b="1" dirty="0">
                <a:solidFill>
                  <a:schemeClr val="bg2"/>
                </a:solidFill>
                <a:latin typeface="宋体" panose="02010600030101010101" pitchFamily="2" charset="-122"/>
              </a:rPr>
              <a:t>  </a:t>
            </a:r>
            <a:endParaRPr lang="zh-CN" altLang="en-US" sz="2400" b="1">
              <a:latin typeface="宋体" panose="02010600030101010101" pitchFamily="2" charset="-122"/>
            </a:endParaRPr>
          </a:p>
        </p:txBody>
      </p:sp>
      <p:sp>
        <p:nvSpPr>
          <p:cNvPr id="523276" name="矩形 523275"/>
          <p:cNvSpPr/>
          <p:nvPr/>
        </p:nvSpPr>
        <p:spPr>
          <a:xfrm>
            <a:off x="5292725" y="3357563"/>
            <a:ext cx="2159000" cy="6477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zh-CN" altLang="en-US" sz="2400" b="1" dirty="0">
                <a:solidFill>
                  <a:srgbClr val="0000FF"/>
                </a:solidFill>
              </a:rPr>
              <a:t>段内</a:t>
            </a:r>
            <a:r>
              <a:rPr lang="zh-CN" altLang="en-US" sz="2400" b="1" dirty="0">
                <a:solidFill>
                  <a:schemeClr val="accent1"/>
                </a:solidFill>
              </a:rPr>
              <a:t>间接</a:t>
            </a:r>
            <a:r>
              <a:rPr lang="zh-CN" altLang="en-US" sz="2400" b="1" dirty="0">
                <a:solidFill>
                  <a:schemeClr val="tx1"/>
                </a:solidFill>
              </a:rPr>
              <a:t>转移</a:t>
            </a:r>
          </a:p>
        </p:txBody>
      </p:sp>
      <p:sp>
        <p:nvSpPr>
          <p:cNvPr id="523277" name="直接连接符 523276"/>
          <p:cNvSpPr/>
          <p:nvPr/>
        </p:nvSpPr>
        <p:spPr>
          <a:xfrm>
            <a:off x="468313" y="2928938"/>
            <a:ext cx="7704137" cy="0"/>
          </a:xfrm>
          <a:prstGeom prst="line">
            <a:avLst/>
          </a:prstGeom>
          <a:ln w="28575" cap="flat" cmpd="sng">
            <a:solidFill>
              <a:srgbClr val="FF00FF"/>
            </a:solidFill>
            <a:prstDash val="solid"/>
            <a:headEnd type="none" w="med" len="med"/>
            <a:tailEnd type="none" w="med" len="med"/>
          </a:ln>
        </p:spPr>
      </p:sp>
      <p:sp>
        <p:nvSpPr>
          <p:cNvPr id="523278" name="文本占位符 523277"/>
          <p:cNvSpPr>
            <a:spLocks noGrp="1"/>
          </p:cNvSpPr>
          <p:nvPr>
            <p:ph type="body" idx="1"/>
          </p:nvPr>
        </p:nvSpPr>
        <p:spPr>
          <a:xfrm>
            <a:off x="323850" y="981075"/>
            <a:ext cx="4032250" cy="1871663"/>
          </a:xfrm>
          <a:solidFill>
            <a:srgbClr val="FFFFFF">
              <a:alpha val="100000"/>
            </a:srgbClr>
          </a:solidFill>
          <a:ln/>
        </p:spPr>
        <p:txBody>
          <a:bodyPr/>
          <a:lstStyle/>
          <a:p>
            <a:pPr marL="0" indent="390525" defTabSz="0">
              <a:lnSpc>
                <a:spcPct val="90000"/>
              </a:lnSpc>
              <a:buNone/>
              <a:tabLst>
                <a:tab pos="1914525" algn="l"/>
                <a:tab pos="4478655" algn="l"/>
              </a:tabLst>
            </a:pPr>
            <a:r>
              <a:rPr lang="en-US" altLang="zh-CN" sz="2400" b="1">
                <a:latin typeface="宋体" panose="02010600030101010101" pitchFamily="2" charset="-122"/>
              </a:rPr>
              <a:t>JMP label  </a:t>
            </a:r>
            <a:r>
              <a:rPr lang="zh-CN" altLang="en-US" sz="2400" b="1" dirty="0">
                <a:latin typeface="宋体" panose="02010600030101010101" pitchFamily="2" charset="-122"/>
              </a:rPr>
              <a:t>例如：</a:t>
            </a:r>
          </a:p>
          <a:p>
            <a:pPr marL="0" indent="390525" defTabSz="0">
              <a:lnSpc>
                <a:spcPct val="90000"/>
              </a:lnSpc>
              <a:buNone/>
              <a:tabLst>
                <a:tab pos="1914525" algn="l"/>
                <a:tab pos="4478655" algn="l"/>
              </a:tabLst>
            </a:pPr>
            <a:r>
              <a:rPr lang="en-US" altLang="zh-CN" sz="2400" b="1" err="1">
                <a:latin typeface="宋体" panose="02010600030101010101" pitchFamily="2" charset="-122"/>
              </a:rPr>
              <a:t>jmp</a:t>
            </a:r>
            <a:r>
              <a:rPr lang="en-US" altLang="zh-CN" sz="2400" b="1">
                <a:solidFill>
                  <a:schemeClr val="bg2"/>
                </a:solidFill>
                <a:latin typeface="宋体" panose="02010600030101010101" pitchFamily="2" charset="-122"/>
              </a:rPr>
              <a:t> </a:t>
            </a:r>
            <a:r>
              <a:rPr lang="en-US" altLang="zh-CN" sz="2400" b="1">
                <a:solidFill>
                  <a:srgbClr val="FF00FF"/>
                </a:solidFill>
                <a:latin typeface="宋体" panose="02010600030101010101" pitchFamily="2" charset="-122"/>
              </a:rPr>
              <a:t>output</a:t>
            </a:r>
            <a:r>
              <a:rPr lang="en-US" altLang="zh-CN" sz="2400" b="1">
                <a:solidFill>
                  <a:schemeClr val="tx2"/>
                </a:solidFill>
                <a:latin typeface="宋体" panose="02010600030101010101" pitchFamily="2" charset="-122"/>
              </a:rPr>
              <a:t>  </a:t>
            </a:r>
            <a:r>
              <a:rPr lang="zh-CN" altLang="en-US" sz="2400" b="1">
                <a:solidFill>
                  <a:schemeClr val="tx2"/>
                </a:solidFill>
                <a:latin typeface="宋体" panose="02010600030101010101" pitchFamily="2" charset="-122"/>
              </a:rPr>
              <a:t>　</a:t>
            </a:r>
            <a:endParaRPr lang="zh-CN" altLang="en-US" sz="2400" b="1" dirty="0">
              <a:latin typeface="宋体" panose="02010600030101010101" pitchFamily="2" charset="-122"/>
            </a:endParaRPr>
          </a:p>
          <a:p>
            <a:pPr marL="0" indent="390525" defTabSz="0">
              <a:lnSpc>
                <a:spcPct val="20000"/>
              </a:lnSpc>
              <a:buNone/>
              <a:tabLst>
                <a:tab pos="1914525" algn="l"/>
                <a:tab pos="4478655" algn="l"/>
              </a:tabLst>
            </a:pPr>
            <a:r>
              <a:rPr lang="zh-CN" altLang="zh-CN" sz="2400" b="1" dirty="0">
                <a:solidFill>
                  <a:schemeClr val="bg2"/>
                </a:solidFill>
                <a:latin typeface="宋体" panose="02010600030101010101" pitchFamily="2" charset="-122"/>
              </a:rPr>
              <a:t>	</a:t>
            </a:r>
            <a:endParaRPr lang="zh-CN" altLang="zh-CN" sz="2400" b="1" dirty="0">
              <a:solidFill>
                <a:schemeClr val="accent2"/>
              </a:solidFill>
              <a:latin typeface="宋体" panose="02010600030101010101" pitchFamily="2" charset="-122"/>
            </a:endParaRPr>
          </a:p>
          <a:p>
            <a:pPr marL="0" indent="390525" defTabSz="0">
              <a:buNone/>
              <a:tabLst>
                <a:tab pos="1914525" algn="l"/>
                <a:tab pos="4478655" algn="l"/>
              </a:tabLst>
            </a:pPr>
            <a:r>
              <a:rPr lang="zh-CN" altLang="en-US" sz="2400" b="1">
                <a:solidFill>
                  <a:schemeClr val="bg2"/>
                </a:solidFill>
                <a:latin typeface="宋体" panose="02010600030101010101" pitchFamily="2" charset="-122"/>
              </a:rPr>
              <a:t>	</a:t>
            </a:r>
            <a:r>
              <a:rPr lang="zh-CN" altLang="zh-CN" sz="2400" b="1" dirty="0">
                <a:solidFill>
                  <a:schemeClr val="accent2"/>
                </a:solidFill>
                <a:latin typeface="宋体" panose="02010600030101010101" pitchFamily="2" charset="-122"/>
              </a:rPr>
              <a:t>……</a:t>
            </a:r>
          </a:p>
          <a:p>
            <a:pPr marL="0" indent="390525" defTabSz="0">
              <a:buNone/>
              <a:tabLst>
                <a:tab pos="1914525" algn="l"/>
                <a:tab pos="4478655" algn="l"/>
              </a:tabLst>
            </a:pPr>
            <a:r>
              <a:rPr lang="en-US" altLang="zh-CN" sz="2400" b="1" err="1">
                <a:solidFill>
                  <a:srgbClr val="FF00FF"/>
                </a:solidFill>
                <a:latin typeface="宋体" panose="02010600030101010101" pitchFamily="2" charset="-122"/>
              </a:rPr>
              <a:t>output</a:t>
            </a:r>
            <a:r>
              <a:rPr lang="en-US" altLang="zh-CN" sz="2400" b="1" err="1">
                <a:solidFill>
                  <a:schemeClr val="tx2"/>
                </a:solidFill>
                <a:latin typeface="宋体" panose="02010600030101010101" pitchFamily="2" charset="-122"/>
              </a:rPr>
              <a:t>:</a:t>
            </a:r>
            <a:r>
              <a:rPr lang="en-US" altLang="zh-CN" sz="2400" b="1" err="1">
                <a:solidFill>
                  <a:schemeClr val="accent2"/>
                </a:solidFill>
                <a:latin typeface="宋体" panose="02010600030101010101" pitchFamily="2" charset="-122"/>
              </a:rPr>
              <a:t>mov</a:t>
            </a:r>
            <a:r>
              <a:rPr lang="en-US" altLang="zh-CN" sz="2400" b="1">
                <a:solidFill>
                  <a:schemeClr val="accent2"/>
                </a:solidFill>
                <a:latin typeface="宋体" panose="02010600030101010101" pitchFamily="2" charset="-122"/>
              </a:rPr>
              <a:t> </a:t>
            </a:r>
            <a:r>
              <a:rPr lang="en-US" altLang="zh-CN" sz="2400" b="1" err="1">
                <a:solidFill>
                  <a:schemeClr val="accent2"/>
                </a:solidFill>
                <a:latin typeface="宋体" panose="02010600030101010101" pitchFamily="2" charset="-122"/>
              </a:rPr>
              <a:t>result,al</a:t>
            </a:r>
            <a:endParaRPr lang="en-US" altLang="zh-CN" sz="2400" b="1">
              <a:latin typeface="宋体" panose="02010600030101010101" pitchFamily="2" charset="-122"/>
            </a:endParaRPr>
          </a:p>
        </p:txBody>
      </p:sp>
      <p:sp>
        <p:nvSpPr>
          <p:cNvPr id="523279" name="矩形 523278"/>
          <p:cNvSpPr/>
          <p:nvPr/>
        </p:nvSpPr>
        <p:spPr>
          <a:xfrm>
            <a:off x="827088" y="4437063"/>
            <a:ext cx="7356475" cy="1187450"/>
          </a:xfrm>
          <a:prstGeom prst="rect">
            <a:avLst/>
          </a:prstGeom>
          <a:noFill/>
          <a:ln w="9525">
            <a:noFill/>
          </a:ln>
        </p:spPr>
        <p:txBody>
          <a:bodyPr wrap="none" anchor="t">
            <a:spAutoFit/>
          </a:bodyPr>
          <a:lstStyle/>
          <a:p>
            <a:pPr lvl="0"/>
            <a:r>
              <a:rPr lang="en-US" altLang="zh-CN" sz="2400" b="1">
                <a:latin typeface="Arial" panose="020B0604020202020204" pitchFamily="34" charset="0"/>
                <a:ea typeface="宋体" panose="02010600030101010101" pitchFamily="2" charset="-122"/>
              </a:rPr>
              <a:t>JMP </a:t>
            </a:r>
            <a:r>
              <a:rPr lang="en-US" altLang="zh-CN" sz="2400" b="1">
                <a:solidFill>
                  <a:srgbClr val="FF00FF"/>
                </a:solidFill>
                <a:latin typeface="Arial" panose="020B0604020202020204" pitchFamily="34" charset="0"/>
                <a:ea typeface="宋体" panose="02010600030101010101" pitchFamily="2" charset="-122"/>
              </a:rPr>
              <a:t>far </a:t>
            </a:r>
            <a:r>
              <a:rPr lang="en-US" altLang="zh-CN" sz="2400" b="1" err="1">
                <a:solidFill>
                  <a:srgbClr val="FF00FF"/>
                </a:solidFill>
                <a:latin typeface="Arial" panose="020B0604020202020204" pitchFamily="34" charset="0"/>
                <a:ea typeface="宋体" panose="02010600030101010101" pitchFamily="2" charset="-122"/>
              </a:rPr>
              <a:t>ptr</a:t>
            </a:r>
            <a:r>
              <a:rPr lang="en-US" altLang="zh-CN" sz="2400" b="1">
                <a:latin typeface="Arial" panose="020B0604020202020204" pitchFamily="34" charset="0"/>
                <a:ea typeface="宋体" panose="02010600030101010101" pitchFamily="2" charset="-122"/>
              </a:rPr>
              <a:t> label   </a:t>
            </a:r>
            <a:r>
              <a:rPr lang="zh-CN" altLang="en-US" sz="2400" b="1" dirty="0">
                <a:latin typeface="Arial" panose="020B0604020202020204" pitchFamily="34" charset="0"/>
                <a:ea typeface="宋体" panose="02010600030101010101" pitchFamily="2" charset="-122"/>
              </a:rPr>
              <a:t>例如：</a:t>
            </a:r>
            <a:r>
              <a:rPr lang="zh-CN" altLang="en-US" sz="2400" b="1">
                <a:latin typeface="Arial" panose="020B0604020202020204" pitchFamily="34" charset="0"/>
                <a:ea typeface="宋体" panose="02010600030101010101" pitchFamily="2" charset="-122"/>
              </a:rPr>
              <a:t>      </a:t>
            </a:r>
            <a:r>
              <a:rPr lang="zh-CN" altLang="en-US" sz="2400" b="1" dirty="0">
                <a:solidFill>
                  <a:schemeClr val="accent2"/>
                </a:solidFill>
                <a:latin typeface="Arial" panose="020B0604020202020204" pitchFamily="34" charset="0"/>
                <a:ea typeface="宋体" panose="02010600030101010101" pitchFamily="2" charset="-122"/>
              </a:rPr>
              <a:t>；</a:t>
            </a:r>
            <a:r>
              <a:rPr lang="en-US" altLang="zh-CN" sz="2400" b="1" err="1">
                <a:solidFill>
                  <a:srgbClr val="0000FF"/>
                </a:solidFill>
                <a:latin typeface="Arial" panose="020B0604020202020204" pitchFamily="34" charset="0"/>
                <a:ea typeface="宋体" panose="02010600030101010101" pitchFamily="2" charset="-122"/>
              </a:rPr>
              <a:t>IP</a:t>
            </a:r>
            <a:r>
              <a:rPr lang="en-US" altLang="zh-CN" sz="2400" b="1" err="1">
                <a:latin typeface="Arial" panose="020B0604020202020204" pitchFamily="34" charset="0"/>
                <a:ea typeface="宋体" panose="02010600030101010101" pitchFamily="2" charset="-122"/>
              </a:rPr>
              <a:t>←label</a:t>
            </a:r>
            <a:r>
              <a:rPr lang="zh-CN" altLang="en-US" sz="2400" b="1" dirty="0">
                <a:latin typeface="Arial" panose="020B0604020202020204" pitchFamily="34" charset="0"/>
                <a:ea typeface="宋体" panose="02010600030101010101" pitchFamily="2" charset="-122"/>
              </a:rPr>
              <a:t>的</a:t>
            </a:r>
            <a:r>
              <a:rPr lang="zh-CN" altLang="en-US" sz="2400" b="1" dirty="0">
                <a:solidFill>
                  <a:srgbClr val="0000FF"/>
                </a:solidFill>
                <a:latin typeface="Arial" panose="020B0604020202020204" pitchFamily="34" charset="0"/>
                <a:ea typeface="宋体" panose="02010600030101010101" pitchFamily="2" charset="-122"/>
              </a:rPr>
              <a:t>偏移地址</a:t>
            </a:r>
          </a:p>
          <a:p>
            <a:pPr lvl="0"/>
            <a:r>
              <a:rPr lang="zh-CN" altLang="en-US" sz="2400" b="1" dirty="0">
                <a:solidFill>
                  <a:schemeClr val="accent2"/>
                </a:solidFill>
                <a:latin typeface="Arial" panose="020B0604020202020204" pitchFamily="34" charset="0"/>
                <a:ea typeface="宋体" panose="02010600030101010101" pitchFamily="2" charset="-122"/>
              </a:rPr>
              <a:t>                                                ；</a:t>
            </a:r>
            <a:r>
              <a:rPr lang="en-US" altLang="zh-CN" sz="2400" b="1" err="1">
                <a:solidFill>
                  <a:srgbClr val="0000FF"/>
                </a:solidFill>
                <a:latin typeface="Arial" panose="020B0604020202020204" pitchFamily="34" charset="0"/>
                <a:ea typeface="宋体" panose="02010600030101010101" pitchFamily="2" charset="-122"/>
              </a:rPr>
              <a:t>CS</a:t>
            </a:r>
            <a:r>
              <a:rPr lang="en-US" altLang="zh-CN" sz="2400" b="1" err="1">
                <a:latin typeface="Arial" panose="020B0604020202020204" pitchFamily="34" charset="0"/>
                <a:ea typeface="宋体" panose="02010600030101010101" pitchFamily="2" charset="-122"/>
              </a:rPr>
              <a:t>←label</a:t>
            </a:r>
            <a:r>
              <a:rPr lang="zh-CN" altLang="en-US" sz="2400" b="1" dirty="0">
                <a:latin typeface="Arial" panose="020B0604020202020204" pitchFamily="34" charset="0"/>
                <a:ea typeface="宋体" panose="02010600030101010101" pitchFamily="2" charset="-122"/>
              </a:rPr>
              <a:t>的</a:t>
            </a:r>
            <a:r>
              <a:rPr lang="zh-CN" altLang="en-US" sz="2400" b="1" dirty="0">
                <a:solidFill>
                  <a:srgbClr val="0000FF"/>
                </a:solidFill>
                <a:latin typeface="Arial" panose="020B0604020202020204" pitchFamily="34" charset="0"/>
                <a:ea typeface="宋体" panose="02010600030101010101" pitchFamily="2" charset="-122"/>
              </a:rPr>
              <a:t>段地址</a:t>
            </a:r>
          </a:p>
          <a:p>
            <a:pPr lvl="0"/>
            <a:r>
              <a:rPr lang="en-US" altLang="zh-CN" sz="2400" b="1" err="1">
                <a:latin typeface="Arial" panose="020B0604020202020204" pitchFamily="34" charset="0"/>
                <a:ea typeface="宋体" panose="02010600030101010101" pitchFamily="2" charset="-122"/>
              </a:rPr>
              <a:t>jmp</a:t>
            </a:r>
            <a:r>
              <a:rPr lang="en-US" altLang="zh-CN" sz="2400" b="1">
                <a:latin typeface="Arial" panose="020B0604020202020204" pitchFamily="34" charset="0"/>
                <a:ea typeface="宋体" panose="02010600030101010101" pitchFamily="2" charset="-122"/>
              </a:rPr>
              <a:t> </a:t>
            </a:r>
            <a:r>
              <a:rPr lang="en-US" altLang="zh-CN" sz="2400" b="1">
                <a:solidFill>
                  <a:srgbClr val="FF00FF"/>
                </a:solidFill>
                <a:latin typeface="Arial" panose="020B0604020202020204" pitchFamily="34" charset="0"/>
                <a:ea typeface="宋体" panose="02010600030101010101" pitchFamily="2" charset="-122"/>
              </a:rPr>
              <a:t>far </a:t>
            </a:r>
            <a:r>
              <a:rPr lang="en-US" altLang="zh-CN" sz="2400" b="1" err="1">
                <a:solidFill>
                  <a:srgbClr val="FF00FF"/>
                </a:solidFill>
                <a:latin typeface="Arial" panose="020B0604020202020204" pitchFamily="34" charset="0"/>
                <a:ea typeface="宋体" panose="02010600030101010101" pitchFamily="2" charset="-122"/>
              </a:rPr>
              <a:t>ptr</a:t>
            </a:r>
            <a:r>
              <a:rPr lang="en-US" altLang="zh-CN" sz="2400" b="1">
                <a:latin typeface="Arial" panose="020B0604020202020204" pitchFamily="34" charset="0"/>
                <a:ea typeface="宋体" panose="02010600030101010101" pitchFamily="2" charset="-122"/>
              </a:rPr>
              <a:t> </a:t>
            </a:r>
            <a:r>
              <a:rPr lang="en-US" altLang="zh-CN" sz="2400" b="1" err="1">
                <a:solidFill>
                  <a:schemeClr val="tx2"/>
                </a:solidFill>
                <a:latin typeface="Arial" panose="020B0604020202020204" pitchFamily="34" charset="0"/>
                <a:ea typeface="宋体" panose="02010600030101010101" pitchFamily="2" charset="-122"/>
              </a:rPr>
              <a:t>otherseg</a:t>
            </a:r>
            <a:endParaRPr lang="en-US" altLang="zh-CN" sz="2400" b="1">
              <a:solidFill>
                <a:schemeClr val="tx2"/>
              </a:solidFill>
              <a:latin typeface="Arial" panose="020B0604020202020204" pitchFamily="34" charset="0"/>
              <a:ea typeface="宋体" panose="02010600030101010101" pitchFamily="2" charset="-122"/>
            </a:endParaRPr>
          </a:p>
        </p:txBody>
      </p:sp>
      <p:sp>
        <p:nvSpPr>
          <p:cNvPr id="523280" name="直接连接符 523279"/>
          <p:cNvSpPr/>
          <p:nvPr/>
        </p:nvSpPr>
        <p:spPr>
          <a:xfrm>
            <a:off x="468313" y="4292600"/>
            <a:ext cx="7704137" cy="0"/>
          </a:xfrm>
          <a:prstGeom prst="line">
            <a:avLst/>
          </a:prstGeom>
          <a:ln w="28575" cap="flat" cmpd="sng">
            <a:solidFill>
              <a:srgbClr val="FF00FF"/>
            </a:solidFill>
            <a:prstDash val="solid"/>
            <a:headEnd type="none" w="med" len="med"/>
            <a:tailEnd type="none" w="med" len="med"/>
          </a:ln>
        </p:spPr>
      </p:sp>
      <p:sp>
        <p:nvSpPr>
          <p:cNvPr id="523281" name="矩形 523280"/>
          <p:cNvSpPr/>
          <p:nvPr/>
        </p:nvSpPr>
        <p:spPr>
          <a:xfrm>
            <a:off x="5724525" y="5300663"/>
            <a:ext cx="2087563" cy="360362"/>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zh-CN" altLang="en-US" sz="2400" b="1" dirty="0">
                <a:solidFill>
                  <a:srgbClr val="0000FF"/>
                </a:solidFill>
              </a:rPr>
              <a:t>段间</a:t>
            </a:r>
            <a:r>
              <a:rPr lang="zh-CN" altLang="en-US" sz="2400" b="1" dirty="0">
                <a:solidFill>
                  <a:srgbClr val="FF00FF"/>
                </a:solidFill>
              </a:rPr>
              <a:t>直接</a:t>
            </a:r>
            <a:r>
              <a:rPr lang="zh-CN" altLang="en-US" sz="2400" b="1" dirty="0">
                <a:solidFill>
                  <a:schemeClr val="tx1"/>
                </a:solidFill>
              </a:rPr>
              <a:t>转移</a:t>
            </a:r>
          </a:p>
        </p:txBody>
      </p:sp>
      <p:sp>
        <p:nvSpPr>
          <p:cNvPr id="523282" name="矩形 523281"/>
          <p:cNvSpPr/>
          <p:nvPr/>
        </p:nvSpPr>
        <p:spPr>
          <a:xfrm>
            <a:off x="4572000" y="1176338"/>
            <a:ext cx="3309938" cy="457200"/>
          </a:xfrm>
          <a:prstGeom prst="rect">
            <a:avLst/>
          </a:prstGeom>
          <a:noFill/>
          <a:ln w="9525">
            <a:noFill/>
          </a:ln>
        </p:spPr>
        <p:txBody>
          <a:bodyPr wrap="none" anchor="t">
            <a:spAutoFit/>
          </a:bodyPr>
          <a:lstStyle/>
          <a:p>
            <a:pPr lvl="0"/>
            <a:r>
              <a:rPr lang="zh-CN" altLang="en-US" sz="2400" b="1" dirty="0">
                <a:latin typeface="Arial" panose="020B0604020202020204" pitchFamily="34" charset="0"/>
                <a:ea typeface="宋体" panose="02010600030101010101" pitchFamily="2" charset="-122"/>
              </a:rPr>
              <a:t>；</a:t>
            </a:r>
            <a:r>
              <a:rPr lang="en-US" altLang="zh-CN" sz="2400" b="1" err="1">
                <a:solidFill>
                  <a:srgbClr val="0000FF"/>
                </a:solidFill>
                <a:latin typeface="Arial" panose="020B0604020202020204" pitchFamily="34" charset="0"/>
                <a:ea typeface="宋体" panose="02010600030101010101" pitchFamily="2" charset="-122"/>
              </a:rPr>
              <a:t>IP</a:t>
            </a:r>
            <a:r>
              <a:rPr lang="en-US" altLang="zh-CN" sz="2400" b="1" err="1">
                <a:latin typeface="Arial" panose="020B0604020202020204" pitchFamily="34" charset="0"/>
                <a:ea typeface="宋体" panose="02010600030101010101" pitchFamily="2" charset="-122"/>
              </a:rPr>
              <a:t>←label</a:t>
            </a:r>
            <a:r>
              <a:rPr lang="zh-CN" altLang="en-US" sz="2400" b="1" dirty="0">
                <a:latin typeface="Arial" panose="020B0604020202020204" pitchFamily="34" charset="0"/>
                <a:ea typeface="宋体" panose="02010600030101010101" pitchFamily="2" charset="-122"/>
              </a:rPr>
              <a:t>的</a:t>
            </a:r>
            <a:r>
              <a:rPr lang="zh-CN" altLang="en-US" sz="2400" b="1" dirty="0">
                <a:solidFill>
                  <a:srgbClr val="0000FF"/>
                </a:solidFill>
                <a:latin typeface="Arial" panose="020B0604020202020204" pitchFamily="34" charset="0"/>
                <a:ea typeface="宋体" panose="02010600030101010101" pitchFamily="2" charset="-122"/>
              </a:rPr>
              <a:t>偏移地址</a:t>
            </a:r>
          </a:p>
        </p:txBody>
      </p:sp>
      <p:sp>
        <p:nvSpPr>
          <p:cNvPr id="523283" name="直接连接符 523282"/>
          <p:cNvSpPr/>
          <p:nvPr/>
        </p:nvSpPr>
        <p:spPr>
          <a:xfrm>
            <a:off x="395288" y="5734050"/>
            <a:ext cx="7704137" cy="0"/>
          </a:xfrm>
          <a:prstGeom prst="line">
            <a:avLst/>
          </a:prstGeom>
          <a:ln w="28575" cap="flat" cmpd="sng">
            <a:solidFill>
              <a:srgbClr val="FF00FF"/>
            </a:solidFill>
            <a:prstDash val="solid"/>
            <a:headEnd type="none" w="med" len="med"/>
            <a:tailEnd type="none" w="med" len="med"/>
          </a:ln>
        </p:spPr>
      </p:sp>
      <p:sp>
        <p:nvSpPr>
          <p:cNvPr id="523284" name="矩形 523283"/>
          <p:cNvSpPr/>
          <p:nvPr/>
        </p:nvSpPr>
        <p:spPr>
          <a:xfrm>
            <a:off x="900113" y="5734050"/>
            <a:ext cx="4011612" cy="519113"/>
          </a:xfrm>
          <a:prstGeom prst="rect">
            <a:avLst/>
          </a:prstGeom>
          <a:noFill/>
          <a:ln w="9525">
            <a:noFill/>
          </a:ln>
        </p:spPr>
        <p:txBody>
          <a:bodyPr wrap="none" anchor="t">
            <a:spAutoFit/>
          </a:bodyPr>
          <a:lstStyle/>
          <a:p>
            <a:pPr lvl="0"/>
            <a:r>
              <a:rPr lang="en-US" altLang="zh-CN" sz="2400" b="1">
                <a:latin typeface="Arial" panose="020B0604020202020204" pitchFamily="34" charset="0"/>
                <a:ea typeface="宋体" panose="02010600030101010101" pitchFamily="2" charset="-122"/>
              </a:rPr>
              <a:t>JMP </a:t>
            </a:r>
            <a:r>
              <a:rPr lang="en-US" altLang="zh-CN" sz="2400" b="1">
                <a:solidFill>
                  <a:srgbClr val="FF00FF"/>
                </a:solidFill>
                <a:latin typeface="Arial" panose="020B0604020202020204" pitchFamily="34" charset="0"/>
                <a:ea typeface="宋体" panose="02010600030101010101" pitchFamily="2" charset="-122"/>
              </a:rPr>
              <a:t>far </a:t>
            </a:r>
            <a:r>
              <a:rPr lang="en-US" altLang="zh-CN" sz="2400" b="1" err="1">
                <a:solidFill>
                  <a:srgbClr val="FF00FF"/>
                </a:solidFill>
                <a:latin typeface="Arial" panose="020B0604020202020204" pitchFamily="34" charset="0"/>
                <a:ea typeface="宋体" panose="02010600030101010101" pitchFamily="2" charset="-122"/>
              </a:rPr>
              <a:t>ptr</a:t>
            </a:r>
            <a:r>
              <a:rPr lang="en-US" altLang="zh-CN" sz="2400" b="1">
                <a:latin typeface="Arial" panose="020B0604020202020204" pitchFamily="34" charset="0"/>
                <a:ea typeface="宋体" panose="02010600030101010101" pitchFamily="2" charset="-122"/>
              </a:rPr>
              <a:t> </a:t>
            </a:r>
            <a:r>
              <a:rPr lang="en-US" altLang="zh-CN" sz="2400" b="1" err="1">
                <a:latin typeface="Arial" panose="020B0604020202020204" pitchFamily="34" charset="0"/>
                <a:ea typeface="宋体" panose="02010600030101010101" pitchFamily="2" charset="-122"/>
              </a:rPr>
              <a:t>mem</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例如：</a:t>
            </a:r>
            <a:r>
              <a:rPr lang="zh-CN" altLang="en-US" sz="2800" i="1">
                <a:latin typeface="Arial" panose="020B0604020202020204" pitchFamily="34" charset="0"/>
                <a:ea typeface="宋体" panose="02010600030101010101" pitchFamily="2" charset="-122"/>
              </a:rPr>
              <a:t> </a:t>
            </a:r>
            <a:endParaRPr lang="zh-CN" altLang="en-US" sz="2800" i="1" dirty="0">
              <a:latin typeface="Arial" panose="020B0604020202020204" pitchFamily="34" charset="0"/>
              <a:ea typeface="宋体" panose="02010600030101010101" pitchFamily="2" charset="-122"/>
            </a:endParaRPr>
          </a:p>
        </p:txBody>
      </p:sp>
      <p:sp>
        <p:nvSpPr>
          <p:cNvPr id="523285" name="矩形 523284"/>
          <p:cNvSpPr/>
          <p:nvPr/>
        </p:nvSpPr>
        <p:spPr>
          <a:xfrm>
            <a:off x="5364163" y="5805488"/>
            <a:ext cx="2087562" cy="503237"/>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zh-CN" altLang="en-US" sz="2400" b="1" dirty="0">
                <a:solidFill>
                  <a:srgbClr val="0000FF"/>
                </a:solidFill>
              </a:rPr>
              <a:t>段间</a:t>
            </a:r>
            <a:r>
              <a:rPr lang="zh-CN" altLang="en-US" sz="2400" b="1" dirty="0">
                <a:solidFill>
                  <a:schemeClr val="accent1"/>
                </a:solidFill>
              </a:rPr>
              <a:t>间接</a:t>
            </a:r>
            <a:r>
              <a:rPr lang="zh-CN" altLang="en-US" sz="2400" b="1" dirty="0">
                <a:solidFill>
                  <a:schemeClr val="tx1"/>
                </a:solidFill>
              </a:rPr>
              <a:t>转移</a:t>
            </a:r>
          </a:p>
        </p:txBody>
      </p:sp>
      <p:sp>
        <p:nvSpPr>
          <p:cNvPr id="523286" name="矩形 523285"/>
          <p:cNvSpPr/>
          <p:nvPr/>
        </p:nvSpPr>
        <p:spPr>
          <a:xfrm>
            <a:off x="857250" y="6237288"/>
            <a:ext cx="2419350" cy="457200"/>
          </a:xfrm>
          <a:prstGeom prst="rect">
            <a:avLst/>
          </a:prstGeom>
          <a:noFill/>
          <a:ln w="9525">
            <a:noFill/>
          </a:ln>
        </p:spPr>
        <p:txBody>
          <a:bodyPr wrap="none" anchor="t">
            <a:spAutoFit/>
          </a:bodyPr>
          <a:lstStyle/>
          <a:p>
            <a:pPr lvl="0"/>
            <a:r>
              <a:rPr lang="en-US" altLang="zh-CN" sz="2400" b="1">
                <a:latin typeface="Arial" panose="020B0604020202020204" pitchFamily="34" charset="0"/>
                <a:ea typeface="宋体" panose="02010600030101010101" pitchFamily="2" charset="-122"/>
              </a:rPr>
              <a:t>JMP </a:t>
            </a:r>
            <a:r>
              <a:rPr lang="en-US" altLang="zh-CN" sz="2400" b="1">
                <a:solidFill>
                  <a:srgbClr val="FF00FF"/>
                </a:solidFill>
                <a:latin typeface="Arial" panose="020B0604020202020204" pitchFamily="34" charset="0"/>
                <a:ea typeface="宋体" panose="02010600030101010101" pitchFamily="2" charset="-122"/>
              </a:rPr>
              <a:t>far </a:t>
            </a:r>
            <a:r>
              <a:rPr lang="en-US" altLang="zh-CN" sz="2400" b="1" err="1">
                <a:solidFill>
                  <a:srgbClr val="FF00FF"/>
                </a:solidFill>
                <a:latin typeface="Arial" panose="020B0604020202020204" pitchFamily="34" charset="0"/>
                <a:ea typeface="宋体" panose="02010600030101010101" pitchFamily="2" charset="-122"/>
              </a:rPr>
              <a:t>ptr</a:t>
            </a:r>
            <a:r>
              <a:rPr lang="en-US" altLang="zh-CN" sz="2400" b="1">
                <a:latin typeface="Arial" panose="020B0604020202020204" pitchFamily="34" charset="0"/>
                <a:ea typeface="宋体" panose="02010600030101010101" pitchFamily="2" charset="-122"/>
              </a:rPr>
              <a:t> </a:t>
            </a:r>
            <a:r>
              <a:rPr lang="en-US" altLang="zh-CN" sz="2400" b="1">
                <a:solidFill>
                  <a:schemeClr val="accent1"/>
                </a:solidFill>
                <a:latin typeface="Arial" panose="020B0604020202020204" pitchFamily="34" charset="0"/>
                <a:ea typeface="宋体" panose="02010600030101010101" pitchFamily="2" charset="-122"/>
              </a:rPr>
              <a:t>[</a:t>
            </a:r>
            <a:r>
              <a:rPr lang="en-US" altLang="zh-CN" sz="2400" b="1" err="1">
                <a:solidFill>
                  <a:schemeClr val="accent1"/>
                </a:solidFill>
                <a:latin typeface="Arial" panose="020B0604020202020204" pitchFamily="34" charset="0"/>
                <a:ea typeface="宋体" panose="02010600030101010101" pitchFamily="2" charset="-122"/>
              </a:rPr>
              <a:t>bx</a:t>
            </a:r>
            <a:r>
              <a:rPr lang="en-US" altLang="zh-CN" sz="2400" b="1">
                <a:solidFill>
                  <a:schemeClr val="accent1"/>
                </a:solidFill>
                <a:latin typeface="Arial" panose="020B0604020202020204" pitchFamily="34" charset="0"/>
                <a:ea typeface="宋体" panose="02010600030101010101" pitchFamily="2" charset="-122"/>
              </a:rPr>
              <a:t>]</a:t>
            </a:r>
          </a:p>
        </p:txBody>
      </p:sp>
      <p:sp>
        <p:nvSpPr>
          <p:cNvPr id="17" name="矩形 16"/>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标题 493569"/>
          <p:cNvSpPr>
            <a:spLocks noGrp="1"/>
          </p:cNvSpPr>
          <p:nvPr>
            <p:ph type="title"/>
          </p:nvPr>
        </p:nvSpPr>
        <p:spPr>
          <a:xfrm>
            <a:off x="539750" y="765175"/>
            <a:ext cx="2819400" cy="490538"/>
          </a:xfrm>
          <a:ln/>
        </p:spPr>
        <p:txBody>
          <a:bodyPr anchor="ctr"/>
          <a:lstStyle/>
          <a:p>
            <a:pPr algn="l"/>
            <a:r>
              <a:rPr lang="en-US" altLang="zh-CN" sz="2400" b="1" dirty="0">
                <a:solidFill>
                  <a:schemeClr val="tx1"/>
                </a:solidFill>
              </a:rPr>
              <a:t>2</a:t>
            </a:r>
            <a:r>
              <a:rPr lang="zh-CN" altLang="en-US" sz="2400" b="1" dirty="0">
                <a:solidFill>
                  <a:schemeClr val="tx1"/>
                </a:solidFill>
              </a:rPr>
              <a:t>、条件转移指令</a:t>
            </a:r>
          </a:p>
        </p:txBody>
      </p:sp>
      <p:sp>
        <p:nvSpPr>
          <p:cNvPr id="493571" name="文本占位符 493570"/>
          <p:cNvSpPr>
            <a:spLocks noGrp="1"/>
          </p:cNvSpPr>
          <p:nvPr>
            <p:ph type="body" idx="1"/>
          </p:nvPr>
        </p:nvSpPr>
        <p:spPr>
          <a:xfrm>
            <a:off x="381000" y="1895475"/>
            <a:ext cx="8280400" cy="2181225"/>
          </a:xfrm>
          <a:solidFill>
            <a:schemeClr val="bg1">
              <a:alpha val="100000"/>
            </a:schemeClr>
          </a:solidFill>
          <a:ln/>
        </p:spPr>
        <p:txBody>
          <a:bodyPr/>
          <a:lstStyle/>
          <a:p>
            <a:pPr marL="0" indent="0">
              <a:buNone/>
            </a:pPr>
            <a:r>
              <a:rPr lang="zh-CN" altLang="en-US" sz="2400" b="1" dirty="0">
                <a:solidFill>
                  <a:srgbClr val="FF00FF"/>
                </a:solidFill>
              </a:rPr>
              <a:t>功能</a:t>
            </a:r>
            <a:r>
              <a:rPr lang="zh-CN" altLang="en-US" sz="2400" b="1" dirty="0"/>
              <a:t>：若指定的</a:t>
            </a:r>
            <a:r>
              <a:rPr lang="zh-CN" altLang="en-US" sz="2400" b="1" dirty="0">
                <a:solidFill>
                  <a:srgbClr val="0000FF"/>
                </a:solidFill>
              </a:rPr>
              <a:t>条件</a:t>
            </a:r>
            <a:r>
              <a:rPr lang="en-US" altLang="zh-CN" sz="2400" b="1">
                <a:solidFill>
                  <a:srgbClr val="0000FF"/>
                </a:solidFill>
              </a:rPr>
              <a:t>cc</a:t>
            </a:r>
            <a:r>
              <a:rPr lang="zh-CN" altLang="en-US" sz="2400" b="1" dirty="0"/>
              <a:t>如果成立，程序转移到由标号</a:t>
            </a:r>
            <a:r>
              <a:rPr lang="en-US" altLang="zh-CN" sz="2400" b="1">
                <a:solidFill>
                  <a:srgbClr val="0000FF"/>
                </a:solidFill>
              </a:rPr>
              <a:t>label</a:t>
            </a:r>
            <a:r>
              <a:rPr lang="zh-CN" altLang="en-US" sz="2400" b="1" dirty="0"/>
              <a:t>指定的</a:t>
            </a:r>
            <a:r>
              <a:rPr lang="zh-CN" altLang="en-US" sz="2400" b="1" dirty="0">
                <a:solidFill>
                  <a:srgbClr val="0000FF"/>
                </a:solidFill>
              </a:rPr>
              <a:t>目标地址</a:t>
            </a:r>
            <a:r>
              <a:rPr lang="zh-CN" altLang="en-US" sz="2400" b="1" dirty="0"/>
              <a:t>去执行；若条件不成立，顺序执行下一条指令</a:t>
            </a:r>
          </a:p>
          <a:p>
            <a:pPr marL="0" indent="0">
              <a:buNone/>
            </a:pPr>
            <a:r>
              <a:rPr lang="zh-CN" altLang="en-US" sz="2400" b="1" dirty="0">
                <a:solidFill>
                  <a:srgbClr val="FF00FF"/>
                </a:solidFill>
              </a:rPr>
              <a:t>说明</a:t>
            </a:r>
            <a:r>
              <a:rPr lang="zh-CN" altLang="en-US" sz="2400" b="1" dirty="0"/>
              <a:t>：（</a:t>
            </a:r>
            <a:r>
              <a:rPr lang="en-US" altLang="zh-CN" sz="2400" b="1"/>
              <a:t>1</a:t>
            </a:r>
            <a:r>
              <a:rPr lang="zh-CN" altLang="en-US" sz="2400" b="1" dirty="0"/>
              <a:t>） </a:t>
            </a:r>
            <a:r>
              <a:rPr lang="en-US" altLang="zh-CN" sz="2400" b="1" err="1">
                <a:solidFill>
                  <a:srgbClr val="FF00FF"/>
                </a:solidFill>
              </a:rPr>
              <a:t>Jcc</a:t>
            </a:r>
            <a:r>
              <a:rPr lang="zh-CN" altLang="en-US" sz="2400" b="1" dirty="0"/>
              <a:t>？</a:t>
            </a:r>
            <a:endParaRPr lang="zh-CN" altLang="en-US" sz="2400" b="1" dirty="0">
              <a:sym typeface="Wingdings" panose="05000000000000000000" pitchFamily="2" charset="2"/>
            </a:endParaRPr>
          </a:p>
          <a:p>
            <a:pPr marL="0" indent="0">
              <a:buNone/>
            </a:pPr>
            <a:r>
              <a:rPr lang="zh-CN" altLang="en-US" sz="2400" b="1" dirty="0" err="1">
                <a:sym typeface="Wingdings" panose="05000000000000000000" pitchFamily="2" charset="2"/>
              </a:rPr>
              <a:t>　　　</a:t>
            </a:r>
            <a:r>
              <a:rPr lang="zh-CN" altLang="en-US" sz="2400" b="1" dirty="0">
                <a:sym typeface="Wingdings" panose="05000000000000000000" pitchFamily="2" charset="2"/>
              </a:rPr>
              <a:t>（</a:t>
            </a:r>
            <a:r>
              <a:rPr lang="en-US" altLang="zh-CN" sz="2400" b="1">
                <a:sym typeface="Wingdings" panose="05000000000000000000" pitchFamily="2" charset="2"/>
              </a:rPr>
              <a:t>2</a:t>
            </a:r>
            <a:r>
              <a:rPr lang="zh-CN" altLang="en-US" sz="2400" b="1">
                <a:sym typeface="Wingdings" panose="05000000000000000000" pitchFamily="2" charset="2"/>
              </a:rPr>
              <a:t>）</a:t>
            </a:r>
            <a:r>
              <a:rPr lang="zh-CN" altLang="en-US" sz="2400" b="1" dirty="0"/>
              <a:t>操作数</a:t>
            </a:r>
            <a:r>
              <a:rPr lang="en-US" altLang="zh-CN" sz="2400" b="1">
                <a:solidFill>
                  <a:srgbClr val="FF00FF"/>
                </a:solidFill>
              </a:rPr>
              <a:t>label</a:t>
            </a:r>
            <a:r>
              <a:rPr lang="zh-CN" altLang="en-US" sz="2400" b="1" dirty="0"/>
              <a:t>是采用</a:t>
            </a:r>
            <a:r>
              <a:rPr lang="zh-CN" altLang="en-US" sz="2400" b="1" dirty="0">
                <a:solidFill>
                  <a:srgbClr val="FF00FF"/>
                </a:solidFill>
              </a:rPr>
              <a:t>段内短转移</a:t>
            </a:r>
          </a:p>
          <a:p>
            <a:pPr marL="0" indent="0">
              <a:buNone/>
            </a:pPr>
            <a:r>
              <a:rPr lang="zh-CN" altLang="en-US" sz="2400" b="1" dirty="0"/>
              <a:t>　　　（</a:t>
            </a:r>
            <a:r>
              <a:rPr lang="en-US" altLang="zh-CN" sz="2400" b="1"/>
              <a:t>3</a:t>
            </a:r>
            <a:r>
              <a:rPr lang="zh-CN" altLang="en-US" sz="2400" b="1" dirty="0"/>
              <a:t>） </a:t>
            </a:r>
            <a:r>
              <a:rPr lang="en-US" altLang="zh-CN" sz="2400" b="1" err="1"/>
              <a:t>Jcc</a:t>
            </a:r>
            <a:r>
              <a:rPr lang="zh-CN" altLang="en-US" sz="2400" b="1" dirty="0"/>
              <a:t>指令不影响标志，但要利用标志</a:t>
            </a:r>
          </a:p>
        </p:txBody>
      </p:sp>
      <p:sp>
        <p:nvSpPr>
          <p:cNvPr id="493572" name="流程图: 可选过程 493571"/>
          <p:cNvSpPr/>
          <p:nvPr/>
        </p:nvSpPr>
        <p:spPr>
          <a:xfrm>
            <a:off x="2182813" y="1287463"/>
            <a:ext cx="2184400" cy="485775"/>
          </a:xfrm>
          <a:prstGeom prst="flowChartAlternateProcess">
            <a:avLst/>
          </a:prstGeom>
          <a:solidFill>
            <a:schemeClr val="bg1"/>
          </a:solidFill>
          <a:ln w="12700">
            <a:noFill/>
          </a:ln>
          <a:effectLst>
            <a:prstShdw prst="shdw13" dist="53882" dir="13499999">
              <a:srgbClr val="808080"/>
            </a:prstShdw>
          </a:effectLst>
        </p:spPr>
        <p:txBody>
          <a:bodyPr>
            <a:spAutoFit/>
          </a:bodyPr>
          <a:lstStyle/>
          <a:p>
            <a:pPr lvl="0" defTabSz="0">
              <a:spcBef>
                <a:spcPct val="50000"/>
              </a:spcBef>
              <a:tabLst>
                <a:tab pos="2089150" algn="l"/>
              </a:tabLst>
            </a:pPr>
            <a:r>
              <a:rPr lang="en-US" altLang="zh-CN" sz="2400" b="1" err="1">
                <a:latin typeface="宋体" panose="02010600030101010101" pitchFamily="2" charset="-122"/>
                <a:ea typeface="宋体" panose="02010600030101010101" pitchFamily="2" charset="-122"/>
              </a:rPr>
              <a:t>Jcc</a:t>
            </a:r>
            <a:r>
              <a:rPr lang="en-US" altLang="zh-CN" sz="2400" b="1">
                <a:latin typeface="宋体" panose="02010600030101010101" pitchFamily="2" charset="-122"/>
                <a:ea typeface="宋体" panose="02010600030101010101" pitchFamily="2" charset="-122"/>
              </a:rPr>
              <a:t> label</a:t>
            </a:r>
          </a:p>
        </p:txBody>
      </p:sp>
      <p:sp>
        <p:nvSpPr>
          <p:cNvPr id="493573" name="矩形 493572"/>
          <p:cNvSpPr/>
          <p:nvPr/>
        </p:nvSpPr>
        <p:spPr>
          <a:xfrm>
            <a:off x="539750" y="1300163"/>
            <a:ext cx="1187450" cy="457200"/>
          </a:xfrm>
          <a:prstGeom prst="rect">
            <a:avLst/>
          </a:prstGeom>
          <a:noFill/>
          <a:ln w="9525">
            <a:noFill/>
          </a:ln>
        </p:spPr>
        <p:txBody>
          <a:bodyPr wrap="none" anchor="ctr">
            <a:spAutoFit/>
          </a:bodyPr>
          <a:lstStyle/>
          <a:p>
            <a:pPr lvl="0"/>
            <a:r>
              <a:rPr lang="zh-CN" altLang="en-US" sz="2400" b="1" dirty="0">
                <a:latin typeface="Arial" panose="020B0604020202020204" pitchFamily="34" charset="0"/>
                <a:ea typeface="宋体" panose="02010600030101010101" pitchFamily="2" charset="-122"/>
              </a:rPr>
              <a:t>格式：</a:t>
            </a:r>
            <a:r>
              <a:rPr lang="zh-CN" altLang="en-US" sz="2400" b="1" i="1" dirty="0">
                <a:latin typeface="Arial" panose="020B0604020202020204" pitchFamily="34" charset="0"/>
                <a:ea typeface="宋体" panose="02010600030101010101" pitchFamily="2" charset="-122"/>
              </a:rPr>
              <a:t> </a:t>
            </a:r>
          </a:p>
        </p:txBody>
      </p:sp>
      <p:sp>
        <p:nvSpPr>
          <p:cNvPr id="493574" name="矩形 493573"/>
          <p:cNvSpPr/>
          <p:nvPr/>
        </p:nvSpPr>
        <p:spPr>
          <a:xfrm>
            <a:off x="533400" y="4076700"/>
            <a:ext cx="7567613" cy="2362200"/>
          </a:xfrm>
          <a:prstGeom prst="rect">
            <a:avLst/>
          </a:prstGeom>
          <a:noFill/>
          <a:ln w="9525">
            <a:noFill/>
          </a:ln>
        </p:spPr>
        <p:txBody>
          <a:bodyPr/>
          <a:lstStyle/>
          <a:p>
            <a:pPr marL="685800" lvl="0" indent="-685800" algn="just">
              <a:spcBef>
                <a:spcPct val="20000"/>
              </a:spcBef>
              <a:buClr>
                <a:schemeClr val="accent2"/>
              </a:buClr>
              <a:buSzPct val="90000"/>
              <a:buFont typeface="Wingdings" panose="05000000000000000000" pitchFamily="2" charset="2"/>
              <a:buNone/>
            </a:pPr>
            <a:r>
              <a:rPr lang="en-US" altLang="zh-CN" sz="2400" b="1" err="1">
                <a:latin typeface="Arial" panose="020B0604020202020204" pitchFamily="34" charset="0"/>
                <a:ea typeface="宋体" panose="02010600030101010101" pitchFamily="2" charset="-122"/>
              </a:rPr>
              <a:t>Jcc</a:t>
            </a:r>
            <a:r>
              <a:rPr lang="zh-CN" altLang="en-US" sz="2400" b="1" dirty="0">
                <a:latin typeface="Arial" panose="020B0604020202020204" pitchFamily="34" charset="0"/>
                <a:ea typeface="宋体" panose="02010600030101010101" pitchFamily="2" charset="-122"/>
              </a:rPr>
              <a:t>指令的分类</a:t>
            </a:r>
          </a:p>
          <a:p>
            <a:pPr marL="685800" lvl="0" indent="-685800" algn="just">
              <a:spcBef>
                <a:spcPct val="20000"/>
              </a:spcBef>
              <a:buClr>
                <a:schemeClr val="accent2"/>
              </a:buClr>
              <a:buSzPct val="90000"/>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根据利用的</a:t>
            </a:r>
            <a:r>
              <a:rPr lang="zh-CN" altLang="en-US" sz="2400" b="1" dirty="0">
                <a:solidFill>
                  <a:srgbClr val="FF00FF"/>
                </a:solidFill>
                <a:latin typeface="Arial" panose="020B0604020202020204" pitchFamily="34" charset="0"/>
                <a:ea typeface="宋体" panose="02010600030101010101" pitchFamily="2" charset="-122"/>
              </a:rPr>
              <a:t>标志位</a:t>
            </a:r>
            <a:r>
              <a:rPr lang="zh-CN" altLang="en-US" sz="2400" b="1" dirty="0">
                <a:latin typeface="Arial" panose="020B0604020202020204" pitchFamily="34" charset="0"/>
                <a:ea typeface="宋体" panose="02010600030101010101" pitchFamily="2" charset="-122"/>
              </a:rPr>
              <a:t>不同，</a:t>
            </a:r>
            <a:r>
              <a:rPr lang="en-US" altLang="zh-CN" sz="2400" b="1">
                <a:latin typeface="Arial" panose="020B0604020202020204" pitchFamily="34" charset="0"/>
                <a:ea typeface="宋体" panose="02010600030101010101" pitchFamily="2" charset="-122"/>
              </a:rPr>
              <a:t>16</a:t>
            </a:r>
            <a:r>
              <a:rPr lang="zh-CN" altLang="en-US" sz="2400" b="1" dirty="0">
                <a:latin typeface="Arial" panose="020B0604020202020204" pitchFamily="34" charset="0"/>
                <a:ea typeface="宋体" panose="02010600030101010101" pitchFamily="2" charset="-122"/>
              </a:rPr>
              <a:t>条指令分成</a:t>
            </a:r>
            <a:r>
              <a:rPr lang="en-US" altLang="zh-CN" sz="2400" b="1">
                <a:solidFill>
                  <a:srgbClr val="FF00FF"/>
                </a:solidFill>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种情况：</a:t>
            </a:r>
          </a:p>
          <a:p>
            <a:pPr marL="1066800" lvl="1" indent="-609600" algn="just">
              <a:spcBef>
                <a:spcPct val="50000"/>
              </a:spcBef>
              <a:buClr>
                <a:schemeClr val="tx1"/>
              </a:buClr>
              <a:buSzPct val="75000"/>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 判断</a:t>
            </a:r>
            <a:r>
              <a:rPr lang="zh-CN" altLang="en-US" sz="2400" b="1" dirty="0">
                <a:solidFill>
                  <a:srgbClr val="0000FF"/>
                </a:solidFill>
                <a:latin typeface="Arial" panose="020B0604020202020204" pitchFamily="34" charset="0"/>
                <a:ea typeface="宋体" panose="02010600030101010101" pitchFamily="2" charset="-122"/>
              </a:rPr>
              <a:t>单个标志位</a:t>
            </a:r>
            <a:r>
              <a:rPr lang="zh-CN" altLang="en-US" sz="2400" b="1" dirty="0">
                <a:latin typeface="Arial" panose="020B0604020202020204" pitchFamily="34" charset="0"/>
                <a:ea typeface="宋体" panose="02010600030101010101" pitchFamily="2" charset="-122"/>
              </a:rPr>
              <a:t>状态</a:t>
            </a:r>
            <a:endParaRPr lang="zh-CN" altLang="en-US" sz="2400" b="1">
              <a:latin typeface="Arial" panose="020B0604020202020204" pitchFamily="34" charset="0"/>
              <a:ea typeface="宋体" panose="02010600030101010101" pitchFamily="2" charset="-122"/>
            </a:endParaRPr>
          </a:p>
          <a:p>
            <a:pPr marL="1066800" lvl="1" indent="-609600" algn="just">
              <a:spcBef>
                <a:spcPct val="20000"/>
              </a:spcBef>
              <a:buClr>
                <a:schemeClr val="tx1"/>
              </a:buClr>
              <a:buSzPct val="75000"/>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 比较</a:t>
            </a:r>
            <a:r>
              <a:rPr lang="zh-CN" altLang="en-US" sz="2400" b="1" dirty="0">
                <a:solidFill>
                  <a:srgbClr val="0000FF"/>
                </a:solidFill>
                <a:latin typeface="Arial" panose="020B0604020202020204" pitchFamily="34" charset="0"/>
                <a:ea typeface="宋体" panose="02010600030101010101" pitchFamily="2" charset="-122"/>
              </a:rPr>
              <a:t>无符号数</a:t>
            </a:r>
            <a:r>
              <a:rPr lang="zh-CN" altLang="en-US" sz="2400" b="1" dirty="0">
                <a:latin typeface="Arial" panose="020B0604020202020204" pitchFamily="34" charset="0"/>
                <a:ea typeface="宋体" panose="02010600030101010101" pitchFamily="2" charset="-122"/>
              </a:rPr>
              <a:t>高低</a:t>
            </a:r>
          </a:p>
          <a:p>
            <a:pPr marL="1066800" lvl="1" indent="-609600" algn="just">
              <a:spcBef>
                <a:spcPct val="20000"/>
              </a:spcBef>
              <a:buClr>
                <a:schemeClr val="tx1"/>
              </a:buClr>
              <a:buSzPct val="75000"/>
              <a:buFont typeface="Wingdings" panose="05000000000000000000" pitchFamily="2" charset="2"/>
              <a:buNone/>
            </a:pP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比较</a:t>
            </a:r>
            <a:r>
              <a:rPr lang="zh-CN" altLang="en-US" sz="2400" b="1" dirty="0">
                <a:solidFill>
                  <a:srgbClr val="0000FF"/>
                </a:solidFill>
                <a:latin typeface="Arial" panose="020B0604020202020204" pitchFamily="34" charset="0"/>
                <a:ea typeface="宋体" panose="02010600030101010101" pitchFamily="2" charset="-122"/>
              </a:rPr>
              <a:t>有符号数</a:t>
            </a:r>
            <a:r>
              <a:rPr lang="zh-CN" altLang="en-US" sz="2400" b="1" dirty="0">
                <a:latin typeface="Arial" panose="020B0604020202020204" pitchFamily="34" charset="0"/>
                <a:ea typeface="宋体" panose="02010600030101010101" pitchFamily="2" charset="-122"/>
              </a:rPr>
              <a:t>大小</a:t>
            </a:r>
            <a:endParaRPr lang="zh-CN" altLang="en-US" sz="2400" b="1">
              <a:latin typeface="Arial" panose="020B0604020202020204" pitchFamily="34" charset="0"/>
              <a:ea typeface="宋体" panose="02010600030101010101" pitchFamily="2" charset="-122"/>
            </a:endParaRPr>
          </a:p>
        </p:txBody>
      </p:sp>
      <p:sp>
        <p:nvSpPr>
          <p:cNvPr id="8" name="矩形 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4298" name="图片 524297"/>
          <p:cNvPicPr>
            <a:picLocks noChangeAspect="1"/>
          </p:cNvPicPr>
          <p:nvPr/>
        </p:nvPicPr>
        <p:blipFill>
          <a:blip r:embed="rId2"/>
          <a:stretch>
            <a:fillRect/>
          </a:stretch>
        </p:blipFill>
        <p:spPr>
          <a:xfrm>
            <a:off x="969963" y="1125538"/>
            <a:ext cx="7058025" cy="4535487"/>
          </a:xfrm>
          <a:prstGeom prst="rect">
            <a:avLst/>
          </a:prstGeom>
          <a:noFill/>
          <a:ln w="9525">
            <a:noFill/>
          </a:ln>
        </p:spPr>
      </p:pic>
      <p:sp>
        <p:nvSpPr>
          <p:cNvPr id="4" name="矩形 3"/>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4594" name="标题 494593"/>
          <p:cNvSpPr>
            <a:spLocks noGrp="1"/>
          </p:cNvSpPr>
          <p:nvPr>
            <p:ph type="title"/>
          </p:nvPr>
        </p:nvSpPr>
        <p:spPr>
          <a:xfrm>
            <a:off x="395288" y="908050"/>
            <a:ext cx="3600648" cy="431800"/>
          </a:xfrm>
          <a:ln/>
        </p:spPr>
        <p:txBody>
          <a:bodyPr anchor="ctr"/>
          <a:lstStyle/>
          <a:p>
            <a:pPr algn="l"/>
            <a:r>
              <a:rPr lang="en-US" altLang="zh-CN" sz="2400" b="1" dirty="0"/>
              <a:t>1</a:t>
            </a:r>
            <a:r>
              <a:rPr lang="zh-CN" altLang="en-US" sz="2400" b="1" dirty="0"/>
              <a:t>）判断单个标志位状态</a:t>
            </a:r>
          </a:p>
        </p:txBody>
      </p:sp>
      <p:sp>
        <p:nvSpPr>
          <p:cNvPr id="494595" name="文本占位符 494594"/>
          <p:cNvSpPr>
            <a:spLocks noGrp="1"/>
          </p:cNvSpPr>
          <p:nvPr>
            <p:ph type="body" idx="1"/>
          </p:nvPr>
        </p:nvSpPr>
        <p:spPr>
          <a:xfrm>
            <a:off x="323850" y="1341438"/>
            <a:ext cx="8424863" cy="4967287"/>
          </a:xfrm>
          <a:ln/>
        </p:spPr>
        <p:txBody>
          <a:bodyPr/>
          <a:lstStyle/>
          <a:p>
            <a:pPr>
              <a:lnSpc>
                <a:spcPct val="110000"/>
              </a:lnSpc>
              <a:buClrTx/>
              <a:buNone/>
            </a:pPr>
            <a:r>
              <a:rPr lang="zh-CN" altLang="en-US" sz="2400" b="1" dirty="0"/>
              <a:t>这组指令单独判断</a:t>
            </a:r>
            <a:r>
              <a:rPr lang="en-US" altLang="zh-CN" sz="2400" b="1">
                <a:solidFill>
                  <a:schemeClr val="accent2"/>
                </a:solidFill>
              </a:rPr>
              <a:t>5</a:t>
            </a:r>
            <a:r>
              <a:rPr lang="zh-CN" altLang="en-US" sz="2400" b="1" dirty="0"/>
              <a:t>个状态标志之一</a:t>
            </a:r>
          </a:p>
          <a:p>
            <a:pPr>
              <a:lnSpc>
                <a:spcPct val="110000"/>
              </a:lnSpc>
              <a:buClrTx/>
              <a:buNone/>
            </a:pPr>
            <a:r>
              <a:rPr lang="zh-CN" altLang="zh-CN" sz="2400" b="1" dirty="0"/>
              <a:t>⑴ </a:t>
            </a:r>
            <a:r>
              <a:rPr lang="en-US" altLang="zh-CN" sz="2400" b="1">
                <a:solidFill>
                  <a:srgbClr val="0000FF"/>
                </a:solidFill>
              </a:rPr>
              <a:t>JZ</a:t>
            </a:r>
            <a:r>
              <a:rPr lang="en-US" altLang="zh-CN" sz="2400" b="1"/>
              <a:t>/</a:t>
            </a:r>
            <a:r>
              <a:rPr lang="en-US" altLang="zh-CN" sz="2400" b="1">
                <a:solidFill>
                  <a:srgbClr val="0000FF"/>
                </a:solidFill>
              </a:rPr>
              <a:t>JE</a:t>
            </a:r>
            <a:r>
              <a:rPr lang="zh-CN" altLang="en-US" sz="2400" b="1" dirty="0"/>
              <a:t>和</a:t>
            </a:r>
            <a:r>
              <a:rPr lang="en-US" altLang="zh-CN" sz="2400" b="1">
                <a:solidFill>
                  <a:srgbClr val="0000FF"/>
                </a:solidFill>
              </a:rPr>
              <a:t>JNZ</a:t>
            </a:r>
            <a:r>
              <a:rPr lang="en-US" altLang="zh-CN" sz="2400" b="1"/>
              <a:t>/</a:t>
            </a:r>
            <a:r>
              <a:rPr lang="en-US" altLang="zh-CN" sz="2400" b="1">
                <a:solidFill>
                  <a:srgbClr val="0000FF"/>
                </a:solidFill>
              </a:rPr>
              <a:t>JNE</a:t>
            </a:r>
            <a:r>
              <a:rPr lang="zh-CN" altLang="en-US" sz="2400" b="1" dirty="0"/>
              <a:t>：利用零标志</a:t>
            </a:r>
            <a:r>
              <a:rPr lang="en-US" altLang="zh-CN" sz="2400" b="1">
                <a:solidFill>
                  <a:srgbClr val="0000FF"/>
                </a:solidFill>
              </a:rPr>
              <a:t>ZF</a:t>
            </a:r>
            <a:r>
              <a:rPr lang="zh-CN" altLang="en-US" sz="2400" b="1" dirty="0"/>
              <a:t>，判断</a:t>
            </a:r>
            <a:r>
              <a:rPr lang="zh-CN" altLang="en-US" sz="2400" b="1" dirty="0">
                <a:solidFill>
                  <a:srgbClr val="FF00FF"/>
                </a:solidFill>
              </a:rPr>
              <a:t>结果是否为零</a:t>
            </a:r>
            <a:r>
              <a:rPr lang="zh-CN" altLang="en-US" sz="2400" b="1" dirty="0"/>
              <a:t>（或相等）。 </a:t>
            </a:r>
            <a:r>
              <a:rPr lang="en-US" altLang="zh-CN" sz="2400" b="1">
                <a:solidFill>
                  <a:srgbClr val="0000FF"/>
                </a:solidFill>
              </a:rPr>
              <a:t>JZ</a:t>
            </a:r>
            <a:r>
              <a:rPr lang="en-US" altLang="zh-CN" sz="2400" b="1"/>
              <a:t>/</a:t>
            </a:r>
            <a:r>
              <a:rPr lang="en-US" altLang="zh-CN" sz="2400" b="1">
                <a:solidFill>
                  <a:srgbClr val="0000FF"/>
                </a:solidFill>
              </a:rPr>
              <a:t>JE</a:t>
            </a:r>
            <a:r>
              <a:rPr lang="zh-CN" altLang="en-US" sz="2400" b="1" dirty="0"/>
              <a:t>表示结果为零（或相等），则转移</a:t>
            </a:r>
          </a:p>
          <a:p>
            <a:pPr>
              <a:lnSpc>
                <a:spcPct val="110000"/>
              </a:lnSpc>
              <a:buClrTx/>
              <a:buNone/>
            </a:pPr>
            <a:r>
              <a:rPr lang="zh-CN" altLang="en-US" sz="2400" b="1" dirty="0"/>
              <a:t>⑵ </a:t>
            </a:r>
            <a:r>
              <a:rPr lang="en-US" altLang="zh-CN" sz="2400" b="1">
                <a:solidFill>
                  <a:srgbClr val="0000FF"/>
                </a:solidFill>
              </a:rPr>
              <a:t>JS</a:t>
            </a:r>
            <a:r>
              <a:rPr lang="zh-CN" altLang="en-US" sz="2400" b="1" dirty="0"/>
              <a:t>和</a:t>
            </a:r>
            <a:r>
              <a:rPr lang="en-US" altLang="zh-CN" sz="2400" b="1">
                <a:solidFill>
                  <a:srgbClr val="0000FF"/>
                </a:solidFill>
              </a:rPr>
              <a:t>JNS</a:t>
            </a:r>
            <a:r>
              <a:rPr lang="zh-CN" altLang="en-US" sz="2400" b="1" dirty="0"/>
              <a:t>：利用符号标志</a:t>
            </a:r>
            <a:r>
              <a:rPr lang="en-US" altLang="zh-CN" sz="2400" b="1">
                <a:solidFill>
                  <a:srgbClr val="0000FF"/>
                </a:solidFill>
              </a:rPr>
              <a:t>SF</a:t>
            </a:r>
            <a:r>
              <a:rPr lang="zh-CN" altLang="en-US" sz="2400" b="1" dirty="0"/>
              <a:t>，判断结果是</a:t>
            </a:r>
            <a:r>
              <a:rPr lang="zh-CN" altLang="en-US" sz="2400" b="1" dirty="0">
                <a:solidFill>
                  <a:srgbClr val="FF00FF"/>
                </a:solidFill>
              </a:rPr>
              <a:t>正</a:t>
            </a:r>
            <a:r>
              <a:rPr lang="zh-CN" altLang="en-US" sz="2400" b="1" dirty="0"/>
              <a:t>是负， </a:t>
            </a:r>
            <a:r>
              <a:rPr lang="en-US" altLang="zh-CN" sz="2400" b="1">
                <a:solidFill>
                  <a:srgbClr val="0000FF"/>
                </a:solidFill>
              </a:rPr>
              <a:t>JS</a:t>
            </a:r>
            <a:r>
              <a:rPr lang="zh-CN" altLang="en-US" sz="2400" b="1" dirty="0"/>
              <a:t>表示结果为</a:t>
            </a:r>
            <a:r>
              <a:rPr lang="zh-CN" altLang="en-US" sz="2400" b="1" dirty="0">
                <a:solidFill>
                  <a:srgbClr val="FF00FF"/>
                </a:solidFill>
              </a:rPr>
              <a:t>负</a:t>
            </a:r>
            <a:r>
              <a:rPr lang="en-US" altLang="zh-CN" sz="2400" b="1">
                <a:solidFill>
                  <a:srgbClr val="FF00FF"/>
                </a:solidFill>
              </a:rPr>
              <a:t>,</a:t>
            </a:r>
            <a:r>
              <a:rPr lang="zh-CN" altLang="en-US" sz="2400" b="1" dirty="0"/>
              <a:t>则转移。</a:t>
            </a:r>
          </a:p>
          <a:p>
            <a:pPr>
              <a:lnSpc>
                <a:spcPct val="110000"/>
              </a:lnSpc>
              <a:buClrTx/>
              <a:buNone/>
            </a:pPr>
            <a:r>
              <a:rPr lang="zh-CN" altLang="en-US" sz="2400" b="1" dirty="0"/>
              <a:t>⑶ </a:t>
            </a:r>
            <a:r>
              <a:rPr lang="en-US" altLang="zh-CN" sz="2400" b="1">
                <a:solidFill>
                  <a:srgbClr val="0000FF"/>
                </a:solidFill>
              </a:rPr>
              <a:t>JO</a:t>
            </a:r>
            <a:r>
              <a:rPr lang="zh-CN" altLang="en-US" sz="2400" b="1" dirty="0"/>
              <a:t>和</a:t>
            </a:r>
            <a:r>
              <a:rPr lang="en-US" altLang="zh-CN" sz="2400" b="1">
                <a:solidFill>
                  <a:srgbClr val="0000FF"/>
                </a:solidFill>
              </a:rPr>
              <a:t>JNO</a:t>
            </a:r>
            <a:r>
              <a:rPr lang="zh-CN" altLang="en-US" sz="2400" b="1" dirty="0"/>
              <a:t>：利用溢出标志</a:t>
            </a:r>
            <a:r>
              <a:rPr lang="en-US" altLang="zh-CN" sz="2400" b="1">
                <a:solidFill>
                  <a:srgbClr val="0000FF"/>
                </a:solidFill>
              </a:rPr>
              <a:t>OF</a:t>
            </a:r>
            <a:r>
              <a:rPr lang="zh-CN" altLang="en-US" sz="2400" b="1" dirty="0"/>
              <a:t>，判断结果是否</a:t>
            </a:r>
            <a:r>
              <a:rPr lang="zh-CN" altLang="en-US" sz="2400" b="1" dirty="0">
                <a:solidFill>
                  <a:srgbClr val="FF00FF"/>
                </a:solidFill>
              </a:rPr>
              <a:t>产生溢出</a:t>
            </a:r>
            <a:r>
              <a:rPr lang="zh-CN" altLang="en-US" sz="2400" b="1" dirty="0"/>
              <a:t>， </a:t>
            </a:r>
            <a:r>
              <a:rPr lang="en-US" altLang="zh-CN" sz="2400" b="1">
                <a:solidFill>
                  <a:srgbClr val="0000FF"/>
                </a:solidFill>
              </a:rPr>
              <a:t>JO</a:t>
            </a:r>
            <a:r>
              <a:rPr lang="zh-CN" altLang="en-US" sz="2400" b="1" dirty="0"/>
              <a:t>表示溢出则转移</a:t>
            </a:r>
          </a:p>
          <a:p>
            <a:pPr>
              <a:lnSpc>
                <a:spcPct val="110000"/>
              </a:lnSpc>
              <a:buClrTx/>
              <a:buNone/>
            </a:pPr>
            <a:r>
              <a:rPr lang="zh-CN" altLang="en-US" sz="2400" b="1" dirty="0"/>
              <a:t>⑷</a:t>
            </a:r>
            <a:r>
              <a:rPr lang="en-US" altLang="zh-CN" sz="2400" b="1">
                <a:solidFill>
                  <a:srgbClr val="0000FF"/>
                </a:solidFill>
              </a:rPr>
              <a:t>JP</a:t>
            </a:r>
            <a:r>
              <a:rPr lang="en-US" altLang="zh-CN" sz="2400" b="1"/>
              <a:t>/</a:t>
            </a:r>
            <a:r>
              <a:rPr lang="en-US" altLang="zh-CN" sz="2400" b="1">
                <a:solidFill>
                  <a:srgbClr val="0000FF"/>
                </a:solidFill>
              </a:rPr>
              <a:t>JPE</a:t>
            </a:r>
            <a:r>
              <a:rPr lang="zh-CN" altLang="en-US" sz="2400" b="1" dirty="0"/>
              <a:t>和</a:t>
            </a:r>
            <a:r>
              <a:rPr lang="en-US" altLang="zh-CN" sz="2400" b="1">
                <a:solidFill>
                  <a:srgbClr val="0000FF"/>
                </a:solidFill>
              </a:rPr>
              <a:t>JNP</a:t>
            </a:r>
            <a:r>
              <a:rPr lang="en-US" altLang="zh-CN" sz="2400" b="1"/>
              <a:t>/</a:t>
            </a:r>
            <a:r>
              <a:rPr lang="en-US" altLang="zh-CN" sz="2400" b="1">
                <a:solidFill>
                  <a:srgbClr val="0000FF"/>
                </a:solidFill>
              </a:rPr>
              <a:t>JPO</a:t>
            </a:r>
            <a:r>
              <a:rPr lang="zh-CN" altLang="en-US" sz="2400" b="1" dirty="0"/>
              <a:t>：利用奇偶标志</a:t>
            </a:r>
            <a:r>
              <a:rPr lang="en-US" altLang="zh-CN" sz="2400" b="1">
                <a:solidFill>
                  <a:srgbClr val="0000FF"/>
                </a:solidFill>
              </a:rPr>
              <a:t>PF</a:t>
            </a:r>
            <a:r>
              <a:rPr lang="zh-CN" altLang="en-US" sz="2400" b="1" dirty="0"/>
              <a:t>，判断结果中“</a:t>
            </a:r>
            <a:r>
              <a:rPr lang="en-US" altLang="zh-CN" sz="2400" b="1"/>
              <a:t>1”</a:t>
            </a:r>
            <a:r>
              <a:rPr lang="zh-CN" altLang="en-US" sz="2400" b="1" dirty="0"/>
              <a:t>的个数是偶是奇</a:t>
            </a:r>
            <a:r>
              <a:rPr lang="en-US" altLang="zh-CN" sz="2400" b="1"/>
              <a:t>,</a:t>
            </a:r>
            <a:r>
              <a:rPr lang="en-US" altLang="zh-CN" sz="2400" b="1">
                <a:solidFill>
                  <a:srgbClr val="0000FF"/>
                </a:solidFill>
              </a:rPr>
              <a:t>JP</a:t>
            </a:r>
            <a:r>
              <a:rPr lang="zh-CN" altLang="en-US" sz="2400" b="1" dirty="0"/>
              <a:t>表示偶数个</a:t>
            </a:r>
            <a:r>
              <a:rPr lang="en-US" altLang="zh-CN" sz="2400" b="1"/>
              <a:t>1</a:t>
            </a:r>
            <a:endParaRPr lang="zh-CN" altLang="en-US" sz="2400" b="1" dirty="0"/>
          </a:p>
          <a:p>
            <a:pPr>
              <a:lnSpc>
                <a:spcPct val="110000"/>
              </a:lnSpc>
              <a:buClrTx/>
              <a:buNone/>
            </a:pPr>
            <a:r>
              <a:rPr lang="en-US" altLang="zh-CN" sz="2400" b="1"/>
              <a:t>⑸</a:t>
            </a:r>
            <a:r>
              <a:rPr lang="en-US" altLang="zh-CN" sz="2400" b="1">
                <a:solidFill>
                  <a:srgbClr val="0000FF"/>
                </a:solidFill>
              </a:rPr>
              <a:t>JC</a:t>
            </a:r>
            <a:r>
              <a:rPr lang="zh-CN" altLang="en-US" sz="2400" b="1" dirty="0"/>
              <a:t>和</a:t>
            </a:r>
            <a:r>
              <a:rPr lang="en-US" altLang="zh-CN" sz="2400" b="1">
                <a:solidFill>
                  <a:srgbClr val="0000FF"/>
                </a:solidFill>
              </a:rPr>
              <a:t>JNC</a:t>
            </a:r>
            <a:r>
              <a:rPr lang="zh-CN" altLang="en-US" sz="2400" b="1" dirty="0"/>
              <a:t>：利用进位标志</a:t>
            </a:r>
            <a:r>
              <a:rPr lang="en-US" altLang="zh-CN" sz="2400" b="1">
                <a:solidFill>
                  <a:srgbClr val="0000FF"/>
                </a:solidFill>
              </a:rPr>
              <a:t>CF</a:t>
            </a:r>
            <a:r>
              <a:rPr lang="zh-CN" altLang="en-US" sz="2400" b="1" dirty="0"/>
              <a:t>，判断结果是否进位或借位</a:t>
            </a:r>
            <a:r>
              <a:rPr lang="en-US" altLang="zh-CN" sz="2400" b="1"/>
              <a:t>,</a:t>
            </a:r>
            <a:r>
              <a:rPr lang="zh-CN" altLang="en-US" sz="2400" b="1" dirty="0"/>
              <a:t>进位或借位为</a:t>
            </a:r>
            <a:r>
              <a:rPr lang="en-US" altLang="zh-CN" sz="2400" b="1"/>
              <a:t>1</a:t>
            </a:r>
            <a:r>
              <a:rPr lang="zh-CN" altLang="en-US" sz="2400" b="1" dirty="0"/>
              <a:t>则转移</a:t>
            </a:r>
            <a:endParaRPr lang="zh-CN" altLang="en-US" sz="2400" b="1"/>
          </a:p>
        </p:txBody>
      </p:sp>
      <p:sp>
        <p:nvSpPr>
          <p:cNvPr id="8" name="矩形 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5624" name="标题 495623"/>
          <p:cNvSpPr>
            <a:spLocks noGrp="1"/>
          </p:cNvSpPr>
          <p:nvPr>
            <p:ph type="title"/>
          </p:nvPr>
        </p:nvSpPr>
        <p:spPr>
          <a:xfrm>
            <a:off x="468313" y="908050"/>
            <a:ext cx="3549650" cy="576263"/>
          </a:xfrm>
          <a:prstGeom prst="flowChartAlternateProcess">
            <a:avLst/>
          </a:prstGeom>
          <a:ln w="28575">
            <a:solidFill>
              <a:schemeClr val="accent1"/>
            </a:solidFill>
            <a:miter/>
          </a:ln>
        </p:spPr>
        <p:txBody>
          <a:bodyPr anchor="ctr"/>
          <a:lstStyle/>
          <a:p>
            <a:pPr algn="l">
              <a:lnSpc>
                <a:spcPct val="90000"/>
              </a:lnSpc>
            </a:pPr>
            <a:r>
              <a:rPr lang="zh-CN" altLang="en-US" sz="2400" b="1" dirty="0">
                <a:solidFill>
                  <a:schemeClr val="tx1"/>
                </a:solidFill>
              </a:rPr>
              <a:t>例：</a:t>
            </a:r>
            <a:r>
              <a:rPr lang="en-US" altLang="zh-CN" sz="2400" b="1">
                <a:solidFill>
                  <a:schemeClr val="tx1"/>
                </a:solidFill>
              </a:rPr>
              <a:t>JZ/JNZ</a:t>
            </a:r>
            <a:r>
              <a:rPr lang="zh-CN" altLang="en-US" sz="2400" b="1" dirty="0">
                <a:solidFill>
                  <a:schemeClr val="tx1"/>
                </a:solidFill>
              </a:rPr>
              <a:t>指令应用</a:t>
            </a:r>
            <a:endParaRPr lang="en-US" altLang="zh-CN" sz="2400" b="1">
              <a:solidFill>
                <a:schemeClr val="tx1"/>
              </a:solidFill>
            </a:endParaRPr>
          </a:p>
        </p:txBody>
      </p:sp>
      <p:sp>
        <p:nvSpPr>
          <p:cNvPr id="495625" name="文本占位符 495624"/>
          <p:cNvSpPr>
            <a:spLocks noGrp="1"/>
          </p:cNvSpPr>
          <p:nvPr>
            <p:ph type="body" idx="1"/>
          </p:nvPr>
        </p:nvSpPr>
        <p:spPr>
          <a:xfrm>
            <a:off x="4859338" y="836613"/>
            <a:ext cx="4025900" cy="2595562"/>
          </a:xfrm>
          <a:solidFill>
            <a:schemeClr val="bg1"/>
          </a:solidFill>
          <a:ln/>
        </p:spPr>
        <p:txBody>
          <a:bodyPr/>
          <a:lstStyle/>
          <a:p>
            <a:pPr marL="0" indent="0" defTabSz="0">
              <a:lnSpc>
                <a:spcPct val="90000"/>
              </a:lnSpc>
              <a:buNone/>
              <a:tabLst>
                <a:tab pos="1520825" algn="l"/>
              </a:tabLst>
            </a:pPr>
            <a:r>
              <a:rPr lang="zh-CN" altLang="en-US" sz="2400" b="1" dirty="0">
                <a:latin typeface="宋体" panose="02010600030101010101" pitchFamily="2" charset="-122"/>
              </a:rPr>
              <a:t>　　　　　</a:t>
            </a:r>
            <a:r>
              <a:rPr lang="en-US" altLang="zh-CN" sz="2400" b="1">
                <a:latin typeface="宋体" panose="02010600030101010101" pitchFamily="2" charset="-122"/>
              </a:rPr>
              <a:t>test al,80h	</a:t>
            </a:r>
            <a:endParaRPr lang="zh-CN" altLang="en-US" sz="2400" b="1" dirty="0">
              <a:latin typeface="宋体" panose="02010600030101010101" pitchFamily="2" charset="-122"/>
            </a:endParaRPr>
          </a:p>
          <a:p>
            <a:pPr marL="0" indent="0" defTabSz="0">
              <a:lnSpc>
                <a:spcPct val="90000"/>
              </a:lnSpc>
              <a:buNone/>
              <a:tabLst>
                <a:tab pos="1520825" algn="l"/>
              </a:tabLst>
            </a:pPr>
            <a:r>
              <a:rPr lang="zh-CN" altLang="en-US" sz="2400" b="1" dirty="0">
                <a:latin typeface="宋体" panose="02010600030101010101" pitchFamily="2" charset="-122"/>
              </a:rPr>
              <a:t>	</a:t>
            </a:r>
            <a:r>
              <a:rPr lang="en-US" altLang="zh-CN" sz="2400" b="1" err="1">
                <a:solidFill>
                  <a:srgbClr val="0000FF"/>
                </a:solidFill>
                <a:latin typeface="宋体" panose="02010600030101010101" pitchFamily="2" charset="-122"/>
              </a:rPr>
              <a:t>jz</a:t>
            </a:r>
            <a:r>
              <a:rPr lang="en-US" altLang="zh-CN" sz="2400" b="1">
                <a:latin typeface="宋体" panose="02010600030101010101" pitchFamily="2" charset="-122"/>
              </a:rPr>
              <a:t> </a:t>
            </a:r>
            <a:r>
              <a:rPr lang="en-US" altLang="zh-CN" sz="2400" b="1">
                <a:solidFill>
                  <a:srgbClr val="FF00FF"/>
                </a:solidFill>
                <a:latin typeface="宋体" panose="02010600030101010101" pitchFamily="2" charset="-122"/>
              </a:rPr>
              <a:t>next0</a:t>
            </a:r>
            <a:r>
              <a:rPr lang="en-US" altLang="zh-CN" sz="2400" b="1">
                <a:latin typeface="宋体" panose="02010600030101010101" pitchFamily="2" charset="-122"/>
              </a:rPr>
              <a:t>	</a:t>
            </a:r>
            <a:endParaRPr lang="zh-CN" altLang="en-US" sz="2400" b="1" dirty="0">
              <a:latin typeface="宋体" panose="02010600030101010101" pitchFamily="2" charset="-122"/>
            </a:endParaRPr>
          </a:p>
          <a:p>
            <a:pPr marL="0" indent="0" defTabSz="0">
              <a:lnSpc>
                <a:spcPct val="90000"/>
              </a:lnSpc>
              <a:buNone/>
              <a:tabLst>
                <a:tab pos="1520825" algn="l"/>
              </a:tabLst>
            </a:pPr>
            <a:r>
              <a:rPr lang="zh-CN" altLang="en-US" sz="2400" b="1" dirty="0">
                <a:latin typeface="宋体" panose="02010600030101010101" pitchFamily="2" charset="-122"/>
              </a:rPr>
              <a:t>	</a:t>
            </a:r>
            <a:r>
              <a:rPr lang="en-US" altLang="zh-CN" sz="2400" b="1" err="1">
                <a:latin typeface="宋体" panose="02010600030101010101" pitchFamily="2" charset="-122"/>
              </a:rPr>
              <a:t>mov</a:t>
            </a:r>
            <a:r>
              <a:rPr lang="en-US" altLang="zh-CN" sz="2400" b="1">
                <a:latin typeface="宋体" panose="02010600030101010101" pitchFamily="2" charset="-122"/>
              </a:rPr>
              <a:t> ah,0ffh	</a:t>
            </a:r>
            <a:endParaRPr lang="zh-CN" altLang="en-US" sz="2400" b="1" dirty="0">
              <a:latin typeface="宋体" panose="02010600030101010101" pitchFamily="2" charset="-122"/>
            </a:endParaRPr>
          </a:p>
          <a:p>
            <a:pPr marL="0" indent="0" defTabSz="0">
              <a:lnSpc>
                <a:spcPct val="90000"/>
              </a:lnSpc>
              <a:buNone/>
              <a:tabLst>
                <a:tab pos="1520825" algn="l"/>
              </a:tabLst>
            </a:pPr>
            <a:r>
              <a:rPr lang="zh-CN" altLang="en-US" sz="2400" b="1" dirty="0">
                <a:latin typeface="宋体" panose="02010600030101010101" pitchFamily="2" charset="-122"/>
              </a:rPr>
              <a:t>	</a:t>
            </a:r>
            <a:r>
              <a:rPr lang="en-US" altLang="zh-CN" sz="2400" b="1" err="1">
                <a:latin typeface="宋体" panose="02010600030101010101" pitchFamily="2" charset="-122"/>
              </a:rPr>
              <a:t>jmp</a:t>
            </a:r>
            <a:r>
              <a:rPr lang="en-US" altLang="zh-CN" sz="2400" b="1">
                <a:latin typeface="宋体" panose="02010600030101010101" pitchFamily="2" charset="-122"/>
              </a:rPr>
              <a:t> done	</a:t>
            </a:r>
            <a:endParaRPr lang="zh-CN" altLang="en-US" sz="2400" b="1">
              <a:latin typeface="宋体" panose="02010600030101010101" pitchFamily="2" charset="-122"/>
            </a:endParaRPr>
          </a:p>
          <a:p>
            <a:pPr marL="0" indent="0" defTabSz="0">
              <a:lnSpc>
                <a:spcPct val="90000"/>
              </a:lnSpc>
              <a:buNone/>
              <a:tabLst>
                <a:tab pos="1520825" algn="l"/>
              </a:tabLst>
            </a:pPr>
            <a:r>
              <a:rPr lang="en-US" altLang="zh-CN" sz="2400" b="1">
                <a:solidFill>
                  <a:srgbClr val="FF00FF"/>
                </a:solidFill>
                <a:latin typeface="宋体" panose="02010600030101010101" pitchFamily="2" charset="-122"/>
              </a:rPr>
              <a:t>next0</a:t>
            </a:r>
            <a:r>
              <a:rPr lang="en-US" altLang="zh-CN" sz="2400" b="1">
                <a:latin typeface="宋体" panose="02010600030101010101" pitchFamily="2" charset="-122"/>
              </a:rPr>
              <a:t>:	</a:t>
            </a:r>
            <a:r>
              <a:rPr lang="en-US" altLang="zh-CN" sz="2400" b="1" err="1">
                <a:latin typeface="宋体" panose="02010600030101010101" pitchFamily="2" charset="-122"/>
              </a:rPr>
              <a:t>mov</a:t>
            </a:r>
            <a:r>
              <a:rPr lang="en-US" altLang="zh-CN" sz="2400" b="1">
                <a:latin typeface="宋体" panose="02010600030101010101" pitchFamily="2" charset="-122"/>
              </a:rPr>
              <a:t> ah,0</a:t>
            </a:r>
          </a:p>
          <a:p>
            <a:pPr marL="0" indent="0" defTabSz="0">
              <a:lnSpc>
                <a:spcPct val="90000"/>
              </a:lnSpc>
              <a:buNone/>
              <a:tabLst>
                <a:tab pos="1520825" algn="l"/>
              </a:tabLst>
            </a:pPr>
            <a:r>
              <a:rPr lang="en-US" altLang="zh-CN" sz="2400" b="1">
                <a:latin typeface="宋体" panose="02010600030101010101" pitchFamily="2" charset="-122"/>
              </a:rPr>
              <a:t>done:	...	</a:t>
            </a:r>
          </a:p>
        </p:txBody>
      </p:sp>
      <p:pic>
        <p:nvPicPr>
          <p:cNvPr id="495626" name="图片 495625" descr="142"/>
          <p:cNvPicPr/>
          <p:nvPr/>
        </p:nvPicPr>
        <p:blipFill>
          <a:blip r:embed="rId2"/>
          <a:stretch>
            <a:fillRect/>
          </a:stretch>
        </p:blipFill>
        <p:spPr>
          <a:xfrm>
            <a:off x="4710113" y="3357563"/>
            <a:ext cx="4325937" cy="76200"/>
          </a:xfrm>
          <a:prstGeom prst="rect">
            <a:avLst/>
          </a:prstGeom>
          <a:noFill/>
          <a:ln w="9525">
            <a:noFill/>
          </a:ln>
        </p:spPr>
      </p:pic>
      <p:pic>
        <p:nvPicPr>
          <p:cNvPr id="495627" name="图片 495626" descr="14_6">
            <a:hlinkClick r:id="rId3" action="ppaction://hlinksldjump"/>
          </p:cNvPr>
          <p:cNvPicPr>
            <a:picLocks noChangeAspect="1"/>
          </p:cNvPicPr>
          <p:nvPr/>
        </p:nvPicPr>
        <p:blipFill>
          <a:blip r:embed="rId4"/>
          <a:stretch>
            <a:fillRect/>
          </a:stretch>
        </p:blipFill>
        <p:spPr>
          <a:xfrm>
            <a:off x="8629650" y="6316663"/>
            <a:ext cx="514350" cy="533400"/>
          </a:xfrm>
          <a:prstGeom prst="rect">
            <a:avLst/>
          </a:prstGeom>
          <a:noFill/>
          <a:ln w="9525">
            <a:noFill/>
          </a:ln>
        </p:spPr>
      </p:pic>
      <p:sp>
        <p:nvSpPr>
          <p:cNvPr id="495628" name="矩形 495627"/>
          <p:cNvSpPr/>
          <p:nvPr/>
        </p:nvSpPr>
        <p:spPr>
          <a:xfrm>
            <a:off x="5292725" y="3429000"/>
            <a:ext cx="3165475" cy="2282825"/>
          </a:xfrm>
          <a:prstGeom prst="rect">
            <a:avLst/>
          </a:prstGeom>
          <a:noFill/>
          <a:ln w="9525">
            <a:noFill/>
          </a:ln>
        </p:spPr>
        <p:txBody>
          <a:bodyPr>
            <a:spAutoFit/>
          </a:bodyPr>
          <a:lstStyle/>
          <a:p>
            <a:pPr lvl="0"/>
            <a:r>
              <a:rPr lang="zh-CN" altLang="en-US" sz="2400" b="1" dirty="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test al,80h	</a:t>
            </a:r>
            <a:endParaRPr lang="zh-CN" altLang="en-US" sz="2400" b="1" dirty="0">
              <a:latin typeface="宋体" panose="02010600030101010101" pitchFamily="2" charset="-122"/>
              <a:ea typeface="宋体" panose="02010600030101010101" pitchFamily="2" charset="-122"/>
            </a:endParaRPr>
          </a:p>
          <a:p>
            <a:pPr lvl="0"/>
            <a:r>
              <a:rPr lang="zh-CN" altLang="en-US" sz="2400" b="1" dirty="0">
                <a:latin typeface="宋体" panose="02010600030101010101" pitchFamily="2" charset="-122"/>
                <a:ea typeface="宋体" panose="02010600030101010101" pitchFamily="2" charset="-122"/>
              </a:rPr>
              <a:t>	</a:t>
            </a:r>
            <a:r>
              <a:rPr lang="en-US" altLang="zh-CN" sz="2400" b="1" err="1">
                <a:solidFill>
                  <a:srgbClr val="0000FF"/>
                </a:solidFill>
                <a:latin typeface="宋体" panose="02010600030101010101" pitchFamily="2" charset="-122"/>
                <a:ea typeface="宋体" panose="02010600030101010101" pitchFamily="2" charset="-122"/>
              </a:rPr>
              <a:t>jnz</a:t>
            </a:r>
            <a:r>
              <a:rPr lang="en-US" altLang="zh-CN" sz="2400" b="1">
                <a:latin typeface="宋体" panose="02010600030101010101" pitchFamily="2" charset="-122"/>
                <a:ea typeface="宋体" panose="02010600030101010101" pitchFamily="2" charset="-122"/>
              </a:rPr>
              <a:t> </a:t>
            </a:r>
            <a:r>
              <a:rPr lang="en-US" altLang="zh-CN" sz="2400" b="1">
                <a:solidFill>
                  <a:srgbClr val="FF00FF"/>
                </a:solidFill>
                <a:latin typeface="宋体" panose="02010600030101010101" pitchFamily="2" charset="-122"/>
                <a:ea typeface="宋体" panose="02010600030101010101" pitchFamily="2" charset="-122"/>
              </a:rPr>
              <a:t>next1</a:t>
            </a:r>
            <a:r>
              <a:rPr lang="en-US" altLang="zh-CN" sz="2400" b="1">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a:p>
            <a:pPr lvl="0"/>
            <a:r>
              <a:rPr lang="zh-CN" altLang="en-US" sz="2400" b="1" dirty="0">
                <a:latin typeface="宋体" panose="02010600030101010101" pitchFamily="2" charset="-122"/>
                <a:ea typeface="宋体" panose="02010600030101010101" pitchFamily="2" charset="-122"/>
              </a:rPr>
              <a:t>	</a:t>
            </a:r>
            <a:r>
              <a:rPr lang="en-US" altLang="zh-CN" sz="2400" b="1" err="1">
                <a:latin typeface="宋体" panose="02010600030101010101" pitchFamily="2" charset="-122"/>
                <a:ea typeface="宋体" panose="02010600030101010101" pitchFamily="2" charset="-122"/>
              </a:rPr>
              <a:t>mov</a:t>
            </a:r>
            <a:r>
              <a:rPr lang="en-US" altLang="zh-CN" sz="2400" b="1">
                <a:latin typeface="宋体" panose="02010600030101010101" pitchFamily="2" charset="-122"/>
                <a:ea typeface="宋体" panose="02010600030101010101" pitchFamily="2" charset="-122"/>
              </a:rPr>
              <a:t> ah,0	</a:t>
            </a:r>
            <a:endParaRPr lang="zh-CN" altLang="en-US" sz="2400" b="1" dirty="0">
              <a:latin typeface="宋体" panose="02010600030101010101" pitchFamily="2" charset="-122"/>
              <a:ea typeface="宋体" panose="02010600030101010101" pitchFamily="2" charset="-122"/>
            </a:endParaRPr>
          </a:p>
          <a:p>
            <a:pPr lvl="0"/>
            <a:r>
              <a:rPr lang="zh-CN" altLang="en-US" sz="2400" b="1" dirty="0">
                <a:latin typeface="宋体" panose="02010600030101010101" pitchFamily="2" charset="-122"/>
                <a:ea typeface="宋体" panose="02010600030101010101" pitchFamily="2" charset="-122"/>
              </a:rPr>
              <a:t>	</a:t>
            </a:r>
            <a:r>
              <a:rPr lang="en-US" altLang="zh-CN" sz="2400" b="1" err="1">
                <a:latin typeface="宋体" panose="02010600030101010101" pitchFamily="2" charset="-122"/>
                <a:ea typeface="宋体" panose="02010600030101010101" pitchFamily="2" charset="-122"/>
              </a:rPr>
              <a:t>jmp</a:t>
            </a:r>
            <a:r>
              <a:rPr lang="en-US" altLang="zh-CN" sz="2400" b="1">
                <a:latin typeface="宋体" panose="02010600030101010101" pitchFamily="2" charset="-122"/>
                <a:ea typeface="宋体" panose="02010600030101010101" pitchFamily="2" charset="-122"/>
              </a:rPr>
              <a:t> done	</a:t>
            </a:r>
            <a:endParaRPr lang="zh-CN" altLang="en-US" sz="2400" b="1" dirty="0">
              <a:latin typeface="宋体" panose="02010600030101010101" pitchFamily="2" charset="-122"/>
              <a:ea typeface="宋体" panose="02010600030101010101" pitchFamily="2" charset="-122"/>
            </a:endParaRPr>
          </a:p>
          <a:p>
            <a:pPr lvl="0"/>
            <a:r>
              <a:rPr lang="en-US" altLang="zh-CN" sz="2400" b="1">
                <a:solidFill>
                  <a:srgbClr val="FF00FF"/>
                </a:solidFill>
                <a:latin typeface="宋体" panose="02010600030101010101" pitchFamily="2" charset="-122"/>
                <a:ea typeface="宋体" panose="02010600030101010101" pitchFamily="2" charset="-122"/>
              </a:rPr>
              <a:t>next1</a:t>
            </a:r>
            <a:r>
              <a:rPr lang="en-US" altLang="zh-CN" sz="2400" b="1">
                <a:latin typeface="宋体" panose="02010600030101010101" pitchFamily="2" charset="-122"/>
                <a:ea typeface="宋体" panose="02010600030101010101" pitchFamily="2" charset="-122"/>
              </a:rPr>
              <a:t>:mov ah,0ffh</a:t>
            </a:r>
          </a:p>
          <a:p>
            <a:pPr lvl="0"/>
            <a:r>
              <a:rPr lang="en-US" altLang="zh-CN" sz="2400" b="1">
                <a:latin typeface="宋体" panose="02010600030101010101" pitchFamily="2" charset="-122"/>
                <a:ea typeface="宋体" panose="02010600030101010101" pitchFamily="2" charset="-122"/>
              </a:rPr>
              <a:t>done:	...</a:t>
            </a:r>
          </a:p>
        </p:txBody>
      </p:sp>
      <p:sp>
        <p:nvSpPr>
          <p:cNvPr id="495629" name="矩形 495628"/>
          <p:cNvSpPr/>
          <p:nvPr/>
        </p:nvSpPr>
        <p:spPr>
          <a:xfrm>
            <a:off x="323850" y="2349500"/>
            <a:ext cx="3557588" cy="1495794"/>
          </a:xfrm>
          <a:prstGeom prst="rect">
            <a:avLst/>
          </a:prstGeom>
          <a:solidFill>
            <a:srgbClr val="FFFFCC"/>
          </a:solidFill>
          <a:ln w="9525">
            <a:noFill/>
          </a:ln>
        </p:spPr>
        <p:txBody>
          <a:bodyPr>
            <a:spAutoFit/>
          </a:bodyPr>
          <a:lstStyle/>
          <a:p>
            <a:pPr lvl="0">
              <a:lnSpc>
                <a:spcPct val="90000"/>
              </a:lnSpc>
              <a:spcBef>
                <a:spcPct val="20000"/>
              </a:spcBef>
              <a:buClrTx/>
            </a:pPr>
            <a:r>
              <a:rPr lang="zh-CN" altLang="en-US" sz="2400" b="1" dirty="0">
                <a:latin typeface="Arial" panose="020B0604020202020204" pitchFamily="34" charset="0"/>
                <a:ea typeface="宋体" panose="02010600030101010101" pitchFamily="2" charset="-122"/>
              </a:rPr>
              <a:t>编写一程序段，实现测试</a:t>
            </a:r>
            <a:r>
              <a:rPr lang="en-US" altLang="zh-CN" sz="2400" b="1" dirty="0">
                <a:latin typeface="Arial" panose="020B0604020202020204" pitchFamily="34" charset="0"/>
                <a:ea typeface="宋体" panose="02010600030101010101" pitchFamily="2" charset="-122"/>
              </a:rPr>
              <a:t>AL</a:t>
            </a:r>
            <a:r>
              <a:rPr lang="zh-CN" altLang="en-US" sz="2400" b="1" dirty="0">
                <a:latin typeface="Arial" panose="020B0604020202020204" pitchFamily="34" charset="0"/>
                <a:ea typeface="宋体" panose="02010600030101010101" pitchFamily="2" charset="-122"/>
              </a:rPr>
              <a:t>寄存器的最高位值：若为</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，将</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送入</a:t>
            </a:r>
            <a:r>
              <a:rPr lang="en-US" altLang="zh-CN" sz="2400" b="1" dirty="0">
                <a:latin typeface="Arial" panose="020B0604020202020204" pitchFamily="34" charset="0"/>
                <a:ea typeface="宋体" panose="02010600030101010101" pitchFamily="2" charset="-122"/>
              </a:rPr>
              <a:t>ah</a:t>
            </a:r>
          </a:p>
          <a:p>
            <a:pPr lvl="0">
              <a:lnSpc>
                <a:spcPct val="90000"/>
              </a:lnSpc>
              <a:spcBef>
                <a:spcPct val="20000"/>
              </a:spcBef>
              <a:buClrTx/>
            </a:pPr>
            <a:r>
              <a:rPr lang="zh-CN" altLang="en-US" sz="2400" b="1" dirty="0">
                <a:latin typeface="Arial" panose="020B0604020202020204" pitchFamily="34" charset="0"/>
                <a:ea typeface="宋体" panose="02010600030101010101" pitchFamily="2" charset="-122"/>
              </a:rPr>
              <a:t>若为</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，将</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送入</a:t>
            </a:r>
            <a:r>
              <a:rPr lang="en-US" altLang="zh-CN" sz="2400" b="1" dirty="0">
                <a:latin typeface="Arial" panose="020B0604020202020204" pitchFamily="34" charset="0"/>
                <a:ea typeface="宋体" panose="02010600030101010101" pitchFamily="2" charset="-122"/>
              </a:rPr>
              <a:t>ah</a:t>
            </a:r>
            <a:r>
              <a:rPr lang="en-US" altLang="zh-CN" sz="2400" dirty="0">
                <a:latin typeface="Arial" panose="020B0604020202020204" pitchFamily="34" charset="0"/>
                <a:ea typeface="宋体" panose="02010600030101010101" pitchFamily="2" charset="-122"/>
              </a:rPr>
              <a:t> </a:t>
            </a:r>
          </a:p>
        </p:txBody>
      </p:sp>
      <p:sp>
        <p:nvSpPr>
          <p:cNvPr id="9" name="矩形 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advClick="0">
    <p:random/>
  </p:transition>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6648" name="标题 496647"/>
          <p:cNvSpPr>
            <a:spLocks noGrp="1"/>
          </p:cNvSpPr>
          <p:nvPr>
            <p:ph type="title"/>
          </p:nvPr>
        </p:nvSpPr>
        <p:spPr>
          <a:xfrm>
            <a:off x="611188" y="906463"/>
            <a:ext cx="2614612" cy="577850"/>
          </a:xfrm>
          <a:prstGeom prst="flowChartAlternateProcess">
            <a:avLst/>
          </a:prstGeom>
          <a:ln w="28575">
            <a:solidFill>
              <a:schemeClr val="accent1"/>
            </a:solidFill>
            <a:miter/>
          </a:ln>
        </p:spPr>
        <p:txBody>
          <a:bodyPr anchor="ctr"/>
          <a:lstStyle/>
          <a:p>
            <a:pPr algn="l">
              <a:lnSpc>
                <a:spcPct val="90000"/>
              </a:lnSpc>
            </a:pPr>
            <a:r>
              <a:rPr lang="zh-CN" altLang="en-US" sz="2400" b="1" dirty="0">
                <a:solidFill>
                  <a:schemeClr val="tx1"/>
                </a:solidFill>
              </a:rPr>
              <a:t>例：</a:t>
            </a:r>
            <a:r>
              <a:rPr lang="en-US" altLang="zh-CN" sz="2400" b="1">
                <a:solidFill>
                  <a:schemeClr val="tx1"/>
                </a:solidFill>
              </a:rPr>
              <a:t>JS/JNS</a:t>
            </a:r>
            <a:r>
              <a:rPr lang="zh-CN" altLang="en-US" sz="2400" b="1" dirty="0">
                <a:solidFill>
                  <a:schemeClr val="tx1"/>
                </a:solidFill>
              </a:rPr>
              <a:t>指令</a:t>
            </a:r>
          </a:p>
        </p:txBody>
      </p:sp>
      <p:sp>
        <p:nvSpPr>
          <p:cNvPr id="496649" name="文本占位符 496648"/>
          <p:cNvSpPr>
            <a:spLocks noGrp="1"/>
          </p:cNvSpPr>
          <p:nvPr>
            <p:ph type="body" idx="1"/>
          </p:nvPr>
        </p:nvSpPr>
        <p:spPr>
          <a:xfrm>
            <a:off x="683568" y="1844824"/>
            <a:ext cx="7696200" cy="2846387"/>
          </a:xfrm>
          <a:solidFill>
            <a:schemeClr val="bg1"/>
          </a:solidFill>
          <a:ln/>
        </p:spPr>
        <p:txBody>
          <a:bodyPr/>
          <a:lstStyle/>
          <a:p>
            <a:pPr marL="0" indent="0" defTabSz="0">
              <a:lnSpc>
                <a:spcPts val="3800"/>
              </a:lnSpc>
              <a:spcBef>
                <a:spcPts val="0"/>
              </a:spcBef>
              <a:buNone/>
              <a:tabLst>
                <a:tab pos="1520825" algn="l"/>
                <a:tab pos="3810000" algn="l"/>
              </a:tabLst>
            </a:pPr>
            <a:r>
              <a:rPr lang="zh-CN" altLang="en-US" sz="2400" b="1" dirty="0"/>
              <a:t>编写一程序段，实现将</a:t>
            </a:r>
            <a:r>
              <a:rPr lang="en-US" altLang="zh-CN" sz="2400" b="1" dirty="0"/>
              <a:t>BX</a:t>
            </a:r>
            <a:r>
              <a:rPr lang="zh-CN" altLang="en-US" sz="2400" b="1" dirty="0"/>
              <a:t>与</a:t>
            </a:r>
            <a:r>
              <a:rPr lang="en-US" altLang="zh-CN" sz="2400" b="1" dirty="0"/>
              <a:t>AX</a:t>
            </a:r>
            <a:r>
              <a:rPr lang="zh-CN" altLang="en-US" sz="2400" b="1" dirty="0"/>
              <a:t>相减的值的绝对值存入</a:t>
            </a:r>
            <a:r>
              <a:rPr lang="en-US" altLang="zh-CN" sz="2400" b="1" dirty="0"/>
              <a:t>BX</a:t>
            </a:r>
            <a:r>
              <a:rPr lang="zh-CN" altLang="en-US" sz="2400" b="1" dirty="0"/>
              <a:t>中</a:t>
            </a:r>
            <a:r>
              <a:rPr lang="zh-CN" altLang="en-US" sz="2400" dirty="0"/>
              <a:t> </a:t>
            </a:r>
          </a:p>
          <a:p>
            <a:pPr marL="0" indent="0" defTabSz="0">
              <a:lnSpc>
                <a:spcPct val="80000"/>
              </a:lnSpc>
              <a:buNone/>
              <a:tabLst>
                <a:tab pos="1520825" algn="l"/>
                <a:tab pos="3810000" algn="l"/>
              </a:tabLst>
            </a:pPr>
            <a:r>
              <a:rPr lang="en-US" altLang="zh-CN" sz="2400" b="1" dirty="0">
                <a:solidFill>
                  <a:schemeClr val="accent2"/>
                </a:solidFill>
                <a:latin typeface="宋体" panose="02010600030101010101" pitchFamily="2" charset="-122"/>
              </a:rPr>
              <a:t>	</a:t>
            </a:r>
            <a:r>
              <a:rPr lang="en-US" altLang="zh-CN" sz="2400" b="1" dirty="0" err="1">
                <a:latin typeface="宋体" panose="02010600030101010101" pitchFamily="2" charset="-122"/>
              </a:rPr>
              <a:t>mov</a:t>
            </a:r>
            <a:r>
              <a:rPr lang="en-US" altLang="zh-CN" sz="2400" b="1" dirty="0">
                <a:latin typeface="宋体" panose="02010600030101010101" pitchFamily="2" charset="-122"/>
              </a:rPr>
              <a:t> </a:t>
            </a:r>
            <a:r>
              <a:rPr lang="en-US" altLang="zh-CN" sz="2400" b="1" dirty="0" err="1">
                <a:latin typeface="宋体" panose="02010600030101010101" pitchFamily="2" charset="-122"/>
              </a:rPr>
              <a:t>ax,X</a:t>
            </a:r>
            <a:endParaRPr lang="en-US" altLang="zh-CN" sz="2400" b="1" dirty="0">
              <a:latin typeface="宋体" panose="02010600030101010101" pitchFamily="2" charset="-122"/>
            </a:endParaRPr>
          </a:p>
          <a:p>
            <a:pPr marL="0" indent="0" defTabSz="0">
              <a:lnSpc>
                <a:spcPct val="80000"/>
              </a:lnSpc>
              <a:buNone/>
              <a:tabLst>
                <a:tab pos="1520825" algn="l"/>
                <a:tab pos="3810000" algn="l"/>
              </a:tabLst>
            </a:pPr>
            <a:r>
              <a:rPr lang="en-US" altLang="zh-CN" sz="2400" b="1" dirty="0">
                <a:latin typeface="宋体" panose="02010600030101010101" pitchFamily="2" charset="-122"/>
              </a:rPr>
              <a:t>	sub </a:t>
            </a:r>
            <a:r>
              <a:rPr lang="en-US" altLang="zh-CN" sz="2400" b="1" dirty="0" err="1">
                <a:latin typeface="宋体" panose="02010600030101010101" pitchFamily="2" charset="-122"/>
              </a:rPr>
              <a:t>ax,Y</a:t>
            </a:r>
            <a:endParaRPr lang="en-US" altLang="zh-CN" sz="2400" b="1" dirty="0">
              <a:latin typeface="宋体" panose="02010600030101010101" pitchFamily="2" charset="-122"/>
            </a:endParaRPr>
          </a:p>
          <a:p>
            <a:pPr marL="0" indent="0" defTabSz="0">
              <a:lnSpc>
                <a:spcPct val="80000"/>
              </a:lnSpc>
              <a:buNone/>
              <a:tabLst>
                <a:tab pos="1520825" algn="l"/>
                <a:tab pos="3810000" algn="l"/>
              </a:tabLst>
            </a:pPr>
            <a:r>
              <a:rPr lang="en-US" altLang="zh-CN" sz="2400" b="1" dirty="0">
                <a:latin typeface="宋体" panose="02010600030101010101" pitchFamily="2" charset="-122"/>
              </a:rPr>
              <a:t>	</a:t>
            </a:r>
            <a:r>
              <a:rPr lang="en-US" altLang="zh-CN" sz="2400" b="1" dirty="0" err="1">
                <a:solidFill>
                  <a:srgbClr val="0000FF"/>
                </a:solidFill>
                <a:latin typeface="宋体" panose="02010600030101010101" pitchFamily="2" charset="-122"/>
              </a:rPr>
              <a:t>jns</a:t>
            </a:r>
            <a:r>
              <a:rPr lang="en-US" altLang="zh-CN" sz="2400" b="1" dirty="0">
                <a:latin typeface="宋体" panose="02010600030101010101" pitchFamily="2" charset="-122"/>
              </a:rPr>
              <a:t> </a:t>
            </a:r>
            <a:r>
              <a:rPr lang="en-US" altLang="zh-CN" sz="2400" b="1" dirty="0" err="1">
                <a:latin typeface="宋体" panose="02010600030101010101" pitchFamily="2" charset="-122"/>
              </a:rPr>
              <a:t>nonneg</a:t>
            </a:r>
            <a:endParaRPr lang="en-US" altLang="zh-CN" sz="2400" b="1" dirty="0">
              <a:latin typeface="宋体" panose="02010600030101010101" pitchFamily="2" charset="-122"/>
            </a:endParaRPr>
          </a:p>
          <a:p>
            <a:pPr marL="0" indent="0" defTabSz="0">
              <a:lnSpc>
                <a:spcPct val="80000"/>
              </a:lnSpc>
              <a:buNone/>
              <a:tabLst>
                <a:tab pos="1520825" algn="l"/>
                <a:tab pos="3810000" algn="l"/>
              </a:tabLst>
            </a:pPr>
            <a:r>
              <a:rPr lang="en-US" altLang="zh-CN" sz="2400" b="1" dirty="0">
                <a:latin typeface="宋体" panose="02010600030101010101" pitchFamily="2" charset="-122"/>
              </a:rPr>
              <a:t>	</a:t>
            </a:r>
            <a:r>
              <a:rPr lang="en-US" altLang="zh-CN" sz="2400" b="1" dirty="0" err="1">
                <a:latin typeface="宋体" panose="02010600030101010101" pitchFamily="2" charset="-122"/>
              </a:rPr>
              <a:t>neg</a:t>
            </a:r>
            <a:r>
              <a:rPr lang="en-US" altLang="zh-CN" sz="2400" b="1" dirty="0">
                <a:latin typeface="宋体" panose="02010600030101010101" pitchFamily="2" charset="-122"/>
              </a:rPr>
              <a:t> ax	</a:t>
            </a:r>
            <a:r>
              <a:rPr lang="zh-CN" altLang="en-US" sz="2400" b="1" dirty="0">
                <a:latin typeface="宋体" panose="02010600030101010101" pitchFamily="2" charset="-122"/>
              </a:rPr>
              <a:t>；</a:t>
            </a:r>
            <a:r>
              <a:rPr lang="en-US" altLang="zh-CN" sz="2400" b="1" dirty="0" err="1">
                <a:latin typeface="宋体" panose="02010600030101010101" pitchFamily="2" charset="-122"/>
              </a:rPr>
              <a:t>neg</a:t>
            </a:r>
            <a:r>
              <a:rPr lang="zh-CN" altLang="en-US" sz="2400" b="1" dirty="0">
                <a:latin typeface="宋体" panose="02010600030101010101" pitchFamily="2" charset="-122"/>
              </a:rPr>
              <a:t>是求补指令</a:t>
            </a:r>
          </a:p>
          <a:p>
            <a:pPr marL="0" indent="0" defTabSz="0">
              <a:lnSpc>
                <a:spcPct val="80000"/>
              </a:lnSpc>
              <a:buNone/>
              <a:tabLst>
                <a:tab pos="1520825" algn="l"/>
                <a:tab pos="3810000" algn="l"/>
              </a:tabLst>
            </a:pPr>
            <a:r>
              <a:rPr lang="en-US" altLang="zh-CN" sz="2400" b="1" dirty="0" err="1">
                <a:latin typeface="宋体" panose="02010600030101010101" pitchFamily="2" charset="-122"/>
              </a:rPr>
              <a:t>nonneg</a:t>
            </a:r>
            <a:r>
              <a:rPr lang="en-US" altLang="zh-CN" sz="2400" b="1" dirty="0">
                <a:latin typeface="宋体" panose="02010600030101010101" pitchFamily="2" charset="-122"/>
              </a:rPr>
              <a:t>:	</a:t>
            </a:r>
            <a:r>
              <a:rPr lang="en-US" altLang="zh-CN" sz="2400" b="1" dirty="0" err="1">
                <a:latin typeface="宋体" panose="02010600030101010101" pitchFamily="2" charset="-122"/>
              </a:rPr>
              <a:t>mov</a:t>
            </a:r>
            <a:r>
              <a:rPr lang="en-US" altLang="zh-CN" sz="2400" b="1" dirty="0">
                <a:latin typeface="宋体" panose="02010600030101010101" pitchFamily="2" charset="-122"/>
              </a:rPr>
              <a:t> </a:t>
            </a:r>
            <a:r>
              <a:rPr lang="en-US" altLang="zh-CN" sz="2400" b="1" dirty="0" err="1">
                <a:latin typeface="宋体" panose="02010600030101010101" pitchFamily="2" charset="-122"/>
              </a:rPr>
              <a:t>result,ax</a:t>
            </a:r>
            <a:endParaRPr lang="en-US" altLang="zh-CN" sz="2400" b="1" dirty="0">
              <a:latin typeface="宋体" panose="02010600030101010101" pitchFamily="2" charset="-122"/>
            </a:endParaRPr>
          </a:p>
        </p:txBody>
      </p:sp>
      <p:pic>
        <p:nvPicPr>
          <p:cNvPr id="496650" name="图片 496649" descr="14_6">
            <a:hlinkClick r:id="rId2" action="ppaction://hlinksldjump"/>
          </p:cNvPr>
          <p:cNvPicPr>
            <a:picLocks noChangeAspect="1"/>
          </p:cNvPicPr>
          <p:nvPr/>
        </p:nvPicPr>
        <p:blipFill>
          <a:blip r:embed="rId3"/>
          <a:stretch>
            <a:fillRect/>
          </a:stretch>
        </p:blipFill>
        <p:spPr>
          <a:xfrm>
            <a:off x="8629650" y="6316663"/>
            <a:ext cx="514350" cy="533400"/>
          </a:xfrm>
          <a:prstGeom prst="rect">
            <a:avLst/>
          </a:prstGeom>
          <a:noFill/>
          <a:ln w="9525">
            <a:noFill/>
          </a:ln>
        </p:spPr>
      </p:pic>
      <p:sp>
        <p:nvSpPr>
          <p:cNvPr id="6" name="矩形 5"/>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advClick="0">
    <p:random/>
  </p:transition>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8696" name="标题 498695"/>
          <p:cNvSpPr>
            <a:spLocks noGrp="1"/>
          </p:cNvSpPr>
          <p:nvPr>
            <p:ph type="title"/>
          </p:nvPr>
        </p:nvSpPr>
        <p:spPr>
          <a:xfrm>
            <a:off x="611188" y="835025"/>
            <a:ext cx="2797175" cy="506413"/>
          </a:xfrm>
          <a:prstGeom prst="flowChartAlternateProcess">
            <a:avLst/>
          </a:prstGeom>
          <a:ln w="28575">
            <a:solidFill>
              <a:schemeClr val="accent1"/>
            </a:solidFill>
            <a:miter/>
          </a:ln>
        </p:spPr>
        <p:txBody>
          <a:bodyPr anchor="ctr"/>
          <a:lstStyle/>
          <a:p>
            <a:pPr algn="l">
              <a:lnSpc>
                <a:spcPct val="90000"/>
              </a:lnSpc>
            </a:pPr>
            <a:r>
              <a:rPr lang="zh-CN" altLang="en-US" sz="2400" b="1" dirty="0">
                <a:solidFill>
                  <a:schemeClr val="tx1"/>
                </a:solidFill>
              </a:rPr>
              <a:t>例：</a:t>
            </a:r>
            <a:r>
              <a:rPr lang="en-US" altLang="zh-CN" sz="2400" b="1">
                <a:solidFill>
                  <a:schemeClr val="tx1"/>
                </a:solidFill>
              </a:rPr>
              <a:t>JC/JNC</a:t>
            </a:r>
            <a:r>
              <a:rPr lang="zh-CN" altLang="en-US" sz="2400" b="1" dirty="0">
                <a:solidFill>
                  <a:schemeClr val="tx1"/>
                </a:solidFill>
              </a:rPr>
              <a:t>指令</a:t>
            </a:r>
          </a:p>
        </p:txBody>
      </p:sp>
      <p:sp>
        <p:nvSpPr>
          <p:cNvPr id="498697" name="文本占位符 498696"/>
          <p:cNvSpPr>
            <a:spLocks noGrp="1"/>
          </p:cNvSpPr>
          <p:nvPr>
            <p:ph type="body" idx="1"/>
          </p:nvPr>
        </p:nvSpPr>
        <p:spPr>
          <a:xfrm>
            <a:off x="762000" y="1808163"/>
            <a:ext cx="7696200" cy="3636962"/>
          </a:xfrm>
          <a:solidFill>
            <a:schemeClr val="bg1"/>
          </a:solidFill>
          <a:ln/>
        </p:spPr>
        <p:txBody>
          <a:bodyPr/>
          <a:lstStyle/>
          <a:p>
            <a:pPr marL="0" indent="0" defTabSz="0">
              <a:lnSpc>
                <a:spcPct val="80000"/>
              </a:lnSpc>
              <a:buNone/>
              <a:tabLst>
                <a:tab pos="1520825" algn="l"/>
                <a:tab pos="3710305" algn="l"/>
              </a:tabLst>
            </a:pPr>
            <a:r>
              <a:rPr lang="zh-CN" altLang="en-US" sz="2400" b="1" dirty="0"/>
              <a:t>；统计</a:t>
            </a:r>
            <a:r>
              <a:rPr lang="en-US" altLang="zh-CN" sz="2400" b="1" dirty="0"/>
              <a:t>BX</a:t>
            </a:r>
            <a:r>
              <a:rPr lang="zh-CN" altLang="en-US" sz="2400" b="1" dirty="0"/>
              <a:t>中</a:t>
            </a:r>
            <a:r>
              <a:rPr lang="en-US" altLang="zh-CN" sz="2400" b="1" dirty="0"/>
              <a:t>1</a:t>
            </a:r>
            <a:r>
              <a:rPr lang="zh-CN" altLang="en-US" sz="2400" b="1" dirty="0"/>
              <a:t>的个数</a:t>
            </a:r>
            <a:endParaRPr lang="zh-CN" altLang="en-US" sz="2400" b="1" dirty="0">
              <a:latin typeface="宋体" panose="02010600030101010101" pitchFamily="2" charset="-122"/>
            </a:endParaRPr>
          </a:p>
          <a:p>
            <a:pPr marL="0" indent="0" defTabSz="0">
              <a:lnSpc>
                <a:spcPct val="80000"/>
              </a:lnSpc>
              <a:buNone/>
              <a:tabLst>
                <a:tab pos="1520825" algn="l"/>
                <a:tab pos="3710305" algn="l"/>
              </a:tabLst>
            </a:pPr>
            <a:r>
              <a:rPr lang="zh-CN" altLang="en-US" sz="2400" b="1" dirty="0">
                <a:latin typeface="宋体" panose="02010600030101010101" pitchFamily="2" charset="-122"/>
              </a:rPr>
              <a:t>	</a:t>
            </a:r>
            <a:r>
              <a:rPr lang="en-US" altLang="zh-CN" sz="2400" b="1" dirty="0" err="1">
                <a:latin typeface="宋体" panose="02010600030101010101" pitchFamily="2" charset="-122"/>
              </a:rPr>
              <a:t>xor</a:t>
            </a:r>
            <a:r>
              <a:rPr lang="en-US" altLang="zh-CN" sz="2400" b="1" dirty="0">
                <a:latin typeface="宋体" panose="02010600030101010101" pitchFamily="2" charset="-122"/>
              </a:rPr>
              <a:t> </a:t>
            </a:r>
            <a:r>
              <a:rPr lang="en-US" altLang="zh-CN" sz="2400" b="1" dirty="0" err="1">
                <a:latin typeface="宋体" panose="02010600030101010101" pitchFamily="2" charset="-122"/>
              </a:rPr>
              <a:t>al,al</a:t>
            </a:r>
            <a:r>
              <a:rPr lang="en-US" altLang="zh-CN" sz="2400" b="1" dirty="0">
                <a:latin typeface="宋体" panose="02010600030101010101" pitchFamily="2" charset="-122"/>
              </a:rPr>
              <a:t>	 </a:t>
            </a:r>
            <a:r>
              <a:rPr lang="zh-CN" altLang="en-US" sz="2400" b="1" dirty="0">
                <a:latin typeface="宋体" panose="02010600030101010101" pitchFamily="2" charset="-122"/>
              </a:rPr>
              <a:t>；</a:t>
            </a:r>
            <a:r>
              <a:rPr lang="en-US" altLang="zh-CN" sz="2400" b="1" dirty="0">
                <a:latin typeface="宋体" panose="02010600030101010101" pitchFamily="2" charset="-122"/>
              </a:rPr>
              <a:t>AL</a:t>
            </a:r>
            <a:r>
              <a:rPr lang="zh-CN" altLang="en-US" sz="2400" b="1" dirty="0">
                <a:latin typeface="宋体" panose="02010600030101010101" pitchFamily="2" charset="-122"/>
              </a:rPr>
              <a:t>＝</a:t>
            </a:r>
            <a:r>
              <a:rPr lang="en-US" altLang="zh-CN" sz="2400" b="1" dirty="0">
                <a:latin typeface="宋体" panose="02010600030101010101" pitchFamily="2" charset="-122"/>
              </a:rPr>
              <a:t>0</a:t>
            </a:r>
            <a:r>
              <a:rPr lang="zh-CN" altLang="en-US" sz="2400" b="1" dirty="0">
                <a:latin typeface="宋体" panose="02010600030101010101" pitchFamily="2" charset="-122"/>
              </a:rPr>
              <a:t>，</a:t>
            </a:r>
            <a:r>
              <a:rPr lang="en-US" altLang="zh-CN" sz="2400" b="1" dirty="0">
                <a:latin typeface="宋体" panose="02010600030101010101" pitchFamily="2" charset="-122"/>
              </a:rPr>
              <a:t>CF</a:t>
            </a:r>
            <a:r>
              <a:rPr lang="zh-CN" altLang="en-US" sz="2400" b="1" dirty="0">
                <a:latin typeface="宋体" panose="02010600030101010101" pitchFamily="2" charset="-122"/>
              </a:rPr>
              <a:t>＝</a:t>
            </a:r>
            <a:r>
              <a:rPr lang="en-US" altLang="zh-CN" sz="2400" b="1" dirty="0">
                <a:latin typeface="宋体" panose="02010600030101010101" pitchFamily="2" charset="-122"/>
              </a:rPr>
              <a:t>0</a:t>
            </a:r>
          </a:p>
          <a:p>
            <a:pPr marL="0" indent="0" defTabSz="0">
              <a:lnSpc>
                <a:spcPct val="80000"/>
              </a:lnSpc>
              <a:buNone/>
              <a:tabLst>
                <a:tab pos="1520825" algn="l"/>
                <a:tab pos="3710305" algn="l"/>
              </a:tabLst>
            </a:pPr>
            <a:r>
              <a:rPr lang="en-US" altLang="zh-CN" sz="2400" b="1" dirty="0">
                <a:latin typeface="宋体" panose="02010600030101010101" pitchFamily="2" charset="-122"/>
              </a:rPr>
              <a:t>again:	test bx,0ffffh </a:t>
            </a:r>
            <a:r>
              <a:rPr lang="zh-CN" altLang="en-US" sz="2400" b="1" dirty="0">
                <a:latin typeface="宋体" panose="02010600030101010101" pitchFamily="2" charset="-122"/>
              </a:rPr>
              <a:t>；等价于 </a:t>
            </a:r>
            <a:r>
              <a:rPr lang="en-US" altLang="zh-CN" sz="2400" b="1" dirty="0" err="1">
                <a:latin typeface="宋体" panose="02010600030101010101" pitchFamily="2" charset="-122"/>
              </a:rPr>
              <a:t>cmp</a:t>
            </a:r>
            <a:r>
              <a:rPr lang="en-US" altLang="zh-CN" sz="2400" b="1" dirty="0">
                <a:latin typeface="宋体" panose="02010600030101010101" pitchFamily="2" charset="-122"/>
              </a:rPr>
              <a:t> bx,0</a:t>
            </a:r>
          </a:p>
          <a:p>
            <a:pPr marL="0" indent="0" defTabSz="0">
              <a:lnSpc>
                <a:spcPct val="80000"/>
              </a:lnSpc>
              <a:buNone/>
              <a:tabLst>
                <a:tab pos="1520825" algn="l"/>
                <a:tab pos="3710305" algn="l"/>
              </a:tabLst>
            </a:pPr>
            <a:r>
              <a:rPr lang="en-US" altLang="zh-CN" sz="2400" b="1" dirty="0">
                <a:latin typeface="宋体" panose="02010600030101010101" pitchFamily="2" charset="-122"/>
              </a:rPr>
              <a:t>	je next</a:t>
            </a:r>
          </a:p>
          <a:p>
            <a:pPr marL="0" indent="0" defTabSz="0">
              <a:lnSpc>
                <a:spcPct val="80000"/>
              </a:lnSpc>
              <a:buNone/>
              <a:tabLst>
                <a:tab pos="1520825" algn="l"/>
                <a:tab pos="3710305" algn="l"/>
              </a:tabLst>
            </a:pPr>
            <a:r>
              <a:rPr lang="en-US" altLang="zh-CN" sz="2400" b="1" dirty="0">
                <a:latin typeface="宋体" panose="02010600030101010101" pitchFamily="2" charset="-122"/>
              </a:rPr>
              <a:t>	</a:t>
            </a:r>
            <a:r>
              <a:rPr lang="en-US" altLang="zh-CN" sz="2400" b="1" dirty="0" err="1">
                <a:latin typeface="宋体" panose="02010600030101010101" pitchFamily="2" charset="-122"/>
              </a:rPr>
              <a:t>shl</a:t>
            </a:r>
            <a:r>
              <a:rPr lang="en-US" altLang="zh-CN" sz="2400" b="1" dirty="0">
                <a:latin typeface="宋体" panose="02010600030101010101" pitchFamily="2" charset="-122"/>
              </a:rPr>
              <a:t> bx,1</a:t>
            </a:r>
          </a:p>
          <a:p>
            <a:pPr marL="0" indent="0" defTabSz="0">
              <a:lnSpc>
                <a:spcPct val="80000"/>
              </a:lnSpc>
              <a:buNone/>
              <a:tabLst>
                <a:tab pos="1520825" algn="l"/>
                <a:tab pos="3710305" algn="l"/>
              </a:tabLst>
            </a:pPr>
            <a:r>
              <a:rPr lang="en-US" altLang="zh-CN" sz="2400" b="1" dirty="0">
                <a:latin typeface="宋体" panose="02010600030101010101" pitchFamily="2" charset="-122"/>
              </a:rPr>
              <a:t>	</a:t>
            </a:r>
            <a:r>
              <a:rPr lang="en-US" altLang="zh-CN" sz="2400" b="1" dirty="0" err="1">
                <a:solidFill>
                  <a:srgbClr val="0000FF"/>
                </a:solidFill>
                <a:latin typeface="宋体" panose="02010600030101010101" pitchFamily="2" charset="-122"/>
              </a:rPr>
              <a:t>jnc</a:t>
            </a:r>
            <a:r>
              <a:rPr lang="en-US" altLang="zh-CN" sz="2400" b="1" dirty="0">
                <a:latin typeface="宋体" panose="02010600030101010101" pitchFamily="2" charset="-122"/>
              </a:rPr>
              <a:t> again</a:t>
            </a:r>
          </a:p>
          <a:p>
            <a:pPr marL="0" indent="0" defTabSz="0">
              <a:lnSpc>
                <a:spcPct val="80000"/>
              </a:lnSpc>
              <a:buNone/>
              <a:tabLst>
                <a:tab pos="1520825" algn="l"/>
                <a:tab pos="3710305" algn="l"/>
              </a:tabLst>
            </a:pPr>
            <a:r>
              <a:rPr lang="en-US" altLang="zh-CN" sz="2400" b="1" dirty="0">
                <a:latin typeface="宋体" panose="02010600030101010101" pitchFamily="2" charset="-122"/>
              </a:rPr>
              <a:t>	</a:t>
            </a:r>
            <a:r>
              <a:rPr lang="en-US" altLang="zh-CN" sz="2400" b="1" dirty="0" err="1">
                <a:latin typeface="宋体" panose="02010600030101010101" pitchFamily="2" charset="-122"/>
              </a:rPr>
              <a:t>inc</a:t>
            </a:r>
            <a:r>
              <a:rPr lang="en-US" altLang="zh-CN" sz="2400" b="1" dirty="0">
                <a:latin typeface="宋体" panose="02010600030101010101" pitchFamily="2" charset="-122"/>
              </a:rPr>
              <a:t> al</a:t>
            </a:r>
          </a:p>
          <a:p>
            <a:pPr marL="0" indent="0" defTabSz="0">
              <a:lnSpc>
                <a:spcPct val="80000"/>
              </a:lnSpc>
              <a:buNone/>
              <a:tabLst>
                <a:tab pos="1520825" algn="l"/>
                <a:tab pos="3710305" algn="l"/>
              </a:tabLst>
            </a:pPr>
            <a:r>
              <a:rPr lang="en-US" altLang="zh-CN" sz="2400" b="1" dirty="0">
                <a:latin typeface="宋体" panose="02010600030101010101" pitchFamily="2" charset="-122"/>
              </a:rPr>
              <a:t>	</a:t>
            </a:r>
            <a:r>
              <a:rPr lang="en-US" altLang="zh-CN" sz="2400" b="1" dirty="0" err="1">
                <a:latin typeface="宋体" panose="02010600030101010101" pitchFamily="2" charset="-122"/>
              </a:rPr>
              <a:t>jmp</a:t>
            </a:r>
            <a:r>
              <a:rPr lang="en-US" altLang="zh-CN" sz="2400" b="1" dirty="0">
                <a:latin typeface="宋体" panose="02010600030101010101" pitchFamily="2" charset="-122"/>
              </a:rPr>
              <a:t> again</a:t>
            </a:r>
          </a:p>
          <a:p>
            <a:pPr marL="0" indent="0" defTabSz="0">
              <a:lnSpc>
                <a:spcPct val="80000"/>
              </a:lnSpc>
              <a:buNone/>
              <a:tabLst>
                <a:tab pos="1520825" algn="l"/>
                <a:tab pos="3710305" algn="l"/>
              </a:tabLst>
            </a:pPr>
            <a:r>
              <a:rPr lang="en-US" altLang="zh-CN" sz="2400" b="1" dirty="0">
                <a:latin typeface="宋体" panose="02010600030101010101" pitchFamily="2" charset="-122"/>
              </a:rPr>
              <a:t>next:	...	</a:t>
            </a:r>
            <a:r>
              <a:rPr lang="zh-CN" altLang="en-US" sz="2400" b="1" dirty="0">
                <a:latin typeface="宋体" panose="02010600030101010101" pitchFamily="2" charset="-122"/>
              </a:rPr>
              <a:t>；</a:t>
            </a:r>
            <a:r>
              <a:rPr lang="en-US" altLang="zh-CN" sz="2400" b="1" dirty="0">
                <a:latin typeface="宋体" panose="02010600030101010101" pitchFamily="2" charset="-122"/>
              </a:rPr>
              <a:t>AL</a:t>
            </a:r>
            <a:r>
              <a:rPr lang="zh-CN" altLang="en-US" sz="2400" b="1" dirty="0">
                <a:latin typeface="宋体" panose="02010600030101010101" pitchFamily="2" charset="-122"/>
              </a:rPr>
              <a:t>保存</a:t>
            </a:r>
            <a:r>
              <a:rPr lang="en-US" altLang="zh-CN" sz="2400" b="1" dirty="0">
                <a:latin typeface="宋体" panose="02010600030101010101" pitchFamily="2" charset="-122"/>
              </a:rPr>
              <a:t>1</a:t>
            </a:r>
            <a:r>
              <a:rPr lang="zh-CN" altLang="en-US" sz="2400" b="1" dirty="0">
                <a:latin typeface="宋体" panose="02010600030101010101" pitchFamily="2" charset="-122"/>
              </a:rPr>
              <a:t>的个数</a:t>
            </a:r>
          </a:p>
        </p:txBody>
      </p:sp>
      <p:pic>
        <p:nvPicPr>
          <p:cNvPr id="498698" name="图片 498697" descr="14_6">
            <a:hlinkClick r:id="rId2" action="ppaction://hlinksldjump"/>
          </p:cNvPr>
          <p:cNvPicPr>
            <a:picLocks noChangeAspect="1"/>
          </p:cNvPicPr>
          <p:nvPr/>
        </p:nvPicPr>
        <p:blipFill>
          <a:blip r:embed="rId3"/>
          <a:stretch>
            <a:fillRect/>
          </a:stretch>
        </p:blipFill>
        <p:spPr>
          <a:xfrm>
            <a:off x="8629650" y="6316663"/>
            <a:ext cx="514350" cy="533400"/>
          </a:xfrm>
          <a:prstGeom prst="rect">
            <a:avLst/>
          </a:prstGeom>
          <a:noFill/>
          <a:ln w="9525">
            <a:noFill/>
          </a:ln>
        </p:spPr>
      </p:pic>
      <p:pic>
        <p:nvPicPr>
          <p:cNvPr id="498699" name="图片 498698" descr="5">
            <a:hlinkClick r:id="" action="ppaction://hlinkshowjump?jump=nextslide"/>
          </p:cNvPr>
          <p:cNvPicPr>
            <a:picLocks noChangeAspect="1"/>
          </p:cNvPicPr>
          <p:nvPr/>
        </p:nvPicPr>
        <p:blipFill>
          <a:blip r:embed="rId4"/>
          <a:stretch>
            <a:fillRect/>
          </a:stretch>
        </p:blipFill>
        <p:spPr>
          <a:xfrm>
            <a:off x="3581400" y="5546725"/>
            <a:ext cx="571500" cy="571500"/>
          </a:xfrm>
          <a:prstGeom prst="rect">
            <a:avLst/>
          </a:prstGeom>
          <a:noFill/>
          <a:ln w="9525">
            <a:noFill/>
          </a:ln>
        </p:spPr>
      </p:pic>
      <p:sp>
        <p:nvSpPr>
          <p:cNvPr id="498700" name="文本框 498699"/>
          <p:cNvSpPr txBox="1"/>
          <p:nvPr/>
        </p:nvSpPr>
        <p:spPr>
          <a:xfrm>
            <a:off x="4114800" y="5562600"/>
            <a:ext cx="1724025" cy="457200"/>
          </a:xfrm>
          <a:prstGeom prst="rect">
            <a:avLst/>
          </a:prstGeom>
          <a:noFill/>
          <a:ln w="9525">
            <a:noFill/>
          </a:ln>
        </p:spPr>
        <p:txBody>
          <a:bodyPr wrap="none" anchor="t">
            <a:spAutoFit/>
          </a:bodyPr>
          <a:lstStyle/>
          <a:p>
            <a:pPr lvl="0"/>
            <a:r>
              <a:rPr lang="zh-CN" altLang="en-US" sz="2400" b="1" dirty="0">
                <a:solidFill>
                  <a:srgbClr val="660033"/>
                </a:solidFill>
                <a:latin typeface="Arial" panose="020B0604020202020204" pitchFamily="34" charset="0"/>
                <a:ea typeface="宋体" panose="02010600030101010101" pitchFamily="2" charset="-122"/>
              </a:rPr>
              <a:t>另一种做法</a:t>
            </a:r>
          </a:p>
        </p:txBody>
      </p:sp>
      <p:sp>
        <p:nvSpPr>
          <p:cNvPr id="8" name="矩形 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advClick="0">
    <p:random/>
  </p:transition>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9720" name="标题 499719"/>
          <p:cNvSpPr>
            <a:spLocks noGrp="1"/>
          </p:cNvSpPr>
          <p:nvPr>
            <p:ph type="title"/>
          </p:nvPr>
        </p:nvSpPr>
        <p:spPr>
          <a:xfrm>
            <a:off x="684213" y="908050"/>
            <a:ext cx="3167062" cy="623888"/>
          </a:xfrm>
          <a:prstGeom prst="flowChartAlternateProcess">
            <a:avLst/>
          </a:prstGeom>
          <a:ln w="28575">
            <a:solidFill>
              <a:schemeClr val="accent1"/>
            </a:solidFill>
            <a:miter/>
          </a:ln>
        </p:spPr>
        <p:txBody>
          <a:bodyPr anchor="ctr"/>
          <a:lstStyle/>
          <a:p>
            <a:pPr algn="l">
              <a:lnSpc>
                <a:spcPct val="90000"/>
              </a:lnSpc>
            </a:pPr>
            <a:r>
              <a:rPr lang="zh-CN" altLang="en-US" sz="2400" b="1" dirty="0">
                <a:solidFill>
                  <a:schemeClr val="tx1"/>
                </a:solidFill>
              </a:rPr>
              <a:t>统计</a:t>
            </a:r>
            <a:r>
              <a:rPr lang="en-US" altLang="zh-CN" sz="2400" b="1" dirty="0">
                <a:solidFill>
                  <a:schemeClr val="tx1"/>
                </a:solidFill>
              </a:rPr>
              <a:t>BX</a:t>
            </a:r>
            <a:r>
              <a:rPr lang="zh-CN" altLang="en-US" sz="2400" b="1" dirty="0">
                <a:solidFill>
                  <a:schemeClr val="tx1"/>
                </a:solidFill>
              </a:rPr>
              <a:t>中“</a:t>
            </a:r>
            <a:r>
              <a:rPr lang="en-US" altLang="zh-CN" sz="2400" b="1" dirty="0">
                <a:solidFill>
                  <a:schemeClr val="tx1"/>
                </a:solidFill>
              </a:rPr>
              <a:t>1”</a:t>
            </a:r>
            <a:r>
              <a:rPr lang="zh-CN" altLang="en-US" sz="2400" b="1" dirty="0">
                <a:solidFill>
                  <a:schemeClr val="tx1"/>
                </a:solidFill>
              </a:rPr>
              <a:t>的个数</a:t>
            </a:r>
          </a:p>
        </p:txBody>
      </p:sp>
      <p:sp>
        <p:nvSpPr>
          <p:cNvPr id="499721" name="文本占位符 499720"/>
          <p:cNvSpPr>
            <a:spLocks noGrp="1"/>
          </p:cNvSpPr>
          <p:nvPr>
            <p:ph type="body" idx="1"/>
          </p:nvPr>
        </p:nvSpPr>
        <p:spPr>
          <a:xfrm>
            <a:off x="684213" y="2205038"/>
            <a:ext cx="7696200" cy="2773362"/>
          </a:xfrm>
          <a:solidFill>
            <a:schemeClr val="bg1"/>
          </a:solidFill>
          <a:ln/>
        </p:spPr>
        <p:txBody>
          <a:bodyPr/>
          <a:lstStyle/>
          <a:p>
            <a:pPr marL="0" indent="0" defTabSz="0">
              <a:lnSpc>
                <a:spcPct val="80000"/>
              </a:lnSpc>
              <a:buNone/>
              <a:tabLst>
                <a:tab pos="1520825" algn="l"/>
                <a:tab pos="3710305" algn="l"/>
              </a:tabLst>
            </a:pPr>
            <a:r>
              <a:rPr lang="zh-CN" altLang="en-US" sz="2400" b="1">
                <a:latin typeface="宋体" panose="02010600030101010101" pitchFamily="2" charset="-122"/>
              </a:rPr>
              <a:t>	</a:t>
            </a:r>
            <a:r>
              <a:rPr lang="en-US" altLang="zh-CN" sz="2400" b="1" err="1">
                <a:latin typeface="宋体" panose="02010600030101010101" pitchFamily="2" charset="-122"/>
              </a:rPr>
              <a:t>xor</a:t>
            </a:r>
            <a:r>
              <a:rPr lang="en-US" altLang="zh-CN" sz="2400" b="1">
                <a:latin typeface="宋体" panose="02010600030101010101" pitchFamily="2" charset="-122"/>
              </a:rPr>
              <a:t> al,al	</a:t>
            </a:r>
            <a:r>
              <a:rPr lang="zh-CN" altLang="en-US" sz="2400" b="1">
                <a:latin typeface="宋体" panose="02010600030101010101" pitchFamily="2" charset="-122"/>
              </a:rPr>
              <a:t>；</a:t>
            </a:r>
            <a:r>
              <a:rPr lang="en-US" altLang="zh-CN" sz="2400" b="1">
                <a:latin typeface="宋体" panose="02010600030101010101" pitchFamily="2" charset="-122"/>
              </a:rPr>
              <a:t>AL</a:t>
            </a:r>
            <a:r>
              <a:rPr lang="zh-CN" altLang="en-US" sz="2400" b="1">
                <a:latin typeface="宋体" panose="02010600030101010101" pitchFamily="2" charset="-122"/>
              </a:rPr>
              <a:t>＝</a:t>
            </a:r>
            <a:r>
              <a:rPr lang="en-US" altLang="zh-CN" sz="2400" b="1">
                <a:latin typeface="宋体" panose="02010600030101010101" pitchFamily="2" charset="-122"/>
              </a:rPr>
              <a:t>0</a:t>
            </a:r>
            <a:r>
              <a:rPr lang="zh-CN" altLang="en-US" sz="2400" b="1">
                <a:latin typeface="宋体" panose="02010600030101010101" pitchFamily="2" charset="-122"/>
              </a:rPr>
              <a:t>，</a:t>
            </a:r>
            <a:r>
              <a:rPr lang="en-US" altLang="zh-CN" sz="2400" b="1">
                <a:latin typeface="宋体" panose="02010600030101010101" pitchFamily="2" charset="-122"/>
              </a:rPr>
              <a:t>CF</a:t>
            </a:r>
            <a:r>
              <a:rPr lang="zh-CN" altLang="en-US" sz="2400" b="1">
                <a:latin typeface="宋体" panose="02010600030101010101" pitchFamily="2" charset="-122"/>
              </a:rPr>
              <a:t>＝</a:t>
            </a:r>
            <a:r>
              <a:rPr lang="en-US" altLang="zh-CN" sz="2400" b="1">
                <a:latin typeface="宋体" panose="02010600030101010101" pitchFamily="2" charset="-122"/>
              </a:rPr>
              <a:t>0</a:t>
            </a:r>
          </a:p>
          <a:p>
            <a:pPr marL="0" indent="0" defTabSz="0">
              <a:lnSpc>
                <a:spcPct val="80000"/>
              </a:lnSpc>
              <a:buNone/>
              <a:tabLst>
                <a:tab pos="1520825" algn="l"/>
                <a:tab pos="3710305" algn="l"/>
              </a:tabLst>
            </a:pPr>
            <a:r>
              <a:rPr lang="en-US" altLang="zh-CN" sz="2400" b="1">
                <a:latin typeface="宋体" panose="02010600030101010101" pitchFamily="2" charset="-122"/>
              </a:rPr>
              <a:t>again:	</a:t>
            </a:r>
            <a:r>
              <a:rPr lang="en-US" altLang="zh-CN" sz="2400" b="1" err="1">
                <a:latin typeface="宋体" panose="02010600030101010101" pitchFamily="2" charset="-122"/>
              </a:rPr>
              <a:t>cmp</a:t>
            </a:r>
            <a:r>
              <a:rPr lang="en-US" altLang="zh-CN" sz="2400" b="1">
                <a:latin typeface="宋体" panose="02010600030101010101" pitchFamily="2" charset="-122"/>
              </a:rPr>
              <a:t> bx,0</a:t>
            </a:r>
          </a:p>
          <a:p>
            <a:pPr marL="0" indent="0" defTabSz="0">
              <a:lnSpc>
                <a:spcPct val="80000"/>
              </a:lnSpc>
              <a:buNone/>
              <a:tabLst>
                <a:tab pos="1520825" algn="l"/>
                <a:tab pos="3710305" algn="l"/>
              </a:tabLst>
            </a:pPr>
            <a:r>
              <a:rPr lang="en-US" altLang="zh-CN" sz="2400" b="1">
                <a:latin typeface="宋体" panose="02010600030101010101" pitchFamily="2" charset="-122"/>
              </a:rPr>
              <a:t>	</a:t>
            </a:r>
            <a:r>
              <a:rPr lang="en-US" altLang="zh-CN" sz="2400" b="1" err="1">
                <a:latin typeface="宋体" panose="02010600030101010101" pitchFamily="2" charset="-122"/>
              </a:rPr>
              <a:t>jz</a:t>
            </a:r>
            <a:r>
              <a:rPr lang="en-US" altLang="zh-CN" sz="2400" b="1">
                <a:latin typeface="宋体" panose="02010600030101010101" pitchFamily="2" charset="-122"/>
              </a:rPr>
              <a:t> next</a:t>
            </a:r>
          </a:p>
          <a:p>
            <a:pPr marL="0" indent="0" defTabSz="0">
              <a:lnSpc>
                <a:spcPct val="80000"/>
              </a:lnSpc>
              <a:buNone/>
              <a:tabLst>
                <a:tab pos="1520825" algn="l"/>
                <a:tab pos="3710305" algn="l"/>
              </a:tabLst>
            </a:pPr>
            <a:r>
              <a:rPr lang="en-US" altLang="zh-CN" sz="2400" b="1">
                <a:latin typeface="宋体" panose="02010600030101010101" pitchFamily="2" charset="-122"/>
              </a:rPr>
              <a:t>	</a:t>
            </a:r>
            <a:r>
              <a:rPr lang="en-US" altLang="zh-CN" sz="2400" b="1" err="1">
                <a:latin typeface="宋体" panose="02010600030101010101" pitchFamily="2" charset="-122"/>
              </a:rPr>
              <a:t>shl</a:t>
            </a:r>
            <a:r>
              <a:rPr lang="en-US" altLang="zh-CN" sz="2400" b="1">
                <a:latin typeface="宋体" panose="02010600030101010101" pitchFamily="2" charset="-122"/>
              </a:rPr>
              <a:t> bx,1	</a:t>
            </a:r>
            <a:r>
              <a:rPr lang="zh-CN" altLang="en-US" sz="2400" b="1">
                <a:latin typeface="宋体" panose="02010600030101010101" pitchFamily="2" charset="-122"/>
              </a:rPr>
              <a:t>；</a:t>
            </a:r>
            <a:r>
              <a:rPr lang="zh-CN" altLang="en-US" sz="2400" b="1" dirty="0">
                <a:latin typeface="宋体" panose="02010600030101010101" pitchFamily="2" charset="-122"/>
              </a:rPr>
              <a:t>也可使用 </a:t>
            </a:r>
            <a:r>
              <a:rPr lang="en-US" altLang="zh-CN" sz="2400" b="1" err="1">
                <a:latin typeface="宋体" panose="02010600030101010101" pitchFamily="2" charset="-122"/>
              </a:rPr>
              <a:t>shr</a:t>
            </a:r>
            <a:r>
              <a:rPr lang="en-US" altLang="zh-CN" sz="2400" b="1">
                <a:latin typeface="宋体" panose="02010600030101010101" pitchFamily="2" charset="-122"/>
              </a:rPr>
              <a:t> bx,1</a:t>
            </a:r>
          </a:p>
          <a:p>
            <a:pPr marL="0" indent="0" defTabSz="0">
              <a:lnSpc>
                <a:spcPct val="80000"/>
              </a:lnSpc>
              <a:buNone/>
              <a:tabLst>
                <a:tab pos="1520825" algn="l"/>
                <a:tab pos="3710305" algn="l"/>
              </a:tabLst>
            </a:pPr>
            <a:r>
              <a:rPr lang="en-US" altLang="zh-CN" sz="2400" b="1">
                <a:latin typeface="宋体" panose="02010600030101010101" pitchFamily="2" charset="-122"/>
              </a:rPr>
              <a:t>	</a:t>
            </a:r>
            <a:r>
              <a:rPr lang="en-US" altLang="zh-CN" sz="2400" b="1" err="1">
                <a:latin typeface="宋体" panose="02010600030101010101" pitchFamily="2" charset="-122"/>
              </a:rPr>
              <a:t>adc</a:t>
            </a:r>
            <a:r>
              <a:rPr lang="en-US" altLang="zh-CN" sz="2400" b="1">
                <a:latin typeface="宋体" panose="02010600030101010101" pitchFamily="2" charset="-122"/>
              </a:rPr>
              <a:t> al,0</a:t>
            </a:r>
          </a:p>
          <a:p>
            <a:pPr marL="0" indent="0" defTabSz="0">
              <a:lnSpc>
                <a:spcPct val="80000"/>
              </a:lnSpc>
              <a:buNone/>
              <a:tabLst>
                <a:tab pos="1520825" algn="l"/>
                <a:tab pos="3710305" algn="l"/>
              </a:tabLst>
            </a:pPr>
            <a:r>
              <a:rPr lang="en-US" altLang="zh-CN" sz="2400" b="1">
                <a:latin typeface="宋体" panose="02010600030101010101" pitchFamily="2" charset="-122"/>
              </a:rPr>
              <a:t>	</a:t>
            </a:r>
            <a:r>
              <a:rPr lang="en-US" altLang="zh-CN" sz="2400" b="1" err="1">
                <a:latin typeface="宋体" panose="02010600030101010101" pitchFamily="2" charset="-122"/>
              </a:rPr>
              <a:t>jmp</a:t>
            </a:r>
            <a:r>
              <a:rPr lang="en-US" altLang="zh-CN" sz="2400" b="1">
                <a:latin typeface="宋体" panose="02010600030101010101" pitchFamily="2" charset="-122"/>
              </a:rPr>
              <a:t> again</a:t>
            </a:r>
          </a:p>
          <a:p>
            <a:pPr marL="0" indent="0" defTabSz="0">
              <a:lnSpc>
                <a:spcPct val="80000"/>
              </a:lnSpc>
              <a:buNone/>
              <a:tabLst>
                <a:tab pos="1520825" algn="l"/>
                <a:tab pos="3710305" algn="l"/>
              </a:tabLst>
            </a:pPr>
            <a:r>
              <a:rPr lang="en-US" altLang="zh-CN" sz="2400" b="1">
                <a:latin typeface="宋体" panose="02010600030101010101" pitchFamily="2" charset="-122"/>
              </a:rPr>
              <a:t>next:	...	</a:t>
            </a:r>
            <a:r>
              <a:rPr lang="zh-CN" altLang="en-US" sz="2400" b="1">
                <a:latin typeface="宋体" panose="02010600030101010101" pitchFamily="2" charset="-122"/>
              </a:rPr>
              <a:t>；</a:t>
            </a:r>
            <a:r>
              <a:rPr lang="en-US" altLang="zh-CN" sz="2400" b="1">
                <a:latin typeface="宋体" panose="02010600030101010101" pitchFamily="2" charset="-122"/>
              </a:rPr>
              <a:t>AL</a:t>
            </a:r>
            <a:r>
              <a:rPr lang="zh-CN" altLang="en-US" sz="2400" b="1" dirty="0">
                <a:latin typeface="宋体" panose="02010600030101010101" pitchFamily="2" charset="-122"/>
              </a:rPr>
              <a:t>保存</a:t>
            </a:r>
            <a:r>
              <a:rPr lang="en-US" altLang="zh-CN" sz="2400" b="1">
                <a:latin typeface="宋体" panose="02010600030101010101" pitchFamily="2" charset="-122"/>
              </a:rPr>
              <a:t>1</a:t>
            </a:r>
            <a:r>
              <a:rPr lang="zh-CN" altLang="en-US" sz="2400" b="1" dirty="0">
                <a:latin typeface="宋体" panose="02010600030101010101" pitchFamily="2" charset="-122"/>
              </a:rPr>
              <a:t>的个数</a:t>
            </a:r>
          </a:p>
        </p:txBody>
      </p:sp>
      <p:pic>
        <p:nvPicPr>
          <p:cNvPr id="499722" name="图片 499721" descr="6">
            <a:hlinkClick r:id="" action="ppaction://hlinkshowjump?jump=previous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sp>
        <p:nvSpPr>
          <p:cNvPr id="6" name="矩形 5"/>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advClick="0">
    <p:random/>
  </p:transition>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0738" name="标题 500737"/>
          <p:cNvSpPr>
            <a:spLocks noGrp="1"/>
          </p:cNvSpPr>
          <p:nvPr>
            <p:ph type="title"/>
          </p:nvPr>
        </p:nvSpPr>
        <p:spPr>
          <a:xfrm>
            <a:off x="395288" y="909638"/>
            <a:ext cx="3384550" cy="431800"/>
          </a:xfrm>
          <a:ln/>
        </p:spPr>
        <p:txBody>
          <a:bodyPr anchor="ctr"/>
          <a:lstStyle/>
          <a:p>
            <a:pPr algn="l"/>
            <a:r>
              <a:rPr lang="en-US" altLang="zh-CN" sz="2400" b="1" dirty="0"/>
              <a:t>2</a:t>
            </a:r>
            <a:r>
              <a:rPr lang="zh-CN" altLang="en-US" sz="2400" b="1" dirty="0"/>
              <a:t>）比较</a:t>
            </a:r>
            <a:r>
              <a:rPr lang="zh-CN" altLang="en-US" sz="2400" b="1" dirty="0">
                <a:solidFill>
                  <a:srgbClr val="FF00FF"/>
                </a:solidFill>
              </a:rPr>
              <a:t>无符号数</a:t>
            </a:r>
            <a:r>
              <a:rPr lang="zh-CN" altLang="en-US" sz="2400" b="1" dirty="0"/>
              <a:t>高低</a:t>
            </a:r>
          </a:p>
        </p:txBody>
      </p:sp>
      <p:sp>
        <p:nvSpPr>
          <p:cNvPr id="500739" name="文本占位符 500738"/>
          <p:cNvSpPr>
            <a:spLocks noGrp="1"/>
          </p:cNvSpPr>
          <p:nvPr>
            <p:ph type="body" idx="1"/>
          </p:nvPr>
        </p:nvSpPr>
        <p:spPr>
          <a:xfrm>
            <a:off x="971550" y="2060575"/>
            <a:ext cx="6121400" cy="2447925"/>
          </a:xfrm>
          <a:ln/>
        </p:spPr>
        <p:txBody>
          <a:bodyPr/>
          <a:lstStyle/>
          <a:p>
            <a:pPr marL="0" indent="0">
              <a:buNone/>
            </a:pPr>
            <a:r>
              <a:rPr lang="zh-CN" altLang="en-US" sz="2400" b="1" dirty="0"/>
              <a:t>无符号数高低有</a:t>
            </a:r>
            <a:r>
              <a:rPr lang="en-US" altLang="zh-CN" sz="2400" b="1">
                <a:solidFill>
                  <a:srgbClr val="0000FF"/>
                </a:solidFill>
              </a:rPr>
              <a:t>4</a:t>
            </a:r>
            <a:r>
              <a:rPr lang="zh-CN" altLang="en-US" sz="2400" b="1" dirty="0"/>
              <a:t>种关系：</a:t>
            </a:r>
          </a:p>
          <a:p>
            <a:pPr marL="179705" lvl="1" indent="0">
              <a:buNone/>
            </a:pPr>
            <a:r>
              <a:rPr lang="zh-CN" altLang="zh-CN" sz="2400" b="1"/>
              <a:t>⑴</a:t>
            </a:r>
            <a:r>
              <a:rPr lang="zh-CN" altLang="en-US" sz="2400" b="1" dirty="0">
                <a:solidFill>
                  <a:schemeClr val="tx2"/>
                </a:solidFill>
              </a:rPr>
              <a:t>高于</a:t>
            </a:r>
            <a:r>
              <a:rPr lang="zh-CN" altLang="en-US" sz="2400" b="1" dirty="0"/>
              <a:t>（不低于等于）： </a:t>
            </a:r>
            <a:r>
              <a:rPr lang="en-US" altLang="zh-CN" sz="2400" b="1">
                <a:solidFill>
                  <a:srgbClr val="0000FF"/>
                </a:solidFill>
              </a:rPr>
              <a:t>JA</a:t>
            </a:r>
            <a:r>
              <a:rPr lang="en-US" altLang="zh-CN" sz="2400" b="1"/>
              <a:t> </a:t>
            </a:r>
            <a:r>
              <a:rPr lang="zh-CN" altLang="en-US" sz="2400" b="1"/>
              <a:t>（</a:t>
            </a:r>
            <a:r>
              <a:rPr lang="zh-CN" altLang="en-US" sz="2400" b="1">
                <a:solidFill>
                  <a:srgbClr val="0000FF"/>
                </a:solidFill>
              </a:rPr>
              <a:t> </a:t>
            </a:r>
            <a:r>
              <a:rPr lang="en-US" altLang="zh-CN" sz="2400" b="1">
                <a:solidFill>
                  <a:srgbClr val="0000FF"/>
                </a:solidFill>
              </a:rPr>
              <a:t>JNBE</a:t>
            </a:r>
            <a:r>
              <a:rPr lang="en-US" altLang="zh-CN" sz="2400" b="1"/>
              <a:t> </a:t>
            </a:r>
            <a:r>
              <a:rPr lang="zh-CN" altLang="en-US" sz="2400" b="1"/>
              <a:t>）</a:t>
            </a:r>
            <a:endParaRPr lang="zh-CN" altLang="en-US" sz="2400" b="1" dirty="0"/>
          </a:p>
          <a:p>
            <a:pPr marL="179705" lvl="1" indent="0">
              <a:buNone/>
            </a:pPr>
            <a:r>
              <a:rPr lang="zh-CN" altLang="en-US" sz="2400" b="1"/>
              <a:t>⑵</a:t>
            </a:r>
            <a:r>
              <a:rPr lang="zh-CN" altLang="en-US" sz="2400" b="1" dirty="0"/>
              <a:t>高于等于（不低于）： </a:t>
            </a:r>
            <a:r>
              <a:rPr lang="en-US" altLang="zh-CN" sz="2400" b="1">
                <a:solidFill>
                  <a:srgbClr val="0000FF"/>
                </a:solidFill>
              </a:rPr>
              <a:t>JAE</a:t>
            </a:r>
            <a:r>
              <a:rPr lang="en-US" altLang="zh-CN" sz="2400" b="1"/>
              <a:t> </a:t>
            </a:r>
            <a:r>
              <a:rPr lang="zh-CN" altLang="en-US" sz="2400" b="1"/>
              <a:t>（</a:t>
            </a:r>
            <a:r>
              <a:rPr lang="en-US" altLang="zh-CN" sz="2400" b="1">
                <a:solidFill>
                  <a:srgbClr val="0000FF"/>
                </a:solidFill>
              </a:rPr>
              <a:t>JNB</a:t>
            </a:r>
            <a:r>
              <a:rPr lang="zh-CN" altLang="en-US" sz="2400" b="1"/>
              <a:t>）</a:t>
            </a:r>
            <a:endParaRPr lang="zh-CN" altLang="en-US" sz="2400" b="1" dirty="0"/>
          </a:p>
          <a:p>
            <a:pPr marL="179705" lvl="1" indent="0">
              <a:buNone/>
            </a:pPr>
            <a:r>
              <a:rPr lang="zh-CN" altLang="en-US" sz="2400" b="1"/>
              <a:t>⑶</a:t>
            </a:r>
            <a:r>
              <a:rPr lang="zh-CN" altLang="en-US" sz="2400" b="1" dirty="0">
                <a:solidFill>
                  <a:schemeClr val="tx2"/>
                </a:solidFill>
              </a:rPr>
              <a:t>低于</a:t>
            </a:r>
            <a:r>
              <a:rPr lang="zh-CN" altLang="en-US" sz="2400" b="1" dirty="0"/>
              <a:t>（不高于等于）：</a:t>
            </a:r>
            <a:r>
              <a:rPr lang="en-US" altLang="zh-CN" sz="2400" b="1">
                <a:solidFill>
                  <a:srgbClr val="0000FF"/>
                </a:solidFill>
              </a:rPr>
              <a:t>JB</a:t>
            </a:r>
            <a:r>
              <a:rPr lang="zh-CN" altLang="en-US" sz="2400" b="1"/>
              <a:t>（</a:t>
            </a:r>
            <a:r>
              <a:rPr lang="en-US" altLang="zh-CN" sz="2400" b="1">
                <a:solidFill>
                  <a:srgbClr val="0000FF"/>
                </a:solidFill>
              </a:rPr>
              <a:t>JNAE</a:t>
            </a:r>
            <a:r>
              <a:rPr lang="zh-CN" altLang="en-US" sz="2400" b="1"/>
              <a:t>）</a:t>
            </a:r>
            <a:endParaRPr lang="zh-CN" altLang="en-US" sz="2400" b="1" dirty="0"/>
          </a:p>
          <a:p>
            <a:pPr marL="179705" lvl="1" indent="0">
              <a:buNone/>
            </a:pPr>
            <a:r>
              <a:rPr lang="zh-CN" altLang="en-US" sz="2400" b="1"/>
              <a:t>⑷</a:t>
            </a:r>
            <a:r>
              <a:rPr lang="zh-CN" altLang="en-US" sz="2400" b="1" dirty="0"/>
              <a:t>低于等于（不高于）：</a:t>
            </a:r>
            <a:r>
              <a:rPr lang="en-US" altLang="zh-CN" sz="2400" b="1">
                <a:solidFill>
                  <a:srgbClr val="0000FF"/>
                </a:solidFill>
              </a:rPr>
              <a:t>JBE</a:t>
            </a:r>
            <a:r>
              <a:rPr lang="zh-CN" altLang="en-US" sz="2400" b="1" dirty="0"/>
              <a:t>（</a:t>
            </a:r>
            <a:r>
              <a:rPr lang="en-US" altLang="zh-CN" sz="2400" b="1">
                <a:solidFill>
                  <a:srgbClr val="0000FF"/>
                </a:solidFill>
              </a:rPr>
              <a:t>JNA</a:t>
            </a:r>
            <a:r>
              <a:rPr lang="zh-CN" altLang="en-US" sz="2400" b="1" dirty="0"/>
              <a:t>）</a:t>
            </a:r>
            <a:endParaRPr lang="zh-CN" altLang="en-US" sz="2400" b="1"/>
          </a:p>
        </p:txBody>
      </p:sp>
      <p:sp>
        <p:nvSpPr>
          <p:cNvPr id="5" name="矩形 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69" name="文本占位符 501768"/>
          <p:cNvSpPr>
            <a:spLocks noGrp="1"/>
          </p:cNvSpPr>
          <p:nvPr>
            <p:ph type="body" idx="1"/>
          </p:nvPr>
        </p:nvSpPr>
        <p:spPr>
          <a:xfrm>
            <a:off x="762000" y="1663700"/>
            <a:ext cx="7696200" cy="2917825"/>
          </a:xfrm>
          <a:solidFill>
            <a:schemeClr val="bg1"/>
          </a:solidFill>
          <a:ln/>
        </p:spPr>
        <p:txBody>
          <a:bodyPr/>
          <a:lstStyle/>
          <a:p>
            <a:pPr marL="533400" indent="-533400" defTabSz="0">
              <a:lnSpc>
                <a:spcPts val="3800"/>
              </a:lnSpc>
              <a:spcBef>
                <a:spcPts val="0"/>
              </a:spcBef>
              <a:buNone/>
              <a:tabLst>
                <a:tab pos="1520825" algn="l"/>
              </a:tabLst>
            </a:pPr>
            <a:r>
              <a:rPr lang="zh-CN" altLang="en-US" sz="2400" b="1" dirty="0"/>
              <a:t>示例：编写一程序段，实现比较两个无符号数的大小，将较大者存放在</a:t>
            </a:r>
            <a:r>
              <a:rPr lang="en-US" altLang="zh-CN" sz="2400" b="1" dirty="0"/>
              <a:t>AX</a:t>
            </a:r>
            <a:r>
              <a:rPr lang="zh-CN" altLang="en-US" sz="2400" b="1" dirty="0"/>
              <a:t>寄存器中</a:t>
            </a:r>
            <a:r>
              <a:rPr lang="zh-CN" altLang="en-US" sz="2400" dirty="0"/>
              <a:t> </a:t>
            </a:r>
            <a:r>
              <a:rPr lang="zh-CN" altLang="en-US" sz="2400" dirty="0">
                <a:solidFill>
                  <a:schemeClr val="accent2"/>
                </a:solidFill>
                <a:latin typeface="宋体" panose="02010600030101010101" pitchFamily="2" charset="-122"/>
              </a:rPr>
              <a:t> 	</a:t>
            </a:r>
          </a:p>
          <a:p>
            <a:pPr marL="533400" indent="-533400" defTabSz="0">
              <a:lnSpc>
                <a:spcPct val="80000"/>
              </a:lnSpc>
              <a:buNone/>
              <a:tabLst>
                <a:tab pos="1520825" algn="l"/>
              </a:tabLst>
            </a:pPr>
            <a:endParaRPr lang="zh-CN" altLang="en-US" sz="2400" dirty="0">
              <a:solidFill>
                <a:schemeClr val="accent2"/>
              </a:solidFill>
              <a:latin typeface="宋体" panose="02010600030101010101" pitchFamily="2" charset="-122"/>
            </a:endParaRPr>
          </a:p>
          <a:p>
            <a:pPr marL="533400" indent="-533400" defTabSz="0">
              <a:lnSpc>
                <a:spcPct val="80000"/>
              </a:lnSpc>
              <a:buNone/>
              <a:tabLst>
                <a:tab pos="1520825" algn="l"/>
              </a:tabLst>
            </a:pPr>
            <a:r>
              <a:rPr lang="zh-CN" altLang="en-US" sz="2400" dirty="0">
                <a:solidFill>
                  <a:schemeClr val="accent2"/>
                </a:solidFill>
                <a:latin typeface="宋体" panose="02010600030101010101" pitchFamily="2" charset="-122"/>
              </a:rPr>
              <a:t>   </a:t>
            </a:r>
            <a:r>
              <a:rPr lang="en-US" altLang="zh-CN" sz="2400" b="1" dirty="0" err="1">
                <a:latin typeface="宋体" panose="02010600030101010101" pitchFamily="2" charset="-122"/>
              </a:rPr>
              <a:t>cmp</a:t>
            </a:r>
            <a:r>
              <a:rPr lang="en-US" altLang="zh-CN" sz="2400" b="1" dirty="0">
                <a:latin typeface="宋体" panose="02010600030101010101" pitchFamily="2" charset="-122"/>
              </a:rPr>
              <a:t> </a:t>
            </a:r>
            <a:r>
              <a:rPr lang="en-US" altLang="zh-CN" sz="2400" b="1" dirty="0" err="1">
                <a:latin typeface="宋体" panose="02010600030101010101" pitchFamily="2" charset="-122"/>
              </a:rPr>
              <a:t>ax,bx</a:t>
            </a:r>
            <a:r>
              <a:rPr lang="en-US" altLang="zh-CN" sz="2400" b="1" dirty="0">
                <a:latin typeface="宋体" panose="02010600030101010101" pitchFamily="2" charset="-122"/>
              </a:rPr>
              <a:t>	       </a:t>
            </a:r>
            <a:r>
              <a:rPr lang="zh-CN" altLang="en-US" sz="2400" b="1" dirty="0">
                <a:latin typeface="宋体" panose="02010600030101010101" pitchFamily="2" charset="-122"/>
              </a:rPr>
              <a:t>；比较</a:t>
            </a:r>
            <a:r>
              <a:rPr lang="en-US" altLang="zh-CN" sz="2400" b="1" dirty="0">
                <a:latin typeface="宋体" panose="02010600030101010101" pitchFamily="2" charset="-122"/>
              </a:rPr>
              <a:t>ax</a:t>
            </a:r>
            <a:r>
              <a:rPr lang="zh-CN" altLang="en-US" sz="2400" b="1" dirty="0">
                <a:latin typeface="宋体" panose="02010600030101010101" pitchFamily="2" charset="-122"/>
              </a:rPr>
              <a:t>和</a:t>
            </a:r>
            <a:r>
              <a:rPr lang="en-US" altLang="zh-CN" sz="2400" b="1" dirty="0" err="1">
                <a:latin typeface="宋体" panose="02010600030101010101" pitchFamily="2" charset="-122"/>
              </a:rPr>
              <a:t>bx</a:t>
            </a:r>
            <a:r>
              <a:rPr lang="en-US" altLang="zh-CN" sz="2400" b="1" dirty="0">
                <a:latin typeface="宋体" panose="02010600030101010101" pitchFamily="2" charset="-122"/>
              </a:rPr>
              <a:t>,(AX)-(BX)</a:t>
            </a:r>
          </a:p>
          <a:p>
            <a:pPr marL="533400" indent="-533400" defTabSz="0">
              <a:lnSpc>
                <a:spcPct val="80000"/>
              </a:lnSpc>
              <a:buNone/>
              <a:tabLst>
                <a:tab pos="1520825" algn="l"/>
              </a:tabLst>
            </a:pPr>
            <a:r>
              <a:rPr lang="en-US" altLang="zh-CN" sz="2400" b="1" dirty="0">
                <a:latin typeface="宋体" panose="02010600030101010101" pitchFamily="2" charset="-122"/>
              </a:rPr>
              <a:t>	</a:t>
            </a:r>
            <a:r>
              <a:rPr lang="en-US" altLang="zh-CN" sz="2400" b="1" dirty="0" err="1">
                <a:solidFill>
                  <a:srgbClr val="FF00FF"/>
                </a:solidFill>
                <a:latin typeface="宋体" panose="02010600030101010101" pitchFamily="2" charset="-122"/>
              </a:rPr>
              <a:t>jae</a:t>
            </a:r>
            <a:r>
              <a:rPr lang="en-US" altLang="zh-CN" sz="2400" b="1" dirty="0">
                <a:latin typeface="宋体" panose="02010600030101010101" pitchFamily="2" charset="-122"/>
              </a:rPr>
              <a:t> next	       </a:t>
            </a:r>
            <a:r>
              <a:rPr lang="zh-CN" altLang="en-US" sz="2400" b="1" dirty="0">
                <a:latin typeface="宋体" panose="02010600030101010101" pitchFamily="2" charset="-122"/>
              </a:rPr>
              <a:t>；若</a:t>
            </a:r>
            <a:r>
              <a:rPr lang="en-US" altLang="zh-CN" sz="2400" b="1" dirty="0" err="1">
                <a:latin typeface="宋体" panose="02010600030101010101" pitchFamily="2" charset="-122"/>
              </a:rPr>
              <a:t>ax≥bx</a:t>
            </a:r>
            <a:r>
              <a:rPr lang="zh-CN" altLang="en-US" sz="2400" b="1" dirty="0">
                <a:latin typeface="宋体" panose="02010600030101010101" pitchFamily="2" charset="-122"/>
              </a:rPr>
              <a:t>，转移</a:t>
            </a:r>
          </a:p>
          <a:p>
            <a:pPr marL="533400" indent="-533400" defTabSz="0">
              <a:lnSpc>
                <a:spcPct val="80000"/>
              </a:lnSpc>
              <a:buNone/>
              <a:tabLst>
                <a:tab pos="1520825" algn="l"/>
              </a:tabLst>
            </a:pPr>
            <a:r>
              <a:rPr lang="zh-CN" altLang="en-US" sz="2400" b="1" dirty="0">
                <a:latin typeface="宋体" panose="02010600030101010101" pitchFamily="2" charset="-122"/>
              </a:rPr>
              <a:t>	</a:t>
            </a:r>
            <a:r>
              <a:rPr lang="en-US" altLang="zh-CN" sz="2400" b="1" dirty="0" err="1">
                <a:latin typeface="宋体" panose="02010600030101010101" pitchFamily="2" charset="-122"/>
              </a:rPr>
              <a:t>xchg</a:t>
            </a:r>
            <a:r>
              <a:rPr lang="en-US" altLang="zh-CN" sz="2400" b="1" dirty="0">
                <a:latin typeface="宋体" panose="02010600030101010101" pitchFamily="2" charset="-122"/>
              </a:rPr>
              <a:t> </a:t>
            </a:r>
            <a:r>
              <a:rPr lang="en-US" altLang="zh-CN" sz="2400" b="1" dirty="0" err="1">
                <a:latin typeface="宋体" panose="02010600030101010101" pitchFamily="2" charset="-122"/>
              </a:rPr>
              <a:t>ax,bx</a:t>
            </a:r>
            <a:r>
              <a:rPr lang="en-US" altLang="zh-CN" sz="2400" b="1" dirty="0">
                <a:latin typeface="宋体" panose="02010600030101010101" pitchFamily="2" charset="-122"/>
              </a:rPr>
              <a:t>	     </a:t>
            </a:r>
            <a:r>
              <a:rPr lang="zh-CN" altLang="en-US" sz="2400" b="1" dirty="0">
                <a:latin typeface="宋体" panose="02010600030101010101" pitchFamily="2" charset="-122"/>
              </a:rPr>
              <a:t>；若</a:t>
            </a:r>
            <a:r>
              <a:rPr lang="en-US" altLang="zh-CN" sz="2400" b="1" dirty="0">
                <a:latin typeface="宋体" panose="02010600030101010101" pitchFamily="2" charset="-122"/>
              </a:rPr>
              <a:t>ax</a:t>
            </a:r>
            <a:r>
              <a:rPr lang="zh-CN" altLang="en-US" sz="2400" b="1" dirty="0">
                <a:latin typeface="宋体" panose="02010600030101010101" pitchFamily="2" charset="-122"/>
              </a:rPr>
              <a:t>＜</a:t>
            </a:r>
            <a:r>
              <a:rPr lang="en-US" altLang="zh-CN" sz="2400" b="1" dirty="0" err="1">
                <a:latin typeface="宋体" panose="02010600030101010101" pitchFamily="2" charset="-122"/>
              </a:rPr>
              <a:t>bx</a:t>
            </a:r>
            <a:r>
              <a:rPr lang="zh-CN" altLang="en-US" sz="2400" b="1" dirty="0">
                <a:latin typeface="宋体" panose="02010600030101010101" pitchFamily="2" charset="-122"/>
              </a:rPr>
              <a:t>，交换</a:t>
            </a:r>
          </a:p>
          <a:p>
            <a:pPr marL="533400" indent="-533400" defTabSz="0">
              <a:lnSpc>
                <a:spcPct val="80000"/>
              </a:lnSpc>
              <a:buNone/>
              <a:tabLst>
                <a:tab pos="1520825" algn="l"/>
              </a:tabLst>
            </a:pPr>
            <a:r>
              <a:rPr lang="en-US" altLang="zh-CN" sz="2400" b="1" dirty="0">
                <a:latin typeface="宋体" panose="02010600030101010101" pitchFamily="2" charset="-122"/>
              </a:rPr>
              <a:t>next:	...</a:t>
            </a:r>
          </a:p>
        </p:txBody>
      </p:sp>
      <p:sp>
        <p:nvSpPr>
          <p:cNvPr id="501770" name="圆角矩形标注 501769"/>
          <p:cNvSpPr/>
          <p:nvPr/>
        </p:nvSpPr>
        <p:spPr>
          <a:xfrm>
            <a:off x="2627784" y="4941168"/>
            <a:ext cx="4535488" cy="647700"/>
          </a:xfrm>
          <a:prstGeom prst="wedgeRoundRectCallout">
            <a:avLst>
              <a:gd name="adj1" fmla="val -45134"/>
              <a:gd name="adj2" fmla="val -174019"/>
              <a:gd name="adj3" fmla="val 16667"/>
            </a:avLst>
          </a:prstGeom>
          <a:solidFill>
            <a:schemeClr val="bg2">
              <a:lumMod val="20000"/>
              <a:lumOff val="80000"/>
            </a:schemeClr>
          </a:solidFill>
          <a:ln w="12700" cap="sq" cmpd="sng">
            <a:solidFill>
              <a:srgbClr val="0000CC"/>
            </a:solidFill>
            <a:prstDash val="solid"/>
            <a:miter/>
            <a:headEnd type="none" w="sm" len="sm"/>
            <a:tailEnd type="none" w="sm" len="sm"/>
          </a:ln>
        </p:spPr>
        <p:txBody>
          <a:bodyPr wrap="none" anchor="ctr"/>
          <a:lstStyle/>
          <a:p>
            <a:pPr lvl="0"/>
            <a:r>
              <a:rPr lang="zh-CN" altLang="en-US" sz="2400" b="1" dirty="0">
                <a:latin typeface="Times New Roman" panose="02020603050405020304" pitchFamily="18" charset="0"/>
                <a:ea typeface="宋体" panose="02010600030101010101" pitchFamily="2" charset="-122"/>
              </a:rPr>
              <a:t>结果：</a:t>
            </a:r>
            <a:r>
              <a:rPr lang="en-US" altLang="zh-CN" sz="2400" b="1" dirty="0">
                <a:latin typeface="Times New Roman" panose="02020603050405020304" pitchFamily="18" charset="0"/>
                <a:ea typeface="宋体" panose="02010600030101010101" pitchFamily="2" charset="-122"/>
              </a:rPr>
              <a:t>AX</a:t>
            </a:r>
            <a:r>
              <a:rPr lang="zh-CN" altLang="en-US" sz="2400" b="1" dirty="0">
                <a:latin typeface="Times New Roman" panose="02020603050405020304" pitchFamily="18" charset="0"/>
                <a:ea typeface="宋体" panose="02010600030101010101" pitchFamily="2" charset="-122"/>
              </a:rPr>
              <a:t>保存较大的</a:t>
            </a:r>
            <a:r>
              <a:rPr lang="zh-CN" altLang="en-US" sz="2400" b="1" dirty="0">
                <a:solidFill>
                  <a:srgbClr val="0000FF"/>
                </a:solidFill>
                <a:latin typeface="Times New Roman" panose="02020603050405020304" pitchFamily="18" charset="0"/>
                <a:ea typeface="宋体" panose="02010600030101010101" pitchFamily="2" charset="-122"/>
              </a:rPr>
              <a:t>无符号数</a:t>
            </a:r>
          </a:p>
        </p:txBody>
      </p:sp>
      <p:sp>
        <p:nvSpPr>
          <p:cNvPr id="5" name="矩形 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iterate type="wd">
                                    <p:tmPct val="100000"/>
                                  </p:iterate>
                                  <p:childTnLst>
                                    <p:set>
                                      <p:cBhvr>
                                        <p:cTn id="6" dur="1" fill="hold">
                                          <p:stCondLst>
                                            <p:cond delay="0"/>
                                          </p:stCondLst>
                                        </p:cTn>
                                        <p:tgtEl>
                                          <p:spTgt spid="501770"/>
                                        </p:tgtEl>
                                        <p:attrNameLst>
                                          <p:attrName>style.visibility</p:attrName>
                                        </p:attrNameLst>
                                      </p:cBhvr>
                                      <p:to>
                                        <p:strVal val="visible"/>
                                      </p:to>
                                    </p:set>
                                    <p:anim calcmode="lin" valueType="num">
                                      <p:cBhvr additive="base">
                                        <p:cTn id="7" dur="300" fill="hold"/>
                                        <p:tgtEl>
                                          <p:spTgt spid="501770"/>
                                        </p:tgtEl>
                                        <p:attrNameLst>
                                          <p:attrName>ppt_x</p:attrName>
                                        </p:attrNameLst>
                                      </p:cBhvr>
                                      <p:tavLst>
                                        <p:tav tm="0">
                                          <p:val>
                                            <p:strVal val="#ppt_x"/>
                                          </p:val>
                                        </p:tav>
                                        <p:tav tm="100000">
                                          <p:val>
                                            <p:strVal val="#ppt_x"/>
                                          </p:val>
                                        </p:tav>
                                      </p:tavLst>
                                    </p:anim>
                                    <p:anim calcmode="lin" valueType="num">
                                      <p:cBhvr additive="base">
                                        <p:cTn id="8" dur="300" fill="hold"/>
                                        <p:tgtEl>
                                          <p:spTgt spid="50177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70" grpId="0" animBg="1"/>
    </p:bldLst>
  </p:timing>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2786" name="标题 502785"/>
          <p:cNvSpPr>
            <a:spLocks noGrp="1"/>
          </p:cNvSpPr>
          <p:nvPr>
            <p:ph type="title"/>
          </p:nvPr>
        </p:nvSpPr>
        <p:spPr>
          <a:xfrm>
            <a:off x="395288" y="836613"/>
            <a:ext cx="3600450" cy="576262"/>
          </a:xfrm>
          <a:ln/>
        </p:spPr>
        <p:txBody>
          <a:bodyPr anchor="ctr"/>
          <a:lstStyle/>
          <a:p>
            <a:pPr algn="l"/>
            <a:r>
              <a:rPr lang="en-US" altLang="zh-CN" sz="2400" b="1"/>
              <a:t>3</a:t>
            </a:r>
            <a:r>
              <a:rPr lang="zh-CN" altLang="en-US" sz="2400" b="1" dirty="0"/>
              <a:t>、比较有符号数大小</a:t>
            </a:r>
          </a:p>
        </p:txBody>
      </p:sp>
      <p:sp>
        <p:nvSpPr>
          <p:cNvPr id="502787" name="文本占位符 502786"/>
          <p:cNvSpPr>
            <a:spLocks noGrp="1"/>
          </p:cNvSpPr>
          <p:nvPr>
            <p:ph type="body" idx="1"/>
          </p:nvPr>
        </p:nvSpPr>
        <p:spPr>
          <a:xfrm>
            <a:off x="1619250" y="1484313"/>
            <a:ext cx="6192838" cy="2376487"/>
          </a:xfrm>
          <a:ln/>
        </p:spPr>
        <p:txBody>
          <a:bodyPr/>
          <a:lstStyle/>
          <a:p>
            <a:pPr>
              <a:buNone/>
            </a:pPr>
            <a:r>
              <a:rPr lang="zh-CN" altLang="en-US" sz="2800" b="1" dirty="0"/>
              <a:t>两数的大小分成</a:t>
            </a:r>
            <a:r>
              <a:rPr lang="en-US" altLang="zh-CN" sz="2800" b="1"/>
              <a:t>4</a:t>
            </a:r>
            <a:r>
              <a:rPr lang="zh-CN" altLang="en-US" sz="2800" b="1" dirty="0"/>
              <a:t>种关系：</a:t>
            </a:r>
          </a:p>
          <a:p>
            <a:pPr lvl="1">
              <a:buNone/>
            </a:pPr>
            <a:r>
              <a:rPr lang="zh-CN" altLang="zh-CN" sz="2400" b="1"/>
              <a:t>⑴</a:t>
            </a:r>
            <a:r>
              <a:rPr lang="zh-CN" altLang="en-US" sz="2400" b="1" dirty="0">
                <a:solidFill>
                  <a:srgbClr val="FF3300"/>
                </a:solidFill>
              </a:rPr>
              <a:t>大于</a:t>
            </a:r>
            <a:r>
              <a:rPr lang="zh-CN" altLang="en-US" sz="2400" b="1" dirty="0"/>
              <a:t>（不小于等于）： </a:t>
            </a:r>
            <a:r>
              <a:rPr lang="en-US" altLang="zh-CN" sz="2400" b="1">
                <a:solidFill>
                  <a:srgbClr val="0000FF"/>
                </a:solidFill>
              </a:rPr>
              <a:t>JG </a:t>
            </a:r>
            <a:r>
              <a:rPr lang="zh-CN" altLang="en-US" sz="2400" b="1"/>
              <a:t>（ </a:t>
            </a:r>
            <a:r>
              <a:rPr lang="en-US" altLang="zh-CN" sz="2400" b="1">
                <a:solidFill>
                  <a:srgbClr val="0000FF"/>
                </a:solidFill>
              </a:rPr>
              <a:t>JNLE</a:t>
            </a:r>
            <a:r>
              <a:rPr lang="en-US" altLang="zh-CN" sz="2400" b="1"/>
              <a:t> </a:t>
            </a:r>
            <a:r>
              <a:rPr lang="zh-CN" altLang="en-US" sz="2400" b="1"/>
              <a:t>）</a:t>
            </a:r>
            <a:endParaRPr lang="zh-CN" altLang="en-US" sz="2400" b="1" dirty="0"/>
          </a:p>
          <a:p>
            <a:pPr lvl="1">
              <a:buNone/>
            </a:pPr>
            <a:r>
              <a:rPr lang="zh-CN" altLang="en-US" sz="2400" b="1"/>
              <a:t>⑵</a:t>
            </a:r>
            <a:r>
              <a:rPr lang="zh-CN" altLang="en-US" sz="2400" b="1" dirty="0"/>
              <a:t>大于等于（不小于）： </a:t>
            </a:r>
            <a:r>
              <a:rPr lang="en-US" altLang="zh-CN" sz="2400" b="1">
                <a:solidFill>
                  <a:srgbClr val="0000FF"/>
                </a:solidFill>
              </a:rPr>
              <a:t>JGE</a:t>
            </a:r>
            <a:r>
              <a:rPr lang="en-US" altLang="zh-CN" sz="2400" b="1"/>
              <a:t> </a:t>
            </a:r>
            <a:r>
              <a:rPr lang="zh-CN" altLang="en-US" sz="2400" b="1"/>
              <a:t>（</a:t>
            </a:r>
            <a:r>
              <a:rPr lang="en-US" altLang="zh-CN" sz="2400" b="1">
                <a:solidFill>
                  <a:srgbClr val="0000FF"/>
                </a:solidFill>
              </a:rPr>
              <a:t>JNL</a:t>
            </a:r>
            <a:r>
              <a:rPr lang="zh-CN" altLang="en-US" sz="2400" b="1"/>
              <a:t>）</a:t>
            </a:r>
            <a:endParaRPr lang="zh-CN" altLang="en-US" sz="2400" b="1" dirty="0"/>
          </a:p>
          <a:p>
            <a:pPr lvl="1">
              <a:buNone/>
            </a:pPr>
            <a:r>
              <a:rPr lang="zh-CN" altLang="en-US" sz="2400" b="1"/>
              <a:t>⑶</a:t>
            </a:r>
            <a:r>
              <a:rPr lang="zh-CN" altLang="en-US" sz="2400" b="1" dirty="0">
                <a:solidFill>
                  <a:srgbClr val="FF3300"/>
                </a:solidFill>
              </a:rPr>
              <a:t>小于</a:t>
            </a:r>
            <a:r>
              <a:rPr lang="zh-CN" altLang="en-US" sz="2400" b="1" dirty="0"/>
              <a:t>（不大于等于）：</a:t>
            </a:r>
            <a:r>
              <a:rPr lang="en-US" altLang="zh-CN" sz="2400" b="1">
                <a:solidFill>
                  <a:srgbClr val="0000FF"/>
                </a:solidFill>
              </a:rPr>
              <a:t>JL</a:t>
            </a:r>
            <a:r>
              <a:rPr lang="zh-CN" altLang="en-US" sz="2400" b="1"/>
              <a:t>（</a:t>
            </a:r>
            <a:r>
              <a:rPr lang="en-US" altLang="zh-CN" sz="2400" b="1">
                <a:solidFill>
                  <a:srgbClr val="0000FF"/>
                </a:solidFill>
              </a:rPr>
              <a:t>JNGE</a:t>
            </a:r>
            <a:r>
              <a:rPr lang="zh-CN" altLang="en-US" sz="2400" b="1"/>
              <a:t>）</a:t>
            </a:r>
            <a:endParaRPr lang="zh-CN" altLang="en-US" sz="2400" b="1" dirty="0"/>
          </a:p>
          <a:p>
            <a:pPr lvl="1">
              <a:buNone/>
            </a:pPr>
            <a:r>
              <a:rPr lang="zh-CN" altLang="en-US" sz="2400" b="1"/>
              <a:t>⑷</a:t>
            </a:r>
            <a:r>
              <a:rPr lang="zh-CN" altLang="en-US" sz="2400" b="1" dirty="0"/>
              <a:t>小于等于（不大于）：</a:t>
            </a:r>
            <a:r>
              <a:rPr lang="en-US" altLang="zh-CN" sz="2400" b="1">
                <a:solidFill>
                  <a:srgbClr val="0000FF"/>
                </a:solidFill>
              </a:rPr>
              <a:t>JLE</a:t>
            </a:r>
            <a:r>
              <a:rPr lang="zh-CN" altLang="en-US" sz="2400" b="1"/>
              <a:t>（</a:t>
            </a:r>
            <a:r>
              <a:rPr lang="en-US" altLang="zh-CN" sz="2400" b="1">
                <a:solidFill>
                  <a:srgbClr val="0000FF"/>
                </a:solidFill>
              </a:rPr>
              <a:t>JNG</a:t>
            </a:r>
            <a:r>
              <a:rPr lang="zh-CN" altLang="en-US" sz="2400" b="1"/>
              <a:t>）</a:t>
            </a:r>
            <a:endParaRPr lang="zh-CN" altLang="en-US" sz="2400" b="1" dirty="0"/>
          </a:p>
        </p:txBody>
      </p:sp>
      <p:sp>
        <p:nvSpPr>
          <p:cNvPr id="502789" name="矩形 502788"/>
          <p:cNvSpPr/>
          <p:nvPr/>
        </p:nvSpPr>
        <p:spPr>
          <a:xfrm>
            <a:off x="539750" y="4040188"/>
            <a:ext cx="8280400" cy="1981200"/>
          </a:xfrm>
          <a:prstGeom prst="rect">
            <a:avLst/>
          </a:prstGeom>
          <a:solidFill>
            <a:schemeClr val="bg1"/>
          </a:solid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533400" lvl="0" indent="-533400" defTabSz="0">
              <a:lnSpc>
                <a:spcPct val="80000"/>
              </a:lnSpc>
              <a:buNone/>
              <a:tabLst>
                <a:tab pos="1520825" algn="l"/>
              </a:tabLst>
            </a:pPr>
            <a:r>
              <a:rPr lang="zh-CN" altLang="en-US" sz="2400" b="1" dirty="0">
                <a:latin typeface="Times New Roman" panose="02020603050405020304" pitchFamily="18" charset="0"/>
                <a:ea typeface="楷体_GB2312" pitchFamily="49" charset="-122"/>
              </a:rPr>
              <a:t>例：比较有符号数大小，将较大的数存放在</a:t>
            </a:r>
            <a:r>
              <a:rPr lang="en-US" altLang="zh-CN" sz="2400" b="1">
                <a:latin typeface="Times New Roman" panose="02020603050405020304" pitchFamily="18" charset="0"/>
                <a:ea typeface="楷体_GB2312" pitchFamily="49" charset="-122"/>
              </a:rPr>
              <a:t>AX</a:t>
            </a:r>
            <a:r>
              <a:rPr lang="zh-CN" altLang="en-US" sz="2400" b="1" dirty="0">
                <a:latin typeface="Times New Roman" panose="02020603050405020304" pitchFamily="18" charset="0"/>
                <a:ea typeface="楷体_GB2312" pitchFamily="49" charset="-122"/>
              </a:rPr>
              <a:t>寄存器中</a:t>
            </a:r>
            <a:r>
              <a:rPr lang="zh-CN" altLang="en-US" sz="2400" b="1" dirty="0">
                <a:latin typeface="宋体" panose="02010600030101010101" pitchFamily="2" charset="-122"/>
              </a:rPr>
              <a:t> </a:t>
            </a:r>
            <a:endParaRPr lang="zh-CN" altLang="en-US" sz="2400" b="1">
              <a:latin typeface="宋体" panose="02010600030101010101" pitchFamily="2" charset="-122"/>
            </a:endParaRPr>
          </a:p>
          <a:p>
            <a:pPr marL="533400" lvl="0" indent="-533400" defTabSz="0">
              <a:lnSpc>
                <a:spcPct val="80000"/>
              </a:lnSpc>
              <a:buNone/>
              <a:tabLst>
                <a:tab pos="1520825" algn="l"/>
              </a:tabLst>
            </a:pPr>
            <a:r>
              <a:rPr lang="zh-CN" altLang="en-US" sz="2400" b="1">
                <a:latin typeface="宋体" panose="02010600030101010101" pitchFamily="2" charset="-122"/>
              </a:rPr>
              <a:t>   </a:t>
            </a:r>
            <a:r>
              <a:rPr lang="en-US" altLang="zh-CN" sz="2400" b="1" err="1">
                <a:latin typeface="宋体" panose="02010600030101010101" pitchFamily="2" charset="-122"/>
              </a:rPr>
              <a:t>cmp</a:t>
            </a:r>
            <a:r>
              <a:rPr lang="en-US" altLang="zh-CN" sz="2400" b="1">
                <a:latin typeface="宋体" panose="02010600030101010101" pitchFamily="2" charset="-122"/>
              </a:rPr>
              <a:t> </a:t>
            </a:r>
            <a:r>
              <a:rPr lang="en-US" altLang="zh-CN" sz="2400" b="1" err="1">
                <a:latin typeface="宋体" panose="02010600030101010101" pitchFamily="2" charset="-122"/>
              </a:rPr>
              <a:t>ax,bx</a:t>
            </a:r>
            <a:r>
              <a:rPr lang="en-US" altLang="zh-CN" sz="2400" b="1">
                <a:latin typeface="宋体" panose="02010600030101010101" pitchFamily="2" charset="-122"/>
              </a:rPr>
              <a:t>	</a:t>
            </a:r>
          </a:p>
          <a:p>
            <a:pPr marL="533400" lvl="0" indent="-533400" defTabSz="0">
              <a:lnSpc>
                <a:spcPct val="80000"/>
              </a:lnSpc>
              <a:buNone/>
              <a:tabLst>
                <a:tab pos="1520825" algn="l"/>
              </a:tabLst>
            </a:pPr>
            <a:r>
              <a:rPr lang="en-US" altLang="zh-CN" sz="2400" b="1">
                <a:latin typeface="宋体" panose="02010600030101010101" pitchFamily="2" charset="-122"/>
              </a:rPr>
              <a:t>	</a:t>
            </a:r>
            <a:r>
              <a:rPr lang="en-US" altLang="zh-CN" sz="2400" b="1" err="1">
                <a:solidFill>
                  <a:srgbClr val="0000FF"/>
                </a:solidFill>
                <a:latin typeface="宋体" panose="02010600030101010101" pitchFamily="2" charset="-122"/>
              </a:rPr>
              <a:t>jge</a:t>
            </a:r>
            <a:r>
              <a:rPr lang="en-US" altLang="zh-CN" sz="2400" b="1">
                <a:latin typeface="宋体" panose="02010600030101010101" pitchFamily="2" charset="-122"/>
              </a:rPr>
              <a:t> </a:t>
            </a:r>
            <a:r>
              <a:rPr lang="en-US" altLang="zh-CN" sz="2400" b="1">
                <a:solidFill>
                  <a:srgbClr val="FF00FF"/>
                </a:solidFill>
                <a:latin typeface="宋体" panose="02010600030101010101" pitchFamily="2" charset="-122"/>
              </a:rPr>
              <a:t>next</a:t>
            </a:r>
            <a:endParaRPr lang="zh-CN" altLang="en-US" sz="2400" b="1" dirty="0">
              <a:solidFill>
                <a:srgbClr val="FF00FF"/>
              </a:solidFill>
              <a:latin typeface="宋体" panose="02010600030101010101" pitchFamily="2" charset="-122"/>
            </a:endParaRPr>
          </a:p>
          <a:p>
            <a:pPr marL="533400" lvl="0" indent="-533400" defTabSz="0">
              <a:lnSpc>
                <a:spcPct val="80000"/>
              </a:lnSpc>
              <a:buNone/>
              <a:tabLst>
                <a:tab pos="1520825" algn="l"/>
              </a:tabLst>
            </a:pPr>
            <a:r>
              <a:rPr lang="zh-CN" altLang="en-US" sz="2400" b="1" dirty="0">
                <a:latin typeface="宋体" panose="02010600030101010101" pitchFamily="2" charset="-122"/>
              </a:rPr>
              <a:t>	</a:t>
            </a:r>
            <a:r>
              <a:rPr lang="en-US" altLang="zh-CN" sz="2400" b="1" err="1">
                <a:latin typeface="宋体" panose="02010600030101010101" pitchFamily="2" charset="-122"/>
              </a:rPr>
              <a:t>xchg</a:t>
            </a:r>
            <a:r>
              <a:rPr lang="en-US" altLang="zh-CN" sz="2400" b="1">
                <a:latin typeface="宋体" panose="02010600030101010101" pitchFamily="2" charset="-122"/>
              </a:rPr>
              <a:t> </a:t>
            </a:r>
            <a:r>
              <a:rPr lang="en-US" altLang="zh-CN" sz="2400" b="1" err="1">
                <a:latin typeface="宋体" panose="02010600030101010101" pitchFamily="2" charset="-122"/>
              </a:rPr>
              <a:t>ax,bx</a:t>
            </a:r>
            <a:r>
              <a:rPr lang="en-US" altLang="zh-CN" sz="2400" b="1">
                <a:latin typeface="宋体" panose="02010600030101010101" pitchFamily="2" charset="-122"/>
              </a:rPr>
              <a:t>	</a:t>
            </a:r>
            <a:endParaRPr lang="zh-CN" altLang="en-US" sz="2400" b="1" dirty="0">
              <a:latin typeface="宋体" panose="02010600030101010101" pitchFamily="2" charset="-122"/>
            </a:endParaRPr>
          </a:p>
          <a:p>
            <a:pPr marL="533400" lvl="0" indent="-533400" defTabSz="0">
              <a:lnSpc>
                <a:spcPct val="80000"/>
              </a:lnSpc>
              <a:buNone/>
              <a:tabLst>
                <a:tab pos="1520825" algn="l"/>
              </a:tabLst>
            </a:pPr>
            <a:r>
              <a:rPr lang="en-US" altLang="zh-CN" sz="2400" b="1">
                <a:solidFill>
                  <a:srgbClr val="FF00FF"/>
                </a:solidFill>
                <a:latin typeface="宋体" panose="02010600030101010101" pitchFamily="2" charset="-122"/>
              </a:rPr>
              <a:t>next</a:t>
            </a:r>
            <a:r>
              <a:rPr lang="en-US" altLang="zh-CN" sz="2400" b="1">
                <a:latin typeface="宋体" panose="02010600030101010101" pitchFamily="2" charset="-122"/>
              </a:rPr>
              <a:t>:	...</a:t>
            </a:r>
          </a:p>
        </p:txBody>
      </p:sp>
      <p:sp>
        <p:nvSpPr>
          <p:cNvPr id="502790" name="流程图: 可选过程 502789"/>
          <p:cNvSpPr/>
          <p:nvPr/>
        </p:nvSpPr>
        <p:spPr>
          <a:xfrm>
            <a:off x="3348038" y="5013325"/>
            <a:ext cx="5256212" cy="457200"/>
          </a:xfrm>
          <a:prstGeom prst="flowChartAlternateProcess">
            <a:avLst/>
          </a:prstGeom>
          <a:noFill/>
          <a:ln w="28575" cap="flat" cmpd="sng">
            <a:solidFill>
              <a:schemeClr val="accent1"/>
            </a:solidFill>
            <a:prstDash val="solid"/>
            <a:miter/>
            <a:headEnd type="none" w="med" len="med"/>
            <a:tailEnd type="none" w="med" len="med"/>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lgn="l">
              <a:lnSpc>
                <a:spcPct val="90000"/>
              </a:lnSpc>
            </a:pPr>
            <a:r>
              <a:rPr lang="zh-CN" altLang="en-US" sz="2400" b="1" dirty="0">
                <a:solidFill>
                  <a:schemeClr val="tx1"/>
                </a:solidFill>
              </a:rPr>
              <a:t>注意：根据数的不同选取不同的指令</a:t>
            </a:r>
          </a:p>
        </p:txBody>
      </p:sp>
      <p:sp>
        <p:nvSpPr>
          <p:cNvPr id="7" name="矩形 6"/>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02790"/>
                                        </p:tgtEl>
                                        <p:attrNameLst>
                                          <p:attrName>style.visibility</p:attrName>
                                        </p:attrNameLst>
                                      </p:cBhvr>
                                      <p:to>
                                        <p:strVal val="visible"/>
                                      </p:to>
                                    </p:set>
                                    <p:animEffect transition="in" filter="diamond(in)">
                                      <p:cBhvr>
                                        <p:cTn id="7" dur="2000"/>
                                        <p:tgtEl>
                                          <p:spTgt spid="502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90"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标题 505857"/>
          <p:cNvSpPr>
            <a:spLocks noGrp="1"/>
          </p:cNvSpPr>
          <p:nvPr>
            <p:ph type="title"/>
          </p:nvPr>
        </p:nvSpPr>
        <p:spPr>
          <a:xfrm>
            <a:off x="684213" y="836613"/>
            <a:ext cx="2243137" cy="417512"/>
          </a:xfrm>
          <a:ln/>
        </p:spPr>
        <p:txBody>
          <a:bodyPr anchor="ctr"/>
          <a:lstStyle/>
          <a:p>
            <a:pPr algn="l"/>
            <a:r>
              <a:rPr lang="en-US" altLang="zh-CN" sz="2400" b="1" dirty="0"/>
              <a:t>3</a:t>
            </a:r>
            <a:r>
              <a:rPr lang="zh-CN" altLang="en-US" sz="2400" b="1" dirty="0"/>
              <a:t>、循环指令</a:t>
            </a:r>
            <a:endParaRPr lang="zh-CN" altLang="en-US" sz="2400" b="1" dirty="0">
              <a:solidFill>
                <a:schemeClr val="tx1"/>
              </a:solidFill>
            </a:endParaRPr>
          </a:p>
        </p:txBody>
      </p:sp>
      <p:sp>
        <p:nvSpPr>
          <p:cNvPr id="505859" name="文本占位符 505858"/>
          <p:cNvSpPr>
            <a:spLocks noGrp="1"/>
          </p:cNvSpPr>
          <p:nvPr>
            <p:ph type="body" idx="1"/>
          </p:nvPr>
        </p:nvSpPr>
        <p:spPr>
          <a:xfrm>
            <a:off x="395288" y="5537200"/>
            <a:ext cx="8280400" cy="484188"/>
          </a:xfrm>
          <a:ln/>
        </p:spPr>
        <p:txBody>
          <a:bodyPr/>
          <a:lstStyle/>
          <a:p>
            <a:pPr>
              <a:lnSpc>
                <a:spcPct val="90000"/>
              </a:lnSpc>
              <a:buClrTx/>
              <a:buNone/>
            </a:pPr>
            <a:r>
              <a:rPr lang="zh-CN" altLang="en-US" sz="2400" b="1" dirty="0"/>
              <a:t>循环指令默认利用</a:t>
            </a:r>
            <a:r>
              <a:rPr lang="en-US" altLang="zh-CN" sz="2400" b="1">
                <a:solidFill>
                  <a:srgbClr val="FF00FF"/>
                </a:solidFill>
              </a:rPr>
              <a:t>CX</a:t>
            </a:r>
            <a:r>
              <a:rPr lang="zh-CN" altLang="en-US" sz="2400" b="1" dirty="0"/>
              <a:t>计数器，方便实现计数循环的程序结构</a:t>
            </a:r>
          </a:p>
        </p:txBody>
      </p:sp>
      <p:sp>
        <p:nvSpPr>
          <p:cNvPr id="505860" name="流程图: 可选过程 505859"/>
          <p:cNvSpPr/>
          <p:nvPr/>
        </p:nvSpPr>
        <p:spPr>
          <a:xfrm>
            <a:off x="1193800" y="1651000"/>
            <a:ext cx="7113588" cy="879475"/>
          </a:xfrm>
          <a:prstGeom prst="flowChartAlternateProcess">
            <a:avLst/>
          </a:prstGeom>
          <a:solidFill>
            <a:schemeClr val="bg1"/>
          </a:solidFill>
          <a:ln w="12700">
            <a:noFill/>
          </a:ln>
          <a:effectLst>
            <a:prstShdw prst="shdw13" dist="53882" dir="13499999">
              <a:srgbClr val="808080"/>
            </a:prstShdw>
          </a:effectLst>
        </p:spPr>
        <p:txBody>
          <a:bodyPr>
            <a:spAutoFit/>
          </a:bodyPr>
          <a:lstStyle/>
          <a:p>
            <a:pPr lvl="0" defTabSz="0">
              <a:spcBef>
                <a:spcPct val="50000"/>
              </a:spcBef>
              <a:tabLst>
                <a:tab pos="2289175" algn="l"/>
              </a:tabLst>
            </a:pPr>
            <a:r>
              <a:rPr lang="en-US" altLang="zh-CN" sz="2400" b="1">
                <a:latin typeface="宋体" panose="02010600030101010101" pitchFamily="2" charset="-122"/>
                <a:ea typeface="宋体" panose="02010600030101010101" pitchFamily="2" charset="-122"/>
              </a:rPr>
              <a:t>LOOP label	</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CX←CX</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1</a:t>
            </a:r>
            <a:r>
              <a:rPr lang="zh-CN" altLang="en-US" sz="2400" b="1">
                <a:solidFill>
                  <a:srgbClr val="0000FF"/>
                </a:solidFill>
                <a:latin typeface="宋体" panose="02010600030101010101" pitchFamily="2" charset="-122"/>
                <a:ea typeface="宋体" panose="02010600030101010101" pitchFamily="2" charset="-122"/>
              </a:rPr>
              <a:t>，</a:t>
            </a:r>
          </a:p>
          <a:p>
            <a:pPr lvl="0" defTabSz="0">
              <a:lnSpc>
                <a:spcPct val="50000"/>
              </a:lnSpc>
              <a:spcBef>
                <a:spcPct val="50000"/>
              </a:spcBef>
              <a:tabLst>
                <a:tab pos="2289175" algn="l"/>
              </a:tabLst>
            </a:pPr>
            <a:r>
              <a:rPr lang="zh-CN" altLang="en-US" sz="2400" b="1">
                <a:solidFill>
                  <a:srgbClr val="0000FF"/>
                </a:solidFill>
                <a:latin typeface="宋体" panose="02010600030101010101" pitchFamily="2" charset="-122"/>
                <a:ea typeface="宋体" panose="02010600030101010101" pitchFamily="2" charset="-122"/>
              </a:rPr>
              <a:t>    ；</a:t>
            </a:r>
            <a:r>
              <a:rPr lang="en-US" altLang="zh-CN" sz="2400" b="1">
                <a:solidFill>
                  <a:srgbClr val="0000FF"/>
                </a:solidFill>
                <a:latin typeface="宋体" panose="02010600030101010101" pitchFamily="2" charset="-122"/>
                <a:ea typeface="宋体" panose="02010600030101010101" pitchFamily="2" charset="-122"/>
              </a:rPr>
              <a:t>CX≠0</a:t>
            </a:r>
            <a:r>
              <a:rPr lang="zh-CN" altLang="en-US" sz="2400" b="1">
                <a:solidFill>
                  <a:srgbClr val="0000FF"/>
                </a:solidFill>
                <a:latin typeface="宋体" panose="02010600030101010101" pitchFamily="2" charset="-122"/>
                <a:ea typeface="宋体" panose="02010600030101010101" pitchFamily="2" charset="-122"/>
              </a:rPr>
              <a:t>，</a:t>
            </a:r>
            <a:r>
              <a:rPr lang="zh-CN" altLang="en-US" sz="2400" b="1" dirty="0">
                <a:solidFill>
                  <a:srgbClr val="0000FF"/>
                </a:solidFill>
                <a:latin typeface="宋体" panose="02010600030101010101" pitchFamily="2" charset="-122"/>
                <a:ea typeface="宋体" panose="02010600030101010101" pitchFamily="2" charset="-122"/>
              </a:rPr>
              <a:t>循环到标号</a:t>
            </a:r>
            <a:r>
              <a:rPr lang="en-US" altLang="zh-CN" sz="2400" b="1">
                <a:solidFill>
                  <a:srgbClr val="0000FF"/>
                </a:solidFill>
                <a:latin typeface="宋体" panose="02010600030101010101" pitchFamily="2" charset="-122"/>
                <a:ea typeface="宋体" panose="02010600030101010101" pitchFamily="2" charset="-122"/>
              </a:rPr>
              <a:t>label</a:t>
            </a:r>
          </a:p>
        </p:txBody>
      </p:sp>
      <p:sp>
        <p:nvSpPr>
          <p:cNvPr id="505861" name="流程图: 可选过程 505860"/>
          <p:cNvSpPr/>
          <p:nvPr/>
        </p:nvSpPr>
        <p:spPr>
          <a:xfrm>
            <a:off x="1193800" y="2697163"/>
            <a:ext cx="7113588" cy="879475"/>
          </a:xfrm>
          <a:prstGeom prst="flowChartAlternateProcess">
            <a:avLst/>
          </a:prstGeom>
          <a:solidFill>
            <a:schemeClr val="bg1"/>
          </a:solidFill>
          <a:ln w="12700">
            <a:noFill/>
          </a:ln>
          <a:effectLst>
            <a:prstShdw prst="shdw13" dist="53882" dir="13499999">
              <a:srgbClr val="808080"/>
            </a:prstShdw>
          </a:effectLst>
        </p:spPr>
        <p:txBody>
          <a:bodyPr>
            <a:spAutoFit/>
          </a:bodyPr>
          <a:lstStyle/>
          <a:p>
            <a:pPr lvl="0" defTabSz="0">
              <a:spcBef>
                <a:spcPct val="50000"/>
              </a:spcBef>
              <a:tabLst>
                <a:tab pos="2289175" algn="l"/>
              </a:tabLst>
            </a:pPr>
            <a:r>
              <a:rPr lang="en-US" altLang="zh-CN" sz="2400" b="1">
                <a:latin typeface="宋体" panose="02010600030101010101" pitchFamily="2" charset="-122"/>
                <a:ea typeface="宋体" panose="02010600030101010101" pitchFamily="2" charset="-122"/>
              </a:rPr>
              <a:t>LOOPZ label	</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CX←CX</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1</a:t>
            </a:r>
            <a:r>
              <a:rPr lang="zh-CN" altLang="en-US" sz="2400" b="1">
                <a:solidFill>
                  <a:srgbClr val="0000FF"/>
                </a:solidFill>
                <a:latin typeface="宋体" panose="02010600030101010101" pitchFamily="2" charset="-122"/>
                <a:ea typeface="宋体" panose="02010600030101010101" pitchFamily="2" charset="-122"/>
              </a:rPr>
              <a:t>，</a:t>
            </a:r>
          </a:p>
          <a:p>
            <a:pPr lvl="0" defTabSz="0">
              <a:lnSpc>
                <a:spcPct val="50000"/>
              </a:lnSpc>
              <a:spcBef>
                <a:spcPct val="50000"/>
              </a:spcBef>
              <a:tabLst>
                <a:tab pos="2289175" algn="l"/>
              </a:tabLst>
            </a:pPr>
            <a:r>
              <a:rPr lang="zh-CN" altLang="en-US" sz="2400" b="1">
                <a:solidFill>
                  <a:srgbClr val="0000FF"/>
                </a:solidFill>
                <a:latin typeface="宋体" panose="02010600030101010101" pitchFamily="2" charset="-122"/>
                <a:ea typeface="宋体" panose="02010600030101010101" pitchFamily="2" charset="-122"/>
              </a:rPr>
              <a:t>    ；</a:t>
            </a:r>
            <a:r>
              <a:rPr lang="en-US" altLang="zh-CN" sz="2400" b="1">
                <a:solidFill>
                  <a:srgbClr val="0000FF"/>
                </a:solidFill>
                <a:latin typeface="宋体" panose="02010600030101010101" pitchFamily="2" charset="-122"/>
                <a:ea typeface="宋体" panose="02010600030101010101" pitchFamily="2" charset="-122"/>
              </a:rPr>
              <a:t>CX≠0</a:t>
            </a:r>
            <a:r>
              <a:rPr lang="zh-CN" altLang="en-US" sz="2400" b="1">
                <a:solidFill>
                  <a:srgbClr val="0000FF"/>
                </a:solidFill>
                <a:latin typeface="宋体" panose="02010600030101010101" pitchFamily="2" charset="-122"/>
                <a:ea typeface="宋体" panose="02010600030101010101" pitchFamily="2" charset="-122"/>
              </a:rPr>
              <a:t>且</a:t>
            </a:r>
            <a:r>
              <a:rPr lang="en-US" altLang="zh-CN" sz="2400" b="1">
                <a:solidFill>
                  <a:srgbClr val="0000FF"/>
                </a:solidFill>
                <a:latin typeface="宋体" panose="02010600030101010101" pitchFamily="2" charset="-122"/>
                <a:ea typeface="宋体" panose="02010600030101010101" pitchFamily="2" charset="-122"/>
              </a:rPr>
              <a:t>ZF</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1</a:t>
            </a:r>
            <a:r>
              <a:rPr lang="zh-CN" altLang="en-US" sz="2400" b="1">
                <a:solidFill>
                  <a:srgbClr val="0000FF"/>
                </a:solidFill>
                <a:latin typeface="宋体" panose="02010600030101010101" pitchFamily="2" charset="-122"/>
                <a:ea typeface="宋体" panose="02010600030101010101" pitchFamily="2" charset="-122"/>
              </a:rPr>
              <a:t>，</a:t>
            </a:r>
            <a:r>
              <a:rPr lang="zh-CN" altLang="en-US" sz="2400" b="1" dirty="0">
                <a:solidFill>
                  <a:srgbClr val="0000FF"/>
                </a:solidFill>
                <a:latin typeface="宋体" panose="02010600030101010101" pitchFamily="2" charset="-122"/>
                <a:ea typeface="宋体" panose="02010600030101010101" pitchFamily="2" charset="-122"/>
              </a:rPr>
              <a:t>循环到标号</a:t>
            </a:r>
            <a:r>
              <a:rPr lang="en-US" altLang="zh-CN" sz="2400" b="1">
                <a:solidFill>
                  <a:srgbClr val="0000FF"/>
                </a:solidFill>
                <a:latin typeface="宋体" panose="02010600030101010101" pitchFamily="2" charset="-122"/>
                <a:ea typeface="宋体" panose="02010600030101010101" pitchFamily="2" charset="-122"/>
              </a:rPr>
              <a:t>label</a:t>
            </a:r>
          </a:p>
        </p:txBody>
      </p:sp>
      <p:sp>
        <p:nvSpPr>
          <p:cNvPr id="505862" name="流程图: 可选过程 505861"/>
          <p:cNvSpPr/>
          <p:nvPr/>
        </p:nvSpPr>
        <p:spPr>
          <a:xfrm>
            <a:off x="1200150" y="3786188"/>
            <a:ext cx="7099300" cy="682625"/>
          </a:xfrm>
          <a:prstGeom prst="flowChartAlternateProcess">
            <a:avLst/>
          </a:prstGeom>
          <a:solidFill>
            <a:schemeClr val="bg1"/>
          </a:solidFill>
          <a:ln w="12700">
            <a:noFill/>
          </a:ln>
          <a:effectLst>
            <a:prstShdw prst="shdw13" dist="53882" dir="13499999">
              <a:srgbClr val="808080"/>
            </a:prstShdw>
          </a:effectLst>
        </p:spPr>
        <p:txBody>
          <a:bodyPr>
            <a:spAutoFit/>
          </a:bodyPr>
          <a:lstStyle/>
          <a:p>
            <a:pPr lvl="0" defTabSz="0">
              <a:lnSpc>
                <a:spcPct val="50000"/>
              </a:lnSpc>
              <a:spcBef>
                <a:spcPct val="50000"/>
              </a:spcBef>
              <a:tabLst>
                <a:tab pos="2289175" algn="l"/>
              </a:tabLst>
            </a:pPr>
            <a:r>
              <a:rPr lang="en-US" altLang="zh-CN" sz="2400" b="1">
                <a:latin typeface="宋体" panose="02010600030101010101" pitchFamily="2" charset="-122"/>
                <a:ea typeface="宋体" panose="02010600030101010101" pitchFamily="2" charset="-122"/>
              </a:rPr>
              <a:t>LOOPNZ label	</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CX←CX</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1</a:t>
            </a:r>
            <a:r>
              <a:rPr lang="zh-CN" altLang="en-US" sz="2400" b="1">
                <a:solidFill>
                  <a:srgbClr val="0000FF"/>
                </a:solidFill>
                <a:latin typeface="宋体" panose="02010600030101010101" pitchFamily="2" charset="-122"/>
                <a:ea typeface="宋体" panose="02010600030101010101" pitchFamily="2" charset="-122"/>
              </a:rPr>
              <a:t>，</a:t>
            </a:r>
          </a:p>
          <a:p>
            <a:pPr lvl="0" defTabSz="0">
              <a:lnSpc>
                <a:spcPct val="50000"/>
              </a:lnSpc>
              <a:spcBef>
                <a:spcPct val="50000"/>
              </a:spcBef>
              <a:tabLst>
                <a:tab pos="2289175" algn="l"/>
              </a:tabLst>
            </a:pPr>
            <a:r>
              <a:rPr lang="zh-CN" altLang="en-US" sz="2400" b="1">
                <a:solidFill>
                  <a:srgbClr val="0000FF"/>
                </a:solidFill>
                <a:latin typeface="宋体" panose="02010600030101010101" pitchFamily="2" charset="-122"/>
                <a:ea typeface="宋体" panose="02010600030101010101" pitchFamily="2" charset="-122"/>
              </a:rPr>
              <a:t>    ；</a:t>
            </a:r>
            <a:r>
              <a:rPr lang="en-US" altLang="zh-CN" sz="2400" b="1">
                <a:solidFill>
                  <a:srgbClr val="0000FF"/>
                </a:solidFill>
                <a:latin typeface="宋体" panose="02010600030101010101" pitchFamily="2" charset="-122"/>
                <a:ea typeface="宋体" panose="02010600030101010101" pitchFamily="2" charset="-122"/>
              </a:rPr>
              <a:t>CX≠0</a:t>
            </a:r>
            <a:r>
              <a:rPr lang="zh-CN" altLang="en-US" sz="2400" b="1">
                <a:solidFill>
                  <a:srgbClr val="0000FF"/>
                </a:solidFill>
                <a:latin typeface="宋体" panose="02010600030101010101" pitchFamily="2" charset="-122"/>
                <a:ea typeface="宋体" panose="02010600030101010101" pitchFamily="2" charset="-122"/>
              </a:rPr>
              <a:t>且</a:t>
            </a:r>
            <a:r>
              <a:rPr lang="en-US" altLang="zh-CN" sz="2400" b="1">
                <a:solidFill>
                  <a:srgbClr val="0000FF"/>
                </a:solidFill>
                <a:latin typeface="宋体" panose="02010600030101010101" pitchFamily="2" charset="-122"/>
                <a:ea typeface="宋体" panose="02010600030101010101" pitchFamily="2" charset="-122"/>
              </a:rPr>
              <a:t>ZF</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0</a:t>
            </a:r>
            <a:r>
              <a:rPr lang="zh-CN" altLang="en-US" sz="2400" b="1">
                <a:solidFill>
                  <a:srgbClr val="0000FF"/>
                </a:solidFill>
                <a:latin typeface="宋体" panose="02010600030101010101" pitchFamily="2" charset="-122"/>
                <a:ea typeface="宋体" panose="02010600030101010101" pitchFamily="2" charset="-122"/>
              </a:rPr>
              <a:t>，</a:t>
            </a:r>
            <a:r>
              <a:rPr lang="zh-CN" altLang="en-US" sz="2400" b="1" dirty="0">
                <a:solidFill>
                  <a:srgbClr val="0000FF"/>
                </a:solidFill>
                <a:latin typeface="宋体" panose="02010600030101010101" pitchFamily="2" charset="-122"/>
                <a:ea typeface="宋体" panose="02010600030101010101" pitchFamily="2" charset="-122"/>
              </a:rPr>
              <a:t>循环到标号</a:t>
            </a:r>
            <a:r>
              <a:rPr lang="en-US" altLang="zh-CN" sz="2400" b="1">
                <a:solidFill>
                  <a:srgbClr val="0000FF"/>
                </a:solidFill>
                <a:latin typeface="宋体" panose="02010600030101010101" pitchFamily="2" charset="-122"/>
                <a:ea typeface="宋体" panose="02010600030101010101" pitchFamily="2" charset="-122"/>
              </a:rPr>
              <a:t>label</a:t>
            </a:r>
          </a:p>
        </p:txBody>
      </p:sp>
      <p:sp>
        <p:nvSpPr>
          <p:cNvPr id="505863" name="流程图: 可选过程 505862"/>
          <p:cNvSpPr/>
          <p:nvPr/>
        </p:nvSpPr>
        <p:spPr>
          <a:xfrm>
            <a:off x="1198563" y="4814888"/>
            <a:ext cx="7119937" cy="485775"/>
          </a:xfrm>
          <a:prstGeom prst="flowChartAlternateProcess">
            <a:avLst/>
          </a:prstGeom>
          <a:solidFill>
            <a:schemeClr val="bg1"/>
          </a:solidFill>
          <a:ln w="12700">
            <a:noFill/>
          </a:ln>
          <a:effectLst>
            <a:prstShdw prst="shdw13" dist="53882" dir="13499999">
              <a:srgbClr val="808080"/>
            </a:prstShdw>
          </a:effectLst>
        </p:spPr>
        <p:txBody>
          <a:bodyPr>
            <a:spAutoFit/>
          </a:bodyPr>
          <a:lstStyle/>
          <a:p>
            <a:pPr lvl="0" defTabSz="0">
              <a:spcBef>
                <a:spcPct val="50000"/>
              </a:spcBef>
              <a:tabLst>
                <a:tab pos="2289175" algn="l"/>
              </a:tabLst>
            </a:pPr>
            <a:r>
              <a:rPr lang="en-US" altLang="zh-CN" sz="2400" b="1">
                <a:latin typeface="宋体" panose="02010600030101010101" pitchFamily="2" charset="-122"/>
                <a:ea typeface="宋体" panose="02010600030101010101" pitchFamily="2" charset="-122"/>
              </a:rPr>
              <a:t>JCXZ label	</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CX</a:t>
            </a:r>
            <a:r>
              <a:rPr lang="zh-CN" altLang="en-US" sz="2400" b="1">
                <a:solidFill>
                  <a:srgbClr val="0000FF"/>
                </a:solidFill>
                <a:latin typeface="宋体" panose="02010600030101010101" pitchFamily="2" charset="-122"/>
                <a:ea typeface="宋体" panose="02010600030101010101" pitchFamily="2" charset="-122"/>
              </a:rPr>
              <a:t>＝</a:t>
            </a:r>
            <a:r>
              <a:rPr lang="en-US" altLang="zh-CN" sz="2400" b="1">
                <a:solidFill>
                  <a:srgbClr val="0000FF"/>
                </a:solidFill>
                <a:latin typeface="宋体" panose="02010600030101010101" pitchFamily="2" charset="-122"/>
                <a:ea typeface="宋体" panose="02010600030101010101" pitchFamily="2" charset="-122"/>
              </a:rPr>
              <a:t>0</a:t>
            </a:r>
            <a:r>
              <a:rPr lang="zh-CN" altLang="en-US" sz="2400" b="1">
                <a:solidFill>
                  <a:srgbClr val="0000FF"/>
                </a:solidFill>
                <a:latin typeface="宋体" panose="02010600030101010101" pitchFamily="2" charset="-122"/>
                <a:ea typeface="宋体" panose="02010600030101010101" pitchFamily="2" charset="-122"/>
              </a:rPr>
              <a:t>，</a:t>
            </a:r>
            <a:r>
              <a:rPr lang="zh-CN" altLang="en-US" sz="2400" b="1" dirty="0">
                <a:solidFill>
                  <a:srgbClr val="0000FF"/>
                </a:solidFill>
                <a:latin typeface="宋体" panose="02010600030101010101" pitchFamily="2" charset="-122"/>
                <a:ea typeface="宋体" panose="02010600030101010101" pitchFamily="2" charset="-122"/>
              </a:rPr>
              <a:t>转移到标号</a:t>
            </a:r>
            <a:r>
              <a:rPr lang="en-US" altLang="zh-CN" sz="2400" b="1">
                <a:solidFill>
                  <a:srgbClr val="0000FF"/>
                </a:solidFill>
                <a:latin typeface="宋体" panose="02010600030101010101" pitchFamily="2" charset="-122"/>
                <a:ea typeface="宋体" panose="02010600030101010101" pitchFamily="2" charset="-122"/>
              </a:rPr>
              <a:t>label</a:t>
            </a:r>
          </a:p>
        </p:txBody>
      </p:sp>
      <p:sp>
        <p:nvSpPr>
          <p:cNvPr id="9" name="矩形 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22" name="矩形 525321"/>
          <p:cNvSpPr/>
          <p:nvPr/>
        </p:nvSpPr>
        <p:spPr>
          <a:xfrm>
            <a:off x="395289" y="976739"/>
            <a:ext cx="7417072" cy="830997"/>
          </a:xfrm>
          <a:prstGeom prst="rect">
            <a:avLst/>
          </a:prstGeom>
          <a:noFill/>
          <a:ln w="9525">
            <a:noFill/>
          </a:ln>
        </p:spPr>
        <p:txBody>
          <a:bodyPr wrap="square" anchor="ctr">
            <a:spAutoFit/>
          </a:bodyPr>
          <a:lstStyle/>
          <a:p>
            <a:pPr lvl="0">
              <a:buClrTx/>
            </a:pPr>
            <a:r>
              <a:rPr lang="zh-CN" altLang="en-US" sz="2400" b="1" dirty="0">
                <a:latin typeface="Arial" panose="020B0604020202020204" pitchFamily="34" charset="0"/>
                <a:ea typeface="宋体" panose="02010600030101010101" pitchFamily="2" charset="-122"/>
              </a:rPr>
              <a:t>示例：</a:t>
            </a:r>
            <a:r>
              <a:rPr lang="en-US" altLang="zh-CN" sz="2400" b="1" dirty="0">
                <a:latin typeface="Arial" panose="020B0604020202020204" pitchFamily="34" charset="0"/>
                <a:ea typeface="宋体" panose="02010600030101010101" pitchFamily="2" charset="-122"/>
              </a:rPr>
              <a:t>LOOP</a:t>
            </a:r>
            <a:r>
              <a:rPr lang="zh-CN" altLang="en-US" sz="2400" b="1" dirty="0">
                <a:latin typeface="Arial" panose="020B0604020202020204" pitchFamily="34" charset="0"/>
                <a:ea typeface="宋体" panose="02010600030101010101" pitchFamily="2" charset="-122"/>
              </a:rPr>
              <a:t>指令应用例子。编写一程序段，实现求</a:t>
            </a:r>
            <a:r>
              <a:rPr lang="en-US" altLang="zh-CN" sz="2400" b="1" dirty="0">
                <a:latin typeface="Arial" panose="020B0604020202020204" pitchFamily="34" charset="0"/>
                <a:ea typeface="宋体" panose="02010600030101010101" pitchFamily="2" charset="-122"/>
              </a:rPr>
              <a:t>1+2+…+100</a:t>
            </a:r>
            <a:r>
              <a:rPr lang="zh-CN" altLang="en-US" sz="2400" b="1" dirty="0">
                <a:latin typeface="Arial" panose="020B0604020202020204" pitchFamily="34" charset="0"/>
                <a:ea typeface="宋体" panose="02010600030101010101" pitchFamily="2" charset="-122"/>
              </a:rPr>
              <a:t>之和，并把结果存入</a:t>
            </a:r>
            <a:r>
              <a:rPr lang="en-US" altLang="zh-CN" sz="2400" b="1" dirty="0">
                <a:latin typeface="Arial" panose="020B0604020202020204" pitchFamily="34" charset="0"/>
                <a:ea typeface="宋体" panose="02010600030101010101" pitchFamily="2" charset="-122"/>
              </a:rPr>
              <a:t>AX</a:t>
            </a:r>
            <a:r>
              <a:rPr lang="zh-CN" altLang="en-US" sz="2400" b="1" dirty="0">
                <a:latin typeface="Arial" panose="020B0604020202020204" pitchFamily="34" charset="0"/>
                <a:ea typeface="宋体" panose="02010600030101010101" pitchFamily="2" charset="-122"/>
              </a:rPr>
              <a:t>中。</a:t>
            </a:r>
            <a:endParaRPr lang="en-US" altLang="zh-CN" sz="2400" b="1" dirty="0">
              <a:latin typeface="Arial" panose="020B0604020202020204" pitchFamily="34" charset="0"/>
              <a:ea typeface="宋体" panose="02010600030101010101" pitchFamily="2" charset="-122"/>
            </a:endParaRPr>
          </a:p>
        </p:txBody>
      </p:sp>
      <p:pic>
        <p:nvPicPr>
          <p:cNvPr id="525324" name="图片 525323" descr="142"/>
          <p:cNvPicPr/>
          <p:nvPr/>
        </p:nvPicPr>
        <p:blipFill>
          <a:blip r:embed="rId2"/>
          <a:stretch>
            <a:fillRect/>
          </a:stretch>
        </p:blipFill>
        <p:spPr>
          <a:xfrm rot="5400000">
            <a:off x="2444874" y="3968750"/>
            <a:ext cx="4325938" cy="76200"/>
          </a:xfrm>
          <a:prstGeom prst="rect">
            <a:avLst/>
          </a:prstGeom>
          <a:noFill/>
          <a:ln w="9525">
            <a:noFill/>
          </a:ln>
        </p:spPr>
      </p:pic>
      <p:sp>
        <p:nvSpPr>
          <p:cNvPr id="525325" name="矩形 525324"/>
          <p:cNvSpPr/>
          <p:nvPr/>
        </p:nvSpPr>
        <p:spPr>
          <a:xfrm>
            <a:off x="4931147" y="2205038"/>
            <a:ext cx="3114675" cy="3013075"/>
          </a:xfrm>
          <a:prstGeom prst="rect">
            <a:avLst/>
          </a:prstGeom>
          <a:noFill/>
          <a:ln w="9525">
            <a:noFill/>
          </a:ln>
        </p:spPr>
        <p:txBody>
          <a:bodyPr wrap="none" anchor="ctr">
            <a:spAutoFit/>
          </a:bodyPr>
          <a:lstStyle/>
          <a:p>
            <a:pPr lvl="0" indent="1000125">
              <a:buClrTx/>
            </a:pPr>
            <a:r>
              <a:rPr lang="zh-CN" altLang="en-US" sz="2400" b="1" dirty="0">
                <a:latin typeface="Arial" panose="020B0604020202020204" pitchFamily="34" charset="0"/>
                <a:ea typeface="宋体" panose="02010600030101010101" pitchFamily="2" charset="-122"/>
              </a:rPr>
              <a:t>┆</a:t>
            </a:r>
          </a:p>
          <a:p>
            <a:pPr lvl="0" indent="1000125">
              <a:buClrTx/>
            </a:pPr>
            <a:r>
              <a:rPr lang="en-US" altLang="zh-CN" sz="2400" b="1">
                <a:latin typeface="Arial" panose="020B0604020202020204" pitchFamily="34" charset="0"/>
                <a:ea typeface="宋体" panose="02010600030101010101" pitchFamily="2" charset="-122"/>
              </a:rPr>
              <a:t>XOR  AX,AX</a:t>
            </a:r>
          </a:p>
          <a:p>
            <a:pPr lvl="0" indent="1000125">
              <a:buClrTx/>
            </a:pPr>
            <a:r>
              <a:rPr lang="en-US" altLang="zh-CN" sz="2400" b="1">
                <a:latin typeface="Arial" panose="020B0604020202020204" pitchFamily="34" charset="0"/>
                <a:ea typeface="宋体" panose="02010600030101010101" pitchFamily="2" charset="-122"/>
              </a:rPr>
              <a:t>MOV  CX,100</a:t>
            </a:r>
          </a:p>
          <a:p>
            <a:pPr lvl="0" indent="1000125">
              <a:buClrTx/>
            </a:pPr>
            <a:r>
              <a:rPr lang="en-US" altLang="zh-CN" sz="2400" b="1">
                <a:latin typeface="Arial" panose="020B0604020202020204" pitchFamily="34" charset="0"/>
                <a:ea typeface="宋体" panose="02010600030101010101" pitchFamily="2" charset="-122"/>
              </a:rPr>
              <a:t>MOV  BX, 1</a:t>
            </a:r>
          </a:p>
          <a:p>
            <a:pPr lvl="0" indent="1000125">
              <a:buClrTx/>
            </a:pPr>
            <a:r>
              <a:rPr lang="en-US" altLang="zh-CN" sz="2400" b="1">
                <a:latin typeface="Arial" panose="020B0604020202020204" pitchFamily="34" charset="0"/>
                <a:ea typeface="宋体" panose="02010600030101010101" pitchFamily="2" charset="-122"/>
              </a:rPr>
              <a:t>AGAIN:ADC  AX, BX</a:t>
            </a:r>
          </a:p>
          <a:p>
            <a:pPr lvl="0" indent="1000125">
              <a:buClrTx/>
            </a:pPr>
            <a:r>
              <a:rPr lang="en-US" altLang="zh-CN" sz="2400" b="1">
                <a:latin typeface="Arial" panose="020B0604020202020204" pitchFamily="34" charset="0"/>
                <a:ea typeface="宋体" panose="02010600030101010101" pitchFamily="2" charset="-122"/>
              </a:rPr>
              <a:t>INC  BX</a:t>
            </a:r>
          </a:p>
          <a:p>
            <a:pPr lvl="0" indent="1000125">
              <a:buClrTx/>
            </a:pPr>
            <a:r>
              <a:rPr lang="en-US" altLang="zh-CN" sz="2400" b="1">
                <a:latin typeface="Arial" panose="020B0604020202020204" pitchFamily="34" charset="0"/>
                <a:ea typeface="宋体" panose="02010600030101010101" pitchFamily="2" charset="-122"/>
              </a:rPr>
              <a:t>LOOP  AGAIN</a:t>
            </a:r>
          </a:p>
          <a:p>
            <a:pPr lvl="0" indent="1000125">
              <a:buClrTx/>
            </a:pPr>
            <a:r>
              <a:rPr lang="en-US" altLang="zh-CN" sz="2400" b="1">
                <a:latin typeface="Arial" panose="020B0604020202020204" pitchFamily="34" charset="0"/>
                <a:ea typeface="宋体" panose="02010600030101010101" pitchFamily="2" charset="-122"/>
              </a:rPr>
              <a:t>┆ </a:t>
            </a:r>
          </a:p>
        </p:txBody>
      </p:sp>
      <p:sp>
        <p:nvSpPr>
          <p:cNvPr id="525326" name="矩形 525325"/>
          <p:cNvSpPr/>
          <p:nvPr/>
        </p:nvSpPr>
        <p:spPr>
          <a:xfrm>
            <a:off x="179512" y="2409825"/>
            <a:ext cx="3743325" cy="2282825"/>
          </a:xfrm>
          <a:prstGeom prst="rect">
            <a:avLst/>
          </a:prstGeom>
          <a:noFill/>
          <a:ln w="9525">
            <a:noFill/>
          </a:ln>
        </p:spPr>
        <p:txBody>
          <a:bodyPr>
            <a:spAutoFit/>
          </a:bodyPr>
          <a:lstStyle/>
          <a:p>
            <a:pPr lvl="0">
              <a:buClrTx/>
            </a:pPr>
            <a:r>
              <a:rPr lang="zh-CN" altLang="en-US" sz="2400" b="1" dirty="0">
                <a:latin typeface="Arial" panose="020B0604020202020204" pitchFamily="34" charset="0"/>
                <a:ea typeface="宋体" panose="02010600030101010101" pitchFamily="2" charset="-122"/>
              </a:rPr>
              <a:t>                    ┆</a:t>
            </a:r>
          </a:p>
          <a:p>
            <a:pPr lvl="0">
              <a:buClrTx/>
            </a:pPr>
            <a:r>
              <a:rPr lang="en-US" altLang="zh-CN" sz="2400" b="1">
                <a:latin typeface="Arial" panose="020B0604020202020204" pitchFamily="34" charset="0"/>
                <a:ea typeface="宋体" panose="02010600030101010101" pitchFamily="2" charset="-122"/>
              </a:rPr>
              <a:t>              XOR  AX,AX</a:t>
            </a:r>
          </a:p>
          <a:p>
            <a:pPr lvl="0">
              <a:buClrTx/>
            </a:pPr>
            <a:r>
              <a:rPr lang="en-US" altLang="zh-CN" sz="2400" b="1">
                <a:latin typeface="Arial" panose="020B0604020202020204" pitchFamily="34" charset="0"/>
                <a:ea typeface="宋体" panose="02010600030101010101" pitchFamily="2" charset="-122"/>
              </a:rPr>
              <a:t>              MOV  CX,100</a:t>
            </a:r>
          </a:p>
          <a:p>
            <a:pPr lvl="0">
              <a:buClrTx/>
            </a:pPr>
            <a:r>
              <a:rPr lang="en-US" altLang="zh-CN" sz="2400" b="1">
                <a:latin typeface="Arial" panose="020B0604020202020204" pitchFamily="34" charset="0"/>
                <a:ea typeface="宋体" panose="02010600030101010101" pitchFamily="2" charset="-122"/>
              </a:rPr>
              <a:t>AGAIN: ADC  AX,CX</a:t>
            </a:r>
          </a:p>
          <a:p>
            <a:pPr lvl="0">
              <a:buClrTx/>
            </a:pPr>
            <a:r>
              <a:rPr lang="en-US" altLang="zh-CN" sz="2400" b="1">
                <a:latin typeface="Arial" panose="020B0604020202020204" pitchFamily="34" charset="0"/>
                <a:ea typeface="宋体" panose="02010600030101010101" pitchFamily="2" charset="-122"/>
              </a:rPr>
              <a:t>              </a:t>
            </a:r>
            <a:r>
              <a:rPr lang="en-US" altLang="zh-CN" sz="2400" b="1">
                <a:solidFill>
                  <a:srgbClr val="0000FF"/>
                </a:solidFill>
                <a:latin typeface="Arial" panose="020B0604020202020204" pitchFamily="34" charset="0"/>
                <a:ea typeface="宋体" panose="02010600030101010101" pitchFamily="2" charset="-122"/>
              </a:rPr>
              <a:t>LOOP</a:t>
            </a:r>
            <a:r>
              <a:rPr lang="en-US" altLang="zh-CN" sz="2400" b="1">
                <a:latin typeface="Arial" panose="020B0604020202020204" pitchFamily="34" charset="0"/>
                <a:ea typeface="宋体" panose="02010600030101010101" pitchFamily="2" charset="-122"/>
              </a:rPr>
              <a:t>  AGAIN </a:t>
            </a:r>
          </a:p>
          <a:p>
            <a:pPr lvl="0">
              <a:buClrTx/>
            </a:pPr>
            <a:r>
              <a:rPr lang="en-US" altLang="zh-CN" sz="2400" b="1">
                <a:latin typeface="Arial" panose="020B0604020202020204" pitchFamily="34" charset="0"/>
                <a:ea typeface="宋体" panose="02010600030101010101" pitchFamily="2" charset="-122"/>
              </a:rPr>
              <a:t>                    ┆</a:t>
            </a:r>
          </a:p>
        </p:txBody>
      </p:sp>
      <p:sp>
        <p:nvSpPr>
          <p:cNvPr id="525327" name="矩形 525326"/>
          <p:cNvSpPr/>
          <p:nvPr/>
        </p:nvSpPr>
        <p:spPr>
          <a:xfrm>
            <a:off x="179512" y="5227638"/>
            <a:ext cx="4175125" cy="822325"/>
          </a:xfrm>
          <a:prstGeom prst="rect">
            <a:avLst/>
          </a:prstGeom>
          <a:noFill/>
          <a:ln w="9525">
            <a:noFill/>
          </a:ln>
        </p:spPr>
        <p:txBody>
          <a:bodyPr>
            <a:spAutoFit/>
          </a:bodyPr>
          <a:lstStyle/>
          <a:p>
            <a:pPr lvl="0">
              <a:buClrTx/>
            </a:pPr>
            <a:r>
              <a:rPr lang="zh-CN" altLang="en-US" sz="2400" b="1" dirty="0">
                <a:solidFill>
                  <a:srgbClr val="0000FF"/>
                </a:solidFill>
                <a:latin typeface="Arial" panose="020B0604020202020204" pitchFamily="34" charset="0"/>
                <a:ea typeface="宋体" panose="02010600030101010101" pitchFamily="2" charset="-122"/>
              </a:rPr>
              <a:t>方法</a:t>
            </a:r>
            <a:r>
              <a:rPr lang="en-US" altLang="zh-CN" sz="2400" b="1">
                <a:solidFill>
                  <a:srgbClr val="0000FF"/>
                </a:solidFill>
                <a:latin typeface="Arial" panose="020B0604020202020204" pitchFamily="34" charset="0"/>
                <a:ea typeface="宋体" panose="02010600030101010101" pitchFamily="2" charset="-122"/>
              </a:rPr>
              <a:t>1</a:t>
            </a:r>
            <a:r>
              <a:rPr lang="zh-CN" altLang="en-US" sz="2400" b="1" dirty="0">
                <a:solidFill>
                  <a:srgbClr val="0000FF"/>
                </a:solidFill>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利用循环计数器</a:t>
            </a:r>
            <a:r>
              <a:rPr lang="en-US" altLang="zh-CN" sz="2400" b="1">
                <a:latin typeface="Arial" panose="020B0604020202020204" pitchFamily="34" charset="0"/>
                <a:ea typeface="宋体" panose="02010600030101010101" pitchFamily="2" charset="-122"/>
              </a:rPr>
              <a:t>CX</a:t>
            </a:r>
            <a:r>
              <a:rPr lang="zh-CN" altLang="en-US" sz="2400" b="1" dirty="0">
                <a:latin typeface="Arial" panose="020B0604020202020204" pitchFamily="34" charset="0"/>
                <a:ea typeface="宋体" panose="02010600030101010101" pitchFamily="2" charset="-122"/>
              </a:rPr>
              <a:t>进行累加</a:t>
            </a:r>
          </a:p>
        </p:txBody>
      </p:sp>
      <p:sp>
        <p:nvSpPr>
          <p:cNvPr id="525328" name="矩形 525327"/>
          <p:cNvSpPr/>
          <p:nvPr/>
        </p:nvSpPr>
        <p:spPr>
          <a:xfrm>
            <a:off x="4715247" y="5229225"/>
            <a:ext cx="3525837" cy="822325"/>
          </a:xfrm>
          <a:prstGeom prst="rect">
            <a:avLst/>
          </a:prstGeom>
          <a:noFill/>
          <a:ln w="9525">
            <a:noFill/>
          </a:ln>
        </p:spPr>
        <p:txBody>
          <a:bodyPr anchor="ctr">
            <a:spAutoFit/>
          </a:bodyPr>
          <a:lstStyle/>
          <a:p>
            <a:pPr lvl="0"/>
            <a:r>
              <a:rPr lang="zh-CN" altLang="en-US" sz="2400" b="1" dirty="0">
                <a:solidFill>
                  <a:srgbClr val="0000FF"/>
                </a:solidFill>
                <a:latin typeface="Arial" panose="020B0604020202020204" pitchFamily="34" charset="0"/>
                <a:ea typeface="宋体" panose="02010600030101010101" pitchFamily="2" charset="-122"/>
              </a:rPr>
              <a:t>方法</a:t>
            </a:r>
            <a:r>
              <a:rPr lang="en-US" altLang="zh-CN" sz="2400" b="1">
                <a:solidFill>
                  <a:srgbClr val="0000FF"/>
                </a:solidFill>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：不用循环计数器</a:t>
            </a:r>
            <a:r>
              <a:rPr lang="en-US" altLang="zh-CN" sz="2400" b="1">
                <a:latin typeface="Arial" panose="020B0604020202020204" pitchFamily="34" charset="0"/>
                <a:ea typeface="宋体" panose="02010600030101010101" pitchFamily="2" charset="-122"/>
              </a:rPr>
              <a:t>CX</a:t>
            </a:r>
            <a:r>
              <a:rPr lang="zh-CN" altLang="en-US" sz="2400" b="1" dirty="0">
                <a:latin typeface="Arial" panose="020B0604020202020204" pitchFamily="34" charset="0"/>
                <a:ea typeface="宋体" panose="02010600030101010101" pitchFamily="2" charset="-122"/>
              </a:rPr>
              <a:t>进行累加 </a:t>
            </a:r>
          </a:p>
        </p:txBody>
      </p:sp>
      <p:sp>
        <p:nvSpPr>
          <p:cNvPr id="9" name="矩形 8"/>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6344" name="矩形 526343"/>
          <p:cNvSpPr/>
          <p:nvPr/>
        </p:nvSpPr>
        <p:spPr>
          <a:xfrm>
            <a:off x="395288" y="863600"/>
            <a:ext cx="5243512" cy="457200"/>
          </a:xfrm>
          <a:prstGeom prst="rect">
            <a:avLst/>
          </a:prstGeom>
          <a:noFill/>
          <a:ln w="9525">
            <a:noFill/>
          </a:ln>
        </p:spPr>
        <p:txBody>
          <a:bodyPr wrap="none" anchor="ctr">
            <a:spAutoFit/>
          </a:bodyPr>
          <a:lstStyle/>
          <a:p>
            <a:pPr lvl="0"/>
            <a:r>
              <a:rPr lang="zh-CN" altLang="en-US" sz="2400" b="1" dirty="0">
                <a:latin typeface="Arial" panose="020B0604020202020204" pitchFamily="34" charset="0"/>
                <a:ea typeface="宋体" panose="02010600030101010101" pitchFamily="2" charset="-122"/>
              </a:rPr>
              <a:t> 例：</a:t>
            </a:r>
            <a:r>
              <a:rPr lang="en-US" altLang="zh-CN" sz="2400" b="1">
                <a:solidFill>
                  <a:srgbClr val="0000FF"/>
                </a:solidFill>
                <a:latin typeface="Arial" panose="020B0604020202020204" pitchFamily="34" charset="0"/>
                <a:ea typeface="宋体" panose="02010600030101010101" pitchFamily="2" charset="-122"/>
              </a:rPr>
              <a:t>LOOPZ</a:t>
            </a:r>
            <a:r>
              <a:rPr lang="zh-CN" altLang="en-US" sz="2400" b="1" dirty="0">
                <a:latin typeface="Arial" panose="020B0604020202020204" pitchFamily="34" charset="0"/>
                <a:ea typeface="宋体" panose="02010600030101010101" pitchFamily="2" charset="-122"/>
              </a:rPr>
              <a:t>与</a:t>
            </a:r>
            <a:r>
              <a:rPr lang="en-US" altLang="zh-CN" sz="2400" b="1">
                <a:solidFill>
                  <a:srgbClr val="0000FF"/>
                </a:solidFill>
                <a:latin typeface="Arial" panose="020B0604020202020204" pitchFamily="34" charset="0"/>
                <a:ea typeface="宋体" panose="02010600030101010101" pitchFamily="2" charset="-122"/>
              </a:rPr>
              <a:t>JCXZ</a:t>
            </a:r>
            <a:r>
              <a:rPr lang="zh-CN" altLang="en-US" sz="2400" b="1" dirty="0">
                <a:latin typeface="Arial" panose="020B0604020202020204" pitchFamily="34" charset="0"/>
                <a:ea typeface="宋体" panose="02010600030101010101" pitchFamily="2" charset="-122"/>
              </a:rPr>
              <a:t>指令的应用例子 </a:t>
            </a:r>
          </a:p>
        </p:txBody>
      </p:sp>
      <p:sp>
        <p:nvSpPr>
          <p:cNvPr id="526345" name="矩形 526344"/>
          <p:cNvSpPr/>
          <p:nvPr/>
        </p:nvSpPr>
        <p:spPr>
          <a:xfrm>
            <a:off x="467544" y="1588839"/>
            <a:ext cx="3240088" cy="4838700"/>
          </a:xfrm>
          <a:prstGeom prst="rect">
            <a:avLst/>
          </a:prstGeom>
          <a:noFill/>
          <a:ln w="9525">
            <a:noFill/>
          </a:ln>
        </p:spPr>
        <p:txBody>
          <a:bodyPr anchor="ctr">
            <a:spAutoFit/>
          </a:bodyPr>
          <a:lstStyle/>
          <a:p>
            <a:pPr lvl="0"/>
            <a:r>
              <a:rPr lang="zh-CN" altLang="en-US" sz="2400" b="1" dirty="0">
                <a:latin typeface="Arial" panose="020B0604020202020204" pitchFamily="34" charset="0"/>
                <a:ea typeface="宋体" panose="02010600030101010101" pitchFamily="2" charset="-122"/>
              </a:rPr>
              <a:t>为检查当前数据段</a:t>
            </a:r>
            <a:r>
              <a:rPr lang="en-US" altLang="zh-CN" sz="2400" b="1" dirty="0">
                <a:latin typeface="Arial" panose="020B0604020202020204" pitchFamily="34" charset="0"/>
                <a:ea typeface="宋体" panose="02010600030101010101" pitchFamily="2" charset="-122"/>
              </a:rPr>
              <a:t>64KB</a:t>
            </a:r>
            <a:r>
              <a:rPr lang="zh-CN" altLang="en-US" sz="2400" b="1" dirty="0">
                <a:latin typeface="Arial" panose="020B0604020202020204" pitchFamily="34" charset="0"/>
                <a:ea typeface="宋体" panose="02010600030101010101" pitchFamily="2" charset="-122"/>
              </a:rPr>
              <a:t>存储单元能否正确地进行读写操作，一般做法是：先向每个字节单元写入一位组合模式，如</a:t>
            </a:r>
            <a:r>
              <a:rPr lang="en-US" altLang="zh-CN" sz="2400" b="1" dirty="0">
                <a:latin typeface="Arial" panose="020B0604020202020204" pitchFamily="34" charset="0"/>
                <a:ea typeface="宋体" panose="02010600030101010101" pitchFamily="2" charset="-122"/>
              </a:rPr>
              <a:t>01110111B</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77H</a:t>
            </a:r>
            <a:r>
              <a:rPr lang="zh-CN" altLang="en-US" sz="2400" b="1" dirty="0">
                <a:latin typeface="Arial" panose="020B0604020202020204" pitchFamily="34" charset="0"/>
                <a:ea typeface="宋体" panose="02010600030101010101" pitchFamily="2" charset="-122"/>
              </a:rPr>
              <a:t>） 或</a:t>
            </a:r>
            <a:r>
              <a:rPr lang="en-US" altLang="zh-CN" sz="2400" b="1" dirty="0">
                <a:latin typeface="Arial" panose="020B0604020202020204" pitchFamily="34" charset="0"/>
                <a:ea typeface="宋体" panose="02010600030101010101" pitchFamily="2" charset="-122"/>
              </a:rPr>
              <a:t>10111011B </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BBH</a:t>
            </a:r>
            <a:r>
              <a:rPr lang="zh-CN" altLang="en-US" sz="2400" b="1" dirty="0">
                <a:latin typeface="Arial" panose="020B0604020202020204" pitchFamily="34" charset="0"/>
                <a:ea typeface="宋体" panose="02010600030101010101" pitchFamily="2" charset="-122"/>
              </a:rPr>
              <a:t>），然后读出来进行比较，若读</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写正确则转入正确处理程序段，否则转入出错处理程序段 </a:t>
            </a:r>
          </a:p>
        </p:txBody>
      </p:sp>
      <p:sp>
        <p:nvSpPr>
          <p:cNvPr id="526346" name="矩形 526345"/>
          <p:cNvSpPr/>
          <p:nvPr/>
        </p:nvSpPr>
        <p:spPr>
          <a:xfrm>
            <a:off x="3851920" y="1844824"/>
            <a:ext cx="5148262" cy="4054475"/>
          </a:xfrm>
          <a:prstGeom prst="rect">
            <a:avLst/>
          </a:prstGeom>
          <a:noFill/>
          <a:ln w="9525">
            <a:noFill/>
          </a:ln>
        </p:spPr>
        <p:txBody>
          <a:bodyPr anchor="ctr">
            <a:spAutoFit/>
          </a:bodyPr>
          <a:lstStyle/>
          <a:p>
            <a:pPr lvl="0" indent="1333500">
              <a:buClrTx/>
            </a:pPr>
            <a:r>
              <a:rPr lang="zh-CN" altLang="en-US" sz="2000" b="1" dirty="0">
                <a:latin typeface="Arial" panose="020B0604020202020204" pitchFamily="34" charset="0"/>
                <a:ea typeface="宋体" panose="02010600030101010101" pitchFamily="2" charset="-122"/>
              </a:rPr>
              <a:t>                   ┆</a:t>
            </a:r>
          </a:p>
          <a:p>
            <a:pPr lvl="0" indent="1333500">
              <a:buClrTx/>
            </a:pPr>
            <a:r>
              <a:rPr lang="en-US" altLang="zh-CN" sz="2000" b="1" dirty="0">
                <a:latin typeface="Arial" panose="020B0604020202020204" pitchFamily="34" charset="0"/>
                <a:ea typeface="宋体" panose="02010600030101010101" pitchFamily="2" charset="-122"/>
              </a:rPr>
              <a:t>             XOR  CX,CX</a:t>
            </a:r>
            <a:endParaRPr lang="zh-CN" altLang="en-US" sz="2000" b="1" dirty="0">
              <a:latin typeface="Arial" panose="020B0604020202020204" pitchFamily="34" charset="0"/>
              <a:ea typeface="宋体" panose="02010600030101010101" pitchFamily="2" charset="-122"/>
            </a:endParaRPr>
          </a:p>
          <a:p>
            <a:pPr lvl="0" indent="1333500">
              <a:buClrTx/>
            </a:pPr>
            <a:r>
              <a:rPr lang="en-US" altLang="zh-CN" sz="2000" b="1" dirty="0">
                <a:latin typeface="Arial" panose="020B0604020202020204" pitchFamily="34" charset="0"/>
                <a:ea typeface="宋体" panose="02010600030101010101" pitchFamily="2" charset="-122"/>
              </a:rPr>
              <a:t>             XOR  BX,BX</a:t>
            </a:r>
          </a:p>
          <a:p>
            <a:pPr lvl="0" indent="1333500">
              <a:buClrTx/>
            </a:pPr>
            <a:r>
              <a:rPr lang="en-US" altLang="zh-CN" sz="2000" b="1" dirty="0">
                <a:latin typeface="Arial" panose="020B0604020202020204" pitchFamily="34" charset="0"/>
                <a:ea typeface="宋体" panose="02010600030101010101" pitchFamily="2" charset="-122"/>
              </a:rPr>
              <a:t>             MOV  AL,01110111B  </a:t>
            </a:r>
            <a:endParaRPr lang="zh-CN" altLang="en-US" sz="2000" b="1" dirty="0">
              <a:latin typeface="Arial" panose="020B0604020202020204" pitchFamily="34" charset="0"/>
              <a:ea typeface="宋体" panose="02010600030101010101" pitchFamily="2" charset="-122"/>
            </a:endParaRPr>
          </a:p>
          <a:p>
            <a:pPr lvl="0" indent="1333500">
              <a:buClrTx/>
            </a:pPr>
            <a:r>
              <a:rPr lang="en-US" altLang="zh-CN" sz="2000" b="1" dirty="0">
                <a:latin typeface="Arial" panose="020B0604020202020204" pitchFamily="34" charset="0"/>
                <a:ea typeface="宋体" panose="02010600030101010101" pitchFamily="2" charset="-122"/>
              </a:rPr>
              <a:t>CHECK: MOV  [BX],AL  </a:t>
            </a:r>
            <a:endParaRPr lang="zh-CN" altLang="en-US" sz="2000" b="1" dirty="0">
              <a:latin typeface="Arial" panose="020B0604020202020204" pitchFamily="34" charset="0"/>
              <a:ea typeface="宋体" panose="02010600030101010101" pitchFamily="2" charset="-122"/>
            </a:endParaRPr>
          </a:p>
          <a:p>
            <a:pPr lvl="0" indent="1333500">
              <a:buClrTx/>
            </a:pPr>
            <a:r>
              <a:rPr lang="en-US" altLang="zh-CN" sz="2000" b="1" dirty="0">
                <a:latin typeface="Arial" panose="020B0604020202020204" pitchFamily="34" charset="0"/>
                <a:ea typeface="宋体" panose="02010600030101010101" pitchFamily="2" charset="-122"/>
              </a:rPr>
              <a:t>              INC  BX  </a:t>
            </a:r>
            <a:endParaRPr lang="zh-CN" altLang="en-US" sz="2000" b="1" dirty="0">
              <a:latin typeface="Arial" panose="020B0604020202020204" pitchFamily="34" charset="0"/>
              <a:ea typeface="宋体" panose="02010600030101010101" pitchFamily="2" charset="-122"/>
            </a:endParaRPr>
          </a:p>
          <a:p>
            <a:pPr lvl="0" indent="1333500">
              <a:buClrTx/>
            </a:pPr>
            <a:r>
              <a:rPr lang="en-US" altLang="zh-CN" sz="2000" b="1" dirty="0">
                <a:latin typeface="Arial" panose="020B0604020202020204" pitchFamily="34" charset="0"/>
                <a:ea typeface="宋体" panose="02010600030101010101" pitchFamily="2" charset="-122"/>
              </a:rPr>
              <a:t>              CMP  [BX-1],AL  </a:t>
            </a:r>
            <a:endParaRPr lang="zh-CN" altLang="en-US" sz="2000" b="1" dirty="0">
              <a:latin typeface="Arial" panose="020B0604020202020204" pitchFamily="34" charset="0"/>
              <a:ea typeface="宋体" panose="02010600030101010101" pitchFamily="2" charset="-122"/>
            </a:endParaRPr>
          </a:p>
          <a:p>
            <a:pPr lvl="0" indent="1333500">
              <a:buClrTx/>
            </a:pPr>
            <a:r>
              <a:rPr lang="en-US" altLang="zh-CN" sz="2000" b="1" dirty="0">
                <a:latin typeface="Arial" panose="020B0604020202020204" pitchFamily="34" charset="0"/>
                <a:ea typeface="宋体" panose="02010600030101010101" pitchFamily="2" charset="-122"/>
              </a:rPr>
              <a:t>              </a:t>
            </a:r>
            <a:r>
              <a:rPr lang="en-US" altLang="zh-CN" sz="2000" b="1" dirty="0">
                <a:solidFill>
                  <a:srgbClr val="0000FF"/>
                </a:solidFill>
                <a:latin typeface="Arial" panose="020B0604020202020204" pitchFamily="34" charset="0"/>
                <a:ea typeface="宋体" panose="02010600030101010101" pitchFamily="2" charset="-122"/>
              </a:rPr>
              <a:t> LOOPZ</a:t>
            </a:r>
            <a:r>
              <a:rPr lang="en-US" altLang="zh-CN" sz="2000" b="1" dirty="0">
                <a:latin typeface="Arial" panose="020B0604020202020204" pitchFamily="34" charset="0"/>
                <a:ea typeface="宋体" panose="02010600030101010101" pitchFamily="2" charset="-122"/>
              </a:rPr>
              <a:t>  CHECK  </a:t>
            </a:r>
            <a:endParaRPr lang="zh-CN" altLang="en-US" sz="2000" b="1" dirty="0">
              <a:latin typeface="Arial" panose="020B0604020202020204" pitchFamily="34" charset="0"/>
              <a:ea typeface="宋体" panose="02010600030101010101" pitchFamily="2" charset="-122"/>
            </a:endParaRPr>
          </a:p>
          <a:p>
            <a:pPr lvl="0" indent="1333500">
              <a:buClrTx/>
            </a:pPr>
            <a:r>
              <a:rPr lang="en-US" altLang="zh-CN" sz="2000" b="1" dirty="0">
                <a:latin typeface="Arial" panose="020B0604020202020204" pitchFamily="34" charset="0"/>
                <a:ea typeface="宋体" panose="02010600030101010101" pitchFamily="2" charset="-122"/>
              </a:rPr>
              <a:t>               </a:t>
            </a:r>
            <a:r>
              <a:rPr lang="en-US" altLang="zh-CN" sz="2000" b="1" dirty="0">
                <a:solidFill>
                  <a:srgbClr val="0000FF"/>
                </a:solidFill>
                <a:latin typeface="Arial" panose="020B0604020202020204" pitchFamily="34" charset="0"/>
                <a:ea typeface="宋体" panose="02010600030101010101" pitchFamily="2" charset="-122"/>
              </a:rPr>
              <a:t>JCXZ</a:t>
            </a:r>
            <a:r>
              <a:rPr lang="en-US" altLang="zh-CN" sz="2000" b="1" dirty="0">
                <a:latin typeface="Arial" panose="020B0604020202020204" pitchFamily="34" charset="0"/>
                <a:ea typeface="宋体" panose="02010600030101010101" pitchFamily="2" charset="-122"/>
              </a:rPr>
              <a:t>  RIGHT  </a:t>
            </a:r>
            <a:endParaRPr lang="zh-CN" altLang="en-US" sz="2000" b="1" dirty="0">
              <a:latin typeface="Arial" panose="020B0604020202020204" pitchFamily="34" charset="0"/>
              <a:ea typeface="宋体" panose="02010600030101010101" pitchFamily="2" charset="-122"/>
            </a:endParaRPr>
          </a:p>
          <a:p>
            <a:pPr lvl="0" indent="1333500">
              <a:buClrTx/>
            </a:pPr>
            <a:r>
              <a:rPr lang="en-US" altLang="zh-CN" sz="2000" b="1" dirty="0">
                <a:latin typeface="Arial" panose="020B0604020202020204" pitchFamily="34" charset="0"/>
                <a:ea typeface="宋体" panose="02010600030101010101" pitchFamily="2" charset="-122"/>
              </a:rPr>
              <a:t>ERROR:</a:t>
            </a:r>
            <a:endParaRPr lang="zh-CN" altLang="en-US" sz="2000" b="1" dirty="0">
              <a:latin typeface="Arial" panose="020B0604020202020204" pitchFamily="34" charset="0"/>
              <a:ea typeface="宋体" panose="02010600030101010101" pitchFamily="2" charset="-122"/>
            </a:endParaRPr>
          </a:p>
          <a:p>
            <a:pPr lvl="0" indent="1333500">
              <a:buClrTx/>
            </a:pPr>
            <a:r>
              <a:rPr lang="zh-CN" altLang="en-US" sz="2000" b="1" dirty="0">
                <a:latin typeface="Arial" panose="020B0604020202020204" pitchFamily="34" charset="0"/>
                <a:ea typeface="宋体" panose="02010600030101010101" pitchFamily="2" charset="-122"/>
              </a:rPr>
              <a:t>                   ┆</a:t>
            </a:r>
          </a:p>
          <a:p>
            <a:pPr lvl="0" indent="1333500">
              <a:buClrTx/>
            </a:pPr>
            <a:r>
              <a:rPr lang="en-US" altLang="zh-CN" sz="2000" b="1" dirty="0">
                <a:latin typeface="Arial" panose="020B0604020202020204" pitchFamily="34" charset="0"/>
                <a:ea typeface="宋体" panose="02010600030101010101" pitchFamily="2" charset="-122"/>
              </a:rPr>
              <a:t>RIGHT: </a:t>
            </a:r>
          </a:p>
          <a:p>
            <a:pPr lvl="0" indent="1333500">
              <a:buClrTx/>
            </a:pPr>
            <a:r>
              <a:rPr lang="zh-CN" altLang="en-US" sz="2000" b="1" dirty="0">
                <a:latin typeface="Arial" panose="020B0604020202020204" pitchFamily="34" charset="0"/>
                <a:ea typeface="宋体" panose="02010600030101010101" pitchFamily="2" charset="-122"/>
              </a:rPr>
              <a:t>                   ┆</a:t>
            </a:r>
            <a:r>
              <a:rPr lang="en-US" altLang="zh-CN" sz="2000" b="1" dirty="0">
                <a:latin typeface="Arial" panose="020B0604020202020204" pitchFamily="34" charset="0"/>
                <a:ea typeface="宋体" panose="02010600030101010101" pitchFamily="2" charset="-122"/>
              </a:rPr>
              <a:t> </a:t>
            </a:r>
          </a:p>
        </p:txBody>
      </p:sp>
      <p:sp>
        <p:nvSpPr>
          <p:cNvPr id="6" name="矩形 5"/>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标题 506881"/>
          <p:cNvSpPr>
            <a:spLocks noGrp="1"/>
          </p:cNvSpPr>
          <p:nvPr>
            <p:ph type="title"/>
          </p:nvPr>
        </p:nvSpPr>
        <p:spPr>
          <a:xfrm>
            <a:off x="539750" y="908050"/>
            <a:ext cx="2376488" cy="503238"/>
          </a:xfrm>
          <a:ln/>
        </p:spPr>
        <p:txBody>
          <a:bodyPr anchor="ctr"/>
          <a:lstStyle/>
          <a:p>
            <a:pPr algn="l"/>
            <a:r>
              <a:rPr lang="en-US" altLang="zh-CN" sz="2400" b="1" dirty="0">
                <a:solidFill>
                  <a:schemeClr val="tx1"/>
                </a:solidFill>
              </a:rPr>
              <a:t>4</a:t>
            </a:r>
            <a:r>
              <a:rPr lang="zh-CN" altLang="en-US" sz="2400" b="1" dirty="0">
                <a:solidFill>
                  <a:schemeClr val="tx1"/>
                </a:solidFill>
              </a:rPr>
              <a:t>、子程序指令</a:t>
            </a:r>
          </a:p>
        </p:txBody>
      </p:sp>
      <p:sp>
        <p:nvSpPr>
          <p:cNvPr id="506883" name="文本占位符 506882"/>
          <p:cNvSpPr>
            <a:spLocks noGrp="1"/>
          </p:cNvSpPr>
          <p:nvPr>
            <p:ph type="body" idx="1"/>
          </p:nvPr>
        </p:nvSpPr>
        <p:spPr>
          <a:xfrm>
            <a:off x="323528" y="1902921"/>
            <a:ext cx="8229600" cy="2189163"/>
          </a:xfrm>
          <a:ln/>
        </p:spPr>
        <p:txBody>
          <a:bodyPr/>
          <a:lstStyle/>
          <a:p>
            <a:pPr>
              <a:buClrTx/>
              <a:buNone/>
            </a:pPr>
            <a:r>
              <a:rPr lang="zh-CN" altLang="en-US" sz="2400" b="1" dirty="0"/>
              <a:t>子程序是完成</a:t>
            </a:r>
            <a:r>
              <a:rPr lang="zh-CN" altLang="en-US" sz="2400" b="1" dirty="0">
                <a:solidFill>
                  <a:srgbClr val="0000FF"/>
                </a:solidFill>
              </a:rPr>
              <a:t>特定功能</a:t>
            </a:r>
            <a:r>
              <a:rPr lang="zh-CN" altLang="en-US" sz="2400" b="1" dirty="0"/>
              <a:t>的一段程序</a:t>
            </a:r>
          </a:p>
          <a:p>
            <a:pPr>
              <a:buClrTx/>
              <a:buNone/>
            </a:pPr>
            <a:r>
              <a:rPr lang="zh-CN" altLang="en-US" sz="2400" b="1" dirty="0"/>
              <a:t>当主程序（调用程序）需要执行这个功能时，采用</a:t>
            </a:r>
            <a:r>
              <a:rPr lang="en-US" altLang="zh-CN" sz="2400" b="1" dirty="0">
                <a:solidFill>
                  <a:srgbClr val="FF00FF"/>
                </a:solidFill>
              </a:rPr>
              <a:t>CALL</a:t>
            </a:r>
            <a:r>
              <a:rPr lang="zh-CN" altLang="en-US" sz="2400" b="1" dirty="0"/>
              <a:t>调用指令转移到该子程序的起始处执行</a:t>
            </a:r>
          </a:p>
          <a:p>
            <a:pPr>
              <a:buClrTx/>
              <a:buNone/>
            </a:pPr>
            <a:r>
              <a:rPr lang="zh-CN" altLang="en-US" sz="2400" b="1" dirty="0"/>
              <a:t>当运行完子程序功能后，采用</a:t>
            </a:r>
            <a:r>
              <a:rPr lang="en-US" altLang="zh-CN" sz="2400" b="1" dirty="0">
                <a:solidFill>
                  <a:srgbClr val="FF00FF"/>
                </a:solidFill>
              </a:rPr>
              <a:t>RET</a:t>
            </a:r>
            <a:r>
              <a:rPr lang="zh-CN" altLang="en-US" sz="2400" b="1" dirty="0"/>
              <a:t>返回指令回到主程序继续执行</a:t>
            </a:r>
          </a:p>
        </p:txBody>
      </p:sp>
      <p:sp>
        <p:nvSpPr>
          <p:cNvPr id="506885" name="矩形 506884"/>
          <p:cNvSpPr/>
          <p:nvPr/>
        </p:nvSpPr>
        <p:spPr>
          <a:xfrm>
            <a:off x="683568" y="5145692"/>
            <a:ext cx="5980113" cy="457200"/>
          </a:xfrm>
          <a:prstGeom prst="rect">
            <a:avLst/>
          </a:prstGeom>
          <a:noFill/>
          <a:ln w="9525">
            <a:noFill/>
          </a:ln>
        </p:spPr>
        <p:txBody>
          <a:bodyPr wrap="none" anchor="ctr">
            <a:spAutoFit/>
          </a:bodyPr>
          <a:lstStyle/>
          <a:p>
            <a:pPr lvl="0"/>
            <a:r>
              <a:rPr lang="en-US" altLang="zh-CN" sz="2400" b="1" dirty="0">
                <a:latin typeface="Arial" panose="020B0604020202020204" pitchFamily="34" charset="0"/>
                <a:ea typeface="宋体" panose="02010600030101010101" pitchFamily="2" charset="-122"/>
              </a:rPr>
              <a:t>CALL</a:t>
            </a:r>
            <a:r>
              <a:rPr lang="zh-CN" altLang="en-US" sz="2400" b="1" dirty="0">
                <a:latin typeface="Arial" panose="020B0604020202020204" pitchFamily="34" charset="0"/>
                <a:ea typeface="宋体" panose="02010600030101010101" pitchFamily="2" charset="-122"/>
              </a:rPr>
              <a:t>指令和</a:t>
            </a:r>
            <a:r>
              <a:rPr lang="en-US" altLang="zh-CN" sz="2400" b="1" dirty="0">
                <a:latin typeface="Arial" panose="020B0604020202020204" pitchFamily="34" charset="0"/>
                <a:ea typeface="宋体" panose="02010600030101010101" pitchFamily="2" charset="-122"/>
              </a:rPr>
              <a:t>RET</a:t>
            </a:r>
            <a:r>
              <a:rPr lang="zh-CN" altLang="en-US" sz="2400" b="1" dirty="0">
                <a:latin typeface="Arial" panose="020B0604020202020204" pitchFamily="34" charset="0"/>
                <a:ea typeface="宋体" panose="02010600030101010101" pitchFamily="2" charset="-122"/>
              </a:rPr>
              <a:t>指令都</a:t>
            </a:r>
            <a:r>
              <a:rPr lang="zh-CN" altLang="en-US" sz="2400" b="1" dirty="0">
                <a:solidFill>
                  <a:srgbClr val="0000FF"/>
                </a:solidFill>
                <a:latin typeface="Arial" panose="020B0604020202020204" pitchFamily="34" charset="0"/>
                <a:ea typeface="宋体" panose="02010600030101010101" pitchFamily="2" charset="-122"/>
              </a:rPr>
              <a:t>不影响状态标志位</a:t>
            </a:r>
            <a:r>
              <a:rPr lang="zh-CN" altLang="en-US" sz="2400" b="1" dirty="0">
                <a:latin typeface="Arial" panose="020B0604020202020204" pitchFamily="34" charset="0"/>
                <a:ea typeface="宋体" panose="02010600030101010101" pitchFamily="2" charset="-122"/>
              </a:rPr>
              <a:t> </a:t>
            </a:r>
          </a:p>
        </p:txBody>
      </p:sp>
      <p:sp>
        <p:nvSpPr>
          <p:cNvPr id="7" name="矩形 6"/>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标题 507905"/>
          <p:cNvSpPr>
            <a:spLocks noGrp="1"/>
          </p:cNvSpPr>
          <p:nvPr>
            <p:ph type="title"/>
          </p:nvPr>
        </p:nvSpPr>
        <p:spPr>
          <a:xfrm>
            <a:off x="3132138" y="836613"/>
            <a:ext cx="2386012" cy="490537"/>
          </a:xfrm>
          <a:ln/>
        </p:spPr>
        <p:txBody>
          <a:bodyPr anchor="ctr"/>
          <a:lstStyle/>
          <a:p>
            <a:pPr algn="l"/>
            <a:r>
              <a:rPr lang="zh-CN" altLang="en-US" sz="2400" b="1" dirty="0"/>
              <a:t>主程序与子程序</a:t>
            </a:r>
          </a:p>
        </p:txBody>
      </p:sp>
      <p:sp>
        <p:nvSpPr>
          <p:cNvPr id="507907" name="文本框 507906"/>
          <p:cNvSpPr txBox="1"/>
          <p:nvPr/>
        </p:nvSpPr>
        <p:spPr>
          <a:xfrm>
            <a:off x="1219200" y="1676400"/>
            <a:ext cx="1828800" cy="3762375"/>
          </a:xfrm>
          <a:prstGeom prst="rect">
            <a:avLst/>
          </a:prstGeom>
          <a:noFill/>
          <a:ln w="19050" cap="sq" cmpd="sng">
            <a:solidFill>
              <a:schemeClr val="accent2"/>
            </a:solidFill>
            <a:prstDash val="solid"/>
            <a:miter/>
            <a:headEnd type="none" w="sm" len="sm"/>
            <a:tailEnd type="none" w="sm" len="sm"/>
          </a:ln>
        </p:spPr>
        <p:txBody>
          <a:bodyPr>
            <a:spAutoFit/>
          </a:bodyPr>
          <a:lstStyle/>
          <a:p>
            <a:pPr lvl="0">
              <a:spcBef>
                <a:spcPct val="50000"/>
              </a:spcBef>
            </a:pPr>
            <a:endParaRPr lang="zh-CN" altLang="en-US" sz="2400" b="1" dirty="0">
              <a:solidFill>
                <a:schemeClr val="bg2"/>
              </a:solidFill>
              <a:latin typeface="Times New Roman" panose="02020603050405020304" pitchFamily="18" charset="0"/>
              <a:ea typeface="宋体" panose="02010600030101010101" pitchFamily="2" charset="-122"/>
            </a:endParaRPr>
          </a:p>
          <a:p>
            <a:pPr lvl="0">
              <a:spcBef>
                <a:spcPct val="50000"/>
              </a:spcBef>
            </a:pPr>
            <a:endParaRPr lang="zh-CN" altLang="en-US" sz="2400" b="1" dirty="0">
              <a:solidFill>
                <a:schemeClr val="bg2"/>
              </a:solidFill>
              <a:latin typeface="Times New Roman" panose="02020603050405020304" pitchFamily="18" charset="0"/>
              <a:ea typeface="宋体" panose="02010600030101010101" pitchFamily="2" charset="-122"/>
            </a:endParaRPr>
          </a:p>
          <a:p>
            <a:pPr lvl="0">
              <a:spcBef>
                <a:spcPct val="50000"/>
              </a:spcBef>
            </a:pPr>
            <a:endParaRPr lang="zh-CN" altLang="en-US" sz="2400" b="1" dirty="0">
              <a:solidFill>
                <a:schemeClr val="bg2"/>
              </a:solidFill>
              <a:latin typeface="Times New Roman" panose="02020603050405020304" pitchFamily="18" charset="0"/>
              <a:ea typeface="宋体" panose="02010600030101010101" pitchFamily="2" charset="-122"/>
            </a:endParaRPr>
          </a:p>
          <a:p>
            <a:pPr lvl="0">
              <a:spcBef>
                <a:spcPct val="50000"/>
              </a:spcBef>
            </a:pPr>
            <a:r>
              <a:rPr lang="en-US" altLang="zh-CN" sz="2400" b="1">
                <a:solidFill>
                  <a:srgbClr val="FF00FF"/>
                </a:solidFill>
                <a:latin typeface="Times New Roman" panose="02020603050405020304" pitchFamily="18" charset="0"/>
                <a:ea typeface="宋体" panose="02010600030101010101" pitchFamily="2" charset="-122"/>
              </a:rPr>
              <a:t>CALL</a:t>
            </a:r>
            <a:r>
              <a:rPr lang="en-US" altLang="zh-CN" sz="2400" b="1">
                <a:latin typeface="Times New Roman" panose="02020603050405020304" pitchFamily="18" charset="0"/>
                <a:ea typeface="宋体" panose="02010600030101010101" pitchFamily="2" charset="-122"/>
              </a:rPr>
              <a:t> label</a:t>
            </a:r>
          </a:p>
          <a:p>
            <a:pPr lvl="0">
              <a:spcBef>
                <a:spcPct val="50000"/>
              </a:spcBef>
            </a:pPr>
            <a:endParaRPr lang="en-US" altLang="zh-CN" sz="2400" b="1">
              <a:solidFill>
                <a:schemeClr val="bg2"/>
              </a:solidFill>
              <a:latin typeface="Times New Roman" panose="02020603050405020304" pitchFamily="18" charset="0"/>
              <a:ea typeface="宋体" panose="02010600030101010101" pitchFamily="2" charset="-122"/>
            </a:endParaRPr>
          </a:p>
          <a:p>
            <a:pPr lvl="0">
              <a:spcBef>
                <a:spcPct val="50000"/>
              </a:spcBef>
            </a:pPr>
            <a:endParaRPr lang="en-US" altLang="zh-CN" sz="2400" b="1">
              <a:solidFill>
                <a:schemeClr val="bg2"/>
              </a:solidFill>
              <a:latin typeface="Times New Roman" panose="02020603050405020304" pitchFamily="18" charset="0"/>
              <a:ea typeface="宋体" panose="02010600030101010101" pitchFamily="2" charset="-122"/>
            </a:endParaRPr>
          </a:p>
          <a:p>
            <a:pPr lvl="0">
              <a:spcBef>
                <a:spcPct val="50000"/>
              </a:spcBef>
            </a:pPr>
            <a:endParaRPr lang="zh-CN" altLang="zh-CN" sz="2400" b="1">
              <a:solidFill>
                <a:schemeClr val="bg2"/>
              </a:solidFill>
              <a:latin typeface="Times New Roman" panose="02020603050405020304" pitchFamily="18" charset="0"/>
              <a:ea typeface="宋体" panose="02010600030101010101" pitchFamily="2" charset="-122"/>
            </a:endParaRPr>
          </a:p>
        </p:txBody>
      </p:sp>
      <p:sp>
        <p:nvSpPr>
          <p:cNvPr id="507908" name="文本框 507907"/>
          <p:cNvSpPr txBox="1"/>
          <p:nvPr/>
        </p:nvSpPr>
        <p:spPr>
          <a:xfrm>
            <a:off x="1676400" y="1143000"/>
            <a:ext cx="1295400" cy="457200"/>
          </a:xfrm>
          <a:prstGeom prst="rect">
            <a:avLst/>
          </a:prstGeom>
          <a:noFill/>
          <a:ln w="12700">
            <a:noFill/>
          </a:ln>
        </p:spPr>
        <p:txBody>
          <a:bodyPr>
            <a:spAutoFit/>
          </a:bodyPr>
          <a:lstStyle/>
          <a:p>
            <a:pPr lvl="0">
              <a:spcBef>
                <a:spcPct val="50000"/>
              </a:spcBef>
            </a:pPr>
            <a:r>
              <a:rPr lang="zh-CN" altLang="en-US" sz="2400" b="1" dirty="0">
                <a:latin typeface="Times New Roman" panose="02020603050405020304" pitchFamily="18" charset="0"/>
                <a:ea typeface="宋体" panose="02010600030101010101" pitchFamily="2" charset="-122"/>
              </a:rPr>
              <a:t>主程序</a:t>
            </a:r>
          </a:p>
        </p:txBody>
      </p:sp>
      <p:sp>
        <p:nvSpPr>
          <p:cNvPr id="507909" name="直接连接符 507908"/>
          <p:cNvSpPr/>
          <p:nvPr/>
        </p:nvSpPr>
        <p:spPr>
          <a:xfrm>
            <a:off x="3657600" y="1828800"/>
            <a:ext cx="0" cy="1600200"/>
          </a:xfrm>
          <a:prstGeom prst="line">
            <a:avLst/>
          </a:prstGeom>
          <a:ln w="28575" cap="sq" cmpd="sng">
            <a:solidFill>
              <a:schemeClr val="bg2"/>
            </a:solidFill>
            <a:prstDash val="solid"/>
            <a:headEnd type="oval" w="med" len="med"/>
            <a:tailEnd type="triangle" w="med" len="med"/>
          </a:ln>
        </p:spPr>
      </p:sp>
      <p:sp>
        <p:nvSpPr>
          <p:cNvPr id="507910" name="直接连接符 507909"/>
          <p:cNvSpPr/>
          <p:nvPr/>
        </p:nvSpPr>
        <p:spPr>
          <a:xfrm>
            <a:off x="3657600" y="3733800"/>
            <a:ext cx="0" cy="1600200"/>
          </a:xfrm>
          <a:prstGeom prst="line">
            <a:avLst/>
          </a:prstGeom>
          <a:ln w="28575" cap="sq" cmpd="sng">
            <a:solidFill>
              <a:schemeClr val="bg2"/>
            </a:solidFill>
            <a:prstDash val="solid"/>
            <a:headEnd type="oval" w="med" len="med"/>
            <a:tailEnd type="triangle" w="med" len="med"/>
          </a:ln>
        </p:spPr>
      </p:sp>
      <p:sp>
        <p:nvSpPr>
          <p:cNvPr id="507911" name="直接连接符 507910"/>
          <p:cNvSpPr/>
          <p:nvPr/>
        </p:nvSpPr>
        <p:spPr>
          <a:xfrm>
            <a:off x="5867400" y="2514600"/>
            <a:ext cx="0" cy="2057400"/>
          </a:xfrm>
          <a:prstGeom prst="line">
            <a:avLst/>
          </a:prstGeom>
          <a:ln w="28575" cap="sq" cmpd="sng">
            <a:solidFill>
              <a:schemeClr val="bg2"/>
            </a:solidFill>
            <a:prstDash val="solid"/>
            <a:headEnd type="oval" w="med" len="med"/>
            <a:tailEnd type="triangle" w="med" len="med"/>
          </a:ln>
        </p:spPr>
      </p:sp>
      <p:sp>
        <p:nvSpPr>
          <p:cNvPr id="507912" name="直接连接符 507911"/>
          <p:cNvSpPr/>
          <p:nvPr/>
        </p:nvSpPr>
        <p:spPr>
          <a:xfrm flipV="1">
            <a:off x="3810000" y="2362200"/>
            <a:ext cx="1981200" cy="990600"/>
          </a:xfrm>
          <a:prstGeom prst="line">
            <a:avLst/>
          </a:prstGeom>
          <a:ln w="28575" cap="sq" cmpd="sng">
            <a:solidFill>
              <a:schemeClr val="bg2"/>
            </a:solidFill>
            <a:prstDash val="solid"/>
            <a:headEnd type="oval" w="med" len="med"/>
            <a:tailEnd type="triangle" w="med" len="med"/>
          </a:ln>
        </p:spPr>
      </p:sp>
      <p:sp>
        <p:nvSpPr>
          <p:cNvPr id="507913" name="文本框 507912"/>
          <p:cNvSpPr txBox="1"/>
          <p:nvPr/>
        </p:nvSpPr>
        <p:spPr>
          <a:xfrm>
            <a:off x="6096000" y="2216150"/>
            <a:ext cx="1447800" cy="2667000"/>
          </a:xfrm>
          <a:prstGeom prst="rect">
            <a:avLst/>
          </a:prstGeom>
          <a:noFill/>
          <a:ln w="19050" cap="sq" cmpd="sng">
            <a:solidFill>
              <a:schemeClr val="accent2"/>
            </a:solidFill>
            <a:prstDash val="solid"/>
            <a:miter/>
            <a:headEnd type="none" w="sm" len="sm"/>
            <a:tailEnd type="none" w="sm" len="sm"/>
          </a:ln>
        </p:spPr>
        <p:txBody>
          <a:bodyPr>
            <a:spAutoFit/>
          </a:bodyPr>
          <a:lstStyle/>
          <a:p>
            <a:pPr lvl="0">
              <a:spcBef>
                <a:spcPct val="50000"/>
              </a:spcBef>
            </a:pPr>
            <a:endParaRPr lang="zh-CN" altLang="en-US" sz="2400" b="1" dirty="0">
              <a:solidFill>
                <a:schemeClr val="bg2"/>
              </a:solidFill>
              <a:latin typeface="Times New Roman" panose="02020603050405020304" pitchFamily="18" charset="0"/>
              <a:ea typeface="宋体" panose="02010600030101010101" pitchFamily="2" charset="-122"/>
            </a:endParaRPr>
          </a:p>
          <a:p>
            <a:pPr lvl="0">
              <a:spcBef>
                <a:spcPct val="50000"/>
              </a:spcBef>
            </a:pPr>
            <a:endParaRPr lang="zh-CN" altLang="en-US" sz="2400" b="1" dirty="0">
              <a:solidFill>
                <a:schemeClr val="bg2"/>
              </a:solidFill>
              <a:latin typeface="Times New Roman" panose="02020603050405020304" pitchFamily="18" charset="0"/>
              <a:ea typeface="宋体" panose="02010600030101010101" pitchFamily="2" charset="-122"/>
            </a:endParaRPr>
          </a:p>
          <a:p>
            <a:pPr lvl="0">
              <a:spcBef>
                <a:spcPct val="50000"/>
              </a:spcBef>
            </a:pPr>
            <a:endParaRPr lang="zh-CN" altLang="en-US" sz="2400" b="1" dirty="0">
              <a:solidFill>
                <a:schemeClr val="bg2"/>
              </a:solidFill>
              <a:latin typeface="Times New Roman" panose="02020603050405020304" pitchFamily="18" charset="0"/>
              <a:ea typeface="宋体" panose="02010600030101010101" pitchFamily="2" charset="-122"/>
            </a:endParaRPr>
          </a:p>
          <a:p>
            <a:pPr lvl="0">
              <a:spcBef>
                <a:spcPct val="50000"/>
              </a:spcBef>
            </a:pPr>
            <a:endParaRPr lang="zh-CN" altLang="zh-CN" sz="2400" b="1">
              <a:solidFill>
                <a:schemeClr val="bg2"/>
              </a:solidFill>
              <a:latin typeface="Times New Roman" panose="02020603050405020304" pitchFamily="18" charset="0"/>
              <a:ea typeface="宋体" panose="02010600030101010101" pitchFamily="2" charset="-122"/>
            </a:endParaRPr>
          </a:p>
          <a:p>
            <a:pPr lvl="0">
              <a:spcBef>
                <a:spcPct val="50000"/>
              </a:spcBef>
            </a:pPr>
            <a:r>
              <a:rPr lang="en-US" altLang="zh-CN" sz="2400" b="1">
                <a:solidFill>
                  <a:srgbClr val="FF00FF"/>
                </a:solidFill>
                <a:latin typeface="Times New Roman" panose="02020603050405020304" pitchFamily="18" charset="0"/>
                <a:ea typeface="宋体" panose="02010600030101010101" pitchFamily="2" charset="-122"/>
              </a:rPr>
              <a:t>RET</a:t>
            </a:r>
          </a:p>
        </p:txBody>
      </p:sp>
      <p:sp>
        <p:nvSpPr>
          <p:cNvPr id="507914" name="文本框 507913"/>
          <p:cNvSpPr txBox="1"/>
          <p:nvPr/>
        </p:nvSpPr>
        <p:spPr>
          <a:xfrm>
            <a:off x="6172200" y="1682750"/>
            <a:ext cx="1295400" cy="457200"/>
          </a:xfrm>
          <a:prstGeom prst="rect">
            <a:avLst/>
          </a:prstGeom>
          <a:noFill/>
          <a:ln w="12700">
            <a:noFill/>
          </a:ln>
        </p:spPr>
        <p:txBody>
          <a:bodyPr>
            <a:spAutoFit/>
          </a:bodyPr>
          <a:lstStyle/>
          <a:p>
            <a:pPr lvl="0">
              <a:spcBef>
                <a:spcPct val="50000"/>
              </a:spcBef>
            </a:pPr>
            <a:r>
              <a:rPr lang="zh-CN" altLang="en-US" sz="2400" b="1" dirty="0">
                <a:latin typeface="Times New Roman" panose="02020603050405020304" pitchFamily="18" charset="0"/>
                <a:ea typeface="宋体" panose="02010600030101010101" pitchFamily="2" charset="-122"/>
              </a:rPr>
              <a:t>子程序</a:t>
            </a:r>
          </a:p>
        </p:txBody>
      </p:sp>
      <p:sp>
        <p:nvSpPr>
          <p:cNvPr id="507915" name="直接连接符 507914"/>
          <p:cNvSpPr/>
          <p:nvPr/>
        </p:nvSpPr>
        <p:spPr>
          <a:xfrm flipH="1" flipV="1">
            <a:off x="3733800" y="3733800"/>
            <a:ext cx="1905000" cy="762000"/>
          </a:xfrm>
          <a:prstGeom prst="line">
            <a:avLst/>
          </a:prstGeom>
          <a:ln w="28575" cap="sq" cmpd="sng">
            <a:solidFill>
              <a:schemeClr val="bg2"/>
            </a:solidFill>
            <a:prstDash val="solid"/>
            <a:headEnd type="oval" w="med" len="med"/>
            <a:tailEnd type="triangle" w="med" len="med"/>
          </a:ln>
        </p:spPr>
      </p:sp>
      <p:sp>
        <p:nvSpPr>
          <p:cNvPr id="507916" name="线形标注 1(带强调线) 507915"/>
          <p:cNvSpPr/>
          <p:nvPr/>
        </p:nvSpPr>
        <p:spPr>
          <a:xfrm>
            <a:off x="4876800" y="5405438"/>
            <a:ext cx="3810000" cy="835025"/>
          </a:xfrm>
          <a:prstGeom prst="accentCallout1">
            <a:avLst>
              <a:gd name="adj1" fmla="val 13690"/>
              <a:gd name="adj2" fmla="val -2000"/>
              <a:gd name="adj3" fmla="val -168630"/>
              <a:gd name="adj4" fmla="val -69458"/>
            </a:avLst>
          </a:prstGeom>
          <a:solidFill>
            <a:schemeClr val="accent1">
              <a:lumMod val="20000"/>
              <a:lumOff val="80000"/>
            </a:schemeClr>
          </a:solidFill>
          <a:ln w="12700" cap="sq" cmpd="sng">
            <a:solidFill>
              <a:srgbClr val="0000CC"/>
            </a:solidFill>
            <a:prstDash val="solid"/>
            <a:miter/>
            <a:headEnd type="none" w="sm" len="sm"/>
            <a:tailEnd type="none" w="sm" len="sm"/>
          </a:ln>
        </p:spPr>
        <p:txBody>
          <a:bodyPr>
            <a:spAutoFit/>
          </a:bodyPr>
          <a:lstStyle/>
          <a:p>
            <a:pPr lvl="0"/>
            <a:r>
              <a:rPr lang="zh-CN" altLang="en-US" sz="2400" b="1" dirty="0">
                <a:latin typeface="Times New Roman" panose="02020603050405020304" pitchFamily="18" charset="0"/>
                <a:ea typeface="宋体" panose="02010600030101010101" pitchFamily="2" charset="-122"/>
              </a:rPr>
              <a:t>回到</a:t>
            </a:r>
            <a:r>
              <a:rPr lang="en-US" altLang="zh-CN" sz="2400" b="1" dirty="0">
                <a:latin typeface="Times New Roman" panose="02020603050405020304" pitchFamily="18" charset="0"/>
                <a:ea typeface="宋体" panose="02010600030101010101" pitchFamily="2" charset="-122"/>
              </a:rPr>
              <a:t>CALL</a:t>
            </a:r>
            <a:r>
              <a:rPr lang="zh-CN" altLang="en-US" sz="2400" b="1" dirty="0">
                <a:latin typeface="Times New Roman" panose="02020603050405020304" pitchFamily="18" charset="0"/>
                <a:ea typeface="宋体" panose="02010600030101010101" pitchFamily="2" charset="-122"/>
              </a:rPr>
              <a:t>指令后的指令处</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返回地址</a:t>
            </a:r>
          </a:p>
        </p:txBody>
      </p:sp>
      <p:sp>
        <p:nvSpPr>
          <p:cNvPr id="15" name="矩形 1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advClick="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nodeType="afterEffect">
                                  <p:stCondLst>
                                    <p:cond delay="2000"/>
                                  </p:stCondLst>
                                  <p:childTnLst>
                                    <p:set>
                                      <p:cBhvr>
                                        <p:cTn id="6" dur="1" fill="hold">
                                          <p:stCondLst>
                                            <p:cond delay="0"/>
                                          </p:stCondLst>
                                        </p:cTn>
                                        <p:tgtEl>
                                          <p:spTgt spid="507909"/>
                                        </p:tgtEl>
                                        <p:attrNameLst>
                                          <p:attrName>style.visibility</p:attrName>
                                        </p:attrNameLst>
                                      </p:cBhvr>
                                      <p:to>
                                        <p:strVal val="visible"/>
                                      </p:to>
                                    </p:set>
                                    <p:anim calcmode="lin" valueType="num">
                                      <p:cBhvr>
                                        <p:cTn id="7" dur="500" fill="hold"/>
                                        <p:tgtEl>
                                          <p:spTgt spid="507909"/>
                                        </p:tgtEl>
                                        <p:attrNameLst>
                                          <p:attrName>ppt_x</p:attrName>
                                        </p:attrNameLst>
                                      </p:cBhvr>
                                      <p:tavLst>
                                        <p:tav tm="0">
                                          <p:val>
                                            <p:strVal val="#ppt_x"/>
                                          </p:val>
                                        </p:tav>
                                        <p:tav tm="100000">
                                          <p:val>
                                            <p:strVal val="#ppt_x"/>
                                          </p:val>
                                        </p:tav>
                                      </p:tavLst>
                                    </p:anim>
                                    <p:anim calcmode="lin" valueType="num">
                                      <p:cBhvr>
                                        <p:cTn id="8" dur="500" fill="hold"/>
                                        <p:tgtEl>
                                          <p:spTgt spid="507909"/>
                                        </p:tgtEl>
                                        <p:attrNameLst>
                                          <p:attrName>ppt_y</p:attrName>
                                        </p:attrNameLst>
                                      </p:cBhvr>
                                      <p:tavLst>
                                        <p:tav tm="0">
                                          <p:val>
                                            <p:strVal val="#ppt_y-#ppt_h/2"/>
                                          </p:val>
                                        </p:tav>
                                        <p:tav tm="100000">
                                          <p:val>
                                            <p:strVal val="#ppt_y"/>
                                          </p:val>
                                        </p:tav>
                                      </p:tavLst>
                                    </p:anim>
                                    <p:anim calcmode="lin" valueType="num">
                                      <p:cBhvr>
                                        <p:cTn id="9" dur="500" fill="hold"/>
                                        <p:tgtEl>
                                          <p:spTgt spid="507909"/>
                                        </p:tgtEl>
                                        <p:attrNameLst>
                                          <p:attrName>ppt_w</p:attrName>
                                        </p:attrNameLst>
                                      </p:cBhvr>
                                      <p:tavLst>
                                        <p:tav tm="0">
                                          <p:val>
                                            <p:strVal val="#ppt_w"/>
                                          </p:val>
                                        </p:tav>
                                        <p:tav tm="100000">
                                          <p:val>
                                            <p:strVal val="#ppt_w"/>
                                          </p:val>
                                        </p:tav>
                                      </p:tavLst>
                                    </p:anim>
                                    <p:anim calcmode="lin" valueType="num">
                                      <p:cBhvr>
                                        <p:cTn id="10" dur="500" fill="hold"/>
                                        <p:tgtEl>
                                          <p:spTgt spid="507909"/>
                                        </p:tgtEl>
                                        <p:attrNameLst>
                                          <p:attrName>ppt_h</p:attrName>
                                        </p:attrNameLst>
                                      </p:cBhvr>
                                      <p:tavLst>
                                        <p:tav tm="0">
                                          <p:val>
                                            <p:fltVal val="0"/>
                                          </p:val>
                                        </p:tav>
                                        <p:tav tm="100000">
                                          <p:val>
                                            <p:strVal val="#ppt_h"/>
                                          </p:val>
                                        </p:tav>
                                      </p:tavLst>
                                    </p:anim>
                                  </p:childTnLst>
                                </p:cTn>
                              </p:par>
                            </p:childTnLst>
                          </p:cTn>
                        </p:par>
                        <p:par>
                          <p:cTn id="11" fill="hold">
                            <p:stCondLst>
                              <p:cond delay="2500"/>
                            </p:stCondLst>
                            <p:childTnLst>
                              <p:par>
                                <p:cTn id="12" presetID="17" presetClass="entr" presetSubtype="8" fill="hold" nodeType="afterEffect">
                                  <p:stCondLst>
                                    <p:cond delay="1000"/>
                                  </p:stCondLst>
                                  <p:childTnLst>
                                    <p:set>
                                      <p:cBhvr>
                                        <p:cTn id="13" dur="1" fill="hold">
                                          <p:stCondLst>
                                            <p:cond delay="0"/>
                                          </p:stCondLst>
                                        </p:cTn>
                                        <p:tgtEl>
                                          <p:spTgt spid="507912"/>
                                        </p:tgtEl>
                                        <p:attrNameLst>
                                          <p:attrName>style.visibility</p:attrName>
                                        </p:attrNameLst>
                                      </p:cBhvr>
                                      <p:to>
                                        <p:strVal val="visible"/>
                                      </p:to>
                                    </p:set>
                                    <p:anim calcmode="lin" valueType="num">
                                      <p:cBhvr>
                                        <p:cTn id="14" dur="500" fill="hold"/>
                                        <p:tgtEl>
                                          <p:spTgt spid="507912"/>
                                        </p:tgtEl>
                                        <p:attrNameLst>
                                          <p:attrName>ppt_x</p:attrName>
                                        </p:attrNameLst>
                                      </p:cBhvr>
                                      <p:tavLst>
                                        <p:tav tm="0">
                                          <p:val>
                                            <p:strVal val="#ppt_x-#ppt_w/2"/>
                                          </p:val>
                                        </p:tav>
                                        <p:tav tm="100000">
                                          <p:val>
                                            <p:strVal val="#ppt_x"/>
                                          </p:val>
                                        </p:tav>
                                      </p:tavLst>
                                    </p:anim>
                                    <p:anim calcmode="lin" valueType="num">
                                      <p:cBhvr>
                                        <p:cTn id="15" dur="500" fill="hold"/>
                                        <p:tgtEl>
                                          <p:spTgt spid="507912"/>
                                        </p:tgtEl>
                                        <p:attrNameLst>
                                          <p:attrName>ppt_y</p:attrName>
                                        </p:attrNameLst>
                                      </p:cBhvr>
                                      <p:tavLst>
                                        <p:tav tm="0">
                                          <p:val>
                                            <p:strVal val="#ppt_y"/>
                                          </p:val>
                                        </p:tav>
                                        <p:tav tm="100000">
                                          <p:val>
                                            <p:strVal val="#ppt_y"/>
                                          </p:val>
                                        </p:tav>
                                      </p:tavLst>
                                    </p:anim>
                                    <p:anim calcmode="lin" valueType="num">
                                      <p:cBhvr>
                                        <p:cTn id="16" dur="500" fill="hold"/>
                                        <p:tgtEl>
                                          <p:spTgt spid="507912"/>
                                        </p:tgtEl>
                                        <p:attrNameLst>
                                          <p:attrName>ppt_w</p:attrName>
                                        </p:attrNameLst>
                                      </p:cBhvr>
                                      <p:tavLst>
                                        <p:tav tm="0">
                                          <p:val>
                                            <p:fltVal val="0"/>
                                          </p:val>
                                        </p:tav>
                                        <p:tav tm="100000">
                                          <p:val>
                                            <p:strVal val="#ppt_w"/>
                                          </p:val>
                                        </p:tav>
                                      </p:tavLst>
                                    </p:anim>
                                    <p:anim calcmode="lin" valueType="num">
                                      <p:cBhvr>
                                        <p:cTn id="17" dur="500" fill="hold"/>
                                        <p:tgtEl>
                                          <p:spTgt spid="507912"/>
                                        </p:tgtEl>
                                        <p:attrNameLst>
                                          <p:attrName>ppt_h</p:attrName>
                                        </p:attrNameLst>
                                      </p:cBhvr>
                                      <p:tavLst>
                                        <p:tav tm="0">
                                          <p:val>
                                            <p:strVal val="#ppt_h"/>
                                          </p:val>
                                        </p:tav>
                                        <p:tav tm="100000">
                                          <p:val>
                                            <p:strVal val="#ppt_h"/>
                                          </p:val>
                                        </p:tav>
                                      </p:tavLst>
                                    </p:anim>
                                  </p:childTnLst>
                                </p:cTn>
                              </p:par>
                            </p:childTnLst>
                          </p:cTn>
                        </p:par>
                        <p:par>
                          <p:cTn id="18" fill="hold">
                            <p:stCondLst>
                              <p:cond delay="4000"/>
                            </p:stCondLst>
                            <p:childTnLst>
                              <p:par>
                                <p:cTn id="19" presetID="17" presetClass="entr" presetSubtype="1" fill="hold" nodeType="afterEffect">
                                  <p:stCondLst>
                                    <p:cond delay="1000"/>
                                  </p:stCondLst>
                                  <p:childTnLst>
                                    <p:set>
                                      <p:cBhvr>
                                        <p:cTn id="20" dur="1" fill="hold">
                                          <p:stCondLst>
                                            <p:cond delay="0"/>
                                          </p:stCondLst>
                                        </p:cTn>
                                        <p:tgtEl>
                                          <p:spTgt spid="507911"/>
                                        </p:tgtEl>
                                        <p:attrNameLst>
                                          <p:attrName>style.visibility</p:attrName>
                                        </p:attrNameLst>
                                      </p:cBhvr>
                                      <p:to>
                                        <p:strVal val="visible"/>
                                      </p:to>
                                    </p:set>
                                    <p:anim calcmode="lin" valueType="num">
                                      <p:cBhvr>
                                        <p:cTn id="21" dur="500" fill="hold"/>
                                        <p:tgtEl>
                                          <p:spTgt spid="507911"/>
                                        </p:tgtEl>
                                        <p:attrNameLst>
                                          <p:attrName>ppt_x</p:attrName>
                                        </p:attrNameLst>
                                      </p:cBhvr>
                                      <p:tavLst>
                                        <p:tav tm="0">
                                          <p:val>
                                            <p:strVal val="#ppt_x"/>
                                          </p:val>
                                        </p:tav>
                                        <p:tav tm="100000">
                                          <p:val>
                                            <p:strVal val="#ppt_x"/>
                                          </p:val>
                                        </p:tav>
                                      </p:tavLst>
                                    </p:anim>
                                    <p:anim calcmode="lin" valueType="num">
                                      <p:cBhvr>
                                        <p:cTn id="22" dur="500" fill="hold"/>
                                        <p:tgtEl>
                                          <p:spTgt spid="507911"/>
                                        </p:tgtEl>
                                        <p:attrNameLst>
                                          <p:attrName>ppt_y</p:attrName>
                                        </p:attrNameLst>
                                      </p:cBhvr>
                                      <p:tavLst>
                                        <p:tav tm="0">
                                          <p:val>
                                            <p:strVal val="#ppt_y-#ppt_h/2"/>
                                          </p:val>
                                        </p:tav>
                                        <p:tav tm="100000">
                                          <p:val>
                                            <p:strVal val="#ppt_y"/>
                                          </p:val>
                                        </p:tav>
                                      </p:tavLst>
                                    </p:anim>
                                    <p:anim calcmode="lin" valueType="num">
                                      <p:cBhvr>
                                        <p:cTn id="23" dur="500" fill="hold"/>
                                        <p:tgtEl>
                                          <p:spTgt spid="507911"/>
                                        </p:tgtEl>
                                        <p:attrNameLst>
                                          <p:attrName>ppt_w</p:attrName>
                                        </p:attrNameLst>
                                      </p:cBhvr>
                                      <p:tavLst>
                                        <p:tav tm="0">
                                          <p:val>
                                            <p:strVal val="#ppt_w"/>
                                          </p:val>
                                        </p:tav>
                                        <p:tav tm="100000">
                                          <p:val>
                                            <p:strVal val="#ppt_w"/>
                                          </p:val>
                                        </p:tav>
                                      </p:tavLst>
                                    </p:anim>
                                    <p:anim calcmode="lin" valueType="num">
                                      <p:cBhvr>
                                        <p:cTn id="24" dur="500" fill="hold"/>
                                        <p:tgtEl>
                                          <p:spTgt spid="507911"/>
                                        </p:tgtEl>
                                        <p:attrNameLst>
                                          <p:attrName>ppt_h</p:attrName>
                                        </p:attrNameLst>
                                      </p:cBhvr>
                                      <p:tavLst>
                                        <p:tav tm="0">
                                          <p:val>
                                            <p:fltVal val="0"/>
                                          </p:val>
                                        </p:tav>
                                        <p:tav tm="100000">
                                          <p:val>
                                            <p:strVal val="#ppt_h"/>
                                          </p:val>
                                        </p:tav>
                                      </p:tavLst>
                                    </p:anim>
                                  </p:childTnLst>
                                </p:cTn>
                              </p:par>
                            </p:childTnLst>
                          </p:cTn>
                        </p:par>
                        <p:par>
                          <p:cTn id="25" fill="hold">
                            <p:stCondLst>
                              <p:cond delay="5500"/>
                            </p:stCondLst>
                            <p:childTnLst>
                              <p:par>
                                <p:cTn id="26" presetID="17" presetClass="entr" presetSubtype="2" fill="hold" nodeType="afterEffect">
                                  <p:stCondLst>
                                    <p:cond delay="1000"/>
                                  </p:stCondLst>
                                  <p:childTnLst>
                                    <p:set>
                                      <p:cBhvr>
                                        <p:cTn id="27" dur="1" fill="hold">
                                          <p:stCondLst>
                                            <p:cond delay="0"/>
                                          </p:stCondLst>
                                        </p:cTn>
                                        <p:tgtEl>
                                          <p:spTgt spid="507915"/>
                                        </p:tgtEl>
                                        <p:attrNameLst>
                                          <p:attrName>style.visibility</p:attrName>
                                        </p:attrNameLst>
                                      </p:cBhvr>
                                      <p:to>
                                        <p:strVal val="visible"/>
                                      </p:to>
                                    </p:set>
                                    <p:anim calcmode="lin" valueType="num">
                                      <p:cBhvr>
                                        <p:cTn id="28" dur="500" fill="hold"/>
                                        <p:tgtEl>
                                          <p:spTgt spid="507915"/>
                                        </p:tgtEl>
                                        <p:attrNameLst>
                                          <p:attrName>ppt_x</p:attrName>
                                        </p:attrNameLst>
                                      </p:cBhvr>
                                      <p:tavLst>
                                        <p:tav tm="0">
                                          <p:val>
                                            <p:strVal val="#ppt_x+#ppt_w/2"/>
                                          </p:val>
                                        </p:tav>
                                        <p:tav tm="100000">
                                          <p:val>
                                            <p:strVal val="#ppt_x"/>
                                          </p:val>
                                        </p:tav>
                                      </p:tavLst>
                                    </p:anim>
                                    <p:anim calcmode="lin" valueType="num">
                                      <p:cBhvr>
                                        <p:cTn id="29" dur="500" fill="hold"/>
                                        <p:tgtEl>
                                          <p:spTgt spid="507915"/>
                                        </p:tgtEl>
                                        <p:attrNameLst>
                                          <p:attrName>ppt_y</p:attrName>
                                        </p:attrNameLst>
                                      </p:cBhvr>
                                      <p:tavLst>
                                        <p:tav tm="0">
                                          <p:val>
                                            <p:strVal val="#ppt_y"/>
                                          </p:val>
                                        </p:tav>
                                        <p:tav tm="100000">
                                          <p:val>
                                            <p:strVal val="#ppt_y"/>
                                          </p:val>
                                        </p:tav>
                                      </p:tavLst>
                                    </p:anim>
                                    <p:anim calcmode="lin" valueType="num">
                                      <p:cBhvr>
                                        <p:cTn id="30" dur="500" fill="hold"/>
                                        <p:tgtEl>
                                          <p:spTgt spid="507915"/>
                                        </p:tgtEl>
                                        <p:attrNameLst>
                                          <p:attrName>ppt_w</p:attrName>
                                        </p:attrNameLst>
                                      </p:cBhvr>
                                      <p:tavLst>
                                        <p:tav tm="0">
                                          <p:val>
                                            <p:fltVal val="0"/>
                                          </p:val>
                                        </p:tav>
                                        <p:tav tm="100000">
                                          <p:val>
                                            <p:strVal val="#ppt_w"/>
                                          </p:val>
                                        </p:tav>
                                      </p:tavLst>
                                    </p:anim>
                                    <p:anim calcmode="lin" valueType="num">
                                      <p:cBhvr>
                                        <p:cTn id="31" dur="500" fill="hold"/>
                                        <p:tgtEl>
                                          <p:spTgt spid="507915"/>
                                        </p:tgtEl>
                                        <p:attrNameLst>
                                          <p:attrName>ppt_h</p:attrName>
                                        </p:attrNameLst>
                                      </p:cBhvr>
                                      <p:tavLst>
                                        <p:tav tm="0">
                                          <p:val>
                                            <p:strVal val="#ppt_h"/>
                                          </p:val>
                                        </p:tav>
                                        <p:tav tm="100000">
                                          <p:val>
                                            <p:strVal val="#ppt_h"/>
                                          </p:val>
                                        </p:tav>
                                      </p:tavLst>
                                    </p:anim>
                                  </p:childTnLst>
                                </p:cTn>
                              </p:par>
                            </p:childTnLst>
                          </p:cTn>
                        </p:par>
                        <p:par>
                          <p:cTn id="32" fill="hold">
                            <p:stCondLst>
                              <p:cond delay="7000"/>
                            </p:stCondLst>
                            <p:childTnLst>
                              <p:par>
                                <p:cTn id="33" presetID="17" presetClass="entr" presetSubtype="1" fill="hold" nodeType="afterEffect">
                                  <p:stCondLst>
                                    <p:cond delay="1000"/>
                                  </p:stCondLst>
                                  <p:childTnLst>
                                    <p:set>
                                      <p:cBhvr>
                                        <p:cTn id="34" dur="1" fill="hold">
                                          <p:stCondLst>
                                            <p:cond delay="0"/>
                                          </p:stCondLst>
                                        </p:cTn>
                                        <p:tgtEl>
                                          <p:spTgt spid="507910"/>
                                        </p:tgtEl>
                                        <p:attrNameLst>
                                          <p:attrName>style.visibility</p:attrName>
                                        </p:attrNameLst>
                                      </p:cBhvr>
                                      <p:to>
                                        <p:strVal val="visible"/>
                                      </p:to>
                                    </p:set>
                                    <p:anim calcmode="lin" valueType="num">
                                      <p:cBhvr>
                                        <p:cTn id="35" dur="500" fill="hold"/>
                                        <p:tgtEl>
                                          <p:spTgt spid="507910"/>
                                        </p:tgtEl>
                                        <p:attrNameLst>
                                          <p:attrName>ppt_x</p:attrName>
                                        </p:attrNameLst>
                                      </p:cBhvr>
                                      <p:tavLst>
                                        <p:tav tm="0">
                                          <p:val>
                                            <p:strVal val="#ppt_x"/>
                                          </p:val>
                                        </p:tav>
                                        <p:tav tm="100000">
                                          <p:val>
                                            <p:strVal val="#ppt_x"/>
                                          </p:val>
                                        </p:tav>
                                      </p:tavLst>
                                    </p:anim>
                                    <p:anim calcmode="lin" valueType="num">
                                      <p:cBhvr>
                                        <p:cTn id="36" dur="500" fill="hold"/>
                                        <p:tgtEl>
                                          <p:spTgt spid="507910"/>
                                        </p:tgtEl>
                                        <p:attrNameLst>
                                          <p:attrName>ppt_y</p:attrName>
                                        </p:attrNameLst>
                                      </p:cBhvr>
                                      <p:tavLst>
                                        <p:tav tm="0">
                                          <p:val>
                                            <p:strVal val="#ppt_y-#ppt_h/2"/>
                                          </p:val>
                                        </p:tav>
                                        <p:tav tm="100000">
                                          <p:val>
                                            <p:strVal val="#ppt_y"/>
                                          </p:val>
                                        </p:tav>
                                      </p:tavLst>
                                    </p:anim>
                                    <p:anim calcmode="lin" valueType="num">
                                      <p:cBhvr>
                                        <p:cTn id="37" dur="500" fill="hold"/>
                                        <p:tgtEl>
                                          <p:spTgt spid="507910"/>
                                        </p:tgtEl>
                                        <p:attrNameLst>
                                          <p:attrName>ppt_w</p:attrName>
                                        </p:attrNameLst>
                                      </p:cBhvr>
                                      <p:tavLst>
                                        <p:tav tm="0">
                                          <p:val>
                                            <p:strVal val="#ppt_w"/>
                                          </p:val>
                                        </p:tav>
                                        <p:tav tm="100000">
                                          <p:val>
                                            <p:strVal val="#ppt_w"/>
                                          </p:val>
                                        </p:tav>
                                      </p:tavLst>
                                    </p:anim>
                                    <p:anim calcmode="lin" valueType="num">
                                      <p:cBhvr>
                                        <p:cTn id="38" dur="500" fill="hold"/>
                                        <p:tgtEl>
                                          <p:spTgt spid="507910"/>
                                        </p:tgtEl>
                                        <p:attrNameLst>
                                          <p:attrName>ppt_h</p:attrName>
                                        </p:attrNameLst>
                                      </p:cBhvr>
                                      <p:tavLst>
                                        <p:tav tm="0">
                                          <p:val>
                                            <p:fltVal val="0"/>
                                          </p:val>
                                        </p:tav>
                                        <p:tav tm="100000">
                                          <p:val>
                                            <p:strVal val="#ppt_h"/>
                                          </p:val>
                                        </p:tav>
                                      </p:tavLst>
                                    </p:anim>
                                  </p:childTnLst>
                                </p:cTn>
                              </p:par>
                            </p:childTnLst>
                          </p:cTn>
                        </p:par>
                        <p:par>
                          <p:cTn id="39" fill="hold">
                            <p:stCondLst>
                              <p:cond delay="8500"/>
                            </p:stCondLst>
                            <p:childTnLst>
                              <p:par>
                                <p:cTn id="40" presetID="7" presetClass="entr" presetSubtype="2" fill="hold" grpId="0" nodeType="afterEffect">
                                  <p:stCondLst>
                                    <p:cond delay="2000"/>
                                  </p:stCondLst>
                                  <p:childTnLst>
                                    <p:set>
                                      <p:cBhvr>
                                        <p:cTn id="41" dur="1" fill="hold">
                                          <p:stCondLst>
                                            <p:cond delay="0"/>
                                          </p:stCondLst>
                                        </p:cTn>
                                        <p:tgtEl>
                                          <p:spTgt spid="507916"/>
                                        </p:tgtEl>
                                        <p:attrNameLst>
                                          <p:attrName>style.visibility</p:attrName>
                                        </p:attrNameLst>
                                      </p:cBhvr>
                                      <p:to>
                                        <p:strVal val="visible"/>
                                      </p:to>
                                    </p:set>
                                    <p:anim calcmode="lin" valueType="num">
                                      <p:cBhvr additive="base">
                                        <p:cTn id="42" dur="5000" fill="hold"/>
                                        <p:tgtEl>
                                          <p:spTgt spid="507916"/>
                                        </p:tgtEl>
                                        <p:attrNameLst>
                                          <p:attrName>ppt_x</p:attrName>
                                        </p:attrNameLst>
                                      </p:cBhvr>
                                      <p:tavLst>
                                        <p:tav tm="0">
                                          <p:val>
                                            <p:strVal val="1+#ppt_w/2"/>
                                          </p:val>
                                        </p:tav>
                                        <p:tav tm="100000">
                                          <p:val>
                                            <p:strVal val="#ppt_x"/>
                                          </p:val>
                                        </p:tav>
                                      </p:tavLst>
                                    </p:anim>
                                    <p:anim calcmode="lin" valueType="num">
                                      <p:cBhvr additive="base">
                                        <p:cTn id="43" dur="5000" fill="hold"/>
                                        <p:tgtEl>
                                          <p:spTgt spid="5079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16" grpId="0" animBg="1"/>
    </p:bldLst>
  </p:timing>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8930" name="标题 508929"/>
          <p:cNvSpPr>
            <a:spLocks noGrp="1"/>
          </p:cNvSpPr>
          <p:nvPr>
            <p:ph type="title"/>
          </p:nvPr>
        </p:nvSpPr>
        <p:spPr>
          <a:xfrm>
            <a:off x="457200" y="850900"/>
            <a:ext cx="2962275" cy="490538"/>
          </a:xfrm>
          <a:ln/>
        </p:spPr>
        <p:txBody>
          <a:bodyPr anchor="ctr"/>
          <a:lstStyle/>
          <a:p>
            <a:pPr algn="l"/>
            <a:r>
              <a:rPr lang="en-US" altLang="zh-CN" sz="2400" b="1" dirty="0">
                <a:solidFill>
                  <a:schemeClr val="tx1"/>
                </a:solidFill>
              </a:rPr>
              <a:t>1</a:t>
            </a:r>
            <a:r>
              <a:rPr lang="zh-CN" altLang="en-US" sz="2400" b="1" dirty="0">
                <a:solidFill>
                  <a:schemeClr val="tx1"/>
                </a:solidFill>
              </a:rPr>
              <a:t>）子程序调用指令</a:t>
            </a:r>
          </a:p>
        </p:txBody>
      </p:sp>
      <p:sp>
        <p:nvSpPr>
          <p:cNvPr id="508931" name="文本占位符 508930"/>
          <p:cNvSpPr>
            <a:spLocks noGrp="1"/>
          </p:cNvSpPr>
          <p:nvPr>
            <p:ph type="body" idx="1"/>
          </p:nvPr>
        </p:nvSpPr>
        <p:spPr>
          <a:xfrm>
            <a:off x="457200" y="1295400"/>
            <a:ext cx="8291513" cy="5029200"/>
          </a:xfrm>
          <a:ln/>
        </p:spPr>
        <p:txBody>
          <a:bodyPr/>
          <a:lstStyle/>
          <a:p>
            <a:pPr>
              <a:lnSpc>
                <a:spcPct val="90000"/>
              </a:lnSpc>
              <a:buClrTx/>
              <a:buNone/>
            </a:pPr>
            <a:r>
              <a:rPr lang="en-US" altLang="zh-CN" sz="2400" b="1" dirty="0"/>
              <a:t>CALL</a:t>
            </a:r>
            <a:r>
              <a:rPr lang="zh-CN" altLang="en-US" sz="2400" b="1" dirty="0"/>
              <a:t>指令分成</a:t>
            </a:r>
            <a:r>
              <a:rPr lang="en-US" altLang="zh-CN" sz="2400" b="1" dirty="0">
                <a:solidFill>
                  <a:srgbClr val="FF00FF"/>
                </a:solidFill>
              </a:rPr>
              <a:t>4</a:t>
            </a:r>
            <a:r>
              <a:rPr lang="zh-CN" altLang="en-US" sz="2400" b="1" dirty="0">
                <a:solidFill>
                  <a:srgbClr val="FF00FF"/>
                </a:solidFill>
              </a:rPr>
              <a:t>种</a:t>
            </a:r>
            <a:r>
              <a:rPr lang="zh-CN" altLang="en-US" sz="2400" b="1" dirty="0"/>
              <a:t>类型</a:t>
            </a:r>
          </a:p>
          <a:p>
            <a:pPr lvl="1">
              <a:lnSpc>
                <a:spcPct val="80000"/>
              </a:lnSpc>
              <a:buClrTx/>
              <a:buNone/>
            </a:pPr>
            <a:r>
              <a:rPr lang="en-US" altLang="zh-CN" sz="2400" b="1" dirty="0"/>
              <a:t>CALL </a:t>
            </a:r>
            <a:r>
              <a:rPr lang="zh-CN" altLang="en-US" sz="2400" b="1" dirty="0"/>
              <a:t>子程序名		　　       ；</a:t>
            </a:r>
            <a:r>
              <a:rPr lang="zh-CN" altLang="en-US" sz="2400" b="1" dirty="0">
                <a:solidFill>
                  <a:srgbClr val="0000FF"/>
                </a:solidFill>
              </a:rPr>
              <a:t>段内</a:t>
            </a:r>
            <a:r>
              <a:rPr lang="zh-CN" altLang="en-US" sz="2400" b="1" dirty="0">
                <a:solidFill>
                  <a:schemeClr val="accent1"/>
                </a:solidFill>
              </a:rPr>
              <a:t>直接</a:t>
            </a:r>
            <a:r>
              <a:rPr lang="zh-CN" altLang="en-US" sz="2400" b="1" dirty="0"/>
              <a:t>调用</a:t>
            </a:r>
          </a:p>
          <a:p>
            <a:pPr lvl="1">
              <a:lnSpc>
                <a:spcPct val="80000"/>
              </a:lnSpc>
              <a:buClrTx/>
              <a:buNone/>
            </a:pPr>
            <a:r>
              <a:rPr lang="en-US" altLang="zh-CN" sz="2400" b="1" dirty="0"/>
              <a:t>CALL </a:t>
            </a:r>
            <a:r>
              <a:rPr lang="en-US" altLang="zh-CN" sz="2400" b="1" dirty="0">
                <a:solidFill>
                  <a:srgbClr val="0000FF"/>
                </a:solidFill>
              </a:rPr>
              <a:t>WORD  PTR</a:t>
            </a:r>
            <a:r>
              <a:rPr lang="en-US" altLang="zh-CN" dirty="0"/>
              <a:t> </a:t>
            </a:r>
            <a:r>
              <a:rPr lang="en-US" altLang="zh-CN" sz="2400" b="1" dirty="0"/>
              <a:t> r16/m16	</a:t>
            </a:r>
            <a:r>
              <a:rPr lang="zh-CN" altLang="en-US" sz="2400" b="1" dirty="0"/>
              <a:t>　；</a:t>
            </a:r>
            <a:r>
              <a:rPr lang="zh-CN" altLang="en-US" sz="2400" b="1" dirty="0">
                <a:solidFill>
                  <a:srgbClr val="0000FF"/>
                </a:solidFill>
              </a:rPr>
              <a:t>段内</a:t>
            </a:r>
            <a:r>
              <a:rPr lang="zh-CN" altLang="en-US" sz="2400" b="1" dirty="0">
                <a:solidFill>
                  <a:srgbClr val="990099"/>
                </a:solidFill>
              </a:rPr>
              <a:t>间接</a:t>
            </a:r>
            <a:r>
              <a:rPr lang="zh-CN" altLang="en-US" sz="2400" b="1" dirty="0"/>
              <a:t>调用</a:t>
            </a:r>
          </a:p>
          <a:p>
            <a:pPr lvl="1">
              <a:lnSpc>
                <a:spcPct val="80000"/>
              </a:lnSpc>
              <a:buClrTx/>
              <a:buNone/>
            </a:pPr>
            <a:r>
              <a:rPr lang="en-US" altLang="zh-CN" sz="2400" b="1" dirty="0"/>
              <a:t>CALL </a:t>
            </a:r>
            <a:r>
              <a:rPr lang="en-US" altLang="zh-CN" sz="2400" b="1" dirty="0">
                <a:solidFill>
                  <a:srgbClr val="0000FF"/>
                </a:solidFill>
              </a:rPr>
              <a:t>far </a:t>
            </a:r>
            <a:r>
              <a:rPr lang="en-US" altLang="zh-CN" sz="2400" b="1" dirty="0" err="1">
                <a:solidFill>
                  <a:srgbClr val="0000FF"/>
                </a:solidFill>
              </a:rPr>
              <a:t>ptr</a:t>
            </a:r>
            <a:r>
              <a:rPr lang="zh-CN" altLang="en-US" sz="2400" b="1" dirty="0"/>
              <a:t>子程序名	               ；</a:t>
            </a:r>
            <a:r>
              <a:rPr lang="zh-CN" altLang="en-US" sz="2400" b="1" dirty="0">
                <a:solidFill>
                  <a:srgbClr val="FF00FF"/>
                </a:solidFill>
              </a:rPr>
              <a:t>段间</a:t>
            </a:r>
            <a:r>
              <a:rPr lang="zh-CN" altLang="en-US" sz="2400" b="1" dirty="0">
                <a:solidFill>
                  <a:schemeClr val="accent1"/>
                </a:solidFill>
              </a:rPr>
              <a:t>直接</a:t>
            </a:r>
            <a:r>
              <a:rPr lang="zh-CN" altLang="en-US" sz="2400" b="1" dirty="0"/>
              <a:t>调用</a:t>
            </a:r>
          </a:p>
          <a:p>
            <a:pPr lvl="1">
              <a:lnSpc>
                <a:spcPct val="80000"/>
              </a:lnSpc>
              <a:buClrTx/>
              <a:buNone/>
            </a:pPr>
            <a:r>
              <a:rPr lang="en-US" altLang="zh-CN" sz="2400" b="1" dirty="0"/>
              <a:t>CALL </a:t>
            </a:r>
            <a:r>
              <a:rPr lang="en-US" altLang="zh-CN" sz="2400" dirty="0"/>
              <a:t> </a:t>
            </a:r>
            <a:r>
              <a:rPr lang="en-US" altLang="zh-CN" sz="2400" b="1" dirty="0"/>
              <a:t>DWORD</a:t>
            </a:r>
            <a:r>
              <a:rPr lang="en-US" altLang="zh-CN" sz="2400" dirty="0"/>
              <a:t> </a:t>
            </a:r>
            <a:r>
              <a:rPr lang="en-US" altLang="zh-CN" sz="2400" b="1" dirty="0" err="1">
                <a:solidFill>
                  <a:srgbClr val="0000FF"/>
                </a:solidFill>
              </a:rPr>
              <a:t>ptr</a:t>
            </a:r>
            <a:r>
              <a:rPr lang="en-US" altLang="zh-CN" sz="2400" b="1" dirty="0"/>
              <a:t> mem            </a:t>
            </a:r>
            <a:r>
              <a:rPr lang="zh-CN" altLang="en-US" sz="2400" b="1" dirty="0"/>
              <a:t>；</a:t>
            </a:r>
            <a:r>
              <a:rPr lang="zh-CN" altLang="en-US" sz="2400" b="1" dirty="0">
                <a:solidFill>
                  <a:srgbClr val="FF00FF"/>
                </a:solidFill>
              </a:rPr>
              <a:t>段间</a:t>
            </a:r>
            <a:r>
              <a:rPr lang="zh-CN" altLang="en-US" sz="2400" b="1" dirty="0">
                <a:solidFill>
                  <a:srgbClr val="990099"/>
                </a:solidFill>
              </a:rPr>
              <a:t>间接</a:t>
            </a:r>
            <a:r>
              <a:rPr lang="zh-CN" altLang="en-US" sz="2400" b="1" dirty="0"/>
              <a:t>调用</a:t>
            </a:r>
          </a:p>
          <a:p>
            <a:pPr>
              <a:lnSpc>
                <a:spcPct val="90000"/>
              </a:lnSpc>
              <a:buClrTx/>
              <a:buNone/>
            </a:pPr>
            <a:r>
              <a:rPr lang="en-US" altLang="zh-CN" sz="2400" b="1" dirty="0"/>
              <a:t>CALL</a:t>
            </a:r>
            <a:r>
              <a:rPr lang="zh-CN" altLang="en-US" sz="2400" b="1" dirty="0"/>
              <a:t>指令需要</a:t>
            </a:r>
            <a:r>
              <a:rPr lang="zh-CN" altLang="en-US" sz="2400" b="1" dirty="0">
                <a:solidFill>
                  <a:srgbClr val="0000FF"/>
                </a:solidFill>
              </a:rPr>
              <a:t>保存返回地址</a:t>
            </a:r>
            <a:r>
              <a:rPr lang="zh-CN" altLang="en-US" sz="2400" b="1" dirty="0"/>
              <a:t>： </a:t>
            </a:r>
          </a:p>
          <a:p>
            <a:pPr lvl="1">
              <a:lnSpc>
                <a:spcPct val="90000"/>
              </a:lnSpc>
              <a:buClrTx/>
              <a:buNone/>
            </a:pPr>
            <a:r>
              <a:rPr lang="zh-CN" altLang="en-US" sz="2400" b="1" dirty="0">
                <a:solidFill>
                  <a:srgbClr val="0000FF"/>
                </a:solidFill>
              </a:rPr>
              <a:t>段内调用</a:t>
            </a:r>
            <a:r>
              <a:rPr lang="en-US" altLang="zh-CN" sz="2400" b="1" dirty="0"/>
              <a:t>——</a:t>
            </a:r>
            <a:r>
              <a:rPr lang="zh-CN" altLang="en-US" sz="2400" b="1" dirty="0"/>
              <a:t>在</a:t>
            </a:r>
            <a:r>
              <a:rPr lang="zh-CN" altLang="en-US" sz="2400" b="1" dirty="0">
                <a:solidFill>
                  <a:srgbClr val="FF00FF"/>
                </a:solidFill>
              </a:rPr>
              <a:t>同一代码段内</a:t>
            </a:r>
            <a:r>
              <a:rPr lang="zh-CN" altLang="en-US" sz="2400" b="1" dirty="0"/>
              <a:t>进行，也称近调用</a:t>
            </a:r>
          </a:p>
          <a:p>
            <a:pPr lvl="1">
              <a:lnSpc>
                <a:spcPct val="90000"/>
              </a:lnSpc>
              <a:buClrTx/>
              <a:buNone/>
            </a:pPr>
            <a:r>
              <a:rPr lang="zh-CN" altLang="en-US" sz="2400" b="1" dirty="0"/>
              <a:t>偏移地址</a:t>
            </a:r>
            <a:r>
              <a:rPr lang="en-US" altLang="zh-CN" sz="2400" b="1" dirty="0">
                <a:solidFill>
                  <a:srgbClr val="FF00FF"/>
                </a:solidFill>
              </a:rPr>
              <a:t>IP</a:t>
            </a:r>
            <a:r>
              <a:rPr lang="zh-CN" altLang="en-US" sz="2400" b="1" dirty="0"/>
              <a:t>入栈</a:t>
            </a:r>
          </a:p>
          <a:p>
            <a:pPr lvl="1">
              <a:lnSpc>
                <a:spcPct val="80000"/>
              </a:lnSpc>
              <a:buClrTx/>
              <a:buNone/>
            </a:pPr>
            <a:r>
              <a:rPr lang="en-US" altLang="zh-CN" sz="2400" b="1" dirty="0"/>
              <a:t>SP←SP</a:t>
            </a:r>
            <a:r>
              <a:rPr lang="zh-CN" altLang="en-US" sz="2400" b="1" dirty="0"/>
              <a:t>－</a:t>
            </a:r>
            <a:r>
              <a:rPr lang="en-US" altLang="zh-CN" sz="2400" b="1" dirty="0"/>
              <a:t>2</a:t>
            </a:r>
            <a:r>
              <a:rPr lang="zh-CN" altLang="en-US" sz="2400" b="1" dirty="0"/>
              <a:t>，</a:t>
            </a:r>
            <a:r>
              <a:rPr lang="en-US" altLang="zh-CN" sz="2400" b="1" dirty="0"/>
              <a:t>SS:[SP]←IP</a:t>
            </a:r>
          </a:p>
          <a:p>
            <a:pPr lvl="1">
              <a:lnSpc>
                <a:spcPct val="90000"/>
              </a:lnSpc>
              <a:buClrTx/>
              <a:buNone/>
            </a:pPr>
            <a:r>
              <a:rPr lang="zh-CN" altLang="en-US" sz="2400" b="1" dirty="0">
                <a:solidFill>
                  <a:srgbClr val="0000FF"/>
                </a:solidFill>
              </a:rPr>
              <a:t>段间调用</a:t>
            </a:r>
            <a:r>
              <a:rPr lang="en-US" altLang="zh-CN" sz="2400" b="1" dirty="0"/>
              <a:t>——</a:t>
            </a:r>
            <a:r>
              <a:rPr lang="zh-CN" altLang="en-US" sz="2400" b="1" dirty="0"/>
              <a:t>在</a:t>
            </a:r>
            <a:r>
              <a:rPr lang="zh-CN" altLang="en-US" sz="2400" b="1" dirty="0">
                <a:solidFill>
                  <a:srgbClr val="FF00FF"/>
                </a:solidFill>
              </a:rPr>
              <a:t>不同代码段之间</a:t>
            </a:r>
            <a:r>
              <a:rPr lang="zh-CN" altLang="en-US" sz="2400" b="1" dirty="0"/>
              <a:t>进行，也称远调用</a:t>
            </a:r>
          </a:p>
          <a:p>
            <a:pPr lvl="1">
              <a:lnSpc>
                <a:spcPct val="90000"/>
              </a:lnSpc>
              <a:buClrTx/>
              <a:buNone/>
            </a:pPr>
            <a:r>
              <a:rPr lang="zh-CN" altLang="en-US" sz="2400" b="1" dirty="0"/>
              <a:t>偏移地址</a:t>
            </a:r>
            <a:r>
              <a:rPr lang="en-US" altLang="zh-CN" sz="2400" b="1" dirty="0">
                <a:solidFill>
                  <a:srgbClr val="FF00FF"/>
                </a:solidFill>
              </a:rPr>
              <a:t>IP</a:t>
            </a:r>
            <a:r>
              <a:rPr lang="zh-CN" altLang="en-US" sz="2400" b="1" dirty="0"/>
              <a:t>和段地址</a:t>
            </a:r>
            <a:r>
              <a:rPr lang="en-US" altLang="zh-CN" sz="2400" b="1" dirty="0">
                <a:solidFill>
                  <a:srgbClr val="FF00FF"/>
                </a:solidFill>
              </a:rPr>
              <a:t>CS</a:t>
            </a:r>
            <a:r>
              <a:rPr lang="zh-CN" altLang="en-US" sz="2400" b="1" dirty="0"/>
              <a:t>入栈</a:t>
            </a:r>
          </a:p>
          <a:p>
            <a:pPr lvl="1">
              <a:lnSpc>
                <a:spcPct val="80000"/>
              </a:lnSpc>
              <a:buClrTx/>
              <a:buNone/>
            </a:pPr>
            <a:r>
              <a:rPr lang="en-US" altLang="zh-CN" sz="2400" b="1" dirty="0"/>
              <a:t>SP←SP</a:t>
            </a:r>
            <a:r>
              <a:rPr lang="zh-CN" altLang="en-US" sz="2400" b="1" dirty="0"/>
              <a:t>－</a:t>
            </a:r>
            <a:r>
              <a:rPr lang="en-US" altLang="zh-CN" sz="2400" b="1" dirty="0"/>
              <a:t>2</a:t>
            </a:r>
            <a:r>
              <a:rPr lang="zh-CN" altLang="en-US" sz="2400" b="1" dirty="0"/>
              <a:t>，</a:t>
            </a:r>
            <a:r>
              <a:rPr lang="en-US" altLang="zh-CN" sz="2400" b="1" dirty="0"/>
              <a:t>SS:[SP]←IP</a:t>
            </a:r>
          </a:p>
          <a:p>
            <a:pPr lvl="1">
              <a:lnSpc>
                <a:spcPct val="80000"/>
              </a:lnSpc>
              <a:buClrTx/>
              <a:buNone/>
            </a:pPr>
            <a:r>
              <a:rPr lang="en-US" altLang="zh-CN" sz="2400" b="1" dirty="0"/>
              <a:t>SP←SP</a:t>
            </a:r>
            <a:r>
              <a:rPr lang="zh-CN" altLang="en-US" sz="2400" b="1" dirty="0"/>
              <a:t>－</a:t>
            </a:r>
            <a:r>
              <a:rPr lang="en-US" altLang="zh-CN" sz="2400" b="1" dirty="0"/>
              <a:t>2</a:t>
            </a:r>
            <a:r>
              <a:rPr lang="zh-CN" altLang="en-US" sz="2400" b="1" dirty="0"/>
              <a:t>，</a:t>
            </a:r>
            <a:r>
              <a:rPr lang="en-US" altLang="zh-CN" sz="2400" b="1" dirty="0"/>
              <a:t>SS:[SP]←CS</a:t>
            </a:r>
          </a:p>
        </p:txBody>
      </p:sp>
      <p:sp>
        <p:nvSpPr>
          <p:cNvPr id="5" name="矩形 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7368" name="矩形 527367"/>
          <p:cNvSpPr/>
          <p:nvPr/>
        </p:nvSpPr>
        <p:spPr>
          <a:xfrm>
            <a:off x="395288" y="765175"/>
            <a:ext cx="2919412" cy="457200"/>
          </a:xfrm>
          <a:prstGeom prst="rect">
            <a:avLst/>
          </a:prstGeom>
          <a:noFill/>
          <a:ln w="9525">
            <a:noFill/>
          </a:ln>
        </p:spPr>
        <p:txBody>
          <a:bodyPr wrap="none" anchor="ctr">
            <a:spAutoFit/>
          </a:bodyPr>
          <a:lstStyle/>
          <a:p>
            <a:pPr lvl="0"/>
            <a:r>
              <a:rPr lang="en-US" altLang="zh-CN" sz="2400" b="1">
                <a:solidFill>
                  <a:srgbClr val="0000FF"/>
                </a:solidFill>
                <a:latin typeface="Arial" panose="020B0604020202020204" pitchFamily="34" charset="0"/>
                <a:ea typeface="宋体" panose="02010600030101010101" pitchFamily="2" charset="-122"/>
              </a:rPr>
              <a:t>CALL</a:t>
            </a:r>
            <a:r>
              <a:rPr lang="zh-CN" altLang="en-US" sz="2400" b="1" dirty="0">
                <a:solidFill>
                  <a:srgbClr val="0000FF"/>
                </a:solidFill>
                <a:latin typeface="Arial" panose="020B0604020202020204" pitchFamily="34" charset="0"/>
                <a:ea typeface="宋体" panose="02010600030101010101" pitchFamily="2" charset="-122"/>
              </a:rPr>
              <a:t>指令调用示例</a:t>
            </a:r>
            <a:r>
              <a:rPr lang="zh-CN" altLang="en-US" sz="2400" b="1" dirty="0">
                <a:latin typeface="Arial" panose="020B0604020202020204" pitchFamily="34" charset="0"/>
                <a:ea typeface="宋体" panose="02010600030101010101" pitchFamily="2" charset="-122"/>
              </a:rPr>
              <a:t> </a:t>
            </a:r>
          </a:p>
        </p:txBody>
      </p:sp>
      <p:sp>
        <p:nvSpPr>
          <p:cNvPr id="527370" name="矩形 527369"/>
          <p:cNvSpPr/>
          <p:nvPr/>
        </p:nvSpPr>
        <p:spPr>
          <a:xfrm>
            <a:off x="684213" y="1196975"/>
            <a:ext cx="7512050" cy="1552575"/>
          </a:xfrm>
          <a:prstGeom prst="rect">
            <a:avLst/>
          </a:prstGeom>
          <a:noFill/>
          <a:ln w="9525">
            <a:noFill/>
          </a:ln>
        </p:spPr>
        <p:txBody>
          <a:bodyPr anchor="ctr">
            <a:spAutoFit/>
          </a:bodyPr>
          <a:lstStyle/>
          <a:p>
            <a:pPr lvl="0" indent="533400">
              <a:buClrTx/>
            </a:pPr>
            <a:r>
              <a:rPr lang="en-US" altLang="zh-CN" sz="2400" b="1">
                <a:latin typeface="Arial" panose="020B0604020202020204" pitchFamily="34" charset="0"/>
                <a:ea typeface="宋体" panose="02010600030101010101" pitchFamily="2" charset="-122"/>
              </a:rPr>
              <a:t>CALL  DISPLAY                      ; </a:t>
            </a:r>
            <a:r>
              <a:rPr lang="zh-CN" altLang="en-US" sz="2400" b="1" dirty="0">
                <a:solidFill>
                  <a:srgbClr val="0000FF"/>
                </a:solidFill>
                <a:latin typeface="Arial" panose="020B0604020202020204" pitchFamily="34" charset="0"/>
                <a:ea typeface="宋体" panose="02010600030101010101" pitchFamily="2" charset="-122"/>
              </a:rPr>
              <a:t>段内直接</a:t>
            </a:r>
            <a:r>
              <a:rPr lang="zh-CN" altLang="en-US" sz="2400" b="1" dirty="0">
                <a:latin typeface="Arial" panose="020B0604020202020204" pitchFamily="34" charset="0"/>
                <a:ea typeface="宋体" panose="02010600030101010101" pitchFamily="2" charset="-122"/>
              </a:rPr>
              <a:t>调用</a:t>
            </a:r>
          </a:p>
          <a:p>
            <a:pPr lvl="0" indent="533400">
              <a:buClrTx/>
            </a:pPr>
            <a:r>
              <a:rPr lang="en-US" altLang="zh-CN" sz="2400" b="1">
                <a:latin typeface="Arial" panose="020B0604020202020204" pitchFamily="34" charset="0"/>
                <a:ea typeface="宋体" panose="02010600030101010101" pitchFamily="2" charset="-122"/>
              </a:rPr>
              <a:t>CALL  BX                                 ; </a:t>
            </a:r>
            <a:r>
              <a:rPr lang="zh-CN" altLang="en-US" sz="2400" b="1" dirty="0">
                <a:solidFill>
                  <a:srgbClr val="FF00FF"/>
                </a:solidFill>
                <a:latin typeface="Arial" panose="020B0604020202020204" pitchFamily="34" charset="0"/>
                <a:ea typeface="宋体" panose="02010600030101010101" pitchFamily="2" charset="-122"/>
              </a:rPr>
              <a:t>段内间接</a:t>
            </a:r>
            <a:r>
              <a:rPr lang="zh-CN" altLang="en-US" sz="2400" b="1" dirty="0">
                <a:latin typeface="Arial" panose="020B0604020202020204" pitchFamily="34" charset="0"/>
                <a:ea typeface="宋体" panose="02010600030101010101" pitchFamily="2" charset="-122"/>
              </a:rPr>
              <a:t>调用</a:t>
            </a:r>
          </a:p>
          <a:p>
            <a:pPr lvl="0" indent="533400">
              <a:buClrTx/>
            </a:pPr>
            <a:r>
              <a:rPr lang="en-US" altLang="zh-CN" sz="2400" b="1">
                <a:latin typeface="Arial" panose="020B0604020202020204" pitchFamily="34" charset="0"/>
                <a:ea typeface="宋体" panose="02010600030101010101" pitchFamily="2" charset="-122"/>
              </a:rPr>
              <a:t>CALL  WORD  PTR [BX]         ; </a:t>
            </a:r>
            <a:r>
              <a:rPr lang="zh-CN" altLang="en-US" sz="2400" b="1" dirty="0">
                <a:solidFill>
                  <a:schemeClr val="accent1"/>
                </a:solidFill>
                <a:latin typeface="Arial" panose="020B0604020202020204" pitchFamily="34" charset="0"/>
                <a:ea typeface="宋体" panose="02010600030101010101" pitchFamily="2" charset="-122"/>
              </a:rPr>
              <a:t>段内间接</a:t>
            </a:r>
            <a:r>
              <a:rPr lang="zh-CN" altLang="en-US" sz="2400" b="1" dirty="0">
                <a:latin typeface="Arial" panose="020B0604020202020204" pitchFamily="34" charset="0"/>
                <a:ea typeface="宋体" panose="02010600030101010101" pitchFamily="2" charset="-122"/>
              </a:rPr>
              <a:t>调用</a:t>
            </a:r>
          </a:p>
          <a:p>
            <a:pPr lvl="0" indent="533400">
              <a:buClrTx/>
            </a:pPr>
            <a:r>
              <a:rPr lang="en-US" altLang="zh-CN" sz="2400" b="1">
                <a:latin typeface="Arial" panose="020B0604020202020204" pitchFamily="34" charset="0"/>
                <a:ea typeface="宋体" panose="02010600030101010101" pitchFamily="2" charset="-122"/>
              </a:rPr>
              <a:t>CALL  DWORD  PTR [BX]      ; </a:t>
            </a:r>
            <a:r>
              <a:rPr lang="zh-CN" altLang="en-US" sz="2400" b="1" dirty="0">
                <a:solidFill>
                  <a:srgbClr val="990099"/>
                </a:solidFill>
                <a:latin typeface="Arial" panose="020B0604020202020204" pitchFamily="34" charset="0"/>
                <a:ea typeface="宋体" panose="02010600030101010101" pitchFamily="2" charset="-122"/>
              </a:rPr>
              <a:t>段间间接</a:t>
            </a:r>
            <a:r>
              <a:rPr lang="zh-CN" altLang="en-US" sz="2400" b="1" dirty="0">
                <a:latin typeface="Arial" panose="020B0604020202020204" pitchFamily="34" charset="0"/>
                <a:ea typeface="宋体" panose="02010600030101010101" pitchFamily="2" charset="-122"/>
              </a:rPr>
              <a:t>调用</a:t>
            </a:r>
            <a:r>
              <a:rPr lang="zh-CN" altLang="en-US" sz="1800" dirty="0">
                <a:latin typeface="Arial" panose="020B0604020202020204" pitchFamily="34" charset="0"/>
                <a:ea typeface="宋体" panose="02010600030101010101" pitchFamily="2" charset="-122"/>
              </a:rPr>
              <a:t> </a:t>
            </a:r>
            <a:endParaRPr lang="en-US" altLang="zh-CN" sz="1800">
              <a:latin typeface="Arial" panose="020B0604020202020204" pitchFamily="34" charset="0"/>
              <a:ea typeface="宋体" panose="02010600030101010101" pitchFamily="2" charset="-122"/>
            </a:endParaRPr>
          </a:p>
        </p:txBody>
      </p:sp>
      <p:sp>
        <p:nvSpPr>
          <p:cNvPr id="527371" name="矩形 527370"/>
          <p:cNvSpPr/>
          <p:nvPr/>
        </p:nvSpPr>
        <p:spPr>
          <a:xfrm>
            <a:off x="468313" y="2674938"/>
            <a:ext cx="8280400" cy="3743325"/>
          </a:xfrm>
          <a:prstGeom prst="rect">
            <a:avLst/>
          </a:prstGeom>
          <a:noFill/>
          <a:ln w="9525">
            <a:noFill/>
          </a:ln>
        </p:spPr>
        <p:txBody>
          <a:bodyPr anchor="ctr">
            <a:spAutoFit/>
          </a:bodyPr>
          <a:lstStyle/>
          <a:p>
            <a:pPr lvl="0" indent="533400">
              <a:buClrTx/>
            </a:pPr>
            <a:r>
              <a:rPr lang="zh-CN" altLang="en-US" sz="2400" b="1" dirty="0">
                <a:latin typeface="Arial" panose="020B0604020202020204" pitchFamily="34" charset="0"/>
                <a:ea typeface="宋体" panose="02010600030101010101" pitchFamily="2" charset="-122"/>
              </a:rPr>
              <a:t>例：段间直接调用示例</a:t>
            </a:r>
          </a:p>
          <a:p>
            <a:pPr lvl="0" indent="533400">
              <a:buClrTx/>
            </a:pPr>
            <a:r>
              <a:rPr lang="fr-FR" altLang="zh-CN" sz="2400" b="1" dirty="0">
                <a:latin typeface="Arial" panose="020B0604020202020204" pitchFamily="34" charset="0"/>
                <a:ea typeface="宋体" panose="02010600030101010101" pitchFamily="2" charset="-122"/>
              </a:rPr>
              <a:t>CODE1  SEGMENT                    CODE2  SEGMENT</a:t>
            </a:r>
            <a:endParaRPr lang="en-US" altLang="zh-CN" sz="2400" b="1">
              <a:latin typeface="Arial" panose="020B0604020202020204" pitchFamily="34" charset="0"/>
              <a:ea typeface="宋体" panose="02010600030101010101" pitchFamily="2" charset="-122"/>
            </a:endParaRPr>
          </a:p>
          <a:p>
            <a:pPr lvl="0" indent="533400">
              <a:buClrTx/>
            </a:pPr>
            <a:r>
              <a:rPr lang="fr-FR" altLang="zh-CN" sz="2400" b="1" dirty="0">
                <a:latin typeface="Arial" panose="020B0604020202020204" pitchFamily="34" charset="0"/>
                <a:ea typeface="宋体" panose="02010600030101010101" pitchFamily="2" charset="-122"/>
              </a:rPr>
              <a:t>            ┆                                                    ┆</a:t>
            </a:r>
            <a:endParaRPr lang="en-US" altLang="zh-CN" sz="2400" b="1">
              <a:latin typeface="Arial" panose="020B0604020202020204" pitchFamily="34" charset="0"/>
              <a:ea typeface="宋体" panose="02010600030101010101" pitchFamily="2" charset="-122"/>
            </a:endParaRPr>
          </a:p>
          <a:p>
            <a:pPr lvl="0" indent="533400">
              <a:buClrTx/>
            </a:pPr>
            <a:r>
              <a:rPr lang="en-US" altLang="zh-CN" sz="2400" b="1">
                <a:latin typeface="Arial" panose="020B0604020202020204" pitchFamily="34" charset="0"/>
                <a:ea typeface="宋体" panose="02010600030101010101" pitchFamily="2" charset="-122"/>
              </a:rPr>
              <a:t>START:    …                                START:   …</a:t>
            </a:r>
          </a:p>
          <a:p>
            <a:pPr lvl="0" indent="533400">
              <a:buClrTx/>
            </a:pPr>
            <a:r>
              <a:rPr lang="en-US" altLang="zh-CN" sz="2400" b="1">
                <a:latin typeface="Arial" panose="020B0604020202020204" pitchFamily="34" charset="0"/>
                <a:ea typeface="宋体" panose="02010600030101010101" pitchFamily="2" charset="-122"/>
              </a:rPr>
              <a:t>            ┆                                                    ┆</a:t>
            </a:r>
          </a:p>
          <a:p>
            <a:pPr lvl="0" indent="533400">
              <a:buClrTx/>
            </a:pPr>
            <a:r>
              <a:rPr lang="en-US" altLang="zh-CN" sz="2400" b="1">
                <a:solidFill>
                  <a:srgbClr val="0000FF"/>
                </a:solidFill>
                <a:latin typeface="Arial" panose="020B0604020202020204" pitchFamily="34" charset="0"/>
                <a:ea typeface="宋体" panose="02010600030101010101" pitchFamily="2" charset="-122"/>
              </a:rPr>
              <a:t>CALL  FAR  PTR  SUBR</a:t>
            </a:r>
            <a:r>
              <a:rPr lang="en-US" altLang="zh-CN" sz="2400" b="1">
                <a:latin typeface="Arial" panose="020B0604020202020204" pitchFamily="34" charset="0"/>
                <a:ea typeface="宋体" panose="02010600030101010101" pitchFamily="2" charset="-122"/>
              </a:rPr>
              <a:t>            </a:t>
            </a:r>
            <a:r>
              <a:rPr lang="en-US" altLang="zh-CN" sz="2400" b="1" err="1">
                <a:solidFill>
                  <a:srgbClr val="0000FF"/>
                </a:solidFill>
                <a:latin typeface="Arial" panose="020B0604020202020204" pitchFamily="34" charset="0"/>
                <a:ea typeface="宋体" panose="02010600030101010101" pitchFamily="2" charset="-122"/>
              </a:rPr>
              <a:t>SUBR</a:t>
            </a:r>
            <a:r>
              <a:rPr lang="en-US" altLang="zh-CN" sz="2400" b="1">
                <a:solidFill>
                  <a:srgbClr val="0000FF"/>
                </a:solidFill>
                <a:latin typeface="Arial" panose="020B0604020202020204" pitchFamily="34" charset="0"/>
                <a:ea typeface="宋体" panose="02010600030101010101" pitchFamily="2" charset="-122"/>
              </a:rPr>
              <a:t>  PROC  FAR</a:t>
            </a:r>
            <a:r>
              <a:rPr lang="en-US" altLang="zh-CN" sz="2400" b="1">
                <a:latin typeface="Arial" panose="020B0604020202020204" pitchFamily="34" charset="0"/>
                <a:ea typeface="宋体" panose="02010600030101010101" pitchFamily="2" charset="-122"/>
              </a:rPr>
              <a:t> </a:t>
            </a:r>
          </a:p>
          <a:p>
            <a:pPr lvl="0" indent="533400">
              <a:buClrTx/>
            </a:pPr>
            <a:r>
              <a:rPr lang="en-US" altLang="zh-CN" sz="2400" b="1">
                <a:latin typeface="Arial" panose="020B0604020202020204" pitchFamily="34" charset="0"/>
                <a:ea typeface="宋体" panose="02010600030101010101" pitchFamily="2" charset="-122"/>
              </a:rPr>
              <a:t>MOV  BUF,AX                                            ┆</a:t>
            </a:r>
          </a:p>
          <a:p>
            <a:pPr lvl="0" indent="533400">
              <a:buClrTx/>
            </a:pPr>
            <a:r>
              <a:rPr lang="en-US" altLang="zh-CN" sz="2400" b="1">
                <a:latin typeface="Arial" panose="020B0604020202020204" pitchFamily="34" charset="0"/>
                <a:ea typeface="宋体" panose="02010600030101010101" pitchFamily="2" charset="-122"/>
              </a:rPr>
              <a:t>            ┆                                     SUBR  ENDP</a:t>
            </a:r>
          </a:p>
          <a:p>
            <a:pPr lvl="0" indent="533400">
              <a:buClrTx/>
            </a:pPr>
            <a:r>
              <a:rPr lang="en-US" altLang="zh-CN" sz="2400" b="1">
                <a:latin typeface="Arial" panose="020B0604020202020204" pitchFamily="34" charset="0"/>
                <a:ea typeface="宋体" panose="02010600030101010101" pitchFamily="2" charset="-122"/>
              </a:rPr>
              <a:t>CODE1  ENDS                            CODE2  ENDS</a:t>
            </a:r>
          </a:p>
          <a:p>
            <a:pPr lvl="0" indent="533400">
              <a:buClrTx/>
            </a:pPr>
            <a:r>
              <a:rPr lang="en-US" altLang="zh-CN" sz="2400" b="1">
                <a:latin typeface="Arial" panose="020B0604020202020204" pitchFamily="34" charset="0"/>
                <a:ea typeface="宋体" panose="02010600030101010101" pitchFamily="2" charset="-122"/>
              </a:rPr>
              <a:t>               END START                              END START</a:t>
            </a:r>
          </a:p>
        </p:txBody>
      </p:sp>
      <p:sp>
        <p:nvSpPr>
          <p:cNvPr id="6" name="矩形 5"/>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9954" name="标题 509953"/>
          <p:cNvSpPr>
            <a:spLocks noGrp="1"/>
          </p:cNvSpPr>
          <p:nvPr>
            <p:ph type="title"/>
          </p:nvPr>
        </p:nvSpPr>
        <p:spPr>
          <a:xfrm>
            <a:off x="323850" y="836613"/>
            <a:ext cx="3024188" cy="490537"/>
          </a:xfrm>
          <a:ln/>
        </p:spPr>
        <p:txBody>
          <a:bodyPr anchor="ctr"/>
          <a:lstStyle/>
          <a:p>
            <a:pPr algn="l"/>
            <a:r>
              <a:rPr lang="en-US" altLang="zh-CN" sz="2400" b="1" dirty="0">
                <a:solidFill>
                  <a:schemeClr val="tx1"/>
                </a:solidFill>
              </a:rPr>
              <a:t>2</a:t>
            </a:r>
            <a:r>
              <a:rPr lang="zh-CN" altLang="en-US" sz="2400" b="1" dirty="0">
                <a:solidFill>
                  <a:schemeClr val="tx1"/>
                </a:solidFill>
              </a:rPr>
              <a:t>）子程序返回指令</a:t>
            </a:r>
          </a:p>
        </p:txBody>
      </p:sp>
      <p:sp>
        <p:nvSpPr>
          <p:cNvPr id="509955" name="文本占位符 509954"/>
          <p:cNvSpPr>
            <a:spLocks noGrp="1"/>
          </p:cNvSpPr>
          <p:nvPr>
            <p:ph type="body" idx="1"/>
          </p:nvPr>
        </p:nvSpPr>
        <p:spPr>
          <a:xfrm>
            <a:off x="395288" y="2852738"/>
            <a:ext cx="7489825" cy="3997325"/>
          </a:xfrm>
          <a:ln/>
        </p:spPr>
        <p:txBody>
          <a:bodyPr/>
          <a:lstStyle/>
          <a:p>
            <a:pPr>
              <a:lnSpc>
                <a:spcPct val="90000"/>
              </a:lnSpc>
              <a:buClrTx/>
              <a:buNone/>
            </a:pPr>
            <a:r>
              <a:rPr lang="zh-CN" altLang="en-US" sz="2400" b="1" dirty="0"/>
              <a:t>说明：根据</a:t>
            </a:r>
            <a:r>
              <a:rPr lang="zh-CN" altLang="en-US" sz="2400" b="1" dirty="0">
                <a:solidFill>
                  <a:srgbClr val="0000FF"/>
                </a:solidFill>
              </a:rPr>
              <a:t>段内</a:t>
            </a:r>
            <a:r>
              <a:rPr lang="zh-CN" altLang="en-US" sz="2400" b="1" dirty="0"/>
              <a:t>和</a:t>
            </a:r>
            <a:r>
              <a:rPr lang="zh-CN" altLang="en-US" sz="2400" b="1" dirty="0">
                <a:solidFill>
                  <a:srgbClr val="0000FF"/>
                </a:solidFill>
              </a:rPr>
              <a:t>段间</a:t>
            </a:r>
            <a:r>
              <a:rPr lang="zh-CN" altLang="en-US" sz="2400" b="1" dirty="0"/>
              <a:t>、</a:t>
            </a:r>
            <a:r>
              <a:rPr lang="zh-CN" altLang="en-US" sz="2400" b="1" dirty="0">
                <a:solidFill>
                  <a:srgbClr val="0000FF"/>
                </a:solidFill>
              </a:rPr>
              <a:t>有无参数</a:t>
            </a:r>
            <a:r>
              <a:rPr lang="zh-CN" altLang="en-US" sz="2400" b="1" dirty="0"/>
              <a:t>，具体分成</a:t>
            </a:r>
            <a:r>
              <a:rPr lang="en-US" altLang="zh-CN" sz="2400" b="1">
                <a:solidFill>
                  <a:srgbClr val="0000FF"/>
                </a:solidFill>
              </a:rPr>
              <a:t>4</a:t>
            </a:r>
            <a:r>
              <a:rPr lang="zh-CN" altLang="en-US" sz="2400" b="1" dirty="0"/>
              <a:t>种情况</a:t>
            </a:r>
          </a:p>
          <a:p>
            <a:pPr lvl="1">
              <a:buClrTx/>
              <a:buNone/>
            </a:pPr>
            <a:r>
              <a:rPr lang="zh-CN" altLang="en-US" sz="2400" b="1" dirty="0"/>
              <a:t>（</a:t>
            </a:r>
            <a:r>
              <a:rPr lang="en-US" altLang="zh-CN" sz="2400" b="1"/>
              <a:t>1</a:t>
            </a:r>
            <a:r>
              <a:rPr lang="zh-CN" altLang="en-US" sz="2400" b="1" dirty="0"/>
              <a:t>）</a:t>
            </a:r>
            <a:r>
              <a:rPr lang="en-US" altLang="zh-CN" sz="2400" b="1">
                <a:solidFill>
                  <a:srgbClr val="FF00FF"/>
                </a:solidFill>
              </a:rPr>
              <a:t>RET</a:t>
            </a:r>
            <a:r>
              <a:rPr lang="en-US" altLang="zh-CN" sz="2400" b="1"/>
              <a:t>		     </a:t>
            </a:r>
            <a:r>
              <a:rPr lang="zh-CN" altLang="en-US" sz="2400" b="1" dirty="0"/>
              <a:t>；无参数返回</a:t>
            </a:r>
          </a:p>
          <a:p>
            <a:pPr lvl="1">
              <a:buClrTx/>
              <a:buNone/>
            </a:pPr>
            <a:r>
              <a:rPr lang="zh-CN" altLang="en-US" sz="2400" b="1" dirty="0"/>
              <a:t>（</a:t>
            </a:r>
            <a:r>
              <a:rPr lang="en-US" altLang="zh-CN" sz="2400" b="1"/>
              <a:t>2</a:t>
            </a:r>
            <a:r>
              <a:rPr lang="zh-CN" altLang="en-US" sz="2400" b="1" dirty="0"/>
              <a:t>）</a:t>
            </a:r>
            <a:r>
              <a:rPr lang="en-US" altLang="zh-CN" sz="2400" b="1">
                <a:solidFill>
                  <a:srgbClr val="FF00FF"/>
                </a:solidFill>
              </a:rPr>
              <a:t>RET n</a:t>
            </a:r>
            <a:r>
              <a:rPr lang="en-US" altLang="zh-CN" sz="2400" b="1"/>
              <a:t>		     </a:t>
            </a:r>
            <a:r>
              <a:rPr lang="zh-CN" altLang="en-US" sz="2400" b="1" dirty="0"/>
              <a:t>；有参数返回</a:t>
            </a:r>
          </a:p>
          <a:p>
            <a:pPr lvl="1">
              <a:buClrTx/>
              <a:buNone/>
            </a:pPr>
            <a:r>
              <a:rPr lang="zh-CN" altLang="en-US" sz="2400" b="1" dirty="0"/>
              <a:t>需要弹出</a:t>
            </a:r>
            <a:r>
              <a:rPr lang="en-US" altLang="zh-CN" sz="2400" b="1"/>
              <a:t>CALL</a:t>
            </a:r>
            <a:r>
              <a:rPr lang="zh-CN" altLang="en-US" sz="2400" b="1" dirty="0"/>
              <a:t>指令压入堆栈的返回地址</a:t>
            </a:r>
          </a:p>
          <a:p>
            <a:pPr lvl="1">
              <a:lnSpc>
                <a:spcPct val="90000"/>
              </a:lnSpc>
              <a:buClrTx/>
              <a:buNone/>
            </a:pPr>
            <a:r>
              <a:rPr lang="zh-CN" altLang="en-US" sz="2400" b="1" dirty="0"/>
              <a:t>（</a:t>
            </a:r>
            <a:r>
              <a:rPr lang="en-US" altLang="zh-CN" sz="2400" b="1"/>
              <a:t>3</a:t>
            </a:r>
            <a:r>
              <a:rPr lang="zh-CN" altLang="en-US" sz="2400" b="1" dirty="0"/>
              <a:t>）</a:t>
            </a:r>
            <a:r>
              <a:rPr lang="zh-CN" altLang="en-US" sz="2400" b="1" dirty="0">
                <a:solidFill>
                  <a:srgbClr val="FF00FF"/>
                </a:solidFill>
              </a:rPr>
              <a:t>段内返回</a:t>
            </a:r>
            <a:r>
              <a:rPr lang="en-US" altLang="zh-CN" sz="2400" b="1"/>
              <a:t>——</a:t>
            </a:r>
            <a:r>
              <a:rPr lang="zh-CN" altLang="en-US" sz="2400" b="1" dirty="0"/>
              <a:t>偏移地址</a:t>
            </a:r>
            <a:r>
              <a:rPr lang="en-US" altLang="zh-CN" sz="2400" b="1"/>
              <a:t>IP</a:t>
            </a:r>
            <a:r>
              <a:rPr lang="zh-CN" altLang="en-US" sz="2400" b="1" dirty="0"/>
              <a:t>出栈</a:t>
            </a:r>
            <a:endParaRPr lang="zh-CN" altLang="en-US" sz="2400" b="1"/>
          </a:p>
          <a:p>
            <a:pPr lvl="1">
              <a:buClrTx/>
              <a:buNone/>
            </a:pPr>
            <a:r>
              <a:rPr lang="en-US" altLang="zh-CN" sz="2400" b="1"/>
              <a:t>IP←SS:[SP]</a:t>
            </a:r>
            <a:r>
              <a:rPr lang="zh-CN" altLang="en-US" sz="2400" b="1"/>
              <a:t>， </a:t>
            </a:r>
            <a:r>
              <a:rPr lang="en-US" altLang="zh-CN" sz="2400" b="1"/>
              <a:t>SP←SP</a:t>
            </a:r>
            <a:r>
              <a:rPr lang="zh-CN" altLang="en-US" sz="2400" b="1"/>
              <a:t>＋</a:t>
            </a:r>
            <a:r>
              <a:rPr lang="en-US" altLang="zh-CN" sz="2400" b="1"/>
              <a:t>2</a:t>
            </a:r>
          </a:p>
          <a:p>
            <a:pPr lvl="1">
              <a:lnSpc>
                <a:spcPct val="90000"/>
              </a:lnSpc>
              <a:buClrTx/>
              <a:buNone/>
            </a:pPr>
            <a:r>
              <a:rPr lang="zh-CN" altLang="en-US" sz="2400" b="1" dirty="0"/>
              <a:t>（</a:t>
            </a:r>
            <a:r>
              <a:rPr lang="en-US" altLang="zh-CN" sz="2400" b="1"/>
              <a:t>4</a:t>
            </a:r>
            <a:r>
              <a:rPr lang="zh-CN" altLang="en-US" sz="2400" b="1" dirty="0"/>
              <a:t>）</a:t>
            </a:r>
            <a:r>
              <a:rPr lang="zh-CN" altLang="en-US" sz="2400" b="1" dirty="0">
                <a:solidFill>
                  <a:srgbClr val="FF00FF"/>
                </a:solidFill>
              </a:rPr>
              <a:t>段间返回</a:t>
            </a:r>
            <a:r>
              <a:rPr lang="en-US" altLang="zh-CN" sz="2400" b="1"/>
              <a:t>——</a:t>
            </a:r>
            <a:r>
              <a:rPr lang="zh-CN" altLang="en-US" sz="2400" b="1" dirty="0"/>
              <a:t>偏移地址</a:t>
            </a:r>
            <a:r>
              <a:rPr lang="en-US" altLang="zh-CN" sz="2400" b="1"/>
              <a:t>IP</a:t>
            </a:r>
            <a:r>
              <a:rPr lang="zh-CN" altLang="en-US" sz="2400" b="1" dirty="0"/>
              <a:t>和段地址</a:t>
            </a:r>
            <a:r>
              <a:rPr lang="en-US" altLang="zh-CN" sz="2400" b="1"/>
              <a:t>CS</a:t>
            </a:r>
            <a:r>
              <a:rPr lang="zh-CN" altLang="en-US" sz="2400" b="1" dirty="0"/>
              <a:t>出栈</a:t>
            </a:r>
            <a:endParaRPr lang="zh-CN" altLang="en-US" sz="2400" b="1"/>
          </a:p>
          <a:p>
            <a:pPr lvl="1">
              <a:buClrTx/>
              <a:buNone/>
            </a:pPr>
            <a:r>
              <a:rPr lang="en-US" altLang="zh-CN" sz="2400" b="1"/>
              <a:t>IP←SS:[SP]</a:t>
            </a:r>
            <a:r>
              <a:rPr lang="zh-CN" altLang="en-US" sz="2400" b="1"/>
              <a:t>，</a:t>
            </a:r>
            <a:r>
              <a:rPr lang="en-US" altLang="zh-CN" sz="2400" b="1"/>
              <a:t>SP←SP</a:t>
            </a:r>
            <a:r>
              <a:rPr lang="zh-CN" altLang="en-US" sz="2400" b="1"/>
              <a:t>＋</a:t>
            </a:r>
            <a:r>
              <a:rPr lang="en-US" altLang="zh-CN" sz="2400" b="1"/>
              <a:t>2</a:t>
            </a:r>
          </a:p>
          <a:p>
            <a:pPr lvl="1">
              <a:buClrTx/>
              <a:buNone/>
            </a:pPr>
            <a:r>
              <a:rPr lang="en-US" altLang="zh-CN" sz="2400" b="1"/>
              <a:t>CS←SS:[SP]</a:t>
            </a:r>
            <a:r>
              <a:rPr lang="zh-CN" altLang="en-US" sz="2400" b="1"/>
              <a:t>，</a:t>
            </a:r>
            <a:r>
              <a:rPr lang="en-US" altLang="zh-CN" sz="2400" b="1"/>
              <a:t>SP←SP</a:t>
            </a:r>
            <a:r>
              <a:rPr lang="zh-CN" altLang="en-US" sz="2400" b="1"/>
              <a:t>＋</a:t>
            </a:r>
            <a:r>
              <a:rPr lang="en-US" altLang="zh-CN" sz="2400" b="1"/>
              <a:t>2</a:t>
            </a:r>
          </a:p>
        </p:txBody>
      </p:sp>
      <p:sp>
        <p:nvSpPr>
          <p:cNvPr id="509956" name="矩形标注 509955">
            <a:hlinkClick r:id="rId2" action="ppaction://hlinksldjump"/>
          </p:cNvPr>
          <p:cNvSpPr/>
          <p:nvPr/>
        </p:nvSpPr>
        <p:spPr>
          <a:xfrm>
            <a:off x="2700338" y="3284538"/>
            <a:ext cx="1800225" cy="431800"/>
          </a:xfrm>
          <a:prstGeom prst="wedgeRectCallout">
            <a:avLst>
              <a:gd name="adj1" fmla="val -54319"/>
              <a:gd name="adj2" fmla="val 95222"/>
            </a:avLst>
          </a:prstGeom>
          <a:pattFill prst="zigZag">
            <a:fgClr>
              <a:schemeClr val="accent1"/>
            </a:fgClr>
            <a:bgClr>
              <a:srgbClr val="FFFFFF"/>
            </a:bgClr>
          </a:pattFill>
          <a:ln w="12700" cap="sq" cmpd="sng">
            <a:solidFill>
              <a:schemeClr val="tx1"/>
            </a:solidFill>
            <a:prstDash val="solid"/>
            <a:miter/>
            <a:headEnd type="none" w="sm" len="sm"/>
            <a:tailEnd type="none" w="sm" len="sm"/>
          </a:ln>
        </p:spPr>
        <p:txBody>
          <a:bodyPr wrap="none" anchor="ctr"/>
          <a:lstStyle/>
          <a:p>
            <a:pPr lvl="0"/>
            <a:r>
              <a:rPr lang="en-US" altLang="zh-CN" sz="2000" b="1" dirty="0">
                <a:solidFill>
                  <a:srgbClr val="6600CC"/>
                </a:solidFill>
                <a:latin typeface="Times New Roman" panose="02020603050405020304" pitchFamily="18" charset="0"/>
                <a:ea typeface="宋体" panose="02010600030101010101" pitchFamily="2" charset="-122"/>
              </a:rPr>
              <a:t>n</a:t>
            </a:r>
            <a:r>
              <a:rPr lang="zh-CN" altLang="en-US" sz="2000" b="1" dirty="0">
                <a:solidFill>
                  <a:srgbClr val="6600CC"/>
                </a:solidFill>
                <a:latin typeface="Times New Roman" panose="02020603050405020304" pitchFamily="18" charset="0"/>
                <a:ea typeface="宋体" panose="02010600030101010101" pitchFamily="2" charset="-122"/>
              </a:rPr>
              <a:t>参数的作用</a:t>
            </a:r>
          </a:p>
        </p:txBody>
      </p:sp>
      <p:sp>
        <p:nvSpPr>
          <p:cNvPr id="509965" name="矩形 509964"/>
          <p:cNvSpPr/>
          <p:nvPr/>
        </p:nvSpPr>
        <p:spPr>
          <a:xfrm>
            <a:off x="468313" y="1268413"/>
            <a:ext cx="2270125" cy="457200"/>
          </a:xfrm>
          <a:prstGeom prst="rect">
            <a:avLst/>
          </a:prstGeom>
          <a:noFill/>
          <a:ln w="9525">
            <a:noFill/>
          </a:ln>
        </p:spPr>
        <p:txBody>
          <a:bodyPr wrap="none" anchor="ctr">
            <a:spAutoFit/>
          </a:bodyPr>
          <a:lstStyle/>
          <a:p>
            <a:pPr lvl="0"/>
            <a:r>
              <a:rPr lang="zh-CN" altLang="en-US" sz="2400" b="1" dirty="0">
                <a:solidFill>
                  <a:srgbClr val="0000FF"/>
                </a:solidFill>
                <a:latin typeface="Arial" panose="020B0604020202020204" pitchFamily="34" charset="0"/>
                <a:ea typeface="宋体" panose="02010600030101010101" pitchFamily="2" charset="-122"/>
              </a:rPr>
              <a:t>格式</a:t>
            </a:r>
            <a:r>
              <a:rPr lang="zh-CN" altLang="en-US" sz="2400" b="1" dirty="0">
                <a:latin typeface="Arial" panose="020B0604020202020204" pitchFamily="34" charset="0"/>
                <a:ea typeface="宋体" panose="02010600030101010101" pitchFamily="2" charset="-122"/>
              </a:rPr>
              <a:t>：</a:t>
            </a:r>
            <a:r>
              <a:rPr lang="en-US" altLang="zh-CN" sz="2400" b="1">
                <a:latin typeface="Arial" panose="020B0604020202020204" pitchFamily="34" charset="0"/>
                <a:ea typeface="宋体" panose="02010600030101010101" pitchFamily="2" charset="-122"/>
              </a:rPr>
              <a:t>RET [n] </a:t>
            </a:r>
          </a:p>
        </p:txBody>
      </p:sp>
      <p:sp>
        <p:nvSpPr>
          <p:cNvPr id="509966" name="矩形 509965"/>
          <p:cNvSpPr/>
          <p:nvPr/>
        </p:nvSpPr>
        <p:spPr>
          <a:xfrm>
            <a:off x="422275" y="1628775"/>
            <a:ext cx="8542338" cy="1187450"/>
          </a:xfrm>
          <a:prstGeom prst="rect">
            <a:avLst/>
          </a:prstGeom>
          <a:noFill/>
          <a:ln w="9525">
            <a:noFill/>
          </a:ln>
        </p:spPr>
        <p:txBody>
          <a:bodyPr anchor="ctr">
            <a:spAutoFit/>
          </a:bodyPr>
          <a:lstStyle/>
          <a:p>
            <a:pPr lvl="0"/>
            <a:r>
              <a:rPr lang="zh-CN" altLang="en-US" sz="2400" b="1" dirty="0">
                <a:solidFill>
                  <a:srgbClr val="0000FF"/>
                </a:solidFill>
                <a:latin typeface="Arial" panose="020B0604020202020204" pitchFamily="34" charset="0"/>
                <a:ea typeface="宋体" panose="02010600030101010101" pitchFamily="2" charset="-122"/>
              </a:rPr>
              <a:t>功能</a:t>
            </a:r>
            <a:r>
              <a:rPr lang="zh-CN" altLang="en-US" sz="2400" b="1" dirty="0">
                <a:latin typeface="Arial" panose="020B0604020202020204" pitchFamily="34" charset="0"/>
                <a:ea typeface="宋体" panose="02010600030101010101" pitchFamily="2" charset="-122"/>
              </a:rPr>
              <a:t>：弹出堆栈中由</a:t>
            </a:r>
            <a:r>
              <a:rPr lang="en-US" altLang="zh-CN" sz="2400" b="1">
                <a:latin typeface="Arial" panose="020B0604020202020204" pitchFamily="34" charset="0"/>
                <a:ea typeface="宋体" panose="02010600030101010101" pitchFamily="2" charset="-122"/>
              </a:rPr>
              <a:t>CALL</a:t>
            </a:r>
            <a:r>
              <a:rPr lang="zh-CN" altLang="en-US" sz="2400" b="1" dirty="0">
                <a:latin typeface="Arial" panose="020B0604020202020204" pitchFamily="34" charset="0"/>
                <a:ea typeface="宋体" panose="02010600030101010101" pitchFamily="2" charset="-122"/>
              </a:rPr>
              <a:t>指令压入的返回地址值，迫使</a:t>
            </a:r>
            <a:r>
              <a:rPr lang="en-US" altLang="zh-CN" sz="2400" b="1">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返回到主程序中</a:t>
            </a:r>
            <a:r>
              <a:rPr lang="en-US" altLang="zh-CN" sz="2400" b="1">
                <a:latin typeface="Arial" panose="020B0604020202020204" pitchFamily="34" charset="0"/>
                <a:ea typeface="宋体" panose="02010600030101010101" pitchFamily="2" charset="-122"/>
              </a:rPr>
              <a:t>CALL</a:t>
            </a:r>
            <a:r>
              <a:rPr lang="zh-CN" altLang="en-US" sz="2400" b="1" dirty="0">
                <a:latin typeface="Arial" panose="020B0604020202020204" pitchFamily="34" charset="0"/>
                <a:ea typeface="宋体" panose="02010600030101010101" pitchFamily="2" charset="-122"/>
              </a:rPr>
              <a:t>指令的</a:t>
            </a:r>
            <a:r>
              <a:rPr lang="zh-CN" altLang="en-US" sz="2400" b="1" dirty="0">
                <a:solidFill>
                  <a:srgbClr val="0000FF"/>
                </a:solidFill>
                <a:latin typeface="Arial" panose="020B0604020202020204" pitchFamily="34" charset="0"/>
                <a:ea typeface="宋体" panose="02010600030101010101" pitchFamily="2" charset="-122"/>
              </a:rPr>
              <a:t>下一条指令</a:t>
            </a:r>
            <a:r>
              <a:rPr lang="zh-CN" altLang="en-US" sz="2400" b="1" dirty="0">
                <a:latin typeface="Arial" panose="020B0604020202020204" pitchFamily="34" charset="0"/>
                <a:ea typeface="宋体" panose="02010600030101010101" pitchFamily="2" charset="-122"/>
              </a:rPr>
              <a:t>去继续执行，该指令常放在子程序的最后 </a:t>
            </a:r>
          </a:p>
        </p:txBody>
      </p:sp>
      <p:sp>
        <p:nvSpPr>
          <p:cNvPr id="8" name="矩形 7"/>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0979" name="文本占位符 510978"/>
          <p:cNvSpPr>
            <a:spLocks noGrp="1"/>
          </p:cNvSpPr>
          <p:nvPr>
            <p:ph type="body" idx="1"/>
          </p:nvPr>
        </p:nvSpPr>
        <p:spPr>
          <a:xfrm>
            <a:off x="468313" y="1052513"/>
            <a:ext cx="8229600" cy="4248150"/>
          </a:xfrm>
          <a:ln/>
        </p:spPr>
        <p:txBody>
          <a:bodyPr/>
          <a:lstStyle/>
          <a:p>
            <a:pPr marL="0" indent="0">
              <a:lnSpc>
                <a:spcPct val="80000"/>
              </a:lnSpc>
              <a:buNone/>
            </a:pPr>
            <a:r>
              <a:rPr lang="zh-CN" altLang="en-US" sz="2400" b="1"/>
              <a:t>	</a:t>
            </a:r>
            <a:r>
              <a:rPr lang="en-US" altLang="zh-CN" sz="2400" b="1">
                <a:solidFill>
                  <a:srgbClr val="0000FF"/>
                </a:solidFill>
              </a:rPr>
              <a:t>RET  n</a:t>
            </a:r>
          </a:p>
          <a:p>
            <a:pPr marL="0" indent="0">
              <a:lnSpc>
                <a:spcPct val="80000"/>
              </a:lnSpc>
              <a:buNone/>
            </a:pPr>
            <a:endParaRPr lang="zh-CN" altLang="en-US" sz="2400" b="1" dirty="0"/>
          </a:p>
          <a:p>
            <a:pPr marL="0" indent="0">
              <a:lnSpc>
                <a:spcPct val="110000"/>
              </a:lnSpc>
              <a:buNone/>
            </a:pPr>
            <a:r>
              <a:rPr lang="zh-CN" altLang="en-US" sz="2400" b="1" dirty="0"/>
              <a:t>“</a:t>
            </a:r>
            <a:r>
              <a:rPr lang="en-US" altLang="zh-CN" sz="2400" b="1"/>
              <a:t>n”</a:t>
            </a:r>
            <a:r>
              <a:rPr lang="zh-CN" altLang="en-US" sz="2400" b="1" dirty="0"/>
              <a:t>是一个可选的立即数，由于堆栈操作是字操作，因而该</a:t>
            </a:r>
            <a:r>
              <a:rPr lang="zh-CN" altLang="en-US" sz="2400" b="1" dirty="0">
                <a:solidFill>
                  <a:srgbClr val="0000FF"/>
                </a:solidFill>
              </a:rPr>
              <a:t>立即数通常是偶数</a:t>
            </a:r>
            <a:r>
              <a:rPr lang="zh-CN" altLang="en-US" sz="2400" b="1" dirty="0"/>
              <a:t>。当</a:t>
            </a:r>
            <a:r>
              <a:rPr lang="en-US" altLang="zh-CN" sz="2400" b="1"/>
              <a:t>RET </a:t>
            </a:r>
            <a:r>
              <a:rPr lang="zh-CN" altLang="en-US" sz="2400" b="1" dirty="0"/>
              <a:t>指令带有该立即数时，表示在得到返回地址之后，</a:t>
            </a:r>
            <a:r>
              <a:rPr lang="en-US" altLang="zh-CN" sz="2400" b="1">
                <a:solidFill>
                  <a:srgbClr val="0000FF"/>
                </a:solidFill>
              </a:rPr>
              <a:t>SP</a:t>
            </a:r>
            <a:r>
              <a:rPr lang="zh-CN" altLang="en-US" sz="2400" b="1" dirty="0">
                <a:solidFill>
                  <a:srgbClr val="0000FF"/>
                </a:solidFill>
              </a:rPr>
              <a:t>还要增加的值</a:t>
            </a:r>
            <a:r>
              <a:rPr lang="zh-CN" altLang="en-US" sz="2400" b="1" dirty="0"/>
              <a:t>，即要多执行 “</a:t>
            </a:r>
            <a:r>
              <a:rPr lang="en-US" altLang="zh-CN" sz="2400" b="1" err="1">
                <a:solidFill>
                  <a:srgbClr val="0000FF"/>
                </a:solidFill>
              </a:rPr>
              <a:t>SP←SP+n</a:t>
            </a:r>
            <a:r>
              <a:rPr lang="en-US" altLang="zh-CN" sz="2400" b="1"/>
              <a:t>” </a:t>
            </a:r>
            <a:r>
              <a:rPr lang="zh-CN" altLang="en-US" sz="2400" b="1" dirty="0"/>
              <a:t>的操作。这个操作相当于从堆栈中</a:t>
            </a:r>
            <a:r>
              <a:rPr lang="zh-CN" altLang="en-US" sz="2400" b="1" dirty="0">
                <a:solidFill>
                  <a:srgbClr val="0000FF"/>
                </a:solidFill>
              </a:rPr>
              <a:t>多弹出了几个参数</a:t>
            </a:r>
            <a:r>
              <a:rPr lang="zh-CN" altLang="en-US" sz="2400" b="1" dirty="0"/>
              <a:t>，这些参数一般是子程序调用前通过堆栈向子程序传递的参数。当子程序返回后，这些参数不再有用，就可以修改指针使其指向参数入栈以前的值，即自动删除了原子程序参数所占用的字节</a:t>
            </a:r>
            <a:r>
              <a:rPr lang="zh-CN" altLang="en-US" sz="2400" dirty="0"/>
              <a:t> </a:t>
            </a:r>
            <a:r>
              <a:rPr lang="en-US" altLang="zh-CN" sz="2400" b="1"/>
              <a:t>	</a:t>
            </a:r>
            <a:endParaRPr lang="zh-CN" altLang="en-US" sz="2400" b="1" dirty="0"/>
          </a:p>
        </p:txBody>
      </p:sp>
      <p:sp>
        <p:nvSpPr>
          <p:cNvPr id="5" name="矩形 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spd="med" advClick="0">
    <p:rand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标题 512001"/>
          <p:cNvSpPr>
            <a:spLocks noGrp="1"/>
          </p:cNvSpPr>
          <p:nvPr>
            <p:ph type="title"/>
          </p:nvPr>
        </p:nvSpPr>
        <p:spPr>
          <a:xfrm>
            <a:off x="395288" y="838200"/>
            <a:ext cx="2160587" cy="503238"/>
          </a:xfrm>
          <a:ln/>
        </p:spPr>
        <p:txBody>
          <a:bodyPr anchor="ctr"/>
          <a:lstStyle/>
          <a:p>
            <a:pPr algn="l"/>
            <a:r>
              <a:rPr lang="en-US" altLang="zh-CN" sz="2400" b="1" dirty="0"/>
              <a:t>5</a:t>
            </a:r>
            <a:r>
              <a:rPr lang="zh-CN" altLang="en-US" sz="2400" b="1" dirty="0"/>
              <a:t>、中断指令</a:t>
            </a:r>
          </a:p>
        </p:txBody>
      </p:sp>
      <p:sp>
        <p:nvSpPr>
          <p:cNvPr id="512003" name="文本占位符 512002"/>
          <p:cNvSpPr>
            <a:spLocks noGrp="1"/>
          </p:cNvSpPr>
          <p:nvPr>
            <p:ph type="body" idx="1"/>
          </p:nvPr>
        </p:nvSpPr>
        <p:spPr>
          <a:xfrm>
            <a:off x="468313" y="1341438"/>
            <a:ext cx="5759450" cy="504825"/>
          </a:xfrm>
          <a:ln/>
        </p:spPr>
        <p:txBody>
          <a:bodyPr/>
          <a:lstStyle/>
          <a:p>
            <a:pPr>
              <a:lnSpc>
                <a:spcPct val="90000"/>
              </a:lnSpc>
              <a:buClrTx/>
              <a:buNone/>
            </a:pPr>
            <a:r>
              <a:rPr lang="zh-CN" altLang="en-US" sz="2400" b="1" dirty="0"/>
              <a:t>中断是</a:t>
            </a:r>
            <a:r>
              <a:rPr lang="zh-CN" altLang="en-US" sz="2400" b="1" dirty="0">
                <a:solidFill>
                  <a:schemeClr val="tx2"/>
                </a:solidFill>
              </a:rPr>
              <a:t>又一种</a:t>
            </a:r>
            <a:r>
              <a:rPr lang="zh-CN" altLang="en-US" sz="2400" b="1" dirty="0">
                <a:solidFill>
                  <a:srgbClr val="0000FF"/>
                </a:solidFill>
              </a:rPr>
              <a:t>改变程序执行顺序</a:t>
            </a:r>
            <a:r>
              <a:rPr lang="zh-CN" altLang="en-US" sz="2400" b="1" dirty="0"/>
              <a:t>的方法。</a:t>
            </a:r>
            <a:endParaRPr lang="zh-CN" altLang="en-US" sz="2400" b="1"/>
          </a:p>
        </p:txBody>
      </p:sp>
      <p:sp>
        <p:nvSpPr>
          <p:cNvPr id="512004" name="矩形 512003"/>
          <p:cNvSpPr/>
          <p:nvPr/>
        </p:nvSpPr>
        <p:spPr>
          <a:xfrm>
            <a:off x="539750" y="1773238"/>
            <a:ext cx="8280400" cy="4473575"/>
          </a:xfrm>
          <a:prstGeom prst="rect">
            <a:avLst/>
          </a:prstGeom>
          <a:noFill/>
          <a:ln w="9525">
            <a:noFill/>
          </a:ln>
        </p:spPr>
        <p:txBody>
          <a:bodyPr>
            <a:spAutoFit/>
          </a:bodyPr>
          <a:lstStyle/>
          <a:p>
            <a:pPr lvl="1">
              <a:buClrTx/>
            </a:pPr>
            <a:r>
              <a:rPr lang="en-US" altLang="zh-CN" sz="2400" b="1">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、中断指令</a:t>
            </a:r>
            <a:r>
              <a:rPr lang="en-US" altLang="zh-CN" sz="2400" b="1">
                <a:solidFill>
                  <a:srgbClr val="0000FF"/>
                </a:solidFill>
                <a:latin typeface="Arial" panose="020B0604020202020204" pitchFamily="34" charset="0"/>
                <a:ea typeface="宋体" panose="02010600030101010101" pitchFamily="2" charset="-122"/>
              </a:rPr>
              <a:t>INT</a:t>
            </a:r>
            <a:r>
              <a:rPr lang="en-US" altLang="zh-CN" sz="2400" b="1">
                <a:latin typeface="Arial" panose="020B0604020202020204" pitchFamily="34" charset="0"/>
                <a:ea typeface="宋体" panose="02010600030101010101" pitchFamily="2" charset="-122"/>
              </a:rPr>
              <a:t> </a:t>
            </a:r>
          </a:p>
          <a:p>
            <a:pPr lvl="1">
              <a:buClrTx/>
            </a:pPr>
            <a:r>
              <a:rPr lang="zh-CN" altLang="en-US" sz="2400" b="1" dirty="0">
                <a:latin typeface="Arial" panose="020B0604020202020204" pitchFamily="34" charset="0"/>
                <a:ea typeface="宋体" panose="02010600030101010101" pitchFamily="2" charset="-122"/>
              </a:rPr>
              <a:t>格式： </a:t>
            </a:r>
            <a:r>
              <a:rPr lang="en-US" altLang="zh-CN" sz="2400" b="1">
                <a:latin typeface="Arial" panose="020B0604020202020204" pitchFamily="34" charset="0"/>
                <a:ea typeface="宋体" panose="02010600030101010101" pitchFamily="2" charset="-122"/>
              </a:rPr>
              <a:t>INT n </a:t>
            </a:r>
            <a:endParaRPr lang="zh-CN" altLang="en-US" sz="2400" b="1" dirty="0">
              <a:latin typeface="Arial" panose="020B0604020202020204" pitchFamily="34" charset="0"/>
              <a:ea typeface="宋体" panose="02010600030101010101" pitchFamily="2" charset="-122"/>
            </a:endParaRPr>
          </a:p>
          <a:p>
            <a:pPr lvl="1">
              <a:buClrTx/>
            </a:pPr>
            <a:r>
              <a:rPr lang="zh-CN" altLang="en-US" sz="2400" b="1" dirty="0">
                <a:latin typeface="Arial" panose="020B0604020202020204" pitchFamily="34" charset="0"/>
                <a:ea typeface="宋体" panose="02010600030101010101" pitchFamily="2" charset="-122"/>
              </a:rPr>
              <a:t>功能：产生一个中断类型号为</a:t>
            </a:r>
            <a:r>
              <a:rPr lang="en-US" altLang="zh-CN" sz="2400" b="1">
                <a:latin typeface="Arial" panose="020B0604020202020204" pitchFamily="34" charset="0"/>
                <a:ea typeface="宋体" panose="02010600030101010101" pitchFamily="2" charset="-122"/>
              </a:rPr>
              <a:t>n</a:t>
            </a:r>
            <a:r>
              <a:rPr lang="zh-CN" altLang="en-US" sz="2400" b="1" dirty="0">
                <a:latin typeface="Arial" panose="020B0604020202020204" pitchFamily="34" charset="0"/>
                <a:ea typeface="宋体" panose="02010600030101010101" pitchFamily="2" charset="-122"/>
              </a:rPr>
              <a:t>的内部中断，其</a:t>
            </a:r>
            <a:r>
              <a:rPr lang="en-US" altLang="zh-CN" sz="2400" b="1">
                <a:latin typeface="Arial" panose="020B0604020202020204" pitchFamily="34" charset="0"/>
                <a:ea typeface="宋体" panose="02010600030101010101" pitchFamily="2" charset="-122"/>
              </a:rPr>
              <a:t>n</a:t>
            </a:r>
            <a:r>
              <a:rPr lang="zh-CN" altLang="en-US" sz="2400" b="1" dirty="0">
                <a:latin typeface="Arial" panose="020B0604020202020204" pitchFamily="34" charset="0"/>
                <a:ea typeface="宋体" panose="02010600030101010101" pitchFamily="2" charset="-122"/>
              </a:rPr>
              <a:t>值是一个</a:t>
            </a:r>
            <a:r>
              <a:rPr lang="en-US" altLang="zh-CN" sz="2400" b="1">
                <a:solidFill>
                  <a:srgbClr val="0000FF"/>
                </a:solidFill>
                <a:latin typeface="Arial" panose="020B0604020202020204" pitchFamily="34" charset="0"/>
                <a:ea typeface="宋体" panose="02010600030101010101" pitchFamily="2" charset="-122"/>
              </a:rPr>
              <a:t>0</a:t>
            </a:r>
            <a:r>
              <a:rPr lang="zh-CN" altLang="en-US" sz="2400" b="1" dirty="0">
                <a:solidFill>
                  <a:srgbClr val="0000FF"/>
                </a:solidFill>
                <a:latin typeface="Arial" panose="020B0604020202020204" pitchFamily="34" charset="0"/>
                <a:ea typeface="宋体" panose="02010600030101010101" pitchFamily="2" charset="-122"/>
              </a:rPr>
              <a:t>～</a:t>
            </a:r>
            <a:r>
              <a:rPr lang="en-US" altLang="zh-CN" sz="2400" b="1">
                <a:solidFill>
                  <a:srgbClr val="0000FF"/>
                </a:solidFill>
                <a:latin typeface="Arial" panose="020B0604020202020204" pitchFamily="34" charset="0"/>
                <a:ea typeface="宋体" panose="02010600030101010101" pitchFamily="2" charset="-122"/>
              </a:rPr>
              <a:t>FFH</a:t>
            </a:r>
            <a:r>
              <a:rPr lang="zh-CN" altLang="en-US" sz="2400" b="1" dirty="0">
                <a:latin typeface="Arial" panose="020B0604020202020204" pitchFamily="34" charset="0"/>
                <a:ea typeface="宋体" panose="02010600030101010101" pitchFamily="2" charset="-122"/>
              </a:rPr>
              <a:t>范围内的整数</a:t>
            </a:r>
          </a:p>
          <a:p>
            <a:pPr lvl="1">
              <a:buClrTx/>
            </a:pPr>
            <a:r>
              <a:rPr lang="en-US" altLang="zh-CN" sz="2400" b="1">
                <a:latin typeface="Arial" panose="020B0604020202020204" pitchFamily="34" charset="0"/>
                <a:ea typeface="宋体" panose="02010600030101010101" pitchFamily="2" charset="-122"/>
              </a:rPr>
              <a:t>INT n</a:t>
            </a:r>
            <a:r>
              <a:rPr lang="zh-CN" altLang="en-US" sz="2400" b="1" dirty="0">
                <a:latin typeface="Arial" panose="020B0604020202020204" pitchFamily="34" charset="0"/>
                <a:ea typeface="宋体" panose="02010600030101010101" pitchFamily="2" charset="-122"/>
              </a:rPr>
              <a:t>指令的具体执行步骤和操作 在</a:t>
            </a:r>
            <a:r>
              <a:rPr lang="en-US" altLang="zh-CN" sz="2400" b="1">
                <a:latin typeface="Arial" panose="020B0604020202020204" pitchFamily="34" charset="0"/>
                <a:ea typeface="宋体" panose="02010600030101010101" pitchFamily="2" charset="-122"/>
              </a:rPr>
              <a:t>8.2.3</a:t>
            </a:r>
            <a:r>
              <a:rPr lang="zh-CN" altLang="en-US" sz="2400" b="1" dirty="0">
                <a:latin typeface="Arial" panose="020B0604020202020204" pitchFamily="34" charset="0"/>
                <a:ea typeface="宋体" panose="02010600030101010101" pitchFamily="2" charset="-122"/>
              </a:rPr>
              <a:t>中介绍   </a:t>
            </a:r>
          </a:p>
          <a:p>
            <a:pPr lvl="1">
              <a:buClrTx/>
            </a:pPr>
            <a:r>
              <a:rPr lang="en-US" altLang="zh-CN" sz="2400" b="1">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、溢出中断指令</a:t>
            </a:r>
            <a:r>
              <a:rPr lang="en-US" altLang="zh-CN" sz="2400" b="1">
                <a:latin typeface="Arial" panose="020B0604020202020204" pitchFamily="34" charset="0"/>
                <a:ea typeface="宋体" panose="02010600030101010101" pitchFamily="2" charset="-122"/>
              </a:rPr>
              <a:t>INTO</a:t>
            </a:r>
          </a:p>
          <a:p>
            <a:pPr lvl="1">
              <a:buClrTx/>
            </a:pPr>
            <a:r>
              <a:rPr lang="zh-CN" altLang="en-US" sz="2400" b="1" dirty="0">
                <a:latin typeface="Arial" panose="020B0604020202020204" pitchFamily="34" charset="0"/>
                <a:ea typeface="宋体" panose="02010600030101010101" pitchFamily="2" charset="-122"/>
              </a:rPr>
              <a:t>格式：</a:t>
            </a:r>
            <a:r>
              <a:rPr lang="en-US" altLang="zh-CN" sz="2400" b="1">
                <a:solidFill>
                  <a:srgbClr val="0000FF"/>
                </a:solidFill>
                <a:latin typeface="Arial" panose="020B0604020202020204" pitchFamily="34" charset="0"/>
                <a:ea typeface="宋体" panose="02010600030101010101" pitchFamily="2" charset="-122"/>
              </a:rPr>
              <a:t>INTO</a:t>
            </a:r>
          </a:p>
          <a:p>
            <a:pPr lvl="1">
              <a:buClrTx/>
            </a:pPr>
            <a:r>
              <a:rPr lang="zh-CN" altLang="en-US" sz="2400" b="1" dirty="0">
                <a:latin typeface="Arial" panose="020B0604020202020204" pitchFamily="34" charset="0"/>
                <a:ea typeface="宋体" panose="02010600030101010101" pitchFamily="2" charset="-122"/>
              </a:rPr>
              <a:t>功能：产生一个</a:t>
            </a:r>
            <a:r>
              <a:rPr lang="zh-CN" altLang="en-US" sz="2400" b="1" dirty="0">
                <a:solidFill>
                  <a:srgbClr val="0000FF"/>
                </a:solidFill>
                <a:latin typeface="Arial" panose="020B0604020202020204" pitchFamily="34" charset="0"/>
                <a:ea typeface="宋体" panose="02010600030101010101" pitchFamily="2" charset="-122"/>
              </a:rPr>
              <a:t>溢出</a:t>
            </a:r>
            <a:r>
              <a:rPr lang="zh-CN" altLang="en-US" sz="2400" b="1" dirty="0">
                <a:latin typeface="Arial" panose="020B0604020202020204" pitchFamily="34" charset="0"/>
                <a:ea typeface="宋体" panose="02010600030101010101" pitchFamily="2" charset="-122"/>
              </a:rPr>
              <a:t>中断</a:t>
            </a:r>
          </a:p>
          <a:p>
            <a:pPr lvl="1">
              <a:buClrTx/>
            </a:pPr>
            <a:r>
              <a:rPr lang="en-US" altLang="zh-CN" sz="2400" b="1">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、中断返回指令</a:t>
            </a:r>
            <a:r>
              <a:rPr lang="zh-CN" altLang="en-US" sz="2400" b="1" dirty="0">
                <a:solidFill>
                  <a:srgbClr val="0000FF"/>
                </a:solidFill>
                <a:latin typeface="Arial" panose="020B0604020202020204" pitchFamily="34" charset="0"/>
                <a:ea typeface="宋体" panose="02010600030101010101" pitchFamily="2" charset="-122"/>
              </a:rPr>
              <a:t> </a:t>
            </a:r>
            <a:r>
              <a:rPr lang="en-US" altLang="zh-CN" sz="2400" b="1">
                <a:solidFill>
                  <a:srgbClr val="0000FF"/>
                </a:solidFill>
                <a:latin typeface="Arial" panose="020B0604020202020204" pitchFamily="34" charset="0"/>
                <a:ea typeface="宋体" panose="02010600030101010101" pitchFamily="2" charset="-122"/>
              </a:rPr>
              <a:t>IRET</a:t>
            </a:r>
            <a:r>
              <a:rPr lang="en-US" altLang="zh-CN" sz="2400" b="1">
                <a:latin typeface="Arial" panose="020B0604020202020204" pitchFamily="34" charset="0"/>
                <a:ea typeface="宋体" panose="02010600030101010101" pitchFamily="2" charset="-122"/>
              </a:rPr>
              <a:t> </a:t>
            </a:r>
          </a:p>
          <a:p>
            <a:pPr lvl="1">
              <a:buClrTx/>
            </a:pPr>
            <a:r>
              <a:rPr lang="zh-CN" altLang="en-US" sz="2400" b="1" dirty="0">
                <a:latin typeface="Arial" panose="020B0604020202020204" pitchFamily="34" charset="0"/>
                <a:ea typeface="宋体" panose="02010600030101010101" pitchFamily="2" charset="-122"/>
              </a:rPr>
              <a:t>功能：退出中断过程，返回到中断时的</a:t>
            </a:r>
            <a:r>
              <a:rPr lang="zh-CN" altLang="en-US" sz="2400" b="1" dirty="0">
                <a:solidFill>
                  <a:srgbClr val="0000FF"/>
                </a:solidFill>
                <a:latin typeface="Arial" panose="020B0604020202020204" pitchFamily="34" charset="0"/>
                <a:ea typeface="宋体" panose="02010600030101010101" pitchFamily="2" charset="-122"/>
              </a:rPr>
              <a:t>断点处继续执行</a:t>
            </a:r>
            <a:r>
              <a:rPr lang="zh-CN" altLang="en-US" sz="2400" b="1" dirty="0">
                <a:latin typeface="Arial" panose="020B0604020202020204" pitchFamily="34" charset="0"/>
                <a:ea typeface="宋体" panose="02010600030101010101" pitchFamily="2" charset="-122"/>
              </a:rPr>
              <a:t>。所有的中断程序，不管是由软件引起还是由硬件引起，其最后一条指令必须是</a:t>
            </a:r>
            <a:r>
              <a:rPr lang="en-US" altLang="zh-CN" sz="2400" b="1">
                <a:latin typeface="Arial" panose="020B0604020202020204" pitchFamily="34" charset="0"/>
                <a:ea typeface="宋体" panose="02010600030101010101" pitchFamily="2" charset="-122"/>
              </a:rPr>
              <a:t>IRET      </a:t>
            </a:r>
            <a:endParaRPr lang="zh-CN" altLang="en-US" sz="2400" b="1" dirty="0">
              <a:latin typeface="Arial" panose="020B0604020202020204" pitchFamily="34" charset="0"/>
              <a:ea typeface="宋体" panose="02010600030101010101" pitchFamily="2" charset="-122"/>
            </a:endParaRPr>
          </a:p>
        </p:txBody>
      </p:sp>
      <p:sp>
        <p:nvSpPr>
          <p:cNvPr id="6" name="矩形 5"/>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zoom dir="in"/>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529409">
            <a:extLst>
              <a:ext uri="{FF2B5EF4-FFF2-40B4-BE49-F238E27FC236}">
                <a16:creationId xmlns:a16="http://schemas.microsoft.com/office/drawing/2014/main" id="{35AC6A1D-1C32-4727-AB11-B3A519CCA234}"/>
              </a:ext>
            </a:extLst>
          </p:cNvPr>
          <p:cNvSpPr>
            <a:spLocks noGrp="1"/>
          </p:cNvSpPr>
          <p:nvPr>
            <p:ph type="title"/>
          </p:nvPr>
        </p:nvSpPr>
        <p:spPr>
          <a:xfrm>
            <a:off x="359520" y="883444"/>
            <a:ext cx="3671986" cy="676275"/>
          </a:xfrm>
        </p:spPr>
        <p:txBody>
          <a:bodyPr lIns="0" tIns="0" rIns="0" bIns="0" anchor="ctr"/>
          <a:lstStyle/>
          <a:p>
            <a:pPr algn="l" eaLnBrk="1" hangingPunct="1"/>
            <a:r>
              <a:rPr lang="en-US" altLang="zh-CN" sz="2400" b="1" dirty="0">
                <a:solidFill>
                  <a:schemeClr val="tx1"/>
                </a:solidFill>
              </a:rPr>
              <a:t>3.3.5</a:t>
            </a:r>
            <a:r>
              <a:rPr lang="zh-CN" altLang="en-US" sz="2400" b="1" dirty="0">
                <a:solidFill>
                  <a:schemeClr val="tx1"/>
                </a:solidFill>
              </a:rPr>
              <a:t>串操作指令</a:t>
            </a:r>
          </a:p>
        </p:txBody>
      </p:sp>
      <p:sp>
        <p:nvSpPr>
          <p:cNvPr id="529411" name="文本占位符 529410">
            <a:extLst>
              <a:ext uri="{FF2B5EF4-FFF2-40B4-BE49-F238E27FC236}">
                <a16:creationId xmlns:a16="http://schemas.microsoft.com/office/drawing/2014/main" id="{A2A9C937-EEEC-45F7-BE3E-496B453A2834}"/>
              </a:ext>
            </a:extLst>
          </p:cNvPr>
          <p:cNvSpPr>
            <a:spLocks noGrp="1"/>
          </p:cNvSpPr>
          <p:nvPr>
            <p:ph type="body" idx="1"/>
          </p:nvPr>
        </p:nvSpPr>
        <p:spPr>
          <a:xfrm>
            <a:off x="274638" y="4648200"/>
            <a:ext cx="8640762" cy="1660525"/>
          </a:xfrm>
          <a:solidFill>
            <a:schemeClr val="bg1"/>
          </a:solidFill>
        </p:spPr>
        <p:txBody>
          <a:bodyPr/>
          <a:lstStyle/>
          <a:p>
            <a:pPr eaLnBrk="1" hangingPunct="1">
              <a:lnSpc>
                <a:spcPct val="105000"/>
              </a:lnSpc>
              <a:spcBef>
                <a:spcPct val="0"/>
              </a:spcBef>
              <a:buFont typeface="Wingdings" panose="05000000000000000000" pitchFamily="2" charset="2"/>
              <a:buNone/>
            </a:pPr>
            <a:r>
              <a:rPr lang="zh-CN" altLang="en-US" sz="2400" b="1"/>
              <a:t>为什么要用：数据传送类指令每次只能传送</a:t>
            </a:r>
            <a:r>
              <a:rPr lang="zh-CN" altLang="en-US" sz="2400" b="1">
                <a:solidFill>
                  <a:srgbClr val="FF33CC"/>
                </a:solidFill>
              </a:rPr>
              <a:t>一个</a:t>
            </a:r>
            <a:r>
              <a:rPr lang="zh-CN" altLang="en-US" sz="2400" b="1"/>
              <a:t>数据，若要传送</a:t>
            </a:r>
            <a:r>
              <a:rPr lang="zh-CN" altLang="en-US" sz="2400" b="1">
                <a:solidFill>
                  <a:srgbClr val="FF33CC"/>
                </a:solidFill>
              </a:rPr>
              <a:t>大批数据</a:t>
            </a:r>
            <a:r>
              <a:rPr lang="zh-CN" altLang="en-US" sz="2400" b="1"/>
              <a:t>就需要重复编程（通过循环来实现），这样就浪费了大量的时间和空间。为此</a:t>
            </a:r>
            <a:r>
              <a:rPr lang="en-US" altLang="zh-CN" sz="2400" b="1"/>
              <a:t>8086</a:t>
            </a:r>
            <a:r>
              <a:rPr lang="zh-CN" altLang="en-US" sz="2400" b="1"/>
              <a:t>提供了一组处理内存中连续存放数据的串指令，这就是</a:t>
            </a:r>
            <a:r>
              <a:rPr lang="zh-CN" altLang="en-US" sz="2400" b="1">
                <a:solidFill>
                  <a:srgbClr val="FF33CC"/>
                </a:solidFill>
              </a:rPr>
              <a:t>串操作指令</a:t>
            </a:r>
            <a:r>
              <a:rPr lang="zh-CN" altLang="en-US" sz="2400" b="1"/>
              <a:t>。</a:t>
            </a:r>
          </a:p>
        </p:txBody>
      </p:sp>
      <p:sp>
        <p:nvSpPr>
          <p:cNvPr id="529412" name="矩形 529411">
            <a:extLst>
              <a:ext uri="{FF2B5EF4-FFF2-40B4-BE49-F238E27FC236}">
                <a16:creationId xmlns:a16="http://schemas.microsoft.com/office/drawing/2014/main" id="{6DC22256-4D8E-4376-A7CA-C0B7AB99C2BA}"/>
              </a:ext>
            </a:extLst>
          </p:cNvPr>
          <p:cNvSpPr>
            <a:spLocks noChangeArrowheads="1"/>
          </p:cNvSpPr>
          <p:nvPr/>
        </p:nvSpPr>
        <p:spPr bwMode="auto">
          <a:xfrm>
            <a:off x="381000" y="1665288"/>
            <a:ext cx="8316913" cy="1200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5000"/>
              </a:spcBef>
              <a:buClrTx/>
              <a:buSzTx/>
              <a:buFontTx/>
              <a:buNone/>
            </a:pPr>
            <a:r>
              <a:rPr lang="zh-CN" altLang="en-US" sz="2400" b="1" dirty="0">
                <a:solidFill>
                  <a:srgbClr val="FF33CC"/>
                </a:solidFill>
                <a:latin typeface="Arial" panose="020B0604020202020204" pitchFamily="34" charset="0"/>
              </a:rPr>
              <a:t>串操作指令</a:t>
            </a:r>
            <a:r>
              <a:rPr lang="zh-CN" altLang="en-US" sz="2400" b="1" dirty="0">
                <a:latin typeface="Arial" panose="020B0604020202020204" pitchFamily="34" charset="0"/>
              </a:rPr>
              <a:t>是</a:t>
            </a:r>
            <a:r>
              <a:rPr lang="en-US" altLang="zh-CN" sz="2400" b="1" dirty="0">
                <a:latin typeface="Arial" panose="020B0604020202020204" pitchFamily="34" charset="0"/>
              </a:rPr>
              <a:t>8086</a:t>
            </a:r>
            <a:r>
              <a:rPr lang="zh-CN" altLang="en-US" sz="2400" b="1" dirty="0">
                <a:latin typeface="Arial" panose="020B0604020202020204" pitchFamily="34" charset="0"/>
              </a:rPr>
              <a:t>指令系统中比较独特的一类指令，采用比较特殊的数据串寻址方式，是可以</a:t>
            </a:r>
            <a:r>
              <a:rPr lang="zh-CN" altLang="en-US" sz="2400" b="1" dirty="0">
                <a:solidFill>
                  <a:srgbClr val="0000FF"/>
                </a:solidFill>
                <a:latin typeface="Arial" panose="020B0604020202020204" pitchFamily="34" charset="0"/>
              </a:rPr>
              <a:t>直接实现存储区之间操作</a:t>
            </a:r>
            <a:r>
              <a:rPr lang="zh-CN" altLang="en-US" sz="2400" b="1" dirty="0">
                <a:latin typeface="Arial" panose="020B0604020202020204" pitchFamily="34" charset="0"/>
              </a:rPr>
              <a:t>的指令。在操作内存连续区域的数据时，特别好用。</a:t>
            </a:r>
          </a:p>
        </p:txBody>
      </p:sp>
      <p:sp>
        <p:nvSpPr>
          <p:cNvPr id="529413" name="矩形 529412">
            <a:extLst>
              <a:ext uri="{FF2B5EF4-FFF2-40B4-BE49-F238E27FC236}">
                <a16:creationId xmlns:a16="http://schemas.microsoft.com/office/drawing/2014/main" id="{2A1179E9-A90C-4A1B-B07F-F1299FC6CF57}"/>
              </a:ext>
            </a:extLst>
          </p:cNvPr>
          <p:cNvSpPr>
            <a:spLocks noChangeArrowheads="1"/>
          </p:cNvSpPr>
          <p:nvPr/>
        </p:nvSpPr>
        <p:spPr bwMode="auto">
          <a:xfrm>
            <a:off x="381000" y="3195638"/>
            <a:ext cx="8353425" cy="1241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indent="390525" defTabSz="0">
              <a:spcBef>
                <a:spcPct val="20000"/>
              </a:spcBef>
              <a:buClr>
                <a:schemeClr val="folHlink"/>
              </a:buClr>
              <a:buSzPct val="60000"/>
              <a:buFont typeface="Wingdings" panose="05000000000000000000" pitchFamily="2" charset="2"/>
              <a:buChar char="n"/>
              <a:tabLst>
                <a:tab pos="2192338" algn="l"/>
              </a:tabLst>
              <a:defRPr sz="3200">
                <a:solidFill>
                  <a:schemeClr val="tx1"/>
                </a:solidFill>
                <a:latin typeface="Tahoma" panose="020B0604030504040204" pitchFamily="34" charset="0"/>
                <a:ea typeface="宋体" panose="02010600030101010101" pitchFamily="2" charset="-122"/>
              </a:defRPr>
            </a:lvl1pPr>
            <a:lvl2pPr marL="742950" indent="-285750" defTabSz="0">
              <a:spcBef>
                <a:spcPct val="20000"/>
              </a:spcBef>
              <a:buClr>
                <a:schemeClr val="hlink"/>
              </a:buClr>
              <a:buSzPct val="55000"/>
              <a:buFont typeface="Wingdings" panose="05000000000000000000" pitchFamily="2" charset="2"/>
              <a:buChar char="n"/>
              <a:tabLst>
                <a:tab pos="2192338" algn="l"/>
              </a:tabLst>
              <a:defRPr sz="2800">
                <a:solidFill>
                  <a:schemeClr val="tx1"/>
                </a:solidFill>
                <a:latin typeface="Tahoma" panose="020B0604030504040204" pitchFamily="34" charset="0"/>
                <a:ea typeface="宋体" panose="02010600030101010101" pitchFamily="2" charset="-122"/>
              </a:defRPr>
            </a:lvl2pPr>
            <a:lvl3pPr marL="1143000" indent="-228600" defTabSz="0">
              <a:spcBef>
                <a:spcPct val="20000"/>
              </a:spcBef>
              <a:buClr>
                <a:schemeClr val="folHlink"/>
              </a:buClr>
              <a:buSzPct val="50000"/>
              <a:buFont typeface="Wingdings" panose="05000000000000000000" pitchFamily="2" charset="2"/>
              <a:buChar char="n"/>
              <a:tabLst>
                <a:tab pos="2192338" algn="l"/>
              </a:tabLst>
              <a:defRPr sz="2400">
                <a:solidFill>
                  <a:schemeClr val="tx1"/>
                </a:solidFill>
                <a:latin typeface="Tahoma" panose="020B0604030504040204" pitchFamily="34" charset="0"/>
                <a:ea typeface="宋体" panose="02010600030101010101" pitchFamily="2" charset="-122"/>
              </a:defRPr>
            </a:lvl3pPr>
            <a:lvl4pPr marL="1600200" indent="-228600" defTabSz="0">
              <a:spcBef>
                <a:spcPct val="20000"/>
              </a:spcBef>
              <a:buClr>
                <a:schemeClr val="accent2"/>
              </a:buClr>
              <a:buSzPct val="55000"/>
              <a:buFont typeface="Wingdings" panose="05000000000000000000" pitchFamily="2" charset="2"/>
              <a:buChar char="n"/>
              <a:tabLst>
                <a:tab pos="2192338" algn="l"/>
              </a:tabLst>
              <a:defRPr sz="2000">
                <a:solidFill>
                  <a:schemeClr val="tx1"/>
                </a:solidFill>
                <a:latin typeface="Tahoma" panose="020B0604030504040204" pitchFamily="34" charset="0"/>
                <a:ea typeface="宋体" panose="02010600030101010101" pitchFamily="2" charset="-122"/>
              </a:defRPr>
            </a:lvl4pPr>
            <a:lvl5pPr marL="2057400" indent="-228600" defTabSz="0">
              <a:spcBef>
                <a:spcPct val="20000"/>
              </a:spcBef>
              <a:buClr>
                <a:schemeClr val="accent1"/>
              </a:buClr>
              <a:buSzPct val="50000"/>
              <a:buFont typeface="Wingdings" panose="05000000000000000000" pitchFamily="2" charset="2"/>
              <a:buChar char="n"/>
              <a:tabLst>
                <a:tab pos="2192338" algn="l"/>
              </a:tabLst>
              <a:defRPr sz="2000">
                <a:solidFill>
                  <a:schemeClr val="tx1"/>
                </a:solidFill>
                <a:latin typeface="Tahoma" panose="020B0604030504040204" pitchFamily="34" charset="0"/>
                <a:ea typeface="宋体" panose="02010600030101010101" pitchFamily="2" charset="-122"/>
              </a:defRPr>
            </a:lvl5pPr>
            <a:lvl6pPr marL="2514600" indent="-228600" defTabSz="0" eaLnBrk="0" fontAlgn="base" hangingPunct="0">
              <a:spcBef>
                <a:spcPct val="20000"/>
              </a:spcBef>
              <a:spcAft>
                <a:spcPct val="0"/>
              </a:spcAft>
              <a:buClr>
                <a:schemeClr val="accent1"/>
              </a:buClr>
              <a:buSzPct val="50000"/>
              <a:buFont typeface="Wingdings" panose="05000000000000000000" pitchFamily="2" charset="2"/>
              <a:buChar char="n"/>
              <a:tabLst>
                <a:tab pos="2192338" algn="l"/>
              </a:tabLst>
              <a:defRPr sz="2000">
                <a:solidFill>
                  <a:schemeClr val="tx1"/>
                </a:solidFill>
                <a:latin typeface="Tahoma" panose="020B0604030504040204" pitchFamily="34" charset="0"/>
                <a:ea typeface="宋体" panose="02010600030101010101" pitchFamily="2" charset="-122"/>
              </a:defRPr>
            </a:lvl6pPr>
            <a:lvl7pPr marL="2971800" indent="-228600" defTabSz="0" eaLnBrk="0" fontAlgn="base" hangingPunct="0">
              <a:spcBef>
                <a:spcPct val="20000"/>
              </a:spcBef>
              <a:spcAft>
                <a:spcPct val="0"/>
              </a:spcAft>
              <a:buClr>
                <a:schemeClr val="accent1"/>
              </a:buClr>
              <a:buSzPct val="50000"/>
              <a:buFont typeface="Wingdings" panose="05000000000000000000" pitchFamily="2" charset="2"/>
              <a:buChar char="n"/>
              <a:tabLst>
                <a:tab pos="2192338" algn="l"/>
              </a:tabLst>
              <a:defRPr sz="2000">
                <a:solidFill>
                  <a:schemeClr val="tx1"/>
                </a:solidFill>
                <a:latin typeface="Tahoma" panose="020B0604030504040204" pitchFamily="34" charset="0"/>
                <a:ea typeface="宋体" panose="02010600030101010101" pitchFamily="2" charset="-122"/>
              </a:defRPr>
            </a:lvl7pPr>
            <a:lvl8pPr marL="3429000" indent="-228600" defTabSz="0" eaLnBrk="0" fontAlgn="base" hangingPunct="0">
              <a:spcBef>
                <a:spcPct val="20000"/>
              </a:spcBef>
              <a:spcAft>
                <a:spcPct val="0"/>
              </a:spcAft>
              <a:buClr>
                <a:schemeClr val="accent1"/>
              </a:buClr>
              <a:buSzPct val="50000"/>
              <a:buFont typeface="Wingdings" panose="05000000000000000000" pitchFamily="2" charset="2"/>
              <a:buChar char="n"/>
              <a:tabLst>
                <a:tab pos="2192338" algn="l"/>
              </a:tabLst>
              <a:defRPr sz="2000">
                <a:solidFill>
                  <a:schemeClr val="tx1"/>
                </a:solidFill>
                <a:latin typeface="Tahoma" panose="020B0604030504040204" pitchFamily="34" charset="0"/>
                <a:ea typeface="宋体" panose="02010600030101010101" pitchFamily="2" charset="-122"/>
              </a:defRPr>
            </a:lvl8pPr>
            <a:lvl9pPr marL="3886200" indent="-228600" defTabSz="0" eaLnBrk="0" fontAlgn="base" hangingPunct="0">
              <a:spcBef>
                <a:spcPct val="20000"/>
              </a:spcBef>
              <a:spcAft>
                <a:spcPct val="0"/>
              </a:spcAft>
              <a:buClr>
                <a:schemeClr val="accent1"/>
              </a:buClr>
              <a:buSzPct val="50000"/>
              <a:buFont typeface="Wingdings" panose="05000000000000000000" pitchFamily="2" charset="2"/>
              <a:buChar char="n"/>
              <a:tabLst>
                <a:tab pos="2192338" algn="l"/>
              </a:tabLst>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400" b="1">
                <a:latin typeface="宋体" panose="02010600030101010101" pitchFamily="2" charset="-122"/>
              </a:rPr>
              <a:t>串操作指令的</a:t>
            </a:r>
            <a:r>
              <a:rPr lang="zh-CN" altLang="en-US" sz="2400" b="1">
                <a:latin typeface="Arial" panose="020B0604020202020204" pitchFamily="34" charset="0"/>
              </a:rPr>
              <a:t>操作对象（</a:t>
            </a:r>
            <a:r>
              <a:rPr lang="zh-CN" altLang="en-US" sz="2400" b="1">
                <a:solidFill>
                  <a:srgbClr val="0000FF"/>
                </a:solidFill>
                <a:latin typeface="宋体" panose="02010600030101010101" pitchFamily="2" charset="-122"/>
              </a:rPr>
              <a:t>操作数</a:t>
            </a:r>
            <a:r>
              <a:rPr lang="zh-CN" altLang="en-US" sz="2400" b="1">
                <a:latin typeface="Arial" panose="020B0604020202020204" pitchFamily="34" charset="0"/>
              </a:rPr>
              <a:t>）</a:t>
            </a:r>
            <a:r>
              <a:rPr lang="zh-CN" altLang="en-US" sz="2400" b="1">
                <a:solidFill>
                  <a:srgbClr val="0000FF"/>
                </a:solidFill>
                <a:latin typeface="宋体" panose="02010600030101010101" pitchFamily="2" charset="-122"/>
              </a:rPr>
              <a:t>是</a:t>
            </a:r>
            <a:r>
              <a:rPr lang="zh-CN" altLang="en-US" sz="2400" b="1">
                <a:solidFill>
                  <a:srgbClr val="0000FF"/>
                </a:solidFill>
                <a:latin typeface="Arial" panose="020B0604020202020204" pitchFamily="34" charset="0"/>
              </a:rPr>
              <a:t>内存中连续存放的数据串</a:t>
            </a:r>
            <a:r>
              <a:rPr lang="en-US" altLang="zh-CN" sz="2400" b="1">
                <a:latin typeface="Arial" panose="020B0604020202020204" pitchFamily="34" charset="0"/>
              </a:rPr>
              <a:t>——</a:t>
            </a:r>
            <a:r>
              <a:rPr lang="zh-CN" altLang="en-US" sz="2400" b="1">
                <a:latin typeface="Arial" panose="020B0604020202020204" pitchFamily="34" charset="0"/>
              </a:rPr>
              <a:t>即在连续的内存区域中以</a:t>
            </a:r>
            <a:r>
              <a:rPr lang="zh-CN" altLang="en-US" sz="2400" b="1">
                <a:solidFill>
                  <a:srgbClr val="FF00FF"/>
                </a:solidFill>
                <a:latin typeface="Arial" panose="020B0604020202020204" pitchFamily="34" charset="0"/>
              </a:rPr>
              <a:t>字</a:t>
            </a:r>
            <a:r>
              <a:rPr lang="zh-CN" altLang="en-US" sz="2400" b="1">
                <a:latin typeface="Arial" panose="020B0604020202020204" pitchFamily="34" charset="0"/>
              </a:rPr>
              <a:t>（</a:t>
            </a:r>
            <a:r>
              <a:rPr lang="en-US" altLang="zh-CN" sz="2400" b="1">
                <a:latin typeface="Arial" panose="020B0604020202020204" pitchFamily="34" charset="0"/>
              </a:rPr>
              <a:t>W</a:t>
            </a:r>
            <a:r>
              <a:rPr lang="zh-CN" altLang="en-US" sz="2400" b="1">
                <a:latin typeface="Arial" panose="020B0604020202020204" pitchFamily="34" charset="0"/>
              </a:rPr>
              <a:t>）为单位的字串，或是以</a:t>
            </a:r>
            <a:r>
              <a:rPr lang="zh-CN" altLang="en-US" sz="2400" b="1">
                <a:solidFill>
                  <a:srgbClr val="FF00FF"/>
                </a:solidFill>
                <a:latin typeface="Arial" panose="020B0604020202020204" pitchFamily="34" charset="0"/>
              </a:rPr>
              <a:t>字节</a:t>
            </a:r>
            <a:r>
              <a:rPr lang="zh-CN" altLang="en-US" sz="2400" b="1">
                <a:latin typeface="Arial" panose="020B0604020202020204" pitchFamily="34" charset="0"/>
              </a:rPr>
              <a:t>（</a:t>
            </a:r>
            <a:r>
              <a:rPr lang="en-US" altLang="zh-CN" sz="2400" b="1">
                <a:latin typeface="Arial" panose="020B0604020202020204" pitchFamily="34" charset="0"/>
              </a:rPr>
              <a:t>B</a:t>
            </a:r>
            <a:r>
              <a:rPr lang="zh-CN" altLang="en-US" sz="2400" b="1">
                <a:latin typeface="Arial" panose="020B0604020202020204" pitchFamily="34" charset="0"/>
              </a:rPr>
              <a:t>）为单位的字节串</a:t>
            </a:r>
          </a:p>
        </p:txBody>
      </p:sp>
      <p:sp>
        <p:nvSpPr>
          <p:cNvPr id="6150" name="矩形 529413">
            <a:extLst>
              <a:ext uri="{FF2B5EF4-FFF2-40B4-BE49-F238E27FC236}">
                <a16:creationId xmlns:a16="http://schemas.microsoft.com/office/drawing/2014/main" id="{E88D3D85-94A3-443C-8230-5FD78CC250E0}"/>
              </a:ext>
            </a:extLst>
          </p:cNvPr>
          <p:cNvSpPr>
            <a:spLocks noChangeArrowheads="1"/>
          </p:cNvSpPr>
          <p:nvPr/>
        </p:nvSpPr>
        <p:spPr bwMode="auto">
          <a:xfrm>
            <a:off x="2195513" y="188913"/>
            <a:ext cx="51117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b="1">
                <a:solidFill>
                  <a:srgbClr val="FF0000"/>
                </a:solidFill>
                <a:latin typeface="Arial" panose="020B0604020202020204" pitchFamily="34" charset="0"/>
                <a:ea typeface="隶书" panose="02010509060101010101" pitchFamily="49" charset="-122"/>
              </a:rPr>
              <a:t>3.3 8086 CPU</a:t>
            </a:r>
            <a:r>
              <a:rPr lang="zh-CN" altLang="en-US" b="1">
                <a:solidFill>
                  <a:srgbClr val="FF0000"/>
                </a:solidFill>
                <a:latin typeface="Arial" panose="020B0604020202020204" pitchFamily="34" charset="0"/>
                <a:ea typeface="隶书" panose="02010509060101010101" pitchFamily="49" charset="-122"/>
              </a:rPr>
              <a:t>指令系统</a:t>
            </a:r>
          </a:p>
        </p:txBody>
      </p:sp>
    </p:spTree>
    <p:extLst>
      <p:ext uri="{BB962C8B-B14F-4D97-AF65-F5344CB8AC3E}">
        <p14:creationId xmlns:p14="http://schemas.microsoft.com/office/powerpoint/2010/main" val="11376739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标题 515073"/>
          <p:cNvSpPr>
            <a:spLocks noGrp="1"/>
          </p:cNvSpPr>
          <p:nvPr>
            <p:ph type="title"/>
          </p:nvPr>
        </p:nvSpPr>
        <p:spPr>
          <a:xfrm>
            <a:off x="457200" y="1352550"/>
            <a:ext cx="3178175" cy="490538"/>
          </a:xfrm>
          <a:ln/>
        </p:spPr>
        <p:txBody>
          <a:bodyPr anchor="ctr"/>
          <a:lstStyle/>
          <a:p>
            <a:pPr algn="l"/>
            <a:r>
              <a:rPr lang="en-US" altLang="zh-CN" sz="2400" b="1">
                <a:solidFill>
                  <a:schemeClr val="tx1"/>
                </a:solidFill>
              </a:rPr>
              <a:t>1</a:t>
            </a:r>
            <a:r>
              <a:rPr lang="zh-CN" altLang="en-US" sz="2400" b="1" dirty="0">
                <a:solidFill>
                  <a:schemeClr val="tx1"/>
                </a:solidFill>
              </a:rPr>
              <a:t>、标志位操作</a:t>
            </a:r>
          </a:p>
        </p:txBody>
      </p:sp>
      <p:sp>
        <p:nvSpPr>
          <p:cNvPr id="515075" name="文本占位符 515074"/>
          <p:cNvSpPr>
            <a:spLocks noGrp="1"/>
          </p:cNvSpPr>
          <p:nvPr>
            <p:ph type="body" idx="1"/>
          </p:nvPr>
        </p:nvSpPr>
        <p:spPr>
          <a:xfrm>
            <a:off x="468313" y="1916113"/>
            <a:ext cx="8207375" cy="1368425"/>
          </a:xfrm>
          <a:ln/>
        </p:spPr>
        <p:txBody>
          <a:bodyPr/>
          <a:lstStyle/>
          <a:p>
            <a:pPr>
              <a:buClrTx/>
              <a:buNone/>
            </a:pPr>
            <a:r>
              <a:rPr lang="zh-CN" altLang="en-US" sz="2400" b="1" dirty="0"/>
              <a:t>这组指令共有</a:t>
            </a:r>
            <a:r>
              <a:rPr lang="en-US" altLang="zh-CN" sz="2400" b="1">
                <a:solidFill>
                  <a:srgbClr val="FF00FF"/>
                </a:solidFill>
              </a:rPr>
              <a:t>7 </a:t>
            </a:r>
            <a:r>
              <a:rPr lang="zh-CN" altLang="en-US" sz="2400" b="1" dirty="0">
                <a:solidFill>
                  <a:srgbClr val="FF00FF"/>
                </a:solidFill>
              </a:rPr>
              <a:t>条</a:t>
            </a:r>
            <a:r>
              <a:rPr lang="zh-CN" altLang="en-US" sz="2400" b="1" dirty="0"/>
              <a:t>，均为</a:t>
            </a:r>
            <a:r>
              <a:rPr lang="zh-CN" altLang="en-US" sz="2400" b="1" dirty="0">
                <a:solidFill>
                  <a:srgbClr val="FF00FF"/>
                </a:solidFill>
              </a:rPr>
              <a:t>无操作数</a:t>
            </a:r>
            <a:r>
              <a:rPr lang="zh-CN" altLang="en-US" sz="2400" b="1" dirty="0"/>
              <a:t>指令，它们的操作数隐含在标志寄存器的某些标志位上，即能直接对指定的标志位进行操作，但不影响别的标志位</a:t>
            </a:r>
            <a:r>
              <a:rPr lang="zh-CN" altLang="en-US" sz="2400" dirty="0"/>
              <a:t> </a:t>
            </a:r>
            <a:endParaRPr lang="en-US" altLang="zh-CN" sz="2400"/>
          </a:p>
        </p:txBody>
      </p:sp>
      <p:pic>
        <p:nvPicPr>
          <p:cNvPr id="515077" name="图片 515076"/>
          <p:cNvPicPr>
            <a:picLocks noChangeAspect="1"/>
          </p:cNvPicPr>
          <p:nvPr/>
        </p:nvPicPr>
        <p:blipFill>
          <a:blip r:embed="rId3"/>
          <a:stretch>
            <a:fillRect/>
          </a:stretch>
        </p:blipFill>
        <p:spPr>
          <a:xfrm>
            <a:off x="1403350" y="3429000"/>
            <a:ext cx="6481763" cy="2592388"/>
          </a:xfrm>
          <a:prstGeom prst="rect">
            <a:avLst/>
          </a:prstGeom>
          <a:noFill/>
          <a:ln w="9525">
            <a:noFill/>
          </a:ln>
        </p:spPr>
      </p:pic>
      <p:sp>
        <p:nvSpPr>
          <p:cNvPr id="515078" name="矩形 515077"/>
          <p:cNvSpPr/>
          <p:nvPr/>
        </p:nvSpPr>
        <p:spPr>
          <a:xfrm>
            <a:off x="354471" y="890885"/>
            <a:ext cx="3383632" cy="461665"/>
          </a:xfrm>
          <a:prstGeom prst="rect">
            <a:avLst/>
          </a:prstGeom>
          <a:noFill/>
          <a:ln w="9525">
            <a:noFill/>
          </a:ln>
        </p:spPr>
        <p:txBody>
          <a:bodyPr wrap="square">
            <a:spAutoFit/>
          </a:bodyPr>
          <a:lstStyle/>
          <a:p>
            <a:pPr lvl="0">
              <a:buClrTx/>
            </a:pPr>
            <a:r>
              <a:rPr lang="en-US" altLang="en-GB" sz="2400" b="1" dirty="0">
                <a:solidFill>
                  <a:srgbClr val="0000FF"/>
                </a:solidFill>
                <a:latin typeface="Arial" panose="020B0604020202020204" pitchFamily="34" charset="0"/>
                <a:ea typeface="宋体" panose="02010600030101010101" pitchFamily="2" charset="-122"/>
              </a:rPr>
              <a:t>3.3.6处理器控制</a:t>
            </a:r>
            <a:r>
              <a:rPr lang="zh-CN" altLang="en-US" sz="2400" b="1" dirty="0">
                <a:solidFill>
                  <a:srgbClr val="0000FF"/>
                </a:solidFill>
                <a:latin typeface="Arial" panose="020B0604020202020204" pitchFamily="34" charset="0"/>
                <a:ea typeface="宋体" panose="02010600030101010101" pitchFamily="2" charset="-122"/>
              </a:rPr>
              <a:t>类指令</a:t>
            </a:r>
          </a:p>
        </p:txBody>
      </p:sp>
      <p:sp>
        <p:nvSpPr>
          <p:cNvPr id="7" name="矩形 6"/>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blinds/>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标题 517121"/>
          <p:cNvSpPr>
            <a:spLocks noGrp="1"/>
          </p:cNvSpPr>
          <p:nvPr>
            <p:ph type="title"/>
          </p:nvPr>
        </p:nvSpPr>
        <p:spPr>
          <a:xfrm>
            <a:off x="611188" y="765175"/>
            <a:ext cx="3529012" cy="490538"/>
          </a:xfrm>
          <a:ln/>
        </p:spPr>
        <p:txBody>
          <a:bodyPr anchor="ctr"/>
          <a:lstStyle/>
          <a:p>
            <a:pPr algn="l"/>
            <a:r>
              <a:rPr lang="en-US" altLang="zh-CN" sz="2400" b="1" dirty="0">
                <a:solidFill>
                  <a:schemeClr val="tx1"/>
                </a:solidFill>
              </a:rPr>
              <a:t>2</a:t>
            </a:r>
            <a:r>
              <a:rPr lang="zh-CN" altLang="en-US" sz="2400" b="1" dirty="0">
                <a:solidFill>
                  <a:schemeClr val="tx1"/>
                </a:solidFill>
              </a:rPr>
              <a:t>、空操作指令</a:t>
            </a:r>
            <a:r>
              <a:rPr lang="en-US" altLang="zh-CN" sz="2400" b="1" dirty="0">
                <a:solidFill>
                  <a:schemeClr val="tx1"/>
                </a:solidFill>
              </a:rPr>
              <a:t>NOP</a:t>
            </a:r>
            <a:endParaRPr lang="zh-CN" altLang="en-US" sz="2400" b="1" dirty="0">
              <a:solidFill>
                <a:schemeClr val="tx1"/>
              </a:solidFill>
            </a:endParaRPr>
          </a:p>
        </p:txBody>
      </p:sp>
      <p:sp>
        <p:nvSpPr>
          <p:cNvPr id="517123" name="文本占位符 517122"/>
          <p:cNvSpPr>
            <a:spLocks noGrp="1"/>
          </p:cNvSpPr>
          <p:nvPr>
            <p:ph type="body" idx="1"/>
          </p:nvPr>
        </p:nvSpPr>
        <p:spPr>
          <a:xfrm>
            <a:off x="323850" y="1600200"/>
            <a:ext cx="8496300" cy="3124944"/>
          </a:xfrm>
          <a:ln/>
        </p:spPr>
        <p:txBody>
          <a:bodyPr/>
          <a:lstStyle/>
          <a:p>
            <a:pPr>
              <a:lnSpc>
                <a:spcPts val="3800"/>
              </a:lnSpc>
              <a:spcBef>
                <a:spcPts val="0"/>
              </a:spcBef>
              <a:buClr>
                <a:srgbClr val="0000FF"/>
              </a:buClr>
              <a:buFont typeface="Wingdings" panose="05000000000000000000" pitchFamily="2" charset="2"/>
              <a:buChar char="ü"/>
            </a:pPr>
            <a:r>
              <a:rPr lang="en-US" altLang="zh-CN" sz="2400" b="1" dirty="0"/>
              <a:t>NOP</a:t>
            </a:r>
            <a:r>
              <a:rPr lang="zh-CN" altLang="en-US" sz="2400" b="1" dirty="0"/>
              <a:t>指令不执行任何操作，但却要消耗</a:t>
            </a:r>
            <a:r>
              <a:rPr lang="en-US" altLang="zh-CN" sz="2400" b="1" dirty="0">
                <a:solidFill>
                  <a:srgbClr val="FF00FF"/>
                </a:solidFill>
              </a:rPr>
              <a:t>3</a:t>
            </a:r>
            <a:r>
              <a:rPr lang="zh-CN" altLang="en-US" sz="2400" b="1" dirty="0">
                <a:solidFill>
                  <a:srgbClr val="FF00FF"/>
                </a:solidFill>
              </a:rPr>
              <a:t>个时钟周期</a:t>
            </a:r>
            <a:r>
              <a:rPr lang="zh-CN" altLang="en-US" sz="2400" b="1" dirty="0"/>
              <a:t>的时间 </a:t>
            </a:r>
          </a:p>
          <a:p>
            <a:pPr>
              <a:lnSpc>
                <a:spcPts val="3800"/>
              </a:lnSpc>
              <a:spcBef>
                <a:spcPts val="0"/>
              </a:spcBef>
              <a:buClr>
                <a:srgbClr val="0000FF"/>
              </a:buClr>
              <a:buFont typeface="Wingdings" panose="05000000000000000000" pitchFamily="2" charset="2"/>
              <a:buChar char="ü"/>
            </a:pPr>
            <a:r>
              <a:rPr lang="en-US" altLang="zh-CN" sz="2400" b="1" dirty="0"/>
              <a:t>NOP</a:t>
            </a:r>
            <a:r>
              <a:rPr lang="zh-CN" altLang="en-US" sz="2400" b="1" dirty="0"/>
              <a:t>常用于程序调试</a:t>
            </a:r>
          </a:p>
          <a:p>
            <a:pPr lvl="1">
              <a:lnSpc>
                <a:spcPts val="3800"/>
              </a:lnSpc>
              <a:spcBef>
                <a:spcPts val="0"/>
              </a:spcBef>
              <a:buClrTx/>
              <a:buNone/>
            </a:pPr>
            <a:r>
              <a:rPr lang="zh-CN" altLang="en-US" sz="2400" b="1" dirty="0"/>
              <a:t>在需要预留指令空间时用</a:t>
            </a:r>
            <a:r>
              <a:rPr lang="en-US" altLang="zh-CN" sz="2400" b="1" dirty="0"/>
              <a:t>NOP</a:t>
            </a:r>
            <a:r>
              <a:rPr lang="zh-CN" altLang="en-US" sz="2400" b="1" dirty="0"/>
              <a:t>填充</a:t>
            </a:r>
          </a:p>
          <a:p>
            <a:pPr lvl="1">
              <a:lnSpc>
                <a:spcPts val="3800"/>
              </a:lnSpc>
              <a:spcBef>
                <a:spcPts val="0"/>
              </a:spcBef>
              <a:buClrTx/>
              <a:buNone/>
            </a:pPr>
            <a:r>
              <a:rPr lang="zh-CN" altLang="en-US" sz="2400" b="1" dirty="0"/>
              <a:t>代码空间多余时也可以用</a:t>
            </a:r>
            <a:r>
              <a:rPr lang="en-US" altLang="zh-CN" sz="2400" b="1" dirty="0"/>
              <a:t>NOP</a:t>
            </a:r>
            <a:r>
              <a:rPr lang="zh-CN" altLang="en-US" sz="2400" b="1" dirty="0"/>
              <a:t>填充</a:t>
            </a:r>
          </a:p>
          <a:p>
            <a:pPr lvl="1">
              <a:lnSpc>
                <a:spcPts val="3800"/>
              </a:lnSpc>
              <a:spcBef>
                <a:spcPts val="0"/>
              </a:spcBef>
              <a:buClrTx/>
              <a:buNone/>
            </a:pPr>
            <a:r>
              <a:rPr lang="zh-CN" altLang="en-US" sz="2400" b="1" dirty="0"/>
              <a:t>还可以用</a:t>
            </a:r>
            <a:r>
              <a:rPr lang="en-US" altLang="zh-CN" sz="2400" b="1" dirty="0"/>
              <a:t>NOP</a:t>
            </a:r>
            <a:r>
              <a:rPr lang="zh-CN" altLang="en-US" sz="2400" b="1" dirty="0"/>
              <a:t>实现软件延时，相当于“</a:t>
            </a:r>
            <a:r>
              <a:rPr lang="en-US" altLang="zh-CN" sz="2400" b="1" dirty="0"/>
              <a:t>XCHG AX, AX”</a:t>
            </a:r>
            <a:r>
              <a:rPr lang="zh-CN" altLang="en-US" sz="2400" b="1" dirty="0"/>
              <a:t>指令</a:t>
            </a:r>
            <a:r>
              <a:rPr lang="zh-CN" altLang="en-US" sz="2400" dirty="0"/>
              <a:t> </a:t>
            </a:r>
          </a:p>
        </p:txBody>
      </p:sp>
      <p:sp>
        <p:nvSpPr>
          <p:cNvPr id="5" name="矩形 4"/>
          <p:cNvSpPr/>
          <p:nvPr/>
        </p:nvSpPr>
        <p:spPr>
          <a:xfrm>
            <a:off x="2195513" y="188913"/>
            <a:ext cx="5111750" cy="431800"/>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b="1" dirty="0">
                <a:solidFill>
                  <a:srgbClr val="FF0000"/>
                </a:solidFill>
                <a:ea typeface="隶书" panose="02010509060101010101" pitchFamily="49" charset="-122"/>
              </a:rPr>
              <a:t>3.3 8086 CPU</a:t>
            </a:r>
            <a:r>
              <a:rPr lang="zh-CN" altLang="en-US" sz="3200" b="1" dirty="0">
                <a:solidFill>
                  <a:srgbClr val="FF0000"/>
                </a:solidFill>
                <a:ea typeface="隶书" panose="02010509060101010101" pitchFamily="49" charset="-122"/>
              </a:rPr>
              <a:t>指令系统</a:t>
            </a:r>
          </a:p>
        </p:txBody>
      </p:sp>
    </p:spTree>
  </p:cSld>
  <p:clrMapOvr>
    <a:masterClrMapping/>
  </p:clrMapOvr>
  <p:transition>
    <p:split orient="vert"/>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p:cNvSpPr>
            <a:spLocks noGrp="1"/>
          </p:cNvSpPr>
          <p:nvPr>
            <p:ph type="title"/>
          </p:nvPr>
        </p:nvSpPr>
        <p:spPr>
          <a:xfrm>
            <a:off x="457200" y="44624"/>
            <a:ext cx="8229600" cy="648072"/>
          </a:xfrm>
        </p:spPr>
        <p:txBody>
          <a:bodyPr/>
          <a:lstStyle/>
          <a:p>
            <a:r>
              <a:rPr lang="zh-CN" altLang="en-US" b="1" dirty="0">
                <a:latin typeface="宋体" panose="02010600030101010101" pitchFamily="2" charset="-122"/>
                <a:ea typeface="宋体" panose="02010600030101010101" pitchFamily="2" charset="-122"/>
              </a:rPr>
              <a:t>作业要求</a:t>
            </a:r>
          </a:p>
        </p:txBody>
      </p:sp>
      <p:sp>
        <p:nvSpPr>
          <p:cNvPr id="121859" name="内容占位符 2"/>
          <p:cNvSpPr>
            <a:spLocks noGrp="1"/>
          </p:cNvSpPr>
          <p:nvPr>
            <p:ph idx="1"/>
          </p:nvPr>
        </p:nvSpPr>
        <p:spPr>
          <a:xfrm>
            <a:off x="468313" y="1125538"/>
            <a:ext cx="8712200" cy="5111750"/>
          </a:xfrm>
        </p:spPr>
        <p:txBody>
          <a:bodyPr/>
          <a:lstStyle/>
          <a:p>
            <a:r>
              <a:rPr lang="en-US" altLang="zh-CN" dirty="0">
                <a:ea typeface="宋体" panose="02010600030101010101" pitchFamily="2" charset="-122"/>
              </a:rPr>
              <a:t>https://cslabcg.whu.edu.cn/admin/index.jsp</a:t>
            </a:r>
          </a:p>
          <a:p>
            <a:r>
              <a:rPr lang="zh-CN" altLang="en-US" b="1" dirty="0">
                <a:latin typeface="宋体" panose="02010600030101010101" pitchFamily="2" charset="-122"/>
                <a:ea typeface="宋体" panose="02010600030101010101" pitchFamily="2" charset="-122"/>
              </a:rPr>
              <a:t>默认密码为学号</a:t>
            </a:r>
            <a:endParaRPr lang="en-US" altLang="zh-CN" b="1"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在设定时间内提交作业</a:t>
            </a:r>
            <a:endParaRPr lang="en-US" altLang="zh-CN" b="1"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如果需要延期，请私信学号和姓名，并说明迟交原因</a:t>
            </a:r>
            <a:endParaRPr lang="en-US" altLang="zh-CN" b="1" dirty="0">
              <a:latin typeface="宋体" panose="02010600030101010101" pitchFamily="2" charset="-122"/>
              <a:ea typeface="宋体" panose="02010600030101010101" pitchFamily="2" charset="-122"/>
            </a:endParaRPr>
          </a:p>
          <a:p>
            <a:r>
              <a:rPr lang="zh-CN" altLang="en-US" sz="5700" b="1" dirty="0">
                <a:solidFill>
                  <a:srgbClr val="C00000"/>
                </a:solidFill>
                <a:latin typeface="宋体" panose="02010600030101010101" pitchFamily="2" charset="-122"/>
                <a:ea typeface="宋体" panose="02010600030101010101" pitchFamily="2" charset="-122"/>
              </a:rPr>
              <a:t>批阅后补交的作业只计提交次数，内容不再批阅</a:t>
            </a:r>
          </a:p>
        </p:txBody>
      </p:sp>
    </p:spTree>
    <p:extLst>
      <p:ext uri="{BB962C8B-B14F-4D97-AF65-F5344CB8AC3E}">
        <p14:creationId xmlns:p14="http://schemas.microsoft.com/office/powerpoint/2010/main" val="1539774330"/>
      </p:ext>
    </p:extLst>
  </p:cSld>
  <p:clrMapOvr>
    <a:masterClrMapping/>
  </p:clrMapOvr>
</p:sld>
</file>

<file path=ppt/theme/theme1.xml><?xml version="1.0" encoding="utf-8"?>
<a:theme xmlns:a="http://schemas.openxmlformats.org/drawingml/2006/main" name="接口">
  <a:themeElements>
    <a:clrScheme name="">
      <a:dk1>
        <a:srgbClr val="000000"/>
      </a:dk1>
      <a:lt1>
        <a:srgbClr val="FFFFFF"/>
      </a:lt1>
      <a:dk2>
        <a:srgbClr val="000000"/>
      </a:dk2>
      <a:lt2>
        <a:srgbClr val="808080"/>
      </a:lt2>
      <a:accent1>
        <a:srgbClr val="00CC99"/>
      </a:accent1>
      <a:accent2>
        <a:srgbClr val="333399"/>
      </a:accent2>
      <a:accent3>
        <a:srgbClr val="FFFFFF"/>
      </a:accent3>
      <a:accent4>
        <a:srgbClr val="000000"/>
      </a:accent4>
      <a:accent5>
        <a:srgbClr val="AAE2CA"/>
      </a:accent5>
      <a:accent6>
        <a:srgbClr val="2D2D89"/>
      </a:accent6>
      <a:hlink>
        <a:srgbClr val="FF6600"/>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FF66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00"/>
        </a:accent1>
        <a:accent2>
          <a:srgbClr val="333399"/>
        </a:accent2>
        <a:accent3>
          <a:srgbClr val="FFFFFF"/>
        </a:accent3>
        <a:accent4>
          <a:srgbClr val="000000"/>
        </a:accent4>
        <a:accent5>
          <a:srgbClr val="AAE2AA"/>
        </a:accent5>
        <a:accent6>
          <a:srgbClr val="2D2D89"/>
        </a:accent6>
        <a:hlink>
          <a:srgbClr val="FF66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99"/>
        </a:accent2>
        <a:accent3>
          <a:srgbClr val="FFFFFF"/>
        </a:accent3>
        <a:accent4>
          <a:srgbClr val="000000"/>
        </a:accent4>
        <a:accent5>
          <a:srgbClr val="AAE2CA"/>
        </a:accent5>
        <a:accent6>
          <a:srgbClr val="2D2D89"/>
        </a:accent6>
        <a:hlink>
          <a:srgbClr val="FF6600"/>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接口</Template>
  <TotalTime>624</TotalTime>
  <Words>11641</Words>
  <Application>Microsoft Office PowerPoint</Application>
  <PresentationFormat>全屏显示(4:3)</PresentationFormat>
  <Paragraphs>1456</Paragraphs>
  <Slides>131</Slides>
  <Notes>79</Notes>
  <HiddenSlides>55</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131</vt:i4>
      </vt:variant>
    </vt:vector>
  </HeadingPairs>
  <TitlesOfParts>
    <vt:vector size="140" baseType="lpstr">
      <vt:lpstr>楷体_GB2312</vt:lpstr>
      <vt:lpstr>隶书</vt:lpstr>
      <vt:lpstr>宋体</vt:lpstr>
      <vt:lpstr>Arial</vt:lpstr>
      <vt:lpstr>Arial Narrow</vt:lpstr>
      <vt:lpstr>Tahoma</vt:lpstr>
      <vt:lpstr>Times New Roman</vt:lpstr>
      <vt:lpstr>Wingdings</vt:lpstr>
      <vt:lpstr>接口</vt:lpstr>
      <vt:lpstr>PowerPoint 演示文稿</vt:lpstr>
      <vt:lpstr>3.1  指令系统概述</vt:lpstr>
      <vt:lpstr>3.1  指令格式</vt:lpstr>
      <vt:lpstr>3.1  指令格式</vt:lpstr>
      <vt:lpstr>PowerPoint 演示文稿</vt:lpstr>
      <vt:lpstr>3.1  指令格式</vt:lpstr>
      <vt:lpstr>PowerPoint 演示文稿</vt:lpstr>
      <vt:lpstr>PowerPoint 演示文稿</vt:lpstr>
      <vt:lpstr>PowerPoint 演示文稿</vt:lpstr>
      <vt:lpstr>PowerPoint 演示文稿</vt:lpstr>
      <vt:lpstr>PowerPoint 演示文稿</vt:lpstr>
      <vt:lpstr>PowerPoint 演示文稿</vt:lpstr>
      <vt:lpstr>3.2.3、存储器寻址方式</vt:lpstr>
      <vt:lpstr>PowerPoint 演示文稿</vt:lpstr>
      <vt:lpstr>PowerPoint 演示文稿</vt:lpstr>
      <vt:lpstr>2、寄存器间接寻址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lpstr>PowerPoint 演示文稿</vt:lpstr>
      <vt:lpstr>PowerPoint 演示文稿</vt:lpstr>
      <vt:lpstr>PowerPoint 演示文稿</vt:lpstr>
      <vt:lpstr>PowerPoint 演示文稿</vt:lpstr>
      <vt:lpstr>PowerPoint 演示文稿</vt:lpstr>
      <vt:lpstr>PowerPoint 演示文稿</vt:lpstr>
      <vt:lpstr>3.3.1、数据传送类指令</vt:lpstr>
      <vt:lpstr>1、通用数据传送指令－MOV</vt:lpstr>
      <vt:lpstr>PowerPoint 演示文稿</vt:lpstr>
      <vt:lpstr>PowerPoint 演示文稿</vt:lpstr>
      <vt:lpstr>PowerPoint 演示文稿</vt:lpstr>
      <vt:lpstr>2、数据交换指令－XCHG</vt:lpstr>
      <vt:lpstr>PowerPoint 演示文稿</vt:lpstr>
      <vt:lpstr>PowerPoint 演示文稿</vt:lpstr>
      <vt:lpstr>PowerPoint 演示文稿</vt:lpstr>
      <vt:lpstr>堆栈指令小结：</vt:lpstr>
      <vt:lpstr>PowerPoint 演示文稿</vt:lpstr>
      <vt:lpstr>（1）有效地址传送指令LEA</vt:lpstr>
      <vt:lpstr>PowerPoint 演示文稿</vt:lpstr>
      <vt:lpstr>（2）指针传送指令LDS和LES</vt:lpstr>
      <vt:lpstr>示例：地址指针传送</vt:lpstr>
      <vt:lpstr>PowerPoint 演示文稿</vt:lpstr>
      <vt:lpstr>小　结</vt:lpstr>
      <vt:lpstr>PowerPoint 演示文稿</vt:lpstr>
      <vt:lpstr>5、标志寄存器传送指令</vt:lpstr>
      <vt:lpstr>（1）LAHF与SAHF</vt:lpstr>
      <vt:lpstr>（2）标志寄存器进出堆栈指令</vt:lpstr>
      <vt:lpstr>示例：置位单步标志状态</vt:lpstr>
      <vt:lpstr>小结</vt:lpstr>
      <vt:lpstr>PowerPoint 演示文稿</vt:lpstr>
      <vt:lpstr>PowerPoint 演示文稿</vt:lpstr>
      <vt:lpstr>3.3.2、算术运算类指令</vt:lpstr>
      <vt:lpstr>1、加法指令</vt:lpstr>
      <vt:lpstr>1）加法指令ADD</vt:lpstr>
      <vt:lpstr>例：加法运算</vt:lpstr>
      <vt:lpstr>2）带进位加法指令ADC</vt:lpstr>
      <vt:lpstr>PowerPoint 演示文稿</vt:lpstr>
      <vt:lpstr>3）增1指令INC</vt:lpstr>
      <vt:lpstr>加法指令小结</vt:lpstr>
      <vt:lpstr>2、减法指令</vt:lpstr>
      <vt:lpstr>1）减法指令SUB</vt:lpstr>
      <vt:lpstr>例3：减法运算</vt:lpstr>
      <vt:lpstr>2）带借位减法指令SBB</vt:lpstr>
      <vt:lpstr>例4：双字减法</vt:lpstr>
      <vt:lpstr>3、减1指令DEC</vt:lpstr>
      <vt:lpstr>PowerPoint 演示文稿</vt:lpstr>
      <vt:lpstr>4）求补指令NEG</vt:lpstr>
      <vt:lpstr>PowerPoint 演示文稿</vt:lpstr>
      <vt:lpstr>5）比较指令CMP</vt:lpstr>
      <vt:lpstr>例：比较AL与100的大小，若 AL&lt;100，则跳转到BE处执行</vt:lpstr>
      <vt:lpstr>3、乘法指令</vt:lpstr>
      <vt:lpstr>乘法指令对标志位的影响：利用OF和CF判断乘积的高一半是否具有有效数值</vt:lpstr>
      <vt:lpstr>PowerPoint 演示文稿</vt:lpstr>
      <vt:lpstr>4、除法指令</vt:lpstr>
      <vt:lpstr>除法指令的功能</vt:lpstr>
      <vt:lpstr>5、符号扩展指令</vt:lpstr>
      <vt:lpstr>例8：符号扩展</vt:lpstr>
      <vt:lpstr>3.3.3逻辑运算与移位类（位操作）</vt:lpstr>
      <vt:lpstr>1、逻辑运算指令</vt:lpstr>
      <vt:lpstr>1）逻辑与指令AND</vt:lpstr>
      <vt:lpstr>2）逻辑或指令OR</vt:lpstr>
      <vt:lpstr>3）逻辑异或指令XOR</vt:lpstr>
      <vt:lpstr>4）逻辑非指令NOT</vt:lpstr>
      <vt:lpstr>小结逻辑指令：</vt:lpstr>
      <vt:lpstr>例题：逻辑指令应用</vt:lpstr>
      <vt:lpstr>5）测试指令TEST</vt:lpstr>
      <vt:lpstr>例：测试为0或1</vt:lpstr>
      <vt:lpstr>2、移位指令 1）非循环移位指令</vt:lpstr>
      <vt:lpstr>PowerPoint 演示文稿</vt:lpstr>
      <vt:lpstr>说明：</vt:lpstr>
      <vt:lpstr>移位指令举例</vt:lpstr>
      <vt:lpstr>2）循环移位指令</vt:lpstr>
      <vt:lpstr>循环移位指令格式</vt:lpstr>
      <vt:lpstr>循环移位指令说明</vt:lpstr>
      <vt:lpstr>PowerPoint 演示文稿</vt:lpstr>
      <vt:lpstr>循环移位示例：32位数移位</vt:lpstr>
      <vt:lpstr>PowerPoint 演示文稿</vt:lpstr>
      <vt:lpstr>1、无条件转移指令</vt:lpstr>
      <vt:lpstr>解释段内涵义</vt:lpstr>
      <vt:lpstr>解释段间涵义</vt:lpstr>
      <vt:lpstr>PowerPoint 演示文稿</vt:lpstr>
      <vt:lpstr>PowerPoint 演示文稿</vt:lpstr>
      <vt:lpstr>段内直接转移</vt:lpstr>
      <vt:lpstr>2、条件转移指令</vt:lpstr>
      <vt:lpstr>PowerPoint 演示文稿</vt:lpstr>
      <vt:lpstr>1）判断单个标志位状态</vt:lpstr>
      <vt:lpstr>例：JZ/JNZ指令应用</vt:lpstr>
      <vt:lpstr>例：JS/JNS指令</vt:lpstr>
      <vt:lpstr>例：JC/JNC指令</vt:lpstr>
      <vt:lpstr>统计BX中“1”的个数</vt:lpstr>
      <vt:lpstr>2）比较无符号数高低</vt:lpstr>
      <vt:lpstr>PowerPoint 演示文稿</vt:lpstr>
      <vt:lpstr>3、比较有符号数大小</vt:lpstr>
      <vt:lpstr>3、循环指令</vt:lpstr>
      <vt:lpstr>PowerPoint 演示文稿</vt:lpstr>
      <vt:lpstr>PowerPoint 演示文稿</vt:lpstr>
      <vt:lpstr>4、子程序指令</vt:lpstr>
      <vt:lpstr>主程序与子程序</vt:lpstr>
      <vt:lpstr>1）子程序调用指令</vt:lpstr>
      <vt:lpstr>PowerPoint 演示文稿</vt:lpstr>
      <vt:lpstr>2）子程序返回指令</vt:lpstr>
      <vt:lpstr>PowerPoint 演示文稿</vt:lpstr>
      <vt:lpstr>5、中断指令</vt:lpstr>
      <vt:lpstr>3.3.5串操作指令</vt:lpstr>
      <vt:lpstr>1、标志位操作</vt:lpstr>
      <vt:lpstr>2、空操作指令NOP</vt:lpstr>
      <vt:lpstr>作业要求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Joy Liu</cp:lastModifiedBy>
  <cp:revision>663</cp:revision>
  <dcterms:created xsi:type="dcterms:W3CDTF">2016-09-20T02:16:27Z</dcterms:created>
  <dcterms:modified xsi:type="dcterms:W3CDTF">2025-03-02T14:17:50Z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