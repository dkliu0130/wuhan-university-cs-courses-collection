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0" r:id="rId3"/>
    <p:sldId id="498" r:id="rId5"/>
    <p:sldId id="418" r:id="rId6"/>
    <p:sldId id="368" r:id="rId7"/>
    <p:sldId id="459" r:id="rId8"/>
    <p:sldId id="460" r:id="rId9"/>
    <p:sldId id="461" r:id="rId10"/>
    <p:sldId id="422" r:id="rId11"/>
    <p:sldId id="423" r:id="rId12"/>
    <p:sldId id="424" r:id="rId13"/>
    <p:sldId id="425" r:id="rId14"/>
    <p:sldId id="426" r:id="rId15"/>
    <p:sldId id="427" r:id="rId16"/>
    <p:sldId id="428" r:id="rId17"/>
    <p:sldId id="462" r:id="rId18"/>
    <p:sldId id="429" r:id="rId19"/>
    <p:sldId id="430" r:id="rId20"/>
    <p:sldId id="431" r:id="rId21"/>
    <p:sldId id="434" r:id="rId22"/>
    <p:sldId id="433" r:id="rId23"/>
    <p:sldId id="435" r:id="rId24"/>
    <p:sldId id="436" r:id="rId25"/>
    <p:sldId id="437" r:id="rId26"/>
    <p:sldId id="438" r:id="rId27"/>
    <p:sldId id="439" r:id="rId28"/>
    <p:sldId id="440" r:id="rId29"/>
    <p:sldId id="441" r:id="rId30"/>
    <p:sldId id="442" r:id="rId31"/>
    <p:sldId id="443" r:id="rId32"/>
    <p:sldId id="444" r:id="rId33"/>
    <p:sldId id="445" r:id="rId34"/>
    <p:sldId id="447" r:id="rId35"/>
    <p:sldId id="446" r:id="rId36"/>
    <p:sldId id="448" r:id="rId37"/>
    <p:sldId id="449" r:id="rId38"/>
    <p:sldId id="450" r:id="rId39"/>
    <p:sldId id="451" r:id="rId40"/>
    <p:sldId id="452" r:id="rId41"/>
    <p:sldId id="453" r:id="rId42"/>
    <p:sldId id="454" r:id="rId43"/>
    <p:sldId id="456" r:id="rId44"/>
    <p:sldId id="457" r:id="rId45"/>
    <p:sldId id="458" r:id="rId46"/>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p:defaultTextStyle>
  <p:extLst>
    <p:ext uri="{EFAFB233-063F-42B5-8137-9DF3F51BA10A}">
      <p15:sldGuideLst xmlns:p15="http://schemas.microsoft.com/office/powerpoint/2012/main">
        <p15:guide id="1" orient="horz" pos="2160" userDrawn="1">
          <p15:clr>
            <a:srgbClr val="A4A3A4"/>
          </p15:clr>
        </p15:guide>
        <p15:guide id="2" pos="29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FF"/>
    <a:srgbClr val="0000FF"/>
    <a:srgbClr val="990099"/>
    <a:srgbClr val="CC0066"/>
    <a:srgbClr val="CC0099"/>
    <a:srgbClr val="FF3399"/>
    <a:srgbClr val="FF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8" autoAdjust="0"/>
    <p:restoredTop sz="94659" autoAdjust="0"/>
  </p:normalViewPr>
  <p:slideViewPr>
    <p:cSldViewPr showGuides="1">
      <p:cViewPr varScale="1">
        <p:scale>
          <a:sx n="104" d="100"/>
          <a:sy n="104" d="100"/>
        </p:scale>
        <p:origin x="1866" y="102"/>
      </p:cViewPr>
      <p:guideLst>
        <p:guide orient="horz" pos="2160"/>
        <p:guide pos="290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页眉占位符 2252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latin typeface="Tahoma" panose="020B0604030504040204" pitchFamily="34" charset="0"/>
            </a:endParaRPr>
          </a:p>
        </p:txBody>
      </p:sp>
      <p:sp>
        <p:nvSpPr>
          <p:cNvPr id="22531" name="日期占位符 22530"/>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latin typeface="Tahoma" panose="020B0604030504040204" pitchFamily="34" charset="0"/>
            </a:endParaRPr>
          </a:p>
        </p:txBody>
      </p:sp>
      <p:sp>
        <p:nvSpPr>
          <p:cNvPr id="22532" name="幻灯片图像占位符 22531"/>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2533" name="文本占位符 22532"/>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2534" name="页脚占位符 22533"/>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latin typeface="Tahoma" panose="020B0604030504040204" pitchFamily="34" charset="0"/>
            </a:endParaRPr>
          </a:p>
        </p:txBody>
      </p:sp>
      <p:sp>
        <p:nvSpPr>
          <p:cNvPr id="22535" name="灯片编号占位符 22534"/>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218113"/>
          <p:cNvSpPr>
            <a:spLocks noGrp="1" noRot="1" noChangeAspect="1" noTextEdit="1"/>
          </p:cNvSpPr>
          <p:nvPr>
            <p:ph type="sldImg"/>
          </p:nvPr>
        </p:nvSpPr>
        <p:spPr/>
      </p:sp>
      <p:sp>
        <p:nvSpPr>
          <p:cNvPr id="218115" name="文本占位符 21811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buClrTx/>
            </a:pPr>
            <a:fld id="{BB962C8B-B14F-4D97-AF65-F5344CB8AC3E}" type="datetime1">
              <a:rPr lang="zh-CN" altLang="en-US" dirty="0"/>
            </a:fld>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buClrTx/>
            </a:pPr>
            <a:endParaRPr lang="zh-CN" altLang="en-US" dirty="0"/>
          </a:p>
        </p:txBody>
      </p:sp>
      <p:sp>
        <p:nvSpPr>
          <p:cNvPr id="8" name="页脚占位符 7"/>
          <p:cNvSpPr>
            <a:spLocks noGrp="1"/>
          </p:cNvSpPr>
          <p:nvPr>
            <p:ph type="ftr" sz="quarter" idx="11"/>
          </p:nvPr>
        </p:nvSpPr>
        <p:spPr/>
        <p:txBody>
          <a:bodyPr/>
          <a:lstStyle/>
          <a:p>
            <a:pPr lvl="0">
              <a:buClrTx/>
            </a:pPr>
            <a:endParaRPr lang="zh-CN" altLang="en-US" dirty="0"/>
          </a:p>
        </p:txBody>
      </p:sp>
      <p:sp>
        <p:nvSpPr>
          <p:cNvPr id="9" name="灯片编号占位符 8"/>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buClrTx/>
            </a:pPr>
            <a:endParaRPr lang="zh-CN" altLang="en-US" dirty="0"/>
          </a:p>
        </p:txBody>
      </p:sp>
      <p:sp>
        <p:nvSpPr>
          <p:cNvPr id="4" name="页脚占位符 3"/>
          <p:cNvSpPr>
            <a:spLocks noGrp="1"/>
          </p:cNvSpPr>
          <p:nvPr>
            <p:ph type="ftr" sz="quarter" idx="11"/>
          </p:nvPr>
        </p:nvSpPr>
        <p:spPr/>
        <p:txBody>
          <a:bodyPr/>
          <a:lstStyle/>
          <a:p>
            <a:pPr lvl="0">
              <a:buClrTx/>
            </a:pPr>
            <a:endParaRPr lang="zh-CN" altLang="en-US" dirty="0"/>
          </a:p>
        </p:txBody>
      </p:sp>
      <p:sp>
        <p:nvSpPr>
          <p:cNvPr id="5" name="灯片编号占位符 4"/>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buClrTx/>
            </a:pPr>
            <a:endParaRPr lang="zh-CN" altLang="en-US" dirty="0"/>
          </a:p>
        </p:txBody>
      </p:sp>
      <p:sp>
        <p:nvSpPr>
          <p:cNvPr id="3" name="页脚占位符 2"/>
          <p:cNvSpPr>
            <a:spLocks noGrp="1"/>
          </p:cNvSpPr>
          <p:nvPr>
            <p:ph type="ftr" sz="quarter" idx="11"/>
          </p:nvPr>
        </p:nvSpPr>
        <p:spPr/>
        <p:txBody>
          <a:bodyPr/>
          <a:lstStyle/>
          <a:p>
            <a:pPr lvl="0">
              <a:buClrTx/>
            </a:pPr>
            <a:endParaRPr lang="zh-CN" altLang="en-US" dirty="0"/>
          </a:p>
        </p:txBody>
      </p:sp>
      <p:sp>
        <p:nvSpPr>
          <p:cNvPr id="4" name="灯片编号占位符 3"/>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buClrTx/>
            </a:pPr>
            <a:fld id="{BB962C8B-B14F-4D97-AF65-F5344CB8AC3E}" type="datetime1">
              <a:rPr lang="zh-CN" altLang="en-US" dirty="0"/>
            </a:fld>
            <a:endParaRPr lang="zh-CN" altLang="en-US" dirty="0"/>
          </a:p>
        </p:txBody>
      </p:sp>
      <p:sp>
        <p:nvSpPr>
          <p:cNvPr id="4" name="页脚占位符 3"/>
          <p:cNvSpPr>
            <a:spLocks noGrp="1"/>
          </p:cNvSpPr>
          <p:nvPr>
            <p:ph type="ftr" sz="quarter" idx="11"/>
          </p:nvPr>
        </p:nvSpPr>
        <p:spPr/>
        <p:txBody>
          <a:bodyPr/>
          <a:lstStyle/>
          <a:p>
            <a:pPr lvl="0">
              <a:buClrTx/>
            </a:pPr>
            <a:endParaRPr lang="zh-CN" altLang="en-US" dirty="0"/>
          </a:p>
        </p:txBody>
      </p:sp>
      <p:sp>
        <p:nvSpPr>
          <p:cNvPr id="5" name="灯片编号占位符 4"/>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buClrTx/>
            </a:pPr>
            <a:fld id="{BB962C8B-B14F-4D97-AF65-F5344CB8AC3E}" type="datetime1">
              <a:rPr lang="zh-CN" altLang="en-US" dirty="0"/>
            </a:fld>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标题 21094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10947" name="文本占位符 210946"/>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10948" name="日期占位符 210947"/>
          <p:cNvSpPr>
            <a:spLocks noGrp="1"/>
          </p:cNvSpPr>
          <p:nvPr>
            <p:ph type="dt" sz="half" idx="2"/>
          </p:nvPr>
        </p:nvSpPr>
        <p:spPr>
          <a:xfrm>
            <a:off x="457200" y="6245225"/>
            <a:ext cx="2133600" cy="476250"/>
          </a:xfrm>
          <a:prstGeom prst="rect">
            <a:avLst/>
          </a:prstGeom>
          <a:noFill/>
          <a:ln w="9525">
            <a:noFill/>
          </a:ln>
        </p:spPr>
        <p:txBody>
          <a:bodyPr/>
          <a:lstStyle>
            <a:lvl1pPr>
              <a:defRPr sz="1400">
                <a:latin typeface="Arial" panose="020B0604020202020204" pitchFamily="34" charset="0"/>
              </a:defRPr>
            </a:lvl1pPr>
          </a:lstStyle>
          <a:p>
            <a:pPr lvl="0">
              <a:buClrTx/>
            </a:pPr>
            <a:fld id="{BB962C8B-B14F-4D97-AF65-F5344CB8AC3E}" type="datetime1">
              <a:rPr lang="zh-CN" altLang="en-US" dirty="0"/>
            </a:fld>
            <a:endParaRPr lang="zh-CN" altLang="en-US" dirty="0"/>
          </a:p>
        </p:txBody>
      </p:sp>
      <p:sp>
        <p:nvSpPr>
          <p:cNvPr id="210949" name="页脚占位符 2109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atin typeface="Arial" panose="020B0604020202020204" pitchFamily="34" charset="0"/>
              </a:defRPr>
            </a:lvl1pPr>
          </a:lstStyle>
          <a:p>
            <a:pPr lvl="0">
              <a:buClrTx/>
            </a:pPr>
            <a:endParaRPr lang="zh-CN" altLang="en-US" dirty="0"/>
          </a:p>
        </p:txBody>
      </p:sp>
      <p:sp>
        <p:nvSpPr>
          <p:cNvPr id="210950" name="灯片编号占位符 2109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atin typeface="Arial" panose="020B0604020202020204" pitchFamily="34" charset="0"/>
              </a:defRPr>
            </a:lvl1pPr>
          </a:lstStyle>
          <a:p>
            <a:pPr lvl="0">
              <a:buClrTx/>
            </a:pPr>
            <a:fld id="{9A0DB2DC-4C9A-4742-B13C-FB6460FD3503}" type="slidenum">
              <a:rPr lang="zh-CN" altLang="en-US" dirty="0"/>
            </a:fld>
            <a:endParaRPr lang="zh-CN" altLang="en-US" dirty="0"/>
          </a:p>
        </p:txBody>
      </p:sp>
      <p:sp>
        <p:nvSpPr>
          <p:cNvPr id="210954" name="直接连接符 210953"/>
          <p:cNvSpPr/>
          <p:nvPr userDrawn="1"/>
        </p:nvSpPr>
        <p:spPr>
          <a:xfrm>
            <a:off x="179388" y="765175"/>
            <a:ext cx="8763000" cy="0"/>
          </a:xfrm>
          <a:prstGeom prst="line">
            <a:avLst/>
          </a:prstGeom>
          <a:ln w="53975" cap="flat" cmpd="sng">
            <a:solidFill>
              <a:srgbClr val="CC99FF"/>
            </a:solidFill>
            <a:prstDash val="solid"/>
            <a:miter/>
            <a:headEnd type="none" w="med" len="med"/>
            <a:tailEnd type="none" w="med" len="med"/>
          </a:ln>
        </p:spPr>
      </p:sp>
      <p:pic>
        <p:nvPicPr>
          <p:cNvPr id="210958" name="图片 210957" descr="上一页">
            <a:hlinkClick r:id="" action="ppaction://hlinkshowjump?jump=previousslide"/>
          </p:cNvPr>
          <p:cNvPicPr>
            <a:picLocks noChangeAspect="1"/>
          </p:cNvPicPr>
          <p:nvPr userDrawn="1"/>
        </p:nvPicPr>
        <p:blipFill>
          <a:blip r:embed="rId14"/>
          <a:stretch>
            <a:fillRect/>
          </a:stretch>
        </p:blipFill>
        <p:spPr>
          <a:xfrm>
            <a:off x="5373688" y="6364288"/>
            <a:ext cx="1039812" cy="520700"/>
          </a:xfrm>
          <a:prstGeom prst="rect">
            <a:avLst/>
          </a:prstGeom>
          <a:noFill/>
          <a:ln w="9525">
            <a:noFill/>
          </a:ln>
        </p:spPr>
      </p:pic>
      <p:pic>
        <p:nvPicPr>
          <p:cNvPr id="210959" name="图片 210958" descr="退出">
            <a:hlinkClick r:id="" action="ppaction://hlinkshowjump?jump=endshow"/>
          </p:cNvPr>
          <p:cNvPicPr>
            <a:picLocks noChangeAspect="1"/>
          </p:cNvPicPr>
          <p:nvPr userDrawn="1"/>
        </p:nvPicPr>
        <p:blipFill>
          <a:blip r:embed="rId15"/>
          <a:stretch>
            <a:fillRect/>
          </a:stretch>
        </p:blipFill>
        <p:spPr>
          <a:xfrm>
            <a:off x="7885113" y="6364288"/>
            <a:ext cx="1039812" cy="520700"/>
          </a:xfrm>
          <a:prstGeom prst="rect">
            <a:avLst/>
          </a:prstGeom>
          <a:noFill/>
          <a:ln w="9525">
            <a:noFill/>
          </a:ln>
        </p:spPr>
      </p:pic>
      <p:pic>
        <p:nvPicPr>
          <p:cNvPr id="210960" name="图片 210959" descr="下一页">
            <a:hlinkClick r:id="" action="ppaction://hlinkshowjump?jump=nextslide"/>
          </p:cNvPr>
          <p:cNvPicPr>
            <a:picLocks noChangeAspect="1"/>
          </p:cNvPicPr>
          <p:nvPr userDrawn="1"/>
        </p:nvPicPr>
        <p:blipFill>
          <a:blip r:embed="rId16"/>
          <a:stretch>
            <a:fillRect/>
          </a:stretch>
        </p:blipFill>
        <p:spPr>
          <a:xfrm>
            <a:off x="6627813" y="6364288"/>
            <a:ext cx="1039812" cy="520700"/>
          </a:xfrm>
          <a:prstGeom prst="rect">
            <a:avLst/>
          </a:prstGeom>
          <a:noFill/>
          <a:ln w="9525">
            <a:noFill/>
          </a:ln>
        </p:spPr>
      </p:pic>
      <p:pic>
        <p:nvPicPr>
          <p:cNvPr id="12" name="Object 18"/>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0" y="71"/>
            <a:ext cx="827584" cy="765103"/>
          </a:xfrm>
          <a:prstGeom prst="rect">
            <a:avLst/>
          </a:prstGeom>
          <a:solidFill>
            <a:srgbClr val="458F8F"/>
          </a:solidFill>
          <a:ln w="9525" cmpd="sng">
            <a:solidFill>
              <a:srgbClr val="2B166E"/>
            </a:solidFill>
            <a:miter lim="800000"/>
            <a:headEnd/>
            <a:tailEnd/>
          </a:ln>
        </p:spPr>
      </p:pic>
      <p:pic>
        <p:nvPicPr>
          <p:cNvPr id="13" name="Object 19"/>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45690" y="72"/>
            <a:ext cx="773982" cy="765101"/>
          </a:xfrm>
          <a:prstGeom prst="rect">
            <a:avLst/>
          </a:prstGeom>
          <a:solidFill>
            <a:srgbClr val="458F8F"/>
          </a:solidFill>
          <a:ln w="9525" cmpd="sng">
            <a:solidFill>
              <a:srgbClr val="2B166E"/>
            </a:solid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7.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Document1.doc"/></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981274"/>
            <a:ext cx="9036496" cy="768350"/>
          </a:xfrm>
          <a:prstGeom prst="rect">
            <a:avLst/>
          </a:prstGeom>
          <a:noFill/>
        </p:spPr>
        <p:txBody>
          <a:bodyPr wrap="square" rtlCol="0" anchor="ctr" anchorCtr="0">
            <a:spAutoFit/>
          </a:bodyPr>
          <a:lstStyle/>
          <a:p>
            <a:pPr algn="ctr"/>
            <a:r>
              <a:rPr lang="zh-CN" altLang="en-US" sz="4400" b="1" normalizeH="1" dirty="0">
                <a:ln w="22225">
                  <a:solidFill>
                    <a:srgbClr val="0000CC"/>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sym typeface="+mn-ea"/>
              </a:rPr>
              <a:t>微机系统与接口</a:t>
            </a:r>
            <a:endParaRPr lang="en-US" altLang="zh-CN" sz="4400" b="1" normalizeH="1" dirty="0">
              <a:ln w="22225">
                <a:solidFill>
                  <a:srgbClr val="0000CC"/>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1379855" y="1628775"/>
            <a:ext cx="3399155" cy="4443095"/>
          </a:xfrm>
          <a:prstGeom prst="rect">
            <a:avLst/>
          </a:prstGeom>
        </p:spPr>
      </p:pic>
      <p:sp>
        <p:nvSpPr>
          <p:cNvPr id="3" name="文本框 2"/>
          <p:cNvSpPr txBox="1"/>
          <p:nvPr/>
        </p:nvSpPr>
        <p:spPr>
          <a:xfrm>
            <a:off x="5364480" y="4149090"/>
            <a:ext cx="3048000" cy="645160"/>
          </a:xfrm>
          <a:prstGeom prst="rect">
            <a:avLst/>
          </a:prstGeom>
          <a:noFill/>
        </p:spPr>
        <p:txBody>
          <a:bodyPr wrap="square" rtlCol="0">
            <a:spAutoFit/>
          </a:bodyPr>
          <a:p>
            <a:r>
              <a:rPr lang="zh-CN" altLang="en-US"/>
              <a:t>李珍香等编著</a:t>
            </a:r>
            <a:endParaRPr lang="zh-CN" altLang="en-US"/>
          </a:p>
          <a:p>
            <a:r>
              <a:rPr lang="zh-CN" altLang="en-US"/>
              <a:t>清华大学出版社</a:t>
            </a:r>
            <a:endParaRPr lang="zh-CN" alt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74955"/>
            <a:ext cx="8229600" cy="428625"/>
          </a:xfrm>
        </p:spPr>
        <p:txBody>
          <a:bodyPr/>
          <a:p>
            <a:r>
              <a:rPr lang="zh-CN" altLang="en-US" sz="3200"/>
              <a:t>参考教材</a:t>
            </a:r>
            <a:endParaRPr lang="zh-CN" altLang="en-US" sz="3200"/>
          </a:p>
        </p:txBody>
      </p:sp>
      <p:pic>
        <p:nvPicPr>
          <p:cNvPr id="6" name="内容占位符 5"/>
          <p:cNvPicPr>
            <a:picLocks noChangeAspect="1"/>
          </p:cNvPicPr>
          <p:nvPr>
            <p:ph idx="1"/>
          </p:nvPr>
        </p:nvPicPr>
        <p:blipFill>
          <a:blip r:embed="rId1"/>
          <a:stretch>
            <a:fillRect/>
          </a:stretch>
        </p:blipFill>
        <p:spPr>
          <a:xfrm>
            <a:off x="683260" y="1412875"/>
            <a:ext cx="3295650" cy="3829050"/>
          </a:xfrm>
          <a:prstGeom prst="rect">
            <a:avLst/>
          </a:prstGeom>
        </p:spPr>
      </p:pic>
      <p:pic>
        <p:nvPicPr>
          <p:cNvPr id="7" name="图片 6"/>
          <p:cNvPicPr>
            <a:picLocks noChangeAspect="1"/>
          </p:cNvPicPr>
          <p:nvPr/>
        </p:nvPicPr>
        <p:blipFill>
          <a:blip r:embed="rId2"/>
          <a:stretch>
            <a:fillRect/>
          </a:stretch>
        </p:blipFill>
        <p:spPr>
          <a:xfrm>
            <a:off x="4859655" y="1412875"/>
            <a:ext cx="3001010" cy="3891280"/>
          </a:xfrm>
          <a:prstGeom prst="rect">
            <a:avLst/>
          </a:prstGeom>
        </p:spPr>
      </p:pic>
      <p:sp>
        <p:nvSpPr>
          <p:cNvPr id="8" name="文本框 7"/>
          <p:cNvSpPr txBox="1"/>
          <p:nvPr/>
        </p:nvSpPr>
        <p:spPr>
          <a:xfrm>
            <a:off x="1187450" y="5661025"/>
            <a:ext cx="3048000" cy="645160"/>
          </a:xfrm>
          <a:prstGeom prst="rect">
            <a:avLst/>
          </a:prstGeom>
          <a:noFill/>
        </p:spPr>
        <p:txBody>
          <a:bodyPr wrap="square" rtlCol="0">
            <a:spAutoFit/>
          </a:bodyPr>
          <a:p>
            <a:r>
              <a:rPr lang="zh-CN" altLang="en-US"/>
              <a:t>周荷琴等编著</a:t>
            </a:r>
            <a:endParaRPr lang="zh-CN" altLang="en-US"/>
          </a:p>
          <a:p>
            <a:r>
              <a:rPr lang="zh-CN" altLang="en-US"/>
              <a:t>中国科学技术大学出版社</a:t>
            </a:r>
            <a:endParaRPr lang="zh-CN" altLang="en-US"/>
          </a:p>
        </p:txBody>
      </p:sp>
      <p:sp>
        <p:nvSpPr>
          <p:cNvPr id="9" name="文本框 8"/>
          <p:cNvSpPr txBox="1"/>
          <p:nvPr/>
        </p:nvSpPr>
        <p:spPr>
          <a:xfrm>
            <a:off x="5219700" y="5661025"/>
            <a:ext cx="3048000" cy="645160"/>
          </a:xfrm>
          <a:prstGeom prst="rect">
            <a:avLst/>
          </a:prstGeom>
          <a:noFill/>
        </p:spPr>
        <p:txBody>
          <a:bodyPr wrap="square" rtlCol="0">
            <a:spAutoFit/>
          </a:bodyPr>
          <a:p>
            <a:r>
              <a:rPr lang="zh-CN" altLang="en-US"/>
              <a:t>陈进才等编著</a:t>
            </a:r>
            <a:endParaRPr lang="zh-CN" altLang="en-US"/>
          </a:p>
          <a:p>
            <a:r>
              <a:rPr lang="zh-CN" altLang="en-US"/>
              <a:t>清华大学出版社</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4" name="矩形 215043"/>
          <p:cNvSpPr/>
          <p:nvPr/>
        </p:nvSpPr>
        <p:spPr>
          <a:xfrm>
            <a:off x="2051720" y="116632"/>
            <a:ext cx="5544616" cy="620712"/>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r>
              <a:rPr lang="zh-CN" altLang="en-US" sz="3200" b="1" dirty="0">
                <a:solidFill>
                  <a:srgbClr val="0000CC"/>
                </a:solidFill>
                <a:latin typeface="隶书" panose="02010509060101010101" pitchFamily="49" charset="-122"/>
                <a:ea typeface="隶书" panose="02010509060101010101" pitchFamily="49" charset="-122"/>
              </a:rPr>
              <a:t>第</a:t>
            </a:r>
            <a:r>
              <a:rPr lang="en-US" altLang="zh-CN" sz="3200" b="1" dirty="0">
                <a:solidFill>
                  <a:srgbClr val="0000CC"/>
                </a:solidFill>
                <a:latin typeface="隶书" panose="02010509060101010101" pitchFamily="49" charset="-122"/>
                <a:ea typeface="隶书" panose="02010509060101010101" pitchFamily="49" charset="-122"/>
              </a:rPr>
              <a:t>1</a:t>
            </a:r>
            <a:r>
              <a:rPr lang="zh-CN" altLang="en-US" sz="3200" b="1" dirty="0">
                <a:solidFill>
                  <a:srgbClr val="0000CC"/>
                </a:solidFill>
                <a:latin typeface="隶书" panose="02010509060101010101" pitchFamily="49" charset="-122"/>
                <a:ea typeface="隶书" panose="02010509060101010101" pitchFamily="49" charset="-122"/>
              </a:rPr>
              <a:t>章  </a:t>
            </a:r>
            <a:r>
              <a:rPr lang="zh-CN" altLang="en-US" sz="3200" b="1" dirty="0" smtClean="0">
                <a:solidFill>
                  <a:srgbClr val="0000CC"/>
                </a:solidFill>
                <a:latin typeface="隶书" panose="02010509060101010101" pitchFamily="49" charset="-122"/>
                <a:ea typeface="隶书" panose="02010509060101010101" pitchFamily="49" charset="-122"/>
              </a:rPr>
              <a:t>微型计算机</a:t>
            </a:r>
            <a:r>
              <a:rPr lang="zh-CN" altLang="zh-CN" sz="3200" b="1" dirty="0">
                <a:solidFill>
                  <a:srgbClr val="0000CC"/>
                </a:solidFill>
                <a:latin typeface="隶书" panose="02010509060101010101" pitchFamily="49" charset="-122"/>
                <a:ea typeface="隶书" panose="02010509060101010101" pitchFamily="49" charset="-122"/>
              </a:rPr>
              <a:t>系统概述</a:t>
            </a:r>
            <a:endParaRPr lang="zh-CN" altLang="zh-CN" sz="3200" b="1" dirty="0">
              <a:solidFill>
                <a:srgbClr val="0000CC"/>
              </a:solidFill>
              <a:latin typeface="隶书" panose="02010509060101010101" pitchFamily="49" charset="-122"/>
              <a:ea typeface="隶书" panose="02010509060101010101" pitchFamily="49" charset="-122"/>
            </a:endParaRPr>
          </a:p>
        </p:txBody>
      </p:sp>
      <p:sp>
        <p:nvSpPr>
          <p:cNvPr id="215045" name="矩形 215044"/>
          <p:cNvSpPr/>
          <p:nvPr/>
        </p:nvSpPr>
        <p:spPr>
          <a:xfrm>
            <a:off x="2039128" y="1988840"/>
            <a:ext cx="5400327" cy="1873250"/>
          </a:xfrm>
          <a:prstGeom prst="rect">
            <a:avLst/>
          </a:prstGeom>
          <a:noFill/>
          <a:ln w="9525">
            <a:noFill/>
          </a:ln>
        </p:spPr>
        <p:txBody>
          <a:bodyPr/>
          <a:lstStyle>
            <a:lvl1pPr marL="0" lvl="0" indent="0" algn="ctr" defTabSz="914400" eaLnBrk="1" fontAlgn="base" latinLnBrk="0" hangingPunct="1">
              <a:lnSpc>
                <a:spcPct val="100000"/>
              </a:lnSpc>
              <a:spcBef>
                <a:spcPct val="20000"/>
              </a:spcBef>
              <a:spcAft>
                <a:spcPct val="0"/>
              </a:spcAft>
              <a:buNone/>
              <a:defRPr sz="3200" b="0" i="0" u="none" kern="1200" baseline="0">
                <a:solidFill>
                  <a:schemeClr val="tx1"/>
                </a:solidFill>
                <a:latin typeface="Arial" panose="020B0604020202020204" pitchFamily="34" charset="0"/>
                <a:ea typeface="宋体" panose="02010600030101010101" pitchFamily="2" charset="-122"/>
              </a:defRPr>
            </a:lvl1pPr>
            <a:lvl2pPr marL="457200" lvl="1" indent="0" algn="ctr">
              <a:buNone/>
              <a:defRPr sz="2800" kern="1200"/>
            </a:lvl2pPr>
            <a:lvl3pPr marL="914400" lvl="2" indent="0" algn="ctr">
              <a:buNone/>
              <a:defRPr sz="2400" kern="1200"/>
            </a:lvl3pPr>
            <a:lvl4pPr marL="1371600" lvl="3" indent="0" algn="ctr">
              <a:buNone/>
              <a:defRPr sz="2000" kern="1200"/>
            </a:lvl4pPr>
            <a:lvl5pPr marL="1828800" lvl="4" indent="0" algn="ctr">
              <a:buNone/>
              <a:defRPr kern="1200"/>
            </a:lvl5pPr>
          </a:lstStyle>
          <a:p>
            <a:pPr lvl="0" algn="l"/>
            <a:r>
              <a:rPr lang="en-US" altLang="zh-CN" b="1" dirty="0"/>
              <a:t>1.1  </a:t>
            </a:r>
            <a:r>
              <a:rPr lang="zh-CN" altLang="en-US" b="1" dirty="0" smtClean="0"/>
              <a:t>微型计算机</a:t>
            </a:r>
            <a:r>
              <a:rPr lang="zh-CN" altLang="zh-CN" b="1" dirty="0"/>
              <a:t>概念</a:t>
            </a:r>
            <a:endParaRPr lang="en-US" altLang="zh-CN" b="1" dirty="0"/>
          </a:p>
          <a:p>
            <a:pPr lvl="0" algn="l"/>
            <a:r>
              <a:rPr lang="en-US" altLang="zh-CN" b="1" dirty="0" smtClean="0"/>
              <a:t>1.2  </a:t>
            </a:r>
            <a:r>
              <a:rPr lang="zh-CN" altLang="en-US" b="1" dirty="0"/>
              <a:t>微型计算机系统的组成 </a:t>
            </a:r>
            <a:endParaRPr lang="zh-CN" altLang="en-US" b="1" dirty="0"/>
          </a:p>
          <a:p>
            <a:pPr lvl="0" algn="l"/>
            <a:r>
              <a:rPr lang="en-US" altLang="zh-CN" b="1" dirty="0"/>
              <a:t>1.3  </a:t>
            </a:r>
            <a:r>
              <a:rPr lang="zh-CN" altLang="en-US" b="1" dirty="0"/>
              <a:t>计算机中的数制</a:t>
            </a:r>
            <a:r>
              <a:rPr lang="zh-CN" altLang="en-US" b="1" dirty="0" smtClean="0"/>
              <a:t>和</a:t>
            </a:r>
            <a:r>
              <a:rPr lang="zh-CN" altLang="zh-CN" b="1" dirty="0"/>
              <a:t>码制</a:t>
            </a:r>
            <a:endParaRPr lang="zh-CN" altLang="en-US" b="1"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标题 154627"/>
          <p:cNvSpPr>
            <a:spLocks noGrp="1"/>
          </p:cNvSpPr>
          <p:nvPr>
            <p:ph type="title"/>
          </p:nvPr>
        </p:nvSpPr>
        <p:spPr>
          <a:xfrm>
            <a:off x="2771800" y="163805"/>
            <a:ext cx="3959473" cy="431800"/>
          </a:xfrm>
        </p:spPr>
        <p:txBody>
          <a:bodyPr anchor="ctr"/>
          <a:lstStyle/>
          <a:p>
            <a:pPr lvl="0" algn="l"/>
            <a:r>
              <a:rPr lang="en-US" altLang="zh-CN" sz="3200" b="1" dirty="0">
                <a:solidFill>
                  <a:srgbClr val="FF0000"/>
                </a:solidFill>
                <a:ea typeface="隶书" panose="02010509060101010101" pitchFamily="49" charset="-122"/>
              </a:rPr>
              <a:t>1.1 </a:t>
            </a:r>
            <a:r>
              <a:rPr lang="zh-CN" altLang="en-US" sz="3200" b="1" dirty="0" smtClean="0">
                <a:solidFill>
                  <a:srgbClr val="FF0000"/>
                </a:solidFill>
                <a:ea typeface="隶书" panose="02010509060101010101" pitchFamily="49" charset="-122"/>
              </a:rPr>
              <a:t>微型计算机</a:t>
            </a:r>
            <a:r>
              <a:rPr lang="zh-CN" altLang="zh-CN" sz="3200" b="1" dirty="0">
                <a:solidFill>
                  <a:srgbClr val="FF0000"/>
                </a:solidFill>
                <a:ea typeface="隶书" panose="02010509060101010101" pitchFamily="49" charset="-122"/>
              </a:rPr>
              <a:t>概念</a:t>
            </a:r>
            <a:endParaRPr lang="en-US" altLang="zh-CN" sz="3200" b="1" dirty="0">
              <a:solidFill>
                <a:srgbClr val="FF0000"/>
              </a:solidFill>
              <a:ea typeface="隶书" panose="02010509060101010101" pitchFamily="49" charset="-122"/>
            </a:endParaRPr>
          </a:p>
        </p:txBody>
      </p:sp>
      <p:sp>
        <p:nvSpPr>
          <p:cNvPr id="154631" name="文本框 154630"/>
          <p:cNvSpPr txBox="1"/>
          <p:nvPr/>
        </p:nvSpPr>
        <p:spPr>
          <a:xfrm>
            <a:off x="250825" y="2263512"/>
            <a:ext cx="8713788" cy="2677656"/>
          </a:xfrm>
          <a:prstGeom prst="rect">
            <a:avLst/>
          </a:prstGeom>
          <a:noFill/>
          <a:ln w="9525">
            <a:noFill/>
          </a:ln>
        </p:spPr>
        <p:txBody>
          <a:bodyPr>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微型计算机：</a:t>
            </a:r>
            <a:r>
              <a:rPr lang="zh-CN" altLang="en-US" sz="2400" b="1" dirty="0">
                <a:latin typeface="Arial" panose="020B0604020202020204" pitchFamily="34" charset="0"/>
                <a:ea typeface="宋体" panose="02010600030101010101" pitchFamily="2" charset="-122"/>
              </a:rPr>
              <a:t>是指以微处理器为核心，配以大规模集成电路构成的内存储器、输入</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输出接口电路、输入</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输出设备及系统总线所组成的计算机</a:t>
            </a:r>
            <a:r>
              <a:rPr lang="zh-CN" altLang="en-US" sz="1800" dirty="0">
                <a:latin typeface="Arial" panose="020B0604020202020204" pitchFamily="34" charset="0"/>
                <a:ea typeface="宋体" panose="02010600030101010101" pitchFamily="2" charset="-122"/>
              </a:rPr>
              <a:t> </a:t>
            </a:r>
            <a:endParaRPr lang="zh-CN" altLang="en-US" sz="2800" b="1" dirty="0">
              <a:solidFill>
                <a:srgbClr val="FF6600"/>
              </a:solidFill>
              <a:latin typeface="楷体_GB2312" pitchFamily="49" charset="-122"/>
              <a:ea typeface="楷体_GB2312" pitchFamily="49"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微处理器：</a:t>
            </a:r>
            <a:r>
              <a:rPr lang="zh-CN" altLang="en-US" sz="2400" b="1" dirty="0">
                <a:latin typeface="Arial" panose="020B0604020202020204" pitchFamily="34" charset="0"/>
                <a:ea typeface="宋体" panose="02010600030101010101" pitchFamily="2" charset="-122"/>
              </a:rPr>
              <a:t>是指采用大规模集成电路技术，将具有运算器和控制器功能的电路及相关电路集成在一个芯片上的大规模集成电路。微处理器是微型计算机的核心，又称为微型计算机的中央处理器（</a:t>
            </a:r>
            <a:r>
              <a:rPr lang="en-US" altLang="zh-CN" sz="2400" b="1" dirty="0">
                <a:solidFill>
                  <a:srgbClr val="FF00FF"/>
                </a:solidFill>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
        <p:nvSpPr>
          <p:cNvPr id="2" name="矩形 1"/>
          <p:cNvSpPr/>
          <p:nvPr/>
        </p:nvSpPr>
        <p:spPr>
          <a:xfrm>
            <a:off x="459453" y="908720"/>
            <a:ext cx="4852610" cy="523220"/>
          </a:xfrm>
          <a:prstGeom prst="rect">
            <a:avLst/>
          </a:prstGeom>
        </p:spPr>
        <p:txBody>
          <a:bodyPr wrap="none">
            <a:spAutoFit/>
          </a:bodyPr>
          <a:lstStyle/>
          <a:p>
            <a:r>
              <a:rPr lang="zh-CN" altLang="en-US" sz="2800" b="1" dirty="0" smtClean="0">
                <a:solidFill>
                  <a:srgbClr val="0000FF"/>
                </a:solidFill>
              </a:rPr>
              <a:t>一、</a:t>
            </a:r>
            <a:r>
              <a:rPr lang="zh-CN" altLang="zh-CN" sz="2800" b="1" dirty="0" smtClean="0">
                <a:solidFill>
                  <a:srgbClr val="0000FF"/>
                </a:solidFill>
              </a:rPr>
              <a:t>微型计算机</a:t>
            </a:r>
            <a:r>
              <a:rPr lang="zh-CN" altLang="zh-CN" sz="2800" b="1" dirty="0">
                <a:solidFill>
                  <a:srgbClr val="0000FF"/>
                </a:solidFill>
              </a:rPr>
              <a:t>及其发展概况</a:t>
            </a:r>
            <a:endParaRPr lang="zh-CN" altLang="en-US" sz="2800" b="1" dirty="0">
              <a:solidFill>
                <a:srgbClr val="0000FF"/>
              </a:solidFill>
            </a:endParaRPr>
          </a:p>
        </p:txBody>
      </p:sp>
      <p:sp>
        <p:nvSpPr>
          <p:cNvPr id="3" name="矩形 2"/>
          <p:cNvSpPr/>
          <p:nvPr/>
        </p:nvSpPr>
        <p:spPr>
          <a:xfrm>
            <a:off x="459452" y="1577608"/>
            <a:ext cx="1885453" cy="461665"/>
          </a:xfrm>
          <a:prstGeom prst="rect">
            <a:avLst/>
          </a:prstGeom>
        </p:spPr>
        <p:txBody>
          <a:bodyPr wrap="none">
            <a:spAutoFit/>
          </a:bodyPr>
          <a:lstStyle/>
          <a:p>
            <a:r>
              <a:rPr lang="en-US" altLang="zh-CN" sz="2400" b="1" dirty="0" smtClean="0">
                <a:solidFill>
                  <a:srgbClr val="0000CC"/>
                </a:solidFill>
              </a:rPr>
              <a:t>1</a:t>
            </a:r>
            <a:r>
              <a:rPr lang="zh-CN" altLang="en-US" sz="2400" b="1" dirty="0" smtClean="0">
                <a:solidFill>
                  <a:srgbClr val="0000CC"/>
                </a:solidFill>
              </a:rPr>
              <a:t>、基本概念</a:t>
            </a:r>
            <a:endParaRPr lang="zh-CN" altLang="en-US" sz="2400" b="1" dirty="0">
              <a:solidFill>
                <a:srgbClr val="0000CC"/>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54630"/>
          <p:cNvSpPr txBox="1"/>
          <p:nvPr/>
        </p:nvSpPr>
        <p:spPr>
          <a:xfrm>
            <a:off x="250825" y="908050"/>
            <a:ext cx="8713788" cy="3972882"/>
          </a:xfrm>
          <a:prstGeom prst="rect">
            <a:avLst/>
          </a:prstGeom>
          <a:noFill/>
          <a:ln w="9525">
            <a:noFill/>
          </a:ln>
        </p:spPr>
        <p:txBody>
          <a:bodyPr>
            <a:spAutoFit/>
          </a:bodyPr>
          <a:lstStyle/>
          <a:p>
            <a:pPr lvl="0" eaLnBrk="0" hangingPunct="0"/>
            <a:r>
              <a:rPr lang="en-US" altLang="zh-CN" sz="2400" b="1" dirty="0">
                <a:solidFill>
                  <a:srgbClr val="0000CC"/>
                </a:solidFill>
              </a:rPr>
              <a:t>2</a:t>
            </a:r>
            <a:r>
              <a:rPr lang="zh-CN" altLang="en-US" sz="2400" b="1" dirty="0">
                <a:solidFill>
                  <a:srgbClr val="0000CC"/>
                </a:solidFill>
              </a:rPr>
              <a:t>、微型计算机 的发展</a:t>
            </a:r>
            <a:endParaRPr lang="zh-CN" altLang="en-US" sz="2400" b="1" dirty="0">
              <a:solidFill>
                <a:srgbClr val="0000CC"/>
              </a:solidFill>
            </a:endParaRPr>
          </a:p>
          <a:p>
            <a:pPr lvl="0" eaLnBrk="0" hangingPunct="0"/>
            <a:endParaRPr lang="en-US" altLang="zh-CN" sz="2400" b="1" dirty="0" smtClean="0">
              <a:latin typeface="Arial" panose="020B0604020202020204" pitchFamily="34" charset="0"/>
              <a:ea typeface="宋体" panose="02010600030101010101" pitchFamily="2" charset="-122"/>
            </a:endParaRPr>
          </a:p>
          <a:p>
            <a:pPr lvl="0" eaLnBrk="0" hangingPunct="0">
              <a:lnSpc>
                <a:spcPts val="3500"/>
              </a:lnSpc>
            </a:pPr>
            <a:r>
              <a:rPr lang="zh-CN" altLang="en-US" sz="2400" b="1" dirty="0" smtClean="0">
                <a:latin typeface="Arial" panose="020B0604020202020204" pitchFamily="34" charset="0"/>
                <a:ea typeface="宋体" panose="02010600030101010101" pitchFamily="2" charset="-122"/>
              </a:rPr>
              <a:t>第</a:t>
            </a:r>
            <a:r>
              <a:rPr lang="zh-CN" altLang="en-US" sz="2400" b="1" dirty="0">
                <a:latin typeface="Arial" panose="020B0604020202020204" pitchFamily="34" charset="0"/>
                <a:ea typeface="宋体" panose="02010600030101010101" pitchFamily="2" charset="-122"/>
              </a:rPr>
              <a:t>一代（</a:t>
            </a:r>
            <a:r>
              <a:rPr lang="en-US" altLang="zh-CN" sz="2400" b="1" dirty="0">
                <a:latin typeface="Arial" panose="020B0604020202020204" pitchFamily="34" charset="0"/>
                <a:ea typeface="宋体" panose="02010600030101010101" pitchFamily="2" charset="-122"/>
              </a:rPr>
              <a:t>1971</a:t>
            </a:r>
            <a:r>
              <a:rPr lang="zh-CN" altLang="en-US" sz="2400" b="1" dirty="0">
                <a:latin typeface="Arial" panose="020B0604020202020204" pitchFamily="34" charset="0"/>
                <a:ea typeface="宋体" panose="02010600030101010101" pitchFamily="2" charset="-122"/>
              </a:rPr>
              <a:t>开始）是微机的问世阶段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zh-CN" altLang="en-US" sz="2400" b="1" dirty="0">
                <a:latin typeface="Arial" panose="020B0604020202020204" pitchFamily="34" charset="0"/>
                <a:ea typeface="宋体" panose="02010600030101010101" pitchFamily="2" charset="-122"/>
              </a:rPr>
              <a:t>第二代（</a:t>
            </a:r>
            <a:r>
              <a:rPr lang="en-US" altLang="zh-CN" sz="2400" b="1" dirty="0">
                <a:latin typeface="Arial" panose="020B0604020202020204" pitchFamily="34" charset="0"/>
                <a:ea typeface="宋体" panose="02010600030101010101" pitchFamily="2" charset="-122"/>
              </a:rPr>
              <a:t>1973</a:t>
            </a:r>
            <a:r>
              <a:rPr lang="zh-CN" altLang="en-US" sz="2400" b="1" dirty="0">
                <a:latin typeface="Arial" panose="020B0604020202020204" pitchFamily="34" charset="0"/>
                <a:ea typeface="宋体" panose="02010600030101010101" pitchFamily="2" charset="-122"/>
              </a:rPr>
              <a:t>年开始）为中档</a:t>
            </a:r>
            <a:r>
              <a:rPr lang="en-US" altLang="zh-CN" sz="2400" b="1" dirty="0">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位微处理器和微型计算机时期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zh-CN" altLang="en-US" sz="2400" b="1" dirty="0">
                <a:latin typeface="Arial" panose="020B0604020202020204" pitchFamily="34" charset="0"/>
                <a:ea typeface="宋体" panose="02010600030101010101" pitchFamily="2" charset="-122"/>
              </a:rPr>
              <a:t>第三代（</a:t>
            </a:r>
            <a:r>
              <a:rPr lang="en-US" altLang="zh-CN" sz="2400" b="1" dirty="0">
                <a:latin typeface="Arial" panose="020B0604020202020204" pitchFamily="34" charset="0"/>
                <a:ea typeface="宋体" panose="02010600030101010101" pitchFamily="2" charset="-122"/>
              </a:rPr>
              <a:t>1978</a:t>
            </a:r>
            <a:r>
              <a:rPr lang="zh-CN" altLang="en-US" sz="2400" b="1" dirty="0">
                <a:latin typeface="Arial" panose="020B0604020202020204" pitchFamily="34" charset="0"/>
                <a:ea typeface="宋体" panose="02010600030101010101" pitchFamily="2" charset="-122"/>
              </a:rPr>
              <a:t>年开始）为</a:t>
            </a:r>
            <a:r>
              <a:rPr lang="en-US" altLang="zh-CN" sz="2400" b="1" dirty="0">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位微处理器和微型计算机时期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zh-CN" altLang="en-US" sz="2400" b="1" dirty="0">
                <a:latin typeface="Arial" panose="020B0604020202020204" pitchFamily="34" charset="0"/>
                <a:ea typeface="宋体" panose="02010600030101010101" pitchFamily="2" charset="-122"/>
              </a:rPr>
              <a:t>第四代（</a:t>
            </a:r>
            <a:r>
              <a:rPr lang="en-US" altLang="zh-CN" sz="2400" b="1" dirty="0">
                <a:latin typeface="Arial" panose="020B0604020202020204" pitchFamily="34" charset="0"/>
                <a:ea typeface="宋体" panose="02010600030101010101" pitchFamily="2" charset="-122"/>
              </a:rPr>
              <a:t>1983</a:t>
            </a:r>
            <a:r>
              <a:rPr lang="zh-CN" altLang="en-US" sz="2400" b="1" dirty="0">
                <a:latin typeface="Arial" panose="020B0604020202020204" pitchFamily="34" charset="0"/>
                <a:ea typeface="宋体" panose="02010600030101010101" pitchFamily="2" charset="-122"/>
              </a:rPr>
              <a:t>年开始）为</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位微处理器和微型计算机时期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zh-CN" altLang="en-US" sz="2400" b="1" dirty="0">
                <a:latin typeface="Arial" panose="020B0604020202020204" pitchFamily="34" charset="0"/>
                <a:ea typeface="宋体" panose="02010600030101010101" pitchFamily="2" charset="-122"/>
              </a:rPr>
              <a:t>第五代（</a:t>
            </a:r>
            <a:r>
              <a:rPr lang="en-US" altLang="zh-CN" sz="2400" b="1" dirty="0">
                <a:latin typeface="Arial" panose="020B0604020202020204" pitchFamily="34" charset="0"/>
                <a:ea typeface="宋体" panose="02010600030101010101" pitchFamily="2" charset="-122"/>
              </a:rPr>
              <a:t>1994</a:t>
            </a:r>
            <a:r>
              <a:rPr lang="zh-CN" altLang="en-US" sz="2400" b="1" dirty="0">
                <a:latin typeface="Arial" panose="020B0604020202020204" pitchFamily="34" charset="0"/>
                <a:ea typeface="宋体" panose="02010600030101010101" pitchFamily="2" charset="-122"/>
              </a:rPr>
              <a:t>年开始）为</a:t>
            </a:r>
            <a:r>
              <a:rPr lang="en-US" altLang="zh-CN" sz="2400" b="1" dirty="0">
                <a:latin typeface="Arial" panose="020B0604020202020204" pitchFamily="34" charset="0"/>
                <a:ea typeface="宋体" panose="02010600030101010101" pitchFamily="2" charset="-122"/>
              </a:rPr>
              <a:t>64</a:t>
            </a:r>
            <a:r>
              <a:rPr lang="zh-CN" altLang="en-US" sz="2400" b="1" dirty="0">
                <a:latin typeface="Arial" panose="020B0604020202020204" pitchFamily="34" charset="0"/>
                <a:ea typeface="宋体" panose="02010600030101010101" pitchFamily="2" charset="-122"/>
              </a:rPr>
              <a:t>位高档微处理器和微型计算机时期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en-US" altLang="zh-CN" sz="2400" b="1" dirty="0">
                <a:latin typeface="Arial" panose="020B0604020202020204" pitchFamily="34" charset="0"/>
                <a:ea typeface="宋体" panose="02010600030101010101" pitchFamily="2" charset="-122"/>
              </a:rPr>
              <a:t>2005</a:t>
            </a:r>
            <a:r>
              <a:rPr lang="zh-CN" altLang="en-US" sz="2400" b="1" dirty="0">
                <a:latin typeface="Arial" panose="020B0604020202020204" pitchFamily="34" charset="0"/>
                <a:ea typeface="宋体" panose="02010600030101010101" pitchFamily="2" charset="-122"/>
              </a:rPr>
              <a:t>年，</a:t>
            </a:r>
            <a:r>
              <a:rPr lang="en-US" altLang="zh-CN" sz="2400" b="1" dirty="0">
                <a:latin typeface="Arial" panose="020B0604020202020204" pitchFamily="34" charset="0"/>
                <a:ea typeface="宋体" panose="02010600030101010101" pitchFamily="2" charset="-122"/>
              </a:rPr>
              <a:t>Intel </a:t>
            </a:r>
            <a:r>
              <a:rPr lang="zh-CN" altLang="en-US" sz="2400" b="1" dirty="0">
                <a:latin typeface="Arial" panose="020B0604020202020204" pitchFamily="34" charset="0"/>
                <a:ea typeface="宋体" panose="02010600030101010101" pitchFamily="2" charset="-122"/>
              </a:rPr>
              <a:t>推出了</a:t>
            </a:r>
            <a:r>
              <a:rPr lang="en-US" altLang="zh-CN" sz="2400" b="1" dirty="0">
                <a:latin typeface="Arial" panose="020B0604020202020204" pitchFamily="34" charset="0"/>
                <a:ea typeface="宋体" panose="02010600030101010101" pitchFamily="2" charset="-122"/>
              </a:rPr>
              <a:t>Pentium D </a:t>
            </a:r>
            <a:r>
              <a:rPr lang="zh-CN" altLang="en-US" sz="2400" b="1" dirty="0">
                <a:latin typeface="Arial" panose="020B0604020202020204" pitchFamily="34" charset="0"/>
                <a:ea typeface="宋体" panose="02010600030101010101" pitchFamily="2" charset="-122"/>
              </a:rPr>
              <a:t>处理器 </a:t>
            </a:r>
            <a:endParaRPr lang="zh-CN" altLang="en-US" sz="2400" b="1" dirty="0">
              <a:latin typeface="Arial" panose="020B0604020202020204" pitchFamily="34" charset="0"/>
              <a:ea typeface="宋体" panose="02010600030101010101" pitchFamily="2" charset="-122"/>
            </a:endParaRPr>
          </a:p>
          <a:p>
            <a:pPr lvl="0" eaLnBrk="0" hangingPunct="0">
              <a:lnSpc>
                <a:spcPts val="3500"/>
              </a:lnSpc>
            </a:pPr>
            <a:r>
              <a:rPr lang="en-US" altLang="zh-CN" sz="2400" b="1" dirty="0">
                <a:latin typeface="Arial" panose="020B0604020202020204" pitchFamily="34" charset="0"/>
                <a:ea typeface="宋体" panose="02010600030101010101" pitchFamily="2" charset="-122"/>
              </a:rPr>
              <a:t>2006</a:t>
            </a:r>
            <a:r>
              <a:rPr lang="zh-CN" altLang="en-US" sz="2400" b="1" dirty="0">
                <a:latin typeface="Arial" panose="020B0604020202020204" pitchFamily="34" charset="0"/>
                <a:ea typeface="宋体" panose="02010600030101010101" pitchFamily="2" charset="-122"/>
              </a:rPr>
              <a:t>年，</a:t>
            </a:r>
            <a:r>
              <a:rPr lang="en-US" altLang="zh-CN" sz="2400" b="1" dirty="0">
                <a:latin typeface="Arial" panose="020B0604020202020204" pitchFamily="34" charset="0"/>
                <a:ea typeface="宋体" panose="02010600030101010101" pitchFamily="2" charset="-122"/>
              </a:rPr>
              <a:t>Intel </a:t>
            </a:r>
            <a:r>
              <a:rPr lang="zh-CN" altLang="en-US" sz="2400" b="1" dirty="0">
                <a:latin typeface="Arial" panose="020B0604020202020204" pitchFamily="34" charset="0"/>
                <a:ea typeface="宋体" panose="02010600030101010101" pitchFamily="2" charset="-122"/>
              </a:rPr>
              <a:t>推出了</a:t>
            </a:r>
            <a:r>
              <a:rPr lang="en-US" altLang="zh-CN" sz="2400" b="1" dirty="0">
                <a:latin typeface="Arial" panose="020B0604020202020204" pitchFamily="34" charset="0"/>
                <a:ea typeface="宋体" panose="02010600030101010101" pitchFamily="2" charset="-122"/>
              </a:rPr>
              <a:t>Core 2 Duo</a:t>
            </a:r>
            <a:r>
              <a:rPr lang="zh-CN" altLang="en-US" sz="2400" b="1" dirty="0">
                <a:latin typeface="Arial" panose="020B0604020202020204" pitchFamily="34" charset="0"/>
                <a:ea typeface="宋体" panose="02010600030101010101" pitchFamily="2" charset="-122"/>
              </a:rPr>
              <a:t>处理器 </a:t>
            </a:r>
            <a:endParaRPr lang="zh-CN" altLang="en-US" sz="2400" b="1" dirty="0">
              <a:latin typeface="Arial" panose="020B0604020202020204" pitchFamily="34" charset="0"/>
              <a:ea typeface="宋体" panose="02010600030101010101" pitchFamily="2" charset="-122"/>
            </a:endParaRPr>
          </a:p>
        </p:txBody>
      </p:sp>
      <p:sp>
        <p:nvSpPr>
          <p:cNvPr id="4" name="标题 154627"/>
          <p:cNvSpPr txBox="1"/>
          <p:nvPr/>
        </p:nvSpPr>
        <p:spPr>
          <a:xfrm>
            <a:off x="2771800" y="163805"/>
            <a:ext cx="3959473"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b="1" smtClean="0">
                <a:solidFill>
                  <a:srgbClr val="FF0000"/>
                </a:solidFill>
                <a:ea typeface="隶书" panose="02010509060101010101" pitchFamily="49" charset="-122"/>
              </a:rPr>
              <a:t>1.1 </a:t>
            </a:r>
            <a:r>
              <a:rPr lang="zh-CN" altLang="en-US" sz="3200" b="1" smtClean="0">
                <a:solidFill>
                  <a:srgbClr val="FF0000"/>
                </a:solidFill>
                <a:ea typeface="隶书" panose="02010509060101010101" pitchFamily="49" charset="-122"/>
              </a:rPr>
              <a:t>微型计算机</a:t>
            </a:r>
            <a:r>
              <a:rPr lang="zh-CN" altLang="zh-CN" sz="3200" b="1" smtClean="0">
                <a:solidFill>
                  <a:srgbClr val="FF0000"/>
                </a:solidFill>
                <a:ea typeface="隶书" panose="02010509060101010101" pitchFamily="49" charset="-122"/>
              </a:rPr>
              <a:t>概念</a:t>
            </a:r>
            <a:endParaRPr lang="en-US" altLang="zh-CN" sz="3200" b="1" dirty="0">
              <a:solidFill>
                <a:srgbClr val="FF0000"/>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54630"/>
          <p:cNvSpPr txBox="1"/>
          <p:nvPr/>
        </p:nvSpPr>
        <p:spPr>
          <a:xfrm>
            <a:off x="250825" y="908050"/>
            <a:ext cx="8713788" cy="461665"/>
          </a:xfrm>
          <a:prstGeom prst="rect">
            <a:avLst/>
          </a:prstGeom>
          <a:noFill/>
          <a:ln w="9525">
            <a:noFill/>
          </a:ln>
        </p:spPr>
        <p:txBody>
          <a:bodyPr>
            <a:spAutoFit/>
          </a:bodyPr>
          <a:lstStyle/>
          <a:p>
            <a:pPr lvl="0" eaLnBrk="0" hangingPunct="0"/>
            <a:r>
              <a:rPr lang="en-US" altLang="zh-CN" sz="2400" b="1" dirty="0">
                <a:solidFill>
                  <a:srgbClr val="0000CC"/>
                </a:solidFill>
              </a:rPr>
              <a:t>2</a:t>
            </a:r>
            <a:r>
              <a:rPr lang="zh-CN" altLang="en-US" sz="2400" b="1" dirty="0">
                <a:solidFill>
                  <a:srgbClr val="0000CC"/>
                </a:solidFill>
              </a:rPr>
              <a:t>、</a:t>
            </a:r>
            <a:r>
              <a:rPr lang="zh-CN" altLang="en-US" sz="2400" b="1" dirty="0" smtClean="0">
                <a:solidFill>
                  <a:srgbClr val="0000CC"/>
                </a:solidFill>
              </a:rPr>
              <a:t>微型计算机的发展</a:t>
            </a:r>
            <a:endParaRPr lang="zh-CN" altLang="en-US" sz="2400" b="1" dirty="0">
              <a:solidFill>
                <a:srgbClr val="0000CC"/>
              </a:solidFill>
            </a:endParaRPr>
          </a:p>
        </p:txBody>
      </p:sp>
      <p:pic>
        <p:nvPicPr>
          <p:cNvPr id="5" name="图片 4"/>
          <p:cNvPicPr>
            <a:picLocks noChangeAspect="1"/>
          </p:cNvPicPr>
          <p:nvPr/>
        </p:nvPicPr>
        <p:blipFill>
          <a:blip r:embed="rId1"/>
          <a:stretch>
            <a:fillRect/>
          </a:stretch>
        </p:blipFill>
        <p:spPr>
          <a:xfrm>
            <a:off x="1870620" y="1944389"/>
            <a:ext cx="5619750" cy="3524250"/>
          </a:xfrm>
          <a:prstGeom prst="rect">
            <a:avLst/>
          </a:prstGeom>
        </p:spPr>
      </p:pic>
      <p:sp>
        <p:nvSpPr>
          <p:cNvPr id="6" name="矩形 5"/>
          <p:cNvSpPr/>
          <p:nvPr/>
        </p:nvSpPr>
        <p:spPr>
          <a:xfrm>
            <a:off x="2659108" y="1487775"/>
            <a:ext cx="3897221" cy="338554"/>
          </a:xfrm>
          <a:prstGeom prst="rect">
            <a:avLst/>
          </a:prstGeom>
        </p:spPr>
        <p:txBody>
          <a:bodyPr wrap="none">
            <a:spAutoFit/>
          </a:bodyPr>
          <a:lstStyle/>
          <a:p>
            <a:r>
              <a:rPr lang="zh-CN" altLang="zh-CN" sz="1600" dirty="0">
                <a:solidFill>
                  <a:srgbClr val="C00000"/>
                </a:solidFill>
                <a:ea typeface="黑体" panose="02010609060101010101" pitchFamily="49" charset="-122"/>
                <a:cs typeface="黑体" panose="02010609060101010101" pitchFamily="49" charset="-122"/>
              </a:rPr>
              <a:t> </a:t>
            </a:r>
            <a:r>
              <a:rPr lang="en-US" altLang="zh-CN" sz="1600" dirty="0">
                <a:solidFill>
                  <a:srgbClr val="C00000"/>
                </a:solidFill>
              </a:rPr>
              <a:t>Intel</a:t>
            </a:r>
            <a:r>
              <a:rPr lang="zh-CN" altLang="zh-CN" sz="1600" dirty="0">
                <a:solidFill>
                  <a:srgbClr val="C00000"/>
                </a:solidFill>
                <a:ea typeface="黑体" panose="02010609060101010101" pitchFamily="49" charset="-122"/>
                <a:cs typeface="黑体" panose="02010609060101010101" pitchFamily="49" charset="-122"/>
              </a:rPr>
              <a:t>微处理器发展简史（第</a:t>
            </a:r>
            <a:r>
              <a:rPr lang="en-US" altLang="zh-CN" sz="1600" dirty="0">
                <a:solidFill>
                  <a:srgbClr val="C00000"/>
                </a:solidFill>
                <a:ea typeface="黑体" panose="02010609060101010101" pitchFamily="49" charset="-122"/>
              </a:rPr>
              <a:t>1</a:t>
            </a:r>
            <a:r>
              <a:rPr lang="zh-CN" altLang="zh-CN" sz="1600" dirty="0">
                <a:solidFill>
                  <a:srgbClr val="C00000"/>
                </a:solidFill>
                <a:ea typeface="黑体" panose="02010609060101010101" pitchFamily="49" charset="-122"/>
                <a:cs typeface="Times New Roman" panose="02020603050405020304" pitchFamily="18" charset="0"/>
              </a:rPr>
              <a:t>代</a:t>
            </a:r>
            <a:r>
              <a:rPr lang="zh-CN" altLang="zh-CN" sz="1600" dirty="0">
                <a:solidFill>
                  <a:srgbClr val="C00000"/>
                </a:solidFill>
                <a:cs typeface="Times New Roman" panose="02020603050405020304" pitchFamily="18" charset="0"/>
              </a:rPr>
              <a:t>～</a:t>
            </a:r>
            <a:r>
              <a:rPr lang="zh-CN" altLang="zh-CN" sz="1600" dirty="0">
                <a:solidFill>
                  <a:srgbClr val="C00000"/>
                </a:solidFill>
                <a:ea typeface="黑体" panose="02010609060101010101" pitchFamily="49" charset="-122"/>
                <a:cs typeface="Times New Roman" panose="02020603050405020304" pitchFamily="18" charset="0"/>
              </a:rPr>
              <a:t>第</a:t>
            </a:r>
            <a:r>
              <a:rPr lang="en-US" altLang="zh-CN" sz="1600" dirty="0">
                <a:solidFill>
                  <a:srgbClr val="C00000"/>
                </a:solidFill>
                <a:ea typeface="黑体" panose="02010609060101010101" pitchFamily="49" charset="-122"/>
              </a:rPr>
              <a:t>5</a:t>
            </a:r>
            <a:r>
              <a:rPr lang="zh-CN" altLang="zh-CN" sz="1600" dirty="0">
                <a:solidFill>
                  <a:srgbClr val="C00000"/>
                </a:solidFill>
                <a:ea typeface="黑体" panose="02010609060101010101" pitchFamily="49" charset="-122"/>
                <a:cs typeface="Times New Roman" panose="02020603050405020304" pitchFamily="18" charset="0"/>
              </a:rPr>
              <a:t>代</a:t>
            </a:r>
            <a:r>
              <a:rPr lang="zh-CN" altLang="zh-CN" sz="1600" dirty="0">
                <a:solidFill>
                  <a:srgbClr val="C00000"/>
                </a:solidFill>
                <a:ea typeface="黑体" panose="02010609060101010101" pitchFamily="49" charset="-122"/>
                <a:cs typeface="黑体" panose="02010609060101010101" pitchFamily="49" charset="-122"/>
              </a:rPr>
              <a:t>）</a:t>
            </a:r>
            <a:endParaRPr lang="zh-CN" altLang="en-US" sz="1600" dirty="0">
              <a:solidFill>
                <a:srgbClr val="C00000"/>
              </a:solidFill>
            </a:endParaRPr>
          </a:p>
        </p:txBody>
      </p:sp>
      <p:sp>
        <p:nvSpPr>
          <p:cNvPr id="7" name="矩形 6"/>
          <p:cNvSpPr/>
          <p:nvPr/>
        </p:nvSpPr>
        <p:spPr>
          <a:xfrm>
            <a:off x="107504" y="5567227"/>
            <a:ext cx="8568952" cy="923330"/>
          </a:xfrm>
          <a:prstGeom prst="rect">
            <a:avLst/>
          </a:prstGeom>
        </p:spPr>
        <p:txBody>
          <a:bodyPr wrap="square">
            <a:spAutoFit/>
          </a:bodyPr>
          <a:lstStyle/>
          <a:p>
            <a:r>
              <a:rPr lang="zh-CN" altLang="zh-CN" dirty="0">
                <a:cs typeface="Times New Roman" panose="02020603050405020304" pitchFamily="18" charset="0"/>
              </a:rPr>
              <a:t>第</a:t>
            </a:r>
            <a:r>
              <a:rPr lang="en-US" altLang="zh-CN" dirty="0"/>
              <a:t>6</a:t>
            </a:r>
            <a:r>
              <a:rPr lang="zh-CN" altLang="zh-CN" dirty="0" smtClean="0">
                <a:cs typeface="Times New Roman" panose="02020603050405020304" pitchFamily="18" charset="0"/>
              </a:rPr>
              <a:t>代酷</a:t>
            </a:r>
            <a:r>
              <a:rPr lang="zh-CN" altLang="zh-CN" dirty="0">
                <a:cs typeface="Times New Roman" panose="02020603050405020304" pitchFamily="18" charset="0"/>
              </a:rPr>
              <a:t>睿（</a:t>
            </a:r>
            <a:r>
              <a:rPr lang="en-US" altLang="zh-CN" dirty="0"/>
              <a:t>Core</a:t>
            </a:r>
            <a:r>
              <a:rPr lang="zh-CN" altLang="zh-CN" dirty="0">
                <a:cs typeface="Times New Roman" panose="02020603050405020304" pitchFamily="18" charset="0"/>
              </a:rPr>
              <a:t>）系列的双核和多核微处理器时代</a:t>
            </a:r>
            <a:r>
              <a:rPr lang="zh-CN" altLang="zh-CN" dirty="0" smtClean="0">
                <a:cs typeface="Times New Roman" panose="02020603050405020304" pitchFamily="18" charset="0"/>
              </a:rPr>
              <a:t>。基于</a:t>
            </a:r>
            <a:r>
              <a:rPr lang="zh-CN" altLang="zh-CN" dirty="0">
                <a:cs typeface="Times New Roman" panose="02020603050405020304" pitchFamily="18" charset="0"/>
              </a:rPr>
              <a:t>新的架构，功耗更低、电池续航时间和安全性更高，拥有更快的响应速度，同时还能支持最广泛的计算</a:t>
            </a:r>
            <a:r>
              <a:rPr lang="zh-CN" altLang="zh-CN" dirty="0" smtClean="0">
                <a:cs typeface="Times New Roman" panose="02020603050405020304" pitchFamily="18" charset="0"/>
              </a:rPr>
              <a:t>设备</a:t>
            </a:r>
            <a:r>
              <a:rPr lang="zh-CN" altLang="en-US" dirty="0" smtClean="0">
                <a:cs typeface="Times New Roman" panose="02020603050405020304" pitchFamily="18" charset="0"/>
              </a:rPr>
              <a:t>。</a:t>
            </a:r>
            <a:r>
              <a:rPr lang="en-US" altLang="zh-CN" dirty="0" smtClean="0"/>
              <a:t>Core</a:t>
            </a:r>
            <a:r>
              <a:rPr lang="zh-CN" altLang="zh-CN" dirty="0">
                <a:cs typeface="Times New Roman" panose="02020603050405020304" pitchFamily="18" charset="0"/>
              </a:rPr>
              <a:t>系列微处理器已经发展到第</a:t>
            </a:r>
            <a:r>
              <a:rPr lang="en-US" altLang="zh-CN" dirty="0"/>
              <a:t>10</a:t>
            </a:r>
            <a:r>
              <a:rPr lang="zh-CN" altLang="zh-CN" dirty="0">
                <a:cs typeface="Times New Roman" panose="02020603050405020304" pitchFamily="18" charset="0"/>
              </a:rPr>
              <a:t>代</a:t>
            </a:r>
            <a:endParaRPr lang="zh-CN" altLang="en-US" dirty="0"/>
          </a:p>
        </p:txBody>
      </p:sp>
      <p:sp>
        <p:nvSpPr>
          <p:cNvPr id="9" name="标题 154627"/>
          <p:cNvSpPr txBox="1"/>
          <p:nvPr/>
        </p:nvSpPr>
        <p:spPr>
          <a:xfrm>
            <a:off x="2771800" y="163805"/>
            <a:ext cx="3959473"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b="1" smtClean="0">
                <a:solidFill>
                  <a:srgbClr val="FF0000"/>
                </a:solidFill>
                <a:ea typeface="隶书" panose="02010509060101010101" pitchFamily="49" charset="-122"/>
              </a:rPr>
              <a:t>1.1 </a:t>
            </a:r>
            <a:r>
              <a:rPr lang="zh-CN" altLang="en-US" sz="3200" b="1" smtClean="0">
                <a:solidFill>
                  <a:srgbClr val="FF0000"/>
                </a:solidFill>
                <a:ea typeface="隶书" panose="02010509060101010101" pitchFamily="49" charset="-122"/>
              </a:rPr>
              <a:t>微型计算机</a:t>
            </a:r>
            <a:r>
              <a:rPr lang="zh-CN" altLang="zh-CN" sz="3200" b="1" smtClean="0">
                <a:solidFill>
                  <a:srgbClr val="FF0000"/>
                </a:solidFill>
                <a:ea typeface="隶书" panose="02010509060101010101" pitchFamily="49" charset="-122"/>
              </a:rPr>
              <a:t>概念</a:t>
            </a:r>
            <a:endParaRPr lang="en-US" altLang="zh-CN" sz="3200" b="1" dirty="0">
              <a:solidFill>
                <a:srgbClr val="FF0000"/>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54630"/>
          <p:cNvSpPr txBox="1"/>
          <p:nvPr/>
        </p:nvSpPr>
        <p:spPr>
          <a:xfrm>
            <a:off x="250825" y="908050"/>
            <a:ext cx="8713788" cy="461665"/>
          </a:xfrm>
          <a:prstGeom prst="rect">
            <a:avLst/>
          </a:prstGeom>
          <a:noFill/>
          <a:ln w="9525">
            <a:noFill/>
          </a:ln>
        </p:spPr>
        <p:txBody>
          <a:bodyPr>
            <a:spAutoFit/>
          </a:bodyPr>
          <a:lstStyle/>
          <a:p>
            <a:pPr lvl="0" eaLnBrk="0" hangingPunct="0"/>
            <a:r>
              <a:rPr lang="en-US" altLang="zh-CN" sz="2400" b="1" dirty="0" smtClean="0">
                <a:solidFill>
                  <a:srgbClr val="0000CC"/>
                </a:solidFill>
              </a:rPr>
              <a:t>3</a:t>
            </a:r>
            <a:r>
              <a:rPr lang="zh-CN" altLang="en-US" sz="2400" b="1" dirty="0" smtClean="0">
                <a:solidFill>
                  <a:srgbClr val="0000CC"/>
                </a:solidFill>
              </a:rPr>
              <a:t>、</a:t>
            </a:r>
            <a:r>
              <a:rPr lang="zh-CN" altLang="en-US" sz="2400" b="1" dirty="0">
                <a:solidFill>
                  <a:srgbClr val="0000CC"/>
                </a:solidFill>
              </a:rPr>
              <a:t>微型计算机 </a:t>
            </a:r>
            <a:r>
              <a:rPr lang="zh-CN" altLang="en-US" sz="2400" b="1" dirty="0" smtClean="0">
                <a:solidFill>
                  <a:srgbClr val="0000CC"/>
                </a:solidFill>
              </a:rPr>
              <a:t>的特点</a:t>
            </a:r>
            <a:endParaRPr lang="zh-CN" altLang="en-US" sz="2400" b="1" dirty="0">
              <a:solidFill>
                <a:srgbClr val="0000CC"/>
              </a:solidFill>
            </a:endParaRPr>
          </a:p>
        </p:txBody>
      </p:sp>
      <p:sp>
        <p:nvSpPr>
          <p:cNvPr id="4" name="矩形 3"/>
          <p:cNvSpPr/>
          <p:nvPr/>
        </p:nvSpPr>
        <p:spPr>
          <a:xfrm>
            <a:off x="755576" y="1772816"/>
            <a:ext cx="6120680" cy="2036263"/>
          </a:xfrm>
          <a:prstGeom prst="rect">
            <a:avLst/>
          </a:prstGeom>
        </p:spPr>
        <p:txBody>
          <a:bodyPr wrap="square">
            <a:spAutoFit/>
          </a:bodyPr>
          <a:lstStyle/>
          <a:p>
            <a:pPr>
              <a:lnSpc>
                <a:spcPts val="3880"/>
              </a:lnSpc>
            </a:pPr>
            <a:r>
              <a:rPr lang="zh-CN" altLang="zh-CN" sz="2400" b="1" dirty="0"/>
              <a:t>（</a:t>
            </a:r>
            <a:r>
              <a:rPr lang="en-US" altLang="zh-CN" sz="2400" b="1" dirty="0"/>
              <a:t>1</a:t>
            </a:r>
            <a:r>
              <a:rPr lang="zh-CN" altLang="zh-CN" sz="2400" b="1" dirty="0"/>
              <a:t>）功能强、可靠性高</a:t>
            </a:r>
            <a:endParaRPr lang="zh-CN" altLang="zh-CN" sz="2400" b="1" dirty="0"/>
          </a:p>
          <a:p>
            <a:pPr>
              <a:lnSpc>
                <a:spcPts val="3880"/>
              </a:lnSpc>
            </a:pPr>
            <a:r>
              <a:rPr lang="zh-CN" altLang="zh-CN" sz="2400" b="1" dirty="0" smtClean="0"/>
              <a:t>（</a:t>
            </a:r>
            <a:r>
              <a:rPr lang="en-US" altLang="zh-CN" sz="2400" b="1" dirty="0"/>
              <a:t>2</a:t>
            </a:r>
            <a:r>
              <a:rPr lang="zh-CN" altLang="zh-CN" sz="2400" b="1" dirty="0"/>
              <a:t>）价格低廉</a:t>
            </a:r>
            <a:endParaRPr lang="zh-CN" altLang="zh-CN" sz="2400" b="1" dirty="0"/>
          </a:p>
          <a:p>
            <a:pPr>
              <a:lnSpc>
                <a:spcPts val="3880"/>
              </a:lnSpc>
            </a:pPr>
            <a:r>
              <a:rPr lang="zh-CN" altLang="zh-CN" sz="2400" b="1" dirty="0" smtClean="0"/>
              <a:t>（</a:t>
            </a:r>
            <a:r>
              <a:rPr lang="en-US" altLang="zh-CN" sz="2400" b="1" dirty="0"/>
              <a:t>3</a:t>
            </a:r>
            <a:r>
              <a:rPr lang="zh-CN" altLang="zh-CN" sz="2400" b="1" dirty="0"/>
              <a:t>）系统设计灵活、适应性强</a:t>
            </a:r>
            <a:endParaRPr lang="zh-CN" altLang="zh-CN" sz="2400" b="1" dirty="0"/>
          </a:p>
          <a:p>
            <a:pPr>
              <a:lnSpc>
                <a:spcPts val="3880"/>
              </a:lnSpc>
            </a:pPr>
            <a:r>
              <a:rPr lang="zh-CN" altLang="zh-CN" sz="2400" b="1" dirty="0" smtClean="0"/>
              <a:t>（</a:t>
            </a:r>
            <a:r>
              <a:rPr lang="en-US" altLang="zh-CN" sz="2400" b="1" dirty="0"/>
              <a:t>4</a:t>
            </a:r>
            <a:r>
              <a:rPr lang="zh-CN" altLang="zh-CN" sz="2400" b="1" dirty="0"/>
              <a:t>）体积小、重量轻、维护方便</a:t>
            </a:r>
            <a:endParaRPr lang="zh-CN" altLang="zh-CN" sz="2400" b="1" dirty="0"/>
          </a:p>
        </p:txBody>
      </p:sp>
      <p:sp>
        <p:nvSpPr>
          <p:cNvPr id="5" name="标题 154627"/>
          <p:cNvSpPr txBox="1"/>
          <p:nvPr/>
        </p:nvSpPr>
        <p:spPr>
          <a:xfrm>
            <a:off x="2771800" y="163805"/>
            <a:ext cx="3959473"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b="1" smtClean="0">
                <a:solidFill>
                  <a:srgbClr val="FF0000"/>
                </a:solidFill>
                <a:ea typeface="隶书" panose="02010509060101010101" pitchFamily="49" charset="-122"/>
              </a:rPr>
              <a:t>1.1 </a:t>
            </a:r>
            <a:r>
              <a:rPr lang="zh-CN" altLang="en-US" sz="3200" b="1" smtClean="0">
                <a:solidFill>
                  <a:srgbClr val="FF0000"/>
                </a:solidFill>
                <a:ea typeface="隶书" panose="02010509060101010101" pitchFamily="49" charset="-122"/>
              </a:rPr>
              <a:t>微型计算机</a:t>
            </a:r>
            <a:r>
              <a:rPr lang="zh-CN" altLang="zh-CN" sz="3200" b="1" smtClean="0">
                <a:solidFill>
                  <a:srgbClr val="FF0000"/>
                </a:solidFill>
                <a:ea typeface="隶书" panose="02010509060101010101" pitchFamily="49" charset="-122"/>
              </a:rPr>
              <a:t>概念</a:t>
            </a:r>
            <a:endParaRPr lang="en-US" altLang="zh-CN" sz="3200" b="1" dirty="0">
              <a:solidFill>
                <a:srgbClr val="FF0000"/>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220161"/>
          <p:cNvSpPr>
            <a:spLocks noGrp="1"/>
          </p:cNvSpPr>
          <p:nvPr>
            <p:ph type="title"/>
          </p:nvPr>
        </p:nvSpPr>
        <p:spPr>
          <a:xfrm>
            <a:off x="1547664" y="221335"/>
            <a:ext cx="5687665" cy="431800"/>
          </a:xfrm>
        </p:spPr>
        <p:txBody>
          <a:bodyPr anchor="ctr"/>
          <a:lstStyle/>
          <a:p>
            <a:pPr lvl="0"/>
            <a:r>
              <a:rPr lang="en-US" altLang="zh-CN" sz="3200" b="1" dirty="0">
                <a:solidFill>
                  <a:srgbClr val="FF0000"/>
                </a:solidFill>
                <a:ea typeface="隶书" panose="02010509060101010101" pitchFamily="49" charset="-122"/>
              </a:rPr>
              <a:t>1.2  </a:t>
            </a:r>
            <a:r>
              <a:rPr lang="zh-CN" altLang="en-US" sz="3200" b="1" dirty="0">
                <a:solidFill>
                  <a:srgbClr val="FF0000"/>
                </a:solidFill>
                <a:ea typeface="隶书" panose="02010509060101010101" pitchFamily="49" charset="-122"/>
              </a:rPr>
              <a:t>微型计算机系统的组成</a:t>
            </a:r>
            <a:r>
              <a:rPr lang="zh-CN" altLang="en-US" sz="4000" dirty="0"/>
              <a:t> </a:t>
            </a:r>
            <a:endParaRPr lang="zh-CN" altLang="en-US" sz="4000" dirty="0"/>
          </a:p>
        </p:txBody>
      </p:sp>
      <p:sp>
        <p:nvSpPr>
          <p:cNvPr id="220163" name="文本框 22016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0164" name="文本框 220163"/>
          <p:cNvSpPr txBox="1"/>
          <p:nvPr/>
        </p:nvSpPr>
        <p:spPr>
          <a:xfrm>
            <a:off x="251520" y="764704"/>
            <a:ext cx="8713788" cy="1077218"/>
          </a:xfrm>
          <a:prstGeom prst="rect">
            <a:avLst/>
          </a:prstGeom>
          <a:noFill/>
          <a:ln w="9525">
            <a:noFill/>
          </a:ln>
        </p:spPr>
        <p:txBody>
          <a:bodyPr>
            <a:spAutoFit/>
          </a:bodyPr>
          <a:lstStyle/>
          <a:p>
            <a:pPr lvl="0" eaLnBrk="0" hangingPunct="0"/>
            <a:r>
              <a:rPr lang="zh-CN" altLang="en-US" sz="2400" b="1" dirty="0">
                <a:solidFill>
                  <a:srgbClr val="0000FF"/>
                </a:solidFill>
              </a:rPr>
              <a:t>一、微型计算机</a:t>
            </a:r>
            <a:r>
              <a:rPr lang="zh-CN" altLang="en-US" sz="2400" b="1" dirty="0" smtClean="0">
                <a:solidFill>
                  <a:srgbClr val="0000FF"/>
                </a:solidFill>
              </a:rPr>
              <a:t>系统的组成</a:t>
            </a:r>
            <a:endParaRPr lang="en-US" altLang="zh-CN" sz="2400" b="1" dirty="0">
              <a:solidFill>
                <a:srgbClr val="0000FF"/>
              </a:solidFill>
            </a:endParaRPr>
          </a:p>
          <a:p>
            <a:pPr lvl="0" eaLnBrk="0" hangingPunct="0"/>
            <a:r>
              <a:rPr lang="zh-CN" altLang="en-US" sz="2000" b="1" dirty="0" smtClean="0">
                <a:solidFill>
                  <a:srgbClr val="0000CC"/>
                </a:solidFill>
              </a:rPr>
              <a:t>微型计算机系统：</a:t>
            </a:r>
            <a:r>
              <a:rPr lang="zh-CN" altLang="en-US" sz="2000" b="1" dirty="0" smtClean="0">
                <a:latin typeface="Arial" panose="020B0604020202020204" pitchFamily="34" charset="0"/>
              </a:rPr>
              <a:t>以</a:t>
            </a:r>
            <a:r>
              <a:rPr lang="zh-CN" altLang="en-US" sz="2000" b="1" dirty="0">
                <a:latin typeface="Arial" panose="020B0604020202020204" pitchFamily="34" charset="0"/>
              </a:rPr>
              <a:t>微型计算机为主体，按不同应用要求，配以相应的外部设备、辅助电路以及指挥微机工作的系统软件所构成的系统</a:t>
            </a:r>
            <a:r>
              <a:rPr lang="zh-CN" altLang="en-US" sz="2000" dirty="0">
                <a:latin typeface="Arial" panose="020B0604020202020204" pitchFamily="34" charset="0"/>
              </a:rPr>
              <a:t> </a:t>
            </a:r>
            <a:endParaRPr lang="zh-CN" altLang="en-US" sz="2000" b="1" dirty="0">
              <a:solidFill>
                <a:srgbClr val="FF00FF"/>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1907704" y="1985913"/>
            <a:ext cx="6429375" cy="477202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文本框 22118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1188" name="文本框 221187"/>
          <p:cNvSpPr txBox="1"/>
          <p:nvPr/>
        </p:nvSpPr>
        <p:spPr>
          <a:xfrm>
            <a:off x="250825" y="836712"/>
            <a:ext cx="8642350" cy="1692771"/>
          </a:xfrm>
          <a:prstGeom prst="rect">
            <a:avLst/>
          </a:prstGeom>
          <a:noFill/>
          <a:ln w="9525">
            <a:noFill/>
          </a:ln>
        </p:spPr>
        <p:txBody>
          <a:bodyPr>
            <a:spAutoFit/>
          </a:bodyPr>
          <a:lstStyle/>
          <a:p>
            <a:pPr lvl="0" eaLnBrk="0" hangingPunct="0"/>
            <a:r>
              <a:rPr lang="zh-CN" altLang="en-US" sz="2400" b="1" dirty="0">
                <a:solidFill>
                  <a:srgbClr val="0000FF"/>
                </a:solidFill>
              </a:rPr>
              <a:t>二、</a:t>
            </a:r>
            <a:r>
              <a:rPr lang="zh-CN" altLang="zh-CN" sz="2400" b="1" dirty="0">
                <a:solidFill>
                  <a:srgbClr val="0000FF"/>
                </a:solidFill>
              </a:rPr>
              <a:t>微机系统的</a:t>
            </a:r>
            <a:r>
              <a:rPr lang="zh-CN" altLang="zh-CN" sz="2400" b="1" dirty="0" smtClean="0">
                <a:solidFill>
                  <a:srgbClr val="0000FF"/>
                </a:solidFill>
              </a:rPr>
              <a:t>硬件</a:t>
            </a:r>
            <a:r>
              <a:rPr lang="zh-CN" altLang="en-US" sz="2400" b="1" dirty="0" smtClean="0">
                <a:solidFill>
                  <a:srgbClr val="0000FF"/>
                </a:solidFill>
              </a:rPr>
              <a:t>组成</a:t>
            </a:r>
            <a:endParaRPr lang="en-US" altLang="zh-CN" sz="2400" b="1" dirty="0">
              <a:solidFill>
                <a:srgbClr val="0000FF"/>
              </a:solidFill>
            </a:endParaRPr>
          </a:p>
          <a:p>
            <a:pPr lvl="0" eaLnBrk="0" hangingPunct="0"/>
            <a:r>
              <a:rPr lang="en-US" altLang="zh-CN" sz="2000" b="1" dirty="0">
                <a:solidFill>
                  <a:srgbClr val="0000CC"/>
                </a:solidFill>
              </a:rPr>
              <a:t>1</a:t>
            </a:r>
            <a:r>
              <a:rPr lang="zh-CN" altLang="en-US" sz="2000" b="1" dirty="0">
                <a:solidFill>
                  <a:srgbClr val="0000CC"/>
                </a:solidFill>
              </a:rPr>
              <a:t>、微机硬件及其组成</a:t>
            </a:r>
            <a:endParaRPr lang="en-US" altLang="zh-CN" sz="2000" b="1" dirty="0">
              <a:solidFill>
                <a:srgbClr val="0000CC"/>
              </a:solidFill>
            </a:endParaRPr>
          </a:p>
          <a:p>
            <a:pPr lvl="0" eaLnBrk="0" hangingPunct="0"/>
            <a:r>
              <a:rPr lang="zh-CN" altLang="en-US" sz="2000" b="1" dirty="0" smtClean="0">
                <a:solidFill>
                  <a:srgbClr val="FF00FF"/>
                </a:solidFill>
                <a:latin typeface="Arial" panose="020B0604020202020204" pitchFamily="34" charset="0"/>
              </a:rPr>
              <a:t>硬件：</a:t>
            </a:r>
            <a:r>
              <a:rPr lang="zh-CN" altLang="en-US" sz="2000" b="1" dirty="0" smtClean="0">
                <a:latin typeface="Arial" panose="020B0604020202020204" pitchFamily="34" charset="0"/>
              </a:rPr>
              <a:t>用</a:t>
            </a:r>
            <a:r>
              <a:rPr lang="zh-CN" altLang="en-US" sz="2000" b="1" dirty="0">
                <a:latin typeface="Arial" panose="020B0604020202020204" pitchFamily="34" charset="0"/>
              </a:rPr>
              <a:t>肉眼能看得见、用手能摸得着的机器部分 </a:t>
            </a:r>
            <a:endParaRPr lang="zh-CN" altLang="en-US" sz="2000" b="1" dirty="0">
              <a:latin typeface="Arial" panose="020B0604020202020204" pitchFamily="34" charset="0"/>
            </a:endParaRPr>
          </a:p>
          <a:p>
            <a:pPr lvl="0" eaLnBrk="0" hangingPunct="0"/>
            <a:r>
              <a:rPr lang="zh-CN" altLang="en-US" sz="2000" b="1" dirty="0">
                <a:solidFill>
                  <a:srgbClr val="FF00FF"/>
                </a:solidFill>
                <a:latin typeface="Arial" panose="020B0604020202020204" pitchFamily="34" charset="0"/>
              </a:rPr>
              <a:t>组成</a:t>
            </a:r>
            <a:r>
              <a:rPr lang="zh-CN" altLang="en-US" sz="2000" b="1" dirty="0">
                <a:latin typeface="Arial" panose="020B0604020202020204" pitchFamily="34" charset="0"/>
              </a:rPr>
              <a:t>：由微处理器、内存储器、输入</a:t>
            </a:r>
            <a:r>
              <a:rPr lang="en-US" altLang="zh-CN" sz="2000" b="1" dirty="0">
                <a:latin typeface="Arial" panose="020B0604020202020204" pitchFamily="34" charset="0"/>
              </a:rPr>
              <a:t>/</a:t>
            </a:r>
            <a:r>
              <a:rPr lang="zh-CN" altLang="en-US" sz="2000" b="1" dirty="0">
                <a:latin typeface="Arial" panose="020B0604020202020204" pitchFamily="34" charset="0"/>
              </a:rPr>
              <a:t>输出接口电路、输入</a:t>
            </a:r>
            <a:r>
              <a:rPr lang="en-US" altLang="zh-CN" sz="2000" b="1" dirty="0">
                <a:latin typeface="Arial" panose="020B0604020202020204" pitchFamily="34" charset="0"/>
              </a:rPr>
              <a:t>/</a:t>
            </a:r>
            <a:r>
              <a:rPr lang="zh-CN" altLang="en-US" sz="2000" b="1" dirty="0">
                <a:latin typeface="Arial" panose="020B0604020202020204" pitchFamily="34" charset="0"/>
              </a:rPr>
              <a:t>输出设备及系统总线组成 </a:t>
            </a:r>
            <a:endParaRPr lang="zh-CN" altLang="en-US" sz="2000" b="1" dirty="0">
              <a:latin typeface="Arial" panose="020B0604020202020204" pitchFamily="34" charset="0"/>
            </a:endParaRPr>
          </a:p>
        </p:txBody>
      </p:sp>
      <p:pic>
        <p:nvPicPr>
          <p:cNvPr id="221236" name="图片 221235"/>
          <p:cNvPicPr>
            <a:picLocks noChangeAspect="1"/>
          </p:cNvPicPr>
          <p:nvPr/>
        </p:nvPicPr>
        <p:blipFill>
          <a:blip r:embed="rId1"/>
          <a:stretch>
            <a:fillRect/>
          </a:stretch>
        </p:blipFill>
        <p:spPr>
          <a:xfrm>
            <a:off x="2699792" y="3140968"/>
            <a:ext cx="4943475" cy="2938462"/>
          </a:xfrm>
          <a:prstGeom prst="rect">
            <a:avLst/>
          </a:prstGeom>
          <a:noFill/>
          <a:ln w="9525">
            <a:noFill/>
          </a:ln>
        </p:spPr>
      </p:pic>
      <p:sp>
        <p:nvSpPr>
          <p:cNvPr id="6"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1" name="文本框 22221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2212" name="文本框 222211"/>
          <p:cNvSpPr txBox="1"/>
          <p:nvPr/>
        </p:nvSpPr>
        <p:spPr>
          <a:xfrm>
            <a:off x="250825" y="1260475"/>
            <a:ext cx="8642350" cy="4524315"/>
          </a:xfrm>
          <a:prstGeom prst="rect">
            <a:avLst/>
          </a:prstGeom>
          <a:noFill/>
          <a:ln w="9525">
            <a:noFill/>
          </a:ln>
        </p:spPr>
        <p:txBody>
          <a:bodyPr>
            <a:spAutoFit/>
          </a:bodyPr>
          <a:lstStyle/>
          <a:p>
            <a:pPr marL="342900" lvl="0" indent="-342900" eaLnBrk="0" hangingPunct="0">
              <a:buFont typeface="Wingdings" panose="05000000000000000000" pitchFamily="2" charset="2"/>
              <a:buChar char="p"/>
            </a:pPr>
            <a:r>
              <a:rPr lang="zh-CN" altLang="en-US" sz="2400" b="1" dirty="0" smtClean="0">
                <a:solidFill>
                  <a:srgbClr val="FF00FF"/>
                </a:solidFill>
                <a:latin typeface="Arial" panose="020B0604020202020204" pitchFamily="34" charset="0"/>
                <a:ea typeface="宋体" panose="02010600030101010101" pitchFamily="2" charset="-122"/>
              </a:rPr>
              <a:t>微处理器</a:t>
            </a:r>
            <a:r>
              <a:rPr lang="zh-CN" altLang="en-US" sz="1800" dirty="0" smtClean="0">
                <a:latin typeface="Arial" panose="020B0604020202020204" pitchFamily="34" charset="0"/>
                <a:ea typeface="宋体" panose="02010600030101010101" pitchFamily="2" charset="-122"/>
              </a:rPr>
              <a:t> </a:t>
            </a:r>
            <a:endParaRPr lang="zh-CN" altLang="en-US" sz="2400" b="1" dirty="0">
              <a:solidFill>
                <a:srgbClr val="FF00FF"/>
              </a:solidFill>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ea typeface="宋体" panose="02010600030101010101" pitchFamily="2" charset="-122"/>
              </a:rPr>
              <a:t>是微型计算机的</a:t>
            </a:r>
            <a:r>
              <a:rPr lang="zh-CN" altLang="en-US" sz="2400" b="1" dirty="0">
                <a:solidFill>
                  <a:srgbClr val="FF00FF"/>
                </a:solidFill>
                <a:latin typeface="Arial" panose="020B0604020202020204" pitchFamily="34" charset="0"/>
                <a:ea typeface="宋体" panose="02010600030101010101" pitchFamily="2" charset="-122"/>
              </a:rPr>
              <a:t>核心部件</a:t>
            </a:r>
            <a:r>
              <a:rPr lang="zh-CN" altLang="en-US" sz="2400" b="1" dirty="0">
                <a:latin typeface="Arial" panose="020B0604020202020204" pitchFamily="34" charset="0"/>
                <a:ea typeface="宋体" panose="02010600030101010101" pitchFamily="2" charset="-122"/>
              </a:rPr>
              <a:t>，由</a:t>
            </a:r>
            <a:r>
              <a:rPr lang="zh-CN" altLang="en-US" sz="2400" b="1" dirty="0">
                <a:solidFill>
                  <a:srgbClr val="0000FF"/>
                </a:solidFill>
                <a:latin typeface="Arial" panose="020B0604020202020204" pitchFamily="34" charset="0"/>
                <a:ea typeface="宋体" panose="02010600030101010101" pitchFamily="2" charset="-122"/>
              </a:rPr>
              <a:t>运算器</a:t>
            </a:r>
            <a:r>
              <a:rPr lang="zh-CN" altLang="en-US" sz="2400" b="1" dirty="0">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rPr>
              <a:t>控制器</a:t>
            </a:r>
            <a:r>
              <a:rPr lang="zh-CN" altLang="en-US" sz="2400" b="1" dirty="0">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rPr>
              <a:t>寄存器组</a:t>
            </a:r>
            <a:r>
              <a:rPr lang="zh-CN" altLang="en-US" sz="2400" b="1" dirty="0">
                <a:latin typeface="Arial" panose="020B0604020202020204" pitchFamily="34" charset="0"/>
                <a:ea typeface="宋体" panose="02010600030101010101" pitchFamily="2" charset="-122"/>
              </a:rPr>
              <a:t>等部件组成，其</a:t>
            </a:r>
            <a:r>
              <a:rPr lang="zh-CN" altLang="en-US" sz="2400" b="1" dirty="0">
                <a:solidFill>
                  <a:srgbClr val="FF00FF"/>
                </a:solidFill>
                <a:latin typeface="Arial" panose="020B0604020202020204" pitchFamily="34" charset="0"/>
                <a:ea typeface="宋体" panose="02010600030101010101" pitchFamily="2" charset="-122"/>
              </a:rPr>
              <a:t>功能</a:t>
            </a:r>
            <a:r>
              <a:rPr lang="zh-CN" altLang="en-US" sz="2400" b="1" dirty="0">
                <a:latin typeface="Arial" panose="020B0604020202020204" pitchFamily="34" charset="0"/>
                <a:ea typeface="宋体" panose="02010600030101010101" pitchFamily="2" charset="-122"/>
              </a:rPr>
              <a:t>是负责统一协调、管理和控制系统中的各个部件有机地工作</a:t>
            </a:r>
            <a:endParaRPr lang="zh-CN" altLang="en-US" sz="2400" b="1" dirty="0">
              <a:latin typeface="Arial" panose="020B0604020202020204" pitchFamily="34" charset="0"/>
              <a:ea typeface="宋体" panose="02010600030101010101" pitchFamily="2" charset="-122"/>
            </a:endParaRPr>
          </a:p>
          <a:p>
            <a:pPr marL="342900" lvl="0" indent="-342900" eaLnBrk="0" hangingPunct="0">
              <a:buFont typeface="Wingdings" panose="05000000000000000000" pitchFamily="2" charset="2"/>
              <a:buChar char="p"/>
            </a:pPr>
            <a:r>
              <a:rPr lang="zh-CN" altLang="en-US" sz="2400" b="1" dirty="0" smtClean="0">
                <a:solidFill>
                  <a:srgbClr val="FF00FF"/>
                </a:solidFill>
                <a:latin typeface="Arial" panose="020B0604020202020204" pitchFamily="34" charset="0"/>
                <a:ea typeface="宋体" panose="02010600030101010101" pitchFamily="2" charset="-122"/>
              </a:rPr>
              <a:t>内存储器</a:t>
            </a:r>
            <a:endParaRPr lang="zh-CN" altLang="en-US" sz="2400" b="1" dirty="0">
              <a:solidFill>
                <a:srgbClr val="FF00FF"/>
              </a:solidFill>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ea typeface="宋体" panose="02010600030101010101" pitchFamily="2" charset="-122"/>
              </a:rPr>
              <a:t>也称主存储器，是一个记忆装置，是</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可以直接访问的存储器，主要用来存储微机工作过程中需要操作的数据、程序，运算的中间结果和最后结果</a:t>
            </a:r>
            <a:endParaRPr lang="zh-CN" altLang="en-US" sz="2400" b="1" dirty="0">
              <a:latin typeface="Arial" panose="020B0604020202020204" pitchFamily="34" charset="0"/>
              <a:ea typeface="宋体" panose="02010600030101010101" pitchFamily="2" charset="-122"/>
            </a:endParaRPr>
          </a:p>
          <a:p>
            <a:pPr marL="342900" lvl="0" indent="-342900">
              <a:buClrTx/>
              <a:buFont typeface="Wingdings" panose="05000000000000000000" pitchFamily="2" charset="2"/>
              <a:buChar char="p"/>
            </a:pPr>
            <a:r>
              <a:rPr lang="zh-CN" altLang="en-US" sz="2400" b="1" dirty="0" smtClean="0">
                <a:solidFill>
                  <a:srgbClr val="FF00FF"/>
                </a:solidFill>
                <a:latin typeface="Arial" panose="020B0604020202020204" pitchFamily="34" charset="0"/>
                <a:ea typeface="宋体" panose="02010600030101010101" pitchFamily="2" charset="-122"/>
              </a:rPr>
              <a:t>输入</a:t>
            </a:r>
            <a:r>
              <a:rPr lang="en-US" altLang="zh-CN" sz="2400" b="1" dirty="0">
                <a:solidFill>
                  <a:srgbClr val="FF00FF"/>
                </a:solidFill>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ea typeface="宋体" panose="02010600030101010101" pitchFamily="2" charset="-122"/>
              </a:rPr>
              <a:t>输出接口电路</a:t>
            </a:r>
            <a:endParaRPr lang="zh-CN" altLang="en-US" sz="2400" b="1" dirty="0">
              <a:solidFill>
                <a:srgbClr val="FF00FF"/>
              </a:solidFill>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功能是完成主机与外部设备之间的信息交换，在微机中，较复杂的</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接口电路常制成独立的电路板，也称为接口卡，使用时将其插在微机主板上。</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文本框 22323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3236" name="文本框 223235"/>
          <p:cNvSpPr txBox="1"/>
          <p:nvPr/>
        </p:nvSpPr>
        <p:spPr>
          <a:xfrm>
            <a:off x="250825" y="1260475"/>
            <a:ext cx="8642350" cy="4154984"/>
          </a:xfrm>
          <a:prstGeom prst="rect">
            <a:avLst/>
          </a:prstGeom>
          <a:noFill/>
          <a:ln w="9525">
            <a:noFill/>
          </a:ln>
        </p:spPr>
        <p:txBody>
          <a:bodyPr>
            <a:spAutoFit/>
          </a:bodyPr>
          <a:lstStyle/>
          <a:p>
            <a:pPr marL="342900" lvl="0" indent="-342900" eaLnBrk="0" hangingPunct="0">
              <a:buFont typeface="Wingdings" panose="05000000000000000000" pitchFamily="2" charset="2"/>
              <a:buChar char="p"/>
            </a:pPr>
            <a:r>
              <a:rPr lang="zh-CN" altLang="en-US" sz="2400" b="1" dirty="0" smtClean="0">
                <a:solidFill>
                  <a:srgbClr val="FF00FF"/>
                </a:solidFill>
                <a:latin typeface="Arial" panose="020B0604020202020204" pitchFamily="34" charset="0"/>
                <a:ea typeface="宋体" panose="02010600030101010101" pitchFamily="2" charset="-122"/>
              </a:rPr>
              <a:t>总线</a:t>
            </a:r>
            <a:endParaRPr lang="zh-CN" altLang="en-US" sz="2400" b="1" dirty="0">
              <a:solidFill>
                <a:srgbClr val="FF00FF"/>
              </a:solidFill>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在两个以上模块之间或设备之间提供传送信息的公用通道。微机系统采用</a:t>
            </a:r>
            <a:r>
              <a:rPr lang="zh-CN" altLang="en-US" sz="2400" b="1" dirty="0">
                <a:solidFill>
                  <a:srgbClr val="0000FF"/>
                </a:solidFill>
                <a:latin typeface="Arial" panose="020B0604020202020204" pitchFamily="34" charset="0"/>
                <a:ea typeface="宋体" panose="02010600030101010101" pitchFamily="2" charset="-122"/>
              </a:rPr>
              <a:t>总线结构。</a:t>
            </a:r>
            <a:r>
              <a:rPr lang="zh-CN" altLang="en-US" sz="2400" b="1" dirty="0">
                <a:latin typeface="Arial" panose="020B0604020202020204" pitchFamily="34" charset="0"/>
                <a:ea typeface="宋体" panose="02010600030101010101" pitchFamily="2" charset="-122"/>
              </a:rPr>
              <a:t>根据传送的内容，总线分</a:t>
            </a:r>
            <a:r>
              <a:rPr lang="zh-CN" altLang="en-US" sz="2400" b="1" dirty="0">
                <a:solidFill>
                  <a:srgbClr val="0000FF"/>
                </a:solidFill>
                <a:latin typeface="Arial" panose="020B0604020202020204" pitchFamily="34" charset="0"/>
                <a:ea typeface="宋体" panose="02010600030101010101" pitchFamily="2" charset="-122"/>
              </a:rPr>
              <a:t>数据总线</a:t>
            </a:r>
            <a:r>
              <a:rPr lang="zh-CN" altLang="en-US" sz="2400" b="1" dirty="0">
                <a:latin typeface="Arial" panose="020B0604020202020204" pitchFamily="34" charset="0"/>
                <a:ea typeface="宋体" panose="02010600030101010101" pitchFamily="2" charset="-122"/>
              </a:rPr>
              <a:t>、</a:t>
            </a:r>
            <a:r>
              <a:rPr lang="zh-CN" altLang="en-US" sz="2400" b="1" dirty="0">
                <a:solidFill>
                  <a:srgbClr val="0000FF"/>
                </a:solidFill>
                <a:latin typeface="Arial" panose="020B0604020202020204" pitchFamily="34" charset="0"/>
                <a:ea typeface="宋体" panose="02010600030101010101" pitchFamily="2" charset="-122"/>
              </a:rPr>
              <a:t>地址总线</a:t>
            </a:r>
            <a:r>
              <a:rPr lang="zh-CN" altLang="en-US" sz="2400" b="1" dirty="0">
                <a:latin typeface="Arial" panose="020B0604020202020204" pitchFamily="34" charset="0"/>
                <a:ea typeface="宋体" panose="02010600030101010101" pitchFamily="2" charset="-122"/>
              </a:rPr>
              <a:t>和</a:t>
            </a:r>
            <a:r>
              <a:rPr lang="zh-CN" altLang="en-US" sz="2400" b="1" dirty="0">
                <a:solidFill>
                  <a:srgbClr val="0000FF"/>
                </a:solidFill>
                <a:latin typeface="Arial" panose="020B0604020202020204" pitchFamily="34" charset="0"/>
                <a:ea typeface="宋体" panose="02010600030101010101" pitchFamily="2" charset="-122"/>
              </a:rPr>
              <a:t>控制总线</a:t>
            </a:r>
            <a:r>
              <a:rPr lang="zh-CN" altLang="en-US" sz="2400" b="1" dirty="0">
                <a:latin typeface="Arial" panose="020B0604020202020204" pitchFamily="34" charset="0"/>
                <a:ea typeface="宋体" panose="02010600030101010101" pitchFamily="2" charset="-122"/>
              </a:rPr>
              <a:t>三种</a:t>
            </a:r>
            <a:endParaRPr lang="zh-CN" altLang="en-US" sz="2400" b="1" dirty="0">
              <a:latin typeface="Arial" panose="020B0604020202020204" pitchFamily="34" charset="0"/>
              <a:ea typeface="宋体" panose="02010600030101010101" pitchFamily="2" charset="-122"/>
            </a:endParaRPr>
          </a:p>
          <a:p>
            <a:pPr marL="342900" lvl="0" indent="-342900">
              <a:buClr>
                <a:srgbClr val="0000FF"/>
              </a:buClr>
              <a:buFont typeface="Wingdings" panose="05000000000000000000" pitchFamily="2" charset="2"/>
              <a:buChar char="u"/>
            </a:pPr>
            <a:r>
              <a:rPr lang="zh-CN" altLang="en-US" sz="2400" b="1" dirty="0" smtClean="0">
                <a:solidFill>
                  <a:srgbClr val="FF00FF"/>
                </a:solidFill>
                <a:latin typeface="Arial" panose="020B0604020202020204" pitchFamily="34" charset="0"/>
                <a:ea typeface="宋体" panose="02010600030101010101" pitchFamily="2" charset="-122"/>
              </a:rPr>
              <a:t> 数据总线</a:t>
            </a:r>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DB</a:t>
            </a:r>
            <a:r>
              <a:rPr lang="zh-CN" altLang="en-US" sz="2400" b="1" dirty="0">
                <a:solidFill>
                  <a:srgbClr val="FF00FF"/>
                </a:solidFill>
                <a:latin typeface="Arial" panose="020B0604020202020204" pitchFamily="34" charset="0"/>
                <a:ea typeface="宋体" panose="02010600030101010101" pitchFamily="2" charset="-122"/>
              </a:rPr>
              <a:t>）</a:t>
            </a:r>
            <a:r>
              <a:rPr lang="zh-CN" altLang="en-US" sz="18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双向、三态，主要用来实现在</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与内存储器或</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接口之间传送数据</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a:p>
            <a:pPr marL="342900" lvl="0" indent="-342900">
              <a:buClr>
                <a:srgbClr val="0000FF"/>
              </a:buClr>
              <a:buFont typeface="Wingdings" panose="05000000000000000000" pitchFamily="2" charset="2"/>
              <a:buChar char="u"/>
            </a:pPr>
            <a:r>
              <a:rPr lang="zh-CN" altLang="en-US" sz="2400" b="1" dirty="0" smtClean="0">
                <a:solidFill>
                  <a:srgbClr val="FF00FF"/>
                </a:solidFill>
                <a:latin typeface="Arial" panose="020B0604020202020204" pitchFamily="34" charset="0"/>
                <a:ea typeface="宋体" panose="02010600030101010101" pitchFamily="2" charset="-122"/>
              </a:rPr>
              <a:t> 地址总线</a:t>
            </a:r>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AB</a:t>
            </a:r>
            <a:r>
              <a:rPr lang="zh-CN" altLang="en-US" sz="2400" b="1" dirty="0">
                <a:solidFill>
                  <a:srgbClr val="FF00FF"/>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单向、三态，由</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输出用来指定其要访问的存储单元或输入</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输出接口的地址，地址总线条数决定了</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所能直接访问的地址空间</a:t>
            </a:r>
            <a:r>
              <a:rPr lang="zh-CN" altLang="en-US" sz="2400" b="1" dirty="0" smtClean="0">
                <a:latin typeface="Arial" panose="020B0604020202020204" pitchFamily="34" charset="0"/>
                <a:ea typeface="宋体" panose="02010600030101010101" pitchFamily="2" charset="-122"/>
              </a:rPr>
              <a:t>，</a:t>
            </a:r>
            <a:endParaRPr lang="zh-CN" altLang="en-US" sz="1800" dirty="0">
              <a:latin typeface="Arial" panose="020B0604020202020204" pitchFamily="34" charset="0"/>
              <a:ea typeface="宋体" panose="02010600030101010101" pitchFamily="2" charset="-122"/>
            </a:endParaRPr>
          </a:p>
          <a:p>
            <a:pPr marL="342900" lvl="0" indent="-342900">
              <a:buClr>
                <a:srgbClr val="0000FF"/>
              </a:buClr>
              <a:buFont typeface="Wingdings" panose="05000000000000000000" pitchFamily="2" charset="2"/>
              <a:buChar char="u"/>
            </a:pPr>
            <a:r>
              <a:rPr lang="zh-CN" altLang="en-US" sz="2400" b="1" dirty="0">
                <a:solidFill>
                  <a:srgbClr val="FF00FF"/>
                </a:solidFill>
                <a:latin typeface="Arial" panose="020B0604020202020204" pitchFamily="34" charset="0"/>
              </a:rPr>
              <a:t> </a:t>
            </a:r>
            <a:r>
              <a:rPr lang="zh-CN" altLang="en-US" sz="2400" b="1" dirty="0" smtClean="0">
                <a:solidFill>
                  <a:srgbClr val="FF00FF"/>
                </a:solidFill>
                <a:latin typeface="Arial" panose="020B0604020202020204" pitchFamily="34" charset="0"/>
                <a:ea typeface="宋体" panose="02010600030101010101" pitchFamily="2" charset="-122"/>
              </a:rPr>
              <a:t>控制总线</a:t>
            </a:r>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CB</a:t>
            </a:r>
            <a:r>
              <a:rPr lang="zh-CN" altLang="en-US" sz="2400" b="1" dirty="0">
                <a:solidFill>
                  <a:srgbClr val="FF00FF"/>
                </a:solidFill>
                <a:latin typeface="Arial" panose="020B0604020202020204" pitchFamily="34" charset="0"/>
                <a:ea typeface="宋体" panose="02010600030101010101" pitchFamily="2" charset="-122"/>
              </a:rPr>
              <a:t>）</a:t>
            </a:r>
            <a:r>
              <a:rPr lang="zh-CN" altLang="en-US" sz="2400" b="1" dirty="0" smtClean="0">
                <a:solidFill>
                  <a:srgbClr val="FF00FF"/>
                </a:solidFill>
                <a:latin typeface="Arial" panose="020B0604020202020204" pitchFamily="34" charset="0"/>
                <a:ea typeface="宋体" panose="02010600030101010101" pitchFamily="2" charset="-122"/>
              </a:rPr>
              <a:t>：</a:t>
            </a:r>
            <a:r>
              <a:rPr lang="zh-CN" altLang="en-US" sz="2400" b="1" dirty="0" smtClean="0">
                <a:latin typeface="Arial" panose="020B0604020202020204" pitchFamily="34" charset="0"/>
                <a:ea typeface="宋体" panose="02010600030101010101" pitchFamily="2" charset="-122"/>
              </a:rPr>
              <a:t>单向</a:t>
            </a:r>
            <a:r>
              <a:rPr lang="zh-CN" altLang="en-US" sz="2400" b="1" dirty="0">
                <a:latin typeface="Arial" panose="020B0604020202020204" pitchFamily="34" charset="0"/>
                <a:ea typeface="宋体" panose="02010600030101010101" pitchFamily="2" charset="-122"/>
              </a:rPr>
              <a:t>、三态总线</a:t>
            </a:r>
            <a:r>
              <a:rPr lang="zh-CN" altLang="en-US" sz="2400" b="1" dirty="0" smtClean="0">
                <a:latin typeface="Arial" panose="020B0604020202020204" pitchFamily="34" charset="0"/>
                <a:ea typeface="宋体" panose="02010600030101010101" pitchFamily="2" charset="-122"/>
              </a:rPr>
              <a:t>，传送</a:t>
            </a:r>
            <a:r>
              <a:rPr lang="zh-CN" altLang="en-US" sz="2400" b="1" dirty="0">
                <a:latin typeface="Arial" panose="020B0604020202020204" pitchFamily="34" charset="0"/>
                <a:ea typeface="宋体" panose="02010600030101010101" pitchFamily="2" charset="-122"/>
              </a:rPr>
              <a:t>控制信号、时序信号和状态信息，实现</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的工作与外部电路的工作同步</a:t>
            </a:r>
            <a:r>
              <a:rPr lang="zh-CN" altLang="en-US" sz="18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endParaRPr lang="zh-CN" altLang="en-US" sz="2400" b="1" dirty="0">
              <a:latin typeface="Arial" panose="020B0604020202020204" pitchFamily="34" charset="0"/>
              <a:ea typeface="宋体" panose="02010600030101010101" pitchFamily="2" charset="-122"/>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文本框 22425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4260" name="文本框 224259"/>
          <p:cNvSpPr txBox="1"/>
          <p:nvPr/>
        </p:nvSpPr>
        <p:spPr>
          <a:xfrm>
            <a:off x="250825" y="1052513"/>
            <a:ext cx="8642350" cy="3046988"/>
          </a:xfrm>
          <a:prstGeom prst="rect">
            <a:avLst/>
          </a:prstGeom>
          <a:noFill/>
          <a:ln w="9525">
            <a:noFill/>
          </a:ln>
        </p:spPr>
        <p:txBody>
          <a:bodyPr>
            <a:spAutoFit/>
          </a:bodyPr>
          <a:lstStyle/>
          <a:p>
            <a:pPr marL="285750" lvl="0" indent="-285750" eaLnBrk="0" hangingPunct="0">
              <a:buFont typeface="Wingdings" panose="05000000000000000000" pitchFamily="2" charset="2"/>
              <a:buChar char="p"/>
            </a:pPr>
            <a:r>
              <a:rPr lang="en-US" altLang="zh-CN" sz="2400" b="1" dirty="0" smtClean="0">
                <a:solidFill>
                  <a:srgbClr val="FF00FF"/>
                </a:solidFill>
                <a:latin typeface="Arial" panose="020B0604020202020204" pitchFamily="34" charset="0"/>
                <a:ea typeface="宋体" panose="02010600030101010101" pitchFamily="2" charset="-122"/>
              </a:rPr>
              <a:t>I/O</a:t>
            </a:r>
            <a:r>
              <a:rPr lang="zh-CN" altLang="en-US" sz="2400" b="1" dirty="0">
                <a:solidFill>
                  <a:srgbClr val="FF00FF"/>
                </a:solidFill>
                <a:latin typeface="Arial" panose="020B0604020202020204" pitchFamily="34" charset="0"/>
                <a:ea typeface="宋体" panose="02010600030101010101" pitchFamily="2" charset="-122"/>
              </a:rPr>
              <a:t>设备</a:t>
            </a:r>
            <a:r>
              <a:rPr lang="zh-CN" altLang="en-US" sz="1800" dirty="0">
                <a:latin typeface="Arial" panose="020B0604020202020204" pitchFamily="34" charset="0"/>
                <a:ea typeface="宋体" panose="02010600030101010101" pitchFamily="2" charset="-122"/>
              </a:rPr>
              <a:t> </a:t>
            </a:r>
            <a:endParaRPr lang="zh-CN" altLang="en-US" sz="2400" b="1" dirty="0">
              <a:solidFill>
                <a:srgbClr val="FF00FF"/>
              </a:solidFill>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是用户与微机进行通信联系的主要装置。输入设备是把程序、数据、命令转换成微机所能识别接收的信息，然后输入给微机；输出设备是把</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计算和处理的结果转换成人们易于理解和阅读的形式，然后输出到外部</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a:p>
            <a:pPr marL="342900" lvl="0" indent="-342900">
              <a:buClrTx/>
              <a:buFont typeface="Wingdings" panose="05000000000000000000" pitchFamily="2" charset="2"/>
              <a:buChar char="p"/>
            </a:pPr>
            <a:r>
              <a:rPr lang="zh-CN" altLang="en-US" sz="2400" b="1" dirty="0" smtClean="0">
                <a:solidFill>
                  <a:srgbClr val="FF00FF"/>
                </a:solidFill>
                <a:latin typeface="Arial" panose="020B0604020202020204" pitchFamily="34" charset="0"/>
                <a:ea typeface="宋体" panose="02010600030101010101" pitchFamily="2" charset="-122"/>
              </a:rPr>
              <a:t>外存储器</a:t>
            </a:r>
            <a:endParaRPr lang="zh-CN" altLang="en-US" sz="2400" b="1" dirty="0">
              <a:solidFill>
                <a:srgbClr val="FF00FF"/>
              </a:solidFill>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也称辅助存储器，不能直接与</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交换数据 </a:t>
            </a:r>
            <a:endParaRPr lang="en-US" altLang="zh-CN" sz="2400" b="1" dirty="0" smtClean="0">
              <a:latin typeface="Arial" panose="020B0604020202020204" pitchFamily="34" charset="0"/>
              <a:ea typeface="宋体" panose="02010600030101010101" pitchFamily="2" charset="-122"/>
            </a:endParaRPr>
          </a:p>
          <a:p>
            <a:pPr lvl="0">
              <a:buClrTx/>
            </a:pPr>
            <a:endParaRPr lang="zh-CN" altLang="en-US" sz="2400" b="1" dirty="0">
              <a:latin typeface="Arial" panose="020B0604020202020204" pitchFamily="34" charset="0"/>
              <a:ea typeface="宋体" panose="02010600030101010101" pitchFamily="2" charset="-122"/>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文本框 22630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6308" name="文本框 226307"/>
          <p:cNvSpPr txBox="1"/>
          <p:nvPr/>
        </p:nvSpPr>
        <p:spPr>
          <a:xfrm>
            <a:off x="250825" y="1052513"/>
            <a:ext cx="8642350" cy="4154984"/>
          </a:xfrm>
          <a:prstGeom prst="rect">
            <a:avLst/>
          </a:prstGeom>
          <a:noFill/>
          <a:ln w="9525">
            <a:noFill/>
          </a:ln>
        </p:spPr>
        <p:txBody>
          <a:bodyPr>
            <a:spAutoFit/>
          </a:bodyPr>
          <a:lstStyle/>
          <a:p>
            <a:pPr lvl="0" eaLnBrk="0" hangingPunct="0"/>
            <a:r>
              <a:rPr lang="en-US" altLang="zh-CN" sz="2400" b="1" dirty="0">
                <a:solidFill>
                  <a:srgbClr val="0000CC"/>
                </a:solidFill>
              </a:rPr>
              <a:t>2</a:t>
            </a:r>
            <a:r>
              <a:rPr lang="zh-CN" altLang="en-US" sz="2400" b="1" dirty="0" smtClean="0">
                <a:solidFill>
                  <a:srgbClr val="0000CC"/>
                </a:solidFill>
              </a:rPr>
              <a:t>、</a:t>
            </a:r>
            <a:r>
              <a:rPr lang="zh-CN" altLang="en-US" sz="2400" b="1" dirty="0">
                <a:solidFill>
                  <a:srgbClr val="0000CC"/>
                </a:solidFill>
              </a:rPr>
              <a:t>软件</a:t>
            </a:r>
            <a:endParaRPr lang="zh-CN" altLang="en-US" sz="2400" b="1" dirty="0">
              <a:solidFill>
                <a:srgbClr val="0000CC"/>
              </a:solidFill>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系统软件：</a:t>
            </a:r>
            <a:r>
              <a:rPr lang="zh-CN" altLang="en-US" sz="2400" b="1" dirty="0">
                <a:latin typeface="Arial" panose="020B0604020202020204" pitchFamily="34" charset="0"/>
                <a:ea typeface="宋体" panose="02010600030101010101" pitchFamily="2" charset="-122"/>
              </a:rPr>
              <a:t>由计算机生产厂家提供给用户的一组程序，这组程序是用户使用机器时为产生、准备和执行用户程序所必须的，最主要的是</a:t>
            </a:r>
            <a:r>
              <a:rPr lang="zh-CN" altLang="en-US" sz="2400" b="1" dirty="0">
                <a:solidFill>
                  <a:srgbClr val="FF00FF"/>
                </a:solidFill>
                <a:latin typeface="Arial" panose="020B0604020202020204" pitchFamily="34" charset="0"/>
                <a:ea typeface="宋体" panose="02010600030101010101" pitchFamily="2" charset="-122"/>
              </a:rPr>
              <a:t>操作系统</a:t>
            </a: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a:p>
            <a:pPr lvl="0" eaLnBrk="0" hangingPunct="0"/>
            <a:endParaRPr lang="zh-CN" altLang="en-US" sz="2400" dirty="0">
              <a:latin typeface="Arial" panose="020B0604020202020204" pitchFamily="34" charset="0"/>
              <a:ea typeface="宋体" panose="02010600030101010101" pitchFamily="2" charset="-122"/>
            </a:endParaRPr>
          </a:p>
          <a:p>
            <a:pPr lvl="0" eaLnBrk="0" hangingPunct="0"/>
            <a:r>
              <a:rPr lang="en-US" altLang="zh-CN" sz="2400" b="1" dirty="0">
                <a:solidFill>
                  <a:srgbClr val="0000FF"/>
                </a:solidFill>
                <a:latin typeface="Arial" panose="020B0604020202020204" pitchFamily="34" charset="0"/>
                <a:ea typeface="宋体" panose="02010600030101010101" pitchFamily="2" charset="-122"/>
              </a:rPr>
              <a:t>I/O</a:t>
            </a:r>
            <a:r>
              <a:rPr lang="zh-CN" altLang="en-US" sz="2400" b="1" dirty="0">
                <a:solidFill>
                  <a:srgbClr val="0000FF"/>
                </a:solidFill>
                <a:latin typeface="Arial" panose="020B0604020202020204" pitchFamily="34" charset="0"/>
                <a:ea typeface="宋体" panose="02010600030101010101" pitchFamily="2" charset="-122"/>
              </a:rPr>
              <a:t>驱动程序</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ea typeface="宋体" panose="02010600030101010101" pitchFamily="2" charset="-122"/>
              </a:rPr>
              <a:t>文件编辑程序</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ea typeface="宋体" panose="02010600030101010101" pitchFamily="2" charset="-122"/>
              </a:rPr>
              <a:t>装入程序 </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ea typeface="宋体" panose="02010600030101010101" pitchFamily="2" charset="-122"/>
              </a:rPr>
              <a:t>翻译程序 </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ea typeface="宋体" panose="02010600030101010101" pitchFamily="2" charset="-122"/>
              </a:rPr>
              <a:t>连接程序 </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ea typeface="宋体" panose="02010600030101010101" pitchFamily="2" charset="-122"/>
              </a:rPr>
              <a:t>调试程序</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760" y="2701552"/>
            <a:ext cx="5937621"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4572000" y="5598499"/>
            <a:ext cx="1811714" cy="369332"/>
          </a:xfrm>
          <a:prstGeom prst="rect">
            <a:avLst/>
          </a:prstGeom>
        </p:spPr>
        <p:txBody>
          <a:bodyPr wrap="none">
            <a:spAutoFit/>
          </a:bodyPr>
          <a:lstStyle/>
          <a:p>
            <a:pPr lvl="0" eaLnBrk="0" hangingPunct="0"/>
            <a:r>
              <a:rPr lang="zh-CN" altLang="en-US" b="1" dirty="0">
                <a:solidFill>
                  <a:srgbClr val="0000CC"/>
                </a:solidFill>
                <a:latin typeface="Arial" panose="020B0604020202020204" pitchFamily="34" charset="0"/>
              </a:rPr>
              <a:t>微机软件层次图</a:t>
            </a:r>
            <a:endParaRPr lang="zh-CN" altLang="en-US" b="1" dirty="0">
              <a:solidFill>
                <a:srgbClr val="0000CC"/>
              </a:solidFill>
              <a:latin typeface="Arial" panose="020B0604020202020204" pitchFamily="34" charset="0"/>
            </a:endParaRPr>
          </a:p>
        </p:txBody>
      </p:sp>
      <p:sp>
        <p:nvSpPr>
          <p:cNvPr id="7"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文本框 22733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7332" name="文本框 227331"/>
          <p:cNvSpPr txBox="1"/>
          <p:nvPr/>
        </p:nvSpPr>
        <p:spPr>
          <a:xfrm>
            <a:off x="250825" y="836712"/>
            <a:ext cx="8642350" cy="3600986"/>
          </a:xfrm>
          <a:prstGeom prst="rect">
            <a:avLst/>
          </a:prstGeom>
          <a:noFill/>
          <a:ln w="9525">
            <a:noFill/>
          </a:ln>
        </p:spPr>
        <p:txBody>
          <a:bodyPr>
            <a:spAutoFit/>
          </a:bodyPr>
          <a:lstStyle/>
          <a:p>
            <a:pPr lvl="0" eaLnBrk="0" hangingPunct="0"/>
            <a:r>
              <a:rPr lang="zh-CN" altLang="en-US" sz="2400" b="1" dirty="0">
                <a:solidFill>
                  <a:srgbClr val="0000FF"/>
                </a:solidFill>
              </a:rPr>
              <a:t>三、微机的基本工作原理和工作过程 </a:t>
            </a:r>
            <a:endParaRPr lang="zh-CN" altLang="en-US" sz="2400" b="1" dirty="0">
              <a:solidFill>
                <a:srgbClr val="0000FF"/>
              </a:solidFill>
            </a:endParaRPr>
          </a:p>
          <a:p>
            <a:pPr lvl="0" eaLnBrk="0" hangingPunct="0">
              <a:lnSpc>
                <a:spcPts val="4000"/>
              </a:lnSpc>
            </a:pPr>
            <a:r>
              <a:rPr lang="en-US" altLang="zh-CN" sz="2400" b="1" dirty="0">
                <a:solidFill>
                  <a:srgbClr val="0000CC"/>
                </a:solidFill>
              </a:rPr>
              <a:t>1</a:t>
            </a:r>
            <a:r>
              <a:rPr lang="zh-CN" altLang="en-US" sz="2400" b="1" dirty="0">
                <a:solidFill>
                  <a:srgbClr val="0000CC"/>
                </a:solidFill>
              </a:rPr>
              <a:t>、微机的工作</a:t>
            </a:r>
            <a:r>
              <a:rPr lang="zh-CN" altLang="en-US" sz="2400" b="1" dirty="0" smtClean="0">
                <a:solidFill>
                  <a:srgbClr val="0000CC"/>
                </a:solidFill>
              </a:rPr>
              <a:t>原理</a:t>
            </a:r>
            <a:endParaRPr lang="en-US" altLang="zh-CN" sz="2400" b="1" dirty="0" smtClean="0">
              <a:solidFill>
                <a:srgbClr val="0000CC"/>
              </a:solidFill>
            </a:endParaRPr>
          </a:p>
          <a:p>
            <a:pPr lvl="0" eaLnBrk="0" hangingPunct="0">
              <a:lnSpc>
                <a:spcPts val="4000"/>
              </a:lnSpc>
            </a:pPr>
            <a:r>
              <a:rPr lang="zh-CN" altLang="zh-CN" sz="2400" b="1" dirty="0">
                <a:latin typeface="Arial" panose="020B0604020202020204" pitchFamily="34" charset="0"/>
              </a:rPr>
              <a:t>采用“程序存储控制”的原理工作，</a:t>
            </a:r>
            <a:r>
              <a:rPr lang="zh-CN" altLang="en-US" sz="2400" b="1" dirty="0">
                <a:latin typeface="Arial" panose="020B0604020202020204" pitchFamily="34" charset="0"/>
              </a:rPr>
              <a:t>由</a:t>
            </a:r>
            <a:r>
              <a:rPr lang="zh-CN" altLang="zh-CN" sz="2400" b="1" dirty="0">
                <a:latin typeface="Arial" panose="020B0604020202020204" pitchFamily="34" charset="0"/>
              </a:rPr>
              <a:t>冯</a:t>
            </a:r>
            <a:r>
              <a:rPr lang="en-US" altLang="zh-CN" sz="2400" b="1" dirty="0">
                <a:latin typeface="Arial" panose="020B0604020202020204" pitchFamily="34" charset="0"/>
              </a:rPr>
              <a:t>.</a:t>
            </a:r>
            <a:r>
              <a:rPr lang="zh-CN" altLang="zh-CN" sz="2400" b="1" dirty="0">
                <a:latin typeface="Arial" panose="020B0604020202020204" pitchFamily="34" charset="0"/>
              </a:rPr>
              <a:t>诺依曼</a:t>
            </a:r>
            <a:r>
              <a:rPr lang="en-US" altLang="zh-CN" sz="2400" b="1" dirty="0">
                <a:latin typeface="Arial" panose="020B0604020202020204" pitchFamily="34" charset="0"/>
              </a:rPr>
              <a:t>1946</a:t>
            </a:r>
            <a:r>
              <a:rPr lang="zh-CN" altLang="zh-CN" sz="2400" b="1" dirty="0">
                <a:latin typeface="Arial" panose="020B0604020202020204" pitchFamily="34" charset="0"/>
              </a:rPr>
              <a:t>年提出</a:t>
            </a:r>
            <a:endParaRPr lang="en-US" altLang="zh-CN" sz="2400" b="1" dirty="0">
              <a:latin typeface="Arial" panose="020B0604020202020204" pitchFamily="34" charset="0"/>
            </a:endParaRPr>
          </a:p>
          <a:p>
            <a:pPr lvl="0" eaLnBrk="0" hangingPunct="0">
              <a:lnSpc>
                <a:spcPts val="4000"/>
              </a:lnSpc>
            </a:pPr>
            <a:r>
              <a:rPr lang="en-US" altLang="zh-CN" sz="2400" b="1" dirty="0">
                <a:solidFill>
                  <a:srgbClr val="0000CC"/>
                </a:solidFill>
              </a:rPr>
              <a:t>2</a:t>
            </a:r>
            <a:r>
              <a:rPr lang="zh-CN" altLang="en-US" sz="2400" b="1" dirty="0">
                <a:solidFill>
                  <a:srgbClr val="0000CC"/>
                </a:solidFill>
              </a:rPr>
              <a:t>、微机</a:t>
            </a:r>
            <a:r>
              <a:rPr lang="zh-CN" altLang="en-US" sz="2400" b="1" dirty="0" smtClean="0">
                <a:solidFill>
                  <a:srgbClr val="0000CC"/>
                </a:solidFill>
              </a:rPr>
              <a:t>的工作过程</a:t>
            </a:r>
            <a:endParaRPr lang="en-US" altLang="zh-CN" sz="2400" b="1" dirty="0" smtClean="0">
              <a:solidFill>
                <a:srgbClr val="0000CC"/>
              </a:solidFill>
            </a:endParaRPr>
          </a:p>
          <a:p>
            <a:pPr lvl="0" eaLnBrk="0" hangingPunct="0">
              <a:lnSpc>
                <a:spcPts val="4000"/>
              </a:lnSpc>
            </a:pPr>
            <a:r>
              <a:rPr lang="zh-CN" altLang="en-US" sz="2400" b="1" dirty="0" smtClean="0">
                <a:latin typeface="Arial" panose="020B0604020202020204" pitchFamily="34" charset="0"/>
                <a:ea typeface="宋体" panose="02010600030101010101" pitchFamily="2" charset="-122"/>
              </a:rPr>
              <a:t>执行</a:t>
            </a:r>
            <a:r>
              <a:rPr lang="zh-CN" altLang="en-US" sz="2400" b="1" dirty="0">
                <a:latin typeface="Arial" panose="020B0604020202020204" pitchFamily="34" charset="0"/>
                <a:ea typeface="宋体" panose="02010600030101010101" pitchFamily="2" charset="-122"/>
              </a:rPr>
              <a:t>存放在存储器中的程序的过程 </a:t>
            </a:r>
            <a:r>
              <a:rPr lang="zh-CN" altLang="en-US" sz="2400" b="1" dirty="0" smtClean="0">
                <a:latin typeface="Arial" panose="020B0604020202020204" pitchFamily="34" charset="0"/>
                <a:ea typeface="宋体" panose="02010600030101010101" pitchFamily="2" charset="-122"/>
              </a:rPr>
              <a:t>。</a:t>
            </a:r>
            <a:endParaRPr lang="en-US" altLang="zh-CN" sz="2400" b="1" dirty="0" smtClean="0">
              <a:latin typeface="Arial" panose="020B0604020202020204" pitchFamily="34" charset="0"/>
              <a:ea typeface="宋体" panose="02010600030101010101" pitchFamily="2" charset="-122"/>
            </a:endParaRPr>
          </a:p>
          <a:p>
            <a:pPr lvl="0" eaLnBrk="0" hangingPunct="0">
              <a:lnSpc>
                <a:spcPts val="4000"/>
              </a:lnSpc>
            </a:pPr>
            <a:r>
              <a:rPr lang="zh-CN" altLang="en-US" sz="2400" b="1" dirty="0" smtClean="0">
                <a:latin typeface="Arial" panose="020B0604020202020204" pitchFamily="34" charset="0"/>
                <a:ea typeface="宋体" panose="02010600030101010101" pitchFamily="2" charset="-122"/>
              </a:rPr>
              <a:t>一</a:t>
            </a:r>
            <a:r>
              <a:rPr lang="zh-CN" altLang="en-US" sz="2400" b="1" dirty="0">
                <a:latin typeface="Arial" panose="020B0604020202020204" pitchFamily="34" charset="0"/>
                <a:ea typeface="宋体" panose="02010600030101010101" pitchFamily="2" charset="-122"/>
              </a:rPr>
              <a:t>条指令的执行</a:t>
            </a:r>
            <a:r>
              <a:rPr lang="zh-CN" altLang="en-US" sz="2400" b="1" dirty="0" smtClean="0">
                <a:latin typeface="Arial" panose="020B0604020202020204" pitchFamily="34" charset="0"/>
                <a:ea typeface="宋体" panose="02010600030101010101" pitchFamily="2" charset="-122"/>
              </a:rPr>
              <a:t>过程：取</a:t>
            </a:r>
            <a:r>
              <a:rPr lang="zh-CN" altLang="en-US" sz="2400" b="1" dirty="0">
                <a:latin typeface="Arial" panose="020B0604020202020204" pitchFamily="34" charset="0"/>
                <a:ea typeface="宋体" panose="02010600030101010101" pitchFamily="2" charset="-122"/>
              </a:rPr>
              <a:t>指令、分析指令和</a:t>
            </a:r>
            <a:r>
              <a:rPr lang="zh-CN" altLang="en-US" sz="2400" b="1" dirty="0" smtClean="0">
                <a:latin typeface="Arial" panose="020B0604020202020204" pitchFamily="34" charset="0"/>
                <a:ea typeface="宋体" panose="02010600030101010101" pitchFamily="2" charset="-122"/>
              </a:rPr>
              <a:t>执行指令。</a:t>
            </a:r>
            <a:endParaRPr lang="en-US" altLang="zh-CN" sz="2400" b="1" dirty="0" smtClean="0">
              <a:latin typeface="Arial" panose="020B0604020202020204" pitchFamily="34" charset="0"/>
              <a:ea typeface="宋体" panose="02010600030101010101" pitchFamily="2" charset="-122"/>
            </a:endParaRPr>
          </a:p>
          <a:p>
            <a:pPr lvl="0" eaLnBrk="0" hangingPunct="0">
              <a:lnSpc>
                <a:spcPts val="4000"/>
              </a:lnSpc>
            </a:pPr>
            <a:r>
              <a:rPr lang="zh-CN" altLang="en-US" sz="2400" b="1" dirty="0" smtClean="0">
                <a:latin typeface="Arial" panose="020B0604020202020204" pitchFamily="34" charset="0"/>
                <a:ea typeface="宋体" panose="02010600030101010101" pitchFamily="2" charset="-122"/>
              </a:rPr>
              <a:t>重复</a:t>
            </a:r>
            <a:r>
              <a:rPr lang="zh-CN" altLang="en-US" sz="2400" b="1" dirty="0">
                <a:latin typeface="Arial" panose="020B0604020202020204" pitchFamily="34" charset="0"/>
                <a:ea typeface="宋体" panose="02010600030101010101" pitchFamily="2" charset="-122"/>
              </a:rPr>
              <a:t>，直至执行完程序的所有</a:t>
            </a:r>
            <a:r>
              <a:rPr lang="zh-CN" altLang="en-US" sz="2400" b="1" dirty="0" smtClean="0">
                <a:latin typeface="Arial" panose="020B0604020202020204" pitchFamily="34" charset="0"/>
                <a:ea typeface="宋体" panose="02010600030101010101" pitchFamily="2" charset="-122"/>
              </a:rPr>
              <a:t>指令</a:t>
            </a:r>
            <a:endParaRPr lang="zh-CN" altLang="en-US" sz="2400" b="1" dirty="0">
              <a:latin typeface="Arial" panose="020B0604020202020204" pitchFamily="34" charset="0"/>
              <a:ea typeface="宋体" panose="02010600030101010101" pitchFamily="2" charset="-122"/>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grpSp>
        <p:nvGrpSpPr>
          <p:cNvPr id="42" name="组合 41"/>
          <p:cNvGrpSpPr/>
          <p:nvPr/>
        </p:nvGrpSpPr>
        <p:grpSpPr>
          <a:xfrm>
            <a:off x="466090" y="4380865"/>
            <a:ext cx="8183245" cy="1793875"/>
            <a:chOff x="734" y="6899"/>
            <a:chExt cx="12887" cy="2825"/>
          </a:xfrm>
        </p:grpSpPr>
        <p:sp>
          <p:nvSpPr>
            <p:cNvPr id="12" name="文本框 11"/>
            <p:cNvSpPr txBox="1"/>
            <p:nvPr/>
          </p:nvSpPr>
          <p:spPr>
            <a:xfrm>
              <a:off x="897" y="6899"/>
              <a:ext cx="1793" cy="919"/>
            </a:xfrm>
            <a:prstGeom prst="rect">
              <a:avLst/>
            </a:prstGeom>
            <a:noFill/>
          </p:spPr>
          <p:txBody>
            <a:bodyPr wrap="square" rtlCol="0">
              <a:spAutoFit/>
            </a:bodyPr>
            <a:p>
              <a:r>
                <a:rPr lang="zh-CN" altLang="en-US" sz="1600"/>
                <a:t>程序</a:t>
              </a:r>
              <a:endParaRPr lang="zh-CN" altLang="en-US" sz="1600"/>
            </a:p>
            <a:p>
              <a:r>
                <a:rPr lang="zh-CN" altLang="en-US" sz="1600"/>
                <a:t>原始数据</a:t>
              </a:r>
              <a:endParaRPr lang="zh-CN" altLang="en-US" sz="1600"/>
            </a:p>
          </p:txBody>
        </p:sp>
        <p:sp>
          <p:nvSpPr>
            <p:cNvPr id="2" name="文本框 1"/>
            <p:cNvSpPr txBox="1"/>
            <p:nvPr>
              <p:custDataLst>
                <p:tags r:id="rId1"/>
              </p:custDataLst>
            </p:nvPr>
          </p:nvSpPr>
          <p:spPr>
            <a:xfrm>
              <a:off x="2479" y="7035"/>
              <a:ext cx="1747" cy="580"/>
            </a:xfrm>
            <a:prstGeom prst="rect">
              <a:avLst/>
            </a:prstGeom>
            <a:noFill/>
            <a:ln>
              <a:solidFill>
                <a:schemeClr val="tx1"/>
              </a:solidFill>
            </a:ln>
          </p:spPr>
          <p:txBody>
            <a:bodyPr wrap="square" rtlCol="0">
              <a:spAutoFit/>
            </a:bodyPr>
            <a:p>
              <a:r>
                <a:rPr lang="zh-CN" altLang="en-US"/>
                <a:t>输入设备</a:t>
              </a:r>
              <a:endParaRPr lang="zh-CN" altLang="en-US"/>
            </a:p>
          </p:txBody>
        </p:sp>
        <p:sp>
          <p:nvSpPr>
            <p:cNvPr id="3" name="文本框 2"/>
            <p:cNvSpPr txBox="1"/>
            <p:nvPr>
              <p:custDataLst>
                <p:tags r:id="rId2"/>
              </p:custDataLst>
            </p:nvPr>
          </p:nvSpPr>
          <p:spPr>
            <a:xfrm>
              <a:off x="6175" y="7035"/>
              <a:ext cx="1747" cy="580"/>
            </a:xfrm>
            <a:prstGeom prst="rect">
              <a:avLst/>
            </a:prstGeom>
            <a:noFill/>
            <a:ln>
              <a:solidFill>
                <a:schemeClr val="tx1"/>
              </a:solidFill>
            </a:ln>
          </p:spPr>
          <p:txBody>
            <a:bodyPr wrap="square" rtlCol="0">
              <a:spAutoFit/>
            </a:bodyPr>
            <a:p>
              <a:r>
                <a:rPr lang="zh-CN" altLang="en-US"/>
                <a:t>内存储器</a:t>
              </a:r>
              <a:endParaRPr lang="zh-CN" altLang="en-US"/>
            </a:p>
          </p:txBody>
        </p:sp>
        <p:sp>
          <p:nvSpPr>
            <p:cNvPr id="4" name="文本框 3"/>
            <p:cNvSpPr txBox="1"/>
            <p:nvPr>
              <p:custDataLst>
                <p:tags r:id="rId3"/>
              </p:custDataLst>
            </p:nvPr>
          </p:nvSpPr>
          <p:spPr>
            <a:xfrm>
              <a:off x="9919" y="7035"/>
              <a:ext cx="1747" cy="580"/>
            </a:xfrm>
            <a:prstGeom prst="rect">
              <a:avLst/>
            </a:prstGeom>
            <a:noFill/>
            <a:ln>
              <a:solidFill>
                <a:schemeClr val="tx1"/>
              </a:solidFill>
            </a:ln>
          </p:spPr>
          <p:txBody>
            <a:bodyPr wrap="square" rtlCol="0">
              <a:spAutoFit/>
            </a:bodyPr>
            <a:p>
              <a:r>
                <a:rPr lang="zh-CN" altLang="en-US"/>
                <a:t>输出设备</a:t>
              </a:r>
              <a:endParaRPr lang="zh-CN" altLang="en-US"/>
            </a:p>
          </p:txBody>
        </p:sp>
        <p:sp>
          <p:nvSpPr>
            <p:cNvPr id="6" name="文本框 5"/>
            <p:cNvSpPr txBox="1"/>
            <p:nvPr/>
          </p:nvSpPr>
          <p:spPr>
            <a:xfrm>
              <a:off x="6175" y="8123"/>
              <a:ext cx="1747" cy="580"/>
            </a:xfrm>
            <a:prstGeom prst="rect">
              <a:avLst/>
            </a:prstGeom>
            <a:noFill/>
            <a:ln>
              <a:solidFill>
                <a:schemeClr val="tx1"/>
              </a:solidFill>
            </a:ln>
          </p:spPr>
          <p:txBody>
            <a:bodyPr wrap="square" rtlCol="0">
              <a:spAutoFit/>
            </a:bodyPr>
            <a:p>
              <a:pPr algn="ctr"/>
              <a:r>
                <a:rPr lang="zh-CN" altLang="en-US"/>
                <a:t>运算器</a:t>
              </a:r>
              <a:endParaRPr lang="zh-CN" altLang="en-US"/>
            </a:p>
          </p:txBody>
        </p:sp>
        <p:sp>
          <p:nvSpPr>
            <p:cNvPr id="7" name="文本框 6"/>
            <p:cNvSpPr txBox="1"/>
            <p:nvPr/>
          </p:nvSpPr>
          <p:spPr>
            <a:xfrm>
              <a:off x="6175" y="9144"/>
              <a:ext cx="1747" cy="580"/>
            </a:xfrm>
            <a:prstGeom prst="rect">
              <a:avLst/>
            </a:prstGeom>
            <a:noFill/>
            <a:ln>
              <a:solidFill>
                <a:schemeClr val="tx1"/>
              </a:solidFill>
            </a:ln>
          </p:spPr>
          <p:txBody>
            <a:bodyPr wrap="square" rtlCol="0">
              <a:spAutoFit/>
            </a:bodyPr>
            <a:p>
              <a:pPr algn="ctr"/>
              <a:r>
                <a:rPr lang="zh-CN" altLang="en-US"/>
                <a:t>控制器</a:t>
              </a:r>
              <a:endParaRPr lang="zh-CN" altLang="en-US"/>
            </a:p>
          </p:txBody>
        </p:sp>
        <p:cxnSp>
          <p:nvCxnSpPr>
            <p:cNvPr id="8" name="直接箭头连接符 7"/>
            <p:cNvCxnSpPr/>
            <p:nvPr/>
          </p:nvCxnSpPr>
          <p:spPr>
            <a:xfrm flipV="1">
              <a:off x="734" y="7340"/>
              <a:ext cx="1745"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custDataLst>
                <p:tags r:id="rId4"/>
              </p:custDataLst>
            </p:nvPr>
          </p:nvCxnSpPr>
          <p:spPr>
            <a:xfrm flipV="1">
              <a:off x="4226" y="7325"/>
              <a:ext cx="1949" cy="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custDataLst>
                <p:tags r:id="rId5"/>
              </p:custDataLst>
            </p:nvPr>
          </p:nvCxnSpPr>
          <p:spPr>
            <a:xfrm flipV="1">
              <a:off x="7922" y="7312"/>
              <a:ext cx="1949" cy="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custDataLst>
                <p:tags r:id="rId6"/>
              </p:custDataLst>
            </p:nvPr>
          </p:nvCxnSpPr>
          <p:spPr>
            <a:xfrm flipV="1">
              <a:off x="11673" y="7329"/>
              <a:ext cx="1949" cy="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custDataLst>
                <p:tags r:id="rId7"/>
              </p:custDataLst>
            </p:nvPr>
          </p:nvSpPr>
          <p:spPr>
            <a:xfrm>
              <a:off x="4296" y="7310"/>
              <a:ext cx="1092" cy="531"/>
            </a:xfrm>
            <a:prstGeom prst="rect">
              <a:avLst/>
            </a:prstGeom>
            <a:noFill/>
          </p:spPr>
          <p:txBody>
            <a:bodyPr wrap="square" rtlCol="0">
              <a:spAutoFit/>
            </a:bodyPr>
            <a:p>
              <a:r>
                <a:rPr lang="zh-CN" altLang="en-US" sz="1600"/>
                <a:t>数据</a:t>
              </a:r>
              <a:endParaRPr lang="zh-CN" altLang="en-US" sz="1600"/>
            </a:p>
          </p:txBody>
        </p:sp>
        <p:cxnSp>
          <p:nvCxnSpPr>
            <p:cNvPr id="14" name="直接箭头连接符 13"/>
            <p:cNvCxnSpPr/>
            <p:nvPr/>
          </p:nvCxnSpPr>
          <p:spPr>
            <a:xfrm>
              <a:off x="6517" y="7667"/>
              <a:ext cx="0" cy="466"/>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a:off x="7537" y="7667"/>
              <a:ext cx="0" cy="466"/>
            </a:xfrm>
            <a:prstGeom prst="straightConnector1">
              <a:avLst/>
            </a:prstGeom>
            <a:ln>
              <a:solidFill>
                <a:schemeClr val="tx1"/>
              </a:solidFill>
              <a:headEnd type="arrow" w="med" len="med"/>
              <a:tailEnd type="none"/>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a:off x="7048" y="8688"/>
              <a:ext cx="0" cy="466"/>
            </a:xfrm>
            <a:prstGeom prst="straightConnector1">
              <a:avLst/>
            </a:prstGeom>
            <a:ln>
              <a:solidFill>
                <a:schemeClr val="tx1"/>
              </a:solidFill>
              <a:headEnd type="arrow" w="med" len="med"/>
              <a:tailEnd type="none"/>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8"/>
              </p:custDataLst>
            </p:nvPr>
          </p:nvSpPr>
          <p:spPr>
            <a:xfrm>
              <a:off x="8692" y="7355"/>
              <a:ext cx="1093" cy="531"/>
            </a:xfrm>
            <a:prstGeom prst="rect">
              <a:avLst/>
            </a:prstGeom>
            <a:noFill/>
          </p:spPr>
          <p:txBody>
            <a:bodyPr wrap="square" rtlCol="0">
              <a:spAutoFit/>
            </a:bodyPr>
            <a:p>
              <a:r>
                <a:rPr lang="zh-CN" altLang="en-US" sz="1600"/>
                <a:t>数据</a:t>
              </a:r>
              <a:endParaRPr lang="zh-CN" altLang="en-US" sz="1600"/>
            </a:p>
          </p:txBody>
        </p:sp>
        <p:sp>
          <p:nvSpPr>
            <p:cNvPr id="19" name="文本框 18"/>
            <p:cNvSpPr txBox="1"/>
            <p:nvPr>
              <p:custDataLst>
                <p:tags r:id="rId9"/>
              </p:custDataLst>
            </p:nvPr>
          </p:nvSpPr>
          <p:spPr>
            <a:xfrm>
              <a:off x="11826" y="7370"/>
              <a:ext cx="1596" cy="531"/>
            </a:xfrm>
            <a:prstGeom prst="rect">
              <a:avLst/>
            </a:prstGeom>
            <a:noFill/>
          </p:spPr>
          <p:txBody>
            <a:bodyPr wrap="square" rtlCol="0">
              <a:spAutoFit/>
            </a:bodyPr>
            <a:p>
              <a:r>
                <a:rPr lang="zh-CN" altLang="en-US" sz="1600"/>
                <a:t>运算结果</a:t>
              </a:r>
              <a:endParaRPr lang="zh-CN" altLang="en-US" sz="1600"/>
            </a:p>
          </p:txBody>
        </p:sp>
        <p:cxnSp>
          <p:nvCxnSpPr>
            <p:cNvPr id="22" name="直接连接符 21"/>
            <p:cNvCxnSpPr/>
            <p:nvPr>
              <p:custDataLst>
                <p:tags r:id="rId10"/>
              </p:custDataLst>
            </p:nvPr>
          </p:nvCxnSpPr>
          <p:spPr>
            <a:xfrm flipH="1">
              <a:off x="5730" y="7519"/>
              <a:ext cx="407"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a:off x="5745" y="7534"/>
              <a:ext cx="0" cy="1776"/>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custDataLst>
                <p:tags r:id="rId11"/>
              </p:custDataLst>
            </p:nvPr>
          </p:nvCxnSpPr>
          <p:spPr>
            <a:xfrm flipH="1">
              <a:off x="5746" y="9308"/>
              <a:ext cx="407" cy="0"/>
            </a:xfrm>
            <a:prstGeom prst="line">
              <a:avLst/>
            </a:prstGeom>
            <a:ln>
              <a:solidFill>
                <a:schemeClr val="tx1"/>
              </a:solidFill>
              <a:headEnd type="arrow" w="med" len="med"/>
              <a:tailEnd type="none" w="med" len="med"/>
            </a:ln>
          </p:spPr>
          <p:style>
            <a:lnRef idx="2">
              <a:schemeClr val="accent1"/>
            </a:lnRef>
            <a:fillRef idx="0">
              <a:srgbClr val="FFFFFF"/>
            </a:fillRef>
            <a:effectRef idx="0">
              <a:srgbClr val="FFFFFF"/>
            </a:effectRef>
            <a:fontRef idx="minor">
              <a:schemeClr val="tx1"/>
            </a:fontRef>
          </p:style>
        </p:cxnSp>
        <p:sp>
          <p:nvSpPr>
            <p:cNvPr id="28" name="文本框 27"/>
            <p:cNvSpPr txBox="1"/>
            <p:nvPr>
              <p:custDataLst>
                <p:tags r:id="rId12"/>
              </p:custDataLst>
            </p:nvPr>
          </p:nvSpPr>
          <p:spPr>
            <a:xfrm>
              <a:off x="7084" y="8685"/>
              <a:ext cx="1741" cy="531"/>
            </a:xfrm>
            <a:prstGeom prst="rect">
              <a:avLst/>
            </a:prstGeom>
            <a:noFill/>
          </p:spPr>
          <p:txBody>
            <a:bodyPr wrap="square" rtlCol="0">
              <a:spAutoFit/>
            </a:bodyPr>
            <a:p>
              <a:r>
                <a:rPr lang="zh-CN" altLang="en-US" sz="1600"/>
                <a:t>操作命令</a:t>
              </a:r>
              <a:endParaRPr lang="zh-CN" altLang="en-US" sz="1600"/>
            </a:p>
          </p:txBody>
        </p:sp>
        <p:cxnSp>
          <p:nvCxnSpPr>
            <p:cNvPr id="31" name="直接连接符 30"/>
            <p:cNvCxnSpPr/>
            <p:nvPr/>
          </p:nvCxnSpPr>
          <p:spPr>
            <a:xfrm flipH="1">
              <a:off x="3452" y="9607"/>
              <a:ext cx="2700"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p:nvPr/>
          </p:nvCxnSpPr>
          <p:spPr>
            <a:xfrm flipV="1">
              <a:off x="3468" y="7616"/>
              <a:ext cx="0" cy="1991"/>
            </a:xfrm>
            <a:prstGeom prst="line">
              <a:avLst/>
            </a:prstGeom>
            <a:ln>
              <a:solidFill>
                <a:srgbClr val="C00000"/>
              </a:solidFill>
              <a:headEnd type="none"/>
              <a:tailEnd type="arrow" w="med" len="med"/>
            </a:ln>
          </p:spPr>
          <p:style>
            <a:lnRef idx="2">
              <a:schemeClr val="accent1"/>
            </a:lnRef>
            <a:fillRef idx="0">
              <a:srgbClr val="FFFFFF"/>
            </a:fillRef>
            <a:effectRef idx="0">
              <a:srgbClr val="FFFFFF"/>
            </a:effectRef>
            <a:fontRef idx="minor">
              <a:schemeClr val="tx1"/>
            </a:fontRef>
          </p:style>
        </p:cxnSp>
        <p:sp>
          <p:nvSpPr>
            <p:cNvPr id="33" name="文本框 32"/>
            <p:cNvSpPr txBox="1"/>
            <p:nvPr>
              <p:custDataLst>
                <p:tags r:id="rId13"/>
              </p:custDataLst>
            </p:nvPr>
          </p:nvSpPr>
          <p:spPr>
            <a:xfrm>
              <a:off x="1980" y="8234"/>
              <a:ext cx="1642" cy="531"/>
            </a:xfrm>
            <a:prstGeom prst="rect">
              <a:avLst/>
            </a:prstGeom>
            <a:noFill/>
          </p:spPr>
          <p:txBody>
            <a:bodyPr wrap="square" rtlCol="0">
              <a:spAutoFit/>
            </a:bodyPr>
            <a:p>
              <a:r>
                <a:rPr lang="zh-CN" altLang="en-US" sz="1600">
                  <a:solidFill>
                    <a:srgbClr val="FF0000"/>
                  </a:solidFill>
                </a:rPr>
                <a:t>输入命令</a:t>
              </a:r>
              <a:endParaRPr lang="zh-CN" altLang="en-US" sz="1600">
                <a:solidFill>
                  <a:srgbClr val="FF0000"/>
                </a:solidFill>
              </a:endParaRPr>
            </a:p>
          </p:txBody>
        </p:sp>
        <p:cxnSp>
          <p:nvCxnSpPr>
            <p:cNvPr id="34" name="直接连接符 33"/>
            <p:cNvCxnSpPr/>
            <p:nvPr/>
          </p:nvCxnSpPr>
          <p:spPr>
            <a:xfrm flipH="1">
              <a:off x="7945" y="9607"/>
              <a:ext cx="2700"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V="1">
              <a:off x="10630" y="7616"/>
              <a:ext cx="0" cy="1991"/>
            </a:xfrm>
            <a:prstGeom prst="line">
              <a:avLst/>
            </a:prstGeom>
            <a:ln>
              <a:solidFill>
                <a:srgbClr val="C00000"/>
              </a:solidFill>
              <a:headEnd type="none"/>
              <a:tailEnd type="arrow" w="med" len="me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14"/>
              </p:custDataLst>
            </p:nvPr>
          </p:nvSpPr>
          <p:spPr>
            <a:xfrm>
              <a:off x="10600" y="8234"/>
              <a:ext cx="1642" cy="531"/>
            </a:xfrm>
            <a:prstGeom prst="rect">
              <a:avLst/>
            </a:prstGeom>
            <a:noFill/>
          </p:spPr>
          <p:txBody>
            <a:bodyPr wrap="square" rtlCol="0">
              <a:spAutoFit/>
            </a:bodyPr>
            <a:p>
              <a:r>
                <a:rPr lang="zh-CN" altLang="en-US" sz="1600">
                  <a:solidFill>
                    <a:srgbClr val="FF0000"/>
                  </a:solidFill>
                </a:rPr>
                <a:t>输出命令</a:t>
              </a:r>
              <a:endParaRPr lang="zh-CN" altLang="en-US" sz="1600">
                <a:solidFill>
                  <a:srgbClr val="FF0000"/>
                </a:solidFill>
              </a:endParaRPr>
            </a:p>
          </p:txBody>
        </p:sp>
        <p:cxnSp>
          <p:nvCxnSpPr>
            <p:cNvPr id="37" name="直接连接符 36"/>
            <p:cNvCxnSpPr/>
            <p:nvPr/>
          </p:nvCxnSpPr>
          <p:spPr>
            <a:xfrm flipH="1">
              <a:off x="7939" y="9330"/>
              <a:ext cx="642"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flipV="1">
              <a:off x="8581" y="7466"/>
              <a:ext cx="0" cy="1882"/>
            </a:xfrm>
            <a:prstGeom prst="line">
              <a:avLst/>
            </a:prstGeom>
            <a:ln>
              <a:solidFill>
                <a:srgbClr val="C00000"/>
              </a:solidFill>
              <a:headEnd type="none"/>
              <a:tailEnd type="none" w="med" len="med"/>
            </a:ln>
          </p:spPr>
          <p:style>
            <a:lnRef idx="2">
              <a:schemeClr val="accent1"/>
            </a:lnRef>
            <a:fillRef idx="0">
              <a:srgbClr val="FFFFFF"/>
            </a:fillRef>
            <a:effectRef idx="0">
              <a:srgbClr val="FFFFFF"/>
            </a:effectRef>
            <a:fontRef idx="minor">
              <a:schemeClr val="tx1"/>
            </a:fontRef>
          </p:style>
        </p:cxnSp>
        <p:cxnSp>
          <p:nvCxnSpPr>
            <p:cNvPr id="39" name="直接连接符 38"/>
            <p:cNvCxnSpPr/>
            <p:nvPr/>
          </p:nvCxnSpPr>
          <p:spPr>
            <a:xfrm flipH="1">
              <a:off x="7931" y="7474"/>
              <a:ext cx="642" cy="0"/>
            </a:xfrm>
            <a:prstGeom prst="line">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41" name="文本框 40"/>
            <p:cNvSpPr txBox="1"/>
            <p:nvPr>
              <p:custDataLst>
                <p:tags r:id="rId15"/>
              </p:custDataLst>
            </p:nvPr>
          </p:nvSpPr>
          <p:spPr>
            <a:xfrm>
              <a:off x="8526" y="8153"/>
              <a:ext cx="1642" cy="531"/>
            </a:xfrm>
            <a:prstGeom prst="rect">
              <a:avLst/>
            </a:prstGeom>
            <a:noFill/>
          </p:spPr>
          <p:txBody>
            <a:bodyPr wrap="square" rtlCol="0">
              <a:spAutoFit/>
            </a:bodyPr>
            <a:p>
              <a:r>
                <a:rPr lang="zh-CN" altLang="en-US" sz="1600">
                  <a:solidFill>
                    <a:srgbClr val="FF0000"/>
                  </a:solidFill>
                </a:rPr>
                <a:t>存取命令</a:t>
              </a:r>
              <a:endParaRPr lang="zh-CN" altLang="en-US" sz="160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horizontal)">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文本框 22733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7332" name="文本框 227331"/>
          <p:cNvSpPr txBox="1"/>
          <p:nvPr/>
        </p:nvSpPr>
        <p:spPr>
          <a:xfrm>
            <a:off x="250825" y="764704"/>
            <a:ext cx="8642350" cy="5734903"/>
          </a:xfrm>
          <a:prstGeom prst="rect">
            <a:avLst/>
          </a:prstGeom>
          <a:noFill/>
          <a:ln w="9525">
            <a:noFill/>
          </a:ln>
        </p:spPr>
        <p:txBody>
          <a:bodyPr>
            <a:spAutoFit/>
          </a:bodyPr>
          <a:lstStyle/>
          <a:p>
            <a:pPr lvl="0" eaLnBrk="0" hangingPunct="0"/>
            <a:r>
              <a:rPr lang="zh-CN" altLang="en-US" sz="2800" b="1" dirty="0">
                <a:solidFill>
                  <a:srgbClr val="0000FF"/>
                </a:solidFill>
              </a:rPr>
              <a:t>四、微机的主要性能指标</a:t>
            </a:r>
            <a:endParaRPr lang="zh-CN" altLang="en-US" sz="2800" b="1" dirty="0">
              <a:solidFill>
                <a:srgbClr val="0000FF"/>
              </a:solidFill>
            </a:endParaRPr>
          </a:p>
          <a:p>
            <a:pPr lvl="0">
              <a:buClrTx/>
            </a:pPr>
            <a:endParaRPr lang="en-US" altLang="zh-CN" sz="2400" b="1" dirty="0" smtClean="0">
              <a:solidFill>
                <a:srgbClr val="0000CC"/>
              </a:solidFill>
            </a:endParaRPr>
          </a:p>
          <a:p>
            <a:pPr lvl="0">
              <a:buClrTx/>
            </a:pPr>
            <a:r>
              <a:rPr lang="en-US" altLang="zh-CN" sz="2400" b="1" dirty="0" smtClean="0">
                <a:solidFill>
                  <a:srgbClr val="0000CC"/>
                </a:solidFill>
              </a:rPr>
              <a:t>1</a:t>
            </a:r>
            <a:r>
              <a:rPr lang="zh-CN" altLang="en-US" sz="2400" b="1" dirty="0">
                <a:solidFill>
                  <a:srgbClr val="0000CC"/>
                </a:solidFill>
              </a:rPr>
              <a:t>、字长</a:t>
            </a:r>
            <a:endParaRPr lang="zh-CN" altLang="en-US" sz="2400" b="1" dirty="0">
              <a:solidFill>
                <a:srgbClr val="0000CC"/>
              </a:solidFill>
            </a:endParaRPr>
          </a:p>
          <a:p>
            <a:pPr lvl="0">
              <a:lnSpc>
                <a:spcPts val="4000"/>
              </a:lnSpc>
              <a:buClrTx/>
            </a:pP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一次能够同时处理的二进制数据位数，最重要。在其它指标相同的情况下，字长越长，计算精度就越高，运算速度也越快</a:t>
            </a:r>
            <a:r>
              <a:rPr lang="zh-CN" altLang="en-US" sz="2400" b="1" dirty="0" smtClean="0">
                <a:latin typeface="Arial" panose="020B0604020202020204" pitchFamily="34" charset="0"/>
                <a:ea typeface="宋体" panose="02010600030101010101" pitchFamily="2" charset="-122"/>
              </a:rPr>
              <a:t>。早期一般</a:t>
            </a:r>
            <a:r>
              <a:rPr lang="en-US" altLang="zh-CN" sz="2400" b="1" dirty="0" smtClean="0">
                <a:latin typeface="Arial" panose="020B0604020202020204" pitchFamily="34" charset="0"/>
                <a:ea typeface="宋体" panose="02010600030101010101" pitchFamily="2" charset="-122"/>
              </a:rPr>
              <a:t>8</a:t>
            </a:r>
            <a:r>
              <a:rPr lang="zh-CN" altLang="en-US" sz="2400" b="1" dirty="0" smtClean="0">
                <a:latin typeface="Arial" panose="020B0604020202020204" pitchFamily="34" charset="0"/>
                <a:ea typeface="宋体" panose="02010600030101010101" pitchFamily="2" charset="-122"/>
              </a:rPr>
              <a:t>位和</a:t>
            </a:r>
            <a:r>
              <a:rPr lang="en-US" altLang="zh-CN" sz="2400" b="1" dirty="0" smtClean="0">
                <a:latin typeface="Arial" panose="020B0604020202020204" pitchFamily="34" charset="0"/>
                <a:ea typeface="宋体" panose="02010600030101010101" pitchFamily="2" charset="-122"/>
              </a:rPr>
              <a:t>16</a:t>
            </a:r>
            <a:r>
              <a:rPr lang="zh-CN" altLang="en-US" sz="2400" b="1" dirty="0" smtClean="0">
                <a:latin typeface="Arial" panose="020B0604020202020204" pitchFamily="34" charset="0"/>
                <a:ea typeface="宋体" panose="02010600030101010101" pitchFamily="2" charset="-122"/>
              </a:rPr>
              <a:t>位，目前常用的</a:t>
            </a:r>
            <a:r>
              <a:rPr lang="en-US" altLang="zh-CN" sz="2400" b="1" dirty="0" smtClean="0">
                <a:latin typeface="Arial" panose="020B0604020202020204" pitchFamily="34" charset="0"/>
                <a:ea typeface="宋体" panose="02010600030101010101" pitchFamily="2" charset="-122"/>
              </a:rPr>
              <a:t>32</a:t>
            </a:r>
            <a:r>
              <a:rPr lang="zh-CN" altLang="en-US" sz="2400" b="1" dirty="0" smtClean="0">
                <a:latin typeface="Arial" panose="020B0604020202020204" pitchFamily="34" charset="0"/>
                <a:ea typeface="宋体" panose="02010600030101010101" pitchFamily="2" charset="-122"/>
              </a:rPr>
              <a:t>位和</a:t>
            </a:r>
            <a:r>
              <a:rPr lang="en-US" altLang="zh-CN" sz="2400" b="1" dirty="0" smtClean="0">
                <a:latin typeface="Arial" panose="020B0604020202020204" pitchFamily="34" charset="0"/>
                <a:ea typeface="宋体" panose="02010600030101010101" pitchFamily="2" charset="-122"/>
              </a:rPr>
              <a:t>64</a:t>
            </a:r>
            <a:r>
              <a:rPr lang="zh-CN" altLang="en-US" sz="2400" b="1" dirty="0" smtClean="0">
                <a:latin typeface="Arial" panose="020B0604020202020204" pitchFamily="34" charset="0"/>
                <a:ea typeface="宋体" panose="02010600030101010101" pitchFamily="2" charset="-122"/>
              </a:rPr>
              <a:t>位</a:t>
            </a:r>
            <a:r>
              <a:rPr lang="zh-CN" altLang="en-US" sz="1800" dirty="0" smtClean="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a:p>
            <a:r>
              <a:rPr lang="zh-CN" altLang="en-US" sz="18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r>
              <a:rPr lang="en-US" altLang="zh-CN" sz="2400" b="1" dirty="0">
                <a:solidFill>
                  <a:srgbClr val="0000CC"/>
                </a:solidFill>
              </a:rPr>
              <a:t>2</a:t>
            </a:r>
            <a:r>
              <a:rPr lang="zh-CN" altLang="en-US" sz="2400" b="1" dirty="0" smtClean="0">
                <a:solidFill>
                  <a:srgbClr val="0000CC"/>
                </a:solidFill>
              </a:rPr>
              <a:t>、内存容量</a:t>
            </a:r>
            <a:endParaRPr lang="zh-CN" altLang="en-US" sz="2400" b="1" dirty="0">
              <a:solidFill>
                <a:srgbClr val="0000CC"/>
              </a:solidFill>
            </a:endParaRPr>
          </a:p>
          <a:p>
            <a:pPr lvl="0">
              <a:lnSpc>
                <a:spcPts val="4000"/>
              </a:lnSpc>
              <a:buClrTx/>
            </a:pPr>
            <a:r>
              <a:rPr lang="zh-CN" altLang="zh-CN" sz="2400" b="1" dirty="0">
                <a:latin typeface="Arial" panose="020B0604020202020204" pitchFamily="34" charset="0"/>
              </a:rPr>
              <a:t>内存储器能存放数据的最大字节数，即微机中实际配置的内存大小</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a:lnSpc>
                <a:spcPts val="4000"/>
              </a:lnSpc>
              <a:buClrTx/>
            </a:pPr>
            <a:r>
              <a:rPr lang="zh-CN" altLang="en-US" sz="2400" b="1" dirty="0" smtClean="0">
                <a:latin typeface="Arial" panose="020B0604020202020204" pitchFamily="34" charset="0"/>
              </a:rPr>
              <a:t>基本单位</a:t>
            </a:r>
            <a:r>
              <a:rPr lang="zh-CN" altLang="en-US" sz="2400" b="1" dirty="0">
                <a:latin typeface="Arial" panose="020B0604020202020204" pitchFamily="34" charset="0"/>
              </a:rPr>
              <a:t>为字节</a:t>
            </a:r>
            <a:r>
              <a:rPr lang="en-US" altLang="zh-CN" sz="2400" b="1" dirty="0">
                <a:latin typeface="Arial" panose="020B0604020202020204" pitchFamily="34" charset="0"/>
              </a:rPr>
              <a:t>Byte</a:t>
            </a:r>
            <a:r>
              <a:rPr lang="zh-CN" altLang="en-US" sz="2400" b="1" dirty="0">
                <a:latin typeface="Arial" panose="020B0604020202020204" pitchFamily="34" charset="0"/>
              </a:rPr>
              <a:t>（简称为</a:t>
            </a:r>
            <a:r>
              <a:rPr lang="en-US" altLang="zh-CN" sz="2400" b="1" dirty="0">
                <a:latin typeface="Arial" panose="020B0604020202020204" pitchFamily="34" charset="0"/>
              </a:rPr>
              <a:t>B</a:t>
            </a:r>
            <a:r>
              <a:rPr lang="zh-CN" altLang="en-US" sz="2400" b="1" dirty="0">
                <a:latin typeface="Arial" panose="020B0604020202020204" pitchFamily="34" charset="0"/>
              </a:rPr>
              <a:t>），单位还有</a:t>
            </a:r>
            <a:r>
              <a:rPr lang="en-US" altLang="zh-CN" sz="2400" b="1" dirty="0">
                <a:latin typeface="Arial" panose="020B0604020202020204" pitchFamily="34" charset="0"/>
              </a:rPr>
              <a:t>KB</a:t>
            </a:r>
            <a:r>
              <a:rPr lang="zh-CN" altLang="en-US" sz="2400" b="1" dirty="0">
                <a:latin typeface="Arial" panose="020B0604020202020204" pitchFamily="34" charset="0"/>
              </a:rPr>
              <a:t>、</a:t>
            </a:r>
            <a:r>
              <a:rPr lang="en-US" altLang="zh-CN" sz="2400" b="1" dirty="0">
                <a:latin typeface="Arial" panose="020B0604020202020204" pitchFamily="34" charset="0"/>
              </a:rPr>
              <a:t>MB</a:t>
            </a:r>
            <a:r>
              <a:rPr lang="zh-CN" altLang="en-US" sz="2400" b="1" dirty="0">
                <a:latin typeface="Arial" panose="020B0604020202020204" pitchFamily="34" charset="0"/>
              </a:rPr>
              <a:t>、</a:t>
            </a:r>
            <a:r>
              <a:rPr lang="en-US" altLang="zh-CN" sz="2400" b="1" dirty="0">
                <a:latin typeface="Arial" panose="020B0604020202020204" pitchFamily="34" charset="0"/>
              </a:rPr>
              <a:t>GB</a:t>
            </a:r>
            <a:r>
              <a:rPr lang="zh-CN" altLang="en-US" sz="2400" b="1" dirty="0">
                <a:latin typeface="Arial" panose="020B0604020202020204" pitchFamily="34" charset="0"/>
              </a:rPr>
              <a:t>、</a:t>
            </a:r>
            <a:r>
              <a:rPr lang="en-US" altLang="zh-CN" sz="2400" b="1" dirty="0">
                <a:latin typeface="Arial" panose="020B0604020202020204" pitchFamily="34" charset="0"/>
              </a:rPr>
              <a:t>TB</a:t>
            </a:r>
            <a:r>
              <a:rPr lang="zh-CN" altLang="en-US" sz="2400" b="1" dirty="0">
                <a:latin typeface="Arial" panose="020B0604020202020204" pitchFamily="34" charset="0"/>
              </a:rPr>
              <a:t>、</a:t>
            </a:r>
            <a:r>
              <a:rPr lang="en-US" altLang="zh-CN" sz="2400" b="1" dirty="0">
                <a:latin typeface="Arial" panose="020B0604020202020204" pitchFamily="34" charset="0"/>
              </a:rPr>
              <a:t>PB</a:t>
            </a:r>
            <a:r>
              <a:rPr lang="zh-CN" altLang="en-US" sz="2400" b="1" dirty="0">
                <a:latin typeface="Arial" panose="020B0604020202020204" pitchFamily="34" charset="0"/>
              </a:rPr>
              <a:t>等。关系：</a:t>
            </a:r>
            <a:r>
              <a:rPr lang="en-US" altLang="zh-CN" sz="2400" b="1" dirty="0">
                <a:latin typeface="Arial" panose="020B0604020202020204" pitchFamily="34" charset="0"/>
              </a:rPr>
              <a:t>1KB=2</a:t>
            </a:r>
            <a:r>
              <a:rPr lang="en-US" altLang="zh-CN" sz="2400" b="1" baseline="30000" dirty="0">
                <a:latin typeface="Arial" panose="020B0604020202020204" pitchFamily="34" charset="0"/>
              </a:rPr>
              <a:t>10</a:t>
            </a:r>
            <a:r>
              <a:rPr lang="en-US" altLang="zh-CN" sz="2400" b="1" dirty="0">
                <a:latin typeface="Arial" panose="020B0604020202020204" pitchFamily="34" charset="0"/>
              </a:rPr>
              <a:t>B</a:t>
            </a:r>
            <a:r>
              <a:rPr lang="zh-CN" altLang="en-US" sz="2400" b="1" dirty="0">
                <a:latin typeface="Arial" panose="020B0604020202020204" pitchFamily="34" charset="0"/>
              </a:rPr>
              <a:t>，</a:t>
            </a:r>
            <a:r>
              <a:rPr lang="en-US" altLang="zh-CN" sz="2400" b="1" dirty="0">
                <a:latin typeface="Arial" panose="020B0604020202020204" pitchFamily="34" charset="0"/>
              </a:rPr>
              <a:t>1MB=2</a:t>
            </a:r>
            <a:r>
              <a:rPr lang="en-US" altLang="zh-CN" sz="2400" b="1" baseline="30000" dirty="0">
                <a:latin typeface="Arial" panose="020B0604020202020204" pitchFamily="34" charset="0"/>
              </a:rPr>
              <a:t>10</a:t>
            </a:r>
            <a:r>
              <a:rPr lang="en-US" altLang="zh-CN" sz="2400" b="1" dirty="0">
                <a:latin typeface="Arial" panose="020B0604020202020204" pitchFamily="34" charset="0"/>
              </a:rPr>
              <a:t>KB</a:t>
            </a:r>
            <a:r>
              <a:rPr lang="zh-CN" altLang="en-US" sz="2400" b="1" dirty="0">
                <a:latin typeface="Arial" panose="020B0604020202020204" pitchFamily="34" charset="0"/>
              </a:rPr>
              <a:t>，</a:t>
            </a:r>
            <a:r>
              <a:rPr lang="en-US" altLang="zh-CN" sz="2400" b="1" dirty="0">
                <a:latin typeface="Arial" panose="020B0604020202020204" pitchFamily="34" charset="0"/>
              </a:rPr>
              <a:t>1GB=2</a:t>
            </a:r>
            <a:r>
              <a:rPr lang="en-US" altLang="zh-CN" sz="2400" b="1" baseline="30000" dirty="0">
                <a:latin typeface="Arial" panose="020B0604020202020204" pitchFamily="34" charset="0"/>
              </a:rPr>
              <a:t>10</a:t>
            </a:r>
            <a:r>
              <a:rPr lang="en-US" altLang="zh-CN" sz="2400" b="1" dirty="0">
                <a:latin typeface="Arial" panose="020B0604020202020204" pitchFamily="34" charset="0"/>
              </a:rPr>
              <a:t>MB</a:t>
            </a:r>
            <a:r>
              <a:rPr lang="zh-CN" altLang="en-US" sz="2400" b="1" dirty="0">
                <a:latin typeface="Arial" panose="020B0604020202020204" pitchFamily="34" charset="0"/>
              </a:rPr>
              <a:t>，</a:t>
            </a:r>
            <a:r>
              <a:rPr lang="en-US" altLang="zh-CN" sz="2400" b="1" dirty="0">
                <a:latin typeface="Arial" panose="020B0604020202020204" pitchFamily="34" charset="0"/>
              </a:rPr>
              <a:t>1TB=2</a:t>
            </a:r>
            <a:r>
              <a:rPr lang="en-US" altLang="zh-CN" sz="2400" b="1" baseline="30000" dirty="0">
                <a:latin typeface="Arial" panose="020B0604020202020204" pitchFamily="34" charset="0"/>
              </a:rPr>
              <a:t>10</a:t>
            </a:r>
            <a:r>
              <a:rPr lang="en-US" altLang="zh-CN" sz="2400" b="1" dirty="0">
                <a:latin typeface="Arial" panose="020B0604020202020204" pitchFamily="34" charset="0"/>
              </a:rPr>
              <a:t>GB</a:t>
            </a:r>
            <a:r>
              <a:rPr lang="zh-CN" altLang="en-US" sz="2400" b="1" dirty="0">
                <a:latin typeface="Arial" panose="020B0604020202020204" pitchFamily="34" charset="0"/>
              </a:rPr>
              <a:t>，</a:t>
            </a:r>
            <a:r>
              <a:rPr lang="en-US" altLang="zh-CN" sz="2400" b="1" dirty="0">
                <a:latin typeface="Arial" panose="020B0604020202020204" pitchFamily="34" charset="0"/>
              </a:rPr>
              <a:t>1PB=2</a:t>
            </a:r>
            <a:r>
              <a:rPr lang="en-US" altLang="zh-CN" sz="2400" b="1" baseline="30000" dirty="0">
                <a:latin typeface="Arial" panose="020B0604020202020204" pitchFamily="34" charset="0"/>
              </a:rPr>
              <a:t>10</a:t>
            </a:r>
            <a:r>
              <a:rPr lang="en-US" altLang="zh-CN" sz="2400" b="1" dirty="0">
                <a:latin typeface="Arial" panose="020B0604020202020204" pitchFamily="34" charset="0"/>
              </a:rPr>
              <a:t>TB </a:t>
            </a:r>
            <a:endParaRPr lang="zh-CN" altLang="en-US" sz="2400" b="1" dirty="0">
              <a:latin typeface="Arial" panose="020B0604020202020204" pitchFamily="34" charset="0"/>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文本框 22835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8356" name="文本框 228355"/>
          <p:cNvSpPr txBox="1"/>
          <p:nvPr/>
        </p:nvSpPr>
        <p:spPr>
          <a:xfrm>
            <a:off x="238179" y="1124744"/>
            <a:ext cx="8642350" cy="4503797"/>
          </a:xfrm>
          <a:prstGeom prst="rect">
            <a:avLst/>
          </a:prstGeom>
          <a:noFill/>
          <a:ln w="9525">
            <a:noFill/>
          </a:ln>
        </p:spPr>
        <p:txBody>
          <a:bodyPr>
            <a:spAutoFit/>
          </a:bodyPr>
          <a:lstStyle/>
          <a:p>
            <a:pPr lvl="0">
              <a:buClrTx/>
            </a:pPr>
            <a:r>
              <a:rPr lang="en-US" altLang="zh-CN" sz="2400" b="1" dirty="0">
                <a:solidFill>
                  <a:srgbClr val="0000CC"/>
                </a:solidFill>
              </a:rPr>
              <a:t>3</a:t>
            </a:r>
            <a:r>
              <a:rPr lang="zh-CN" altLang="en-US" sz="2400" b="1" dirty="0">
                <a:solidFill>
                  <a:srgbClr val="0000CC"/>
                </a:solidFill>
              </a:rPr>
              <a:t>、运算速度</a:t>
            </a:r>
            <a:endParaRPr lang="zh-CN" altLang="en-US" sz="2400" b="1" dirty="0">
              <a:solidFill>
                <a:srgbClr val="0000CC"/>
              </a:solidFill>
            </a:endParaRPr>
          </a:p>
          <a:p>
            <a:pPr lvl="0">
              <a:buClrTx/>
            </a:pPr>
            <a:r>
              <a:rPr lang="zh-CN" altLang="en-US" sz="2400" b="1" dirty="0">
                <a:latin typeface="Arial" panose="020B0604020202020204" pitchFamily="34" charset="0"/>
              </a:rPr>
              <a:t>每秒钟所能执行的指令条数，对运算速度的描述有不同的方法</a:t>
            </a:r>
            <a:endParaRPr lang="zh-CN" altLang="en-US" sz="2400" b="1" dirty="0">
              <a:latin typeface="Arial" panose="020B0604020202020204" pitchFamily="34" charset="0"/>
            </a:endParaRPr>
          </a:p>
          <a:p>
            <a:r>
              <a:rPr lang="en-US" altLang="zh-CN" sz="2400" b="1" dirty="0">
                <a:solidFill>
                  <a:srgbClr val="0000CC"/>
                </a:solidFill>
              </a:rPr>
              <a:t>4</a:t>
            </a:r>
            <a:r>
              <a:rPr lang="zh-CN" altLang="en-US" sz="2400" b="1" dirty="0">
                <a:solidFill>
                  <a:srgbClr val="0000CC"/>
                </a:solidFill>
              </a:rPr>
              <a:t>、存取时间和存取周期</a:t>
            </a:r>
            <a:endParaRPr lang="zh-CN" altLang="en-US" sz="2400" b="1" dirty="0">
              <a:solidFill>
                <a:srgbClr val="0000CC"/>
              </a:solidFill>
            </a:endParaRPr>
          </a:p>
          <a:p>
            <a:pPr>
              <a:lnSpc>
                <a:spcPts val="4000"/>
              </a:lnSpc>
            </a:pPr>
            <a:r>
              <a:rPr lang="zh-CN" altLang="en-US" sz="2400" b="1" dirty="0">
                <a:solidFill>
                  <a:srgbClr val="FF00FF"/>
                </a:solidFill>
                <a:latin typeface="Arial" panose="020B0604020202020204" pitchFamily="34" charset="0"/>
                <a:ea typeface="宋体" panose="02010600030101010101" pitchFamily="2" charset="-122"/>
              </a:rPr>
              <a:t>存取时间</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rPr>
              <a:t>从内存储器接收到</a:t>
            </a:r>
            <a:r>
              <a:rPr lang="en-US" altLang="zh-CN" sz="2400" b="1" dirty="0">
                <a:latin typeface="Arial" panose="020B0604020202020204" pitchFamily="34" charset="0"/>
              </a:rPr>
              <a:t>CPU</a:t>
            </a:r>
            <a:r>
              <a:rPr lang="zh-CN" altLang="en-US" sz="2400" b="1" dirty="0">
                <a:latin typeface="Arial" panose="020B0604020202020204" pitchFamily="34" charset="0"/>
              </a:rPr>
              <a:t>发来的读</a:t>
            </a:r>
            <a:r>
              <a:rPr lang="en-US" altLang="zh-CN" sz="2400" b="1" dirty="0">
                <a:latin typeface="Arial" panose="020B0604020202020204" pitchFamily="34" charset="0"/>
              </a:rPr>
              <a:t>/</a:t>
            </a:r>
            <a:r>
              <a:rPr lang="zh-CN" altLang="en-US" sz="2400" b="1" dirty="0">
                <a:latin typeface="Arial" panose="020B0604020202020204" pitchFamily="34" charset="0"/>
              </a:rPr>
              <a:t>写操作命令到数据被读出或写入完成所需要的时间；</a:t>
            </a:r>
            <a:endParaRPr lang="zh-CN" altLang="en-US" sz="2400" b="1" dirty="0">
              <a:latin typeface="Arial" panose="020B0604020202020204" pitchFamily="34" charset="0"/>
            </a:endParaRPr>
          </a:p>
          <a:p>
            <a:pPr lvl="0">
              <a:lnSpc>
                <a:spcPts val="4000"/>
              </a:lnSpc>
              <a:buClrTx/>
            </a:pPr>
            <a:r>
              <a:rPr lang="zh-CN" altLang="en-US" sz="2400" b="1" dirty="0">
                <a:solidFill>
                  <a:srgbClr val="FF00FF"/>
                </a:solidFill>
                <a:latin typeface="Arial" panose="020B0604020202020204" pitchFamily="34" charset="0"/>
              </a:rPr>
              <a:t>存取周期</a:t>
            </a:r>
            <a:r>
              <a:rPr lang="zh-CN" altLang="en-US" sz="2400" b="1" dirty="0">
                <a:latin typeface="Arial" panose="020B0604020202020204" pitchFamily="34" charset="0"/>
                <a:ea typeface="宋体" panose="02010600030101010101" pitchFamily="2" charset="-122"/>
              </a:rPr>
              <a:t>（读</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写周期）：在存储器连续读</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写过程中一次完整的存取操作所需的时间，或者说是</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连续两次访问存储器的最小时间间隔</a:t>
            </a:r>
            <a:endParaRPr lang="zh-CN" altLang="en-US" sz="2400" b="1" dirty="0">
              <a:latin typeface="Arial" panose="020B0604020202020204" pitchFamily="34" charset="0"/>
              <a:ea typeface="宋体" panose="02010600030101010101" pitchFamily="2" charset="-122"/>
            </a:endParaRPr>
          </a:p>
          <a:p>
            <a:pPr lvl="0">
              <a:buClrTx/>
            </a:pPr>
            <a:r>
              <a:rPr lang="en-US" altLang="zh-CN" sz="2400" b="1" dirty="0">
                <a:solidFill>
                  <a:srgbClr val="0000CC"/>
                </a:solidFill>
              </a:rPr>
              <a:t>5</a:t>
            </a:r>
            <a:r>
              <a:rPr lang="zh-CN" altLang="en-US" sz="2400" b="1" dirty="0">
                <a:solidFill>
                  <a:srgbClr val="0000CC"/>
                </a:solidFill>
              </a:rPr>
              <a:t>、可靠性和可维护性 </a:t>
            </a:r>
            <a:endParaRPr lang="zh-CN" altLang="en-US" sz="2400" b="1" dirty="0">
              <a:solidFill>
                <a:srgbClr val="0000CC"/>
              </a:solidFill>
            </a:endParaRPr>
          </a:p>
          <a:p>
            <a:r>
              <a:rPr lang="en-US" altLang="zh-CN" sz="2400" b="1" dirty="0">
                <a:solidFill>
                  <a:srgbClr val="0000CC"/>
                </a:solidFill>
              </a:rPr>
              <a:t>6</a:t>
            </a:r>
            <a:r>
              <a:rPr lang="zh-CN" altLang="en-US" sz="2400" b="1" dirty="0">
                <a:solidFill>
                  <a:srgbClr val="0000CC"/>
                </a:solidFill>
              </a:rPr>
              <a:t>、性能价格比</a:t>
            </a:r>
            <a:endParaRPr lang="zh-CN" altLang="en-US" sz="2400" b="1" dirty="0">
              <a:solidFill>
                <a:srgbClr val="0000CC"/>
              </a:solidFill>
            </a:endParaRPr>
          </a:p>
        </p:txBody>
      </p:sp>
      <p:sp>
        <p:nvSpPr>
          <p:cNvPr id="5" name="标题 220161"/>
          <p:cNvSpPr txBox="1"/>
          <p:nvPr/>
        </p:nvSpPr>
        <p:spPr>
          <a:xfrm>
            <a:off x="1547664" y="221335"/>
            <a:ext cx="5687665"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1.2  </a:t>
            </a:r>
            <a:r>
              <a:rPr lang="zh-CN" altLang="en-US" sz="3200" b="1" smtClean="0">
                <a:solidFill>
                  <a:srgbClr val="FF0000"/>
                </a:solidFill>
                <a:ea typeface="隶书" panose="02010509060101010101" pitchFamily="49" charset="-122"/>
              </a:rPr>
              <a:t>微型计算机系统的组成</a:t>
            </a:r>
            <a:r>
              <a:rPr lang="zh-CN" altLang="en-US" sz="4000" smtClean="0"/>
              <a:t> </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9378"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
        <p:nvSpPr>
          <p:cNvPr id="229379" name="文本框 22937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9380" name="文本框 229379"/>
          <p:cNvSpPr txBox="1"/>
          <p:nvPr/>
        </p:nvSpPr>
        <p:spPr>
          <a:xfrm>
            <a:off x="250825" y="908050"/>
            <a:ext cx="3817119" cy="461665"/>
          </a:xfrm>
          <a:prstGeom prst="rect">
            <a:avLst/>
          </a:prstGeom>
          <a:noFill/>
          <a:ln w="9525">
            <a:noFill/>
          </a:ln>
        </p:spPr>
        <p:txBody>
          <a:bodyPr wrap="square">
            <a:spAutoFit/>
          </a:bodyPr>
          <a:lstStyle/>
          <a:p>
            <a:pPr lvl="0">
              <a:buClrTx/>
            </a:pPr>
            <a:r>
              <a:rPr lang="zh-CN" altLang="en-US" sz="2400" b="1" dirty="0">
                <a:solidFill>
                  <a:srgbClr val="0000FF"/>
                </a:solidFill>
              </a:rPr>
              <a:t>一、计算机中的常用数制 </a:t>
            </a:r>
            <a:endParaRPr lang="zh-CN" altLang="en-US" sz="2400" b="1" dirty="0">
              <a:solidFill>
                <a:srgbClr val="0000FF"/>
              </a:solidFill>
            </a:endParaRPr>
          </a:p>
        </p:txBody>
      </p:sp>
      <p:sp>
        <p:nvSpPr>
          <p:cNvPr id="229381" name="矩形 229380"/>
          <p:cNvSpPr/>
          <p:nvPr/>
        </p:nvSpPr>
        <p:spPr>
          <a:xfrm>
            <a:off x="228600" y="1412875"/>
            <a:ext cx="8642350" cy="338455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None/>
            </a:pPr>
            <a:r>
              <a:rPr lang="en-US" altLang="zh-CN" sz="2400" b="1" dirty="0">
                <a:solidFill>
                  <a:srgbClr val="0000CC"/>
                </a:solidFill>
                <a:latin typeface="Times New Roman" panose="02020603050405020304" pitchFamily="18" charset="0"/>
              </a:rPr>
              <a:t>1</a:t>
            </a:r>
            <a:r>
              <a:rPr lang="zh-CN" altLang="en-US" sz="2400" b="1" dirty="0">
                <a:solidFill>
                  <a:srgbClr val="0000CC"/>
                </a:solidFill>
                <a:latin typeface="Times New Roman" panose="02020603050405020304" pitchFamily="18" charset="0"/>
              </a:rPr>
              <a:t>、有关概念</a:t>
            </a:r>
            <a:endParaRPr lang="zh-CN" altLang="en-US" sz="2400" b="1" dirty="0">
              <a:solidFill>
                <a:srgbClr val="0000CC"/>
              </a:solidFill>
              <a:latin typeface="Times New Roman" panose="02020603050405020304" pitchFamily="18" charset="0"/>
            </a:endParaRPr>
          </a:p>
          <a:p>
            <a:pPr marL="0" lvl="0" indent="0">
              <a:buNone/>
            </a:pPr>
            <a:r>
              <a:rPr lang="zh-CN" altLang="en-US" sz="2400" b="1" dirty="0">
                <a:solidFill>
                  <a:srgbClr val="6600FF"/>
                </a:solidFill>
                <a:latin typeface="宋体" panose="02010600030101010101" pitchFamily="2" charset="-122"/>
              </a:rPr>
              <a:t>数制</a:t>
            </a:r>
            <a:r>
              <a:rPr lang="zh-CN" altLang="en-US" sz="2400" b="1" dirty="0">
                <a:latin typeface="宋体" panose="02010600030101010101" pitchFamily="2" charset="-122"/>
              </a:rPr>
              <a:t>：</a:t>
            </a:r>
            <a:r>
              <a:rPr lang="zh-CN" altLang="en-US" sz="2400" b="1" dirty="0"/>
              <a:t>用一组</a:t>
            </a:r>
            <a:r>
              <a:rPr lang="zh-CN" altLang="en-US" sz="2400" b="1" dirty="0">
                <a:solidFill>
                  <a:srgbClr val="FF0000"/>
                </a:solidFill>
              </a:rPr>
              <a:t>数字</a:t>
            </a:r>
            <a:r>
              <a:rPr lang="zh-CN" altLang="en-US" sz="2400" b="1" dirty="0"/>
              <a:t>与</a:t>
            </a:r>
            <a:r>
              <a:rPr lang="zh-CN" altLang="en-US" sz="2400" b="1" dirty="0">
                <a:solidFill>
                  <a:srgbClr val="FF0000"/>
                </a:solidFill>
                <a:sym typeface="Arial" panose="020B0604020202020204" pitchFamily="34" charset="0"/>
              </a:rPr>
              <a:t>统一的规则</a:t>
            </a:r>
            <a:r>
              <a:rPr lang="zh-CN" altLang="en-US" sz="2400" b="1" dirty="0"/>
              <a:t>来表示数的方法。</a:t>
            </a:r>
            <a:endParaRPr lang="zh-CN" altLang="en-US" sz="2400" b="1" dirty="0">
              <a:latin typeface="宋体" panose="02010600030101010101" pitchFamily="2" charset="-122"/>
            </a:endParaRPr>
          </a:p>
          <a:p>
            <a:pPr marL="0" lvl="0" indent="0">
              <a:buClr>
                <a:srgbClr val="FFFF66"/>
              </a:buClr>
              <a:buNone/>
            </a:pPr>
            <a:r>
              <a:rPr lang="zh-CN" altLang="en-US" sz="2400" b="1" dirty="0">
                <a:solidFill>
                  <a:srgbClr val="6600FF"/>
                </a:solidFill>
                <a:latin typeface="宋体" panose="02010600030101010101" pitchFamily="2" charset="-122"/>
              </a:rPr>
              <a:t>十进制</a:t>
            </a:r>
            <a:r>
              <a:rPr lang="en-US" altLang="zh-CN" sz="2400" b="1" dirty="0">
                <a:latin typeface="宋体" panose="02010600030101010101" pitchFamily="2" charset="-122"/>
              </a:rPr>
              <a:t>—</a:t>
            </a:r>
            <a:r>
              <a:rPr lang="zh-CN" altLang="en-US" sz="2400" b="1" dirty="0">
                <a:latin typeface="宋体" panose="02010600030101010101" pitchFamily="2" charset="-122"/>
              </a:rPr>
              <a:t>十进制的数符集中有</a:t>
            </a:r>
            <a:r>
              <a:rPr lang="en-US" altLang="zh-CN" sz="2400" b="1" dirty="0">
                <a:latin typeface="宋体" panose="02010600030101010101" pitchFamily="2" charset="-122"/>
              </a:rPr>
              <a:t>10</a:t>
            </a:r>
            <a:r>
              <a:rPr lang="zh-CN" altLang="en-US" sz="2400" b="1" dirty="0">
                <a:latin typeface="宋体" panose="02010600030101010101" pitchFamily="2" charset="-122"/>
              </a:rPr>
              <a:t>个符号：</a:t>
            </a:r>
            <a:r>
              <a:rPr lang="en-US" altLang="zh-CN" sz="2400" b="1" dirty="0" smtClean="0">
                <a:latin typeface="宋体" panose="02010600030101010101" pitchFamily="2" charset="-122"/>
              </a:rPr>
              <a:t>0,1,2,3,4,5,6,7,8,9</a:t>
            </a:r>
            <a:r>
              <a:rPr lang="en-US" altLang="zh-CN" sz="2400" b="1" dirty="0">
                <a:latin typeface="宋体" panose="02010600030101010101" pitchFamily="2" charset="-122"/>
              </a:rPr>
              <a:t>,</a:t>
            </a:r>
            <a:r>
              <a:rPr lang="zh-CN" altLang="en-US" sz="2400" b="1" dirty="0">
                <a:latin typeface="宋体" panose="02010600030101010101" pitchFamily="2" charset="-122"/>
              </a:rPr>
              <a:t>符合人们的习惯</a:t>
            </a:r>
            <a:r>
              <a:rPr lang="en-US" altLang="zh-CN" sz="2400" b="1" dirty="0">
                <a:latin typeface="宋体" panose="02010600030101010101" pitchFamily="2" charset="-122"/>
              </a:rPr>
              <a:t>.</a:t>
            </a:r>
            <a:endParaRPr lang="en-US" altLang="zh-CN" sz="2400" b="1" dirty="0">
              <a:latin typeface="宋体" panose="02010600030101010101" pitchFamily="2" charset="-122"/>
            </a:endParaRPr>
          </a:p>
          <a:p>
            <a:pPr marL="0" lvl="0" indent="0">
              <a:buClr>
                <a:srgbClr val="FFFF66"/>
              </a:buClr>
              <a:buNone/>
            </a:pPr>
            <a:r>
              <a:rPr lang="zh-CN" altLang="en-US" sz="2400" b="1" dirty="0">
                <a:solidFill>
                  <a:srgbClr val="6600FF"/>
                </a:solidFill>
                <a:latin typeface="宋体" panose="02010600030101010101" pitchFamily="2" charset="-122"/>
              </a:rPr>
              <a:t>二进制</a:t>
            </a:r>
            <a:r>
              <a:rPr lang="en-US" altLang="zh-CN" sz="2400" b="1" dirty="0">
                <a:latin typeface="宋体" panose="02010600030101010101" pitchFamily="2" charset="-122"/>
              </a:rPr>
              <a:t>—0</a:t>
            </a:r>
            <a:r>
              <a:rPr lang="zh-CN" altLang="en-US" sz="2400" b="1" dirty="0">
                <a:latin typeface="宋体" panose="02010600030101010101" pitchFamily="2" charset="-122"/>
              </a:rPr>
              <a:t>和</a:t>
            </a:r>
            <a:r>
              <a:rPr lang="en-US" altLang="zh-CN" sz="2400" b="1" dirty="0">
                <a:latin typeface="宋体" panose="02010600030101010101" pitchFamily="2" charset="-122"/>
              </a:rPr>
              <a:t>1</a:t>
            </a:r>
            <a:r>
              <a:rPr lang="zh-CN" altLang="en-US" sz="2400" b="1" dirty="0">
                <a:latin typeface="宋体" panose="02010600030101010101" pitchFamily="2" charset="-122"/>
              </a:rPr>
              <a:t>。</a:t>
            </a:r>
            <a:r>
              <a:rPr lang="zh-CN" altLang="en-US" sz="2400" b="1" dirty="0"/>
              <a:t>二进制数是计算机内部采用的，并</a:t>
            </a:r>
            <a:r>
              <a:rPr lang="zh-CN" altLang="en-US" sz="2400" b="1" dirty="0">
                <a:solidFill>
                  <a:srgbClr val="FF00FF"/>
                </a:solidFill>
              </a:rPr>
              <a:t>唯一能够直接被计算机识别</a:t>
            </a:r>
            <a:r>
              <a:rPr lang="zh-CN" altLang="en-US" sz="2400" b="1" dirty="0"/>
              <a:t>的数。</a:t>
            </a:r>
            <a:r>
              <a:rPr lang="zh-CN" altLang="en-US" sz="2400" b="1" dirty="0">
                <a:latin typeface="宋体" panose="02010600030101010101" pitchFamily="2" charset="-122"/>
              </a:rPr>
              <a:t>便于物理实现，便于运算</a:t>
            </a:r>
            <a:r>
              <a:rPr lang="en-US" altLang="zh-CN" sz="2400" b="1" dirty="0">
                <a:latin typeface="宋体" panose="02010600030101010101" pitchFamily="2" charset="-122"/>
              </a:rPr>
              <a:t>. </a:t>
            </a:r>
            <a:endParaRPr lang="en-US" altLang="zh-CN" sz="2400" b="1" dirty="0">
              <a:latin typeface="宋体" panose="02010600030101010101" pitchFamily="2" charset="-122"/>
            </a:endParaRPr>
          </a:p>
          <a:p>
            <a:pPr marL="0" lvl="0" indent="0">
              <a:buClr>
                <a:srgbClr val="FFFF66"/>
              </a:buClr>
              <a:buNone/>
            </a:pPr>
            <a:r>
              <a:rPr lang="zh-CN" altLang="en-US" sz="2400" b="1" dirty="0">
                <a:solidFill>
                  <a:srgbClr val="6600FF"/>
                </a:solidFill>
                <a:latin typeface="宋体" panose="02010600030101010101" pitchFamily="2" charset="-122"/>
              </a:rPr>
              <a:t>十六进制</a:t>
            </a:r>
            <a:r>
              <a:rPr lang="en-US" altLang="zh-CN" sz="2400" b="1" dirty="0">
                <a:latin typeface="宋体" panose="02010600030101010101" pitchFamily="2" charset="-122"/>
              </a:rPr>
              <a:t>—16</a:t>
            </a:r>
            <a:r>
              <a:rPr lang="zh-CN" altLang="en-US" sz="2400" b="1" dirty="0">
                <a:latin typeface="宋体" panose="02010600030101010101" pitchFamily="2" charset="-122"/>
              </a:rPr>
              <a:t>个符号：</a:t>
            </a:r>
            <a:r>
              <a:rPr lang="en-US" altLang="zh-CN" sz="2400" b="1" dirty="0">
                <a:latin typeface="宋体" panose="02010600030101010101" pitchFamily="2" charset="-122"/>
              </a:rPr>
              <a:t>0,1,2,3,4,5,6,7,8,9,A,B,C,D,E,F</a:t>
            </a:r>
            <a:endParaRPr lang="en-US" altLang="zh-CN" sz="2400" b="1" dirty="0">
              <a:latin typeface="宋体" panose="02010600030101010101" pitchFamily="2" charset="-122"/>
            </a:endParaRPr>
          </a:p>
          <a:p>
            <a:pPr marL="0" lvl="0" indent="0">
              <a:buClr>
                <a:srgbClr val="FFFF66"/>
              </a:buClr>
              <a:buNone/>
            </a:pPr>
            <a:r>
              <a:rPr lang="zh-CN" altLang="en-US" sz="2400" b="1" dirty="0">
                <a:latin typeface="宋体" panose="02010600030101010101" pitchFamily="2" charset="-122"/>
              </a:rPr>
              <a:t>便于识别、书写。</a:t>
            </a:r>
            <a:r>
              <a:rPr lang="zh-CN" altLang="en-US" sz="2400" b="1" dirty="0"/>
              <a:t>引入十六进制数的目的是为了</a:t>
            </a:r>
            <a:r>
              <a:rPr lang="zh-CN" altLang="en-US" sz="2400" b="1" dirty="0">
                <a:solidFill>
                  <a:srgbClr val="FF00FF"/>
                </a:solidFill>
              </a:rPr>
              <a:t>描述二进制数</a:t>
            </a:r>
            <a:endParaRPr lang="zh-CN" altLang="en-US" sz="2400" b="1" dirty="0">
              <a:latin typeface="宋体" panose="02010600030101010101" pitchFamily="2" charset="-122"/>
            </a:endParaRPr>
          </a:p>
        </p:txBody>
      </p:sp>
      <p:sp>
        <p:nvSpPr>
          <p:cNvPr id="229382" name="文本框 229381"/>
          <p:cNvSpPr txBox="1"/>
          <p:nvPr/>
        </p:nvSpPr>
        <p:spPr>
          <a:xfrm>
            <a:off x="179388" y="4751388"/>
            <a:ext cx="8642350" cy="1569660"/>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思考</a:t>
            </a:r>
            <a:r>
              <a:rPr lang="zh-CN" altLang="en-US" sz="1800" dirty="0">
                <a:latin typeface="Arial" panose="020B0604020202020204" pitchFamily="34" charset="0"/>
                <a:ea typeface="宋体" panose="02010600030101010101" pitchFamily="2" charset="-122"/>
              </a:rPr>
              <a:t>：</a:t>
            </a:r>
            <a:endParaRPr lang="zh-CN" altLang="en-US" sz="1800" dirty="0">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十六进制数与二进制数间关系</a:t>
            </a:r>
            <a:r>
              <a:rPr lang="zh-CN" altLang="en-US" sz="1800" dirty="0">
                <a:latin typeface="Arial" panose="020B0604020202020204" pitchFamily="34" charset="0"/>
                <a:ea typeface="宋体" panose="02010600030101010101" pitchFamily="2" charset="-122"/>
              </a:rPr>
              <a:t>；</a:t>
            </a:r>
            <a:endParaRPr lang="zh-CN" altLang="en-US" sz="1800" dirty="0">
              <a:latin typeface="Arial" panose="020B0604020202020204" pitchFamily="34" charset="0"/>
              <a:ea typeface="宋体" panose="02010600030101010101" pitchFamily="2" charset="-122"/>
            </a:endParaRPr>
          </a:p>
          <a:p>
            <a:pPr lvl="0">
              <a:buClrTx/>
            </a:pPr>
            <a:r>
              <a:rPr lang="zh-CN" altLang="en-US" sz="2400" b="1" dirty="0">
                <a:solidFill>
                  <a:srgbClr val="0000FF"/>
                </a:solidFill>
                <a:latin typeface="Arial" panose="020B0604020202020204" pitchFamily="34" charset="0"/>
                <a:ea typeface="宋体" panose="02010600030101010101" pitchFamily="2" charset="-122"/>
              </a:rPr>
              <a:t>注意</a:t>
            </a:r>
            <a:r>
              <a:rPr lang="zh-CN" altLang="en-US" sz="1800" dirty="0">
                <a:latin typeface="Arial" panose="020B0604020202020204" pitchFamily="34" charset="0"/>
                <a:ea typeface="宋体" panose="02010600030101010101" pitchFamily="2" charset="-122"/>
              </a:rPr>
              <a:t>：</a:t>
            </a:r>
            <a:endParaRPr lang="zh-CN" altLang="en-US" sz="1800" dirty="0">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以符号打头的十六进制数，</a:t>
            </a:r>
            <a:r>
              <a:rPr lang="zh-CN" altLang="en-US" sz="2400" b="1" dirty="0" smtClean="0">
                <a:latin typeface="Arial" panose="020B0604020202020204" pitchFamily="34" charset="0"/>
                <a:ea typeface="宋体" panose="02010600030101010101" pitchFamily="2" charset="-122"/>
              </a:rPr>
              <a:t>在指令中</a:t>
            </a:r>
            <a:r>
              <a:rPr lang="zh-CN" altLang="en-US" sz="2400" b="1" dirty="0">
                <a:latin typeface="Arial" panose="020B0604020202020204" pitchFamily="34" charset="0"/>
                <a:ea typeface="宋体" panose="02010600030101010101" pitchFamily="2" charset="-122"/>
              </a:rPr>
              <a:t>前面</a:t>
            </a:r>
            <a:r>
              <a:rPr lang="zh-CN" altLang="en-US" sz="2400" b="1" dirty="0" smtClean="0">
                <a:latin typeface="Arial" panose="020B0604020202020204" pitchFamily="34" charset="0"/>
                <a:ea typeface="宋体" panose="02010600030101010101" pitchFamily="2" charset="-122"/>
              </a:rPr>
              <a:t>必须补加</a:t>
            </a:r>
            <a:r>
              <a:rPr lang="en-US" altLang="zh-CN" sz="2400" b="1" dirty="0">
                <a:latin typeface="Arial" panose="020B0604020202020204" pitchFamily="34" charset="0"/>
                <a:ea typeface="宋体" panose="02010600030101010101" pitchFamily="2" charset="-122"/>
              </a:rPr>
              <a:t>0</a:t>
            </a:r>
            <a:endParaRPr lang="zh-CN" altLang="en-US" sz="2400" b="1" dirty="0">
              <a:solidFill>
                <a:srgbClr val="FF00FF"/>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0403" name="文本框 23040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30405" name="矩形 230404"/>
          <p:cNvSpPr/>
          <p:nvPr/>
        </p:nvSpPr>
        <p:spPr>
          <a:xfrm>
            <a:off x="323850" y="1052513"/>
            <a:ext cx="8640763" cy="3378200"/>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基数</a:t>
            </a:r>
            <a:r>
              <a:rPr lang="zh-CN" altLang="en-US" sz="2400" b="1" dirty="0">
                <a:latin typeface="Arial" panose="020B0604020202020204" pitchFamily="34" charset="0"/>
                <a:ea typeface="宋体" panose="02010600030101010101" pitchFamily="2" charset="-122"/>
              </a:rPr>
              <a:t>：指这个计数系统中采用</a:t>
            </a:r>
            <a:r>
              <a:rPr lang="zh-CN" altLang="en-US" sz="2400" b="1" dirty="0">
                <a:solidFill>
                  <a:srgbClr val="FF0000"/>
                </a:solidFill>
                <a:latin typeface="Arial" panose="020B0604020202020204" pitchFamily="34" charset="0"/>
                <a:ea typeface="宋体" panose="02010600030101010101" pitchFamily="2" charset="-122"/>
              </a:rPr>
              <a:t>多少个</a:t>
            </a:r>
            <a:r>
              <a:rPr lang="zh-CN" altLang="en-US" sz="2400" b="1" dirty="0">
                <a:latin typeface="Arial" panose="020B0604020202020204" pitchFamily="34" charset="0"/>
                <a:ea typeface="宋体" panose="02010600030101010101" pitchFamily="2" charset="-122"/>
              </a:rPr>
              <a:t>数字符号。</a:t>
            </a:r>
            <a:endParaRPr lang="zh-CN" altLang="en-US" sz="2400" b="1" dirty="0">
              <a:latin typeface="Arial" panose="020B0604020202020204" pitchFamily="34" charset="0"/>
              <a:ea typeface="宋体" panose="02010600030101010101" pitchFamily="2" charset="-122"/>
            </a:endParaRPr>
          </a:p>
          <a:p>
            <a:pPr lvl="0">
              <a:buClrTx/>
            </a:pPr>
            <a:r>
              <a:rPr lang="zh-CN" altLang="en-US" sz="2400" b="1" dirty="0">
                <a:solidFill>
                  <a:srgbClr val="0000FF"/>
                </a:solidFill>
                <a:latin typeface="Arial" panose="020B0604020202020204" pitchFamily="34" charset="0"/>
                <a:ea typeface="宋体" panose="02010600030101010101" pitchFamily="2" charset="-122"/>
              </a:rPr>
              <a:t>权</a:t>
            </a:r>
            <a:r>
              <a:rPr lang="zh-CN" altLang="en-US" sz="2400" b="1" dirty="0">
                <a:latin typeface="Arial" panose="020B0604020202020204" pitchFamily="34" charset="0"/>
                <a:ea typeface="宋体" panose="02010600030101010101" pitchFamily="2" charset="-122"/>
              </a:rPr>
              <a:t>：不同的</a:t>
            </a:r>
            <a:r>
              <a:rPr lang="zh-CN" altLang="en-US" sz="2400" b="1" dirty="0">
                <a:solidFill>
                  <a:srgbClr val="FF0000"/>
                </a:solidFill>
                <a:latin typeface="Arial" panose="020B0604020202020204" pitchFamily="34" charset="0"/>
                <a:ea typeface="宋体" panose="02010600030101010101" pitchFamily="2" charset="-122"/>
              </a:rPr>
              <a:t>数位</a:t>
            </a:r>
            <a:r>
              <a:rPr lang="zh-CN" altLang="en-US" sz="2400" b="1" dirty="0">
                <a:latin typeface="Arial" panose="020B0604020202020204" pitchFamily="34" charset="0"/>
                <a:ea typeface="宋体" panose="02010600030101010101" pitchFamily="2" charset="-122"/>
              </a:rPr>
              <a:t>所代表的数值。</a:t>
            </a:r>
            <a:endParaRPr lang="zh-CN" altLang="en-US" sz="2400" b="1" dirty="0">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如果把用</a:t>
            </a:r>
            <a:r>
              <a:rPr lang="en-US" altLang="zh-CN" sz="2400" b="1">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进制书写的一个整数</a:t>
            </a:r>
            <a:r>
              <a:rPr lang="zh-CN" altLang="en-US" sz="2400" b="1" dirty="0">
                <a:solidFill>
                  <a:srgbClr val="FF00FF"/>
                </a:solidFill>
                <a:latin typeface="Arial" panose="020B0604020202020204" pitchFamily="34" charset="0"/>
                <a:ea typeface="宋体" panose="02010600030101010101" pitchFamily="2" charset="-122"/>
              </a:rPr>
              <a:t>从右往左</a:t>
            </a:r>
            <a:r>
              <a:rPr lang="zh-CN" altLang="en-US" sz="2400" b="1" dirty="0">
                <a:latin typeface="Arial" panose="020B0604020202020204" pitchFamily="34" charset="0"/>
                <a:ea typeface="宋体" panose="02010600030101010101" pitchFamily="2" charset="-122"/>
              </a:rPr>
              <a:t>依次记作第</a:t>
            </a:r>
            <a:r>
              <a:rPr lang="en-US" altLang="zh-CN" sz="2400" b="1">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位、第</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位、</a:t>
            </a:r>
            <a:r>
              <a:rPr lang="en-US" altLang="zh-CN" sz="2400" b="1">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、第</a:t>
            </a:r>
            <a:r>
              <a:rPr lang="en-US" altLang="zh-CN" sz="2400" b="1">
                <a:latin typeface="Arial" panose="020B0604020202020204" pitchFamily="34" charset="0"/>
                <a:ea typeface="宋体" panose="02010600030101010101" pitchFamily="2" charset="-122"/>
              </a:rPr>
              <a:t>n</a:t>
            </a:r>
            <a:r>
              <a:rPr lang="zh-CN" altLang="en-US" sz="2400" b="1" dirty="0">
                <a:latin typeface="Arial" panose="020B0604020202020204" pitchFamily="34" charset="0"/>
                <a:ea typeface="宋体" panose="02010600030101010101" pitchFamily="2" charset="-122"/>
              </a:rPr>
              <a:t>位，则第</a:t>
            </a:r>
            <a:r>
              <a:rPr lang="en-US" altLang="zh-CN" sz="2400" b="1">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位上的数符</a:t>
            </a:r>
            <a:r>
              <a:rPr lang="en-US" altLang="zh-CN" sz="2400" b="1" err="1">
                <a:latin typeface="Arial" panose="020B0604020202020204" pitchFamily="34" charset="0"/>
                <a:ea typeface="宋体" panose="02010600030101010101" pitchFamily="2" charset="-122"/>
              </a:rPr>
              <a:t>a</a:t>
            </a:r>
            <a:r>
              <a:rPr lang="en-US" altLang="zh-CN" sz="2400" b="1" baseline="-25000" err="1">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所代表的含义是</a:t>
            </a:r>
            <a:r>
              <a:rPr lang="en-US" altLang="zh-CN" sz="2400" b="1" err="1">
                <a:latin typeface="Arial" panose="020B0604020202020204" pitchFamily="34" charset="0"/>
                <a:ea typeface="宋体" panose="02010600030101010101" pitchFamily="2" charset="-122"/>
              </a:rPr>
              <a:t>a</a:t>
            </a:r>
            <a:r>
              <a:rPr lang="en-US" altLang="zh-CN" sz="2400" b="1" baseline="-25000" err="1">
                <a:latin typeface="Arial" panose="020B0604020202020204" pitchFamily="34" charset="0"/>
                <a:ea typeface="宋体" panose="02010600030101010101" pitchFamily="2" charset="-122"/>
              </a:rPr>
              <a:t>i</a:t>
            </a:r>
            <a:r>
              <a:rPr lang="en-US" altLang="zh-CN" sz="2400" b="1" err="1">
                <a:latin typeface="Arial" panose="020B0604020202020204" pitchFamily="34" charset="0"/>
                <a:ea typeface="宋体" panose="02010600030101010101" pitchFamily="2" charset="-122"/>
              </a:rPr>
              <a:t>×k</a:t>
            </a:r>
            <a:r>
              <a:rPr lang="en-US" altLang="zh-CN" sz="2400" b="1" baseline="30000" err="1">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。在此，我们把</a:t>
            </a:r>
            <a:r>
              <a:rPr lang="en-US" altLang="zh-CN" sz="2400" b="1">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称为一个数制的</a:t>
            </a:r>
            <a:r>
              <a:rPr lang="zh-CN" altLang="en-US" sz="2400" b="1" dirty="0">
                <a:solidFill>
                  <a:srgbClr val="FF00FF"/>
                </a:solidFill>
                <a:latin typeface="Arial" panose="020B0604020202020204" pitchFamily="34" charset="0"/>
                <a:ea typeface="宋体" panose="02010600030101010101" pitchFamily="2" charset="-122"/>
              </a:rPr>
              <a:t>基数</a:t>
            </a:r>
            <a:r>
              <a:rPr lang="zh-CN" altLang="en-US" sz="2400" b="1" dirty="0">
                <a:latin typeface="Arial" panose="020B0604020202020204" pitchFamily="34" charset="0"/>
                <a:ea typeface="宋体" panose="02010600030101010101" pitchFamily="2" charset="-122"/>
              </a:rPr>
              <a:t>，而把</a:t>
            </a:r>
            <a:r>
              <a:rPr lang="en-US" altLang="zh-CN" sz="2400" b="1" err="1">
                <a:latin typeface="Arial" panose="020B0604020202020204" pitchFamily="34" charset="0"/>
                <a:ea typeface="宋体" panose="02010600030101010101" pitchFamily="2" charset="-122"/>
              </a:rPr>
              <a:t>k</a:t>
            </a:r>
            <a:r>
              <a:rPr lang="en-US" altLang="zh-CN" sz="2400" b="1" baseline="30000" err="1">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称为</a:t>
            </a:r>
            <a:r>
              <a:rPr lang="en-US" altLang="zh-CN" sz="2400" b="1">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进制数第</a:t>
            </a:r>
            <a:r>
              <a:rPr lang="en-US" altLang="zh-CN" sz="2400" b="1">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位的</a:t>
            </a:r>
            <a:r>
              <a:rPr lang="zh-CN" altLang="en-US" sz="2400" b="1" dirty="0">
                <a:solidFill>
                  <a:srgbClr val="FF00FF"/>
                </a:solidFill>
                <a:latin typeface="Arial" panose="020B0604020202020204" pitchFamily="34" charset="0"/>
                <a:ea typeface="宋体" panose="02010600030101010101" pitchFamily="2" charset="-122"/>
              </a:rPr>
              <a:t>权</a:t>
            </a:r>
            <a:r>
              <a:rPr lang="zh-CN" altLang="en-US" sz="2400" b="1" dirty="0">
                <a:latin typeface="Arial" panose="020B0604020202020204" pitchFamily="34" charset="0"/>
                <a:ea typeface="宋体" panose="02010600030101010101" pitchFamily="2" charset="-122"/>
              </a:rPr>
              <a:t>。如：</a:t>
            </a:r>
            <a:r>
              <a:rPr lang="en-US" altLang="zh-CN" sz="2400" b="1">
                <a:latin typeface="Arial" panose="020B0604020202020204" pitchFamily="34" charset="0"/>
                <a:ea typeface="宋体" panose="02010600030101010101" pitchFamily="2" charset="-122"/>
              </a:rPr>
              <a:t>10</a:t>
            </a:r>
            <a:r>
              <a:rPr lang="zh-CN" altLang="en-US" sz="2400" b="1" dirty="0">
                <a:latin typeface="Arial" panose="020B0604020202020204" pitchFamily="34" charset="0"/>
                <a:ea typeface="宋体" panose="02010600030101010101" pitchFamily="2" charset="-122"/>
              </a:rPr>
              <a:t>进制数中的</a:t>
            </a:r>
            <a:r>
              <a:rPr lang="zh-CN" altLang="en-US" sz="2400" dirty="0">
                <a:latin typeface="Arial" panose="020B0604020202020204" pitchFamily="34" charset="0"/>
                <a:ea typeface="宋体" panose="02010600030101010101" pitchFamily="2" charset="-122"/>
              </a:rPr>
              <a:t>基数</a:t>
            </a:r>
            <a:r>
              <a:rPr lang="en-US" altLang="zh-CN" sz="2400">
                <a:latin typeface="Arial" panose="020B0604020202020204" pitchFamily="34" charset="0"/>
                <a:ea typeface="宋体" panose="02010600030101010101" pitchFamily="2" charset="-122"/>
              </a:rPr>
              <a:t>=10 </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0</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3</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5</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6</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7</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8</a:t>
            </a:r>
            <a:r>
              <a:rPr lang="zh-CN" altLang="en-US" sz="2400" dirty="0">
                <a:latin typeface="Arial" panose="020B0604020202020204" pitchFamily="34" charset="0"/>
                <a:ea typeface="宋体" panose="02010600030101010101" pitchFamily="2" charset="-122"/>
              </a:rPr>
              <a:t>、</a:t>
            </a:r>
            <a:r>
              <a:rPr lang="en-US" altLang="zh-CN" sz="2400">
                <a:latin typeface="Arial" panose="020B0604020202020204" pitchFamily="34" charset="0"/>
                <a:ea typeface="宋体" panose="02010600030101010101" pitchFamily="2" charset="-122"/>
              </a:rPr>
              <a:t>9</a:t>
            </a:r>
            <a:r>
              <a:rPr lang="zh-CN" altLang="en-US" sz="24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333数据中，各位数上的权从左到右分别为：</a:t>
            </a:r>
            <a:r>
              <a:rPr lang="en-US" altLang="zh-CN" sz="2400" b="1">
                <a:latin typeface="Arial" panose="020B0604020202020204" pitchFamily="34" charset="0"/>
                <a:ea typeface="宋体" panose="02010600030101010101" pitchFamily="2" charset="-122"/>
              </a:rPr>
              <a:t>10</a:t>
            </a:r>
            <a:r>
              <a:rPr lang="en-US" altLang="zh-CN" sz="2400" b="1" baseline="3000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10</a:t>
            </a:r>
            <a:r>
              <a:rPr lang="en-US" altLang="zh-CN" sz="2400" b="1" baseline="3000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10</a:t>
            </a:r>
            <a:r>
              <a:rPr lang="en-US" altLang="zh-CN" sz="2400" b="1" baseline="30000">
                <a:latin typeface="Arial" panose="020B0604020202020204" pitchFamily="34" charset="0"/>
                <a:ea typeface="宋体" panose="02010600030101010101" pitchFamily="2" charset="-122"/>
              </a:rPr>
              <a:t>0</a:t>
            </a:r>
            <a:endParaRPr lang="en-US" altLang="zh-CN" sz="2400" b="1" baseline="30000">
              <a:latin typeface="Arial" panose="020B0604020202020204" pitchFamily="34" charset="0"/>
              <a:ea typeface="宋体" panose="02010600030101010101" pitchFamily="2" charset="-122"/>
            </a:endParaRPr>
          </a:p>
          <a:p>
            <a:pPr lvl="0">
              <a:buClrTx/>
            </a:pPr>
            <a:r>
              <a:rPr lang="zh-CN" altLang="en-US" sz="2400" b="1" dirty="0">
                <a:solidFill>
                  <a:srgbClr val="0000FF"/>
                </a:solidFill>
                <a:latin typeface="Arial" panose="020B0604020202020204" pitchFamily="34" charset="0"/>
                <a:ea typeface="宋体" panose="02010600030101010101" pitchFamily="2" charset="-122"/>
              </a:rPr>
              <a:t>计数规则</a:t>
            </a:r>
            <a:r>
              <a:rPr lang="zh-CN" altLang="en-US" sz="2400" b="1" dirty="0">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对于</a:t>
            </a:r>
            <a:r>
              <a:rPr lang="en-US" altLang="zh-CN" sz="2400" b="1">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进制数，简单地说，就是</a:t>
            </a:r>
            <a:r>
              <a:rPr lang="zh-CN" altLang="en-US" sz="2400" b="1" dirty="0">
                <a:solidFill>
                  <a:srgbClr val="6600FF"/>
                </a:solidFill>
                <a:latin typeface="Arial" panose="020B0604020202020204" pitchFamily="34" charset="0"/>
                <a:ea typeface="宋体" panose="02010600030101010101" pitchFamily="2" charset="-122"/>
              </a:rPr>
              <a:t>“逢</a:t>
            </a:r>
            <a:r>
              <a:rPr lang="en-US" altLang="zh-CN" sz="2400" b="1">
                <a:solidFill>
                  <a:srgbClr val="6600FF"/>
                </a:solidFill>
                <a:latin typeface="Arial" panose="020B0604020202020204" pitchFamily="34" charset="0"/>
                <a:ea typeface="宋体" panose="02010600030101010101" pitchFamily="2" charset="-122"/>
              </a:rPr>
              <a:t>k</a:t>
            </a:r>
            <a:r>
              <a:rPr lang="zh-CN" altLang="en-US" sz="2400" b="1" dirty="0">
                <a:solidFill>
                  <a:srgbClr val="6600FF"/>
                </a:solidFill>
                <a:latin typeface="Arial" panose="020B0604020202020204" pitchFamily="34" charset="0"/>
                <a:ea typeface="宋体" panose="02010600030101010101" pitchFamily="2" charset="-122"/>
              </a:rPr>
              <a:t>进</a:t>
            </a:r>
            <a:r>
              <a:rPr lang="en-US" altLang="zh-CN" sz="2400" b="1">
                <a:solidFill>
                  <a:srgbClr val="6600FF"/>
                </a:solidFill>
                <a:latin typeface="Arial" panose="020B0604020202020204" pitchFamily="34" charset="0"/>
                <a:ea typeface="宋体" panose="02010600030101010101" pitchFamily="2" charset="-122"/>
              </a:rPr>
              <a:t>1</a:t>
            </a:r>
            <a:r>
              <a:rPr lang="zh-CN" altLang="en-US" sz="2400" b="1" dirty="0">
                <a:solidFill>
                  <a:srgbClr val="6600FF"/>
                </a:solidFill>
                <a:latin typeface="Arial" panose="020B0604020202020204" pitchFamily="34" charset="0"/>
                <a:ea typeface="宋体" panose="02010600030101010101" pitchFamily="2" charset="-122"/>
              </a:rPr>
              <a:t>，借</a:t>
            </a:r>
            <a:r>
              <a:rPr lang="en-US" altLang="zh-CN" sz="2400" b="1">
                <a:solidFill>
                  <a:srgbClr val="6600FF"/>
                </a:solidFill>
                <a:latin typeface="Arial" panose="020B0604020202020204" pitchFamily="34" charset="0"/>
                <a:ea typeface="宋体" panose="02010600030101010101" pitchFamily="2" charset="-122"/>
              </a:rPr>
              <a:t>1</a:t>
            </a:r>
            <a:r>
              <a:rPr lang="zh-CN" altLang="en-US" sz="2400" b="1" dirty="0">
                <a:solidFill>
                  <a:srgbClr val="6600FF"/>
                </a:solidFill>
                <a:latin typeface="Arial" panose="020B0604020202020204" pitchFamily="34" charset="0"/>
                <a:ea typeface="宋体" panose="02010600030101010101" pitchFamily="2" charset="-122"/>
              </a:rPr>
              <a:t>当</a:t>
            </a:r>
            <a:r>
              <a:rPr lang="en-US" altLang="zh-CN" sz="2400" b="1">
                <a:solidFill>
                  <a:srgbClr val="6600FF"/>
                </a:solidFill>
                <a:latin typeface="Arial" panose="020B0604020202020204" pitchFamily="34" charset="0"/>
                <a:ea typeface="宋体" panose="02010600030101010101" pitchFamily="2" charset="-122"/>
              </a:rPr>
              <a:t>k”</a:t>
            </a:r>
            <a:endParaRPr lang="zh-CN" altLang="en-US" sz="2400" b="1" dirty="0">
              <a:solidFill>
                <a:srgbClr val="6600FF"/>
              </a:solidFill>
              <a:latin typeface="Arial" panose="020B0604020202020204" pitchFamily="34" charset="0"/>
              <a:ea typeface="宋体" panose="02010600030101010101" pitchFamily="2" charset="-122"/>
            </a:endParaRPr>
          </a:p>
        </p:txBody>
      </p:sp>
      <p:sp>
        <p:nvSpPr>
          <p:cNvPr id="230406" name="矩形 230405"/>
          <p:cNvSpPr/>
          <p:nvPr/>
        </p:nvSpPr>
        <p:spPr>
          <a:xfrm>
            <a:off x="323850" y="4613275"/>
            <a:ext cx="8424863" cy="1569660"/>
          </a:xfrm>
          <a:prstGeom prst="rect">
            <a:avLst/>
          </a:prstGeom>
          <a:noFill/>
          <a:ln w="9525">
            <a:noFill/>
          </a:ln>
        </p:spPr>
        <p:txBody>
          <a:bodyPr>
            <a:spAutoFit/>
          </a:bodyPr>
          <a:lstStyle/>
          <a:p>
            <a:pPr lvl="0">
              <a:buClrTx/>
            </a:pPr>
            <a:r>
              <a:rPr lang="en-US" altLang="zh-CN" sz="2400" b="1" dirty="0">
                <a:solidFill>
                  <a:srgbClr val="0000CC"/>
                </a:solidFill>
              </a:rPr>
              <a:t>2</a:t>
            </a:r>
            <a:r>
              <a:rPr lang="zh-CN" altLang="en-US" sz="2400" b="1" dirty="0">
                <a:solidFill>
                  <a:srgbClr val="0000CC"/>
                </a:solidFill>
              </a:rPr>
              <a:t>、各种进制数及它们的书写方法</a:t>
            </a:r>
            <a:endParaRPr lang="zh-CN" altLang="en-US" sz="2400" b="1" dirty="0">
              <a:solidFill>
                <a:srgbClr val="0000CC"/>
              </a:solidFill>
            </a:endParaRPr>
          </a:p>
          <a:p>
            <a:pPr lvl="0">
              <a:buClrTx/>
            </a:pPr>
            <a:r>
              <a:rPr lang="zh-CN" altLang="en-US" sz="2400" b="1" dirty="0">
                <a:solidFill>
                  <a:srgbClr val="0000FF"/>
                </a:solidFill>
                <a:latin typeface="Arial" panose="020B0604020202020204" pitchFamily="34" charset="0"/>
                <a:ea typeface="宋体" panose="02010600030101010101" pitchFamily="2" charset="-122"/>
              </a:rPr>
              <a:t>二进制数</a:t>
            </a:r>
            <a:r>
              <a:rPr lang="zh-CN" altLang="en-US" sz="2400" b="1" dirty="0">
                <a:latin typeface="Arial" panose="020B0604020202020204" pitchFamily="34" charset="0"/>
                <a:ea typeface="宋体" panose="02010600030101010101" pitchFamily="2" charset="-122"/>
              </a:rPr>
              <a:t>：是最简单的进位计数制</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只有</a:t>
            </a:r>
            <a:r>
              <a:rPr lang="en-US" altLang="zh-CN" sz="2400" b="1" dirty="0">
                <a:latin typeface="Arial" panose="020B0604020202020204" pitchFamily="34" charset="0"/>
                <a:ea typeface="宋体" panose="02010600030101010101" pitchFamily="2" charset="-122"/>
              </a:rPr>
              <a:t>0,1</a:t>
            </a:r>
            <a:r>
              <a:rPr lang="zh-CN" altLang="en-US" sz="2400" b="1" dirty="0">
                <a:latin typeface="Arial" panose="020B0604020202020204" pitchFamily="34" charset="0"/>
                <a:ea typeface="宋体" panose="02010600030101010101" pitchFamily="2" charset="-122"/>
              </a:rPr>
              <a:t>二个数码，计数方法是“</a:t>
            </a:r>
            <a:r>
              <a:rPr lang="zh-CN" altLang="en-US" sz="2400" b="1" dirty="0">
                <a:solidFill>
                  <a:srgbClr val="FF00FF"/>
                </a:solidFill>
                <a:latin typeface="Arial" panose="020B0604020202020204" pitchFamily="34" charset="0"/>
                <a:ea typeface="宋体" panose="02010600030101010101" pitchFamily="2" charset="-122"/>
              </a:rPr>
              <a:t>逢二进一</a:t>
            </a:r>
            <a:r>
              <a:rPr lang="zh-CN" altLang="en-US" sz="2400" b="1" dirty="0">
                <a:latin typeface="Arial" panose="020B0604020202020204" pitchFamily="34" charset="0"/>
                <a:ea typeface="宋体" panose="02010600030101010101" pitchFamily="2" charset="-122"/>
              </a:rPr>
              <a:t>”。表示二进制时，在数据后面紧跟字母</a:t>
            </a:r>
            <a:r>
              <a:rPr lang="en-US" altLang="zh-CN" sz="2400" b="1" dirty="0">
                <a:solidFill>
                  <a:srgbClr val="FF00FF"/>
                </a:solidFill>
                <a:latin typeface="Arial" panose="020B0604020202020204" pitchFamily="34" charset="0"/>
                <a:ea typeface="宋体" panose="02010600030101010101" pitchFamily="2" charset="-122"/>
              </a:rPr>
              <a:t>B</a:t>
            </a:r>
            <a:r>
              <a:rPr lang="zh-CN" altLang="en-US" sz="2400" b="1" dirty="0">
                <a:latin typeface="Arial" panose="020B0604020202020204" pitchFamily="34" charset="0"/>
                <a:ea typeface="宋体" panose="02010600030101010101" pitchFamily="2" charset="-122"/>
              </a:rPr>
              <a:t>　</a:t>
            </a:r>
            <a:endParaRPr lang="zh-CN" altLang="en-US" sz="2400" b="1" dirty="0">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例如：（</a:t>
            </a:r>
            <a:r>
              <a:rPr lang="en-US" altLang="zh-CN" sz="2400" b="1" dirty="0">
                <a:latin typeface="Arial" panose="020B0604020202020204" pitchFamily="34" charset="0"/>
                <a:ea typeface="宋体" panose="02010600030101010101" pitchFamily="2" charset="-122"/>
              </a:rPr>
              <a:t>1010)2=1010B,</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0.101)2= 0.101B</a:t>
            </a:r>
            <a:endParaRPr lang="en-US" altLang="zh-CN" sz="2400" b="1" dirty="0">
              <a:latin typeface="Arial" panose="020B0604020202020204" pitchFamily="34" charset="0"/>
              <a:ea typeface="宋体" panose="02010600030101010101" pitchFamily="2" charset="-122"/>
            </a:endParaRPr>
          </a:p>
        </p:txBody>
      </p:sp>
      <p:sp>
        <p:nvSpPr>
          <p:cNvPr id="6" name="标题 229377"/>
          <p:cNvSpPr txBox="1"/>
          <p:nvPr/>
        </p:nvSpPr>
        <p:spPr>
          <a:xfrm>
            <a:off x="1871837" y="223838"/>
            <a:ext cx="5436468"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3474" name="文本占位符 233473"/>
          <p:cNvSpPr>
            <a:spLocks noGrp="1"/>
          </p:cNvSpPr>
          <p:nvPr>
            <p:ph type="body" idx="1"/>
          </p:nvPr>
        </p:nvSpPr>
        <p:spPr>
          <a:xfrm>
            <a:off x="304800" y="1427163"/>
            <a:ext cx="8534400" cy="2362200"/>
          </a:xfrm>
        </p:spPr>
        <p:txBody>
          <a:bodyPr/>
          <a:lstStyle/>
          <a:p>
            <a:pPr>
              <a:lnSpc>
                <a:spcPct val="90000"/>
              </a:lnSpc>
              <a:buClrTx/>
              <a:buNone/>
            </a:pPr>
            <a:r>
              <a:rPr lang="zh-CN" altLang="en-US" sz="2400" b="1" dirty="0">
                <a:solidFill>
                  <a:srgbClr val="0000FF"/>
                </a:solidFill>
              </a:rPr>
              <a:t>十进制数：</a:t>
            </a:r>
            <a:r>
              <a:rPr lang="zh-CN" altLang="en-US" sz="2400" b="1" dirty="0"/>
              <a:t>数据尾部加</a:t>
            </a:r>
            <a:r>
              <a:rPr lang="en-US" altLang="zh-CN" sz="2400" b="1" dirty="0"/>
              <a:t>D(d)</a:t>
            </a:r>
            <a:r>
              <a:rPr lang="zh-CN" altLang="en-US" sz="2400" b="1" dirty="0"/>
              <a:t>，但通常可以</a:t>
            </a:r>
            <a:r>
              <a:rPr lang="zh-CN" altLang="en-US" sz="2400" b="1" dirty="0">
                <a:solidFill>
                  <a:srgbClr val="FF00FF"/>
                </a:solidFill>
              </a:rPr>
              <a:t>省略</a:t>
            </a:r>
            <a:r>
              <a:rPr lang="zh-CN" altLang="en-US" sz="2400" b="1" dirty="0"/>
              <a:t>。</a:t>
            </a:r>
            <a:endParaRPr lang="zh-CN" altLang="en-US" sz="2400" b="1" dirty="0"/>
          </a:p>
          <a:p>
            <a:pPr>
              <a:lnSpc>
                <a:spcPct val="90000"/>
              </a:lnSpc>
              <a:buClrTx/>
              <a:buNone/>
            </a:pPr>
            <a:r>
              <a:rPr lang="zh-CN" altLang="en-US" sz="2400" b="1" dirty="0"/>
              <a:t>例如：</a:t>
            </a:r>
            <a:r>
              <a:rPr lang="en-US" altLang="zh-CN" sz="2400" b="1" dirty="0"/>
              <a:t>23D=23</a:t>
            </a:r>
            <a:endParaRPr lang="zh-CN" altLang="en-US" sz="2400" b="1" dirty="0">
              <a:solidFill>
                <a:srgbClr val="0000FF"/>
              </a:solidFill>
            </a:endParaRPr>
          </a:p>
          <a:p>
            <a:pPr>
              <a:lnSpc>
                <a:spcPct val="90000"/>
              </a:lnSpc>
              <a:buClrTx/>
              <a:buNone/>
            </a:pPr>
            <a:r>
              <a:rPr lang="zh-CN" altLang="en-US" sz="2400" b="1" dirty="0">
                <a:solidFill>
                  <a:srgbClr val="0000FF"/>
                </a:solidFill>
              </a:rPr>
              <a:t>十六进制数</a:t>
            </a:r>
            <a:r>
              <a:rPr lang="zh-CN" altLang="en-US" sz="2400" dirty="0"/>
              <a:t>：</a:t>
            </a:r>
            <a:r>
              <a:rPr lang="zh-CN" altLang="en-US" sz="2400" b="1" dirty="0"/>
              <a:t>由</a:t>
            </a:r>
            <a:r>
              <a:rPr lang="en-US" altLang="zh-CN" sz="2400" b="1" dirty="0"/>
              <a:t>0</a:t>
            </a:r>
            <a:r>
              <a:rPr lang="zh-CN" altLang="en-US" sz="2400" b="1" dirty="0"/>
              <a:t>到</a:t>
            </a:r>
            <a:r>
              <a:rPr lang="en-US" altLang="zh-CN" sz="2400" b="1" dirty="0"/>
              <a:t>9</a:t>
            </a:r>
            <a:r>
              <a:rPr lang="zh-CN" altLang="en-US" sz="2400" b="1" dirty="0"/>
              <a:t>和</a:t>
            </a:r>
            <a:r>
              <a:rPr lang="en-US" altLang="zh-CN" sz="2400" b="1" dirty="0"/>
              <a:t>A</a:t>
            </a:r>
            <a:r>
              <a:rPr lang="zh-CN" altLang="en-US" sz="2400" b="1" dirty="0"/>
              <a:t>，</a:t>
            </a:r>
            <a:r>
              <a:rPr lang="en-US" altLang="zh-CN" sz="2400" b="1" dirty="0"/>
              <a:t>B,C,D,E</a:t>
            </a:r>
            <a:r>
              <a:rPr lang="zh-CN" altLang="en-US" sz="2400" b="1" dirty="0"/>
              <a:t>和</a:t>
            </a:r>
            <a:r>
              <a:rPr lang="en-US" altLang="zh-CN" sz="2400" b="1" dirty="0"/>
              <a:t>F(</a:t>
            </a:r>
            <a:r>
              <a:rPr lang="zh-CN" altLang="en-US" sz="2400" b="1" dirty="0"/>
              <a:t>英语大写字母分别代表</a:t>
            </a:r>
            <a:r>
              <a:rPr lang="en-US" altLang="zh-CN" sz="2400" b="1" dirty="0"/>
              <a:t>10</a:t>
            </a:r>
            <a:r>
              <a:rPr lang="zh-CN" altLang="en-US" sz="2400" b="1" dirty="0"/>
              <a:t>到</a:t>
            </a:r>
            <a:r>
              <a:rPr lang="en-US" altLang="zh-CN" sz="2400" b="1" dirty="0"/>
              <a:t>15)</a:t>
            </a:r>
            <a:r>
              <a:rPr lang="zh-CN" altLang="en-US" sz="2400" b="1" dirty="0"/>
              <a:t>十六个数码组成的</a:t>
            </a:r>
            <a:r>
              <a:rPr lang="en-US" altLang="zh-CN" sz="2400" b="1" dirty="0"/>
              <a:t>,</a:t>
            </a:r>
            <a:r>
              <a:rPr lang="zh-CN" altLang="en-US" sz="2400" b="1" dirty="0"/>
              <a:t>进位方式是“</a:t>
            </a:r>
            <a:r>
              <a:rPr lang="zh-CN" altLang="en-US" sz="2400" b="1" dirty="0">
                <a:solidFill>
                  <a:srgbClr val="FF00FF"/>
                </a:solidFill>
              </a:rPr>
              <a:t>逢十六进一</a:t>
            </a:r>
            <a:r>
              <a:rPr lang="zh-CN" altLang="en-US" sz="2400" b="1" dirty="0"/>
              <a:t>”，十六进制在程序中的使用频率很高</a:t>
            </a:r>
            <a:endParaRPr lang="zh-CN" altLang="en-US" sz="2400" b="1" dirty="0"/>
          </a:p>
          <a:p>
            <a:pPr>
              <a:lnSpc>
                <a:spcPct val="90000"/>
              </a:lnSpc>
              <a:buClrTx/>
              <a:buNone/>
            </a:pPr>
            <a:r>
              <a:rPr lang="zh-CN" altLang="en-US" sz="2400" b="1" dirty="0"/>
              <a:t>   如：</a:t>
            </a:r>
            <a:r>
              <a:rPr lang="en-US" altLang="zh-CN" sz="2400" b="1" dirty="0"/>
              <a:t>(2E)</a:t>
            </a:r>
            <a:r>
              <a:rPr lang="en-US" altLang="zh-CN" sz="2400" b="1" baseline="-25000" dirty="0"/>
              <a:t>16</a:t>
            </a:r>
            <a:r>
              <a:rPr lang="en-US" altLang="zh-CN" sz="2400" b="1" dirty="0"/>
              <a:t>= 2EH</a:t>
            </a:r>
            <a:r>
              <a:rPr lang="zh-CN" altLang="en-US" sz="2400" b="1" dirty="0"/>
              <a:t>、 </a:t>
            </a:r>
            <a:r>
              <a:rPr lang="en-US" altLang="zh-CN" sz="2400" b="1" dirty="0"/>
              <a:t>0A8F5H</a:t>
            </a:r>
            <a:r>
              <a:rPr lang="en-US" altLang="zh-CN" sz="2400" dirty="0"/>
              <a:t> </a:t>
            </a:r>
            <a:endParaRPr lang="zh-CN" altLang="en-US" sz="2400" dirty="0"/>
          </a:p>
        </p:txBody>
      </p:sp>
      <p:sp>
        <p:nvSpPr>
          <p:cNvPr id="4"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2453" name="文本框 232452"/>
          <p:cNvSpPr txBox="1"/>
          <p:nvPr/>
        </p:nvSpPr>
        <p:spPr>
          <a:xfrm>
            <a:off x="334963" y="858838"/>
            <a:ext cx="8575675" cy="457200"/>
          </a:xfrm>
          <a:prstGeom prst="rect">
            <a:avLst/>
          </a:prstGeom>
          <a:noFill/>
          <a:ln w="9525">
            <a:noFill/>
          </a:ln>
        </p:spPr>
        <p:txBody>
          <a:bodyPr>
            <a:spAutoFit/>
          </a:bodyPr>
          <a:lstStyle/>
          <a:p>
            <a:pPr lvl="0">
              <a:spcBef>
                <a:spcPct val="50000"/>
              </a:spcBef>
              <a:buClrTx/>
            </a:pPr>
            <a:r>
              <a:rPr lang="en-US" altLang="zh-CN" sz="2400" b="1" dirty="0">
                <a:solidFill>
                  <a:srgbClr val="0000CC"/>
                </a:solidFill>
              </a:rPr>
              <a:t>3</a:t>
            </a:r>
            <a:r>
              <a:rPr lang="zh-CN" altLang="en-US" sz="2400" b="1" dirty="0">
                <a:solidFill>
                  <a:srgbClr val="0000CC"/>
                </a:solidFill>
              </a:rPr>
              <a:t>、</a:t>
            </a:r>
            <a:r>
              <a:rPr lang="en-US" altLang="zh-CN" sz="2400" b="1" dirty="0">
                <a:solidFill>
                  <a:srgbClr val="0000CC"/>
                </a:solidFill>
              </a:rPr>
              <a:t>3</a:t>
            </a:r>
            <a:r>
              <a:rPr lang="zh-CN" altLang="en-US" sz="2400" b="1" dirty="0">
                <a:solidFill>
                  <a:srgbClr val="0000CC"/>
                </a:solidFill>
              </a:rPr>
              <a:t>种进制数间的关系</a:t>
            </a:r>
            <a:endParaRPr lang="zh-CN" altLang="en-US" sz="2400" b="1" dirty="0">
              <a:solidFill>
                <a:srgbClr val="0000CC"/>
              </a:solidFill>
            </a:endParaRPr>
          </a:p>
        </p:txBody>
      </p:sp>
      <p:pic>
        <p:nvPicPr>
          <p:cNvPr id="232455" name="图片 232454"/>
          <p:cNvPicPr>
            <a:picLocks noChangeAspect="1"/>
          </p:cNvPicPr>
          <p:nvPr/>
        </p:nvPicPr>
        <p:blipFill>
          <a:blip r:embed="rId1"/>
          <a:stretch>
            <a:fillRect/>
          </a:stretch>
        </p:blipFill>
        <p:spPr>
          <a:xfrm>
            <a:off x="3557588" y="1609725"/>
            <a:ext cx="3030537" cy="4267200"/>
          </a:xfrm>
          <a:prstGeom prst="rect">
            <a:avLst/>
          </a:prstGeom>
          <a:noFill/>
          <a:ln w="9525">
            <a:noFill/>
          </a:ln>
        </p:spPr>
      </p:pic>
      <p:sp>
        <p:nvSpPr>
          <p:cNvPr id="5" name="标题 229377"/>
          <p:cNvSpPr txBox="1"/>
          <p:nvPr/>
        </p:nvSpPr>
        <p:spPr>
          <a:xfrm>
            <a:off x="1871837" y="223838"/>
            <a:ext cx="5436468"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4499" name="文本框 234498"/>
          <p:cNvSpPr txBox="1"/>
          <p:nvPr/>
        </p:nvSpPr>
        <p:spPr>
          <a:xfrm>
            <a:off x="179388" y="836613"/>
            <a:ext cx="4321175" cy="457200"/>
          </a:xfrm>
          <a:prstGeom prst="rect">
            <a:avLst/>
          </a:prstGeom>
          <a:noFill/>
          <a:ln w="9525">
            <a:noFill/>
          </a:ln>
        </p:spPr>
        <p:txBody>
          <a:bodyPr wrap="square">
            <a:spAutoFit/>
          </a:bodyPr>
          <a:lstStyle/>
          <a:p>
            <a:pPr lvl="0">
              <a:buClrTx/>
            </a:pPr>
            <a:r>
              <a:rPr lang="en-US" altLang="zh-CN" sz="2400" b="1" dirty="0">
                <a:solidFill>
                  <a:srgbClr val="0000CC"/>
                </a:solidFill>
              </a:rPr>
              <a:t>4</a:t>
            </a:r>
            <a:r>
              <a:rPr lang="zh-CN" altLang="en-US" sz="2400" b="1" dirty="0">
                <a:solidFill>
                  <a:srgbClr val="0000CC"/>
                </a:solidFill>
              </a:rPr>
              <a:t>、 </a:t>
            </a:r>
            <a:r>
              <a:rPr lang="en-US" altLang="zh-CN" sz="2400" b="1" dirty="0">
                <a:solidFill>
                  <a:srgbClr val="0000CC"/>
                </a:solidFill>
              </a:rPr>
              <a:t>3</a:t>
            </a:r>
            <a:r>
              <a:rPr lang="zh-CN" altLang="en-US" sz="2400" b="1" dirty="0">
                <a:solidFill>
                  <a:srgbClr val="0000CC"/>
                </a:solidFill>
              </a:rPr>
              <a:t>种进制数</a:t>
            </a:r>
            <a:r>
              <a:rPr lang="zh-CN" altLang="en-US" sz="2400" b="1" dirty="0" smtClean="0">
                <a:solidFill>
                  <a:srgbClr val="0000CC"/>
                </a:solidFill>
              </a:rPr>
              <a:t>间的转换</a:t>
            </a:r>
            <a:r>
              <a:rPr lang="zh-CN" altLang="en-US" sz="2400" b="1" dirty="0">
                <a:solidFill>
                  <a:srgbClr val="0000CC"/>
                </a:solidFill>
              </a:rPr>
              <a:t>方法 </a:t>
            </a:r>
            <a:endParaRPr lang="zh-CN" altLang="en-US" sz="2400" b="1" dirty="0">
              <a:solidFill>
                <a:srgbClr val="0000CC"/>
              </a:solidFill>
            </a:endParaRPr>
          </a:p>
        </p:txBody>
      </p:sp>
      <p:sp>
        <p:nvSpPr>
          <p:cNvPr id="234500" name="矩形 234499"/>
          <p:cNvSpPr/>
          <p:nvPr/>
        </p:nvSpPr>
        <p:spPr>
          <a:xfrm>
            <a:off x="250825" y="1268413"/>
            <a:ext cx="424973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r>
              <a:rPr lang="zh-CN" altLang="en-US" sz="2400" b="1" dirty="0">
                <a:solidFill>
                  <a:srgbClr val="0000FF"/>
                </a:solidFill>
              </a:rPr>
              <a:t>（</a:t>
            </a:r>
            <a:r>
              <a:rPr lang="en-US" altLang="zh-CN" sz="2400" b="1">
                <a:solidFill>
                  <a:srgbClr val="0000FF"/>
                </a:solidFill>
              </a:rPr>
              <a:t>1</a:t>
            </a:r>
            <a:r>
              <a:rPr lang="zh-CN" altLang="en-US" sz="2400" b="1" dirty="0">
                <a:solidFill>
                  <a:srgbClr val="0000FF"/>
                </a:solidFill>
              </a:rPr>
              <a:t>）十进制</a:t>
            </a:r>
            <a:r>
              <a:rPr lang="zh-CN" altLang="en-US" sz="2400" b="1">
                <a:solidFill>
                  <a:srgbClr val="0000FF"/>
                </a:solidFill>
              </a:rPr>
              <a:t>和</a:t>
            </a:r>
            <a:r>
              <a:rPr lang="zh-CN" altLang="en-US" sz="2400" b="1" dirty="0">
                <a:solidFill>
                  <a:srgbClr val="0000FF"/>
                </a:solidFill>
              </a:rPr>
              <a:t>二进制间转换</a:t>
            </a:r>
            <a:endParaRPr lang="zh-CN" altLang="en-US" sz="2400" b="1">
              <a:solidFill>
                <a:srgbClr val="0000FF"/>
              </a:solidFill>
            </a:endParaRPr>
          </a:p>
        </p:txBody>
      </p:sp>
      <p:sp>
        <p:nvSpPr>
          <p:cNvPr id="234501" name="矩形 234500"/>
          <p:cNvSpPr/>
          <p:nvPr/>
        </p:nvSpPr>
        <p:spPr>
          <a:xfrm>
            <a:off x="250825" y="2336800"/>
            <a:ext cx="8534400" cy="1380232"/>
          </a:xfrm>
          <a:prstGeom prst="rect">
            <a:avLst/>
          </a:prstGeom>
          <a:solidFill>
            <a:schemeClr val="bg1"/>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ClrTx/>
              <a:buNone/>
            </a:pPr>
            <a:r>
              <a:rPr lang="zh-CN" altLang="en-US" sz="2800" dirty="0">
                <a:solidFill>
                  <a:schemeClr val="bg2"/>
                </a:solidFill>
              </a:rPr>
              <a:t>         </a:t>
            </a:r>
            <a:r>
              <a:rPr lang="zh-CN" altLang="en-US" sz="2400" b="1" dirty="0"/>
              <a:t>①将整数部分不断除以</a:t>
            </a:r>
            <a:r>
              <a:rPr lang="en-US" altLang="zh-CN" sz="2400" b="1" dirty="0"/>
              <a:t>2</a:t>
            </a:r>
            <a:r>
              <a:rPr lang="zh-CN" altLang="en-US" sz="2400" b="1" dirty="0"/>
              <a:t>，记下每次得到的余数，直到商为零</a:t>
            </a:r>
            <a:r>
              <a:rPr lang="en-US" altLang="zh-CN" sz="2400" b="1" dirty="0"/>
              <a:t>(</a:t>
            </a:r>
            <a:r>
              <a:rPr lang="zh-CN" altLang="en-US" sz="2400" b="1" dirty="0">
                <a:solidFill>
                  <a:srgbClr val="0000FF"/>
                </a:solidFill>
              </a:rPr>
              <a:t>除</a:t>
            </a:r>
            <a:r>
              <a:rPr lang="en-US" altLang="zh-CN" sz="2400" b="1" dirty="0">
                <a:solidFill>
                  <a:srgbClr val="0000FF"/>
                </a:solidFill>
              </a:rPr>
              <a:t>2</a:t>
            </a:r>
            <a:r>
              <a:rPr lang="zh-CN" altLang="en-US" sz="2400" b="1" dirty="0">
                <a:solidFill>
                  <a:srgbClr val="0000FF"/>
                </a:solidFill>
              </a:rPr>
              <a:t>取余</a:t>
            </a:r>
            <a:r>
              <a:rPr lang="en-US" altLang="zh-CN" sz="2400" b="1" dirty="0"/>
              <a:t>)</a:t>
            </a:r>
            <a:r>
              <a:rPr lang="zh-CN" altLang="en-US" sz="2400" b="1" dirty="0"/>
              <a:t>；②</a:t>
            </a:r>
            <a:r>
              <a:rPr lang="zh-CN" altLang="en-US" sz="2400" b="1" dirty="0">
                <a:solidFill>
                  <a:srgbClr val="0000FF"/>
                </a:solidFill>
              </a:rPr>
              <a:t>余数倒排</a:t>
            </a:r>
            <a:r>
              <a:rPr lang="zh-CN" altLang="en-US" sz="2400" b="1" dirty="0"/>
              <a:t>，即最后得到的余数排在最高位，第一个余数排在最低位。例如将十进制数</a:t>
            </a:r>
            <a:r>
              <a:rPr lang="en-US" altLang="zh-CN" sz="2400" b="1" dirty="0"/>
              <a:t>13</a:t>
            </a:r>
            <a:r>
              <a:rPr lang="zh-CN" altLang="en-US" sz="2400" b="1" dirty="0"/>
              <a:t>转换成二进制数：</a:t>
            </a:r>
            <a:endParaRPr lang="zh-CN" altLang="en-US" sz="2400" b="1" dirty="0"/>
          </a:p>
          <a:p>
            <a:pPr marL="0" lvl="0" indent="0">
              <a:lnSpc>
                <a:spcPct val="70000"/>
              </a:lnSpc>
              <a:buClrTx/>
              <a:buNone/>
            </a:pPr>
            <a:r>
              <a:rPr lang="zh-CN" altLang="en-US" sz="2800" dirty="0">
                <a:solidFill>
                  <a:schemeClr val="bg2"/>
                </a:solidFill>
              </a:rPr>
              <a:t>	</a:t>
            </a:r>
            <a:endParaRPr lang="en-US" altLang="zh-CN" sz="2800" dirty="0"/>
          </a:p>
        </p:txBody>
      </p:sp>
      <p:sp>
        <p:nvSpPr>
          <p:cNvPr id="234511" name="矩形 234510"/>
          <p:cNvSpPr/>
          <p:nvPr/>
        </p:nvSpPr>
        <p:spPr>
          <a:xfrm>
            <a:off x="539750" y="1785938"/>
            <a:ext cx="3887788" cy="457200"/>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十进制 → 二进制（</a:t>
            </a:r>
            <a:r>
              <a:rPr lang="zh-CN" altLang="en-US" sz="2400" b="1" dirty="0">
                <a:solidFill>
                  <a:srgbClr val="FF00FF"/>
                </a:solidFill>
                <a:latin typeface="Arial" panose="020B0604020202020204" pitchFamily="34" charset="0"/>
                <a:ea typeface="宋体" panose="02010600030101010101" pitchFamily="2" charset="-122"/>
              </a:rPr>
              <a:t>整数</a:t>
            </a:r>
            <a:r>
              <a:rPr lang="zh-CN" altLang="en-US" sz="2400" b="1" dirty="0">
                <a:solidFill>
                  <a:srgbClr val="0000FF"/>
                </a:solidFill>
                <a:latin typeface="Arial" panose="020B0604020202020204" pitchFamily="34" charset="0"/>
                <a:ea typeface="宋体" panose="02010600030101010101" pitchFamily="2" charset="-122"/>
              </a:rPr>
              <a:t>）</a:t>
            </a:r>
            <a:endParaRPr lang="zh-CN" altLang="en-US" sz="2400" b="1" dirty="0">
              <a:solidFill>
                <a:srgbClr val="0000FF"/>
              </a:solidFill>
              <a:latin typeface="Arial" panose="020B0604020202020204" pitchFamily="34" charset="0"/>
              <a:ea typeface="宋体" panose="02010600030101010101" pitchFamily="2" charset="-122"/>
            </a:endParaRPr>
          </a:p>
        </p:txBody>
      </p:sp>
      <p:sp>
        <p:nvSpPr>
          <p:cNvPr id="8" name="标题 229377"/>
          <p:cNvSpPr txBox="1"/>
          <p:nvPr/>
        </p:nvSpPr>
        <p:spPr>
          <a:xfrm>
            <a:off x="1871837" y="223838"/>
            <a:ext cx="5436468" cy="431800"/>
          </a:xfrm>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pic>
        <p:nvPicPr>
          <p:cNvPr id="3" name="图片 2"/>
          <p:cNvPicPr>
            <a:picLocks noChangeAspect="1"/>
          </p:cNvPicPr>
          <p:nvPr/>
        </p:nvPicPr>
        <p:blipFill>
          <a:blip r:embed="rId1"/>
          <a:stretch>
            <a:fillRect/>
          </a:stretch>
        </p:blipFill>
        <p:spPr>
          <a:xfrm>
            <a:off x="4067944" y="4007544"/>
            <a:ext cx="2088232" cy="179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22" name="标题 235521"/>
          <p:cNvSpPr>
            <a:spLocks noGrp="1"/>
          </p:cNvSpPr>
          <p:nvPr>
            <p:ph type="title"/>
          </p:nvPr>
        </p:nvSpPr>
        <p:spPr>
          <a:xfrm>
            <a:off x="457200" y="836613"/>
            <a:ext cx="3627438" cy="581025"/>
          </a:xfrm>
        </p:spPr>
        <p:txBody>
          <a:bodyPr anchor="ctr"/>
          <a:lstStyle/>
          <a:p>
            <a:r>
              <a:rPr lang="zh-CN" altLang="en-US" sz="2400" b="1">
                <a:solidFill>
                  <a:srgbClr val="0000FF"/>
                </a:solidFill>
              </a:rPr>
              <a:t>十进制→二进制（</a:t>
            </a:r>
            <a:r>
              <a:rPr lang="zh-CN" altLang="en-US" sz="2400" b="1">
                <a:solidFill>
                  <a:srgbClr val="FF00FF"/>
                </a:solidFill>
              </a:rPr>
              <a:t>小数</a:t>
            </a:r>
            <a:r>
              <a:rPr lang="zh-CN" altLang="en-US" sz="2400" b="1">
                <a:solidFill>
                  <a:srgbClr val="0000FF"/>
                </a:solidFill>
              </a:rPr>
              <a:t>）</a:t>
            </a:r>
            <a:endParaRPr lang="zh-CN" altLang="en-US" sz="2400" b="1">
              <a:solidFill>
                <a:srgbClr val="0000FF"/>
              </a:solidFill>
            </a:endParaRPr>
          </a:p>
        </p:txBody>
      </p:sp>
      <p:sp>
        <p:nvSpPr>
          <p:cNvPr id="235523" name="文本占位符 235522"/>
          <p:cNvSpPr>
            <a:spLocks noGrp="1"/>
          </p:cNvSpPr>
          <p:nvPr>
            <p:ph type="body" idx="1"/>
          </p:nvPr>
        </p:nvSpPr>
        <p:spPr>
          <a:xfrm>
            <a:off x="304800" y="1752600"/>
            <a:ext cx="8534400" cy="4556125"/>
          </a:xfrm>
        </p:spPr>
        <p:txBody>
          <a:bodyPr/>
          <a:lstStyle/>
          <a:p>
            <a:pPr marL="0" indent="0">
              <a:buClrTx/>
              <a:buNone/>
            </a:pPr>
            <a:r>
              <a:rPr lang="zh-CN" altLang="en-US" sz="2400" b="1"/>
              <a:t>        小数部分转换：乘</a:t>
            </a:r>
            <a:r>
              <a:rPr lang="en-US" altLang="zh-CN" sz="2400" b="1"/>
              <a:t>2</a:t>
            </a:r>
            <a:r>
              <a:rPr lang="zh-CN" altLang="en-US" sz="2400" b="1"/>
              <a:t>取整，顺序排列得到的整数。例如将</a:t>
            </a:r>
            <a:r>
              <a:rPr lang="en-US" altLang="zh-CN" sz="2400" b="1"/>
              <a:t>0.8125</a:t>
            </a:r>
            <a:r>
              <a:rPr lang="zh-CN" altLang="en-US" sz="2400" b="1"/>
              <a:t>转换成二进制数：</a:t>
            </a:r>
            <a:endParaRPr lang="zh-CN" altLang="en-US" sz="2400" b="1"/>
          </a:p>
          <a:p>
            <a:pPr marL="0" indent="0">
              <a:lnSpc>
                <a:spcPct val="60000"/>
              </a:lnSpc>
              <a:buClrTx/>
              <a:buNone/>
            </a:pPr>
            <a:r>
              <a:rPr lang="zh-CN" altLang="en-US" sz="2400" b="1"/>
              <a:t>				</a:t>
            </a:r>
            <a:r>
              <a:rPr lang="en-US" altLang="zh-CN" sz="2400" b="1"/>
              <a:t>0.8125</a:t>
            </a:r>
            <a:endParaRPr lang="en-US" altLang="zh-CN" sz="2400" b="1"/>
          </a:p>
          <a:p>
            <a:pPr marL="0" indent="0">
              <a:lnSpc>
                <a:spcPct val="60000"/>
              </a:lnSpc>
              <a:buClrTx/>
              <a:buNone/>
            </a:pPr>
            <a:r>
              <a:rPr lang="en-US" altLang="zh-CN" sz="2400" b="1"/>
              <a:t>		</a:t>
            </a:r>
            <a:r>
              <a:rPr lang="zh-CN" altLang="en-US" sz="2400" b="1"/>
              <a:t>整数         </a:t>
            </a:r>
            <a:r>
              <a:rPr lang="en-US" altLang="zh-CN" sz="2400" b="1"/>
              <a:t>×           2</a:t>
            </a:r>
            <a:endParaRPr lang="en-US" altLang="zh-CN" sz="2400" b="1"/>
          </a:p>
          <a:p>
            <a:pPr marL="0" indent="0">
              <a:lnSpc>
                <a:spcPct val="70000"/>
              </a:lnSpc>
              <a:spcBef>
                <a:spcPct val="30000"/>
              </a:spcBef>
              <a:buClrTx/>
              <a:buNone/>
            </a:pPr>
            <a:r>
              <a:rPr lang="en-US" altLang="zh-CN" sz="2400" b="1"/>
              <a:t>		    1                    .6250</a:t>
            </a:r>
            <a:endParaRPr lang="en-US" altLang="zh-CN" sz="2400" b="1"/>
          </a:p>
          <a:p>
            <a:pPr marL="0" indent="0">
              <a:lnSpc>
                <a:spcPct val="70000"/>
              </a:lnSpc>
              <a:spcBef>
                <a:spcPct val="15000"/>
              </a:spcBef>
              <a:buClrTx/>
              <a:buNone/>
            </a:pPr>
            <a:r>
              <a:rPr lang="en-US" altLang="zh-CN" sz="2400" b="1"/>
              <a:t>		    	       ×         2</a:t>
            </a:r>
            <a:endParaRPr lang="en-US" altLang="zh-CN" sz="2400" b="1"/>
          </a:p>
          <a:p>
            <a:pPr marL="0" indent="0">
              <a:lnSpc>
                <a:spcPct val="70000"/>
              </a:lnSpc>
              <a:spcBef>
                <a:spcPct val="30000"/>
              </a:spcBef>
              <a:buClrTx/>
              <a:buNone/>
            </a:pPr>
            <a:r>
              <a:rPr lang="en-US" altLang="zh-CN" sz="2400" b="1"/>
              <a:t>		    1                      .250</a:t>
            </a:r>
            <a:endParaRPr lang="en-US" altLang="zh-CN" sz="2400" b="1"/>
          </a:p>
          <a:p>
            <a:pPr marL="0" indent="0">
              <a:lnSpc>
                <a:spcPct val="70000"/>
              </a:lnSpc>
              <a:spcBef>
                <a:spcPct val="10000"/>
              </a:spcBef>
              <a:buClrTx/>
              <a:buNone/>
            </a:pPr>
            <a:r>
              <a:rPr lang="en-US" altLang="zh-CN" sz="2400" b="1"/>
              <a:t>			        ×        2</a:t>
            </a:r>
            <a:endParaRPr lang="en-US" altLang="zh-CN" sz="2400" b="1"/>
          </a:p>
          <a:p>
            <a:pPr marL="0" indent="0">
              <a:lnSpc>
                <a:spcPct val="70000"/>
              </a:lnSpc>
              <a:spcBef>
                <a:spcPct val="30000"/>
              </a:spcBef>
              <a:buClrTx/>
              <a:buNone/>
            </a:pPr>
            <a:r>
              <a:rPr lang="en-US" altLang="zh-CN" sz="2400" b="1"/>
              <a:t>		    0                      .50</a:t>
            </a:r>
            <a:endParaRPr lang="en-US" altLang="zh-CN" sz="2400" b="1"/>
          </a:p>
          <a:p>
            <a:pPr marL="0" indent="0">
              <a:lnSpc>
                <a:spcPct val="70000"/>
              </a:lnSpc>
              <a:spcBef>
                <a:spcPct val="10000"/>
              </a:spcBef>
              <a:buClrTx/>
              <a:buNone/>
            </a:pPr>
            <a:r>
              <a:rPr lang="en-US" altLang="zh-CN" sz="2400" b="1"/>
              <a:t>			         ×     2</a:t>
            </a:r>
            <a:endParaRPr lang="en-US" altLang="zh-CN" sz="2400" b="1"/>
          </a:p>
          <a:p>
            <a:pPr marL="0" indent="0">
              <a:lnSpc>
                <a:spcPct val="70000"/>
              </a:lnSpc>
              <a:spcBef>
                <a:spcPct val="30000"/>
              </a:spcBef>
              <a:buClrTx/>
              <a:buNone/>
            </a:pPr>
            <a:r>
              <a:rPr lang="en-US" altLang="zh-CN" sz="2400" b="1"/>
              <a:t>		    1                 .00</a:t>
            </a:r>
            <a:endParaRPr lang="en-US" altLang="zh-CN" sz="2400" b="1"/>
          </a:p>
          <a:p>
            <a:pPr marL="0" indent="0">
              <a:lnSpc>
                <a:spcPct val="70000"/>
              </a:lnSpc>
              <a:buClrTx/>
              <a:buNone/>
            </a:pPr>
            <a:r>
              <a:rPr lang="en-US" altLang="zh-CN" sz="2400" b="1"/>
              <a:t> 0.8125D=0.1101B</a:t>
            </a:r>
            <a:r>
              <a:rPr lang="zh-CN" altLang="en-US" sz="2400" b="1"/>
              <a:t>（有时会有转换误差 ，如</a:t>
            </a:r>
            <a:r>
              <a:rPr lang="en-US" altLang="zh-CN" sz="2400" b="1"/>
              <a:t>0.3D</a:t>
            </a:r>
            <a:r>
              <a:rPr lang="zh-CN" altLang="en-US" sz="2400" b="1"/>
              <a:t>）                </a:t>
            </a:r>
            <a:endParaRPr lang="zh-CN" altLang="en-US" sz="2400" b="1"/>
          </a:p>
        </p:txBody>
      </p:sp>
      <p:grpSp>
        <p:nvGrpSpPr>
          <p:cNvPr id="235530" name="组合 235529"/>
          <p:cNvGrpSpPr/>
          <p:nvPr/>
        </p:nvGrpSpPr>
        <p:grpSpPr>
          <a:xfrm>
            <a:off x="3505200" y="3141663"/>
            <a:ext cx="1828800" cy="1943100"/>
            <a:chOff x="2208" y="1979"/>
            <a:chExt cx="1152" cy="1224"/>
          </a:xfrm>
        </p:grpSpPr>
        <p:sp>
          <p:nvSpPr>
            <p:cNvPr id="235524" name="直接连接符 235523"/>
            <p:cNvSpPr/>
            <p:nvPr/>
          </p:nvSpPr>
          <p:spPr>
            <a:xfrm>
              <a:off x="2208" y="1979"/>
              <a:ext cx="1152" cy="0"/>
            </a:xfrm>
            <a:prstGeom prst="line">
              <a:avLst/>
            </a:prstGeom>
            <a:ln w="19050" cap="flat" cmpd="sng">
              <a:solidFill>
                <a:schemeClr val="tx1"/>
              </a:solidFill>
              <a:prstDash val="solid"/>
              <a:headEnd type="none" w="med" len="med"/>
              <a:tailEnd type="none" w="med" len="med"/>
            </a:ln>
          </p:spPr>
        </p:sp>
        <p:sp>
          <p:nvSpPr>
            <p:cNvPr id="235525" name="直接连接符 235524"/>
            <p:cNvSpPr/>
            <p:nvPr/>
          </p:nvSpPr>
          <p:spPr>
            <a:xfrm>
              <a:off x="2208" y="2387"/>
              <a:ext cx="1152" cy="0"/>
            </a:xfrm>
            <a:prstGeom prst="line">
              <a:avLst/>
            </a:prstGeom>
            <a:ln w="19050" cap="flat" cmpd="sng">
              <a:solidFill>
                <a:schemeClr val="tx1"/>
              </a:solidFill>
              <a:prstDash val="solid"/>
              <a:headEnd type="none" w="med" len="med"/>
              <a:tailEnd type="none" w="med" len="med"/>
            </a:ln>
          </p:spPr>
        </p:sp>
        <p:sp>
          <p:nvSpPr>
            <p:cNvPr id="235526" name="直接连接符 235525"/>
            <p:cNvSpPr/>
            <p:nvPr/>
          </p:nvSpPr>
          <p:spPr>
            <a:xfrm>
              <a:off x="2208" y="2795"/>
              <a:ext cx="1152" cy="0"/>
            </a:xfrm>
            <a:prstGeom prst="line">
              <a:avLst/>
            </a:prstGeom>
            <a:ln w="19050" cap="flat" cmpd="sng">
              <a:solidFill>
                <a:schemeClr val="tx1"/>
              </a:solidFill>
              <a:prstDash val="solid"/>
              <a:headEnd type="none" w="med" len="med"/>
              <a:tailEnd type="none" w="med" len="med"/>
            </a:ln>
          </p:spPr>
        </p:sp>
        <p:sp>
          <p:nvSpPr>
            <p:cNvPr id="235527" name="直接连接符 235526"/>
            <p:cNvSpPr/>
            <p:nvPr/>
          </p:nvSpPr>
          <p:spPr>
            <a:xfrm>
              <a:off x="2208" y="3203"/>
              <a:ext cx="1152" cy="0"/>
            </a:xfrm>
            <a:prstGeom prst="line">
              <a:avLst/>
            </a:prstGeom>
            <a:ln w="19050" cap="flat" cmpd="sng">
              <a:solidFill>
                <a:schemeClr val="tx1"/>
              </a:solidFill>
              <a:prstDash val="solid"/>
              <a:headEnd type="none" w="med" len="med"/>
              <a:tailEnd type="none" w="med" len="med"/>
            </a:ln>
          </p:spPr>
        </p:sp>
      </p:grpSp>
      <p:sp>
        <p:nvSpPr>
          <p:cNvPr id="10" name="标题 229377"/>
          <p:cNvSpPr txBox="1"/>
          <p:nvPr/>
        </p:nvSpPr>
        <p:spPr>
          <a:xfrm>
            <a:off x="1871837" y="223838"/>
            <a:ext cx="543646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6546" name="标题 236545"/>
          <p:cNvSpPr>
            <a:spLocks noGrp="1"/>
          </p:cNvSpPr>
          <p:nvPr>
            <p:ph type="title"/>
          </p:nvPr>
        </p:nvSpPr>
        <p:spPr>
          <a:xfrm>
            <a:off x="457200" y="908050"/>
            <a:ext cx="2725738" cy="509588"/>
          </a:xfrm>
        </p:spPr>
        <p:txBody>
          <a:bodyPr anchor="ctr"/>
          <a:lstStyle/>
          <a:p>
            <a:r>
              <a:rPr lang="zh-CN" altLang="en-US" sz="2400" b="1">
                <a:solidFill>
                  <a:srgbClr val="0000FF"/>
                </a:solidFill>
              </a:rPr>
              <a:t>二进制→十进制</a:t>
            </a:r>
            <a:endParaRPr lang="zh-CN" altLang="en-US" sz="2400" b="1">
              <a:solidFill>
                <a:srgbClr val="0000FF"/>
              </a:solidFill>
            </a:endParaRPr>
          </a:p>
        </p:txBody>
      </p:sp>
      <p:sp>
        <p:nvSpPr>
          <p:cNvPr id="236548" name="文本占位符 236547"/>
          <p:cNvSpPr>
            <a:spLocks noGrp="1"/>
          </p:cNvSpPr>
          <p:nvPr>
            <p:ph type="body" idx="1"/>
          </p:nvPr>
        </p:nvSpPr>
        <p:spPr>
          <a:xfrm>
            <a:off x="250825" y="2133600"/>
            <a:ext cx="7867650" cy="1884363"/>
          </a:xfrm>
        </p:spPr>
        <p:txBody>
          <a:bodyPr/>
          <a:lstStyle/>
          <a:p>
            <a:pPr algn="just">
              <a:lnSpc>
                <a:spcPct val="90000"/>
              </a:lnSpc>
              <a:buClrTx/>
              <a:buNone/>
            </a:pPr>
            <a:r>
              <a:rPr lang="zh-CN" altLang="en-US" sz="2400" b="1"/>
              <a:t>方法：各位二进制数码乘以与其对应的权之和即为该二进制数相对应的十进制数。如：</a:t>
            </a:r>
            <a:endParaRPr lang="zh-CN" altLang="en-US" sz="2400"/>
          </a:p>
          <a:p>
            <a:pPr algn="just">
              <a:lnSpc>
                <a:spcPct val="90000"/>
              </a:lnSpc>
              <a:buClrTx/>
              <a:buNone/>
            </a:pPr>
            <a:r>
              <a:rPr lang="en-US" altLang="zh-CN" sz="2400" b="1"/>
              <a:t>1 1 0 1 1 0 1 1 . 1 0 1 </a:t>
            </a:r>
            <a:r>
              <a:rPr lang="en-US" altLang="zh-CN" sz="2400" b="1">
                <a:solidFill>
                  <a:srgbClr val="FF00FF"/>
                </a:solidFill>
              </a:rPr>
              <a:t>B</a:t>
            </a:r>
            <a:r>
              <a:rPr lang="en-US" altLang="zh-CN" sz="2400" b="1"/>
              <a:t>= </a:t>
            </a:r>
            <a:endParaRPr lang="en-US" altLang="zh-CN" sz="2400" b="1"/>
          </a:p>
          <a:p>
            <a:pPr algn="just">
              <a:lnSpc>
                <a:spcPct val="90000"/>
              </a:lnSpc>
              <a:buClrTx/>
              <a:buNone/>
            </a:pPr>
            <a:r>
              <a:rPr lang="en-US" altLang="zh-CN" sz="2400" b="1"/>
              <a:t>   1x2</a:t>
            </a:r>
            <a:r>
              <a:rPr lang="en-US" altLang="zh-CN" sz="2400" b="1" baseline="30000"/>
              <a:t>7</a:t>
            </a:r>
            <a:r>
              <a:rPr lang="en-US" altLang="zh-CN" sz="2400" b="1"/>
              <a:t>+1×2</a:t>
            </a:r>
            <a:r>
              <a:rPr lang="en-US" altLang="zh-CN" sz="2400" b="1" baseline="30000"/>
              <a:t>6</a:t>
            </a:r>
            <a:r>
              <a:rPr lang="en-US" altLang="zh-CN" sz="2400" b="1"/>
              <a:t>+0×2</a:t>
            </a:r>
            <a:r>
              <a:rPr lang="en-US" altLang="zh-CN" sz="2400" b="1" baseline="30000"/>
              <a:t>5</a:t>
            </a:r>
            <a:r>
              <a:rPr lang="en-US" altLang="zh-CN" sz="2400" b="1"/>
              <a:t>+1×2</a:t>
            </a:r>
            <a:r>
              <a:rPr lang="en-US" altLang="zh-CN" sz="2400" b="1" baseline="30000"/>
              <a:t>4</a:t>
            </a:r>
            <a:r>
              <a:rPr lang="en-US" altLang="zh-CN" sz="2400" b="1"/>
              <a:t>+1×2</a:t>
            </a:r>
            <a:r>
              <a:rPr lang="en-US" altLang="zh-CN" sz="2400" b="1" baseline="30000"/>
              <a:t>3</a:t>
            </a:r>
            <a:r>
              <a:rPr lang="en-US" altLang="zh-CN" sz="2400" b="1"/>
              <a:t>+0×2</a:t>
            </a:r>
            <a:r>
              <a:rPr lang="en-US" altLang="zh-CN" sz="2400" b="1" baseline="30000"/>
              <a:t>2</a:t>
            </a:r>
            <a:r>
              <a:rPr lang="en-US" altLang="zh-CN" sz="2400" b="1"/>
              <a:t>+1×2</a:t>
            </a:r>
            <a:r>
              <a:rPr lang="en-US" altLang="zh-CN" sz="2400" b="1" baseline="30000"/>
              <a:t>1</a:t>
            </a:r>
            <a:r>
              <a:rPr lang="en-US" altLang="zh-CN" sz="2400" b="1"/>
              <a:t>+1 ×2</a:t>
            </a:r>
            <a:r>
              <a:rPr lang="en-US" altLang="zh-CN" sz="2400" b="1" baseline="30000"/>
              <a:t>0</a:t>
            </a:r>
            <a:r>
              <a:rPr lang="en-US" altLang="zh-CN" sz="2400" b="1"/>
              <a:t>+1×2</a:t>
            </a:r>
            <a:r>
              <a:rPr lang="en-US" altLang="zh-CN" sz="2400" b="1" baseline="30000"/>
              <a:t>-1</a:t>
            </a:r>
            <a:r>
              <a:rPr lang="en-US" altLang="zh-CN" sz="2400" b="1"/>
              <a:t>+0×2</a:t>
            </a:r>
            <a:r>
              <a:rPr lang="en-US" altLang="zh-CN" sz="2400" b="1" baseline="30000"/>
              <a:t>-2</a:t>
            </a:r>
            <a:r>
              <a:rPr lang="en-US" altLang="zh-CN" sz="2400" b="1"/>
              <a:t>+1×2</a:t>
            </a:r>
            <a:r>
              <a:rPr lang="en-US" altLang="zh-CN" sz="2400" b="1" baseline="30000"/>
              <a:t>-3</a:t>
            </a:r>
            <a:endParaRPr lang="en-US" altLang="zh-CN" sz="2400" b="1" baseline="30000"/>
          </a:p>
        </p:txBody>
      </p:sp>
      <p:sp>
        <p:nvSpPr>
          <p:cNvPr id="5" name="标题 229377"/>
          <p:cNvSpPr txBox="1"/>
          <p:nvPr/>
        </p:nvSpPr>
        <p:spPr>
          <a:xfrm>
            <a:off x="1871837" y="223838"/>
            <a:ext cx="543646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7570" name="标题 237569"/>
          <p:cNvSpPr>
            <a:spLocks noGrp="1"/>
          </p:cNvSpPr>
          <p:nvPr>
            <p:ph type="title"/>
          </p:nvPr>
        </p:nvSpPr>
        <p:spPr>
          <a:xfrm>
            <a:off x="511175" y="908050"/>
            <a:ext cx="5356225" cy="479425"/>
          </a:xfrm>
        </p:spPr>
        <p:txBody>
          <a:bodyPr anchor="ctr"/>
          <a:lstStyle/>
          <a:p>
            <a:pPr algn="l"/>
            <a:r>
              <a:rPr lang="zh-CN" altLang="en-US" sz="2400" b="1" dirty="0">
                <a:solidFill>
                  <a:srgbClr val="0000FF"/>
                </a:solidFill>
              </a:rPr>
              <a:t>（</a:t>
            </a:r>
            <a:r>
              <a:rPr lang="en-US" altLang="zh-CN" sz="2400" b="1">
                <a:solidFill>
                  <a:srgbClr val="0000FF"/>
                </a:solidFill>
              </a:rPr>
              <a:t>2</a:t>
            </a:r>
            <a:r>
              <a:rPr lang="zh-CN" altLang="en-US" sz="2400" b="1" dirty="0">
                <a:solidFill>
                  <a:srgbClr val="0000FF"/>
                </a:solidFill>
              </a:rPr>
              <a:t>）二进制与十六进制间的</a:t>
            </a:r>
            <a:r>
              <a:rPr lang="zh-CN" altLang="en-US" sz="2400" b="1">
                <a:solidFill>
                  <a:srgbClr val="0000FF"/>
                </a:solidFill>
              </a:rPr>
              <a:t>转换</a:t>
            </a:r>
            <a:endParaRPr lang="zh-CN" altLang="en-US" sz="2400" b="1">
              <a:solidFill>
                <a:srgbClr val="0000FF"/>
              </a:solidFill>
            </a:endParaRPr>
          </a:p>
        </p:txBody>
      </p:sp>
      <p:sp>
        <p:nvSpPr>
          <p:cNvPr id="237572" name="文本框 237571"/>
          <p:cNvSpPr txBox="1"/>
          <p:nvPr/>
        </p:nvSpPr>
        <p:spPr>
          <a:xfrm>
            <a:off x="323850" y="1700213"/>
            <a:ext cx="8496300" cy="3416320"/>
          </a:xfrm>
          <a:prstGeom prst="rect">
            <a:avLst/>
          </a:prstGeom>
          <a:noFill/>
          <a:ln w="9525">
            <a:noFill/>
          </a:ln>
        </p:spPr>
        <p:txBody>
          <a:bodyPr>
            <a:spAutoFit/>
          </a:bodyPr>
          <a:lstStyle/>
          <a:p>
            <a:pPr lvl="0">
              <a:spcBef>
                <a:spcPct val="50000"/>
              </a:spcBef>
              <a:buClrTx/>
            </a:pPr>
            <a:r>
              <a:rPr lang="zh-CN" altLang="en-US" sz="2400" b="1" dirty="0">
                <a:solidFill>
                  <a:srgbClr val="0000FF"/>
                </a:solidFill>
                <a:latin typeface="Times New Roman" panose="02020603050405020304" pitchFamily="18" charset="0"/>
                <a:ea typeface="宋体" panose="02010600030101010101" pitchFamily="2" charset="-122"/>
              </a:rPr>
              <a:t>二进制数转换成十六进制数：</a:t>
            </a:r>
            <a:r>
              <a:rPr lang="zh-CN" altLang="en-US" sz="2400" b="1" dirty="0">
                <a:latin typeface="Times New Roman" panose="02020603050405020304" pitchFamily="18" charset="0"/>
                <a:ea typeface="宋体" panose="02010600030101010101" pitchFamily="2" charset="-122"/>
              </a:rPr>
              <a:t>只需将二进制数从</a:t>
            </a:r>
            <a:r>
              <a:rPr lang="zh-CN" altLang="en-US" sz="2400" b="1" dirty="0">
                <a:solidFill>
                  <a:srgbClr val="FF00FF"/>
                </a:solidFill>
                <a:latin typeface="Times New Roman" panose="02020603050405020304" pitchFamily="18" charset="0"/>
                <a:ea typeface="宋体" panose="02010600030101010101" pitchFamily="2" charset="-122"/>
              </a:rPr>
              <a:t>小数点</a:t>
            </a:r>
            <a:r>
              <a:rPr lang="zh-CN" altLang="en-US" sz="2400" b="1" dirty="0">
                <a:latin typeface="Times New Roman" panose="02020603050405020304" pitchFamily="18" charset="0"/>
                <a:ea typeface="宋体" panose="02010600030101010101" pitchFamily="2" charset="-122"/>
              </a:rPr>
              <a:t>开始每</a:t>
            </a:r>
            <a:r>
              <a:rPr lang="en-US" altLang="zh-CN" sz="2400" b="1" dirty="0">
                <a:solidFill>
                  <a:srgbClr val="FF00FF"/>
                </a:solidFill>
                <a:latin typeface="Times New Roman" panose="02020603050405020304" pitchFamily="18" charset="0"/>
                <a:ea typeface="宋体" panose="02010600030101010101" pitchFamily="2" charset="-122"/>
              </a:rPr>
              <a:t>4</a:t>
            </a:r>
            <a:r>
              <a:rPr lang="zh-CN" altLang="en-US" sz="2400" b="1" dirty="0">
                <a:solidFill>
                  <a:srgbClr val="FF00FF"/>
                </a:solidFill>
                <a:latin typeface="Times New Roman" panose="02020603050405020304" pitchFamily="18" charset="0"/>
                <a:ea typeface="宋体" panose="02010600030101010101" pitchFamily="2" charset="-122"/>
              </a:rPr>
              <a:t>位</a:t>
            </a:r>
            <a:r>
              <a:rPr lang="zh-CN" altLang="en-US" sz="2400" b="1" dirty="0">
                <a:latin typeface="Times New Roman" panose="02020603050405020304" pitchFamily="18" charset="0"/>
                <a:ea typeface="宋体" panose="02010600030101010101" pitchFamily="2" charset="-122"/>
              </a:rPr>
              <a:t>转成</a:t>
            </a:r>
            <a:r>
              <a:rPr lang="en-US" altLang="zh-CN" sz="2400" b="1" dirty="0">
                <a:solidFill>
                  <a:srgbClr val="FF00FF"/>
                </a:solidFill>
                <a:latin typeface="Times New Roman" panose="02020603050405020304" pitchFamily="18" charset="0"/>
                <a:ea typeface="宋体" panose="02010600030101010101" pitchFamily="2" charset="-122"/>
              </a:rPr>
              <a:t>1</a:t>
            </a:r>
            <a:r>
              <a:rPr lang="zh-CN" altLang="en-US" sz="2400" b="1" dirty="0">
                <a:solidFill>
                  <a:srgbClr val="FF00FF"/>
                </a:solidFill>
                <a:latin typeface="Times New Roman" panose="02020603050405020304" pitchFamily="18" charset="0"/>
                <a:ea typeface="宋体" panose="02010600030101010101" pitchFamily="2" charset="-122"/>
              </a:rPr>
              <a:t>位十六进制数</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整数由左向右</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小数相反</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如：</a:t>
            </a:r>
            <a:endParaRPr lang="zh-CN" altLang="en-US" sz="2400" b="1" dirty="0">
              <a:latin typeface="Times New Roman" panose="02020603050405020304" pitchFamily="18" charset="0"/>
              <a:ea typeface="宋体" panose="02010600030101010101" pitchFamily="2" charset="-122"/>
            </a:endParaRPr>
          </a:p>
          <a:p>
            <a:pPr lvl="0">
              <a:spcBef>
                <a:spcPct val="50000"/>
              </a:spcBef>
              <a:buClrTx/>
            </a:pPr>
            <a:r>
              <a:rPr lang="en-US" altLang="zh-CN" sz="2400" b="1" dirty="0">
                <a:latin typeface="Arial" panose="020B0604020202020204" pitchFamily="34" charset="0"/>
                <a:ea typeface="宋体" panose="02010600030101010101" pitchFamily="2" charset="-122"/>
              </a:rPr>
              <a:t>1101101101.0100101B=</a:t>
            </a:r>
            <a:r>
              <a:rPr lang="en-US" altLang="zh-CN" sz="2400" b="1" u="sng" dirty="0">
                <a:latin typeface="Arial" panose="020B0604020202020204" pitchFamily="34" charset="0"/>
                <a:ea typeface="宋体" panose="02010600030101010101" pitchFamily="2" charset="-122"/>
              </a:rPr>
              <a:t>0011</a:t>
            </a:r>
            <a:r>
              <a:rPr lang="en-US" altLang="zh-CN" sz="2400" b="1" dirty="0">
                <a:latin typeface="Arial" panose="020B0604020202020204" pitchFamily="34" charset="0"/>
                <a:ea typeface="宋体" panose="02010600030101010101" pitchFamily="2" charset="-122"/>
              </a:rPr>
              <a:t> </a:t>
            </a:r>
            <a:r>
              <a:rPr lang="en-US" altLang="zh-CN" sz="2400" b="1" u="sng" dirty="0">
                <a:latin typeface="Arial" panose="020B0604020202020204" pitchFamily="34" charset="0"/>
                <a:ea typeface="宋体" panose="02010600030101010101" pitchFamily="2" charset="-122"/>
              </a:rPr>
              <a:t>0110</a:t>
            </a:r>
            <a:r>
              <a:rPr lang="en-US" altLang="zh-CN" sz="2400" b="1" dirty="0">
                <a:latin typeface="Arial" panose="020B0604020202020204" pitchFamily="34" charset="0"/>
                <a:ea typeface="宋体" panose="02010600030101010101" pitchFamily="2" charset="-122"/>
              </a:rPr>
              <a:t> </a:t>
            </a:r>
            <a:r>
              <a:rPr lang="en-US" altLang="zh-CN" sz="2400" b="1" u="sng" dirty="0">
                <a:latin typeface="Arial" panose="020B0604020202020204" pitchFamily="34" charset="0"/>
                <a:ea typeface="宋体" panose="02010600030101010101" pitchFamily="2" charset="-122"/>
              </a:rPr>
              <a:t>1101</a:t>
            </a:r>
            <a:r>
              <a:rPr lang="en-US" altLang="zh-CN" sz="2400" b="1" dirty="0">
                <a:latin typeface="Arial" panose="020B0604020202020204" pitchFamily="34" charset="0"/>
                <a:ea typeface="宋体" panose="02010600030101010101" pitchFamily="2" charset="-122"/>
              </a:rPr>
              <a:t>.</a:t>
            </a:r>
            <a:r>
              <a:rPr lang="en-US" altLang="zh-CN" sz="2400" b="1" u="sng" dirty="0">
                <a:latin typeface="Arial" panose="020B0604020202020204" pitchFamily="34" charset="0"/>
                <a:ea typeface="宋体" panose="02010600030101010101" pitchFamily="2" charset="-122"/>
              </a:rPr>
              <a:t>0100</a:t>
            </a:r>
            <a:r>
              <a:rPr lang="en-US" altLang="zh-CN" sz="2400" b="1" dirty="0">
                <a:latin typeface="Arial" panose="020B0604020202020204" pitchFamily="34" charset="0"/>
                <a:ea typeface="宋体" panose="02010600030101010101" pitchFamily="2" charset="-122"/>
              </a:rPr>
              <a:t> </a:t>
            </a:r>
            <a:r>
              <a:rPr lang="en-US" altLang="zh-CN" sz="2400" b="1" u="sng" dirty="0">
                <a:latin typeface="Arial" panose="020B0604020202020204" pitchFamily="34" charset="0"/>
                <a:ea typeface="宋体" panose="02010600030101010101" pitchFamily="2" charset="-122"/>
              </a:rPr>
              <a:t>1010B</a:t>
            </a:r>
            <a:r>
              <a:rPr lang="en-US" altLang="zh-CN" sz="2400" b="1" dirty="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a:p>
            <a:pPr lvl="0">
              <a:spcBef>
                <a:spcPct val="50000"/>
              </a:spcBef>
              <a:buClrTx/>
            </a:pPr>
            <a:r>
              <a:rPr lang="en-US" altLang="zh-CN" sz="2400" b="1" dirty="0">
                <a:latin typeface="Arial" panose="020B0604020202020204" pitchFamily="34" charset="0"/>
                <a:ea typeface="宋体" panose="02010600030101010101" pitchFamily="2" charset="-122"/>
              </a:rPr>
              <a:t>=36D.4AH</a:t>
            </a:r>
            <a:r>
              <a:rPr lang="en-US" altLang="zh-CN" sz="1800" dirty="0">
                <a:latin typeface="Arial" panose="020B0604020202020204" pitchFamily="34"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a:p>
            <a:pPr lvl="0">
              <a:spcBef>
                <a:spcPct val="50000"/>
              </a:spcBef>
              <a:buClrTx/>
            </a:pPr>
            <a:r>
              <a:rPr lang="zh-CN" altLang="en-US" sz="2400" b="1" dirty="0">
                <a:solidFill>
                  <a:srgbClr val="0000FF"/>
                </a:solidFill>
                <a:latin typeface="Times New Roman" panose="02020603050405020304" pitchFamily="18" charset="0"/>
                <a:ea typeface="宋体" panose="02010600030101010101" pitchFamily="2" charset="-122"/>
              </a:rPr>
              <a:t>十六进制数转换成二进制数：</a:t>
            </a:r>
            <a:r>
              <a:rPr lang="zh-CN" altLang="en-US" sz="2400" b="1" dirty="0">
                <a:latin typeface="Times New Roman" panose="02020603050405020304" pitchFamily="18" charset="0"/>
                <a:ea typeface="宋体" panose="02010600030101010101" pitchFamily="2" charset="-122"/>
              </a:rPr>
              <a:t>把十六进制数中的每一位用</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位二进制数表示，就可转换成相应的二进制数。如</a:t>
            </a:r>
            <a:r>
              <a:rPr lang="zh-CN" altLang="en-US" sz="2400" b="1" dirty="0" smtClean="0">
                <a:latin typeface="Times New Roman" panose="02020603050405020304" pitchFamily="18" charset="0"/>
                <a:ea typeface="宋体" panose="02010600030101010101" pitchFamily="2" charset="-122"/>
              </a:rPr>
              <a:t>：</a:t>
            </a:r>
            <a:endParaRPr lang="en-US" altLang="zh-CN" sz="2400" b="1" dirty="0" smtClean="0">
              <a:latin typeface="Times New Roman" panose="02020603050405020304" pitchFamily="18" charset="0"/>
              <a:ea typeface="宋体" panose="02010600030101010101" pitchFamily="2" charset="-122"/>
            </a:endParaRPr>
          </a:p>
          <a:p>
            <a:pPr lvl="0">
              <a:spcBef>
                <a:spcPct val="50000"/>
              </a:spcBef>
              <a:buClrTx/>
            </a:pPr>
            <a:r>
              <a:rPr lang="pt-BR" altLang="zh-CN" sz="2400" b="1" dirty="0"/>
              <a:t>4FA.C7H=</a:t>
            </a:r>
            <a:r>
              <a:rPr lang="pt-BR" altLang="zh-CN" sz="2400" b="1" u="sng" dirty="0"/>
              <a:t>0100</a:t>
            </a:r>
            <a:r>
              <a:rPr lang="pt-BR" altLang="zh-CN" sz="2400" b="1" dirty="0"/>
              <a:t> </a:t>
            </a:r>
            <a:r>
              <a:rPr lang="pt-BR" altLang="zh-CN" sz="2400" b="1" u="sng" dirty="0"/>
              <a:t>1111</a:t>
            </a:r>
            <a:r>
              <a:rPr lang="pt-BR" altLang="zh-CN" sz="2400" b="1" dirty="0"/>
              <a:t> </a:t>
            </a:r>
            <a:r>
              <a:rPr lang="pt-BR" altLang="zh-CN" sz="2400" b="1" u="sng" dirty="0"/>
              <a:t>1010</a:t>
            </a:r>
            <a:r>
              <a:rPr lang="pt-BR" altLang="zh-CN" sz="2400" b="1" dirty="0"/>
              <a:t> . </a:t>
            </a:r>
            <a:r>
              <a:rPr lang="pt-BR" altLang="zh-CN" sz="2400" b="1" u="sng" dirty="0"/>
              <a:t>1100</a:t>
            </a:r>
            <a:r>
              <a:rPr lang="pt-BR" altLang="zh-CN" sz="2400" b="1" dirty="0"/>
              <a:t> </a:t>
            </a:r>
            <a:r>
              <a:rPr lang="pt-BR" altLang="zh-CN" sz="2400" b="1" u="sng" dirty="0"/>
              <a:t>0111</a:t>
            </a:r>
            <a:r>
              <a:rPr lang="pt-BR" altLang="zh-CN" sz="2400" b="1" dirty="0"/>
              <a:t>B=10011111010.11000111B</a:t>
            </a:r>
            <a:endParaRPr lang="zh-CN" altLang="en-US" sz="2400" b="1" dirty="0"/>
          </a:p>
        </p:txBody>
      </p:sp>
      <p:sp>
        <p:nvSpPr>
          <p:cNvPr id="5" name="标题 229377"/>
          <p:cNvSpPr txBox="1"/>
          <p:nvPr/>
        </p:nvSpPr>
        <p:spPr>
          <a:xfrm>
            <a:off x="1871837" y="223838"/>
            <a:ext cx="543646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8594" name="标题 238593"/>
          <p:cNvSpPr>
            <a:spLocks noGrp="1"/>
          </p:cNvSpPr>
          <p:nvPr>
            <p:ph type="title"/>
          </p:nvPr>
        </p:nvSpPr>
        <p:spPr>
          <a:xfrm>
            <a:off x="323850" y="836613"/>
            <a:ext cx="4824413" cy="609600"/>
          </a:xfrm>
        </p:spPr>
        <p:txBody>
          <a:bodyPr anchor="ctr"/>
          <a:lstStyle/>
          <a:p>
            <a:pPr algn="l"/>
            <a:r>
              <a:rPr lang="zh-CN" altLang="en-US" sz="2400" b="1" dirty="0">
                <a:solidFill>
                  <a:srgbClr val="0000FF"/>
                </a:solidFill>
              </a:rPr>
              <a:t>（</a:t>
            </a:r>
            <a:r>
              <a:rPr lang="en-US" altLang="zh-CN" sz="2400" b="1">
                <a:solidFill>
                  <a:srgbClr val="0000FF"/>
                </a:solidFill>
              </a:rPr>
              <a:t>3</a:t>
            </a:r>
            <a:r>
              <a:rPr lang="zh-CN" altLang="en-US" sz="2400" b="1" dirty="0">
                <a:solidFill>
                  <a:srgbClr val="0000FF"/>
                </a:solidFill>
              </a:rPr>
              <a:t>）十进制</a:t>
            </a:r>
            <a:r>
              <a:rPr lang="zh-CN" altLang="en-US" sz="2400" b="1">
                <a:solidFill>
                  <a:srgbClr val="0000FF"/>
                </a:solidFill>
              </a:rPr>
              <a:t>和</a:t>
            </a:r>
            <a:r>
              <a:rPr lang="zh-CN" altLang="en-US" sz="2400" b="1" dirty="0">
                <a:solidFill>
                  <a:srgbClr val="0000FF"/>
                </a:solidFill>
              </a:rPr>
              <a:t>十六进制间转换</a:t>
            </a:r>
            <a:endParaRPr lang="zh-CN" altLang="en-US" sz="2400" b="1">
              <a:solidFill>
                <a:srgbClr val="0000FF"/>
              </a:solidFill>
            </a:endParaRPr>
          </a:p>
        </p:txBody>
      </p:sp>
      <p:sp>
        <p:nvSpPr>
          <p:cNvPr id="238595" name="文本占位符 238594"/>
          <p:cNvSpPr>
            <a:spLocks noGrp="1"/>
          </p:cNvSpPr>
          <p:nvPr>
            <p:ph type="body" idx="1"/>
          </p:nvPr>
        </p:nvSpPr>
        <p:spPr>
          <a:xfrm>
            <a:off x="323850" y="1628775"/>
            <a:ext cx="8245475" cy="4608513"/>
          </a:xfrm>
        </p:spPr>
        <p:txBody>
          <a:bodyPr/>
          <a:lstStyle/>
          <a:p>
            <a:pPr>
              <a:buClrTx/>
              <a:buNone/>
            </a:pPr>
            <a:r>
              <a:rPr lang="zh-CN" altLang="en-US" sz="2400" b="1"/>
              <a:t>十进制数转换成十六进制数，方法同十进制数转换成二进制数，只不过“除</a:t>
            </a:r>
            <a:r>
              <a:rPr lang="en-US" altLang="zh-CN" sz="2400" b="1"/>
              <a:t>2</a:t>
            </a:r>
            <a:r>
              <a:rPr lang="zh-CN" altLang="en-US" sz="2400" b="1"/>
              <a:t>取余”变为“</a:t>
            </a:r>
            <a:r>
              <a:rPr lang="zh-CN" altLang="en-US" sz="2400" b="1">
                <a:solidFill>
                  <a:srgbClr val="0000FF"/>
                </a:solidFill>
              </a:rPr>
              <a:t>除</a:t>
            </a:r>
            <a:r>
              <a:rPr lang="en-US" altLang="zh-CN" sz="2400" b="1">
                <a:solidFill>
                  <a:srgbClr val="0000FF"/>
                </a:solidFill>
              </a:rPr>
              <a:t>16</a:t>
            </a:r>
            <a:r>
              <a:rPr lang="zh-CN" altLang="en-US" sz="2400" b="1">
                <a:solidFill>
                  <a:srgbClr val="0000FF"/>
                </a:solidFill>
              </a:rPr>
              <a:t>取余</a:t>
            </a:r>
            <a:r>
              <a:rPr lang="zh-CN" altLang="en-US" sz="2400" b="1"/>
              <a:t>”，“乘</a:t>
            </a:r>
            <a:r>
              <a:rPr lang="en-US" altLang="zh-CN" sz="2400" b="1"/>
              <a:t>2</a:t>
            </a:r>
            <a:r>
              <a:rPr lang="zh-CN" altLang="en-US" sz="2400" b="1"/>
              <a:t>取整” 变为“</a:t>
            </a:r>
            <a:r>
              <a:rPr lang="zh-CN" altLang="en-US" sz="2400" b="1">
                <a:solidFill>
                  <a:srgbClr val="0000FF"/>
                </a:solidFill>
              </a:rPr>
              <a:t>乘</a:t>
            </a:r>
            <a:r>
              <a:rPr lang="en-US" altLang="zh-CN" sz="2400" b="1">
                <a:solidFill>
                  <a:srgbClr val="0000FF"/>
                </a:solidFill>
              </a:rPr>
              <a:t>16</a:t>
            </a:r>
            <a:r>
              <a:rPr lang="zh-CN" altLang="en-US" sz="2400" b="1">
                <a:solidFill>
                  <a:srgbClr val="0000FF"/>
                </a:solidFill>
              </a:rPr>
              <a:t>取整</a:t>
            </a:r>
            <a:r>
              <a:rPr lang="zh-CN" altLang="en-US" sz="2400" b="1" dirty="0"/>
              <a:t>”。</a:t>
            </a:r>
            <a:endParaRPr lang="zh-CN" altLang="en-US" sz="2400" b="1" dirty="0"/>
          </a:p>
          <a:p>
            <a:pPr>
              <a:buClrTx/>
              <a:buNone/>
            </a:pPr>
            <a:r>
              <a:rPr lang="zh-CN" altLang="en-US" sz="2400" b="1" dirty="0"/>
              <a:t>十六进制</a:t>
            </a:r>
            <a:r>
              <a:rPr lang="zh-CN" altLang="en-US" sz="2400" b="1"/>
              <a:t>数转换成十进制数，只要将十六进制数按位权展开相加即可，如将</a:t>
            </a:r>
            <a:r>
              <a:rPr lang="en-US" altLang="zh-CN" sz="2400" b="1"/>
              <a:t>8A.B5H</a:t>
            </a:r>
            <a:r>
              <a:rPr lang="zh-CN" altLang="en-US" sz="2400" b="1"/>
              <a:t>转换成十进制数：</a:t>
            </a:r>
            <a:endParaRPr lang="zh-CN" altLang="en-US" sz="2400" b="1"/>
          </a:p>
          <a:p>
            <a:pPr>
              <a:buClrTx/>
              <a:buNone/>
            </a:pPr>
            <a:r>
              <a:rPr lang="en-US" altLang="zh-CN" sz="2400" b="1"/>
              <a:t>8A.B5H=8×16</a:t>
            </a:r>
            <a:r>
              <a:rPr lang="en-US" altLang="zh-CN" sz="2400" b="1" baseline="30000"/>
              <a:t>1</a:t>
            </a:r>
            <a:r>
              <a:rPr lang="zh-CN" altLang="en-US" sz="2400" b="1"/>
              <a:t>＋</a:t>
            </a:r>
            <a:r>
              <a:rPr lang="en-US" altLang="zh-CN" sz="2400" b="1"/>
              <a:t>10×16</a:t>
            </a:r>
            <a:r>
              <a:rPr lang="en-US" altLang="zh-CN" sz="2400" b="1" baseline="30000"/>
              <a:t>0</a:t>
            </a:r>
            <a:r>
              <a:rPr lang="zh-CN" altLang="en-US" sz="2400" b="1"/>
              <a:t>＋</a:t>
            </a:r>
            <a:r>
              <a:rPr lang="en-US" altLang="zh-CN" sz="2400" b="1"/>
              <a:t>11×16</a:t>
            </a:r>
            <a:r>
              <a:rPr lang="en-US" altLang="zh-CN" sz="2400" b="1" baseline="30000"/>
              <a:t>-1</a:t>
            </a:r>
            <a:r>
              <a:rPr lang="en-US" altLang="zh-CN" sz="2400" b="1"/>
              <a:t>+5×16</a:t>
            </a:r>
            <a:r>
              <a:rPr lang="en-US" altLang="zh-CN" sz="2400" b="1" baseline="30000"/>
              <a:t>-2</a:t>
            </a:r>
            <a:endParaRPr lang="en-US" altLang="zh-CN" sz="2400" b="1" baseline="30000"/>
          </a:p>
          <a:p>
            <a:pPr>
              <a:buClrTx/>
              <a:buNone/>
            </a:pPr>
            <a:r>
              <a:rPr lang="en-US" altLang="zh-CN" sz="2400" b="1" baseline="30000"/>
              <a:t>	                 </a:t>
            </a:r>
            <a:r>
              <a:rPr lang="en-US" altLang="zh-CN" sz="2400" b="1"/>
              <a:t> =128</a:t>
            </a:r>
            <a:r>
              <a:rPr lang="zh-CN" altLang="en-US" sz="2400" b="1"/>
              <a:t>＋</a:t>
            </a:r>
            <a:r>
              <a:rPr lang="en-US" altLang="zh-CN" sz="2400" b="1"/>
              <a:t>10</a:t>
            </a:r>
            <a:r>
              <a:rPr lang="zh-CN" altLang="en-US" sz="2400" b="1"/>
              <a:t>＋</a:t>
            </a:r>
            <a:r>
              <a:rPr lang="en-US" altLang="zh-CN" sz="2400" b="1"/>
              <a:t>0.6875</a:t>
            </a:r>
            <a:r>
              <a:rPr lang="zh-CN" altLang="en-US" sz="2400" b="1"/>
              <a:t>＋</a:t>
            </a:r>
            <a:r>
              <a:rPr lang="en-US" altLang="zh-CN" sz="2400" b="1"/>
              <a:t>0.0195=138.707D</a:t>
            </a:r>
            <a:endParaRPr lang="en-US" altLang="zh-CN" sz="2400" b="1"/>
          </a:p>
          <a:p>
            <a:pPr>
              <a:buClrTx/>
              <a:buNone/>
            </a:pPr>
            <a:endParaRPr lang="en-US" altLang="zh-CN" sz="2400" b="1"/>
          </a:p>
          <a:p>
            <a:pPr>
              <a:buClrTx/>
              <a:buNone/>
            </a:pPr>
            <a:r>
              <a:rPr lang="zh-CN" altLang="en-US" sz="2400" b="1"/>
              <a:t>另一种方法是以二进制数作桥梁：</a:t>
            </a:r>
            <a:endParaRPr lang="zh-CN" altLang="en-US" sz="2400" b="1"/>
          </a:p>
          <a:p>
            <a:pPr>
              <a:buClrTx/>
              <a:buNone/>
            </a:pPr>
            <a:r>
              <a:rPr lang="zh-CN" altLang="en-US" sz="2400" b="1"/>
              <a:t>即十六进制数　　</a:t>
            </a:r>
            <a:r>
              <a:rPr lang="zh-CN" altLang="en-US" sz="2400" b="1">
                <a:solidFill>
                  <a:srgbClr val="0000FF"/>
                </a:solidFill>
              </a:rPr>
              <a:t>二进制数</a:t>
            </a:r>
            <a:r>
              <a:rPr lang="zh-CN" altLang="en-US" sz="2400" b="1"/>
              <a:t>　　十进制数</a:t>
            </a:r>
            <a:endParaRPr lang="zh-CN" altLang="en-US" sz="2400" b="1"/>
          </a:p>
        </p:txBody>
      </p:sp>
      <p:grpSp>
        <p:nvGrpSpPr>
          <p:cNvPr id="238599" name="组合 238598"/>
          <p:cNvGrpSpPr/>
          <p:nvPr/>
        </p:nvGrpSpPr>
        <p:grpSpPr>
          <a:xfrm>
            <a:off x="2339975" y="5589588"/>
            <a:ext cx="2257425" cy="0"/>
            <a:chOff x="1474" y="3521"/>
            <a:chExt cx="1422" cy="0"/>
          </a:xfrm>
        </p:grpSpPr>
        <p:sp>
          <p:nvSpPr>
            <p:cNvPr id="238597" name="直接连接符 238596"/>
            <p:cNvSpPr/>
            <p:nvPr/>
          </p:nvSpPr>
          <p:spPr>
            <a:xfrm>
              <a:off x="1474" y="3521"/>
              <a:ext cx="288" cy="0"/>
            </a:xfrm>
            <a:prstGeom prst="line">
              <a:avLst/>
            </a:prstGeom>
            <a:ln w="38100" cap="flat" cmpd="sng">
              <a:solidFill>
                <a:srgbClr val="000000"/>
              </a:solidFill>
              <a:prstDash val="solid"/>
              <a:headEnd type="none" w="med" len="med"/>
              <a:tailEnd type="triangle" w="med" len="med"/>
            </a:ln>
          </p:spPr>
        </p:sp>
        <p:sp>
          <p:nvSpPr>
            <p:cNvPr id="238598" name="直接连接符 238597"/>
            <p:cNvSpPr/>
            <p:nvPr/>
          </p:nvSpPr>
          <p:spPr>
            <a:xfrm>
              <a:off x="2608" y="3521"/>
              <a:ext cx="288" cy="0"/>
            </a:xfrm>
            <a:prstGeom prst="line">
              <a:avLst/>
            </a:prstGeom>
            <a:ln w="38100" cap="flat" cmpd="sng">
              <a:solidFill>
                <a:srgbClr val="000000"/>
              </a:solidFill>
              <a:prstDash val="solid"/>
              <a:headEnd type="none" w="med" len="med"/>
              <a:tailEnd type="triangle" w="med" len="med"/>
            </a:ln>
          </p:spPr>
        </p:sp>
      </p:grpSp>
      <p:sp>
        <p:nvSpPr>
          <p:cNvPr id="8" name="标题 229377"/>
          <p:cNvSpPr txBox="1"/>
          <p:nvPr/>
        </p:nvSpPr>
        <p:spPr>
          <a:xfrm>
            <a:off x="1871837" y="223838"/>
            <a:ext cx="543646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9618" name="标题 239617"/>
          <p:cNvSpPr>
            <a:spLocks noGrp="1"/>
          </p:cNvSpPr>
          <p:nvPr>
            <p:ph type="title"/>
          </p:nvPr>
        </p:nvSpPr>
        <p:spPr>
          <a:xfrm>
            <a:off x="457200" y="836613"/>
            <a:ext cx="8229600" cy="436562"/>
          </a:xfrm>
        </p:spPr>
        <p:txBody>
          <a:bodyPr anchor="ctr"/>
          <a:lstStyle/>
          <a:p>
            <a:pPr algn="l"/>
            <a:r>
              <a:rPr lang="zh-CN" altLang="en-US" sz="2800" b="1" dirty="0">
                <a:solidFill>
                  <a:srgbClr val="0000FF"/>
                </a:solidFill>
                <a:latin typeface="Times New Roman" panose="02020603050405020304" pitchFamily="18" charset="0"/>
                <a:ea typeface="宋体" panose="02010600030101010101" pitchFamily="2" charset="-122"/>
              </a:rPr>
              <a:t>二、二进制的运算</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239619" name="文本占位符 239618"/>
          <p:cNvSpPr>
            <a:spLocks noGrp="1"/>
          </p:cNvSpPr>
          <p:nvPr>
            <p:ph type="body" idx="1"/>
          </p:nvPr>
        </p:nvSpPr>
        <p:spPr>
          <a:xfrm>
            <a:off x="457200" y="1412875"/>
            <a:ext cx="8229600" cy="2405063"/>
          </a:xfrm>
        </p:spPr>
        <p:txBody>
          <a:bodyPr/>
          <a:lstStyle/>
          <a:p>
            <a:pPr marL="0" indent="182880">
              <a:lnSpc>
                <a:spcPct val="75000"/>
              </a:lnSpc>
              <a:buClrTx/>
              <a:buNone/>
            </a:pPr>
            <a:r>
              <a:rPr lang="en-US" altLang="zh-CN" sz="2400" b="1" dirty="0">
                <a:solidFill>
                  <a:srgbClr val="0000CC"/>
                </a:solidFill>
                <a:latin typeface="Times New Roman" panose="02020603050405020304" pitchFamily="18" charset="0"/>
                <a:ea typeface="宋体" panose="02010600030101010101" pitchFamily="2" charset="-122"/>
              </a:rPr>
              <a:t>1</a:t>
            </a:r>
            <a:r>
              <a:rPr lang="zh-CN" altLang="en-US" sz="2400" b="1" dirty="0">
                <a:solidFill>
                  <a:srgbClr val="0000CC"/>
                </a:solidFill>
                <a:latin typeface="Times New Roman" panose="02020603050405020304" pitchFamily="18" charset="0"/>
                <a:ea typeface="宋体" panose="02010600030101010101" pitchFamily="2" charset="-122"/>
              </a:rPr>
              <a:t>、算术运算规则</a:t>
            </a:r>
            <a:endParaRPr lang="zh-CN" altLang="en-US" sz="2400" b="1" dirty="0">
              <a:solidFill>
                <a:srgbClr val="0000CC"/>
              </a:solidFill>
              <a:latin typeface="Times New Roman" panose="02020603050405020304" pitchFamily="18" charset="0"/>
              <a:ea typeface="宋体" panose="02010600030101010101" pitchFamily="2" charset="-122"/>
            </a:endParaRPr>
          </a:p>
          <a:p>
            <a:pPr marL="0" indent="182880">
              <a:lnSpc>
                <a:spcPct val="75000"/>
              </a:lnSpc>
              <a:buClrTx/>
              <a:buNone/>
            </a:pPr>
            <a:endParaRPr lang="zh-CN" altLang="en-US" sz="2400" b="1" dirty="0"/>
          </a:p>
          <a:p>
            <a:pPr marL="0" indent="182880">
              <a:lnSpc>
                <a:spcPct val="75000"/>
              </a:lnSpc>
              <a:buClrTx/>
              <a:buNone/>
            </a:pPr>
            <a:r>
              <a:rPr lang="zh-CN" altLang="en-US" sz="2400" b="1" dirty="0"/>
              <a:t>  加法		减法		                乘法</a:t>
            </a:r>
            <a:endParaRPr lang="zh-CN" altLang="en-US" sz="2400" b="1" dirty="0"/>
          </a:p>
          <a:p>
            <a:pPr marL="0" indent="182880">
              <a:lnSpc>
                <a:spcPct val="75000"/>
              </a:lnSpc>
              <a:buClrTx/>
              <a:buNone/>
            </a:pPr>
            <a:r>
              <a:rPr lang="en-US" altLang="zh-CN" sz="2400" b="1" dirty="0"/>
              <a:t>0+0=0                 0‐0=0 	                        0×0=0</a:t>
            </a:r>
            <a:endParaRPr lang="en-US" altLang="zh-CN" sz="2400" b="1" dirty="0"/>
          </a:p>
          <a:p>
            <a:pPr marL="0" indent="182880">
              <a:lnSpc>
                <a:spcPct val="55000"/>
              </a:lnSpc>
              <a:buClrTx/>
              <a:buNone/>
            </a:pPr>
            <a:r>
              <a:rPr lang="en-US" altLang="zh-CN" sz="2400" b="1" dirty="0"/>
              <a:t>0+1=1                 0‐1=1	                        0×1=0</a:t>
            </a:r>
            <a:endParaRPr lang="en-US" altLang="zh-CN" sz="2400" b="1" dirty="0"/>
          </a:p>
          <a:p>
            <a:pPr marL="0" indent="182880">
              <a:lnSpc>
                <a:spcPct val="55000"/>
              </a:lnSpc>
              <a:buClrTx/>
              <a:buNone/>
            </a:pPr>
            <a:r>
              <a:rPr lang="en-US" altLang="zh-CN" sz="2400" b="1" dirty="0"/>
              <a:t>1+0=1                 1‐0=1	                        1×0=0</a:t>
            </a:r>
            <a:endParaRPr lang="en-US" altLang="zh-CN" sz="2400" b="1" dirty="0"/>
          </a:p>
          <a:p>
            <a:pPr marL="0" indent="182880">
              <a:lnSpc>
                <a:spcPct val="55000"/>
              </a:lnSpc>
              <a:buClrTx/>
              <a:buNone/>
            </a:pPr>
            <a:r>
              <a:rPr lang="en-US" altLang="zh-CN" sz="2400" b="1" dirty="0"/>
              <a:t>1+1=10 </a:t>
            </a:r>
            <a:r>
              <a:rPr lang="en-US" altLang="zh-CN" dirty="0"/>
              <a:t> </a:t>
            </a:r>
            <a:r>
              <a:rPr lang="zh-CN" altLang="en-US" sz="2400" b="1" dirty="0"/>
              <a:t>有进位</a:t>
            </a:r>
            <a:r>
              <a:rPr lang="zh-CN" altLang="en-US" dirty="0"/>
              <a:t> </a:t>
            </a:r>
            <a:r>
              <a:rPr lang="en-US" altLang="zh-CN" sz="2400" b="1" dirty="0"/>
              <a:t>1‐1=0	</a:t>
            </a:r>
            <a:r>
              <a:rPr lang="zh-CN" altLang="en-US" sz="2400" b="1" dirty="0"/>
              <a:t>有借位</a:t>
            </a:r>
            <a:r>
              <a:rPr lang="zh-CN" altLang="en-US" dirty="0"/>
              <a:t> </a:t>
            </a:r>
            <a:r>
              <a:rPr lang="en-US" altLang="zh-CN" sz="2400" b="1" dirty="0"/>
              <a:t>            1×1=1</a:t>
            </a:r>
            <a:endParaRPr lang="en-US" altLang="zh-CN" sz="2400" b="1" dirty="0"/>
          </a:p>
        </p:txBody>
      </p:sp>
      <p:sp>
        <p:nvSpPr>
          <p:cNvPr id="239627" name="矩形 239626"/>
          <p:cNvSpPr/>
          <p:nvPr/>
        </p:nvSpPr>
        <p:spPr>
          <a:xfrm>
            <a:off x="611188" y="3860284"/>
            <a:ext cx="2791470" cy="369332"/>
          </a:xfrm>
          <a:prstGeom prst="rect">
            <a:avLst/>
          </a:prstGeom>
          <a:noFill/>
          <a:ln w="9525">
            <a:noFill/>
          </a:ln>
        </p:spPr>
        <p:txBody>
          <a:bodyPr wrap="none" anchor="ctr">
            <a:spAutoFit/>
          </a:bodyPr>
          <a:lstStyle/>
          <a:p>
            <a:pPr lvl="0" indent="182880">
              <a:lnSpc>
                <a:spcPct val="75000"/>
              </a:lnSpc>
              <a:spcBef>
                <a:spcPct val="20000"/>
              </a:spcBef>
            </a:pPr>
            <a:r>
              <a:rPr lang="en-US" altLang="zh-CN" sz="2400" b="1" dirty="0">
                <a:solidFill>
                  <a:srgbClr val="0000CC"/>
                </a:solidFill>
                <a:cs typeface="+mn-cs"/>
              </a:rPr>
              <a:t>2</a:t>
            </a:r>
            <a:r>
              <a:rPr lang="zh-CN" altLang="en-US" sz="2400" b="1" dirty="0">
                <a:solidFill>
                  <a:srgbClr val="0000CC"/>
                </a:solidFill>
                <a:cs typeface="+mn-cs"/>
              </a:rPr>
              <a:t>、逻辑运算规则 </a:t>
            </a:r>
            <a:endParaRPr lang="zh-CN" altLang="en-US" sz="2400" b="1" dirty="0">
              <a:solidFill>
                <a:srgbClr val="0000CC"/>
              </a:solidFill>
              <a:cs typeface="+mn-cs"/>
            </a:endParaRPr>
          </a:p>
        </p:txBody>
      </p:sp>
      <p:sp>
        <p:nvSpPr>
          <p:cNvPr id="239641" name="矩形 239640"/>
          <p:cNvSpPr/>
          <p:nvPr/>
        </p:nvSpPr>
        <p:spPr>
          <a:xfrm>
            <a:off x="1738313" y="2797175"/>
            <a:ext cx="1400175" cy="0"/>
          </a:xfrm>
          <a:prstGeom prst="rect">
            <a:avLst/>
          </a:prstGeom>
          <a:noFill/>
          <a:ln w="9525">
            <a:noFill/>
          </a:ln>
        </p:spPr>
        <p:txBody>
          <a:bodyPr/>
          <a:lstStyle/>
          <a:p>
            <a:endParaRPr lang="zh-CN" altLang="en-US"/>
          </a:p>
        </p:txBody>
      </p:sp>
      <p:graphicFrame>
        <p:nvGraphicFramePr>
          <p:cNvPr id="239771" name="表格 239770"/>
          <p:cNvGraphicFramePr/>
          <p:nvPr/>
        </p:nvGraphicFramePr>
        <p:xfrm>
          <a:off x="755650" y="4260850"/>
          <a:ext cx="7561263" cy="1981200"/>
        </p:xfrm>
        <a:graphic>
          <a:graphicData uri="http://schemas.openxmlformats.org/drawingml/2006/table">
            <a:tbl>
              <a:tblPr/>
              <a:tblGrid>
                <a:gridCol w="1871663"/>
                <a:gridCol w="1944687"/>
                <a:gridCol w="1655763"/>
                <a:gridCol w="2089150"/>
              </a:tblGrid>
              <a:tr h="39528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spcBef>
                          <a:spcPct val="0"/>
                        </a:spcBef>
                        <a:buClrTx/>
                        <a:buNone/>
                      </a:pPr>
                      <a:r>
                        <a:rPr lang="zh-CN" altLang="en-US" sz="2000" dirty="0">
                          <a:latin typeface="Times New Roman" panose="02020603050405020304" pitchFamily="18" charset="0"/>
                          <a:ea typeface="Times New Roman" panose="02020603050405020304" pitchFamily="18" charset="0"/>
                        </a:rPr>
                        <a:t>“或”运算</a:t>
                      </a:r>
                      <a:endParaRPr lang="zh-CN" altLang="en-US"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2000" dirty="0">
                          <a:latin typeface="Times New Roman" panose="02020603050405020304" pitchFamily="18" charset="0"/>
                          <a:ea typeface="Times New Roman" panose="02020603050405020304" pitchFamily="18" charset="0"/>
                        </a:rPr>
                        <a:t>“与”运算</a:t>
                      </a:r>
                      <a:endParaRPr lang="zh-CN" altLang="en-US"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2000" dirty="0">
                          <a:latin typeface="Times New Roman" panose="02020603050405020304" pitchFamily="18" charset="0"/>
                          <a:ea typeface="Times New Roman" panose="02020603050405020304" pitchFamily="18" charset="0"/>
                        </a:rPr>
                        <a:t>“非”运算</a:t>
                      </a:r>
                      <a:endParaRPr lang="zh-CN" altLang="en-US"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2000" dirty="0">
                          <a:latin typeface="Times New Roman" panose="02020603050405020304" pitchFamily="18" charset="0"/>
                          <a:ea typeface="Times New Roman" panose="02020603050405020304" pitchFamily="18" charset="0"/>
                        </a:rPr>
                        <a:t>“异或”运算</a:t>
                      </a:r>
                      <a:endParaRPr lang="zh-CN" altLang="en-US"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r>
              <a:tr h="39528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spcBef>
                          <a:spcPct val="0"/>
                        </a:spcBef>
                        <a:buClrTx/>
                        <a:buNone/>
                      </a:pPr>
                      <a:r>
                        <a:rPr lang="en-US" altLang="zh-CN" sz="2000">
                          <a:latin typeface="Times New Roman" panose="02020603050405020304" pitchFamily="18" charset="0"/>
                          <a:ea typeface="Times New Roman" panose="02020603050405020304" pitchFamily="18" charset="0"/>
                        </a:rPr>
                        <a:t>0</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0</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endParaRPr lang="zh-CN" altLang="en-US" sz="20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0⊕0=0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528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spcBef>
                          <a:spcPct val="0"/>
                        </a:spcBef>
                        <a:buClrTx/>
                        <a:buNone/>
                      </a:pPr>
                      <a:r>
                        <a:rPr lang="en-US" altLang="zh-CN" sz="2000">
                          <a:latin typeface="Times New Roman" panose="02020603050405020304" pitchFamily="18" charset="0"/>
                          <a:ea typeface="Times New Roman" panose="02020603050405020304" pitchFamily="18" charset="0"/>
                        </a:rPr>
                        <a:t>0</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0</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0⊕1=1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528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spcBef>
                          <a:spcPct val="0"/>
                        </a:spcBef>
                        <a:buClrTx/>
                        <a:buNone/>
                      </a:pPr>
                      <a:r>
                        <a:rPr lang="en-US" altLang="zh-CN" sz="2000">
                          <a:latin typeface="Times New Roman" panose="02020603050405020304" pitchFamily="18" charset="0"/>
                          <a:ea typeface="Times New Roman" panose="02020603050405020304" pitchFamily="18" charset="0"/>
                        </a:rPr>
                        <a:t>1</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1</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endParaRPr lang="zh-CN" altLang="en-US" sz="2000" dirty="0"/>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1⊕0=1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528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spcBef>
                          <a:spcPct val="0"/>
                        </a:spcBef>
                        <a:buClrTx/>
                        <a:buNone/>
                      </a:pPr>
                      <a:r>
                        <a:rPr lang="en-US" altLang="zh-CN" sz="2000" dirty="0">
                          <a:latin typeface="Times New Roman" panose="02020603050405020304" pitchFamily="18" charset="0"/>
                          <a:ea typeface="Times New Roman" panose="02020603050405020304" pitchFamily="18" charset="0"/>
                        </a:rPr>
                        <a:t>1</a:t>
                      </a:r>
                      <a:r>
                        <a:rPr lang="en-US" altLang="zh-CN" sz="2000" dirty="0">
                          <a:latin typeface="Times New Roman" panose="02020603050405020304" pitchFamily="18" charset="0"/>
                        </a:rPr>
                        <a:t>∨</a:t>
                      </a:r>
                      <a:r>
                        <a:rPr lang="en-US" altLang="zh-CN" sz="2000" dirty="0">
                          <a:latin typeface="Times New Roman" panose="02020603050405020304" pitchFamily="18" charset="0"/>
                          <a:ea typeface="Times New Roman" panose="02020603050405020304" pitchFamily="18" charset="0"/>
                        </a:rPr>
                        <a:t>1</a:t>
                      </a:r>
                      <a:r>
                        <a:rPr lang="zh-CN" altLang="en-US" sz="2000" dirty="0">
                          <a:latin typeface="Times New Roman" panose="02020603050405020304" pitchFamily="18" charset="0"/>
                          <a:ea typeface="Times New Roman" panose="02020603050405020304" pitchFamily="18" charset="0"/>
                        </a:rPr>
                        <a:t>＝</a:t>
                      </a:r>
                      <a:r>
                        <a:rPr lang="en-US" altLang="zh-CN" sz="2000" dirty="0">
                          <a:latin typeface="Times New Roman" panose="02020603050405020304" pitchFamily="18" charset="0"/>
                          <a:ea typeface="Times New Roman" panose="02020603050405020304" pitchFamily="18" charset="0"/>
                        </a:rPr>
                        <a:t>1</a:t>
                      </a:r>
                      <a:endParaRPr lang="en-US" altLang="zh-CN" sz="2000" dirty="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a:latin typeface="Times New Roman" panose="02020603050405020304" pitchFamily="18" charset="0"/>
                          <a:ea typeface="Times New Roman" panose="02020603050405020304" pitchFamily="18" charset="0"/>
                        </a:rPr>
                        <a:t>1</a:t>
                      </a:r>
                      <a:r>
                        <a:rPr lang="en-US" altLang="zh-CN" sz="2000">
                          <a:latin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r>
                        <a:rPr lang="zh-CN" altLang="en-US" sz="2000" dirty="0">
                          <a:latin typeface="Times New Roman" panose="02020603050405020304" pitchFamily="18" charset="0"/>
                          <a:ea typeface="Times New Roman" panose="02020603050405020304" pitchFamily="18" charset="0"/>
                        </a:rPr>
                        <a:t>＝</a:t>
                      </a:r>
                      <a:r>
                        <a:rPr lang="en-US" altLang="zh-CN" sz="2000">
                          <a:latin typeface="Times New Roman" panose="02020603050405020304" pitchFamily="18" charset="0"/>
                          <a:ea typeface="Times New Roman" panose="02020603050405020304" pitchFamily="18" charset="0"/>
                        </a:rPr>
                        <a:t>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2000" dirty="0">
                          <a:latin typeface="Times New Roman" panose="02020603050405020304" pitchFamily="18" charset="0"/>
                          <a:ea typeface="Times New Roman" panose="02020603050405020304" pitchFamily="18" charset="0"/>
                        </a:rPr>
                        <a:t>1⊕1=0</a:t>
                      </a:r>
                      <a:endParaRPr lang="en-US" altLang="zh-CN"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39766" name="文本框 239765"/>
          <p:cNvSpPr txBox="1"/>
          <p:nvPr/>
        </p:nvSpPr>
        <p:spPr>
          <a:xfrm>
            <a:off x="4995863" y="5180013"/>
            <a:ext cx="642937" cy="249237"/>
          </a:xfrm>
          <a:prstGeom prst="rect">
            <a:avLst/>
          </a:prstGeom>
          <a:noFill/>
          <a:ln w="9525">
            <a:noFill/>
          </a:ln>
        </p:spPr>
        <p:txBody>
          <a:bodyPr lIns="0" tIns="0" rIns="0" bIns="0"/>
          <a:lstStyle/>
          <a:p>
            <a:pPr lvl="0" algn="just">
              <a:lnSpc>
                <a:spcPct val="72000"/>
              </a:lnSpc>
              <a:buClrTx/>
            </a:pPr>
            <a:r>
              <a:rPr lang="en-US" altLang="zh-CN" sz="2400">
                <a:solidFill>
                  <a:schemeClr val="bg2"/>
                </a:solidFill>
                <a:latin typeface="Times New Roman" panose="02020603050405020304" pitchFamily="18" charset="0"/>
                <a:ea typeface="宋体" panose="02010600030101010101" pitchFamily="2" charset="-122"/>
              </a:rPr>
              <a:t>1=0</a:t>
            </a:r>
            <a:endParaRPr lang="en-US" altLang="zh-CN" sz="2400" b="1">
              <a:solidFill>
                <a:schemeClr val="bg2"/>
              </a:solidFill>
              <a:latin typeface="宋体" panose="02010600030101010101" pitchFamily="2" charset="-122"/>
              <a:ea typeface="宋体" panose="02010600030101010101" pitchFamily="2" charset="-122"/>
            </a:endParaRPr>
          </a:p>
        </p:txBody>
      </p:sp>
      <p:sp>
        <p:nvSpPr>
          <p:cNvPr id="239767" name="直接连接符 239766"/>
          <p:cNvSpPr/>
          <p:nvPr/>
        </p:nvSpPr>
        <p:spPr>
          <a:xfrm>
            <a:off x="5003800" y="5153025"/>
            <a:ext cx="146050" cy="0"/>
          </a:xfrm>
          <a:prstGeom prst="line">
            <a:avLst/>
          </a:prstGeom>
          <a:ln w="9525" cap="flat" cmpd="sng">
            <a:solidFill>
              <a:srgbClr val="000000"/>
            </a:solidFill>
            <a:prstDash val="solid"/>
            <a:headEnd type="none" w="med" len="med"/>
            <a:tailEnd type="none" w="med" len="med"/>
          </a:ln>
        </p:spPr>
      </p:sp>
      <p:sp>
        <p:nvSpPr>
          <p:cNvPr id="239769" name="文本框 239768"/>
          <p:cNvSpPr txBox="1"/>
          <p:nvPr/>
        </p:nvSpPr>
        <p:spPr>
          <a:xfrm>
            <a:off x="5008563" y="5700713"/>
            <a:ext cx="642937" cy="249237"/>
          </a:xfrm>
          <a:prstGeom prst="rect">
            <a:avLst/>
          </a:prstGeom>
          <a:noFill/>
          <a:ln w="9525">
            <a:noFill/>
          </a:ln>
        </p:spPr>
        <p:txBody>
          <a:bodyPr lIns="0" tIns="0" rIns="0" bIns="0"/>
          <a:lstStyle/>
          <a:p>
            <a:pPr lvl="0" algn="just">
              <a:lnSpc>
                <a:spcPct val="72000"/>
              </a:lnSpc>
              <a:buClrTx/>
            </a:pPr>
            <a:r>
              <a:rPr lang="en-US" altLang="zh-CN" sz="2400">
                <a:solidFill>
                  <a:schemeClr val="bg2"/>
                </a:solidFill>
                <a:latin typeface="Times New Roman" panose="02020603050405020304" pitchFamily="18" charset="0"/>
                <a:ea typeface="宋体" panose="02010600030101010101" pitchFamily="2" charset="-122"/>
              </a:rPr>
              <a:t>0=1</a:t>
            </a:r>
            <a:endParaRPr lang="en-US" altLang="zh-CN" sz="2400" b="1">
              <a:solidFill>
                <a:schemeClr val="bg2"/>
              </a:solidFill>
              <a:latin typeface="宋体" panose="02010600030101010101" pitchFamily="2" charset="-122"/>
              <a:ea typeface="宋体" panose="02010600030101010101" pitchFamily="2" charset="-122"/>
            </a:endParaRPr>
          </a:p>
        </p:txBody>
      </p:sp>
      <p:sp>
        <p:nvSpPr>
          <p:cNvPr id="239770" name="直接连接符 239769"/>
          <p:cNvSpPr/>
          <p:nvPr/>
        </p:nvSpPr>
        <p:spPr>
          <a:xfrm>
            <a:off x="5003800" y="5673725"/>
            <a:ext cx="146050" cy="0"/>
          </a:xfrm>
          <a:prstGeom prst="line">
            <a:avLst/>
          </a:prstGeom>
          <a:ln w="9525" cap="flat" cmpd="sng">
            <a:solidFill>
              <a:srgbClr val="000000"/>
            </a:solidFill>
            <a:prstDash val="solid"/>
            <a:headEnd type="none" w="med" len="med"/>
            <a:tailEnd type="none" w="med" len="med"/>
          </a:ln>
        </p:spPr>
      </p:sp>
      <p:sp>
        <p:nvSpPr>
          <p:cNvPr id="12" name="标题 229377"/>
          <p:cNvSpPr txBox="1"/>
          <p:nvPr/>
        </p:nvSpPr>
        <p:spPr>
          <a:xfrm>
            <a:off x="1871837" y="223838"/>
            <a:ext cx="5436468"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zh-CN" sz="3200" b="1" smtClean="0">
                <a:solidFill>
                  <a:srgbClr val="FF0000"/>
                </a:solidFill>
                <a:ea typeface="隶书" panose="02010509060101010101" pitchFamily="49" charset="-122"/>
              </a:rPr>
              <a:t>1.3 </a:t>
            </a:r>
            <a:r>
              <a:rPr lang="zh-CN" altLang="en-US" sz="3200" b="1"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239619"/>
                                        </p:tgtEl>
                                        <p:attrNameLst>
                                          <p:attrName>style.visibility</p:attrName>
                                        </p:attrNameLst>
                                      </p:cBhvr>
                                      <p:to>
                                        <p:strVal val="visible"/>
                                      </p:to>
                                    </p:set>
                                    <p:animEffect transition="in" filter="barn(outHorizontal)">
                                      <p:cBhvr>
                                        <p:cTn id="7" dur="500"/>
                                        <p:tgtEl>
                                          <p:spTgt spid="239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0645" name="矩形 240644"/>
          <p:cNvSpPr/>
          <p:nvPr/>
        </p:nvSpPr>
        <p:spPr>
          <a:xfrm>
            <a:off x="1738313" y="2797175"/>
            <a:ext cx="1400175" cy="0"/>
          </a:xfrm>
          <a:prstGeom prst="rect">
            <a:avLst/>
          </a:prstGeom>
          <a:noFill/>
          <a:ln w="9525">
            <a:noFill/>
          </a:ln>
        </p:spPr>
        <p:txBody>
          <a:bodyPr/>
          <a:lstStyle/>
          <a:p>
            <a:endParaRPr lang="zh-CN" altLang="en-US"/>
          </a:p>
        </p:txBody>
      </p:sp>
      <p:sp>
        <p:nvSpPr>
          <p:cNvPr id="240697" name="矩形 240696"/>
          <p:cNvSpPr/>
          <p:nvPr/>
        </p:nvSpPr>
        <p:spPr>
          <a:xfrm>
            <a:off x="468313" y="1268413"/>
            <a:ext cx="6843712" cy="457200"/>
          </a:xfrm>
          <a:prstGeom prst="rect">
            <a:avLst/>
          </a:prstGeom>
          <a:noFill/>
          <a:ln w="9525">
            <a:noFill/>
          </a:ln>
        </p:spPr>
        <p:txBody>
          <a:bodyPr wrap="none" anchor="ctr">
            <a:spAutoFit/>
          </a:bodyPr>
          <a:lstStyle/>
          <a:p>
            <a:pPr lvl="0"/>
            <a:r>
              <a:rPr lang="zh-CN" altLang="en-US" sz="2400" b="1" dirty="0">
                <a:latin typeface="Times New Roman" panose="02020603050405020304" pitchFamily="18" charset="0"/>
                <a:ea typeface="Times New Roman" panose="02020603050405020304" pitchFamily="18" charset="0"/>
              </a:rPr>
              <a:t>举例：设</a:t>
            </a:r>
            <a:r>
              <a:rPr lang="en-US" altLang="zh-CN" sz="2400" b="1">
                <a:latin typeface="Times New Roman" panose="02020603050405020304" pitchFamily="18" charset="0"/>
                <a:ea typeface="Times New Roman" panose="02020603050405020304" pitchFamily="18" charset="0"/>
              </a:rPr>
              <a:t>X=10001101B</a:t>
            </a:r>
            <a:r>
              <a:rPr lang="zh-CN" altLang="en-US" sz="2400" b="1" dirty="0">
                <a:latin typeface="Times New Roman" panose="02020603050405020304" pitchFamily="18" charset="0"/>
                <a:ea typeface="Times New Roman" panose="02020603050405020304" pitchFamily="18" charset="0"/>
              </a:rPr>
              <a:t>，</a:t>
            </a:r>
            <a:r>
              <a:rPr lang="en-US" altLang="zh-CN" sz="2400" b="1">
                <a:latin typeface="Times New Roman" panose="02020603050405020304" pitchFamily="18" charset="0"/>
                <a:ea typeface="Times New Roman" panose="02020603050405020304" pitchFamily="18" charset="0"/>
              </a:rPr>
              <a:t>Y=10101011B</a:t>
            </a:r>
            <a:r>
              <a:rPr lang="zh-CN" altLang="en-US" sz="2400" b="1" dirty="0">
                <a:latin typeface="Times New Roman" panose="02020603050405020304" pitchFamily="18" charset="0"/>
                <a:ea typeface="Times New Roman" panose="02020603050405020304" pitchFamily="18" charset="0"/>
              </a:rPr>
              <a:t>，则有：</a:t>
            </a:r>
            <a:endParaRPr lang="zh-CN" altLang="en-US" sz="2400" b="1" dirty="0">
              <a:latin typeface="Times New Roman" panose="02020603050405020304" pitchFamily="18" charset="0"/>
              <a:ea typeface="宋体" panose="02010600030101010101" pitchFamily="2" charset="-122"/>
            </a:endParaRPr>
          </a:p>
        </p:txBody>
      </p:sp>
      <p:sp>
        <p:nvSpPr>
          <p:cNvPr id="240696" name="直接连接符 240695"/>
          <p:cNvSpPr/>
          <p:nvPr/>
        </p:nvSpPr>
        <p:spPr>
          <a:xfrm>
            <a:off x="3305175" y="2335213"/>
            <a:ext cx="233363" cy="0"/>
          </a:xfrm>
          <a:prstGeom prst="line">
            <a:avLst/>
          </a:prstGeom>
          <a:ln w="9525" cap="flat" cmpd="sng">
            <a:solidFill>
              <a:srgbClr val="000000"/>
            </a:solidFill>
            <a:prstDash val="solid"/>
            <a:headEnd type="none" w="med" len="med"/>
            <a:tailEnd type="none" w="med" len="med"/>
          </a:ln>
        </p:spPr>
      </p:sp>
      <p:sp>
        <p:nvSpPr>
          <p:cNvPr id="240698" name="矩形 240697"/>
          <p:cNvSpPr/>
          <p:nvPr/>
        </p:nvSpPr>
        <p:spPr>
          <a:xfrm>
            <a:off x="468313" y="1844675"/>
            <a:ext cx="5788025" cy="822325"/>
          </a:xfrm>
          <a:prstGeom prst="rect">
            <a:avLst/>
          </a:prstGeom>
          <a:noFill/>
          <a:ln w="9525">
            <a:noFill/>
          </a:ln>
        </p:spPr>
        <p:txBody>
          <a:bodyPr wrap="none" anchor="ctr">
            <a:spAutoFit/>
          </a:bodyPr>
          <a:lstStyle/>
          <a:p>
            <a:pPr lvl="0"/>
            <a:r>
              <a:rPr lang="en-US" altLang="zh-CN" sz="2400" b="1">
                <a:latin typeface="Times New Roman" panose="02020603050405020304" pitchFamily="18" charset="0"/>
                <a:ea typeface="Times New Roman" panose="02020603050405020304" pitchFamily="18" charset="0"/>
              </a:rPr>
              <a:t>X</a:t>
            </a:r>
            <a:r>
              <a:rPr lang="en-US" altLang="zh-CN" sz="2400" b="1">
                <a:latin typeface="Arial" panose="020B0604020202020204" pitchFamily="34" charset="0"/>
                <a:ea typeface="宋体" panose="02010600030101010101" pitchFamily="2" charset="-122"/>
              </a:rPr>
              <a:t>∨</a:t>
            </a:r>
            <a:r>
              <a:rPr lang="en-US" altLang="zh-CN" sz="2400" b="1">
                <a:latin typeface="Times New Roman" panose="02020603050405020304" pitchFamily="18" charset="0"/>
                <a:ea typeface="Times New Roman" panose="02020603050405020304" pitchFamily="18" charset="0"/>
              </a:rPr>
              <a:t>Y=10101111B  </a:t>
            </a:r>
            <a:r>
              <a:rPr lang="zh-CN" altLang="en-US" sz="2400" b="1" dirty="0">
                <a:latin typeface="Times New Roman" panose="02020603050405020304" pitchFamily="18" charset="0"/>
                <a:ea typeface="Times New Roman" panose="02020603050405020304" pitchFamily="18" charset="0"/>
              </a:rPr>
              <a:t>；</a:t>
            </a:r>
            <a:r>
              <a:rPr lang="en-US" altLang="zh-CN" sz="2400" b="1">
                <a:latin typeface="Times New Roman" panose="02020603050405020304" pitchFamily="18" charset="0"/>
                <a:ea typeface="Times New Roman" panose="02020603050405020304" pitchFamily="18" charset="0"/>
              </a:rPr>
              <a:t>X</a:t>
            </a:r>
            <a:r>
              <a:rPr lang="en-US" altLang="zh-CN" sz="2400" b="1">
                <a:latin typeface="Arial" panose="020B0604020202020204" pitchFamily="34" charset="0"/>
                <a:ea typeface="宋体" panose="02010600030101010101" pitchFamily="2" charset="-122"/>
              </a:rPr>
              <a:t>∧</a:t>
            </a:r>
            <a:r>
              <a:rPr lang="en-US" altLang="zh-CN" sz="2400" b="1">
                <a:latin typeface="Times New Roman" panose="02020603050405020304" pitchFamily="18" charset="0"/>
                <a:ea typeface="Times New Roman" panose="02020603050405020304" pitchFamily="18" charset="0"/>
              </a:rPr>
              <a:t>Y=10001001B  </a:t>
            </a:r>
            <a:r>
              <a:rPr lang="zh-CN" altLang="en-US" sz="2400" b="1" dirty="0">
                <a:latin typeface="Times New Roman" panose="02020603050405020304" pitchFamily="18" charset="0"/>
                <a:ea typeface="Times New Roman" panose="02020603050405020304" pitchFamily="18" charset="0"/>
              </a:rPr>
              <a:t>；</a:t>
            </a:r>
            <a:endParaRPr lang="zh-CN" altLang="en-US" sz="2400" b="1" dirty="0">
              <a:latin typeface="Times New Roman" panose="02020603050405020304" pitchFamily="18" charset="0"/>
              <a:ea typeface="Times New Roman" panose="02020603050405020304" pitchFamily="18" charset="0"/>
            </a:endParaRPr>
          </a:p>
          <a:p>
            <a:pPr lvl="0" eaLnBrk="0" hangingPunct="0">
              <a:buClrTx/>
            </a:pPr>
            <a:r>
              <a:rPr lang="en-US" altLang="zh-CN" sz="2400" b="1">
                <a:latin typeface="Times New Roman" panose="02020603050405020304" pitchFamily="18" charset="0"/>
                <a:ea typeface="Times New Roman" panose="02020603050405020304" pitchFamily="18" charset="0"/>
              </a:rPr>
              <a:t>X⊕Y=00100110B </a:t>
            </a:r>
            <a:r>
              <a:rPr lang="zh-CN" altLang="en-US" sz="2400" b="1" dirty="0">
                <a:latin typeface="Times New Roman" panose="02020603050405020304" pitchFamily="18" charset="0"/>
                <a:ea typeface="Times New Roman" panose="02020603050405020304" pitchFamily="18" charset="0"/>
              </a:rPr>
              <a:t>；</a:t>
            </a:r>
            <a:r>
              <a:rPr lang="en-US" altLang="zh-CN" sz="2400" b="1">
                <a:latin typeface="Times New Roman" panose="02020603050405020304" pitchFamily="18" charset="0"/>
                <a:ea typeface="Times New Roman" panose="02020603050405020304" pitchFamily="18" charset="0"/>
              </a:rPr>
              <a:t>X=01110010B </a:t>
            </a:r>
            <a:endParaRPr lang="en-US" altLang="zh-CN" sz="2400" b="1">
              <a:latin typeface="Times New Roman" panose="02020603050405020304" pitchFamily="18" charset="0"/>
              <a:ea typeface="宋体" panose="02010600030101010101" pitchFamily="2" charset="-122"/>
            </a:endParaRPr>
          </a:p>
        </p:txBody>
      </p:sp>
      <p:sp>
        <p:nvSpPr>
          <p:cNvPr id="7"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1666" name="矩形 241665"/>
          <p:cNvSpPr/>
          <p:nvPr/>
        </p:nvSpPr>
        <p:spPr>
          <a:xfrm>
            <a:off x="1738313" y="2797175"/>
            <a:ext cx="1400175" cy="0"/>
          </a:xfrm>
          <a:prstGeom prst="rect">
            <a:avLst/>
          </a:prstGeom>
          <a:noFill/>
          <a:ln w="9525">
            <a:noFill/>
          </a:ln>
        </p:spPr>
        <p:txBody>
          <a:bodyPr/>
          <a:lstStyle/>
          <a:p>
            <a:endParaRPr lang="zh-CN" altLang="en-US"/>
          </a:p>
        </p:txBody>
      </p:sp>
      <p:sp>
        <p:nvSpPr>
          <p:cNvPr id="241670" name="矩形 241669"/>
          <p:cNvSpPr/>
          <p:nvPr/>
        </p:nvSpPr>
        <p:spPr>
          <a:xfrm>
            <a:off x="323850" y="830591"/>
            <a:ext cx="5323893" cy="523220"/>
          </a:xfrm>
          <a:prstGeom prst="rect">
            <a:avLst/>
          </a:prstGeom>
          <a:noFill/>
          <a:ln w="9525">
            <a:noFill/>
          </a:ln>
        </p:spPr>
        <p:txBody>
          <a:bodyPr wrap="none" anchor="ctr">
            <a:spAutoFit/>
          </a:bodyPr>
          <a:lstStyle/>
          <a:p>
            <a:pPr lvl="0"/>
            <a:r>
              <a:rPr lang="zh-CN" altLang="en-US" sz="2800" b="1" dirty="0">
                <a:solidFill>
                  <a:srgbClr val="0000FF"/>
                </a:solidFill>
                <a:cs typeface="+mj-cs"/>
              </a:rPr>
              <a:t>三、带符号数在计算机中的表示 </a:t>
            </a:r>
            <a:endParaRPr lang="zh-CN" altLang="en-US" sz="2800" b="1" dirty="0">
              <a:solidFill>
                <a:srgbClr val="0000FF"/>
              </a:solidFill>
              <a:cs typeface="+mj-cs"/>
            </a:endParaRPr>
          </a:p>
        </p:txBody>
      </p:sp>
      <p:sp>
        <p:nvSpPr>
          <p:cNvPr id="241671" name="矩形 241670"/>
          <p:cNvSpPr/>
          <p:nvPr/>
        </p:nvSpPr>
        <p:spPr>
          <a:xfrm>
            <a:off x="395288" y="1296988"/>
            <a:ext cx="1949450" cy="457200"/>
          </a:xfrm>
          <a:prstGeom prst="rect">
            <a:avLst/>
          </a:prstGeom>
          <a:noFill/>
          <a:ln w="9525">
            <a:noFill/>
          </a:ln>
        </p:spPr>
        <p:txBody>
          <a:bodyPr wrap="none" anchor="ctr">
            <a:spAutoFit/>
          </a:bodyPr>
          <a:lstStyle/>
          <a:p>
            <a:pPr lvl="0"/>
            <a:r>
              <a:rPr lang="en-US" altLang="zh-CN" sz="2400" b="1" dirty="0">
                <a:solidFill>
                  <a:srgbClr val="0000CC"/>
                </a:solidFill>
                <a:cs typeface="+mn-cs"/>
              </a:rPr>
              <a:t>1</a:t>
            </a:r>
            <a:r>
              <a:rPr lang="zh-CN" altLang="en-US" sz="2400" b="1" dirty="0">
                <a:solidFill>
                  <a:srgbClr val="0000CC"/>
                </a:solidFill>
                <a:cs typeface="+mn-cs"/>
              </a:rPr>
              <a:t>、有关概念 </a:t>
            </a:r>
            <a:endParaRPr lang="zh-CN" altLang="en-US" sz="2400" b="1" dirty="0">
              <a:solidFill>
                <a:srgbClr val="0000CC"/>
              </a:solidFill>
              <a:cs typeface="+mn-cs"/>
            </a:endParaRPr>
          </a:p>
        </p:txBody>
      </p:sp>
      <p:sp>
        <p:nvSpPr>
          <p:cNvPr id="241672" name="矩形 241671"/>
          <p:cNvSpPr/>
          <p:nvPr/>
        </p:nvSpPr>
        <p:spPr>
          <a:xfrm>
            <a:off x="250825" y="1844675"/>
            <a:ext cx="8569325" cy="2308324"/>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机器数与真值</a:t>
            </a:r>
            <a:r>
              <a:rPr lang="zh-CN" altLang="en-US" sz="2400" b="1" dirty="0" smtClean="0">
                <a:latin typeface="Arial" panose="020B0604020202020204" pitchFamily="34" charset="0"/>
                <a:ea typeface="宋体" panose="02010600030101010101" pitchFamily="2" charset="-122"/>
              </a:rPr>
              <a:t>：</a:t>
            </a:r>
            <a:r>
              <a:rPr lang="zh-CN" altLang="en-US" sz="2400" b="1" dirty="0" smtClean="0">
                <a:solidFill>
                  <a:srgbClr val="FF00FF"/>
                </a:solidFill>
                <a:latin typeface="Arial" panose="020B0604020202020204" pitchFamily="34" charset="0"/>
                <a:ea typeface="宋体" panose="02010600030101010101" pitchFamily="2" charset="-122"/>
              </a:rPr>
              <a:t>机器</a:t>
            </a:r>
            <a:r>
              <a:rPr lang="zh-CN" altLang="en-US" sz="2400" b="1" dirty="0">
                <a:solidFill>
                  <a:srgbClr val="FF00FF"/>
                </a:solidFill>
                <a:latin typeface="Arial" panose="020B0604020202020204" pitchFamily="34" charset="0"/>
                <a:ea typeface="宋体" panose="02010600030101010101" pitchFamily="2" charset="-122"/>
              </a:rPr>
              <a:t>数</a:t>
            </a:r>
            <a:r>
              <a:rPr lang="zh-CN" altLang="en-US" sz="2400" b="1" dirty="0">
                <a:latin typeface="Arial" panose="020B0604020202020204" pitchFamily="34" charset="0"/>
                <a:ea typeface="宋体" panose="02010600030101010101" pitchFamily="2" charset="-122"/>
              </a:rPr>
              <a:t>是指把一个数连同其符号在内数值化表示的数；其中，最高位为</a:t>
            </a:r>
            <a:r>
              <a:rPr lang="zh-CN" altLang="en-US" sz="2400" b="1" dirty="0">
                <a:solidFill>
                  <a:srgbClr val="FF00FF"/>
                </a:solidFill>
                <a:latin typeface="Arial" panose="020B0604020202020204" pitchFamily="34" charset="0"/>
                <a:ea typeface="宋体" panose="02010600030101010101" pitchFamily="2" charset="-122"/>
              </a:rPr>
              <a:t>符号位</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表示正数， </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表示负数），数值部分称为机器数的</a:t>
            </a:r>
            <a:r>
              <a:rPr lang="zh-CN" altLang="en-US" sz="2400" b="1" dirty="0">
                <a:solidFill>
                  <a:srgbClr val="FF00FF"/>
                </a:solidFill>
                <a:latin typeface="Arial" panose="020B0604020202020204" pitchFamily="34" charset="0"/>
                <a:ea typeface="宋体" panose="02010600030101010101" pitchFamily="2" charset="-122"/>
              </a:rPr>
              <a:t>真值</a:t>
            </a:r>
            <a:r>
              <a:rPr lang="zh-CN" altLang="en-US" sz="2400" b="1" dirty="0">
                <a:solidFill>
                  <a:srgbClr val="FFFFFF"/>
                </a:solidFill>
                <a:latin typeface="Arial" panose="020B0604020202020204" pitchFamily="34" charset="0"/>
                <a:ea typeface="宋体" panose="02010600030101010101" pitchFamily="2" charset="-122"/>
              </a:rPr>
              <a:t>。</a:t>
            </a:r>
            <a:endParaRPr lang="zh-CN" altLang="en-US" sz="2400" b="1" dirty="0">
              <a:solidFill>
                <a:srgbClr val="FFFFFF"/>
              </a:solidFill>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如：</a:t>
            </a:r>
            <a:r>
              <a:rPr lang="en-US" altLang="zh-CN" sz="2400" b="1" dirty="0">
                <a:latin typeface="Arial" panose="020B0604020202020204" pitchFamily="34" charset="0"/>
                <a:ea typeface="宋体" panose="02010600030101010101" pitchFamily="2" charset="-122"/>
              </a:rPr>
              <a:t>X1= +91= </a:t>
            </a:r>
            <a:r>
              <a:rPr lang="en-US" altLang="zh-CN" sz="2400" b="1" dirty="0">
                <a:solidFill>
                  <a:srgbClr val="FF00FF"/>
                </a:solidFill>
                <a:latin typeface="Arial" panose="020B0604020202020204" pitchFamily="34" charset="0"/>
                <a:ea typeface="宋体" panose="02010600030101010101" pitchFamily="2" charset="-122"/>
              </a:rPr>
              <a:t>0</a:t>
            </a:r>
            <a:r>
              <a:rPr lang="en-US" altLang="zh-CN" sz="2400" b="1" dirty="0">
                <a:latin typeface="Arial" panose="020B0604020202020204" pitchFamily="34" charset="0"/>
                <a:ea typeface="宋体" panose="02010600030101010101" pitchFamily="2" charset="-122"/>
              </a:rPr>
              <a:t>1011011B        X2=</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91=</a:t>
            </a:r>
            <a:r>
              <a:rPr lang="en-US" altLang="zh-CN" sz="2400" b="1" dirty="0">
                <a:solidFill>
                  <a:srgbClr val="FF00FF"/>
                </a:solidFill>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1011011B</a:t>
            </a:r>
            <a:endParaRPr lang="en-US" altLang="zh-CN" sz="2400" b="1" dirty="0">
              <a:latin typeface="Arial" panose="020B0604020202020204" pitchFamily="34" charset="0"/>
              <a:ea typeface="宋体" panose="02010600030101010101" pitchFamily="2" charset="-122"/>
            </a:endParaRPr>
          </a:p>
          <a:p>
            <a:pPr lvl="0">
              <a:buClrTx/>
            </a:pPr>
            <a:r>
              <a:rPr lang="zh-CN" altLang="en-US" sz="2400" b="1" dirty="0">
                <a:latin typeface="Arial" panose="020B0604020202020204" pitchFamily="34" charset="0"/>
                <a:ea typeface="宋体" panose="02010600030101010101" pitchFamily="2" charset="-122"/>
              </a:rPr>
              <a:t>假设字长为</a:t>
            </a:r>
            <a:r>
              <a:rPr lang="en-US" altLang="zh-CN" sz="2400" b="1" dirty="0">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位 </a:t>
            </a:r>
            <a:endParaRPr lang="zh-CN" altLang="en-US" sz="2400" b="1" dirty="0">
              <a:latin typeface="Arial" panose="020B0604020202020204" pitchFamily="34" charset="0"/>
              <a:ea typeface="宋体" panose="02010600030101010101" pitchFamily="2" charset="-122"/>
            </a:endParaRPr>
          </a:p>
          <a:p>
            <a:pPr lvl="0">
              <a:buClrTx/>
            </a:pPr>
            <a:r>
              <a:rPr lang="zh-CN" altLang="en-US" sz="2400" b="1" dirty="0">
                <a:solidFill>
                  <a:srgbClr val="0000FF"/>
                </a:solidFill>
                <a:latin typeface="Arial" panose="020B0604020202020204" pitchFamily="34" charset="0"/>
                <a:ea typeface="宋体" panose="02010600030101010101" pitchFamily="2" charset="-122"/>
              </a:rPr>
              <a:t>无符号数：</a:t>
            </a:r>
            <a:r>
              <a:rPr lang="zh-CN" altLang="en-US" sz="2400" b="1" dirty="0">
                <a:latin typeface="Arial" panose="020B0604020202020204" pitchFamily="34" charset="0"/>
                <a:ea typeface="宋体" panose="02010600030101010101" pitchFamily="2" charset="-122"/>
              </a:rPr>
              <a:t>指计算机字长的所有二进制位均表示数值部分</a:t>
            </a:r>
            <a:endParaRPr lang="zh-CN" altLang="en-US" sz="1800" dirty="0">
              <a:latin typeface="Arial" panose="020B0604020202020204" pitchFamily="34" charset="0"/>
              <a:ea typeface="宋体" panose="02010600030101010101" pitchFamily="2" charset="-122"/>
            </a:endParaRPr>
          </a:p>
        </p:txBody>
      </p:sp>
      <p:sp>
        <p:nvSpPr>
          <p:cNvPr id="8"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pic>
        <p:nvPicPr>
          <p:cNvPr id="4" name="图片 3"/>
          <p:cNvPicPr>
            <a:picLocks noChangeAspect="1"/>
          </p:cNvPicPr>
          <p:nvPr/>
        </p:nvPicPr>
        <p:blipFill>
          <a:blip r:embed="rId1"/>
          <a:stretch>
            <a:fillRect/>
          </a:stretch>
        </p:blipFill>
        <p:spPr>
          <a:xfrm>
            <a:off x="1766865" y="4219478"/>
            <a:ext cx="4581525" cy="2162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矩形 242689"/>
          <p:cNvSpPr/>
          <p:nvPr/>
        </p:nvSpPr>
        <p:spPr>
          <a:xfrm>
            <a:off x="1738313" y="2797175"/>
            <a:ext cx="1400175" cy="0"/>
          </a:xfrm>
          <a:prstGeom prst="rect">
            <a:avLst/>
          </a:prstGeom>
          <a:noFill/>
          <a:ln w="9525">
            <a:noFill/>
          </a:ln>
        </p:spPr>
        <p:txBody>
          <a:bodyPr/>
          <a:lstStyle/>
          <a:p>
            <a:endParaRPr lang="zh-CN" altLang="en-US"/>
          </a:p>
        </p:txBody>
      </p:sp>
      <p:sp>
        <p:nvSpPr>
          <p:cNvPr id="242693" name="矩形 242692"/>
          <p:cNvSpPr/>
          <p:nvPr/>
        </p:nvSpPr>
        <p:spPr>
          <a:xfrm>
            <a:off x="250825" y="836613"/>
            <a:ext cx="8569325" cy="822325"/>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带符号数：</a:t>
            </a:r>
            <a:r>
              <a:rPr lang="zh-CN" altLang="en-US" sz="2400" b="1" dirty="0">
                <a:latin typeface="Arial" panose="020B0604020202020204" pitchFamily="34" charset="0"/>
                <a:ea typeface="宋体" panose="02010600030101010101" pitchFamily="2" charset="-122"/>
              </a:rPr>
              <a:t>将机器数分为符号和数值部分，且均用二进制代码表示</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
        <p:nvSpPr>
          <p:cNvPr id="242695" name="矩形 242694"/>
          <p:cNvSpPr/>
          <p:nvPr/>
        </p:nvSpPr>
        <p:spPr>
          <a:xfrm>
            <a:off x="250825" y="3941714"/>
            <a:ext cx="8642350" cy="2308324"/>
          </a:xfrm>
          <a:prstGeom prst="rect">
            <a:avLst/>
          </a:prstGeom>
          <a:noFill/>
          <a:ln w="9525">
            <a:noFill/>
          </a:ln>
        </p:spPr>
        <p:txBody>
          <a:bodyPr anchor="ctr">
            <a:spAutoFit/>
          </a:bodyPr>
          <a:lstStyle/>
          <a:p>
            <a:pPr lvl="0"/>
            <a:r>
              <a:rPr lang="en-US" altLang="zh-CN" sz="2400" b="1" dirty="0">
                <a:solidFill>
                  <a:srgbClr val="0000CC"/>
                </a:solidFill>
                <a:cs typeface="+mn-cs"/>
              </a:rPr>
              <a:t>2</a:t>
            </a:r>
            <a:r>
              <a:rPr lang="zh-CN" altLang="en-US" sz="2400" b="1" dirty="0">
                <a:solidFill>
                  <a:srgbClr val="0000CC"/>
                </a:solidFill>
                <a:cs typeface="+mn-cs"/>
              </a:rPr>
              <a:t>、带符号数的表示法 </a:t>
            </a:r>
            <a:endParaRPr lang="zh-CN" altLang="en-US" sz="2400" b="1" dirty="0">
              <a:solidFill>
                <a:srgbClr val="0000CC"/>
              </a:solidFill>
              <a:cs typeface="+mn-cs"/>
            </a:endParaRPr>
          </a:p>
          <a:p>
            <a:pPr lvl="0">
              <a:buClrTx/>
            </a:pPr>
            <a:r>
              <a:rPr lang="zh-CN" altLang="en-US" sz="2400" b="1" dirty="0">
                <a:solidFill>
                  <a:srgbClr val="0000FF"/>
                </a:solidFill>
                <a:latin typeface="Arial" panose="020B0604020202020204" pitchFamily="34" charset="0"/>
                <a:ea typeface="宋体" panose="02010600030101010101" pitchFamily="2" charset="-122"/>
              </a:rPr>
              <a:t>原码</a:t>
            </a:r>
            <a:r>
              <a:rPr lang="zh-CN" altLang="en-US" sz="2400" b="1" dirty="0">
                <a:latin typeface="Arial" panose="020B0604020202020204" pitchFamily="34" charset="0"/>
                <a:ea typeface="宋体" panose="02010600030101010101" pitchFamily="2" charset="-122"/>
              </a:rPr>
              <a:t>：是一种简单、直观的机器数表示方法，只需在真值基础上将符号位用数码“</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表示即可。</a:t>
            </a:r>
            <a:endParaRPr lang="zh-CN" altLang="en-US" sz="2400" b="1" dirty="0">
              <a:latin typeface="Arial" panose="020B0604020202020204" pitchFamily="34" charset="0"/>
              <a:ea typeface="宋体" panose="02010600030101010101" pitchFamily="2" charset="-122"/>
            </a:endParaRPr>
          </a:p>
          <a:p>
            <a:pPr lvl="0">
              <a:buClrTx/>
            </a:pPr>
            <a:r>
              <a:rPr lang="zh-CN" altLang="en-US" sz="2400" b="1" dirty="0" smtClean="0">
                <a:solidFill>
                  <a:srgbClr val="C00000"/>
                </a:solidFill>
                <a:latin typeface="Arial" panose="020B0604020202020204" pitchFamily="34" charset="0"/>
                <a:ea typeface="宋体" panose="02010600030101010101" pitchFamily="2" charset="-122"/>
              </a:rPr>
              <a:t>示例</a:t>
            </a:r>
            <a:r>
              <a:rPr lang="en-US" altLang="zh-CN" sz="2400" b="1" dirty="0" smtClean="0">
                <a:solidFill>
                  <a:srgbClr val="C00000"/>
                </a:solidFill>
                <a:latin typeface="Arial" panose="020B0604020202020204" pitchFamily="34" charset="0"/>
                <a:ea typeface="宋体" panose="02010600030101010101" pitchFamily="2" charset="-122"/>
              </a:rPr>
              <a:t>1</a:t>
            </a:r>
            <a:r>
              <a:rPr lang="zh-CN" altLang="en-US" sz="2400" b="1" dirty="0" smtClean="0">
                <a:latin typeface="Arial" panose="020B0604020202020204" pitchFamily="34" charset="0"/>
                <a:ea typeface="宋体" panose="02010600030101010101" pitchFamily="2" charset="-122"/>
              </a:rPr>
              <a:t>：设</a:t>
            </a:r>
            <a:r>
              <a:rPr lang="zh-CN" altLang="en-US" sz="2400" b="1" dirty="0">
                <a:latin typeface="Arial" panose="020B0604020202020204" pitchFamily="34" charset="0"/>
                <a:ea typeface="宋体" panose="02010600030101010101" pitchFamily="2" charset="-122"/>
              </a:rPr>
              <a:t>机器字长为</a:t>
            </a:r>
            <a:r>
              <a:rPr lang="en-US" altLang="zh-CN" sz="2400" b="1" dirty="0">
                <a:latin typeface="Arial" panose="020B0604020202020204" pitchFamily="34" charset="0"/>
                <a:ea typeface="宋体" panose="02010600030101010101" pitchFamily="2" charset="-122"/>
              </a:rPr>
              <a:t>8 </a:t>
            </a:r>
            <a:r>
              <a:rPr lang="zh-CN" altLang="en-US" sz="2400" b="1" dirty="0">
                <a:latin typeface="Arial" panose="020B0604020202020204" pitchFamily="34" charset="0"/>
                <a:ea typeface="宋体" panose="02010600030101010101" pitchFamily="2" charset="-122"/>
              </a:rPr>
              <a:t>位，</a:t>
            </a:r>
            <a:r>
              <a:rPr lang="en-US" altLang="zh-CN" sz="2400" b="1" dirty="0">
                <a:latin typeface="Arial" panose="020B0604020202020204" pitchFamily="34" charset="0"/>
                <a:ea typeface="宋体" panose="02010600030101010101" pitchFamily="2" charset="-122"/>
              </a:rPr>
              <a:t>X=+1011011</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Y=−</a:t>
            </a:r>
            <a:r>
              <a:rPr lang="en-US" altLang="zh-CN" sz="2400" b="1" dirty="0" smtClean="0">
                <a:latin typeface="Arial" panose="020B0604020202020204" pitchFamily="34" charset="0"/>
                <a:ea typeface="宋体" panose="02010600030101010101" pitchFamily="2" charset="-122"/>
              </a:rPr>
              <a:t>1011011</a:t>
            </a:r>
            <a:endParaRPr lang="en-US" altLang="zh-CN" sz="2400" b="1" dirty="0" smtClean="0">
              <a:latin typeface="Arial" panose="020B0604020202020204" pitchFamily="34" charset="0"/>
              <a:ea typeface="宋体" panose="02010600030101010101" pitchFamily="2" charset="-122"/>
            </a:endParaRPr>
          </a:p>
          <a:p>
            <a:pPr lvl="0">
              <a:buClrTx/>
            </a:pPr>
            <a:r>
              <a:rPr lang="zh-CN" altLang="en-US" sz="2400" b="1" dirty="0" smtClean="0">
                <a:latin typeface="Arial" panose="020B0604020202020204" pitchFamily="34" charset="0"/>
                <a:ea typeface="宋体" panose="02010600030101010101" pitchFamily="2" charset="-122"/>
              </a:rPr>
              <a:t>则</a:t>
            </a:r>
            <a:r>
              <a:rPr lang="zh-CN" altLang="en-US" sz="2400" b="1" dirty="0">
                <a:latin typeface="Arial" panose="020B0604020202020204" pitchFamily="34" charset="0"/>
                <a:ea typeface="宋体" panose="02010600030101010101" pitchFamily="2" charset="-122"/>
              </a:rPr>
              <a:t>有：</a:t>
            </a:r>
            <a:endParaRPr lang="zh-CN" altLang="en-US" sz="2400" b="1" dirty="0">
              <a:latin typeface="Arial" panose="020B0604020202020204" pitchFamily="34" charset="0"/>
              <a:ea typeface="宋体" panose="02010600030101010101" pitchFamily="2" charset="-122"/>
            </a:endParaRPr>
          </a:p>
          <a:p>
            <a:pPr lvl="0">
              <a:buClrTx/>
            </a:pPr>
            <a:r>
              <a:rPr lang="en-US" altLang="zh-CN" sz="2400" b="1" dirty="0" smtClean="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X]</a:t>
            </a:r>
            <a:r>
              <a:rPr lang="zh-CN" altLang="en-US" sz="2400" b="1" dirty="0">
                <a:latin typeface="Arial" panose="020B0604020202020204" pitchFamily="34" charset="0"/>
                <a:ea typeface="宋体" panose="02010600030101010101" pitchFamily="2" charset="-122"/>
              </a:rPr>
              <a:t>原码</a:t>
            </a:r>
            <a:r>
              <a:rPr lang="en-US" altLang="zh-CN" sz="2400" b="1" dirty="0">
                <a:latin typeface="Arial" panose="020B0604020202020204" pitchFamily="34" charset="0"/>
                <a:ea typeface="宋体" panose="02010600030101010101" pitchFamily="2" charset="-122"/>
              </a:rPr>
              <a:t>=01011011B </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[Y]</a:t>
            </a:r>
            <a:r>
              <a:rPr lang="zh-CN" altLang="en-US" sz="2400" b="1" dirty="0">
                <a:latin typeface="Arial" panose="020B0604020202020204" pitchFamily="34" charset="0"/>
                <a:ea typeface="宋体" panose="02010600030101010101" pitchFamily="2" charset="-122"/>
              </a:rPr>
              <a:t>原码</a:t>
            </a:r>
            <a:r>
              <a:rPr lang="en-US" altLang="zh-CN" sz="2400" b="1" dirty="0">
                <a:latin typeface="Arial" panose="020B0604020202020204" pitchFamily="34" charset="0"/>
                <a:ea typeface="宋体" panose="02010600030101010101" pitchFamily="2" charset="-122"/>
              </a:rPr>
              <a:t>=11011011B</a:t>
            </a:r>
            <a:r>
              <a:rPr lang="en-US" altLang="zh-CN"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p:txBody>
      </p:sp>
      <p:sp>
        <p:nvSpPr>
          <p:cNvPr id="7"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pic>
        <p:nvPicPr>
          <p:cNvPr id="2" name="图片 1"/>
          <p:cNvPicPr>
            <a:picLocks noChangeAspect="1"/>
          </p:cNvPicPr>
          <p:nvPr/>
        </p:nvPicPr>
        <p:blipFill>
          <a:blip r:embed="rId1"/>
          <a:stretch>
            <a:fillRect/>
          </a:stretch>
        </p:blipFill>
        <p:spPr>
          <a:xfrm>
            <a:off x="2338387" y="1247775"/>
            <a:ext cx="4467225" cy="2495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3714" name="矩形 243713"/>
          <p:cNvSpPr/>
          <p:nvPr/>
        </p:nvSpPr>
        <p:spPr>
          <a:xfrm>
            <a:off x="1738313" y="2797175"/>
            <a:ext cx="1400175" cy="0"/>
          </a:xfrm>
          <a:prstGeom prst="rect">
            <a:avLst/>
          </a:prstGeom>
          <a:noFill/>
          <a:ln w="9525">
            <a:noFill/>
          </a:ln>
        </p:spPr>
        <p:txBody>
          <a:bodyPr/>
          <a:lstStyle/>
          <a:p>
            <a:endParaRPr lang="zh-CN" altLang="en-US"/>
          </a:p>
        </p:txBody>
      </p:sp>
      <p:sp>
        <p:nvSpPr>
          <p:cNvPr id="243717" name="矩形 243716"/>
          <p:cNvSpPr/>
          <p:nvPr/>
        </p:nvSpPr>
        <p:spPr>
          <a:xfrm>
            <a:off x="363339" y="806165"/>
            <a:ext cx="8642350" cy="3170099"/>
          </a:xfrm>
          <a:prstGeom prst="rect">
            <a:avLst/>
          </a:prstGeom>
          <a:noFill/>
          <a:ln w="9525">
            <a:noFill/>
          </a:ln>
        </p:spPr>
        <p:txBody>
          <a:bodyPr anchor="ctr">
            <a:spAutoFit/>
          </a:bodyPr>
          <a:lstStyle/>
          <a:p>
            <a:pPr lvl="0">
              <a:lnSpc>
                <a:spcPts val="4000"/>
              </a:lnSpc>
              <a:buClrTx/>
            </a:pPr>
            <a:r>
              <a:rPr lang="zh-CN" altLang="en-US" sz="2400" b="1" dirty="0" smtClean="0">
                <a:solidFill>
                  <a:srgbClr val="0000FF"/>
                </a:solidFill>
                <a:latin typeface="Arial" panose="020B0604020202020204" pitchFamily="34" charset="0"/>
                <a:ea typeface="宋体" panose="02010600030101010101" pitchFamily="2" charset="-122"/>
              </a:rPr>
              <a:t>反码</a:t>
            </a:r>
            <a:r>
              <a:rPr lang="zh-CN" altLang="en-US" sz="1800" dirty="0" smtClean="0">
                <a:latin typeface="Arial" panose="020B0604020202020204" pitchFamily="34"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正数的反码与原码相同，负数的反码则是在原码的基础上，符号位不变（仍为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），其余的数位按位求反</a:t>
            </a:r>
            <a:endParaRPr lang="zh-CN" altLang="en-US" sz="2400" b="1" dirty="0">
              <a:latin typeface="Arial" panose="020B0604020202020204" pitchFamily="34" charset="0"/>
              <a:ea typeface="宋体" panose="02010600030101010101" pitchFamily="2" charset="-122"/>
            </a:endParaRPr>
          </a:p>
          <a:p>
            <a:pPr lvl="0">
              <a:lnSpc>
                <a:spcPts val="4000"/>
              </a:lnSpc>
              <a:buClrTx/>
            </a:pPr>
            <a:r>
              <a:rPr lang="zh-CN" altLang="en-US" sz="2400" b="1" dirty="0">
                <a:latin typeface="Arial" panose="020B0604020202020204" pitchFamily="34" charset="0"/>
                <a:ea typeface="宋体" panose="02010600030101010101" pitchFamily="2" charset="-122"/>
              </a:rPr>
              <a:t>例如，</a:t>
            </a:r>
            <a:r>
              <a:rPr lang="zh-CN" altLang="en-US" sz="2400" b="1" dirty="0" smtClean="0">
                <a:latin typeface="Arial" panose="020B0604020202020204" pitchFamily="34" charset="0"/>
                <a:ea typeface="宋体" panose="02010600030101010101" pitchFamily="2" charset="-122"/>
              </a:rPr>
              <a:t>针对</a:t>
            </a:r>
            <a:r>
              <a:rPr lang="zh-CN" altLang="en-US" sz="2400" b="1" dirty="0" smtClean="0">
                <a:solidFill>
                  <a:srgbClr val="C00000"/>
                </a:solidFill>
                <a:latin typeface="Arial" panose="020B0604020202020204" pitchFamily="34" charset="0"/>
              </a:rPr>
              <a:t>示例</a:t>
            </a:r>
            <a:r>
              <a:rPr lang="en-US" altLang="zh-CN" sz="2400" b="1" dirty="0" smtClean="0">
                <a:solidFill>
                  <a:srgbClr val="C00000"/>
                </a:solidFill>
                <a:latin typeface="Arial" panose="020B0604020202020204" pitchFamily="34" charset="0"/>
              </a:rPr>
              <a:t>1</a:t>
            </a:r>
            <a:r>
              <a:rPr lang="zh-CN" altLang="en-US" sz="2400" b="1" dirty="0" smtClean="0">
                <a:latin typeface="Arial" panose="020B0604020202020204" pitchFamily="34" charset="0"/>
                <a:ea typeface="宋体" panose="02010600030101010101" pitchFamily="2" charset="-122"/>
              </a:rPr>
              <a:t>中</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X</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Y</a:t>
            </a:r>
            <a:r>
              <a:rPr lang="zh-CN" altLang="en-US" sz="2400" b="1" dirty="0">
                <a:latin typeface="Arial" panose="020B0604020202020204" pitchFamily="34" charset="0"/>
                <a:ea typeface="宋体" panose="02010600030101010101" pitchFamily="2" charset="-122"/>
              </a:rPr>
              <a:t>两个数，有：</a:t>
            </a:r>
            <a:endParaRPr lang="zh-CN" altLang="en-US" sz="2400" b="1" dirty="0">
              <a:latin typeface="Arial" panose="020B0604020202020204" pitchFamily="34" charset="0"/>
              <a:ea typeface="宋体" panose="02010600030101010101" pitchFamily="2" charset="-122"/>
            </a:endParaRPr>
          </a:p>
          <a:p>
            <a:pPr lvl="0">
              <a:lnSpc>
                <a:spcPts val="4000"/>
              </a:lnSpc>
              <a:buClrTx/>
            </a:pPr>
            <a:r>
              <a:rPr lang="en-US" altLang="zh-CN" sz="2400" b="1" dirty="0">
                <a:latin typeface="Arial" panose="020B0604020202020204" pitchFamily="34" charset="0"/>
                <a:ea typeface="宋体" panose="02010600030101010101" pitchFamily="2" charset="-122"/>
              </a:rPr>
              <a:t>[X]</a:t>
            </a:r>
            <a:r>
              <a:rPr lang="zh-CN" altLang="en-US" sz="2400" b="1" baseline="-25000" dirty="0">
                <a:latin typeface="Arial" panose="020B0604020202020204" pitchFamily="34" charset="0"/>
                <a:ea typeface="宋体" panose="02010600030101010101" pitchFamily="2" charset="-122"/>
              </a:rPr>
              <a:t>反码</a:t>
            </a:r>
            <a:r>
              <a:rPr lang="en-US" altLang="zh-CN" sz="2400" b="1" dirty="0">
                <a:latin typeface="Arial" panose="020B0604020202020204" pitchFamily="34" charset="0"/>
                <a:ea typeface="宋体" panose="02010600030101010101" pitchFamily="2" charset="-122"/>
              </a:rPr>
              <a:t>=01011011B</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[Y]</a:t>
            </a:r>
            <a:r>
              <a:rPr lang="zh-CN" altLang="en-US" sz="2400" b="1" baseline="-25000" dirty="0">
                <a:latin typeface="Arial" panose="020B0604020202020204" pitchFamily="34" charset="0"/>
                <a:ea typeface="宋体" panose="02010600030101010101" pitchFamily="2" charset="-122"/>
              </a:rPr>
              <a:t>反码</a:t>
            </a:r>
            <a:r>
              <a:rPr lang="en-US" altLang="zh-CN" sz="2400" b="1" dirty="0">
                <a:latin typeface="Arial" panose="020B0604020202020204" pitchFamily="34" charset="0"/>
                <a:ea typeface="宋体" panose="02010600030101010101" pitchFamily="2" charset="-122"/>
              </a:rPr>
              <a:t>=10100100B</a:t>
            </a:r>
            <a:endParaRPr lang="en-US" altLang="zh-CN" sz="2400" b="1" dirty="0">
              <a:latin typeface="Arial" panose="020B0604020202020204" pitchFamily="34" charset="0"/>
              <a:ea typeface="宋体" panose="02010600030101010101" pitchFamily="2" charset="-122"/>
            </a:endParaRPr>
          </a:p>
          <a:p>
            <a:pPr lvl="0">
              <a:lnSpc>
                <a:spcPts val="4000"/>
              </a:lnSpc>
              <a:buClrTx/>
            </a:pPr>
            <a:r>
              <a:rPr lang="zh-CN" altLang="en-US" sz="2400" b="1" dirty="0">
                <a:solidFill>
                  <a:srgbClr val="0000FF"/>
                </a:solidFill>
                <a:latin typeface="Arial" panose="020B0604020202020204" pitchFamily="34" charset="0"/>
                <a:ea typeface="宋体" panose="02010600030101010101" pitchFamily="2" charset="-122"/>
              </a:rPr>
              <a:t>补码：</a:t>
            </a:r>
            <a:r>
              <a:rPr lang="zh-CN" altLang="en-US" sz="2400" b="1" dirty="0">
                <a:latin typeface="Arial" panose="020B0604020202020204" pitchFamily="34" charset="0"/>
                <a:ea typeface="宋体" panose="02010600030101010101" pitchFamily="2" charset="-122"/>
              </a:rPr>
              <a:t>正数的补码表示同原码，即有 </a:t>
            </a:r>
            <a:r>
              <a:rPr lang="en-US" altLang="zh-CN" sz="2400" b="1" dirty="0">
                <a:latin typeface="Arial" panose="020B0604020202020204" pitchFamily="34" charset="0"/>
                <a:ea typeface="宋体" panose="02010600030101010101" pitchFamily="2" charset="-122"/>
              </a:rPr>
              <a:t>[x]</a:t>
            </a:r>
            <a:r>
              <a:rPr lang="zh-CN" altLang="en-US" sz="2400" b="1" baseline="-25000" dirty="0">
                <a:latin typeface="Arial" panose="020B0604020202020204" pitchFamily="34" charset="0"/>
                <a:ea typeface="宋体" panose="02010600030101010101" pitchFamily="2" charset="-122"/>
              </a:rPr>
              <a:t>原</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 [x]</a:t>
            </a:r>
            <a:r>
              <a:rPr lang="zh-CN" altLang="en-US" sz="2400" b="1" baseline="-25000" dirty="0">
                <a:latin typeface="Arial" panose="020B0604020202020204" pitchFamily="34" charset="0"/>
                <a:ea typeface="宋体" panose="02010600030101010101" pitchFamily="2" charset="-122"/>
              </a:rPr>
              <a:t>反</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 [x]</a:t>
            </a:r>
            <a:r>
              <a:rPr lang="zh-CN" altLang="en-US" sz="2400" b="1" baseline="-25000" dirty="0">
                <a:latin typeface="Arial" panose="020B0604020202020204" pitchFamily="34" charset="0"/>
                <a:ea typeface="宋体" panose="02010600030101010101" pitchFamily="2" charset="-122"/>
              </a:rPr>
              <a:t>补</a:t>
            </a:r>
            <a:r>
              <a:rPr lang="zh-CN" altLang="en-US" sz="2400" b="1" dirty="0">
                <a:latin typeface="Arial" panose="020B0604020202020204" pitchFamily="34" charset="0"/>
                <a:ea typeface="宋体" panose="02010600030101010101" pitchFamily="2" charset="-122"/>
              </a:rPr>
              <a:t>，负数的补码则是在反码的基础上再在末位加</a:t>
            </a:r>
            <a:r>
              <a:rPr lang="en-US" altLang="zh-CN" sz="2400" b="1" dirty="0">
                <a:latin typeface="Arial" panose="020B0604020202020204" pitchFamily="34" charset="0"/>
                <a:ea typeface="宋体" panose="02010600030101010101" pitchFamily="2" charset="-122"/>
              </a:rPr>
              <a:t>1</a:t>
            </a:r>
            <a:r>
              <a:rPr lang="en-US" altLang="zh-CN" sz="18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endParaRPr lang="zh-CN" altLang="en-US" sz="2400" b="1" dirty="0">
              <a:latin typeface="Arial" panose="020B0604020202020204" pitchFamily="34" charset="0"/>
              <a:ea typeface="宋体" panose="02010600030101010101" pitchFamily="2" charset="-122"/>
            </a:endParaRPr>
          </a:p>
        </p:txBody>
      </p:sp>
      <p:sp>
        <p:nvSpPr>
          <p:cNvPr id="243719" name="矩形 243718"/>
          <p:cNvSpPr/>
          <p:nvPr/>
        </p:nvSpPr>
        <p:spPr>
          <a:xfrm>
            <a:off x="311081" y="4164182"/>
            <a:ext cx="6792912" cy="1118255"/>
          </a:xfrm>
          <a:prstGeom prst="rect">
            <a:avLst/>
          </a:prstGeom>
          <a:noFill/>
          <a:ln w="9525">
            <a:noFill/>
          </a:ln>
        </p:spPr>
        <p:txBody>
          <a:bodyPr anchor="ctr">
            <a:spAutoFit/>
          </a:bodyPr>
          <a:lstStyle/>
          <a:p>
            <a:pPr lvl="0">
              <a:lnSpc>
                <a:spcPts val="4000"/>
              </a:lnSpc>
            </a:pPr>
            <a:r>
              <a:rPr lang="zh-CN" altLang="en-US" sz="2400" b="1" dirty="0">
                <a:latin typeface="Arial" panose="020B0604020202020204" pitchFamily="34" charset="0"/>
                <a:ea typeface="宋体" panose="02010600030101010101" pitchFamily="2" charset="-122"/>
              </a:rPr>
              <a:t>例如，</a:t>
            </a:r>
            <a:r>
              <a:rPr lang="zh-CN" altLang="en-US" sz="2400" b="1" dirty="0" smtClean="0">
                <a:latin typeface="Arial" panose="020B0604020202020204" pitchFamily="34" charset="0"/>
                <a:ea typeface="宋体" panose="02010600030101010101" pitchFamily="2" charset="-122"/>
              </a:rPr>
              <a:t>针对</a:t>
            </a:r>
            <a:r>
              <a:rPr lang="zh-CN" altLang="en-US" sz="2400" b="1" dirty="0" smtClean="0">
                <a:solidFill>
                  <a:srgbClr val="C00000"/>
                </a:solidFill>
                <a:latin typeface="Arial" panose="020B0604020202020204" pitchFamily="34" charset="0"/>
              </a:rPr>
              <a:t>示例</a:t>
            </a:r>
            <a:r>
              <a:rPr lang="en-US" altLang="zh-CN" sz="2400" b="1" dirty="0" smtClean="0">
                <a:solidFill>
                  <a:srgbClr val="C00000"/>
                </a:solidFill>
                <a:latin typeface="Arial" panose="020B0604020202020204" pitchFamily="34" charset="0"/>
              </a:rPr>
              <a:t>1</a:t>
            </a:r>
            <a:r>
              <a:rPr lang="zh-CN" altLang="en-US" sz="2400" b="1" dirty="0" smtClean="0">
                <a:latin typeface="Arial" panose="020B0604020202020204" pitchFamily="34" charset="0"/>
                <a:ea typeface="宋体" panose="02010600030101010101" pitchFamily="2" charset="-122"/>
              </a:rPr>
              <a:t>中</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X</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Y</a:t>
            </a:r>
            <a:r>
              <a:rPr lang="zh-CN" altLang="en-US" sz="2400" b="1" dirty="0">
                <a:latin typeface="Arial" panose="020B0604020202020204" pitchFamily="34" charset="0"/>
                <a:ea typeface="宋体" panose="02010600030101010101" pitchFamily="2" charset="-122"/>
              </a:rPr>
              <a:t>两个数，有：</a:t>
            </a:r>
            <a:endParaRPr lang="zh-CN" altLang="en-US" sz="2400" b="1" dirty="0">
              <a:latin typeface="Arial" panose="020B0604020202020204" pitchFamily="34" charset="0"/>
              <a:ea typeface="宋体" panose="02010600030101010101" pitchFamily="2" charset="-122"/>
            </a:endParaRPr>
          </a:p>
          <a:p>
            <a:pPr lvl="0">
              <a:lnSpc>
                <a:spcPts val="4000"/>
              </a:lnSpc>
            </a:pPr>
            <a:r>
              <a:rPr lang="en-US" altLang="zh-CN" sz="2400" b="1" dirty="0">
                <a:latin typeface="Arial" panose="020B0604020202020204" pitchFamily="34" charset="0"/>
                <a:ea typeface="宋体" panose="02010600030101010101" pitchFamily="2" charset="-122"/>
              </a:rPr>
              <a:t>[X]</a:t>
            </a:r>
            <a:r>
              <a:rPr lang="zh-CN" altLang="en-US" sz="2400" b="1" baseline="-25000" dirty="0">
                <a:latin typeface="Arial" panose="020B0604020202020204" pitchFamily="34" charset="0"/>
                <a:ea typeface="宋体" panose="02010600030101010101" pitchFamily="2" charset="-122"/>
              </a:rPr>
              <a:t>补码</a:t>
            </a:r>
            <a:r>
              <a:rPr lang="en-US" altLang="zh-CN" sz="2400" b="1" dirty="0">
                <a:latin typeface="Arial" panose="020B0604020202020204" pitchFamily="34" charset="0"/>
                <a:ea typeface="宋体" panose="02010600030101010101" pitchFamily="2" charset="-122"/>
              </a:rPr>
              <a:t>=01011011B</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[Y]</a:t>
            </a:r>
            <a:r>
              <a:rPr lang="zh-CN" altLang="en-US" sz="2400" b="1" baseline="-25000" dirty="0">
                <a:latin typeface="Arial" panose="020B0604020202020204" pitchFamily="34" charset="0"/>
                <a:ea typeface="宋体" panose="02010600030101010101" pitchFamily="2" charset="-122"/>
              </a:rPr>
              <a:t>补码</a:t>
            </a:r>
            <a:r>
              <a:rPr lang="en-US" altLang="zh-CN" sz="2400" b="1" dirty="0">
                <a:latin typeface="Arial" panose="020B0604020202020204" pitchFamily="34" charset="0"/>
                <a:ea typeface="宋体" panose="02010600030101010101" pitchFamily="2" charset="-122"/>
              </a:rPr>
              <a:t>=10100101B </a:t>
            </a:r>
            <a:endParaRPr lang="en-US" altLang="zh-CN" sz="2400" b="1" dirty="0">
              <a:latin typeface="Arial" panose="020B0604020202020204" pitchFamily="34" charset="0"/>
              <a:ea typeface="宋体" panose="02010600030101010101" pitchFamily="2" charset="-122"/>
            </a:endParaRPr>
          </a:p>
        </p:txBody>
      </p:sp>
      <p:sp>
        <p:nvSpPr>
          <p:cNvPr id="6"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738" name="矩形 244737"/>
          <p:cNvSpPr/>
          <p:nvPr/>
        </p:nvSpPr>
        <p:spPr>
          <a:xfrm>
            <a:off x="1738313" y="2797175"/>
            <a:ext cx="1400175" cy="0"/>
          </a:xfrm>
          <a:prstGeom prst="rect">
            <a:avLst/>
          </a:prstGeom>
          <a:noFill/>
          <a:ln w="9525">
            <a:noFill/>
          </a:ln>
        </p:spPr>
        <p:txBody>
          <a:bodyPr/>
          <a:lstStyle/>
          <a:p>
            <a:endParaRPr lang="zh-CN" altLang="en-US"/>
          </a:p>
        </p:txBody>
      </p:sp>
      <p:sp>
        <p:nvSpPr>
          <p:cNvPr id="244739" name="矩形 244738"/>
          <p:cNvSpPr/>
          <p:nvPr/>
        </p:nvSpPr>
        <p:spPr>
          <a:xfrm>
            <a:off x="250825" y="744206"/>
            <a:ext cx="8642350" cy="2156488"/>
          </a:xfrm>
          <a:prstGeom prst="rect">
            <a:avLst/>
          </a:prstGeom>
          <a:noFill/>
          <a:ln w="9525">
            <a:noFill/>
          </a:ln>
        </p:spPr>
        <p:txBody>
          <a:bodyPr anchor="ctr">
            <a:spAutoFit/>
          </a:bodyPr>
          <a:lstStyle/>
          <a:p>
            <a:pPr lvl="0">
              <a:lnSpc>
                <a:spcPts val="4000"/>
              </a:lnSpc>
              <a:buClrTx/>
            </a:pPr>
            <a:r>
              <a:rPr lang="zh-CN" altLang="en-US" sz="2400" b="1" dirty="0">
                <a:latin typeface="Arial" panose="020B0604020202020204" pitchFamily="34" charset="0"/>
                <a:ea typeface="宋体" panose="02010600030101010101" pitchFamily="2" charset="-122"/>
              </a:rPr>
              <a:t>二进制</a:t>
            </a:r>
            <a:r>
              <a:rPr lang="zh-CN" altLang="en-US" sz="2400" b="1" dirty="0">
                <a:solidFill>
                  <a:srgbClr val="0000FF"/>
                </a:solidFill>
                <a:latin typeface="Arial" panose="020B0604020202020204" pitchFamily="34" charset="0"/>
                <a:ea typeface="宋体" panose="02010600030101010101" pitchFamily="2" charset="-122"/>
              </a:rPr>
              <a:t>补码特点</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lvl="0">
              <a:lnSpc>
                <a:spcPct val="105000"/>
              </a:lnSpc>
              <a:buClrTx/>
            </a:pPr>
            <a:r>
              <a:rPr lang="zh-CN" altLang="en-US" sz="2400" b="1" dirty="0">
                <a:latin typeface="Arial" panose="020B0604020202020204" pitchFamily="34" charset="0"/>
                <a:ea typeface="宋体" panose="02010600030101010101" pitchFamily="2" charset="-122"/>
              </a:rPr>
              <a:t>① </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的补码只有一个，即</a:t>
            </a:r>
            <a:r>
              <a:rPr lang="en-US" altLang="zh-CN" sz="2400" b="1" dirty="0">
                <a:latin typeface="Arial" panose="020B0604020202020204" pitchFamily="34" charset="0"/>
                <a:ea typeface="宋体" panose="02010600030101010101" pitchFamily="2" charset="-122"/>
              </a:rPr>
              <a:t>[+0]</a:t>
            </a:r>
            <a:r>
              <a:rPr lang="zh-CN" altLang="en-US" sz="2400" b="1" baseline="-25000" dirty="0">
                <a:latin typeface="Arial" panose="020B0604020202020204" pitchFamily="34" charset="0"/>
                <a:ea typeface="宋体" panose="02010600030101010101" pitchFamily="2" charset="-122"/>
              </a:rPr>
              <a:t>补</a:t>
            </a:r>
            <a:r>
              <a:rPr lang="en-US" altLang="zh-CN" sz="2400" b="1" dirty="0">
                <a:latin typeface="Arial" panose="020B0604020202020204" pitchFamily="34" charset="0"/>
                <a:ea typeface="宋体" panose="02010600030101010101" pitchFamily="2" charset="-122"/>
              </a:rPr>
              <a:t>=[-0]</a:t>
            </a:r>
            <a:r>
              <a:rPr lang="zh-CN" altLang="en-US" sz="2400" b="1" baseline="-25000" dirty="0">
                <a:latin typeface="Arial" panose="020B0604020202020204" pitchFamily="34" charset="0"/>
                <a:ea typeface="宋体" panose="02010600030101010101" pitchFamily="2" charset="-122"/>
              </a:rPr>
              <a:t>补</a:t>
            </a:r>
            <a:r>
              <a:rPr lang="en-US" altLang="zh-CN" sz="2400" b="1" dirty="0">
                <a:latin typeface="Arial" panose="020B0604020202020204" pitchFamily="34" charset="0"/>
                <a:ea typeface="宋体" panose="02010600030101010101" pitchFamily="2" charset="-122"/>
              </a:rPr>
              <a:t>=00000000B</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lvl="0">
              <a:lnSpc>
                <a:spcPct val="105000"/>
              </a:lnSpc>
              <a:buClrTx/>
            </a:pPr>
            <a:r>
              <a:rPr lang="zh-CN" altLang="en-US" sz="2400" b="1" dirty="0">
                <a:latin typeface="Arial" panose="020B0604020202020204" pitchFamily="34" charset="0"/>
                <a:ea typeface="宋体" panose="02010600030101010101" pitchFamily="2" charset="-122"/>
              </a:rPr>
              <a:t>②</a:t>
            </a:r>
            <a:r>
              <a:rPr lang="en-US" altLang="zh-CN" sz="2400" b="1" dirty="0">
                <a:latin typeface="Arial" panose="020B0604020202020204" pitchFamily="34" charset="0"/>
                <a:ea typeface="宋体" panose="02010600030101010101" pitchFamily="2" charset="-122"/>
              </a:rPr>
              <a:t>[[X]</a:t>
            </a:r>
            <a:r>
              <a:rPr lang="zh-CN" altLang="en-US" sz="2400" b="1" baseline="-25000" dirty="0">
                <a:latin typeface="Arial" panose="020B0604020202020204" pitchFamily="34" charset="0"/>
                <a:ea typeface="宋体" panose="02010600030101010101" pitchFamily="2" charset="-122"/>
              </a:rPr>
              <a:t>补</a:t>
            </a:r>
            <a:r>
              <a:rPr lang="en-US" altLang="zh-CN" sz="2400" b="1" dirty="0">
                <a:latin typeface="Arial" panose="020B0604020202020204" pitchFamily="34" charset="0"/>
                <a:ea typeface="宋体" panose="02010600030101010101" pitchFamily="2" charset="-122"/>
              </a:rPr>
              <a:t>]</a:t>
            </a:r>
            <a:r>
              <a:rPr lang="zh-CN" altLang="en-US" sz="2400" b="1" baseline="-25000" dirty="0">
                <a:latin typeface="Arial" panose="020B0604020202020204" pitchFamily="34" charset="0"/>
                <a:ea typeface="宋体" panose="02010600030101010101" pitchFamily="2" charset="-122"/>
              </a:rPr>
              <a:t>补</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[X]</a:t>
            </a:r>
            <a:r>
              <a:rPr lang="zh-CN" altLang="en-US" sz="2400" b="1" baseline="-25000" dirty="0">
                <a:latin typeface="Arial" panose="020B0604020202020204" pitchFamily="34" charset="0"/>
                <a:ea typeface="宋体" panose="02010600030101010101" pitchFamily="2" charset="-122"/>
              </a:rPr>
              <a:t>原</a:t>
            </a: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a:p>
            <a:pPr lvl="0">
              <a:lnSpc>
                <a:spcPct val="105000"/>
              </a:lnSpc>
              <a:buClrTx/>
            </a:pPr>
            <a:r>
              <a:rPr lang="zh-CN" altLang="en-US" sz="2400" b="1" dirty="0">
                <a:latin typeface="Arial" panose="020B0604020202020204" pitchFamily="34" charset="0"/>
                <a:ea typeface="宋体" panose="02010600030101010101" pitchFamily="2" charset="-122"/>
              </a:rPr>
              <a:t>为了将</a:t>
            </a:r>
            <a:r>
              <a:rPr lang="zh-CN" altLang="en-US" sz="2400" b="1" dirty="0">
                <a:solidFill>
                  <a:srgbClr val="0000FF"/>
                </a:solidFill>
                <a:latin typeface="Arial" panose="020B0604020202020204" pitchFamily="34" charset="0"/>
                <a:ea typeface="宋体" panose="02010600030101010101" pitchFamily="2" charset="-122"/>
              </a:rPr>
              <a:t>减法运算变成加法</a:t>
            </a:r>
            <a:r>
              <a:rPr lang="zh-CN" altLang="en-US" sz="2400" b="1" dirty="0">
                <a:latin typeface="Arial" panose="020B0604020202020204" pitchFamily="34" charset="0"/>
                <a:ea typeface="宋体" panose="02010600030101010101" pitchFamily="2" charset="-122"/>
              </a:rPr>
              <a:t>来做</a:t>
            </a:r>
            <a:r>
              <a:rPr lang="zh-CN" altLang="en-US" sz="2400" b="1" dirty="0" smtClean="0">
                <a:latin typeface="Arial" panose="020B0604020202020204" pitchFamily="34" charset="0"/>
                <a:ea typeface="宋体" panose="02010600030101010101" pitchFamily="2" charset="-122"/>
              </a:rPr>
              <a:t>，带符号</a:t>
            </a:r>
            <a:r>
              <a:rPr lang="zh-CN" altLang="en-US" sz="2400" b="1" dirty="0">
                <a:latin typeface="Arial" panose="020B0604020202020204" pitchFamily="34" charset="0"/>
                <a:ea typeface="宋体" panose="02010600030101010101" pitchFamily="2" charset="-122"/>
              </a:rPr>
              <a:t>数在计算机内一律采用补码表示</a:t>
            </a:r>
            <a:endParaRPr lang="zh-CN" altLang="en-US" sz="2400" b="1" dirty="0">
              <a:latin typeface="Arial" panose="020B0604020202020204" pitchFamily="34" charset="0"/>
              <a:ea typeface="宋体" panose="02010600030101010101" pitchFamily="2" charset="-122"/>
            </a:endParaRPr>
          </a:p>
        </p:txBody>
      </p:sp>
      <p:sp>
        <p:nvSpPr>
          <p:cNvPr id="244742" name="文本框 244741"/>
          <p:cNvSpPr txBox="1"/>
          <p:nvPr/>
        </p:nvSpPr>
        <p:spPr>
          <a:xfrm>
            <a:off x="316182" y="3356992"/>
            <a:ext cx="8496300" cy="2895152"/>
          </a:xfrm>
          <a:prstGeom prst="rect">
            <a:avLst/>
          </a:prstGeom>
          <a:noFill/>
          <a:ln w="9525">
            <a:noFill/>
          </a:ln>
        </p:spPr>
        <p:txBody>
          <a:bodyPr>
            <a:spAutoFit/>
          </a:bodyPr>
          <a:lstStyle/>
          <a:p>
            <a:pPr lvl="0" defTabSz="231775">
              <a:spcBef>
                <a:spcPct val="50000"/>
              </a:spcBef>
              <a:buClrTx/>
            </a:pPr>
            <a:r>
              <a:rPr lang="en-US" altLang="zh-CN" sz="2400" b="1" dirty="0">
                <a:solidFill>
                  <a:srgbClr val="0000CC"/>
                </a:solidFill>
                <a:cs typeface="+mn-cs"/>
              </a:rPr>
              <a:t>3</a:t>
            </a:r>
            <a:r>
              <a:rPr lang="zh-CN" altLang="en-US" sz="2400" b="1" dirty="0">
                <a:solidFill>
                  <a:srgbClr val="0000CC"/>
                </a:solidFill>
                <a:cs typeface="+mn-cs"/>
              </a:rPr>
              <a:t>、负数的补码求法</a:t>
            </a:r>
            <a:endParaRPr lang="zh-CN" altLang="en-US" sz="2400" b="1" dirty="0">
              <a:solidFill>
                <a:srgbClr val="0000CC"/>
              </a:solidFill>
              <a:cs typeface="+mn-cs"/>
            </a:endParaRPr>
          </a:p>
          <a:p>
            <a:pPr defTabSz="231775">
              <a:lnSpc>
                <a:spcPct val="90000"/>
              </a:lnSpc>
              <a:spcBef>
                <a:spcPct val="20000"/>
              </a:spcBef>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a:t>
            </a:r>
            <a:r>
              <a:rPr lang="zh-CN" altLang="en-US" sz="2400" b="1" dirty="0" smtClean="0">
                <a:latin typeface="Times New Roman" panose="02020603050405020304" pitchFamily="18" charset="0"/>
                <a:ea typeface="宋体" panose="02010600030101010101" pitchFamily="2" charset="-122"/>
              </a:rPr>
              <a:t>）</a:t>
            </a:r>
            <a:r>
              <a:rPr lang="zh-CN" altLang="en-US" sz="2400" b="1" dirty="0">
                <a:latin typeface="Arial" panose="020B0604020202020204" pitchFamily="34" charset="0"/>
              </a:rPr>
              <a:t>负数的补码则是在反码的基础上再在末位加</a:t>
            </a:r>
            <a:r>
              <a:rPr lang="en-US" altLang="zh-CN" sz="2400" b="1" dirty="0">
                <a:latin typeface="Arial" panose="020B0604020202020204" pitchFamily="34" charset="0"/>
              </a:rPr>
              <a:t>1</a:t>
            </a:r>
            <a:r>
              <a:rPr lang="en-US" altLang="zh-CN" dirty="0">
                <a:latin typeface="Arial" panose="020B0604020202020204" pitchFamily="34" charset="0"/>
              </a:rPr>
              <a:t> </a:t>
            </a:r>
            <a:r>
              <a:rPr lang="en-US" altLang="zh-CN" sz="2400" b="1" dirty="0">
                <a:latin typeface="Arial" panose="020B0604020202020204" pitchFamily="34" charset="0"/>
              </a:rPr>
              <a:t> </a:t>
            </a:r>
            <a:r>
              <a:rPr lang="zh-CN" altLang="en-US" sz="2400" b="1" dirty="0">
                <a:latin typeface="Arial" panose="020B0604020202020204" pitchFamily="34" charset="0"/>
              </a:rPr>
              <a:t> </a:t>
            </a:r>
            <a:endParaRPr lang="zh-CN" altLang="en-US" sz="2400" b="1" dirty="0">
              <a:latin typeface="Arial" panose="020B0604020202020204" pitchFamily="34" charset="0"/>
            </a:endParaRPr>
          </a:p>
          <a:p>
            <a:pPr lvl="0" defTabSz="231775">
              <a:lnSpc>
                <a:spcPct val="90000"/>
              </a:lnSpc>
              <a:spcBef>
                <a:spcPct val="20000"/>
              </a:spcBef>
              <a:buClrTx/>
            </a:pPr>
            <a:endParaRPr lang="zh-CN" altLang="en-US" sz="2400" b="1" dirty="0">
              <a:latin typeface="Times New Roman" panose="02020603050405020304" pitchFamily="18" charset="0"/>
              <a:ea typeface="宋体" panose="02010600030101010101" pitchFamily="2" charset="-122"/>
            </a:endParaRPr>
          </a:p>
          <a:p>
            <a:pPr lvl="0" defTabSz="231775">
              <a:lnSpc>
                <a:spcPct val="90000"/>
              </a:lnSpc>
              <a:spcBef>
                <a:spcPct val="20000"/>
              </a:spcBef>
              <a:buClrTx/>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）写出与该负数相对应的正数的二进制数；</a:t>
            </a:r>
            <a:endParaRPr lang="zh-CN" altLang="en-US" sz="2400" b="1" dirty="0">
              <a:latin typeface="Times New Roman" panose="02020603050405020304" pitchFamily="18" charset="0"/>
              <a:ea typeface="宋体" panose="02010600030101010101" pitchFamily="2" charset="-122"/>
            </a:endParaRPr>
          </a:p>
          <a:p>
            <a:pPr lvl="0" defTabSz="231775">
              <a:spcBef>
                <a:spcPct val="50000"/>
              </a:spcBef>
              <a:buClrTx/>
            </a:pPr>
            <a:r>
              <a:rPr lang="zh-CN" altLang="en-US" sz="2400" b="1" dirty="0">
                <a:latin typeface="Times New Roman" panose="02020603050405020304" pitchFamily="18" charset="0"/>
                <a:ea typeface="宋体" panose="02010600030101010101" pitchFamily="2" charset="-122"/>
              </a:rPr>
              <a:t>　　按位求反；</a:t>
            </a:r>
            <a:endParaRPr lang="zh-CN" altLang="en-US" sz="2400" b="1" dirty="0">
              <a:latin typeface="Times New Roman" panose="02020603050405020304" pitchFamily="18" charset="0"/>
              <a:ea typeface="宋体" panose="02010600030101010101" pitchFamily="2" charset="-122"/>
            </a:endParaRPr>
          </a:p>
          <a:p>
            <a:pPr lvl="0" defTabSz="231775">
              <a:spcBef>
                <a:spcPct val="50000"/>
              </a:spcBef>
              <a:buClrTx/>
            </a:pPr>
            <a:r>
              <a:rPr lang="zh-CN" altLang="en-US" sz="2400" b="1" dirty="0">
                <a:latin typeface="Times New Roman" panose="02020603050405020304" pitchFamily="18" charset="0"/>
                <a:ea typeface="宋体" panose="02010600030101010101" pitchFamily="2" charset="-122"/>
              </a:rPr>
              <a:t>   　末位加一</a:t>
            </a:r>
            <a:endParaRPr lang="zh-CN" altLang="en-US" sz="2400" b="1" dirty="0">
              <a:latin typeface="Times New Roman" panose="02020603050405020304" pitchFamily="18" charset="0"/>
              <a:ea typeface="宋体" panose="02010600030101010101" pitchFamily="2" charset="-122"/>
            </a:endParaRPr>
          </a:p>
        </p:txBody>
      </p:sp>
      <p:sp>
        <p:nvSpPr>
          <p:cNvPr id="6"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44742"/>
                                        </p:tgtEl>
                                        <p:attrNameLst>
                                          <p:attrName>style.visibility</p:attrName>
                                        </p:attrNameLst>
                                      </p:cBhvr>
                                      <p:to>
                                        <p:strVal val="visible"/>
                                      </p:to>
                                    </p:set>
                                    <p:animEffect transition="in" filter="barn(outHorizontal)">
                                      <p:cBhvr>
                                        <p:cTn id="7" dur="500"/>
                                        <p:tgtEl>
                                          <p:spTgt spid="244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2"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7810" name="文本占位符 247809"/>
          <p:cNvSpPr>
            <a:spLocks noGrp="1"/>
          </p:cNvSpPr>
          <p:nvPr>
            <p:ph type="body" idx="1"/>
          </p:nvPr>
        </p:nvSpPr>
        <p:spPr>
          <a:xfrm>
            <a:off x="468313" y="1052513"/>
            <a:ext cx="8229600" cy="3455987"/>
          </a:xfrm>
        </p:spPr>
        <p:txBody>
          <a:bodyPr/>
          <a:lstStyle/>
          <a:p>
            <a:pPr algn="just">
              <a:buClrTx/>
              <a:buNone/>
            </a:pPr>
            <a:r>
              <a:rPr lang="zh-CN" altLang="en-US" sz="2400" b="1" dirty="0">
                <a:solidFill>
                  <a:srgbClr val="C00000"/>
                </a:solidFill>
                <a:latin typeface="Arial" panose="020B0604020202020204" pitchFamily="34" charset="0"/>
                <a:ea typeface="宋体" panose="02010600030101010101" pitchFamily="2" charset="-122"/>
              </a:rPr>
              <a:t>示例</a:t>
            </a:r>
            <a:r>
              <a:rPr lang="en-US" altLang="zh-CN" sz="2400" b="1" dirty="0">
                <a:solidFill>
                  <a:srgbClr val="C00000"/>
                </a:solidFill>
                <a:latin typeface="Arial" panose="020B0604020202020204" pitchFamily="34" charset="0"/>
                <a:ea typeface="宋体" panose="02010600030101010101" pitchFamily="2" charset="-122"/>
              </a:rPr>
              <a:t>2</a:t>
            </a:r>
            <a:r>
              <a:rPr lang="zh-CN" altLang="en-US" sz="2800" dirty="0" smtClean="0"/>
              <a:t>：</a:t>
            </a:r>
            <a:r>
              <a:rPr lang="en-US" altLang="zh-CN" sz="2800" dirty="0" smtClean="0"/>
              <a:t> </a:t>
            </a:r>
            <a:r>
              <a:rPr lang="zh-CN" altLang="en-US" sz="2800" dirty="0"/>
              <a:t>机器字长</a:t>
            </a:r>
            <a:r>
              <a:rPr lang="en-US" altLang="zh-CN" sz="2800" dirty="0"/>
              <a:t>8</a:t>
            </a:r>
            <a:r>
              <a:rPr lang="zh-CN" altLang="en-US" sz="2800" dirty="0"/>
              <a:t>位，</a:t>
            </a:r>
            <a:r>
              <a:rPr lang="en-US" altLang="zh-CN" sz="2800" dirty="0"/>
              <a:t>[-46]</a:t>
            </a:r>
            <a:r>
              <a:rPr lang="zh-CN" altLang="en-US" sz="2800" baseline="-25000" dirty="0"/>
              <a:t>补码    </a:t>
            </a:r>
            <a:r>
              <a:rPr lang="en-US" altLang="zh-CN" sz="2800" dirty="0"/>
              <a:t>=  </a:t>
            </a:r>
            <a:r>
              <a:rPr lang="zh-CN" altLang="en-US" sz="2800" dirty="0"/>
              <a:t>？     </a:t>
            </a:r>
            <a:endParaRPr lang="zh-CN" altLang="en-US" sz="2800" dirty="0"/>
          </a:p>
          <a:p>
            <a:pPr algn="just">
              <a:buClrTx/>
              <a:buNone/>
            </a:pPr>
            <a:r>
              <a:rPr lang="zh-CN" altLang="en-US" sz="2800" dirty="0"/>
              <a:t>           </a:t>
            </a:r>
            <a:endParaRPr lang="zh-CN" altLang="en-US" sz="2800" dirty="0"/>
          </a:p>
          <a:p>
            <a:pPr algn="just">
              <a:buClrTx/>
              <a:buNone/>
            </a:pPr>
            <a:r>
              <a:rPr lang="zh-CN" altLang="en-US" sz="2800" dirty="0"/>
              <a:t>      </a:t>
            </a:r>
            <a:r>
              <a:rPr lang="en-US" altLang="zh-CN" sz="2800" dirty="0"/>
              <a:t>46D = 2EH</a:t>
            </a:r>
            <a:endParaRPr lang="en-US" altLang="zh-CN" sz="2800" dirty="0"/>
          </a:p>
          <a:p>
            <a:pPr algn="just">
              <a:buClrTx/>
              <a:buNone/>
            </a:pPr>
            <a:r>
              <a:rPr lang="en-US" altLang="zh-CN" sz="2800" dirty="0"/>
              <a:t>             = 0010 1110B</a:t>
            </a:r>
            <a:endParaRPr lang="en-US" altLang="zh-CN" sz="2800" dirty="0"/>
          </a:p>
          <a:p>
            <a:pPr lvl="1">
              <a:buClrTx/>
              <a:buNone/>
            </a:pPr>
            <a:r>
              <a:rPr lang="zh-CN" altLang="en-US" sz="2400" b="1" dirty="0"/>
              <a:t>　　（</a:t>
            </a:r>
            <a:r>
              <a:rPr lang="en-US" altLang="zh-CN" sz="2400" b="1" dirty="0"/>
              <a:t>1</a:t>
            </a:r>
            <a:r>
              <a:rPr lang="zh-CN" altLang="en-US" sz="2400" b="1" dirty="0"/>
              <a:t>）</a:t>
            </a:r>
            <a:r>
              <a:rPr lang="en-US" altLang="zh-CN" sz="2400" b="1" dirty="0"/>
              <a:t>[46]</a:t>
            </a:r>
            <a:r>
              <a:rPr lang="zh-CN" altLang="en-US" sz="2400" b="1" baseline="-25000" dirty="0"/>
              <a:t>补码    </a:t>
            </a:r>
            <a:r>
              <a:rPr lang="en-US" altLang="zh-CN" sz="2400" b="1" dirty="0"/>
              <a:t>= </a:t>
            </a:r>
            <a:r>
              <a:rPr lang="en-US" altLang="zh-CN" sz="2400" b="1" dirty="0" smtClean="0"/>
              <a:t>0010 </a:t>
            </a:r>
            <a:r>
              <a:rPr lang="en-US" altLang="zh-CN" sz="2400" b="1" dirty="0"/>
              <a:t>1110</a:t>
            </a:r>
            <a:endParaRPr lang="en-US" altLang="zh-CN" sz="2400" b="1" dirty="0"/>
          </a:p>
          <a:p>
            <a:pPr lvl="1">
              <a:buClrTx/>
              <a:buNone/>
            </a:pPr>
            <a:r>
              <a:rPr lang="en-US" altLang="zh-CN" sz="2400" b="1" dirty="0"/>
              <a:t>        </a:t>
            </a:r>
            <a:r>
              <a:rPr lang="zh-CN" altLang="en-US" sz="2400" b="1" dirty="0"/>
              <a:t>（</a:t>
            </a:r>
            <a:r>
              <a:rPr lang="en-US" altLang="zh-CN" sz="2400" b="1" dirty="0"/>
              <a:t>2</a:t>
            </a:r>
            <a:r>
              <a:rPr lang="zh-CN" altLang="en-US" sz="2400" b="1" dirty="0"/>
              <a:t>）</a:t>
            </a:r>
            <a:r>
              <a:rPr lang="zh-CN" altLang="en-US" sz="2400" b="1" dirty="0">
                <a:latin typeface="楷体_GB2312" pitchFamily="49" charset="-122"/>
                <a:ea typeface="楷体_GB2312" pitchFamily="49" charset="-122"/>
              </a:rPr>
              <a:t>按位求反 </a:t>
            </a:r>
            <a:r>
              <a:rPr lang="en-US" altLang="zh-CN" sz="2400" b="1" dirty="0" smtClean="0"/>
              <a:t>1101 </a:t>
            </a:r>
            <a:r>
              <a:rPr lang="en-US" altLang="zh-CN" sz="2400" b="1" dirty="0"/>
              <a:t>0001</a:t>
            </a:r>
            <a:endParaRPr lang="en-US" altLang="zh-CN" sz="2400" b="1" dirty="0"/>
          </a:p>
          <a:p>
            <a:pPr lvl="1">
              <a:buClrTx/>
              <a:buNone/>
            </a:pPr>
            <a:r>
              <a:rPr lang="en-US" altLang="zh-CN" sz="2400" b="1" dirty="0"/>
              <a:t>        </a:t>
            </a:r>
            <a:r>
              <a:rPr lang="zh-CN" altLang="en-US" sz="2400" b="1" dirty="0"/>
              <a:t>（</a:t>
            </a:r>
            <a:r>
              <a:rPr lang="en-US" altLang="zh-CN" sz="2400" b="1" dirty="0"/>
              <a:t>3</a:t>
            </a:r>
            <a:r>
              <a:rPr lang="zh-CN" altLang="en-US" sz="2400" b="1" dirty="0"/>
              <a:t>）</a:t>
            </a:r>
            <a:r>
              <a:rPr lang="zh-CN" altLang="en-US" sz="2400" b="1" dirty="0">
                <a:latin typeface="楷体_GB2312" pitchFamily="49" charset="-122"/>
                <a:ea typeface="楷体_GB2312" pitchFamily="49" charset="-122"/>
              </a:rPr>
              <a:t>末位加一</a:t>
            </a:r>
            <a:r>
              <a:rPr lang="zh-CN" altLang="en-US" sz="2400" b="1" dirty="0"/>
              <a:t>  </a:t>
            </a:r>
            <a:r>
              <a:rPr lang="en-US" altLang="zh-CN" sz="2400" b="1" dirty="0" smtClean="0"/>
              <a:t>1101 </a:t>
            </a:r>
            <a:r>
              <a:rPr lang="en-US" altLang="zh-CN" sz="2400" b="1" dirty="0"/>
              <a:t>0010 = D2H</a:t>
            </a:r>
            <a:endParaRPr lang="zh-CN" altLang="en-US" sz="2400" dirty="0"/>
          </a:p>
        </p:txBody>
      </p:sp>
      <p:sp>
        <p:nvSpPr>
          <p:cNvPr id="2" name="矩形 1"/>
          <p:cNvSpPr/>
          <p:nvPr/>
        </p:nvSpPr>
        <p:spPr>
          <a:xfrm>
            <a:off x="1979712" y="4869160"/>
            <a:ext cx="2204450" cy="738664"/>
          </a:xfrm>
          <a:prstGeom prst="rect">
            <a:avLst/>
          </a:prstGeom>
        </p:spPr>
        <p:txBody>
          <a:bodyPr wrap="none">
            <a:spAutoFit/>
          </a:bodyPr>
          <a:lstStyle/>
          <a:p>
            <a:pPr marL="0" lvl="1"/>
            <a:r>
              <a:rPr lang="en-US" altLang="zh-CN" sz="2400" b="1" dirty="0"/>
              <a:t>[-46]</a:t>
            </a:r>
            <a:r>
              <a:rPr lang="zh-CN" altLang="en-US" sz="2400" b="1" baseline="-25000" dirty="0"/>
              <a:t>补码    </a:t>
            </a:r>
            <a:r>
              <a:rPr lang="en-US" altLang="zh-CN" sz="2400" b="1" dirty="0" smtClean="0"/>
              <a:t>=</a:t>
            </a:r>
            <a:r>
              <a:rPr lang="en-US" altLang="zh-CN" sz="2400" b="1" dirty="0"/>
              <a:t>D2H</a:t>
            </a:r>
            <a:endParaRPr lang="zh-CN" altLang="en-US" sz="2400" dirty="0"/>
          </a:p>
          <a:p>
            <a:r>
              <a:rPr lang="en-US" altLang="zh-CN" dirty="0" smtClean="0"/>
              <a:t> </a:t>
            </a:r>
            <a:endParaRPr lang="zh-CN" altLang="en-US" dirty="0"/>
          </a:p>
        </p:txBody>
      </p:sp>
      <p:sp>
        <p:nvSpPr>
          <p:cNvPr id="5" name="标题 229377"/>
          <p:cNvSpPr>
            <a:spLocks noGrp="1"/>
          </p:cNvSpPr>
          <p:nvPr>
            <p:ph type="title"/>
          </p:nvPr>
        </p:nvSpPr>
        <p:spPr>
          <a:xfrm>
            <a:off x="1871837" y="223838"/>
            <a:ext cx="5436468" cy="431800"/>
          </a:xfrm>
        </p:spPr>
        <p:txBody>
          <a:bodyPr anchor="ctr"/>
          <a:lstStyle/>
          <a:p>
            <a:pPr lvl="0"/>
            <a:r>
              <a:rPr lang="en-US" altLang="zh-CN" sz="3200" b="1" dirty="0">
                <a:solidFill>
                  <a:srgbClr val="FF0000"/>
                </a:solidFill>
                <a:ea typeface="隶书" panose="02010509060101010101" pitchFamily="49" charset="-122"/>
              </a:rPr>
              <a:t>1.3 </a:t>
            </a:r>
            <a:r>
              <a:rPr lang="zh-CN" altLang="en-US" sz="3200" b="1" dirty="0" smtClean="0">
                <a:solidFill>
                  <a:srgbClr val="FF0000"/>
                </a:solidFill>
                <a:ea typeface="隶书" panose="02010509060101010101" pitchFamily="49" charset="-122"/>
              </a:rPr>
              <a:t>计算机中的数制</a:t>
            </a:r>
            <a:r>
              <a:rPr lang="zh-CN" altLang="en-US" sz="3200" b="1" dirty="0">
                <a:solidFill>
                  <a:srgbClr val="FF0000"/>
                </a:solidFill>
                <a:ea typeface="隶书" panose="02010509060101010101" pitchFamily="49" charset="-122"/>
              </a:rPr>
              <a:t>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62" name="矩形 245761"/>
          <p:cNvSpPr/>
          <p:nvPr/>
        </p:nvSpPr>
        <p:spPr>
          <a:xfrm>
            <a:off x="1738313" y="2797175"/>
            <a:ext cx="1400175" cy="0"/>
          </a:xfrm>
          <a:prstGeom prst="rect">
            <a:avLst/>
          </a:prstGeom>
          <a:noFill/>
          <a:ln w="9525">
            <a:noFill/>
          </a:ln>
        </p:spPr>
        <p:txBody>
          <a:bodyPr/>
          <a:lstStyle/>
          <a:p>
            <a:endParaRPr lang="zh-CN" altLang="en-US"/>
          </a:p>
        </p:txBody>
      </p:sp>
      <p:sp>
        <p:nvSpPr>
          <p:cNvPr id="245766" name="矩形 245765"/>
          <p:cNvSpPr/>
          <p:nvPr/>
        </p:nvSpPr>
        <p:spPr>
          <a:xfrm>
            <a:off x="900113" y="836613"/>
            <a:ext cx="7970837" cy="366712"/>
          </a:xfrm>
          <a:prstGeom prst="rect">
            <a:avLst/>
          </a:prstGeom>
          <a:noFill/>
          <a:ln w="9525">
            <a:noFill/>
          </a:ln>
        </p:spPr>
        <p:txBody>
          <a:bodyPr wrap="none" anchor="ctr">
            <a:spAutoFit/>
          </a:bodyPr>
          <a:lstStyle/>
          <a:p>
            <a:pPr lvl="0"/>
            <a:r>
              <a:rPr lang="en-US" altLang="zh-CN" sz="1800" b="1">
                <a:latin typeface="Arial" panose="020B0604020202020204" pitchFamily="34" charset="0"/>
                <a:ea typeface="宋体" panose="02010600030101010101" pitchFamily="2" charset="-122"/>
              </a:rPr>
              <a:t>8</a:t>
            </a:r>
            <a:r>
              <a:rPr lang="zh-CN" altLang="en-US" sz="1800" b="1" dirty="0">
                <a:latin typeface="Arial" panose="020B0604020202020204" pitchFamily="34" charset="0"/>
                <a:ea typeface="宋体" panose="02010600030101010101" pitchFamily="2" charset="-122"/>
              </a:rPr>
              <a:t>位二进制数所表示的无符号数及带符号数的原码、反码、补码的对应关系表 </a:t>
            </a:r>
            <a:endParaRPr lang="zh-CN" altLang="en-US" sz="1800" b="1" dirty="0">
              <a:latin typeface="Arial" panose="020B0604020202020204" pitchFamily="34" charset="0"/>
              <a:ea typeface="宋体" panose="02010600030101010101" pitchFamily="2" charset="-122"/>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3088" y="1412776"/>
            <a:ext cx="5897562" cy="3740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8834" name="矩形 248833"/>
          <p:cNvSpPr/>
          <p:nvPr/>
        </p:nvSpPr>
        <p:spPr>
          <a:xfrm>
            <a:off x="1738313" y="2797175"/>
            <a:ext cx="1400175" cy="0"/>
          </a:xfrm>
          <a:prstGeom prst="rect">
            <a:avLst/>
          </a:prstGeom>
          <a:noFill/>
          <a:ln w="9525">
            <a:noFill/>
          </a:ln>
        </p:spPr>
        <p:txBody>
          <a:bodyPr/>
          <a:lstStyle/>
          <a:p>
            <a:endParaRPr lang="zh-CN" altLang="en-US"/>
          </a:p>
        </p:txBody>
      </p:sp>
      <p:sp>
        <p:nvSpPr>
          <p:cNvPr id="248870" name="矩形 248869"/>
          <p:cNvSpPr/>
          <p:nvPr/>
        </p:nvSpPr>
        <p:spPr>
          <a:xfrm>
            <a:off x="304800" y="1354138"/>
            <a:ext cx="8534400" cy="373062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533400" lvl="0" indent="-533400">
              <a:buClrTx/>
              <a:buNone/>
            </a:pPr>
            <a:r>
              <a:rPr lang="en-US" altLang="zh-CN" sz="2400" b="1" dirty="0">
                <a:solidFill>
                  <a:srgbClr val="0000CC"/>
                </a:solidFill>
                <a:latin typeface="Times New Roman" panose="02020603050405020304" pitchFamily="18" charset="0"/>
                <a:cs typeface="+mn-cs"/>
              </a:rPr>
              <a:t>4</a:t>
            </a:r>
            <a:r>
              <a:rPr lang="zh-CN" altLang="en-US" sz="2400" b="1" dirty="0">
                <a:solidFill>
                  <a:srgbClr val="0000CC"/>
                </a:solidFill>
                <a:latin typeface="Times New Roman" panose="02020603050405020304" pitchFamily="18" charset="0"/>
                <a:cs typeface="+mn-cs"/>
              </a:rPr>
              <a:t>、数据的表示范围</a:t>
            </a:r>
            <a:endParaRPr lang="zh-CN" altLang="en-US" sz="2400" b="1" dirty="0">
              <a:solidFill>
                <a:srgbClr val="0000CC"/>
              </a:solidFill>
              <a:latin typeface="Times New Roman" panose="02020603050405020304" pitchFamily="18" charset="0"/>
              <a:cs typeface="+mn-cs"/>
            </a:endParaRPr>
          </a:p>
          <a:p>
            <a:pPr marL="533400" lvl="0" indent="-533400">
              <a:buClrTx/>
              <a:buNone/>
            </a:pPr>
            <a:r>
              <a:rPr lang="zh-CN" altLang="en-US" sz="2400" b="1" dirty="0"/>
              <a:t>　</a:t>
            </a:r>
            <a:r>
              <a:rPr lang="en-US" altLang="zh-CN" sz="2400" b="1" dirty="0"/>
              <a:t>8</a:t>
            </a:r>
            <a:r>
              <a:rPr lang="zh-CN" altLang="en-US" sz="2400" b="1" dirty="0"/>
              <a:t>位无符号数的表示范围是：</a:t>
            </a:r>
            <a:r>
              <a:rPr lang="en-US" altLang="zh-CN" sz="2400" b="1" dirty="0"/>
              <a:t>0 ≤ N ≤ 255</a:t>
            </a:r>
            <a:endParaRPr lang="en-US" altLang="zh-CN" sz="2400" b="1" dirty="0"/>
          </a:p>
          <a:p>
            <a:pPr marL="533400" lvl="0" indent="-533400">
              <a:buClrTx/>
              <a:buNone/>
            </a:pPr>
            <a:r>
              <a:rPr lang="zh-CN" altLang="en-US" sz="2400" b="1" dirty="0"/>
              <a:t>　</a:t>
            </a:r>
            <a:r>
              <a:rPr lang="en-US" altLang="zh-CN" sz="2400" b="1" dirty="0"/>
              <a:t>16</a:t>
            </a:r>
            <a:r>
              <a:rPr lang="zh-CN" altLang="en-US" sz="2400" b="1" dirty="0"/>
              <a:t>位无符号数的表示范围是：</a:t>
            </a:r>
            <a:r>
              <a:rPr lang="en-US" altLang="zh-CN" sz="2400" b="1" dirty="0"/>
              <a:t>0 ≤ N ≤ 65535</a:t>
            </a:r>
            <a:endParaRPr lang="en-US" altLang="zh-CN" sz="2400" b="1" dirty="0"/>
          </a:p>
          <a:p>
            <a:pPr marL="533400" lvl="0" indent="-533400">
              <a:buClrTx/>
              <a:buNone/>
            </a:pPr>
            <a:endParaRPr lang="en-US" altLang="zh-CN" sz="2400" b="1" dirty="0"/>
          </a:p>
          <a:p>
            <a:pPr marL="533400" lvl="0" indent="-533400">
              <a:buClrTx/>
              <a:buNone/>
            </a:pPr>
            <a:r>
              <a:rPr lang="zh-CN" altLang="en-US" sz="2400" b="1" dirty="0"/>
              <a:t>　</a:t>
            </a:r>
            <a:r>
              <a:rPr lang="en-US" altLang="zh-CN" sz="2400" b="1" dirty="0"/>
              <a:t>8</a:t>
            </a:r>
            <a:r>
              <a:rPr lang="zh-CN" altLang="en-US" sz="2400" b="1" dirty="0"/>
              <a:t>位的补码表示的带符号数的表示范围是：</a:t>
            </a:r>
            <a:endParaRPr lang="zh-CN" altLang="en-US" sz="2400" b="1" dirty="0"/>
          </a:p>
          <a:p>
            <a:pPr marL="533400" lvl="0" indent="-533400">
              <a:buClrTx/>
              <a:buNone/>
            </a:pPr>
            <a:r>
              <a:rPr lang="zh-CN" altLang="en-US" sz="2400" b="1" dirty="0"/>
              <a:t>　　　　　－</a:t>
            </a:r>
            <a:r>
              <a:rPr lang="en-US" altLang="zh-CN" sz="2400" b="1" dirty="0"/>
              <a:t>128≤ N ≤</a:t>
            </a:r>
            <a:r>
              <a:rPr lang="zh-CN" altLang="en-US" sz="2400" b="1" dirty="0"/>
              <a:t>＋</a:t>
            </a:r>
            <a:r>
              <a:rPr lang="en-US" altLang="zh-CN" sz="2400" b="1" dirty="0"/>
              <a:t>127</a:t>
            </a:r>
            <a:endParaRPr lang="en-US" altLang="zh-CN" sz="2400" b="1" dirty="0"/>
          </a:p>
          <a:p>
            <a:pPr marL="533400" lvl="0" indent="-533400">
              <a:buClrTx/>
              <a:buNone/>
            </a:pPr>
            <a:r>
              <a:rPr lang="zh-CN" altLang="en-US" sz="2400" b="1" dirty="0"/>
              <a:t>　</a:t>
            </a:r>
            <a:r>
              <a:rPr lang="en-US" altLang="zh-CN" sz="2400" b="1" dirty="0"/>
              <a:t>16</a:t>
            </a:r>
            <a:r>
              <a:rPr lang="zh-CN" altLang="en-US" sz="2400" b="1" dirty="0"/>
              <a:t>位的补码表示的带符号数的表示范围是：</a:t>
            </a:r>
            <a:endParaRPr lang="zh-CN" altLang="en-US" sz="2400" b="1" dirty="0"/>
          </a:p>
          <a:p>
            <a:pPr marL="533400" lvl="0" indent="-533400">
              <a:buClrTx/>
              <a:buNone/>
            </a:pPr>
            <a:r>
              <a:rPr lang="zh-CN" altLang="en-US" sz="2400" b="1" dirty="0"/>
              <a:t>　　　　　－</a:t>
            </a:r>
            <a:r>
              <a:rPr lang="en-US" altLang="zh-CN" sz="2400" b="1" dirty="0"/>
              <a:t>32768 ≤ N ≤</a:t>
            </a:r>
            <a:r>
              <a:rPr lang="zh-CN" altLang="en-US" sz="2400" b="1" dirty="0"/>
              <a:t>＋</a:t>
            </a:r>
            <a:r>
              <a:rPr lang="en-US" altLang="zh-CN" sz="2400" b="1" dirty="0"/>
              <a:t>32767</a:t>
            </a:r>
            <a:endParaRPr lang="en-US" altLang="zh-CN" sz="2400" b="1" dirty="0"/>
          </a:p>
        </p:txBody>
      </p:sp>
      <p:sp>
        <p:nvSpPr>
          <p:cNvPr id="5"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858" name="矩形 249857"/>
          <p:cNvSpPr/>
          <p:nvPr/>
        </p:nvSpPr>
        <p:spPr>
          <a:xfrm>
            <a:off x="1738313" y="2797175"/>
            <a:ext cx="1400175" cy="0"/>
          </a:xfrm>
          <a:prstGeom prst="rect">
            <a:avLst/>
          </a:prstGeom>
          <a:noFill/>
          <a:ln w="9525">
            <a:noFill/>
          </a:ln>
        </p:spPr>
        <p:txBody>
          <a:bodyPr/>
          <a:lstStyle/>
          <a:p>
            <a:endParaRPr lang="zh-CN" altLang="en-US"/>
          </a:p>
        </p:txBody>
      </p:sp>
      <p:sp>
        <p:nvSpPr>
          <p:cNvPr id="249860" name="矩形 249859"/>
          <p:cNvSpPr/>
          <p:nvPr/>
        </p:nvSpPr>
        <p:spPr>
          <a:xfrm>
            <a:off x="304800" y="836613"/>
            <a:ext cx="8534400" cy="4897437"/>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533400" lvl="0" indent="-533400">
              <a:buClrTx/>
              <a:buNone/>
            </a:pPr>
            <a:r>
              <a:rPr lang="en-US" altLang="zh-CN" sz="2400" b="1" dirty="0">
                <a:solidFill>
                  <a:srgbClr val="0000CC"/>
                </a:solidFill>
                <a:latin typeface="Times New Roman" panose="02020603050405020304" pitchFamily="18" charset="0"/>
                <a:cs typeface="+mn-cs"/>
              </a:rPr>
              <a:t>5</a:t>
            </a:r>
            <a:r>
              <a:rPr lang="zh-CN" altLang="en-US" sz="2400" b="1" dirty="0">
                <a:solidFill>
                  <a:srgbClr val="0000CC"/>
                </a:solidFill>
                <a:latin typeface="Times New Roman" panose="02020603050405020304" pitchFamily="18" charset="0"/>
                <a:cs typeface="+mn-cs"/>
              </a:rPr>
              <a:t>、补码的运算规则 </a:t>
            </a:r>
            <a:endParaRPr lang="zh-CN" altLang="en-US" sz="2400" b="1" dirty="0">
              <a:solidFill>
                <a:srgbClr val="0000CC"/>
              </a:solidFill>
              <a:latin typeface="Times New Roman" panose="02020603050405020304" pitchFamily="18" charset="0"/>
              <a:cs typeface="+mn-cs"/>
            </a:endParaRPr>
          </a:p>
          <a:p>
            <a:pPr marL="533400" lvl="0" indent="-533400">
              <a:buClrTx/>
              <a:buNone/>
            </a:pPr>
            <a:r>
              <a:rPr lang="zh-CN" altLang="en-US" sz="2400" b="1" dirty="0"/>
              <a:t>　计算机中，凡是带符号数一律采用补码形式进行存放和运算，其运算结果也用补码表示。</a:t>
            </a:r>
            <a:endParaRPr lang="zh-CN" altLang="en-US" sz="2400" b="1" dirty="0"/>
          </a:p>
          <a:p>
            <a:pPr marL="533400" lvl="0" indent="-533400">
              <a:buClrTx/>
              <a:buNone/>
            </a:pPr>
            <a:r>
              <a:rPr lang="zh-CN" altLang="en-US" sz="2400" b="1" dirty="0"/>
              <a:t>设</a:t>
            </a:r>
            <a:r>
              <a:rPr lang="en-US" altLang="zh-CN" sz="2400" b="1" dirty="0"/>
              <a:t>X</a:t>
            </a:r>
            <a:r>
              <a:rPr lang="zh-CN" altLang="en-US" sz="2400" b="1" dirty="0"/>
              <a:t>、</a:t>
            </a:r>
            <a:r>
              <a:rPr lang="en-US" altLang="zh-CN" sz="2400" b="1" dirty="0"/>
              <a:t>Y</a:t>
            </a:r>
            <a:r>
              <a:rPr lang="zh-CN" altLang="en-US" sz="2400" b="1" dirty="0"/>
              <a:t>为两个任意二进制数，则定点数的补码满足以下规则</a:t>
            </a:r>
            <a:endParaRPr lang="zh-CN" altLang="en-US" sz="2400" b="1" dirty="0"/>
          </a:p>
          <a:p>
            <a:pPr marL="533400" lvl="0" indent="-533400">
              <a:buClrTx/>
              <a:buNone/>
            </a:pPr>
            <a:r>
              <a:rPr lang="en-US" altLang="zh-CN" sz="2400" b="1" dirty="0"/>
              <a:t>        </a:t>
            </a:r>
            <a:r>
              <a:rPr lang="en-US" altLang="zh-CN" sz="2400" b="1" dirty="0">
                <a:solidFill>
                  <a:srgbClr val="0000FF"/>
                </a:solidFill>
              </a:rPr>
              <a:t>[X+Y]</a:t>
            </a:r>
            <a:r>
              <a:rPr lang="zh-CN" altLang="en-US" sz="2400" b="1" baseline="-25000" dirty="0">
                <a:solidFill>
                  <a:srgbClr val="0000FF"/>
                </a:solidFill>
              </a:rPr>
              <a:t>补</a:t>
            </a:r>
            <a:r>
              <a:rPr lang="en-US" altLang="zh-CN" sz="2400" b="1" dirty="0">
                <a:solidFill>
                  <a:srgbClr val="0000FF"/>
                </a:solidFill>
              </a:rPr>
              <a:t>=[X]</a:t>
            </a:r>
            <a:r>
              <a:rPr lang="zh-CN" altLang="en-US" sz="2400" b="1" baseline="-25000" dirty="0">
                <a:solidFill>
                  <a:srgbClr val="0000FF"/>
                </a:solidFill>
              </a:rPr>
              <a:t>补</a:t>
            </a:r>
            <a:r>
              <a:rPr lang="en-US" altLang="zh-CN" sz="2400" b="1" dirty="0">
                <a:solidFill>
                  <a:srgbClr val="0000FF"/>
                </a:solidFill>
              </a:rPr>
              <a:t>+[Y]</a:t>
            </a:r>
            <a:r>
              <a:rPr lang="zh-CN" altLang="en-US" sz="2400" b="1" baseline="-25000" dirty="0">
                <a:solidFill>
                  <a:srgbClr val="0000FF"/>
                </a:solidFill>
              </a:rPr>
              <a:t>补</a:t>
            </a:r>
            <a:endParaRPr lang="zh-CN" altLang="en-US" sz="2400" b="1" baseline="-25000" dirty="0">
              <a:solidFill>
                <a:srgbClr val="0000FF"/>
              </a:solidFill>
            </a:endParaRPr>
          </a:p>
          <a:p>
            <a:pPr marL="533400" lvl="0" indent="-533400">
              <a:buClrTx/>
              <a:buNone/>
            </a:pPr>
            <a:r>
              <a:rPr lang="zh-CN" altLang="en-US" sz="2400" b="1" dirty="0">
                <a:solidFill>
                  <a:srgbClr val="0000FF"/>
                </a:solidFill>
              </a:rPr>
              <a:t>        </a:t>
            </a:r>
            <a:r>
              <a:rPr lang="en-US" altLang="zh-CN" sz="2400" b="1" dirty="0">
                <a:solidFill>
                  <a:srgbClr val="0000FF"/>
                </a:solidFill>
              </a:rPr>
              <a:t>[X-Y]</a:t>
            </a:r>
            <a:r>
              <a:rPr lang="zh-CN" altLang="en-US" sz="2400" b="1" baseline="-25000" dirty="0">
                <a:solidFill>
                  <a:srgbClr val="0000FF"/>
                </a:solidFill>
              </a:rPr>
              <a:t>补</a:t>
            </a:r>
            <a:r>
              <a:rPr lang="en-US" altLang="zh-CN" sz="2400" b="1" dirty="0">
                <a:solidFill>
                  <a:srgbClr val="0000FF"/>
                </a:solidFill>
              </a:rPr>
              <a:t>= [X]</a:t>
            </a:r>
            <a:r>
              <a:rPr lang="zh-CN" altLang="en-US" sz="2400" b="1" baseline="-25000" dirty="0">
                <a:solidFill>
                  <a:srgbClr val="0000FF"/>
                </a:solidFill>
              </a:rPr>
              <a:t>补</a:t>
            </a:r>
            <a:r>
              <a:rPr lang="en-US" altLang="zh-CN" sz="2400" b="1" dirty="0">
                <a:solidFill>
                  <a:srgbClr val="0000FF"/>
                </a:solidFill>
              </a:rPr>
              <a:t>+[-Y]</a:t>
            </a:r>
            <a:r>
              <a:rPr lang="zh-CN" altLang="en-US" sz="2400" b="1" baseline="-25000" dirty="0">
                <a:solidFill>
                  <a:srgbClr val="0000FF"/>
                </a:solidFill>
              </a:rPr>
              <a:t>补</a:t>
            </a:r>
            <a:endParaRPr lang="zh-CN" altLang="en-US" sz="2400" b="1" baseline="-25000" dirty="0">
              <a:solidFill>
                <a:srgbClr val="0000FF"/>
              </a:solidFill>
            </a:endParaRPr>
          </a:p>
          <a:p>
            <a:pPr marL="533400" lvl="0" indent="-533400">
              <a:buClrTx/>
              <a:buNone/>
            </a:pPr>
            <a:r>
              <a:rPr lang="en-US" altLang="zh-CN" sz="2400" b="1" dirty="0"/>
              <a:t>【</a:t>
            </a:r>
            <a:r>
              <a:rPr lang="zh-CN" altLang="en-US" sz="2400" b="1" dirty="0"/>
              <a:t>例</a:t>
            </a:r>
            <a:r>
              <a:rPr lang="en-US" altLang="zh-CN" sz="2400" b="1" dirty="0"/>
              <a:t>1.6】</a:t>
            </a:r>
            <a:r>
              <a:rPr lang="zh-CN" altLang="en-US" sz="2400" b="1" dirty="0"/>
              <a:t>设</a:t>
            </a:r>
            <a:r>
              <a:rPr lang="en-US" altLang="zh-CN" sz="2400" b="1" dirty="0"/>
              <a:t>X= +18</a:t>
            </a:r>
            <a:r>
              <a:rPr lang="zh-CN" altLang="en-US" sz="2400" b="1" dirty="0"/>
              <a:t>，</a:t>
            </a:r>
            <a:r>
              <a:rPr lang="en-US" altLang="zh-CN" sz="2400" b="1" dirty="0"/>
              <a:t>Y= −15</a:t>
            </a:r>
            <a:r>
              <a:rPr lang="zh-CN" altLang="en-US" sz="2400" b="1" dirty="0"/>
              <a:t>，计算</a:t>
            </a:r>
            <a:r>
              <a:rPr lang="en-US" altLang="zh-CN" sz="2400" b="1" dirty="0"/>
              <a:t>[X+Y] </a:t>
            </a:r>
            <a:r>
              <a:rPr lang="zh-CN" altLang="en-US" sz="2400" b="1" baseline="-25000" dirty="0"/>
              <a:t>补</a:t>
            </a:r>
            <a:r>
              <a:rPr lang="en-US" altLang="zh-CN" sz="2400" b="1" dirty="0"/>
              <a:t>=?</a:t>
            </a:r>
            <a:r>
              <a:rPr lang="zh-CN" altLang="en-US" sz="2400" b="1" dirty="0"/>
              <a:t>　（设机器字长为</a:t>
            </a:r>
            <a:r>
              <a:rPr lang="en-US" altLang="zh-CN" sz="2400" b="1" dirty="0"/>
              <a:t>8</a:t>
            </a:r>
            <a:r>
              <a:rPr lang="zh-CN" altLang="en-US" sz="2400" b="1" dirty="0"/>
              <a:t>位）</a:t>
            </a:r>
            <a:endParaRPr lang="zh-CN" altLang="en-US" sz="2400" b="1" dirty="0"/>
          </a:p>
          <a:p>
            <a:pPr marL="533400" lvl="0" indent="-533400">
              <a:buClrTx/>
              <a:buNone/>
            </a:pPr>
            <a:r>
              <a:rPr lang="en-US" altLang="zh-CN" sz="2400" b="1" dirty="0"/>
              <a:t>[X]</a:t>
            </a:r>
            <a:r>
              <a:rPr lang="zh-CN" altLang="en-US" sz="2400" b="1" baseline="-25000" dirty="0"/>
              <a:t>补</a:t>
            </a:r>
            <a:r>
              <a:rPr lang="en-US" altLang="zh-CN" sz="2400" b="1" dirty="0"/>
              <a:t>=00010010B</a:t>
            </a:r>
            <a:r>
              <a:rPr lang="zh-CN" altLang="en-US" sz="2400" b="1" dirty="0"/>
              <a:t>， </a:t>
            </a:r>
            <a:r>
              <a:rPr lang="en-US" altLang="zh-CN" sz="2400" b="1" dirty="0"/>
              <a:t>[Y]</a:t>
            </a:r>
            <a:r>
              <a:rPr lang="zh-CN" altLang="en-US" sz="2400" b="1" baseline="-25000" dirty="0"/>
              <a:t>补</a:t>
            </a:r>
            <a:r>
              <a:rPr lang="en-US" altLang="zh-CN" sz="2400" b="1" dirty="0"/>
              <a:t>=11110001B</a:t>
            </a:r>
            <a:endParaRPr lang="en-US" altLang="zh-CN" sz="2400" b="1" dirty="0"/>
          </a:p>
          <a:p>
            <a:pPr marL="533400" lvl="0" indent="-533400">
              <a:buClrTx/>
              <a:buNone/>
            </a:pPr>
            <a:r>
              <a:rPr lang="en-US" altLang="zh-CN" sz="2400" b="1" dirty="0"/>
              <a:t>[X]</a:t>
            </a:r>
            <a:r>
              <a:rPr lang="zh-CN" altLang="en-US" sz="2400" b="1" baseline="-25000" dirty="0"/>
              <a:t>补</a:t>
            </a:r>
            <a:r>
              <a:rPr lang="en-US" altLang="zh-CN" sz="2400" b="1" dirty="0"/>
              <a:t>+[Y]</a:t>
            </a:r>
            <a:r>
              <a:rPr lang="zh-CN" altLang="en-US" sz="2400" b="1" baseline="-25000" dirty="0"/>
              <a:t>补</a:t>
            </a:r>
            <a:r>
              <a:rPr lang="en-US" altLang="zh-CN" sz="2400" b="1" dirty="0"/>
              <a:t>=00010010B + 11110001B=</a:t>
            </a:r>
            <a:r>
              <a:rPr lang="en-US" altLang="zh-CN" sz="2400" b="1" u="sng" dirty="0">
                <a:solidFill>
                  <a:srgbClr val="0000FF"/>
                </a:solidFill>
              </a:rPr>
              <a:t>00000011</a:t>
            </a:r>
            <a:r>
              <a:rPr lang="en-US" altLang="zh-CN" sz="2400" b="1" dirty="0"/>
              <a:t>B</a:t>
            </a:r>
            <a:r>
              <a:rPr lang="zh-CN" altLang="en-US" sz="2400" b="1" dirty="0"/>
              <a:t>　　　</a:t>
            </a:r>
            <a:r>
              <a:rPr lang="en-US" altLang="zh-CN" sz="2400" b="1" dirty="0"/>
              <a:t>; </a:t>
            </a:r>
            <a:endParaRPr lang="zh-CN" altLang="en-US" sz="2400" b="1" dirty="0"/>
          </a:p>
          <a:p>
            <a:pPr marL="533400" lvl="0" indent="-533400">
              <a:buClrTx/>
              <a:buNone/>
            </a:pPr>
            <a:r>
              <a:rPr lang="en-US" altLang="zh-CN" sz="2400" b="1" dirty="0"/>
              <a:t>[X+Y] </a:t>
            </a:r>
            <a:r>
              <a:rPr lang="zh-CN" altLang="en-US" sz="2400" b="1" baseline="-25000" dirty="0"/>
              <a:t>补</a:t>
            </a:r>
            <a:r>
              <a:rPr lang="en-US" altLang="zh-CN" sz="2400" b="1" dirty="0"/>
              <a:t>=[(+18)+(-15)] </a:t>
            </a:r>
            <a:r>
              <a:rPr lang="zh-CN" altLang="en-US" sz="2400" b="1" baseline="-25000" dirty="0"/>
              <a:t>补</a:t>
            </a:r>
            <a:r>
              <a:rPr lang="en-US" altLang="zh-CN" sz="2400" b="1" dirty="0"/>
              <a:t>= [+3] </a:t>
            </a:r>
            <a:r>
              <a:rPr lang="zh-CN" altLang="en-US" sz="2400" b="1" baseline="-25000" dirty="0"/>
              <a:t>补</a:t>
            </a:r>
            <a:r>
              <a:rPr lang="en-US" altLang="zh-CN" sz="2400" b="1" dirty="0"/>
              <a:t>=</a:t>
            </a:r>
            <a:r>
              <a:rPr lang="en-US" altLang="zh-CN" sz="2400" b="1" u="sng" dirty="0">
                <a:solidFill>
                  <a:srgbClr val="0000FF"/>
                </a:solidFill>
              </a:rPr>
              <a:t>00000011</a:t>
            </a:r>
            <a:r>
              <a:rPr lang="en-US" altLang="zh-CN" sz="2400" b="1" dirty="0"/>
              <a:t>B</a:t>
            </a:r>
            <a:endParaRPr lang="zh-CN" altLang="en-US" sz="2400" b="1" dirty="0"/>
          </a:p>
        </p:txBody>
      </p:sp>
      <p:sp>
        <p:nvSpPr>
          <p:cNvPr id="5"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矩形 250881"/>
          <p:cNvSpPr/>
          <p:nvPr/>
        </p:nvSpPr>
        <p:spPr>
          <a:xfrm>
            <a:off x="1738313" y="2797175"/>
            <a:ext cx="1400175" cy="0"/>
          </a:xfrm>
          <a:prstGeom prst="rect">
            <a:avLst/>
          </a:prstGeom>
          <a:noFill/>
          <a:ln w="9525">
            <a:noFill/>
          </a:ln>
        </p:spPr>
        <p:txBody>
          <a:bodyPr/>
          <a:lstStyle/>
          <a:p>
            <a:endParaRPr lang="zh-CN" altLang="en-US"/>
          </a:p>
        </p:txBody>
      </p:sp>
      <p:sp>
        <p:nvSpPr>
          <p:cNvPr id="250884" name="矩形 250883"/>
          <p:cNvSpPr/>
          <p:nvPr/>
        </p:nvSpPr>
        <p:spPr>
          <a:xfrm>
            <a:off x="304800" y="836613"/>
            <a:ext cx="8534400" cy="489664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533400" lvl="0" indent="-533400">
              <a:lnSpc>
                <a:spcPct val="110000"/>
              </a:lnSpc>
              <a:buClrTx/>
              <a:buNone/>
            </a:pPr>
            <a:r>
              <a:rPr lang="zh-CN" altLang="en-US" sz="2400" b="1" dirty="0" smtClean="0">
                <a:solidFill>
                  <a:srgbClr val="C00000"/>
                </a:solidFill>
              </a:rPr>
              <a:t>示例</a:t>
            </a:r>
            <a:r>
              <a:rPr lang="en-US" altLang="zh-CN" sz="2400" b="1" dirty="0" smtClean="0">
                <a:solidFill>
                  <a:srgbClr val="C00000"/>
                </a:solidFill>
              </a:rPr>
              <a:t>3</a:t>
            </a:r>
            <a:r>
              <a:rPr lang="zh-CN" altLang="en-US" sz="2400" b="1" dirty="0" smtClean="0"/>
              <a:t>：设</a:t>
            </a:r>
            <a:r>
              <a:rPr lang="en-US" altLang="zh-CN" sz="2400" b="1" dirty="0"/>
              <a:t>X=-56</a:t>
            </a:r>
            <a:r>
              <a:rPr lang="zh-CN" altLang="en-US" sz="2400" b="1" dirty="0"/>
              <a:t>，</a:t>
            </a:r>
            <a:r>
              <a:rPr lang="en-US" altLang="zh-CN" sz="2400" b="1" dirty="0"/>
              <a:t>Y=-17</a:t>
            </a:r>
            <a:r>
              <a:rPr lang="zh-CN" altLang="en-US" sz="2400" b="1" dirty="0"/>
              <a:t>，计算：</a:t>
            </a:r>
            <a:r>
              <a:rPr lang="en-US" altLang="zh-CN" sz="2400" b="1" dirty="0"/>
              <a:t>[X-Y] </a:t>
            </a:r>
            <a:r>
              <a:rPr lang="zh-CN" altLang="en-US" sz="2400" b="1" baseline="-25000" dirty="0"/>
              <a:t>补</a:t>
            </a:r>
            <a:r>
              <a:rPr lang="en-US" altLang="zh-CN" sz="2400" b="1" dirty="0"/>
              <a:t>=? </a:t>
            </a:r>
            <a:endParaRPr lang="en-US" altLang="zh-CN" sz="2400" b="1" dirty="0"/>
          </a:p>
          <a:p>
            <a:pPr marL="533400" lvl="0" indent="-533400">
              <a:lnSpc>
                <a:spcPct val="110000"/>
              </a:lnSpc>
              <a:buClrTx/>
              <a:buNone/>
            </a:pPr>
            <a:r>
              <a:rPr lang="en-US" altLang="zh-CN" sz="2400" b="1" dirty="0"/>
              <a:t>[X]</a:t>
            </a:r>
            <a:r>
              <a:rPr lang="zh-CN" altLang="en-US" sz="2400" b="1" baseline="-25000" dirty="0"/>
              <a:t>补</a:t>
            </a:r>
            <a:r>
              <a:rPr lang="en-US" altLang="zh-CN" sz="2400" b="1" dirty="0"/>
              <a:t>=11001000B</a:t>
            </a:r>
            <a:r>
              <a:rPr lang="zh-CN" altLang="en-US" sz="2400" b="1" dirty="0"/>
              <a:t>，</a:t>
            </a:r>
            <a:r>
              <a:rPr lang="en-US" altLang="zh-CN" sz="2400" b="1" dirty="0"/>
              <a:t>[-Y]</a:t>
            </a:r>
            <a:r>
              <a:rPr lang="zh-CN" altLang="en-US" sz="2400" b="1" baseline="-25000" dirty="0"/>
              <a:t>补</a:t>
            </a:r>
            <a:r>
              <a:rPr lang="en-US" altLang="zh-CN" sz="2400" b="1" dirty="0"/>
              <a:t>=00010001B   </a:t>
            </a:r>
            <a:endParaRPr lang="en-US" altLang="zh-CN" sz="2400" b="1" dirty="0"/>
          </a:p>
          <a:p>
            <a:pPr marL="533400" lvl="0" indent="-533400">
              <a:lnSpc>
                <a:spcPct val="110000"/>
              </a:lnSpc>
              <a:buClrTx/>
              <a:buNone/>
            </a:pPr>
            <a:r>
              <a:rPr lang="en-US" altLang="zh-CN" sz="2400" b="1" dirty="0"/>
              <a:t>[X]</a:t>
            </a:r>
            <a:r>
              <a:rPr lang="zh-CN" altLang="en-US" sz="2400" b="1" baseline="-25000" dirty="0"/>
              <a:t>补</a:t>
            </a:r>
            <a:r>
              <a:rPr lang="en-US" altLang="zh-CN" sz="2400" b="1" dirty="0"/>
              <a:t>+[-Y]</a:t>
            </a:r>
            <a:r>
              <a:rPr lang="zh-CN" altLang="en-US" sz="2400" b="1" baseline="-25000" dirty="0"/>
              <a:t>补</a:t>
            </a:r>
            <a:r>
              <a:rPr lang="en-US" altLang="zh-CN" sz="2400" b="1" dirty="0"/>
              <a:t>=11001000B+00010001B= </a:t>
            </a:r>
            <a:r>
              <a:rPr lang="en-US" altLang="zh-CN" sz="2400" b="1" u="sng" dirty="0">
                <a:solidFill>
                  <a:srgbClr val="0000FF"/>
                </a:solidFill>
              </a:rPr>
              <a:t>11011001</a:t>
            </a:r>
            <a:r>
              <a:rPr lang="en-US" altLang="zh-CN" sz="2400" b="1" dirty="0"/>
              <a:t>B</a:t>
            </a:r>
            <a:endParaRPr lang="en-US" altLang="zh-CN" sz="2400" b="1" dirty="0"/>
          </a:p>
          <a:p>
            <a:pPr marL="533400" lvl="0" indent="-533400">
              <a:lnSpc>
                <a:spcPct val="110000"/>
              </a:lnSpc>
              <a:buClrTx/>
              <a:buNone/>
            </a:pPr>
            <a:r>
              <a:rPr lang="en-US" altLang="zh-CN" sz="2400" b="1" dirty="0"/>
              <a:t>[X-Y]</a:t>
            </a:r>
            <a:r>
              <a:rPr lang="zh-CN" altLang="en-US" sz="2400" b="1" baseline="-25000" dirty="0"/>
              <a:t>补</a:t>
            </a:r>
            <a:r>
              <a:rPr lang="en-US" altLang="zh-CN" sz="2400" b="1" dirty="0"/>
              <a:t>=[(-56) -(-17)]</a:t>
            </a:r>
            <a:r>
              <a:rPr lang="zh-CN" altLang="en-US" sz="2400" b="1" baseline="-25000" dirty="0"/>
              <a:t>补</a:t>
            </a:r>
            <a:r>
              <a:rPr lang="en-US" altLang="zh-CN" sz="2400" b="1" dirty="0"/>
              <a:t>= [-39]</a:t>
            </a:r>
            <a:r>
              <a:rPr lang="zh-CN" altLang="en-US" sz="2400" b="1" baseline="-25000" dirty="0"/>
              <a:t>补</a:t>
            </a:r>
            <a:r>
              <a:rPr lang="en-US" altLang="zh-CN" sz="2400" b="1" dirty="0"/>
              <a:t>= [10100111B] </a:t>
            </a:r>
            <a:r>
              <a:rPr lang="zh-CN" altLang="en-US" sz="2400" b="1" baseline="-25000" dirty="0"/>
              <a:t>补</a:t>
            </a:r>
            <a:r>
              <a:rPr lang="en-US" altLang="zh-CN" sz="2400" b="1" dirty="0"/>
              <a:t>=</a:t>
            </a:r>
            <a:r>
              <a:rPr lang="en-US" altLang="zh-CN" sz="2400" b="1" u="sng" dirty="0">
                <a:solidFill>
                  <a:srgbClr val="0000FF"/>
                </a:solidFill>
              </a:rPr>
              <a:t>11011001</a:t>
            </a:r>
            <a:r>
              <a:rPr lang="en-US" altLang="zh-CN" sz="2400" b="1" dirty="0"/>
              <a:t>B</a:t>
            </a:r>
            <a:r>
              <a:rPr lang="en-US" altLang="zh-CN" sz="2400" dirty="0"/>
              <a:t> </a:t>
            </a:r>
            <a:endParaRPr lang="en-US" altLang="zh-CN" sz="2400" dirty="0"/>
          </a:p>
          <a:p>
            <a:pPr marL="533400" lvl="0" indent="-533400">
              <a:lnSpc>
                <a:spcPct val="110000"/>
              </a:lnSpc>
              <a:buClrTx/>
              <a:buNone/>
            </a:pPr>
            <a:r>
              <a:rPr lang="zh-CN" altLang="en-US" sz="2400" b="1" dirty="0"/>
              <a:t>计算机中引入补码后的</a:t>
            </a:r>
            <a:r>
              <a:rPr lang="zh-CN" altLang="en-US" sz="2400" b="1" dirty="0">
                <a:solidFill>
                  <a:srgbClr val="0000FF"/>
                </a:solidFill>
              </a:rPr>
              <a:t>优点</a:t>
            </a:r>
            <a:r>
              <a:rPr lang="zh-CN" altLang="en-US" sz="2400" b="1" dirty="0"/>
              <a:t>：</a:t>
            </a:r>
            <a:endParaRPr lang="zh-CN" altLang="en-US" sz="2400" b="1" dirty="0"/>
          </a:p>
          <a:p>
            <a:pPr marL="533400" lvl="0" indent="-533400">
              <a:lnSpc>
                <a:spcPts val="4000"/>
              </a:lnSpc>
              <a:buClr>
                <a:srgbClr val="0000FF"/>
              </a:buClr>
              <a:buFont typeface="Wingdings" panose="05000000000000000000" pitchFamily="2" charset="2"/>
              <a:buChar char="ü"/>
            </a:pPr>
            <a:r>
              <a:rPr lang="zh-CN" altLang="en-US" sz="2400" b="1" dirty="0" smtClean="0"/>
              <a:t>符号位</a:t>
            </a:r>
            <a:r>
              <a:rPr lang="zh-CN" altLang="en-US" sz="2400" b="1" dirty="0"/>
              <a:t>与数值位同等对待，都按二进制数参加运算，符号位产生的进位自动丢失</a:t>
            </a:r>
            <a:r>
              <a:rPr lang="zh-CN" altLang="en-US" sz="2400" b="1" dirty="0" smtClean="0"/>
              <a:t>，结果正确，</a:t>
            </a:r>
            <a:r>
              <a:rPr lang="zh-CN" altLang="en-US" sz="2400" b="1" dirty="0"/>
              <a:t>简化了运算规则</a:t>
            </a:r>
            <a:r>
              <a:rPr lang="en-US" altLang="zh-CN" sz="2400" b="1" dirty="0"/>
              <a:t>.</a:t>
            </a:r>
            <a:endParaRPr lang="en-US" altLang="zh-CN" sz="2400" b="1" dirty="0"/>
          </a:p>
          <a:p>
            <a:pPr marL="533400" lvl="0" indent="-533400">
              <a:lnSpc>
                <a:spcPts val="4000"/>
              </a:lnSpc>
              <a:buClr>
                <a:srgbClr val="0000FF"/>
              </a:buClr>
              <a:buFont typeface="Wingdings" panose="05000000000000000000" pitchFamily="2" charset="2"/>
              <a:buChar char="ü"/>
            </a:pPr>
            <a:r>
              <a:rPr lang="zh-CN" altLang="en-US" sz="2400" b="1" dirty="0"/>
              <a:t>将减法运算变成了补码加法运算，大大简化了运算器硬件电路的结构和设计</a:t>
            </a:r>
            <a:r>
              <a:rPr lang="zh-CN" altLang="en-US" sz="2400" b="1" dirty="0" smtClean="0"/>
              <a:t>，微处理器</a:t>
            </a:r>
            <a:r>
              <a:rPr lang="zh-CN" altLang="en-US" sz="2400" b="1" dirty="0"/>
              <a:t>中只需</a:t>
            </a:r>
            <a:r>
              <a:rPr lang="zh-CN" altLang="en-US" sz="2400" b="1" dirty="0" smtClean="0"/>
              <a:t>加法电路。</a:t>
            </a:r>
            <a:r>
              <a:rPr lang="zh-CN" altLang="en-US" sz="2400" dirty="0" smtClean="0"/>
              <a:t>  </a:t>
            </a:r>
            <a:endParaRPr lang="zh-CN" altLang="en-US" sz="2400" dirty="0"/>
          </a:p>
        </p:txBody>
      </p:sp>
      <p:sp>
        <p:nvSpPr>
          <p:cNvPr id="5"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1906" name="矩形 251905"/>
          <p:cNvSpPr/>
          <p:nvPr/>
        </p:nvSpPr>
        <p:spPr>
          <a:xfrm>
            <a:off x="1738313" y="2797175"/>
            <a:ext cx="1400175" cy="0"/>
          </a:xfrm>
          <a:prstGeom prst="rect">
            <a:avLst/>
          </a:prstGeom>
          <a:noFill/>
          <a:ln w="9525">
            <a:noFill/>
          </a:ln>
        </p:spPr>
        <p:txBody>
          <a:bodyPr/>
          <a:lstStyle/>
          <a:p>
            <a:endParaRPr lang="zh-CN" altLang="en-US"/>
          </a:p>
        </p:txBody>
      </p:sp>
      <p:sp>
        <p:nvSpPr>
          <p:cNvPr id="251908" name="矩形 251907"/>
          <p:cNvSpPr/>
          <p:nvPr/>
        </p:nvSpPr>
        <p:spPr>
          <a:xfrm>
            <a:off x="304800" y="836613"/>
            <a:ext cx="8534400" cy="5472112"/>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ClrTx/>
              <a:buNone/>
            </a:pPr>
            <a:r>
              <a:rPr lang="en-US" altLang="zh-CN" sz="2400" b="1" dirty="0">
                <a:solidFill>
                  <a:srgbClr val="0000CC"/>
                </a:solidFill>
                <a:latin typeface="Times New Roman" panose="02020603050405020304" pitchFamily="18" charset="0"/>
                <a:cs typeface="+mn-cs"/>
              </a:rPr>
              <a:t>6</a:t>
            </a:r>
            <a:r>
              <a:rPr lang="zh-CN" altLang="en-US" sz="2400" b="1" dirty="0">
                <a:solidFill>
                  <a:srgbClr val="0000CC"/>
                </a:solidFill>
                <a:latin typeface="Times New Roman" panose="02020603050405020304" pitchFamily="18" charset="0"/>
                <a:cs typeface="+mn-cs"/>
              </a:rPr>
              <a:t>、补码的溢出判断 </a:t>
            </a:r>
            <a:endParaRPr lang="zh-CN" altLang="en-US" sz="2400" b="1" dirty="0">
              <a:solidFill>
                <a:srgbClr val="0000CC"/>
              </a:solidFill>
              <a:latin typeface="Times New Roman" panose="02020603050405020304" pitchFamily="18" charset="0"/>
              <a:cs typeface="+mn-cs"/>
            </a:endParaRPr>
          </a:p>
          <a:p>
            <a:pPr marL="0" lvl="0" indent="0">
              <a:buClrTx/>
              <a:buNone/>
            </a:pPr>
            <a:r>
              <a:rPr lang="zh-CN" altLang="en-US" sz="2400" b="1" dirty="0">
                <a:solidFill>
                  <a:srgbClr val="0000FF"/>
                </a:solidFill>
              </a:rPr>
              <a:t>溢出</a:t>
            </a:r>
            <a:r>
              <a:rPr lang="zh-CN" altLang="en-US" sz="2400" b="1" dirty="0"/>
              <a:t>：当两个带符号数进行补码运算时，若运算结果的绝对值超出运算装置容量时，数值部分就会发生溢出，占据符号位的位置，导致错误结果的现象</a:t>
            </a:r>
            <a:endParaRPr lang="zh-CN" altLang="en-US" sz="2400" b="1" dirty="0"/>
          </a:p>
          <a:p>
            <a:pPr marL="0" lvl="0" indent="0">
              <a:buClrTx/>
              <a:buNone/>
            </a:pPr>
            <a:r>
              <a:rPr lang="zh-CN" altLang="en-US" sz="2400" b="1" dirty="0">
                <a:solidFill>
                  <a:srgbClr val="0000FF"/>
                </a:solidFill>
              </a:rPr>
              <a:t>溢出判断方法：</a:t>
            </a:r>
            <a:endParaRPr lang="zh-CN" altLang="en-US" sz="2400" b="1" dirty="0">
              <a:solidFill>
                <a:srgbClr val="0000FF"/>
              </a:solidFill>
            </a:endParaRPr>
          </a:p>
          <a:p>
            <a:pPr marL="0" lvl="0" indent="0">
              <a:buClrTx/>
              <a:buNone/>
            </a:pPr>
            <a:r>
              <a:rPr lang="zh-CN" altLang="en-US" sz="2400" b="1" dirty="0"/>
              <a:t>（</a:t>
            </a:r>
            <a:r>
              <a:rPr lang="en-US" altLang="zh-CN" sz="2400" b="1" dirty="0"/>
              <a:t>1</a:t>
            </a:r>
            <a:r>
              <a:rPr lang="zh-CN" altLang="en-US" sz="2400" b="1" dirty="0"/>
              <a:t>）</a:t>
            </a:r>
            <a:r>
              <a:rPr lang="zh-CN" altLang="en-US" sz="2400" b="1" dirty="0">
                <a:solidFill>
                  <a:srgbClr val="0000FF"/>
                </a:solidFill>
              </a:rPr>
              <a:t>一位符号位判断</a:t>
            </a:r>
            <a:r>
              <a:rPr lang="zh-CN" altLang="en-US" sz="2400" b="1" dirty="0"/>
              <a:t>法。两个符号位相同的补码相加</a:t>
            </a:r>
            <a:r>
              <a:rPr lang="zh-CN" altLang="en-US" sz="2400" b="1" dirty="0" smtClean="0"/>
              <a:t>，和</a:t>
            </a:r>
            <a:r>
              <a:rPr lang="zh-CN" altLang="en-US" sz="2400" b="1" dirty="0"/>
              <a:t>的符号位与被加数的符号位相反</a:t>
            </a:r>
            <a:r>
              <a:rPr lang="zh-CN" altLang="en-US" sz="2400" b="1" dirty="0" smtClean="0"/>
              <a:t>，运算</a:t>
            </a:r>
            <a:r>
              <a:rPr lang="zh-CN" altLang="en-US" sz="2400" b="1" dirty="0"/>
              <a:t>结果溢出；两个符号位相反的补码相减</a:t>
            </a:r>
            <a:r>
              <a:rPr lang="zh-CN" altLang="en-US" sz="2400" b="1" dirty="0" smtClean="0"/>
              <a:t>，差</a:t>
            </a:r>
            <a:r>
              <a:rPr lang="zh-CN" altLang="en-US" sz="2400" b="1" dirty="0"/>
              <a:t>的符号位与被减数的符号位相反</a:t>
            </a:r>
            <a:r>
              <a:rPr lang="zh-CN" altLang="en-US" sz="2400" b="1" dirty="0" smtClean="0"/>
              <a:t>，运算</a:t>
            </a:r>
            <a:r>
              <a:rPr lang="zh-CN" altLang="en-US" sz="2400" b="1" dirty="0"/>
              <a:t>结果溢出</a:t>
            </a:r>
            <a:endParaRPr lang="zh-CN" altLang="en-US" sz="2400" b="1" dirty="0"/>
          </a:p>
          <a:p>
            <a:pPr marL="0" lvl="0" indent="0">
              <a:buClrTx/>
              <a:buNone/>
            </a:pPr>
            <a:r>
              <a:rPr lang="zh-CN" altLang="en-US" sz="2400" b="1" dirty="0"/>
              <a:t>（</a:t>
            </a:r>
            <a:r>
              <a:rPr lang="en-US" altLang="zh-CN" sz="2400" b="1" dirty="0"/>
              <a:t>2</a:t>
            </a:r>
            <a:r>
              <a:rPr lang="zh-CN" altLang="en-US" sz="2400" b="1" dirty="0"/>
              <a:t>）</a:t>
            </a:r>
            <a:r>
              <a:rPr lang="zh-CN" altLang="en-US" sz="2400" b="1" dirty="0">
                <a:solidFill>
                  <a:srgbClr val="0000FF"/>
                </a:solidFill>
              </a:rPr>
              <a:t>双高位</a:t>
            </a:r>
            <a:r>
              <a:rPr lang="zh-CN" altLang="en-US" sz="2400" b="1" dirty="0"/>
              <a:t>法。其公式为：</a:t>
            </a:r>
            <a:endParaRPr lang="zh-CN" altLang="en-US" sz="2400" b="1" dirty="0"/>
          </a:p>
          <a:p>
            <a:pPr marL="0" lvl="0" indent="0">
              <a:buClrTx/>
              <a:buNone/>
            </a:pPr>
            <a:r>
              <a:rPr lang="en-US" altLang="zh-CN" sz="2400" b="1" dirty="0"/>
              <a:t>                 OV=CS⊕CP        </a:t>
            </a:r>
            <a:r>
              <a:rPr lang="zh-CN" altLang="en-US" sz="2400" b="1" dirty="0"/>
              <a:t>；微机中常用的溢出判别方法</a:t>
            </a:r>
            <a:endParaRPr lang="zh-CN" altLang="en-US" sz="2400" b="1" dirty="0"/>
          </a:p>
          <a:p>
            <a:pPr marL="0" lvl="0" indent="0">
              <a:buClrTx/>
              <a:buNone/>
            </a:pPr>
            <a:r>
              <a:rPr lang="en-US" altLang="zh-CN" sz="2400" b="1" dirty="0"/>
              <a:t>OV=1 </a:t>
            </a:r>
            <a:r>
              <a:rPr lang="zh-CN" altLang="en-US" sz="2400" b="1" dirty="0"/>
              <a:t>，溢出， 反之没有溢出</a:t>
            </a:r>
            <a:r>
              <a:rPr lang="zh-CN" altLang="en-US" sz="2400" b="1" dirty="0" smtClean="0"/>
              <a:t>。</a:t>
            </a:r>
            <a:endParaRPr lang="en-US" altLang="zh-CN" sz="2400" b="1" dirty="0" smtClean="0"/>
          </a:p>
          <a:p>
            <a:pPr marL="0" lvl="0" indent="0">
              <a:buClrTx/>
              <a:buNone/>
            </a:pPr>
            <a:r>
              <a:rPr lang="en-US" altLang="zh-CN" sz="2400" b="1" dirty="0" smtClean="0"/>
              <a:t>C</a:t>
            </a:r>
            <a:r>
              <a:rPr lang="en-US" altLang="zh-CN" sz="2400" b="1" baseline="-25000" dirty="0" smtClean="0"/>
              <a:t>S</a:t>
            </a:r>
            <a:r>
              <a:rPr lang="zh-CN" altLang="en-US" sz="2400" b="1" dirty="0" smtClean="0"/>
              <a:t>：最高位是否有进位 </a:t>
            </a:r>
            <a:r>
              <a:rPr lang="zh-CN" altLang="en-US" sz="2400" b="1" dirty="0"/>
              <a:t>，</a:t>
            </a:r>
            <a:r>
              <a:rPr lang="en-US" altLang="zh-CN" sz="2400" b="1" dirty="0" smtClean="0"/>
              <a:t>C</a:t>
            </a:r>
            <a:r>
              <a:rPr lang="en-US" altLang="zh-CN" sz="2400" b="1" baseline="-25000" dirty="0" smtClean="0"/>
              <a:t>P</a:t>
            </a:r>
            <a:r>
              <a:rPr lang="zh-CN" altLang="en-US" sz="2400" b="1" dirty="0" smtClean="0"/>
              <a:t>：次</a:t>
            </a:r>
            <a:r>
              <a:rPr lang="zh-CN" altLang="en-US" sz="2400" b="1" dirty="0"/>
              <a:t>高位向符号位</a:t>
            </a:r>
            <a:r>
              <a:rPr lang="zh-CN" altLang="en-US" sz="2400" b="1" dirty="0" smtClean="0"/>
              <a:t>是否有进位</a:t>
            </a:r>
            <a:r>
              <a:rPr lang="zh-CN" altLang="en-US" dirty="0" smtClean="0"/>
              <a:t> </a:t>
            </a:r>
            <a:r>
              <a:rPr lang="zh-CN" altLang="en-US" sz="2400" dirty="0" smtClean="0"/>
              <a:t> </a:t>
            </a:r>
            <a:endParaRPr lang="zh-CN" altLang="en-US" sz="2400" dirty="0"/>
          </a:p>
        </p:txBody>
      </p:sp>
      <p:sp>
        <p:nvSpPr>
          <p:cNvPr id="5"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2930" name="矩形 252929"/>
          <p:cNvSpPr/>
          <p:nvPr/>
        </p:nvSpPr>
        <p:spPr>
          <a:xfrm>
            <a:off x="1738313" y="2797175"/>
            <a:ext cx="1400175" cy="0"/>
          </a:xfrm>
          <a:prstGeom prst="rect">
            <a:avLst/>
          </a:prstGeom>
          <a:noFill/>
          <a:ln w="9525">
            <a:noFill/>
          </a:ln>
        </p:spPr>
        <p:txBody>
          <a:bodyPr/>
          <a:lstStyle/>
          <a:p>
            <a:endParaRPr lang="zh-CN" altLang="en-US"/>
          </a:p>
        </p:txBody>
      </p:sp>
      <p:sp>
        <p:nvSpPr>
          <p:cNvPr id="252932" name="矩形 252931"/>
          <p:cNvSpPr/>
          <p:nvPr/>
        </p:nvSpPr>
        <p:spPr>
          <a:xfrm>
            <a:off x="250825" y="836612"/>
            <a:ext cx="8588375" cy="5472707"/>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ClrTx/>
              <a:buNone/>
            </a:pPr>
            <a:r>
              <a:rPr lang="zh-CN" altLang="en-US" sz="2400" b="1" dirty="0" smtClean="0">
                <a:solidFill>
                  <a:srgbClr val="C00000"/>
                </a:solidFill>
              </a:rPr>
              <a:t>示例</a:t>
            </a:r>
            <a:r>
              <a:rPr lang="en-US" altLang="zh-CN" sz="2400" b="1" dirty="0" smtClean="0">
                <a:solidFill>
                  <a:srgbClr val="C00000"/>
                </a:solidFill>
              </a:rPr>
              <a:t>4</a:t>
            </a:r>
            <a:r>
              <a:rPr lang="zh-CN" altLang="en-US" sz="2400" b="1" dirty="0" smtClean="0"/>
              <a:t>：分别</a:t>
            </a:r>
            <a:r>
              <a:rPr lang="zh-CN" altLang="en-US" sz="2400" b="1" dirty="0"/>
              <a:t>计算</a:t>
            </a:r>
            <a:r>
              <a:rPr lang="en-US" altLang="zh-CN" sz="2400" b="1" dirty="0"/>
              <a:t>[+64]</a:t>
            </a:r>
            <a:r>
              <a:rPr lang="zh-CN" altLang="en-US" sz="2400" b="1" baseline="-25000" dirty="0"/>
              <a:t>补</a:t>
            </a:r>
            <a:r>
              <a:rPr lang="en-US" altLang="zh-CN" sz="2400" b="1" dirty="0"/>
              <a:t>+[+65]</a:t>
            </a:r>
            <a:r>
              <a:rPr lang="zh-CN" altLang="en-US" sz="2400" b="1" baseline="-25000" dirty="0"/>
              <a:t>补</a:t>
            </a:r>
            <a:r>
              <a:rPr lang="en-US" altLang="zh-CN" sz="2400" b="1" dirty="0"/>
              <a:t>=?</a:t>
            </a:r>
            <a:r>
              <a:rPr lang="zh-CN" altLang="en-US" sz="2400" b="1" dirty="0"/>
              <a:t>　　</a:t>
            </a:r>
            <a:r>
              <a:rPr lang="en-US" altLang="zh-CN" sz="2400" b="1" dirty="0"/>
              <a:t>[-117]</a:t>
            </a:r>
            <a:r>
              <a:rPr lang="zh-CN" altLang="en-US" sz="2400" b="1" baseline="-25000" dirty="0"/>
              <a:t>补</a:t>
            </a:r>
            <a:r>
              <a:rPr lang="en-US" altLang="zh-CN" sz="2400" b="1" dirty="0"/>
              <a:t>+[+121]</a:t>
            </a:r>
            <a:r>
              <a:rPr lang="zh-CN" altLang="en-US" sz="2400" b="1" baseline="-25000" dirty="0"/>
              <a:t>补</a:t>
            </a:r>
            <a:r>
              <a:rPr lang="en-US" altLang="zh-CN" sz="2400" b="1" dirty="0"/>
              <a:t>=?</a:t>
            </a:r>
            <a:r>
              <a:rPr lang="zh-CN" altLang="en-US" sz="2400" b="1" dirty="0"/>
              <a:t>（设机器字长为</a:t>
            </a:r>
            <a:r>
              <a:rPr lang="en-US" altLang="zh-CN" sz="2400" b="1" dirty="0"/>
              <a:t>8</a:t>
            </a:r>
            <a:r>
              <a:rPr lang="zh-CN" altLang="en-US" sz="2400" b="1" dirty="0"/>
              <a:t>位）</a:t>
            </a:r>
            <a:endParaRPr lang="zh-CN" altLang="en-US" sz="2400" b="1" dirty="0"/>
          </a:p>
          <a:p>
            <a:pPr marL="0" lvl="0" indent="0">
              <a:buClrTx/>
              <a:buNone/>
            </a:pPr>
            <a:r>
              <a:rPr lang="en-US" altLang="zh-CN" sz="2400" b="1" dirty="0"/>
              <a:t>       01000000  ----  [+64]</a:t>
            </a:r>
            <a:r>
              <a:rPr lang="zh-CN" altLang="en-US" sz="2400" b="1" baseline="-25000" dirty="0"/>
              <a:t>补</a:t>
            </a:r>
            <a:endParaRPr lang="zh-CN" altLang="en-US" sz="2400" b="1" baseline="-25000" dirty="0"/>
          </a:p>
          <a:p>
            <a:pPr marL="0" indent="0">
              <a:buNone/>
            </a:pPr>
            <a:r>
              <a:rPr lang="en-US" altLang="zh-CN" sz="2400" b="1" dirty="0"/>
              <a:t>+)    01000001  ----  [+65]</a:t>
            </a:r>
            <a:r>
              <a:rPr lang="zh-CN" altLang="en-US" sz="2400" b="1" baseline="-25000" dirty="0"/>
              <a:t>补</a:t>
            </a:r>
            <a:endParaRPr lang="zh-CN" altLang="en-US" sz="2400" b="1" baseline="-25000" dirty="0"/>
          </a:p>
          <a:p>
            <a:pPr marL="0" lvl="0" indent="0">
              <a:buClrTx/>
              <a:buNone/>
            </a:pPr>
            <a:r>
              <a:rPr lang="en-US" altLang="zh-CN" sz="2400" b="1" dirty="0"/>
              <a:t>       </a:t>
            </a:r>
            <a:r>
              <a:rPr lang="en-US" altLang="zh-CN" sz="2400" b="1" dirty="0">
                <a:solidFill>
                  <a:srgbClr val="FF00FF"/>
                </a:solidFill>
              </a:rPr>
              <a:t>10000001</a:t>
            </a:r>
            <a:r>
              <a:rPr lang="en-US" altLang="zh-CN" sz="2400" b="1" dirty="0"/>
              <a:t>  ----  [-127] </a:t>
            </a:r>
            <a:r>
              <a:rPr lang="zh-CN" altLang="en-US" sz="2400" b="1" baseline="-25000" dirty="0"/>
              <a:t>补</a:t>
            </a:r>
            <a:endParaRPr lang="zh-CN" altLang="en-US" sz="2400" b="1" baseline="-25000" dirty="0"/>
          </a:p>
          <a:p>
            <a:pPr marL="0" lvl="0" indent="0">
              <a:buClrTx/>
              <a:buNone/>
            </a:pPr>
            <a:endParaRPr lang="en-US" altLang="zh-CN" sz="2400" b="1" dirty="0" smtClean="0"/>
          </a:p>
          <a:p>
            <a:pPr marL="0" lvl="0" indent="0">
              <a:buClrTx/>
              <a:buNone/>
            </a:pPr>
            <a:r>
              <a:rPr lang="zh-CN" altLang="en-US" sz="2400" b="1" dirty="0" smtClean="0"/>
              <a:t>；</a:t>
            </a:r>
            <a:r>
              <a:rPr lang="zh-CN" altLang="en-US" sz="2400" b="1" dirty="0"/>
              <a:t>两个正数相加得到负数结果，溢出</a:t>
            </a:r>
            <a:endParaRPr lang="zh-CN" altLang="en-US" sz="2400" b="1" dirty="0"/>
          </a:p>
          <a:p>
            <a:pPr marL="0" lvl="0" indent="0">
              <a:buClrTx/>
              <a:buNone/>
            </a:pPr>
            <a:r>
              <a:rPr lang="zh-CN" altLang="en-US" sz="2400" b="1" dirty="0"/>
              <a:t> </a:t>
            </a:r>
            <a:endParaRPr lang="zh-CN" altLang="en-US" sz="2400" b="1" dirty="0"/>
          </a:p>
          <a:p>
            <a:pPr marL="0" indent="0">
              <a:buNone/>
            </a:pPr>
            <a:r>
              <a:rPr lang="en-US" altLang="zh-CN" sz="2400" b="1" dirty="0"/>
              <a:t>       01111001  ----  [+121]</a:t>
            </a:r>
            <a:r>
              <a:rPr lang="zh-CN" altLang="en-US" sz="2400" b="1" baseline="-25000" dirty="0"/>
              <a:t>补</a:t>
            </a:r>
            <a:endParaRPr lang="zh-CN" altLang="en-US" sz="2400" b="1" baseline="-25000" dirty="0"/>
          </a:p>
          <a:p>
            <a:pPr marL="0" lvl="0" indent="0">
              <a:buClrTx/>
              <a:buNone/>
            </a:pPr>
            <a:r>
              <a:rPr lang="en-US" altLang="zh-CN" sz="2400" b="1" dirty="0"/>
              <a:t>+)    10001011  ----  [-117]</a:t>
            </a:r>
            <a:r>
              <a:rPr lang="zh-CN" altLang="en-US" sz="2400" b="1" baseline="-25000" dirty="0"/>
              <a:t>补</a:t>
            </a:r>
            <a:endParaRPr lang="zh-CN" altLang="en-US" sz="2400" b="1" baseline="-25000" dirty="0"/>
          </a:p>
          <a:p>
            <a:pPr marL="0" lvl="0" indent="0">
              <a:buClrTx/>
              <a:buNone/>
            </a:pPr>
            <a:r>
              <a:rPr lang="en-US" altLang="zh-CN" sz="2400" b="1" dirty="0"/>
              <a:t>    1</a:t>
            </a:r>
            <a:r>
              <a:rPr lang="en-US" altLang="zh-CN" sz="2400" b="1" dirty="0">
                <a:solidFill>
                  <a:srgbClr val="FF00FF"/>
                </a:solidFill>
              </a:rPr>
              <a:t> 00000100</a:t>
            </a:r>
            <a:r>
              <a:rPr lang="en-US" altLang="zh-CN" sz="2400" b="1" dirty="0"/>
              <a:t>  ----  [+4] </a:t>
            </a:r>
            <a:r>
              <a:rPr lang="zh-CN" altLang="en-US" sz="2400" b="1" baseline="-25000" dirty="0" smtClean="0"/>
              <a:t>补</a:t>
            </a:r>
            <a:endParaRPr lang="en-US" altLang="zh-CN" sz="2400" b="1" baseline="-25000" dirty="0" smtClean="0"/>
          </a:p>
          <a:p>
            <a:pPr marL="0" lvl="0" indent="0">
              <a:buClrTx/>
              <a:buNone/>
            </a:pPr>
            <a:endParaRPr lang="zh-CN" altLang="en-US" sz="2400" b="1" baseline="-25000" dirty="0"/>
          </a:p>
          <a:p>
            <a:pPr marL="0" lvl="0" indent="0">
              <a:buClrTx/>
              <a:buNone/>
            </a:pPr>
            <a:r>
              <a:rPr lang="zh-CN" altLang="en-US" sz="2400" b="1" dirty="0" smtClean="0"/>
              <a:t>；负数和正数</a:t>
            </a:r>
            <a:r>
              <a:rPr lang="zh-CN" altLang="en-US" sz="2400" b="1" dirty="0"/>
              <a:t>相加，</a:t>
            </a:r>
            <a:r>
              <a:rPr lang="zh-CN" altLang="en-US" sz="2400" b="1" dirty="0" smtClean="0"/>
              <a:t>结果没有溢出 </a:t>
            </a:r>
            <a:endParaRPr lang="zh-CN" altLang="en-US" sz="2400" b="1" dirty="0"/>
          </a:p>
        </p:txBody>
      </p:sp>
      <p:sp>
        <p:nvSpPr>
          <p:cNvPr id="252933" name="直接连接符 252932"/>
          <p:cNvSpPr/>
          <p:nvPr/>
        </p:nvSpPr>
        <p:spPr>
          <a:xfrm>
            <a:off x="971550" y="2492375"/>
            <a:ext cx="1360488" cy="0"/>
          </a:xfrm>
          <a:prstGeom prst="line">
            <a:avLst/>
          </a:prstGeom>
          <a:ln w="22225" cap="flat" cmpd="sng">
            <a:solidFill>
              <a:srgbClr val="000000"/>
            </a:solidFill>
            <a:prstDash val="solid"/>
            <a:headEnd type="none" w="med" len="med"/>
            <a:tailEnd type="none" w="med" len="med"/>
          </a:ln>
        </p:spPr>
      </p:sp>
      <p:sp>
        <p:nvSpPr>
          <p:cNvPr id="252934" name="直接连接符 252933"/>
          <p:cNvSpPr/>
          <p:nvPr/>
        </p:nvSpPr>
        <p:spPr>
          <a:xfrm>
            <a:off x="958850" y="4724400"/>
            <a:ext cx="1360488" cy="0"/>
          </a:xfrm>
          <a:prstGeom prst="line">
            <a:avLst/>
          </a:prstGeom>
          <a:ln w="22225" cap="flat" cmpd="sng">
            <a:solidFill>
              <a:srgbClr val="000000"/>
            </a:solidFill>
            <a:prstDash val="solid"/>
            <a:headEnd type="none" w="med" len="med"/>
            <a:tailEnd type="none" w="med" len="med"/>
          </a:ln>
        </p:spPr>
      </p:sp>
      <p:sp>
        <p:nvSpPr>
          <p:cNvPr id="8"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3954" name="矩形 253953"/>
          <p:cNvSpPr/>
          <p:nvPr/>
        </p:nvSpPr>
        <p:spPr>
          <a:xfrm>
            <a:off x="1738313" y="2797175"/>
            <a:ext cx="1400175" cy="0"/>
          </a:xfrm>
          <a:prstGeom prst="rect">
            <a:avLst/>
          </a:prstGeom>
          <a:noFill/>
          <a:ln w="9525">
            <a:noFill/>
          </a:ln>
        </p:spPr>
        <p:txBody>
          <a:bodyPr/>
          <a:lstStyle/>
          <a:p>
            <a:endParaRPr lang="zh-CN" altLang="en-US"/>
          </a:p>
        </p:txBody>
      </p:sp>
      <p:sp>
        <p:nvSpPr>
          <p:cNvPr id="253956" name="矩形 253955"/>
          <p:cNvSpPr/>
          <p:nvPr/>
        </p:nvSpPr>
        <p:spPr>
          <a:xfrm>
            <a:off x="250825" y="836613"/>
            <a:ext cx="8588375" cy="5040312"/>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ClrTx/>
              <a:buNone/>
            </a:pPr>
            <a:endParaRPr lang="zh-CN" altLang="en-US" sz="2400" b="1" dirty="0"/>
          </a:p>
        </p:txBody>
      </p:sp>
      <p:sp>
        <p:nvSpPr>
          <p:cNvPr id="253959" name="矩形 253958"/>
          <p:cNvSpPr/>
          <p:nvPr/>
        </p:nvSpPr>
        <p:spPr>
          <a:xfrm>
            <a:off x="284909" y="765285"/>
            <a:ext cx="8642350" cy="1323439"/>
          </a:xfrm>
          <a:prstGeom prst="rect">
            <a:avLst/>
          </a:prstGeom>
          <a:noFill/>
          <a:ln w="9525">
            <a:noFill/>
          </a:ln>
        </p:spPr>
        <p:txBody>
          <a:bodyPr anchor="ctr">
            <a:spAutoFit/>
          </a:bodyPr>
          <a:lstStyle/>
          <a:p>
            <a:pPr lvl="0"/>
            <a:r>
              <a:rPr lang="zh-CN" altLang="en-US" sz="2800" b="1" dirty="0">
                <a:solidFill>
                  <a:srgbClr val="0000FF"/>
                </a:solidFill>
                <a:latin typeface="Arial" panose="020B0604020202020204" pitchFamily="34" charset="0"/>
                <a:ea typeface="宋体" panose="02010600030101010101" pitchFamily="2" charset="-122"/>
              </a:rPr>
              <a:t>四、计算机</a:t>
            </a:r>
            <a:r>
              <a:rPr lang="zh-CN" altLang="en-US" sz="2800" b="1" dirty="0">
                <a:solidFill>
                  <a:srgbClr val="0000FF"/>
                </a:solidFill>
                <a:latin typeface="Arial" panose="020B0604020202020204" pitchFamily="34" charset="0"/>
              </a:rPr>
              <a:t>中常用的编码 </a:t>
            </a:r>
            <a:endParaRPr lang="en-US" altLang="zh-CN" sz="2800" b="1" dirty="0" smtClean="0">
              <a:solidFill>
                <a:srgbClr val="0000FF"/>
              </a:solidFill>
              <a:latin typeface="Arial" panose="020B0604020202020204" pitchFamily="34" charset="0"/>
              <a:ea typeface="宋体" panose="02010600030101010101" pitchFamily="2" charset="-122"/>
            </a:endParaRPr>
          </a:p>
          <a:p>
            <a:pPr lvl="0"/>
            <a:endParaRPr lang="zh-CN" altLang="en-US" sz="2800" b="1" dirty="0">
              <a:solidFill>
                <a:srgbClr val="0000FF"/>
              </a:solidFill>
              <a:latin typeface="Arial" panose="020B0604020202020204" pitchFamily="34" charset="0"/>
              <a:ea typeface="宋体" panose="02010600030101010101" pitchFamily="2" charset="-122"/>
            </a:endParaRPr>
          </a:p>
          <a:p>
            <a:pPr lvl="0">
              <a:buClrTx/>
            </a:pPr>
            <a:r>
              <a:rPr lang="en-US" altLang="zh-CN" sz="2400" b="1" dirty="0" smtClean="0">
                <a:latin typeface="Arial" panose="020B0604020202020204" pitchFamily="34" charset="0"/>
                <a:ea typeface="宋体" panose="02010600030101010101" pitchFamily="2" charset="-122"/>
              </a:rPr>
              <a:t>PC</a:t>
            </a:r>
            <a:r>
              <a:rPr lang="zh-CN" altLang="en-US" sz="2400" b="1" dirty="0">
                <a:latin typeface="Arial" panose="020B0604020202020204" pitchFamily="34" charset="0"/>
                <a:ea typeface="宋体" panose="02010600030101010101" pitchFamily="2" charset="-122"/>
              </a:rPr>
              <a:t>机常用的有</a:t>
            </a:r>
            <a:r>
              <a:rPr lang="zh-CN" altLang="en-US" sz="2400" b="1" dirty="0">
                <a:solidFill>
                  <a:srgbClr val="0000FF"/>
                </a:solidFill>
                <a:latin typeface="Arial" panose="020B0604020202020204" pitchFamily="34" charset="0"/>
                <a:ea typeface="宋体" panose="02010600030101010101" pitchFamily="2" charset="-122"/>
              </a:rPr>
              <a:t>两种编码</a:t>
            </a:r>
            <a:r>
              <a:rPr lang="zh-CN" altLang="en-US" sz="2400" b="1" dirty="0" smtClean="0">
                <a:latin typeface="Arial" panose="020B0604020202020204" pitchFamily="34" charset="0"/>
                <a:ea typeface="宋体" panose="02010600030101010101" pitchFamily="2" charset="-122"/>
              </a:rPr>
              <a:t>：</a:t>
            </a:r>
            <a:r>
              <a:rPr lang="en-US" altLang="zh-CN" sz="2400" b="1" dirty="0">
                <a:solidFill>
                  <a:srgbClr val="C00000"/>
                </a:solidFill>
                <a:latin typeface="Arial" panose="020B0604020202020204" pitchFamily="34" charset="0"/>
              </a:rPr>
              <a:t>ASCII</a:t>
            </a:r>
            <a:r>
              <a:rPr lang="zh-CN" altLang="en-US" sz="2400" b="1" dirty="0" smtClean="0">
                <a:latin typeface="Arial" panose="020B0604020202020204" pitchFamily="34" charset="0"/>
              </a:rPr>
              <a:t>码</a:t>
            </a:r>
            <a:r>
              <a:rPr lang="zh-CN" altLang="en-US" sz="2400" b="1" dirty="0">
                <a:latin typeface="Arial" panose="020B0604020202020204" pitchFamily="34" charset="0"/>
              </a:rPr>
              <a:t>和</a:t>
            </a:r>
            <a:r>
              <a:rPr lang="en-US" altLang="zh-CN" sz="2400" b="1" dirty="0">
                <a:solidFill>
                  <a:srgbClr val="C00000"/>
                </a:solidFill>
                <a:latin typeface="Arial" panose="020B0604020202020204" pitchFamily="34" charset="0"/>
              </a:rPr>
              <a:t>BCD</a:t>
            </a:r>
            <a:r>
              <a:rPr lang="zh-CN" altLang="en-US" sz="2400" b="1" dirty="0" smtClean="0">
                <a:latin typeface="Arial" panose="020B0604020202020204" pitchFamily="34" charset="0"/>
                <a:ea typeface="宋体" panose="02010600030101010101" pitchFamily="2" charset="-122"/>
              </a:rPr>
              <a:t>码</a:t>
            </a:r>
            <a:endParaRPr lang="zh-CN" altLang="en-US" sz="2400" b="1" dirty="0">
              <a:latin typeface="Arial" panose="020B0604020202020204" pitchFamily="34" charset="0"/>
              <a:ea typeface="宋体" panose="02010600030101010101" pitchFamily="2" charset="-122"/>
            </a:endParaRPr>
          </a:p>
        </p:txBody>
      </p:sp>
      <p:sp>
        <p:nvSpPr>
          <p:cNvPr id="6"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4978" name="文本占位符 254977"/>
          <p:cNvSpPr>
            <a:spLocks noGrp="1"/>
          </p:cNvSpPr>
          <p:nvPr>
            <p:ph type="body" idx="1"/>
          </p:nvPr>
        </p:nvSpPr>
        <p:spPr>
          <a:xfrm>
            <a:off x="611560" y="1052736"/>
            <a:ext cx="8135937" cy="4968552"/>
          </a:xfrm>
        </p:spPr>
        <p:txBody>
          <a:bodyPr lIns="90000"/>
          <a:lstStyle/>
          <a:p>
            <a:pPr marL="0" indent="294005">
              <a:lnSpc>
                <a:spcPct val="90000"/>
              </a:lnSpc>
              <a:buClrTx/>
              <a:buNone/>
            </a:pPr>
            <a:r>
              <a:rPr lang="en-US" altLang="zh-CN" sz="2400" b="1" dirty="0">
                <a:solidFill>
                  <a:srgbClr val="0000CC"/>
                </a:solidFill>
                <a:latin typeface="Times New Roman" panose="02020603050405020304" pitchFamily="18" charset="0"/>
                <a:ea typeface="宋体" panose="02010600030101010101" pitchFamily="2" charset="-122"/>
              </a:rPr>
              <a:t>1</a:t>
            </a:r>
            <a:r>
              <a:rPr lang="zh-CN" altLang="en-US" sz="2400" b="1" dirty="0">
                <a:solidFill>
                  <a:srgbClr val="0000CC"/>
                </a:solidFill>
                <a:latin typeface="Times New Roman" panose="02020603050405020304" pitchFamily="18" charset="0"/>
                <a:ea typeface="宋体" panose="02010600030101010101" pitchFamily="2" charset="-122"/>
              </a:rPr>
              <a:t>、 </a:t>
            </a:r>
            <a:r>
              <a:rPr lang="en-US" altLang="zh-CN" sz="2400" b="1" dirty="0">
                <a:solidFill>
                  <a:srgbClr val="0000CC"/>
                </a:solidFill>
                <a:latin typeface="Times New Roman" panose="02020603050405020304" pitchFamily="18" charset="0"/>
                <a:ea typeface="宋体" panose="02010600030101010101" pitchFamily="2" charset="-122"/>
              </a:rPr>
              <a:t>ASCII</a:t>
            </a:r>
            <a:r>
              <a:rPr lang="zh-CN" altLang="en-US" sz="2400" b="1" dirty="0">
                <a:solidFill>
                  <a:srgbClr val="0000CC"/>
                </a:solidFill>
                <a:latin typeface="Times New Roman" panose="02020603050405020304" pitchFamily="18" charset="0"/>
                <a:ea typeface="宋体" panose="02010600030101010101" pitchFamily="2" charset="-122"/>
              </a:rPr>
              <a:t>码</a:t>
            </a:r>
            <a:endParaRPr lang="zh-CN" altLang="en-US" sz="2400" b="1" dirty="0">
              <a:solidFill>
                <a:srgbClr val="0000CC"/>
              </a:solidFill>
              <a:latin typeface="Times New Roman" panose="02020603050405020304" pitchFamily="18" charset="0"/>
              <a:ea typeface="宋体" panose="02010600030101010101" pitchFamily="2" charset="-122"/>
            </a:endParaRPr>
          </a:p>
          <a:p>
            <a:pPr marL="0" indent="294005" fontAlgn="t">
              <a:lnSpc>
                <a:spcPts val="4000"/>
              </a:lnSpc>
              <a:buClrTx/>
              <a:buNone/>
            </a:pPr>
            <a:r>
              <a:rPr lang="zh-CN" altLang="en-US" sz="2400" b="1" dirty="0"/>
              <a:t>解决字母、符号在计算机内部如何表示。 </a:t>
            </a:r>
            <a:r>
              <a:rPr lang="en-US" altLang="zh-CN" sz="2400" b="1" dirty="0"/>
              <a:t>PC</a:t>
            </a:r>
            <a:r>
              <a:rPr lang="zh-CN" altLang="en-US" sz="2400" b="1" dirty="0"/>
              <a:t>机采用最常用的美国信息交换标准代码</a:t>
            </a:r>
            <a:r>
              <a:rPr lang="en-US" altLang="zh-CN" sz="2400" b="1" dirty="0"/>
              <a:t>ASCII</a:t>
            </a:r>
            <a:r>
              <a:rPr lang="zh-CN" altLang="en-US" sz="2400" b="1" dirty="0"/>
              <a:t>码。标准</a:t>
            </a:r>
            <a:r>
              <a:rPr lang="en-US" altLang="zh-CN" sz="2400" b="1" dirty="0"/>
              <a:t>ASCII</a:t>
            </a:r>
            <a:r>
              <a:rPr lang="zh-CN" altLang="en-US" sz="2400" b="1" dirty="0"/>
              <a:t>码用</a:t>
            </a:r>
            <a:r>
              <a:rPr lang="en-US" altLang="zh-CN" sz="2400" b="1" dirty="0"/>
              <a:t>7</a:t>
            </a:r>
            <a:r>
              <a:rPr lang="zh-CN" altLang="en-US" sz="2400" b="1" dirty="0"/>
              <a:t>位二进制数编码（低</a:t>
            </a:r>
            <a:r>
              <a:rPr lang="en-US" altLang="zh-CN" sz="2400" b="1" dirty="0"/>
              <a:t>7</a:t>
            </a:r>
            <a:r>
              <a:rPr lang="zh-CN" altLang="en-US" sz="2400" b="1" dirty="0"/>
              <a:t>位为字符的</a:t>
            </a:r>
            <a:r>
              <a:rPr lang="en-US" altLang="zh-CN" sz="2400" b="1" dirty="0">
                <a:solidFill>
                  <a:srgbClr val="FF00FF"/>
                </a:solidFill>
              </a:rPr>
              <a:t>ASCII</a:t>
            </a:r>
            <a:r>
              <a:rPr lang="zh-CN" altLang="en-US" sz="2400" b="1" dirty="0">
                <a:solidFill>
                  <a:srgbClr val="FF00FF"/>
                </a:solidFill>
              </a:rPr>
              <a:t>值</a:t>
            </a:r>
            <a:r>
              <a:rPr lang="zh-CN" altLang="en-US" sz="2400" b="1" dirty="0"/>
              <a:t>），共有</a:t>
            </a:r>
            <a:r>
              <a:rPr lang="en-US" altLang="zh-CN" sz="2400" b="1" dirty="0">
                <a:solidFill>
                  <a:srgbClr val="FF00FF"/>
                </a:solidFill>
              </a:rPr>
              <a:t>128</a:t>
            </a:r>
            <a:r>
              <a:rPr lang="zh-CN" altLang="en-US" sz="2400" b="1" dirty="0"/>
              <a:t>个。 </a:t>
            </a:r>
            <a:endParaRPr lang="zh-CN" altLang="en-US" sz="2400" b="1" dirty="0"/>
          </a:p>
          <a:p>
            <a:pPr marL="0" indent="294005" fontAlgn="t">
              <a:lnSpc>
                <a:spcPts val="4000"/>
              </a:lnSpc>
              <a:buClrTx/>
              <a:buNone/>
            </a:pPr>
            <a:r>
              <a:rPr lang="zh-CN" altLang="en-US" sz="2400" b="1" dirty="0">
                <a:solidFill>
                  <a:srgbClr val="FF00FF"/>
                </a:solidFill>
              </a:rPr>
              <a:t>书写</a:t>
            </a:r>
            <a:r>
              <a:rPr lang="zh-CN" altLang="en-US" sz="2400" b="1" dirty="0"/>
              <a:t>：用两位十六进制数书写，如</a:t>
            </a:r>
            <a:r>
              <a:rPr lang="en-US" altLang="zh-CN" sz="2400" b="1" dirty="0"/>
              <a:t>41H----A</a:t>
            </a:r>
            <a:r>
              <a:rPr lang="zh-CN" altLang="en-US" sz="2400" b="1" dirty="0"/>
              <a:t>；</a:t>
            </a:r>
            <a:endParaRPr lang="zh-CN" altLang="en-US" sz="2400" b="1" dirty="0"/>
          </a:p>
          <a:p>
            <a:pPr marL="0" indent="294005" fontAlgn="t">
              <a:lnSpc>
                <a:spcPts val="4000"/>
              </a:lnSpc>
              <a:buClrTx/>
              <a:buNone/>
            </a:pPr>
            <a:r>
              <a:rPr lang="zh-CN" altLang="en-US" sz="2400" b="1" dirty="0">
                <a:solidFill>
                  <a:srgbClr val="FF00FF"/>
                </a:solidFill>
              </a:rPr>
              <a:t>种类</a:t>
            </a:r>
            <a:r>
              <a:rPr lang="zh-CN" altLang="en-US" sz="2400" b="1" dirty="0"/>
              <a:t>：</a:t>
            </a:r>
            <a:r>
              <a:rPr lang="en-US" altLang="zh-CN" sz="2400" b="1" dirty="0"/>
              <a:t>1</a:t>
            </a:r>
            <a:r>
              <a:rPr lang="zh-CN" altLang="en-US" sz="2400" b="1" dirty="0"/>
              <a:t>）控制字符（不可显示字符）</a:t>
            </a:r>
            <a:endParaRPr lang="zh-CN" altLang="en-US" sz="2400" b="1" dirty="0"/>
          </a:p>
          <a:p>
            <a:pPr marL="0" indent="294005" fontAlgn="t">
              <a:lnSpc>
                <a:spcPts val="4000"/>
              </a:lnSpc>
              <a:buClrTx/>
              <a:buNone/>
            </a:pPr>
            <a:r>
              <a:rPr lang="zh-CN" altLang="en-US" sz="2400" b="1" dirty="0"/>
              <a:t>　　　　 （前</a:t>
            </a:r>
            <a:r>
              <a:rPr lang="en-US" altLang="zh-CN" sz="2400" b="1" dirty="0"/>
              <a:t>32</a:t>
            </a:r>
            <a:r>
              <a:rPr lang="zh-CN" altLang="en-US" sz="2400" b="1" dirty="0"/>
              <a:t>个和最后一个）：</a:t>
            </a:r>
            <a:endParaRPr lang="zh-CN" altLang="en-US" sz="2400" b="1" dirty="0"/>
          </a:p>
          <a:p>
            <a:pPr marL="0" indent="294005" fontAlgn="t">
              <a:lnSpc>
                <a:spcPts val="4000"/>
              </a:lnSpc>
              <a:buClrTx/>
              <a:buNone/>
            </a:pPr>
            <a:r>
              <a:rPr lang="zh-CN" altLang="en-US" sz="2400" b="1" dirty="0"/>
              <a:t>                  如：</a:t>
            </a:r>
            <a:r>
              <a:rPr lang="en-US" altLang="zh-CN" sz="2400" b="1" dirty="0"/>
              <a:t>0DH--- </a:t>
            </a:r>
            <a:r>
              <a:rPr lang="zh-CN" altLang="en-US" sz="2400" b="1" dirty="0"/>
              <a:t>回车，</a:t>
            </a:r>
            <a:r>
              <a:rPr lang="en-US" altLang="zh-CN" sz="2400" b="1" dirty="0"/>
              <a:t>0AH--- </a:t>
            </a:r>
            <a:r>
              <a:rPr lang="zh-CN" altLang="en-US" sz="2400" b="1" dirty="0"/>
              <a:t>换行；</a:t>
            </a:r>
            <a:endParaRPr lang="zh-CN" altLang="en-US" sz="2400" b="1" dirty="0"/>
          </a:p>
          <a:p>
            <a:pPr marL="0" indent="294005" fontAlgn="t">
              <a:lnSpc>
                <a:spcPts val="4000"/>
              </a:lnSpc>
              <a:buClrTx/>
              <a:buNone/>
            </a:pPr>
            <a:r>
              <a:rPr lang="zh-CN" altLang="en-US" sz="2400" b="1" dirty="0"/>
              <a:t>             </a:t>
            </a:r>
            <a:r>
              <a:rPr lang="en-US" altLang="zh-CN" sz="2400" b="1" dirty="0"/>
              <a:t>2</a:t>
            </a:r>
            <a:r>
              <a:rPr lang="zh-CN" altLang="en-US" sz="2400" b="1" dirty="0"/>
              <a:t>）其他为打印字符（可显示字符）</a:t>
            </a:r>
            <a:r>
              <a:rPr lang="zh-CN" altLang="en-US" sz="2400" b="1" dirty="0" smtClean="0"/>
              <a:t>；</a:t>
            </a:r>
            <a:endParaRPr lang="zh-CN" altLang="en-US" sz="2400" b="1" dirty="0"/>
          </a:p>
        </p:txBody>
      </p:sp>
      <p:sp>
        <p:nvSpPr>
          <p:cNvPr id="4"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57026" name="对象 257025"/>
          <p:cNvGraphicFramePr>
            <a:graphicFrameLocks noChangeAspect="1"/>
          </p:cNvGraphicFramePr>
          <p:nvPr/>
        </p:nvGraphicFramePr>
        <p:xfrm>
          <a:off x="684213" y="1125538"/>
          <a:ext cx="7896225" cy="4919662"/>
        </p:xfrm>
        <a:graphic>
          <a:graphicData uri="http://schemas.openxmlformats.org/presentationml/2006/ole">
            <mc:AlternateContent xmlns:mc="http://schemas.openxmlformats.org/markup-compatibility/2006">
              <mc:Choice xmlns:v="urn:schemas-microsoft-com:vml" Requires="v">
                <p:oleObj spid="_x0000_s3118" name="" r:id="rId1" imgW="5641975" imgH="3517265" progId="Word.Document.8">
                  <p:embed/>
                </p:oleObj>
              </mc:Choice>
              <mc:Fallback>
                <p:oleObj name="" r:id="rId1" imgW="5641975" imgH="3517265" progId="Word.Document.8">
                  <p:embed/>
                  <p:pic>
                    <p:nvPicPr>
                      <p:cNvPr id="0" name="图片 3075"/>
                      <p:cNvPicPr/>
                      <p:nvPr/>
                    </p:nvPicPr>
                    <p:blipFill>
                      <a:blip r:embed="rId2"/>
                      <a:stretch>
                        <a:fillRect/>
                      </a:stretch>
                    </p:blipFill>
                    <p:spPr>
                      <a:xfrm>
                        <a:off x="684213" y="1125538"/>
                        <a:ext cx="7896225" cy="4919662"/>
                      </a:xfrm>
                      <a:prstGeom prst="rect">
                        <a:avLst/>
                      </a:prstGeom>
                      <a:solidFill>
                        <a:schemeClr val="bg1"/>
                      </a:solidFill>
                      <a:ln w="38100">
                        <a:noFill/>
                        <a:miter/>
                      </a:ln>
                    </p:spPr>
                  </p:pic>
                </p:oleObj>
              </mc:Fallback>
            </mc:AlternateContent>
          </a:graphicData>
        </a:graphic>
      </p:graphicFrame>
      <p:sp>
        <p:nvSpPr>
          <p:cNvPr id="4"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8052" name="矩形 258051"/>
          <p:cNvSpPr/>
          <p:nvPr/>
        </p:nvSpPr>
        <p:spPr>
          <a:xfrm>
            <a:off x="611188" y="836613"/>
            <a:ext cx="8281987" cy="1118255"/>
          </a:xfrm>
          <a:prstGeom prst="rect">
            <a:avLst/>
          </a:prstGeom>
          <a:noFill/>
          <a:ln w="9525">
            <a:noFill/>
          </a:ln>
        </p:spPr>
        <p:txBody>
          <a:bodyPr>
            <a:spAutoFit/>
          </a:bodyPr>
          <a:lstStyle/>
          <a:p>
            <a:pPr lvl="0">
              <a:lnSpc>
                <a:spcPts val="4000"/>
              </a:lnSpc>
              <a:buClrTx/>
            </a:pPr>
            <a:r>
              <a:rPr lang="en-US" altLang="zh-CN" sz="2400" b="1" dirty="0">
                <a:solidFill>
                  <a:srgbClr val="0000CC"/>
                </a:solidFill>
                <a:latin typeface="Arial" panose="020B0604020202020204" pitchFamily="34" charset="0"/>
                <a:ea typeface="宋体" panose="02010600030101010101" pitchFamily="2" charset="-122"/>
              </a:rPr>
              <a:t>2</a:t>
            </a:r>
            <a:r>
              <a:rPr lang="zh-CN" altLang="en-US" sz="2400" b="1" dirty="0">
                <a:solidFill>
                  <a:srgbClr val="0000CC"/>
                </a:solidFill>
                <a:latin typeface="Arial" panose="020B0604020202020204" pitchFamily="34" charset="0"/>
                <a:ea typeface="宋体" panose="02010600030101010101" pitchFamily="2" charset="-122"/>
              </a:rPr>
              <a:t>、  </a:t>
            </a:r>
            <a:r>
              <a:rPr lang="en-US" altLang="zh-CN" sz="2400" b="1" dirty="0">
                <a:solidFill>
                  <a:srgbClr val="0000CC"/>
                </a:solidFill>
                <a:latin typeface="Arial" panose="020B0604020202020204" pitchFamily="34" charset="0"/>
                <a:ea typeface="宋体" panose="02010600030101010101" pitchFamily="2" charset="-122"/>
              </a:rPr>
              <a:t>BCD </a:t>
            </a:r>
            <a:r>
              <a:rPr lang="zh-CN" altLang="en-US" sz="2400" b="1" dirty="0">
                <a:solidFill>
                  <a:srgbClr val="0000CC"/>
                </a:solidFill>
                <a:latin typeface="Arial" panose="020B0604020202020204" pitchFamily="34" charset="0"/>
                <a:ea typeface="宋体" panose="02010600030101010101" pitchFamily="2" charset="-122"/>
              </a:rPr>
              <a:t>码（</a:t>
            </a:r>
            <a:r>
              <a:rPr lang="en-US" altLang="zh-CN" sz="2400" b="1" dirty="0">
                <a:solidFill>
                  <a:srgbClr val="0000CC"/>
                </a:solidFill>
                <a:latin typeface="Arial" panose="020B0604020202020204" pitchFamily="34" charset="0"/>
                <a:ea typeface="宋体" panose="02010600030101010101" pitchFamily="2" charset="-122"/>
              </a:rPr>
              <a:t>8421</a:t>
            </a:r>
            <a:r>
              <a:rPr lang="zh-CN" altLang="en-US" sz="2400" b="1" dirty="0">
                <a:solidFill>
                  <a:srgbClr val="0000CC"/>
                </a:solidFill>
                <a:latin typeface="Arial" panose="020B0604020202020204" pitchFamily="34" charset="0"/>
                <a:ea typeface="宋体" panose="02010600030101010101" pitchFamily="2" charset="-122"/>
              </a:rPr>
              <a:t>码、二──十进制数</a:t>
            </a:r>
            <a:r>
              <a:rPr lang="zh-CN" altLang="en-US" sz="2400" b="1" dirty="0" smtClean="0">
                <a:solidFill>
                  <a:srgbClr val="0000CC"/>
                </a:solidFill>
                <a:latin typeface="Arial" panose="020B0604020202020204" pitchFamily="34" charset="0"/>
                <a:ea typeface="宋体" panose="02010600030101010101" pitchFamily="2" charset="-122"/>
              </a:rPr>
              <a:t>）</a:t>
            </a:r>
            <a:endParaRPr lang="zh-CN" altLang="en-US" sz="2400" b="1" dirty="0">
              <a:solidFill>
                <a:srgbClr val="0000FF"/>
              </a:solidFill>
              <a:latin typeface="Arial" panose="020B0604020202020204" pitchFamily="34" charset="0"/>
              <a:ea typeface="宋体" panose="02010600030101010101" pitchFamily="2" charset="-122"/>
            </a:endParaRPr>
          </a:p>
          <a:p>
            <a:pPr lvl="0">
              <a:lnSpc>
                <a:spcPts val="4000"/>
              </a:lnSpc>
              <a:buClrTx/>
            </a:pPr>
            <a:r>
              <a:rPr lang="zh-CN" altLang="en-US" sz="2400" b="1" dirty="0" smtClean="0">
                <a:latin typeface="Arial" panose="020B0604020202020204" pitchFamily="34" charset="0"/>
                <a:ea typeface="宋体" panose="02010600030101010101" pitchFamily="2" charset="-122"/>
              </a:rPr>
              <a:t>采用</a:t>
            </a:r>
            <a:r>
              <a:rPr lang="zh-CN" altLang="en-US" sz="2400" b="1" dirty="0">
                <a:latin typeface="Arial" panose="020B0604020202020204" pitchFamily="34" charset="0"/>
                <a:ea typeface="宋体" panose="02010600030101010101" pitchFamily="2" charset="-122"/>
              </a:rPr>
              <a:t>二进制编码来表示</a:t>
            </a:r>
            <a:r>
              <a:rPr lang="zh-CN" altLang="en-US" sz="2400" b="1" dirty="0" smtClean="0">
                <a:latin typeface="Arial" panose="020B0604020202020204" pitchFamily="34" charset="0"/>
                <a:ea typeface="宋体" panose="02010600030101010101" pitchFamily="2" charset="-122"/>
              </a:rPr>
              <a:t>十进制数的编码方式</a:t>
            </a:r>
            <a:endParaRPr lang="zh-CN" altLang="en-US" sz="2400" b="1" dirty="0">
              <a:latin typeface="Arial" panose="020B0604020202020204" pitchFamily="34" charset="0"/>
              <a:ea typeface="宋体" panose="02010600030101010101" pitchFamily="2" charset="-122"/>
            </a:endParaRPr>
          </a:p>
        </p:txBody>
      </p:sp>
      <p:sp>
        <p:nvSpPr>
          <p:cNvPr id="258053" name="文本占位符 258052"/>
          <p:cNvSpPr>
            <a:spLocks noGrp="1"/>
          </p:cNvSpPr>
          <p:nvPr>
            <p:ph type="body" idx="1"/>
          </p:nvPr>
        </p:nvSpPr>
        <p:spPr>
          <a:xfrm>
            <a:off x="250825" y="2059756"/>
            <a:ext cx="8675687" cy="865188"/>
          </a:xfrm>
        </p:spPr>
        <p:txBody>
          <a:bodyPr/>
          <a:lstStyle/>
          <a:p>
            <a:pPr>
              <a:buClrTx/>
              <a:buNone/>
            </a:pPr>
            <a:r>
              <a:rPr lang="zh-CN" altLang="en-US" sz="2400" b="1" dirty="0">
                <a:solidFill>
                  <a:srgbClr val="0000FF"/>
                </a:solidFill>
              </a:rPr>
              <a:t>表示方法</a:t>
            </a:r>
            <a:r>
              <a:rPr lang="zh-CN" altLang="en-US" sz="2400" b="1" dirty="0"/>
              <a:t>：用</a:t>
            </a:r>
            <a:r>
              <a:rPr lang="en-US" altLang="zh-CN" sz="2400" b="1" dirty="0"/>
              <a:t>4</a:t>
            </a:r>
            <a:r>
              <a:rPr lang="zh-CN" altLang="en-US" sz="2400" b="1" dirty="0"/>
              <a:t>位二进制数表示</a:t>
            </a:r>
            <a:r>
              <a:rPr lang="en-US" altLang="zh-CN" sz="2400" b="1" dirty="0"/>
              <a:t>1</a:t>
            </a:r>
            <a:r>
              <a:rPr lang="zh-CN" altLang="en-US" sz="2400" b="1" dirty="0"/>
              <a:t>位十进制数码</a:t>
            </a:r>
            <a:r>
              <a:rPr lang="en-US" altLang="zh-CN" sz="2400" b="1" dirty="0"/>
              <a:t>0</a:t>
            </a:r>
            <a:r>
              <a:rPr lang="zh-CN" altLang="en-US" sz="2400" b="1" dirty="0"/>
              <a:t>～</a:t>
            </a:r>
            <a:r>
              <a:rPr lang="en-US" altLang="zh-CN" sz="2400" b="1" dirty="0"/>
              <a:t>9</a:t>
            </a:r>
            <a:r>
              <a:rPr lang="en-US" altLang="zh-CN" dirty="0"/>
              <a:t> </a:t>
            </a:r>
            <a:r>
              <a:rPr lang="zh-CN" altLang="en-US" sz="2400" b="1" dirty="0" smtClean="0"/>
              <a:t>。对于多位十进制数，把每</a:t>
            </a:r>
            <a:r>
              <a:rPr lang="en-US" altLang="zh-CN" sz="2400" b="1" dirty="0" smtClean="0"/>
              <a:t>1</a:t>
            </a:r>
            <a:r>
              <a:rPr lang="zh-CN" altLang="en-US" sz="2400" b="1" dirty="0" smtClean="0"/>
              <a:t>位十进制数分别表示为</a:t>
            </a:r>
            <a:r>
              <a:rPr lang="en-US" altLang="zh-CN" sz="2400" b="1" dirty="0" smtClean="0"/>
              <a:t>4</a:t>
            </a:r>
            <a:r>
              <a:rPr lang="zh-CN" altLang="en-US" sz="2400" b="1" dirty="0" smtClean="0"/>
              <a:t>位二进制数</a:t>
            </a:r>
            <a:endParaRPr lang="zh-CN" altLang="en-US" sz="2400" b="1" dirty="0"/>
          </a:p>
        </p:txBody>
      </p:sp>
      <p:sp>
        <p:nvSpPr>
          <p:cNvPr id="258055" name="矩形 258054"/>
          <p:cNvSpPr/>
          <p:nvPr/>
        </p:nvSpPr>
        <p:spPr>
          <a:xfrm>
            <a:off x="250825" y="2996952"/>
            <a:ext cx="8569325" cy="3331681"/>
          </a:xfrm>
          <a:prstGeom prst="rect">
            <a:avLst/>
          </a:prstGeom>
          <a:noFill/>
          <a:ln w="9525">
            <a:noFill/>
          </a:ln>
        </p:spPr>
        <p:txBody>
          <a:bodyPr anchor="ctr">
            <a:spAutoFit/>
          </a:bodyPr>
          <a:lstStyle/>
          <a:p>
            <a:pPr lvl="0" defTabSz="0">
              <a:lnSpc>
                <a:spcPts val="3900"/>
              </a:lnSpc>
              <a:buClrTx/>
              <a:tabLst>
                <a:tab pos="5019675" algn="l"/>
              </a:tabLst>
            </a:pP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码有</a:t>
            </a:r>
            <a:r>
              <a:rPr lang="zh-CN" altLang="en-GB" sz="2400" b="1" dirty="0">
                <a:solidFill>
                  <a:srgbClr val="0000FF"/>
                </a:solidFill>
                <a:latin typeface="Arial" panose="020B0604020202020204" pitchFamily="34" charset="0"/>
                <a:ea typeface="宋体" panose="02010600030101010101" pitchFamily="2" charset="-122"/>
              </a:rPr>
              <a:t>压缩</a:t>
            </a:r>
            <a:r>
              <a:rPr lang="en-GB" altLang="zh-CN" sz="2400" b="1" dirty="0">
                <a:solidFill>
                  <a:srgbClr val="0000FF"/>
                </a:solidFill>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码和</a:t>
            </a:r>
            <a:r>
              <a:rPr lang="zh-CN" altLang="en-GB" sz="2400" b="1" dirty="0">
                <a:solidFill>
                  <a:srgbClr val="0000FF"/>
                </a:solidFill>
                <a:latin typeface="Arial" panose="020B0604020202020204" pitchFamily="34" charset="0"/>
                <a:ea typeface="宋体" panose="02010600030101010101" pitchFamily="2" charset="-122"/>
              </a:rPr>
              <a:t>非压缩</a:t>
            </a:r>
            <a:r>
              <a:rPr lang="en-GB" altLang="zh-CN" sz="2400" b="1" dirty="0">
                <a:solidFill>
                  <a:srgbClr val="0000FF"/>
                </a:solidFill>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码两种表示形式，压缩</a:t>
            </a: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码用</a:t>
            </a:r>
            <a:r>
              <a:rPr lang="zh-CN" altLang="en-US" sz="2400" b="1" dirty="0">
                <a:latin typeface="Arial" panose="020B0604020202020204" pitchFamily="34" charset="0"/>
                <a:ea typeface="宋体" panose="02010600030101010101" pitchFamily="2" charset="-122"/>
              </a:rPr>
              <a:t>一个字节表示两位十进制数。如</a:t>
            </a:r>
            <a:r>
              <a:rPr lang="en-GB" altLang="zh-CN" sz="2400" b="1" dirty="0">
                <a:solidFill>
                  <a:srgbClr val="0000FF"/>
                </a:solidFill>
                <a:latin typeface="Arial" panose="020B0604020202020204" pitchFamily="34" charset="0"/>
                <a:ea typeface="宋体" panose="02010600030101010101" pitchFamily="2" charset="-122"/>
              </a:rPr>
              <a:t>28</a:t>
            </a:r>
            <a:r>
              <a:rPr lang="zh-CN" altLang="en-GB" sz="2400" b="1" dirty="0">
                <a:latin typeface="Arial" panose="020B0604020202020204" pitchFamily="34" charset="0"/>
                <a:ea typeface="宋体" panose="02010600030101010101" pitchFamily="2" charset="-122"/>
              </a:rPr>
              <a:t>的压缩</a:t>
            </a: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码为</a:t>
            </a:r>
            <a:r>
              <a:rPr lang="en-GB" altLang="zh-CN" sz="2400" b="1" dirty="0">
                <a:solidFill>
                  <a:srgbClr val="0000FF"/>
                </a:solidFill>
                <a:latin typeface="Arial" panose="020B0604020202020204" pitchFamily="34" charset="0"/>
                <a:ea typeface="宋体" panose="02010600030101010101" pitchFamily="2" charset="-122"/>
              </a:rPr>
              <a:t>00101000</a:t>
            </a:r>
            <a:r>
              <a:rPr lang="zh-CN" altLang="en-GB" sz="2400" b="1" dirty="0">
                <a:latin typeface="Arial" panose="020B0604020202020204" pitchFamily="34" charset="0"/>
                <a:ea typeface="宋体" panose="02010600030101010101" pitchFamily="2" charset="-122"/>
              </a:rPr>
              <a:t>；非压缩</a:t>
            </a: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码用</a:t>
            </a:r>
            <a:r>
              <a:rPr lang="zh-CN" altLang="en-US" sz="2400" b="1" dirty="0">
                <a:latin typeface="Arial" panose="020B0604020202020204" pitchFamily="34" charset="0"/>
                <a:ea typeface="宋体" panose="02010600030101010101" pitchFamily="2" charset="-122"/>
              </a:rPr>
              <a:t>一个字节表示一位十进制数，且只用每个字节的低</a:t>
            </a:r>
            <a:r>
              <a:rPr lang="en-US" altLang="zh-CN" sz="2400" b="1" dirty="0">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位来表示</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9</a:t>
            </a:r>
            <a:r>
              <a:rPr lang="zh-CN" altLang="en-US" sz="2400" b="1" dirty="0">
                <a:latin typeface="Arial" panose="020B0604020202020204" pitchFamily="34" charset="0"/>
                <a:ea typeface="宋体" panose="02010600030101010101" pitchFamily="2" charset="-122"/>
              </a:rPr>
              <a:t>，高</a:t>
            </a:r>
            <a:r>
              <a:rPr lang="en-US" altLang="zh-CN" sz="2400" b="1" dirty="0">
                <a:latin typeface="Arial" panose="020B0604020202020204" pitchFamily="34" charset="0"/>
                <a:ea typeface="宋体" panose="02010600030101010101" pitchFamily="2" charset="-122"/>
              </a:rPr>
              <a:t>4 </a:t>
            </a:r>
            <a:r>
              <a:rPr lang="zh-CN" altLang="en-US" sz="2400" b="1" dirty="0">
                <a:latin typeface="Arial" panose="020B0604020202020204" pitchFamily="34" charset="0"/>
                <a:ea typeface="宋体" panose="02010600030101010101" pitchFamily="2" charset="-122"/>
              </a:rPr>
              <a:t>位全为</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，如</a:t>
            </a:r>
            <a:r>
              <a:rPr lang="en-GB" altLang="zh-CN" sz="2400" b="1" dirty="0">
                <a:solidFill>
                  <a:srgbClr val="0000FF"/>
                </a:solidFill>
                <a:latin typeface="Arial" panose="020B0604020202020204" pitchFamily="34" charset="0"/>
                <a:ea typeface="宋体" panose="02010600030101010101" pitchFamily="2" charset="-122"/>
              </a:rPr>
              <a:t>28</a:t>
            </a:r>
            <a:r>
              <a:rPr lang="zh-CN" altLang="en-GB" sz="2400" b="1" dirty="0">
                <a:latin typeface="Arial" panose="020B0604020202020204" pitchFamily="34" charset="0"/>
                <a:ea typeface="宋体" panose="02010600030101010101" pitchFamily="2" charset="-122"/>
              </a:rPr>
              <a:t>的非压缩</a:t>
            </a: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码为</a:t>
            </a:r>
            <a:r>
              <a:rPr lang="en-GB" altLang="zh-CN" sz="2400" b="1" dirty="0" smtClean="0">
                <a:solidFill>
                  <a:srgbClr val="0000FF"/>
                </a:solidFill>
                <a:latin typeface="Arial" panose="020B0604020202020204" pitchFamily="34" charset="0"/>
                <a:ea typeface="宋体" panose="02010600030101010101" pitchFamily="2" charset="-122"/>
              </a:rPr>
              <a:t>0000001000001000</a:t>
            </a:r>
            <a:endParaRPr lang="zh-CN" altLang="en-GB" sz="2400" b="1" dirty="0">
              <a:latin typeface="Arial" panose="020B0604020202020204" pitchFamily="34" charset="0"/>
              <a:ea typeface="宋体" panose="02010600030101010101" pitchFamily="2" charset="-122"/>
            </a:endParaRPr>
          </a:p>
          <a:p>
            <a:pPr lvl="0" defTabSz="0">
              <a:buClrTx/>
              <a:tabLst>
                <a:tab pos="5019675" algn="l"/>
              </a:tabLst>
            </a:pPr>
            <a:r>
              <a:rPr lang="zh-CN" altLang="en-GB" sz="2400" b="1" dirty="0">
                <a:solidFill>
                  <a:srgbClr val="FF00FF"/>
                </a:solidFill>
                <a:latin typeface="Arial" panose="020B0604020202020204" pitchFamily="34" charset="0"/>
                <a:ea typeface="宋体" panose="02010600030101010101" pitchFamily="2" charset="-122"/>
              </a:rPr>
              <a:t>注意</a:t>
            </a:r>
            <a:r>
              <a:rPr lang="zh-CN" altLang="en-GB" sz="2400" b="1" dirty="0">
                <a:latin typeface="Arial" panose="020B0604020202020204" pitchFamily="34" charset="0"/>
                <a:ea typeface="宋体" panose="02010600030101010101" pitchFamily="2" charset="-122"/>
              </a:rPr>
              <a:t>：</a:t>
            </a:r>
            <a:r>
              <a:rPr lang="en-GB" altLang="zh-CN" sz="2400" b="1" dirty="0">
                <a:solidFill>
                  <a:srgbClr val="C00000"/>
                </a:solidFill>
                <a:latin typeface="Arial" panose="020B0604020202020204" pitchFamily="34" charset="0"/>
                <a:ea typeface="宋体" panose="02010600030101010101" pitchFamily="2" charset="-122"/>
              </a:rPr>
              <a:t>BCD</a:t>
            </a:r>
            <a:r>
              <a:rPr lang="zh-CN" altLang="en-GB" sz="2400" b="1" dirty="0">
                <a:solidFill>
                  <a:srgbClr val="C00000"/>
                </a:solidFill>
                <a:latin typeface="Arial" panose="020B0604020202020204" pitchFamily="34" charset="0"/>
                <a:ea typeface="宋体" panose="02010600030101010101" pitchFamily="2" charset="-122"/>
              </a:rPr>
              <a:t>码</a:t>
            </a:r>
            <a:r>
              <a:rPr lang="zh-CN" altLang="en-GB" sz="2400" b="1" dirty="0">
                <a:latin typeface="Arial" panose="020B0604020202020204" pitchFamily="34" charset="0"/>
                <a:ea typeface="宋体" panose="02010600030101010101" pitchFamily="2" charset="-122"/>
              </a:rPr>
              <a:t>与</a:t>
            </a:r>
            <a:r>
              <a:rPr lang="zh-CN" altLang="en-GB" sz="2400" b="1" dirty="0">
                <a:solidFill>
                  <a:srgbClr val="C00000"/>
                </a:solidFill>
                <a:latin typeface="Arial" panose="020B0604020202020204" pitchFamily="34" charset="0"/>
              </a:rPr>
              <a:t>二进制码</a:t>
            </a:r>
            <a:r>
              <a:rPr lang="zh-CN" altLang="en-GB" sz="2400" b="1" dirty="0">
                <a:latin typeface="Arial" panose="020B0604020202020204" pitchFamily="34" charset="0"/>
                <a:ea typeface="宋体" panose="02010600030101010101" pitchFamily="2" charset="-122"/>
              </a:rPr>
              <a:t>的区别，如：</a:t>
            </a:r>
            <a:endParaRPr lang="zh-CN" altLang="en-GB" sz="2400" b="1" dirty="0">
              <a:latin typeface="Arial" panose="020B0604020202020204" pitchFamily="34" charset="0"/>
              <a:ea typeface="宋体" panose="02010600030101010101" pitchFamily="2" charset="-122"/>
            </a:endParaRPr>
          </a:p>
          <a:p>
            <a:pPr lvl="0" defTabSz="0">
              <a:buClrTx/>
              <a:tabLst>
                <a:tab pos="5019675" algn="l"/>
              </a:tabLst>
            </a:pPr>
            <a:r>
              <a:rPr lang="en-GB" altLang="zh-CN" sz="2400" b="1" dirty="0">
                <a:latin typeface="Arial" panose="020B0604020202020204" pitchFamily="34" charset="0"/>
                <a:ea typeface="宋体" panose="02010600030101010101" pitchFamily="2" charset="-122"/>
              </a:rPr>
              <a:t>51</a:t>
            </a:r>
            <a:r>
              <a:rPr lang="zh-CN" altLang="en-GB" sz="2400" b="1" dirty="0">
                <a:latin typeface="Arial" panose="020B0604020202020204" pitchFamily="34" charset="0"/>
                <a:ea typeface="宋体" panose="02010600030101010101" pitchFamily="2" charset="-122"/>
              </a:rPr>
              <a:t>的</a:t>
            </a:r>
            <a:r>
              <a:rPr lang="en-GB" altLang="zh-CN" sz="2400" b="1" dirty="0">
                <a:latin typeface="Arial" panose="020B0604020202020204" pitchFamily="34" charset="0"/>
                <a:ea typeface="宋体" panose="02010600030101010101" pitchFamily="2" charset="-122"/>
              </a:rPr>
              <a:t>BCD</a:t>
            </a:r>
            <a:r>
              <a:rPr lang="zh-CN" altLang="en-GB" sz="2400" b="1" dirty="0">
                <a:latin typeface="Arial" panose="020B0604020202020204" pitchFamily="34" charset="0"/>
                <a:ea typeface="宋体" panose="02010600030101010101" pitchFamily="2" charset="-122"/>
              </a:rPr>
              <a:t>码为</a:t>
            </a:r>
            <a:r>
              <a:rPr lang="en-GB" altLang="zh-CN" sz="2400" b="1" dirty="0">
                <a:latin typeface="Arial" panose="020B0604020202020204" pitchFamily="34" charset="0"/>
                <a:ea typeface="宋体" panose="02010600030101010101" pitchFamily="2" charset="-122"/>
              </a:rPr>
              <a:t>01010001</a:t>
            </a:r>
            <a:r>
              <a:rPr lang="zh-CN" altLang="en-GB" sz="2400" b="1" dirty="0">
                <a:latin typeface="Arial" panose="020B0604020202020204" pitchFamily="34" charset="0"/>
                <a:ea typeface="宋体" panose="02010600030101010101" pitchFamily="2" charset="-122"/>
              </a:rPr>
              <a:t>，二进制码为</a:t>
            </a:r>
            <a:r>
              <a:rPr lang="en-GB" altLang="zh-CN" sz="2400" b="1" dirty="0">
                <a:latin typeface="Arial" panose="020B0604020202020204" pitchFamily="34" charset="0"/>
                <a:ea typeface="宋体" panose="02010600030101010101" pitchFamily="2" charset="-122"/>
              </a:rPr>
              <a:t>110011B </a:t>
            </a:r>
            <a:endParaRPr lang="en-GB" altLang="zh-CN" sz="2400" b="1" dirty="0">
              <a:latin typeface="Arial" panose="020B0604020202020204" pitchFamily="34" charset="0"/>
              <a:ea typeface="宋体" panose="02010600030101010101" pitchFamily="2" charset="-122"/>
            </a:endParaRPr>
          </a:p>
        </p:txBody>
      </p:sp>
      <p:sp>
        <p:nvSpPr>
          <p:cNvPr id="6"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0102" name="矩形 260101"/>
          <p:cNvSpPr/>
          <p:nvPr/>
        </p:nvSpPr>
        <p:spPr>
          <a:xfrm>
            <a:off x="2195513" y="893763"/>
            <a:ext cx="4946650" cy="396875"/>
          </a:xfrm>
          <a:prstGeom prst="rect">
            <a:avLst/>
          </a:prstGeom>
          <a:noFill/>
          <a:ln w="9525">
            <a:noFill/>
          </a:ln>
        </p:spPr>
        <p:txBody>
          <a:bodyPr wrap="none" anchor="ctr">
            <a:spAutoFit/>
          </a:bodyPr>
          <a:lstStyle/>
          <a:p>
            <a:pPr lvl="0"/>
            <a:r>
              <a:rPr lang="zh-CN" altLang="en-US" sz="2000" b="1" dirty="0">
                <a:latin typeface="Arial" panose="020B0604020202020204" pitchFamily="34" charset="0"/>
                <a:ea typeface="宋体" panose="02010600030101010101" pitchFamily="2" charset="-122"/>
              </a:rPr>
              <a:t>十进制数</a:t>
            </a:r>
            <a:r>
              <a:rPr lang="en-US" altLang="zh-CN" sz="2000" b="1">
                <a:latin typeface="Arial" panose="020B0604020202020204" pitchFamily="34" charset="0"/>
                <a:ea typeface="宋体" panose="02010600030101010101" pitchFamily="2" charset="-122"/>
              </a:rPr>
              <a:t>0</a:t>
            </a:r>
            <a:r>
              <a:rPr lang="zh-CN" altLang="en-US" sz="2000" b="1" dirty="0">
                <a:latin typeface="Arial" panose="020B0604020202020204" pitchFamily="34" charset="0"/>
                <a:ea typeface="宋体" panose="02010600030101010101" pitchFamily="2" charset="-122"/>
              </a:rPr>
              <a:t>～</a:t>
            </a:r>
            <a:r>
              <a:rPr lang="en-US" altLang="zh-CN" sz="2000" b="1">
                <a:latin typeface="Arial" panose="020B0604020202020204" pitchFamily="34" charset="0"/>
                <a:ea typeface="宋体" panose="02010600030101010101" pitchFamily="2" charset="-122"/>
              </a:rPr>
              <a:t>15</a:t>
            </a:r>
            <a:r>
              <a:rPr lang="zh-CN" altLang="en-US" sz="2000" b="1" dirty="0">
                <a:latin typeface="Arial" panose="020B0604020202020204" pitchFamily="34" charset="0"/>
                <a:ea typeface="宋体" panose="02010600030101010101" pitchFamily="2" charset="-122"/>
              </a:rPr>
              <a:t>与</a:t>
            </a:r>
            <a:r>
              <a:rPr lang="en-US" altLang="zh-CN" sz="2000" b="1">
                <a:latin typeface="Arial" panose="020B0604020202020204" pitchFamily="34" charset="0"/>
                <a:ea typeface="宋体" panose="02010600030101010101" pitchFamily="2" charset="-122"/>
              </a:rPr>
              <a:t>8421</a:t>
            </a:r>
            <a:r>
              <a:rPr lang="en-GB" altLang="zh-CN" sz="2000" b="1">
                <a:latin typeface="Arial" panose="020B0604020202020204" pitchFamily="34" charset="0"/>
                <a:ea typeface="宋体" panose="02010600030101010101" pitchFamily="2" charset="-122"/>
              </a:rPr>
              <a:t>-</a:t>
            </a:r>
            <a:r>
              <a:rPr lang="en-US" altLang="zh-CN" sz="2000" b="1">
                <a:latin typeface="Arial" panose="020B0604020202020204" pitchFamily="34" charset="0"/>
                <a:ea typeface="宋体" panose="02010600030101010101" pitchFamily="2" charset="-122"/>
              </a:rPr>
              <a:t>BCD</a:t>
            </a:r>
            <a:r>
              <a:rPr lang="zh-CN" altLang="en-US" sz="2000" b="1" dirty="0">
                <a:latin typeface="Arial" panose="020B0604020202020204" pitchFamily="34" charset="0"/>
                <a:ea typeface="宋体" panose="02010600030101010101" pitchFamily="2" charset="-122"/>
              </a:rPr>
              <a:t>码的编码关系 </a:t>
            </a:r>
            <a:endParaRPr lang="zh-CN" altLang="en-US" sz="2000" b="1" dirty="0">
              <a:latin typeface="Arial" panose="020B0604020202020204" pitchFamily="34" charset="0"/>
              <a:ea typeface="宋体" panose="02010600030101010101" pitchFamily="2" charset="-122"/>
            </a:endParaRPr>
          </a:p>
        </p:txBody>
      </p:sp>
      <p:graphicFrame>
        <p:nvGraphicFramePr>
          <p:cNvPr id="260581" name="内容占位符 260580"/>
          <p:cNvGraphicFramePr>
            <a:graphicFrameLocks noGrp="1"/>
          </p:cNvGraphicFramePr>
          <p:nvPr>
            <p:ph sz="half" idx="2"/>
          </p:nvPr>
        </p:nvGraphicFramePr>
        <p:xfrm>
          <a:off x="395288" y="1412875"/>
          <a:ext cx="8075613" cy="4525963"/>
        </p:xfrm>
        <a:graphic>
          <a:graphicData uri="http://schemas.openxmlformats.org/drawingml/2006/table">
            <a:tbl>
              <a:tblPr/>
              <a:tblGrid>
                <a:gridCol w="1512888"/>
                <a:gridCol w="1943100"/>
                <a:gridCol w="1584325"/>
                <a:gridCol w="3035300"/>
              </a:tblGrid>
              <a:tr h="5032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ClrTx/>
                        <a:buNone/>
                      </a:pPr>
                      <a:r>
                        <a:rPr lang="zh-CN" altLang="en-US" sz="2000" dirty="0">
                          <a:latin typeface="宋体" panose="02010600030101010101" pitchFamily="2" charset="-122"/>
                          <a:ea typeface="Times New Roman" panose="02020603050405020304" pitchFamily="18" charset="0"/>
                        </a:rPr>
                        <a:t>十进制数</a:t>
                      </a:r>
                      <a:endParaRPr lang="zh-CN" altLang="en-US" sz="2000" dirty="0">
                        <a:latin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ClrTx/>
                        <a:buNone/>
                      </a:pPr>
                      <a:r>
                        <a:rPr lang="en-US" altLang="zh-CN" sz="2000">
                          <a:latin typeface="Times New Roman" panose="02020603050405020304" pitchFamily="18" charset="0"/>
                          <a:ea typeface="黑体" panose="02010609060101010101" pitchFamily="49" charset="-122"/>
                        </a:rPr>
                        <a:t>8421-BCD</a:t>
                      </a:r>
                      <a:r>
                        <a:rPr lang="zh-CN" altLang="en-US" sz="2000" dirty="0">
                          <a:latin typeface="Times New Roman" panose="02020603050405020304" pitchFamily="18" charset="0"/>
                          <a:ea typeface="黑体" panose="02010609060101010101" pitchFamily="49" charset="-122"/>
                        </a:rPr>
                        <a:t>码</a:t>
                      </a:r>
                      <a:endParaRPr lang="zh-CN" altLang="en-US" sz="2000" dirty="0">
                        <a:latin typeface="Times New Roman" panose="02020603050405020304" pitchFamily="18" charset="0"/>
                        <a:ea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ClrTx/>
                        <a:buNone/>
                      </a:pPr>
                      <a:r>
                        <a:rPr lang="zh-CN" altLang="en-US" sz="2000" dirty="0">
                          <a:latin typeface="宋体" panose="02010600030101010101" pitchFamily="2" charset="-122"/>
                          <a:ea typeface="Times New Roman" panose="02020603050405020304" pitchFamily="18" charset="0"/>
                        </a:rPr>
                        <a:t>十进制数</a:t>
                      </a:r>
                      <a:endParaRPr lang="zh-CN" altLang="en-US" sz="2000" dirty="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ClrTx/>
                        <a:buNone/>
                      </a:pPr>
                      <a:r>
                        <a:rPr lang="en-US" altLang="zh-CN" sz="2000">
                          <a:latin typeface="Times New Roman" panose="02020603050405020304" pitchFamily="18" charset="0"/>
                          <a:ea typeface="黑体" panose="02010609060101010101" pitchFamily="49" charset="-122"/>
                        </a:rPr>
                        <a:t>8421-BCD</a:t>
                      </a:r>
                      <a:r>
                        <a:rPr lang="zh-CN" altLang="en-US" sz="2000" dirty="0">
                          <a:latin typeface="Times New Roman" panose="02020603050405020304" pitchFamily="18" charset="0"/>
                          <a:ea typeface="黑体" panose="02010609060101010101" pitchFamily="49" charset="-122"/>
                        </a:rPr>
                        <a:t>码</a:t>
                      </a:r>
                      <a:endParaRPr lang="zh-CN" altLang="en-US" sz="2000" dirty="0">
                        <a:latin typeface="Times New Roman" panose="02020603050405020304" pitchFamily="18" charset="0"/>
                        <a:ea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9D9D9"/>
                    </a:solidFill>
                  </a:tcPr>
                </a:tc>
              </a:tr>
              <a:tr h="50165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8</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solidFill>
                            <a:srgbClr val="FFFFFF"/>
                          </a:solidFill>
                          <a:latin typeface="Times New Roman" panose="02020603050405020304" pitchFamily="18" charset="0"/>
                          <a:ea typeface="Times New Roman" panose="02020603050405020304" pitchFamily="18" charset="0"/>
                        </a:rPr>
                        <a:t>0000</a:t>
                      </a:r>
                      <a:r>
                        <a:rPr lang="en-US" altLang="zh-CN" sz="2000">
                          <a:latin typeface="Times New Roman" panose="02020603050405020304" pitchFamily="18" charset="0"/>
                          <a:ea typeface="Times New Roman" panose="02020603050405020304" pitchFamily="18" charset="0"/>
                        </a:rPr>
                        <a:t> 1000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323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9</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solidFill>
                            <a:srgbClr val="FFFFFF"/>
                          </a:solidFill>
                          <a:latin typeface="Times New Roman" panose="02020603050405020304" pitchFamily="18" charset="0"/>
                          <a:ea typeface="Times New Roman" panose="02020603050405020304" pitchFamily="18" charset="0"/>
                        </a:rPr>
                        <a:t>0000</a:t>
                      </a:r>
                      <a:r>
                        <a:rPr lang="en-US" altLang="zh-CN" sz="2000">
                          <a:latin typeface="Times New Roman" panose="02020603050405020304" pitchFamily="18" charset="0"/>
                          <a:ea typeface="Times New Roman" panose="02020603050405020304" pitchFamily="18" charset="0"/>
                        </a:rPr>
                        <a:t> 1001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165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2</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0010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10</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00010000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32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3</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0011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11</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00010001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165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4</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0100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12</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00010010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323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5</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0101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13</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00010011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48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6</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0110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14</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00010100</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32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7</a:t>
                      </a:r>
                      <a:endParaRPr lang="en-US" altLang="zh-CN" sz="2000">
                        <a:latin typeface="Times New Roman" panose="02020603050405020304" pitchFamily="18"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0111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15</a:t>
                      </a:r>
                      <a:endParaRPr lang="en-US" altLang="zh-CN" sz="2000">
                        <a:latin typeface="Times New Roman" panose="02020603050405020304" pitchFamily="18" charset="0"/>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ClrTx/>
                        <a:buNone/>
                      </a:pPr>
                      <a:r>
                        <a:rPr lang="en-US" altLang="zh-CN" sz="2000">
                          <a:latin typeface="Times New Roman" panose="02020603050405020304" pitchFamily="18" charset="0"/>
                          <a:ea typeface="Times New Roman" panose="02020603050405020304" pitchFamily="18" charset="0"/>
                        </a:rPr>
                        <a:t>00010101</a:t>
                      </a:r>
                      <a:endParaRPr lang="en-US" altLang="zh-CN" sz="2000">
                        <a:latin typeface="Times New Roman" panose="02020603050405020304" pitchFamily="18"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5" name="标题 229377"/>
          <p:cNvSpPr txBox="1"/>
          <p:nvPr/>
        </p:nvSpPr>
        <p:spPr>
          <a:xfrm>
            <a:off x="1871837" y="223838"/>
            <a:ext cx="5436468" cy="431800"/>
          </a:xfrm>
          <a:prstGeom prst="rect">
            <a:avLst/>
          </a:prstGeom>
          <a:noFill/>
          <a:ln w="9525">
            <a:noFill/>
          </a:ln>
        </p:spPr>
        <p:txBody>
          <a:bodyPr anchor="ct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b="1" dirty="0" smtClean="0">
                <a:solidFill>
                  <a:srgbClr val="FF0000"/>
                </a:solidFill>
                <a:ea typeface="隶书" panose="02010509060101010101" pitchFamily="49" charset="-122"/>
              </a:rPr>
              <a:t>1.3 </a:t>
            </a:r>
            <a:r>
              <a:rPr lang="zh-CN" altLang="en-US" b="1" dirty="0" smtClean="0">
                <a:solidFill>
                  <a:srgbClr val="FF0000"/>
                </a:solidFill>
                <a:ea typeface="隶书" panose="02010509060101010101" pitchFamily="49" charset="-122"/>
              </a:rPr>
              <a:t>计算机中的数制和码制</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DIAGRAM_VIRTUALLY_FRAME" val="{&quot;height&quot;:62.7,&quot;left&quot;:90.05,&quot;top&quot;:340.45,&quot;width&quot;:564.1}"/>
</p:tagLst>
</file>

<file path=ppt/tags/tag2.xml><?xml version="1.0" encoding="utf-8"?>
<p:tagLst xmlns:p="http://schemas.openxmlformats.org/presentationml/2006/main">
  <p:tag name="KSO_WM_DIAGRAM_VIRTUALLY_FRAME" val="{&quot;height&quot;:62.7,&quot;left&quot;:90.05,&quot;top&quot;:340.45,&quot;width&quot;:564.1}"/>
</p:tagLst>
</file>

<file path=ppt/tags/tag3.xml><?xml version="1.0" encoding="utf-8"?>
<p:tagLst xmlns:p="http://schemas.openxmlformats.org/presentationml/2006/main">
  <p:tag name="KSO_WM_DIAGRAM_VIRTUALLY_FRAME" val="{&quot;height&quot;:62.7,&quot;left&quot;:90.05,&quot;top&quot;:340.45,&quot;width&quot;:564.1}"/>
</p:tagLst>
</file>

<file path=ppt/tags/tag4.xml><?xml version="1.0" encoding="utf-8"?>
<p:tagLst xmlns:p="http://schemas.openxmlformats.org/presentationml/2006/main">
  <p:tag name="KSO_WM_DIAGRAM_VIRTUALLY_FRAME" val="{&quot;height&quot;:62.7,&quot;left&quot;:90.05,&quot;top&quot;:340.45,&quot;width&quot;:564.1}"/>
</p:tagLst>
</file>

<file path=ppt/tags/tag5.xml><?xml version="1.0" encoding="utf-8"?>
<p:tagLst xmlns:p="http://schemas.openxmlformats.org/presentationml/2006/main">
  <p:tag name="KSO_WM_DIAGRAM_VIRTUALLY_FRAME" val="{&quot;height&quot;:62.7,&quot;left&quot;:90.05,&quot;top&quot;:340.45,&quot;width&quot;:564.1}"/>
</p:tagLst>
</file>

<file path=ppt/tags/tag6.xml><?xml version="1.0" encoding="utf-8"?>
<p:tagLst xmlns:p="http://schemas.openxmlformats.org/presentationml/2006/main">
  <p:tag name="KSO_WM_DIAGRAM_VIRTUALLY_FRAME" val="{&quot;height&quot;:62.7,&quot;left&quot;:90.05,&quot;top&quot;:340.45,&quot;width&quot;:564.1}"/>
</p:tagLst>
</file>

<file path=ppt/tags/tag7.xml><?xml version="1.0" encoding="utf-8"?>
<p:tagLst xmlns:p="http://schemas.openxmlformats.org/presentationml/2006/main">
  <p:tag name="KSO_WM_DIAGRAM_VIRTUALLY_FRAME" val="{&quot;height&quot;:62.7,&quot;left&quot;:90.05,&quot;top&quot;:340.45,&quot;width&quot;:564.1}"/>
</p:tagLst>
</file>

<file path=ppt/tags/tag8.xml><?xml version="1.0" encoding="utf-8"?>
<p:tagLst xmlns:p="http://schemas.openxmlformats.org/presentationml/2006/main">
  <p:tag name="KSO_WM_DIAGRAM_VIRTUALLY_FRAME" val="{&quot;height&quot;:62.7,&quot;left&quot;:90.05,&quot;top&quot;:340.45,&quot;width&quot;:564.1}"/>
</p:tagLst>
</file>

<file path=ppt/tags/tag9.xml><?xml version="1.0" encoding="utf-8"?>
<p:tagLst xmlns:p="http://schemas.openxmlformats.org/presentationml/2006/main">
  <p:tag name="KSO_WM_DIAGRAM_VIRTUALLY_FRAME" val="{&quot;height&quot;:62.7,&quot;left&quot;:90.05,&quot;top&quot;:340.45,&quot;width&quot;:564.1}"/>
</p:tagLst>
</file>

<file path=ppt/tags/tag10.xml><?xml version="1.0" encoding="utf-8"?>
<p:tagLst xmlns:p="http://schemas.openxmlformats.org/presentationml/2006/main">
  <p:tag name="KSO_WM_DIAGRAM_VIRTUALLY_FRAME" val="{&quot;height&quot;:62.7,&quot;left&quot;:90.05,&quot;top&quot;:340.45,&quot;width&quot;:564.1}"/>
</p:tagLst>
</file>

<file path=ppt/tags/tag11.xml><?xml version="1.0" encoding="utf-8"?>
<p:tagLst xmlns:p="http://schemas.openxmlformats.org/presentationml/2006/main">
  <p:tag name="KSO_WM_DIAGRAM_VIRTUALLY_FRAME" val="{&quot;height&quot;:62.7,&quot;left&quot;:90.05,&quot;top&quot;:341.2,&quot;width&quot;:558.45}"/>
</p:tagLst>
</file>

<file path=ppt/tags/tag12.xml><?xml version="1.0" encoding="utf-8"?>
<p:tagLst xmlns:p="http://schemas.openxmlformats.org/presentationml/2006/main">
  <p:tag name="KSO_WM_DIAGRAM_VIRTUALLY_FRAME" val="{&quot;height&quot;:62.7,&quot;left&quot;:90.05,&quot;top&quot;:340.45,&quot;width&quot;:564.1}"/>
</p:tagLst>
</file>

<file path=ppt/tags/tag13.xml><?xml version="1.0" encoding="utf-8"?>
<p:tagLst xmlns:p="http://schemas.openxmlformats.org/presentationml/2006/main">
  <p:tag name="KSO_WM_DIAGRAM_VIRTUALLY_FRAME" val="{&quot;height&quot;:62.7,&quot;left&quot;:90.05,&quot;top&quot;:340.45,&quot;width&quot;:564.1}"/>
</p:tagLst>
</file>

<file path=ppt/tags/tag14.xml><?xml version="1.0" encoding="utf-8"?>
<p:tagLst xmlns:p="http://schemas.openxmlformats.org/presentationml/2006/main">
  <p:tag name="KSO_WM_DIAGRAM_VIRTUALLY_FRAME" val="{&quot;height&quot;:62.7,&quot;left&quot;:90.05,&quot;top&quot;:340.45,&quot;width&quot;:564.1}"/>
</p:tagLst>
</file>

<file path=ppt/tags/tag15.xml><?xml version="1.0" encoding="utf-8"?>
<p:tagLst xmlns:p="http://schemas.openxmlformats.org/presentationml/2006/main">
  <p:tag name="KSO_WM_DIAGRAM_VIRTUALLY_FRAME" val="{&quot;height&quot;:62.7,&quot;left&quot;:90.05,&quot;top&quot;:340.45,&quot;width&quot;:564.1}"/>
</p:tagLst>
</file>

<file path=ppt/theme/theme1.xml><?xml version="1.0" encoding="utf-8"?>
<a:theme xmlns:a="http://schemas.openxmlformats.org/drawingml/2006/main" name="接口">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00"/>
        </a:accent1>
        <a:accent2>
          <a:srgbClr val="333399"/>
        </a:accent2>
        <a:accent3>
          <a:srgbClr val="FFFFFF"/>
        </a:accent3>
        <a:accent4>
          <a:srgbClr val="000000"/>
        </a:accent4>
        <a:accent5>
          <a:srgbClr val="AAE2A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接口</Template>
  <TotalTime>0</TotalTime>
  <Words>7751</Words>
  <Application>WPS 演示</Application>
  <PresentationFormat>全屏显示(4:3)</PresentationFormat>
  <Paragraphs>543</Paragraphs>
  <Slides>43</Slides>
  <Notes>1</Notes>
  <HiddenSlides>30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6" baseType="lpstr">
      <vt:lpstr>Arial</vt:lpstr>
      <vt:lpstr>宋体</vt:lpstr>
      <vt:lpstr>Wingdings</vt:lpstr>
      <vt:lpstr>Times New Roman</vt:lpstr>
      <vt:lpstr>Tahoma</vt:lpstr>
      <vt:lpstr>黑体</vt:lpstr>
      <vt:lpstr>隶书</vt:lpstr>
      <vt:lpstr>楷体_GB2312</vt:lpstr>
      <vt:lpstr>新宋体</vt:lpstr>
      <vt:lpstr>微软雅黑</vt:lpstr>
      <vt:lpstr>Arial Unicode MS</vt:lpstr>
      <vt:lpstr>接口</vt:lpstr>
      <vt:lpstr>Word.Document.8</vt:lpstr>
      <vt:lpstr>PowerPoint 演示文稿</vt:lpstr>
      <vt:lpstr>参考教材</vt:lpstr>
      <vt:lpstr>PowerPoint 演示文稿</vt:lpstr>
      <vt:lpstr>1.1 微型计算机概念</vt:lpstr>
      <vt:lpstr>PowerPoint 演示文稿</vt:lpstr>
      <vt:lpstr>PowerPoint 演示文稿</vt:lpstr>
      <vt:lpstr>PowerPoint 演示文稿</vt:lpstr>
      <vt:lpstr>1.2  微型计算机系统的组成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 计算机中的数制和码制</vt:lpstr>
      <vt:lpstr>PowerPoint 演示文稿</vt:lpstr>
      <vt:lpstr>1.3 计算机中的数制和码制</vt:lpstr>
      <vt:lpstr>PowerPoint 演示文稿</vt:lpstr>
      <vt:lpstr>PowerPoint 演示文稿</vt:lpstr>
      <vt:lpstr>十进制→二进制（小数）</vt:lpstr>
      <vt:lpstr>二进制→十进制</vt:lpstr>
      <vt:lpstr>（2）二进制与十六进制间的转换</vt:lpstr>
      <vt:lpstr>（3）十进制和十六进制间转换</vt:lpstr>
      <vt:lpstr>二、二进制的运算</vt:lpstr>
      <vt:lpstr>1.3 计算机中的数制和码制</vt:lpstr>
      <vt:lpstr>1.3 计算机中的数制和码制</vt:lpstr>
      <vt:lpstr>1.3 计算机中的数制和码制</vt:lpstr>
      <vt:lpstr>1.3 计算机中的数制和码制</vt:lpstr>
      <vt:lpstr>1.3 计算机中的数制和码制</vt:lpstr>
      <vt:lpstr>1.3 计算机中的数制和码制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Hong-bing DU</dc:creator>
  <cp:lastModifiedBy>吕慧</cp:lastModifiedBy>
  <cp:revision>573</cp:revision>
  <dcterms:created xsi:type="dcterms:W3CDTF">2017-03-15T06:46:00Z</dcterms:created>
  <dcterms:modified xsi:type="dcterms:W3CDTF">2025-02-16T03:43:05Z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13A3945332174F068518BFA759259C67_12</vt:lpwstr>
  </property>
</Properties>
</file>