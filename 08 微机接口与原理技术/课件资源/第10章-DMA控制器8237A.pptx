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5"/>
  </p:notesMasterIdLst>
  <p:sldIdLst>
    <p:sldId id="418" r:id="rId2"/>
    <p:sldId id="368" r:id="rId3"/>
    <p:sldId id="696" r:id="rId4"/>
    <p:sldId id="460" r:id="rId5"/>
    <p:sldId id="697" r:id="rId6"/>
    <p:sldId id="698" r:id="rId7"/>
    <p:sldId id="699" r:id="rId8"/>
    <p:sldId id="700" r:id="rId9"/>
    <p:sldId id="701" r:id="rId10"/>
    <p:sldId id="703" r:id="rId11"/>
    <p:sldId id="704" r:id="rId12"/>
    <p:sldId id="705" r:id="rId13"/>
    <p:sldId id="706" r:id="rId14"/>
    <p:sldId id="707" r:id="rId15"/>
    <p:sldId id="708" r:id="rId16"/>
    <p:sldId id="709" r:id="rId17"/>
    <p:sldId id="710" r:id="rId18"/>
    <p:sldId id="711" r:id="rId19"/>
    <p:sldId id="712" r:id="rId20"/>
    <p:sldId id="713" r:id="rId21"/>
    <p:sldId id="714" r:id="rId22"/>
    <p:sldId id="715" r:id="rId23"/>
    <p:sldId id="716" r:id="rId24"/>
    <p:sldId id="717" r:id="rId25"/>
    <p:sldId id="718" r:id="rId26"/>
    <p:sldId id="719" r:id="rId27"/>
    <p:sldId id="720" r:id="rId28"/>
    <p:sldId id="721" r:id="rId29"/>
    <p:sldId id="722" r:id="rId30"/>
    <p:sldId id="723" r:id="rId31"/>
    <p:sldId id="724" r:id="rId32"/>
    <p:sldId id="725" r:id="rId33"/>
    <p:sldId id="726" r:id="rId34"/>
    <p:sldId id="727" r:id="rId35"/>
    <p:sldId id="728" r:id="rId36"/>
    <p:sldId id="729" r:id="rId37"/>
    <p:sldId id="730" r:id="rId38"/>
    <p:sldId id="732" r:id="rId39"/>
    <p:sldId id="745" r:id="rId40"/>
    <p:sldId id="746" r:id="rId41"/>
    <p:sldId id="733" r:id="rId42"/>
    <p:sldId id="731" r:id="rId43"/>
    <p:sldId id="734" r:id="rId44"/>
    <p:sldId id="735" r:id="rId45"/>
    <p:sldId id="737" r:id="rId46"/>
    <p:sldId id="736" r:id="rId47"/>
    <p:sldId id="738" r:id="rId48"/>
    <p:sldId id="739" r:id="rId49"/>
    <p:sldId id="740" r:id="rId50"/>
    <p:sldId id="741" r:id="rId51"/>
    <p:sldId id="742" r:id="rId52"/>
    <p:sldId id="743" r:id="rId53"/>
    <p:sldId id="744" r:id="rId54"/>
  </p:sldIdLst>
  <p:sldSz cx="9144000" cy="6858000" type="screen4x3"/>
  <p:notesSz cx="6858000" cy="9144000"/>
  <p:defaultTextStyle>
    <a:defPPr>
      <a:defRPr lang="en-US"/>
    </a:defPPr>
    <a:lvl1pPr marL="0" lvl="0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1pPr>
    <a:lvl2pPr marL="457200" lvl="1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2pPr>
    <a:lvl3pPr marL="914400" lvl="2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3pPr>
    <a:lvl4pPr marL="1371600" lvl="3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4pPr>
    <a:lvl5pPr marL="1828800" lvl="4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5pPr>
    <a:lvl6pPr marL="2286000" lvl="5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6pPr>
    <a:lvl7pPr marL="2743200" lvl="6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7pPr>
    <a:lvl8pPr marL="3200400" lvl="7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8pPr>
    <a:lvl9pPr marL="3657600" lvl="8" indent="0" algn="l" defTabSz="914400" eaLnBrk="1" fontAlgn="base" latinLnBrk="0" hangingPunct="1">
      <a:lnSpc>
        <a:spcPct val="100000"/>
      </a:lnSpc>
      <a:spcBef>
        <a:spcPct val="0"/>
      </a:spcBef>
      <a:spcAft>
        <a:spcPct val="0"/>
      </a:spcAft>
      <a:buNone/>
      <a:defRPr sz="18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9pPr>
  </p:defaultTextStyle>
  <p:extLst>
    <p:ext uri="{EFAFB233-063F-42B5-8137-9DF3F51BA10A}">
      <p15:sldGuideLst xmlns:p15="http://schemas.microsoft.com/office/powerpoint/2012/main">
        <p15:guide id="1" orient="horz" pos="2151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CC"/>
    <a:srgbClr val="FF00FF"/>
    <a:srgbClr val="FFFFCC"/>
    <a:srgbClr val="CC0066"/>
    <a:srgbClr val="990099"/>
    <a:srgbClr val="CC0099"/>
    <a:srgbClr val="FF3399"/>
    <a:srgbClr val="FF6600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882"/>
    <p:restoredTop sz="94603"/>
  </p:normalViewPr>
  <p:slideViewPr>
    <p:cSldViewPr showGuides="1">
      <p:cViewPr varScale="1">
        <p:scale>
          <a:sx n="80" d="100"/>
          <a:sy n="80" d="100"/>
        </p:scale>
        <p:origin x="1555" y="43"/>
      </p:cViewPr>
      <p:guideLst>
        <p:guide orient="horz" pos="2151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432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页眉占位符 22529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endParaRPr lang="zh-CN" altLang="en-US" sz="1200" dirty="0">
              <a:latin typeface="Tahoma" panose="020B0604030504040204" pitchFamily="34" charset="0"/>
            </a:endParaRPr>
          </a:p>
        </p:txBody>
      </p:sp>
      <p:sp>
        <p:nvSpPr>
          <p:cNvPr id="22531" name="日期占位符 22530"/>
          <p:cNvSpPr>
            <a:spLocks noGrp="1"/>
          </p:cNvSpPr>
          <p:nvPr>
            <p:ph type="dt" idx="1"/>
          </p:nvPr>
        </p:nvSpPr>
        <p:spPr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 algn="r"/>
            <a:endParaRPr lang="zh-CN" altLang="en-US" sz="1200" dirty="0">
              <a:latin typeface="Tahoma" panose="020B0604030504040204" pitchFamily="34" charset="0"/>
            </a:endParaRPr>
          </a:p>
        </p:txBody>
      </p:sp>
      <p:sp>
        <p:nvSpPr>
          <p:cNvPr id="22532" name="幻灯片图像占位符 22531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22533" name="文本占位符 22532"/>
          <p:cNvSpPr>
            <a:spLocks noGrp="1"/>
          </p:cNvSpPr>
          <p:nvPr>
            <p:ph type="body" sz="quarter" idx="3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2534" name="页脚占位符 22533"/>
          <p:cNvSpPr>
            <a:spLocks noGrp="1"/>
          </p:cNvSpPr>
          <p:nvPr>
            <p:ph type="ftr" sz="quarter" idx="4"/>
          </p:nvPr>
        </p:nvSpPr>
        <p:spPr>
          <a:xfrm>
            <a:off x="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/>
            <a:endParaRPr lang="zh-CN" altLang="en-US" sz="1200" dirty="0">
              <a:latin typeface="Tahoma" panose="020B0604030504040204" pitchFamily="34" charset="0"/>
            </a:endParaRPr>
          </a:p>
        </p:txBody>
      </p:sp>
      <p:sp>
        <p:nvSpPr>
          <p:cNvPr id="22535" name="灯片编号占位符 22534"/>
          <p:cNvSpPr>
            <a:spLocks noGrp="1"/>
          </p:cNvSpPr>
          <p:nvPr>
            <p:ph type="sldNum" sz="quarter" idx="5"/>
          </p:nvPr>
        </p:nvSpPr>
        <p:spPr>
          <a:xfrm>
            <a:off x="3886200" y="8686800"/>
            <a:ext cx="2971800" cy="457200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algn="r"/>
            <a:fld id="{9A0DB2DC-4C9A-4742-B13C-FB6460FD3503}" type="slidenum">
              <a:rPr lang="zh-CN" altLang="en-US" sz="1200" dirty="0">
                <a:latin typeface="Tahoma" panose="020B0604030504040204" pitchFamily="34" charset="0"/>
              </a:rPr>
              <a:t>‹#›</a:t>
            </a:fld>
            <a:endParaRPr lang="zh-CN" altLang="en-US" sz="1200" dirty="0">
              <a:latin typeface="Tahoma" panose="020B060403050404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lvl="0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1pPr>
    <a:lvl2pPr marL="457200" lvl="1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2pPr>
    <a:lvl3pPr marL="914400" lvl="2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3pPr>
    <a:lvl4pPr marL="1371600" lvl="3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4pPr>
    <a:lvl5pPr marL="1828800" lvl="4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5pPr>
    <a:lvl6pPr marL="2286000" lvl="5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6pPr>
    <a:lvl7pPr marL="2743200" lvl="6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7pPr>
    <a:lvl8pPr marL="3200400" lvl="7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8pPr>
    <a:lvl9pPr marL="3657600" lvl="8" indent="0" algn="l" defTabSz="91440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buClrTx/>
            </a:pP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buClrTx/>
            </a:pP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ClrTx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buClrTx/>
            </a:pPr>
            <a:fld id="{BB962C8B-B14F-4D97-AF65-F5344CB8AC3E}" type="datetime1">
              <a:rPr lang="zh-CN" altLang="en-US" dirty="0"/>
              <a:t>2025/3/30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buClrTx/>
            </a:pP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ClrTx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buClrTx/>
            </a:pP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buClrTx/>
            </a:pP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ClrTx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2504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54296" y="1600200"/>
            <a:ext cx="4032504" cy="452596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buClrTx/>
            </a:pP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buClrTx/>
            </a:pP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ClrTx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buClrTx/>
            </a:pPr>
            <a:endParaRPr lang="zh-CN" altLang="en-US" dirty="0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buClrTx/>
            </a:pPr>
            <a:endParaRPr lang="zh-CN" altLang="en-US" dirty="0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ClrTx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buClrTx/>
            </a:pPr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buClrTx/>
            </a:pP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ClrTx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buClrTx/>
            </a:pPr>
            <a:endParaRPr lang="zh-CN" altLang="en-US" dirty="0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buClrTx/>
            </a:pP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ClrTx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buClrTx/>
            </a:pP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buClrTx/>
            </a:pP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ClrTx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buClrTx/>
            </a:pPr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buClrTx/>
            </a:pPr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ClrTx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buClrTx/>
            </a:pP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buClrTx/>
            </a:pP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ClrTx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5293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buClrTx/>
            </a:pPr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buClrTx/>
            </a:pP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ClrTx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457200" y="274638"/>
            <a:ext cx="8229600" cy="585152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>
              <a:buClrTx/>
            </a:pPr>
            <a:fld id="{BB962C8B-B14F-4D97-AF65-F5344CB8AC3E}" type="datetime1">
              <a:rPr lang="zh-CN" altLang="en-US" dirty="0"/>
              <a:t>2025/3/30</a:t>
            </a:fld>
            <a:endParaRPr lang="zh-CN" altLang="en-US" dirty="0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>
              <a:buClrTx/>
            </a:pPr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>
              <a:buClrTx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18" Type="http://schemas.openxmlformats.org/officeDocument/2006/relationships/image" Target="../media/image5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946" name="标题 210945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210947" name="文本占位符 210946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</a:ln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210948" name="日期占位符 210947"/>
          <p:cNvSpPr>
            <a:spLocks noGrp="1"/>
          </p:cNvSpPr>
          <p:nvPr>
            <p:ph type="dt" sz="half" idx="2"/>
          </p:nvPr>
        </p:nvSpPr>
        <p:spPr>
          <a:xfrm>
            <a:off x="457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400">
                <a:latin typeface="Arial" panose="020B0604020202020204" pitchFamily="34" charset="0"/>
              </a:defRPr>
            </a:lvl1pPr>
          </a:lstStyle>
          <a:p>
            <a:pPr lvl="0">
              <a:buClrTx/>
            </a:pPr>
            <a:fld id="{BB962C8B-B14F-4D97-AF65-F5344CB8AC3E}" type="datetime1">
              <a:rPr lang="zh-CN" altLang="en-US" dirty="0"/>
              <a:t>2025/3/30</a:t>
            </a:fld>
            <a:endParaRPr lang="zh-CN" altLang="en-US" dirty="0"/>
          </a:p>
        </p:txBody>
      </p:sp>
      <p:sp>
        <p:nvSpPr>
          <p:cNvPr id="210949" name="页脚占位符 210948"/>
          <p:cNvSpPr>
            <a:spLocks noGrp="1"/>
          </p:cNvSpPr>
          <p:nvPr>
            <p:ph type="ftr" sz="quarter" idx="3"/>
          </p:nvPr>
        </p:nvSpPr>
        <p:spPr>
          <a:xfrm>
            <a:off x="3124200" y="6245225"/>
            <a:ext cx="2895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400">
                <a:latin typeface="Arial" panose="020B0604020202020204" pitchFamily="34" charset="0"/>
              </a:defRPr>
            </a:lvl1pPr>
          </a:lstStyle>
          <a:p>
            <a:pPr lvl="0">
              <a:buClrTx/>
            </a:pPr>
            <a:endParaRPr lang="zh-CN" altLang="en-US" dirty="0"/>
          </a:p>
        </p:txBody>
      </p:sp>
      <p:sp>
        <p:nvSpPr>
          <p:cNvPr id="210950" name="灯片编号占位符 210949"/>
          <p:cNvSpPr>
            <a:spLocks noGrp="1"/>
          </p:cNvSpPr>
          <p:nvPr>
            <p:ph type="sldNum" sz="quarter" idx="4"/>
          </p:nvPr>
        </p:nvSpPr>
        <p:spPr>
          <a:xfrm>
            <a:off x="6553200" y="6245225"/>
            <a:ext cx="2133600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400">
                <a:latin typeface="Arial" panose="020B0604020202020204" pitchFamily="34" charset="0"/>
              </a:defRPr>
            </a:lvl1pPr>
          </a:lstStyle>
          <a:p>
            <a:pPr lvl="0">
              <a:buClrTx/>
            </a:pPr>
            <a:fld id="{9A0DB2DC-4C9A-4742-B13C-FB6460FD3503}" type="slidenum">
              <a:rPr lang="zh-CN" altLang="en-US" dirty="0"/>
              <a:t>‹#›</a:t>
            </a:fld>
            <a:endParaRPr lang="zh-CN" altLang="en-US" dirty="0"/>
          </a:p>
        </p:txBody>
      </p:sp>
      <p:sp>
        <p:nvSpPr>
          <p:cNvPr id="210954" name="直接连接符 210953"/>
          <p:cNvSpPr/>
          <p:nvPr userDrawn="1"/>
        </p:nvSpPr>
        <p:spPr>
          <a:xfrm>
            <a:off x="179388" y="765175"/>
            <a:ext cx="8763000" cy="0"/>
          </a:xfrm>
          <a:prstGeom prst="line">
            <a:avLst/>
          </a:prstGeom>
          <a:ln w="53975" cap="flat" cmpd="sng">
            <a:solidFill>
              <a:srgbClr val="CC99FF"/>
            </a:solidFill>
            <a:prstDash val="solid"/>
            <a:miter/>
            <a:headEnd type="none" w="med" len="med"/>
            <a:tailEnd type="none" w="med" len="med"/>
          </a:ln>
        </p:spPr>
      </p:sp>
      <p:pic>
        <p:nvPicPr>
          <p:cNvPr id="210958" name="图片 210957" descr="上一页">
            <a:hlinkClick r:id="" action="ppaction://hlinkshowjump?jump=previousslide"/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5589588" y="6364288"/>
            <a:ext cx="1039812" cy="5207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0959" name="图片 210958" descr="退出">
            <a:hlinkClick r:id="" action="ppaction://hlinkshowjump?jump=endshow"/>
          </p:cNvPr>
          <p:cNvPicPr>
            <a:picLocks noChangeAspect="1"/>
          </p:cNvPicPr>
          <p:nvPr userDrawn="1"/>
        </p:nvPicPr>
        <p:blipFill>
          <a:blip r:embed="rId15"/>
          <a:stretch>
            <a:fillRect/>
          </a:stretch>
        </p:blipFill>
        <p:spPr>
          <a:xfrm>
            <a:off x="7956550" y="6364288"/>
            <a:ext cx="1039813" cy="5207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210960" name="图片 210959" descr="下一页">
            <a:hlinkClick r:id="" action="ppaction://hlinkshowjump?jump=nextslide"/>
          </p:cNvPr>
          <p:cNvPicPr>
            <a:picLocks noChangeAspect="1"/>
          </p:cNvPicPr>
          <p:nvPr userDrawn="1"/>
        </p:nvPicPr>
        <p:blipFill>
          <a:blip r:embed="rId16"/>
          <a:stretch>
            <a:fillRect/>
          </a:stretch>
        </p:blipFill>
        <p:spPr>
          <a:xfrm>
            <a:off x="6772275" y="6364288"/>
            <a:ext cx="1039813" cy="520700"/>
          </a:xfrm>
          <a:prstGeom prst="rect">
            <a:avLst/>
          </a:prstGeom>
          <a:noFill/>
          <a:ln w="9525">
            <a:noFill/>
          </a:ln>
        </p:spPr>
      </p:pic>
      <p:pic>
        <p:nvPicPr>
          <p:cNvPr id="12" name="Object 18"/>
          <p:cNvPicPr>
            <a:picLocks noChangeAspect="1" noChangeArrowheads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71"/>
            <a:ext cx="827584" cy="765103"/>
          </a:xfrm>
          <a:prstGeom prst="rect">
            <a:avLst/>
          </a:prstGeom>
          <a:solidFill>
            <a:srgbClr val="458F8F"/>
          </a:solidFill>
          <a:ln w="9525" cmpd="sng">
            <a:solidFill>
              <a:srgbClr val="2B166E"/>
            </a:solidFill>
            <a:miter lim="800000"/>
            <a:headEnd/>
            <a:tailEnd/>
          </a:ln>
        </p:spPr>
      </p:pic>
      <p:pic>
        <p:nvPicPr>
          <p:cNvPr id="13" name="Object 19"/>
          <p:cNvPicPr>
            <a:picLocks noChangeAspect="1" noChangeArrowheads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5690" y="72"/>
            <a:ext cx="773982" cy="765101"/>
          </a:xfrm>
          <a:prstGeom prst="rect">
            <a:avLst/>
          </a:prstGeom>
          <a:solidFill>
            <a:srgbClr val="458F8F"/>
          </a:solidFill>
          <a:ln w="9525" cmpd="sng">
            <a:solidFill>
              <a:srgbClr val="2B166E"/>
            </a:solidFill>
            <a:miter lim="800000"/>
            <a:headEnd/>
            <a:tailEnd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marL="0" lvl="0" indent="0" algn="ctr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914400" lvl="2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371600" lvl="3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1828800" lvl="4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286000" lvl="5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743200" lvl="6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200400" lvl="7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657600" lvl="8" indent="0" algn="l" defTabSz="91440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4" name="矩形 215043"/>
          <p:cNvSpPr/>
          <p:nvPr/>
        </p:nvSpPr>
        <p:spPr>
          <a:xfrm>
            <a:off x="2699792" y="116632"/>
            <a:ext cx="4896543" cy="620712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algn="ctr"/>
            <a:r>
              <a:rPr lang="zh-CN" altLang="en-US" sz="3200" b="1" dirty="0">
                <a:solidFill>
                  <a:srgbClr val="0000CC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第</a:t>
            </a:r>
            <a:r>
              <a:rPr lang="en-US" altLang="zh-CN" sz="3200" b="1" dirty="0">
                <a:solidFill>
                  <a:srgbClr val="0000CC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10</a:t>
            </a:r>
            <a:r>
              <a:rPr lang="zh-CN" altLang="en-US" sz="3200" b="1" dirty="0">
                <a:solidFill>
                  <a:srgbClr val="0000CC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章 </a:t>
            </a:r>
            <a:r>
              <a:rPr lang="en-US" altLang="zh-CN" sz="3200" b="1" dirty="0">
                <a:solidFill>
                  <a:srgbClr val="0000CC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DMA</a:t>
            </a:r>
            <a:r>
              <a:rPr lang="zh-CN" altLang="en-US" sz="3200" b="1" dirty="0">
                <a:solidFill>
                  <a:srgbClr val="0000CC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控制器</a:t>
            </a:r>
            <a:r>
              <a:rPr lang="en-US" altLang="zh-CN" sz="3200" b="1" dirty="0">
                <a:solidFill>
                  <a:srgbClr val="0000CC"/>
                </a:solidFill>
                <a:latin typeface="隶书" panose="02010509060101010101" pitchFamily="49" charset="-122"/>
                <a:ea typeface="隶书" panose="02010509060101010101" pitchFamily="49" charset="-122"/>
              </a:rPr>
              <a:t>8237A</a:t>
            </a:r>
            <a:endParaRPr lang="zh-CN" altLang="en-US" sz="3200" b="1" dirty="0">
              <a:solidFill>
                <a:srgbClr val="0000CC"/>
              </a:solidFill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215045" name="矩形 215044"/>
          <p:cNvSpPr/>
          <p:nvPr/>
        </p:nvSpPr>
        <p:spPr>
          <a:xfrm>
            <a:off x="683270" y="1628378"/>
            <a:ext cx="7777162" cy="1440582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None/>
              <a:defRPr sz="3200" b="0" i="0" u="none" kern="1200" baseline="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457200" lvl="1" indent="0" algn="ctr">
              <a:buNone/>
              <a:defRPr sz="2800" kern="1200"/>
            </a:lvl2pPr>
            <a:lvl3pPr marL="914400" lvl="2" indent="0" algn="ctr">
              <a:buNone/>
              <a:defRPr sz="2400" kern="1200"/>
            </a:lvl3pPr>
            <a:lvl4pPr marL="1371600" lvl="3" indent="0" algn="ctr">
              <a:buNone/>
              <a:defRPr sz="2000" kern="1200"/>
            </a:lvl4pPr>
            <a:lvl5pPr marL="1828800" lvl="4" indent="0" algn="ctr">
              <a:buNone/>
              <a:defRPr kern="1200"/>
            </a:lvl5pPr>
          </a:lstStyle>
          <a:p>
            <a:pPr lvl="0" algn="l"/>
            <a:r>
              <a:rPr lang="en-US" altLang="zh-CN" b="1" dirty="0"/>
              <a:t>10.1 </a:t>
            </a:r>
            <a:r>
              <a:rPr lang="en-US" altLang="zh-CN" sz="3200" b="1" dirty="0">
                <a:ea typeface="+mj-ea"/>
                <a:cs typeface="Times New Roman" pitchFamily="18" charset="0"/>
              </a:rPr>
              <a:t>8237A </a:t>
            </a:r>
            <a:r>
              <a:rPr lang="zh-CN" altLang="en-US" sz="3200" b="1" dirty="0">
                <a:ea typeface="+mj-ea"/>
                <a:cs typeface="Times New Roman" pitchFamily="18" charset="0"/>
              </a:rPr>
              <a:t>的组成与工作原理</a:t>
            </a:r>
            <a:r>
              <a:rPr lang="en-US" altLang="zh-CN" sz="3200" b="1" dirty="0">
                <a:ea typeface="+mj-ea"/>
                <a:cs typeface="Times New Roman" pitchFamily="18" charset="0"/>
              </a:rPr>
              <a:t> </a:t>
            </a:r>
            <a:endParaRPr lang="zh-CN" altLang="en-US" b="1" dirty="0"/>
          </a:p>
          <a:p>
            <a:pPr lvl="0" algn="l"/>
            <a:r>
              <a:rPr lang="en-US" altLang="zh-CN" b="1" dirty="0"/>
              <a:t>10.2</a:t>
            </a:r>
            <a:r>
              <a:rPr lang="en-US" altLang="zh-CN" dirty="0"/>
              <a:t> </a:t>
            </a:r>
            <a:r>
              <a:rPr lang="en-US" altLang="zh-CN" sz="3200" b="1" dirty="0">
                <a:ea typeface="+mj-ea"/>
                <a:cs typeface="Times New Roman" pitchFamily="18" charset="0"/>
              </a:rPr>
              <a:t>8237A</a:t>
            </a:r>
            <a:r>
              <a:rPr lang="zh-CN" altLang="en-US" sz="3200" b="1" dirty="0">
                <a:ea typeface="+mj-ea"/>
                <a:cs typeface="Times New Roman" pitchFamily="18" charset="0"/>
              </a:rPr>
              <a:t>的编程和应用举例</a:t>
            </a:r>
            <a:endParaRPr lang="zh-CN" altLang="en-US" b="1" dirty="0"/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8" name="标题 154627"/>
          <p:cNvSpPr>
            <a:spLocks noGrp="1"/>
          </p:cNvSpPr>
          <p:nvPr>
            <p:ph type="title"/>
          </p:nvPr>
        </p:nvSpPr>
        <p:spPr>
          <a:xfrm>
            <a:off x="2195736" y="188640"/>
            <a:ext cx="5976664" cy="431800"/>
          </a:xfrm>
        </p:spPr>
        <p:txBody>
          <a:bodyPr anchor="ctr"/>
          <a:lstStyle/>
          <a:p>
            <a:pPr lvl="0"/>
            <a:r>
              <a:rPr lang="en-US" altLang="zh-CN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10.1 8237A </a:t>
            </a:r>
            <a:r>
              <a:rPr lang="zh-CN" altLang="en-US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的组成与工作原理</a:t>
            </a:r>
            <a:r>
              <a:rPr lang="en-US" altLang="zh-CN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 </a:t>
            </a:r>
            <a:endParaRPr lang="zh-CN" altLang="en-US" sz="3200" b="1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  <p:sp>
        <p:nvSpPr>
          <p:cNvPr id="154630" name="文本框 154629"/>
          <p:cNvSpPr txBox="1"/>
          <p:nvPr/>
        </p:nvSpPr>
        <p:spPr>
          <a:xfrm>
            <a:off x="611188" y="1412875"/>
            <a:ext cx="8208962" cy="4206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lvl="0" indent="-342900"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endParaRPr lang="zh-CN" altLang="en-US" sz="2400" dirty="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54632" name="矩形 154631"/>
          <p:cNvSpPr/>
          <p:nvPr/>
        </p:nvSpPr>
        <p:spPr>
          <a:xfrm>
            <a:off x="539750" y="1247249"/>
            <a:ext cx="7993063" cy="3785652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pPr>
              <a:buClr>
                <a:srgbClr val="FFFF00"/>
              </a:buClr>
              <a:buSzPct val="85000"/>
            </a:pPr>
            <a:r>
              <a:rPr lang="en-US" altLang="zh-CN" sz="2400" b="1" dirty="0">
                <a:latin typeface="Arial" panose="020B0604020202020204" pitchFamily="34" charset="0"/>
              </a:rPr>
              <a:t>8237A</a:t>
            </a:r>
            <a:r>
              <a:rPr lang="zh-CN" altLang="en-US" sz="2400" b="1" dirty="0">
                <a:latin typeface="Arial" panose="020B0604020202020204" pitchFamily="34" charset="0"/>
              </a:rPr>
              <a:t>是高性能可编程</a:t>
            </a:r>
            <a:r>
              <a:rPr lang="en-US" altLang="zh-CN" sz="2400" b="1" dirty="0">
                <a:latin typeface="Arial" panose="020B0604020202020204" pitchFamily="34" charset="0"/>
              </a:rPr>
              <a:t>DMA</a:t>
            </a:r>
            <a:r>
              <a:rPr lang="zh-CN" altLang="en-US" sz="2400" b="1" dirty="0">
                <a:latin typeface="Arial" panose="020B0604020202020204" pitchFamily="34" charset="0"/>
              </a:rPr>
              <a:t>控制器，主要特点</a:t>
            </a:r>
            <a:r>
              <a:rPr lang="en-US" altLang="zh-CN" sz="2400" b="1" dirty="0">
                <a:latin typeface="Arial" panose="020B0604020202020204" pitchFamily="34" charset="0"/>
              </a:rPr>
              <a:t>:</a:t>
            </a:r>
          </a:p>
          <a:p>
            <a:pPr marL="352425" indent="-352425" algn="just">
              <a:buClr>
                <a:srgbClr val="0000FF"/>
              </a:buClr>
              <a:buSzPct val="85000"/>
              <a:buFont typeface="Wingdings" panose="05000000000000000000" pitchFamily="2" charset="2"/>
              <a:buChar char="ü"/>
            </a:pPr>
            <a:r>
              <a:rPr lang="zh-CN" altLang="en-US" sz="2400" b="1" dirty="0">
                <a:latin typeface="Arial" panose="020B0604020202020204" pitchFamily="34" charset="0"/>
              </a:rPr>
              <a:t>含</a:t>
            </a:r>
            <a:r>
              <a:rPr lang="en-US" altLang="zh-CN" sz="2400" b="1" dirty="0">
                <a:latin typeface="Arial" panose="020B0604020202020204" pitchFamily="34" charset="0"/>
              </a:rPr>
              <a:t>4</a:t>
            </a:r>
            <a:r>
              <a:rPr lang="zh-CN" altLang="en-US" sz="2400" b="1" dirty="0">
                <a:latin typeface="Arial" panose="020B0604020202020204" pitchFamily="34" charset="0"/>
              </a:rPr>
              <a:t>个通道，每通道有</a:t>
            </a:r>
            <a:r>
              <a:rPr lang="en-US" altLang="zh-CN" sz="2400" b="1" dirty="0">
                <a:latin typeface="Arial" panose="020B0604020202020204" pitchFamily="34" charset="0"/>
              </a:rPr>
              <a:t>64K</a:t>
            </a:r>
            <a:r>
              <a:rPr lang="zh-CN" altLang="en-US" sz="2400" b="1" dirty="0">
                <a:latin typeface="Arial" panose="020B0604020202020204" pitchFamily="34" charset="0"/>
              </a:rPr>
              <a:t>地址和字节计数能力。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marL="352425" indent="-352425" algn="just">
              <a:buClr>
                <a:srgbClr val="0000FF"/>
              </a:buClr>
              <a:buSzPct val="85000"/>
              <a:buFont typeface="Wingdings" panose="05000000000000000000" pitchFamily="2" charset="2"/>
              <a:buChar char="ü"/>
            </a:pPr>
            <a:r>
              <a:rPr lang="zh-CN" altLang="en-US" sz="2400" b="1" dirty="0">
                <a:latin typeface="Arial" panose="020B0604020202020204" pitchFamily="34" charset="0"/>
              </a:rPr>
              <a:t>有</a:t>
            </a:r>
            <a:r>
              <a:rPr lang="en-US" altLang="zh-CN" sz="2400" b="1" dirty="0">
                <a:latin typeface="Arial" panose="020B0604020202020204" pitchFamily="34" charset="0"/>
              </a:rPr>
              <a:t>4</a:t>
            </a:r>
            <a:r>
              <a:rPr lang="zh-CN" altLang="en-US" sz="2400" b="1" dirty="0">
                <a:latin typeface="Arial" panose="020B0604020202020204" pitchFamily="34" charset="0"/>
              </a:rPr>
              <a:t>种传送方式：单字节传送、数据块传送、请求传送、级联传送。</a:t>
            </a:r>
          </a:p>
          <a:p>
            <a:pPr marL="352425" indent="-352425" algn="just">
              <a:buClr>
                <a:srgbClr val="0000FF"/>
              </a:buClr>
              <a:buSzPct val="85000"/>
              <a:buFont typeface="Wingdings" panose="05000000000000000000" pitchFamily="2" charset="2"/>
              <a:buChar char="ü"/>
            </a:pPr>
            <a:r>
              <a:rPr lang="zh-CN" altLang="en-US" sz="2400" b="1" dirty="0">
                <a:latin typeface="Arial" panose="020B0604020202020204" pitchFamily="34" charset="0"/>
              </a:rPr>
              <a:t>每个通道的</a:t>
            </a:r>
            <a:r>
              <a:rPr lang="en-US" altLang="zh-CN" sz="2400" b="1" dirty="0">
                <a:latin typeface="Arial" panose="020B0604020202020204" pitchFamily="34" charset="0"/>
              </a:rPr>
              <a:t>DMA</a:t>
            </a:r>
            <a:r>
              <a:rPr lang="zh-CN" altLang="en-US" sz="2400" b="1" dirty="0">
                <a:latin typeface="Arial" panose="020B0604020202020204" pitchFamily="34" charset="0"/>
              </a:rPr>
              <a:t>请求可被允许或禁止。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marL="352425" indent="-352425" algn="just">
              <a:buClr>
                <a:srgbClr val="0000FF"/>
              </a:buClr>
              <a:buSzPct val="85000"/>
              <a:buFont typeface="Wingdings" panose="05000000000000000000" pitchFamily="2" charset="2"/>
              <a:buChar char="ü"/>
            </a:pPr>
            <a:r>
              <a:rPr lang="en-US" altLang="zh-CN" sz="2400" b="1" dirty="0">
                <a:latin typeface="Arial" panose="020B0604020202020204" pitchFamily="34" charset="0"/>
              </a:rPr>
              <a:t>4</a:t>
            </a:r>
            <a:r>
              <a:rPr lang="zh-CN" altLang="en-US" sz="2400" b="1" dirty="0">
                <a:latin typeface="Arial" panose="020B0604020202020204" pitchFamily="34" charset="0"/>
              </a:rPr>
              <a:t>个通道的</a:t>
            </a:r>
            <a:r>
              <a:rPr lang="en-US" altLang="zh-CN" sz="2400" b="1" dirty="0">
                <a:latin typeface="Arial" panose="020B0604020202020204" pitchFamily="34" charset="0"/>
              </a:rPr>
              <a:t>DAM</a:t>
            </a:r>
            <a:r>
              <a:rPr lang="zh-CN" altLang="en-US" sz="2400" b="1" dirty="0">
                <a:latin typeface="Arial" panose="020B0604020202020204" pitchFamily="34" charset="0"/>
              </a:rPr>
              <a:t>请求有不同优先级，优先级可以是固定的，也可以是循环的。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marL="352425" indent="-352425" algn="just">
              <a:buClr>
                <a:srgbClr val="0000FF"/>
              </a:buClr>
              <a:buSzPct val="85000"/>
              <a:buFont typeface="Wingdings" panose="05000000000000000000" pitchFamily="2" charset="2"/>
              <a:buChar char="ü"/>
            </a:pPr>
            <a:r>
              <a:rPr lang="zh-CN" altLang="en-US" sz="2400" b="1" dirty="0">
                <a:latin typeface="Arial" panose="020B0604020202020204" pitchFamily="34" charset="0"/>
              </a:rPr>
              <a:t>任一通道完成数据传送后，会产生过程结束信号</a:t>
            </a:r>
            <a:r>
              <a:rPr lang="en-US" altLang="zh-CN" sz="2400" b="1" dirty="0">
                <a:latin typeface="Arial" panose="020B0604020202020204" pitchFamily="34" charset="0"/>
              </a:rPr>
              <a:t> EOP</a:t>
            </a:r>
            <a:r>
              <a:rPr lang="zh-CN" altLang="en-US" sz="2400" b="1" dirty="0">
                <a:latin typeface="Arial" panose="020B0604020202020204" pitchFamily="34" charset="0"/>
              </a:rPr>
              <a:t>（</a:t>
            </a:r>
            <a:r>
              <a:rPr lang="en-US" altLang="zh-CN" sz="2400" b="1" dirty="0">
                <a:latin typeface="Arial" panose="020B0604020202020204" pitchFamily="34" charset="0"/>
              </a:rPr>
              <a:t>End of Process</a:t>
            </a:r>
            <a:r>
              <a:rPr lang="zh-CN" altLang="en-US" sz="2400" b="1" dirty="0">
                <a:latin typeface="Arial" panose="020B0604020202020204" pitchFamily="34" charset="0"/>
              </a:rPr>
              <a:t>），结束</a:t>
            </a:r>
            <a:r>
              <a:rPr lang="en-US" altLang="zh-CN" sz="2400" b="1" dirty="0">
                <a:latin typeface="Arial" panose="020B0604020202020204" pitchFamily="34" charset="0"/>
              </a:rPr>
              <a:t>DMA</a:t>
            </a:r>
            <a:r>
              <a:rPr lang="zh-CN" altLang="en-US" sz="2400" b="1" dirty="0">
                <a:latin typeface="Arial" panose="020B0604020202020204" pitchFamily="34" charset="0"/>
              </a:rPr>
              <a:t>传送；还可从外界输入</a:t>
            </a:r>
            <a:r>
              <a:rPr lang="en-US" altLang="zh-CN" sz="2400" b="1" dirty="0">
                <a:latin typeface="Arial" panose="020B0604020202020204" pitchFamily="34" charset="0"/>
              </a:rPr>
              <a:t>EOP </a:t>
            </a:r>
            <a:r>
              <a:rPr lang="zh-CN" altLang="en-US" sz="2400" b="1" dirty="0">
                <a:latin typeface="Arial" panose="020B0604020202020204" pitchFamily="34" charset="0"/>
              </a:rPr>
              <a:t>信号，中止正执行的</a:t>
            </a:r>
            <a:r>
              <a:rPr lang="en-US" altLang="zh-CN" sz="2400" b="1" dirty="0">
                <a:latin typeface="Arial" panose="020B0604020202020204" pitchFamily="34" charset="0"/>
              </a:rPr>
              <a:t>DMA</a:t>
            </a:r>
            <a:r>
              <a:rPr lang="zh-CN" altLang="en-US" sz="2400" b="1" dirty="0">
                <a:latin typeface="Arial" panose="020B0604020202020204" pitchFamily="34" charset="0"/>
              </a:rPr>
              <a:t>传送。</a:t>
            </a:r>
            <a:endParaRPr lang="zh-CN" altLang="en-US" sz="3600" b="1" dirty="0">
              <a:solidFill>
                <a:srgbClr val="66FF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8" name="标题 154627"/>
          <p:cNvSpPr>
            <a:spLocks noGrp="1"/>
          </p:cNvSpPr>
          <p:nvPr>
            <p:ph type="title"/>
          </p:nvPr>
        </p:nvSpPr>
        <p:spPr>
          <a:xfrm>
            <a:off x="2195736" y="188640"/>
            <a:ext cx="5976664" cy="431800"/>
          </a:xfrm>
        </p:spPr>
        <p:txBody>
          <a:bodyPr anchor="ctr"/>
          <a:lstStyle/>
          <a:p>
            <a:pPr lvl="0"/>
            <a:r>
              <a:rPr lang="en-US" altLang="zh-CN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10.1 8237A </a:t>
            </a:r>
            <a:r>
              <a:rPr lang="zh-CN" altLang="en-US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的组成与工作原理</a:t>
            </a:r>
            <a:r>
              <a:rPr lang="en-US" altLang="zh-CN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 </a:t>
            </a:r>
            <a:endParaRPr lang="zh-CN" altLang="en-US" sz="3200" b="1" dirty="0">
              <a:solidFill>
                <a:srgbClr val="FF0000"/>
              </a:solidFill>
              <a:ea typeface="隶书" panose="02010509060101010101" pitchFamily="49" charset="-122"/>
            </a:endParaRPr>
          </a:p>
        </p:txBody>
      </p:sp>
      <p:sp>
        <p:nvSpPr>
          <p:cNvPr id="154630" name="文本框 154629"/>
          <p:cNvSpPr txBox="1"/>
          <p:nvPr/>
        </p:nvSpPr>
        <p:spPr>
          <a:xfrm>
            <a:off x="611188" y="1412875"/>
            <a:ext cx="8208962" cy="420688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lstStyle/>
          <a:p>
            <a:pPr marL="342900" lvl="0" indent="-342900">
              <a:lnSpc>
                <a:spcPct val="90000"/>
              </a:lnSpc>
              <a:spcBef>
                <a:spcPct val="50000"/>
              </a:spcBef>
              <a:buClr>
                <a:schemeClr val="hlink"/>
              </a:buClr>
              <a:buSzPct val="110000"/>
              <a:buFont typeface="Wingdings" panose="05000000000000000000" pitchFamily="2" charset="2"/>
              <a:buNone/>
            </a:pPr>
            <a:endParaRPr lang="zh-CN" altLang="en-US" sz="2400" dirty="0">
              <a:solidFill>
                <a:srgbClr val="000000"/>
              </a:solidFill>
              <a:latin typeface="Tahom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54632" name="矩形 154631"/>
          <p:cNvSpPr/>
          <p:nvPr/>
        </p:nvSpPr>
        <p:spPr>
          <a:xfrm>
            <a:off x="539750" y="1062582"/>
            <a:ext cx="7993063" cy="4154984"/>
          </a:xfrm>
          <a:prstGeom prst="rect">
            <a:avLst/>
          </a:prstGeom>
          <a:noFill/>
          <a:ln w="9525">
            <a:noFill/>
          </a:ln>
        </p:spPr>
        <p:txBody>
          <a:bodyPr anchor="ctr">
            <a:spAutoFit/>
          </a:bodyPr>
          <a:lstStyle/>
          <a:p>
            <a:pPr>
              <a:buClr>
                <a:srgbClr val="FFFF00"/>
              </a:buClr>
              <a:buSzPct val="85000"/>
            </a:pPr>
            <a:r>
              <a:rPr lang="en-US" altLang="zh-CN" sz="2400" b="1" dirty="0">
                <a:latin typeface="Arial" panose="020B0604020202020204" pitchFamily="34" charset="0"/>
              </a:rPr>
              <a:t>8237A</a:t>
            </a:r>
            <a:r>
              <a:rPr lang="zh-CN" altLang="en-US" sz="2400" b="1" dirty="0">
                <a:latin typeface="Arial" panose="020B0604020202020204" pitchFamily="34" charset="0"/>
              </a:rPr>
              <a:t>两种工作状态</a:t>
            </a:r>
            <a:r>
              <a:rPr lang="en-US" altLang="zh-CN" sz="2400" b="1" dirty="0">
                <a:latin typeface="Arial" panose="020B0604020202020204" pitchFamily="34" charset="0"/>
              </a:rPr>
              <a:t>:</a:t>
            </a:r>
          </a:p>
          <a:p>
            <a:pPr algn="just"/>
            <a:r>
              <a:rPr lang="en-US" altLang="zh-CN" sz="2400" b="1" dirty="0">
                <a:latin typeface="Arial" panose="020B0604020202020204" pitchFamily="34" charset="0"/>
              </a:rPr>
              <a:t>1</a:t>
            </a:r>
            <a:r>
              <a:rPr lang="zh-CN" altLang="en-US" sz="2400" b="1" dirty="0">
                <a:latin typeface="Arial" panose="020B0604020202020204" pitchFamily="34" charset="0"/>
              </a:rPr>
              <a:t>）开始</a:t>
            </a:r>
            <a:r>
              <a:rPr lang="en-US" altLang="zh-CN" sz="2400" b="1" dirty="0">
                <a:latin typeface="Arial" panose="020B0604020202020204" pitchFamily="34" charset="0"/>
              </a:rPr>
              <a:t>DMA</a:t>
            </a:r>
            <a:r>
              <a:rPr lang="zh-CN" altLang="en-US" sz="2400" b="1" dirty="0">
                <a:latin typeface="Arial" panose="020B0604020202020204" pitchFamily="34" charset="0"/>
              </a:rPr>
              <a:t>传送前，</a:t>
            </a:r>
            <a:r>
              <a:rPr lang="en-US" altLang="zh-CN" sz="2400" b="1" dirty="0">
                <a:latin typeface="Arial" panose="020B0604020202020204" pitchFamily="34" charset="0"/>
              </a:rPr>
              <a:t>8237A</a:t>
            </a:r>
            <a:r>
              <a:rPr lang="zh-CN" altLang="en-US" sz="2400" b="1" dirty="0">
                <a:latin typeface="Arial" panose="020B0604020202020204" pitchFamily="34" charset="0"/>
              </a:rPr>
              <a:t>是系统总线的从属设备，由</a:t>
            </a:r>
            <a:r>
              <a:rPr lang="en-US" altLang="zh-CN" sz="2400" b="1" dirty="0">
                <a:latin typeface="Arial" panose="020B0604020202020204" pitchFamily="34" charset="0"/>
              </a:rPr>
              <a:t>CPU</a:t>
            </a:r>
            <a:r>
              <a:rPr lang="zh-CN" altLang="en-US" sz="2400" b="1" dirty="0">
                <a:latin typeface="Arial" panose="020B0604020202020204" pitchFamily="34" charset="0"/>
              </a:rPr>
              <a:t>对它进行编程，如指定通道、传送方式和类型、内存单元起始地址、地址是递增还是递减以及要传送的总字节数等等，</a:t>
            </a:r>
            <a:r>
              <a:rPr lang="en-US" altLang="zh-CN" sz="2400" b="1" dirty="0">
                <a:latin typeface="Arial" panose="020B0604020202020204" pitchFamily="34" charset="0"/>
              </a:rPr>
              <a:t>CPU</a:t>
            </a:r>
            <a:r>
              <a:rPr lang="zh-CN" altLang="en-US" sz="2400" b="1" dirty="0">
                <a:latin typeface="Arial" panose="020B0604020202020204" pitchFamily="34" charset="0"/>
              </a:rPr>
              <a:t>也可读取</a:t>
            </a:r>
            <a:r>
              <a:rPr lang="en-US" altLang="zh-CN" sz="2400" b="1" dirty="0">
                <a:latin typeface="Arial" panose="020B0604020202020204" pitchFamily="34" charset="0"/>
              </a:rPr>
              <a:t>DMAC</a:t>
            </a:r>
            <a:r>
              <a:rPr lang="zh-CN" altLang="en-US" sz="2400" b="1" dirty="0">
                <a:latin typeface="Arial" panose="020B0604020202020204" pitchFamily="34" charset="0"/>
              </a:rPr>
              <a:t>的状态。</a:t>
            </a:r>
          </a:p>
          <a:p>
            <a:pPr marL="547688" indent="-547688" algn="just">
              <a:buNone/>
            </a:pPr>
            <a:r>
              <a:rPr lang="en-US" altLang="zh-CN" sz="2400" b="1" dirty="0">
                <a:latin typeface="Arial" panose="020B0604020202020204" pitchFamily="34" charset="0"/>
              </a:rPr>
              <a:t>2</a:t>
            </a:r>
            <a:r>
              <a:rPr lang="zh-CN" altLang="en-US" sz="2400" b="1" dirty="0">
                <a:latin typeface="Arial" panose="020B0604020202020204" pitchFamily="34" charset="0"/>
              </a:rPr>
              <a:t>）主态方式</a:t>
            </a:r>
            <a:endParaRPr lang="en-US" altLang="zh-CN" sz="2400" b="1" dirty="0">
              <a:latin typeface="Arial" panose="020B0604020202020204" pitchFamily="34" charset="0"/>
            </a:endParaRPr>
          </a:p>
          <a:p>
            <a:pPr algn="just"/>
            <a:r>
              <a:rPr lang="zh-CN" altLang="en-US" sz="2400" b="1" dirty="0">
                <a:latin typeface="Arial" panose="020B0604020202020204" pitchFamily="34" charset="0"/>
              </a:rPr>
              <a:t>当</a:t>
            </a:r>
            <a:r>
              <a:rPr lang="en-US" altLang="zh-CN" sz="2400" b="1" dirty="0">
                <a:latin typeface="Arial" panose="020B0604020202020204" pitchFamily="34" charset="0"/>
              </a:rPr>
              <a:t>8237A</a:t>
            </a:r>
            <a:r>
              <a:rPr lang="zh-CN" altLang="en-US" sz="2400" b="1" dirty="0">
                <a:latin typeface="Arial" panose="020B0604020202020204" pitchFamily="34" charset="0"/>
              </a:rPr>
              <a:t>取得总线控制权后，它就完全控制了系统，使</a:t>
            </a:r>
            <a:r>
              <a:rPr lang="en-US" altLang="zh-CN" sz="2400" b="1" dirty="0">
                <a:latin typeface="Arial" panose="020B0604020202020204" pitchFamily="34" charset="0"/>
              </a:rPr>
              <a:t>I/O</a:t>
            </a:r>
            <a:r>
              <a:rPr lang="zh-CN" altLang="en-US" sz="2400" b="1" dirty="0">
                <a:latin typeface="Arial" panose="020B0604020202020204" pitchFamily="34" charset="0"/>
              </a:rPr>
              <a:t>设备和存储器之间或者存储器与存储器之间进行直接的数据传送。</a:t>
            </a:r>
          </a:p>
          <a:p>
            <a:pPr algn="just">
              <a:buFont typeface="Wingdings 3" pitchFamily="18" charset="2"/>
              <a:buChar char="u"/>
            </a:pPr>
            <a:r>
              <a:rPr lang="en-US" altLang="zh-CN" sz="2400" b="1" dirty="0">
                <a:latin typeface="Arial" panose="020B0604020202020204" pitchFamily="34" charset="0"/>
              </a:rPr>
              <a:t>8237A</a:t>
            </a:r>
            <a:r>
              <a:rPr lang="zh-CN" altLang="en-US" sz="2400" b="1" dirty="0">
                <a:latin typeface="Arial" panose="020B0604020202020204" pitchFamily="34" charset="0"/>
              </a:rPr>
              <a:t>芯片的内部结构和外部连接与这两种工作状态密切相关。</a:t>
            </a:r>
          </a:p>
        </p:txBody>
      </p:sp>
    </p:spTree>
    <p:extLst>
      <p:ext uri="{BB962C8B-B14F-4D97-AF65-F5344CB8AC3E}">
        <p14:creationId xmlns:p14="http://schemas.microsoft.com/office/powerpoint/2010/main" val="10624675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标题 154627">
            <a:extLst>
              <a:ext uri="{FF2B5EF4-FFF2-40B4-BE49-F238E27FC236}">
                <a16:creationId xmlns:a16="http://schemas.microsoft.com/office/drawing/2014/main" id="{D3C745FA-CBD5-4C23-A3B9-C4D2BE57F8E7}"/>
              </a:ext>
            </a:extLst>
          </p:cNvPr>
          <p:cNvSpPr txBox="1">
            <a:spLocks/>
          </p:cNvSpPr>
          <p:nvPr/>
        </p:nvSpPr>
        <p:spPr>
          <a:xfrm>
            <a:off x="2195736" y="188640"/>
            <a:ext cx="5976664" cy="431800"/>
          </a:xfrm>
        </p:spPr>
        <p:txBody>
          <a:bodyPr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10.1.1 8237A </a:t>
            </a:r>
            <a:r>
              <a:rPr lang="zh-CN" altLang="en-US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的内部结构</a:t>
            </a:r>
          </a:p>
        </p:txBody>
      </p:sp>
      <p:pic>
        <p:nvPicPr>
          <p:cNvPr id="21" name="Picture 1">
            <a:extLst>
              <a:ext uri="{FF2B5EF4-FFF2-40B4-BE49-F238E27FC236}">
                <a16:creationId xmlns:a16="http://schemas.microsoft.com/office/drawing/2014/main" id="{C23C256B-B748-42DE-A02A-AF89DC894D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79499" y="1223755"/>
            <a:ext cx="8385001" cy="44104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标题 154627">
            <a:extLst>
              <a:ext uri="{FF2B5EF4-FFF2-40B4-BE49-F238E27FC236}">
                <a16:creationId xmlns:a16="http://schemas.microsoft.com/office/drawing/2014/main" id="{D3C745FA-CBD5-4C23-A3B9-C4D2BE57F8E7}"/>
              </a:ext>
            </a:extLst>
          </p:cNvPr>
          <p:cNvSpPr txBox="1">
            <a:spLocks/>
          </p:cNvSpPr>
          <p:nvPr/>
        </p:nvSpPr>
        <p:spPr>
          <a:xfrm>
            <a:off x="2195736" y="188640"/>
            <a:ext cx="5976664" cy="431800"/>
          </a:xfrm>
        </p:spPr>
        <p:txBody>
          <a:bodyPr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10.1.1 8237A </a:t>
            </a:r>
            <a:r>
              <a:rPr lang="zh-CN" altLang="en-US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的内部结构</a:t>
            </a:r>
          </a:p>
        </p:txBody>
      </p:sp>
      <p:pic>
        <p:nvPicPr>
          <p:cNvPr id="21" name="Picture 1">
            <a:extLst>
              <a:ext uri="{FF2B5EF4-FFF2-40B4-BE49-F238E27FC236}">
                <a16:creationId xmlns:a16="http://schemas.microsoft.com/office/drawing/2014/main" id="{C23C256B-B748-42DE-A02A-AF89DC894D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496" y="1223755"/>
            <a:ext cx="6519765" cy="34293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D47C0B57-8D77-4D1F-A81C-17369DA35E86}"/>
              </a:ext>
            </a:extLst>
          </p:cNvPr>
          <p:cNvSpPr txBox="1"/>
          <p:nvPr/>
        </p:nvSpPr>
        <p:spPr>
          <a:xfrm>
            <a:off x="6444208" y="1412776"/>
            <a:ext cx="2664296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47688" indent="-547688" algn="just">
              <a:buNone/>
            </a:pPr>
            <a:r>
              <a:rPr lang="en-US" altLang="zh-CN" sz="2400" dirty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1. </a:t>
            </a:r>
            <a:r>
              <a:rPr lang="zh-CN" altLang="en-US" sz="2400" dirty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时序与控制逻辑</a:t>
            </a:r>
          </a:p>
          <a:p>
            <a:pPr marL="268288" indent="-268288" algn="just">
              <a:buFont typeface="Wingdings" pitchFamily="2" charset="2"/>
              <a:buChar char="Ø"/>
            </a:pP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从态时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, 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接收系统时钟、复位、片选和读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/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写等信号，完成相应控制操作；</a:t>
            </a:r>
            <a:endParaRPr lang="en-US" altLang="zh-CN" sz="2400" dirty="0"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  <a:p>
            <a:pPr marL="268288" indent="-268288" algn="just">
              <a:buFont typeface="Wingdings" pitchFamily="2" charset="2"/>
              <a:buChar char="Ø"/>
            </a:pP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主态时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,  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向系统发控制信号。</a:t>
            </a:r>
          </a:p>
        </p:txBody>
      </p:sp>
    </p:spTree>
    <p:extLst>
      <p:ext uri="{BB962C8B-B14F-4D97-AF65-F5344CB8AC3E}">
        <p14:creationId xmlns:p14="http://schemas.microsoft.com/office/powerpoint/2010/main" val="11594930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标题 154627">
            <a:extLst>
              <a:ext uri="{FF2B5EF4-FFF2-40B4-BE49-F238E27FC236}">
                <a16:creationId xmlns:a16="http://schemas.microsoft.com/office/drawing/2014/main" id="{D3C745FA-CBD5-4C23-A3B9-C4D2BE57F8E7}"/>
              </a:ext>
            </a:extLst>
          </p:cNvPr>
          <p:cNvSpPr txBox="1">
            <a:spLocks/>
          </p:cNvSpPr>
          <p:nvPr/>
        </p:nvSpPr>
        <p:spPr>
          <a:xfrm>
            <a:off x="2195736" y="188640"/>
            <a:ext cx="5976664" cy="431800"/>
          </a:xfrm>
        </p:spPr>
        <p:txBody>
          <a:bodyPr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10.1.1 8237A </a:t>
            </a:r>
            <a:r>
              <a:rPr lang="zh-CN" altLang="en-US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的内部结构</a:t>
            </a:r>
          </a:p>
        </p:txBody>
      </p:sp>
      <p:pic>
        <p:nvPicPr>
          <p:cNvPr id="21" name="Picture 1">
            <a:extLst>
              <a:ext uri="{FF2B5EF4-FFF2-40B4-BE49-F238E27FC236}">
                <a16:creationId xmlns:a16="http://schemas.microsoft.com/office/drawing/2014/main" id="{C23C256B-B748-42DE-A02A-AF89DC894D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496" y="1223755"/>
            <a:ext cx="6519765" cy="34293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D47C0B57-8D77-4D1F-A81C-17369DA35E86}"/>
              </a:ext>
            </a:extLst>
          </p:cNvPr>
          <p:cNvSpPr txBox="1"/>
          <p:nvPr/>
        </p:nvSpPr>
        <p:spPr>
          <a:xfrm>
            <a:off x="6444208" y="1412776"/>
            <a:ext cx="2664296" cy="41549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47688" indent="-547688" algn="just">
              <a:buNone/>
            </a:pPr>
            <a:r>
              <a:rPr lang="en-US" altLang="zh-CN" sz="2400" dirty="0">
                <a:solidFill>
                  <a:srgbClr val="FF00FF"/>
                </a:solidFill>
                <a:latin typeface="+mn-lt"/>
              </a:rPr>
              <a:t>2. </a:t>
            </a:r>
            <a:r>
              <a:rPr lang="zh-CN" altLang="en-US" sz="2400" dirty="0">
                <a:solidFill>
                  <a:srgbClr val="FF00FF"/>
                </a:solidFill>
                <a:latin typeface="+mn-lt"/>
              </a:rPr>
              <a:t>优先级编码电路</a:t>
            </a:r>
          </a:p>
          <a:p>
            <a:pPr marL="268288" indent="-268288" algn="just">
              <a:buFont typeface="Wingdings" pitchFamily="2" charset="2"/>
              <a:buChar char="Ø"/>
            </a:pP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对同时提出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DMA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请求的多个通道进行排队判优，决定哪个通道优先级最高。</a:t>
            </a:r>
            <a:endParaRPr lang="en-US" altLang="zh-CN" sz="2400" dirty="0"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  <a:p>
            <a:pPr marL="268288" indent="-268288" algn="just">
              <a:buFont typeface="Wingdings" pitchFamily="2" charset="2"/>
              <a:buChar char="Ø"/>
            </a:pP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可选固定或循环优先级。某个优先级高的设备服务时，禁止其它通道请求。</a:t>
            </a:r>
          </a:p>
        </p:txBody>
      </p:sp>
    </p:spTree>
    <p:extLst>
      <p:ext uri="{BB962C8B-B14F-4D97-AF65-F5344CB8AC3E}">
        <p14:creationId xmlns:p14="http://schemas.microsoft.com/office/powerpoint/2010/main" val="31292443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标题 154627">
            <a:extLst>
              <a:ext uri="{FF2B5EF4-FFF2-40B4-BE49-F238E27FC236}">
                <a16:creationId xmlns:a16="http://schemas.microsoft.com/office/drawing/2014/main" id="{D3C745FA-CBD5-4C23-A3B9-C4D2BE57F8E7}"/>
              </a:ext>
            </a:extLst>
          </p:cNvPr>
          <p:cNvSpPr txBox="1">
            <a:spLocks/>
          </p:cNvSpPr>
          <p:nvPr/>
        </p:nvSpPr>
        <p:spPr>
          <a:xfrm>
            <a:off x="2195736" y="188640"/>
            <a:ext cx="5976664" cy="431800"/>
          </a:xfrm>
        </p:spPr>
        <p:txBody>
          <a:bodyPr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10.1.1 8237A </a:t>
            </a:r>
            <a:r>
              <a:rPr lang="zh-CN" altLang="en-US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的内部结构</a:t>
            </a:r>
          </a:p>
        </p:txBody>
      </p:sp>
      <p:pic>
        <p:nvPicPr>
          <p:cNvPr id="21" name="Picture 1">
            <a:extLst>
              <a:ext uri="{FF2B5EF4-FFF2-40B4-BE49-F238E27FC236}">
                <a16:creationId xmlns:a16="http://schemas.microsoft.com/office/drawing/2014/main" id="{C23C256B-B748-42DE-A02A-AF89DC894D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496" y="1223755"/>
            <a:ext cx="6519765" cy="34293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D47C0B57-8D77-4D1F-A81C-17369DA35E86}"/>
              </a:ext>
            </a:extLst>
          </p:cNvPr>
          <p:cNvSpPr txBox="1"/>
          <p:nvPr/>
        </p:nvSpPr>
        <p:spPr>
          <a:xfrm>
            <a:off x="6444208" y="1412776"/>
            <a:ext cx="2664296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47688" indent="-547688" algn="just">
              <a:buNone/>
            </a:pPr>
            <a:r>
              <a:rPr lang="en-US" altLang="zh-CN" sz="2400" dirty="0">
                <a:solidFill>
                  <a:srgbClr val="FF00FF"/>
                </a:solidFill>
                <a:latin typeface="+mn-lt"/>
              </a:rPr>
              <a:t>3. </a:t>
            </a:r>
            <a:r>
              <a:rPr lang="zh-CN" altLang="en-US" sz="2400" dirty="0">
                <a:solidFill>
                  <a:srgbClr val="FF00FF"/>
                </a:solidFill>
                <a:latin typeface="+mn-lt"/>
              </a:rPr>
              <a:t>数据和地址缓冲器组</a:t>
            </a:r>
          </a:p>
          <a:p>
            <a:pPr marL="268288" indent="-268288" algn="just">
              <a:buFont typeface="Wingdings" pitchFamily="2" charset="2"/>
              <a:buChar char="Ø"/>
            </a:pP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8237A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的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A</a:t>
            </a:r>
            <a:r>
              <a:rPr lang="en-US" altLang="zh-CN" sz="2400" baseline="-25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7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~A</a:t>
            </a:r>
            <a:r>
              <a:rPr lang="en-US" altLang="zh-CN" sz="2400" baseline="-25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4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、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A</a:t>
            </a:r>
            <a:r>
              <a:rPr lang="en-US" altLang="zh-CN" sz="2400" baseline="-25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3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~A</a:t>
            </a:r>
            <a:r>
              <a:rPr lang="en-US" altLang="zh-CN" sz="2400" baseline="-25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0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为地址线；</a:t>
            </a:r>
            <a:endParaRPr lang="en-US" altLang="zh-CN" sz="2400" dirty="0"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  <a:p>
            <a:pPr marL="268288" indent="-268288" algn="just">
              <a:buFont typeface="Wingdings" pitchFamily="2" charset="2"/>
              <a:buChar char="Ø"/>
            </a:pP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DB</a:t>
            </a:r>
            <a:r>
              <a:rPr lang="en-US" altLang="zh-CN" sz="2400" baseline="-25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7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~DB</a:t>
            </a:r>
            <a:r>
              <a:rPr lang="en-US" altLang="zh-CN" sz="2400" baseline="-25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0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在从态时传输数据，主态时传送地址。它们都与三态缓冲器相连，便于接管或释放。</a:t>
            </a:r>
          </a:p>
        </p:txBody>
      </p:sp>
    </p:spTree>
    <p:extLst>
      <p:ext uri="{BB962C8B-B14F-4D97-AF65-F5344CB8AC3E}">
        <p14:creationId xmlns:p14="http://schemas.microsoft.com/office/powerpoint/2010/main" val="18378985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标题 154627">
            <a:extLst>
              <a:ext uri="{FF2B5EF4-FFF2-40B4-BE49-F238E27FC236}">
                <a16:creationId xmlns:a16="http://schemas.microsoft.com/office/drawing/2014/main" id="{D3C745FA-CBD5-4C23-A3B9-C4D2BE57F8E7}"/>
              </a:ext>
            </a:extLst>
          </p:cNvPr>
          <p:cNvSpPr txBox="1">
            <a:spLocks/>
          </p:cNvSpPr>
          <p:nvPr/>
        </p:nvSpPr>
        <p:spPr>
          <a:xfrm>
            <a:off x="2195736" y="188640"/>
            <a:ext cx="5976664" cy="431800"/>
          </a:xfrm>
        </p:spPr>
        <p:txBody>
          <a:bodyPr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10.1.1 8237A </a:t>
            </a:r>
            <a:r>
              <a:rPr lang="zh-CN" altLang="en-US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的内部结构</a:t>
            </a:r>
          </a:p>
        </p:txBody>
      </p:sp>
      <p:pic>
        <p:nvPicPr>
          <p:cNvPr id="21" name="Picture 1">
            <a:extLst>
              <a:ext uri="{FF2B5EF4-FFF2-40B4-BE49-F238E27FC236}">
                <a16:creationId xmlns:a16="http://schemas.microsoft.com/office/drawing/2014/main" id="{C23C256B-B748-42DE-A02A-AF89DC894D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496" y="1223755"/>
            <a:ext cx="6519765" cy="34293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D47C0B57-8D77-4D1F-A81C-17369DA35E86}"/>
              </a:ext>
            </a:extLst>
          </p:cNvPr>
          <p:cNvSpPr txBox="1"/>
          <p:nvPr/>
        </p:nvSpPr>
        <p:spPr>
          <a:xfrm>
            <a:off x="6444208" y="1412776"/>
            <a:ext cx="266429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47688" indent="-547688">
              <a:buNone/>
            </a:pPr>
            <a:r>
              <a:rPr lang="en-US" altLang="zh-CN" sz="2400" dirty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4.</a:t>
            </a:r>
            <a:r>
              <a:rPr lang="zh-CN" altLang="en-US" sz="2400" dirty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命令控制逻辑</a:t>
            </a:r>
          </a:p>
          <a:p>
            <a:pPr marL="361950" indent="-361950" algn="just">
              <a:buFont typeface="Wingdings" pitchFamily="2" charset="2"/>
              <a:buChar char="Ø"/>
              <a:tabLst>
                <a:tab pos="273050" algn="l"/>
              </a:tabLst>
            </a:pP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从态时接收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CPU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送来的寄存器选择信号（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A</a:t>
            </a:r>
            <a:r>
              <a:rPr lang="en-US" altLang="zh-CN" sz="2400" baseline="-25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3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~A</a:t>
            </a:r>
            <a:r>
              <a:rPr lang="en-US" altLang="zh-CN" sz="2400" baseline="-25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0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），选择寄存器；</a:t>
            </a:r>
            <a:endParaRPr lang="en-US" altLang="zh-CN" sz="2400" dirty="0"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  <a:p>
            <a:pPr marL="361950" indent="-361950" algn="just">
              <a:buFont typeface="Wingdings" pitchFamily="2" charset="2"/>
              <a:buChar char="Ø"/>
              <a:tabLst>
                <a:tab pos="273050" algn="l"/>
              </a:tabLst>
            </a:pP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主态时译码方式字的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sz="2400" baseline="-25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sz="2400" baseline="-25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0</a:t>
            </a:r>
            <a:r>
              <a:rPr lang="zh-CN" altLang="en-US" sz="2400" baseline="-25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，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以确定操作类型。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A</a:t>
            </a:r>
            <a:r>
              <a:rPr lang="en-US" altLang="zh-CN" sz="2400" baseline="-25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3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~A</a:t>
            </a:r>
            <a:r>
              <a:rPr lang="en-US" altLang="zh-CN" sz="2400" baseline="-25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0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与 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IOR</a:t>
            </a:r>
            <a:r>
              <a:rPr lang="zh-CN" altLang="en-US" sz="2400" dirty="0">
                <a:ea typeface="楷体_GB2312" pitchFamily="49" charset="-122"/>
                <a:cs typeface="Times New Roman" pitchFamily="18" charset="0"/>
              </a:rPr>
              <a:t>、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IOW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配合组成各种操作命令。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9E0017E1-7034-4ECC-8A31-2268ABA56633}"/>
              </a:ext>
            </a:extLst>
          </p:cNvPr>
          <p:cNvCxnSpPr/>
          <p:nvPr/>
        </p:nvCxnSpPr>
        <p:spPr>
          <a:xfrm>
            <a:off x="8172400" y="4797152"/>
            <a:ext cx="4320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8F9B06FD-7E9D-4A0A-B11C-1C7091CDABA1}"/>
              </a:ext>
            </a:extLst>
          </p:cNvPr>
          <p:cNvCxnSpPr/>
          <p:nvPr/>
        </p:nvCxnSpPr>
        <p:spPr>
          <a:xfrm>
            <a:off x="6948264" y="5157192"/>
            <a:ext cx="4320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7958036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标题 154627">
            <a:extLst>
              <a:ext uri="{FF2B5EF4-FFF2-40B4-BE49-F238E27FC236}">
                <a16:creationId xmlns:a16="http://schemas.microsoft.com/office/drawing/2014/main" id="{D3C745FA-CBD5-4C23-A3B9-C4D2BE57F8E7}"/>
              </a:ext>
            </a:extLst>
          </p:cNvPr>
          <p:cNvSpPr txBox="1">
            <a:spLocks/>
          </p:cNvSpPr>
          <p:nvPr/>
        </p:nvSpPr>
        <p:spPr>
          <a:xfrm>
            <a:off x="2195736" y="188640"/>
            <a:ext cx="5976664" cy="431800"/>
          </a:xfrm>
        </p:spPr>
        <p:txBody>
          <a:bodyPr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10.1.1 8237A </a:t>
            </a:r>
            <a:r>
              <a:rPr lang="zh-CN" altLang="en-US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的内部结构</a:t>
            </a:r>
          </a:p>
        </p:txBody>
      </p:sp>
      <p:pic>
        <p:nvPicPr>
          <p:cNvPr id="21" name="Picture 1">
            <a:extLst>
              <a:ext uri="{FF2B5EF4-FFF2-40B4-BE49-F238E27FC236}">
                <a16:creationId xmlns:a16="http://schemas.microsoft.com/office/drawing/2014/main" id="{C23C256B-B748-42DE-A02A-AF89DC894D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496" y="1223755"/>
            <a:ext cx="6519765" cy="34293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D47C0B57-8D77-4D1F-A81C-17369DA35E86}"/>
              </a:ext>
            </a:extLst>
          </p:cNvPr>
          <p:cNvSpPr txBox="1"/>
          <p:nvPr/>
        </p:nvSpPr>
        <p:spPr>
          <a:xfrm>
            <a:off x="6479704" y="980728"/>
            <a:ext cx="2664296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47688" indent="-547688">
              <a:buNone/>
            </a:pPr>
            <a:r>
              <a:rPr lang="en-US" altLang="zh-CN" sz="2200" dirty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5.</a:t>
            </a:r>
            <a:r>
              <a:rPr lang="zh-CN" altLang="en-US" sz="2200" dirty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内部寄存器组</a:t>
            </a:r>
          </a:p>
          <a:p>
            <a:pPr marL="361950" indent="-361950" algn="just">
              <a:buFont typeface="Wingdings" pitchFamily="2" charset="2"/>
              <a:buChar char="Ø"/>
            </a:pPr>
            <a:r>
              <a:rPr lang="zh-CN" altLang="en-US" sz="22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每通道有</a:t>
            </a:r>
            <a:r>
              <a:rPr lang="en-US" altLang="zh-CN" sz="22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16</a:t>
            </a:r>
            <a:r>
              <a:rPr lang="zh-CN" altLang="en-US" sz="22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位基址寄存器、基字计数器、当前地址寄存器、当前字计数器以及</a:t>
            </a:r>
            <a:r>
              <a:rPr lang="en-US" altLang="zh-CN" sz="22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6</a:t>
            </a:r>
            <a:r>
              <a:rPr lang="zh-CN" altLang="en-US" sz="22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位工作方式寄存器。</a:t>
            </a:r>
            <a:endParaRPr lang="en-US" altLang="zh-CN" sz="2200" dirty="0"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  <a:p>
            <a:pPr marL="361950" indent="-361950" algn="just">
              <a:buFont typeface="Wingdings" pitchFamily="2" charset="2"/>
              <a:buChar char="Ø"/>
            </a:pPr>
            <a:r>
              <a:rPr lang="zh-CN" altLang="en-US" sz="22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片内还有命令寄存器、屏蔽寄存器、请求寄存器、状态寄存器和暂存寄存器。</a:t>
            </a:r>
            <a:endParaRPr lang="en-US" altLang="zh-CN" sz="2200" dirty="0"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  <a:p>
            <a:pPr marL="361950" indent="-361950" algn="just">
              <a:buFont typeface="Wingdings" pitchFamily="2" charset="2"/>
              <a:buChar char="Ø"/>
            </a:pPr>
            <a:r>
              <a:rPr lang="zh-CN" altLang="en-US" sz="22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不可编程的字数暂存器和地址暂存器。</a:t>
            </a:r>
          </a:p>
        </p:txBody>
      </p:sp>
    </p:spTree>
    <p:extLst>
      <p:ext uri="{BB962C8B-B14F-4D97-AF65-F5344CB8AC3E}">
        <p14:creationId xmlns:p14="http://schemas.microsoft.com/office/powerpoint/2010/main" val="35344544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标题 154627">
            <a:extLst>
              <a:ext uri="{FF2B5EF4-FFF2-40B4-BE49-F238E27FC236}">
                <a16:creationId xmlns:a16="http://schemas.microsoft.com/office/drawing/2014/main" id="{D3C745FA-CBD5-4C23-A3B9-C4D2BE57F8E7}"/>
              </a:ext>
            </a:extLst>
          </p:cNvPr>
          <p:cNvSpPr txBox="1">
            <a:spLocks/>
          </p:cNvSpPr>
          <p:nvPr/>
        </p:nvSpPr>
        <p:spPr>
          <a:xfrm>
            <a:off x="2195736" y="188640"/>
            <a:ext cx="5976664" cy="431800"/>
          </a:xfrm>
        </p:spPr>
        <p:txBody>
          <a:bodyPr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10.1.2 8237A </a:t>
            </a:r>
            <a:r>
              <a:rPr lang="zh-CN" altLang="en-US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的引脚</a:t>
            </a:r>
          </a:p>
        </p:txBody>
      </p:sp>
      <p:pic>
        <p:nvPicPr>
          <p:cNvPr id="4" name="Picture 1">
            <a:extLst>
              <a:ext uri="{FF2B5EF4-FFF2-40B4-BE49-F238E27FC236}">
                <a16:creationId xmlns:a16="http://schemas.microsoft.com/office/drawing/2014/main" id="{86710F6E-3053-4246-88BD-44CB315528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627" y="1052736"/>
            <a:ext cx="4345895" cy="51845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3E123DBC-6E70-4B70-9904-B2E2BAE127BF}"/>
              </a:ext>
            </a:extLst>
          </p:cNvPr>
          <p:cNvSpPr txBox="1"/>
          <p:nvPr/>
        </p:nvSpPr>
        <p:spPr>
          <a:xfrm>
            <a:off x="4427984" y="836712"/>
            <a:ext cx="453650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47688" indent="-547688">
              <a:buNone/>
            </a:pPr>
            <a:r>
              <a:rPr lang="en-US" altLang="zh-CN" sz="2400" dirty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1. CLK  </a:t>
            </a:r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时钟信号，输入</a:t>
            </a:r>
          </a:p>
          <a:p>
            <a:pPr marL="342900" indent="-342900"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8237A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时钟频率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3MHz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，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8237A-5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为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5MHz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。</a:t>
            </a:r>
          </a:p>
          <a:p>
            <a:pPr marL="547688" indent="-547688">
              <a:buNone/>
            </a:pPr>
            <a:r>
              <a:rPr lang="en-US" altLang="zh-CN" sz="2400" dirty="0">
                <a:solidFill>
                  <a:srgbClr val="FF00FF"/>
                </a:solidFill>
                <a:latin typeface="+mn-lt"/>
              </a:rPr>
              <a:t>2. CS</a:t>
            </a:r>
            <a:r>
              <a:rPr lang="zh-CN" altLang="en-US" sz="2400" dirty="0">
                <a:latin typeface="+mn-lt"/>
              </a:rPr>
              <a:t>片选信号，输入，低电平有效</a:t>
            </a:r>
          </a:p>
          <a:p>
            <a:pPr marL="342900" indent="-342900"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从态方式下选中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8237A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，接受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CPU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对它的编程等。</a:t>
            </a:r>
            <a:endParaRPr lang="en-US" altLang="zh-CN" sz="2400" dirty="0"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  <a:p>
            <a:pPr marL="547688" indent="-547688">
              <a:buNone/>
            </a:pPr>
            <a:r>
              <a:rPr lang="en-US" altLang="zh-CN" sz="2400" dirty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3. READY 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zh-CN" altLang="en-US" sz="2400" dirty="0">
                <a:latin typeface="+mn-lt"/>
              </a:rPr>
              <a:t>准备好，输入，高电平有效</a:t>
            </a:r>
          </a:p>
          <a:p>
            <a:pPr marL="342900" indent="-342900" algn="just"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慢速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I/O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设备或存储器参与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DMA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传送时，可使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READY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变低，让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8237A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在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DMA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周期中插入等待周期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T</a:t>
            </a:r>
            <a:r>
              <a:rPr lang="en-US" altLang="zh-CN" sz="2400" baseline="-25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W</a:t>
            </a:r>
            <a:r>
              <a:rPr lang="zh-CN" altLang="en-US" sz="2400" baseline="-25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；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当它们准备就绪时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READY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变高。</a:t>
            </a:r>
          </a:p>
          <a:p>
            <a:pPr marL="0" indent="0">
              <a:buFont typeface="Wingdings" pitchFamily="2" charset="2"/>
              <a:buChar char="Ø"/>
            </a:pPr>
            <a:endParaRPr lang="zh-CN" altLang="en-US" sz="2400" dirty="0"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D9797ECD-6DEF-448D-A71E-0B8D86AB8F3E}"/>
              </a:ext>
            </a:extLst>
          </p:cNvPr>
          <p:cNvCxnSpPr/>
          <p:nvPr/>
        </p:nvCxnSpPr>
        <p:spPr>
          <a:xfrm>
            <a:off x="4860032" y="2022748"/>
            <a:ext cx="432048" cy="0"/>
          </a:xfrm>
          <a:prstGeom prst="line">
            <a:avLst/>
          </a:prstGeom>
          <a:ln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8283685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标题 154627">
            <a:extLst>
              <a:ext uri="{FF2B5EF4-FFF2-40B4-BE49-F238E27FC236}">
                <a16:creationId xmlns:a16="http://schemas.microsoft.com/office/drawing/2014/main" id="{D3C745FA-CBD5-4C23-A3B9-C4D2BE57F8E7}"/>
              </a:ext>
            </a:extLst>
          </p:cNvPr>
          <p:cNvSpPr txBox="1">
            <a:spLocks/>
          </p:cNvSpPr>
          <p:nvPr/>
        </p:nvSpPr>
        <p:spPr>
          <a:xfrm>
            <a:off x="2195736" y="188640"/>
            <a:ext cx="5976664" cy="431800"/>
          </a:xfrm>
        </p:spPr>
        <p:txBody>
          <a:bodyPr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10.1.2 8237A </a:t>
            </a:r>
            <a:r>
              <a:rPr lang="zh-CN" altLang="en-US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的引脚</a:t>
            </a:r>
          </a:p>
        </p:txBody>
      </p:sp>
      <p:pic>
        <p:nvPicPr>
          <p:cNvPr id="4" name="Picture 1">
            <a:extLst>
              <a:ext uri="{FF2B5EF4-FFF2-40B4-BE49-F238E27FC236}">
                <a16:creationId xmlns:a16="http://schemas.microsoft.com/office/drawing/2014/main" id="{86710F6E-3053-4246-88BD-44CB315528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627" y="1052736"/>
            <a:ext cx="4345895" cy="51845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3E123DBC-6E70-4B70-9904-B2E2BAE127BF}"/>
              </a:ext>
            </a:extLst>
          </p:cNvPr>
          <p:cNvSpPr txBox="1"/>
          <p:nvPr/>
        </p:nvSpPr>
        <p:spPr>
          <a:xfrm>
            <a:off x="4211960" y="692696"/>
            <a:ext cx="4752528" cy="62478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47688" indent="-547688">
              <a:buNone/>
            </a:pPr>
            <a:r>
              <a:rPr lang="en-US" altLang="zh-CN" sz="2000" dirty="0">
                <a:solidFill>
                  <a:srgbClr val="FF00FF"/>
                </a:solidFill>
                <a:latin typeface="+mn-lt"/>
              </a:rPr>
              <a:t>4. </a:t>
            </a:r>
            <a:r>
              <a:rPr lang="en-US" altLang="zh-CN" sz="2000" dirty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A</a:t>
            </a:r>
            <a:r>
              <a:rPr lang="en-US" altLang="zh-CN" sz="2000" baseline="-25000" dirty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altLang="zh-CN" sz="2000" dirty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~A</a:t>
            </a:r>
            <a:r>
              <a:rPr lang="en-US" altLang="zh-CN" sz="2000" baseline="-25000" dirty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altLang="zh-CN" sz="2000" dirty="0">
                <a:solidFill>
                  <a:srgbClr val="FF00FF"/>
                </a:solidFill>
                <a:latin typeface="+mn-lt"/>
              </a:rPr>
              <a:t>  </a:t>
            </a:r>
            <a:r>
              <a:rPr lang="zh-CN" altLang="en-US" sz="2000" dirty="0">
                <a:latin typeface="Times New Roman" pitchFamily="18" charset="0"/>
                <a:cs typeface="Times New Roman" pitchFamily="18" charset="0"/>
              </a:rPr>
              <a:t>低</a:t>
            </a:r>
            <a:r>
              <a:rPr lang="en-US" altLang="zh-CN" sz="2000" dirty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zh-CN" altLang="en-US" sz="2000" dirty="0">
                <a:latin typeface="Times New Roman" pitchFamily="18" charset="0"/>
                <a:cs typeface="Times New Roman" pitchFamily="18" charset="0"/>
              </a:rPr>
              <a:t>位地址线，双向</a:t>
            </a:r>
          </a:p>
          <a:p>
            <a:pPr marL="342900" indent="-342900" algn="just"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从态为输入，寻址</a:t>
            </a:r>
            <a:r>
              <a:rPr lang="en-US" altLang="zh-CN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8237A</a:t>
            </a:r>
            <a:r>
              <a:rPr lang="zh-CN" altLang="en-US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内部寄存器，实现编程；主态时输出要访问内存的低</a:t>
            </a:r>
            <a:r>
              <a:rPr lang="en-US" altLang="zh-CN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4</a:t>
            </a:r>
            <a:r>
              <a:rPr lang="zh-CN" altLang="en-US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位地址。</a:t>
            </a:r>
            <a:endParaRPr lang="en-US" altLang="zh-CN" sz="2000" dirty="0"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  <a:p>
            <a:pPr marL="547688" indent="-547688">
              <a:buNone/>
            </a:pPr>
            <a:r>
              <a:rPr lang="en-US" altLang="zh-CN" sz="2000" dirty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5. A</a:t>
            </a:r>
            <a:r>
              <a:rPr lang="en-US" altLang="zh-CN" sz="2000" baseline="-25000" dirty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7</a:t>
            </a:r>
            <a:r>
              <a:rPr lang="en-US" altLang="zh-CN" sz="2000" dirty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~A</a:t>
            </a:r>
            <a:r>
              <a:rPr lang="en-US" altLang="zh-CN" sz="2000" baseline="-25000" dirty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4</a:t>
            </a:r>
            <a:r>
              <a:rPr lang="en-US" altLang="zh-CN" sz="2000" dirty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000" dirty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zh-CN" altLang="en-US" sz="2000" dirty="0">
                <a:latin typeface="Times New Roman" pitchFamily="18" charset="0"/>
                <a:cs typeface="Times New Roman" pitchFamily="18" charset="0"/>
              </a:rPr>
              <a:t>位地址线</a:t>
            </a:r>
          </a:p>
          <a:p>
            <a:pPr marL="342900" indent="-342900" algn="just"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始终是输出或浮空</a:t>
            </a:r>
            <a:r>
              <a:rPr lang="en-US" altLang="zh-CN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, </a:t>
            </a:r>
            <a:r>
              <a:rPr lang="zh-CN" altLang="en-US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主态时输出</a:t>
            </a:r>
            <a:r>
              <a:rPr lang="en-US" altLang="zh-CN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4</a:t>
            </a:r>
            <a:r>
              <a:rPr lang="zh-CN" altLang="en-US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位地址信息</a:t>
            </a:r>
            <a:r>
              <a:rPr lang="en-US" altLang="zh-CN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A</a:t>
            </a:r>
            <a:r>
              <a:rPr lang="en-US" altLang="zh-CN" sz="2000" baseline="-25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7</a:t>
            </a:r>
            <a:r>
              <a:rPr lang="en-US" altLang="zh-CN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~A</a:t>
            </a:r>
            <a:r>
              <a:rPr lang="en-US" altLang="zh-CN" sz="2000" baseline="-25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4</a:t>
            </a:r>
            <a:r>
              <a:rPr lang="zh-CN" altLang="en-US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。</a:t>
            </a:r>
          </a:p>
          <a:p>
            <a:pPr marL="547688" indent="-547688">
              <a:buNone/>
              <a:tabLst>
                <a:tab pos="352425" algn="l"/>
              </a:tabLst>
            </a:pPr>
            <a:r>
              <a:rPr lang="en-US" altLang="zh-CN" sz="2000" dirty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6. DB</a:t>
            </a:r>
            <a:r>
              <a:rPr lang="en-US" altLang="zh-CN" sz="2000" baseline="-25000" dirty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7</a:t>
            </a:r>
            <a:r>
              <a:rPr lang="en-US" altLang="zh-CN" sz="2000" dirty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~DB</a:t>
            </a:r>
            <a:r>
              <a:rPr lang="en-US" altLang="zh-CN" sz="2000" baseline="-25000" dirty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altLang="zh-CN" sz="2000" dirty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en-US" altLang="zh-CN" sz="2000" dirty="0">
                <a:latin typeface="Times New Roman" pitchFamily="18" charset="0"/>
                <a:cs typeface="Times New Roman" pitchFamily="18" charset="0"/>
              </a:rPr>
              <a:t>8</a:t>
            </a:r>
            <a:r>
              <a:rPr lang="zh-CN" altLang="en-US" sz="2000" dirty="0">
                <a:latin typeface="Times New Roman" pitchFamily="18" charset="0"/>
                <a:cs typeface="Times New Roman" pitchFamily="18" charset="0"/>
              </a:rPr>
              <a:t>位数据线</a:t>
            </a:r>
          </a:p>
          <a:p>
            <a:pPr marL="342900" indent="-342900" algn="just"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与系统数据总线连。从态时，</a:t>
            </a:r>
            <a:r>
              <a:rPr lang="en-US" altLang="zh-CN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CPU</a:t>
            </a:r>
            <a:r>
              <a:rPr lang="zh-CN" altLang="en-US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经数据线读取各有关寄存器内容，并对各寄存器编程。</a:t>
            </a:r>
            <a:endParaRPr lang="en-US" altLang="zh-CN" sz="2000" dirty="0"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  <a:p>
            <a:pPr marL="342900" indent="-342900" algn="just"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主态时，由它们输出高</a:t>
            </a:r>
            <a:r>
              <a:rPr lang="en-US" altLang="zh-CN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8</a:t>
            </a:r>
            <a:r>
              <a:rPr lang="zh-CN" altLang="en-US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位地址</a:t>
            </a:r>
            <a:r>
              <a:rPr lang="en-US" altLang="zh-CN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A</a:t>
            </a:r>
            <a:r>
              <a:rPr lang="en-US" altLang="zh-CN" sz="2000" baseline="-25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15</a:t>
            </a:r>
            <a:r>
              <a:rPr lang="en-US" altLang="zh-CN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~A</a:t>
            </a:r>
            <a:r>
              <a:rPr lang="en-US" altLang="zh-CN" sz="2000" baseline="-25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8</a:t>
            </a:r>
            <a:r>
              <a:rPr lang="zh-CN" altLang="en-US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，并由</a:t>
            </a:r>
            <a:r>
              <a:rPr lang="en-US" altLang="zh-CN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AD STB</a:t>
            </a:r>
            <a:r>
              <a:rPr lang="zh-CN" altLang="en-US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信号将它们锁存到外部的高</a:t>
            </a:r>
            <a:r>
              <a:rPr lang="en-US" altLang="zh-CN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8</a:t>
            </a:r>
            <a:r>
              <a:rPr lang="zh-CN" altLang="en-US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位地址锁存器中，与</a:t>
            </a:r>
            <a:r>
              <a:rPr lang="en-US" altLang="zh-CN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A</a:t>
            </a:r>
            <a:r>
              <a:rPr lang="en-US" altLang="zh-CN" sz="2000" baseline="-25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7</a:t>
            </a:r>
            <a:r>
              <a:rPr lang="en-US" altLang="zh-CN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~A</a:t>
            </a:r>
            <a:r>
              <a:rPr lang="en-US" altLang="zh-CN" sz="2000" baseline="-25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0</a:t>
            </a:r>
            <a:r>
              <a:rPr lang="zh-CN" altLang="en-US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输出的低</a:t>
            </a:r>
            <a:r>
              <a:rPr lang="en-US" altLang="zh-CN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8</a:t>
            </a:r>
            <a:r>
              <a:rPr lang="zh-CN" altLang="en-US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位地址构成</a:t>
            </a:r>
            <a:r>
              <a:rPr lang="en-US" altLang="zh-CN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16</a:t>
            </a:r>
            <a:r>
              <a:rPr lang="zh-CN" altLang="en-US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位地址。</a:t>
            </a:r>
            <a:endParaRPr lang="en-US" altLang="zh-CN" sz="2000" dirty="0"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  <a:p>
            <a:pPr marL="342900" indent="-342900" algn="just"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存储器</a:t>
            </a:r>
            <a:r>
              <a:rPr lang="en-US" altLang="zh-CN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-</a:t>
            </a:r>
            <a:r>
              <a:rPr lang="zh-CN" altLang="en-US" sz="2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存储器传送方式下，源存储器读出的数据，经它们送暂存寄存器，暂存器中数据再经它们写到目的存储单元中。</a:t>
            </a:r>
          </a:p>
          <a:p>
            <a:pPr marL="0" indent="0">
              <a:buFont typeface="Wingdings" pitchFamily="2" charset="2"/>
              <a:buChar char="Ø"/>
            </a:pPr>
            <a:endParaRPr lang="zh-CN" altLang="en-US" sz="2000" dirty="0"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438596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标题 154627">
            <a:extLst>
              <a:ext uri="{FF2B5EF4-FFF2-40B4-BE49-F238E27FC236}">
                <a16:creationId xmlns:a16="http://schemas.microsoft.com/office/drawing/2014/main" id="{D3C745FA-CBD5-4C23-A3B9-C4D2BE57F8E7}"/>
              </a:ext>
            </a:extLst>
          </p:cNvPr>
          <p:cNvSpPr txBox="1">
            <a:spLocks/>
          </p:cNvSpPr>
          <p:nvPr/>
        </p:nvSpPr>
        <p:spPr>
          <a:xfrm>
            <a:off x="2195736" y="188640"/>
            <a:ext cx="5976664" cy="431800"/>
          </a:xfrm>
        </p:spPr>
        <p:txBody>
          <a:bodyPr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10.1.2 8237A </a:t>
            </a:r>
            <a:r>
              <a:rPr lang="zh-CN" altLang="en-US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的引脚</a:t>
            </a:r>
          </a:p>
        </p:txBody>
      </p:sp>
      <p:pic>
        <p:nvPicPr>
          <p:cNvPr id="4" name="Picture 1">
            <a:extLst>
              <a:ext uri="{FF2B5EF4-FFF2-40B4-BE49-F238E27FC236}">
                <a16:creationId xmlns:a16="http://schemas.microsoft.com/office/drawing/2014/main" id="{86710F6E-3053-4246-88BD-44CB315528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627" y="1052736"/>
            <a:ext cx="4345895" cy="51845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3E123DBC-6E70-4B70-9904-B2E2BAE127BF}"/>
              </a:ext>
            </a:extLst>
          </p:cNvPr>
          <p:cNvSpPr txBox="1"/>
          <p:nvPr/>
        </p:nvSpPr>
        <p:spPr>
          <a:xfrm>
            <a:off x="4372522" y="920909"/>
            <a:ext cx="459196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47688" indent="-547688">
              <a:buNone/>
            </a:pPr>
            <a:r>
              <a:rPr lang="en-US" altLang="zh-CN" sz="2400" dirty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7. AEN  </a:t>
            </a:r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地址允许信号，输出，高电平有效</a:t>
            </a:r>
          </a:p>
          <a:p>
            <a:pPr marL="342900" indent="-342900" algn="just"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送出锁存的高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8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位地址，与芯片输出的低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8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位地址一起构成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16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位地址。同时使连到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CPU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的地址锁存器无效，保证地址线上的信号来自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DMAC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。</a:t>
            </a:r>
          </a:p>
          <a:p>
            <a:pPr marL="547688" indent="-547688">
              <a:buNone/>
            </a:pPr>
            <a:r>
              <a:rPr lang="en-US" altLang="zh-CN" sz="2400" dirty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8. ADSTB  </a:t>
            </a:r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地址选通信号，输出，高电平有效</a:t>
            </a:r>
          </a:p>
          <a:p>
            <a:pPr marL="342900" indent="-342900" algn="just"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选通外部地址锁存器，将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DB</a:t>
            </a:r>
            <a:r>
              <a:rPr lang="en-US" altLang="zh-CN" sz="2400" baseline="-25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7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~DB</a:t>
            </a:r>
            <a:r>
              <a:rPr lang="en-US" altLang="zh-CN" sz="2400" baseline="-25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0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上的高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8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位地址送到外部的地址锁存器。</a:t>
            </a:r>
          </a:p>
        </p:txBody>
      </p:sp>
    </p:spTree>
    <p:extLst>
      <p:ext uri="{BB962C8B-B14F-4D97-AF65-F5344CB8AC3E}">
        <p14:creationId xmlns:p14="http://schemas.microsoft.com/office/powerpoint/2010/main" val="12559727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标题 154627">
            <a:extLst>
              <a:ext uri="{FF2B5EF4-FFF2-40B4-BE49-F238E27FC236}">
                <a16:creationId xmlns:a16="http://schemas.microsoft.com/office/drawing/2014/main" id="{D3C745FA-CBD5-4C23-A3B9-C4D2BE57F8E7}"/>
              </a:ext>
            </a:extLst>
          </p:cNvPr>
          <p:cNvSpPr txBox="1">
            <a:spLocks/>
          </p:cNvSpPr>
          <p:nvPr/>
        </p:nvSpPr>
        <p:spPr>
          <a:xfrm>
            <a:off x="2195736" y="188640"/>
            <a:ext cx="5976664" cy="431800"/>
          </a:xfrm>
        </p:spPr>
        <p:txBody>
          <a:bodyPr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10.1.2 8237A </a:t>
            </a:r>
            <a:r>
              <a:rPr lang="zh-CN" altLang="en-US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的引脚</a:t>
            </a:r>
          </a:p>
        </p:txBody>
      </p:sp>
      <p:pic>
        <p:nvPicPr>
          <p:cNvPr id="4" name="Picture 1">
            <a:extLst>
              <a:ext uri="{FF2B5EF4-FFF2-40B4-BE49-F238E27FC236}">
                <a16:creationId xmlns:a16="http://schemas.microsoft.com/office/drawing/2014/main" id="{86710F6E-3053-4246-88BD-44CB315528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627" y="1052736"/>
            <a:ext cx="4345895" cy="51845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3E123DBC-6E70-4B70-9904-B2E2BAE127BF}"/>
              </a:ext>
            </a:extLst>
          </p:cNvPr>
          <p:cNvSpPr txBox="1"/>
          <p:nvPr/>
        </p:nvSpPr>
        <p:spPr>
          <a:xfrm>
            <a:off x="4372522" y="920909"/>
            <a:ext cx="4591966" cy="46782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47688" indent="-547688">
              <a:buNone/>
            </a:pPr>
            <a:r>
              <a:rPr lang="en-US" altLang="zh-CN" sz="2400" dirty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9. IOR  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I/O</a:t>
            </a:r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读信号，双向</a:t>
            </a:r>
          </a:p>
          <a:p>
            <a:pPr marL="342900" indent="-342900"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从态时，控制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CPU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读取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8237A 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内部寄存器。</a:t>
            </a:r>
            <a:endParaRPr lang="en-US" altLang="zh-CN" sz="2400" dirty="0"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  <a:p>
            <a:pPr marL="342900" indent="-342900" algn="just"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主态时，与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MEMW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配合，控制数据由外设传到存储器中。</a:t>
            </a:r>
            <a:endParaRPr lang="en-US" altLang="zh-CN" sz="2400" dirty="0"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  <a:p>
            <a:pPr marL="547688" indent="-547688">
              <a:buNone/>
            </a:pPr>
            <a:r>
              <a:rPr lang="en-US" altLang="zh-CN" sz="2400" dirty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10. IOW  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I/O</a:t>
            </a:r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写信号，双向，低电平有效</a:t>
            </a:r>
          </a:p>
          <a:p>
            <a:pPr marL="342900" indent="-342900"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从态时，控制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CPU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对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8237A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内部寄存器编程。</a:t>
            </a:r>
            <a:endParaRPr lang="en-US" altLang="zh-CN" sz="2400" dirty="0"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  <a:p>
            <a:pPr marL="342900" indent="-342900" algn="just"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主态时，与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MEMR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相配合，控制数据从存储器传送到外设。</a:t>
            </a:r>
          </a:p>
          <a:p>
            <a:pPr marL="268288" indent="-268288" algn="just">
              <a:spcBef>
                <a:spcPts val="0"/>
              </a:spcBef>
              <a:buFont typeface="Wingdings" pitchFamily="2" charset="2"/>
              <a:buChar char="Ø"/>
            </a:pPr>
            <a:endParaRPr lang="zh-CN" altLang="en-US" sz="2400" dirty="0"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553E81CB-D467-49C3-9B18-F2B1A365D0D5}"/>
              </a:ext>
            </a:extLst>
          </p:cNvPr>
          <p:cNvCxnSpPr/>
          <p:nvPr/>
        </p:nvCxnSpPr>
        <p:spPr>
          <a:xfrm>
            <a:off x="4819105" y="986061"/>
            <a:ext cx="376584" cy="0"/>
          </a:xfrm>
          <a:prstGeom prst="line">
            <a:avLst/>
          </a:prstGeom>
          <a:ln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11B615A-24F8-44D2-BDF4-6F8C0D86FCB3}"/>
              </a:ext>
            </a:extLst>
          </p:cNvPr>
          <p:cNvCxnSpPr>
            <a:cxnSpLocks/>
          </p:cNvCxnSpPr>
          <p:nvPr/>
        </p:nvCxnSpPr>
        <p:spPr>
          <a:xfrm>
            <a:off x="6300192" y="2180481"/>
            <a:ext cx="936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16137AEA-E8E4-4582-B44C-84512D351006}"/>
              </a:ext>
            </a:extLst>
          </p:cNvPr>
          <p:cNvCxnSpPr>
            <a:cxnSpLocks/>
          </p:cNvCxnSpPr>
          <p:nvPr/>
        </p:nvCxnSpPr>
        <p:spPr>
          <a:xfrm>
            <a:off x="4951090" y="2891036"/>
            <a:ext cx="509389" cy="0"/>
          </a:xfrm>
          <a:prstGeom prst="line">
            <a:avLst/>
          </a:prstGeom>
          <a:ln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235E84B5-4E39-4DB7-9FDD-12E84B88DDDD}"/>
              </a:ext>
            </a:extLst>
          </p:cNvPr>
          <p:cNvCxnSpPr>
            <a:cxnSpLocks/>
          </p:cNvCxnSpPr>
          <p:nvPr/>
        </p:nvCxnSpPr>
        <p:spPr>
          <a:xfrm>
            <a:off x="6290667" y="4437112"/>
            <a:ext cx="936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9109137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标题 154627">
            <a:extLst>
              <a:ext uri="{FF2B5EF4-FFF2-40B4-BE49-F238E27FC236}">
                <a16:creationId xmlns:a16="http://schemas.microsoft.com/office/drawing/2014/main" id="{D3C745FA-CBD5-4C23-A3B9-C4D2BE57F8E7}"/>
              </a:ext>
            </a:extLst>
          </p:cNvPr>
          <p:cNvSpPr txBox="1">
            <a:spLocks/>
          </p:cNvSpPr>
          <p:nvPr/>
        </p:nvSpPr>
        <p:spPr>
          <a:xfrm>
            <a:off x="2195736" y="188640"/>
            <a:ext cx="5976664" cy="431800"/>
          </a:xfrm>
        </p:spPr>
        <p:txBody>
          <a:bodyPr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10.1.2 8237A </a:t>
            </a:r>
            <a:r>
              <a:rPr lang="zh-CN" altLang="en-US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的引脚</a:t>
            </a:r>
          </a:p>
        </p:txBody>
      </p:sp>
      <p:pic>
        <p:nvPicPr>
          <p:cNvPr id="4" name="Picture 1">
            <a:extLst>
              <a:ext uri="{FF2B5EF4-FFF2-40B4-BE49-F238E27FC236}">
                <a16:creationId xmlns:a16="http://schemas.microsoft.com/office/drawing/2014/main" id="{86710F6E-3053-4246-88BD-44CB315528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627" y="1052736"/>
            <a:ext cx="4345895" cy="51845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3E123DBC-6E70-4B70-9904-B2E2BAE127BF}"/>
              </a:ext>
            </a:extLst>
          </p:cNvPr>
          <p:cNvSpPr txBox="1"/>
          <p:nvPr/>
        </p:nvSpPr>
        <p:spPr>
          <a:xfrm>
            <a:off x="4372522" y="920909"/>
            <a:ext cx="4591966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47688" indent="-547688">
              <a:buNone/>
            </a:pPr>
            <a:r>
              <a:rPr lang="en-US" altLang="zh-CN" sz="2400" dirty="0">
                <a:solidFill>
                  <a:srgbClr val="FF00FF"/>
                </a:solidFill>
                <a:latin typeface="+mn-lt"/>
              </a:rPr>
              <a:t>11. MEMR  </a:t>
            </a:r>
            <a:r>
              <a:rPr lang="zh-CN" altLang="en-US" sz="2400" dirty="0">
                <a:latin typeface="+mn-lt"/>
              </a:rPr>
              <a:t>存储器读，输出，低电平有效</a:t>
            </a:r>
          </a:p>
          <a:p>
            <a:pPr marL="342900" indent="-342900" algn="just"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主态时，可与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IOW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配合，实现存储器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  <a:sym typeface="Wingdings 3"/>
              </a:rPr>
              <a:t>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外设传送，也可控制内存间数据传送，从源地址单元中读出数据。从态时无效。</a:t>
            </a:r>
          </a:p>
          <a:p>
            <a:pPr marL="547688" indent="-547688">
              <a:buNone/>
            </a:pPr>
            <a:r>
              <a:rPr lang="en-US" altLang="zh-CN" sz="2400" dirty="0">
                <a:solidFill>
                  <a:srgbClr val="FF00FF"/>
                </a:solidFill>
                <a:latin typeface="+mn-lt"/>
              </a:rPr>
              <a:t>12. MEMW</a:t>
            </a:r>
            <a:r>
              <a:rPr lang="en-US" altLang="zh-CN" sz="2400" dirty="0">
                <a:latin typeface="+mn-lt"/>
              </a:rPr>
              <a:t>  </a:t>
            </a:r>
            <a:r>
              <a:rPr lang="zh-CN" altLang="en-US" sz="2400" dirty="0">
                <a:latin typeface="+mn-lt"/>
              </a:rPr>
              <a:t>存储器写，输出，低电平有效</a:t>
            </a:r>
          </a:p>
          <a:p>
            <a:pPr marL="342900" indent="-342900" algn="just"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主态时，可与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IOR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配合，实现存储器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  <a:sym typeface="Wingdings 3"/>
              </a:rPr>
              <a:t>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外设传送，也可控制内存间数据传送，把数据写入目的单元。从态时无效。</a:t>
            </a:r>
          </a:p>
          <a:p>
            <a:pPr marL="268288" indent="-268288" algn="just">
              <a:spcBef>
                <a:spcPts val="0"/>
              </a:spcBef>
              <a:buFont typeface="Wingdings" pitchFamily="2" charset="2"/>
              <a:buChar char="Ø"/>
            </a:pPr>
            <a:endParaRPr lang="zh-CN" altLang="en-US" sz="2400" dirty="0"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553E81CB-D467-49C3-9B18-F2B1A365D0D5}"/>
              </a:ext>
            </a:extLst>
          </p:cNvPr>
          <p:cNvCxnSpPr>
            <a:cxnSpLocks/>
          </p:cNvCxnSpPr>
          <p:nvPr/>
        </p:nvCxnSpPr>
        <p:spPr>
          <a:xfrm>
            <a:off x="4961980" y="967011"/>
            <a:ext cx="833015" cy="0"/>
          </a:xfrm>
          <a:prstGeom prst="line">
            <a:avLst/>
          </a:prstGeom>
          <a:ln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11B615A-24F8-44D2-BDF4-6F8C0D86FCB3}"/>
              </a:ext>
            </a:extLst>
          </p:cNvPr>
          <p:cNvCxnSpPr>
            <a:cxnSpLocks/>
          </p:cNvCxnSpPr>
          <p:nvPr/>
        </p:nvCxnSpPr>
        <p:spPr>
          <a:xfrm>
            <a:off x="4961980" y="3193926"/>
            <a:ext cx="936104" cy="0"/>
          </a:xfrm>
          <a:prstGeom prst="line">
            <a:avLst/>
          </a:prstGeom>
          <a:ln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16137AEA-E8E4-4582-B44C-84512D351006}"/>
              </a:ext>
            </a:extLst>
          </p:cNvPr>
          <p:cNvCxnSpPr>
            <a:cxnSpLocks/>
          </p:cNvCxnSpPr>
          <p:nvPr/>
        </p:nvCxnSpPr>
        <p:spPr>
          <a:xfrm>
            <a:off x="6679282" y="1700808"/>
            <a:ext cx="50938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C5F0B224-D5C4-4CF7-BB03-56D801F6356C}"/>
              </a:ext>
            </a:extLst>
          </p:cNvPr>
          <p:cNvCxnSpPr>
            <a:cxnSpLocks/>
          </p:cNvCxnSpPr>
          <p:nvPr/>
        </p:nvCxnSpPr>
        <p:spPr>
          <a:xfrm>
            <a:off x="6717382" y="3933056"/>
            <a:ext cx="509389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70545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标题 154627">
            <a:extLst>
              <a:ext uri="{FF2B5EF4-FFF2-40B4-BE49-F238E27FC236}">
                <a16:creationId xmlns:a16="http://schemas.microsoft.com/office/drawing/2014/main" id="{D3C745FA-CBD5-4C23-A3B9-C4D2BE57F8E7}"/>
              </a:ext>
            </a:extLst>
          </p:cNvPr>
          <p:cNvSpPr txBox="1">
            <a:spLocks/>
          </p:cNvSpPr>
          <p:nvPr/>
        </p:nvSpPr>
        <p:spPr>
          <a:xfrm>
            <a:off x="2195736" y="188640"/>
            <a:ext cx="5976664" cy="431800"/>
          </a:xfrm>
        </p:spPr>
        <p:txBody>
          <a:bodyPr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10.1.2 8237A </a:t>
            </a:r>
            <a:r>
              <a:rPr lang="zh-CN" altLang="en-US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的引脚</a:t>
            </a:r>
          </a:p>
        </p:txBody>
      </p:sp>
      <p:pic>
        <p:nvPicPr>
          <p:cNvPr id="4" name="Picture 1">
            <a:extLst>
              <a:ext uri="{FF2B5EF4-FFF2-40B4-BE49-F238E27FC236}">
                <a16:creationId xmlns:a16="http://schemas.microsoft.com/office/drawing/2014/main" id="{86710F6E-3053-4246-88BD-44CB315528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627" y="1052736"/>
            <a:ext cx="4345895" cy="51845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3E123DBC-6E70-4B70-9904-B2E2BAE127BF}"/>
              </a:ext>
            </a:extLst>
          </p:cNvPr>
          <p:cNvSpPr txBox="1"/>
          <p:nvPr/>
        </p:nvSpPr>
        <p:spPr>
          <a:xfrm>
            <a:off x="4372522" y="920909"/>
            <a:ext cx="4591966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47688" indent="-547688">
              <a:buNone/>
            </a:pPr>
            <a:r>
              <a:rPr lang="en-US" altLang="zh-CN" sz="2400" dirty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13. DREQ</a:t>
            </a:r>
            <a:r>
              <a:rPr lang="en-US" altLang="zh-CN" sz="2400" baseline="-25000" dirty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altLang="zh-CN" sz="2400" dirty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~DREQ</a:t>
            </a:r>
            <a:r>
              <a:rPr lang="en-US" altLang="zh-CN" sz="2400" baseline="-25000" dirty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altLang="zh-CN" sz="2400" dirty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  </a:t>
            </a:r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通道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3~0</a:t>
            </a:r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的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DMA</a:t>
            </a:r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请求信号，输入</a:t>
            </a:r>
          </a:p>
          <a:p>
            <a:pPr marL="342900" indent="-342900" algn="just"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外设请求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DMA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服务时，向这些引脚发请求信号，有效极性由编程确定。固定优先级时，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DREQ</a:t>
            </a:r>
            <a:r>
              <a:rPr lang="en-US" altLang="zh-CN" sz="2400" baseline="-25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0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的优先级最高，编程可改变优先级。</a:t>
            </a:r>
          </a:p>
          <a:p>
            <a:pPr marL="547688" indent="-547688">
              <a:buNone/>
            </a:pPr>
            <a:r>
              <a:rPr lang="en-US" altLang="zh-CN" sz="2400" dirty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14. HRQ  </a:t>
            </a:r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保持请求信号，输出，高电平有效</a:t>
            </a:r>
          </a:p>
          <a:p>
            <a:pPr marL="342900" indent="-342900" algn="just"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向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CPU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的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HOLD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端发出的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DMA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请求信号，可从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8237A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任一个未被屏蔽的通道发出。</a:t>
            </a:r>
          </a:p>
          <a:p>
            <a:pPr marL="268288" indent="-268288" algn="just">
              <a:spcBef>
                <a:spcPts val="0"/>
              </a:spcBef>
              <a:buFont typeface="Wingdings" pitchFamily="2" charset="2"/>
              <a:buChar char="Ø"/>
            </a:pPr>
            <a:endParaRPr lang="zh-CN" altLang="en-US" sz="2400" dirty="0"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040708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标题 154627">
            <a:extLst>
              <a:ext uri="{FF2B5EF4-FFF2-40B4-BE49-F238E27FC236}">
                <a16:creationId xmlns:a16="http://schemas.microsoft.com/office/drawing/2014/main" id="{D3C745FA-CBD5-4C23-A3B9-C4D2BE57F8E7}"/>
              </a:ext>
            </a:extLst>
          </p:cNvPr>
          <p:cNvSpPr txBox="1">
            <a:spLocks/>
          </p:cNvSpPr>
          <p:nvPr/>
        </p:nvSpPr>
        <p:spPr>
          <a:xfrm>
            <a:off x="2195736" y="188640"/>
            <a:ext cx="5976664" cy="431800"/>
          </a:xfrm>
        </p:spPr>
        <p:txBody>
          <a:bodyPr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10.1.2 8237A </a:t>
            </a:r>
            <a:r>
              <a:rPr lang="zh-CN" altLang="en-US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的引脚</a:t>
            </a:r>
          </a:p>
        </p:txBody>
      </p:sp>
      <p:pic>
        <p:nvPicPr>
          <p:cNvPr id="4" name="Picture 1">
            <a:extLst>
              <a:ext uri="{FF2B5EF4-FFF2-40B4-BE49-F238E27FC236}">
                <a16:creationId xmlns:a16="http://schemas.microsoft.com/office/drawing/2014/main" id="{86710F6E-3053-4246-88BD-44CB315528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627" y="1052736"/>
            <a:ext cx="4345895" cy="51845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3E123DBC-6E70-4B70-9904-B2E2BAE127BF}"/>
              </a:ext>
            </a:extLst>
          </p:cNvPr>
          <p:cNvSpPr txBox="1"/>
          <p:nvPr/>
        </p:nvSpPr>
        <p:spPr>
          <a:xfrm>
            <a:off x="4372522" y="920909"/>
            <a:ext cx="4591966" cy="60016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47688" indent="-547688">
              <a:buNone/>
            </a:pPr>
            <a:r>
              <a:rPr lang="en-US" altLang="zh-CN" sz="2400" dirty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15. HLDA  </a:t>
            </a:r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保持响应信号，输入，高电平有效</a:t>
            </a:r>
          </a:p>
          <a:p>
            <a:pPr marL="342900" indent="-342900" algn="just"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与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CPU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的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HLDA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相连，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CPU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收到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HRQ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信号后，至少经过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1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个时钟周期后，使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HLDA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变高，表示已让出总线控制权，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8237A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收到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HLDA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信号后，便开始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DMA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传送。</a:t>
            </a:r>
            <a:endParaRPr lang="en-US" altLang="zh-CN" sz="2400" dirty="0"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  <a:p>
            <a:pPr marL="547688" indent="-547688">
              <a:buNone/>
            </a:pPr>
            <a:r>
              <a:rPr lang="en-US" altLang="zh-CN" sz="2400" dirty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16. DACK</a:t>
            </a:r>
            <a:r>
              <a:rPr lang="en-US" altLang="zh-CN" sz="2400" baseline="-25000" dirty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3</a:t>
            </a:r>
            <a:r>
              <a:rPr lang="en-US" altLang="zh-CN" sz="2400" dirty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~DACK</a:t>
            </a:r>
            <a:r>
              <a:rPr lang="en-US" altLang="zh-CN" sz="2400" baseline="-25000" dirty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0</a:t>
            </a:r>
            <a:r>
              <a:rPr lang="en-US" altLang="zh-CN" sz="2400" baseline="-250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 </a:t>
            </a:r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通道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3~0</a:t>
            </a:r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的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DMA</a:t>
            </a:r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响应信号，输出</a:t>
            </a:r>
          </a:p>
          <a:p>
            <a:pPr marL="342900" indent="-342900" algn="just"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其有效电平极性由编程确定。相应通道开始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DMA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传送后，</a:t>
            </a:r>
            <a:r>
              <a:rPr lang="en-US" altLang="zh-CN" sz="2400" dirty="0" err="1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DACK</a:t>
            </a:r>
            <a:r>
              <a:rPr lang="en-US" altLang="zh-CN" sz="2400" baseline="-25000" dirty="0" err="1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i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有效，通知外部电路现已进入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DMA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周期。</a:t>
            </a:r>
          </a:p>
          <a:p>
            <a:pPr marL="268288" indent="-268288" algn="just">
              <a:buFont typeface="Wingdings" pitchFamily="2" charset="2"/>
              <a:buChar char="Ø"/>
            </a:pPr>
            <a:endParaRPr lang="zh-CN" altLang="en-US" sz="2400" dirty="0"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  <a:p>
            <a:pPr marL="268288" indent="-268288" algn="just">
              <a:spcBef>
                <a:spcPts val="0"/>
              </a:spcBef>
              <a:buFont typeface="Wingdings" pitchFamily="2" charset="2"/>
              <a:buChar char="Ø"/>
            </a:pPr>
            <a:endParaRPr lang="zh-CN" altLang="en-US" sz="2400" dirty="0"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1201335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标题 154627">
            <a:extLst>
              <a:ext uri="{FF2B5EF4-FFF2-40B4-BE49-F238E27FC236}">
                <a16:creationId xmlns:a16="http://schemas.microsoft.com/office/drawing/2014/main" id="{D3C745FA-CBD5-4C23-A3B9-C4D2BE57F8E7}"/>
              </a:ext>
            </a:extLst>
          </p:cNvPr>
          <p:cNvSpPr txBox="1">
            <a:spLocks/>
          </p:cNvSpPr>
          <p:nvPr/>
        </p:nvSpPr>
        <p:spPr>
          <a:xfrm>
            <a:off x="2195736" y="188640"/>
            <a:ext cx="5976664" cy="431800"/>
          </a:xfrm>
        </p:spPr>
        <p:txBody>
          <a:bodyPr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10.1.2 8237A </a:t>
            </a:r>
            <a:r>
              <a:rPr lang="zh-CN" altLang="en-US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的引脚</a:t>
            </a:r>
          </a:p>
        </p:txBody>
      </p:sp>
      <p:pic>
        <p:nvPicPr>
          <p:cNvPr id="4" name="Picture 1">
            <a:extLst>
              <a:ext uri="{FF2B5EF4-FFF2-40B4-BE49-F238E27FC236}">
                <a16:creationId xmlns:a16="http://schemas.microsoft.com/office/drawing/2014/main" id="{86710F6E-3053-4246-88BD-44CB315528E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627" y="1052736"/>
            <a:ext cx="4345895" cy="518457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3E123DBC-6E70-4B70-9904-B2E2BAE127BF}"/>
              </a:ext>
            </a:extLst>
          </p:cNvPr>
          <p:cNvSpPr txBox="1"/>
          <p:nvPr/>
        </p:nvSpPr>
        <p:spPr>
          <a:xfrm>
            <a:off x="4372522" y="920909"/>
            <a:ext cx="4591966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47688" indent="-547688">
              <a:buNone/>
            </a:pPr>
            <a:r>
              <a:rPr lang="en-US" altLang="zh-CN" sz="2400" dirty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17. EOP   </a:t>
            </a:r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传输过程结束信号，双向，低电平有效</a:t>
            </a:r>
          </a:p>
          <a:p>
            <a:pPr marL="268288" indent="-268288" algn="just">
              <a:buFont typeface="Wingdings" pitchFamily="2" charset="2"/>
              <a:buChar char="Ø"/>
            </a:pP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DMA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传送中，任一通道的字计数器减为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0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，再由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0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减为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FFFFH 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而终止计数时，输出低电平信号，表示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DMA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传输结束。</a:t>
            </a:r>
            <a:endParaRPr lang="en-US" altLang="zh-CN" sz="2400" dirty="0"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  <a:p>
            <a:pPr marL="268288" indent="-268288">
              <a:buFont typeface="Wingdings" pitchFamily="2" charset="2"/>
              <a:buChar char="Ø"/>
            </a:pP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也可输入低电平信号来终止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DMA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传送。 </a:t>
            </a:r>
            <a:endParaRPr lang="en-US" altLang="zh-CN" sz="2400" dirty="0"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  <a:p>
            <a:pPr marL="268288" indent="-268288" algn="just">
              <a:buFont typeface="Wingdings" pitchFamily="2" charset="2"/>
              <a:buChar char="Ø"/>
            </a:pP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若通道设置成自动预置状态，该通道完成一次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DMA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传送，出现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EOP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信号后，又能自动恢复有关寄存器的初值，继续执行另一次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DMA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传送。</a:t>
            </a:r>
          </a:p>
          <a:p>
            <a:pPr marL="268288" indent="-268288" algn="just">
              <a:spcBef>
                <a:spcPts val="0"/>
              </a:spcBef>
              <a:buFont typeface="Wingdings" pitchFamily="2" charset="2"/>
              <a:buChar char="Ø"/>
            </a:pPr>
            <a:endParaRPr lang="zh-CN" altLang="en-US" sz="2400" dirty="0"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5545D127-8BF6-4A1B-8560-85C1C5449262}"/>
              </a:ext>
            </a:extLst>
          </p:cNvPr>
          <p:cNvCxnSpPr/>
          <p:nvPr/>
        </p:nvCxnSpPr>
        <p:spPr>
          <a:xfrm>
            <a:off x="4903465" y="980728"/>
            <a:ext cx="576064" cy="0"/>
          </a:xfrm>
          <a:prstGeom prst="line">
            <a:avLst/>
          </a:prstGeom>
          <a:ln>
            <a:solidFill>
              <a:srgbClr val="FF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2A8B6FE8-AF2F-4529-9C0E-11F38B047A91}"/>
              </a:ext>
            </a:extLst>
          </p:cNvPr>
          <p:cNvCxnSpPr/>
          <p:nvPr/>
        </p:nvCxnSpPr>
        <p:spPr>
          <a:xfrm>
            <a:off x="5013573" y="4653136"/>
            <a:ext cx="57606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4974890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标题 154627">
            <a:extLst>
              <a:ext uri="{FF2B5EF4-FFF2-40B4-BE49-F238E27FC236}">
                <a16:creationId xmlns:a16="http://schemas.microsoft.com/office/drawing/2014/main" id="{D3C745FA-CBD5-4C23-A3B9-C4D2BE57F8E7}"/>
              </a:ext>
            </a:extLst>
          </p:cNvPr>
          <p:cNvSpPr txBox="1">
            <a:spLocks/>
          </p:cNvSpPr>
          <p:nvPr/>
        </p:nvSpPr>
        <p:spPr>
          <a:xfrm>
            <a:off x="2195736" y="188640"/>
            <a:ext cx="5976664" cy="431800"/>
          </a:xfrm>
        </p:spPr>
        <p:txBody>
          <a:bodyPr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10.1.3 8237A </a:t>
            </a:r>
            <a:r>
              <a:rPr lang="zh-CN" altLang="en-US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的内部寄存器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C9818D1-0964-414F-99FE-807A8A8BE790}"/>
              </a:ext>
            </a:extLst>
          </p:cNvPr>
          <p:cNvSpPr txBox="1"/>
          <p:nvPr/>
        </p:nvSpPr>
        <p:spPr>
          <a:xfrm>
            <a:off x="971600" y="929791"/>
            <a:ext cx="612068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8237A</a:t>
            </a:r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的内部可编程寄存器主要有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10</a:t>
            </a:r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种：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D1A5A6B0-4573-48EB-ADCA-FADF5278A9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3516" y="1484784"/>
            <a:ext cx="6820852" cy="46774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4171317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54627">
            <a:extLst>
              <a:ext uri="{FF2B5EF4-FFF2-40B4-BE49-F238E27FC236}">
                <a16:creationId xmlns:a16="http://schemas.microsoft.com/office/drawing/2014/main" id="{24FBAD3E-EE08-4432-8D8E-49E05DA1265E}"/>
              </a:ext>
            </a:extLst>
          </p:cNvPr>
          <p:cNvSpPr txBox="1">
            <a:spLocks/>
          </p:cNvSpPr>
          <p:nvPr/>
        </p:nvSpPr>
        <p:spPr>
          <a:xfrm>
            <a:off x="2195736" y="188640"/>
            <a:ext cx="5976664" cy="431800"/>
          </a:xfrm>
        </p:spPr>
        <p:txBody>
          <a:bodyPr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10.1.3 8237A </a:t>
            </a:r>
            <a:r>
              <a:rPr lang="zh-CN" altLang="en-US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的内部寄存器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26B66859-044D-40BE-B786-780674110114}"/>
              </a:ext>
            </a:extLst>
          </p:cNvPr>
          <p:cNvSpPr txBox="1"/>
          <p:nvPr/>
        </p:nvSpPr>
        <p:spPr>
          <a:xfrm>
            <a:off x="395536" y="980728"/>
            <a:ext cx="777686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47688" indent="-547688"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1. </a:t>
            </a:r>
            <a:r>
              <a:rPr lang="zh-CN" altLang="en-US" sz="2400" dirty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当前地址寄存器</a:t>
            </a:r>
          </a:p>
          <a:p>
            <a:pPr marL="342900" indent="-342900" algn="just"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16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位，每通道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1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个，存放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DMA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传送的存储器地址值。每传送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1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个数据，地址值自动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+1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或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-1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，指向下个单元。</a:t>
            </a:r>
            <a:endParaRPr lang="en-US" altLang="zh-CN" sz="2400" dirty="0"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  <a:p>
            <a:pPr marL="342900" indent="-342900" algn="just"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编程时可写入初值，也可被读出，但每次只能读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/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写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8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位，所以读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/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写要两次完成。</a:t>
            </a:r>
            <a:endParaRPr lang="en-US" altLang="zh-CN" sz="2400" dirty="0"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  <a:p>
            <a:pPr marL="342900" indent="-342900" algn="just"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自动预置操作方式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,  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在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EOP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有效时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, 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会重装入基地址值。</a:t>
            </a:r>
          </a:p>
          <a:p>
            <a:pPr marL="547688" indent="-547688">
              <a:spcBef>
                <a:spcPts val="0"/>
              </a:spcBef>
            </a:pPr>
            <a:r>
              <a:rPr lang="en-US" altLang="zh-CN" sz="2400" dirty="0">
                <a:solidFill>
                  <a:srgbClr val="FF00FF"/>
                </a:solidFill>
                <a:cs typeface="Times New Roman" pitchFamily="18" charset="0"/>
              </a:rPr>
              <a:t>2. </a:t>
            </a:r>
            <a:r>
              <a:rPr lang="zh-CN" altLang="en-US" sz="2400" dirty="0">
                <a:solidFill>
                  <a:srgbClr val="FF00FF"/>
                </a:solidFill>
                <a:cs typeface="Times New Roman" pitchFamily="18" charset="0"/>
              </a:rPr>
              <a:t>当前字计数寄存器</a:t>
            </a:r>
          </a:p>
          <a:p>
            <a:pPr marL="342900" indent="-342900" algn="just"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16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位，每通道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1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个，编程时置其初值为实际传送字节数少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1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。每传送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1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字节，自动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  <a:sym typeface="Symbol"/>
              </a:rPr>
              <a:t>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1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。由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0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  <a:sym typeface="Wingdings 3"/>
              </a:rPr>
              <a:t>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FFFFH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时，将产生终止计数信号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TC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。</a:t>
            </a:r>
            <a:endParaRPr lang="en-US" altLang="zh-CN" sz="2400" dirty="0"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  <a:p>
            <a:pPr marL="342900" indent="-342900" algn="just"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自动预置操作方式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, 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在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EOP 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有效时，会重装入基字计数寄存器的内容。</a:t>
            </a: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F60A7800-2888-4325-B94F-283CB533C226}"/>
              </a:ext>
            </a:extLst>
          </p:cNvPr>
          <p:cNvCxnSpPr/>
          <p:nvPr/>
        </p:nvCxnSpPr>
        <p:spPr>
          <a:xfrm>
            <a:off x="3942978" y="2896369"/>
            <a:ext cx="50405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直接连接符 6">
            <a:extLst>
              <a:ext uri="{FF2B5EF4-FFF2-40B4-BE49-F238E27FC236}">
                <a16:creationId xmlns:a16="http://schemas.microsoft.com/office/drawing/2014/main" id="{8BC33391-009F-4F56-B9E4-18717775F005}"/>
              </a:ext>
            </a:extLst>
          </p:cNvPr>
          <p:cNvCxnSpPr/>
          <p:nvPr/>
        </p:nvCxnSpPr>
        <p:spPr>
          <a:xfrm>
            <a:off x="3760862" y="4725144"/>
            <a:ext cx="50405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126114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54627">
            <a:extLst>
              <a:ext uri="{FF2B5EF4-FFF2-40B4-BE49-F238E27FC236}">
                <a16:creationId xmlns:a16="http://schemas.microsoft.com/office/drawing/2014/main" id="{8FD5C705-FF4D-4BCC-8E7C-AAEA972594C4}"/>
              </a:ext>
            </a:extLst>
          </p:cNvPr>
          <p:cNvSpPr txBox="1">
            <a:spLocks/>
          </p:cNvSpPr>
          <p:nvPr/>
        </p:nvSpPr>
        <p:spPr>
          <a:xfrm>
            <a:off x="2195736" y="188640"/>
            <a:ext cx="5976664" cy="431800"/>
          </a:xfrm>
        </p:spPr>
        <p:txBody>
          <a:bodyPr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10.1.3 8237A </a:t>
            </a:r>
            <a:r>
              <a:rPr lang="zh-CN" altLang="en-US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的内部寄存器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CBD0FBF-7FE5-46D8-A8A6-4E79E28B12AB}"/>
              </a:ext>
            </a:extLst>
          </p:cNvPr>
          <p:cNvSpPr txBox="1"/>
          <p:nvPr/>
        </p:nvSpPr>
        <p:spPr>
          <a:xfrm>
            <a:off x="467544" y="980728"/>
            <a:ext cx="7704856" cy="38625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47688" indent="-547688">
              <a:buNone/>
            </a:pPr>
            <a:r>
              <a:rPr lang="en-US" altLang="zh-CN" sz="2400" dirty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3. </a:t>
            </a:r>
            <a:r>
              <a:rPr lang="zh-CN" altLang="en-US" sz="2400" dirty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基地址寄存器</a:t>
            </a:r>
          </a:p>
          <a:p>
            <a:pPr marL="342900" indent="-342900" algn="just"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16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位，每通道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1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个，存放通道当前地址寄存器初值，与当前地址寄存器地址一样，编程时写入相同值。</a:t>
            </a:r>
            <a:endParaRPr lang="en-US" altLang="zh-CN" sz="2400" dirty="0"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  <a:p>
            <a:pPr marL="342900" indent="-342900" algn="just"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其内容不能读出和修改。用在自动预置操作时，使当前地址寄存器恢复到初值。</a:t>
            </a:r>
          </a:p>
          <a:p>
            <a:pPr marL="547688" indent="-547688">
              <a:buNone/>
            </a:pPr>
            <a:r>
              <a:rPr lang="en-US" altLang="zh-CN" sz="2400" dirty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4. </a:t>
            </a:r>
            <a:r>
              <a:rPr lang="zh-CN" altLang="en-US" sz="2400" dirty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基字</a:t>
            </a:r>
            <a:r>
              <a:rPr lang="zh-CN" altLang="en-US" sz="2400" dirty="0">
                <a:solidFill>
                  <a:srgbClr val="FF00FF"/>
                </a:solidFill>
                <a:latin typeface="+mn-lt"/>
              </a:rPr>
              <a:t>计数寄存器</a:t>
            </a:r>
          </a:p>
          <a:p>
            <a:pPr marL="342900" indent="-342900"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16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位，每通道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1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个，存放通道当前字计数器初值，该值也是编程时与当前字计数器一起写入的。</a:t>
            </a:r>
            <a:endParaRPr lang="en-US" altLang="zh-CN" sz="2400" dirty="0"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  <a:p>
            <a:pPr marL="342900" indent="-342900"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其内容不能读出和修改，用于自动预置操作时，使当前字计数器恢复到初值。</a:t>
            </a:r>
          </a:p>
        </p:txBody>
      </p:sp>
    </p:spTree>
    <p:extLst>
      <p:ext uri="{BB962C8B-B14F-4D97-AF65-F5344CB8AC3E}">
        <p14:creationId xmlns:p14="http://schemas.microsoft.com/office/powerpoint/2010/main" val="15280460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54627">
            <a:extLst>
              <a:ext uri="{FF2B5EF4-FFF2-40B4-BE49-F238E27FC236}">
                <a16:creationId xmlns:a16="http://schemas.microsoft.com/office/drawing/2014/main" id="{8FD5C705-FF4D-4BCC-8E7C-AAEA972594C4}"/>
              </a:ext>
            </a:extLst>
          </p:cNvPr>
          <p:cNvSpPr txBox="1">
            <a:spLocks/>
          </p:cNvSpPr>
          <p:nvPr/>
        </p:nvSpPr>
        <p:spPr>
          <a:xfrm>
            <a:off x="2195736" y="188640"/>
            <a:ext cx="5976664" cy="431800"/>
          </a:xfrm>
        </p:spPr>
        <p:txBody>
          <a:bodyPr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10.1.3 8237A </a:t>
            </a:r>
            <a:r>
              <a:rPr lang="zh-CN" altLang="en-US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的内部寄存器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CBD0FBF-7FE5-46D8-A8A6-4E79E28B12AB}"/>
              </a:ext>
            </a:extLst>
          </p:cNvPr>
          <p:cNvSpPr txBox="1"/>
          <p:nvPr/>
        </p:nvSpPr>
        <p:spPr>
          <a:xfrm>
            <a:off x="107504" y="908720"/>
            <a:ext cx="2736304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47688" indent="-547688">
              <a:buNone/>
            </a:pPr>
            <a:r>
              <a:rPr lang="en-US" altLang="zh-CN" sz="2400" dirty="0">
                <a:solidFill>
                  <a:srgbClr val="FF00FF"/>
                </a:solidFill>
                <a:cs typeface="Times New Roman" pitchFamily="18" charset="0"/>
              </a:rPr>
              <a:t>5</a:t>
            </a:r>
            <a:r>
              <a:rPr lang="en-US" altLang="zh-CN" sz="2400" dirty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zh-CN" altLang="en-US" sz="2400" dirty="0">
                <a:solidFill>
                  <a:srgbClr val="FF00FF"/>
                </a:solidFill>
                <a:cs typeface="Times New Roman" pitchFamily="18" charset="0"/>
              </a:rPr>
              <a:t>命令</a:t>
            </a:r>
            <a:r>
              <a:rPr lang="zh-CN" altLang="en-US" sz="2400" dirty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寄存器</a:t>
            </a:r>
          </a:p>
          <a:p>
            <a:pPr marL="611188" marR="0" lvl="0" indent="-342900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FF"/>
              </a:buClr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en-US" altLang="zh-CN" sz="2400" dirty="0">
                <a:ea typeface="楷体_GB2312" pitchFamily="49" charset="-122"/>
                <a:cs typeface="Times New Roman" pitchFamily="18" charset="0"/>
              </a:rPr>
              <a:t>8</a:t>
            </a:r>
            <a:r>
              <a:rPr lang="zh-CN" altLang="en-US" sz="2400" dirty="0">
                <a:ea typeface="楷体_GB2312" pitchFamily="49" charset="-122"/>
                <a:cs typeface="Times New Roman" pitchFamily="18" charset="0"/>
              </a:rPr>
              <a:t>位</a:t>
            </a:r>
            <a:r>
              <a:rPr lang="en-US" altLang="zh-CN" sz="2400" dirty="0">
                <a:ea typeface="楷体_GB2312" pitchFamily="49" charset="-122"/>
                <a:cs typeface="Times New Roman" pitchFamily="18" charset="0"/>
              </a:rPr>
              <a:t>, </a:t>
            </a:r>
            <a:r>
              <a:rPr lang="zh-CN" altLang="en-US" sz="2400" dirty="0">
                <a:ea typeface="楷体_GB2312" pitchFamily="49" charset="-122"/>
                <a:cs typeface="Times New Roman" pitchFamily="18" charset="0"/>
              </a:rPr>
              <a:t>控制</a:t>
            </a:r>
            <a:r>
              <a:rPr lang="en-US" altLang="zh-CN" sz="2400" dirty="0">
                <a:ea typeface="楷体_GB2312" pitchFamily="49" charset="-122"/>
                <a:cs typeface="Times New Roman" pitchFamily="18" charset="0"/>
              </a:rPr>
              <a:t>8237A</a:t>
            </a:r>
            <a:r>
              <a:rPr lang="zh-CN" altLang="en-US" sz="2400" dirty="0">
                <a:ea typeface="楷体_GB2312" pitchFamily="49" charset="-122"/>
                <a:cs typeface="Times New Roman" pitchFamily="18" charset="0"/>
              </a:rPr>
              <a:t>的操作</a:t>
            </a:r>
            <a:endParaRPr lang="en-US" altLang="zh-CN" sz="2400" dirty="0">
              <a:ea typeface="楷体_GB2312" pitchFamily="49" charset="-122"/>
              <a:cs typeface="Times New Roman" pitchFamily="18" charset="0"/>
            </a:endParaRPr>
          </a:p>
          <a:p>
            <a:pPr marL="611188" marR="0" lvl="0" indent="-342900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FF"/>
              </a:buClr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zh-CN" altLang="en-US" sz="2400" dirty="0">
                <a:ea typeface="楷体_GB2312" pitchFamily="49" charset="-122"/>
                <a:cs typeface="Times New Roman" pitchFamily="18" charset="0"/>
              </a:rPr>
              <a:t>由</a:t>
            </a:r>
            <a:r>
              <a:rPr lang="en-US" altLang="zh-CN" sz="2400" dirty="0">
                <a:ea typeface="楷体_GB2312" pitchFamily="49" charset="-122"/>
                <a:cs typeface="Times New Roman" pitchFamily="18" charset="0"/>
              </a:rPr>
              <a:t>CPU</a:t>
            </a:r>
            <a:r>
              <a:rPr lang="zh-CN" altLang="en-US" sz="2400" dirty="0">
                <a:ea typeface="楷体_GB2312" pitchFamily="49" charset="-122"/>
                <a:cs typeface="Times New Roman" pitchFamily="18" charset="0"/>
              </a:rPr>
              <a:t>编程来设置</a:t>
            </a:r>
            <a:r>
              <a:rPr lang="en-US" altLang="zh-CN" sz="2400" dirty="0">
                <a:ea typeface="楷体_GB2312" pitchFamily="49" charset="-122"/>
                <a:cs typeface="Times New Roman" pitchFamily="18" charset="0"/>
              </a:rPr>
              <a:t>8327A</a:t>
            </a:r>
            <a:r>
              <a:rPr lang="zh-CN" altLang="en-US" sz="2400" dirty="0">
                <a:ea typeface="楷体_GB2312" pitchFamily="49" charset="-122"/>
                <a:cs typeface="Times New Roman" pitchFamily="18" charset="0"/>
              </a:rPr>
              <a:t>操作方式</a:t>
            </a:r>
            <a:endParaRPr lang="en-US" altLang="zh-CN" sz="2400" dirty="0">
              <a:ea typeface="楷体_GB2312" pitchFamily="49" charset="-122"/>
              <a:cs typeface="Times New Roman" pitchFamily="18" charset="0"/>
            </a:endParaRPr>
          </a:p>
          <a:p>
            <a:pPr marL="611188" marR="0" lvl="0" indent="-342900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FF"/>
              </a:buClr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en-US" altLang="zh-CN" sz="2400" dirty="0">
                <a:ea typeface="楷体_GB2312" pitchFamily="49" charset="-122"/>
                <a:cs typeface="Times New Roman" pitchFamily="18" charset="0"/>
              </a:rPr>
              <a:t> </a:t>
            </a:r>
            <a:r>
              <a:rPr lang="zh-CN" altLang="en-US" sz="2400" dirty="0">
                <a:ea typeface="楷体_GB2312" pitchFamily="49" charset="-122"/>
                <a:cs typeface="Times New Roman" pitchFamily="18" charset="0"/>
              </a:rPr>
              <a:t>复位时清除</a:t>
            </a:r>
            <a:endParaRPr lang="en-US" altLang="zh-CN" sz="2400" dirty="0">
              <a:ea typeface="楷体_GB2312" pitchFamily="49" charset="-122"/>
              <a:cs typeface="Times New Roman" pitchFamily="18" charset="0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901B740A-A79F-497C-9EF4-92A67C66B2A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915816" y="1124744"/>
            <a:ext cx="6156176" cy="438875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97020397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54627">
            <a:extLst>
              <a:ext uri="{FF2B5EF4-FFF2-40B4-BE49-F238E27FC236}">
                <a16:creationId xmlns:a16="http://schemas.microsoft.com/office/drawing/2014/main" id="{8FD5C705-FF4D-4BCC-8E7C-AAEA972594C4}"/>
              </a:ext>
            </a:extLst>
          </p:cNvPr>
          <p:cNvSpPr txBox="1">
            <a:spLocks/>
          </p:cNvSpPr>
          <p:nvPr/>
        </p:nvSpPr>
        <p:spPr>
          <a:xfrm>
            <a:off x="2195736" y="188640"/>
            <a:ext cx="5976664" cy="431800"/>
          </a:xfrm>
        </p:spPr>
        <p:txBody>
          <a:bodyPr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10.1.3 8237A </a:t>
            </a:r>
            <a:r>
              <a:rPr lang="zh-CN" altLang="en-US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的内部寄存器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CBD0FBF-7FE5-46D8-A8A6-4E79E28B12AB}"/>
              </a:ext>
            </a:extLst>
          </p:cNvPr>
          <p:cNvSpPr txBox="1"/>
          <p:nvPr/>
        </p:nvSpPr>
        <p:spPr>
          <a:xfrm>
            <a:off x="179512" y="908720"/>
            <a:ext cx="835292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47688" indent="-547688">
              <a:buNone/>
            </a:pPr>
            <a:r>
              <a:rPr lang="en-US" altLang="zh-CN" sz="2400" dirty="0">
                <a:solidFill>
                  <a:srgbClr val="FF00FF"/>
                </a:solidFill>
                <a:cs typeface="Times New Roman" pitchFamily="18" charset="0"/>
              </a:rPr>
              <a:t>5</a:t>
            </a:r>
            <a:r>
              <a:rPr lang="en-US" altLang="zh-CN" sz="2400" dirty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zh-CN" altLang="en-US" sz="2400" dirty="0">
                <a:solidFill>
                  <a:srgbClr val="FF00FF"/>
                </a:solidFill>
                <a:cs typeface="Times New Roman" pitchFamily="18" charset="0"/>
              </a:rPr>
              <a:t>命令</a:t>
            </a:r>
            <a:r>
              <a:rPr lang="zh-CN" altLang="en-US" sz="2400" dirty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寄存器</a:t>
            </a:r>
          </a:p>
          <a:p>
            <a:pPr marL="361950" indent="-361950" algn="just"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en-US" altLang="zh-CN" sz="2400" dirty="0">
                <a:solidFill>
                  <a:srgbClr val="FF00FF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D</a:t>
            </a:r>
            <a:r>
              <a:rPr lang="en-US" altLang="zh-CN" sz="2400" baseline="-25000" dirty="0">
                <a:solidFill>
                  <a:srgbClr val="FF00FF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0</a:t>
            </a:r>
            <a:r>
              <a:rPr lang="zh-CN" altLang="en-US" sz="2400" dirty="0">
                <a:solidFill>
                  <a:srgbClr val="FF00FF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位  能否进行存储器</a:t>
            </a:r>
            <a:r>
              <a:rPr lang="zh-CN" altLang="en-US" sz="2400" dirty="0">
                <a:solidFill>
                  <a:srgbClr val="FF00FF"/>
                </a:solidFill>
                <a:latin typeface="Times New Roman" pitchFamily="18" charset="0"/>
                <a:ea typeface="+mn-ea"/>
                <a:cs typeface="Times New Roman" pitchFamily="18" charset="0"/>
                <a:sym typeface="Wingdings 3"/>
              </a:rPr>
              <a:t></a:t>
            </a:r>
            <a:r>
              <a:rPr lang="zh-CN" altLang="en-US" sz="2400" dirty="0">
                <a:solidFill>
                  <a:srgbClr val="FF00FF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存储器传送，</a:t>
            </a:r>
            <a:r>
              <a:rPr lang="en-US" altLang="zh-CN" sz="2400" dirty="0">
                <a:solidFill>
                  <a:srgbClr val="FF00FF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D</a:t>
            </a:r>
            <a:r>
              <a:rPr lang="en-US" altLang="zh-CN" sz="2400" baseline="-25000" dirty="0">
                <a:solidFill>
                  <a:srgbClr val="FF00FF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0</a:t>
            </a:r>
            <a:r>
              <a:rPr lang="en-US" altLang="zh-CN" sz="2400" dirty="0">
                <a:solidFill>
                  <a:srgbClr val="FF00FF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=1</a:t>
            </a:r>
            <a:r>
              <a:rPr lang="zh-CN" altLang="en-US" sz="2400" dirty="0">
                <a:solidFill>
                  <a:srgbClr val="FF00FF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允许</a:t>
            </a:r>
            <a:r>
              <a:rPr lang="zh-CN" altLang="en-US" sz="2400" dirty="0">
                <a:latin typeface="Times New Roman" pitchFamily="18" charset="0"/>
                <a:ea typeface="+mn-ea"/>
                <a:cs typeface="Times New Roman" pitchFamily="18" charset="0"/>
              </a:rPr>
              <a:t>。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并规定先用通道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0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从源单元读入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1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字节放入暂存器，然后由通道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1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把该字节写到目的单元，接着两通道的地址分别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+1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或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  <a:sym typeface="Symbol"/>
              </a:rPr>
              <a:t>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1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，通道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1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的字计数器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  <a:sym typeface="Symbol"/>
              </a:rPr>
              <a:t>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1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，它减为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0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时产生终止计数信号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TC, 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并输出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     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信号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EOP, 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终止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DMA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服务。</a:t>
            </a:r>
            <a:endParaRPr lang="en-US" altLang="zh-CN" sz="2400" dirty="0"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  <a:p>
            <a:pPr marL="361950" indent="-361950" algn="just"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en-US" altLang="zh-CN" sz="2400" dirty="0">
                <a:solidFill>
                  <a:srgbClr val="FF00FF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D</a:t>
            </a:r>
            <a:r>
              <a:rPr lang="en-US" altLang="zh-CN" sz="2400" baseline="-25000" dirty="0">
                <a:solidFill>
                  <a:srgbClr val="FF00FF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1</a:t>
            </a:r>
            <a:r>
              <a:rPr lang="zh-CN" altLang="en-US" sz="2400" dirty="0">
                <a:solidFill>
                  <a:srgbClr val="FF00FF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位  存储器</a:t>
            </a:r>
            <a:r>
              <a:rPr lang="zh-CN" altLang="en-US" sz="2400" dirty="0">
                <a:solidFill>
                  <a:srgbClr val="FF00FF"/>
                </a:solidFill>
                <a:latin typeface="Times New Roman" pitchFamily="18" charset="0"/>
                <a:ea typeface="+mn-ea"/>
                <a:cs typeface="Times New Roman" pitchFamily="18" charset="0"/>
                <a:sym typeface="Wingdings 3"/>
              </a:rPr>
              <a:t></a:t>
            </a:r>
            <a:r>
              <a:rPr lang="zh-CN" altLang="en-US" sz="2400" dirty="0">
                <a:solidFill>
                  <a:srgbClr val="FF00FF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存储器传送时，通道</a:t>
            </a:r>
            <a:r>
              <a:rPr lang="en-US" altLang="zh-CN" sz="2400" dirty="0">
                <a:solidFill>
                  <a:srgbClr val="FF00FF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0</a:t>
            </a:r>
            <a:r>
              <a:rPr lang="zh-CN" altLang="en-US" sz="2400" dirty="0">
                <a:solidFill>
                  <a:srgbClr val="FF00FF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地址能否保持不变。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sz="2400" baseline="-25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=1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，通道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0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在传送中保持同一地址，从而可把该单元中的数写入一组存储单元。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sz="2400" baseline="-25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=0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禁止。当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sz="2400" baseline="-25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0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=0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时这种方法无效。</a:t>
            </a:r>
          </a:p>
          <a:p>
            <a:pPr marL="361950" indent="-361950" algn="just"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en-US" altLang="zh-CN" sz="2400" dirty="0">
                <a:solidFill>
                  <a:srgbClr val="FF00FF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D</a:t>
            </a:r>
            <a:r>
              <a:rPr lang="en-US" altLang="zh-CN" sz="2400" baseline="-25000" dirty="0">
                <a:solidFill>
                  <a:srgbClr val="FF00FF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2</a:t>
            </a:r>
            <a:r>
              <a:rPr lang="zh-CN" altLang="en-US" sz="2400" dirty="0">
                <a:solidFill>
                  <a:srgbClr val="FF00FF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位  允许或禁止</a:t>
            </a:r>
            <a:r>
              <a:rPr lang="en-US" altLang="zh-CN" sz="2400" dirty="0">
                <a:solidFill>
                  <a:srgbClr val="FF00FF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8237A</a:t>
            </a:r>
            <a:r>
              <a:rPr lang="zh-CN" altLang="en-US" sz="2400" dirty="0">
                <a:solidFill>
                  <a:srgbClr val="FF00FF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工作</a:t>
            </a:r>
            <a:r>
              <a:rPr lang="zh-CN" altLang="en-US" sz="2400" dirty="0">
                <a:latin typeface="Times New Roman" pitchFamily="18" charset="0"/>
                <a:ea typeface="+mn-ea"/>
                <a:cs typeface="Times New Roman" pitchFamily="18" charset="0"/>
              </a:rPr>
              <a:t>，</a:t>
            </a:r>
            <a:r>
              <a:rPr lang="en-US" altLang="zh-CN" sz="2400" dirty="0"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sz="2400" baseline="-25000" dirty="0">
                <a:ea typeface="楷体_GB2312" pitchFamily="49" charset="-122"/>
                <a:cs typeface="Times New Roman" pitchFamily="18" charset="0"/>
              </a:rPr>
              <a:t>2</a:t>
            </a:r>
            <a:r>
              <a:rPr lang="en-US" altLang="zh-CN" sz="2400" dirty="0">
                <a:ea typeface="楷体_GB2312" pitchFamily="49" charset="-122"/>
                <a:cs typeface="Times New Roman" pitchFamily="18" charset="0"/>
              </a:rPr>
              <a:t>=0</a:t>
            </a:r>
            <a:r>
              <a:rPr lang="zh-CN" altLang="en-US" sz="2400" dirty="0">
                <a:ea typeface="楷体_GB2312" pitchFamily="49" charset="-122"/>
                <a:cs typeface="Times New Roman" pitchFamily="18" charset="0"/>
              </a:rPr>
              <a:t>允许，</a:t>
            </a:r>
            <a:r>
              <a:rPr lang="en-US" altLang="zh-CN" sz="2400" dirty="0"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sz="2400" baseline="-25000" dirty="0">
                <a:ea typeface="楷体_GB2312" pitchFamily="49" charset="-122"/>
                <a:cs typeface="Times New Roman" pitchFamily="18" charset="0"/>
              </a:rPr>
              <a:t>2</a:t>
            </a:r>
            <a:r>
              <a:rPr lang="en-US" altLang="zh-CN" sz="2400" dirty="0">
                <a:ea typeface="楷体_GB2312" pitchFamily="49" charset="-122"/>
                <a:cs typeface="Times New Roman" pitchFamily="18" charset="0"/>
              </a:rPr>
              <a:t>=1</a:t>
            </a:r>
            <a:r>
              <a:rPr lang="zh-CN" altLang="en-US" sz="2400" dirty="0">
                <a:ea typeface="楷体_GB2312" pitchFamily="49" charset="-122"/>
                <a:cs typeface="Times New Roman" pitchFamily="18" charset="0"/>
              </a:rPr>
              <a:t>则禁止。</a:t>
            </a:r>
          </a:p>
          <a:p>
            <a:pPr marL="361950" indent="-361950" algn="just">
              <a:buClr>
                <a:srgbClr val="0000FF"/>
              </a:buClr>
              <a:buFont typeface="Wingdings" panose="05000000000000000000" pitchFamily="2" charset="2"/>
              <a:buChar char="ü"/>
            </a:pPr>
            <a:endParaRPr lang="en-US" altLang="zh-CN" sz="2400" dirty="0">
              <a:ea typeface="楷体_GB2312" pitchFamily="49" charset="-122"/>
              <a:cs typeface="Times New Roman" pitchFamily="18" charset="0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F4910EBF-2CCB-421A-BE8F-AD0FCD15EC06}"/>
              </a:ext>
            </a:extLst>
          </p:cNvPr>
          <p:cNvCxnSpPr/>
          <p:nvPr/>
        </p:nvCxnSpPr>
        <p:spPr>
          <a:xfrm>
            <a:off x="1259632" y="2814836"/>
            <a:ext cx="50405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4231471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54627">
            <a:extLst>
              <a:ext uri="{FF2B5EF4-FFF2-40B4-BE49-F238E27FC236}">
                <a16:creationId xmlns:a16="http://schemas.microsoft.com/office/drawing/2014/main" id="{8FD5C705-FF4D-4BCC-8E7C-AAEA972594C4}"/>
              </a:ext>
            </a:extLst>
          </p:cNvPr>
          <p:cNvSpPr txBox="1">
            <a:spLocks/>
          </p:cNvSpPr>
          <p:nvPr/>
        </p:nvSpPr>
        <p:spPr>
          <a:xfrm>
            <a:off x="2195736" y="188640"/>
            <a:ext cx="5976664" cy="431800"/>
          </a:xfrm>
        </p:spPr>
        <p:txBody>
          <a:bodyPr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10.1.3 8237A </a:t>
            </a:r>
            <a:r>
              <a:rPr lang="zh-CN" altLang="en-US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的内部寄存器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CBD0FBF-7FE5-46D8-A8A6-4E79E28B12AB}"/>
              </a:ext>
            </a:extLst>
          </p:cNvPr>
          <p:cNvSpPr txBox="1"/>
          <p:nvPr/>
        </p:nvSpPr>
        <p:spPr>
          <a:xfrm>
            <a:off x="179512" y="908720"/>
            <a:ext cx="8352928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47688" indent="-547688">
              <a:buNone/>
            </a:pPr>
            <a:r>
              <a:rPr lang="en-US" altLang="zh-CN" sz="2400" dirty="0">
                <a:solidFill>
                  <a:srgbClr val="FF00FF"/>
                </a:solidFill>
                <a:cs typeface="Times New Roman" pitchFamily="18" charset="0"/>
              </a:rPr>
              <a:t>5</a:t>
            </a:r>
            <a:r>
              <a:rPr lang="en-US" altLang="zh-CN" sz="2400" dirty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. </a:t>
            </a:r>
            <a:r>
              <a:rPr lang="zh-CN" altLang="en-US" sz="2400" dirty="0">
                <a:solidFill>
                  <a:srgbClr val="FF00FF"/>
                </a:solidFill>
                <a:cs typeface="Times New Roman" pitchFamily="18" charset="0"/>
              </a:rPr>
              <a:t>命令</a:t>
            </a:r>
            <a:r>
              <a:rPr lang="zh-CN" altLang="en-US" sz="2400" dirty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寄存器</a:t>
            </a:r>
          </a:p>
          <a:p>
            <a:pPr marL="361950" indent="-361950" algn="just"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en-US" altLang="zh-CN" sz="2400" dirty="0">
                <a:solidFill>
                  <a:srgbClr val="FF00FF"/>
                </a:solidFill>
                <a:ea typeface="+mn-ea"/>
                <a:cs typeface="Times New Roman" pitchFamily="18" charset="0"/>
              </a:rPr>
              <a:t>D</a:t>
            </a:r>
            <a:r>
              <a:rPr lang="en-US" altLang="zh-CN" sz="2400" baseline="-25000" dirty="0">
                <a:solidFill>
                  <a:srgbClr val="FF00FF"/>
                </a:solidFill>
                <a:ea typeface="+mn-ea"/>
                <a:cs typeface="Times New Roman" pitchFamily="18" charset="0"/>
              </a:rPr>
              <a:t>3</a:t>
            </a:r>
            <a:r>
              <a:rPr lang="zh-CN" altLang="en-US" sz="2400" dirty="0">
                <a:solidFill>
                  <a:srgbClr val="FF00FF"/>
                </a:solidFill>
                <a:ea typeface="+mn-ea"/>
                <a:cs typeface="Times New Roman" pitchFamily="18" charset="0"/>
              </a:rPr>
              <a:t>位 设定工作时序。</a:t>
            </a:r>
            <a:r>
              <a:rPr lang="en-US" altLang="zh-CN" sz="2400" dirty="0"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sz="2400" baseline="-25000" dirty="0">
                <a:ea typeface="楷体_GB2312" pitchFamily="49" charset="-122"/>
                <a:cs typeface="Times New Roman" pitchFamily="18" charset="0"/>
              </a:rPr>
              <a:t>3</a:t>
            </a:r>
            <a:r>
              <a:rPr lang="en-US" altLang="zh-CN" sz="2400" dirty="0">
                <a:ea typeface="楷体_GB2312" pitchFamily="49" charset="-122"/>
                <a:cs typeface="Times New Roman" pitchFamily="18" charset="0"/>
              </a:rPr>
              <a:t>=0</a:t>
            </a:r>
            <a:r>
              <a:rPr lang="zh-CN" altLang="en-US" sz="2400" dirty="0">
                <a:ea typeface="楷体_GB2312" pitchFamily="49" charset="-122"/>
                <a:cs typeface="Times New Roman" pitchFamily="18" charset="0"/>
              </a:rPr>
              <a:t>是正常时序；</a:t>
            </a:r>
            <a:r>
              <a:rPr lang="en-US" altLang="zh-CN" sz="2400" dirty="0"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sz="2400" baseline="-25000" dirty="0">
                <a:ea typeface="楷体_GB2312" pitchFamily="49" charset="-122"/>
                <a:cs typeface="Times New Roman" pitchFamily="18" charset="0"/>
              </a:rPr>
              <a:t>3</a:t>
            </a:r>
            <a:r>
              <a:rPr lang="en-US" altLang="zh-CN" sz="2400" dirty="0">
                <a:ea typeface="楷体_GB2312" pitchFamily="49" charset="-122"/>
                <a:cs typeface="Times New Roman" pitchFamily="18" charset="0"/>
              </a:rPr>
              <a:t>=1</a:t>
            </a:r>
            <a:r>
              <a:rPr lang="zh-CN" altLang="en-US" sz="2400" dirty="0">
                <a:ea typeface="楷体_GB2312" pitchFamily="49" charset="-122"/>
                <a:cs typeface="Times New Roman" pitchFamily="18" charset="0"/>
              </a:rPr>
              <a:t>是压缩时序。当</a:t>
            </a:r>
            <a:r>
              <a:rPr lang="en-US" altLang="zh-CN" sz="2400" dirty="0"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sz="2400" baseline="-25000" dirty="0">
                <a:ea typeface="楷体_GB2312" pitchFamily="49" charset="-122"/>
                <a:cs typeface="Times New Roman" pitchFamily="18" charset="0"/>
              </a:rPr>
              <a:t>0</a:t>
            </a:r>
            <a:r>
              <a:rPr lang="en-US" altLang="zh-CN" sz="2400" dirty="0">
                <a:ea typeface="楷体_GB2312" pitchFamily="49" charset="-122"/>
                <a:cs typeface="Times New Roman" pitchFamily="18" charset="0"/>
              </a:rPr>
              <a:t>=1</a:t>
            </a:r>
            <a:r>
              <a:rPr lang="zh-CN" altLang="en-US" sz="2400" dirty="0">
                <a:ea typeface="楷体_GB2312" pitchFamily="49" charset="-122"/>
                <a:cs typeface="Times New Roman" pitchFamily="18" charset="0"/>
              </a:rPr>
              <a:t>时该位无效。</a:t>
            </a:r>
            <a:endParaRPr lang="en-US" altLang="zh-CN" sz="2400" dirty="0">
              <a:ea typeface="楷体_GB2312" pitchFamily="49" charset="-122"/>
              <a:cs typeface="Times New Roman" pitchFamily="18" charset="0"/>
            </a:endParaRPr>
          </a:p>
          <a:p>
            <a:pPr marL="361950" indent="-361950" algn="just"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en-US" altLang="zh-CN" sz="2400" dirty="0">
                <a:solidFill>
                  <a:srgbClr val="FF00FF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D</a:t>
            </a:r>
            <a:r>
              <a:rPr lang="en-US" altLang="zh-CN" sz="2400" baseline="-25000" dirty="0">
                <a:solidFill>
                  <a:srgbClr val="FF00FF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4</a:t>
            </a:r>
            <a:r>
              <a:rPr lang="zh-CN" altLang="en-US" sz="2400" dirty="0">
                <a:solidFill>
                  <a:srgbClr val="FF00FF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位 优先权控制。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sz="2400" baseline="-25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4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=0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为固定优先权，通道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0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优先级最高；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sz="2400" baseline="-25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4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=1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为循环优先权，刚服务过的通道</a:t>
            </a:r>
            <a:r>
              <a:rPr lang="en-US" altLang="zh-CN" sz="2400" dirty="0" err="1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i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优先权最低，而通道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i+1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优先权最高。随着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DMA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操作不断进行优先权不断循环，防止某通道长时间占用总线。</a:t>
            </a:r>
            <a:endParaRPr lang="en-US" altLang="zh-CN" sz="2400" dirty="0"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  <a:p>
            <a:pPr marL="361950" indent="-361950" algn="just"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en-US" altLang="zh-CN" sz="2400" dirty="0">
                <a:solidFill>
                  <a:srgbClr val="FF00FF"/>
                </a:solidFill>
                <a:ea typeface="+mn-ea"/>
                <a:cs typeface="Times New Roman" pitchFamily="18" charset="0"/>
              </a:rPr>
              <a:t>D</a:t>
            </a:r>
            <a:r>
              <a:rPr lang="en-US" altLang="zh-CN" sz="2400" baseline="-25000" dirty="0">
                <a:solidFill>
                  <a:srgbClr val="FF00FF"/>
                </a:solidFill>
                <a:ea typeface="+mn-ea"/>
                <a:cs typeface="Times New Roman" pitchFamily="18" charset="0"/>
              </a:rPr>
              <a:t>5</a:t>
            </a:r>
            <a:r>
              <a:rPr lang="zh-CN" altLang="en-US" sz="2400" dirty="0">
                <a:solidFill>
                  <a:srgbClr val="FF00FF"/>
                </a:solidFill>
                <a:ea typeface="+mn-ea"/>
                <a:cs typeface="Times New Roman" pitchFamily="18" charset="0"/>
              </a:rPr>
              <a:t>位 与</a:t>
            </a:r>
            <a:r>
              <a:rPr lang="en-US" altLang="zh-CN" sz="2400" dirty="0">
                <a:solidFill>
                  <a:srgbClr val="FF00FF"/>
                </a:solidFill>
                <a:ea typeface="+mn-ea"/>
                <a:cs typeface="Times New Roman" pitchFamily="18" charset="0"/>
              </a:rPr>
              <a:t>D</a:t>
            </a:r>
            <a:r>
              <a:rPr lang="en-US" altLang="zh-CN" sz="2400" baseline="-25000" dirty="0">
                <a:solidFill>
                  <a:srgbClr val="FF00FF"/>
                </a:solidFill>
                <a:ea typeface="+mn-ea"/>
                <a:cs typeface="Times New Roman" pitchFamily="18" charset="0"/>
              </a:rPr>
              <a:t>3</a:t>
            </a:r>
            <a:r>
              <a:rPr lang="zh-CN" altLang="en-US" sz="2400" dirty="0">
                <a:solidFill>
                  <a:srgbClr val="FF00FF"/>
                </a:solidFill>
                <a:ea typeface="+mn-ea"/>
                <a:cs typeface="Times New Roman" pitchFamily="18" charset="0"/>
              </a:rPr>
              <a:t>一起控制时序。</a:t>
            </a:r>
            <a:r>
              <a:rPr lang="en-US" altLang="zh-CN" sz="2400" dirty="0"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sz="2400" baseline="-25000" dirty="0">
                <a:ea typeface="楷体_GB2312" pitchFamily="49" charset="-122"/>
                <a:cs typeface="Times New Roman" pitchFamily="18" charset="0"/>
              </a:rPr>
              <a:t>5</a:t>
            </a:r>
            <a:r>
              <a:rPr lang="en-US" altLang="zh-CN" sz="2400" dirty="0">
                <a:ea typeface="楷体_GB2312" pitchFamily="49" charset="-122"/>
                <a:cs typeface="Times New Roman" pitchFamily="18" charset="0"/>
              </a:rPr>
              <a:t>=0</a:t>
            </a:r>
            <a:r>
              <a:rPr lang="zh-CN" altLang="en-US" sz="2400" dirty="0">
                <a:ea typeface="楷体_GB2312" pitchFamily="49" charset="-122"/>
                <a:cs typeface="Times New Roman" pitchFamily="18" charset="0"/>
              </a:rPr>
              <a:t>不选择扩展写；</a:t>
            </a:r>
            <a:r>
              <a:rPr lang="en-US" altLang="zh-CN" sz="2400" dirty="0"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sz="2400" baseline="-25000" dirty="0">
                <a:ea typeface="楷体_GB2312" pitchFamily="49" charset="-122"/>
                <a:cs typeface="Times New Roman" pitchFamily="18" charset="0"/>
              </a:rPr>
              <a:t>5</a:t>
            </a:r>
            <a:r>
              <a:rPr lang="en-US" altLang="zh-CN" sz="2400" dirty="0">
                <a:ea typeface="楷体_GB2312" pitchFamily="49" charset="-122"/>
                <a:cs typeface="Times New Roman" pitchFamily="18" charset="0"/>
              </a:rPr>
              <a:t>=1</a:t>
            </a:r>
            <a:r>
              <a:rPr lang="zh-CN" altLang="en-US" sz="2400" dirty="0">
                <a:ea typeface="楷体_GB2312" pitchFamily="49" charset="-122"/>
                <a:cs typeface="Times New Roman" pitchFamily="18" charset="0"/>
              </a:rPr>
              <a:t>选择扩展写。</a:t>
            </a:r>
            <a:r>
              <a:rPr lang="en-US" altLang="zh-CN" sz="2400" dirty="0"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sz="2400" baseline="-25000" dirty="0">
                <a:ea typeface="楷体_GB2312" pitchFamily="49" charset="-122"/>
                <a:cs typeface="Times New Roman" pitchFamily="18" charset="0"/>
              </a:rPr>
              <a:t>3</a:t>
            </a:r>
            <a:r>
              <a:rPr lang="en-US" altLang="zh-CN" sz="2400" dirty="0">
                <a:ea typeface="楷体_GB2312" pitchFamily="49" charset="-122"/>
                <a:cs typeface="Times New Roman" pitchFamily="18" charset="0"/>
              </a:rPr>
              <a:t>=1</a:t>
            </a:r>
            <a:r>
              <a:rPr lang="zh-CN" altLang="en-US" sz="2400" dirty="0">
                <a:ea typeface="楷体_GB2312" pitchFamily="49" charset="-122"/>
                <a:cs typeface="Times New Roman" pitchFamily="18" charset="0"/>
              </a:rPr>
              <a:t>时该位无效。</a:t>
            </a:r>
            <a:endParaRPr lang="en-US" altLang="zh-CN" sz="2400" dirty="0"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  <a:p>
            <a:pPr marL="361950" indent="-361950" algn="just"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en-US" altLang="zh-CN" sz="2400" dirty="0">
                <a:solidFill>
                  <a:srgbClr val="FF00FF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D</a:t>
            </a:r>
            <a:r>
              <a:rPr lang="en-US" altLang="zh-CN" sz="2400" baseline="-25000" dirty="0">
                <a:solidFill>
                  <a:srgbClr val="FF00FF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6</a:t>
            </a:r>
            <a:r>
              <a:rPr lang="zh-CN" altLang="en-US" sz="2400" dirty="0">
                <a:solidFill>
                  <a:srgbClr val="FF00FF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位 决定</a:t>
            </a:r>
            <a:r>
              <a:rPr lang="en-US" altLang="zh-CN" sz="2400" dirty="0">
                <a:solidFill>
                  <a:srgbClr val="FF00FF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DREQ</a:t>
            </a:r>
            <a:r>
              <a:rPr lang="zh-CN" altLang="en-US" sz="2400" dirty="0">
                <a:solidFill>
                  <a:srgbClr val="FF00FF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的有效电平</a:t>
            </a:r>
            <a:r>
              <a:rPr lang="zh-CN" altLang="en-US" sz="2400" dirty="0">
                <a:latin typeface="Times New Roman" pitchFamily="18" charset="0"/>
                <a:ea typeface="+mn-ea"/>
                <a:cs typeface="Times New Roman" pitchFamily="18" charset="0"/>
              </a:rPr>
              <a:t>，</a:t>
            </a:r>
            <a:r>
              <a:rPr lang="en-US" altLang="zh-CN" sz="2400" dirty="0">
                <a:ea typeface="楷体_GB2312" pitchFamily="49" charset="-122"/>
                <a:cs typeface="Times New Roman" pitchFamily="18" charset="0"/>
              </a:rPr>
              <a:t>0</a:t>
            </a:r>
            <a:r>
              <a:rPr lang="zh-CN" altLang="en-US" sz="2400" dirty="0">
                <a:ea typeface="楷体_GB2312" pitchFamily="49" charset="-122"/>
                <a:cs typeface="Times New Roman" pitchFamily="18" charset="0"/>
              </a:rPr>
              <a:t>高电平有效，</a:t>
            </a:r>
            <a:r>
              <a:rPr lang="en-US" altLang="zh-CN" sz="2400" dirty="0">
                <a:ea typeface="楷体_GB2312" pitchFamily="49" charset="-122"/>
                <a:cs typeface="Times New Roman" pitchFamily="18" charset="0"/>
              </a:rPr>
              <a:t>1</a:t>
            </a:r>
            <a:r>
              <a:rPr lang="zh-CN" altLang="en-US" sz="2400" dirty="0">
                <a:ea typeface="楷体_GB2312" pitchFamily="49" charset="-122"/>
                <a:cs typeface="Times New Roman" pitchFamily="18" charset="0"/>
              </a:rPr>
              <a:t>则低电平有效。</a:t>
            </a:r>
          </a:p>
          <a:p>
            <a:pPr marL="361950" indent="-361950" algn="just"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en-US" altLang="zh-CN" sz="2400" dirty="0">
                <a:solidFill>
                  <a:srgbClr val="FF00FF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D</a:t>
            </a:r>
            <a:r>
              <a:rPr lang="en-US" altLang="zh-CN" sz="2400" baseline="-25000" dirty="0">
                <a:solidFill>
                  <a:srgbClr val="FF00FF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7</a:t>
            </a:r>
            <a:r>
              <a:rPr lang="zh-CN" altLang="en-US" sz="2400" dirty="0">
                <a:solidFill>
                  <a:srgbClr val="FF00FF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位 决定</a:t>
            </a:r>
            <a:r>
              <a:rPr lang="en-US" altLang="zh-CN" sz="2400" dirty="0">
                <a:solidFill>
                  <a:srgbClr val="FF00FF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DACK</a:t>
            </a:r>
            <a:r>
              <a:rPr lang="zh-CN" altLang="en-US" sz="2400" dirty="0">
                <a:solidFill>
                  <a:srgbClr val="FF00FF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的有效电平</a:t>
            </a:r>
            <a:r>
              <a:rPr lang="zh-CN" altLang="en-US" sz="2400" dirty="0">
                <a:latin typeface="Times New Roman" pitchFamily="18" charset="0"/>
                <a:ea typeface="+mn-ea"/>
                <a:cs typeface="Times New Roman" pitchFamily="18" charset="0"/>
              </a:rPr>
              <a:t>，</a:t>
            </a:r>
            <a:r>
              <a:rPr lang="en-US" altLang="zh-CN" sz="2400" dirty="0">
                <a:ea typeface="楷体_GB2312" pitchFamily="49" charset="-122"/>
                <a:cs typeface="Times New Roman" pitchFamily="18" charset="0"/>
              </a:rPr>
              <a:t>1</a:t>
            </a:r>
            <a:r>
              <a:rPr lang="zh-CN" altLang="en-US" sz="2400" dirty="0">
                <a:ea typeface="楷体_GB2312" pitchFamily="49" charset="-122"/>
                <a:cs typeface="Times New Roman" pitchFamily="18" charset="0"/>
              </a:rPr>
              <a:t>高电平有效，</a:t>
            </a:r>
            <a:r>
              <a:rPr lang="en-US" altLang="zh-CN" sz="2400" dirty="0">
                <a:ea typeface="楷体_GB2312" pitchFamily="49" charset="-122"/>
                <a:cs typeface="Times New Roman" pitchFamily="18" charset="0"/>
              </a:rPr>
              <a:t>0</a:t>
            </a:r>
            <a:r>
              <a:rPr lang="zh-CN" altLang="en-US" sz="2400" dirty="0">
                <a:ea typeface="楷体_GB2312" pitchFamily="49" charset="-122"/>
                <a:cs typeface="Times New Roman" pitchFamily="18" charset="0"/>
              </a:rPr>
              <a:t>则低电平有效。</a:t>
            </a:r>
            <a:endParaRPr lang="en-US" altLang="zh-CN" sz="2400" dirty="0">
              <a:ea typeface="楷体_GB2312" pitchFamily="49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704139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54627">
            <a:extLst>
              <a:ext uri="{FF2B5EF4-FFF2-40B4-BE49-F238E27FC236}">
                <a16:creationId xmlns:a16="http://schemas.microsoft.com/office/drawing/2014/main" id="{8FD5C705-FF4D-4BCC-8E7C-AAEA972594C4}"/>
              </a:ext>
            </a:extLst>
          </p:cNvPr>
          <p:cNvSpPr txBox="1">
            <a:spLocks/>
          </p:cNvSpPr>
          <p:nvPr/>
        </p:nvSpPr>
        <p:spPr>
          <a:xfrm>
            <a:off x="2195736" y="188640"/>
            <a:ext cx="5976664" cy="431800"/>
          </a:xfrm>
        </p:spPr>
        <p:txBody>
          <a:bodyPr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10.1.3 8237A </a:t>
            </a:r>
            <a:r>
              <a:rPr lang="zh-CN" altLang="en-US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的内部寄存器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CBD0FBF-7FE5-46D8-A8A6-4E79E28B12AB}"/>
              </a:ext>
            </a:extLst>
          </p:cNvPr>
          <p:cNvSpPr txBox="1"/>
          <p:nvPr/>
        </p:nvSpPr>
        <p:spPr>
          <a:xfrm>
            <a:off x="107504" y="908720"/>
            <a:ext cx="216024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47688" indent="-547688">
              <a:buNone/>
            </a:pPr>
            <a:r>
              <a:rPr lang="en-US" altLang="zh-CN" sz="2400" dirty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6. </a:t>
            </a:r>
            <a:r>
              <a:rPr lang="zh-CN" altLang="en-US" sz="2400" dirty="0">
                <a:solidFill>
                  <a:srgbClr val="FF00FF"/>
                </a:solidFill>
                <a:cs typeface="Times New Roman" pitchFamily="18" charset="0"/>
              </a:rPr>
              <a:t>工作方式</a:t>
            </a:r>
            <a:r>
              <a:rPr lang="zh-CN" altLang="en-US" sz="2400" dirty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寄存器</a:t>
            </a:r>
          </a:p>
          <a:p>
            <a:pPr marL="611188" marR="0" lvl="0" indent="-342900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0000FF"/>
              </a:buClr>
              <a:buSzTx/>
              <a:buFont typeface="Wingdings" panose="05000000000000000000" pitchFamily="2" charset="2"/>
              <a:buChar char="ü"/>
              <a:tabLst/>
              <a:defRPr/>
            </a:pP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6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位，每通道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1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个，选择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DMA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的传送方式和类型等</a:t>
            </a:r>
            <a:endParaRPr lang="en-US" altLang="zh-CN" sz="2400" dirty="0">
              <a:ea typeface="楷体_GB2312" pitchFamily="49" charset="-122"/>
              <a:cs typeface="Times New Roman" pitchFamily="18" charset="0"/>
            </a:endParaRPr>
          </a:p>
        </p:txBody>
      </p:sp>
      <p:pic>
        <p:nvPicPr>
          <p:cNvPr id="6" name="图片 5" descr="图11.4.jpg">
            <a:extLst>
              <a:ext uri="{FF2B5EF4-FFF2-40B4-BE49-F238E27FC236}">
                <a16:creationId xmlns:a16="http://schemas.microsoft.com/office/drawing/2014/main" id="{42ABD2D6-F5C7-48B7-A1A4-BE04572620C2}"/>
              </a:ext>
            </a:extLst>
          </p:cNvPr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2267744" y="1363507"/>
            <a:ext cx="6480720" cy="45857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198913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54627">
            <a:extLst>
              <a:ext uri="{FF2B5EF4-FFF2-40B4-BE49-F238E27FC236}">
                <a16:creationId xmlns:a16="http://schemas.microsoft.com/office/drawing/2014/main" id="{8FD5C705-FF4D-4BCC-8E7C-AAEA972594C4}"/>
              </a:ext>
            </a:extLst>
          </p:cNvPr>
          <p:cNvSpPr txBox="1">
            <a:spLocks/>
          </p:cNvSpPr>
          <p:nvPr/>
        </p:nvSpPr>
        <p:spPr>
          <a:xfrm>
            <a:off x="2195736" y="188640"/>
            <a:ext cx="5976664" cy="431800"/>
          </a:xfrm>
        </p:spPr>
        <p:txBody>
          <a:bodyPr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10.1.3 8237A </a:t>
            </a:r>
            <a:r>
              <a:rPr lang="zh-CN" altLang="en-US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的内部寄存器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CBD0FBF-7FE5-46D8-A8A6-4E79E28B12AB}"/>
              </a:ext>
            </a:extLst>
          </p:cNvPr>
          <p:cNvSpPr txBox="1"/>
          <p:nvPr/>
        </p:nvSpPr>
        <p:spPr>
          <a:xfrm>
            <a:off x="179512" y="908720"/>
            <a:ext cx="8352928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47688" indent="-547688">
              <a:buNone/>
            </a:pPr>
            <a:r>
              <a:rPr lang="en-US" altLang="zh-CN" sz="2400" dirty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6.</a:t>
            </a:r>
            <a:r>
              <a:rPr lang="zh-CN" altLang="en-US" sz="2400" dirty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工作方式寄存器</a:t>
            </a:r>
          </a:p>
          <a:p>
            <a:pPr marL="361950" indent="-361950"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en-US" altLang="zh-CN" sz="2400" dirty="0">
                <a:solidFill>
                  <a:srgbClr val="FF00FF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D</a:t>
            </a:r>
            <a:r>
              <a:rPr lang="en-US" altLang="zh-CN" sz="2400" baseline="-25000" dirty="0">
                <a:solidFill>
                  <a:srgbClr val="FF00FF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1</a:t>
            </a:r>
            <a:r>
              <a:rPr lang="en-US" altLang="zh-CN" sz="2400" dirty="0">
                <a:solidFill>
                  <a:srgbClr val="FF00FF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D</a:t>
            </a:r>
            <a:r>
              <a:rPr lang="en-US" altLang="zh-CN" sz="2400" baseline="-25000" dirty="0">
                <a:solidFill>
                  <a:srgbClr val="FF00FF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0</a:t>
            </a:r>
            <a:r>
              <a:rPr lang="zh-CN" altLang="en-US" sz="2400" dirty="0">
                <a:solidFill>
                  <a:srgbClr val="FF00FF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位   选择通道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，并进一步由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sz="2400" baseline="-25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2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  <a:sym typeface="Symbol"/>
              </a:rPr>
              <a:t>D</a:t>
            </a:r>
            <a:r>
              <a:rPr lang="en-US" altLang="zh-CN" sz="2400" baseline="-25000" dirty="0">
                <a:latin typeface="Times New Roman" pitchFamily="18" charset="0"/>
                <a:ea typeface="楷体_GB2312" pitchFamily="49" charset="-122"/>
                <a:cs typeface="Times New Roman" pitchFamily="18" charset="0"/>
                <a:sym typeface="Symbol"/>
              </a:rPr>
              <a:t>7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  <a:sym typeface="Symbol"/>
              </a:rPr>
              <a:t>指定选定通道的工作方式。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这样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4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个通道可合用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1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个方式寄存器。</a:t>
            </a:r>
          </a:p>
          <a:p>
            <a:pPr marL="361950" indent="-361950"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en-US" altLang="zh-CN" sz="2400" dirty="0">
                <a:solidFill>
                  <a:srgbClr val="FF00FF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D</a:t>
            </a:r>
            <a:r>
              <a:rPr lang="en-US" altLang="zh-CN" sz="2400" baseline="-25000" dirty="0">
                <a:solidFill>
                  <a:srgbClr val="FF00FF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3</a:t>
            </a:r>
            <a:r>
              <a:rPr lang="en-US" altLang="zh-CN" sz="2400" dirty="0">
                <a:solidFill>
                  <a:srgbClr val="FF00FF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D</a:t>
            </a:r>
            <a:r>
              <a:rPr lang="en-US" altLang="zh-CN" sz="2400" baseline="-25000" dirty="0">
                <a:solidFill>
                  <a:srgbClr val="FF00FF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2</a:t>
            </a:r>
            <a:r>
              <a:rPr lang="zh-CN" altLang="en-US" sz="2400" dirty="0">
                <a:solidFill>
                  <a:srgbClr val="FF00FF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位   决定所选通道的</a:t>
            </a:r>
            <a:r>
              <a:rPr lang="en-US" altLang="zh-CN" sz="2400" dirty="0">
                <a:solidFill>
                  <a:srgbClr val="FF00FF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DMA</a:t>
            </a:r>
            <a:r>
              <a:rPr lang="zh-CN" altLang="en-US" sz="2400" dirty="0">
                <a:solidFill>
                  <a:srgbClr val="FF00FF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操作类型</a:t>
            </a:r>
            <a:r>
              <a:rPr lang="zh-CN" altLang="en-US" sz="2400" dirty="0">
                <a:latin typeface="Times New Roman" pitchFamily="18" charset="0"/>
                <a:ea typeface="+mn-ea"/>
                <a:cs typeface="Times New Roman" pitchFamily="18" charset="0"/>
              </a:rPr>
              <a:t>。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从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3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种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DMA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传送类型中选定一种：</a:t>
            </a:r>
            <a:endParaRPr lang="en-US" altLang="zh-CN" sz="2400" dirty="0"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  <a:p>
            <a:pPr marL="361950">
              <a:spcBef>
                <a:spcPts val="0"/>
              </a:spcBef>
              <a:buClr>
                <a:srgbClr val="0000FF"/>
              </a:buClr>
            </a:pP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10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：读传送，存储器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  <a:sym typeface="Wingdings 3"/>
              </a:rPr>
              <a:t>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I/O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设备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, 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发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MEMR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、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IOW</a:t>
            </a:r>
          </a:p>
          <a:p>
            <a:pPr marL="361950">
              <a:spcBef>
                <a:spcPts val="0"/>
              </a:spcBef>
              <a:buClr>
                <a:srgbClr val="0000FF"/>
              </a:buClr>
            </a:pP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01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：写传送，存储器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  <a:sym typeface="Wingdings 3"/>
              </a:rPr>
              <a:t>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  <a:sym typeface="Wingdings 3"/>
              </a:rPr>
              <a:t>I/O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  <a:sym typeface="Wingdings 3"/>
              </a:rPr>
              <a:t>设备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  <a:sym typeface="Wingdings 3"/>
              </a:rPr>
              <a:t>, 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  <a:sym typeface="Wingdings 3"/>
              </a:rPr>
              <a:t>发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MEMW</a:t>
            </a:r>
            <a:r>
              <a:rPr lang="zh-CN" altLang="en-US" sz="2400" dirty="0">
                <a:ea typeface="楷体_GB2312" pitchFamily="49" charset="-122"/>
                <a:cs typeface="Times New Roman" pitchFamily="18" charset="0"/>
              </a:rPr>
              <a:t>、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IOR</a:t>
            </a:r>
          </a:p>
          <a:p>
            <a:pPr marL="361950">
              <a:spcBef>
                <a:spcPts val="0"/>
              </a:spcBef>
              <a:buClr>
                <a:srgbClr val="0000FF"/>
              </a:buClr>
            </a:pP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00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：校验传送，伪传送，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8237A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会产生地址信息和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EOP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信号，不会发出读写控制信号，用于测试。</a:t>
            </a:r>
            <a:endParaRPr lang="en-US" altLang="zh-CN" sz="2400" dirty="0"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  <a:p>
            <a:pPr marL="361950" indent="-361950" algn="just"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en-US" altLang="zh-CN" sz="2400" dirty="0">
                <a:solidFill>
                  <a:srgbClr val="FF00FF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D</a:t>
            </a:r>
            <a:r>
              <a:rPr lang="en-US" altLang="zh-CN" sz="2400" baseline="-25000" dirty="0">
                <a:solidFill>
                  <a:srgbClr val="FF00FF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4</a:t>
            </a:r>
            <a:r>
              <a:rPr lang="zh-CN" altLang="en-US" sz="2400" dirty="0">
                <a:solidFill>
                  <a:srgbClr val="FF00FF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位 所选通道是否进行自动预置操作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。如果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sz="2400" baseline="-25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4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=1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，则选择自动预置。</a:t>
            </a:r>
          </a:p>
          <a:p>
            <a:pPr marL="361950" indent="-361950" algn="just"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en-US" altLang="zh-CN" sz="2400" dirty="0">
                <a:solidFill>
                  <a:srgbClr val="FF00FF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D</a:t>
            </a:r>
            <a:r>
              <a:rPr lang="en-US" altLang="zh-CN" sz="2400" baseline="-25000" dirty="0">
                <a:solidFill>
                  <a:srgbClr val="FF00FF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5</a:t>
            </a:r>
            <a:r>
              <a:rPr lang="zh-CN" altLang="en-US" sz="2400" dirty="0">
                <a:solidFill>
                  <a:srgbClr val="FF00FF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位 方向控制位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。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sz="2400" baseline="-25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5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=0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数据传送由低址向高址方向进行，每传送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1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字节，地址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+1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。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sz="2400" baseline="-25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5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=1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时，由高地址向低地址方向传送门，且地址减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1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。</a:t>
            </a:r>
          </a:p>
          <a:p>
            <a:pPr marL="361950" indent="-361950" algn="just">
              <a:buClr>
                <a:srgbClr val="0000FF"/>
              </a:buClr>
              <a:buFont typeface="Wingdings" panose="05000000000000000000" pitchFamily="2" charset="2"/>
              <a:buChar char="ü"/>
            </a:pPr>
            <a:endParaRPr lang="en-US" altLang="zh-CN" sz="2400" dirty="0">
              <a:ea typeface="楷体_GB2312" pitchFamily="49" charset="-122"/>
              <a:cs typeface="Times New Roman" pitchFamily="18" charset="0"/>
            </a:endParaRPr>
          </a:p>
        </p:txBody>
      </p:sp>
      <p:cxnSp>
        <p:nvCxnSpPr>
          <p:cNvPr id="5" name="直接连接符 4">
            <a:extLst>
              <a:ext uri="{FF2B5EF4-FFF2-40B4-BE49-F238E27FC236}">
                <a16:creationId xmlns:a16="http://schemas.microsoft.com/office/drawing/2014/main" id="{929CA467-190A-45AF-8338-0B4CDBF52CC4}"/>
              </a:ext>
            </a:extLst>
          </p:cNvPr>
          <p:cNvCxnSpPr/>
          <p:nvPr/>
        </p:nvCxnSpPr>
        <p:spPr>
          <a:xfrm>
            <a:off x="5220072" y="2780928"/>
            <a:ext cx="7920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D2694489-A095-4853-ABC7-387A5DBA0661}"/>
              </a:ext>
            </a:extLst>
          </p:cNvPr>
          <p:cNvCxnSpPr>
            <a:cxnSpLocks/>
          </p:cNvCxnSpPr>
          <p:nvPr/>
        </p:nvCxnSpPr>
        <p:spPr>
          <a:xfrm>
            <a:off x="6429350" y="2790453"/>
            <a:ext cx="57606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连接符 7">
            <a:extLst>
              <a:ext uri="{FF2B5EF4-FFF2-40B4-BE49-F238E27FC236}">
                <a16:creationId xmlns:a16="http://schemas.microsoft.com/office/drawing/2014/main" id="{98CA0681-8230-46E6-BC56-F541497E81F4}"/>
              </a:ext>
            </a:extLst>
          </p:cNvPr>
          <p:cNvCxnSpPr>
            <a:cxnSpLocks/>
          </p:cNvCxnSpPr>
          <p:nvPr/>
        </p:nvCxnSpPr>
        <p:spPr>
          <a:xfrm>
            <a:off x="5220072" y="3155826"/>
            <a:ext cx="93610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9BB31BD0-AC9B-4E9D-ABC3-43F29AF47A51}"/>
              </a:ext>
            </a:extLst>
          </p:cNvPr>
          <p:cNvCxnSpPr>
            <a:cxnSpLocks/>
          </p:cNvCxnSpPr>
          <p:nvPr/>
        </p:nvCxnSpPr>
        <p:spPr>
          <a:xfrm>
            <a:off x="6516216" y="3164979"/>
            <a:ext cx="4320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59324E52-DBC3-44D7-AF6B-35A026C5BCDF}"/>
              </a:ext>
            </a:extLst>
          </p:cNvPr>
          <p:cNvCxnSpPr>
            <a:cxnSpLocks/>
          </p:cNvCxnSpPr>
          <p:nvPr/>
        </p:nvCxnSpPr>
        <p:spPr>
          <a:xfrm>
            <a:off x="7289254" y="3529583"/>
            <a:ext cx="4320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05561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54627">
            <a:extLst>
              <a:ext uri="{FF2B5EF4-FFF2-40B4-BE49-F238E27FC236}">
                <a16:creationId xmlns:a16="http://schemas.microsoft.com/office/drawing/2014/main" id="{8FD5C705-FF4D-4BCC-8E7C-AAEA972594C4}"/>
              </a:ext>
            </a:extLst>
          </p:cNvPr>
          <p:cNvSpPr txBox="1">
            <a:spLocks/>
          </p:cNvSpPr>
          <p:nvPr/>
        </p:nvSpPr>
        <p:spPr>
          <a:xfrm>
            <a:off x="2195736" y="188640"/>
            <a:ext cx="5976664" cy="431800"/>
          </a:xfrm>
        </p:spPr>
        <p:txBody>
          <a:bodyPr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10.1.3 8237A </a:t>
            </a:r>
            <a:r>
              <a:rPr lang="zh-CN" altLang="en-US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的内部寄存器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CBD0FBF-7FE5-46D8-A8A6-4E79E28B12AB}"/>
              </a:ext>
            </a:extLst>
          </p:cNvPr>
          <p:cNvSpPr txBox="1"/>
          <p:nvPr/>
        </p:nvSpPr>
        <p:spPr>
          <a:xfrm>
            <a:off x="179512" y="908720"/>
            <a:ext cx="8352928" cy="512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47688" indent="-547688">
              <a:buNone/>
            </a:pPr>
            <a:r>
              <a:rPr lang="en-US" altLang="zh-CN" sz="2400" dirty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6.</a:t>
            </a:r>
            <a:r>
              <a:rPr lang="zh-CN" altLang="en-US" sz="2400" dirty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工作方式寄存器</a:t>
            </a:r>
          </a:p>
          <a:p>
            <a:pPr marL="361950" indent="-361950"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en-US" altLang="zh-CN" sz="2400" dirty="0">
                <a:solidFill>
                  <a:srgbClr val="FF00FF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D</a:t>
            </a:r>
            <a:r>
              <a:rPr lang="en-US" altLang="zh-CN" sz="2400" baseline="-25000" dirty="0">
                <a:solidFill>
                  <a:srgbClr val="FF00FF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7</a:t>
            </a:r>
            <a:r>
              <a:rPr lang="en-US" altLang="zh-CN" sz="2400" dirty="0">
                <a:solidFill>
                  <a:srgbClr val="FF00FF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D</a:t>
            </a:r>
            <a:r>
              <a:rPr lang="en-US" altLang="zh-CN" sz="2400" baseline="-25000" dirty="0">
                <a:solidFill>
                  <a:srgbClr val="FF00FF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6</a:t>
            </a:r>
            <a:r>
              <a:rPr lang="zh-CN" altLang="en-US" sz="2400" dirty="0">
                <a:solidFill>
                  <a:srgbClr val="FF00FF"/>
                </a:solidFill>
                <a:latin typeface="Times New Roman" pitchFamily="18" charset="0"/>
                <a:ea typeface="+mn-ea"/>
                <a:cs typeface="Times New Roman" pitchFamily="18" charset="0"/>
              </a:rPr>
              <a:t>位  定义所选通道操作方式</a:t>
            </a:r>
            <a:r>
              <a:rPr lang="zh-CN" altLang="en-US" sz="2400" dirty="0">
                <a:latin typeface="Times New Roman" pitchFamily="18" charset="0"/>
                <a:ea typeface="+mn-ea"/>
                <a:cs typeface="Times New Roman" pitchFamily="18" charset="0"/>
              </a:rPr>
              <a:t>。有</a:t>
            </a:r>
            <a:r>
              <a:rPr lang="en-US" altLang="zh-CN" sz="2400" dirty="0">
                <a:latin typeface="Times New Roman" pitchFamily="18" charset="0"/>
                <a:ea typeface="+mn-ea"/>
                <a:cs typeface="Times New Roman" pitchFamily="18" charset="0"/>
              </a:rPr>
              <a:t>4</a:t>
            </a:r>
            <a:r>
              <a:rPr lang="zh-CN" altLang="en-US" sz="2400" dirty="0">
                <a:latin typeface="Times New Roman" pitchFamily="18" charset="0"/>
                <a:ea typeface="+mn-ea"/>
                <a:cs typeface="Times New Roman" pitchFamily="18" charset="0"/>
              </a:rPr>
              <a:t>种传送方式：</a:t>
            </a:r>
          </a:p>
          <a:p>
            <a:pPr marL="441325" indent="-441325">
              <a:spcBef>
                <a:spcPts val="600"/>
              </a:spcBef>
              <a:buNone/>
            </a:pPr>
            <a:r>
              <a:rPr lang="en-US" altLang="zh-CN" sz="2400" dirty="0">
                <a:latin typeface="Times New Roman" pitchFamily="18" charset="0"/>
                <a:ea typeface="+mn-ea"/>
                <a:cs typeface="Times New Roman" pitchFamily="18" charset="0"/>
              </a:rPr>
              <a:t>1</a:t>
            </a:r>
            <a:r>
              <a:rPr lang="zh-CN" altLang="en-US" sz="2400" dirty="0">
                <a:latin typeface="Times New Roman" pitchFamily="18" charset="0"/>
                <a:ea typeface="+mn-ea"/>
                <a:cs typeface="Times New Roman" pitchFamily="18" charset="0"/>
              </a:rPr>
              <a:t>） 单字节传送方式</a:t>
            </a:r>
          </a:p>
          <a:p>
            <a:pPr marL="176213" indent="-176213" algn="just">
              <a:spcBef>
                <a:spcPts val="600"/>
              </a:spcBef>
              <a:buFont typeface="Arial" pitchFamily="34" charset="0"/>
              <a:buChar char="•"/>
            </a:pP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每次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DMA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操作只传送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1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字节。之后字计数器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  <a:sym typeface="Symbol"/>
              </a:rPr>
              <a:t>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1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，地址寄存器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+1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或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  <a:sym typeface="Symbol"/>
              </a:rPr>
              <a:t>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1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，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HRQ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无效，释放系统总线。当字计数器由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0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减为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FFFFH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时，产生终止信号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TC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。</a:t>
            </a:r>
          </a:p>
          <a:p>
            <a:pPr marL="176213" indent="-176213" algn="just">
              <a:spcBef>
                <a:spcPts val="600"/>
              </a:spcBef>
              <a:buFont typeface="Arial" pitchFamily="34" charset="0"/>
              <a:buChar char="•"/>
            </a:pP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此后即使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DREQ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继续有效，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8237A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的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HRQ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输出仍进入无效状态并让出总线，由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CPU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控制至少一个总线周期。</a:t>
            </a:r>
          </a:p>
          <a:p>
            <a:pPr>
              <a:buNone/>
            </a:pPr>
            <a:r>
              <a:rPr lang="en-US" altLang="zh-CN" sz="2400" dirty="0">
                <a:latin typeface="Times New Roman" pitchFamily="18" charset="0"/>
                <a:ea typeface="+mn-ea"/>
                <a:cs typeface="Times New Roman" pitchFamily="18" charset="0"/>
              </a:rPr>
              <a:t>2</a:t>
            </a:r>
            <a:r>
              <a:rPr lang="zh-CN" altLang="en-US" sz="2400" dirty="0">
                <a:latin typeface="Times New Roman" pitchFamily="18" charset="0"/>
                <a:ea typeface="+mn-ea"/>
                <a:cs typeface="Times New Roman" pitchFamily="18" charset="0"/>
              </a:rPr>
              <a:t>） 数据块传输方式</a:t>
            </a:r>
          </a:p>
          <a:p>
            <a:pPr marL="176213" indent="-176213" algn="just">
              <a:buFont typeface="Arial" pitchFamily="34" charset="0"/>
              <a:buChar char="•"/>
            </a:pP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进入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DMA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服务后，可连续传输一批数据，直到字计数器由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0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减为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FFFFH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产生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TC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信号，或从外部送来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EOP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信号时，才释放总线，结束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DMA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传输。</a:t>
            </a:r>
          </a:p>
          <a:p>
            <a:pPr marL="361950" indent="-361950" algn="just">
              <a:buClr>
                <a:srgbClr val="0000FF"/>
              </a:buClr>
              <a:buFont typeface="Wingdings" panose="05000000000000000000" pitchFamily="2" charset="2"/>
              <a:buChar char="ü"/>
            </a:pPr>
            <a:endParaRPr lang="en-US" altLang="zh-CN" sz="2400" dirty="0">
              <a:ea typeface="楷体_GB2312" pitchFamily="49" charset="-122"/>
              <a:cs typeface="Times New Roman" pitchFamily="18" charset="0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9BB31BD0-AC9B-4E9D-ABC3-43F29AF47A51}"/>
              </a:ext>
            </a:extLst>
          </p:cNvPr>
          <p:cNvCxnSpPr>
            <a:cxnSpLocks/>
          </p:cNvCxnSpPr>
          <p:nvPr/>
        </p:nvCxnSpPr>
        <p:spPr>
          <a:xfrm>
            <a:off x="5762228" y="4869160"/>
            <a:ext cx="4320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2836272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54627">
            <a:extLst>
              <a:ext uri="{FF2B5EF4-FFF2-40B4-BE49-F238E27FC236}">
                <a16:creationId xmlns:a16="http://schemas.microsoft.com/office/drawing/2014/main" id="{8FD5C705-FF4D-4BCC-8E7C-AAEA972594C4}"/>
              </a:ext>
            </a:extLst>
          </p:cNvPr>
          <p:cNvSpPr txBox="1">
            <a:spLocks/>
          </p:cNvSpPr>
          <p:nvPr/>
        </p:nvSpPr>
        <p:spPr>
          <a:xfrm>
            <a:off x="2195736" y="188640"/>
            <a:ext cx="5976664" cy="431800"/>
          </a:xfrm>
        </p:spPr>
        <p:txBody>
          <a:bodyPr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10.1.3 8237A </a:t>
            </a:r>
            <a:r>
              <a:rPr lang="zh-CN" altLang="en-US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的内部寄存器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CBD0FBF-7FE5-46D8-A8A6-4E79E28B12AB}"/>
              </a:ext>
            </a:extLst>
          </p:cNvPr>
          <p:cNvSpPr txBox="1"/>
          <p:nvPr/>
        </p:nvSpPr>
        <p:spPr>
          <a:xfrm>
            <a:off x="179512" y="908720"/>
            <a:ext cx="8352928" cy="341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47688" indent="-547688">
              <a:buNone/>
            </a:pPr>
            <a:r>
              <a:rPr lang="en-US" altLang="zh-CN" sz="2400" dirty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6.</a:t>
            </a:r>
            <a:r>
              <a:rPr lang="zh-CN" altLang="en-US" sz="2400" dirty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工作方式寄存器</a:t>
            </a:r>
          </a:p>
          <a:p>
            <a:pPr marL="547688" indent="-547688">
              <a:buNone/>
            </a:pPr>
            <a:r>
              <a:rPr lang="en-US" altLang="zh-CN" sz="2400" dirty="0">
                <a:latin typeface="Times New Roman" pitchFamily="18" charset="0"/>
                <a:ea typeface="+mn-ea"/>
                <a:cs typeface="Times New Roman" pitchFamily="18" charset="0"/>
              </a:rPr>
              <a:t>3</a:t>
            </a:r>
            <a:r>
              <a:rPr lang="zh-CN" altLang="en-US" sz="2400" dirty="0">
                <a:latin typeface="Times New Roman" pitchFamily="18" charset="0"/>
                <a:ea typeface="+mn-ea"/>
                <a:cs typeface="Times New Roman" pitchFamily="18" charset="0"/>
              </a:rPr>
              <a:t>）请求传送方式</a:t>
            </a:r>
          </a:p>
          <a:p>
            <a:pPr marL="176213" indent="-176213" algn="just">
              <a:buFont typeface="Arial" pitchFamily="34" charset="0"/>
              <a:buChar char="•"/>
            </a:pP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连续传送数据，直到字计数器由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0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减为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FFFFH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产生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TC, 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或外界送来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EOP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信号。但每传送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1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字节后，都要测试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DREQ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端，一旦发现此信号无效，马上停止。</a:t>
            </a:r>
            <a:endParaRPr lang="en-US" altLang="zh-CN" sz="2400" dirty="0"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  <a:p>
            <a:pPr marL="176213" indent="-176213" algn="just">
              <a:spcBef>
                <a:spcPts val="0"/>
              </a:spcBef>
              <a:buFont typeface="Arial" pitchFamily="34" charset="0"/>
              <a:buChar char="•"/>
            </a:pP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地址和字计数器的中间值会被保存在通道的现行地址和字计数器中，外设准备好新数据时，可使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DREQ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再变为有效，又从断点处继续进行传输。</a:t>
            </a:r>
          </a:p>
          <a:p>
            <a:pPr marL="361950" indent="-361950" algn="just">
              <a:buClr>
                <a:srgbClr val="0000FF"/>
              </a:buClr>
              <a:buFont typeface="Wingdings" panose="05000000000000000000" pitchFamily="2" charset="2"/>
              <a:buChar char="ü"/>
            </a:pPr>
            <a:endParaRPr lang="en-US" altLang="zh-CN" sz="2400" dirty="0">
              <a:ea typeface="楷体_GB2312" pitchFamily="49" charset="-122"/>
              <a:cs typeface="Times New Roman" pitchFamily="18" charset="0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9BB31BD0-AC9B-4E9D-ABC3-43F29AF47A51}"/>
              </a:ext>
            </a:extLst>
          </p:cNvPr>
          <p:cNvCxnSpPr>
            <a:cxnSpLocks/>
          </p:cNvCxnSpPr>
          <p:nvPr/>
        </p:nvCxnSpPr>
        <p:spPr>
          <a:xfrm>
            <a:off x="1413173" y="2075706"/>
            <a:ext cx="4320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1050907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54627">
            <a:extLst>
              <a:ext uri="{FF2B5EF4-FFF2-40B4-BE49-F238E27FC236}">
                <a16:creationId xmlns:a16="http://schemas.microsoft.com/office/drawing/2014/main" id="{8FD5C705-FF4D-4BCC-8E7C-AAEA972594C4}"/>
              </a:ext>
            </a:extLst>
          </p:cNvPr>
          <p:cNvSpPr txBox="1">
            <a:spLocks/>
          </p:cNvSpPr>
          <p:nvPr/>
        </p:nvSpPr>
        <p:spPr>
          <a:xfrm>
            <a:off x="2195736" y="188640"/>
            <a:ext cx="5976664" cy="431800"/>
          </a:xfrm>
        </p:spPr>
        <p:txBody>
          <a:bodyPr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10.1.3 8237A </a:t>
            </a:r>
            <a:r>
              <a:rPr lang="zh-CN" altLang="en-US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的内部寄存器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CBD0FBF-7FE5-46D8-A8A6-4E79E28B12AB}"/>
              </a:ext>
            </a:extLst>
          </p:cNvPr>
          <p:cNvSpPr txBox="1"/>
          <p:nvPr/>
        </p:nvSpPr>
        <p:spPr>
          <a:xfrm>
            <a:off x="179512" y="908720"/>
            <a:ext cx="8352928" cy="23852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47688" indent="-547688">
              <a:buNone/>
            </a:pPr>
            <a:r>
              <a:rPr lang="en-US" altLang="zh-CN" sz="2400" dirty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6.</a:t>
            </a:r>
            <a:r>
              <a:rPr lang="zh-CN" altLang="en-US" sz="2400" dirty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工作方式寄存器</a:t>
            </a:r>
          </a:p>
          <a:p>
            <a:pPr marL="441325" indent="-441325">
              <a:buNone/>
            </a:pPr>
            <a:r>
              <a:rPr lang="en-US" altLang="zh-CN" sz="2400" dirty="0">
                <a:latin typeface="Times New Roman" pitchFamily="18" charset="0"/>
                <a:ea typeface="+mn-ea"/>
                <a:cs typeface="Times New Roman" pitchFamily="18" charset="0"/>
              </a:rPr>
              <a:t>4</a:t>
            </a:r>
            <a:r>
              <a:rPr lang="zh-CN" altLang="en-US" sz="2400" dirty="0">
                <a:latin typeface="Times New Roman" pitchFamily="18" charset="0"/>
                <a:ea typeface="+mn-ea"/>
                <a:cs typeface="Times New Roman" pitchFamily="18" charset="0"/>
              </a:rPr>
              <a:t>）级联传送方式</a:t>
            </a:r>
          </a:p>
          <a:p>
            <a:pPr marL="176213" indent="-176213" algn="just">
              <a:spcBef>
                <a:spcPts val="600"/>
              </a:spcBef>
              <a:buFont typeface="Arial" pitchFamily="34" charset="0"/>
              <a:buChar char="•"/>
            </a:pP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连接多个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8237A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以扩充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DMA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通道</a:t>
            </a:r>
            <a:endParaRPr lang="en-US" altLang="zh-CN" sz="2400" dirty="0"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  <a:p>
            <a:pPr marL="176213" indent="-176213" algn="just">
              <a:spcBef>
                <a:spcPts val="0"/>
              </a:spcBef>
              <a:buFont typeface="Arial" pitchFamily="34" charset="0"/>
              <a:buChar char="•"/>
            </a:pP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主片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DREQ—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从片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HRQ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，主片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DACK—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从片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HLDA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，主片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HRQ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和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HLDA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与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CPU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的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HOLD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和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HLDA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相连。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1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块主片可连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4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块从片。主片置为级联传送，从片设成其它三种方式。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239AFAB6-17E1-496D-A1EE-CA805EADCE4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/>
          <a:srcRect b="11704"/>
          <a:stretch/>
        </p:blipFill>
        <p:spPr bwMode="auto">
          <a:xfrm>
            <a:off x="2212900" y="3287886"/>
            <a:ext cx="4663355" cy="30639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08056683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54627">
            <a:extLst>
              <a:ext uri="{FF2B5EF4-FFF2-40B4-BE49-F238E27FC236}">
                <a16:creationId xmlns:a16="http://schemas.microsoft.com/office/drawing/2014/main" id="{8FD5C705-FF4D-4BCC-8E7C-AAEA972594C4}"/>
              </a:ext>
            </a:extLst>
          </p:cNvPr>
          <p:cNvSpPr txBox="1">
            <a:spLocks/>
          </p:cNvSpPr>
          <p:nvPr/>
        </p:nvSpPr>
        <p:spPr>
          <a:xfrm>
            <a:off x="2195736" y="188640"/>
            <a:ext cx="5976664" cy="431800"/>
          </a:xfrm>
        </p:spPr>
        <p:txBody>
          <a:bodyPr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10.1.3 8237A </a:t>
            </a:r>
            <a:r>
              <a:rPr lang="zh-CN" altLang="en-US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的内部寄存器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CBD0FBF-7FE5-46D8-A8A6-4E79E28B12AB}"/>
              </a:ext>
            </a:extLst>
          </p:cNvPr>
          <p:cNvSpPr txBox="1"/>
          <p:nvPr/>
        </p:nvSpPr>
        <p:spPr>
          <a:xfrm>
            <a:off x="179512" y="908720"/>
            <a:ext cx="835292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47688" indent="-547688">
              <a:buNone/>
            </a:pPr>
            <a:r>
              <a:rPr lang="en-US" altLang="zh-CN" sz="2400" dirty="0">
                <a:solidFill>
                  <a:srgbClr val="FF00FF"/>
                </a:solidFill>
                <a:cs typeface="Times New Roman" pitchFamily="18" charset="0"/>
              </a:rPr>
              <a:t>7</a:t>
            </a:r>
            <a:r>
              <a:rPr lang="en-US" altLang="zh-CN" sz="2400" dirty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lang="zh-CN" altLang="en-US" sz="2400" dirty="0">
                <a:solidFill>
                  <a:srgbClr val="FF00FF"/>
                </a:solidFill>
                <a:cs typeface="Times New Roman" pitchFamily="18" charset="0"/>
              </a:rPr>
              <a:t>请求</a:t>
            </a:r>
            <a:r>
              <a:rPr lang="zh-CN" altLang="en-US" sz="2400" dirty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寄存器</a:t>
            </a:r>
          </a:p>
          <a:p>
            <a:pPr marL="342900" indent="-342900"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en-US" altLang="zh-CN" sz="2400" dirty="0">
                <a:ea typeface="楷体_GB2312" pitchFamily="49" charset="-122"/>
                <a:cs typeface="Times New Roman" pitchFamily="18" charset="0"/>
              </a:rPr>
              <a:t>4</a:t>
            </a:r>
            <a:r>
              <a:rPr lang="zh-CN" altLang="en-US" sz="2400" dirty="0">
                <a:ea typeface="楷体_GB2312" pitchFamily="49" charset="-122"/>
                <a:cs typeface="Times New Roman" pitchFamily="18" charset="0"/>
              </a:rPr>
              <a:t>位，</a:t>
            </a:r>
            <a:r>
              <a:rPr lang="en-US" altLang="zh-CN" sz="2400" dirty="0">
                <a:ea typeface="楷体_GB2312" pitchFamily="49" charset="-122"/>
                <a:cs typeface="Times New Roman" pitchFamily="18" charset="0"/>
              </a:rPr>
              <a:t>1</a:t>
            </a:r>
            <a:r>
              <a:rPr lang="zh-CN" altLang="en-US" sz="2400" dirty="0">
                <a:ea typeface="楷体_GB2312" pitchFamily="49" charset="-122"/>
                <a:cs typeface="Times New Roman" pitchFamily="18" charset="0"/>
              </a:rPr>
              <a:t>位</a:t>
            </a:r>
            <a:r>
              <a:rPr lang="en-US" altLang="zh-CN" sz="2400" dirty="0">
                <a:ea typeface="楷体_GB2312" pitchFamily="49" charset="-122"/>
                <a:cs typeface="Times New Roman" pitchFamily="18" charset="0"/>
              </a:rPr>
              <a:t>/</a:t>
            </a:r>
            <a:r>
              <a:rPr lang="zh-CN" altLang="en-US" sz="2400" dirty="0">
                <a:ea typeface="楷体_GB2312" pitchFamily="49" charset="-122"/>
                <a:cs typeface="Times New Roman" pitchFamily="18" charset="0"/>
              </a:rPr>
              <a:t>通道</a:t>
            </a:r>
            <a:endParaRPr lang="en-US" altLang="zh-CN" sz="2400" dirty="0"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  <a:p>
            <a:pPr marL="342900" indent="-342900"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相应请求位置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1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时，对应通道可产生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DMA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请求。相应位可由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DREQ 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信号置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1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，也可写入通道请求字来置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1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或清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0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。 </a:t>
            </a:r>
            <a:endParaRPr lang="en-US" altLang="zh-CN" sz="2400" dirty="0"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  <a:p>
            <a:pPr marL="342900" indent="-342900"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sz="2400" baseline="-25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1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sz="2400" baseline="-25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0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位选通道号，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sz="2400" baseline="-25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2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位为请求位。请求位不能屏蔽，其优先权受优先权逻辑控制，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TC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或外部的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EOP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信号能将相应的请求位清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0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，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RESET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信号则使整个请求寄存器清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0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。</a:t>
            </a: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3CBD18DB-2CB8-4156-A1B4-2C61CD871F7C}"/>
              </a:ext>
            </a:extLst>
          </p:cNvPr>
          <p:cNvCxnSpPr/>
          <p:nvPr/>
        </p:nvCxnSpPr>
        <p:spPr>
          <a:xfrm>
            <a:off x="5580112" y="2439938"/>
            <a:ext cx="50405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2">
            <a:extLst>
              <a:ext uri="{FF2B5EF4-FFF2-40B4-BE49-F238E27FC236}">
                <a16:creationId xmlns:a16="http://schemas.microsoft.com/office/drawing/2014/main" id="{CCBF59C8-F5B7-4FB2-A964-D4213228E27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/>
          <a:srcRect b="15374"/>
          <a:stretch/>
        </p:blipFill>
        <p:spPr bwMode="auto">
          <a:xfrm>
            <a:off x="988279" y="3356992"/>
            <a:ext cx="6735394" cy="25202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4000429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54627">
            <a:extLst>
              <a:ext uri="{FF2B5EF4-FFF2-40B4-BE49-F238E27FC236}">
                <a16:creationId xmlns:a16="http://schemas.microsoft.com/office/drawing/2014/main" id="{8FD5C705-FF4D-4BCC-8E7C-AAEA972594C4}"/>
              </a:ext>
            </a:extLst>
          </p:cNvPr>
          <p:cNvSpPr txBox="1">
            <a:spLocks/>
          </p:cNvSpPr>
          <p:nvPr/>
        </p:nvSpPr>
        <p:spPr>
          <a:xfrm>
            <a:off x="2195736" y="188640"/>
            <a:ext cx="5976664" cy="431800"/>
          </a:xfrm>
        </p:spPr>
        <p:txBody>
          <a:bodyPr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10.1.3 8237A </a:t>
            </a:r>
            <a:r>
              <a:rPr lang="zh-CN" altLang="en-US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的内部寄存器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CBD0FBF-7FE5-46D8-A8A6-4E79E28B12AB}"/>
              </a:ext>
            </a:extLst>
          </p:cNvPr>
          <p:cNvSpPr txBox="1"/>
          <p:nvPr/>
        </p:nvSpPr>
        <p:spPr>
          <a:xfrm>
            <a:off x="179512" y="908720"/>
            <a:ext cx="835292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47688" indent="-547688">
              <a:buNone/>
            </a:pPr>
            <a:r>
              <a:rPr lang="en-US" altLang="zh-CN" sz="2400" dirty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8.</a:t>
            </a:r>
            <a:r>
              <a:rPr lang="zh-CN" altLang="en-US" sz="2400" dirty="0">
                <a:solidFill>
                  <a:srgbClr val="FF00FF"/>
                </a:solidFill>
                <a:cs typeface="Times New Roman" pitchFamily="18" charset="0"/>
              </a:rPr>
              <a:t>屏蔽</a:t>
            </a:r>
            <a:r>
              <a:rPr lang="zh-CN" altLang="en-US" sz="2400" dirty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寄存器</a:t>
            </a:r>
          </a:p>
          <a:p>
            <a:pPr marL="342900" indent="-342900" algn="just"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4</a:t>
            </a:r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位，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1</a:t>
            </a:r>
            <a:r>
              <a:rPr lang="zh-CN" altLang="en-US" sz="2400" dirty="0">
                <a:cs typeface="Times New Roman" pitchFamily="18" charset="0"/>
              </a:rPr>
              <a:t>位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通道。禁止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/</a:t>
            </a:r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允许对应通道的</a:t>
            </a:r>
            <a:r>
              <a:rPr lang="en-US" altLang="zh-CN" sz="2400" dirty="0">
                <a:latin typeface="Times New Roman" pitchFamily="18" charset="0"/>
                <a:cs typeface="Times New Roman" pitchFamily="18" charset="0"/>
              </a:rPr>
              <a:t>DREQ</a:t>
            </a:r>
            <a:r>
              <a:rPr lang="zh-CN" altLang="en-US" sz="2400" dirty="0">
                <a:latin typeface="Times New Roman" pitchFamily="18" charset="0"/>
                <a:cs typeface="Times New Roman" pitchFamily="18" charset="0"/>
              </a:rPr>
              <a:t>请求进入请求寄存器。有两种屏蔽字，端口地址不同。</a:t>
            </a:r>
            <a:endParaRPr lang="en-US" altLang="zh-CN" sz="2400" dirty="0">
              <a:latin typeface="Times New Roman" pitchFamily="18" charset="0"/>
              <a:cs typeface="Times New Roman" pitchFamily="18" charset="0"/>
            </a:endParaRPr>
          </a:p>
          <a:p>
            <a:pPr>
              <a:buNone/>
            </a:pPr>
            <a:r>
              <a:rPr lang="en-US" altLang="zh-CN" sz="24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1</a:t>
            </a:r>
            <a:r>
              <a:rPr lang="zh-CN" altLang="en-US" sz="24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）通道屏蔽字</a:t>
            </a:r>
          </a:p>
          <a:p>
            <a:pPr marL="176213" indent="-176213" algn="just">
              <a:buFont typeface="Arial" pitchFamily="34" charset="0"/>
              <a:buChar char="•"/>
            </a:pP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可对该寄存器写入通道屏蔽字来对单个屏蔽位置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1/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复位。</a:t>
            </a:r>
            <a:endParaRPr lang="en-US" altLang="zh-CN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8" name="Picture 2">
            <a:extLst>
              <a:ext uri="{FF2B5EF4-FFF2-40B4-BE49-F238E27FC236}">
                <a16:creationId xmlns:a16="http://schemas.microsoft.com/office/drawing/2014/main" id="{62F73F17-3090-4AC7-913E-1FBF7DF4CEB3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/>
          <a:srcRect b="16518"/>
          <a:stretch/>
        </p:blipFill>
        <p:spPr bwMode="auto">
          <a:xfrm>
            <a:off x="899592" y="2996952"/>
            <a:ext cx="6167299" cy="237626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32297300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54627">
            <a:extLst>
              <a:ext uri="{FF2B5EF4-FFF2-40B4-BE49-F238E27FC236}">
                <a16:creationId xmlns:a16="http://schemas.microsoft.com/office/drawing/2014/main" id="{8FD5C705-FF4D-4BCC-8E7C-AAEA972594C4}"/>
              </a:ext>
            </a:extLst>
          </p:cNvPr>
          <p:cNvSpPr txBox="1">
            <a:spLocks/>
          </p:cNvSpPr>
          <p:nvPr/>
        </p:nvSpPr>
        <p:spPr>
          <a:xfrm>
            <a:off x="2195736" y="188640"/>
            <a:ext cx="5976664" cy="431800"/>
          </a:xfrm>
        </p:spPr>
        <p:txBody>
          <a:bodyPr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10.1.3 8237A </a:t>
            </a:r>
            <a:r>
              <a:rPr lang="zh-CN" altLang="en-US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的内部寄存器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CBD0FBF-7FE5-46D8-A8A6-4E79E28B12AB}"/>
              </a:ext>
            </a:extLst>
          </p:cNvPr>
          <p:cNvSpPr txBox="1"/>
          <p:nvPr/>
        </p:nvSpPr>
        <p:spPr>
          <a:xfrm>
            <a:off x="179512" y="908720"/>
            <a:ext cx="8352928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47688" indent="-547688">
              <a:buNone/>
            </a:pPr>
            <a:r>
              <a:rPr lang="en-US" altLang="zh-CN" sz="2400" dirty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8.</a:t>
            </a:r>
            <a:r>
              <a:rPr lang="zh-CN" altLang="en-US" sz="2400" dirty="0">
                <a:solidFill>
                  <a:srgbClr val="FF00FF"/>
                </a:solidFill>
                <a:cs typeface="Times New Roman" pitchFamily="18" charset="0"/>
              </a:rPr>
              <a:t>屏蔽</a:t>
            </a:r>
            <a:r>
              <a:rPr lang="zh-CN" altLang="en-US" sz="2400" dirty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寄存器</a:t>
            </a:r>
          </a:p>
          <a:p>
            <a:pPr marL="441325" indent="-441325">
              <a:buNone/>
            </a:pPr>
            <a:r>
              <a:rPr lang="en-US" altLang="zh-CN" sz="24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2</a:t>
            </a:r>
            <a:r>
              <a:rPr lang="zh-CN" altLang="en-US" sz="2400" dirty="0">
                <a:latin typeface="Times New Roman" pitchFamily="18" charset="0"/>
                <a:ea typeface="华文中宋" pitchFamily="2" charset="-122"/>
                <a:cs typeface="Times New Roman" pitchFamily="18" charset="0"/>
              </a:rPr>
              <a:t>）主屏蔽字</a:t>
            </a:r>
          </a:p>
          <a:p>
            <a:pPr marL="179388" indent="-179388" algn="just">
              <a:buFont typeface="Arial" pitchFamily="34" charset="0"/>
              <a:buChar char="•"/>
            </a:pP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允许用主屏蔽命令设置通道的屏蔽触发器。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sz="2400" baseline="-25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3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~D</a:t>
            </a:r>
            <a:r>
              <a:rPr lang="en-US" altLang="zh-CN" sz="2400" baseline="-25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0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位对应通道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3~0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的屏蔽位，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1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屏蔽，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0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清除屏蔽。可写入主屏蔽字，一次完成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4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个通道的屏蔽位设置。</a:t>
            </a:r>
          </a:p>
          <a:p>
            <a:pPr marL="179388" indent="-179388" algn="just">
              <a:buFont typeface="Arial" pitchFamily="34" charset="0"/>
              <a:buChar char="•"/>
            </a:pP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可用软件同时清除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4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个通道的屏蔽位。</a:t>
            </a:r>
          </a:p>
          <a:p>
            <a:pPr marL="176213" indent="-176213" algn="just">
              <a:buFont typeface="Arial" pitchFamily="34" charset="0"/>
              <a:buChar char="•"/>
            </a:pPr>
            <a:endParaRPr lang="en-US" altLang="zh-CN" sz="2400" dirty="0"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EF8C07F6-B2CA-40BA-B8BE-C54F74E886D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/>
          <a:srcRect b="19030"/>
          <a:stretch/>
        </p:blipFill>
        <p:spPr bwMode="auto">
          <a:xfrm>
            <a:off x="653460" y="3212976"/>
            <a:ext cx="7826981" cy="216024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60785420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54627">
            <a:extLst>
              <a:ext uri="{FF2B5EF4-FFF2-40B4-BE49-F238E27FC236}">
                <a16:creationId xmlns:a16="http://schemas.microsoft.com/office/drawing/2014/main" id="{8FD5C705-FF4D-4BCC-8E7C-AAEA972594C4}"/>
              </a:ext>
            </a:extLst>
          </p:cNvPr>
          <p:cNvSpPr txBox="1">
            <a:spLocks/>
          </p:cNvSpPr>
          <p:nvPr/>
        </p:nvSpPr>
        <p:spPr>
          <a:xfrm>
            <a:off x="2195736" y="188640"/>
            <a:ext cx="5976664" cy="431800"/>
          </a:xfrm>
        </p:spPr>
        <p:txBody>
          <a:bodyPr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10.1.3 8237A </a:t>
            </a:r>
            <a:r>
              <a:rPr lang="zh-CN" altLang="en-US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的内部寄存器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CBD0FBF-7FE5-46D8-A8A6-4E79E28B12AB}"/>
              </a:ext>
            </a:extLst>
          </p:cNvPr>
          <p:cNvSpPr txBox="1"/>
          <p:nvPr/>
        </p:nvSpPr>
        <p:spPr>
          <a:xfrm>
            <a:off x="179512" y="908720"/>
            <a:ext cx="8352928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47688" indent="-547688">
              <a:buNone/>
            </a:pPr>
            <a:r>
              <a:rPr lang="en-US" altLang="zh-CN" sz="2400" dirty="0">
                <a:solidFill>
                  <a:srgbClr val="FF00FF"/>
                </a:solidFill>
                <a:cs typeface="Times New Roman" pitchFamily="18" charset="0"/>
              </a:rPr>
              <a:t>9</a:t>
            </a:r>
            <a:r>
              <a:rPr lang="en-US" altLang="zh-CN" sz="2400" dirty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.</a:t>
            </a:r>
            <a:r>
              <a:rPr lang="zh-CN" altLang="en-US" sz="2400" dirty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状态寄存器</a:t>
            </a:r>
          </a:p>
          <a:p>
            <a:pPr marL="441325" indent="-441325"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8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位状态寄存器存放状态信息，供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CPU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读出。如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sz="2400" baseline="-25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3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  <a:sym typeface="Symbol"/>
              </a:rPr>
              <a:t>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sz="2400" baseline="-25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0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中置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1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的通道，已达计数终点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TC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或外部送来了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EOP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信号。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D</a:t>
            </a:r>
            <a:r>
              <a:rPr lang="en-US" altLang="zh-CN" sz="2400" baseline="-25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7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-D</a:t>
            </a:r>
            <a:r>
              <a:rPr lang="en-US" altLang="zh-CN" sz="2400" baseline="-25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4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中置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1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的通道，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DMA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请求还未处理。复位或被读出后，相应状态位被清除。</a:t>
            </a:r>
            <a:endParaRPr lang="en-US" altLang="zh-CN" sz="2400" dirty="0">
              <a:latin typeface="Times New Roman" pitchFamily="18" charset="0"/>
              <a:cs typeface="Times New Roman" pitchFamily="18" charset="0"/>
            </a:endParaRPr>
          </a:p>
        </p:txBody>
      </p:sp>
      <p:cxnSp>
        <p:nvCxnSpPr>
          <p:cNvPr id="6" name="直接连接符 5">
            <a:extLst>
              <a:ext uri="{FF2B5EF4-FFF2-40B4-BE49-F238E27FC236}">
                <a16:creationId xmlns:a16="http://schemas.microsoft.com/office/drawing/2014/main" id="{D2075AED-851A-4A17-8740-C04D1CAA355F}"/>
              </a:ext>
            </a:extLst>
          </p:cNvPr>
          <p:cNvCxnSpPr/>
          <p:nvPr/>
        </p:nvCxnSpPr>
        <p:spPr>
          <a:xfrm>
            <a:off x="6156176" y="1700808"/>
            <a:ext cx="50405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2">
            <a:extLst>
              <a:ext uri="{FF2B5EF4-FFF2-40B4-BE49-F238E27FC236}">
                <a16:creationId xmlns:a16="http://schemas.microsoft.com/office/drawing/2014/main" id="{08489044-261B-4D11-A242-D14994FDC7E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/>
          <a:srcRect b="13717"/>
          <a:stretch/>
        </p:blipFill>
        <p:spPr bwMode="auto">
          <a:xfrm>
            <a:off x="2555776" y="2740373"/>
            <a:ext cx="6171951" cy="26958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sp>
        <p:nvSpPr>
          <p:cNvPr id="8" name="文本框 7">
            <a:extLst>
              <a:ext uri="{FF2B5EF4-FFF2-40B4-BE49-F238E27FC236}">
                <a16:creationId xmlns:a16="http://schemas.microsoft.com/office/drawing/2014/main" id="{C8FE3A8C-6213-4332-A864-41D63ADC20B9}"/>
              </a:ext>
            </a:extLst>
          </p:cNvPr>
          <p:cNvSpPr txBox="1"/>
          <p:nvPr/>
        </p:nvSpPr>
        <p:spPr>
          <a:xfrm>
            <a:off x="179512" y="5060044"/>
            <a:ext cx="8352928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47688" indent="-547688">
              <a:buNone/>
            </a:pPr>
            <a:r>
              <a:rPr lang="en-US" altLang="zh-CN" sz="2400" dirty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10.</a:t>
            </a:r>
            <a:r>
              <a:rPr lang="zh-CN" altLang="en-US" sz="2400" dirty="0">
                <a:solidFill>
                  <a:srgbClr val="FF00FF"/>
                </a:solidFill>
                <a:cs typeface="Times New Roman" pitchFamily="18" charset="0"/>
              </a:rPr>
              <a:t>暂存</a:t>
            </a:r>
            <a:r>
              <a:rPr lang="zh-CN" altLang="en-US" sz="2400" dirty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寄存器</a:t>
            </a:r>
          </a:p>
          <a:p>
            <a:pPr marL="342900" indent="-342900" algn="just"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在存储器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  <a:sym typeface="Wingdings 3"/>
              </a:rPr>
              <a:t>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存储器传送时，保存所传送的数据。其中始终保存着最后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1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个传送的字节，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RESET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信号会将其清除。编程状态下，可由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CPU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读出这个字节。</a:t>
            </a:r>
            <a:endParaRPr lang="en-US" altLang="zh-CN" sz="2400" dirty="0"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32025140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54627">
            <a:extLst>
              <a:ext uri="{FF2B5EF4-FFF2-40B4-BE49-F238E27FC236}">
                <a16:creationId xmlns:a16="http://schemas.microsoft.com/office/drawing/2014/main" id="{8FD5C705-FF4D-4BCC-8E7C-AAEA972594C4}"/>
              </a:ext>
            </a:extLst>
          </p:cNvPr>
          <p:cNvSpPr txBox="1">
            <a:spLocks/>
          </p:cNvSpPr>
          <p:nvPr/>
        </p:nvSpPr>
        <p:spPr>
          <a:xfrm>
            <a:off x="2195736" y="188640"/>
            <a:ext cx="5976664" cy="431800"/>
          </a:xfrm>
        </p:spPr>
        <p:txBody>
          <a:bodyPr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10.1.3 8237A </a:t>
            </a:r>
            <a:r>
              <a:rPr lang="zh-CN" altLang="en-US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的内部寄存器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E36287C-9864-4946-AD2D-8EE9EA3562B5}"/>
              </a:ext>
            </a:extLst>
          </p:cNvPr>
          <p:cNvSpPr txBox="1"/>
          <p:nvPr/>
        </p:nvSpPr>
        <p:spPr>
          <a:xfrm>
            <a:off x="0" y="764704"/>
            <a:ext cx="9036496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47688" indent="-547688">
              <a:buNone/>
            </a:pPr>
            <a:r>
              <a:rPr lang="en-US" altLang="zh-CN" sz="2400" dirty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11.</a:t>
            </a:r>
            <a:r>
              <a:rPr lang="zh-CN" altLang="en-US" sz="2400" dirty="0">
                <a:solidFill>
                  <a:srgbClr val="FF00FF"/>
                </a:solidFill>
                <a:latin typeface="Times New Roman" pitchFamily="18" charset="0"/>
                <a:cs typeface="Times New Roman" pitchFamily="18" charset="0"/>
              </a:rPr>
              <a:t>软件命令</a:t>
            </a:r>
          </a:p>
          <a:p>
            <a:pPr marL="285750" indent="-285750" algn="just">
              <a:spcBef>
                <a:spcPts val="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编程状态下，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8237A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可执行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3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个附加的特殊软件命令，只要对特定端口进行一次写操作，命令就会生效。</a:t>
            </a:r>
            <a:endParaRPr lang="en-US" altLang="zh-CN" sz="2400" dirty="0"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  <a:p>
            <a:pPr marL="361950" indent="-361950">
              <a:spcBef>
                <a:spcPts val="0"/>
              </a:spcBef>
              <a:buNone/>
            </a:pPr>
            <a:r>
              <a:rPr lang="en-US" altLang="zh-CN" sz="2400" dirty="0">
                <a:latin typeface="Times New Roman" pitchFamily="18" charset="0"/>
                <a:ea typeface="+mn-ea"/>
                <a:cs typeface="Times New Roman" pitchFamily="18" charset="0"/>
              </a:rPr>
              <a:t>1</a:t>
            </a:r>
            <a:r>
              <a:rPr lang="zh-CN" altLang="en-US" sz="2400" dirty="0">
                <a:latin typeface="Times New Roman" pitchFamily="18" charset="0"/>
                <a:ea typeface="+mn-ea"/>
                <a:cs typeface="Times New Roman" pitchFamily="18" charset="0"/>
              </a:rPr>
              <a:t>）清除先</a:t>
            </a:r>
            <a:r>
              <a:rPr lang="en-US" altLang="zh-CN" sz="2400" dirty="0">
                <a:latin typeface="Times New Roman" pitchFamily="18" charset="0"/>
                <a:ea typeface="+mn-ea"/>
                <a:cs typeface="Times New Roman" pitchFamily="18" charset="0"/>
              </a:rPr>
              <a:t>/</a:t>
            </a:r>
            <a:r>
              <a:rPr lang="zh-CN" altLang="en-US" sz="2400" dirty="0">
                <a:latin typeface="Times New Roman" pitchFamily="18" charset="0"/>
                <a:ea typeface="+mn-ea"/>
                <a:cs typeface="Times New Roman" pitchFamily="18" charset="0"/>
              </a:rPr>
              <a:t>后触发器</a:t>
            </a:r>
            <a:endParaRPr lang="en-US" altLang="zh-CN" sz="2400" dirty="0">
              <a:latin typeface="Times New Roman" pitchFamily="18" charset="0"/>
              <a:ea typeface="+mn-ea"/>
              <a:cs typeface="Times New Roman" pitchFamily="18" charset="0"/>
            </a:endParaRPr>
          </a:p>
          <a:p>
            <a:pPr marL="176213" indent="-176213" algn="just">
              <a:spcBef>
                <a:spcPts val="0"/>
              </a:spcBef>
              <a:buFont typeface="Arial" pitchFamily="34" charset="0"/>
              <a:buChar char="•"/>
            </a:pP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8237A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仅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8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根数据线，而地址寄存器和字计数器均为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16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位，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CPU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要分两次读写。先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/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后触发器控制高低字节读写次序。清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0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读写低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8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位，随后自动置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1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，读写高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8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位。接着又清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0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，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… 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。对该触发器所在的寄存器执行一次写操作便清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0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，复位和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EOP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信号有效也将它清为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0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。</a:t>
            </a:r>
            <a:endParaRPr lang="en-US" altLang="zh-CN" sz="2400" dirty="0"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  <a:p>
            <a:pPr marL="547688" indent="-547688">
              <a:buNone/>
            </a:pPr>
            <a:r>
              <a:rPr lang="en-US" altLang="zh-CN" sz="2400" dirty="0">
                <a:latin typeface="Times New Roman" pitchFamily="18" charset="0"/>
                <a:ea typeface="+mn-ea"/>
                <a:cs typeface="Times New Roman" pitchFamily="18" charset="0"/>
              </a:rPr>
              <a:t>2</a:t>
            </a:r>
            <a:r>
              <a:rPr lang="zh-CN" altLang="en-US" sz="2400" dirty="0">
                <a:latin typeface="Times New Roman" pitchFamily="18" charset="0"/>
                <a:ea typeface="+mn-ea"/>
                <a:cs typeface="Times New Roman" pitchFamily="18" charset="0"/>
              </a:rPr>
              <a:t>）主清命令</a:t>
            </a:r>
          </a:p>
          <a:p>
            <a:pPr marL="176213" indent="-176213" algn="just">
              <a:buFont typeface="Arial" pitchFamily="34" charset="0"/>
              <a:buChar char="•"/>
            </a:pP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主清命令也称为复位命令，功能与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RESET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信号同，它可使命令寄存器、状态寄存器、请求寄存器、暂存寄存器和内部先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/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后触发器均清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0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，而把屏蔽寄存器置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1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。复位后，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8237A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进入空闲状态。</a:t>
            </a:r>
          </a:p>
          <a:p>
            <a:pPr marL="547688" indent="-547688">
              <a:buNone/>
            </a:pPr>
            <a:r>
              <a:rPr lang="en-US" altLang="zh-CN" sz="2400" dirty="0">
                <a:latin typeface="Times New Roman" pitchFamily="18" charset="0"/>
                <a:ea typeface="+mn-ea"/>
                <a:cs typeface="Times New Roman" pitchFamily="18" charset="0"/>
              </a:rPr>
              <a:t>3</a:t>
            </a:r>
            <a:r>
              <a:rPr lang="zh-CN" altLang="en-US" sz="2400" dirty="0">
                <a:latin typeface="Times New Roman" pitchFamily="18" charset="0"/>
                <a:ea typeface="+mn-ea"/>
                <a:cs typeface="Times New Roman" pitchFamily="18" charset="0"/>
              </a:rPr>
              <a:t>）清除屏蔽寄存器</a:t>
            </a:r>
          </a:p>
          <a:p>
            <a:pPr marL="176213" indent="-176213" algn="just">
              <a:buFont typeface="Arial" pitchFamily="34" charset="0"/>
              <a:buChar char="•"/>
            </a:pP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该命令能清除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4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个通道的全部屏蔽位，允许各通道接受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DMA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请求。</a:t>
            </a:r>
          </a:p>
          <a:p>
            <a:pPr marL="176213" indent="-176213" algn="just">
              <a:spcBef>
                <a:spcPts val="0"/>
              </a:spcBef>
              <a:buFont typeface="Arial" pitchFamily="34" charset="0"/>
              <a:buChar char="•"/>
            </a:pPr>
            <a:endParaRPr lang="zh-CN" altLang="en-US" sz="2400" dirty="0"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CD65ABA9-3A80-4E7C-B6CA-83247220824B}"/>
              </a:ext>
            </a:extLst>
          </p:cNvPr>
          <p:cNvCxnSpPr/>
          <p:nvPr/>
        </p:nvCxnSpPr>
        <p:spPr>
          <a:xfrm>
            <a:off x="5455146" y="3409950"/>
            <a:ext cx="43204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0599059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54627">
            <a:extLst>
              <a:ext uri="{FF2B5EF4-FFF2-40B4-BE49-F238E27FC236}">
                <a16:creationId xmlns:a16="http://schemas.microsoft.com/office/drawing/2014/main" id="{8FD5C705-FF4D-4BCC-8E7C-AAEA972594C4}"/>
              </a:ext>
            </a:extLst>
          </p:cNvPr>
          <p:cNvSpPr txBox="1">
            <a:spLocks/>
          </p:cNvSpPr>
          <p:nvPr/>
        </p:nvSpPr>
        <p:spPr>
          <a:xfrm>
            <a:off x="2195736" y="188640"/>
            <a:ext cx="5976664" cy="431800"/>
          </a:xfrm>
        </p:spPr>
        <p:txBody>
          <a:bodyPr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10.1.3 8237A </a:t>
            </a:r>
            <a:r>
              <a:rPr lang="zh-CN" altLang="en-US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的内部寄存器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E36287C-9864-4946-AD2D-8EE9EA3562B5}"/>
              </a:ext>
            </a:extLst>
          </p:cNvPr>
          <p:cNvSpPr txBox="1"/>
          <p:nvPr/>
        </p:nvSpPr>
        <p:spPr>
          <a:xfrm>
            <a:off x="0" y="764704"/>
            <a:ext cx="9036496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47688" indent="-547688" algn="ctr">
              <a:buNone/>
            </a:pPr>
            <a:r>
              <a:rPr lang="zh-CN" altLang="en-US" sz="2400" dirty="0">
                <a:solidFill>
                  <a:srgbClr val="FF00FF"/>
                </a:solidFill>
                <a:cs typeface="Times New Roman" pitchFamily="18" charset="0"/>
              </a:rPr>
              <a:t>寄存器的端口地址</a:t>
            </a:r>
            <a:endParaRPr lang="en-US" altLang="zh-CN" sz="2400" dirty="0">
              <a:solidFill>
                <a:srgbClr val="FF00FF"/>
              </a:solidFill>
              <a:cs typeface="Times New Roman" pitchFamily="18" charset="0"/>
            </a:endParaRPr>
          </a:p>
          <a:p>
            <a:pPr marL="547688" indent="-547688" algn="ctr">
              <a:buNone/>
            </a:pPr>
            <a:endParaRPr lang="zh-CN" altLang="en-US" sz="2400" dirty="0">
              <a:solidFill>
                <a:srgbClr val="FF00FF"/>
              </a:solidFill>
              <a:cs typeface="Times New Roman" pitchFamily="18" charset="0"/>
            </a:endParaRPr>
          </a:p>
          <a:p>
            <a:pPr marL="342900" indent="-342900"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对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8237A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内部寄存器读写时，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CS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端必须为低电平，该信号由高位地址经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I/O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译码后产生。</a:t>
            </a:r>
          </a:p>
          <a:p>
            <a:pPr marL="342900" indent="-342900"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A</a:t>
            </a:r>
            <a:r>
              <a:rPr lang="en-US" altLang="zh-CN" sz="2400" baseline="-25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3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~A</a:t>
            </a:r>
            <a:r>
              <a:rPr lang="en-US" altLang="zh-CN" sz="2400" baseline="-25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0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线选择不同寄存器，共占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16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个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I/O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端口地址。常将它们与地址总线低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4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位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A</a:t>
            </a:r>
            <a:r>
              <a:rPr lang="en-US" altLang="zh-CN" sz="2400" baseline="-25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3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~A</a:t>
            </a:r>
            <a:r>
              <a:rPr lang="en-US" altLang="zh-CN" sz="2400" baseline="-25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0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相连，选择各寄存器。</a:t>
            </a:r>
            <a:endParaRPr lang="en-US" altLang="zh-CN" sz="2400" dirty="0"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  <a:p>
            <a:pPr marL="342900" indent="-342900"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PC/XT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机中，地址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A</a:t>
            </a:r>
            <a:r>
              <a:rPr lang="en-US" altLang="zh-CN" sz="2400" baseline="-25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9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~A</a:t>
            </a:r>
            <a:r>
              <a:rPr lang="en-US" altLang="zh-CN" sz="2400" baseline="-25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4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=000000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时，经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I/O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译码电路选中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8237A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。地址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A</a:t>
            </a:r>
            <a:r>
              <a:rPr lang="en-US" altLang="zh-CN" sz="2400" baseline="-25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3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~A</a:t>
            </a:r>
            <a:r>
              <a:rPr lang="en-US" altLang="zh-CN" sz="2400" baseline="-25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0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与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8237A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的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A</a:t>
            </a:r>
            <a:r>
              <a:rPr lang="en-US" altLang="zh-CN" sz="2400" baseline="-25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3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~A</a:t>
            </a:r>
            <a:r>
              <a:rPr lang="en-US" altLang="zh-CN" sz="2400" baseline="-250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0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脚连接实现片内寻址。</a:t>
            </a:r>
            <a:endParaRPr lang="en-US" altLang="zh-CN" sz="2400" dirty="0"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  <a:p>
            <a:pPr>
              <a:buClr>
                <a:srgbClr val="0000FF"/>
              </a:buClr>
            </a:pPr>
            <a:r>
              <a:rPr lang="en-US" altLang="zh-CN" sz="2400" dirty="0">
                <a:ea typeface="楷体_GB2312" pitchFamily="49" charset="-122"/>
                <a:cs typeface="Times New Roman" pitchFamily="18" charset="0"/>
              </a:rPr>
              <a:t>     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因此基地址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=00H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，记为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DMA=00H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。</a:t>
            </a:r>
            <a:endParaRPr lang="en-US" altLang="zh-CN" sz="2400" dirty="0"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  <a:p>
            <a:pPr>
              <a:buClr>
                <a:srgbClr val="0000FF"/>
              </a:buClr>
            </a:pPr>
            <a:r>
              <a:rPr lang="en-US" altLang="zh-CN" sz="2400" dirty="0">
                <a:ea typeface="楷体_GB2312" pitchFamily="49" charset="-122"/>
                <a:cs typeface="Times New Roman" pitchFamily="18" charset="0"/>
              </a:rPr>
              <a:t>     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由此可得其他寄存器的地址，如</a:t>
            </a:r>
            <a:endParaRPr lang="en-US" altLang="zh-CN" sz="2400" dirty="0"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  <a:p>
            <a:pPr algn="just">
              <a:spcBef>
                <a:spcPts val="0"/>
              </a:spcBef>
              <a:buNone/>
            </a:pP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         DMA+00H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为通道</a:t>
            </a: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0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基地址与当前地址寄存器地址</a:t>
            </a:r>
            <a:endParaRPr lang="en-US" altLang="zh-CN" sz="2400" dirty="0"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  <a:p>
            <a:pPr algn="just">
              <a:spcBef>
                <a:spcPts val="0"/>
              </a:spcBef>
              <a:buNone/>
            </a:pPr>
            <a:r>
              <a:rPr lang="en-US" altLang="zh-CN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          DMA+08H</a:t>
            </a:r>
            <a:r>
              <a:rPr lang="zh-CN" altLang="en-US" sz="2400" dirty="0">
                <a:latin typeface="Times New Roman" pitchFamily="18" charset="0"/>
                <a:ea typeface="楷体_GB2312" pitchFamily="49" charset="-122"/>
                <a:cs typeface="Times New Roman" pitchFamily="18" charset="0"/>
              </a:rPr>
              <a:t>为状态寄存器地址</a:t>
            </a:r>
            <a:endParaRPr lang="en-US" altLang="zh-CN" sz="2400" dirty="0"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  <a:p>
            <a:pPr marL="342900" indent="-342900">
              <a:buClr>
                <a:srgbClr val="0000FF"/>
              </a:buClr>
              <a:buFont typeface="Wingdings" panose="05000000000000000000" pitchFamily="2" charset="2"/>
              <a:buChar char="ü"/>
            </a:pPr>
            <a:endParaRPr lang="zh-CN" altLang="en-US" sz="2400" dirty="0"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  <a:p>
            <a:pPr marL="176213" indent="-176213" algn="just">
              <a:spcBef>
                <a:spcPts val="0"/>
              </a:spcBef>
              <a:buFont typeface="Arial" pitchFamily="34" charset="0"/>
              <a:buChar char="•"/>
            </a:pPr>
            <a:endParaRPr lang="zh-CN" altLang="en-US" sz="2400" dirty="0">
              <a:latin typeface="Times New Roman" pitchFamily="18" charset="0"/>
              <a:ea typeface="楷体_GB2312" pitchFamily="49" charset="-122"/>
              <a:cs typeface="Times New Roman" pitchFamily="18" charset="0"/>
            </a:endParaRPr>
          </a:p>
        </p:txBody>
      </p: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CD65ABA9-3A80-4E7C-B6CA-83247220824B}"/>
              </a:ext>
            </a:extLst>
          </p:cNvPr>
          <p:cNvCxnSpPr>
            <a:cxnSpLocks/>
          </p:cNvCxnSpPr>
          <p:nvPr/>
        </p:nvCxnSpPr>
        <p:spPr>
          <a:xfrm>
            <a:off x="4355976" y="1556792"/>
            <a:ext cx="216024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2570815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154627">
            <a:extLst>
              <a:ext uri="{FF2B5EF4-FFF2-40B4-BE49-F238E27FC236}">
                <a16:creationId xmlns:a16="http://schemas.microsoft.com/office/drawing/2014/main" id="{3A30215B-E8BC-48D2-BE7D-BAC46F5BDE08}"/>
              </a:ext>
            </a:extLst>
          </p:cNvPr>
          <p:cNvSpPr txBox="1">
            <a:spLocks/>
          </p:cNvSpPr>
          <p:nvPr/>
        </p:nvSpPr>
        <p:spPr>
          <a:xfrm>
            <a:off x="2195736" y="188640"/>
            <a:ext cx="5976664" cy="431800"/>
          </a:xfrm>
        </p:spPr>
        <p:txBody>
          <a:bodyPr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10.1.3 8237A </a:t>
            </a:r>
            <a:r>
              <a:rPr lang="zh-CN" altLang="en-US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的内部寄存器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63AF2FE4-D99B-4F76-A14A-B631D5A5A1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9632" y="1491410"/>
            <a:ext cx="6391885" cy="5033934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A82CE9AE-A1E7-4E74-9B1D-371A9566E40B}"/>
              </a:ext>
            </a:extLst>
          </p:cNvPr>
          <p:cNvSpPr txBox="1"/>
          <p:nvPr/>
        </p:nvSpPr>
        <p:spPr>
          <a:xfrm>
            <a:off x="1259632" y="812611"/>
            <a:ext cx="684076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buNone/>
            </a:pPr>
            <a:r>
              <a:rPr lang="zh-CN" altLang="en-US" sz="2000" dirty="0">
                <a:latin typeface="Times New Roman" pitchFamily="18" charset="0"/>
                <a:cs typeface="Times New Roman" pitchFamily="18" charset="0"/>
              </a:rPr>
              <a:t>在</a:t>
            </a:r>
            <a:r>
              <a:rPr lang="en-US" altLang="zh-CN" sz="2000" dirty="0">
                <a:latin typeface="Times New Roman" pitchFamily="18" charset="0"/>
                <a:cs typeface="Times New Roman" pitchFamily="18" charset="0"/>
              </a:rPr>
              <a:t>PC/XT</a:t>
            </a:r>
            <a:r>
              <a:rPr lang="zh-CN" altLang="en-US" sz="2000" dirty="0">
                <a:latin typeface="Times New Roman" pitchFamily="18" charset="0"/>
                <a:cs typeface="Times New Roman" pitchFamily="18" charset="0"/>
              </a:rPr>
              <a:t>上</a:t>
            </a:r>
            <a:r>
              <a:rPr lang="en-US" altLang="zh-CN" sz="2000" dirty="0">
                <a:latin typeface="Times New Roman" pitchFamily="18" charset="0"/>
                <a:cs typeface="Times New Roman" pitchFamily="18" charset="0"/>
              </a:rPr>
              <a:t>,8237A</a:t>
            </a:r>
            <a:r>
              <a:rPr lang="zh-CN" altLang="en-US" sz="2000" dirty="0">
                <a:latin typeface="Times New Roman" pitchFamily="18" charset="0"/>
                <a:cs typeface="Times New Roman" pitchFamily="18" charset="0"/>
              </a:rPr>
              <a:t>各寄存器与读写端口信号配合后形成的端口地址分配表，其中基地址</a:t>
            </a:r>
            <a:r>
              <a:rPr lang="en-US" altLang="zh-CN" sz="2000" dirty="0">
                <a:latin typeface="Times New Roman" pitchFamily="18" charset="0"/>
                <a:cs typeface="Times New Roman" pitchFamily="18" charset="0"/>
              </a:rPr>
              <a:t>DMA=000H</a:t>
            </a:r>
          </a:p>
        </p:txBody>
      </p:sp>
    </p:spTree>
    <p:extLst>
      <p:ext uri="{BB962C8B-B14F-4D97-AF65-F5344CB8AC3E}">
        <p14:creationId xmlns:p14="http://schemas.microsoft.com/office/powerpoint/2010/main" val="372395367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54627">
            <a:extLst>
              <a:ext uri="{FF2B5EF4-FFF2-40B4-BE49-F238E27FC236}">
                <a16:creationId xmlns:a16="http://schemas.microsoft.com/office/drawing/2014/main" id="{6F3F045E-8537-43BD-A263-1C81DF65BF9F}"/>
              </a:ext>
            </a:extLst>
          </p:cNvPr>
          <p:cNvSpPr txBox="1">
            <a:spLocks/>
          </p:cNvSpPr>
          <p:nvPr/>
        </p:nvSpPr>
        <p:spPr>
          <a:xfrm>
            <a:off x="1691680" y="188640"/>
            <a:ext cx="6408712" cy="431800"/>
          </a:xfrm>
        </p:spPr>
        <p:txBody>
          <a:bodyPr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10.2 8237A</a:t>
            </a:r>
            <a:r>
              <a:rPr lang="zh-CN" altLang="en-US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的编程和应用举例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11284AC-AB36-41CF-B6DB-31CDAD718C9B}"/>
              </a:ext>
            </a:extLst>
          </p:cNvPr>
          <p:cNvSpPr txBox="1"/>
          <p:nvPr/>
        </p:nvSpPr>
        <p:spPr>
          <a:xfrm>
            <a:off x="755576" y="1052736"/>
            <a:ext cx="7704856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61938" indent="0" algn="just">
              <a:spcBef>
                <a:spcPts val="0"/>
              </a:spcBef>
              <a:buNone/>
            </a:pPr>
            <a:r>
              <a:rPr lang="zh-CN" altLang="en-US" sz="2400" dirty="0">
                <a:latin typeface="+mn-lt"/>
              </a:rPr>
              <a:t>利用</a:t>
            </a:r>
            <a:r>
              <a:rPr lang="en-US" altLang="zh-CN" sz="2400" dirty="0">
                <a:latin typeface="+mn-lt"/>
              </a:rPr>
              <a:t>8237A</a:t>
            </a:r>
            <a:r>
              <a:rPr lang="zh-CN" altLang="en-US" sz="2400" dirty="0">
                <a:latin typeface="+mn-lt"/>
              </a:rPr>
              <a:t>实现外设与内存间的数据传送时，可按以下几步对它进行初始化编程：</a:t>
            </a:r>
          </a:p>
          <a:p>
            <a:pPr algn="just">
              <a:spcBef>
                <a:spcPts val="0"/>
              </a:spcBef>
              <a:buNone/>
            </a:pPr>
            <a:r>
              <a:rPr lang="zh-CN" altLang="en-US" sz="2400" dirty="0">
                <a:latin typeface="+mn-lt"/>
              </a:rPr>
              <a:t>（</a:t>
            </a:r>
            <a:r>
              <a:rPr lang="en-US" altLang="zh-CN" sz="2400" dirty="0">
                <a:latin typeface="+mn-lt"/>
              </a:rPr>
              <a:t>1</a:t>
            </a:r>
            <a:r>
              <a:rPr lang="zh-CN" altLang="en-US" sz="2400" dirty="0">
                <a:latin typeface="+mn-lt"/>
              </a:rPr>
              <a:t>）输出主清命令，使</a:t>
            </a:r>
            <a:r>
              <a:rPr lang="en-US" altLang="zh-CN" sz="2400" dirty="0">
                <a:latin typeface="+mn-lt"/>
              </a:rPr>
              <a:t>8237A</a:t>
            </a:r>
            <a:r>
              <a:rPr lang="zh-CN" altLang="en-US" sz="2400" dirty="0">
                <a:latin typeface="+mn-lt"/>
              </a:rPr>
              <a:t>复位。</a:t>
            </a:r>
          </a:p>
          <a:p>
            <a:pPr algn="just">
              <a:spcBef>
                <a:spcPts val="0"/>
              </a:spcBef>
              <a:buNone/>
            </a:pPr>
            <a:r>
              <a:rPr lang="zh-CN" altLang="en-US" sz="2400" dirty="0">
                <a:latin typeface="+mn-lt"/>
              </a:rPr>
              <a:t>（</a:t>
            </a:r>
            <a:r>
              <a:rPr lang="en-US" altLang="zh-CN" sz="2400" dirty="0">
                <a:latin typeface="+mn-lt"/>
              </a:rPr>
              <a:t>2</a:t>
            </a:r>
            <a:r>
              <a:rPr lang="zh-CN" altLang="en-US" sz="2400" dirty="0">
                <a:latin typeface="+mn-lt"/>
              </a:rPr>
              <a:t>）写入基地址和现行地址寄存器，确定起始地址。</a:t>
            </a:r>
          </a:p>
          <a:p>
            <a:pPr algn="just">
              <a:spcBef>
                <a:spcPts val="0"/>
              </a:spcBef>
              <a:buNone/>
            </a:pPr>
            <a:r>
              <a:rPr lang="zh-CN" altLang="en-US" sz="2400" dirty="0">
                <a:latin typeface="+mn-lt"/>
              </a:rPr>
              <a:t>（</a:t>
            </a:r>
            <a:r>
              <a:rPr lang="en-US" altLang="zh-CN" sz="2400" dirty="0">
                <a:latin typeface="+mn-lt"/>
              </a:rPr>
              <a:t>3</a:t>
            </a:r>
            <a:r>
              <a:rPr lang="zh-CN" altLang="en-US" sz="2400" dirty="0">
                <a:latin typeface="+mn-lt"/>
              </a:rPr>
              <a:t>）写入基字和现行字计数器，确定要传送的字节数。</a:t>
            </a:r>
          </a:p>
          <a:p>
            <a:pPr algn="just">
              <a:spcBef>
                <a:spcPts val="0"/>
              </a:spcBef>
              <a:buNone/>
            </a:pPr>
            <a:r>
              <a:rPr lang="zh-CN" altLang="en-US" sz="2400" dirty="0">
                <a:latin typeface="+mn-lt"/>
              </a:rPr>
              <a:t>（</a:t>
            </a:r>
            <a:r>
              <a:rPr lang="en-US" altLang="zh-CN" sz="2400" dirty="0">
                <a:latin typeface="+mn-lt"/>
              </a:rPr>
              <a:t>4</a:t>
            </a:r>
            <a:r>
              <a:rPr lang="zh-CN" altLang="en-US" sz="2400" dirty="0">
                <a:latin typeface="+mn-lt"/>
              </a:rPr>
              <a:t>）写入方式寄存器，指定工作方式。</a:t>
            </a:r>
          </a:p>
          <a:p>
            <a:pPr algn="just">
              <a:spcBef>
                <a:spcPts val="0"/>
              </a:spcBef>
              <a:buNone/>
            </a:pPr>
            <a:r>
              <a:rPr lang="zh-CN" altLang="en-US" sz="2400" dirty="0">
                <a:latin typeface="+mn-lt"/>
              </a:rPr>
              <a:t>（</a:t>
            </a:r>
            <a:r>
              <a:rPr lang="en-US" altLang="zh-CN" sz="2400" dirty="0">
                <a:latin typeface="+mn-lt"/>
              </a:rPr>
              <a:t>5</a:t>
            </a:r>
            <a:r>
              <a:rPr lang="zh-CN" altLang="en-US" sz="2400" dirty="0">
                <a:latin typeface="+mn-lt"/>
              </a:rPr>
              <a:t>）写入屏蔽寄器。</a:t>
            </a:r>
          </a:p>
          <a:p>
            <a:pPr algn="just">
              <a:spcBef>
                <a:spcPts val="0"/>
              </a:spcBef>
              <a:buNone/>
            </a:pPr>
            <a:r>
              <a:rPr lang="zh-CN" altLang="en-US" sz="2400" dirty="0">
                <a:latin typeface="+mn-lt"/>
              </a:rPr>
              <a:t>（</a:t>
            </a:r>
            <a:r>
              <a:rPr lang="en-US" altLang="zh-CN" sz="2400" dirty="0">
                <a:latin typeface="+mn-lt"/>
              </a:rPr>
              <a:t>6</a:t>
            </a:r>
            <a:r>
              <a:rPr lang="zh-CN" altLang="en-US" sz="2400" dirty="0">
                <a:latin typeface="+mn-lt"/>
              </a:rPr>
              <a:t>）写入命令寄存器。</a:t>
            </a:r>
          </a:p>
          <a:p>
            <a:pPr marL="0" indent="0" algn="just">
              <a:spcBef>
                <a:spcPts val="0"/>
              </a:spcBef>
              <a:buNone/>
            </a:pPr>
            <a:r>
              <a:rPr lang="zh-CN" altLang="en-US" sz="2400" dirty="0">
                <a:latin typeface="+mn-lt"/>
              </a:rPr>
              <a:t>    此后</a:t>
            </a:r>
            <a:r>
              <a:rPr lang="en-US" altLang="zh-CN" sz="2400" dirty="0">
                <a:latin typeface="+mn-lt"/>
              </a:rPr>
              <a:t>8237A</a:t>
            </a:r>
            <a:r>
              <a:rPr lang="zh-CN" altLang="en-US" sz="2400" dirty="0">
                <a:latin typeface="+mn-lt"/>
              </a:rPr>
              <a:t>待命。若外设经</a:t>
            </a:r>
            <a:r>
              <a:rPr lang="en-US" altLang="zh-CN" sz="2400" dirty="0">
                <a:latin typeface="+mn-lt"/>
              </a:rPr>
              <a:t>DRQ</a:t>
            </a:r>
            <a:r>
              <a:rPr lang="en-US" altLang="zh-CN" sz="2400" baseline="-25000" dirty="0">
                <a:latin typeface="+mn-lt"/>
              </a:rPr>
              <a:t>1</a:t>
            </a:r>
            <a:r>
              <a:rPr lang="en-US" altLang="zh-CN" sz="2400" dirty="0">
                <a:latin typeface="+mn-lt"/>
              </a:rPr>
              <a:t>~DRQ</a:t>
            </a:r>
            <a:r>
              <a:rPr lang="en-US" altLang="zh-CN" sz="2400" baseline="-25000" dirty="0">
                <a:latin typeface="+mn-lt"/>
              </a:rPr>
              <a:t>3</a:t>
            </a:r>
            <a:r>
              <a:rPr lang="zh-CN" altLang="en-US" sz="2400" dirty="0">
                <a:latin typeface="+mn-lt"/>
              </a:rPr>
              <a:t>将</a:t>
            </a:r>
            <a:r>
              <a:rPr lang="en-US" altLang="zh-CN" sz="2400" dirty="0">
                <a:latin typeface="+mn-lt"/>
              </a:rPr>
              <a:t>DMA</a:t>
            </a:r>
            <a:r>
              <a:rPr lang="zh-CN" altLang="en-US" sz="2400" dirty="0">
                <a:latin typeface="+mn-lt"/>
              </a:rPr>
              <a:t>请求信号送到某个通道的</a:t>
            </a:r>
            <a:r>
              <a:rPr lang="en-US" altLang="zh-CN" sz="2400" dirty="0">
                <a:latin typeface="+mn-lt"/>
              </a:rPr>
              <a:t>DREQ</a:t>
            </a:r>
            <a:r>
              <a:rPr lang="zh-CN" altLang="en-US" sz="2400" dirty="0">
                <a:latin typeface="+mn-lt"/>
              </a:rPr>
              <a:t>脚上，便启动该通道的传送。</a:t>
            </a:r>
            <a:endParaRPr lang="en-US" altLang="zh-CN" sz="2400" dirty="0">
              <a:latin typeface="+mn-lt"/>
            </a:endParaRPr>
          </a:p>
          <a:p>
            <a:pPr marL="898525" indent="-898525" algn="just">
              <a:spcBef>
                <a:spcPts val="0"/>
              </a:spcBef>
              <a:buNone/>
            </a:pPr>
            <a:r>
              <a:rPr lang="zh-CN" altLang="en-US" sz="2400" dirty="0">
                <a:latin typeface="+mn-lt"/>
              </a:rPr>
              <a:t>（</a:t>
            </a:r>
            <a:r>
              <a:rPr lang="en-US" altLang="zh-CN" sz="2400" dirty="0">
                <a:latin typeface="+mn-lt"/>
              </a:rPr>
              <a:t>7</a:t>
            </a:r>
            <a:r>
              <a:rPr lang="zh-CN" altLang="en-US" sz="2400" dirty="0">
                <a:latin typeface="+mn-lt"/>
              </a:rPr>
              <a:t>）写入请求寄存器</a:t>
            </a:r>
            <a:r>
              <a:rPr lang="en-US" altLang="zh-CN" sz="2400" dirty="0">
                <a:latin typeface="+mn-lt"/>
              </a:rPr>
              <a:t>(</a:t>
            </a:r>
            <a:r>
              <a:rPr lang="zh-CN" altLang="en-US" sz="2400" dirty="0">
                <a:latin typeface="+mn-lt"/>
              </a:rPr>
              <a:t>只在数据块传送方式用到，</a:t>
            </a:r>
            <a:r>
              <a:rPr lang="en-US" altLang="zh-CN" sz="2400" dirty="0">
                <a:latin typeface="+mn-lt"/>
              </a:rPr>
              <a:t>PC/XT</a:t>
            </a:r>
            <a:r>
              <a:rPr lang="zh-CN" altLang="en-US" sz="2400" dirty="0">
                <a:latin typeface="+mn-lt"/>
              </a:rPr>
              <a:t>不支持</a:t>
            </a:r>
            <a:r>
              <a:rPr lang="en-US" altLang="zh-CN" sz="2400" dirty="0">
                <a:latin typeface="+mn-lt"/>
              </a:rPr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482795617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611284AC-AB36-41CF-B6DB-31CDAD718C9B}"/>
              </a:ext>
            </a:extLst>
          </p:cNvPr>
          <p:cNvSpPr txBox="1"/>
          <p:nvPr/>
        </p:nvSpPr>
        <p:spPr>
          <a:xfrm>
            <a:off x="395536" y="764704"/>
            <a:ext cx="8352928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</a:rPr>
              <a:t>【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</a:rPr>
              <a:t>例</a:t>
            </a: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</a:rPr>
              <a:t>】</a:t>
            </a:r>
            <a:r>
              <a:rPr lang="zh-CN" altLang="en-US" sz="2400" dirty="0">
                <a:latin typeface="+mn-lt"/>
                <a:ea typeface="+mn-ea"/>
              </a:rPr>
              <a:t>某系统中用</a:t>
            </a:r>
            <a:r>
              <a:rPr lang="en-US" altLang="zh-CN" sz="2400" dirty="0">
                <a:latin typeface="+mn-lt"/>
                <a:ea typeface="+mn-ea"/>
              </a:rPr>
              <a:t>8237A</a:t>
            </a:r>
            <a:r>
              <a:rPr lang="zh-CN" altLang="en-US" sz="2400" dirty="0">
                <a:latin typeface="+mn-lt"/>
                <a:ea typeface="+mn-ea"/>
              </a:rPr>
              <a:t>设计了</a:t>
            </a:r>
            <a:r>
              <a:rPr lang="en-US" altLang="zh-CN" sz="2400" dirty="0">
                <a:latin typeface="+mn-lt"/>
                <a:ea typeface="+mn-ea"/>
              </a:rPr>
              <a:t>DMA</a:t>
            </a:r>
            <a:r>
              <a:rPr lang="zh-CN" altLang="en-US" sz="2400" dirty="0">
                <a:latin typeface="+mn-lt"/>
                <a:ea typeface="+mn-ea"/>
              </a:rPr>
              <a:t>传输电路，其基地址为</a:t>
            </a:r>
            <a:r>
              <a:rPr lang="en-US" altLang="zh-CN" sz="2400" dirty="0">
                <a:latin typeface="+mn-lt"/>
                <a:ea typeface="+mn-ea"/>
              </a:rPr>
              <a:t>00H</a:t>
            </a:r>
            <a:r>
              <a:rPr lang="zh-CN" altLang="en-US" sz="2400" dirty="0">
                <a:latin typeface="+mn-lt"/>
                <a:ea typeface="+mn-ea"/>
              </a:rPr>
              <a:t>。要求用通道</a:t>
            </a:r>
            <a:r>
              <a:rPr lang="en-US" altLang="zh-CN" sz="2400" dirty="0">
                <a:latin typeface="+mn-lt"/>
                <a:ea typeface="+mn-ea"/>
              </a:rPr>
              <a:t>0</a:t>
            </a:r>
            <a:r>
              <a:rPr lang="zh-CN" altLang="en-US" sz="2400" dirty="0">
                <a:latin typeface="+mn-lt"/>
                <a:ea typeface="+mn-ea"/>
              </a:rPr>
              <a:t>从外设（如磁盘）输入</a:t>
            </a:r>
            <a:r>
              <a:rPr lang="en-US" altLang="zh-CN" sz="2400" dirty="0">
                <a:latin typeface="+mn-lt"/>
                <a:ea typeface="+mn-ea"/>
              </a:rPr>
              <a:t>1</a:t>
            </a:r>
            <a:r>
              <a:rPr lang="zh-CN" altLang="en-US" sz="2400" dirty="0">
                <a:latin typeface="+mn-lt"/>
                <a:ea typeface="+mn-ea"/>
              </a:rPr>
              <a:t>个</a:t>
            </a:r>
            <a:r>
              <a:rPr lang="en-US" altLang="zh-CN" sz="2400" dirty="0">
                <a:latin typeface="+mn-lt"/>
                <a:ea typeface="+mn-ea"/>
              </a:rPr>
              <a:t>1K</a:t>
            </a:r>
            <a:r>
              <a:rPr lang="zh-CN" altLang="en-US" sz="2400" dirty="0">
                <a:latin typeface="+mn-lt"/>
                <a:ea typeface="+mn-ea"/>
              </a:rPr>
              <a:t>字节数据块，传送到内存中</a:t>
            </a:r>
            <a:r>
              <a:rPr lang="en-US" altLang="zh-CN" sz="2400" dirty="0">
                <a:latin typeface="+mn-lt"/>
                <a:ea typeface="+mn-ea"/>
              </a:rPr>
              <a:t>6000H</a:t>
            </a:r>
            <a:r>
              <a:rPr lang="zh-CN" altLang="en-US" sz="2400" dirty="0">
                <a:latin typeface="+mn-lt"/>
                <a:ea typeface="+mn-ea"/>
              </a:rPr>
              <a:t>开始区域中，每传送</a:t>
            </a:r>
            <a:r>
              <a:rPr lang="en-US" altLang="zh-CN" sz="2400" dirty="0">
                <a:latin typeface="+mn-lt"/>
                <a:ea typeface="+mn-ea"/>
              </a:rPr>
              <a:t>1</a:t>
            </a:r>
            <a:r>
              <a:rPr lang="zh-CN" altLang="en-US" sz="2400" dirty="0">
                <a:latin typeface="+mn-lt"/>
                <a:ea typeface="+mn-ea"/>
              </a:rPr>
              <a:t>字节，地址</a:t>
            </a:r>
            <a:r>
              <a:rPr lang="en-US" altLang="zh-CN" sz="2400" dirty="0">
                <a:latin typeface="+mn-lt"/>
                <a:ea typeface="+mn-ea"/>
              </a:rPr>
              <a:t>+1</a:t>
            </a:r>
            <a:r>
              <a:rPr lang="zh-CN" altLang="en-US" sz="2400" dirty="0">
                <a:latin typeface="+mn-lt"/>
                <a:ea typeface="+mn-ea"/>
              </a:rPr>
              <a:t>，采用数据块连续传送方式，禁止自动预置，外设的</a:t>
            </a:r>
            <a:r>
              <a:rPr lang="en-US" altLang="zh-CN" sz="2400" dirty="0">
                <a:latin typeface="+mn-lt"/>
                <a:ea typeface="+mn-ea"/>
              </a:rPr>
              <a:t>DMA</a:t>
            </a:r>
            <a:r>
              <a:rPr lang="zh-CN" altLang="en-US" sz="2400" dirty="0">
                <a:latin typeface="+mn-lt"/>
                <a:ea typeface="+mn-ea"/>
              </a:rPr>
              <a:t>请求信号</a:t>
            </a:r>
            <a:r>
              <a:rPr lang="en-US" altLang="zh-CN" sz="2400" dirty="0">
                <a:latin typeface="+mn-lt"/>
                <a:ea typeface="+mn-ea"/>
              </a:rPr>
              <a:t>DREQ </a:t>
            </a:r>
            <a:r>
              <a:rPr lang="zh-CN" altLang="en-US" sz="2400" dirty="0">
                <a:latin typeface="+mn-lt"/>
                <a:ea typeface="+mn-ea"/>
              </a:rPr>
              <a:t>和响应信号</a:t>
            </a:r>
            <a:r>
              <a:rPr lang="en-US" altLang="zh-CN" sz="2400" dirty="0">
                <a:latin typeface="+mn-lt"/>
                <a:ea typeface="+mn-ea"/>
              </a:rPr>
              <a:t>DACK</a:t>
            </a:r>
            <a:r>
              <a:rPr lang="zh-CN" altLang="en-US" sz="2400" dirty="0">
                <a:latin typeface="+mn-lt"/>
                <a:ea typeface="+mn-ea"/>
              </a:rPr>
              <a:t>均为高电平有效。则初始化</a:t>
            </a:r>
            <a:r>
              <a:rPr lang="en-US" altLang="zh-CN" sz="2400" dirty="0">
                <a:latin typeface="+mn-lt"/>
                <a:ea typeface="+mn-ea"/>
              </a:rPr>
              <a:t>8237A</a:t>
            </a:r>
            <a:r>
              <a:rPr lang="zh-CN" altLang="en-US" sz="2400" dirty="0">
                <a:latin typeface="+mn-lt"/>
                <a:ea typeface="+mn-ea"/>
              </a:rPr>
              <a:t>的程序如下：</a:t>
            </a:r>
            <a:endParaRPr lang="zh-CN" altLang="en-US" sz="2400" dirty="0"/>
          </a:p>
        </p:txBody>
      </p:sp>
      <p:sp>
        <p:nvSpPr>
          <p:cNvPr id="5" name="标题 154627">
            <a:extLst>
              <a:ext uri="{FF2B5EF4-FFF2-40B4-BE49-F238E27FC236}">
                <a16:creationId xmlns:a16="http://schemas.microsoft.com/office/drawing/2014/main" id="{0CE92FF9-7FEB-4D20-9D02-27EC6F9BA96D}"/>
              </a:ext>
            </a:extLst>
          </p:cNvPr>
          <p:cNvSpPr txBox="1">
            <a:spLocks/>
          </p:cNvSpPr>
          <p:nvPr/>
        </p:nvSpPr>
        <p:spPr>
          <a:xfrm>
            <a:off x="1547664" y="188640"/>
            <a:ext cx="6408712" cy="431800"/>
          </a:xfrm>
        </p:spPr>
        <p:txBody>
          <a:bodyPr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10.2 8237A</a:t>
            </a:r>
            <a:r>
              <a:rPr lang="zh-CN" altLang="en-US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的编程和应用举例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BF579CD-9062-4BCB-8851-B40010AEA89A}"/>
              </a:ext>
            </a:extLst>
          </p:cNvPr>
          <p:cNvSpPr txBox="1"/>
          <p:nvPr/>
        </p:nvSpPr>
        <p:spPr>
          <a:xfrm>
            <a:off x="755576" y="2852936"/>
            <a:ext cx="7848872" cy="38010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800"/>
              </a:spcBef>
              <a:buNone/>
            </a:pP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DMA	EQU	00H		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；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8237A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的基地址为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00H</a:t>
            </a:r>
            <a:endParaRPr lang="zh-CN" altLang="en-US" sz="2400" dirty="0">
              <a:solidFill>
                <a:srgbClr val="0000FF"/>
              </a:solidFill>
              <a:latin typeface="+mn-lt"/>
              <a:ea typeface="+mn-ea"/>
            </a:endParaRP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；输出主清命令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OUT	DMA+0DH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，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AL	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；发总清命令</a:t>
            </a:r>
          </a:p>
          <a:p>
            <a:pPr>
              <a:spcBef>
                <a:spcPts val="600"/>
              </a:spcBef>
              <a:buNone/>
            </a:pP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；将基地址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6000H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写入通道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0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基地址和</a:t>
            </a:r>
            <a:endParaRPr lang="en-US" altLang="zh-CN" sz="2400" dirty="0">
              <a:solidFill>
                <a:srgbClr val="0000FF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；当前地址寄存器，分两次进行</a:t>
            </a:r>
            <a:endParaRPr lang="en-US" altLang="zh-CN" sz="2400" dirty="0">
              <a:solidFill>
                <a:srgbClr val="0000FF"/>
              </a:solidFill>
              <a:latin typeface="+mn-lt"/>
              <a:ea typeface="+mn-ea"/>
            </a:endParaRPr>
          </a:p>
          <a:p>
            <a:pPr>
              <a:spcBef>
                <a:spcPts val="300"/>
              </a:spcBef>
              <a:buNone/>
            </a:pP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MOV	AX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，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6000H		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；基地址和当前地址寄存器</a:t>
            </a:r>
          </a:p>
          <a:p>
            <a:pPr>
              <a:spcBef>
                <a:spcPts val="300"/>
              </a:spcBef>
              <a:buNone/>
            </a:pP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OUT	DMA+00H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，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AL	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；先写入低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8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位地址</a:t>
            </a:r>
          </a:p>
          <a:p>
            <a:pPr>
              <a:spcBef>
                <a:spcPts val="300"/>
              </a:spcBef>
              <a:buNone/>
            </a:pP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MOV	AL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，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AH</a:t>
            </a:r>
            <a:endParaRPr lang="zh-CN" altLang="en-US" sz="2400" dirty="0">
              <a:solidFill>
                <a:srgbClr val="0000FF"/>
              </a:solidFill>
              <a:latin typeface="+mn-lt"/>
              <a:ea typeface="+mn-ea"/>
            </a:endParaRPr>
          </a:p>
          <a:p>
            <a:pPr>
              <a:spcBef>
                <a:spcPts val="300"/>
              </a:spcBef>
              <a:buNone/>
            </a:pP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OUT	DMA+00H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，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AL	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；后写入高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8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位地址</a:t>
            </a:r>
          </a:p>
        </p:txBody>
      </p:sp>
    </p:spTree>
    <p:extLst>
      <p:ext uri="{BB962C8B-B14F-4D97-AF65-F5344CB8AC3E}">
        <p14:creationId xmlns:p14="http://schemas.microsoft.com/office/powerpoint/2010/main" val="1022842705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611284AC-AB36-41CF-B6DB-31CDAD718C9B}"/>
              </a:ext>
            </a:extLst>
          </p:cNvPr>
          <p:cNvSpPr txBox="1"/>
          <p:nvPr/>
        </p:nvSpPr>
        <p:spPr>
          <a:xfrm>
            <a:off x="395536" y="764704"/>
            <a:ext cx="828092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</a:rPr>
              <a:t>【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</a:rPr>
              <a:t>例</a:t>
            </a: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</a:rPr>
              <a:t>】</a:t>
            </a:r>
            <a:r>
              <a:rPr lang="zh-CN" altLang="en-US" sz="2400" dirty="0">
                <a:latin typeface="+mn-lt"/>
                <a:ea typeface="+mn-ea"/>
              </a:rPr>
              <a:t>某系统中用</a:t>
            </a:r>
            <a:r>
              <a:rPr lang="en-US" altLang="zh-CN" sz="2400" dirty="0">
                <a:latin typeface="+mn-lt"/>
                <a:ea typeface="+mn-ea"/>
              </a:rPr>
              <a:t>8237A</a:t>
            </a:r>
            <a:r>
              <a:rPr lang="zh-CN" altLang="en-US" sz="2400" dirty="0">
                <a:latin typeface="+mn-lt"/>
                <a:ea typeface="+mn-ea"/>
              </a:rPr>
              <a:t>设计了</a:t>
            </a:r>
            <a:r>
              <a:rPr lang="en-US" altLang="zh-CN" sz="2400" dirty="0">
                <a:latin typeface="+mn-lt"/>
                <a:ea typeface="+mn-ea"/>
              </a:rPr>
              <a:t>DMA</a:t>
            </a:r>
            <a:r>
              <a:rPr lang="zh-CN" altLang="en-US" sz="2400" dirty="0">
                <a:latin typeface="+mn-lt"/>
                <a:ea typeface="+mn-ea"/>
              </a:rPr>
              <a:t>传输电路，其基地址为</a:t>
            </a:r>
            <a:r>
              <a:rPr lang="en-US" altLang="zh-CN" sz="2400" dirty="0">
                <a:latin typeface="+mn-lt"/>
                <a:ea typeface="+mn-ea"/>
              </a:rPr>
              <a:t>00H</a:t>
            </a:r>
            <a:r>
              <a:rPr lang="zh-CN" altLang="en-US" sz="2400" dirty="0">
                <a:latin typeface="+mn-lt"/>
                <a:ea typeface="+mn-ea"/>
              </a:rPr>
              <a:t>。要求用通道</a:t>
            </a:r>
            <a:r>
              <a:rPr lang="en-US" altLang="zh-CN" sz="2400" dirty="0">
                <a:latin typeface="+mn-lt"/>
                <a:ea typeface="+mn-ea"/>
              </a:rPr>
              <a:t>0</a:t>
            </a:r>
            <a:r>
              <a:rPr lang="zh-CN" altLang="en-US" sz="2400" dirty="0">
                <a:latin typeface="+mn-lt"/>
                <a:ea typeface="+mn-ea"/>
              </a:rPr>
              <a:t>从外设（如磁盘）输入</a:t>
            </a:r>
            <a:r>
              <a:rPr lang="en-US" altLang="zh-CN" sz="2400" dirty="0">
                <a:latin typeface="+mn-lt"/>
                <a:ea typeface="+mn-ea"/>
              </a:rPr>
              <a:t>1</a:t>
            </a:r>
            <a:r>
              <a:rPr lang="zh-CN" altLang="en-US" sz="2400" dirty="0">
                <a:latin typeface="+mn-lt"/>
                <a:ea typeface="+mn-ea"/>
              </a:rPr>
              <a:t>个</a:t>
            </a:r>
            <a:r>
              <a:rPr lang="en-US" altLang="zh-CN" sz="2400" dirty="0">
                <a:latin typeface="+mn-lt"/>
                <a:ea typeface="+mn-ea"/>
              </a:rPr>
              <a:t>1K</a:t>
            </a:r>
            <a:r>
              <a:rPr lang="zh-CN" altLang="en-US" sz="2400" dirty="0">
                <a:latin typeface="+mn-lt"/>
                <a:ea typeface="+mn-ea"/>
              </a:rPr>
              <a:t>字节数据块，传送到内存中</a:t>
            </a:r>
            <a:r>
              <a:rPr lang="en-US" altLang="zh-CN" sz="2400" dirty="0">
                <a:latin typeface="+mn-lt"/>
                <a:ea typeface="+mn-ea"/>
              </a:rPr>
              <a:t>6000H</a:t>
            </a:r>
            <a:r>
              <a:rPr lang="zh-CN" altLang="en-US" sz="2400" dirty="0">
                <a:latin typeface="+mn-lt"/>
                <a:ea typeface="+mn-ea"/>
              </a:rPr>
              <a:t>开始区域中，每传送</a:t>
            </a:r>
            <a:r>
              <a:rPr lang="en-US" altLang="zh-CN" sz="2400" dirty="0">
                <a:latin typeface="+mn-lt"/>
                <a:ea typeface="+mn-ea"/>
              </a:rPr>
              <a:t>1</a:t>
            </a:r>
            <a:r>
              <a:rPr lang="zh-CN" altLang="en-US" sz="2400" dirty="0">
                <a:latin typeface="+mn-lt"/>
                <a:ea typeface="+mn-ea"/>
              </a:rPr>
              <a:t>字节，地址</a:t>
            </a:r>
            <a:r>
              <a:rPr lang="en-US" altLang="zh-CN" sz="2400" dirty="0">
                <a:latin typeface="+mn-lt"/>
                <a:ea typeface="+mn-ea"/>
              </a:rPr>
              <a:t>+1</a:t>
            </a:r>
            <a:r>
              <a:rPr lang="zh-CN" altLang="en-US" sz="2400" dirty="0">
                <a:latin typeface="+mn-lt"/>
                <a:ea typeface="+mn-ea"/>
              </a:rPr>
              <a:t>，采用数据块连续传送方式，禁止自动预置，外设的</a:t>
            </a:r>
            <a:r>
              <a:rPr lang="en-US" altLang="zh-CN" sz="2400" dirty="0">
                <a:latin typeface="+mn-lt"/>
                <a:ea typeface="+mn-ea"/>
              </a:rPr>
              <a:t>DMA</a:t>
            </a:r>
            <a:r>
              <a:rPr lang="zh-CN" altLang="en-US" sz="2400" dirty="0">
                <a:latin typeface="+mn-lt"/>
                <a:ea typeface="+mn-ea"/>
              </a:rPr>
              <a:t>请求信号</a:t>
            </a:r>
            <a:r>
              <a:rPr lang="en-US" altLang="zh-CN" sz="2400" dirty="0">
                <a:latin typeface="+mn-lt"/>
                <a:ea typeface="+mn-ea"/>
              </a:rPr>
              <a:t>DREQ </a:t>
            </a:r>
            <a:r>
              <a:rPr lang="zh-CN" altLang="en-US" sz="2400" dirty="0">
                <a:latin typeface="+mn-lt"/>
                <a:ea typeface="+mn-ea"/>
              </a:rPr>
              <a:t>和响应信号</a:t>
            </a:r>
            <a:r>
              <a:rPr lang="en-US" altLang="zh-CN" sz="2400" dirty="0">
                <a:latin typeface="+mn-lt"/>
                <a:ea typeface="+mn-ea"/>
              </a:rPr>
              <a:t>DACK</a:t>
            </a:r>
            <a:r>
              <a:rPr lang="zh-CN" altLang="en-US" sz="2400" dirty="0">
                <a:latin typeface="+mn-lt"/>
                <a:ea typeface="+mn-ea"/>
              </a:rPr>
              <a:t>均为高电平有效。则初始化</a:t>
            </a:r>
            <a:r>
              <a:rPr lang="en-US" altLang="zh-CN" sz="2400" dirty="0">
                <a:latin typeface="+mn-lt"/>
                <a:ea typeface="+mn-ea"/>
              </a:rPr>
              <a:t>8237A</a:t>
            </a:r>
            <a:r>
              <a:rPr lang="zh-CN" altLang="en-US" sz="2400" dirty="0">
                <a:latin typeface="+mn-lt"/>
                <a:ea typeface="+mn-ea"/>
              </a:rPr>
              <a:t>的程序如下：</a:t>
            </a:r>
            <a:endParaRPr lang="en-US" altLang="zh-CN" sz="2400" dirty="0">
              <a:latin typeface="+mn-lt"/>
              <a:ea typeface="+mn-ea"/>
            </a:endParaRPr>
          </a:p>
          <a:p>
            <a:pPr>
              <a:buNone/>
            </a:pPr>
            <a:endParaRPr lang="zh-CN" altLang="en-US" sz="2400" dirty="0"/>
          </a:p>
        </p:txBody>
      </p:sp>
      <p:sp>
        <p:nvSpPr>
          <p:cNvPr id="5" name="标题 154627">
            <a:extLst>
              <a:ext uri="{FF2B5EF4-FFF2-40B4-BE49-F238E27FC236}">
                <a16:creationId xmlns:a16="http://schemas.microsoft.com/office/drawing/2014/main" id="{0CE92FF9-7FEB-4D20-9D02-27EC6F9BA96D}"/>
              </a:ext>
            </a:extLst>
          </p:cNvPr>
          <p:cNvSpPr txBox="1">
            <a:spLocks/>
          </p:cNvSpPr>
          <p:nvPr/>
        </p:nvSpPr>
        <p:spPr>
          <a:xfrm>
            <a:off x="1547664" y="188640"/>
            <a:ext cx="6408712" cy="431800"/>
          </a:xfrm>
        </p:spPr>
        <p:txBody>
          <a:bodyPr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10.2 8237A</a:t>
            </a:r>
            <a:r>
              <a:rPr lang="zh-CN" altLang="en-US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的编程和应用举例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BF579CD-9062-4BCB-8851-B40010AEA89A}"/>
              </a:ext>
            </a:extLst>
          </p:cNvPr>
          <p:cNvSpPr txBox="1"/>
          <p:nvPr/>
        </p:nvSpPr>
        <p:spPr>
          <a:xfrm>
            <a:off x="755576" y="3068960"/>
            <a:ext cx="7848872" cy="298543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buNone/>
            </a:pP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；把要传送的总字节数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1K=400H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减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1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后，</a:t>
            </a:r>
            <a:endParaRPr lang="en-US" altLang="zh-CN" sz="2400" dirty="0">
              <a:solidFill>
                <a:srgbClr val="0000FF"/>
              </a:solidFill>
              <a:latin typeface="+mn-lt"/>
              <a:ea typeface="+mn-ea"/>
            </a:endParaRPr>
          </a:p>
          <a:p>
            <a:pPr>
              <a:spcBef>
                <a:spcPts val="300"/>
              </a:spcBef>
              <a:spcAft>
                <a:spcPts val="600"/>
              </a:spcAft>
              <a:buNone/>
            </a:pP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；送到基字计数器和当前字计数器</a:t>
            </a:r>
          </a:p>
          <a:p>
            <a:pPr>
              <a:spcBef>
                <a:spcPts val="300"/>
              </a:spcBef>
              <a:buNone/>
            </a:pP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MOV	AX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，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0400H		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；总字节数</a:t>
            </a:r>
          </a:p>
          <a:p>
            <a:pPr>
              <a:spcBef>
                <a:spcPts val="300"/>
              </a:spcBef>
              <a:buNone/>
            </a:pP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DEC	AX			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；总字节数减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1</a:t>
            </a:r>
            <a:endParaRPr lang="zh-CN" altLang="en-US" sz="2400" dirty="0">
              <a:solidFill>
                <a:srgbClr val="0000FF"/>
              </a:solidFill>
              <a:latin typeface="+mn-lt"/>
              <a:ea typeface="+mn-ea"/>
            </a:endParaRPr>
          </a:p>
          <a:p>
            <a:pPr>
              <a:spcBef>
                <a:spcPts val="300"/>
              </a:spcBef>
              <a:buNone/>
            </a:pP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OUT	DMA+01H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，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AL	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；先写入字节数的低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8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位</a:t>
            </a:r>
          </a:p>
          <a:p>
            <a:pPr>
              <a:spcBef>
                <a:spcPts val="300"/>
              </a:spcBef>
              <a:buNone/>
            </a:pP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MOV	AL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，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AH</a:t>
            </a:r>
            <a:endParaRPr lang="zh-CN" altLang="en-US" sz="2400" dirty="0">
              <a:solidFill>
                <a:srgbClr val="0000FF"/>
              </a:solidFill>
              <a:latin typeface="+mn-lt"/>
              <a:ea typeface="+mn-ea"/>
            </a:endParaRPr>
          </a:p>
          <a:p>
            <a:pPr>
              <a:spcBef>
                <a:spcPts val="300"/>
              </a:spcBef>
              <a:buNone/>
            </a:pP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OUT	DMA+01H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，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AL	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；后写入字节数的高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8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位</a:t>
            </a:r>
          </a:p>
        </p:txBody>
      </p:sp>
    </p:spTree>
    <p:extLst>
      <p:ext uri="{BB962C8B-B14F-4D97-AF65-F5344CB8AC3E}">
        <p14:creationId xmlns:p14="http://schemas.microsoft.com/office/powerpoint/2010/main" val="329976334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611284AC-AB36-41CF-B6DB-31CDAD718C9B}"/>
              </a:ext>
            </a:extLst>
          </p:cNvPr>
          <p:cNvSpPr txBox="1"/>
          <p:nvPr/>
        </p:nvSpPr>
        <p:spPr>
          <a:xfrm>
            <a:off x="395536" y="764704"/>
            <a:ext cx="828092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</a:rPr>
              <a:t>【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</a:rPr>
              <a:t>例</a:t>
            </a: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</a:rPr>
              <a:t>】</a:t>
            </a:r>
            <a:r>
              <a:rPr lang="zh-CN" altLang="en-US" sz="2400" dirty="0">
                <a:latin typeface="+mn-lt"/>
                <a:ea typeface="+mn-ea"/>
              </a:rPr>
              <a:t>某系统中用</a:t>
            </a:r>
            <a:r>
              <a:rPr lang="en-US" altLang="zh-CN" sz="2400" dirty="0">
                <a:latin typeface="+mn-lt"/>
                <a:ea typeface="+mn-ea"/>
              </a:rPr>
              <a:t>8237A</a:t>
            </a:r>
            <a:r>
              <a:rPr lang="zh-CN" altLang="en-US" sz="2400" dirty="0">
                <a:latin typeface="+mn-lt"/>
                <a:ea typeface="+mn-ea"/>
              </a:rPr>
              <a:t>设计了</a:t>
            </a:r>
            <a:r>
              <a:rPr lang="en-US" altLang="zh-CN" sz="2400" dirty="0">
                <a:latin typeface="+mn-lt"/>
                <a:ea typeface="+mn-ea"/>
              </a:rPr>
              <a:t>DMA</a:t>
            </a:r>
            <a:r>
              <a:rPr lang="zh-CN" altLang="en-US" sz="2400" dirty="0">
                <a:latin typeface="+mn-lt"/>
                <a:ea typeface="+mn-ea"/>
              </a:rPr>
              <a:t>传输电路，其基地址为</a:t>
            </a:r>
            <a:r>
              <a:rPr lang="en-US" altLang="zh-CN" sz="2400" dirty="0">
                <a:latin typeface="+mn-lt"/>
                <a:ea typeface="+mn-ea"/>
              </a:rPr>
              <a:t>00H</a:t>
            </a:r>
            <a:r>
              <a:rPr lang="zh-CN" altLang="en-US" sz="2400" dirty="0">
                <a:latin typeface="+mn-lt"/>
                <a:ea typeface="+mn-ea"/>
              </a:rPr>
              <a:t>。要求用通道</a:t>
            </a:r>
            <a:r>
              <a:rPr lang="en-US" altLang="zh-CN" sz="2400" dirty="0">
                <a:latin typeface="+mn-lt"/>
                <a:ea typeface="+mn-ea"/>
              </a:rPr>
              <a:t>0</a:t>
            </a:r>
            <a:r>
              <a:rPr lang="zh-CN" altLang="en-US" sz="2400" dirty="0">
                <a:latin typeface="+mn-lt"/>
                <a:ea typeface="+mn-ea"/>
              </a:rPr>
              <a:t>从外设（如磁盘）输入</a:t>
            </a:r>
            <a:r>
              <a:rPr lang="en-US" altLang="zh-CN" sz="2400" dirty="0">
                <a:latin typeface="+mn-lt"/>
                <a:ea typeface="+mn-ea"/>
              </a:rPr>
              <a:t>1</a:t>
            </a:r>
            <a:r>
              <a:rPr lang="zh-CN" altLang="en-US" sz="2400" dirty="0">
                <a:latin typeface="+mn-lt"/>
                <a:ea typeface="+mn-ea"/>
              </a:rPr>
              <a:t>个</a:t>
            </a:r>
            <a:r>
              <a:rPr lang="en-US" altLang="zh-CN" sz="2400" dirty="0">
                <a:latin typeface="+mn-lt"/>
                <a:ea typeface="+mn-ea"/>
              </a:rPr>
              <a:t>1K</a:t>
            </a:r>
            <a:r>
              <a:rPr lang="zh-CN" altLang="en-US" sz="2400" dirty="0">
                <a:latin typeface="+mn-lt"/>
                <a:ea typeface="+mn-ea"/>
              </a:rPr>
              <a:t>字节数据块，传送到内存中</a:t>
            </a:r>
            <a:r>
              <a:rPr lang="en-US" altLang="zh-CN" sz="2400" dirty="0">
                <a:latin typeface="+mn-lt"/>
                <a:ea typeface="+mn-ea"/>
              </a:rPr>
              <a:t>6000H</a:t>
            </a:r>
            <a:r>
              <a:rPr lang="zh-CN" altLang="en-US" sz="2400" dirty="0">
                <a:latin typeface="+mn-lt"/>
                <a:ea typeface="+mn-ea"/>
              </a:rPr>
              <a:t>开始区域中，每传送</a:t>
            </a:r>
            <a:r>
              <a:rPr lang="en-US" altLang="zh-CN" sz="2400" dirty="0">
                <a:latin typeface="+mn-lt"/>
                <a:ea typeface="+mn-ea"/>
              </a:rPr>
              <a:t>1</a:t>
            </a:r>
            <a:r>
              <a:rPr lang="zh-CN" altLang="en-US" sz="2400" dirty="0">
                <a:latin typeface="+mn-lt"/>
                <a:ea typeface="+mn-ea"/>
              </a:rPr>
              <a:t>字节，地址</a:t>
            </a:r>
            <a:r>
              <a:rPr lang="en-US" altLang="zh-CN" sz="2400" dirty="0">
                <a:latin typeface="+mn-lt"/>
                <a:ea typeface="+mn-ea"/>
              </a:rPr>
              <a:t>+1</a:t>
            </a:r>
            <a:r>
              <a:rPr lang="zh-CN" altLang="en-US" sz="2400" dirty="0">
                <a:latin typeface="+mn-lt"/>
                <a:ea typeface="+mn-ea"/>
              </a:rPr>
              <a:t>，采用数据块连续传送方式，禁止自动预置，外设的</a:t>
            </a:r>
            <a:r>
              <a:rPr lang="en-US" altLang="zh-CN" sz="2400" dirty="0">
                <a:latin typeface="+mn-lt"/>
                <a:ea typeface="+mn-ea"/>
              </a:rPr>
              <a:t>DMA</a:t>
            </a:r>
            <a:r>
              <a:rPr lang="zh-CN" altLang="en-US" sz="2400" dirty="0">
                <a:latin typeface="+mn-lt"/>
                <a:ea typeface="+mn-ea"/>
              </a:rPr>
              <a:t>请求信号</a:t>
            </a:r>
            <a:r>
              <a:rPr lang="en-US" altLang="zh-CN" sz="2400" dirty="0">
                <a:latin typeface="+mn-lt"/>
                <a:ea typeface="+mn-ea"/>
              </a:rPr>
              <a:t>DREQ </a:t>
            </a:r>
            <a:r>
              <a:rPr lang="zh-CN" altLang="en-US" sz="2400" dirty="0">
                <a:latin typeface="+mn-lt"/>
                <a:ea typeface="+mn-ea"/>
              </a:rPr>
              <a:t>和响应信号</a:t>
            </a:r>
            <a:r>
              <a:rPr lang="en-US" altLang="zh-CN" sz="2400" dirty="0">
                <a:latin typeface="+mn-lt"/>
                <a:ea typeface="+mn-ea"/>
              </a:rPr>
              <a:t>DACK</a:t>
            </a:r>
            <a:r>
              <a:rPr lang="zh-CN" altLang="en-US" sz="2400" dirty="0">
                <a:latin typeface="+mn-lt"/>
                <a:ea typeface="+mn-ea"/>
              </a:rPr>
              <a:t>均为高电平有效。则初始化</a:t>
            </a:r>
            <a:r>
              <a:rPr lang="en-US" altLang="zh-CN" sz="2400" dirty="0">
                <a:latin typeface="+mn-lt"/>
                <a:ea typeface="+mn-ea"/>
              </a:rPr>
              <a:t>8237A</a:t>
            </a:r>
            <a:r>
              <a:rPr lang="zh-CN" altLang="en-US" sz="2400" dirty="0">
                <a:latin typeface="+mn-lt"/>
                <a:ea typeface="+mn-ea"/>
              </a:rPr>
              <a:t>的程序如下：</a:t>
            </a:r>
            <a:endParaRPr lang="en-US" altLang="zh-CN" sz="2400" dirty="0">
              <a:latin typeface="+mn-lt"/>
              <a:ea typeface="+mn-ea"/>
            </a:endParaRPr>
          </a:p>
          <a:p>
            <a:pPr>
              <a:buNone/>
            </a:pPr>
            <a:endParaRPr lang="zh-CN" altLang="en-US" sz="2400" dirty="0"/>
          </a:p>
        </p:txBody>
      </p:sp>
      <p:sp>
        <p:nvSpPr>
          <p:cNvPr id="5" name="标题 154627">
            <a:extLst>
              <a:ext uri="{FF2B5EF4-FFF2-40B4-BE49-F238E27FC236}">
                <a16:creationId xmlns:a16="http://schemas.microsoft.com/office/drawing/2014/main" id="{0CE92FF9-7FEB-4D20-9D02-27EC6F9BA96D}"/>
              </a:ext>
            </a:extLst>
          </p:cNvPr>
          <p:cNvSpPr txBox="1">
            <a:spLocks/>
          </p:cNvSpPr>
          <p:nvPr/>
        </p:nvSpPr>
        <p:spPr>
          <a:xfrm>
            <a:off x="1547664" y="188640"/>
            <a:ext cx="6408712" cy="431800"/>
          </a:xfrm>
        </p:spPr>
        <p:txBody>
          <a:bodyPr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10.2 8237A</a:t>
            </a:r>
            <a:r>
              <a:rPr lang="zh-CN" altLang="en-US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的编程和应用举例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BF579CD-9062-4BCB-8851-B40010AEA89A}"/>
              </a:ext>
            </a:extLst>
          </p:cNvPr>
          <p:cNvSpPr txBox="1"/>
          <p:nvPr/>
        </p:nvSpPr>
        <p:spPr>
          <a:xfrm>
            <a:off x="755576" y="3068960"/>
            <a:ext cx="7848872" cy="29469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buNone/>
            </a:pP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；写入方式字：数据块传送，地址增量，禁止自动预置，</a:t>
            </a:r>
            <a:endParaRPr lang="en-US" altLang="zh-CN" sz="2400" dirty="0">
              <a:solidFill>
                <a:srgbClr val="0000FF"/>
              </a:solidFill>
              <a:latin typeface="+mn-lt"/>
              <a:ea typeface="+mn-ea"/>
            </a:endParaRPr>
          </a:p>
          <a:p>
            <a:pPr>
              <a:spcBef>
                <a:spcPts val="600"/>
              </a:spcBef>
              <a:buNone/>
            </a:pP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；                      写传送，选择通道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0</a:t>
            </a:r>
          </a:p>
          <a:p>
            <a:pPr>
              <a:spcBef>
                <a:spcPts val="300"/>
              </a:spcBef>
              <a:buNone/>
            </a:pP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MOV	AL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，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10000100B	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；方式字</a:t>
            </a:r>
            <a:endParaRPr lang="en-US" altLang="zh-CN" sz="2400" dirty="0">
              <a:solidFill>
                <a:srgbClr val="0000FF"/>
              </a:solidFill>
              <a:latin typeface="+mn-lt"/>
              <a:ea typeface="+mn-ea"/>
            </a:endParaRPr>
          </a:p>
          <a:p>
            <a:pPr>
              <a:spcBef>
                <a:spcPts val="300"/>
              </a:spcBef>
              <a:buNone/>
            </a:pP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OUT	DMA+0BH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，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AL	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；写入方式字</a:t>
            </a:r>
            <a:endParaRPr lang="en-US" altLang="zh-CN" sz="2400" dirty="0">
              <a:solidFill>
                <a:srgbClr val="0000FF"/>
              </a:solidFill>
              <a:latin typeface="+mn-lt"/>
              <a:ea typeface="+mn-ea"/>
            </a:endParaRPr>
          </a:p>
          <a:p>
            <a:pPr>
              <a:spcBef>
                <a:spcPts val="300"/>
              </a:spcBef>
              <a:buNone/>
            </a:pP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；写入屏蔽字：通道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0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屏蔽位清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0</a:t>
            </a:r>
            <a:endParaRPr lang="zh-CN" altLang="en-US" sz="2400" dirty="0">
              <a:solidFill>
                <a:srgbClr val="0000FF"/>
              </a:solidFill>
              <a:latin typeface="+mn-lt"/>
              <a:ea typeface="+mn-ea"/>
            </a:endParaRPr>
          </a:p>
          <a:p>
            <a:pPr>
              <a:spcBef>
                <a:spcPts val="300"/>
              </a:spcBef>
              <a:buNone/>
            </a:pP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MOV	AL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，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00H		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；屏蔽字</a:t>
            </a:r>
          </a:p>
          <a:p>
            <a:pPr>
              <a:spcBef>
                <a:spcPts val="300"/>
              </a:spcBef>
              <a:buNone/>
            </a:pP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OUT	DMA+0AH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，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AL	</a:t>
            </a:r>
            <a:endParaRPr lang="zh-CN" altLang="en-US" sz="2400" dirty="0">
              <a:solidFill>
                <a:srgbClr val="0000FF"/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96043822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611284AC-AB36-41CF-B6DB-31CDAD718C9B}"/>
              </a:ext>
            </a:extLst>
          </p:cNvPr>
          <p:cNvSpPr txBox="1"/>
          <p:nvPr/>
        </p:nvSpPr>
        <p:spPr>
          <a:xfrm>
            <a:off x="395536" y="764704"/>
            <a:ext cx="8280920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</a:rPr>
              <a:t>【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</a:rPr>
              <a:t>例</a:t>
            </a: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</a:rPr>
              <a:t>】</a:t>
            </a:r>
            <a:r>
              <a:rPr lang="zh-CN" altLang="en-US" sz="2400" dirty="0">
                <a:latin typeface="+mn-lt"/>
                <a:ea typeface="+mn-ea"/>
              </a:rPr>
              <a:t>某系统中用</a:t>
            </a:r>
            <a:r>
              <a:rPr lang="en-US" altLang="zh-CN" sz="2400" dirty="0">
                <a:latin typeface="+mn-lt"/>
                <a:ea typeface="+mn-ea"/>
              </a:rPr>
              <a:t>8237A</a:t>
            </a:r>
            <a:r>
              <a:rPr lang="zh-CN" altLang="en-US" sz="2400" dirty="0">
                <a:latin typeface="+mn-lt"/>
                <a:ea typeface="+mn-ea"/>
              </a:rPr>
              <a:t>设计了</a:t>
            </a:r>
            <a:r>
              <a:rPr lang="en-US" altLang="zh-CN" sz="2400" dirty="0">
                <a:latin typeface="+mn-lt"/>
                <a:ea typeface="+mn-ea"/>
              </a:rPr>
              <a:t>DMA</a:t>
            </a:r>
            <a:r>
              <a:rPr lang="zh-CN" altLang="en-US" sz="2400" dirty="0">
                <a:latin typeface="+mn-lt"/>
                <a:ea typeface="+mn-ea"/>
              </a:rPr>
              <a:t>传输电路，其基地址为</a:t>
            </a:r>
            <a:r>
              <a:rPr lang="en-US" altLang="zh-CN" sz="2400" dirty="0">
                <a:latin typeface="+mn-lt"/>
                <a:ea typeface="+mn-ea"/>
              </a:rPr>
              <a:t>00H</a:t>
            </a:r>
            <a:r>
              <a:rPr lang="zh-CN" altLang="en-US" sz="2400" dirty="0">
                <a:latin typeface="+mn-lt"/>
                <a:ea typeface="+mn-ea"/>
              </a:rPr>
              <a:t>。要求用通道</a:t>
            </a:r>
            <a:r>
              <a:rPr lang="en-US" altLang="zh-CN" sz="2400" dirty="0">
                <a:latin typeface="+mn-lt"/>
                <a:ea typeface="+mn-ea"/>
              </a:rPr>
              <a:t>0</a:t>
            </a:r>
            <a:r>
              <a:rPr lang="zh-CN" altLang="en-US" sz="2400" dirty="0">
                <a:latin typeface="+mn-lt"/>
                <a:ea typeface="+mn-ea"/>
              </a:rPr>
              <a:t>从外设（如磁盘）输入</a:t>
            </a:r>
            <a:r>
              <a:rPr lang="en-US" altLang="zh-CN" sz="2400" dirty="0">
                <a:latin typeface="+mn-lt"/>
                <a:ea typeface="+mn-ea"/>
              </a:rPr>
              <a:t>1</a:t>
            </a:r>
            <a:r>
              <a:rPr lang="zh-CN" altLang="en-US" sz="2400" dirty="0">
                <a:latin typeface="+mn-lt"/>
                <a:ea typeface="+mn-ea"/>
              </a:rPr>
              <a:t>个</a:t>
            </a:r>
            <a:r>
              <a:rPr lang="en-US" altLang="zh-CN" sz="2400" dirty="0">
                <a:latin typeface="+mn-lt"/>
                <a:ea typeface="+mn-ea"/>
              </a:rPr>
              <a:t>1K</a:t>
            </a:r>
            <a:r>
              <a:rPr lang="zh-CN" altLang="en-US" sz="2400" dirty="0">
                <a:latin typeface="+mn-lt"/>
                <a:ea typeface="+mn-ea"/>
              </a:rPr>
              <a:t>字节数据块，传送到内存中</a:t>
            </a:r>
            <a:r>
              <a:rPr lang="en-US" altLang="zh-CN" sz="2400" dirty="0">
                <a:latin typeface="+mn-lt"/>
                <a:ea typeface="+mn-ea"/>
              </a:rPr>
              <a:t>6000H</a:t>
            </a:r>
            <a:r>
              <a:rPr lang="zh-CN" altLang="en-US" sz="2400" dirty="0">
                <a:latin typeface="+mn-lt"/>
                <a:ea typeface="+mn-ea"/>
              </a:rPr>
              <a:t>开始区域中，每传送</a:t>
            </a:r>
            <a:r>
              <a:rPr lang="en-US" altLang="zh-CN" sz="2400" dirty="0">
                <a:latin typeface="+mn-lt"/>
                <a:ea typeface="+mn-ea"/>
              </a:rPr>
              <a:t>1</a:t>
            </a:r>
            <a:r>
              <a:rPr lang="zh-CN" altLang="en-US" sz="2400" dirty="0">
                <a:latin typeface="+mn-lt"/>
                <a:ea typeface="+mn-ea"/>
              </a:rPr>
              <a:t>字节，地址</a:t>
            </a:r>
            <a:r>
              <a:rPr lang="en-US" altLang="zh-CN" sz="2400" dirty="0">
                <a:latin typeface="+mn-lt"/>
                <a:ea typeface="+mn-ea"/>
              </a:rPr>
              <a:t>+1</a:t>
            </a:r>
            <a:r>
              <a:rPr lang="zh-CN" altLang="en-US" sz="2400" dirty="0">
                <a:latin typeface="+mn-lt"/>
                <a:ea typeface="+mn-ea"/>
              </a:rPr>
              <a:t>，采用数据块连续传送方式，禁止自动预置，外设的</a:t>
            </a:r>
            <a:r>
              <a:rPr lang="en-US" altLang="zh-CN" sz="2400" dirty="0">
                <a:latin typeface="+mn-lt"/>
                <a:ea typeface="+mn-ea"/>
              </a:rPr>
              <a:t>DMA</a:t>
            </a:r>
            <a:r>
              <a:rPr lang="zh-CN" altLang="en-US" sz="2400" dirty="0">
                <a:latin typeface="+mn-lt"/>
                <a:ea typeface="+mn-ea"/>
              </a:rPr>
              <a:t>请求信号</a:t>
            </a:r>
            <a:r>
              <a:rPr lang="en-US" altLang="zh-CN" sz="2400" dirty="0">
                <a:latin typeface="+mn-lt"/>
                <a:ea typeface="+mn-ea"/>
              </a:rPr>
              <a:t>DREQ </a:t>
            </a:r>
            <a:r>
              <a:rPr lang="zh-CN" altLang="en-US" sz="2400" dirty="0">
                <a:latin typeface="+mn-lt"/>
                <a:ea typeface="+mn-ea"/>
              </a:rPr>
              <a:t>和响应信号</a:t>
            </a:r>
            <a:r>
              <a:rPr lang="en-US" altLang="zh-CN" sz="2400" dirty="0">
                <a:latin typeface="+mn-lt"/>
                <a:ea typeface="+mn-ea"/>
              </a:rPr>
              <a:t>DACK</a:t>
            </a:r>
            <a:r>
              <a:rPr lang="zh-CN" altLang="en-US" sz="2400" dirty="0">
                <a:latin typeface="+mn-lt"/>
                <a:ea typeface="+mn-ea"/>
              </a:rPr>
              <a:t>均为高电平有效。则初始化</a:t>
            </a:r>
            <a:r>
              <a:rPr lang="en-US" altLang="zh-CN" sz="2400" dirty="0">
                <a:latin typeface="+mn-lt"/>
                <a:ea typeface="+mn-ea"/>
              </a:rPr>
              <a:t>8237A</a:t>
            </a:r>
            <a:r>
              <a:rPr lang="zh-CN" altLang="en-US" sz="2400" dirty="0">
                <a:latin typeface="+mn-lt"/>
                <a:ea typeface="+mn-ea"/>
              </a:rPr>
              <a:t>的程序如下：</a:t>
            </a:r>
            <a:endParaRPr lang="en-US" altLang="zh-CN" sz="2400" dirty="0">
              <a:latin typeface="+mn-lt"/>
              <a:ea typeface="+mn-ea"/>
            </a:endParaRPr>
          </a:p>
          <a:p>
            <a:pPr>
              <a:buNone/>
            </a:pPr>
            <a:endParaRPr lang="zh-CN" altLang="en-US" sz="2400" dirty="0"/>
          </a:p>
        </p:txBody>
      </p:sp>
      <p:sp>
        <p:nvSpPr>
          <p:cNvPr id="5" name="标题 154627">
            <a:extLst>
              <a:ext uri="{FF2B5EF4-FFF2-40B4-BE49-F238E27FC236}">
                <a16:creationId xmlns:a16="http://schemas.microsoft.com/office/drawing/2014/main" id="{0CE92FF9-7FEB-4D20-9D02-27EC6F9BA96D}"/>
              </a:ext>
            </a:extLst>
          </p:cNvPr>
          <p:cNvSpPr txBox="1">
            <a:spLocks/>
          </p:cNvSpPr>
          <p:nvPr/>
        </p:nvSpPr>
        <p:spPr>
          <a:xfrm>
            <a:off x="1547664" y="188640"/>
            <a:ext cx="6408712" cy="431800"/>
          </a:xfrm>
        </p:spPr>
        <p:txBody>
          <a:bodyPr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10.2 8237A</a:t>
            </a:r>
            <a:r>
              <a:rPr lang="zh-CN" altLang="en-US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的编程和应用举例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BF579CD-9062-4BCB-8851-B40010AEA89A}"/>
              </a:ext>
            </a:extLst>
          </p:cNvPr>
          <p:cNvSpPr txBox="1"/>
          <p:nvPr/>
        </p:nvSpPr>
        <p:spPr>
          <a:xfrm>
            <a:off x="755576" y="3068960"/>
            <a:ext cx="8136904" cy="33547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buNone/>
            </a:pP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；写入命令字：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DACK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和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DREQ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为高电平，固定优先级，</a:t>
            </a:r>
            <a:endParaRPr lang="en-US" altLang="zh-CN" sz="2400" dirty="0">
              <a:solidFill>
                <a:srgbClr val="0000FF"/>
              </a:solidFill>
              <a:latin typeface="+mn-lt"/>
              <a:ea typeface="+mn-ea"/>
            </a:endParaRPr>
          </a:p>
          <a:p>
            <a:pPr>
              <a:spcBef>
                <a:spcPts val="600"/>
              </a:spcBef>
              <a:buNone/>
            </a:pP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；                     非存储器间传送</a:t>
            </a:r>
            <a:endParaRPr lang="en-US" altLang="zh-CN" sz="2400" dirty="0">
              <a:solidFill>
                <a:srgbClr val="0000FF"/>
              </a:solidFill>
              <a:latin typeface="+mn-lt"/>
              <a:ea typeface="+mn-ea"/>
            </a:endParaRPr>
          </a:p>
          <a:p>
            <a:pPr>
              <a:spcBef>
                <a:spcPts val="600"/>
              </a:spcBef>
              <a:buNone/>
            </a:pP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MOV	AL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，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10000000B	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；命令字</a:t>
            </a:r>
            <a:endParaRPr lang="en-US" altLang="zh-CN" sz="2400" dirty="0">
              <a:solidFill>
                <a:srgbClr val="0000FF"/>
              </a:solidFill>
              <a:latin typeface="+mn-lt"/>
              <a:ea typeface="+mn-ea"/>
            </a:endParaRPr>
          </a:p>
          <a:p>
            <a:pPr>
              <a:spcBef>
                <a:spcPts val="300"/>
              </a:spcBef>
              <a:buNone/>
            </a:pP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OUT	DMA+08H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，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AL	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；写入命令字</a:t>
            </a:r>
            <a:endParaRPr lang="en-US" altLang="zh-CN" sz="2400" dirty="0">
              <a:solidFill>
                <a:srgbClr val="0000FF"/>
              </a:solidFill>
              <a:latin typeface="+mn-lt"/>
              <a:ea typeface="+mn-ea"/>
            </a:endParaRPr>
          </a:p>
          <a:p>
            <a:pPr>
              <a:spcBef>
                <a:spcPts val="300"/>
              </a:spcBef>
              <a:buNone/>
            </a:pP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；写入请求字：通道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0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产生请求</a:t>
            </a:r>
          </a:p>
          <a:p>
            <a:pPr>
              <a:spcBef>
                <a:spcPts val="300"/>
              </a:spcBef>
              <a:buNone/>
            </a:pP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MOV	AL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，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04H		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；请求字</a:t>
            </a:r>
          </a:p>
          <a:p>
            <a:pPr>
              <a:spcBef>
                <a:spcPts val="300"/>
              </a:spcBef>
              <a:buNone/>
            </a:pP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OUT	DMA+09H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，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AL	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；写入请求字，用软件方法启动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	</a:t>
            </a:r>
            <a:endParaRPr lang="zh-CN" altLang="en-US" sz="2400" dirty="0">
              <a:solidFill>
                <a:srgbClr val="0000FF"/>
              </a:solidFill>
              <a:latin typeface="+mn-lt"/>
              <a:ea typeface="+mn-ea"/>
            </a:endParaRPr>
          </a:p>
        </p:txBody>
      </p:sp>
    </p:spTree>
    <p:extLst>
      <p:ext uri="{BB962C8B-B14F-4D97-AF65-F5344CB8AC3E}">
        <p14:creationId xmlns:p14="http://schemas.microsoft.com/office/powerpoint/2010/main" val="367164228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611284AC-AB36-41CF-B6DB-31CDAD718C9B}"/>
              </a:ext>
            </a:extLst>
          </p:cNvPr>
          <p:cNvSpPr txBox="1"/>
          <p:nvPr/>
        </p:nvSpPr>
        <p:spPr>
          <a:xfrm>
            <a:off x="395536" y="1222588"/>
            <a:ext cx="8280920" cy="39395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Bef>
                <a:spcPts val="600"/>
              </a:spcBef>
              <a:buClr>
                <a:srgbClr val="0000FF"/>
              </a:buClr>
            </a:pP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</a:rPr>
              <a:t>【</a:t>
            </a:r>
            <a:r>
              <a:rPr lang="zh-CN" altLang="en-US" sz="2400" b="1" dirty="0">
                <a:solidFill>
                  <a:srgbClr val="0000FF"/>
                </a:solidFill>
                <a:latin typeface="Arial" panose="020B0604020202020204" pitchFamily="34" charset="0"/>
              </a:rPr>
              <a:t>例</a:t>
            </a:r>
            <a:r>
              <a:rPr lang="en-US" altLang="zh-CN" sz="2400" b="1" dirty="0">
                <a:solidFill>
                  <a:srgbClr val="0000FF"/>
                </a:solidFill>
                <a:latin typeface="Arial" panose="020B0604020202020204" pitchFamily="34" charset="0"/>
              </a:rPr>
              <a:t>】 </a:t>
            </a:r>
            <a:r>
              <a:rPr lang="en-US" altLang="zh-CN" sz="2400" dirty="0">
                <a:latin typeface="+mn-lt"/>
              </a:rPr>
              <a:t>PC/XT</a:t>
            </a:r>
            <a:r>
              <a:rPr lang="zh-CN" altLang="en-US" sz="2400" dirty="0">
                <a:latin typeface="+mn-lt"/>
              </a:rPr>
              <a:t>机的</a:t>
            </a:r>
            <a:r>
              <a:rPr lang="en-US" altLang="zh-CN" sz="2400" dirty="0">
                <a:latin typeface="+mn-lt"/>
              </a:rPr>
              <a:t>DMA</a:t>
            </a:r>
            <a:r>
              <a:rPr lang="zh-CN" altLang="en-US" sz="2400" dirty="0">
                <a:latin typeface="+mn-lt"/>
              </a:rPr>
              <a:t>控制</a:t>
            </a:r>
            <a:endParaRPr lang="en-US" altLang="zh-CN" sz="2400" dirty="0">
              <a:latin typeface="+mn-lt"/>
            </a:endParaRPr>
          </a:p>
          <a:p>
            <a:pPr marL="358775" indent="-358775" algn="just">
              <a:spcBef>
                <a:spcPts val="6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en-US" altLang="zh-CN" sz="2400" dirty="0">
                <a:latin typeface="+mn-lt"/>
              </a:rPr>
              <a:t>PC/XT</a:t>
            </a:r>
            <a:r>
              <a:rPr lang="zh-CN" altLang="en-US" sz="2400" dirty="0">
                <a:latin typeface="+mn-lt"/>
              </a:rPr>
              <a:t>中用</a:t>
            </a:r>
            <a:r>
              <a:rPr lang="en-US" altLang="zh-CN" sz="2400" dirty="0">
                <a:latin typeface="+mn-lt"/>
              </a:rPr>
              <a:t>1</a:t>
            </a:r>
            <a:r>
              <a:rPr lang="zh-CN" altLang="en-US" sz="2400" dirty="0">
                <a:latin typeface="+mn-lt"/>
              </a:rPr>
              <a:t>片</a:t>
            </a:r>
            <a:r>
              <a:rPr lang="en-US" altLang="zh-CN" sz="2400" dirty="0">
                <a:latin typeface="+mn-lt"/>
              </a:rPr>
              <a:t>8237A-5</a:t>
            </a:r>
            <a:r>
              <a:rPr lang="zh-CN" altLang="en-US" sz="2400" dirty="0">
                <a:latin typeface="+mn-lt"/>
              </a:rPr>
              <a:t>构成</a:t>
            </a:r>
            <a:r>
              <a:rPr lang="en-US" altLang="zh-CN" sz="2400" dirty="0">
                <a:latin typeface="+mn-lt"/>
              </a:rPr>
              <a:t>DMA</a:t>
            </a:r>
            <a:r>
              <a:rPr lang="zh-CN" altLang="en-US" sz="2400" dirty="0">
                <a:latin typeface="+mn-lt"/>
              </a:rPr>
              <a:t>控制电路，提供</a:t>
            </a:r>
            <a:r>
              <a:rPr lang="en-US" altLang="zh-CN" sz="2400" dirty="0">
                <a:latin typeface="+mn-lt"/>
              </a:rPr>
              <a:t>4</a:t>
            </a:r>
            <a:r>
              <a:rPr lang="zh-CN" altLang="en-US" sz="2400" dirty="0">
                <a:latin typeface="+mn-lt"/>
              </a:rPr>
              <a:t>个通道的</a:t>
            </a:r>
            <a:r>
              <a:rPr lang="en-US" altLang="zh-CN" sz="2400" dirty="0">
                <a:latin typeface="+mn-lt"/>
              </a:rPr>
              <a:t>8</a:t>
            </a:r>
            <a:r>
              <a:rPr lang="zh-CN" altLang="en-US" sz="2400" dirty="0">
                <a:latin typeface="+mn-lt"/>
              </a:rPr>
              <a:t>位</a:t>
            </a:r>
            <a:r>
              <a:rPr lang="en-US" altLang="zh-CN" sz="2400" dirty="0">
                <a:latin typeface="+mn-lt"/>
              </a:rPr>
              <a:t>DMA</a:t>
            </a:r>
            <a:r>
              <a:rPr lang="zh-CN" altLang="en-US" sz="2400" dirty="0">
                <a:latin typeface="+mn-lt"/>
              </a:rPr>
              <a:t>传输。使用固定优先级，通道</a:t>
            </a:r>
            <a:r>
              <a:rPr lang="en-US" altLang="zh-CN" sz="2400" dirty="0">
                <a:latin typeface="+mn-lt"/>
              </a:rPr>
              <a:t>0</a:t>
            </a:r>
            <a:r>
              <a:rPr lang="zh-CN" altLang="en-US" sz="2400" dirty="0">
                <a:latin typeface="+mn-lt"/>
              </a:rPr>
              <a:t>优先级最高，通道</a:t>
            </a:r>
            <a:r>
              <a:rPr lang="en-US" altLang="zh-CN" sz="2400" dirty="0">
                <a:latin typeface="+mn-lt"/>
              </a:rPr>
              <a:t>3</a:t>
            </a:r>
            <a:r>
              <a:rPr lang="zh-CN" altLang="en-US" sz="2400" dirty="0">
                <a:latin typeface="+mn-lt"/>
              </a:rPr>
              <a:t>最低。各通道功能：</a:t>
            </a:r>
          </a:p>
          <a:p>
            <a:pPr marL="358775">
              <a:spcBef>
                <a:spcPts val="600"/>
              </a:spcBef>
              <a:buClr>
                <a:srgbClr val="0000FF"/>
              </a:buClr>
            </a:pPr>
            <a:r>
              <a:rPr lang="zh-CN" altLang="en-US" sz="2400" dirty="0">
                <a:latin typeface="+mn-lt"/>
                <a:ea typeface="+mn-ea"/>
              </a:rPr>
              <a:t>通道</a:t>
            </a:r>
            <a:r>
              <a:rPr lang="en-US" altLang="zh-CN" sz="2400" dirty="0">
                <a:latin typeface="+mn-lt"/>
                <a:ea typeface="+mn-ea"/>
              </a:rPr>
              <a:t>0  </a:t>
            </a:r>
            <a:r>
              <a:rPr lang="zh-CN" altLang="en-US" sz="2400" dirty="0">
                <a:latin typeface="+mn-lt"/>
                <a:ea typeface="+mn-ea"/>
              </a:rPr>
              <a:t>用于动态</a:t>
            </a:r>
            <a:r>
              <a:rPr lang="en-US" altLang="zh-CN" sz="2400" dirty="0">
                <a:latin typeface="+mn-lt"/>
                <a:ea typeface="+mn-ea"/>
              </a:rPr>
              <a:t>RAM</a:t>
            </a:r>
            <a:r>
              <a:rPr lang="zh-CN" altLang="en-US" sz="2400" dirty="0">
                <a:latin typeface="+mn-lt"/>
                <a:ea typeface="+mn-ea"/>
              </a:rPr>
              <a:t>的刷新</a:t>
            </a:r>
          </a:p>
          <a:p>
            <a:pPr marL="358775">
              <a:spcBef>
                <a:spcPts val="0"/>
              </a:spcBef>
              <a:buClr>
                <a:srgbClr val="0000FF"/>
              </a:buClr>
            </a:pPr>
            <a:r>
              <a:rPr lang="zh-CN" altLang="en-US" sz="2400" dirty="0">
                <a:latin typeface="+mn-lt"/>
                <a:ea typeface="+mn-ea"/>
              </a:rPr>
              <a:t>通道</a:t>
            </a:r>
            <a:r>
              <a:rPr lang="en-US" altLang="zh-CN" sz="2400" dirty="0">
                <a:latin typeface="+mn-lt"/>
                <a:ea typeface="+mn-ea"/>
              </a:rPr>
              <a:t>1  </a:t>
            </a:r>
            <a:r>
              <a:rPr lang="zh-CN" altLang="en-US" sz="2400" dirty="0">
                <a:latin typeface="+mn-lt"/>
                <a:ea typeface="+mn-ea"/>
              </a:rPr>
              <a:t>为用户保留</a:t>
            </a:r>
          </a:p>
          <a:p>
            <a:pPr marL="358775">
              <a:spcBef>
                <a:spcPts val="0"/>
              </a:spcBef>
              <a:buClr>
                <a:srgbClr val="0000FF"/>
              </a:buClr>
            </a:pPr>
            <a:r>
              <a:rPr lang="zh-CN" altLang="en-US" sz="2400" dirty="0">
                <a:latin typeface="+mn-lt"/>
                <a:ea typeface="+mn-ea"/>
              </a:rPr>
              <a:t>通道</a:t>
            </a:r>
            <a:r>
              <a:rPr lang="en-US" altLang="zh-CN" sz="2400" dirty="0">
                <a:latin typeface="+mn-lt"/>
                <a:ea typeface="+mn-ea"/>
              </a:rPr>
              <a:t>2  </a:t>
            </a:r>
            <a:r>
              <a:rPr lang="zh-CN" altLang="en-US" sz="2400" dirty="0">
                <a:latin typeface="+mn-lt"/>
                <a:ea typeface="+mn-ea"/>
              </a:rPr>
              <a:t>用于软盘</a:t>
            </a:r>
            <a:r>
              <a:rPr lang="en-US" altLang="zh-CN" sz="2400" dirty="0">
                <a:latin typeface="+mn-lt"/>
                <a:ea typeface="+mn-ea"/>
              </a:rPr>
              <a:t>DMA</a:t>
            </a:r>
            <a:r>
              <a:rPr lang="zh-CN" altLang="en-US" sz="2400" dirty="0">
                <a:latin typeface="+mn-lt"/>
                <a:ea typeface="+mn-ea"/>
              </a:rPr>
              <a:t>传送</a:t>
            </a:r>
          </a:p>
          <a:p>
            <a:pPr marL="358775">
              <a:spcBef>
                <a:spcPts val="0"/>
              </a:spcBef>
              <a:buClr>
                <a:srgbClr val="0000FF"/>
              </a:buClr>
            </a:pPr>
            <a:r>
              <a:rPr lang="zh-CN" altLang="en-US" sz="2400" dirty="0">
                <a:latin typeface="+mn-lt"/>
                <a:ea typeface="+mn-ea"/>
              </a:rPr>
              <a:t>通道</a:t>
            </a:r>
            <a:r>
              <a:rPr lang="en-US" altLang="zh-CN" sz="2400" dirty="0">
                <a:latin typeface="+mn-lt"/>
                <a:ea typeface="+mn-ea"/>
              </a:rPr>
              <a:t>3  </a:t>
            </a:r>
            <a:r>
              <a:rPr lang="zh-CN" altLang="en-US" sz="2400" dirty="0">
                <a:latin typeface="+mn-lt"/>
                <a:ea typeface="+mn-ea"/>
              </a:rPr>
              <a:t>用作硬盘</a:t>
            </a:r>
            <a:r>
              <a:rPr lang="en-US" altLang="zh-CN" sz="2400" dirty="0">
                <a:latin typeface="+mn-lt"/>
                <a:ea typeface="+mn-ea"/>
              </a:rPr>
              <a:t>DMA</a:t>
            </a:r>
            <a:r>
              <a:rPr lang="zh-CN" altLang="en-US" sz="2400" dirty="0">
                <a:latin typeface="+mn-lt"/>
                <a:ea typeface="+mn-ea"/>
              </a:rPr>
              <a:t>传送</a:t>
            </a:r>
          </a:p>
          <a:p>
            <a:pPr marL="358775" indent="-358775" algn="just"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en-US" altLang="zh-CN" sz="2400" dirty="0">
                <a:latin typeface="+mn-lt"/>
              </a:rPr>
              <a:t>PC/XT</a:t>
            </a:r>
            <a:r>
              <a:rPr lang="zh-CN" altLang="en-US" sz="2400" dirty="0">
                <a:latin typeface="+mn-lt"/>
              </a:rPr>
              <a:t>的</a:t>
            </a:r>
            <a:r>
              <a:rPr lang="en-US" altLang="zh-CN" sz="2400" dirty="0">
                <a:latin typeface="+mn-lt"/>
              </a:rPr>
              <a:t>BIOS</a:t>
            </a:r>
            <a:r>
              <a:rPr lang="zh-CN" altLang="en-US" sz="2400" dirty="0">
                <a:latin typeface="+mn-lt"/>
              </a:rPr>
              <a:t>初始化系统时，禁止了</a:t>
            </a:r>
            <a:r>
              <a:rPr lang="en-US" altLang="zh-CN" sz="2400" dirty="0">
                <a:latin typeface="+mn-lt"/>
              </a:rPr>
              <a:t>8237A</a:t>
            </a:r>
            <a:r>
              <a:rPr lang="zh-CN" altLang="en-US" sz="2400" dirty="0">
                <a:latin typeface="+mn-lt"/>
              </a:rPr>
              <a:t>的存储器</a:t>
            </a:r>
            <a:r>
              <a:rPr lang="zh-CN" altLang="en-US" sz="2400" dirty="0">
                <a:latin typeface="+mn-lt"/>
                <a:sym typeface="Symbol"/>
              </a:rPr>
              <a:t></a:t>
            </a:r>
            <a:r>
              <a:rPr lang="zh-CN" altLang="en-US" sz="2400" dirty="0">
                <a:latin typeface="+mn-lt"/>
              </a:rPr>
              <a:t>存储器传送方式，只能实现外设</a:t>
            </a:r>
            <a:r>
              <a:rPr lang="zh-CN" altLang="en-US" sz="2400" dirty="0">
                <a:latin typeface="+mn-lt"/>
                <a:sym typeface="Symbol"/>
              </a:rPr>
              <a:t></a:t>
            </a:r>
            <a:r>
              <a:rPr lang="zh-CN" altLang="en-US" sz="2400" dirty="0">
                <a:latin typeface="+mn-lt"/>
              </a:rPr>
              <a:t>内存间的高速数据交换。</a:t>
            </a:r>
            <a:endParaRPr lang="zh-CN" altLang="en-US" sz="2400" dirty="0"/>
          </a:p>
        </p:txBody>
      </p:sp>
      <p:sp>
        <p:nvSpPr>
          <p:cNvPr id="5" name="标题 154627">
            <a:extLst>
              <a:ext uri="{FF2B5EF4-FFF2-40B4-BE49-F238E27FC236}">
                <a16:creationId xmlns:a16="http://schemas.microsoft.com/office/drawing/2014/main" id="{0CE92FF9-7FEB-4D20-9D02-27EC6F9BA96D}"/>
              </a:ext>
            </a:extLst>
          </p:cNvPr>
          <p:cNvSpPr txBox="1">
            <a:spLocks/>
          </p:cNvSpPr>
          <p:nvPr/>
        </p:nvSpPr>
        <p:spPr>
          <a:xfrm>
            <a:off x="1547664" y="188640"/>
            <a:ext cx="6408712" cy="431800"/>
          </a:xfrm>
        </p:spPr>
        <p:txBody>
          <a:bodyPr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10.2 8237A</a:t>
            </a:r>
            <a:r>
              <a:rPr lang="zh-CN" altLang="en-US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的编程和应用举例</a:t>
            </a:r>
          </a:p>
        </p:txBody>
      </p:sp>
    </p:spTree>
    <p:extLst>
      <p:ext uri="{BB962C8B-B14F-4D97-AF65-F5344CB8AC3E}">
        <p14:creationId xmlns:p14="http://schemas.microsoft.com/office/powerpoint/2010/main" val="3789195293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54627">
            <a:extLst>
              <a:ext uri="{FF2B5EF4-FFF2-40B4-BE49-F238E27FC236}">
                <a16:creationId xmlns:a16="http://schemas.microsoft.com/office/drawing/2014/main" id="{6F3F045E-8537-43BD-A263-1C81DF65BF9F}"/>
              </a:ext>
            </a:extLst>
          </p:cNvPr>
          <p:cNvSpPr txBox="1">
            <a:spLocks/>
          </p:cNvSpPr>
          <p:nvPr/>
        </p:nvSpPr>
        <p:spPr>
          <a:xfrm>
            <a:off x="1691680" y="188640"/>
            <a:ext cx="6408712" cy="431800"/>
          </a:xfrm>
        </p:spPr>
        <p:txBody>
          <a:bodyPr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10.2 8237A</a:t>
            </a:r>
            <a:r>
              <a:rPr lang="zh-CN" altLang="en-US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的编程和应用举例</a:t>
            </a:r>
          </a:p>
        </p:txBody>
      </p:sp>
      <p:pic>
        <p:nvPicPr>
          <p:cNvPr id="5" name="Picture 1">
            <a:extLst>
              <a:ext uri="{FF2B5EF4-FFF2-40B4-BE49-F238E27FC236}">
                <a16:creationId xmlns:a16="http://schemas.microsoft.com/office/drawing/2014/main" id="{7E49F67B-C532-4206-9D1E-48DA804356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95736" y="620440"/>
            <a:ext cx="6696744" cy="57063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内容占位符 2">
            <a:extLst>
              <a:ext uri="{FF2B5EF4-FFF2-40B4-BE49-F238E27FC236}">
                <a16:creationId xmlns:a16="http://schemas.microsoft.com/office/drawing/2014/main" id="{B5B2342C-F279-4CEA-856D-BEA100078E42}"/>
              </a:ext>
            </a:extLst>
          </p:cNvPr>
          <p:cNvSpPr txBox="1">
            <a:spLocks/>
          </p:cNvSpPr>
          <p:nvPr/>
        </p:nvSpPr>
        <p:spPr bwMode="auto">
          <a:xfrm>
            <a:off x="143509" y="1916832"/>
            <a:ext cx="2124235" cy="232191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R="0" lvl="0" indent="-358775" algn="just" defTabSz="914400" rtl="0" eaLnBrk="0" fontAlgn="base" latinLnBrk="0" hangingPunct="0">
              <a:lnSpc>
                <a:spcPct val="100000"/>
              </a:lnSpc>
              <a:spcBef>
                <a:spcPts val="0"/>
              </a:spcBef>
              <a:spcAft>
                <a:spcPct val="0"/>
              </a:spcAft>
              <a:buClr>
                <a:srgbClr val="FFFF00"/>
              </a:buClr>
              <a:buSzTx/>
              <a:tabLst/>
              <a:defRPr/>
            </a:pPr>
            <a:r>
              <a:rPr kumimoji="0" lang="en-US" sz="2400" i="0" u="none" strike="noStrike" kern="0" cap="none" spc="0" normalizeH="0" baseline="0" noProof="0" dirty="0">
                <a:ln>
                  <a:noFill/>
                </a:ln>
                <a:uLnTx/>
                <a:uFillTx/>
                <a:latin typeface="+mn-lt"/>
                <a:ea typeface="黑体" pitchFamily="2" charset="-122"/>
                <a:cs typeface="+mn-cs"/>
              </a:rPr>
              <a:t>     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uLnTx/>
                <a:uFillTx/>
                <a:latin typeface="+mn-lt"/>
                <a:ea typeface="黑体" pitchFamily="2" charset="-122"/>
                <a:cs typeface="+mn-cs"/>
              </a:rPr>
              <a:t>由</a:t>
            </a:r>
            <a:r>
              <a:rPr kumimoji="0" lang="en-US" sz="2400" i="0" u="none" strike="noStrike" kern="0" cap="none" spc="0" normalizeH="0" baseline="0" noProof="0" dirty="0">
                <a:ln>
                  <a:noFill/>
                </a:ln>
                <a:uLnTx/>
                <a:uFillTx/>
                <a:latin typeface="+mn-lt"/>
                <a:ea typeface="黑体" pitchFamily="2" charset="-122"/>
                <a:cs typeface="+mn-cs"/>
              </a:rPr>
              <a:t>8237A-5 DMA</a:t>
            </a:r>
            <a:r>
              <a:rPr kumimoji="0" lang="zh-CN" altLang="en-US" sz="2400" i="0" u="none" strike="noStrike" kern="0" cap="none" spc="0" normalizeH="0" baseline="0" noProof="0" dirty="0">
                <a:ln>
                  <a:noFill/>
                </a:ln>
                <a:uLnTx/>
                <a:uFillTx/>
                <a:latin typeface="+mn-lt"/>
                <a:ea typeface="黑体" pitchFamily="2" charset="-122"/>
                <a:cs typeface="+mn-cs"/>
              </a:rPr>
              <a:t>控制器、地址驱动器、地址锁存器和页面寄存器等器件组成</a:t>
            </a:r>
          </a:p>
          <a:p>
            <a:pPr marL="533400" marR="0" lvl="0" indent="-53340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>
                <a:srgbClr val="FFFF00"/>
              </a:buClr>
              <a:buSzTx/>
              <a:buFont typeface="Wingdings" pitchFamily="2" charset="2"/>
              <a:buChar char="u"/>
              <a:tabLst/>
              <a:defRPr/>
            </a:pPr>
            <a:endParaRPr kumimoji="0" lang="zh-CN" altLang="en-US" sz="2400" i="0" u="none" strike="noStrike" kern="0" cap="none" spc="0" normalizeH="0" baseline="0" noProof="0" dirty="0">
              <a:ln>
                <a:noFill/>
              </a:ln>
              <a:uLnTx/>
              <a:uFillTx/>
              <a:latin typeface="黑体" pitchFamily="2" charset="-122"/>
              <a:ea typeface="黑体" pitchFamily="2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1065527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611284AC-AB36-41CF-B6DB-31CDAD718C9B}"/>
              </a:ext>
            </a:extLst>
          </p:cNvPr>
          <p:cNvSpPr txBox="1"/>
          <p:nvPr/>
        </p:nvSpPr>
        <p:spPr>
          <a:xfrm>
            <a:off x="395536" y="1222588"/>
            <a:ext cx="8280920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8775" indent="-358775" algn="just">
              <a:spcBef>
                <a:spcPts val="12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latin typeface="+mn-lt"/>
              </a:rPr>
              <a:t>在</a:t>
            </a:r>
            <a:r>
              <a:rPr lang="en-US" altLang="zh-CN" sz="2400" dirty="0">
                <a:latin typeface="+mn-lt"/>
              </a:rPr>
              <a:t>DMA</a:t>
            </a:r>
            <a:r>
              <a:rPr lang="zh-CN" altLang="en-US" sz="2400" dirty="0">
                <a:latin typeface="+mn-lt"/>
              </a:rPr>
              <a:t>服务期间，直接从</a:t>
            </a:r>
            <a:r>
              <a:rPr lang="en-US" altLang="zh-CN" sz="2400" dirty="0">
                <a:latin typeface="+mn-lt"/>
              </a:rPr>
              <a:t>8237A-5</a:t>
            </a:r>
            <a:r>
              <a:rPr lang="zh-CN" altLang="en-US" sz="2400" dirty="0">
                <a:latin typeface="+mn-lt"/>
              </a:rPr>
              <a:t>的</a:t>
            </a:r>
            <a:r>
              <a:rPr lang="en-US" altLang="zh-CN" sz="2400" dirty="0">
                <a:latin typeface="+mn-lt"/>
              </a:rPr>
              <a:t>A</a:t>
            </a:r>
            <a:r>
              <a:rPr lang="en-US" altLang="zh-CN" sz="2400" baseline="-25000" dirty="0">
                <a:latin typeface="+mn-lt"/>
              </a:rPr>
              <a:t>7</a:t>
            </a:r>
            <a:r>
              <a:rPr lang="en-US" altLang="zh-CN" sz="2400" dirty="0">
                <a:latin typeface="+mn-lt"/>
              </a:rPr>
              <a:t>~A</a:t>
            </a:r>
            <a:r>
              <a:rPr lang="en-US" altLang="zh-CN" sz="2400" baseline="-25000" dirty="0">
                <a:latin typeface="+mn-lt"/>
              </a:rPr>
              <a:t>4</a:t>
            </a:r>
            <a:r>
              <a:rPr lang="zh-CN" altLang="en-US" sz="2400" dirty="0">
                <a:latin typeface="+mn-lt"/>
              </a:rPr>
              <a:t>和</a:t>
            </a:r>
            <a:r>
              <a:rPr lang="en-US" altLang="zh-CN" sz="2400" dirty="0">
                <a:latin typeface="+mn-lt"/>
              </a:rPr>
              <a:t>A</a:t>
            </a:r>
            <a:r>
              <a:rPr lang="en-US" altLang="zh-CN" sz="2400" baseline="-25000" dirty="0">
                <a:latin typeface="+mn-lt"/>
              </a:rPr>
              <a:t>3</a:t>
            </a:r>
            <a:r>
              <a:rPr lang="en-US" altLang="zh-CN" sz="2400" dirty="0">
                <a:latin typeface="+mn-lt"/>
              </a:rPr>
              <a:t>~A</a:t>
            </a:r>
            <a:r>
              <a:rPr lang="en-US" altLang="zh-CN" sz="2400" baseline="-25000" dirty="0">
                <a:latin typeface="+mn-lt"/>
              </a:rPr>
              <a:t>0</a:t>
            </a:r>
            <a:r>
              <a:rPr lang="zh-CN" altLang="en-US" sz="2400" dirty="0">
                <a:latin typeface="+mn-lt"/>
              </a:rPr>
              <a:t>输出低</a:t>
            </a:r>
            <a:r>
              <a:rPr lang="en-US" altLang="zh-CN" sz="2400" dirty="0">
                <a:latin typeface="+mn-lt"/>
              </a:rPr>
              <a:t>8</a:t>
            </a:r>
            <a:r>
              <a:rPr lang="zh-CN" altLang="en-US" sz="2400" dirty="0">
                <a:latin typeface="+mn-lt"/>
              </a:rPr>
              <a:t>位地址，在整个</a:t>
            </a:r>
            <a:r>
              <a:rPr lang="en-US" altLang="zh-CN" sz="2400" dirty="0">
                <a:latin typeface="+mn-lt"/>
              </a:rPr>
              <a:t>DMA</a:t>
            </a:r>
            <a:r>
              <a:rPr lang="zh-CN" altLang="en-US" sz="2400" dirty="0">
                <a:latin typeface="+mn-lt"/>
              </a:rPr>
              <a:t>传输周期中这些地址信号都是稳定的，它们被送到地址驱动器</a:t>
            </a:r>
            <a:r>
              <a:rPr lang="en-US" altLang="zh-CN" sz="2400" dirty="0">
                <a:latin typeface="+mn-lt"/>
              </a:rPr>
              <a:t>U12</a:t>
            </a:r>
            <a:r>
              <a:rPr lang="zh-CN" altLang="en-US" sz="2400" dirty="0">
                <a:latin typeface="+mn-lt"/>
              </a:rPr>
              <a:t>（</a:t>
            </a:r>
            <a:r>
              <a:rPr lang="en-US" altLang="zh-CN" sz="2400" dirty="0">
                <a:latin typeface="+mn-lt"/>
              </a:rPr>
              <a:t>74LS244</a:t>
            </a:r>
            <a:r>
              <a:rPr lang="zh-CN" altLang="en-US" sz="2400" dirty="0">
                <a:latin typeface="+mn-lt"/>
              </a:rPr>
              <a:t>）的输入端。</a:t>
            </a:r>
          </a:p>
          <a:p>
            <a:pPr marL="358775" indent="-358775" algn="just">
              <a:spcBef>
                <a:spcPts val="12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latin typeface="+mn-lt"/>
              </a:rPr>
              <a:t>仅在</a:t>
            </a:r>
            <a:r>
              <a:rPr lang="en-US" altLang="zh-CN" sz="2400" dirty="0">
                <a:latin typeface="+mn-lt"/>
              </a:rPr>
              <a:t>S1</a:t>
            </a:r>
            <a:r>
              <a:rPr lang="zh-CN" altLang="en-US" sz="2400" dirty="0">
                <a:latin typeface="+mn-lt"/>
              </a:rPr>
              <a:t>、</a:t>
            </a:r>
            <a:r>
              <a:rPr lang="en-US" altLang="zh-CN" sz="2400" dirty="0">
                <a:latin typeface="+mn-lt"/>
              </a:rPr>
              <a:t>S2</a:t>
            </a:r>
            <a:r>
              <a:rPr lang="zh-CN" altLang="en-US" sz="2400" dirty="0">
                <a:latin typeface="+mn-lt"/>
              </a:rPr>
              <a:t>状态，从数据线</a:t>
            </a:r>
            <a:r>
              <a:rPr lang="en-US" altLang="zh-CN" sz="2400" dirty="0">
                <a:latin typeface="+mn-lt"/>
              </a:rPr>
              <a:t>DB</a:t>
            </a:r>
            <a:r>
              <a:rPr lang="en-US" altLang="zh-CN" sz="2400" baseline="-25000" dirty="0">
                <a:latin typeface="+mn-lt"/>
              </a:rPr>
              <a:t>7</a:t>
            </a:r>
            <a:r>
              <a:rPr lang="en-US" altLang="zh-CN" sz="2400" dirty="0">
                <a:latin typeface="+mn-lt"/>
              </a:rPr>
              <a:t>~DB</a:t>
            </a:r>
            <a:r>
              <a:rPr lang="en-US" altLang="zh-CN" sz="2400" baseline="-25000" dirty="0">
                <a:latin typeface="+mn-lt"/>
              </a:rPr>
              <a:t>0</a:t>
            </a:r>
            <a:r>
              <a:rPr lang="zh-CN" altLang="en-US" sz="2400" dirty="0">
                <a:latin typeface="+mn-lt"/>
              </a:rPr>
              <a:t>输出高</a:t>
            </a:r>
            <a:r>
              <a:rPr lang="en-US" altLang="zh-CN" sz="2400" dirty="0">
                <a:latin typeface="+mn-lt"/>
              </a:rPr>
              <a:t>8</a:t>
            </a:r>
            <a:r>
              <a:rPr lang="zh-CN" altLang="en-US" sz="2400" dirty="0">
                <a:latin typeface="+mn-lt"/>
              </a:rPr>
              <a:t>位地址</a:t>
            </a:r>
            <a:r>
              <a:rPr lang="en-US" altLang="zh-CN" sz="2400" dirty="0">
                <a:latin typeface="+mn-lt"/>
              </a:rPr>
              <a:t>A</a:t>
            </a:r>
            <a:r>
              <a:rPr lang="en-US" altLang="zh-CN" sz="2400" baseline="-25000" dirty="0">
                <a:latin typeface="+mn-lt"/>
              </a:rPr>
              <a:t>15</a:t>
            </a:r>
            <a:r>
              <a:rPr lang="en-US" altLang="zh-CN" sz="2400" dirty="0">
                <a:latin typeface="+mn-lt"/>
              </a:rPr>
              <a:t>~A</a:t>
            </a:r>
            <a:r>
              <a:rPr lang="en-US" altLang="zh-CN" sz="2400" baseline="-25000" dirty="0">
                <a:latin typeface="+mn-lt"/>
              </a:rPr>
              <a:t>8</a:t>
            </a:r>
            <a:r>
              <a:rPr lang="zh-CN" altLang="en-US" sz="2400" dirty="0">
                <a:latin typeface="+mn-lt"/>
              </a:rPr>
              <a:t>，要用锁存器由</a:t>
            </a:r>
            <a:r>
              <a:rPr lang="en-US" altLang="zh-CN" sz="2400" dirty="0">
                <a:latin typeface="+mn-lt"/>
              </a:rPr>
              <a:t>ADSTB</a:t>
            </a:r>
            <a:r>
              <a:rPr lang="zh-CN" altLang="en-US" sz="2400" dirty="0">
                <a:latin typeface="+mn-lt"/>
              </a:rPr>
              <a:t>选通信号将其锁存。</a:t>
            </a:r>
          </a:p>
          <a:p>
            <a:pPr marL="358775" indent="-358775" algn="just">
              <a:spcBef>
                <a:spcPts val="12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en-US" altLang="zh-CN" sz="2400" dirty="0">
                <a:latin typeface="+mn-lt"/>
              </a:rPr>
              <a:t>PC</a:t>
            </a:r>
            <a:r>
              <a:rPr lang="zh-CN" altLang="en-US" sz="2400" dirty="0">
                <a:latin typeface="+mn-lt"/>
              </a:rPr>
              <a:t>存储器有</a:t>
            </a:r>
            <a:r>
              <a:rPr lang="en-US" altLang="zh-CN" sz="2400" dirty="0">
                <a:latin typeface="+mn-lt"/>
              </a:rPr>
              <a:t>20</a:t>
            </a:r>
            <a:r>
              <a:rPr lang="zh-CN" altLang="en-US" sz="2400" dirty="0">
                <a:latin typeface="+mn-lt"/>
              </a:rPr>
              <a:t>根地址线，</a:t>
            </a:r>
            <a:r>
              <a:rPr lang="en-US" altLang="zh-CN" sz="2400" dirty="0">
                <a:latin typeface="+mn-lt"/>
              </a:rPr>
              <a:t>1MB</a:t>
            </a:r>
            <a:r>
              <a:rPr lang="zh-CN" altLang="en-US" sz="2400" dirty="0">
                <a:latin typeface="+mn-lt"/>
              </a:rPr>
              <a:t>空间，而</a:t>
            </a:r>
            <a:r>
              <a:rPr lang="en-US" altLang="zh-CN" sz="2400" dirty="0">
                <a:latin typeface="+mn-lt"/>
              </a:rPr>
              <a:t>8237A-5</a:t>
            </a:r>
            <a:r>
              <a:rPr lang="zh-CN" altLang="en-US" sz="2400" dirty="0">
                <a:latin typeface="+mn-lt"/>
              </a:rPr>
              <a:t>只能提供</a:t>
            </a:r>
            <a:r>
              <a:rPr lang="en-US" altLang="zh-CN" sz="2400" dirty="0">
                <a:latin typeface="+mn-lt"/>
              </a:rPr>
              <a:t>16</a:t>
            </a:r>
            <a:r>
              <a:rPr lang="zh-CN" altLang="en-US" sz="2400" dirty="0">
                <a:latin typeface="+mn-lt"/>
              </a:rPr>
              <a:t>位地址</a:t>
            </a:r>
            <a:r>
              <a:rPr lang="en-US" altLang="zh-CN" sz="2400" dirty="0">
                <a:latin typeface="+mn-lt"/>
              </a:rPr>
              <a:t>(64KB)</a:t>
            </a:r>
            <a:r>
              <a:rPr lang="zh-CN" altLang="en-US" sz="2400" dirty="0">
                <a:latin typeface="+mn-lt"/>
              </a:rPr>
              <a:t>。为此，</a:t>
            </a:r>
            <a:r>
              <a:rPr lang="en-US" altLang="zh-CN" sz="2400" dirty="0">
                <a:latin typeface="+mn-lt"/>
              </a:rPr>
              <a:t>PC/XT</a:t>
            </a:r>
            <a:r>
              <a:rPr lang="zh-CN" altLang="en-US" sz="2400" dirty="0">
                <a:latin typeface="+mn-lt"/>
              </a:rPr>
              <a:t>用</a:t>
            </a:r>
            <a:r>
              <a:rPr lang="en-US" altLang="zh-CN" sz="2400" dirty="0">
                <a:latin typeface="+mn-lt"/>
              </a:rPr>
              <a:t>1</a:t>
            </a:r>
            <a:r>
              <a:rPr lang="zh-CN" altLang="en-US" sz="2400" dirty="0">
                <a:latin typeface="+mn-lt"/>
              </a:rPr>
              <a:t>个页面寄存器</a:t>
            </a:r>
            <a:r>
              <a:rPr lang="en-US" altLang="zh-CN" sz="2400" dirty="0">
                <a:latin typeface="+mn-lt"/>
              </a:rPr>
              <a:t>74LS670(U10)</a:t>
            </a:r>
            <a:r>
              <a:rPr lang="zh-CN" altLang="en-US" sz="2400" dirty="0">
                <a:latin typeface="+mn-lt"/>
              </a:rPr>
              <a:t>产生高</a:t>
            </a:r>
            <a:r>
              <a:rPr lang="en-US" altLang="zh-CN" sz="2400" dirty="0">
                <a:latin typeface="+mn-lt"/>
              </a:rPr>
              <a:t>4</a:t>
            </a:r>
            <a:r>
              <a:rPr lang="zh-CN" altLang="en-US" sz="2400" dirty="0">
                <a:latin typeface="+mn-lt"/>
              </a:rPr>
              <a:t>位地址</a:t>
            </a:r>
            <a:r>
              <a:rPr lang="en-US" altLang="zh-CN" sz="2400" dirty="0">
                <a:latin typeface="+mn-lt"/>
              </a:rPr>
              <a:t>A</a:t>
            </a:r>
            <a:r>
              <a:rPr lang="en-US" altLang="zh-CN" sz="2400" baseline="-25000" dirty="0">
                <a:latin typeface="+mn-lt"/>
              </a:rPr>
              <a:t>19</a:t>
            </a:r>
            <a:r>
              <a:rPr lang="en-US" altLang="zh-CN" sz="2400" dirty="0">
                <a:latin typeface="+mn-lt"/>
              </a:rPr>
              <a:t>~A</a:t>
            </a:r>
            <a:r>
              <a:rPr lang="en-US" altLang="zh-CN" sz="2400" baseline="-25000" dirty="0">
                <a:latin typeface="+mn-lt"/>
              </a:rPr>
              <a:t>16</a:t>
            </a:r>
            <a:r>
              <a:rPr lang="zh-CN" altLang="en-US" sz="2400" dirty="0">
                <a:latin typeface="+mn-lt"/>
              </a:rPr>
              <a:t>，</a:t>
            </a:r>
            <a:r>
              <a:rPr lang="en-US" altLang="zh-CN" sz="2400" dirty="0">
                <a:latin typeface="+mn-lt"/>
              </a:rPr>
              <a:t>8237A-5</a:t>
            </a:r>
            <a:r>
              <a:rPr lang="zh-CN" altLang="en-US" sz="2400" dirty="0">
                <a:latin typeface="+mn-lt"/>
              </a:rPr>
              <a:t>则管理低</a:t>
            </a:r>
            <a:r>
              <a:rPr lang="en-US" altLang="zh-CN" sz="2400" dirty="0">
                <a:latin typeface="+mn-lt"/>
              </a:rPr>
              <a:t>16</a:t>
            </a:r>
            <a:r>
              <a:rPr lang="zh-CN" altLang="en-US" sz="2400" dirty="0">
                <a:latin typeface="+mn-lt"/>
              </a:rPr>
              <a:t>位地址</a:t>
            </a:r>
            <a:r>
              <a:rPr lang="en-US" altLang="zh-CN" sz="2400" dirty="0">
                <a:latin typeface="+mn-lt"/>
              </a:rPr>
              <a:t>A</a:t>
            </a:r>
            <a:r>
              <a:rPr lang="en-US" altLang="zh-CN" sz="2400" baseline="-25000" dirty="0">
                <a:latin typeface="+mn-lt"/>
              </a:rPr>
              <a:t>15</a:t>
            </a:r>
            <a:r>
              <a:rPr lang="en-US" altLang="zh-CN" sz="2400" dirty="0">
                <a:latin typeface="+mn-lt"/>
              </a:rPr>
              <a:t>~A</a:t>
            </a:r>
            <a:r>
              <a:rPr lang="en-US" altLang="zh-CN" sz="2400" baseline="-25000" dirty="0">
                <a:latin typeface="+mn-lt"/>
              </a:rPr>
              <a:t>0</a:t>
            </a:r>
            <a:r>
              <a:rPr lang="zh-CN" altLang="en-US" sz="2400" dirty="0">
                <a:latin typeface="+mn-lt"/>
              </a:rPr>
              <a:t>。这样便可在</a:t>
            </a:r>
            <a:r>
              <a:rPr lang="en-US" altLang="zh-CN" sz="2400" dirty="0">
                <a:latin typeface="+mn-lt"/>
              </a:rPr>
              <a:t>1M</a:t>
            </a:r>
            <a:r>
              <a:rPr lang="zh-CN" altLang="en-US" sz="2400" dirty="0">
                <a:latin typeface="+mn-lt"/>
              </a:rPr>
              <a:t>范围内寻址。但在</a:t>
            </a:r>
            <a:r>
              <a:rPr lang="en-US" altLang="zh-CN" sz="2400" dirty="0">
                <a:latin typeface="+mn-lt"/>
              </a:rPr>
              <a:t>DMA</a:t>
            </a:r>
            <a:r>
              <a:rPr lang="zh-CN" altLang="en-US" sz="2400" dirty="0">
                <a:latin typeface="+mn-lt"/>
              </a:rPr>
              <a:t>传输过程中，页面寄存器值固定在某个</a:t>
            </a:r>
            <a:r>
              <a:rPr lang="en-US" altLang="zh-CN" sz="2400" dirty="0">
                <a:latin typeface="+mn-lt"/>
              </a:rPr>
              <a:t>64KB</a:t>
            </a:r>
            <a:r>
              <a:rPr lang="zh-CN" altLang="en-US" sz="2400" dirty="0">
                <a:latin typeface="+mn-lt"/>
              </a:rPr>
              <a:t>的地址范围。</a:t>
            </a:r>
          </a:p>
        </p:txBody>
      </p:sp>
      <p:sp>
        <p:nvSpPr>
          <p:cNvPr id="5" name="标题 154627">
            <a:extLst>
              <a:ext uri="{FF2B5EF4-FFF2-40B4-BE49-F238E27FC236}">
                <a16:creationId xmlns:a16="http://schemas.microsoft.com/office/drawing/2014/main" id="{0CE92FF9-7FEB-4D20-9D02-27EC6F9BA96D}"/>
              </a:ext>
            </a:extLst>
          </p:cNvPr>
          <p:cNvSpPr txBox="1">
            <a:spLocks/>
          </p:cNvSpPr>
          <p:nvPr/>
        </p:nvSpPr>
        <p:spPr>
          <a:xfrm>
            <a:off x="1547664" y="188640"/>
            <a:ext cx="6408712" cy="431800"/>
          </a:xfrm>
        </p:spPr>
        <p:txBody>
          <a:bodyPr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10.2 8237A</a:t>
            </a:r>
            <a:r>
              <a:rPr lang="zh-CN" altLang="en-US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的编程和应用举例</a:t>
            </a:r>
          </a:p>
        </p:txBody>
      </p:sp>
    </p:spTree>
    <p:extLst>
      <p:ext uri="{BB962C8B-B14F-4D97-AF65-F5344CB8AC3E}">
        <p14:creationId xmlns:p14="http://schemas.microsoft.com/office/powerpoint/2010/main" val="190987465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611284AC-AB36-41CF-B6DB-31CDAD718C9B}"/>
              </a:ext>
            </a:extLst>
          </p:cNvPr>
          <p:cNvSpPr txBox="1"/>
          <p:nvPr/>
        </p:nvSpPr>
        <p:spPr>
          <a:xfrm>
            <a:off x="395536" y="1222588"/>
            <a:ext cx="828092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8775" indent="-358775" algn="just"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latin typeface="+mn-lt"/>
              </a:rPr>
              <a:t>页面寄存器内含</a:t>
            </a:r>
            <a:r>
              <a:rPr lang="en-US" altLang="zh-CN" sz="2400" dirty="0">
                <a:latin typeface="+mn-lt"/>
              </a:rPr>
              <a:t>4</a:t>
            </a:r>
            <a:r>
              <a:rPr lang="zh-CN" altLang="en-US" sz="2400" dirty="0">
                <a:latin typeface="+mn-lt"/>
              </a:rPr>
              <a:t>个可读写寄存器，每个对应</a:t>
            </a:r>
            <a:r>
              <a:rPr lang="en-US" altLang="zh-CN" sz="2400" dirty="0">
                <a:latin typeface="+mn-lt"/>
              </a:rPr>
              <a:t>1</a:t>
            </a:r>
            <a:r>
              <a:rPr lang="zh-CN" altLang="en-US" sz="2400" dirty="0">
                <a:latin typeface="+mn-lt"/>
              </a:rPr>
              <a:t>个</a:t>
            </a:r>
            <a:r>
              <a:rPr lang="en-US" altLang="zh-CN" sz="2400" dirty="0">
                <a:latin typeface="+mn-lt"/>
              </a:rPr>
              <a:t>DMA</a:t>
            </a:r>
            <a:r>
              <a:rPr lang="zh-CN" altLang="en-US" sz="2400" dirty="0">
                <a:latin typeface="+mn-lt"/>
              </a:rPr>
              <a:t>通道，长</a:t>
            </a:r>
            <a:r>
              <a:rPr lang="en-US" altLang="zh-CN" sz="2400" dirty="0">
                <a:latin typeface="+mn-lt"/>
              </a:rPr>
              <a:t>4</a:t>
            </a:r>
            <a:r>
              <a:rPr lang="zh-CN" altLang="en-US" sz="2400" dirty="0">
                <a:latin typeface="+mn-lt"/>
              </a:rPr>
              <a:t>位。每个通道，数据总线</a:t>
            </a:r>
            <a:r>
              <a:rPr lang="en-US" altLang="zh-CN" sz="2400" dirty="0">
                <a:latin typeface="+mn-lt"/>
              </a:rPr>
              <a:t>D</a:t>
            </a:r>
            <a:r>
              <a:rPr lang="en-US" altLang="zh-CN" sz="2400" baseline="-25000" dirty="0">
                <a:latin typeface="+mn-lt"/>
              </a:rPr>
              <a:t>3</a:t>
            </a:r>
            <a:r>
              <a:rPr lang="en-US" altLang="zh-CN" sz="2400" dirty="0">
                <a:latin typeface="+mn-lt"/>
              </a:rPr>
              <a:t>~D</a:t>
            </a:r>
            <a:r>
              <a:rPr lang="en-US" altLang="zh-CN" sz="2400" baseline="-25000" dirty="0">
                <a:latin typeface="+mn-lt"/>
              </a:rPr>
              <a:t>0</a:t>
            </a:r>
            <a:r>
              <a:rPr lang="zh-CN" altLang="en-US" sz="2400" dirty="0">
                <a:latin typeface="+mn-lt"/>
              </a:rPr>
              <a:t>接页面寄存器的</a:t>
            </a:r>
            <a:r>
              <a:rPr lang="en-US" altLang="zh-CN" sz="2400" dirty="0">
                <a:latin typeface="+mn-lt"/>
              </a:rPr>
              <a:t>4</a:t>
            </a:r>
            <a:r>
              <a:rPr lang="zh-CN" altLang="en-US" sz="2400" dirty="0">
                <a:latin typeface="+mn-lt"/>
              </a:rPr>
              <a:t>位输入，</a:t>
            </a:r>
            <a:r>
              <a:rPr lang="en-US" altLang="zh-CN" sz="2400" dirty="0">
                <a:latin typeface="+mn-lt"/>
              </a:rPr>
              <a:t>4</a:t>
            </a:r>
            <a:r>
              <a:rPr lang="zh-CN" altLang="en-US" sz="2400" dirty="0">
                <a:latin typeface="+mn-lt"/>
              </a:rPr>
              <a:t>位输出接地址总线</a:t>
            </a:r>
            <a:r>
              <a:rPr lang="en-US" altLang="zh-CN" sz="2400" dirty="0">
                <a:latin typeface="+mn-lt"/>
              </a:rPr>
              <a:t>A</a:t>
            </a:r>
            <a:r>
              <a:rPr lang="en-US" altLang="zh-CN" sz="2400" baseline="-25000" dirty="0">
                <a:latin typeface="+mn-lt"/>
              </a:rPr>
              <a:t>19</a:t>
            </a:r>
            <a:r>
              <a:rPr lang="en-US" altLang="zh-CN" sz="2400" dirty="0">
                <a:latin typeface="+mn-lt"/>
              </a:rPr>
              <a:t>~A</a:t>
            </a:r>
            <a:r>
              <a:rPr lang="en-US" altLang="zh-CN" sz="2400" baseline="-25000" dirty="0">
                <a:latin typeface="+mn-lt"/>
              </a:rPr>
              <a:t>16</a:t>
            </a:r>
            <a:r>
              <a:rPr lang="zh-CN" altLang="en-US" sz="2400" dirty="0">
                <a:latin typeface="+mn-lt"/>
              </a:rPr>
              <a:t>。当控制信号</a:t>
            </a:r>
            <a:r>
              <a:rPr lang="en-US" altLang="zh-CN" sz="2400" dirty="0">
                <a:latin typeface="+mn-lt"/>
              </a:rPr>
              <a:t>WRITE=0                   </a:t>
            </a:r>
            <a:r>
              <a:rPr lang="zh-CN" altLang="en-US" sz="2400" dirty="0">
                <a:latin typeface="+mn-lt"/>
              </a:rPr>
              <a:t>时，可从数据总线</a:t>
            </a:r>
            <a:r>
              <a:rPr lang="en-US" altLang="zh-CN" sz="2400" dirty="0">
                <a:latin typeface="+mn-lt"/>
              </a:rPr>
              <a:t>D</a:t>
            </a:r>
            <a:r>
              <a:rPr lang="en-US" altLang="zh-CN" sz="2400" baseline="-25000" dirty="0">
                <a:latin typeface="+mn-lt"/>
              </a:rPr>
              <a:t>3</a:t>
            </a:r>
            <a:r>
              <a:rPr lang="en-US" altLang="zh-CN" sz="2400" dirty="0">
                <a:latin typeface="+mn-lt"/>
              </a:rPr>
              <a:t>~D</a:t>
            </a:r>
            <a:r>
              <a:rPr lang="en-US" altLang="zh-CN" sz="2400" baseline="-25000" dirty="0">
                <a:latin typeface="+mn-lt"/>
              </a:rPr>
              <a:t>0</a:t>
            </a:r>
            <a:r>
              <a:rPr lang="zh-CN" altLang="en-US" sz="2400" dirty="0">
                <a:latin typeface="+mn-lt"/>
              </a:rPr>
              <a:t>将最高</a:t>
            </a:r>
            <a:r>
              <a:rPr lang="en-US" altLang="zh-CN" sz="2400" dirty="0">
                <a:latin typeface="+mn-lt"/>
              </a:rPr>
              <a:t>4</a:t>
            </a:r>
            <a:r>
              <a:rPr lang="zh-CN" altLang="en-US" sz="2400" dirty="0">
                <a:latin typeface="+mn-lt"/>
              </a:rPr>
              <a:t>位地址写入该通道页面寄存器。寄存器号由</a:t>
            </a:r>
            <a:r>
              <a:rPr lang="en-US" altLang="zh-CN" sz="2400" dirty="0">
                <a:latin typeface="+mn-lt"/>
              </a:rPr>
              <a:t>WA</a:t>
            </a:r>
            <a:r>
              <a:rPr lang="zh-CN" altLang="en-US" sz="2400" dirty="0">
                <a:latin typeface="+mn-lt"/>
              </a:rPr>
              <a:t>、</a:t>
            </a:r>
            <a:r>
              <a:rPr lang="en-US" altLang="zh-CN" sz="2400" dirty="0">
                <a:latin typeface="+mn-lt"/>
              </a:rPr>
              <a:t>WB </a:t>
            </a:r>
            <a:r>
              <a:rPr lang="zh-CN" altLang="en-US" sz="2400" dirty="0">
                <a:latin typeface="+mn-lt"/>
              </a:rPr>
              <a:t>译码产生，</a:t>
            </a:r>
            <a:r>
              <a:rPr lang="en-US" altLang="zh-CN" sz="2400" dirty="0">
                <a:latin typeface="+mn-lt"/>
              </a:rPr>
              <a:t>WA</a:t>
            </a:r>
            <a:r>
              <a:rPr lang="zh-CN" altLang="en-US" sz="2400" dirty="0">
                <a:latin typeface="+mn-lt"/>
              </a:rPr>
              <a:t>、</a:t>
            </a:r>
            <a:r>
              <a:rPr lang="en-US" altLang="zh-CN" sz="2400" dirty="0">
                <a:latin typeface="+mn-lt"/>
              </a:rPr>
              <a:t>WB</a:t>
            </a:r>
            <a:r>
              <a:rPr lang="zh-CN" altLang="en-US" sz="2400" dirty="0">
                <a:latin typeface="+mn-lt"/>
              </a:rPr>
              <a:t>分别与地址总线的最低两位</a:t>
            </a:r>
            <a:r>
              <a:rPr lang="en-US" altLang="zh-CN" sz="2400" dirty="0">
                <a:latin typeface="+mn-lt"/>
              </a:rPr>
              <a:t>A</a:t>
            </a:r>
            <a:r>
              <a:rPr lang="en-US" altLang="zh-CN" sz="2400" baseline="-25000" dirty="0">
                <a:latin typeface="+mn-lt"/>
              </a:rPr>
              <a:t>1</a:t>
            </a:r>
            <a:r>
              <a:rPr lang="zh-CN" altLang="en-US" sz="2400" dirty="0">
                <a:latin typeface="+mn-lt"/>
              </a:rPr>
              <a:t>、</a:t>
            </a:r>
            <a:r>
              <a:rPr lang="en-US" altLang="zh-CN" sz="2400" dirty="0">
                <a:latin typeface="+mn-lt"/>
              </a:rPr>
              <a:t>A</a:t>
            </a:r>
            <a:r>
              <a:rPr lang="en-US" altLang="zh-CN" sz="2400" baseline="-25000" dirty="0">
                <a:latin typeface="+mn-lt"/>
              </a:rPr>
              <a:t>0</a:t>
            </a:r>
            <a:r>
              <a:rPr lang="zh-CN" altLang="en-US" sz="2400" dirty="0">
                <a:latin typeface="+mn-lt"/>
              </a:rPr>
              <a:t>相连。</a:t>
            </a:r>
          </a:p>
        </p:txBody>
      </p:sp>
      <p:sp>
        <p:nvSpPr>
          <p:cNvPr id="5" name="标题 154627">
            <a:extLst>
              <a:ext uri="{FF2B5EF4-FFF2-40B4-BE49-F238E27FC236}">
                <a16:creationId xmlns:a16="http://schemas.microsoft.com/office/drawing/2014/main" id="{0CE92FF9-7FEB-4D20-9D02-27EC6F9BA96D}"/>
              </a:ext>
            </a:extLst>
          </p:cNvPr>
          <p:cNvSpPr txBox="1">
            <a:spLocks/>
          </p:cNvSpPr>
          <p:nvPr/>
        </p:nvSpPr>
        <p:spPr>
          <a:xfrm>
            <a:off x="1547664" y="188640"/>
            <a:ext cx="6408712" cy="431800"/>
          </a:xfrm>
        </p:spPr>
        <p:txBody>
          <a:bodyPr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10.2 8237A</a:t>
            </a:r>
            <a:r>
              <a:rPr lang="zh-CN" altLang="en-US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的编程和应用举例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E4566BDA-9E98-49B8-8A94-DA90C9F4103F}"/>
              </a:ext>
            </a:extLst>
          </p:cNvPr>
          <p:cNvCxnSpPr/>
          <p:nvPr/>
        </p:nvCxnSpPr>
        <p:spPr>
          <a:xfrm>
            <a:off x="7236296" y="2022748"/>
            <a:ext cx="1008112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图片 6">
            <a:extLst>
              <a:ext uri="{FF2B5EF4-FFF2-40B4-BE49-F238E27FC236}">
                <a16:creationId xmlns:a16="http://schemas.microsoft.com/office/drawing/2014/main" id="{05CDF1C6-26D2-44E4-8A00-DA5C5AD3F26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7664" y="3717032"/>
            <a:ext cx="5477639" cy="22863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974745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611284AC-AB36-41CF-B6DB-31CDAD718C9B}"/>
              </a:ext>
            </a:extLst>
          </p:cNvPr>
          <p:cNvSpPr txBox="1"/>
          <p:nvPr/>
        </p:nvSpPr>
        <p:spPr>
          <a:xfrm>
            <a:off x="395536" y="1222588"/>
            <a:ext cx="828092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8775" indent="-358775" algn="just"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latin typeface="+mn-lt"/>
              </a:rPr>
              <a:t>当控制端</a:t>
            </a:r>
            <a:r>
              <a:rPr lang="en-US" altLang="zh-CN" sz="2400" dirty="0">
                <a:latin typeface="+mn-lt"/>
              </a:rPr>
              <a:t>READ=0</a:t>
            </a:r>
            <a:r>
              <a:rPr lang="zh-CN" altLang="en-US" sz="2400" dirty="0">
                <a:latin typeface="+mn-lt"/>
              </a:rPr>
              <a:t>时，将某个内部寄存器的地址信息读出，</a:t>
            </a:r>
            <a:r>
              <a:rPr lang="en-US" altLang="zh-CN" sz="2400" dirty="0">
                <a:latin typeface="+mn-lt"/>
              </a:rPr>
              <a:t>RA</a:t>
            </a:r>
            <a:r>
              <a:rPr lang="zh-CN" altLang="en-US" sz="2400" dirty="0">
                <a:latin typeface="+mn-lt"/>
              </a:rPr>
              <a:t>、</a:t>
            </a:r>
            <a:r>
              <a:rPr lang="en-US" altLang="zh-CN" sz="2400" dirty="0">
                <a:latin typeface="+mn-lt"/>
              </a:rPr>
              <a:t>RB</a:t>
            </a:r>
            <a:r>
              <a:rPr lang="zh-CN" altLang="en-US" sz="2400" dirty="0">
                <a:latin typeface="+mn-lt"/>
              </a:rPr>
              <a:t>编码确定读出的寄存器号。</a:t>
            </a:r>
          </a:p>
        </p:txBody>
      </p:sp>
      <p:sp>
        <p:nvSpPr>
          <p:cNvPr id="5" name="标题 154627">
            <a:extLst>
              <a:ext uri="{FF2B5EF4-FFF2-40B4-BE49-F238E27FC236}">
                <a16:creationId xmlns:a16="http://schemas.microsoft.com/office/drawing/2014/main" id="{0CE92FF9-7FEB-4D20-9D02-27EC6F9BA96D}"/>
              </a:ext>
            </a:extLst>
          </p:cNvPr>
          <p:cNvSpPr txBox="1">
            <a:spLocks/>
          </p:cNvSpPr>
          <p:nvPr/>
        </p:nvSpPr>
        <p:spPr>
          <a:xfrm>
            <a:off x="1547664" y="188640"/>
            <a:ext cx="6408712" cy="431800"/>
          </a:xfrm>
        </p:spPr>
        <p:txBody>
          <a:bodyPr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10.2 8237A</a:t>
            </a:r>
            <a:r>
              <a:rPr lang="zh-CN" altLang="en-US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的编程和应用举例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E4566BDA-9E98-49B8-8A94-DA90C9F4103F}"/>
              </a:ext>
            </a:extLst>
          </p:cNvPr>
          <p:cNvCxnSpPr>
            <a:cxnSpLocks/>
          </p:cNvCxnSpPr>
          <p:nvPr/>
        </p:nvCxnSpPr>
        <p:spPr>
          <a:xfrm>
            <a:off x="2070770" y="1254611"/>
            <a:ext cx="79208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图片 7">
            <a:extLst>
              <a:ext uri="{FF2B5EF4-FFF2-40B4-BE49-F238E27FC236}">
                <a16:creationId xmlns:a16="http://schemas.microsoft.com/office/drawing/2014/main" id="{85BDA48A-F00F-4E61-85A2-AE9B6ADE0D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9552" y="4131943"/>
            <a:ext cx="5040560" cy="2014769"/>
          </a:xfrm>
          <a:prstGeom prst="rect">
            <a:avLst/>
          </a:prstGeom>
        </p:spPr>
      </p:pic>
      <p:pic>
        <p:nvPicPr>
          <p:cNvPr id="6" name="Picture 1">
            <a:extLst>
              <a:ext uri="{FF2B5EF4-FFF2-40B4-BE49-F238E27FC236}">
                <a16:creationId xmlns:a16="http://schemas.microsoft.com/office/drawing/2014/main" id="{E58103D4-B946-445F-886C-10AE4B88930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/>
          <a:srcRect l="37634" t="32814" b="24283"/>
          <a:stretch/>
        </p:blipFill>
        <p:spPr bwMode="auto">
          <a:xfrm>
            <a:off x="5004048" y="2028830"/>
            <a:ext cx="3930790" cy="230425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71081185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611284AC-AB36-41CF-B6DB-31CDAD718C9B}"/>
              </a:ext>
            </a:extLst>
          </p:cNvPr>
          <p:cNvSpPr txBox="1"/>
          <p:nvPr/>
        </p:nvSpPr>
        <p:spPr>
          <a:xfrm>
            <a:off x="395536" y="1222588"/>
            <a:ext cx="8280920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8775" indent="-358775"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en-US" altLang="zh-CN" sz="2400" dirty="0">
                <a:latin typeface="+mn-lt"/>
              </a:rPr>
              <a:t>WRITE</a:t>
            </a:r>
            <a:r>
              <a:rPr lang="zh-CN" altLang="en-US" sz="2400" dirty="0">
                <a:latin typeface="+mn-lt"/>
              </a:rPr>
              <a:t>信号与页寄存器片选信号</a:t>
            </a:r>
            <a:r>
              <a:rPr lang="en-US" altLang="zh-CN" sz="2400" dirty="0">
                <a:latin typeface="+mn-lt"/>
              </a:rPr>
              <a:t>WRTDMAPG</a:t>
            </a:r>
            <a:r>
              <a:rPr lang="zh-CN" altLang="en-US" sz="2400" dirty="0">
                <a:latin typeface="+mn-lt"/>
              </a:rPr>
              <a:t>相连，当</a:t>
            </a:r>
            <a:r>
              <a:rPr lang="en-US" altLang="zh-CN" sz="2400" dirty="0">
                <a:latin typeface="+mn-lt"/>
              </a:rPr>
              <a:t>A</a:t>
            </a:r>
            <a:r>
              <a:rPr lang="en-US" altLang="zh-CN" sz="2400" baseline="-25000" dirty="0">
                <a:latin typeface="+mn-lt"/>
              </a:rPr>
              <a:t>9</a:t>
            </a:r>
            <a:r>
              <a:rPr lang="en-US" altLang="zh-CN" sz="2400" dirty="0">
                <a:latin typeface="+mn-lt"/>
              </a:rPr>
              <a:t>~A</a:t>
            </a:r>
            <a:r>
              <a:rPr lang="en-US" altLang="zh-CN" sz="2400" baseline="-25000" dirty="0">
                <a:latin typeface="+mn-lt"/>
              </a:rPr>
              <a:t>5</a:t>
            </a:r>
            <a:r>
              <a:rPr lang="en-US" altLang="zh-CN" sz="2400" dirty="0">
                <a:latin typeface="+mn-lt"/>
              </a:rPr>
              <a:t>=00100</a:t>
            </a:r>
            <a:r>
              <a:rPr lang="zh-CN" altLang="en-US" sz="2400" dirty="0">
                <a:latin typeface="+mn-lt"/>
              </a:rPr>
              <a:t>时可选中页寄存器。因此</a:t>
            </a:r>
            <a:r>
              <a:rPr lang="en-US" altLang="zh-CN" sz="2400" dirty="0">
                <a:latin typeface="+mn-lt"/>
              </a:rPr>
              <a:t>CPU</a:t>
            </a:r>
            <a:r>
              <a:rPr lang="zh-CN" altLang="en-US" sz="2400" dirty="0">
                <a:latin typeface="+mn-lt"/>
              </a:rPr>
              <a:t>对</a:t>
            </a:r>
            <a:r>
              <a:rPr lang="en-US" altLang="zh-CN" sz="2400" dirty="0">
                <a:latin typeface="+mn-lt"/>
              </a:rPr>
              <a:t>80H~9FH</a:t>
            </a:r>
            <a:r>
              <a:rPr lang="zh-CN" altLang="en-US" sz="2400" dirty="0">
                <a:latin typeface="+mn-lt"/>
              </a:rPr>
              <a:t>地址执行输出指令时，</a:t>
            </a:r>
            <a:r>
              <a:rPr lang="en-US" altLang="zh-CN" sz="2400" dirty="0">
                <a:latin typeface="+mn-lt"/>
              </a:rPr>
              <a:t>WRTDMAPG =0</a:t>
            </a:r>
            <a:r>
              <a:rPr lang="zh-CN" altLang="en-US" sz="2400" dirty="0">
                <a:latin typeface="+mn-lt"/>
              </a:rPr>
              <a:t>，写入</a:t>
            </a:r>
            <a:r>
              <a:rPr lang="en-US" altLang="zh-CN" sz="2400" dirty="0">
                <a:latin typeface="+mn-lt"/>
              </a:rPr>
              <a:t>D</a:t>
            </a:r>
            <a:r>
              <a:rPr lang="en-US" altLang="zh-CN" sz="2400" baseline="-25000" dirty="0">
                <a:latin typeface="+mn-lt"/>
              </a:rPr>
              <a:t>3</a:t>
            </a:r>
            <a:r>
              <a:rPr lang="en-US" altLang="zh-CN" sz="2400" dirty="0">
                <a:latin typeface="+mn-lt"/>
              </a:rPr>
              <a:t>~D</a:t>
            </a:r>
            <a:r>
              <a:rPr lang="en-US" altLang="zh-CN" sz="2400" baseline="-25000" dirty="0">
                <a:latin typeface="+mn-lt"/>
              </a:rPr>
              <a:t>0</a:t>
            </a:r>
            <a:r>
              <a:rPr lang="zh-CN" altLang="en-US" sz="2400" dirty="0">
                <a:latin typeface="+mn-lt"/>
              </a:rPr>
              <a:t>上的内容。</a:t>
            </a:r>
            <a:endParaRPr lang="en-US" altLang="zh-CN" sz="2400" dirty="0">
              <a:latin typeface="+mn-lt"/>
            </a:endParaRPr>
          </a:p>
          <a:p>
            <a:pPr marL="358775" indent="-358775"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latin typeface="+mn-lt"/>
              </a:rPr>
              <a:t>在</a:t>
            </a:r>
            <a:r>
              <a:rPr lang="en-US" altLang="zh-CN" sz="2400" dirty="0">
                <a:latin typeface="+mn-lt"/>
              </a:rPr>
              <a:t>ROM BIOS</a:t>
            </a:r>
            <a:r>
              <a:rPr lang="zh-CN" altLang="en-US" sz="2400" dirty="0">
                <a:latin typeface="+mn-lt"/>
              </a:rPr>
              <a:t>中，页面寄存器写入地址与通道号的对应关系为：</a:t>
            </a:r>
          </a:p>
          <a:p>
            <a:pPr indent="4763">
              <a:buNone/>
            </a:pPr>
            <a:r>
              <a:rPr lang="en-US" altLang="zh-CN" sz="2400" dirty="0">
                <a:solidFill>
                  <a:schemeClr val="tx1">
                    <a:lumMod val="95000"/>
                  </a:schemeClr>
                </a:solidFill>
                <a:latin typeface="+mn-lt"/>
                <a:ea typeface="+mn-ea"/>
              </a:rPr>
              <a:t>         </a:t>
            </a:r>
            <a:r>
              <a:rPr lang="en-US" altLang="zh-CN" sz="2400" dirty="0">
                <a:latin typeface="+mn-lt"/>
                <a:ea typeface="+mn-ea"/>
              </a:rPr>
              <a:t>83H</a:t>
            </a:r>
            <a:r>
              <a:rPr lang="zh-CN" altLang="en-US" sz="2400" dirty="0">
                <a:latin typeface="+mn-lt"/>
                <a:ea typeface="+mn-ea"/>
              </a:rPr>
              <a:t>为通道</a:t>
            </a:r>
            <a:r>
              <a:rPr lang="en-US" altLang="zh-CN" sz="2400" dirty="0">
                <a:latin typeface="+mn-lt"/>
                <a:ea typeface="+mn-ea"/>
              </a:rPr>
              <a:t>1</a:t>
            </a:r>
            <a:endParaRPr lang="zh-CN" altLang="en-US" sz="2400" dirty="0">
              <a:latin typeface="+mn-lt"/>
              <a:ea typeface="+mn-ea"/>
            </a:endParaRPr>
          </a:p>
          <a:p>
            <a:pPr indent="4763">
              <a:buNone/>
            </a:pPr>
            <a:r>
              <a:rPr lang="en-US" altLang="zh-CN" sz="2400" dirty="0">
                <a:latin typeface="+mn-lt"/>
                <a:ea typeface="+mn-ea"/>
              </a:rPr>
              <a:t>         81H</a:t>
            </a:r>
            <a:r>
              <a:rPr lang="zh-CN" altLang="en-US" sz="2400" dirty="0">
                <a:latin typeface="+mn-lt"/>
                <a:ea typeface="+mn-ea"/>
              </a:rPr>
              <a:t>为通道</a:t>
            </a:r>
            <a:r>
              <a:rPr lang="en-US" altLang="zh-CN" sz="2400" dirty="0">
                <a:latin typeface="+mn-lt"/>
                <a:ea typeface="+mn-ea"/>
              </a:rPr>
              <a:t>2</a:t>
            </a:r>
            <a:endParaRPr lang="zh-CN" altLang="en-US" sz="2400" dirty="0">
              <a:latin typeface="+mn-lt"/>
              <a:ea typeface="+mn-ea"/>
            </a:endParaRPr>
          </a:p>
          <a:p>
            <a:pPr indent="4763">
              <a:buNone/>
            </a:pPr>
            <a:r>
              <a:rPr lang="en-US" altLang="zh-CN" sz="2400" dirty="0">
                <a:latin typeface="+mn-lt"/>
                <a:ea typeface="+mn-ea"/>
              </a:rPr>
              <a:t>         82H</a:t>
            </a:r>
            <a:r>
              <a:rPr lang="zh-CN" altLang="en-US" sz="2400" dirty="0">
                <a:latin typeface="+mn-lt"/>
                <a:ea typeface="+mn-ea"/>
              </a:rPr>
              <a:t>为通道</a:t>
            </a:r>
            <a:r>
              <a:rPr lang="en-US" altLang="zh-CN" sz="2400" dirty="0">
                <a:latin typeface="+mn-lt"/>
                <a:ea typeface="+mn-ea"/>
              </a:rPr>
              <a:t>3</a:t>
            </a:r>
            <a:endParaRPr lang="zh-CN" altLang="en-US" sz="2400" dirty="0">
              <a:latin typeface="+mn-lt"/>
              <a:ea typeface="+mn-ea"/>
            </a:endParaRPr>
          </a:p>
          <a:p>
            <a:pPr indent="4763">
              <a:buNone/>
            </a:pPr>
            <a:r>
              <a:rPr lang="zh-CN" altLang="en-US" sz="2400" dirty="0">
                <a:latin typeface="+mn-lt"/>
                <a:ea typeface="+mn-ea"/>
              </a:rPr>
              <a:t>         通道</a:t>
            </a:r>
            <a:r>
              <a:rPr lang="en-US" altLang="zh-CN" sz="2400" dirty="0">
                <a:latin typeface="+mn-lt"/>
                <a:ea typeface="+mn-ea"/>
              </a:rPr>
              <a:t>0</a:t>
            </a:r>
            <a:r>
              <a:rPr lang="zh-CN" altLang="en-US" sz="2400" dirty="0">
                <a:latin typeface="+mn-lt"/>
                <a:ea typeface="+mn-ea"/>
              </a:rPr>
              <a:t>未用</a:t>
            </a:r>
          </a:p>
        </p:txBody>
      </p:sp>
      <p:sp>
        <p:nvSpPr>
          <p:cNvPr id="5" name="标题 154627">
            <a:extLst>
              <a:ext uri="{FF2B5EF4-FFF2-40B4-BE49-F238E27FC236}">
                <a16:creationId xmlns:a16="http://schemas.microsoft.com/office/drawing/2014/main" id="{0CE92FF9-7FEB-4D20-9D02-27EC6F9BA96D}"/>
              </a:ext>
            </a:extLst>
          </p:cNvPr>
          <p:cNvSpPr txBox="1">
            <a:spLocks/>
          </p:cNvSpPr>
          <p:nvPr/>
        </p:nvSpPr>
        <p:spPr>
          <a:xfrm>
            <a:off x="1547664" y="188640"/>
            <a:ext cx="6408712" cy="431800"/>
          </a:xfrm>
        </p:spPr>
        <p:txBody>
          <a:bodyPr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10.2 8237A</a:t>
            </a:r>
            <a:r>
              <a:rPr lang="zh-CN" altLang="en-US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的编程和应用举例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E4566BDA-9E98-49B8-8A94-DA90C9F4103F}"/>
              </a:ext>
            </a:extLst>
          </p:cNvPr>
          <p:cNvCxnSpPr>
            <a:cxnSpLocks/>
          </p:cNvCxnSpPr>
          <p:nvPr/>
        </p:nvCxnSpPr>
        <p:spPr>
          <a:xfrm>
            <a:off x="885875" y="1264568"/>
            <a:ext cx="864096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>
            <a:extLst>
              <a:ext uri="{FF2B5EF4-FFF2-40B4-BE49-F238E27FC236}">
                <a16:creationId xmlns:a16="http://schemas.microsoft.com/office/drawing/2014/main" id="{866F22D8-A7C1-4D6A-8C20-88FA67E2248F}"/>
              </a:ext>
            </a:extLst>
          </p:cNvPr>
          <p:cNvCxnSpPr>
            <a:cxnSpLocks/>
          </p:cNvCxnSpPr>
          <p:nvPr/>
        </p:nvCxnSpPr>
        <p:spPr>
          <a:xfrm>
            <a:off x="5258172" y="1287006"/>
            <a:ext cx="161275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BDF82610-3B76-4E77-A55B-BCEE9C226D3C}"/>
              </a:ext>
            </a:extLst>
          </p:cNvPr>
          <p:cNvCxnSpPr>
            <a:cxnSpLocks/>
          </p:cNvCxnSpPr>
          <p:nvPr/>
        </p:nvCxnSpPr>
        <p:spPr>
          <a:xfrm>
            <a:off x="3971553" y="2026940"/>
            <a:ext cx="1612751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1">
            <a:extLst>
              <a:ext uri="{FF2B5EF4-FFF2-40B4-BE49-F238E27FC236}">
                <a16:creationId xmlns:a16="http://schemas.microsoft.com/office/drawing/2014/main" id="{832664C9-DDA2-4281-826F-A5AEF997946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/>
          <a:srcRect t="45432" r="16129" b="17973"/>
          <a:stretch/>
        </p:blipFill>
        <p:spPr bwMode="auto">
          <a:xfrm>
            <a:off x="3443197" y="3428999"/>
            <a:ext cx="5242700" cy="19492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400879864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611284AC-AB36-41CF-B6DB-31CDAD718C9B}"/>
              </a:ext>
            </a:extLst>
          </p:cNvPr>
          <p:cNvSpPr txBox="1"/>
          <p:nvPr/>
        </p:nvSpPr>
        <p:spPr>
          <a:xfrm>
            <a:off x="395536" y="1222588"/>
            <a:ext cx="8280920" cy="50629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8775" indent="-358775" algn="just">
              <a:spcBef>
                <a:spcPts val="1200"/>
              </a:spcBef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latin typeface="+mn-lt"/>
              </a:rPr>
              <a:t>在</a:t>
            </a:r>
            <a:r>
              <a:rPr lang="en-US" altLang="zh-CN" sz="2400" dirty="0">
                <a:latin typeface="+mn-lt"/>
              </a:rPr>
              <a:t>DMA</a:t>
            </a:r>
            <a:r>
              <a:rPr lang="zh-CN" altLang="en-US" sz="2400" dirty="0">
                <a:latin typeface="+mn-lt"/>
              </a:rPr>
              <a:t>传输并输出页面地址时，来自总线使用权仲裁电路的</a:t>
            </a:r>
            <a:r>
              <a:rPr lang="en-US" altLang="zh-CN" sz="2400" dirty="0">
                <a:latin typeface="+mn-lt"/>
              </a:rPr>
              <a:t>DMAAEN=0, </a:t>
            </a:r>
            <a:r>
              <a:rPr lang="zh-CN" altLang="en-US" sz="2400" dirty="0">
                <a:latin typeface="+mn-lt"/>
              </a:rPr>
              <a:t>它连到</a:t>
            </a:r>
            <a:r>
              <a:rPr lang="en-US" altLang="zh-CN" sz="2400" dirty="0">
                <a:latin typeface="+mn-lt"/>
              </a:rPr>
              <a:t>U11</a:t>
            </a:r>
            <a:r>
              <a:rPr lang="zh-CN" altLang="en-US" sz="2400" dirty="0">
                <a:latin typeface="+mn-lt"/>
              </a:rPr>
              <a:t>的</a:t>
            </a:r>
            <a:r>
              <a:rPr lang="en-US" altLang="zh-CN" sz="2400" dirty="0">
                <a:latin typeface="+mn-lt"/>
              </a:rPr>
              <a:t>OE, U12</a:t>
            </a:r>
            <a:r>
              <a:rPr lang="zh-CN" altLang="en-US" sz="2400" dirty="0">
                <a:latin typeface="+mn-lt"/>
              </a:rPr>
              <a:t>的</a:t>
            </a:r>
            <a:r>
              <a:rPr lang="en-US" altLang="zh-CN" sz="2400" dirty="0">
                <a:latin typeface="+mn-lt"/>
              </a:rPr>
              <a:t>1G</a:t>
            </a:r>
            <a:r>
              <a:rPr lang="zh-CN" altLang="en-US" sz="2400" dirty="0">
                <a:latin typeface="+mn-lt"/>
              </a:rPr>
              <a:t>、</a:t>
            </a:r>
            <a:r>
              <a:rPr lang="en-US" altLang="zh-CN" sz="2400" dirty="0">
                <a:latin typeface="+mn-lt"/>
              </a:rPr>
              <a:t>2G, </a:t>
            </a:r>
            <a:r>
              <a:rPr lang="zh-CN" altLang="en-US" sz="2400" dirty="0">
                <a:latin typeface="+mn-lt"/>
              </a:rPr>
              <a:t>可输出低</a:t>
            </a:r>
            <a:r>
              <a:rPr lang="en-US" altLang="zh-CN" sz="2400" dirty="0">
                <a:latin typeface="+mn-lt"/>
              </a:rPr>
              <a:t>16</a:t>
            </a:r>
            <a:r>
              <a:rPr lang="zh-CN" altLang="en-US" sz="2400" dirty="0">
                <a:latin typeface="+mn-lt"/>
              </a:rPr>
              <a:t>位地址</a:t>
            </a:r>
            <a:r>
              <a:rPr lang="en-US" altLang="zh-CN" sz="2400" dirty="0">
                <a:latin typeface="+mn-lt"/>
              </a:rPr>
              <a:t>A</a:t>
            </a:r>
            <a:r>
              <a:rPr lang="en-US" altLang="zh-CN" sz="2400" baseline="-25000" dirty="0">
                <a:latin typeface="+mn-lt"/>
              </a:rPr>
              <a:t>15</a:t>
            </a:r>
            <a:r>
              <a:rPr lang="en-US" altLang="zh-CN" sz="2400" dirty="0">
                <a:latin typeface="+mn-lt"/>
              </a:rPr>
              <a:t>~A</a:t>
            </a:r>
            <a:r>
              <a:rPr lang="en-US" altLang="zh-CN" sz="2400" baseline="-25000" dirty="0">
                <a:latin typeface="+mn-lt"/>
              </a:rPr>
              <a:t>0</a:t>
            </a:r>
            <a:r>
              <a:rPr lang="zh-CN" altLang="en-US" sz="2400" dirty="0">
                <a:latin typeface="+mn-lt"/>
              </a:rPr>
              <a:t>；同时，它还与页面寄存器的</a:t>
            </a:r>
            <a:r>
              <a:rPr lang="en-US" altLang="zh-CN" sz="2400" dirty="0">
                <a:latin typeface="+mn-lt"/>
              </a:rPr>
              <a:t>READ</a:t>
            </a:r>
            <a:r>
              <a:rPr lang="zh-CN" altLang="en-US" sz="2400" dirty="0">
                <a:latin typeface="+mn-lt"/>
              </a:rPr>
              <a:t>相连，可将</a:t>
            </a:r>
            <a:r>
              <a:rPr lang="en-US" altLang="zh-CN" sz="2400" dirty="0">
                <a:latin typeface="+mn-lt"/>
              </a:rPr>
              <a:t>74LS670</a:t>
            </a:r>
            <a:r>
              <a:rPr lang="zh-CN" altLang="en-US" sz="2400" dirty="0">
                <a:latin typeface="+mn-lt"/>
              </a:rPr>
              <a:t>内部寄存器中的页面地址信息送到地址总线</a:t>
            </a:r>
            <a:r>
              <a:rPr lang="en-US" altLang="zh-CN" sz="2400" dirty="0">
                <a:latin typeface="+mn-lt"/>
              </a:rPr>
              <a:t>A</a:t>
            </a:r>
            <a:r>
              <a:rPr lang="en-US" altLang="zh-CN" sz="2400" baseline="-25000" dirty="0">
                <a:latin typeface="+mn-lt"/>
              </a:rPr>
              <a:t>19</a:t>
            </a:r>
            <a:r>
              <a:rPr lang="en-US" altLang="zh-CN" sz="2400" dirty="0">
                <a:latin typeface="+mn-lt"/>
              </a:rPr>
              <a:t>~A</a:t>
            </a:r>
            <a:r>
              <a:rPr lang="en-US" altLang="zh-CN" sz="2400" baseline="-25000" dirty="0">
                <a:latin typeface="+mn-lt"/>
              </a:rPr>
              <a:t>16</a:t>
            </a:r>
            <a:r>
              <a:rPr lang="zh-CN" altLang="en-US" sz="2400" dirty="0">
                <a:latin typeface="+mn-lt"/>
              </a:rPr>
              <a:t>上。</a:t>
            </a:r>
          </a:p>
          <a:p>
            <a:pPr marL="358775" indent="-358775">
              <a:spcBef>
                <a:spcPts val="1200"/>
              </a:spcBef>
              <a:spcAft>
                <a:spcPts val="600"/>
              </a:spcAft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en-US" altLang="zh-CN" sz="2400" dirty="0">
                <a:latin typeface="+mn-lt"/>
              </a:rPr>
              <a:t>RA</a:t>
            </a:r>
            <a:r>
              <a:rPr lang="zh-CN" altLang="en-US" sz="2400" dirty="0">
                <a:latin typeface="+mn-lt"/>
              </a:rPr>
              <a:t>连</a:t>
            </a:r>
            <a:r>
              <a:rPr lang="en-US" altLang="zh-CN" sz="2400" dirty="0">
                <a:latin typeface="+mn-lt"/>
              </a:rPr>
              <a:t>DACK</a:t>
            </a:r>
            <a:r>
              <a:rPr lang="en-US" altLang="zh-CN" sz="2400" baseline="-25000" dirty="0">
                <a:latin typeface="+mn-lt"/>
              </a:rPr>
              <a:t>3</a:t>
            </a:r>
            <a:r>
              <a:rPr lang="zh-CN" altLang="en-US" sz="2400" dirty="0">
                <a:latin typeface="+mn-lt"/>
              </a:rPr>
              <a:t>，</a:t>
            </a:r>
            <a:r>
              <a:rPr lang="en-US" altLang="zh-CN" sz="2400" dirty="0">
                <a:latin typeface="+mn-lt"/>
              </a:rPr>
              <a:t>RB</a:t>
            </a:r>
            <a:r>
              <a:rPr lang="zh-CN" altLang="en-US" sz="2400" dirty="0">
                <a:latin typeface="+mn-lt"/>
              </a:rPr>
              <a:t>连</a:t>
            </a:r>
            <a:r>
              <a:rPr lang="en-US" altLang="zh-CN" sz="2400" dirty="0">
                <a:latin typeface="+mn-lt"/>
              </a:rPr>
              <a:t>DACK</a:t>
            </a:r>
            <a:r>
              <a:rPr lang="en-US" altLang="zh-CN" sz="2400" baseline="-25000" dirty="0">
                <a:latin typeface="+mn-lt"/>
              </a:rPr>
              <a:t>2</a:t>
            </a:r>
            <a:r>
              <a:rPr lang="zh-CN" altLang="en-US" sz="2400" dirty="0">
                <a:latin typeface="+mn-lt"/>
              </a:rPr>
              <a:t>，它们的电平选择通道。</a:t>
            </a:r>
            <a:endParaRPr lang="en-US" altLang="zh-CN" sz="2400" dirty="0">
              <a:latin typeface="+mn-lt"/>
            </a:endParaRPr>
          </a:p>
          <a:p>
            <a:pPr>
              <a:spcBef>
                <a:spcPts val="600"/>
              </a:spcBef>
              <a:spcAft>
                <a:spcPts val="0"/>
              </a:spcAft>
              <a:buClr>
                <a:srgbClr val="0000FF"/>
              </a:buClr>
            </a:pPr>
            <a:r>
              <a:rPr lang="en-US" altLang="zh-CN" sz="2400" dirty="0">
                <a:solidFill>
                  <a:schemeClr val="tx1">
                    <a:lumMod val="95000"/>
                  </a:schemeClr>
                </a:solidFill>
                <a:latin typeface="+mn-lt"/>
                <a:ea typeface="+mn-ea"/>
              </a:rPr>
              <a:t>     </a:t>
            </a:r>
            <a:r>
              <a:rPr lang="zh-CN" altLang="en-US" sz="2400" dirty="0">
                <a:latin typeface="+mn-lt"/>
                <a:ea typeface="+mn-ea"/>
              </a:rPr>
              <a:t>通道</a:t>
            </a:r>
            <a:r>
              <a:rPr lang="en-US" altLang="zh-CN" sz="2400" dirty="0">
                <a:latin typeface="+mn-lt"/>
                <a:ea typeface="+mn-ea"/>
              </a:rPr>
              <a:t>2</a:t>
            </a:r>
            <a:r>
              <a:rPr lang="zh-CN" altLang="en-US" sz="2400" dirty="0">
                <a:latin typeface="+mn-lt"/>
                <a:ea typeface="+mn-ea"/>
              </a:rPr>
              <a:t>传送时，</a:t>
            </a:r>
            <a:r>
              <a:rPr lang="en-US" altLang="zh-CN" sz="2400" dirty="0">
                <a:latin typeface="+mn-lt"/>
                <a:ea typeface="+mn-ea"/>
              </a:rPr>
              <a:t>RB =</a:t>
            </a:r>
            <a:r>
              <a:rPr lang="en-US" altLang="zh-CN" sz="2400" dirty="0">
                <a:latin typeface="+mn-lt"/>
              </a:rPr>
              <a:t> DACK</a:t>
            </a:r>
            <a:r>
              <a:rPr lang="en-US" altLang="zh-CN" sz="2400" baseline="-25000" dirty="0">
                <a:latin typeface="+mn-lt"/>
              </a:rPr>
              <a:t>2 </a:t>
            </a:r>
            <a:r>
              <a:rPr lang="en-US" altLang="zh-CN" sz="2400" dirty="0">
                <a:latin typeface="+mn-lt"/>
              </a:rPr>
              <a:t>=</a:t>
            </a:r>
            <a:r>
              <a:rPr lang="en-US" altLang="zh-CN" sz="2400" dirty="0">
                <a:latin typeface="+mn-lt"/>
                <a:ea typeface="+mn-ea"/>
              </a:rPr>
              <a:t>0</a:t>
            </a:r>
            <a:r>
              <a:rPr lang="zh-CN" altLang="en-US" sz="2400" dirty="0">
                <a:latin typeface="+mn-lt"/>
                <a:ea typeface="+mn-ea"/>
              </a:rPr>
              <a:t>，选中</a:t>
            </a:r>
            <a:r>
              <a:rPr lang="en-US" altLang="zh-CN" sz="2400" dirty="0">
                <a:latin typeface="+mn-lt"/>
                <a:ea typeface="+mn-ea"/>
              </a:rPr>
              <a:t>1</a:t>
            </a:r>
            <a:r>
              <a:rPr lang="zh-CN" altLang="en-US" sz="2400" dirty="0">
                <a:latin typeface="+mn-lt"/>
                <a:ea typeface="+mn-ea"/>
              </a:rPr>
              <a:t>号寄存器；</a:t>
            </a:r>
            <a:endParaRPr lang="en-US" altLang="zh-CN" sz="2400" dirty="0">
              <a:latin typeface="+mn-lt"/>
              <a:ea typeface="+mn-ea"/>
            </a:endParaRPr>
          </a:p>
          <a:p>
            <a:pPr>
              <a:spcBef>
                <a:spcPts val="600"/>
              </a:spcBef>
              <a:spcAft>
                <a:spcPts val="0"/>
              </a:spcAft>
              <a:buClr>
                <a:srgbClr val="0000FF"/>
              </a:buClr>
            </a:pPr>
            <a:r>
              <a:rPr lang="zh-CN" altLang="en-US" sz="2400" dirty="0">
                <a:latin typeface="+mn-lt"/>
                <a:ea typeface="+mn-ea"/>
              </a:rPr>
              <a:t>     通道</a:t>
            </a:r>
            <a:r>
              <a:rPr lang="en-US" altLang="zh-CN" sz="2400" dirty="0">
                <a:latin typeface="+mn-lt"/>
                <a:ea typeface="+mn-ea"/>
              </a:rPr>
              <a:t>3</a:t>
            </a:r>
            <a:r>
              <a:rPr lang="zh-CN" altLang="en-US" sz="2400" dirty="0">
                <a:latin typeface="+mn-lt"/>
                <a:ea typeface="+mn-ea"/>
              </a:rPr>
              <a:t>传送时，</a:t>
            </a:r>
            <a:r>
              <a:rPr lang="en-US" altLang="zh-CN" sz="2400" dirty="0">
                <a:latin typeface="+mn-lt"/>
                <a:ea typeface="+mn-ea"/>
              </a:rPr>
              <a:t>RA =</a:t>
            </a:r>
            <a:r>
              <a:rPr lang="en-US" altLang="zh-CN" sz="2400" dirty="0">
                <a:latin typeface="+mn-lt"/>
              </a:rPr>
              <a:t> DACK</a:t>
            </a:r>
            <a:r>
              <a:rPr lang="en-US" altLang="zh-CN" sz="2400" baseline="-25000" dirty="0">
                <a:latin typeface="+mn-lt"/>
              </a:rPr>
              <a:t>3 </a:t>
            </a:r>
            <a:r>
              <a:rPr lang="en-US" altLang="zh-CN" sz="2400" dirty="0">
                <a:latin typeface="+mn-lt"/>
              </a:rPr>
              <a:t>=</a:t>
            </a:r>
            <a:r>
              <a:rPr lang="en-US" altLang="zh-CN" sz="2400" dirty="0">
                <a:latin typeface="+mn-lt"/>
                <a:ea typeface="+mn-ea"/>
              </a:rPr>
              <a:t>0</a:t>
            </a:r>
            <a:r>
              <a:rPr lang="zh-CN" altLang="en-US" sz="2400" dirty="0">
                <a:latin typeface="+mn-lt"/>
                <a:ea typeface="+mn-ea"/>
              </a:rPr>
              <a:t>，选中</a:t>
            </a:r>
            <a:r>
              <a:rPr lang="en-US" altLang="zh-CN" sz="2400" dirty="0">
                <a:latin typeface="+mn-lt"/>
                <a:ea typeface="+mn-ea"/>
              </a:rPr>
              <a:t>2</a:t>
            </a:r>
            <a:r>
              <a:rPr lang="zh-CN" altLang="en-US" sz="2400" dirty="0">
                <a:latin typeface="+mn-lt"/>
                <a:ea typeface="+mn-ea"/>
              </a:rPr>
              <a:t>号寄存器；</a:t>
            </a:r>
            <a:endParaRPr lang="en-US" altLang="zh-CN" sz="2400" dirty="0">
              <a:latin typeface="+mn-lt"/>
              <a:ea typeface="+mn-ea"/>
            </a:endParaRPr>
          </a:p>
          <a:p>
            <a:pPr>
              <a:spcBef>
                <a:spcPts val="600"/>
              </a:spcBef>
              <a:spcAft>
                <a:spcPts val="0"/>
              </a:spcAft>
              <a:buClr>
                <a:srgbClr val="0000FF"/>
              </a:buClr>
            </a:pPr>
            <a:r>
              <a:rPr lang="zh-CN" altLang="en-US" sz="2400" dirty="0">
                <a:latin typeface="+mn-lt"/>
                <a:ea typeface="+mn-ea"/>
              </a:rPr>
              <a:t>     通道</a:t>
            </a:r>
            <a:r>
              <a:rPr lang="en-US" altLang="zh-CN" sz="2400" dirty="0">
                <a:latin typeface="+mn-lt"/>
                <a:ea typeface="+mn-ea"/>
              </a:rPr>
              <a:t>1</a:t>
            </a:r>
            <a:r>
              <a:rPr lang="zh-CN" altLang="en-US" sz="2400" dirty="0">
                <a:latin typeface="+mn-lt"/>
                <a:ea typeface="+mn-ea"/>
              </a:rPr>
              <a:t>传送时，</a:t>
            </a:r>
            <a:r>
              <a:rPr lang="en-US" altLang="zh-CN" sz="2400" dirty="0">
                <a:latin typeface="+mn-lt"/>
                <a:ea typeface="+mn-ea"/>
              </a:rPr>
              <a:t>RA = RB =1</a:t>
            </a:r>
            <a:r>
              <a:rPr lang="zh-CN" altLang="en-US" sz="2400" dirty="0">
                <a:latin typeface="+mn-lt"/>
                <a:ea typeface="+mn-ea"/>
              </a:rPr>
              <a:t>，选中</a:t>
            </a:r>
            <a:r>
              <a:rPr lang="en-US" altLang="zh-CN" sz="2400" dirty="0">
                <a:latin typeface="+mn-lt"/>
                <a:ea typeface="+mn-ea"/>
              </a:rPr>
              <a:t>3</a:t>
            </a:r>
            <a:r>
              <a:rPr lang="zh-CN" altLang="en-US" sz="2400" dirty="0">
                <a:latin typeface="+mn-lt"/>
                <a:ea typeface="+mn-ea"/>
              </a:rPr>
              <a:t>号寄存器。</a:t>
            </a:r>
            <a:endParaRPr lang="en-US" altLang="zh-CN" sz="2400" dirty="0">
              <a:latin typeface="+mn-lt"/>
              <a:ea typeface="+mn-ea"/>
            </a:endParaRPr>
          </a:p>
          <a:p>
            <a:pPr algn="just">
              <a:spcBef>
                <a:spcPts val="600"/>
              </a:spcBef>
              <a:spcAft>
                <a:spcPts val="0"/>
              </a:spcAft>
              <a:buClr>
                <a:srgbClr val="0000FF"/>
              </a:buClr>
            </a:pPr>
            <a:r>
              <a:rPr lang="zh-CN" altLang="en-US" sz="2400" dirty="0">
                <a:latin typeface="+mn-lt"/>
                <a:ea typeface="+mn-ea"/>
              </a:rPr>
              <a:t>     通道</a:t>
            </a:r>
            <a:r>
              <a:rPr lang="en-US" altLang="zh-CN" sz="2400" dirty="0">
                <a:latin typeface="+mn-lt"/>
                <a:ea typeface="+mn-ea"/>
              </a:rPr>
              <a:t>0</a:t>
            </a:r>
            <a:r>
              <a:rPr lang="zh-CN" altLang="en-US" sz="2400" dirty="0">
                <a:latin typeface="+mn-lt"/>
                <a:ea typeface="+mn-ea"/>
              </a:rPr>
              <a:t>对应</a:t>
            </a:r>
            <a:r>
              <a:rPr lang="en-US" altLang="zh-CN" sz="2400" dirty="0">
                <a:latin typeface="+mn-lt"/>
                <a:ea typeface="+mn-ea"/>
              </a:rPr>
              <a:t>0</a:t>
            </a:r>
            <a:r>
              <a:rPr lang="zh-CN" altLang="en-US" sz="2400" dirty="0">
                <a:latin typeface="+mn-lt"/>
                <a:ea typeface="+mn-ea"/>
              </a:rPr>
              <a:t>号寄存器，但</a:t>
            </a:r>
            <a:r>
              <a:rPr lang="en-US" altLang="zh-CN" sz="2400" dirty="0">
                <a:latin typeface="+mn-lt"/>
                <a:ea typeface="+mn-ea"/>
              </a:rPr>
              <a:t>0</a:t>
            </a:r>
            <a:r>
              <a:rPr lang="zh-CN" altLang="en-US" sz="2400" dirty="0">
                <a:latin typeface="+mn-lt"/>
                <a:ea typeface="+mn-ea"/>
              </a:rPr>
              <a:t>号寄存器未用，因通道</a:t>
            </a:r>
            <a:r>
              <a:rPr lang="en-US" altLang="zh-CN" sz="2400" dirty="0">
                <a:latin typeface="+mn-lt"/>
                <a:ea typeface="+mn-ea"/>
              </a:rPr>
              <a:t>0</a:t>
            </a:r>
            <a:r>
              <a:rPr lang="zh-CN" altLang="en-US" sz="2400" dirty="0">
                <a:latin typeface="+mn-lt"/>
                <a:ea typeface="+mn-ea"/>
              </a:rPr>
              <a:t>用于动态</a:t>
            </a:r>
            <a:r>
              <a:rPr lang="en-US" altLang="zh-CN" sz="2400" dirty="0">
                <a:latin typeface="+mn-lt"/>
                <a:ea typeface="+mn-ea"/>
              </a:rPr>
              <a:t>RMA</a:t>
            </a:r>
            <a:r>
              <a:rPr lang="zh-CN" altLang="en-US" sz="2400" dirty="0">
                <a:latin typeface="+mn-lt"/>
                <a:ea typeface="+mn-ea"/>
              </a:rPr>
              <a:t>刷新，不必使用页面寄存器。</a:t>
            </a:r>
          </a:p>
          <a:p>
            <a:pPr marL="342900" indent="-342900">
              <a:buClr>
                <a:srgbClr val="0000FF"/>
              </a:buClr>
              <a:buFont typeface="Wingdings" panose="05000000000000000000" pitchFamily="2" charset="2"/>
              <a:buChar char="ü"/>
            </a:pPr>
            <a:endParaRPr lang="zh-CN" altLang="en-US" sz="2400" dirty="0">
              <a:latin typeface="+mn-lt"/>
              <a:ea typeface="+mn-ea"/>
            </a:endParaRPr>
          </a:p>
        </p:txBody>
      </p:sp>
      <p:sp>
        <p:nvSpPr>
          <p:cNvPr id="5" name="标题 154627">
            <a:extLst>
              <a:ext uri="{FF2B5EF4-FFF2-40B4-BE49-F238E27FC236}">
                <a16:creationId xmlns:a16="http://schemas.microsoft.com/office/drawing/2014/main" id="{0CE92FF9-7FEB-4D20-9D02-27EC6F9BA96D}"/>
              </a:ext>
            </a:extLst>
          </p:cNvPr>
          <p:cNvSpPr txBox="1">
            <a:spLocks/>
          </p:cNvSpPr>
          <p:nvPr/>
        </p:nvSpPr>
        <p:spPr>
          <a:xfrm>
            <a:off x="1547664" y="188640"/>
            <a:ext cx="6408712" cy="431800"/>
          </a:xfrm>
        </p:spPr>
        <p:txBody>
          <a:bodyPr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10.2 8237A</a:t>
            </a:r>
            <a:r>
              <a:rPr lang="zh-CN" altLang="en-US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的编程和应用举例</a:t>
            </a:r>
          </a:p>
        </p:txBody>
      </p:sp>
      <p:cxnSp>
        <p:nvCxnSpPr>
          <p:cNvPr id="3" name="直接连接符 2">
            <a:extLst>
              <a:ext uri="{FF2B5EF4-FFF2-40B4-BE49-F238E27FC236}">
                <a16:creationId xmlns:a16="http://schemas.microsoft.com/office/drawing/2014/main" id="{E4566BDA-9E98-49B8-8A94-DA90C9F4103F}"/>
              </a:ext>
            </a:extLst>
          </p:cNvPr>
          <p:cNvCxnSpPr>
            <a:cxnSpLocks/>
          </p:cNvCxnSpPr>
          <p:nvPr/>
        </p:nvCxnSpPr>
        <p:spPr>
          <a:xfrm>
            <a:off x="1187624" y="1657375"/>
            <a:ext cx="1152128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连接符 11">
            <a:extLst>
              <a:ext uri="{FF2B5EF4-FFF2-40B4-BE49-F238E27FC236}">
                <a16:creationId xmlns:a16="http://schemas.microsoft.com/office/drawing/2014/main" id="{BDF82610-3B76-4E77-A55B-BCEE9C226D3C}"/>
              </a:ext>
            </a:extLst>
          </p:cNvPr>
          <p:cNvCxnSpPr>
            <a:cxnSpLocks/>
          </p:cNvCxnSpPr>
          <p:nvPr/>
        </p:nvCxnSpPr>
        <p:spPr>
          <a:xfrm>
            <a:off x="6343625" y="1657375"/>
            <a:ext cx="38861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>
            <a:extLst>
              <a:ext uri="{FF2B5EF4-FFF2-40B4-BE49-F238E27FC236}">
                <a16:creationId xmlns:a16="http://schemas.microsoft.com/office/drawing/2014/main" id="{AE6E41DF-A9AF-4AD9-B481-BF32A4384196}"/>
              </a:ext>
            </a:extLst>
          </p:cNvPr>
          <p:cNvCxnSpPr>
            <a:cxnSpLocks/>
          </p:cNvCxnSpPr>
          <p:nvPr/>
        </p:nvCxnSpPr>
        <p:spPr>
          <a:xfrm>
            <a:off x="7020272" y="1657375"/>
            <a:ext cx="38861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A39AA681-BCC8-408B-B22B-E5FE3FFC4AEA}"/>
              </a:ext>
            </a:extLst>
          </p:cNvPr>
          <p:cNvCxnSpPr>
            <a:cxnSpLocks/>
          </p:cNvCxnSpPr>
          <p:nvPr/>
        </p:nvCxnSpPr>
        <p:spPr>
          <a:xfrm>
            <a:off x="7452320" y="2032273"/>
            <a:ext cx="720080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0433539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270950E4-05B4-4548-8706-2B0B178B7EB3}"/>
              </a:ext>
            </a:extLst>
          </p:cNvPr>
          <p:cNvSpPr txBox="1"/>
          <p:nvPr/>
        </p:nvSpPr>
        <p:spPr>
          <a:xfrm>
            <a:off x="323528" y="908720"/>
            <a:ext cx="8496944" cy="40934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8775" indent="-358775" algn="just"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en-US" altLang="zh-CN" sz="2400" dirty="0">
                <a:latin typeface="+mn-lt"/>
              </a:rPr>
              <a:t>PC/XT</a:t>
            </a:r>
            <a:r>
              <a:rPr lang="zh-CN" altLang="en-US" sz="2400" dirty="0">
                <a:latin typeface="+mn-lt"/>
              </a:rPr>
              <a:t>上对</a:t>
            </a:r>
            <a:r>
              <a:rPr lang="en-US" altLang="zh-CN" sz="2400" dirty="0">
                <a:latin typeface="+mn-lt"/>
              </a:rPr>
              <a:t>8237A</a:t>
            </a:r>
            <a:r>
              <a:rPr lang="zh-CN" altLang="en-US" sz="2400" dirty="0">
                <a:latin typeface="+mn-lt"/>
              </a:rPr>
              <a:t>进行初始化和测试的程序。</a:t>
            </a:r>
            <a:endParaRPr lang="en-US" altLang="zh-CN" sz="2400" dirty="0">
              <a:latin typeface="+mn-lt"/>
            </a:endParaRPr>
          </a:p>
          <a:p>
            <a:pPr marL="358775" indent="-358775" algn="just"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en-US" altLang="zh-CN" sz="2400" dirty="0">
                <a:latin typeface="+mn-lt"/>
              </a:rPr>
              <a:t>8237A </a:t>
            </a:r>
            <a:r>
              <a:rPr lang="zh-CN" altLang="en-US" sz="2400" dirty="0">
                <a:latin typeface="+mn-lt"/>
              </a:rPr>
              <a:t>的基地址为</a:t>
            </a:r>
            <a:r>
              <a:rPr lang="en-US" altLang="zh-CN" sz="2400" dirty="0">
                <a:latin typeface="+mn-lt"/>
              </a:rPr>
              <a:t>00H</a:t>
            </a:r>
            <a:r>
              <a:rPr lang="zh-CN" altLang="en-US" sz="2400" dirty="0">
                <a:latin typeface="+mn-lt"/>
              </a:rPr>
              <a:t>。开机后对</a:t>
            </a:r>
            <a:r>
              <a:rPr lang="en-US" altLang="zh-CN" sz="2400" dirty="0">
                <a:latin typeface="+mn-lt"/>
              </a:rPr>
              <a:t>8237A</a:t>
            </a:r>
            <a:r>
              <a:rPr lang="zh-CN" altLang="en-US" sz="2400" dirty="0">
                <a:latin typeface="+mn-lt"/>
              </a:rPr>
              <a:t>测试：先对</a:t>
            </a:r>
            <a:r>
              <a:rPr lang="en-US" altLang="zh-CN" sz="2400" dirty="0">
                <a:latin typeface="+mn-lt"/>
              </a:rPr>
              <a:t>8</a:t>
            </a:r>
            <a:r>
              <a:rPr lang="zh-CN" altLang="en-US" sz="2400" dirty="0">
                <a:latin typeface="+mn-lt"/>
              </a:rPr>
              <a:t>个寄存器（地址</a:t>
            </a:r>
            <a:r>
              <a:rPr lang="en-US" altLang="zh-CN" sz="2400" dirty="0">
                <a:latin typeface="+mn-lt"/>
              </a:rPr>
              <a:t>DMA+0</a:t>
            </a:r>
            <a:r>
              <a:rPr lang="zh-CN" altLang="en-US" sz="2400" dirty="0">
                <a:latin typeface="+mn-lt"/>
              </a:rPr>
              <a:t>～</a:t>
            </a:r>
            <a:r>
              <a:rPr lang="en-US" altLang="zh-CN" sz="2400" dirty="0">
                <a:latin typeface="+mn-lt"/>
              </a:rPr>
              <a:t>DMA+7</a:t>
            </a:r>
            <a:r>
              <a:rPr lang="zh-CN" altLang="en-US" sz="2400" dirty="0">
                <a:latin typeface="+mn-lt"/>
              </a:rPr>
              <a:t>）都写入</a:t>
            </a:r>
            <a:r>
              <a:rPr lang="en-US" altLang="zh-CN" sz="2400" dirty="0">
                <a:latin typeface="+mn-lt"/>
              </a:rPr>
              <a:t>FFFFH</a:t>
            </a:r>
            <a:r>
              <a:rPr lang="zh-CN" altLang="en-US" sz="2400" dirty="0">
                <a:latin typeface="+mn-lt"/>
              </a:rPr>
              <a:t>，然后读出，看与写入值是否相等？再写入</a:t>
            </a:r>
            <a:r>
              <a:rPr lang="en-US" altLang="zh-CN" sz="2400" dirty="0">
                <a:latin typeface="+mn-lt"/>
              </a:rPr>
              <a:t>0000H</a:t>
            </a:r>
            <a:r>
              <a:rPr lang="zh-CN" altLang="en-US" sz="2400" dirty="0">
                <a:latin typeface="+mn-lt"/>
              </a:rPr>
              <a:t>，进行同样测试。如发现读出值不同于写入值，测试便没有通过。</a:t>
            </a:r>
          </a:p>
          <a:p>
            <a:pPr>
              <a:spcBef>
                <a:spcPts val="1200"/>
              </a:spcBef>
              <a:buNone/>
            </a:pP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DMA	EQU	00H		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；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DMA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基地址</a:t>
            </a:r>
          </a:p>
          <a:p>
            <a:pPr>
              <a:spcBef>
                <a:spcPts val="600"/>
              </a:spcBef>
              <a:spcAft>
                <a:spcPts val="600"/>
              </a:spcAft>
              <a:buNone/>
            </a:pP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；先送命令字，禁止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8237A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工作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MOV	AL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，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04		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；命令字：检测前禁止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8237A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工作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OUT	DMA+08H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，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AL	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；输出命令字到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8237A</a:t>
            </a:r>
            <a:endParaRPr lang="zh-CN" altLang="en-US" sz="2400" dirty="0">
              <a:solidFill>
                <a:srgbClr val="0000FF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OUT	DMA+0DH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，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AL	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；发总清命令</a:t>
            </a:r>
          </a:p>
        </p:txBody>
      </p:sp>
      <p:sp>
        <p:nvSpPr>
          <p:cNvPr id="4" name="标题 154627">
            <a:extLst>
              <a:ext uri="{FF2B5EF4-FFF2-40B4-BE49-F238E27FC236}">
                <a16:creationId xmlns:a16="http://schemas.microsoft.com/office/drawing/2014/main" id="{8EF4769D-1F45-45C2-86E4-D76DECD3D0A2}"/>
              </a:ext>
            </a:extLst>
          </p:cNvPr>
          <p:cNvSpPr txBox="1">
            <a:spLocks/>
          </p:cNvSpPr>
          <p:nvPr/>
        </p:nvSpPr>
        <p:spPr>
          <a:xfrm>
            <a:off x="1547664" y="188640"/>
            <a:ext cx="6408712" cy="431800"/>
          </a:xfrm>
        </p:spPr>
        <p:txBody>
          <a:bodyPr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10.2 8237A</a:t>
            </a:r>
            <a:r>
              <a:rPr lang="zh-CN" altLang="en-US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的编程和应用举例</a:t>
            </a:r>
          </a:p>
        </p:txBody>
      </p:sp>
    </p:spTree>
    <p:extLst>
      <p:ext uri="{BB962C8B-B14F-4D97-AF65-F5344CB8AC3E}">
        <p14:creationId xmlns:p14="http://schemas.microsoft.com/office/powerpoint/2010/main" val="2835656395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270950E4-05B4-4548-8706-2B0B178B7EB3}"/>
              </a:ext>
            </a:extLst>
          </p:cNvPr>
          <p:cNvSpPr txBox="1"/>
          <p:nvPr/>
        </p:nvSpPr>
        <p:spPr>
          <a:xfrm>
            <a:off x="323528" y="908720"/>
            <a:ext cx="8496944" cy="526297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；第一遍，将通道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0~3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的基地址和当前地址寄存器</a:t>
            </a:r>
            <a:endParaRPr lang="en-US" altLang="zh-CN" sz="2400" dirty="0">
              <a:solidFill>
                <a:srgbClr val="0000FF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；均置为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FFFFH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，第二遍均置为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0000H</a:t>
            </a:r>
            <a:endParaRPr lang="zh-CN" altLang="en-US" sz="2400" dirty="0">
              <a:solidFill>
                <a:srgbClr val="0000FF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   MOV     DX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，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DMA	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；通道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0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的地址寄存器端口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   MOV     AL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，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0FFH	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；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AL=FFH</a:t>
            </a:r>
            <a:endParaRPr lang="zh-CN" altLang="en-US" sz="2400" dirty="0">
              <a:solidFill>
                <a:srgbClr val="0000FF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C8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：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	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   MOV     CX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，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0008H	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；循环次数为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8</a:t>
            </a:r>
            <a:endParaRPr lang="zh-CN" altLang="en-US" sz="2400" dirty="0">
              <a:solidFill>
                <a:srgbClr val="0000FF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WRITE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：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	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   MOV     BH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，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AL		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；放进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BX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以便比较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   MOV     BL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，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AL		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；第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1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遍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AL=FFH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，第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2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遍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00H</a:t>
            </a:r>
            <a:endParaRPr lang="zh-CN" altLang="en-US" sz="2400" dirty="0">
              <a:solidFill>
                <a:srgbClr val="0000FF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   OUT      DX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，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AL		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；写入低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8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位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   OUT      DX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，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AL		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；写入高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8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位</a:t>
            </a:r>
            <a:endParaRPr lang="en-US" altLang="zh-CN" sz="2400" dirty="0">
              <a:solidFill>
                <a:srgbClr val="0000FF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   INC	       DX		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；建立下个寄存器口地址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   LOOP    WRITE		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；写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4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个通道，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8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个端口</a:t>
            </a:r>
          </a:p>
          <a:p>
            <a:pPr>
              <a:spcBef>
                <a:spcPts val="0"/>
              </a:spcBef>
              <a:buNone/>
            </a:pPr>
            <a:endParaRPr lang="zh-CN" altLang="en-US" sz="2400" dirty="0">
              <a:solidFill>
                <a:srgbClr val="0000FF"/>
              </a:solidFill>
              <a:latin typeface="+mn-lt"/>
              <a:ea typeface="+mn-ea"/>
            </a:endParaRPr>
          </a:p>
        </p:txBody>
      </p:sp>
      <p:sp>
        <p:nvSpPr>
          <p:cNvPr id="4" name="标题 154627">
            <a:extLst>
              <a:ext uri="{FF2B5EF4-FFF2-40B4-BE49-F238E27FC236}">
                <a16:creationId xmlns:a16="http://schemas.microsoft.com/office/drawing/2014/main" id="{8EF4769D-1F45-45C2-86E4-D76DECD3D0A2}"/>
              </a:ext>
            </a:extLst>
          </p:cNvPr>
          <p:cNvSpPr txBox="1">
            <a:spLocks/>
          </p:cNvSpPr>
          <p:nvPr/>
        </p:nvSpPr>
        <p:spPr>
          <a:xfrm>
            <a:off x="1547664" y="188640"/>
            <a:ext cx="6408712" cy="431800"/>
          </a:xfrm>
        </p:spPr>
        <p:txBody>
          <a:bodyPr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10.2 8237A</a:t>
            </a:r>
            <a:r>
              <a:rPr lang="zh-CN" altLang="en-US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的编程和应用举例</a:t>
            </a:r>
          </a:p>
        </p:txBody>
      </p:sp>
    </p:spTree>
    <p:extLst>
      <p:ext uri="{BB962C8B-B14F-4D97-AF65-F5344CB8AC3E}">
        <p14:creationId xmlns:p14="http://schemas.microsoft.com/office/powerpoint/2010/main" val="3867191478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270950E4-05B4-4548-8706-2B0B178B7EB3}"/>
              </a:ext>
            </a:extLst>
          </p:cNvPr>
          <p:cNvSpPr txBox="1"/>
          <p:nvPr/>
        </p:nvSpPr>
        <p:spPr>
          <a:xfrm>
            <a:off x="323528" y="908720"/>
            <a:ext cx="8496944" cy="55707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spcAft>
                <a:spcPts val="600"/>
              </a:spcAft>
              <a:buNone/>
            </a:pPr>
            <a:r>
              <a:rPr lang="zh-CN" altLang="en-US" sz="2400" dirty="0">
                <a:solidFill>
                  <a:srgbClr val="0000FF"/>
                </a:solidFill>
              </a:rPr>
              <a:t>；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通道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0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方式字：单字节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, 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地址增量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, 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自动预置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, 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读传送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   MOV     AL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，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58H		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；通道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0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方式字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   OUT      DMA+0BH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，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AL	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；写入通道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0</a:t>
            </a:r>
          </a:p>
          <a:p>
            <a:pPr>
              <a:spcBef>
                <a:spcPts val="600"/>
              </a:spcBef>
              <a:buNone/>
            </a:pP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；设置命令字：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DACK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低有效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, DREQ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高有效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, 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正常时序</a:t>
            </a:r>
            <a:endParaRPr lang="en-US" altLang="zh-CN" sz="2400" dirty="0">
              <a:solidFill>
                <a:srgbClr val="0000FF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；滞后写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, 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固定优先权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, 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允许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DMA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工作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,  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禁止存储器到</a:t>
            </a:r>
            <a:endParaRPr lang="en-US" altLang="zh-CN" sz="2400" dirty="0">
              <a:solidFill>
                <a:srgbClr val="0000FF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；存储器操作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   MOV     AL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，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00H		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；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8237A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命令字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   OUT      DMA+08H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，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AL	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；输出到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8237A</a:t>
            </a:r>
            <a:endParaRPr lang="zh-CN" altLang="en-US" sz="2400" dirty="0">
              <a:solidFill>
                <a:srgbClr val="0000FF"/>
              </a:solidFill>
              <a:latin typeface="+mn-lt"/>
              <a:ea typeface="+mn-ea"/>
            </a:endParaRPr>
          </a:p>
          <a:p>
            <a:pPr>
              <a:spcBef>
                <a:spcPts val="600"/>
              </a:spcBef>
              <a:buNone/>
            </a:pP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；通道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1~3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方式字：单字节，地址增量，禁止自动预置，</a:t>
            </a:r>
            <a:endParaRPr lang="en-US" altLang="zh-CN" sz="2400" dirty="0">
              <a:solidFill>
                <a:srgbClr val="0000FF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spcAft>
                <a:spcPts val="600"/>
              </a:spcAft>
              <a:buNone/>
            </a:pP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；校验传输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   MOV     AL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，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41H		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；通道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1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方式字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   OUT      DMA+0BH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，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AL	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；写入通道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1</a:t>
            </a:r>
            <a:endParaRPr lang="zh-CN" altLang="en-US" sz="2400" dirty="0">
              <a:solidFill>
                <a:srgbClr val="0000FF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   MOV     AL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，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42H		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；通道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2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方式字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   OUT      DMA+0BH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，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AL	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；写入通道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2</a:t>
            </a:r>
            <a:endParaRPr lang="zh-CN" altLang="en-US" sz="2400" dirty="0">
              <a:solidFill>
                <a:srgbClr val="0000FF"/>
              </a:solidFill>
              <a:latin typeface="+mn-lt"/>
              <a:ea typeface="+mn-ea"/>
            </a:endParaRPr>
          </a:p>
        </p:txBody>
      </p:sp>
      <p:sp>
        <p:nvSpPr>
          <p:cNvPr id="4" name="标题 154627">
            <a:extLst>
              <a:ext uri="{FF2B5EF4-FFF2-40B4-BE49-F238E27FC236}">
                <a16:creationId xmlns:a16="http://schemas.microsoft.com/office/drawing/2014/main" id="{8EF4769D-1F45-45C2-86E4-D76DECD3D0A2}"/>
              </a:ext>
            </a:extLst>
          </p:cNvPr>
          <p:cNvSpPr txBox="1">
            <a:spLocks/>
          </p:cNvSpPr>
          <p:nvPr/>
        </p:nvSpPr>
        <p:spPr>
          <a:xfrm>
            <a:off x="1547664" y="188640"/>
            <a:ext cx="6408712" cy="431800"/>
          </a:xfrm>
        </p:spPr>
        <p:txBody>
          <a:bodyPr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10.2 8237A</a:t>
            </a:r>
            <a:r>
              <a:rPr lang="zh-CN" altLang="en-US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的编程和应用举例</a:t>
            </a:r>
          </a:p>
        </p:txBody>
      </p:sp>
    </p:spTree>
    <p:extLst>
      <p:ext uri="{BB962C8B-B14F-4D97-AF65-F5344CB8AC3E}">
        <p14:creationId xmlns:p14="http://schemas.microsoft.com/office/powerpoint/2010/main" val="3962668824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270950E4-05B4-4548-8706-2B0B178B7EB3}"/>
              </a:ext>
            </a:extLst>
          </p:cNvPr>
          <p:cNvSpPr txBox="1"/>
          <p:nvPr/>
        </p:nvSpPr>
        <p:spPr>
          <a:xfrm>
            <a:off x="323528" y="908720"/>
            <a:ext cx="8496944" cy="56323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   MOV    AL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，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43H		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；通道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3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方式字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   OUT     DMA+0BH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，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AL	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；写入通道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3</a:t>
            </a:r>
            <a:endParaRPr lang="zh-CN" altLang="en-US" sz="2400" dirty="0">
              <a:solidFill>
                <a:srgbClr val="0000FF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；设置屏蔽字，清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04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个通道屏蔽位，都去除屏蔽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   MOV    AL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，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00H		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；屏蔽字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   OUT     DMA+0FH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，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AL	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；输出到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8237A</a:t>
            </a:r>
            <a:endParaRPr lang="zh-CN" altLang="en-US" sz="2400" dirty="0">
              <a:solidFill>
                <a:srgbClr val="0000FF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；对通道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0~3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的地址值和计数值进行测试，看读出的</a:t>
            </a:r>
            <a:endParaRPr lang="en-US" altLang="zh-CN" sz="2400" dirty="0">
              <a:solidFill>
                <a:srgbClr val="0000FF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;   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值是否与写入的值（在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BX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中）相等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   MOV    DX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，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DMA		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；指向通道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0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地址寄存器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   MOV    CX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，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0008		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；循环次数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READ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：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	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   IN	      AL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，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DX			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；读低字节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   MOV     AH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，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AL			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；存入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AH</a:t>
            </a:r>
            <a:endParaRPr lang="zh-CN" altLang="en-US" sz="2400" dirty="0">
              <a:solidFill>
                <a:srgbClr val="0000FF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   IN	      AL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，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DX			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；读高字节进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AL</a:t>
            </a:r>
            <a:endParaRPr lang="zh-CN" altLang="en-US" sz="2400" dirty="0">
              <a:solidFill>
                <a:srgbClr val="0000FF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   CMP     AX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，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BX			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；读出值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=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写入值吗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?</a:t>
            </a:r>
            <a:endParaRPr lang="zh-CN" altLang="en-US" sz="2400" dirty="0">
              <a:solidFill>
                <a:srgbClr val="0000FF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   JNE	      STOP			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；不等，转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STOP</a:t>
            </a:r>
            <a:endParaRPr lang="zh-CN" altLang="en-US" sz="2400" dirty="0">
              <a:solidFill>
                <a:srgbClr val="0000FF"/>
              </a:solidFill>
              <a:latin typeface="+mn-lt"/>
              <a:ea typeface="+mn-ea"/>
            </a:endParaRPr>
          </a:p>
        </p:txBody>
      </p:sp>
      <p:sp>
        <p:nvSpPr>
          <p:cNvPr id="4" name="标题 154627">
            <a:extLst>
              <a:ext uri="{FF2B5EF4-FFF2-40B4-BE49-F238E27FC236}">
                <a16:creationId xmlns:a16="http://schemas.microsoft.com/office/drawing/2014/main" id="{8EF4769D-1F45-45C2-86E4-D76DECD3D0A2}"/>
              </a:ext>
            </a:extLst>
          </p:cNvPr>
          <p:cNvSpPr txBox="1">
            <a:spLocks/>
          </p:cNvSpPr>
          <p:nvPr/>
        </p:nvSpPr>
        <p:spPr>
          <a:xfrm>
            <a:off x="1547664" y="188640"/>
            <a:ext cx="6408712" cy="431800"/>
          </a:xfrm>
        </p:spPr>
        <p:txBody>
          <a:bodyPr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10.2 8237A</a:t>
            </a:r>
            <a:r>
              <a:rPr lang="zh-CN" altLang="en-US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的编程和应用举例</a:t>
            </a:r>
          </a:p>
        </p:txBody>
      </p:sp>
    </p:spTree>
    <p:extLst>
      <p:ext uri="{BB962C8B-B14F-4D97-AF65-F5344CB8AC3E}">
        <p14:creationId xmlns:p14="http://schemas.microsoft.com/office/powerpoint/2010/main" val="3577194793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270950E4-05B4-4548-8706-2B0B178B7EB3}"/>
              </a:ext>
            </a:extLst>
          </p:cNvPr>
          <p:cNvSpPr txBox="1"/>
          <p:nvPr/>
        </p:nvSpPr>
        <p:spPr>
          <a:xfrm>
            <a:off x="323528" y="908720"/>
            <a:ext cx="8496944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   INC	      DX		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；相等，指向下个寄存器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   LOOP   READ		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；测下个寄存器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   MOV    DX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，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DMA  	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；测完，指向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8237A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基地址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   INC	      AL	</a:t>
            </a:r>
            <a:r>
              <a:rPr lang="en-US" altLang="zh-CN" sz="2400">
                <a:solidFill>
                  <a:srgbClr val="0000FF"/>
                </a:solidFill>
                <a:latin typeface="+mn-lt"/>
                <a:ea typeface="+mn-ea"/>
              </a:rPr>
              <a:t>	           </a:t>
            </a:r>
            <a:r>
              <a:rPr lang="zh-CN" altLang="en-US" sz="2400">
                <a:solidFill>
                  <a:srgbClr val="0000FF"/>
                </a:solidFill>
                <a:latin typeface="+mn-lt"/>
                <a:ea typeface="+mn-ea"/>
              </a:rPr>
              <a:t>；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AL←AL+1</a:t>
            </a:r>
            <a:endParaRPr lang="zh-CN" altLang="en-US" sz="2400" dirty="0">
              <a:solidFill>
                <a:srgbClr val="0000FF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   JZ	      C8			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；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AL=00H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写入此值再测一遍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    …				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；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AL=01H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，结束测试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    …				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；继续对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8237A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初始化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STOP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：   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HLT		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；如出错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,  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则停机</a:t>
            </a:r>
          </a:p>
        </p:txBody>
      </p:sp>
      <p:sp>
        <p:nvSpPr>
          <p:cNvPr id="4" name="标题 154627">
            <a:extLst>
              <a:ext uri="{FF2B5EF4-FFF2-40B4-BE49-F238E27FC236}">
                <a16:creationId xmlns:a16="http://schemas.microsoft.com/office/drawing/2014/main" id="{8EF4769D-1F45-45C2-86E4-D76DECD3D0A2}"/>
              </a:ext>
            </a:extLst>
          </p:cNvPr>
          <p:cNvSpPr txBox="1">
            <a:spLocks/>
          </p:cNvSpPr>
          <p:nvPr/>
        </p:nvSpPr>
        <p:spPr>
          <a:xfrm>
            <a:off x="1547664" y="188640"/>
            <a:ext cx="6408712" cy="431800"/>
          </a:xfrm>
        </p:spPr>
        <p:txBody>
          <a:bodyPr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10.2 8237A</a:t>
            </a:r>
            <a:r>
              <a:rPr lang="zh-CN" altLang="en-US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的编程和应用举例</a:t>
            </a:r>
          </a:p>
        </p:txBody>
      </p:sp>
    </p:spTree>
    <p:extLst>
      <p:ext uri="{BB962C8B-B14F-4D97-AF65-F5344CB8AC3E}">
        <p14:creationId xmlns:p14="http://schemas.microsoft.com/office/powerpoint/2010/main" val="2380998632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270950E4-05B4-4548-8706-2B0B178B7EB3}"/>
              </a:ext>
            </a:extLst>
          </p:cNvPr>
          <p:cNvSpPr txBox="1"/>
          <p:nvPr/>
        </p:nvSpPr>
        <p:spPr>
          <a:xfrm>
            <a:off x="179512" y="908720"/>
            <a:ext cx="8784976" cy="489364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58775" indent="-358775" algn="just">
              <a:buClr>
                <a:srgbClr val="0000FF"/>
              </a:buClr>
              <a:buFont typeface="Wingdings" panose="05000000000000000000" pitchFamily="2" charset="2"/>
              <a:buChar char="ü"/>
            </a:pPr>
            <a:r>
              <a:rPr lang="zh-CN" altLang="en-US" sz="2400" dirty="0">
                <a:latin typeface="+mn-lt"/>
              </a:rPr>
              <a:t>读写测试通过后，将对</a:t>
            </a:r>
            <a:r>
              <a:rPr lang="en-US" altLang="zh-CN" sz="2400" dirty="0">
                <a:latin typeface="+mn-lt"/>
              </a:rPr>
              <a:t>DRAM</a:t>
            </a:r>
            <a:r>
              <a:rPr lang="zh-CN" altLang="en-US" sz="2400" dirty="0">
                <a:latin typeface="+mn-lt"/>
              </a:rPr>
              <a:t>刷新进行初始化和启动</a:t>
            </a:r>
            <a:r>
              <a:rPr lang="en-US" altLang="zh-CN" sz="2400" dirty="0">
                <a:latin typeface="+mn-lt"/>
              </a:rPr>
              <a:t>DMA</a:t>
            </a:r>
            <a:r>
              <a:rPr lang="zh-CN" altLang="en-US" sz="2400" dirty="0">
                <a:latin typeface="+mn-lt"/>
              </a:rPr>
              <a:t>工作：</a:t>
            </a:r>
          </a:p>
          <a:p>
            <a:pPr>
              <a:spcBef>
                <a:spcPts val="0"/>
              </a:spcBef>
              <a:buNone/>
            </a:pP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；写入命令字：禁止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M-&gt;M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，允许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8237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工作，正常时序，</a:t>
            </a:r>
            <a:endParaRPr lang="en-US" altLang="zh-CN" sz="2400" dirty="0">
              <a:solidFill>
                <a:srgbClr val="0000FF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；固定优先级，滞后写，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DREQ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高有效，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DACK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低有效</a:t>
            </a:r>
            <a:endParaRPr lang="en-US" altLang="zh-CN" sz="2400" dirty="0">
              <a:solidFill>
                <a:srgbClr val="0000FF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MOV	AL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，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00H		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；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OUT	DMA+08H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，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AL	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；输出命令字到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8237A</a:t>
            </a:r>
            <a:endParaRPr lang="zh-CN" altLang="en-US" sz="2400" dirty="0">
              <a:solidFill>
                <a:srgbClr val="0000FF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MOV   AL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，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0FFH    		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；通道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0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的字节数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64KB</a:t>
            </a:r>
          </a:p>
          <a:p>
            <a:pPr>
              <a:spcBef>
                <a:spcPts val="0"/>
              </a:spcBef>
            </a:pP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OUT   DMA+01H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，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AL	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；先写入通道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0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字节数的低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8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位</a:t>
            </a:r>
          </a:p>
          <a:p>
            <a:pPr>
              <a:spcBef>
                <a:spcPts val="0"/>
              </a:spcBef>
            </a:pP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OUT   DMA+01H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，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AL	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；后写入通道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0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字节数的高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8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位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MOV   AL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，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58H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OUT   DMA+0BH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，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AL	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；写通道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0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方式寄存器</a:t>
            </a:r>
            <a:endParaRPr lang="en-US" altLang="zh-CN" sz="2400" dirty="0">
              <a:solidFill>
                <a:srgbClr val="0000FF"/>
              </a:solidFill>
              <a:latin typeface="+mn-lt"/>
              <a:ea typeface="+mn-ea"/>
            </a:endParaRP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MOV   AL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，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00H</a:t>
            </a:r>
          </a:p>
          <a:p>
            <a:pPr>
              <a:spcBef>
                <a:spcPts val="0"/>
              </a:spcBef>
              <a:buNone/>
            </a:pP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OUT   DMA+0AH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，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AL	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；清通道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0</a:t>
            </a:r>
            <a:r>
              <a:rPr lang="zh-CN" altLang="en-US" sz="2400" dirty="0">
                <a:solidFill>
                  <a:srgbClr val="0000FF"/>
                </a:solidFill>
                <a:latin typeface="+mn-lt"/>
                <a:ea typeface="+mn-ea"/>
              </a:rPr>
              <a:t>屏蔽位，允许</a:t>
            </a:r>
            <a:r>
              <a:rPr lang="en-US" altLang="zh-CN" sz="2400" dirty="0">
                <a:solidFill>
                  <a:srgbClr val="0000FF"/>
                </a:solidFill>
                <a:latin typeface="+mn-lt"/>
                <a:ea typeface="+mn-ea"/>
              </a:rPr>
              <a:t>DREQ</a:t>
            </a:r>
            <a:r>
              <a:rPr lang="en-US" altLang="zh-CN" sz="2400" baseline="-25000" dirty="0">
                <a:solidFill>
                  <a:srgbClr val="0000FF"/>
                </a:solidFill>
                <a:latin typeface="+mn-lt"/>
                <a:ea typeface="+mn-ea"/>
              </a:rPr>
              <a:t>0</a:t>
            </a:r>
            <a:r>
              <a:rPr lang="zh-CN" altLang="en-US" sz="2400">
                <a:solidFill>
                  <a:srgbClr val="0000FF"/>
                </a:solidFill>
                <a:latin typeface="+mn-lt"/>
                <a:ea typeface="+mn-ea"/>
              </a:rPr>
              <a:t>请求</a:t>
            </a:r>
            <a:endParaRPr lang="zh-CN" altLang="en-US" sz="2400" dirty="0">
              <a:solidFill>
                <a:srgbClr val="0000FF"/>
              </a:solidFill>
              <a:latin typeface="+mn-lt"/>
              <a:ea typeface="+mn-ea"/>
            </a:endParaRPr>
          </a:p>
        </p:txBody>
      </p:sp>
      <p:sp>
        <p:nvSpPr>
          <p:cNvPr id="4" name="标题 154627">
            <a:extLst>
              <a:ext uri="{FF2B5EF4-FFF2-40B4-BE49-F238E27FC236}">
                <a16:creationId xmlns:a16="http://schemas.microsoft.com/office/drawing/2014/main" id="{8EF4769D-1F45-45C2-86E4-D76DECD3D0A2}"/>
              </a:ext>
            </a:extLst>
          </p:cNvPr>
          <p:cNvSpPr txBox="1">
            <a:spLocks/>
          </p:cNvSpPr>
          <p:nvPr/>
        </p:nvSpPr>
        <p:spPr>
          <a:xfrm>
            <a:off x="1547664" y="188640"/>
            <a:ext cx="6408712" cy="431800"/>
          </a:xfrm>
        </p:spPr>
        <p:txBody>
          <a:bodyPr anchor="ctr"/>
          <a:lstStyle>
            <a:lvl1pPr marL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400" b="0" i="0" u="none" kern="1200" baseline="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zh-CN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10.2 8237A</a:t>
            </a:r>
            <a:r>
              <a:rPr lang="zh-CN" altLang="en-US" sz="3200" b="1" dirty="0">
                <a:solidFill>
                  <a:srgbClr val="FF0000"/>
                </a:solidFill>
                <a:ea typeface="隶书" panose="02010509060101010101" pitchFamily="49" charset="-122"/>
              </a:rPr>
              <a:t>的编程和应用举例</a:t>
            </a:r>
          </a:p>
        </p:txBody>
      </p:sp>
    </p:spTree>
    <p:extLst>
      <p:ext uri="{BB962C8B-B14F-4D97-AF65-F5344CB8AC3E}">
        <p14:creationId xmlns:p14="http://schemas.microsoft.com/office/powerpoint/2010/main" val="3819876692"/>
      </p:ext>
    </p:extLst>
  </p:cSld>
  <p:clrMapOvr>
    <a:masterClrMapping/>
  </p:clrMapOvr>
</p:sld>
</file>

<file path=ppt/theme/theme1.xml><?xml version="1.0" encoding="utf-8"?>
<a:theme xmlns:a="http://schemas.openxmlformats.org/drawingml/2006/main" name="接口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99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89"/>
      </a:accent6>
      <a:hlink>
        <a:srgbClr val="FF6600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FF66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00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AAE2AA"/>
        </a:accent5>
        <a:accent6>
          <a:srgbClr val="2D2D89"/>
        </a:accent6>
        <a:hlink>
          <a:srgbClr val="FF66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89"/>
        </a:accent6>
        <a:hlink>
          <a:srgbClr val="FF6600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7"/>
      </a:accent6>
      <a:hlink>
        <a:srgbClr val="CCCCFF"/>
      </a:hlink>
      <a:folHlink>
        <a:srgbClr val="B2B2B2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接口</Template>
  <TotalTime>617</TotalTime>
  <Words>5730</Words>
  <Application>Microsoft Office PowerPoint</Application>
  <PresentationFormat>全屏显示(4:3)</PresentationFormat>
  <Paragraphs>346</Paragraphs>
  <Slides>53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53</vt:i4>
      </vt:variant>
    </vt:vector>
  </HeadingPairs>
  <TitlesOfParts>
    <vt:vector size="61" baseType="lpstr">
      <vt:lpstr>黑体</vt:lpstr>
      <vt:lpstr>隶书</vt:lpstr>
      <vt:lpstr>Arial</vt:lpstr>
      <vt:lpstr>Tahoma</vt:lpstr>
      <vt:lpstr>Times New Roman</vt:lpstr>
      <vt:lpstr>Wingdings</vt:lpstr>
      <vt:lpstr>Wingdings 3</vt:lpstr>
      <vt:lpstr>接口</vt:lpstr>
      <vt:lpstr>PowerPoint 演示文稿</vt:lpstr>
      <vt:lpstr>10.1 8237A 的组成与工作原理 </vt:lpstr>
      <vt:lpstr>10.1 8237A 的组成与工作原理 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Lenovo</dc:creator>
  <cp:lastModifiedBy>Joy Liu</cp:lastModifiedBy>
  <cp:revision>998</cp:revision>
  <dcterms:created xsi:type="dcterms:W3CDTF">2017-03-15T06:55:00Z</dcterms:created>
  <dcterms:modified xsi:type="dcterms:W3CDTF">2025-03-30T07:58:25Z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2052-12.1.0.19302</vt:lpwstr>
  </property>
  <property fmtid="{D5CDD505-2E9C-101B-9397-08002B2CF9AE}" pid="3" name="ICV">
    <vt:lpwstr>1E7FCFA3F904478C86AAF49654C4A8BB_12</vt:lpwstr>
  </property>
</Properties>
</file>