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418" r:id="rId2"/>
    <p:sldId id="368" r:id="rId3"/>
    <p:sldId id="459" r:id="rId4"/>
    <p:sldId id="460" r:id="rId5"/>
    <p:sldId id="461" r:id="rId6"/>
    <p:sldId id="462" r:id="rId7"/>
    <p:sldId id="464" r:id="rId8"/>
    <p:sldId id="463" r:id="rId9"/>
    <p:sldId id="465" r:id="rId10"/>
    <p:sldId id="422" r:id="rId11"/>
    <p:sldId id="423" r:id="rId12"/>
    <p:sldId id="466" r:id="rId13"/>
    <p:sldId id="467" r:id="rId14"/>
    <p:sldId id="468" r:id="rId15"/>
    <p:sldId id="469" r:id="rId16"/>
    <p:sldId id="470" r:id="rId17"/>
    <p:sldId id="471" r:id="rId18"/>
    <p:sldId id="472" r:id="rId19"/>
    <p:sldId id="473" r:id="rId20"/>
    <p:sldId id="474" r:id="rId21"/>
    <p:sldId id="475" r:id="rId22"/>
    <p:sldId id="476" r:id="rId23"/>
    <p:sldId id="477" r:id="rId24"/>
    <p:sldId id="488" r:id="rId25"/>
    <p:sldId id="478" r:id="rId26"/>
    <p:sldId id="489" r:id="rId27"/>
    <p:sldId id="479" r:id="rId28"/>
    <p:sldId id="490" r:id="rId29"/>
    <p:sldId id="480" r:id="rId30"/>
    <p:sldId id="481" r:id="rId31"/>
    <p:sldId id="482" r:id="rId32"/>
    <p:sldId id="483" r:id="rId33"/>
    <p:sldId id="484" r:id="rId34"/>
    <p:sldId id="486" r:id="rId35"/>
  </p:sldIdLst>
  <p:sldSz cx="9144000" cy="6858000" type="screen4x3"/>
  <p:notesSz cx="6858000" cy="9144000"/>
  <p:defaultTextStyle>
    <a:defPPr>
      <a:defRPr lang="en-US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000099"/>
    <a:srgbClr val="CC0066"/>
    <a:srgbClr val="990099"/>
    <a:srgbClr val="CC0099"/>
    <a:srgbClr val="FF3399"/>
    <a:srgbClr val="FF66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83"/>
    <p:restoredTop sz="94603"/>
  </p:normalViewPr>
  <p:slideViewPr>
    <p:cSldViewPr showGuides="1">
      <p:cViewPr varScale="1">
        <p:scale>
          <a:sx n="80" d="100"/>
          <a:sy n="80" d="100"/>
        </p:scale>
        <p:origin x="1555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页眉占位符 2252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22531" name="日期占位符 22530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/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22532" name="幻灯片图像占位符 2253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2533" name="文本占位符 22532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534" name="页脚占位符 22533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22535" name="灯片编号占位符 22534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‹#›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2681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fld id="{BB962C8B-B14F-4D97-AF65-F5344CB8AC3E}" type="datetime1">
              <a:rPr lang="zh-CN" altLang="en-US" dirty="0"/>
              <a:t>2025/3/9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标题 21094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10947" name="文本占位符 21094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0948" name="日期占位符 21094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>
                <a:latin typeface="Arial" panose="020B0604020202020204" pitchFamily="34" charset="0"/>
              </a:defRPr>
            </a:lvl1pPr>
          </a:lstStyle>
          <a:p>
            <a:pPr lvl="0">
              <a:buClrTx/>
            </a:pPr>
            <a:fld id="{BB962C8B-B14F-4D97-AF65-F5344CB8AC3E}" type="datetime1">
              <a:rPr lang="zh-CN" altLang="en-US" dirty="0"/>
              <a:t>2025/3/9</a:t>
            </a:fld>
            <a:endParaRPr lang="zh-CN" altLang="en-US" dirty="0"/>
          </a:p>
        </p:txBody>
      </p:sp>
      <p:sp>
        <p:nvSpPr>
          <p:cNvPr id="210949" name="页脚占位符 21094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 lvl="0">
              <a:buClrTx/>
            </a:pPr>
            <a:endParaRPr lang="zh-CN" altLang="en-US" dirty="0"/>
          </a:p>
        </p:txBody>
      </p:sp>
      <p:sp>
        <p:nvSpPr>
          <p:cNvPr id="210950" name="灯片编号占位符 21094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  <p:sp>
        <p:nvSpPr>
          <p:cNvPr id="210954" name="直接连接符 210953"/>
          <p:cNvSpPr/>
          <p:nvPr userDrawn="1"/>
        </p:nvSpPr>
        <p:spPr>
          <a:xfrm>
            <a:off x="179388" y="765175"/>
            <a:ext cx="8763000" cy="0"/>
          </a:xfrm>
          <a:prstGeom prst="line">
            <a:avLst/>
          </a:prstGeom>
          <a:ln w="539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</p:sp>
      <p:pic>
        <p:nvPicPr>
          <p:cNvPr id="210958" name="图片 210957" descr="上一页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229225" y="6364288"/>
            <a:ext cx="1039813" cy="520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0959" name="图片 210958" descr="退出">
            <a:hlinkClick r:id="" action="ppaction://hlinkshowjump?jump=endshow"/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740650" y="6364288"/>
            <a:ext cx="1039813" cy="520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0960" name="图片 210959" descr="下一页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6516688" y="6364288"/>
            <a:ext cx="1039812" cy="520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Object 18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"/>
            <a:ext cx="827584" cy="765103"/>
          </a:xfrm>
          <a:prstGeom prst="rect">
            <a:avLst/>
          </a:prstGeom>
          <a:solidFill>
            <a:srgbClr val="458F8F"/>
          </a:solidFill>
          <a:ln w="9525" cmpd="sng">
            <a:solidFill>
              <a:srgbClr val="2B166E"/>
            </a:solidFill>
            <a:miter lim="800000"/>
            <a:headEnd/>
            <a:tailEnd/>
          </a:ln>
        </p:spPr>
      </p:pic>
      <p:pic>
        <p:nvPicPr>
          <p:cNvPr id="13" name="Object 19"/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690" y="72"/>
            <a:ext cx="773982" cy="765101"/>
          </a:xfrm>
          <a:prstGeom prst="rect">
            <a:avLst/>
          </a:prstGeom>
          <a:solidFill>
            <a:srgbClr val="458F8F"/>
          </a:solidFill>
          <a:ln w="9525" cmpd="sng">
            <a:solidFill>
              <a:srgbClr val="2B166E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4" name="矩形 215043"/>
          <p:cNvSpPr/>
          <p:nvPr/>
        </p:nvSpPr>
        <p:spPr>
          <a:xfrm>
            <a:off x="1116013" y="71438"/>
            <a:ext cx="7056437" cy="620712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4000" b="1" dirty="0">
                <a:solidFill>
                  <a:schemeClr val="tx1"/>
                </a:solidFill>
              </a:rPr>
              <a:t>第</a:t>
            </a:r>
            <a:r>
              <a:rPr lang="en-US" altLang="zh-CN" sz="4000" b="1" dirty="0">
                <a:solidFill>
                  <a:schemeClr val="tx1"/>
                </a:solidFill>
              </a:rPr>
              <a:t>7</a:t>
            </a:r>
            <a:r>
              <a:rPr lang="zh-CN" altLang="en-US" sz="4000" b="1" dirty="0">
                <a:solidFill>
                  <a:schemeClr val="tx1"/>
                </a:solidFill>
              </a:rPr>
              <a:t>章  </a:t>
            </a:r>
            <a:r>
              <a:rPr lang="zh-CN" altLang="en-US" sz="4000" dirty="0"/>
              <a:t>输入</a:t>
            </a:r>
            <a:r>
              <a:rPr lang="en-US" altLang="zh-CN" sz="4000" dirty="0"/>
              <a:t>/</a:t>
            </a:r>
            <a:r>
              <a:rPr lang="zh-CN" altLang="en-US" sz="4000" dirty="0"/>
              <a:t>输出技术</a:t>
            </a:r>
            <a:endParaRPr lang="zh-CN" altLang="en-US" sz="4000" b="1" dirty="0"/>
          </a:p>
        </p:txBody>
      </p:sp>
      <p:sp>
        <p:nvSpPr>
          <p:cNvPr id="215045" name="矩形 215044"/>
          <p:cNvSpPr/>
          <p:nvPr/>
        </p:nvSpPr>
        <p:spPr>
          <a:xfrm>
            <a:off x="1331913" y="2347913"/>
            <a:ext cx="6769100" cy="1873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>
              <a:buNone/>
              <a:defRPr sz="2800" kern="1200"/>
            </a:lvl2pPr>
            <a:lvl3pPr marL="914400" lvl="2" indent="0" algn="ctr">
              <a:buNone/>
              <a:defRPr sz="2400" kern="1200"/>
            </a:lvl3pPr>
            <a:lvl4pPr marL="1371600" lvl="3" indent="0" algn="ctr">
              <a:buNone/>
              <a:defRPr sz="2000" kern="1200"/>
            </a:lvl4pPr>
            <a:lvl5pPr marL="1828800" lvl="4" indent="0" algn="ctr">
              <a:buNone/>
              <a:defRPr kern="1200"/>
            </a:lvl5pPr>
          </a:lstStyle>
          <a:p>
            <a:pPr lvl="0" algn="l"/>
            <a:r>
              <a:rPr lang="en-US" altLang="en-US" b="1" dirty="0"/>
              <a:t>7.1  I/</a:t>
            </a:r>
            <a:r>
              <a:rPr lang="en-US" altLang="en-US" b="1" dirty="0" err="1"/>
              <a:t>O接口概述</a:t>
            </a:r>
            <a:endParaRPr lang="zh-CN" altLang="en-US" b="1" dirty="0"/>
          </a:p>
          <a:p>
            <a:pPr lvl="0" algn="l"/>
            <a:r>
              <a:rPr lang="en-US" altLang="en-US" b="1" dirty="0"/>
              <a:t>7.2  I/</a:t>
            </a:r>
            <a:r>
              <a:rPr lang="en-US" altLang="en-US" b="1" dirty="0" err="1"/>
              <a:t>O端口</a:t>
            </a:r>
            <a:endParaRPr lang="zh-CN" altLang="en-US" b="1" dirty="0"/>
          </a:p>
          <a:p>
            <a:pPr lvl="0" algn="l"/>
            <a:r>
              <a:rPr lang="en-US" altLang="en-US" b="1" dirty="0"/>
              <a:t>7.3  </a:t>
            </a:r>
            <a:r>
              <a:rPr lang="en-US" altLang="en-US" b="1" dirty="0" err="1"/>
              <a:t>CPU与外设间的数据传送方式</a:t>
            </a:r>
            <a:endParaRPr lang="zh-CN" altLang="en-US" b="1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8" name="标题 154627"/>
          <p:cNvSpPr>
            <a:spLocks noGrp="1"/>
          </p:cNvSpPr>
          <p:nvPr>
            <p:ph type="title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7.1  I/O接口概述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154630" name="文本框 154629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4631" name="文本框 154630"/>
          <p:cNvSpPr txBox="1"/>
          <p:nvPr/>
        </p:nvSpPr>
        <p:spPr>
          <a:xfrm>
            <a:off x="250825" y="908050"/>
            <a:ext cx="8713788" cy="384720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一、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接口及接口技术的概念</a:t>
            </a:r>
          </a:p>
          <a:p>
            <a:pPr lvl="0" eaLnBrk="0" hangingPunct="0"/>
            <a:endParaRPr lang="en-US" altLang="zh-CN" sz="2400" b="1" dirty="0">
              <a:solidFill>
                <a:srgbClr val="FF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接口：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指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和存储器、外部设备或者两种外部设备之间，或者两种机器之间通过系统总线进行连接的逻辑部件（或电路），是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与外界进行信息交换的中转站。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接口技术：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是专门研究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与外部设备之间的数据传送方式、接口电路工作原理和使用方法的一门技术，其采用硬件与软件相结合的方法，研究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如何与外部设备进行最佳耦合，以便在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与外部设备之间实现高效、可靠的信息交换。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标题 263169"/>
          <p:cNvSpPr>
            <a:spLocks noGrp="1"/>
          </p:cNvSpPr>
          <p:nvPr>
            <p:ph type="title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7.1  I/O接口概述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63171" name="文本框 263170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3172" name="文本框 263171"/>
          <p:cNvSpPr txBox="1"/>
          <p:nvPr/>
        </p:nvSpPr>
        <p:spPr>
          <a:xfrm>
            <a:off x="250825" y="908050"/>
            <a:ext cx="8713788" cy="30469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与外部设备之间交换的信息类型：</a:t>
            </a:r>
            <a:endParaRPr lang="en-US" altLang="zh-CN" sz="2400" b="1" dirty="0">
              <a:solidFill>
                <a:srgbClr val="FF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endParaRPr lang="zh-CN" altLang="en-US" sz="2400" b="1" dirty="0">
              <a:solidFill>
                <a:srgbClr val="FF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数据信息  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是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与外部设备之间交换最多的一类信息，微机中的数据通常为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位、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位或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位。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状态信息  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反映当前外部设备的工作状态，是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与外部设备之间进行信息交换时的联络信号。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控制信息  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是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对外部设备发出的控制命令，以设置外部设备的工作方式等。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63174" name="图片 263173" descr="wps_clip_image-236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96" y="4293096"/>
            <a:ext cx="2447925" cy="177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标题 264193"/>
          <p:cNvSpPr>
            <a:spLocks noGrp="1"/>
          </p:cNvSpPr>
          <p:nvPr>
            <p:ph type="title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7.1  I/O接口概述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64195" name="文本框 264194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4196" name="文本框 264195"/>
          <p:cNvSpPr txBox="1"/>
          <p:nvPr/>
        </p:nvSpPr>
        <p:spPr>
          <a:xfrm>
            <a:off x="250825" y="908050"/>
            <a:ext cx="8713788" cy="427809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二、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接口的主要功能</a:t>
            </a: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endParaRPr lang="zh-CN" altLang="en-US" sz="2800" b="1" dirty="0">
              <a:solidFill>
                <a:srgbClr val="FF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地址译码或设备选择功能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微机系统中通常会有多个外部设备同时与主机相连，CPU</a:t>
            </a:r>
            <a:r>
              <a:rPr lang="en-US" altLang="zh-CN" sz="2400" b="1" dirty="0" err="1">
                <a:latin typeface="Arial" panose="020B0604020202020204" pitchFamily="34" charset="0"/>
              </a:rPr>
              <a:t>同一时刻只能与一个外部设备传送数据。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O接口电路通过地址译码选择相应设备，只有被选中的设备才能与CPU进行数据交换或通信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数据缓冲功能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    解决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CPU与外部设备间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速度不匹配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等问题。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接口电路中一般都设有数据寄存器或锁存器来缓冲数据信息，同时还提供“准备好”、“忙”、“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闲”等状态信号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标题 265217"/>
          <p:cNvSpPr>
            <a:spLocks noGrp="1"/>
          </p:cNvSpPr>
          <p:nvPr>
            <p:ph type="title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7.1  I/O接口概述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65219" name="文本框 265218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5220" name="文本框 265219"/>
          <p:cNvSpPr txBox="1"/>
          <p:nvPr/>
        </p:nvSpPr>
        <p:spPr>
          <a:xfrm>
            <a:off x="250825" y="908050"/>
            <a:ext cx="8713788" cy="34163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输入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输出功能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外部设备通过I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O接口电路实现与CPU之间的信息交换，CPU通过向I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O接口写入命令控制其工作方式，通过读入命令可以随时监测、管理I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O接口和外部设备的工作状态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  <a:p>
            <a:pPr lvl="0" eaLnBrk="0" hangingPunct="0"/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Arial" panose="020B0604020202020204" pitchFamily="34" charset="0"/>
              </a:rPr>
              <a:t>）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信息转换功能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  外部设备所需信息格式往往与CPU的不一致，需要接口电路进行相应的信息格式变换。如正负逻辑关系转换、时序配合上的转换、电平匹配转换、串-并转换等。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标题 266241"/>
          <p:cNvSpPr>
            <a:spLocks noGrp="1"/>
          </p:cNvSpPr>
          <p:nvPr>
            <p:ph type="title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7.1  I/O接口概述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66243" name="文本框 266242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244" name="文本框 266243"/>
          <p:cNvSpPr txBox="1"/>
          <p:nvPr/>
        </p:nvSpPr>
        <p:spPr>
          <a:xfrm>
            <a:off x="250825" y="764704"/>
            <a:ext cx="6049367" cy="163121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/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三、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接口的基本结构与分类</a:t>
            </a:r>
          </a:p>
          <a:p>
            <a:pPr lvl="0" eaLnBrk="0" hangingPunct="0"/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．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接口的基本结构</a:t>
            </a: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由端口寄存器和控制逻辑两大部分组成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66246" name="图片 266245" descr="wps_clip_image-176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50" y="2492896"/>
            <a:ext cx="5100638" cy="3651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标题 268289"/>
          <p:cNvSpPr>
            <a:spLocks noGrp="1"/>
          </p:cNvSpPr>
          <p:nvPr>
            <p:ph type="title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7.1  I/O接口概述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68291" name="文本框 268290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8292" name="文本框 268291"/>
          <p:cNvSpPr txBox="1"/>
          <p:nvPr/>
        </p:nvSpPr>
        <p:spPr>
          <a:xfrm>
            <a:off x="4717554" y="797510"/>
            <a:ext cx="4176588" cy="526297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）端口寄存器     </a:t>
            </a: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  数据缓冲寄存器：分为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输入缓冲寄存器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输出缓冲寄存器，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在高速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与低速外部设备之间起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协调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缓冲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作用。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  控制寄存器：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只能写不能读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，存放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向外部设备发送的控制命令和工作方式命令字等。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  状态寄存器：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只能读而不能写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，存放外部设备当前的工作状态信息，供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查询。</a:t>
            </a:r>
          </a:p>
        </p:txBody>
      </p:sp>
      <p:pic>
        <p:nvPicPr>
          <p:cNvPr id="5" name="图片 4" descr="wps_clip_image-17633">
            <a:extLst>
              <a:ext uri="{FF2B5EF4-FFF2-40B4-BE49-F238E27FC236}">
                <a16:creationId xmlns:a16="http://schemas.microsoft.com/office/drawing/2014/main" id="{0ED5D8E9-FB31-4F65-B9E4-8976CDF6E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94" y="1412875"/>
            <a:ext cx="4549375" cy="325663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标题 267265"/>
          <p:cNvSpPr>
            <a:spLocks noGrp="1"/>
          </p:cNvSpPr>
          <p:nvPr>
            <p:ph type="title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7.1  I/O接口概述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67267" name="文本框 267266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7268" name="文本框 267267"/>
          <p:cNvSpPr txBox="1"/>
          <p:nvPr/>
        </p:nvSpPr>
        <p:spPr>
          <a:xfrm>
            <a:off x="0" y="764704"/>
            <a:ext cx="6300192" cy="563231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）控制逻辑电路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数据总线缓冲器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：连接接口芯片内部的数据总线与系统总线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地址译码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：系统地址总线高位经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片外的地址译码器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译码后用来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选择接口芯片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，低位地址线在片内译码后选择接口芯片内部相应的端口寄存器，使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能够正确无误地与指定的外部设备完成相应的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操作。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内部控制逻辑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：接收来自系统的控制输入，产生接口电路内部的控制信号，实现系统控制总线与内部控制信号之间的转换。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联络控制逻辑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：接收来自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的有关控制信号，生成给外部设备的准备好信号和相应状态；接收外部设备的选通信号，产生相应状态标志和中断请求信号。</a:t>
            </a:r>
          </a:p>
        </p:txBody>
      </p:sp>
      <p:pic>
        <p:nvPicPr>
          <p:cNvPr id="5" name="图片 4" descr="wps_clip_image-17633">
            <a:extLst>
              <a:ext uri="{FF2B5EF4-FFF2-40B4-BE49-F238E27FC236}">
                <a16:creationId xmlns:a16="http://schemas.microsoft.com/office/drawing/2014/main" id="{8F7921F9-9488-4BCD-9088-18A3A1A73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664" y="3068960"/>
            <a:ext cx="3097014" cy="221697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标题 269313"/>
          <p:cNvSpPr>
            <a:spLocks noGrp="1"/>
          </p:cNvSpPr>
          <p:nvPr>
            <p:ph type="title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7.1  I/O接口概述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69315" name="文本框 269314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9316" name="文本框 269315"/>
          <p:cNvSpPr txBox="1"/>
          <p:nvPr/>
        </p:nvSpPr>
        <p:spPr>
          <a:xfrm>
            <a:off x="250825" y="908050"/>
            <a:ext cx="8713788" cy="3793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．接口分类</a:t>
            </a:r>
          </a:p>
          <a:p>
            <a:pPr lvl="0" eaLnBrk="0" hangingPunct="0">
              <a:lnSpc>
                <a:spcPts val="33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接口电路从不同角度分为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种：</a:t>
            </a:r>
          </a:p>
          <a:p>
            <a:pPr marL="342900" lvl="0" indent="-342900" eaLnBrk="0" hangingPunct="0">
              <a:lnSpc>
                <a:spcPts val="33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按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数据传送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方式，分为并行接口和串行接口；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0" hangingPunct="0">
              <a:lnSpc>
                <a:spcPts val="33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按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功能选择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的灵活性，分为可编程接口和不可编程接口；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0" hangingPunct="0">
              <a:lnSpc>
                <a:spcPts val="33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按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通用性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，分为通用接口和专用接口；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0" hangingPunct="0">
              <a:lnSpc>
                <a:spcPts val="33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按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数据控制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方式，分为程序型接口和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DMA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型接口。</a:t>
            </a:r>
          </a:p>
          <a:p>
            <a:pPr lvl="0" eaLnBrk="0" hangingPunct="0"/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>
              <a:lnSpc>
                <a:spcPts val="33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目前的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接口电路大多采用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大规模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超大规模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集成电路，并向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智能化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系列化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一体化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方向发展。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标题 220161"/>
          <p:cNvSpPr>
            <a:spLocks noGrp="1"/>
          </p:cNvSpPr>
          <p:nvPr>
            <p:ph type="title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7.2  I/O端口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20163" name="文本框 220162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0164" name="文本框 220163"/>
          <p:cNvSpPr txBox="1"/>
          <p:nvPr/>
        </p:nvSpPr>
        <p:spPr>
          <a:xfrm>
            <a:off x="107504" y="1092800"/>
            <a:ext cx="8856984" cy="304698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/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端口</a:t>
            </a:r>
            <a:r>
              <a:rPr lang="zh-CN" altLang="en-US" sz="2400" b="1" dirty="0">
                <a:latin typeface="Arial" panose="020B0604020202020204" pitchFamily="34" charset="0"/>
              </a:rPr>
              <a:t>：每个接口电路内部所含的寄存器称为</a:t>
            </a:r>
            <a:r>
              <a:rPr lang="en-US" altLang="zh-CN" sz="2400" b="1" dirty="0">
                <a:latin typeface="Arial" panose="020B0604020202020204" pitchFamily="34" charset="0"/>
              </a:rPr>
              <a:t>I/O</a:t>
            </a:r>
            <a:r>
              <a:rPr lang="zh-CN" altLang="en-US" sz="2400" b="1" dirty="0">
                <a:latin typeface="Arial" panose="020B0604020202020204" pitchFamily="34" charset="0"/>
              </a:rPr>
              <a:t>端口（</a:t>
            </a:r>
            <a:r>
              <a:rPr lang="en-US" altLang="zh-CN" sz="2400" b="1" dirty="0">
                <a:latin typeface="Arial" panose="020B0604020202020204" pitchFamily="34" charset="0"/>
              </a:rPr>
              <a:t>PORT</a:t>
            </a:r>
            <a:r>
              <a:rPr lang="zh-CN" altLang="en-US" sz="2400" b="1" dirty="0">
                <a:latin typeface="Arial" panose="020B0604020202020204" pitchFamily="34" charset="0"/>
              </a:rPr>
              <a:t>）。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Arial" panose="020B0604020202020204" pitchFamily="34" charset="0"/>
              </a:rPr>
              <a:t>每个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端口对应一个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I/O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端口地址</a:t>
            </a:r>
            <a:r>
              <a:rPr lang="zh-CN" altLang="en-US" sz="2400" b="1" dirty="0">
                <a:latin typeface="Arial" panose="020B0604020202020204" pitchFamily="34" charset="0"/>
              </a:rPr>
              <a:t>；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数据端口</a:t>
            </a:r>
            <a:r>
              <a:rPr lang="zh-CN" altLang="en-US" sz="2400" b="1" dirty="0">
                <a:latin typeface="Arial" panose="020B0604020202020204" pitchFamily="34" charset="0"/>
              </a:rPr>
              <a:t>：数据缓冲寄存器，用来存储</a:t>
            </a:r>
            <a:r>
              <a:rPr lang="en-US" altLang="zh-CN" sz="2400" b="1" dirty="0">
                <a:latin typeface="Arial" panose="020B0604020202020204" pitchFamily="34" charset="0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</a:rPr>
              <a:t>与外部设备之间传送的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数据信息</a:t>
            </a:r>
            <a:r>
              <a:rPr lang="zh-CN" altLang="en-US" sz="2400" b="1" dirty="0">
                <a:latin typeface="Arial" panose="020B0604020202020204" pitchFamily="34" charset="0"/>
              </a:rPr>
              <a:t>；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状态端口</a:t>
            </a:r>
            <a:r>
              <a:rPr lang="zh-CN" altLang="en-US" sz="2400" b="1" dirty="0">
                <a:latin typeface="Arial" panose="020B0604020202020204" pitchFamily="34" charset="0"/>
              </a:rPr>
              <a:t>：状态寄存器，用来存放外部设备或接口部件的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状态（准备就绪位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Ready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，忙碌位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Busy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，错误位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Error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）；</a:t>
            </a: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控制接口</a:t>
            </a:r>
            <a:r>
              <a:rPr lang="zh-CN" altLang="en-US" sz="2400" b="1" dirty="0">
                <a:latin typeface="Arial" panose="020B0604020202020204" pitchFamily="34" charset="0"/>
              </a:rPr>
              <a:t>：控制寄存器，用于存放</a:t>
            </a:r>
            <a:r>
              <a:rPr lang="en-US" altLang="zh-CN" sz="2400" b="1" dirty="0">
                <a:latin typeface="Arial" panose="020B0604020202020204" pitchFamily="34" charset="0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</a:rPr>
              <a:t>发出的命令，控制接口和外部设备的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动作</a:t>
            </a:r>
            <a:r>
              <a:rPr lang="zh-CN" altLang="en-US" sz="2400" b="1" dirty="0">
                <a:latin typeface="Arial" panose="020B0604020202020204" pitchFamily="34" charset="0"/>
              </a:rPr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标题 221185"/>
          <p:cNvSpPr>
            <a:spLocks noGrp="1"/>
          </p:cNvSpPr>
          <p:nvPr>
            <p:ph type="title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7.2  I/O端口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21187" name="文本框 221186"/>
          <p:cNvSpPr txBox="1"/>
          <p:nvPr/>
        </p:nvSpPr>
        <p:spPr>
          <a:xfrm>
            <a:off x="8244408" y="1340768"/>
            <a:ext cx="827584" cy="2862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00000H</a:t>
            </a:r>
            <a:endParaRPr lang="zh-CN" altLang="en-US" sz="1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1188" name="文本框 221187"/>
          <p:cNvSpPr txBox="1"/>
          <p:nvPr/>
        </p:nvSpPr>
        <p:spPr>
          <a:xfrm>
            <a:off x="0" y="908050"/>
            <a:ext cx="7092281" cy="495520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/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一、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端口的编址方式</a:t>
            </a: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．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统一编址 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将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端口地址与存储单元一起编址。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端口占用部分内存地址空间，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端口可看作是存储器的一部分。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端口和存储单元具有不同的地址编号，存储器使用的指令都可以用于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端口，无需设置专门的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指令，但一条指令到底访问的是存储器还是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端口是由其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具体的地址编号决定</a:t>
            </a:r>
            <a:r>
              <a:rPr lang="zh-CN" altLang="en-US" sz="2400" b="1" dirty="0">
                <a:latin typeface="Arial" panose="020B0604020202020204" pitchFamily="34" charset="0"/>
              </a:rPr>
              <a:t>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     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优点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：指令类型多，功能齐全。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缺点：</a:t>
            </a:r>
            <a:endParaRPr lang="en-US" altLang="zh-CN" sz="2400" b="1" dirty="0">
              <a:solidFill>
                <a:srgbClr val="FF00FF"/>
              </a:solidFill>
              <a:latin typeface="Arial" panose="020B0604020202020204" pitchFamily="34" charset="0"/>
            </a:endParaRP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   存储器容量减少；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   因而执行时间较长；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   不易于程序的阅读和理解。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013FB4-354C-4C58-9398-E1392BE769AF}"/>
              </a:ext>
            </a:extLst>
          </p:cNvPr>
          <p:cNvSpPr/>
          <p:nvPr/>
        </p:nvSpPr>
        <p:spPr>
          <a:xfrm>
            <a:off x="7020272" y="1412875"/>
            <a:ext cx="1296144" cy="23761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内存储器地址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76AB97-B920-4AFF-BB71-35360728756A}"/>
              </a:ext>
            </a:extLst>
          </p:cNvPr>
          <p:cNvSpPr/>
          <p:nvPr/>
        </p:nvSpPr>
        <p:spPr>
          <a:xfrm>
            <a:off x="7020272" y="3789041"/>
            <a:ext cx="1296144" cy="9361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I/O</a:t>
            </a:r>
            <a:r>
              <a:rPr lang="zh-CN" altLang="en-US" dirty="0">
                <a:solidFill>
                  <a:schemeClr val="tx1"/>
                </a:solidFill>
              </a:rPr>
              <a:t>端口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地址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D27B31-2B55-4123-9E1B-8D0A645C7B65}"/>
              </a:ext>
            </a:extLst>
          </p:cNvPr>
          <p:cNvSpPr txBox="1"/>
          <p:nvPr/>
        </p:nvSpPr>
        <p:spPr>
          <a:xfrm>
            <a:off x="8251837" y="3570317"/>
            <a:ext cx="827584" cy="2862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Tahoma" panose="020B0604030504040204" pitchFamily="34" charset="0"/>
              </a:rPr>
              <a:t>EFFFF</a:t>
            </a:r>
            <a:r>
              <a:rPr lang="en-US" altLang="zh-CN" sz="1400" dirty="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H</a:t>
            </a:r>
            <a:endParaRPr lang="zh-CN" altLang="en-US" sz="1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DBAB63-DCC3-4C82-B31A-7D212F0269E0}"/>
              </a:ext>
            </a:extLst>
          </p:cNvPr>
          <p:cNvSpPr txBox="1"/>
          <p:nvPr/>
        </p:nvSpPr>
        <p:spPr>
          <a:xfrm>
            <a:off x="8249877" y="3749975"/>
            <a:ext cx="827584" cy="2862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Tahoma" panose="020B0604030504040204" pitchFamily="34" charset="0"/>
              </a:rPr>
              <a:t>F0000</a:t>
            </a:r>
            <a:r>
              <a:rPr lang="en-US" altLang="zh-CN" sz="1400" dirty="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H</a:t>
            </a:r>
            <a:endParaRPr lang="zh-CN" altLang="en-US" sz="1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E5806AD-C708-4B06-92BF-938435C996DC}"/>
              </a:ext>
            </a:extLst>
          </p:cNvPr>
          <p:cNvSpPr txBox="1"/>
          <p:nvPr/>
        </p:nvSpPr>
        <p:spPr>
          <a:xfrm>
            <a:off x="8251837" y="4500245"/>
            <a:ext cx="827584" cy="2862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Tahoma" panose="020B0604030504040204" pitchFamily="34" charset="0"/>
              </a:rPr>
              <a:t>FFFFF</a:t>
            </a:r>
            <a:r>
              <a:rPr lang="en-US" altLang="zh-CN" sz="1400" dirty="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H</a:t>
            </a:r>
            <a:endParaRPr lang="zh-CN" altLang="en-US" sz="1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标题 270337"/>
          <p:cNvSpPr>
            <a:spLocks noGrp="1"/>
          </p:cNvSpPr>
          <p:nvPr>
            <p:ph type="title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7.2  I/O端口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70339" name="文本框 270338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0340" name="文本框 270339"/>
          <p:cNvSpPr txBox="1"/>
          <p:nvPr/>
        </p:nvSpPr>
        <p:spPr>
          <a:xfrm>
            <a:off x="250825" y="908050"/>
            <a:ext cx="8642350" cy="34163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</a:rPr>
              <a:t>2．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独立编址</a:t>
            </a:r>
            <a:r>
              <a:rPr lang="en-US" altLang="zh-CN" sz="2400" b="1" dirty="0">
                <a:latin typeface="Arial" panose="020B0604020202020204" pitchFamily="34" charset="0"/>
              </a:rPr>
              <a:t>  I/</a:t>
            </a:r>
            <a:r>
              <a:rPr lang="en-US" altLang="zh-CN" sz="2400" b="1" dirty="0" err="1">
                <a:latin typeface="Arial" panose="020B0604020202020204" pitchFamily="34" charset="0"/>
              </a:rPr>
              <a:t>O端口地址和存储单元地址各自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</a:rPr>
              <a:t>独立</a:t>
            </a:r>
            <a:r>
              <a:rPr lang="zh-CN" altLang="en-US" sz="2400" b="1" dirty="0">
                <a:latin typeface="Arial" panose="020B0604020202020204" pitchFamily="34" charset="0"/>
              </a:rPr>
              <a:t>。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</a:rPr>
              <a:t>    I/O端口采用8位/16位地址编址，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端口地址范围</a:t>
            </a:r>
            <a:r>
              <a:rPr lang="en-US" altLang="zh-CN" sz="2400" b="1" dirty="0">
                <a:latin typeface="Arial" panose="020B0604020202020204" pitchFamily="34" charset="0"/>
              </a:rPr>
              <a:t>为0～255（00H～FFH）/0～65535（0000H～FFFFH），I/</a:t>
            </a:r>
            <a:r>
              <a:rPr lang="en-US" altLang="zh-CN" sz="2400" b="1" dirty="0" err="1">
                <a:latin typeface="Arial" panose="020B0604020202020204" pitchFamily="34" charset="0"/>
              </a:rPr>
              <a:t>O操作使用输入</a:t>
            </a:r>
            <a:r>
              <a:rPr lang="en-US" altLang="zh-CN" sz="2400" b="1" dirty="0">
                <a:latin typeface="Arial" panose="020B0604020202020204" pitchFamily="34" charset="0"/>
              </a:rPr>
              <a:t>/</a:t>
            </a:r>
            <a:r>
              <a:rPr lang="en-US" altLang="zh-CN" sz="2400" b="1" dirty="0" err="1">
                <a:latin typeface="Arial" panose="020B0604020202020204" pitchFamily="34" charset="0"/>
              </a:rPr>
              <a:t>输出指令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</a:rPr>
              <a:t>IN</a:t>
            </a:r>
            <a:r>
              <a:rPr lang="en-US" altLang="zh-CN" sz="2400" b="1" dirty="0" err="1">
                <a:latin typeface="Arial" panose="020B0604020202020204" pitchFamily="34" charset="0"/>
              </a:rPr>
              <a:t>和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</a:rPr>
              <a:t>OUT</a:t>
            </a:r>
            <a:r>
              <a:rPr lang="en-US" altLang="zh-CN" sz="2400" b="1" dirty="0">
                <a:latin typeface="Arial" panose="020B0604020202020204" pitchFamily="34" charset="0"/>
              </a:rPr>
              <a:t>。</a:t>
            </a: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</a:rPr>
              <a:t>    </a:t>
            </a:r>
            <a:r>
              <a:rPr lang="en-US" altLang="zh-CN" sz="2400" b="1" dirty="0" err="1">
                <a:solidFill>
                  <a:srgbClr val="FF00FF"/>
                </a:solidFill>
                <a:latin typeface="Arial" panose="020B0604020202020204" pitchFamily="34" charset="0"/>
              </a:rPr>
              <a:t>优点:</a:t>
            </a:r>
            <a:r>
              <a:rPr lang="en-US" altLang="zh-CN" sz="2400" b="1" dirty="0" err="1">
                <a:latin typeface="Arial" panose="020B0604020202020204" pitchFamily="34" charset="0"/>
              </a:rPr>
              <a:t>I</a:t>
            </a:r>
            <a:r>
              <a:rPr lang="en-US" altLang="zh-CN" sz="2400" b="1" dirty="0">
                <a:latin typeface="Arial" panose="020B0604020202020204" pitchFamily="34" charset="0"/>
              </a:rPr>
              <a:t>/</a:t>
            </a:r>
            <a:r>
              <a:rPr lang="en-US" altLang="zh-CN" sz="2400" b="1" dirty="0" err="1">
                <a:latin typeface="Arial" panose="020B0604020202020204" pitchFamily="34" charset="0"/>
              </a:rPr>
              <a:t>O端口地址不占用存储器空间，有专门的I</a:t>
            </a:r>
            <a:r>
              <a:rPr lang="en-US" altLang="zh-CN" sz="2400" b="1" dirty="0">
                <a:latin typeface="Arial" panose="020B0604020202020204" pitchFamily="34" charset="0"/>
              </a:rPr>
              <a:t>/</a:t>
            </a:r>
            <a:r>
              <a:rPr lang="en-US" altLang="zh-CN" sz="2400" b="1" dirty="0" err="1">
                <a:latin typeface="Arial" panose="020B0604020202020204" pitchFamily="34" charset="0"/>
              </a:rPr>
              <a:t>O指令，I</a:t>
            </a:r>
            <a:r>
              <a:rPr lang="en-US" altLang="zh-CN" sz="2400" b="1" dirty="0">
                <a:latin typeface="Arial" panose="020B0604020202020204" pitchFamily="34" charset="0"/>
              </a:rPr>
              <a:t>/</a:t>
            </a:r>
            <a:r>
              <a:rPr lang="en-US" altLang="zh-CN" sz="2400" b="1" dirty="0" err="1">
                <a:latin typeface="Arial" panose="020B0604020202020204" pitchFamily="34" charset="0"/>
              </a:rPr>
              <a:t>O指令短，执行速度快</a:t>
            </a:r>
            <a:r>
              <a:rPr lang="zh-CN" altLang="en-US" sz="2400" b="1" dirty="0">
                <a:latin typeface="Arial" panose="020B0604020202020204" pitchFamily="34" charset="0"/>
              </a:rPr>
              <a:t>；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</a:rPr>
              <a:t>      I/</a:t>
            </a:r>
            <a:r>
              <a:rPr lang="en-US" altLang="zh-CN" sz="2400" b="1" dirty="0" err="1">
                <a:latin typeface="Arial" panose="020B0604020202020204" pitchFamily="34" charset="0"/>
              </a:rPr>
              <a:t>O指令与存储器访问指令区别明显，便于程序阅读和理解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     </a:t>
            </a:r>
            <a:r>
              <a:rPr lang="en-US" altLang="zh-CN" sz="2400" b="1" dirty="0" err="1">
                <a:solidFill>
                  <a:srgbClr val="FF00FF"/>
                </a:solidFill>
                <a:latin typeface="Arial" panose="020B0604020202020204" pitchFamily="34" charset="0"/>
              </a:rPr>
              <a:t>缺点</a:t>
            </a:r>
            <a:r>
              <a:rPr lang="zh-CN" altLang="en-US" sz="2400" b="1" dirty="0">
                <a:latin typeface="Arial" panose="020B0604020202020204" pitchFamily="34" charset="0"/>
              </a:rPr>
              <a:t>：</a:t>
            </a:r>
            <a:r>
              <a:rPr lang="en-US" altLang="zh-CN" sz="2400" b="1" dirty="0" err="1">
                <a:latin typeface="Arial" panose="020B0604020202020204" pitchFamily="34" charset="0"/>
              </a:rPr>
              <a:t>访问I</a:t>
            </a:r>
            <a:r>
              <a:rPr lang="en-US" altLang="zh-CN" sz="2400" b="1" dirty="0">
                <a:latin typeface="Arial" panose="020B0604020202020204" pitchFamily="34" charset="0"/>
              </a:rPr>
              <a:t>/</a:t>
            </a:r>
            <a:r>
              <a:rPr lang="en-US" altLang="zh-CN" sz="2400" b="1" dirty="0" err="1">
                <a:latin typeface="Arial" panose="020B0604020202020204" pitchFamily="34" charset="0"/>
              </a:rPr>
              <a:t>O端口的指令功能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</a:rPr>
              <a:t>较弱</a:t>
            </a:r>
            <a:r>
              <a:rPr lang="en-US" altLang="zh-CN" sz="2400" b="1" dirty="0" err="1">
                <a:latin typeface="Arial" panose="020B0604020202020204" pitchFamily="34" charset="0"/>
              </a:rPr>
              <a:t>，一些操作必须由I</a:t>
            </a:r>
            <a:r>
              <a:rPr lang="en-US" altLang="zh-CN" sz="2400" b="1" dirty="0">
                <a:latin typeface="Arial" panose="020B0604020202020204" pitchFamily="34" charset="0"/>
              </a:rPr>
              <a:t>/</a:t>
            </a:r>
            <a:r>
              <a:rPr lang="en-US" altLang="zh-CN" sz="2400" b="1" dirty="0" err="1">
                <a:latin typeface="Arial" panose="020B0604020202020204" pitchFamily="34" charset="0"/>
              </a:rPr>
              <a:t>O设备先输入到CPU的寄存器后才能进行</a:t>
            </a:r>
            <a:r>
              <a:rPr lang="en-US" altLang="zh-CN" sz="2400" b="1" dirty="0">
                <a:latin typeface="Arial" panose="020B0604020202020204" pitchFamily="34" charset="0"/>
              </a:rPr>
              <a:t>。 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CE6743-4A6F-4731-8741-EE8B2DACACC2}"/>
              </a:ext>
            </a:extLst>
          </p:cNvPr>
          <p:cNvSpPr txBox="1"/>
          <p:nvPr/>
        </p:nvSpPr>
        <p:spPr>
          <a:xfrm>
            <a:off x="2915816" y="4226430"/>
            <a:ext cx="827584" cy="2862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00000H</a:t>
            </a:r>
            <a:endParaRPr lang="zh-CN" altLang="en-US" sz="1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DDF52B-FA8B-4220-ABEA-0D9C96BEA03C}"/>
              </a:ext>
            </a:extLst>
          </p:cNvPr>
          <p:cNvSpPr/>
          <p:nvPr/>
        </p:nvSpPr>
        <p:spPr>
          <a:xfrm>
            <a:off x="1691680" y="4298537"/>
            <a:ext cx="1296144" cy="23761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内存储器地址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0963D4F-5D81-43F4-8259-560932EF73EE}"/>
              </a:ext>
            </a:extLst>
          </p:cNvPr>
          <p:cNvSpPr/>
          <p:nvPr/>
        </p:nvSpPr>
        <p:spPr>
          <a:xfrm>
            <a:off x="3923928" y="4298537"/>
            <a:ext cx="1296144" cy="9361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I/O</a:t>
            </a:r>
            <a:r>
              <a:rPr lang="zh-CN" altLang="en-US" dirty="0">
                <a:solidFill>
                  <a:schemeClr val="tx1"/>
                </a:solidFill>
              </a:rPr>
              <a:t>端口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地址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6A97C64-47F8-4A19-8A59-13491CC83DBF}"/>
              </a:ext>
            </a:extLst>
          </p:cNvPr>
          <p:cNvSpPr txBox="1"/>
          <p:nvPr/>
        </p:nvSpPr>
        <p:spPr>
          <a:xfrm>
            <a:off x="2923245" y="6455979"/>
            <a:ext cx="827584" cy="2862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Tahoma" panose="020B0604030504040204" pitchFamily="34" charset="0"/>
              </a:rPr>
              <a:t>FFFFF</a:t>
            </a:r>
            <a:r>
              <a:rPr lang="en-US" altLang="zh-CN" sz="1400" dirty="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H</a:t>
            </a:r>
            <a:endParaRPr lang="zh-CN" altLang="en-US" sz="1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7C7AB40-0A0D-4CC3-AEF6-487928E3B52C}"/>
              </a:ext>
            </a:extLst>
          </p:cNvPr>
          <p:cNvSpPr txBox="1"/>
          <p:nvPr/>
        </p:nvSpPr>
        <p:spPr>
          <a:xfrm>
            <a:off x="5150743" y="5053426"/>
            <a:ext cx="827584" cy="2862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Tahoma" panose="020B0604030504040204" pitchFamily="34" charset="0"/>
              </a:rPr>
              <a:t>FFFF</a:t>
            </a:r>
            <a:r>
              <a:rPr lang="en-US" altLang="zh-CN" sz="1400" dirty="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H</a:t>
            </a:r>
            <a:endParaRPr lang="zh-CN" altLang="en-US" sz="1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DC8D4EA-2505-4489-BD2A-0F90526E3743}"/>
              </a:ext>
            </a:extLst>
          </p:cNvPr>
          <p:cNvSpPr txBox="1"/>
          <p:nvPr/>
        </p:nvSpPr>
        <p:spPr>
          <a:xfrm>
            <a:off x="5139332" y="4245262"/>
            <a:ext cx="827584" cy="2862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0000H</a:t>
            </a:r>
            <a:endParaRPr lang="zh-CN" altLang="en-US" sz="1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标题 271361"/>
          <p:cNvSpPr>
            <a:spLocks noGrp="1"/>
          </p:cNvSpPr>
          <p:nvPr>
            <p:ph type="title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7.2  I/O端口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71363" name="文本框 271362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1364" name="文本框 271363"/>
          <p:cNvSpPr txBox="1"/>
          <p:nvPr/>
        </p:nvSpPr>
        <p:spPr>
          <a:xfrm>
            <a:off x="250825" y="908050"/>
            <a:ext cx="8642350" cy="53245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二、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指令</a:t>
            </a:r>
          </a:p>
          <a:p>
            <a:pPr lvl="0" eaLnBrk="0" hangingPunct="0"/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．输入指令</a:t>
            </a:r>
          </a:p>
          <a:p>
            <a:pPr lvl="0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400" dirty="0">
                <a:latin typeface="Arial" panose="020B0604020202020204" pitchFamily="34" charset="0"/>
              </a:rPr>
              <a:t>IN  AL/AX,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</a:rPr>
              <a:t>PORT</a:t>
            </a:r>
            <a:r>
              <a:rPr lang="en-US" altLang="zh-CN" sz="2400" dirty="0">
                <a:latin typeface="Arial" panose="020B0604020202020204" pitchFamily="34" charset="0"/>
              </a:rPr>
              <a:t>         </a:t>
            </a:r>
            <a:r>
              <a:rPr lang="zh-CN" altLang="en-US" sz="2400" dirty="0">
                <a:latin typeface="Arial" panose="020B0604020202020204" pitchFamily="34" charset="0"/>
              </a:rPr>
              <a:t>；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直接寻址的输入指令</a:t>
            </a:r>
          </a:p>
          <a:p>
            <a:pPr lvl="0" eaLnBrk="0" hangingPunct="0"/>
            <a:r>
              <a:rPr lang="zh-CN" altLang="en-US" sz="2400" dirty="0">
                <a:latin typeface="Arial" panose="020B0604020202020204" pitchFamily="34" charset="0"/>
              </a:rPr>
              <a:t>     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功能：把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en-US" altLang="zh-CN" sz="2400" dirty="0">
                <a:latin typeface="Arial" panose="020B0604020202020204" pitchFamily="34" charset="0"/>
              </a:rPr>
              <a:t>/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位数据直接由输入端口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PORT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（地址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255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）输入到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AL/AX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寄存器中。例如：</a:t>
            </a:r>
          </a:p>
          <a:p>
            <a:pPr lvl="0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</a:rPr>
              <a:t>          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 AL,0DFH          ; 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从端口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0DFH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读一个字节到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</a:t>
            </a:r>
          </a:p>
          <a:p>
            <a:pPr lvl="0" eaLnBrk="0" hangingPunct="0"/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400" dirty="0">
                <a:latin typeface="Arial" panose="020B0604020202020204" pitchFamily="34" charset="0"/>
              </a:rPr>
              <a:t>IN  AL/AX,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</a:rPr>
              <a:t>DX</a:t>
            </a:r>
            <a:r>
              <a:rPr lang="en-US" altLang="zh-CN" sz="2400" dirty="0">
                <a:latin typeface="Arial" panose="020B0604020202020204" pitchFamily="34" charset="0"/>
              </a:rPr>
              <a:t>              </a:t>
            </a:r>
            <a:r>
              <a:rPr lang="zh-CN" altLang="en-US" sz="2400" dirty="0">
                <a:latin typeface="Arial" panose="020B0604020202020204" pitchFamily="34" charset="0"/>
              </a:rPr>
              <a:t>；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间接寻址的输入指令 </a:t>
            </a:r>
          </a:p>
          <a:p>
            <a:pPr lvl="0" eaLnBrk="0" hangingPunct="0"/>
            <a:r>
              <a:rPr lang="zh-CN" altLang="en-US" sz="2400" dirty="0">
                <a:latin typeface="Arial" panose="020B0604020202020204" pitchFamily="34" charset="0"/>
              </a:rPr>
              <a:t>        功能：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把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8/16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位数据由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DX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寄存器指定的端口地址输入到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AL/AX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寄存器中</a:t>
            </a:r>
            <a:r>
              <a:rPr lang="zh-CN" altLang="en-US" sz="2400" dirty="0">
                <a:latin typeface="Arial" panose="020B0604020202020204" pitchFamily="34" charset="0"/>
              </a:rPr>
              <a:t>。例如：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</a:p>
          <a:p>
            <a:pPr lvl="0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MOV DX,300H</a:t>
            </a:r>
          </a:p>
          <a:p>
            <a:pPr lvl="0" eaLnBrk="0" hangingPunct="0"/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IN AX,DX	    ; 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从端口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300H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读一个字到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AX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标题 272385"/>
          <p:cNvSpPr>
            <a:spLocks noGrp="1"/>
          </p:cNvSpPr>
          <p:nvPr>
            <p:ph type="title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7.2  I/O端口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72387" name="文本框 272386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2388" name="文本框 272387"/>
          <p:cNvSpPr txBox="1"/>
          <p:nvPr/>
        </p:nvSpPr>
        <p:spPr>
          <a:xfrm>
            <a:off x="250825" y="908050"/>
            <a:ext cx="8642350" cy="489364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．输出指令</a:t>
            </a:r>
          </a:p>
          <a:p>
            <a:pPr lvl="0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400" dirty="0">
                <a:latin typeface="Arial" panose="020B0604020202020204" pitchFamily="34" charset="0"/>
              </a:rPr>
              <a:t>OUT PORT,AL/AX           ;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直接寻址的输出指令</a:t>
            </a:r>
          </a:p>
          <a:p>
            <a:pPr lvl="0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zh-CN" altLang="en-US" sz="2400" dirty="0">
                <a:latin typeface="Arial" panose="020B0604020202020204" pitchFamily="34" charset="0"/>
              </a:rPr>
              <a:t>功能：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把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AL/AX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的数据直接输出到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PORT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指定的输出端口地址（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255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）。	例如：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 80H,AL	            ; 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把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</a:rPr>
              <a:t>内容输出到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</a:rPr>
              <a:t>80H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</a:rPr>
              <a:t>端口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</a:t>
            </a:r>
            <a:endParaRPr lang="en-US" altLang="zh-CN" sz="24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400" dirty="0">
                <a:latin typeface="Arial" panose="020B0604020202020204" pitchFamily="34" charset="0"/>
              </a:rPr>
              <a:t>OUT DX,AL/AX                ;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间接寻址的输出指令 </a:t>
            </a:r>
          </a:p>
          <a:p>
            <a:pPr lvl="0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zh-CN" altLang="en-US" sz="2400" dirty="0">
                <a:latin typeface="Arial" panose="020B0604020202020204" pitchFamily="34" charset="0"/>
              </a:rPr>
              <a:t>功能：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把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AL/AX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的数据送到由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DX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寄存器指定的输出端口</a:t>
            </a:r>
          </a:p>
          <a:p>
            <a:pPr lvl="0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	例如：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MOV DX,310H</a:t>
            </a:r>
          </a:p>
          <a:p>
            <a:pPr lvl="0" eaLnBrk="0" hangingPunct="0"/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OUT DX,AL                ; 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把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</a:rPr>
              <a:t>内容输出到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端口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310H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标题 273409"/>
          <p:cNvSpPr>
            <a:spLocks noGrp="1"/>
          </p:cNvSpPr>
          <p:nvPr>
            <p:ph type="title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7.2  I/O端口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73411" name="文本框 273410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3412" name="文本框 273411"/>
          <p:cNvSpPr txBox="1"/>
          <p:nvPr/>
        </p:nvSpPr>
        <p:spPr>
          <a:xfrm>
            <a:off x="250825" y="764704"/>
            <a:ext cx="8642350" cy="2369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三、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地址分配</a:t>
            </a:r>
          </a:p>
          <a:p>
            <a:pPr lvl="0" eaLnBrk="0" hangingPunct="0">
              <a:buClr>
                <a:srgbClr val="0000FF"/>
              </a:buClr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地址</a:t>
            </a:r>
            <a:r>
              <a:rPr lang="en-US" altLang="zh-CN" sz="2400" dirty="0" err="1">
                <a:latin typeface="Arial" panose="020B0604020202020204" pitchFamily="34" charset="0"/>
                <a:ea typeface="宋体" panose="02010600030101010101" pitchFamily="2" charset="-122"/>
              </a:rPr>
              <a:t>空间分</a:t>
            </a:r>
            <a:r>
              <a:rPr lang="zh-CN" altLang="en-US" sz="2400" dirty="0">
                <a:latin typeface="Arial" panose="020B0604020202020204" pitchFamily="34" charset="0"/>
              </a:rPr>
              <a:t>为</a:t>
            </a:r>
            <a:r>
              <a:rPr lang="en-US" altLang="zh-CN" sz="2400" dirty="0" err="1">
                <a:latin typeface="Arial" panose="020B0604020202020204" pitchFamily="34" charset="0"/>
                <a:ea typeface="宋体" panose="02010600030101010101" pitchFamily="2" charset="-122"/>
              </a:rPr>
              <a:t>两部分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 err="1">
                <a:solidFill>
                  <a:srgbClr val="0000FF"/>
                </a:solidFill>
                <a:latin typeface="Arial" panose="020B0604020202020204" pitchFamily="34" charset="0"/>
              </a:rPr>
              <a:t>供系统板上的I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</a:rPr>
              <a:t>/</a:t>
            </a:r>
            <a:r>
              <a:rPr lang="en-US" altLang="zh-CN" sz="2400" dirty="0" err="1">
                <a:solidFill>
                  <a:srgbClr val="0000FF"/>
                </a:solidFill>
                <a:latin typeface="Arial" panose="020B0604020202020204" pitchFamily="34" charset="0"/>
              </a:rPr>
              <a:t>O芯片</a:t>
            </a:r>
            <a:r>
              <a:rPr lang="en-US" altLang="zh-CN" sz="2400" dirty="0" err="1">
                <a:latin typeface="Arial" panose="020B0604020202020204" pitchFamily="34" charset="0"/>
              </a:rPr>
              <a:t>使用</a:t>
            </a:r>
            <a:r>
              <a:rPr lang="zh-CN" altLang="en-US" sz="2400" dirty="0">
                <a:latin typeface="Arial" panose="020B0604020202020204" pitchFamily="34" charset="0"/>
              </a:rPr>
              <a:t>的：</a:t>
            </a:r>
            <a:r>
              <a:rPr lang="en-US" altLang="zh-CN" sz="2400" dirty="0" err="1">
                <a:latin typeface="Arial" panose="020B0604020202020204" pitchFamily="34" charset="0"/>
                <a:ea typeface="宋体" panose="02010600030101010101" pitchFamily="2" charset="-122"/>
              </a:rPr>
              <a:t>定时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en-US" altLang="zh-CN" sz="2400" dirty="0" err="1">
                <a:latin typeface="Arial" panose="020B0604020202020204" pitchFamily="34" charset="0"/>
                <a:ea typeface="宋体" panose="02010600030101010101" pitchFamily="2" charset="-122"/>
              </a:rPr>
              <a:t>计数器、中断控制器、DMA控制器、并行接口等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供I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en-US" altLang="zh-CN" sz="240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O扩展槽上的接口控制卡</a:t>
            </a:r>
            <a:r>
              <a:rPr lang="en-US" altLang="zh-CN" sz="2400" dirty="0" err="1">
                <a:latin typeface="Arial" panose="020B0604020202020204" pitchFamily="34" charset="0"/>
                <a:ea typeface="宋体" panose="02010600030101010101" pitchFamily="2" charset="-122"/>
              </a:rPr>
              <a:t>使用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的：</a:t>
            </a:r>
            <a:r>
              <a:rPr lang="en-US" altLang="zh-CN" sz="2400" dirty="0" err="1">
                <a:latin typeface="Arial" panose="020B0604020202020204" pitchFamily="34" charset="0"/>
                <a:ea typeface="宋体" panose="02010600030101010101" pitchFamily="2" charset="-122"/>
              </a:rPr>
              <a:t>软驱卡、硬驱卡、图形卡、声卡、打印卡、串行通信卡等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73535" name="表格 273534"/>
          <p:cNvGraphicFramePr/>
          <p:nvPr/>
        </p:nvGraphicFramePr>
        <p:xfrm>
          <a:off x="179388" y="3946525"/>
          <a:ext cx="3384550" cy="2296160"/>
        </p:xfrm>
        <a:graphic>
          <a:graphicData uri="http://schemas.openxmlformats.org/drawingml/2006/table">
            <a:tbl>
              <a:tblPr/>
              <a:tblGrid>
                <a:gridCol w="1693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4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I/O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接口名称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cap="flat"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端口地址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DMA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控制器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altLang="zh-CN" sz="12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cap="flat"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000H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～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01FH</a:t>
                      </a:r>
                      <a:endParaRPr lang="en-US" altLang="zh-CN" sz="12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269875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DMA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控制器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US" altLang="zh-CN" sz="1200" dirty="0"/>
                    </a:p>
                    <a:p>
                      <a:pPr marL="0" lvl="0" indent="269875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DMA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页面寄存器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cap="flat"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269875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0C0H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～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0DFH</a:t>
                      </a:r>
                      <a:endParaRPr lang="en-US" altLang="zh-CN" sz="1200"/>
                    </a:p>
                    <a:p>
                      <a:pPr marL="0" lvl="0" indent="269875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080H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～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09FH</a:t>
                      </a:r>
                      <a:endParaRPr lang="en-US" altLang="zh-CN" sz="12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6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269875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中断控制器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altLang="zh-CN" sz="1200" dirty="0"/>
                    </a:p>
                    <a:p>
                      <a:pPr marL="0" lvl="0" indent="269875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中断控制器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US" altLang="zh-CN" sz="1200" dirty="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cap="flat"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269875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020H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～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03FH</a:t>
                      </a:r>
                      <a:endParaRPr lang="en-US" altLang="zh-CN" sz="1200"/>
                    </a:p>
                    <a:p>
                      <a:pPr marL="0" lvl="0" indent="269875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0A0H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～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0BFH</a:t>
                      </a:r>
                      <a:endParaRPr lang="en-US" altLang="zh-CN" sz="12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07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28575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定时器</a:t>
                      </a:r>
                      <a:endParaRPr lang="zh-CN" altLang="en-US" sz="1200" dirty="0"/>
                    </a:p>
                    <a:p>
                      <a:pPr marL="0" lvl="0" indent="28575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键盘控制器</a:t>
                      </a:r>
                      <a:endParaRPr lang="zh-CN" altLang="en-US" sz="1200" dirty="0"/>
                    </a:p>
                    <a:p>
                      <a:pPr marL="0" lvl="0" indent="28575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RT/CMOS RAM</a:t>
                      </a:r>
                      <a:endParaRPr lang="en-US" altLang="zh-CN" sz="1200"/>
                    </a:p>
                    <a:p>
                      <a:pPr marL="0" lvl="0" indent="28575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协处理器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cap="flat"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269875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040H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～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05FH</a:t>
                      </a:r>
                      <a:endParaRPr lang="en-US" altLang="zh-CN" sz="1200" dirty="0"/>
                    </a:p>
                    <a:p>
                      <a:pPr marL="0" lvl="0" indent="269875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060H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～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06FH</a:t>
                      </a:r>
                      <a:endParaRPr lang="en-US" altLang="zh-CN" sz="1200" dirty="0"/>
                    </a:p>
                    <a:p>
                      <a:pPr marL="0" lvl="0" indent="269875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070H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～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07FH</a:t>
                      </a:r>
                      <a:endParaRPr lang="en-US" altLang="zh-CN" sz="1200" dirty="0"/>
                    </a:p>
                    <a:p>
                      <a:pPr marL="0" lvl="0" indent="269875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0F0H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～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0FFH</a:t>
                      </a:r>
                      <a:endParaRPr lang="en-US" altLang="zh-CN" sz="1200" dirty="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73539" name="表格 273538"/>
          <p:cNvGraphicFramePr/>
          <p:nvPr>
            <p:extLst>
              <p:ext uri="{D42A27DB-BD31-4B8C-83A1-F6EECF244321}">
                <p14:modId xmlns:p14="http://schemas.microsoft.com/office/powerpoint/2010/main" val="2153924220"/>
              </p:ext>
            </p:extLst>
          </p:nvPr>
        </p:nvGraphicFramePr>
        <p:xfrm>
          <a:off x="3779838" y="3518043"/>
          <a:ext cx="5113338" cy="3295333"/>
        </p:xfrm>
        <a:graphic>
          <a:graphicData uri="http://schemas.openxmlformats.org/drawingml/2006/table">
            <a:tbl>
              <a:tblPr/>
              <a:tblGrid>
                <a:gridCol w="2557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0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I/O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接口名称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cap="flat"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端口地址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游戏控制卡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cap="flat"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200H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～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20FH</a:t>
                      </a:r>
                      <a:endParaRPr lang="en-US" altLang="zh-CN" sz="12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269875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并行口控制卡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altLang="zh-CN" sz="1200"/>
                    </a:p>
                    <a:p>
                      <a:pPr marL="0" lvl="0" indent="269875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并行口控制卡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US" altLang="zh-CN" sz="12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cap="flat"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269875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370H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～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37FH</a:t>
                      </a:r>
                      <a:endParaRPr lang="en-US" altLang="zh-CN" sz="1200"/>
                    </a:p>
                    <a:p>
                      <a:pPr marL="0" lvl="0" indent="269875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270H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～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27FH</a:t>
                      </a:r>
                      <a:endParaRPr lang="en-US" altLang="zh-CN" sz="12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6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269875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串行口控制卡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altLang="zh-CN" sz="1200"/>
                    </a:p>
                    <a:p>
                      <a:pPr marL="0" lvl="0" indent="269875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串行口控制卡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US" altLang="zh-CN" sz="12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cap="flat"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269875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3F8H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～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3FFH</a:t>
                      </a:r>
                      <a:endParaRPr lang="en-US" altLang="zh-CN" sz="1200"/>
                    </a:p>
                    <a:p>
                      <a:pPr marL="0" lvl="0" indent="269875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2F0H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～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2FFH</a:t>
                      </a:r>
                      <a:endParaRPr lang="en-US" altLang="zh-CN" sz="12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原型插件板（用户可用）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cap="flat"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300H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～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31FH</a:t>
                      </a:r>
                      <a:endParaRPr lang="en-US" altLang="zh-CN" sz="12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6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269875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同步通信卡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altLang="zh-CN" sz="1200"/>
                    </a:p>
                    <a:p>
                      <a:pPr marL="0" lvl="0" indent="269875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同步通信卡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US" altLang="zh-CN" sz="12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cap="flat"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269875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3A0F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～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3AFH</a:t>
                      </a:r>
                      <a:endParaRPr lang="en-US" altLang="zh-CN" sz="1200"/>
                    </a:p>
                    <a:p>
                      <a:pPr marL="0" lvl="0" indent="269875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380H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～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38FH</a:t>
                      </a:r>
                      <a:endParaRPr lang="en-US" altLang="zh-CN" sz="12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81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269875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单显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MDA</a:t>
                      </a:r>
                      <a:endParaRPr lang="en-US" altLang="zh-CN" sz="1200"/>
                    </a:p>
                    <a:p>
                      <a:pPr marL="0" lvl="0" indent="269875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彩显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CGA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彩显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EGA/VGA</a:t>
                      </a:r>
                      <a:endParaRPr lang="en-US" altLang="zh-CN" sz="12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cap="flat"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269875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3B0H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～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3BFH</a:t>
                      </a:r>
                      <a:endParaRPr lang="en-US" altLang="zh-CN" sz="1200"/>
                    </a:p>
                    <a:p>
                      <a:pPr marL="0" lvl="0" indent="269875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3D0H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～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3DFH</a:t>
                      </a:r>
                      <a:endParaRPr lang="en-US" altLang="zh-CN" sz="1200"/>
                    </a:p>
                    <a:p>
                      <a:pPr marL="0" lvl="0" indent="269875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3C0H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～</a:t>
                      </a:r>
                      <a:r>
                        <a:rPr lang="en-US" altLang="zh-CN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3CFH</a:t>
                      </a:r>
                      <a:endParaRPr lang="en-US" altLang="zh-CN" sz="12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6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269875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硬驱控制卡</a:t>
                      </a:r>
                      <a:endParaRPr lang="zh-CN" altLang="en-US" sz="1200" dirty="0"/>
                    </a:p>
                    <a:p>
                      <a:pPr marL="0" lvl="0" indent="269875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软驱控制卡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cap="flat"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269875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1F0H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～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1FFH</a:t>
                      </a:r>
                      <a:endParaRPr lang="en-US" altLang="zh-CN" sz="1200" dirty="0"/>
                    </a:p>
                    <a:p>
                      <a:pPr marL="0" lvl="0" indent="269875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3F0H</a:t>
                      </a: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～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3F7H</a:t>
                      </a:r>
                      <a:endParaRPr lang="en-US" altLang="zh-CN" sz="1200" dirty="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3537" name="矩形 273536"/>
          <p:cNvSpPr/>
          <p:nvPr/>
        </p:nvSpPr>
        <p:spPr>
          <a:xfrm>
            <a:off x="4641850" y="3124200"/>
            <a:ext cx="3098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algn="just"/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表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7-2 IBM-PC/AT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机端口地址分配</a:t>
            </a:r>
          </a:p>
        </p:txBody>
      </p:sp>
      <p:sp>
        <p:nvSpPr>
          <p:cNvPr id="273540" name="矩形 273539"/>
          <p:cNvSpPr/>
          <p:nvPr/>
        </p:nvSpPr>
        <p:spPr>
          <a:xfrm>
            <a:off x="395288" y="3484563"/>
            <a:ext cx="281305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algn="ctr"/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表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7-1 IBM-PC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机端口地址分配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标题 274433"/>
          <p:cNvSpPr>
            <a:spLocks noGrp="1"/>
          </p:cNvSpPr>
          <p:nvPr>
            <p:ph type="title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7.2  I/O端口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74435" name="文本框 274434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4436" name="文本框 274435"/>
          <p:cNvSpPr txBox="1"/>
          <p:nvPr/>
        </p:nvSpPr>
        <p:spPr>
          <a:xfrm>
            <a:off x="250825" y="1174100"/>
            <a:ext cx="8642350" cy="30469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为了避免端口地址发生冲突，在使用和设计接口电路时，应遵循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原则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	（1）凡是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已被系统使用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的端口地址，不能再作为它用；</a:t>
            </a: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	（2）凡是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被系统声明为保留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的地址，尽量不要作为它用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否则，可能与其它或未来的产品发生I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O端口地址重叠和冲突，从而造成与系统的不兼容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	（3）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一般用户可使用300H～31FH地址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。同时，为了避免与其它用户开发的插板发生地址冲突，最好采用地址开关。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标题 275457"/>
          <p:cNvSpPr>
            <a:spLocks noGrp="1"/>
          </p:cNvSpPr>
          <p:nvPr>
            <p:ph type="title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7.2  I/O端口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75459" name="文本框 275458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5460" name="文本框 275459"/>
          <p:cNvSpPr txBox="1"/>
          <p:nvPr/>
        </p:nvSpPr>
        <p:spPr>
          <a:xfrm>
            <a:off x="250825" y="908050"/>
            <a:ext cx="8642350" cy="384720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四、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端口地址译码</a:t>
            </a:r>
          </a:p>
          <a:p>
            <a:pPr lvl="0" eaLnBrk="0" hangingPunct="0"/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      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一般译码原则：</a:t>
            </a:r>
            <a:endParaRPr lang="en-US" altLang="zh-CN" sz="24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     把地址分为两部分：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0" hangingPunct="0">
              <a:buClr>
                <a:srgbClr val="FF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高位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地址线与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的控制信号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组合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，通过译码产生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接口芯片的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片选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信号，实现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片间寻址。</a:t>
            </a:r>
            <a:r>
              <a:rPr lang="zh-CN" altLang="en-US" sz="2400" dirty="0">
                <a:latin typeface="Arial" panose="020B0604020202020204" pitchFamily="34" charset="0"/>
              </a:rPr>
              <a:t>片选地址线连接较复杂，通常按译码电路的形式分为固定式和可选式译码。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lvl="0" eaLnBrk="0" hangingPunct="0">
              <a:buClr>
                <a:srgbClr val="FF00FF"/>
              </a:buClr>
            </a:pP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0" hangingPunct="0">
              <a:buClr>
                <a:srgbClr val="FF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低位地址线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直接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连到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接口芯片，实现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</a:rPr>
              <a:t>片内寻址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，即访问片内寄存器。片内地址线的连接只需将芯片的地址输入线与系统地址总线的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相应片内地址线一一相连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即可。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标题 276481"/>
          <p:cNvSpPr>
            <a:spLocks noGrp="1"/>
          </p:cNvSpPr>
          <p:nvPr>
            <p:ph type="title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7.2  I/O端口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76483" name="文本框 276482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484" name="文本框 276483"/>
          <p:cNvSpPr txBox="1"/>
          <p:nvPr/>
        </p:nvSpPr>
        <p:spPr>
          <a:xfrm>
            <a:off x="250825" y="764704"/>
            <a:ext cx="8642350" cy="230832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1.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固定式端口地址译码</a:t>
            </a: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接口中用到的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端口地址由硬件连线决定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，不能更改。这种译码方式多用于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不需改变端口地址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的场合，当只需要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一个端口地址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时，可采用门电路构成译码电路。例如，“读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2F8H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端口”的电路。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AEN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参加译码，它对端口地址译码进行控制，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AEN=0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时，译码有效；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AEN=1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时，使译码无效。</a:t>
            </a:r>
          </a:p>
        </p:txBody>
      </p:sp>
      <p:pic>
        <p:nvPicPr>
          <p:cNvPr id="276486" name="图片 276485" descr="wps_clip_image-281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674" y="3308804"/>
            <a:ext cx="3672557" cy="314453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E4059CE-FBE7-47F1-A1AD-6CB4613199E6}"/>
              </a:ext>
            </a:extLst>
          </p:cNvPr>
          <p:cNvSpPr txBox="1"/>
          <p:nvPr/>
        </p:nvSpPr>
        <p:spPr>
          <a:xfrm>
            <a:off x="2941956" y="3362216"/>
            <a:ext cx="189884" cy="2196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200" dirty="0"/>
              <a:t>10111110</a:t>
            </a:r>
          </a:p>
          <a:p>
            <a:pPr>
              <a:lnSpc>
                <a:spcPts val="1500"/>
              </a:lnSpc>
            </a:pPr>
            <a:endParaRPr lang="en-US" altLang="zh-CN" sz="1200" dirty="0"/>
          </a:p>
          <a:p>
            <a:pPr>
              <a:lnSpc>
                <a:spcPts val="1500"/>
              </a:lnSpc>
            </a:pPr>
            <a:r>
              <a:rPr lang="en-US" altLang="zh-CN" sz="1200" dirty="0"/>
              <a:t>00</a:t>
            </a:r>
            <a:endParaRPr lang="zh-CN" alt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标题 277505"/>
          <p:cNvSpPr>
            <a:spLocks noGrp="1"/>
          </p:cNvSpPr>
          <p:nvPr>
            <p:ph type="title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7.2  I/O端口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77507" name="文本框 277506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7508" name="文本框 277507"/>
          <p:cNvSpPr txBox="1"/>
          <p:nvPr/>
        </p:nvSpPr>
        <p:spPr>
          <a:xfrm>
            <a:off x="250825" y="908050"/>
            <a:ext cx="8642350" cy="120032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     当接口电路需要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多个端口地址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时，一般采用译码器进行译码。常用的译码器有2-4译码器74LS139、3-8译码器74LS138、4-16译码器74LS154等。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987824" y="278092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02BEEEA-5094-4188-8D71-C90A38950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243" y="2273449"/>
            <a:ext cx="4295256" cy="229716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3805E00-B310-4550-8B71-B86DEDE1863D}"/>
              </a:ext>
            </a:extLst>
          </p:cNvPr>
          <p:cNvSpPr txBox="1"/>
          <p:nvPr/>
        </p:nvSpPr>
        <p:spPr>
          <a:xfrm>
            <a:off x="4352490" y="4817298"/>
            <a:ext cx="45767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2400"/>
              </a:spcBef>
              <a:spcAft>
                <a:spcPts val="1800"/>
              </a:spcAft>
              <a:buClr>
                <a:srgbClr val="FF0000"/>
              </a:buClr>
              <a:buFont typeface="Wingdings" pitchFamily="2" charset="2"/>
              <a:buChar char="l"/>
            </a:pPr>
            <a:r>
              <a:rPr lang="zh-CN" altLang="en-US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使用低</a:t>
            </a:r>
            <a:r>
              <a:rPr lang="en-US" altLang="zh-CN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10</a:t>
            </a:r>
            <a:r>
              <a:rPr lang="zh-CN" altLang="en-US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位地址</a:t>
            </a:r>
            <a:r>
              <a:rPr lang="en-US" altLang="zh-CN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(A</a:t>
            </a:r>
            <a:r>
              <a:rPr lang="en-US" altLang="zh-CN" baseline="-2500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9</a:t>
            </a:r>
            <a:r>
              <a:rPr lang="en-US" altLang="zh-CN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~A</a:t>
            </a:r>
            <a:r>
              <a:rPr lang="en-US" altLang="zh-CN" baseline="-2500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r>
              <a:rPr lang="en-US" altLang="zh-CN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)</a:t>
            </a:r>
            <a:r>
              <a:rPr lang="zh-CN" altLang="en-US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寻址</a:t>
            </a:r>
            <a:r>
              <a:rPr lang="en-US" altLang="zh-CN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I/O</a:t>
            </a:r>
            <a:r>
              <a:rPr lang="zh-CN" altLang="en-US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端口，</a:t>
            </a:r>
            <a:r>
              <a:rPr lang="en-US" altLang="zh-CN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I/O</a:t>
            </a:r>
            <a:r>
              <a:rPr lang="zh-CN" altLang="en-US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地址空间占</a:t>
            </a:r>
            <a:r>
              <a:rPr lang="en-US" altLang="zh-CN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1K</a:t>
            </a:r>
            <a:r>
              <a:rPr lang="zh-CN" altLang="en-US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。当</a:t>
            </a:r>
            <a:r>
              <a:rPr lang="en-US" altLang="zh-CN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A</a:t>
            </a:r>
            <a:r>
              <a:rPr lang="en-US" altLang="zh-CN" baseline="-2500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9</a:t>
            </a:r>
            <a:r>
              <a:rPr lang="en-US" altLang="zh-CN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=0</a:t>
            </a:r>
            <a:r>
              <a:rPr lang="zh-CN" altLang="en-US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时，寻址系统板上的</a:t>
            </a:r>
            <a:r>
              <a:rPr lang="en-US" altLang="zh-CN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512</a:t>
            </a:r>
            <a:r>
              <a:rPr lang="zh-CN" altLang="en-US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个端口；当</a:t>
            </a:r>
            <a:r>
              <a:rPr lang="en-US" altLang="zh-CN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A</a:t>
            </a:r>
            <a:r>
              <a:rPr lang="en-US" altLang="zh-CN" baseline="-2500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9</a:t>
            </a:r>
            <a:r>
              <a:rPr lang="en-US" altLang="zh-CN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=1</a:t>
            </a:r>
            <a:r>
              <a:rPr lang="zh-CN" altLang="en-US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时，寻址</a:t>
            </a:r>
            <a:r>
              <a:rPr lang="en-US" altLang="zh-CN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I/O</a:t>
            </a:r>
            <a:r>
              <a:rPr lang="zh-CN" altLang="en-US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通道上的</a:t>
            </a:r>
            <a:r>
              <a:rPr lang="en-US" altLang="zh-CN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512</a:t>
            </a:r>
            <a:r>
              <a:rPr lang="zh-CN" altLang="en-US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个端口。</a:t>
            </a:r>
            <a:endParaRPr lang="en-US" altLang="zh-CN" dirty="0"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A60F16F-12A2-4B9D-B280-A26D28DDE354}"/>
              </a:ext>
            </a:extLst>
          </p:cNvPr>
          <p:cNvSpPr txBox="1"/>
          <p:nvPr/>
        </p:nvSpPr>
        <p:spPr>
          <a:xfrm>
            <a:off x="82674" y="5035304"/>
            <a:ext cx="41292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AEN=1</a:t>
            </a:r>
            <a:r>
              <a:rPr lang="zh-CN" altLang="en-US" sz="18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，这时若</a:t>
            </a:r>
            <a:r>
              <a:rPr lang="en-US" altLang="zh-CN" sz="18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18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9</a:t>
            </a:r>
            <a:r>
              <a:rPr lang="en-US" altLang="zh-CN" sz="18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18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</a:t>
            </a:r>
            <a:r>
              <a:rPr lang="en-US" altLang="zh-CN" sz="18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=00</a:t>
            </a:r>
            <a:r>
              <a:rPr lang="zh-CN" altLang="en-US" sz="18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，则译码器选通，对输入</a:t>
            </a:r>
            <a:r>
              <a:rPr lang="en-US" altLang="zh-CN" sz="18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18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sz="18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18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6</a:t>
            </a:r>
            <a:r>
              <a:rPr lang="en-US" altLang="zh-CN" sz="18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18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5</a:t>
            </a:r>
            <a:r>
              <a:rPr lang="zh-CN" altLang="en-US" sz="1800" dirty="0">
                <a:ea typeface="楷体_GB2312" pitchFamily="49" charset="-122"/>
                <a:cs typeface="Times New Roman" pitchFamily="18" charset="0"/>
              </a:rPr>
              <a:t>译码，在</a:t>
            </a:r>
            <a:r>
              <a:rPr lang="en-US" altLang="zh-CN" sz="1800" dirty="0"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1800" baseline="-25000" dirty="0">
                <a:ea typeface="楷体_GB2312" pitchFamily="49" charset="-122"/>
                <a:cs typeface="Times New Roman" pitchFamily="18" charset="0"/>
              </a:rPr>
              <a:t>0</a:t>
            </a:r>
            <a:r>
              <a:rPr lang="en-US" altLang="zh-CN" sz="1800" dirty="0">
                <a:ea typeface="楷体_GB2312" pitchFamily="49" charset="-122"/>
                <a:cs typeface="Times New Roman" pitchFamily="18" charset="0"/>
              </a:rPr>
              <a:t>~Y</a:t>
            </a:r>
            <a:r>
              <a:rPr lang="en-US" altLang="zh-CN" baseline="-25000" dirty="0">
                <a:ea typeface="楷体_GB2312" pitchFamily="49" charset="-122"/>
                <a:cs typeface="Times New Roman" pitchFamily="18" charset="0"/>
              </a:rPr>
              <a:t>7</a:t>
            </a:r>
            <a:r>
              <a:rPr lang="zh-CN" altLang="en-US" sz="1800" dirty="0">
                <a:ea typeface="楷体_GB2312" pitchFamily="49" charset="-122"/>
                <a:cs typeface="Times New Roman" pitchFamily="18" charset="0"/>
              </a:rPr>
              <a:t>中产生一个低电平输出信号，接到相应接口芯片的</a:t>
            </a:r>
            <a:r>
              <a:rPr lang="en-US" altLang="zh-CN" sz="1800" dirty="0">
                <a:ea typeface="楷体_GB2312" pitchFamily="49" charset="-122"/>
                <a:cs typeface="Times New Roman" pitchFamily="18" charset="0"/>
              </a:rPr>
              <a:t>CS</a:t>
            </a:r>
            <a:r>
              <a:rPr lang="zh-CN" altLang="en-US" sz="1800" dirty="0">
                <a:ea typeface="楷体_GB2312" pitchFamily="49" charset="-122"/>
                <a:cs typeface="Times New Roman" pitchFamily="18" charset="0"/>
              </a:rPr>
              <a:t>端。</a:t>
            </a:r>
            <a:endParaRPr lang="en-US" altLang="zh-CN" sz="1800" dirty="0">
              <a:ea typeface="楷体_GB2312" pitchFamily="49" charset="-122"/>
              <a:cs typeface="Times New Roman" pitchFamily="18" charset="0"/>
            </a:endParaRPr>
          </a:p>
          <a:p>
            <a:r>
              <a:rPr lang="en-US" altLang="zh-CN" dirty="0"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baseline="-25000" dirty="0"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dirty="0">
                <a:ea typeface="楷体_GB2312" pitchFamily="49" charset="-122"/>
                <a:cs typeface="Times New Roman" pitchFamily="18" charset="0"/>
              </a:rPr>
              <a:t>~A</a:t>
            </a:r>
            <a:r>
              <a:rPr lang="en-US" altLang="zh-CN" baseline="-25000" dirty="0"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dirty="0">
                <a:ea typeface="楷体_GB2312" pitchFamily="49" charset="-122"/>
                <a:cs typeface="Times New Roman" pitchFamily="18" charset="0"/>
              </a:rPr>
              <a:t>用作对</a:t>
            </a:r>
            <a:r>
              <a:rPr lang="en-US" altLang="zh-CN" dirty="0">
                <a:ea typeface="楷体_GB2312" pitchFamily="49" charset="-122"/>
                <a:cs typeface="Times New Roman" pitchFamily="18" charset="0"/>
              </a:rPr>
              <a:t>I/O</a:t>
            </a:r>
            <a:r>
              <a:rPr lang="zh-CN" altLang="en-US" dirty="0">
                <a:ea typeface="楷体_GB2312" pitchFamily="49" charset="-122"/>
                <a:cs typeface="Times New Roman" pitchFamily="18" charset="0"/>
              </a:rPr>
              <a:t>接口芯片片内端口寻址</a:t>
            </a:r>
            <a:endParaRPr lang="zh-CN" altLang="en-US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1BC01E1-9BAA-424C-A2B3-E93F4D89A93F}"/>
              </a:ext>
            </a:extLst>
          </p:cNvPr>
          <p:cNvCxnSpPr/>
          <p:nvPr/>
        </p:nvCxnSpPr>
        <p:spPr>
          <a:xfrm>
            <a:off x="861492" y="5920705"/>
            <a:ext cx="2880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BDEEC8F-D6E3-448D-A313-57ECC0153DD0}"/>
              </a:ext>
            </a:extLst>
          </p:cNvPr>
          <p:cNvCxnSpPr/>
          <p:nvPr/>
        </p:nvCxnSpPr>
        <p:spPr>
          <a:xfrm>
            <a:off x="2887291" y="5373216"/>
            <a:ext cx="2880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DDD7ADE-C2C0-4C60-8C56-EE947EB1BCDD}"/>
              </a:ext>
            </a:extLst>
          </p:cNvPr>
          <p:cNvCxnSpPr/>
          <p:nvPr/>
        </p:nvCxnSpPr>
        <p:spPr>
          <a:xfrm>
            <a:off x="3275856" y="5373216"/>
            <a:ext cx="2880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1DC8ADA-BDD4-4B90-8CF3-BAC341E081B6}"/>
              </a:ext>
            </a:extLst>
          </p:cNvPr>
          <p:cNvCxnSpPr/>
          <p:nvPr/>
        </p:nvCxnSpPr>
        <p:spPr>
          <a:xfrm>
            <a:off x="251520" y="5085184"/>
            <a:ext cx="2880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744C6320-85F5-4EF7-AA7A-9479A86FF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2329020"/>
            <a:ext cx="4220164" cy="24196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标题 278529"/>
          <p:cNvSpPr>
            <a:spLocks noGrp="1"/>
          </p:cNvSpPr>
          <p:nvPr>
            <p:ph type="title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7.2  I/O端口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78531" name="文本框 278530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8532" name="文本框 278531"/>
          <p:cNvSpPr txBox="1"/>
          <p:nvPr/>
        </p:nvSpPr>
        <p:spPr>
          <a:xfrm>
            <a:off x="250825" y="764704"/>
            <a:ext cx="8642350" cy="15696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2. 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开关式可选地址译码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</a:rPr>
              <a:t>      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能适应不同场合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的地址分配或需要为系统以后扩展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</a:rPr>
              <a:t>留有余地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时采用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可以通过开关使接口卡的I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O端口地址根据要求加以改变而无需改动线路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r>
              <a:rPr lang="en-US" altLang="zh-CN" sz="2400" b="1" dirty="0" err="1">
                <a:latin typeface="Arial" panose="020B0604020202020204" pitchFamily="34" charset="0"/>
              </a:rPr>
              <a:t>有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</a:rPr>
              <a:t>两种电路结构形式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2" name="矩形 1"/>
          <p:cNvSpPr/>
          <p:nvPr/>
        </p:nvSpPr>
        <p:spPr>
          <a:xfrm>
            <a:off x="611188" y="2564904"/>
            <a:ext cx="49728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</a:rPr>
              <a:t>（1）直接使用拨动开关或跳接开关</a:t>
            </a:r>
          </a:p>
        </p:txBody>
      </p:sp>
      <p:sp>
        <p:nvSpPr>
          <p:cNvPr id="3" name="矩形 2"/>
          <p:cNvSpPr/>
          <p:nvPr/>
        </p:nvSpPr>
        <p:spPr>
          <a:xfrm>
            <a:off x="611560" y="3411974"/>
            <a:ext cx="40495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</a:rPr>
              <a:t>）使用地址开关加比较器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标题 279553"/>
          <p:cNvSpPr>
            <a:spLocks noGrp="1"/>
          </p:cNvSpPr>
          <p:nvPr>
            <p:ph type="title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7.2  I/O端口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79555" name="文本框 279554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9556" name="文本框 279555"/>
          <p:cNvSpPr txBox="1"/>
          <p:nvPr/>
        </p:nvSpPr>
        <p:spPr>
          <a:xfrm>
            <a:off x="250825" y="908050"/>
            <a:ext cx="8642350" cy="193899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（1）直接使用拨动开关或跳接开关</a:t>
            </a: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</a:rPr>
              <a:t>     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两个异步通信接口COM1和COM2的地址译码电路。当跳接开关U15接4、8两点时，地址范围为3F8H～3FFH，选中COM1为当前串行口适配器；当跳接开关U15接2、6两点时，地址范围为2F8H～2FFH，选中COM2为当前串行口适配器。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081505"/>
            <a:ext cx="4680520" cy="316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0D24C26-0CCA-4704-841F-87317AE62889}"/>
              </a:ext>
            </a:extLst>
          </p:cNvPr>
          <p:cNvSpPr txBox="1"/>
          <p:nvPr/>
        </p:nvSpPr>
        <p:spPr>
          <a:xfrm>
            <a:off x="1974379" y="3215759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M/IO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E46B03F-C850-4674-B84D-B71B1CDEF928}"/>
              </a:ext>
            </a:extLst>
          </p:cNvPr>
          <p:cNvSpPr txBox="1"/>
          <p:nvPr/>
        </p:nvSpPr>
        <p:spPr>
          <a:xfrm>
            <a:off x="2241079" y="510165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8</a:t>
            </a:r>
            <a:endParaRPr lang="zh-CN" altLang="en-US" baseline="-25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32F740F-3211-4046-B1A6-AA1A43EC1A03}"/>
              </a:ext>
            </a:extLst>
          </p:cNvPr>
          <p:cNvSpPr txBox="1"/>
          <p:nvPr/>
        </p:nvSpPr>
        <p:spPr>
          <a:xfrm>
            <a:off x="2241079" y="477042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9</a:t>
            </a:r>
            <a:endParaRPr lang="zh-CN" altLang="en-US" baseline="-25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AEF056B-69C4-41DD-BEB2-1A5446BECC05}"/>
              </a:ext>
            </a:extLst>
          </p:cNvPr>
          <p:cNvSpPr txBox="1"/>
          <p:nvPr/>
        </p:nvSpPr>
        <p:spPr>
          <a:xfrm>
            <a:off x="2229297" y="450813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7</a:t>
            </a:r>
            <a:endParaRPr lang="zh-CN" altLang="en-US" baseline="-25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FAF19A-D972-46A0-82DE-508AE08AC900}"/>
              </a:ext>
            </a:extLst>
          </p:cNvPr>
          <p:cNvSpPr txBox="1"/>
          <p:nvPr/>
        </p:nvSpPr>
        <p:spPr>
          <a:xfrm>
            <a:off x="2236565" y="425528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6</a:t>
            </a:r>
            <a:endParaRPr lang="zh-CN" altLang="en-US" baseline="-25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6944A14-C6A4-4966-8650-1BEA505F7ED9}"/>
              </a:ext>
            </a:extLst>
          </p:cNvPr>
          <p:cNvSpPr txBox="1"/>
          <p:nvPr/>
        </p:nvSpPr>
        <p:spPr>
          <a:xfrm>
            <a:off x="2233811" y="400648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5</a:t>
            </a:r>
            <a:endParaRPr lang="zh-CN" altLang="en-US" baseline="-25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2449DDC-53A2-440E-8893-EEF85B65B109}"/>
              </a:ext>
            </a:extLst>
          </p:cNvPr>
          <p:cNvSpPr txBox="1"/>
          <p:nvPr/>
        </p:nvSpPr>
        <p:spPr>
          <a:xfrm>
            <a:off x="2222029" y="3753713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4</a:t>
            </a:r>
            <a:endParaRPr lang="zh-CN" altLang="en-US" baseline="-250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885A92-D557-4BE0-8C01-1E1E01D6580F}"/>
              </a:ext>
            </a:extLst>
          </p:cNvPr>
          <p:cNvSpPr txBox="1"/>
          <p:nvPr/>
        </p:nvSpPr>
        <p:spPr>
          <a:xfrm>
            <a:off x="2229297" y="352944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3</a:t>
            </a:r>
            <a:endParaRPr lang="zh-CN" altLang="en-US" baseline="-250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AD579DF-AEE7-4E4C-8A6E-893EB949FEEE}"/>
              </a:ext>
            </a:extLst>
          </p:cNvPr>
          <p:cNvCxnSpPr>
            <a:cxnSpLocks/>
          </p:cNvCxnSpPr>
          <p:nvPr/>
        </p:nvCxnSpPr>
        <p:spPr>
          <a:xfrm>
            <a:off x="2353469" y="3263384"/>
            <a:ext cx="1493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标题 280577"/>
          <p:cNvSpPr>
            <a:spLocks noGrp="1"/>
          </p:cNvSpPr>
          <p:nvPr>
            <p:ph type="title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7.2  I/O端口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80580" name="文本框 280579"/>
          <p:cNvSpPr txBox="1"/>
          <p:nvPr/>
        </p:nvSpPr>
        <p:spPr>
          <a:xfrm>
            <a:off x="107504" y="2204864"/>
            <a:ext cx="4033143" cy="34163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/>
            <a:r>
              <a:rPr lang="zh-CN" alt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关键器件是比较器</a:t>
            </a: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74LS688</a:t>
            </a:r>
            <a:r>
              <a:rPr lang="zh-CN" alt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，有两组输入端，一个输出端。其规则为：</a:t>
            </a:r>
            <a:endParaRPr lang="en-US" altLang="zh-CN" sz="2400" b="1" dirty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endParaRPr lang="en-US" altLang="zh-CN" sz="2400" b="1" dirty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zh-CN" alt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当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P7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P0=Q7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Q0</a:t>
            </a:r>
            <a:r>
              <a:rPr lang="zh-CN" alt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时，</a:t>
            </a:r>
            <a:endParaRPr lang="en-US" altLang="zh-CN" sz="2400" b="1" dirty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zh-CN" alt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输出低电平</a:t>
            </a:r>
            <a:endParaRPr lang="en-US" altLang="zh-CN" sz="2400" b="1" dirty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endParaRPr lang="zh-CN" altLang="en-US" sz="2400" b="1" dirty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zh-CN" alt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当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P7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P0</a:t>
            </a:r>
            <a:r>
              <a:rPr lang="en-US" altLang="zh-CN" sz="2400" b="1" dirty="0">
                <a:solidFill>
                  <a:srgbClr val="FF00FF"/>
                </a:solidFill>
                <a:ea typeface="宋体" panose="02010600030101010101" pitchFamily="2" charset="-122"/>
              </a:rPr>
              <a:t>≠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Q7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Q0</a:t>
            </a:r>
            <a:r>
              <a:rPr lang="zh-CN" alt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时，</a:t>
            </a:r>
            <a:endParaRPr lang="en-US" altLang="zh-CN" sz="2400" b="1" dirty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zh-CN" alt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输出高电平</a:t>
            </a:r>
          </a:p>
        </p:txBody>
      </p:sp>
      <p:sp>
        <p:nvSpPr>
          <p:cNvPr id="2" name="矩形 1"/>
          <p:cNvSpPr/>
          <p:nvPr/>
        </p:nvSpPr>
        <p:spPr>
          <a:xfrm>
            <a:off x="251520" y="980728"/>
            <a:ext cx="40495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hangingPunct="0"/>
            <a:r>
              <a:rPr lang="zh-CN" alt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）使用地址开关加比较器</a:t>
            </a:r>
            <a:endParaRPr lang="en-US" altLang="zh-CN" sz="2400" b="1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282" y="1788208"/>
            <a:ext cx="4921250" cy="4169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标题 281601"/>
          <p:cNvSpPr>
            <a:spLocks noGrp="1"/>
          </p:cNvSpPr>
          <p:nvPr>
            <p:ph type="title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7.3  CPU与外设间的数据传送方式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81603" name="文本框 281602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1604" name="文本框 281603"/>
          <p:cNvSpPr txBox="1"/>
          <p:nvPr/>
        </p:nvSpPr>
        <p:spPr>
          <a:xfrm>
            <a:off x="610865" y="908050"/>
            <a:ext cx="7849567" cy="35394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/>
            <a:r>
              <a:rPr lang="zh-CN" altLang="zh-CN" sz="2800" b="1" dirty="0"/>
              <a:t>按照</a:t>
            </a:r>
            <a:r>
              <a:rPr lang="en-US" altLang="zh-CN" sz="2800" b="1" dirty="0"/>
              <a:t>I/O</a:t>
            </a:r>
            <a:r>
              <a:rPr lang="zh-CN" altLang="zh-CN" sz="2800" b="1" dirty="0"/>
              <a:t>接口电路复杂程度的演变顺序和外部设备与</a:t>
            </a:r>
            <a:r>
              <a:rPr lang="en-US" altLang="zh-CN" sz="2800" b="1" dirty="0"/>
              <a:t>CPU</a:t>
            </a:r>
            <a:r>
              <a:rPr lang="zh-CN" altLang="zh-CN" sz="2800" b="1" dirty="0"/>
              <a:t>并行工作的程度，</a:t>
            </a:r>
            <a:r>
              <a:rPr lang="en-US" altLang="zh-CN" sz="2800" b="1" dirty="0"/>
              <a:t>CPU</a:t>
            </a:r>
            <a:r>
              <a:rPr lang="zh-CN" altLang="zh-CN" sz="2800" b="1" dirty="0"/>
              <a:t>与外部设备之间的信息传送方式分为三种</a:t>
            </a:r>
            <a:r>
              <a:rPr lang="zh-CN" altLang="en-US" sz="2800" b="1" dirty="0"/>
              <a:t>：</a:t>
            </a:r>
            <a:endParaRPr lang="en-US" altLang="zh-CN" sz="2800" b="1" dirty="0"/>
          </a:p>
          <a:p>
            <a:pPr lvl="0" eaLnBrk="0" hangingPunct="0"/>
            <a:endParaRPr lang="en-US" altLang="zh-CN" sz="2800" b="1" dirty="0"/>
          </a:p>
          <a:p>
            <a:pPr lvl="0" eaLnBrk="0" hangingPunct="0"/>
            <a:endParaRPr lang="en-US" altLang="zh-CN" sz="2800" b="1" dirty="0"/>
          </a:p>
          <a:p>
            <a:pPr marL="457200" lvl="0" indent="-457200" eaLnBrk="0" hangingPunct="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zh-CN" sz="2800" b="1" dirty="0"/>
              <a:t>程序控制传送方式</a:t>
            </a:r>
            <a:endParaRPr lang="en-US" altLang="zh-CN" sz="2800" b="1" dirty="0"/>
          </a:p>
          <a:p>
            <a:pPr marL="457200" lvl="0" indent="-457200" eaLnBrk="0" hangingPunct="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zh-CN" sz="2800" b="1" dirty="0"/>
              <a:t>中断传送方式</a:t>
            </a:r>
            <a:endParaRPr lang="en-US" altLang="zh-CN" sz="2800" b="1" dirty="0"/>
          </a:p>
          <a:p>
            <a:pPr marL="457200" lvl="0" indent="-457200" eaLnBrk="0" hangingPunct="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800" b="1" dirty="0"/>
              <a:t>DMA</a:t>
            </a:r>
            <a:r>
              <a:rPr lang="zh-CN" altLang="zh-CN" sz="2800" b="1" dirty="0"/>
              <a:t>传送方式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标题 281601"/>
          <p:cNvSpPr>
            <a:spLocks noGrp="1"/>
          </p:cNvSpPr>
          <p:nvPr>
            <p:ph type="title" idx="4294967295"/>
          </p:nvPr>
        </p:nvSpPr>
        <p:spPr>
          <a:xfrm>
            <a:off x="1044575" y="188913"/>
            <a:ext cx="6696075" cy="431800"/>
          </a:xfrm>
          <a:ln/>
        </p:spPr>
        <p:txBody>
          <a:bodyPr anchor="ctr"/>
          <a:lstStyle/>
          <a:p>
            <a:pPr lvl="0"/>
            <a:r>
              <a:rPr lang="en-US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7.3  CPU与外设间的数据传送方式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81603" name="文本框 281602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1604" name="文本框 281603"/>
          <p:cNvSpPr txBox="1"/>
          <p:nvPr/>
        </p:nvSpPr>
        <p:spPr>
          <a:xfrm>
            <a:off x="250825" y="908050"/>
            <a:ext cx="8642350" cy="464742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一、</a:t>
            </a:r>
            <a:r>
              <a:rPr lang="en-US" altLang="zh-CN" sz="2800" b="1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程序控制传送方式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      </a:t>
            </a:r>
          </a:p>
          <a:p>
            <a:pPr lvl="0" eaLnBrk="0" hangingPunct="0"/>
            <a:endParaRPr lang="en-US" altLang="zh-CN" sz="2400" dirty="0">
              <a:latin typeface="Arial" panose="020B0604020202020204" pitchFamily="34" charset="0"/>
            </a:endParaRPr>
          </a:p>
          <a:p>
            <a:pPr lvl="0" eaLnBrk="0" hangingPunct="0">
              <a:lnSpc>
                <a:spcPts val="3300"/>
              </a:lnSpc>
            </a:pP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由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程序直接控制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外部设备与CPU之间的数据传送过程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。当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需要进行数据传送时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，通过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O指令组成的程序段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</a:rPr>
              <a:t>直接控制外部设备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工作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  <a:p>
            <a:pPr lvl="0" eaLnBrk="0" hangingPunct="0">
              <a:lnSpc>
                <a:spcPts val="33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特点：</a:t>
            </a:r>
            <a:r>
              <a:rPr lang="en-US" altLang="zh-CN" sz="2400" b="1" dirty="0" err="1">
                <a:latin typeface="Arial" panose="020B0604020202020204" pitchFamily="34" charset="0"/>
              </a:rPr>
              <a:t>编写程序之前需预先知道何时进行这种数据交换工作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  <a:p>
            <a:pPr lvl="0" eaLnBrk="0" hangingPunct="0">
              <a:lnSpc>
                <a:spcPts val="3300"/>
              </a:lnSpc>
            </a:pP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>
              <a:lnSpc>
                <a:spcPts val="3300"/>
              </a:lnSpc>
            </a:pP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根据外部设备的特点，程序控制传送方式又分为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>
              <a:lnSpc>
                <a:spcPts val="3300"/>
              </a:lnSpc>
            </a:pPr>
            <a:r>
              <a:rPr lang="en-US" altLang="zh-CN" sz="2400" b="1" dirty="0" err="1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无条件传送方式</a:t>
            </a:r>
            <a:endParaRPr lang="en-US" altLang="zh-CN" sz="2400" b="1" dirty="0">
              <a:solidFill>
                <a:srgbClr val="FF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>
              <a:lnSpc>
                <a:spcPts val="3300"/>
              </a:lnSpc>
            </a:pPr>
            <a:r>
              <a:rPr lang="en-US" altLang="zh-CN" sz="2400" b="1" dirty="0" err="1">
                <a:solidFill>
                  <a:srgbClr val="FF00FF"/>
                </a:solidFill>
                <a:latin typeface="Arial" panose="020B0604020202020204" pitchFamily="34" charset="0"/>
              </a:rPr>
              <a:t>条件传送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（程序查询传送）方式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0400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标题 282625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488238" cy="431800"/>
          </a:xfrm>
          <a:ln/>
        </p:spPr>
        <p:txBody>
          <a:bodyPr anchor="ctr"/>
          <a:lstStyle/>
          <a:p>
            <a:pPr lvl="0"/>
            <a:r>
              <a:rPr lang="en-US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7.3  CPU与外设间的数据传送方式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82627" name="文本框 282626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2628" name="文本框 282627"/>
          <p:cNvSpPr txBox="1"/>
          <p:nvPr/>
        </p:nvSpPr>
        <p:spPr>
          <a:xfrm>
            <a:off x="250825" y="764704"/>
            <a:ext cx="8642350" cy="193899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</a:rPr>
              <a:t>．无条件传送方式</a:t>
            </a: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        无条件传送（同步传送），是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最简单</a:t>
            </a:r>
            <a:r>
              <a:rPr lang="zh-CN" altLang="en-US" sz="2400" b="1" dirty="0">
                <a:latin typeface="Arial" panose="020B0604020202020204" pitchFamily="34" charset="0"/>
              </a:rPr>
              <a:t>的程序控制传送方式当</a:t>
            </a:r>
            <a:r>
              <a:rPr lang="en-US" altLang="zh-CN" sz="2400" b="1" dirty="0">
                <a:latin typeface="Arial" panose="020B0604020202020204" pitchFamily="34" charset="0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</a:rPr>
              <a:t>能够确信外部设备已经准备就绪时，可不查询外部设备状态而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直接进行信息传送</a:t>
            </a:r>
            <a:r>
              <a:rPr lang="zh-CN" altLang="en-US" sz="2400" b="1" dirty="0">
                <a:latin typeface="Arial" panose="020B0604020202020204" pitchFamily="34" charset="0"/>
              </a:rPr>
              <a:t>。一般较少使用，只用于如开关、数码管等一些较简单的外部设备控制。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847687"/>
            <a:ext cx="5256584" cy="2885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标题 282625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488238" cy="431800"/>
          </a:xfrm>
          <a:ln/>
        </p:spPr>
        <p:txBody>
          <a:bodyPr anchor="ctr"/>
          <a:lstStyle/>
          <a:p>
            <a:pPr lvl="0"/>
            <a:r>
              <a:rPr lang="en-US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7.3  CPU与外设间的数据传送方式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82627" name="文本框 282626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2628" name="文本框 282627"/>
          <p:cNvSpPr txBox="1"/>
          <p:nvPr/>
        </p:nvSpPr>
        <p:spPr>
          <a:xfrm>
            <a:off x="250825" y="764704"/>
            <a:ext cx="864235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</a:rPr>
              <a:t>．无条件传送方式</a:t>
            </a:r>
          </a:p>
        </p:txBody>
      </p:sp>
      <p:pic>
        <p:nvPicPr>
          <p:cNvPr id="7" name="图片 6" descr="图6.1.jpg">
            <a:extLst>
              <a:ext uri="{FF2B5EF4-FFF2-40B4-BE49-F238E27FC236}">
                <a16:creationId xmlns:a16="http://schemas.microsoft.com/office/drawing/2014/main" id="{3997CF49-B194-4DFF-AAE4-757BF4A7FCE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3528" y="1268760"/>
            <a:ext cx="3485058" cy="3113906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760693E3-A5C8-43BF-AE47-00A9BD48464D}"/>
              </a:ext>
            </a:extLst>
          </p:cNvPr>
          <p:cNvSpPr txBox="1">
            <a:spLocks/>
          </p:cNvSpPr>
          <p:nvPr/>
        </p:nvSpPr>
        <p:spPr>
          <a:xfrm>
            <a:off x="179512" y="4425056"/>
            <a:ext cx="4032448" cy="2204343"/>
          </a:xfrm>
          <a:prstGeom prst="rect">
            <a:avLst/>
          </a:prstGeom>
        </p:spPr>
        <p:txBody>
          <a:bodyPr>
            <a:noAutofit/>
          </a:bodyPr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algn="just">
              <a:buClr>
                <a:srgbClr val="FF0000"/>
              </a:buClr>
              <a:buFont typeface="Wingdings" pitchFamily="2" charset="2"/>
              <a:buChar char="l"/>
            </a:pP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最简单的输入端口：按键开关的状态输入口。</a:t>
            </a:r>
            <a:endParaRPr lang="en-US" altLang="zh-CN" sz="20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algn="just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开关经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位三态缓冲器接到数据总线，用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IN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指令将开关状态读入缓冲器。</a:t>
            </a:r>
            <a:endParaRPr lang="en-US" altLang="zh-CN" sz="20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algn="just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1-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断开，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0-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闭合。</a:t>
            </a:r>
            <a:endParaRPr lang="en-US" altLang="zh-CN" sz="20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algn="just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可随时读取开关状态。</a:t>
            </a:r>
            <a:endParaRPr lang="en-US" sz="20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pic>
        <p:nvPicPr>
          <p:cNvPr id="9" name="图片 8" descr="图6.2.jpg">
            <a:extLst>
              <a:ext uri="{FF2B5EF4-FFF2-40B4-BE49-F238E27FC236}">
                <a16:creationId xmlns:a16="http://schemas.microsoft.com/office/drawing/2014/main" id="{C8E8196E-0EC7-4B03-AD8A-4719E3E5FD2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39350" y="1298377"/>
            <a:ext cx="4049612" cy="3037209"/>
          </a:xfrm>
          <a:prstGeom prst="rect">
            <a:avLst/>
          </a:prstGeom>
        </p:spPr>
      </p:pic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385AC80-EA2D-4899-89EC-A6D3BE6EAE1A}"/>
              </a:ext>
            </a:extLst>
          </p:cNvPr>
          <p:cNvCxnSpPr/>
          <p:nvPr/>
        </p:nvCxnSpPr>
        <p:spPr>
          <a:xfrm>
            <a:off x="4283968" y="908720"/>
            <a:ext cx="0" cy="5720679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D5ACDB21-DEC2-4EC0-8246-19E56DF51302}"/>
              </a:ext>
            </a:extLst>
          </p:cNvPr>
          <p:cNvSpPr txBox="1">
            <a:spLocks/>
          </p:cNvSpPr>
          <p:nvPr/>
        </p:nvSpPr>
        <p:spPr>
          <a:xfrm>
            <a:off x="4356323" y="4450084"/>
            <a:ext cx="4463825" cy="1931244"/>
          </a:xfrm>
          <a:prstGeom prst="rect">
            <a:avLst/>
          </a:prstGeom>
        </p:spPr>
        <p:txBody>
          <a:bodyPr>
            <a:noAutofit/>
          </a:bodyPr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最简单的输出口：</a:t>
            </a:r>
            <a:r>
              <a:rPr 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LED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的点亮和熄灭控制。</a:t>
            </a:r>
            <a:endParaRPr lang="en-US" altLang="zh-CN" sz="20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algn="just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位锁存器接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LED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显示器，用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OUT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指令将命令字送到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LED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1-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点亮，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0-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熄灭。</a:t>
            </a:r>
            <a:endParaRPr lang="en-US" altLang="zh-CN" sz="20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algn="just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可随时改变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LED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状态。</a:t>
            </a:r>
          </a:p>
        </p:txBody>
      </p:sp>
    </p:spTree>
    <p:extLst>
      <p:ext uri="{BB962C8B-B14F-4D97-AF65-F5344CB8AC3E}">
        <p14:creationId xmlns:p14="http://schemas.microsoft.com/office/powerpoint/2010/main" val="18415979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标题 283649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488238" cy="431800"/>
          </a:xfrm>
          <a:ln/>
        </p:spPr>
        <p:txBody>
          <a:bodyPr anchor="ctr"/>
          <a:lstStyle/>
          <a:p>
            <a:pPr lvl="0"/>
            <a:r>
              <a:rPr lang="en-US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7.3  CPU与外设间的数据传送方式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83651" name="文本框 283650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3652" name="文本框 283651"/>
          <p:cNvSpPr txBox="1"/>
          <p:nvPr/>
        </p:nvSpPr>
        <p:spPr>
          <a:xfrm>
            <a:off x="250825" y="764704"/>
            <a:ext cx="8642350" cy="15696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2．条件传送方式</a:t>
            </a: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</a:rPr>
              <a:t>        </a:t>
            </a:r>
            <a:r>
              <a:rPr lang="en-US" altLang="zh-CN" sz="2400" b="1" dirty="0" err="1">
                <a:latin typeface="Arial" panose="020B0604020202020204" pitchFamily="34" charset="0"/>
              </a:rPr>
              <a:t>条件传送方式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程序查询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zh-CN" altLang="en-US" sz="2400" b="1" dirty="0">
                <a:latin typeface="Arial" panose="020B0604020202020204" pitchFamily="34" charset="0"/>
              </a:rPr>
              <a:t>：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CPU传送数据前，</a:t>
            </a:r>
            <a:r>
              <a:rPr lang="en-US" altLang="zh-CN" sz="2400" b="1" dirty="0" err="1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不断读取并检测外部设备的状态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，只有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外部设备状态信息满足条件时才进行数据传送，否则就一直等待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09CED43-0E06-4697-BDA9-AE2E8B36BAE9}"/>
              </a:ext>
            </a:extLst>
          </p:cNvPr>
          <p:cNvSpPr txBox="1">
            <a:spLocks/>
          </p:cNvSpPr>
          <p:nvPr/>
        </p:nvSpPr>
        <p:spPr>
          <a:xfrm>
            <a:off x="4715668" y="2276872"/>
            <a:ext cx="4320827" cy="2747566"/>
          </a:xfrm>
          <a:prstGeom prst="rect">
            <a:avLst/>
          </a:prstGeom>
        </p:spPr>
        <p:txBody>
          <a:bodyPr>
            <a:noAutofit/>
          </a:bodyPr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查询式输入接口电路</a:t>
            </a:r>
            <a:endParaRPr lang="en-US" altLang="zh-CN" sz="2000" dirty="0">
              <a:latin typeface="黑体" pitchFamily="2" charset="-122"/>
              <a:ea typeface="黑体" pitchFamily="2" charset="-122"/>
            </a:endParaRPr>
          </a:p>
          <a:p>
            <a:pPr algn="just">
              <a:buClr>
                <a:srgbClr val="0000FF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状态口由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</a:t>
            </a:r>
            <a:r>
              <a:rPr 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触发器和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个三态门构成，执行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IN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指令选中状态口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(Y</a:t>
            </a:r>
            <a:r>
              <a:rPr lang="en-US" altLang="zh-CN" sz="20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有效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时，读取状态信息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READY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READY=0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，外设未就绪；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READY=1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CPU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可读外设。</a:t>
            </a:r>
            <a:endParaRPr lang="en-US" altLang="zh-CN" sz="20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algn="just">
              <a:buClr>
                <a:srgbClr val="0000FF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输入数据口由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</a:t>
            </a:r>
            <a:r>
              <a:rPr 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位锁存器和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</a:t>
            </a:r>
            <a:r>
              <a:rPr 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位缓冲器构成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执行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IN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指令选中数据口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(Y</a:t>
            </a:r>
            <a:r>
              <a:rPr lang="en-US" altLang="zh-CN" sz="20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有效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时，从缓冲器读取数据信息。</a:t>
            </a:r>
            <a:endParaRPr lang="zh-CN" altLang="en-US" sz="2000" dirty="0"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01E2B80-04B5-442E-93B9-BDCF3666F0DC}"/>
              </a:ext>
            </a:extLst>
          </p:cNvPr>
          <p:cNvCxnSpPr/>
          <p:nvPr/>
        </p:nvCxnSpPr>
        <p:spPr>
          <a:xfrm>
            <a:off x="8631535" y="3030860"/>
            <a:ext cx="2880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35917943-C444-4AA7-8892-3289FBC87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2348880"/>
            <a:ext cx="4515480" cy="3372321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4EBD264-D1F8-4003-9EC0-4D29BA22875A}"/>
              </a:ext>
            </a:extLst>
          </p:cNvPr>
          <p:cNvCxnSpPr/>
          <p:nvPr/>
        </p:nvCxnSpPr>
        <p:spPr>
          <a:xfrm>
            <a:off x="5724128" y="4869160"/>
            <a:ext cx="2880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A9F1957-7337-41E7-B17F-19B4FB0585E5}"/>
              </a:ext>
            </a:extLst>
          </p:cNvPr>
          <p:cNvSpPr txBox="1"/>
          <p:nvPr/>
        </p:nvSpPr>
        <p:spPr>
          <a:xfrm>
            <a:off x="3528391" y="5448126"/>
            <a:ext cx="510314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READ_S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： 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IN  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       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AL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，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PORT_S 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；读入状态位</a:t>
            </a:r>
            <a:endParaRPr lang="en-US" altLang="zh-CN" sz="1600" b="1" dirty="0">
              <a:solidFill>
                <a:srgbClr val="0000FF"/>
              </a:solidFill>
              <a:latin typeface="Times New Roman" pitchFamily="18" charset="0"/>
              <a:ea typeface="仿宋_GB2312" pitchFamily="49" charset="-122"/>
              <a:cs typeface="Times New Roman" pitchFamily="18" charset="0"/>
            </a:endParaRPr>
          </a:p>
          <a:p>
            <a:pPr>
              <a:buNone/>
            </a:pP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                    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TEST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AL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，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01H	    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  ；数据准备好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?</a:t>
            </a:r>
          </a:p>
          <a:p>
            <a:pPr>
              <a:buNone/>
            </a:pP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                    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JZ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         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READ_S	    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  ；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D</a:t>
            </a:r>
            <a:r>
              <a:rPr lang="en-US" altLang="zh-CN" sz="1600" b="1" baseline="-25000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0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为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0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，循环检测</a:t>
            </a:r>
            <a:endParaRPr lang="en-US" altLang="zh-CN" sz="1600" b="1" dirty="0">
              <a:solidFill>
                <a:srgbClr val="0000FF"/>
              </a:solidFill>
              <a:latin typeface="Times New Roman" pitchFamily="18" charset="0"/>
              <a:ea typeface="仿宋_GB2312" pitchFamily="49" charset="-122"/>
              <a:cs typeface="Times New Roman" pitchFamily="18" charset="0"/>
            </a:endParaRPr>
          </a:p>
          <a:p>
            <a:pPr>
              <a:buNone/>
            </a:pP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                    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IN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         </a:t>
            </a:r>
            <a:r>
              <a:rPr lang="en-US" altLang="zh-CN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AL</a:t>
            </a:r>
            <a:r>
              <a:rPr lang="zh-CN" altLang="en-US" sz="1600" b="1" dirty="0">
                <a:solidFill>
                  <a:srgbClr val="0000FF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，</a:t>
            </a:r>
            <a:r>
              <a:rPr lang="en-US" altLang="zh-CN" sz="1600" b="1" dirty="0">
                <a:solidFill>
                  <a:srgbClr val="0000FF"/>
                </a:solidFill>
                <a:ea typeface="仿宋_GB2312" pitchFamily="49" charset="-122"/>
                <a:cs typeface="Times New Roman" pitchFamily="18" charset="0"/>
              </a:rPr>
              <a:t>PORT_D </a:t>
            </a:r>
            <a:endParaRPr lang="zh-CN" altLang="en-US" sz="16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标题 283649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488238" cy="431800"/>
          </a:xfrm>
          <a:ln/>
        </p:spPr>
        <p:txBody>
          <a:bodyPr anchor="ctr"/>
          <a:lstStyle/>
          <a:p>
            <a:pPr lvl="0"/>
            <a:r>
              <a:rPr lang="en-US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7.3  CPU与外设间的数据传送方式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83651" name="文本框 283650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3652" name="文本框 283651"/>
          <p:cNvSpPr txBox="1"/>
          <p:nvPr/>
        </p:nvSpPr>
        <p:spPr>
          <a:xfrm>
            <a:off x="250825" y="764704"/>
            <a:ext cx="8642350" cy="15696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2．条件传送方式</a:t>
            </a: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</a:rPr>
              <a:t>        </a:t>
            </a:r>
            <a:r>
              <a:rPr lang="en-US" altLang="zh-CN" sz="2400" b="1" dirty="0" err="1">
                <a:latin typeface="Arial" panose="020B0604020202020204" pitchFamily="34" charset="0"/>
              </a:rPr>
              <a:t>条件传送方式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程序查询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zh-CN" altLang="en-US" sz="2400" b="1" dirty="0">
                <a:latin typeface="Arial" panose="020B0604020202020204" pitchFamily="34" charset="0"/>
              </a:rPr>
              <a:t>：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CPU传送数据前，</a:t>
            </a:r>
            <a:r>
              <a:rPr lang="en-US" altLang="zh-CN" sz="2400" b="1" dirty="0" err="1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不断读取并检测外部设备的状态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，只有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外部设备状态信息满足条件时才进行数据传送，否则就一直等待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2367CB8-8CEE-41D6-BBD1-B5F26CEB5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8500"/>
            <a:ext cx="4572638" cy="314368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8E1E082-9B8F-43AE-B15D-11BD3C8E7AB2}"/>
              </a:ext>
            </a:extLst>
          </p:cNvPr>
          <p:cNvSpPr txBox="1"/>
          <p:nvPr/>
        </p:nvSpPr>
        <p:spPr>
          <a:xfrm>
            <a:off x="4644008" y="2310006"/>
            <a:ext cx="407270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F0000"/>
              </a:buClr>
              <a:buFont typeface="Wingdings" pitchFamily="2" charset="2"/>
              <a:buChar char="l"/>
            </a:pPr>
            <a:r>
              <a:rPr lang="zh-CN" altLang="en-US" sz="200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查询式输出电路和工作过程</a:t>
            </a:r>
            <a:endParaRPr lang="en-US" altLang="zh-CN" sz="2000" dirty="0"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  <a:p>
            <a:pPr marL="342900" indent="-342900" algn="just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CPU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准备输出数据时先执行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IN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指令，它使状态口三态门开启，从数据总线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000" baseline="-25000" dirty="0">
                <a:ea typeface="楷体_GB2312" pitchFamily="49" charset="-122"/>
                <a:cs typeface="Times New Roman" pitchFamily="18" charset="0"/>
              </a:rPr>
              <a:t>7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位读入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BUSY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状态。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BUSY=1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，外设忙；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BUSY=0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CPU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可向外设输出数据。</a:t>
            </a:r>
            <a:endParaRPr lang="en-US" altLang="zh-CN" sz="20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42900" indent="-342900" algn="just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外设不忙时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执行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OUT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指令选中数据口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锁存器选通，将数据送向外设。同时，其后沿还使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触发器翻转，置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Q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为高电平。</a:t>
            </a:r>
            <a:endParaRPr lang="en-US" altLang="zh-CN" sz="20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42900" indent="-342900" algn="just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输出设备取走数据后，送回一个应答信号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将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触发器清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586818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标题 284673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488238" cy="431800"/>
          </a:xfrm>
          <a:ln/>
        </p:spPr>
        <p:txBody>
          <a:bodyPr anchor="ctr"/>
          <a:lstStyle/>
          <a:p>
            <a:pPr lvl="0"/>
            <a:r>
              <a:rPr lang="en-US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7.3  CPU与外设间的数据传送方式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84676" name="文本框 284675"/>
          <p:cNvSpPr txBox="1"/>
          <p:nvPr/>
        </p:nvSpPr>
        <p:spPr>
          <a:xfrm>
            <a:off x="250825" y="1057960"/>
            <a:ext cx="799358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查询式输入</a:t>
            </a:r>
            <a:r>
              <a:rPr lang="en-US" altLang="zh-CN" sz="2400" b="1" dirty="0">
                <a:latin typeface="Arial" panose="020B0604020202020204" pitchFamily="34" charset="0"/>
              </a:rPr>
              <a:t>/</a:t>
            </a:r>
            <a:r>
              <a:rPr lang="zh-CN" altLang="en-US" sz="2400" b="1" dirty="0">
                <a:latin typeface="Arial" panose="020B0604020202020204" pitchFamily="34" charset="0"/>
              </a:rPr>
              <a:t>输出传送数据一般需要三个步骤</a:t>
            </a:r>
          </a:p>
        </p:txBody>
      </p:sp>
      <p:pic>
        <p:nvPicPr>
          <p:cNvPr id="284680" name="图片 284679" descr="wps_clip_image-309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1803103"/>
            <a:ext cx="2143125" cy="31416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611188" y="1700808"/>
            <a:ext cx="4320133" cy="37856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</a:rPr>
              <a:t>）读外部设备状态端口信息到</a:t>
            </a:r>
            <a:r>
              <a:rPr lang="en-US" altLang="zh-CN" sz="2400" b="1" dirty="0">
                <a:latin typeface="Arial" panose="020B0604020202020204" pitchFamily="34" charset="0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</a:rPr>
              <a:t>相应寄存器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endParaRPr lang="zh-CN" altLang="en-US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</a:rPr>
              <a:t>）检测相应状态位，判断外部设备是否“准备就绪”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endParaRPr lang="zh-CN" altLang="en-US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3</a:t>
            </a:r>
            <a:r>
              <a:rPr lang="zh-CN" altLang="en-US" sz="2400" b="1" dirty="0">
                <a:latin typeface="Arial" panose="020B0604020202020204" pitchFamily="34" charset="0"/>
              </a:rPr>
              <a:t>）如果已经“准备就绪”，则开始传送数据；否则重复执行（</a:t>
            </a: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</a:rPr>
              <a:t>）、（</a:t>
            </a:r>
            <a:r>
              <a:rPr lang="en-US" altLang="zh-CN" sz="2400" b="1" dirty="0"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</a:rPr>
              <a:t>）步，直到外部设备“准备就绪”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标题 285697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415213" cy="431800"/>
          </a:xfrm>
          <a:ln/>
        </p:spPr>
        <p:txBody>
          <a:bodyPr anchor="ctr"/>
          <a:lstStyle/>
          <a:p>
            <a:pPr lvl="0"/>
            <a:r>
              <a:rPr lang="en-US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7.3  CPU与外设间的数据传送方式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85699" name="文本框 285698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5700" name="文本框 285699"/>
          <p:cNvSpPr txBox="1"/>
          <p:nvPr/>
        </p:nvSpPr>
        <p:spPr>
          <a:xfrm>
            <a:off x="250825" y="908050"/>
            <a:ext cx="8642350" cy="421653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二、</a:t>
            </a:r>
            <a:r>
              <a:rPr lang="en-US" altLang="zh-CN" sz="2800" b="1" dirty="0" err="1">
                <a:solidFill>
                  <a:srgbClr val="0000FF"/>
                </a:solidFill>
                <a:latin typeface="Arial" panose="020B0604020202020204" pitchFamily="34" charset="0"/>
              </a:rPr>
              <a:t>中断传送方式</a:t>
            </a: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    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基本思想</a:t>
            </a:r>
            <a:r>
              <a:rPr lang="zh-CN" altLang="en-US" sz="2400" b="1" dirty="0">
                <a:latin typeface="Arial" panose="020B0604020202020204" pitchFamily="34" charset="0"/>
              </a:rPr>
              <a:t>：外部设备准备就绪（输入设备将数据准备好或输出设备可以接收数据）时，主动向</a:t>
            </a:r>
            <a:r>
              <a:rPr lang="en-US" altLang="zh-CN" sz="2400" b="1" dirty="0">
                <a:latin typeface="Arial" panose="020B0604020202020204" pitchFamily="34" charset="0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</a:rPr>
              <a:t>发出中断请求，使</a:t>
            </a:r>
            <a:r>
              <a:rPr lang="en-US" altLang="zh-CN" sz="2400" b="1" dirty="0">
                <a:latin typeface="Arial" panose="020B0604020202020204" pitchFamily="34" charset="0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</a:rPr>
              <a:t>中断当前正在执行的程序，转去执行输入</a:t>
            </a:r>
            <a:r>
              <a:rPr lang="en-US" altLang="zh-CN" sz="2400" b="1" dirty="0">
                <a:latin typeface="Arial" panose="020B0604020202020204" pitchFamily="34" charset="0"/>
              </a:rPr>
              <a:t>/</a:t>
            </a:r>
            <a:r>
              <a:rPr lang="zh-CN" altLang="en-US" sz="2400" b="1" dirty="0">
                <a:latin typeface="Arial" panose="020B0604020202020204" pitchFamily="34" charset="0"/>
              </a:rPr>
              <a:t>输出中断服务程序进行数据传送，传送完毕后再返回原来的断点处继续执行。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endParaRPr lang="zh-CN" altLang="en-US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    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特点</a:t>
            </a:r>
            <a:r>
              <a:rPr lang="zh-CN" altLang="en-US" sz="2400" b="1" dirty="0">
                <a:latin typeface="Arial" panose="020B0604020202020204" pitchFamily="34" charset="0"/>
              </a:rPr>
              <a:t>：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</a:rPr>
              <a:t>在一定程度上实现了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CPU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与外部设备的并行工作</a:t>
            </a:r>
            <a:endParaRPr lang="en-US" altLang="zh-CN" sz="2400" b="1" dirty="0">
              <a:solidFill>
                <a:srgbClr val="FF00FF"/>
              </a:solidFill>
              <a:latin typeface="Arial" panose="020B0604020202020204" pitchFamily="34" charset="0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提高了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CPU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的利用率</a:t>
            </a:r>
            <a:endParaRPr lang="en-US" altLang="zh-CN" sz="2400" b="1" dirty="0">
              <a:solidFill>
                <a:srgbClr val="FF00FF"/>
              </a:solidFill>
              <a:latin typeface="Arial" panose="020B0604020202020204" pitchFamily="34" charset="0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</a:rPr>
              <a:t>实现了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外部设备的并行</a:t>
            </a:r>
            <a:r>
              <a:rPr lang="zh-CN" altLang="en-US" sz="2400" b="1" dirty="0">
                <a:latin typeface="Arial" panose="020B0604020202020204" pitchFamily="34" charset="0"/>
              </a:rPr>
              <a:t>工作。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标题 286721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415213" cy="431800"/>
          </a:xfrm>
          <a:ln/>
        </p:spPr>
        <p:txBody>
          <a:bodyPr anchor="ctr"/>
          <a:lstStyle/>
          <a:p>
            <a:pPr lvl="0"/>
            <a:r>
              <a:rPr lang="en-US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7.3  CPU与外设间的数据传送方式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86723" name="文本框 286722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038225"/>
            <a:ext cx="4938395" cy="478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标题 287745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415213" cy="431800"/>
          </a:xfrm>
          <a:ln/>
        </p:spPr>
        <p:txBody>
          <a:bodyPr anchor="ctr"/>
          <a:lstStyle/>
          <a:p>
            <a:pPr lvl="0"/>
            <a:r>
              <a:rPr lang="en-US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7.3  CPU与外设间的数据传送方式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87747" name="文本框 287746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7748" name="文本框 287747"/>
          <p:cNvSpPr txBox="1"/>
          <p:nvPr/>
        </p:nvSpPr>
        <p:spPr>
          <a:xfrm>
            <a:off x="251520" y="764704"/>
            <a:ext cx="8642350" cy="53245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三、</a:t>
            </a:r>
            <a:r>
              <a:rPr lang="en-US" altLang="zh-CN" sz="2800" b="1" dirty="0" err="1">
                <a:solidFill>
                  <a:srgbClr val="0000FF"/>
                </a:solidFill>
                <a:latin typeface="Arial" panose="020B0604020202020204" pitchFamily="34" charset="0"/>
              </a:rPr>
              <a:t>DMA传送方式</a:t>
            </a: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lvl="0" eaLnBrk="0" hangingPunct="0"/>
            <a:endParaRPr lang="en-US" altLang="zh-CN" sz="2400" b="1" dirty="0">
              <a:solidFill>
                <a:srgbClr val="FF00FF"/>
              </a:solidFill>
              <a:latin typeface="Arial" panose="020B0604020202020204" pitchFamily="34" charset="0"/>
            </a:endParaRPr>
          </a:p>
          <a:p>
            <a:pPr lvl="0" eaLnBrk="0" hangingPunct="0"/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思想</a:t>
            </a:r>
            <a:r>
              <a:rPr lang="zh-CN" altLang="en-US" sz="2400" b="1" dirty="0">
                <a:latin typeface="Arial" panose="020B0604020202020204" pitchFamily="34" charset="0"/>
              </a:rPr>
              <a:t>：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en-US" altLang="zh-CN" sz="2400" b="1" dirty="0" err="1">
                <a:latin typeface="Arial" panose="020B0604020202020204" pitchFamily="34" charset="0"/>
              </a:rPr>
              <a:t>DMA（Direct</a:t>
            </a:r>
            <a:r>
              <a:rPr lang="en-US" altLang="zh-CN" sz="2400" b="1" dirty="0">
                <a:latin typeface="Arial" panose="020B0604020202020204" pitchFamily="34" charset="0"/>
              </a:rPr>
              <a:t> Memory </a:t>
            </a:r>
            <a:r>
              <a:rPr lang="en-US" altLang="zh-CN" sz="2400" b="1" dirty="0" err="1">
                <a:latin typeface="Arial" panose="020B0604020202020204" pitchFamily="34" charset="0"/>
              </a:rPr>
              <a:t>Acces,直接存储器访问）传送方式</a:t>
            </a:r>
            <a:r>
              <a:rPr lang="zh-CN" altLang="en-US" sz="2400" b="1" dirty="0">
                <a:latin typeface="Arial" panose="020B0604020202020204" pitchFamily="34" charset="0"/>
              </a:rPr>
              <a:t>，</a:t>
            </a:r>
            <a:r>
              <a:rPr lang="en-US" altLang="zh-CN" sz="2400" b="1" dirty="0">
                <a:latin typeface="Arial" panose="020B0604020202020204" pitchFamily="34" charset="0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</a:rPr>
              <a:t>不</a:t>
            </a:r>
            <a:r>
              <a:rPr lang="en-US" altLang="zh-CN" sz="2400" b="1" dirty="0">
                <a:latin typeface="Arial" panose="020B0604020202020204" pitchFamily="34" charset="0"/>
              </a:rPr>
              <a:t>参与，在外部设备与存储器之间开辟直接的数据交换通路，由专门的硬件DMAC（DMA控制器）控制数据在内存与外设、外设与外设之间进行直接传送。</a:t>
            </a:r>
          </a:p>
          <a:p>
            <a:pPr lvl="0" eaLnBrk="0" hangingPunct="0"/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特点</a:t>
            </a:r>
            <a:r>
              <a:rPr lang="zh-CN" altLang="en-US" sz="2400" b="1" dirty="0">
                <a:latin typeface="Arial" panose="020B0604020202020204" pitchFamily="34" charset="0"/>
              </a:rPr>
              <a:t>：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</a:rPr>
              <a:t>）</a:t>
            </a:r>
            <a:r>
              <a:rPr lang="en-US" altLang="zh-CN" sz="2400" b="1" dirty="0" err="1">
                <a:latin typeface="Arial" panose="020B0604020202020204" pitchFamily="34" charset="0"/>
              </a:rPr>
              <a:t>在硬件控制下完成数据传送</a:t>
            </a:r>
            <a:r>
              <a:rPr lang="zh-CN" altLang="en-US" sz="2400" b="1" dirty="0">
                <a:latin typeface="Arial" panose="020B0604020202020204" pitchFamily="34" charset="0"/>
              </a:rPr>
              <a:t>，</a:t>
            </a:r>
            <a:r>
              <a:rPr lang="en-US" altLang="zh-CN" sz="2400" b="1" dirty="0" err="1">
                <a:latin typeface="Arial" panose="020B0604020202020204" pitchFamily="34" charset="0"/>
              </a:rPr>
              <a:t>减轻了CPU的负担</a:t>
            </a:r>
            <a:r>
              <a:rPr lang="zh-CN" altLang="en-US" sz="2400" b="1" dirty="0">
                <a:latin typeface="Arial" panose="020B0604020202020204" pitchFamily="34" charset="0"/>
              </a:rPr>
              <a:t>；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</a:rPr>
              <a:t>）</a:t>
            </a:r>
            <a:r>
              <a:rPr lang="en-US" altLang="zh-CN" sz="2400" b="1" dirty="0" err="1">
                <a:latin typeface="Arial" panose="020B0604020202020204" pitchFamily="34" charset="0"/>
              </a:rPr>
              <a:t>传送的速度上限取决于存储器的工作速度，大大提高了数据传送速率</a:t>
            </a:r>
            <a:r>
              <a:rPr lang="zh-CN" altLang="en-US" sz="2400" b="1" dirty="0">
                <a:latin typeface="Arial" panose="020B0604020202020204" pitchFamily="34" charset="0"/>
              </a:rPr>
              <a:t>；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3</a:t>
            </a:r>
            <a:r>
              <a:rPr lang="zh-CN" altLang="en-US" sz="2400" b="1" dirty="0">
                <a:latin typeface="Arial" panose="020B0604020202020204" pitchFamily="34" charset="0"/>
              </a:rPr>
              <a:t>）</a:t>
            </a:r>
            <a:r>
              <a:rPr lang="en-US" altLang="zh-CN" sz="2400" b="1" dirty="0" err="1">
                <a:latin typeface="Arial" panose="020B0604020202020204" pitchFamily="34" charset="0"/>
              </a:rPr>
              <a:t>DMAC获得总线控制权，为系统的主控部件，CPU不再控制系统总线</a:t>
            </a:r>
            <a:r>
              <a:rPr lang="en-US" altLang="zh-CN" sz="2400" b="1" dirty="0">
                <a:latin typeface="Arial" panose="020B0604020202020204" pitchFamily="34" charset="0"/>
              </a:rPr>
              <a:t>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标题 288769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415213" cy="431800"/>
          </a:xfrm>
          <a:ln/>
        </p:spPr>
        <p:txBody>
          <a:bodyPr anchor="ctr"/>
          <a:lstStyle/>
          <a:p>
            <a:pPr lvl="0"/>
            <a:r>
              <a:rPr lang="en-US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7.3  CPU与外设间的数据传送方式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88771" name="文本框 288770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8772" name="文本框 288771"/>
          <p:cNvSpPr txBox="1"/>
          <p:nvPr/>
        </p:nvSpPr>
        <p:spPr>
          <a:xfrm>
            <a:off x="611188" y="1351697"/>
            <a:ext cx="3961135" cy="378565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DMAC只负责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送出地址及控制信号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，数据传送是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直接在接口和内存之间进行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的，对于内存到内存之间的传送是先用一个DMA存储器读周期将数据从内存读出，放在DMAC中的内部数据暂存器中，再利用另一个DMA存储器写周期将数据写入内存指定位置。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88774" name="图片 288773" descr="wps_clip_image-320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1196752"/>
            <a:ext cx="2547937" cy="47894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标题 290817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415213" cy="431800"/>
          </a:xfrm>
          <a:ln/>
        </p:spPr>
        <p:txBody>
          <a:bodyPr anchor="ctr"/>
          <a:lstStyle/>
          <a:p>
            <a:pPr lvl="0"/>
            <a:r>
              <a:rPr lang="en-US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7.3  CPU与外设间的数据传送方式</a:t>
            </a:r>
            <a:endParaRPr lang="zh-CN" altLang="en-US" sz="36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771800" y="1833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54518"/>
              </p:ext>
            </p:extLst>
          </p:nvPr>
        </p:nvGraphicFramePr>
        <p:xfrm>
          <a:off x="107504" y="908720"/>
          <a:ext cx="5119984" cy="4032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" name="Visio" r:id="rId3" imgW="3994605" imgH="3141757" progId="Visio.Drawing.11">
                  <p:embed/>
                </p:oleObj>
              </mc:Choice>
              <mc:Fallback>
                <p:oleObj name="Visio" r:id="rId3" imgW="3994605" imgH="3141757" progId="Visio.Drawing.11">
                  <p:embed/>
                  <p:pic>
                    <p:nvPicPr>
                      <p:cNvPr id="0" name="对象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908720"/>
                        <a:ext cx="5119984" cy="40324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0BFB4460-9351-46FF-8001-25ECA7BF4604}"/>
              </a:ext>
            </a:extLst>
          </p:cNvPr>
          <p:cNvSpPr txBox="1"/>
          <p:nvPr/>
        </p:nvSpPr>
        <p:spPr>
          <a:xfrm>
            <a:off x="5227487" y="1312307"/>
            <a:ext cx="3809009" cy="470898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/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3.</a:t>
            </a:r>
            <a:r>
              <a:rPr lang="en-US" altLang="zh-CN" sz="2000" b="1" dirty="0">
                <a:latin typeface="Arial" panose="020B0604020202020204" pitchFamily="34" charset="0"/>
              </a:rPr>
              <a:t>当CPU完成当前总线周期后发出HLDA信号，同时放弃对总线的控制权。</a:t>
            </a:r>
          </a:p>
          <a:p>
            <a:pPr lvl="0" eaLnBrk="0" hangingPunct="0"/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4.</a:t>
            </a:r>
            <a:r>
              <a:rPr lang="en-US" altLang="zh-CN" sz="2000" b="1" dirty="0">
                <a:latin typeface="Arial" panose="020B0604020202020204" pitchFamily="34" charset="0"/>
              </a:rPr>
              <a:t>DMAC接管总线，向输入设备发出DMA响应信号</a:t>
            </a:r>
            <a:r>
              <a:rPr lang="zh-CN" altLang="en-US" sz="2000" b="1" dirty="0">
                <a:latin typeface="Arial" panose="020B0604020202020204" pitchFamily="34" charset="0"/>
              </a:rPr>
              <a:t>，</a:t>
            </a:r>
            <a:r>
              <a:rPr lang="en-US" altLang="zh-CN" sz="2000" b="1" dirty="0" err="1">
                <a:latin typeface="Arial" panose="020B0604020202020204" pitchFamily="34" charset="0"/>
              </a:rPr>
              <a:t>进入DMA工作方式</a:t>
            </a:r>
            <a:r>
              <a:rPr lang="en-US" altLang="zh-CN" sz="2000" b="1" dirty="0">
                <a:latin typeface="Arial" panose="020B0604020202020204" pitchFamily="34" charset="0"/>
              </a:rPr>
              <a:t>。</a:t>
            </a:r>
          </a:p>
          <a:p>
            <a:pPr lvl="0" eaLnBrk="0" hangingPunct="0"/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5.</a:t>
            </a:r>
            <a:r>
              <a:rPr lang="en-US" altLang="zh-CN" sz="2000" b="1" dirty="0">
                <a:latin typeface="Arial" panose="020B0604020202020204" pitchFamily="34" charset="0"/>
              </a:rPr>
              <a:t>DMAC发出地址信号和相应的控制信号把外设输入的数据写入存储器，然后修改地址指针和字节计数器，待规定的数据传送完后，DMAC撤消向CPU的HOLD信号。</a:t>
            </a:r>
          </a:p>
          <a:p>
            <a:pPr lvl="0" eaLnBrk="0" hangingPunct="0"/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6.</a:t>
            </a:r>
            <a:r>
              <a:rPr lang="en-US" altLang="zh-CN" sz="2000" b="1" dirty="0">
                <a:latin typeface="Arial" panose="020B0604020202020204" pitchFamily="34" charset="0"/>
              </a:rPr>
              <a:t>CPU检测到HOLD信号失效后也撤消HLDA信号，并在下一时钟周期重新接管总线。</a:t>
            </a:r>
            <a:endParaRPr lang="zh-CN" altLang="en-US" sz="2000" b="1" dirty="0"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74D05D5-9108-4E29-AF72-7119061B2CCF}"/>
              </a:ext>
            </a:extLst>
          </p:cNvPr>
          <p:cNvSpPr txBox="1"/>
          <p:nvPr/>
        </p:nvSpPr>
        <p:spPr>
          <a:xfrm>
            <a:off x="195387" y="4869160"/>
            <a:ext cx="480866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hangingPunct="0"/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1.</a:t>
            </a:r>
            <a:r>
              <a:rPr lang="en-US" altLang="zh-CN" sz="2000" b="1" dirty="0">
                <a:latin typeface="Arial" panose="020B0604020202020204" pitchFamily="34" charset="0"/>
              </a:rPr>
              <a:t>输入设备准备好数据后，发选通信号，一方面把数据存入锁存器，另一方面把DMA请求触发器置1，向DMAC发出DMA请求信号</a:t>
            </a:r>
            <a:r>
              <a:rPr lang="zh-CN" altLang="en-US" sz="2000" b="1" dirty="0">
                <a:latin typeface="Arial" panose="020B0604020202020204" pitchFamily="34" charset="0"/>
              </a:rPr>
              <a:t>。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2.</a:t>
            </a:r>
            <a:r>
              <a:rPr lang="en-US" altLang="zh-CN" sz="2000" b="1" dirty="0">
                <a:latin typeface="Arial" panose="020B0604020202020204" pitchFamily="34" charset="0"/>
              </a:rPr>
              <a:t>DMAC收到DMA请求后向CPU发出HOLD信号，请求使用总线。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接口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99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89"/>
      </a:accent6>
      <a:hlink>
        <a:srgbClr val="FF6600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FF66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2D2D89"/>
        </a:accent6>
        <a:hlink>
          <a:srgbClr val="FF66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89"/>
        </a:accent6>
        <a:hlink>
          <a:srgbClr val="FF66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接口</Template>
  <TotalTime>789</TotalTime>
  <Words>2898</Words>
  <Application>Microsoft Office PowerPoint</Application>
  <PresentationFormat>全屏显示(4:3)</PresentationFormat>
  <Paragraphs>300</Paragraphs>
  <Slides>34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2" baseType="lpstr">
      <vt:lpstr>黑体</vt:lpstr>
      <vt:lpstr>宋体</vt:lpstr>
      <vt:lpstr>Arial</vt:lpstr>
      <vt:lpstr>Tahoma</vt:lpstr>
      <vt:lpstr>Times New Roman</vt:lpstr>
      <vt:lpstr>Wingdings</vt:lpstr>
      <vt:lpstr>接口</vt:lpstr>
      <vt:lpstr>Visio</vt:lpstr>
      <vt:lpstr>PowerPoint 演示文稿</vt:lpstr>
      <vt:lpstr>7.1  I/O接口概述</vt:lpstr>
      <vt:lpstr>7.1  I/O接口概述</vt:lpstr>
      <vt:lpstr>7.1  I/O接口概述</vt:lpstr>
      <vt:lpstr>7.1  I/O接口概述</vt:lpstr>
      <vt:lpstr>7.1  I/O接口概述</vt:lpstr>
      <vt:lpstr>7.1  I/O接口概述</vt:lpstr>
      <vt:lpstr>7.1  I/O接口概述</vt:lpstr>
      <vt:lpstr>7.1  I/O接口概述</vt:lpstr>
      <vt:lpstr>7.2  I/O端口</vt:lpstr>
      <vt:lpstr>7.2  I/O端口</vt:lpstr>
      <vt:lpstr>7.2  I/O端口</vt:lpstr>
      <vt:lpstr>7.2  I/O端口</vt:lpstr>
      <vt:lpstr>7.2  I/O端口</vt:lpstr>
      <vt:lpstr>7.2  I/O端口</vt:lpstr>
      <vt:lpstr>7.2  I/O端口</vt:lpstr>
      <vt:lpstr>7.2  I/O端口</vt:lpstr>
      <vt:lpstr>7.2  I/O端口</vt:lpstr>
      <vt:lpstr>7.2  I/O端口</vt:lpstr>
      <vt:lpstr>7.2  I/O端口</vt:lpstr>
      <vt:lpstr>7.2  I/O端口</vt:lpstr>
      <vt:lpstr>7.2  I/O端口</vt:lpstr>
      <vt:lpstr>7.3  CPU与外设间的数据传送方式</vt:lpstr>
      <vt:lpstr>7.3  CPU与外设间的数据传送方式</vt:lpstr>
      <vt:lpstr>7.3  CPU与外设间的数据传送方式</vt:lpstr>
      <vt:lpstr>7.3  CPU与外设间的数据传送方式</vt:lpstr>
      <vt:lpstr>7.3  CPU与外设间的数据传送方式</vt:lpstr>
      <vt:lpstr>7.3  CPU与外设间的数据传送方式</vt:lpstr>
      <vt:lpstr>7.3  CPU与外设间的数据传送方式</vt:lpstr>
      <vt:lpstr>7.3  CPU与外设间的数据传送方式</vt:lpstr>
      <vt:lpstr>7.3  CPU与外设间的数据传送方式</vt:lpstr>
      <vt:lpstr>7.3  CPU与外设间的数据传送方式</vt:lpstr>
      <vt:lpstr>7.3  CPU与外设间的数据传送方式</vt:lpstr>
      <vt:lpstr>7.3  CPU与外设间的数据传送方式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Joy Liu</cp:lastModifiedBy>
  <cp:revision>688</cp:revision>
  <dcterms:created xsi:type="dcterms:W3CDTF">2017-03-15T08:48:39Z</dcterms:created>
  <dcterms:modified xsi:type="dcterms:W3CDTF">2025-03-09T08:43:48Z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2052-10.1.0.6206</vt:lpwstr>
  </property>
</Properties>
</file>