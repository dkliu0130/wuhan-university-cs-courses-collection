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3"/>
  </p:notesMasterIdLst>
  <p:handoutMasterIdLst>
    <p:handoutMasterId r:id="rId94"/>
  </p:handoutMasterIdLst>
  <p:sldIdLst>
    <p:sldId id="409" r:id="rId2"/>
    <p:sldId id="552" r:id="rId3"/>
    <p:sldId id="459" r:id="rId4"/>
    <p:sldId id="539" r:id="rId5"/>
    <p:sldId id="540" r:id="rId6"/>
    <p:sldId id="541" r:id="rId7"/>
    <p:sldId id="464" r:id="rId8"/>
    <p:sldId id="462" r:id="rId9"/>
    <p:sldId id="521" r:id="rId10"/>
    <p:sldId id="542" r:id="rId11"/>
    <p:sldId id="525" r:id="rId12"/>
    <p:sldId id="526" r:id="rId13"/>
    <p:sldId id="397" r:id="rId14"/>
    <p:sldId id="527" r:id="rId15"/>
    <p:sldId id="396" r:id="rId16"/>
    <p:sldId id="544" r:id="rId17"/>
    <p:sldId id="543" r:id="rId18"/>
    <p:sldId id="395" r:id="rId19"/>
    <p:sldId id="394" r:id="rId20"/>
    <p:sldId id="393" r:id="rId21"/>
    <p:sldId id="546" r:id="rId22"/>
    <p:sldId id="547" r:id="rId23"/>
    <p:sldId id="550" r:id="rId24"/>
    <p:sldId id="551" r:id="rId25"/>
    <p:sldId id="473" r:id="rId26"/>
    <p:sldId id="471" r:id="rId27"/>
    <p:sldId id="553" r:id="rId28"/>
    <p:sldId id="554" r:id="rId29"/>
    <p:sldId id="555" r:id="rId30"/>
    <p:sldId id="556" r:id="rId31"/>
    <p:sldId id="557" r:id="rId32"/>
    <p:sldId id="558" r:id="rId33"/>
    <p:sldId id="565" r:id="rId34"/>
    <p:sldId id="563" r:id="rId35"/>
    <p:sldId id="564" r:id="rId36"/>
    <p:sldId id="504" r:id="rId37"/>
    <p:sldId id="566" r:id="rId38"/>
    <p:sldId id="567" r:id="rId39"/>
    <p:sldId id="507" r:id="rId40"/>
    <p:sldId id="510" r:id="rId41"/>
    <p:sldId id="513" r:id="rId42"/>
    <p:sldId id="522" r:id="rId43"/>
    <p:sldId id="523" r:id="rId44"/>
    <p:sldId id="524" r:id="rId45"/>
    <p:sldId id="568" r:id="rId46"/>
    <p:sldId id="538" r:id="rId47"/>
    <p:sldId id="569" r:id="rId48"/>
    <p:sldId id="570" r:id="rId49"/>
    <p:sldId id="533" r:id="rId50"/>
    <p:sldId id="534" r:id="rId51"/>
    <p:sldId id="535" r:id="rId52"/>
    <p:sldId id="571" r:id="rId53"/>
    <p:sldId id="498" r:id="rId54"/>
    <p:sldId id="499" r:id="rId55"/>
    <p:sldId id="572" r:id="rId56"/>
    <p:sldId id="505" r:id="rId57"/>
    <p:sldId id="508" r:id="rId58"/>
    <p:sldId id="509" r:id="rId59"/>
    <p:sldId id="511" r:id="rId60"/>
    <p:sldId id="500" r:id="rId61"/>
    <p:sldId id="573" r:id="rId62"/>
    <p:sldId id="515" r:id="rId63"/>
    <p:sldId id="516" r:id="rId64"/>
    <p:sldId id="514" r:id="rId65"/>
    <p:sldId id="517" r:id="rId66"/>
    <p:sldId id="518" r:id="rId67"/>
    <p:sldId id="520" r:id="rId68"/>
    <p:sldId id="574" r:id="rId69"/>
    <p:sldId id="575" r:id="rId70"/>
    <p:sldId id="529" r:id="rId71"/>
    <p:sldId id="531" r:id="rId72"/>
    <p:sldId id="532" r:id="rId73"/>
    <p:sldId id="579" r:id="rId74"/>
    <p:sldId id="580" r:id="rId75"/>
    <p:sldId id="581" r:id="rId76"/>
    <p:sldId id="582" r:id="rId77"/>
    <p:sldId id="583" r:id="rId78"/>
    <p:sldId id="528" r:id="rId79"/>
    <p:sldId id="584" r:id="rId80"/>
    <p:sldId id="585" r:id="rId81"/>
    <p:sldId id="586" r:id="rId82"/>
    <p:sldId id="587" r:id="rId83"/>
    <p:sldId id="588" r:id="rId84"/>
    <p:sldId id="589" r:id="rId85"/>
    <p:sldId id="590" r:id="rId86"/>
    <p:sldId id="591" r:id="rId87"/>
    <p:sldId id="592" r:id="rId88"/>
    <p:sldId id="593" r:id="rId89"/>
    <p:sldId id="594" r:id="rId90"/>
    <p:sldId id="595" r:id="rId91"/>
    <p:sldId id="596" r:id="rId92"/>
  </p:sldIdLst>
  <p:sldSz cx="9144000" cy="6858000" type="screen4x3"/>
  <p:notesSz cx="6858000" cy="9144000"/>
  <p:defaultTextStyle>
    <a:defPPr>
      <a:defRPr lang="en-US"/>
    </a:defPPr>
    <a:lvl1pPr marL="0" lvl="0" indent="0" algn="just" defTabSz="91440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just" defTabSz="91440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just" defTabSz="91440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just" defTabSz="91440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just" defTabSz="91440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just" defTabSz="91440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just" defTabSz="91440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just" defTabSz="91440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just" defTabSz="91440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9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FF0000"/>
    <a:srgbClr val="FF0066"/>
    <a:srgbClr val="FF99CC"/>
    <a:srgbClr val="FFFF00"/>
    <a:srgbClr val="6600CC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93"/>
  </p:normalViewPr>
  <p:slideViewPr>
    <p:cSldViewPr showGuides="1">
      <p:cViewPr varScale="1">
        <p:scale>
          <a:sx n="79" d="100"/>
          <a:sy n="79" d="100"/>
        </p:scale>
        <p:origin x="1013" y="53"/>
      </p:cViewPr>
      <p:guideLst>
        <p:guide orient="horz" pos="2136"/>
        <p:guide pos="29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68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页眉占位符 512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5123" name="日期占位符 5122"/>
          <p:cNvSpPr>
            <a:spLocks noGrp="1"/>
          </p:cNvSpPr>
          <p:nvPr>
            <p:ph type="dt" sz="quarter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5124" name="页脚占位符 5123"/>
          <p:cNvSpPr>
            <a:spLocks noGrp="1"/>
          </p:cNvSpPr>
          <p:nvPr>
            <p:ph type="ftr" sz="quarter" idx="2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5125" name="灯片编号占位符 5124"/>
          <p:cNvSpPr>
            <a:spLocks noGrp="1"/>
          </p:cNvSpPr>
          <p:nvPr>
            <p:ph type="sldNum" sz="quarter" idx="3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430556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页眉占位符 409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4099" name="日期占位符 4098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endParaRPr lang="zh-CN" altLang="en-US" sz="1200" dirty="0"/>
          </a:p>
        </p:txBody>
      </p:sp>
      <p:sp>
        <p:nvSpPr>
          <p:cNvPr id="4100" name="幻灯片图像占位符 409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文本占位符 4100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102" name="页脚占位符 4101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eaLnBrk="1" hangingPunct="1"/>
            <a:endParaRPr lang="zh-CN" altLang="en-US" sz="1200" dirty="0"/>
          </a:p>
        </p:txBody>
      </p:sp>
      <p:sp>
        <p:nvSpPr>
          <p:cNvPr id="4103" name="灯片编号占位符 4102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772827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tx1"/>
        </a:solidFill>
        <a:effectLst>
          <a:outerShdw dist="107763" dir="2699999" algn="ctr" rotWithShape="0">
            <a:srgbClr val="02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290" name="组合 268289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68291" name="矩形 268290"/>
            <p:cNvSpPr/>
            <p:nvPr/>
          </p:nvSpPr>
          <p:spPr>
            <a:xfrm>
              <a:off x="0" y="0"/>
              <a:ext cx="5760" cy="535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292" name="矩形 268291"/>
            <p:cNvSpPr/>
            <p:nvPr/>
          </p:nvSpPr>
          <p:spPr>
            <a:xfrm>
              <a:off x="0" y="3147"/>
              <a:ext cx="5760" cy="117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8293" name="标题 268292"/>
          <p:cNvSpPr>
            <a:spLocks noGrp="1"/>
          </p:cNvSpPr>
          <p:nvPr>
            <p:ph type="ctrTitle"/>
          </p:nvPr>
        </p:nvSpPr>
        <p:spPr>
          <a:xfrm>
            <a:off x="1295400" y="15240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lvl="0">
              <a:defRPr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zh-CN" dirty="0"/>
          </a:p>
        </p:txBody>
      </p:sp>
      <p:sp>
        <p:nvSpPr>
          <p:cNvPr id="268294" name="副标题 268293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>
              <a:buNone/>
              <a:defRPr/>
            </a:lvl1pPr>
            <a:lvl2pPr marL="457200" lvl="1" indent="0" algn="ctr">
              <a:buNone/>
              <a:defRPr/>
            </a:lvl2pPr>
            <a:lvl3pPr marL="914400" lvl="2" indent="0" algn="ctr">
              <a:buNone/>
              <a:defRPr/>
            </a:lvl3pPr>
            <a:lvl4pPr marL="1371600" lvl="3" indent="0" algn="ctr">
              <a:buNone/>
              <a:defRPr/>
            </a:lvl4pPr>
            <a:lvl5pPr marL="1828800" lvl="4" indent="0" algn="ctr"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</a:p>
        </p:txBody>
      </p:sp>
      <p:sp>
        <p:nvSpPr>
          <p:cNvPr id="268295" name="日期占位符 268294"/>
          <p:cNvSpPr>
            <a:spLocks noGrp="1"/>
          </p:cNvSpPr>
          <p:nvPr>
            <p:ph type="dt" sz="half" idx="2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eaLnBrk="1" hangingPunct="1">
              <a:spcBef>
                <a:spcPct val="50000"/>
              </a:spcBef>
            </a:pPr>
            <a:endParaRPr lang="zh-CN" altLang="en-US" dirty="0">
              <a:solidFill>
                <a:srgbClr val="FFFFFF"/>
              </a:solidFill>
              <a:latin typeface="Arial Narrow" panose="020B0606020202030204" pitchFamily="34" charset="0"/>
            </a:endParaRPr>
          </a:p>
        </p:txBody>
      </p:sp>
      <p:sp>
        <p:nvSpPr>
          <p:cNvPr id="268296" name="页脚占位符 268295"/>
          <p:cNvSpPr>
            <a:spLocks noGrp="1"/>
          </p:cNvSpPr>
          <p:nvPr>
            <p:ph type="ftr" sz="quarter" idx="3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eaLnBrk="1" hangingPunct="1">
              <a:spcBef>
                <a:spcPct val="50000"/>
              </a:spcBef>
            </a:pPr>
            <a:endParaRPr lang="zh-CN" altLang="en-US" dirty="0">
              <a:solidFill>
                <a:srgbClr val="FFFFFF"/>
              </a:solidFill>
              <a:latin typeface="Arial Narrow" panose="020B0606020202030204" pitchFamily="34" charset="0"/>
            </a:endParaRPr>
          </a:p>
        </p:txBody>
      </p:sp>
      <p:sp>
        <p:nvSpPr>
          <p:cNvPr id="268297" name="灯片编号占位符 268296"/>
          <p:cNvSpPr>
            <a:spLocks noGrp="1"/>
          </p:cNvSpPr>
          <p:nvPr>
            <p:ph type="sldNum" sz="quarter" idx="4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solidFill>
                  <a:srgbClr val="FFFFFF"/>
                </a:solidFill>
                <a:latin typeface="Arial Narrow" panose="020B0606020202030204" pitchFamily="34" charset="0"/>
              </a:rPr>
              <a:t>‹#›</a:t>
            </a:fld>
            <a:endParaRPr lang="zh-CN" altLang="en-US" dirty="0">
              <a:solidFill>
                <a:srgbClr val="FFFFFF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68298" name="组合 268297"/>
          <p:cNvGrpSpPr/>
          <p:nvPr/>
        </p:nvGrpSpPr>
        <p:grpSpPr>
          <a:xfrm>
            <a:off x="152400" y="314325"/>
            <a:ext cx="847725" cy="6543675"/>
            <a:chOff x="96" y="198"/>
            <a:chExt cx="534" cy="4122"/>
          </a:xfrm>
        </p:grpSpPr>
        <p:sp>
          <p:nvSpPr>
            <p:cNvPr id="268299" name="平行四边形 268298"/>
            <p:cNvSpPr/>
            <p:nvPr/>
          </p:nvSpPr>
          <p:spPr>
            <a:xfrm rot="5400000" flipH="1">
              <a:off x="81" y="1994"/>
              <a:ext cx="564" cy="533"/>
            </a:xfrm>
            <a:prstGeom prst="parallelogram">
              <a:avLst>
                <a:gd name="adj" fmla="val 56033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rot="10800000" vert="eaVert"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300" name="平行四边形 268299"/>
            <p:cNvSpPr/>
            <p:nvPr/>
          </p:nvSpPr>
          <p:spPr>
            <a:xfrm rot="5400000" flipH="1">
              <a:off x="81" y="2588"/>
              <a:ext cx="564" cy="533"/>
            </a:xfrm>
            <a:prstGeom prst="parallelogram">
              <a:avLst>
                <a:gd name="adj" fmla="val 56033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rot="10800000" vert="eaVert"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301" name="平行四边形 268300"/>
            <p:cNvSpPr/>
            <p:nvPr/>
          </p:nvSpPr>
          <p:spPr>
            <a:xfrm rot="5400000" flipH="1">
              <a:off x="80" y="3181"/>
              <a:ext cx="564" cy="533"/>
            </a:xfrm>
            <a:prstGeom prst="parallelogram">
              <a:avLst>
                <a:gd name="adj" fmla="val 56033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rot="10800000" vert="eaVert"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302" name="平行四边形 268301"/>
            <p:cNvSpPr/>
            <p:nvPr/>
          </p:nvSpPr>
          <p:spPr>
            <a:xfrm rot="5400000" flipH="1">
              <a:off x="83" y="3774"/>
              <a:ext cx="558" cy="533"/>
            </a:xfrm>
            <a:prstGeom prst="parallelogram">
              <a:avLst>
                <a:gd name="adj" fmla="val 55437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rot="10800000" vert="eaVert"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303" name="平行四边形 268302"/>
            <p:cNvSpPr/>
            <p:nvPr/>
          </p:nvSpPr>
          <p:spPr>
            <a:xfrm rot="5400000" flipH="1">
              <a:off x="81" y="213"/>
              <a:ext cx="564" cy="533"/>
            </a:xfrm>
            <a:prstGeom prst="parallelogram">
              <a:avLst>
                <a:gd name="adj" fmla="val 56033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rot="10800000" vert="eaVert"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304" name="平行四边形 268303"/>
            <p:cNvSpPr/>
            <p:nvPr/>
          </p:nvSpPr>
          <p:spPr>
            <a:xfrm rot="5400000" flipH="1">
              <a:off x="80" y="803"/>
              <a:ext cx="564" cy="533"/>
            </a:xfrm>
            <a:prstGeom prst="parallelogram">
              <a:avLst>
                <a:gd name="adj" fmla="val 56033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rot="10800000" vert="eaVert"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305" name="平行四边形 268304"/>
            <p:cNvSpPr/>
            <p:nvPr/>
          </p:nvSpPr>
          <p:spPr>
            <a:xfrm rot="5400000" flipH="1">
              <a:off x="80" y="1399"/>
              <a:ext cx="564" cy="533"/>
            </a:xfrm>
            <a:prstGeom prst="parallelogram">
              <a:avLst>
                <a:gd name="adj" fmla="val 56033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rot="10800000" vert="eaVert"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8306" name="矩形 268305"/>
          <p:cNvSpPr/>
          <p:nvPr/>
        </p:nvSpPr>
        <p:spPr>
          <a:xfrm>
            <a:off x="441325" y="0"/>
            <a:ext cx="276225" cy="68580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50000">
                <a:schemeClr val="folHlink"/>
              </a:gs>
              <a:gs pos="100000">
                <a:schemeClr val="bg2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 eaLnBrk="1" hangingPunct="1">
              <a:spcBef>
                <a:spcPct val="0"/>
              </a:spcBef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8307" name="五边形 268306"/>
          <p:cNvSpPr/>
          <p:nvPr/>
        </p:nvSpPr>
        <p:spPr>
          <a:xfrm flipH="1">
            <a:off x="547688" y="2717800"/>
            <a:ext cx="8596312" cy="254000"/>
          </a:xfrm>
          <a:prstGeom prst="homePlate">
            <a:avLst>
              <a:gd name="adj" fmla="val 58913"/>
            </a:avLst>
          </a:prstGeom>
          <a:gradFill rotWithShape="0">
            <a:gsLst>
              <a:gs pos="0">
                <a:schemeClr val="bg2"/>
              </a:gs>
              <a:gs pos="50000">
                <a:schemeClr val="folHlink"/>
              </a:gs>
              <a:gs pos="100000">
                <a:schemeClr val="bg2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 eaLnBrk="1" hangingPunct="1">
              <a:spcBef>
                <a:spcPct val="0"/>
              </a:spcBef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68308" name="组合 268307"/>
          <p:cNvGrpSpPr/>
          <p:nvPr/>
        </p:nvGrpSpPr>
        <p:grpSpPr>
          <a:xfrm>
            <a:off x="422275" y="2697163"/>
            <a:ext cx="295275" cy="4160837"/>
            <a:chOff x="266" y="1699"/>
            <a:chExt cx="186" cy="2621"/>
          </a:xfrm>
        </p:grpSpPr>
        <p:sp>
          <p:nvSpPr>
            <p:cNvPr id="268309" name="椭圆 268308"/>
            <p:cNvSpPr/>
            <p:nvPr/>
          </p:nvSpPr>
          <p:spPr>
            <a:xfrm>
              <a:off x="266" y="1699"/>
              <a:ext cx="186" cy="173"/>
            </a:xfrm>
            <a:prstGeom prst="ellipse">
              <a:avLst/>
            </a:prstGeom>
            <a:gradFill rotWithShape="0">
              <a:gsLst>
                <a:gs pos="0">
                  <a:srgbClr val="FEFFFF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310" name="矩形 268309"/>
            <p:cNvSpPr/>
            <p:nvPr/>
          </p:nvSpPr>
          <p:spPr>
            <a:xfrm>
              <a:off x="292" y="1701"/>
              <a:ext cx="102" cy="26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68311" name="组合 268310"/>
          <p:cNvGrpSpPr/>
          <p:nvPr/>
        </p:nvGrpSpPr>
        <p:grpSpPr>
          <a:xfrm>
            <a:off x="484188" y="2697163"/>
            <a:ext cx="9056687" cy="274637"/>
            <a:chOff x="305" y="1046"/>
            <a:chExt cx="5705" cy="173"/>
          </a:xfrm>
        </p:grpSpPr>
        <p:sp>
          <p:nvSpPr>
            <p:cNvPr id="268312" name="椭圆 268311"/>
            <p:cNvSpPr/>
            <p:nvPr/>
          </p:nvSpPr>
          <p:spPr>
            <a:xfrm>
              <a:off x="5818" y="1046"/>
              <a:ext cx="192" cy="173"/>
            </a:xfrm>
            <a:prstGeom prst="ellipse">
              <a:avLst/>
            </a:prstGeom>
            <a:gradFill rotWithShape="0">
              <a:gsLst>
                <a:gs pos="0">
                  <a:srgbClr val="FEFFFF"/>
                </a:gs>
                <a:gs pos="100000">
                  <a:schemeClr val="folHlink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313" name="矩形 268312"/>
            <p:cNvSpPr/>
            <p:nvPr/>
          </p:nvSpPr>
          <p:spPr>
            <a:xfrm>
              <a:off x="305" y="1086"/>
              <a:ext cx="5513" cy="1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68314" name="组合 268313"/>
          <p:cNvGrpSpPr/>
          <p:nvPr/>
        </p:nvGrpSpPr>
        <p:grpSpPr>
          <a:xfrm>
            <a:off x="150813" y="0"/>
            <a:ext cx="849312" cy="6858000"/>
            <a:chOff x="95" y="0"/>
            <a:chExt cx="535" cy="4320"/>
          </a:xfrm>
        </p:grpSpPr>
        <p:sp>
          <p:nvSpPr>
            <p:cNvPr id="268315" name="平行四边形 268314"/>
            <p:cNvSpPr/>
            <p:nvPr/>
          </p:nvSpPr>
          <p:spPr>
            <a:xfrm rot="-5400000">
              <a:off x="81" y="2291"/>
              <a:ext cx="564" cy="533"/>
            </a:xfrm>
            <a:prstGeom prst="parallelogram">
              <a:avLst>
                <a:gd name="adj" fmla="val 56033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rot="0" vert="eaVert"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316" name="平行四边形 268315"/>
            <p:cNvSpPr/>
            <p:nvPr/>
          </p:nvSpPr>
          <p:spPr>
            <a:xfrm rot="-5400000">
              <a:off x="81" y="2886"/>
              <a:ext cx="565" cy="533"/>
            </a:xfrm>
            <a:prstGeom prst="parallelogram">
              <a:avLst>
                <a:gd name="adj" fmla="val 56133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rot="0" vert="eaVert"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317" name="平行四边形 268316"/>
            <p:cNvSpPr/>
            <p:nvPr/>
          </p:nvSpPr>
          <p:spPr>
            <a:xfrm rot="-5400000">
              <a:off x="80" y="3479"/>
              <a:ext cx="564" cy="533"/>
            </a:xfrm>
            <a:prstGeom prst="parallelogram">
              <a:avLst>
                <a:gd name="adj" fmla="val 56033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rot="0" vert="eaVert"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318" name="平行四边形 268317"/>
            <p:cNvSpPr/>
            <p:nvPr/>
          </p:nvSpPr>
          <p:spPr>
            <a:xfrm rot="-5400000">
              <a:off x="81" y="508"/>
              <a:ext cx="565" cy="533"/>
            </a:xfrm>
            <a:prstGeom prst="parallelogram">
              <a:avLst>
                <a:gd name="adj" fmla="val 56133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rot="0" vert="eaVert"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319" name="平行四边形 268318"/>
            <p:cNvSpPr/>
            <p:nvPr/>
          </p:nvSpPr>
          <p:spPr>
            <a:xfrm rot="-5400000">
              <a:off x="80" y="1101"/>
              <a:ext cx="564" cy="533"/>
            </a:xfrm>
            <a:prstGeom prst="parallelogram">
              <a:avLst>
                <a:gd name="adj" fmla="val 56033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rot="0" vert="eaVert"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320" name="平行四边形 268319"/>
            <p:cNvSpPr/>
            <p:nvPr/>
          </p:nvSpPr>
          <p:spPr>
            <a:xfrm rot="-5400000">
              <a:off x="80" y="1697"/>
              <a:ext cx="564" cy="533"/>
            </a:xfrm>
            <a:prstGeom prst="parallelogram">
              <a:avLst>
                <a:gd name="adj" fmla="val 56033"/>
              </a:avLst>
            </a:prstGeom>
            <a:gradFill rotWithShape="0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rot="0" vert="eaVert" wrap="none" anchor="ctr"/>
            <a:lstStyle/>
            <a:p>
              <a:pPr lvl="0" algn="ctr" eaLnBrk="1" hangingPunct="1">
                <a:spcBef>
                  <a:spcPct val="0"/>
                </a:spcBef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321" name="任意多边形 268320"/>
            <p:cNvSpPr/>
            <p:nvPr/>
          </p:nvSpPr>
          <p:spPr>
            <a:xfrm>
              <a:off x="98" y="0"/>
              <a:ext cx="532" cy="465"/>
            </a:xfrm>
            <a:custGeom>
              <a:avLst/>
              <a:gdLst/>
              <a:ahLst/>
              <a:cxnLst/>
              <a:rect l="0" t="0" r="0" b="0"/>
              <a:pathLst>
                <a:path w="532" h="465">
                  <a:moveTo>
                    <a:pt x="1" y="0"/>
                  </a:moveTo>
                  <a:lnTo>
                    <a:pt x="0" y="166"/>
                  </a:lnTo>
                  <a:lnTo>
                    <a:pt x="532" y="465"/>
                  </a:lnTo>
                  <a:lnTo>
                    <a:pt x="532" y="201"/>
                  </a:lnTo>
                  <a:lnTo>
                    <a:pt x="172" y="0"/>
                  </a:lnTo>
                  <a:lnTo>
                    <a:pt x="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322" name="任意多边形 268321"/>
            <p:cNvSpPr/>
            <p:nvPr/>
          </p:nvSpPr>
          <p:spPr>
            <a:xfrm>
              <a:off x="95" y="4060"/>
              <a:ext cx="457" cy="260"/>
            </a:xfrm>
            <a:custGeom>
              <a:avLst/>
              <a:gdLst/>
              <a:ahLst/>
              <a:cxnLst/>
              <a:rect l="0" t="0" r="0" b="0"/>
              <a:pathLst>
                <a:path w="457" h="264">
                  <a:moveTo>
                    <a:pt x="457" y="260"/>
                  </a:moveTo>
                  <a:lnTo>
                    <a:pt x="1" y="0"/>
                  </a:lnTo>
                  <a:lnTo>
                    <a:pt x="0" y="264"/>
                  </a:lnTo>
                  <a:lnTo>
                    <a:pt x="457" y="26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>
                    <a:alpha val="100000"/>
                  </a:schemeClr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BB962C8B-B14F-4D97-AF65-F5344CB8AC3E}" type="datetime1">
              <a:rPr lang="zh-CN" altLang="en-US" dirty="0"/>
              <a:t>2025/3/2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43000" y="1447800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6924" y="1447800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3713" y="365125"/>
            <a:ext cx="2071688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09496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>
          <a:outerShdw dist="107763" dir="2699999" algn="ctr" rotWithShape="0">
            <a:srgbClr val="02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文本占位符 267266"/>
          <p:cNvSpPr>
            <a:spLocks noGrp="1"/>
          </p:cNvSpPr>
          <p:nvPr>
            <p:ph type="body" idx="1"/>
          </p:nvPr>
        </p:nvSpPr>
        <p:spPr>
          <a:xfrm>
            <a:off x="1143000" y="14478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67268" name="日期占位符 267267"/>
          <p:cNvSpPr>
            <a:spLocks noGrp="1"/>
          </p:cNvSpPr>
          <p:nvPr>
            <p:ph type="dt" sz="half" idx="2"/>
          </p:nvPr>
        </p:nvSpPr>
        <p:spPr>
          <a:xfrm>
            <a:off x="1219200" y="6477000"/>
            <a:ext cx="19050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latin typeface="Arial Narrow" panose="020B0606020202030204" pitchFamily="34" charset="0"/>
              </a:defRPr>
            </a:lvl1pPr>
          </a:lstStyle>
          <a:p>
            <a:pPr lvl="0" eaLnBrk="1" hangingPunct="1">
              <a:spcBef>
                <a:spcPct val="50000"/>
              </a:spcBef>
            </a:pPr>
            <a:fld id="{BB962C8B-B14F-4D97-AF65-F5344CB8AC3E}" type="datetime1">
              <a:rPr lang="zh-CN" altLang="en-US" dirty="0"/>
              <a:t>2025/3/2</a:t>
            </a:fld>
            <a:endParaRPr lang="zh-CN" altLang="en-US" dirty="0"/>
          </a:p>
        </p:txBody>
      </p:sp>
      <p:sp>
        <p:nvSpPr>
          <p:cNvPr id="267269" name="页脚占位符 267268"/>
          <p:cNvSpPr>
            <a:spLocks noGrp="1"/>
          </p:cNvSpPr>
          <p:nvPr>
            <p:ph type="ftr" sz="quarter" idx="3"/>
          </p:nvPr>
        </p:nvSpPr>
        <p:spPr>
          <a:xfrm>
            <a:off x="3657600" y="6400800"/>
            <a:ext cx="28956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latin typeface="Arial Narrow" panose="020B0606020202030204" pitchFamily="34" charset="0"/>
              </a:defRPr>
            </a:lvl1pPr>
          </a:lstStyle>
          <a:p>
            <a:pPr lvl="0"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267270" name="灯片编号占位符 267269"/>
          <p:cNvSpPr>
            <a:spLocks noGrp="1"/>
          </p:cNvSpPr>
          <p:nvPr>
            <p:ph type="sldNum" sz="quarter" idx="4"/>
          </p:nvPr>
        </p:nvSpPr>
        <p:spPr>
          <a:xfrm>
            <a:off x="7092950" y="6400800"/>
            <a:ext cx="19050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latin typeface="Arial Narrow" panose="020B0606020202030204" pitchFamily="34" charset="0"/>
              </a:defRPr>
            </a:lvl1pPr>
          </a:lstStyle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  <p:pic>
        <p:nvPicPr>
          <p:cNvPr id="267305" name="图片 267304" descr="上一页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548313" y="6364288"/>
            <a:ext cx="1039812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7306" name="图片 267305" descr="退出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740650" y="6364288"/>
            <a:ext cx="1039813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7307" name="图片 267306" descr="下一页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6627813" y="6364288"/>
            <a:ext cx="1039812" cy="520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7308" name="直接连接符 267307"/>
          <p:cNvSpPr/>
          <p:nvPr userDrawn="1"/>
        </p:nvSpPr>
        <p:spPr>
          <a:xfrm>
            <a:off x="179388" y="667058"/>
            <a:ext cx="8763000" cy="0"/>
          </a:xfrm>
          <a:prstGeom prst="line">
            <a:avLst/>
          </a:prstGeom>
          <a:ln w="539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</p:sp>
      <p:pic>
        <p:nvPicPr>
          <p:cNvPr id="11" name="Object 18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90563" cy="636588"/>
          </a:xfrm>
          <a:prstGeom prst="rect">
            <a:avLst/>
          </a:prstGeom>
          <a:solidFill>
            <a:srgbClr val="458F8F"/>
          </a:solidFill>
          <a:ln w="9525">
            <a:solidFill>
              <a:srgbClr val="2B166E"/>
            </a:solidFill>
            <a:miter lim="800000"/>
            <a:headEnd/>
            <a:tailEnd/>
          </a:ln>
        </p:spPr>
      </p:pic>
      <p:pic>
        <p:nvPicPr>
          <p:cNvPr id="12" name="Object 19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" y="0"/>
            <a:ext cx="676275" cy="636588"/>
          </a:xfrm>
          <a:prstGeom prst="rect">
            <a:avLst/>
          </a:prstGeom>
          <a:solidFill>
            <a:srgbClr val="458F8F"/>
          </a:solidFill>
          <a:ln w="9525">
            <a:solidFill>
              <a:srgbClr val="2B166E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b"/>
        <a:defRPr sz="32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•"/>
        <a:defRPr sz="28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Monotype Sorts" pitchFamily="2" charset="2"/>
        <a:buChar char="–"/>
        <a:defRPr sz="24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Monotype Sorts" pitchFamily="2" charset="2"/>
        <a:buChar char="–"/>
        <a:defRPr sz="20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Monotype Sorts" pitchFamily="2" charset="2"/>
        <a:buChar char="»"/>
        <a:defRPr sz="20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Monotype Sorts" pitchFamily="2" charset="2"/>
        <a:buChar char="»"/>
        <a:defRPr sz="20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Monotype Sorts" pitchFamily="2" charset="2"/>
        <a:buChar char="»"/>
        <a:defRPr sz="20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Monotype Sorts" pitchFamily="2" charset="2"/>
        <a:buChar char="»"/>
        <a:defRPr sz="20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Monotype Sorts" pitchFamily="2" charset="2"/>
        <a:buChar char="»"/>
        <a:defRPr sz="2000" b="0" i="0" u="none" kern="1200" baseline="0">
          <a:solidFill>
            <a:schemeClr val="tx1"/>
          </a:solidFill>
          <a:effectLst>
            <a:outerShdw blurRad="38100" dist="38100" dir="2700000">
              <a:srgbClr val="C0C0C0"/>
            </a:outerShdw>
          </a:effectLst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8" name="矩形 225287"/>
          <p:cNvSpPr/>
          <p:nvPr/>
        </p:nvSpPr>
        <p:spPr>
          <a:xfrm>
            <a:off x="1331913" y="115888"/>
            <a:ext cx="7056437" cy="576262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 algn="ctr">
              <a:buClrTx/>
              <a:buNone/>
            </a:pPr>
            <a:r>
              <a:rPr lang="zh-CN" altLang="en-US" sz="3600" b="1" dirty="0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4</a:t>
            </a:r>
            <a:r>
              <a:rPr lang="zh-CN" altLang="en-US" sz="3600" b="1" dirty="0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章　汇编语言程序设计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1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763688" y="1939925"/>
            <a:ext cx="5904656" cy="314525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>
              <a:lnSpc>
                <a:spcPct val="105000"/>
              </a:lnSpc>
            </a:pPr>
            <a:r>
              <a:rPr lang="en-US" altLang="zh-CN" sz="3200" b="1" dirty="0">
                <a:solidFill>
                  <a:schemeClr val="bg2"/>
                </a:solidFill>
                <a:latin typeface="宋体" panose="02010600030101010101" pitchFamily="2" charset="-122"/>
              </a:rPr>
              <a:t>4.1  </a:t>
            </a:r>
            <a:r>
              <a:rPr lang="zh-CN" altLang="en-US" sz="3200" b="1" dirty="0">
                <a:solidFill>
                  <a:schemeClr val="bg2"/>
                </a:solidFill>
                <a:latin typeface="宋体" panose="02010600030101010101" pitchFamily="2" charset="-122"/>
              </a:rPr>
              <a:t>汇编语言源程序</a:t>
            </a:r>
            <a:endParaRPr lang="en-US" altLang="zh-CN" sz="32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lvl="0">
              <a:lnSpc>
                <a:spcPct val="105000"/>
              </a:lnSpc>
            </a:pPr>
            <a:r>
              <a:rPr lang="en-US" altLang="zh-CN" sz="3200" b="1" dirty="0">
                <a:solidFill>
                  <a:schemeClr val="bg2"/>
                </a:solidFill>
                <a:latin typeface="宋体" panose="02010600030101010101" pitchFamily="2" charset="-122"/>
              </a:rPr>
              <a:t>4.2  </a:t>
            </a:r>
            <a:r>
              <a:rPr lang="zh-CN" altLang="zh-CN" sz="3200" b="1" dirty="0">
                <a:solidFill>
                  <a:schemeClr val="bg2"/>
                </a:solidFill>
                <a:latin typeface="宋体" panose="02010600030101010101" pitchFamily="2" charset="-122"/>
              </a:rPr>
              <a:t>汇编语言伪指令</a:t>
            </a:r>
            <a:endParaRPr lang="en-US" altLang="zh-CN" sz="32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lvl="0">
              <a:lnSpc>
                <a:spcPct val="105000"/>
              </a:lnSpc>
            </a:pPr>
            <a:r>
              <a:rPr lang="en-US" altLang="zh-CN" sz="3200" b="1" dirty="0">
                <a:solidFill>
                  <a:schemeClr val="bg2"/>
                </a:solidFill>
                <a:latin typeface="宋体" panose="02010600030101010101" pitchFamily="2" charset="-122"/>
              </a:rPr>
              <a:t>4.3</a:t>
            </a:r>
            <a:r>
              <a:rPr lang="en-US" altLang="zh-CN" sz="3200" b="1" dirty="0">
                <a:solidFill>
                  <a:srgbClr val="0000FF"/>
                </a:solidFill>
                <a:latin typeface="宋体" panose="02010600030101010101" pitchFamily="2" charset="-122"/>
              </a:rPr>
              <a:t>  </a:t>
            </a:r>
            <a:r>
              <a:rPr lang="zh-CN" altLang="zh-CN" sz="3200" b="1" dirty="0">
                <a:solidFill>
                  <a:schemeClr val="bg2"/>
                </a:solidFill>
                <a:latin typeface="宋体" panose="02010600030101010101" pitchFamily="2" charset="-122"/>
              </a:rPr>
              <a:t>汇编语言程序的上机过程</a:t>
            </a:r>
            <a:endParaRPr lang="en-US" altLang="zh-CN" sz="32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b="1" dirty="0">
                <a:solidFill>
                  <a:schemeClr val="bg2"/>
                </a:solidFill>
                <a:latin typeface="宋体" panose="02010600030101010101" pitchFamily="2" charset="-122"/>
              </a:rPr>
              <a:t>4.4  </a:t>
            </a:r>
            <a:r>
              <a:rPr lang="zh-CN" altLang="en-US" sz="3200" b="1" dirty="0">
                <a:solidFill>
                  <a:schemeClr val="bg2"/>
                </a:solidFill>
                <a:latin typeface="宋体" panose="02010600030101010101" pitchFamily="2" charset="-122"/>
              </a:rPr>
              <a:t>调试工具</a:t>
            </a:r>
            <a:r>
              <a:rPr lang="en-US" altLang="zh-CN" sz="3200" b="1" dirty="0">
                <a:solidFill>
                  <a:schemeClr val="bg2"/>
                </a:solidFill>
                <a:latin typeface="宋体" panose="02010600030101010101" pitchFamily="2" charset="-122"/>
              </a:rPr>
              <a:t>DEBUG </a:t>
            </a:r>
          </a:p>
          <a:p>
            <a:pPr lvl="0">
              <a:lnSpc>
                <a:spcPct val="105000"/>
              </a:lnSpc>
            </a:pPr>
            <a:r>
              <a:rPr lang="en-US" altLang="zh-CN" sz="3200" b="1" dirty="0">
                <a:solidFill>
                  <a:schemeClr val="bg2"/>
                </a:solidFill>
                <a:latin typeface="宋体" panose="02010600030101010101" pitchFamily="2" charset="-122"/>
              </a:rPr>
              <a:t>4.5  DOS</a:t>
            </a:r>
            <a:r>
              <a:rPr lang="zh-CN" altLang="zh-CN" sz="3200" b="1" dirty="0">
                <a:solidFill>
                  <a:schemeClr val="bg2"/>
                </a:solidFill>
                <a:latin typeface="宋体" panose="02010600030101010101" pitchFamily="2" charset="-122"/>
              </a:rPr>
              <a:t>系统功能调用</a:t>
            </a:r>
            <a:endParaRPr lang="en-US" altLang="zh-CN" sz="32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3200" b="1" dirty="0">
                <a:solidFill>
                  <a:schemeClr val="bg2"/>
                </a:solidFill>
                <a:latin typeface="宋体" panose="02010600030101010101" pitchFamily="2" charset="-122"/>
              </a:rPr>
              <a:t>4.6  </a:t>
            </a:r>
            <a:r>
              <a:rPr lang="zh-CN" altLang="zh-CN" sz="3200" b="1" dirty="0">
                <a:solidFill>
                  <a:schemeClr val="bg2"/>
                </a:solidFill>
                <a:latin typeface="宋体" panose="02010600030101010101" pitchFamily="2" charset="-122"/>
              </a:rPr>
              <a:t>汇编语言程序设计</a:t>
            </a:r>
          </a:p>
          <a:p>
            <a:pPr lvl="0">
              <a:lnSpc>
                <a:spcPct val="105000"/>
              </a:lnSpc>
            </a:pPr>
            <a:endParaRPr lang="zh-CN" altLang="en-US" sz="3200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文本框 8194"/>
          <p:cNvSpPr txBox="1">
            <a:spLocks noChangeArrowheads="1"/>
          </p:cNvSpPr>
          <p:nvPr/>
        </p:nvSpPr>
        <p:spPr bwMode="auto">
          <a:xfrm>
            <a:off x="381000" y="764704"/>
            <a:ext cx="8458200" cy="469667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b="1" dirty="0">
                <a:solidFill>
                  <a:schemeClr val="bg2"/>
                </a:solidFill>
              </a:rPr>
              <a:t>　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cs typeface="+mj-cs"/>
              </a:rPr>
              <a:t>一、汇编语言基本概念</a:t>
            </a:r>
            <a:r>
              <a:rPr lang="zh-CN" altLang="en-US" b="1" dirty="0">
                <a:solidFill>
                  <a:schemeClr val="bg2"/>
                </a:solidFill>
              </a:rPr>
              <a:t>　</a:t>
            </a:r>
          </a:p>
          <a:p>
            <a:pPr>
              <a:buClr>
                <a:srgbClr val="6600FF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00FF"/>
                </a:solidFill>
              </a:rPr>
              <a:t>  </a:t>
            </a:r>
            <a:r>
              <a:rPr lang="zh-CN" altLang="zh-CN" b="1" dirty="0">
                <a:solidFill>
                  <a:srgbClr val="0000FF"/>
                </a:solidFill>
              </a:rPr>
              <a:t>机器语言</a:t>
            </a:r>
            <a:r>
              <a:rPr lang="zh-CN" altLang="en-US" b="1" dirty="0">
                <a:solidFill>
                  <a:srgbClr val="0000FF"/>
                </a:solidFill>
              </a:rPr>
              <a:t>：</a:t>
            </a:r>
            <a:r>
              <a:rPr lang="zh-CN" altLang="zh-CN" b="1" dirty="0">
                <a:solidFill>
                  <a:schemeClr val="bg2"/>
                </a:solidFill>
              </a:rPr>
              <a:t>能够直接控制计算机完成指定动作的</a:t>
            </a:r>
            <a:r>
              <a:rPr lang="zh-CN" altLang="en-US" b="1" dirty="0">
                <a:solidFill>
                  <a:schemeClr val="bg2"/>
                </a:solidFill>
              </a:rPr>
              <a:t>。　</a:t>
            </a:r>
            <a:endParaRPr lang="en-US" altLang="zh-CN" b="1" dirty="0">
              <a:solidFill>
                <a:schemeClr val="bg2"/>
              </a:solidFill>
            </a:endParaRPr>
          </a:p>
          <a:p>
            <a:pPr>
              <a:buClr>
                <a:srgbClr val="6600FF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chemeClr val="bg2"/>
                </a:solidFill>
              </a:rPr>
              <a:t>  </a:t>
            </a:r>
            <a:r>
              <a:rPr lang="zh-CN" altLang="en-US" b="1" dirty="0">
                <a:solidFill>
                  <a:srgbClr val="0000FF"/>
                </a:solidFill>
              </a:rPr>
              <a:t>汇编语言</a:t>
            </a:r>
            <a:r>
              <a:rPr lang="zh-CN" altLang="en-US" b="1" dirty="0">
                <a:solidFill>
                  <a:schemeClr val="bg2"/>
                </a:solidFill>
              </a:rPr>
              <a:t>：一种用符号书写的、基本操作与</a:t>
            </a:r>
            <a:r>
              <a:rPr lang="zh-CN" altLang="en-US" b="1" dirty="0">
                <a:solidFill>
                  <a:srgbClr val="0000FF"/>
                </a:solidFill>
              </a:rPr>
              <a:t>机器指令</a:t>
            </a:r>
            <a:r>
              <a:rPr lang="zh-CN" altLang="en-US" b="1" dirty="0">
                <a:solidFill>
                  <a:schemeClr val="bg2"/>
                </a:solidFill>
              </a:rPr>
              <a:t>相对</a:t>
            </a:r>
            <a:endParaRPr lang="en-US" altLang="zh-CN" b="1" dirty="0">
              <a:solidFill>
                <a:schemeClr val="bg2"/>
              </a:solidFill>
            </a:endParaRPr>
          </a:p>
          <a:p>
            <a:pPr>
              <a:buClr>
                <a:srgbClr val="6600FF"/>
              </a:buClr>
            </a:pPr>
            <a:r>
              <a:rPr lang="en-US" altLang="zh-CN" b="1" dirty="0">
                <a:solidFill>
                  <a:schemeClr val="bg2"/>
                </a:solidFill>
              </a:rPr>
              <a:t>                  </a:t>
            </a:r>
            <a:r>
              <a:rPr lang="zh-CN" altLang="en-US" b="1" dirty="0">
                <a:solidFill>
                  <a:schemeClr val="bg2"/>
                </a:solidFill>
              </a:rPr>
              <a:t>应的、并遵循一定语法规则的计算机语言。</a:t>
            </a:r>
          </a:p>
          <a:p>
            <a:pPr>
              <a:buClr>
                <a:srgbClr val="6600FF"/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bg2"/>
                </a:solidFill>
                <a:latin typeface="宋体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</a:rPr>
              <a:t>汇编源程序</a:t>
            </a:r>
            <a:r>
              <a:rPr lang="zh-CN" altLang="en-US" b="1" dirty="0">
                <a:solidFill>
                  <a:schemeClr val="bg2"/>
                </a:solidFill>
              </a:rPr>
              <a:t>：用汇编语言提供的指令和伪指令编写的程序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6600FF"/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  <a:sym typeface="Arial" pitchFamily="34" charset="0"/>
              </a:rPr>
              <a:t>  汇编</a:t>
            </a:r>
            <a:r>
              <a:rPr lang="zh-CN" altLang="en-US" b="1" dirty="0">
                <a:solidFill>
                  <a:schemeClr val="bg2"/>
                </a:solidFill>
              </a:rPr>
              <a:t>：汇编语言源程序要翻译成机器语言程序才可以由计</a:t>
            </a:r>
            <a:endParaRPr lang="en-US" altLang="zh-CN" b="1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6600FF"/>
              </a:buClr>
            </a:pPr>
            <a:r>
              <a:rPr lang="en-US" altLang="zh-CN" b="1" dirty="0">
                <a:solidFill>
                  <a:schemeClr val="bg2"/>
                </a:solidFill>
              </a:rPr>
              <a:t>                  </a:t>
            </a:r>
            <a:r>
              <a:rPr lang="zh-CN" altLang="en-US" b="1" dirty="0">
                <a:solidFill>
                  <a:schemeClr val="bg2"/>
                </a:solidFill>
              </a:rPr>
              <a:t>算机执行。这个翻译的过程称为汇编。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6600FF"/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</a:rPr>
              <a:t>  汇编程序</a:t>
            </a:r>
            <a:r>
              <a:rPr lang="zh-CN" altLang="en-US" b="1" dirty="0">
                <a:solidFill>
                  <a:schemeClr val="bg2"/>
                </a:solidFill>
              </a:rPr>
              <a:t>：把汇编源程序翻译成目标程序的语言加工程序</a:t>
            </a:r>
            <a:endParaRPr lang="en-US" altLang="zh-CN" b="1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buClr>
                <a:srgbClr val="6600FF"/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0000FF"/>
                </a:solidFill>
              </a:rPr>
              <a:t>  </a:t>
            </a:r>
            <a:r>
              <a:rPr lang="zh-CN" altLang="zh-CN" b="1" dirty="0">
                <a:solidFill>
                  <a:srgbClr val="0000FF"/>
                </a:solidFill>
              </a:rPr>
              <a:t>链接程序</a:t>
            </a:r>
            <a:r>
              <a:rPr lang="zh-CN" altLang="en-US" b="1" dirty="0">
                <a:solidFill>
                  <a:srgbClr val="0000FF"/>
                </a:solidFill>
              </a:rPr>
              <a:t>：</a:t>
            </a:r>
            <a:r>
              <a:rPr lang="zh-CN" altLang="zh-CN" b="1" dirty="0">
                <a:solidFill>
                  <a:schemeClr val="bg2"/>
                </a:solidFill>
              </a:rPr>
              <a:t>将所需的库文件或其它目标文件链接到一起形</a:t>
            </a:r>
            <a:endParaRPr lang="en-US" altLang="zh-CN" b="1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  <a:buClr>
                <a:srgbClr val="6600FF"/>
              </a:buClr>
            </a:pPr>
            <a:r>
              <a:rPr lang="en-US" altLang="zh-CN" b="1" dirty="0">
                <a:solidFill>
                  <a:schemeClr val="bg2"/>
                </a:solidFill>
              </a:rPr>
              <a:t>                  </a:t>
            </a:r>
            <a:r>
              <a:rPr lang="zh-CN" altLang="zh-CN" b="1" dirty="0">
                <a:solidFill>
                  <a:schemeClr val="bg2"/>
                </a:solidFill>
              </a:rPr>
              <a:t>成可执行文件</a:t>
            </a:r>
            <a:endParaRPr lang="zh-CN" altLang="en-US" b="1" dirty="0">
              <a:solidFill>
                <a:schemeClr val="bg2"/>
              </a:solidFill>
            </a:endParaRPr>
          </a:p>
        </p:txBody>
      </p:sp>
      <p:sp>
        <p:nvSpPr>
          <p:cNvPr id="8194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3794125" y="6403975"/>
            <a:ext cx="482600" cy="301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24777ECA-A8C5-4100-BB2C-C2A118066D5A}" type="slidenum">
              <a:rPr lang="zh-CN" altLang="en-US"/>
              <a:pPr/>
              <a:t>2</a:t>
            </a:fld>
            <a:endParaRPr lang="zh-CN" altLang="en-US"/>
          </a:p>
        </p:txBody>
      </p:sp>
      <p:sp>
        <p:nvSpPr>
          <p:cNvPr id="8195" name="文本框 7169"/>
          <p:cNvSpPr txBox="1">
            <a:spLocks noChangeArrowheads="1"/>
          </p:cNvSpPr>
          <p:nvPr/>
        </p:nvSpPr>
        <p:spPr bwMode="auto">
          <a:xfrm>
            <a:off x="2555776" y="35041"/>
            <a:ext cx="458971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0">
              <a:buClr>
                <a:schemeClr val="accent1"/>
              </a:buClr>
              <a:buSzPct val="75000"/>
            </a:pP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  <p:sp>
        <p:nvSpPr>
          <p:cNvPr id="2" name="矩形 1"/>
          <p:cNvSpPr/>
          <p:nvPr/>
        </p:nvSpPr>
        <p:spPr>
          <a:xfrm>
            <a:off x="611560" y="5406315"/>
            <a:ext cx="78488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6600FF"/>
              </a:buClr>
            </a:pPr>
            <a:r>
              <a:rPr lang="zh-CN" altLang="en-US" b="1" dirty="0">
                <a:solidFill>
                  <a:srgbClr val="FF00FF"/>
                </a:solidFill>
                <a:latin typeface="宋体" pitchFamily="2" charset="-122"/>
              </a:rPr>
              <a:t>引入汇编语言的原因</a:t>
            </a:r>
            <a:r>
              <a:rPr lang="zh-CN" altLang="en-US" b="1" dirty="0">
                <a:solidFill>
                  <a:schemeClr val="bg2"/>
                </a:solidFill>
                <a:latin typeface="宋体" pitchFamily="2" charset="-122"/>
              </a:rPr>
              <a:t>：</a:t>
            </a:r>
            <a:r>
              <a:rPr lang="zh-CN" altLang="en-US" b="1" dirty="0">
                <a:solidFill>
                  <a:schemeClr val="bg2"/>
                </a:solidFill>
              </a:rPr>
              <a:t>克服机器语言的缺点。采用助记符表示机器指令的操作码，用变量代替操作数的存放地址等。</a:t>
            </a:r>
          </a:p>
        </p:txBody>
      </p:sp>
    </p:spTree>
    <p:extLst>
      <p:ext uri="{BB962C8B-B14F-4D97-AF65-F5344CB8AC3E}">
        <p14:creationId xmlns:p14="http://schemas.microsoft.com/office/powerpoint/2010/main" val="2619279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6" name="矩形 279555"/>
          <p:cNvSpPr/>
          <p:nvPr/>
        </p:nvSpPr>
        <p:spPr>
          <a:xfrm>
            <a:off x="467544" y="1844824"/>
            <a:ext cx="8458200" cy="3528392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lvl="0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2"/>
                </a:solidFill>
                <a:effectLst/>
              </a:rPr>
              <a:t>完整的汇编语言源程序由</a:t>
            </a:r>
            <a:r>
              <a:rPr lang="zh-CN" altLang="en-US" sz="2400" b="1" dirty="0">
                <a:solidFill>
                  <a:srgbClr val="0000FF"/>
                </a:solidFill>
                <a:effectLst/>
              </a:rPr>
              <a:t>段（代码段、数据段、附加段或堆栈段）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组成；一个汇编语言源程序</a:t>
            </a:r>
            <a:r>
              <a:rPr lang="zh-CN" altLang="en-US" sz="2400" b="1" dirty="0">
                <a:solidFill>
                  <a:srgbClr val="0000FF"/>
                </a:solidFill>
                <a:effectLst/>
              </a:rPr>
              <a:t>必须包含一个代码段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，并指示程序执行的</a:t>
            </a:r>
            <a:r>
              <a:rPr lang="zh-CN" altLang="en-US" sz="2400" b="1" dirty="0">
                <a:solidFill>
                  <a:srgbClr val="0000FF"/>
                </a:solidFill>
                <a:effectLst/>
              </a:rPr>
              <a:t>起始点（开始标号）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，一个程序只有</a:t>
            </a:r>
            <a:r>
              <a:rPr lang="zh-CN" altLang="en-US" sz="2400" b="1" dirty="0">
                <a:solidFill>
                  <a:srgbClr val="0000FF"/>
                </a:solidFill>
                <a:effectLst/>
              </a:rPr>
              <a:t>一个起始点。</a:t>
            </a:r>
            <a:r>
              <a:rPr lang="zh-CN" altLang="en-US" sz="2400" b="1" dirty="0">
                <a:solidFill>
                  <a:srgbClr val="FF0000"/>
                </a:solidFill>
                <a:effectLst/>
              </a:rPr>
              <a:t>数据段、堆栈段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effectLst/>
              </a:rPr>
              <a:t>附加段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视情况而定。</a:t>
            </a:r>
          </a:p>
          <a:p>
            <a:pPr lvl="0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每个段由若干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语句行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组成。语句行是汇编的编程基础。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所有的指令</a:t>
            </a:r>
            <a:r>
              <a:rPr lang="zh-CN" altLang="en-US" sz="2400" b="1" dirty="0">
                <a:solidFill>
                  <a:srgbClr val="0000FF"/>
                </a:solidFill>
                <a:effectLst/>
              </a:rPr>
              <a:t>必须位于代码段内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，伪指令可根据需要位于</a:t>
            </a:r>
            <a:r>
              <a:rPr lang="zh-CN" altLang="en-US" sz="2400" b="1" dirty="0">
                <a:solidFill>
                  <a:srgbClr val="0000FF"/>
                </a:solidFill>
                <a:effectLst/>
              </a:rPr>
              <a:t>任一段内</a:t>
            </a:r>
            <a:r>
              <a:rPr lang="zh-CN" altLang="en-US" sz="2400" b="1" dirty="0">
                <a:solidFill>
                  <a:srgbClr val="000000"/>
                </a:solidFill>
                <a:effectLst/>
              </a:rPr>
              <a:t>。</a:t>
            </a:r>
          </a:p>
          <a:p>
            <a:pPr lvl="0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段以“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SEGMENT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”开始，以“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ENDS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”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结束，由用户定义。</a:t>
            </a:r>
          </a:p>
        </p:txBody>
      </p:sp>
      <p:sp>
        <p:nvSpPr>
          <p:cNvPr id="279557" name="矩形 279556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  <p:sp>
        <p:nvSpPr>
          <p:cNvPr id="279558" name="矩形 279557"/>
          <p:cNvSpPr/>
          <p:nvPr/>
        </p:nvSpPr>
        <p:spPr>
          <a:xfrm>
            <a:off x="611188" y="764704"/>
            <a:ext cx="4333238" cy="5232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b"/>
          <a:lstStyle/>
          <a:p>
            <a:pPr algn="l">
              <a:spcBef>
                <a:spcPct val="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cs typeface="+mj-cs"/>
              </a:rPr>
              <a:t>二、汇编语言源程序结构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3</a:t>
            </a:fld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矩形 373761"/>
          <p:cNvSpPr/>
          <p:nvPr/>
        </p:nvSpPr>
        <p:spPr>
          <a:xfrm>
            <a:off x="900113" y="260350"/>
            <a:ext cx="7056437" cy="626427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lvl="0">
              <a:buNone/>
            </a:pPr>
            <a:r>
              <a:rPr lang="en-US" altLang="zh-CN" sz="2000" b="1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DATA   SEGMENT</a:t>
            </a:r>
          </a:p>
          <a:p>
            <a:pPr lvl="0">
              <a:buNone/>
            </a:pPr>
            <a:r>
              <a:rPr lang="en-US" altLang="zh-CN" sz="2000" b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STR    DB 0DH,0AH, </a:t>
            </a:r>
            <a:r>
              <a:rPr lang="en-US" altLang="zh-CN" sz="2000" b="1" dirty="0" err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Hello,World</a:t>
            </a:r>
            <a:r>
              <a:rPr lang="en-US" altLang="zh-CN" sz="2000" b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!</a:t>
            </a:r>
            <a:r>
              <a:rPr lang="en-US" altLang="zh-CN">
                <a:effectLst/>
              </a:rPr>
              <a:t> </a:t>
            </a:r>
            <a:r>
              <a:rPr lang="en-US" altLang="zh-CN" sz="2000" b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!$'</a:t>
            </a:r>
          </a:p>
          <a:p>
            <a:pPr lvl="0">
              <a:buNone/>
            </a:pPr>
            <a:r>
              <a:rPr lang="en-US" altLang="zh-CN" sz="2000" b="1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DATA   ENDS</a:t>
            </a:r>
          </a:p>
          <a:p>
            <a:pPr lvl="0">
              <a:buNone/>
            </a:pPr>
            <a:r>
              <a:rPr lang="en-US" altLang="zh-CN" sz="2000" b="1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STACK  SEGMENT STACK</a:t>
            </a:r>
          </a:p>
          <a:p>
            <a:pPr lvl="0">
              <a:buNone/>
            </a:pPr>
            <a:r>
              <a:rPr lang="en-US" altLang="zh-CN" sz="2000" b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DB  100 DUP(0)</a:t>
            </a:r>
          </a:p>
          <a:p>
            <a:pPr lvl="0">
              <a:buNone/>
            </a:pPr>
            <a:r>
              <a:rPr lang="en-US" altLang="zh-CN" sz="2000" b="1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STACK  ENDS</a:t>
            </a:r>
          </a:p>
          <a:p>
            <a:pPr lvl="0">
              <a:buNone/>
            </a:pPr>
            <a:r>
              <a:rPr lang="en-US" altLang="zh-CN" sz="2000" b="1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CODE   SEGMENT</a:t>
            </a:r>
          </a:p>
          <a:p>
            <a:pPr lvl="0">
              <a:buNone/>
            </a:pPr>
            <a:r>
              <a:rPr lang="en-US" altLang="zh-CN" sz="2000" b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ASSUME DS:DATA,CS:CODE,SS:STACK</a:t>
            </a:r>
          </a:p>
          <a:p>
            <a:pPr lvl="0">
              <a:buNone/>
            </a:pPr>
            <a:r>
              <a:rPr lang="en-US" altLang="zh-CN" sz="2000" b="1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BEGIN</a:t>
            </a:r>
            <a:r>
              <a:rPr lang="en-US" altLang="zh-CN" sz="2000" b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: MOV AX,DATA</a:t>
            </a:r>
          </a:p>
          <a:p>
            <a:pPr lvl="0">
              <a:buNone/>
            </a:pPr>
            <a:r>
              <a:rPr lang="en-US" altLang="zh-CN" sz="2000" b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MOV DS,AX</a:t>
            </a:r>
          </a:p>
          <a:p>
            <a:pPr lvl="0">
              <a:buNone/>
            </a:pPr>
            <a:r>
              <a:rPr lang="en-US" altLang="zh-CN" sz="2000" b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LEA DX,STR</a:t>
            </a:r>
          </a:p>
          <a:p>
            <a:pPr lvl="0">
              <a:buNone/>
            </a:pPr>
            <a:r>
              <a:rPr lang="en-US" altLang="zh-CN" sz="2000" b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MOV AH,9</a:t>
            </a:r>
          </a:p>
          <a:p>
            <a:pPr lvl="0">
              <a:buNone/>
            </a:pPr>
            <a:r>
              <a:rPr lang="en-US" altLang="zh-CN" sz="2000" b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INT 21H</a:t>
            </a:r>
          </a:p>
          <a:p>
            <a:pPr lvl="0">
              <a:buNone/>
            </a:pPr>
            <a:r>
              <a:rPr lang="en-US" altLang="zh-CN" sz="2000" b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MOV AH,4CH </a:t>
            </a:r>
          </a:p>
          <a:p>
            <a:pPr lvl="0">
              <a:buNone/>
            </a:pPr>
            <a:r>
              <a:rPr lang="en-US" altLang="zh-CN" sz="2000" b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INT 21H</a:t>
            </a:r>
          </a:p>
          <a:p>
            <a:pPr lvl="0">
              <a:buNone/>
            </a:pPr>
            <a:r>
              <a:rPr lang="en-US" altLang="zh-CN" sz="2000" b="1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CODE   ENDS</a:t>
            </a:r>
          </a:p>
          <a:p>
            <a:pPr lvl="0">
              <a:buNone/>
            </a:pPr>
            <a:r>
              <a:rPr lang="en-US" altLang="zh-CN" sz="2000" b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END </a:t>
            </a:r>
            <a:r>
              <a:rPr lang="en-US" altLang="zh-CN" sz="2000" b="1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BEGIN</a:t>
            </a:r>
          </a:p>
        </p:txBody>
      </p:sp>
      <p:sp>
        <p:nvSpPr>
          <p:cNvPr id="373763" name="矩形 373762"/>
          <p:cNvSpPr/>
          <p:nvPr/>
        </p:nvSpPr>
        <p:spPr>
          <a:xfrm>
            <a:off x="6250433" y="705177"/>
            <a:ext cx="2520529" cy="5232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square">
            <a:spAutoFit/>
          </a:bodyPr>
          <a:lstStyle/>
          <a:p>
            <a:pPr lvl="0" algn="l">
              <a:spcBef>
                <a:spcPct val="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汇编语言实例</a:t>
            </a:r>
          </a:p>
        </p:txBody>
      </p:sp>
      <p:sp>
        <p:nvSpPr>
          <p:cNvPr id="373764" name="矩形 373763"/>
          <p:cNvSpPr/>
          <p:nvPr/>
        </p:nvSpPr>
        <p:spPr>
          <a:xfrm>
            <a:off x="1763713" y="3429000"/>
            <a:ext cx="2952750" cy="259238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3765" name="左大括号 373764"/>
          <p:cNvSpPr/>
          <p:nvPr/>
        </p:nvSpPr>
        <p:spPr>
          <a:xfrm>
            <a:off x="539750" y="476250"/>
            <a:ext cx="304800" cy="981075"/>
          </a:xfrm>
          <a:prstGeom prst="leftBrace">
            <a:avLst>
              <a:gd name="adj1" fmla="val 26822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3766" name="左大括号 373765"/>
          <p:cNvSpPr/>
          <p:nvPr/>
        </p:nvSpPr>
        <p:spPr>
          <a:xfrm>
            <a:off x="539750" y="1773238"/>
            <a:ext cx="304800" cy="838200"/>
          </a:xfrm>
          <a:prstGeom prst="leftBrace">
            <a:avLst>
              <a:gd name="adj1" fmla="val 22916"/>
              <a:gd name="adj2" fmla="val 50000"/>
            </a:avLst>
          </a:prstGeom>
          <a:noFill/>
          <a:ln w="3810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3767" name="左大括号 373766"/>
          <p:cNvSpPr/>
          <p:nvPr/>
        </p:nvSpPr>
        <p:spPr>
          <a:xfrm>
            <a:off x="395288" y="2884488"/>
            <a:ext cx="381000" cy="3352800"/>
          </a:xfrm>
          <a:prstGeom prst="leftBrace">
            <a:avLst>
              <a:gd name="adj1" fmla="val 73333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4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373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373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0" fill="hold"/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92" name="矩形 374791"/>
          <p:cNvSpPr/>
          <p:nvPr/>
        </p:nvSpPr>
        <p:spPr>
          <a:xfrm>
            <a:off x="539750" y="1470025"/>
            <a:ext cx="8037513" cy="48387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DATA    SEGMENT 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┆                       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存放数据的数据段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DATA    ENDS 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EXTRA   SEGMENT 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┆                       ;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存放数据的附加段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EXTRA   ENDS 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STACK   SEGMENT  STACK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DW 100 DUP(?)   ;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定义了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个字单元的堆栈段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STACK   ENDS 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CODE    SEGMENT 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ASSUME   CS:CODE,DS:DATA,SS:STACK,ES:EXTRA </a:t>
            </a:r>
          </a:p>
        </p:txBody>
      </p:sp>
      <p:sp>
        <p:nvSpPr>
          <p:cNvPr id="374793" name="矩形 374792"/>
          <p:cNvSpPr/>
          <p:nvPr/>
        </p:nvSpPr>
        <p:spPr>
          <a:xfrm>
            <a:off x="2339975" y="836613"/>
            <a:ext cx="4248150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汇编语言源程序的基本格式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5</a:t>
            </a:fld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矩形 375809"/>
          <p:cNvSpPr/>
          <p:nvPr/>
        </p:nvSpPr>
        <p:spPr>
          <a:xfrm>
            <a:off x="539750" y="1125538"/>
            <a:ext cx="7920038" cy="44005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endParaRPr lang="en-US" altLang="zh-CN" b="1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START:MOV   AX,DATA 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MOV   DS,AX           ;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段地址装入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DS 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MOV   AX,EXTRA 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MOV   ES,AX           ;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段地址装入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ES 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┆                 ;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核心程序段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MOV   AH, 4CH         ;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系统功能调用 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INT   21H             ;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返回操作系统 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CODE  ENDS  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END   START</a:t>
            </a:r>
            <a:r>
              <a:rPr lang="en-US" altLang="zh-CN" b="1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6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5" name="矩形 284674"/>
          <p:cNvSpPr/>
          <p:nvPr/>
        </p:nvSpPr>
        <p:spPr>
          <a:xfrm>
            <a:off x="457200" y="2185442"/>
            <a:ext cx="8351838" cy="3979862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指令性语句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（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指令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指令）</a:t>
            </a:r>
          </a:p>
          <a:p>
            <a:pPr marL="0" lvl="0" indent="0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b="1" dirty="0">
              <a:solidFill>
                <a:schemeClr val="bg2"/>
              </a:solidFill>
              <a:effectLst/>
            </a:endParaRPr>
          </a:p>
          <a:p>
            <a:pPr marL="0" lvl="0" indent="0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b="1" dirty="0">
              <a:solidFill>
                <a:schemeClr val="bg2"/>
              </a:solidFill>
              <a:effectLst/>
            </a:endParaRPr>
          </a:p>
          <a:p>
            <a:pPr marL="0" lvl="0" indent="0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b="1" dirty="0">
              <a:solidFill>
                <a:schemeClr val="bg2"/>
              </a:solidFill>
              <a:effectLst/>
            </a:endParaRPr>
          </a:p>
          <a:p>
            <a:pPr marL="0" lvl="0" indent="0"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指示性语句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（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伪指令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）</a:t>
            </a:r>
          </a:p>
          <a:p>
            <a:pPr marL="0" lvl="0" indent="0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b="1" dirty="0">
              <a:solidFill>
                <a:schemeClr val="bg2"/>
              </a:solidFill>
              <a:effectLst/>
            </a:endParaRPr>
          </a:p>
          <a:p>
            <a:pPr marL="0" lvl="0" indent="0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b="1" dirty="0">
              <a:solidFill>
                <a:schemeClr val="bg2"/>
              </a:solidFill>
              <a:effectLst/>
            </a:endParaRPr>
          </a:p>
          <a:p>
            <a:pPr marL="0" lvl="0" indent="0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b="1" dirty="0">
              <a:solidFill>
                <a:schemeClr val="bg2"/>
              </a:solidFill>
              <a:effectLst/>
            </a:endParaRPr>
          </a:p>
          <a:p>
            <a:pPr marL="0" lvl="0" indent="0"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宏指令</a:t>
            </a:r>
            <a:endParaRPr lang="en-US" altLang="zh-CN" sz="2400" b="1">
              <a:solidFill>
                <a:srgbClr val="0000FF"/>
              </a:solidFill>
              <a:effectLst/>
              <a:latin typeface="宋体" panose="02010600030101010101" pitchFamily="2" charset="-122"/>
            </a:endParaRPr>
          </a:p>
        </p:txBody>
      </p:sp>
      <p:sp>
        <p:nvSpPr>
          <p:cNvPr id="284676" name="矩形 284675"/>
          <p:cNvSpPr/>
          <p:nvPr/>
        </p:nvSpPr>
        <p:spPr>
          <a:xfrm>
            <a:off x="611188" y="2606675"/>
            <a:ext cx="8207375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使</a:t>
            </a:r>
            <a:r>
              <a:rPr lang="en-US" altLang="zh-CN" b="1">
                <a:solidFill>
                  <a:srgbClr val="FF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产生动作、并在程序</a:t>
            </a:r>
            <a:r>
              <a:rPr lang="zh-CN" altLang="en-US" b="1" dirty="0">
                <a:solidFill>
                  <a:srgbClr val="FF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执行时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才处理的语句，就是第</a:t>
            </a:r>
            <a:r>
              <a:rPr lang="en-US" altLang="zh-CN" b="1">
                <a:solidFill>
                  <a:srgbClr val="FF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章学习的处理器指令。</a:t>
            </a:r>
          </a:p>
        </p:txBody>
      </p:sp>
      <p:sp>
        <p:nvSpPr>
          <p:cNvPr id="284677" name="矩形 284676"/>
          <p:cNvSpPr/>
          <p:nvPr/>
        </p:nvSpPr>
        <p:spPr>
          <a:xfrm>
            <a:off x="684213" y="4262438"/>
            <a:ext cx="8137525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不使</a:t>
            </a:r>
            <a:r>
              <a:rPr lang="en-US" altLang="zh-CN" b="1">
                <a:solidFill>
                  <a:srgbClr val="FF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CPU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产生动作、在程序</a:t>
            </a:r>
            <a:r>
              <a:rPr lang="zh-CN" altLang="en-US" b="1" dirty="0">
                <a:solidFill>
                  <a:srgbClr val="FF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执行前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由汇编程序处理的说明性语句，例如，数据说明、变量定义等等。</a:t>
            </a:r>
          </a:p>
        </p:txBody>
      </p:sp>
      <p:sp>
        <p:nvSpPr>
          <p:cNvPr id="284679" name="标题 284678"/>
          <p:cNvSpPr>
            <a:spLocks noGrp="1"/>
          </p:cNvSpPr>
          <p:nvPr>
            <p:ph type="title"/>
          </p:nvPr>
        </p:nvSpPr>
        <p:spPr>
          <a:xfrm>
            <a:off x="539750" y="836613"/>
            <a:ext cx="5184378" cy="503237"/>
          </a:xfrm>
          <a:solidFill>
            <a:schemeClr val="tx1"/>
          </a:solidFill>
          <a:ln w="9525">
            <a:noFill/>
          </a:ln>
        </p:spPr>
        <p:txBody>
          <a:bodyPr anchor="b"/>
          <a:lstStyle/>
          <a:p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三、汇编语言语句类型及格式 </a:t>
            </a:r>
          </a:p>
        </p:txBody>
      </p:sp>
      <p:sp>
        <p:nvSpPr>
          <p:cNvPr id="284680" name="矩形 284679"/>
          <p:cNvSpPr/>
          <p:nvPr/>
        </p:nvSpPr>
        <p:spPr>
          <a:xfrm>
            <a:off x="539750" y="1484313"/>
            <a:ext cx="3744218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汇编语言的语句类型 </a:t>
            </a:r>
            <a:endParaRPr lang="zh-CN" altLang="en-US" sz="2400" b="1" dirty="0">
              <a:solidFill>
                <a:schemeClr val="bg2"/>
              </a:solidFill>
              <a:effectLst/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b="1" dirty="0"/>
              <a:t>7</a:t>
            </a:fld>
            <a:endParaRPr lang="zh-CN" altLang="en-US" b="1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6" grpId="0"/>
      <p:bldP spid="2846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标题 282625"/>
          <p:cNvSpPr>
            <a:spLocks noGrp="1"/>
          </p:cNvSpPr>
          <p:nvPr>
            <p:ph type="title"/>
          </p:nvPr>
        </p:nvSpPr>
        <p:spPr>
          <a:xfrm>
            <a:off x="395288" y="836613"/>
            <a:ext cx="4392612" cy="436562"/>
          </a:xfrm>
          <a:noFill/>
          <a:ln>
            <a:noFill/>
          </a:ln>
        </p:spPr>
        <p:txBody>
          <a:bodyPr anchor="b"/>
          <a:lstStyle/>
          <a:p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chemeClr val="bg2"/>
                </a:solidFill>
              </a:rPr>
              <a:t>汇编语言语句的格式</a:t>
            </a:r>
            <a:r>
              <a:rPr lang="zh-CN" altLang="en-US" sz="2400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282627" name="矩形 282626"/>
          <p:cNvSpPr/>
          <p:nvPr/>
        </p:nvSpPr>
        <p:spPr>
          <a:xfrm>
            <a:off x="539750" y="1268413"/>
            <a:ext cx="7416800" cy="1944687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指令的格式：</a:t>
            </a:r>
          </a:p>
          <a:p>
            <a:pPr marL="0" lvl="0" indent="0"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66FF66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[</a:t>
            </a:r>
            <a:r>
              <a:rPr lang="zh-CN" altLang="en-US" sz="2400" b="1" dirty="0">
                <a:solidFill>
                  <a:srgbClr val="660066"/>
                </a:solidFill>
                <a:latin typeface="宋体" panose="02010600030101010101" pitchFamily="2" charset="-122"/>
              </a:rPr>
              <a:t>标号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]</a:t>
            </a:r>
            <a:r>
              <a:rPr lang="zh-CN" altLang="en-US" sz="2400" b="1" dirty="0">
                <a:solidFill>
                  <a:srgbClr val="0033CC"/>
                </a:solidFill>
                <a:latin typeface="宋体" panose="02010600030101010101" pitchFamily="2" charset="-122"/>
              </a:rPr>
              <a:t>　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操作码 　操作数　　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[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zh-CN" altLang="en-US" sz="2400" b="1" dirty="0">
                <a:solidFill>
                  <a:srgbClr val="660066"/>
                </a:solidFill>
                <a:latin typeface="宋体" panose="02010600030101010101" pitchFamily="2" charset="-122"/>
              </a:rPr>
              <a:t>注释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]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marL="0" lvl="0" indent="0"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伪指令的格式：</a:t>
            </a:r>
          </a:p>
          <a:p>
            <a:pPr marL="0" lvl="0" indent="0"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[</a:t>
            </a:r>
            <a:r>
              <a:rPr lang="zh-CN" altLang="en-US" sz="2400" b="1" dirty="0">
                <a:solidFill>
                  <a:srgbClr val="660066"/>
                </a:solidFill>
                <a:latin typeface="宋体" panose="02010600030101010101" pitchFamily="2" charset="-122"/>
              </a:rPr>
              <a:t>名字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]</a:t>
            </a:r>
            <a:r>
              <a:rPr lang="en-US" altLang="zh-CN" sz="2400" b="1" dirty="0">
                <a:latin typeface="宋体" panose="02010600030101010101" pitchFamily="2" charset="-122"/>
              </a:rPr>
              <a:t>	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伪指令  操作数 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[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  <a:r>
              <a:rPr lang="zh-CN" altLang="en-US" sz="2400" b="1" dirty="0">
                <a:solidFill>
                  <a:srgbClr val="660066"/>
                </a:solidFill>
                <a:latin typeface="宋体" panose="02010600030101010101" pitchFamily="2" charset="-122"/>
              </a:rPr>
              <a:t>注释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]</a:t>
            </a:r>
          </a:p>
        </p:txBody>
      </p:sp>
      <p:sp>
        <p:nvSpPr>
          <p:cNvPr id="282629" name="矩形 282628"/>
          <p:cNvSpPr/>
          <p:nvPr/>
        </p:nvSpPr>
        <p:spPr>
          <a:xfrm>
            <a:off x="539750" y="3716338"/>
            <a:ext cx="8135938" cy="865187"/>
          </a:xfr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共同点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：每一语句行都由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部分组成，各部分之间至少要用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一个空格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作为间隔。</a:t>
            </a:r>
          </a:p>
        </p:txBody>
      </p:sp>
      <p:sp>
        <p:nvSpPr>
          <p:cNvPr id="282630" name="矩形 282629"/>
          <p:cNvSpPr/>
          <p:nvPr/>
        </p:nvSpPr>
        <p:spPr>
          <a:xfrm>
            <a:off x="971550" y="4911725"/>
            <a:ext cx="7056438" cy="1325563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None/>
            </a:pPr>
            <a:r>
              <a:rPr lang="zh-CN" altLang="en-US" sz="2400" b="1" dirty="0">
                <a:solidFill>
                  <a:srgbClr val="FF00FF"/>
                </a:solidFill>
                <a:latin typeface="宋体" panose="02010600030101010101" pitchFamily="2" charset="-122"/>
              </a:rPr>
              <a:t>不同点：</a:t>
            </a:r>
          </a:p>
          <a:p>
            <a:pPr marL="0" lvl="0" indent="0"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在形式上：带不带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冒号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是否可转向它</a:t>
            </a:r>
          </a:p>
          <a:p>
            <a:pPr marL="0" lvl="0" indent="0"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在本质上：汇编时能否形成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对应的机器码</a:t>
            </a:r>
          </a:p>
        </p:txBody>
      </p:sp>
      <p:sp>
        <p:nvSpPr>
          <p:cNvPr id="282631" name="直接连接符 282630"/>
          <p:cNvSpPr/>
          <p:nvPr/>
        </p:nvSpPr>
        <p:spPr>
          <a:xfrm>
            <a:off x="827088" y="2205038"/>
            <a:ext cx="13684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2632" name="直接连接符 282631"/>
          <p:cNvSpPr/>
          <p:nvPr/>
        </p:nvSpPr>
        <p:spPr>
          <a:xfrm>
            <a:off x="2411413" y="2205038"/>
            <a:ext cx="1081087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2633" name="直接连接符 282632"/>
          <p:cNvSpPr/>
          <p:nvPr/>
        </p:nvSpPr>
        <p:spPr>
          <a:xfrm>
            <a:off x="3779838" y="2205038"/>
            <a:ext cx="10795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2634" name="直接连接符 282633"/>
          <p:cNvSpPr/>
          <p:nvPr/>
        </p:nvSpPr>
        <p:spPr>
          <a:xfrm>
            <a:off x="5364163" y="2205038"/>
            <a:ext cx="13684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2635" name="直接连接符 282634"/>
          <p:cNvSpPr/>
          <p:nvPr/>
        </p:nvSpPr>
        <p:spPr>
          <a:xfrm>
            <a:off x="684213" y="3141663"/>
            <a:ext cx="1368425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2636" name="直接连接符 282635"/>
          <p:cNvSpPr/>
          <p:nvPr/>
        </p:nvSpPr>
        <p:spPr>
          <a:xfrm>
            <a:off x="2484438" y="3141663"/>
            <a:ext cx="935037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2637" name="直接连接符 282636"/>
          <p:cNvSpPr/>
          <p:nvPr/>
        </p:nvSpPr>
        <p:spPr>
          <a:xfrm>
            <a:off x="3708400" y="3141663"/>
            <a:ext cx="1008063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2638" name="直接连接符 282637"/>
          <p:cNvSpPr/>
          <p:nvPr/>
        </p:nvSpPr>
        <p:spPr>
          <a:xfrm>
            <a:off x="5003800" y="3141663"/>
            <a:ext cx="1223963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8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28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9" grpId="0" animBg="1"/>
      <p:bldP spid="2826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42" name="矩形 351241"/>
          <p:cNvSpPr/>
          <p:nvPr/>
        </p:nvSpPr>
        <p:spPr>
          <a:xfrm>
            <a:off x="395288" y="1230764"/>
            <a:ext cx="8424862" cy="4450449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indent="266700" algn="l">
              <a:buClr>
                <a:schemeClr val="accent1"/>
              </a:buClr>
              <a:buSzPct val="75000"/>
            </a:pP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对于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</a:rPr>
              <a:t>伪指令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各部分的解释：</a:t>
            </a:r>
          </a:p>
          <a:p>
            <a:pPr lvl="0" indent="266700" algn="l">
              <a:buClr>
                <a:schemeClr val="accent1"/>
              </a:buClr>
              <a:buSzPct val="75000"/>
            </a:pPr>
            <a:r>
              <a:rPr lang="zh-CN" altLang="en-US" b="1" dirty="0">
                <a:solidFill>
                  <a:schemeClr val="hlink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名字：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</a:rPr>
              <a:t>由用户命名，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对应于指令语句中的标号。系统已定义的为</a:t>
            </a:r>
            <a:r>
              <a:rPr lang="zh-CN" altLang="en-US" b="1" dirty="0">
                <a:solidFill>
                  <a:schemeClr val="hlink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保留字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；用户定义的为</a:t>
            </a:r>
            <a:r>
              <a:rPr lang="zh-CN" altLang="en-US" b="1" dirty="0">
                <a:solidFill>
                  <a:schemeClr val="hlink"/>
                </a:solidFill>
                <a:latin typeface="Impact" panose="020B0806030902050204" pitchFamily="34" charset="0"/>
              </a:rPr>
              <a:t>名字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。名字的</a:t>
            </a:r>
            <a:r>
              <a:rPr lang="zh-CN" altLang="en-US" b="1" dirty="0">
                <a:solidFill>
                  <a:schemeClr val="hlink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命名规则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</a:rPr>
              <a:t>与所有的标识符相同，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汇编不区分大小写。</a:t>
            </a:r>
          </a:p>
          <a:p>
            <a:pPr lvl="0" indent="2667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hlink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伪指令助记符：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规定伪指令语句的伪操作功能，不可省略，如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DB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DW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PROC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SEGMENT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等</a:t>
            </a:r>
          </a:p>
          <a:p>
            <a:pPr lvl="0" indent="266700" algn="l">
              <a:buClr>
                <a:schemeClr val="accent1"/>
              </a:buClr>
              <a:buSzPct val="75000"/>
            </a:pPr>
            <a:r>
              <a:rPr lang="zh-CN" altLang="en-US" b="1" dirty="0">
                <a:solidFill>
                  <a:schemeClr val="hlink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操作数：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</a:rPr>
              <a:t>伪指令中的操作数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个数随不同伪指令而相差悬殊，有的，有的有多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</a:rPr>
              <a:t>个，多个时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须用</a:t>
            </a:r>
            <a:r>
              <a:rPr lang="zh-CN" altLang="en-US" b="1" dirty="0">
                <a:solidFill>
                  <a:schemeClr val="hlink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逗号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分隔。操作数一般是常量、变量、标号、寄存器和表达式等</a:t>
            </a:r>
          </a:p>
          <a:p>
            <a:pPr lvl="0" indent="266700" algn="l">
              <a:buClr>
                <a:schemeClr val="accent1"/>
              </a:buClr>
              <a:buSzPct val="75000"/>
            </a:pPr>
            <a:r>
              <a:rPr lang="zh-CN" altLang="en-US" b="1" dirty="0">
                <a:solidFill>
                  <a:schemeClr val="hlink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注释：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对当前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</a:rPr>
              <a:t>伪指令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（或一段程序）的说明，以增加程序的可读性</a:t>
            </a:r>
            <a:r>
              <a:rPr lang="zh-CN" altLang="en-US" dirty="0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9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标题 376833"/>
          <p:cNvSpPr>
            <a:spLocks noGrp="1"/>
          </p:cNvSpPr>
          <p:nvPr>
            <p:ph type="title"/>
          </p:nvPr>
        </p:nvSpPr>
        <p:spPr>
          <a:xfrm>
            <a:off x="468313" y="1268413"/>
            <a:ext cx="7704137" cy="1944687"/>
          </a:xfr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</a:t>
            </a:r>
            <a:r>
              <a:rPr lang="zh-CN" altLang="zh-CN" sz="2400" b="1" dirty="0">
                <a:solidFill>
                  <a:schemeClr val="bg2"/>
                </a:solidFill>
              </a:rPr>
              <a:t>常量、变量与标号</a:t>
            </a:r>
            <a:br>
              <a:rPr lang="zh-CN" altLang="en-US" sz="2400" b="1" dirty="0">
                <a:solidFill>
                  <a:schemeClr val="bg2"/>
                </a:solidFill>
              </a:rPr>
            </a:b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）常量</a:t>
            </a:r>
            <a:b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</a:br>
            <a:r>
              <a:rPr lang="zh-CN" altLang="en-US" sz="2400" b="1" dirty="0">
                <a:solidFill>
                  <a:schemeClr val="bg2"/>
                </a:solidFill>
              </a:rPr>
              <a:t>在程序执行过程中值不发生变化的量，是一个立即数。</a:t>
            </a:r>
            <a:br>
              <a:rPr lang="en-US" altLang="zh-CN" sz="2400" b="1" dirty="0">
                <a:solidFill>
                  <a:schemeClr val="bg2"/>
                </a:solidFill>
              </a:rPr>
            </a:br>
            <a:br>
              <a:rPr lang="en-US" altLang="zh-CN" sz="2400" b="1" dirty="0">
                <a:solidFill>
                  <a:schemeClr val="bg2"/>
                </a:solidFill>
              </a:rPr>
            </a:b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数值常量、</a:t>
            </a:r>
            <a:r>
              <a:rPr lang="zh-CN" altLang="en-US" sz="2400" b="1" dirty="0">
                <a:solidFill>
                  <a:schemeClr val="bg2"/>
                </a:solidFill>
              </a:rPr>
              <a:t>字符常量、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符号常量</a:t>
            </a:r>
          </a:p>
        </p:txBody>
      </p:sp>
      <p:sp>
        <p:nvSpPr>
          <p:cNvPr id="376835" name="文本占位符 376834"/>
          <p:cNvSpPr>
            <a:spLocks noGrp="1"/>
          </p:cNvSpPr>
          <p:nvPr>
            <p:ph type="body" idx="1"/>
          </p:nvPr>
        </p:nvSpPr>
        <p:spPr>
          <a:xfrm>
            <a:off x="7235825" y="2636838"/>
            <a:ext cx="1582738" cy="1223962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None/>
            </a:pPr>
            <a:endParaRPr lang="zh-CN" altLang="en-US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zh-CN" altLang="en-US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0" indent="0" algn="just">
              <a:spcBef>
                <a:spcPct val="0"/>
              </a:spcBef>
              <a:buNone/>
            </a:pPr>
            <a:endParaRPr lang="zh-CN" altLang="en-US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</p:txBody>
      </p:sp>
      <p:sp>
        <p:nvSpPr>
          <p:cNvPr id="376836" name="矩形 376835"/>
          <p:cNvSpPr/>
          <p:nvPr/>
        </p:nvSpPr>
        <p:spPr>
          <a:xfrm>
            <a:off x="395288" y="836613"/>
            <a:ext cx="6480968" cy="4318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四、</a:t>
            </a:r>
            <a:r>
              <a:rPr lang="zh-CN" altLang="en-US" sz="2800" b="1" dirty="0">
                <a:solidFill>
                  <a:srgbClr val="0000FF"/>
                </a:solidFill>
              </a:rPr>
              <a:t>数据项及表达式 </a:t>
            </a:r>
          </a:p>
        </p:txBody>
      </p:sp>
      <p:pic>
        <p:nvPicPr>
          <p:cNvPr id="376837" name="图片 3768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88" y="3787775"/>
            <a:ext cx="7848600" cy="2665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6838" name="矩形 376837"/>
          <p:cNvSpPr/>
          <p:nvPr/>
        </p:nvSpPr>
        <p:spPr>
          <a:xfrm>
            <a:off x="4046538" y="3213100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数值常量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10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文本占位符 355329"/>
          <p:cNvSpPr>
            <a:spLocks noGrp="1"/>
          </p:cNvSpPr>
          <p:nvPr>
            <p:ph type="body" idx="1"/>
          </p:nvPr>
        </p:nvSpPr>
        <p:spPr>
          <a:xfrm>
            <a:off x="179388" y="1341438"/>
            <a:ext cx="8713787" cy="1150937"/>
          </a:xfrm>
        </p:spPr>
        <p:txBody>
          <a:bodyPr/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字符型常量：用引号引起来的</a:t>
            </a:r>
            <a:r>
              <a:rPr lang="zh-CN" altLang="en-US" sz="2400" b="1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可显示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的</a:t>
            </a:r>
            <a:r>
              <a:rPr lang="en-US" altLang="zh-CN" sz="2400" b="1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ASCII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码字符（字符串） 。如‘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a’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、‘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12345’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等</a:t>
            </a:r>
          </a:p>
        </p:txBody>
      </p:sp>
      <p:sp>
        <p:nvSpPr>
          <p:cNvPr id="355331" name="文本框 355330"/>
          <p:cNvSpPr txBox="1"/>
          <p:nvPr/>
        </p:nvSpPr>
        <p:spPr>
          <a:xfrm>
            <a:off x="3421112" y="908050"/>
            <a:ext cx="215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字符型常量</a:t>
            </a:r>
          </a:p>
        </p:txBody>
      </p:sp>
      <p:sp>
        <p:nvSpPr>
          <p:cNvPr id="355332" name="矩形 355331"/>
          <p:cNvSpPr/>
          <p:nvPr/>
        </p:nvSpPr>
        <p:spPr>
          <a:xfrm>
            <a:off x="395288" y="3068639"/>
            <a:ext cx="8351837" cy="108044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lvl="0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为经常使用的数值常量</a:t>
            </a:r>
            <a:r>
              <a:rPr lang="zh-CN" altLang="en-US" sz="2400" b="1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定义的名字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，然后在语句中用名字来表示该常量。需用</a:t>
            </a:r>
            <a:r>
              <a:rPr lang="en-US" altLang="zh-CN" sz="2400" b="1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EQU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或</a:t>
            </a:r>
            <a:r>
              <a:rPr lang="zh-CN" altLang="en-US" sz="2400" b="1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“</a:t>
            </a:r>
            <a:r>
              <a:rPr lang="en-US" altLang="zh-CN" sz="2400" b="1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=”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定义后使用。</a:t>
            </a:r>
          </a:p>
        </p:txBody>
      </p:sp>
      <p:sp>
        <p:nvSpPr>
          <p:cNvPr id="355333" name="矩形 355332"/>
          <p:cNvSpPr/>
          <p:nvPr/>
        </p:nvSpPr>
        <p:spPr>
          <a:xfrm>
            <a:off x="3563938" y="2565400"/>
            <a:ext cx="16557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ea typeface="黑体" panose="02010609060101010101" pitchFamily="2" charset="-122"/>
              </a:rPr>
              <a:t>符号常量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b="1" dirty="0"/>
              <a:t>11</a:t>
            </a:fld>
            <a:endParaRPr lang="zh-CN" altLang="en-US" b="1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5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文本占位符 356353"/>
          <p:cNvSpPr>
            <a:spLocks noGrp="1"/>
          </p:cNvSpPr>
          <p:nvPr>
            <p:ph type="body" idx="1"/>
          </p:nvPr>
        </p:nvSpPr>
        <p:spPr>
          <a:xfrm>
            <a:off x="323850" y="1411288"/>
            <a:ext cx="8569325" cy="3097832"/>
          </a:xfrm>
          <a:solidFill>
            <a:schemeClr val="tx1"/>
          </a:solidFill>
        </p:spPr>
        <p:txBody>
          <a:bodyPr/>
          <a:lstStyle/>
          <a:p>
            <a:pPr marL="0" indent="0"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hlink"/>
                </a:solidFill>
                <a:effectLst/>
                <a:latin typeface="宋体" panose="02010600030101010101" pitchFamily="2" charset="-122"/>
              </a:rPr>
              <a:t>变量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: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操作数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中</a:t>
            </a:r>
            <a:r>
              <a:rPr lang="zh-CN" altLang="en-US" sz="2400" b="1" dirty="0">
                <a:solidFill>
                  <a:schemeClr val="hlink"/>
                </a:solidFill>
                <a:effectLst/>
              </a:rPr>
              <a:t>第一个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数据的</a:t>
            </a:r>
            <a:r>
              <a:rPr lang="zh-CN" altLang="en-US" sz="2400" b="1" dirty="0">
                <a:solidFill>
                  <a:schemeClr val="hlink"/>
                </a:solidFill>
                <a:effectLst/>
              </a:rPr>
              <a:t>偏移地址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，在程序中作为</a:t>
            </a:r>
            <a:r>
              <a:rPr lang="zh-CN" altLang="en-US" sz="2400" b="1" dirty="0">
                <a:solidFill>
                  <a:srgbClr val="FF00FF"/>
                </a:solidFill>
                <a:effectLst/>
              </a:rPr>
              <a:t>存储器操作数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使用</a:t>
            </a:r>
            <a:r>
              <a:rPr lang="zh-CN" altLang="en-US" sz="2400" dirty="0">
                <a:solidFill>
                  <a:schemeClr val="bg2"/>
                </a:solidFill>
                <a:effectLst/>
              </a:rPr>
              <a:t> ，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变量名由用户定义。如前面例子中的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BLOCK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BUF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等，一般在数据段中定义。</a:t>
            </a:r>
          </a:p>
          <a:p>
            <a:pPr marL="0" indent="0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</a:rPr>
              <a:t>变量具有三种属性：</a:t>
            </a:r>
          </a:p>
          <a:p>
            <a:pPr marL="0" indent="0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①段  值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—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变量定义所在段的段地址。</a:t>
            </a:r>
          </a:p>
          <a:p>
            <a:pPr marL="0" indent="0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②偏移量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—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变量所指的单元地址与段起始地址之间的位移量</a:t>
            </a:r>
          </a:p>
          <a:p>
            <a:pPr mar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③类型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—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有字节（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byte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）、字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(word)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和双字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(double word)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等。</a:t>
            </a:r>
          </a:p>
        </p:txBody>
      </p:sp>
      <p:sp>
        <p:nvSpPr>
          <p:cNvPr id="356355" name="矩形 356354"/>
          <p:cNvSpPr/>
          <p:nvPr/>
        </p:nvSpPr>
        <p:spPr>
          <a:xfrm>
            <a:off x="468313" y="836613"/>
            <a:ext cx="2303462" cy="4318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）变量</a:t>
            </a:r>
          </a:p>
        </p:txBody>
      </p:sp>
      <p:sp>
        <p:nvSpPr>
          <p:cNvPr id="356356" name="矩形 356355"/>
          <p:cNvSpPr/>
          <p:nvPr/>
        </p:nvSpPr>
        <p:spPr>
          <a:xfrm>
            <a:off x="533400" y="5229225"/>
            <a:ext cx="8064500" cy="838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2400" b="1" dirty="0">
                <a:solidFill>
                  <a:schemeClr val="bg2"/>
                </a:solidFill>
              </a:rPr>
              <a:t>提示：每一个变量定义后都具有此三种属性，设置变量名是为了方便存取它指示的存储单元。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12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文本占位符 212993"/>
          <p:cNvSpPr>
            <a:spLocks noGrp="1"/>
          </p:cNvSpPr>
          <p:nvPr>
            <p:ph type="body"/>
          </p:nvPr>
        </p:nvSpPr>
        <p:spPr>
          <a:xfrm>
            <a:off x="468313" y="1485007"/>
            <a:ext cx="8496300" cy="4464273"/>
          </a:xfrm>
          <a:solidFill>
            <a:schemeClr val="tx1">
              <a:alpha val="100000"/>
            </a:schemeClr>
          </a:solidFill>
        </p:spPr>
        <p:txBody>
          <a:bodyPr/>
          <a:lstStyle/>
          <a:p>
            <a:pPr marL="0" lvl="0" indent="0">
              <a:lnSpc>
                <a:spcPct val="9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hlink"/>
                </a:solidFill>
              </a:rPr>
              <a:t>标号：</a:t>
            </a:r>
            <a:r>
              <a:rPr lang="zh-CN" altLang="en-US" sz="2400" b="1" dirty="0">
                <a:solidFill>
                  <a:schemeClr val="bg2"/>
                </a:solidFill>
              </a:rPr>
              <a:t>指令的偏移地址。在汇编源程序中，</a:t>
            </a:r>
            <a:r>
              <a:rPr lang="zh-CN" altLang="en-US" sz="2400" b="1" dirty="0">
                <a:solidFill>
                  <a:srgbClr val="FF0000"/>
                </a:solidFill>
              </a:rPr>
              <a:t>只有在需要转向一条指令时，才为该指令设置标号</a:t>
            </a:r>
            <a:r>
              <a:rPr lang="zh-CN" altLang="en-US" sz="2400" b="1" dirty="0">
                <a:solidFill>
                  <a:schemeClr val="bg2"/>
                </a:solidFill>
              </a:rPr>
              <a:t>，以便在转移类指令（含子程序调用指令）中直接引用这个标号。因此，标号可作为转移类指令的操作数，即转移地址。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标号的三种属性：</a:t>
            </a: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buNone/>
            </a:pPr>
            <a:endParaRPr lang="zh-CN" altLang="en-US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段值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: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所在段的段地址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总是在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CS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段寄存器中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;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偏移量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: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与变量相同,所在段的段内偏移地址；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③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类型：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分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NEAR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FAR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两种。</a:t>
            </a:r>
          </a:p>
          <a:p>
            <a:pPr marL="0" lvl="0" indent="0">
              <a:lnSpc>
                <a:spcPct val="90000"/>
              </a:lnSpc>
              <a:buNone/>
            </a:pPr>
            <a:endParaRPr lang="zh-CN" altLang="en-US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NEAR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标号所在的指令与转移指令（调用指令）在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同一段内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,只需改变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IP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。可省略</a:t>
            </a:r>
          </a:p>
          <a:p>
            <a:pPr lvl="0">
              <a:lnSpc>
                <a:spcPct val="9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FAR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标号所在指令与转移指令（调用指令）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不在同一段内</a:t>
            </a:r>
            <a:r>
              <a:rPr lang="zh-CN" altLang="en-US" sz="2400" b="1" dirty="0">
                <a:latin typeface="宋体" panose="02010600030101010101" pitchFamily="2" charset="-122"/>
              </a:rPr>
              <a:t>。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13000" name="矩形 212999"/>
          <p:cNvSpPr/>
          <p:nvPr/>
        </p:nvSpPr>
        <p:spPr>
          <a:xfrm>
            <a:off x="539750" y="811213"/>
            <a:ext cx="15636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）标号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13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84" name="标题 357383"/>
          <p:cNvSpPr>
            <a:spLocks noGrp="1"/>
          </p:cNvSpPr>
          <p:nvPr>
            <p:ph type="title"/>
          </p:nvPr>
        </p:nvSpPr>
        <p:spPr>
          <a:xfrm>
            <a:off x="468313" y="836613"/>
            <a:ext cx="2663825" cy="504825"/>
          </a:xfrm>
          <a:prstGeom prst="flowChartAlternateProcess">
            <a:avLst/>
          </a:prstGeom>
          <a:solidFill>
            <a:srgbClr val="FFFFFF"/>
          </a:solidFill>
          <a:ln w="28575">
            <a:solidFill>
              <a:schemeClr val="accent1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例：测试为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或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357385" name="文本占位符 357384"/>
          <p:cNvSpPr>
            <a:spLocks noGrp="1"/>
          </p:cNvSpPr>
          <p:nvPr>
            <p:ph type="body" idx="1"/>
          </p:nvPr>
        </p:nvSpPr>
        <p:spPr>
          <a:xfrm>
            <a:off x="539750" y="1916113"/>
            <a:ext cx="8115300" cy="2808287"/>
          </a:xfrm>
          <a:solidFill>
            <a:schemeClr val="tx1">
              <a:alpha val="100000"/>
            </a:schemeClr>
          </a:solidFill>
        </p:spPr>
        <p:txBody>
          <a:bodyPr/>
          <a:lstStyle/>
          <a:p>
            <a:pPr marL="0" indent="184150" defTabSz="0">
              <a:buNone/>
              <a:tabLst>
                <a:tab pos="2473325" algn="l"/>
              </a:tabLst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若要检测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AL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中的最低位是否为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，若为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则转移。</a:t>
            </a:r>
          </a:p>
          <a:p>
            <a:pPr marL="0" indent="184150" defTabSz="0">
              <a:buNone/>
              <a:tabLst>
                <a:tab pos="2473325" algn="l"/>
              </a:tabLst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　　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test al,01h	  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；测试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AL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的最低位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D0</a:t>
            </a:r>
          </a:p>
          <a:p>
            <a:pPr marL="0" indent="184150" defTabSz="0">
              <a:buNone/>
              <a:tabLst>
                <a:tab pos="2473325" algn="l"/>
              </a:tabLst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　　</a:t>
            </a:r>
            <a:r>
              <a:rPr lang="en-US" altLang="zh-CN" sz="2400" b="1" dirty="0" err="1">
                <a:solidFill>
                  <a:schemeClr val="bg2"/>
                </a:solidFill>
                <a:latin typeface="宋体" panose="02010600030101010101" pitchFamily="2" charset="-122"/>
              </a:rPr>
              <a:t>jnz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FF00FF"/>
                </a:solidFill>
                <a:latin typeface="宋体" panose="02010600030101010101" pitchFamily="2" charset="-122"/>
              </a:rPr>
              <a:t>next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	  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；标志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ZF=0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，即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D0=1</a:t>
            </a:r>
          </a:p>
          <a:p>
            <a:pPr marL="0" indent="184150" defTabSz="0">
              <a:buNone/>
              <a:tabLst>
                <a:tab pos="2473325" algn="l"/>
              </a:tabLst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	  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；则程序转移到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there</a:t>
            </a:r>
          </a:p>
          <a:p>
            <a:pPr marL="0" indent="184150" defTabSz="0">
              <a:buNone/>
              <a:tabLst>
                <a:tab pos="2473325" algn="l"/>
              </a:tabLst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　　  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...	  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；否则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ZF=1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，即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D0=0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，顺序执行</a:t>
            </a:r>
          </a:p>
          <a:p>
            <a:pPr marL="0" indent="184150" defTabSz="0">
              <a:buNone/>
              <a:tabLst>
                <a:tab pos="2473325" algn="l"/>
              </a:tabLst>
            </a:pPr>
            <a:r>
              <a:rPr lang="en-US" altLang="zh-CN" sz="2400" b="1" dirty="0">
                <a:solidFill>
                  <a:srgbClr val="FF00FF"/>
                </a:solidFill>
                <a:latin typeface="宋体" panose="02010600030101010101" pitchFamily="2" charset="-122"/>
              </a:rPr>
              <a:t>next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:  ...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14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  <p:sp>
        <p:nvSpPr>
          <p:cNvPr id="3" name="矩形 2"/>
          <p:cNvSpPr/>
          <p:nvPr/>
        </p:nvSpPr>
        <p:spPr>
          <a:xfrm>
            <a:off x="1647891" y="5042793"/>
            <a:ext cx="42098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Next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即为标号，类型为近转移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med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1" name="文本占位符 211970"/>
          <p:cNvSpPr>
            <a:spLocks noGrp="1"/>
          </p:cNvSpPr>
          <p:nvPr>
            <p:ph type="body" idx="1"/>
          </p:nvPr>
        </p:nvSpPr>
        <p:spPr>
          <a:xfrm>
            <a:off x="468313" y="1412875"/>
            <a:ext cx="8305800" cy="11509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表达式：</a:t>
            </a:r>
            <a:r>
              <a:rPr lang="zh-CN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由运算对象和运算符组成的合法式子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。分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数值表达式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和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地址表达式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两种。汇编时按一定的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优先规则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对表达式进行计算。</a:t>
            </a:r>
          </a:p>
        </p:txBody>
      </p:sp>
      <p:sp>
        <p:nvSpPr>
          <p:cNvPr id="211973" name="标题 211972"/>
          <p:cNvSpPr>
            <a:spLocks noGrp="1"/>
          </p:cNvSpPr>
          <p:nvPr>
            <p:ph type="title"/>
          </p:nvPr>
        </p:nvSpPr>
        <p:spPr>
          <a:xfrm>
            <a:off x="611188" y="836613"/>
            <a:ext cx="1944687" cy="504825"/>
          </a:xfrm>
          <a:noFill/>
          <a:ln>
            <a:noFill/>
          </a:ln>
        </p:spPr>
        <p:txBody>
          <a:bodyPr anchor="ctr"/>
          <a:lstStyle/>
          <a:p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、表达式</a:t>
            </a:r>
          </a:p>
        </p:txBody>
      </p:sp>
      <p:sp>
        <p:nvSpPr>
          <p:cNvPr id="211983" name="矩形 211982"/>
          <p:cNvSpPr/>
          <p:nvPr/>
        </p:nvSpPr>
        <p:spPr>
          <a:xfrm>
            <a:off x="468313" y="2565400"/>
            <a:ext cx="8351837" cy="12003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>
                <a:schemeClr val="accent1"/>
              </a:buClr>
              <a:buSzPct val="75000"/>
            </a:pPr>
            <a:r>
              <a:rPr lang="zh-CN" altLang="en-US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数值表达式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：</a:t>
            </a:r>
            <a:r>
              <a:rPr lang="zh-CN" altLang="zh-CN" b="1" dirty="0">
                <a:solidFill>
                  <a:schemeClr val="bg2"/>
                </a:solidFill>
                <a:latin typeface="Impact" panose="020B0806030902050204" pitchFamily="34" charset="0"/>
              </a:rPr>
              <a:t>数值表达式的运算结果是一个数据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</a:rPr>
              <a:t>，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其只有大小，没有属性。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如：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 DX,</a:t>
            </a:r>
            <a:r>
              <a:rPr lang="en-US" altLang="zh-CN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(6*A-B)/2</a:t>
            </a:r>
            <a:r>
              <a:rPr lang="en-US" altLang="zh-CN" dirty="0"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中，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(6*A-B)/2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是一个数值表达式</a:t>
            </a:r>
          </a:p>
        </p:txBody>
      </p:sp>
      <p:sp>
        <p:nvSpPr>
          <p:cNvPr id="211988" name="矩形 211987"/>
          <p:cNvSpPr/>
          <p:nvPr/>
        </p:nvSpPr>
        <p:spPr>
          <a:xfrm>
            <a:off x="468313" y="4164479"/>
            <a:ext cx="8351837" cy="193899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地址表达式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：由运算符将常量、变量、标号或寄存器的内容连接而成的式子，其值表示</a:t>
            </a:r>
            <a:r>
              <a:rPr lang="zh-CN" altLang="en-US" b="1" dirty="0">
                <a:solidFill>
                  <a:srgbClr val="FF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存储单元的偏移地址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。当这个</a:t>
            </a:r>
            <a:r>
              <a:rPr lang="zh-CN" altLang="en-US" b="1" dirty="0">
                <a:solidFill>
                  <a:srgbClr val="FF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地址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中存放的是</a:t>
            </a:r>
            <a:r>
              <a:rPr lang="zh-CN" altLang="en-US" b="1" dirty="0">
                <a:solidFill>
                  <a:srgbClr val="FF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数据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时，称为</a:t>
            </a:r>
            <a:r>
              <a:rPr lang="zh-CN" altLang="en-US" b="1" dirty="0">
                <a:solidFill>
                  <a:srgbClr val="FF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变量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；当这个地址中存放的是</a:t>
            </a:r>
            <a:r>
              <a:rPr lang="zh-CN" altLang="en-US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指令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时，则称为</a:t>
            </a:r>
            <a:r>
              <a:rPr lang="zh-CN" altLang="en-US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标号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 。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如“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BUF+1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就是一个地址表达式，表示指向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字节单元的下一个单元地址</a:t>
            </a:r>
            <a:r>
              <a:rPr lang="zh-CN" altLang="en-US" dirty="0"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15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8" name="矩形 378887"/>
          <p:cNvSpPr/>
          <p:nvPr/>
        </p:nvSpPr>
        <p:spPr>
          <a:xfrm>
            <a:off x="395288" y="1288200"/>
            <a:ext cx="8424862" cy="3564053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indent="2667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地址表达式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endParaRPr lang="en-US" altLang="zh-CN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2667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endParaRPr lang="zh-CN" altLang="en-US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indent="266700" algn="l" eaLnBrk="1" hangingPunct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变量和标号是最简单的地址表达式。</a:t>
            </a:r>
          </a:p>
          <a:p>
            <a:pPr lvl="0" indent="266700" algn="l" eaLnBrk="1" hangingPunct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地址表达式所表示的偏移地址是在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汇编时由汇编程序计算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</a:p>
          <a:p>
            <a:pPr lvl="0" indent="266700" algn="l" eaLnBrk="1" hangingPunct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当两个地址在同一个段内时，它们之间的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差值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两个地址</a:t>
            </a:r>
            <a:endParaRPr lang="en-US" altLang="zh-CN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l" eaLnBrk="1" hangingPunct="1">
              <a:spcBef>
                <a:spcPct val="20000"/>
              </a:spcBef>
              <a:buClr>
                <a:srgbClr val="0000FF"/>
              </a:buClr>
            </a:pP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之间的距离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（即字节数）。 </a:t>
            </a:r>
          </a:p>
          <a:p>
            <a:pPr lvl="0" indent="266700" algn="l" eaLnBrk="1" hangingPunct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两个地址表达式相加、相乘或相除都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无意义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，也不能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跨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段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l" eaLnBrk="1" hangingPunct="1">
              <a:spcBef>
                <a:spcPct val="20000"/>
              </a:spcBef>
              <a:buClr>
                <a:srgbClr val="0000FF"/>
              </a:buClr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经常使用的是偏移地址加、减一数字量。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16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67" name="矩形 377866"/>
          <p:cNvSpPr/>
          <p:nvPr/>
        </p:nvSpPr>
        <p:spPr>
          <a:xfrm>
            <a:off x="539750" y="908050"/>
            <a:ext cx="15636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、运算符</a:t>
            </a:r>
          </a:p>
        </p:txBody>
      </p:sp>
      <p:pic>
        <p:nvPicPr>
          <p:cNvPr id="377868" name="图片 3778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594" y="1395878"/>
            <a:ext cx="6635750" cy="46085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17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文本占位符 210945"/>
          <p:cNvSpPr>
            <a:spLocks noGrp="1"/>
          </p:cNvSpPr>
          <p:nvPr>
            <p:ph type="body"/>
          </p:nvPr>
        </p:nvSpPr>
        <p:spPr>
          <a:xfrm>
            <a:off x="250825" y="1917700"/>
            <a:ext cx="8686800" cy="3671540"/>
          </a:xfrm>
          <a:solidFill>
            <a:schemeClr val="tx1">
              <a:alpha val="100000"/>
            </a:schemeClr>
          </a:solidFill>
        </p:spPr>
        <p:txBody>
          <a:bodyPr/>
          <a:lstStyle/>
          <a:p>
            <a:pPr marL="0" lvl="0" indent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+、-、*、/、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MOD(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取余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)</a:t>
            </a:r>
          </a:p>
          <a:p>
            <a:pPr marL="0" lvl="0" indent="0">
              <a:lnSpc>
                <a:spcPct val="105000"/>
              </a:lnSpc>
              <a:buNone/>
            </a:pP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105000"/>
              </a:lnSpc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MOD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表示除法运算后得到的余数。</a:t>
            </a: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算术运算符常用于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数值表达式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或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地址表达式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中；</a:t>
            </a: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</a:rPr>
              <a:t>参与运算的数和结果必须是</a:t>
            </a:r>
            <a:r>
              <a:rPr lang="zh-CN" altLang="en-US" sz="2400" b="1" dirty="0">
                <a:solidFill>
                  <a:srgbClr val="0000FF"/>
                </a:solidFill>
              </a:rPr>
              <a:t>整数；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lvl="0" indent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</a:rPr>
              <a:t>数值表达式中，运算结果是一个</a:t>
            </a:r>
            <a:r>
              <a:rPr lang="zh-CN" altLang="en-US" sz="2400" b="1" dirty="0">
                <a:solidFill>
                  <a:srgbClr val="0000FF"/>
                </a:solidFill>
              </a:rPr>
              <a:t>数值</a:t>
            </a:r>
            <a:r>
              <a:rPr lang="zh-CN" altLang="en-US" sz="2400" b="1" dirty="0">
                <a:solidFill>
                  <a:schemeClr val="bg2"/>
                </a:solidFill>
              </a:rPr>
              <a:t>；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pPr marL="0" lvl="0" indent="0"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</a:rPr>
              <a:t>地址表达式中，经常采用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“地址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±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数值常量 ”</a:t>
            </a:r>
            <a:r>
              <a:rPr lang="zh-CN" altLang="en-US" sz="2400" b="1" dirty="0">
                <a:solidFill>
                  <a:schemeClr val="bg2"/>
                </a:solidFill>
              </a:rPr>
              <a:t>形式，运算结果为</a:t>
            </a:r>
            <a:r>
              <a:rPr lang="zh-CN" altLang="en-US" sz="2400" b="1" dirty="0">
                <a:solidFill>
                  <a:srgbClr val="0000FF"/>
                </a:solidFill>
              </a:rPr>
              <a:t>地址。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0">
              <a:lnSpc>
                <a:spcPct val="105000"/>
              </a:lnSpc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例如：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MOV AL,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2*7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	    </a:t>
            </a:r>
            <a:r>
              <a:rPr lang="zh-CN" altLang="en-US" sz="2400" b="1" dirty="0">
                <a:solidFill>
                  <a:schemeClr val="bg2"/>
                </a:solidFill>
                <a:latin typeface="+mj-ea"/>
              </a:rPr>
              <a:t>；</a:t>
            </a:r>
            <a:r>
              <a:rPr lang="en-US" altLang="zh-CN" sz="2400" b="1" dirty="0">
                <a:solidFill>
                  <a:schemeClr val="bg2"/>
                </a:solidFill>
                <a:latin typeface="+mj-ea"/>
              </a:rPr>
              <a:t>2*7</a:t>
            </a:r>
            <a:r>
              <a:rPr lang="zh-CN" altLang="en-US" sz="2400" b="1" dirty="0">
                <a:solidFill>
                  <a:schemeClr val="bg2"/>
                </a:solidFill>
                <a:latin typeface="+mj-ea"/>
              </a:rPr>
              <a:t>为</a:t>
            </a:r>
            <a:r>
              <a:rPr lang="zh-CN" altLang="en-US" sz="2400" b="1" dirty="0">
                <a:solidFill>
                  <a:schemeClr val="bg2"/>
                </a:solidFill>
              </a:rPr>
              <a:t>数值表达式</a:t>
            </a:r>
            <a:endParaRPr lang="zh-CN" altLang="en-US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</p:txBody>
      </p:sp>
      <p:sp>
        <p:nvSpPr>
          <p:cNvPr id="210947" name="标题 210946"/>
          <p:cNvSpPr>
            <a:spLocks noGrp="1"/>
          </p:cNvSpPr>
          <p:nvPr>
            <p:ph type="title"/>
          </p:nvPr>
        </p:nvSpPr>
        <p:spPr>
          <a:xfrm>
            <a:off x="539750" y="908050"/>
            <a:ext cx="2808288" cy="4826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）算术运算符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18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文本占位符 209921"/>
          <p:cNvSpPr>
            <a:spLocks noGrp="1"/>
          </p:cNvSpPr>
          <p:nvPr>
            <p:ph type="body"/>
          </p:nvPr>
        </p:nvSpPr>
        <p:spPr>
          <a:xfrm>
            <a:off x="250825" y="1412776"/>
            <a:ext cx="8713788" cy="4824536"/>
          </a:xfrm>
          <a:solidFill>
            <a:schemeClr val="tx1">
              <a:alpha val="100000"/>
            </a:schemeClr>
          </a:solidFill>
        </p:spPr>
        <p:txBody>
          <a:bodyPr/>
          <a:lstStyle/>
          <a:p>
            <a:pPr marL="0" lvl="0" indent="0">
              <a:lnSpc>
                <a:spcPts val="3000"/>
              </a:lnSpc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逻辑运算符</a:t>
            </a:r>
            <a:r>
              <a:rPr lang="zh-CN" altLang="en-US" sz="2400" b="1" dirty="0">
                <a:solidFill>
                  <a:schemeClr val="bg2"/>
                </a:solidFill>
              </a:rPr>
              <a:t>按“位”进行逻辑运算，得到的是数值结果，其仅适用于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数值表达式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中</a:t>
            </a:r>
            <a:r>
              <a:rPr lang="zh-CN" altLang="en-US" sz="2400" b="1" dirty="0">
                <a:solidFill>
                  <a:schemeClr val="folHlink"/>
                </a:solidFill>
                <a:latin typeface="宋体" panose="02010600030101010101" pitchFamily="2" charset="-122"/>
              </a:rPr>
              <a:t>。</a:t>
            </a:r>
          </a:p>
          <a:p>
            <a:pPr marL="0" lvl="0" indent="0">
              <a:lnSpc>
                <a:spcPts val="3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例如：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MOV CL,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36H AND 0FH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经汇编后为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MOV CL,06H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</a:p>
          <a:p>
            <a:pPr marL="0" lvl="0" indent="0">
              <a:lnSpc>
                <a:spcPts val="3000"/>
              </a:lnSpc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注意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逻辑运算符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指令助记符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的不同。</a:t>
            </a:r>
          </a:p>
          <a:p>
            <a:pPr marL="0" lvl="0" indent="0">
              <a:lnSpc>
                <a:spcPts val="3000"/>
              </a:lnSpc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逻辑运算符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在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汇编时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进行,</a:t>
            </a:r>
            <a:r>
              <a:rPr lang="zh-CN" altLang="en-US" sz="2400" b="1" dirty="0">
                <a:solidFill>
                  <a:schemeClr val="bg2"/>
                </a:solidFill>
              </a:rPr>
              <a:t>运算结果是指令中的一个操作数或操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pPr marL="0" lvl="0" indent="0">
              <a:lnSpc>
                <a:spcPts val="3000"/>
              </a:lnSpc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           </a:t>
            </a:r>
            <a:r>
              <a:rPr lang="zh-CN" altLang="en-US" sz="2400" b="1" dirty="0">
                <a:solidFill>
                  <a:schemeClr val="bg2"/>
                </a:solidFill>
              </a:rPr>
              <a:t>作数的一部分，且逻辑运算符的操作对象只能是整数常量；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指令助记符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在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指令执行时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进行</a:t>
            </a:r>
            <a:r>
              <a:rPr lang="zh-CN" altLang="en-US" dirty="0"/>
              <a:t> </a:t>
            </a:r>
            <a:endParaRPr lang="zh-CN" altLang="en-US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ts val="3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例如：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AND</a:t>
            </a:r>
            <a:r>
              <a:rPr lang="en-US" altLang="zh-CN" sz="2400" b="1" dirty="0">
                <a:solidFill>
                  <a:schemeClr val="folHlink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DH,PORT </a:t>
            </a:r>
            <a:r>
              <a:rPr lang="en-US" altLang="zh-CN" sz="2400" b="1" dirty="0">
                <a:solidFill>
                  <a:srgbClr val="FF00FF"/>
                </a:solidFill>
                <a:latin typeface="宋体" panose="02010600030101010101" pitchFamily="2" charset="-122"/>
              </a:rPr>
              <a:t>AND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0FEH</a:t>
            </a:r>
          </a:p>
          <a:p>
            <a:pPr marL="0" lvl="0" indent="0" algn="just">
              <a:lnSpc>
                <a:spcPts val="3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后一个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逻辑运算符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AND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在汇编时进行,若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PORT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为81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H,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则汇编后的表达式值为80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H。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执行前一个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指令助记符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AND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时,将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DH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与80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相逻辑与,结果在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DH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中。</a:t>
            </a:r>
          </a:p>
        </p:txBody>
      </p:sp>
      <p:sp>
        <p:nvSpPr>
          <p:cNvPr id="209923" name="标题 209922"/>
          <p:cNvSpPr>
            <a:spLocks noGrp="1"/>
          </p:cNvSpPr>
          <p:nvPr>
            <p:ph type="title"/>
          </p:nvPr>
        </p:nvSpPr>
        <p:spPr>
          <a:xfrm>
            <a:off x="539750" y="838200"/>
            <a:ext cx="2636838" cy="50323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(2)逻辑运算符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19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文本占位符 208897"/>
          <p:cNvSpPr>
            <a:spLocks noGrp="1"/>
          </p:cNvSpPr>
          <p:nvPr>
            <p:ph type="body"/>
          </p:nvPr>
        </p:nvSpPr>
        <p:spPr>
          <a:xfrm>
            <a:off x="381000" y="1412875"/>
            <a:ext cx="8512175" cy="3960341"/>
          </a:xfrm>
          <a:solidFill>
            <a:schemeClr val="tx1"/>
          </a:solidFill>
        </p:spPr>
        <p:txBody>
          <a:bodyPr/>
          <a:lstStyle/>
          <a:p>
            <a:pPr lvl="0">
              <a:lnSpc>
                <a:spcPts val="3100"/>
              </a:lnSpc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相等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EQ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,不等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NE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,小于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LT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,大于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GT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,小于或等于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LE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,大于或等于</a:t>
            </a:r>
            <a:r>
              <a:rPr lang="en-US" altLang="zh-CN" sz="2400" b="1" dirty="0">
                <a:solidFill>
                  <a:srgbClr val="FF3300"/>
                </a:solidFill>
                <a:latin typeface="宋体" panose="02010600030101010101" pitchFamily="2" charset="-122"/>
              </a:rPr>
              <a:t>GE</a:t>
            </a:r>
            <a:endParaRPr lang="zh-CN" altLang="en-US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0" lvl="0" indent="0">
              <a:lnSpc>
                <a:spcPts val="31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 关系运算符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的两个操作数必须都是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数字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或者是同一段内的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两个存储器地址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。结果是一个数值型数据。</a:t>
            </a:r>
          </a:p>
          <a:p>
            <a:pPr marL="0" lvl="0" indent="0">
              <a:lnSpc>
                <a:spcPts val="31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关系为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真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,结果为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FFFFH</a:t>
            </a:r>
          </a:p>
          <a:p>
            <a:pPr marL="0" lvl="0" indent="0">
              <a:lnSpc>
                <a:spcPts val="31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关系为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假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,结果为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0</a:t>
            </a:r>
          </a:p>
          <a:p>
            <a:pPr marL="0" lvl="0" indent="0">
              <a:buNone/>
            </a:pP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lvl="0" indent="0">
              <a:buNone/>
            </a:pP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marL="0" lvl="0" indent="0">
              <a:buNone/>
            </a:pPr>
            <a:endParaRPr lang="en-US" altLang="zh-CN" sz="2400" b="1" dirty="0">
              <a:solidFill>
                <a:srgbClr val="FF0066"/>
              </a:solidFill>
              <a:latin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zh-CN" altLang="en-US" sz="2400" b="1" dirty="0">
                <a:solidFill>
                  <a:srgbClr val="FF0066"/>
                </a:solidFill>
                <a:latin typeface="宋体" panose="02010600030101010101" pitchFamily="2" charset="-122"/>
              </a:rPr>
              <a:t>例：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MOV AX,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5 EQ 101B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等效于  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MOV AX,0FFFFH</a:t>
            </a:r>
          </a:p>
          <a:p>
            <a:pPr marL="0" lvl="0" indent="0"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 MOV BH,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10H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GT 16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等效于  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MOV BH,00H</a:t>
            </a:r>
            <a:r>
              <a:rPr lang="en-US" altLang="zh-CN" sz="2400" dirty="0"/>
              <a:t> </a:t>
            </a:r>
          </a:p>
        </p:txBody>
      </p:sp>
      <p:sp>
        <p:nvSpPr>
          <p:cNvPr id="208899" name="标题 208898"/>
          <p:cNvSpPr>
            <a:spLocks noGrp="1"/>
          </p:cNvSpPr>
          <p:nvPr>
            <p:ph type="title"/>
          </p:nvPr>
        </p:nvSpPr>
        <p:spPr>
          <a:xfrm>
            <a:off x="611188" y="836613"/>
            <a:ext cx="2324100" cy="457200"/>
          </a:xfr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(3)关系运算符</a:t>
            </a:r>
          </a:p>
        </p:txBody>
      </p:sp>
      <p:sp>
        <p:nvSpPr>
          <p:cNvPr id="208900" name="矩形 208899"/>
          <p:cNvSpPr/>
          <p:nvPr/>
        </p:nvSpPr>
        <p:spPr>
          <a:xfrm>
            <a:off x="4860032" y="2852936"/>
            <a:ext cx="3889375" cy="1296987"/>
          </a:xfr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提示：不单独使用关系运算符，通常将关系运算符与逻辑运算符组合起来使用。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20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3" name="矩形 380932"/>
          <p:cNvSpPr/>
          <p:nvPr/>
        </p:nvSpPr>
        <p:spPr>
          <a:xfrm>
            <a:off x="468313" y="1527175"/>
            <a:ext cx="2336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SEG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OFFSET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80936" name="矩形 380935"/>
          <p:cNvSpPr/>
          <p:nvPr/>
        </p:nvSpPr>
        <p:spPr>
          <a:xfrm>
            <a:off x="611188" y="5486400"/>
            <a:ext cx="8032750" cy="8953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 AX,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SEG TABLE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; TABLE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为所定义的变量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 SI,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OFFSET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TABLE</a:t>
            </a:r>
            <a:r>
              <a:rPr lang="en-US" altLang="zh-CN" b="1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80937" name="矩形 380936"/>
          <p:cNvSpPr/>
          <p:nvPr/>
        </p:nvSpPr>
        <p:spPr>
          <a:xfrm>
            <a:off x="468313" y="2471420"/>
            <a:ext cx="5392737" cy="89535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格式：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SEG 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变量或标号</a:t>
            </a:r>
          </a:p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功能：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分离出其后变量或标号的</a:t>
            </a:r>
            <a:r>
              <a:rPr lang="zh-CN" altLang="en-US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段地址</a:t>
            </a:r>
          </a:p>
        </p:txBody>
      </p:sp>
      <p:sp>
        <p:nvSpPr>
          <p:cNvPr id="380939" name="矩形 380938"/>
          <p:cNvSpPr/>
          <p:nvPr/>
        </p:nvSpPr>
        <p:spPr>
          <a:xfrm>
            <a:off x="468313" y="3629343"/>
            <a:ext cx="5753100" cy="89535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格式：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OFFSET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变量或标号</a:t>
            </a:r>
          </a:p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功能：分离出其后变量或标号的</a:t>
            </a:r>
            <a:r>
              <a:rPr lang="zh-CN" altLang="en-US" b="1" dirty="0">
                <a:solidFill>
                  <a:srgbClr val="FF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偏移地址</a:t>
            </a:r>
            <a:r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80940" name="矩形 380939"/>
          <p:cNvSpPr/>
          <p:nvPr/>
        </p:nvSpPr>
        <p:spPr>
          <a:xfrm>
            <a:off x="611188" y="5084763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如：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21</a:t>
            </a:fld>
            <a:endParaRPr lang="zh-CN" altLang="en-US" dirty="0"/>
          </a:p>
        </p:txBody>
      </p:sp>
      <p:sp>
        <p:nvSpPr>
          <p:cNvPr id="379907" name="标题 379906"/>
          <p:cNvSpPr>
            <a:spLocks noGrp="1"/>
          </p:cNvSpPr>
          <p:nvPr>
            <p:ph type="title"/>
          </p:nvPr>
        </p:nvSpPr>
        <p:spPr>
          <a:xfrm>
            <a:off x="395288" y="836613"/>
            <a:ext cx="5400675" cy="576262"/>
          </a:xfr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、取值运算符</a:t>
            </a:r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文本占位符 381953"/>
          <p:cNvSpPr>
            <a:spLocks noGrp="1"/>
          </p:cNvSpPr>
          <p:nvPr>
            <p:ph type="body" idx="1"/>
          </p:nvPr>
        </p:nvSpPr>
        <p:spPr>
          <a:xfrm>
            <a:off x="539552" y="927100"/>
            <a:ext cx="6624736" cy="1421780"/>
          </a:xfrm>
          <a:solidFill>
            <a:schemeClr val="tx1">
              <a:alpha val="100000"/>
            </a:schemeClr>
          </a:solidFill>
        </p:spPr>
        <p:txBody>
          <a:bodyPr/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②</a:t>
            </a:r>
            <a:r>
              <a:rPr lang="en-US" altLang="zh-CN" sz="2400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TYPE</a:t>
            </a:r>
            <a:endParaRPr lang="zh-CN" altLang="en-US" sz="2400" b="1" dirty="0">
              <a:solidFill>
                <a:schemeClr val="bg2"/>
              </a:solidFill>
              <a:effectLst/>
              <a:latin typeface="宋体" panose="02010600030101010101" pitchFamily="2" charset="-122"/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格式：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TYPE  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变量或标号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功能：分离出其后变量或标号的类型属性值。</a:t>
            </a:r>
          </a:p>
        </p:txBody>
      </p:sp>
      <p:pic>
        <p:nvPicPr>
          <p:cNvPr id="381956" name="图片 3819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306" y="2564904"/>
            <a:ext cx="5184775" cy="230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1957" name="矩形 381956"/>
          <p:cNvSpPr/>
          <p:nvPr/>
        </p:nvSpPr>
        <p:spPr>
          <a:xfrm>
            <a:off x="900112" y="5229200"/>
            <a:ext cx="7775575" cy="904863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例如：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 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DW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1,2,3   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；定义了一个字类型变量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ADD SI,TYPE BUF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；汇编后指令变为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ADD SI,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22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文本占位符 385025"/>
          <p:cNvSpPr>
            <a:spLocks noGrp="1"/>
          </p:cNvSpPr>
          <p:nvPr>
            <p:ph type="body"/>
          </p:nvPr>
        </p:nvSpPr>
        <p:spPr>
          <a:xfrm>
            <a:off x="304800" y="2205038"/>
            <a:ext cx="8588375" cy="4248298"/>
          </a:xfrm>
          <a:solidFill>
            <a:schemeClr val="tx1">
              <a:alpha val="100000"/>
            </a:schemeClr>
          </a:solidFill>
        </p:spPr>
        <p:txBody>
          <a:bodyPr/>
          <a:lstStyle/>
          <a:p>
            <a:pPr marL="0" lvl="0" indent="0"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功能：用来临时指定或修改存储器操作数的类型属性</a:t>
            </a:r>
            <a:r>
              <a:rPr lang="zh-CN" altLang="en-US" sz="2400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,通常与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BYTE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WORD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等连起来使用。</a:t>
            </a:r>
          </a:p>
          <a:p>
            <a:pPr lvl="0"/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示例：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MOV [DI],0   ；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类型不确定，指令错误</a:t>
            </a: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lvl="0"/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修改为：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MOV </a:t>
            </a:r>
            <a:r>
              <a:rPr lang="en-US" altLang="zh-CN" sz="2400" b="1" dirty="0">
                <a:solidFill>
                  <a:srgbClr val="FF00FF"/>
                </a:solidFill>
                <a:latin typeface="宋体" panose="02010600030101010101" pitchFamily="2" charset="-122"/>
              </a:rPr>
              <a:t>BYTE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PTR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[DI],0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或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MOV </a:t>
            </a:r>
            <a:r>
              <a:rPr lang="en-US" altLang="zh-CN" sz="2400" b="1" dirty="0">
                <a:solidFill>
                  <a:srgbClr val="FF00FF"/>
                </a:solidFill>
                <a:latin typeface="宋体" panose="02010600030101010101" pitchFamily="2" charset="-122"/>
              </a:rPr>
              <a:t>WORD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PTR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[DI],0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；</a:t>
            </a: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PTR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也可对已经规定了的类型进行更改，示例：</a:t>
            </a:r>
          </a:p>
          <a:p>
            <a:pPr marL="0" lvl="0" indent="0" algn="just"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   ┇  </a:t>
            </a:r>
          </a:p>
          <a:p>
            <a:pPr marL="0" lvl="0" indent="0" algn="just"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STR </a:t>
            </a:r>
            <a:r>
              <a:rPr lang="en-US" altLang="zh-CN" sz="2400" b="1" dirty="0">
                <a:solidFill>
                  <a:srgbClr val="FF00FF"/>
                </a:solidFill>
                <a:latin typeface="宋体" panose="02010600030101010101" pitchFamily="2" charset="-122"/>
              </a:rPr>
              <a:t>DW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？	；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定义为字类型</a:t>
            </a:r>
          </a:p>
          <a:p>
            <a:pPr lvl="0"/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┇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</a:t>
            </a: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MOV STR,AX   ；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正确</a:t>
            </a: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MOV AL,STR   ；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类型不匹配，错误</a:t>
            </a:r>
          </a:p>
          <a:p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修改为：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MOV AL,</a:t>
            </a:r>
            <a:r>
              <a:rPr lang="en-US" altLang="zh-CN" sz="2400" b="1" dirty="0">
                <a:solidFill>
                  <a:srgbClr val="FF00FF"/>
                </a:solidFill>
                <a:latin typeface="宋体" panose="02010600030101010101" pitchFamily="2" charset="-122"/>
              </a:rPr>
              <a:t>BYTE PTR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STR   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；正确</a:t>
            </a: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</p:txBody>
      </p:sp>
      <p:sp>
        <p:nvSpPr>
          <p:cNvPr id="385027" name="标题 385026"/>
          <p:cNvSpPr>
            <a:spLocks noGrp="1"/>
          </p:cNvSpPr>
          <p:nvPr>
            <p:ph type="title"/>
          </p:nvPr>
        </p:nvSpPr>
        <p:spPr>
          <a:xfrm>
            <a:off x="323850" y="836613"/>
            <a:ext cx="2447925" cy="431800"/>
          </a:xfr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合成运算符</a:t>
            </a:r>
          </a:p>
        </p:txBody>
      </p:sp>
      <p:sp>
        <p:nvSpPr>
          <p:cNvPr id="385028" name="矩形 385027"/>
          <p:cNvSpPr/>
          <p:nvPr/>
        </p:nvSpPr>
        <p:spPr>
          <a:xfrm>
            <a:off x="5940152" y="4149080"/>
            <a:ext cx="2662237" cy="1657350"/>
          </a:xfr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说明：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PTR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只是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临时改变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变量的类型属性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原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类型属性不变</a:t>
            </a:r>
          </a:p>
        </p:txBody>
      </p:sp>
      <p:sp>
        <p:nvSpPr>
          <p:cNvPr id="385029" name="矩形 385028"/>
          <p:cNvSpPr/>
          <p:nvPr/>
        </p:nvSpPr>
        <p:spPr>
          <a:xfrm>
            <a:off x="468313" y="1243013"/>
            <a:ext cx="215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PTR</a:t>
            </a:r>
            <a:endParaRPr lang="zh-CN" altLang="en-US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5030" name="矩形 385029"/>
          <p:cNvSpPr/>
          <p:nvPr/>
        </p:nvSpPr>
        <p:spPr>
          <a:xfrm>
            <a:off x="468313" y="1700213"/>
            <a:ext cx="47863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格式：类型  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PTR 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存储器操作数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23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文本占位符 386049"/>
          <p:cNvSpPr>
            <a:spLocks noGrp="1"/>
          </p:cNvSpPr>
          <p:nvPr>
            <p:ph type="body"/>
          </p:nvPr>
        </p:nvSpPr>
        <p:spPr>
          <a:xfrm>
            <a:off x="152400" y="1268760"/>
            <a:ext cx="8839200" cy="4392488"/>
          </a:xfrm>
          <a:solidFill>
            <a:schemeClr val="tx1">
              <a:alpha val="100000"/>
            </a:schemeClr>
          </a:solidFill>
        </p:spPr>
        <p:txBody>
          <a:bodyPr/>
          <a:lstStyle/>
          <a:p>
            <a:pPr marL="0" lvl="0" indent="0">
              <a:lnSpc>
                <a:spcPts val="3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</a:rPr>
              <a:t>格式：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THIS</a:t>
            </a:r>
            <a:r>
              <a:rPr lang="en-US" altLang="zh-CN" sz="2400" b="1" dirty="0">
                <a:solidFill>
                  <a:schemeClr val="bg2"/>
                </a:solidFill>
              </a:rPr>
              <a:t> 　</a:t>
            </a:r>
            <a:r>
              <a:rPr lang="zh-CN" altLang="en-US" sz="2400" b="1" dirty="0">
                <a:solidFill>
                  <a:schemeClr val="bg2"/>
                </a:solidFill>
              </a:rPr>
              <a:t>类型</a:t>
            </a:r>
          </a:p>
          <a:p>
            <a:pPr lvl="0">
              <a:lnSpc>
                <a:spcPts val="3000"/>
              </a:lnSpc>
            </a:pPr>
            <a:r>
              <a:rPr lang="zh-CN" altLang="en-US" sz="2400" b="1" dirty="0">
                <a:solidFill>
                  <a:schemeClr val="bg2"/>
                </a:solidFill>
              </a:rPr>
              <a:t>功能：返回</a:t>
            </a:r>
            <a:r>
              <a:rPr lang="zh-CN" altLang="en-US" sz="2400" b="1" dirty="0">
                <a:solidFill>
                  <a:srgbClr val="0000FF"/>
                </a:solidFill>
              </a:rPr>
              <a:t>指定类型</a:t>
            </a:r>
            <a:r>
              <a:rPr lang="zh-CN" altLang="en-US" sz="2400" b="1" dirty="0">
                <a:solidFill>
                  <a:schemeClr val="bg2"/>
                </a:solidFill>
              </a:rPr>
              <a:t>的内存操作数或标号，相应的地址为地址计数器的当前值。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THIS</a:t>
            </a:r>
            <a:r>
              <a:rPr lang="zh-CN" altLang="en-US" sz="2400" b="1" dirty="0">
                <a:solidFill>
                  <a:schemeClr val="bg2"/>
                </a:solidFill>
              </a:rPr>
              <a:t>通常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EQU</a:t>
            </a:r>
            <a:r>
              <a:rPr lang="zh-CN" altLang="en-US" sz="2400" b="1" dirty="0">
                <a:solidFill>
                  <a:schemeClr val="bg2"/>
                </a:solidFill>
              </a:rPr>
              <a:t>配合使用</a:t>
            </a:r>
          </a:p>
          <a:p>
            <a:pPr marL="0" lvl="0" indent="0">
              <a:lnSpc>
                <a:spcPts val="3000"/>
              </a:lnSpc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理解</a:t>
            </a:r>
            <a:r>
              <a:rPr lang="zh-CN" altLang="en-US" sz="2400" b="1" dirty="0">
                <a:solidFill>
                  <a:schemeClr val="bg2"/>
                </a:solidFill>
              </a:rPr>
              <a:t>：给当前的偏移地址指定类型属性，同时定义了一个名字</a:t>
            </a:r>
          </a:p>
          <a:p>
            <a:pPr marL="0" lvl="0" indent="0">
              <a:lnSpc>
                <a:spcPts val="3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</a:rPr>
              <a:t>示例： </a:t>
            </a:r>
            <a:r>
              <a:rPr lang="en-US" altLang="zh-CN" sz="2400" b="1" dirty="0" err="1">
                <a:solidFill>
                  <a:schemeClr val="bg2"/>
                </a:solidFill>
                <a:latin typeface="宋体" panose="02010600030101010101" pitchFamily="2" charset="-122"/>
              </a:rPr>
              <a:t>buf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chemeClr val="bg2"/>
                </a:solidFill>
                <a:latin typeface="宋体" panose="02010600030101010101" pitchFamily="2" charset="-122"/>
              </a:rPr>
              <a:t>dw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2055h         ；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设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$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=0008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H</a:t>
            </a:r>
          </a:p>
          <a:p>
            <a:pPr lvl="0">
              <a:lnSpc>
                <a:spcPts val="3000"/>
              </a:lnSpc>
              <a:spcBef>
                <a:spcPct val="10000"/>
              </a:spcBef>
              <a:buClr>
                <a:schemeClr val="accent2"/>
              </a:buClr>
              <a:buSzPct val="80000"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400" b="1" dirty="0" err="1">
                <a:solidFill>
                  <a:schemeClr val="bg2"/>
                </a:solidFill>
                <a:latin typeface="宋体" panose="02010600030101010101" pitchFamily="2" charset="-122"/>
              </a:rPr>
              <a:t>bvar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chemeClr val="bg2"/>
                </a:solidFill>
                <a:latin typeface="宋体" panose="02010600030101010101" pitchFamily="2" charset="-122"/>
              </a:rPr>
              <a:t>equ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this byte   ；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通过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this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定义</a:t>
            </a:r>
            <a:r>
              <a:rPr lang="en-US" altLang="zh-CN" sz="2400" b="1" dirty="0" err="1">
                <a:solidFill>
                  <a:schemeClr val="bg2"/>
                </a:solidFill>
                <a:latin typeface="宋体" panose="02010600030101010101" pitchFamily="2" charset="-122"/>
              </a:rPr>
              <a:t>bvar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为字节类型</a:t>
            </a:r>
          </a:p>
          <a:p>
            <a:pPr marL="0" lvl="0" indent="0">
              <a:lnSpc>
                <a:spcPts val="3000"/>
              </a:lnSpc>
              <a:spcBef>
                <a:spcPct val="1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400" b="1" dirty="0" err="1">
                <a:solidFill>
                  <a:schemeClr val="bg2"/>
                </a:solidFill>
                <a:latin typeface="宋体" panose="02010600030101010101" pitchFamily="2" charset="-122"/>
              </a:rPr>
              <a:t>wvar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chemeClr val="bg2"/>
                </a:solidFill>
                <a:latin typeface="宋体" panose="02010600030101010101" pitchFamily="2" charset="-122"/>
              </a:rPr>
              <a:t>dw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10 dup(0)    ；</a:t>
            </a:r>
            <a:r>
              <a:rPr lang="en-US" altLang="zh-CN" sz="2400" b="1" dirty="0" err="1">
                <a:solidFill>
                  <a:schemeClr val="bg2"/>
                </a:solidFill>
                <a:latin typeface="宋体" panose="02010600030101010101" pitchFamily="2" charset="-122"/>
              </a:rPr>
              <a:t>wvar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仍然指向0008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H</a:t>
            </a:r>
          </a:p>
          <a:p>
            <a:pPr lvl="0">
              <a:lnSpc>
                <a:spcPts val="3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解释</a:t>
            </a:r>
            <a:r>
              <a:rPr lang="zh-CN" altLang="en-US" sz="2400" b="1" dirty="0">
                <a:solidFill>
                  <a:srgbClr val="0000CC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设当前偏移地址为0008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H，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第二条语句通过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“THIS”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定义该地址类型属性为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BYTE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并借助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EQU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为其定义了名字</a:t>
            </a:r>
            <a:r>
              <a:rPr lang="en-US" altLang="zh-CN" sz="2400" b="1" dirty="0" err="1">
                <a:solidFill>
                  <a:srgbClr val="0000FF"/>
                </a:solidFill>
                <a:latin typeface="宋体" panose="02010600030101010101" pitchFamily="2" charset="-122"/>
              </a:rPr>
              <a:t>bvar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。</a:t>
            </a:r>
          </a:p>
          <a:p>
            <a:pPr lvl="0">
              <a:lnSpc>
                <a:spcPts val="3000"/>
              </a:lnSpc>
              <a:buClr>
                <a:schemeClr val="accent2"/>
              </a:buClr>
              <a:buSzPct val="80000"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第三条语句使0008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单元具有了另一个名字</a:t>
            </a:r>
            <a:r>
              <a:rPr lang="en-US" altLang="zh-CN" sz="2400" b="1" dirty="0" err="1">
                <a:solidFill>
                  <a:schemeClr val="bg2"/>
                </a:solidFill>
                <a:latin typeface="宋体" panose="02010600030101010101" pitchFamily="2" charset="-122"/>
              </a:rPr>
              <a:t>wvar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和类型属性为字。对于0008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H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单元，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两个名字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两种属性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都可用。</a:t>
            </a:r>
            <a:endParaRPr lang="zh-CN" altLang="en-US" sz="2400" b="1" dirty="0">
              <a:solidFill>
                <a:schemeClr val="bg2"/>
              </a:solidFill>
            </a:endParaRPr>
          </a:p>
        </p:txBody>
      </p:sp>
      <p:sp>
        <p:nvSpPr>
          <p:cNvPr id="386051" name="标题 386050"/>
          <p:cNvSpPr>
            <a:spLocks noGrp="1"/>
          </p:cNvSpPr>
          <p:nvPr>
            <p:ph type="title"/>
          </p:nvPr>
        </p:nvSpPr>
        <p:spPr>
          <a:xfrm>
            <a:off x="250825" y="764704"/>
            <a:ext cx="2449513" cy="431800"/>
          </a:xfr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② this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386052" name="矩形 386051"/>
          <p:cNvSpPr/>
          <p:nvPr/>
        </p:nvSpPr>
        <p:spPr>
          <a:xfrm>
            <a:off x="395536" y="5803288"/>
            <a:ext cx="4763045" cy="79406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1" hangingPunct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注意：※ 要借助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EQU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伪指令。</a:t>
            </a:r>
          </a:p>
          <a:p>
            <a:pPr lvl="0" algn="just" eaLnBrk="1" hangingPunct="1">
              <a:lnSpc>
                <a:spcPct val="70000"/>
              </a:lnSpc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※ 与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下一条伪指令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合用。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24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标题 297985"/>
          <p:cNvSpPr>
            <a:spLocks noGrp="1"/>
          </p:cNvSpPr>
          <p:nvPr>
            <p:ph type="title"/>
          </p:nvPr>
        </p:nvSpPr>
        <p:spPr>
          <a:xfrm>
            <a:off x="3060700" y="836613"/>
            <a:ext cx="2735263" cy="431800"/>
          </a:xfr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>
            <a:r>
              <a:rPr lang="zh-CN" altLang="en-US" sz="2400" b="1" dirty="0">
                <a:solidFill>
                  <a:schemeClr val="bg2"/>
                </a:solidFill>
              </a:rPr>
              <a:t>运算符的优先级</a:t>
            </a:r>
          </a:p>
        </p:txBody>
      </p:sp>
      <p:sp>
        <p:nvSpPr>
          <p:cNvPr id="297987" name="文本占位符 297986"/>
          <p:cNvSpPr>
            <a:spLocks noGrp="1"/>
          </p:cNvSpPr>
          <p:nvPr>
            <p:ph type="body" idx="1"/>
          </p:nvPr>
        </p:nvSpPr>
        <p:spPr>
          <a:xfrm>
            <a:off x="395288" y="1449388"/>
            <a:ext cx="8424862" cy="4716462"/>
          </a:xfrm>
        </p:spPr>
        <p:txBody>
          <a:bodyPr/>
          <a:lstStyle/>
          <a:p>
            <a:pPr defTabSz="0">
              <a:lnSpc>
                <a:spcPct val="110000"/>
              </a:lnSpc>
              <a:buNone/>
              <a:tabLst>
                <a:tab pos="952500" algn="l"/>
              </a:tabLst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1		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()  &lt;&gt;  []  ·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  LENGTHOF  SIZEOF  WIDTH  MASK</a:t>
            </a:r>
          </a:p>
          <a:p>
            <a:pPr defTabSz="0">
              <a:lnSpc>
                <a:spcPct val="110000"/>
              </a:lnSpc>
              <a:buNone/>
              <a:tabLst>
                <a:tab pos="952500" algn="l"/>
              </a:tabLst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2		PTR  OFFSET  SEG  TPYE  THIS  :</a:t>
            </a:r>
          </a:p>
          <a:p>
            <a:pPr defTabSz="0">
              <a:lnSpc>
                <a:spcPct val="110000"/>
              </a:lnSpc>
              <a:buNone/>
              <a:tabLst>
                <a:tab pos="952500" algn="l"/>
              </a:tabLst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3		HIGE   LOW</a:t>
            </a:r>
          </a:p>
          <a:p>
            <a:pPr defTabSz="0">
              <a:lnSpc>
                <a:spcPct val="110000"/>
              </a:lnSpc>
              <a:buNone/>
              <a:tabLst>
                <a:tab pos="952500" algn="l"/>
              </a:tabLst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4		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*   /   MOD   SHL   SHR</a:t>
            </a:r>
          </a:p>
          <a:p>
            <a:pPr defTabSz="0">
              <a:lnSpc>
                <a:spcPct val="110000"/>
              </a:lnSpc>
              <a:buNone/>
              <a:tabLst>
                <a:tab pos="952500" algn="l"/>
              </a:tabLst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5		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+   -</a:t>
            </a:r>
          </a:p>
          <a:p>
            <a:pPr defTabSz="0">
              <a:lnSpc>
                <a:spcPct val="110000"/>
              </a:lnSpc>
              <a:buNone/>
              <a:tabLst>
                <a:tab pos="952500" algn="l"/>
              </a:tabLst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6		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EQ   NE   GT   LT   GE   LE</a:t>
            </a:r>
          </a:p>
          <a:p>
            <a:pPr defTabSz="0">
              <a:lnSpc>
                <a:spcPct val="110000"/>
              </a:lnSpc>
              <a:buNone/>
              <a:tabLst>
                <a:tab pos="952500" algn="l"/>
              </a:tabLst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7		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NOT</a:t>
            </a:r>
          </a:p>
          <a:p>
            <a:pPr defTabSz="0">
              <a:lnSpc>
                <a:spcPct val="110000"/>
              </a:lnSpc>
              <a:buNone/>
              <a:tabLst>
                <a:tab pos="952500" algn="l"/>
              </a:tabLst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8		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AND</a:t>
            </a:r>
          </a:p>
          <a:p>
            <a:pPr defTabSz="0">
              <a:lnSpc>
                <a:spcPct val="110000"/>
              </a:lnSpc>
              <a:buNone/>
              <a:tabLst>
                <a:tab pos="952500" algn="l"/>
              </a:tabLst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9		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OR   XOR</a:t>
            </a:r>
          </a:p>
          <a:p>
            <a:pPr defTabSz="0">
              <a:lnSpc>
                <a:spcPct val="110000"/>
              </a:lnSpc>
              <a:buNone/>
              <a:tabLst>
                <a:tab pos="952500" algn="l"/>
              </a:tabLst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10		SHORT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25</a:t>
            </a:fld>
            <a:endParaRPr lang="zh-CN" altLang="en-US" dirty="0"/>
          </a:p>
        </p:txBody>
      </p:sp>
      <p:sp>
        <p:nvSpPr>
          <p:cNvPr id="374794" name="矩形 374793"/>
          <p:cNvSpPr/>
          <p:nvPr/>
        </p:nvSpPr>
        <p:spPr>
          <a:xfrm>
            <a:off x="2374424" y="71438"/>
            <a:ext cx="4066540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4.1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汇编语言源程序</a:t>
            </a:r>
          </a:p>
        </p:txBody>
      </p:sp>
    </p:spTree>
  </p:cSld>
  <p:clrMapOvr>
    <a:masterClrMapping/>
  </p:clrMapOvr>
  <p:transition spd="slow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40" name="矩形 295939"/>
          <p:cNvSpPr/>
          <p:nvPr/>
        </p:nvSpPr>
        <p:spPr>
          <a:xfrm>
            <a:off x="1690688" y="1628775"/>
            <a:ext cx="5976937" cy="38163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>
              <a:buClr>
                <a:srgbClr val="FF00FF"/>
              </a:buClr>
            </a:pPr>
            <a:r>
              <a:rPr lang="zh-CN" altLang="en-US" sz="28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符号定义伪指令</a:t>
            </a:r>
          </a:p>
          <a:p>
            <a:pPr>
              <a:buClr>
                <a:srgbClr val="FF00FF"/>
              </a:buClr>
            </a:pPr>
            <a:r>
              <a:rPr lang="en-US" altLang="zh-CN" sz="28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LABEL</a:t>
            </a:r>
            <a:r>
              <a:rPr lang="zh-CN" altLang="en-US" sz="28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类型定义伪指令</a:t>
            </a:r>
          </a:p>
          <a:p>
            <a:pPr>
              <a:buClr>
                <a:srgbClr val="FF00FF"/>
              </a:buClr>
            </a:pPr>
            <a:r>
              <a:rPr lang="zh-CN" altLang="en-US" sz="28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变量定义伪指令</a:t>
            </a:r>
          </a:p>
          <a:p>
            <a:pPr>
              <a:buClr>
                <a:srgbClr val="FF00FF"/>
              </a:buClr>
            </a:pPr>
            <a:r>
              <a:rPr lang="zh-CN" altLang="en-US" sz="28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段定义伪指令</a:t>
            </a:r>
            <a:r>
              <a:rPr lang="en-US" altLang="zh-CN" sz="28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SEGMENT/ENDS</a:t>
            </a:r>
          </a:p>
          <a:p>
            <a:pPr>
              <a:buClr>
                <a:srgbClr val="FF00FF"/>
              </a:buClr>
            </a:pPr>
            <a:r>
              <a:rPr lang="zh-CN" altLang="en-US" sz="28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假定伪指令</a:t>
            </a:r>
            <a:r>
              <a:rPr lang="en-US" altLang="zh-CN" sz="28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ASSUME</a:t>
            </a:r>
          </a:p>
          <a:p>
            <a:pPr>
              <a:buClr>
                <a:srgbClr val="FF00FF"/>
              </a:buClr>
            </a:pPr>
            <a:r>
              <a:rPr lang="zh-CN" altLang="en-US" sz="28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置汇编地址计数器伪指令</a:t>
            </a:r>
            <a:r>
              <a:rPr lang="en-US" altLang="zh-CN" sz="28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ORG</a:t>
            </a:r>
          </a:p>
          <a:p>
            <a:pPr>
              <a:buClr>
                <a:srgbClr val="FF00FF"/>
              </a:buClr>
            </a:pPr>
            <a:r>
              <a:rPr lang="zh-CN" altLang="en-US" sz="28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源程序结束伪指令</a:t>
            </a:r>
            <a:r>
              <a:rPr lang="en-US" altLang="zh-CN" sz="280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rPr>
              <a:t>END</a:t>
            </a:r>
          </a:p>
        </p:txBody>
      </p:sp>
      <p:sp>
        <p:nvSpPr>
          <p:cNvPr id="295942" name="矩形 295941"/>
          <p:cNvSpPr/>
          <p:nvPr/>
        </p:nvSpPr>
        <p:spPr>
          <a:xfrm>
            <a:off x="2485390" y="93980"/>
            <a:ext cx="460756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4.2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汇编语言伪指令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26</a:t>
            </a:fld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标题 387073"/>
          <p:cNvSpPr>
            <a:spLocks noGrp="1"/>
          </p:cNvSpPr>
          <p:nvPr>
            <p:ph type="title"/>
          </p:nvPr>
        </p:nvSpPr>
        <p:spPr>
          <a:xfrm>
            <a:off x="323850" y="836613"/>
            <a:ext cx="4104134" cy="504825"/>
          </a:xfr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一、符号定义伪指令</a:t>
            </a:r>
          </a:p>
        </p:txBody>
      </p:sp>
      <p:sp>
        <p:nvSpPr>
          <p:cNvPr id="387075" name="文本占位符 387074"/>
          <p:cNvSpPr>
            <a:spLocks noGrp="1"/>
          </p:cNvSpPr>
          <p:nvPr>
            <p:ph type="body" idx="1"/>
          </p:nvPr>
        </p:nvSpPr>
        <p:spPr>
          <a:xfrm>
            <a:off x="468313" y="1341437"/>
            <a:ext cx="8351837" cy="4391794"/>
          </a:xfrm>
          <a:solidFill>
            <a:schemeClr val="tx1"/>
          </a:solidFill>
        </p:spPr>
        <p:txBody>
          <a:bodyPr/>
          <a:lstStyle/>
          <a:p>
            <a:pPr marL="0" indent="0"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、等值伪指令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EQU</a:t>
            </a:r>
          </a:p>
          <a:p>
            <a:pPr marL="0" indent="0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格式： 符号名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EQU	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表达式</a:t>
            </a:r>
          </a:p>
          <a:p>
            <a:pPr marL="0" indent="0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功能：用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EQU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左边的符号名代表右边的表达式</a:t>
            </a:r>
            <a:r>
              <a:rPr lang="zh-CN" altLang="en-US" sz="2400" dirty="0">
                <a:effectLst/>
              </a:rPr>
              <a:t> 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FF0066"/>
                </a:solidFill>
                <a:effectLst/>
                <a:latin typeface="宋体" panose="02010600030101010101" pitchFamily="2" charset="-122"/>
              </a:rPr>
              <a:t>例：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	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MOVE  EQU  MOV</a:t>
            </a:r>
            <a:endParaRPr lang="zh-CN" altLang="zh-CN" sz="2400" b="1" dirty="0">
              <a:solidFill>
                <a:schemeClr val="bg2"/>
              </a:solidFill>
              <a:effectLst/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CONST  EQU  60 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STR  EQU  "</a:t>
            </a:r>
            <a:r>
              <a:rPr lang="en-US" altLang="zh-CN" sz="2400" dirty="0">
                <a:effectLst/>
              </a:rPr>
              <a:t>!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How are you!"</a:t>
            </a:r>
            <a:endParaRPr lang="zh-CN" altLang="zh-CN" sz="2400" b="1" dirty="0">
              <a:solidFill>
                <a:schemeClr val="bg2"/>
              </a:solidFill>
              <a:effectLst/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说明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：</a:t>
            </a:r>
            <a:endParaRPr lang="en-US" altLang="zh-CN" sz="2400" b="1" dirty="0">
              <a:solidFill>
                <a:schemeClr val="bg2"/>
              </a:solidFill>
              <a:effectLst/>
              <a:latin typeface="宋体" panose="02010600030101010101" pitchFamily="2" charset="-122"/>
            </a:endParaRPr>
          </a:p>
          <a:p>
            <a:pPr>
              <a:buClr>
                <a:srgbClr val="FF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用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EQU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已定义的符号不能被重新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定义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，若需要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，需用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PURGE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先解除。</a:t>
            </a:r>
            <a:endParaRPr lang="en-US" altLang="zh-CN" sz="2400" b="1" dirty="0">
              <a:solidFill>
                <a:schemeClr val="bg2"/>
              </a:solidFill>
              <a:effectLst/>
              <a:latin typeface="宋体" panose="02010600030101010101" pitchFamily="2" charset="-122"/>
            </a:endParaRPr>
          </a:p>
          <a:p>
            <a:pPr>
              <a:buClr>
                <a:srgbClr val="FF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用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EQU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给常量或表达式赋予一个符号名，方便在程序中的使用</a:t>
            </a:r>
          </a:p>
        </p:txBody>
      </p:sp>
      <p:sp>
        <p:nvSpPr>
          <p:cNvPr id="387077" name="矩形 387076"/>
          <p:cNvSpPr/>
          <p:nvPr/>
        </p:nvSpPr>
        <p:spPr>
          <a:xfrm>
            <a:off x="791988" y="5733231"/>
            <a:ext cx="7164388" cy="576089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格式：</a:t>
            </a:r>
            <a:r>
              <a:rPr lang="zh-CN" altLang="en-US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PURGE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符号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，符号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...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，符号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387078" name="矩形 387077"/>
          <p:cNvSpPr/>
          <p:nvPr/>
        </p:nvSpPr>
        <p:spPr>
          <a:xfrm>
            <a:off x="2484438" y="188913"/>
            <a:ext cx="4064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4.2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汇编语言伪指令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103" name="矩形 388102"/>
          <p:cNvSpPr/>
          <p:nvPr/>
        </p:nvSpPr>
        <p:spPr>
          <a:xfrm>
            <a:off x="717158" y="1124744"/>
            <a:ext cx="7632700" cy="267765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、等号伪指令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</a:p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功能与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EQU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类似,但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允许重新定义</a:t>
            </a:r>
          </a:p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例：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┇</a:t>
            </a:r>
          </a:p>
          <a:p>
            <a:pPr lvl="0">
              <a:buClr>
                <a:schemeClr val="accent1"/>
              </a:buClr>
              <a:buSzPct val="75000"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EMP=7.1273941546	     ；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值为7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</a:rPr>
              <a:t>.1273941546</a:t>
            </a:r>
            <a:endParaRPr lang="zh-CN" altLang="en-US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┇</a:t>
            </a:r>
          </a:p>
          <a:p>
            <a:pPr lvl="0">
              <a:buClr>
                <a:schemeClr val="accent1"/>
              </a:buClr>
              <a:buSzPct val="75000"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</a:rPr>
              <a:t>EMP=８.41546273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     ；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值为8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</a:rPr>
              <a:t>.41546273</a:t>
            </a:r>
            <a:endParaRPr lang="zh-CN" altLang="en-US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8104" name="矩形 388103"/>
          <p:cNvSpPr/>
          <p:nvPr/>
        </p:nvSpPr>
        <p:spPr>
          <a:xfrm>
            <a:off x="2484755" y="189230"/>
            <a:ext cx="4704715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4.2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汇编语言伪指令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28</a:t>
            </a:fld>
            <a:endParaRPr lang="zh-CN" altLang="en-US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971550" y="4905375"/>
            <a:ext cx="7129463" cy="134806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符号定义是定义在程序中要使用的常量。</a:t>
            </a:r>
          </a:p>
          <a:p>
            <a:pPr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用</a:t>
            </a:r>
            <a:r>
              <a:rPr lang="en-US" altLang="zh-CN" b="1" dirty="0">
                <a:solidFill>
                  <a:srgbClr val="FF00FF"/>
                </a:solidFill>
              </a:rPr>
              <a:t>EQU</a:t>
            </a:r>
            <a:r>
              <a:rPr lang="zh-CN" altLang="en-US" b="1" dirty="0">
                <a:solidFill>
                  <a:srgbClr val="FF00FF"/>
                </a:solidFill>
              </a:rPr>
              <a:t>、</a:t>
            </a:r>
            <a:r>
              <a:rPr lang="en-US" altLang="zh-CN" b="1" dirty="0">
                <a:solidFill>
                  <a:srgbClr val="FF00FF"/>
                </a:solidFill>
              </a:rPr>
              <a:t>=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</a:rPr>
              <a:t>定义的符号不占用存储器单元。</a:t>
            </a:r>
          </a:p>
          <a:p>
            <a:pPr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即，汇编程序不为这样的符号分配存储空间。</a:t>
            </a: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395536" y="4190161"/>
            <a:ext cx="1716087" cy="4572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FF6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00FF"/>
                </a:solidFill>
              </a:rPr>
              <a:t>特别注意：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标题 389121"/>
          <p:cNvSpPr>
            <a:spLocks noGrp="1"/>
          </p:cNvSpPr>
          <p:nvPr>
            <p:ph type="title"/>
          </p:nvPr>
        </p:nvSpPr>
        <p:spPr>
          <a:xfrm>
            <a:off x="539750" y="838200"/>
            <a:ext cx="3527425" cy="50323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二、变量定义伪指令</a:t>
            </a:r>
          </a:p>
        </p:txBody>
      </p:sp>
      <p:sp>
        <p:nvSpPr>
          <p:cNvPr id="389123" name="文本占位符 389122"/>
          <p:cNvSpPr>
            <a:spLocks noGrp="1"/>
          </p:cNvSpPr>
          <p:nvPr>
            <p:ph type="body" idx="1"/>
          </p:nvPr>
        </p:nvSpPr>
        <p:spPr>
          <a:xfrm>
            <a:off x="323850" y="1628775"/>
            <a:ext cx="8528050" cy="1440185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定义变量的伪指令也称为</a:t>
            </a:r>
            <a:r>
              <a:rPr lang="zh-CN" altLang="en-US" sz="2400" b="1" dirty="0">
                <a:solidFill>
                  <a:srgbClr val="6600CC"/>
                </a:solidFill>
                <a:effectLst/>
                <a:latin typeface="宋体" panose="02010600030101010101" pitchFamily="2" charset="-122"/>
              </a:rPr>
              <a:t>数据定义伪指令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。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格式：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变量名 伪指令助记符 操作数  ；注释</a:t>
            </a:r>
          </a:p>
        </p:txBody>
      </p:sp>
      <p:sp>
        <p:nvSpPr>
          <p:cNvPr id="389124" name="矩形 389123"/>
          <p:cNvSpPr/>
          <p:nvPr/>
        </p:nvSpPr>
        <p:spPr>
          <a:xfrm>
            <a:off x="304800" y="4249738"/>
            <a:ext cx="8458200" cy="1987550"/>
          </a:xfr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变量名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由用户起名；</a:t>
            </a:r>
            <a:b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</a:b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伪指令助记符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有如下几种：</a:t>
            </a:r>
            <a:b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</a:b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FF00FF"/>
                </a:solidFill>
                <a:latin typeface="宋体" panose="02010600030101010101" pitchFamily="2" charset="-122"/>
              </a:rPr>
              <a:t>DB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字节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）、</a:t>
            </a:r>
            <a:r>
              <a:rPr lang="en-US" altLang="zh-CN" sz="2400" b="1">
                <a:solidFill>
                  <a:srgbClr val="FF00FF"/>
                </a:solidFill>
                <a:latin typeface="宋体" panose="02010600030101010101" pitchFamily="2" charset="-122"/>
              </a:rPr>
              <a:t> DW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字）、</a:t>
            </a:r>
            <a:r>
              <a:rPr lang="en-US" altLang="zh-CN" sz="2400" b="1">
                <a:solidFill>
                  <a:srgbClr val="FF00FF"/>
                </a:solidFill>
                <a:latin typeface="宋体" panose="02010600030101010101" pitchFamily="2" charset="-122"/>
              </a:rPr>
              <a:t>DD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（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双字）、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DF、DQ、DT</a:t>
            </a:r>
            <a:b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</a:br>
            <a:r>
              <a:rPr lang="en-US" altLang="zh-CN" sz="2400">
                <a:solidFill>
                  <a:schemeClr val="bg2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操作数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可以是常数或表达式；</a:t>
            </a:r>
            <a:b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</a:b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(4)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注释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用来说明伪指令的功能，它亦可有可无。</a:t>
            </a:r>
          </a:p>
        </p:txBody>
      </p:sp>
      <p:sp>
        <p:nvSpPr>
          <p:cNvPr id="389125" name="矩形 389124"/>
          <p:cNvSpPr/>
          <p:nvPr/>
        </p:nvSpPr>
        <p:spPr>
          <a:xfrm>
            <a:off x="381000" y="3548063"/>
            <a:ext cx="11668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解释：</a:t>
            </a:r>
          </a:p>
        </p:txBody>
      </p:sp>
      <p:grpSp>
        <p:nvGrpSpPr>
          <p:cNvPr id="389131" name="组合 389130"/>
          <p:cNvGrpSpPr/>
          <p:nvPr/>
        </p:nvGrpSpPr>
        <p:grpSpPr>
          <a:xfrm>
            <a:off x="1285875" y="2492375"/>
            <a:ext cx="5373688" cy="7938"/>
            <a:chOff x="810" y="1570"/>
            <a:chExt cx="3385" cy="5"/>
          </a:xfrm>
        </p:grpSpPr>
        <p:sp>
          <p:nvSpPr>
            <p:cNvPr id="389126" name="直接连接符 389125"/>
            <p:cNvSpPr/>
            <p:nvPr/>
          </p:nvSpPr>
          <p:spPr>
            <a:xfrm>
              <a:off x="810" y="1575"/>
              <a:ext cx="603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27" name="直接连接符 389126"/>
            <p:cNvSpPr/>
            <p:nvPr/>
          </p:nvSpPr>
          <p:spPr>
            <a:xfrm>
              <a:off x="1529" y="1570"/>
              <a:ext cx="1124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28" name="直接连接符 389127"/>
            <p:cNvSpPr/>
            <p:nvPr/>
          </p:nvSpPr>
          <p:spPr>
            <a:xfrm>
              <a:off x="2799" y="1570"/>
              <a:ext cx="580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129" name="直接连接符 389128"/>
            <p:cNvSpPr/>
            <p:nvPr/>
          </p:nvSpPr>
          <p:spPr>
            <a:xfrm>
              <a:off x="3523" y="1570"/>
              <a:ext cx="672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89132" name="矩形 389131"/>
          <p:cNvSpPr/>
          <p:nvPr/>
        </p:nvSpPr>
        <p:spPr>
          <a:xfrm>
            <a:off x="395288" y="2670011"/>
            <a:ext cx="8280400" cy="830997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功能：定义变量的类型、名字，并为变量中的操作数项分配存储单元 </a:t>
            </a:r>
          </a:p>
        </p:txBody>
      </p:sp>
      <p:sp>
        <p:nvSpPr>
          <p:cNvPr id="389133" name="矩形 389132"/>
          <p:cNvSpPr/>
          <p:nvPr/>
        </p:nvSpPr>
        <p:spPr>
          <a:xfrm>
            <a:off x="2484755" y="189230"/>
            <a:ext cx="4451985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4.2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汇编语言伪指令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文本占位符 390145"/>
          <p:cNvSpPr>
            <a:spLocks noGrp="1"/>
          </p:cNvSpPr>
          <p:nvPr>
            <p:ph type="body" idx="1"/>
          </p:nvPr>
        </p:nvSpPr>
        <p:spPr>
          <a:xfrm>
            <a:off x="684213" y="1412875"/>
            <a:ext cx="7772400" cy="3240088"/>
          </a:xfrm>
        </p:spPr>
        <p:txBody>
          <a:bodyPr vert="horz" wrap="square" lIns="91440" tIns="45720" rIns="91440" bIns="45720" anchor="t"/>
          <a:lstStyle/>
          <a:p>
            <a:pPr algn="just">
              <a:lnSpc>
                <a:spcPct val="90000"/>
              </a:lnSpc>
              <a:buNone/>
            </a:pPr>
            <a:r>
              <a:rPr lang="zh-CN" altLang="en-US" sz="2400" b="1" i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表达式：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表达式项是给变量或指定存储单元赋予的初值，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多个操作数之间须用逗号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“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,”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分隔，具体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有以下几种形式：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）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数值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表达式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）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地址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表达式（只适用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DW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DD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两个伪指令）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）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字符串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表达式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）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?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表达式</a:t>
            </a:r>
          </a:p>
          <a:p>
            <a:pPr algn="just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5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）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带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DUP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的表达式</a:t>
            </a:r>
          </a:p>
        </p:txBody>
      </p:sp>
      <p:sp>
        <p:nvSpPr>
          <p:cNvPr id="390147" name="矩形 390146"/>
          <p:cNvSpPr/>
          <p:nvPr/>
        </p:nvSpPr>
        <p:spPr>
          <a:xfrm>
            <a:off x="2484755" y="189230"/>
            <a:ext cx="444246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4.2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汇编语言伪指令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30</a:t>
            </a:fld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文本占位符 391169"/>
          <p:cNvSpPr>
            <a:spLocks noGrp="1"/>
          </p:cNvSpPr>
          <p:nvPr>
            <p:ph type="body" idx="1"/>
          </p:nvPr>
        </p:nvSpPr>
        <p:spPr>
          <a:xfrm>
            <a:off x="684213" y="4797425"/>
            <a:ext cx="4464050" cy="533400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汇编后的</a:t>
            </a:r>
            <a:r>
              <a:rPr lang="zh-CN" altLang="en-US" sz="2400" b="1" dirty="0">
                <a:solidFill>
                  <a:schemeClr val="bg2"/>
                </a:solidFill>
                <a:effectLst/>
              </a:rPr>
              <a:t>内存分配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如图所示：</a:t>
            </a:r>
          </a:p>
        </p:txBody>
      </p:sp>
      <p:sp>
        <p:nvSpPr>
          <p:cNvPr id="391191" name="矩形 391190"/>
          <p:cNvSpPr/>
          <p:nvPr/>
        </p:nvSpPr>
        <p:spPr>
          <a:xfrm>
            <a:off x="827088" y="2276475"/>
            <a:ext cx="2971800" cy="2123658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lnSpc>
                <a:spcPct val="70000"/>
              </a:lnSpc>
              <a:spcBef>
                <a:spcPct val="5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Data segment</a:t>
            </a:r>
          </a:p>
          <a:p>
            <a:pPr lvl="0" algn="just" eaLnBrk="1" hangingPunct="1">
              <a:lnSpc>
                <a:spcPct val="70000"/>
              </a:lnSpc>
              <a:spcBef>
                <a:spcPct val="5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b="1" dirty="0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DB</a:t>
            </a:r>
            <a:r>
              <a:rPr lang="en-US" altLang="zh-CN" b="1" dirty="0">
                <a:solidFill>
                  <a:srgbClr val="FF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10,5,30H</a:t>
            </a:r>
          </a:p>
          <a:p>
            <a:pPr lvl="0" algn="just" eaLnBrk="1" hangingPunct="1">
              <a:lnSpc>
                <a:spcPct val="70000"/>
              </a:lnSpc>
              <a:spcBef>
                <a:spcPct val="5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b="1" dirty="0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DW</a:t>
            </a:r>
            <a:r>
              <a:rPr lang="en-US" altLang="zh-CN" b="1" dirty="0">
                <a:solidFill>
                  <a:srgbClr val="FF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100H,100,-4</a:t>
            </a:r>
          </a:p>
          <a:p>
            <a:pPr lvl="0" algn="just" eaLnBrk="1" hangingPunct="1">
              <a:lnSpc>
                <a:spcPct val="70000"/>
              </a:lnSpc>
              <a:spcBef>
                <a:spcPct val="5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 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DD</a:t>
            </a:r>
            <a:r>
              <a:rPr lang="en-US" altLang="zh-CN" b="1" dirty="0">
                <a:solidFill>
                  <a:srgbClr val="FF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2*30,-100</a:t>
            </a:r>
          </a:p>
          <a:p>
            <a:pPr lvl="0" algn="just" eaLnBrk="1" hangingPunct="1">
              <a:lnSpc>
                <a:spcPct val="70000"/>
              </a:lnSpc>
              <a:spcBef>
                <a:spcPct val="5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Data ends</a:t>
            </a:r>
          </a:p>
        </p:txBody>
      </p:sp>
      <p:sp>
        <p:nvSpPr>
          <p:cNvPr id="391192" name="矩形 391191"/>
          <p:cNvSpPr/>
          <p:nvPr/>
        </p:nvSpPr>
        <p:spPr>
          <a:xfrm>
            <a:off x="539750" y="981075"/>
            <a:ext cx="30956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、数值表达式</a:t>
            </a:r>
          </a:p>
        </p:txBody>
      </p:sp>
      <p:sp>
        <p:nvSpPr>
          <p:cNvPr id="391194" name="矩形 391193"/>
          <p:cNvSpPr/>
          <p:nvPr/>
        </p:nvSpPr>
        <p:spPr>
          <a:xfrm>
            <a:off x="539750" y="1557338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举例</a:t>
            </a:r>
          </a:p>
        </p:txBody>
      </p:sp>
      <p:sp>
        <p:nvSpPr>
          <p:cNvPr id="391196" name="矩形 391195"/>
          <p:cNvSpPr/>
          <p:nvPr/>
        </p:nvSpPr>
        <p:spPr>
          <a:xfrm>
            <a:off x="2484755" y="189230"/>
            <a:ext cx="460756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4.2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汇编语言伪指令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31</a:t>
            </a:fld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628774"/>
            <a:ext cx="2016224" cy="4032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文本占位符 393217"/>
          <p:cNvSpPr>
            <a:spLocks noGrp="1"/>
          </p:cNvSpPr>
          <p:nvPr>
            <p:ph type="body" idx="1"/>
          </p:nvPr>
        </p:nvSpPr>
        <p:spPr>
          <a:xfrm>
            <a:off x="381000" y="838200"/>
            <a:ext cx="4406900" cy="503238"/>
          </a:xfrm>
          <a:solidFill>
            <a:schemeClr val="tx1"/>
          </a:solidFill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chemeClr val="bg2"/>
                </a:solidFill>
              </a:rPr>
              <a:t>地址表达式形式</a:t>
            </a:r>
          </a:p>
        </p:txBody>
      </p:sp>
      <p:sp>
        <p:nvSpPr>
          <p:cNvPr id="393270" name="矩形 393269"/>
          <p:cNvSpPr/>
          <p:nvPr/>
        </p:nvSpPr>
        <p:spPr>
          <a:xfrm>
            <a:off x="250825" y="3284538"/>
            <a:ext cx="41671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汇编后的内存分配如图所示：</a:t>
            </a:r>
          </a:p>
        </p:txBody>
      </p:sp>
      <p:sp>
        <p:nvSpPr>
          <p:cNvPr id="393271" name="矩形 393270"/>
          <p:cNvSpPr/>
          <p:nvPr/>
        </p:nvSpPr>
        <p:spPr>
          <a:xfrm>
            <a:off x="468313" y="1412875"/>
            <a:ext cx="4103687" cy="17912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nb-NO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DATA  SEGMENT</a:t>
            </a:r>
            <a:r>
              <a:rPr lang="nb-NO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lvl="0">
              <a:buClr>
                <a:schemeClr val="accent1"/>
              </a:buClr>
              <a:buSzPct val="75000"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</a:rPr>
              <a:t>X DW</a:t>
            </a:r>
            <a:r>
              <a:rPr lang="nb-NO" altLang="zh-CN" b="1" dirty="0">
                <a:solidFill>
                  <a:schemeClr val="bg2"/>
                </a:solidFill>
                <a:latin typeface="宋体" panose="02010600030101010101" pitchFamily="2" charset="-122"/>
              </a:rPr>
              <a:t> 2,1,$+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</a:rPr>
              <a:t>5</a:t>
            </a:r>
            <a:r>
              <a:rPr lang="nb-NO" altLang="zh-CN" b="1" dirty="0">
                <a:solidFill>
                  <a:schemeClr val="bg2"/>
                </a:solidFill>
                <a:latin typeface="宋体" panose="02010600030101010101" pitchFamily="2" charset="-122"/>
              </a:rPr>
              <a:t>,7,8,$+5</a:t>
            </a:r>
            <a:endParaRPr lang="en-US" altLang="zh-CN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Len </a:t>
            </a:r>
            <a:r>
              <a:rPr lang="en-US" altLang="zh-CN" b="1" dirty="0" err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db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$-x</a:t>
            </a:r>
          </a:p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nb-NO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DATA  ENDS</a:t>
            </a:r>
            <a:r>
              <a:rPr lang="nb-NO" altLang="zh-CN" dirty="0"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93272" name="文本框 393271"/>
          <p:cNvSpPr txBox="1"/>
          <p:nvPr/>
        </p:nvSpPr>
        <p:spPr>
          <a:xfrm>
            <a:off x="468313" y="3860800"/>
            <a:ext cx="3095625" cy="4572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>
            <a:spAutoFit/>
          </a:bodyPr>
          <a:lstStyle/>
          <a:p>
            <a:pPr lvl="0" algn="l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解释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：地址计数器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</a:p>
        </p:txBody>
      </p:sp>
      <p:sp>
        <p:nvSpPr>
          <p:cNvPr id="393273" name="矩形 393272"/>
          <p:cNvSpPr/>
          <p:nvPr/>
        </p:nvSpPr>
        <p:spPr>
          <a:xfrm>
            <a:off x="395288" y="4365625"/>
            <a:ext cx="5040312" cy="719138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8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在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伪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指令中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$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表示</a:t>
            </a:r>
            <a:r>
              <a:rPr lang="zh-CN" altLang="en-US" sz="2400" b="1" dirty="0">
                <a:solidFill>
                  <a:srgbClr val="FF00FF"/>
                </a:solidFill>
                <a:latin typeface="宋体" panose="02010600030101010101" pitchFamily="2" charset="-122"/>
              </a:rPr>
              <a:t>地址计数器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的当前值。</a:t>
            </a:r>
          </a:p>
        </p:txBody>
      </p:sp>
      <p:sp>
        <p:nvSpPr>
          <p:cNvPr id="393274" name="矩形 393273"/>
          <p:cNvSpPr/>
          <p:nvPr/>
        </p:nvSpPr>
        <p:spPr>
          <a:xfrm>
            <a:off x="395288" y="5045075"/>
            <a:ext cx="532765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地址计数器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每进入一个新段，地址计数器清零；每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分配一个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单元，地址计数器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自动加1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，指向下一个待分配的单元;</a:t>
            </a:r>
            <a:r>
              <a:rPr lang="zh-CN" altLang="en-US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＄代表当前值</a:t>
            </a:r>
          </a:p>
        </p:txBody>
      </p:sp>
      <p:sp>
        <p:nvSpPr>
          <p:cNvPr id="393275" name="矩形 393274"/>
          <p:cNvSpPr/>
          <p:nvPr/>
        </p:nvSpPr>
        <p:spPr>
          <a:xfrm>
            <a:off x="2484755" y="189230"/>
            <a:ext cx="4694555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4.2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汇编语言伪指令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32</a:t>
            </a:fld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572419"/>
            <a:ext cx="2664296" cy="3656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402" name="矩形 400401"/>
          <p:cNvSpPr/>
          <p:nvPr/>
        </p:nvSpPr>
        <p:spPr>
          <a:xfrm>
            <a:off x="381000" y="838200"/>
            <a:ext cx="4406900" cy="503238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lvl="0">
              <a:lnSpc>
                <a:spcPct val="90000"/>
              </a:lnSpc>
              <a:buNone/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chemeClr val="bg2"/>
                </a:solidFill>
              </a:rPr>
              <a:t>字符串表达式形式</a:t>
            </a:r>
          </a:p>
        </p:txBody>
      </p:sp>
      <p:pic>
        <p:nvPicPr>
          <p:cNvPr id="400404" name="图片 4004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863" y="980728"/>
            <a:ext cx="2808287" cy="3097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0405" name="矩形 400404"/>
          <p:cNvSpPr/>
          <p:nvPr/>
        </p:nvSpPr>
        <p:spPr>
          <a:xfrm>
            <a:off x="468313" y="1340768"/>
            <a:ext cx="3557384" cy="223445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indent="2667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nb-NO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DATA  SEGMENT</a:t>
            </a:r>
          </a:p>
          <a:p>
            <a:pPr lvl="0" indent="2667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nb-NO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STR1 DB ‘12’</a:t>
            </a:r>
          </a:p>
          <a:p>
            <a:pPr lvl="0" indent="2667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nb-NO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STR2 DB ‘HELLO!’</a:t>
            </a:r>
          </a:p>
          <a:p>
            <a:pPr lvl="0" indent="266700" algn="l">
              <a:buClr>
                <a:schemeClr val="accent1"/>
              </a:buClr>
              <a:buSzPct val="75000"/>
            </a:pPr>
            <a:r>
              <a:rPr lang="nb-NO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STR3 DW ‘CD</a:t>
            </a:r>
            <a:r>
              <a:rPr lang="nb-NO" altLang="zh-CN" b="1" dirty="0">
                <a:solidFill>
                  <a:schemeClr val="bg2"/>
                </a:solidFill>
                <a:latin typeface="宋体" panose="02010600030101010101" pitchFamily="2" charset="-122"/>
              </a:rPr>
              <a:t>’,‘3</a:t>
            </a:r>
            <a:r>
              <a:rPr lang="nb-NO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’</a:t>
            </a:r>
          </a:p>
          <a:p>
            <a:pPr lvl="0" indent="2667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nb-NO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DATA ENDS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00406" name="矩形 400405"/>
          <p:cNvSpPr/>
          <p:nvPr/>
        </p:nvSpPr>
        <p:spPr>
          <a:xfrm>
            <a:off x="323850" y="3717032"/>
            <a:ext cx="41671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汇编后的内存分配如图所示：</a:t>
            </a:r>
          </a:p>
        </p:txBody>
      </p:sp>
      <p:sp>
        <p:nvSpPr>
          <p:cNvPr id="400407" name="文本框 400406"/>
          <p:cNvSpPr txBox="1"/>
          <p:nvPr/>
        </p:nvSpPr>
        <p:spPr>
          <a:xfrm>
            <a:off x="622300" y="4174232"/>
            <a:ext cx="4464050" cy="461665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Clr>
                <a:srgbClr val="0000FF"/>
              </a:buClr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解释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 </a:t>
            </a:r>
            <a:r>
              <a:rPr lang="nb-NO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STR3 </a:t>
            </a:r>
            <a:r>
              <a:rPr lang="nb-NO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DW</a:t>
            </a:r>
            <a:r>
              <a:rPr lang="nb-NO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‘CD’,</a:t>
            </a:r>
            <a:r>
              <a:rPr lang="nb-NO" altLang="zh-CN" b="1" dirty="0">
                <a:solidFill>
                  <a:schemeClr val="bg2"/>
                </a:solidFill>
                <a:latin typeface="宋体" panose="02010600030101010101" pitchFamily="2" charset="-122"/>
              </a:rPr>
              <a:t> ‘3’</a:t>
            </a:r>
          </a:p>
        </p:txBody>
      </p:sp>
      <p:sp>
        <p:nvSpPr>
          <p:cNvPr id="400408" name="矩形 400407"/>
          <p:cNvSpPr/>
          <p:nvPr/>
        </p:nvSpPr>
        <p:spPr>
          <a:xfrm>
            <a:off x="2484755" y="189230"/>
            <a:ext cx="460756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4.2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汇编语言伪指令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33</a:t>
            </a:fld>
            <a:endParaRPr lang="zh-CN" altLang="en-US" dirty="0"/>
          </a:p>
        </p:txBody>
      </p:sp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622300" y="5386536"/>
            <a:ext cx="5029200" cy="1066800"/>
            <a:chOff x="295" y="2976"/>
            <a:chExt cx="3168" cy="672"/>
          </a:xfrm>
        </p:grpSpPr>
        <p:sp>
          <p:nvSpPr>
            <p:cNvPr id="10" name="Text Box 30"/>
            <p:cNvSpPr txBox="1">
              <a:spLocks noChangeArrowheads="1"/>
            </p:cNvSpPr>
            <p:nvPr/>
          </p:nvSpPr>
          <p:spPr bwMode="auto">
            <a:xfrm>
              <a:off x="295" y="2998"/>
              <a:ext cx="3168" cy="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just" eaLnBrk="0" hangingPunct="0"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</a:pPr>
              <a:r>
                <a:rPr lang="zh-CN" altLang="en-US" dirty="0">
                  <a:solidFill>
                    <a:schemeClr val="bg2"/>
                  </a:solidFill>
                  <a:ea typeface="楷体_GB2312" pitchFamily="49" charset="-122"/>
                </a:rPr>
                <a:t>例：</a:t>
              </a:r>
              <a:r>
                <a:rPr lang="zh-CN" altLang="en-US" dirty="0">
                  <a:solidFill>
                    <a:schemeClr val="bg2"/>
                  </a:solidFill>
                </a:rPr>
                <a:t>  </a:t>
              </a:r>
              <a:r>
                <a:rPr lang="en-US" altLang="zh-CN" dirty="0">
                  <a:solidFill>
                    <a:schemeClr val="bg2"/>
                  </a:solidFill>
                  <a:ea typeface="楷体_GB2312" pitchFamily="49" charset="-122"/>
                </a:rPr>
                <a:t>str1</a:t>
              </a:r>
              <a:r>
                <a:rPr lang="en-US" altLang="zh-CN" b="1" dirty="0">
                  <a:solidFill>
                    <a:schemeClr val="bg2"/>
                  </a:solidFill>
                  <a:ea typeface="楷体_GB2312" pitchFamily="49" charset="-122"/>
                </a:rPr>
                <a:t>   </a:t>
              </a:r>
              <a:r>
                <a:rPr lang="en-US" altLang="zh-CN" dirty="0">
                  <a:solidFill>
                    <a:schemeClr val="bg2"/>
                  </a:solidFill>
                  <a:ea typeface="楷体_GB2312" pitchFamily="49" charset="-122"/>
                </a:rPr>
                <a:t>DW   ‘</a:t>
              </a:r>
              <a:r>
                <a:rPr lang="en-US" altLang="zh-CN" dirty="0" err="1">
                  <a:solidFill>
                    <a:schemeClr val="bg2"/>
                  </a:solidFill>
                  <a:ea typeface="楷体_GB2312" pitchFamily="49" charset="-122"/>
                </a:rPr>
                <a:t>abcd</a:t>
              </a:r>
              <a:r>
                <a:rPr lang="en-US" altLang="zh-CN" dirty="0">
                  <a:solidFill>
                    <a:schemeClr val="bg2"/>
                  </a:solidFill>
                  <a:ea typeface="楷体_GB2312" pitchFamily="49" charset="-122"/>
                </a:rPr>
                <a:t>’</a:t>
              </a:r>
            </a:p>
            <a:p>
              <a:pPr algn="just" eaLnBrk="0" hangingPunct="0"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</a:pPr>
              <a:r>
                <a:rPr lang="en-US" altLang="zh-CN" dirty="0">
                  <a:solidFill>
                    <a:schemeClr val="bg2"/>
                  </a:solidFill>
                  <a:ea typeface="楷体_GB2312" pitchFamily="49" charset="-122"/>
                </a:rPr>
                <a:t>          str2</a:t>
              </a:r>
              <a:r>
                <a:rPr lang="en-US" altLang="zh-CN" b="1" dirty="0">
                  <a:solidFill>
                    <a:schemeClr val="bg2"/>
                  </a:solidFill>
                  <a:ea typeface="楷体_GB2312" pitchFamily="49" charset="-122"/>
                </a:rPr>
                <a:t>   </a:t>
              </a:r>
              <a:r>
                <a:rPr lang="en-US" altLang="zh-CN" dirty="0">
                  <a:solidFill>
                    <a:schemeClr val="bg2"/>
                  </a:solidFill>
                  <a:ea typeface="楷体_GB2312" pitchFamily="49" charset="-122"/>
                </a:rPr>
                <a:t>DD   ‘</a:t>
              </a:r>
              <a:r>
                <a:rPr lang="en-US" altLang="zh-CN" b="1" dirty="0" err="1">
                  <a:solidFill>
                    <a:schemeClr val="bg2"/>
                  </a:solidFill>
                  <a:ea typeface="楷体_GB2312" pitchFamily="49" charset="-122"/>
                </a:rPr>
                <a:t>abcd</a:t>
              </a:r>
              <a:r>
                <a:rPr lang="en-US" altLang="zh-CN" dirty="0">
                  <a:solidFill>
                    <a:schemeClr val="bg2"/>
                  </a:solidFill>
                  <a:ea typeface="楷体_GB2312" pitchFamily="49" charset="-122"/>
                </a:rPr>
                <a:t>’</a:t>
              </a:r>
            </a:p>
          </p:txBody>
        </p:sp>
        <p:grpSp>
          <p:nvGrpSpPr>
            <p:cNvPr id="11" name="Group 31"/>
            <p:cNvGrpSpPr>
              <a:grpSpLocks/>
            </p:cNvGrpSpPr>
            <p:nvPr/>
          </p:nvGrpSpPr>
          <p:grpSpPr bwMode="auto">
            <a:xfrm>
              <a:off x="2426" y="2976"/>
              <a:ext cx="288" cy="672"/>
              <a:chOff x="2016" y="2976"/>
              <a:chExt cx="288" cy="672"/>
            </a:xfrm>
          </p:grpSpPr>
          <p:sp>
            <p:nvSpPr>
              <p:cNvPr id="12" name="Line 32"/>
              <p:cNvSpPr>
                <a:spLocks noChangeShapeType="1"/>
              </p:cNvSpPr>
              <p:nvPr/>
            </p:nvSpPr>
            <p:spPr bwMode="auto">
              <a:xfrm flipH="1">
                <a:off x="2016" y="2976"/>
                <a:ext cx="288" cy="576"/>
              </a:xfrm>
              <a:prstGeom prst="line">
                <a:avLst/>
              </a:prstGeom>
              <a:noFill/>
              <a:ln w="508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Line 33"/>
              <p:cNvSpPr>
                <a:spLocks noChangeShapeType="1"/>
              </p:cNvSpPr>
              <p:nvPr/>
            </p:nvSpPr>
            <p:spPr bwMode="auto">
              <a:xfrm>
                <a:off x="2064" y="3024"/>
                <a:ext cx="144" cy="624"/>
              </a:xfrm>
              <a:prstGeom prst="line">
                <a:avLst/>
              </a:prstGeom>
              <a:noFill/>
              <a:ln w="508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4" name="Rectangle 42"/>
          <p:cNvSpPr>
            <a:spLocks noChangeArrowheads="1"/>
          </p:cNvSpPr>
          <p:nvPr/>
        </p:nvSpPr>
        <p:spPr bwMode="auto">
          <a:xfrm>
            <a:off x="622260" y="4844008"/>
            <a:ext cx="5976938" cy="4572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CFFC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00FF"/>
                </a:solidFill>
              </a:rPr>
              <a:t>注意：</a:t>
            </a:r>
            <a:r>
              <a:rPr lang="en-US" altLang="zh-CN" b="1" dirty="0">
                <a:solidFill>
                  <a:srgbClr val="FF00FF"/>
                </a:solidFill>
              </a:rPr>
              <a:t>3</a:t>
            </a:r>
            <a:r>
              <a:rPr lang="zh-CN" altLang="en-US" b="1" dirty="0">
                <a:solidFill>
                  <a:srgbClr val="FF00FF"/>
                </a:solidFill>
              </a:rPr>
              <a:t>个及以上的字符，只能用</a:t>
            </a:r>
            <a:r>
              <a:rPr lang="en-US" altLang="zh-CN" b="1" dirty="0">
                <a:solidFill>
                  <a:srgbClr val="FF00FF"/>
                </a:solidFill>
              </a:rPr>
              <a:t>DB</a:t>
            </a:r>
            <a:r>
              <a:rPr lang="zh-CN" altLang="en-US" b="1" dirty="0">
                <a:solidFill>
                  <a:srgbClr val="FF00FF"/>
                </a:solidFill>
              </a:rPr>
              <a:t>定义。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文本占位符 398337"/>
          <p:cNvSpPr>
            <a:spLocks noGrp="1"/>
          </p:cNvSpPr>
          <p:nvPr>
            <p:ph type="body" idx="1"/>
          </p:nvPr>
        </p:nvSpPr>
        <p:spPr>
          <a:xfrm>
            <a:off x="395288" y="2182813"/>
            <a:ext cx="5472112" cy="1966912"/>
          </a:xfrm>
          <a:solidFill>
            <a:schemeClr val="tx1">
              <a:alpha val="100000"/>
            </a:schemeClr>
          </a:solidFill>
        </p:spPr>
        <p:txBody>
          <a:bodyPr/>
          <a:lstStyle/>
          <a:p>
            <a:pPr marL="0" indent="0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操作数是“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?”，只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用来</a:t>
            </a:r>
            <a:r>
              <a:rPr lang="zh-CN" altLang="en-US" sz="2400" b="1" dirty="0">
                <a:solidFill>
                  <a:srgbClr val="FF3300"/>
                </a:solidFill>
                <a:effectLst/>
                <a:latin typeface="宋体" panose="02010600030101010101" pitchFamily="2" charset="-122"/>
              </a:rPr>
              <a:t>保留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内存空间,但不存入数据，即初始值未定义。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FF0066"/>
                </a:solidFill>
                <a:effectLst/>
                <a:latin typeface="宋体" panose="02010600030101010101" pitchFamily="2" charset="-122"/>
              </a:rPr>
              <a:t>例：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 DB	0,1,?,?,?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L DW	?,54,?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汇编后的内存分配如图示：</a:t>
            </a:r>
          </a:p>
        </p:txBody>
      </p:sp>
      <p:pic>
        <p:nvPicPr>
          <p:cNvPr id="398356" name="图片 3983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788" y="1989138"/>
            <a:ext cx="2016125" cy="3311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8357" name="矩形 398356"/>
          <p:cNvSpPr/>
          <p:nvPr/>
        </p:nvSpPr>
        <p:spPr>
          <a:xfrm>
            <a:off x="381000" y="838200"/>
            <a:ext cx="4406900" cy="503238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lvl="0">
              <a:lnSpc>
                <a:spcPct val="90000"/>
              </a:lnSpc>
              <a:buNone/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chemeClr val="bg2"/>
                </a:solidFill>
              </a:rPr>
              <a:t>？表达式形式</a:t>
            </a:r>
          </a:p>
        </p:txBody>
      </p:sp>
      <p:sp>
        <p:nvSpPr>
          <p:cNvPr id="398358" name="矩形 398357"/>
          <p:cNvSpPr/>
          <p:nvPr/>
        </p:nvSpPr>
        <p:spPr>
          <a:xfrm>
            <a:off x="2484755" y="189230"/>
            <a:ext cx="486156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4.2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汇编语言伪指令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34</a:t>
            </a:fld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文本占位符 399361"/>
          <p:cNvSpPr>
            <a:spLocks noGrp="1"/>
          </p:cNvSpPr>
          <p:nvPr>
            <p:ph type="body" idx="1"/>
          </p:nvPr>
        </p:nvSpPr>
        <p:spPr>
          <a:xfrm>
            <a:off x="179388" y="3630227"/>
            <a:ext cx="4320158" cy="1367705"/>
          </a:xfrm>
        </p:spPr>
        <p:txBody>
          <a:bodyPr/>
          <a:lstStyle/>
          <a:p>
            <a:pPr marL="0" indent="0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示例：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ABC DB 0,1,?,?,? </a:t>
            </a:r>
          </a:p>
          <a:p>
            <a:pPr marL="0" indent="0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亦可写成:</a:t>
            </a:r>
          </a:p>
          <a:p>
            <a:pPr marL="0" indent="0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ABC DB 0,1,3 DUP(?)</a:t>
            </a:r>
          </a:p>
        </p:txBody>
      </p:sp>
      <p:sp>
        <p:nvSpPr>
          <p:cNvPr id="399363" name="矩形 399362"/>
          <p:cNvSpPr/>
          <p:nvPr/>
        </p:nvSpPr>
        <p:spPr>
          <a:xfrm>
            <a:off x="468313" y="836613"/>
            <a:ext cx="3311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DUP</a:t>
            </a:r>
            <a:r>
              <a:rPr lang="zh-CN" altLang="en-US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表达式形式</a:t>
            </a:r>
          </a:p>
        </p:txBody>
      </p:sp>
      <p:sp>
        <p:nvSpPr>
          <p:cNvPr id="399364" name="矩形 399363"/>
          <p:cNvSpPr/>
          <p:nvPr/>
        </p:nvSpPr>
        <p:spPr>
          <a:xfrm>
            <a:off x="0" y="1440219"/>
            <a:ext cx="6264374" cy="4572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格式：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 DUP(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表达式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表达式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2,…,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表达式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n)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99365" name="矩形 399364"/>
          <p:cNvSpPr/>
          <p:nvPr/>
        </p:nvSpPr>
        <p:spPr>
          <a:xfrm>
            <a:off x="323850" y="1907571"/>
            <a:ext cx="5760318" cy="15696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功能：利用给出的一个或一组初值来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重复地初始化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存储单元。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为重复次数，括号中的内容为</a:t>
            </a:r>
            <a:r>
              <a:rPr lang="zh-CN" altLang="en-US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被重复的内容</a:t>
            </a:r>
            <a:r>
              <a:rPr lang="zh-CN" altLang="en-US" dirty="0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。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注意：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 n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DUP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之间需有空格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399366" name="矩形 399365"/>
          <p:cNvSpPr/>
          <p:nvPr/>
        </p:nvSpPr>
        <p:spPr>
          <a:xfrm>
            <a:off x="179388" y="5150928"/>
            <a:ext cx="5480050" cy="127419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DUP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还可以嵌套，以下</a:t>
            </a:r>
            <a:r>
              <a:rPr lang="pl-PL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变量的内存分配示意图如图所示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pl-PL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 DW 2 DUP(10H,2 DUP(1,2))</a:t>
            </a: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pic>
        <p:nvPicPr>
          <p:cNvPr id="399367" name="图片 3993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76" y="1065213"/>
            <a:ext cx="2592388" cy="4968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368" name="矩形 399367"/>
          <p:cNvSpPr/>
          <p:nvPr/>
        </p:nvSpPr>
        <p:spPr>
          <a:xfrm>
            <a:off x="2484755" y="189230"/>
            <a:ext cx="4515485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4.2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汇编语言伪指令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35</a:t>
            </a:fld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标题 332801"/>
          <p:cNvSpPr>
            <a:spLocks noGrp="1"/>
          </p:cNvSpPr>
          <p:nvPr>
            <p:ph type="title"/>
          </p:nvPr>
        </p:nvSpPr>
        <p:spPr>
          <a:xfrm>
            <a:off x="323850" y="765175"/>
            <a:ext cx="3384054" cy="503238"/>
          </a:xfrm>
          <a:solidFill>
            <a:srgbClr val="FFFFFF">
              <a:alpha val="100000"/>
            </a:srgbClr>
          </a:solidFill>
          <a:ln>
            <a:noFill/>
          </a:ln>
        </p:spPr>
        <p:txBody>
          <a:bodyPr/>
          <a:lstStyle/>
          <a:p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三、段定义伪指令</a:t>
            </a:r>
          </a:p>
        </p:txBody>
      </p:sp>
      <p:sp>
        <p:nvSpPr>
          <p:cNvPr id="332803" name="文本占位符 332802"/>
          <p:cNvSpPr>
            <a:spLocks noGrp="1"/>
          </p:cNvSpPr>
          <p:nvPr>
            <p:ph type="body" idx="1"/>
          </p:nvPr>
        </p:nvSpPr>
        <p:spPr>
          <a:xfrm>
            <a:off x="228600" y="1295400"/>
            <a:ext cx="8686800" cy="4509864"/>
          </a:xfrm>
          <a:solidFill>
            <a:schemeClr val="tx1">
              <a:alpha val="100000"/>
            </a:schemeClr>
          </a:solidFill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、段定义伪指令</a:t>
            </a: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SEGMENT/ENDS </a:t>
            </a:r>
            <a:endParaRPr lang="zh-CN" altLang="en-US" sz="2000" b="1" dirty="0">
              <a:solidFill>
                <a:schemeClr val="bg2"/>
              </a:solidFill>
              <a:effectLst/>
              <a:latin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格式：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段名 </a:t>
            </a: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SEGMENT </a:t>
            </a:r>
            <a:r>
              <a:rPr lang="en-GB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[</a:t>
            </a:r>
            <a:r>
              <a:rPr lang="en-GB" altLang="en-US" sz="2000" b="1" dirty="0" err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定位类型</a:t>
            </a:r>
            <a:r>
              <a:rPr lang="en-GB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] [</a:t>
            </a:r>
            <a:r>
              <a:rPr lang="en-GB" altLang="en-US" sz="2000" b="1" dirty="0" err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组合类型</a:t>
            </a:r>
            <a:r>
              <a:rPr lang="en-GB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] [’</a:t>
            </a:r>
            <a:r>
              <a:rPr lang="en-GB" altLang="en-US" sz="2000" b="1" dirty="0" err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类别</a:t>
            </a:r>
            <a:r>
              <a:rPr lang="en-GB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’]</a:t>
            </a: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				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┇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段名 </a:t>
            </a: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ENDS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解释：</a:t>
            </a:r>
          </a:p>
          <a:p>
            <a:pPr marL="0" indent="0" algn="just" eaLnBrk="0" hangingPunct="0">
              <a:lnSpc>
                <a:spcPts val="34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SEGMENT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和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ENDS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两个伪指令总是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成对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出现，二者前面的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段名一致</a:t>
            </a: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,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由用户起名。</a:t>
            </a: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SEGMENT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和</a:t>
            </a: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ENDS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语句之间的内容可以是指令和其他伪指令，表示存放在该段内存中的变量、指令或其他伪指令对该段内存的处理。代码段中主要是指令。为了阅读方便，</a:t>
            </a:r>
            <a:r>
              <a:rPr lang="zh-CN" altLang="en-US" sz="20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习惯上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总是根据段体的性质起段名，譬如通常用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宋体" panose="02010600030101010101" pitchFamily="2" charset="-122"/>
              </a:rPr>
              <a:t>DATA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作为数据段段名，用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宋体" panose="02010600030101010101" pitchFamily="2" charset="-122"/>
              </a:rPr>
              <a:t>CODE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作为代码段段名</a:t>
            </a:r>
            <a:r>
              <a:rPr lang="zh-CN" altLang="en-US" sz="2000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</a:t>
            </a:r>
          </a:p>
        </p:txBody>
      </p:sp>
      <p:sp>
        <p:nvSpPr>
          <p:cNvPr id="332804" name="矩形 332803"/>
          <p:cNvSpPr/>
          <p:nvPr/>
        </p:nvSpPr>
        <p:spPr>
          <a:xfrm>
            <a:off x="2484755" y="189230"/>
            <a:ext cx="433705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4.2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汇编语言伪指令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36</a:t>
            </a:fld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矩形 401409"/>
          <p:cNvSpPr/>
          <p:nvPr/>
        </p:nvSpPr>
        <p:spPr>
          <a:xfrm>
            <a:off x="1143000" y="1447800"/>
            <a:ext cx="7543800" cy="609600"/>
          </a:xfrm>
          <a:prstGeom prst="rect">
            <a:avLst/>
          </a:prstGeom>
          <a:solidFill>
            <a:srgbClr val="993366"/>
          </a:solidFill>
          <a:ln w="317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1411" name="文本占位符 401410"/>
          <p:cNvSpPr>
            <a:spLocks noGrp="1"/>
          </p:cNvSpPr>
          <p:nvPr>
            <p:ph type="body" idx="1"/>
          </p:nvPr>
        </p:nvSpPr>
        <p:spPr>
          <a:xfrm>
            <a:off x="296863" y="838200"/>
            <a:ext cx="8523287" cy="5471120"/>
          </a:xfrm>
          <a:solidFill>
            <a:schemeClr val="tx1">
              <a:alpha val="100000"/>
            </a:schemeClr>
          </a:solidFill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2.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指定段寄存器伪指令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ASSUME</a:t>
            </a:r>
          </a:p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格式：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ASSUME  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段寄存器名:段名[，段寄存器名:段名……]</a:t>
            </a:r>
          </a:p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功能：建立段寄存器与段之间关系。即指出某个段的段地址在哪个段寄存器中。如： </a:t>
            </a:r>
          </a:p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　　　</a:t>
            </a: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ASSUME CS：CODE，DS：DATA</a:t>
            </a:r>
          </a:p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说明：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ASSUME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伪指令只是告知汇编程序</a:t>
            </a:r>
            <a:r>
              <a:rPr lang="zh-CN" altLang="en-US" sz="20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有关段寄存器与段的关系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,并没有给段寄存器赋予</a:t>
            </a:r>
            <a:r>
              <a:rPr lang="zh-CN" altLang="en-US" sz="20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实际初值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。</a:t>
            </a:r>
            <a:endParaRPr lang="en-US" altLang="zh-CN" sz="2000" b="1" dirty="0">
              <a:solidFill>
                <a:srgbClr val="000000"/>
              </a:solidFill>
              <a:effectLst/>
              <a:latin typeface="宋体" panose="02010600030101010101" pitchFamily="2" charset="-122"/>
            </a:endParaRPr>
          </a:p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CS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IP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的初始值由伪指令“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END  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起始标号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”装入；</a:t>
            </a:r>
            <a:endParaRPr lang="en-US" altLang="zh-CN" sz="2000" b="1" dirty="0">
              <a:solidFill>
                <a:srgbClr val="000000"/>
              </a:solidFill>
              <a:effectLst/>
              <a:latin typeface="宋体" panose="02010600030101010101" pitchFamily="2" charset="-122"/>
            </a:endParaRPr>
          </a:p>
          <a:p>
            <a:pPr>
              <a:lnSpc>
                <a:spcPts val="34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堆栈段定义时若用了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STACK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系统会自动初始化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SS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SP</a:t>
            </a:r>
          </a:p>
          <a:p>
            <a:pPr>
              <a:lnSpc>
                <a:spcPts val="34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通常在程序中</a:t>
            </a:r>
            <a:r>
              <a:rPr lang="zh-CN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仅需对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DS</a:t>
            </a:r>
            <a:r>
              <a:rPr lang="zh-CN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ES</a:t>
            </a:r>
            <a:r>
              <a:rPr lang="zh-CN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段寄存器作初始化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通过以下指令：</a:t>
            </a:r>
          </a:p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MOV	AX,DATA</a:t>
            </a:r>
          </a:p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    MOV	DS,AX          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；实现将段地址装入数据段</a:t>
            </a:r>
            <a:endParaRPr lang="en-US" altLang="zh-CN" sz="2000" b="1" dirty="0">
              <a:solidFill>
                <a:srgbClr val="000000"/>
              </a:solidFill>
              <a:effectLst/>
              <a:latin typeface="宋体" panose="02010600030101010101" pitchFamily="2" charset="-122"/>
            </a:endParaRPr>
          </a:p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    MOV	ES,AX          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；寄存器和附加段寄存器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 </a:t>
            </a:r>
            <a:endParaRPr lang="zh-CN" altLang="en-US" sz="2000" b="1" dirty="0">
              <a:solidFill>
                <a:srgbClr val="000000"/>
              </a:solidFill>
              <a:effectLst/>
              <a:latin typeface="宋体" panose="02010600030101010101" pitchFamily="2" charset="-122"/>
            </a:endParaRPr>
          </a:p>
        </p:txBody>
      </p:sp>
      <p:sp>
        <p:nvSpPr>
          <p:cNvPr id="401412" name="矩形 401411"/>
          <p:cNvSpPr/>
          <p:nvPr/>
        </p:nvSpPr>
        <p:spPr>
          <a:xfrm>
            <a:off x="2484755" y="189230"/>
            <a:ext cx="452628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4.2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汇编语言伪指令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37</a:t>
            </a:fld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文本框 402433"/>
          <p:cNvSpPr txBox="1"/>
          <p:nvPr/>
        </p:nvSpPr>
        <p:spPr>
          <a:xfrm>
            <a:off x="323850" y="811213"/>
            <a:ext cx="5111750" cy="4572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>
            <a:spAutoFit/>
          </a:bodyPr>
          <a:lstStyle/>
          <a:p>
            <a:pPr lvl="0" algn="l" eaLnBrk="1" hangingPunct="1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置汇编地址计数器伪指令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ORG</a:t>
            </a:r>
          </a:p>
        </p:txBody>
      </p:sp>
      <p:sp>
        <p:nvSpPr>
          <p:cNvPr id="402435" name="矩形 402434"/>
          <p:cNvSpPr/>
          <p:nvPr/>
        </p:nvSpPr>
        <p:spPr>
          <a:xfrm>
            <a:off x="395536" y="1484784"/>
            <a:ext cx="8424862" cy="439283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buNone/>
            </a:pP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格式：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ORG  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数值表达式</a:t>
            </a:r>
          </a:p>
          <a:p>
            <a:pPr marL="0" lvl="0" indent="0" algn="just">
              <a:buNone/>
            </a:pP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功能：将数值表达式的值赋给汇编地址计数器。</a:t>
            </a:r>
          </a:p>
          <a:p>
            <a:pPr marL="0" lvl="0" indent="0" algn="just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ORG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规定了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段内的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起始偏移地址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，表达式的值即为段内的起始偏移地址，从此地址起连续存放程序或数据。数值表达式的值须为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0--65535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之间的非负整数。</a:t>
            </a:r>
          </a:p>
          <a:p>
            <a:pPr marL="0" lvl="0" indent="0" algn="just">
              <a:buNone/>
            </a:pP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例，给汇编地址计数器赋值。</a:t>
            </a:r>
          </a:p>
          <a:p>
            <a:pPr marL="0" lvl="0" indent="0" algn="just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DATA	SEGMENT  </a:t>
            </a:r>
          </a:p>
          <a:p>
            <a:pPr marL="0" lvl="0" indent="0" algn="just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ORG	10	       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；置＄值为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10</a:t>
            </a:r>
          </a:p>
          <a:p>
            <a:pPr marL="0" lvl="0" indent="0" algn="just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VAR1	DW  100H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200H</a:t>
            </a:r>
          </a:p>
          <a:p>
            <a:pPr marL="0" lvl="0" indent="0" algn="just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ORG	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＄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+5	       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；置＄的值为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14+5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，即为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19</a:t>
            </a:r>
          </a:p>
          <a:p>
            <a:pPr marL="0" lvl="0" indent="0" algn="just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VAR2	DB  ‘ABC’</a:t>
            </a:r>
          </a:p>
          <a:p>
            <a:pPr marL="0" lvl="0" indent="0" algn="just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DATA	ENDS</a:t>
            </a:r>
          </a:p>
        </p:txBody>
      </p:sp>
      <p:sp>
        <p:nvSpPr>
          <p:cNvPr id="402437" name="矩形 402436"/>
          <p:cNvSpPr/>
          <p:nvPr/>
        </p:nvSpPr>
        <p:spPr>
          <a:xfrm>
            <a:off x="2484755" y="189230"/>
            <a:ext cx="4714875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4.2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汇编语言伪指令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38</a:t>
            </a:fld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9" name="矩形 336898"/>
          <p:cNvSpPr/>
          <p:nvPr/>
        </p:nvSpPr>
        <p:spPr>
          <a:xfrm>
            <a:off x="1143000" y="1447800"/>
            <a:ext cx="7543800" cy="609600"/>
          </a:xfrm>
          <a:prstGeom prst="rect">
            <a:avLst/>
          </a:prstGeom>
          <a:solidFill>
            <a:srgbClr val="993366"/>
          </a:solidFill>
          <a:ln w="317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6900" name="文本占位符 336899"/>
          <p:cNvSpPr>
            <a:spLocks noGrp="1"/>
          </p:cNvSpPr>
          <p:nvPr>
            <p:ph type="body" idx="1"/>
          </p:nvPr>
        </p:nvSpPr>
        <p:spPr>
          <a:xfrm>
            <a:off x="152400" y="692968"/>
            <a:ext cx="8839200" cy="3240088"/>
          </a:xfrm>
          <a:solidFill>
            <a:schemeClr val="tx1">
              <a:alpha val="100000"/>
            </a:schemeClr>
          </a:solidFill>
        </p:spPr>
        <p:txBody>
          <a:bodyPr/>
          <a:lstStyle/>
          <a:p>
            <a:pPr marL="0" indent="0">
              <a:spcBef>
                <a:spcPct val="1500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四、其它伪指令</a:t>
            </a:r>
          </a:p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LABEL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类型定义伪指令</a:t>
            </a:r>
          </a:p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格式：名字　 </a:t>
            </a: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LABEL　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类型</a:t>
            </a:r>
          </a:p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功能：为要使用的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变量或标号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定义一种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新类型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或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修改原类型属性</a:t>
            </a:r>
            <a:r>
              <a:rPr lang="zh-CN" altLang="en-US" sz="2000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。通常与数据定义伪指令连用，其功能类似语句“</a:t>
            </a:r>
            <a:r>
              <a:rPr lang="zh-CN" altLang="en-US" sz="20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变量名或标号 </a:t>
            </a:r>
            <a:r>
              <a:rPr lang="en-US" altLang="zh-CN" sz="20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EQU THIS </a:t>
            </a:r>
            <a:r>
              <a:rPr lang="zh-CN" altLang="en-US" sz="20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类型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”。</a:t>
            </a:r>
          </a:p>
          <a:p>
            <a:pPr marL="0" indent="0">
              <a:lnSpc>
                <a:spcPts val="34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解释：“名字”可以是变量或标号，当为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变量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时，类型是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BYTE、WORD、DWORD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等，当为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标号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时，类型是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NEAR</a:t>
            </a:r>
            <a:r>
              <a:rPr lang="zh-CN" altLang="en-US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或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FAR</a:t>
            </a: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336903" name="矩形 336902"/>
          <p:cNvSpPr/>
          <p:nvPr/>
        </p:nvSpPr>
        <p:spPr>
          <a:xfrm>
            <a:off x="288800" y="4343201"/>
            <a:ext cx="4103688" cy="1771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举例：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data segment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　　</a:t>
            </a:r>
            <a:r>
              <a:rPr lang="en-US" altLang="zh-CN" b="1" dirty="0" err="1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ba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label byte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b="1" dirty="0" err="1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err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dw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100 dup(?)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data ends</a:t>
            </a:r>
          </a:p>
        </p:txBody>
      </p:sp>
      <p:sp>
        <p:nvSpPr>
          <p:cNvPr id="336904" name="矩形 336903"/>
          <p:cNvSpPr/>
          <p:nvPr/>
        </p:nvSpPr>
        <p:spPr>
          <a:xfrm>
            <a:off x="4392488" y="4148733"/>
            <a:ext cx="4572000" cy="2160587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定义了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地址相同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类型不同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两个变量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：字节类型变量</a:t>
            </a:r>
            <a:r>
              <a:rPr lang="en-US" altLang="zh-CN" b="1" dirty="0" err="1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ba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与字类型变量</a:t>
            </a:r>
            <a:r>
              <a:rPr lang="en-US" altLang="zh-CN" b="1" dirty="0" err="1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b="1" dirty="0" err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wa,AX</a:t>
            </a:r>
            <a:endParaRPr lang="en-US" altLang="zh-CN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b="1" dirty="0" err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 err="1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ba,AL</a:t>
            </a:r>
            <a:endParaRPr lang="en-US" altLang="zh-CN" b="1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6905" name="矩形 336904"/>
          <p:cNvSpPr/>
          <p:nvPr/>
        </p:nvSpPr>
        <p:spPr>
          <a:xfrm>
            <a:off x="2484755" y="189230"/>
            <a:ext cx="478790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4.2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汇编语言伪指令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39</a:t>
            </a:fld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标题 339969"/>
          <p:cNvSpPr>
            <a:spLocks noGrp="1"/>
          </p:cNvSpPr>
          <p:nvPr>
            <p:ph type="title"/>
          </p:nvPr>
        </p:nvSpPr>
        <p:spPr>
          <a:xfrm>
            <a:off x="468313" y="908050"/>
            <a:ext cx="4103687" cy="504825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、源程序结束伪指令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END</a:t>
            </a:r>
          </a:p>
        </p:txBody>
      </p:sp>
      <p:sp>
        <p:nvSpPr>
          <p:cNvPr id="339971" name="文本占位符 339970"/>
          <p:cNvSpPr>
            <a:spLocks noGrp="1"/>
          </p:cNvSpPr>
          <p:nvPr>
            <p:ph type="body" idx="1"/>
          </p:nvPr>
        </p:nvSpPr>
        <p:spPr>
          <a:xfrm>
            <a:off x="323850" y="1700213"/>
            <a:ext cx="8424863" cy="1152723"/>
          </a:xfrm>
        </p:spPr>
        <p:txBody>
          <a:bodyPr/>
          <a:lstStyle/>
          <a:p>
            <a:pPr mar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格式：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END  [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启动地址]</a:t>
            </a:r>
          </a:p>
          <a:p>
            <a:pPr mar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功能：标志整个程序的结束，是源程序的最后一条语句。</a:t>
            </a:r>
          </a:p>
        </p:txBody>
      </p:sp>
      <p:sp>
        <p:nvSpPr>
          <p:cNvPr id="339972" name="矩形 339971"/>
          <p:cNvSpPr/>
          <p:nvPr/>
        </p:nvSpPr>
        <p:spPr>
          <a:xfrm>
            <a:off x="2484755" y="189230"/>
            <a:ext cx="4607560" cy="579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4.2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汇编语言伪指令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40</a:t>
            </a:fld>
            <a:endParaRPr lang="zh-CN" altLang="en-US" dirty="0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395536" y="3284984"/>
            <a:ext cx="8280400" cy="175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5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00FF"/>
                </a:solidFill>
              </a:rPr>
              <a:t>注意</a:t>
            </a:r>
            <a:r>
              <a:rPr lang="zh-CN" altLang="en-US" b="1" dirty="0">
                <a:solidFill>
                  <a:schemeClr val="bg2"/>
                </a:solidFill>
              </a:rPr>
              <a:t>：</a:t>
            </a:r>
          </a:p>
          <a:p>
            <a:pPr>
              <a:spcBef>
                <a:spcPct val="25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</a:rPr>
              <a:t>    源程序中必须有 </a:t>
            </a:r>
            <a:r>
              <a:rPr lang="en-US" altLang="zh-CN" b="1" dirty="0">
                <a:solidFill>
                  <a:schemeClr val="bg2"/>
                </a:solidFill>
              </a:rPr>
              <a:t>END </a:t>
            </a:r>
            <a:r>
              <a:rPr lang="zh-CN" altLang="en-US" b="1" dirty="0">
                <a:solidFill>
                  <a:schemeClr val="bg2"/>
                </a:solidFill>
              </a:rPr>
              <a:t>结束语句。</a:t>
            </a:r>
          </a:p>
          <a:p>
            <a:pPr>
              <a:spcBef>
                <a:spcPct val="15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</a:rPr>
              <a:t>    启动地址可是一个标号或过程名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zh-CN" altLang="en-US" b="1" dirty="0">
                <a:solidFill>
                  <a:schemeClr val="bg2"/>
                </a:solidFill>
              </a:rPr>
              <a:t>指示程序的入口。</a:t>
            </a:r>
          </a:p>
          <a:p>
            <a:pPr>
              <a:spcBef>
                <a:spcPct val="15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bg2"/>
                </a:solidFill>
              </a:rPr>
              <a:t>    程序装入内存后，系统跳转到程序的入口处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zh-CN" altLang="en-US" b="1" dirty="0">
                <a:solidFill>
                  <a:schemeClr val="bg2"/>
                </a:solidFill>
              </a:rPr>
              <a:t>开始执行</a:t>
            </a:r>
            <a:r>
              <a:rPr lang="zh-CN" altLang="en-US" dirty="0">
                <a:solidFill>
                  <a:schemeClr val="bg2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4" name="矩形 343043"/>
          <p:cNvSpPr/>
          <p:nvPr/>
        </p:nvSpPr>
        <p:spPr>
          <a:xfrm>
            <a:off x="2555875" y="115888"/>
            <a:ext cx="4270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4.4 DOS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系统功能调用</a:t>
            </a:r>
          </a:p>
        </p:txBody>
      </p:sp>
      <p:sp>
        <p:nvSpPr>
          <p:cNvPr id="343045" name="矩形 343044"/>
          <p:cNvSpPr/>
          <p:nvPr/>
        </p:nvSpPr>
        <p:spPr>
          <a:xfrm>
            <a:off x="395288" y="2214563"/>
            <a:ext cx="8280400" cy="19177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DOS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准备了许多程序（称为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系统功能程序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），涉及设备驱动和文件管理等方面的操作。系统功能调用是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DOS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为系统程序员及用户提供的一组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常用子程序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，对这些子程序的直接调用可以减少程序员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对系统硬件环境的依赖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，从而可以大大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精简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应用程序的编写；另一方面也可以使程序具有较好的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通用性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41</a:t>
            </a:fld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标题 393217"/>
          <p:cNvSpPr>
            <a:spLocks noGrp="1"/>
          </p:cNvSpPr>
          <p:nvPr>
            <p:ph type="title"/>
          </p:nvPr>
        </p:nvSpPr>
        <p:spPr>
          <a:xfrm>
            <a:off x="468312" y="908050"/>
            <a:ext cx="4391719" cy="44291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altLang="en-US" sz="2800" b="1" dirty="0">
                <a:solidFill>
                  <a:srgbClr val="0000FF"/>
                </a:solidFill>
                <a:ea typeface="Arial" panose="020B0604020202020204" pitchFamily="34" charset="0"/>
              </a:rPr>
              <a:t>一、</a:t>
            </a:r>
            <a:r>
              <a:rPr lang="zh-CN" altLang="en-US" sz="2800" b="1" dirty="0">
                <a:solidFill>
                  <a:srgbClr val="0000FF"/>
                </a:solidFill>
              </a:rPr>
              <a:t>系统功能调用方法</a:t>
            </a:r>
          </a:p>
        </p:txBody>
      </p:sp>
      <p:sp>
        <p:nvSpPr>
          <p:cNvPr id="393219" name="文本占位符 393218"/>
          <p:cNvSpPr>
            <a:spLocks noGrp="1"/>
          </p:cNvSpPr>
          <p:nvPr>
            <p:ph type="body" idx="1"/>
          </p:nvPr>
        </p:nvSpPr>
        <p:spPr>
          <a:xfrm>
            <a:off x="539552" y="1772815"/>
            <a:ext cx="4248472" cy="3971007"/>
          </a:xfrm>
          <a:ln/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DOS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系统功能调用的方法一般可分为以下几步：</a:t>
            </a:r>
          </a:p>
          <a:p>
            <a:pPr mar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① 设置所要调用功能的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入口参数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。</a:t>
            </a:r>
          </a:p>
          <a:p>
            <a:pPr mar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② 在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AH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寄存器中存入所要调用功能的功能号。</a:t>
            </a:r>
          </a:p>
          <a:p>
            <a:pPr mar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③ 执行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INT 21H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指令，自动转入中断子程序入口。</a:t>
            </a:r>
          </a:p>
          <a:p>
            <a:pPr mar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④ 相应中断子程序运行完毕，按规定获得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出口参数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。 </a:t>
            </a:r>
          </a:p>
        </p:txBody>
      </p:sp>
      <p:sp>
        <p:nvSpPr>
          <p:cNvPr id="393220" name="矩形 393219"/>
          <p:cNvSpPr/>
          <p:nvPr/>
        </p:nvSpPr>
        <p:spPr>
          <a:xfrm>
            <a:off x="2555875" y="115888"/>
            <a:ext cx="4270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4.4 DOS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系统功能调用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42</a:t>
            </a:fld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5580112" y="1935659"/>
            <a:ext cx="3033712" cy="3136602"/>
            <a:chOff x="5580112" y="1935659"/>
            <a:chExt cx="3033712" cy="3136602"/>
          </a:xfrm>
        </p:grpSpPr>
        <p:grpSp>
          <p:nvGrpSpPr>
            <p:cNvPr id="6" name="Group 25"/>
            <p:cNvGrpSpPr>
              <a:grpSpLocks/>
            </p:cNvGrpSpPr>
            <p:nvPr/>
          </p:nvGrpSpPr>
          <p:grpSpPr bwMode="auto">
            <a:xfrm>
              <a:off x="5580112" y="1935659"/>
              <a:ext cx="3033712" cy="3106737"/>
              <a:chOff x="3691" y="391"/>
              <a:chExt cx="1911" cy="1957"/>
            </a:xfrm>
          </p:grpSpPr>
          <p:grpSp>
            <p:nvGrpSpPr>
              <p:cNvPr id="7" name="Group 19"/>
              <p:cNvGrpSpPr>
                <a:grpSpLocks/>
              </p:cNvGrpSpPr>
              <p:nvPr/>
            </p:nvGrpSpPr>
            <p:grpSpPr bwMode="auto">
              <a:xfrm>
                <a:off x="3963" y="391"/>
                <a:ext cx="1639" cy="1957"/>
                <a:chOff x="3963" y="391"/>
                <a:chExt cx="1639" cy="1957"/>
              </a:xfrm>
            </p:grpSpPr>
            <p:sp>
              <p:nvSpPr>
                <p:cNvPr id="11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4157" y="579"/>
                  <a:ext cx="1238" cy="272"/>
                </a:xfrm>
                <a:prstGeom prst="rect">
                  <a:avLst/>
                </a:prstGeom>
                <a:solidFill>
                  <a:srgbClr val="CCFFFF"/>
                </a:solidFill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108000" rIns="0" bIns="0"/>
                <a:lstStyle/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200" b="1" dirty="0">
                      <a:solidFill>
                        <a:srgbClr val="FF00FF"/>
                      </a:solidFill>
                    </a:rPr>
                    <a:t>设置入口参数</a:t>
                  </a:r>
                </a:p>
              </p:txBody>
            </p:sp>
            <p:sp>
              <p:nvSpPr>
                <p:cNvPr id="1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972" y="1072"/>
                  <a:ext cx="1612" cy="272"/>
                </a:xfrm>
                <a:prstGeom prst="rect">
                  <a:avLst/>
                </a:prstGeom>
                <a:solidFill>
                  <a:srgbClr val="CCFFFF"/>
                </a:solidFill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108000" rIns="0" bIns="0"/>
                <a:lstStyle/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100" b="1">
                      <a:solidFill>
                        <a:srgbClr val="FF00FF"/>
                      </a:solidFill>
                    </a:rPr>
                    <a:t>在</a:t>
                  </a:r>
                  <a:r>
                    <a:rPr lang="en-US" altLang="zh-CN" sz="2100" b="1">
                      <a:solidFill>
                        <a:srgbClr val="0000FF"/>
                      </a:solidFill>
                    </a:rPr>
                    <a:t>AH</a:t>
                  </a:r>
                  <a:r>
                    <a:rPr lang="zh-CN" altLang="en-US" sz="2100" b="1">
                      <a:solidFill>
                        <a:srgbClr val="FF00FF"/>
                      </a:solidFill>
                    </a:rPr>
                    <a:t>设置子功能号</a:t>
                  </a:r>
                  <a:r>
                    <a:rPr lang="en-US" altLang="zh-CN" sz="2200" b="1">
                      <a:solidFill>
                        <a:srgbClr val="FF33CC"/>
                      </a:solidFill>
                    </a:rPr>
                    <a:t>m</a:t>
                  </a:r>
                  <a:endParaRPr lang="en-US" altLang="zh-CN" sz="2200" b="1"/>
                </a:p>
              </p:txBody>
            </p:sp>
            <p:sp>
              <p:nvSpPr>
                <p:cNvPr id="1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963" y="1558"/>
                  <a:ext cx="1637" cy="291"/>
                </a:xfrm>
                <a:prstGeom prst="rect">
                  <a:avLst/>
                </a:prstGeom>
                <a:solidFill>
                  <a:srgbClr val="CCFFFF"/>
                </a:solidFill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108000" rIns="0" bIns="0"/>
                <a:lstStyle/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200" b="1">
                      <a:solidFill>
                        <a:srgbClr val="FF00FF"/>
                      </a:solidFill>
                    </a:rPr>
                    <a:t>执行中断指令</a:t>
                  </a:r>
                  <a:r>
                    <a:rPr lang="en-US" altLang="zh-CN" sz="2200" b="1">
                      <a:solidFill>
                        <a:srgbClr val="FF3300"/>
                      </a:solidFill>
                    </a:rPr>
                    <a:t>INT  </a:t>
                  </a:r>
                  <a:r>
                    <a:rPr lang="en-US" altLang="zh-CN" sz="2200" b="1" i="1">
                      <a:solidFill>
                        <a:srgbClr val="FF3300"/>
                      </a:solidFill>
                    </a:rPr>
                    <a:t>n</a:t>
                  </a:r>
                  <a:endParaRPr lang="en-US" altLang="zh-CN" sz="2200" b="1" i="1"/>
                </a:p>
              </p:txBody>
            </p:sp>
            <p:sp>
              <p:nvSpPr>
                <p:cNvPr id="14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965" y="2076"/>
                  <a:ext cx="1637" cy="272"/>
                </a:xfrm>
                <a:prstGeom prst="rect">
                  <a:avLst/>
                </a:prstGeom>
                <a:solidFill>
                  <a:srgbClr val="CCFFFF"/>
                </a:solidFill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108000" rIns="0" bIns="0"/>
                <a:lstStyle/>
                <a:p>
                  <a:pPr algn="ctr">
                    <a:lnSpc>
                      <a:spcPct val="8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2200" b="1" dirty="0">
                      <a:solidFill>
                        <a:srgbClr val="FF00FF"/>
                      </a:solidFill>
                    </a:rPr>
                    <a:t>分析、应用出口参数</a:t>
                  </a:r>
                </a:p>
              </p:txBody>
            </p:sp>
            <p:sp>
              <p:nvSpPr>
                <p:cNvPr id="15" name="Line 14"/>
                <p:cNvSpPr>
                  <a:spLocks noChangeShapeType="1"/>
                </p:cNvSpPr>
                <p:nvPr/>
              </p:nvSpPr>
              <p:spPr bwMode="auto">
                <a:xfrm>
                  <a:off x="4785" y="391"/>
                  <a:ext cx="0" cy="18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" name="Line 15"/>
                <p:cNvSpPr>
                  <a:spLocks noChangeShapeType="1"/>
                </p:cNvSpPr>
                <p:nvPr/>
              </p:nvSpPr>
              <p:spPr bwMode="auto">
                <a:xfrm>
                  <a:off x="4780" y="845"/>
                  <a:ext cx="0" cy="227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" name="Line 16"/>
                <p:cNvSpPr>
                  <a:spLocks noChangeShapeType="1"/>
                </p:cNvSpPr>
                <p:nvPr/>
              </p:nvSpPr>
              <p:spPr bwMode="auto">
                <a:xfrm>
                  <a:off x="4780" y="1350"/>
                  <a:ext cx="0" cy="227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" name="Line 17"/>
                <p:cNvSpPr>
                  <a:spLocks noChangeShapeType="1"/>
                </p:cNvSpPr>
                <p:nvPr/>
              </p:nvSpPr>
              <p:spPr bwMode="auto">
                <a:xfrm>
                  <a:off x="4769" y="1849"/>
                  <a:ext cx="0" cy="227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" name="Rectangle 22"/>
              <p:cNvSpPr>
                <a:spLocks noChangeArrowheads="1"/>
              </p:cNvSpPr>
              <p:nvPr/>
            </p:nvSpPr>
            <p:spPr bwMode="auto">
              <a:xfrm>
                <a:off x="3878" y="559"/>
                <a:ext cx="3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</a:rPr>
                  <a:t>①</a:t>
                </a:r>
              </a:p>
            </p:txBody>
          </p:sp>
          <p:sp>
            <p:nvSpPr>
              <p:cNvPr id="9" name="Rectangle 23"/>
              <p:cNvSpPr>
                <a:spLocks noChangeArrowheads="1"/>
              </p:cNvSpPr>
              <p:nvPr/>
            </p:nvSpPr>
            <p:spPr bwMode="auto">
              <a:xfrm>
                <a:off x="3702" y="1071"/>
                <a:ext cx="3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</a:rPr>
                  <a:t>②</a:t>
                </a:r>
              </a:p>
            </p:txBody>
          </p:sp>
          <p:sp>
            <p:nvSpPr>
              <p:cNvPr id="10" name="Rectangle 24"/>
              <p:cNvSpPr>
                <a:spLocks noChangeArrowheads="1"/>
              </p:cNvSpPr>
              <p:nvPr/>
            </p:nvSpPr>
            <p:spPr bwMode="auto">
              <a:xfrm>
                <a:off x="3691" y="1570"/>
                <a:ext cx="3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</a:rPr>
                  <a:t>③</a:t>
                </a:r>
              </a:p>
            </p:txBody>
          </p:sp>
        </p:grpSp>
        <p:sp>
          <p:nvSpPr>
            <p:cNvPr id="3" name="矩形 2"/>
            <p:cNvSpPr/>
            <p:nvPr/>
          </p:nvSpPr>
          <p:spPr>
            <a:xfrm>
              <a:off x="5590122" y="4610596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④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标题 394241"/>
          <p:cNvSpPr>
            <a:spLocks noGrp="1"/>
          </p:cNvSpPr>
          <p:nvPr>
            <p:ph type="title"/>
          </p:nvPr>
        </p:nvSpPr>
        <p:spPr>
          <a:xfrm>
            <a:off x="395288" y="836613"/>
            <a:ext cx="4897437" cy="50482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Arial" panose="020B0604020202020204" pitchFamily="34" charset="0"/>
              </a:rPr>
              <a:t>二、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常用的</a:t>
            </a:r>
            <a:r>
              <a:rPr lang="en-US" altLang="zh-CN" sz="2800" b="1">
                <a:solidFill>
                  <a:srgbClr val="0000FF"/>
                </a:solidFill>
                <a:latin typeface="宋体" panose="02010600030101010101" pitchFamily="2" charset="-122"/>
                <a:ea typeface="Arial" panose="020B0604020202020204" pitchFamily="34" charset="0"/>
              </a:rPr>
              <a:t>DOS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系统功能调用</a:t>
            </a:r>
          </a:p>
        </p:txBody>
      </p:sp>
      <p:sp>
        <p:nvSpPr>
          <p:cNvPr id="394243" name="文本占位符 394242"/>
          <p:cNvSpPr>
            <a:spLocks noGrp="1"/>
          </p:cNvSpPr>
          <p:nvPr>
            <p:ph type="body" idx="1"/>
          </p:nvPr>
        </p:nvSpPr>
        <p:spPr>
          <a:xfrm>
            <a:off x="900113" y="1844674"/>
            <a:ext cx="6767512" cy="3168501"/>
          </a:xfrm>
          <a:ln/>
        </p:spPr>
        <p:txBody>
          <a:bodyPr/>
          <a:lstStyle/>
          <a:p>
            <a:pPr algn="just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．带回显的键盘单字符输入（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号功能）</a:t>
            </a:r>
          </a:p>
          <a:p>
            <a:pPr algn="just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2. 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不带回显的键盘单字符输入（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8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号功能） </a:t>
            </a:r>
          </a:p>
          <a:p>
            <a:pPr algn="just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3. 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单字符输出（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号功能）</a:t>
            </a:r>
            <a:endParaRPr lang="en-US" altLang="zh-CN" sz="2400" b="1" dirty="0">
              <a:solidFill>
                <a:schemeClr val="bg2"/>
              </a:solidFill>
              <a:effectLst/>
              <a:latin typeface="宋体" panose="02010600030101010101" pitchFamily="2" charset="-122"/>
            </a:endParaRPr>
          </a:p>
          <a:p>
            <a:pPr algn="just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4. 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单字符输入或显示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( 06H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功能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)</a:t>
            </a:r>
            <a:endParaRPr lang="zh-CN" altLang="en-US" sz="2400" b="1" dirty="0">
              <a:solidFill>
                <a:schemeClr val="bg2"/>
              </a:solidFill>
              <a:effectLst/>
              <a:latin typeface="宋体" panose="02010600030101010101" pitchFamily="2" charset="-122"/>
            </a:endParaRPr>
          </a:p>
          <a:p>
            <a:pPr algn="just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5. 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字符串显示（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9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号功能）</a:t>
            </a:r>
          </a:p>
          <a:p>
            <a:pPr algn="just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6. 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字符串输入（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0AH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号功能）</a:t>
            </a:r>
          </a:p>
          <a:p>
            <a:pPr algn="just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7. 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程序正常返回系统（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4CH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号功能）</a:t>
            </a:r>
          </a:p>
        </p:txBody>
      </p:sp>
      <p:sp>
        <p:nvSpPr>
          <p:cNvPr id="394244" name="矩形 394243"/>
          <p:cNvSpPr/>
          <p:nvPr/>
        </p:nvSpPr>
        <p:spPr>
          <a:xfrm>
            <a:off x="2555875" y="115888"/>
            <a:ext cx="4270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4.4 DOS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系统功能调用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43</a:t>
            </a:fld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矩形 395265"/>
          <p:cNvSpPr/>
          <p:nvPr/>
        </p:nvSpPr>
        <p:spPr>
          <a:xfrm>
            <a:off x="611188" y="836613"/>
            <a:ext cx="6697662" cy="6096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号系统功能调用（从键盘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读入一个字符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395267" name="矩形 395266"/>
          <p:cNvSpPr/>
          <p:nvPr/>
        </p:nvSpPr>
        <p:spPr>
          <a:xfrm>
            <a:off x="395288" y="1638300"/>
            <a:ext cx="8566150" cy="33748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功能：单字符输入。</a:t>
            </a:r>
          </a:p>
          <a:p>
            <a:pPr marL="0" lv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将从键盘输入的字符的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ASCII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码值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送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AL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寄存器，同时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回显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在屏幕上</a:t>
            </a:r>
          </a:p>
          <a:p>
            <a:pPr marL="0" lv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入口参数：无</a:t>
            </a:r>
          </a:p>
          <a:p>
            <a:pPr marL="0" lv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出口参数：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AL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寄存器存放输入字符的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ASCII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码值</a:t>
            </a:r>
          </a:p>
          <a:p>
            <a:pPr marL="0" lvl="0" indent="0" algn="just">
              <a:buNone/>
            </a:pPr>
            <a:endParaRPr lang="en-US" altLang="zh-CN" sz="2400" b="1" dirty="0">
              <a:solidFill>
                <a:schemeClr val="bg2"/>
              </a:solidFill>
              <a:effectLst/>
              <a:latin typeface="宋体" panose="02010600030101010101" pitchFamily="2" charset="-122"/>
            </a:endParaRPr>
          </a:p>
          <a:p>
            <a:pPr marL="0" lv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格式：	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MOV AH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1</a:t>
            </a:r>
          </a:p>
          <a:p>
            <a:pPr marL="0" lvl="0" indent="0" algn="just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		INT 21H</a:t>
            </a:r>
          </a:p>
        </p:txBody>
      </p:sp>
      <p:sp>
        <p:nvSpPr>
          <p:cNvPr id="395268" name="矩形 395267"/>
          <p:cNvSpPr/>
          <p:nvPr/>
        </p:nvSpPr>
        <p:spPr>
          <a:xfrm>
            <a:off x="395288" y="5271591"/>
            <a:ext cx="6372257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l"/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说明：输入一个字符后，不需要输入回车键。</a:t>
            </a:r>
          </a:p>
        </p:txBody>
      </p:sp>
      <p:sp>
        <p:nvSpPr>
          <p:cNvPr id="395269" name="矩形 395268"/>
          <p:cNvSpPr/>
          <p:nvPr/>
        </p:nvSpPr>
        <p:spPr>
          <a:xfrm>
            <a:off x="2555875" y="115888"/>
            <a:ext cx="4270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4.4 DOS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系统功能调用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44</a:t>
            </a:fld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矩形 396289"/>
          <p:cNvSpPr/>
          <p:nvPr/>
        </p:nvSpPr>
        <p:spPr>
          <a:xfrm>
            <a:off x="468313" y="836613"/>
            <a:ext cx="6513512" cy="5080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号系统功能调用（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显示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一个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字符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396291" name="矩形 396290"/>
          <p:cNvSpPr/>
          <p:nvPr/>
        </p:nvSpPr>
        <p:spPr>
          <a:xfrm>
            <a:off x="250825" y="1484784"/>
            <a:ext cx="5832475" cy="359896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功能：单字符输出。即将以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DL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寄存器的内容为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ASCII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码值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的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ASCII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字符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输出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到屏幕上。</a:t>
            </a:r>
          </a:p>
          <a:p>
            <a:pPr marL="0" lv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入口参数：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DL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＝要显示的字符（或其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ASCII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码值）</a:t>
            </a:r>
          </a:p>
          <a:p>
            <a:pPr marL="0" lv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出口参数：无</a:t>
            </a:r>
          </a:p>
          <a:p>
            <a:pPr marL="0" lv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格式：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MOV DL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，要显示的字符</a:t>
            </a:r>
          </a:p>
          <a:p>
            <a:pPr lvl="1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		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MOV AH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2</a:t>
            </a:r>
          </a:p>
          <a:p>
            <a:pPr marL="0" lvl="0" indent="0" algn="just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	INT 21H</a:t>
            </a:r>
          </a:p>
          <a:p>
            <a:pPr marL="0" lvl="0" indent="0" algn="just">
              <a:buNone/>
            </a:pPr>
            <a:endParaRPr lang="en-US" altLang="zh-CN" sz="2400" b="1" dirty="0">
              <a:solidFill>
                <a:schemeClr val="bg2"/>
              </a:solidFill>
              <a:effectLst/>
              <a:latin typeface="宋体" panose="02010600030101010101" pitchFamily="2" charset="-122"/>
            </a:endParaRPr>
          </a:p>
          <a:p>
            <a:pPr marL="0" lv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说明：掌握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回车符和换行符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的使用。</a:t>
            </a:r>
          </a:p>
        </p:txBody>
      </p:sp>
      <p:sp>
        <p:nvSpPr>
          <p:cNvPr id="396292" name="矩形 396291"/>
          <p:cNvSpPr/>
          <p:nvPr/>
        </p:nvSpPr>
        <p:spPr>
          <a:xfrm>
            <a:off x="4643438" y="2780928"/>
            <a:ext cx="4392612" cy="179126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 DL,41H  ; 41H=‘A’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MOV AH,2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INT 21H</a:t>
            </a:r>
          </a:p>
          <a:p>
            <a:pPr algn="l">
              <a:buClr>
                <a:schemeClr val="accent1"/>
              </a:buClr>
              <a:buSzPct val="75000"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屏幕上输出字符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</a:rPr>
              <a:t>‘A’</a:t>
            </a:r>
            <a:endParaRPr lang="en-US" altLang="zh-CN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6293" name="矩形 396292"/>
          <p:cNvSpPr/>
          <p:nvPr/>
        </p:nvSpPr>
        <p:spPr>
          <a:xfrm>
            <a:off x="2555875" y="115888"/>
            <a:ext cx="4270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4.4 DOS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系统功能调用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45</a:t>
            </a:fld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矩形 396289"/>
          <p:cNvSpPr/>
          <p:nvPr/>
        </p:nvSpPr>
        <p:spPr>
          <a:xfrm>
            <a:off x="468313" y="836613"/>
            <a:ext cx="6513512" cy="5080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号系统功能调用（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显示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一个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字符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396291" name="矩形 396290"/>
          <p:cNvSpPr/>
          <p:nvPr/>
        </p:nvSpPr>
        <p:spPr>
          <a:xfrm>
            <a:off x="250825" y="1484785"/>
            <a:ext cx="5832475" cy="72008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说明：掌握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回车符和换行符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的使用。</a:t>
            </a:r>
          </a:p>
        </p:txBody>
      </p:sp>
      <p:sp>
        <p:nvSpPr>
          <p:cNvPr id="396293" name="矩形 396292"/>
          <p:cNvSpPr/>
          <p:nvPr/>
        </p:nvSpPr>
        <p:spPr>
          <a:xfrm>
            <a:off x="2555875" y="115888"/>
            <a:ext cx="4270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4.4 DOS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系统功能调用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46</a:t>
            </a:fld>
            <a:endParaRPr lang="zh-CN" altLang="en-US" dirty="0"/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1652587" y="2564904"/>
            <a:ext cx="5329238" cy="299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buClrTx/>
              <a:buSzTx/>
              <a:buFontTx/>
              <a:buNone/>
            </a:pPr>
            <a:r>
              <a:rPr lang="zh-CN" altLang="en-US" sz="2300" dirty="0">
                <a:solidFill>
                  <a:schemeClr val="bg2"/>
                </a:solidFill>
              </a:rPr>
              <a:t>例：使光标回到下一行的行首。</a:t>
            </a:r>
          </a:p>
          <a:p>
            <a:pPr algn="just">
              <a:buClrTx/>
              <a:buSzTx/>
              <a:buFontTx/>
              <a:buNone/>
            </a:pPr>
            <a:r>
              <a:rPr lang="zh-CN" altLang="en-US" sz="2300" b="1" dirty="0">
                <a:solidFill>
                  <a:schemeClr val="bg2"/>
                </a:solidFill>
              </a:rPr>
              <a:t>        </a:t>
            </a:r>
            <a:r>
              <a:rPr lang="en-US" altLang="zh-CN" sz="2300" b="1" dirty="0">
                <a:solidFill>
                  <a:schemeClr val="bg2"/>
                </a:solidFill>
              </a:rPr>
              <a:t>MOV    DL , </a:t>
            </a:r>
            <a:r>
              <a:rPr lang="en-US" altLang="zh-CN" sz="2300" b="1" dirty="0">
                <a:solidFill>
                  <a:srgbClr val="FF0000"/>
                </a:solidFill>
              </a:rPr>
              <a:t>0DH</a:t>
            </a:r>
            <a:r>
              <a:rPr lang="en-US" altLang="zh-CN" sz="2300" b="1" dirty="0">
                <a:solidFill>
                  <a:schemeClr val="bg2"/>
                </a:solidFill>
              </a:rPr>
              <a:t>      ;</a:t>
            </a:r>
            <a:r>
              <a:rPr lang="zh-CN" altLang="en-US" sz="2300" b="1" dirty="0">
                <a:solidFill>
                  <a:schemeClr val="bg2"/>
                </a:solidFill>
              </a:rPr>
              <a:t>显示回车符</a:t>
            </a:r>
          </a:p>
          <a:p>
            <a:pPr algn="just">
              <a:buClrTx/>
              <a:buSzTx/>
              <a:buFontTx/>
              <a:buNone/>
            </a:pPr>
            <a:r>
              <a:rPr lang="zh-CN" altLang="en-US" sz="2300" b="1" dirty="0">
                <a:solidFill>
                  <a:schemeClr val="bg2"/>
                </a:solidFill>
              </a:rPr>
              <a:t>        </a:t>
            </a:r>
            <a:r>
              <a:rPr lang="en-US" altLang="zh-CN" sz="2300" b="1" dirty="0">
                <a:solidFill>
                  <a:schemeClr val="bg2"/>
                </a:solidFill>
              </a:rPr>
              <a:t>MOV    AH , 02H</a:t>
            </a:r>
          </a:p>
          <a:p>
            <a:pPr algn="just">
              <a:buClrTx/>
              <a:buSzTx/>
              <a:buFontTx/>
              <a:buNone/>
            </a:pPr>
            <a:r>
              <a:rPr lang="en-US" altLang="zh-CN" sz="2300" b="1" dirty="0">
                <a:solidFill>
                  <a:schemeClr val="bg2"/>
                </a:solidFill>
              </a:rPr>
              <a:t>        INT      21H  </a:t>
            </a:r>
          </a:p>
          <a:p>
            <a:pPr algn="just">
              <a:buClrTx/>
              <a:buSzTx/>
              <a:buFontTx/>
              <a:buNone/>
            </a:pPr>
            <a:r>
              <a:rPr lang="en-US" altLang="zh-CN" sz="2300" b="1" dirty="0">
                <a:solidFill>
                  <a:schemeClr val="bg2"/>
                </a:solidFill>
              </a:rPr>
              <a:t>        MOV    DL , </a:t>
            </a:r>
            <a:r>
              <a:rPr lang="en-US" altLang="zh-CN" sz="2300" b="1" dirty="0">
                <a:solidFill>
                  <a:srgbClr val="FF0000"/>
                </a:solidFill>
              </a:rPr>
              <a:t>0AH</a:t>
            </a:r>
            <a:r>
              <a:rPr lang="en-US" altLang="zh-CN" sz="2300" b="1" dirty="0">
                <a:solidFill>
                  <a:schemeClr val="bg2"/>
                </a:solidFill>
              </a:rPr>
              <a:t>      ;</a:t>
            </a:r>
            <a:r>
              <a:rPr lang="zh-CN" altLang="en-US" sz="2300" b="1" dirty="0">
                <a:solidFill>
                  <a:schemeClr val="bg2"/>
                </a:solidFill>
              </a:rPr>
              <a:t>显示换行符</a:t>
            </a:r>
          </a:p>
          <a:p>
            <a:pPr algn="just">
              <a:buClrTx/>
              <a:buSzTx/>
              <a:buFontTx/>
              <a:buNone/>
            </a:pPr>
            <a:r>
              <a:rPr lang="zh-CN" altLang="en-US" sz="2300" b="1" dirty="0">
                <a:solidFill>
                  <a:schemeClr val="bg2"/>
                </a:solidFill>
              </a:rPr>
              <a:t>        </a:t>
            </a:r>
            <a:r>
              <a:rPr lang="en-US" altLang="zh-CN" sz="2300" b="1" dirty="0">
                <a:solidFill>
                  <a:schemeClr val="bg2"/>
                </a:solidFill>
              </a:rPr>
              <a:t>MOV    AH , 02H </a:t>
            </a:r>
          </a:p>
          <a:p>
            <a:pPr algn="just">
              <a:buClrTx/>
              <a:buSzTx/>
              <a:buFontTx/>
              <a:buNone/>
            </a:pPr>
            <a:r>
              <a:rPr lang="en-US" altLang="zh-CN" sz="2300" b="1" dirty="0">
                <a:solidFill>
                  <a:schemeClr val="bg2"/>
                </a:solidFill>
              </a:rPr>
              <a:t>        INT      21H</a:t>
            </a:r>
          </a:p>
        </p:txBody>
      </p:sp>
    </p:spTree>
    <p:extLst>
      <p:ext uri="{BB962C8B-B14F-4D97-AF65-F5344CB8AC3E}">
        <p14:creationId xmlns:p14="http://schemas.microsoft.com/office/powerpoint/2010/main" val="21882097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40" name="Text Box 4"/>
          <p:cNvSpPr txBox="1">
            <a:spLocks noChangeArrowheads="1"/>
          </p:cNvSpPr>
          <p:nvPr/>
        </p:nvSpPr>
        <p:spPr bwMode="auto">
          <a:xfrm>
            <a:off x="434975" y="493713"/>
            <a:ext cx="8709025" cy="302544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buClrTx/>
              <a:buSzTx/>
              <a:buFontTx/>
              <a:buNone/>
            </a:pPr>
            <a:r>
              <a:rPr lang="en-US" altLang="zh-CN" dirty="0">
                <a:solidFill>
                  <a:schemeClr val="bg2"/>
                </a:solidFill>
                <a:ea typeface="楷体_GB2312" pitchFamily="49" charset="-122"/>
              </a:rPr>
              <a:t>3</a:t>
            </a:r>
            <a:r>
              <a:rPr lang="zh-CN" altLang="en-US" dirty="0">
                <a:solidFill>
                  <a:schemeClr val="bg2"/>
                </a:solidFill>
                <a:ea typeface="楷体_GB2312" pitchFamily="49" charset="-122"/>
              </a:rPr>
              <a:t>、单字符输入或显示 </a:t>
            </a:r>
            <a:r>
              <a:rPr lang="en-US" altLang="zh-CN" dirty="0">
                <a:solidFill>
                  <a:schemeClr val="bg2"/>
                </a:solidFill>
                <a:ea typeface="楷体_GB2312" pitchFamily="49" charset="-122"/>
              </a:rPr>
              <a:t>( 06H</a:t>
            </a:r>
            <a:r>
              <a:rPr lang="zh-CN" altLang="en-US" dirty="0">
                <a:solidFill>
                  <a:schemeClr val="bg2"/>
                </a:solidFill>
                <a:ea typeface="楷体_GB2312" pitchFamily="49" charset="-122"/>
              </a:rPr>
              <a:t>功能</a:t>
            </a:r>
            <a:r>
              <a:rPr lang="en-US" altLang="zh-CN" dirty="0">
                <a:solidFill>
                  <a:schemeClr val="bg2"/>
                </a:solidFill>
                <a:ea typeface="楷体_GB2312" pitchFamily="49" charset="-122"/>
              </a:rPr>
              <a:t>)</a:t>
            </a:r>
          </a:p>
          <a:p>
            <a:pPr algn="just">
              <a:buClrTx/>
              <a:buSzTx/>
              <a:buFontTx/>
              <a:buNone/>
            </a:pPr>
            <a:r>
              <a:rPr lang="en-US" altLang="zh-CN" dirty="0">
                <a:solidFill>
                  <a:schemeClr val="bg2"/>
                </a:solidFill>
                <a:ea typeface="楷体_GB2312" pitchFamily="49" charset="-122"/>
              </a:rPr>
              <a:t>     </a:t>
            </a:r>
            <a:r>
              <a:rPr lang="en-US" altLang="zh-CN" sz="2300" dirty="0">
                <a:solidFill>
                  <a:schemeClr val="bg2"/>
                </a:solidFill>
                <a:ea typeface="楷体_GB2312" pitchFamily="49" charset="-122"/>
              </a:rPr>
              <a:t>06H</a:t>
            </a:r>
            <a:r>
              <a:rPr lang="zh-CN" altLang="en-US" sz="2300" dirty="0">
                <a:solidFill>
                  <a:schemeClr val="bg2"/>
                </a:solidFill>
                <a:ea typeface="楷体_GB2312" pitchFamily="49" charset="-122"/>
              </a:rPr>
              <a:t>：</a:t>
            </a:r>
            <a:r>
              <a:rPr lang="zh-CN" altLang="en-US" sz="2300" b="1" dirty="0">
                <a:solidFill>
                  <a:schemeClr val="bg2"/>
                </a:solidFill>
                <a:ea typeface="楷体_GB2312" pitchFamily="49" charset="-122"/>
              </a:rPr>
              <a:t>入口参数   </a:t>
            </a:r>
            <a:r>
              <a:rPr lang="en-US" altLang="zh-CN" sz="2300" dirty="0">
                <a:solidFill>
                  <a:schemeClr val="bg2"/>
                </a:solidFill>
                <a:ea typeface="楷体_GB2312" pitchFamily="49" charset="-122"/>
              </a:rPr>
              <a:t>DL = 0FFH</a:t>
            </a:r>
            <a:r>
              <a:rPr lang="zh-CN" altLang="en-US" sz="2300" dirty="0">
                <a:solidFill>
                  <a:schemeClr val="bg2"/>
                </a:solidFill>
                <a:ea typeface="楷体_GB2312" pitchFamily="49" charset="-122"/>
              </a:rPr>
              <a:t>（输入）</a:t>
            </a:r>
          </a:p>
          <a:p>
            <a:pPr algn="just">
              <a:buClrTx/>
              <a:buSzTx/>
              <a:buFontTx/>
              <a:buNone/>
            </a:pPr>
            <a:r>
              <a:rPr lang="zh-CN" altLang="en-US" sz="2300" dirty="0">
                <a:solidFill>
                  <a:schemeClr val="bg2"/>
                </a:solidFill>
                <a:ea typeface="楷体_GB2312" pitchFamily="49" charset="-122"/>
              </a:rPr>
              <a:t>		          或</a:t>
            </a:r>
          </a:p>
          <a:p>
            <a:pPr algn="just">
              <a:buClrTx/>
              <a:buSzTx/>
              <a:buFontTx/>
              <a:buNone/>
            </a:pPr>
            <a:r>
              <a:rPr lang="zh-CN" altLang="en-US" sz="2300" dirty="0">
                <a:solidFill>
                  <a:schemeClr val="bg2"/>
                </a:solidFill>
                <a:ea typeface="楷体_GB2312" pitchFamily="49" charset="-122"/>
              </a:rPr>
              <a:t>		          </a:t>
            </a:r>
            <a:r>
              <a:rPr lang="en-US" altLang="zh-CN" sz="2300" dirty="0">
                <a:solidFill>
                  <a:schemeClr val="bg2"/>
                </a:solidFill>
                <a:ea typeface="楷体_GB2312" pitchFamily="49" charset="-122"/>
              </a:rPr>
              <a:t>DL≠0FFH</a:t>
            </a:r>
            <a:r>
              <a:rPr lang="en-US" altLang="zh-CN" sz="2200" dirty="0">
                <a:solidFill>
                  <a:schemeClr val="bg2"/>
                </a:solidFill>
                <a:ea typeface="楷体_GB2312" pitchFamily="49" charset="-122"/>
              </a:rPr>
              <a:t>(</a:t>
            </a:r>
            <a:r>
              <a:rPr lang="zh-CN" altLang="en-US" sz="2200" dirty="0">
                <a:solidFill>
                  <a:schemeClr val="bg2"/>
                </a:solidFill>
                <a:ea typeface="楷体_GB2312" pitchFamily="49" charset="-122"/>
              </a:rPr>
              <a:t>输出</a:t>
            </a:r>
            <a:r>
              <a:rPr lang="en-US" altLang="zh-CN" sz="2200" dirty="0">
                <a:solidFill>
                  <a:schemeClr val="bg2"/>
                </a:solidFill>
                <a:ea typeface="楷体_GB2312" pitchFamily="49" charset="-122"/>
              </a:rPr>
              <a:t>),</a:t>
            </a:r>
            <a:r>
              <a:rPr lang="zh-CN" altLang="en-US" sz="2200" dirty="0">
                <a:solidFill>
                  <a:schemeClr val="bg2"/>
                </a:solidFill>
                <a:ea typeface="楷体_GB2312" pitchFamily="49" charset="-122"/>
              </a:rPr>
              <a:t>其中是要显示字符的</a:t>
            </a:r>
            <a:r>
              <a:rPr lang="en-US" altLang="zh-CN" sz="2200" dirty="0">
                <a:solidFill>
                  <a:schemeClr val="bg2"/>
                </a:solidFill>
                <a:ea typeface="楷体_GB2312" pitchFamily="49" charset="-122"/>
              </a:rPr>
              <a:t>ASCII</a:t>
            </a:r>
            <a:r>
              <a:rPr lang="zh-CN" altLang="en-US" sz="2200" dirty="0">
                <a:solidFill>
                  <a:schemeClr val="bg2"/>
                </a:solidFill>
                <a:ea typeface="楷体_GB2312" pitchFamily="49" charset="-122"/>
              </a:rPr>
              <a:t>码</a:t>
            </a:r>
          </a:p>
          <a:p>
            <a:pPr algn="just">
              <a:buClrTx/>
              <a:buSzTx/>
              <a:buFontTx/>
              <a:buNone/>
            </a:pPr>
            <a:r>
              <a:rPr lang="zh-CN" altLang="en-US" sz="2200" dirty="0">
                <a:solidFill>
                  <a:schemeClr val="bg2"/>
                </a:solidFill>
                <a:ea typeface="楷体_GB2312" pitchFamily="49" charset="-122"/>
              </a:rPr>
              <a:t>	</a:t>
            </a:r>
            <a:endParaRPr lang="en-US" altLang="zh-CN" sz="2300" b="1" dirty="0">
              <a:solidFill>
                <a:schemeClr val="bg2"/>
              </a:solidFill>
              <a:ea typeface="楷体_GB2312" pitchFamily="49" charset="-122"/>
            </a:endParaRPr>
          </a:p>
          <a:p>
            <a:pPr algn="just">
              <a:buClrTx/>
              <a:buSzTx/>
              <a:buFontTx/>
              <a:buNone/>
            </a:pPr>
            <a:r>
              <a:rPr lang="zh-CN" altLang="en-US" sz="2300" b="1" dirty="0">
                <a:solidFill>
                  <a:schemeClr val="bg2"/>
                </a:solidFill>
                <a:ea typeface="楷体_GB2312" pitchFamily="49" charset="-122"/>
              </a:rPr>
              <a:t>                出口参数   </a:t>
            </a:r>
            <a:r>
              <a:rPr lang="zh-CN" altLang="en-US" sz="2300" dirty="0">
                <a:solidFill>
                  <a:schemeClr val="bg2"/>
                </a:solidFill>
                <a:ea typeface="楷体_GB2312" pitchFamily="49" charset="-122"/>
              </a:rPr>
              <a:t>若有输入（</a:t>
            </a:r>
            <a:r>
              <a:rPr lang="en-US" altLang="zh-CN" sz="2300" dirty="0">
                <a:solidFill>
                  <a:schemeClr val="bg2"/>
                </a:solidFill>
                <a:ea typeface="楷体_GB2312" pitchFamily="49" charset="-122"/>
              </a:rPr>
              <a:t>ZF</a:t>
            </a:r>
            <a:r>
              <a:rPr lang="zh-CN" altLang="en-US" sz="2300" dirty="0">
                <a:solidFill>
                  <a:schemeClr val="bg2"/>
                </a:solidFill>
                <a:ea typeface="楷体_GB2312" pitchFamily="49" charset="-122"/>
              </a:rPr>
              <a:t>＝</a:t>
            </a:r>
            <a:r>
              <a:rPr lang="en-US" altLang="zh-CN" sz="2300" dirty="0">
                <a:solidFill>
                  <a:schemeClr val="bg2"/>
                </a:solidFill>
                <a:ea typeface="楷体_GB2312" pitchFamily="49" charset="-122"/>
              </a:rPr>
              <a:t>0</a:t>
            </a:r>
            <a:r>
              <a:rPr lang="zh-CN" altLang="en-US" sz="2300" dirty="0">
                <a:solidFill>
                  <a:schemeClr val="bg2"/>
                </a:solidFill>
                <a:ea typeface="楷体_GB2312" pitchFamily="49" charset="-122"/>
              </a:rPr>
              <a:t>），</a:t>
            </a:r>
            <a:r>
              <a:rPr lang="en-US" altLang="zh-CN" sz="2300" dirty="0">
                <a:solidFill>
                  <a:schemeClr val="bg2"/>
                </a:solidFill>
                <a:ea typeface="楷体_GB2312" pitchFamily="49" charset="-122"/>
              </a:rPr>
              <a:t>AL</a:t>
            </a:r>
            <a:r>
              <a:rPr lang="zh-CN" altLang="en-US" sz="2300" dirty="0">
                <a:solidFill>
                  <a:schemeClr val="bg2"/>
                </a:solidFill>
                <a:ea typeface="楷体_GB2312" pitchFamily="49" charset="-122"/>
              </a:rPr>
              <a:t>＝输入的字符；</a:t>
            </a:r>
          </a:p>
          <a:p>
            <a:pPr>
              <a:spcBef>
                <a:spcPct val="10000"/>
              </a:spcBef>
            </a:pPr>
            <a:r>
              <a:rPr lang="zh-CN" altLang="en-US" sz="2300" dirty="0">
                <a:solidFill>
                  <a:schemeClr val="bg2"/>
                </a:solidFill>
                <a:ea typeface="楷体_GB2312" pitchFamily="49" charset="-122"/>
              </a:rPr>
              <a:t>                                           否则（</a:t>
            </a:r>
            <a:r>
              <a:rPr lang="en-US" altLang="zh-CN" sz="2300" dirty="0">
                <a:solidFill>
                  <a:schemeClr val="bg2"/>
                </a:solidFill>
                <a:ea typeface="楷体_GB2312" pitchFamily="49" charset="-122"/>
              </a:rPr>
              <a:t>ZF</a:t>
            </a:r>
            <a:r>
              <a:rPr lang="zh-CN" altLang="en-US" sz="2300" dirty="0">
                <a:solidFill>
                  <a:schemeClr val="bg2"/>
                </a:solidFill>
                <a:ea typeface="楷体_GB2312" pitchFamily="49" charset="-122"/>
              </a:rPr>
              <a:t>＝</a:t>
            </a:r>
            <a:r>
              <a:rPr lang="en-US" altLang="zh-CN" sz="2300" dirty="0">
                <a:solidFill>
                  <a:schemeClr val="bg2"/>
                </a:solidFill>
                <a:ea typeface="楷体_GB2312" pitchFamily="49" charset="-122"/>
              </a:rPr>
              <a:t>1</a:t>
            </a:r>
            <a:r>
              <a:rPr lang="zh-CN" altLang="en-US" sz="2300" dirty="0">
                <a:solidFill>
                  <a:schemeClr val="bg2"/>
                </a:solidFill>
                <a:ea typeface="楷体_GB2312" pitchFamily="49" charset="-122"/>
              </a:rPr>
              <a:t>），</a:t>
            </a:r>
            <a:r>
              <a:rPr lang="en-US" altLang="zh-CN" sz="2300" dirty="0">
                <a:solidFill>
                  <a:schemeClr val="bg2"/>
                </a:solidFill>
                <a:ea typeface="楷体_GB2312" pitchFamily="49" charset="-122"/>
              </a:rPr>
              <a:t>AL</a:t>
            </a:r>
            <a:r>
              <a:rPr lang="zh-CN" altLang="en-US" sz="2300" dirty="0">
                <a:solidFill>
                  <a:schemeClr val="bg2"/>
                </a:solidFill>
                <a:ea typeface="楷体_GB2312" pitchFamily="49" charset="-122"/>
              </a:rPr>
              <a:t>＝</a:t>
            </a:r>
            <a:r>
              <a:rPr lang="en-US" altLang="zh-CN" sz="2300" dirty="0">
                <a:solidFill>
                  <a:schemeClr val="bg2"/>
                </a:solidFill>
                <a:ea typeface="楷体_GB2312" pitchFamily="49" charset="-122"/>
              </a:rPr>
              <a:t>0</a:t>
            </a:r>
            <a:r>
              <a:rPr lang="zh-CN" altLang="en-US" sz="2300" dirty="0">
                <a:solidFill>
                  <a:schemeClr val="bg2"/>
                </a:solidFill>
                <a:ea typeface="楷体_GB2312" pitchFamily="49" charset="-122"/>
              </a:rPr>
              <a:t>。</a:t>
            </a:r>
          </a:p>
          <a:p>
            <a:pPr algn="just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300" b="1" dirty="0">
                <a:solidFill>
                  <a:schemeClr val="bg2"/>
                </a:solidFill>
                <a:ea typeface="楷体_GB2312" pitchFamily="49" charset="-122"/>
              </a:rPr>
              <a:t>                实现功能   </a:t>
            </a:r>
            <a:r>
              <a:rPr lang="zh-CN" altLang="en-US" sz="2300" dirty="0">
                <a:solidFill>
                  <a:schemeClr val="bg2"/>
                </a:solidFill>
                <a:ea typeface="楷体_GB2312" pitchFamily="49" charset="-122"/>
              </a:rPr>
              <a:t>输入单个字符或显示指定的字符。</a:t>
            </a:r>
          </a:p>
        </p:txBody>
      </p:sp>
      <p:grpSp>
        <p:nvGrpSpPr>
          <p:cNvPr id="479252" name="Group 20"/>
          <p:cNvGrpSpPr>
            <a:grpSpLocks/>
          </p:cNvGrpSpPr>
          <p:nvPr/>
        </p:nvGrpSpPr>
        <p:grpSpPr bwMode="auto">
          <a:xfrm>
            <a:off x="892175" y="3645024"/>
            <a:ext cx="8251825" cy="1781175"/>
            <a:chOff x="562" y="2462"/>
            <a:chExt cx="5198" cy="1122"/>
          </a:xfrm>
        </p:grpSpPr>
        <p:sp>
          <p:nvSpPr>
            <p:cNvPr id="479247" name="Text Box 6"/>
            <p:cNvSpPr txBox="1">
              <a:spLocks noChangeArrowheads="1"/>
            </p:cNvSpPr>
            <p:nvPr/>
          </p:nvSpPr>
          <p:spPr bwMode="auto">
            <a:xfrm>
              <a:off x="562" y="2462"/>
              <a:ext cx="17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50000"/>
                </a:spcBef>
                <a:buSzPct val="70000"/>
                <a:buFont typeface="Tahoma" pitchFamily="34" charset="0"/>
                <a:buNone/>
              </a:pPr>
              <a:r>
                <a:rPr lang="zh-CN" altLang="en-US" dirty="0">
                  <a:solidFill>
                    <a:schemeClr val="bg2"/>
                  </a:solidFill>
                  <a:ea typeface="楷体_GB2312" pitchFamily="49" charset="-122"/>
                </a:rPr>
                <a:t>示例：</a:t>
              </a:r>
              <a:endParaRPr lang="en-US" altLang="zh-CN" dirty="0">
                <a:solidFill>
                  <a:schemeClr val="bg2"/>
                </a:solidFill>
                <a:ea typeface="楷体_GB2312" pitchFamily="49" charset="-122"/>
              </a:endParaRPr>
            </a:p>
          </p:txBody>
        </p:sp>
        <p:sp>
          <p:nvSpPr>
            <p:cNvPr id="479248" name="Text Box 7"/>
            <p:cNvSpPr txBox="1">
              <a:spLocks noChangeArrowheads="1"/>
            </p:cNvSpPr>
            <p:nvPr/>
          </p:nvSpPr>
          <p:spPr bwMode="auto">
            <a:xfrm>
              <a:off x="939" y="2720"/>
              <a:ext cx="2304" cy="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15000"/>
                </a:spcBef>
                <a:buSzPct val="70000"/>
                <a:buFont typeface="Tahoma" pitchFamily="34" charset="0"/>
                <a:buNone/>
              </a:pPr>
              <a:r>
                <a:rPr lang="en-US" altLang="zh-CN" sz="2200" b="1" dirty="0">
                  <a:solidFill>
                    <a:schemeClr val="bg2"/>
                  </a:solidFill>
                  <a:ea typeface="楷体_GB2312" pitchFamily="49" charset="-122"/>
                </a:rPr>
                <a:t>MOV	DL</a:t>
              </a:r>
              <a:r>
                <a:rPr lang="zh-CN" altLang="en-US" sz="2200" b="1" dirty="0">
                  <a:solidFill>
                    <a:schemeClr val="bg2"/>
                  </a:solidFill>
                  <a:ea typeface="楷体_GB2312" pitchFamily="49" charset="-122"/>
                </a:rPr>
                <a:t>，</a:t>
              </a:r>
              <a:r>
                <a:rPr lang="en-US" altLang="zh-CN" sz="2200" b="1" dirty="0">
                  <a:solidFill>
                    <a:schemeClr val="bg2"/>
                  </a:solidFill>
                  <a:ea typeface="楷体_GB2312" pitchFamily="49" charset="-122"/>
                </a:rPr>
                <a:t>0FFH  ;</a:t>
              </a:r>
              <a:r>
                <a:rPr lang="zh-CN" altLang="en-US" sz="2200" b="1" dirty="0">
                  <a:solidFill>
                    <a:schemeClr val="bg2"/>
                  </a:solidFill>
                  <a:ea typeface="楷体_GB2312" pitchFamily="49" charset="-122"/>
                </a:rPr>
                <a:t>输入</a:t>
              </a:r>
            </a:p>
            <a:p>
              <a:pPr>
                <a:spcBef>
                  <a:spcPct val="15000"/>
                </a:spcBef>
                <a:buSzPct val="70000"/>
                <a:buFont typeface="Tahoma" pitchFamily="34" charset="0"/>
                <a:buNone/>
              </a:pPr>
              <a:r>
                <a:rPr lang="en-US" altLang="zh-CN" sz="2200" b="1" dirty="0">
                  <a:solidFill>
                    <a:schemeClr val="bg2"/>
                  </a:solidFill>
                  <a:ea typeface="楷体_GB2312" pitchFamily="49" charset="-122"/>
                </a:rPr>
                <a:t>MOV	AH</a:t>
              </a:r>
              <a:r>
                <a:rPr lang="zh-CN" altLang="en-US" sz="2200" b="1" dirty="0">
                  <a:solidFill>
                    <a:schemeClr val="bg2"/>
                  </a:solidFill>
                  <a:ea typeface="楷体_GB2312" pitchFamily="49" charset="-122"/>
                </a:rPr>
                <a:t>，</a:t>
              </a:r>
              <a:r>
                <a:rPr lang="en-US" altLang="zh-CN" sz="2200" b="1" dirty="0">
                  <a:solidFill>
                    <a:schemeClr val="bg2"/>
                  </a:solidFill>
                  <a:ea typeface="楷体_GB2312" pitchFamily="49" charset="-122"/>
                </a:rPr>
                <a:t>6</a:t>
              </a:r>
            </a:p>
            <a:p>
              <a:pPr>
                <a:spcBef>
                  <a:spcPct val="15000"/>
                </a:spcBef>
                <a:buSzPct val="70000"/>
                <a:buFontTx/>
                <a:buNone/>
              </a:pPr>
              <a:r>
                <a:rPr lang="en-US" altLang="zh-CN" sz="2200" b="1" dirty="0">
                  <a:solidFill>
                    <a:schemeClr val="bg2"/>
                  </a:solidFill>
                  <a:ea typeface="楷体_GB2312" pitchFamily="49" charset="-122"/>
                </a:rPr>
                <a:t>INT	21H</a:t>
              </a:r>
            </a:p>
          </p:txBody>
        </p:sp>
        <p:sp>
          <p:nvSpPr>
            <p:cNvPr id="479249" name="Text Box 8"/>
            <p:cNvSpPr txBox="1">
              <a:spLocks noChangeArrowheads="1"/>
            </p:cNvSpPr>
            <p:nvPr/>
          </p:nvSpPr>
          <p:spPr bwMode="auto">
            <a:xfrm>
              <a:off x="3178" y="2720"/>
              <a:ext cx="2582" cy="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spcBef>
                  <a:spcPct val="15000"/>
                </a:spcBef>
                <a:buSzPct val="70000"/>
                <a:buFont typeface="Tahoma" pitchFamily="34" charset="0"/>
                <a:buNone/>
              </a:pPr>
              <a:r>
                <a:rPr lang="en-US" altLang="zh-CN" sz="2200" b="1">
                  <a:solidFill>
                    <a:schemeClr val="bg2"/>
                  </a:solidFill>
                  <a:ea typeface="楷体_GB2312" pitchFamily="49" charset="-122"/>
                </a:rPr>
                <a:t>MOV	DL</a:t>
              </a:r>
              <a:r>
                <a:rPr lang="zh-CN" altLang="en-US" sz="2200" b="1">
                  <a:solidFill>
                    <a:schemeClr val="bg2"/>
                  </a:solidFill>
                  <a:ea typeface="楷体_GB2312" pitchFamily="49" charset="-122"/>
                </a:rPr>
                <a:t>，</a:t>
              </a:r>
              <a:r>
                <a:rPr lang="en-US" altLang="zh-CN" sz="2200" b="1">
                  <a:solidFill>
                    <a:schemeClr val="bg2"/>
                  </a:solidFill>
                  <a:ea typeface="楷体_GB2312" pitchFamily="49" charset="-122"/>
                </a:rPr>
                <a:t>24H   ;</a:t>
              </a:r>
              <a:r>
                <a:rPr lang="zh-CN" altLang="en-US" sz="2200" b="1">
                  <a:solidFill>
                    <a:schemeClr val="bg2"/>
                  </a:solidFill>
                  <a:ea typeface="楷体_GB2312" pitchFamily="49" charset="-122"/>
                </a:rPr>
                <a:t>将‘</a:t>
              </a:r>
              <a:r>
                <a:rPr lang="en-US" altLang="zh-CN" sz="2200" b="1">
                  <a:solidFill>
                    <a:schemeClr val="bg2"/>
                  </a:solidFill>
                  <a:ea typeface="楷体_GB2312" pitchFamily="49" charset="-122"/>
                </a:rPr>
                <a:t>$’</a:t>
              </a:r>
              <a:r>
                <a:rPr lang="zh-CN" altLang="en-US" sz="2200" b="1">
                  <a:solidFill>
                    <a:schemeClr val="bg2"/>
                  </a:solidFill>
                  <a:ea typeface="楷体_GB2312" pitchFamily="49" charset="-122"/>
                </a:rPr>
                <a:t>输出</a:t>
              </a:r>
            </a:p>
            <a:p>
              <a:pPr>
                <a:spcBef>
                  <a:spcPct val="15000"/>
                </a:spcBef>
                <a:buSzPct val="70000"/>
                <a:buFontTx/>
                <a:buNone/>
              </a:pPr>
              <a:r>
                <a:rPr lang="en-US" altLang="zh-CN" sz="2200" b="1">
                  <a:solidFill>
                    <a:schemeClr val="bg2"/>
                  </a:solidFill>
                  <a:ea typeface="楷体_GB2312" pitchFamily="49" charset="-122"/>
                </a:rPr>
                <a:t>MOV	AH</a:t>
              </a:r>
              <a:r>
                <a:rPr lang="zh-CN" altLang="en-US" sz="2200" b="1">
                  <a:solidFill>
                    <a:schemeClr val="bg2"/>
                  </a:solidFill>
                  <a:ea typeface="楷体_GB2312" pitchFamily="49" charset="-122"/>
                </a:rPr>
                <a:t>，</a:t>
              </a:r>
              <a:r>
                <a:rPr lang="en-US" altLang="zh-CN" sz="2200" b="1">
                  <a:solidFill>
                    <a:schemeClr val="bg2"/>
                  </a:solidFill>
                  <a:ea typeface="楷体_GB2312" pitchFamily="49" charset="-122"/>
                </a:rPr>
                <a:t>6</a:t>
              </a:r>
            </a:p>
            <a:p>
              <a:pPr>
                <a:spcBef>
                  <a:spcPct val="15000"/>
                </a:spcBef>
                <a:buSzPct val="70000"/>
                <a:buFontTx/>
                <a:buNone/>
              </a:pPr>
              <a:r>
                <a:rPr lang="en-US" altLang="zh-CN" sz="2200" b="1">
                  <a:solidFill>
                    <a:schemeClr val="bg2"/>
                  </a:solidFill>
                  <a:ea typeface="楷体_GB2312" pitchFamily="49" charset="-122"/>
                </a:rPr>
                <a:t>INT	21H</a:t>
              </a:r>
            </a:p>
          </p:txBody>
        </p:sp>
        <p:sp>
          <p:nvSpPr>
            <p:cNvPr id="479250" name="Line 9"/>
            <p:cNvSpPr>
              <a:spLocks noChangeShapeType="1"/>
            </p:cNvSpPr>
            <p:nvPr/>
          </p:nvSpPr>
          <p:spPr bwMode="auto">
            <a:xfrm>
              <a:off x="3104" y="2720"/>
              <a:ext cx="0" cy="864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>
                <a:solidFill>
                  <a:schemeClr val="bg2"/>
                </a:solidFill>
              </a:endParaRPr>
            </a:p>
          </p:txBody>
        </p:sp>
      </p:grpSp>
      <p:sp>
        <p:nvSpPr>
          <p:cNvPr id="146442" name="Text Box 10"/>
          <p:cNvSpPr txBox="1">
            <a:spLocks noChangeArrowheads="1"/>
          </p:cNvSpPr>
          <p:nvPr/>
        </p:nvSpPr>
        <p:spPr bwMode="auto">
          <a:xfrm>
            <a:off x="611188" y="5589240"/>
            <a:ext cx="8388350" cy="476412"/>
          </a:xfrm>
          <a:prstGeom prst="rect">
            <a:avLst/>
          </a:prstGeom>
          <a:solidFill>
            <a:srgbClr val="C7FF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300" b="1" dirty="0">
                <a:solidFill>
                  <a:schemeClr val="bg2"/>
                </a:solidFill>
                <a:ea typeface="楷体_GB2312" pitchFamily="49" charset="-122"/>
              </a:rPr>
              <a:t>01H</a:t>
            </a:r>
            <a:r>
              <a:rPr lang="zh-CN" altLang="en-US" sz="2300" b="1" dirty="0">
                <a:solidFill>
                  <a:schemeClr val="bg2"/>
                </a:solidFill>
                <a:ea typeface="楷体_GB2312" pitchFamily="49" charset="-122"/>
              </a:rPr>
              <a:t>与</a:t>
            </a:r>
            <a:r>
              <a:rPr lang="en-US" altLang="zh-CN" sz="2300" b="1" dirty="0">
                <a:solidFill>
                  <a:schemeClr val="bg2"/>
                </a:solidFill>
                <a:ea typeface="楷体_GB2312" pitchFamily="49" charset="-122"/>
              </a:rPr>
              <a:t>06H</a:t>
            </a:r>
            <a:r>
              <a:rPr lang="zh-CN" altLang="en-US" sz="2300" b="1" dirty="0">
                <a:solidFill>
                  <a:schemeClr val="bg2"/>
                </a:solidFill>
                <a:ea typeface="楷体_GB2312" pitchFamily="49" charset="-122"/>
              </a:rPr>
              <a:t>的区别：前者等待用户键入，后者不等待用户键入</a:t>
            </a:r>
            <a:r>
              <a:rPr lang="zh-CN" altLang="en-US" sz="2300" b="1" dirty="0">
                <a:solidFill>
                  <a:schemeClr val="bg2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99027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42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矩形 397313"/>
          <p:cNvSpPr/>
          <p:nvPr/>
        </p:nvSpPr>
        <p:spPr>
          <a:xfrm>
            <a:off x="395288" y="836613"/>
            <a:ext cx="6958012" cy="4572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9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号系统功能调用（显示一个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字符串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397315" name="矩形 397314"/>
          <p:cNvSpPr/>
          <p:nvPr/>
        </p:nvSpPr>
        <p:spPr>
          <a:xfrm>
            <a:off x="381000" y="1341438"/>
            <a:ext cx="7720013" cy="535781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95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功能：字符串输出。即将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DS:DX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所指的以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$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字符结尾的一个字符串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输出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到屏幕上。</a:t>
            </a:r>
          </a:p>
          <a:p>
            <a:pPr marL="0" lvl="0" indent="0" algn="just">
              <a:lnSpc>
                <a:spcPct val="95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入口参数：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DS:DX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＝要显示的字符串在内存中的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首地址</a:t>
            </a:r>
          </a:p>
          <a:p>
            <a:pPr marL="0" lvl="0" indent="0" algn="just">
              <a:lnSpc>
                <a:spcPct val="95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出口参数：无</a:t>
            </a:r>
          </a:p>
          <a:p>
            <a:pPr marL="0" lvl="0" indent="0" algn="just">
              <a:lnSpc>
                <a:spcPct val="95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格式：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LEA DX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，字符串变量名</a:t>
            </a:r>
          </a:p>
          <a:p>
            <a:pPr marL="0" lvl="0" indent="0" algn="just">
              <a:lnSpc>
                <a:spcPct val="95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	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MOV AH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9</a:t>
            </a:r>
          </a:p>
          <a:p>
            <a:pPr marL="0" lvl="0" indent="0" algn="just">
              <a:lnSpc>
                <a:spcPct val="95000"/>
              </a:lnSpc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	INT 21H</a:t>
            </a:r>
          </a:p>
          <a:p>
            <a:pPr marL="0" lvl="0" indent="0" algn="just">
              <a:lnSpc>
                <a:spcPct val="95000"/>
              </a:lnSpc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……</a:t>
            </a:r>
          </a:p>
          <a:p>
            <a:pPr marL="0" indent="0" algn="just">
              <a:lnSpc>
                <a:spcPct val="95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例：</a:t>
            </a:r>
            <a:r>
              <a:rPr lang="en-US" altLang="zh-CN" sz="2400" b="1" dirty="0" err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str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DB‘HELLO world!’,‘$’</a:t>
            </a:r>
          </a:p>
          <a:p>
            <a:pPr marL="0" lvl="0" indent="0" algn="just">
              <a:lnSpc>
                <a:spcPct val="95000"/>
              </a:lnSpc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	……</a:t>
            </a:r>
          </a:p>
          <a:p>
            <a:pPr marL="0" lvl="0" indent="0" algn="just">
              <a:lnSpc>
                <a:spcPct val="95000"/>
              </a:lnSpc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	LEA DX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sz="2400" b="1" dirty="0" err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str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	</a:t>
            </a:r>
          </a:p>
          <a:p>
            <a:pPr marL="358775" lvl="2" indent="0" algn="just">
              <a:lnSpc>
                <a:spcPct val="95000"/>
              </a:lnSpc>
              <a:buNone/>
            </a:pP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	MOV AH</a:t>
            </a:r>
            <a:r>
              <a:rPr lang="zh-CN" altLang="en-US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9</a:t>
            </a:r>
          </a:p>
          <a:p>
            <a:pPr marL="0" lvl="0" indent="0" algn="just">
              <a:lnSpc>
                <a:spcPct val="95000"/>
              </a:lnSpc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	INT 21H</a:t>
            </a:r>
          </a:p>
        </p:txBody>
      </p:sp>
      <p:sp>
        <p:nvSpPr>
          <p:cNvPr id="397316" name="矩形 397315"/>
          <p:cNvSpPr/>
          <p:nvPr/>
        </p:nvSpPr>
        <p:spPr>
          <a:xfrm>
            <a:off x="5508625" y="2924175"/>
            <a:ext cx="3240088" cy="1717393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>
              <a:spcBef>
                <a:spcPct val="20000"/>
              </a:spcBef>
              <a:buClrTx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说明：要显示的字符</a:t>
            </a: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串必须以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$”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作为结</a:t>
            </a: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束标志，但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</a:rPr>
              <a:t>‘$’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不被显示</a:t>
            </a:r>
          </a:p>
        </p:txBody>
      </p:sp>
      <p:sp>
        <p:nvSpPr>
          <p:cNvPr id="397317" name="矩形 397316"/>
          <p:cNvSpPr/>
          <p:nvPr/>
        </p:nvSpPr>
        <p:spPr>
          <a:xfrm>
            <a:off x="2555875" y="115888"/>
            <a:ext cx="4270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4.4 DOS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系统功能调用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48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矩形 404481"/>
          <p:cNvSpPr/>
          <p:nvPr/>
        </p:nvSpPr>
        <p:spPr>
          <a:xfrm>
            <a:off x="468313" y="836613"/>
            <a:ext cx="7391400" cy="6096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10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号系统功能调用（从键盘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读入一个字符串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404483" name="矩形 404482"/>
          <p:cNvSpPr/>
          <p:nvPr/>
        </p:nvSpPr>
        <p:spPr>
          <a:xfrm>
            <a:off x="304800" y="1484313"/>
            <a:ext cx="8534400" cy="3810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功能：从键盘读入一个字符串，将其保存到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DS:DX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指定的内存缓冲区中。这个缓冲区由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部分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组成：</a:t>
            </a:r>
          </a:p>
          <a:p>
            <a:pPr marL="182880" lvl="1" indent="-3175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第一字节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定义缓冲区大小；</a:t>
            </a:r>
          </a:p>
          <a:p>
            <a:pPr marL="182880" lvl="1" indent="-3175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第二字节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用于系统回填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实际输入的字符个数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；</a:t>
            </a:r>
          </a:p>
          <a:p>
            <a:pPr marL="182880" lvl="1" indent="-3175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从</a:t>
            </a:r>
            <a:r>
              <a:rPr lang="zh-CN" altLang="en-US" sz="24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第三字节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开始保存键盘输入字符的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ASCII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码值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。</a:t>
            </a:r>
          </a:p>
          <a:p>
            <a:pPr marL="0" lvl="0" indent="0" algn="just"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入口参数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：</a:t>
            </a:r>
            <a:r>
              <a:rPr lang="en-US" altLang="zh-CN" sz="24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DS</a:t>
            </a:r>
            <a:r>
              <a:rPr lang="zh-CN" altLang="en-US" sz="24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：</a:t>
            </a:r>
            <a:r>
              <a:rPr lang="en-US" altLang="zh-CN" sz="24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DX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＝存放该字符串的输入缓冲区的</a:t>
            </a:r>
            <a:r>
              <a:rPr lang="zh-CN" altLang="en-US" sz="24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首地址</a:t>
            </a:r>
          </a:p>
          <a:p>
            <a:pPr marL="0" lvl="0" indent="0" algn="just"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出口参数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：</a:t>
            </a:r>
            <a:r>
              <a:rPr lang="zh-CN" altLang="en-US" sz="24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实际输入字符个数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保存在缓冲区</a:t>
            </a:r>
            <a:r>
              <a:rPr lang="zh-CN" altLang="en-US" sz="24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第二字节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的位置（不包括回车符） ，实际输入字符的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ASCII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码值（包括回车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0DH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）顺序保存在缓冲区</a:t>
            </a:r>
            <a:r>
              <a:rPr lang="zh-CN" altLang="en-US" sz="24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第三字节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开始的位置。</a:t>
            </a:r>
          </a:p>
        </p:txBody>
      </p:sp>
      <p:sp>
        <p:nvSpPr>
          <p:cNvPr id="404484" name="矩形 404483"/>
          <p:cNvSpPr/>
          <p:nvPr/>
        </p:nvSpPr>
        <p:spPr>
          <a:xfrm>
            <a:off x="304800" y="5300663"/>
            <a:ext cx="84582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>
              <a:spcBef>
                <a:spcPct val="5000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：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sym typeface="Wingdings" panose="05000000000000000000" pitchFamily="2" charset="2"/>
              </a:rPr>
              <a:t>(1)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可输入的字符个数最多为缓冲区第一字节内容减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，最少字符个数为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输入以按“回车键”结束，并将回车字符（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0DH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）保存在输入字符的最后一个位置上</a:t>
            </a:r>
          </a:p>
        </p:txBody>
      </p:sp>
      <p:sp>
        <p:nvSpPr>
          <p:cNvPr id="404485" name="矩形 404484"/>
          <p:cNvSpPr/>
          <p:nvPr/>
        </p:nvSpPr>
        <p:spPr>
          <a:xfrm>
            <a:off x="2555875" y="115888"/>
            <a:ext cx="4270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4.4 DOS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系统功能调用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49</a:t>
            </a:fld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矩形 405505"/>
          <p:cNvSpPr/>
          <p:nvPr/>
        </p:nvSpPr>
        <p:spPr>
          <a:xfrm>
            <a:off x="228600" y="825500"/>
            <a:ext cx="8686800" cy="548322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格式：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LEA DX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，缓冲区首地址；设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DS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已指向用户定义的数据段</a:t>
            </a:r>
          </a:p>
          <a:p>
            <a:pPr marL="381000" lvl="2" indent="0" algn="just">
              <a:buNone/>
            </a:pPr>
            <a:r>
              <a:rPr lang="zh-CN" altLang="en-US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</a:t>
            </a: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MOV AH</a:t>
            </a:r>
            <a:r>
              <a:rPr lang="zh-CN" altLang="en-US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10  ;</a:t>
            </a:r>
            <a:r>
              <a:rPr lang="zh-CN" altLang="en-US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或</a:t>
            </a: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0AH</a:t>
            </a:r>
          </a:p>
          <a:p>
            <a:pPr marL="381000" lvl="2" indent="0" algn="just">
              <a:buNone/>
            </a:pP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INT 21H</a:t>
            </a:r>
          </a:p>
          <a:p>
            <a:pPr marL="381000" lvl="2" indent="0" algn="just">
              <a:buNone/>
            </a:pPr>
            <a:r>
              <a:rPr lang="zh-CN" altLang="en-US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调用方法示例</a:t>
            </a:r>
            <a:r>
              <a:rPr lang="zh-CN" altLang="en-US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： </a:t>
            </a:r>
          </a:p>
          <a:p>
            <a:pPr marL="381000" lvl="2" indent="0" algn="just">
              <a:buNone/>
            </a:pP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……</a:t>
            </a:r>
          </a:p>
          <a:p>
            <a:pPr marL="0" lv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　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BUF DB 20  ;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定义缓冲区大小，实际可输入字符最多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20-1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个</a:t>
            </a:r>
          </a:p>
          <a:p>
            <a:pPr marL="381000" lvl="2" indent="0" algn="just">
              <a:buNone/>
            </a:pPr>
            <a:r>
              <a:rPr lang="zh-CN" altLang="en-US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	</a:t>
            </a: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DB </a:t>
            </a:r>
            <a:r>
              <a:rPr lang="zh-CN" altLang="en-US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？	   </a:t>
            </a: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;</a:t>
            </a:r>
            <a:r>
              <a:rPr lang="zh-CN" altLang="en-US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存放实际输入的字符个数，由系统自动设置</a:t>
            </a:r>
          </a:p>
          <a:p>
            <a:pPr marL="381000" lvl="2" indent="0" algn="just">
              <a:buNone/>
            </a:pPr>
            <a:r>
              <a:rPr lang="zh-CN" altLang="en-US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	</a:t>
            </a: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DB 20 DUP</a:t>
            </a:r>
            <a:r>
              <a:rPr lang="zh-CN" altLang="en-US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（？）	；存放实际输入的字符串</a:t>
            </a:r>
          </a:p>
          <a:p>
            <a:pPr marL="381000" lvl="2" indent="0" algn="just">
              <a:buNone/>
            </a:pPr>
            <a:r>
              <a:rPr lang="zh-CN" altLang="en-US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	  </a:t>
            </a: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……</a:t>
            </a:r>
          </a:p>
          <a:p>
            <a:pPr marL="381000" lvl="2" indent="0" algn="just">
              <a:buNone/>
            </a:pPr>
            <a:r>
              <a:rPr lang="zh-CN" altLang="en-US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┆		</a:t>
            </a:r>
          </a:p>
          <a:p>
            <a:pPr marL="381000" lvl="2" indent="0" algn="just">
              <a:buNone/>
            </a:pPr>
            <a:r>
              <a:rPr lang="zh-CN" altLang="en-US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</a:t>
            </a: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LEA DX</a:t>
            </a:r>
            <a:r>
              <a:rPr lang="zh-CN" altLang="en-US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BUF	</a:t>
            </a:r>
          </a:p>
          <a:p>
            <a:pPr marL="381000" lvl="2" indent="0" algn="just">
              <a:buNone/>
            </a:pP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MOV AH</a:t>
            </a:r>
            <a:r>
              <a:rPr lang="zh-CN" altLang="en-US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10</a:t>
            </a:r>
          </a:p>
          <a:p>
            <a:pPr marL="381000" lvl="2" indent="0" algn="just">
              <a:buNone/>
            </a:pPr>
            <a:r>
              <a:rPr lang="en-US" altLang="zh-CN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INT 21H</a:t>
            </a:r>
          </a:p>
        </p:txBody>
      </p:sp>
      <p:sp>
        <p:nvSpPr>
          <p:cNvPr id="405507" name="矩形 405506"/>
          <p:cNvSpPr/>
          <p:nvPr/>
        </p:nvSpPr>
        <p:spPr>
          <a:xfrm>
            <a:off x="827088" y="5230813"/>
            <a:ext cx="2232025" cy="1511300"/>
          </a:xfrm>
          <a:prstGeom prst="rect">
            <a:avLst/>
          </a:prstGeom>
          <a:noFill/>
          <a:ln w="254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5508" name="矩形 405507"/>
          <p:cNvSpPr/>
          <p:nvPr/>
        </p:nvSpPr>
        <p:spPr>
          <a:xfrm>
            <a:off x="3419475" y="5229225"/>
            <a:ext cx="3889375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58775" lvl="2" indent="0" algn="just" eaLnBrk="1" hangingPunct="1">
              <a:spcBef>
                <a:spcPct val="20000"/>
              </a:spcBef>
              <a:buClrTx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该指令序列将从键盘读入字符串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长度</a:t>
            </a:r>
            <a:r>
              <a:rPr lang="en-US" altLang="zh-CN" b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&lt;20) 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，并存入输入缓冲区</a:t>
            </a:r>
            <a:r>
              <a:rPr lang="en-US" altLang="zh-CN" b="1" err="1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buf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</a:p>
        </p:txBody>
      </p:sp>
      <p:sp>
        <p:nvSpPr>
          <p:cNvPr id="405509" name="矩形 405508"/>
          <p:cNvSpPr/>
          <p:nvPr/>
        </p:nvSpPr>
        <p:spPr>
          <a:xfrm>
            <a:off x="2555875" y="115888"/>
            <a:ext cx="4270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4.4 DOS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系统功能调用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50</a:t>
            </a:fld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矩形 406529"/>
          <p:cNvSpPr/>
          <p:nvPr/>
        </p:nvSpPr>
        <p:spPr>
          <a:xfrm>
            <a:off x="468313" y="2420938"/>
            <a:ext cx="4897437" cy="2087562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程序执行时等待键盘输入，一旦按“回车键”，输入字符及统计信息保存在缓冲区指定位置。假设输入：“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ABCDEF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回车”，内存分配如图所示：</a:t>
            </a:r>
          </a:p>
        </p:txBody>
      </p:sp>
      <p:graphicFrame>
        <p:nvGraphicFramePr>
          <p:cNvPr id="406531" name="对象 406530"/>
          <p:cNvGraphicFramePr/>
          <p:nvPr/>
        </p:nvGraphicFramePr>
        <p:xfrm>
          <a:off x="5638800" y="1600200"/>
          <a:ext cx="2743200" cy="459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r:id="rId3" imgW="1148080" imgH="1920240" progId="Visio.Drawing.6">
                  <p:embed/>
                </p:oleObj>
              </mc:Choice>
              <mc:Fallback>
                <p:oleObj r:id="rId3" imgW="1148080" imgH="1920240" progId="Visio.Drawing.6">
                  <p:embed/>
                  <p:pic>
                    <p:nvPicPr>
                      <p:cNvPr id="406531" name="对象 4065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38800" y="1600200"/>
                        <a:ext cx="2743200" cy="4594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32" name="矩形 406531"/>
          <p:cNvSpPr/>
          <p:nvPr/>
        </p:nvSpPr>
        <p:spPr>
          <a:xfrm>
            <a:off x="2555875" y="115888"/>
            <a:ext cx="4270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4.4 DOS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系统功能调用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51</a:t>
            </a:fld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矩形 398337"/>
          <p:cNvSpPr/>
          <p:nvPr/>
        </p:nvSpPr>
        <p:spPr>
          <a:xfrm>
            <a:off x="468313" y="863600"/>
            <a:ext cx="7632700" cy="5191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6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、程序正常返回系统的方法（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4CH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号系统功能调用）</a:t>
            </a:r>
          </a:p>
        </p:txBody>
      </p:sp>
      <p:sp>
        <p:nvSpPr>
          <p:cNvPr id="398339" name="矩形 398338"/>
          <p:cNvSpPr/>
          <p:nvPr/>
        </p:nvSpPr>
        <p:spPr>
          <a:xfrm>
            <a:off x="539750" y="1987550"/>
            <a:ext cx="7772400" cy="25209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lvl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功能：返回系统</a:t>
            </a:r>
          </a:p>
          <a:p>
            <a:pPr lvl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入口参数：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AL=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终止代码或无</a:t>
            </a:r>
          </a:p>
          <a:p>
            <a:pPr lvl="0" algn="just">
              <a:buNone/>
            </a:pPr>
            <a:endParaRPr lang="zh-CN" altLang="en-US" sz="2400" b="1" dirty="0">
              <a:solidFill>
                <a:schemeClr val="bg2"/>
              </a:solidFill>
              <a:effectLst/>
              <a:latin typeface="宋体" panose="02010600030101010101" pitchFamily="2" charset="-122"/>
            </a:endParaRPr>
          </a:p>
          <a:p>
            <a:pPr lvl="0" algn="just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格式：	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MOV AH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4CH	    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或	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MOV AX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4C00H</a:t>
            </a:r>
          </a:p>
          <a:p>
            <a:pPr lvl="0" algn="just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			INT 21H			INT 21H</a:t>
            </a:r>
          </a:p>
        </p:txBody>
      </p:sp>
      <p:sp>
        <p:nvSpPr>
          <p:cNvPr id="398340" name="矩形 398339"/>
          <p:cNvSpPr/>
          <p:nvPr/>
        </p:nvSpPr>
        <p:spPr>
          <a:xfrm>
            <a:off x="2555875" y="115888"/>
            <a:ext cx="42703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4.4 DOS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系统功能调用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52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77803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92" name="矩形 323591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323594" name="矩形 323593"/>
          <p:cNvSpPr/>
          <p:nvPr/>
        </p:nvSpPr>
        <p:spPr>
          <a:xfrm>
            <a:off x="2339975" y="1196975"/>
            <a:ext cx="5327650" cy="280808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lvl="0">
              <a:buNone/>
            </a:pPr>
            <a:r>
              <a:rPr lang="zh-CN" altLang="en-US" sz="2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一、顺序程序设计</a:t>
            </a:r>
          </a:p>
          <a:p>
            <a:pPr lvl="0">
              <a:buNone/>
            </a:pPr>
            <a:r>
              <a:rPr lang="zh-CN" altLang="en-US" sz="2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二、分支程序设计</a:t>
            </a:r>
          </a:p>
          <a:p>
            <a:pPr lvl="0">
              <a:buNone/>
            </a:pPr>
            <a:r>
              <a:rPr lang="zh-CN" altLang="en-US" sz="2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三、循环程序设计</a:t>
            </a:r>
          </a:p>
          <a:p>
            <a:pPr lvl="0">
              <a:buNone/>
            </a:pPr>
            <a:r>
              <a:rPr lang="zh-CN" altLang="en-US" sz="2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四、中断功能调用的程序设计</a:t>
            </a:r>
          </a:p>
          <a:p>
            <a:pPr lvl="0">
              <a:buNone/>
            </a:pPr>
            <a:r>
              <a:rPr lang="zh-CN" altLang="en-US" sz="28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五、子程序设计</a:t>
            </a:r>
          </a:p>
        </p:txBody>
      </p:sp>
      <p:sp>
        <p:nvSpPr>
          <p:cNvPr id="323595" name="矩形 323594"/>
          <p:cNvSpPr/>
          <p:nvPr/>
        </p:nvSpPr>
        <p:spPr>
          <a:xfrm>
            <a:off x="323850" y="4724400"/>
            <a:ext cx="8628063" cy="15525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汇编语言同高级语言一样，源程序的设计也有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大基本结构形式（顺序结构、分支结构、循环结构和子程序）。在实际的汇编程序设计中，单纯的一种结构程序并不多见，大多数都是多种结构的组合</a:t>
            </a:r>
            <a:r>
              <a:rPr lang="zh-CN" altLang="en-US" b="1" dirty="0">
                <a:solidFill>
                  <a:schemeClr val="bg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53</a:t>
            </a:fld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700" name="矩形 413699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13702" name="矩形 413701"/>
          <p:cNvSpPr/>
          <p:nvPr/>
        </p:nvSpPr>
        <p:spPr>
          <a:xfrm>
            <a:off x="323850" y="836712"/>
            <a:ext cx="3855543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一、顺序结构程序设计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13703" name="直接连接符 413702"/>
          <p:cNvSpPr/>
          <p:nvPr/>
        </p:nvSpPr>
        <p:spPr>
          <a:xfrm>
            <a:off x="8388350" y="2205038"/>
            <a:ext cx="0" cy="1905000"/>
          </a:xfrm>
          <a:prstGeom prst="line">
            <a:avLst/>
          </a:prstGeom>
          <a:ln w="76200" cap="flat" cmpd="tri">
            <a:solidFill>
              <a:srgbClr val="000000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413704" name="文本占位符 413703"/>
          <p:cNvSpPr>
            <a:spLocks noGrp="1"/>
          </p:cNvSpPr>
          <p:nvPr>
            <p:ph type="body" idx="1"/>
          </p:nvPr>
        </p:nvSpPr>
        <p:spPr>
          <a:xfrm>
            <a:off x="684213" y="1484313"/>
            <a:ext cx="7391400" cy="901700"/>
          </a:xfrm>
          <a:ln/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</a:rPr>
              <a:t>顺序程序完全按指令书写的前后顺序执行每一条指令，是最基本、最常见的程序结构</a:t>
            </a:r>
          </a:p>
        </p:txBody>
      </p:sp>
      <p:sp>
        <p:nvSpPr>
          <p:cNvPr id="413705" name="矩形 413704"/>
          <p:cNvSpPr/>
          <p:nvPr/>
        </p:nvSpPr>
        <p:spPr>
          <a:xfrm>
            <a:off x="827088" y="3573463"/>
            <a:ext cx="5689600" cy="9350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编程主要用到</a:t>
            </a:r>
            <a:r>
              <a:rPr lang="zh-CN" altLang="en-US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数据传送类指令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算术运算类指令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逻辑运算和移位类指令</a:t>
            </a:r>
            <a:r>
              <a:rPr lang="zh-CN" altLang="en-US" b="1" dirty="0">
                <a:solidFill>
                  <a:schemeClr val="bg2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54</a:t>
            </a:fld>
            <a:endParaRPr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文本占位符 418817"/>
          <p:cNvSpPr>
            <a:spLocks noGrp="1"/>
          </p:cNvSpPr>
          <p:nvPr>
            <p:ph type="body" idx="1"/>
          </p:nvPr>
        </p:nvSpPr>
        <p:spPr>
          <a:xfrm>
            <a:off x="323850" y="836613"/>
            <a:ext cx="8569325" cy="1081087"/>
          </a:xfr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示例：算术指令应用例子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----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两双字的二进制数加法。在内存的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First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Second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开始的区域中分别存放着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2F365H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5E024 H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两个数，要求求其和，并存入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Third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中。</a:t>
            </a:r>
          </a:p>
        </p:txBody>
      </p:sp>
      <p:sp>
        <p:nvSpPr>
          <p:cNvPr id="418819" name="矩形 418818"/>
          <p:cNvSpPr/>
          <p:nvPr/>
        </p:nvSpPr>
        <p:spPr>
          <a:xfrm>
            <a:off x="323850" y="1125538"/>
            <a:ext cx="8494713" cy="8001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>
              <a:buClr>
                <a:schemeClr val="accent2"/>
              </a:buClr>
              <a:defRPr sz="2400" kern="1200">
                <a:effectLst>
                  <a:outerShdw blurRad="38100" dist="38100" dir="2700000">
                    <a:srgbClr val="C0C0C0"/>
                  </a:outerShdw>
                </a:effectLst>
              </a:defRPr>
            </a:lvl2pPr>
            <a:lvl3pPr marL="1143000" lvl="2" indent="-228600">
              <a:defRPr sz="2000" kern="1200">
                <a:effectLst>
                  <a:outerShdw blurRad="38100" dist="38100" dir="2700000">
                    <a:srgbClr val="C0C0C0"/>
                  </a:outerShdw>
                </a:effectLst>
              </a:defRPr>
            </a:lvl3pPr>
            <a:lvl4pPr marL="1600200" lvl="3" indent="-228600">
              <a:defRPr sz="1800" kern="1200">
                <a:effectLst>
                  <a:outerShdw blurRad="38100" dist="38100" dir="2700000">
                    <a:srgbClr val="C0C0C0"/>
                  </a:outerShdw>
                </a:effectLst>
              </a:defRPr>
            </a:lvl4pPr>
            <a:lvl5pPr marL="2057400" lvl="4" indent="-228600">
              <a:defRPr sz="1800" kern="1200">
                <a:effectLst>
                  <a:outerShdw blurRad="38100" dist="38100" dir="2700000">
                    <a:srgbClr val="C0C0C0"/>
                  </a:outerShdw>
                </a:effectLst>
              </a:defRPr>
            </a:lvl5pPr>
          </a:lstStyle>
          <a:p>
            <a:pPr marL="0" lvl="0" indent="0" defTabSz="0">
              <a:buNone/>
              <a:tabLst>
                <a:tab pos="2005330" algn="l"/>
                <a:tab pos="3710305" algn="l"/>
              </a:tabLst>
            </a:pP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8820" name="矩形 418819"/>
          <p:cNvSpPr/>
          <p:nvPr/>
        </p:nvSpPr>
        <p:spPr>
          <a:xfrm>
            <a:off x="395288" y="3068638"/>
            <a:ext cx="3117850" cy="2282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 algn="l" eaLnBrk="1" hangingPunct="1">
              <a:spcBef>
                <a:spcPct val="20000"/>
              </a:spcBef>
            </a:pP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 AX, First </a:t>
            </a:r>
            <a:b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ADD AX, Second</a:t>
            </a:r>
            <a:b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 Third, AX </a:t>
            </a:r>
            <a:b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 AX, First+2 </a:t>
            </a:r>
            <a:b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b="1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ADC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AX, Second+2 </a:t>
            </a:r>
            <a:b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 Third+2, AX </a:t>
            </a:r>
          </a:p>
        </p:txBody>
      </p:sp>
      <p:pic>
        <p:nvPicPr>
          <p:cNvPr id="418821" name="图片 4188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738" y="1989138"/>
            <a:ext cx="4752975" cy="43926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8822" name="矩形 418821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55</a:t>
            </a:fld>
            <a:endParaRPr lang="zh-CN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文本占位符 419841"/>
          <p:cNvSpPr>
            <a:spLocks noGrp="1"/>
          </p:cNvSpPr>
          <p:nvPr>
            <p:ph type="body" idx="1"/>
          </p:nvPr>
        </p:nvSpPr>
        <p:spPr>
          <a:xfrm>
            <a:off x="180975" y="836067"/>
            <a:ext cx="6696075" cy="5329237"/>
          </a:xfrm>
          <a:solidFill>
            <a:schemeClr val="tx1">
              <a:alpha val="100000"/>
            </a:schemeClr>
          </a:solidFill>
          <a:ln/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DATA   SEGMENT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9900"/>
                </a:solidFill>
                <a:effectLst/>
                <a:latin typeface="Times New Roman" panose="02020603050405020304" pitchFamily="18" charset="0"/>
              </a:rPr>
              <a:t>First DW   0F365H</a:t>
            </a:r>
            <a:r>
              <a:rPr lang="zh-CN" altLang="en-US" sz="2400" b="1" dirty="0">
                <a:solidFill>
                  <a:srgbClr val="0099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9900"/>
                </a:solidFill>
                <a:effectLst/>
                <a:latin typeface="Times New Roman" panose="02020603050405020304" pitchFamily="18" charset="0"/>
              </a:rPr>
              <a:t>0002H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9900"/>
                </a:solidFill>
                <a:effectLst/>
                <a:latin typeface="Times New Roman" panose="02020603050405020304" pitchFamily="18" charset="0"/>
              </a:rPr>
              <a:t>Second DW  0E024 H</a:t>
            </a:r>
            <a:r>
              <a:rPr lang="zh-CN" altLang="en-US" sz="2400" b="1" dirty="0">
                <a:solidFill>
                  <a:srgbClr val="0099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9900"/>
                </a:solidFill>
                <a:effectLst/>
                <a:latin typeface="Times New Roman" panose="02020603050405020304" pitchFamily="18" charset="0"/>
              </a:rPr>
              <a:t>0005 H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9900"/>
                </a:solidFill>
                <a:effectLst/>
                <a:latin typeface="Times New Roman" panose="02020603050405020304" pitchFamily="18" charset="0"/>
              </a:rPr>
              <a:t>Third DW  2 DUP</a:t>
            </a:r>
            <a:r>
              <a:rPr lang="zh-CN" altLang="en-US" sz="2400" b="1" dirty="0">
                <a:solidFill>
                  <a:srgbClr val="009900"/>
                </a:solidFill>
                <a:effectLst/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9900"/>
                </a:solidFill>
                <a:effectLst/>
                <a:latin typeface="Times New Roman" panose="02020603050405020304" pitchFamily="18" charset="0"/>
              </a:rPr>
              <a:t>?</a:t>
            </a:r>
            <a:r>
              <a:rPr lang="zh-CN" altLang="en-US" sz="2400" b="1" dirty="0">
                <a:solidFill>
                  <a:srgbClr val="009900"/>
                </a:solidFill>
                <a:effectLst/>
                <a:latin typeface="Times New Roman" panose="02020603050405020304" pitchFamily="18" charset="0"/>
              </a:rPr>
              <a:t>）</a:t>
            </a:r>
            <a:endParaRPr lang="en-US" altLang="zh-CN" sz="2400" b="1" dirty="0">
              <a:solidFill>
                <a:srgbClr val="009900"/>
              </a:solidFill>
              <a:effectLst/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DATA   ENDS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CODE   SEGMENT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</a:rPr>
              <a:t>            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ASSUME    CS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CODE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DS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DATA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START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：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   　　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MOV    AX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DATA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　　　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MOV    DS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AX</a:t>
            </a:r>
          </a:p>
          <a:p>
            <a:pPr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             </a:t>
            </a:r>
            <a:r>
              <a:rPr lang="en-US" altLang="zh-CN" sz="2400" b="1" dirty="0">
                <a:solidFill>
                  <a:srgbClr val="FF33CC"/>
                </a:solidFill>
                <a:effectLst/>
                <a:latin typeface="Times New Roman" panose="02020603050405020304" pitchFamily="18" charset="0"/>
              </a:rPr>
              <a:t>MOV AX, First </a:t>
            </a:r>
            <a:br>
              <a:rPr lang="en-US" altLang="zh-CN" sz="2400" b="1" dirty="0">
                <a:solidFill>
                  <a:srgbClr val="FF33CC"/>
                </a:solidFill>
                <a:effectLst/>
                <a:latin typeface="Times New Roman" panose="02020603050405020304" pitchFamily="18" charset="0"/>
              </a:rPr>
            </a:br>
            <a:r>
              <a:rPr lang="en-US" altLang="zh-CN" sz="2400" b="1" dirty="0">
                <a:solidFill>
                  <a:srgbClr val="FF33CC"/>
                </a:solidFill>
                <a:effectLst/>
                <a:latin typeface="Times New Roman" panose="02020603050405020304" pitchFamily="18" charset="0"/>
              </a:rPr>
              <a:t>         ADD AX, Second</a:t>
            </a:r>
            <a:br>
              <a:rPr lang="en-US" altLang="zh-CN" sz="2400" b="1" dirty="0">
                <a:solidFill>
                  <a:srgbClr val="FF33CC"/>
                </a:solidFill>
                <a:effectLst/>
                <a:latin typeface="Times New Roman" panose="02020603050405020304" pitchFamily="18" charset="0"/>
              </a:rPr>
            </a:br>
            <a:r>
              <a:rPr lang="en-US" altLang="zh-CN" sz="2400" b="1" dirty="0">
                <a:solidFill>
                  <a:srgbClr val="FF33CC"/>
                </a:solidFill>
                <a:effectLst/>
                <a:latin typeface="Times New Roman" panose="02020603050405020304" pitchFamily="18" charset="0"/>
              </a:rPr>
              <a:t>         MOV Third, AX</a:t>
            </a:r>
          </a:p>
        </p:txBody>
      </p:sp>
      <p:sp>
        <p:nvSpPr>
          <p:cNvPr id="419843" name="矩形 419842"/>
          <p:cNvSpPr/>
          <p:nvPr/>
        </p:nvSpPr>
        <p:spPr>
          <a:xfrm>
            <a:off x="5004172" y="3840254"/>
            <a:ext cx="4032324" cy="2973122"/>
          </a:xfrm>
          <a:prstGeom prst="rect">
            <a:avLst/>
          </a:prstGeom>
          <a:solidFill>
            <a:schemeClr val="accent4"/>
          </a:solidFill>
          <a:ln w="9525">
            <a:noFill/>
          </a:ln>
        </p:spPr>
        <p:txBody>
          <a:bodyPr wrap="square">
            <a:spAutoFit/>
          </a:bodyPr>
          <a:lstStyle/>
          <a:p>
            <a:pPr lvl="0" algn="l" eaLnBrk="1" hangingPunct="1">
              <a:spcBef>
                <a:spcPct val="0"/>
              </a:spcBef>
              <a:buClr>
                <a:schemeClr val="tx1"/>
              </a:buClr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b="1" dirty="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 AX, First+2 </a:t>
            </a:r>
            <a:br>
              <a:rPr lang="en-US" altLang="zh-CN" b="1" dirty="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ADC</a:t>
            </a:r>
            <a:r>
              <a:rPr lang="en-US" altLang="zh-CN" b="1" dirty="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AX, Second+2 </a:t>
            </a:r>
            <a:br>
              <a:rPr lang="en-US" altLang="zh-CN" b="1" dirty="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MOV Third+2, AX</a:t>
            </a:r>
          </a:p>
          <a:p>
            <a:pPr lvl="0" algn="l" eaLnBrk="1" hangingPunct="1">
              <a:spcBef>
                <a:spcPct val="20000"/>
              </a:spcBef>
              <a:buClrTx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b="1" dirty="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    AH</a:t>
            </a:r>
            <a:r>
              <a:rPr lang="zh-CN" altLang="en-US" b="1" dirty="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4CH</a:t>
            </a:r>
          </a:p>
          <a:p>
            <a:pPr lvl="0" algn="l" eaLnBrk="1" hangingPunct="1">
              <a:spcBef>
                <a:spcPct val="20000"/>
              </a:spcBef>
              <a:buClrTx/>
            </a:pPr>
            <a:r>
              <a:rPr lang="en-US" altLang="zh-CN" b="1" dirty="0">
                <a:solidFill>
                  <a:srgbClr val="66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INT    21H</a:t>
            </a:r>
          </a:p>
          <a:p>
            <a:pPr lvl="0" algn="l" eaLnBrk="1" hangingPunct="1">
              <a:spcBef>
                <a:spcPct val="20000"/>
              </a:spcBef>
              <a:buClrTx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ENDS</a:t>
            </a:r>
          </a:p>
          <a:p>
            <a:pPr lvl="0" algn="l" eaLnBrk="1" hangingPunct="1">
              <a:spcBef>
                <a:spcPct val="20000"/>
              </a:spcBef>
              <a:buClrTx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　 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    START </a:t>
            </a:r>
          </a:p>
        </p:txBody>
      </p:sp>
      <p:sp>
        <p:nvSpPr>
          <p:cNvPr id="419845" name="矩形 419844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56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004172" y="967045"/>
            <a:ext cx="35878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FF"/>
                </a:solidFill>
              </a:rPr>
              <a:t>示例：</a:t>
            </a:r>
            <a:r>
              <a:rPr lang="zh-CN" altLang="en-US" b="1" dirty="0">
                <a:solidFill>
                  <a:srgbClr val="0000FF"/>
                </a:solidFill>
              </a:rPr>
              <a:t>算术运算指令</a:t>
            </a:r>
            <a:r>
              <a:rPr lang="zh-CN" altLang="en-US" b="1" dirty="0">
                <a:solidFill>
                  <a:schemeClr val="bg2"/>
                </a:solidFill>
              </a:rPr>
              <a:t>例子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6" name="矩形 422915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22917" name="矩形 422916"/>
          <p:cNvSpPr/>
          <p:nvPr/>
        </p:nvSpPr>
        <p:spPr>
          <a:xfrm>
            <a:off x="395288" y="803603"/>
            <a:ext cx="3972562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二、分支结构程序设计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22918" name="矩形 422917"/>
          <p:cNvSpPr/>
          <p:nvPr/>
        </p:nvSpPr>
        <p:spPr>
          <a:xfrm>
            <a:off x="323850" y="1477874"/>
            <a:ext cx="8496300" cy="1200329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 eaLnBrk="0" hangingPunct="0"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分支程序根据条件是真或假决定执行与否，判断的条件是各种指令，如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CMP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TEST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等执行后形成的状态标志与条件转移指令</a:t>
            </a:r>
            <a:r>
              <a:rPr lang="en-US" altLang="zh-CN" sz="2400" b="1" dirty="0" err="1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Jcc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联合可以实现分支控制</a:t>
            </a:r>
          </a:p>
        </p:txBody>
      </p:sp>
      <p:grpSp>
        <p:nvGrpSpPr>
          <p:cNvPr id="422923" name="组合 422922"/>
          <p:cNvGrpSpPr/>
          <p:nvPr/>
        </p:nvGrpSpPr>
        <p:grpSpPr>
          <a:xfrm>
            <a:off x="7667625" y="2492375"/>
            <a:ext cx="1085850" cy="1752600"/>
            <a:chOff x="4752" y="2688"/>
            <a:chExt cx="684" cy="1104"/>
          </a:xfrm>
        </p:grpSpPr>
        <p:sp>
          <p:nvSpPr>
            <p:cNvPr id="422919" name="直接连接符 422918"/>
            <p:cNvSpPr/>
            <p:nvPr/>
          </p:nvSpPr>
          <p:spPr>
            <a:xfrm>
              <a:off x="5100" y="2688"/>
              <a:ext cx="0" cy="576"/>
            </a:xfrm>
            <a:prstGeom prst="line">
              <a:avLst/>
            </a:prstGeom>
            <a:ln w="76200" cap="flat" cmpd="tri">
              <a:solidFill>
                <a:srgbClr val="0000FF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22920" name="直接连接符 422919"/>
            <p:cNvSpPr/>
            <p:nvPr/>
          </p:nvSpPr>
          <p:spPr>
            <a:xfrm flipH="1">
              <a:off x="4752" y="3264"/>
              <a:ext cx="288" cy="528"/>
            </a:xfrm>
            <a:prstGeom prst="line">
              <a:avLst/>
            </a:prstGeom>
            <a:ln w="76200" cap="flat" cmpd="tri">
              <a:solidFill>
                <a:srgbClr val="0000FF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22921" name="直接连接符 422920"/>
            <p:cNvSpPr/>
            <p:nvPr/>
          </p:nvSpPr>
          <p:spPr>
            <a:xfrm>
              <a:off x="5148" y="3264"/>
              <a:ext cx="288" cy="528"/>
            </a:xfrm>
            <a:prstGeom prst="line">
              <a:avLst/>
            </a:prstGeom>
            <a:ln w="76200" cap="flat" cmpd="tri">
              <a:solidFill>
                <a:srgbClr val="0000FF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422922" name="矩形 422921"/>
          <p:cNvSpPr/>
          <p:nvPr/>
        </p:nvSpPr>
        <p:spPr>
          <a:xfrm>
            <a:off x="395288" y="2852738"/>
            <a:ext cx="6161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用无条件转移指令</a:t>
            </a:r>
            <a:r>
              <a:rPr lang="en-US" altLang="zh-CN" b="1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JMP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也可以实现分支控制。</a:t>
            </a:r>
          </a:p>
        </p:txBody>
      </p:sp>
      <p:sp>
        <p:nvSpPr>
          <p:cNvPr id="422993" name="矩形 422992"/>
          <p:cNvSpPr/>
          <p:nvPr/>
        </p:nvSpPr>
        <p:spPr>
          <a:xfrm>
            <a:off x="368300" y="3429000"/>
            <a:ext cx="51403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汇编语言中的分支通常有</a:t>
            </a:r>
            <a:r>
              <a:rPr lang="zh-CN" altLang="en-US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三种</a:t>
            </a:r>
            <a:r>
              <a:rPr lang="zh-CN" altLang="en-US" b="1" dirty="0">
                <a:solidFill>
                  <a:srgbClr val="000000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形式：</a:t>
            </a: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22994" name="矩形 422993"/>
          <p:cNvSpPr/>
          <p:nvPr/>
        </p:nvSpPr>
        <p:spPr>
          <a:xfrm>
            <a:off x="468313" y="4113213"/>
            <a:ext cx="5408612" cy="118745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l" eaLnBrk="0" hangingPunc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IF-THEN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型：也称</a:t>
            </a:r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单分支结构</a:t>
            </a:r>
          </a:p>
          <a:p>
            <a:pPr lvl="0" algn="l" eaLnBrk="0" hangingPunc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IF-THEN-ELSE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型：也称</a:t>
            </a:r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双分支结构</a:t>
            </a:r>
          </a:p>
          <a:p>
            <a:pPr lvl="0" algn="l" eaLnBrk="0" hangingPunc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DO-CASE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型：也称</a:t>
            </a:r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多分支结构</a:t>
            </a: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57</a:t>
            </a:fld>
            <a:endParaRPr lang="zh-CN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矩形 423937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pic>
        <p:nvPicPr>
          <p:cNvPr id="423946" name="图片 4239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88" y="1484313"/>
            <a:ext cx="7489825" cy="30432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3947" name="矩形 423946"/>
          <p:cNvSpPr/>
          <p:nvPr/>
        </p:nvSpPr>
        <p:spPr>
          <a:xfrm>
            <a:off x="1116013" y="5084763"/>
            <a:ext cx="36083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掌握</a:t>
            </a:r>
            <a:r>
              <a:rPr lang="zh-CN" altLang="en-US" b="1" dirty="0">
                <a:solidFill>
                  <a:srgbClr val="000000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：分支程序</a:t>
            </a:r>
            <a:r>
              <a:rPr lang="zh-CN" altLang="en-US" b="1" dirty="0">
                <a:solidFill>
                  <a:srgbClr val="FF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设计要领</a:t>
            </a: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58</a:t>
            </a:fld>
            <a:endParaRPr lang="zh-CN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7" name="文本占位符 425986"/>
          <p:cNvSpPr>
            <a:spLocks noGrp="1"/>
          </p:cNvSpPr>
          <p:nvPr>
            <p:ph type="body" idx="1"/>
          </p:nvPr>
        </p:nvSpPr>
        <p:spPr>
          <a:xfrm>
            <a:off x="179388" y="836712"/>
            <a:ext cx="6768876" cy="5327650"/>
          </a:xfrm>
          <a:ln/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示例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单分支程序设计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例子。编程求｜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－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｜，结果存于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RESULT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单元中，设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都为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16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位数据。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DATA  SEGMENT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s-E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    </a:t>
            </a:r>
            <a:r>
              <a:rPr lang="zh-CN" altLang="es-E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　</a:t>
            </a:r>
            <a:r>
              <a:rPr lang="es-E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DW  -10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s-E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Y    </a:t>
            </a:r>
            <a:r>
              <a:rPr lang="zh-CN" altLang="es-E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　</a:t>
            </a:r>
            <a:r>
              <a:rPr lang="es-E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DW  20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s-E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RESULT DW ?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DATA  ENDS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STACK SEGMENT STACK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</a:rPr>
              <a:t>　　　　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DB 100 DUP(?)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STACK ENDS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CODE  SEGMENT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</a:rPr>
              <a:t>　　　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ASSUME CS:CODE,DS:DATA,SS:STACK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START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　　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MOV AX,DATA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　　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MOV DS,AX</a:t>
            </a:r>
            <a:r>
              <a:rPr lang="en-US" altLang="zh-CN" sz="2400" b="1" dirty="0">
                <a:effectLst/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25988" name="矩形 425987"/>
          <p:cNvSpPr/>
          <p:nvPr/>
        </p:nvSpPr>
        <p:spPr>
          <a:xfrm>
            <a:off x="1187562" y="5416650"/>
            <a:ext cx="2376264" cy="747712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5989" name="矩形 425988"/>
          <p:cNvSpPr/>
          <p:nvPr/>
        </p:nvSpPr>
        <p:spPr>
          <a:xfrm>
            <a:off x="5112060" y="1693262"/>
            <a:ext cx="3672408" cy="2862322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square">
            <a:spAutoFit/>
          </a:bodyPr>
          <a:lstStyle/>
          <a:p>
            <a:pPr lvl="0" algn="l" eaLnBrk="1" hangingPunct="1">
              <a:spcBef>
                <a:spcPct val="0"/>
              </a:spcBef>
              <a:buClrTx/>
            </a:pP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　          </a:t>
            </a:r>
            <a:r>
              <a:rPr lang="en-US" altLang="zh-CN" sz="2000" b="1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MOV AX,X</a:t>
            </a:r>
          </a:p>
          <a:p>
            <a:pPr lvl="0" algn="l" eaLnBrk="1" hangingPunct="1">
              <a:spcBef>
                <a:spcPct val="0"/>
              </a:spcBef>
              <a:buClrTx/>
            </a:pPr>
            <a:r>
              <a:rPr lang="en-US" altLang="zh-CN" sz="2000" b="1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</a:t>
            </a:r>
            <a:r>
              <a:rPr lang="en-US" altLang="zh-CN" sz="2000" b="1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SUB AX,Y</a:t>
            </a:r>
          </a:p>
          <a:p>
            <a:pPr lvl="0" algn="l" eaLnBrk="1" hangingPunct="1">
              <a:spcBef>
                <a:spcPct val="0"/>
              </a:spcBef>
              <a:buClrTx/>
            </a:pPr>
            <a:r>
              <a:rPr lang="en-US" altLang="zh-CN" sz="2000" b="1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JNS NONNEG</a:t>
            </a:r>
          </a:p>
          <a:p>
            <a:pPr lvl="0" algn="l" eaLnBrk="1" hangingPunct="1">
              <a:spcBef>
                <a:spcPct val="0"/>
              </a:spcBef>
              <a:buClrTx/>
            </a:pPr>
            <a:r>
              <a:rPr lang="en-US" altLang="zh-CN" sz="2000" b="1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NEG AX</a:t>
            </a:r>
          </a:p>
          <a:p>
            <a:pPr lvl="0" algn="l" eaLnBrk="1" hangingPunct="1">
              <a:spcBef>
                <a:spcPct val="0"/>
              </a:spcBef>
              <a:buClrTx/>
            </a:pPr>
            <a:r>
              <a:rPr lang="en-US" altLang="zh-CN" sz="2000" b="1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NONNEG: MOV RESULT,AX</a:t>
            </a:r>
          </a:p>
          <a:p>
            <a:pPr lvl="0" algn="l" eaLnBrk="1" hangingPunct="1">
              <a:spcBef>
                <a:spcPct val="0"/>
              </a:spcBef>
              <a:buClrTx/>
            </a:pPr>
            <a:r>
              <a:rPr lang="en-US" altLang="zh-CN" sz="2000" b="1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MOV AH,4CH</a:t>
            </a:r>
          </a:p>
          <a:p>
            <a:pPr lvl="0" algn="l" eaLnBrk="1" hangingPunct="1">
              <a:spcBef>
                <a:spcPct val="0"/>
              </a:spcBef>
              <a:buClrTx/>
            </a:pPr>
            <a:r>
              <a:rPr lang="en-US" altLang="zh-CN" sz="2000" b="1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INT 21H</a:t>
            </a:r>
          </a:p>
          <a:p>
            <a:pPr lvl="0" algn="l" eaLnBrk="1" hangingPunct="1">
              <a:spcBef>
                <a:spcPct val="0"/>
              </a:spcBef>
              <a:buClrTx/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CODE    ENDS</a:t>
            </a:r>
          </a:p>
          <a:p>
            <a:pPr lvl="0" algn="l" eaLnBrk="1" hangingPunct="1">
              <a:spcBef>
                <a:spcPct val="0"/>
              </a:spcBef>
              <a:buClrTx/>
            </a:pPr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</a:t>
            </a:r>
            <a:r>
              <a:rPr lang="en-US" altLang="zh-CN" sz="2000" b="1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END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START</a:t>
            </a:r>
          </a:p>
        </p:txBody>
      </p:sp>
      <p:sp>
        <p:nvSpPr>
          <p:cNvPr id="425990" name="矩形 425989"/>
          <p:cNvSpPr/>
          <p:nvPr/>
        </p:nvSpPr>
        <p:spPr>
          <a:xfrm>
            <a:off x="6156176" y="2636912"/>
            <a:ext cx="1205880" cy="32112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59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矩形 414722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14725" name="标题 414724"/>
          <p:cNvSpPr>
            <a:spLocks noGrp="1"/>
          </p:cNvSpPr>
          <p:nvPr>
            <p:ph type="title"/>
          </p:nvPr>
        </p:nvSpPr>
        <p:spPr>
          <a:xfrm>
            <a:off x="179388" y="836613"/>
            <a:ext cx="8640762" cy="1152525"/>
          </a:xfrm>
          <a:noFill/>
          <a:ln>
            <a:noFill/>
          </a:ln>
        </p:spPr>
        <p:txBody>
          <a:bodyPr anchor="ctr"/>
          <a:lstStyle/>
          <a:p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示例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双分支程序设计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。编写一程序，显示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寄存器中所存数据的最高位。即若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的最高位为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，则在屏幕上显示“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1”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；否则显示“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0”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4727" name="矩形 414726"/>
          <p:cNvSpPr/>
          <p:nvPr/>
        </p:nvSpPr>
        <p:spPr>
          <a:xfrm>
            <a:off x="34925" y="2182439"/>
            <a:ext cx="5040313" cy="4007251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indent="1000125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SEGMENT</a:t>
            </a:r>
          </a:p>
          <a:p>
            <a:pPr lvl="0" indent="1000125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ASSUME  CS:CODE </a:t>
            </a:r>
          </a:p>
          <a:p>
            <a:pPr lvl="0" indent="1000125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START:SHL  BX,1	</a:t>
            </a:r>
          </a:p>
          <a:p>
            <a:pPr lvl="0" indent="1000125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JC  ONE  	</a:t>
            </a:r>
          </a:p>
          <a:p>
            <a:pPr lvl="0" indent="1000125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MOV  DL,’0’	</a:t>
            </a:r>
          </a:p>
          <a:p>
            <a:pPr lvl="0" indent="1000125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JMP  ZER</a:t>
            </a:r>
            <a:r>
              <a:rPr lang="en-US" altLang="zh-CN" b="1" dirty="0">
                <a:solidFill>
                  <a:srgbClr val="FF00FF"/>
                </a:solidFill>
              </a:rPr>
              <a:t>O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</a:p>
          <a:p>
            <a:pPr lvl="0" indent="1000125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ONE:	  MOV  DL,’1’	</a:t>
            </a:r>
          </a:p>
          <a:p>
            <a:pPr lvl="0" indent="1000125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ZERO:  MOV  AH,2</a:t>
            </a:r>
          </a:p>
          <a:p>
            <a:pPr lvl="0" indent="1000125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INT  21H	</a:t>
            </a:r>
          </a:p>
        </p:txBody>
      </p:sp>
      <p:sp>
        <p:nvSpPr>
          <p:cNvPr id="414728" name="矩形 414727"/>
          <p:cNvSpPr/>
          <p:nvPr/>
        </p:nvSpPr>
        <p:spPr>
          <a:xfrm>
            <a:off x="5651500" y="3284538"/>
            <a:ext cx="3384550" cy="17716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MOV  AH,4CH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INT  21H 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ENDS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END  START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60</a:t>
            </a:fld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3" name="矩形 424962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24966" name="标题 424965"/>
          <p:cNvSpPr>
            <a:spLocks noGrp="1"/>
          </p:cNvSpPr>
          <p:nvPr>
            <p:ph type="title"/>
          </p:nvPr>
        </p:nvSpPr>
        <p:spPr>
          <a:xfrm>
            <a:off x="395536" y="1196752"/>
            <a:ext cx="8497887" cy="830997"/>
          </a:xfrm>
          <a:noFill/>
          <a:ln>
            <a:noFill/>
          </a:ln>
        </p:spPr>
        <p:txBody>
          <a:bodyPr anchor="ctr">
            <a:sp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75000"/>
            </a:pP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示例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多分支程序设计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。编写计算以下函数值的程序，设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都为有符号字变量（不考虑溢出情况） </a:t>
            </a:r>
          </a:p>
        </p:txBody>
      </p:sp>
      <p:pic>
        <p:nvPicPr>
          <p:cNvPr id="424968" name="图片 4249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338" y="2781300"/>
            <a:ext cx="2519362" cy="1081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61</a:t>
            </a:fld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矩形 430081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30086" name="矩形 430085"/>
          <p:cNvSpPr/>
          <p:nvPr/>
        </p:nvSpPr>
        <p:spPr>
          <a:xfrm>
            <a:off x="1620838" y="871538"/>
            <a:ext cx="6119812" cy="55816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  SEGMENT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          DW  -10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          DW  ?,?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  ENDS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STACK SEGMENT  STACK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DB  200  DUP(0)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STACK  ENDS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SEGMENT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ASSUME  DS:DATA,SS:STACK,CS:CODE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START:MOV  AX,DATA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MOV  DS,AX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XOR  AX,AX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XOR  DX,D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MOV  AX,X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fr-FR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CMP </a:t>
            </a: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AX,0</a:t>
            </a:r>
            <a:r>
              <a:rPr lang="fr-FR" altLang="zh-CN" dirty="0"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62</a:t>
            </a:fld>
            <a:endParaRPr lang="zh-CN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矩形 431105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31107" name="矩形 431106"/>
          <p:cNvSpPr/>
          <p:nvPr/>
        </p:nvSpPr>
        <p:spPr>
          <a:xfrm>
            <a:off x="1620838" y="908050"/>
            <a:ext cx="6838950" cy="55086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</a:t>
            </a:r>
            <a:r>
              <a:rPr lang="fr-FR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JGE </a:t>
            </a: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CASE23	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fr-FR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</a:t>
            </a: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ADD  AX,20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JMP  RESULT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CASE23:</a:t>
            </a:r>
            <a:r>
              <a:rPr lang="fr-FR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CMP</a:t>
            </a: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AX,10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</a:t>
            </a:r>
            <a:r>
              <a:rPr lang="fr-FR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JG </a:t>
            </a: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CASE3	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fr-FR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</a:t>
            </a: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  BX,20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IMUL  BX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JMP  RESULT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CASE3:  SUB  AX,80	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RESULT: MOV  Y,AX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MOV  Y+1,DX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MOV  AH,4CH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INT  21H 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 ENDS</a:t>
            </a:r>
          </a:p>
          <a:p>
            <a:pPr lvl="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END  START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63</a:t>
            </a:fld>
            <a:endParaRPr lang="zh-CN" alt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9" name="矩形 429058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29061" name="矩形 429060"/>
          <p:cNvSpPr/>
          <p:nvPr/>
        </p:nvSpPr>
        <p:spPr>
          <a:xfrm>
            <a:off x="395288" y="803603"/>
            <a:ext cx="342106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三、循环程序设计</a:t>
            </a:r>
          </a:p>
        </p:txBody>
      </p:sp>
      <p:sp>
        <p:nvSpPr>
          <p:cNvPr id="429062" name="矩形 429061"/>
          <p:cNvSpPr/>
          <p:nvPr/>
        </p:nvSpPr>
        <p:spPr>
          <a:xfrm>
            <a:off x="395288" y="1268413"/>
            <a:ext cx="3556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、循环程序的结构形式 </a:t>
            </a:r>
          </a:p>
        </p:txBody>
      </p:sp>
      <p:pic>
        <p:nvPicPr>
          <p:cNvPr id="429063" name="图片 4290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13" y="1773238"/>
            <a:ext cx="5400675" cy="33782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29070" name="组合 429069"/>
          <p:cNvGrpSpPr/>
          <p:nvPr/>
        </p:nvGrpSpPr>
        <p:grpSpPr>
          <a:xfrm>
            <a:off x="7812088" y="2492375"/>
            <a:ext cx="704850" cy="2133600"/>
            <a:chOff x="5067" y="1525"/>
            <a:chExt cx="444" cy="1344"/>
          </a:xfrm>
        </p:grpSpPr>
        <p:sp>
          <p:nvSpPr>
            <p:cNvPr id="429064" name="直接连接符 429063"/>
            <p:cNvSpPr/>
            <p:nvPr/>
          </p:nvSpPr>
          <p:spPr>
            <a:xfrm>
              <a:off x="5511" y="1525"/>
              <a:ext cx="0" cy="912"/>
            </a:xfrm>
            <a:prstGeom prst="line">
              <a:avLst/>
            </a:prstGeom>
            <a:ln w="76200" cap="flat" cmpd="tri">
              <a:solidFill>
                <a:srgbClr val="0000FF"/>
              </a:solidFill>
              <a:prstDash val="solid"/>
              <a:headEnd type="oval" w="med" len="med"/>
              <a:tailEnd type="triangle" w="med" len="med"/>
            </a:ln>
          </p:spPr>
        </p:sp>
        <p:grpSp>
          <p:nvGrpSpPr>
            <p:cNvPr id="429065" name="组合 429064"/>
            <p:cNvGrpSpPr/>
            <p:nvPr/>
          </p:nvGrpSpPr>
          <p:grpSpPr>
            <a:xfrm>
              <a:off x="5067" y="1525"/>
              <a:ext cx="432" cy="912"/>
              <a:chOff x="4656" y="2688"/>
              <a:chExt cx="432" cy="912"/>
            </a:xfrm>
          </p:grpSpPr>
          <p:sp>
            <p:nvSpPr>
              <p:cNvPr id="429066" name="直接连接符 429065"/>
              <p:cNvSpPr/>
              <p:nvPr/>
            </p:nvSpPr>
            <p:spPr>
              <a:xfrm flipH="1">
                <a:off x="4656" y="3600"/>
                <a:ext cx="432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9067" name="直接连接符 429066"/>
              <p:cNvSpPr/>
              <p:nvPr/>
            </p:nvSpPr>
            <p:spPr>
              <a:xfrm flipV="1">
                <a:off x="4656" y="2688"/>
                <a:ext cx="0" cy="91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9068" name="直接连接符 429067"/>
              <p:cNvSpPr/>
              <p:nvPr/>
            </p:nvSpPr>
            <p:spPr>
              <a:xfrm>
                <a:off x="4656" y="2688"/>
                <a:ext cx="384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429069" name="直接连接符 429068"/>
            <p:cNvSpPr/>
            <p:nvPr/>
          </p:nvSpPr>
          <p:spPr>
            <a:xfrm>
              <a:off x="5511" y="2461"/>
              <a:ext cx="0" cy="408"/>
            </a:xfrm>
            <a:prstGeom prst="line">
              <a:avLst/>
            </a:prstGeom>
            <a:ln w="5715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429071" name="矩形 429070"/>
          <p:cNvSpPr/>
          <p:nvPr/>
        </p:nvSpPr>
        <p:spPr>
          <a:xfrm>
            <a:off x="179388" y="5440790"/>
            <a:ext cx="8640762" cy="830997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按层次分为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单重循环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多重循环</a:t>
            </a:r>
          </a:p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按循环次数是否已知，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通常分为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计数控制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条件控制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64</a:t>
            </a:fld>
            <a:endParaRPr lang="zh-CN" alt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1" name="矩形 432130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32133" name="矩形 432132"/>
          <p:cNvSpPr/>
          <p:nvPr/>
        </p:nvSpPr>
        <p:spPr>
          <a:xfrm>
            <a:off x="250825" y="836613"/>
            <a:ext cx="38623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、循环结构程序设计举例 </a:t>
            </a:r>
          </a:p>
        </p:txBody>
      </p:sp>
      <p:sp>
        <p:nvSpPr>
          <p:cNvPr id="432135" name="文本占位符 432134"/>
          <p:cNvSpPr>
            <a:spLocks noGrp="1"/>
          </p:cNvSpPr>
          <p:nvPr>
            <p:ph type="body" idx="1"/>
          </p:nvPr>
        </p:nvSpPr>
        <p:spPr>
          <a:xfrm>
            <a:off x="395288" y="2475418"/>
            <a:ext cx="4334072" cy="3046988"/>
          </a:xfrm>
          <a:solidFill>
            <a:srgbClr val="FFFF99">
              <a:alpha val="100000"/>
            </a:srgbClr>
          </a:solidFill>
          <a:ln/>
        </p:spPr>
        <p:txBody>
          <a:bodyPr vert="horz" wrap="none" lIns="91440" tIns="45720" rIns="91440" bIns="45720" anchor="ctr">
            <a:spAutoFit/>
          </a:bodyPr>
          <a:lstStyle/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DATA SEGMENT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RSLT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DW ?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DATA ENDS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CODE SEGMENT 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ASSUME CS:CODE,DS:DATA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START: 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MOV AX,DATA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MOV DS,AX	</a:t>
            </a:r>
          </a:p>
        </p:txBody>
      </p:sp>
      <p:sp>
        <p:nvSpPr>
          <p:cNvPr id="432136" name="矩形 432135"/>
          <p:cNvSpPr/>
          <p:nvPr/>
        </p:nvSpPr>
        <p:spPr>
          <a:xfrm>
            <a:off x="179388" y="1341438"/>
            <a:ext cx="878510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l">
              <a:spcBef>
                <a:spcPct val="60000"/>
              </a:spcBef>
              <a:buClr>
                <a:schemeClr val="tx1"/>
              </a:buClr>
            </a:pPr>
            <a:r>
              <a:rPr lang="zh-CN" altLang="en-US" b="1" dirty="0">
                <a:solidFill>
                  <a:srgbClr val="000000"/>
                </a:solidFill>
              </a:rPr>
              <a:t>示例：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计数控制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。计算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的和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结果送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RSLT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单元</a:t>
            </a:r>
          </a:p>
        </p:txBody>
      </p:sp>
      <p:sp>
        <p:nvSpPr>
          <p:cNvPr id="432137" name="矩形 432136"/>
          <p:cNvSpPr/>
          <p:nvPr/>
        </p:nvSpPr>
        <p:spPr>
          <a:xfrm>
            <a:off x="5618889" y="1890743"/>
            <a:ext cx="3129575" cy="4524315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 AX,1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MOV </a:t>
            </a:r>
            <a:r>
              <a:rPr lang="en-US" altLang="zh-CN" b="1" dirty="0">
                <a:solidFill>
                  <a:srgbClr val="000000"/>
                </a:solidFill>
              </a:rPr>
              <a:t>RSLT,0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MOV CX,100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CLC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NEXT: 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ADC </a:t>
            </a:r>
            <a:r>
              <a:rPr lang="en-US" altLang="zh-CN" b="1" dirty="0">
                <a:solidFill>
                  <a:srgbClr val="000000"/>
                </a:solidFill>
              </a:rPr>
              <a:t>RSLT,AX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INC AX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LOOP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NEXT 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MOV AH,4CH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INT 21H 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ENDS 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END START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65</a:t>
            </a:fld>
            <a:endParaRPr lang="zh-CN" alt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5" name="矩形 433154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33157" name="文本占位符 433156"/>
          <p:cNvSpPr>
            <a:spLocks noGrp="1"/>
          </p:cNvSpPr>
          <p:nvPr>
            <p:ph type="body" idx="1"/>
          </p:nvPr>
        </p:nvSpPr>
        <p:spPr>
          <a:xfrm>
            <a:off x="251520" y="933683"/>
            <a:ext cx="5113337" cy="5447645"/>
          </a:xfrm>
          <a:ln/>
        </p:spPr>
        <p:txBody>
          <a:bodyPr vert="horz" wrap="square" lIns="91440" tIns="45720" rIns="91440" bIns="45720" anchor="ctr">
            <a:sp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示例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条件控制循环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。统计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字单元中数据中含有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的个数，将结果存入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COUNT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字节单元中。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DATA     SEGMENT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BUF        DW 2345H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COUNT  DB 0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DATA     ENDS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STACK  SEGMENT STACK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  DB 100 DUP(?)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STACK  ENDS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CODE    SEGMENT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ASSUME CS:CODE,DS:DATA,SS:STACK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START:  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MOV AX,DATA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MOV DS,AX </a:t>
            </a:r>
          </a:p>
        </p:txBody>
      </p:sp>
      <p:sp>
        <p:nvSpPr>
          <p:cNvPr id="433160" name="矩形 433159"/>
          <p:cNvSpPr/>
          <p:nvPr/>
        </p:nvSpPr>
        <p:spPr>
          <a:xfrm>
            <a:off x="5541962" y="1132016"/>
            <a:ext cx="3455988" cy="4832092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anchor="ctr">
            <a:spAutoFit/>
          </a:bodyPr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None/>
            </a:pP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MOV AX,BUF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MOV CL,0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COPA: 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AND AX,AX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JZ EXIT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SHL AX,1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JNC COPA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 INC CL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JMP COPA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EXIT:   MOV  COUNT,CL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 MOV AH,4CH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 INT 21H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CODE   ENDS</a:t>
            </a:r>
          </a:p>
          <a:p>
            <a:pPr marL="0" lvl="0" indent="0"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 END START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66</a:t>
            </a:fld>
            <a:endParaRPr lang="zh-CN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矩形 435201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35206" name="标题 435205"/>
          <p:cNvSpPr>
            <a:spLocks noGrp="1"/>
          </p:cNvSpPr>
          <p:nvPr>
            <p:ph type="title"/>
          </p:nvPr>
        </p:nvSpPr>
        <p:spPr>
          <a:xfrm>
            <a:off x="250825" y="901611"/>
            <a:ext cx="8713788" cy="1200329"/>
          </a:xfrm>
          <a:noFill/>
          <a:ln>
            <a:noFill/>
          </a:ln>
        </p:spPr>
        <p:txBody>
          <a:bodyPr anchor="ctr">
            <a:spAutoFit/>
          </a:bodyPr>
          <a:lstStyle/>
          <a:p>
            <a:pPr>
              <a:buClr>
                <a:schemeClr val="accent1"/>
              </a:buClr>
              <a:buSzPct val="75000"/>
            </a:pPr>
            <a:r>
              <a:rPr lang="zh-CN" altLang="en-US" sz="24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示例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多重循环程序设计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。在以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BUF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为首址的字存储区中存放有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个带符号数据，编程实现将它们按由大到小的顺序排列后再存放回原存储区中</a:t>
            </a:r>
            <a:r>
              <a:rPr lang="zh-CN" altLang="en-US" sz="2400" dirty="0"/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67</a:t>
            </a:fld>
            <a:endParaRPr lang="zh-CN" alt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矩形 436225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36229" name="文本占位符 436228"/>
          <p:cNvSpPr>
            <a:spLocks noGrp="1"/>
          </p:cNvSpPr>
          <p:nvPr>
            <p:ph type="body" idx="1"/>
          </p:nvPr>
        </p:nvSpPr>
        <p:spPr>
          <a:xfrm>
            <a:off x="323850" y="1063140"/>
            <a:ext cx="8370433" cy="4893647"/>
          </a:xfrm>
          <a:ln/>
        </p:spPr>
        <p:txBody>
          <a:bodyPr vert="horz" wrap="none" lIns="91440" tIns="45720" rIns="91440" bIns="45720" anchor="ctr">
            <a:spAutoFit/>
          </a:bodyPr>
          <a:lstStyle/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DATA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　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SEGMENT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　   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DW  30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-44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62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57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19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23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-8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-9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-10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20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N=</a:t>
            </a:r>
            <a:r>
              <a:rPr lang="zh-CN" altLang="en-US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（＄</a:t>
            </a:r>
            <a:r>
              <a:rPr lang="en-US" altLang="zh-CN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-BUF</a:t>
            </a:r>
            <a:r>
              <a:rPr lang="zh-CN" altLang="en-US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）</a:t>
            </a:r>
            <a:r>
              <a:rPr lang="en-US" altLang="zh-CN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/2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DATA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　 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ENDS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STACK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SEGNMENT STACK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　　　   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DB  200  DUP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）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STACK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ENDS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CODE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　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SEGMENT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  ASSUME  CS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CODE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DS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DATA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SS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STACK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START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MOV AX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DATA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   MOV DS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AX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   MOV CX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               DEC CX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68</a:t>
            </a:fld>
            <a:endParaRPr lang="zh-CN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矩形 437249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37253" name="文本占位符 437252"/>
          <p:cNvSpPr>
            <a:spLocks noGrp="1"/>
          </p:cNvSpPr>
          <p:nvPr>
            <p:ph type="body" idx="1"/>
          </p:nvPr>
        </p:nvSpPr>
        <p:spPr>
          <a:xfrm>
            <a:off x="981075" y="1196975"/>
            <a:ext cx="7046913" cy="4968875"/>
          </a:xfrm>
          <a:ln/>
        </p:spPr>
        <p:txBody>
          <a:bodyPr vert="horz" wrap="square" lIns="91440" tIns="45720" rIns="91440" bIns="45720" anchor="ctr">
            <a:spAutoFit/>
          </a:bodyPr>
          <a:lstStyle/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NEXT1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MOV	DX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CX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　　　　　　　　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;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趟数送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dx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中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	 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MOV	BX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　　　　　　　　　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;BX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为基地址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0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NEXT2</a:t>
            </a:r>
            <a:r>
              <a:rPr lang="zh-CN" altLang="en-US" sz="20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en-US" altLang="zh-CN" sz="20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MOV	AX</a:t>
            </a:r>
            <a:r>
              <a:rPr lang="zh-CN" altLang="en-US" sz="20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BUF[BX]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　　     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;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每一趟中比较的次数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	 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CMP	AX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BUF[BX+2]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	  JGE	L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	  XCHG	AX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BUF[BX+2]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	  MOV	BUF[BX]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AX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：	 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ADD	BX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	  DEC	CX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	  </a:t>
            </a:r>
            <a:r>
              <a:rPr lang="en-US" altLang="zh-CN" sz="20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JNE	NEXT2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	  MOV	CX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DX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	  </a:t>
            </a:r>
            <a:r>
              <a:rPr lang="en-US" altLang="zh-CN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LOOP	NEXT1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　　　　　        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;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趟数的比较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	  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MOV	AH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4CH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	  INT	21H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CODE	  ENDS</a:t>
            </a:r>
          </a:p>
          <a:p>
            <a:pPr marL="0" indent="0" eaLnBrk="0" hangingPunct="0">
              <a:spcBef>
                <a:spcPct val="0"/>
              </a:spcBef>
              <a:buClrTx/>
              <a:buNone/>
            </a:pPr>
            <a:r>
              <a:rPr lang="en-US" altLang="zh-CN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	  END	START</a:t>
            </a:r>
          </a:p>
        </p:txBody>
      </p:sp>
      <p:sp>
        <p:nvSpPr>
          <p:cNvPr id="437254" name="矩形 437253"/>
          <p:cNvSpPr/>
          <p:nvPr/>
        </p:nvSpPr>
        <p:spPr>
          <a:xfrm>
            <a:off x="1979613" y="3716338"/>
            <a:ext cx="1944687" cy="576262"/>
          </a:xfrm>
          <a:prstGeom prst="rect">
            <a:avLst/>
          </a:prstGeom>
          <a:noFill/>
          <a:ln w="28575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69</a:t>
            </a:fld>
            <a:endParaRPr lang="zh-CN" alt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矩形 444417"/>
          <p:cNvSpPr/>
          <p:nvPr/>
        </p:nvSpPr>
        <p:spPr>
          <a:xfrm>
            <a:off x="250825" y="1484784"/>
            <a:ext cx="5473700" cy="4032349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号系统功能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调用应用</a:t>
            </a:r>
          </a:p>
          <a:p>
            <a:pPr marL="0" lvl="0" indent="0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例：从键盘上读入一串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指定长度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的字符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要求：用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号系统功能调用实现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)</a:t>
            </a:r>
          </a:p>
          <a:p>
            <a:pPr marL="0" lvl="0" indent="0"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</a:t>
            </a:r>
            <a:r>
              <a:rPr lang="en-US" altLang="zh-CN" sz="20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DATA SEGMENT</a:t>
            </a:r>
          </a:p>
          <a:p>
            <a:pPr marL="182880" lvl="1" indent="-3175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	HL      DB 12 DUP(0) </a:t>
            </a:r>
          </a:p>
          <a:p>
            <a:pPr marL="182880" lvl="1" indent="-3175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	DATA ENDS</a:t>
            </a:r>
          </a:p>
          <a:p>
            <a:pPr marL="182880" lvl="1" indent="-3175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CODE  SEGMENT</a:t>
            </a:r>
          </a:p>
          <a:p>
            <a:pPr marL="182880" lvl="1" indent="-3175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           ASSUME CS: CODE,DS: DATA</a:t>
            </a:r>
          </a:p>
          <a:p>
            <a:pPr marL="182880" lvl="1" indent="-3175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GO:    MOV AX, DATA</a:t>
            </a:r>
          </a:p>
          <a:p>
            <a:pPr marL="182880" lvl="1" indent="-3175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          MOV DS,A</a:t>
            </a:r>
          </a:p>
        </p:txBody>
      </p:sp>
      <p:sp>
        <p:nvSpPr>
          <p:cNvPr id="444419" name="矩形 444418"/>
          <p:cNvSpPr/>
          <p:nvPr/>
        </p:nvSpPr>
        <p:spPr>
          <a:xfrm>
            <a:off x="5400675" y="2332038"/>
            <a:ext cx="3743325" cy="4167295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lstStyle/>
          <a:p>
            <a:pPr marL="179705" lvl="1" indent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MOV CX,12</a:t>
            </a:r>
          </a:p>
          <a:p>
            <a:pPr marL="179705" lvl="1" indent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MOV SI,OFFSET HL</a:t>
            </a:r>
            <a:r>
              <a:rPr lang="en-US" altLang="zh-CN" dirty="0">
                <a:effectLst>
                  <a:outerShdw blurRad="38100" dist="38100" dir="2700000">
                    <a:srgbClr val="FFFFFF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</a:p>
          <a:p>
            <a:pPr marL="179705" lvl="1" indent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L1:    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 AH,1</a:t>
            </a:r>
          </a:p>
          <a:p>
            <a:pPr marL="179705" lvl="1" indent="0" algn="l" eaLnBrk="1" hangingPunct="1">
              <a:spcBef>
                <a:spcPct val="20000"/>
              </a:spcBef>
              <a:buClrTx/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 21H</a:t>
            </a:r>
          </a:p>
          <a:p>
            <a:pPr marL="179705" lvl="1" indent="0" algn="l" eaLnBrk="1" hangingPunct="1">
              <a:spcBef>
                <a:spcPct val="20000"/>
              </a:spcBef>
              <a:buClrTx/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MOV [SI],AL</a:t>
            </a:r>
          </a:p>
          <a:p>
            <a:pPr marL="179705" lvl="1" indent="0" algn="l" eaLnBrk="1" hangingPunct="1">
              <a:spcBef>
                <a:spcPct val="20000"/>
              </a:spcBef>
              <a:buClrTx/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INC SI</a:t>
            </a:r>
          </a:p>
          <a:p>
            <a:pPr marL="179705" lvl="1" indent="0" algn="l" eaLnBrk="1" hangingPunct="1">
              <a:spcBef>
                <a:spcPct val="20000"/>
              </a:spcBef>
              <a:buClrTx/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LOOP L1</a:t>
            </a:r>
          </a:p>
          <a:p>
            <a:pPr marL="179705" lvl="1" indent="0" algn="l" eaLnBrk="1" hangingPunct="1">
              <a:spcBef>
                <a:spcPct val="20000"/>
              </a:spcBef>
              <a:buClrTx/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MOV AH,4CH</a:t>
            </a:r>
          </a:p>
          <a:p>
            <a:pPr marL="179705" lvl="1" indent="0" algn="l" eaLnBrk="1" hangingPunct="1">
              <a:spcBef>
                <a:spcPct val="20000"/>
              </a:spcBef>
              <a:buClrTx/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INT 21H</a:t>
            </a:r>
          </a:p>
          <a:p>
            <a:pPr lvl="0" algn="l" eaLnBrk="1" hangingPunct="1">
              <a:spcBef>
                <a:spcPct val="20000"/>
              </a:spcBef>
              <a:buClrTx/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</a:t>
            </a:r>
            <a:r>
              <a:rPr lang="en-US" altLang="zh-CN" sz="20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ENDS</a:t>
            </a:r>
          </a:p>
          <a:p>
            <a:pPr marL="179705" lvl="1" indent="0" algn="l" eaLnBrk="1" hangingPunct="1">
              <a:spcBef>
                <a:spcPct val="20000"/>
              </a:spcBef>
              <a:buClrTx/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	END GO</a:t>
            </a:r>
          </a:p>
        </p:txBody>
      </p:sp>
      <p:sp>
        <p:nvSpPr>
          <p:cNvPr id="444420" name="矩形 444419"/>
          <p:cNvSpPr/>
          <p:nvPr/>
        </p:nvSpPr>
        <p:spPr>
          <a:xfrm>
            <a:off x="395288" y="836613"/>
            <a:ext cx="4716462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l" eaLnBrk="1" hangingPunct="1">
              <a:spcBef>
                <a:spcPct val="20000"/>
              </a:spcBef>
              <a:buClrTx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四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、中断功能调用程序设计</a:t>
            </a:r>
          </a:p>
        </p:txBody>
      </p:sp>
      <p:sp>
        <p:nvSpPr>
          <p:cNvPr id="444422" name="矩形 444421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70</a:t>
            </a:fld>
            <a:endParaRPr lang="zh-CN" alt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文本占位符 446465"/>
          <p:cNvSpPr>
            <a:spLocks noGrp="1"/>
          </p:cNvSpPr>
          <p:nvPr>
            <p:ph type="body" idx="1"/>
          </p:nvPr>
        </p:nvSpPr>
        <p:spPr>
          <a:xfrm>
            <a:off x="611188" y="1989138"/>
            <a:ext cx="8353425" cy="936625"/>
          </a:xfrm>
          <a:ln/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例：试编写一个汇编语言程序，要求对键盘输入的小写字母用大写字母显示出来。（要求：可连续输入） </a:t>
            </a:r>
          </a:p>
        </p:txBody>
      </p:sp>
      <p:sp>
        <p:nvSpPr>
          <p:cNvPr id="446467" name="矩形 446466"/>
          <p:cNvSpPr/>
          <p:nvPr/>
        </p:nvSpPr>
        <p:spPr>
          <a:xfrm>
            <a:off x="755650" y="1989138"/>
            <a:ext cx="7885113" cy="44640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5000"/>
              </a:lnSpc>
              <a:spcBef>
                <a:spcPct val="0"/>
              </a:spcBef>
            </a:pP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446468" name="矩形 446467"/>
          <p:cNvSpPr/>
          <p:nvPr/>
        </p:nvSpPr>
        <p:spPr>
          <a:xfrm>
            <a:off x="468313" y="836613"/>
            <a:ext cx="41052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>
              <a:spcBef>
                <a:spcPct val="20000"/>
              </a:spcBef>
              <a:buClrTx/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号与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号系统功能综合应用</a:t>
            </a:r>
          </a:p>
        </p:txBody>
      </p:sp>
      <p:sp>
        <p:nvSpPr>
          <p:cNvPr id="446470" name="矩形 446469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71</a:t>
            </a:fld>
            <a:endParaRPr lang="zh-CN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矩形 447489"/>
          <p:cNvSpPr/>
          <p:nvPr/>
        </p:nvSpPr>
        <p:spPr>
          <a:xfrm>
            <a:off x="900113" y="404813"/>
            <a:ext cx="7885112" cy="604837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CODE   SEGMENT</a:t>
            </a:r>
          </a:p>
          <a:p>
            <a:pPr marL="0" lv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ASSUME  CS:CODE</a:t>
            </a:r>
          </a:p>
          <a:p>
            <a:pPr marL="0" lv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BEGIN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：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MOV AH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1</a:t>
            </a:r>
          </a:p>
          <a:p>
            <a:pPr marL="0" lv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　　　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INT 21H</a:t>
            </a:r>
          </a:p>
          <a:p>
            <a:pPr marL="0" lv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　　　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CMP </a:t>
            </a:r>
            <a:r>
              <a:rPr lang="en-US" altLang="zh-CN" sz="2400" b="1" dirty="0" err="1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AL,’a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’</a:t>
            </a:r>
          </a:p>
          <a:p>
            <a:pPr marL="0" lv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　　　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JB BEGIN</a:t>
            </a:r>
          </a:p>
          <a:p>
            <a:pPr marL="0" lv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　　　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CMP AL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’z’</a:t>
            </a:r>
          </a:p>
          <a:p>
            <a:pPr marL="0" lv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　　　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JA BEGIN</a:t>
            </a:r>
          </a:p>
          <a:p>
            <a:pPr marL="0" lv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　　　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SUB AL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20H</a:t>
            </a:r>
          </a:p>
          <a:p>
            <a:pPr marL="0" lv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MOV DL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AL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　　　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MOV AH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2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　　　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INT 21H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　　　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JMP BEGIN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STOP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：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MOV AH,4CH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INT 21H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CODE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　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ENDS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　　　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END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　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BEGIN</a:t>
            </a:r>
          </a:p>
        </p:txBody>
      </p:sp>
      <p:sp>
        <p:nvSpPr>
          <p:cNvPr id="447491" name="矩形 447490"/>
          <p:cNvSpPr/>
          <p:nvPr/>
        </p:nvSpPr>
        <p:spPr>
          <a:xfrm>
            <a:off x="1979613" y="3644900"/>
            <a:ext cx="1871662" cy="1079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7492" name="矩形标注 447491"/>
          <p:cNvSpPr/>
          <p:nvPr/>
        </p:nvSpPr>
        <p:spPr>
          <a:xfrm>
            <a:off x="4643438" y="4005263"/>
            <a:ext cx="1582737" cy="503237"/>
          </a:xfrm>
          <a:prstGeom prst="wedgeRectCallout">
            <a:avLst>
              <a:gd name="adj1" fmla="val -110282"/>
              <a:gd name="adj2" fmla="val -1656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lvl="0" algn="l" eaLnBrk="1" hangingPunct="1">
              <a:spcBef>
                <a:spcPct val="20000"/>
              </a:spcBef>
            </a:pPr>
            <a:r>
              <a:rPr lang="zh-CN" altLang="en-US" b="1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输出字符</a:t>
            </a:r>
          </a:p>
        </p:txBody>
      </p:sp>
      <p:sp>
        <p:nvSpPr>
          <p:cNvPr id="447493" name="矩形 447492"/>
          <p:cNvSpPr/>
          <p:nvPr/>
        </p:nvSpPr>
        <p:spPr>
          <a:xfrm>
            <a:off x="2009775" y="1154113"/>
            <a:ext cx="1655763" cy="71913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7494" name="矩形标注 447493"/>
          <p:cNvSpPr/>
          <p:nvPr/>
        </p:nvSpPr>
        <p:spPr>
          <a:xfrm>
            <a:off x="4572000" y="1196975"/>
            <a:ext cx="3024188" cy="1008063"/>
          </a:xfrm>
          <a:prstGeom prst="wedgeRectCallout">
            <a:avLst>
              <a:gd name="adj1" fmla="val -80917"/>
              <a:gd name="adj2" fmla="val -1850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lvl="0" algn="l" eaLnBrk="1" hangingPunct="1">
              <a:spcBef>
                <a:spcPct val="20000"/>
              </a:spcBef>
            </a:pPr>
            <a:r>
              <a:rPr lang="zh-CN" altLang="en-US" b="1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接受键盘输入的单个字符，并放入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</a:t>
            </a:r>
            <a:r>
              <a:rPr lang="zh-CN" altLang="en-US" b="1" dirty="0">
                <a:solidFill>
                  <a:schemeClr val="bg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</a:p>
        </p:txBody>
      </p:sp>
      <p:sp>
        <p:nvSpPr>
          <p:cNvPr id="447496" name="矩形 447495"/>
          <p:cNvSpPr/>
          <p:nvPr/>
        </p:nvSpPr>
        <p:spPr>
          <a:xfrm>
            <a:off x="3276600" y="257175"/>
            <a:ext cx="51117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72</a:t>
            </a:fld>
            <a:endParaRPr lang="zh-CN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矩形 448513"/>
          <p:cNvSpPr/>
          <p:nvPr/>
        </p:nvSpPr>
        <p:spPr>
          <a:xfrm>
            <a:off x="1079500" y="260350"/>
            <a:ext cx="7740650" cy="626427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lvl="0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DATA   SEGMENT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STR    DB 0DH,0AH,’How are you!$'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DATA   ENDS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STACK  SEGMENT STACK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DB  100 DUP(0)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STACK  ENDS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CODE   SEGMENT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ASSUME DS:DATA,CS:CODE,SS:STACK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BEGIN: MOV AX,DATA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MOV DS,AX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</a:t>
            </a:r>
            <a:r>
              <a:rPr lang="en-US" altLang="zh-CN" sz="20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LEA DX,STR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       MOV AH,9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rgbClr val="FF00FF"/>
                </a:solidFill>
                <a:effectLst/>
                <a:latin typeface="宋体" panose="02010600030101010101" pitchFamily="2" charset="-122"/>
              </a:rPr>
              <a:t>       INT 21H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MOV AH,4CH 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INT 21H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CODE   ENDS</a:t>
            </a:r>
          </a:p>
          <a:p>
            <a:pPr lvl="0">
              <a:buNone/>
            </a:pPr>
            <a:r>
              <a:rPr lang="en-US" altLang="zh-CN" sz="20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       END BEGIN</a:t>
            </a:r>
          </a:p>
        </p:txBody>
      </p:sp>
      <p:sp>
        <p:nvSpPr>
          <p:cNvPr id="448516" name="左大括号 448515"/>
          <p:cNvSpPr/>
          <p:nvPr/>
        </p:nvSpPr>
        <p:spPr>
          <a:xfrm>
            <a:off x="533400" y="457200"/>
            <a:ext cx="304800" cy="838200"/>
          </a:xfrm>
          <a:prstGeom prst="leftBrace">
            <a:avLst>
              <a:gd name="adj1" fmla="val 22916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8517" name="左大括号 448516"/>
          <p:cNvSpPr/>
          <p:nvPr/>
        </p:nvSpPr>
        <p:spPr>
          <a:xfrm>
            <a:off x="533400" y="1524000"/>
            <a:ext cx="304800" cy="838200"/>
          </a:xfrm>
          <a:prstGeom prst="leftBrace">
            <a:avLst>
              <a:gd name="adj1" fmla="val 22916"/>
              <a:gd name="adj2" fmla="val 50000"/>
            </a:avLst>
          </a:prstGeom>
          <a:noFill/>
          <a:ln w="3810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8518" name="左大括号 448517"/>
          <p:cNvSpPr/>
          <p:nvPr/>
        </p:nvSpPr>
        <p:spPr>
          <a:xfrm>
            <a:off x="381000" y="2667000"/>
            <a:ext cx="381000" cy="3352800"/>
          </a:xfrm>
          <a:prstGeom prst="leftBrace">
            <a:avLst>
              <a:gd name="adj1" fmla="val 73333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8519" name="矩形 448518"/>
          <p:cNvSpPr/>
          <p:nvPr/>
        </p:nvSpPr>
        <p:spPr>
          <a:xfrm>
            <a:off x="5436096" y="1205672"/>
            <a:ext cx="360040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l" eaLnBrk="1" hangingPunct="1">
              <a:spcBef>
                <a:spcPct val="20000"/>
              </a:spcBef>
              <a:buClrTx/>
            </a:pPr>
            <a:r>
              <a:rPr lang="zh-CN" altLang="en-US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示例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9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号系统功能应用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73</a:t>
            </a:fld>
            <a:endParaRPr lang="zh-CN" alt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矩形 450561"/>
          <p:cNvSpPr/>
          <p:nvPr/>
        </p:nvSpPr>
        <p:spPr>
          <a:xfrm>
            <a:off x="460374" y="115888"/>
            <a:ext cx="8539163" cy="6742112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）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10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号系统功能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调用应用。从键盘上读入一串指定长度的字符，然后利用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9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号系统功能调用显示输出该串字符。</a:t>
            </a:r>
          </a:p>
          <a:p>
            <a:pPr marL="0" lvl="0" indent="0">
              <a:lnSpc>
                <a:spcPct val="95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data   segment</a:t>
            </a: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message  </a:t>
            </a:r>
            <a:r>
              <a:rPr lang="en-US" altLang="zh-CN" sz="24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db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'please input a string:$'</a:t>
            </a: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buf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   </a:t>
            </a:r>
            <a:r>
              <a:rPr lang="en-US" altLang="zh-CN" sz="24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db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50,?,50 dup(0)</a:t>
            </a: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data  ends</a:t>
            </a: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code segment</a:t>
            </a: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   assume </a:t>
            </a:r>
            <a:r>
              <a:rPr lang="en-US" altLang="zh-CN" sz="24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cs:code,ds:data</a:t>
            </a:r>
            <a:endParaRPr lang="en-US" altLang="zh-CN" sz="2400" b="1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go:    </a:t>
            </a:r>
            <a:r>
              <a:rPr lang="en-US" altLang="zh-CN" sz="24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mov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ax,data</a:t>
            </a:r>
            <a:endParaRPr lang="en-US" altLang="zh-CN" sz="2400" b="1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        </a:t>
            </a:r>
            <a:r>
              <a:rPr lang="en-US" altLang="zh-CN" sz="24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mov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ds,ax</a:t>
            </a:r>
            <a:endParaRPr lang="en-US" altLang="zh-CN" sz="2400" b="1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        </a:t>
            </a:r>
            <a:r>
              <a:rPr lang="en-US" altLang="zh-CN" sz="2400" b="1" dirty="0" err="1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mov</a:t>
            </a:r>
            <a:r>
              <a:rPr lang="en-US" altLang="zh-CN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dx,offset</a:t>
            </a:r>
            <a:r>
              <a:rPr lang="en-US" altLang="zh-CN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 message</a:t>
            </a: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          </a:t>
            </a:r>
            <a:r>
              <a:rPr lang="en-US" altLang="zh-CN" sz="2400" b="1" dirty="0" err="1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mov</a:t>
            </a:r>
            <a:r>
              <a:rPr lang="en-US" altLang="zh-CN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 ah,9</a:t>
            </a: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          </a:t>
            </a:r>
            <a:r>
              <a:rPr lang="en-US" altLang="zh-CN" sz="2400" b="1" dirty="0" err="1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 21h</a:t>
            </a: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        </a:t>
            </a:r>
            <a:r>
              <a:rPr lang="en-US" altLang="zh-CN" sz="2400" b="1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mov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dx,offset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buf</a:t>
            </a:r>
            <a:endParaRPr lang="en-US" altLang="zh-CN" sz="2400" b="1" dirty="0">
              <a:solidFill>
                <a:srgbClr val="0000FF"/>
              </a:solidFill>
              <a:effectLst/>
              <a:latin typeface="Times New Roman" panose="02020603050405020304" pitchFamily="18" charset="0"/>
            </a:endParaRP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          </a:t>
            </a:r>
            <a:r>
              <a:rPr lang="en-US" altLang="zh-CN" sz="2400" b="1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mov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 ah,10</a:t>
            </a: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          </a:t>
            </a:r>
            <a:r>
              <a:rPr lang="en-US" altLang="zh-CN" sz="2400" b="1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 21h</a:t>
            </a: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        </a:t>
            </a:r>
            <a:r>
              <a:rPr lang="en-US" altLang="zh-CN" sz="2400" b="1" dirty="0" err="1">
                <a:solidFill>
                  <a:srgbClr val="FF0066"/>
                </a:solidFill>
                <a:effectLst/>
                <a:latin typeface="Times New Roman" panose="02020603050405020304" pitchFamily="18" charset="0"/>
              </a:rPr>
              <a:t>mov</a:t>
            </a:r>
            <a:r>
              <a:rPr lang="en-US" altLang="zh-CN" sz="2400" b="1" dirty="0">
                <a:solidFill>
                  <a:srgbClr val="FF0066"/>
                </a:solidFill>
                <a:effectLst/>
                <a:latin typeface="Times New Roman" panose="02020603050405020304" pitchFamily="18" charset="0"/>
              </a:rPr>
              <a:t> ah,2</a:t>
            </a: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>
                <a:solidFill>
                  <a:srgbClr val="FF0066"/>
                </a:solidFill>
                <a:effectLst/>
                <a:latin typeface="Times New Roman" panose="02020603050405020304" pitchFamily="18" charset="0"/>
              </a:rPr>
              <a:t>          </a:t>
            </a:r>
            <a:r>
              <a:rPr lang="en-US" altLang="zh-CN" sz="2400" b="1" dirty="0" err="1">
                <a:solidFill>
                  <a:srgbClr val="FF0066"/>
                </a:solidFill>
                <a:effectLst/>
                <a:latin typeface="Times New Roman" panose="02020603050405020304" pitchFamily="18" charset="0"/>
              </a:rPr>
              <a:t>mov</a:t>
            </a:r>
            <a:r>
              <a:rPr lang="en-US" altLang="zh-CN" sz="2400" b="1" dirty="0">
                <a:solidFill>
                  <a:srgbClr val="FF0066"/>
                </a:solidFill>
                <a:effectLst/>
                <a:latin typeface="Times New Roman" panose="02020603050405020304" pitchFamily="18" charset="0"/>
              </a:rPr>
              <a:t> dl,0ah</a:t>
            </a:r>
          </a:p>
          <a:p>
            <a:pPr marL="182880" lvl="1" indent="-3175">
              <a:lnSpc>
                <a:spcPct val="95000"/>
              </a:lnSpc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 dirty="0">
                <a:solidFill>
                  <a:srgbClr val="FF0066"/>
                </a:solidFill>
                <a:effectLst/>
                <a:latin typeface="Times New Roman" panose="02020603050405020304" pitchFamily="18" charset="0"/>
              </a:rPr>
              <a:t>          </a:t>
            </a:r>
            <a:r>
              <a:rPr lang="en-US" altLang="zh-CN" sz="2400" b="1" dirty="0" err="1">
                <a:solidFill>
                  <a:srgbClr val="FF0066"/>
                </a:solidFill>
                <a:effectLst/>
                <a:latin typeface="Times New Roman" panose="02020603050405020304" pitchFamily="18" charset="0"/>
              </a:rPr>
              <a:t>int</a:t>
            </a:r>
            <a:r>
              <a:rPr lang="en-US" altLang="zh-CN" sz="2400" b="1" dirty="0">
                <a:solidFill>
                  <a:srgbClr val="FF0066"/>
                </a:solidFill>
                <a:effectLst/>
                <a:latin typeface="Times New Roman" panose="02020603050405020304" pitchFamily="18" charset="0"/>
              </a:rPr>
              <a:t> 21h</a:t>
            </a:r>
          </a:p>
        </p:txBody>
      </p:sp>
      <p:sp>
        <p:nvSpPr>
          <p:cNvPr id="450563" name="文本框 450562"/>
          <p:cNvSpPr txBox="1"/>
          <p:nvPr/>
        </p:nvSpPr>
        <p:spPr>
          <a:xfrm>
            <a:off x="4643438" y="1835150"/>
            <a:ext cx="4356100" cy="4473575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lstStyle/>
          <a:p>
            <a:pPr marL="179705" lvl="1" indent="0" algn="l" eaLnBrk="1" hangingPunct="1">
              <a:spcBef>
                <a:spcPct val="0"/>
              </a:spcBef>
              <a:buClrTx/>
            </a:pPr>
            <a:r>
              <a:rPr lang="zh-CN" altLang="en-US" b="1" dirty="0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b="1" err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dl,0dh</a:t>
            </a:r>
          </a:p>
          <a:p>
            <a:pPr marL="179705" lvl="1" indent="0" algn="l" eaLnBrk="1" hangingPunct="1">
              <a:spcBef>
                <a:spcPct val="0"/>
              </a:spcBef>
              <a:buClrTx/>
            </a:pPr>
            <a:r>
              <a:rPr lang="en-US" altLang="zh-CN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b="1" err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21h</a:t>
            </a:r>
          </a:p>
          <a:p>
            <a:pPr marL="179705" lvl="1" indent="0" algn="l" eaLnBrk="1" hangingPunct="1">
              <a:spcBef>
                <a:spcPct val="0"/>
              </a:spcBef>
              <a:buClrTx/>
            </a:pPr>
            <a:r>
              <a:rPr lang="en-US" altLang="zh-CN" b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b="1" err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bl,buf+1</a:t>
            </a:r>
          </a:p>
          <a:p>
            <a:pPr marL="179705" lvl="1" indent="0" algn="l" eaLnBrk="1" hangingPunct="1">
              <a:spcBef>
                <a:spcPct val="0"/>
              </a:spcBef>
              <a:buClrTx/>
            </a:pPr>
            <a:r>
              <a:rPr lang="en-US" altLang="zh-CN" b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b="1" err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bh,0</a:t>
            </a:r>
          </a:p>
          <a:p>
            <a:pPr marL="179705" lvl="1" indent="0" algn="l" eaLnBrk="1" hangingPunct="1">
              <a:spcBef>
                <a:spcPct val="0"/>
              </a:spcBef>
              <a:buClrTx/>
            </a:pPr>
            <a:r>
              <a:rPr lang="en-US" altLang="zh-CN" b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b="1" err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byte </a:t>
            </a:r>
            <a:r>
              <a:rPr lang="en-US" altLang="zh-CN" b="1" err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ptr</a:t>
            </a:r>
            <a:r>
              <a:rPr lang="en-US" altLang="zh-CN" b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buf+2[bx],'$'</a:t>
            </a:r>
          </a:p>
          <a:p>
            <a:pPr marL="179705" lvl="1" indent="0" algn="l" eaLnBrk="1" hangingPunct="1">
              <a:spcBef>
                <a:spcPct val="0"/>
              </a:spcBef>
              <a:buClrTx/>
            </a:pPr>
            <a:r>
              <a:rPr lang="en-US" altLang="zh-CN" b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b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dx,offset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buf+2</a:t>
            </a:r>
          </a:p>
          <a:p>
            <a:pPr marL="179705" lvl="1" indent="0" algn="l" eaLnBrk="1" hangingPunct="1">
              <a:spcBef>
                <a:spcPct val="0"/>
              </a:spcBef>
              <a:buClrTx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b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ah,9</a:t>
            </a:r>
          </a:p>
          <a:p>
            <a:pPr marL="179705" lvl="1" indent="0" algn="l" eaLnBrk="1" hangingPunct="1">
              <a:spcBef>
                <a:spcPct val="0"/>
              </a:spcBef>
              <a:buClrTx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b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21h</a:t>
            </a:r>
          </a:p>
          <a:p>
            <a:pPr marL="179705" lvl="1" indent="0" algn="l" eaLnBrk="1" hangingPunct="1">
              <a:spcBef>
                <a:spcPct val="0"/>
              </a:spcBef>
              <a:buClrTx/>
            </a:pPr>
            <a:r>
              <a:rPr lang="en-US" altLang="zh-CN" b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b="1" err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ah,4ch</a:t>
            </a:r>
          </a:p>
          <a:p>
            <a:pPr marL="179705" lvl="1" indent="0" algn="l" eaLnBrk="1" hangingPunct="1">
              <a:spcBef>
                <a:spcPct val="0"/>
              </a:spcBef>
              <a:buClrTx/>
            </a:pPr>
            <a:r>
              <a:rPr lang="en-US" altLang="zh-CN" b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b="1" err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b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21h</a:t>
            </a:r>
          </a:p>
          <a:p>
            <a:pPr marL="179705" lvl="1" indent="0" algn="l" eaLnBrk="1" hangingPunct="1">
              <a:spcBef>
                <a:spcPct val="0"/>
              </a:spcBef>
              <a:buClrTx/>
            </a:pPr>
            <a:r>
              <a:rPr lang="en-US" altLang="zh-CN" b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ends</a:t>
            </a:r>
          </a:p>
          <a:p>
            <a:pPr marL="179705" lvl="1" indent="0" algn="l" eaLnBrk="1" hangingPunct="1">
              <a:spcBef>
                <a:spcPct val="0"/>
              </a:spcBef>
              <a:buClrTx/>
            </a:pPr>
            <a:r>
              <a:rPr lang="en-US" altLang="zh-CN" b="1">
                <a:solidFill>
                  <a:srgbClr val="33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end go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74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2" grpId="0" animBg="1"/>
      <p:bldP spid="45056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3" name="矩形 452612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52614" name="矩形 452613"/>
          <p:cNvSpPr/>
          <p:nvPr/>
        </p:nvSpPr>
        <p:spPr>
          <a:xfrm>
            <a:off x="468313" y="803603"/>
            <a:ext cx="3455615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Impact" panose="020B0806030902050204" pitchFamily="34" charset="0"/>
              </a:rPr>
              <a:t>五、子程序设计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</a:rPr>
              <a:t> </a:t>
            </a:r>
          </a:p>
        </p:txBody>
      </p:sp>
      <p:sp>
        <p:nvSpPr>
          <p:cNvPr id="452617" name="文本占位符 452616"/>
          <p:cNvSpPr>
            <a:spLocks noGrp="1"/>
          </p:cNvSpPr>
          <p:nvPr>
            <p:ph type="body" idx="1"/>
          </p:nvPr>
        </p:nvSpPr>
        <p:spPr>
          <a:xfrm>
            <a:off x="468313" y="1412875"/>
            <a:ext cx="7972425" cy="1655763"/>
          </a:xfrm>
          <a:solidFill>
            <a:schemeClr val="tx1">
              <a:alpha val="100000"/>
            </a:schemeClr>
          </a:solidFill>
          <a:ln/>
        </p:spPr>
        <p:txBody>
          <a:bodyPr vert="horz" wrap="square" lIns="91440" tIns="45720" rIns="91440" bIns="45720" anchor="t"/>
          <a:lstStyle/>
          <a:p>
            <a:pPr mar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子程序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是程序中功能相对独立的一段程序，子程序设计是程序设计中被广泛使用的一种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方法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。子程序设计的使用方式较多，运用十分灵活，涉及面较广，需掌握基本方法。在汇编语言中，子程序又称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过程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452618" name="矩形 452617"/>
          <p:cNvSpPr/>
          <p:nvPr/>
        </p:nvSpPr>
        <p:spPr>
          <a:xfrm>
            <a:off x="395289" y="3284538"/>
            <a:ext cx="4968800" cy="25209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</a:ln>
        </p:spPr>
        <p:txBody>
          <a:bodyPr/>
          <a:lstStyle/>
          <a:p>
            <a:pPr lvl="0" algn="l" eaLnBrk="1" hangingPunct="1"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使用子程序的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好处：</a:t>
            </a:r>
          </a:p>
          <a:p>
            <a:pPr lvl="0" algn="l">
              <a:spcBef>
                <a:spcPct val="0"/>
              </a:spcBef>
              <a:buClr>
                <a:schemeClr val="accent1"/>
              </a:buClr>
              <a:buSzPct val="75000"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可供一</a:t>
            </a: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</a:rPr>
              <a:t>个或多个程序使用；</a:t>
            </a:r>
            <a:endParaRPr lang="en-US" altLang="zh-CN" b="1" dirty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l" eaLnBrk="1" hangingPunct="1"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可以简化源程序结构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lvl="0" algn="l" eaLnBrk="1" hangingPunct="1"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提高程序的可读性与可维护性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lvl="0" algn="l" eaLnBrk="1" hangingPunct="1"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有利于代码复用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lvl="0" algn="l" eaLnBrk="1" hangingPunct="1">
              <a:spcBef>
                <a:spcPct val="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提高程序的设计效率。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75</a:t>
            </a:fld>
            <a:endParaRPr lang="zh-CN" alt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文本占位符 453633"/>
          <p:cNvSpPr>
            <a:spLocks noGrp="1"/>
          </p:cNvSpPr>
          <p:nvPr>
            <p:ph type="body" idx="1"/>
          </p:nvPr>
        </p:nvSpPr>
        <p:spPr>
          <a:xfrm>
            <a:off x="323850" y="1557338"/>
            <a:ext cx="8421688" cy="3959225"/>
          </a:xfrm>
          <a:solidFill>
            <a:schemeClr val="tx1">
              <a:alpha val="100000"/>
            </a:schemeClr>
          </a:solidFill>
          <a:ln/>
        </p:spPr>
        <p:txBody>
          <a:bodyPr vert="horz" wrap="square" lIns="91440" tIns="45720" rIns="91440" bIns="45720" anchor="t"/>
          <a:lstStyle/>
          <a:p>
            <a:pPr mar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格式：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子程序名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PROC [NEAR/FAR]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            ┆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　　　　；过程体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子程序名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ENDP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zh-CN" sz="2400" b="1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解释：</a:t>
            </a:r>
          </a:p>
          <a:p>
            <a:pPr marL="0" inden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子程序名：子程序入口地址的符号表示。同标号一样，具有段属性、偏移地址属性及类型属性三种属性</a:t>
            </a:r>
          </a:p>
          <a:p>
            <a:pPr marL="0" inden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PROC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表示子程序定义开始，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ENDP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表示子程序定义结束</a:t>
            </a:r>
          </a:p>
          <a:p>
            <a:pPr marL="0" indent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类型</a:t>
            </a: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NEAR/FAR</a:t>
            </a:r>
          </a:p>
        </p:txBody>
      </p:sp>
      <p:sp>
        <p:nvSpPr>
          <p:cNvPr id="453636" name="标题 453635"/>
          <p:cNvSpPr>
            <a:spLocks noGrp="1"/>
          </p:cNvSpPr>
          <p:nvPr>
            <p:ph type="title"/>
          </p:nvPr>
        </p:nvSpPr>
        <p:spPr>
          <a:xfrm>
            <a:off x="323850" y="836613"/>
            <a:ext cx="5640388" cy="433387"/>
          </a:xfrm>
          <a:solidFill>
            <a:schemeClr val="tx1"/>
          </a:solidFill>
          <a:ln>
            <a:noFill/>
          </a:ln>
        </p:spPr>
        <p:txBody>
          <a:bodyPr/>
          <a:lstStyle/>
          <a:p>
            <a:pPr>
              <a:lnSpc>
                <a:spcPct val="95000"/>
              </a:lnSpc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2400" b="1">
                <a:solidFill>
                  <a:schemeClr val="bg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、子程序的定义</a:t>
            </a:r>
          </a:p>
        </p:txBody>
      </p:sp>
      <p:sp>
        <p:nvSpPr>
          <p:cNvPr id="453637" name="矩形 453636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76</a:t>
            </a:fld>
            <a:endParaRPr lang="zh-CN" alt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文本占位符 454657"/>
          <p:cNvSpPr>
            <a:spLocks noGrp="1"/>
          </p:cNvSpPr>
          <p:nvPr>
            <p:ph type="body" idx="1"/>
          </p:nvPr>
        </p:nvSpPr>
        <p:spPr>
          <a:xfrm>
            <a:off x="250825" y="836712"/>
            <a:ext cx="4105275" cy="1295400"/>
          </a:xfrm>
          <a:solidFill>
            <a:schemeClr val="tx1">
              <a:alpha val="100000"/>
            </a:schemeClr>
          </a:solidFill>
          <a:ln/>
        </p:spPr>
        <p:txBody>
          <a:bodyPr vert="horz" wrap="square" lIns="91440" tIns="45720" rIns="91440" bIns="45720" anchor="t"/>
          <a:lstStyle/>
          <a:p>
            <a:pPr marL="0" indent="0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、子程序的调用和返回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调用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CALL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指令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返回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RET</a:t>
            </a:r>
            <a:r>
              <a:rPr lang="zh-CN" altLang="en-US" sz="2400" b="1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指令 </a:t>
            </a:r>
          </a:p>
        </p:txBody>
      </p:sp>
      <p:sp>
        <p:nvSpPr>
          <p:cNvPr id="454660" name="矩形 454659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54662" name="矩形 454661"/>
          <p:cNvSpPr/>
          <p:nvPr/>
        </p:nvSpPr>
        <p:spPr>
          <a:xfrm>
            <a:off x="4356100" y="5445125"/>
            <a:ext cx="4200525" cy="45720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强调：</a:t>
            </a:r>
            <a:r>
              <a:rPr lang="zh-CN" altLang="en-US" b="1" dirty="0">
                <a:solidFill>
                  <a:srgbClr val="000000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在使用时应注意的问题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54663" name="矩形 454662"/>
          <p:cNvSpPr/>
          <p:nvPr/>
        </p:nvSpPr>
        <p:spPr>
          <a:xfrm>
            <a:off x="1187450" y="2180089"/>
            <a:ext cx="5761038" cy="4450449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SUBP  PROC 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PUSH  AX          ;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现场保护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PUSH  BX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PUSH  CX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                  ┇                   ;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子程序主体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POP  CX             ;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恢复现场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POP  BX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POP  AX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RET</a:t>
            </a:r>
          </a:p>
          <a:p>
            <a:pPr lvl="0" indent="5334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SUBP  ENDP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77</a:t>
            </a:fld>
            <a:endParaRPr lang="zh-CN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5" name="矩形 443394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43398" name="矩形 443397"/>
          <p:cNvSpPr/>
          <p:nvPr/>
        </p:nvSpPr>
        <p:spPr>
          <a:xfrm>
            <a:off x="539750" y="1341438"/>
            <a:ext cx="3429000" cy="4572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anchor="ctr"/>
          <a:lstStyle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、子程序的书写形式</a:t>
            </a:r>
          </a:p>
        </p:txBody>
      </p:sp>
      <p:sp>
        <p:nvSpPr>
          <p:cNvPr id="443399" name="矩形 443398"/>
          <p:cNvSpPr/>
          <p:nvPr/>
        </p:nvSpPr>
        <p:spPr>
          <a:xfrm>
            <a:off x="407458" y="1052513"/>
            <a:ext cx="7791450" cy="5262979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、子程序的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书写形式</a:t>
            </a:r>
            <a:r>
              <a:rPr lang="zh-CN" altLang="fr-FR" b="1" dirty="0">
                <a:solidFill>
                  <a:srgbClr val="000000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和</a:t>
            </a:r>
            <a:r>
              <a:rPr lang="zh-CN" altLang="fr-FR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结构示例</a:t>
            </a:r>
            <a:r>
              <a:rPr lang="zh-CN" altLang="fr-FR" dirty="0"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</a:p>
          <a:p>
            <a:pPr lvl="0" algn="l" eaLnBrk="1" hangingPunct="1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segment       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　　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;code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段	</a:t>
            </a:r>
          </a:p>
          <a:p>
            <a:pPr lvl="0" algn="l" eaLnBrk="1" hangingPunct="1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	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call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subp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　　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调用指令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xor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指令的地址入栈</a:t>
            </a:r>
          </a:p>
          <a:p>
            <a:pPr lvl="0" algn="l" eaLnBrk="1" hangingPunct="1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　   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xor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ax,ax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　　　　</a:t>
            </a:r>
          </a:p>
          <a:p>
            <a:pPr lvl="0" algn="l" eaLnBrk="1" hangingPunct="1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    	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ah,4ch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21h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subp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proc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near     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　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子程序定义    </a:t>
            </a:r>
          </a:p>
          <a:p>
            <a:pPr lvl="0" algn="l" eaLnBrk="1" hangingPunct="1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;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返回    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 dirty="0" err="1">
                <a:solidFill>
                  <a:srgbClr val="0000FF"/>
                </a:solidFill>
              </a:rPr>
              <a:t>subp</a:t>
            </a:r>
            <a:r>
              <a:rPr lang="en-US" altLang="zh-CN" b="1" dirty="0">
                <a:solidFill>
                  <a:srgbClr val="0000FF"/>
                </a:solidFill>
              </a:rPr>
              <a:t>    </a:t>
            </a:r>
            <a:r>
              <a:rPr lang="en-US" altLang="zh-CN" b="1" dirty="0" err="1">
                <a:solidFill>
                  <a:srgbClr val="0000FF"/>
                </a:solidFill>
              </a:rPr>
              <a:t>endp</a:t>
            </a:r>
            <a:r>
              <a:rPr lang="en-US" altLang="zh-CN" b="1" dirty="0">
                <a:solidFill>
                  <a:srgbClr val="0000FF"/>
                </a:solidFill>
              </a:rPr>
              <a:t>                   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 ends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end start</a:t>
            </a:r>
          </a:p>
        </p:txBody>
      </p:sp>
      <p:sp>
        <p:nvSpPr>
          <p:cNvPr id="443401" name="矩形 443400"/>
          <p:cNvSpPr/>
          <p:nvPr/>
        </p:nvSpPr>
        <p:spPr>
          <a:xfrm>
            <a:off x="4643438" y="5524500"/>
            <a:ext cx="3816350" cy="466725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rgbClr val="FFFF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near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类型子程序</a:t>
            </a:r>
            <a:r>
              <a:rPr lang="zh-CN" altLang="fr-FR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结构示例</a:t>
            </a:r>
            <a:r>
              <a:rPr lang="zh-CN" altLang="fr-FR" dirty="0">
                <a:effectLst>
                  <a:outerShdw blurRad="38100" dist="38100" dir="2700000">
                    <a:srgbClr val="FFFFFF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43402" name="左大括号 443401"/>
          <p:cNvSpPr/>
          <p:nvPr/>
        </p:nvSpPr>
        <p:spPr>
          <a:xfrm>
            <a:off x="166688" y="4221163"/>
            <a:ext cx="228600" cy="1219200"/>
          </a:xfrm>
          <a:prstGeom prst="leftBrace">
            <a:avLst>
              <a:gd name="adj1" fmla="val 44444"/>
              <a:gd name="adj2" fmla="val 53514"/>
            </a:avLst>
          </a:prstGeom>
          <a:noFill/>
          <a:ln w="349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78</a:t>
            </a:fld>
            <a:endParaRPr lang="zh-CN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文本框 455681"/>
          <p:cNvSpPr txBox="1"/>
          <p:nvPr/>
        </p:nvSpPr>
        <p:spPr>
          <a:xfrm>
            <a:off x="468313" y="836613"/>
            <a:ext cx="4191000" cy="518467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/>
          <a:lstStyle/>
          <a:p>
            <a:pPr lvl="1"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 segment</a:t>
            </a:r>
          </a:p>
          <a:p>
            <a:pPr lvl="1"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start:        …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call  sub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call  sub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ah, 4ch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21h</a:t>
            </a:r>
          </a:p>
          <a:p>
            <a:pPr lvl="1"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     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proc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、、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、、</a:t>
            </a:r>
          </a:p>
          <a:p>
            <a:pPr lvl="2"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</a:t>
            </a:r>
          </a:p>
          <a:p>
            <a:pPr lvl="1" algn="just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     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endp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 ends</a:t>
            </a:r>
          </a:p>
          <a:p>
            <a:pPr lvl="1"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end start</a:t>
            </a:r>
          </a:p>
        </p:txBody>
      </p:sp>
      <p:sp>
        <p:nvSpPr>
          <p:cNvPr id="455686" name="左大括号 455685"/>
          <p:cNvSpPr/>
          <p:nvPr/>
        </p:nvSpPr>
        <p:spPr>
          <a:xfrm>
            <a:off x="381000" y="3573463"/>
            <a:ext cx="381000" cy="1371600"/>
          </a:xfrm>
          <a:prstGeom prst="leftBrace">
            <a:avLst>
              <a:gd name="adj1" fmla="val 30000"/>
              <a:gd name="adj2" fmla="val 50000"/>
            </a:avLst>
          </a:prstGeom>
          <a:noFill/>
          <a:ln w="3175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5690" name="矩形 455689"/>
          <p:cNvSpPr/>
          <p:nvPr/>
        </p:nvSpPr>
        <p:spPr>
          <a:xfrm>
            <a:off x="3059113" y="3979863"/>
            <a:ext cx="57610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多处调用完成同一功能的子程序结构示例</a:t>
            </a:r>
          </a:p>
        </p:txBody>
      </p:sp>
      <p:sp>
        <p:nvSpPr>
          <p:cNvPr id="455691" name="矩形 455690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79</a:t>
            </a:fld>
            <a:endParaRPr lang="zh-CN" alt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7" name="文本框 456706"/>
          <p:cNvSpPr txBox="1"/>
          <p:nvPr/>
        </p:nvSpPr>
        <p:spPr>
          <a:xfrm>
            <a:off x="971550" y="260350"/>
            <a:ext cx="4140200" cy="6192838"/>
          </a:xfrm>
          <a:prstGeom prst="rect">
            <a:avLst/>
          </a:prstGeom>
          <a:solidFill>
            <a:schemeClr val="tx1"/>
          </a:solidFill>
          <a:ln w="25400">
            <a:noFill/>
          </a:ln>
        </p:spPr>
        <p:txBody>
          <a:bodyPr lIns="0" tIns="0" rIns="0" bIns="0"/>
          <a:lstStyle/>
          <a:p>
            <a:pPr lvl="1" algn="just" eaLnBrk="1" hangingPunct="1">
              <a:lnSpc>
                <a:spcPct val="95000"/>
              </a:lnSpc>
              <a:spcBef>
                <a:spcPct val="0"/>
              </a:spcBef>
              <a:spcAft>
                <a:spcPct val="30000"/>
              </a:spcAft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 segment</a:t>
            </a:r>
          </a:p>
          <a:p>
            <a:pPr lvl="1" algn="just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begin: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call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sub1</a:t>
            </a:r>
          </a:p>
          <a:p>
            <a:pPr lvl="2" algn="just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call  sub2</a:t>
            </a:r>
          </a:p>
          <a:p>
            <a:pPr lvl="2" algn="just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0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call  sub3</a:t>
            </a:r>
          </a:p>
          <a:p>
            <a:pPr lvl="2" algn="just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000" b="1" dirty="0" err="1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ah, 4ch</a:t>
            </a:r>
          </a:p>
          <a:p>
            <a:pPr lvl="2" algn="just" eaLnBrk="1" hangingPunct="1">
              <a:lnSpc>
                <a:spcPct val="9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000" b="1" dirty="0" err="1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21h</a:t>
            </a:r>
          </a:p>
          <a:p>
            <a:pPr lvl="1" algn="just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sub1     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proc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、、</a:t>
            </a:r>
          </a:p>
          <a:p>
            <a:pPr lvl="1" algn="just" eaLnBrk="1" hangingPunct="1">
              <a:lnSpc>
                <a:spcPct val="95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</a:t>
            </a:r>
          </a:p>
          <a:p>
            <a:pPr lvl="1" algn="just" eaLnBrk="1" hangingPunct="1">
              <a:lnSpc>
                <a:spcPct val="9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sub1     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endp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sub2     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proc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algn="just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、、</a:t>
            </a:r>
          </a:p>
          <a:p>
            <a:pPr lvl="2" algn="just" eaLnBrk="1" hangingPunct="1">
              <a:lnSpc>
                <a:spcPct val="95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</a:t>
            </a:r>
          </a:p>
          <a:p>
            <a:pPr lvl="1" algn="just" eaLnBrk="1" hangingPunct="1">
              <a:lnSpc>
                <a:spcPct val="9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sub2     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endp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sub3     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proc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2" algn="just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、、</a:t>
            </a:r>
          </a:p>
          <a:p>
            <a:pPr lvl="2" algn="just" eaLnBrk="1" hangingPunct="1">
              <a:lnSpc>
                <a:spcPct val="95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</a:t>
            </a:r>
          </a:p>
          <a:p>
            <a:pPr lvl="1" algn="just" eaLnBrk="1" hangingPunct="1">
              <a:lnSpc>
                <a:spcPct val="9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sub3      </a:t>
            </a:r>
            <a:r>
              <a:rPr lang="en-US" altLang="zh-CN" sz="2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endp</a:t>
            </a:r>
            <a:endParaRPr lang="en-US" altLang="zh-CN" sz="2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   ends</a:t>
            </a:r>
          </a:p>
          <a:p>
            <a:pPr lvl="1" algn="just" eaLnBrk="1" hangingPunct="1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      begin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</a:p>
        </p:txBody>
      </p:sp>
      <p:grpSp>
        <p:nvGrpSpPr>
          <p:cNvPr id="456713" name="组合 456712"/>
          <p:cNvGrpSpPr/>
          <p:nvPr/>
        </p:nvGrpSpPr>
        <p:grpSpPr>
          <a:xfrm>
            <a:off x="1103313" y="2349500"/>
            <a:ext cx="228600" cy="3311525"/>
            <a:chOff x="695" y="1480"/>
            <a:chExt cx="144" cy="2086"/>
          </a:xfrm>
        </p:grpSpPr>
        <p:sp>
          <p:nvSpPr>
            <p:cNvPr id="456710" name="左大括号 456709"/>
            <p:cNvSpPr/>
            <p:nvPr/>
          </p:nvSpPr>
          <p:spPr>
            <a:xfrm>
              <a:off x="695" y="1480"/>
              <a:ext cx="144" cy="524"/>
            </a:xfrm>
            <a:prstGeom prst="leftBrace">
              <a:avLst>
                <a:gd name="adj1" fmla="val 30324"/>
                <a:gd name="adj2" fmla="val 50000"/>
              </a:avLst>
            </a:prstGeom>
            <a:noFill/>
            <a:ln w="349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6711" name="左大括号 456710"/>
            <p:cNvSpPr/>
            <p:nvPr/>
          </p:nvSpPr>
          <p:spPr>
            <a:xfrm>
              <a:off x="695" y="2251"/>
              <a:ext cx="144" cy="524"/>
            </a:xfrm>
            <a:prstGeom prst="leftBrace">
              <a:avLst>
                <a:gd name="adj1" fmla="val 30324"/>
                <a:gd name="adj2" fmla="val 50000"/>
              </a:avLst>
            </a:prstGeom>
            <a:noFill/>
            <a:ln w="349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6712" name="左大括号 456711"/>
            <p:cNvSpPr/>
            <p:nvPr/>
          </p:nvSpPr>
          <p:spPr>
            <a:xfrm>
              <a:off x="695" y="3042"/>
              <a:ext cx="144" cy="524"/>
            </a:xfrm>
            <a:prstGeom prst="leftBrace">
              <a:avLst>
                <a:gd name="adj1" fmla="val 30324"/>
                <a:gd name="adj2" fmla="val 50000"/>
              </a:avLst>
            </a:prstGeom>
            <a:noFill/>
            <a:ln w="349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6714" name="矩形 456713"/>
          <p:cNvSpPr/>
          <p:nvPr/>
        </p:nvSpPr>
        <p:spPr>
          <a:xfrm>
            <a:off x="4284663" y="1484313"/>
            <a:ext cx="3673475" cy="45720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多个子程序的调用示例</a:t>
            </a:r>
          </a:p>
        </p:txBody>
      </p:sp>
      <p:sp>
        <p:nvSpPr>
          <p:cNvPr id="456715" name="矩形 456714"/>
          <p:cNvSpPr/>
          <p:nvPr/>
        </p:nvSpPr>
        <p:spPr>
          <a:xfrm>
            <a:off x="4572000" y="2917639"/>
            <a:ext cx="3730633" cy="1311647"/>
          </a:xfrm>
          <a:prstGeom prst="rect">
            <a:avLst/>
          </a:prstGeom>
          <a:solidFill>
            <a:srgbClr val="CCFFFF"/>
          </a:solidFill>
          <a:ln w="25400">
            <a:noFill/>
          </a:ln>
        </p:spPr>
        <p:txBody>
          <a:bodyPr lIns="0" tIns="0" rIns="0" bIns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b"/>
              <a:defRPr sz="32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Char char="•"/>
              <a:defRPr sz="28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4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–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Monotype Sorts" pitchFamily="2" charset="2"/>
              <a:buChar char="»"/>
              <a:defRPr sz="2000" b="0" i="0" u="none" kern="1200" baseline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子程序的</a:t>
            </a:r>
            <a:r>
              <a:rPr lang="zh-CN" altLang="en-US" sz="20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位置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通常在主程序的所有可执行指令</a:t>
            </a:r>
            <a:r>
              <a:rPr lang="zh-CN" altLang="en-US" sz="20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之前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或</a:t>
            </a:r>
            <a:r>
              <a:rPr lang="zh-CN" altLang="en-US" sz="20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之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后，不能放在主程序的可执行指令序列</a:t>
            </a:r>
            <a:r>
              <a:rPr lang="zh-CN" altLang="en-US" sz="20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内部</a:t>
            </a:r>
            <a:r>
              <a:rPr lang="zh-CN" altLang="en-US" sz="2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，否则会破坏主程序结构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80</a:t>
            </a:fld>
            <a:endParaRPr lang="zh-CN" alt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90" name="矩形 451589"/>
          <p:cNvSpPr/>
          <p:nvPr/>
        </p:nvSpPr>
        <p:spPr>
          <a:xfrm>
            <a:off x="395288" y="905818"/>
            <a:ext cx="1962397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．参数传递</a:t>
            </a: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51591" name="矩形 451590"/>
          <p:cNvSpPr/>
          <p:nvPr/>
        </p:nvSpPr>
        <p:spPr>
          <a:xfrm>
            <a:off x="323850" y="1412875"/>
            <a:ext cx="8496300" cy="1938992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b="1" dirty="0">
                <a:solidFill>
                  <a:srgbClr val="000000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参数传递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概念</a:t>
            </a:r>
          </a:p>
          <a:p>
            <a:pPr lvl="0" algn="l" eaLnBrk="1" hangingPunct="1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一个程序调用子程序时需要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传递参数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给子程序，这些参数是子程序所需的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原始数据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；子程序处理完后向调用它的程序传递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处理结果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，所传递的原始数据和处理结果可以是数据、地址。</a:t>
            </a:r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调用程序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zh-CN" altLang="en-US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子程序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之间所传递的信息统称为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参数传递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51592" name="矩形 451591"/>
          <p:cNvSpPr/>
          <p:nvPr/>
        </p:nvSpPr>
        <p:spPr>
          <a:xfrm>
            <a:off x="395288" y="3886200"/>
            <a:ext cx="8280400" cy="2086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1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）入口参数与出口参数</a:t>
            </a:r>
          </a:p>
          <a:p>
            <a:pPr lvl="1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入口参数</a:t>
            </a: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入口条件）：主程序调用子程序前，为子程序内部数据处理准备所需的预置值；</a:t>
            </a:r>
          </a:p>
          <a:p>
            <a:pPr lvl="1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出口参数</a:t>
            </a:r>
            <a:r>
              <a:rPr lang="zh-CN" altLang="en-US" b="1" dirty="0">
                <a:solidFill>
                  <a:srgbClr val="000000"/>
                </a:solidFill>
              </a:rPr>
              <a:t>（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出口条件）：子程序返回主程序后，子程序处理的结果传递给主程序的数据。</a:t>
            </a:r>
          </a:p>
        </p:txBody>
      </p:sp>
      <p:sp>
        <p:nvSpPr>
          <p:cNvPr id="451593" name="矩形 451592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81</a:t>
            </a:fld>
            <a:endParaRPr lang="zh-CN" alt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9" name="矩形 449538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49541" name="文本占位符 449540"/>
          <p:cNvSpPr>
            <a:spLocks noGrp="1"/>
          </p:cNvSpPr>
          <p:nvPr>
            <p:ph type="body" idx="1"/>
          </p:nvPr>
        </p:nvSpPr>
        <p:spPr>
          <a:xfrm>
            <a:off x="381000" y="1393841"/>
            <a:ext cx="8353425" cy="4154984"/>
          </a:xfrm>
          <a:solidFill>
            <a:schemeClr val="tx1">
              <a:alpha val="100000"/>
            </a:schemeClr>
          </a:solidFill>
          <a:ln/>
        </p:spPr>
        <p:txBody>
          <a:bodyPr vert="horz" wrap="square" lIns="91440" tIns="45720" rIns="91440" bIns="45720" anchor="t">
            <a:spAutoFit/>
          </a:bodyPr>
          <a:lstStyle/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）参数传递方法 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寄存器法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通过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CPU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寄存器传递。传递数据方便、快捷，但所能传递的数据长度和个数都有限。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Clr>
                <a:srgbClr val="0000FF"/>
              </a:buClr>
              <a:buNone/>
            </a:pP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变量法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通过内存单元传递参数。传递数据的大小和个数不受限制，程序设计比较灵活。</a:t>
            </a:r>
            <a:endParaRPr lang="en-US" altLang="zh-CN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Clr>
                <a:srgbClr val="0000FF"/>
              </a:buClr>
              <a:buNone/>
            </a:pPr>
            <a:endParaRPr lang="zh-CN" altLang="en-US" sz="2400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00FF"/>
                </a:solidFill>
                <a:effectLst/>
                <a:latin typeface="Times New Roman" panose="02020603050405020304" pitchFamily="18" charset="0"/>
              </a:rPr>
              <a:t>堆栈法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通过堆栈传递参数。用堆栈保存所要传递的数据或存储地址，是常用的参数传递方法。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82</a:t>
            </a:fld>
            <a:endParaRPr lang="zh-CN" alt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1" name="矩形 457730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57733" name="矩形 457732"/>
          <p:cNvSpPr/>
          <p:nvPr/>
        </p:nvSpPr>
        <p:spPr>
          <a:xfrm>
            <a:off x="250825" y="908050"/>
            <a:ext cx="4048125" cy="4572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．子程序的嵌套与递归调用 </a:t>
            </a:r>
          </a:p>
        </p:txBody>
      </p:sp>
      <p:sp>
        <p:nvSpPr>
          <p:cNvPr id="457734" name="矩形 457733"/>
          <p:cNvSpPr/>
          <p:nvPr/>
        </p:nvSpPr>
        <p:spPr>
          <a:xfrm>
            <a:off x="395288" y="1700213"/>
            <a:ext cx="8424862" cy="2456057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子程序嵌套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：子程序作为调用程序又去调用其它子程序。一般只要堆栈空间允许，子程序嵌套层数不限，但嵌套层数较多时应特别注意寄存器内容的保护与恢复，以避免各层子程序之间寄存器使用发生冲突，造成程序出错。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 algn="l" eaLnBrk="1" hangingPunct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lvl="0" algn="l" eaLnBrk="1" hangingPunct="1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子程序递归调用：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当子程序直接或间接地嵌套调用自身时。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83</a:t>
            </a:fld>
            <a:endParaRPr lang="zh-CN" alt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5" name="矩形 458754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58757" name="矩形 458756"/>
          <p:cNvSpPr/>
          <p:nvPr/>
        </p:nvSpPr>
        <p:spPr>
          <a:xfrm>
            <a:off x="250825" y="908050"/>
            <a:ext cx="28638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、子程序设计举例</a:t>
            </a: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58758" name="矩形 458757"/>
          <p:cNvSpPr/>
          <p:nvPr/>
        </p:nvSpPr>
        <p:spPr>
          <a:xfrm>
            <a:off x="395288" y="1628775"/>
            <a:ext cx="8064500" cy="8223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）三种传递方法举例。分别用三种参数传递方法编写求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＋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的和的程序。要求将结果送到内存单元，并显示。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84</a:t>
            </a:fld>
            <a:endParaRPr lang="zh-CN" alt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矩形 461825"/>
          <p:cNvSpPr/>
          <p:nvPr/>
        </p:nvSpPr>
        <p:spPr>
          <a:xfrm>
            <a:off x="265113" y="254000"/>
            <a:ext cx="5602287" cy="62992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    segment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sum     db 0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    ends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stack    segment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db   100  dup(?)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stack    ends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  segment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assume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ds:data,ss:stack,cs:code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start: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ax,data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ds,ax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b="1" err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al, 1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b="1" err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bl</a:t>
            </a:r>
            <a:r>
              <a:rPr lang="en-US" altLang="zh-CN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2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call </a:t>
            </a:r>
            <a:r>
              <a:rPr lang="en-US" altLang="zh-CN" b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subprog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ah,4ch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21h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 ends</a:t>
            </a:r>
          </a:p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　　  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      start</a:t>
            </a:r>
          </a:p>
        </p:txBody>
      </p:sp>
      <p:sp>
        <p:nvSpPr>
          <p:cNvPr id="461827" name="矩形 461826"/>
          <p:cNvSpPr/>
          <p:nvPr/>
        </p:nvSpPr>
        <p:spPr>
          <a:xfrm>
            <a:off x="5219700" y="3213100"/>
            <a:ext cx="3773488" cy="3378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>
              <a:spcBef>
                <a:spcPct val="0"/>
              </a:spcBef>
            </a:pP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subprog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proc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   add al,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bl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or al, 30h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sum, al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dl,al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ah,2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21h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ret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</a:p>
          <a:p>
            <a:pPr lvl="0" algn="l" eaLnBrk="1" hangingPunct="1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sub 	  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endp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</a:p>
        </p:txBody>
      </p:sp>
      <p:sp>
        <p:nvSpPr>
          <p:cNvPr id="461828" name="文本框 461827"/>
          <p:cNvSpPr txBox="1"/>
          <p:nvPr/>
        </p:nvSpPr>
        <p:spPr>
          <a:xfrm>
            <a:off x="5435600" y="981075"/>
            <a:ext cx="3200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0" hangingPunct="0">
              <a:spcBef>
                <a:spcPct val="0"/>
              </a:spcBef>
              <a:buClrTx/>
              <a:buFont typeface="Wingdings" panose="05000000000000000000" pitchFamily="2" charset="2"/>
              <a:buChar char="F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通过寄存器传送</a:t>
            </a:r>
          </a:p>
        </p:txBody>
      </p:sp>
      <p:sp>
        <p:nvSpPr>
          <p:cNvPr id="461829" name="矩形 461828"/>
          <p:cNvSpPr/>
          <p:nvPr/>
        </p:nvSpPr>
        <p:spPr>
          <a:xfrm>
            <a:off x="5181600" y="3284538"/>
            <a:ext cx="3962400" cy="3313112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1830" name="直接连接符 461829"/>
          <p:cNvSpPr/>
          <p:nvPr/>
        </p:nvSpPr>
        <p:spPr>
          <a:xfrm flipH="1">
            <a:off x="1835150" y="4811713"/>
            <a:ext cx="3355975" cy="993775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61831" name="矩形 461830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85</a:t>
            </a:fld>
            <a:endParaRPr lang="zh-CN" alt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文本框 462849"/>
          <p:cNvSpPr txBox="1"/>
          <p:nvPr/>
        </p:nvSpPr>
        <p:spPr>
          <a:xfrm>
            <a:off x="6248400" y="187325"/>
            <a:ext cx="27035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0" hangingPunct="0">
              <a:spcBef>
                <a:spcPct val="0"/>
              </a:spcBef>
              <a:buClrTx/>
              <a:buFont typeface="Wingdings" panose="05000000000000000000" pitchFamily="2" charset="2"/>
              <a:buChar char="F"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通过变量传送</a:t>
            </a:r>
          </a:p>
        </p:txBody>
      </p:sp>
      <p:sp>
        <p:nvSpPr>
          <p:cNvPr id="462851" name="矩形 462850"/>
          <p:cNvSpPr/>
          <p:nvPr/>
        </p:nvSpPr>
        <p:spPr>
          <a:xfrm>
            <a:off x="404813" y="117475"/>
            <a:ext cx="5462587" cy="6335713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lstStyle/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   segment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sum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　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db 0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d1       db ?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d2	db ?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   ends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stack   segment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db   100  dup(?)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stack   ends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 segment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assume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ds:data,ss:stack,cs:code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start: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ax,data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ds,ax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en-US" altLang="zh-CN" b="1" err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d1, 1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b="1" err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d2, 2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call </a:t>
            </a:r>
            <a:r>
              <a:rPr lang="en-US" altLang="zh-CN" b="1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sprog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ah,4ch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21h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 ends</a:t>
            </a:r>
          </a:p>
          <a:p>
            <a:pPr lvl="0" algn="l" eaLnBrk="0" hangingPunct="0">
              <a:lnSpc>
                <a:spcPct val="90000"/>
              </a:lnSpc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　　　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      start</a:t>
            </a:r>
          </a:p>
        </p:txBody>
      </p:sp>
      <p:sp>
        <p:nvSpPr>
          <p:cNvPr id="462852" name="矩形 462851"/>
          <p:cNvSpPr/>
          <p:nvPr/>
        </p:nvSpPr>
        <p:spPr>
          <a:xfrm>
            <a:off x="6011863" y="2133600"/>
            <a:ext cx="2951162" cy="410845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sprog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proc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al, d1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add al, d2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or al, 30h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sum, al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dl,al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ah,2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21h 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ret	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sprog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endp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end  start</a:t>
            </a:r>
          </a:p>
        </p:txBody>
      </p:sp>
      <p:sp>
        <p:nvSpPr>
          <p:cNvPr id="462853" name="矩形 462852"/>
          <p:cNvSpPr/>
          <p:nvPr/>
        </p:nvSpPr>
        <p:spPr>
          <a:xfrm>
            <a:off x="6011863" y="2276475"/>
            <a:ext cx="3024187" cy="396081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2854" name="直接连接符 462853"/>
          <p:cNvSpPr/>
          <p:nvPr/>
        </p:nvSpPr>
        <p:spPr>
          <a:xfrm flipH="1">
            <a:off x="1941513" y="4149725"/>
            <a:ext cx="3998912" cy="1674813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86</a:t>
            </a:fld>
            <a:endParaRPr lang="zh-CN" altLang="en-US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矩形 463873"/>
          <p:cNvSpPr/>
          <p:nvPr/>
        </p:nvSpPr>
        <p:spPr>
          <a:xfrm>
            <a:off x="6096000" y="1557338"/>
            <a:ext cx="3048000" cy="435927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en-US" altLang="zh-CN" sz="2000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Spr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PROC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000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PUSH BP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MOV BP, SP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MOV AX, [BP+6]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MOV BX, [BP+4]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ADD AL, BL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OR AL, 30H</a:t>
            </a:r>
          </a:p>
          <a:p>
            <a:pPr lvl="0" algn="l" eaLnBrk="1" hangingPunct="1">
              <a:spcBef>
                <a:spcPct val="0"/>
              </a:spcBef>
              <a:buClrTx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MOV DL,AL</a:t>
            </a:r>
          </a:p>
          <a:p>
            <a:pPr lvl="0" algn="l" eaLnBrk="1" hangingPunct="1">
              <a:spcBef>
                <a:spcPct val="0"/>
              </a:spcBef>
              <a:buClrTx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MOV AH,2</a:t>
            </a:r>
          </a:p>
          <a:p>
            <a:pPr lvl="0" algn="l" eaLnBrk="1" hangingPunct="1">
              <a:spcBef>
                <a:spcPct val="0"/>
              </a:spcBef>
              <a:buClrTx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INT 21H </a:t>
            </a:r>
          </a:p>
          <a:p>
            <a:pPr lvl="0" algn="l" eaLnBrk="1" hangingPunct="1">
              <a:spcBef>
                <a:spcPct val="0"/>
              </a:spcBef>
              <a:buClrTx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MOV SUM, AL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000" b="1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POP BP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RET	</a:t>
            </a:r>
          </a:p>
          <a:p>
            <a:pPr lvl="0" algn="l" eaLnBrk="0" hangingPunct="0">
              <a:spcBef>
                <a:spcPct val="0"/>
              </a:spcBef>
            </a:pPr>
            <a:r>
              <a:rPr lang="en-US" altLang="zh-CN" sz="2000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Spr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	ENDP</a:t>
            </a:r>
          </a:p>
        </p:txBody>
      </p:sp>
      <p:sp>
        <p:nvSpPr>
          <p:cNvPr id="463875" name="文本框 463874"/>
          <p:cNvSpPr txBox="1"/>
          <p:nvPr/>
        </p:nvSpPr>
        <p:spPr>
          <a:xfrm>
            <a:off x="0" y="44450"/>
            <a:ext cx="6172200" cy="673735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lstStyle/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    SEGMENT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SUM        DB 0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    ENDS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STACK   SEGMENT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DB   100  DUP(?)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STACK   ENDS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  SEGMENT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ASSUME  DS:DATA,SS:STACK,CS:CODE           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START:  MOV AX,DATA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MOV DS,AX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　　　  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 AL, 1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MOV BL, 2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MOV AH,0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MOV BH,0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PUSH AX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PUSH BX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CALL SPR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</a:t>
            </a: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POP BX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POP AX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MOV AH,4CH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INT 21H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  ENDS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        START</a:t>
            </a:r>
          </a:p>
        </p:txBody>
      </p:sp>
      <p:sp>
        <p:nvSpPr>
          <p:cNvPr id="463876" name="矩形 463875"/>
          <p:cNvSpPr/>
          <p:nvPr/>
        </p:nvSpPr>
        <p:spPr>
          <a:xfrm>
            <a:off x="6096000" y="1557338"/>
            <a:ext cx="3048000" cy="438943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3877" name="文本框 463876"/>
          <p:cNvSpPr txBox="1"/>
          <p:nvPr/>
        </p:nvSpPr>
        <p:spPr>
          <a:xfrm>
            <a:off x="3348038" y="188913"/>
            <a:ext cx="56165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0" hangingPunct="0">
              <a:spcBef>
                <a:spcPct val="0"/>
              </a:spcBef>
              <a:buClrTx/>
              <a:buFont typeface="Wingdings" panose="05000000000000000000" pitchFamily="2" charset="2"/>
              <a:buChar char="F"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通过堆栈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——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功能最强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最灵活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最复杂</a:t>
            </a:r>
          </a:p>
        </p:txBody>
      </p:sp>
      <p:sp>
        <p:nvSpPr>
          <p:cNvPr id="463878" name="直接连接符 463877"/>
          <p:cNvSpPr/>
          <p:nvPr/>
        </p:nvSpPr>
        <p:spPr>
          <a:xfrm flipH="1">
            <a:off x="1908175" y="3573463"/>
            <a:ext cx="4187825" cy="2592387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87</a:t>
            </a:fld>
            <a:endParaRPr lang="zh-CN" alt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9" name="矩形 459778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59787" name="矩形 459786"/>
          <p:cNvSpPr/>
          <p:nvPr/>
        </p:nvSpPr>
        <p:spPr>
          <a:xfrm>
            <a:off x="250825" y="908050"/>
            <a:ext cx="60102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 algn="l" eaLnBrk="0" hangingPunct="0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）递归调用举例。编程计算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N!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N≥0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zh-CN" altLang="en-US" b="1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pic>
        <p:nvPicPr>
          <p:cNvPr id="459788" name="图片 4597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238" y="1989138"/>
            <a:ext cx="2303462" cy="717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88</a:t>
            </a:fld>
            <a:endParaRPr lang="zh-CN" altLang="en-US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9" name="矩形 464898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64901" name="矩形 464900"/>
          <p:cNvSpPr/>
          <p:nvPr/>
        </p:nvSpPr>
        <p:spPr>
          <a:xfrm>
            <a:off x="323850" y="765175"/>
            <a:ext cx="6696075" cy="6002338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lstStyle/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pt-B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  segment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pt-B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       dw  3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pt-B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result  dw  2  dup(?)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   ends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stack segment stack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dw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100 dup(?)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pt-B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stack ends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segment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assume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cs:code,ds:data,ss:stack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start:mov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ax,data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ds,ax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bx,n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push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bx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; </a:t>
            </a:r>
            <a:r>
              <a:rPr lang="zh-CN" altLang="pt-BR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入口参数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pt-BR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入栈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call  fact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; </a:t>
            </a:r>
            <a:r>
              <a:rPr lang="zh-CN" altLang="pt-BR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调用递归子程序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pop  result                         ; </a:t>
            </a:r>
            <a:r>
              <a:rPr lang="zh-CN" altLang="pt-BR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出口参数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！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mov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ah,4ch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en-US" altLang="zh-CN" b="1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21h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89</a:t>
            </a:fld>
            <a:endParaRPr lang="zh-CN" altLang="en-US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3" name="矩形 465922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465925" name="矩形 465924"/>
          <p:cNvSpPr/>
          <p:nvPr/>
        </p:nvSpPr>
        <p:spPr>
          <a:xfrm>
            <a:off x="984250" y="222250"/>
            <a:ext cx="7691438" cy="61595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lstStyle/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FACT 	  PROC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PUSH  AX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PUSH  BP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MOV  BP,SP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MOV  AX,[BP+6]              ; </a:t>
            </a:r>
            <a:r>
              <a:rPr lang="zh-CN" altLang="pt-BR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取入口参数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CMP  AX,0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JNE  FACT1	                  ; N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＞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0,N!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N×(N-1)!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INC  AX	                  ; N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0,N!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＝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JMP  FACT2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FACT1:DEC  AX	                         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 N-1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PUSH  AX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CALL  FACT	                  ; </a:t>
            </a:r>
            <a:r>
              <a:rPr lang="zh-CN" altLang="pt-BR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调用递归子程序求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(N-1)!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POP  AX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</a:t>
            </a:r>
            <a:r>
              <a:rPr lang="pt-B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MUL  WORD  PTR [BP+6]     ; </a:t>
            </a:r>
            <a:r>
              <a:rPr lang="zh-CN" altLang="pt-BR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 </a:t>
            </a:r>
            <a:r>
              <a:rPr lang="pt-B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N×(N-1)!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pt-B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FACT2:MOV  [BP+6],AX                        ; </a:t>
            </a:r>
            <a:r>
              <a:rPr lang="zh-CN" altLang="pt-BR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存入出口参数 </a:t>
            </a:r>
            <a:r>
              <a:rPr lang="pt-B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N!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pt-B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POP  BP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POP  AX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RET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FACT	  ENDP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pt-B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CODE   ENDS</a:t>
            </a:r>
          </a:p>
          <a:p>
            <a:pPr lvl="0" algn="l" eaLnBrk="0" hangingPunct="0">
              <a:lnSpc>
                <a:spcPct val="95000"/>
              </a:lnSpc>
              <a:spcBef>
                <a:spcPct val="0"/>
              </a:spcBef>
            </a:pPr>
            <a:r>
              <a:rPr lang="pt-BR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END  START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65926" name="矩形 465925"/>
          <p:cNvSpPr/>
          <p:nvPr/>
        </p:nvSpPr>
        <p:spPr>
          <a:xfrm>
            <a:off x="3635375" y="188913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90</a:t>
            </a:fld>
            <a:endParaRPr lang="zh-CN" altLang="en-US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文本框 467969"/>
          <p:cNvSpPr txBox="1"/>
          <p:nvPr/>
        </p:nvSpPr>
        <p:spPr>
          <a:xfrm>
            <a:off x="323850" y="2348880"/>
            <a:ext cx="8515350" cy="191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在子程序设计中</a:t>
            </a:r>
          </a:p>
          <a:p>
            <a:pPr lvl="0" algn="just" eaLnBrk="1" hangingPunct="1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要明确定义出子程序的入口参数和出口参数，使调用者能方便地使用子程序。</a:t>
            </a:r>
          </a:p>
          <a:p>
            <a:pPr lvl="0" algn="just" eaLnBrk="1" hangingPunct="1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在子程序中要合理地保存主程序和子程序中要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都用到的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寄存器和存储单元，以使主程序能正确地运行。</a:t>
            </a:r>
          </a:p>
        </p:txBody>
      </p:sp>
      <p:sp>
        <p:nvSpPr>
          <p:cNvPr id="467971" name="文本框 467970"/>
          <p:cNvSpPr txBox="1"/>
          <p:nvPr/>
        </p:nvSpPr>
        <p:spPr>
          <a:xfrm>
            <a:off x="323850" y="1341438"/>
            <a:ext cx="8610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子程序是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提高程序设计效率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的良好手段，也为模块化设计提供了很好的基础。</a:t>
            </a:r>
          </a:p>
        </p:txBody>
      </p:sp>
      <p:sp>
        <p:nvSpPr>
          <p:cNvPr id="467972" name="矩形 467971"/>
          <p:cNvSpPr/>
          <p:nvPr/>
        </p:nvSpPr>
        <p:spPr>
          <a:xfrm>
            <a:off x="3203575" y="811213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l" eaLnBrk="1" hangingPunct="1">
              <a:spcBef>
                <a:spcPct val="20000"/>
              </a:spcBef>
              <a:buClrTx/>
            </a:pP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子程序总结</a:t>
            </a:r>
          </a:p>
        </p:txBody>
      </p:sp>
      <p:sp>
        <p:nvSpPr>
          <p:cNvPr id="467973" name="矩形 467972"/>
          <p:cNvSpPr/>
          <p:nvPr/>
        </p:nvSpPr>
        <p:spPr>
          <a:xfrm>
            <a:off x="2555875" y="115888"/>
            <a:ext cx="51117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zh-CN" sz="32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4.5  </a:t>
            </a:r>
            <a:r>
              <a:rPr lang="zh-CN" altLang="en-US" sz="32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汇编语言程序设计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/>
              <a:t>91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22138" y="4368469"/>
            <a:ext cx="8642350" cy="201285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>
              <a:spcBef>
                <a:spcPct val="20000"/>
              </a:spcBef>
              <a:buClrTx/>
            </a:pP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注意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：三种传递参数的方法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不是固定不变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的，要按照实现的需要和具体情况的不同选择。可以使用其中一种或同时使用几种混合的方式</a:t>
            </a:r>
          </a:p>
          <a:p>
            <a:pPr lvl="0" algn="l" eaLnBrk="1" hangingPunct="1">
              <a:spcBef>
                <a:spcPct val="20000"/>
              </a:spcBef>
              <a:buClrTx/>
            </a:pP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如果有</a:t>
            </a:r>
            <a:r>
              <a:rPr lang="zh-CN" altLang="en-US" b="1" dirty="0">
                <a:solidFill>
                  <a:srgbClr val="000000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参数传递，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参数不宜太多。参数选择的适当，可以简化程序设计。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整洁型模板">
  <a:themeElements>
    <a:clrScheme name="">
      <a:dk1>
        <a:srgbClr val="FFFFFF"/>
      </a:dk1>
      <a:lt1>
        <a:srgbClr val="2181B7"/>
      </a:lt1>
      <a:dk2>
        <a:srgbClr val="CCFFFF"/>
      </a:dk2>
      <a:lt2>
        <a:srgbClr val="001932"/>
      </a:lt2>
      <a:accent1>
        <a:srgbClr val="99FFCC"/>
      </a:accent1>
      <a:accent2>
        <a:srgbClr val="01B0FF"/>
      </a:accent2>
      <a:accent3>
        <a:srgbClr val="ABC1D7"/>
      </a:accent3>
      <a:accent4>
        <a:srgbClr val="DCDCDC"/>
      </a:accent4>
      <a:accent5>
        <a:srgbClr val="CAFFE2"/>
      </a:accent5>
      <a:accent6>
        <a:srgbClr val="009DE5"/>
      </a:accent6>
      <a:hlink>
        <a:srgbClr val="6666FF"/>
      </a:hlink>
      <a:folHlink>
        <a:srgbClr val="1C6D9A"/>
      </a:folHlink>
    </a:clrScheme>
    <a:fontScheme name="">
      <a:majorFont>
        <a:latin typeface="Impact"/>
        <a:ea typeface="宋体"/>
        <a:cs typeface=""/>
      </a:majorFont>
      <a:minorFont>
        <a:latin typeface="Impact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2181B7"/>
        </a:lt1>
        <a:dk2>
          <a:srgbClr val="CCFFFF"/>
        </a:dk2>
        <a:lt2>
          <a:srgbClr val="001932"/>
        </a:lt2>
        <a:accent1>
          <a:srgbClr val="99FFCC"/>
        </a:accent1>
        <a:accent2>
          <a:srgbClr val="01B0FF"/>
        </a:accent2>
        <a:accent3>
          <a:srgbClr val="ABC1D7"/>
        </a:accent3>
        <a:accent4>
          <a:srgbClr val="DCDCDC"/>
        </a:accent4>
        <a:accent5>
          <a:srgbClr val="CAFFE2"/>
        </a:accent5>
        <a:accent6>
          <a:srgbClr val="009DE5"/>
        </a:accent6>
        <a:hlink>
          <a:srgbClr val="6666FF"/>
        </a:hlink>
        <a:folHlink>
          <a:srgbClr val="1C6D9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66699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B9B9CA"/>
        </a:accent5>
        <a:accent6>
          <a:srgbClr val="B7B7E5"/>
        </a:accent6>
        <a:hlink>
          <a:srgbClr val="CC00C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1E1E1"/>
        </a:accent5>
        <a:accent6>
          <a:srgbClr val="78787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FF6600"/>
        </a:dk2>
        <a:lt2>
          <a:srgbClr val="333300"/>
        </a:lt2>
        <a:accent1>
          <a:srgbClr val="800000"/>
        </a:accent1>
        <a:accent2>
          <a:srgbClr val="CC6600"/>
        </a:accent2>
        <a:accent3>
          <a:srgbClr val="FFFFE2"/>
        </a:accent3>
        <a:accent4>
          <a:srgbClr val="000000"/>
        </a:accent4>
        <a:accent5>
          <a:srgbClr val="C1AAAA"/>
        </a:accent5>
        <a:accent6>
          <a:srgbClr val="B75B00"/>
        </a:accent6>
        <a:hlink>
          <a:srgbClr val="8080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DDDDDD"/>
        </a:dk2>
        <a:lt2>
          <a:srgbClr val="1C3956"/>
        </a:lt2>
        <a:accent1>
          <a:srgbClr val="3D7CBB"/>
        </a:accent1>
        <a:accent2>
          <a:srgbClr val="00152A"/>
        </a:accent2>
        <a:accent3>
          <a:srgbClr val="AAADB9"/>
        </a:accent3>
        <a:accent4>
          <a:srgbClr val="DCDCDC"/>
        </a:accent4>
        <a:accent5>
          <a:srgbClr val="AFBFD9"/>
        </a:accent5>
        <a:accent6>
          <a:srgbClr val="001225"/>
        </a:accent6>
        <a:hlink>
          <a:srgbClr val="33CCCC"/>
        </a:hlink>
        <a:folHlink>
          <a:srgbClr val="96B9D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440044"/>
        </a:dk2>
        <a:lt2>
          <a:srgbClr val="491D49"/>
        </a:lt2>
        <a:accent1>
          <a:srgbClr val="9D9DBD"/>
        </a:accent1>
        <a:accent2>
          <a:srgbClr val="14213C"/>
        </a:accent2>
        <a:accent3>
          <a:srgbClr val="FFFFFF"/>
        </a:accent3>
        <a:accent4>
          <a:srgbClr val="000000"/>
        </a:accent4>
        <a:accent5>
          <a:srgbClr val="CCCCDA"/>
        </a:accent5>
        <a:accent6>
          <a:srgbClr val="111D35"/>
        </a:accent6>
        <a:hlink>
          <a:srgbClr val="666699"/>
        </a:hlink>
        <a:folHlink>
          <a:srgbClr val="DBDBF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001A00"/>
        </a:lt2>
        <a:accent1>
          <a:srgbClr val="339966"/>
        </a:accent1>
        <a:accent2>
          <a:srgbClr val="003300"/>
        </a:accent2>
        <a:accent3>
          <a:srgbClr val="FFFFFF"/>
        </a:accent3>
        <a:accent4>
          <a:srgbClr val="000000"/>
        </a:accent4>
        <a:accent5>
          <a:srgbClr val="ADCAB9"/>
        </a:accent5>
        <a:accent6>
          <a:srgbClr val="002D00"/>
        </a:accent6>
        <a:hlink>
          <a:srgbClr val="FF9933"/>
        </a:hlink>
        <a:folHlink>
          <a:srgbClr val="AFE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FFCC00"/>
        </a:dk2>
        <a:lt2>
          <a:srgbClr val="000000"/>
        </a:lt2>
        <a:accent1>
          <a:srgbClr val="FF9900"/>
        </a:accent1>
        <a:accent2>
          <a:srgbClr val="D60093"/>
        </a:accent2>
        <a:accent3>
          <a:srgbClr val="AAAAAA"/>
        </a:accent3>
        <a:accent4>
          <a:srgbClr val="DCDCDC"/>
        </a:accent4>
        <a:accent5>
          <a:srgbClr val="FFCAAA"/>
        </a:accent5>
        <a:accent6>
          <a:srgbClr val="C00083"/>
        </a:accent6>
        <a:hlink>
          <a:srgbClr val="99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Office\Templates\演示文稿设计\整洁型模板.pot</Template>
  <TotalTime>279</TotalTime>
  <Words>8649</Words>
  <Application>Microsoft Office PowerPoint</Application>
  <PresentationFormat>全屏显示(4:3)</PresentationFormat>
  <Paragraphs>1158</Paragraphs>
  <Slides>91</Slides>
  <Notes>0</Notes>
  <HiddenSlides>13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91</vt:i4>
      </vt:variant>
    </vt:vector>
  </HeadingPairs>
  <TitlesOfParts>
    <vt:vector size="103" baseType="lpstr">
      <vt:lpstr>Monotype Sorts</vt:lpstr>
      <vt:lpstr>隶书</vt:lpstr>
      <vt:lpstr>宋体</vt:lpstr>
      <vt:lpstr>Arial</vt:lpstr>
      <vt:lpstr>Arial Black</vt:lpstr>
      <vt:lpstr>Arial Narrow</vt:lpstr>
      <vt:lpstr>Impact</vt:lpstr>
      <vt:lpstr>Tahoma</vt:lpstr>
      <vt:lpstr>Times New Roman</vt:lpstr>
      <vt:lpstr>Wingdings</vt:lpstr>
      <vt:lpstr>整洁型模板</vt:lpstr>
      <vt:lpstr>Visio.Drawing.6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三、汇编语言语句类型及格式 </vt:lpstr>
      <vt:lpstr>2、汇编语言语句的格式 </vt:lpstr>
      <vt:lpstr>PowerPoint 演示文稿</vt:lpstr>
      <vt:lpstr>1、常量、变量与标号 （1）常量 在程序执行过程中值不发生变化的量，是一个立即数。  数值常量、字符常量、符号常量</vt:lpstr>
      <vt:lpstr>PowerPoint 演示文稿</vt:lpstr>
      <vt:lpstr>PowerPoint 演示文稿</vt:lpstr>
      <vt:lpstr>PowerPoint 演示文稿</vt:lpstr>
      <vt:lpstr>例：测试为0或1</vt:lpstr>
      <vt:lpstr>2、表达式</vt:lpstr>
      <vt:lpstr>PowerPoint 演示文稿</vt:lpstr>
      <vt:lpstr>PowerPoint 演示文稿</vt:lpstr>
      <vt:lpstr>（1）算术运算符</vt:lpstr>
      <vt:lpstr>(2)逻辑运算符</vt:lpstr>
      <vt:lpstr>(3)关系运算符</vt:lpstr>
      <vt:lpstr>4、取值运算符</vt:lpstr>
      <vt:lpstr>PowerPoint 演示文稿</vt:lpstr>
      <vt:lpstr>(2)合成运算符</vt:lpstr>
      <vt:lpstr>② this</vt:lpstr>
      <vt:lpstr>运算符的优先级</vt:lpstr>
      <vt:lpstr>PowerPoint 演示文稿</vt:lpstr>
      <vt:lpstr>一、符号定义伪指令</vt:lpstr>
      <vt:lpstr>PowerPoint 演示文稿</vt:lpstr>
      <vt:lpstr>二、变量定义伪指令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三、段定义伪指令</vt:lpstr>
      <vt:lpstr>PowerPoint 演示文稿</vt:lpstr>
      <vt:lpstr>PowerPoint 演示文稿</vt:lpstr>
      <vt:lpstr>PowerPoint 演示文稿</vt:lpstr>
      <vt:lpstr>2、源程序结束伪指令END</vt:lpstr>
      <vt:lpstr>PowerPoint 演示文稿</vt:lpstr>
      <vt:lpstr>一、系统功能调用方法</vt:lpstr>
      <vt:lpstr>二、常用的DOS系统功能调用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示例：双分支程序设计。编写一程序，显示 BX寄存器中所存数据的最高位。即若BX的最高位为1，则在屏幕上显示“1”；否则显示“0” </vt:lpstr>
      <vt:lpstr>示例：多分支程序设计。编写计算以下函数值的程序，设X和Y都为有符号字变量（不考虑溢出情况）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示例：多重循环程序设计。在以BUF为首址的字存储区中存放有N个带符号数据，编程实现将它们按由大到小的顺序排列后再存放回原存储区中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1、子程序的定义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第4章 汇编语言程序设计</dc:title>
  <dc:creator>shen</dc:creator>
  <cp:lastModifiedBy>Joy Liu</cp:lastModifiedBy>
  <cp:revision>529</cp:revision>
  <dcterms:created xsi:type="dcterms:W3CDTF">2000-01-23T08:13:00Z</dcterms:created>
  <dcterms:modified xsi:type="dcterms:W3CDTF">2025-03-02T15:29:22Z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2052-10.1.0.6206</vt:lpwstr>
  </property>
</Properties>
</file>