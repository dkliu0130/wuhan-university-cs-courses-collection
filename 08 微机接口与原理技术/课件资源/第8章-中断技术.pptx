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2"/>
  </p:notesMasterIdLst>
  <p:sldIdLst>
    <p:sldId id="418" r:id="rId2"/>
    <p:sldId id="487" r:id="rId3"/>
    <p:sldId id="368" r:id="rId4"/>
    <p:sldId id="488" r:id="rId5"/>
    <p:sldId id="489" r:id="rId6"/>
    <p:sldId id="490" r:id="rId7"/>
    <p:sldId id="558" r:id="rId8"/>
    <p:sldId id="493" r:id="rId9"/>
    <p:sldId id="494" r:id="rId10"/>
    <p:sldId id="495" r:id="rId11"/>
    <p:sldId id="496" r:id="rId12"/>
    <p:sldId id="497" r:id="rId13"/>
    <p:sldId id="423" r:id="rId14"/>
    <p:sldId id="498" r:id="rId15"/>
    <p:sldId id="499" r:id="rId16"/>
    <p:sldId id="500" r:id="rId17"/>
    <p:sldId id="501" r:id="rId18"/>
    <p:sldId id="502" r:id="rId19"/>
    <p:sldId id="503" r:id="rId20"/>
    <p:sldId id="549" r:id="rId21"/>
    <p:sldId id="504" r:id="rId22"/>
    <p:sldId id="467" r:id="rId23"/>
    <p:sldId id="506" r:id="rId24"/>
    <p:sldId id="559" r:id="rId25"/>
    <p:sldId id="508" r:id="rId26"/>
    <p:sldId id="560" r:id="rId27"/>
    <p:sldId id="509" r:id="rId28"/>
    <p:sldId id="561" r:id="rId29"/>
    <p:sldId id="510" r:id="rId30"/>
    <p:sldId id="562" r:id="rId31"/>
    <p:sldId id="511" r:id="rId32"/>
    <p:sldId id="516" r:id="rId33"/>
    <p:sldId id="512" r:id="rId34"/>
    <p:sldId id="563" r:id="rId35"/>
    <p:sldId id="507" r:id="rId36"/>
    <p:sldId id="514" r:id="rId37"/>
    <p:sldId id="565" r:id="rId38"/>
    <p:sldId id="515" r:id="rId39"/>
    <p:sldId id="564" r:id="rId40"/>
    <p:sldId id="517" r:id="rId41"/>
    <p:sldId id="518" r:id="rId42"/>
    <p:sldId id="519" r:id="rId43"/>
    <p:sldId id="520" r:id="rId44"/>
    <p:sldId id="551" r:id="rId45"/>
    <p:sldId id="521" r:id="rId46"/>
    <p:sldId id="522" r:id="rId47"/>
    <p:sldId id="523" r:id="rId48"/>
    <p:sldId id="524" r:id="rId49"/>
    <p:sldId id="525" r:id="rId50"/>
    <p:sldId id="526" r:id="rId51"/>
    <p:sldId id="552" r:id="rId52"/>
    <p:sldId id="527" r:id="rId53"/>
    <p:sldId id="553" r:id="rId54"/>
    <p:sldId id="528" r:id="rId55"/>
    <p:sldId id="529" r:id="rId56"/>
    <p:sldId id="530" r:id="rId57"/>
    <p:sldId id="531" r:id="rId58"/>
    <p:sldId id="566" r:id="rId59"/>
    <p:sldId id="532" r:id="rId60"/>
    <p:sldId id="533" r:id="rId61"/>
    <p:sldId id="554" r:id="rId62"/>
    <p:sldId id="567" r:id="rId63"/>
    <p:sldId id="534" r:id="rId64"/>
    <p:sldId id="555" r:id="rId65"/>
    <p:sldId id="568" r:id="rId66"/>
    <p:sldId id="535" r:id="rId67"/>
    <p:sldId id="536" r:id="rId68"/>
    <p:sldId id="537" r:id="rId69"/>
    <p:sldId id="538" r:id="rId70"/>
    <p:sldId id="556" r:id="rId71"/>
    <p:sldId id="557" r:id="rId72"/>
    <p:sldId id="569" r:id="rId73"/>
    <p:sldId id="570" r:id="rId74"/>
    <p:sldId id="571" r:id="rId75"/>
    <p:sldId id="572" r:id="rId76"/>
    <p:sldId id="573" r:id="rId77"/>
    <p:sldId id="574" r:id="rId78"/>
    <p:sldId id="575" r:id="rId79"/>
    <p:sldId id="576" r:id="rId80"/>
    <p:sldId id="577" r:id="rId81"/>
  </p:sldIdLst>
  <p:sldSz cx="9144000" cy="6858000" type="screen4x3"/>
  <p:notesSz cx="6858000" cy="9144000"/>
  <p:defaultTex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a:srgbClr val="CC0066"/>
    <a:srgbClr val="990099"/>
    <a:srgbClr val="CC0099"/>
    <a:srgbClr val="FF3399"/>
    <a:srgbClr val="FF66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83"/>
    <p:restoredTop sz="94603"/>
  </p:normalViewPr>
  <p:slideViewPr>
    <p:cSldViewPr showGuides="1">
      <p:cViewPr varScale="1">
        <p:scale>
          <a:sx n="80" d="100"/>
          <a:sy n="80" d="100"/>
        </p:scale>
        <p:origin x="1555"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页眉占位符 22529"/>
          <p:cNvSpPr>
            <a:spLocks noGrp="1"/>
          </p:cNvSpPr>
          <p:nvPr>
            <p:ph type="hdr" sz="quarter"/>
          </p:nvPr>
        </p:nvSpPr>
        <p:spPr>
          <a:xfrm>
            <a:off x="0" y="0"/>
            <a:ext cx="2971800" cy="457200"/>
          </a:xfrm>
          <a:prstGeom prst="rect">
            <a:avLst/>
          </a:prstGeom>
          <a:noFill/>
          <a:ln w="9525">
            <a:noFill/>
          </a:ln>
        </p:spPr>
        <p:txBody>
          <a:bodyPr/>
          <a:lstStyle/>
          <a:p>
            <a:pPr lvl="0"/>
            <a:endParaRPr lang="zh-CN" altLang="en-US" sz="1200" dirty="0">
              <a:latin typeface="Tahoma" panose="020B0604030504040204" pitchFamily="34" charset="0"/>
            </a:endParaRPr>
          </a:p>
        </p:txBody>
      </p:sp>
      <p:sp>
        <p:nvSpPr>
          <p:cNvPr id="22531" name="日期占位符 22530"/>
          <p:cNvSpPr>
            <a:spLocks noGrp="1"/>
          </p:cNvSpPr>
          <p:nvPr>
            <p:ph type="dt" idx="1"/>
          </p:nvPr>
        </p:nvSpPr>
        <p:spPr>
          <a:xfrm>
            <a:off x="3886200" y="0"/>
            <a:ext cx="2971800" cy="457200"/>
          </a:xfrm>
          <a:prstGeom prst="rect">
            <a:avLst/>
          </a:prstGeom>
          <a:noFill/>
          <a:ln w="9525">
            <a:noFill/>
          </a:ln>
        </p:spPr>
        <p:txBody>
          <a:bodyPr/>
          <a:lstStyle/>
          <a:p>
            <a:pPr lvl="0" algn="r"/>
            <a:endParaRPr lang="zh-CN" altLang="en-US" sz="1200" dirty="0">
              <a:latin typeface="Tahoma" panose="020B0604030504040204" pitchFamily="34" charset="0"/>
            </a:endParaRPr>
          </a:p>
        </p:txBody>
      </p:sp>
      <p:sp>
        <p:nvSpPr>
          <p:cNvPr id="22532" name="幻灯片图像占位符 22531"/>
          <p:cNvSpPr>
            <a:spLocks noGrp="1" noRot="1" noChangeAspect="1" noTextEdit="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22533" name="文本占位符 22532"/>
          <p:cNvSpPr>
            <a:spLocks noGrp="1"/>
          </p:cNvSpPr>
          <p:nvPr>
            <p:ph type="body" sz="quarter" idx="3"/>
          </p:nvPr>
        </p:nvSpPr>
        <p:spPr>
          <a:xfrm>
            <a:off x="914400" y="4343400"/>
            <a:ext cx="50292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2534" name="页脚占位符 22533"/>
          <p:cNvSpPr>
            <a:spLocks noGrp="1"/>
          </p:cNvSpPr>
          <p:nvPr>
            <p:ph type="ftr" sz="quarter" idx="4"/>
          </p:nvPr>
        </p:nvSpPr>
        <p:spPr>
          <a:xfrm>
            <a:off x="0" y="8686800"/>
            <a:ext cx="2971800" cy="457200"/>
          </a:xfrm>
          <a:prstGeom prst="rect">
            <a:avLst/>
          </a:prstGeom>
          <a:noFill/>
          <a:ln w="9525">
            <a:noFill/>
          </a:ln>
        </p:spPr>
        <p:txBody>
          <a:bodyPr anchor="b"/>
          <a:lstStyle/>
          <a:p>
            <a:pPr lvl="0"/>
            <a:endParaRPr lang="zh-CN" altLang="en-US" sz="1200" dirty="0">
              <a:latin typeface="Tahoma" panose="020B0604030504040204" pitchFamily="34" charset="0"/>
            </a:endParaRPr>
          </a:p>
        </p:txBody>
      </p:sp>
      <p:sp>
        <p:nvSpPr>
          <p:cNvPr id="22535" name="灯片编号占位符 22534"/>
          <p:cNvSpPr>
            <a:spLocks noGrp="1"/>
          </p:cNvSpPr>
          <p:nvPr>
            <p:ph type="sldNum" sz="quarter" idx="5"/>
          </p:nvPr>
        </p:nvSpPr>
        <p:spPr>
          <a:xfrm>
            <a:off x="3886200" y="8686800"/>
            <a:ext cx="2971800" cy="457200"/>
          </a:xfrm>
          <a:prstGeom prst="rect">
            <a:avLst/>
          </a:prstGeom>
          <a:noFill/>
          <a:ln w="9525">
            <a:noFill/>
          </a:ln>
        </p:spPr>
        <p:txBody>
          <a:bodyPr anchor="b"/>
          <a:lstStyle/>
          <a:p>
            <a:pPr lvl="0" algn="r"/>
            <a:fld id="{9A0DB2DC-4C9A-4742-B13C-FB6460FD3503}" type="slidenum">
              <a:rPr lang="zh-CN" altLang="en-US" sz="1200" dirty="0">
                <a:latin typeface="Tahoma" panose="020B0604030504040204" pitchFamily="34" charset="0"/>
              </a:rPr>
              <a:t>‹#›</a:t>
            </a:fld>
            <a:endParaRPr lang="zh-CN" altLang="en-US" sz="1200" dirty="0">
              <a:latin typeface="Tahoma" panose="020B0604030504040204" pitchFamily="34" charset="0"/>
            </a:endParaRPr>
          </a:p>
        </p:txBody>
      </p:sp>
    </p:spTree>
    <p:extLst>
      <p:ext uri="{BB962C8B-B14F-4D97-AF65-F5344CB8AC3E}">
        <p14:creationId xmlns:p14="http://schemas.microsoft.com/office/powerpoint/2010/main" val="417477441"/>
      </p:ext>
    </p:extLst>
  </p:cSld>
  <p:clrMap bg1="lt1" tx1="dk1" bg2="lt2" tx2="dk2" accent1="accent1" accent2="accent2" accent3="accent3" accent4="accent4" accent5="accent5" accent6="accent6" hlink="hlink" folHlink="folHlink"/>
  <p:hf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latin typeface="Tahoma" panose="020B0604030504040204" pitchFamily="34" charset="0"/>
              </a:rPr>
              <a:t>66</a:t>
            </a:fld>
            <a:endParaRPr lang="zh-CN" altLang="en-US" sz="1200" dirty="0">
              <a:latin typeface="Tahoma" panose="020B0604030504040204" pitchFamily="34" charset="0"/>
            </a:endParaRPr>
          </a:p>
        </p:txBody>
      </p:sp>
    </p:spTree>
    <p:extLst>
      <p:ext uri="{BB962C8B-B14F-4D97-AF65-F5344CB8AC3E}">
        <p14:creationId xmlns:p14="http://schemas.microsoft.com/office/powerpoint/2010/main" val="2816081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buClrTx/>
            </a:pPr>
            <a:endParaRPr lang="zh-CN" altLang="en-US" dirty="0"/>
          </a:p>
        </p:txBody>
      </p:sp>
      <p:sp>
        <p:nvSpPr>
          <p:cNvPr id="5" name="页脚占位符 4"/>
          <p:cNvSpPr>
            <a:spLocks noGrp="1"/>
          </p:cNvSpPr>
          <p:nvPr>
            <p:ph type="ftr" sz="quarter" idx="11"/>
          </p:nvPr>
        </p:nvSpPr>
        <p:spPr/>
        <p:txBody>
          <a:bodyPr/>
          <a:lstStyle/>
          <a:p>
            <a:pPr lvl="0">
              <a:buClrTx/>
            </a:pPr>
            <a:endParaRPr lang="zh-CN" altLang="en-US" dirty="0"/>
          </a:p>
        </p:txBody>
      </p:sp>
      <p:sp>
        <p:nvSpPr>
          <p:cNvPr id="6" name="灯片编号占位符 5"/>
          <p:cNvSpPr>
            <a:spLocks noGrp="1"/>
          </p:cNvSpPr>
          <p:nvPr>
            <p:ph type="sldNum" sz="quarter" idx="12"/>
          </p:nvPr>
        </p:nvSpPr>
        <p:spPr/>
        <p:txBody>
          <a:bodyPr/>
          <a:lstStyle/>
          <a:p>
            <a:pPr lvl="0">
              <a:buClrTx/>
            </a:pPr>
            <a:fld id="{9A0DB2DC-4C9A-4742-B13C-FB6460FD3503}" type="slidenum">
              <a:rPr lang="zh-CN" altLang="en-US" dirty="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buClrTx/>
            </a:pPr>
            <a:fld id="{BB962C8B-B14F-4D97-AF65-F5344CB8AC3E}" type="datetime1">
              <a:rPr lang="zh-CN" altLang="en-US" dirty="0"/>
              <a:t>2025/3/23</a:t>
            </a:fld>
            <a:endParaRPr lang="zh-CN" altLang="en-US" dirty="0"/>
          </a:p>
        </p:txBody>
      </p:sp>
      <p:sp>
        <p:nvSpPr>
          <p:cNvPr id="5" name="页脚占位符 4"/>
          <p:cNvSpPr>
            <a:spLocks noGrp="1"/>
          </p:cNvSpPr>
          <p:nvPr>
            <p:ph type="ftr" sz="quarter" idx="11"/>
          </p:nvPr>
        </p:nvSpPr>
        <p:spPr/>
        <p:txBody>
          <a:bodyPr/>
          <a:lstStyle/>
          <a:p>
            <a:pPr lvl="0">
              <a:buClrTx/>
            </a:pPr>
            <a:endParaRPr lang="zh-CN" altLang="en-US" dirty="0"/>
          </a:p>
        </p:txBody>
      </p:sp>
      <p:sp>
        <p:nvSpPr>
          <p:cNvPr id="6" name="灯片编号占位符 5"/>
          <p:cNvSpPr>
            <a:spLocks noGrp="1"/>
          </p:cNvSpPr>
          <p:nvPr>
            <p:ph type="sldNum" sz="quarter" idx="12"/>
          </p:nvPr>
        </p:nvSpPr>
        <p:spPr/>
        <p:txBody>
          <a:bodyPr/>
          <a:lstStyle/>
          <a:p>
            <a:pPr lvl="0">
              <a:buClrTx/>
            </a:pPr>
            <a:fld id="{9A0DB2DC-4C9A-4742-B13C-FB6460FD3503}" type="slidenum">
              <a:rPr lang="zh-CN" altLang="en-US" dirty="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buClrTx/>
            </a:pPr>
            <a:endParaRPr lang="zh-CN" altLang="en-US" dirty="0"/>
          </a:p>
        </p:txBody>
      </p:sp>
      <p:sp>
        <p:nvSpPr>
          <p:cNvPr id="5" name="页脚占位符 4"/>
          <p:cNvSpPr>
            <a:spLocks noGrp="1"/>
          </p:cNvSpPr>
          <p:nvPr>
            <p:ph type="ftr" sz="quarter" idx="11"/>
          </p:nvPr>
        </p:nvSpPr>
        <p:spPr/>
        <p:txBody>
          <a:bodyPr/>
          <a:lstStyle/>
          <a:p>
            <a:pPr lvl="0">
              <a:buClrTx/>
            </a:pPr>
            <a:endParaRPr lang="zh-CN" altLang="en-US" dirty="0"/>
          </a:p>
        </p:txBody>
      </p:sp>
      <p:sp>
        <p:nvSpPr>
          <p:cNvPr id="6" name="灯片编号占位符 5"/>
          <p:cNvSpPr>
            <a:spLocks noGrp="1"/>
          </p:cNvSpPr>
          <p:nvPr>
            <p:ph type="sldNum" sz="quarter" idx="12"/>
          </p:nvPr>
        </p:nvSpPr>
        <p:spPr/>
        <p:txBody>
          <a:bodyPr/>
          <a:lstStyle/>
          <a:p>
            <a:pPr lvl="0">
              <a:buClrTx/>
            </a:pPr>
            <a:fld id="{9A0DB2DC-4C9A-4742-B13C-FB6460FD3503}" type="slidenum">
              <a:rPr lang="zh-CN" altLang="en-US" dirty="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buClrTx/>
            </a:pPr>
            <a:endParaRPr lang="zh-CN" altLang="en-US" dirty="0"/>
          </a:p>
        </p:txBody>
      </p:sp>
      <p:sp>
        <p:nvSpPr>
          <p:cNvPr id="6" name="页脚占位符 5"/>
          <p:cNvSpPr>
            <a:spLocks noGrp="1"/>
          </p:cNvSpPr>
          <p:nvPr>
            <p:ph type="ftr" sz="quarter" idx="11"/>
          </p:nvPr>
        </p:nvSpPr>
        <p:spPr/>
        <p:txBody>
          <a:bodyPr/>
          <a:lstStyle/>
          <a:p>
            <a:pPr lvl="0">
              <a:buClrTx/>
            </a:pPr>
            <a:endParaRPr lang="zh-CN" altLang="en-US" dirty="0"/>
          </a:p>
        </p:txBody>
      </p:sp>
      <p:sp>
        <p:nvSpPr>
          <p:cNvPr id="7" name="灯片编号占位符 6"/>
          <p:cNvSpPr>
            <a:spLocks noGrp="1"/>
          </p:cNvSpPr>
          <p:nvPr>
            <p:ph type="sldNum" sz="quarter" idx="12"/>
          </p:nvPr>
        </p:nvSpPr>
        <p:spPr/>
        <p:txBody>
          <a:bodyPr/>
          <a:lstStyle/>
          <a:p>
            <a:pPr lvl="0">
              <a:buClrTx/>
            </a:pPr>
            <a:fld id="{9A0DB2DC-4C9A-4742-B13C-FB6460FD3503}" type="slidenum">
              <a:rPr lang="zh-CN" altLang="en-US" dirty="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buClrTx/>
            </a:pPr>
            <a:endParaRPr lang="zh-CN" altLang="en-US" dirty="0"/>
          </a:p>
        </p:txBody>
      </p:sp>
      <p:sp>
        <p:nvSpPr>
          <p:cNvPr id="8" name="页脚占位符 7"/>
          <p:cNvSpPr>
            <a:spLocks noGrp="1"/>
          </p:cNvSpPr>
          <p:nvPr>
            <p:ph type="ftr" sz="quarter" idx="11"/>
          </p:nvPr>
        </p:nvSpPr>
        <p:spPr/>
        <p:txBody>
          <a:bodyPr/>
          <a:lstStyle/>
          <a:p>
            <a:pPr lvl="0">
              <a:buClrTx/>
            </a:pPr>
            <a:endParaRPr lang="zh-CN" altLang="en-US" dirty="0"/>
          </a:p>
        </p:txBody>
      </p:sp>
      <p:sp>
        <p:nvSpPr>
          <p:cNvPr id="9" name="灯片编号占位符 8"/>
          <p:cNvSpPr>
            <a:spLocks noGrp="1"/>
          </p:cNvSpPr>
          <p:nvPr>
            <p:ph type="sldNum" sz="quarter" idx="12"/>
          </p:nvPr>
        </p:nvSpPr>
        <p:spPr/>
        <p:txBody>
          <a:bodyPr/>
          <a:lstStyle/>
          <a:p>
            <a:pPr lvl="0">
              <a:buClrTx/>
            </a:pPr>
            <a:fld id="{9A0DB2DC-4C9A-4742-B13C-FB6460FD3503}" type="slidenum">
              <a:rPr lang="zh-CN" altLang="en-US" dirty="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buClrTx/>
            </a:pPr>
            <a:endParaRPr lang="zh-CN" altLang="en-US" dirty="0"/>
          </a:p>
        </p:txBody>
      </p:sp>
      <p:sp>
        <p:nvSpPr>
          <p:cNvPr id="4" name="页脚占位符 3"/>
          <p:cNvSpPr>
            <a:spLocks noGrp="1"/>
          </p:cNvSpPr>
          <p:nvPr>
            <p:ph type="ftr" sz="quarter" idx="11"/>
          </p:nvPr>
        </p:nvSpPr>
        <p:spPr/>
        <p:txBody>
          <a:bodyPr/>
          <a:lstStyle/>
          <a:p>
            <a:pPr lvl="0">
              <a:buClrTx/>
            </a:pPr>
            <a:endParaRPr lang="zh-CN" altLang="en-US" dirty="0"/>
          </a:p>
        </p:txBody>
      </p:sp>
      <p:sp>
        <p:nvSpPr>
          <p:cNvPr id="5" name="灯片编号占位符 4"/>
          <p:cNvSpPr>
            <a:spLocks noGrp="1"/>
          </p:cNvSpPr>
          <p:nvPr>
            <p:ph type="sldNum" sz="quarter" idx="12"/>
          </p:nvPr>
        </p:nvSpPr>
        <p:spPr/>
        <p:txBody>
          <a:bodyPr/>
          <a:lstStyle/>
          <a:p>
            <a:pPr lvl="0">
              <a:buClrTx/>
            </a:pPr>
            <a:fld id="{9A0DB2DC-4C9A-4742-B13C-FB6460FD3503}" type="slidenum">
              <a:rPr lang="zh-CN" altLang="en-US" dirty="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buClrTx/>
            </a:pPr>
            <a:endParaRPr lang="zh-CN" altLang="en-US" dirty="0"/>
          </a:p>
        </p:txBody>
      </p:sp>
      <p:sp>
        <p:nvSpPr>
          <p:cNvPr id="3" name="页脚占位符 2"/>
          <p:cNvSpPr>
            <a:spLocks noGrp="1"/>
          </p:cNvSpPr>
          <p:nvPr>
            <p:ph type="ftr" sz="quarter" idx="11"/>
          </p:nvPr>
        </p:nvSpPr>
        <p:spPr/>
        <p:txBody>
          <a:bodyPr/>
          <a:lstStyle/>
          <a:p>
            <a:pPr lvl="0">
              <a:buClrTx/>
            </a:pPr>
            <a:endParaRPr lang="zh-CN" altLang="en-US" dirty="0"/>
          </a:p>
        </p:txBody>
      </p:sp>
      <p:sp>
        <p:nvSpPr>
          <p:cNvPr id="4" name="灯片编号占位符 3"/>
          <p:cNvSpPr>
            <a:spLocks noGrp="1"/>
          </p:cNvSpPr>
          <p:nvPr>
            <p:ph type="sldNum" sz="quarter" idx="12"/>
          </p:nvPr>
        </p:nvSpPr>
        <p:spPr/>
        <p:txBody>
          <a:bodyPr/>
          <a:lstStyle/>
          <a:p>
            <a:pPr lvl="0">
              <a:buClrTx/>
            </a:pPr>
            <a:fld id="{9A0DB2DC-4C9A-4742-B13C-FB6460FD3503}" type="slidenum">
              <a:rPr lang="zh-CN" altLang="en-US" dirty="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buClrTx/>
            </a:pPr>
            <a:endParaRPr lang="zh-CN" altLang="en-US" dirty="0"/>
          </a:p>
        </p:txBody>
      </p:sp>
      <p:sp>
        <p:nvSpPr>
          <p:cNvPr id="6" name="页脚占位符 5"/>
          <p:cNvSpPr>
            <a:spLocks noGrp="1"/>
          </p:cNvSpPr>
          <p:nvPr>
            <p:ph type="ftr" sz="quarter" idx="11"/>
          </p:nvPr>
        </p:nvSpPr>
        <p:spPr/>
        <p:txBody>
          <a:bodyPr/>
          <a:lstStyle/>
          <a:p>
            <a:pPr lvl="0">
              <a:buClrTx/>
            </a:pPr>
            <a:endParaRPr lang="zh-CN" altLang="en-US" dirty="0"/>
          </a:p>
        </p:txBody>
      </p:sp>
      <p:sp>
        <p:nvSpPr>
          <p:cNvPr id="7" name="灯片编号占位符 6"/>
          <p:cNvSpPr>
            <a:spLocks noGrp="1"/>
          </p:cNvSpPr>
          <p:nvPr>
            <p:ph type="sldNum" sz="quarter" idx="12"/>
          </p:nvPr>
        </p:nvSpPr>
        <p:spPr/>
        <p:txBody>
          <a:bodyPr/>
          <a:lstStyle/>
          <a:p>
            <a:pPr lvl="0">
              <a:buClrTx/>
            </a:pPr>
            <a:fld id="{9A0DB2DC-4C9A-4742-B13C-FB6460FD3503}" type="slidenum">
              <a:rPr lang="zh-CN" altLang="en-US" dirty="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buClrTx/>
            </a:pPr>
            <a:endParaRPr lang="zh-CN" altLang="en-US" dirty="0"/>
          </a:p>
        </p:txBody>
      </p:sp>
      <p:sp>
        <p:nvSpPr>
          <p:cNvPr id="6" name="页脚占位符 5"/>
          <p:cNvSpPr>
            <a:spLocks noGrp="1"/>
          </p:cNvSpPr>
          <p:nvPr>
            <p:ph type="ftr" sz="quarter" idx="11"/>
          </p:nvPr>
        </p:nvSpPr>
        <p:spPr/>
        <p:txBody>
          <a:bodyPr/>
          <a:lstStyle/>
          <a:p>
            <a:pPr lvl="0">
              <a:buClrTx/>
            </a:pPr>
            <a:endParaRPr lang="zh-CN" altLang="en-US" dirty="0"/>
          </a:p>
        </p:txBody>
      </p:sp>
      <p:sp>
        <p:nvSpPr>
          <p:cNvPr id="7" name="灯片编号占位符 6"/>
          <p:cNvSpPr>
            <a:spLocks noGrp="1"/>
          </p:cNvSpPr>
          <p:nvPr>
            <p:ph type="sldNum" sz="quarter" idx="12"/>
          </p:nvPr>
        </p:nvSpPr>
        <p:spPr/>
        <p:txBody>
          <a:bodyPr/>
          <a:lstStyle/>
          <a:p>
            <a:pPr lvl="0">
              <a:buClrTx/>
            </a:pPr>
            <a:fld id="{9A0DB2DC-4C9A-4742-B13C-FB6460FD3503}" type="slidenum">
              <a:rPr lang="zh-CN" altLang="en-US" dirty="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buClrTx/>
            </a:pPr>
            <a:endParaRPr lang="zh-CN" altLang="en-US" dirty="0"/>
          </a:p>
        </p:txBody>
      </p:sp>
      <p:sp>
        <p:nvSpPr>
          <p:cNvPr id="5" name="页脚占位符 4"/>
          <p:cNvSpPr>
            <a:spLocks noGrp="1"/>
          </p:cNvSpPr>
          <p:nvPr>
            <p:ph type="ftr" sz="quarter" idx="11"/>
          </p:nvPr>
        </p:nvSpPr>
        <p:spPr/>
        <p:txBody>
          <a:bodyPr/>
          <a:lstStyle/>
          <a:p>
            <a:pPr lvl="0">
              <a:buClrTx/>
            </a:pPr>
            <a:endParaRPr lang="zh-CN" altLang="en-US" dirty="0"/>
          </a:p>
        </p:txBody>
      </p:sp>
      <p:sp>
        <p:nvSpPr>
          <p:cNvPr id="6" name="灯片编号占位符 5"/>
          <p:cNvSpPr>
            <a:spLocks noGrp="1"/>
          </p:cNvSpPr>
          <p:nvPr>
            <p:ph type="sldNum" sz="quarter" idx="12"/>
          </p:nvPr>
        </p:nvSpPr>
        <p:spPr/>
        <p:txBody>
          <a:bodyPr/>
          <a:lstStyle/>
          <a:p>
            <a:pPr lvl="0">
              <a:buClrTx/>
            </a:pPr>
            <a:fld id="{9A0DB2DC-4C9A-4742-B13C-FB6460FD3503}" type="slidenum">
              <a:rPr lang="zh-CN" altLang="en-US" dirty="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buClrTx/>
            </a:pPr>
            <a:endParaRPr lang="zh-CN" altLang="en-US" dirty="0"/>
          </a:p>
        </p:txBody>
      </p:sp>
      <p:sp>
        <p:nvSpPr>
          <p:cNvPr id="5" name="页脚占位符 4"/>
          <p:cNvSpPr>
            <a:spLocks noGrp="1"/>
          </p:cNvSpPr>
          <p:nvPr>
            <p:ph type="ftr" sz="quarter" idx="11"/>
          </p:nvPr>
        </p:nvSpPr>
        <p:spPr/>
        <p:txBody>
          <a:bodyPr/>
          <a:lstStyle/>
          <a:p>
            <a:pPr lvl="0">
              <a:buClrTx/>
            </a:pPr>
            <a:endParaRPr lang="zh-CN" altLang="en-US" dirty="0"/>
          </a:p>
        </p:txBody>
      </p:sp>
      <p:sp>
        <p:nvSpPr>
          <p:cNvPr id="6" name="灯片编号占位符 5"/>
          <p:cNvSpPr>
            <a:spLocks noGrp="1"/>
          </p:cNvSpPr>
          <p:nvPr>
            <p:ph type="sldNum" sz="quarter" idx="12"/>
          </p:nvPr>
        </p:nvSpPr>
        <p:spPr/>
        <p:txBody>
          <a:bodyPr/>
          <a:lstStyle/>
          <a:p>
            <a:pPr lvl="0">
              <a:buClrTx/>
            </a:pPr>
            <a:fld id="{9A0DB2DC-4C9A-4742-B13C-FB6460FD3503}" type="slidenum">
              <a:rPr lang="zh-CN" altLang="en-US" dirty="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0946" name="标题 210945"/>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210947" name="文本占位符 210946"/>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10948" name="日期占位符 210947"/>
          <p:cNvSpPr>
            <a:spLocks noGrp="1"/>
          </p:cNvSpPr>
          <p:nvPr>
            <p:ph type="dt" sz="half" idx="2"/>
          </p:nvPr>
        </p:nvSpPr>
        <p:spPr>
          <a:xfrm>
            <a:off x="457200" y="6245225"/>
            <a:ext cx="2133600" cy="476250"/>
          </a:xfrm>
          <a:prstGeom prst="rect">
            <a:avLst/>
          </a:prstGeom>
          <a:noFill/>
          <a:ln w="9525">
            <a:noFill/>
          </a:ln>
        </p:spPr>
        <p:txBody>
          <a:bodyPr/>
          <a:lstStyle>
            <a:lvl1pPr>
              <a:defRPr sz="1400">
                <a:latin typeface="Arial" panose="020B0604020202020204" pitchFamily="34" charset="0"/>
              </a:defRPr>
            </a:lvl1pPr>
          </a:lstStyle>
          <a:p>
            <a:pPr lvl="0">
              <a:buClrTx/>
            </a:pPr>
            <a:fld id="{BB962C8B-B14F-4D97-AF65-F5344CB8AC3E}" type="datetime1">
              <a:rPr lang="zh-CN" altLang="en-US" dirty="0"/>
              <a:t>2025/3/23</a:t>
            </a:fld>
            <a:endParaRPr lang="zh-CN" altLang="en-US" dirty="0"/>
          </a:p>
        </p:txBody>
      </p:sp>
      <p:sp>
        <p:nvSpPr>
          <p:cNvPr id="210949" name="页脚占位符 21094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atin typeface="Arial" panose="020B0604020202020204" pitchFamily="34" charset="0"/>
              </a:defRPr>
            </a:lvl1pPr>
          </a:lstStyle>
          <a:p>
            <a:pPr lvl="0">
              <a:buClrTx/>
            </a:pPr>
            <a:endParaRPr lang="zh-CN" altLang="en-US" dirty="0"/>
          </a:p>
        </p:txBody>
      </p:sp>
      <p:sp>
        <p:nvSpPr>
          <p:cNvPr id="210950" name="灯片编号占位符 21094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atin typeface="Arial" panose="020B0604020202020204" pitchFamily="34" charset="0"/>
              </a:defRPr>
            </a:lvl1pPr>
          </a:lstStyle>
          <a:p>
            <a:pPr lvl="0">
              <a:buClrTx/>
            </a:pPr>
            <a:fld id="{9A0DB2DC-4C9A-4742-B13C-FB6460FD3503}" type="slidenum">
              <a:rPr lang="zh-CN" altLang="en-US" dirty="0"/>
              <a:t>‹#›</a:t>
            </a:fld>
            <a:endParaRPr lang="zh-CN" altLang="en-US" dirty="0"/>
          </a:p>
        </p:txBody>
      </p:sp>
      <p:sp>
        <p:nvSpPr>
          <p:cNvPr id="210954" name="直接连接符 210953"/>
          <p:cNvSpPr/>
          <p:nvPr userDrawn="1"/>
        </p:nvSpPr>
        <p:spPr>
          <a:xfrm>
            <a:off x="179388" y="765175"/>
            <a:ext cx="8763000" cy="0"/>
          </a:xfrm>
          <a:prstGeom prst="line">
            <a:avLst/>
          </a:prstGeom>
          <a:ln w="53975" cap="flat" cmpd="sng">
            <a:solidFill>
              <a:srgbClr val="CC99FF"/>
            </a:solidFill>
            <a:prstDash val="solid"/>
            <a:miter/>
            <a:headEnd type="none" w="med" len="med"/>
            <a:tailEnd type="none" w="med" len="med"/>
          </a:ln>
        </p:spPr>
      </p:sp>
      <p:pic>
        <p:nvPicPr>
          <p:cNvPr id="210958" name="图片 210957" descr="上一页">
            <a:hlinkClick r:id="" action="ppaction://hlinkshowjump?jump=previousslide"/>
          </p:cNvPr>
          <p:cNvPicPr>
            <a:picLocks noChangeAspect="1"/>
          </p:cNvPicPr>
          <p:nvPr userDrawn="1"/>
        </p:nvPicPr>
        <p:blipFill>
          <a:blip r:embed="rId13"/>
          <a:stretch>
            <a:fillRect/>
          </a:stretch>
        </p:blipFill>
        <p:spPr>
          <a:xfrm>
            <a:off x="5300663" y="6364288"/>
            <a:ext cx="1039812" cy="520700"/>
          </a:xfrm>
          <a:prstGeom prst="rect">
            <a:avLst/>
          </a:prstGeom>
          <a:noFill/>
          <a:ln w="9525">
            <a:noFill/>
          </a:ln>
        </p:spPr>
      </p:pic>
      <p:pic>
        <p:nvPicPr>
          <p:cNvPr id="210959" name="图片 210958" descr="退出">
            <a:hlinkClick r:id="" action="ppaction://hlinkshowjump?jump=endshow"/>
          </p:cNvPr>
          <p:cNvPicPr>
            <a:picLocks noChangeAspect="1"/>
          </p:cNvPicPr>
          <p:nvPr userDrawn="1"/>
        </p:nvPicPr>
        <p:blipFill>
          <a:blip r:embed="rId14"/>
          <a:stretch>
            <a:fillRect/>
          </a:stretch>
        </p:blipFill>
        <p:spPr>
          <a:xfrm>
            <a:off x="7956550" y="6364288"/>
            <a:ext cx="1039813" cy="520700"/>
          </a:xfrm>
          <a:prstGeom prst="rect">
            <a:avLst/>
          </a:prstGeom>
          <a:noFill/>
          <a:ln w="9525">
            <a:noFill/>
          </a:ln>
        </p:spPr>
      </p:pic>
      <p:pic>
        <p:nvPicPr>
          <p:cNvPr id="210960" name="图片 210959" descr="下一页">
            <a:hlinkClick r:id="" action="ppaction://hlinkshowjump?jump=nextslide"/>
          </p:cNvPr>
          <p:cNvPicPr>
            <a:picLocks noChangeAspect="1"/>
          </p:cNvPicPr>
          <p:nvPr userDrawn="1"/>
        </p:nvPicPr>
        <p:blipFill>
          <a:blip r:embed="rId15"/>
          <a:stretch>
            <a:fillRect/>
          </a:stretch>
        </p:blipFill>
        <p:spPr>
          <a:xfrm>
            <a:off x="6659563" y="6364288"/>
            <a:ext cx="1039812" cy="520700"/>
          </a:xfrm>
          <a:prstGeom prst="rect">
            <a:avLst/>
          </a:prstGeom>
          <a:noFill/>
          <a:ln w="9525">
            <a:noFill/>
          </a:ln>
        </p:spPr>
      </p:pic>
      <p:pic>
        <p:nvPicPr>
          <p:cNvPr id="12" name="Object 18"/>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0" y="71"/>
            <a:ext cx="827584" cy="765103"/>
          </a:xfrm>
          <a:prstGeom prst="rect">
            <a:avLst/>
          </a:prstGeom>
          <a:solidFill>
            <a:srgbClr val="458F8F"/>
          </a:solidFill>
          <a:ln w="9525" cmpd="sng">
            <a:solidFill>
              <a:srgbClr val="2B166E"/>
            </a:solidFill>
            <a:miter lim="800000"/>
            <a:headEnd/>
            <a:tailEnd/>
          </a:ln>
        </p:spPr>
      </p:pic>
      <p:pic>
        <p:nvPicPr>
          <p:cNvPr id="13" name="Object 19"/>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845690" y="72"/>
            <a:ext cx="773982" cy="765101"/>
          </a:xfrm>
          <a:prstGeom prst="rect">
            <a:avLst/>
          </a:prstGeom>
          <a:solidFill>
            <a:srgbClr val="458F8F"/>
          </a:solidFill>
          <a:ln w="9525" cmpd="sng">
            <a:solidFill>
              <a:srgbClr val="2B166E"/>
            </a:solid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w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6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6.tiff"/><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4" name="矩形 215043"/>
          <p:cNvSpPr/>
          <p:nvPr/>
        </p:nvSpPr>
        <p:spPr>
          <a:xfrm>
            <a:off x="1116013" y="71438"/>
            <a:ext cx="7056437" cy="620712"/>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zh-CN" altLang="en-US" sz="4000" b="1" dirty="0">
                <a:solidFill>
                  <a:schemeClr val="tx1"/>
                </a:solidFill>
              </a:rPr>
              <a:t>第</a:t>
            </a:r>
            <a:r>
              <a:rPr lang="en-US" altLang="zh-CN" sz="4000" b="1" dirty="0">
                <a:solidFill>
                  <a:schemeClr val="tx1"/>
                </a:solidFill>
              </a:rPr>
              <a:t>8</a:t>
            </a:r>
            <a:r>
              <a:rPr lang="zh-CN" altLang="en-US" sz="4000" b="1" dirty="0">
                <a:solidFill>
                  <a:schemeClr val="tx1"/>
                </a:solidFill>
              </a:rPr>
              <a:t>章   </a:t>
            </a:r>
            <a:r>
              <a:rPr lang="en-US" altLang="en-US" sz="4000" b="1" dirty="0" err="1">
                <a:solidFill>
                  <a:schemeClr val="tx1"/>
                </a:solidFill>
              </a:rPr>
              <a:t>中断技术</a:t>
            </a:r>
            <a:endParaRPr lang="zh-CN" altLang="en-US" sz="4000" b="1" dirty="0">
              <a:solidFill>
                <a:schemeClr val="tx1"/>
              </a:solidFill>
            </a:endParaRPr>
          </a:p>
        </p:txBody>
      </p:sp>
      <p:sp>
        <p:nvSpPr>
          <p:cNvPr id="215045" name="矩形 215044"/>
          <p:cNvSpPr/>
          <p:nvPr/>
        </p:nvSpPr>
        <p:spPr>
          <a:xfrm>
            <a:off x="1331913" y="1916113"/>
            <a:ext cx="6769100" cy="2952750"/>
          </a:xfrm>
          <a:prstGeom prst="rect">
            <a:avLst/>
          </a:prstGeom>
          <a:noFill/>
          <a:ln w="9525">
            <a:noFill/>
          </a:ln>
        </p:spPr>
        <p:txBody>
          <a:bodyPr/>
          <a:lstStyle>
            <a:lvl1pPr marL="0" lvl="0" indent="0" algn="ctr" defTabSz="914400" eaLnBrk="1" fontAlgn="base" latinLnBrk="0" hangingPunct="1">
              <a:lnSpc>
                <a:spcPct val="100000"/>
              </a:lnSpc>
              <a:spcBef>
                <a:spcPct val="20000"/>
              </a:spcBef>
              <a:spcAft>
                <a:spcPct val="0"/>
              </a:spcAft>
              <a:buNone/>
              <a:defRPr sz="3200" b="0" i="0" u="none" kern="1200" baseline="0">
                <a:solidFill>
                  <a:schemeClr val="tx1"/>
                </a:solidFill>
                <a:latin typeface="Arial" panose="020B0604020202020204" pitchFamily="34" charset="0"/>
                <a:ea typeface="宋体" panose="02010600030101010101" pitchFamily="2" charset="-122"/>
              </a:defRPr>
            </a:lvl1pPr>
            <a:lvl2pPr marL="457200" lvl="1" indent="0" algn="ctr">
              <a:buNone/>
              <a:defRPr sz="2800" kern="1200"/>
            </a:lvl2pPr>
            <a:lvl3pPr marL="914400" lvl="2" indent="0" algn="ctr">
              <a:buNone/>
              <a:defRPr sz="2400" kern="1200"/>
            </a:lvl3pPr>
            <a:lvl4pPr marL="1371600" lvl="3" indent="0" algn="ctr">
              <a:buNone/>
              <a:defRPr sz="2000" kern="1200"/>
            </a:lvl4pPr>
            <a:lvl5pPr marL="1828800" lvl="4" indent="0" algn="ctr">
              <a:buNone/>
              <a:defRPr kern="1200"/>
            </a:lvl5pPr>
          </a:lstStyle>
          <a:p>
            <a:pPr lvl="0" algn="l"/>
            <a:r>
              <a:rPr lang="en-US" altLang="zh-CN" b="1" dirty="0"/>
              <a:t>8</a:t>
            </a:r>
            <a:r>
              <a:rPr lang="en-US" altLang="en-US" b="1" dirty="0"/>
              <a:t>.1  </a:t>
            </a:r>
            <a:r>
              <a:rPr lang="en-US" altLang="zh-CN" b="1" dirty="0"/>
              <a:t>中</a:t>
            </a:r>
            <a:r>
              <a:rPr lang="zh-CN" altLang="en-US" b="1" dirty="0"/>
              <a:t>断基础</a:t>
            </a:r>
          </a:p>
          <a:p>
            <a:pPr lvl="0" algn="l"/>
            <a:r>
              <a:rPr lang="en-US" altLang="zh-CN" b="1" dirty="0"/>
              <a:t>8</a:t>
            </a:r>
            <a:r>
              <a:rPr lang="en-US" altLang="en-US" b="1" dirty="0"/>
              <a:t>.2  8086 </a:t>
            </a:r>
            <a:r>
              <a:rPr lang="en-US" altLang="en-US" b="1" dirty="0" err="1"/>
              <a:t>CPU的中断系统</a:t>
            </a:r>
            <a:endParaRPr lang="zh-CN" altLang="en-US" b="1" dirty="0"/>
          </a:p>
          <a:p>
            <a:pPr lvl="0" algn="l"/>
            <a:r>
              <a:rPr lang="en-US" altLang="zh-CN" b="1" dirty="0"/>
              <a:t>8</a:t>
            </a:r>
            <a:r>
              <a:rPr lang="en-US" altLang="en-US" b="1" dirty="0"/>
              <a:t>.3  可编程中断控制器8259A</a:t>
            </a:r>
            <a:endParaRPr lang="en-US" altLang="zh-CN" b="1" dirty="0"/>
          </a:p>
          <a:p>
            <a:pPr lvl="0" algn="l"/>
            <a:r>
              <a:rPr lang="en-US" altLang="zh-CN" b="1" dirty="0"/>
              <a:t>8.4  8259A</a:t>
            </a:r>
            <a:r>
              <a:rPr lang="zh-CN" altLang="en-US" b="1" dirty="0"/>
              <a:t>在微机中的编程应用</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标题 291841"/>
          <p:cNvSpPr>
            <a:spLocks noGrp="1"/>
          </p:cNvSpPr>
          <p:nvPr>
            <p:ph type="title"/>
          </p:nvPr>
        </p:nvSpPr>
        <p:spPr>
          <a:xfrm>
            <a:off x="1044575" y="188913"/>
            <a:ext cx="6696075" cy="431800"/>
          </a:xfrm>
          <a:ln/>
        </p:spPr>
        <p:txBody>
          <a:bodyPr anchor="ctr"/>
          <a:lstStyle/>
          <a:p>
            <a:pPr lvl="0"/>
            <a:r>
              <a:rPr lang="en-US" altLang="zh-CN" sz="3200" b="1">
                <a:solidFill>
                  <a:srgbClr val="FF0000"/>
                </a:solidFill>
                <a:ea typeface="隶书" panose="02010509060101010101" pitchFamily="49" charset="-122"/>
              </a:rPr>
              <a:t>8</a:t>
            </a:r>
            <a:r>
              <a:rPr lang="en-US" altLang="en-US" sz="3200" b="1">
                <a:solidFill>
                  <a:srgbClr val="FF0000"/>
                </a:solidFill>
                <a:ea typeface="隶书" panose="02010509060101010101" pitchFamily="49" charset="-122"/>
              </a:rPr>
              <a:t>.1  </a:t>
            </a:r>
            <a:r>
              <a:rPr lang="zh-CN" altLang="en-US" sz="3200" b="1" dirty="0">
                <a:solidFill>
                  <a:srgbClr val="FF0000"/>
                </a:solidFill>
                <a:ea typeface="隶书" panose="02010509060101010101" pitchFamily="49" charset="-122"/>
              </a:rPr>
              <a:t>中断基础</a:t>
            </a:r>
          </a:p>
        </p:txBody>
      </p:sp>
      <p:sp>
        <p:nvSpPr>
          <p:cNvPr id="291843" name="文本框 291842"/>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91844" name="文本框 291843"/>
          <p:cNvSpPr txBox="1"/>
          <p:nvPr/>
        </p:nvSpPr>
        <p:spPr>
          <a:xfrm>
            <a:off x="179512" y="908050"/>
            <a:ext cx="8964487" cy="4524315"/>
          </a:xfrm>
          <a:prstGeom prst="rect">
            <a:avLst/>
          </a:prstGeom>
          <a:noFill/>
          <a:ln w="9525">
            <a:noFill/>
          </a:ln>
        </p:spPr>
        <p:txBody>
          <a:bodyPr wrap="square">
            <a:spAutoFit/>
          </a:bodyPr>
          <a:lstStyle/>
          <a:p>
            <a:pPr lvl="0" eaLnBrk="0" hangingPunct="0"/>
            <a:r>
              <a:rPr lang="zh-CN" altLang="en-US" sz="2400" b="1" dirty="0">
                <a:latin typeface="Arial" panose="020B0604020202020204" pitchFamily="34" charset="0"/>
                <a:ea typeface="宋体" panose="02010600030101010101" pitchFamily="2" charset="-122"/>
              </a:rPr>
              <a:t>一、</a:t>
            </a:r>
            <a:r>
              <a:rPr lang="en-US" altLang="zh-CN" sz="2400" b="1" dirty="0" err="1">
                <a:latin typeface="Arial" panose="020B0604020202020204" pitchFamily="34" charset="0"/>
                <a:ea typeface="宋体" panose="02010600030101010101" pitchFamily="2" charset="-122"/>
              </a:rPr>
              <a:t>中断的基本概念</a:t>
            </a:r>
            <a:endParaRPr lang="zh-CN" altLang="en-US" sz="2400" b="1" dirty="0">
              <a:latin typeface="Arial" panose="020B0604020202020204" pitchFamily="34" charset="0"/>
              <a:ea typeface="宋体" panose="02010600030101010101" pitchFamily="2" charset="-122"/>
            </a:endParaRPr>
          </a:p>
          <a:p>
            <a:pPr lvl="0" eaLnBrk="0" hangingPunct="0"/>
            <a:endParaRPr lang="en-US" altLang="zh-CN" sz="2400" b="1" dirty="0">
              <a:solidFill>
                <a:srgbClr val="FF00FF"/>
              </a:solidFill>
              <a:latin typeface="Arial" panose="020B0604020202020204" pitchFamily="34" charset="0"/>
              <a:ea typeface="宋体" panose="02010600030101010101" pitchFamily="2" charset="-122"/>
            </a:endParaRPr>
          </a:p>
          <a:p>
            <a:pPr lvl="0" eaLnBrk="0" hangingPunct="0"/>
            <a:r>
              <a:rPr lang="zh-CN" altLang="en-US" sz="2400" b="1" dirty="0">
                <a:solidFill>
                  <a:srgbClr val="FF00FF"/>
                </a:solidFill>
                <a:latin typeface="Arial" panose="020B0604020202020204" pitchFamily="34" charset="0"/>
                <a:ea typeface="宋体" panose="02010600030101010101" pitchFamily="2" charset="-122"/>
              </a:rPr>
              <a:t>中断：</a:t>
            </a:r>
            <a:r>
              <a:rPr lang="zh-CN" altLang="en-US" sz="2400" b="1" dirty="0">
                <a:latin typeface="Arial" panose="020B0604020202020204" pitchFamily="34" charset="0"/>
                <a:ea typeface="宋体" panose="02010600030101010101" pitchFamily="2" charset="-122"/>
              </a:rPr>
              <a:t>是指</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正常运行时，由于内、外部事件或由程序预先安排引起的，</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暂停正在运行的程序而转去执行内、外部事件或预先安排的事件服务程序，待处理完毕后又回到原来被中止的程序处继续执行的过程</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中断源：</a:t>
            </a:r>
            <a:r>
              <a:rPr lang="zh-CN" altLang="en-US" sz="2400" b="1" dirty="0">
                <a:latin typeface="Arial" panose="020B0604020202020204" pitchFamily="34" charset="0"/>
                <a:ea typeface="宋体" panose="02010600030101010101" pitchFamily="2" charset="-122"/>
              </a:rPr>
              <a:t>产生中断请求的外设或引发内部中断的原因和事件。</a:t>
            </a:r>
            <a:endParaRPr lang="en-US" altLang="zh-CN" sz="2400" b="1" dirty="0">
              <a:latin typeface="Arial" panose="020B0604020202020204" pitchFamily="34" charset="0"/>
              <a:ea typeface="宋体" panose="02010600030101010101" pitchFamily="2" charset="-122"/>
            </a:endParaRPr>
          </a:p>
          <a:p>
            <a:pPr lvl="0" eaLnBrk="0" hangingPunct="0"/>
            <a:r>
              <a:rPr lang="zh-CN" altLang="en-US" sz="2400" b="1" dirty="0">
                <a:solidFill>
                  <a:srgbClr val="FF00FF"/>
                </a:solidFill>
                <a:latin typeface="Arial" panose="020B0604020202020204" pitchFamily="34" charset="0"/>
                <a:ea typeface="宋体" panose="02010600030101010101" pitchFamily="2" charset="-122"/>
              </a:rPr>
              <a:t>中断请求：</a:t>
            </a:r>
            <a:r>
              <a:rPr lang="zh-CN" altLang="en-US" sz="2400" b="1" dirty="0">
                <a:latin typeface="Arial" panose="020B0604020202020204" pitchFamily="34" charset="0"/>
                <a:ea typeface="宋体" panose="02010600030101010101" pitchFamily="2" charset="-122"/>
              </a:rPr>
              <a:t>中断源为获得</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处理而向</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发出的请求信号。</a:t>
            </a:r>
          </a:p>
          <a:p>
            <a:pPr eaLnBrk="0" hangingPunct="0"/>
            <a:r>
              <a:rPr lang="zh-CN" altLang="en-US" sz="2400" b="1" dirty="0">
                <a:solidFill>
                  <a:srgbClr val="FF00FF"/>
                </a:solidFill>
                <a:latin typeface="Arial" panose="020B0604020202020204" pitchFamily="34" charset="0"/>
                <a:ea typeface="宋体" panose="02010600030101010101" pitchFamily="2" charset="-122"/>
              </a:rPr>
              <a:t>中断响应：</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接到中断源产生的中断请求信号后，若决定响应此中断请求，则向外设发出中断响应信号的过程。</a:t>
            </a:r>
            <a:endParaRPr lang="en-US" altLang="zh-CN" sz="2400" b="1" dirty="0">
              <a:latin typeface="Arial" panose="020B0604020202020204" pitchFamily="34" charset="0"/>
              <a:ea typeface="宋体" panose="02010600030101010101" pitchFamily="2" charset="-122"/>
            </a:endParaRPr>
          </a:p>
          <a:p>
            <a:pPr eaLnBrk="0" hangingPunct="0"/>
            <a:r>
              <a:rPr lang="zh-CN" altLang="en-US" sz="2400" b="1" dirty="0">
                <a:solidFill>
                  <a:srgbClr val="FF00FF"/>
                </a:solidFill>
                <a:latin typeface="Arial" panose="020B0604020202020204" pitchFamily="34" charset="0"/>
                <a:ea typeface="宋体" panose="02010600030101010101" pitchFamily="2" charset="-122"/>
              </a:rPr>
              <a:t>中断屏蔽：</a:t>
            </a:r>
            <a:r>
              <a:rPr lang="zh-CN" altLang="en-US" sz="2400" b="1" dirty="0">
                <a:latin typeface="Arial" panose="020B0604020202020204" pitchFamily="34" charset="0"/>
                <a:ea typeface="宋体" panose="02010600030101010101" pitchFamily="2" charset="-122"/>
              </a:rPr>
              <a:t>禁止中断响应称为中断屏蔽。</a:t>
            </a:r>
            <a:endParaRPr lang="en-US" altLang="zh-CN" sz="2400" b="1" dirty="0">
              <a:latin typeface="Arial" panose="020B0604020202020204" pitchFamily="34" charset="0"/>
              <a:ea typeface="宋体" panose="02010600030101010101" pitchFamily="2" charset="-122"/>
            </a:endParaRPr>
          </a:p>
          <a:p>
            <a:pPr eaLnBrk="0" hangingPunct="0"/>
            <a:r>
              <a:rPr lang="zh-CN" altLang="en-US" sz="2400" b="1" dirty="0">
                <a:solidFill>
                  <a:srgbClr val="FF00FF"/>
                </a:solidFill>
              </a:rPr>
              <a:t>主程序：</a:t>
            </a:r>
            <a:r>
              <a:rPr lang="en-US" altLang="zh-CN" sz="2400" b="1" dirty="0">
                <a:latin typeface="Arial" panose="020B0604020202020204" pitchFamily="34" charset="0"/>
              </a:rPr>
              <a:t>CPU </a:t>
            </a:r>
            <a:r>
              <a:rPr lang="zh-CN" altLang="en-US" sz="2400" b="1" dirty="0">
                <a:latin typeface="Arial" panose="020B0604020202020204" pitchFamily="34" charset="0"/>
              </a:rPr>
              <a:t>在接收到中断请求时当前执行的程序。</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8" name="标题 154627"/>
          <p:cNvSpPr>
            <a:spLocks noGrp="1"/>
          </p:cNvSpPr>
          <p:nvPr>
            <p:ph type="title"/>
          </p:nvPr>
        </p:nvSpPr>
        <p:spPr>
          <a:xfrm>
            <a:off x="1044575" y="188913"/>
            <a:ext cx="6696075" cy="431800"/>
          </a:xfrm>
          <a:ln/>
        </p:spPr>
        <p:txBody>
          <a:bodyPr anchor="ctr"/>
          <a:lstStyle/>
          <a:p>
            <a:pPr lvl="0"/>
            <a:r>
              <a:rPr lang="en-US" altLang="zh-CN" sz="3200" b="1" dirty="0">
                <a:solidFill>
                  <a:srgbClr val="FF0000"/>
                </a:solidFill>
                <a:ea typeface="隶书" panose="02010509060101010101" pitchFamily="49" charset="-122"/>
              </a:rPr>
              <a:t>8</a:t>
            </a:r>
            <a:r>
              <a:rPr lang="en-US" altLang="en-US" sz="3200" b="1" dirty="0">
                <a:solidFill>
                  <a:srgbClr val="FF0000"/>
                </a:solidFill>
                <a:ea typeface="隶书" panose="02010509060101010101" pitchFamily="49" charset="-122"/>
              </a:rPr>
              <a:t>.1  </a:t>
            </a:r>
            <a:r>
              <a:rPr lang="zh-CN" altLang="en-US" sz="3200" b="1" dirty="0">
                <a:solidFill>
                  <a:srgbClr val="FF0000"/>
                </a:solidFill>
                <a:ea typeface="隶书" panose="02010509060101010101" pitchFamily="49" charset="-122"/>
              </a:rPr>
              <a:t>中断基础</a:t>
            </a:r>
          </a:p>
        </p:txBody>
      </p:sp>
      <p:sp>
        <p:nvSpPr>
          <p:cNvPr id="154630" name="文本框 154629"/>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154631" name="文本框 154630"/>
          <p:cNvSpPr txBox="1"/>
          <p:nvPr/>
        </p:nvSpPr>
        <p:spPr>
          <a:xfrm>
            <a:off x="0" y="764704"/>
            <a:ext cx="9144000" cy="3046988"/>
          </a:xfrm>
          <a:prstGeom prst="rect">
            <a:avLst/>
          </a:prstGeom>
          <a:noFill/>
          <a:ln w="9525">
            <a:noFill/>
          </a:ln>
        </p:spPr>
        <p:txBody>
          <a:bodyPr wrap="square">
            <a:spAutoFit/>
          </a:bodyPr>
          <a:lstStyle/>
          <a:p>
            <a:pPr lvl="0" eaLnBrk="0" hangingPunct="0"/>
            <a:r>
              <a:rPr lang="zh-CN" altLang="en-US" sz="2400" b="1" dirty="0">
                <a:solidFill>
                  <a:srgbClr val="FF00FF"/>
                </a:solidFill>
                <a:latin typeface="Arial" panose="020B0604020202020204" pitchFamily="34" charset="0"/>
                <a:ea typeface="宋体" panose="02010600030101010101" pitchFamily="2" charset="-122"/>
              </a:rPr>
              <a:t>断点：</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处理中断时，原程序的暂时中止处（即中断返回后继续执行的指令地址）。</a:t>
            </a:r>
            <a:endParaRPr lang="en-US" altLang="zh-CN" sz="2400" b="1" dirty="0">
              <a:latin typeface="Arial" panose="020B0604020202020204" pitchFamily="34" charset="0"/>
              <a:ea typeface="宋体" panose="02010600030101010101" pitchFamily="2" charset="-122"/>
            </a:endParaRPr>
          </a:p>
          <a:p>
            <a:pPr eaLnBrk="0" hangingPunct="0"/>
            <a:r>
              <a:rPr lang="zh-CN" altLang="en-US" sz="2400" b="1" dirty="0">
                <a:solidFill>
                  <a:srgbClr val="FF00FF"/>
                </a:solidFill>
                <a:latin typeface="Arial" panose="020B0604020202020204" pitchFamily="34" charset="0"/>
                <a:ea typeface="宋体" panose="02010600030101010101" pitchFamily="2" charset="-122"/>
              </a:rPr>
              <a:t>中断服务程序：</a:t>
            </a:r>
            <a:r>
              <a:rPr lang="zh-CN" altLang="en-US" sz="2400" b="1" dirty="0">
                <a:latin typeface="Arial" panose="020B0604020202020204" pitchFamily="34" charset="0"/>
                <a:ea typeface="宋体" panose="02010600030101010101" pitchFamily="2" charset="-122"/>
              </a:rPr>
              <a:t>中断源发出中断请求后请求</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执行的处理程序。</a:t>
            </a:r>
            <a:endParaRPr lang="en-US" altLang="zh-CN" sz="2400" b="1" dirty="0">
              <a:latin typeface="Arial" panose="020B0604020202020204" pitchFamily="34" charset="0"/>
              <a:ea typeface="宋体" panose="02010600030101010101" pitchFamily="2" charset="-122"/>
            </a:endParaRPr>
          </a:p>
          <a:p>
            <a:pPr eaLnBrk="0" hangingPunct="0"/>
            <a:r>
              <a:rPr lang="zh-CN" altLang="en-US" sz="2400" b="1" dirty="0">
                <a:solidFill>
                  <a:srgbClr val="FF00FF"/>
                </a:solidFill>
              </a:rPr>
              <a:t>入口地址：</a:t>
            </a:r>
            <a:r>
              <a:rPr lang="zh-CN" altLang="en-US" sz="2400" b="1" dirty="0">
                <a:latin typeface="Arial" panose="020B0604020202020204" pitchFamily="34" charset="0"/>
              </a:rPr>
              <a:t>中断服务程序首条指令的地址。 </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中断处理：</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执行中断服务程序的过程。</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中断返回：</a:t>
            </a:r>
            <a:r>
              <a:rPr lang="zh-CN" altLang="en-US" sz="2400" b="1" dirty="0">
                <a:latin typeface="Arial" panose="020B0604020202020204" pitchFamily="34" charset="0"/>
              </a:rPr>
              <a:t>当 </a:t>
            </a:r>
            <a:r>
              <a:rPr lang="en-US" altLang="zh-CN" sz="2400" b="1" dirty="0">
                <a:latin typeface="Arial" panose="020B0604020202020204" pitchFamily="34" charset="0"/>
              </a:rPr>
              <a:t>CPU </a:t>
            </a:r>
            <a:r>
              <a:rPr lang="zh-CN" altLang="en-US" sz="2400" b="1" dirty="0">
                <a:latin typeface="Arial" panose="020B0604020202020204" pitchFamily="34" charset="0"/>
              </a:rPr>
              <a:t>执行完中断服务程序后，返回原程序断点处继续执行后续程序的过程。</a:t>
            </a:r>
            <a:endParaRPr lang="en-US" altLang="zh-CN" sz="2400" b="1" dirty="0">
              <a:latin typeface="Arial" panose="020B0604020202020204" pitchFamily="34" charset="0"/>
            </a:endParaRPr>
          </a:p>
          <a:p>
            <a:pPr lvl="0" eaLnBrk="0" hangingPunct="0"/>
            <a:endParaRPr lang="en-US" altLang="zh-CN" sz="2400" b="1" dirty="0">
              <a:latin typeface="Arial" panose="020B0604020202020204" pitchFamily="34" charset="0"/>
            </a:endParaRPr>
          </a:p>
        </p:txBody>
      </p:sp>
      <p:pic>
        <p:nvPicPr>
          <p:cNvPr id="5" name="图片 4" descr="wps_clip_image-2615">
            <a:extLst>
              <a:ext uri="{FF2B5EF4-FFF2-40B4-BE49-F238E27FC236}">
                <a16:creationId xmlns:a16="http://schemas.microsoft.com/office/drawing/2014/main" id="{98B5C807-D20C-45B7-BF9F-6201DAEA8EB6}"/>
              </a:ext>
            </a:extLst>
          </p:cNvPr>
          <p:cNvPicPr>
            <a:picLocks noChangeAspect="1"/>
          </p:cNvPicPr>
          <p:nvPr/>
        </p:nvPicPr>
        <p:blipFill>
          <a:blip r:embed="rId2"/>
          <a:stretch>
            <a:fillRect/>
          </a:stretch>
        </p:blipFill>
        <p:spPr>
          <a:xfrm>
            <a:off x="0" y="3696067"/>
            <a:ext cx="5184576" cy="2973020"/>
          </a:xfrm>
          <a:prstGeom prst="rect">
            <a:avLst/>
          </a:prstGeom>
          <a:noFill/>
          <a:ln w="9525">
            <a:noFill/>
          </a:ln>
        </p:spPr>
      </p:pic>
      <p:sp>
        <p:nvSpPr>
          <p:cNvPr id="7" name="文本框 6">
            <a:extLst>
              <a:ext uri="{FF2B5EF4-FFF2-40B4-BE49-F238E27FC236}">
                <a16:creationId xmlns:a16="http://schemas.microsoft.com/office/drawing/2014/main" id="{8D05A59E-DC88-46A5-957F-12D42E7E9A73}"/>
              </a:ext>
            </a:extLst>
          </p:cNvPr>
          <p:cNvSpPr txBox="1"/>
          <p:nvPr/>
        </p:nvSpPr>
        <p:spPr>
          <a:xfrm>
            <a:off x="5184576" y="3850313"/>
            <a:ext cx="3528392" cy="1569660"/>
          </a:xfrm>
          <a:prstGeom prst="rect">
            <a:avLst/>
          </a:prstGeom>
          <a:noFill/>
        </p:spPr>
        <p:txBody>
          <a:bodyPr wrap="square">
            <a:spAutoFit/>
          </a:bodyPr>
          <a:lstStyle/>
          <a:p>
            <a:pPr lvl="0" eaLnBrk="0" hangingPunct="0"/>
            <a:r>
              <a:rPr lang="zh-CN" altLang="en-US" sz="2400" b="1" dirty="0">
                <a:latin typeface="Arial" panose="020B0604020202020204" pitchFamily="34" charset="0"/>
                <a:ea typeface="宋体" panose="02010600030101010101" pitchFamily="2" charset="-122"/>
              </a:rPr>
              <a:t>微机响应中断的过程与执行转移指令</a:t>
            </a:r>
            <a:r>
              <a:rPr lang="en-US" altLang="zh-CN" sz="2400" b="1" dirty="0">
                <a:latin typeface="Arial" panose="020B0604020202020204" pitchFamily="34" charset="0"/>
                <a:ea typeface="宋体" panose="02010600030101010101" pitchFamily="2" charset="-122"/>
              </a:rPr>
              <a:t>CALL</a:t>
            </a:r>
            <a:r>
              <a:rPr lang="zh-CN" altLang="en-US" sz="2400" b="1" dirty="0">
                <a:latin typeface="Arial" panose="020B0604020202020204" pitchFamily="34" charset="0"/>
                <a:ea typeface="宋体" panose="02010600030101010101" pitchFamily="2" charset="-122"/>
              </a:rPr>
              <a:t>的过程非常类似。但中断是</a:t>
            </a:r>
            <a:r>
              <a:rPr lang="zh-CN" altLang="en-US" sz="2400" b="1" dirty="0">
                <a:solidFill>
                  <a:srgbClr val="0000FF"/>
                </a:solidFill>
                <a:latin typeface="Arial" panose="020B0604020202020204" pitchFamily="34" charset="0"/>
                <a:ea typeface="宋体" panose="02010600030101010101" pitchFamily="2" charset="-122"/>
              </a:rPr>
              <a:t>随机发生</a:t>
            </a:r>
            <a:r>
              <a:rPr lang="zh-CN" altLang="en-US" sz="2400" b="1" dirty="0">
                <a:latin typeface="Arial" panose="020B0604020202020204" pitchFamily="34" charset="0"/>
                <a:ea typeface="宋体" panose="02010600030101010101" pitchFamily="2" charset="-122"/>
              </a:rPr>
              <a:t>的。</a:t>
            </a:r>
            <a:endParaRPr lang="en-US" altLang="zh-CN" sz="2400" b="1" dirty="0">
              <a:latin typeface="Arial" panose="020B0604020202020204" pitchFamily="34" charset="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标题 292865"/>
          <p:cNvSpPr>
            <a:spLocks noGrp="1"/>
          </p:cNvSpPr>
          <p:nvPr>
            <p:ph type="title"/>
          </p:nvPr>
        </p:nvSpPr>
        <p:spPr>
          <a:xfrm>
            <a:off x="1044575" y="188913"/>
            <a:ext cx="6696075" cy="431800"/>
          </a:xfrm>
          <a:ln/>
        </p:spPr>
        <p:txBody>
          <a:bodyPr anchor="ctr"/>
          <a:lstStyle/>
          <a:p>
            <a:pPr lvl="0"/>
            <a:r>
              <a:rPr lang="en-US" altLang="zh-CN" sz="3200" b="1">
                <a:solidFill>
                  <a:srgbClr val="FF0000"/>
                </a:solidFill>
                <a:ea typeface="隶书" panose="02010509060101010101" pitchFamily="49" charset="-122"/>
              </a:rPr>
              <a:t>8</a:t>
            </a:r>
            <a:r>
              <a:rPr lang="en-US" altLang="en-US" sz="3200" b="1">
                <a:solidFill>
                  <a:srgbClr val="FF0000"/>
                </a:solidFill>
                <a:ea typeface="隶书" panose="02010509060101010101" pitchFamily="49" charset="-122"/>
              </a:rPr>
              <a:t>.1  </a:t>
            </a:r>
            <a:r>
              <a:rPr lang="zh-CN" altLang="en-US" sz="3200" b="1" dirty="0">
                <a:solidFill>
                  <a:srgbClr val="FF0000"/>
                </a:solidFill>
                <a:ea typeface="隶书" panose="02010509060101010101" pitchFamily="49" charset="-122"/>
              </a:rPr>
              <a:t>中断基础</a:t>
            </a:r>
          </a:p>
        </p:txBody>
      </p:sp>
      <p:sp>
        <p:nvSpPr>
          <p:cNvPr id="292867" name="文本框 292866"/>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92868" name="文本框 292867"/>
          <p:cNvSpPr txBox="1"/>
          <p:nvPr/>
        </p:nvSpPr>
        <p:spPr>
          <a:xfrm>
            <a:off x="430212" y="836712"/>
            <a:ext cx="8713788" cy="5632311"/>
          </a:xfrm>
          <a:prstGeom prst="rect">
            <a:avLst/>
          </a:prstGeom>
          <a:noFill/>
          <a:ln w="9525">
            <a:noFill/>
          </a:ln>
        </p:spPr>
        <p:txBody>
          <a:bodyPr>
            <a:spAutoFit/>
          </a:bodyPr>
          <a:lstStyle/>
          <a:p>
            <a:pPr lvl="0" eaLnBrk="0" hangingPunct="0"/>
            <a:r>
              <a:rPr lang="zh-CN" altLang="en-US" sz="2400" b="1" dirty="0">
                <a:latin typeface="Arial" panose="020B0604020202020204" pitchFamily="34" charset="0"/>
                <a:ea typeface="宋体" panose="02010600030101010101" pitchFamily="2" charset="-122"/>
              </a:rPr>
              <a:t>二、</a:t>
            </a:r>
            <a:r>
              <a:rPr lang="en-US" altLang="zh-CN" sz="2400" b="1" dirty="0" err="1">
                <a:latin typeface="Arial" panose="020B0604020202020204" pitchFamily="34" charset="0"/>
                <a:ea typeface="宋体" panose="02010600030101010101" pitchFamily="2" charset="-122"/>
              </a:rPr>
              <a:t>中断优先级与中断嵌套</a:t>
            </a:r>
            <a:endParaRPr lang="zh-CN" altLang="en-US" sz="2400" b="1" dirty="0">
              <a:latin typeface="Arial" panose="020B0604020202020204" pitchFamily="34" charset="0"/>
              <a:ea typeface="宋体" panose="02010600030101010101" pitchFamily="2" charset="-122"/>
            </a:endParaRPr>
          </a:p>
          <a:p>
            <a:pPr lvl="0" eaLnBrk="0" hangingPunct="0"/>
            <a:r>
              <a:rPr lang="zh-CN" altLang="en-US" sz="2400" b="1" dirty="0">
                <a:latin typeface="Arial" panose="020B0604020202020204" pitchFamily="34" charset="0"/>
              </a:rPr>
              <a:t>    </a:t>
            </a:r>
            <a:r>
              <a:rPr lang="zh-CN" altLang="en-US" sz="2400" b="1" dirty="0">
                <a:latin typeface="Arial" panose="020B0604020202020204" pitchFamily="34" charset="0"/>
                <a:ea typeface="宋体" panose="02010600030101010101" pitchFamily="2" charset="-122"/>
              </a:rPr>
              <a:t>微机系统中存在多个中断源，往往会出现以下情况：</a:t>
            </a:r>
          </a:p>
          <a:p>
            <a:pPr lvl="0" eaLnBrk="0" hangingPunct="0"/>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）多个中断源在同一时间向</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发出中断请求信号；</a:t>
            </a:r>
          </a:p>
          <a:p>
            <a:pPr lvl="0" eaLnBrk="0" hangingPunct="0"/>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）当</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正在响应某一中断源的请求，执行相应中断服务程序时，又有别的中断源产生新的中断请求。</a:t>
            </a:r>
          </a:p>
          <a:p>
            <a:pPr lvl="0" eaLnBrk="0" hangingPunct="0"/>
            <a:r>
              <a:rPr lang="zh-CN" altLang="en-US" sz="2400" b="1" dirty="0">
                <a:solidFill>
                  <a:srgbClr val="0000FF"/>
                </a:solidFill>
                <a:latin typeface="Arial" panose="020B0604020202020204" pitchFamily="34" charset="0"/>
              </a:rPr>
              <a:t>  而 </a:t>
            </a:r>
            <a:r>
              <a:rPr lang="en-US" altLang="zh-CN" sz="2400" b="1" dirty="0">
                <a:solidFill>
                  <a:srgbClr val="0000FF"/>
                </a:solidFill>
                <a:latin typeface="Arial" panose="020B0604020202020204" pitchFamily="34" charset="0"/>
                <a:ea typeface="宋体" panose="02010600030101010101" pitchFamily="2" charset="-122"/>
              </a:rPr>
              <a:t>CPU</a:t>
            </a:r>
            <a:r>
              <a:rPr lang="zh-CN" altLang="en-US" sz="2400" b="1" dirty="0">
                <a:solidFill>
                  <a:srgbClr val="0000FF"/>
                </a:solidFill>
                <a:latin typeface="Arial" panose="020B0604020202020204" pitchFamily="34" charset="0"/>
                <a:ea typeface="宋体" panose="02010600030101010101" pitchFamily="2" charset="-122"/>
              </a:rPr>
              <a:t>某一时刻只能响应一个中断请求</a:t>
            </a:r>
            <a:r>
              <a:rPr lang="zh-CN" altLang="en-US" sz="2400" b="1" dirty="0">
                <a:latin typeface="Arial" panose="020B0604020202020204" pitchFamily="34" charset="0"/>
                <a:ea typeface="宋体" panose="02010600030101010101" pitchFamily="2" charset="-122"/>
              </a:rPr>
              <a:t>。</a:t>
            </a:r>
            <a:endParaRPr lang="en-US" altLang="zh-CN" sz="2400" b="1" dirty="0">
              <a:latin typeface="Arial" panose="020B0604020202020204" pitchFamily="34" charset="0"/>
              <a:ea typeface="宋体" panose="02010600030101010101" pitchFamily="2" charset="-122"/>
            </a:endParaRPr>
          </a:p>
          <a:p>
            <a:pPr lvl="0" eaLnBrk="0" hangingPunct="0"/>
            <a:endParaRPr lang="en-US" altLang="zh-CN" sz="2400" b="1" dirty="0">
              <a:latin typeface="Arial" panose="020B0604020202020204" pitchFamily="34" charset="0"/>
              <a:ea typeface="宋体" panose="02010600030101010101" pitchFamily="2" charset="-122"/>
            </a:endParaRPr>
          </a:p>
          <a:p>
            <a:pPr lvl="0" eaLnBrk="0" hangingPunct="0"/>
            <a:r>
              <a:rPr lang="zh-CN" altLang="en-US" sz="2400" b="1" dirty="0">
                <a:solidFill>
                  <a:srgbClr val="FF00FF"/>
                </a:solidFill>
                <a:latin typeface="Arial" panose="020B0604020202020204" pitchFamily="34" charset="0"/>
              </a:rPr>
              <a:t>优先级</a:t>
            </a:r>
            <a:r>
              <a:rPr lang="zh-CN" altLang="en-US" sz="2400" b="1" dirty="0">
                <a:latin typeface="Arial" panose="020B0604020202020204" pitchFamily="34" charset="0"/>
              </a:rPr>
              <a:t>（</a:t>
            </a:r>
            <a:r>
              <a:rPr lang="zh-CN" altLang="en-US" sz="2400" b="1" dirty="0">
                <a:solidFill>
                  <a:srgbClr val="FF00FF"/>
                </a:solidFill>
                <a:latin typeface="Arial" panose="020B0604020202020204" pitchFamily="34" charset="0"/>
              </a:rPr>
              <a:t>优先权</a:t>
            </a:r>
            <a:r>
              <a:rPr lang="zh-CN" altLang="en-US" sz="2400" b="1" dirty="0">
                <a:latin typeface="Arial" panose="020B0604020202020204" pitchFamily="34" charset="0"/>
              </a:rPr>
              <a:t>）：</a:t>
            </a:r>
            <a:endParaRPr lang="en-US" altLang="zh-CN" sz="2400" b="1" dirty="0">
              <a:latin typeface="Arial" panose="020B0604020202020204" pitchFamily="34" charset="0"/>
            </a:endParaRPr>
          </a:p>
          <a:p>
            <a:pPr lvl="0" eaLnBrk="0" hangingPunct="0"/>
            <a:r>
              <a:rPr lang="en-US" altLang="zh-CN" sz="2400" b="1" dirty="0">
                <a:solidFill>
                  <a:srgbClr val="002060"/>
                </a:solidFill>
                <a:latin typeface="Arial" panose="020B0604020202020204" pitchFamily="34" charset="0"/>
                <a:ea typeface="宋体" panose="02010600030101010101" pitchFamily="2" charset="-122"/>
              </a:rPr>
              <a:t>CPU</a:t>
            </a:r>
            <a:r>
              <a:rPr lang="zh-CN" altLang="en-US" sz="2400" b="1" dirty="0">
                <a:solidFill>
                  <a:srgbClr val="002060"/>
                </a:solidFill>
                <a:latin typeface="Arial" panose="020B0604020202020204" pitchFamily="34" charset="0"/>
                <a:ea typeface="宋体" panose="02010600030101010101" pitchFamily="2" charset="-122"/>
              </a:rPr>
              <a:t>依据各中断源所请求任务的轻重缓急</a:t>
            </a:r>
            <a:r>
              <a:rPr lang="zh-CN" altLang="en-US" sz="2400" b="1" dirty="0">
                <a:solidFill>
                  <a:srgbClr val="002060"/>
                </a:solidFill>
                <a:latin typeface="Arial" panose="020B0604020202020204" pitchFamily="34" charset="0"/>
              </a:rPr>
              <a:t>，将中断源分成若干个级别，这个级别就是中断优先级。 </a:t>
            </a:r>
          </a:p>
          <a:p>
            <a:pPr lvl="0" eaLnBrk="0" hangingPunct="0"/>
            <a:r>
              <a:rPr lang="zh-CN" altLang="en-US" sz="2400" b="1" dirty="0">
                <a:latin typeface="Arial" panose="020B0604020202020204" pitchFamily="34" charset="0"/>
                <a:ea typeface="宋体" panose="02010600030101010101" pitchFamily="2" charset="-122"/>
              </a:rPr>
              <a:t>第（</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）情况：</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选择多个中断源中优先级最高的中断请求予以响应。</a:t>
            </a:r>
          </a:p>
          <a:p>
            <a:pPr lvl="0" eaLnBrk="0" hangingPunct="0"/>
            <a:r>
              <a:rPr lang="zh-CN" altLang="en-US" sz="2400" b="1" dirty="0">
                <a:latin typeface="Arial" panose="020B0604020202020204" pitchFamily="34" charset="0"/>
                <a:ea typeface="宋体" panose="02010600030101010101" pitchFamily="2" charset="-122"/>
              </a:rPr>
              <a:t>第（</a:t>
            </a: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）情况：当</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正在处理中断时，也能响应优先级更高的中断请求，但屏蔽同级或低级的中断请求，这就是所谓</a:t>
            </a:r>
            <a:r>
              <a:rPr lang="zh-CN" altLang="en-US" sz="2400" b="1" dirty="0">
                <a:solidFill>
                  <a:srgbClr val="FF00FF"/>
                </a:solidFill>
                <a:latin typeface="Arial" panose="020B0604020202020204" pitchFamily="34" charset="0"/>
                <a:ea typeface="宋体" panose="02010600030101010101" pitchFamily="2" charset="-122"/>
              </a:rPr>
              <a:t>多重中断</a:t>
            </a:r>
            <a:r>
              <a:rPr lang="zh-CN" altLang="en-US" sz="2400" b="1" dirty="0">
                <a:latin typeface="Arial" panose="020B0604020202020204" pitchFamily="34" charset="0"/>
                <a:ea typeface="宋体" panose="02010600030101010101" pitchFamily="2" charset="-122"/>
              </a:rPr>
              <a:t>或</a:t>
            </a:r>
            <a:r>
              <a:rPr lang="zh-CN" altLang="en-US" sz="2400" b="1" dirty="0">
                <a:solidFill>
                  <a:srgbClr val="FF00FF"/>
                </a:solidFill>
                <a:latin typeface="Arial" panose="020B0604020202020204" pitchFamily="34" charset="0"/>
                <a:ea typeface="宋体" panose="02010600030101010101" pitchFamily="2" charset="-122"/>
              </a:rPr>
              <a:t>中断嵌套</a:t>
            </a:r>
            <a:r>
              <a:rPr lang="zh-CN" altLang="en-US" sz="2400" b="1" dirty="0">
                <a:latin typeface="Arial" panose="020B0604020202020204" pitchFamily="34" charset="0"/>
                <a:ea typeface="宋体" panose="02010600030101010101" pitchFamily="2" charset="-122"/>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标题 293889"/>
          <p:cNvSpPr>
            <a:spLocks noGrp="1"/>
          </p:cNvSpPr>
          <p:nvPr>
            <p:ph type="title"/>
          </p:nvPr>
        </p:nvSpPr>
        <p:spPr>
          <a:xfrm>
            <a:off x="1044575" y="188913"/>
            <a:ext cx="6696075" cy="431800"/>
          </a:xfrm>
          <a:ln/>
        </p:spPr>
        <p:txBody>
          <a:bodyPr anchor="ctr"/>
          <a:lstStyle/>
          <a:p>
            <a:pPr lvl="0"/>
            <a:r>
              <a:rPr lang="en-US" altLang="zh-CN" sz="3200" b="1">
                <a:solidFill>
                  <a:srgbClr val="FF0000"/>
                </a:solidFill>
                <a:ea typeface="隶书" panose="02010509060101010101" pitchFamily="49" charset="-122"/>
              </a:rPr>
              <a:t>8</a:t>
            </a:r>
            <a:r>
              <a:rPr lang="en-US" altLang="en-US" sz="3200" b="1">
                <a:solidFill>
                  <a:srgbClr val="FF0000"/>
                </a:solidFill>
                <a:ea typeface="隶书" panose="02010509060101010101" pitchFamily="49" charset="-122"/>
              </a:rPr>
              <a:t>.1  </a:t>
            </a:r>
            <a:r>
              <a:rPr lang="zh-CN" altLang="en-US" sz="3200" b="1" dirty="0">
                <a:solidFill>
                  <a:srgbClr val="FF0000"/>
                </a:solidFill>
                <a:ea typeface="隶书" panose="02010509060101010101" pitchFamily="49" charset="-122"/>
              </a:rPr>
              <a:t>中断基础</a:t>
            </a:r>
          </a:p>
        </p:txBody>
      </p:sp>
      <p:sp>
        <p:nvSpPr>
          <p:cNvPr id="293891" name="文本框 293890"/>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93892" name="文本框 293891"/>
          <p:cNvSpPr txBox="1"/>
          <p:nvPr/>
        </p:nvSpPr>
        <p:spPr>
          <a:xfrm>
            <a:off x="179512" y="764704"/>
            <a:ext cx="4536504" cy="5632311"/>
          </a:xfrm>
          <a:prstGeom prst="rect">
            <a:avLst/>
          </a:prstGeom>
          <a:noFill/>
          <a:ln w="9525">
            <a:noFill/>
          </a:ln>
        </p:spPr>
        <p:txBody>
          <a:bodyPr wrap="square">
            <a:spAutoFit/>
          </a:bodyPr>
          <a:lstStyle/>
          <a:p>
            <a:pPr lvl="0" eaLnBrk="0" hangingPunct="0"/>
            <a:r>
              <a:rPr lang="zh-CN" altLang="en-US" sz="2400" b="1" dirty="0">
                <a:solidFill>
                  <a:srgbClr val="FF00FF"/>
                </a:solidFill>
                <a:latin typeface="Arial" panose="020B0604020202020204" pitchFamily="34" charset="0"/>
                <a:ea typeface="宋体" panose="02010600030101010101" pitchFamily="2" charset="-122"/>
              </a:rPr>
              <a:t>解决中断的优先级的方法：</a:t>
            </a:r>
            <a:endParaRPr lang="en-US" altLang="zh-CN" sz="2400" b="1" dirty="0">
              <a:solidFill>
                <a:srgbClr val="FF00FF"/>
              </a:solidFill>
              <a:latin typeface="Arial" panose="020B0604020202020204" pitchFamily="34" charset="0"/>
              <a:ea typeface="宋体" panose="02010600030101010101" pitchFamily="2" charset="-122"/>
            </a:endParaRPr>
          </a:p>
          <a:p>
            <a:pPr lvl="0" eaLnBrk="0" hangingPunct="0"/>
            <a:endParaRPr lang="zh-CN" altLang="en-US" sz="2400" b="1" dirty="0">
              <a:solidFill>
                <a:srgbClr val="FF00FF"/>
              </a:solidFill>
              <a:latin typeface="Arial" panose="020B0604020202020204" pitchFamily="34" charset="0"/>
              <a:ea typeface="宋体" panose="02010600030101010101" pitchFamily="2" charset="-122"/>
            </a:endParaRPr>
          </a:p>
          <a:p>
            <a:pPr lvl="0" eaLnBrk="0" hangingPunct="0"/>
            <a:r>
              <a:rPr lang="en-US" altLang="zh-CN" sz="2400" b="1" dirty="0">
                <a:solidFill>
                  <a:srgbClr val="0000FF"/>
                </a:solidFill>
                <a:latin typeface="Arial" panose="020B0604020202020204" pitchFamily="34" charset="0"/>
                <a:ea typeface="宋体" panose="02010600030101010101" pitchFamily="2" charset="-122"/>
              </a:rPr>
              <a:t>1</a:t>
            </a:r>
            <a:r>
              <a:rPr lang="zh-CN" altLang="en-US" sz="2400" b="1" dirty="0">
                <a:solidFill>
                  <a:srgbClr val="0000FF"/>
                </a:solidFill>
                <a:latin typeface="Arial" panose="020B0604020202020204" pitchFamily="34" charset="0"/>
                <a:ea typeface="宋体" panose="02010600030101010101" pitchFamily="2" charset="-122"/>
              </a:rPr>
              <a:t>．软件查询方式</a:t>
            </a:r>
            <a:r>
              <a:rPr lang="zh-CN" altLang="en-US" sz="2400" b="1" dirty="0">
                <a:latin typeface="Arial" panose="020B0604020202020204" pitchFamily="34" charset="0"/>
              </a:rPr>
              <a:t>    </a:t>
            </a:r>
            <a:endParaRPr lang="en-US" altLang="zh-CN" sz="2400" b="1" dirty="0">
              <a:latin typeface="Arial" panose="020B0604020202020204" pitchFamily="34" charset="0"/>
            </a:endParaRPr>
          </a:p>
          <a:p>
            <a:pPr marL="342900" lvl="0" indent="-342900" eaLnBrk="0" hangingPunct="0">
              <a:buClr>
                <a:srgbClr val="0000FF"/>
              </a:buClr>
              <a:buFont typeface="Wingdings" panose="05000000000000000000" pitchFamily="2" charset="2"/>
              <a:buChar char="p"/>
            </a:pPr>
            <a:r>
              <a:rPr lang="zh-CN" altLang="en-US" sz="2400" b="1" dirty="0">
                <a:latin typeface="Arial" panose="020B0604020202020204" pitchFamily="34" charset="0"/>
                <a:ea typeface="宋体" panose="02010600030101010101" pitchFamily="2" charset="-122"/>
              </a:rPr>
              <a:t>一方面各中断源的中断请求信号都被锁存于锁存器（中断状态端口）中，相应位置</a:t>
            </a:r>
            <a:r>
              <a:rPr lang="en-US" altLang="zh-CN" sz="2400" b="1" dirty="0">
                <a:latin typeface="Arial" panose="020B0604020202020204" pitchFamily="34" charset="0"/>
                <a:ea typeface="宋体" panose="02010600030101010101" pitchFamily="2" charset="-122"/>
              </a:rPr>
              <a:t>1 </a:t>
            </a:r>
            <a:r>
              <a:rPr lang="zh-CN" altLang="en-US" sz="2400" b="1" dirty="0">
                <a:latin typeface="Arial" panose="020B0604020202020204" pitchFamily="34" charset="0"/>
              </a:rPr>
              <a:t>；</a:t>
            </a:r>
            <a:endParaRPr lang="en-US" altLang="zh-CN" sz="2400" b="1" dirty="0">
              <a:latin typeface="Arial" panose="020B0604020202020204" pitchFamily="34" charset="0"/>
            </a:endParaRPr>
          </a:p>
          <a:p>
            <a:pPr marL="342900" lvl="0" indent="-342900" eaLnBrk="0" hangingPunct="0">
              <a:buClr>
                <a:srgbClr val="0000FF"/>
              </a:buClr>
              <a:buFont typeface="Wingdings" panose="05000000000000000000" pitchFamily="2" charset="2"/>
              <a:buChar char="p"/>
            </a:pPr>
            <a:r>
              <a:rPr lang="zh-CN" altLang="en-US" sz="2400" b="1" dirty="0">
                <a:latin typeface="Arial" panose="020B0604020202020204" pitchFamily="34" charset="0"/>
                <a:ea typeface="宋体" panose="02010600030101010101" pitchFamily="2" charset="-122"/>
              </a:rPr>
              <a:t>另一方面，所有的中断请求信号相“或”后作为</a:t>
            </a:r>
            <a:r>
              <a:rPr lang="en-US" altLang="zh-CN" sz="2400" b="1" dirty="0">
                <a:latin typeface="Arial" panose="020B0604020202020204" pitchFamily="34" charset="0"/>
                <a:ea typeface="宋体" panose="02010600030101010101" pitchFamily="2" charset="-122"/>
              </a:rPr>
              <a:t>INTR</a:t>
            </a:r>
            <a:r>
              <a:rPr lang="zh-CN" altLang="en-US" sz="2400" b="1" dirty="0">
                <a:latin typeface="Arial" panose="020B0604020202020204" pitchFamily="34" charset="0"/>
                <a:ea typeface="宋体" panose="02010600030101010101" pitchFamily="2" charset="-122"/>
              </a:rPr>
              <a:t>信号，向</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提出中断请；</a:t>
            </a:r>
            <a:endParaRPr lang="en-US" altLang="zh-CN" sz="2400" b="1" dirty="0">
              <a:latin typeface="Arial" panose="020B0604020202020204" pitchFamily="34" charset="0"/>
              <a:ea typeface="宋体" panose="02010600030101010101" pitchFamily="2" charset="-122"/>
            </a:endParaRPr>
          </a:p>
          <a:p>
            <a:pPr marL="342900" lvl="0" indent="-342900" eaLnBrk="0" hangingPunct="0">
              <a:buClr>
                <a:srgbClr val="0000FF"/>
              </a:buClr>
              <a:buFont typeface="Wingdings" panose="05000000000000000000" pitchFamily="2" charset="2"/>
              <a:buChar char="p"/>
            </a:pP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响应中断后，通过一段公共查询程序来确定相应的中断源，并转入相应的中断服务程序。</a:t>
            </a:r>
            <a:endParaRPr lang="en-US" altLang="zh-CN" sz="2400" b="1" dirty="0">
              <a:latin typeface="Arial" panose="020B0604020202020204" pitchFamily="34" charset="0"/>
              <a:ea typeface="宋体" panose="02010600030101010101" pitchFamily="2" charset="-122"/>
            </a:endParaRPr>
          </a:p>
          <a:p>
            <a:pPr marL="342900" indent="-342900" eaLnBrk="0" hangingPunct="0">
              <a:buClr>
                <a:srgbClr val="0000FF"/>
              </a:buClr>
              <a:buFont typeface="Wingdings" panose="05000000000000000000" pitchFamily="2" charset="2"/>
              <a:buChar char="p"/>
            </a:pPr>
            <a:r>
              <a:rPr lang="zh-CN" altLang="en-US" sz="2400" b="1" dirty="0">
                <a:latin typeface="Arial" panose="020B0604020202020204" pitchFamily="34" charset="0"/>
                <a:ea typeface="宋体" panose="02010600030101010101" pitchFamily="2" charset="-122"/>
              </a:rPr>
              <a:t>查询程序中查询状态端口的</a:t>
            </a:r>
            <a:r>
              <a:rPr lang="zh-CN" altLang="en-US" sz="2400" b="1" dirty="0">
                <a:solidFill>
                  <a:srgbClr val="FF00FF"/>
                </a:solidFill>
                <a:latin typeface="Arial" panose="020B0604020202020204" pitchFamily="34" charset="0"/>
                <a:ea typeface="宋体" panose="02010600030101010101" pitchFamily="2" charset="-122"/>
              </a:rPr>
              <a:t>顺序</a:t>
            </a:r>
            <a:r>
              <a:rPr lang="zh-CN" altLang="en-US" sz="2400" b="1" dirty="0">
                <a:latin typeface="Arial" panose="020B0604020202020204" pitchFamily="34" charset="0"/>
                <a:ea typeface="宋体" panose="02010600030101010101" pitchFamily="2" charset="-122"/>
              </a:rPr>
              <a:t>就是中断源的</a:t>
            </a:r>
            <a:r>
              <a:rPr lang="zh-CN" altLang="en-US" sz="2400" b="1" dirty="0">
                <a:solidFill>
                  <a:srgbClr val="FF00FF"/>
                </a:solidFill>
                <a:latin typeface="Arial" panose="020B0604020202020204" pitchFamily="34" charset="0"/>
              </a:rPr>
              <a:t>优先级顺序</a:t>
            </a:r>
            <a:r>
              <a:rPr lang="zh-CN" altLang="en-US" sz="2400" b="1" dirty="0">
                <a:latin typeface="Arial" panose="020B0604020202020204" pitchFamily="34" charset="0"/>
              </a:rPr>
              <a:t>。</a:t>
            </a:r>
            <a:r>
              <a:rPr lang="zh-CN" altLang="en-US" sz="2400" b="1" dirty="0">
                <a:latin typeface="Arial" panose="020B0604020202020204" pitchFamily="34" charset="0"/>
                <a:ea typeface="宋体" panose="02010600030101010101" pitchFamily="2" charset="-122"/>
              </a:rPr>
              <a:t>        </a:t>
            </a:r>
          </a:p>
        </p:txBody>
      </p:sp>
      <p:pic>
        <p:nvPicPr>
          <p:cNvPr id="5" name="图片 4">
            <a:extLst>
              <a:ext uri="{FF2B5EF4-FFF2-40B4-BE49-F238E27FC236}">
                <a16:creationId xmlns:a16="http://schemas.microsoft.com/office/drawing/2014/main" id="{CAE6A300-4A78-44B9-8072-FC5FBAF6450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963353" y="1772816"/>
            <a:ext cx="4001135" cy="2545080"/>
          </a:xfrm>
          <a:prstGeom prst="rect">
            <a:avLst/>
          </a:prstGeom>
          <a:noFill/>
          <a:ln>
            <a:noFill/>
          </a:ln>
        </p:spPr>
      </p:pic>
      <p:sp>
        <p:nvSpPr>
          <p:cNvPr id="2" name="文本框 1">
            <a:extLst>
              <a:ext uri="{FF2B5EF4-FFF2-40B4-BE49-F238E27FC236}">
                <a16:creationId xmlns:a16="http://schemas.microsoft.com/office/drawing/2014/main" id="{67F158F4-85B5-449F-8257-594E88E23FD5}"/>
              </a:ext>
            </a:extLst>
          </p:cNvPr>
          <p:cNvSpPr txBox="1"/>
          <p:nvPr/>
        </p:nvSpPr>
        <p:spPr>
          <a:xfrm>
            <a:off x="5508104" y="3350905"/>
            <a:ext cx="432048" cy="276999"/>
          </a:xfrm>
          <a:prstGeom prst="rect">
            <a:avLst/>
          </a:prstGeom>
          <a:noFill/>
        </p:spPr>
        <p:txBody>
          <a:bodyPr wrap="square" rtlCol="0">
            <a:spAutoFit/>
          </a:bodyPr>
          <a:lstStyle/>
          <a:p>
            <a:r>
              <a:rPr lang="en-US" altLang="zh-CN" sz="1200" dirty="0"/>
              <a:t>+1</a:t>
            </a:r>
            <a:endParaRPr lang="zh-CN" altLang="en-US" sz="1200" dirty="0"/>
          </a:p>
        </p:txBody>
      </p:sp>
      <p:sp>
        <p:nvSpPr>
          <p:cNvPr id="7" name="文本框 6">
            <a:extLst>
              <a:ext uri="{FF2B5EF4-FFF2-40B4-BE49-F238E27FC236}">
                <a16:creationId xmlns:a16="http://schemas.microsoft.com/office/drawing/2014/main" id="{5199FFE5-71B6-4A46-BF39-B39456B97D8A}"/>
              </a:ext>
            </a:extLst>
          </p:cNvPr>
          <p:cNvSpPr txBox="1"/>
          <p:nvPr/>
        </p:nvSpPr>
        <p:spPr>
          <a:xfrm>
            <a:off x="4731296" y="4653136"/>
            <a:ext cx="4680520" cy="1569660"/>
          </a:xfrm>
          <a:prstGeom prst="rect">
            <a:avLst/>
          </a:prstGeom>
          <a:noFill/>
          <a:ln w="9525">
            <a:noFill/>
          </a:ln>
        </p:spPr>
        <p:txBody>
          <a:bodyPr wrap="square">
            <a:spAutoFit/>
          </a:bodyPr>
          <a:lstStyle/>
          <a:p>
            <a:pPr lvl="0" eaLnBrk="0" hangingPunct="0"/>
            <a:r>
              <a:rPr lang="zh-CN" altLang="en-US" sz="2400" b="1" dirty="0">
                <a:solidFill>
                  <a:srgbClr val="0000FF"/>
                </a:solidFill>
                <a:latin typeface="Arial" panose="020B0604020202020204" pitchFamily="34" charset="0"/>
                <a:ea typeface="宋体" panose="02010600030101010101" pitchFamily="2" charset="-122"/>
              </a:rPr>
              <a:t>优点</a:t>
            </a:r>
            <a:r>
              <a:rPr lang="zh-CN" altLang="en-US" sz="2400" b="1" dirty="0">
                <a:latin typeface="Arial" panose="020B0604020202020204" pitchFamily="34" charset="0"/>
                <a:ea typeface="宋体" panose="02010600030101010101" pitchFamily="2" charset="-122"/>
              </a:rPr>
              <a:t>：硬件简单，通过修改</a:t>
            </a:r>
            <a:r>
              <a:rPr lang="zh-CN" altLang="en-US" sz="2400" b="1" dirty="0">
                <a:solidFill>
                  <a:srgbClr val="0000FF"/>
                </a:solidFill>
                <a:latin typeface="Arial" panose="020B0604020202020204" pitchFamily="34" charset="0"/>
                <a:ea typeface="宋体" panose="02010600030101010101" pitchFamily="2" charset="-122"/>
              </a:rPr>
              <a:t>查询顺序</a:t>
            </a:r>
            <a:r>
              <a:rPr lang="zh-CN" altLang="en-US" sz="2400" b="1" dirty="0">
                <a:latin typeface="Arial" panose="020B0604020202020204" pitchFamily="34" charset="0"/>
                <a:ea typeface="宋体" panose="02010600030101010101" pitchFamily="2" charset="-122"/>
              </a:rPr>
              <a:t>即可改变中断源优先级</a:t>
            </a:r>
            <a:endParaRPr lang="en-US" altLang="zh-CN" sz="2400" b="1" dirty="0">
              <a:latin typeface="Arial" panose="020B0604020202020204" pitchFamily="34" charset="0"/>
              <a:ea typeface="宋体" panose="02010600030101010101" pitchFamily="2" charset="-122"/>
            </a:endParaRPr>
          </a:p>
          <a:p>
            <a:pPr lvl="0" eaLnBrk="0" hangingPunct="0"/>
            <a:r>
              <a:rPr lang="zh-CN" altLang="en-US" sz="2400" b="1" dirty="0">
                <a:solidFill>
                  <a:srgbClr val="0000FF"/>
                </a:solidFill>
                <a:latin typeface="Arial" panose="020B0604020202020204" pitchFamily="34" charset="0"/>
              </a:rPr>
              <a:t>缺点</a:t>
            </a:r>
            <a:r>
              <a:rPr lang="zh-CN" altLang="en-US" sz="2400" b="1" dirty="0">
                <a:latin typeface="Arial" panose="020B0604020202020204" pitchFamily="34" charset="0"/>
              </a:rPr>
              <a:t>：</a:t>
            </a:r>
            <a:r>
              <a:rPr lang="zh-CN" altLang="en-US" sz="2400" b="1" dirty="0">
                <a:latin typeface="Arial" panose="020B0604020202020204" pitchFamily="34" charset="0"/>
                <a:ea typeface="宋体" panose="02010600030101010101" pitchFamily="2" charset="-122"/>
              </a:rPr>
              <a:t>中断源较多时耗时较长，影响中断响应的</a:t>
            </a:r>
            <a:r>
              <a:rPr lang="zh-CN" altLang="en-US" sz="2400" b="1" dirty="0">
                <a:solidFill>
                  <a:srgbClr val="0000FF"/>
                </a:solidFill>
                <a:latin typeface="Arial" panose="020B0604020202020204" pitchFamily="34" charset="0"/>
                <a:ea typeface="宋体" panose="02010600030101010101" pitchFamily="2" charset="-122"/>
              </a:rPr>
              <a:t>实时性</a:t>
            </a:r>
            <a:r>
              <a:rPr lang="zh-CN" altLang="en-US" sz="2400" b="1" dirty="0">
                <a:latin typeface="Arial" panose="020B0604020202020204" pitchFamily="34" charset="0"/>
                <a:ea typeface="宋体" panose="02010600030101010101" pitchFamily="2" charset="-122"/>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标题 294913"/>
          <p:cNvSpPr>
            <a:spLocks noGrp="1"/>
          </p:cNvSpPr>
          <p:nvPr>
            <p:ph type="title"/>
          </p:nvPr>
        </p:nvSpPr>
        <p:spPr>
          <a:xfrm>
            <a:off x="1044575" y="188913"/>
            <a:ext cx="6696075" cy="431800"/>
          </a:xfrm>
          <a:ln/>
        </p:spPr>
        <p:txBody>
          <a:bodyPr anchor="ctr"/>
          <a:lstStyle/>
          <a:p>
            <a:pPr lvl="0"/>
            <a:r>
              <a:rPr lang="en-US" altLang="zh-CN" sz="3200" b="1">
                <a:solidFill>
                  <a:srgbClr val="FF0000"/>
                </a:solidFill>
                <a:ea typeface="隶书" panose="02010509060101010101" pitchFamily="49" charset="-122"/>
              </a:rPr>
              <a:t>8</a:t>
            </a:r>
            <a:r>
              <a:rPr lang="en-US" altLang="en-US" sz="3200" b="1">
                <a:solidFill>
                  <a:srgbClr val="FF0000"/>
                </a:solidFill>
                <a:ea typeface="隶书" panose="02010509060101010101" pitchFamily="49" charset="-122"/>
              </a:rPr>
              <a:t>.1  </a:t>
            </a:r>
            <a:r>
              <a:rPr lang="zh-CN" altLang="en-US" sz="3200" b="1" dirty="0">
                <a:solidFill>
                  <a:srgbClr val="FF0000"/>
                </a:solidFill>
                <a:ea typeface="隶书" panose="02010509060101010101" pitchFamily="49" charset="-122"/>
              </a:rPr>
              <a:t>中断基础</a:t>
            </a:r>
          </a:p>
        </p:txBody>
      </p:sp>
      <p:sp>
        <p:nvSpPr>
          <p:cNvPr id="294915" name="文本框 294914"/>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94916" name="文本框 294915"/>
          <p:cNvSpPr txBox="1"/>
          <p:nvPr/>
        </p:nvSpPr>
        <p:spPr>
          <a:xfrm>
            <a:off x="250825" y="908050"/>
            <a:ext cx="8713788" cy="2677656"/>
          </a:xfrm>
          <a:prstGeom prst="rect">
            <a:avLst/>
          </a:prstGeom>
          <a:noFill/>
          <a:ln w="9525">
            <a:noFill/>
          </a:ln>
        </p:spPr>
        <p:txBody>
          <a:bodyPr>
            <a:spAutoFit/>
          </a:bodyPr>
          <a:lstStyle/>
          <a:p>
            <a:pPr lvl="0" eaLnBrk="0" hangingPunct="0"/>
            <a:r>
              <a:rPr lang="en-US" altLang="zh-CN" sz="2400" b="1" dirty="0">
                <a:solidFill>
                  <a:srgbClr val="0000FF"/>
                </a:solidFill>
                <a:latin typeface="Arial" panose="020B0604020202020204" pitchFamily="34" charset="0"/>
                <a:ea typeface="宋体" panose="02010600030101010101" pitchFamily="2" charset="-122"/>
              </a:rPr>
              <a:t>2</a:t>
            </a:r>
            <a:r>
              <a:rPr lang="zh-CN" altLang="en-US" sz="2400" b="1" dirty="0">
                <a:solidFill>
                  <a:srgbClr val="0000FF"/>
                </a:solidFill>
                <a:latin typeface="Arial" panose="020B0604020202020204" pitchFamily="34" charset="0"/>
                <a:ea typeface="宋体" panose="02010600030101010101" pitchFamily="2" charset="-122"/>
              </a:rPr>
              <a:t>．硬件排队方式</a:t>
            </a:r>
          </a:p>
          <a:p>
            <a:pPr lvl="0" eaLnBrk="0" hangingPunct="0"/>
            <a:r>
              <a:rPr lang="zh-CN" altLang="en-US" sz="2400" b="1" dirty="0">
                <a:latin typeface="Arial" panose="020B0604020202020204" pitchFamily="34" charset="0"/>
              </a:rPr>
              <a:t>    </a:t>
            </a:r>
            <a:r>
              <a:rPr lang="zh-CN" altLang="en-US" sz="2400" b="1" dirty="0">
                <a:latin typeface="Arial" panose="020B0604020202020204" pitchFamily="34" charset="0"/>
                <a:ea typeface="宋体" panose="02010600030101010101" pitchFamily="2" charset="-122"/>
              </a:rPr>
              <a:t>硬件排队方式：利用专门的硬件电路实现中断源优先级排队</a:t>
            </a:r>
            <a:endParaRPr lang="en-US" altLang="zh-CN" sz="2400" b="1" dirty="0">
              <a:latin typeface="Arial" panose="020B0604020202020204" pitchFamily="34" charset="0"/>
              <a:ea typeface="宋体" panose="02010600030101010101" pitchFamily="2" charset="-122"/>
            </a:endParaRPr>
          </a:p>
          <a:p>
            <a:pPr lvl="0" eaLnBrk="0" hangingPunct="0"/>
            <a:endParaRPr lang="zh-CN" altLang="en-US" sz="2400" b="1" dirty="0">
              <a:latin typeface="Arial" panose="020B0604020202020204" pitchFamily="34" charset="0"/>
              <a:ea typeface="宋体" panose="02010600030101010101" pitchFamily="2" charset="-122"/>
            </a:endParaRPr>
          </a:p>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1</a:t>
            </a:r>
            <a:r>
              <a:rPr lang="zh-CN" altLang="en-US" sz="2400" b="1" dirty="0">
                <a:solidFill>
                  <a:srgbClr val="FF00FF"/>
                </a:solidFill>
                <a:latin typeface="Arial" panose="020B0604020202020204" pitchFamily="34" charset="0"/>
                <a:ea typeface="宋体" panose="02010600030101010101" pitchFamily="2" charset="-122"/>
              </a:rPr>
              <a:t>）链式优先级排队</a:t>
            </a:r>
          </a:p>
          <a:p>
            <a:pPr lvl="0" eaLnBrk="0" hangingPunct="0"/>
            <a:r>
              <a:rPr lang="zh-CN" altLang="en-US" sz="2400" b="1" dirty="0">
                <a:latin typeface="Arial" panose="020B0604020202020204" pitchFamily="34" charset="0"/>
                <a:ea typeface="宋体" panose="02010600030101010101" pitchFamily="2" charset="-122"/>
              </a:rPr>
              <a:t>    在每个中断源接口电路中设置一个称为菊花链的逻辑电路，利用</a:t>
            </a:r>
            <a:r>
              <a:rPr lang="zh-CN" altLang="en-US" sz="2400" b="1" dirty="0">
                <a:solidFill>
                  <a:srgbClr val="0000FF"/>
                </a:solidFill>
                <a:latin typeface="Arial" panose="020B0604020202020204" pitchFamily="34" charset="0"/>
                <a:ea typeface="宋体" panose="02010600030101010101" pitchFamily="2" charset="-122"/>
              </a:rPr>
              <a:t>中断源在系统中的物理位置</a:t>
            </a:r>
            <a:r>
              <a:rPr lang="zh-CN" altLang="en-US" sz="2400" b="1" dirty="0">
                <a:latin typeface="Arial" panose="020B0604020202020204" pitchFamily="34" charset="0"/>
                <a:ea typeface="宋体" panose="02010600030101010101" pitchFamily="2" charset="-122"/>
              </a:rPr>
              <a:t>确定其中断优先级。</a:t>
            </a:r>
            <a:endParaRPr lang="en-US" altLang="zh-CN" sz="2400" b="1" dirty="0">
              <a:latin typeface="Arial" panose="020B0604020202020204" pitchFamily="34" charset="0"/>
              <a:ea typeface="宋体" panose="02010600030101010101" pitchFamily="2" charset="-122"/>
            </a:endParaRPr>
          </a:p>
          <a:p>
            <a:pPr eaLnBrk="0" hangingPunct="0"/>
            <a:r>
              <a:rPr lang="zh-CN" altLang="en-US" sz="2400" b="1" dirty="0">
                <a:latin typeface="Arial" panose="020B0604020202020204" pitchFamily="34" charset="0"/>
              </a:rPr>
              <a:t>    特点：</a:t>
            </a:r>
            <a:r>
              <a:rPr lang="zh-CN" altLang="en-US" sz="2400" b="1" dirty="0">
                <a:latin typeface="Arial" panose="020B0604020202020204" pitchFamily="34" charset="0"/>
                <a:ea typeface="宋体" panose="02010600030101010101" pitchFamily="2" charset="-122"/>
              </a:rPr>
              <a:t>调整优先级就涉及硬件改动，使用不方便。</a:t>
            </a:r>
          </a:p>
        </p:txBody>
      </p:sp>
      <p:pic>
        <p:nvPicPr>
          <p:cNvPr id="5" name="图片 4">
            <a:extLst>
              <a:ext uri="{FF2B5EF4-FFF2-40B4-BE49-F238E27FC236}">
                <a16:creationId xmlns:a16="http://schemas.microsoft.com/office/drawing/2014/main" id="{044B4336-DFB4-4F17-8CC4-0B9C1E0CC9A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979712" y="3573289"/>
            <a:ext cx="4760729" cy="324008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标题 294913"/>
          <p:cNvSpPr>
            <a:spLocks noGrp="1"/>
          </p:cNvSpPr>
          <p:nvPr>
            <p:ph type="title"/>
          </p:nvPr>
        </p:nvSpPr>
        <p:spPr>
          <a:xfrm>
            <a:off x="1044575" y="188913"/>
            <a:ext cx="6696075" cy="431800"/>
          </a:xfrm>
          <a:ln/>
        </p:spPr>
        <p:txBody>
          <a:bodyPr anchor="ctr"/>
          <a:lstStyle/>
          <a:p>
            <a:pPr lvl="0"/>
            <a:r>
              <a:rPr lang="en-US" altLang="zh-CN" sz="3200" b="1">
                <a:solidFill>
                  <a:srgbClr val="FF0000"/>
                </a:solidFill>
                <a:ea typeface="隶书" panose="02010509060101010101" pitchFamily="49" charset="-122"/>
              </a:rPr>
              <a:t>8</a:t>
            </a:r>
            <a:r>
              <a:rPr lang="en-US" altLang="en-US" sz="3200" b="1">
                <a:solidFill>
                  <a:srgbClr val="FF0000"/>
                </a:solidFill>
                <a:ea typeface="隶书" panose="02010509060101010101" pitchFamily="49" charset="-122"/>
              </a:rPr>
              <a:t>.1  </a:t>
            </a:r>
            <a:r>
              <a:rPr lang="zh-CN" altLang="en-US" sz="3200" b="1" dirty="0">
                <a:solidFill>
                  <a:srgbClr val="FF0000"/>
                </a:solidFill>
                <a:ea typeface="隶书" panose="02010509060101010101" pitchFamily="49" charset="-122"/>
              </a:rPr>
              <a:t>中断基础</a:t>
            </a:r>
          </a:p>
        </p:txBody>
      </p:sp>
      <p:sp>
        <p:nvSpPr>
          <p:cNvPr id="294915" name="文本框 294914"/>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94916" name="文本框 294915"/>
          <p:cNvSpPr txBox="1"/>
          <p:nvPr/>
        </p:nvSpPr>
        <p:spPr>
          <a:xfrm>
            <a:off x="250825" y="908050"/>
            <a:ext cx="8713788" cy="2677656"/>
          </a:xfrm>
          <a:prstGeom prst="rect">
            <a:avLst/>
          </a:prstGeom>
          <a:noFill/>
          <a:ln w="9525">
            <a:noFill/>
          </a:ln>
        </p:spPr>
        <p:txBody>
          <a:bodyPr>
            <a:spAutoFit/>
          </a:bodyPr>
          <a:lstStyle/>
          <a:p>
            <a:pPr lvl="0" eaLnBrk="0" hangingPunct="0"/>
            <a:r>
              <a:rPr lang="en-US" altLang="zh-CN" sz="2400" b="1" dirty="0">
                <a:solidFill>
                  <a:srgbClr val="0000FF"/>
                </a:solidFill>
                <a:latin typeface="Arial" panose="020B0604020202020204" pitchFamily="34" charset="0"/>
                <a:ea typeface="宋体" panose="02010600030101010101" pitchFamily="2" charset="-122"/>
              </a:rPr>
              <a:t>2</a:t>
            </a:r>
            <a:r>
              <a:rPr lang="zh-CN" altLang="en-US" sz="2400" b="1" dirty="0">
                <a:solidFill>
                  <a:srgbClr val="0000FF"/>
                </a:solidFill>
                <a:latin typeface="Arial" panose="020B0604020202020204" pitchFamily="34" charset="0"/>
                <a:ea typeface="宋体" panose="02010600030101010101" pitchFamily="2" charset="-122"/>
              </a:rPr>
              <a:t>．硬件排队方式</a:t>
            </a:r>
          </a:p>
          <a:p>
            <a:pPr lvl="0" eaLnBrk="0" hangingPunct="0"/>
            <a:r>
              <a:rPr lang="zh-CN" altLang="en-US" sz="2400" b="1" dirty="0">
                <a:latin typeface="Arial" panose="020B0604020202020204" pitchFamily="34" charset="0"/>
              </a:rPr>
              <a:t>    </a:t>
            </a:r>
            <a:r>
              <a:rPr lang="zh-CN" altLang="en-US" sz="2400" b="1" dirty="0">
                <a:latin typeface="Arial" panose="020B0604020202020204" pitchFamily="34" charset="0"/>
                <a:ea typeface="宋体" panose="02010600030101010101" pitchFamily="2" charset="-122"/>
              </a:rPr>
              <a:t>硬件排队方式：利用专门的硬件电路实现中断源优先级排队</a:t>
            </a:r>
            <a:endParaRPr lang="en-US" altLang="zh-CN" sz="2400" b="1" dirty="0">
              <a:latin typeface="Arial" panose="020B0604020202020204" pitchFamily="34" charset="0"/>
              <a:ea typeface="宋体" panose="02010600030101010101" pitchFamily="2" charset="-122"/>
            </a:endParaRPr>
          </a:p>
          <a:p>
            <a:pPr lvl="0" eaLnBrk="0" hangingPunct="0"/>
            <a:endParaRPr lang="zh-CN" altLang="en-US" sz="2400" b="1" dirty="0">
              <a:latin typeface="Arial" panose="020B0604020202020204" pitchFamily="34" charset="0"/>
              <a:ea typeface="宋体" panose="02010600030101010101" pitchFamily="2" charset="-122"/>
            </a:endParaRPr>
          </a:p>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2</a:t>
            </a:r>
            <a:r>
              <a:rPr lang="zh-CN" altLang="en-US" sz="2400" b="1" dirty="0">
                <a:solidFill>
                  <a:srgbClr val="FF00FF"/>
                </a:solidFill>
                <a:latin typeface="Arial" panose="020B0604020202020204" pitchFamily="34" charset="0"/>
                <a:ea typeface="宋体" panose="02010600030101010101" pitchFamily="2" charset="-122"/>
              </a:rPr>
              <a:t>）向量优先级排队</a:t>
            </a:r>
          </a:p>
          <a:p>
            <a:pPr lvl="0" eaLnBrk="0" hangingPunct="0"/>
            <a:r>
              <a:rPr lang="zh-CN" altLang="en-US" sz="2400" b="1" dirty="0">
                <a:latin typeface="Arial" panose="020B0604020202020204" pitchFamily="34" charset="0"/>
                <a:ea typeface="宋体" panose="02010600030101010101" pitchFamily="2" charset="-122"/>
              </a:rPr>
              <a:t>目前微机系统中多用</a:t>
            </a:r>
            <a:r>
              <a:rPr lang="zh-CN" altLang="en-US" sz="2400" b="1" dirty="0">
                <a:solidFill>
                  <a:srgbClr val="0000FF"/>
                </a:solidFill>
                <a:latin typeface="Arial" panose="020B0604020202020204" pitchFamily="34" charset="0"/>
                <a:ea typeface="宋体" panose="02010600030101010101" pitchFamily="2" charset="-122"/>
              </a:rPr>
              <a:t>专门的优先级中断控制器</a:t>
            </a:r>
            <a:r>
              <a:rPr lang="zh-CN" altLang="en-US" sz="2400" b="1" dirty="0">
                <a:latin typeface="Arial" panose="020B0604020202020204" pitchFamily="34" charset="0"/>
                <a:ea typeface="宋体" panose="02010600030101010101" pitchFamily="2" charset="-122"/>
              </a:rPr>
              <a:t>构成向量优先级中断系统来管理中断优先级。用户可通过编程</a:t>
            </a:r>
            <a:r>
              <a:rPr lang="zh-CN" altLang="en-US" sz="2400" b="1" dirty="0">
                <a:latin typeface="Arial" panose="020B0604020202020204" pitchFamily="34" charset="0"/>
              </a:rPr>
              <a:t>实现，调整灵活，</a:t>
            </a:r>
            <a:r>
              <a:rPr lang="zh-CN" altLang="en-US" sz="2400" b="1" dirty="0">
                <a:latin typeface="Arial" panose="020B0604020202020204" pitchFamily="34" charset="0"/>
                <a:ea typeface="宋体" panose="02010600030101010101" pitchFamily="2" charset="-122"/>
              </a:rPr>
              <a:t>无需改动硬件接口电路。</a:t>
            </a:r>
          </a:p>
        </p:txBody>
      </p:sp>
      <p:pic>
        <p:nvPicPr>
          <p:cNvPr id="5" name="图片 4" descr="wps_clip_image-5068">
            <a:extLst>
              <a:ext uri="{FF2B5EF4-FFF2-40B4-BE49-F238E27FC236}">
                <a16:creationId xmlns:a16="http://schemas.microsoft.com/office/drawing/2014/main" id="{153EADBF-4E95-4248-86FB-00892A21A9C2}"/>
              </a:ext>
            </a:extLst>
          </p:cNvPr>
          <p:cNvPicPr>
            <a:picLocks noChangeAspect="1"/>
          </p:cNvPicPr>
          <p:nvPr/>
        </p:nvPicPr>
        <p:blipFill>
          <a:blip r:embed="rId2"/>
          <a:stretch>
            <a:fillRect/>
          </a:stretch>
        </p:blipFill>
        <p:spPr>
          <a:xfrm>
            <a:off x="1619672" y="3571155"/>
            <a:ext cx="5791148" cy="2810173"/>
          </a:xfrm>
          <a:prstGeom prst="rect">
            <a:avLst/>
          </a:prstGeom>
          <a:noFill/>
          <a:ln w="9525">
            <a:noFill/>
          </a:ln>
        </p:spPr>
      </p:pic>
    </p:spTree>
    <p:extLst>
      <p:ext uri="{BB962C8B-B14F-4D97-AF65-F5344CB8AC3E}">
        <p14:creationId xmlns:p14="http://schemas.microsoft.com/office/powerpoint/2010/main" val="2275373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标题 297985"/>
          <p:cNvSpPr>
            <a:spLocks noGrp="1"/>
          </p:cNvSpPr>
          <p:nvPr>
            <p:ph type="title"/>
          </p:nvPr>
        </p:nvSpPr>
        <p:spPr>
          <a:xfrm>
            <a:off x="1044575" y="188913"/>
            <a:ext cx="6696075" cy="431800"/>
          </a:xfrm>
          <a:ln/>
        </p:spPr>
        <p:txBody>
          <a:bodyPr anchor="ctr"/>
          <a:lstStyle/>
          <a:p>
            <a:pPr lvl="0"/>
            <a:r>
              <a:rPr lang="en-US" altLang="zh-CN" sz="3200" b="1">
                <a:solidFill>
                  <a:srgbClr val="FF0000"/>
                </a:solidFill>
                <a:ea typeface="隶书" panose="02010509060101010101" pitchFamily="49" charset="-122"/>
              </a:rPr>
              <a:t>8</a:t>
            </a:r>
            <a:r>
              <a:rPr lang="en-US" altLang="en-US" sz="3200" b="1">
                <a:solidFill>
                  <a:srgbClr val="FF0000"/>
                </a:solidFill>
                <a:ea typeface="隶书" panose="02010509060101010101" pitchFamily="49" charset="-122"/>
              </a:rPr>
              <a:t>.1  </a:t>
            </a:r>
            <a:r>
              <a:rPr lang="zh-CN" altLang="en-US" sz="3200" b="1" dirty="0">
                <a:solidFill>
                  <a:srgbClr val="FF0000"/>
                </a:solidFill>
                <a:ea typeface="隶书" panose="02010509060101010101" pitchFamily="49" charset="-122"/>
              </a:rPr>
              <a:t>中断基础</a:t>
            </a:r>
          </a:p>
        </p:txBody>
      </p:sp>
      <p:sp>
        <p:nvSpPr>
          <p:cNvPr id="297987" name="文本框 297986"/>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97988" name="文本框 297987"/>
          <p:cNvSpPr txBox="1"/>
          <p:nvPr/>
        </p:nvSpPr>
        <p:spPr>
          <a:xfrm>
            <a:off x="250825" y="836712"/>
            <a:ext cx="8713788" cy="4216539"/>
          </a:xfrm>
          <a:prstGeom prst="rect">
            <a:avLst/>
          </a:prstGeom>
          <a:noFill/>
          <a:ln w="9525">
            <a:noFill/>
          </a:ln>
        </p:spPr>
        <p:txBody>
          <a:bodyPr>
            <a:spAutoFit/>
          </a:bodyPr>
          <a:lstStyle/>
          <a:p>
            <a:pPr lvl="0" eaLnBrk="0" hangingPunct="0"/>
            <a:r>
              <a:rPr lang="zh-CN" altLang="en-US" sz="2800" b="1" dirty="0">
                <a:latin typeface="Arial" panose="020B0604020202020204" pitchFamily="34" charset="0"/>
                <a:ea typeface="宋体" panose="02010600030101010101" pitchFamily="2" charset="-122"/>
              </a:rPr>
              <a:t>三、</a:t>
            </a:r>
            <a:r>
              <a:rPr lang="en-US" altLang="zh-CN" sz="2800" b="1" dirty="0" err="1">
                <a:latin typeface="Arial" panose="020B0604020202020204" pitchFamily="34" charset="0"/>
                <a:ea typeface="宋体" panose="02010600030101010101" pitchFamily="2" charset="-122"/>
              </a:rPr>
              <a:t>中断</a:t>
            </a:r>
            <a:r>
              <a:rPr lang="zh-CN" altLang="en-US" sz="2800" b="1" dirty="0">
                <a:latin typeface="Arial" panose="020B0604020202020204" pitchFamily="34" charset="0"/>
                <a:ea typeface="宋体" panose="02010600030101010101" pitchFamily="2" charset="-122"/>
              </a:rPr>
              <a:t>过程</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中断请求</a:t>
            </a:r>
            <a:r>
              <a:rPr lang="zh-CN" altLang="en-US" sz="2400" b="1" dirty="0">
                <a:latin typeface="Arial" panose="020B0604020202020204" pitchFamily="34" charset="0"/>
                <a:ea typeface="宋体" panose="02010600030101010101" pitchFamily="2" charset="-122"/>
              </a:rPr>
              <a:t>、</a:t>
            </a:r>
            <a:r>
              <a:rPr lang="zh-CN" altLang="en-US" sz="2400" b="1" dirty="0">
                <a:solidFill>
                  <a:srgbClr val="FF00FF"/>
                </a:solidFill>
                <a:latin typeface="Arial" panose="020B0604020202020204" pitchFamily="34" charset="0"/>
              </a:rPr>
              <a:t>中断响应</a:t>
            </a:r>
            <a:r>
              <a:rPr lang="zh-CN" altLang="en-US" sz="2400" b="1" dirty="0">
                <a:latin typeface="Arial" panose="020B0604020202020204" pitchFamily="34" charset="0"/>
                <a:ea typeface="宋体" panose="02010600030101010101" pitchFamily="2" charset="-122"/>
              </a:rPr>
              <a:t>、</a:t>
            </a:r>
            <a:r>
              <a:rPr lang="zh-CN" altLang="en-US" sz="2400" b="1" dirty="0">
                <a:solidFill>
                  <a:srgbClr val="FF00FF"/>
                </a:solidFill>
                <a:latin typeface="Arial" panose="020B0604020202020204" pitchFamily="34" charset="0"/>
              </a:rPr>
              <a:t>中断处理</a:t>
            </a:r>
            <a:r>
              <a:rPr lang="zh-CN" altLang="en-US" sz="2400" b="1" dirty="0">
                <a:latin typeface="Arial" panose="020B0604020202020204" pitchFamily="34" charset="0"/>
                <a:ea typeface="宋体" panose="02010600030101010101" pitchFamily="2" charset="-122"/>
              </a:rPr>
              <a:t>和</a:t>
            </a:r>
            <a:r>
              <a:rPr lang="zh-CN" altLang="en-US" sz="2400" b="1" dirty="0">
                <a:solidFill>
                  <a:srgbClr val="FF00FF"/>
                </a:solidFill>
                <a:latin typeface="Arial" panose="020B0604020202020204" pitchFamily="34" charset="0"/>
              </a:rPr>
              <a:t>中断返回</a:t>
            </a:r>
            <a:r>
              <a:rPr lang="zh-CN" altLang="en-US" sz="2400" b="1" dirty="0">
                <a:latin typeface="Arial" panose="020B0604020202020204" pitchFamily="34" charset="0"/>
                <a:ea typeface="宋体" panose="02010600030101010101" pitchFamily="2" charset="-122"/>
              </a:rPr>
              <a:t>四个阶段。</a:t>
            </a:r>
            <a:endParaRPr lang="en-US" altLang="zh-CN" sz="2400" b="1" dirty="0">
              <a:latin typeface="Arial" panose="020B0604020202020204" pitchFamily="34" charset="0"/>
              <a:ea typeface="宋体" panose="02010600030101010101" pitchFamily="2" charset="-122"/>
            </a:endParaRPr>
          </a:p>
          <a:p>
            <a:pPr lvl="0" eaLnBrk="0" hangingPunct="0"/>
            <a:endParaRPr lang="zh-CN" altLang="en-US" sz="2400" b="1" dirty="0">
              <a:latin typeface="Arial" panose="020B0604020202020204" pitchFamily="34" charset="0"/>
              <a:ea typeface="宋体" panose="02010600030101010101" pitchFamily="2" charset="-122"/>
            </a:endParaRPr>
          </a:p>
          <a:p>
            <a:pPr lvl="0" eaLnBrk="0" hangingPunct="0"/>
            <a:r>
              <a:rPr lang="en-US" altLang="zh-CN" sz="2400" b="1" dirty="0">
                <a:solidFill>
                  <a:srgbClr val="0000FF"/>
                </a:solidFill>
                <a:latin typeface="Arial" panose="020B0604020202020204" pitchFamily="34" charset="0"/>
                <a:ea typeface="宋体" panose="02010600030101010101" pitchFamily="2" charset="-122"/>
              </a:rPr>
              <a:t>1</a:t>
            </a:r>
            <a:r>
              <a:rPr lang="zh-CN" altLang="en-US" sz="2400" b="1" dirty="0">
                <a:solidFill>
                  <a:srgbClr val="0000FF"/>
                </a:solidFill>
                <a:latin typeface="Arial" panose="020B0604020202020204" pitchFamily="34" charset="0"/>
                <a:ea typeface="宋体" panose="02010600030101010101" pitchFamily="2" charset="-122"/>
              </a:rPr>
              <a:t>．中断请求</a:t>
            </a:r>
          </a:p>
          <a:p>
            <a:pPr lvl="0" eaLnBrk="0" hangingPunct="0"/>
            <a:r>
              <a:rPr lang="zh-CN" altLang="en-US" sz="2400" b="1" dirty="0">
                <a:latin typeface="Arial" panose="020B0604020202020204" pitchFamily="34" charset="0"/>
              </a:rPr>
              <a:t>   </a:t>
            </a:r>
            <a:r>
              <a:rPr lang="zh-CN" altLang="en-US" sz="2400" b="1" dirty="0">
                <a:latin typeface="Arial" panose="020B0604020202020204" pitchFamily="34" charset="0"/>
                <a:ea typeface="宋体" panose="02010600030101010101" pitchFamily="2" charset="-122"/>
              </a:rPr>
              <a:t>中断源向</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提出中断请求的两个条件：</a:t>
            </a:r>
            <a:endParaRPr lang="en-US" altLang="zh-CN" sz="2400" b="1" dirty="0">
              <a:latin typeface="Arial" panose="020B0604020202020204" pitchFamily="34" charset="0"/>
              <a:ea typeface="宋体" panose="02010600030101010101" pitchFamily="2" charset="-122"/>
            </a:endParaRPr>
          </a:p>
          <a:p>
            <a:pPr lvl="0" eaLnBrk="0" hangingPunct="0"/>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）中断源（如外设）需</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为其服务，且本身已经准备就绪</a:t>
            </a:r>
            <a:endParaRPr lang="en-US" altLang="zh-CN" sz="2400" b="1" dirty="0">
              <a:latin typeface="Arial" panose="020B0604020202020204" pitchFamily="34" charset="0"/>
              <a:ea typeface="宋体" panose="02010600030101010101" pitchFamily="2" charset="-122"/>
            </a:endParaRPr>
          </a:p>
          <a:p>
            <a:pPr lvl="0" eaLnBrk="0" hangingPunct="0"/>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）系统允许该中断源提出申请。多中断源情况下，常常在外设接口电路中设置一个</a:t>
            </a:r>
            <a:r>
              <a:rPr lang="zh-CN" altLang="en-US" sz="2400" b="1" dirty="0">
                <a:solidFill>
                  <a:srgbClr val="0000FF"/>
                </a:solidFill>
                <a:latin typeface="Arial" panose="020B0604020202020204" pitchFamily="34" charset="0"/>
                <a:ea typeface="宋体" panose="02010600030101010101" pitchFamily="2" charset="-122"/>
              </a:rPr>
              <a:t>中断屏蔽寄存器</a:t>
            </a:r>
            <a:r>
              <a:rPr lang="zh-CN" altLang="en-US" sz="2400" b="1" dirty="0">
                <a:latin typeface="Arial" panose="020B0604020202020204" pitchFamily="34" charset="0"/>
                <a:ea typeface="宋体" panose="02010600030101010101" pitchFamily="2" charset="-122"/>
              </a:rPr>
              <a:t>，只有在该中断源的中断请求未被屏蔽时，其中断请求才能送到</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a:t>
            </a:r>
            <a:endParaRPr lang="en-US" altLang="zh-CN" sz="2400" b="1" dirty="0">
              <a:latin typeface="Arial" panose="020B0604020202020204" pitchFamily="34" charset="0"/>
              <a:ea typeface="宋体" panose="02010600030101010101" pitchFamily="2" charset="-122"/>
            </a:endParaRPr>
          </a:p>
          <a:p>
            <a:pPr lvl="0" eaLnBrk="0" hangingPunct="0"/>
            <a:endParaRPr lang="en-US" altLang="zh-CN" sz="2400" b="1" dirty="0">
              <a:latin typeface="Arial" panose="020B0604020202020204" pitchFamily="34" charset="0"/>
              <a:ea typeface="宋体" panose="02010600030101010101" pitchFamily="2" charset="-122"/>
            </a:endParaRPr>
          </a:p>
          <a:p>
            <a:pPr lvl="0" eaLnBrk="0" hangingPunct="0"/>
            <a:r>
              <a:rPr lang="zh-CN" altLang="en-US" sz="2400" b="1" dirty="0">
                <a:latin typeface="Arial" panose="020B0604020202020204" pitchFamily="34" charset="0"/>
              </a:rPr>
              <a:t> 两个条件需同时满足</a:t>
            </a:r>
            <a:endParaRPr lang="zh-CN" altLang="en-US" sz="2400" b="1" dirty="0">
              <a:latin typeface="Arial" panose="020B0604020202020204" pitchFamily="34"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标题 299009"/>
          <p:cNvSpPr>
            <a:spLocks noGrp="1"/>
          </p:cNvSpPr>
          <p:nvPr>
            <p:ph type="title"/>
          </p:nvPr>
        </p:nvSpPr>
        <p:spPr>
          <a:xfrm>
            <a:off x="1044575" y="188913"/>
            <a:ext cx="6696075" cy="431800"/>
          </a:xfrm>
          <a:ln/>
        </p:spPr>
        <p:txBody>
          <a:bodyPr anchor="ctr"/>
          <a:lstStyle/>
          <a:p>
            <a:pPr lvl="0"/>
            <a:r>
              <a:rPr lang="en-US" altLang="zh-CN" sz="3200" b="1">
                <a:solidFill>
                  <a:srgbClr val="FF0000"/>
                </a:solidFill>
                <a:ea typeface="隶书" panose="02010509060101010101" pitchFamily="49" charset="-122"/>
              </a:rPr>
              <a:t>8</a:t>
            </a:r>
            <a:r>
              <a:rPr lang="en-US" altLang="en-US" sz="3200" b="1">
                <a:solidFill>
                  <a:srgbClr val="FF0000"/>
                </a:solidFill>
                <a:ea typeface="隶书" panose="02010509060101010101" pitchFamily="49" charset="-122"/>
              </a:rPr>
              <a:t>.1  </a:t>
            </a:r>
            <a:r>
              <a:rPr lang="zh-CN" altLang="en-US" sz="3200" b="1" dirty="0">
                <a:solidFill>
                  <a:srgbClr val="FF0000"/>
                </a:solidFill>
                <a:ea typeface="隶书" panose="02010509060101010101" pitchFamily="49" charset="-122"/>
              </a:rPr>
              <a:t>中断基础</a:t>
            </a:r>
          </a:p>
        </p:txBody>
      </p:sp>
      <p:sp>
        <p:nvSpPr>
          <p:cNvPr id="299011" name="文本框 299010"/>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99012" name="文本框 299011"/>
          <p:cNvSpPr txBox="1"/>
          <p:nvPr/>
        </p:nvSpPr>
        <p:spPr>
          <a:xfrm>
            <a:off x="250825" y="836712"/>
            <a:ext cx="8497639" cy="5262979"/>
          </a:xfrm>
          <a:prstGeom prst="rect">
            <a:avLst/>
          </a:prstGeom>
          <a:noFill/>
          <a:ln w="9525">
            <a:noFill/>
          </a:ln>
        </p:spPr>
        <p:txBody>
          <a:bodyPr wrap="square">
            <a:spAutoFit/>
          </a:bodyPr>
          <a:lstStyle/>
          <a:p>
            <a:pPr lvl="0" eaLnBrk="0" hangingPunct="0"/>
            <a:r>
              <a:rPr lang="en-US" altLang="zh-CN" sz="2400" b="1" dirty="0">
                <a:solidFill>
                  <a:srgbClr val="0000FF"/>
                </a:solidFill>
                <a:latin typeface="Arial" panose="020B0604020202020204" pitchFamily="34" charset="0"/>
                <a:ea typeface="宋体" panose="02010600030101010101" pitchFamily="2" charset="-122"/>
              </a:rPr>
              <a:t>2</a:t>
            </a:r>
            <a:r>
              <a:rPr lang="zh-CN" altLang="en-US" sz="2400" b="1" dirty="0">
                <a:solidFill>
                  <a:srgbClr val="0000FF"/>
                </a:solidFill>
                <a:latin typeface="Arial" panose="020B0604020202020204" pitchFamily="34" charset="0"/>
                <a:ea typeface="宋体" panose="02010600030101010101" pitchFamily="2" charset="-122"/>
              </a:rPr>
              <a:t>．中断响应</a:t>
            </a:r>
          </a:p>
          <a:p>
            <a:pPr lvl="0" eaLnBrk="0" hangingPunct="0"/>
            <a:r>
              <a:rPr lang="zh-CN" altLang="en-US" sz="2400" b="1" dirty="0">
                <a:latin typeface="Arial" panose="020B0604020202020204" pitchFamily="34" charset="0"/>
              </a:rPr>
              <a:t>     </a:t>
            </a:r>
            <a:r>
              <a:rPr lang="zh-CN" altLang="en-US" sz="2400" b="1" dirty="0">
                <a:latin typeface="Arial" panose="020B0604020202020204" pitchFamily="34" charset="0"/>
                <a:ea typeface="宋体" panose="02010600030101010101" pitchFamily="2" charset="-122"/>
              </a:rPr>
              <a:t>当</a:t>
            </a:r>
            <a:r>
              <a:rPr lang="en-US" altLang="zh-CN" sz="2400" b="1" dirty="0">
                <a:latin typeface="Arial" panose="020B0604020202020204" pitchFamily="34" charset="0"/>
              </a:rPr>
              <a:t>CPU</a:t>
            </a:r>
            <a:r>
              <a:rPr lang="zh-CN" altLang="en-US" sz="2400" b="1" dirty="0">
                <a:latin typeface="Arial" panose="020B0604020202020204" pitchFamily="34" charset="0"/>
                <a:ea typeface="宋体" panose="02010600030101010101" pitchFamily="2" charset="-122"/>
              </a:rPr>
              <a:t>检测到有中断请求发生时，其有权决定是否对该中断请求予以响应。若</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允许中断，则予以响应，否则不予响应。当</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决定响应中断请求时，进入中断响应周期。</a:t>
            </a:r>
          </a:p>
          <a:p>
            <a:pPr lvl="0" eaLnBrk="0" hangingPunct="0"/>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响应中断时要自动完成以下三项任务：</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1</a:t>
            </a:r>
            <a:r>
              <a:rPr lang="zh-CN" altLang="en-US" sz="2400" b="1" dirty="0">
                <a:solidFill>
                  <a:srgbClr val="FF00FF"/>
                </a:solidFill>
                <a:latin typeface="Arial" panose="020B0604020202020204" pitchFamily="34" charset="0"/>
                <a:ea typeface="宋体" panose="02010600030101010101" pitchFamily="2" charset="-122"/>
              </a:rPr>
              <a:t>）关中断</a:t>
            </a:r>
            <a:r>
              <a:rPr lang="zh-CN" altLang="en-US" sz="2400" b="1" dirty="0">
                <a:latin typeface="Arial" panose="020B0604020202020204" pitchFamily="34" charset="0"/>
                <a:ea typeface="宋体" panose="02010600030101010101" pitchFamily="2" charset="-122"/>
              </a:rPr>
              <a:t>。因为</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响应中断后，要进行必要的处理，在此期间不允许其它中断源来打扰。</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2</a:t>
            </a:r>
            <a:r>
              <a:rPr lang="zh-CN" altLang="en-US" sz="2400" b="1" dirty="0">
                <a:solidFill>
                  <a:srgbClr val="FF00FF"/>
                </a:solidFill>
                <a:latin typeface="Arial" panose="020B0604020202020204" pitchFamily="34" charset="0"/>
                <a:ea typeface="宋体" panose="02010600030101010101" pitchFamily="2" charset="-122"/>
              </a:rPr>
              <a:t>）</a:t>
            </a:r>
            <a:r>
              <a:rPr lang="zh-CN" altLang="en-US" sz="2400" b="1" dirty="0">
                <a:solidFill>
                  <a:srgbClr val="FF00FF"/>
                </a:solidFill>
                <a:latin typeface="Arial" panose="020B0604020202020204" pitchFamily="34" charset="0"/>
              </a:rPr>
              <a:t>断点保护</a:t>
            </a:r>
            <a:r>
              <a:rPr lang="zh-CN" altLang="en-US" sz="2400" b="1" dirty="0">
                <a:latin typeface="Arial" panose="020B0604020202020204" pitchFamily="34" charset="0"/>
                <a:ea typeface="宋体" panose="02010600030101010101" pitchFamily="2" charset="-122"/>
              </a:rPr>
              <a:t>。通过内部硬件</a:t>
            </a:r>
            <a:r>
              <a:rPr lang="zh-CN" altLang="en-US" sz="2400" b="1" dirty="0">
                <a:solidFill>
                  <a:srgbClr val="FF00FF"/>
                </a:solidFill>
                <a:latin typeface="Arial" panose="020B0604020202020204" pitchFamily="34" charset="0"/>
                <a:ea typeface="宋体" panose="02010600030101010101" pitchFamily="2" charset="-122"/>
              </a:rPr>
              <a:t>保存断点</a:t>
            </a:r>
            <a:r>
              <a:rPr lang="zh-CN" altLang="en-US" sz="2400" b="1" dirty="0">
                <a:latin typeface="Arial" panose="020B0604020202020204" pitchFamily="34" charset="0"/>
                <a:ea typeface="宋体" panose="02010600030101010101" pitchFamily="2" charset="-122"/>
              </a:rPr>
              <a:t>及</a:t>
            </a:r>
            <a:r>
              <a:rPr lang="zh-CN" altLang="en-US" sz="2400" b="1" dirty="0">
                <a:solidFill>
                  <a:srgbClr val="FF00FF"/>
                </a:solidFill>
                <a:latin typeface="Arial" panose="020B0604020202020204" pitchFamily="34" charset="0"/>
              </a:rPr>
              <a:t>标志寄存器内容</a:t>
            </a:r>
            <a:r>
              <a:rPr lang="zh-CN" altLang="en-US" sz="2400" b="1" dirty="0">
                <a:latin typeface="Arial" panose="020B0604020202020204" pitchFamily="34" charset="0"/>
                <a:ea typeface="宋体" panose="02010600030101010101" pitchFamily="2" charset="-122"/>
              </a:rPr>
              <a:t>，以便中断处理完毕后能正确返回。</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3</a:t>
            </a:r>
            <a:r>
              <a:rPr lang="zh-CN" altLang="en-US" sz="2400" b="1" dirty="0">
                <a:solidFill>
                  <a:srgbClr val="FF00FF"/>
                </a:solidFill>
                <a:latin typeface="Arial" panose="020B0604020202020204" pitchFamily="34" charset="0"/>
                <a:ea typeface="宋体" panose="02010600030101010101" pitchFamily="2" charset="-122"/>
              </a:rPr>
              <a:t>）</a:t>
            </a:r>
            <a:r>
              <a:rPr lang="zh-CN" altLang="en-US" sz="2400" b="1" dirty="0">
                <a:solidFill>
                  <a:srgbClr val="FF00FF"/>
                </a:solidFill>
                <a:latin typeface="Arial" panose="020B0604020202020204" pitchFamily="34" charset="0"/>
              </a:rPr>
              <a:t>获得中断服务程序的入口地址</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响应中断后，将以某种方式查找中断源，获得中断服务程序的入口地址，转向对应的中断服务程序。</a:t>
            </a:r>
            <a:endParaRPr lang="en-US" altLang="zh-CN" sz="2400" b="1" dirty="0">
              <a:latin typeface="Arial" panose="020B0604020202020204" pitchFamily="34" charset="0"/>
              <a:ea typeface="宋体" panose="02010600030101010101" pitchFamily="2" charset="-122"/>
            </a:endParaRPr>
          </a:p>
          <a:p>
            <a:pPr lvl="0" eaLnBrk="0" hangingPunct="0"/>
            <a:endParaRPr lang="zh-CN" altLang="en-US" sz="2400" b="1" dirty="0">
              <a:latin typeface="Arial" panose="020B0604020202020204" pitchFamily="34" charset="0"/>
              <a:ea typeface="宋体" panose="02010600030101010101" pitchFamily="2" charset="-122"/>
            </a:endParaRPr>
          </a:p>
          <a:p>
            <a:pPr lvl="0" eaLnBrk="0" hangingPunct="0"/>
            <a:r>
              <a:rPr lang="zh-CN" altLang="en-US" sz="2400" b="1" dirty="0">
                <a:latin typeface="Arial" panose="020B0604020202020204" pitchFamily="34" charset="0"/>
              </a:rPr>
              <a:t>通常前</a:t>
            </a:r>
            <a:r>
              <a:rPr lang="zh-CN" altLang="en-US" sz="2400" b="1" dirty="0">
                <a:latin typeface="Arial" panose="020B0604020202020204" pitchFamily="34" charset="0"/>
                <a:ea typeface="宋体" panose="02010600030101010101" pitchFamily="2" charset="-122"/>
              </a:rPr>
              <a:t>两步由硬件完成，最后一步由硬件或软件实现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标题 300033"/>
          <p:cNvSpPr>
            <a:spLocks noGrp="1"/>
          </p:cNvSpPr>
          <p:nvPr>
            <p:ph type="title"/>
          </p:nvPr>
        </p:nvSpPr>
        <p:spPr>
          <a:xfrm>
            <a:off x="1044575" y="188913"/>
            <a:ext cx="6696075" cy="431800"/>
          </a:xfrm>
          <a:ln/>
        </p:spPr>
        <p:txBody>
          <a:bodyPr anchor="ctr"/>
          <a:lstStyle/>
          <a:p>
            <a:pPr lvl="0"/>
            <a:r>
              <a:rPr lang="en-US" altLang="zh-CN" sz="3200" b="1">
                <a:solidFill>
                  <a:srgbClr val="FF0000"/>
                </a:solidFill>
                <a:ea typeface="隶书" panose="02010509060101010101" pitchFamily="49" charset="-122"/>
              </a:rPr>
              <a:t>8</a:t>
            </a:r>
            <a:r>
              <a:rPr lang="en-US" altLang="en-US" sz="3200" b="1">
                <a:solidFill>
                  <a:srgbClr val="FF0000"/>
                </a:solidFill>
                <a:ea typeface="隶书" panose="02010509060101010101" pitchFamily="49" charset="-122"/>
              </a:rPr>
              <a:t>.1  </a:t>
            </a:r>
            <a:r>
              <a:rPr lang="zh-CN" altLang="en-US" sz="3200" b="1" dirty="0">
                <a:solidFill>
                  <a:srgbClr val="FF0000"/>
                </a:solidFill>
                <a:ea typeface="隶书" panose="02010509060101010101" pitchFamily="49" charset="-122"/>
              </a:rPr>
              <a:t>中断基础</a:t>
            </a:r>
          </a:p>
        </p:txBody>
      </p:sp>
      <p:sp>
        <p:nvSpPr>
          <p:cNvPr id="300035" name="文本框 300034"/>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00036" name="文本框 300035"/>
          <p:cNvSpPr txBox="1"/>
          <p:nvPr/>
        </p:nvSpPr>
        <p:spPr>
          <a:xfrm>
            <a:off x="250825" y="908050"/>
            <a:ext cx="8713788" cy="5262979"/>
          </a:xfrm>
          <a:prstGeom prst="rect">
            <a:avLst/>
          </a:prstGeom>
          <a:noFill/>
          <a:ln w="9525">
            <a:noFill/>
          </a:ln>
        </p:spPr>
        <p:txBody>
          <a:bodyPr>
            <a:spAutoFit/>
          </a:bodyPr>
          <a:lstStyle/>
          <a:p>
            <a:pPr lvl="0" eaLnBrk="0" hangingPunct="0"/>
            <a:r>
              <a:rPr lang="en-US" altLang="zh-CN" sz="2400" b="1" dirty="0">
                <a:solidFill>
                  <a:srgbClr val="0000FF"/>
                </a:solidFill>
                <a:latin typeface="Arial" panose="020B0604020202020204" pitchFamily="34" charset="0"/>
                <a:ea typeface="宋体" panose="02010600030101010101" pitchFamily="2" charset="-122"/>
              </a:rPr>
              <a:t>3．中断处理</a:t>
            </a:r>
          </a:p>
          <a:p>
            <a:pPr lvl="0" eaLnBrk="0" hangingPunct="0"/>
            <a:r>
              <a:rPr lang="en-US" altLang="zh-CN" sz="2400" b="1" dirty="0">
                <a:latin typeface="Arial" panose="020B0604020202020204" pitchFamily="34" charset="0"/>
                <a:ea typeface="宋体" panose="02010600030101010101" pitchFamily="2" charset="-122"/>
              </a:rPr>
              <a:t>    </a:t>
            </a:r>
            <a:r>
              <a:rPr lang="en-US" altLang="zh-CN" sz="2400" b="1" dirty="0" err="1">
                <a:latin typeface="Arial" panose="020B0604020202020204" pitchFamily="34" charset="0"/>
                <a:ea typeface="宋体" panose="02010600030101010101" pitchFamily="2" charset="-122"/>
              </a:rPr>
              <a:t>中断处理</a:t>
            </a:r>
            <a:r>
              <a:rPr lang="zh-CN" altLang="en-US" sz="2400" b="1" dirty="0">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中断服务</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由中断服务程序完成，不同的中断服务程序完成不同的功能，一般在中断服务程序中要做以下几项工作</a:t>
            </a:r>
            <a:r>
              <a:rPr lang="en-US" altLang="zh-CN" sz="2400" b="1" dirty="0">
                <a:latin typeface="Arial" panose="020B0604020202020204" pitchFamily="34" charset="0"/>
                <a:ea typeface="宋体" panose="02010600030101010101" pitchFamily="2" charset="-122"/>
              </a:rPr>
              <a:t>。</a:t>
            </a:r>
          </a:p>
          <a:p>
            <a:pPr lvl="0" eaLnBrk="0" hangingPunct="0"/>
            <a:r>
              <a:rPr lang="en-US" altLang="zh-CN" sz="2400" b="1" dirty="0">
                <a:solidFill>
                  <a:srgbClr val="FF00FF"/>
                </a:solidFill>
                <a:latin typeface="Arial" panose="020B0604020202020204" pitchFamily="34" charset="0"/>
                <a:ea typeface="宋体" panose="02010600030101010101" pitchFamily="2" charset="-122"/>
              </a:rPr>
              <a:t>（1）保护现场</a:t>
            </a:r>
          </a:p>
          <a:p>
            <a:pPr eaLnBrk="0" hangingPunct="0"/>
            <a:r>
              <a:rPr lang="zh-CN" altLang="en-US" sz="2400" b="1" dirty="0">
                <a:latin typeface="Arial" panose="020B0604020202020204" pitchFamily="34" charset="0"/>
              </a:rPr>
              <a:t>    为了</a:t>
            </a:r>
            <a:r>
              <a:rPr lang="en-US" altLang="zh-CN" sz="2400" b="1" dirty="0" err="1">
                <a:latin typeface="Arial" panose="020B0604020202020204" pitchFamily="34" charset="0"/>
              </a:rPr>
              <a:t>中断处理程序不破坏主程序中寄存器的内容</a:t>
            </a:r>
            <a:r>
              <a:rPr lang="zh-CN" altLang="en-US" sz="2400" b="1" dirty="0">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将断点处</a:t>
            </a:r>
            <a:r>
              <a:rPr lang="en-US" altLang="zh-CN" sz="2400" b="1" dirty="0" err="1">
                <a:solidFill>
                  <a:srgbClr val="FF00FF"/>
                </a:solidFill>
                <a:latin typeface="Arial" panose="020B0604020202020204" pitchFamily="34" charset="0"/>
                <a:ea typeface="宋体" panose="02010600030101010101" pitchFamily="2" charset="-122"/>
              </a:rPr>
              <a:t>各寄存器的内容压入堆栈保护</a:t>
            </a:r>
            <a:r>
              <a:rPr lang="en-US" altLang="zh-CN" sz="2400" b="1" dirty="0" err="1">
                <a:latin typeface="Arial" panose="020B0604020202020204" pitchFamily="34" charset="0"/>
                <a:ea typeface="宋体" panose="02010600030101010101" pitchFamily="2" charset="-122"/>
              </a:rPr>
              <a:t>起来</a:t>
            </a:r>
            <a:r>
              <a:rPr lang="zh-CN" altLang="en-US" sz="2400" b="1" dirty="0">
                <a:latin typeface="Arial" panose="020B0604020202020204" pitchFamily="34" charset="0"/>
                <a:ea typeface="宋体" panose="02010600030101010101" pitchFamily="2" charset="-122"/>
              </a:rPr>
              <a:t>后</a:t>
            </a:r>
            <a:r>
              <a:rPr lang="en-US" altLang="zh-CN" sz="2400" b="1" dirty="0" err="1">
                <a:latin typeface="Arial" panose="020B0604020202020204" pitchFamily="34" charset="0"/>
                <a:ea typeface="宋体" panose="02010600030101010101" pitchFamily="2" charset="-122"/>
              </a:rPr>
              <a:t>再进入中断处理</a:t>
            </a:r>
            <a:r>
              <a:rPr lang="en-US" altLang="zh-CN" sz="2400" b="1" dirty="0">
                <a:latin typeface="Arial" panose="020B0604020202020204" pitchFamily="34" charset="0"/>
              </a:rPr>
              <a:t>。</a:t>
            </a:r>
          </a:p>
          <a:p>
            <a:pPr lvl="0" eaLnBrk="0" hangingPunct="0"/>
            <a:r>
              <a:rPr lang="en-US" altLang="zh-CN" sz="2400" b="1" dirty="0">
                <a:solidFill>
                  <a:srgbClr val="FF00FF"/>
                </a:solidFill>
                <a:latin typeface="Arial" panose="020B0604020202020204" pitchFamily="34" charset="0"/>
                <a:ea typeface="宋体" panose="02010600030101010101" pitchFamily="2" charset="-122"/>
              </a:rPr>
              <a:t>（2）开中断</a:t>
            </a:r>
          </a:p>
          <a:p>
            <a:pPr lvl="0" eaLnBrk="0" hangingPunct="0"/>
            <a:r>
              <a:rPr lang="en-US" altLang="zh-CN" sz="2400" b="1" dirty="0">
                <a:latin typeface="Arial" panose="020B0604020202020204" pitchFamily="34" charset="0"/>
                <a:ea typeface="宋体" panose="02010600030101010101" pitchFamily="2" charset="-122"/>
              </a:rPr>
              <a:t>    </a:t>
            </a:r>
            <a:r>
              <a:rPr lang="en-US" altLang="zh-CN" sz="2400" b="1" dirty="0" err="1">
                <a:latin typeface="Arial" panose="020B0604020202020204" pitchFamily="34" charset="0"/>
                <a:ea typeface="宋体" panose="02010600030101010101" pitchFamily="2" charset="-122"/>
              </a:rPr>
              <a:t>中断响应阶段，硬件控制自动执行</a:t>
            </a:r>
            <a:r>
              <a:rPr lang="en-US" altLang="zh-CN" sz="2400" b="1" dirty="0" err="1">
                <a:solidFill>
                  <a:srgbClr val="FF00FF"/>
                </a:solidFill>
                <a:latin typeface="Arial" panose="020B0604020202020204" pitchFamily="34" charset="0"/>
                <a:ea typeface="宋体" panose="02010600030101010101" pitchFamily="2" charset="-122"/>
              </a:rPr>
              <a:t>关中断</a:t>
            </a:r>
            <a:r>
              <a:rPr lang="en-US" altLang="zh-CN" sz="2400" b="1" dirty="0" err="1">
                <a:latin typeface="Arial" panose="020B0604020202020204" pitchFamily="34" charset="0"/>
                <a:ea typeface="宋体" panose="02010600030101010101" pitchFamily="2" charset="-122"/>
              </a:rPr>
              <a:t>，保护CPU在中断响应时不会被再次中断。有</a:t>
            </a:r>
            <a:r>
              <a:rPr lang="zh-CN" altLang="en-US" sz="2400" b="1" dirty="0">
                <a:latin typeface="Arial" panose="020B0604020202020204" pitchFamily="34" charset="0"/>
                <a:ea typeface="宋体" panose="02010600030101010101" pitchFamily="2" charset="-122"/>
              </a:rPr>
              <a:t>时有</a:t>
            </a:r>
            <a:r>
              <a:rPr lang="en-US" altLang="zh-CN" sz="2400" b="1" dirty="0" err="1">
                <a:latin typeface="Arial" panose="020B0604020202020204" pitchFamily="34" charset="0"/>
                <a:ea typeface="宋体" panose="02010600030101010101" pitchFamily="2" charset="-122"/>
              </a:rPr>
              <a:t>比该中断更紧急的情况要处理</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需</a:t>
            </a:r>
            <a:r>
              <a:rPr lang="en-US" altLang="zh-CN" sz="2400" b="1" dirty="0" err="1">
                <a:latin typeface="Arial" panose="020B0604020202020204" pitchFamily="34" charset="0"/>
                <a:ea typeface="宋体" panose="02010600030101010101" pitchFamily="2" charset="-122"/>
              </a:rPr>
              <a:t>停止对该中断的服务而转到优先级更高的中断服务程序，以实现</a:t>
            </a:r>
            <a:r>
              <a:rPr lang="en-US" altLang="zh-CN" sz="2400" b="1" dirty="0" err="1">
                <a:solidFill>
                  <a:srgbClr val="FF00FF"/>
                </a:solidFill>
                <a:latin typeface="Arial" panose="020B0604020202020204" pitchFamily="34" charset="0"/>
                <a:ea typeface="宋体" panose="02010600030101010101" pitchFamily="2" charset="-122"/>
              </a:rPr>
              <a:t>中断嵌套</a:t>
            </a:r>
            <a:r>
              <a:rPr lang="en-US" altLang="zh-CN" sz="2400" b="1" dirty="0">
                <a:latin typeface="Arial" panose="020B0604020202020204" pitchFamily="34" charset="0"/>
                <a:ea typeface="宋体" panose="02010600030101010101" pitchFamily="2" charset="-122"/>
              </a:rPr>
              <a:t>。</a:t>
            </a:r>
          </a:p>
          <a:p>
            <a:pPr lvl="0" eaLnBrk="0" hangingPunct="0"/>
            <a:r>
              <a:rPr lang="en-US" altLang="zh-CN" sz="2400" b="1" dirty="0">
                <a:latin typeface="Arial" panose="020B0604020202020204" pitchFamily="34" charset="0"/>
                <a:ea typeface="宋体" panose="02010600030101010101" pitchFamily="2" charset="-122"/>
              </a:rPr>
              <a:t>     </a:t>
            </a:r>
            <a:r>
              <a:rPr lang="en-US" altLang="zh-CN" sz="2400" b="1" dirty="0" err="1">
                <a:latin typeface="Arial" panose="020B0604020202020204" pitchFamily="34" charset="0"/>
                <a:ea typeface="宋体" panose="02010600030101010101" pitchFamily="2" charset="-122"/>
              </a:rPr>
              <a:t>中断过程中，可以多次开放和关闭中断，一般只在程序的关键部分才关闭中断，其它部分则要开放中断以允许中断嵌套</a:t>
            </a:r>
            <a:r>
              <a:rPr lang="en-US" altLang="zh-CN" sz="2400" b="1" dirty="0">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标题 301057"/>
          <p:cNvSpPr>
            <a:spLocks noGrp="1"/>
          </p:cNvSpPr>
          <p:nvPr>
            <p:ph type="title"/>
          </p:nvPr>
        </p:nvSpPr>
        <p:spPr>
          <a:xfrm>
            <a:off x="1044575" y="188913"/>
            <a:ext cx="6696075" cy="431800"/>
          </a:xfrm>
          <a:ln/>
        </p:spPr>
        <p:txBody>
          <a:bodyPr anchor="ctr"/>
          <a:lstStyle/>
          <a:p>
            <a:pPr lvl="0"/>
            <a:r>
              <a:rPr lang="en-US" altLang="zh-CN" sz="3200" b="1">
                <a:solidFill>
                  <a:srgbClr val="FF0000"/>
                </a:solidFill>
                <a:ea typeface="隶书" panose="02010509060101010101" pitchFamily="49" charset="-122"/>
              </a:rPr>
              <a:t>8</a:t>
            </a:r>
            <a:r>
              <a:rPr lang="en-US" altLang="en-US" sz="3200" b="1">
                <a:solidFill>
                  <a:srgbClr val="FF0000"/>
                </a:solidFill>
                <a:ea typeface="隶书" panose="02010509060101010101" pitchFamily="49" charset="-122"/>
              </a:rPr>
              <a:t>.1  </a:t>
            </a:r>
            <a:r>
              <a:rPr lang="zh-CN" altLang="en-US" sz="3200" b="1" dirty="0">
                <a:solidFill>
                  <a:srgbClr val="FF0000"/>
                </a:solidFill>
                <a:ea typeface="隶书" panose="02010509060101010101" pitchFamily="49" charset="-122"/>
              </a:rPr>
              <a:t>中断基础</a:t>
            </a:r>
          </a:p>
        </p:txBody>
      </p:sp>
      <p:sp>
        <p:nvSpPr>
          <p:cNvPr id="301059" name="文本框 301058"/>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01060" name="文本框 301059"/>
          <p:cNvSpPr txBox="1"/>
          <p:nvPr/>
        </p:nvSpPr>
        <p:spPr>
          <a:xfrm>
            <a:off x="250825" y="908050"/>
            <a:ext cx="8713788" cy="4524315"/>
          </a:xfrm>
          <a:prstGeom prst="rect">
            <a:avLst/>
          </a:prstGeom>
          <a:noFill/>
          <a:ln w="9525">
            <a:noFill/>
          </a:ln>
        </p:spPr>
        <p:txBody>
          <a:bodyPr>
            <a:spAutoFit/>
          </a:bodyPr>
          <a:lstStyle/>
          <a:p>
            <a:pPr lvl="0" eaLnBrk="0" hangingPunct="0"/>
            <a:r>
              <a:rPr lang="en-US" altLang="zh-CN" sz="2400" b="1" dirty="0">
                <a:solidFill>
                  <a:srgbClr val="FF00FF"/>
                </a:solidFill>
                <a:latin typeface="Arial" panose="020B0604020202020204" pitchFamily="34" charset="0"/>
                <a:ea typeface="宋体" panose="02010600030101010101" pitchFamily="2" charset="-122"/>
              </a:rPr>
              <a:t>（3）中断服务</a:t>
            </a:r>
          </a:p>
          <a:p>
            <a:pPr lvl="0" eaLnBrk="0" hangingPunct="0"/>
            <a:r>
              <a:rPr lang="en-US" altLang="zh-CN" sz="2400" b="1" dirty="0">
                <a:latin typeface="Arial" panose="020B0604020202020204" pitchFamily="34" charset="0"/>
                <a:ea typeface="宋体" panose="02010600030101010101" pitchFamily="2" charset="-122"/>
              </a:rPr>
              <a:t>    </a:t>
            </a:r>
            <a:r>
              <a:rPr lang="en-US" altLang="zh-CN" sz="2400" b="1" dirty="0" err="1">
                <a:latin typeface="Arial" panose="020B0604020202020204" pitchFamily="34" charset="0"/>
                <a:ea typeface="宋体" panose="02010600030101010101" pitchFamily="2" charset="-122"/>
              </a:rPr>
              <a:t>中断服务是主体部分，</a:t>
            </a:r>
            <a:r>
              <a:rPr lang="en-US" altLang="zh-CN" sz="2400" b="1" dirty="0" err="1">
                <a:latin typeface="Arial" panose="020B0604020202020204" pitchFamily="34" charset="0"/>
              </a:rPr>
              <a:t>不同的中断请求中断服务内容不同</a:t>
            </a:r>
            <a:r>
              <a:rPr lang="zh-CN" altLang="en-US" sz="2400" b="1" dirty="0">
                <a:latin typeface="Arial" panose="020B0604020202020204" pitchFamily="34" charset="0"/>
              </a:rPr>
              <a:t>。</a:t>
            </a:r>
            <a:r>
              <a:rPr lang="en-US" altLang="zh-CN" sz="2400" b="1" dirty="0" err="1">
                <a:latin typeface="Arial" panose="020B0604020202020204" pitchFamily="34" charset="0"/>
                <a:ea typeface="宋体" panose="02010600030101010101" pitchFamily="2" charset="-122"/>
              </a:rPr>
              <a:t>需据中断源要完成的功能，事先编写相应中断服务程序存入内存，等待中断请求响应后调用执行</a:t>
            </a:r>
            <a:r>
              <a:rPr lang="en-US" altLang="zh-CN" sz="2400" b="1" dirty="0">
                <a:latin typeface="Arial" panose="020B0604020202020204" pitchFamily="34" charset="0"/>
                <a:ea typeface="宋体" panose="02010600030101010101" pitchFamily="2" charset="-122"/>
              </a:rPr>
              <a:t>。</a:t>
            </a:r>
          </a:p>
          <a:p>
            <a:pPr lvl="0" eaLnBrk="0" hangingPunct="0"/>
            <a:r>
              <a:rPr lang="en-US" altLang="zh-CN" sz="2400" b="1" dirty="0">
                <a:solidFill>
                  <a:srgbClr val="FF00FF"/>
                </a:solidFill>
                <a:latin typeface="Arial" panose="020B0604020202020204" pitchFamily="34" charset="0"/>
                <a:ea typeface="宋体" panose="02010600030101010101" pitchFamily="2" charset="-122"/>
              </a:rPr>
              <a:t>（4）关中断</a:t>
            </a:r>
          </a:p>
          <a:p>
            <a:pPr lvl="0" eaLnBrk="0" hangingPunct="0"/>
            <a:r>
              <a:rPr lang="en-US" altLang="zh-CN" sz="2400" b="1" dirty="0">
                <a:latin typeface="Arial" panose="020B0604020202020204" pitchFamily="34" charset="0"/>
                <a:ea typeface="宋体" panose="02010600030101010101" pitchFamily="2" charset="-122"/>
              </a:rPr>
              <a:t>    </a:t>
            </a:r>
            <a:r>
              <a:rPr lang="en-US" altLang="zh-CN" sz="2400" b="1" dirty="0" err="1">
                <a:latin typeface="Arial" panose="020B0604020202020204" pitchFamily="34" charset="0"/>
                <a:ea typeface="宋体" panose="02010600030101010101" pitchFamily="2" charset="-122"/>
              </a:rPr>
              <a:t>若第二步中执行了开中断，则需关中断以为恢复现场做准备</a:t>
            </a:r>
            <a:endParaRPr lang="en-US" altLang="zh-CN" sz="2400" b="1" dirty="0">
              <a:latin typeface="Arial" panose="020B0604020202020204" pitchFamily="34" charset="0"/>
              <a:ea typeface="宋体" panose="02010600030101010101" pitchFamily="2" charset="-122"/>
            </a:endParaRPr>
          </a:p>
          <a:p>
            <a:pPr lvl="0" eaLnBrk="0" hangingPunct="0"/>
            <a:r>
              <a:rPr lang="en-US" altLang="zh-CN" sz="2400" b="1" dirty="0">
                <a:solidFill>
                  <a:srgbClr val="FF00FF"/>
                </a:solidFill>
                <a:latin typeface="Arial" panose="020B0604020202020204" pitchFamily="34" charset="0"/>
                <a:ea typeface="宋体" panose="02010600030101010101" pitchFamily="2" charset="-122"/>
              </a:rPr>
              <a:t>（5）恢复现场</a:t>
            </a:r>
          </a:p>
          <a:p>
            <a:pPr lvl="0" eaLnBrk="0" hangingPunct="0"/>
            <a:r>
              <a:rPr lang="en-US" altLang="zh-CN" sz="2400" b="1" dirty="0">
                <a:latin typeface="Arial" panose="020B0604020202020204" pitchFamily="34" charset="0"/>
                <a:ea typeface="宋体" panose="02010600030101010101" pitchFamily="2" charset="-122"/>
              </a:rPr>
              <a:t>    </a:t>
            </a:r>
            <a:r>
              <a:rPr lang="en-US" altLang="zh-CN" sz="2400" b="1" dirty="0" err="1">
                <a:latin typeface="Arial" panose="020B0604020202020204" pitchFamily="34" charset="0"/>
                <a:ea typeface="宋体" panose="02010600030101010101" pitchFamily="2" charset="-122"/>
              </a:rPr>
              <a:t>中断服务处理完毕后，在返回主程序前需要将前面通过PUSH指令保护的寄存器内容从堆栈中弹出，以便返回到主程序后能继续正确运行</a:t>
            </a:r>
            <a:r>
              <a:rPr lang="en-US" altLang="zh-CN" sz="2400" b="1" dirty="0">
                <a:latin typeface="Arial" panose="020B0604020202020204" pitchFamily="34" charset="0"/>
                <a:ea typeface="宋体" panose="02010600030101010101" pitchFamily="2" charset="-122"/>
              </a:rPr>
              <a:t>。</a:t>
            </a:r>
          </a:p>
          <a:p>
            <a:pPr lvl="0" eaLnBrk="0" hangingPunct="0"/>
            <a:endParaRPr lang="en-US" altLang="zh-CN" sz="2400" b="1" dirty="0">
              <a:latin typeface="Arial" panose="020B0604020202020204" pitchFamily="34" charset="0"/>
            </a:endParaRPr>
          </a:p>
          <a:p>
            <a:pPr lvl="0" eaLnBrk="0" hangingPunct="0"/>
            <a:r>
              <a:rPr lang="en-US" altLang="zh-CN" sz="2400" b="1" dirty="0" err="1">
                <a:solidFill>
                  <a:srgbClr val="FF00FF"/>
                </a:solidFill>
                <a:latin typeface="Arial" panose="020B0604020202020204" pitchFamily="34" charset="0"/>
                <a:ea typeface="宋体" panose="02010600030101010101" pitchFamily="2" charset="-122"/>
              </a:rPr>
              <a:t>注意</a:t>
            </a:r>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POP指令顺序应按先进后出的原则与进栈指令一一对应</a:t>
            </a:r>
            <a:endParaRPr lang="zh-CN" altLang="en-US" sz="2400" b="1" dirty="0">
              <a:latin typeface="Arial" panose="020B0604020202020204" pitchFamily="34" charset="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标题 302081"/>
          <p:cNvSpPr>
            <a:spLocks noGrp="1"/>
          </p:cNvSpPr>
          <p:nvPr>
            <p:ph type="title"/>
          </p:nvPr>
        </p:nvSpPr>
        <p:spPr>
          <a:xfrm>
            <a:off x="1044575" y="188913"/>
            <a:ext cx="6696075" cy="431800"/>
          </a:xfrm>
          <a:ln/>
        </p:spPr>
        <p:txBody>
          <a:bodyPr anchor="ctr"/>
          <a:lstStyle/>
          <a:p>
            <a:pPr lvl="0"/>
            <a:r>
              <a:rPr lang="en-US" altLang="zh-CN" sz="3200" b="1">
                <a:solidFill>
                  <a:srgbClr val="FF0000"/>
                </a:solidFill>
                <a:ea typeface="隶书" panose="02010509060101010101" pitchFamily="49" charset="-122"/>
              </a:rPr>
              <a:t>8</a:t>
            </a:r>
            <a:r>
              <a:rPr lang="en-US" altLang="en-US" sz="3200" b="1">
                <a:solidFill>
                  <a:srgbClr val="FF0000"/>
                </a:solidFill>
                <a:ea typeface="隶书" panose="02010509060101010101" pitchFamily="49" charset="-122"/>
              </a:rPr>
              <a:t>.1  </a:t>
            </a:r>
            <a:r>
              <a:rPr lang="zh-CN" altLang="en-US" sz="3200" b="1" dirty="0">
                <a:solidFill>
                  <a:srgbClr val="FF0000"/>
                </a:solidFill>
                <a:ea typeface="隶书" panose="02010509060101010101" pitchFamily="49" charset="-122"/>
              </a:rPr>
              <a:t>中断基础</a:t>
            </a:r>
          </a:p>
        </p:txBody>
      </p:sp>
      <p:sp>
        <p:nvSpPr>
          <p:cNvPr id="302083" name="文本框 302082"/>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02084" name="文本框 302083"/>
          <p:cNvSpPr txBox="1"/>
          <p:nvPr/>
        </p:nvSpPr>
        <p:spPr>
          <a:xfrm>
            <a:off x="323850" y="908720"/>
            <a:ext cx="4248150" cy="1938992"/>
          </a:xfrm>
          <a:prstGeom prst="rect">
            <a:avLst/>
          </a:prstGeom>
          <a:noFill/>
          <a:ln w="9525">
            <a:noFill/>
          </a:ln>
        </p:spPr>
        <p:txBody>
          <a:bodyPr wrap="square">
            <a:spAutoFit/>
          </a:bodyPr>
          <a:lstStyle/>
          <a:p>
            <a:pPr lvl="0" eaLnBrk="0" hangingPunct="0"/>
            <a:r>
              <a:rPr lang="en-US" altLang="zh-CN" sz="2400" b="1" dirty="0">
                <a:solidFill>
                  <a:srgbClr val="0000FF"/>
                </a:solidFill>
                <a:latin typeface="Arial" panose="020B0604020202020204" pitchFamily="34" charset="0"/>
                <a:ea typeface="宋体" panose="02010600030101010101" pitchFamily="2" charset="-122"/>
              </a:rPr>
              <a:t>4</a:t>
            </a:r>
            <a:r>
              <a:rPr lang="zh-CN" altLang="en-US" sz="2400" b="1" dirty="0">
                <a:solidFill>
                  <a:srgbClr val="0000FF"/>
                </a:solidFill>
                <a:latin typeface="Arial" panose="020B0604020202020204" pitchFamily="34" charset="0"/>
                <a:ea typeface="宋体" panose="02010600030101010101" pitchFamily="2" charset="-122"/>
              </a:rPr>
              <a:t>．中断返回</a:t>
            </a:r>
            <a:endParaRPr lang="en-US" altLang="zh-CN" sz="2400" b="1" dirty="0">
              <a:latin typeface="Arial" panose="020B0604020202020204" pitchFamily="34" charset="0"/>
              <a:ea typeface="宋体" panose="02010600030101010101" pitchFamily="2" charset="-122"/>
            </a:endParaRPr>
          </a:p>
          <a:p>
            <a:pPr lvl="0" eaLnBrk="0" hangingPunct="0"/>
            <a:r>
              <a:rPr lang="en-US" altLang="zh-CN" sz="2400" b="1" dirty="0">
                <a:latin typeface="Arial" panose="020B0604020202020204" pitchFamily="34" charset="0"/>
              </a:rPr>
              <a:t>       </a:t>
            </a:r>
            <a:r>
              <a:rPr lang="zh-CN" altLang="en-US" sz="2400" b="1" dirty="0">
                <a:latin typeface="Arial" panose="020B0604020202020204" pitchFamily="34" charset="0"/>
                <a:ea typeface="宋体" panose="02010600030101010101" pitchFamily="2" charset="-122"/>
              </a:rPr>
              <a:t>中断服务程序的最后一条是中断返回指令</a:t>
            </a:r>
            <a:r>
              <a:rPr lang="en-US" altLang="zh-CN" sz="2400" b="1" dirty="0">
                <a:latin typeface="Arial" panose="020B0604020202020204" pitchFamily="34" charset="0"/>
                <a:ea typeface="宋体" panose="02010600030101010101" pitchFamily="2" charset="-122"/>
              </a:rPr>
              <a:t>IRET</a:t>
            </a:r>
            <a:r>
              <a:rPr lang="zh-CN" altLang="en-US" sz="2400" b="1" dirty="0">
                <a:latin typeface="Arial" panose="020B0604020202020204" pitchFamily="34" charset="0"/>
                <a:ea typeface="宋体" panose="02010600030101010101" pitchFamily="2" charset="-122"/>
              </a:rPr>
              <a:t>。</a:t>
            </a:r>
            <a:endParaRPr lang="en-US" altLang="zh-CN" sz="2400" b="1" dirty="0">
              <a:latin typeface="Arial" panose="020B0604020202020204" pitchFamily="34" charset="0"/>
              <a:ea typeface="宋体" panose="02010600030101010101" pitchFamily="2" charset="-122"/>
            </a:endParaRPr>
          </a:p>
          <a:p>
            <a:pPr lvl="0" eaLnBrk="0" hangingPunct="0"/>
            <a:r>
              <a:rPr lang="en-US" altLang="zh-CN" sz="2400" b="1" dirty="0">
                <a:latin typeface="Arial" panose="020B0604020202020204" pitchFamily="34" charset="0"/>
              </a:rPr>
              <a:t>       </a:t>
            </a:r>
            <a:r>
              <a:rPr lang="zh-CN" altLang="en-US" sz="2400" b="1" dirty="0">
                <a:latin typeface="Arial" panose="020B0604020202020204" pitchFamily="34" charset="0"/>
                <a:ea typeface="宋体" panose="02010600030101010101" pitchFamily="2" charset="-122"/>
              </a:rPr>
              <a:t>执行该指令，使</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转到被中断的程序中继续执行。</a:t>
            </a:r>
          </a:p>
        </p:txBody>
      </p:sp>
      <p:pic>
        <p:nvPicPr>
          <p:cNvPr id="302086" name="图片 302085" descr="wps_clip_image-6658"/>
          <p:cNvPicPr>
            <a:picLocks noChangeAspect="1"/>
          </p:cNvPicPr>
          <p:nvPr/>
        </p:nvPicPr>
        <p:blipFill>
          <a:blip r:embed="rId2"/>
          <a:stretch>
            <a:fillRect/>
          </a:stretch>
        </p:blipFill>
        <p:spPr>
          <a:xfrm>
            <a:off x="4715669" y="404813"/>
            <a:ext cx="1974850" cy="5895975"/>
          </a:xfrm>
          <a:prstGeom prst="rect">
            <a:avLst/>
          </a:prstGeom>
          <a:noFill/>
          <a:ln w="9525">
            <a:noFill/>
          </a:ln>
        </p:spPr>
      </p:pic>
      <p:sp>
        <p:nvSpPr>
          <p:cNvPr id="2" name="文本框 1">
            <a:extLst>
              <a:ext uri="{FF2B5EF4-FFF2-40B4-BE49-F238E27FC236}">
                <a16:creationId xmlns:a16="http://schemas.microsoft.com/office/drawing/2014/main" id="{F66C2366-0767-CA9A-0906-B36CEF9B31E1}"/>
              </a:ext>
            </a:extLst>
          </p:cNvPr>
          <p:cNvSpPr txBox="1"/>
          <p:nvPr/>
        </p:nvSpPr>
        <p:spPr>
          <a:xfrm>
            <a:off x="5235191" y="4870549"/>
            <a:ext cx="935806" cy="307777"/>
          </a:xfrm>
          <a:prstGeom prst="rect">
            <a:avLst/>
          </a:prstGeom>
          <a:noFill/>
        </p:spPr>
        <p:txBody>
          <a:bodyPr wrap="square" rtlCol="0">
            <a:spAutoFit/>
          </a:bodyPr>
          <a:lstStyle/>
          <a:p>
            <a:r>
              <a:rPr lang="zh-CN" altLang="en-US" sz="1400" dirty="0"/>
              <a:t>中断</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文本框 221186"/>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21188" name="文本框 221187"/>
          <p:cNvSpPr txBox="1"/>
          <p:nvPr/>
        </p:nvSpPr>
        <p:spPr>
          <a:xfrm>
            <a:off x="250825" y="908050"/>
            <a:ext cx="8642350" cy="1569660"/>
          </a:xfrm>
          <a:prstGeom prst="rect">
            <a:avLst/>
          </a:prstGeom>
          <a:noFill/>
          <a:ln w="9525">
            <a:noFill/>
          </a:ln>
        </p:spPr>
        <p:txBody>
          <a:bodyPr>
            <a:spAutoFit/>
          </a:bodyPr>
          <a:lstStyle/>
          <a:p>
            <a:pPr lvl="0" eaLnBrk="0" hangingPunct="0"/>
            <a:r>
              <a:rPr lang="zh-CN" altLang="en-US" sz="2400" b="1" dirty="0">
                <a:latin typeface="Arial" panose="020B0604020202020204" pitchFamily="34" charset="0"/>
                <a:ea typeface="宋体" panose="02010600030101010101" pitchFamily="2" charset="-122"/>
              </a:rPr>
              <a:t>一、</a:t>
            </a:r>
            <a:r>
              <a:rPr lang="en-US" altLang="en-US" sz="2400" b="1" dirty="0">
                <a:latin typeface="Arial" panose="020B0604020202020204" pitchFamily="34" charset="0"/>
              </a:rPr>
              <a:t>8086</a:t>
            </a:r>
            <a:r>
              <a:rPr lang="en-US" altLang="zh-CN" sz="2400" b="1" dirty="0">
                <a:latin typeface="Arial" panose="020B0604020202020204" pitchFamily="34" charset="0"/>
              </a:rPr>
              <a:t> CPU </a:t>
            </a:r>
            <a:r>
              <a:rPr lang="en-US" altLang="en-US" sz="2400" b="1" dirty="0" err="1">
                <a:latin typeface="Arial" panose="020B0604020202020204" pitchFamily="34" charset="0"/>
                <a:ea typeface="宋体" panose="02010600030101010101" pitchFamily="2" charset="-122"/>
              </a:rPr>
              <a:t>中断类型</a:t>
            </a:r>
            <a:endParaRPr lang="zh-CN" altLang="en-US" sz="2400" b="1" dirty="0">
              <a:latin typeface="Arial" panose="020B0604020202020204" pitchFamily="34" charset="0"/>
              <a:ea typeface="宋体" panose="02010600030101010101" pitchFamily="2" charset="-122"/>
            </a:endParaRPr>
          </a:p>
          <a:p>
            <a:pPr lvl="0" eaLnBrk="0" hangingPunct="0"/>
            <a:r>
              <a:rPr lang="en-US" altLang="zh-CN" sz="2400" dirty="0">
                <a:latin typeface="Arial" panose="020B0604020202020204" pitchFamily="34" charset="0"/>
                <a:ea typeface="宋体" panose="02010600030101010101" pitchFamily="2" charset="-122"/>
              </a:rPr>
              <a:t>    8086 CPU中断系统可处理</a:t>
            </a:r>
            <a:r>
              <a:rPr lang="en-US" altLang="zh-CN" sz="2400" dirty="0">
                <a:solidFill>
                  <a:srgbClr val="FF00FF"/>
                </a:solidFill>
                <a:latin typeface="Arial" panose="020B0604020202020204" pitchFamily="34" charset="0"/>
                <a:ea typeface="宋体" panose="02010600030101010101" pitchFamily="2" charset="-122"/>
              </a:rPr>
              <a:t>256种</a:t>
            </a:r>
            <a:r>
              <a:rPr lang="en-US" altLang="zh-CN" sz="2400" dirty="0">
                <a:latin typeface="Arial" panose="020B0604020202020204" pitchFamily="34" charset="0"/>
                <a:ea typeface="宋体" panose="02010600030101010101" pitchFamily="2" charset="-122"/>
              </a:rPr>
              <a:t>不同类型中断</a:t>
            </a:r>
            <a:r>
              <a:rPr lang="zh-CN" altLang="en-US" sz="2400" dirty="0">
                <a:latin typeface="Arial" panose="020B0604020202020204" pitchFamily="34" charset="0"/>
                <a:ea typeface="宋体" panose="02010600030101010101" pitchFamily="2" charset="-122"/>
              </a:rPr>
              <a:t>，</a:t>
            </a:r>
            <a:r>
              <a:rPr lang="zh-CN" altLang="en-US" sz="2400" dirty="0">
                <a:latin typeface="Arial" panose="020B0604020202020204" pitchFamily="34" charset="0"/>
              </a:rPr>
              <a:t>并</a:t>
            </a:r>
            <a:r>
              <a:rPr lang="en-US" altLang="zh-CN" sz="2400" dirty="0">
                <a:latin typeface="Arial" panose="020B0604020202020204" pitchFamily="34" charset="0"/>
                <a:ea typeface="宋体" panose="02010600030101010101" pitchFamily="2" charset="-122"/>
              </a:rPr>
              <a:t>给每种中断都赋予了一个中断类型号，编号为</a:t>
            </a:r>
            <a:r>
              <a:rPr lang="en-US" altLang="zh-CN" sz="2400" dirty="0">
                <a:solidFill>
                  <a:srgbClr val="FF00FF"/>
                </a:solidFill>
                <a:latin typeface="Arial" panose="020B0604020202020204" pitchFamily="34" charset="0"/>
                <a:ea typeface="宋体" panose="02010600030101010101" pitchFamily="2" charset="-122"/>
              </a:rPr>
              <a:t>0～255</a:t>
            </a:r>
            <a:r>
              <a:rPr lang="en-US" altLang="zh-CN" sz="2400" dirty="0">
                <a:latin typeface="Arial" panose="020B0604020202020204" pitchFamily="34" charset="0"/>
                <a:ea typeface="宋体" panose="02010600030101010101" pitchFamily="2" charset="-122"/>
              </a:rPr>
              <a:t>。CPU根据中断类型号</a:t>
            </a:r>
            <a:r>
              <a:rPr lang="zh-CN" altLang="en-US" sz="2400" dirty="0">
                <a:latin typeface="Arial" panose="020B0604020202020204" pitchFamily="34" charset="0"/>
                <a:ea typeface="宋体" panose="02010600030101010101" pitchFamily="2" charset="-122"/>
              </a:rPr>
              <a:t>来</a:t>
            </a:r>
            <a:r>
              <a:rPr lang="en-US" altLang="zh-CN" sz="2400" dirty="0" err="1">
                <a:latin typeface="Arial" panose="020B0604020202020204" pitchFamily="34" charset="0"/>
                <a:ea typeface="宋体" panose="02010600030101010101" pitchFamily="2" charset="-122"/>
              </a:rPr>
              <a:t>识别不同的中断源</a:t>
            </a:r>
            <a:r>
              <a:rPr lang="en-US" altLang="zh-CN" sz="2400" dirty="0">
                <a:latin typeface="Arial" panose="020B0604020202020204" pitchFamily="34" charset="0"/>
                <a:ea typeface="宋体" panose="02010600030101010101" pitchFamily="2" charset="-122"/>
              </a:rPr>
              <a:t>。</a:t>
            </a:r>
          </a:p>
        </p:txBody>
      </p:sp>
      <p:sp>
        <p:nvSpPr>
          <p:cNvPr id="221237" name="矩形 221236"/>
          <p:cNvSpPr/>
          <p:nvPr/>
        </p:nvSpPr>
        <p:spPr>
          <a:xfrm>
            <a:off x="1044575" y="188913"/>
            <a:ext cx="6696075"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en-US" sz="3200" b="1">
                <a:solidFill>
                  <a:srgbClr val="FF0000"/>
                </a:solidFill>
                <a:ea typeface="隶书" panose="02010509060101010101" pitchFamily="49" charset="-122"/>
              </a:rPr>
              <a:t>8.2  8086 CPU的中断系统</a:t>
            </a:r>
            <a:endParaRPr lang="zh-CN" altLang="en-US" sz="3200" b="1" dirty="0">
              <a:solidFill>
                <a:srgbClr val="FF0000"/>
              </a:solidFill>
              <a:ea typeface="隶书" panose="02010509060101010101" pitchFamily="49" charset="-122"/>
            </a:endParaRPr>
          </a:p>
        </p:txBody>
      </p:sp>
      <p:sp>
        <p:nvSpPr>
          <p:cNvPr id="2" name="矩形 1"/>
          <p:cNvSpPr/>
          <p:nvPr/>
        </p:nvSpPr>
        <p:spPr>
          <a:xfrm>
            <a:off x="250824" y="3216374"/>
            <a:ext cx="2448968" cy="1938992"/>
          </a:xfrm>
          <a:prstGeom prst="rect">
            <a:avLst/>
          </a:prstGeom>
          <a:solidFill>
            <a:schemeClr val="accent5">
              <a:lumMod val="20000"/>
              <a:lumOff val="80000"/>
            </a:schemeClr>
          </a:solidFill>
        </p:spPr>
        <p:txBody>
          <a:bodyPr wrap="square">
            <a:spAutoFit/>
          </a:bodyPr>
          <a:lstStyle/>
          <a:p>
            <a:pPr lvl="0" eaLnBrk="0" hangingPunct="0"/>
            <a:r>
              <a:rPr lang="en-US" altLang="zh-CN" sz="2400" b="1" dirty="0" err="1">
                <a:solidFill>
                  <a:srgbClr val="0000FF"/>
                </a:solidFill>
                <a:latin typeface="Arial" panose="020B0604020202020204" pitchFamily="34" charset="0"/>
              </a:rPr>
              <a:t>内部中断</a:t>
            </a:r>
            <a:r>
              <a:rPr lang="zh-CN" altLang="en-US" sz="2400" b="1" dirty="0">
                <a:solidFill>
                  <a:srgbClr val="0000FF"/>
                </a:solidFill>
                <a:latin typeface="Arial" panose="020B0604020202020204" pitchFamily="34" charset="0"/>
              </a:rPr>
              <a:t>：</a:t>
            </a:r>
            <a:r>
              <a:rPr lang="en-US" altLang="zh-CN" sz="2400" b="1" dirty="0" err="1">
                <a:latin typeface="Arial" panose="020B0604020202020204" pitchFamily="34" charset="0"/>
              </a:rPr>
              <a:t>中断源来自CPU内部</a:t>
            </a:r>
            <a:endParaRPr lang="en-US" altLang="zh-CN" sz="2400" b="1" dirty="0">
              <a:latin typeface="Arial" panose="020B0604020202020204" pitchFamily="34" charset="0"/>
            </a:endParaRPr>
          </a:p>
          <a:p>
            <a:pPr lvl="0" eaLnBrk="0" hangingPunct="0"/>
            <a:endParaRPr lang="en-US" altLang="zh-CN" sz="2400" b="1" dirty="0">
              <a:latin typeface="Arial" panose="020B0604020202020204" pitchFamily="34" charset="0"/>
            </a:endParaRPr>
          </a:p>
          <a:p>
            <a:pPr lvl="0" eaLnBrk="0" hangingPunct="0"/>
            <a:r>
              <a:rPr lang="en-US" altLang="zh-CN" sz="2400" b="1" dirty="0" err="1">
                <a:solidFill>
                  <a:srgbClr val="0000FF"/>
                </a:solidFill>
                <a:latin typeface="Arial" panose="020B0604020202020204" pitchFamily="34" charset="0"/>
              </a:rPr>
              <a:t>外部中断</a:t>
            </a:r>
            <a:r>
              <a:rPr lang="zh-CN" altLang="en-US" sz="2400" b="1" dirty="0">
                <a:solidFill>
                  <a:srgbClr val="0000FF"/>
                </a:solidFill>
                <a:latin typeface="Arial" panose="020B0604020202020204" pitchFamily="34" charset="0"/>
              </a:rPr>
              <a:t>：</a:t>
            </a:r>
            <a:r>
              <a:rPr lang="en-US" altLang="zh-CN" sz="2400" b="1" dirty="0" err="1">
                <a:latin typeface="Arial" panose="020B0604020202020204" pitchFamily="34" charset="0"/>
              </a:rPr>
              <a:t>中断源来自CPU外部</a:t>
            </a:r>
            <a:endParaRPr lang="zh-CN" altLang="en-US" sz="2400" b="1" dirty="0">
              <a:latin typeface="Arial" panose="020B0604020202020204" pitchFamily="34" charset="0"/>
            </a:endParaRPr>
          </a:p>
        </p:txBody>
      </p:sp>
      <p:pic>
        <p:nvPicPr>
          <p:cNvPr id="4" name="图片 3">
            <a:extLst>
              <a:ext uri="{FF2B5EF4-FFF2-40B4-BE49-F238E27FC236}">
                <a16:creationId xmlns:a16="http://schemas.microsoft.com/office/drawing/2014/main" id="{4BD368FB-0A1F-412F-9311-D8AEF576F2FA}"/>
              </a:ext>
            </a:extLst>
          </p:cNvPr>
          <p:cNvPicPr>
            <a:picLocks noChangeAspect="1"/>
          </p:cNvPicPr>
          <p:nvPr/>
        </p:nvPicPr>
        <p:blipFill>
          <a:blip r:embed="rId2"/>
          <a:stretch>
            <a:fillRect/>
          </a:stretch>
        </p:blipFill>
        <p:spPr>
          <a:xfrm>
            <a:off x="2699792" y="2564904"/>
            <a:ext cx="6068272" cy="30388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文本框 303105"/>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03107" name="文本框 303106"/>
          <p:cNvSpPr txBox="1"/>
          <p:nvPr/>
        </p:nvSpPr>
        <p:spPr>
          <a:xfrm>
            <a:off x="250825" y="764704"/>
            <a:ext cx="8642350" cy="5632311"/>
          </a:xfrm>
          <a:prstGeom prst="rect">
            <a:avLst/>
          </a:prstGeom>
          <a:noFill/>
          <a:ln w="9525">
            <a:noFill/>
          </a:ln>
        </p:spPr>
        <p:txBody>
          <a:bodyPr>
            <a:spAutoFit/>
          </a:bodyPr>
          <a:lstStyle/>
          <a:p>
            <a:pPr lvl="0" eaLnBrk="0" hangingPunct="0"/>
            <a:r>
              <a:rPr lang="en-US" altLang="zh-CN" sz="2400" b="1" dirty="0">
                <a:solidFill>
                  <a:srgbClr val="0000FF"/>
                </a:solidFill>
                <a:latin typeface="Arial" panose="020B0604020202020204" pitchFamily="34" charset="0"/>
                <a:ea typeface="宋体" panose="02010600030101010101" pitchFamily="2" charset="-122"/>
              </a:rPr>
              <a:t>1．外部中断</a:t>
            </a:r>
          </a:p>
          <a:p>
            <a:pPr lvl="0" eaLnBrk="0" hangingPunct="0"/>
            <a:r>
              <a:rPr lang="en-US" altLang="zh-CN" sz="2400" b="1" dirty="0">
                <a:latin typeface="Arial" panose="020B0604020202020204" pitchFamily="34" charset="0"/>
                <a:ea typeface="宋体" panose="02010600030101010101" pitchFamily="2" charset="-122"/>
              </a:rPr>
              <a:t>    </a:t>
            </a:r>
            <a:r>
              <a:rPr lang="en-US" altLang="zh-CN" sz="2400" b="1" dirty="0" err="1">
                <a:latin typeface="Arial" panose="020B0604020202020204" pitchFamily="34" charset="0"/>
                <a:ea typeface="宋体" panose="02010600030101010101" pitchFamily="2" charset="-122"/>
              </a:rPr>
              <a:t>外部中断</a:t>
            </a:r>
            <a:r>
              <a:rPr lang="zh-CN" altLang="en-US" sz="2400" b="1" dirty="0">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硬件中断</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由外部设备通过硬件请求的方式所产生的中断</a:t>
            </a:r>
            <a:r>
              <a:rPr lang="en-US" altLang="zh-CN" sz="2400" b="1" dirty="0">
                <a:latin typeface="Arial" panose="020B0604020202020204" pitchFamily="34" charset="0"/>
                <a:ea typeface="宋体" panose="02010600030101010101" pitchFamily="2" charset="-122"/>
              </a:rPr>
              <a:t>。</a:t>
            </a:r>
          </a:p>
          <a:p>
            <a:pPr lvl="0" eaLnBrk="0" hangingPunct="0"/>
            <a:r>
              <a:rPr lang="en-US" altLang="zh-CN" sz="2400" b="1" dirty="0">
                <a:solidFill>
                  <a:srgbClr val="FF00FF"/>
                </a:solidFill>
                <a:latin typeface="Arial" panose="020B0604020202020204" pitchFamily="34" charset="0"/>
                <a:ea typeface="宋体" panose="02010600030101010101" pitchFamily="2" charset="-122"/>
              </a:rPr>
              <a:t>（1）不可屏蔽中断NMI</a:t>
            </a:r>
          </a:p>
          <a:p>
            <a:pPr lvl="0" eaLnBrk="0" hangingPunct="0"/>
            <a:r>
              <a:rPr lang="en-US" altLang="zh-CN" sz="2400" b="1" dirty="0">
                <a:latin typeface="Arial" panose="020B0604020202020204" pitchFamily="34" charset="0"/>
                <a:ea typeface="宋体" panose="02010600030101010101" pitchFamily="2" charset="-122"/>
              </a:rPr>
              <a:t>    </a:t>
            </a:r>
            <a:r>
              <a:rPr lang="en-US" altLang="zh-CN" sz="2400" b="1" dirty="0" err="1">
                <a:latin typeface="Arial" panose="020B0604020202020204" pitchFamily="34" charset="0"/>
                <a:ea typeface="宋体" panose="02010600030101010101" pitchFamily="2" charset="-122"/>
              </a:rPr>
              <a:t>当外设通过非屏蔽中断请求信号</a:t>
            </a:r>
            <a:r>
              <a:rPr lang="en-US" altLang="zh-CN" sz="2400" b="1" dirty="0" err="1">
                <a:solidFill>
                  <a:srgbClr val="FF00FF"/>
                </a:solidFill>
                <a:latin typeface="Arial" panose="020B0604020202020204" pitchFamily="34" charset="0"/>
                <a:ea typeface="宋体" panose="02010600030101010101" pitchFamily="2" charset="-122"/>
              </a:rPr>
              <a:t>NMI</a:t>
            </a:r>
            <a:r>
              <a:rPr lang="en-US" altLang="zh-CN" sz="2400" b="1" dirty="0" err="1">
                <a:latin typeface="Arial" panose="020B0604020202020204" pitchFamily="34" charset="0"/>
                <a:ea typeface="宋体" panose="02010600030101010101" pitchFamily="2" charset="-122"/>
              </a:rPr>
              <a:t>向CPU提出中断请求时</a:t>
            </a:r>
            <a:r>
              <a:rPr lang="zh-CN" altLang="en-US" sz="2400" b="1" dirty="0">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CPU当前指令执行结束后，立即</a:t>
            </a:r>
            <a:r>
              <a:rPr lang="en-US" altLang="zh-CN" sz="2400" b="1" dirty="0" err="1">
                <a:solidFill>
                  <a:srgbClr val="FF00FF"/>
                </a:solidFill>
                <a:latin typeface="Arial" panose="020B0604020202020204" pitchFamily="34" charset="0"/>
                <a:ea typeface="宋体" panose="02010600030101010101" pitchFamily="2" charset="-122"/>
              </a:rPr>
              <a:t>无条件</a:t>
            </a:r>
            <a:r>
              <a:rPr lang="en-US" altLang="zh-CN" sz="2400" b="1" dirty="0" err="1">
                <a:latin typeface="Arial" panose="020B0604020202020204" pitchFamily="34" charset="0"/>
                <a:ea typeface="宋体" panose="02010600030101010101" pitchFamily="2" charset="-122"/>
              </a:rPr>
              <a:t>的予以响应</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执行</a:t>
            </a:r>
            <a:r>
              <a:rPr lang="zh-CN" altLang="en-US" sz="2400" b="1" dirty="0">
                <a:solidFill>
                  <a:srgbClr val="FF00FF"/>
                </a:solidFill>
                <a:latin typeface="Arial" panose="020B0604020202020204" pitchFamily="34" charset="0"/>
              </a:rPr>
              <a:t>中断类型号为</a:t>
            </a:r>
            <a:r>
              <a:rPr lang="en-US" altLang="zh-CN" sz="2400" b="1" dirty="0">
                <a:solidFill>
                  <a:srgbClr val="FF00FF"/>
                </a:solidFill>
                <a:latin typeface="Arial" panose="020B0604020202020204" pitchFamily="34" charset="0"/>
              </a:rPr>
              <a:t>2</a:t>
            </a:r>
            <a:r>
              <a:rPr lang="zh-CN" altLang="en-US" sz="2400" b="1" dirty="0">
                <a:latin typeface="Arial" panose="020B0604020202020204" pitchFamily="34" charset="0"/>
                <a:ea typeface="宋体" panose="02010600030101010101" pitchFamily="2" charset="-122"/>
              </a:rPr>
              <a:t>的不可屏蔽中断</a:t>
            </a:r>
            <a:r>
              <a:rPr lang="en-US" altLang="zh-CN" sz="2400" b="1" dirty="0">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主要用于</a:t>
            </a:r>
            <a:r>
              <a:rPr lang="en-US" altLang="zh-CN" sz="2400" b="1" dirty="0" err="1">
                <a:solidFill>
                  <a:srgbClr val="FF00FF"/>
                </a:solidFill>
                <a:latin typeface="Arial" panose="020B0604020202020204" pitchFamily="34" charset="0"/>
                <a:ea typeface="宋体" panose="02010600030101010101" pitchFamily="2" charset="-122"/>
              </a:rPr>
              <a:t>紧急情况的故障处理</a:t>
            </a:r>
            <a:r>
              <a:rPr lang="en-US" altLang="zh-CN" sz="2400" b="1" dirty="0" err="1">
                <a:latin typeface="Arial" panose="020B0604020202020204" pitchFamily="34" charset="0"/>
                <a:ea typeface="宋体" panose="02010600030101010101" pitchFamily="2" charset="-122"/>
              </a:rPr>
              <a:t>，如电源掉电、存储器读</a:t>
            </a:r>
            <a:r>
              <a:rPr lang="en-US" altLang="zh-CN" sz="2400" b="1" dirty="0">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写错误、扩展槽中输入</a:t>
            </a:r>
            <a:r>
              <a:rPr lang="en-US" altLang="zh-CN" sz="2400" b="1" dirty="0">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输出通道错误等</a:t>
            </a:r>
            <a:r>
              <a:rPr lang="en-US" altLang="zh-CN" sz="2400" b="1" dirty="0">
                <a:latin typeface="Arial" panose="020B0604020202020204" pitchFamily="34" charset="0"/>
                <a:ea typeface="宋体" panose="02010600030101010101" pitchFamily="2" charset="-122"/>
              </a:rPr>
              <a:t>。</a:t>
            </a:r>
          </a:p>
          <a:p>
            <a:pPr lvl="0" eaLnBrk="0" hangingPunct="0"/>
            <a:r>
              <a:rPr lang="en-US" altLang="zh-CN" sz="2400" b="1" dirty="0">
                <a:solidFill>
                  <a:srgbClr val="FF00FF"/>
                </a:solidFill>
                <a:latin typeface="Arial" panose="020B0604020202020204" pitchFamily="34" charset="0"/>
                <a:ea typeface="宋体" panose="02010600030101010101" pitchFamily="2" charset="-122"/>
              </a:rPr>
              <a:t>（2）可屏蔽中断INTR</a:t>
            </a:r>
          </a:p>
          <a:p>
            <a:pPr lvl="0" eaLnBrk="0" hangingPunct="0"/>
            <a:r>
              <a:rPr lang="en-US" altLang="zh-CN" sz="2400" b="1" dirty="0">
                <a:latin typeface="Arial" panose="020B0604020202020204" pitchFamily="34" charset="0"/>
                <a:ea typeface="宋体" panose="02010600030101010101" pitchFamily="2" charset="-122"/>
              </a:rPr>
              <a:t>    8086 </a:t>
            </a:r>
            <a:r>
              <a:rPr lang="en-US" altLang="zh-CN" sz="2400" b="1" dirty="0" err="1">
                <a:latin typeface="Arial" panose="020B0604020202020204" pitchFamily="34" charset="0"/>
                <a:ea typeface="宋体" panose="02010600030101010101" pitchFamily="2" charset="-122"/>
              </a:rPr>
              <a:t>CPU的</a:t>
            </a:r>
            <a:r>
              <a:rPr lang="en-US" altLang="zh-CN" sz="2400" b="1" dirty="0" err="1">
                <a:solidFill>
                  <a:srgbClr val="FF00FF"/>
                </a:solidFill>
                <a:latin typeface="Arial" panose="020B0604020202020204" pitchFamily="34" charset="0"/>
                <a:ea typeface="宋体" panose="02010600030101010101" pitchFamily="2" charset="-122"/>
              </a:rPr>
              <a:t>INTR</a:t>
            </a:r>
            <a:r>
              <a:rPr lang="en-US" altLang="zh-CN" sz="2400" b="1" dirty="0" err="1">
                <a:latin typeface="Arial" panose="020B0604020202020204" pitchFamily="34" charset="0"/>
                <a:ea typeface="宋体" panose="02010600030101010101" pitchFamily="2" charset="-122"/>
              </a:rPr>
              <a:t>引脚收到一个高电平信号。受CPU的中断允许位</a:t>
            </a:r>
            <a:r>
              <a:rPr lang="en-US" altLang="zh-CN" sz="2400" b="1" dirty="0" err="1">
                <a:solidFill>
                  <a:srgbClr val="FF00FF"/>
                </a:solidFill>
                <a:latin typeface="Arial" panose="020B0604020202020204" pitchFamily="34" charset="0"/>
                <a:ea typeface="宋体" panose="02010600030101010101" pitchFamily="2" charset="-122"/>
              </a:rPr>
              <a:t>IF控制</a:t>
            </a:r>
            <a:r>
              <a:rPr lang="zh-CN" altLang="en-US" sz="2400" b="1" dirty="0">
                <a:solidFill>
                  <a:srgbClr val="FF00FF"/>
                </a:solidFill>
                <a:latin typeface="Arial" panose="020B0604020202020204" pitchFamily="34" charset="0"/>
                <a:ea typeface="宋体" panose="02010600030101010101" pitchFamily="2" charset="-122"/>
              </a:rPr>
              <a:t>。</a:t>
            </a:r>
            <a:endParaRPr lang="en-US" altLang="zh-CN" sz="2400" b="1" dirty="0">
              <a:solidFill>
                <a:srgbClr val="FF00FF"/>
              </a:solidFill>
              <a:latin typeface="Arial" panose="020B0604020202020204" pitchFamily="34" charset="0"/>
              <a:ea typeface="宋体" panose="02010600030101010101" pitchFamily="2" charset="-122"/>
            </a:endParaRPr>
          </a:p>
          <a:p>
            <a:pPr lvl="0" eaLnBrk="0" hangingPunct="0"/>
            <a:r>
              <a:rPr lang="en-US" altLang="zh-CN" sz="2400" b="1" dirty="0">
                <a:latin typeface="Arial" panose="020B0604020202020204" pitchFamily="34" charset="0"/>
                <a:ea typeface="宋体" panose="02010600030101010101" pitchFamily="2" charset="-122"/>
              </a:rPr>
              <a:t>IF=1，CPU可以响应</a:t>
            </a:r>
            <a:r>
              <a:rPr lang="zh-CN" altLang="en-US" sz="2400" b="1" dirty="0">
                <a:latin typeface="Arial" panose="020B0604020202020204" pitchFamily="34" charset="0"/>
                <a:ea typeface="宋体" panose="02010600030101010101" pitchFamily="2" charset="-122"/>
              </a:rPr>
              <a:t>（</a:t>
            </a:r>
            <a:r>
              <a:rPr lang="en-US" altLang="zh-CN" sz="2400" b="1" dirty="0">
                <a:solidFill>
                  <a:srgbClr val="0000FF"/>
                </a:solidFill>
                <a:latin typeface="Arial" panose="020B0604020202020204" pitchFamily="34" charset="0"/>
                <a:ea typeface="宋体" panose="02010600030101010101" pitchFamily="2" charset="-122"/>
              </a:rPr>
              <a:t>STI</a:t>
            </a:r>
            <a:r>
              <a:rPr lang="zh-CN" altLang="en-US" sz="2400" b="1" dirty="0">
                <a:latin typeface="Arial" panose="020B0604020202020204" pitchFamily="34" charset="0"/>
                <a:ea typeface="宋体" panose="02010600030101010101" pitchFamily="2" charset="-122"/>
              </a:rPr>
              <a:t>）</a:t>
            </a:r>
            <a:endParaRPr lang="en-US" altLang="zh-CN" sz="2400" b="1" dirty="0">
              <a:latin typeface="Arial" panose="020B0604020202020204" pitchFamily="34" charset="0"/>
              <a:ea typeface="宋体" panose="02010600030101010101" pitchFamily="2" charset="-122"/>
            </a:endParaRPr>
          </a:p>
          <a:p>
            <a:pPr lvl="0" eaLnBrk="0" hangingPunct="0"/>
            <a:r>
              <a:rPr lang="en-US" altLang="zh-CN" sz="2400" b="1" dirty="0">
                <a:latin typeface="Arial" panose="020B0604020202020204" pitchFamily="34" charset="0"/>
                <a:ea typeface="宋体" panose="02010600030101010101" pitchFamily="2" charset="-122"/>
              </a:rPr>
              <a:t>IF=0</a:t>
            </a:r>
            <a:r>
              <a:rPr lang="zh-CN" altLang="en-US" sz="2400" b="1" dirty="0">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禁止CPU响应</a:t>
            </a:r>
            <a:r>
              <a:rPr lang="zh-CN" altLang="en-US" sz="2400" b="1" dirty="0">
                <a:latin typeface="Arial" panose="020B0604020202020204" pitchFamily="34" charset="0"/>
                <a:ea typeface="宋体" panose="02010600030101010101" pitchFamily="2" charset="-122"/>
              </a:rPr>
              <a:t>（</a:t>
            </a:r>
            <a:r>
              <a:rPr lang="en-US" altLang="zh-CN" sz="2400" b="1" dirty="0">
                <a:solidFill>
                  <a:srgbClr val="0000FF"/>
                </a:solidFill>
                <a:latin typeface="Arial" panose="020B0604020202020204" pitchFamily="34" charset="0"/>
              </a:rPr>
              <a:t>CL</a:t>
            </a:r>
            <a:r>
              <a:rPr lang="en-US" altLang="zh-CN" sz="2400" b="1" dirty="0">
                <a:solidFill>
                  <a:srgbClr val="0000FF"/>
                </a:solidFill>
                <a:latin typeface="Arial" panose="020B0604020202020204" pitchFamily="34" charset="0"/>
                <a:ea typeface="宋体" panose="02010600030101010101" pitchFamily="2" charset="-122"/>
              </a:rPr>
              <a:t>I</a:t>
            </a:r>
            <a:r>
              <a:rPr lang="zh-CN" altLang="en-US" sz="2400" b="1" dirty="0">
                <a:latin typeface="Arial" panose="020B0604020202020204" pitchFamily="34" charset="0"/>
                <a:ea typeface="宋体" panose="02010600030101010101" pitchFamily="2" charset="-122"/>
              </a:rPr>
              <a:t>）</a:t>
            </a:r>
            <a:endParaRPr lang="en-US" altLang="zh-CN" sz="2400" b="1" dirty="0">
              <a:latin typeface="Arial" panose="020B0604020202020204" pitchFamily="34" charset="0"/>
              <a:ea typeface="宋体" panose="02010600030101010101" pitchFamily="2" charset="-122"/>
            </a:endParaRPr>
          </a:p>
          <a:p>
            <a:pPr lvl="0" eaLnBrk="0" hangingPunct="0"/>
            <a:endParaRPr lang="en-US" altLang="zh-CN" sz="2400" b="1" dirty="0">
              <a:latin typeface="Arial" panose="020B0604020202020204" pitchFamily="34" charset="0"/>
              <a:ea typeface="宋体" panose="02010600030101010101" pitchFamily="2" charset="-122"/>
            </a:endParaRPr>
          </a:p>
          <a:p>
            <a:pPr lvl="0" eaLnBrk="0" hangingPunct="0"/>
            <a:r>
              <a:rPr lang="en-US" altLang="zh-CN" sz="2400" b="1" dirty="0" err="1">
                <a:latin typeface="Arial" panose="020B0604020202020204" pitchFamily="34" charset="0"/>
                <a:ea typeface="宋体" panose="02010600030101010101" pitchFamily="2" charset="-122"/>
              </a:rPr>
              <a:t>绝大部分外部设备提出的中断请求都是可屏蔽中断</a:t>
            </a:r>
            <a:endParaRPr lang="zh-CN" altLang="en-US" sz="2400" b="1" dirty="0">
              <a:latin typeface="Arial" panose="020B0604020202020204" pitchFamily="34" charset="0"/>
              <a:ea typeface="宋体" panose="02010600030101010101" pitchFamily="2" charset="-122"/>
            </a:endParaRPr>
          </a:p>
        </p:txBody>
      </p:sp>
      <p:sp>
        <p:nvSpPr>
          <p:cNvPr id="303108" name="矩形 303107"/>
          <p:cNvSpPr/>
          <p:nvPr/>
        </p:nvSpPr>
        <p:spPr>
          <a:xfrm>
            <a:off x="1044575" y="188913"/>
            <a:ext cx="6696075"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en-US" sz="3200" b="1">
                <a:solidFill>
                  <a:srgbClr val="FF0000"/>
                </a:solidFill>
                <a:ea typeface="隶书" panose="02010509060101010101" pitchFamily="49" charset="-122"/>
              </a:rPr>
              <a:t>8.2  8086 CPU的中断系统</a:t>
            </a:r>
            <a:endParaRPr lang="zh-CN" altLang="en-US" sz="3200" b="1" dirty="0">
              <a:solidFill>
                <a:srgbClr val="FF0000"/>
              </a:solidFill>
              <a:ea typeface="隶书" panose="020105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文本框 304129"/>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04131" name="文本框 304130"/>
          <p:cNvSpPr txBox="1"/>
          <p:nvPr/>
        </p:nvSpPr>
        <p:spPr>
          <a:xfrm>
            <a:off x="250825" y="908050"/>
            <a:ext cx="8642350" cy="4154984"/>
          </a:xfrm>
          <a:prstGeom prst="rect">
            <a:avLst/>
          </a:prstGeom>
          <a:noFill/>
          <a:ln w="9525">
            <a:noFill/>
          </a:ln>
        </p:spPr>
        <p:txBody>
          <a:bodyPr>
            <a:spAutoFit/>
          </a:bodyPr>
          <a:lstStyle/>
          <a:p>
            <a:pPr lvl="0" eaLnBrk="0" hangingPunct="0"/>
            <a:r>
              <a:rPr lang="en-US" altLang="zh-CN" sz="2400" b="1" dirty="0">
                <a:solidFill>
                  <a:srgbClr val="0000FF"/>
                </a:solidFill>
                <a:latin typeface="Arial" panose="020B0604020202020204" pitchFamily="34" charset="0"/>
                <a:ea typeface="宋体" panose="02010600030101010101" pitchFamily="2" charset="-122"/>
              </a:rPr>
              <a:t>2</a:t>
            </a:r>
            <a:r>
              <a:rPr lang="zh-CN" altLang="en-US" sz="2400" b="1" dirty="0">
                <a:solidFill>
                  <a:srgbClr val="0000FF"/>
                </a:solidFill>
                <a:latin typeface="Arial" panose="020B0604020202020204" pitchFamily="34" charset="0"/>
                <a:ea typeface="宋体" panose="02010600030101010101" pitchFamily="2" charset="-122"/>
              </a:rPr>
              <a:t>．内部中断</a:t>
            </a:r>
          </a:p>
          <a:p>
            <a:pPr lvl="0" eaLnBrk="0" hangingPunct="0"/>
            <a:r>
              <a:rPr lang="zh-CN" altLang="en-US" sz="2400" b="1" dirty="0">
                <a:latin typeface="Arial" panose="020B0604020202020204" pitchFamily="34" charset="0"/>
                <a:ea typeface="宋体" panose="02010600030101010101" pitchFamily="2" charset="-122"/>
              </a:rPr>
              <a:t>    内部中断（软件中断），是由</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运行程序错误或执行内部程序调用所引起的一种中断。</a:t>
            </a:r>
            <a:r>
              <a:rPr lang="zh-CN" altLang="en-US" sz="2400" b="1" dirty="0">
                <a:solidFill>
                  <a:srgbClr val="FF00FF"/>
                </a:solidFill>
                <a:latin typeface="Arial" panose="020B0604020202020204" pitchFamily="34" charset="0"/>
                <a:ea typeface="宋体" panose="02010600030101010101" pitchFamily="2" charset="-122"/>
              </a:rPr>
              <a:t>内部中断（除单步中断）也是不可屏蔽</a:t>
            </a:r>
            <a:r>
              <a:rPr lang="zh-CN" altLang="en-US" sz="2400" b="1" dirty="0">
                <a:latin typeface="Arial" panose="020B0604020202020204" pitchFamily="34" charset="0"/>
                <a:ea typeface="宋体" panose="02010600030101010101" pitchFamily="2" charset="-122"/>
              </a:rPr>
              <a:t>，</a:t>
            </a:r>
            <a:r>
              <a:rPr lang="zh-CN" altLang="en-US" sz="2400" b="1" dirty="0">
                <a:solidFill>
                  <a:srgbClr val="FF00FF"/>
                </a:solidFill>
                <a:latin typeface="Arial" panose="020B0604020202020204" pitchFamily="34" charset="0"/>
                <a:ea typeface="宋体" panose="02010600030101010101" pitchFamily="2" charset="-122"/>
              </a:rPr>
              <a:t>中断类型号固定</a:t>
            </a:r>
            <a:r>
              <a:rPr lang="zh-CN" altLang="en-US" sz="2400" b="1" dirty="0">
                <a:latin typeface="Arial" panose="020B0604020202020204" pitchFamily="34" charset="0"/>
                <a:ea typeface="宋体" panose="02010600030101010101" pitchFamily="2" charset="-122"/>
              </a:rPr>
              <a:t>。</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1</a:t>
            </a:r>
            <a:r>
              <a:rPr lang="zh-CN" altLang="en-US" sz="2400" b="1" dirty="0">
                <a:solidFill>
                  <a:srgbClr val="FF00FF"/>
                </a:solidFill>
                <a:latin typeface="Arial" panose="020B0604020202020204" pitchFamily="34" charset="0"/>
                <a:ea typeface="宋体" panose="02010600030101010101" pitchFamily="2" charset="-122"/>
              </a:rPr>
              <a:t>）除法错中断</a:t>
            </a:r>
          </a:p>
          <a:p>
            <a:pPr lvl="0" eaLnBrk="0" hangingPunct="0"/>
            <a:r>
              <a:rPr lang="zh-CN" altLang="en-US" sz="2400" b="1" dirty="0">
                <a:latin typeface="Arial" panose="020B0604020202020204" pitchFamily="34" charset="0"/>
                <a:ea typeface="宋体" panose="02010600030101010101" pitchFamily="2" charset="-122"/>
              </a:rPr>
              <a:t>    除法运算时，</a:t>
            </a:r>
            <a:r>
              <a:rPr lang="zh-CN" altLang="en-US" sz="2400" b="1" dirty="0">
                <a:solidFill>
                  <a:srgbClr val="FF00FF"/>
                </a:solidFill>
                <a:latin typeface="Arial" panose="020B0604020202020204" pitchFamily="34" charset="0"/>
                <a:ea typeface="宋体" panose="02010600030101010101" pitchFamily="2" charset="-122"/>
              </a:rPr>
              <a:t>除数为零</a:t>
            </a:r>
            <a:r>
              <a:rPr lang="zh-CN" altLang="en-US" sz="2400" b="1" dirty="0">
                <a:latin typeface="Arial" panose="020B0604020202020204" pitchFamily="34" charset="0"/>
                <a:ea typeface="宋体" panose="02010600030101010101" pitchFamily="2" charset="-122"/>
              </a:rPr>
              <a:t>或者</a:t>
            </a:r>
            <a:r>
              <a:rPr lang="zh-CN" altLang="en-US" sz="2400" b="1" dirty="0">
                <a:solidFill>
                  <a:srgbClr val="FF00FF"/>
                </a:solidFill>
                <a:latin typeface="Arial" panose="020B0604020202020204" pitchFamily="34" charset="0"/>
                <a:ea typeface="宋体" panose="02010600030101010101" pitchFamily="2" charset="-122"/>
              </a:rPr>
              <a:t>商超出了寄存器所能表示的范围</a:t>
            </a:r>
            <a:r>
              <a:rPr lang="zh-CN" altLang="en-US" sz="2400" b="1" dirty="0">
                <a:latin typeface="Arial" panose="020B0604020202020204" pitchFamily="34" charset="0"/>
                <a:ea typeface="宋体" panose="02010600030101010101" pitchFamily="2" charset="-122"/>
              </a:rPr>
              <a:t>，则会产生一个</a:t>
            </a:r>
            <a:r>
              <a:rPr lang="zh-CN" altLang="en-US" sz="2400" b="1" dirty="0">
                <a:solidFill>
                  <a:srgbClr val="FF00FF"/>
                </a:solidFill>
                <a:latin typeface="Arial" panose="020B0604020202020204" pitchFamily="34" charset="0"/>
              </a:rPr>
              <a:t>中断类型号为</a:t>
            </a:r>
            <a:r>
              <a:rPr lang="en-US" altLang="zh-CN" sz="2400" b="1" dirty="0">
                <a:solidFill>
                  <a:srgbClr val="FF00FF"/>
                </a:solidFill>
                <a:latin typeface="Arial" panose="020B0604020202020204" pitchFamily="34" charset="0"/>
              </a:rPr>
              <a:t>0</a:t>
            </a:r>
            <a:r>
              <a:rPr lang="zh-CN" altLang="en-US" sz="2400" b="1" dirty="0">
                <a:latin typeface="Arial" panose="020B0604020202020204" pitchFamily="34" charset="0"/>
                <a:ea typeface="宋体" panose="02010600030101010101" pitchFamily="2" charset="-122"/>
              </a:rPr>
              <a:t>的内部中断。</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2</a:t>
            </a:r>
            <a:r>
              <a:rPr lang="zh-CN" altLang="en-US" sz="2400" b="1" dirty="0">
                <a:solidFill>
                  <a:srgbClr val="FF00FF"/>
                </a:solidFill>
                <a:latin typeface="Arial" panose="020B0604020202020204" pitchFamily="34" charset="0"/>
                <a:ea typeface="宋体" panose="02010600030101010101" pitchFamily="2" charset="-122"/>
              </a:rPr>
              <a:t>）单步中断</a:t>
            </a:r>
          </a:p>
          <a:p>
            <a:pPr lvl="0" eaLnBrk="0" hangingPunct="0"/>
            <a:r>
              <a:rPr lang="zh-CN" altLang="en-US" sz="2400" b="1" dirty="0">
                <a:latin typeface="Arial" panose="020B0604020202020204" pitchFamily="34" charset="0"/>
                <a:ea typeface="宋体" panose="02010600030101010101" pitchFamily="2" charset="-122"/>
              </a:rPr>
              <a:t>    如果</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的标志寄存器</a:t>
            </a:r>
            <a:r>
              <a:rPr lang="en-US" altLang="zh-CN" sz="2400" b="1" dirty="0">
                <a:latin typeface="Arial" panose="020B0604020202020204" pitchFamily="34" charset="0"/>
                <a:ea typeface="宋体" panose="02010600030101010101" pitchFamily="2" charset="-122"/>
              </a:rPr>
              <a:t>Flags</a:t>
            </a:r>
            <a:r>
              <a:rPr lang="zh-CN" altLang="en-US" sz="2400" b="1" dirty="0">
                <a:latin typeface="Arial" panose="020B0604020202020204" pitchFamily="34" charset="0"/>
                <a:ea typeface="宋体" panose="02010600030101010101" pitchFamily="2" charset="-122"/>
              </a:rPr>
              <a:t>中的单步标志</a:t>
            </a:r>
            <a:r>
              <a:rPr lang="en-US" altLang="zh-CN" sz="2400" b="1" dirty="0">
                <a:latin typeface="Arial" panose="020B0604020202020204" pitchFamily="34" charset="0"/>
                <a:ea typeface="宋体" panose="02010600030101010101" pitchFamily="2" charset="-122"/>
              </a:rPr>
              <a:t>TF</a:t>
            </a:r>
            <a:r>
              <a:rPr lang="zh-CN" altLang="en-US" sz="2400" b="1" dirty="0">
                <a:latin typeface="Arial" panose="020B0604020202020204" pitchFamily="34" charset="0"/>
                <a:ea typeface="宋体" panose="02010600030101010101" pitchFamily="2" charset="-122"/>
              </a:rPr>
              <a:t>位为</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，则在每条指令执行后就引起一次中断，使程序单步执行。单步中断为用户调试程序提供了强有力的手段，</a:t>
            </a:r>
            <a:r>
              <a:rPr lang="zh-CN" altLang="en-US" sz="2400" b="1" dirty="0">
                <a:solidFill>
                  <a:srgbClr val="FF00FF"/>
                </a:solidFill>
                <a:latin typeface="Arial" panose="020B0604020202020204" pitchFamily="34" charset="0"/>
              </a:rPr>
              <a:t>其中断类型号为</a:t>
            </a:r>
            <a:r>
              <a:rPr lang="en-US" altLang="zh-CN" sz="2400" b="1" dirty="0">
                <a:solidFill>
                  <a:srgbClr val="FF00FF"/>
                </a:solidFill>
                <a:latin typeface="Arial" panose="020B0604020202020204" pitchFamily="34" charset="0"/>
              </a:rPr>
              <a:t>1</a:t>
            </a:r>
            <a:r>
              <a:rPr lang="zh-CN" altLang="en-US" sz="2400" b="1" dirty="0">
                <a:latin typeface="Arial" panose="020B0604020202020204" pitchFamily="34" charset="0"/>
                <a:ea typeface="宋体" panose="02010600030101010101" pitchFamily="2" charset="-122"/>
              </a:rPr>
              <a:t>。</a:t>
            </a:r>
          </a:p>
        </p:txBody>
      </p:sp>
      <p:sp>
        <p:nvSpPr>
          <p:cNvPr id="304132" name="矩形 304131"/>
          <p:cNvSpPr/>
          <p:nvPr/>
        </p:nvSpPr>
        <p:spPr>
          <a:xfrm>
            <a:off x="1044575" y="188913"/>
            <a:ext cx="6696075"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en-US" sz="3200" b="1">
                <a:solidFill>
                  <a:srgbClr val="FF0000"/>
                </a:solidFill>
                <a:ea typeface="隶书" panose="02010509060101010101" pitchFamily="49" charset="-122"/>
              </a:rPr>
              <a:t>8.2  8086 CPU的中断系统</a:t>
            </a:r>
            <a:endParaRPr lang="zh-CN" altLang="en-US" sz="3200" b="1" dirty="0">
              <a:solidFill>
                <a:srgbClr val="FF0000"/>
              </a:solidFill>
              <a:ea typeface="隶书" panose="02010509060101010101" pitchFamily="49" charset="-122"/>
            </a:endParaRPr>
          </a:p>
        </p:txBody>
      </p:sp>
      <p:sp>
        <p:nvSpPr>
          <p:cNvPr id="7" name="文本框 6">
            <a:extLst>
              <a:ext uri="{FF2B5EF4-FFF2-40B4-BE49-F238E27FC236}">
                <a16:creationId xmlns:a16="http://schemas.microsoft.com/office/drawing/2014/main" id="{D23C4065-7AF5-445A-B4A4-62C8FBEFB4BE}"/>
              </a:ext>
            </a:extLst>
          </p:cNvPr>
          <p:cNvSpPr txBox="1"/>
          <p:nvPr/>
        </p:nvSpPr>
        <p:spPr>
          <a:xfrm>
            <a:off x="971600" y="5013176"/>
            <a:ext cx="7704558" cy="1477328"/>
          </a:xfrm>
          <a:prstGeom prst="rect">
            <a:avLst/>
          </a:prstGeom>
          <a:noFill/>
        </p:spPr>
        <p:txBody>
          <a:bodyPr wrap="square">
            <a:spAutoFit/>
          </a:bodyPr>
          <a:lstStyle/>
          <a:p>
            <a:pPr>
              <a:buNone/>
            </a:pPr>
            <a:r>
              <a:rPr lang="en-US" altLang="zh-CN" sz="1800" dirty="0">
                <a:solidFill>
                  <a:srgbClr val="0000FF"/>
                </a:solidFill>
                <a:latin typeface="+mn-lt"/>
                <a:ea typeface="华文中宋" pitchFamily="2" charset="-122"/>
              </a:rPr>
              <a:t>PUSHF			</a:t>
            </a:r>
            <a:r>
              <a:rPr lang="zh-CN" altLang="en-US" sz="1800" dirty="0">
                <a:solidFill>
                  <a:srgbClr val="0000FF"/>
                </a:solidFill>
                <a:latin typeface="+mn-lt"/>
                <a:ea typeface="华文中宋" pitchFamily="2" charset="-122"/>
              </a:rPr>
              <a:t>；标志寄存器</a:t>
            </a:r>
            <a:r>
              <a:rPr lang="en-US" altLang="zh-CN" sz="1800" dirty="0">
                <a:solidFill>
                  <a:srgbClr val="0000FF"/>
                </a:solidFill>
                <a:latin typeface="+mn-lt"/>
                <a:ea typeface="华文中宋" pitchFamily="2" charset="-122"/>
              </a:rPr>
              <a:t>FLAGS</a:t>
            </a:r>
            <a:r>
              <a:rPr lang="zh-CN" altLang="en-US" sz="1800" dirty="0">
                <a:solidFill>
                  <a:srgbClr val="0000FF"/>
                </a:solidFill>
                <a:latin typeface="+mn-lt"/>
                <a:ea typeface="华文中宋" pitchFamily="2" charset="-122"/>
              </a:rPr>
              <a:t>入栈</a:t>
            </a:r>
          </a:p>
          <a:p>
            <a:pPr>
              <a:buNone/>
            </a:pPr>
            <a:r>
              <a:rPr lang="en-US" altLang="zh-CN" sz="1800" dirty="0">
                <a:solidFill>
                  <a:srgbClr val="0000FF"/>
                </a:solidFill>
                <a:latin typeface="+mn-lt"/>
                <a:ea typeface="华文中宋" pitchFamily="2" charset="-122"/>
              </a:rPr>
              <a:t>POP   	AX		</a:t>
            </a:r>
            <a:r>
              <a:rPr lang="zh-CN" altLang="en-US" sz="1800" dirty="0">
                <a:solidFill>
                  <a:srgbClr val="0000FF"/>
                </a:solidFill>
                <a:latin typeface="+mn-lt"/>
                <a:ea typeface="华文中宋" pitchFamily="2" charset="-122"/>
              </a:rPr>
              <a:t>；</a:t>
            </a:r>
            <a:r>
              <a:rPr lang="en-US" altLang="zh-CN" sz="1800" dirty="0">
                <a:solidFill>
                  <a:srgbClr val="0000FF"/>
                </a:solidFill>
                <a:latin typeface="+mn-lt"/>
                <a:ea typeface="华文中宋" pitchFamily="2" charset="-122"/>
              </a:rPr>
              <a:t>AX←FLAGS</a:t>
            </a:r>
            <a:r>
              <a:rPr lang="zh-CN" altLang="en-US" sz="1800" dirty="0">
                <a:solidFill>
                  <a:srgbClr val="0000FF"/>
                </a:solidFill>
                <a:latin typeface="+mn-lt"/>
                <a:ea typeface="华文中宋" pitchFamily="2" charset="-122"/>
              </a:rPr>
              <a:t>内容</a:t>
            </a:r>
          </a:p>
          <a:p>
            <a:pPr>
              <a:buNone/>
            </a:pPr>
            <a:r>
              <a:rPr lang="en-US" altLang="zh-CN" sz="1800" dirty="0">
                <a:solidFill>
                  <a:srgbClr val="0000FF"/>
                </a:solidFill>
                <a:latin typeface="+mn-lt"/>
                <a:ea typeface="华文中宋" pitchFamily="2" charset="-122"/>
              </a:rPr>
              <a:t>OR     	AX</a:t>
            </a:r>
            <a:r>
              <a:rPr lang="zh-CN" altLang="en-US" sz="1800" dirty="0">
                <a:solidFill>
                  <a:srgbClr val="0000FF"/>
                </a:solidFill>
                <a:latin typeface="+mn-lt"/>
                <a:ea typeface="华文中宋" pitchFamily="2" charset="-122"/>
              </a:rPr>
              <a:t>，</a:t>
            </a:r>
            <a:r>
              <a:rPr lang="en-US" altLang="zh-CN" sz="1800" dirty="0">
                <a:solidFill>
                  <a:srgbClr val="0000FF"/>
                </a:solidFill>
                <a:latin typeface="+mn-lt"/>
                <a:ea typeface="华文中宋" pitchFamily="2" charset="-122"/>
              </a:rPr>
              <a:t>0100H	</a:t>
            </a:r>
            <a:r>
              <a:rPr lang="zh-CN" altLang="en-US" sz="1800" dirty="0">
                <a:solidFill>
                  <a:srgbClr val="0000FF"/>
                </a:solidFill>
                <a:latin typeface="+mn-lt"/>
                <a:ea typeface="华文中宋" pitchFamily="2" charset="-122"/>
              </a:rPr>
              <a:t>；使</a:t>
            </a:r>
            <a:r>
              <a:rPr lang="en-US" altLang="zh-CN" sz="1800" dirty="0">
                <a:solidFill>
                  <a:srgbClr val="0000FF"/>
                </a:solidFill>
                <a:latin typeface="+mn-lt"/>
                <a:ea typeface="华文中宋" pitchFamily="2" charset="-122"/>
              </a:rPr>
              <a:t>AX</a:t>
            </a:r>
            <a:r>
              <a:rPr lang="zh-CN" altLang="en-US" sz="1800" dirty="0">
                <a:solidFill>
                  <a:srgbClr val="0000FF"/>
                </a:solidFill>
                <a:latin typeface="+mn-lt"/>
                <a:ea typeface="华文中宋" pitchFamily="2" charset="-122"/>
              </a:rPr>
              <a:t>（即标志寄存器）的</a:t>
            </a:r>
            <a:r>
              <a:rPr lang="en-US" altLang="zh-CN" sz="1800" dirty="0">
                <a:solidFill>
                  <a:srgbClr val="0000FF"/>
                </a:solidFill>
                <a:latin typeface="+mn-lt"/>
                <a:ea typeface="华文中宋" pitchFamily="2" charset="-122"/>
              </a:rPr>
              <a:t>D</a:t>
            </a:r>
            <a:r>
              <a:rPr lang="en-US" altLang="zh-CN" sz="1800" baseline="-25000" dirty="0">
                <a:solidFill>
                  <a:srgbClr val="0000FF"/>
                </a:solidFill>
                <a:latin typeface="+mn-lt"/>
                <a:ea typeface="华文中宋" pitchFamily="2" charset="-122"/>
              </a:rPr>
              <a:t>8</a:t>
            </a:r>
            <a:r>
              <a:rPr lang="en-US" altLang="zh-CN" sz="1800" dirty="0">
                <a:solidFill>
                  <a:srgbClr val="0000FF"/>
                </a:solidFill>
                <a:latin typeface="+mn-lt"/>
                <a:ea typeface="华文中宋" pitchFamily="2" charset="-122"/>
              </a:rPr>
              <a:t>=1</a:t>
            </a:r>
            <a:r>
              <a:rPr lang="zh-CN" altLang="en-US" sz="1800" dirty="0">
                <a:solidFill>
                  <a:srgbClr val="0000FF"/>
                </a:solidFill>
                <a:latin typeface="+mn-lt"/>
                <a:ea typeface="华文中宋" pitchFamily="2" charset="-122"/>
              </a:rPr>
              <a:t>，其余位不变</a:t>
            </a:r>
          </a:p>
          <a:p>
            <a:pPr>
              <a:buNone/>
            </a:pPr>
            <a:r>
              <a:rPr lang="en-US" altLang="zh-CN" sz="1800" dirty="0">
                <a:solidFill>
                  <a:srgbClr val="0000FF"/>
                </a:solidFill>
                <a:latin typeface="+mn-lt"/>
                <a:ea typeface="华文中宋" pitchFamily="2" charset="-122"/>
              </a:rPr>
              <a:t>PUSH   	AX		</a:t>
            </a:r>
            <a:r>
              <a:rPr lang="zh-CN" altLang="en-US" sz="1800" dirty="0">
                <a:solidFill>
                  <a:srgbClr val="0000FF"/>
                </a:solidFill>
                <a:latin typeface="+mn-lt"/>
                <a:ea typeface="华文中宋" pitchFamily="2" charset="-122"/>
              </a:rPr>
              <a:t>；</a:t>
            </a:r>
            <a:r>
              <a:rPr lang="en-US" altLang="zh-CN" sz="1800" dirty="0">
                <a:solidFill>
                  <a:srgbClr val="0000FF"/>
                </a:solidFill>
                <a:latin typeface="+mn-lt"/>
                <a:ea typeface="华文中宋" pitchFamily="2" charset="-122"/>
              </a:rPr>
              <a:t>AX</a:t>
            </a:r>
            <a:r>
              <a:rPr lang="zh-CN" altLang="en-US" sz="1800" dirty="0">
                <a:solidFill>
                  <a:srgbClr val="0000FF"/>
                </a:solidFill>
                <a:latin typeface="+mn-lt"/>
                <a:ea typeface="华文中宋" pitchFamily="2" charset="-122"/>
              </a:rPr>
              <a:t>入栈</a:t>
            </a:r>
          </a:p>
          <a:p>
            <a:pPr>
              <a:buNone/>
            </a:pPr>
            <a:r>
              <a:rPr lang="en-US" altLang="zh-CN" sz="1800" dirty="0">
                <a:solidFill>
                  <a:srgbClr val="0000FF"/>
                </a:solidFill>
                <a:latin typeface="+mn-lt"/>
                <a:ea typeface="华文中宋" pitchFamily="2" charset="-122"/>
              </a:rPr>
              <a:t>POPF			</a:t>
            </a:r>
            <a:r>
              <a:rPr lang="zh-CN" altLang="en-US" sz="1800" dirty="0">
                <a:solidFill>
                  <a:srgbClr val="0000FF"/>
                </a:solidFill>
                <a:latin typeface="+mn-lt"/>
                <a:ea typeface="华文中宋" pitchFamily="2" charset="-122"/>
              </a:rPr>
              <a:t>；</a:t>
            </a:r>
            <a:r>
              <a:rPr lang="en-US" altLang="zh-CN" sz="1800" dirty="0">
                <a:solidFill>
                  <a:srgbClr val="0000FF"/>
                </a:solidFill>
                <a:latin typeface="+mn-lt"/>
                <a:ea typeface="华文中宋" pitchFamily="2" charset="-122"/>
              </a:rPr>
              <a:t>FLAGS</a:t>
            </a:r>
            <a:r>
              <a:rPr lang="zh-CN" altLang="en-US" sz="1800" dirty="0">
                <a:solidFill>
                  <a:srgbClr val="0000FF"/>
                </a:solidFill>
                <a:latin typeface="+mn-lt"/>
                <a:ea typeface="华文中宋" pitchFamily="2" charset="-122"/>
              </a:rPr>
              <a:t>寄存器</a:t>
            </a:r>
            <a:r>
              <a:rPr lang="en-US" altLang="zh-CN" sz="1800" dirty="0">
                <a:solidFill>
                  <a:srgbClr val="0000FF"/>
                </a:solidFill>
                <a:latin typeface="+mn-lt"/>
                <a:ea typeface="华文中宋" pitchFamily="2" charset="-122"/>
              </a:rPr>
              <a:t>←AX</a:t>
            </a:r>
            <a:endParaRPr lang="zh-CN" altLang="en-US" sz="1800" dirty="0">
              <a:solidFill>
                <a:srgbClr val="0000FF"/>
              </a:solidFill>
              <a:latin typeface="+mn-lt"/>
              <a:ea typeface="华文中宋"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文本框 305153"/>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05155" name="文本框 305154"/>
          <p:cNvSpPr txBox="1"/>
          <p:nvPr/>
        </p:nvSpPr>
        <p:spPr>
          <a:xfrm>
            <a:off x="250825" y="908050"/>
            <a:ext cx="8642350" cy="4524315"/>
          </a:xfrm>
          <a:prstGeom prst="rect">
            <a:avLst/>
          </a:prstGeom>
          <a:noFill/>
          <a:ln w="9525">
            <a:noFill/>
          </a:ln>
        </p:spPr>
        <p:txBody>
          <a:bodyPr>
            <a:spAutoFit/>
          </a:bodyPr>
          <a:lstStyle/>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3</a:t>
            </a:r>
            <a:r>
              <a:rPr lang="zh-CN" altLang="en-US" sz="2400" b="1" dirty="0">
                <a:solidFill>
                  <a:srgbClr val="FF00FF"/>
                </a:solidFill>
                <a:latin typeface="Arial" panose="020B0604020202020204" pitchFamily="34" charset="0"/>
                <a:ea typeface="宋体" panose="02010600030101010101" pitchFamily="2" charset="-122"/>
              </a:rPr>
              <a:t>）溢出中断</a:t>
            </a:r>
          </a:p>
          <a:p>
            <a:pPr lvl="0" eaLnBrk="0" hangingPunct="0"/>
            <a:r>
              <a:rPr lang="en-US" altLang="zh-CN" sz="2400" b="1" dirty="0">
                <a:latin typeface="Arial" panose="020B0604020202020204" pitchFamily="34" charset="0"/>
                <a:ea typeface="宋体" panose="02010600030101010101" pitchFamily="2" charset="-122"/>
              </a:rPr>
              <a:t>     Flags</a:t>
            </a:r>
            <a:r>
              <a:rPr lang="zh-CN" altLang="en-US" sz="2400" b="1" dirty="0">
                <a:latin typeface="Arial" panose="020B0604020202020204" pitchFamily="34" charset="0"/>
                <a:ea typeface="宋体" panose="02010600030101010101" pitchFamily="2" charset="-122"/>
              </a:rPr>
              <a:t>中的溢出标志位</a:t>
            </a:r>
            <a:r>
              <a:rPr lang="en-US" altLang="zh-CN" sz="2400" b="1" dirty="0">
                <a:latin typeface="Arial" panose="020B0604020202020204" pitchFamily="34" charset="0"/>
                <a:ea typeface="宋体" panose="02010600030101010101" pitchFamily="2" charset="-122"/>
              </a:rPr>
              <a:t>OF=1</a:t>
            </a:r>
            <a:r>
              <a:rPr lang="zh-CN" altLang="en-US" sz="2400" b="1" dirty="0">
                <a:latin typeface="Arial" panose="020B0604020202020204" pitchFamily="34" charset="0"/>
                <a:ea typeface="宋体" panose="02010600030101010101" pitchFamily="2" charset="-122"/>
              </a:rPr>
              <a:t>，且执行</a:t>
            </a:r>
            <a:r>
              <a:rPr lang="en-US" altLang="zh-CN" sz="2400" b="1" dirty="0">
                <a:latin typeface="Arial" panose="020B0604020202020204" pitchFamily="34" charset="0"/>
                <a:ea typeface="宋体" panose="02010600030101010101" pitchFamily="2" charset="-122"/>
              </a:rPr>
              <a:t>INTO</a:t>
            </a:r>
            <a:r>
              <a:rPr lang="zh-CN" altLang="en-US" sz="2400" b="1" dirty="0">
                <a:latin typeface="Arial" panose="020B0604020202020204" pitchFamily="34" charset="0"/>
                <a:ea typeface="宋体" panose="02010600030101010101" pitchFamily="2" charset="-122"/>
              </a:rPr>
              <a:t>指令时产生，</a:t>
            </a:r>
            <a:r>
              <a:rPr lang="zh-CN" altLang="en-US" sz="2400" b="1" dirty="0">
                <a:solidFill>
                  <a:srgbClr val="FF00FF"/>
                </a:solidFill>
                <a:latin typeface="Arial" panose="020B0604020202020204" pitchFamily="34" charset="0"/>
              </a:rPr>
              <a:t>中断类型号为</a:t>
            </a:r>
            <a:r>
              <a:rPr lang="en-US" altLang="zh-CN" sz="2400" b="1" dirty="0">
                <a:solidFill>
                  <a:srgbClr val="FF00FF"/>
                </a:solidFill>
                <a:latin typeface="Arial" panose="020B0604020202020204" pitchFamily="34" charset="0"/>
              </a:rPr>
              <a:t>4</a:t>
            </a:r>
            <a:r>
              <a:rPr lang="zh-CN" altLang="en-US" sz="2400" b="1" dirty="0">
                <a:latin typeface="Arial" panose="020B0604020202020204" pitchFamily="34" charset="0"/>
                <a:ea typeface="宋体" panose="02010600030101010101" pitchFamily="2" charset="-122"/>
              </a:rPr>
              <a:t>。</a:t>
            </a:r>
            <a:endParaRPr lang="en-US" altLang="zh-CN" sz="2400" b="1" dirty="0">
              <a:latin typeface="Arial" panose="020B0604020202020204" pitchFamily="34" charset="0"/>
              <a:ea typeface="宋体" panose="02010600030101010101" pitchFamily="2" charset="-122"/>
            </a:endParaRPr>
          </a:p>
          <a:p>
            <a:pPr lvl="0" eaLnBrk="0" hangingPunct="0"/>
            <a:r>
              <a:rPr lang="zh-CN" altLang="en-US" sz="2400" b="1" dirty="0">
                <a:latin typeface="Arial" panose="020B0604020202020204" pitchFamily="34" charset="0"/>
                <a:ea typeface="宋体" panose="02010600030101010101" pitchFamily="2" charset="-122"/>
              </a:rPr>
              <a:t>    该中断的产生需满足两个条件：</a:t>
            </a:r>
            <a:r>
              <a:rPr lang="en-US" altLang="zh-CN" sz="2400" b="1" dirty="0">
                <a:latin typeface="Arial" panose="020B0604020202020204" pitchFamily="34" charset="0"/>
                <a:ea typeface="宋体" panose="02010600030101010101" pitchFamily="2" charset="-122"/>
              </a:rPr>
              <a:t>OF</a:t>
            </a:r>
            <a:r>
              <a:rPr lang="zh-CN" altLang="en-US" sz="2400" b="1" dirty="0">
                <a:latin typeface="Arial" panose="020B0604020202020204" pitchFamily="34" charset="0"/>
                <a:ea typeface="宋体" panose="02010600030101010101" pitchFamily="2" charset="-122"/>
              </a:rPr>
              <a:t>位为</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，且执行</a:t>
            </a:r>
            <a:r>
              <a:rPr lang="en-US" altLang="zh-CN" sz="2400" b="1" dirty="0">
                <a:latin typeface="Arial" panose="020B0604020202020204" pitchFamily="34" charset="0"/>
                <a:ea typeface="宋体" panose="02010600030101010101" pitchFamily="2" charset="-122"/>
              </a:rPr>
              <a:t>INTO</a:t>
            </a:r>
            <a:r>
              <a:rPr lang="zh-CN" altLang="en-US" sz="2400" b="1" dirty="0">
                <a:latin typeface="Arial" panose="020B0604020202020204" pitchFamily="34" charset="0"/>
                <a:ea typeface="宋体" panose="02010600030101010101" pitchFamily="2" charset="-122"/>
              </a:rPr>
              <a:t>指令，两者</a:t>
            </a:r>
            <a:r>
              <a:rPr lang="zh-CN" altLang="en-US" sz="2400" b="1" dirty="0">
                <a:solidFill>
                  <a:srgbClr val="FF00FF"/>
                </a:solidFill>
                <a:latin typeface="Arial" panose="020B0604020202020204" pitchFamily="34" charset="0"/>
                <a:ea typeface="宋体" panose="02010600030101010101" pitchFamily="2" charset="-122"/>
              </a:rPr>
              <a:t>缺一不可</a:t>
            </a:r>
            <a:r>
              <a:rPr lang="zh-CN" altLang="en-US" sz="2400" b="1" dirty="0">
                <a:latin typeface="Arial" panose="020B0604020202020204" pitchFamily="34" charset="0"/>
                <a:ea typeface="宋体" panose="02010600030101010101" pitchFamily="2" charset="-122"/>
              </a:rPr>
              <a:t>。溢出中断通常在用户需要对某些运算操作进行溢出监控时使用。</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4</a:t>
            </a:r>
            <a:r>
              <a:rPr lang="zh-CN" altLang="en-US" sz="2400" b="1" dirty="0">
                <a:solidFill>
                  <a:srgbClr val="FF00FF"/>
                </a:solidFill>
                <a:latin typeface="Arial" panose="020B0604020202020204" pitchFamily="34" charset="0"/>
                <a:ea typeface="宋体" panose="02010600030101010101" pitchFamily="2" charset="-122"/>
              </a:rPr>
              <a:t>）断点中断</a:t>
            </a:r>
          </a:p>
          <a:p>
            <a:pPr lvl="0" eaLnBrk="0" hangingPunct="0"/>
            <a:r>
              <a:rPr lang="zh-CN" altLang="en-US" sz="2400" b="1" dirty="0">
                <a:latin typeface="Arial" panose="020B0604020202020204" pitchFamily="34" charset="0"/>
                <a:ea typeface="宋体" panose="02010600030101010101" pitchFamily="2" charset="-122"/>
              </a:rPr>
              <a:t>     一条专用于设置断点的指令</a:t>
            </a:r>
            <a:r>
              <a:rPr lang="en-US" altLang="zh-CN" sz="2400" b="1" dirty="0">
                <a:latin typeface="Arial" panose="020B0604020202020204" pitchFamily="34" charset="0"/>
                <a:ea typeface="宋体" panose="02010600030101010101" pitchFamily="2" charset="-122"/>
              </a:rPr>
              <a:t>INT 3H</a:t>
            </a:r>
            <a:r>
              <a:rPr lang="zh-CN" altLang="en-US" sz="2400" b="1" dirty="0">
                <a:latin typeface="Arial" panose="020B0604020202020204" pitchFamily="34" charset="0"/>
                <a:ea typeface="宋体" panose="02010600030101010101" pitchFamily="2" charset="-122"/>
              </a:rPr>
              <a:t>，专门用于在程序中设置断点来调试程序，即断点中断。</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5</a:t>
            </a:r>
            <a:r>
              <a:rPr lang="zh-CN" altLang="en-US" sz="2400" b="1" dirty="0">
                <a:solidFill>
                  <a:srgbClr val="FF00FF"/>
                </a:solidFill>
                <a:latin typeface="Arial" panose="020B0604020202020204" pitchFamily="34" charset="0"/>
                <a:ea typeface="宋体" panose="02010600030101010101" pitchFamily="2" charset="-122"/>
              </a:rPr>
              <a:t>）中断指令</a:t>
            </a:r>
            <a:r>
              <a:rPr lang="en-US" altLang="zh-CN" sz="2400" b="1" dirty="0">
                <a:solidFill>
                  <a:srgbClr val="FF00FF"/>
                </a:solidFill>
                <a:latin typeface="Arial" panose="020B0604020202020204" pitchFamily="34" charset="0"/>
                <a:ea typeface="宋体" panose="02010600030101010101" pitchFamily="2" charset="-122"/>
              </a:rPr>
              <a:t>INT n</a:t>
            </a:r>
          </a:p>
          <a:p>
            <a:pPr lvl="0" eaLnBrk="0" hangingPunct="0"/>
            <a:r>
              <a:rPr lang="en-US" altLang="zh-CN" sz="2400" b="1" dirty="0">
                <a:latin typeface="Arial" panose="020B0604020202020204" pitchFamily="34" charset="0"/>
                <a:ea typeface="宋体" panose="02010600030101010101" pitchFamily="2" charset="-122"/>
              </a:rPr>
              <a:t>    INT n</a:t>
            </a:r>
            <a:r>
              <a:rPr lang="zh-CN" altLang="en-US" sz="2400" b="1" dirty="0">
                <a:latin typeface="Arial" panose="020B0604020202020204" pitchFamily="34" charset="0"/>
                <a:ea typeface="宋体" panose="02010600030101010101" pitchFamily="2" charset="-122"/>
              </a:rPr>
              <a:t>是用户自定义的软中断指令。其中</a:t>
            </a:r>
            <a:r>
              <a:rPr lang="en-US" altLang="zh-CN" sz="2400" b="1" dirty="0">
                <a:solidFill>
                  <a:srgbClr val="FF00FF"/>
                </a:solidFill>
                <a:latin typeface="Arial" panose="020B0604020202020204" pitchFamily="34" charset="0"/>
              </a:rPr>
              <a:t>n</a:t>
            </a:r>
            <a:r>
              <a:rPr lang="zh-CN" altLang="en-US" sz="2400" b="1" dirty="0">
                <a:solidFill>
                  <a:srgbClr val="FF00FF"/>
                </a:solidFill>
                <a:latin typeface="Arial" panose="020B0604020202020204" pitchFamily="34" charset="0"/>
              </a:rPr>
              <a:t>为中断类型号</a:t>
            </a:r>
            <a:r>
              <a:rPr lang="zh-CN" altLang="en-US" sz="2400" b="1" dirty="0">
                <a:latin typeface="Arial" panose="020B0604020202020204" pitchFamily="34" charset="0"/>
                <a:ea typeface="宋体" panose="02010600030101010101" pitchFamily="2" charset="-122"/>
              </a:rPr>
              <a:t>（范围为</a:t>
            </a:r>
            <a:r>
              <a:rPr lang="en-US" altLang="zh-CN" sz="2400" b="1" dirty="0">
                <a:latin typeface="Arial" panose="020B0604020202020204" pitchFamily="34" charset="0"/>
                <a:ea typeface="宋体" panose="02010600030101010101" pitchFamily="2" charset="-122"/>
              </a:rPr>
              <a:t>0</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255</a:t>
            </a:r>
            <a:r>
              <a:rPr lang="zh-CN" altLang="en-US" sz="2400" b="1" dirty="0">
                <a:latin typeface="Arial" panose="020B0604020202020204" pitchFamily="34" charset="0"/>
                <a:ea typeface="宋体" panose="02010600030101010101" pitchFamily="2" charset="-122"/>
              </a:rPr>
              <a:t>）。</a:t>
            </a:r>
          </a:p>
        </p:txBody>
      </p:sp>
      <p:sp>
        <p:nvSpPr>
          <p:cNvPr id="305156" name="矩形 305155"/>
          <p:cNvSpPr/>
          <p:nvPr/>
        </p:nvSpPr>
        <p:spPr>
          <a:xfrm>
            <a:off x="1044575" y="188913"/>
            <a:ext cx="6696075"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en-US" sz="3200" b="1">
                <a:solidFill>
                  <a:srgbClr val="FF0000"/>
                </a:solidFill>
                <a:ea typeface="隶书" panose="02010509060101010101" pitchFamily="49" charset="-122"/>
              </a:rPr>
              <a:t>8.2  8086 CPU的中断系统</a:t>
            </a:r>
            <a:endParaRPr lang="zh-CN" altLang="en-US" sz="3200" b="1" dirty="0">
              <a:solidFill>
                <a:srgbClr val="FF0000"/>
              </a:solidFill>
              <a:ea typeface="隶书" panose="020105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文本框 306177"/>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06179" name="文本框 306178"/>
          <p:cNvSpPr txBox="1"/>
          <p:nvPr/>
        </p:nvSpPr>
        <p:spPr>
          <a:xfrm>
            <a:off x="250825" y="908050"/>
            <a:ext cx="3168650" cy="1938992"/>
          </a:xfrm>
          <a:prstGeom prst="rect">
            <a:avLst/>
          </a:prstGeom>
          <a:noFill/>
          <a:ln w="9525">
            <a:noFill/>
          </a:ln>
        </p:spPr>
        <p:txBody>
          <a:bodyPr>
            <a:spAutoFit/>
          </a:bodyPr>
          <a:lstStyle/>
          <a:p>
            <a:pPr lvl="0" eaLnBrk="0" hangingPunct="0"/>
            <a:r>
              <a:rPr lang="zh-CN" altLang="en-US" sz="2400" b="1" dirty="0">
                <a:latin typeface="Arial" panose="020B0604020202020204" pitchFamily="34" charset="0"/>
                <a:ea typeface="宋体" panose="02010600030101010101" pitchFamily="2" charset="-122"/>
              </a:rPr>
              <a:t>二、</a:t>
            </a:r>
            <a:r>
              <a:rPr lang="en-US" altLang="en-US" sz="2400" b="1" dirty="0">
                <a:latin typeface="Arial" panose="020B0604020202020204" pitchFamily="34" charset="0"/>
                <a:ea typeface="宋体" panose="02010600030101010101" pitchFamily="2" charset="-122"/>
              </a:rPr>
              <a:t>8086 </a:t>
            </a:r>
            <a:r>
              <a:rPr lang="en-US" altLang="en-US" sz="2400" b="1" dirty="0" err="1">
                <a:latin typeface="Arial" panose="020B0604020202020204" pitchFamily="34" charset="0"/>
                <a:ea typeface="宋体" panose="02010600030101010101" pitchFamily="2" charset="-122"/>
              </a:rPr>
              <a:t>CPU响应中断的过程</a:t>
            </a:r>
            <a:endParaRPr lang="en-US" altLang="en-US" sz="2400" b="1" dirty="0">
              <a:latin typeface="Arial" panose="020B0604020202020204" pitchFamily="34" charset="0"/>
              <a:ea typeface="宋体" panose="02010600030101010101" pitchFamily="2" charset="-122"/>
            </a:endParaRPr>
          </a:p>
          <a:p>
            <a:pPr lvl="0" eaLnBrk="0" hangingPunct="0"/>
            <a:endParaRPr lang="zh-CN" altLang="en-US" sz="2400" b="1" dirty="0">
              <a:solidFill>
                <a:srgbClr val="FF00FF"/>
              </a:solidFill>
              <a:latin typeface="Arial" panose="020B0604020202020204" pitchFamily="34" charset="0"/>
              <a:ea typeface="宋体" panose="02010600030101010101" pitchFamily="2" charset="-122"/>
            </a:endParaRPr>
          </a:p>
          <a:p>
            <a:pPr lvl="0" eaLnBrk="0" hangingPunct="0"/>
            <a:r>
              <a:rPr lang="en-US" altLang="zh-CN" sz="2400" dirty="0">
                <a:latin typeface="Arial" panose="020B0604020202020204" pitchFamily="34" charset="0"/>
                <a:ea typeface="宋体" panose="02010600030101010101" pitchFamily="2" charset="-122"/>
              </a:rPr>
              <a:t>   </a:t>
            </a:r>
            <a:r>
              <a:rPr lang="en-US" altLang="zh-CN" sz="2400" dirty="0">
                <a:solidFill>
                  <a:srgbClr val="0000FF"/>
                </a:solidFill>
                <a:latin typeface="Arial" panose="020B0604020202020204" pitchFamily="34" charset="0"/>
                <a:ea typeface="宋体" panose="02010600030101010101" pitchFamily="2" charset="-122"/>
              </a:rPr>
              <a:t>1</a:t>
            </a:r>
            <a:r>
              <a:rPr lang="zh-CN" altLang="en-US" sz="2400" dirty="0">
                <a:solidFill>
                  <a:srgbClr val="0000FF"/>
                </a:solidFill>
                <a:latin typeface="Arial" panose="020B0604020202020204" pitchFamily="34" charset="0"/>
                <a:ea typeface="宋体" panose="02010600030101010101" pitchFamily="2" charset="-122"/>
              </a:rPr>
              <a:t>、</a:t>
            </a:r>
            <a:r>
              <a:rPr lang="en-US" altLang="zh-CN" sz="2400" dirty="0">
                <a:solidFill>
                  <a:srgbClr val="0000FF"/>
                </a:solidFill>
                <a:latin typeface="Arial" panose="020B0604020202020204" pitchFamily="34" charset="0"/>
                <a:ea typeface="宋体" panose="02010600030101010101" pitchFamily="2" charset="-122"/>
              </a:rPr>
              <a:t> 8086中断响应的流程</a:t>
            </a:r>
            <a:endParaRPr lang="zh-CN" altLang="en-US" sz="2400" dirty="0">
              <a:solidFill>
                <a:srgbClr val="0000FF"/>
              </a:solidFill>
              <a:latin typeface="Arial" panose="020B0604020202020204" pitchFamily="34" charset="0"/>
              <a:ea typeface="宋体" panose="02010600030101010101" pitchFamily="2" charset="-122"/>
            </a:endParaRPr>
          </a:p>
        </p:txBody>
      </p:sp>
      <p:sp>
        <p:nvSpPr>
          <p:cNvPr id="306180" name="矩形 306179"/>
          <p:cNvSpPr/>
          <p:nvPr/>
        </p:nvSpPr>
        <p:spPr>
          <a:xfrm>
            <a:off x="1044575" y="188913"/>
            <a:ext cx="6696075"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en-US" sz="3200" b="1">
                <a:solidFill>
                  <a:srgbClr val="FF0000"/>
                </a:solidFill>
                <a:ea typeface="隶书" panose="02010509060101010101" pitchFamily="49" charset="-122"/>
              </a:rPr>
              <a:t>8.2  8086 CPU的中断系统</a:t>
            </a:r>
            <a:endParaRPr lang="zh-CN" altLang="en-US" sz="3200" b="1" dirty="0">
              <a:solidFill>
                <a:srgbClr val="FF0000"/>
              </a:solidFill>
              <a:ea typeface="隶书" panose="02010509060101010101" pitchFamily="49" charset="-122"/>
            </a:endParaRPr>
          </a:p>
        </p:txBody>
      </p:sp>
      <p:pic>
        <p:nvPicPr>
          <p:cNvPr id="306183" name="图片 306182" descr="wps_clip_image-8258"/>
          <p:cNvPicPr>
            <a:picLocks noChangeAspect="1"/>
          </p:cNvPicPr>
          <p:nvPr/>
        </p:nvPicPr>
        <p:blipFill>
          <a:blip r:embed="rId2"/>
          <a:stretch>
            <a:fillRect/>
          </a:stretch>
        </p:blipFill>
        <p:spPr>
          <a:xfrm>
            <a:off x="3830652" y="620713"/>
            <a:ext cx="4268773" cy="5863573"/>
          </a:xfrm>
          <a:prstGeom prst="rect">
            <a:avLst/>
          </a:prstGeom>
          <a:solidFill>
            <a:srgbClr val="FFFFFF"/>
          </a:solid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文本框 307201"/>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07203" name="文本框 307202"/>
          <p:cNvSpPr txBox="1"/>
          <p:nvPr/>
        </p:nvSpPr>
        <p:spPr>
          <a:xfrm>
            <a:off x="250825" y="908050"/>
            <a:ext cx="8642350" cy="2308324"/>
          </a:xfrm>
          <a:prstGeom prst="rect">
            <a:avLst/>
          </a:prstGeom>
          <a:noFill/>
          <a:ln w="9525">
            <a:noFill/>
          </a:ln>
        </p:spPr>
        <p:txBody>
          <a:bodyPr>
            <a:spAutoFit/>
          </a:bodyPr>
          <a:lstStyle/>
          <a:p>
            <a:pPr lvl="0" eaLnBrk="0" hangingPunct="0"/>
            <a:r>
              <a:rPr lang="en-US" altLang="zh-CN" sz="2400" b="1" dirty="0">
                <a:solidFill>
                  <a:srgbClr val="0000FF"/>
                </a:solidFill>
                <a:latin typeface="Arial" panose="020B0604020202020204" pitchFamily="34" charset="0"/>
              </a:rPr>
              <a:t>   2</a:t>
            </a:r>
            <a:r>
              <a:rPr lang="zh-CN" altLang="en-US" sz="2400" b="1" dirty="0">
                <a:solidFill>
                  <a:srgbClr val="0000FF"/>
                </a:solidFill>
                <a:latin typeface="Arial" panose="020B0604020202020204" pitchFamily="34" charset="0"/>
              </a:rPr>
              <a:t>、</a:t>
            </a:r>
            <a:r>
              <a:rPr lang="en-US" altLang="zh-CN" sz="2400" b="1" dirty="0">
                <a:solidFill>
                  <a:srgbClr val="0000FF"/>
                </a:solidFill>
                <a:latin typeface="Arial" panose="020B0604020202020204" pitchFamily="34" charset="0"/>
              </a:rPr>
              <a:t> 8086 </a:t>
            </a:r>
            <a:r>
              <a:rPr lang="en-US" altLang="zh-CN" sz="2400" b="1" dirty="0" err="1">
                <a:solidFill>
                  <a:srgbClr val="0000FF"/>
                </a:solidFill>
                <a:latin typeface="Arial" panose="020B0604020202020204" pitchFamily="34" charset="0"/>
              </a:rPr>
              <a:t>CPU中断</a:t>
            </a:r>
            <a:r>
              <a:rPr lang="zh-CN" altLang="en-US" sz="2400" b="1" dirty="0">
                <a:solidFill>
                  <a:srgbClr val="0000FF"/>
                </a:solidFill>
                <a:latin typeface="Arial" panose="020B0604020202020204" pitchFamily="34" charset="0"/>
              </a:rPr>
              <a:t>源</a:t>
            </a:r>
            <a:r>
              <a:rPr lang="en-US" altLang="zh-CN" sz="2400" b="1" dirty="0" err="1">
                <a:solidFill>
                  <a:srgbClr val="0000FF"/>
                </a:solidFill>
                <a:latin typeface="Arial" panose="020B0604020202020204" pitchFamily="34" charset="0"/>
              </a:rPr>
              <a:t>的优先级</a:t>
            </a:r>
            <a:r>
              <a:rPr lang="zh-CN" altLang="en-US" sz="2400" b="1" dirty="0">
                <a:solidFill>
                  <a:srgbClr val="0000FF"/>
                </a:solidFill>
                <a:latin typeface="Arial" panose="020B0604020202020204" pitchFamily="34" charset="0"/>
              </a:rPr>
              <a:t>顺序</a:t>
            </a:r>
            <a:endParaRPr lang="en-US" altLang="zh-CN" sz="2400" b="1" dirty="0">
              <a:solidFill>
                <a:srgbClr val="0000FF"/>
              </a:solidFill>
              <a:latin typeface="Arial" panose="020B0604020202020204" pitchFamily="34" charset="0"/>
            </a:endParaRPr>
          </a:p>
          <a:p>
            <a:pPr lvl="0" eaLnBrk="0" hangingPunct="0"/>
            <a:r>
              <a:rPr lang="zh-CN" altLang="en-US" sz="2400" b="1" dirty="0">
                <a:latin typeface="Arial" panose="020B0604020202020204" pitchFamily="34" charset="0"/>
              </a:rPr>
              <a:t>       </a:t>
            </a:r>
            <a:endParaRPr lang="en-US" altLang="zh-CN" sz="2400" b="1" dirty="0">
              <a:latin typeface="Arial" panose="020B0604020202020204" pitchFamily="34" charset="0"/>
            </a:endParaRPr>
          </a:p>
          <a:p>
            <a:pPr lvl="0" eaLnBrk="0" hangingPunct="0"/>
            <a:r>
              <a:rPr lang="en-US" altLang="zh-CN" sz="2400" b="1" dirty="0">
                <a:latin typeface="Arial" panose="020B0604020202020204" pitchFamily="34" charset="0"/>
              </a:rPr>
              <a:t>        </a:t>
            </a:r>
            <a:r>
              <a:rPr lang="zh-CN" altLang="en-US" sz="2400" b="1" dirty="0">
                <a:latin typeface="Arial" panose="020B0604020202020204" pitchFamily="34" charset="0"/>
              </a:rPr>
              <a:t>内部中断（单步中断除外）的优先级高于外部中断，外部中断中不可屏蔽中断的优先级高于可屏蔽中断，单步中断的优先级最低。</a:t>
            </a:r>
            <a:r>
              <a:rPr lang="en-US" altLang="zh-CN" sz="2400" b="1" dirty="0" err="1">
                <a:latin typeface="Arial" panose="020B0604020202020204" pitchFamily="34" charset="0"/>
              </a:rPr>
              <a:t>在CPU中断响应过程中，其仍然能对不可屏蔽中断NMI和单步中断予以响应</a:t>
            </a:r>
            <a:r>
              <a:rPr lang="en-US" altLang="zh-CN" sz="2400" b="1" dirty="0">
                <a:latin typeface="Arial" panose="020B0604020202020204" pitchFamily="34" charset="0"/>
              </a:rPr>
              <a:t>。</a:t>
            </a:r>
            <a:endParaRPr lang="zh-CN" altLang="en-US" sz="2400" b="1" dirty="0">
              <a:latin typeface="Arial" panose="020B0604020202020204" pitchFamily="34" charset="0"/>
            </a:endParaRPr>
          </a:p>
        </p:txBody>
      </p:sp>
      <p:sp>
        <p:nvSpPr>
          <p:cNvPr id="307204" name="矩形 307203"/>
          <p:cNvSpPr/>
          <p:nvPr/>
        </p:nvSpPr>
        <p:spPr>
          <a:xfrm>
            <a:off x="1044575" y="188913"/>
            <a:ext cx="6696075"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en-US" sz="3200" b="1">
                <a:solidFill>
                  <a:srgbClr val="FF0000"/>
                </a:solidFill>
                <a:ea typeface="隶书" panose="02010509060101010101" pitchFamily="49" charset="-122"/>
              </a:rPr>
              <a:t>8.2  8086 CPU的中断系统</a:t>
            </a:r>
            <a:endParaRPr lang="zh-CN" altLang="en-US" sz="3200" b="1" dirty="0">
              <a:solidFill>
                <a:srgbClr val="FF0000"/>
              </a:solidFill>
              <a:ea typeface="隶书" panose="02010509060101010101" pitchFamily="49" charset="-122"/>
            </a:endParaRPr>
          </a:p>
        </p:txBody>
      </p:sp>
      <p:sp>
        <p:nvSpPr>
          <p:cNvPr id="307206" name="矩形 307205"/>
          <p:cNvSpPr/>
          <p:nvPr/>
        </p:nvSpPr>
        <p:spPr>
          <a:xfrm>
            <a:off x="2736056" y="3483608"/>
            <a:ext cx="3959225" cy="366713"/>
          </a:xfrm>
          <a:prstGeom prst="rect">
            <a:avLst/>
          </a:prstGeom>
          <a:noFill/>
          <a:ln w="9525">
            <a:noFill/>
          </a:ln>
        </p:spPr>
        <p:txBody>
          <a:bodyPr wrap="none" anchor="ctr">
            <a:spAutoFit/>
          </a:bodyPr>
          <a:lstStyle/>
          <a:p>
            <a:pPr lvl="0" algn="just"/>
            <a:r>
              <a:rPr lang="zh-CN" altLang="en-US" sz="1800" dirty="0">
                <a:latin typeface="Arial" panose="020B0604020202020204" pitchFamily="34" charset="0"/>
                <a:ea typeface="宋体" panose="02010600030101010101" pitchFamily="2" charset="-122"/>
              </a:rPr>
              <a:t>表</a:t>
            </a:r>
            <a:r>
              <a:rPr lang="en-US" altLang="zh-CN" sz="1800" dirty="0">
                <a:latin typeface="Arial" panose="020B0604020202020204" pitchFamily="34" charset="0"/>
                <a:ea typeface="宋体" panose="02010600030101010101" pitchFamily="2" charset="-122"/>
              </a:rPr>
              <a:t>8-1 8086 CPU</a:t>
            </a:r>
            <a:r>
              <a:rPr lang="zh-CN" altLang="en-US" sz="1800" dirty="0">
                <a:latin typeface="Arial" panose="020B0604020202020204" pitchFamily="34" charset="0"/>
                <a:ea typeface="宋体" panose="02010600030101010101" pitchFamily="2" charset="-122"/>
              </a:rPr>
              <a:t>的中断优先级顺序</a:t>
            </a:r>
          </a:p>
        </p:txBody>
      </p:sp>
      <p:graphicFrame>
        <p:nvGraphicFramePr>
          <p:cNvPr id="307230" name="表格 307229"/>
          <p:cNvGraphicFramePr/>
          <p:nvPr>
            <p:extLst>
              <p:ext uri="{D42A27DB-BD31-4B8C-83A1-F6EECF244321}">
                <p14:modId xmlns:p14="http://schemas.microsoft.com/office/powerpoint/2010/main" val="3959428131"/>
              </p:ext>
            </p:extLst>
          </p:nvPr>
        </p:nvGraphicFramePr>
        <p:xfrm>
          <a:off x="1439861" y="4005064"/>
          <a:ext cx="6551613" cy="1655763"/>
        </p:xfrm>
        <a:graphic>
          <a:graphicData uri="http://schemas.openxmlformats.org/drawingml/2006/table">
            <a:tbl>
              <a:tblPr/>
              <a:tblGrid>
                <a:gridCol w="3276600">
                  <a:extLst>
                    <a:ext uri="{9D8B030D-6E8A-4147-A177-3AD203B41FA5}">
                      <a16:colId xmlns:a16="http://schemas.microsoft.com/office/drawing/2014/main" val="20000"/>
                    </a:ext>
                  </a:extLst>
                </a:gridCol>
                <a:gridCol w="3275013">
                  <a:extLst>
                    <a:ext uri="{9D8B030D-6E8A-4147-A177-3AD203B41FA5}">
                      <a16:colId xmlns:a16="http://schemas.microsoft.com/office/drawing/2014/main" val="20001"/>
                    </a:ext>
                  </a:extLst>
                </a:gridCol>
              </a:tblGrid>
              <a:tr h="403225">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zh-CN" altLang="en-US" sz="1400" dirty="0">
                          <a:latin typeface="宋体" panose="02010600030101010101" pitchFamily="2" charset="-122"/>
                          <a:ea typeface="Times New Roman" panose="02020603050405020304" pitchFamily="18" charset="0"/>
                        </a:rPr>
                        <a:t>中     断</a:t>
                      </a:r>
                      <a:endParaRPr lang="zh-CN" altLang="en-US" sz="1400" dirty="0">
                        <a:latin typeface="Times New Roman" panose="02020603050405020304" pitchFamily="18" charset="0"/>
                      </a:endParaRPr>
                    </a:p>
                  </a:txBody>
                  <a:tcPr>
                    <a:lnL cap="flat">
                      <a:noFill/>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400" dirty="0">
                          <a:latin typeface="宋体" panose="02010600030101010101" pitchFamily="2" charset="-122"/>
                          <a:ea typeface="Times New Roman" panose="02020603050405020304" pitchFamily="18" charset="0"/>
                        </a:rPr>
                        <a:t>优  先  级</a:t>
                      </a:r>
                      <a:endParaRPr lang="zh-CN" altLang="en-US" sz="1400" dirty="0">
                        <a:latin typeface="Times New Roman" panose="02020603050405020304" pitchFamily="18" charset="0"/>
                      </a:endParaRPr>
                    </a:p>
                  </a:txBody>
                  <a:tcPr>
                    <a:lnL>
                      <a:noFill/>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52538">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1000125" algn="just">
                        <a:spcBef>
                          <a:spcPct val="0"/>
                        </a:spcBef>
                        <a:buClrTx/>
                        <a:buNone/>
                      </a:pPr>
                      <a:r>
                        <a:rPr lang="zh-CN" altLang="en-US" sz="1400" dirty="0">
                          <a:latin typeface="Times New Roman" panose="02020603050405020304" pitchFamily="18" charset="0"/>
                          <a:ea typeface="Times New Roman" panose="02020603050405020304" pitchFamily="18" charset="0"/>
                        </a:rPr>
                        <a:t>除法出错、</a:t>
                      </a:r>
                      <a:r>
                        <a:rPr lang="en-US" altLang="zh-CN" sz="1400" dirty="0">
                          <a:latin typeface="Times New Roman" panose="02020603050405020304" pitchFamily="18" charset="0"/>
                          <a:ea typeface="Times New Roman" panose="02020603050405020304" pitchFamily="18" charset="0"/>
                        </a:rPr>
                        <a:t>INTO</a:t>
                      </a:r>
                      <a:r>
                        <a:rPr lang="zh-CN" altLang="en-US" sz="1400" dirty="0">
                          <a:latin typeface="Times New Roman" panose="02020603050405020304" pitchFamily="18" charset="0"/>
                          <a:ea typeface="Times New Roman" panose="02020603050405020304" pitchFamily="18" charset="0"/>
                        </a:rPr>
                        <a:t>、</a:t>
                      </a:r>
                      <a:r>
                        <a:rPr lang="en-US" altLang="zh-CN" sz="1400" dirty="0">
                          <a:latin typeface="Times New Roman" panose="02020603050405020304" pitchFamily="18" charset="0"/>
                          <a:ea typeface="Times New Roman" panose="02020603050405020304" pitchFamily="18" charset="0"/>
                        </a:rPr>
                        <a:t>INT n</a:t>
                      </a:r>
                      <a:endParaRPr lang="en-US" altLang="zh-CN" sz="1400" dirty="0"/>
                    </a:p>
                    <a:p>
                      <a:pPr marL="0" lvl="0" indent="1000125" algn="just" eaLnBrk="0" hangingPunct="0">
                        <a:spcBef>
                          <a:spcPct val="0"/>
                        </a:spcBef>
                        <a:buNone/>
                      </a:pPr>
                      <a:r>
                        <a:rPr lang="en-US" altLang="zh-CN" sz="1400" dirty="0">
                          <a:latin typeface="Times New Roman" panose="02020603050405020304" pitchFamily="18" charset="0"/>
                          <a:ea typeface="Times New Roman" panose="02020603050405020304" pitchFamily="18" charset="0"/>
                        </a:rPr>
                        <a:t>NMI</a:t>
                      </a:r>
                      <a:endParaRPr lang="en-US" altLang="zh-CN" sz="1400" dirty="0"/>
                    </a:p>
                    <a:p>
                      <a:pPr marL="0" lvl="0" indent="1000125" algn="just" eaLnBrk="0" hangingPunct="0">
                        <a:spcBef>
                          <a:spcPct val="0"/>
                        </a:spcBef>
                        <a:buNone/>
                      </a:pPr>
                      <a:r>
                        <a:rPr lang="en-US" altLang="zh-CN" sz="1400" dirty="0">
                          <a:latin typeface="Times New Roman" panose="02020603050405020304" pitchFamily="18" charset="0"/>
                          <a:ea typeface="Times New Roman" panose="02020603050405020304" pitchFamily="18" charset="0"/>
                        </a:rPr>
                        <a:t>INTR</a:t>
                      </a:r>
                      <a:endParaRPr lang="en-US" altLang="zh-CN" sz="1400" dirty="0"/>
                    </a:p>
                    <a:p>
                      <a:pPr marL="0" lvl="0" indent="1000125" algn="just" eaLnBrk="0" hangingPunct="0">
                        <a:spcBef>
                          <a:spcPct val="0"/>
                        </a:spcBef>
                        <a:buNone/>
                      </a:pPr>
                      <a:r>
                        <a:rPr lang="zh-CN" altLang="en-US" sz="1400" dirty="0">
                          <a:latin typeface="Times New Roman" panose="02020603050405020304" pitchFamily="18" charset="0"/>
                          <a:ea typeface="Times New Roman" panose="02020603050405020304" pitchFamily="18" charset="0"/>
                        </a:rPr>
                        <a:t>单步</a:t>
                      </a:r>
                      <a:endParaRPr lang="zh-CN" altLang="en-US" sz="1400" dirty="0">
                        <a:latin typeface="Times New Roman" panose="02020603050405020304" pitchFamily="18" charset="0"/>
                      </a:endParaRPr>
                    </a:p>
                  </a:txBody>
                  <a:tcPr>
                    <a:lnL cap="flat">
                      <a:noFill/>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539750" algn="ctr">
                        <a:spcBef>
                          <a:spcPct val="0"/>
                        </a:spcBef>
                        <a:buClrTx/>
                        <a:buNone/>
                      </a:pPr>
                      <a:r>
                        <a:rPr lang="zh-CN" altLang="en-US" sz="1400" dirty="0">
                          <a:latin typeface="宋体" panose="02010600030101010101" pitchFamily="2" charset="-122"/>
                          <a:ea typeface="Times New Roman" panose="02020603050405020304" pitchFamily="18" charset="0"/>
                        </a:rPr>
                        <a:t>最高</a:t>
                      </a:r>
                      <a:endParaRPr lang="zh-CN" altLang="en-US" sz="1400" dirty="0"/>
                    </a:p>
                    <a:p>
                      <a:pPr marL="0" lvl="0" indent="539750" algn="ctr" eaLnBrk="0" hangingPunct="0">
                        <a:spcBef>
                          <a:spcPct val="0"/>
                        </a:spcBef>
                        <a:buNone/>
                      </a:pPr>
                      <a:r>
                        <a:rPr lang="zh-CN" altLang="en-US" sz="1400" dirty="0">
                          <a:latin typeface="宋体" panose="02010600030101010101" pitchFamily="2" charset="-122"/>
                          <a:ea typeface="Times New Roman" panose="02020603050405020304" pitchFamily="18" charset="0"/>
                        </a:rPr>
                        <a:t>  </a:t>
                      </a:r>
                    </a:p>
                    <a:p>
                      <a:pPr marL="0" lvl="0" indent="539750" algn="ctr" eaLnBrk="0" hangingPunct="0">
                        <a:spcBef>
                          <a:spcPct val="0"/>
                        </a:spcBef>
                        <a:buNone/>
                      </a:pPr>
                      <a:r>
                        <a:rPr lang="zh-CN" altLang="en-US" sz="1400" dirty="0">
                          <a:latin typeface="宋体" panose="02010600030101010101" pitchFamily="2" charset="-122"/>
                          <a:ea typeface="Times New Roman" panose="02020603050405020304" pitchFamily="18" charset="0"/>
                        </a:rPr>
                        <a:t>   </a:t>
                      </a:r>
                      <a:endParaRPr lang="zh-CN" altLang="en-US" sz="1400" dirty="0"/>
                    </a:p>
                    <a:p>
                      <a:pPr marL="0" lvl="0" indent="539750" algn="ctr" eaLnBrk="0" hangingPunct="0">
                        <a:spcBef>
                          <a:spcPct val="0"/>
                        </a:spcBef>
                        <a:buNone/>
                      </a:pPr>
                      <a:r>
                        <a:rPr lang="zh-CN" altLang="en-US" sz="1400" dirty="0">
                          <a:latin typeface="宋体" panose="02010600030101010101" pitchFamily="2" charset="-122"/>
                          <a:ea typeface="Times New Roman" panose="02020603050405020304" pitchFamily="18" charset="0"/>
                        </a:rPr>
                        <a:t>最低</a:t>
                      </a:r>
                    </a:p>
                  </a:txBody>
                  <a:tcPr>
                    <a:lnL>
                      <a:noFill/>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307211" name="图片 307210" descr="wps_clip_image-8885"/>
          <p:cNvPicPr>
            <a:picLocks noChangeAspect="1"/>
          </p:cNvPicPr>
          <p:nvPr/>
        </p:nvPicPr>
        <p:blipFill>
          <a:blip r:embed="rId2"/>
          <a:stretch>
            <a:fillRect/>
          </a:stretch>
        </p:blipFill>
        <p:spPr>
          <a:xfrm>
            <a:off x="6587331" y="4725144"/>
            <a:ext cx="85725" cy="28575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文本框 308225"/>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08227" name="文本框 308226"/>
          <p:cNvSpPr txBox="1"/>
          <p:nvPr/>
        </p:nvSpPr>
        <p:spPr>
          <a:xfrm>
            <a:off x="250825" y="836712"/>
            <a:ext cx="8642350" cy="3847207"/>
          </a:xfrm>
          <a:prstGeom prst="rect">
            <a:avLst/>
          </a:prstGeom>
          <a:noFill/>
          <a:ln w="9525">
            <a:noFill/>
          </a:ln>
        </p:spPr>
        <p:txBody>
          <a:bodyPr>
            <a:spAutoFit/>
          </a:bodyPr>
          <a:lstStyle/>
          <a:p>
            <a:pPr lvl="0" eaLnBrk="0" hangingPunct="0"/>
            <a:r>
              <a:rPr lang="zh-CN" altLang="en-US" sz="2800" b="1" dirty="0">
                <a:latin typeface="Arial" panose="020B0604020202020204" pitchFamily="34" charset="0"/>
              </a:rPr>
              <a:t>三、</a:t>
            </a:r>
            <a:r>
              <a:rPr lang="en-US" altLang="zh-CN" sz="2800" b="1" dirty="0" err="1">
                <a:latin typeface="Arial" panose="020B0604020202020204" pitchFamily="34" charset="0"/>
              </a:rPr>
              <a:t>中断向量及中断向量表</a:t>
            </a:r>
            <a:endParaRPr lang="zh-CN" altLang="en-US" sz="2800" b="1" dirty="0">
              <a:solidFill>
                <a:srgbClr val="FF00FF"/>
              </a:solidFill>
              <a:latin typeface="Arial" panose="020B0604020202020204" pitchFamily="34" charset="0"/>
            </a:endParaRPr>
          </a:p>
          <a:p>
            <a:pPr lvl="0" eaLnBrk="0" hangingPunct="0"/>
            <a:r>
              <a:rPr lang="en-US" altLang="zh-CN" sz="2400" b="1" dirty="0">
                <a:latin typeface="Arial" panose="020B0604020202020204" pitchFamily="34" charset="0"/>
              </a:rPr>
              <a:t>    </a:t>
            </a:r>
          </a:p>
          <a:p>
            <a:pPr lvl="0" eaLnBrk="0" hangingPunct="0"/>
            <a:r>
              <a:rPr lang="zh-CN" altLang="en-US" sz="2400" b="1" dirty="0">
                <a:solidFill>
                  <a:srgbClr val="FF00FF"/>
                </a:solidFill>
                <a:latin typeface="Arial" panose="020B0604020202020204" pitchFamily="34" charset="0"/>
              </a:rPr>
              <a:t>中断类型号：</a:t>
            </a:r>
            <a:r>
              <a:rPr lang="zh-CN" altLang="en-US" sz="2400" b="1" dirty="0">
                <a:latin typeface="Arial" panose="020B0604020202020204" pitchFamily="34" charset="0"/>
              </a:rPr>
              <a:t>每个中断源的编号</a:t>
            </a:r>
            <a:r>
              <a:rPr lang="en-US" altLang="zh-CN" sz="2400" b="1" dirty="0">
                <a:latin typeface="Arial" panose="020B0604020202020204" pitchFamily="34" charset="0"/>
              </a:rPr>
              <a:t>n</a:t>
            </a:r>
            <a:r>
              <a:rPr lang="zh-CN" altLang="en-US" sz="2400" b="1" dirty="0">
                <a:latin typeface="Arial" panose="020B0604020202020204" pitchFamily="34" charset="0"/>
              </a:rPr>
              <a:t>，为</a:t>
            </a:r>
            <a:r>
              <a:rPr lang="en-US" altLang="zh-CN" sz="2400" b="1" dirty="0">
                <a:latin typeface="Arial" panose="020B0604020202020204" pitchFamily="34" charset="0"/>
              </a:rPr>
              <a:t>0-255</a:t>
            </a:r>
            <a:r>
              <a:rPr lang="zh-CN" altLang="en-US" sz="2400" b="1" dirty="0">
                <a:latin typeface="Arial" panose="020B0604020202020204" pitchFamily="34" charset="0"/>
              </a:rPr>
              <a:t>。</a:t>
            </a:r>
            <a:endParaRPr lang="en-US" altLang="zh-CN" sz="2400" b="1" dirty="0">
              <a:latin typeface="Arial" panose="020B0604020202020204" pitchFamily="34" charset="0"/>
            </a:endParaRPr>
          </a:p>
          <a:p>
            <a:pPr lvl="0" eaLnBrk="0" hangingPunct="0"/>
            <a:endParaRPr lang="en-US" altLang="zh-CN" sz="2400" b="1" dirty="0">
              <a:latin typeface="Arial" panose="020B0604020202020204" pitchFamily="34" charset="0"/>
            </a:endParaRPr>
          </a:p>
          <a:p>
            <a:pPr lvl="0" eaLnBrk="0" hangingPunct="0"/>
            <a:r>
              <a:rPr lang="en-US" altLang="zh-CN" sz="2400" b="1" dirty="0" err="1">
                <a:solidFill>
                  <a:srgbClr val="FF00FF"/>
                </a:solidFill>
                <a:latin typeface="Arial" panose="020B0604020202020204" pitchFamily="34" charset="0"/>
              </a:rPr>
              <a:t>中断向量</a:t>
            </a:r>
            <a:r>
              <a:rPr lang="zh-CN" altLang="en-US" sz="2400" b="1" dirty="0">
                <a:solidFill>
                  <a:srgbClr val="FF00FF"/>
                </a:solidFill>
                <a:latin typeface="Arial" panose="020B0604020202020204" pitchFamily="34" charset="0"/>
              </a:rPr>
              <a:t>：</a:t>
            </a:r>
            <a:r>
              <a:rPr lang="en-US" altLang="zh-CN" sz="2400" b="1" dirty="0" err="1">
                <a:latin typeface="Arial" panose="020B0604020202020204" pitchFamily="34" charset="0"/>
              </a:rPr>
              <a:t>每个中断服务程序的</a:t>
            </a:r>
            <a:r>
              <a:rPr lang="en-US" altLang="zh-CN" sz="2400" b="1" dirty="0" err="1">
                <a:solidFill>
                  <a:srgbClr val="0000FF"/>
                </a:solidFill>
                <a:latin typeface="Arial" panose="020B0604020202020204" pitchFamily="34" charset="0"/>
              </a:rPr>
              <a:t>程序入口地址</a:t>
            </a:r>
            <a:r>
              <a:rPr lang="en-US" altLang="zh-CN" sz="2400" b="1" dirty="0">
                <a:latin typeface="Arial" panose="020B0604020202020204" pitchFamily="34" charset="0"/>
              </a:rPr>
              <a:t>。</a:t>
            </a:r>
            <a:r>
              <a:rPr lang="zh-CN" altLang="en-US" sz="2400" b="1" dirty="0">
                <a:latin typeface="Arial" panose="020B0604020202020204" pitchFamily="34" charset="0"/>
              </a:rPr>
              <a:t>每个中断向量都由段地址</a:t>
            </a:r>
            <a:r>
              <a:rPr lang="en-US" altLang="zh-CN" sz="2400" b="1" dirty="0">
                <a:latin typeface="Arial" panose="020B0604020202020204" pitchFamily="34" charset="0"/>
              </a:rPr>
              <a:t>CS</a:t>
            </a:r>
            <a:r>
              <a:rPr lang="zh-CN" altLang="en-US" sz="2400" b="1" dirty="0">
                <a:latin typeface="Arial" panose="020B0604020202020204" pitchFamily="34" charset="0"/>
              </a:rPr>
              <a:t>和偏移地址</a:t>
            </a:r>
            <a:r>
              <a:rPr lang="en-US" altLang="zh-CN" sz="2400" b="1" dirty="0">
                <a:latin typeface="Arial" panose="020B0604020202020204" pitchFamily="34" charset="0"/>
              </a:rPr>
              <a:t>IP</a:t>
            </a:r>
            <a:r>
              <a:rPr lang="zh-CN" altLang="en-US" sz="2400" b="1" dirty="0">
                <a:latin typeface="Arial" panose="020B0604020202020204" pitchFamily="34" charset="0"/>
              </a:rPr>
              <a:t>共</a:t>
            </a:r>
            <a:r>
              <a:rPr lang="en-US" altLang="zh-CN" sz="2400" b="1" dirty="0">
                <a:solidFill>
                  <a:srgbClr val="0000FF"/>
                </a:solidFill>
                <a:latin typeface="Arial" panose="020B0604020202020204" pitchFamily="34" charset="0"/>
              </a:rPr>
              <a:t>4</a:t>
            </a:r>
            <a:r>
              <a:rPr lang="zh-CN" altLang="en-US" sz="2400" b="1" dirty="0">
                <a:solidFill>
                  <a:srgbClr val="0000FF"/>
                </a:solidFill>
                <a:latin typeface="Arial" panose="020B0604020202020204" pitchFamily="34" charset="0"/>
              </a:rPr>
              <a:t>个字节</a:t>
            </a:r>
            <a:r>
              <a:rPr lang="zh-CN" altLang="en-US" sz="2400" b="1" dirty="0">
                <a:latin typeface="Arial" panose="020B0604020202020204" pitchFamily="34" charset="0"/>
              </a:rPr>
              <a:t>组成。</a:t>
            </a:r>
          </a:p>
          <a:p>
            <a:pPr lvl="0" eaLnBrk="0" hangingPunct="0"/>
            <a:r>
              <a:rPr lang="en-US" altLang="zh-CN" sz="2400" b="1" dirty="0">
                <a:latin typeface="Arial" panose="020B0604020202020204" pitchFamily="34" charset="0"/>
              </a:rPr>
              <a:t>    </a:t>
            </a:r>
          </a:p>
          <a:p>
            <a:pPr lvl="0" eaLnBrk="0" hangingPunct="0"/>
            <a:r>
              <a:rPr lang="zh-CN" altLang="en-US" sz="2400" b="1" dirty="0">
                <a:solidFill>
                  <a:srgbClr val="FF00FF"/>
                </a:solidFill>
                <a:latin typeface="Arial" panose="020B0604020202020204" pitchFamily="34" charset="0"/>
              </a:rPr>
              <a:t>中断向量表：</a:t>
            </a:r>
            <a:r>
              <a:rPr lang="zh-CN" altLang="en-US" sz="2400" b="1" dirty="0">
                <a:latin typeface="Arial" panose="020B0604020202020204" pitchFamily="34" charset="0"/>
              </a:rPr>
              <a:t>存放中断向量的存储区。</a:t>
            </a:r>
            <a:r>
              <a:rPr lang="en-US" altLang="zh-CN" sz="2400" b="1" dirty="0">
                <a:latin typeface="Arial" panose="020B0604020202020204" pitchFamily="34" charset="0"/>
              </a:rPr>
              <a:t>256</a:t>
            </a:r>
            <a:r>
              <a:rPr lang="zh-CN" altLang="en-US" sz="2400" b="1" dirty="0">
                <a:latin typeface="Arial" panose="020B0604020202020204" pitchFamily="34" charset="0"/>
              </a:rPr>
              <a:t>个中断向量集中起来，按对应的中断类型号从小到大的顺序依次存放到了内存的</a:t>
            </a:r>
            <a:r>
              <a:rPr lang="zh-CN" altLang="en-US" sz="2400" b="1" dirty="0">
                <a:solidFill>
                  <a:srgbClr val="0000FF"/>
                </a:solidFill>
                <a:latin typeface="Arial" panose="020B0604020202020204" pitchFamily="34" charset="0"/>
              </a:rPr>
              <a:t>最低端（</a:t>
            </a:r>
            <a:r>
              <a:rPr lang="en-US" altLang="zh-CN" sz="2400" b="1" dirty="0">
                <a:solidFill>
                  <a:srgbClr val="0000FF"/>
                </a:solidFill>
                <a:latin typeface="Arial" panose="020B0604020202020204" pitchFamily="34" charset="0"/>
              </a:rPr>
              <a:t>00000H-003FFH</a:t>
            </a:r>
            <a:r>
              <a:rPr lang="zh-CN" altLang="en-US" sz="2400" b="1" dirty="0">
                <a:solidFill>
                  <a:srgbClr val="0000FF"/>
                </a:solidFill>
                <a:latin typeface="Arial" panose="020B0604020202020204" pitchFamily="34" charset="0"/>
              </a:rPr>
              <a:t>），占用</a:t>
            </a:r>
            <a:r>
              <a:rPr lang="en-US" altLang="zh-CN" sz="2400" b="1" dirty="0">
                <a:solidFill>
                  <a:srgbClr val="0000FF"/>
                </a:solidFill>
                <a:latin typeface="Arial" panose="020B0604020202020204" pitchFamily="34" charset="0"/>
              </a:rPr>
              <a:t>1K</a:t>
            </a:r>
            <a:r>
              <a:rPr lang="zh-CN" altLang="en-US" sz="2400" b="1" dirty="0">
                <a:solidFill>
                  <a:srgbClr val="0000FF"/>
                </a:solidFill>
                <a:latin typeface="Arial" panose="020B0604020202020204" pitchFamily="34" charset="0"/>
              </a:rPr>
              <a:t>字节</a:t>
            </a:r>
            <a:r>
              <a:rPr lang="zh-CN" altLang="en-US" sz="2400" b="1" dirty="0">
                <a:latin typeface="Arial" panose="020B0604020202020204" pitchFamily="34" charset="0"/>
              </a:rPr>
              <a:t>。</a:t>
            </a:r>
            <a:endParaRPr lang="en-US" altLang="zh-CN" sz="2400" b="1" dirty="0">
              <a:latin typeface="Arial" panose="020B0604020202020204" pitchFamily="34" charset="0"/>
            </a:endParaRPr>
          </a:p>
        </p:txBody>
      </p:sp>
      <p:sp>
        <p:nvSpPr>
          <p:cNvPr id="308228" name="矩形 308227"/>
          <p:cNvSpPr/>
          <p:nvPr/>
        </p:nvSpPr>
        <p:spPr>
          <a:xfrm>
            <a:off x="1044575" y="188913"/>
            <a:ext cx="6696075"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en-US" sz="3200" b="1" dirty="0">
                <a:solidFill>
                  <a:srgbClr val="FF0000"/>
                </a:solidFill>
                <a:ea typeface="隶书" panose="02010509060101010101" pitchFamily="49" charset="-122"/>
              </a:rPr>
              <a:t>8.2  8086 </a:t>
            </a:r>
            <a:r>
              <a:rPr lang="en-US" altLang="en-US" sz="3200" b="1" dirty="0" err="1">
                <a:solidFill>
                  <a:srgbClr val="FF0000"/>
                </a:solidFill>
                <a:ea typeface="隶书" panose="02010509060101010101" pitchFamily="49" charset="-122"/>
              </a:rPr>
              <a:t>CPU的中断系统</a:t>
            </a:r>
            <a:endParaRPr lang="zh-CN" altLang="en-US" sz="3200" b="1" dirty="0">
              <a:solidFill>
                <a:srgbClr val="FF0000"/>
              </a:solidFill>
              <a:ea typeface="隶书" panose="02010509060101010101" pitchFamily="49" charset="-122"/>
            </a:endParaRPr>
          </a:p>
        </p:txBody>
      </p:sp>
      <p:sp>
        <p:nvSpPr>
          <p:cNvPr id="2" name="矩形 1"/>
          <p:cNvSpPr/>
          <p:nvPr/>
        </p:nvSpPr>
        <p:spPr>
          <a:xfrm>
            <a:off x="224195" y="4899918"/>
            <a:ext cx="8537915" cy="830997"/>
          </a:xfrm>
          <a:prstGeom prst="rect">
            <a:avLst/>
          </a:prstGeom>
        </p:spPr>
        <p:txBody>
          <a:bodyPr wrap="none">
            <a:spAutoFit/>
          </a:bodyPr>
          <a:lstStyle/>
          <a:p>
            <a:r>
              <a:rPr lang="zh-CN" altLang="en-US" sz="2400" b="1" dirty="0">
                <a:solidFill>
                  <a:srgbClr val="FF00FF"/>
                </a:solidFill>
                <a:latin typeface="Arial" panose="020B0604020202020204" pitchFamily="34" charset="0"/>
              </a:rPr>
              <a:t>中断向量的地址</a:t>
            </a:r>
            <a:r>
              <a:rPr lang="zh-CN" altLang="en-US" sz="2400" b="1" dirty="0">
                <a:latin typeface="Arial" panose="020B0604020202020204" pitchFamily="34" charset="0"/>
              </a:rPr>
              <a:t>：中断类型号对应的中断向量在中断向量表中</a:t>
            </a:r>
            <a:endParaRPr lang="en-US" altLang="zh-CN" sz="2400" b="1" dirty="0">
              <a:latin typeface="Arial" panose="020B0604020202020204" pitchFamily="34" charset="0"/>
            </a:endParaRPr>
          </a:p>
          <a:p>
            <a:r>
              <a:rPr lang="en-US" altLang="zh-CN" sz="2400" b="1" dirty="0">
                <a:latin typeface="Arial" panose="020B0604020202020204" pitchFamily="34" charset="0"/>
              </a:rPr>
              <a:t> </a:t>
            </a:r>
            <a:r>
              <a:rPr lang="zh-CN" altLang="en-US" sz="2400" b="1" dirty="0">
                <a:latin typeface="Arial" panose="020B0604020202020204" pitchFamily="34" charset="0"/>
              </a:rPr>
              <a:t>的地址。</a:t>
            </a:r>
            <a:endParaRPr lang="zh-CN" altLang="en-US" sz="2400"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7D45274-DBB6-90C6-3889-952E0188997E}"/>
              </a:ext>
            </a:extLst>
          </p:cNvPr>
          <p:cNvSpPr/>
          <p:nvPr/>
        </p:nvSpPr>
        <p:spPr>
          <a:xfrm>
            <a:off x="1044575" y="188913"/>
            <a:ext cx="6696075"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en-US" sz="3200" b="1" dirty="0">
                <a:solidFill>
                  <a:srgbClr val="FF0000"/>
                </a:solidFill>
                <a:ea typeface="隶书" panose="02010509060101010101" pitchFamily="49" charset="-122"/>
              </a:rPr>
              <a:t>8.2  8086 </a:t>
            </a:r>
            <a:r>
              <a:rPr lang="en-US" altLang="en-US" sz="3200" b="1" dirty="0" err="1">
                <a:solidFill>
                  <a:srgbClr val="FF0000"/>
                </a:solidFill>
                <a:ea typeface="隶书" panose="02010509060101010101" pitchFamily="49" charset="-122"/>
              </a:rPr>
              <a:t>CPU的中断系统</a:t>
            </a:r>
            <a:endParaRPr lang="zh-CN" altLang="en-US" sz="3200" b="1" dirty="0">
              <a:solidFill>
                <a:srgbClr val="FF0000"/>
              </a:solidFill>
              <a:ea typeface="隶书" panose="02010509060101010101" pitchFamily="49" charset="-122"/>
            </a:endParaRPr>
          </a:p>
        </p:txBody>
      </p:sp>
      <p:pic>
        <p:nvPicPr>
          <p:cNvPr id="5" name="图片 4">
            <a:extLst>
              <a:ext uri="{FF2B5EF4-FFF2-40B4-BE49-F238E27FC236}">
                <a16:creationId xmlns:a16="http://schemas.microsoft.com/office/drawing/2014/main" id="{AC521C0A-4D12-45A7-AE62-7A384007D29B}"/>
              </a:ext>
            </a:extLst>
          </p:cNvPr>
          <p:cNvPicPr>
            <a:picLocks noChangeAspect="1"/>
          </p:cNvPicPr>
          <p:nvPr/>
        </p:nvPicPr>
        <p:blipFill>
          <a:blip r:embed="rId2"/>
          <a:stretch>
            <a:fillRect/>
          </a:stretch>
        </p:blipFill>
        <p:spPr>
          <a:xfrm>
            <a:off x="683568" y="907194"/>
            <a:ext cx="3096057" cy="5782482"/>
          </a:xfrm>
          <a:prstGeom prst="rect">
            <a:avLst/>
          </a:prstGeom>
        </p:spPr>
      </p:pic>
      <p:sp>
        <p:nvSpPr>
          <p:cNvPr id="7" name="文本框 6">
            <a:extLst>
              <a:ext uri="{FF2B5EF4-FFF2-40B4-BE49-F238E27FC236}">
                <a16:creationId xmlns:a16="http://schemas.microsoft.com/office/drawing/2014/main" id="{321A2E75-ACF8-4179-828F-92BE5FAE1787}"/>
              </a:ext>
            </a:extLst>
          </p:cNvPr>
          <p:cNvSpPr txBox="1"/>
          <p:nvPr/>
        </p:nvSpPr>
        <p:spPr>
          <a:xfrm>
            <a:off x="3752935" y="2132856"/>
            <a:ext cx="5184864" cy="2308324"/>
          </a:xfrm>
          <a:prstGeom prst="rect">
            <a:avLst/>
          </a:prstGeom>
          <a:noFill/>
        </p:spPr>
        <p:txBody>
          <a:bodyPr wrap="square">
            <a:spAutoFit/>
          </a:bodyPr>
          <a:lstStyle/>
          <a:p>
            <a:pPr marL="361950" indent="-361950" algn="just">
              <a:buClr>
                <a:srgbClr val="0000FF"/>
              </a:buClr>
              <a:buFont typeface="Wingdings" panose="05000000000000000000" pitchFamily="2" charset="2"/>
              <a:buChar char="p"/>
            </a:pPr>
            <a:r>
              <a:rPr lang="zh-CN" altLang="en-US" sz="2400" b="1" dirty="0">
                <a:latin typeface="Arial" panose="020B0604020202020204" pitchFamily="34" charset="0"/>
              </a:rPr>
              <a:t>类型号为</a:t>
            </a:r>
            <a:r>
              <a:rPr lang="en-US" altLang="zh-CN" sz="2400" b="1" dirty="0">
                <a:latin typeface="Arial" panose="020B0604020202020204" pitchFamily="34" charset="0"/>
              </a:rPr>
              <a:t>0~4</a:t>
            </a:r>
            <a:r>
              <a:rPr lang="zh-CN" altLang="en-US" sz="2400" b="1" dirty="0">
                <a:latin typeface="Arial" panose="020B0604020202020204" pitchFamily="34" charset="0"/>
              </a:rPr>
              <a:t>的专用中断的中断向量分别存放在</a:t>
            </a:r>
            <a:r>
              <a:rPr lang="en-US" altLang="zh-CN" sz="2400" b="1" dirty="0">
                <a:latin typeface="Arial" panose="020B0604020202020204" pitchFamily="34" charset="0"/>
              </a:rPr>
              <a:t>00H</a:t>
            </a:r>
            <a:r>
              <a:rPr lang="zh-CN" altLang="en-US" sz="2400" b="1" dirty="0">
                <a:latin typeface="Arial" panose="020B0604020202020204" pitchFamily="34" charset="0"/>
              </a:rPr>
              <a:t>、</a:t>
            </a:r>
            <a:r>
              <a:rPr lang="en-US" altLang="zh-CN" sz="2400" b="1" dirty="0">
                <a:latin typeface="Arial" panose="020B0604020202020204" pitchFamily="34" charset="0"/>
              </a:rPr>
              <a:t>04H</a:t>
            </a:r>
            <a:r>
              <a:rPr lang="zh-CN" altLang="en-US" sz="2400" b="1" dirty="0">
                <a:latin typeface="Arial" panose="020B0604020202020204" pitchFamily="34" charset="0"/>
              </a:rPr>
              <a:t>、</a:t>
            </a:r>
            <a:r>
              <a:rPr lang="en-US" altLang="zh-CN" sz="2400" b="1" dirty="0">
                <a:latin typeface="Arial" panose="020B0604020202020204" pitchFamily="34" charset="0"/>
              </a:rPr>
              <a:t>08H</a:t>
            </a:r>
            <a:r>
              <a:rPr lang="zh-CN" altLang="en-US" sz="2400" b="1" dirty="0">
                <a:latin typeface="Arial" panose="020B0604020202020204" pitchFamily="34" charset="0"/>
              </a:rPr>
              <a:t>、</a:t>
            </a:r>
            <a:r>
              <a:rPr lang="en-US" altLang="zh-CN" sz="2400" b="1" dirty="0">
                <a:latin typeface="Arial" panose="020B0604020202020204" pitchFamily="34" charset="0"/>
              </a:rPr>
              <a:t>0CH</a:t>
            </a:r>
            <a:r>
              <a:rPr lang="zh-CN" altLang="en-US" sz="2400" b="1" dirty="0">
                <a:latin typeface="Arial" panose="020B0604020202020204" pitchFamily="34" charset="0"/>
              </a:rPr>
              <a:t>和</a:t>
            </a:r>
            <a:r>
              <a:rPr lang="en-US" altLang="zh-CN" sz="2400" b="1" dirty="0">
                <a:latin typeface="Arial" panose="020B0604020202020204" pitchFamily="34" charset="0"/>
              </a:rPr>
              <a:t>10H</a:t>
            </a:r>
            <a:r>
              <a:rPr lang="zh-CN" altLang="en-US" sz="2400" b="1" dirty="0">
                <a:latin typeface="Arial" panose="020B0604020202020204" pitchFamily="34" charset="0"/>
              </a:rPr>
              <a:t>开始的</a:t>
            </a:r>
            <a:r>
              <a:rPr lang="en-US" altLang="zh-CN" sz="2400" b="1" dirty="0">
                <a:latin typeface="Arial" panose="020B0604020202020204" pitchFamily="34" charset="0"/>
              </a:rPr>
              <a:t>4</a:t>
            </a:r>
            <a:r>
              <a:rPr lang="zh-CN" altLang="en-US" sz="2400" b="1" dirty="0">
                <a:latin typeface="Arial" panose="020B0604020202020204" pitchFamily="34" charset="0"/>
              </a:rPr>
              <a:t>个连续单元中，规定</a:t>
            </a:r>
            <a:r>
              <a:rPr lang="en-US" altLang="zh-CN" sz="2400" b="1" dirty="0">
                <a:latin typeface="Arial" panose="020B0604020202020204" pitchFamily="34" charset="0"/>
              </a:rPr>
              <a:t>IP</a:t>
            </a:r>
            <a:r>
              <a:rPr lang="zh-CN" altLang="en-US" sz="2400" b="1" dirty="0">
                <a:latin typeface="Arial" panose="020B0604020202020204" pitchFamily="34" charset="0"/>
              </a:rPr>
              <a:t>在前，</a:t>
            </a:r>
            <a:r>
              <a:rPr lang="en-US" altLang="zh-CN" sz="2400" b="1" dirty="0">
                <a:latin typeface="Arial" panose="020B0604020202020204" pitchFamily="34" charset="0"/>
              </a:rPr>
              <a:t>CS</a:t>
            </a:r>
            <a:r>
              <a:rPr lang="zh-CN" altLang="en-US" sz="2400" b="1" dirty="0">
                <a:latin typeface="Arial" panose="020B0604020202020204" pitchFamily="34" charset="0"/>
              </a:rPr>
              <a:t>在后。</a:t>
            </a:r>
            <a:endParaRPr lang="en-US" altLang="zh-CN" sz="2400" b="1" dirty="0">
              <a:latin typeface="Arial" panose="020B0604020202020204" pitchFamily="34" charset="0"/>
            </a:endParaRPr>
          </a:p>
          <a:p>
            <a:pPr marL="361950" indent="-361950" algn="just">
              <a:buClr>
                <a:srgbClr val="0000FF"/>
              </a:buClr>
              <a:buFont typeface="Wingdings" panose="05000000000000000000" pitchFamily="2" charset="2"/>
              <a:buChar char="p"/>
            </a:pPr>
            <a:r>
              <a:rPr lang="zh-CN" altLang="en-US" sz="2400" b="1" dirty="0">
                <a:latin typeface="Arial" panose="020B0604020202020204" pitchFamily="34" charset="0"/>
              </a:rPr>
              <a:t>将中断类型号</a:t>
            </a:r>
            <a:r>
              <a:rPr lang="en-US" altLang="zh-CN" sz="2400" b="1" dirty="0">
                <a:latin typeface="Arial" panose="020B0604020202020204" pitchFamily="34" charset="0"/>
              </a:rPr>
              <a:t>n</a:t>
            </a:r>
            <a:r>
              <a:rPr lang="zh-CN" altLang="en-US" sz="2400" b="1" dirty="0">
                <a:latin typeface="Arial" panose="020B0604020202020204" pitchFamily="34" charset="0"/>
              </a:rPr>
              <a:t>乘以</a:t>
            </a:r>
            <a:r>
              <a:rPr lang="en-US" altLang="zh-CN" sz="2400" b="1" dirty="0">
                <a:latin typeface="Arial" panose="020B0604020202020204" pitchFamily="34" charset="0"/>
              </a:rPr>
              <a:t>4</a:t>
            </a:r>
            <a:r>
              <a:rPr lang="zh-CN" altLang="en-US" sz="2400" b="1" dirty="0">
                <a:latin typeface="Arial" panose="020B0604020202020204" pitchFamily="34" charset="0"/>
              </a:rPr>
              <a:t>就能找到规定类型的中断向量。</a:t>
            </a:r>
          </a:p>
        </p:txBody>
      </p:sp>
    </p:spTree>
    <p:extLst>
      <p:ext uri="{BB962C8B-B14F-4D97-AF65-F5344CB8AC3E}">
        <p14:creationId xmlns:p14="http://schemas.microsoft.com/office/powerpoint/2010/main" val="3784997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文本框 309249"/>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09252" name="矩形 309251"/>
          <p:cNvSpPr/>
          <p:nvPr/>
        </p:nvSpPr>
        <p:spPr>
          <a:xfrm>
            <a:off x="1044575" y="188913"/>
            <a:ext cx="6696075"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en-US" sz="3200" b="1">
                <a:solidFill>
                  <a:srgbClr val="FF0000"/>
                </a:solidFill>
                <a:ea typeface="隶书" panose="02010509060101010101" pitchFamily="49" charset="-122"/>
              </a:rPr>
              <a:t>8.2  8086 CPU的中断系统</a:t>
            </a:r>
            <a:endParaRPr lang="zh-CN" altLang="en-US" sz="3200" b="1" dirty="0">
              <a:solidFill>
                <a:srgbClr val="FF0000"/>
              </a:solidFill>
              <a:ea typeface="隶书" panose="02010509060101010101" pitchFamily="49" charset="-122"/>
            </a:endParaRPr>
          </a:p>
        </p:txBody>
      </p:sp>
      <p:pic>
        <p:nvPicPr>
          <p:cNvPr id="309257" name="图片 309256" descr="wps_clip_image-11432"/>
          <p:cNvPicPr>
            <a:picLocks noChangeAspect="1"/>
          </p:cNvPicPr>
          <p:nvPr/>
        </p:nvPicPr>
        <p:blipFill>
          <a:blip r:embed="rId2"/>
          <a:stretch>
            <a:fillRect/>
          </a:stretch>
        </p:blipFill>
        <p:spPr>
          <a:xfrm>
            <a:off x="4759242" y="2506105"/>
            <a:ext cx="3742190" cy="2952328"/>
          </a:xfrm>
          <a:prstGeom prst="rect">
            <a:avLst/>
          </a:prstGeom>
          <a:noFill/>
          <a:ln w="9525">
            <a:noFill/>
          </a:ln>
        </p:spPr>
      </p:pic>
      <p:sp>
        <p:nvSpPr>
          <p:cNvPr id="3" name="文本框 2">
            <a:extLst>
              <a:ext uri="{FF2B5EF4-FFF2-40B4-BE49-F238E27FC236}">
                <a16:creationId xmlns:a16="http://schemas.microsoft.com/office/drawing/2014/main" id="{F92A9BC3-0B24-206F-7689-413390C8C076}"/>
              </a:ext>
            </a:extLst>
          </p:cNvPr>
          <p:cNvSpPr txBox="1"/>
          <p:nvPr/>
        </p:nvSpPr>
        <p:spPr>
          <a:xfrm>
            <a:off x="620204" y="812710"/>
            <a:ext cx="7912608" cy="1200329"/>
          </a:xfrm>
          <a:prstGeom prst="rect">
            <a:avLst/>
          </a:prstGeom>
          <a:noFill/>
        </p:spPr>
        <p:txBody>
          <a:bodyPr wrap="square">
            <a:spAutoFit/>
          </a:bodyPr>
          <a:lstStyle/>
          <a:p>
            <a:r>
              <a:rPr lang="en-US" altLang="zh-CN" sz="2400" b="1" dirty="0">
                <a:solidFill>
                  <a:srgbClr val="0000FF"/>
                </a:solidFill>
                <a:latin typeface="Arial" panose="020B0604020202020204" pitchFamily="34" charset="0"/>
              </a:rPr>
              <a:t>【</a:t>
            </a:r>
            <a:r>
              <a:rPr lang="zh-CN" altLang="en-US" sz="2400" b="1" dirty="0">
                <a:solidFill>
                  <a:srgbClr val="0000FF"/>
                </a:solidFill>
                <a:latin typeface="Arial" panose="020B0604020202020204" pitchFamily="34" charset="0"/>
              </a:rPr>
              <a:t>例 </a:t>
            </a:r>
            <a:r>
              <a:rPr lang="en-US" altLang="zh-CN" sz="2400" b="1" dirty="0">
                <a:solidFill>
                  <a:srgbClr val="0000FF"/>
                </a:solidFill>
                <a:latin typeface="Arial" panose="020B0604020202020204" pitchFamily="34" charset="0"/>
              </a:rPr>
              <a:t>8.1】</a:t>
            </a:r>
            <a:r>
              <a:rPr lang="zh-CN" altLang="en-US" sz="2400" b="1" dirty="0">
                <a:latin typeface="Arial" panose="020B0604020202020204" pitchFamily="34" charset="0"/>
              </a:rPr>
              <a:t>已知某中断源的中断类型号为 </a:t>
            </a:r>
            <a:r>
              <a:rPr lang="en-US" altLang="zh-CN" sz="2400" b="1" dirty="0">
                <a:latin typeface="Arial" panose="020B0604020202020204" pitchFamily="34" charset="0"/>
              </a:rPr>
              <a:t>n=40H</a:t>
            </a:r>
            <a:r>
              <a:rPr lang="zh-CN" altLang="en-US" sz="2400" b="1" dirty="0">
                <a:latin typeface="Arial" panose="020B0604020202020204" pitchFamily="34" charset="0"/>
              </a:rPr>
              <a:t>，其中断向量为 </a:t>
            </a:r>
            <a:r>
              <a:rPr lang="en-US" altLang="zh-CN" sz="2400" b="1" dirty="0">
                <a:latin typeface="Arial" panose="020B0604020202020204" pitchFamily="34" charset="0"/>
              </a:rPr>
              <a:t>1234:5678H</a:t>
            </a:r>
            <a:r>
              <a:rPr lang="zh-CN" altLang="en-US" sz="2400" b="1" dirty="0">
                <a:latin typeface="Arial" panose="020B0604020202020204" pitchFamily="34" charset="0"/>
              </a:rPr>
              <a:t>，分析该中断向量是如何存放在中断向量表中的？ </a:t>
            </a:r>
          </a:p>
        </p:txBody>
      </p:sp>
      <p:sp>
        <p:nvSpPr>
          <p:cNvPr id="5" name="文本框 4">
            <a:extLst>
              <a:ext uri="{FF2B5EF4-FFF2-40B4-BE49-F238E27FC236}">
                <a16:creationId xmlns:a16="http://schemas.microsoft.com/office/drawing/2014/main" id="{521EB109-BF59-9FFF-C5A0-0BAE2F99E48E}"/>
              </a:ext>
            </a:extLst>
          </p:cNvPr>
          <p:cNvSpPr txBox="1"/>
          <p:nvPr/>
        </p:nvSpPr>
        <p:spPr>
          <a:xfrm>
            <a:off x="323529" y="2045326"/>
            <a:ext cx="4069084" cy="4216539"/>
          </a:xfrm>
          <a:prstGeom prst="rect">
            <a:avLst/>
          </a:prstGeom>
          <a:solidFill>
            <a:schemeClr val="accent2">
              <a:lumMod val="20000"/>
              <a:lumOff val="80000"/>
            </a:schemeClr>
          </a:solidFill>
        </p:spPr>
        <p:txBody>
          <a:bodyPr wrap="square">
            <a:spAutoFit/>
          </a:bodyPr>
          <a:lstStyle/>
          <a:p>
            <a:r>
              <a:rPr lang="zh-CN" altLang="en-US" sz="2400" b="1" dirty="0">
                <a:latin typeface="Arial" panose="020B0604020202020204" pitchFamily="34" charset="0"/>
              </a:rPr>
              <a:t>分析：中断类型号 </a:t>
            </a:r>
            <a:r>
              <a:rPr lang="en-US" altLang="zh-CN" sz="2400" b="1" dirty="0">
                <a:latin typeface="Arial" panose="020B0604020202020204" pitchFamily="34" charset="0"/>
              </a:rPr>
              <a:t>n=40H</a:t>
            </a:r>
            <a:r>
              <a:rPr lang="zh-CN" altLang="en-US" sz="2400" b="1" dirty="0">
                <a:latin typeface="Arial" panose="020B0604020202020204" pitchFamily="34" charset="0"/>
              </a:rPr>
              <a:t>，故其中断向量存放在中断向量表中 </a:t>
            </a:r>
            <a:r>
              <a:rPr lang="en-US" altLang="zh-CN" sz="2400" b="1" dirty="0">
                <a:latin typeface="Arial" panose="020B0604020202020204" pitchFamily="34" charset="0"/>
              </a:rPr>
              <a:t>4n </a:t>
            </a:r>
            <a:r>
              <a:rPr lang="zh-CN" altLang="en-US" sz="2400" b="1" dirty="0">
                <a:latin typeface="Arial" panose="020B0604020202020204" pitchFamily="34" charset="0"/>
              </a:rPr>
              <a:t>开始的连续 </a:t>
            </a:r>
            <a:r>
              <a:rPr lang="en-US" altLang="zh-CN" sz="2400" b="1" dirty="0">
                <a:latin typeface="Arial" panose="020B0604020202020204" pitchFamily="34" charset="0"/>
              </a:rPr>
              <a:t>4 </a:t>
            </a:r>
            <a:r>
              <a:rPr lang="zh-CN" altLang="en-US" sz="2400" b="1" dirty="0">
                <a:latin typeface="Arial" panose="020B0604020202020204" pitchFamily="34" charset="0"/>
              </a:rPr>
              <a:t>个字 节，</a:t>
            </a:r>
            <a:r>
              <a:rPr lang="en-US" altLang="zh-CN" sz="2400" b="1" dirty="0">
                <a:latin typeface="Arial" panose="020B0604020202020204" pitchFamily="34" charset="0"/>
              </a:rPr>
              <a:t>4n </a:t>
            </a:r>
            <a:r>
              <a:rPr lang="zh-CN" altLang="en-US" sz="2400" b="1" dirty="0">
                <a:latin typeface="Arial" panose="020B0604020202020204" pitchFamily="34" charset="0"/>
              </a:rPr>
              <a:t>和 </a:t>
            </a:r>
            <a:r>
              <a:rPr lang="en-US" altLang="zh-CN" sz="2400" b="1" dirty="0">
                <a:latin typeface="Arial" panose="020B0604020202020204" pitchFamily="34" charset="0"/>
              </a:rPr>
              <a:t>4n+1 </a:t>
            </a:r>
            <a:r>
              <a:rPr lang="zh-CN" altLang="en-US" sz="2400" b="1" dirty="0">
                <a:latin typeface="Arial" panose="020B0604020202020204" pitchFamily="34" charset="0"/>
              </a:rPr>
              <a:t>存放中断向量的偏移地址，</a:t>
            </a:r>
            <a:r>
              <a:rPr lang="en-US" altLang="zh-CN" sz="2400" b="1" dirty="0">
                <a:latin typeface="Arial" panose="020B0604020202020204" pitchFamily="34" charset="0"/>
              </a:rPr>
              <a:t>4n+2 </a:t>
            </a:r>
            <a:r>
              <a:rPr lang="zh-CN" altLang="en-US" sz="2400" b="1" dirty="0">
                <a:latin typeface="Arial" panose="020B0604020202020204" pitchFamily="34" charset="0"/>
              </a:rPr>
              <a:t>和 </a:t>
            </a:r>
            <a:r>
              <a:rPr lang="en-US" altLang="zh-CN" sz="2400" b="1" dirty="0">
                <a:latin typeface="Arial" panose="020B0604020202020204" pitchFamily="34" charset="0"/>
              </a:rPr>
              <a:t>4n+3 </a:t>
            </a:r>
            <a:r>
              <a:rPr lang="zh-CN" altLang="en-US" sz="2400" b="1" dirty="0">
                <a:latin typeface="Arial" panose="020B0604020202020204" pitchFamily="34" charset="0"/>
              </a:rPr>
              <a:t>存放中断向量的段地址</a:t>
            </a:r>
            <a:r>
              <a:rPr lang="zh-CN" altLang="en-US" sz="2800" dirty="0"/>
              <a:t>。</a:t>
            </a:r>
            <a:endParaRPr lang="en-US" altLang="zh-CN" sz="2800" dirty="0"/>
          </a:p>
          <a:p>
            <a:r>
              <a:rPr lang="en-US" altLang="zh-CN" sz="2400" b="1" dirty="0">
                <a:latin typeface="Arial" panose="020B0604020202020204" pitchFamily="34" charset="0"/>
              </a:rPr>
              <a:t>40H×4=100H</a:t>
            </a:r>
            <a:r>
              <a:rPr lang="zh-CN" altLang="en-US" sz="2400" b="1" dirty="0">
                <a:latin typeface="Arial" panose="020B0604020202020204" pitchFamily="34" charset="0"/>
              </a:rPr>
              <a:t>，即在 </a:t>
            </a:r>
            <a:r>
              <a:rPr lang="en-US" altLang="zh-CN" sz="2400" b="1" dirty="0">
                <a:latin typeface="Arial" panose="020B0604020202020204" pitchFamily="34" charset="0"/>
              </a:rPr>
              <a:t>00100H </a:t>
            </a:r>
            <a:r>
              <a:rPr lang="zh-CN" altLang="en-US" sz="2400" b="1" dirty="0">
                <a:latin typeface="Arial" panose="020B0604020202020204" pitchFamily="34" charset="0"/>
              </a:rPr>
              <a:t>开始的连续 </a:t>
            </a:r>
            <a:r>
              <a:rPr lang="en-US" altLang="zh-CN" sz="2400" b="1" dirty="0">
                <a:latin typeface="Arial" panose="020B0604020202020204" pitchFamily="34" charset="0"/>
              </a:rPr>
              <a:t>4 </a:t>
            </a:r>
            <a:r>
              <a:rPr lang="zh-CN" altLang="en-US" sz="2400" b="1" dirty="0">
                <a:latin typeface="Arial" panose="020B0604020202020204" pitchFamily="34" charset="0"/>
              </a:rPr>
              <a:t>个字节单元中依次存放 </a:t>
            </a:r>
            <a:r>
              <a:rPr lang="en-US" altLang="zh-CN" sz="2400" b="1" dirty="0">
                <a:latin typeface="Arial" panose="020B0604020202020204" pitchFamily="34" charset="0"/>
              </a:rPr>
              <a:t>78H</a:t>
            </a:r>
            <a:r>
              <a:rPr lang="zh-CN" altLang="en-US" sz="2400" b="1" dirty="0">
                <a:latin typeface="Arial" panose="020B0604020202020204" pitchFamily="34" charset="0"/>
              </a:rPr>
              <a:t>、</a:t>
            </a:r>
            <a:r>
              <a:rPr lang="en-US" altLang="zh-CN" sz="2400" b="1" dirty="0">
                <a:latin typeface="Arial" panose="020B0604020202020204" pitchFamily="34" charset="0"/>
              </a:rPr>
              <a:t>56H</a:t>
            </a:r>
            <a:r>
              <a:rPr lang="zh-CN" altLang="en-US" sz="2400" b="1" dirty="0">
                <a:latin typeface="Arial" panose="020B0604020202020204" pitchFamily="34" charset="0"/>
              </a:rPr>
              <a:t>、</a:t>
            </a:r>
            <a:r>
              <a:rPr lang="en-US" altLang="zh-CN" sz="2400" b="1" dirty="0">
                <a:latin typeface="Arial" panose="020B0604020202020204" pitchFamily="34" charset="0"/>
              </a:rPr>
              <a:t>34H</a:t>
            </a:r>
            <a:r>
              <a:rPr lang="zh-CN" altLang="en-US" sz="2400" b="1" dirty="0">
                <a:latin typeface="Arial" panose="020B0604020202020204" pitchFamily="34" charset="0"/>
              </a:rPr>
              <a:t>、</a:t>
            </a:r>
            <a:r>
              <a:rPr lang="en-US" altLang="zh-CN" sz="2400" b="1" dirty="0">
                <a:latin typeface="Arial" panose="020B0604020202020204" pitchFamily="34" charset="0"/>
              </a:rPr>
              <a:t>12H</a:t>
            </a:r>
            <a:r>
              <a:rPr lang="zh-CN" altLang="en-US" sz="2400" b="1" dirty="0">
                <a:latin typeface="Arial" panose="020B0604020202020204" pitchFamily="34" charset="0"/>
              </a:rPr>
              <a:t>，</a:t>
            </a:r>
            <a:endParaRPr lang="en-US" altLang="zh-CN" sz="2400" b="1" dirty="0">
              <a:latin typeface="Arial" panose="020B0604020202020204" pitchFamily="34" charset="0"/>
            </a:endParaRPr>
          </a:p>
          <a:p>
            <a:r>
              <a:rPr lang="zh-CN" altLang="en-US" sz="2400" b="1" dirty="0">
                <a:latin typeface="Arial" panose="020B0604020202020204" pitchFamily="34" charset="0"/>
              </a:rPr>
              <a:t>具体如图</a:t>
            </a:r>
            <a:r>
              <a:rPr lang="en-US" altLang="zh-CN" sz="2400" b="1" dirty="0">
                <a:latin typeface="Arial" panose="020B0604020202020204" pitchFamily="34" charset="0"/>
              </a:rPr>
              <a:t>8.10</a:t>
            </a:r>
            <a:r>
              <a:rPr lang="zh-CN" altLang="en-US" sz="2400" b="1" dirty="0">
                <a:latin typeface="Arial" panose="020B0604020202020204" pitchFamily="34" charset="0"/>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标题 271361"/>
          <p:cNvSpPr>
            <a:spLocks noGrp="1"/>
          </p:cNvSpPr>
          <p:nvPr>
            <p:ph type="title"/>
          </p:nvPr>
        </p:nvSpPr>
        <p:spPr>
          <a:xfrm>
            <a:off x="1691680" y="196321"/>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271363" name="文本框 271362"/>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271364" name="文本框 271363"/>
          <p:cNvSpPr txBox="1"/>
          <p:nvPr/>
        </p:nvSpPr>
        <p:spPr>
          <a:xfrm>
            <a:off x="395511" y="756443"/>
            <a:ext cx="8208962" cy="461665"/>
          </a:xfrm>
          <a:prstGeom prst="rect">
            <a:avLst/>
          </a:prstGeom>
          <a:noFill/>
          <a:ln w="9525">
            <a:noFill/>
          </a:ln>
        </p:spPr>
        <p:txBody>
          <a:bodyPr wrap="square">
            <a:spAutoFit/>
          </a:bodyPr>
          <a:lstStyle/>
          <a:p>
            <a:pPr lvl="0" eaLnBrk="0" hangingPunct="0"/>
            <a:r>
              <a:rPr lang="zh-CN" altLang="en-US" sz="2400" b="1" dirty="0">
                <a:latin typeface="Arial" panose="020B0604020202020204" pitchFamily="34" charset="0"/>
                <a:ea typeface="宋体" panose="02010600030101010101" pitchFamily="2" charset="-122"/>
              </a:rPr>
              <a:t>一、</a:t>
            </a:r>
            <a:r>
              <a:rPr lang="en-US" altLang="en-US" sz="2400" b="1" dirty="0">
                <a:latin typeface="Arial" panose="020B0604020202020204" pitchFamily="34" charset="0"/>
                <a:ea typeface="宋体" panose="02010600030101010101" pitchFamily="2" charset="-122"/>
              </a:rPr>
              <a:t>8259A的内部结构和引脚</a:t>
            </a:r>
            <a:endParaRPr lang="zh-CN" altLang="en-US" sz="2400" b="1" dirty="0">
              <a:latin typeface="Arial" panose="020B0604020202020204" pitchFamily="34" charset="0"/>
              <a:ea typeface="宋体" panose="02010600030101010101" pitchFamily="2" charset="-122"/>
            </a:endParaRPr>
          </a:p>
        </p:txBody>
      </p:sp>
      <p:sp>
        <p:nvSpPr>
          <p:cNvPr id="3" name="文本框 2">
            <a:extLst>
              <a:ext uri="{FF2B5EF4-FFF2-40B4-BE49-F238E27FC236}">
                <a16:creationId xmlns:a16="http://schemas.microsoft.com/office/drawing/2014/main" id="{12CD7C1B-5AB0-94D0-D3B8-9BAB295DC4A0}"/>
              </a:ext>
            </a:extLst>
          </p:cNvPr>
          <p:cNvSpPr txBox="1"/>
          <p:nvPr/>
        </p:nvSpPr>
        <p:spPr>
          <a:xfrm>
            <a:off x="359320" y="1124744"/>
            <a:ext cx="8173491" cy="1938992"/>
          </a:xfrm>
          <a:prstGeom prst="rect">
            <a:avLst/>
          </a:prstGeom>
          <a:solidFill>
            <a:schemeClr val="bg1"/>
          </a:solidFill>
        </p:spPr>
        <p:txBody>
          <a:bodyPr wrap="square">
            <a:spAutoFit/>
          </a:bodyPr>
          <a:lstStyle/>
          <a:p>
            <a:pPr lvl="0" eaLnBrk="0" hangingPunct="0"/>
            <a:r>
              <a:rPr lang="en-US" altLang="zh-CN" sz="2400" dirty="0">
                <a:solidFill>
                  <a:srgbClr val="0000FF"/>
                </a:solidFill>
                <a:latin typeface="Arial" panose="020B0604020202020204" pitchFamily="34" charset="0"/>
                <a:ea typeface="宋体" panose="02010600030101010101" pitchFamily="2" charset="-122"/>
              </a:rPr>
              <a:t>1．8259A的内部结构</a:t>
            </a:r>
          </a:p>
          <a:p>
            <a:pPr lvl="0" eaLnBrk="0" hangingPunct="0"/>
            <a:r>
              <a:rPr lang="en-US" altLang="zh-CN" sz="2400"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rPr>
              <a:t>8259A芯片采用NMOS工艺制造，使用单一＋5V电源供电</a:t>
            </a:r>
            <a:r>
              <a:rPr lang="zh-CN" altLang="en-US" sz="2400" b="1" dirty="0">
                <a:latin typeface="Arial" panose="020B0604020202020204" pitchFamily="34" charset="0"/>
              </a:rPr>
              <a:t>。由数据总线缓冲器、读</a:t>
            </a:r>
            <a:r>
              <a:rPr lang="en-US" altLang="zh-CN" sz="2400" b="1" dirty="0">
                <a:latin typeface="Arial" panose="020B0604020202020204" pitchFamily="34" charset="0"/>
              </a:rPr>
              <a:t>/</a:t>
            </a:r>
            <a:r>
              <a:rPr lang="en-US" altLang="zh-CN" sz="2400" b="1" dirty="0" err="1">
                <a:latin typeface="Arial" panose="020B0604020202020204" pitchFamily="34" charset="0"/>
              </a:rPr>
              <a:t>写控制逻辑、级联缓冲</a:t>
            </a:r>
            <a:r>
              <a:rPr lang="en-US" altLang="zh-CN" sz="2400" b="1" dirty="0">
                <a:latin typeface="Arial" panose="020B0604020202020204" pitchFamily="34" charset="0"/>
              </a:rPr>
              <a:t>/比较器、中断请求寄存器IRR、中断屏蔽寄存器IMR、中断服务寄存器ISR、优先权分析器PR及控制逻辑8大部分组成。</a:t>
            </a:r>
            <a:endParaRPr lang="zh-CN" altLang="en-US" sz="2400" b="1" dirty="0">
              <a:latin typeface="Arial" panose="020B0604020202020204" pitchFamily="34" charset="0"/>
            </a:endParaRPr>
          </a:p>
        </p:txBody>
      </p:sp>
      <p:pic>
        <p:nvPicPr>
          <p:cNvPr id="6" name="图片 5" descr="wps_clip_image-12615">
            <a:extLst>
              <a:ext uri="{FF2B5EF4-FFF2-40B4-BE49-F238E27FC236}">
                <a16:creationId xmlns:a16="http://schemas.microsoft.com/office/drawing/2014/main" id="{B85FEC27-5337-44C5-923B-5214A380FDD9}"/>
              </a:ext>
            </a:extLst>
          </p:cNvPr>
          <p:cNvPicPr>
            <a:picLocks noChangeAspect="1"/>
          </p:cNvPicPr>
          <p:nvPr/>
        </p:nvPicPr>
        <p:blipFill>
          <a:blip r:embed="rId2"/>
          <a:stretch>
            <a:fillRect/>
          </a:stretch>
        </p:blipFill>
        <p:spPr>
          <a:xfrm>
            <a:off x="1115616" y="2992744"/>
            <a:ext cx="6192662" cy="389264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标题 311297"/>
          <p:cNvSpPr>
            <a:spLocks noGrp="1"/>
          </p:cNvSpPr>
          <p:nvPr>
            <p:ph type="title"/>
          </p:nvPr>
        </p:nvSpPr>
        <p:spPr>
          <a:xfrm>
            <a:off x="1619672" y="223838"/>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11299" name="文本框 311298"/>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11300" name="文本框 311299"/>
          <p:cNvSpPr txBox="1"/>
          <p:nvPr/>
        </p:nvSpPr>
        <p:spPr>
          <a:xfrm>
            <a:off x="5796135" y="908050"/>
            <a:ext cx="3456385" cy="4154984"/>
          </a:xfrm>
          <a:prstGeom prst="rect">
            <a:avLst/>
          </a:prstGeom>
          <a:noFill/>
          <a:ln w="9525">
            <a:noFill/>
          </a:ln>
        </p:spPr>
        <p:txBody>
          <a:bodyPr wrap="square">
            <a:spAutoFit/>
          </a:bodyPr>
          <a:lstStyle/>
          <a:p>
            <a:pPr lvl="0" eaLnBrk="0" hangingPunct="0"/>
            <a:r>
              <a:rPr lang="en-US" altLang="zh-CN" sz="2400" b="1" dirty="0">
                <a:solidFill>
                  <a:srgbClr val="FF00FF"/>
                </a:solidFill>
                <a:latin typeface="Arial" panose="020B0604020202020204" pitchFamily="34" charset="0"/>
                <a:ea typeface="宋体" panose="02010600030101010101" pitchFamily="2" charset="-122"/>
              </a:rPr>
              <a:t>（1）数据总线缓冲器</a:t>
            </a:r>
          </a:p>
          <a:p>
            <a:pPr lvl="0" eaLnBrk="0" hangingPunct="0"/>
            <a:r>
              <a:rPr lang="en-US" altLang="zh-CN" sz="2400"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rPr>
              <a:t>8位双向三态缓冲器，是8259A与系统数据总线的接口。通常连接低8位数据总线D</a:t>
            </a:r>
            <a:r>
              <a:rPr lang="en-US" altLang="zh-CN" sz="2400" b="1" baseline="-25000" dirty="0">
                <a:latin typeface="Arial" panose="020B0604020202020204" pitchFamily="34" charset="0"/>
              </a:rPr>
              <a:t>7</a:t>
            </a:r>
            <a:r>
              <a:rPr lang="en-US" altLang="zh-CN" sz="2400" b="1" dirty="0">
                <a:latin typeface="Arial" panose="020B0604020202020204" pitchFamily="34" charset="0"/>
              </a:rPr>
              <a:t>～D</a:t>
            </a:r>
            <a:r>
              <a:rPr lang="en-US" altLang="zh-CN" sz="2400" b="1" baseline="-25000" dirty="0">
                <a:latin typeface="Arial" panose="020B0604020202020204" pitchFamily="34" charset="0"/>
              </a:rPr>
              <a:t>0</a:t>
            </a:r>
            <a:r>
              <a:rPr lang="en-US" altLang="zh-CN" sz="2400" b="1" dirty="0">
                <a:latin typeface="Arial" panose="020B0604020202020204" pitchFamily="34" charset="0"/>
              </a:rPr>
              <a:t>。</a:t>
            </a:r>
          </a:p>
          <a:p>
            <a:pPr lvl="0" eaLnBrk="0" hangingPunct="0"/>
            <a:r>
              <a:rPr lang="en-US" altLang="zh-CN" sz="2400" b="1" dirty="0">
                <a:latin typeface="Arial" panose="020B0604020202020204" pitchFamily="34" charset="0"/>
              </a:rPr>
              <a:t>     CPU对8259A编程要写入的控制字</a:t>
            </a:r>
            <a:r>
              <a:rPr lang="zh-CN" altLang="en-US" sz="2400" b="1" dirty="0">
                <a:latin typeface="Arial" panose="020B0604020202020204" pitchFamily="34" charset="0"/>
              </a:rPr>
              <a:t>、读出</a:t>
            </a:r>
            <a:r>
              <a:rPr lang="en-US" altLang="zh-CN" sz="2400" b="1" dirty="0" err="1">
                <a:latin typeface="Arial" panose="020B0604020202020204" pitchFamily="34" charset="0"/>
              </a:rPr>
              <a:t>状态信息</a:t>
            </a:r>
            <a:r>
              <a:rPr lang="zh-CN" altLang="en-US" sz="2400" b="1" dirty="0">
                <a:latin typeface="Arial" panose="020B0604020202020204" pitchFamily="34" charset="0"/>
              </a:rPr>
              <a:t>都由其完成。</a:t>
            </a:r>
            <a:endParaRPr lang="en-US" altLang="zh-CN" sz="2400" b="1" dirty="0">
              <a:latin typeface="Arial" panose="020B0604020202020204" pitchFamily="34" charset="0"/>
            </a:endParaRPr>
          </a:p>
          <a:p>
            <a:pPr lvl="0" eaLnBrk="0" hangingPunct="0"/>
            <a:r>
              <a:rPr lang="en-US" altLang="zh-CN" sz="2400" b="1" dirty="0">
                <a:latin typeface="Arial" panose="020B0604020202020204" pitchFamily="34" charset="0"/>
              </a:rPr>
              <a:t>     8259A送至数据总线的中断类型号也是通过它传送的。</a:t>
            </a:r>
            <a:endParaRPr lang="zh-CN" altLang="en-US" sz="2400" b="1" dirty="0">
              <a:latin typeface="Arial" panose="020B0604020202020204" pitchFamily="34" charset="0"/>
            </a:endParaRPr>
          </a:p>
        </p:txBody>
      </p:sp>
      <p:pic>
        <p:nvPicPr>
          <p:cNvPr id="5" name="图片 4" descr="wps_clip_image-12615">
            <a:extLst>
              <a:ext uri="{FF2B5EF4-FFF2-40B4-BE49-F238E27FC236}">
                <a16:creationId xmlns:a16="http://schemas.microsoft.com/office/drawing/2014/main" id="{37E57CB1-3527-4186-94FD-441443CA3DF5}"/>
              </a:ext>
            </a:extLst>
          </p:cNvPr>
          <p:cNvPicPr>
            <a:picLocks noChangeAspect="1"/>
          </p:cNvPicPr>
          <p:nvPr/>
        </p:nvPicPr>
        <p:blipFill>
          <a:blip r:embed="rId2"/>
          <a:stretch>
            <a:fillRect/>
          </a:stretch>
        </p:blipFill>
        <p:spPr>
          <a:xfrm>
            <a:off x="35447" y="937765"/>
            <a:ext cx="5796096" cy="3643363"/>
          </a:xfrm>
          <a:prstGeom prst="rect">
            <a:avLst/>
          </a:prstGeom>
          <a:noFill/>
          <a:ln w="9525">
            <a:noFill/>
          </a:ln>
        </p:spPr>
      </p:pic>
      <p:sp>
        <p:nvSpPr>
          <p:cNvPr id="2" name="文本框 1">
            <a:extLst>
              <a:ext uri="{FF2B5EF4-FFF2-40B4-BE49-F238E27FC236}">
                <a16:creationId xmlns:a16="http://schemas.microsoft.com/office/drawing/2014/main" id="{85702689-0A9B-489B-BC21-826503F14AC9}"/>
              </a:ext>
            </a:extLst>
          </p:cNvPr>
          <p:cNvSpPr txBox="1"/>
          <p:nvPr/>
        </p:nvSpPr>
        <p:spPr>
          <a:xfrm>
            <a:off x="1115616" y="1196752"/>
            <a:ext cx="792088" cy="1008112"/>
          </a:xfrm>
          <a:prstGeom prst="rect">
            <a:avLst/>
          </a:prstGeom>
          <a:noFill/>
          <a:ln w="28575">
            <a:solidFill>
              <a:srgbClr val="FF0000"/>
            </a:solidFill>
            <a:prstDash val="lgDash"/>
          </a:ln>
        </p:spPr>
        <p:txBody>
          <a:bodyPr wrap="square" rtlCol="0">
            <a:spAutoFit/>
          </a:bodyPr>
          <a:lstStyle/>
          <a:p>
            <a:endParaRPr lang="zh-CN" altLang="en-US" dirty="0"/>
          </a:p>
        </p:txBody>
      </p:sp>
      <p:pic>
        <p:nvPicPr>
          <p:cNvPr id="7" name="图片 6">
            <a:extLst>
              <a:ext uri="{FF2B5EF4-FFF2-40B4-BE49-F238E27FC236}">
                <a16:creationId xmlns:a16="http://schemas.microsoft.com/office/drawing/2014/main" id="{55D1951F-63EB-4F6F-B9A4-8BAA1A50807C}"/>
              </a:ext>
            </a:extLst>
          </p:cNvPr>
          <p:cNvPicPr>
            <a:picLocks noChangeAspect="1"/>
          </p:cNvPicPr>
          <p:nvPr/>
        </p:nvPicPr>
        <p:blipFill>
          <a:blip r:embed="rId3"/>
          <a:stretch>
            <a:fillRect/>
          </a:stretch>
        </p:blipFill>
        <p:spPr>
          <a:xfrm>
            <a:off x="735794" y="4581128"/>
            <a:ext cx="4359994" cy="2023319"/>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标题 311297"/>
          <p:cNvSpPr>
            <a:spLocks noGrp="1"/>
          </p:cNvSpPr>
          <p:nvPr>
            <p:ph type="title"/>
          </p:nvPr>
        </p:nvSpPr>
        <p:spPr>
          <a:xfrm>
            <a:off x="1619672" y="223838"/>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11299" name="文本框 311298"/>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11300" name="文本框 311299"/>
          <p:cNvSpPr txBox="1"/>
          <p:nvPr/>
        </p:nvSpPr>
        <p:spPr>
          <a:xfrm>
            <a:off x="5868143" y="908050"/>
            <a:ext cx="3025031" cy="4524315"/>
          </a:xfrm>
          <a:prstGeom prst="rect">
            <a:avLst/>
          </a:prstGeom>
          <a:noFill/>
          <a:ln w="9525">
            <a:noFill/>
          </a:ln>
        </p:spPr>
        <p:txBody>
          <a:bodyPr wrap="square">
            <a:spAutoFit/>
          </a:bodyPr>
          <a:lstStyle/>
          <a:p>
            <a:pPr lvl="0" eaLnBrk="0" hangingPunct="0"/>
            <a:r>
              <a:rPr lang="en-US" altLang="zh-CN" sz="2400" b="1" dirty="0">
                <a:solidFill>
                  <a:srgbClr val="FF00FF"/>
                </a:solidFill>
                <a:latin typeface="Arial" panose="020B0604020202020204" pitchFamily="34" charset="0"/>
                <a:ea typeface="宋体" panose="02010600030101010101" pitchFamily="2" charset="-122"/>
              </a:rPr>
              <a:t>（2）读/</a:t>
            </a:r>
            <a:r>
              <a:rPr lang="en-US" altLang="zh-CN" sz="2400" b="1" dirty="0" err="1">
                <a:solidFill>
                  <a:srgbClr val="FF00FF"/>
                </a:solidFill>
                <a:latin typeface="Arial" panose="020B0604020202020204" pitchFamily="34" charset="0"/>
                <a:ea typeface="宋体" panose="02010600030101010101" pitchFamily="2" charset="-122"/>
              </a:rPr>
              <a:t>写控制逻辑</a:t>
            </a:r>
            <a:endParaRPr lang="en-US" altLang="zh-CN" sz="2400" b="1" dirty="0">
              <a:solidFill>
                <a:srgbClr val="FF00FF"/>
              </a:solidFill>
              <a:latin typeface="Arial" panose="020B0604020202020204" pitchFamily="34" charset="0"/>
              <a:ea typeface="宋体" panose="02010600030101010101" pitchFamily="2" charset="-122"/>
            </a:endParaRPr>
          </a:p>
          <a:p>
            <a:pPr lvl="0" eaLnBrk="0" hangingPunct="0"/>
            <a:r>
              <a:rPr lang="en-US" altLang="zh-CN" sz="2400" b="1" dirty="0">
                <a:latin typeface="Arial" panose="020B0604020202020204" pitchFamily="34" charset="0"/>
              </a:rPr>
              <a:t>     </a:t>
            </a:r>
            <a:r>
              <a:rPr lang="en-US" altLang="zh-CN" sz="2400" b="1" dirty="0" err="1">
                <a:latin typeface="Arial" panose="020B0604020202020204" pitchFamily="34" charset="0"/>
              </a:rPr>
              <a:t>接收来自CPU的读</a:t>
            </a:r>
            <a:r>
              <a:rPr lang="en-US" altLang="zh-CN" sz="2400" b="1" dirty="0">
                <a:latin typeface="Arial" panose="020B0604020202020204" pitchFamily="34" charset="0"/>
              </a:rPr>
              <a:t>/写命令，配合片选端的信号和A</a:t>
            </a:r>
            <a:r>
              <a:rPr lang="en-US" altLang="zh-CN" sz="2400" b="1" baseline="-25000" dirty="0">
                <a:latin typeface="Arial" panose="020B0604020202020204" pitchFamily="34" charset="0"/>
              </a:rPr>
              <a:t>0</a:t>
            </a:r>
            <a:r>
              <a:rPr lang="en-US" altLang="zh-CN" sz="2400" b="1" dirty="0">
                <a:latin typeface="Arial" panose="020B0604020202020204" pitchFamily="34" charset="0"/>
              </a:rPr>
              <a:t>端的地址输入信号完成规定的操作。</a:t>
            </a:r>
          </a:p>
          <a:p>
            <a:pPr lvl="0" eaLnBrk="0" hangingPunct="0"/>
            <a:r>
              <a:rPr lang="en-US" altLang="zh-CN" sz="2400" b="1" dirty="0">
                <a:latin typeface="Arial" panose="020B0604020202020204" pitchFamily="34" charset="0"/>
              </a:rPr>
              <a:t>    把CPU送来的命令字传送到8259A中相应的命令寄存器中，把8259A中寄存器的内容输出到数据总线上。</a:t>
            </a:r>
            <a:endParaRPr lang="zh-CN" altLang="en-US" sz="2400" b="1" dirty="0">
              <a:latin typeface="Arial" panose="020B0604020202020204" pitchFamily="34" charset="0"/>
            </a:endParaRPr>
          </a:p>
        </p:txBody>
      </p:sp>
      <p:pic>
        <p:nvPicPr>
          <p:cNvPr id="6" name="图片 5" descr="wps_clip_image-12615">
            <a:extLst>
              <a:ext uri="{FF2B5EF4-FFF2-40B4-BE49-F238E27FC236}">
                <a16:creationId xmlns:a16="http://schemas.microsoft.com/office/drawing/2014/main" id="{420110D0-0E03-43FF-9E2B-7A2901DC9AAA}"/>
              </a:ext>
            </a:extLst>
          </p:cNvPr>
          <p:cNvPicPr>
            <a:picLocks noChangeAspect="1"/>
          </p:cNvPicPr>
          <p:nvPr/>
        </p:nvPicPr>
        <p:blipFill>
          <a:blip r:embed="rId2"/>
          <a:stretch>
            <a:fillRect/>
          </a:stretch>
        </p:blipFill>
        <p:spPr>
          <a:xfrm>
            <a:off x="35447" y="937765"/>
            <a:ext cx="5796096" cy="3643363"/>
          </a:xfrm>
          <a:prstGeom prst="rect">
            <a:avLst/>
          </a:prstGeom>
          <a:noFill/>
          <a:ln w="9525">
            <a:noFill/>
          </a:ln>
        </p:spPr>
      </p:pic>
      <p:sp>
        <p:nvSpPr>
          <p:cNvPr id="7" name="文本框 6">
            <a:extLst>
              <a:ext uri="{FF2B5EF4-FFF2-40B4-BE49-F238E27FC236}">
                <a16:creationId xmlns:a16="http://schemas.microsoft.com/office/drawing/2014/main" id="{AACCD994-E022-48E5-AE53-01845028789B}"/>
              </a:ext>
            </a:extLst>
          </p:cNvPr>
          <p:cNvSpPr txBox="1"/>
          <p:nvPr/>
        </p:nvSpPr>
        <p:spPr>
          <a:xfrm>
            <a:off x="1115616" y="2120796"/>
            <a:ext cx="792088" cy="1008112"/>
          </a:xfrm>
          <a:prstGeom prst="rect">
            <a:avLst/>
          </a:prstGeom>
          <a:noFill/>
          <a:ln w="28575">
            <a:solidFill>
              <a:srgbClr val="FF0000"/>
            </a:solidFill>
            <a:prstDash val="lgDash"/>
          </a:ln>
        </p:spPr>
        <p:txBody>
          <a:bodyPr wrap="square" rtlCol="0">
            <a:spAutoFit/>
          </a:bodyPr>
          <a:lstStyle/>
          <a:p>
            <a:endParaRPr lang="zh-CN" altLang="en-US" dirty="0"/>
          </a:p>
        </p:txBody>
      </p:sp>
    </p:spTree>
    <p:extLst>
      <p:ext uri="{BB962C8B-B14F-4D97-AF65-F5344CB8AC3E}">
        <p14:creationId xmlns:p14="http://schemas.microsoft.com/office/powerpoint/2010/main" val="14718182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标题 313345"/>
          <p:cNvSpPr>
            <a:spLocks noGrp="1"/>
          </p:cNvSpPr>
          <p:nvPr>
            <p:ph type="title"/>
          </p:nvPr>
        </p:nvSpPr>
        <p:spPr>
          <a:xfrm>
            <a:off x="1547664" y="224719"/>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13347" name="文本框 313346"/>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13348" name="文本框 313347"/>
          <p:cNvSpPr txBox="1"/>
          <p:nvPr/>
        </p:nvSpPr>
        <p:spPr>
          <a:xfrm>
            <a:off x="5795441" y="858192"/>
            <a:ext cx="3313111" cy="3785652"/>
          </a:xfrm>
          <a:prstGeom prst="rect">
            <a:avLst/>
          </a:prstGeom>
          <a:noFill/>
          <a:ln w="9525">
            <a:noFill/>
          </a:ln>
        </p:spPr>
        <p:txBody>
          <a:bodyPr wrap="square">
            <a:spAutoFit/>
          </a:bodyPr>
          <a:lstStyle/>
          <a:p>
            <a:pPr lvl="0" eaLnBrk="0" hangingPunct="0"/>
            <a:r>
              <a:rPr lang="zh-CN" altLang="en-US" sz="2400" b="1" dirty="0">
                <a:solidFill>
                  <a:srgbClr val="FF00FF"/>
                </a:solidFill>
                <a:latin typeface="Arial" panose="020B0604020202020204" pitchFamily="34" charset="0"/>
              </a:rPr>
              <a:t>（</a:t>
            </a:r>
            <a:r>
              <a:rPr lang="en-US" altLang="zh-CN" sz="2400" b="1" dirty="0">
                <a:solidFill>
                  <a:srgbClr val="FF00FF"/>
                </a:solidFill>
                <a:latin typeface="Arial" panose="020B0604020202020204" pitchFamily="34" charset="0"/>
              </a:rPr>
              <a:t>3</a:t>
            </a:r>
            <a:r>
              <a:rPr lang="zh-CN" altLang="en-US" sz="2400" b="1" dirty="0">
                <a:solidFill>
                  <a:srgbClr val="FF00FF"/>
                </a:solidFill>
                <a:latin typeface="Arial" panose="020B0604020202020204" pitchFamily="34" charset="0"/>
              </a:rPr>
              <a:t>）级联缓冲</a:t>
            </a:r>
            <a:r>
              <a:rPr lang="en-US" altLang="zh-CN" sz="2400" b="1" dirty="0">
                <a:solidFill>
                  <a:srgbClr val="FF00FF"/>
                </a:solidFill>
                <a:latin typeface="Arial" panose="020B0604020202020204" pitchFamily="34" charset="0"/>
              </a:rPr>
              <a:t>/</a:t>
            </a:r>
            <a:r>
              <a:rPr lang="zh-CN" altLang="en-US" sz="2400" b="1" dirty="0">
                <a:solidFill>
                  <a:srgbClr val="FF00FF"/>
                </a:solidFill>
                <a:latin typeface="Arial" panose="020B0604020202020204" pitchFamily="34" charset="0"/>
              </a:rPr>
              <a:t>比较器</a:t>
            </a:r>
          </a:p>
          <a:p>
            <a:pPr lvl="0" eaLnBrk="0" hangingPunct="0"/>
            <a:r>
              <a:rPr lang="zh-CN" altLang="en-US" sz="2400" b="1" dirty="0">
                <a:latin typeface="Arial" panose="020B0604020202020204" pitchFamily="34" charset="0"/>
              </a:rPr>
              <a:t>    用于多片</a:t>
            </a:r>
            <a:r>
              <a:rPr lang="en-US" altLang="zh-CN" sz="2400" b="1" dirty="0">
                <a:latin typeface="Arial" panose="020B0604020202020204" pitchFamily="34" charset="0"/>
              </a:rPr>
              <a:t>8259A</a:t>
            </a:r>
            <a:r>
              <a:rPr lang="zh-CN" altLang="en-US" sz="2400" b="1" dirty="0">
                <a:latin typeface="Arial" panose="020B0604020202020204" pitchFamily="34" charset="0"/>
              </a:rPr>
              <a:t>的级联和数据缓冲方式。</a:t>
            </a:r>
            <a:endParaRPr lang="en-US" altLang="zh-CN" sz="2400" b="1" dirty="0">
              <a:latin typeface="Arial" panose="020B0604020202020204" pitchFamily="34" charset="0"/>
            </a:endParaRPr>
          </a:p>
          <a:p>
            <a:pPr lvl="0" eaLnBrk="0" hangingPunct="0"/>
            <a:r>
              <a:rPr lang="en-US" altLang="zh-CN" sz="2400" b="1" dirty="0">
                <a:latin typeface="Arial" panose="020B0604020202020204" pitchFamily="34" charset="0"/>
              </a:rPr>
              <a:t>    </a:t>
            </a:r>
            <a:r>
              <a:rPr lang="zh-CN" altLang="en-US" sz="2400" b="1" dirty="0">
                <a:latin typeface="Arial" panose="020B0604020202020204" pitchFamily="34" charset="0"/>
              </a:rPr>
              <a:t>当外部中断源超过</a:t>
            </a:r>
            <a:r>
              <a:rPr lang="en-US" altLang="zh-CN" sz="2400" b="1" dirty="0">
                <a:solidFill>
                  <a:srgbClr val="0000FF"/>
                </a:solidFill>
                <a:latin typeface="Arial" panose="020B0604020202020204" pitchFamily="34" charset="0"/>
              </a:rPr>
              <a:t>8</a:t>
            </a:r>
            <a:r>
              <a:rPr lang="zh-CN" altLang="en-US" sz="2400" b="1" dirty="0">
                <a:solidFill>
                  <a:srgbClr val="0000FF"/>
                </a:solidFill>
                <a:latin typeface="Arial" panose="020B0604020202020204" pitchFamily="34" charset="0"/>
              </a:rPr>
              <a:t>个</a:t>
            </a:r>
            <a:r>
              <a:rPr lang="zh-CN" altLang="en-US" sz="2400" b="1" dirty="0">
                <a:latin typeface="Arial" panose="020B0604020202020204" pitchFamily="34" charset="0"/>
              </a:rPr>
              <a:t>时，就要通过</a:t>
            </a:r>
            <a:r>
              <a:rPr lang="zh-CN" altLang="en-US" sz="2400" b="1" dirty="0">
                <a:solidFill>
                  <a:srgbClr val="0000FF"/>
                </a:solidFill>
                <a:latin typeface="Arial" panose="020B0604020202020204" pitchFamily="34" charset="0"/>
              </a:rPr>
              <a:t>多片</a:t>
            </a:r>
            <a:r>
              <a:rPr lang="en-US" altLang="zh-CN" sz="2400" b="1" dirty="0">
                <a:solidFill>
                  <a:srgbClr val="0000FF"/>
                </a:solidFill>
                <a:latin typeface="Arial" panose="020B0604020202020204" pitchFamily="34" charset="0"/>
              </a:rPr>
              <a:t>8259A</a:t>
            </a:r>
            <a:r>
              <a:rPr lang="zh-CN" altLang="en-US" sz="2400" b="1" dirty="0">
                <a:solidFill>
                  <a:srgbClr val="0000FF"/>
                </a:solidFill>
                <a:latin typeface="Arial" panose="020B0604020202020204" pitchFamily="34" charset="0"/>
              </a:rPr>
              <a:t>的级联</a:t>
            </a:r>
            <a:r>
              <a:rPr lang="zh-CN" altLang="en-US" sz="2400" b="1" dirty="0">
                <a:latin typeface="Arial" panose="020B0604020202020204" pitchFamily="34" charset="0"/>
              </a:rPr>
              <a:t>实现。此时，级联缓冲</a:t>
            </a:r>
            <a:r>
              <a:rPr lang="en-US" altLang="zh-CN" sz="2400" b="1" dirty="0">
                <a:latin typeface="Arial" panose="020B0604020202020204" pitchFamily="34" charset="0"/>
              </a:rPr>
              <a:t>/</a:t>
            </a:r>
            <a:r>
              <a:rPr lang="zh-CN" altLang="en-US" sz="2400" b="1" dirty="0">
                <a:latin typeface="Arial" panose="020B0604020202020204" pitchFamily="34" charset="0"/>
              </a:rPr>
              <a:t>比较器主要用来存放和比较系统中各相互级联的从片</a:t>
            </a:r>
            <a:r>
              <a:rPr lang="en-US" altLang="zh-CN" sz="2400" b="1" dirty="0">
                <a:latin typeface="Arial" panose="020B0604020202020204" pitchFamily="34" charset="0"/>
              </a:rPr>
              <a:t>8259A</a:t>
            </a:r>
            <a:r>
              <a:rPr lang="zh-CN" altLang="en-US" sz="2400" b="1" dirty="0">
                <a:latin typeface="Arial" panose="020B0604020202020204" pitchFamily="34" charset="0"/>
              </a:rPr>
              <a:t>的</a:t>
            </a:r>
            <a:r>
              <a:rPr lang="en-US" altLang="zh-CN" sz="2400" b="1" dirty="0">
                <a:latin typeface="Arial" panose="020B0604020202020204" pitchFamily="34" charset="0"/>
              </a:rPr>
              <a:t>3 </a:t>
            </a:r>
            <a:r>
              <a:rPr lang="zh-CN" altLang="en-US" sz="2400" b="1" dirty="0">
                <a:latin typeface="Arial" panose="020B0604020202020204" pitchFamily="34" charset="0"/>
              </a:rPr>
              <a:t>位识别码。</a:t>
            </a:r>
          </a:p>
        </p:txBody>
      </p:sp>
      <p:pic>
        <p:nvPicPr>
          <p:cNvPr id="8" name="图片 7" descr="wps_clip_image-12615">
            <a:extLst>
              <a:ext uri="{FF2B5EF4-FFF2-40B4-BE49-F238E27FC236}">
                <a16:creationId xmlns:a16="http://schemas.microsoft.com/office/drawing/2014/main" id="{6DD43066-8737-4CC9-9183-B6FCD145208C}"/>
              </a:ext>
            </a:extLst>
          </p:cNvPr>
          <p:cNvPicPr>
            <a:picLocks noChangeAspect="1"/>
          </p:cNvPicPr>
          <p:nvPr/>
        </p:nvPicPr>
        <p:blipFill>
          <a:blip r:embed="rId2"/>
          <a:stretch>
            <a:fillRect/>
          </a:stretch>
        </p:blipFill>
        <p:spPr>
          <a:xfrm>
            <a:off x="35447" y="937765"/>
            <a:ext cx="5796096" cy="3643363"/>
          </a:xfrm>
          <a:prstGeom prst="rect">
            <a:avLst/>
          </a:prstGeom>
          <a:noFill/>
          <a:ln w="9525">
            <a:noFill/>
          </a:ln>
        </p:spPr>
      </p:pic>
      <p:sp>
        <p:nvSpPr>
          <p:cNvPr id="9" name="文本框 8">
            <a:extLst>
              <a:ext uri="{FF2B5EF4-FFF2-40B4-BE49-F238E27FC236}">
                <a16:creationId xmlns:a16="http://schemas.microsoft.com/office/drawing/2014/main" id="{181CB0C7-9632-43A3-87A7-ADAA8FD200B6}"/>
              </a:ext>
            </a:extLst>
          </p:cNvPr>
          <p:cNvSpPr txBox="1"/>
          <p:nvPr/>
        </p:nvSpPr>
        <p:spPr>
          <a:xfrm>
            <a:off x="1103995" y="3212976"/>
            <a:ext cx="792088" cy="1008112"/>
          </a:xfrm>
          <a:prstGeom prst="rect">
            <a:avLst/>
          </a:prstGeom>
          <a:noFill/>
          <a:ln w="28575">
            <a:solidFill>
              <a:srgbClr val="FF0000"/>
            </a:solidFill>
            <a:prstDash val="lgDash"/>
          </a:ln>
        </p:spPr>
        <p:txBody>
          <a:bodyPr wrap="square" rtlCol="0">
            <a:spAutoFit/>
          </a:bodyPr>
          <a:lstStyle/>
          <a:p>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标题 313345"/>
          <p:cNvSpPr>
            <a:spLocks noGrp="1"/>
          </p:cNvSpPr>
          <p:nvPr>
            <p:ph type="title"/>
          </p:nvPr>
        </p:nvSpPr>
        <p:spPr>
          <a:xfrm>
            <a:off x="1547664" y="224719"/>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13348" name="文本框 313347"/>
          <p:cNvSpPr txBox="1"/>
          <p:nvPr/>
        </p:nvSpPr>
        <p:spPr>
          <a:xfrm>
            <a:off x="5724127" y="764704"/>
            <a:ext cx="3169047" cy="5262979"/>
          </a:xfrm>
          <a:prstGeom prst="rect">
            <a:avLst/>
          </a:prstGeom>
          <a:noFill/>
          <a:ln w="9525">
            <a:noFill/>
          </a:ln>
        </p:spPr>
        <p:txBody>
          <a:bodyPr wrap="square">
            <a:spAutoFit/>
          </a:bodyPr>
          <a:lstStyle/>
          <a:p>
            <a:pPr lvl="0" eaLnBrk="0" hangingPunct="0"/>
            <a:r>
              <a:rPr lang="zh-CN" altLang="en-US" sz="2400" b="1" dirty="0">
                <a:solidFill>
                  <a:srgbClr val="FF00FF"/>
                </a:solidFill>
                <a:latin typeface="Arial" panose="020B0604020202020204" pitchFamily="34" charset="0"/>
              </a:rPr>
              <a:t>（</a:t>
            </a:r>
            <a:r>
              <a:rPr lang="en-US" altLang="zh-CN" sz="2400" b="1" dirty="0">
                <a:solidFill>
                  <a:srgbClr val="FF00FF"/>
                </a:solidFill>
                <a:latin typeface="Arial" panose="020B0604020202020204" pitchFamily="34" charset="0"/>
              </a:rPr>
              <a:t>4</a:t>
            </a:r>
            <a:r>
              <a:rPr lang="zh-CN" altLang="en-US" sz="2400" b="1" dirty="0">
                <a:solidFill>
                  <a:srgbClr val="FF00FF"/>
                </a:solidFill>
                <a:latin typeface="Arial" panose="020B0604020202020204" pitchFamily="34" charset="0"/>
              </a:rPr>
              <a:t>）中断请求寄存器</a:t>
            </a:r>
            <a:r>
              <a:rPr lang="en-US" altLang="zh-CN" sz="2400" b="1" dirty="0">
                <a:solidFill>
                  <a:srgbClr val="FF00FF"/>
                </a:solidFill>
                <a:latin typeface="Arial" panose="020B0604020202020204" pitchFamily="34" charset="0"/>
              </a:rPr>
              <a:t>IRR</a:t>
            </a:r>
          </a:p>
          <a:p>
            <a:pPr lvl="0" eaLnBrk="0" hangingPunct="0"/>
            <a:r>
              <a:rPr lang="zh-CN" altLang="en-US" sz="2400" b="1" dirty="0">
                <a:latin typeface="Arial" panose="020B0604020202020204" pitchFamily="34" charset="0"/>
              </a:rPr>
              <a:t>    具有</a:t>
            </a:r>
            <a:r>
              <a:rPr lang="zh-CN" altLang="en-US" sz="2400" b="1" dirty="0">
                <a:solidFill>
                  <a:srgbClr val="0000FF"/>
                </a:solidFill>
                <a:latin typeface="Arial" panose="020B0604020202020204" pitchFamily="34" charset="0"/>
              </a:rPr>
              <a:t>锁存功能的</a:t>
            </a:r>
            <a:r>
              <a:rPr lang="en-US" altLang="zh-CN" sz="2400" b="1" dirty="0">
                <a:solidFill>
                  <a:srgbClr val="0000FF"/>
                </a:solidFill>
                <a:latin typeface="Arial" panose="020B0604020202020204" pitchFamily="34" charset="0"/>
              </a:rPr>
              <a:t>8</a:t>
            </a:r>
            <a:r>
              <a:rPr lang="zh-CN" altLang="en-US" sz="2400" b="1" dirty="0">
                <a:solidFill>
                  <a:srgbClr val="0000FF"/>
                </a:solidFill>
                <a:latin typeface="Arial" panose="020B0604020202020204" pitchFamily="34" charset="0"/>
              </a:rPr>
              <a:t>位</a:t>
            </a:r>
            <a:r>
              <a:rPr lang="zh-CN" altLang="en-US" sz="2400" b="1" dirty="0">
                <a:latin typeface="Arial" panose="020B0604020202020204" pitchFamily="34" charset="0"/>
              </a:rPr>
              <a:t>寄存器，存放外部输入的中断请求信号</a:t>
            </a:r>
            <a:r>
              <a:rPr lang="en-US" altLang="zh-CN" sz="2400" b="1" dirty="0">
                <a:latin typeface="Arial" panose="020B0604020202020204" pitchFamily="34" charset="0"/>
              </a:rPr>
              <a:t>IR</a:t>
            </a:r>
            <a:r>
              <a:rPr lang="en-US" altLang="zh-CN" sz="2400" b="1" baseline="-25000" dirty="0">
                <a:latin typeface="Arial" panose="020B0604020202020204" pitchFamily="34" charset="0"/>
              </a:rPr>
              <a:t>7</a:t>
            </a:r>
            <a:r>
              <a:rPr lang="zh-CN" altLang="en-US" sz="2400" b="1" dirty="0">
                <a:latin typeface="Arial" panose="020B0604020202020204" pitchFamily="34" charset="0"/>
              </a:rPr>
              <a:t>～</a:t>
            </a:r>
            <a:r>
              <a:rPr lang="en-US" altLang="zh-CN" sz="2400" b="1" dirty="0">
                <a:latin typeface="Arial" panose="020B0604020202020204" pitchFamily="34" charset="0"/>
              </a:rPr>
              <a:t>IR</a:t>
            </a:r>
            <a:r>
              <a:rPr lang="en-US" altLang="zh-CN" sz="2400" b="1" baseline="-25000" dirty="0">
                <a:latin typeface="Arial" panose="020B0604020202020204" pitchFamily="34" charset="0"/>
              </a:rPr>
              <a:t>0</a:t>
            </a:r>
            <a:r>
              <a:rPr lang="zh-CN" altLang="en-US" sz="2400" b="1" dirty="0">
                <a:latin typeface="Arial" panose="020B0604020202020204" pitchFamily="34" charset="0"/>
              </a:rPr>
              <a:t>。</a:t>
            </a:r>
            <a:endParaRPr lang="en-US" altLang="zh-CN" sz="2400" b="1" dirty="0">
              <a:latin typeface="Arial" panose="020B0604020202020204" pitchFamily="34" charset="0"/>
            </a:endParaRPr>
          </a:p>
          <a:p>
            <a:pPr lvl="0" eaLnBrk="0" hangingPunct="0"/>
            <a:r>
              <a:rPr lang="en-US" altLang="zh-CN" sz="2400" b="1" dirty="0">
                <a:latin typeface="Arial" panose="020B0604020202020204" pitchFamily="34" charset="0"/>
              </a:rPr>
              <a:t>    </a:t>
            </a:r>
            <a:r>
              <a:rPr lang="zh-CN" altLang="en-US" sz="2400" b="1" dirty="0">
                <a:latin typeface="Arial" panose="020B0604020202020204" pitchFamily="34" charset="0"/>
              </a:rPr>
              <a:t>当某个</a:t>
            </a:r>
            <a:r>
              <a:rPr lang="en-US" altLang="zh-CN" sz="2400" b="1" dirty="0">
                <a:latin typeface="Arial" panose="020B0604020202020204" pitchFamily="34" charset="0"/>
              </a:rPr>
              <a:t>IR</a:t>
            </a:r>
            <a:r>
              <a:rPr lang="zh-CN" altLang="en-US" sz="2400" b="1" dirty="0">
                <a:latin typeface="Arial" panose="020B0604020202020204" pitchFamily="34" charset="0"/>
              </a:rPr>
              <a:t>端有中断请求时，</a:t>
            </a:r>
            <a:r>
              <a:rPr lang="en-US" altLang="zh-CN" sz="2400" b="1" dirty="0">
                <a:latin typeface="Arial" panose="020B0604020202020204" pitchFamily="34" charset="0"/>
              </a:rPr>
              <a:t>IRR</a:t>
            </a:r>
            <a:r>
              <a:rPr lang="zh-CN" altLang="en-US" sz="2400" b="1" dirty="0">
                <a:latin typeface="Arial" panose="020B0604020202020204" pitchFamily="34" charset="0"/>
              </a:rPr>
              <a:t>寄存器中的相应位置</a:t>
            </a:r>
            <a:r>
              <a:rPr lang="en-US" altLang="zh-CN" sz="2400" b="1" dirty="0">
                <a:latin typeface="Arial" panose="020B0604020202020204" pitchFamily="34" charset="0"/>
              </a:rPr>
              <a:t>1</a:t>
            </a:r>
            <a:r>
              <a:rPr lang="zh-CN" altLang="en-US" sz="2400" b="1" dirty="0">
                <a:latin typeface="Arial" panose="020B0604020202020204" pitchFamily="34" charset="0"/>
              </a:rPr>
              <a:t>。</a:t>
            </a:r>
            <a:endParaRPr lang="en-US" altLang="zh-CN" sz="2400" b="1" dirty="0">
              <a:latin typeface="Arial" panose="020B0604020202020204" pitchFamily="34" charset="0"/>
            </a:endParaRPr>
          </a:p>
          <a:p>
            <a:pPr lvl="0" eaLnBrk="0" hangingPunct="0"/>
            <a:r>
              <a:rPr lang="en-US" altLang="zh-CN" sz="2400" b="1" dirty="0">
                <a:latin typeface="Arial" panose="020B0604020202020204" pitchFamily="34" charset="0"/>
              </a:rPr>
              <a:t>    8259A</a:t>
            </a:r>
            <a:r>
              <a:rPr lang="zh-CN" altLang="en-US" sz="2400" b="1" dirty="0">
                <a:latin typeface="Arial" panose="020B0604020202020204" pitchFamily="34" charset="0"/>
              </a:rPr>
              <a:t>允许</a:t>
            </a:r>
            <a:r>
              <a:rPr lang="en-US" altLang="zh-CN" sz="2400" b="1" dirty="0">
                <a:latin typeface="Arial" panose="020B0604020202020204" pitchFamily="34" charset="0"/>
              </a:rPr>
              <a:t>8</a:t>
            </a:r>
            <a:r>
              <a:rPr lang="zh-CN" altLang="en-US" sz="2400" b="1" dirty="0">
                <a:latin typeface="Arial" panose="020B0604020202020204" pitchFamily="34" charset="0"/>
              </a:rPr>
              <a:t>个中断请求信号同时进入，此时</a:t>
            </a:r>
            <a:r>
              <a:rPr lang="en-US" altLang="zh-CN" sz="2400" b="1" dirty="0">
                <a:latin typeface="Arial" panose="020B0604020202020204" pitchFamily="34" charset="0"/>
              </a:rPr>
              <a:t>IRR</a:t>
            </a:r>
            <a:r>
              <a:rPr lang="zh-CN" altLang="en-US" sz="2400" b="1" dirty="0">
                <a:latin typeface="Arial" panose="020B0604020202020204" pitchFamily="34" charset="0"/>
              </a:rPr>
              <a:t>被置成全</a:t>
            </a:r>
            <a:r>
              <a:rPr lang="en-US" altLang="zh-CN" sz="2400" b="1" dirty="0">
                <a:latin typeface="Arial" panose="020B0604020202020204" pitchFamily="34" charset="0"/>
              </a:rPr>
              <a:t>1</a:t>
            </a:r>
            <a:r>
              <a:rPr lang="zh-CN" altLang="en-US" sz="2400" b="1" dirty="0">
                <a:latin typeface="Arial" panose="020B0604020202020204" pitchFamily="34" charset="0"/>
              </a:rPr>
              <a:t>，当中断请求被响应时，</a:t>
            </a:r>
            <a:r>
              <a:rPr lang="en-US" altLang="zh-CN" sz="2400" b="1" dirty="0">
                <a:latin typeface="Arial" panose="020B0604020202020204" pitchFamily="34" charset="0"/>
              </a:rPr>
              <a:t>IRR</a:t>
            </a:r>
            <a:r>
              <a:rPr lang="zh-CN" altLang="en-US" sz="2400" b="1" dirty="0">
                <a:latin typeface="Arial" panose="020B0604020202020204" pitchFamily="34" charset="0"/>
              </a:rPr>
              <a:t>的相应位复位。</a:t>
            </a:r>
            <a:endParaRPr lang="en-US" altLang="zh-CN" sz="2400" b="1" dirty="0">
              <a:latin typeface="Arial" panose="020B0604020202020204" pitchFamily="34" charset="0"/>
            </a:endParaRPr>
          </a:p>
        </p:txBody>
      </p:sp>
      <p:sp>
        <p:nvSpPr>
          <p:cNvPr id="2" name="矩形 1"/>
          <p:cNvSpPr/>
          <p:nvPr/>
        </p:nvSpPr>
        <p:spPr>
          <a:xfrm>
            <a:off x="827584" y="5937556"/>
            <a:ext cx="3897221" cy="461665"/>
          </a:xfrm>
          <a:prstGeom prst="rect">
            <a:avLst/>
          </a:prstGeom>
          <a:solidFill>
            <a:schemeClr val="accent5">
              <a:lumMod val="20000"/>
              <a:lumOff val="80000"/>
            </a:schemeClr>
          </a:solidFill>
        </p:spPr>
        <p:txBody>
          <a:bodyPr wrap="none">
            <a:spAutoFit/>
          </a:bodyPr>
          <a:lstStyle/>
          <a:p>
            <a:r>
              <a:rPr lang="zh-CN" altLang="en-US" sz="2400" b="1" dirty="0">
                <a:latin typeface="Arial" panose="020B0604020202020204" pitchFamily="34" charset="0"/>
              </a:rPr>
              <a:t>何种触发方式通过编程决定</a:t>
            </a:r>
            <a:endParaRPr lang="zh-CN" altLang="en-US" sz="2400" b="1" dirty="0"/>
          </a:p>
        </p:txBody>
      </p:sp>
      <p:pic>
        <p:nvPicPr>
          <p:cNvPr id="6" name="图片 5" descr="wps_clip_image-12615">
            <a:extLst>
              <a:ext uri="{FF2B5EF4-FFF2-40B4-BE49-F238E27FC236}">
                <a16:creationId xmlns:a16="http://schemas.microsoft.com/office/drawing/2014/main" id="{1047FA83-4874-47A0-BAAB-7996567C9154}"/>
              </a:ext>
            </a:extLst>
          </p:cNvPr>
          <p:cNvPicPr>
            <a:picLocks noChangeAspect="1"/>
          </p:cNvPicPr>
          <p:nvPr/>
        </p:nvPicPr>
        <p:blipFill>
          <a:blip r:embed="rId2"/>
          <a:stretch>
            <a:fillRect/>
          </a:stretch>
        </p:blipFill>
        <p:spPr>
          <a:xfrm>
            <a:off x="35447" y="937765"/>
            <a:ext cx="5796096" cy="3643363"/>
          </a:xfrm>
          <a:prstGeom prst="rect">
            <a:avLst/>
          </a:prstGeom>
          <a:noFill/>
          <a:ln w="9525">
            <a:noFill/>
          </a:ln>
        </p:spPr>
      </p:pic>
      <p:sp>
        <p:nvSpPr>
          <p:cNvPr id="7" name="文本框 6">
            <a:extLst>
              <a:ext uri="{FF2B5EF4-FFF2-40B4-BE49-F238E27FC236}">
                <a16:creationId xmlns:a16="http://schemas.microsoft.com/office/drawing/2014/main" id="{0EEAD69B-0A90-4DF6-AC59-1F071B666528}"/>
              </a:ext>
            </a:extLst>
          </p:cNvPr>
          <p:cNvSpPr txBox="1"/>
          <p:nvPr/>
        </p:nvSpPr>
        <p:spPr>
          <a:xfrm>
            <a:off x="4427982" y="2420888"/>
            <a:ext cx="1296145" cy="1008112"/>
          </a:xfrm>
          <a:prstGeom prst="rect">
            <a:avLst/>
          </a:prstGeom>
          <a:noFill/>
          <a:ln w="28575">
            <a:solidFill>
              <a:srgbClr val="FF0000"/>
            </a:solidFill>
            <a:prstDash val="lgDash"/>
          </a:ln>
        </p:spPr>
        <p:txBody>
          <a:bodyPr wrap="square" rtlCol="0">
            <a:spAutoFit/>
          </a:bodyPr>
          <a:lstStyle/>
          <a:p>
            <a:endParaRPr lang="zh-CN" altLang="en-US" dirty="0"/>
          </a:p>
        </p:txBody>
      </p:sp>
      <p:sp>
        <p:nvSpPr>
          <p:cNvPr id="9" name="文本框 8">
            <a:extLst>
              <a:ext uri="{FF2B5EF4-FFF2-40B4-BE49-F238E27FC236}">
                <a16:creationId xmlns:a16="http://schemas.microsoft.com/office/drawing/2014/main" id="{4143F10C-9556-4867-8E86-20FDE678D933}"/>
              </a:ext>
            </a:extLst>
          </p:cNvPr>
          <p:cNvSpPr txBox="1"/>
          <p:nvPr/>
        </p:nvSpPr>
        <p:spPr>
          <a:xfrm>
            <a:off x="823814" y="4676943"/>
            <a:ext cx="4576762" cy="1200329"/>
          </a:xfrm>
          <a:prstGeom prst="rect">
            <a:avLst/>
          </a:prstGeom>
          <a:noFill/>
        </p:spPr>
        <p:txBody>
          <a:bodyPr wrap="square">
            <a:spAutoFit/>
          </a:bodyPr>
          <a:lstStyle/>
          <a:p>
            <a:pPr lvl="0" eaLnBrk="0" hangingPunct="0"/>
            <a:r>
              <a:rPr lang="zh-CN" altLang="en-US" sz="2400" b="1" dirty="0">
                <a:latin typeface="Arial" panose="020B0604020202020204" pitchFamily="34" charset="0"/>
              </a:rPr>
              <a:t>外设产生中断请求的两种方式：</a:t>
            </a:r>
            <a:endParaRPr lang="en-US" altLang="zh-CN" sz="2400" b="1" dirty="0">
              <a:latin typeface="Arial" panose="020B0604020202020204" pitchFamily="34" charset="0"/>
            </a:endParaRPr>
          </a:p>
          <a:p>
            <a:pPr marL="342900" lvl="0" indent="-342900" eaLnBrk="0" hangingPunct="0">
              <a:buClr>
                <a:srgbClr val="0000FF"/>
              </a:buClr>
              <a:buFont typeface="Wingdings" panose="05000000000000000000" pitchFamily="2" charset="2"/>
              <a:buChar char="ü"/>
            </a:pPr>
            <a:r>
              <a:rPr lang="zh-CN" altLang="en-US" sz="2400" b="1" dirty="0">
                <a:latin typeface="Arial" panose="020B0604020202020204" pitchFamily="34" charset="0"/>
              </a:rPr>
              <a:t>电平触发方式</a:t>
            </a:r>
            <a:endParaRPr lang="en-US" altLang="zh-CN" sz="2400" b="1" dirty="0">
              <a:latin typeface="Arial" panose="020B0604020202020204" pitchFamily="34" charset="0"/>
            </a:endParaRPr>
          </a:p>
          <a:p>
            <a:pPr marL="342900" lvl="0" indent="-342900" eaLnBrk="0" hangingPunct="0">
              <a:buClr>
                <a:srgbClr val="0000FF"/>
              </a:buClr>
              <a:buFont typeface="Wingdings" panose="05000000000000000000" pitchFamily="2" charset="2"/>
              <a:buChar char="ü"/>
            </a:pPr>
            <a:r>
              <a:rPr lang="zh-CN" altLang="en-US" sz="2400" b="1" dirty="0">
                <a:latin typeface="Arial" panose="020B0604020202020204" pitchFamily="34" charset="0"/>
              </a:rPr>
              <a:t>边沿触发方式</a:t>
            </a:r>
            <a:endParaRPr lang="zh-CN" altLang="en-US" sz="2400" dirty="0"/>
          </a:p>
        </p:txBody>
      </p:sp>
    </p:spTree>
    <p:extLst>
      <p:ext uri="{BB962C8B-B14F-4D97-AF65-F5344CB8AC3E}">
        <p14:creationId xmlns:p14="http://schemas.microsoft.com/office/powerpoint/2010/main" val="3065093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标题 314369"/>
          <p:cNvSpPr>
            <a:spLocks noGrp="1"/>
          </p:cNvSpPr>
          <p:nvPr>
            <p:ph type="title"/>
          </p:nvPr>
        </p:nvSpPr>
        <p:spPr>
          <a:xfrm>
            <a:off x="1619672" y="223838"/>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14371" name="文本框 314370"/>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14372" name="文本框 314371"/>
          <p:cNvSpPr txBox="1"/>
          <p:nvPr/>
        </p:nvSpPr>
        <p:spPr>
          <a:xfrm>
            <a:off x="5744641" y="908050"/>
            <a:ext cx="3291855" cy="4893647"/>
          </a:xfrm>
          <a:prstGeom prst="rect">
            <a:avLst/>
          </a:prstGeom>
          <a:noFill/>
          <a:ln w="9525">
            <a:noFill/>
          </a:ln>
        </p:spPr>
        <p:txBody>
          <a:bodyPr wrap="square">
            <a:spAutoFit/>
          </a:bodyPr>
          <a:lstStyle/>
          <a:p>
            <a:pPr lvl="0" eaLnBrk="0" hangingPunct="0"/>
            <a:r>
              <a:rPr lang="zh-CN" altLang="en-US" sz="2400" b="1" dirty="0">
                <a:solidFill>
                  <a:srgbClr val="FF00FF"/>
                </a:solidFill>
                <a:latin typeface="Arial" panose="020B0604020202020204" pitchFamily="34" charset="0"/>
              </a:rPr>
              <a:t>（</a:t>
            </a:r>
            <a:r>
              <a:rPr lang="en-US" altLang="zh-CN" sz="2400" b="1" dirty="0">
                <a:solidFill>
                  <a:srgbClr val="FF00FF"/>
                </a:solidFill>
                <a:latin typeface="Arial" panose="020B0604020202020204" pitchFamily="34" charset="0"/>
              </a:rPr>
              <a:t>5</a:t>
            </a:r>
            <a:r>
              <a:rPr lang="zh-CN" altLang="en-US" sz="2400" b="1" dirty="0">
                <a:solidFill>
                  <a:srgbClr val="FF00FF"/>
                </a:solidFill>
                <a:latin typeface="Arial" panose="020B0604020202020204" pitchFamily="34" charset="0"/>
              </a:rPr>
              <a:t>）中断屏蔽寄存器</a:t>
            </a:r>
            <a:r>
              <a:rPr lang="en-US" altLang="zh-CN" sz="2400" b="1" dirty="0">
                <a:solidFill>
                  <a:srgbClr val="FF00FF"/>
                </a:solidFill>
                <a:latin typeface="Arial" panose="020B0604020202020204" pitchFamily="34" charset="0"/>
              </a:rPr>
              <a:t>IMR</a:t>
            </a:r>
          </a:p>
          <a:p>
            <a:pPr lvl="0" eaLnBrk="0" hangingPunct="0"/>
            <a:r>
              <a:rPr lang="en-US" altLang="zh-CN" sz="2400" b="1" dirty="0">
                <a:latin typeface="Arial" panose="020B0604020202020204" pitchFamily="34" charset="0"/>
              </a:rPr>
              <a:t>    8</a:t>
            </a:r>
            <a:r>
              <a:rPr lang="zh-CN" altLang="en-US" sz="2400" b="1" dirty="0">
                <a:latin typeface="Arial" panose="020B0604020202020204" pitchFamily="34" charset="0"/>
              </a:rPr>
              <a:t>位寄存器，与</a:t>
            </a:r>
            <a:r>
              <a:rPr lang="en-US" altLang="zh-CN" sz="2400" b="1" dirty="0">
                <a:latin typeface="Arial" panose="020B0604020202020204" pitchFamily="34" charset="0"/>
              </a:rPr>
              <a:t>8259A</a:t>
            </a:r>
            <a:r>
              <a:rPr lang="zh-CN" altLang="en-US" sz="2400" b="1" dirty="0">
                <a:latin typeface="Arial" panose="020B0604020202020204" pitchFamily="34" charset="0"/>
              </a:rPr>
              <a:t>的</a:t>
            </a:r>
            <a:r>
              <a:rPr lang="en-US" altLang="zh-CN" sz="2400" b="1" dirty="0">
                <a:latin typeface="Arial" panose="020B0604020202020204" pitchFamily="34" charset="0"/>
              </a:rPr>
              <a:t>IR</a:t>
            </a:r>
            <a:r>
              <a:rPr lang="en-US" altLang="zh-CN" sz="2400" b="1" baseline="-25000" dirty="0">
                <a:latin typeface="Arial" panose="020B0604020202020204" pitchFamily="34" charset="0"/>
              </a:rPr>
              <a:t>7</a:t>
            </a:r>
            <a:r>
              <a:rPr lang="zh-CN" altLang="en-US" sz="2400" b="1" dirty="0">
                <a:latin typeface="Arial" panose="020B0604020202020204" pitchFamily="34" charset="0"/>
              </a:rPr>
              <a:t>～</a:t>
            </a:r>
            <a:r>
              <a:rPr lang="en-US" altLang="zh-CN" sz="2400" b="1" dirty="0">
                <a:latin typeface="Arial" panose="020B0604020202020204" pitchFamily="34" charset="0"/>
              </a:rPr>
              <a:t>IR</a:t>
            </a:r>
            <a:r>
              <a:rPr lang="en-US" altLang="zh-CN" sz="2400" b="1" baseline="-25000" dirty="0">
                <a:latin typeface="Arial" panose="020B0604020202020204" pitchFamily="34" charset="0"/>
              </a:rPr>
              <a:t>0</a:t>
            </a:r>
            <a:r>
              <a:rPr lang="zh-CN" altLang="en-US" sz="2400" b="1" dirty="0">
                <a:latin typeface="Arial" panose="020B0604020202020204" pitchFamily="34" charset="0"/>
              </a:rPr>
              <a:t>相对应，用来存放对各级中断请求的屏蔽信息。</a:t>
            </a:r>
            <a:endParaRPr lang="en-US" altLang="zh-CN" sz="2400" b="1" dirty="0">
              <a:latin typeface="Arial" panose="020B0604020202020204" pitchFamily="34" charset="0"/>
            </a:endParaRPr>
          </a:p>
          <a:p>
            <a:pPr lvl="0" eaLnBrk="0" hangingPunct="0"/>
            <a:r>
              <a:rPr lang="en-US" altLang="zh-CN" sz="2400" b="1" dirty="0">
                <a:latin typeface="Arial" panose="020B0604020202020204" pitchFamily="34" charset="0"/>
              </a:rPr>
              <a:t>    IMR</a:t>
            </a:r>
            <a:r>
              <a:rPr lang="zh-CN" altLang="en-US" sz="2400" b="1" dirty="0">
                <a:latin typeface="Arial" panose="020B0604020202020204" pitchFamily="34" charset="0"/>
              </a:rPr>
              <a:t>寄存器某一位</a:t>
            </a:r>
            <a:r>
              <a:rPr lang="zh-CN" altLang="en-US" sz="2400" b="1" dirty="0">
                <a:solidFill>
                  <a:srgbClr val="0000FF"/>
                </a:solidFill>
                <a:latin typeface="Arial" panose="020B0604020202020204" pitchFamily="34" charset="0"/>
              </a:rPr>
              <a:t>为</a:t>
            </a:r>
            <a:r>
              <a:rPr lang="en-US" altLang="zh-CN" sz="2400" b="1" dirty="0">
                <a:solidFill>
                  <a:srgbClr val="0000FF"/>
                </a:solidFill>
                <a:latin typeface="Arial" panose="020B0604020202020204" pitchFamily="34" charset="0"/>
              </a:rPr>
              <a:t>0</a:t>
            </a:r>
            <a:r>
              <a:rPr lang="zh-CN" altLang="en-US" sz="2400" b="1" dirty="0">
                <a:latin typeface="Arial" panose="020B0604020202020204" pitchFamily="34" charset="0"/>
              </a:rPr>
              <a:t>，</a:t>
            </a:r>
            <a:r>
              <a:rPr lang="zh-CN" altLang="en-US" sz="2400" b="1" dirty="0">
                <a:solidFill>
                  <a:srgbClr val="0000FF"/>
                </a:solidFill>
                <a:latin typeface="Arial" panose="020B0604020202020204" pitchFamily="34" charset="0"/>
              </a:rPr>
              <a:t>允许</a:t>
            </a:r>
            <a:r>
              <a:rPr lang="en-US" altLang="zh-CN" sz="2400" b="1" dirty="0">
                <a:latin typeface="Arial" panose="020B0604020202020204" pitchFamily="34" charset="0"/>
              </a:rPr>
              <a:t>IRR</a:t>
            </a:r>
            <a:r>
              <a:rPr lang="zh-CN" altLang="en-US" sz="2400" b="1" dirty="0">
                <a:latin typeface="Arial" panose="020B0604020202020204" pitchFamily="34" charset="0"/>
              </a:rPr>
              <a:t>寄存器中相应位的中断请求进入中断优先权分析器，即开放该级中断；若</a:t>
            </a:r>
            <a:r>
              <a:rPr lang="zh-CN" altLang="en-US" sz="2400" b="1" dirty="0">
                <a:solidFill>
                  <a:srgbClr val="0000FF"/>
                </a:solidFill>
                <a:latin typeface="Arial" panose="020B0604020202020204" pitchFamily="34" charset="0"/>
              </a:rPr>
              <a:t>为</a:t>
            </a:r>
            <a:r>
              <a:rPr lang="en-US" altLang="zh-CN" sz="2400" b="1" dirty="0">
                <a:solidFill>
                  <a:srgbClr val="0000FF"/>
                </a:solidFill>
                <a:latin typeface="Arial" panose="020B0604020202020204" pitchFamily="34" charset="0"/>
              </a:rPr>
              <a:t>1</a:t>
            </a:r>
            <a:r>
              <a:rPr lang="zh-CN" altLang="en-US" sz="2400" b="1" dirty="0">
                <a:latin typeface="Arial" panose="020B0604020202020204" pitchFamily="34" charset="0"/>
              </a:rPr>
              <a:t>，则此位对应的中断请求被</a:t>
            </a:r>
            <a:r>
              <a:rPr lang="zh-CN" altLang="en-US" sz="2400" b="1" dirty="0">
                <a:solidFill>
                  <a:srgbClr val="0000FF"/>
                </a:solidFill>
                <a:latin typeface="Arial" panose="020B0604020202020204" pitchFamily="34" charset="0"/>
              </a:rPr>
              <a:t>屏蔽</a:t>
            </a:r>
            <a:r>
              <a:rPr lang="zh-CN" altLang="en-US" sz="2400" b="1" dirty="0">
                <a:latin typeface="Arial" panose="020B0604020202020204" pitchFamily="34" charset="0"/>
              </a:rPr>
              <a:t>。</a:t>
            </a:r>
          </a:p>
        </p:txBody>
      </p:sp>
      <p:pic>
        <p:nvPicPr>
          <p:cNvPr id="5" name="图片 4" descr="wps_clip_image-12615">
            <a:extLst>
              <a:ext uri="{FF2B5EF4-FFF2-40B4-BE49-F238E27FC236}">
                <a16:creationId xmlns:a16="http://schemas.microsoft.com/office/drawing/2014/main" id="{F7812E40-9ED5-4F3C-84D0-9C0402459864}"/>
              </a:ext>
            </a:extLst>
          </p:cNvPr>
          <p:cNvPicPr>
            <a:picLocks noChangeAspect="1"/>
          </p:cNvPicPr>
          <p:nvPr/>
        </p:nvPicPr>
        <p:blipFill>
          <a:blip r:embed="rId2"/>
          <a:stretch>
            <a:fillRect/>
          </a:stretch>
        </p:blipFill>
        <p:spPr>
          <a:xfrm>
            <a:off x="35447" y="937765"/>
            <a:ext cx="5796096" cy="3643363"/>
          </a:xfrm>
          <a:prstGeom prst="rect">
            <a:avLst/>
          </a:prstGeom>
          <a:noFill/>
          <a:ln w="9525">
            <a:noFill/>
          </a:ln>
        </p:spPr>
      </p:pic>
      <p:sp>
        <p:nvSpPr>
          <p:cNvPr id="6" name="文本框 5">
            <a:extLst>
              <a:ext uri="{FF2B5EF4-FFF2-40B4-BE49-F238E27FC236}">
                <a16:creationId xmlns:a16="http://schemas.microsoft.com/office/drawing/2014/main" id="{50536969-19D4-4F34-9278-8EBDABF39F72}"/>
              </a:ext>
            </a:extLst>
          </p:cNvPr>
          <p:cNvSpPr txBox="1"/>
          <p:nvPr/>
        </p:nvSpPr>
        <p:spPr>
          <a:xfrm>
            <a:off x="2518480" y="3529583"/>
            <a:ext cx="2773600" cy="593008"/>
          </a:xfrm>
          <a:prstGeom prst="rect">
            <a:avLst/>
          </a:prstGeom>
          <a:noFill/>
          <a:ln w="28575">
            <a:solidFill>
              <a:srgbClr val="FF0000"/>
            </a:solidFill>
            <a:prstDash val="lgDash"/>
          </a:ln>
        </p:spPr>
        <p:txBody>
          <a:bodyPr wrap="square" rtlCol="0">
            <a:spAutoFit/>
          </a:bodyPr>
          <a:lstStyle/>
          <a:p>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标题 314369"/>
          <p:cNvSpPr>
            <a:spLocks noGrp="1"/>
          </p:cNvSpPr>
          <p:nvPr>
            <p:ph type="title"/>
          </p:nvPr>
        </p:nvSpPr>
        <p:spPr>
          <a:xfrm>
            <a:off x="1619672" y="223838"/>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14371" name="文本框 314370"/>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14372" name="文本框 314371"/>
          <p:cNvSpPr txBox="1"/>
          <p:nvPr/>
        </p:nvSpPr>
        <p:spPr>
          <a:xfrm>
            <a:off x="5724128" y="908050"/>
            <a:ext cx="3169046" cy="4154984"/>
          </a:xfrm>
          <a:prstGeom prst="rect">
            <a:avLst/>
          </a:prstGeom>
          <a:noFill/>
          <a:ln w="9525">
            <a:noFill/>
          </a:ln>
        </p:spPr>
        <p:txBody>
          <a:bodyPr wrap="square">
            <a:spAutoFit/>
          </a:bodyPr>
          <a:lstStyle/>
          <a:p>
            <a:pPr lvl="0" eaLnBrk="0" hangingPunct="0"/>
            <a:r>
              <a:rPr lang="zh-CN" altLang="en-US" sz="2400" b="1" dirty="0">
                <a:solidFill>
                  <a:srgbClr val="FF00FF"/>
                </a:solidFill>
                <a:latin typeface="Arial" panose="020B0604020202020204" pitchFamily="34" charset="0"/>
              </a:rPr>
              <a:t>（</a:t>
            </a:r>
            <a:r>
              <a:rPr lang="en-US" altLang="zh-CN" sz="2400" b="1" dirty="0">
                <a:solidFill>
                  <a:srgbClr val="FF00FF"/>
                </a:solidFill>
                <a:latin typeface="Arial" panose="020B0604020202020204" pitchFamily="34" charset="0"/>
              </a:rPr>
              <a:t>6</a:t>
            </a:r>
            <a:r>
              <a:rPr lang="zh-CN" altLang="en-US" sz="2400" b="1" dirty="0">
                <a:solidFill>
                  <a:srgbClr val="FF00FF"/>
                </a:solidFill>
                <a:latin typeface="Arial" panose="020B0604020202020204" pitchFamily="34" charset="0"/>
              </a:rPr>
              <a:t>）中断服务寄存器</a:t>
            </a:r>
            <a:r>
              <a:rPr lang="en-US" altLang="zh-CN" sz="2400" b="1" dirty="0">
                <a:solidFill>
                  <a:srgbClr val="FF00FF"/>
                </a:solidFill>
                <a:latin typeface="Arial" panose="020B0604020202020204" pitchFamily="34" charset="0"/>
              </a:rPr>
              <a:t>ISR</a:t>
            </a:r>
          </a:p>
          <a:p>
            <a:pPr lvl="0" eaLnBrk="0" hangingPunct="0"/>
            <a:r>
              <a:rPr lang="en-US" altLang="zh-CN" sz="2400" b="1" dirty="0">
                <a:latin typeface="Arial" panose="020B0604020202020204" pitchFamily="34" charset="0"/>
              </a:rPr>
              <a:t>    8</a:t>
            </a:r>
            <a:r>
              <a:rPr lang="zh-CN" altLang="en-US" sz="2400" b="1" dirty="0">
                <a:latin typeface="Arial" panose="020B0604020202020204" pitchFamily="34" charset="0"/>
              </a:rPr>
              <a:t>位寄存器，保存正在处理中的中断请求信号，某个</a:t>
            </a:r>
            <a:r>
              <a:rPr lang="en-US" altLang="zh-CN" sz="2400" b="1" dirty="0">
                <a:latin typeface="Arial" panose="020B0604020202020204" pitchFamily="34" charset="0"/>
              </a:rPr>
              <a:t>IR</a:t>
            </a:r>
            <a:r>
              <a:rPr lang="zh-CN" altLang="en-US" sz="2400" b="1" dirty="0">
                <a:latin typeface="Arial" panose="020B0604020202020204" pitchFamily="34" charset="0"/>
              </a:rPr>
              <a:t>端的中断请求被</a:t>
            </a:r>
            <a:r>
              <a:rPr lang="en-US" altLang="zh-CN" sz="2400" b="1" dirty="0">
                <a:latin typeface="Arial" panose="020B0604020202020204" pitchFamily="34" charset="0"/>
              </a:rPr>
              <a:t>CPU</a:t>
            </a:r>
            <a:r>
              <a:rPr lang="zh-CN" altLang="en-US" sz="2400" b="1" dirty="0">
                <a:latin typeface="Arial" panose="020B0604020202020204" pitchFamily="34" charset="0"/>
              </a:rPr>
              <a:t>响应后，当</a:t>
            </a:r>
            <a:r>
              <a:rPr lang="en-US" altLang="zh-CN" sz="2400" b="1" dirty="0">
                <a:latin typeface="Arial" panose="020B0604020202020204" pitchFamily="34" charset="0"/>
              </a:rPr>
              <a:t>CPU</a:t>
            </a:r>
            <a:r>
              <a:rPr lang="zh-CN" altLang="en-US" sz="2400" b="1" dirty="0">
                <a:latin typeface="Arial" panose="020B0604020202020204" pitchFamily="34" charset="0"/>
              </a:rPr>
              <a:t>发出第一个</a:t>
            </a:r>
            <a:r>
              <a:rPr lang="en-US" altLang="zh-CN" sz="2400" b="1" dirty="0">
                <a:latin typeface="Arial" panose="020B0604020202020204" pitchFamily="34" charset="0"/>
              </a:rPr>
              <a:t>INTA</a:t>
            </a:r>
            <a:r>
              <a:rPr lang="zh-CN" altLang="en-US" sz="2400" b="1" dirty="0">
                <a:latin typeface="Arial" panose="020B0604020202020204" pitchFamily="34" charset="0"/>
              </a:rPr>
              <a:t>信号时，</a:t>
            </a:r>
            <a:r>
              <a:rPr lang="en-US" altLang="zh-CN" sz="2400" b="1" dirty="0">
                <a:latin typeface="Arial" panose="020B0604020202020204" pitchFamily="34" charset="0"/>
              </a:rPr>
              <a:t>ISR</a:t>
            </a:r>
            <a:r>
              <a:rPr lang="zh-CN" altLang="en-US" sz="2400" b="1" dirty="0">
                <a:latin typeface="Arial" panose="020B0604020202020204" pitchFamily="34" charset="0"/>
              </a:rPr>
              <a:t>寄存器中的相应位置</a:t>
            </a:r>
            <a:r>
              <a:rPr lang="en-US" altLang="zh-CN" sz="2400" b="1" dirty="0">
                <a:latin typeface="Arial" panose="020B0604020202020204" pitchFamily="34" charset="0"/>
              </a:rPr>
              <a:t>1</a:t>
            </a:r>
            <a:r>
              <a:rPr lang="zh-CN" altLang="en-US" sz="2400" b="1" dirty="0">
                <a:latin typeface="Arial" panose="020B0604020202020204" pitchFamily="34" charset="0"/>
              </a:rPr>
              <a:t>，</a:t>
            </a:r>
            <a:r>
              <a:rPr lang="zh-CN" altLang="en-US" sz="2400" b="1" dirty="0">
                <a:solidFill>
                  <a:srgbClr val="0000FF"/>
                </a:solidFill>
                <a:latin typeface="Arial" panose="020B0604020202020204" pitchFamily="34" charset="0"/>
              </a:rPr>
              <a:t>一直保存到</a:t>
            </a:r>
            <a:r>
              <a:rPr lang="zh-CN" altLang="en-US" sz="2400" b="1" dirty="0">
                <a:latin typeface="Arial" panose="020B0604020202020204" pitchFamily="34" charset="0"/>
              </a:rPr>
              <a:t>该级中断处理结束为止。</a:t>
            </a:r>
          </a:p>
        </p:txBody>
      </p:sp>
      <p:pic>
        <p:nvPicPr>
          <p:cNvPr id="5" name="图片 4" descr="wps_clip_image-12615">
            <a:extLst>
              <a:ext uri="{FF2B5EF4-FFF2-40B4-BE49-F238E27FC236}">
                <a16:creationId xmlns:a16="http://schemas.microsoft.com/office/drawing/2014/main" id="{EF3937E4-528B-4B8A-99EC-8DF0DEEE75CC}"/>
              </a:ext>
            </a:extLst>
          </p:cNvPr>
          <p:cNvPicPr>
            <a:picLocks noChangeAspect="1"/>
          </p:cNvPicPr>
          <p:nvPr/>
        </p:nvPicPr>
        <p:blipFill>
          <a:blip r:embed="rId2"/>
          <a:stretch>
            <a:fillRect/>
          </a:stretch>
        </p:blipFill>
        <p:spPr>
          <a:xfrm>
            <a:off x="35447" y="937765"/>
            <a:ext cx="5796096" cy="3643363"/>
          </a:xfrm>
          <a:prstGeom prst="rect">
            <a:avLst/>
          </a:prstGeom>
          <a:noFill/>
          <a:ln w="9525">
            <a:noFill/>
          </a:ln>
        </p:spPr>
      </p:pic>
      <p:sp>
        <p:nvSpPr>
          <p:cNvPr id="6" name="文本框 5">
            <a:extLst>
              <a:ext uri="{FF2B5EF4-FFF2-40B4-BE49-F238E27FC236}">
                <a16:creationId xmlns:a16="http://schemas.microsoft.com/office/drawing/2014/main" id="{85756457-0EBB-4A0B-9355-24F9B3625A3B}"/>
              </a:ext>
            </a:extLst>
          </p:cNvPr>
          <p:cNvSpPr txBox="1"/>
          <p:nvPr/>
        </p:nvSpPr>
        <p:spPr>
          <a:xfrm>
            <a:off x="2494097" y="2474739"/>
            <a:ext cx="853767" cy="1008112"/>
          </a:xfrm>
          <a:prstGeom prst="rect">
            <a:avLst/>
          </a:prstGeom>
          <a:noFill/>
          <a:ln w="28575">
            <a:solidFill>
              <a:srgbClr val="FF0000"/>
            </a:solidFill>
            <a:prstDash val="lgDash"/>
          </a:ln>
        </p:spPr>
        <p:txBody>
          <a:bodyPr wrap="square" rtlCol="0">
            <a:spAutoFit/>
          </a:bodyPr>
          <a:lstStyle/>
          <a:p>
            <a:endParaRPr lang="zh-CN" altLang="en-US" dirty="0"/>
          </a:p>
        </p:txBody>
      </p:sp>
      <p:sp>
        <p:nvSpPr>
          <p:cNvPr id="8" name="文本框 7">
            <a:extLst>
              <a:ext uri="{FF2B5EF4-FFF2-40B4-BE49-F238E27FC236}">
                <a16:creationId xmlns:a16="http://schemas.microsoft.com/office/drawing/2014/main" id="{338C964F-793D-48EB-B91A-FCF7B7427791}"/>
              </a:ext>
            </a:extLst>
          </p:cNvPr>
          <p:cNvSpPr txBox="1"/>
          <p:nvPr/>
        </p:nvSpPr>
        <p:spPr>
          <a:xfrm>
            <a:off x="516799" y="4863255"/>
            <a:ext cx="4833391" cy="1569660"/>
          </a:xfrm>
          <a:prstGeom prst="rect">
            <a:avLst/>
          </a:prstGeom>
          <a:noFill/>
        </p:spPr>
        <p:txBody>
          <a:bodyPr wrap="square">
            <a:spAutoFit/>
          </a:bodyPr>
          <a:lstStyle/>
          <a:p>
            <a:r>
              <a:rPr lang="zh-CN" altLang="en-US" sz="2400" b="1" dirty="0">
                <a:latin typeface="Arial" panose="020B0604020202020204" pitchFamily="34" charset="0"/>
              </a:rPr>
              <a:t>    只有在允许中断嵌套时，</a:t>
            </a:r>
            <a:r>
              <a:rPr lang="en-US" altLang="zh-CN" sz="2400" b="1" dirty="0">
                <a:latin typeface="Arial" panose="020B0604020202020204" pitchFamily="34" charset="0"/>
              </a:rPr>
              <a:t>ISR</a:t>
            </a:r>
            <a:r>
              <a:rPr lang="zh-CN" altLang="en-US" sz="2400" b="1" dirty="0">
                <a:latin typeface="Arial" panose="020B0604020202020204" pitchFamily="34" charset="0"/>
              </a:rPr>
              <a:t>中才有可能多位同时被置成</a:t>
            </a:r>
            <a:r>
              <a:rPr lang="en-US" altLang="zh-CN" sz="2400" b="1" dirty="0">
                <a:latin typeface="Arial" panose="020B0604020202020204" pitchFamily="34" charset="0"/>
              </a:rPr>
              <a:t>1</a:t>
            </a:r>
            <a:r>
              <a:rPr lang="zh-CN" altLang="en-US" sz="2400" b="1" dirty="0">
                <a:latin typeface="Arial" panose="020B0604020202020204" pitchFamily="34" charset="0"/>
              </a:rPr>
              <a:t>。</a:t>
            </a:r>
            <a:r>
              <a:rPr lang="zh-CN" altLang="en-US" sz="2400" b="1" dirty="0">
                <a:solidFill>
                  <a:srgbClr val="0000FF"/>
                </a:solidFill>
                <a:latin typeface="Arial" panose="020B0604020202020204" pitchFamily="34" charset="0"/>
              </a:rPr>
              <a:t>优先级最高的位是正在服务的中断源的对应位</a:t>
            </a:r>
            <a:r>
              <a:rPr lang="zh-CN" altLang="en-US" sz="2400" b="1" dirty="0">
                <a:latin typeface="Arial" panose="020B0604020202020204" pitchFamily="34" charset="0"/>
              </a:rPr>
              <a:t>。</a:t>
            </a:r>
            <a:endParaRPr lang="zh-CN" altLang="en-US" sz="2400" dirty="0"/>
          </a:p>
        </p:txBody>
      </p:sp>
      <p:cxnSp>
        <p:nvCxnSpPr>
          <p:cNvPr id="3" name="直接连接符 2">
            <a:extLst>
              <a:ext uri="{FF2B5EF4-FFF2-40B4-BE49-F238E27FC236}">
                <a16:creationId xmlns:a16="http://schemas.microsoft.com/office/drawing/2014/main" id="{65B0230E-5A24-436B-A399-A065EC08E988}"/>
              </a:ext>
            </a:extLst>
          </p:cNvPr>
          <p:cNvCxnSpPr/>
          <p:nvPr/>
        </p:nvCxnSpPr>
        <p:spPr>
          <a:xfrm>
            <a:off x="5822018" y="3520951"/>
            <a:ext cx="6126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4627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标题 315393"/>
          <p:cNvSpPr>
            <a:spLocks noGrp="1"/>
          </p:cNvSpPr>
          <p:nvPr>
            <p:ph type="title"/>
          </p:nvPr>
        </p:nvSpPr>
        <p:spPr>
          <a:xfrm>
            <a:off x="1619672" y="223838"/>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15395" name="文本框 315394"/>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15396" name="文本框 315395"/>
          <p:cNvSpPr txBox="1"/>
          <p:nvPr/>
        </p:nvSpPr>
        <p:spPr>
          <a:xfrm>
            <a:off x="5615560" y="1323747"/>
            <a:ext cx="3528440" cy="1938992"/>
          </a:xfrm>
          <a:prstGeom prst="rect">
            <a:avLst/>
          </a:prstGeom>
          <a:noFill/>
          <a:ln w="9525">
            <a:noFill/>
          </a:ln>
        </p:spPr>
        <p:txBody>
          <a:bodyPr wrap="square">
            <a:spAutoFit/>
          </a:bodyPr>
          <a:lstStyle/>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7</a:t>
            </a:r>
            <a:r>
              <a:rPr lang="zh-CN" altLang="en-US" sz="2400" b="1" dirty="0">
                <a:solidFill>
                  <a:srgbClr val="FF00FF"/>
                </a:solidFill>
                <a:latin typeface="Arial" panose="020B0604020202020204" pitchFamily="34" charset="0"/>
                <a:ea typeface="宋体" panose="02010600030101010101" pitchFamily="2" charset="-122"/>
              </a:rPr>
              <a:t>）优先权分析器</a:t>
            </a:r>
            <a:r>
              <a:rPr lang="en-US" altLang="zh-CN" sz="2400" b="1" dirty="0">
                <a:solidFill>
                  <a:srgbClr val="FF00FF"/>
                </a:solidFill>
                <a:latin typeface="Arial" panose="020B0604020202020204" pitchFamily="34" charset="0"/>
                <a:ea typeface="宋体" panose="02010600030101010101" pitchFamily="2" charset="-122"/>
              </a:rPr>
              <a:t>PR</a:t>
            </a:r>
          </a:p>
          <a:p>
            <a:pPr lvl="0" eaLnBrk="0" hangingPunct="0"/>
            <a:r>
              <a:rPr lang="zh-CN" altLang="en-US" sz="2400" b="1" dirty="0">
                <a:latin typeface="Arial" panose="020B0604020202020204" pitchFamily="34" charset="0"/>
              </a:rPr>
              <a:t>    对</a:t>
            </a:r>
            <a:r>
              <a:rPr lang="en-US" altLang="zh-CN" sz="2400" b="1" dirty="0">
                <a:latin typeface="Arial" panose="020B0604020202020204" pitchFamily="34" charset="0"/>
              </a:rPr>
              <a:t>IRR</a:t>
            </a:r>
            <a:r>
              <a:rPr lang="zh-CN" altLang="en-US" sz="2400" b="1" dirty="0">
                <a:latin typeface="Arial" panose="020B0604020202020204" pitchFamily="34" charset="0"/>
              </a:rPr>
              <a:t>寄存器中的各中断请求信号进行优先级判别，将其中级别最高的中断请求送往</a:t>
            </a:r>
            <a:r>
              <a:rPr lang="en-US" altLang="zh-CN" sz="2400" b="1" dirty="0">
                <a:latin typeface="Arial" panose="020B0604020202020204" pitchFamily="34" charset="0"/>
              </a:rPr>
              <a:t>CPU</a:t>
            </a:r>
            <a:r>
              <a:rPr lang="zh-CN" altLang="en-US" sz="2400" b="1" dirty="0">
                <a:latin typeface="Arial" panose="020B0604020202020204" pitchFamily="34" charset="0"/>
              </a:rPr>
              <a:t>。</a:t>
            </a:r>
            <a:endParaRPr lang="en-US" altLang="zh-CN" sz="2400" b="1" dirty="0">
              <a:latin typeface="Arial" panose="020B0604020202020204" pitchFamily="34" charset="0"/>
            </a:endParaRPr>
          </a:p>
        </p:txBody>
      </p:sp>
      <p:pic>
        <p:nvPicPr>
          <p:cNvPr id="5" name="图片 4" descr="wps_clip_image-12615">
            <a:extLst>
              <a:ext uri="{FF2B5EF4-FFF2-40B4-BE49-F238E27FC236}">
                <a16:creationId xmlns:a16="http://schemas.microsoft.com/office/drawing/2014/main" id="{88E9A1C0-E96F-4C4F-BB99-CDA52F22D931}"/>
              </a:ext>
            </a:extLst>
          </p:cNvPr>
          <p:cNvPicPr>
            <a:picLocks noChangeAspect="1"/>
          </p:cNvPicPr>
          <p:nvPr/>
        </p:nvPicPr>
        <p:blipFill>
          <a:blip r:embed="rId2"/>
          <a:stretch>
            <a:fillRect/>
          </a:stretch>
        </p:blipFill>
        <p:spPr>
          <a:xfrm>
            <a:off x="35447" y="937765"/>
            <a:ext cx="5796096" cy="3643363"/>
          </a:xfrm>
          <a:prstGeom prst="rect">
            <a:avLst/>
          </a:prstGeom>
          <a:noFill/>
          <a:ln w="9525">
            <a:noFill/>
          </a:ln>
        </p:spPr>
      </p:pic>
      <p:sp>
        <p:nvSpPr>
          <p:cNvPr id="6" name="文本框 5">
            <a:extLst>
              <a:ext uri="{FF2B5EF4-FFF2-40B4-BE49-F238E27FC236}">
                <a16:creationId xmlns:a16="http://schemas.microsoft.com/office/drawing/2014/main" id="{93900F3B-5ECD-4068-9842-C7DD965D7536}"/>
              </a:ext>
            </a:extLst>
          </p:cNvPr>
          <p:cNvSpPr txBox="1"/>
          <p:nvPr/>
        </p:nvSpPr>
        <p:spPr>
          <a:xfrm>
            <a:off x="3419872" y="2479973"/>
            <a:ext cx="853767" cy="1008112"/>
          </a:xfrm>
          <a:prstGeom prst="rect">
            <a:avLst/>
          </a:prstGeom>
          <a:noFill/>
          <a:ln w="28575">
            <a:solidFill>
              <a:srgbClr val="FF0000"/>
            </a:solidFill>
            <a:prstDash val="lgDash"/>
          </a:ln>
        </p:spPr>
        <p:txBody>
          <a:bodyPr wrap="square" rtlCol="0">
            <a:spAutoFit/>
          </a:bodyPr>
          <a:lstStyle/>
          <a:p>
            <a:endParaRPr lang="zh-CN" altLang="en-US" dirty="0"/>
          </a:p>
        </p:txBody>
      </p:sp>
      <p:sp>
        <p:nvSpPr>
          <p:cNvPr id="8" name="文本框 7">
            <a:extLst>
              <a:ext uri="{FF2B5EF4-FFF2-40B4-BE49-F238E27FC236}">
                <a16:creationId xmlns:a16="http://schemas.microsoft.com/office/drawing/2014/main" id="{3B96849B-F3CC-4195-8ECE-6BE3125BD1AC}"/>
              </a:ext>
            </a:extLst>
          </p:cNvPr>
          <p:cNvSpPr txBox="1"/>
          <p:nvPr/>
        </p:nvSpPr>
        <p:spPr>
          <a:xfrm>
            <a:off x="543836" y="4564757"/>
            <a:ext cx="7340532" cy="1938992"/>
          </a:xfrm>
          <a:prstGeom prst="rect">
            <a:avLst/>
          </a:prstGeom>
          <a:noFill/>
        </p:spPr>
        <p:txBody>
          <a:bodyPr wrap="square">
            <a:spAutoFit/>
          </a:bodyPr>
          <a:lstStyle/>
          <a:p>
            <a:r>
              <a:rPr lang="zh-CN" altLang="en-US" sz="2400" b="1" dirty="0">
                <a:latin typeface="Arial" panose="020B0604020202020204" pitchFamily="34" charset="0"/>
              </a:rPr>
              <a:t>    中断嵌套时，</a:t>
            </a:r>
            <a:r>
              <a:rPr lang="en-US" altLang="zh-CN" sz="2400" b="1" dirty="0">
                <a:latin typeface="Arial" panose="020B0604020202020204" pitchFamily="34" charset="0"/>
              </a:rPr>
              <a:t>PR</a:t>
            </a:r>
            <a:r>
              <a:rPr lang="zh-CN" altLang="en-US" sz="2400" b="1" dirty="0">
                <a:latin typeface="Arial" panose="020B0604020202020204" pitchFamily="34" charset="0"/>
              </a:rPr>
              <a:t>会将后来的中断请求与</a:t>
            </a:r>
            <a:r>
              <a:rPr lang="en-US" altLang="zh-CN" sz="2400" b="1" dirty="0">
                <a:latin typeface="Arial" panose="020B0604020202020204" pitchFamily="34" charset="0"/>
              </a:rPr>
              <a:t>ISR</a:t>
            </a:r>
            <a:r>
              <a:rPr lang="zh-CN" altLang="en-US" sz="2400" b="1" dirty="0">
                <a:latin typeface="Arial" panose="020B0604020202020204" pitchFamily="34" charset="0"/>
              </a:rPr>
              <a:t>中正在被服务的中断请求的优先级</a:t>
            </a:r>
            <a:r>
              <a:rPr lang="zh-CN" altLang="en-US" sz="2400" dirty="0">
                <a:solidFill>
                  <a:srgbClr val="0000FF"/>
                </a:solidFill>
                <a:latin typeface="Arial" panose="020B0604020202020204" pitchFamily="34" charset="0"/>
                <a:ea typeface="宋体" panose="02010600030101010101" pitchFamily="2" charset="-122"/>
              </a:rPr>
              <a:t>相比较</a:t>
            </a:r>
            <a:r>
              <a:rPr lang="zh-CN" altLang="en-US" sz="2400" b="1" dirty="0">
                <a:latin typeface="Arial" panose="020B0604020202020204" pitchFamily="34" charset="0"/>
              </a:rPr>
              <a:t>，如果</a:t>
            </a:r>
            <a:r>
              <a:rPr lang="en-US" altLang="zh-CN" sz="2400" b="1" dirty="0">
                <a:latin typeface="Arial" panose="020B0604020202020204" pitchFamily="34" charset="0"/>
              </a:rPr>
              <a:t>IRR</a:t>
            </a:r>
            <a:r>
              <a:rPr lang="zh-CN" altLang="en-US" sz="2400" b="1" dirty="0">
                <a:latin typeface="Arial" panose="020B0604020202020204" pitchFamily="34" charset="0"/>
              </a:rPr>
              <a:t>中记录的中断请求的优先级高于</a:t>
            </a:r>
            <a:r>
              <a:rPr lang="en-US" altLang="zh-CN" sz="2400" b="1" dirty="0">
                <a:latin typeface="Arial" panose="020B0604020202020204" pitchFamily="34" charset="0"/>
              </a:rPr>
              <a:t>ISR</a:t>
            </a:r>
            <a:r>
              <a:rPr lang="zh-CN" altLang="en-US" sz="2400" b="1" dirty="0">
                <a:latin typeface="Arial" panose="020B0604020202020204" pitchFamily="34" charset="0"/>
              </a:rPr>
              <a:t>中记录的中断请求的优先级，则</a:t>
            </a:r>
            <a:r>
              <a:rPr lang="en-US" altLang="zh-CN" sz="2400" b="1" dirty="0">
                <a:latin typeface="Arial" panose="020B0604020202020204" pitchFamily="34" charset="0"/>
              </a:rPr>
              <a:t>PR</a:t>
            </a:r>
            <a:r>
              <a:rPr lang="zh-CN" altLang="en-US" sz="2400" b="1" dirty="0">
                <a:latin typeface="Arial" panose="020B0604020202020204" pitchFamily="34" charset="0"/>
              </a:rPr>
              <a:t>会向</a:t>
            </a:r>
            <a:r>
              <a:rPr lang="en-US" altLang="zh-CN" sz="2400" b="1" dirty="0">
                <a:latin typeface="Arial" panose="020B0604020202020204" pitchFamily="34" charset="0"/>
              </a:rPr>
              <a:t>CPU</a:t>
            </a:r>
            <a:r>
              <a:rPr lang="zh-CN" altLang="en-US" sz="2400" b="1" dirty="0">
                <a:latin typeface="Arial" panose="020B0604020202020204" pitchFamily="34" charset="0"/>
              </a:rPr>
              <a:t>发出中断请求信号</a:t>
            </a:r>
            <a:r>
              <a:rPr lang="en-US" altLang="zh-CN" sz="2400" b="1" dirty="0">
                <a:latin typeface="Arial" panose="020B0604020202020204" pitchFamily="34" charset="0"/>
              </a:rPr>
              <a:t>INT</a:t>
            </a:r>
            <a:r>
              <a:rPr lang="zh-CN" altLang="en-US" sz="2400" b="1" dirty="0">
                <a:latin typeface="Arial" panose="020B0604020202020204" pitchFamily="34" charset="0"/>
              </a:rPr>
              <a:t>，中止当前的中断服务，进行中断嵌套。</a:t>
            </a:r>
            <a:endParaRPr lang="zh-CN" alt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标题 315393"/>
          <p:cNvSpPr>
            <a:spLocks noGrp="1"/>
          </p:cNvSpPr>
          <p:nvPr>
            <p:ph type="title"/>
          </p:nvPr>
        </p:nvSpPr>
        <p:spPr>
          <a:xfrm>
            <a:off x="1619672" y="223838"/>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15396" name="文本框 315395"/>
          <p:cNvSpPr txBox="1"/>
          <p:nvPr/>
        </p:nvSpPr>
        <p:spPr>
          <a:xfrm>
            <a:off x="5723434" y="764704"/>
            <a:ext cx="3385070" cy="3785652"/>
          </a:xfrm>
          <a:prstGeom prst="rect">
            <a:avLst/>
          </a:prstGeom>
          <a:noFill/>
          <a:ln w="9525">
            <a:noFill/>
          </a:ln>
        </p:spPr>
        <p:txBody>
          <a:bodyPr wrap="square">
            <a:spAutoFit/>
          </a:bodyPr>
          <a:lstStyle/>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8</a:t>
            </a:r>
            <a:r>
              <a:rPr lang="zh-CN" altLang="en-US" sz="2400" b="1" dirty="0">
                <a:solidFill>
                  <a:srgbClr val="FF00FF"/>
                </a:solidFill>
                <a:latin typeface="Arial" panose="020B0604020202020204" pitchFamily="34" charset="0"/>
                <a:ea typeface="宋体" panose="02010600030101010101" pitchFamily="2" charset="-122"/>
              </a:rPr>
              <a:t>）控制逻辑</a:t>
            </a:r>
          </a:p>
          <a:p>
            <a:pPr lvl="0" eaLnBrk="0" hangingPunct="0"/>
            <a:r>
              <a:rPr lang="en-US" altLang="zh-CN" sz="2400" b="1" dirty="0">
                <a:latin typeface="Arial" panose="020B0604020202020204" pitchFamily="34" charset="0"/>
              </a:rPr>
              <a:t>      8259A</a:t>
            </a:r>
            <a:r>
              <a:rPr lang="zh-CN" altLang="en-US" sz="2400" b="1" dirty="0">
                <a:latin typeface="Arial" panose="020B0604020202020204" pitchFamily="34" charset="0"/>
              </a:rPr>
              <a:t>的内部控制器，其根据中断请求寄存器</a:t>
            </a:r>
            <a:r>
              <a:rPr lang="en-US" altLang="zh-CN" sz="2400" b="1" dirty="0">
                <a:latin typeface="Arial" panose="020B0604020202020204" pitchFamily="34" charset="0"/>
              </a:rPr>
              <a:t>IRR</a:t>
            </a:r>
            <a:r>
              <a:rPr lang="zh-CN" altLang="en-US" sz="2400" b="1" dirty="0">
                <a:latin typeface="Arial" panose="020B0604020202020204" pitchFamily="34" charset="0"/>
              </a:rPr>
              <a:t>的置位情况和中断屏蔽寄存器</a:t>
            </a:r>
            <a:r>
              <a:rPr lang="en-US" altLang="zh-CN" sz="2400" b="1" dirty="0">
                <a:latin typeface="Arial" panose="020B0604020202020204" pitchFamily="34" charset="0"/>
              </a:rPr>
              <a:t>IMR</a:t>
            </a:r>
            <a:r>
              <a:rPr lang="zh-CN" altLang="en-US" sz="2400" b="1" dirty="0">
                <a:latin typeface="Arial" panose="020B0604020202020204" pitchFamily="34" charset="0"/>
              </a:rPr>
              <a:t>的设置情况，通过优先级分析器</a:t>
            </a:r>
            <a:r>
              <a:rPr lang="en-US" altLang="zh-CN" sz="2400" b="1" dirty="0">
                <a:latin typeface="Arial" panose="020B0604020202020204" pitchFamily="34" charset="0"/>
              </a:rPr>
              <a:t>PR</a:t>
            </a:r>
            <a:r>
              <a:rPr lang="zh-CN" altLang="en-US" sz="2400" b="1" dirty="0">
                <a:latin typeface="Arial" panose="020B0604020202020204" pitchFamily="34" charset="0"/>
              </a:rPr>
              <a:t>判定优先级，向</a:t>
            </a:r>
            <a:r>
              <a:rPr lang="en-US" altLang="zh-CN" sz="2400" b="1" dirty="0">
                <a:latin typeface="Arial" panose="020B0604020202020204" pitchFamily="34" charset="0"/>
              </a:rPr>
              <a:t>8259A</a:t>
            </a:r>
            <a:r>
              <a:rPr lang="zh-CN" altLang="en-US" sz="2400" b="1" dirty="0">
                <a:latin typeface="Arial" panose="020B0604020202020204" pitchFamily="34" charset="0"/>
              </a:rPr>
              <a:t>内部及其它部件发出控制信号，并向</a:t>
            </a:r>
            <a:r>
              <a:rPr lang="en-US" altLang="zh-CN" sz="2400" b="1" dirty="0">
                <a:latin typeface="Arial" panose="020B0604020202020204" pitchFamily="34" charset="0"/>
              </a:rPr>
              <a:t>CPU</a:t>
            </a:r>
            <a:r>
              <a:rPr lang="zh-CN" altLang="en-US" sz="2400" b="1" dirty="0">
                <a:latin typeface="Arial" panose="020B0604020202020204" pitchFamily="34" charset="0"/>
              </a:rPr>
              <a:t>发出</a:t>
            </a:r>
            <a:r>
              <a:rPr lang="en-US" altLang="zh-CN" sz="2400" b="1" dirty="0">
                <a:latin typeface="Arial" panose="020B0604020202020204" pitchFamily="34" charset="0"/>
              </a:rPr>
              <a:t>INT</a:t>
            </a:r>
            <a:r>
              <a:rPr lang="zh-CN" altLang="en-US" sz="2400" b="1" dirty="0">
                <a:latin typeface="Arial" panose="020B0604020202020204" pitchFamily="34" charset="0"/>
              </a:rPr>
              <a:t>信号和接</a:t>
            </a:r>
          </a:p>
        </p:txBody>
      </p:sp>
      <p:pic>
        <p:nvPicPr>
          <p:cNvPr id="5" name="图片 4" descr="wps_clip_image-12615">
            <a:extLst>
              <a:ext uri="{FF2B5EF4-FFF2-40B4-BE49-F238E27FC236}">
                <a16:creationId xmlns:a16="http://schemas.microsoft.com/office/drawing/2014/main" id="{2D229ACF-C821-4AA0-A1F9-7124E6B236D2}"/>
              </a:ext>
            </a:extLst>
          </p:cNvPr>
          <p:cNvPicPr>
            <a:picLocks noChangeAspect="1"/>
          </p:cNvPicPr>
          <p:nvPr/>
        </p:nvPicPr>
        <p:blipFill>
          <a:blip r:embed="rId2"/>
          <a:stretch>
            <a:fillRect/>
          </a:stretch>
        </p:blipFill>
        <p:spPr>
          <a:xfrm>
            <a:off x="35447" y="937765"/>
            <a:ext cx="5796096" cy="3643363"/>
          </a:xfrm>
          <a:prstGeom prst="rect">
            <a:avLst/>
          </a:prstGeom>
          <a:noFill/>
          <a:ln w="9525">
            <a:noFill/>
          </a:ln>
        </p:spPr>
      </p:pic>
      <p:sp>
        <p:nvSpPr>
          <p:cNvPr id="6" name="文本框 5">
            <a:extLst>
              <a:ext uri="{FF2B5EF4-FFF2-40B4-BE49-F238E27FC236}">
                <a16:creationId xmlns:a16="http://schemas.microsoft.com/office/drawing/2014/main" id="{BF87E306-708A-4F64-ABF2-D15AE8C3A02D}"/>
              </a:ext>
            </a:extLst>
          </p:cNvPr>
          <p:cNvSpPr txBox="1"/>
          <p:nvPr/>
        </p:nvSpPr>
        <p:spPr>
          <a:xfrm>
            <a:off x="2483768" y="1268760"/>
            <a:ext cx="2736304" cy="792088"/>
          </a:xfrm>
          <a:prstGeom prst="rect">
            <a:avLst/>
          </a:prstGeom>
          <a:noFill/>
          <a:ln w="28575">
            <a:solidFill>
              <a:srgbClr val="FF0000"/>
            </a:solidFill>
            <a:prstDash val="lgDash"/>
          </a:ln>
        </p:spPr>
        <p:txBody>
          <a:bodyPr wrap="square" rtlCol="0">
            <a:spAutoFit/>
          </a:bodyPr>
          <a:lstStyle/>
          <a:p>
            <a:endParaRPr lang="zh-CN" altLang="en-US" dirty="0"/>
          </a:p>
        </p:txBody>
      </p:sp>
      <p:sp>
        <p:nvSpPr>
          <p:cNvPr id="8" name="文本框 7">
            <a:extLst>
              <a:ext uri="{FF2B5EF4-FFF2-40B4-BE49-F238E27FC236}">
                <a16:creationId xmlns:a16="http://schemas.microsoft.com/office/drawing/2014/main" id="{E3C6B545-F711-417D-81D0-3948D4834DDF}"/>
              </a:ext>
            </a:extLst>
          </p:cNvPr>
          <p:cNvSpPr txBox="1"/>
          <p:nvPr/>
        </p:nvSpPr>
        <p:spPr>
          <a:xfrm>
            <a:off x="779605" y="4437112"/>
            <a:ext cx="8256891" cy="1200329"/>
          </a:xfrm>
          <a:prstGeom prst="rect">
            <a:avLst/>
          </a:prstGeom>
          <a:noFill/>
        </p:spPr>
        <p:txBody>
          <a:bodyPr wrap="square">
            <a:spAutoFit/>
          </a:bodyPr>
          <a:lstStyle/>
          <a:p>
            <a:r>
              <a:rPr lang="zh-CN" altLang="en-US" sz="2400" b="1" dirty="0">
                <a:latin typeface="Arial" panose="020B0604020202020204" pitchFamily="34" charset="0"/>
              </a:rPr>
              <a:t>收</a:t>
            </a:r>
            <a:r>
              <a:rPr lang="en-US" altLang="zh-CN" sz="2400" b="1" dirty="0">
                <a:latin typeface="Arial" panose="020B0604020202020204" pitchFamily="34" charset="0"/>
              </a:rPr>
              <a:t>CPU</a:t>
            </a:r>
            <a:r>
              <a:rPr lang="zh-CN" altLang="en-US" sz="2400" b="1" dirty="0">
                <a:latin typeface="Arial" panose="020B0604020202020204" pitchFamily="34" charset="0"/>
              </a:rPr>
              <a:t>的响应信号，使</a:t>
            </a:r>
            <a:r>
              <a:rPr lang="en-US" altLang="zh-CN" sz="2400" b="1" dirty="0">
                <a:latin typeface="Arial" panose="020B0604020202020204" pitchFamily="34" charset="0"/>
              </a:rPr>
              <a:t>ISR</a:t>
            </a:r>
            <a:r>
              <a:rPr lang="zh-CN" altLang="en-US" sz="2400" b="1" dirty="0">
                <a:latin typeface="Arial" panose="020B0604020202020204" pitchFamily="34" charset="0"/>
              </a:rPr>
              <a:t>寄存器相应位置</a:t>
            </a:r>
            <a:r>
              <a:rPr lang="en-US" altLang="zh-CN" sz="2400" b="1" dirty="0">
                <a:latin typeface="Arial" panose="020B0604020202020204" pitchFamily="34" charset="0"/>
              </a:rPr>
              <a:t>1</a:t>
            </a:r>
            <a:r>
              <a:rPr lang="zh-CN" altLang="en-US" sz="2400" b="1" dirty="0">
                <a:latin typeface="Arial" panose="020B0604020202020204" pitchFamily="34" charset="0"/>
              </a:rPr>
              <a:t>，同时清除</a:t>
            </a:r>
            <a:r>
              <a:rPr lang="en-US" altLang="zh-CN" sz="2400" b="1" dirty="0">
                <a:latin typeface="Arial" panose="020B0604020202020204" pitchFamily="34" charset="0"/>
              </a:rPr>
              <a:t>IRR</a:t>
            </a:r>
            <a:r>
              <a:rPr lang="zh-CN" altLang="en-US" sz="2400" b="1" dirty="0">
                <a:latin typeface="Arial" panose="020B0604020202020204" pitchFamily="34" charset="0"/>
              </a:rPr>
              <a:t>寄存器中的相应位。当</a:t>
            </a:r>
            <a:r>
              <a:rPr lang="en-US" altLang="zh-CN" sz="2400" b="1" dirty="0">
                <a:latin typeface="Arial" panose="020B0604020202020204" pitchFamily="34" charset="0"/>
              </a:rPr>
              <a:t>CPU</a:t>
            </a:r>
            <a:r>
              <a:rPr lang="zh-CN" altLang="en-US" sz="2400" b="1" dirty="0">
                <a:latin typeface="Arial" panose="020B0604020202020204" pitchFamily="34" charset="0"/>
              </a:rPr>
              <a:t>第二个</a:t>
            </a:r>
            <a:r>
              <a:rPr lang="en-US" altLang="zh-CN" sz="2400" b="1" dirty="0">
                <a:latin typeface="Arial" panose="020B0604020202020204" pitchFamily="34" charset="0"/>
              </a:rPr>
              <a:t>INTA</a:t>
            </a:r>
            <a:r>
              <a:rPr lang="zh-CN" altLang="en-US" sz="2400" b="1" dirty="0">
                <a:latin typeface="Arial" panose="020B0604020202020204" pitchFamily="34" charset="0"/>
              </a:rPr>
              <a:t>到来时，控制</a:t>
            </a:r>
            <a:r>
              <a:rPr lang="en-US" altLang="zh-CN" sz="2400" b="1" dirty="0">
                <a:latin typeface="Arial" panose="020B0604020202020204" pitchFamily="34" charset="0"/>
              </a:rPr>
              <a:t>8259A</a:t>
            </a:r>
            <a:r>
              <a:rPr lang="zh-CN" altLang="en-US" sz="2400" b="1" dirty="0">
                <a:latin typeface="Arial" panose="020B0604020202020204" pitchFamily="34" charset="0"/>
              </a:rPr>
              <a:t>送出中断类型号，使</a:t>
            </a:r>
            <a:r>
              <a:rPr lang="en-US" altLang="zh-CN" sz="2400" b="1" dirty="0">
                <a:latin typeface="Arial" panose="020B0604020202020204" pitchFamily="34" charset="0"/>
              </a:rPr>
              <a:t>CPU</a:t>
            </a:r>
            <a:r>
              <a:rPr lang="zh-CN" altLang="en-US" sz="2400" b="1" dirty="0">
                <a:latin typeface="Arial" panose="020B0604020202020204" pitchFamily="34" charset="0"/>
              </a:rPr>
              <a:t>转入中断服务程序。</a:t>
            </a:r>
            <a:endParaRPr lang="zh-CN" altLang="en-US" sz="2400" dirty="0"/>
          </a:p>
        </p:txBody>
      </p:sp>
      <p:cxnSp>
        <p:nvCxnSpPr>
          <p:cNvPr id="4" name="直接连接符 3">
            <a:extLst>
              <a:ext uri="{FF2B5EF4-FFF2-40B4-BE49-F238E27FC236}">
                <a16:creationId xmlns:a16="http://schemas.microsoft.com/office/drawing/2014/main" id="{E966CFCF-D3AE-4A09-8824-538023725E5F}"/>
              </a:ext>
            </a:extLst>
          </p:cNvPr>
          <p:cNvCxnSpPr/>
          <p:nvPr/>
        </p:nvCxnSpPr>
        <p:spPr>
          <a:xfrm>
            <a:off x="5489054" y="4883453"/>
            <a:ext cx="6480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90411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标题 316417"/>
          <p:cNvSpPr>
            <a:spLocks noGrp="1"/>
          </p:cNvSpPr>
          <p:nvPr>
            <p:ph type="title"/>
          </p:nvPr>
        </p:nvSpPr>
        <p:spPr>
          <a:xfrm>
            <a:off x="1547664" y="210007"/>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16419" name="文本框 316418"/>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16420" name="文本框 316419"/>
          <p:cNvSpPr txBox="1"/>
          <p:nvPr/>
        </p:nvSpPr>
        <p:spPr>
          <a:xfrm>
            <a:off x="250825" y="908050"/>
            <a:ext cx="8642350" cy="461665"/>
          </a:xfrm>
          <a:prstGeom prst="rect">
            <a:avLst/>
          </a:prstGeom>
          <a:noFill/>
          <a:ln w="9525">
            <a:noFill/>
          </a:ln>
        </p:spPr>
        <p:txBody>
          <a:bodyPr>
            <a:spAutoFit/>
          </a:bodyPr>
          <a:lstStyle/>
          <a:p>
            <a:pPr lvl="0" eaLnBrk="0" hangingPunct="0"/>
            <a:r>
              <a:rPr lang="zh-CN" altLang="zh-CN" sz="2400" dirty="0">
                <a:solidFill>
                  <a:srgbClr val="0000FF"/>
                </a:solidFill>
                <a:latin typeface="Arial" panose="020B0604020202020204" pitchFamily="34" charset="0"/>
                <a:ea typeface="宋体" panose="02010600030101010101" pitchFamily="2" charset="-122"/>
              </a:rPr>
              <a:t>2．8259A的引脚信号</a:t>
            </a:r>
          </a:p>
        </p:txBody>
      </p:sp>
      <p:pic>
        <p:nvPicPr>
          <p:cNvPr id="316422" name="图片 316421" descr="wps_clip_image-13467"/>
          <p:cNvPicPr>
            <a:picLocks noChangeAspect="1"/>
          </p:cNvPicPr>
          <p:nvPr/>
        </p:nvPicPr>
        <p:blipFill>
          <a:blip r:embed="rId2"/>
          <a:stretch>
            <a:fillRect/>
          </a:stretch>
        </p:blipFill>
        <p:spPr>
          <a:xfrm>
            <a:off x="6245795" y="1268413"/>
            <a:ext cx="3006725" cy="4105275"/>
          </a:xfrm>
          <a:prstGeom prst="rect">
            <a:avLst/>
          </a:prstGeom>
          <a:noFill/>
          <a:ln w="9525">
            <a:noFill/>
          </a:ln>
        </p:spPr>
      </p:pic>
      <p:sp>
        <p:nvSpPr>
          <p:cNvPr id="316423" name="文本框 316422"/>
          <p:cNvSpPr txBox="1"/>
          <p:nvPr/>
        </p:nvSpPr>
        <p:spPr>
          <a:xfrm>
            <a:off x="250825" y="1484784"/>
            <a:ext cx="5994970" cy="4524315"/>
          </a:xfrm>
          <a:prstGeom prst="rect">
            <a:avLst/>
          </a:prstGeom>
          <a:noFill/>
          <a:ln w="9525">
            <a:noFill/>
          </a:ln>
        </p:spPr>
        <p:txBody>
          <a:bodyPr wrap="square">
            <a:spAutoFit/>
          </a:bodyPr>
          <a:lstStyle/>
          <a:p>
            <a:pPr lvl="0" eaLnBrk="0" hangingPunct="0"/>
            <a:r>
              <a:rPr lang="zh-CN" altLang="zh-CN" sz="2400" b="1" dirty="0">
                <a:solidFill>
                  <a:srgbClr val="FF00FF"/>
                </a:solidFill>
                <a:latin typeface="Arial" panose="020B0604020202020204" pitchFamily="34" charset="0"/>
                <a:ea typeface="宋体" panose="02010600030101010101" pitchFamily="2" charset="-122"/>
              </a:rPr>
              <a:t>D</a:t>
            </a:r>
            <a:r>
              <a:rPr lang="zh-CN" altLang="zh-CN" sz="2400" b="1" baseline="-25000" dirty="0">
                <a:solidFill>
                  <a:srgbClr val="FF00FF"/>
                </a:solidFill>
                <a:latin typeface="Arial" panose="020B0604020202020204" pitchFamily="34" charset="0"/>
                <a:ea typeface="宋体" panose="02010600030101010101" pitchFamily="2" charset="-122"/>
              </a:rPr>
              <a:t>7</a:t>
            </a:r>
            <a:r>
              <a:rPr lang="zh-CN" altLang="zh-CN" sz="2400" b="1" dirty="0">
                <a:solidFill>
                  <a:srgbClr val="FF00FF"/>
                </a:solidFill>
                <a:latin typeface="Arial" panose="020B0604020202020204" pitchFamily="34" charset="0"/>
                <a:ea typeface="宋体" panose="02010600030101010101" pitchFamily="2" charset="-122"/>
              </a:rPr>
              <a:t>～D</a:t>
            </a:r>
            <a:r>
              <a:rPr lang="zh-CN" altLang="zh-CN" sz="2400" b="1" baseline="-25000" dirty="0">
                <a:solidFill>
                  <a:srgbClr val="FF00FF"/>
                </a:solidFill>
                <a:latin typeface="Arial" panose="020B0604020202020204" pitchFamily="34" charset="0"/>
              </a:rPr>
              <a:t>0</a:t>
            </a:r>
            <a:r>
              <a:rPr lang="zh-CN" altLang="zh-CN" sz="2400" b="1" dirty="0">
                <a:solidFill>
                  <a:srgbClr val="FF00FF"/>
                </a:solidFill>
                <a:latin typeface="Arial" panose="020B0604020202020204" pitchFamily="34" charset="0"/>
                <a:ea typeface="宋体" panose="02010600030101010101" pitchFamily="2" charset="-122"/>
              </a:rPr>
              <a:t>：</a:t>
            </a:r>
            <a:r>
              <a:rPr lang="zh-CN" altLang="zh-CN" sz="2400" b="1" dirty="0">
                <a:latin typeface="Arial" panose="020B0604020202020204" pitchFamily="34" charset="0"/>
              </a:rPr>
              <a:t>双向、三态数据信号。在较小系统中可直接与系统数据总线相连，在较大系统中须经总线驱动器与系统总线相连，实现和CPU的数据交换。</a:t>
            </a:r>
          </a:p>
          <a:p>
            <a:pPr lvl="0" eaLnBrk="0" hangingPunct="0"/>
            <a:r>
              <a:rPr lang="zh-CN" altLang="zh-CN" sz="2400" b="1" dirty="0">
                <a:solidFill>
                  <a:srgbClr val="FF00FF"/>
                </a:solidFill>
                <a:latin typeface="Arial" panose="020B0604020202020204" pitchFamily="34" charset="0"/>
                <a:ea typeface="宋体" panose="02010600030101010101" pitchFamily="2" charset="-122"/>
              </a:rPr>
              <a:t>IR</a:t>
            </a:r>
            <a:r>
              <a:rPr lang="zh-CN" altLang="zh-CN" sz="2400" b="1" baseline="-25000" dirty="0">
                <a:solidFill>
                  <a:srgbClr val="FF00FF"/>
                </a:solidFill>
                <a:latin typeface="Arial" panose="020B0604020202020204" pitchFamily="34" charset="0"/>
              </a:rPr>
              <a:t>0</a:t>
            </a:r>
            <a:r>
              <a:rPr lang="zh-CN" altLang="zh-CN" sz="2400" b="1" dirty="0">
                <a:solidFill>
                  <a:srgbClr val="FF00FF"/>
                </a:solidFill>
                <a:latin typeface="Arial" panose="020B0604020202020204" pitchFamily="34" charset="0"/>
                <a:ea typeface="宋体" panose="02010600030101010101" pitchFamily="2" charset="-122"/>
              </a:rPr>
              <a:t>～IR</a:t>
            </a:r>
            <a:r>
              <a:rPr lang="zh-CN" altLang="zh-CN" sz="2400" b="1" baseline="-25000" dirty="0">
                <a:solidFill>
                  <a:srgbClr val="FF00FF"/>
                </a:solidFill>
                <a:latin typeface="Arial" panose="020B0604020202020204" pitchFamily="34" charset="0"/>
              </a:rPr>
              <a:t>7</a:t>
            </a:r>
            <a:r>
              <a:rPr lang="zh-CN" altLang="zh-CN" sz="2400" b="1" dirty="0">
                <a:solidFill>
                  <a:srgbClr val="FF00FF"/>
                </a:solidFill>
                <a:latin typeface="Arial" panose="020B0604020202020204" pitchFamily="34" charset="0"/>
                <a:ea typeface="宋体" panose="02010600030101010101" pitchFamily="2" charset="-122"/>
              </a:rPr>
              <a:t>：</a:t>
            </a:r>
            <a:r>
              <a:rPr lang="zh-CN" altLang="zh-CN" sz="2400" b="1" dirty="0">
                <a:latin typeface="Arial" panose="020B0604020202020204" pitchFamily="34" charset="0"/>
              </a:rPr>
              <a:t>8条外设中断请求输入信号，由外设传给8259A。通常IR</a:t>
            </a:r>
            <a:r>
              <a:rPr lang="zh-CN" altLang="zh-CN" sz="2400" b="1" baseline="-25000" dirty="0">
                <a:latin typeface="Arial" panose="020B0604020202020204" pitchFamily="34" charset="0"/>
              </a:rPr>
              <a:t>0</a:t>
            </a:r>
            <a:r>
              <a:rPr lang="zh-CN" altLang="zh-CN" sz="2400" b="1" dirty="0">
                <a:latin typeface="Arial" panose="020B0604020202020204" pitchFamily="34" charset="0"/>
              </a:rPr>
              <a:t>优先级最高，IR</a:t>
            </a:r>
            <a:r>
              <a:rPr lang="zh-CN" altLang="zh-CN" sz="2400" b="1" baseline="-25000" dirty="0">
                <a:latin typeface="Arial" panose="020B0604020202020204" pitchFamily="34" charset="0"/>
              </a:rPr>
              <a:t>7</a:t>
            </a:r>
            <a:r>
              <a:rPr lang="zh-CN" altLang="zh-CN" sz="2400" b="1" dirty="0">
                <a:latin typeface="Arial" panose="020B0604020202020204" pitchFamily="34" charset="0"/>
              </a:rPr>
              <a:t>优先级最低。</a:t>
            </a:r>
            <a:endParaRPr lang="en-US" altLang="zh-CN" sz="2400" b="1" dirty="0">
              <a:latin typeface="Arial" panose="020B0604020202020204" pitchFamily="34" charset="0"/>
            </a:endParaRPr>
          </a:p>
          <a:p>
            <a:pPr lvl="0" eaLnBrk="0" hangingPunct="0"/>
            <a:r>
              <a:rPr lang="en-US" altLang="zh-CN" sz="2400" dirty="0">
                <a:latin typeface="Arial" panose="020B0604020202020204" pitchFamily="34" charset="0"/>
                <a:ea typeface="宋体" panose="02010600030101010101" pitchFamily="2" charset="-122"/>
              </a:rPr>
              <a:t>     </a:t>
            </a:r>
            <a:r>
              <a:rPr lang="zh-CN" altLang="zh-CN" sz="2400" b="1" dirty="0">
                <a:latin typeface="Arial" panose="020B0604020202020204" pitchFamily="34" charset="0"/>
              </a:rPr>
              <a:t>主从式</a:t>
            </a:r>
            <a:r>
              <a:rPr lang="zh-CN" altLang="en-US" sz="2400" b="1" dirty="0">
                <a:latin typeface="Arial" panose="020B0604020202020204" pitchFamily="34" charset="0"/>
              </a:rPr>
              <a:t>的</a:t>
            </a:r>
            <a:r>
              <a:rPr lang="zh-CN" altLang="zh-CN" sz="2400" b="1" dirty="0">
                <a:latin typeface="Arial" panose="020B0604020202020204" pitchFamily="34" charset="0"/>
              </a:rPr>
              <a:t>级联中断系统中，主片的IR</a:t>
            </a:r>
            <a:r>
              <a:rPr lang="zh-CN" altLang="zh-CN" sz="2400" b="1" baseline="-25000" dirty="0">
                <a:latin typeface="Arial" panose="020B0604020202020204" pitchFamily="34" charset="0"/>
              </a:rPr>
              <a:t>0</a:t>
            </a:r>
            <a:r>
              <a:rPr lang="zh-CN" altLang="zh-CN" sz="2400" b="1" dirty="0">
                <a:latin typeface="Arial" panose="020B0604020202020204" pitchFamily="34" charset="0"/>
              </a:rPr>
              <a:t>～IR</a:t>
            </a:r>
            <a:r>
              <a:rPr lang="zh-CN" altLang="zh-CN" sz="2400" b="1" baseline="-25000" dirty="0">
                <a:latin typeface="Arial" panose="020B0604020202020204" pitchFamily="34" charset="0"/>
              </a:rPr>
              <a:t>7</a:t>
            </a:r>
            <a:r>
              <a:rPr lang="zh-CN" altLang="zh-CN" sz="2400" b="1" dirty="0">
                <a:latin typeface="Arial" panose="020B0604020202020204" pitchFamily="34" charset="0"/>
              </a:rPr>
              <a:t>分别和各从片的INT端相连，接收来自各从片的中断请求INT，由从片的中断请求输入端IR</a:t>
            </a:r>
            <a:r>
              <a:rPr lang="zh-CN" altLang="zh-CN" sz="2400" b="1" baseline="-25000" dirty="0">
                <a:latin typeface="Arial" panose="020B0604020202020204" pitchFamily="34" charset="0"/>
              </a:rPr>
              <a:t>0</a:t>
            </a:r>
            <a:r>
              <a:rPr lang="zh-CN" altLang="zh-CN" sz="2400" b="1" dirty="0">
                <a:latin typeface="Arial" panose="020B0604020202020204" pitchFamily="34" charset="0"/>
              </a:rPr>
              <a:t>～IR</a:t>
            </a:r>
            <a:r>
              <a:rPr lang="zh-CN" altLang="zh-CN" sz="2400" b="1" baseline="-25000" dirty="0">
                <a:latin typeface="Arial" panose="020B0604020202020204" pitchFamily="34" charset="0"/>
              </a:rPr>
              <a:t>7</a:t>
            </a:r>
            <a:r>
              <a:rPr lang="zh-CN" altLang="zh-CN" sz="2400" b="1" dirty="0">
                <a:latin typeface="Arial" panose="020B0604020202020204" pitchFamily="34" charset="0"/>
              </a:rPr>
              <a:t>和主片未连接从片的中断请求输入端接受中断源的中断请求</a:t>
            </a:r>
            <a:r>
              <a:rPr lang="zh-CN" altLang="en-US" sz="2400" b="1" dirty="0">
                <a:latin typeface="Arial" panose="020B0604020202020204" pitchFamily="34" charset="0"/>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标题 321537"/>
          <p:cNvSpPr>
            <a:spLocks noGrp="1"/>
          </p:cNvSpPr>
          <p:nvPr>
            <p:ph type="title"/>
          </p:nvPr>
        </p:nvSpPr>
        <p:spPr>
          <a:xfrm>
            <a:off x="1547664" y="230982"/>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21539" name="文本框 321538"/>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pic>
        <p:nvPicPr>
          <p:cNvPr id="321542" name="图片 321541" descr="wps_clip_image-15570"/>
          <p:cNvPicPr>
            <a:picLocks noChangeAspect="1"/>
          </p:cNvPicPr>
          <p:nvPr/>
        </p:nvPicPr>
        <p:blipFill>
          <a:blip r:embed="rId2"/>
          <a:stretch>
            <a:fillRect/>
          </a:stretch>
        </p:blipFill>
        <p:spPr>
          <a:xfrm>
            <a:off x="539750" y="912813"/>
            <a:ext cx="8137525" cy="4902200"/>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标题 317441"/>
          <p:cNvSpPr>
            <a:spLocks noGrp="1"/>
          </p:cNvSpPr>
          <p:nvPr>
            <p:ph type="title"/>
          </p:nvPr>
        </p:nvSpPr>
        <p:spPr>
          <a:xfrm>
            <a:off x="1475656" y="249635"/>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17443" name="文本框 317442"/>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17444" name="文本框 317443"/>
          <p:cNvSpPr txBox="1"/>
          <p:nvPr/>
        </p:nvSpPr>
        <p:spPr>
          <a:xfrm>
            <a:off x="179512" y="980728"/>
            <a:ext cx="5976664" cy="5262979"/>
          </a:xfrm>
          <a:prstGeom prst="rect">
            <a:avLst/>
          </a:prstGeom>
          <a:noFill/>
          <a:ln w="9525">
            <a:noFill/>
          </a:ln>
        </p:spPr>
        <p:txBody>
          <a:bodyPr wrap="square">
            <a:spAutoFit/>
          </a:bodyPr>
          <a:lstStyle/>
          <a:p>
            <a:pPr lvl="0" eaLnBrk="0" hangingPunct="0"/>
            <a:r>
              <a:rPr lang="zh-CN" altLang="zh-CN" sz="2400" b="1" dirty="0">
                <a:solidFill>
                  <a:srgbClr val="FF00FF"/>
                </a:solidFill>
                <a:latin typeface="Arial" panose="020B0604020202020204" pitchFamily="34" charset="0"/>
                <a:ea typeface="宋体" panose="02010600030101010101" pitchFamily="2" charset="-122"/>
              </a:rPr>
              <a:t>INT：</a:t>
            </a:r>
            <a:r>
              <a:rPr lang="zh-CN" altLang="zh-CN" sz="2400" b="1" dirty="0">
                <a:latin typeface="Arial" panose="020B0604020202020204" pitchFamily="34" charset="0"/>
              </a:rPr>
              <a:t>中断请求信号，输出。与CPU的中断输入端INTR端相连（主片），向CPU发中断请求信号，若是从片则连接到主片的相应IR</a:t>
            </a:r>
            <a:r>
              <a:rPr lang="zh-CN" altLang="zh-CN" sz="2400" b="1" baseline="-25000" dirty="0">
                <a:latin typeface="Arial" panose="020B0604020202020204" pitchFamily="34" charset="0"/>
              </a:rPr>
              <a:t>i</a:t>
            </a:r>
            <a:r>
              <a:rPr lang="zh-CN" altLang="zh-CN" sz="2400" b="1" dirty="0">
                <a:latin typeface="Arial" panose="020B0604020202020204" pitchFamily="34" charset="0"/>
              </a:rPr>
              <a:t>端，由从片8259A传给主片8259A。</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 </a:t>
            </a:r>
            <a:r>
              <a:rPr lang="en-US" altLang="zh-CN" sz="2400" b="1" dirty="0">
                <a:solidFill>
                  <a:srgbClr val="FF00FF"/>
                </a:solidFill>
                <a:latin typeface="Arial" panose="020B0604020202020204" pitchFamily="34" charset="0"/>
                <a:ea typeface="宋体" panose="02010600030101010101" pitchFamily="2" charset="-122"/>
              </a:rPr>
              <a:t>INTA</a:t>
            </a:r>
            <a:r>
              <a:rPr lang="zh-CN" altLang="zh-CN" sz="2400" b="1" dirty="0">
                <a:solidFill>
                  <a:srgbClr val="FF00FF"/>
                </a:solidFill>
                <a:latin typeface="Arial" panose="020B0604020202020204" pitchFamily="34" charset="0"/>
                <a:ea typeface="宋体" panose="02010600030101010101" pitchFamily="2" charset="-122"/>
              </a:rPr>
              <a:t>：</a:t>
            </a:r>
            <a:r>
              <a:rPr lang="zh-CN" altLang="zh-CN" sz="2400" b="1" dirty="0">
                <a:latin typeface="Arial" panose="020B0604020202020204" pitchFamily="34" charset="0"/>
              </a:rPr>
              <a:t>中断响应信号，输入。接收CPU送来的中断响应信号。</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 </a:t>
            </a:r>
            <a:r>
              <a:rPr lang="en-US" altLang="zh-CN" sz="2400" b="1" dirty="0">
                <a:solidFill>
                  <a:srgbClr val="FF00FF"/>
                </a:solidFill>
                <a:latin typeface="Arial" panose="020B0604020202020204" pitchFamily="34" charset="0"/>
                <a:ea typeface="宋体" panose="02010600030101010101" pitchFamily="2" charset="-122"/>
              </a:rPr>
              <a:t>RD</a:t>
            </a:r>
            <a:r>
              <a:rPr lang="zh-CN" altLang="en-US" sz="2400" b="1" dirty="0">
                <a:solidFill>
                  <a:srgbClr val="FF00FF"/>
                </a:solidFill>
                <a:latin typeface="Arial" panose="020B0604020202020204" pitchFamily="34" charset="0"/>
                <a:ea typeface="宋体" panose="02010600030101010101" pitchFamily="2" charset="-122"/>
              </a:rPr>
              <a:t>   </a:t>
            </a:r>
            <a:r>
              <a:rPr lang="zh-CN" altLang="zh-CN" sz="2400" b="1" dirty="0">
                <a:solidFill>
                  <a:srgbClr val="FF00FF"/>
                </a:solidFill>
                <a:latin typeface="Arial" panose="020B0604020202020204" pitchFamily="34" charset="0"/>
                <a:ea typeface="宋体" panose="02010600030101010101" pitchFamily="2" charset="-122"/>
              </a:rPr>
              <a:t>：</a:t>
            </a:r>
            <a:r>
              <a:rPr lang="zh-CN" altLang="zh-CN" sz="2400" b="1" dirty="0">
                <a:latin typeface="Arial" panose="020B0604020202020204" pitchFamily="34" charset="0"/>
              </a:rPr>
              <a:t>读信号，输入。有效时，通知8259A将中断类型号或某个内部寄存器的内容送给CPU。</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 </a:t>
            </a:r>
            <a:r>
              <a:rPr lang="en-US" altLang="zh-CN" sz="2400" b="1" dirty="0">
                <a:solidFill>
                  <a:srgbClr val="FF00FF"/>
                </a:solidFill>
                <a:latin typeface="Arial" panose="020B0604020202020204" pitchFamily="34" charset="0"/>
              </a:rPr>
              <a:t>WR</a:t>
            </a:r>
            <a:r>
              <a:rPr lang="zh-CN" altLang="en-US" sz="2400" b="1" dirty="0">
                <a:solidFill>
                  <a:srgbClr val="FF00FF"/>
                </a:solidFill>
                <a:latin typeface="Arial" panose="020B0604020202020204" pitchFamily="34" charset="0"/>
                <a:ea typeface="宋体" panose="02010600030101010101" pitchFamily="2" charset="-122"/>
              </a:rPr>
              <a:t>  </a:t>
            </a:r>
            <a:r>
              <a:rPr lang="zh-CN" altLang="zh-CN" sz="2400" b="1" dirty="0">
                <a:solidFill>
                  <a:srgbClr val="FF00FF"/>
                </a:solidFill>
                <a:latin typeface="Arial" panose="020B0604020202020204" pitchFamily="34" charset="0"/>
                <a:ea typeface="宋体" panose="02010600030101010101" pitchFamily="2" charset="-122"/>
              </a:rPr>
              <a:t>：</a:t>
            </a:r>
            <a:r>
              <a:rPr lang="zh-CN" altLang="zh-CN" sz="2400" b="1" dirty="0">
                <a:latin typeface="Arial" panose="020B0604020202020204" pitchFamily="34" charset="0"/>
              </a:rPr>
              <a:t>写信号，输入。有效时，通知8259A从数据总线上接收来自CPU发来的命令。</a:t>
            </a:r>
            <a:endParaRPr lang="en-US" altLang="zh-CN" sz="2400" b="1" dirty="0">
              <a:latin typeface="Arial" panose="020B0604020202020204" pitchFamily="34" charset="0"/>
            </a:endParaRPr>
          </a:p>
          <a:p>
            <a:pPr eaLnBrk="0" hangingPunct="0"/>
            <a:r>
              <a:rPr lang="en-US" altLang="zh-CN" sz="2400" b="1" dirty="0">
                <a:solidFill>
                  <a:srgbClr val="FF00FF"/>
                </a:solidFill>
                <a:latin typeface="Arial" panose="020B0604020202020204" pitchFamily="34" charset="0"/>
                <a:ea typeface="宋体" panose="02010600030101010101" pitchFamily="2" charset="-122"/>
              </a:rPr>
              <a:t> CS</a:t>
            </a:r>
            <a:r>
              <a:rPr lang="zh-CN" altLang="en-US" sz="2400" b="1" dirty="0">
                <a:solidFill>
                  <a:srgbClr val="FF00FF"/>
                </a:solidFill>
                <a:latin typeface="Arial" panose="020B0604020202020204" pitchFamily="34" charset="0"/>
                <a:ea typeface="宋体" panose="02010600030101010101" pitchFamily="2" charset="-122"/>
              </a:rPr>
              <a:t>  </a:t>
            </a:r>
            <a:r>
              <a:rPr lang="zh-CN" altLang="zh-CN" sz="2400" b="1" dirty="0">
                <a:solidFill>
                  <a:srgbClr val="FF00FF"/>
                </a:solidFill>
                <a:latin typeface="Arial" panose="020B0604020202020204" pitchFamily="34" charset="0"/>
                <a:ea typeface="宋体" panose="02010600030101010101" pitchFamily="2" charset="-122"/>
              </a:rPr>
              <a:t>：</a:t>
            </a:r>
            <a:r>
              <a:rPr lang="zh-CN" altLang="zh-CN" sz="2400" b="1" dirty="0">
                <a:latin typeface="Arial" panose="020B0604020202020204" pitchFamily="34" charset="0"/>
              </a:rPr>
              <a:t>片选信号，输入。有效时，8259A被选中。</a:t>
            </a:r>
          </a:p>
        </p:txBody>
      </p:sp>
      <p:cxnSp>
        <p:nvCxnSpPr>
          <p:cNvPr id="3" name="直接连接符 2">
            <a:extLst>
              <a:ext uri="{FF2B5EF4-FFF2-40B4-BE49-F238E27FC236}">
                <a16:creationId xmlns:a16="http://schemas.microsoft.com/office/drawing/2014/main" id="{6B071622-2B4E-57F6-6825-7DA4BA042EE2}"/>
              </a:ext>
            </a:extLst>
          </p:cNvPr>
          <p:cNvCxnSpPr/>
          <p:nvPr/>
        </p:nvCxnSpPr>
        <p:spPr>
          <a:xfrm>
            <a:off x="377886" y="2492896"/>
            <a:ext cx="611363" cy="0"/>
          </a:xfrm>
          <a:prstGeom prst="line">
            <a:avLst/>
          </a:prstGeom>
          <a:ln>
            <a:solidFill>
              <a:srgbClr val="FF00FF"/>
            </a:solidFill>
          </a:ln>
        </p:spPr>
        <p:style>
          <a:lnRef idx="2">
            <a:schemeClr val="accent2"/>
          </a:lnRef>
          <a:fillRef idx="0">
            <a:schemeClr val="accent2"/>
          </a:fillRef>
          <a:effectRef idx="1">
            <a:schemeClr val="accent2"/>
          </a:effectRef>
          <a:fontRef idx="minor">
            <a:schemeClr val="tx1"/>
          </a:fontRef>
        </p:style>
      </p:cxnSp>
      <p:cxnSp>
        <p:nvCxnSpPr>
          <p:cNvPr id="5" name="直接连接符 4">
            <a:extLst>
              <a:ext uri="{FF2B5EF4-FFF2-40B4-BE49-F238E27FC236}">
                <a16:creationId xmlns:a16="http://schemas.microsoft.com/office/drawing/2014/main" id="{2049E825-66C2-E4B8-54F3-AE9DE8BB3575}"/>
              </a:ext>
            </a:extLst>
          </p:cNvPr>
          <p:cNvCxnSpPr/>
          <p:nvPr/>
        </p:nvCxnSpPr>
        <p:spPr>
          <a:xfrm>
            <a:off x="366961" y="3241551"/>
            <a:ext cx="360040" cy="0"/>
          </a:xfrm>
          <a:prstGeom prst="line">
            <a:avLst/>
          </a:prstGeom>
          <a:ln>
            <a:solidFill>
              <a:srgbClr val="FF00FF"/>
            </a:solidFill>
          </a:ln>
        </p:spPr>
        <p:style>
          <a:lnRef idx="2">
            <a:schemeClr val="accent2"/>
          </a:lnRef>
          <a:fillRef idx="0">
            <a:schemeClr val="accent2"/>
          </a:fillRef>
          <a:effectRef idx="1">
            <a:schemeClr val="accent2"/>
          </a:effectRef>
          <a:fontRef idx="minor">
            <a:schemeClr val="tx1"/>
          </a:fontRef>
        </p:style>
      </p:cxnSp>
      <p:cxnSp>
        <p:nvCxnSpPr>
          <p:cNvPr id="9" name="直接连接符 8">
            <a:extLst>
              <a:ext uri="{FF2B5EF4-FFF2-40B4-BE49-F238E27FC236}">
                <a16:creationId xmlns:a16="http://schemas.microsoft.com/office/drawing/2014/main" id="{2A37C2A4-4F7B-2B77-1408-21541686C277}"/>
              </a:ext>
            </a:extLst>
          </p:cNvPr>
          <p:cNvCxnSpPr/>
          <p:nvPr/>
        </p:nvCxnSpPr>
        <p:spPr>
          <a:xfrm>
            <a:off x="378768" y="4336529"/>
            <a:ext cx="360040" cy="0"/>
          </a:xfrm>
          <a:prstGeom prst="line">
            <a:avLst/>
          </a:prstGeom>
          <a:ln>
            <a:solidFill>
              <a:srgbClr val="FF00FF"/>
            </a:solidFill>
          </a:ln>
        </p:spPr>
        <p:style>
          <a:lnRef idx="2">
            <a:schemeClr val="accent1"/>
          </a:lnRef>
          <a:fillRef idx="0">
            <a:schemeClr val="accent1"/>
          </a:fillRef>
          <a:effectRef idx="1">
            <a:schemeClr val="accent1"/>
          </a:effectRef>
          <a:fontRef idx="minor">
            <a:schemeClr val="tx1"/>
          </a:fontRef>
        </p:style>
      </p:cxnSp>
      <p:pic>
        <p:nvPicPr>
          <p:cNvPr id="10" name="图片 9" descr="wps_clip_image-13467">
            <a:extLst>
              <a:ext uri="{FF2B5EF4-FFF2-40B4-BE49-F238E27FC236}">
                <a16:creationId xmlns:a16="http://schemas.microsoft.com/office/drawing/2014/main" id="{C515A52C-5767-496B-BF80-841A96D33615}"/>
              </a:ext>
            </a:extLst>
          </p:cNvPr>
          <p:cNvPicPr>
            <a:picLocks noChangeAspect="1"/>
          </p:cNvPicPr>
          <p:nvPr/>
        </p:nvPicPr>
        <p:blipFill>
          <a:blip r:embed="rId2"/>
          <a:stretch>
            <a:fillRect/>
          </a:stretch>
        </p:blipFill>
        <p:spPr>
          <a:xfrm>
            <a:off x="6228184" y="1268413"/>
            <a:ext cx="3006725" cy="4105275"/>
          </a:xfrm>
          <a:prstGeom prst="rect">
            <a:avLst/>
          </a:prstGeom>
          <a:noFill/>
          <a:ln w="9525">
            <a:noFill/>
          </a:ln>
        </p:spPr>
      </p:pic>
      <p:cxnSp>
        <p:nvCxnSpPr>
          <p:cNvPr id="11" name="直接连接符 10">
            <a:extLst>
              <a:ext uri="{FF2B5EF4-FFF2-40B4-BE49-F238E27FC236}">
                <a16:creationId xmlns:a16="http://schemas.microsoft.com/office/drawing/2014/main" id="{0A39896C-0A30-4E01-9140-518A15F70C78}"/>
              </a:ext>
            </a:extLst>
          </p:cNvPr>
          <p:cNvCxnSpPr/>
          <p:nvPr/>
        </p:nvCxnSpPr>
        <p:spPr>
          <a:xfrm>
            <a:off x="365448" y="5443017"/>
            <a:ext cx="360040" cy="0"/>
          </a:xfrm>
          <a:prstGeom prst="line">
            <a:avLst/>
          </a:prstGeom>
          <a:ln>
            <a:solidFill>
              <a:srgbClr val="FF00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标题 317441"/>
          <p:cNvSpPr>
            <a:spLocks noGrp="1"/>
          </p:cNvSpPr>
          <p:nvPr>
            <p:ph type="title"/>
          </p:nvPr>
        </p:nvSpPr>
        <p:spPr>
          <a:xfrm>
            <a:off x="1475656" y="249635"/>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17443" name="文本框 317442"/>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17444" name="文本框 317443"/>
          <p:cNvSpPr txBox="1"/>
          <p:nvPr/>
        </p:nvSpPr>
        <p:spPr>
          <a:xfrm>
            <a:off x="35497" y="980728"/>
            <a:ext cx="6323019" cy="4893647"/>
          </a:xfrm>
          <a:prstGeom prst="rect">
            <a:avLst/>
          </a:prstGeom>
          <a:noFill/>
          <a:ln w="9525">
            <a:noFill/>
          </a:ln>
        </p:spPr>
        <p:txBody>
          <a:bodyPr wrap="square">
            <a:spAutoFit/>
          </a:bodyPr>
          <a:lstStyle/>
          <a:p>
            <a:pPr lvl="0" eaLnBrk="0" hangingPunct="0"/>
            <a:r>
              <a:rPr lang="zh-CN" altLang="zh-CN" sz="2400" b="1" dirty="0">
                <a:solidFill>
                  <a:srgbClr val="FF00FF"/>
                </a:solidFill>
                <a:latin typeface="Arial" panose="020B0604020202020204" pitchFamily="34" charset="0"/>
                <a:ea typeface="宋体" panose="02010600030101010101" pitchFamily="2" charset="-122"/>
              </a:rPr>
              <a:t>A</a:t>
            </a:r>
            <a:r>
              <a:rPr lang="zh-CN" altLang="zh-CN" sz="2400" b="1" baseline="-25000" dirty="0">
                <a:solidFill>
                  <a:srgbClr val="FF00FF"/>
                </a:solidFill>
                <a:latin typeface="Arial" panose="020B0604020202020204" pitchFamily="34" charset="0"/>
              </a:rPr>
              <a:t>0</a:t>
            </a:r>
            <a:r>
              <a:rPr lang="zh-CN" altLang="zh-CN" sz="2400" b="1" dirty="0">
                <a:solidFill>
                  <a:srgbClr val="FF00FF"/>
                </a:solidFill>
                <a:latin typeface="Arial" panose="020B0604020202020204" pitchFamily="34" charset="0"/>
                <a:ea typeface="宋体" panose="02010600030101010101" pitchFamily="2" charset="-122"/>
              </a:rPr>
              <a:t>：</a:t>
            </a:r>
            <a:r>
              <a:rPr lang="zh-CN" altLang="zh-CN" sz="2400" b="1" dirty="0">
                <a:latin typeface="Arial" panose="020B0604020202020204" pitchFamily="34" charset="0"/>
              </a:rPr>
              <a:t>端口选择信号，输入。用于选择8259A内部的不同寄存器，通常直接接到地址总线的A</a:t>
            </a:r>
            <a:r>
              <a:rPr lang="zh-CN" altLang="zh-CN" sz="2400" b="1" baseline="-25000" dirty="0">
                <a:latin typeface="Arial" panose="020B0604020202020204" pitchFamily="34" charset="0"/>
              </a:rPr>
              <a:t>0</a:t>
            </a:r>
            <a:r>
              <a:rPr lang="zh-CN" altLang="zh-CN" sz="2400" b="1" dirty="0">
                <a:latin typeface="Arial" panose="020B0604020202020204" pitchFamily="34" charset="0"/>
              </a:rPr>
              <a:t>。8259A内部的寄存器被安排在两个端口</a:t>
            </a:r>
            <a:r>
              <a:rPr lang="zh-CN" altLang="en-US" sz="2400" b="1" dirty="0">
                <a:latin typeface="Arial" panose="020B0604020202020204" pitchFamily="34" charset="0"/>
              </a:rPr>
              <a:t>。</a:t>
            </a:r>
            <a:endParaRPr lang="en-US" altLang="zh-CN" sz="2400" b="1" dirty="0">
              <a:latin typeface="Arial" panose="020B0604020202020204" pitchFamily="34" charset="0"/>
            </a:endParaRPr>
          </a:p>
          <a:p>
            <a:pPr lvl="0" eaLnBrk="0" hangingPunct="0"/>
            <a:r>
              <a:rPr lang="zh-CN" altLang="zh-CN" sz="2400" b="1" dirty="0">
                <a:solidFill>
                  <a:srgbClr val="FF00FF"/>
                </a:solidFill>
                <a:latin typeface="Arial" panose="020B0604020202020204" pitchFamily="34" charset="0"/>
                <a:ea typeface="宋体" panose="02010600030101010101" pitchFamily="2" charset="-122"/>
              </a:rPr>
              <a:t>CAS</a:t>
            </a:r>
            <a:r>
              <a:rPr lang="zh-CN" altLang="zh-CN" sz="2400" b="1" baseline="-25000" dirty="0">
                <a:solidFill>
                  <a:srgbClr val="FF00FF"/>
                </a:solidFill>
                <a:latin typeface="Arial" panose="020B0604020202020204" pitchFamily="34" charset="0"/>
              </a:rPr>
              <a:t>2</a:t>
            </a:r>
            <a:r>
              <a:rPr lang="zh-CN" altLang="zh-CN" sz="2400" b="1" dirty="0">
                <a:solidFill>
                  <a:srgbClr val="FF00FF"/>
                </a:solidFill>
                <a:latin typeface="Arial" panose="020B0604020202020204" pitchFamily="34" charset="0"/>
                <a:ea typeface="宋体" panose="02010600030101010101" pitchFamily="2" charset="-122"/>
              </a:rPr>
              <a:t>～CAS</a:t>
            </a:r>
            <a:r>
              <a:rPr lang="zh-CN" altLang="zh-CN" sz="2400" b="1" baseline="-25000" dirty="0">
                <a:solidFill>
                  <a:srgbClr val="FF00FF"/>
                </a:solidFill>
                <a:latin typeface="Arial" panose="020B0604020202020204" pitchFamily="34" charset="0"/>
              </a:rPr>
              <a:t>0</a:t>
            </a:r>
            <a:r>
              <a:rPr lang="zh-CN" altLang="zh-CN" sz="2400" b="1" dirty="0">
                <a:solidFill>
                  <a:srgbClr val="FF00FF"/>
                </a:solidFill>
                <a:latin typeface="Arial" panose="020B0604020202020204" pitchFamily="34" charset="0"/>
                <a:ea typeface="宋体" panose="02010600030101010101" pitchFamily="2" charset="-122"/>
              </a:rPr>
              <a:t>：</a:t>
            </a:r>
            <a:r>
              <a:rPr lang="zh-CN" altLang="zh-CN" sz="2400" b="1" dirty="0">
                <a:latin typeface="Arial" panose="020B0604020202020204" pitchFamily="34" charset="0"/>
              </a:rPr>
              <a:t>级联信号，为主片与从片的连接线。作为主片，这3个信号是输出信号，根据它们的不同组合000～111，分别确定连在哪个IR</a:t>
            </a:r>
            <a:r>
              <a:rPr lang="zh-CN" altLang="zh-CN" sz="2400" b="1" baseline="-25000" dirty="0">
                <a:latin typeface="Arial" panose="020B0604020202020204" pitchFamily="34" charset="0"/>
              </a:rPr>
              <a:t>i</a:t>
            </a:r>
            <a:r>
              <a:rPr lang="zh-CN" altLang="zh-CN" sz="2400" b="1" dirty="0">
                <a:latin typeface="Arial" panose="020B0604020202020204" pitchFamily="34" charset="0"/>
              </a:rPr>
              <a:t>上的从片工作。对于从片，这3个信号是输入信号，以此判别本从片是否被选中。</a:t>
            </a:r>
          </a:p>
          <a:p>
            <a:pPr lvl="0" eaLnBrk="0" hangingPunct="0"/>
            <a:r>
              <a:rPr lang="en-US" altLang="zh-CN" sz="2400" b="1" dirty="0">
                <a:solidFill>
                  <a:srgbClr val="FF00FF"/>
                </a:solidFill>
                <a:latin typeface="Arial" panose="020B0604020202020204" pitchFamily="34" charset="0"/>
              </a:rPr>
              <a:t>SP/EN</a:t>
            </a:r>
            <a:r>
              <a:rPr lang="zh-CN" altLang="zh-CN" sz="2400" b="1" dirty="0">
                <a:solidFill>
                  <a:srgbClr val="FF00FF"/>
                </a:solidFill>
                <a:latin typeface="Arial" panose="020B0604020202020204" pitchFamily="34" charset="0"/>
              </a:rPr>
              <a:t>：</a:t>
            </a:r>
            <a:r>
              <a:rPr lang="zh-CN" altLang="zh-CN" sz="2400" b="1" dirty="0">
                <a:latin typeface="Arial" panose="020B0604020202020204" pitchFamily="34" charset="0"/>
              </a:rPr>
              <a:t>主从片／缓冲允许。在不同的方式下有不同的作用，若8259A采用缓冲方式则为输出端，输出控制信号，以此来控制三态总线驱动器的开关；若采用非缓冲方式时则为输入端，为1表示芯片是主片，否则为从片。</a:t>
            </a:r>
            <a:endParaRPr lang="zh-CN" altLang="en-US" sz="2400" b="1" dirty="0">
              <a:latin typeface="Arial" panose="020B0604020202020204" pitchFamily="34" charset="0"/>
            </a:endParaRPr>
          </a:p>
        </p:txBody>
      </p:sp>
      <p:cxnSp>
        <p:nvCxnSpPr>
          <p:cNvPr id="9" name="直接连接符 8">
            <a:extLst>
              <a:ext uri="{FF2B5EF4-FFF2-40B4-BE49-F238E27FC236}">
                <a16:creationId xmlns:a16="http://schemas.microsoft.com/office/drawing/2014/main" id="{2A37C2A4-4F7B-2B77-1408-21541686C277}"/>
              </a:ext>
            </a:extLst>
          </p:cNvPr>
          <p:cNvCxnSpPr/>
          <p:nvPr/>
        </p:nvCxnSpPr>
        <p:spPr>
          <a:xfrm>
            <a:off x="184473" y="3971156"/>
            <a:ext cx="360040" cy="0"/>
          </a:xfrm>
          <a:prstGeom prst="line">
            <a:avLst/>
          </a:prstGeom>
          <a:ln>
            <a:solidFill>
              <a:srgbClr val="FF00FF"/>
            </a:solidFill>
          </a:ln>
        </p:spPr>
        <p:style>
          <a:lnRef idx="2">
            <a:schemeClr val="accent1"/>
          </a:lnRef>
          <a:fillRef idx="0">
            <a:schemeClr val="accent1"/>
          </a:fillRef>
          <a:effectRef idx="1">
            <a:schemeClr val="accent1"/>
          </a:effectRef>
          <a:fontRef idx="minor">
            <a:schemeClr val="tx1"/>
          </a:fontRef>
        </p:style>
      </p:cxnSp>
      <p:pic>
        <p:nvPicPr>
          <p:cNvPr id="11" name="图片 10" descr="wps_clip_image-13467">
            <a:extLst>
              <a:ext uri="{FF2B5EF4-FFF2-40B4-BE49-F238E27FC236}">
                <a16:creationId xmlns:a16="http://schemas.microsoft.com/office/drawing/2014/main" id="{62A0D782-1FE8-4625-ACD9-EC2BC05B73B2}"/>
              </a:ext>
            </a:extLst>
          </p:cNvPr>
          <p:cNvPicPr>
            <a:picLocks noChangeAspect="1"/>
          </p:cNvPicPr>
          <p:nvPr/>
        </p:nvPicPr>
        <p:blipFill>
          <a:blip r:embed="rId2"/>
          <a:stretch>
            <a:fillRect/>
          </a:stretch>
        </p:blipFill>
        <p:spPr>
          <a:xfrm>
            <a:off x="6245795" y="1268413"/>
            <a:ext cx="3006725" cy="4105275"/>
          </a:xfrm>
          <a:prstGeom prst="rect">
            <a:avLst/>
          </a:prstGeom>
          <a:noFill/>
          <a:ln w="9525">
            <a:noFill/>
          </a:ln>
        </p:spPr>
      </p:pic>
      <p:cxnSp>
        <p:nvCxnSpPr>
          <p:cNvPr id="12" name="直接连接符 11">
            <a:extLst>
              <a:ext uri="{FF2B5EF4-FFF2-40B4-BE49-F238E27FC236}">
                <a16:creationId xmlns:a16="http://schemas.microsoft.com/office/drawing/2014/main" id="{408B4C2B-9B6E-4CDB-B927-162C0B570E35}"/>
              </a:ext>
            </a:extLst>
          </p:cNvPr>
          <p:cNvCxnSpPr/>
          <p:nvPr/>
        </p:nvCxnSpPr>
        <p:spPr>
          <a:xfrm>
            <a:off x="630238" y="3976489"/>
            <a:ext cx="360040" cy="0"/>
          </a:xfrm>
          <a:prstGeom prst="line">
            <a:avLst/>
          </a:prstGeom>
          <a:ln>
            <a:solidFill>
              <a:srgbClr val="FF00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6709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标题 312321"/>
          <p:cNvSpPr>
            <a:spLocks noGrp="1"/>
          </p:cNvSpPr>
          <p:nvPr>
            <p:ph type="title"/>
          </p:nvPr>
        </p:nvSpPr>
        <p:spPr>
          <a:xfrm>
            <a:off x="1619672" y="224719"/>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12323" name="文本框 312322"/>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12324" name="文本框 312323"/>
          <p:cNvSpPr txBox="1"/>
          <p:nvPr/>
        </p:nvSpPr>
        <p:spPr>
          <a:xfrm>
            <a:off x="250825" y="764704"/>
            <a:ext cx="8642350" cy="4893647"/>
          </a:xfrm>
          <a:prstGeom prst="rect">
            <a:avLst/>
          </a:prstGeom>
          <a:noFill/>
          <a:ln w="9525">
            <a:noFill/>
          </a:ln>
        </p:spPr>
        <p:txBody>
          <a:bodyPr>
            <a:spAutoFit/>
          </a:bodyPr>
          <a:lstStyle/>
          <a:p>
            <a:pPr lvl="0" eaLnBrk="0" hangingPunct="0"/>
            <a:r>
              <a:rPr lang="zh-CN" altLang="en-US" sz="2400" b="1" dirty="0">
                <a:latin typeface="Arial" panose="020B0604020202020204" pitchFamily="34" charset="0"/>
              </a:rPr>
              <a:t>二、</a:t>
            </a:r>
            <a:r>
              <a:rPr lang="en-US" altLang="en-US" sz="2400" b="1" dirty="0">
                <a:latin typeface="Arial" panose="020B0604020202020204" pitchFamily="34" charset="0"/>
              </a:rPr>
              <a:t> 8259A的工作方式</a:t>
            </a:r>
            <a:endParaRPr lang="zh-CN" altLang="en-US" sz="2400" b="1" dirty="0">
              <a:latin typeface="Arial" panose="020B0604020202020204" pitchFamily="34" charset="0"/>
            </a:endParaRPr>
          </a:p>
          <a:p>
            <a:pPr lvl="0" eaLnBrk="0" hangingPunct="0"/>
            <a:r>
              <a:rPr lang="en-US" altLang="zh-CN" sz="2400" b="1" dirty="0">
                <a:solidFill>
                  <a:srgbClr val="0000FF"/>
                </a:solidFill>
                <a:latin typeface="Arial" panose="020B0604020202020204" pitchFamily="34" charset="0"/>
              </a:rPr>
              <a:t>1</a:t>
            </a:r>
            <a:r>
              <a:rPr lang="zh-CN" altLang="en-US" sz="2400" b="1" dirty="0">
                <a:solidFill>
                  <a:srgbClr val="0000FF"/>
                </a:solidFill>
                <a:latin typeface="Arial" panose="020B0604020202020204" pitchFamily="34" charset="0"/>
              </a:rPr>
              <a:t>．中断触发方式</a:t>
            </a:r>
          </a:p>
          <a:p>
            <a:pPr lvl="0" eaLnBrk="0" hangingPunct="0"/>
            <a:r>
              <a:rPr lang="zh-CN" altLang="en-US" sz="2400" b="1" dirty="0">
                <a:latin typeface="Arial" panose="020B0604020202020204" pitchFamily="34" charset="0"/>
              </a:rPr>
              <a:t>决定外设以何种信号通知</a:t>
            </a:r>
            <a:r>
              <a:rPr lang="en-US" altLang="zh-CN" sz="2400" b="1" dirty="0">
                <a:latin typeface="Arial" panose="020B0604020202020204" pitchFamily="34" charset="0"/>
              </a:rPr>
              <a:t>8259A</a:t>
            </a:r>
            <a:r>
              <a:rPr lang="zh-CN" altLang="en-US" sz="2400" b="1" dirty="0">
                <a:latin typeface="Arial" panose="020B0604020202020204" pitchFamily="34" charset="0"/>
              </a:rPr>
              <a:t>有中断请求。</a:t>
            </a:r>
            <a:endParaRPr lang="en-US" altLang="zh-CN" sz="2400" b="1" dirty="0">
              <a:latin typeface="Arial" panose="020B0604020202020204" pitchFamily="34" charset="0"/>
            </a:endParaRPr>
          </a:p>
          <a:p>
            <a:pPr lvl="0" eaLnBrk="0" hangingPunct="0"/>
            <a:r>
              <a:rPr lang="zh-CN" altLang="en-US" sz="2400" b="1" dirty="0">
                <a:solidFill>
                  <a:srgbClr val="FF00FF"/>
                </a:solidFill>
                <a:latin typeface="Arial" panose="020B0604020202020204" pitchFamily="34" charset="0"/>
              </a:rPr>
              <a:t>（</a:t>
            </a:r>
            <a:r>
              <a:rPr lang="en-US" altLang="zh-CN" sz="2400" b="1" dirty="0">
                <a:solidFill>
                  <a:srgbClr val="FF00FF"/>
                </a:solidFill>
                <a:latin typeface="Arial" panose="020B0604020202020204" pitchFamily="34" charset="0"/>
              </a:rPr>
              <a:t>1</a:t>
            </a:r>
            <a:r>
              <a:rPr lang="zh-CN" altLang="en-US" sz="2400" b="1" dirty="0">
                <a:solidFill>
                  <a:srgbClr val="FF00FF"/>
                </a:solidFill>
                <a:latin typeface="Arial" panose="020B0604020202020204" pitchFamily="34" charset="0"/>
              </a:rPr>
              <a:t>）边沿触发方式</a:t>
            </a:r>
          </a:p>
          <a:p>
            <a:pPr lvl="0" eaLnBrk="0" hangingPunct="0"/>
            <a:r>
              <a:rPr lang="en-US" altLang="zh-CN" sz="2400" b="1" dirty="0">
                <a:latin typeface="Arial" panose="020B0604020202020204" pitchFamily="34" charset="0"/>
              </a:rPr>
              <a:t>8259A</a:t>
            </a:r>
            <a:r>
              <a:rPr lang="zh-CN" altLang="en-US" sz="2400" b="1" dirty="0">
                <a:latin typeface="Arial" panose="020B0604020202020204" pitchFamily="34" charset="0"/>
              </a:rPr>
              <a:t>将</a:t>
            </a:r>
            <a:r>
              <a:rPr lang="en-US" altLang="zh-CN" sz="2400" b="1" dirty="0" err="1">
                <a:latin typeface="Arial" panose="020B0604020202020204" pitchFamily="34" charset="0"/>
              </a:rPr>
              <a:t>IR</a:t>
            </a:r>
            <a:r>
              <a:rPr lang="en-US" altLang="zh-CN" sz="2400" b="1" baseline="-25000" dirty="0" err="1">
                <a:latin typeface="Arial" panose="020B0604020202020204" pitchFamily="34" charset="0"/>
              </a:rPr>
              <a:t>i</a:t>
            </a:r>
            <a:r>
              <a:rPr lang="zh-CN" altLang="en-US" sz="2400" b="1" dirty="0">
                <a:latin typeface="Arial" panose="020B0604020202020204" pitchFamily="34" charset="0"/>
              </a:rPr>
              <a:t>输入端出现的信号上升沿（正跳变）作为中断请求信号触发中断申请。</a:t>
            </a:r>
            <a:endParaRPr lang="en-US" altLang="zh-CN" sz="2400" b="1" dirty="0">
              <a:latin typeface="Arial" panose="020B0604020202020204" pitchFamily="34" charset="0"/>
            </a:endParaRPr>
          </a:p>
          <a:p>
            <a:pPr lvl="0" eaLnBrk="0" hangingPunct="0"/>
            <a:r>
              <a:rPr lang="zh-CN" altLang="en-US" sz="2400" b="1" dirty="0">
                <a:solidFill>
                  <a:srgbClr val="0000FF"/>
                </a:solidFill>
                <a:latin typeface="Arial" panose="020B0604020202020204" pitchFamily="34" charset="0"/>
              </a:rPr>
              <a:t>优点</a:t>
            </a:r>
            <a:r>
              <a:rPr lang="zh-CN" altLang="en-US" sz="2400" b="1" dirty="0">
                <a:latin typeface="Arial" panose="020B0604020202020204" pitchFamily="34" charset="0"/>
              </a:rPr>
              <a:t>：</a:t>
            </a:r>
            <a:r>
              <a:rPr lang="en-US" altLang="zh-CN" sz="2400" b="1" dirty="0" err="1">
                <a:latin typeface="Arial" panose="020B0604020202020204" pitchFamily="34" charset="0"/>
              </a:rPr>
              <a:t>IR</a:t>
            </a:r>
            <a:r>
              <a:rPr lang="en-US" altLang="zh-CN" sz="2400" b="1" baseline="-25000" dirty="0" err="1">
                <a:latin typeface="Arial" panose="020B0604020202020204" pitchFamily="34" charset="0"/>
              </a:rPr>
              <a:t>i</a:t>
            </a:r>
            <a:r>
              <a:rPr lang="zh-CN" altLang="en-US" sz="2400" b="1" dirty="0">
                <a:latin typeface="Arial" panose="020B0604020202020204" pitchFamily="34" charset="0"/>
              </a:rPr>
              <a:t>端只在上升沿申请一次中断，故该端可以一直保持高电平而不会误判为多次中断申请。</a:t>
            </a:r>
            <a:endParaRPr lang="en-US" altLang="zh-CN" sz="2400" b="1" dirty="0">
              <a:latin typeface="Arial" panose="020B0604020202020204" pitchFamily="34" charset="0"/>
            </a:endParaRPr>
          </a:p>
          <a:p>
            <a:pPr lvl="0" eaLnBrk="0" hangingPunct="0"/>
            <a:endParaRPr lang="zh-CN" altLang="en-US" sz="2400" b="1" dirty="0">
              <a:latin typeface="Arial" panose="020B0604020202020204" pitchFamily="34" charset="0"/>
            </a:endParaRPr>
          </a:p>
          <a:p>
            <a:pPr lvl="0" eaLnBrk="0" hangingPunct="0"/>
            <a:r>
              <a:rPr lang="zh-CN" altLang="en-US" sz="2400" b="1" dirty="0">
                <a:solidFill>
                  <a:srgbClr val="FF00FF"/>
                </a:solidFill>
                <a:latin typeface="Arial" panose="020B0604020202020204" pitchFamily="34" charset="0"/>
              </a:rPr>
              <a:t>（</a:t>
            </a:r>
            <a:r>
              <a:rPr lang="en-US" altLang="zh-CN" sz="2400" b="1" dirty="0">
                <a:solidFill>
                  <a:srgbClr val="FF00FF"/>
                </a:solidFill>
                <a:latin typeface="Arial" panose="020B0604020202020204" pitchFamily="34" charset="0"/>
              </a:rPr>
              <a:t>2</a:t>
            </a:r>
            <a:r>
              <a:rPr lang="zh-CN" altLang="en-US" sz="2400" b="1" dirty="0">
                <a:solidFill>
                  <a:srgbClr val="FF00FF"/>
                </a:solidFill>
                <a:latin typeface="Arial" panose="020B0604020202020204" pitchFamily="34" charset="0"/>
              </a:rPr>
              <a:t>）电平触发方式</a:t>
            </a:r>
          </a:p>
          <a:p>
            <a:pPr lvl="0" eaLnBrk="0" hangingPunct="0"/>
            <a:r>
              <a:rPr lang="en-US" altLang="zh-CN" sz="2400" b="1" dirty="0">
                <a:latin typeface="Arial" panose="020B0604020202020204" pitchFamily="34" charset="0"/>
              </a:rPr>
              <a:t>8259A</a:t>
            </a:r>
            <a:r>
              <a:rPr lang="zh-CN" altLang="en-US" sz="2400" b="1" dirty="0">
                <a:latin typeface="Arial" panose="020B0604020202020204" pitchFamily="34" charset="0"/>
              </a:rPr>
              <a:t>将</a:t>
            </a:r>
            <a:r>
              <a:rPr lang="en-US" altLang="zh-CN" sz="2400" b="1" dirty="0" err="1">
                <a:latin typeface="Arial" panose="020B0604020202020204" pitchFamily="34" charset="0"/>
              </a:rPr>
              <a:t>IR</a:t>
            </a:r>
            <a:r>
              <a:rPr lang="en-US" altLang="zh-CN" sz="2400" b="1" baseline="-25000" dirty="0" err="1">
                <a:latin typeface="Arial" panose="020B0604020202020204" pitchFamily="34" charset="0"/>
              </a:rPr>
              <a:t>i</a:t>
            </a:r>
            <a:r>
              <a:rPr lang="zh-CN" altLang="en-US" sz="2400" b="1" dirty="0">
                <a:latin typeface="Arial" panose="020B0604020202020204" pitchFamily="34" charset="0"/>
              </a:rPr>
              <a:t>输入端出现高电平作为中断请求信号触发中断申请</a:t>
            </a:r>
            <a:endParaRPr lang="en-US" altLang="zh-CN" sz="2400" b="1" dirty="0">
              <a:latin typeface="Arial" panose="020B0604020202020204" pitchFamily="34" charset="0"/>
            </a:endParaRPr>
          </a:p>
          <a:p>
            <a:pPr lvl="0" eaLnBrk="0" hangingPunct="0"/>
            <a:r>
              <a:rPr lang="zh-CN" altLang="en-US" sz="2400" b="1" dirty="0">
                <a:solidFill>
                  <a:srgbClr val="0000FF"/>
                </a:solidFill>
                <a:latin typeface="Arial" panose="020B0604020202020204" pitchFamily="34" charset="0"/>
              </a:rPr>
              <a:t>注意</a:t>
            </a:r>
            <a:r>
              <a:rPr lang="zh-CN" altLang="en-US" sz="2400" b="1" dirty="0">
                <a:latin typeface="Arial" panose="020B0604020202020204" pitchFamily="34" charset="0"/>
              </a:rPr>
              <a:t>：当该中断请求得到响应后，</a:t>
            </a:r>
            <a:r>
              <a:rPr lang="en-US" altLang="zh-CN" sz="2400" b="1" dirty="0" err="1">
                <a:latin typeface="Arial" panose="020B0604020202020204" pitchFamily="34" charset="0"/>
              </a:rPr>
              <a:t>IR</a:t>
            </a:r>
            <a:r>
              <a:rPr lang="en-US" altLang="zh-CN" sz="2400" b="1" baseline="-25000" dirty="0" err="1">
                <a:latin typeface="Arial" panose="020B0604020202020204" pitchFamily="34" charset="0"/>
              </a:rPr>
              <a:t>i</a:t>
            </a:r>
            <a:r>
              <a:rPr lang="zh-CN" altLang="en-US" sz="2400" b="1" dirty="0">
                <a:latin typeface="Arial" panose="020B0604020202020204" pitchFamily="34" charset="0"/>
              </a:rPr>
              <a:t>输入端必须及时撤除高电平，否则会引起不应有的第二次中断申请。</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标题 319489"/>
          <p:cNvSpPr>
            <a:spLocks noGrp="1"/>
          </p:cNvSpPr>
          <p:nvPr>
            <p:ph type="title"/>
          </p:nvPr>
        </p:nvSpPr>
        <p:spPr>
          <a:xfrm>
            <a:off x="1475656" y="260648"/>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19491" name="文本框 319490"/>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19492" name="文本框 319491"/>
          <p:cNvSpPr txBox="1"/>
          <p:nvPr/>
        </p:nvSpPr>
        <p:spPr>
          <a:xfrm>
            <a:off x="250825" y="836712"/>
            <a:ext cx="8642350" cy="2308324"/>
          </a:xfrm>
          <a:prstGeom prst="rect">
            <a:avLst/>
          </a:prstGeom>
          <a:noFill/>
          <a:ln w="9525">
            <a:noFill/>
          </a:ln>
        </p:spPr>
        <p:txBody>
          <a:bodyPr>
            <a:spAutoFit/>
          </a:bodyPr>
          <a:lstStyle/>
          <a:p>
            <a:pPr lvl="0" eaLnBrk="0" hangingPunct="0"/>
            <a:r>
              <a:rPr lang="en-US" altLang="zh-CN" sz="2400" b="1" dirty="0">
                <a:solidFill>
                  <a:srgbClr val="0000FF"/>
                </a:solidFill>
                <a:latin typeface="Arial" panose="020B0604020202020204" pitchFamily="34" charset="0"/>
              </a:rPr>
              <a:t>2．中断优先级设置方式</a:t>
            </a:r>
          </a:p>
          <a:p>
            <a:pPr lvl="0" eaLnBrk="0" hangingPunct="0"/>
            <a:r>
              <a:rPr lang="en-US" altLang="zh-CN" sz="2400" b="1" dirty="0">
                <a:solidFill>
                  <a:srgbClr val="FF00FF"/>
                </a:solidFill>
                <a:latin typeface="Arial" panose="020B0604020202020204" pitchFamily="34" charset="0"/>
              </a:rPr>
              <a:t>（1）完全嵌套方式</a:t>
            </a:r>
          </a:p>
          <a:p>
            <a:pPr lvl="0" eaLnBrk="0" hangingPunct="0"/>
            <a:r>
              <a:rPr lang="en-US" altLang="zh-CN" sz="2400" b="1" dirty="0">
                <a:latin typeface="Arial" panose="020B0604020202020204" pitchFamily="34" charset="0"/>
              </a:rPr>
              <a:t>    8259A在初始化时自动进入的一种最基本的优先级管理方式。只要不重新设置优先级别，IR</a:t>
            </a:r>
            <a:r>
              <a:rPr lang="en-US" altLang="zh-CN" sz="2400" b="1" baseline="-25000" dirty="0">
                <a:latin typeface="Arial" panose="020B0604020202020204" pitchFamily="34" charset="0"/>
              </a:rPr>
              <a:t>0</a:t>
            </a:r>
            <a:r>
              <a:rPr lang="en-US" altLang="zh-CN" sz="2400" b="1" dirty="0">
                <a:latin typeface="Arial" panose="020B0604020202020204" pitchFamily="34" charset="0"/>
              </a:rPr>
              <a:t>～IR</a:t>
            </a:r>
            <a:r>
              <a:rPr lang="en-US" altLang="zh-CN" sz="2400" b="1" baseline="-25000" dirty="0">
                <a:latin typeface="Arial" panose="020B0604020202020204" pitchFamily="34" charset="0"/>
              </a:rPr>
              <a:t>7</a:t>
            </a:r>
            <a:r>
              <a:rPr lang="en-US" altLang="zh-CN" sz="2400" b="1" dirty="0">
                <a:latin typeface="Arial" panose="020B0604020202020204" pitchFamily="34" charset="0"/>
              </a:rPr>
              <a:t>就具有</a:t>
            </a:r>
            <a:r>
              <a:rPr lang="en-US" altLang="zh-CN" sz="2400" b="1" dirty="0">
                <a:solidFill>
                  <a:srgbClr val="0000FF"/>
                </a:solidFill>
                <a:latin typeface="Arial" panose="020B0604020202020204" pitchFamily="34" charset="0"/>
              </a:rPr>
              <a:t>固定不变</a:t>
            </a:r>
            <a:r>
              <a:rPr lang="en-US" altLang="zh-CN" sz="2400" b="1" dirty="0">
                <a:latin typeface="Arial" panose="020B0604020202020204" pitchFamily="34" charset="0"/>
              </a:rPr>
              <a:t>的优先级，默认</a:t>
            </a:r>
            <a:r>
              <a:rPr lang="en-US" altLang="zh-CN" sz="2400" b="1" dirty="0">
                <a:solidFill>
                  <a:srgbClr val="0000FF"/>
                </a:solidFill>
                <a:latin typeface="Arial" panose="020B0604020202020204" pitchFamily="34" charset="0"/>
              </a:rPr>
              <a:t>IR</a:t>
            </a:r>
            <a:r>
              <a:rPr lang="en-US" altLang="zh-CN" sz="2400" b="1" baseline="-25000" dirty="0">
                <a:solidFill>
                  <a:srgbClr val="0000FF"/>
                </a:solidFill>
                <a:latin typeface="Arial" panose="020B0604020202020204" pitchFamily="34" charset="0"/>
              </a:rPr>
              <a:t>0</a:t>
            </a:r>
            <a:r>
              <a:rPr lang="en-US" altLang="zh-CN" sz="2400" b="1" dirty="0">
                <a:solidFill>
                  <a:srgbClr val="0000FF"/>
                </a:solidFill>
                <a:latin typeface="Arial" panose="020B0604020202020204" pitchFamily="34" charset="0"/>
              </a:rPr>
              <a:t>优先级最高</a:t>
            </a:r>
            <a:r>
              <a:rPr lang="en-US" altLang="zh-CN" sz="2400" b="1" dirty="0">
                <a:latin typeface="Arial" panose="020B0604020202020204" pitchFamily="34" charset="0"/>
              </a:rPr>
              <a:t>，IR</a:t>
            </a:r>
            <a:r>
              <a:rPr lang="en-US" altLang="zh-CN" sz="2400" b="1" baseline="-25000" dirty="0">
                <a:latin typeface="Arial" panose="020B0604020202020204" pitchFamily="34" charset="0"/>
              </a:rPr>
              <a:t>1</a:t>
            </a:r>
            <a:r>
              <a:rPr lang="en-US" altLang="zh-CN" sz="2400" b="1" dirty="0">
                <a:latin typeface="Arial" panose="020B0604020202020204" pitchFamily="34" charset="0"/>
              </a:rPr>
              <a:t>次之，IR</a:t>
            </a:r>
            <a:r>
              <a:rPr lang="en-US" altLang="zh-CN" sz="2400" b="1" baseline="-25000" dirty="0">
                <a:latin typeface="Arial" panose="020B0604020202020204" pitchFamily="34" charset="0"/>
              </a:rPr>
              <a:t>7</a:t>
            </a:r>
            <a:r>
              <a:rPr lang="en-US" altLang="zh-CN" sz="2400" b="1" dirty="0">
                <a:latin typeface="Arial" panose="020B0604020202020204" pitchFamily="34" charset="0"/>
              </a:rPr>
              <a:t>优先级最低。高优先级的中断能够中断低优先级的中断服务，实现中断嵌套。</a:t>
            </a:r>
          </a:p>
        </p:txBody>
      </p:sp>
      <p:pic>
        <p:nvPicPr>
          <p:cNvPr id="5" name="图片 4" descr="t-8.5.TIF">
            <a:extLst>
              <a:ext uri="{FF2B5EF4-FFF2-40B4-BE49-F238E27FC236}">
                <a16:creationId xmlns:a16="http://schemas.microsoft.com/office/drawing/2014/main" id="{328BDCD3-D31F-4F16-B8B2-D60722B604BF}"/>
              </a:ext>
            </a:extLst>
          </p:cNvPr>
          <p:cNvPicPr>
            <a:picLocks noChangeAspect="1"/>
          </p:cNvPicPr>
          <p:nvPr/>
        </p:nvPicPr>
        <p:blipFill>
          <a:blip r:embed="rId2" cstate="print"/>
          <a:stretch>
            <a:fillRect/>
          </a:stretch>
        </p:blipFill>
        <p:spPr>
          <a:xfrm>
            <a:off x="827584" y="3172073"/>
            <a:ext cx="4824536" cy="313977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标题 319489"/>
          <p:cNvSpPr>
            <a:spLocks noGrp="1"/>
          </p:cNvSpPr>
          <p:nvPr>
            <p:ph type="title"/>
          </p:nvPr>
        </p:nvSpPr>
        <p:spPr>
          <a:xfrm>
            <a:off x="1475656" y="260648"/>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19491" name="文本框 319490"/>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19492" name="文本框 319491"/>
          <p:cNvSpPr txBox="1"/>
          <p:nvPr/>
        </p:nvSpPr>
        <p:spPr>
          <a:xfrm>
            <a:off x="250825" y="836712"/>
            <a:ext cx="8642350" cy="2677656"/>
          </a:xfrm>
          <a:prstGeom prst="rect">
            <a:avLst/>
          </a:prstGeom>
          <a:noFill/>
          <a:ln w="9525">
            <a:noFill/>
          </a:ln>
        </p:spPr>
        <p:txBody>
          <a:bodyPr>
            <a:spAutoFit/>
          </a:bodyPr>
          <a:lstStyle/>
          <a:p>
            <a:pPr lvl="0" eaLnBrk="0" hangingPunct="0"/>
            <a:r>
              <a:rPr lang="en-US" altLang="zh-CN" sz="2400" b="1" dirty="0">
                <a:solidFill>
                  <a:srgbClr val="FF00FF"/>
                </a:solidFill>
                <a:latin typeface="Arial" panose="020B0604020202020204" pitchFamily="34" charset="0"/>
              </a:rPr>
              <a:t>（2）自动循环方式</a:t>
            </a:r>
          </a:p>
          <a:p>
            <a:pPr lvl="0" eaLnBrk="0" hangingPunct="0"/>
            <a:r>
              <a:rPr lang="en-US" altLang="zh-CN" sz="2400" b="1" dirty="0">
                <a:latin typeface="Arial" panose="020B0604020202020204" pitchFamily="34" charset="0"/>
              </a:rPr>
              <a:t>    可以改变IR</a:t>
            </a:r>
            <a:r>
              <a:rPr lang="en-US" altLang="zh-CN" sz="2400" b="1" baseline="-25000" dirty="0">
                <a:latin typeface="Arial" panose="020B0604020202020204" pitchFamily="34" charset="0"/>
              </a:rPr>
              <a:t>7</a:t>
            </a:r>
            <a:r>
              <a:rPr lang="en-US" altLang="zh-CN" sz="2400" b="1" dirty="0">
                <a:latin typeface="Arial" panose="020B0604020202020204" pitchFamily="34" charset="0"/>
              </a:rPr>
              <a:t>～IR</a:t>
            </a:r>
            <a:r>
              <a:rPr lang="en-US" altLang="zh-CN" sz="2400" b="1" baseline="-25000" dirty="0">
                <a:latin typeface="Arial" panose="020B0604020202020204" pitchFamily="34" charset="0"/>
              </a:rPr>
              <a:t>0</a:t>
            </a:r>
            <a:r>
              <a:rPr lang="en-US" altLang="zh-CN" sz="2400" b="1" dirty="0">
                <a:latin typeface="Arial" panose="020B0604020202020204" pitchFamily="34" charset="0"/>
              </a:rPr>
              <a:t>优先级。</a:t>
            </a:r>
          </a:p>
          <a:p>
            <a:pPr lvl="0" eaLnBrk="0" hangingPunct="0"/>
            <a:r>
              <a:rPr lang="en-US" altLang="zh-CN" sz="2400" b="1" dirty="0">
                <a:latin typeface="Arial" panose="020B0604020202020204" pitchFamily="34" charset="0"/>
              </a:rPr>
              <a:t>    变化规律：初始时IR</a:t>
            </a:r>
            <a:r>
              <a:rPr lang="en-US" altLang="zh-CN" sz="2400" b="1" baseline="-25000" dirty="0">
                <a:latin typeface="Arial" panose="020B0604020202020204" pitchFamily="34" charset="0"/>
              </a:rPr>
              <a:t>0</a:t>
            </a:r>
            <a:r>
              <a:rPr lang="en-US" altLang="zh-CN" sz="2400" b="1" dirty="0">
                <a:latin typeface="Arial" panose="020B0604020202020204" pitchFamily="34" charset="0"/>
              </a:rPr>
              <a:t>最高，IR</a:t>
            </a:r>
            <a:r>
              <a:rPr lang="en-US" altLang="zh-CN" sz="2400" b="1" baseline="-25000" dirty="0">
                <a:latin typeface="Arial" panose="020B0604020202020204" pitchFamily="34" charset="0"/>
              </a:rPr>
              <a:t>7</a:t>
            </a:r>
            <a:r>
              <a:rPr lang="en-US" altLang="zh-CN" sz="2400" b="1" dirty="0">
                <a:latin typeface="Arial" panose="020B0604020202020204" pitchFamily="34" charset="0"/>
              </a:rPr>
              <a:t>最低，但当某个中断请求被响应之后，它的优先级就</a:t>
            </a:r>
            <a:r>
              <a:rPr lang="en-US" altLang="zh-CN" sz="2400" b="1" dirty="0">
                <a:solidFill>
                  <a:srgbClr val="0000FF"/>
                </a:solidFill>
                <a:latin typeface="Arial" panose="020B0604020202020204" pitchFamily="34" charset="0"/>
              </a:rPr>
              <a:t>变为最低</a:t>
            </a:r>
            <a:r>
              <a:rPr lang="en-US" altLang="zh-CN" sz="2400" b="1" dirty="0">
                <a:latin typeface="Arial" panose="020B0604020202020204" pitchFamily="34" charset="0"/>
              </a:rPr>
              <a:t>，它的下一级中断</a:t>
            </a:r>
            <a:r>
              <a:rPr lang="en-US" altLang="zh-CN" sz="2400" b="1" dirty="0">
                <a:solidFill>
                  <a:srgbClr val="0000FF"/>
                </a:solidFill>
                <a:latin typeface="Arial" panose="020B0604020202020204" pitchFamily="34" charset="0"/>
              </a:rPr>
              <a:t>变为最高</a:t>
            </a:r>
            <a:r>
              <a:rPr lang="en-US" altLang="zh-CN" sz="2400" b="1" dirty="0">
                <a:latin typeface="Arial" panose="020B0604020202020204" pitchFamily="34" charset="0"/>
              </a:rPr>
              <a:t>优先级，优先级轮流。</a:t>
            </a:r>
          </a:p>
          <a:p>
            <a:pPr lvl="0" eaLnBrk="0" hangingPunct="0"/>
            <a:r>
              <a:rPr lang="en-US" altLang="zh-CN" sz="2400" b="1" dirty="0">
                <a:latin typeface="Arial" panose="020B0604020202020204" pitchFamily="34" charset="0"/>
              </a:rPr>
              <a:t>     </a:t>
            </a:r>
            <a:r>
              <a:rPr lang="en-US" altLang="zh-CN" sz="2400" b="1" dirty="0" err="1">
                <a:latin typeface="Arial" panose="020B0604020202020204" pitchFamily="34" charset="0"/>
              </a:rPr>
              <a:t>例如</a:t>
            </a:r>
            <a:r>
              <a:rPr lang="zh-CN" altLang="en-US" sz="2400" b="1" dirty="0">
                <a:latin typeface="Arial" panose="020B0604020202020204" pitchFamily="34" charset="0"/>
              </a:rPr>
              <a:t>：</a:t>
            </a:r>
            <a:r>
              <a:rPr lang="en-US" altLang="zh-CN" sz="2400" b="1" dirty="0">
                <a:latin typeface="Arial" panose="020B0604020202020204" pitchFamily="34" charset="0"/>
              </a:rPr>
              <a:t>当IR</a:t>
            </a:r>
            <a:r>
              <a:rPr lang="en-US" altLang="zh-CN" sz="2400" b="1" baseline="-25000" dirty="0">
                <a:latin typeface="Arial" panose="020B0604020202020204" pitchFamily="34" charset="0"/>
              </a:rPr>
              <a:t>4</a:t>
            </a:r>
            <a:r>
              <a:rPr lang="en-US" altLang="zh-CN" sz="2400" b="1" dirty="0">
                <a:latin typeface="Arial" panose="020B0604020202020204" pitchFamily="34" charset="0"/>
              </a:rPr>
              <a:t>的中断</a:t>
            </a:r>
            <a:r>
              <a:rPr lang="zh-CN" altLang="en-US" sz="2400" b="1" dirty="0">
                <a:latin typeface="Arial" panose="020B0604020202020204" pitchFamily="34" charset="0"/>
              </a:rPr>
              <a:t>服务完</a:t>
            </a:r>
            <a:r>
              <a:rPr lang="en-US" altLang="zh-CN" sz="2400" b="1" dirty="0">
                <a:latin typeface="Arial" panose="020B0604020202020204" pitchFamily="34" charset="0"/>
              </a:rPr>
              <a:t>后，IR</a:t>
            </a:r>
            <a:r>
              <a:rPr lang="en-US" altLang="zh-CN" sz="2400" b="1" baseline="-25000" dirty="0">
                <a:latin typeface="Arial" panose="020B0604020202020204" pitchFamily="34" charset="0"/>
              </a:rPr>
              <a:t>4</a:t>
            </a:r>
            <a:r>
              <a:rPr lang="en-US" altLang="zh-CN" sz="2400" b="1" dirty="0">
                <a:latin typeface="Arial" panose="020B0604020202020204" pitchFamily="34" charset="0"/>
              </a:rPr>
              <a:t>的优先级变为最低，而相邻的IR</a:t>
            </a:r>
            <a:r>
              <a:rPr lang="en-US" altLang="zh-CN" sz="2400" b="1" baseline="-25000" dirty="0">
                <a:latin typeface="Arial" panose="020B0604020202020204" pitchFamily="34" charset="0"/>
              </a:rPr>
              <a:t>5</a:t>
            </a:r>
            <a:r>
              <a:rPr lang="en-US" altLang="zh-CN" sz="2400" b="1" dirty="0">
                <a:latin typeface="Arial" panose="020B0604020202020204" pitchFamily="34" charset="0"/>
              </a:rPr>
              <a:t>变为最高优先级，IR</a:t>
            </a:r>
            <a:r>
              <a:rPr lang="en-US" altLang="zh-CN" sz="2400" b="1" baseline="-25000" dirty="0">
                <a:latin typeface="Arial" panose="020B0604020202020204" pitchFamily="34" charset="0"/>
              </a:rPr>
              <a:t>6</a:t>
            </a:r>
            <a:r>
              <a:rPr lang="en-US" altLang="zh-CN" sz="2400" b="1" dirty="0">
                <a:latin typeface="Arial" panose="020B0604020202020204" pitchFamily="34" charset="0"/>
              </a:rPr>
              <a:t>次之，依次类推。</a:t>
            </a:r>
            <a:endParaRPr lang="zh-CN" altLang="en-US" sz="2400" b="1" dirty="0">
              <a:latin typeface="Arial" panose="020B0604020202020204" pitchFamily="34" charset="0"/>
            </a:endParaRPr>
          </a:p>
        </p:txBody>
      </p:sp>
      <p:grpSp>
        <p:nvGrpSpPr>
          <p:cNvPr id="36" name="组合 35">
            <a:extLst>
              <a:ext uri="{FF2B5EF4-FFF2-40B4-BE49-F238E27FC236}">
                <a16:creationId xmlns:a16="http://schemas.microsoft.com/office/drawing/2014/main" id="{D49DE04C-02ED-460B-9B9F-B1D3DD5F3FF4}"/>
              </a:ext>
            </a:extLst>
          </p:cNvPr>
          <p:cNvGrpSpPr/>
          <p:nvPr/>
        </p:nvGrpSpPr>
        <p:grpSpPr>
          <a:xfrm>
            <a:off x="611560" y="3544674"/>
            <a:ext cx="7349435" cy="2217867"/>
            <a:chOff x="611560" y="3544674"/>
            <a:chExt cx="7349435" cy="2217867"/>
          </a:xfrm>
        </p:grpSpPr>
        <p:sp>
          <p:nvSpPr>
            <p:cNvPr id="2" name="矩形 1">
              <a:extLst>
                <a:ext uri="{FF2B5EF4-FFF2-40B4-BE49-F238E27FC236}">
                  <a16:creationId xmlns:a16="http://schemas.microsoft.com/office/drawing/2014/main" id="{6D16F613-2EBF-4BB2-BBF8-671746729F7D}"/>
                </a:ext>
              </a:extLst>
            </p:cNvPr>
            <p:cNvSpPr/>
            <p:nvPr/>
          </p:nvSpPr>
          <p:spPr>
            <a:xfrm>
              <a:off x="1115616" y="3933056"/>
              <a:ext cx="2736304" cy="4320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0   1   0   1   0   0   0   0</a:t>
              </a:r>
              <a:endParaRPr lang="zh-CN" altLang="en-US" dirty="0"/>
            </a:p>
          </p:txBody>
        </p:sp>
        <p:sp>
          <p:nvSpPr>
            <p:cNvPr id="3" name="文本框 2">
              <a:extLst>
                <a:ext uri="{FF2B5EF4-FFF2-40B4-BE49-F238E27FC236}">
                  <a16:creationId xmlns:a16="http://schemas.microsoft.com/office/drawing/2014/main" id="{953E499A-6A4C-4478-AFB3-716B0D89C3DF}"/>
                </a:ext>
              </a:extLst>
            </p:cNvPr>
            <p:cNvSpPr txBox="1"/>
            <p:nvPr/>
          </p:nvSpPr>
          <p:spPr>
            <a:xfrm>
              <a:off x="611560" y="3956065"/>
              <a:ext cx="615747" cy="369332"/>
            </a:xfrm>
            <a:prstGeom prst="rect">
              <a:avLst/>
            </a:prstGeom>
            <a:noFill/>
          </p:spPr>
          <p:txBody>
            <a:bodyPr wrap="square" rtlCol="0">
              <a:spAutoFit/>
            </a:bodyPr>
            <a:lstStyle/>
            <a:p>
              <a:r>
                <a:rPr lang="en-US" altLang="zh-CN" dirty="0"/>
                <a:t>ISR</a:t>
              </a:r>
              <a:endParaRPr lang="zh-CN" altLang="en-US" dirty="0"/>
            </a:p>
          </p:txBody>
        </p:sp>
        <p:sp>
          <p:nvSpPr>
            <p:cNvPr id="8" name="文本框 7">
              <a:extLst>
                <a:ext uri="{FF2B5EF4-FFF2-40B4-BE49-F238E27FC236}">
                  <a16:creationId xmlns:a16="http://schemas.microsoft.com/office/drawing/2014/main" id="{D4E1CF6D-83E6-402B-A475-5447C2DB1FD2}"/>
                </a:ext>
              </a:extLst>
            </p:cNvPr>
            <p:cNvSpPr txBox="1"/>
            <p:nvPr/>
          </p:nvSpPr>
          <p:spPr>
            <a:xfrm>
              <a:off x="865684" y="4787860"/>
              <a:ext cx="1133074" cy="338554"/>
            </a:xfrm>
            <a:prstGeom prst="rect">
              <a:avLst/>
            </a:prstGeom>
            <a:noFill/>
          </p:spPr>
          <p:txBody>
            <a:bodyPr wrap="square" rtlCol="0">
              <a:spAutoFit/>
            </a:bodyPr>
            <a:lstStyle/>
            <a:p>
              <a:r>
                <a:rPr lang="zh-CN" altLang="en-US" sz="1600" dirty="0"/>
                <a:t>最低级</a:t>
              </a:r>
              <a:r>
                <a:rPr lang="en-US" altLang="zh-CN" sz="1600" dirty="0"/>
                <a:t>IR</a:t>
              </a:r>
              <a:r>
                <a:rPr lang="en-US" altLang="zh-CN" sz="1600" baseline="-25000" dirty="0"/>
                <a:t>7</a:t>
              </a:r>
              <a:endParaRPr lang="zh-CN" altLang="en-US" sz="1600" baseline="-25000" dirty="0"/>
            </a:p>
          </p:txBody>
        </p:sp>
        <p:sp>
          <p:nvSpPr>
            <p:cNvPr id="9" name="文本框 8">
              <a:extLst>
                <a:ext uri="{FF2B5EF4-FFF2-40B4-BE49-F238E27FC236}">
                  <a16:creationId xmlns:a16="http://schemas.microsoft.com/office/drawing/2014/main" id="{084FC066-78FE-4709-A5E6-33BED1823F20}"/>
                </a:ext>
              </a:extLst>
            </p:cNvPr>
            <p:cNvSpPr txBox="1"/>
            <p:nvPr/>
          </p:nvSpPr>
          <p:spPr>
            <a:xfrm>
              <a:off x="3394770" y="3597741"/>
              <a:ext cx="504056" cy="369332"/>
            </a:xfrm>
            <a:prstGeom prst="rect">
              <a:avLst/>
            </a:prstGeom>
            <a:noFill/>
          </p:spPr>
          <p:txBody>
            <a:bodyPr wrap="square" rtlCol="0">
              <a:spAutoFit/>
            </a:bodyPr>
            <a:lstStyle/>
            <a:p>
              <a:r>
                <a:rPr lang="en-US" altLang="zh-CN" dirty="0"/>
                <a:t>IS</a:t>
              </a:r>
              <a:r>
                <a:rPr lang="en-US" altLang="zh-CN" baseline="-25000" dirty="0"/>
                <a:t>0</a:t>
              </a:r>
              <a:endParaRPr lang="zh-CN" altLang="en-US" baseline="-25000" dirty="0"/>
            </a:p>
          </p:txBody>
        </p:sp>
        <p:cxnSp>
          <p:nvCxnSpPr>
            <p:cNvPr id="6" name="直接箭头连接符 5">
              <a:extLst>
                <a:ext uri="{FF2B5EF4-FFF2-40B4-BE49-F238E27FC236}">
                  <a16:creationId xmlns:a16="http://schemas.microsoft.com/office/drawing/2014/main" id="{6FA073C7-A1BE-45EB-B119-7DE638DB2133}"/>
                </a:ext>
              </a:extLst>
            </p:cNvPr>
            <p:cNvCxnSpPr>
              <a:cxnSpLocks/>
            </p:cNvCxnSpPr>
            <p:nvPr/>
          </p:nvCxnSpPr>
          <p:spPr>
            <a:xfrm flipV="1">
              <a:off x="1360215" y="4365104"/>
              <a:ext cx="0" cy="4227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4EA1BC84-EF5E-4DCA-954D-E20403E6FDFE}"/>
                </a:ext>
              </a:extLst>
            </p:cNvPr>
            <p:cNvSpPr txBox="1"/>
            <p:nvPr/>
          </p:nvSpPr>
          <p:spPr>
            <a:xfrm>
              <a:off x="1170668" y="3607499"/>
              <a:ext cx="504056" cy="369332"/>
            </a:xfrm>
            <a:prstGeom prst="rect">
              <a:avLst/>
            </a:prstGeom>
            <a:noFill/>
          </p:spPr>
          <p:txBody>
            <a:bodyPr wrap="square" rtlCol="0">
              <a:spAutoFit/>
            </a:bodyPr>
            <a:lstStyle/>
            <a:p>
              <a:r>
                <a:rPr lang="en-US" altLang="zh-CN" dirty="0"/>
                <a:t>IS</a:t>
              </a:r>
              <a:r>
                <a:rPr lang="en-US" altLang="zh-CN" baseline="-25000" dirty="0"/>
                <a:t>7</a:t>
              </a:r>
              <a:endParaRPr lang="zh-CN" altLang="en-US" baseline="-25000" dirty="0"/>
            </a:p>
          </p:txBody>
        </p:sp>
        <p:sp>
          <p:nvSpPr>
            <p:cNvPr id="14" name="文本框 13">
              <a:extLst>
                <a:ext uri="{FF2B5EF4-FFF2-40B4-BE49-F238E27FC236}">
                  <a16:creationId xmlns:a16="http://schemas.microsoft.com/office/drawing/2014/main" id="{BDB39E57-A647-45D8-9064-F24C57B1DF6C}"/>
                </a:ext>
              </a:extLst>
            </p:cNvPr>
            <p:cNvSpPr txBox="1"/>
            <p:nvPr/>
          </p:nvSpPr>
          <p:spPr>
            <a:xfrm>
              <a:off x="1517435" y="4312037"/>
              <a:ext cx="504056" cy="369332"/>
            </a:xfrm>
            <a:prstGeom prst="rect">
              <a:avLst/>
            </a:prstGeom>
            <a:noFill/>
          </p:spPr>
          <p:txBody>
            <a:bodyPr wrap="square" rtlCol="0">
              <a:spAutoFit/>
            </a:bodyPr>
            <a:lstStyle/>
            <a:p>
              <a:r>
                <a:rPr lang="en-US" altLang="zh-CN" dirty="0"/>
                <a:t>IR</a:t>
              </a:r>
              <a:r>
                <a:rPr lang="en-US" altLang="zh-CN" baseline="-25000" dirty="0"/>
                <a:t>6</a:t>
              </a:r>
              <a:endParaRPr lang="zh-CN" altLang="en-US" baseline="-25000" dirty="0"/>
            </a:p>
          </p:txBody>
        </p:sp>
        <p:sp>
          <p:nvSpPr>
            <p:cNvPr id="15" name="文本框 14">
              <a:extLst>
                <a:ext uri="{FF2B5EF4-FFF2-40B4-BE49-F238E27FC236}">
                  <a16:creationId xmlns:a16="http://schemas.microsoft.com/office/drawing/2014/main" id="{DDACCAD7-268B-4A7F-B04E-CB32B22E90D5}"/>
                </a:ext>
              </a:extLst>
            </p:cNvPr>
            <p:cNvSpPr txBox="1"/>
            <p:nvPr/>
          </p:nvSpPr>
          <p:spPr>
            <a:xfrm>
              <a:off x="2147507" y="4324001"/>
              <a:ext cx="504056" cy="369332"/>
            </a:xfrm>
            <a:prstGeom prst="rect">
              <a:avLst/>
            </a:prstGeom>
            <a:noFill/>
          </p:spPr>
          <p:txBody>
            <a:bodyPr wrap="square" rtlCol="0">
              <a:spAutoFit/>
            </a:bodyPr>
            <a:lstStyle/>
            <a:p>
              <a:r>
                <a:rPr lang="en-US" altLang="zh-CN" dirty="0"/>
                <a:t>IR</a:t>
              </a:r>
              <a:r>
                <a:rPr lang="en-US" altLang="zh-CN" baseline="-25000" dirty="0"/>
                <a:t>4</a:t>
              </a:r>
              <a:endParaRPr lang="zh-CN" altLang="en-US" baseline="-25000" dirty="0"/>
            </a:p>
          </p:txBody>
        </p:sp>
        <p:sp>
          <p:nvSpPr>
            <p:cNvPr id="16" name="文本框 15">
              <a:extLst>
                <a:ext uri="{FF2B5EF4-FFF2-40B4-BE49-F238E27FC236}">
                  <a16:creationId xmlns:a16="http://schemas.microsoft.com/office/drawing/2014/main" id="{64D493D5-F856-4154-9116-261D5A1E4C33}"/>
                </a:ext>
              </a:extLst>
            </p:cNvPr>
            <p:cNvSpPr txBox="1"/>
            <p:nvPr/>
          </p:nvSpPr>
          <p:spPr>
            <a:xfrm>
              <a:off x="3093740" y="4785210"/>
              <a:ext cx="1133074" cy="338554"/>
            </a:xfrm>
            <a:prstGeom prst="rect">
              <a:avLst/>
            </a:prstGeom>
            <a:noFill/>
          </p:spPr>
          <p:txBody>
            <a:bodyPr wrap="square" rtlCol="0">
              <a:spAutoFit/>
            </a:bodyPr>
            <a:lstStyle/>
            <a:p>
              <a:r>
                <a:rPr lang="zh-CN" altLang="en-US" sz="1600" dirty="0"/>
                <a:t>最高级</a:t>
              </a:r>
              <a:r>
                <a:rPr lang="en-US" altLang="zh-CN" sz="1600" dirty="0"/>
                <a:t>IR</a:t>
              </a:r>
              <a:r>
                <a:rPr lang="en-US" altLang="zh-CN" sz="1600" baseline="-25000" dirty="0"/>
                <a:t>0</a:t>
              </a:r>
              <a:endParaRPr lang="zh-CN" altLang="en-US" sz="1600" baseline="-25000" dirty="0"/>
            </a:p>
          </p:txBody>
        </p:sp>
        <p:cxnSp>
          <p:nvCxnSpPr>
            <p:cNvPr id="17" name="直接箭头连接符 16">
              <a:extLst>
                <a:ext uri="{FF2B5EF4-FFF2-40B4-BE49-F238E27FC236}">
                  <a16:creationId xmlns:a16="http://schemas.microsoft.com/office/drawing/2014/main" id="{B52F80E6-A01C-4431-BF21-E7F5332360CB}"/>
                </a:ext>
              </a:extLst>
            </p:cNvPr>
            <p:cNvCxnSpPr>
              <a:cxnSpLocks/>
            </p:cNvCxnSpPr>
            <p:nvPr/>
          </p:nvCxnSpPr>
          <p:spPr>
            <a:xfrm flipV="1">
              <a:off x="3588271" y="4362454"/>
              <a:ext cx="0" cy="4227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FF234143-BA94-440E-A41C-FC33664267CE}"/>
                </a:ext>
              </a:extLst>
            </p:cNvPr>
            <p:cNvSpPr/>
            <p:nvPr/>
          </p:nvSpPr>
          <p:spPr>
            <a:xfrm>
              <a:off x="5177785" y="3879989"/>
              <a:ext cx="2736304" cy="4320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0   1   0   0   0   0   0   0</a:t>
              </a:r>
              <a:endParaRPr lang="zh-CN" altLang="en-US" dirty="0"/>
            </a:p>
          </p:txBody>
        </p:sp>
        <p:sp>
          <p:nvSpPr>
            <p:cNvPr id="19" name="文本框 18">
              <a:extLst>
                <a:ext uri="{FF2B5EF4-FFF2-40B4-BE49-F238E27FC236}">
                  <a16:creationId xmlns:a16="http://schemas.microsoft.com/office/drawing/2014/main" id="{442B65DC-12EC-4173-968A-7F02373A3735}"/>
                </a:ext>
              </a:extLst>
            </p:cNvPr>
            <p:cNvSpPr txBox="1"/>
            <p:nvPr/>
          </p:nvSpPr>
          <p:spPr>
            <a:xfrm>
              <a:off x="4673729" y="3902998"/>
              <a:ext cx="615747" cy="369332"/>
            </a:xfrm>
            <a:prstGeom prst="rect">
              <a:avLst/>
            </a:prstGeom>
            <a:noFill/>
          </p:spPr>
          <p:txBody>
            <a:bodyPr wrap="square" rtlCol="0">
              <a:spAutoFit/>
            </a:bodyPr>
            <a:lstStyle/>
            <a:p>
              <a:r>
                <a:rPr lang="en-US" altLang="zh-CN" dirty="0"/>
                <a:t>ISR</a:t>
              </a:r>
              <a:endParaRPr lang="zh-CN" altLang="en-US" dirty="0"/>
            </a:p>
          </p:txBody>
        </p:sp>
        <p:sp>
          <p:nvSpPr>
            <p:cNvPr id="20" name="文本框 19">
              <a:extLst>
                <a:ext uri="{FF2B5EF4-FFF2-40B4-BE49-F238E27FC236}">
                  <a16:creationId xmlns:a16="http://schemas.microsoft.com/office/drawing/2014/main" id="{63E86BCD-8142-4C20-93D3-4CBF7265A0D5}"/>
                </a:ext>
              </a:extLst>
            </p:cNvPr>
            <p:cNvSpPr txBox="1"/>
            <p:nvPr/>
          </p:nvSpPr>
          <p:spPr>
            <a:xfrm>
              <a:off x="6103222" y="4734793"/>
              <a:ext cx="1133074" cy="338554"/>
            </a:xfrm>
            <a:prstGeom prst="rect">
              <a:avLst/>
            </a:prstGeom>
            <a:noFill/>
          </p:spPr>
          <p:txBody>
            <a:bodyPr wrap="square" rtlCol="0">
              <a:spAutoFit/>
            </a:bodyPr>
            <a:lstStyle/>
            <a:p>
              <a:r>
                <a:rPr lang="zh-CN" altLang="en-US" sz="1600" dirty="0"/>
                <a:t>最低级</a:t>
              </a:r>
              <a:r>
                <a:rPr lang="en-US" altLang="zh-CN" sz="1600" dirty="0"/>
                <a:t>IR</a:t>
              </a:r>
              <a:r>
                <a:rPr lang="en-US" altLang="zh-CN" sz="1600" baseline="-25000" dirty="0"/>
                <a:t>4</a:t>
              </a:r>
              <a:endParaRPr lang="zh-CN" altLang="en-US" sz="1600" baseline="-25000" dirty="0"/>
            </a:p>
          </p:txBody>
        </p:sp>
        <p:sp>
          <p:nvSpPr>
            <p:cNvPr id="21" name="文本框 20">
              <a:extLst>
                <a:ext uri="{FF2B5EF4-FFF2-40B4-BE49-F238E27FC236}">
                  <a16:creationId xmlns:a16="http://schemas.microsoft.com/office/drawing/2014/main" id="{1310535F-5941-4532-8FBE-CDF066418406}"/>
                </a:ext>
              </a:extLst>
            </p:cNvPr>
            <p:cNvSpPr txBox="1"/>
            <p:nvPr/>
          </p:nvSpPr>
          <p:spPr>
            <a:xfrm>
              <a:off x="7456939" y="3544674"/>
              <a:ext cx="504056" cy="369332"/>
            </a:xfrm>
            <a:prstGeom prst="rect">
              <a:avLst/>
            </a:prstGeom>
            <a:noFill/>
          </p:spPr>
          <p:txBody>
            <a:bodyPr wrap="square" rtlCol="0">
              <a:spAutoFit/>
            </a:bodyPr>
            <a:lstStyle/>
            <a:p>
              <a:r>
                <a:rPr lang="en-US" altLang="zh-CN" dirty="0"/>
                <a:t>IS</a:t>
              </a:r>
              <a:r>
                <a:rPr lang="en-US" altLang="zh-CN" baseline="-25000" dirty="0"/>
                <a:t>0</a:t>
              </a:r>
              <a:endParaRPr lang="zh-CN" altLang="en-US" baseline="-25000" dirty="0"/>
            </a:p>
          </p:txBody>
        </p:sp>
        <p:cxnSp>
          <p:nvCxnSpPr>
            <p:cNvPr id="22" name="直接箭头连接符 21">
              <a:extLst>
                <a:ext uri="{FF2B5EF4-FFF2-40B4-BE49-F238E27FC236}">
                  <a16:creationId xmlns:a16="http://schemas.microsoft.com/office/drawing/2014/main" id="{66BDB8E4-799B-4B4D-8048-5B3ED8D1D8F0}"/>
                </a:ext>
              </a:extLst>
            </p:cNvPr>
            <p:cNvCxnSpPr>
              <a:cxnSpLocks/>
            </p:cNvCxnSpPr>
            <p:nvPr/>
          </p:nvCxnSpPr>
          <p:spPr>
            <a:xfrm flipV="1">
              <a:off x="6381729" y="4312037"/>
              <a:ext cx="0" cy="4227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1BEEF087-9216-409C-8FD6-19ADE43CDD38}"/>
                </a:ext>
              </a:extLst>
            </p:cNvPr>
            <p:cNvSpPr txBox="1"/>
            <p:nvPr/>
          </p:nvSpPr>
          <p:spPr>
            <a:xfrm>
              <a:off x="5232837" y="3554432"/>
              <a:ext cx="504056" cy="369332"/>
            </a:xfrm>
            <a:prstGeom prst="rect">
              <a:avLst/>
            </a:prstGeom>
            <a:noFill/>
          </p:spPr>
          <p:txBody>
            <a:bodyPr wrap="square" rtlCol="0">
              <a:spAutoFit/>
            </a:bodyPr>
            <a:lstStyle/>
            <a:p>
              <a:r>
                <a:rPr lang="en-US" altLang="zh-CN" dirty="0"/>
                <a:t>IS</a:t>
              </a:r>
              <a:r>
                <a:rPr lang="en-US" altLang="zh-CN" baseline="-25000" dirty="0"/>
                <a:t>7</a:t>
              </a:r>
              <a:endParaRPr lang="zh-CN" altLang="en-US" baseline="-25000" dirty="0"/>
            </a:p>
          </p:txBody>
        </p:sp>
        <p:sp>
          <p:nvSpPr>
            <p:cNvPr id="24" name="文本框 23">
              <a:extLst>
                <a:ext uri="{FF2B5EF4-FFF2-40B4-BE49-F238E27FC236}">
                  <a16:creationId xmlns:a16="http://schemas.microsoft.com/office/drawing/2014/main" id="{66737D19-5BD2-4BBC-A60F-5F5E6CABA0A2}"/>
                </a:ext>
              </a:extLst>
            </p:cNvPr>
            <p:cNvSpPr txBox="1"/>
            <p:nvPr/>
          </p:nvSpPr>
          <p:spPr>
            <a:xfrm>
              <a:off x="5579604" y="4258970"/>
              <a:ext cx="504056" cy="369332"/>
            </a:xfrm>
            <a:prstGeom prst="rect">
              <a:avLst/>
            </a:prstGeom>
            <a:noFill/>
          </p:spPr>
          <p:txBody>
            <a:bodyPr wrap="square" rtlCol="0">
              <a:spAutoFit/>
            </a:bodyPr>
            <a:lstStyle/>
            <a:p>
              <a:r>
                <a:rPr lang="en-US" altLang="zh-CN" dirty="0"/>
                <a:t>IR</a:t>
              </a:r>
              <a:r>
                <a:rPr lang="en-US" altLang="zh-CN" baseline="-25000" dirty="0"/>
                <a:t>6</a:t>
              </a:r>
              <a:endParaRPr lang="zh-CN" altLang="en-US" baseline="-25000" dirty="0"/>
            </a:p>
          </p:txBody>
        </p:sp>
        <p:sp>
          <p:nvSpPr>
            <p:cNvPr id="26" name="文本框 25">
              <a:extLst>
                <a:ext uri="{FF2B5EF4-FFF2-40B4-BE49-F238E27FC236}">
                  <a16:creationId xmlns:a16="http://schemas.microsoft.com/office/drawing/2014/main" id="{76D22FC9-5D16-41B0-A561-C040B60176A3}"/>
                </a:ext>
              </a:extLst>
            </p:cNvPr>
            <p:cNvSpPr txBox="1"/>
            <p:nvPr/>
          </p:nvSpPr>
          <p:spPr>
            <a:xfrm>
              <a:off x="5614020" y="5075201"/>
              <a:ext cx="1133074" cy="338554"/>
            </a:xfrm>
            <a:prstGeom prst="rect">
              <a:avLst/>
            </a:prstGeom>
            <a:noFill/>
          </p:spPr>
          <p:txBody>
            <a:bodyPr wrap="square" rtlCol="0">
              <a:spAutoFit/>
            </a:bodyPr>
            <a:lstStyle/>
            <a:p>
              <a:r>
                <a:rPr lang="zh-CN" altLang="en-US" sz="1600" dirty="0"/>
                <a:t>最高级</a:t>
              </a:r>
              <a:r>
                <a:rPr lang="en-US" altLang="zh-CN" sz="1600" dirty="0"/>
                <a:t>IR</a:t>
              </a:r>
              <a:r>
                <a:rPr lang="en-US" altLang="zh-CN" sz="1600" baseline="-25000" dirty="0"/>
                <a:t>5</a:t>
              </a:r>
              <a:endParaRPr lang="zh-CN" altLang="en-US" sz="1600" baseline="-25000" dirty="0"/>
            </a:p>
          </p:txBody>
        </p:sp>
        <p:cxnSp>
          <p:nvCxnSpPr>
            <p:cNvPr id="27" name="直接箭头连接符 26">
              <a:extLst>
                <a:ext uri="{FF2B5EF4-FFF2-40B4-BE49-F238E27FC236}">
                  <a16:creationId xmlns:a16="http://schemas.microsoft.com/office/drawing/2014/main" id="{57D9B3FE-4680-4A8A-B3A4-7218C949AABC}"/>
                </a:ext>
              </a:extLst>
            </p:cNvPr>
            <p:cNvCxnSpPr>
              <a:cxnSpLocks/>
            </p:cNvCxnSpPr>
            <p:nvPr/>
          </p:nvCxnSpPr>
          <p:spPr>
            <a:xfrm flipV="1">
              <a:off x="6076512" y="4314476"/>
              <a:ext cx="0" cy="74669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58057BE-F43C-4F85-9D83-6D724C65DEB5}"/>
                </a:ext>
              </a:extLst>
            </p:cNvPr>
            <p:cNvSpPr txBox="1"/>
            <p:nvPr/>
          </p:nvSpPr>
          <p:spPr>
            <a:xfrm>
              <a:off x="1619672" y="5373216"/>
              <a:ext cx="1620957" cy="338554"/>
            </a:xfrm>
            <a:prstGeom prst="rect">
              <a:avLst/>
            </a:prstGeom>
            <a:noFill/>
          </p:spPr>
          <p:txBody>
            <a:bodyPr wrap="square" rtlCol="0">
              <a:spAutoFit/>
            </a:bodyPr>
            <a:lstStyle/>
            <a:p>
              <a:r>
                <a:rPr lang="zh-CN" altLang="en-US" sz="1600" dirty="0"/>
                <a:t>初始状态优先级</a:t>
              </a:r>
            </a:p>
          </p:txBody>
        </p:sp>
        <p:sp>
          <p:nvSpPr>
            <p:cNvPr id="30" name="文本框 29">
              <a:extLst>
                <a:ext uri="{FF2B5EF4-FFF2-40B4-BE49-F238E27FC236}">
                  <a16:creationId xmlns:a16="http://schemas.microsoft.com/office/drawing/2014/main" id="{E2459432-89FD-4308-BB31-E986FA3A538D}"/>
                </a:ext>
              </a:extLst>
            </p:cNvPr>
            <p:cNvSpPr txBox="1"/>
            <p:nvPr/>
          </p:nvSpPr>
          <p:spPr>
            <a:xfrm>
              <a:off x="5732429" y="5423987"/>
              <a:ext cx="1928733" cy="338554"/>
            </a:xfrm>
            <a:prstGeom prst="rect">
              <a:avLst/>
            </a:prstGeom>
            <a:noFill/>
          </p:spPr>
          <p:txBody>
            <a:bodyPr wrap="square" rtlCol="0">
              <a:spAutoFit/>
            </a:bodyPr>
            <a:lstStyle/>
            <a:p>
              <a:r>
                <a:rPr lang="en-US" altLang="zh-CN" sz="1600" dirty="0"/>
                <a:t>IR</a:t>
              </a:r>
              <a:r>
                <a:rPr lang="en-US" altLang="zh-CN" sz="1600" baseline="-25000" dirty="0"/>
                <a:t>4</a:t>
              </a:r>
              <a:r>
                <a:rPr lang="zh-CN" altLang="en-US" sz="1600" dirty="0"/>
                <a:t>服务完后优先级</a:t>
              </a:r>
            </a:p>
          </p:txBody>
        </p:sp>
      </p:grpSp>
    </p:spTree>
    <p:extLst>
      <p:ext uri="{BB962C8B-B14F-4D97-AF65-F5344CB8AC3E}">
        <p14:creationId xmlns:p14="http://schemas.microsoft.com/office/powerpoint/2010/main" val="3979193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949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标题 320513"/>
          <p:cNvSpPr>
            <a:spLocks noGrp="1"/>
          </p:cNvSpPr>
          <p:nvPr>
            <p:ph type="title"/>
          </p:nvPr>
        </p:nvSpPr>
        <p:spPr>
          <a:xfrm>
            <a:off x="1619672" y="260648"/>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20515" name="文本框 320514"/>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20516" name="文本框 320515"/>
          <p:cNvSpPr txBox="1"/>
          <p:nvPr/>
        </p:nvSpPr>
        <p:spPr>
          <a:xfrm>
            <a:off x="0" y="836712"/>
            <a:ext cx="9144000" cy="1569660"/>
          </a:xfrm>
          <a:prstGeom prst="rect">
            <a:avLst/>
          </a:prstGeom>
          <a:noFill/>
          <a:ln w="9525">
            <a:noFill/>
          </a:ln>
        </p:spPr>
        <p:txBody>
          <a:bodyPr wrap="square">
            <a:spAutoFit/>
          </a:bodyPr>
          <a:lstStyle/>
          <a:p>
            <a:pPr lvl="0" eaLnBrk="0" hangingPunct="0"/>
            <a:r>
              <a:rPr lang="zh-CN" altLang="en-US" sz="2400" b="1" dirty="0">
                <a:solidFill>
                  <a:srgbClr val="FF00FF"/>
                </a:solidFill>
                <a:latin typeface="Arial" panose="020B0604020202020204" pitchFamily="34" charset="0"/>
              </a:rPr>
              <a:t>（</a:t>
            </a:r>
            <a:r>
              <a:rPr lang="en-US" altLang="zh-CN" sz="2400" b="1" dirty="0">
                <a:solidFill>
                  <a:srgbClr val="FF00FF"/>
                </a:solidFill>
                <a:latin typeface="Arial" panose="020B0604020202020204" pitchFamily="34" charset="0"/>
              </a:rPr>
              <a:t>3</a:t>
            </a:r>
            <a:r>
              <a:rPr lang="zh-CN" altLang="en-US" sz="2400" b="1" dirty="0">
                <a:solidFill>
                  <a:srgbClr val="FF00FF"/>
                </a:solidFill>
                <a:latin typeface="Arial" panose="020B0604020202020204" pitchFamily="34" charset="0"/>
              </a:rPr>
              <a:t>）特殊完全嵌套方式</a:t>
            </a:r>
          </a:p>
          <a:p>
            <a:pPr lvl="0" eaLnBrk="0" hangingPunct="0"/>
            <a:r>
              <a:rPr lang="zh-CN" altLang="en-US" sz="2400" b="1" dirty="0">
                <a:latin typeface="Arial" panose="020B0604020202020204" pitchFamily="34" charset="0"/>
              </a:rPr>
              <a:t>        在中断嵌套时，除了高优先级中断可以中断低优先级的中断服务，同级别的中断请求也能够予以响应，实现</a:t>
            </a:r>
            <a:r>
              <a:rPr lang="zh-CN" altLang="en-US" sz="2400" b="1" dirty="0">
                <a:solidFill>
                  <a:srgbClr val="0000FF"/>
                </a:solidFill>
                <a:latin typeface="Arial" panose="020B0604020202020204" pitchFamily="34" charset="0"/>
              </a:rPr>
              <a:t>同级中断的特殊嵌套</a:t>
            </a:r>
            <a:r>
              <a:rPr lang="zh-CN" altLang="en-US" sz="2400" b="1" dirty="0">
                <a:latin typeface="Arial" panose="020B0604020202020204" pitchFamily="34" charset="0"/>
              </a:rPr>
              <a:t>。主片工作在特殊完全嵌套方式，从片工作在完全嵌套方式。</a:t>
            </a:r>
            <a:endParaRPr lang="en-US" altLang="zh-CN" sz="2400" b="1" dirty="0">
              <a:latin typeface="Arial" panose="020B0604020202020204" pitchFamily="34" charset="0"/>
            </a:endParaRPr>
          </a:p>
        </p:txBody>
      </p:sp>
      <p:pic>
        <p:nvPicPr>
          <p:cNvPr id="5" name="图片 4" descr="wps_clip_image-15570">
            <a:extLst>
              <a:ext uri="{FF2B5EF4-FFF2-40B4-BE49-F238E27FC236}">
                <a16:creationId xmlns:a16="http://schemas.microsoft.com/office/drawing/2014/main" id="{FECAE8D1-346B-4963-ADF5-2C25E1742CFC}"/>
              </a:ext>
            </a:extLst>
          </p:cNvPr>
          <p:cNvPicPr>
            <a:picLocks noChangeAspect="1"/>
          </p:cNvPicPr>
          <p:nvPr/>
        </p:nvPicPr>
        <p:blipFill>
          <a:blip r:embed="rId2"/>
          <a:stretch>
            <a:fillRect/>
          </a:stretch>
        </p:blipFill>
        <p:spPr>
          <a:xfrm>
            <a:off x="-108520" y="2406372"/>
            <a:ext cx="6373216" cy="3839347"/>
          </a:xfrm>
          <a:prstGeom prst="rect">
            <a:avLst/>
          </a:prstGeom>
          <a:noFill/>
          <a:ln w="9525">
            <a:noFill/>
          </a:ln>
        </p:spPr>
      </p:pic>
      <p:sp>
        <p:nvSpPr>
          <p:cNvPr id="7" name="文本框 6">
            <a:extLst>
              <a:ext uri="{FF2B5EF4-FFF2-40B4-BE49-F238E27FC236}">
                <a16:creationId xmlns:a16="http://schemas.microsoft.com/office/drawing/2014/main" id="{11C19996-9539-49EC-9A42-1A91B3454C27}"/>
              </a:ext>
            </a:extLst>
          </p:cNvPr>
          <p:cNvSpPr txBox="1"/>
          <p:nvPr/>
        </p:nvSpPr>
        <p:spPr>
          <a:xfrm>
            <a:off x="6300192" y="2586592"/>
            <a:ext cx="2771800" cy="2862322"/>
          </a:xfrm>
          <a:prstGeom prst="rect">
            <a:avLst/>
          </a:prstGeom>
          <a:noFill/>
        </p:spPr>
        <p:txBody>
          <a:bodyPr wrap="square">
            <a:spAutoFit/>
          </a:bodyPr>
          <a:lstStyle/>
          <a:p>
            <a:r>
              <a:rPr lang="zh-CN" altLang="en-US" sz="2000" b="1" dirty="0">
                <a:latin typeface="Arial" panose="020B0604020202020204" pitchFamily="34" charset="0"/>
              </a:rPr>
              <a:t>全部 </a:t>
            </a:r>
            <a:r>
              <a:rPr lang="en-US" altLang="zh-CN" sz="2000" b="1" dirty="0">
                <a:latin typeface="Arial" panose="020B0604020202020204" pitchFamily="34" charset="0"/>
              </a:rPr>
              <a:t>22 </a:t>
            </a:r>
            <a:r>
              <a:rPr lang="zh-CN" altLang="en-US" sz="2000" b="1" dirty="0">
                <a:latin typeface="Arial" panose="020B0604020202020204" pitchFamily="34" charset="0"/>
              </a:rPr>
              <a:t>个中断源的优先级别排队顺序从高到低次为：</a:t>
            </a:r>
            <a:endParaRPr lang="en-US" altLang="zh-CN" sz="2000" b="1" dirty="0">
              <a:latin typeface="Arial" panose="020B0604020202020204" pitchFamily="34" charset="0"/>
            </a:endParaRPr>
          </a:p>
          <a:p>
            <a:pPr marL="342900" indent="-342900">
              <a:buClr>
                <a:srgbClr val="0000FF"/>
              </a:buClr>
              <a:buFont typeface="Wingdings" panose="05000000000000000000" pitchFamily="2" charset="2"/>
              <a:buChar char="p"/>
            </a:pPr>
            <a:r>
              <a:rPr lang="zh-CN" altLang="en-US" sz="2000" b="1" dirty="0">
                <a:latin typeface="Arial" panose="020B0604020202020204" pitchFamily="34" charset="0"/>
              </a:rPr>
              <a:t>主片</a:t>
            </a:r>
            <a:r>
              <a:rPr lang="en-US" altLang="zh-CN" sz="2000" b="1" dirty="0">
                <a:latin typeface="Arial" panose="020B0604020202020204" pitchFamily="34" charset="0"/>
              </a:rPr>
              <a:t>IR</a:t>
            </a:r>
            <a:r>
              <a:rPr lang="en-US" altLang="zh-CN" sz="2000" b="1" baseline="-25000" dirty="0">
                <a:latin typeface="Arial" panose="020B0604020202020204" pitchFamily="34" charset="0"/>
              </a:rPr>
              <a:t>0</a:t>
            </a:r>
            <a:r>
              <a:rPr lang="zh-CN" altLang="en-US" sz="2000" b="1" dirty="0">
                <a:latin typeface="Arial" panose="020B0604020202020204" pitchFamily="34" charset="0"/>
              </a:rPr>
              <a:t>、主片</a:t>
            </a:r>
            <a:r>
              <a:rPr lang="en-US" altLang="zh-CN" sz="2000" b="1" dirty="0">
                <a:latin typeface="Arial" panose="020B0604020202020204" pitchFamily="34" charset="0"/>
              </a:rPr>
              <a:t>IR</a:t>
            </a:r>
            <a:r>
              <a:rPr lang="en-US" altLang="zh-CN" sz="2000" b="1" baseline="-25000" dirty="0">
                <a:latin typeface="Arial" panose="020B0604020202020204" pitchFamily="34" charset="0"/>
              </a:rPr>
              <a:t>1</a:t>
            </a:r>
            <a:r>
              <a:rPr lang="zh-CN" altLang="en-US" sz="2000" b="1" dirty="0">
                <a:latin typeface="Arial" panose="020B0604020202020204" pitchFamily="34" charset="0"/>
              </a:rPr>
              <a:t>、主片</a:t>
            </a:r>
            <a:r>
              <a:rPr lang="en-US" altLang="zh-CN" sz="2000" b="1" dirty="0">
                <a:latin typeface="Arial" panose="020B0604020202020204" pitchFamily="34" charset="0"/>
              </a:rPr>
              <a:t>IR</a:t>
            </a:r>
            <a:r>
              <a:rPr lang="en-US" altLang="zh-CN" sz="2000" b="1" baseline="-25000" dirty="0">
                <a:latin typeface="Arial" panose="020B0604020202020204" pitchFamily="34" charset="0"/>
              </a:rPr>
              <a:t>2</a:t>
            </a:r>
            <a:r>
              <a:rPr lang="zh-CN" altLang="en-US" sz="2000" b="1" dirty="0">
                <a:latin typeface="Arial" panose="020B0604020202020204" pitchFamily="34" charset="0"/>
              </a:rPr>
              <a:t>、主片</a:t>
            </a:r>
            <a:r>
              <a:rPr lang="en-US" altLang="zh-CN" sz="2000" b="1" dirty="0">
                <a:latin typeface="Arial" panose="020B0604020202020204" pitchFamily="34" charset="0"/>
              </a:rPr>
              <a:t>IR</a:t>
            </a:r>
            <a:r>
              <a:rPr lang="en-US" altLang="zh-CN" sz="2000" b="1" baseline="-25000" dirty="0">
                <a:latin typeface="Arial" panose="020B0604020202020204" pitchFamily="34" charset="0"/>
              </a:rPr>
              <a:t>3</a:t>
            </a:r>
            <a:r>
              <a:rPr lang="zh-CN" altLang="en-US" sz="2000" b="1" dirty="0">
                <a:latin typeface="Arial" panose="020B0604020202020204" pitchFamily="34" charset="0"/>
              </a:rPr>
              <a:t>、主片</a:t>
            </a:r>
            <a:r>
              <a:rPr lang="en-US" altLang="zh-CN" sz="2000" b="1" dirty="0">
                <a:latin typeface="Arial" panose="020B0604020202020204" pitchFamily="34" charset="0"/>
              </a:rPr>
              <a:t>IR</a:t>
            </a:r>
            <a:r>
              <a:rPr lang="en-US" altLang="zh-CN" sz="2000" b="1" baseline="-25000" dirty="0">
                <a:latin typeface="Arial" panose="020B0604020202020204" pitchFamily="34" charset="0"/>
              </a:rPr>
              <a:t>4</a:t>
            </a:r>
          </a:p>
          <a:p>
            <a:pPr marL="342900" indent="-342900">
              <a:buClr>
                <a:srgbClr val="0000FF"/>
              </a:buClr>
              <a:buFont typeface="Wingdings" panose="05000000000000000000" pitchFamily="2" charset="2"/>
              <a:buChar char="p"/>
            </a:pPr>
            <a:r>
              <a:rPr lang="zh-CN" altLang="en-US" sz="2000" b="1" dirty="0">
                <a:latin typeface="Arial" panose="020B0604020202020204" pitchFamily="34" charset="0"/>
              </a:rPr>
              <a:t>从片</a:t>
            </a:r>
            <a:r>
              <a:rPr lang="en-US" altLang="zh-CN" sz="2000" b="1" dirty="0">
                <a:latin typeface="Arial" panose="020B0604020202020204" pitchFamily="34" charset="0"/>
              </a:rPr>
              <a:t>B</a:t>
            </a:r>
            <a:r>
              <a:rPr lang="zh-CN" altLang="en-US" sz="2000" b="1" dirty="0">
                <a:latin typeface="Arial" panose="020B0604020202020204" pitchFamily="34" charset="0"/>
              </a:rPr>
              <a:t>的</a:t>
            </a:r>
            <a:r>
              <a:rPr lang="en-US" altLang="zh-CN" sz="2000" b="1" dirty="0">
                <a:latin typeface="Arial" panose="020B0604020202020204" pitchFamily="34" charset="0"/>
              </a:rPr>
              <a:t>IR</a:t>
            </a:r>
            <a:r>
              <a:rPr lang="en-US" altLang="zh-CN" sz="2000" b="1" baseline="-25000" dirty="0">
                <a:latin typeface="Arial" panose="020B0604020202020204" pitchFamily="34" charset="0"/>
              </a:rPr>
              <a:t>0</a:t>
            </a:r>
            <a:r>
              <a:rPr lang="zh-CN" altLang="en-US" sz="2000" b="1" dirty="0">
                <a:latin typeface="Arial" panose="020B0604020202020204" pitchFamily="34" charset="0"/>
              </a:rPr>
              <a:t>至 </a:t>
            </a:r>
            <a:r>
              <a:rPr lang="en-US" altLang="zh-CN" sz="2000" b="1" dirty="0">
                <a:latin typeface="Arial" panose="020B0604020202020204" pitchFamily="34" charset="0"/>
              </a:rPr>
              <a:t>IR</a:t>
            </a:r>
            <a:r>
              <a:rPr lang="en-US" altLang="zh-CN" sz="2000" b="1" baseline="-25000" dirty="0">
                <a:latin typeface="Arial" panose="020B0604020202020204" pitchFamily="34" charset="0"/>
              </a:rPr>
              <a:t>7</a:t>
            </a:r>
          </a:p>
          <a:p>
            <a:pPr marL="342900" indent="-342900">
              <a:buClr>
                <a:srgbClr val="0000FF"/>
              </a:buClr>
              <a:buFont typeface="Wingdings" panose="05000000000000000000" pitchFamily="2" charset="2"/>
              <a:buChar char="p"/>
            </a:pPr>
            <a:r>
              <a:rPr lang="zh-CN" altLang="en-US" sz="2000" b="1" dirty="0">
                <a:latin typeface="Arial" panose="020B0604020202020204" pitchFamily="34" charset="0"/>
              </a:rPr>
              <a:t>从片</a:t>
            </a:r>
            <a:r>
              <a:rPr lang="en-US" altLang="zh-CN" sz="2000" b="1" dirty="0">
                <a:latin typeface="Arial" panose="020B0604020202020204" pitchFamily="34" charset="0"/>
              </a:rPr>
              <a:t>A</a:t>
            </a:r>
            <a:r>
              <a:rPr lang="zh-CN" altLang="en-US" sz="2000" b="1" dirty="0">
                <a:latin typeface="Arial" panose="020B0604020202020204" pitchFamily="34" charset="0"/>
              </a:rPr>
              <a:t>的</a:t>
            </a:r>
            <a:r>
              <a:rPr lang="en-US" altLang="zh-CN" sz="2000" b="1" dirty="0">
                <a:latin typeface="Arial" panose="020B0604020202020204" pitchFamily="34" charset="0"/>
              </a:rPr>
              <a:t>IR</a:t>
            </a:r>
            <a:r>
              <a:rPr lang="en-US" altLang="zh-CN" sz="2000" b="1" baseline="-25000" dirty="0">
                <a:latin typeface="Arial" panose="020B0604020202020204" pitchFamily="34" charset="0"/>
              </a:rPr>
              <a:t>0</a:t>
            </a:r>
            <a:r>
              <a:rPr lang="zh-CN" altLang="en-US" sz="2000" b="1" dirty="0">
                <a:latin typeface="Arial" panose="020B0604020202020204" pitchFamily="34" charset="0"/>
              </a:rPr>
              <a:t>至 </a:t>
            </a:r>
            <a:r>
              <a:rPr lang="en-US" altLang="zh-CN" sz="2000" b="1" dirty="0">
                <a:latin typeface="Arial" panose="020B0604020202020204" pitchFamily="34" charset="0"/>
              </a:rPr>
              <a:t>IR</a:t>
            </a:r>
            <a:r>
              <a:rPr lang="en-US" altLang="zh-CN" sz="2000" b="1" baseline="-25000" dirty="0">
                <a:latin typeface="Arial" panose="020B0604020202020204" pitchFamily="34" charset="0"/>
              </a:rPr>
              <a:t>7</a:t>
            </a:r>
          </a:p>
          <a:p>
            <a:pPr marL="342900" indent="-342900">
              <a:buClr>
                <a:srgbClr val="0000FF"/>
              </a:buClr>
              <a:buFont typeface="Wingdings" panose="05000000000000000000" pitchFamily="2" charset="2"/>
              <a:buChar char="p"/>
            </a:pPr>
            <a:r>
              <a:rPr lang="zh-CN" altLang="en-US" sz="2000" b="1" dirty="0">
                <a:latin typeface="Arial" panose="020B0604020202020204" pitchFamily="34" charset="0"/>
              </a:rPr>
              <a:t>主片 </a:t>
            </a:r>
            <a:r>
              <a:rPr lang="en-US" altLang="zh-CN" sz="2000" b="1" dirty="0">
                <a:latin typeface="Arial" panose="020B0604020202020204" pitchFamily="34" charset="0"/>
              </a:rPr>
              <a:t>IR</a:t>
            </a:r>
            <a:r>
              <a:rPr lang="en-US" altLang="zh-CN" sz="2000" b="1" baseline="-25000" dirty="0">
                <a:latin typeface="Arial" panose="020B0604020202020204" pitchFamily="34" charset="0"/>
              </a:rPr>
              <a:t>7</a:t>
            </a:r>
            <a:r>
              <a:rPr lang="zh-CN" altLang="en-US" sz="2000" b="1" dirty="0">
                <a:latin typeface="Arial" panose="020B0604020202020204" pitchFamily="34" charset="0"/>
              </a:rPr>
              <a:t>。</a:t>
            </a:r>
            <a:endParaRPr lang="zh-CN" alt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标题 320513"/>
          <p:cNvSpPr>
            <a:spLocks noGrp="1"/>
          </p:cNvSpPr>
          <p:nvPr>
            <p:ph type="title"/>
          </p:nvPr>
        </p:nvSpPr>
        <p:spPr>
          <a:xfrm>
            <a:off x="1619672" y="260648"/>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20515" name="文本框 320514"/>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20516" name="文本框 320515"/>
          <p:cNvSpPr txBox="1"/>
          <p:nvPr/>
        </p:nvSpPr>
        <p:spPr>
          <a:xfrm>
            <a:off x="250825" y="836712"/>
            <a:ext cx="8642350" cy="1200329"/>
          </a:xfrm>
          <a:prstGeom prst="rect">
            <a:avLst/>
          </a:prstGeom>
          <a:noFill/>
          <a:ln w="9525">
            <a:noFill/>
          </a:ln>
        </p:spPr>
        <p:txBody>
          <a:bodyPr>
            <a:spAutoFit/>
          </a:bodyPr>
          <a:lstStyle/>
          <a:p>
            <a:pPr lvl="0" eaLnBrk="0" hangingPunct="0"/>
            <a:r>
              <a:rPr lang="zh-CN" altLang="en-US" sz="2400" b="1" dirty="0">
                <a:solidFill>
                  <a:srgbClr val="FF00FF"/>
                </a:solidFill>
                <a:latin typeface="Arial" panose="020B0604020202020204" pitchFamily="34" charset="0"/>
              </a:rPr>
              <a:t>（</a:t>
            </a:r>
            <a:r>
              <a:rPr lang="en-US" altLang="zh-CN" sz="2400" b="1" dirty="0">
                <a:solidFill>
                  <a:srgbClr val="FF00FF"/>
                </a:solidFill>
                <a:latin typeface="Arial" panose="020B0604020202020204" pitchFamily="34" charset="0"/>
              </a:rPr>
              <a:t>4</a:t>
            </a:r>
            <a:r>
              <a:rPr lang="zh-CN" altLang="en-US" sz="2400" b="1" dirty="0">
                <a:solidFill>
                  <a:srgbClr val="FF00FF"/>
                </a:solidFill>
                <a:latin typeface="Arial" panose="020B0604020202020204" pitchFamily="34" charset="0"/>
              </a:rPr>
              <a:t>）特殊循环方式</a:t>
            </a:r>
          </a:p>
          <a:p>
            <a:pPr lvl="0" eaLnBrk="0" hangingPunct="0"/>
            <a:r>
              <a:rPr lang="zh-CN" altLang="en-US" sz="2400" b="1" dirty="0">
                <a:latin typeface="Arial" panose="020B0604020202020204" pitchFamily="34" charset="0"/>
              </a:rPr>
              <a:t>    通过编程指定初始最低优先级中断源，初始优先级顺序按循环方式重新排列。</a:t>
            </a:r>
          </a:p>
        </p:txBody>
      </p:sp>
      <p:sp>
        <p:nvSpPr>
          <p:cNvPr id="5" name="文本框 4">
            <a:extLst>
              <a:ext uri="{FF2B5EF4-FFF2-40B4-BE49-F238E27FC236}">
                <a16:creationId xmlns:a16="http://schemas.microsoft.com/office/drawing/2014/main" id="{36F13241-05AF-42C4-918F-3143D83DFC78}"/>
              </a:ext>
            </a:extLst>
          </p:cNvPr>
          <p:cNvSpPr txBox="1"/>
          <p:nvPr/>
        </p:nvSpPr>
        <p:spPr>
          <a:xfrm>
            <a:off x="754907" y="2388394"/>
            <a:ext cx="7560840" cy="2677656"/>
          </a:xfrm>
          <a:prstGeom prst="rect">
            <a:avLst/>
          </a:prstGeom>
          <a:solidFill>
            <a:schemeClr val="accent6">
              <a:lumMod val="20000"/>
              <a:lumOff val="80000"/>
            </a:schemeClr>
          </a:solidFill>
        </p:spPr>
        <p:txBody>
          <a:bodyPr wrap="square">
            <a:spAutoFit/>
          </a:bodyPr>
          <a:lstStyle/>
          <a:p>
            <a:r>
              <a:rPr lang="zh-CN" altLang="en-US" sz="2400" b="1" dirty="0">
                <a:solidFill>
                  <a:srgbClr val="FF0000"/>
                </a:solidFill>
                <a:latin typeface="Arial" panose="020B0604020202020204" pitchFamily="34" charset="0"/>
              </a:rPr>
              <a:t>注意：</a:t>
            </a:r>
            <a:endParaRPr lang="en-US" altLang="zh-CN" sz="2400" b="1" dirty="0">
              <a:solidFill>
                <a:srgbClr val="FF0000"/>
              </a:solidFill>
              <a:latin typeface="Arial" panose="020B0604020202020204" pitchFamily="34" charset="0"/>
            </a:endParaRPr>
          </a:p>
          <a:p>
            <a:r>
              <a:rPr lang="en-US" altLang="zh-CN" sz="2400" b="1" dirty="0">
                <a:solidFill>
                  <a:srgbClr val="FF0000"/>
                </a:solidFill>
                <a:latin typeface="Arial" panose="020B0604020202020204" pitchFamily="34" charset="0"/>
              </a:rPr>
              <a:t>      </a:t>
            </a:r>
            <a:r>
              <a:rPr lang="zh-CN" altLang="en-US" sz="2400" b="1" dirty="0">
                <a:latin typeface="Arial" panose="020B0604020202020204" pitchFamily="34" charset="0"/>
              </a:rPr>
              <a:t>以上 </a:t>
            </a:r>
            <a:r>
              <a:rPr lang="en-US" altLang="zh-CN" sz="2400" b="1" dirty="0">
                <a:latin typeface="Arial" panose="020B0604020202020204" pitchFamily="34" charset="0"/>
              </a:rPr>
              <a:t>8259A </a:t>
            </a:r>
            <a:r>
              <a:rPr lang="zh-CN" altLang="en-US" sz="2400" b="1" dirty="0">
                <a:latin typeface="Arial" panose="020B0604020202020204" pitchFamily="34" charset="0"/>
              </a:rPr>
              <a:t>的四种优先级设置方式可以分成</a:t>
            </a:r>
            <a:r>
              <a:rPr lang="zh-CN" altLang="en-US" sz="2400" b="1" dirty="0">
                <a:solidFill>
                  <a:srgbClr val="FF00FF"/>
                </a:solidFill>
                <a:latin typeface="Arial" panose="020B0604020202020204" pitchFamily="34" charset="0"/>
              </a:rPr>
              <a:t>两类</a:t>
            </a:r>
            <a:r>
              <a:rPr lang="zh-CN" altLang="en-US" sz="2400" b="1" dirty="0">
                <a:latin typeface="Arial" panose="020B0604020202020204" pitchFamily="34" charset="0"/>
              </a:rPr>
              <a:t>。</a:t>
            </a:r>
            <a:r>
              <a:rPr lang="zh-CN" altLang="en-US" sz="2400" b="1" dirty="0">
                <a:solidFill>
                  <a:srgbClr val="FF00FF"/>
                </a:solidFill>
                <a:latin typeface="Arial" panose="020B0604020202020204" pitchFamily="34" charset="0"/>
              </a:rPr>
              <a:t>固定优先级：</a:t>
            </a:r>
            <a:r>
              <a:rPr lang="zh-CN" altLang="en-US" sz="2400" b="1" dirty="0">
                <a:latin typeface="Arial" panose="020B0604020202020204" pitchFamily="34" charset="0"/>
              </a:rPr>
              <a:t>包括完全嵌套方式和特殊完全嵌套方式，在对 </a:t>
            </a:r>
            <a:r>
              <a:rPr lang="en-US" altLang="zh-CN" sz="2400" b="1" dirty="0">
                <a:latin typeface="Arial" panose="020B0604020202020204" pitchFamily="34" charset="0"/>
              </a:rPr>
              <a:t>8259A </a:t>
            </a:r>
            <a:r>
              <a:rPr lang="zh-CN" altLang="en-US" sz="2400" b="1" dirty="0">
                <a:latin typeface="Arial" panose="020B0604020202020204" pitchFamily="34" charset="0"/>
              </a:rPr>
              <a:t>初始化编程时通过初始化命令字 </a:t>
            </a:r>
            <a:r>
              <a:rPr lang="en-US" altLang="zh-CN" sz="2400" b="1" dirty="0">
                <a:latin typeface="Arial" panose="020B0604020202020204" pitchFamily="34" charset="0"/>
              </a:rPr>
              <a:t>ICW</a:t>
            </a:r>
            <a:r>
              <a:rPr lang="en-US" altLang="zh-CN" sz="2400" b="1" baseline="-25000" dirty="0">
                <a:latin typeface="Arial" panose="020B0604020202020204" pitchFamily="34" charset="0"/>
              </a:rPr>
              <a:t>4</a:t>
            </a:r>
            <a:r>
              <a:rPr lang="zh-CN" altLang="en-US" sz="2400" b="1" dirty="0">
                <a:latin typeface="Arial" panose="020B0604020202020204" pitchFamily="34" charset="0"/>
              </a:rPr>
              <a:t>进行设置； </a:t>
            </a:r>
            <a:endParaRPr lang="en-US" altLang="zh-CN" sz="2400" b="1" dirty="0">
              <a:latin typeface="Arial" panose="020B0604020202020204" pitchFamily="34" charset="0"/>
            </a:endParaRPr>
          </a:p>
          <a:p>
            <a:r>
              <a:rPr lang="zh-CN" altLang="en-US" sz="2400" b="1" dirty="0">
                <a:solidFill>
                  <a:srgbClr val="FF00FF"/>
                </a:solidFill>
                <a:latin typeface="Arial" panose="020B0604020202020204" pitchFamily="34" charset="0"/>
              </a:rPr>
              <a:t>循环优先级：</a:t>
            </a:r>
            <a:r>
              <a:rPr lang="zh-CN" altLang="en-US" sz="2400" b="1" dirty="0">
                <a:latin typeface="Arial" panose="020B0604020202020204" pitchFamily="34" charset="0"/>
              </a:rPr>
              <a:t>包括自动循环方式和特殊循环方式，可依据实际需要通过 </a:t>
            </a:r>
            <a:r>
              <a:rPr lang="en-US" altLang="zh-CN" sz="2400" b="1" dirty="0">
                <a:latin typeface="Arial" panose="020B0604020202020204" pitchFamily="34" charset="0"/>
              </a:rPr>
              <a:t>8259A </a:t>
            </a:r>
            <a:r>
              <a:rPr lang="zh-CN" altLang="en-US" sz="2400" b="1" dirty="0">
                <a:latin typeface="Arial" panose="020B0604020202020204" pitchFamily="34" charset="0"/>
              </a:rPr>
              <a:t>的操作命令字 </a:t>
            </a:r>
            <a:r>
              <a:rPr lang="en-US" altLang="zh-CN" sz="2400" b="1" dirty="0">
                <a:latin typeface="Arial" panose="020B0604020202020204" pitchFamily="34" charset="0"/>
              </a:rPr>
              <a:t>OCW</a:t>
            </a:r>
            <a:r>
              <a:rPr lang="en-US" altLang="zh-CN" sz="2400" b="1" baseline="-25000" dirty="0">
                <a:latin typeface="Arial" panose="020B0604020202020204" pitchFamily="34" charset="0"/>
              </a:rPr>
              <a:t>2</a:t>
            </a:r>
            <a:r>
              <a:rPr lang="en-US" altLang="zh-CN" sz="2400" b="1" dirty="0">
                <a:latin typeface="Arial" panose="020B0604020202020204" pitchFamily="34" charset="0"/>
              </a:rPr>
              <a:t> </a:t>
            </a:r>
            <a:r>
              <a:rPr lang="zh-CN" altLang="en-US" sz="2400" b="1" dirty="0">
                <a:latin typeface="Arial" panose="020B0604020202020204" pitchFamily="34" charset="0"/>
              </a:rPr>
              <a:t>进行切换。</a:t>
            </a:r>
          </a:p>
        </p:txBody>
      </p:sp>
    </p:spTree>
    <p:extLst>
      <p:ext uri="{BB962C8B-B14F-4D97-AF65-F5344CB8AC3E}">
        <p14:creationId xmlns:p14="http://schemas.microsoft.com/office/powerpoint/2010/main" val="19343389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标题 322561"/>
          <p:cNvSpPr>
            <a:spLocks noGrp="1"/>
          </p:cNvSpPr>
          <p:nvPr>
            <p:ph type="title"/>
          </p:nvPr>
        </p:nvSpPr>
        <p:spPr>
          <a:xfrm>
            <a:off x="1835696" y="223838"/>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22563" name="文本框 322562"/>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22564" name="文本框 322563"/>
          <p:cNvSpPr txBox="1"/>
          <p:nvPr/>
        </p:nvSpPr>
        <p:spPr>
          <a:xfrm>
            <a:off x="250824" y="908050"/>
            <a:ext cx="8713663" cy="4524315"/>
          </a:xfrm>
          <a:prstGeom prst="rect">
            <a:avLst/>
          </a:prstGeom>
          <a:noFill/>
          <a:ln w="9525">
            <a:noFill/>
          </a:ln>
        </p:spPr>
        <p:txBody>
          <a:bodyPr wrap="square">
            <a:spAutoFit/>
          </a:bodyPr>
          <a:lstStyle/>
          <a:p>
            <a:pPr lvl="0" eaLnBrk="0" hangingPunct="0"/>
            <a:r>
              <a:rPr lang="en-US" altLang="zh-CN" sz="2400" b="1" dirty="0">
                <a:solidFill>
                  <a:srgbClr val="0000FF"/>
                </a:solidFill>
                <a:latin typeface="Arial" panose="020B0604020202020204" pitchFamily="34" charset="0"/>
              </a:rPr>
              <a:t>3</a:t>
            </a:r>
            <a:r>
              <a:rPr lang="zh-CN" altLang="en-US" sz="2400" b="1" dirty="0">
                <a:solidFill>
                  <a:srgbClr val="0000FF"/>
                </a:solidFill>
                <a:latin typeface="Arial" panose="020B0604020202020204" pitchFamily="34" charset="0"/>
              </a:rPr>
              <a:t>．中断屏蔽方式</a:t>
            </a:r>
          </a:p>
          <a:p>
            <a:pPr lvl="0" eaLnBrk="0" hangingPunct="0"/>
            <a:r>
              <a:rPr lang="zh-CN" altLang="en-US" sz="2400" b="1" dirty="0">
                <a:latin typeface="Arial" panose="020B0604020202020204" pitchFamily="34" charset="0"/>
              </a:rPr>
              <a:t>    对</a:t>
            </a:r>
            <a:r>
              <a:rPr lang="en-US" altLang="zh-CN" sz="2400" b="1" dirty="0">
                <a:latin typeface="Arial" panose="020B0604020202020204" pitchFamily="34" charset="0"/>
              </a:rPr>
              <a:t>8259A</a:t>
            </a:r>
            <a:r>
              <a:rPr lang="zh-CN" altLang="en-US" sz="2400" b="1" dirty="0">
                <a:solidFill>
                  <a:srgbClr val="FF0000"/>
                </a:solidFill>
                <a:latin typeface="Arial" panose="020B0604020202020204" pitchFamily="34" charset="0"/>
              </a:rPr>
              <a:t>外部中断源</a:t>
            </a:r>
            <a:r>
              <a:rPr lang="en-US" altLang="zh-CN" sz="2400" b="1" dirty="0">
                <a:solidFill>
                  <a:srgbClr val="FF0000"/>
                </a:solidFill>
                <a:latin typeface="Arial" panose="020B0604020202020204" pitchFamily="34" charset="0"/>
              </a:rPr>
              <a:t>IR</a:t>
            </a:r>
            <a:r>
              <a:rPr lang="en-US" altLang="zh-CN" sz="2400" b="1" baseline="-25000" dirty="0">
                <a:solidFill>
                  <a:srgbClr val="FF0000"/>
                </a:solidFill>
                <a:latin typeface="Arial" panose="020B0604020202020204" pitchFamily="34" charset="0"/>
              </a:rPr>
              <a:t>7</a:t>
            </a:r>
            <a:r>
              <a:rPr lang="zh-CN" altLang="en-US" sz="2400" b="1" dirty="0">
                <a:solidFill>
                  <a:srgbClr val="FF0000"/>
                </a:solidFill>
                <a:latin typeface="Arial" panose="020B0604020202020204" pitchFamily="34" charset="0"/>
              </a:rPr>
              <a:t>～</a:t>
            </a:r>
            <a:r>
              <a:rPr lang="en-US" altLang="zh-CN" sz="2400" b="1" dirty="0">
                <a:solidFill>
                  <a:srgbClr val="FF0000"/>
                </a:solidFill>
                <a:latin typeface="Arial" panose="020B0604020202020204" pitchFamily="34" charset="0"/>
              </a:rPr>
              <a:t>IR</a:t>
            </a:r>
            <a:r>
              <a:rPr lang="en-US" altLang="zh-CN" sz="2400" b="1" baseline="-25000" dirty="0">
                <a:solidFill>
                  <a:srgbClr val="FF0000"/>
                </a:solidFill>
                <a:latin typeface="Arial" panose="020B0604020202020204" pitchFamily="34" charset="0"/>
              </a:rPr>
              <a:t>0</a:t>
            </a:r>
            <a:r>
              <a:rPr lang="zh-CN" altLang="en-US" sz="2400" b="1" dirty="0">
                <a:latin typeface="Arial" panose="020B0604020202020204" pitchFamily="34" charset="0"/>
              </a:rPr>
              <a:t>实现屏蔽的一种中断管理方式。</a:t>
            </a:r>
            <a:endParaRPr lang="en-US" altLang="zh-CN" sz="2400" b="1" dirty="0">
              <a:latin typeface="Arial" panose="020B0604020202020204" pitchFamily="34" charset="0"/>
            </a:endParaRPr>
          </a:p>
          <a:p>
            <a:pPr lvl="0" eaLnBrk="0" hangingPunct="0"/>
            <a:endParaRPr lang="zh-CN" altLang="en-US" sz="2400" b="1" dirty="0">
              <a:latin typeface="Arial" panose="020B0604020202020204" pitchFamily="34" charset="0"/>
            </a:endParaRPr>
          </a:p>
          <a:p>
            <a:pPr lvl="0" eaLnBrk="0" hangingPunct="0"/>
            <a:r>
              <a:rPr lang="zh-CN" altLang="en-US" sz="2400" b="1" dirty="0">
                <a:solidFill>
                  <a:srgbClr val="FF00FF"/>
                </a:solidFill>
                <a:latin typeface="Arial" panose="020B0604020202020204" pitchFamily="34" charset="0"/>
              </a:rPr>
              <a:t>   （</a:t>
            </a:r>
            <a:r>
              <a:rPr lang="en-US" altLang="zh-CN" sz="2400" b="1" dirty="0">
                <a:solidFill>
                  <a:srgbClr val="FF00FF"/>
                </a:solidFill>
                <a:latin typeface="Arial" panose="020B0604020202020204" pitchFamily="34" charset="0"/>
              </a:rPr>
              <a:t>1</a:t>
            </a:r>
            <a:r>
              <a:rPr lang="zh-CN" altLang="en-US" sz="2400" b="1" dirty="0">
                <a:solidFill>
                  <a:srgbClr val="FF00FF"/>
                </a:solidFill>
                <a:latin typeface="Arial" panose="020B0604020202020204" pitchFamily="34" charset="0"/>
              </a:rPr>
              <a:t>）普通屏蔽方式</a:t>
            </a:r>
          </a:p>
          <a:p>
            <a:pPr lvl="0" eaLnBrk="0" hangingPunct="0"/>
            <a:r>
              <a:rPr lang="en-US" altLang="zh-CN" sz="2400" b="1" dirty="0">
                <a:latin typeface="Arial" panose="020B0604020202020204" pitchFamily="34" charset="0"/>
              </a:rPr>
              <a:t>     8259A</a:t>
            </a:r>
            <a:r>
              <a:rPr lang="zh-CN" altLang="en-US" sz="2400" b="1" dirty="0">
                <a:latin typeface="Arial" panose="020B0604020202020204" pitchFamily="34" charset="0"/>
              </a:rPr>
              <a:t>内部的中断屏蔽寄存器</a:t>
            </a:r>
            <a:r>
              <a:rPr lang="en-US" altLang="zh-CN" sz="2400" b="1" dirty="0">
                <a:latin typeface="Arial" panose="020B0604020202020204" pitchFamily="34" charset="0"/>
              </a:rPr>
              <a:t>IMR</a:t>
            </a:r>
            <a:r>
              <a:rPr lang="zh-CN" altLang="en-US" sz="2400" b="1" dirty="0">
                <a:latin typeface="Arial" panose="020B0604020202020204" pitchFamily="34" charset="0"/>
              </a:rPr>
              <a:t>，其每一位对应一个中断请求输入端</a:t>
            </a:r>
            <a:r>
              <a:rPr lang="en-US" altLang="zh-CN" sz="2400" b="1" dirty="0" err="1">
                <a:latin typeface="Arial" panose="020B0604020202020204" pitchFamily="34" charset="0"/>
              </a:rPr>
              <a:t>IR</a:t>
            </a:r>
            <a:r>
              <a:rPr lang="en-US" altLang="zh-CN" sz="2400" b="1" baseline="-25000" dirty="0" err="1">
                <a:latin typeface="Arial" panose="020B0604020202020204" pitchFamily="34" charset="0"/>
              </a:rPr>
              <a:t>i</a:t>
            </a:r>
            <a:r>
              <a:rPr lang="zh-CN" altLang="en-US" sz="2400" b="1" dirty="0">
                <a:latin typeface="Arial" panose="020B0604020202020204" pitchFamily="34" charset="0"/>
              </a:rPr>
              <a:t>。</a:t>
            </a:r>
            <a:endParaRPr lang="en-US" altLang="zh-CN" sz="2400" b="1" dirty="0">
              <a:latin typeface="Arial" panose="020B0604020202020204" pitchFamily="34" charset="0"/>
            </a:endParaRPr>
          </a:p>
          <a:p>
            <a:pPr lvl="0" eaLnBrk="0" hangingPunct="0"/>
            <a:endParaRPr lang="en-US" altLang="zh-CN" sz="2400" b="1" dirty="0">
              <a:latin typeface="Arial" panose="020B0604020202020204" pitchFamily="34" charset="0"/>
            </a:endParaRPr>
          </a:p>
          <a:p>
            <a:pPr marL="342900" lvl="0" indent="-342900" eaLnBrk="0" hangingPunct="0">
              <a:buClr>
                <a:srgbClr val="FF00FF"/>
              </a:buClr>
              <a:buFont typeface="Wingdings" panose="05000000000000000000" pitchFamily="2" charset="2"/>
              <a:buChar char="ü"/>
            </a:pPr>
            <a:r>
              <a:rPr lang="en-US" altLang="zh-CN" sz="2400" b="1" dirty="0">
                <a:latin typeface="Arial" panose="020B0604020202020204" pitchFamily="34" charset="0"/>
              </a:rPr>
              <a:t>IMR</a:t>
            </a:r>
            <a:r>
              <a:rPr lang="zh-CN" altLang="en-US" sz="2400" b="1" dirty="0">
                <a:latin typeface="Arial" panose="020B0604020202020204" pitchFamily="34" charset="0"/>
              </a:rPr>
              <a:t>的某位置</a:t>
            </a:r>
            <a:r>
              <a:rPr lang="en-US" altLang="zh-CN" sz="2400" b="1" dirty="0">
                <a:latin typeface="Arial" panose="020B0604020202020204" pitchFamily="34" charset="0"/>
              </a:rPr>
              <a:t>1</a:t>
            </a:r>
            <a:r>
              <a:rPr lang="zh-CN" altLang="en-US" sz="2400" b="1" dirty="0">
                <a:latin typeface="Arial" panose="020B0604020202020204" pitchFamily="34" charset="0"/>
              </a:rPr>
              <a:t>，对应的</a:t>
            </a:r>
            <a:r>
              <a:rPr lang="en-US" altLang="zh-CN" sz="2400" b="1" dirty="0">
                <a:latin typeface="Arial" panose="020B0604020202020204" pitchFamily="34" charset="0"/>
              </a:rPr>
              <a:t>IR</a:t>
            </a:r>
            <a:r>
              <a:rPr lang="zh-CN" altLang="en-US" sz="2400" b="1" dirty="0">
                <a:latin typeface="Arial" panose="020B0604020202020204" pitchFamily="34" charset="0"/>
              </a:rPr>
              <a:t>被屏蔽，不允许该</a:t>
            </a:r>
            <a:r>
              <a:rPr lang="en-US" altLang="zh-CN" sz="2400" b="1" dirty="0">
                <a:latin typeface="Arial" panose="020B0604020202020204" pitchFamily="34" charset="0"/>
              </a:rPr>
              <a:t>IR</a:t>
            </a:r>
            <a:r>
              <a:rPr lang="zh-CN" altLang="en-US" sz="2400" b="1" dirty="0">
                <a:latin typeface="Arial" panose="020B0604020202020204" pitchFamily="34" charset="0"/>
              </a:rPr>
              <a:t>中断传送给</a:t>
            </a:r>
            <a:r>
              <a:rPr lang="en-US" altLang="zh-CN" sz="2400" b="1" dirty="0">
                <a:latin typeface="Arial" panose="020B0604020202020204" pitchFamily="34" charset="0"/>
              </a:rPr>
              <a:t>CPU </a:t>
            </a:r>
          </a:p>
          <a:p>
            <a:pPr marL="342900" lvl="0" indent="-342900" eaLnBrk="0" hangingPunct="0">
              <a:buClr>
                <a:srgbClr val="FF00FF"/>
              </a:buClr>
              <a:buFont typeface="Wingdings" panose="05000000000000000000" pitchFamily="2" charset="2"/>
              <a:buChar char="ü"/>
            </a:pPr>
            <a:r>
              <a:rPr lang="zh-CN" altLang="en-US" sz="2400" b="1" dirty="0">
                <a:latin typeface="Arial" panose="020B0604020202020204" pitchFamily="34" charset="0"/>
              </a:rPr>
              <a:t>置</a:t>
            </a:r>
            <a:r>
              <a:rPr lang="en-US" altLang="zh-CN" sz="2400" b="1" dirty="0">
                <a:latin typeface="Arial" panose="020B0604020202020204" pitchFamily="34" charset="0"/>
              </a:rPr>
              <a:t>0</a:t>
            </a:r>
            <a:r>
              <a:rPr lang="zh-CN" altLang="en-US" sz="2400" b="1" dirty="0">
                <a:latin typeface="Arial" panose="020B0604020202020204" pitchFamily="34" charset="0"/>
              </a:rPr>
              <a:t>，允许该</a:t>
            </a:r>
            <a:r>
              <a:rPr lang="en-US" altLang="zh-CN" sz="2400" b="1" dirty="0">
                <a:latin typeface="Arial" panose="020B0604020202020204" pitchFamily="34" charset="0"/>
              </a:rPr>
              <a:t>IR</a:t>
            </a:r>
            <a:r>
              <a:rPr lang="zh-CN" altLang="en-US" sz="2400" b="1" dirty="0">
                <a:latin typeface="Arial" panose="020B0604020202020204" pitchFamily="34" charset="0"/>
              </a:rPr>
              <a:t>中断传送给</a:t>
            </a:r>
            <a:r>
              <a:rPr lang="en-US" altLang="zh-CN" sz="2400" b="1" dirty="0">
                <a:latin typeface="Arial" panose="020B0604020202020204" pitchFamily="34" charset="0"/>
              </a:rPr>
              <a:t>CPU</a:t>
            </a:r>
            <a:r>
              <a:rPr lang="zh-CN" altLang="en-US" sz="2400" b="1" dirty="0">
                <a:latin typeface="Arial" panose="020B0604020202020204" pitchFamily="34" charset="0"/>
              </a:rPr>
              <a:t>。</a:t>
            </a:r>
            <a:endParaRPr lang="en-US" altLang="zh-CN" sz="2400" b="1" dirty="0">
              <a:latin typeface="Arial" panose="020B0604020202020204" pitchFamily="34" charset="0"/>
            </a:endParaRPr>
          </a:p>
          <a:p>
            <a:pPr lvl="0" eaLnBrk="0" hangingPunct="0"/>
            <a:endParaRPr lang="en-US" altLang="zh-CN" sz="2400" b="1" dirty="0">
              <a:latin typeface="Arial" panose="020B0604020202020204" pitchFamily="34" charset="0"/>
            </a:endParaRPr>
          </a:p>
          <a:p>
            <a:pPr lvl="0" eaLnBrk="0" hangingPunct="0"/>
            <a:r>
              <a:rPr lang="zh-CN" altLang="en-US" sz="2400" b="1" dirty="0">
                <a:latin typeface="Arial" panose="020B0604020202020204" pitchFamily="34" charset="0"/>
              </a:rPr>
              <a:t>    通过编程可设置</a:t>
            </a:r>
            <a:r>
              <a:rPr lang="en-US" altLang="zh-CN" sz="2400" b="1" dirty="0">
                <a:latin typeface="Arial" panose="020B0604020202020204" pitchFamily="34" charset="0"/>
              </a:rPr>
              <a:t>IMR</a:t>
            </a:r>
            <a:r>
              <a:rPr lang="zh-CN" altLang="en-US" sz="2400" b="1" dirty="0">
                <a:latin typeface="Arial" panose="020B0604020202020204" pitchFamily="34" charset="0"/>
              </a:rPr>
              <a:t>中的某位为</a:t>
            </a:r>
            <a:r>
              <a:rPr lang="en-US" altLang="zh-CN" sz="2400" b="1" dirty="0">
                <a:latin typeface="Arial" panose="020B0604020202020204" pitchFamily="34" charset="0"/>
              </a:rPr>
              <a:t>1</a:t>
            </a:r>
            <a:r>
              <a:rPr lang="zh-CN" altLang="en-US" sz="2400" b="1" dirty="0">
                <a:latin typeface="Arial" panose="020B0604020202020204" pitchFamily="34" charset="0"/>
              </a:rPr>
              <a:t>或为</a:t>
            </a:r>
            <a:r>
              <a:rPr lang="en-US" altLang="zh-CN" sz="2400" b="1" dirty="0">
                <a:latin typeface="Arial" panose="020B0604020202020204" pitchFamily="34" charset="0"/>
              </a:rPr>
              <a:t>0</a:t>
            </a:r>
            <a:r>
              <a:rPr lang="zh-CN" altLang="en-US" sz="2400" b="1" dirty="0">
                <a:latin typeface="Arial" panose="020B0604020202020204" pitchFamily="34" charset="0"/>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标题 323585"/>
          <p:cNvSpPr>
            <a:spLocks noGrp="1"/>
          </p:cNvSpPr>
          <p:nvPr>
            <p:ph type="title"/>
          </p:nvPr>
        </p:nvSpPr>
        <p:spPr>
          <a:xfrm>
            <a:off x="1691680" y="223838"/>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23587" name="文本框 323586"/>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23588" name="文本框 323587"/>
          <p:cNvSpPr txBox="1"/>
          <p:nvPr/>
        </p:nvSpPr>
        <p:spPr>
          <a:xfrm>
            <a:off x="250825" y="908050"/>
            <a:ext cx="8642350" cy="3785652"/>
          </a:xfrm>
          <a:prstGeom prst="rect">
            <a:avLst/>
          </a:prstGeom>
          <a:noFill/>
          <a:ln w="9525">
            <a:noFill/>
          </a:ln>
        </p:spPr>
        <p:txBody>
          <a:bodyPr>
            <a:spAutoFit/>
          </a:bodyPr>
          <a:lstStyle/>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2）特殊屏蔽方式</a:t>
            </a:r>
          </a:p>
          <a:p>
            <a:pPr lvl="0" eaLnBrk="0" hangingPunct="0"/>
            <a:r>
              <a:rPr lang="en-US" altLang="zh-CN" sz="2400" b="1" dirty="0">
                <a:latin typeface="Arial" panose="020B0604020202020204" pitchFamily="34" charset="0"/>
                <a:ea typeface="宋体" panose="02010600030101010101" pitchFamily="2" charset="-122"/>
              </a:rPr>
              <a:t>       </a:t>
            </a:r>
            <a:r>
              <a:rPr lang="en-US" altLang="zh-CN" sz="2400" b="1" dirty="0" err="1">
                <a:latin typeface="Arial" panose="020B0604020202020204" pitchFamily="34" charset="0"/>
                <a:ea typeface="宋体" panose="02010600030101010101" pitchFamily="2" charset="-122"/>
              </a:rPr>
              <a:t>能开放比本身优先级别低的中断请求</a:t>
            </a:r>
            <a:r>
              <a:rPr lang="en-US" altLang="zh-CN" sz="2400" b="1" dirty="0">
                <a:latin typeface="Arial" panose="020B0604020202020204" pitchFamily="34" charset="0"/>
                <a:ea typeface="宋体" panose="02010600030101010101" pitchFamily="2" charset="-122"/>
              </a:rPr>
              <a:t>。</a:t>
            </a:r>
          </a:p>
          <a:p>
            <a:pPr lvl="0" eaLnBrk="0" hangingPunct="0"/>
            <a:r>
              <a:rPr lang="zh-CN" altLang="en-US" sz="2400" b="1" dirty="0">
                <a:latin typeface="Arial" panose="020B0604020202020204" pitchFamily="34" charset="0"/>
                <a:ea typeface="宋体" panose="02010600030101010101" pitchFamily="2" charset="-122"/>
              </a:rPr>
              <a:t>方法：</a:t>
            </a:r>
            <a:r>
              <a:rPr lang="en-US" altLang="zh-CN" sz="2400" b="1" dirty="0">
                <a:latin typeface="Arial" panose="020B0604020202020204" pitchFamily="34" charset="0"/>
                <a:ea typeface="宋体" panose="02010600030101010101" pitchFamily="2" charset="-122"/>
              </a:rPr>
              <a:t>对IMR的某位置1，同时也使ISR中的对应位清0。这样，虽然系统当前仍然在处理一个较高级别的中断，但由于8259A的屏蔽寄存器IMR对应于此中断的位已经被置1，且ISR中对应位被清0，因此外界看来好像CPU现在没有处理任何中断，从而实现了对低优先级中断请求的响应。</a:t>
            </a:r>
          </a:p>
          <a:p>
            <a:pPr lvl="0" eaLnBrk="0" hangingPunct="0"/>
            <a:endParaRPr lang="en-US" altLang="zh-CN" sz="2400" b="1" dirty="0">
              <a:latin typeface="Arial" panose="020B0604020202020204" pitchFamily="34" charset="0"/>
              <a:ea typeface="宋体" panose="02010600030101010101" pitchFamily="2" charset="-122"/>
            </a:endParaRPr>
          </a:p>
          <a:p>
            <a:pPr lvl="0" eaLnBrk="0" hangingPunct="0"/>
            <a:r>
              <a:rPr lang="en-US" altLang="zh-CN" sz="2400" b="1" dirty="0">
                <a:latin typeface="Arial" panose="020B0604020202020204" pitchFamily="34" charset="0"/>
                <a:ea typeface="宋体" panose="02010600030101010101" pitchFamily="2" charset="-122"/>
              </a:rPr>
              <a:t>       </a:t>
            </a:r>
            <a:r>
              <a:rPr lang="en-US" altLang="zh-CN" sz="2400" b="1" dirty="0" err="1">
                <a:latin typeface="Arial" panose="020B0604020202020204" pitchFamily="34" charset="0"/>
                <a:ea typeface="宋体" panose="02010600030101010101" pitchFamily="2" charset="-122"/>
              </a:rPr>
              <a:t>一种非正常的中断优先级排队关系，正常的应用系统中很少使用</a:t>
            </a:r>
            <a:r>
              <a:rPr lang="en-US" altLang="zh-CN" sz="2400" b="1" dirty="0">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标题 324609"/>
          <p:cNvSpPr>
            <a:spLocks noGrp="1"/>
          </p:cNvSpPr>
          <p:nvPr>
            <p:ph type="title"/>
          </p:nvPr>
        </p:nvSpPr>
        <p:spPr>
          <a:xfrm>
            <a:off x="1547664" y="188640"/>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24611" name="文本框 324610"/>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24612" name="文本框 324611"/>
          <p:cNvSpPr txBox="1"/>
          <p:nvPr/>
        </p:nvSpPr>
        <p:spPr>
          <a:xfrm>
            <a:off x="107504" y="1052736"/>
            <a:ext cx="8928992" cy="3046988"/>
          </a:xfrm>
          <a:prstGeom prst="rect">
            <a:avLst/>
          </a:prstGeom>
          <a:noFill/>
          <a:ln w="9525">
            <a:noFill/>
          </a:ln>
        </p:spPr>
        <p:txBody>
          <a:bodyPr wrap="square">
            <a:spAutoFit/>
          </a:bodyPr>
          <a:lstStyle/>
          <a:p>
            <a:pPr lvl="0" eaLnBrk="0" hangingPunct="0"/>
            <a:r>
              <a:rPr lang="en-US" altLang="zh-CN" sz="2400" b="1" dirty="0">
                <a:solidFill>
                  <a:srgbClr val="0000FF"/>
                </a:solidFill>
                <a:latin typeface="Arial" panose="020B0604020202020204" pitchFamily="34" charset="0"/>
                <a:ea typeface="宋体" panose="02010600030101010101" pitchFamily="2" charset="-122"/>
              </a:rPr>
              <a:t>4</a:t>
            </a:r>
            <a:r>
              <a:rPr lang="zh-CN" altLang="en-US" sz="2400" b="1" dirty="0">
                <a:solidFill>
                  <a:srgbClr val="0000FF"/>
                </a:solidFill>
                <a:latin typeface="Arial" panose="020B0604020202020204" pitchFamily="34" charset="0"/>
                <a:ea typeface="宋体" panose="02010600030101010101" pitchFamily="2" charset="-122"/>
              </a:rPr>
              <a:t>．中断结束方式</a:t>
            </a:r>
          </a:p>
          <a:p>
            <a:pPr lvl="0" eaLnBrk="0" hangingPunct="0"/>
            <a:r>
              <a:rPr lang="zh-CN" altLang="en-US" sz="2400" b="1" dirty="0">
                <a:latin typeface="Arial" panose="020B0604020202020204" pitchFamily="34" charset="0"/>
                <a:ea typeface="宋体" panose="02010600030101010101" pitchFamily="2" charset="-122"/>
              </a:rPr>
              <a:t>    对</a:t>
            </a:r>
            <a:r>
              <a:rPr lang="en-US" altLang="zh-CN" sz="2400" b="1" dirty="0">
                <a:latin typeface="Arial" panose="020B0604020202020204" pitchFamily="34" charset="0"/>
                <a:ea typeface="宋体" panose="02010600030101010101" pitchFamily="2" charset="-122"/>
              </a:rPr>
              <a:t>ISR</a:t>
            </a:r>
            <a:r>
              <a:rPr lang="zh-CN" altLang="en-US" sz="2400" b="1" dirty="0">
                <a:latin typeface="Arial" panose="020B0604020202020204" pitchFamily="34" charset="0"/>
                <a:ea typeface="宋体" panose="02010600030101010101" pitchFamily="2" charset="-122"/>
              </a:rPr>
              <a:t>中对应位的处理。当中断结束时，必须使</a:t>
            </a:r>
            <a:r>
              <a:rPr lang="en-US" altLang="zh-CN" sz="2400" b="1" dirty="0">
                <a:solidFill>
                  <a:srgbClr val="FF0000"/>
                </a:solidFill>
                <a:latin typeface="Arial" panose="020B0604020202020204" pitchFamily="34" charset="0"/>
                <a:ea typeface="宋体" panose="02010600030101010101" pitchFamily="2" charset="-122"/>
              </a:rPr>
              <a:t>ISR</a:t>
            </a:r>
            <a:r>
              <a:rPr lang="zh-CN" altLang="en-US" sz="2400" b="1" dirty="0">
                <a:solidFill>
                  <a:srgbClr val="FF0000"/>
                </a:solidFill>
                <a:latin typeface="Arial" panose="020B0604020202020204" pitchFamily="34" charset="0"/>
                <a:ea typeface="宋体" panose="02010600030101010101" pitchFamily="2" charset="-122"/>
              </a:rPr>
              <a:t>寄存器中对应位清</a:t>
            </a:r>
            <a:r>
              <a:rPr lang="en-US" altLang="zh-CN" sz="2400" b="1" dirty="0">
                <a:solidFill>
                  <a:srgbClr val="FF0000"/>
                </a:solidFill>
                <a:latin typeface="Arial" panose="020B0604020202020204" pitchFamily="34" charset="0"/>
                <a:ea typeface="宋体" panose="02010600030101010101" pitchFamily="2" charset="-122"/>
              </a:rPr>
              <a:t>0</a:t>
            </a:r>
            <a:r>
              <a:rPr lang="zh-CN" altLang="en-US" sz="2400" b="1" dirty="0">
                <a:latin typeface="Arial" panose="020B0604020202020204" pitchFamily="34" charset="0"/>
                <a:ea typeface="宋体" panose="02010600030101010101" pitchFamily="2" charset="-122"/>
              </a:rPr>
              <a:t>，否则，致使比它优先级低的中断请求无法得到响应。</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1</a:t>
            </a:r>
            <a:r>
              <a:rPr lang="zh-CN" altLang="en-US" sz="2400" b="1" dirty="0">
                <a:solidFill>
                  <a:srgbClr val="FF00FF"/>
                </a:solidFill>
                <a:latin typeface="Arial" panose="020B0604020202020204" pitchFamily="34" charset="0"/>
                <a:ea typeface="宋体" panose="02010600030101010101" pitchFamily="2" charset="-122"/>
              </a:rPr>
              <a:t>）自动结束方式（</a:t>
            </a:r>
            <a:r>
              <a:rPr lang="en-US" altLang="zh-CN" sz="2400" b="1" dirty="0">
                <a:solidFill>
                  <a:srgbClr val="FF00FF"/>
                </a:solidFill>
                <a:latin typeface="Arial" panose="020B0604020202020204" pitchFamily="34" charset="0"/>
                <a:ea typeface="宋体" panose="02010600030101010101" pitchFamily="2" charset="-122"/>
              </a:rPr>
              <a:t>AEOI</a:t>
            </a:r>
            <a:r>
              <a:rPr lang="zh-CN" altLang="en-US" sz="2400" b="1" dirty="0">
                <a:solidFill>
                  <a:srgbClr val="FF00FF"/>
                </a:solidFill>
                <a:latin typeface="Arial" panose="020B0604020202020204" pitchFamily="34" charset="0"/>
                <a:ea typeface="宋体" panose="02010600030101010101" pitchFamily="2" charset="-122"/>
              </a:rPr>
              <a:t>）</a:t>
            </a:r>
          </a:p>
          <a:p>
            <a:pPr lvl="0" eaLnBrk="0" hangingPunct="0"/>
            <a:r>
              <a:rPr lang="zh-CN" altLang="en-US" sz="2400" b="1" dirty="0">
                <a:latin typeface="Arial" panose="020B0604020202020204" pitchFamily="34" charset="0"/>
                <a:ea typeface="宋体" panose="02010600030101010101" pitchFamily="2" charset="-122"/>
              </a:rPr>
              <a:t>    自动结束方式：利用中断响应信号的第二个负脉冲的后沿，将</a:t>
            </a:r>
            <a:r>
              <a:rPr lang="en-US" altLang="zh-CN" sz="2400" b="1" dirty="0">
                <a:latin typeface="Arial" panose="020B0604020202020204" pitchFamily="34" charset="0"/>
                <a:ea typeface="宋体" panose="02010600030101010101" pitchFamily="2" charset="-122"/>
              </a:rPr>
              <a:t>ISR</a:t>
            </a:r>
            <a:r>
              <a:rPr lang="zh-CN" altLang="en-US" sz="2400" b="1" dirty="0">
                <a:latin typeface="Arial" panose="020B0604020202020204" pitchFamily="34" charset="0"/>
                <a:ea typeface="宋体" panose="02010600030101010101" pitchFamily="2" charset="-122"/>
              </a:rPr>
              <a:t>中的中断服务标志位清除。由硬件自动完成。是最简单的中断结束方式，通常只</a:t>
            </a:r>
            <a:r>
              <a:rPr lang="zh-CN" altLang="en-US" sz="2400" b="1" dirty="0">
                <a:solidFill>
                  <a:srgbClr val="FF0000"/>
                </a:solidFill>
                <a:latin typeface="Arial" panose="020B0604020202020204" pitchFamily="34" charset="0"/>
                <a:ea typeface="宋体" panose="02010600030101010101" pitchFamily="2" charset="-122"/>
              </a:rPr>
              <a:t>适用于只有一片</a:t>
            </a:r>
            <a:r>
              <a:rPr lang="en-US" altLang="zh-CN" sz="2400" b="1" dirty="0">
                <a:solidFill>
                  <a:srgbClr val="FF0000"/>
                </a:solidFill>
                <a:latin typeface="Arial" panose="020B0604020202020204" pitchFamily="34" charset="0"/>
                <a:ea typeface="宋体" panose="02010600030101010101" pitchFamily="2" charset="-122"/>
              </a:rPr>
              <a:t>8259A</a:t>
            </a:r>
            <a:r>
              <a:rPr lang="zh-CN" altLang="en-US" sz="2400" b="1" dirty="0">
                <a:latin typeface="Arial" panose="020B0604020202020204" pitchFamily="34" charset="0"/>
                <a:ea typeface="宋体" panose="02010600030101010101" pitchFamily="2" charset="-122"/>
              </a:rPr>
              <a:t>且没有中断嵌套的情况。</a:t>
            </a:r>
          </a:p>
        </p:txBody>
      </p:sp>
      <p:pic>
        <p:nvPicPr>
          <p:cNvPr id="6" name="图片 5">
            <a:extLst>
              <a:ext uri="{FF2B5EF4-FFF2-40B4-BE49-F238E27FC236}">
                <a16:creationId xmlns:a16="http://schemas.microsoft.com/office/drawing/2014/main" id="{3C8368A9-8E0D-4BFD-B9C2-AC09E2AE2685}"/>
              </a:ext>
            </a:extLst>
          </p:cNvPr>
          <p:cNvPicPr>
            <a:picLocks noChangeAspect="1"/>
          </p:cNvPicPr>
          <p:nvPr/>
        </p:nvPicPr>
        <p:blipFill>
          <a:blip r:embed="rId2"/>
          <a:stretch>
            <a:fillRect/>
          </a:stretch>
        </p:blipFill>
        <p:spPr>
          <a:xfrm>
            <a:off x="1835696" y="3707474"/>
            <a:ext cx="5761814" cy="2673854"/>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标题 325633"/>
          <p:cNvSpPr>
            <a:spLocks noGrp="1"/>
          </p:cNvSpPr>
          <p:nvPr>
            <p:ph type="title"/>
          </p:nvPr>
        </p:nvSpPr>
        <p:spPr>
          <a:xfrm>
            <a:off x="1475656" y="223838"/>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25635" name="文本框 325634"/>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25636" name="文本框 325635"/>
          <p:cNvSpPr txBox="1"/>
          <p:nvPr/>
        </p:nvSpPr>
        <p:spPr>
          <a:xfrm>
            <a:off x="250825" y="908050"/>
            <a:ext cx="8281987" cy="4524315"/>
          </a:xfrm>
          <a:prstGeom prst="rect">
            <a:avLst/>
          </a:prstGeom>
          <a:noFill/>
          <a:ln w="9525">
            <a:noFill/>
          </a:ln>
        </p:spPr>
        <p:txBody>
          <a:bodyPr wrap="square">
            <a:spAutoFit/>
          </a:bodyPr>
          <a:lstStyle/>
          <a:p>
            <a:pPr lvl="0" eaLnBrk="0" hangingPunct="0"/>
            <a:r>
              <a:rPr lang="en-US" altLang="zh-CN" sz="2400" b="1" dirty="0">
                <a:solidFill>
                  <a:srgbClr val="FF00FF"/>
                </a:solidFill>
                <a:latin typeface="Arial" panose="020B0604020202020204" pitchFamily="34" charset="0"/>
                <a:ea typeface="宋体" panose="02010600030101010101" pitchFamily="2" charset="-122"/>
              </a:rPr>
              <a:t>（2）</a:t>
            </a:r>
            <a:r>
              <a:rPr lang="zh-CN" altLang="en-US" sz="2400" dirty="0">
                <a:solidFill>
                  <a:srgbClr val="FF00FF"/>
                </a:solidFill>
              </a:rPr>
              <a:t>命令结束方式（</a:t>
            </a:r>
            <a:r>
              <a:rPr lang="en-US" altLang="zh-CN" sz="2400" dirty="0">
                <a:solidFill>
                  <a:srgbClr val="FF00FF"/>
                </a:solidFill>
              </a:rPr>
              <a:t>EOI</a:t>
            </a:r>
            <a:r>
              <a:rPr lang="zh-CN" altLang="en-US" sz="2400" dirty="0">
                <a:solidFill>
                  <a:srgbClr val="FF00FF"/>
                </a:solidFill>
              </a:rPr>
              <a:t>）</a:t>
            </a:r>
            <a:endParaRPr lang="en-US" altLang="zh-CN" sz="2400" dirty="0">
              <a:solidFill>
                <a:srgbClr val="FF00FF"/>
              </a:solidFill>
            </a:endParaRPr>
          </a:p>
          <a:p>
            <a:pPr lvl="0" eaLnBrk="0" hangingPunct="0"/>
            <a:r>
              <a:rPr lang="zh-CN" altLang="en-US" sz="2400" b="1" dirty="0">
                <a:latin typeface="Arial" panose="020B0604020202020204" pitchFamily="34" charset="0"/>
              </a:rPr>
              <a:t>         分成两类：</a:t>
            </a:r>
            <a:endParaRPr lang="en-US" altLang="zh-CN" sz="2400" b="1" dirty="0">
              <a:latin typeface="Arial" panose="020B0604020202020204" pitchFamily="34" charset="0"/>
            </a:endParaRPr>
          </a:p>
          <a:p>
            <a:pPr lvl="0" eaLnBrk="0" hangingPunct="0"/>
            <a:r>
              <a:rPr lang="en-US" altLang="zh-CN" sz="2400" b="1" dirty="0">
                <a:latin typeface="Arial" panose="020B0604020202020204" pitchFamily="34" charset="0"/>
              </a:rPr>
              <a:t>         </a:t>
            </a:r>
            <a:r>
              <a:rPr lang="en-US" altLang="zh-CN" sz="2400" b="1" dirty="0">
                <a:solidFill>
                  <a:srgbClr val="00B0F0"/>
                </a:solidFill>
                <a:latin typeface="Arial" panose="020B0604020202020204" pitchFamily="34" charset="0"/>
              </a:rPr>
              <a:t> 1</a:t>
            </a:r>
            <a:r>
              <a:rPr lang="zh-CN" altLang="en-US" sz="2400" b="1" dirty="0">
                <a:solidFill>
                  <a:srgbClr val="00B0F0"/>
                </a:solidFill>
                <a:latin typeface="Arial" panose="020B0604020202020204" pitchFamily="34" charset="0"/>
              </a:rPr>
              <a:t>）一般 </a:t>
            </a:r>
            <a:r>
              <a:rPr lang="en-US" altLang="zh-CN" sz="2400" b="1" dirty="0">
                <a:solidFill>
                  <a:srgbClr val="00B0F0"/>
                </a:solidFill>
                <a:latin typeface="Arial" panose="020B0604020202020204" pitchFamily="34" charset="0"/>
              </a:rPr>
              <a:t>EOI </a:t>
            </a:r>
            <a:r>
              <a:rPr lang="zh-CN" altLang="en-US" sz="2400" b="1" dirty="0">
                <a:solidFill>
                  <a:srgbClr val="00B0F0"/>
                </a:solidFill>
                <a:latin typeface="Arial" panose="020B0604020202020204" pitchFamily="34" charset="0"/>
              </a:rPr>
              <a:t>方式</a:t>
            </a:r>
            <a:endParaRPr lang="en-US" altLang="zh-CN" sz="2400" b="1" dirty="0">
              <a:solidFill>
                <a:srgbClr val="00B0F0"/>
              </a:solidFill>
              <a:latin typeface="Arial" panose="020B0604020202020204" pitchFamily="34" charset="0"/>
            </a:endParaRPr>
          </a:p>
          <a:p>
            <a:pPr lvl="0" eaLnBrk="0" hangingPunct="0"/>
            <a:r>
              <a:rPr lang="zh-CN" altLang="en-US" sz="2400" b="1" dirty="0">
                <a:latin typeface="Arial" panose="020B0604020202020204" pitchFamily="34" charset="0"/>
              </a:rPr>
              <a:t>       需要用户在中断服务程序结束之前，向 </a:t>
            </a:r>
            <a:r>
              <a:rPr lang="en-US" altLang="zh-CN" sz="2400" b="1" dirty="0">
                <a:latin typeface="Arial" panose="020B0604020202020204" pitchFamily="34" charset="0"/>
              </a:rPr>
              <a:t>8259A </a:t>
            </a:r>
            <a:r>
              <a:rPr lang="zh-CN" altLang="en-US" sz="2400" b="1" dirty="0">
                <a:latin typeface="Arial" panose="020B0604020202020204" pitchFamily="34" charset="0"/>
              </a:rPr>
              <a:t>发送一条一般 </a:t>
            </a:r>
            <a:r>
              <a:rPr lang="en-US" altLang="zh-CN" sz="2400" b="1" dirty="0">
                <a:latin typeface="Arial" panose="020B0604020202020204" pitchFamily="34" charset="0"/>
              </a:rPr>
              <a:t>EOI </a:t>
            </a:r>
            <a:r>
              <a:rPr lang="zh-CN" altLang="en-US" sz="2400" b="1" dirty="0">
                <a:latin typeface="Arial" panose="020B0604020202020204" pitchFamily="34" charset="0"/>
              </a:rPr>
              <a:t>命令，清除</a:t>
            </a:r>
            <a:r>
              <a:rPr lang="en-US" altLang="zh-CN" sz="2400" b="1" dirty="0">
                <a:latin typeface="Arial" panose="020B0604020202020204" pitchFamily="34" charset="0"/>
              </a:rPr>
              <a:t>ISR</a:t>
            </a:r>
            <a:r>
              <a:rPr lang="zh-CN" altLang="en-US" sz="2400" b="1" dirty="0">
                <a:latin typeface="Arial" panose="020B0604020202020204" pitchFamily="34" charset="0"/>
              </a:rPr>
              <a:t>中当前优先级别最高的标志位。通常，一般 </a:t>
            </a:r>
            <a:r>
              <a:rPr lang="en-US" altLang="zh-CN" sz="2400" b="1" dirty="0">
                <a:latin typeface="Arial" panose="020B0604020202020204" pitchFamily="34" charset="0"/>
              </a:rPr>
              <a:t>EOI </a:t>
            </a:r>
            <a:r>
              <a:rPr lang="zh-CN" altLang="en-US" sz="2400" b="1" dirty="0">
                <a:latin typeface="Arial" panose="020B0604020202020204" pitchFamily="34" charset="0"/>
              </a:rPr>
              <a:t>结束命令</a:t>
            </a:r>
            <a:r>
              <a:rPr lang="zh-CN" altLang="en-US" sz="2400" b="1" dirty="0">
                <a:solidFill>
                  <a:srgbClr val="FF0000"/>
                </a:solidFill>
                <a:latin typeface="Arial" panose="020B0604020202020204" pitchFamily="34" charset="0"/>
              </a:rPr>
              <a:t>用于优先级全嵌套方式中。</a:t>
            </a:r>
            <a:endParaRPr lang="en-US" altLang="zh-CN" sz="2400" b="1" dirty="0">
              <a:solidFill>
                <a:srgbClr val="FF0000"/>
              </a:solidFill>
              <a:latin typeface="Arial" panose="020B0604020202020204" pitchFamily="34" charset="0"/>
            </a:endParaRPr>
          </a:p>
          <a:p>
            <a:pPr lvl="0" eaLnBrk="0" hangingPunct="0"/>
            <a:r>
              <a:rPr lang="en-US" altLang="zh-CN" sz="2400" b="1" dirty="0">
                <a:solidFill>
                  <a:srgbClr val="00B0F0"/>
                </a:solidFill>
                <a:latin typeface="Arial" panose="020B0604020202020204" pitchFamily="34" charset="0"/>
              </a:rPr>
              <a:t>           2</a:t>
            </a:r>
            <a:r>
              <a:rPr lang="zh-CN" altLang="en-US" sz="2400" b="1" dirty="0">
                <a:solidFill>
                  <a:srgbClr val="00B0F0"/>
                </a:solidFill>
                <a:latin typeface="Arial" panose="020B0604020202020204" pitchFamily="34" charset="0"/>
              </a:rPr>
              <a:t>）特殊 </a:t>
            </a:r>
            <a:r>
              <a:rPr lang="en-US" altLang="zh-CN" sz="2400" b="1" dirty="0">
                <a:solidFill>
                  <a:srgbClr val="00B0F0"/>
                </a:solidFill>
                <a:latin typeface="Arial" panose="020B0604020202020204" pitchFamily="34" charset="0"/>
              </a:rPr>
              <a:t>EOI </a:t>
            </a:r>
            <a:r>
              <a:rPr lang="zh-CN" altLang="en-US" sz="2400" b="1" dirty="0">
                <a:solidFill>
                  <a:srgbClr val="00B0F0"/>
                </a:solidFill>
                <a:latin typeface="Arial" panose="020B0604020202020204" pitchFamily="34" charset="0"/>
              </a:rPr>
              <a:t>方式 </a:t>
            </a:r>
            <a:endParaRPr lang="en-US" altLang="zh-CN" sz="2400" b="1" dirty="0">
              <a:solidFill>
                <a:srgbClr val="00B0F0"/>
              </a:solidFill>
              <a:latin typeface="Arial" panose="020B0604020202020204" pitchFamily="34" charset="0"/>
            </a:endParaRPr>
          </a:p>
          <a:p>
            <a:pPr lvl="0" eaLnBrk="0" hangingPunct="0"/>
            <a:r>
              <a:rPr lang="en-US" altLang="zh-CN" sz="2400" b="1" dirty="0">
                <a:latin typeface="Arial" panose="020B0604020202020204" pitchFamily="34" charset="0"/>
              </a:rPr>
              <a:t>       </a:t>
            </a:r>
            <a:r>
              <a:rPr lang="zh-CN" altLang="en-US" sz="2400" b="1" dirty="0">
                <a:latin typeface="Arial" panose="020B0604020202020204" pitchFamily="34" charset="0"/>
              </a:rPr>
              <a:t>需要用户在中断服务程序结束之前，向 </a:t>
            </a:r>
            <a:r>
              <a:rPr lang="en-US" altLang="zh-CN" sz="2400" b="1" dirty="0">
                <a:latin typeface="Arial" panose="020B0604020202020204" pitchFamily="34" charset="0"/>
              </a:rPr>
              <a:t>8259A </a:t>
            </a:r>
            <a:r>
              <a:rPr lang="zh-CN" altLang="en-US" sz="2400" b="1" dirty="0">
                <a:latin typeface="Arial" panose="020B0604020202020204" pitchFamily="34" charset="0"/>
              </a:rPr>
              <a:t>发送一条特殊 </a:t>
            </a:r>
            <a:r>
              <a:rPr lang="en-US" altLang="zh-CN" sz="2400" b="1" dirty="0">
                <a:latin typeface="Arial" panose="020B0604020202020204" pitchFamily="34" charset="0"/>
              </a:rPr>
              <a:t>EOI </a:t>
            </a:r>
            <a:r>
              <a:rPr lang="zh-CN" altLang="en-US" sz="2400" b="1" dirty="0">
                <a:latin typeface="Arial" panose="020B0604020202020204" pitchFamily="34" charset="0"/>
              </a:rPr>
              <a:t>命令。由于在特殊 </a:t>
            </a:r>
            <a:r>
              <a:rPr lang="en-US" altLang="zh-CN" sz="2400" b="1" dirty="0">
                <a:latin typeface="Arial" panose="020B0604020202020204" pitchFamily="34" charset="0"/>
              </a:rPr>
              <a:t>EOI </a:t>
            </a:r>
            <a:r>
              <a:rPr lang="zh-CN" altLang="en-US" sz="2400" b="1" dirty="0">
                <a:latin typeface="Arial" panose="020B0604020202020204" pitchFamily="34" charset="0"/>
              </a:rPr>
              <a:t>命令中明确指出了清除 </a:t>
            </a:r>
            <a:r>
              <a:rPr lang="en-US" altLang="zh-CN" sz="2400" b="1" dirty="0">
                <a:latin typeface="Arial" panose="020B0604020202020204" pitchFamily="34" charset="0"/>
              </a:rPr>
              <a:t>ISR </a:t>
            </a:r>
            <a:r>
              <a:rPr lang="zh-CN" altLang="en-US" sz="2400" b="1" dirty="0">
                <a:latin typeface="Arial" panose="020B0604020202020204" pitchFamily="34" charset="0"/>
              </a:rPr>
              <a:t>中的哪一位，所以不会因嵌套结构而出现错误。这种方式仍然可以用于完全嵌套方式和特殊完全嵌套方式下的中断结束，但</a:t>
            </a:r>
            <a:r>
              <a:rPr lang="zh-CN" altLang="en-US" sz="2400" b="1" dirty="0">
                <a:solidFill>
                  <a:srgbClr val="FF0000"/>
                </a:solidFill>
                <a:latin typeface="Arial" panose="020B0604020202020204" pitchFamily="34" charset="0"/>
              </a:rPr>
              <a:t>更适用于嵌套结构有可能遭到破坏的中断结束。</a:t>
            </a:r>
            <a:endParaRPr lang="en-US" altLang="zh-CN" sz="2400" b="1" dirty="0">
              <a:solidFill>
                <a:srgbClr val="FF0000"/>
              </a:solidFill>
              <a:latin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4BECFED-D982-C620-9CFC-A412BE03C2FC}"/>
              </a:ext>
            </a:extLst>
          </p:cNvPr>
          <p:cNvSpPr txBox="1"/>
          <p:nvPr/>
        </p:nvSpPr>
        <p:spPr>
          <a:xfrm>
            <a:off x="1223962" y="1508152"/>
            <a:ext cx="7236470" cy="2677656"/>
          </a:xfrm>
          <a:prstGeom prst="rect">
            <a:avLst/>
          </a:prstGeom>
          <a:solidFill>
            <a:schemeClr val="accent2">
              <a:lumMod val="20000"/>
              <a:lumOff val="80000"/>
            </a:schemeClr>
          </a:solidFill>
        </p:spPr>
        <p:txBody>
          <a:bodyPr wrap="square">
            <a:spAutoFit/>
          </a:bodyPr>
          <a:lstStyle/>
          <a:p>
            <a:r>
              <a:rPr lang="zh-CN" altLang="en-US" sz="2400" b="1" dirty="0">
                <a:solidFill>
                  <a:srgbClr val="FF0000"/>
                </a:solidFill>
                <a:latin typeface="Arial" panose="020B0604020202020204" pitchFamily="34" charset="0"/>
              </a:rPr>
              <a:t>注意：</a:t>
            </a:r>
            <a:endParaRPr lang="en-US" altLang="zh-CN" sz="2400" b="1" dirty="0">
              <a:solidFill>
                <a:srgbClr val="FF0000"/>
              </a:solidFill>
              <a:latin typeface="Arial" panose="020B0604020202020204" pitchFamily="34" charset="0"/>
            </a:endParaRPr>
          </a:p>
          <a:p>
            <a:r>
              <a:rPr lang="zh-CN" altLang="en-US" sz="2400" b="1" dirty="0">
                <a:latin typeface="Arial" panose="020B0604020202020204" pitchFamily="34" charset="0"/>
              </a:rPr>
              <a:t>中断的结束方式实际上包括</a:t>
            </a:r>
            <a:r>
              <a:rPr lang="zh-CN" altLang="en-US" sz="2400" b="1" dirty="0">
                <a:solidFill>
                  <a:srgbClr val="FF0000"/>
                </a:solidFill>
                <a:latin typeface="Arial" panose="020B0604020202020204" pitchFamily="34" charset="0"/>
              </a:rPr>
              <a:t>硬件</a:t>
            </a:r>
            <a:r>
              <a:rPr lang="zh-CN" altLang="en-US" sz="2400" b="1" dirty="0">
                <a:latin typeface="Arial" panose="020B0604020202020204" pitchFamily="34" charset="0"/>
              </a:rPr>
              <a:t>和</a:t>
            </a:r>
            <a:r>
              <a:rPr lang="zh-CN" altLang="en-US" sz="2400" b="1" dirty="0">
                <a:solidFill>
                  <a:srgbClr val="FF0000"/>
                </a:solidFill>
                <a:latin typeface="Arial" panose="020B0604020202020204" pitchFamily="34" charset="0"/>
              </a:rPr>
              <a:t>软件</a:t>
            </a:r>
            <a:r>
              <a:rPr lang="zh-CN" altLang="en-US" sz="2400" b="1" dirty="0">
                <a:latin typeface="Arial" panose="020B0604020202020204" pitchFamily="34" charset="0"/>
              </a:rPr>
              <a:t>两种方式。</a:t>
            </a:r>
            <a:endParaRPr lang="en-US" altLang="zh-CN" sz="2400" b="1" dirty="0">
              <a:latin typeface="Arial" panose="020B0604020202020204" pitchFamily="34" charset="0"/>
            </a:endParaRPr>
          </a:p>
          <a:p>
            <a:endParaRPr lang="en-US" altLang="zh-CN" sz="2400" b="1" dirty="0">
              <a:latin typeface="Arial" panose="020B0604020202020204" pitchFamily="34" charset="0"/>
            </a:endParaRPr>
          </a:p>
          <a:p>
            <a:r>
              <a:rPr lang="zh-CN" altLang="en-US" sz="2400" b="1" dirty="0">
                <a:solidFill>
                  <a:srgbClr val="FF0000"/>
                </a:solidFill>
                <a:latin typeface="Arial" panose="020B0604020202020204" pitchFamily="34" charset="0"/>
              </a:rPr>
              <a:t>硬件方式：</a:t>
            </a:r>
            <a:r>
              <a:rPr lang="zh-CN" altLang="en-US" sz="2400" b="1" dirty="0">
                <a:latin typeface="Arial" panose="020B0604020202020204" pitchFamily="34" charset="0"/>
              </a:rPr>
              <a:t>由硬件完成，不需要发中断结束命令；</a:t>
            </a:r>
            <a:endParaRPr lang="en-US" altLang="zh-CN" sz="2400" b="1" dirty="0">
              <a:latin typeface="Arial" panose="020B0604020202020204" pitchFamily="34" charset="0"/>
            </a:endParaRPr>
          </a:p>
          <a:p>
            <a:r>
              <a:rPr lang="zh-CN" altLang="en-US" sz="2400" b="1" dirty="0">
                <a:solidFill>
                  <a:srgbClr val="FF0000"/>
                </a:solidFill>
                <a:latin typeface="Arial" panose="020B0604020202020204" pitchFamily="34" charset="0"/>
              </a:rPr>
              <a:t>软件方式：</a:t>
            </a:r>
            <a:r>
              <a:rPr lang="zh-CN" altLang="en-US" sz="2400" b="1" dirty="0">
                <a:latin typeface="Arial" panose="020B0604020202020204" pitchFamily="34" charset="0"/>
              </a:rPr>
              <a:t>需要发中断结束命令，该命令又有一般 </a:t>
            </a:r>
            <a:r>
              <a:rPr lang="en-US" altLang="zh-CN" sz="2400" b="1" dirty="0">
                <a:latin typeface="Arial" panose="020B0604020202020204" pitchFamily="34" charset="0"/>
              </a:rPr>
              <a:t>EOI </a:t>
            </a:r>
            <a:r>
              <a:rPr lang="zh-CN" altLang="en-US" sz="2400" b="1" dirty="0">
                <a:latin typeface="Arial" panose="020B0604020202020204" pitchFamily="34" charset="0"/>
              </a:rPr>
              <a:t>和特殊 </a:t>
            </a:r>
            <a:r>
              <a:rPr lang="en-US" altLang="zh-CN" sz="2400" b="1" dirty="0">
                <a:latin typeface="Arial" panose="020B0604020202020204" pitchFamily="34" charset="0"/>
              </a:rPr>
              <a:t>EOI </a:t>
            </a:r>
            <a:r>
              <a:rPr lang="zh-CN" altLang="en-US" sz="2400" b="1" dirty="0">
                <a:latin typeface="Arial" panose="020B0604020202020204" pitchFamily="34" charset="0"/>
              </a:rPr>
              <a:t>两种格式，是通过设置 </a:t>
            </a:r>
            <a:r>
              <a:rPr lang="en-US" altLang="zh-CN" sz="2400" b="1" dirty="0">
                <a:latin typeface="Arial" panose="020B0604020202020204" pitchFamily="34" charset="0"/>
              </a:rPr>
              <a:t>8259A </a:t>
            </a:r>
            <a:r>
              <a:rPr lang="zh-CN" altLang="en-US" sz="2400" b="1" dirty="0">
                <a:latin typeface="Arial" panose="020B0604020202020204" pitchFamily="34" charset="0"/>
              </a:rPr>
              <a:t>的操作命令字 </a:t>
            </a:r>
            <a:r>
              <a:rPr lang="en-US" altLang="zh-CN" sz="2400" b="1" dirty="0">
                <a:latin typeface="Arial" panose="020B0604020202020204" pitchFamily="34" charset="0"/>
              </a:rPr>
              <a:t>OCW</a:t>
            </a:r>
            <a:r>
              <a:rPr lang="en-US" altLang="zh-CN" sz="2400" b="1" baseline="-25000" dirty="0">
                <a:latin typeface="Arial" panose="020B0604020202020204" pitchFamily="34" charset="0"/>
              </a:rPr>
              <a:t>2</a:t>
            </a:r>
            <a:r>
              <a:rPr lang="zh-CN" altLang="en-US" sz="2400" b="1" dirty="0">
                <a:latin typeface="Arial" panose="020B0604020202020204" pitchFamily="34" charset="0"/>
              </a:rPr>
              <a:t>完成的。</a:t>
            </a:r>
          </a:p>
        </p:txBody>
      </p:sp>
      <p:sp>
        <p:nvSpPr>
          <p:cNvPr id="4" name="标题 325633">
            <a:extLst>
              <a:ext uri="{FF2B5EF4-FFF2-40B4-BE49-F238E27FC236}">
                <a16:creationId xmlns:a16="http://schemas.microsoft.com/office/drawing/2014/main" id="{53A19562-39F3-6CF8-FE8D-040A0BFEB0BF}"/>
              </a:ext>
            </a:extLst>
          </p:cNvPr>
          <p:cNvSpPr txBox="1">
            <a:spLocks/>
          </p:cNvSpPr>
          <p:nvPr/>
        </p:nvSpPr>
        <p:spPr>
          <a:xfrm>
            <a:off x="1619672" y="188640"/>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extLst>
      <p:ext uri="{BB962C8B-B14F-4D97-AF65-F5344CB8AC3E}">
        <p14:creationId xmlns:p14="http://schemas.microsoft.com/office/powerpoint/2010/main" val="20536413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标题 326657"/>
          <p:cNvSpPr>
            <a:spLocks noGrp="1"/>
          </p:cNvSpPr>
          <p:nvPr>
            <p:ph type="title"/>
          </p:nvPr>
        </p:nvSpPr>
        <p:spPr>
          <a:xfrm>
            <a:off x="1547664" y="223838"/>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26659" name="文本框 326658"/>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26660" name="文本框 326659"/>
          <p:cNvSpPr txBox="1"/>
          <p:nvPr/>
        </p:nvSpPr>
        <p:spPr>
          <a:xfrm>
            <a:off x="250825" y="908050"/>
            <a:ext cx="8642350" cy="4893647"/>
          </a:xfrm>
          <a:prstGeom prst="rect">
            <a:avLst/>
          </a:prstGeom>
          <a:noFill/>
          <a:ln w="9525">
            <a:noFill/>
          </a:ln>
        </p:spPr>
        <p:txBody>
          <a:bodyPr>
            <a:spAutoFit/>
          </a:bodyPr>
          <a:lstStyle/>
          <a:p>
            <a:pPr lvl="0" eaLnBrk="0" hangingPunct="0"/>
            <a:r>
              <a:rPr lang="en-US" altLang="zh-CN" sz="2400" b="1" dirty="0">
                <a:solidFill>
                  <a:srgbClr val="0000FF"/>
                </a:solidFill>
                <a:latin typeface="Arial" panose="020B0604020202020204" pitchFamily="34" charset="0"/>
                <a:ea typeface="宋体" panose="02010600030101010101" pitchFamily="2" charset="-122"/>
              </a:rPr>
              <a:t>5</a:t>
            </a:r>
            <a:r>
              <a:rPr lang="zh-CN" altLang="en-US" sz="2400" b="1" dirty="0">
                <a:solidFill>
                  <a:srgbClr val="0000FF"/>
                </a:solidFill>
                <a:latin typeface="Arial" panose="020B0604020202020204" pitchFamily="34" charset="0"/>
                <a:ea typeface="宋体" panose="02010600030101010101" pitchFamily="2" charset="-122"/>
              </a:rPr>
              <a:t>．连接系统总线的方式 </a:t>
            </a:r>
            <a:r>
              <a:rPr lang="en-US" altLang="zh-CN" sz="2400" b="1" dirty="0">
                <a:solidFill>
                  <a:srgbClr val="0000FF"/>
                </a:solidFill>
                <a:latin typeface="Arial" panose="020B0604020202020204" pitchFamily="34" charset="0"/>
                <a:ea typeface="宋体" panose="02010600030101010101" pitchFamily="2" charset="-122"/>
              </a:rPr>
              <a:t>    </a:t>
            </a:r>
            <a:endParaRPr lang="zh-CN" altLang="en-US" sz="2400" b="1" dirty="0">
              <a:solidFill>
                <a:srgbClr val="0000FF"/>
              </a:solidFill>
              <a:latin typeface="Arial" panose="020B0604020202020204" pitchFamily="34" charset="0"/>
              <a:ea typeface="宋体" panose="02010600030101010101" pitchFamily="2" charset="-122"/>
            </a:endParaRPr>
          </a:p>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1</a:t>
            </a:r>
            <a:r>
              <a:rPr lang="zh-CN" altLang="en-US" sz="2400" b="1" dirty="0">
                <a:solidFill>
                  <a:srgbClr val="FF00FF"/>
                </a:solidFill>
                <a:latin typeface="Arial" panose="020B0604020202020204" pitchFamily="34" charset="0"/>
                <a:ea typeface="宋体" panose="02010600030101010101" pitchFamily="2" charset="-122"/>
              </a:rPr>
              <a:t>）非缓冲方式</a:t>
            </a:r>
          </a:p>
          <a:p>
            <a:pPr lvl="0" eaLnBrk="0" hangingPunct="0"/>
            <a:r>
              <a:rPr lang="zh-CN" altLang="en-US" sz="2400" b="1" dirty="0">
                <a:latin typeface="Arial" panose="020B0604020202020204" pitchFamily="34" charset="0"/>
                <a:ea typeface="宋体" panose="02010600030101010101" pitchFamily="2" charset="-122"/>
              </a:rPr>
              <a:t>    适用于中小型系统中</a:t>
            </a:r>
            <a:r>
              <a:rPr lang="zh-CN" altLang="en-US" sz="2400" b="1" dirty="0">
                <a:solidFill>
                  <a:srgbClr val="FF0000"/>
                </a:solidFill>
                <a:latin typeface="Arial" panose="020B0604020202020204" pitchFamily="34" charset="0"/>
                <a:ea typeface="宋体" panose="02010600030101010101" pitchFamily="2" charset="-122"/>
              </a:rPr>
              <a:t>只有一片或不多的几片</a:t>
            </a:r>
            <a:r>
              <a:rPr lang="en-US" altLang="zh-CN" sz="2400" b="1" dirty="0">
                <a:latin typeface="Arial" panose="020B0604020202020204" pitchFamily="34" charset="0"/>
                <a:ea typeface="宋体" panose="02010600030101010101" pitchFamily="2" charset="-122"/>
              </a:rPr>
              <a:t>8259A</a:t>
            </a:r>
            <a:r>
              <a:rPr lang="zh-CN" altLang="en-US" sz="2400" b="1" dirty="0">
                <a:latin typeface="Arial" panose="020B0604020202020204" pitchFamily="34" charset="0"/>
                <a:ea typeface="宋体" panose="02010600030101010101" pitchFamily="2" charset="-122"/>
              </a:rPr>
              <a:t>情况。各片</a:t>
            </a:r>
            <a:r>
              <a:rPr lang="en-US" altLang="zh-CN" sz="2400" b="1" dirty="0">
                <a:latin typeface="Arial" panose="020B0604020202020204" pitchFamily="34" charset="0"/>
                <a:ea typeface="宋体" panose="02010600030101010101" pitchFamily="2" charset="-122"/>
              </a:rPr>
              <a:t>8259A</a:t>
            </a:r>
            <a:r>
              <a:rPr lang="zh-CN" altLang="en-US" sz="2400" b="1" dirty="0">
                <a:latin typeface="Arial" panose="020B0604020202020204" pitchFamily="34" charset="0"/>
                <a:ea typeface="宋体" panose="02010600030101010101" pitchFamily="2" charset="-122"/>
              </a:rPr>
              <a:t>直接和数据总线相连，无需通过总线驱动器；</a:t>
            </a:r>
            <a:r>
              <a:rPr lang="en-US" altLang="zh-CN" sz="2400" b="1" dirty="0">
                <a:latin typeface="Arial" panose="020B0604020202020204" pitchFamily="34" charset="0"/>
                <a:ea typeface="宋体" panose="02010600030101010101" pitchFamily="2" charset="-122"/>
              </a:rPr>
              <a:t>8259A</a:t>
            </a:r>
            <a:r>
              <a:rPr lang="zh-CN" altLang="en-US" sz="2400" b="1" dirty="0">
                <a:latin typeface="Arial" panose="020B0604020202020204" pitchFamily="34" charset="0"/>
                <a:ea typeface="宋体" panose="02010600030101010101" pitchFamily="2" charset="-122"/>
              </a:rPr>
              <a:t>的</a:t>
            </a:r>
            <a:r>
              <a:rPr lang="en-US" altLang="zh-CN" sz="2400" b="1" dirty="0">
                <a:latin typeface="Arial" panose="020B0604020202020204" pitchFamily="34" charset="0"/>
                <a:ea typeface="宋体" panose="02010600030101010101" pitchFamily="2" charset="-122"/>
              </a:rPr>
              <a:t>SP/EN</a:t>
            </a:r>
            <a:r>
              <a:rPr lang="zh-CN" altLang="en-US" sz="2400" b="1" dirty="0">
                <a:latin typeface="Arial" panose="020B0604020202020204" pitchFamily="34" charset="0"/>
                <a:ea typeface="宋体" panose="02010600030101010101" pitchFamily="2" charset="-122"/>
              </a:rPr>
              <a:t>端作为输入端。当系统中只有一片</a:t>
            </a:r>
            <a:r>
              <a:rPr lang="en-US" altLang="zh-CN" sz="2400" b="1" dirty="0">
                <a:latin typeface="Arial" panose="020B0604020202020204" pitchFamily="34" charset="0"/>
                <a:ea typeface="宋体" panose="02010600030101010101" pitchFamily="2" charset="-122"/>
              </a:rPr>
              <a:t>8259A</a:t>
            </a:r>
            <a:r>
              <a:rPr lang="zh-CN" altLang="en-US" sz="2400" b="1" dirty="0">
                <a:latin typeface="Arial" panose="020B0604020202020204" pitchFamily="34" charset="0"/>
                <a:ea typeface="宋体" panose="02010600030101010101" pitchFamily="2" charset="-122"/>
              </a:rPr>
              <a:t>时，</a:t>
            </a:r>
            <a:r>
              <a:rPr lang="en-US" altLang="zh-CN" sz="2400" b="1" dirty="0">
                <a:latin typeface="Arial" panose="020B0604020202020204" pitchFamily="34" charset="0"/>
                <a:ea typeface="宋体" panose="02010600030101010101" pitchFamily="2" charset="-122"/>
              </a:rPr>
              <a:t>SP/EN</a:t>
            </a:r>
            <a:r>
              <a:rPr lang="zh-CN" altLang="en-US" sz="2400" b="1" dirty="0">
                <a:latin typeface="Arial" panose="020B0604020202020204" pitchFamily="34" charset="0"/>
                <a:ea typeface="宋体" panose="02010600030101010101" pitchFamily="2" charset="-122"/>
              </a:rPr>
              <a:t>端必须</a:t>
            </a:r>
            <a:r>
              <a:rPr lang="zh-CN" altLang="en-US" sz="2400" b="1" dirty="0">
                <a:solidFill>
                  <a:srgbClr val="FF0000"/>
                </a:solidFill>
                <a:latin typeface="Arial" panose="020B0604020202020204" pitchFamily="34" charset="0"/>
                <a:ea typeface="宋体" panose="02010600030101010101" pitchFamily="2" charset="-122"/>
              </a:rPr>
              <a:t>接</a:t>
            </a:r>
            <a:r>
              <a:rPr lang="en-US" altLang="zh-CN" sz="2400" b="1" dirty="0">
                <a:solidFill>
                  <a:srgbClr val="FF0000"/>
                </a:solidFill>
                <a:latin typeface="Arial" panose="020B0604020202020204" pitchFamily="34" charset="0"/>
                <a:ea typeface="宋体" panose="02010600030101010101" pitchFamily="2" charset="-122"/>
              </a:rPr>
              <a:t>+5V</a:t>
            </a:r>
            <a:r>
              <a:rPr lang="zh-CN" altLang="en-US" sz="2400" b="1" dirty="0">
                <a:latin typeface="Arial" panose="020B0604020202020204" pitchFamily="34" charset="0"/>
                <a:ea typeface="宋体" panose="02010600030101010101" pitchFamily="2" charset="-122"/>
              </a:rPr>
              <a:t>；当系统中有多片</a:t>
            </a:r>
            <a:r>
              <a:rPr lang="en-US" altLang="zh-CN" sz="2400" b="1" dirty="0">
                <a:latin typeface="Arial" panose="020B0604020202020204" pitchFamily="34" charset="0"/>
                <a:ea typeface="宋体" panose="02010600030101010101" pitchFamily="2" charset="-122"/>
              </a:rPr>
              <a:t>8259A</a:t>
            </a:r>
            <a:r>
              <a:rPr lang="zh-CN" altLang="en-US" sz="2400" b="1" dirty="0">
                <a:latin typeface="Arial" panose="020B0604020202020204" pitchFamily="34" charset="0"/>
                <a:ea typeface="宋体" panose="02010600030101010101" pitchFamily="2" charset="-122"/>
              </a:rPr>
              <a:t>时，主片的</a:t>
            </a:r>
            <a:r>
              <a:rPr lang="en-US" altLang="zh-CN" sz="2400" b="1" dirty="0">
                <a:latin typeface="Arial" panose="020B0604020202020204" pitchFamily="34" charset="0"/>
                <a:ea typeface="宋体" panose="02010600030101010101" pitchFamily="2" charset="-122"/>
              </a:rPr>
              <a:t>SP/EN</a:t>
            </a:r>
            <a:r>
              <a:rPr lang="zh-CN" altLang="en-US" sz="2400" b="1" dirty="0">
                <a:latin typeface="Arial" panose="020B0604020202020204" pitchFamily="34" charset="0"/>
                <a:ea typeface="宋体" panose="02010600030101010101" pitchFamily="2" charset="-122"/>
              </a:rPr>
              <a:t>端接</a:t>
            </a:r>
            <a:r>
              <a:rPr lang="en-US" altLang="zh-CN" sz="2400" b="1" dirty="0">
                <a:latin typeface="Arial" panose="020B0604020202020204" pitchFamily="34" charset="0"/>
                <a:ea typeface="宋体" panose="02010600030101010101" pitchFamily="2" charset="-122"/>
              </a:rPr>
              <a:t>+5V</a:t>
            </a:r>
            <a:r>
              <a:rPr lang="zh-CN" altLang="en-US" sz="2400" b="1" dirty="0">
                <a:latin typeface="Arial" panose="020B0604020202020204" pitchFamily="34" charset="0"/>
                <a:ea typeface="宋体" panose="02010600030101010101" pitchFamily="2" charset="-122"/>
              </a:rPr>
              <a:t>，从片接地。</a:t>
            </a:r>
          </a:p>
          <a:p>
            <a:pPr lvl="0" eaLnBrk="0" hangingPunct="0"/>
            <a:r>
              <a:rPr lang="zh-CN" altLang="en-US" sz="2400" b="1" dirty="0">
                <a:solidFill>
                  <a:srgbClr val="FF00FF"/>
                </a:solidFill>
                <a:latin typeface="Arial" panose="020B0604020202020204" pitchFamily="34" charset="0"/>
                <a:ea typeface="宋体" panose="02010600030101010101" pitchFamily="2" charset="-122"/>
              </a:rPr>
              <a:t>（</a:t>
            </a:r>
            <a:r>
              <a:rPr lang="en-US" altLang="zh-CN" sz="2400" b="1" dirty="0">
                <a:solidFill>
                  <a:srgbClr val="FF00FF"/>
                </a:solidFill>
                <a:latin typeface="Arial" panose="020B0604020202020204" pitchFamily="34" charset="0"/>
                <a:ea typeface="宋体" panose="02010600030101010101" pitchFamily="2" charset="-122"/>
              </a:rPr>
              <a:t>2</a:t>
            </a:r>
            <a:r>
              <a:rPr lang="zh-CN" altLang="en-US" sz="2400" b="1" dirty="0">
                <a:solidFill>
                  <a:srgbClr val="FF00FF"/>
                </a:solidFill>
                <a:latin typeface="Arial" panose="020B0604020202020204" pitchFamily="34" charset="0"/>
                <a:ea typeface="宋体" panose="02010600030101010101" pitchFamily="2" charset="-122"/>
              </a:rPr>
              <a:t>）缓冲方式 </a:t>
            </a:r>
          </a:p>
          <a:p>
            <a:pPr lvl="0" eaLnBrk="0" hangingPunct="0"/>
            <a:r>
              <a:rPr lang="zh-CN" altLang="en-US" sz="2400" b="1" dirty="0">
                <a:latin typeface="Arial" panose="020B0604020202020204" pitchFamily="34" charset="0"/>
                <a:ea typeface="宋体" panose="02010600030101010101" pitchFamily="2" charset="-122"/>
              </a:rPr>
              <a:t>    多用在有多片</a:t>
            </a:r>
            <a:r>
              <a:rPr lang="en-US" altLang="zh-CN" sz="2400" b="1" dirty="0">
                <a:latin typeface="Arial" panose="020B0604020202020204" pitchFamily="34" charset="0"/>
                <a:ea typeface="宋体" panose="02010600030101010101" pitchFamily="2" charset="-122"/>
              </a:rPr>
              <a:t>8259A</a:t>
            </a:r>
            <a:r>
              <a:rPr lang="zh-CN" altLang="en-US" sz="2400" b="1" dirty="0">
                <a:latin typeface="Arial" panose="020B0604020202020204" pitchFamily="34" charset="0"/>
                <a:ea typeface="宋体" panose="02010600030101010101" pitchFamily="2" charset="-122"/>
              </a:rPr>
              <a:t>的大系统中。</a:t>
            </a:r>
            <a:r>
              <a:rPr lang="en-US" altLang="zh-CN" sz="2400" b="1" dirty="0">
                <a:latin typeface="Arial" panose="020B0604020202020204" pitchFamily="34" charset="0"/>
                <a:ea typeface="宋体" panose="02010600030101010101" pitchFamily="2" charset="-122"/>
              </a:rPr>
              <a:t>8259A</a:t>
            </a:r>
            <a:r>
              <a:rPr lang="zh-CN" altLang="en-US" sz="2400" b="1" dirty="0">
                <a:latin typeface="Arial" panose="020B0604020202020204" pitchFamily="34" charset="0"/>
                <a:ea typeface="宋体" panose="02010600030101010101" pitchFamily="2" charset="-122"/>
              </a:rPr>
              <a:t>通过总线驱动器和数据总线相连。此时，将</a:t>
            </a:r>
            <a:r>
              <a:rPr lang="en-US" altLang="zh-CN" sz="2400" b="1" dirty="0">
                <a:latin typeface="Arial" panose="020B0604020202020204" pitchFamily="34" charset="0"/>
                <a:ea typeface="宋体" panose="02010600030101010101" pitchFamily="2" charset="-122"/>
              </a:rPr>
              <a:t>8259A</a:t>
            </a:r>
            <a:r>
              <a:rPr lang="zh-CN" altLang="en-US" sz="2400" b="1" dirty="0">
                <a:latin typeface="Arial" panose="020B0604020202020204" pitchFamily="34" charset="0"/>
                <a:ea typeface="宋体" panose="02010600030101010101" pitchFamily="2" charset="-122"/>
              </a:rPr>
              <a:t>的</a:t>
            </a:r>
            <a:r>
              <a:rPr lang="en-US" altLang="zh-CN" sz="2400" b="1" dirty="0">
                <a:latin typeface="Arial" panose="020B0604020202020204" pitchFamily="34" charset="0"/>
                <a:ea typeface="宋体" panose="02010600030101010101" pitchFamily="2" charset="-122"/>
              </a:rPr>
              <a:t>SP/EN</a:t>
            </a:r>
            <a:r>
              <a:rPr lang="zh-CN" altLang="en-US" sz="2400" b="1" dirty="0">
                <a:latin typeface="Arial" panose="020B0604020202020204" pitchFamily="34" charset="0"/>
                <a:ea typeface="宋体" panose="02010600030101010101" pitchFamily="2" charset="-122"/>
              </a:rPr>
              <a:t>端和总线驱动器的允许端相连，因为</a:t>
            </a:r>
            <a:r>
              <a:rPr lang="en-US" altLang="zh-CN" sz="2400" b="1" dirty="0">
                <a:latin typeface="Arial" panose="020B0604020202020204" pitchFamily="34" charset="0"/>
                <a:ea typeface="宋体" panose="02010600030101010101" pitchFamily="2" charset="-122"/>
              </a:rPr>
              <a:t>8259A</a:t>
            </a:r>
            <a:r>
              <a:rPr lang="zh-CN" altLang="en-US" sz="2400" b="1" dirty="0">
                <a:latin typeface="Arial" panose="020B0604020202020204" pitchFamily="34" charset="0"/>
                <a:ea typeface="宋体" panose="02010600030101010101" pitchFamily="2" charset="-122"/>
              </a:rPr>
              <a:t>工作在缓冲方式时，会在输出状态字或中断类型码的同时，从</a:t>
            </a:r>
            <a:r>
              <a:rPr lang="en-US" altLang="zh-CN" sz="2400" b="1" dirty="0">
                <a:latin typeface="Arial" panose="020B0604020202020204" pitchFamily="34" charset="0"/>
                <a:ea typeface="宋体" panose="02010600030101010101" pitchFamily="2" charset="-122"/>
              </a:rPr>
              <a:t>SP/EN</a:t>
            </a:r>
            <a:r>
              <a:rPr lang="zh-CN" altLang="en-US" sz="2400" b="1" dirty="0">
                <a:latin typeface="Arial" panose="020B0604020202020204" pitchFamily="34" charset="0"/>
                <a:ea typeface="宋体" panose="02010600030101010101" pitchFamily="2" charset="-122"/>
              </a:rPr>
              <a:t>端输出一个低电平，此低电平正好可以作为总线驱动器的启动信号。</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标题 327681"/>
          <p:cNvSpPr>
            <a:spLocks noGrp="1"/>
          </p:cNvSpPr>
          <p:nvPr>
            <p:ph type="title"/>
          </p:nvPr>
        </p:nvSpPr>
        <p:spPr>
          <a:xfrm>
            <a:off x="1547664" y="223838"/>
            <a:ext cx="6696075" cy="431800"/>
          </a:xfrm>
          <a:ln/>
        </p:spPr>
        <p:txBody>
          <a:bodyPr anchor="ctr"/>
          <a:lstStyle/>
          <a:p>
            <a:pPr lvl="0"/>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327683" name="文本框 327682"/>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27684" name="文本框 327683"/>
          <p:cNvSpPr txBox="1"/>
          <p:nvPr/>
        </p:nvSpPr>
        <p:spPr>
          <a:xfrm>
            <a:off x="250825" y="908050"/>
            <a:ext cx="8642350" cy="1569660"/>
          </a:xfrm>
          <a:prstGeom prst="rect">
            <a:avLst/>
          </a:prstGeom>
          <a:noFill/>
          <a:ln w="9525">
            <a:noFill/>
          </a:ln>
        </p:spPr>
        <p:txBody>
          <a:bodyPr>
            <a:spAutoFit/>
          </a:bodyPr>
          <a:lstStyle/>
          <a:p>
            <a:pPr lvl="0" eaLnBrk="0" hangingPunct="0"/>
            <a:r>
              <a:rPr lang="zh-CN" altLang="en-US" sz="2400" b="1" dirty="0">
                <a:latin typeface="Arial" panose="020B0604020202020204" pitchFamily="34" charset="0"/>
                <a:ea typeface="宋体" panose="02010600030101010101" pitchFamily="2" charset="-122"/>
              </a:rPr>
              <a:t>三、</a:t>
            </a:r>
            <a:r>
              <a:rPr lang="en-US" altLang="en-US" sz="2400" b="1" dirty="0">
                <a:latin typeface="Arial" panose="020B0604020202020204" pitchFamily="34" charset="0"/>
                <a:ea typeface="宋体" panose="02010600030101010101" pitchFamily="2" charset="-122"/>
              </a:rPr>
              <a:t>  8259A的级联</a:t>
            </a:r>
            <a:endParaRPr lang="zh-CN" altLang="en-US" sz="2400" b="1" dirty="0">
              <a:solidFill>
                <a:srgbClr val="FF00FF"/>
              </a:solidFill>
              <a:latin typeface="Arial" panose="020B0604020202020204" pitchFamily="34" charset="0"/>
              <a:ea typeface="宋体" panose="02010600030101010101" pitchFamily="2" charset="-122"/>
            </a:endParaRPr>
          </a:p>
          <a:p>
            <a:pPr lvl="0" eaLnBrk="0" hangingPunct="0"/>
            <a:r>
              <a:rPr lang="en-US" altLang="zh-CN" sz="2400"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rPr>
              <a:t>当系统中的外部中断源数量大于8个时，就无法用一片8259A来进行管理，可采用多片8259A的级联来管理这些中断源，最多可以使用9个8259A芯片管理64个外部中断源。</a:t>
            </a:r>
            <a:endParaRPr lang="zh-CN" altLang="en-US" sz="2400" b="1" dirty="0">
              <a:latin typeface="Arial" panose="020B0604020202020204" pitchFamily="34" charset="0"/>
            </a:endParaRPr>
          </a:p>
        </p:txBody>
      </p:sp>
      <p:pic>
        <p:nvPicPr>
          <p:cNvPr id="327686" name="图片 327685" descr="wps_clip_image-18431"/>
          <p:cNvPicPr>
            <a:picLocks noChangeAspect="1"/>
          </p:cNvPicPr>
          <p:nvPr/>
        </p:nvPicPr>
        <p:blipFill>
          <a:blip r:embed="rId2"/>
          <a:stretch>
            <a:fillRect/>
          </a:stretch>
        </p:blipFill>
        <p:spPr>
          <a:xfrm>
            <a:off x="629443" y="2477710"/>
            <a:ext cx="7885113" cy="4102100"/>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7" name="文本框 328706"/>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28708" name="文本框 328707"/>
          <p:cNvSpPr txBox="1"/>
          <p:nvPr/>
        </p:nvSpPr>
        <p:spPr>
          <a:xfrm>
            <a:off x="250825" y="908050"/>
            <a:ext cx="8642350" cy="4524315"/>
          </a:xfrm>
          <a:prstGeom prst="rect">
            <a:avLst/>
          </a:prstGeom>
          <a:noFill/>
          <a:ln w="9525">
            <a:noFill/>
          </a:ln>
        </p:spPr>
        <p:txBody>
          <a:bodyPr>
            <a:spAutoFit/>
          </a:bodyPr>
          <a:lstStyle/>
          <a:p>
            <a:pPr lvl="0" eaLnBrk="0" hangingPunct="0"/>
            <a:r>
              <a:rPr lang="zh-CN" altLang="en-US" sz="2400" b="1" dirty="0">
                <a:latin typeface="Arial" panose="020B0604020202020204" pitchFamily="34" charset="0"/>
              </a:rPr>
              <a:t>四、</a:t>
            </a:r>
            <a:r>
              <a:rPr lang="en-US" altLang="en-US" sz="2400" b="1" dirty="0">
                <a:latin typeface="Arial" panose="020B0604020202020204" pitchFamily="34" charset="0"/>
              </a:rPr>
              <a:t>  8259A的</a:t>
            </a:r>
            <a:r>
              <a:rPr lang="zh-CN" altLang="en-US" sz="2400" b="1" dirty="0">
                <a:latin typeface="Arial" panose="020B0604020202020204" pitchFamily="34" charset="0"/>
              </a:rPr>
              <a:t>命令字</a:t>
            </a:r>
          </a:p>
          <a:p>
            <a:pPr lvl="0" eaLnBrk="0" hangingPunct="0"/>
            <a:endParaRPr lang="en-US" altLang="zh-CN" sz="2400" dirty="0">
              <a:latin typeface="Arial" panose="020B0604020202020204" pitchFamily="34" charset="0"/>
              <a:ea typeface="宋体" panose="02010600030101010101" pitchFamily="2" charset="-122"/>
            </a:endParaRPr>
          </a:p>
          <a:p>
            <a:pPr lvl="0" eaLnBrk="0" hangingPunct="0"/>
            <a:r>
              <a:rPr lang="en-US" altLang="zh-CN" sz="2400" b="1" dirty="0">
                <a:solidFill>
                  <a:srgbClr val="0000FF"/>
                </a:solidFill>
                <a:latin typeface="Arial" panose="020B0604020202020204" pitchFamily="34" charset="0"/>
              </a:rPr>
              <a:t>1．初始化命令字及其编程</a:t>
            </a:r>
          </a:p>
          <a:p>
            <a:pPr lvl="0" eaLnBrk="0" hangingPunct="0"/>
            <a:r>
              <a:rPr lang="en-US" altLang="zh-CN" sz="2400" b="1" dirty="0">
                <a:latin typeface="Arial" panose="020B0604020202020204" pitchFamily="34" charset="0"/>
              </a:rPr>
              <a:t>    </a:t>
            </a:r>
            <a:r>
              <a:rPr lang="en-US" altLang="zh-CN" sz="2400" b="1" dirty="0" err="1">
                <a:latin typeface="Arial" panose="020B0604020202020204" pitchFamily="34" charset="0"/>
              </a:rPr>
              <a:t>初始化编程</a:t>
            </a:r>
            <a:r>
              <a:rPr lang="zh-CN" altLang="en-US" sz="2400" b="1" dirty="0">
                <a:latin typeface="Arial" panose="020B0604020202020204" pitchFamily="34" charset="0"/>
              </a:rPr>
              <a:t>：</a:t>
            </a:r>
            <a:r>
              <a:rPr lang="en-US" altLang="zh-CN" sz="2400" b="1" dirty="0">
                <a:latin typeface="Arial" panose="020B0604020202020204" pitchFamily="34" charset="0"/>
              </a:rPr>
              <a:t>系统加电或复位后，用</a:t>
            </a:r>
            <a:r>
              <a:rPr lang="en-US" altLang="zh-CN" sz="2400" b="1" dirty="0">
                <a:solidFill>
                  <a:srgbClr val="0000FF"/>
                </a:solidFill>
                <a:latin typeface="Arial" panose="020B0604020202020204" pitchFamily="34" charset="0"/>
              </a:rPr>
              <a:t>初始化命令字</a:t>
            </a:r>
            <a:r>
              <a:rPr lang="en-US" altLang="zh-CN" sz="2400" b="1" dirty="0">
                <a:latin typeface="Arial" panose="020B0604020202020204" pitchFamily="34" charset="0"/>
              </a:rPr>
              <a:t>对8259A进行初始化，以规定8259A的基本工作方式。</a:t>
            </a:r>
          </a:p>
          <a:p>
            <a:pPr lvl="0" eaLnBrk="0" hangingPunct="0"/>
            <a:r>
              <a:rPr lang="en-US" altLang="zh-CN" sz="2400" b="1" dirty="0" err="1">
                <a:latin typeface="Arial" panose="020B0604020202020204" pitchFamily="34" charset="0"/>
              </a:rPr>
              <a:t>具体功能</a:t>
            </a:r>
            <a:r>
              <a:rPr lang="en-US" altLang="zh-CN" sz="2400" b="1" dirty="0">
                <a:latin typeface="Arial" panose="020B0604020202020204" pitchFamily="34" charset="0"/>
              </a:rPr>
              <a:t>：</a:t>
            </a:r>
          </a:p>
          <a:p>
            <a:pPr lvl="0" eaLnBrk="0" hangingPunct="0"/>
            <a:endParaRPr lang="en-US" altLang="zh-CN" sz="2400" b="1" dirty="0">
              <a:latin typeface="Arial" panose="020B0604020202020204" pitchFamily="34" charset="0"/>
            </a:endParaRPr>
          </a:p>
          <a:p>
            <a:pPr marL="539750" lvl="1" indent="0" eaLnBrk="0" hangingPunct="0">
              <a:buClrTx/>
              <a:buFont typeface="Wingdings" panose="05000000000000000000" pitchFamily="2" charset="2"/>
              <a:buChar char="l"/>
            </a:pPr>
            <a:r>
              <a:rPr lang="en-US" altLang="zh-CN" sz="2400" b="1" dirty="0" err="1">
                <a:latin typeface="Arial" panose="020B0604020202020204" pitchFamily="34" charset="0"/>
              </a:rPr>
              <a:t>设定中断请求信号的触发方式，是电平触发还是边沿触发</a:t>
            </a:r>
            <a:endParaRPr lang="en-US" altLang="zh-CN" sz="2400" b="1" dirty="0">
              <a:latin typeface="Arial" panose="020B0604020202020204" pitchFamily="34" charset="0"/>
            </a:endParaRPr>
          </a:p>
          <a:p>
            <a:pPr marL="539750" lvl="1" indent="0" eaLnBrk="0" hangingPunct="0">
              <a:buClrTx/>
              <a:buFont typeface="Wingdings" panose="05000000000000000000" pitchFamily="2" charset="2"/>
              <a:buChar char="l"/>
            </a:pPr>
            <a:r>
              <a:rPr lang="en-US" altLang="zh-CN" sz="2400" b="1" dirty="0">
                <a:latin typeface="Arial" panose="020B0604020202020204" pitchFamily="34" charset="0"/>
              </a:rPr>
              <a:t>设定8259A是单片还是多片级联的工作方式</a:t>
            </a:r>
          </a:p>
          <a:p>
            <a:pPr marL="539750" lvl="1" indent="0" eaLnBrk="0" hangingPunct="0">
              <a:buClrTx/>
              <a:buFont typeface="Wingdings" panose="05000000000000000000" pitchFamily="2" charset="2"/>
              <a:buChar char="l"/>
            </a:pPr>
            <a:r>
              <a:rPr lang="en-US" altLang="zh-CN" sz="2400" b="1" dirty="0">
                <a:latin typeface="Arial" panose="020B0604020202020204" pitchFamily="34" charset="0"/>
              </a:rPr>
              <a:t>设定8259A中断类型号基址，即IR</a:t>
            </a:r>
            <a:r>
              <a:rPr lang="en-US" altLang="zh-CN" sz="2400" b="1" baseline="-25000" dirty="0">
                <a:latin typeface="Arial" panose="020B0604020202020204" pitchFamily="34" charset="0"/>
              </a:rPr>
              <a:t>0</a:t>
            </a:r>
            <a:r>
              <a:rPr lang="en-US" altLang="zh-CN" sz="2400" b="1" dirty="0">
                <a:latin typeface="Arial" panose="020B0604020202020204" pitchFamily="34" charset="0"/>
              </a:rPr>
              <a:t>对应的中断类型号</a:t>
            </a:r>
          </a:p>
          <a:p>
            <a:pPr marL="539750" lvl="1" indent="0" eaLnBrk="0" hangingPunct="0">
              <a:buClrTx/>
              <a:buFont typeface="Wingdings" panose="05000000000000000000" pitchFamily="2" charset="2"/>
              <a:buChar char="l"/>
            </a:pPr>
            <a:r>
              <a:rPr lang="en-US" altLang="zh-CN" sz="2400" b="1" dirty="0" err="1">
                <a:latin typeface="Arial" panose="020B0604020202020204" pitchFamily="34" charset="0"/>
              </a:rPr>
              <a:t>设定优先级设置方式</a:t>
            </a:r>
            <a:r>
              <a:rPr lang="en-US" altLang="zh-CN" sz="2400" b="1" dirty="0">
                <a:latin typeface="Arial" panose="020B0604020202020204" pitchFamily="34" charset="0"/>
              </a:rPr>
              <a:t>；</a:t>
            </a:r>
          </a:p>
          <a:p>
            <a:pPr marL="539750" lvl="1" indent="0" eaLnBrk="0" hangingPunct="0">
              <a:buClrTx/>
              <a:buFont typeface="Wingdings" panose="05000000000000000000" pitchFamily="2" charset="2"/>
              <a:buChar char="l"/>
            </a:pPr>
            <a:r>
              <a:rPr lang="en-US" altLang="zh-CN" sz="2400" b="1" dirty="0" err="1">
                <a:latin typeface="Arial" panose="020B0604020202020204" pitchFamily="34" charset="0"/>
              </a:rPr>
              <a:t>设定中断结束方式</a:t>
            </a:r>
            <a:r>
              <a:rPr lang="en-US" altLang="zh-CN" sz="2400" b="1" dirty="0">
                <a:latin typeface="Arial" panose="020B0604020202020204" pitchFamily="34" charset="0"/>
              </a:rPr>
              <a:t>。</a:t>
            </a:r>
            <a:endParaRPr lang="zh-CN" altLang="en-US" sz="2400" b="1" dirty="0">
              <a:latin typeface="Arial" panose="020B0604020202020204" pitchFamily="34" charset="0"/>
            </a:endParaRPr>
          </a:p>
        </p:txBody>
      </p:sp>
      <p:sp>
        <p:nvSpPr>
          <p:cNvPr id="5"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1" name="文本框 329730"/>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29732" name="文本框 329731"/>
          <p:cNvSpPr txBox="1"/>
          <p:nvPr/>
        </p:nvSpPr>
        <p:spPr>
          <a:xfrm>
            <a:off x="250825" y="908050"/>
            <a:ext cx="6192838" cy="4524315"/>
          </a:xfrm>
          <a:prstGeom prst="rect">
            <a:avLst/>
          </a:prstGeom>
          <a:noFill/>
          <a:ln w="9525">
            <a:noFill/>
          </a:ln>
        </p:spPr>
        <p:txBody>
          <a:bodyPr>
            <a:spAutoFit/>
          </a:bodyPr>
          <a:lstStyle/>
          <a:p>
            <a:pPr lvl="0" eaLnBrk="0" hangingPunct="0"/>
            <a:r>
              <a:rPr lang="en-US" altLang="zh-CN" sz="2400" b="1" dirty="0">
                <a:latin typeface="Arial" panose="020B0604020202020204" pitchFamily="34" charset="0"/>
              </a:rPr>
              <a:t>8259A</a:t>
            </a:r>
            <a:r>
              <a:rPr lang="zh-CN" altLang="en-US" sz="2400" b="1" dirty="0">
                <a:latin typeface="Arial" panose="020B0604020202020204" pitchFamily="34" charset="0"/>
              </a:rPr>
              <a:t>有</a:t>
            </a:r>
            <a:r>
              <a:rPr lang="en-US" altLang="zh-CN" sz="2400" b="1" dirty="0">
                <a:latin typeface="Arial" panose="020B0604020202020204" pitchFamily="34" charset="0"/>
              </a:rPr>
              <a:t>4</a:t>
            </a:r>
            <a:r>
              <a:rPr lang="zh-CN" altLang="en-US" sz="2400" b="1" dirty="0">
                <a:latin typeface="Arial" panose="020B0604020202020204" pitchFamily="34" charset="0"/>
              </a:rPr>
              <a:t>个初始化命令字</a:t>
            </a:r>
            <a:r>
              <a:rPr lang="en-US" altLang="zh-CN" sz="2400" b="1" dirty="0">
                <a:latin typeface="Arial" panose="020B0604020202020204" pitchFamily="34" charset="0"/>
              </a:rPr>
              <a:t>ICW1</a:t>
            </a:r>
            <a:r>
              <a:rPr lang="zh-CN" altLang="en-US" sz="2400" b="1" dirty="0">
                <a:latin typeface="Arial" panose="020B0604020202020204" pitchFamily="34" charset="0"/>
              </a:rPr>
              <a:t>～</a:t>
            </a:r>
            <a:r>
              <a:rPr lang="en-US" altLang="zh-CN" sz="2400" b="1" dirty="0">
                <a:latin typeface="Arial" panose="020B0604020202020204" pitchFamily="34" charset="0"/>
              </a:rPr>
              <a:t>ICW4</a:t>
            </a:r>
            <a:r>
              <a:rPr lang="zh-CN" altLang="en-US" sz="2400" b="1" dirty="0">
                <a:latin typeface="Arial" panose="020B0604020202020204" pitchFamily="34" charset="0"/>
              </a:rPr>
              <a:t>。</a:t>
            </a:r>
          </a:p>
          <a:p>
            <a:pPr lvl="0" eaLnBrk="0" hangingPunct="0"/>
            <a:r>
              <a:rPr lang="zh-CN" altLang="en-US" sz="2400" b="1" dirty="0">
                <a:solidFill>
                  <a:srgbClr val="FF00FF"/>
                </a:solidFill>
                <a:latin typeface="Arial" panose="020B0604020202020204" pitchFamily="34" charset="0"/>
              </a:rPr>
              <a:t>（</a:t>
            </a:r>
            <a:r>
              <a:rPr lang="en-US" altLang="zh-CN" sz="2400" b="1" dirty="0">
                <a:solidFill>
                  <a:srgbClr val="FF00FF"/>
                </a:solidFill>
                <a:latin typeface="Arial" panose="020B0604020202020204" pitchFamily="34" charset="0"/>
              </a:rPr>
              <a:t>1</a:t>
            </a:r>
            <a:r>
              <a:rPr lang="zh-CN" altLang="en-US" sz="2400" b="1" dirty="0">
                <a:solidFill>
                  <a:srgbClr val="FF00FF"/>
                </a:solidFill>
                <a:latin typeface="Arial" panose="020B0604020202020204" pitchFamily="34" charset="0"/>
              </a:rPr>
              <a:t>）</a:t>
            </a:r>
            <a:r>
              <a:rPr lang="zh-CN" altLang="en-US" sz="2400" b="1" dirty="0">
                <a:latin typeface="Arial" panose="020B0604020202020204" pitchFamily="34" charset="0"/>
              </a:rPr>
              <a:t>初始化命令字通常在计算机</a:t>
            </a:r>
            <a:r>
              <a:rPr lang="zh-CN" altLang="en-US" sz="2400" b="1" dirty="0">
                <a:solidFill>
                  <a:srgbClr val="FF0000"/>
                </a:solidFill>
                <a:latin typeface="Arial" panose="020B0604020202020204" pitchFamily="34" charset="0"/>
              </a:rPr>
              <a:t>系统启动</a:t>
            </a:r>
            <a:r>
              <a:rPr lang="zh-CN" altLang="en-US" sz="2400" b="1" dirty="0">
                <a:latin typeface="Arial" panose="020B0604020202020204" pitchFamily="34" charset="0"/>
              </a:rPr>
              <a:t>时由初始化程序设置，设定后一般不再改变。</a:t>
            </a:r>
          </a:p>
          <a:p>
            <a:pPr lvl="0" eaLnBrk="0" hangingPunct="0"/>
            <a:r>
              <a:rPr lang="zh-CN" altLang="en-US" sz="2400" b="1" dirty="0">
                <a:solidFill>
                  <a:srgbClr val="FF00FF"/>
                </a:solidFill>
                <a:latin typeface="Arial" panose="020B0604020202020204" pitchFamily="34" charset="0"/>
              </a:rPr>
              <a:t>（</a:t>
            </a:r>
            <a:r>
              <a:rPr lang="en-US" altLang="zh-CN" sz="2400" b="1" dirty="0">
                <a:solidFill>
                  <a:srgbClr val="FF00FF"/>
                </a:solidFill>
                <a:latin typeface="Arial" panose="020B0604020202020204" pitchFamily="34" charset="0"/>
              </a:rPr>
              <a:t>2</a:t>
            </a:r>
            <a:r>
              <a:rPr lang="zh-CN" altLang="en-US" sz="2400" b="1" dirty="0">
                <a:solidFill>
                  <a:srgbClr val="FF00FF"/>
                </a:solidFill>
                <a:latin typeface="Arial" panose="020B0604020202020204" pitchFamily="34" charset="0"/>
              </a:rPr>
              <a:t>）</a:t>
            </a:r>
            <a:r>
              <a:rPr lang="zh-CN" altLang="en-US" sz="2400" b="1" dirty="0">
                <a:latin typeface="Arial" panose="020B0604020202020204" pitchFamily="34" charset="0"/>
              </a:rPr>
              <a:t>初始化过程中，须严格按照</a:t>
            </a:r>
            <a:r>
              <a:rPr lang="zh-CN" altLang="en-US" sz="2400" b="1" dirty="0">
                <a:solidFill>
                  <a:srgbClr val="FF0000"/>
                </a:solidFill>
                <a:latin typeface="Arial" panose="020B0604020202020204" pitchFamily="34" charset="0"/>
              </a:rPr>
              <a:t>规定顺序依次写入</a:t>
            </a:r>
            <a:r>
              <a:rPr lang="en-US" altLang="zh-CN" sz="2400" b="1" dirty="0">
                <a:latin typeface="Arial" panose="020B0604020202020204" pitchFamily="34" charset="0"/>
              </a:rPr>
              <a:t>4</a:t>
            </a:r>
            <a:r>
              <a:rPr lang="zh-CN" altLang="en-US" sz="2400" b="1" dirty="0">
                <a:latin typeface="Arial" panose="020B0604020202020204" pitchFamily="34" charset="0"/>
              </a:rPr>
              <a:t>个初始化命令字。</a:t>
            </a:r>
            <a:endParaRPr lang="en-US" altLang="zh-CN" sz="2400" b="1" dirty="0">
              <a:latin typeface="Arial" panose="020B0604020202020204" pitchFamily="34" charset="0"/>
            </a:endParaRPr>
          </a:p>
          <a:p>
            <a:pPr marL="342900" lvl="0" indent="-342900" eaLnBrk="0" hangingPunct="0">
              <a:buClr>
                <a:srgbClr val="0000FF"/>
              </a:buClr>
              <a:buFont typeface="Wingdings" panose="05000000000000000000" pitchFamily="2" charset="2"/>
              <a:buChar char="ü"/>
            </a:pPr>
            <a:r>
              <a:rPr lang="en-US" altLang="zh-CN" sz="2400" b="1" dirty="0">
                <a:latin typeface="Arial" panose="020B0604020202020204" pitchFamily="34" charset="0"/>
              </a:rPr>
              <a:t>ICW1</a:t>
            </a:r>
            <a:r>
              <a:rPr lang="zh-CN" altLang="en-US" sz="2400" b="1" dirty="0">
                <a:latin typeface="Arial" panose="020B0604020202020204" pitchFamily="34" charset="0"/>
              </a:rPr>
              <a:t>写入偶地址</a:t>
            </a:r>
            <a:endParaRPr lang="en-US" altLang="zh-CN" sz="2400" b="1" dirty="0">
              <a:latin typeface="Arial" panose="020B0604020202020204" pitchFamily="34" charset="0"/>
            </a:endParaRPr>
          </a:p>
          <a:p>
            <a:pPr marL="342900" lvl="0" indent="-342900" eaLnBrk="0" hangingPunct="0">
              <a:buClr>
                <a:srgbClr val="0000FF"/>
              </a:buClr>
              <a:buFont typeface="Wingdings" panose="05000000000000000000" pitchFamily="2" charset="2"/>
              <a:buChar char="ü"/>
            </a:pPr>
            <a:r>
              <a:rPr lang="en-US" altLang="zh-CN" sz="2400" b="1" dirty="0">
                <a:latin typeface="Arial" panose="020B0604020202020204" pitchFamily="34" charset="0"/>
              </a:rPr>
              <a:t>ICW2~ICW4</a:t>
            </a:r>
            <a:r>
              <a:rPr lang="zh-CN" altLang="en-US" sz="2400" b="1" dirty="0">
                <a:latin typeface="Arial" panose="020B0604020202020204" pitchFamily="34" charset="0"/>
              </a:rPr>
              <a:t>写入奇地址</a:t>
            </a:r>
            <a:endParaRPr lang="en-US" altLang="zh-CN" sz="2400" b="1" dirty="0">
              <a:latin typeface="Arial" panose="020B0604020202020204" pitchFamily="34" charset="0"/>
            </a:endParaRPr>
          </a:p>
          <a:p>
            <a:pPr marL="342900" lvl="0" indent="-342900" eaLnBrk="0" hangingPunct="0">
              <a:buClr>
                <a:srgbClr val="0000FF"/>
              </a:buClr>
              <a:buFont typeface="Wingdings" panose="05000000000000000000" pitchFamily="2" charset="2"/>
              <a:buChar char="ü"/>
            </a:pPr>
            <a:r>
              <a:rPr lang="en-US" altLang="zh-CN" sz="2400" b="1" dirty="0">
                <a:latin typeface="Arial" panose="020B0604020202020204" pitchFamily="34" charset="0"/>
              </a:rPr>
              <a:t>ICW1</a:t>
            </a:r>
            <a:r>
              <a:rPr lang="zh-CN" altLang="en-US" sz="2400" b="1" dirty="0">
                <a:latin typeface="Arial" panose="020B0604020202020204" pitchFamily="34" charset="0"/>
              </a:rPr>
              <a:t>和</a:t>
            </a:r>
            <a:r>
              <a:rPr lang="en-US" altLang="zh-CN" sz="2400" b="1" dirty="0">
                <a:latin typeface="Arial" panose="020B0604020202020204" pitchFamily="34" charset="0"/>
              </a:rPr>
              <a:t>ICW2</a:t>
            </a:r>
            <a:r>
              <a:rPr lang="zh-CN" altLang="en-US" sz="2400" b="1" dirty="0">
                <a:latin typeface="Arial" panose="020B0604020202020204" pitchFamily="34" charset="0"/>
              </a:rPr>
              <a:t>必须设置</a:t>
            </a:r>
            <a:endParaRPr lang="en-US" altLang="zh-CN" sz="2400" b="1" dirty="0">
              <a:latin typeface="Arial" panose="020B0604020202020204" pitchFamily="34" charset="0"/>
            </a:endParaRPr>
          </a:p>
          <a:p>
            <a:pPr marL="342900" lvl="0" indent="-342900" eaLnBrk="0" hangingPunct="0">
              <a:buClr>
                <a:srgbClr val="0000FF"/>
              </a:buClr>
              <a:buFont typeface="Wingdings" panose="05000000000000000000" pitchFamily="2" charset="2"/>
              <a:buChar char="ü"/>
            </a:pPr>
            <a:r>
              <a:rPr lang="en-US" altLang="zh-CN" sz="2400" b="1" dirty="0">
                <a:latin typeface="Arial" panose="020B0604020202020204" pitchFamily="34" charset="0"/>
              </a:rPr>
              <a:t>ICW3</a:t>
            </a:r>
            <a:r>
              <a:rPr lang="zh-CN" altLang="en-US" sz="2400" b="1" dirty="0">
                <a:latin typeface="Arial" panose="020B0604020202020204" pitchFamily="34" charset="0"/>
              </a:rPr>
              <a:t>和</a:t>
            </a:r>
            <a:r>
              <a:rPr lang="en-US" altLang="zh-CN" sz="2400" b="1" dirty="0">
                <a:latin typeface="Arial" panose="020B0604020202020204" pitchFamily="34" charset="0"/>
              </a:rPr>
              <a:t>ICW4</a:t>
            </a:r>
            <a:r>
              <a:rPr lang="zh-CN" altLang="en-US" sz="2400" b="1" dirty="0">
                <a:latin typeface="Arial" panose="020B0604020202020204" pitchFamily="34" charset="0"/>
              </a:rPr>
              <a:t>是否需要设置由</a:t>
            </a:r>
            <a:r>
              <a:rPr lang="en-US" altLang="zh-CN" sz="2400" b="1" dirty="0">
                <a:latin typeface="Arial" panose="020B0604020202020204" pitchFamily="34" charset="0"/>
              </a:rPr>
              <a:t>ICW1</a:t>
            </a:r>
            <a:r>
              <a:rPr lang="zh-CN" altLang="en-US" sz="2400" b="1" dirty="0">
                <a:latin typeface="Arial" panose="020B0604020202020204" pitchFamily="34" charset="0"/>
              </a:rPr>
              <a:t>的相应位决定</a:t>
            </a:r>
            <a:endParaRPr lang="en-US" altLang="zh-CN" sz="2400" b="1" dirty="0">
              <a:latin typeface="Arial" panose="020B0604020202020204" pitchFamily="34" charset="0"/>
            </a:endParaRPr>
          </a:p>
          <a:p>
            <a:pPr marL="342900" lvl="0" indent="-342900" eaLnBrk="0" hangingPunct="0">
              <a:buClr>
                <a:srgbClr val="0000FF"/>
              </a:buClr>
              <a:buFont typeface="Wingdings" panose="05000000000000000000" pitchFamily="2" charset="2"/>
              <a:buChar char="ü"/>
            </a:pPr>
            <a:r>
              <a:rPr lang="zh-CN" altLang="en-US" sz="2400" b="1" dirty="0">
                <a:latin typeface="Arial" panose="020B0604020202020204" pitchFamily="34" charset="0"/>
              </a:rPr>
              <a:t>如果需要设置</a:t>
            </a:r>
            <a:r>
              <a:rPr lang="en-US" altLang="zh-CN" sz="2400" b="1" dirty="0">
                <a:latin typeface="Arial" panose="020B0604020202020204" pitchFamily="34" charset="0"/>
              </a:rPr>
              <a:t>ICW3</a:t>
            </a:r>
            <a:r>
              <a:rPr lang="zh-CN" altLang="en-US" sz="2400" b="1" dirty="0">
                <a:latin typeface="Arial" panose="020B0604020202020204" pitchFamily="34" charset="0"/>
              </a:rPr>
              <a:t>，则要</a:t>
            </a:r>
            <a:r>
              <a:rPr lang="zh-CN" altLang="en-US" sz="2400" b="1" dirty="0">
                <a:solidFill>
                  <a:srgbClr val="FF0000"/>
                </a:solidFill>
                <a:latin typeface="Arial" panose="020B0604020202020204" pitchFamily="34" charset="0"/>
              </a:rPr>
              <a:t>分别</a:t>
            </a:r>
            <a:r>
              <a:rPr lang="zh-CN" altLang="en-US" sz="2400" b="1" dirty="0">
                <a:latin typeface="Arial" panose="020B0604020202020204" pitchFamily="34" charset="0"/>
              </a:rPr>
              <a:t>对主片和从片的</a:t>
            </a:r>
            <a:r>
              <a:rPr lang="en-US" altLang="zh-CN" sz="2400" b="1" dirty="0">
                <a:latin typeface="Arial" panose="020B0604020202020204" pitchFamily="34" charset="0"/>
              </a:rPr>
              <a:t>ICW3</a:t>
            </a:r>
            <a:r>
              <a:rPr lang="zh-CN" altLang="en-US" sz="2400" b="1" dirty="0">
                <a:latin typeface="Arial" panose="020B0604020202020204" pitchFamily="34" charset="0"/>
              </a:rPr>
              <a:t>进行设置</a:t>
            </a:r>
            <a:endParaRPr lang="en-US" altLang="zh-CN" sz="2400" b="1" dirty="0">
              <a:latin typeface="Arial" panose="020B0604020202020204" pitchFamily="34" charset="0"/>
            </a:endParaRPr>
          </a:p>
        </p:txBody>
      </p:sp>
      <p:pic>
        <p:nvPicPr>
          <p:cNvPr id="329734" name="图片 329733" descr="wps_clip_image-19247"/>
          <p:cNvPicPr>
            <a:picLocks noChangeAspect="1"/>
          </p:cNvPicPr>
          <p:nvPr/>
        </p:nvPicPr>
        <p:blipFill>
          <a:blip r:embed="rId2"/>
          <a:stretch>
            <a:fillRect/>
          </a:stretch>
        </p:blipFill>
        <p:spPr>
          <a:xfrm>
            <a:off x="6588125" y="908050"/>
            <a:ext cx="2311400" cy="5184775"/>
          </a:xfrm>
          <a:prstGeom prst="rect">
            <a:avLst/>
          </a:prstGeom>
          <a:noFill/>
          <a:ln w="9525">
            <a:noFill/>
          </a:ln>
        </p:spPr>
      </p:pic>
      <p:sp>
        <p:nvSpPr>
          <p:cNvPr id="6"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5" name="文本框 330754"/>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30756" name="文本框 330755"/>
          <p:cNvSpPr txBox="1"/>
          <p:nvPr/>
        </p:nvSpPr>
        <p:spPr>
          <a:xfrm>
            <a:off x="250825" y="836712"/>
            <a:ext cx="8642350" cy="5073953"/>
          </a:xfrm>
          <a:prstGeom prst="rect">
            <a:avLst/>
          </a:prstGeom>
          <a:noFill/>
          <a:ln w="9525">
            <a:noFill/>
          </a:ln>
        </p:spPr>
        <p:txBody>
          <a:bodyPr>
            <a:spAutoFit/>
          </a:bodyPr>
          <a:lstStyle/>
          <a:p>
            <a:pPr lvl="0" eaLnBrk="0" hangingPunct="0">
              <a:lnSpc>
                <a:spcPct val="110000"/>
              </a:lnSpc>
            </a:pPr>
            <a:r>
              <a:rPr lang="en-US" altLang="zh-CN" sz="2400" b="1" dirty="0">
                <a:solidFill>
                  <a:srgbClr val="FF00FF"/>
                </a:solidFill>
                <a:latin typeface="Arial" panose="020B0604020202020204" pitchFamily="34" charset="0"/>
              </a:rPr>
              <a:t>（1）ICW1</a:t>
            </a:r>
          </a:p>
          <a:p>
            <a:pPr lvl="0" eaLnBrk="0" hangingPunct="0">
              <a:lnSpc>
                <a:spcPct val="110000"/>
              </a:lnSpc>
            </a:pPr>
            <a:r>
              <a:rPr lang="en-US" altLang="zh-CN" sz="2400" b="1" dirty="0">
                <a:latin typeface="Arial" panose="020B0604020202020204" pitchFamily="34" charset="0"/>
              </a:rPr>
              <a:t>ICW1命令字称为芯片控制初始化命令字，其格式如下：</a:t>
            </a:r>
          </a:p>
          <a:p>
            <a:pPr lvl="0" eaLnBrk="0" hangingPunct="0">
              <a:lnSpc>
                <a:spcPct val="110000"/>
              </a:lnSpc>
            </a:pPr>
            <a:endParaRPr lang="en-US" altLang="zh-CN" sz="2400" b="1" dirty="0">
              <a:latin typeface="Arial" panose="020B0604020202020204" pitchFamily="34" charset="0"/>
            </a:endParaRPr>
          </a:p>
          <a:p>
            <a:pPr lvl="0" eaLnBrk="0" hangingPunct="0">
              <a:lnSpc>
                <a:spcPct val="110000"/>
              </a:lnSpc>
            </a:pPr>
            <a:endParaRPr lang="en-US" altLang="zh-CN" sz="2400" b="1" dirty="0">
              <a:latin typeface="Arial" panose="020B0604020202020204" pitchFamily="34" charset="0"/>
            </a:endParaRPr>
          </a:p>
          <a:p>
            <a:pPr lvl="0" eaLnBrk="0" hangingPunct="0">
              <a:lnSpc>
                <a:spcPct val="110000"/>
              </a:lnSpc>
            </a:pPr>
            <a:endParaRPr lang="en-US" altLang="zh-CN" sz="2000" b="1" dirty="0">
              <a:latin typeface="Arial" panose="020B0604020202020204" pitchFamily="34" charset="0"/>
            </a:endParaRPr>
          </a:p>
          <a:p>
            <a:pPr lvl="0" eaLnBrk="0" hangingPunct="0">
              <a:lnSpc>
                <a:spcPct val="110000"/>
              </a:lnSpc>
            </a:pPr>
            <a:endParaRPr lang="en-US" altLang="zh-CN" sz="2000" b="1" dirty="0">
              <a:latin typeface="Arial" panose="020B0604020202020204" pitchFamily="34" charset="0"/>
            </a:endParaRPr>
          </a:p>
          <a:p>
            <a:pPr lvl="0" eaLnBrk="0" hangingPunct="0">
              <a:lnSpc>
                <a:spcPct val="110000"/>
              </a:lnSpc>
            </a:pPr>
            <a:r>
              <a:rPr lang="en-US" altLang="zh-CN" sz="2000" b="1" dirty="0">
                <a:latin typeface="Arial" panose="020B0604020202020204" pitchFamily="34" charset="0"/>
              </a:rPr>
              <a:t>D7～D5：一般设定为“0”。</a:t>
            </a:r>
          </a:p>
          <a:p>
            <a:pPr lvl="0" eaLnBrk="0" hangingPunct="0">
              <a:lnSpc>
                <a:spcPct val="110000"/>
              </a:lnSpc>
            </a:pPr>
            <a:r>
              <a:rPr lang="en-US" altLang="zh-CN" sz="2000" b="1" dirty="0">
                <a:latin typeface="Arial" panose="020B0604020202020204" pitchFamily="34" charset="0"/>
              </a:rPr>
              <a:t>D4：特征位，必须为“1”，表明该命令字是ICW1。</a:t>
            </a:r>
          </a:p>
          <a:p>
            <a:pPr lvl="0" eaLnBrk="0" hangingPunct="0">
              <a:lnSpc>
                <a:spcPct val="110000"/>
              </a:lnSpc>
            </a:pPr>
            <a:r>
              <a:rPr lang="en-US" altLang="zh-CN" sz="2000" b="1" dirty="0">
                <a:latin typeface="Arial" panose="020B0604020202020204" pitchFamily="34" charset="0"/>
              </a:rPr>
              <a:t>D3：设置8259A的中断触发方式。D3=1电平触发，D3=0边沿触发。</a:t>
            </a:r>
          </a:p>
          <a:p>
            <a:pPr lvl="0" eaLnBrk="0" hangingPunct="0">
              <a:lnSpc>
                <a:spcPct val="110000"/>
              </a:lnSpc>
            </a:pPr>
            <a:r>
              <a:rPr lang="en-US" altLang="zh-CN" sz="2000" b="1" dirty="0">
                <a:latin typeface="Arial" panose="020B0604020202020204" pitchFamily="34" charset="0"/>
              </a:rPr>
              <a:t>D2：8086/8088系统中无效。</a:t>
            </a:r>
          </a:p>
          <a:p>
            <a:pPr lvl="0" eaLnBrk="0" hangingPunct="0">
              <a:lnSpc>
                <a:spcPct val="110000"/>
              </a:lnSpc>
            </a:pPr>
            <a:r>
              <a:rPr lang="en-US" altLang="zh-CN" sz="2000" b="1" dirty="0">
                <a:latin typeface="Arial" panose="020B0604020202020204" pitchFamily="34" charset="0"/>
              </a:rPr>
              <a:t>D1：设置8259A有无级联。D1=1单片工作方式，D1=0多片级联方式。</a:t>
            </a:r>
          </a:p>
          <a:p>
            <a:pPr lvl="0" eaLnBrk="0" hangingPunct="0">
              <a:lnSpc>
                <a:spcPct val="110000"/>
              </a:lnSpc>
            </a:pPr>
            <a:r>
              <a:rPr lang="en-US" altLang="zh-CN" sz="2000" b="1" dirty="0">
                <a:latin typeface="Arial" panose="020B0604020202020204" pitchFamily="34" charset="0"/>
              </a:rPr>
              <a:t>D0：设定是否需要初始化命令字ICW4。D0=1需要，D0=0不需要。对</a:t>
            </a:r>
            <a:r>
              <a:rPr lang="zh-CN" altLang="en-US" sz="2000" b="1" dirty="0">
                <a:latin typeface="Arial" panose="020B0604020202020204" pitchFamily="34" charset="0"/>
              </a:rPr>
              <a:t>于</a:t>
            </a:r>
            <a:r>
              <a:rPr lang="en-US" altLang="zh-CN" sz="2000" b="1" dirty="0">
                <a:latin typeface="Arial" panose="020B0604020202020204" pitchFamily="34" charset="0"/>
              </a:rPr>
              <a:t>8086，D0位须设为1。</a:t>
            </a:r>
          </a:p>
          <a:p>
            <a:pPr lvl="0" eaLnBrk="0" hangingPunct="0">
              <a:lnSpc>
                <a:spcPct val="110000"/>
              </a:lnSpc>
            </a:pPr>
            <a:r>
              <a:rPr lang="en-US" altLang="zh-CN" sz="2000" b="1" dirty="0">
                <a:latin typeface="Arial" panose="020B0604020202020204" pitchFamily="34" charset="0"/>
              </a:rPr>
              <a:t>CPU向8259A写入ICW1时，D4位必须为1，且必须写入偶地址，即A0=0。</a:t>
            </a:r>
          </a:p>
        </p:txBody>
      </p:sp>
      <p:pic>
        <p:nvPicPr>
          <p:cNvPr id="331005" name="图片 331004"/>
          <p:cNvPicPr>
            <a:picLocks noChangeAspect="1"/>
          </p:cNvPicPr>
          <p:nvPr/>
        </p:nvPicPr>
        <p:blipFill>
          <a:blip r:embed="rId2"/>
          <a:stretch>
            <a:fillRect/>
          </a:stretch>
        </p:blipFill>
        <p:spPr>
          <a:xfrm>
            <a:off x="1048695" y="1941674"/>
            <a:ext cx="6947075" cy="936104"/>
          </a:xfrm>
          <a:prstGeom prst="rect">
            <a:avLst/>
          </a:prstGeom>
          <a:noFill/>
          <a:ln w="9525">
            <a:noFill/>
          </a:ln>
        </p:spPr>
      </p:pic>
      <p:sp>
        <p:nvSpPr>
          <p:cNvPr id="6"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9" name="文本框 331778"/>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31780" name="文本框 331779"/>
          <p:cNvSpPr txBox="1"/>
          <p:nvPr/>
        </p:nvSpPr>
        <p:spPr>
          <a:xfrm>
            <a:off x="250825" y="908050"/>
            <a:ext cx="8569325" cy="1685846"/>
          </a:xfrm>
          <a:prstGeom prst="rect">
            <a:avLst/>
          </a:prstGeom>
          <a:noFill/>
          <a:ln w="9525">
            <a:noFill/>
          </a:ln>
        </p:spPr>
        <p:txBody>
          <a:bodyPr wrap="square">
            <a:spAutoFit/>
          </a:bodyPr>
          <a:lstStyle/>
          <a:p>
            <a:pPr lvl="0" eaLnBrk="0" hangingPunct="0">
              <a:lnSpc>
                <a:spcPct val="110000"/>
              </a:lnSpc>
            </a:pPr>
            <a:r>
              <a:rPr lang="zh-CN" altLang="en-US" sz="2400" b="1" dirty="0">
                <a:solidFill>
                  <a:srgbClr val="FF00FF"/>
                </a:solidFill>
                <a:latin typeface="Arial" panose="020B0604020202020204" pitchFamily="34" charset="0"/>
              </a:rPr>
              <a:t>（</a:t>
            </a:r>
            <a:r>
              <a:rPr lang="en-US" altLang="zh-CN" sz="2400" b="1" dirty="0">
                <a:solidFill>
                  <a:srgbClr val="FF00FF"/>
                </a:solidFill>
                <a:latin typeface="Arial" panose="020B0604020202020204" pitchFamily="34" charset="0"/>
              </a:rPr>
              <a:t>2</a:t>
            </a:r>
            <a:r>
              <a:rPr lang="zh-CN" altLang="en-US" sz="2400" b="1" dirty="0">
                <a:solidFill>
                  <a:srgbClr val="FF00FF"/>
                </a:solidFill>
                <a:latin typeface="Arial" panose="020B0604020202020204" pitchFamily="34" charset="0"/>
              </a:rPr>
              <a:t>）</a:t>
            </a:r>
            <a:r>
              <a:rPr lang="en-US" altLang="zh-CN" sz="2400" b="1" dirty="0">
                <a:solidFill>
                  <a:srgbClr val="FF00FF"/>
                </a:solidFill>
                <a:latin typeface="Arial" panose="020B0604020202020204" pitchFamily="34" charset="0"/>
              </a:rPr>
              <a:t>ICW2</a:t>
            </a:r>
          </a:p>
          <a:p>
            <a:pPr lvl="0" eaLnBrk="0" hangingPunct="0">
              <a:lnSpc>
                <a:spcPct val="110000"/>
              </a:lnSpc>
            </a:pPr>
            <a:r>
              <a:rPr lang="en-US" altLang="zh-CN" sz="2400" b="1" dirty="0">
                <a:latin typeface="Arial" panose="020B0604020202020204" pitchFamily="34" charset="0"/>
              </a:rPr>
              <a:t>ICW2</a:t>
            </a:r>
            <a:r>
              <a:rPr lang="zh-CN" altLang="en-US" sz="2400" b="1" dirty="0">
                <a:latin typeface="Arial" panose="020B0604020202020204" pitchFamily="34" charset="0"/>
              </a:rPr>
              <a:t>：设置中断类型号的基值，即</a:t>
            </a:r>
            <a:r>
              <a:rPr lang="en-US" altLang="zh-CN" sz="2400" b="1" dirty="0">
                <a:latin typeface="Arial" panose="020B0604020202020204" pitchFamily="34" charset="0"/>
              </a:rPr>
              <a:t>8259A</a:t>
            </a:r>
            <a:r>
              <a:rPr lang="zh-CN" altLang="en-US" sz="2400" b="1" dirty="0">
                <a:latin typeface="Arial" panose="020B0604020202020204" pitchFamily="34" charset="0"/>
              </a:rPr>
              <a:t>的</a:t>
            </a:r>
            <a:r>
              <a:rPr lang="en-US" altLang="zh-CN" sz="2400" b="1" dirty="0">
                <a:latin typeface="Arial" panose="020B0604020202020204" pitchFamily="34" charset="0"/>
              </a:rPr>
              <a:t>IR</a:t>
            </a:r>
            <a:r>
              <a:rPr lang="en-US" altLang="zh-CN" sz="2400" b="1" baseline="-25000" dirty="0">
                <a:latin typeface="Arial" panose="020B0604020202020204" pitchFamily="34" charset="0"/>
              </a:rPr>
              <a:t>0</a:t>
            </a:r>
            <a:r>
              <a:rPr lang="zh-CN" altLang="en-US" sz="2400" b="1" dirty="0">
                <a:latin typeface="Arial" panose="020B0604020202020204" pitchFamily="34" charset="0"/>
              </a:rPr>
              <a:t>所对应的中断类型号。</a:t>
            </a:r>
          </a:p>
          <a:p>
            <a:pPr lvl="0" eaLnBrk="0" hangingPunct="0">
              <a:lnSpc>
                <a:spcPct val="110000"/>
              </a:lnSpc>
            </a:pPr>
            <a:r>
              <a:rPr lang="zh-CN" altLang="en-US" sz="2400" b="1" dirty="0">
                <a:latin typeface="Arial" panose="020B0604020202020204" pitchFamily="34" charset="0"/>
              </a:rPr>
              <a:t>	</a:t>
            </a:r>
          </a:p>
        </p:txBody>
      </p:sp>
      <p:pic>
        <p:nvPicPr>
          <p:cNvPr id="331782" name="图片 331781"/>
          <p:cNvPicPr>
            <a:picLocks noChangeAspect="1"/>
          </p:cNvPicPr>
          <p:nvPr/>
        </p:nvPicPr>
        <p:blipFill>
          <a:blip r:embed="rId2"/>
          <a:stretch>
            <a:fillRect/>
          </a:stretch>
        </p:blipFill>
        <p:spPr>
          <a:xfrm>
            <a:off x="1348656" y="1988923"/>
            <a:ext cx="6481762" cy="1062037"/>
          </a:xfrm>
          <a:prstGeom prst="rect">
            <a:avLst/>
          </a:prstGeom>
          <a:noFill/>
          <a:ln w="9525">
            <a:noFill/>
          </a:ln>
        </p:spPr>
      </p:pic>
      <p:sp>
        <p:nvSpPr>
          <p:cNvPr id="6"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pic>
        <p:nvPicPr>
          <p:cNvPr id="7" name="Picture 2">
            <a:extLst>
              <a:ext uri="{FF2B5EF4-FFF2-40B4-BE49-F238E27FC236}">
                <a16:creationId xmlns:a16="http://schemas.microsoft.com/office/drawing/2014/main" id="{9CAB0595-4C45-4FCC-8A81-41C5DFA9E741}"/>
              </a:ext>
            </a:extLst>
          </p:cNvPr>
          <p:cNvPicPr>
            <a:picLocks noChangeAspect="1" noChangeArrowheads="1"/>
          </p:cNvPicPr>
          <p:nvPr/>
        </p:nvPicPr>
        <p:blipFill rotWithShape="1">
          <a:blip r:embed="rId3" cstate="print"/>
          <a:srcRect t="7210"/>
          <a:stretch/>
        </p:blipFill>
        <p:spPr bwMode="auto">
          <a:xfrm>
            <a:off x="4018651" y="3717032"/>
            <a:ext cx="5061278" cy="2300672"/>
          </a:xfrm>
          <a:prstGeom prst="rect">
            <a:avLst/>
          </a:prstGeom>
          <a:noFill/>
          <a:ln w="9525">
            <a:noFill/>
            <a:miter lim="800000"/>
            <a:headEnd/>
            <a:tailEnd/>
          </a:ln>
          <a:effectLst/>
        </p:spPr>
      </p:pic>
      <p:sp>
        <p:nvSpPr>
          <p:cNvPr id="8" name="文本框 7">
            <a:extLst>
              <a:ext uri="{FF2B5EF4-FFF2-40B4-BE49-F238E27FC236}">
                <a16:creationId xmlns:a16="http://schemas.microsoft.com/office/drawing/2014/main" id="{5F02988F-ED7D-4FF3-A38E-D249BD97D773}"/>
              </a:ext>
            </a:extLst>
          </p:cNvPr>
          <p:cNvSpPr txBox="1"/>
          <p:nvPr/>
        </p:nvSpPr>
        <p:spPr>
          <a:xfrm>
            <a:off x="138907" y="3350449"/>
            <a:ext cx="3929037" cy="2433230"/>
          </a:xfrm>
          <a:prstGeom prst="rect">
            <a:avLst/>
          </a:prstGeom>
          <a:noFill/>
        </p:spPr>
        <p:txBody>
          <a:bodyPr wrap="square">
            <a:spAutoFit/>
          </a:bodyPr>
          <a:lstStyle/>
          <a:p>
            <a:pPr lvl="0" eaLnBrk="0" hangingPunct="0">
              <a:lnSpc>
                <a:spcPct val="110000"/>
              </a:lnSpc>
            </a:pPr>
            <a:r>
              <a:rPr lang="en-US" altLang="zh-CN" sz="2000" b="1" dirty="0">
                <a:solidFill>
                  <a:srgbClr val="00B0F0"/>
                </a:solidFill>
                <a:latin typeface="Arial" panose="020B0604020202020204" pitchFamily="34" charset="0"/>
              </a:rPr>
              <a:t>1</a:t>
            </a:r>
            <a:r>
              <a:rPr lang="zh-CN" altLang="en-US" sz="2000" b="1" dirty="0">
                <a:solidFill>
                  <a:srgbClr val="00B0F0"/>
                </a:solidFill>
                <a:latin typeface="Arial" panose="020B0604020202020204" pitchFamily="34" charset="0"/>
              </a:rPr>
              <a:t>）</a:t>
            </a:r>
            <a:r>
              <a:rPr lang="en-US" altLang="zh-CN" sz="2000" b="1" dirty="0">
                <a:latin typeface="Arial" panose="020B0604020202020204" pitchFamily="34" charset="0"/>
              </a:rPr>
              <a:t>D7</a:t>
            </a:r>
            <a:r>
              <a:rPr lang="zh-CN" altLang="en-US" sz="2000" b="1" dirty="0">
                <a:latin typeface="Arial" panose="020B0604020202020204" pitchFamily="34" charset="0"/>
              </a:rPr>
              <a:t>～</a:t>
            </a:r>
            <a:r>
              <a:rPr lang="en-US" altLang="zh-CN" sz="2000" b="1" dirty="0">
                <a:latin typeface="Arial" panose="020B0604020202020204" pitchFamily="34" charset="0"/>
              </a:rPr>
              <a:t>D3</a:t>
            </a:r>
            <a:r>
              <a:rPr lang="zh-CN" altLang="en-US" sz="2000" b="1" dirty="0">
                <a:latin typeface="Arial" panose="020B0604020202020204" pitchFamily="34" charset="0"/>
              </a:rPr>
              <a:t>表示中断类型号的高</a:t>
            </a:r>
            <a:r>
              <a:rPr lang="en-US" altLang="zh-CN" sz="2000" b="1" dirty="0">
                <a:latin typeface="Arial" panose="020B0604020202020204" pitchFamily="34" charset="0"/>
              </a:rPr>
              <a:t>5</a:t>
            </a:r>
            <a:r>
              <a:rPr lang="zh-CN" altLang="en-US" sz="2000" b="1" dirty="0">
                <a:latin typeface="Arial" panose="020B0604020202020204" pitchFamily="34" charset="0"/>
              </a:rPr>
              <a:t>位，</a:t>
            </a:r>
            <a:r>
              <a:rPr lang="en-US" altLang="zh-CN" sz="2000" b="1" dirty="0">
                <a:latin typeface="Arial" panose="020B0604020202020204" pitchFamily="34" charset="0"/>
              </a:rPr>
              <a:t>D2</a:t>
            </a:r>
            <a:r>
              <a:rPr lang="zh-CN" altLang="en-US" sz="2000" b="1" dirty="0">
                <a:latin typeface="Arial" panose="020B0604020202020204" pitchFamily="34" charset="0"/>
              </a:rPr>
              <a:t>～</a:t>
            </a:r>
            <a:r>
              <a:rPr lang="en-US" altLang="zh-CN" sz="2000" b="1" dirty="0">
                <a:latin typeface="Arial" panose="020B0604020202020204" pitchFamily="34" charset="0"/>
              </a:rPr>
              <a:t>D0</a:t>
            </a:r>
            <a:r>
              <a:rPr lang="zh-CN" altLang="en-US" sz="2000" b="1" dirty="0">
                <a:latin typeface="Arial" panose="020B0604020202020204" pitchFamily="34" charset="0"/>
              </a:rPr>
              <a:t>固定为</a:t>
            </a:r>
            <a:r>
              <a:rPr lang="en-US" altLang="zh-CN" sz="2000" b="1" dirty="0">
                <a:latin typeface="Arial" panose="020B0604020202020204" pitchFamily="34" charset="0"/>
              </a:rPr>
              <a:t>0</a:t>
            </a:r>
            <a:r>
              <a:rPr lang="zh-CN" altLang="en-US" sz="2000" b="1" dirty="0">
                <a:latin typeface="Arial" panose="020B0604020202020204" pitchFamily="34" charset="0"/>
              </a:rPr>
              <a:t>。</a:t>
            </a:r>
            <a:endParaRPr lang="en-US" altLang="zh-CN" sz="2000" b="1" dirty="0">
              <a:latin typeface="Arial" panose="020B0604020202020204" pitchFamily="34" charset="0"/>
            </a:endParaRPr>
          </a:p>
          <a:p>
            <a:pPr lvl="0" eaLnBrk="0" hangingPunct="0">
              <a:lnSpc>
                <a:spcPct val="110000"/>
              </a:lnSpc>
            </a:pPr>
            <a:r>
              <a:rPr lang="en-US" altLang="zh-CN" sz="2000" b="1" dirty="0">
                <a:solidFill>
                  <a:srgbClr val="00B0F0"/>
                </a:solidFill>
                <a:latin typeface="Arial" panose="020B0604020202020204" pitchFamily="34" charset="0"/>
              </a:rPr>
              <a:t>2</a:t>
            </a:r>
            <a:r>
              <a:rPr lang="zh-CN" altLang="en-US" sz="2000" b="1" dirty="0">
                <a:solidFill>
                  <a:srgbClr val="00B0F0"/>
                </a:solidFill>
                <a:latin typeface="Arial" panose="020B0604020202020204" pitchFamily="34" charset="0"/>
              </a:rPr>
              <a:t>）</a:t>
            </a:r>
            <a:r>
              <a:rPr lang="en-US" altLang="zh-CN" sz="2000" b="1" dirty="0">
                <a:latin typeface="Arial" panose="020B0604020202020204" pitchFamily="34" charset="0"/>
              </a:rPr>
              <a:t>8259AIR</a:t>
            </a:r>
            <a:r>
              <a:rPr lang="en-US" altLang="zh-CN" sz="2000" b="1" baseline="-25000" dirty="0">
                <a:latin typeface="Arial" panose="020B0604020202020204" pitchFamily="34" charset="0"/>
              </a:rPr>
              <a:t>0</a:t>
            </a:r>
            <a:r>
              <a:rPr lang="en-US" altLang="zh-CN" sz="2000" b="1" dirty="0">
                <a:latin typeface="Arial" panose="020B0604020202020204" pitchFamily="34" charset="0"/>
              </a:rPr>
              <a:t>-IR</a:t>
            </a:r>
            <a:r>
              <a:rPr lang="en-US" altLang="zh-CN" sz="2000" b="1" baseline="-25000" dirty="0">
                <a:latin typeface="Arial" panose="020B0604020202020204" pitchFamily="34" charset="0"/>
              </a:rPr>
              <a:t>7</a:t>
            </a:r>
            <a:r>
              <a:rPr lang="zh-CN" altLang="en-US" sz="2000" b="1" dirty="0">
                <a:latin typeface="Arial" panose="020B0604020202020204" pitchFamily="34" charset="0"/>
              </a:rPr>
              <a:t>的中断类型号的高</a:t>
            </a:r>
            <a:r>
              <a:rPr lang="en-US" altLang="zh-CN" sz="2000" b="1" dirty="0">
                <a:latin typeface="Arial" panose="020B0604020202020204" pitchFamily="34" charset="0"/>
              </a:rPr>
              <a:t>5</a:t>
            </a:r>
            <a:r>
              <a:rPr lang="zh-CN" altLang="en-US" sz="2000" b="1" dirty="0">
                <a:latin typeface="Arial" panose="020B0604020202020204" pitchFamily="34" charset="0"/>
              </a:rPr>
              <a:t>位即为</a:t>
            </a:r>
            <a:r>
              <a:rPr lang="en-US" altLang="zh-CN" sz="2000" b="1" dirty="0">
                <a:latin typeface="Arial" panose="020B0604020202020204" pitchFamily="34" charset="0"/>
              </a:rPr>
              <a:t>ICW2</a:t>
            </a:r>
            <a:r>
              <a:rPr lang="zh-CN" altLang="en-US" sz="2000" b="1" dirty="0">
                <a:latin typeface="Arial" panose="020B0604020202020204" pitchFamily="34" charset="0"/>
              </a:rPr>
              <a:t>中的</a:t>
            </a:r>
            <a:r>
              <a:rPr lang="en-US" altLang="zh-CN" sz="2000" b="1" dirty="0">
                <a:latin typeface="Arial" panose="020B0604020202020204" pitchFamily="34" charset="0"/>
              </a:rPr>
              <a:t>D7</a:t>
            </a:r>
            <a:r>
              <a:rPr lang="zh-CN" altLang="en-US" sz="2000" b="1" dirty="0">
                <a:latin typeface="Arial" panose="020B0604020202020204" pitchFamily="34" charset="0"/>
              </a:rPr>
              <a:t>～</a:t>
            </a:r>
            <a:r>
              <a:rPr lang="en-US" altLang="zh-CN" sz="2000" b="1" dirty="0">
                <a:latin typeface="Arial" panose="020B0604020202020204" pitchFamily="34" charset="0"/>
              </a:rPr>
              <a:t>D3</a:t>
            </a:r>
            <a:r>
              <a:rPr lang="zh-CN" altLang="en-US" sz="2000" b="1" dirty="0">
                <a:latin typeface="Arial" panose="020B0604020202020204" pitchFamily="34" charset="0"/>
              </a:rPr>
              <a:t>，低</a:t>
            </a:r>
            <a:r>
              <a:rPr lang="en-US" altLang="zh-CN" sz="2000" b="1" dirty="0">
                <a:latin typeface="Arial" panose="020B0604020202020204" pitchFamily="34" charset="0"/>
              </a:rPr>
              <a:t>3</a:t>
            </a:r>
            <a:r>
              <a:rPr lang="zh-CN" altLang="en-US" sz="2000" b="1" dirty="0">
                <a:latin typeface="Arial" panose="020B0604020202020204" pitchFamily="34" charset="0"/>
              </a:rPr>
              <a:t>位由</a:t>
            </a:r>
            <a:r>
              <a:rPr lang="en-US" altLang="zh-CN" sz="2000" b="1" dirty="0">
                <a:latin typeface="Arial" panose="020B0604020202020204" pitchFamily="34" charset="0"/>
              </a:rPr>
              <a:t>IR</a:t>
            </a:r>
            <a:r>
              <a:rPr lang="en-US" altLang="zh-CN" sz="2000" b="1" baseline="-25000" dirty="0">
                <a:latin typeface="Arial" panose="020B0604020202020204" pitchFamily="34" charset="0"/>
              </a:rPr>
              <a:t>0</a:t>
            </a:r>
            <a:r>
              <a:rPr lang="zh-CN" altLang="en-US" sz="2000" b="1" dirty="0">
                <a:latin typeface="Arial" panose="020B0604020202020204" pitchFamily="34" charset="0"/>
              </a:rPr>
              <a:t>～</a:t>
            </a:r>
            <a:r>
              <a:rPr lang="en-US" altLang="zh-CN" sz="2000" b="1" dirty="0">
                <a:latin typeface="Arial" panose="020B0604020202020204" pitchFamily="34" charset="0"/>
              </a:rPr>
              <a:t>IR</a:t>
            </a:r>
            <a:r>
              <a:rPr lang="en-US" altLang="zh-CN" sz="2000" b="1" baseline="-25000" dirty="0">
                <a:latin typeface="Arial" panose="020B0604020202020204" pitchFamily="34" charset="0"/>
              </a:rPr>
              <a:t>7</a:t>
            </a:r>
            <a:r>
              <a:rPr lang="zh-CN" altLang="en-US" sz="2000" b="1" dirty="0">
                <a:latin typeface="Arial" panose="020B0604020202020204" pitchFamily="34" charset="0"/>
              </a:rPr>
              <a:t>中的序号决定。</a:t>
            </a:r>
          </a:p>
          <a:p>
            <a:pPr lvl="0" eaLnBrk="0" hangingPunct="0">
              <a:lnSpc>
                <a:spcPct val="110000"/>
              </a:lnSpc>
            </a:pPr>
            <a:r>
              <a:rPr lang="en-US" altLang="zh-CN" sz="2000" b="1" dirty="0">
                <a:solidFill>
                  <a:srgbClr val="00B0F0"/>
                </a:solidFill>
                <a:latin typeface="Arial" panose="020B0604020202020204" pitchFamily="34" charset="0"/>
              </a:rPr>
              <a:t>3</a:t>
            </a:r>
            <a:r>
              <a:rPr lang="zh-CN" altLang="en-US" sz="2000" b="1" dirty="0">
                <a:solidFill>
                  <a:srgbClr val="00B0F0"/>
                </a:solidFill>
                <a:latin typeface="Arial" panose="020B0604020202020204" pitchFamily="34" charset="0"/>
              </a:rPr>
              <a:t>）</a:t>
            </a:r>
            <a:r>
              <a:rPr lang="en-US" altLang="zh-CN" sz="2000" b="1" dirty="0">
                <a:latin typeface="Arial" panose="020B0604020202020204" pitchFamily="34" charset="0"/>
              </a:rPr>
              <a:t>ICW2</a:t>
            </a:r>
            <a:r>
              <a:rPr lang="zh-CN" altLang="en-US" sz="2000" b="1" dirty="0">
                <a:latin typeface="Arial" panose="020B0604020202020204" pitchFamily="34" charset="0"/>
              </a:rPr>
              <a:t>必须写入奇地址，即</a:t>
            </a:r>
            <a:r>
              <a:rPr lang="en-US" altLang="zh-CN" sz="2000" b="1" dirty="0">
                <a:latin typeface="Arial" panose="020B0604020202020204" pitchFamily="34" charset="0"/>
              </a:rPr>
              <a:t>A0=1</a:t>
            </a:r>
            <a:r>
              <a:rPr lang="zh-CN" altLang="en-US" sz="2000" b="1" dirty="0">
                <a:latin typeface="Arial" panose="020B0604020202020204" pitchFamily="34" charset="0"/>
              </a:rPr>
              <a:t>。</a:t>
            </a:r>
            <a:endParaRPr lang="en-US" altLang="zh-CN" sz="2000" b="1" dirty="0">
              <a:latin typeface="Arial" panose="020B0604020202020204" pitchFamily="34" charset="0"/>
            </a:endParaRPr>
          </a:p>
        </p:txBody>
      </p:sp>
      <p:sp>
        <p:nvSpPr>
          <p:cNvPr id="3" name="文本框 2">
            <a:extLst>
              <a:ext uri="{FF2B5EF4-FFF2-40B4-BE49-F238E27FC236}">
                <a16:creationId xmlns:a16="http://schemas.microsoft.com/office/drawing/2014/main" id="{B060EB03-8459-4218-9003-85C6159DBAED}"/>
              </a:ext>
            </a:extLst>
          </p:cNvPr>
          <p:cNvSpPr txBox="1"/>
          <p:nvPr/>
        </p:nvSpPr>
        <p:spPr>
          <a:xfrm>
            <a:off x="4895701" y="3347700"/>
            <a:ext cx="3608386" cy="369332"/>
          </a:xfrm>
          <a:prstGeom prst="rect">
            <a:avLst/>
          </a:prstGeom>
          <a:noFill/>
        </p:spPr>
        <p:txBody>
          <a:bodyPr wrap="square" rtlCol="0">
            <a:spAutoFit/>
          </a:bodyPr>
          <a:lstStyle/>
          <a:p>
            <a:r>
              <a:rPr lang="en-US" altLang="zh-CN" dirty="0"/>
              <a:t>PC/XT</a:t>
            </a:r>
            <a:r>
              <a:rPr lang="zh-CN" altLang="en-US" dirty="0"/>
              <a:t>机</a:t>
            </a:r>
            <a:r>
              <a:rPr lang="en-US" altLang="zh-CN" dirty="0"/>
              <a:t>8259A</a:t>
            </a:r>
            <a:r>
              <a:rPr lang="zh-CN" altLang="en-US" dirty="0"/>
              <a:t>的</a:t>
            </a:r>
            <a:r>
              <a:rPr lang="en-US" altLang="zh-CN" dirty="0"/>
              <a:t>8</a:t>
            </a:r>
            <a:r>
              <a:rPr lang="zh-CN" altLang="en-US" dirty="0"/>
              <a:t>级中断类型号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4282173-4108-383D-26F6-D7078DF3F4FB}"/>
              </a:ext>
            </a:extLst>
          </p:cNvPr>
          <p:cNvSpPr txBox="1"/>
          <p:nvPr/>
        </p:nvSpPr>
        <p:spPr>
          <a:xfrm>
            <a:off x="467544" y="836712"/>
            <a:ext cx="7560840" cy="4832092"/>
          </a:xfrm>
          <a:prstGeom prst="rect">
            <a:avLst/>
          </a:prstGeom>
          <a:noFill/>
        </p:spPr>
        <p:txBody>
          <a:bodyPr wrap="square">
            <a:spAutoFit/>
          </a:bodyPr>
          <a:lstStyle/>
          <a:p>
            <a:r>
              <a:rPr lang="en-US" altLang="zh-CN" sz="2400" b="1" dirty="0">
                <a:solidFill>
                  <a:srgbClr val="0000FF"/>
                </a:solidFill>
                <a:latin typeface="Arial" panose="020B0604020202020204" pitchFamily="34" charset="0"/>
              </a:rPr>
              <a:t>【</a:t>
            </a:r>
            <a:r>
              <a:rPr lang="zh-CN" altLang="en-US" sz="2400" b="1" dirty="0">
                <a:solidFill>
                  <a:srgbClr val="0000FF"/>
                </a:solidFill>
                <a:latin typeface="Arial" panose="020B0604020202020204" pitchFamily="34" charset="0"/>
              </a:rPr>
              <a:t>例 </a:t>
            </a:r>
            <a:r>
              <a:rPr lang="en-US" altLang="zh-CN" sz="2400" b="1" dirty="0">
                <a:solidFill>
                  <a:srgbClr val="0000FF"/>
                </a:solidFill>
                <a:latin typeface="Arial" panose="020B0604020202020204" pitchFamily="34" charset="0"/>
              </a:rPr>
              <a:t>8.2】</a:t>
            </a:r>
            <a:r>
              <a:rPr lang="zh-CN" altLang="en-US" sz="2400" b="1" dirty="0">
                <a:latin typeface="Arial" panose="020B0604020202020204" pitchFamily="34" charset="0"/>
              </a:rPr>
              <a:t>已知 </a:t>
            </a:r>
            <a:r>
              <a:rPr lang="en-US" altLang="zh-CN" sz="2400" b="1" dirty="0">
                <a:latin typeface="Arial" panose="020B0604020202020204" pitchFamily="34" charset="0"/>
              </a:rPr>
              <a:t>8259A </a:t>
            </a:r>
            <a:r>
              <a:rPr lang="zh-CN" altLang="en-US" sz="2400" b="1" dirty="0">
                <a:latin typeface="Arial" panose="020B0604020202020204" pitchFamily="34" charset="0"/>
              </a:rPr>
              <a:t>的 </a:t>
            </a:r>
            <a:r>
              <a:rPr lang="en-US" altLang="zh-CN" sz="2400" b="1" dirty="0">
                <a:latin typeface="Arial" panose="020B0604020202020204" pitchFamily="34" charset="0"/>
              </a:rPr>
              <a:t>ICW2=10H</a:t>
            </a:r>
            <a:r>
              <a:rPr lang="zh-CN" altLang="en-US" sz="2400" b="1" dirty="0">
                <a:latin typeface="Arial" panose="020B0604020202020204" pitchFamily="34" charset="0"/>
              </a:rPr>
              <a:t>，分析 </a:t>
            </a:r>
            <a:r>
              <a:rPr lang="en-US" altLang="zh-CN" sz="2400" b="1" dirty="0">
                <a:latin typeface="Arial" panose="020B0604020202020204" pitchFamily="34" charset="0"/>
              </a:rPr>
              <a:t>8259A </a:t>
            </a:r>
            <a:r>
              <a:rPr lang="zh-CN" altLang="en-US" sz="2400" b="1" dirty="0">
                <a:latin typeface="Arial" panose="020B0604020202020204" pitchFamily="34" charset="0"/>
              </a:rPr>
              <a:t>的 </a:t>
            </a:r>
            <a:r>
              <a:rPr lang="en-US" altLang="zh-CN" sz="2400" b="1" dirty="0">
                <a:latin typeface="Arial" panose="020B0604020202020204" pitchFamily="34" charset="0"/>
              </a:rPr>
              <a:t>IR</a:t>
            </a:r>
            <a:r>
              <a:rPr lang="en-US" altLang="zh-CN" sz="2400" b="1" baseline="-25000" dirty="0">
                <a:latin typeface="Arial" panose="020B0604020202020204" pitchFamily="34" charset="0"/>
              </a:rPr>
              <a:t>2</a:t>
            </a:r>
            <a:r>
              <a:rPr lang="en-US" altLang="zh-CN" sz="2400" b="1" dirty="0">
                <a:latin typeface="Arial" panose="020B0604020202020204" pitchFamily="34" charset="0"/>
              </a:rPr>
              <a:t> </a:t>
            </a:r>
            <a:r>
              <a:rPr lang="zh-CN" altLang="en-US" sz="2400" b="1" dirty="0">
                <a:latin typeface="Arial" panose="020B0604020202020204" pitchFamily="34" charset="0"/>
              </a:rPr>
              <a:t>的中断向量在中断向量表中是如何存放的？ </a:t>
            </a:r>
            <a:endParaRPr lang="en-US" altLang="zh-CN" sz="2400" b="1" dirty="0">
              <a:latin typeface="Arial" panose="020B0604020202020204" pitchFamily="34" charset="0"/>
            </a:endParaRPr>
          </a:p>
          <a:p>
            <a:endParaRPr lang="en-US" altLang="zh-CN" sz="2000" dirty="0"/>
          </a:p>
          <a:p>
            <a:r>
              <a:rPr lang="zh-CN" altLang="en-US" sz="2400" dirty="0"/>
              <a:t>解析：</a:t>
            </a:r>
            <a:endParaRPr lang="en-US" altLang="zh-CN" sz="2400" dirty="0"/>
          </a:p>
          <a:p>
            <a:r>
              <a:rPr lang="zh-CN" altLang="en-US" sz="2400" dirty="0"/>
              <a:t> </a:t>
            </a:r>
            <a:r>
              <a:rPr lang="en-US" altLang="zh-CN" sz="2400" dirty="0"/>
              <a:t>1) IR</a:t>
            </a:r>
            <a:r>
              <a:rPr lang="en-US" altLang="zh-CN" sz="2400" baseline="-25000" dirty="0"/>
              <a:t>2</a:t>
            </a:r>
            <a:r>
              <a:rPr lang="en-US" altLang="zh-CN" sz="2400" dirty="0"/>
              <a:t> </a:t>
            </a:r>
            <a:r>
              <a:rPr lang="zh-CN" altLang="en-US" sz="2400" dirty="0"/>
              <a:t>的中断类型号的高 </a:t>
            </a:r>
            <a:r>
              <a:rPr lang="en-US" altLang="zh-CN" sz="2400" dirty="0"/>
              <a:t>5 </a:t>
            </a:r>
            <a:r>
              <a:rPr lang="zh-CN" altLang="en-US" sz="2400" dirty="0"/>
              <a:t>位为 </a:t>
            </a:r>
            <a:r>
              <a:rPr lang="en-US" altLang="zh-CN" sz="2400" dirty="0"/>
              <a:t>ICW2 </a:t>
            </a:r>
            <a:r>
              <a:rPr lang="zh-CN" altLang="en-US" sz="2400" dirty="0"/>
              <a:t>的高 </a:t>
            </a:r>
            <a:r>
              <a:rPr lang="en-US" altLang="zh-CN" sz="2400" dirty="0"/>
              <a:t>5 </a:t>
            </a:r>
            <a:r>
              <a:rPr lang="zh-CN" altLang="en-US" sz="2400" dirty="0"/>
              <a:t>位，低 </a:t>
            </a:r>
            <a:r>
              <a:rPr lang="en-US" altLang="zh-CN" sz="2400" dirty="0"/>
              <a:t>3 </a:t>
            </a:r>
            <a:r>
              <a:rPr lang="zh-CN" altLang="en-US" sz="2400" dirty="0"/>
              <a:t>位为 </a:t>
            </a:r>
            <a:r>
              <a:rPr lang="en-US" altLang="zh-CN" sz="2400" dirty="0"/>
              <a:t>IR</a:t>
            </a:r>
            <a:r>
              <a:rPr lang="en-US" altLang="zh-CN" sz="2400" baseline="-25000" dirty="0"/>
              <a:t>2</a:t>
            </a:r>
            <a:r>
              <a:rPr lang="en-US" altLang="zh-CN" sz="2400" dirty="0"/>
              <a:t> </a:t>
            </a:r>
            <a:r>
              <a:rPr lang="zh-CN" altLang="en-US" sz="2400" dirty="0"/>
              <a:t>的序号 </a:t>
            </a:r>
            <a:r>
              <a:rPr lang="en-US" altLang="zh-CN" sz="2400" dirty="0"/>
              <a:t>2</a:t>
            </a:r>
            <a:r>
              <a:rPr lang="zh-CN" altLang="en-US" sz="2400" dirty="0"/>
              <a:t>。 </a:t>
            </a:r>
            <a:r>
              <a:rPr lang="en-US" altLang="zh-CN" sz="2400" dirty="0">
                <a:solidFill>
                  <a:srgbClr val="FF00FF"/>
                </a:solidFill>
              </a:rPr>
              <a:t>ICW2=10H=00010000B</a:t>
            </a:r>
            <a:r>
              <a:rPr lang="zh-CN" altLang="en-US" sz="2400" dirty="0"/>
              <a:t>，</a:t>
            </a:r>
            <a:endParaRPr lang="en-US" altLang="zh-CN" sz="2400" dirty="0"/>
          </a:p>
          <a:p>
            <a:r>
              <a:rPr lang="zh-CN" altLang="en-US" sz="2400" dirty="0"/>
              <a:t>故</a:t>
            </a:r>
            <a:r>
              <a:rPr lang="en-US" altLang="zh-CN" sz="2400" dirty="0">
                <a:solidFill>
                  <a:srgbClr val="FF00FF"/>
                </a:solidFill>
              </a:rPr>
              <a:t>IR</a:t>
            </a:r>
            <a:r>
              <a:rPr lang="en-US" altLang="zh-CN" sz="2400" baseline="-25000" dirty="0">
                <a:solidFill>
                  <a:srgbClr val="FF00FF"/>
                </a:solidFill>
              </a:rPr>
              <a:t>2</a:t>
            </a:r>
            <a:r>
              <a:rPr lang="zh-CN" altLang="en-US" sz="2400" dirty="0">
                <a:solidFill>
                  <a:srgbClr val="FF00FF"/>
                </a:solidFill>
              </a:rPr>
              <a:t>的中断类型号 </a:t>
            </a:r>
            <a:r>
              <a:rPr lang="en-US" altLang="zh-CN" sz="2400" dirty="0">
                <a:solidFill>
                  <a:srgbClr val="FF00FF"/>
                </a:solidFill>
              </a:rPr>
              <a:t>n=00010010B=12H</a:t>
            </a:r>
            <a:r>
              <a:rPr lang="zh-CN" altLang="en-US" sz="2400" dirty="0"/>
              <a:t>。</a:t>
            </a:r>
            <a:endParaRPr lang="en-US" altLang="zh-CN" sz="2400" dirty="0"/>
          </a:p>
          <a:p>
            <a:endParaRPr lang="en-US" altLang="zh-CN" sz="2400" dirty="0"/>
          </a:p>
          <a:p>
            <a:r>
              <a:rPr lang="zh-CN" altLang="en-US" sz="2400" dirty="0"/>
              <a:t> </a:t>
            </a:r>
            <a:r>
              <a:rPr lang="en-US" altLang="zh-CN" sz="2400" dirty="0"/>
              <a:t>2) </a:t>
            </a:r>
            <a:r>
              <a:rPr lang="zh-CN" altLang="en-US" sz="2400" dirty="0"/>
              <a:t>中断向量应存放在中断向量表中 </a:t>
            </a:r>
            <a:r>
              <a:rPr lang="en-US" altLang="zh-CN" sz="2400" dirty="0"/>
              <a:t>4n </a:t>
            </a:r>
            <a:r>
              <a:rPr lang="zh-CN" altLang="en-US" sz="2400" dirty="0"/>
              <a:t>开始的连续 </a:t>
            </a:r>
            <a:r>
              <a:rPr lang="en-US" altLang="zh-CN" sz="2400" dirty="0"/>
              <a:t>4 </a:t>
            </a:r>
            <a:r>
              <a:rPr lang="zh-CN" altLang="en-US" sz="2400" dirty="0"/>
              <a:t>个单元中</a:t>
            </a:r>
            <a:r>
              <a:rPr lang="en-US" altLang="zh-CN" sz="2400" dirty="0"/>
              <a:t>,</a:t>
            </a:r>
            <a:r>
              <a:rPr lang="zh-CN" altLang="en-US" sz="2400" dirty="0"/>
              <a:t>其中 </a:t>
            </a:r>
            <a:r>
              <a:rPr lang="en-US" altLang="zh-CN" sz="2400" dirty="0"/>
              <a:t>4n </a:t>
            </a:r>
            <a:r>
              <a:rPr lang="zh-CN" altLang="en-US" sz="2400" dirty="0"/>
              <a:t>和 </a:t>
            </a:r>
            <a:r>
              <a:rPr lang="en-US" altLang="zh-CN" sz="2400" dirty="0"/>
              <a:t>4n+1 </a:t>
            </a:r>
            <a:r>
              <a:rPr lang="zh-CN" altLang="en-US" sz="2400" dirty="0"/>
              <a:t>存放断向量的偏移地址，</a:t>
            </a:r>
            <a:r>
              <a:rPr lang="en-US" altLang="zh-CN" sz="2400" dirty="0"/>
              <a:t>4n+2 </a:t>
            </a:r>
            <a:r>
              <a:rPr lang="zh-CN" altLang="en-US" sz="2400" dirty="0"/>
              <a:t>和 </a:t>
            </a:r>
            <a:r>
              <a:rPr lang="en-US" altLang="zh-CN" sz="2400" dirty="0"/>
              <a:t>4n+3 </a:t>
            </a:r>
            <a:r>
              <a:rPr lang="zh-CN" altLang="en-US" sz="2400" dirty="0"/>
              <a:t>存放中断向量的段地址。 因此，</a:t>
            </a:r>
            <a:r>
              <a:rPr lang="en-US" altLang="zh-CN" sz="2400" dirty="0">
                <a:solidFill>
                  <a:srgbClr val="FF00FF"/>
                </a:solidFill>
              </a:rPr>
              <a:t>4×12H=48H</a:t>
            </a:r>
            <a:r>
              <a:rPr lang="zh-CN" altLang="en-US" sz="2400" dirty="0"/>
              <a:t>，</a:t>
            </a:r>
            <a:r>
              <a:rPr lang="en-US" altLang="zh-CN" sz="2400" dirty="0">
                <a:solidFill>
                  <a:srgbClr val="FF00FF"/>
                </a:solidFill>
              </a:rPr>
              <a:t>00048H </a:t>
            </a:r>
            <a:r>
              <a:rPr lang="zh-CN" altLang="en-US" sz="2400" dirty="0">
                <a:solidFill>
                  <a:srgbClr val="FF00FF"/>
                </a:solidFill>
              </a:rPr>
              <a:t>和 </a:t>
            </a:r>
            <a:r>
              <a:rPr lang="en-US" altLang="zh-CN" sz="2400" dirty="0">
                <a:solidFill>
                  <a:srgbClr val="FF00FF"/>
                </a:solidFill>
              </a:rPr>
              <a:t>00049H </a:t>
            </a:r>
            <a:r>
              <a:rPr lang="zh-CN" altLang="en-US" sz="2400" dirty="0">
                <a:solidFill>
                  <a:srgbClr val="FF00FF"/>
                </a:solidFill>
              </a:rPr>
              <a:t>存放中断向量的偏移地址，</a:t>
            </a:r>
            <a:r>
              <a:rPr lang="en-US" altLang="zh-CN" sz="2400" dirty="0">
                <a:solidFill>
                  <a:srgbClr val="FF00FF"/>
                </a:solidFill>
              </a:rPr>
              <a:t>0004AH </a:t>
            </a:r>
            <a:r>
              <a:rPr lang="zh-CN" altLang="en-US" sz="2400" dirty="0">
                <a:solidFill>
                  <a:srgbClr val="FF00FF"/>
                </a:solidFill>
              </a:rPr>
              <a:t>和 </a:t>
            </a:r>
            <a:r>
              <a:rPr lang="en-US" altLang="zh-CN" sz="2400" dirty="0">
                <a:solidFill>
                  <a:srgbClr val="FF00FF"/>
                </a:solidFill>
              </a:rPr>
              <a:t>0004BH </a:t>
            </a:r>
            <a:r>
              <a:rPr lang="zh-CN" altLang="en-US" sz="2400" dirty="0">
                <a:solidFill>
                  <a:srgbClr val="FF00FF"/>
                </a:solidFill>
              </a:rPr>
              <a:t>存放中断向量的段地址。</a:t>
            </a:r>
          </a:p>
        </p:txBody>
      </p:sp>
      <p:sp>
        <p:nvSpPr>
          <p:cNvPr id="5"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extLst>
      <p:ext uri="{BB962C8B-B14F-4D97-AF65-F5344CB8AC3E}">
        <p14:creationId xmlns:p14="http://schemas.microsoft.com/office/powerpoint/2010/main" val="7632321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3" name="文本框 332802"/>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32804" name="文本框 332803"/>
          <p:cNvSpPr txBox="1"/>
          <p:nvPr/>
        </p:nvSpPr>
        <p:spPr>
          <a:xfrm>
            <a:off x="250825" y="765175"/>
            <a:ext cx="8642350" cy="4785413"/>
          </a:xfrm>
          <a:prstGeom prst="rect">
            <a:avLst/>
          </a:prstGeom>
          <a:noFill/>
          <a:ln w="9525">
            <a:noFill/>
          </a:ln>
        </p:spPr>
        <p:txBody>
          <a:bodyPr>
            <a:spAutoFit/>
          </a:bodyPr>
          <a:lstStyle/>
          <a:p>
            <a:pPr lvl="0" eaLnBrk="0" hangingPunct="0">
              <a:lnSpc>
                <a:spcPct val="105000"/>
              </a:lnSpc>
            </a:pPr>
            <a:r>
              <a:rPr lang="zh-CN" altLang="zh-CN" sz="2400" b="1" dirty="0">
                <a:solidFill>
                  <a:srgbClr val="FF00FF"/>
                </a:solidFill>
                <a:latin typeface="Arial" panose="020B0604020202020204" pitchFamily="34" charset="0"/>
              </a:rPr>
              <a:t>（3）ICW3</a:t>
            </a:r>
          </a:p>
          <a:p>
            <a:pPr lvl="0" eaLnBrk="0" hangingPunct="0">
              <a:lnSpc>
                <a:spcPct val="105000"/>
              </a:lnSpc>
            </a:pPr>
            <a:r>
              <a:rPr lang="zh-CN" altLang="en-US" sz="2400" b="1" dirty="0">
                <a:latin typeface="Arial" panose="020B0604020202020204" pitchFamily="34" charset="0"/>
              </a:rPr>
              <a:t>	</a:t>
            </a:r>
            <a:r>
              <a:rPr lang="zh-CN" altLang="zh-CN" sz="2400" b="1" dirty="0">
                <a:latin typeface="Arial" panose="020B0604020202020204" pitchFamily="34" charset="0"/>
              </a:rPr>
              <a:t>仅在多片8259A级联时写入，主片和从片分别</a:t>
            </a:r>
            <a:r>
              <a:rPr lang="zh-CN" altLang="en-US" sz="2400" b="1" dirty="0">
                <a:latin typeface="Arial" panose="020B0604020202020204" pitchFamily="34" charset="0"/>
              </a:rPr>
              <a:t>写入，</a:t>
            </a:r>
            <a:r>
              <a:rPr lang="zh-CN" altLang="zh-CN" sz="2400" b="1" dirty="0">
                <a:latin typeface="Arial" panose="020B0604020202020204" pitchFamily="34" charset="0"/>
              </a:rPr>
              <a:t>格式不同</a:t>
            </a:r>
            <a:r>
              <a:rPr lang="zh-CN" altLang="en-US" sz="2400" b="1" dirty="0">
                <a:latin typeface="Arial" panose="020B0604020202020204" pitchFamily="34" charset="0"/>
              </a:rPr>
              <a:t>。</a:t>
            </a:r>
            <a:endParaRPr lang="zh-CN" altLang="zh-CN" sz="2400" b="1" dirty="0">
              <a:latin typeface="Arial" panose="020B0604020202020204" pitchFamily="34" charset="0"/>
            </a:endParaRPr>
          </a:p>
          <a:p>
            <a:pPr lvl="0" eaLnBrk="0" hangingPunct="0">
              <a:lnSpc>
                <a:spcPct val="105000"/>
              </a:lnSpc>
            </a:pPr>
            <a:r>
              <a:rPr lang="zh-CN" altLang="zh-CN" sz="2400" b="1" dirty="0">
                <a:latin typeface="Arial" panose="020B0604020202020204" pitchFamily="34" charset="0"/>
              </a:rPr>
              <a:t>	</a:t>
            </a:r>
            <a:endParaRPr lang="zh-CN" altLang="en-US" sz="2400" b="1" dirty="0">
              <a:latin typeface="Arial" panose="020B0604020202020204" pitchFamily="34" charset="0"/>
            </a:endParaRPr>
          </a:p>
          <a:p>
            <a:pPr lvl="0" eaLnBrk="0" hangingPunct="0">
              <a:lnSpc>
                <a:spcPct val="105000"/>
              </a:lnSpc>
            </a:pPr>
            <a:endParaRPr lang="zh-CN" altLang="en-US" sz="2400" b="1" dirty="0">
              <a:latin typeface="Arial" panose="020B0604020202020204" pitchFamily="34" charset="0"/>
            </a:endParaRPr>
          </a:p>
          <a:p>
            <a:pPr lvl="0" eaLnBrk="0" hangingPunct="0">
              <a:lnSpc>
                <a:spcPct val="105000"/>
              </a:lnSpc>
            </a:pPr>
            <a:endParaRPr lang="zh-CN" altLang="en-US" sz="2400" b="1" dirty="0">
              <a:latin typeface="Arial" panose="020B0604020202020204" pitchFamily="34" charset="0"/>
            </a:endParaRPr>
          </a:p>
          <a:p>
            <a:pPr lvl="0" eaLnBrk="0" hangingPunct="0">
              <a:lnSpc>
                <a:spcPct val="105000"/>
              </a:lnSpc>
            </a:pPr>
            <a:endParaRPr lang="zh-CN" altLang="en-US" sz="2400" b="1" dirty="0">
              <a:latin typeface="Arial" panose="020B0604020202020204" pitchFamily="34" charset="0"/>
            </a:endParaRPr>
          </a:p>
          <a:p>
            <a:pPr lvl="0" eaLnBrk="0" hangingPunct="0">
              <a:lnSpc>
                <a:spcPct val="105000"/>
              </a:lnSpc>
            </a:pPr>
            <a:endParaRPr lang="zh-CN" altLang="en-US" sz="2400" b="1" dirty="0">
              <a:latin typeface="Arial" panose="020B0604020202020204" pitchFamily="34" charset="0"/>
            </a:endParaRPr>
          </a:p>
          <a:p>
            <a:pPr lvl="0" eaLnBrk="0" hangingPunct="0">
              <a:lnSpc>
                <a:spcPct val="105000"/>
              </a:lnSpc>
            </a:pPr>
            <a:r>
              <a:rPr lang="en-US" altLang="zh-CN" sz="2000" b="1" dirty="0">
                <a:solidFill>
                  <a:srgbClr val="00B0F0"/>
                </a:solidFill>
                <a:latin typeface="Arial" panose="020B0604020202020204" pitchFamily="34" charset="0"/>
              </a:rPr>
              <a:t>1</a:t>
            </a:r>
            <a:r>
              <a:rPr lang="zh-CN" altLang="en-US" sz="2000" b="1" dirty="0">
                <a:solidFill>
                  <a:srgbClr val="00B0F0"/>
                </a:solidFill>
                <a:latin typeface="Arial" panose="020B0604020202020204" pitchFamily="34" charset="0"/>
              </a:rPr>
              <a:t>）</a:t>
            </a:r>
            <a:r>
              <a:rPr lang="zh-CN" altLang="zh-CN" sz="2000" b="1" dirty="0">
                <a:latin typeface="Arial" panose="020B0604020202020204" pitchFamily="34" charset="0"/>
              </a:rPr>
              <a:t>主片ICW3</a:t>
            </a:r>
            <a:r>
              <a:rPr lang="zh-CN" altLang="en-US" sz="2000" b="1" dirty="0">
                <a:latin typeface="Arial" panose="020B0604020202020204" pitchFamily="34" charset="0"/>
              </a:rPr>
              <a:t>：</a:t>
            </a:r>
            <a:r>
              <a:rPr lang="zh-CN" altLang="zh-CN" sz="2000" b="1" dirty="0">
                <a:latin typeface="Arial" panose="020B0604020202020204" pitchFamily="34" charset="0"/>
              </a:rPr>
              <a:t>D7～D0分别对应其8条中断请求输入线IR</a:t>
            </a:r>
            <a:r>
              <a:rPr lang="en-US" altLang="zh-CN" sz="2000" b="1" dirty="0">
                <a:latin typeface="Arial" panose="020B0604020202020204" pitchFamily="34" charset="0"/>
              </a:rPr>
              <a:t>7</a:t>
            </a:r>
            <a:r>
              <a:rPr lang="zh-CN" altLang="zh-CN" sz="2000" b="1" dirty="0">
                <a:latin typeface="Arial" panose="020B0604020202020204" pitchFamily="34" charset="0"/>
              </a:rPr>
              <a:t>～IR</a:t>
            </a:r>
            <a:r>
              <a:rPr lang="en-US" altLang="zh-CN" sz="2000" b="1" dirty="0">
                <a:latin typeface="Arial" panose="020B0604020202020204" pitchFamily="34" charset="0"/>
              </a:rPr>
              <a:t>0</a:t>
            </a:r>
            <a:r>
              <a:rPr lang="zh-CN" altLang="zh-CN" sz="2000" b="1" dirty="0">
                <a:latin typeface="Arial" panose="020B0604020202020204" pitchFamily="34" charset="0"/>
              </a:rPr>
              <a:t>，若某条线上接有从片</a:t>
            </a:r>
            <a:r>
              <a:rPr lang="zh-CN" altLang="en-US" sz="2000" b="1" dirty="0">
                <a:latin typeface="Arial" panose="020B0604020202020204" pitchFamily="34" charset="0"/>
              </a:rPr>
              <a:t>，</a:t>
            </a:r>
            <a:r>
              <a:rPr lang="zh-CN" altLang="zh-CN" sz="2000" b="1" dirty="0">
                <a:latin typeface="Arial" panose="020B0604020202020204" pitchFamily="34" charset="0"/>
              </a:rPr>
              <a:t>则其对应位为“1”，否则为“0”。</a:t>
            </a:r>
            <a:endParaRPr lang="en-US" altLang="zh-CN" sz="2000" b="1" dirty="0">
              <a:latin typeface="Arial" panose="020B0604020202020204" pitchFamily="34" charset="0"/>
            </a:endParaRPr>
          </a:p>
          <a:p>
            <a:pPr lvl="0" eaLnBrk="0" hangingPunct="0">
              <a:lnSpc>
                <a:spcPct val="105000"/>
              </a:lnSpc>
            </a:pPr>
            <a:r>
              <a:rPr lang="en-US" altLang="zh-CN" sz="2000" b="1" dirty="0">
                <a:solidFill>
                  <a:srgbClr val="00B0F0"/>
                </a:solidFill>
                <a:latin typeface="Arial" panose="020B0604020202020204" pitchFamily="34" charset="0"/>
              </a:rPr>
              <a:t>2</a:t>
            </a:r>
            <a:r>
              <a:rPr lang="zh-CN" altLang="en-US" sz="2000" b="1" dirty="0">
                <a:solidFill>
                  <a:srgbClr val="00B0F0"/>
                </a:solidFill>
                <a:latin typeface="Arial" panose="020B0604020202020204" pitchFamily="34" charset="0"/>
              </a:rPr>
              <a:t>）</a:t>
            </a:r>
            <a:r>
              <a:rPr lang="zh-CN" altLang="zh-CN" sz="2000" b="1" dirty="0">
                <a:latin typeface="Arial" panose="020B0604020202020204" pitchFamily="34" charset="0"/>
              </a:rPr>
              <a:t>从片ICW3</a:t>
            </a:r>
            <a:r>
              <a:rPr lang="zh-CN" altLang="en-US" sz="2000" b="1" dirty="0">
                <a:latin typeface="Arial" panose="020B0604020202020204" pitchFamily="34" charset="0"/>
              </a:rPr>
              <a:t>：</a:t>
            </a:r>
            <a:r>
              <a:rPr lang="zh-CN" altLang="zh-CN" sz="2000" b="1" dirty="0">
                <a:latin typeface="Arial" panose="020B0604020202020204" pitchFamily="34" charset="0"/>
              </a:rPr>
              <a:t>D7～D3固定为0，D2～D0为从片标志码，表示该从片与主片的哪个中断请求输入线连接。</a:t>
            </a:r>
            <a:endParaRPr lang="zh-CN" altLang="en-US" sz="2000" b="1" dirty="0">
              <a:latin typeface="Arial" panose="020B0604020202020204" pitchFamily="34" charset="0"/>
            </a:endParaRPr>
          </a:p>
          <a:p>
            <a:pPr lvl="0" eaLnBrk="0" hangingPunct="0">
              <a:lnSpc>
                <a:spcPct val="105000"/>
              </a:lnSpc>
            </a:pPr>
            <a:r>
              <a:rPr lang="en-US" altLang="zh-CN" sz="2000" b="1" dirty="0">
                <a:solidFill>
                  <a:srgbClr val="00B0F0"/>
                </a:solidFill>
                <a:latin typeface="Arial" panose="020B0604020202020204" pitchFamily="34" charset="0"/>
              </a:rPr>
              <a:t>3</a:t>
            </a:r>
            <a:r>
              <a:rPr lang="zh-CN" altLang="en-US" sz="2000" b="1" dirty="0">
                <a:solidFill>
                  <a:srgbClr val="00B0F0"/>
                </a:solidFill>
                <a:latin typeface="Arial" panose="020B0604020202020204" pitchFamily="34" charset="0"/>
              </a:rPr>
              <a:t>）</a:t>
            </a:r>
            <a:r>
              <a:rPr lang="zh-CN" altLang="zh-CN" sz="2000" b="1" dirty="0">
                <a:latin typeface="Arial" panose="020B0604020202020204" pitchFamily="34" charset="0"/>
              </a:rPr>
              <a:t>ICW3只有在ICW1的D1=0时才需写入，且必须写入奇地址，即A0=1。</a:t>
            </a:r>
            <a:endParaRPr lang="en-US" altLang="zh-CN" sz="2000" b="1" dirty="0">
              <a:latin typeface="Arial" panose="020B0604020202020204" pitchFamily="34" charset="0"/>
            </a:endParaRPr>
          </a:p>
        </p:txBody>
      </p:sp>
      <p:pic>
        <p:nvPicPr>
          <p:cNvPr id="332806" name="图片 332805"/>
          <p:cNvPicPr>
            <a:picLocks noChangeAspect="1"/>
          </p:cNvPicPr>
          <p:nvPr/>
        </p:nvPicPr>
        <p:blipFill>
          <a:blip r:embed="rId2"/>
          <a:stretch>
            <a:fillRect/>
          </a:stretch>
        </p:blipFill>
        <p:spPr>
          <a:xfrm>
            <a:off x="1376547" y="1800052"/>
            <a:ext cx="6390906" cy="1944216"/>
          </a:xfrm>
          <a:prstGeom prst="rect">
            <a:avLst/>
          </a:prstGeom>
          <a:noFill/>
          <a:ln w="9525">
            <a:noFill/>
          </a:ln>
        </p:spPr>
      </p:pic>
      <p:sp>
        <p:nvSpPr>
          <p:cNvPr id="6"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A5B2165-5B8B-5121-0A0C-71CB7E3ADF02}"/>
              </a:ext>
            </a:extLst>
          </p:cNvPr>
          <p:cNvSpPr txBox="1"/>
          <p:nvPr/>
        </p:nvSpPr>
        <p:spPr>
          <a:xfrm>
            <a:off x="701811" y="836712"/>
            <a:ext cx="7740377" cy="5386090"/>
          </a:xfrm>
          <a:prstGeom prst="rect">
            <a:avLst/>
          </a:prstGeom>
          <a:noFill/>
        </p:spPr>
        <p:txBody>
          <a:bodyPr wrap="square">
            <a:spAutoFit/>
          </a:bodyPr>
          <a:lstStyle/>
          <a:p>
            <a:r>
              <a:rPr lang="en-US" altLang="zh-CN" sz="2400" b="1" dirty="0">
                <a:solidFill>
                  <a:srgbClr val="0000FF"/>
                </a:solidFill>
                <a:latin typeface="Arial" panose="020B0604020202020204" pitchFamily="34" charset="0"/>
              </a:rPr>
              <a:t>【</a:t>
            </a:r>
            <a:r>
              <a:rPr lang="zh-CN" altLang="en-US" sz="2400" b="1" dirty="0">
                <a:solidFill>
                  <a:srgbClr val="0000FF"/>
                </a:solidFill>
                <a:latin typeface="Arial" panose="020B0604020202020204" pitchFamily="34" charset="0"/>
              </a:rPr>
              <a:t>例 </a:t>
            </a:r>
            <a:r>
              <a:rPr lang="en-US" altLang="zh-CN" sz="2400" b="1" dirty="0">
                <a:solidFill>
                  <a:srgbClr val="0000FF"/>
                </a:solidFill>
                <a:latin typeface="Arial" panose="020B0604020202020204" pitchFamily="34" charset="0"/>
              </a:rPr>
              <a:t>8.3】</a:t>
            </a:r>
            <a:r>
              <a:rPr lang="zh-CN" altLang="en-US" sz="2400" b="1" dirty="0">
                <a:latin typeface="Arial" panose="020B0604020202020204" pitchFamily="34" charset="0"/>
              </a:rPr>
              <a:t>如图 </a:t>
            </a:r>
            <a:r>
              <a:rPr lang="en-US" altLang="zh-CN" sz="2400" b="1" dirty="0">
                <a:latin typeface="Arial" panose="020B0604020202020204" pitchFamily="34" charset="0"/>
              </a:rPr>
              <a:t>8.13 </a:t>
            </a:r>
            <a:r>
              <a:rPr lang="zh-CN" altLang="en-US" sz="2400" b="1" dirty="0">
                <a:latin typeface="Arial" panose="020B0604020202020204" pitchFamily="34" charset="0"/>
              </a:rPr>
              <a:t>所示，在这个多片 </a:t>
            </a:r>
            <a:r>
              <a:rPr lang="en-US" altLang="zh-CN" sz="2400" b="1" dirty="0">
                <a:latin typeface="Arial" panose="020B0604020202020204" pitchFamily="34" charset="0"/>
              </a:rPr>
              <a:t>8259A </a:t>
            </a:r>
            <a:r>
              <a:rPr lang="zh-CN" altLang="en-US" sz="2400" b="1" dirty="0">
                <a:latin typeface="Arial" panose="020B0604020202020204" pitchFamily="34" charset="0"/>
              </a:rPr>
              <a:t>的级联系统中，假设 </a:t>
            </a:r>
            <a:r>
              <a:rPr lang="en-US" altLang="zh-CN" sz="2400" b="1" dirty="0">
                <a:latin typeface="Arial" panose="020B0604020202020204" pitchFamily="34" charset="0"/>
              </a:rPr>
              <a:t>8259A </a:t>
            </a:r>
            <a:r>
              <a:rPr lang="zh-CN" altLang="en-US" sz="2400" b="1" dirty="0">
                <a:latin typeface="Arial" panose="020B0604020202020204" pitchFamily="34" charset="0"/>
              </a:rPr>
              <a:t>主片的端口地址为 </a:t>
            </a:r>
            <a:r>
              <a:rPr lang="en-US" altLang="zh-CN" sz="2400" b="1" dirty="0">
                <a:latin typeface="Arial" panose="020B0604020202020204" pitchFamily="34" charset="0"/>
              </a:rPr>
              <a:t>20H-21H</a:t>
            </a:r>
            <a:r>
              <a:rPr lang="zh-CN" altLang="en-US" sz="2400" b="1" dirty="0">
                <a:latin typeface="Arial" panose="020B0604020202020204" pitchFamily="34" charset="0"/>
              </a:rPr>
              <a:t>，</a:t>
            </a:r>
            <a:r>
              <a:rPr lang="en-US" altLang="zh-CN" sz="2400" b="1" dirty="0">
                <a:latin typeface="Arial" panose="020B0604020202020204" pitchFamily="34" charset="0"/>
              </a:rPr>
              <a:t>8259A </a:t>
            </a:r>
            <a:r>
              <a:rPr lang="zh-CN" altLang="en-US" sz="2400" b="1" dirty="0">
                <a:latin typeface="Arial" panose="020B0604020202020204" pitchFamily="34" charset="0"/>
              </a:rPr>
              <a:t>从片 </a:t>
            </a:r>
            <a:r>
              <a:rPr lang="en-US" altLang="zh-CN" sz="2400" b="1" dirty="0">
                <a:latin typeface="Arial" panose="020B0604020202020204" pitchFamily="34" charset="0"/>
              </a:rPr>
              <a:t>A </a:t>
            </a:r>
            <a:r>
              <a:rPr lang="zh-CN" altLang="en-US" sz="2400" b="1" dirty="0">
                <a:latin typeface="Arial" panose="020B0604020202020204" pitchFamily="34" charset="0"/>
              </a:rPr>
              <a:t>的端口地址为 </a:t>
            </a:r>
            <a:r>
              <a:rPr lang="en-US" altLang="zh-CN" sz="2400" b="1" dirty="0">
                <a:latin typeface="Arial" panose="020B0604020202020204" pitchFamily="34" charset="0"/>
              </a:rPr>
              <a:t>0A0H-0A1H</a:t>
            </a:r>
            <a:r>
              <a:rPr lang="zh-CN" altLang="en-US" sz="2400" b="1" dirty="0">
                <a:latin typeface="Arial" panose="020B0604020202020204" pitchFamily="34" charset="0"/>
              </a:rPr>
              <a:t>，</a:t>
            </a:r>
            <a:r>
              <a:rPr lang="en-US" altLang="zh-CN" sz="2400" b="1" dirty="0">
                <a:latin typeface="Arial" panose="020B0604020202020204" pitchFamily="34" charset="0"/>
              </a:rPr>
              <a:t>8259A </a:t>
            </a:r>
            <a:r>
              <a:rPr lang="zh-CN" altLang="en-US" sz="2400" b="1" dirty="0">
                <a:latin typeface="Arial" panose="020B0604020202020204" pitchFamily="34" charset="0"/>
              </a:rPr>
              <a:t>从片 </a:t>
            </a:r>
            <a:r>
              <a:rPr lang="en-US" altLang="zh-CN" sz="2400" b="1" dirty="0">
                <a:latin typeface="Arial" panose="020B0604020202020204" pitchFamily="34" charset="0"/>
              </a:rPr>
              <a:t>B </a:t>
            </a:r>
            <a:r>
              <a:rPr lang="zh-CN" altLang="en-US" sz="2400" b="1" dirty="0">
                <a:latin typeface="Arial" panose="020B0604020202020204" pitchFamily="34" charset="0"/>
              </a:rPr>
              <a:t>的端口地址为 </a:t>
            </a:r>
            <a:r>
              <a:rPr lang="en-US" altLang="zh-CN" sz="2400" b="1" dirty="0">
                <a:latin typeface="Arial" panose="020B0604020202020204" pitchFamily="34" charset="0"/>
              </a:rPr>
              <a:t>0B0H-0B1H</a:t>
            </a:r>
            <a:r>
              <a:rPr lang="zh-CN" altLang="en-US" sz="2400" b="1" dirty="0">
                <a:latin typeface="Arial" panose="020B0604020202020204" pitchFamily="34" charset="0"/>
              </a:rPr>
              <a:t>。请分别写出每片 </a:t>
            </a:r>
            <a:r>
              <a:rPr lang="en-US" altLang="zh-CN" sz="2400" b="1" dirty="0">
                <a:latin typeface="Arial" panose="020B0604020202020204" pitchFamily="34" charset="0"/>
              </a:rPr>
              <a:t>8259A </a:t>
            </a:r>
            <a:r>
              <a:rPr lang="zh-CN" altLang="en-US" sz="2400" b="1" dirty="0">
                <a:latin typeface="Arial" panose="020B0604020202020204" pitchFamily="34" charset="0"/>
              </a:rPr>
              <a:t>设置 </a:t>
            </a:r>
            <a:r>
              <a:rPr lang="en-US" altLang="zh-CN" sz="2400" b="1" dirty="0">
                <a:latin typeface="Arial" panose="020B0604020202020204" pitchFamily="34" charset="0"/>
              </a:rPr>
              <a:t>ICW3</a:t>
            </a:r>
            <a:r>
              <a:rPr lang="zh-CN" altLang="en-US" sz="2400" b="1" dirty="0">
                <a:latin typeface="Arial" panose="020B0604020202020204" pitchFamily="34" charset="0"/>
              </a:rPr>
              <a:t>的指令。 </a:t>
            </a:r>
            <a:endParaRPr lang="en-US" altLang="zh-CN" sz="2400" b="1" dirty="0">
              <a:latin typeface="Arial" panose="020B0604020202020204" pitchFamily="34" charset="0"/>
            </a:endParaRPr>
          </a:p>
          <a:p>
            <a:r>
              <a:rPr lang="zh-CN" altLang="en-US" sz="2400" b="1" dirty="0">
                <a:latin typeface="Arial" panose="020B0604020202020204" pitchFamily="34" charset="0"/>
              </a:rPr>
              <a:t>解析：</a:t>
            </a:r>
            <a:endParaRPr lang="en-US" altLang="zh-CN" sz="2400" b="1" dirty="0">
              <a:latin typeface="Arial" panose="020B0604020202020204" pitchFamily="34" charset="0"/>
            </a:endParaRPr>
          </a:p>
          <a:p>
            <a:r>
              <a:rPr lang="en-US" altLang="zh-CN" sz="2000" b="1" dirty="0">
                <a:latin typeface="Arial" panose="020B0604020202020204" pitchFamily="34" charset="0"/>
              </a:rPr>
              <a:t>8259A </a:t>
            </a:r>
            <a:r>
              <a:rPr lang="zh-CN" altLang="en-US" sz="2000" b="1" dirty="0">
                <a:latin typeface="Arial" panose="020B0604020202020204" pitchFamily="34" charset="0"/>
              </a:rPr>
              <a:t>主片： </a:t>
            </a:r>
            <a:endParaRPr lang="en-US" altLang="zh-CN" sz="2000" b="1" dirty="0">
              <a:latin typeface="Arial" panose="020B0604020202020204" pitchFamily="34" charset="0"/>
            </a:endParaRPr>
          </a:p>
          <a:p>
            <a:r>
              <a:rPr lang="en-US" altLang="zh-CN" sz="2000" b="1" dirty="0">
                <a:solidFill>
                  <a:srgbClr val="0000FF"/>
                </a:solidFill>
                <a:latin typeface="Arial" panose="020B0604020202020204" pitchFamily="34" charset="0"/>
              </a:rPr>
              <a:t>MOV AL, 01100000B ; </a:t>
            </a:r>
            <a:r>
              <a:rPr lang="zh-CN" altLang="en-US" sz="2000" b="1" dirty="0">
                <a:solidFill>
                  <a:srgbClr val="0000FF"/>
                </a:solidFill>
                <a:latin typeface="Arial" panose="020B0604020202020204" pitchFamily="34" charset="0"/>
              </a:rPr>
              <a:t>主片的 </a:t>
            </a:r>
            <a:r>
              <a:rPr lang="en-US" altLang="zh-CN" sz="2000" b="1" dirty="0">
                <a:solidFill>
                  <a:srgbClr val="0000FF"/>
                </a:solidFill>
                <a:latin typeface="Arial" panose="020B0604020202020204" pitchFamily="34" charset="0"/>
              </a:rPr>
              <a:t>IR5 </a:t>
            </a:r>
            <a:r>
              <a:rPr lang="zh-CN" altLang="en-US" sz="2000" b="1" dirty="0">
                <a:solidFill>
                  <a:srgbClr val="0000FF"/>
                </a:solidFill>
                <a:latin typeface="Arial" panose="020B0604020202020204" pitchFamily="34" charset="0"/>
              </a:rPr>
              <a:t>和 </a:t>
            </a:r>
            <a:r>
              <a:rPr lang="en-US" altLang="zh-CN" sz="2000" b="1" dirty="0">
                <a:solidFill>
                  <a:srgbClr val="0000FF"/>
                </a:solidFill>
                <a:latin typeface="Arial" panose="020B0604020202020204" pitchFamily="34" charset="0"/>
              </a:rPr>
              <a:t>IR6</a:t>
            </a:r>
            <a:r>
              <a:rPr lang="zh-CN" altLang="en-US" sz="2000" b="1" dirty="0">
                <a:solidFill>
                  <a:srgbClr val="0000FF"/>
                </a:solidFill>
                <a:latin typeface="Arial" panose="020B0604020202020204" pitchFamily="34" charset="0"/>
              </a:rPr>
              <a:t>连有从片 </a:t>
            </a:r>
            <a:endParaRPr lang="en-US" altLang="zh-CN" sz="2000" b="1" dirty="0">
              <a:solidFill>
                <a:srgbClr val="0000FF"/>
              </a:solidFill>
              <a:latin typeface="Arial" panose="020B0604020202020204" pitchFamily="34" charset="0"/>
            </a:endParaRPr>
          </a:p>
          <a:p>
            <a:r>
              <a:rPr lang="en-US" altLang="zh-CN" sz="2000" b="1" dirty="0">
                <a:solidFill>
                  <a:srgbClr val="0000FF"/>
                </a:solidFill>
                <a:latin typeface="Arial" panose="020B0604020202020204" pitchFamily="34" charset="0"/>
              </a:rPr>
              <a:t>OUT 21H, AL </a:t>
            </a:r>
          </a:p>
          <a:p>
            <a:endParaRPr lang="en-US" altLang="zh-CN" sz="2000" b="1" dirty="0">
              <a:latin typeface="Arial" panose="020B0604020202020204" pitchFamily="34" charset="0"/>
            </a:endParaRPr>
          </a:p>
          <a:p>
            <a:r>
              <a:rPr lang="en-US" altLang="zh-CN" sz="2000" b="1" dirty="0">
                <a:latin typeface="Arial" panose="020B0604020202020204" pitchFamily="34" charset="0"/>
              </a:rPr>
              <a:t>8259A</a:t>
            </a:r>
            <a:r>
              <a:rPr lang="zh-CN" altLang="en-US" sz="2000" b="1" dirty="0">
                <a:latin typeface="Arial" panose="020B0604020202020204" pitchFamily="34" charset="0"/>
              </a:rPr>
              <a:t>从片 </a:t>
            </a:r>
            <a:r>
              <a:rPr lang="en-US" altLang="zh-CN" sz="2000" b="1" dirty="0">
                <a:latin typeface="Arial" panose="020B0604020202020204" pitchFamily="34" charset="0"/>
              </a:rPr>
              <a:t>A: </a:t>
            </a:r>
          </a:p>
          <a:p>
            <a:r>
              <a:rPr lang="en-US" altLang="zh-CN" sz="2000" b="1" dirty="0">
                <a:solidFill>
                  <a:srgbClr val="0000FF"/>
                </a:solidFill>
                <a:latin typeface="Arial" panose="020B0604020202020204" pitchFamily="34" charset="0"/>
              </a:rPr>
              <a:t>MOV AL, 00000110B ; </a:t>
            </a:r>
            <a:r>
              <a:rPr lang="zh-CN" altLang="en-US" sz="2000" b="1" dirty="0">
                <a:solidFill>
                  <a:srgbClr val="0000FF"/>
                </a:solidFill>
                <a:latin typeface="Arial" panose="020B0604020202020204" pitchFamily="34" charset="0"/>
              </a:rPr>
              <a:t>从片 </a:t>
            </a:r>
            <a:r>
              <a:rPr lang="en-US" altLang="zh-CN" sz="2000" b="1" dirty="0">
                <a:solidFill>
                  <a:srgbClr val="0000FF"/>
                </a:solidFill>
                <a:latin typeface="Arial" panose="020B0604020202020204" pitchFamily="34" charset="0"/>
              </a:rPr>
              <a:t>A </a:t>
            </a:r>
            <a:r>
              <a:rPr lang="zh-CN" altLang="en-US" sz="2000" b="1" dirty="0">
                <a:solidFill>
                  <a:srgbClr val="0000FF"/>
                </a:solidFill>
                <a:latin typeface="Arial" panose="020B0604020202020204" pitchFamily="34" charset="0"/>
              </a:rPr>
              <a:t>连至主片的 </a:t>
            </a:r>
            <a:r>
              <a:rPr lang="en-US" altLang="zh-CN" sz="2000" b="1" dirty="0">
                <a:solidFill>
                  <a:srgbClr val="0000FF"/>
                </a:solidFill>
                <a:latin typeface="Arial" panose="020B0604020202020204" pitchFamily="34" charset="0"/>
              </a:rPr>
              <a:t>IR</a:t>
            </a:r>
            <a:r>
              <a:rPr lang="en-US" altLang="zh-CN" sz="2000" b="1" baseline="-25000" dirty="0">
                <a:solidFill>
                  <a:srgbClr val="0000FF"/>
                </a:solidFill>
                <a:latin typeface="Arial" panose="020B0604020202020204" pitchFamily="34" charset="0"/>
              </a:rPr>
              <a:t>6</a:t>
            </a:r>
            <a:r>
              <a:rPr lang="en-US" altLang="zh-CN" sz="2000" b="1" dirty="0">
                <a:solidFill>
                  <a:srgbClr val="0000FF"/>
                </a:solidFill>
                <a:latin typeface="Arial" panose="020B0604020202020204" pitchFamily="34" charset="0"/>
              </a:rPr>
              <a:t> </a:t>
            </a:r>
          </a:p>
          <a:p>
            <a:r>
              <a:rPr lang="en-US" altLang="zh-CN" sz="2000" b="1" dirty="0">
                <a:solidFill>
                  <a:srgbClr val="0000FF"/>
                </a:solidFill>
                <a:latin typeface="Arial" panose="020B0604020202020204" pitchFamily="34" charset="0"/>
              </a:rPr>
              <a:t>OUT 0A1H, AL </a:t>
            </a:r>
          </a:p>
          <a:p>
            <a:r>
              <a:rPr lang="en-US" altLang="zh-CN" sz="2000" b="1" dirty="0">
                <a:latin typeface="Arial" panose="020B0604020202020204" pitchFamily="34" charset="0"/>
              </a:rPr>
              <a:t>8259A</a:t>
            </a:r>
            <a:r>
              <a:rPr lang="zh-CN" altLang="en-US" sz="2000" b="1" dirty="0">
                <a:latin typeface="Arial" panose="020B0604020202020204" pitchFamily="34" charset="0"/>
              </a:rPr>
              <a:t>从片 </a:t>
            </a:r>
            <a:r>
              <a:rPr lang="en-US" altLang="zh-CN" sz="2000" b="1" dirty="0">
                <a:latin typeface="Arial" panose="020B0604020202020204" pitchFamily="34" charset="0"/>
              </a:rPr>
              <a:t>B: </a:t>
            </a:r>
          </a:p>
          <a:p>
            <a:r>
              <a:rPr lang="en-US" altLang="zh-CN" sz="2000" b="1" dirty="0">
                <a:solidFill>
                  <a:srgbClr val="0000FF"/>
                </a:solidFill>
                <a:latin typeface="Arial" panose="020B0604020202020204" pitchFamily="34" charset="0"/>
              </a:rPr>
              <a:t>MOV AL, 00000101B ; </a:t>
            </a:r>
            <a:r>
              <a:rPr lang="zh-CN" altLang="en-US" sz="2000" b="1" dirty="0">
                <a:solidFill>
                  <a:srgbClr val="0000FF"/>
                </a:solidFill>
                <a:latin typeface="Arial" panose="020B0604020202020204" pitchFamily="34" charset="0"/>
              </a:rPr>
              <a:t>从片 </a:t>
            </a:r>
            <a:r>
              <a:rPr lang="en-US" altLang="zh-CN" sz="2000" b="1" dirty="0">
                <a:solidFill>
                  <a:srgbClr val="0000FF"/>
                </a:solidFill>
                <a:latin typeface="Arial" panose="020B0604020202020204" pitchFamily="34" charset="0"/>
              </a:rPr>
              <a:t>B </a:t>
            </a:r>
            <a:r>
              <a:rPr lang="zh-CN" altLang="en-US" sz="2000" b="1" dirty="0">
                <a:solidFill>
                  <a:srgbClr val="0000FF"/>
                </a:solidFill>
                <a:latin typeface="Arial" panose="020B0604020202020204" pitchFamily="34" charset="0"/>
              </a:rPr>
              <a:t>连至主片的 </a:t>
            </a:r>
            <a:r>
              <a:rPr lang="en-US" altLang="zh-CN" sz="2000" b="1" dirty="0">
                <a:solidFill>
                  <a:srgbClr val="0000FF"/>
                </a:solidFill>
                <a:latin typeface="Arial" panose="020B0604020202020204" pitchFamily="34" charset="0"/>
              </a:rPr>
              <a:t>IR</a:t>
            </a:r>
            <a:r>
              <a:rPr lang="en-US" altLang="zh-CN" sz="2000" b="1" baseline="-25000" dirty="0">
                <a:solidFill>
                  <a:srgbClr val="0000FF"/>
                </a:solidFill>
                <a:latin typeface="Arial" panose="020B0604020202020204" pitchFamily="34" charset="0"/>
              </a:rPr>
              <a:t>5</a:t>
            </a:r>
            <a:r>
              <a:rPr lang="en-US" altLang="zh-CN" sz="2000" b="1" dirty="0">
                <a:solidFill>
                  <a:srgbClr val="0000FF"/>
                </a:solidFill>
                <a:latin typeface="Arial" panose="020B0604020202020204" pitchFamily="34" charset="0"/>
              </a:rPr>
              <a:t> </a:t>
            </a:r>
          </a:p>
          <a:p>
            <a:r>
              <a:rPr lang="en-US" altLang="zh-CN" sz="2000" b="1" dirty="0">
                <a:solidFill>
                  <a:srgbClr val="0000FF"/>
                </a:solidFill>
                <a:latin typeface="Arial" panose="020B0604020202020204" pitchFamily="34" charset="0"/>
              </a:rPr>
              <a:t>OUT 0B1H, A</a:t>
            </a:r>
            <a:endParaRPr lang="zh-CN" altLang="en-US" sz="2000" b="1" dirty="0">
              <a:solidFill>
                <a:srgbClr val="0000FF"/>
              </a:solidFill>
              <a:latin typeface="Arial" panose="020B0604020202020204" pitchFamily="34" charset="0"/>
            </a:endParaRPr>
          </a:p>
        </p:txBody>
      </p:sp>
      <p:sp>
        <p:nvSpPr>
          <p:cNvPr id="6"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extLst>
      <p:ext uri="{BB962C8B-B14F-4D97-AF65-F5344CB8AC3E}">
        <p14:creationId xmlns:p14="http://schemas.microsoft.com/office/powerpoint/2010/main" val="34150793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7" name="文本框 333826"/>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33828" name="文本框 333827"/>
          <p:cNvSpPr txBox="1"/>
          <p:nvPr/>
        </p:nvSpPr>
        <p:spPr>
          <a:xfrm>
            <a:off x="323850" y="836712"/>
            <a:ext cx="8642350" cy="5496376"/>
          </a:xfrm>
          <a:prstGeom prst="rect">
            <a:avLst/>
          </a:prstGeom>
          <a:noFill/>
          <a:ln w="9525">
            <a:noFill/>
          </a:ln>
        </p:spPr>
        <p:txBody>
          <a:bodyPr>
            <a:spAutoFit/>
          </a:bodyPr>
          <a:lstStyle/>
          <a:p>
            <a:pPr lvl="0" eaLnBrk="0" hangingPunct="0">
              <a:lnSpc>
                <a:spcPct val="105000"/>
              </a:lnSpc>
            </a:pPr>
            <a:r>
              <a:rPr lang="zh-CN" altLang="zh-CN" sz="2400" b="1" dirty="0">
                <a:solidFill>
                  <a:srgbClr val="FF00FF"/>
                </a:solidFill>
                <a:latin typeface="Arial" panose="020B0604020202020204" pitchFamily="34" charset="0"/>
              </a:rPr>
              <a:t>（4）ICW4</a:t>
            </a:r>
          </a:p>
          <a:p>
            <a:pPr lvl="0" eaLnBrk="0" hangingPunct="0">
              <a:lnSpc>
                <a:spcPct val="105000"/>
              </a:lnSpc>
            </a:pPr>
            <a:r>
              <a:rPr lang="zh-CN" altLang="zh-CN" sz="2400" b="1" dirty="0">
                <a:latin typeface="Arial" panose="020B0604020202020204" pitchFamily="34" charset="0"/>
              </a:rPr>
              <a:t>ICW4</a:t>
            </a:r>
            <a:r>
              <a:rPr lang="zh-CN" altLang="en-US" sz="2400" b="1" dirty="0">
                <a:latin typeface="Arial" panose="020B0604020202020204" pitchFamily="34" charset="0"/>
              </a:rPr>
              <a:t>：</a:t>
            </a:r>
            <a:r>
              <a:rPr lang="zh-CN" altLang="zh-CN" sz="2400" b="1" dirty="0">
                <a:latin typeface="Arial" panose="020B0604020202020204" pitchFamily="34" charset="0"/>
              </a:rPr>
              <a:t>设定8259A的工作方式：</a:t>
            </a:r>
          </a:p>
          <a:p>
            <a:pPr lvl="0" eaLnBrk="0" hangingPunct="0">
              <a:lnSpc>
                <a:spcPct val="105000"/>
              </a:lnSpc>
            </a:pPr>
            <a:r>
              <a:rPr lang="zh-CN" altLang="zh-CN" sz="2400" b="1" dirty="0">
                <a:latin typeface="Arial" panose="020B0604020202020204" pitchFamily="34" charset="0"/>
              </a:rPr>
              <a:t>	</a:t>
            </a:r>
            <a:endParaRPr lang="zh-CN" altLang="en-US" sz="2400" b="1" dirty="0">
              <a:latin typeface="Arial" panose="020B0604020202020204" pitchFamily="34" charset="0"/>
            </a:endParaRPr>
          </a:p>
          <a:p>
            <a:pPr lvl="0" eaLnBrk="0" hangingPunct="0">
              <a:lnSpc>
                <a:spcPct val="105000"/>
              </a:lnSpc>
            </a:pPr>
            <a:endParaRPr lang="zh-CN" altLang="en-US" sz="2400" b="1" dirty="0">
              <a:latin typeface="Arial" panose="020B0604020202020204" pitchFamily="34" charset="0"/>
            </a:endParaRPr>
          </a:p>
          <a:p>
            <a:pPr lvl="0" eaLnBrk="0" hangingPunct="0">
              <a:lnSpc>
                <a:spcPct val="105000"/>
              </a:lnSpc>
            </a:pPr>
            <a:r>
              <a:rPr lang="zh-CN" altLang="zh-CN" sz="2000" b="1" dirty="0">
                <a:latin typeface="Arial" panose="020B0604020202020204" pitchFamily="34" charset="0"/>
              </a:rPr>
              <a:t>D7～D5：未定义，通常设置为0。</a:t>
            </a:r>
          </a:p>
          <a:p>
            <a:pPr lvl="0" eaLnBrk="0" hangingPunct="0">
              <a:lnSpc>
                <a:spcPct val="105000"/>
              </a:lnSpc>
            </a:pPr>
            <a:r>
              <a:rPr lang="zh-CN" altLang="zh-CN" sz="2000" b="1" dirty="0">
                <a:latin typeface="Arial" panose="020B0604020202020204" pitchFamily="34" charset="0"/>
              </a:rPr>
              <a:t>D4：SFNM位，D4=1表示8259A工作于特殊完全嵌套方式，D4=0表示工作于完全嵌套方式。</a:t>
            </a:r>
          </a:p>
          <a:p>
            <a:pPr lvl="0" eaLnBrk="0" hangingPunct="0">
              <a:lnSpc>
                <a:spcPct val="105000"/>
              </a:lnSpc>
            </a:pPr>
            <a:r>
              <a:rPr lang="zh-CN" altLang="zh-CN" sz="2000" b="1" dirty="0">
                <a:latin typeface="Arial" panose="020B0604020202020204" pitchFamily="34" charset="0"/>
              </a:rPr>
              <a:t>D3：BUF位，D3=1表示8259A采用缓冲方式；D3=0为非缓冲方式。</a:t>
            </a:r>
          </a:p>
          <a:p>
            <a:pPr lvl="0" eaLnBrk="0" hangingPunct="0">
              <a:lnSpc>
                <a:spcPct val="105000"/>
              </a:lnSpc>
            </a:pPr>
            <a:r>
              <a:rPr lang="zh-CN" altLang="zh-CN" sz="2000" b="1" dirty="0">
                <a:latin typeface="Arial" panose="020B0604020202020204" pitchFamily="34" charset="0"/>
              </a:rPr>
              <a:t>D2：M/S位，非缓冲方式下无意义。缓冲方式下，D2=1表示该8259A为主</a:t>
            </a:r>
            <a:r>
              <a:rPr lang="zh-CN" altLang="en-US" sz="2000" b="1" dirty="0">
                <a:latin typeface="Arial" panose="020B0604020202020204" pitchFamily="34" charset="0"/>
              </a:rPr>
              <a:t>片</a:t>
            </a:r>
            <a:r>
              <a:rPr lang="zh-CN" altLang="zh-CN" sz="2000" b="1" dirty="0">
                <a:latin typeface="Arial" panose="020B0604020202020204" pitchFamily="34" charset="0"/>
              </a:rPr>
              <a:t>，D2=0表示为从</a:t>
            </a:r>
            <a:r>
              <a:rPr lang="zh-CN" altLang="en-US" sz="2000" b="1" dirty="0">
                <a:latin typeface="Arial" panose="020B0604020202020204" pitchFamily="34" charset="0"/>
              </a:rPr>
              <a:t>片</a:t>
            </a:r>
            <a:r>
              <a:rPr lang="zh-CN" altLang="zh-CN" sz="2000" b="1" dirty="0">
                <a:latin typeface="Arial" panose="020B0604020202020204" pitchFamily="34" charset="0"/>
              </a:rPr>
              <a:t>。</a:t>
            </a:r>
          </a:p>
          <a:p>
            <a:pPr lvl="0" eaLnBrk="0" hangingPunct="0">
              <a:lnSpc>
                <a:spcPct val="105000"/>
              </a:lnSpc>
            </a:pPr>
            <a:r>
              <a:rPr lang="zh-CN" altLang="zh-CN" sz="2000" b="1" dirty="0">
                <a:latin typeface="Arial" panose="020B0604020202020204" pitchFamily="34" charset="0"/>
              </a:rPr>
              <a:t>D1：AEOI位，中断结束方式。D1=1表示采用自动结束方式</a:t>
            </a:r>
            <a:r>
              <a:rPr lang="zh-CN" altLang="en-US" sz="2000" b="1" dirty="0">
                <a:latin typeface="Arial" panose="020B0604020202020204" pitchFamily="34" charset="0"/>
              </a:rPr>
              <a:t>；</a:t>
            </a:r>
            <a:r>
              <a:rPr lang="zh-CN" altLang="zh-CN" sz="2000" b="1" dirty="0">
                <a:latin typeface="Arial" panose="020B0604020202020204" pitchFamily="34" charset="0"/>
              </a:rPr>
              <a:t>D1=0表示采用非自动结束方式</a:t>
            </a:r>
            <a:r>
              <a:rPr lang="zh-CN" altLang="en-US" sz="2000" b="1" dirty="0">
                <a:latin typeface="Arial" panose="020B0604020202020204" pitchFamily="34" charset="0"/>
              </a:rPr>
              <a:t>，</a:t>
            </a:r>
            <a:r>
              <a:rPr lang="zh-CN" altLang="zh-CN" sz="2000" b="1" dirty="0">
                <a:latin typeface="Arial" panose="020B0604020202020204" pitchFamily="34" charset="0"/>
              </a:rPr>
              <a:t>中断服务程序结束时需向8259A发送EOI命令以清除ISR。</a:t>
            </a:r>
            <a:endParaRPr lang="en-US" altLang="zh-CN" sz="2000" b="1" dirty="0">
              <a:latin typeface="Arial" panose="020B0604020202020204" pitchFamily="34" charset="0"/>
            </a:endParaRPr>
          </a:p>
          <a:p>
            <a:pPr lvl="0" eaLnBrk="0" hangingPunct="0">
              <a:lnSpc>
                <a:spcPct val="105000"/>
              </a:lnSpc>
            </a:pPr>
            <a:r>
              <a:rPr lang="en-US" altLang="zh-CN" sz="2000" b="1" dirty="0">
                <a:latin typeface="Arial" panose="020B0604020202020204" pitchFamily="34" charset="0"/>
              </a:rPr>
              <a:t>D0</a:t>
            </a:r>
            <a:r>
              <a:rPr lang="zh-CN" altLang="en-US" sz="2000" b="1" dirty="0">
                <a:latin typeface="Arial" panose="020B0604020202020204" pitchFamily="34" charset="0"/>
              </a:rPr>
              <a:t>：为</a:t>
            </a:r>
            <a:r>
              <a:rPr lang="en-US" altLang="zh-CN" sz="2000" b="1" dirty="0">
                <a:latin typeface="Arial" panose="020B0604020202020204" pitchFamily="34" charset="0"/>
              </a:rPr>
              <a:t>1</a:t>
            </a:r>
            <a:r>
              <a:rPr lang="zh-CN" altLang="en-US" sz="2000" b="1" dirty="0">
                <a:latin typeface="Arial" panose="020B0604020202020204" pitchFamily="34" charset="0"/>
              </a:rPr>
              <a:t>选择</a:t>
            </a:r>
            <a:r>
              <a:rPr lang="en-US" altLang="zh-CN" sz="2000" b="1" dirty="0">
                <a:latin typeface="Arial" panose="020B0604020202020204" pitchFamily="34" charset="0"/>
              </a:rPr>
              <a:t>8086</a:t>
            </a:r>
            <a:r>
              <a:rPr lang="zh-CN" altLang="en-US" sz="2000" b="1" dirty="0">
                <a:latin typeface="Arial" panose="020B0604020202020204" pitchFamily="34" charset="0"/>
              </a:rPr>
              <a:t>系统</a:t>
            </a:r>
            <a:endParaRPr lang="zh-CN" altLang="zh-CN" sz="2000" b="1" dirty="0">
              <a:latin typeface="Arial" panose="020B0604020202020204" pitchFamily="34" charset="0"/>
            </a:endParaRPr>
          </a:p>
          <a:p>
            <a:pPr lvl="0" eaLnBrk="0" hangingPunct="0">
              <a:lnSpc>
                <a:spcPct val="105000"/>
              </a:lnSpc>
            </a:pPr>
            <a:endParaRPr lang="zh-CN" altLang="zh-CN" sz="2000" b="1" dirty="0">
              <a:latin typeface="Arial" panose="020B0604020202020204" pitchFamily="34" charset="0"/>
            </a:endParaRPr>
          </a:p>
          <a:p>
            <a:pPr lvl="0" eaLnBrk="0" hangingPunct="0">
              <a:lnSpc>
                <a:spcPct val="105000"/>
              </a:lnSpc>
            </a:pPr>
            <a:r>
              <a:rPr lang="zh-CN" altLang="zh-CN" sz="2000" b="1" dirty="0">
                <a:latin typeface="Arial" panose="020B0604020202020204" pitchFamily="34" charset="0"/>
              </a:rPr>
              <a:t>ICW4只有在ICW1的D0=1时才需要写入，且必须写入奇地址，即A0=1。</a:t>
            </a:r>
            <a:endParaRPr lang="en-US" altLang="zh-CN" sz="2000" b="1" dirty="0">
              <a:latin typeface="Arial" panose="020B0604020202020204" pitchFamily="34" charset="0"/>
            </a:endParaRPr>
          </a:p>
        </p:txBody>
      </p:sp>
      <p:pic>
        <p:nvPicPr>
          <p:cNvPr id="333830" name="图片 333829"/>
          <p:cNvPicPr>
            <a:picLocks noChangeAspect="1"/>
          </p:cNvPicPr>
          <p:nvPr/>
        </p:nvPicPr>
        <p:blipFill>
          <a:blip r:embed="rId2"/>
          <a:stretch>
            <a:fillRect/>
          </a:stretch>
        </p:blipFill>
        <p:spPr>
          <a:xfrm>
            <a:off x="1580500" y="1638846"/>
            <a:ext cx="6270337" cy="782042"/>
          </a:xfrm>
          <a:prstGeom prst="rect">
            <a:avLst/>
          </a:prstGeom>
          <a:noFill/>
          <a:ln w="9525">
            <a:noFill/>
          </a:ln>
        </p:spPr>
      </p:pic>
      <p:sp>
        <p:nvSpPr>
          <p:cNvPr id="6"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1" name="文本框 334850"/>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34852" name="文本框 334851"/>
          <p:cNvSpPr txBox="1"/>
          <p:nvPr/>
        </p:nvSpPr>
        <p:spPr>
          <a:xfrm>
            <a:off x="107504" y="908050"/>
            <a:ext cx="8785671" cy="4535024"/>
          </a:xfrm>
          <a:prstGeom prst="rect">
            <a:avLst/>
          </a:prstGeom>
          <a:noFill/>
          <a:ln w="9525">
            <a:noFill/>
          </a:ln>
        </p:spPr>
        <p:txBody>
          <a:bodyPr wrap="square">
            <a:spAutoFit/>
          </a:bodyPr>
          <a:lstStyle/>
          <a:p>
            <a:pPr lvl="0" eaLnBrk="0" hangingPunct="0">
              <a:lnSpc>
                <a:spcPct val="110000"/>
              </a:lnSpc>
            </a:pPr>
            <a:r>
              <a:rPr lang="en-US" altLang="zh-CN" sz="2400" b="1" dirty="0">
                <a:solidFill>
                  <a:srgbClr val="0000FF"/>
                </a:solidFill>
                <a:latin typeface="Arial" panose="020B0604020202020204" pitchFamily="34" charset="0"/>
              </a:rPr>
              <a:t>【</a:t>
            </a:r>
            <a:r>
              <a:rPr lang="zh-CN" altLang="en-US" sz="2400" b="1" dirty="0">
                <a:solidFill>
                  <a:srgbClr val="0000FF"/>
                </a:solidFill>
                <a:latin typeface="Arial" panose="020B0604020202020204" pitchFamily="34" charset="0"/>
              </a:rPr>
              <a:t>例 </a:t>
            </a:r>
            <a:r>
              <a:rPr lang="en-US" altLang="zh-CN" sz="2400" b="1" dirty="0">
                <a:solidFill>
                  <a:srgbClr val="0000FF"/>
                </a:solidFill>
                <a:latin typeface="Arial" panose="020B0604020202020204" pitchFamily="34" charset="0"/>
              </a:rPr>
              <a:t>8.4】</a:t>
            </a:r>
            <a:r>
              <a:rPr lang="zh-CN" altLang="zh-CN" sz="2400" b="1" dirty="0">
                <a:latin typeface="Arial" panose="020B0604020202020204" pitchFamily="34" charset="0"/>
              </a:rPr>
              <a:t>设</a:t>
            </a:r>
            <a:r>
              <a:rPr lang="zh-CN" altLang="en-US" sz="2400" b="1" dirty="0">
                <a:latin typeface="Arial" panose="020B0604020202020204" pitchFamily="34" charset="0"/>
              </a:rPr>
              <a:t>一片</a:t>
            </a:r>
            <a:r>
              <a:rPr lang="zh-CN" altLang="zh-CN" sz="2400" b="1" dirty="0">
                <a:latin typeface="Arial" panose="020B0604020202020204" pitchFamily="34" charset="0"/>
              </a:rPr>
              <a:t>8259A工作于8086系统，8259A的I/O端口地址为20H和21H。对8259A的初始化规定为：边沿触发方式，缓冲器方式，中断结束为EOI命令方式，中断优先级管理采用全嵌套方式，</a:t>
            </a:r>
            <a:r>
              <a:rPr lang="en-US" altLang="zh-CN" sz="2400" b="1" dirty="0">
                <a:latin typeface="Arial" panose="020B0604020202020204" pitchFamily="34" charset="0"/>
              </a:rPr>
              <a:t>IR</a:t>
            </a:r>
            <a:r>
              <a:rPr lang="en-US" altLang="zh-CN" sz="2400" b="1" baseline="-25000" dirty="0">
                <a:latin typeface="Arial" panose="020B0604020202020204" pitchFamily="34" charset="0"/>
              </a:rPr>
              <a:t>7</a:t>
            </a:r>
            <a:r>
              <a:rPr lang="zh-CN" altLang="zh-CN" sz="2400" b="1" dirty="0">
                <a:latin typeface="Arial" panose="020B0604020202020204" pitchFamily="34" charset="0"/>
              </a:rPr>
              <a:t>中断源的类型码为0FH，</a:t>
            </a:r>
            <a:r>
              <a:rPr lang="zh-CN" altLang="en-US" sz="2400" b="1" dirty="0">
                <a:latin typeface="Arial" panose="020B0604020202020204" pitchFamily="34" charset="0"/>
              </a:rPr>
              <a:t>写出</a:t>
            </a:r>
            <a:r>
              <a:rPr lang="zh-CN" altLang="zh-CN" sz="2400" b="1" dirty="0">
                <a:latin typeface="Arial" panose="020B0604020202020204" pitchFamily="34" charset="0"/>
              </a:rPr>
              <a:t>初始化程序段</a:t>
            </a:r>
            <a:r>
              <a:rPr lang="zh-CN" altLang="en-US" sz="2400" b="1" dirty="0">
                <a:latin typeface="Arial" panose="020B0604020202020204" pitchFamily="34" charset="0"/>
              </a:rPr>
              <a:t>，</a:t>
            </a:r>
            <a:endParaRPr lang="en-US" altLang="zh-CN" sz="2400" b="1" dirty="0">
              <a:latin typeface="Arial" panose="020B0604020202020204" pitchFamily="34" charset="0"/>
            </a:endParaRPr>
          </a:p>
          <a:p>
            <a:pPr lvl="0" eaLnBrk="0" hangingPunct="0">
              <a:lnSpc>
                <a:spcPct val="110000"/>
              </a:lnSpc>
            </a:pPr>
            <a:endParaRPr lang="en-US" altLang="zh-CN" sz="2400" b="1" dirty="0">
              <a:latin typeface="Arial" panose="020B0604020202020204" pitchFamily="34" charset="0"/>
            </a:endParaRPr>
          </a:p>
          <a:p>
            <a:pPr lvl="0" eaLnBrk="0" hangingPunct="0">
              <a:lnSpc>
                <a:spcPct val="110000"/>
              </a:lnSpc>
            </a:pPr>
            <a:r>
              <a:rPr lang="en-US" altLang="zh-CN" sz="2400" b="1" dirty="0">
                <a:latin typeface="Arial" panose="020B0604020202020204" pitchFamily="34" charset="0"/>
              </a:rPr>
              <a:t>    </a:t>
            </a:r>
            <a:r>
              <a:rPr lang="zh-CN" altLang="en-US" sz="2400" b="1" dirty="0">
                <a:latin typeface="Arial" panose="020B0604020202020204" pitchFamily="34" charset="0"/>
              </a:rPr>
              <a:t>答：</a:t>
            </a:r>
            <a:endParaRPr lang="zh-CN" altLang="zh-CN" sz="2400" b="1" dirty="0">
              <a:latin typeface="Arial" panose="020B0604020202020204" pitchFamily="34" charset="0"/>
            </a:endParaRPr>
          </a:p>
          <a:p>
            <a:pPr lvl="0" eaLnBrk="0" hangingPunct="0">
              <a:lnSpc>
                <a:spcPct val="110000"/>
              </a:lnSpc>
            </a:pPr>
            <a:r>
              <a:rPr lang="zh-CN" altLang="zh-CN" sz="2000" b="1" dirty="0">
                <a:solidFill>
                  <a:srgbClr val="0000FF"/>
                </a:solidFill>
                <a:latin typeface="Arial" panose="020B0604020202020204" pitchFamily="34" charset="0"/>
              </a:rPr>
              <a:t>     MOV    AL, 00010011B       ; ICW</a:t>
            </a:r>
            <a:r>
              <a:rPr lang="zh-CN" altLang="zh-CN" sz="2000" b="1" baseline="-25000" dirty="0">
                <a:solidFill>
                  <a:srgbClr val="0000FF"/>
                </a:solidFill>
                <a:latin typeface="Arial" panose="020B0604020202020204" pitchFamily="34" charset="0"/>
              </a:rPr>
              <a:t>1</a:t>
            </a:r>
            <a:r>
              <a:rPr lang="zh-CN" altLang="zh-CN" sz="2000" b="1" dirty="0">
                <a:solidFill>
                  <a:srgbClr val="0000FF"/>
                </a:solidFill>
                <a:latin typeface="Arial" panose="020B0604020202020204" pitchFamily="34" charset="0"/>
              </a:rPr>
              <a:t>边沿触发，单片8259A，需要ICW</a:t>
            </a:r>
            <a:r>
              <a:rPr lang="zh-CN" altLang="zh-CN" sz="2000" b="1" baseline="-25000" dirty="0">
                <a:solidFill>
                  <a:srgbClr val="0000FF"/>
                </a:solidFill>
                <a:latin typeface="Arial" panose="020B0604020202020204" pitchFamily="34" charset="0"/>
              </a:rPr>
              <a:t>4</a:t>
            </a:r>
          </a:p>
          <a:p>
            <a:pPr lvl="0" eaLnBrk="0" hangingPunct="0">
              <a:lnSpc>
                <a:spcPct val="110000"/>
              </a:lnSpc>
            </a:pPr>
            <a:r>
              <a:rPr lang="zh-CN" altLang="zh-CN" sz="2000" b="1" dirty="0">
                <a:solidFill>
                  <a:srgbClr val="0000FF"/>
                </a:solidFill>
                <a:latin typeface="Arial" panose="020B0604020202020204" pitchFamily="34" charset="0"/>
              </a:rPr>
              <a:t>     OUT     20H, AL                  </a:t>
            </a:r>
          </a:p>
          <a:p>
            <a:pPr lvl="0" eaLnBrk="0" hangingPunct="0">
              <a:lnSpc>
                <a:spcPct val="110000"/>
              </a:lnSpc>
            </a:pPr>
            <a:r>
              <a:rPr lang="zh-CN" altLang="zh-CN" sz="2000" b="1" dirty="0">
                <a:solidFill>
                  <a:srgbClr val="0000FF"/>
                </a:solidFill>
                <a:latin typeface="Arial" panose="020B0604020202020204" pitchFamily="34" charset="0"/>
              </a:rPr>
              <a:t>     MOV    AL, 00001000B       ; ICW</a:t>
            </a:r>
            <a:r>
              <a:rPr lang="zh-CN" altLang="zh-CN" sz="2000" b="1" baseline="-25000" dirty="0">
                <a:solidFill>
                  <a:srgbClr val="0000FF"/>
                </a:solidFill>
                <a:latin typeface="Arial" panose="020B0604020202020204" pitchFamily="34" charset="0"/>
              </a:rPr>
              <a:t>2</a:t>
            </a:r>
            <a:r>
              <a:rPr lang="zh-CN" altLang="zh-CN" sz="2000" b="1" dirty="0">
                <a:solidFill>
                  <a:srgbClr val="0000FF"/>
                </a:solidFill>
                <a:latin typeface="Arial" panose="020B0604020202020204" pitchFamily="34" charset="0"/>
              </a:rPr>
              <a:t>中断类型码基数08H</a:t>
            </a:r>
          </a:p>
          <a:p>
            <a:pPr lvl="0" eaLnBrk="0" hangingPunct="0">
              <a:lnSpc>
                <a:spcPct val="110000"/>
              </a:lnSpc>
            </a:pPr>
            <a:r>
              <a:rPr lang="zh-CN" altLang="zh-CN" sz="2000" b="1" dirty="0">
                <a:solidFill>
                  <a:srgbClr val="0000FF"/>
                </a:solidFill>
                <a:latin typeface="Arial" panose="020B0604020202020204" pitchFamily="34" charset="0"/>
              </a:rPr>
              <a:t>     OUT     21H, AL                   ; 可响应的8个中断类型码为08H～0FH</a:t>
            </a:r>
          </a:p>
          <a:p>
            <a:pPr lvl="0" eaLnBrk="0" hangingPunct="0">
              <a:lnSpc>
                <a:spcPct val="110000"/>
              </a:lnSpc>
            </a:pPr>
            <a:r>
              <a:rPr lang="zh-CN" altLang="zh-CN" sz="2000" b="1" dirty="0">
                <a:solidFill>
                  <a:srgbClr val="0000FF"/>
                </a:solidFill>
                <a:latin typeface="Arial" panose="020B0604020202020204" pitchFamily="34" charset="0"/>
              </a:rPr>
              <a:t>     MOV    AL, 00001101B       ; ICW</a:t>
            </a:r>
            <a:r>
              <a:rPr lang="zh-CN" altLang="zh-CN" sz="2000" b="1" baseline="-25000" dirty="0">
                <a:solidFill>
                  <a:srgbClr val="0000FF"/>
                </a:solidFill>
                <a:latin typeface="Arial" panose="020B0604020202020204" pitchFamily="34" charset="0"/>
              </a:rPr>
              <a:t>4</a:t>
            </a:r>
            <a:r>
              <a:rPr lang="zh-CN" altLang="zh-CN" sz="2000" b="1" dirty="0">
                <a:solidFill>
                  <a:srgbClr val="0000FF"/>
                </a:solidFill>
                <a:latin typeface="Arial" panose="020B0604020202020204" pitchFamily="34" charset="0"/>
              </a:rPr>
              <a:t>为全嵌套</a:t>
            </a:r>
            <a:r>
              <a:rPr lang="zh-CN" altLang="en-US" sz="2000" b="1" dirty="0">
                <a:solidFill>
                  <a:srgbClr val="0000FF"/>
                </a:solidFill>
                <a:latin typeface="Arial" panose="020B0604020202020204" pitchFamily="34" charset="0"/>
              </a:rPr>
              <a:t>、</a:t>
            </a:r>
            <a:r>
              <a:rPr lang="zh-CN" altLang="zh-CN" sz="2000" b="1" dirty="0">
                <a:solidFill>
                  <a:srgbClr val="0000FF"/>
                </a:solidFill>
                <a:latin typeface="Arial" panose="020B0604020202020204" pitchFamily="34" charset="0"/>
              </a:rPr>
              <a:t>缓冲</a:t>
            </a:r>
            <a:r>
              <a:rPr lang="zh-CN" altLang="en-US" sz="2000" b="1" dirty="0">
                <a:solidFill>
                  <a:srgbClr val="0000FF"/>
                </a:solidFill>
                <a:latin typeface="Arial" panose="020B0604020202020204" pitchFamily="34" charset="0"/>
              </a:rPr>
              <a:t>，</a:t>
            </a:r>
            <a:r>
              <a:rPr lang="zh-CN" altLang="zh-CN" sz="2000" b="1" dirty="0">
                <a:solidFill>
                  <a:srgbClr val="0000FF"/>
                </a:solidFill>
                <a:latin typeface="Arial" panose="020B0604020202020204" pitchFamily="34" charset="0"/>
              </a:rPr>
              <a:t>普通EOI结束</a:t>
            </a:r>
            <a:endParaRPr lang="en-US" altLang="zh-CN" sz="2000" b="1" dirty="0">
              <a:solidFill>
                <a:srgbClr val="0000FF"/>
              </a:solidFill>
              <a:latin typeface="Arial" panose="020B0604020202020204" pitchFamily="34" charset="0"/>
            </a:endParaRPr>
          </a:p>
          <a:p>
            <a:pPr lvl="0" eaLnBrk="0" hangingPunct="0">
              <a:lnSpc>
                <a:spcPct val="110000"/>
              </a:lnSpc>
            </a:pPr>
            <a:r>
              <a:rPr lang="en-US" altLang="zh-CN" sz="2000" b="1" dirty="0">
                <a:solidFill>
                  <a:srgbClr val="0000FF"/>
                </a:solidFill>
                <a:latin typeface="Arial" panose="020B0604020202020204" pitchFamily="34" charset="0"/>
              </a:rPr>
              <a:t>     </a:t>
            </a:r>
            <a:r>
              <a:rPr lang="zh-CN" altLang="zh-CN" sz="2000" b="1" dirty="0">
                <a:solidFill>
                  <a:srgbClr val="0000FF"/>
                </a:solidFill>
                <a:latin typeface="Arial" panose="020B0604020202020204" pitchFamily="34" charset="0"/>
              </a:rPr>
              <a:t>OUT     21H, AL </a:t>
            </a:r>
            <a:endParaRPr lang="en-US" altLang="zh-CN" sz="2000" b="1" dirty="0">
              <a:solidFill>
                <a:srgbClr val="0000FF"/>
              </a:solidFill>
              <a:latin typeface="Arial" panose="020B0604020202020204" pitchFamily="34" charset="0"/>
            </a:endParaRPr>
          </a:p>
        </p:txBody>
      </p:sp>
      <p:sp>
        <p:nvSpPr>
          <p:cNvPr id="5"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5" name="文本框 335874"/>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35876" name="文本框 335875"/>
          <p:cNvSpPr txBox="1"/>
          <p:nvPr/>
        </p:nvSpPr>
        <p:spPr>
          <a:xfrm>
            <a:off x="250825" y="1124744"/>
            <a:ext cx="8642350" cy="4526432"/>
          </a:xfrm>
          <a:prstGeom prst="rect">
            <a:avLst/>
          </a:prstGeom>
          <a:noFill/>
          <a:ln w="9525">
            <a:noFill/>
          </a:ln>
        </p:spPr>
        <p:txBody>
          <a:bodyPr>
            <a:spAutoFit/>
          </a:bodyPr>
          <a:lstStyle/>
          <a:p>
            <a:pPr lvl="0" eaLnBrk="0" hangingPunct="0">
              <a:lnSpc>
                <a:spcPct val="110000"/>
              </a:lnSpc>
            </a:pPr>
            <a:r>
              <a:rPr lang="zh-CN" altLang="zh-CN" sz="2400" b="1" dirty="0">
                <a:solidFill>
                  <a:srgbClr val="0000FF"/>
                </a:solidFill>
                <a:latin typeface="Arial" panose="020B0604020202020204" pitchFamily="34" charset="0"/>
              </a:rPr>
              <a:t>2．操作命令字及其编程</a:t>
            </a:r>
          </a:p>
          <a:p>
            <a:pPr lvl="0" eaLnBrk="0" hangingPunct="0">
              <a:lnSpc>
                <a:spcPct val="110000"/>
              </a:lnSpc>
            </a:pPr>
            <a:r>
              <a:rPr lang="zh-CN" altLang="en-US" sz="2400" b="1" dirty="0">
                <a:latin typeface="Arial" panose="020B0604020202020204" pitchFamily="34" charset="0"/>
              </a:rPr>
              <a:t>        </a:t>
            </a:r>
            <a:r>
              <a:rPr lang="zh-CN" altLang="zh-CN" sz="2400" b="1" dirty="0">
                <a:latin typeface="Arial" panose="020B0604020202020204" pitchFamily="34" charset="0"/>
              </a:rPr>
              <a:t>对8259A初始化编程后，8259A就可接受外部中断请求信号进行工作了。工作期间，可以通过操作命令字OCW使它按不同的方式工作。</a:t>
            </a:r>
            <a:endParaRPr lang="en-US" altLang="zh-CN" sz="2400" b="1" dirty="0">
              <a:latin typeface="Arial" panose="020B0604020202020204" pitchFamily="34" charset="0"/>
            </a:endParaRPr>
          </a:p>
          <a:p>
            <a:pPr lvl="0" eaLnBrk="0" hangingPunct="0">
              <a:lnSpc>
                <a:spcPct val="110000"/>
              </a:lnSpc>
            </a:pPr>
            <a:endParaRPr lang="en-US" altLang="zh-CN" sz="2400" b="1" dirty="0">
              <a:latin typeface="Arial" panose="020B0604020202020204" pitchFamily="34" charset="0"/>
            </a:endParaRPr>
          </a:p>
          <a:p>
            <a:pPr lvl="0" eaLnBrk="0" hangingPunct="0">
              <a:lnSpc>
                <a:spcPct val="110000"/>
              </a:lnSpc>
            </a:pPr>
            <a:r>
              <a:rPr lang="en-US" altLang="zh-CN" sz="2400" b="1" dirty="0">
                <a:latin typeface="Arial" panose="020B0604020202020204" pitchFamily="34" charset="0"/>
              </a:rPr>
              <a:t>        </a:t>
            </a:r>
            <a:r>
              <a:rPr lang="zh-CN" altLang="zh-CN" sz="2400" b="1" dirty="0">
                <a:latin typeface="Arial" panose="020B0604020202020204" pitchFamily="34" charset="0"/>
              </a:rPr>
              <a:t>8259A有3个操作命令字</a:t>
            </a:r>
            <a:r>
              <a:rPr lang="en-US" altLang="zh-CN" sz="2400" b="1" dirty="0">
                <a:latin typeface="Arial" panose="020B0604020202020204" pitchFamily="34" charset="0"/>
              </a:rPr>
              <a:t>OCW1</a:t>
            </a:r>
            <a:r>
              <a:rPr lang="zh-CN" altLang="en-US" sz="2400" b="1" dirty="0">
                <a:latin typeface="Arial" panose="020B0604020202020204" pitchFamily="34" charset="0"/>
              </a:rPr>
              <a:t>、</a:t>
            </a:r>
            <a:r>
              <a:rPr lang="en-US" altLang="zh-CN" sz="2400" b="1" dirty="0">
                <a:latin typeface="Arial" panose="020B0604020202020204" pitchFamily="34" charset="0"/>
              </a:rPr>
              <a:t>OCW2</a:t>
            </a:r>
            <a:r>
              <a:rPr lang="zh-CN" altLang="en-US" sz="2400" b="1" dirty="0">
                <a:latin typeface="Arial" panose="020B0604020202020204" pitchFamily="34" charset="0"/>
              </a:rPr>
              <a:t>、</a:t>
            </a:r>
            <a:r>
              <a:rPr lang="en-US" altLang="zh-CN" sz="2400" b="1" dirty="0">
                <a:latin typeface="Arial" panose="020B0604020202020204" pitchFamily="34" charset="0"/>
              </a:rPr>
              <a:t>OCW3</a:t>
            </a:r>
            <a:r>
              <a:rPr lang="zh-CN" altLang="zh-CN" sz="2400" b="1" dirty="0">
                <a:latin typeface="Arial" panose="020B0604020202020204" pitchFamily="34" charset="0"/>
              </a:rPr>
              <a:t>，它们都有各自的特征位</a:t>
            </a:r>
            <a:r>
              <a:rPr lang="zh-CN" altLang="en-US" sz="2400" b="1" dirty="0">
                <a:latin typeface="Arial" panose="020B0604020202020204" pitchFamily="34" charset="0"/>
              </a:rPr>
              <a:t>；</a:t>
            </a:r>
            <a:r>
              <a:rPr lang="zh-CN" altLang="zh-CN" sz="2400" b="1" dirty="0">
                <a:latin typeface="Arial" panose="020B0604020202020204" pitchFamily="34" charset="0"/>
              </a:rPr>
              <a:t>写入时没有顺序要求</a:t>
            </a:r>
            <a:r>
              <a:rPr lang="zh-CN" altLang="en-US" sz="2400" b="1" dirty="0">
                <a:latin typeface="Arial" panose="020B0604020202020204" pitchFamily="34" charset="0"/>
              </a:rPr>
              <a:t>；</a:t>
            </a:r>
            <a:r>
              <a:rPr lang="zh-CN" altLang="zh-CN" sz="2400" b="1" dirty="0">
                <a:latin typeface="Arial" panose="020B0604020202020204" pitchFamily="34" charset="0"/>
              </a:rPr>
              <a:t>而且可以重复多次写入。</a:t>
            </a:r>
            <a:endParaRPr lang="en-US" altLang="zh-CN" sz="2400" b="1" dirty="0">
              <a:latin typeface="Arial" panose="020B0604020202020204" pitchFamily="34" charset="0"/>
            </a:endParaRPr>
          </a:p>
          <a:p>
            <a:pPr lvl="0" eaLnBrk="0" hangingPunct="0">
              <a:lnSpc>
                <a:spcPct val="110000"/>
              </a:lnSpc>
            </a:pPr>
            <a:endParaRPr lang="en-US" altLang="zh-CN" sz="2400" b="1" dirty="0">
              <a:latin typeface="Arial" panose="020B0604020202020204" pitchFamily="34" charset="0"/>
            </a:endParaRPr>
          </a:p>
          <a:p>
            <a:pPr lvl="0" eaLnBrk="0" hangingPunct="0">
              <a:lnSpc>
                <a:spcPct val="110000"/>
              </a:lnSpc>
            </a:pPr>
            <a:r>
              <a:rPr lang="en-US" altLang="zh-CN" sz="2400" b="1" dirty="0">
                <a:solidFill>
                  <a:srgbClr val="FF00FF"/>
                </a:solidFill>
                <a:latin typeface="Arial" panose="020B0604020202020204" pitchFamily="34" charset="0"/>
              </a:rPr>
              <a:t>        </a:t>
            </a:r>
            <a:r>
              <a:rPr lang="zh-CN" altLang="zh-CN" sz="2400" b="1" dirty="0">
                <a:solidFill>
                  <a:srgbClr val="FF00FF"/>
                </a:solidFill>
                <a:latin typeface="Arial" panose="020B0604020202020204" pitchFamily="34" charset="0"/>
              </a:rPr>
              <a:t>注意</a:t>
            </a:r>
            <a:r>
              <a:rPr lang="zh-CN" altLang="en-US" sz="2400" b="1" dirty="0">
                <a:solidFill>
                  <a:srgbClr val="FF00FF"/>
                </a:solidFill>
                <a:latin typeface="Arial" panose="020B0604020202020204" pitchFamily="34" charset="0"/>
              </a:rPr>
              <a:t>：</a:t>
            </a:r>
            <a:r>
              <a:rPr lang="zh-CN" altLang="zh-CN" sz="2400" b="1" dirty="0">
                <a:latin typeface="Arial" panose="020B0604020202020204" pitchFamily="34" charset="0"/>
              </a:rPr>
              <a:t>OCW1必须写入奇地址，OCW2、OCW3必须写入偶地址</a:t>
            </a:r>
            <a:endParaRPr lang="en-US" altLang="zh-CN" sz="2400" b="1" dirty="0">
              <a:latin typeface="Arial" panose="020B0604020202020204" pitchFamily="34" charset="0"/>
            </a:endParaRPr>
          </a:p>
        </p:txBody>
      </p:sp>
      <p:sp>
        <p:nvSpPr>
          <p:cNvPr id="5"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9" name="文本框 336898"/>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36900" name="文本框 336899"/>
          <p:cNvSpPr txBox="1"/>
          <p:nvPr/>
        </p:nvSpPr>
        <p:spPr>
          <a:xfrm>
            <a:off x="250825" y="764704"/>
            <a:ext cx="8642350" cy="5344796"/>
          </a:xfrm>
          <a:prstGeom prst="rect">
            <a:avLst/>
          </a:prstGeom>
          <a:noFill/>
          <a:ln w="9525">
            <a:noFill/>
          </a:ln>
        </p:spPr>
        <p:txBody>
          <a:bodyPr>
            <a:spAutoFit/>
          </a:bodyPr>
          <a:lstStyle/>
          <a:p>
            <a:pPr lvl="0" eaLnBrk="0" hangingPunct="0">
              <a:lnSpc>
                <a:spcPct val="110000"/>
              </a:lnSpc>
            </a:pPr>
            <a:r>
              <a:rPr lang="zh-CN" altLang="zh-CN" sz="2400" dirty="0">
                <a:solidFill>
                  <a:srgbClr val="FF00FF"/>
                </a:solidFill>
                <a:latin typeface="Times New Roman" panose="02020603050405020304" pitchFamily="18" charset="0"/>
                <a:ea typeface="宋体" panose="02010600030101010101" pitchFamily="2" charset="-122"/>
              </a:rPr>
              <a:t>（</a:t>
            </a:r>
            <a:r>
              <a:rPr lang="zh-CN" altLang="zh-CN" sz="2400" b="1" dirty="0">
                <a:solidFill>
                  <a:srgbClr val="FF00FF"/>
                </a:solidFill>
                <a:latin typeface="Arial" panose="020B0604020202020204" pitchFamily="34" charset="0"/>
              </a:rPr>
              <a:t>1）OCW1</a:t>
            </a:r>
          </a:p>
          <a:p>
            <a:pPr lvl="0" eaLnBrk="0" hangingPunct="0">
              <a:lnSpc>
                <a:spcPct val="110000"/>
              </a:lnSpc>
            </a:pPr>
            <a:r>
              <a:rPr lang="zh-CN" altLang="zh-CN" sz="2400" b="1" dirty="0">
                <a:latin typeface="Arial" panose="020B0604020202020204" pitchFamily="34" charset="0"/>
              </a:rPr>
              <a:t>OCW1</a:t>
            </a:r>
            <a:r>
              <a:rPr lang="zh-CN" altLang="en-US" sz="2400" b="1" dirty="0">
                <a:latin typeface="Arial" panose="020B0604020202020204" pitchFamily="34" charset="0"/>
              </a:rPr>
              <a:t>：</a:t>
            </a:r>
            <a:r>
              <a:rPr lang="zh-CN" altLang="zh-CN" sz="2400" b="1" dirty="0">
                <a:latin typeface="Arial" panose="020B0604020202020204" pitchFamily="34" charset="0"/>
              </a:rPr>
              <a:t>是中断屏蔽命令字</a:t>
            </a:r>
            <a:r>
              <a:rPr lang="zh-CN" altLang="en-US" sz="2400" b="1" dirty="0">
                <a:latin typeface="Arial" panose="020B0604020202020204" pitchFamily="34" charset="0"/>
              </a:rPr>
              <a:t>，对中断屏蔽寄存器</a:t>
            </a:r>
            <a:r>
              <a:rPr lang="en-US" altLang="zh-CN" sz="2400" b="1" dirty="0">
                <a:latin typeface="Arial" panose="020B0604020202020204" pitchFamily="34" charset="0"/>
              </a:rPr>
              <a:t>IMR</a:t>
            </a:r>
            <a:r>
              <a:rPr lang="zh-CN" altLang="en-US" sz="2400" b="1" dirty="0">
                <a:latin typeface="Arial" panose="020B0604020202020204" pitchFamily="34" charset="0"/>
              </a:rPr>
              <a:t>的各位进行置位和复位。</a:t>
            </a:r>
            <a:endParaRPr lang="zh-CN" altLang="zh-CN" sz="2400" b="1" dirty="0">
              <a:latin typeface="Arial" panose="020B0604020202020204" pitchFamily="34" charset="0"/>
            </a:endParaRPr>
          </a:p>
          <a:p>
            <a:pPr lvl="0" eaLnBrk="0" hangingPunct="0">
              <a:lnSpc>
                <a:spcPct val="110000"/>
              </a:lnSpc>
            </a:pPr>
            <a:endParaRPr lang="zh-CN" altLang="en-US" sz="2400" b="1" dirty="0">
              <a:latin typeface="Arial" panose="020B0604020202020204" pitchFamily="34" charset="0"/>
            </a:endParaRPr>
          </a:p>
          <a:p>
            <a:pPr lvl="0" eaLnBrk="0" hangingPunct="0">
              <a:lnSpc>
                <a:spcPct val="110000"/>
              </a:lnSpc>
            </a:pPr>
            <a:endParaRPr lang="zh-CN" altLang="en-US" sz="2400" b="1" dirty="0">
              <a:latin typeface="Arial" panose="020B0604020202020204" pitchFamily="34" charset="0"/>
            </a:endParaRPr>
          </a:p>
          <a:p>
            <a:pPr lvl="0" eaLnBrk="0" hangingPunct="0">
              <a:lnSpc>
                <a:spcPct val="110000"/>
              </a:lnSpc>
            </a:pPr>
            <a:r>
              <a:rPr lang="zh-CN" altLang="en-US" sz="2400" b="1" dirty="0">
                <a:latin typeface="Arial" panose="020B0604020202020204" pitchFamily="34" charset="0"/>
              </a:rPr>
              <a:t>    </a:t>
            </a:r>
            <a:r>
              <a:rPr lang="zh-CN" altLang="zh-CN" sz="2000" b="1" dirty="0">
                <a:latin typeface="Arial" panose="020B0604020202020204" pitchFamily="34" charset="0"/>
              </a:rPr>
              <a:t>M</a:t>
            </a:r>
            <a:r>
              <a:rPr lang="zh-CN" altLang="zh-CN" sz="2000" b="1" baseline="-25000" dirty="0">
                <a:latin typeface="Arial" panose="020B0604020202020204" pitchFamily="34" charset="0"/>
              </a:rPr>
              <a:t>i</a:t>
            </a:r>
            <a:r>
              <a:rPr lang="zh-CN" altLang="zh-CN" sz="2000" b="1" dirty="0">
                <a:latin typeface="Arial" panose="020B0604020202020204" pitchFamily="34" charset="0"/>
              </a:rPr>
              <a:t>=1</a:t>
            </a:r>
            <a:r>
              <a:rPr lang="zh-CN" altLang="en-US" sz="2000" b="1" dirty="0">
                <a:latin typeface="Arial" panose="020B0604020202020204" pitchFamily="34" charset="0"/>
              </a:rPr>
              <a:t>：</a:t>
            </a:r>
            <a:r>
              <a:rPr lang="zh-CN" altLang="zh-CN" sz="2000" b="1" dirty="0">
                <a:latin typeface="Arial" panose="020B0604020202020204" pitchFamily="34" charset="0"/>
              </a:rPr>
              <a:t>该位对应的IR</a:t>
            </a:r>
            <a:r>
              <a:rPr lang="zh-CN" altLang="zh-CN" sz="2000" b="1" baseline="-25000" dirty="0">
                <a:latin typeface="Arial" panose="020B0604020202020204" pitchFamily="34" charset="0"/>
              </a:rPr>
              <a:t>i</a:t>
            </a:r>
            <a:r>
              <a:rPr lang="zh-CN" altLang="zh-CN" sz="2000" b="1" dirty="0">
                <a:latin typeface="Arial" panose="020B0604020202020204" pitchFamily="34" charset="0"/>
              </a:rPr>
              <a:t>的中断请求被屏蔽</a:t>
            </a:r>
            <a:endParaRPr lang="en-US" altLang="zh-CN" sz="2000" b="1" dirty="0">
              <a:latin typeface="Arial" panose="020B0604020202020204" pitchFamily="34" charset="0"/>
            </a:endParaRPr>
          </a:p>
          <a:p>
            <a:pPr lvl="0" eaLnBrk="0" hangingPunct="0">
              <a:lnSpc>
                <a:spcPct val="110000"/>
              </a:lnSpc>
            </a:pPr>
            <a:r>
              <a:rPr lang="en-US" altLang="zh-CN" sz="2000" b="1" dirty="0">
                <a:latin typeface="Arial" panose="020B0604020202020204" pitchFamily="34" charset="0"/>
              </a:rPr>
              <a:t>     </a:t>
            </a:r>
            <a:r>
              <a:rPr lang="zh-CN" altLang="zh-CN" sz="2000" b="1" dirty="0">
                <a:latin typeface="Arial" panose="020B0604020202020204" pitchFamily="34" charset="0"/>
              </a:rPr>
              <a:t>M</a:t>
            </a:r>
            <a:r>
              <a:rPr lang="zh-CN" altLang="zh-CN" sz="2000" b="1" baseline="-25000" dirty="0">
                <a:latin typeface="Arial" panose="020B0604020202020204" pitchFamily="34" charset="0"/>
              </a:rPr>
              <a:t>i</a:t>
            </a:r>
            <a:r>
              <a:rPr lang="zh-CN" altLang="zh-CN" sz="2000" b="1" dirty="0">
                <a:latin typeface="Arial" panose="020B0604020202020204" pitchFamily="34" charset="0"/>
              </a:rPr>
              <a:t>=0</a:t>
            </a:r>
            <a:r>
              <a:rPr lang="zh-CN" altLang="en-US" sz="2000" b="1" dirty="0">
                <a:latin typeface="Arial" panose="020B0604020202020204" pitchFamily="34" charset="0"/>
              </a:rPr>
              <a:t>：</a:t>
            </a:r>
            <a:r>
              <a:rPr lang="zh-CN" altLang="zh-CN" sz="2000" b="1" dirty="0">
                <a:latin typeface="Arial" panose="020B0604020202020204" pitchFamily="34" charset="0"/>
              </a:rPr>
              <a:t>相应中断请求被允许。</a:t>
            </a:r>
            <a:endParaRPr lang="en-US" altLang="zh-CN" sz="2000" b="1" dirty="0">
              <a:latin typeface="Arial" panose="020B0604020202020204" pitchFamily="34" charset="0"/>
            </a:endParaRPr>
          </a:p>
          <a:p>
            <a:pPr lvl="0" eaLnBrk="0" hangingPunct="0">
              <a:lnSpc>
                <a:spcPct val="110000"/>
              </a:lnSpc>
            </a:pPr>
            <a:r>
              <a:rPr lang="zh-CN" altLang="zh-CN" sz="2000" b="1" dirty="0">
                <a:latin typeface="Arial" panose="020B0604020202020204" pitchFamily="34" charset="0"/>
              </a:rPr>
              <a:t>初始化开始时，默认屏蔽字全“0”，所有中断源都未被屏蔽。</a:t>
            </a:r>
          </a:p>
          <a:p>
            <a:pPr lvl="0" eaLnBrk="0" hangingPunct="0">
              <a:lnSpc>
                <a:spcPct val="110000"/>
              </a:lnSpc>
            </a:pPr>
            <a:r>
              <a:rPr lang="zh-CN" altLang="zh-CN" sz="2000" b="1" dirty="0">
                <a:latin typeface="Arial" panose="020B0604020202020204" pitchFamily="34" charset="0"/>
              </a:rPr>
              <a:t>OCW1必须写入奇地址，即A0=1。</a:t>
            </a:r>
            <a:r>
              <a:rPr lang="en-US" altLang="zh-CN" sz="2000" b="1" dirty="0">
                <a:latin typeface="Arial" panose="020B0604020202020204" pitchFamily="34" charset="0"/>
              </a:rPr>
              <a:t>IMR</a:t>
            </a:r>
            <a:r>
              <a:rPr lang="zh-CN" altLang="en-US" sz="2000" b="1" dirty="0">
                <a:latin typeface="Arial" panose="020B0604020202020204" pitchFamily="34" charset="0"/>
              </a:rPr>
              <a:t>的内容也允许</a:t>
            </a:r>
            <a:r>
              <a:rPr lang="en-US" altLang="zh-CN" sz="2000" b="1" dirty="0">
                <a:latin typeface="Arial" panose="020B0604020202020204" pitchFamily="34" charset="0"/>
              </a:rPr>
              <a:t>CPU</a:t>
            </a:r>
            <a:r>
              <a:rPr lang="zh-CN" altLang="en-US" sz="2000" b="1" dirty="0">
                <a:latin typeface="Arial" panose="020B0604020202020204" pitchFamily="34" charset="0"/>
              </a:rPr>
              <a:t>随时读。</a:t>
            </a:r>
            <a:endParaRPr lang="en-US" altLang="zh-CN" sz="2000" b="1" dirty="0">
              <a:latin typeface="Arial" panose="020B0604020202020204" pitchFamily="34" charset="0"/>
            </a:endParaRPr>
          </a:p>
          <a:p>
            <a:pPr lvl="0" eaLnBrk="0" hangingPunct="0">
              <a:lnSpc>
                <a:spcPct val="110000"/>
              </a:lnSpc>
            </a:pPr>
            <a:endParaRPr lang="zh-CN" altLang="zh-CN" sz="2000" b="1" dirty="0">
              <a:latin typeface="Arial" panose="020B0604020202020204" pitchFamily="34" charset="0"/>
            </a:endParaRPr>
          </a:p>
          <a:p>
            <a:pPr lvl="0" eaLnBrk="0" hangingPunct="0">
              <a:lnSpc>
                <a:spcPct val="110000"/>
              </a:lnSpc>
            </a:pPr>
            <a:r>
              <a:rPr lang="en-US" altLang="zh-CN" sz="2400" b="1" dirty="0">
                <a:solidFill>
                  <a:srgbClr val="0000FF"/>
                </a:solidFill>
                <a:latin typeface="Arial" panose="020B0604020202020204" pitchFamily="34" charset="0"/>
              </a:rPr>
              <a:t>【</a:t>
            </a:r>
            <a:r>
              <a:rPr lang="zh-CN" altLang="en-US" sz="2400" b="1" dirty="0">
                <a:solidFill>
                  <a:srgbClr val="0000FF"/>
                </a:solidFill>
                <a:latin typeface="Arial" panose="020B0604020202020204" pitchFamily="34" charset="0"/>
              </a:rPr>
              <a:t>例 </a:t>
            </a:r>
            <a:r>
              <a:rPr lang="en-US" altLang="zh-CN" sz="2400" b="1" dirty="0">
                <a:solidFill>
                  <a:srgbClr val="0000FF"/>
                </a:solidFill>
                <a:latin typeface="Arial" panose="020B0604020202020204" pitchFamily="34" charset="0"/>
              </a:rPr>
              <a:t>8.5】</a:t>
            </a:r>
            <a:r>
              <a:rPr lang="zh-CN" altLang="en-US" sz="2400" b="1" dirty="0">
                <a:latin typeface="Arial" panose="020B0604020202020204" pitchFamily="34" charset="0"/>
              </a:rPr>
              <a:t>假设 </a:t>
            </a:r>
            <a:r>
              <a:rPr lang="en-US" altLang="zh-CN" sz="2400" b="1" dirty="0">
                <a:latin typeface="Arial" panose="020B0604020202020204" pitchFamily="34" charset="0"/>
              </a:rPr>
              <a:t>8259A </a:t>
            </a:r>
            <a:r>
              <a:rPr lang="zh-CN" altLang="en-US" sz="2400" b="1" dirty="0">
                <a:latin typeface="Arial" panose="020B0604020202020204" pitchFamily="34" charset="0"/>
              </a:rPr>
              <a:t>的端口地址为 </a:t>
            </a:r>
            <a:r>
              <a:rPr lang="en-US" altLang="zh-CN" sz="2400" b="1" dirty="0">
                <a:latin typeface="Arial" panose="020B0604020202020204" pitchFamily="34" charset="0"/>
              </a:rPr>
              <a:t>20H </a:t>
            </a:r>
            <a:r>
              <a:rPr lang="zh-CN" altLang="en-US" sz="2400" b="1" dirty="0">
                <a:latin typeface="Arial" panose="020B0604020202020204" pitchFamily="34" charset="0"/>
              </a:rPr>
              <a:t>和 </a:t>
            </a:r>
            <a:r>
              <a:rPr lang="en-US" altLang="zh-CN" sz="2400" b="1" dirty="0">
                <a:latin typeface="Arial" panose="020B0604020202020204" pitchFamily="34" charset="0"/>
              </a:rPr>
              <a:t>21H</a:t>
            </a:r>
            <a:r>
              <a:rPr lang="zh-CN" altLang="en-US" sz="2400" b="1" dirty="0">
                <a:latin typeface="Arial" panose="020B0604020202020204" pitchFamily="34" charset="0"/>
              </a:rPr>
              <a:t>，请写出屏蔽 </a:t>
            </a:r>
            <a:r>
              <a:rPr lang="en-US" altLang="zh-CN" sz="2400" b="1" dirty="0">
                <a:latin typeface="Arial" panose="020B0604020202020204" pitchFamily="34" charset="0"/>
              </a:rPr>
              <a:t>IR</a:t>
            </a:r>
            <a:r>
              <a:rPr lang="en-US" altLang="zh-CN" sz="2400" b="1" baseline="-25000" dirty="0">
                <a:latin typeface="Arial" panose="020B0604020202020204" pitchFamily="34" charset="0"/>
              </a:rPr>
              <a:t>3</a:t>
            </a:r>
            <a:r>
              <a:rPr lang="en-US" altLang="zh-CN" sz="2400" b="1" dirty="0">
                <a:latin typeface="Arial" panose="020B0604020202020204" pitchFamily="34" charset="0"/>
              </a:rPr>
              <a:t> </a:t>
            </a:r>
            <a:r>
              <a:rPr lang="zh-CN" altLang="en-US" sz="2400" b="1" dirty="0">
                <a:latin typeface="Arial" panose="020B0604020202020204" pitchFamily="34" charset="0"/>
              </a:rPr>
              <a:t>和 </a:t>
            </a:r>
            <a:r>
              <a:rPr lang="en-US" altLang="zh-CN" sz="2400" b="1" dirty="0">
                <a:latin typeface="Arial" panose="020B0604020202020204" pitchFamily="34" charset="0"/>
              </a:rPr>
              <a:t>IR</a:t>
            </a:r>
            <a:r>
              <a:rPr lang="en-US" altLang="zh-CN" sz="2400" b="1" baseline="-25000" dirty="0">
                <a:latin typeface="Arial" panose="020B0604020202020204" pitchFamily="34" charset="0"/>
              </a:rPr>
              <a:t>5</a:t>
            </a:r>
            <a:r>
              <a:rPr lang="en-US" altLang="zh-CN" sz="2400" b="1" dirty="0">
                <a:latin typeface="Arial" panose="020B0604020202020204" pitchFamily="34" charset="0"/>
              </a:rPr>
              <a:t> </a:t>
            </a:r>
            <a:r>
              <a:rPr lang="zh-CN" altLang="en-US" sz="2400" b="1" dirty="0">
                <a:latin typeface="Arial" panose="020B0604020202020204" pitchFamily="34" charset="0"/>
              </a:rPr>
              <a:t>的指令序列。</a:t>
            </a:r>
            <a:endParaRPr lang="en-US" altLang="zh-CN" sz="2400" b="1" dirty="0">
              <a:latin typeface="Arial" panose="020B0604020202020204" pitchFamily="34" charset="0"/>
            </a:endParaRPr>
          </a:p>
          <a:p>
            <a:pPr lvl="0" eaLnBrk="0" hangingPunct="0">
              <a:lnSpc>
                <a:spcPct val="110000"/>
              </a:lnSpc>
            </a:pPr>
            <a:r>
              <a:rPr lang="zh-CN" altLang="zh-CN" sz="2000" b="1" dirty="0">
                <a:latin typeface="Arial" panose="020B0604020202020204" pitchFamily="34" charset="0"/>
              </a:rPr>
              <a:t>        </a:t>
            </a:r>
            <a:r>
              <a:rPr lang="zh-CN" altLang="en-US" sz="2000" b="1" dirty="0">
                <a:latin typeface="Arial" panose="020B0604020202020204" pitchFamily="34" charset="0"/>
              </a:rPr>
              <a:t>答：</a:t>
            </a:r>
            <a:r>
              <a:rPr lang="zh-CN" altLang="zh-CN" sz="2000" b="1" dirty="0">
                <a:solidFill>
                  <a:srgbClr val="0000FF"/>
                </a:solidFill>
                <a:latin typeface="Arial" panose="020B0604020202020204" pitchFamily="34" charset="0"/>
              </a:rPr>
              <a:t>MOV     AL, 00101000B</a:t>
            </a:r>
          </a:p>
          <a:p>
            <a:pPr lvl="0" eaLnBrk="0" hangingPunct="0">
              <a:lnSpc>
                <a:spcPct val="110000"/>
              </a:lnSpc>
            </a:pPr>
            <a:r>
              <a:rPr lang="zh-CN" altLang="zh-CN" sz="2000" b="1" dirty="0">
                <a:solidFill>
                  <a:srgbClr val="0000FF"/>
                </a:solidFill>
                <a:latin typeface="Arial" panose="020B0604020202020204" pitchFamily="34" charset="0"/>
              </a:rPr>
              <a:t>       </a:t>
            </a:r>
            <a:r>
              <a:rPr lang="en-US" altLang="zh-CN" sz="2000" b="1" dirty="0">
                <a:solidFill>
                  <a:srgbClr val="0000FF"/>
                </a:solidFill>
                <a:latin typeface="Arial" panose="020B0604020202020204" pitchFamily="34" charset="0"/>
              </a:rPr>
              <a:t>        </a:t>
            </a:r>
            <a:r>
              <a:rPr lang="zh-CN" altLang="zh-CN" sz="2000" b="1" dirty="0">
                <a:solidFill>
                  <a:srgbClr val="0000FF"/>
                </a:solidFill>
                <a:latin typeface="Arial" panose="020B0604020202020204" pitchFamily="34" charset="0"/>
              </a:rPr>
              <a:t> OUT     21H, AL         		; 写入OCW1，即IMR</a:t>
            </a:r>
            <a:endParaRPr lang="en-US" altLang="zh-CN" sz="2000" b="1" dirty="0">
              <a:solidFill>
                <a:srgbClr val="0000FF"/>
              </a:solidFill>
              <a:latin typeface="Arial" panose="020B0604020202020204" pitchFamily="34" charset="0"/>
            </a:endParaRPr>
          </a:p>
        </p:txBody>
      </p:sp>
      <p:pic>
        <p:nvPicPr>
          <p:cNvPr id="336901" name="图片 336900"/>
          <p:cNvPicPr>
            <a:picLocks noChangeAspect="1"/>
          </p:cNvPicPr>
          <p:nvPr/>
        </p:nvPicPr>
        <p:blipFill>
          <a:blip r:embed="rId2"/>
          <a:stretch>
            <a:fillRect/>
          </a:stretch>
        </p:blipFill>
        <p:spPr>
          <a:xfrm>
            <a:off x="1259632" y="1988840"/>
            <a:ext cx="6481763" cy="679450"/>
          </a:xfrm>
          <a:prstGeom prst="rect">
            <a:avLst/>
          </a:prstGeom>
          <a:noFill/>
          <a:ln w="9525">
            <a:noFill/>
          </a:ln>
        </p:spPr>
      </p:pic>
      <p:sp>
        <p:nvSpPr>
          <p:cNvPr id="6"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327681">
            <a:extLst>
              <a:ext uri="{FF2B5EF4-FFF2-40B4-BE49-F238E27FC236}">
                <a16:creationId xmlns:a16="http://schemas.microsoft.com/office/drawing/2014/main" id="{2F4F7043-C3BE-49B0-8EEF-01F8B23C95A9}"/>
              </a:ext>
            </a:extLst>
          </p:cNvPr>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7" name="内容占位符 2">
            <a:extLst>
              <a:ext uri="{FF2B5EF4-FFF2-40B4-BE49-F238E27FC236}">
                <a16:creationId xmlns:a16="http://schemas.microsoft.com/office/drawing/2014/main" id="{1977BF8A-E63F-42E9-8CC7-B8C5D846D2C5}"/>
              </a:ext>
            </a:extLst>
          </p:cNvPr>
          <p:cNvSpPr>
            <a:spLocks noGrp="1"/>
          </p:cNvSpPr>
          <p:nvPr>
            <p:ph idx="1"/>
          </p:nvPr>
        </p:nvSpPr>
        <p:spPr>
          <a:xfrm>
            <a:off x="251520" y="836712"/>
            <a:ext cx="8507288" cy="4525963"/>
          </a:xfrm>
        </p:spPr>
        <p:txBody>
          <a:bodyPr/>
          <a:lstStyle/>
          <a:p>
            <a:pPr marL="0" indent="0" algn="just">
              <a:buNone/>
            </a:pPr>
            <a:r>
              <a:rPr lang="en-US" altLang="zh-CN" sz="2400" b="1" dirty="0">
                <a:solidFill>
                  <a:srgbClr val="0000FF"/>
                </a:solidFill>
                <a:latin typeface="Arial" panose="020B0604020202020204" pitchFamily="34" charset="0"/>
              </a:rPr>
              <a:t>【</a:t>
            </a:r>
            <a:r>
              <a:rPr lang="zh-CN" altLang="en-US" sz="2400" b="1" dirty="0">
                <a:solidFill>
                  <a:srgbClr val="0000FF"/>
                </a:solidFill>
                <a:latin typeface="Arial" panose="020B0604020202020204" pitchFamily="34" charset="0"/>
              </a:rPr>
              <a:t>例</a:t>
            </a:r>
            <a:r>
              <a:rPr lang="en-US" altLang="zh-CN" sz="2400" b="1" dirty="0">
                <a:solidFill>
                  <a:srgbClr val="0000FF"/>
                </a:solidFill>
                <a:latin typeface="Arial" panose="020B0604020202020204" pitchFamily="34" charset="0"/>
              </a:rPr>
              <a:t>】</a:t>
            </a:r>
            <a:r>
              <a:rPr lang="zh-CN" altLang="en-US" sz="2400" dirty="0">
                <a:latin typeface="+mn-lt"/>
              </a:rPr>
              <a:t>对</a:t>
            </a:r>
            <a:r>
              <a:rPr lang="en-US" sz="2400" dirty="0">
                <a:latin typeface="+mn-lt"/>
              </a:rPr>
              <a:t>8259A</a:t>
            </a:r>
            <a:r>
              <a:rPr lang="zh-CN" altLang="en-US" sz="2400" dirty="0">
                <a:latin typeface="+mn-lt"/>
              </a:rPr>
              <a:t>中断屏蔽寄存器</a:t>
            </a:r>
            <a:r>
              <a:rPr lang="en-US" sz="2400" dirty="0">
                <a:latin typeface="+mn-lt"/>
              </a:rPr>
              <a:t>IMR</a:t>
            </a:r>
            <a:r>
              <a:rPr lang="zh-CN" altLang="en-US" sz="2400" dirty="0">
                <a:latin typeface="+mn-lt"/>
              </a:rPr>
              <a:t>写入全</a:t>
            </a:r>
            <a:r>
              <a:rPr lang="en-US" sz="2400" dirty="0">
                <a:latin typeface="+mn-lt"/>
              </a:rPr>
              <a:t>0</a:t>
            </a:r>
            <a:r>
              <a:rPr lang="zh-CN" altLang="en-US" sz="2400" dirty="0">
                <a:latin typeface="+mn-lt"/>
              </a:rPr>
              <a:t>，然后读出看是否全</a:t>
            </a:r>
            <a:r>
              <a:rPr lang="en-US" sz="2400" dirty="0">
                <a:latin typeface="+mn-lt"/>
              </a:rPr>
              <a:t>0</a:t>
            </a:r>
            <a:r>
              <a:rPr lang="zh-CN" altLang="en-US" sz="2400" dirty="0">
                <a:latin typeface="+mn-lt"/>
              </a:rPr>
              <a:t>，若是则正确，否则转出错处理。再写入全</a:t>
            </a:r>
            <a:r>
              <a:rPr lang="en-US" sz="2400" dirty="0">
                <a:latin typeface="+mn-lt"/>
              </a:rPr>
              <a:t>1</a:t>
            </a:r>
            <a:r>
              <a:rPr lang="zh-CN" altLang="en-US" sz="2400" dirty="0">
                <a:latin typeface="+mn-lt"/>
              </a:rPr>
              <a:t>，作类似检查。</a:t>
            </a:r>
            <a:endParaRPr lang="en-US" altLang="zh-CN" sz="2400" dirty="0">
              <a:latin typeface="+mn-lt"/>
            </a:endParaRPr>
          </a:p>
          <a:p>
            <a:pPr marL="0" indent="0" algn="just">
              <a:buNone/>
            </a:pPr>
            <a:r>
              <a:rPr lang="en-US" sz="2400" dirty="0">
                <a:solidFill>
                  <a:srgbClr val="0000FF"/>
                </a:solidFill>
                <a:ea typeface="华文中宋" pitchFamily="2" charset="-122"/>
              </a:rPr>
              <a:t>    </a:t>
            </a:r>
            <a:r>
              <a:rPr lang="en-US" sz="2200" dirty="0">
                <a:solidFill>
                  <a:srgbClr val="0000FF"/>
                </a:solidFill>
                <a:latin typeface="+mn-lt"/>
                <a:ea typeface="华文中宋" pitchFamily="2" charset="-122"/>
              </a:rPr>
              <a:t>CLI</a:t>
            </a:r>
            <a:endParaRPr lang="zh-CN" altLang="en-US" sz="2200" dirty="0">
              <a:solidFill>
                <a:srgbClr val="0000FF"/>
              </a:solidFill>
              <a:latin typeface="+mn-lt"/>
              <a:ea typeface="华文中宋" pitchFamily="2" charset="-122"/>
            </a:endParaRPr>
          </a:p>
          <a:p>
            <a:pPr>
              <a:spcBef>
                <a:spcPts val="0"/>
              </a:spcBef>
              <a:buNone/>
            </a:pPr>
            <a:r>
              <a:rPr lang="en-US" sz="2200" dirty="0">
                <a:solidFill>
                  <a:srgbClr val="0000FF"/>
                </a:solidFill>
                <a:latin typeface="+mn-lt"/>
                <a:ea typeface="华文中宋" pitchFamily="2" charset="-122"/>
              </a:rPr>
              <a:t>	MOV  	AL</a:t>
            </a:r>
            <a:r>
              <a:rPr lang="zh-CN" altLang="en-US" sz="2200" dirty="0">
                <a:solidFill>
                  <a:srgbClr val="0000FF"/>
                </a:solidFill>
                <a:latin typeface="+mn-lt"/>
                <a:ea typeface="华文中宋" pitchFamily="2" charset="-122"/>
              </a:rPr>
              <a:t>，</a:t>
            </a:r>
            <a:r>
              <a:rPr lang="en-US" sz="2200" dirty="0">
                <a:solidFill>
                  <a:srgbClr val="0000FF"/>
                </a:solidFill>
                <a:latin typeface="+mn-lt"/>
                <a:ea typeface="华文中宋" pitchFamily="2" charset="-122"/>
              </a:rPr>
              <a:t>0           	</a:t>
            </a:r>
            <a:r>
              <a:rPr lang="zh-CN" altLang="en-US" sz="2200" dirty="0">
                <a:solidFill>
                  <a:srgbClr val="0000FF"/>
                </a:solidFill>
                <a:latin typeface="+mn-lt"/>
                <a:ea typeface="华文中宋" pitchFamily="2" charset="-122"/>
              </a:rPr>
              <a:t>；</a:t>
            </a:r>
            <a:r>
              <a:rPr lang="en-US" sz="2200" dirty="0">
                <a:solidFill>
                  <a:srgbClr val="0000FF"/>
                </a:solidFill>
                <a:latin typeface="+mn-lt"/>
                <a:ea typeface="华文中宋" pitchFamily="2" charset="-122"/>
              </a:rPr>
              <a:t>OCW</a:t>
            </a:r>
            <a:r>
              <a:rPr lang="en-US" sz="2200" baseline="-25000" dirty="0">
                <a:solidFill>
                  <a:srgbClr val="0000FF"/>
                </a:solidFill>
                <a:latin typeface="+mn-lt"/>
                <a:ea typeface="华文中宋" pitchFamily="2" charset="-122"/>
              </a:rPr>
              <a:t>1</a:t>
            </a:r>
            <a:r>
              <a:rPr lang="zh-CN" altLang="en-US" sz="2200" dirty="0">
                <a:solidFill>
                  <a:srgbClr val="0000FF"/>
                </a:solidFill>
                <a:latin typeface="+mn-lt"/>
                <a:ea typeface="华文中宋" pitchFamily="2" charset="-122"/>
              </a:rPr>
              <a:t>，</a:t>
            </a:r>
            <a:r>
              <a:rPr lang="en-US" sz="2200" dirty="0">
                <a:solidFill>
                  <a:srgbClr val="0000FF"/>
                </a:solidFill>
                <a:latin typeface="+mn-lt"/>
                <a:ea typeface="华文中宋" pitchFamily="2" charset="-122"/>
              </a:rPr>
              <a:t>IMR</a:t>
            </a:r>
            <a:r>
              <a:rPr lang="zh-CN" altLang="en-US" sz="2200" dirty="0">
                <a:solidFill>
                  <a:srgbClr val="0000FF"/>
                </a:solidFill>
                <a:latin typeface="+mn-lt"/>
                <a:ea typeface="华文中宋" pitchFamily="2" charset="-122"/>
              </a:rPr>
              <a:t>各位清</a:t>
            </a:r>
            <a:r>
              <a:rPr lang="en-US" sz="2200" dirty="0">
                <a:solidFill>
                  <a:srgbClr val="0000FF"/>
                </a:solidFill>
                <a:latin typeface="+mn-lt"/>
                <a:ea typeface="华文中宋" pitchFamily="2" charset="-122"/>
              </a:rPr>
              <a:t>0</a:t>
            </a:r>
            <a:endParaRPr lang="zh-CN" altLang="en-US" sz="2200" dirty="0">
              <a:solidFill>
                <a:srgbClr val="0000FF"/>
              </a:solidFill>
              <a:latin typeface="+mn-lt"/>
              <a:ea typeface="华文中宋" pitchFamily="2" charset="-122"/>
            </a:endParaRPr>
          </a:p>
          <a:p>
            <a:pPr>
              <a:spcBef>
                <a:spcPts val="0"/>
              </a:spcBef>
              <a:buNone/>
            </a:pPr>
            <a:r>
              <a:rPr lang="en-US" sz="2200" dirty="0">
                <a:solidFill>
                  <a:srgbClr val="0000FF"/>
                </a:solidFill>
                <a:latin typeface="+mn-lt"/>
                <a:ea typeface="华文中宋" pitchFamily="2" charset="-122"/>
              </a:rPr>
              <a:t>	OUT   	21H</a:t>
            </a:r>
            <a:r>
              <a:rPr lang="zh-CN" altLang="en-US" sz="2200" dirty="0">
                <a:solidFill>
                  <a:srgbClr val="0000FF"/>
                </a:solidFill>
                <a:latin typeface="+mn-lt"/>
                <a:ea typeface="华文中宋" pitchFamily="2" charset="-122"/>
              </a:rPr>
              <a:t>，</a:t>
            </a:r>
            <a:r>
              <a:rPr lang="en-US" sz="2200" dirty="0">
                <a:solidFill>
                  <a:srgbClr val="0000FF"/>
                </a:solidFill>
                <a:latin typeface="+mn-lt"/>
                <a:ea typeface="华文中宋" pitchFamily="2" charset="-122"/>
              </a:rPr>
              <a:t>AL </a:t>
            </a:r>
            <a:endParaRPr lang="zh-CN" altLang="en-US" sz="2200" dirty="0">
              <a:solidFill>
                <a:srgbClr val="0000FF"/>
              </a:solidFill>
              <a:latin typeface="+mn-lt"/>
              <a:ea typeface="华文中宋" pitchFamily="2" charset="-122"/>
            </a:endParaRPr>
          </a:p>
          <a:p>
            <a:pPr>
              <a:spcBef>
                <a:spcPts val="0"/>
              </a:spcBef>
              <a:buNone/>
            </a:pPr>
            <a:r>
              <a:rPr lang="en-US" sz="2200" dirty="0">
                <a:solidFill>
                  <a:srgbClr val="0000FF"/>
                </a:solidFill>
                <a:latin typeface="+mn-lt"/>
                <a:ea typeface="华文中宋" pitchFamily="2" charset="-122"/>
              </a:rPr>
              <a:t>	IN     	AL</a:t>
            </a:r>
            <a:r>
              <a:rPr lang="zh-CN" altLang="en-US" sz="2200" dirty="0">
                <a:solidFill>
                  <a:srgbClr val="0000FF"/>
                </a:solidFill>
                <a:latin typeface="+mn-lt"/>
                <a:ea typeface="华文中宋" pitchFamily="2" charset="-122"/>
              </a:rPr>
              <a:t>，</a:t>
            </a:r>
            <a:r>
              <a:rPr lang="en-US" sz="2200" dirty="0">
                <a:solidFill>
                  <a:srgbClr val="0000FF"/>
                </a:solidFill>
                <a:latin typeface="+mn-lt"/>
                <a:ea typeface="华文中宋" pitchFamily="2" charset="-122"/>
              </a:rPr>
              <a:t> 21H      	</a:t>
            </a:r>
            <a:r>
              <a:rPr lang="zh-CN" altLang="en-US" sz="2200" dirty="0">
                <a:solidFill>
                  <a:srgbClr val="0000FF"/>
                </a:solidFill>
                <a:latin typeface="+mn-lt"/>
                <a:ea typeface="华文中宋" pitchFamily="2" charset="-122"/>
              </a:rPr>
              <a:t>；</a:t>
            </a:r>
            <a:r>
              <a:rPr lang="en-US" sz="2200" dirty="0">
                <a:solidFill>
                  <a:srgbClr val="0000FF"/>
                </a:solidFill>
                <a:latin typeface="+mn-lt"/>
                <a:ea typeface="华文中宋" pitchFamily="2" charset="-122"/>
              </a:rPr>
              <a:t>AL</a:t>
            </a:r>
            <a:r>
              <a:rPr lang="zh-CN" altLang="en-US" sz="2200" dirty="0">
                <a:solidFill>
                  <a:srgbClr val="0000FF"/>
                </a:solidFill>
                <a:latin typeface="+mn-lt"/>
                <a:ea typeface="华文中宋" pitchFamily="2" charset="-122"/>
              </a:rPr>
              <a:t>←</a:t>
            </a:r>
            <a:r>
              <a:rPr lang="en-US" sz="2200" dirty="0">
                <a:solidFill>
                  <a:srgbClr val="0000FF"/>
                </a:solidFill>
                <a:latin typeface="+mn-lt"/>
                <a:ea typeface="华文中宋" pitchFamily="2" charset="-122"/>
              </a:rPr>
              <a:t>IMR</a:t>
            </a:r>
            <a:r>
              <a:rPr lang="zh-CN" altLang="en-US" sz="2200" dirty="0">
                <a:solidFill>
                  <a:srgbClr val="0000FF"/>
                </a:solidFill>
                <a:latin typeface="+mn-lt"/>
                <a:ea typeface="华文中宋" pitchFamily="2" charset="-122"/>
              </a:rPr>
              <a:t>，不影响</a:t>
            </a:r>
            <a:r>
              <a:rPr lang="en-US" sz="2200" dirty="0">
                <a:solidFill>
                  <a:srgbClr val="0000FF"/>
                </a:solidFill>
                <a:latin typeface="+mn-lt"/>
                <a:ea typeface="华文中宋" pitchFamily="2" charset="-122"/>
              </a:rPr>
              <a:t>FLAGS</a:t>
            </a:r>
            <a:endParaRPr lang="zh-CN" altLang="en-US" sz="2200" dirty="0">
              <a:solidFill>
                <a:srgbClr val="0000FF"/>
              </a:solidFill>
              <a:latin typeface="+mn-lt"/>
              <a:ea typeface="华文中宋" pitchFamily="2" charset="-122"/>
            </a:endParaRPr>
          </a:p>
          <a:p>
            <a:pPr>
              <a:spcBef>
                <a:spcPts val="0"/>
              </a:spcBef>
              <a:buNone/>
            </a:pPr>
            <a:r>
              <a:rPr lang="en-US" sz="2200" dirty="0">
                <a:solidFill>
                  <a:srgbClr val="0000FF"/>
                </a:solidFill>
                <a:latin typeface="+mn-lt"/>
                <a:ea typeface="华文中宋" pitchFamily="2" charset="-122"/>
              </a:rPr>
              <a:t>	OR    	AL</a:t>
            </a:r>
            <a:r>
              <a:rPr lang="zh-CN" altLang="en-US" sz="2200" dirty="0">
                <a:solidFill>
                  <a:srgbClr val="0000FF"/>
                </a:solidFill>
                <a:latin typeface="+mn-lt"/>
                <a:ea typeface="华文中宋" pitchFamily="2" charset="-122"/>
              </a:rPr>
              <a:t>，</a:t>
            </a:r>
            <a:r>
              <a:rPr lang="en-US" sz="2200" dirty="0">
                <a:solidFill>
                  <a:srgbClr val="0000FF"/>
                </a:solidFill>
                <a:latin typeface="+mn-lt"/>
                <a:ea typeface="华文中宋" pitchFamily="2" charset="-122"/>
              </a:rPr>
              <a:t> AL       	</a:t>
            </a:r>
            <a:r>
              <a:rPr lang="zh-CN" altLang="en-US" sz="2200" dirty="0">
                <a:solidFill>
                  <a:srgbClr val="0000FF"/>
                </a:solidFill>
                <a:latin typeface="+mn-lt"/>
                <a:ea typeface="华文中宋" pitchFamily="2" charset="-122"/>
              </a:rPr>
              <a:t>；</a:t>
            </a:r>
            <a:r>
              <a:rPr lang="en-US" sz="2200" dirty="0">
                <a:solidFill>
                  <a:srgbClr val="0000FF"/>
                </a:solidFill>
                <a:latin typeface="+mn-lt"/>
                <a:ea typeface="华文中宋" pitchFamily="2" charset="-122"/>
              </a:rPr>
              <a:t>IMR=0?</a:t>
            </a:r>
            <a:endParaRPr lang="zh-CN" altLang="en-US" sz="2200" dirty="0">
              <a:solidFill>
                <a:srgbClr val="0000FF"/>
              </a:solidFill>
              <a:latin typeface="+mn-lt"/>
              <a:ea typeface="华文中宋" pitchFamily="2" charset="-122"/>
            </a:endParaRPr>
          </a:p>
          <a:p>
            <a:pPr>
              <a:spcBef>
                <a:spcPts val="0"/>
              </a:spcBef>
              <a:buNone/>
            </a:pPr>
            <a:r>
              <a:rPr lang="en-US" sz="2200" dirty="0">
                <a:solidFill>
                  <a:srgbClr val="0000FF"/>
                </a:solidFill>
                <a:latin typeface="+mn-lt"/>
                <a:ea typeface="华文中宋" pitchFamily="2" charset="-122"/>
              </a:rPr>
              <a:t>	JNZ    	D6              	</a:t>
            </a:r>
            <a:r>
              <a:rPr lang="zh-CN" altLang="en-US" sz="2200" dirty="0">
                <a:solidFill>
                  <a:srgbClr val="0000FF"/>
                </a:solidFill>
                <a:latin typeface="+mn-lt"/>
                <a:ea typeface="华文中宋" pitchFamily="2" charset="-122"/>
              </a:rPr>
              <a:t>；非</a:t>
            </a:r>
            <a:r>
              <a:rPr lang="en-US" sz="2200" dirty="0">
                <a:solidFill>
                  <a:srgbClr val="0000FF"/>
                </a:solidFill>
                <a:latin typeface="+mn-lt"/>
                <a:ea typeface="华文中宋" pitchFamily="2" charset="-122"/>
              </a:rPr>
              <a:t>0</a:t>
            </a:r>
            <a:r>
              <a:rPr lang="zh-CN" altLang="en-US" sz="2200" dirty="0">
                <a:solidFill>
                  <a:srgbClr val="0000FF"/>
                </a:solidFill>
                <a:latin typeface="+mn-lt"/>
                <a:ea typeface="华文中宋" pitchFamily="2" charset="-122"/>
              </a:rPr>
              <a:t>，转出错处理程序</a:t>
            </a:r>
          </a:p>
          <a:p>
            <a:pPr>
              <a:spcBef>
                <a:spcPts val="0"/>
              </a:spcBef>
              <a:buNone/>
            </a:pPr>
            <a:r>
              <a:rPr lang="en-US" sz="2200" dirty="0">
                <a:solidFill>
                  <a:srgbClr val="0000FF"/>
                </a:solidFill>
                <a:latin typeface="+mn-lt"/>
                <a:ea typeface="华文中宋" pitchFamily="2" charset="-122"/>
              </a:rPr>
              <a:t>	MOV  	AL</a:t>
            </a:r>
            <a:r>
              <a:rPr lang="zh-CN" altLang="en-US" sz="2200" dirty="0">
                <a:solidFill>
                  <a:srgbClr val="0000FF"/>
                </a:solidFill>
                <a:latin typeface="+mn-lt"/>
                <a:ea typeface="华文中宋" pitchFamily="2" charset="-122"/>
              </a:rPr>
              <a:t>，</a:t>
            </a:r>
            <a:r>
              <a:rPr lang="en-US" sz="2200" dirty="0">
                <a:solidFill>
                  <a:srgbClr val="0000FF"/>
                </a:solidFill>
                <a:latin typeface="+mn-lt"/>
                <a:ea typeface="华文中宋" pitchFamily="2" charset="-122"/>
              </a:rPr>
              <a:t>0FFH    	</a:t>
            </a:r>
            <a:r>
              <a:rPr lang="zh-CN" altLang="en-US" sz="2200" dirty="0">
                <a:solidFill>
                  <a:srgbClr val="0000FF"/>
                </a:solidFill>
                <a:latin typeface="+mn-lt"/>
                <a:ea typeface="华文中宋" pitchFamily="2" charset="-122"/>
              </a:rPr>
              <a:t>；是</a:t>
            </a:r>
            <a:r>
              <a:rPr lang="en-US" sz="2200" dirty="0">
                <a:solidFill>
                  <a:srgbClr val="0000FF"/>
                </a:solidFill>
                <a:latin typeface="+mn-lt"/>
                <a:ea typeface="华文中宋" pitchFamily="2" charset="-122"/>
              </a:rPr>
              <a:t>0</a:t>
            </a:r>
            <a:r>
              <a:rPr lang="zh-CN" altLang="en-US" sz="2200" dirty="0">
                <a:solidFill>
                  <a:srgbClr val="0000FF"/>
                </a:solidFill>
                <a:latin typeface="+mn-lt"/>
                <a:ea typeface="华文中宋" pitchFamily="2" charset="-122"/>
              </a:rPr>
              <a:t>，再将全</a:t>
            </a:r>
            <a:r>
              <a:rPr lang="en-US" sz="2200" dirty="0">
                <a:solidFill>
                  <a:srgbClr val="0000FF"/>
                </a:solidFill>
                <a:latin typeface="+mn-lt"/>
                <a:ea typeface="华文中宋" pitchFamily="2" charset="-122"/>
              </a:rPr>
              <a:t>1</a:t>
            </a:r>
            <a:r>
              <a:rPr lang="zh-CN" altLang="en-US" sz="2200" dirty="0">
                <a:solidFill>
                  <a:srgbClr val="0000FF"/>
                </a:solidFill>
                <a:latin typeface="+mn-lt"/>
                <a:ea typeface="华文中宋" pitchFamily="2" charset="-122"/>
              </a:rPr>
              <a:t>写入</a:t>
            </a:r>
            <a:r>
              <a:rPr lang="en-US" sz="2200" dirty="0">
                <a:solidFill>
                  <a:srgbClr val="0000FF"/>
                </a:solidFill>
                <a:latin typeface="+mn-lt"/>
                <a:ea typeface="华文中宋" pitchFamily="2" charset="-122"/>
              </a:rPr>
              <a:t>IMR</a:t>
            </a:r>
            <a:r>
              <a:rPr lang="zh-CN" altLang="en-US" sz="2200" dirty="0">
                <a:solidFill>
                  <a:srgbClr val="0000FF"/>
                </a:solidFill>
                <a:latin typeface="+mn-lt"/>
                <a:ea typeface="华文中宋" pitchFamily="2" charset="-122"/>
              </a:rPr>
              <a:t>寄存器</a:t>
            </a:r>
          </a:p>
          <a:p>
            <a:pPr>
              <a:spcBef>
                <a:spcPts val="0"/>
              </a:spcBef>
              <a:buNone/>
            </a:pPr>
            <a:r>
              <a:rPr lang="en-US" sz="2200" dirty="0">
                <a:solidFill>
                  <a:srgbClr val="0000FF"/>
                </a:solidFill>
                <a:latin typeface="+mn-lt"/>
                <a:ea typeface="华文中宋" pitchFamily="2" charset="-122"/>
              </a:rPr>
              <a:t>	OUT   	21H</a:t>
            </a:r>
            <a:r>
              <a:rPr lang="zh-CN" altLang="en-US" sz="2200" dirty="0">
                <a:solidFill>
                  <a:srgbClr val="0000FF"/>
                </a:solidFill>
                <a:latin typeface="+mn-lt"/>
                <a:ea typeface="华文中宋" pitchFamily="2" charset="-122"/>
              </a:rPr>
              <a:t>，</a:t>
            </a:r>
            <a:r>
              <a:rPr lang="en-US" sz="2200" dirty="0">
                <a:solidFill>
                  <a:srgbClr val="0000FF"/>
                </a:solidFill>
                <a:latin typeface="+mn-lt"/>
                <a:ea typeface="华文中宋" pitchFamily="2" charset="-122"/>
              </a:rPr>
              <a:t>AL       	</a:t>
            </a:r>
            <a:r>
              <a:rPr lang="zh-CN" altLang="en-US" sz="2200" dirty="0">
                <a:solidFill>
                  <a:srgbClr val="0000FF"/>
                </a:solidFill>
                <a:latin typeface="+mn-lt"/>
                <a:ea typeface="华文中宋" pitchFamily="2" charset="-122"/>
              </a:rPr>
              <a:t>；写入</a:t>
            </a:r>
            <a:r>
              <a:rPr lang="en-US" sz="2200" dirty="0">
                <a:solidFill>
                  <a:srgbClr val="0000FF"/>
                </a:solidFill>
                <a:latin typeface="+mn-lt"/>
                <a:ea typeface="华文中宋" pitchFamily="2" charset="-122"/>
              </a:rPr>
              <a:t>OCW</a:t>
            </a:r>
            <a:r>
              <a:rPr lang="en-US" sz="2200" baseline="-25000" dirty="0">
                <a:solidFill>
                  <a:srgbClr val="0000FF"/>
                </a:solidFill>
                <a:latin typeface="+mn-lt"/>
                <a:ea typeface="华文中宋" pitchFamily="2" charset="-122"/>
              </a:rPr>
              <a:t>1</a:t>
            </a:r>
            <a:endParaRPr lang="zh-CN" altLang="en-US" sz="2200" dirty="0">
              <a:solidFill>
                <a:srgbClr val="0000FF"/>
              </a:solidFill>
              <a:latin typeface="+mn-lt"/>
              <a:ea typeface="华文中宋" pitchFamily="2" charset="-122"/>
            </a:endParaRPr>
          </a:p>
          <a:p>
            <a:pPr>
              <a:spcBef>
                <a:spcPts val="0"/>
              </a:spcBef>
              <a:buNone/>
            </a:pPr>
            <a:r>
              <a:rPr lang="en-US" sz="2200" dirty="0">
                <a:solidFill>
                  <a:srgbClr val="0000FF"/>
                </a:solidFill>
                <a:latin typeface="+mn-lt"/>
                <a:ea typeface="华文中宋" pitchFamily="2" charset="-122"/>
              </a:rPr>
              <a:t>	IN    	AL</a:t>
            </a:r>
            <a:r>
              <a:rPr lang="zh-CN" altLang="en-US" sz="2200" dirty="0">
                <a:solidFill>
                  <a:srgbClr val="0000FF"/>
                </a:solidFill>
                <a:latin typeface="+mn-lt"/>
                <a:ea typeface="华文中宋" pitchFamily="2" charset="-122"/>
              </a:rPr>
              <a:t>，</a:t>
            </a:r>
            <a:r>
              <a:rPr lang="en-US" sz="2200" dirty="0">
                <a:solidFill>
                  <a:srgbClr val="0000FF"/>
                </a:solidFill>
                <a:latin typeface="+mn-lt"/>
                <a:ea typeface="华文中宋" pitchFamily="2" charset="-122"/>
              </a:rPr>
              <a:t>21H       	</a:t>
            </a:r>
            <a:r>
              <a:rPr lang="zh-CN" altLang="en-US" sz="2200" dirty="0">
                <a:solidFill>
                  <a:srgbClr val="0000FF"/>
                </a:solidFill>
                <a:latin typeface="+mn-lt"/>
                <a:ea typeface="华文中宋" pitchFamily="2" charset="-122"/>
              </a:rPr>
              <a:t>；读</a:t>
            </a:r>
            <a:r>
              <a:rPr lang="en-US" sz="2200" dirty="0">
                <a:solidFill>
                  <a:srgbClr val="0000FF"/>
                </a:solidFill>
                <a:latin typeface="+mn-lt"/>
                <a:ea typeface="华文中宋" pitchFamily="2" charset="-122"/>
              </a:rPr>
              <a:t>IMR</a:t>
            </a:r>
            <a:endParaRPr lang="zh-CN" altLang="en-US" sz="2200" dirty="0">
              <a:solidFill>
                <a:srgbClr val="0000FF"/>
              </a:solidFill>
              <a:latin typeface="+mn-lt"/>
              <a:ea typeface="华文中宋" pitchFamily="2" charset="-122"/>
            </a:endParaRPr>
          </a:p>
          <a:p>
            <a:pPr>
              <a:spcBef>
                <a:spcPts val="0"/>
              </a:spcBef>
              <a:buNone/>
            </a:pPr>
            <a:r>
              <a:rPr lang="en-US" sz="2200" dirty="0">
                <a:solidFill>
                  <a:srgbClr val="0000FF"/>
                </a:solidFill>
                <a:latin typeface="+mn-lt"/>
                <a:ea typeface="华文中宋" pitchFamily="2" charset="-122"/>
              </a:rPr>
              <a:t>	ADD   	AL</a:t>
            </a:r>
            <a:r>
              <a:rPr lang="zh-CN" altLang="en-US" sz="2200" dirty="0">
                <a:solidFill>
                  <a:srgbClr val="0000FF"/>
                </a:solidFill>
                <a:latin typeface="+mn-lt"/>
                <a:ea typeface="华文中宋" pitchFamily="2" charset="-122"/>
              </a:rPr>
              <a:t>，</a:t>
            </a:r>
            <a:r>
              <a:rPr lang="en-US" sz="2200" dirty="0">
                <a:solidFill>
                  <a:srgbClr val="0000FF"/>
                </a:solidFill>
                <a:latin typeface="+mn-lt"/>
                <a:ea typeface="华文中宋" pitchFamily="2" charset="-122"/>
              </a:rPr>
              <a:t>1           	</a:t>
            </a:r>
            <a:r>
              <a:rPr lang="zh-CN" altLang="en-US" sz="2200" dirty="0">
                <a:solidFill>
                  <a:srgbClr val="0000FF"/>
                </a:solidFill>
                <a:latin typeface="+mn-lt"/>
                <a:ea typeface="华文中宋" pitchFamily="2" charset="-122"/>
              </a:rPr>
              <a:t>；</a:t>
            </a:r>
            <a:r>
              <a:rPr lang="en-US" sz="2200" dirty="0">
                <a:solidFill>
                  <a:srgbClr val="0000FF"/>
                </a:solidFill>
                <a:latin typeface="+mn-lt"/>
                <a:ea typeface="华文中宋" pitchFamily="2" charset="-122"/>
              </a:rPr>
              <a:t>IMR</a:t>
            </a:r>
            <a:r>
              <a:rPr lang="zh-CN" altLang="en-US" sz="2200" dirty="0">
                <a:solidFill>
                  <a:srgbClr val="0000FF"/>
                </a:solidFill>
                <a:latin typeface="+mn-lt"/>
                <a:ea typeface="华文中宋" pitchFamily="2" charset="-122"/>
              </a:rPr>
              <a:t>各位置</a:t>
            </a:r>
            <a:r>
              <a:rPr lang="en-US" sz="2200" dirty="0">
                <a:solidFill>
                  <a:srgbClr val="0000FF"/>
                </a:solidFill>
                <a:latin typeface="+mn-lt"/>
                <a:ea typeface="华文中宋" pitchFamily="2" charset="-122"/>
              </a:rPr>
              <a:t>1</a:t>
            </a:r>
            <a:r>
              <a:rPr lang="zh-CN" altLang="en-US" sz="2200" dirty="0">
                <a:solidFill>
                  <a:srgbClr val="0000FF"/>
                </a:solidFill>
                <a:latin typeface="+mn-lt"/>
                <a:ea typeface="华文中宋" pitchFamily="2" charset="-122"/>
              </a:rPr>
              <a:t>？全</a:t>
            </a:r>
            <a:r>
              <a:rPr lang="en-US" sz="2200" dirty="0">
                <a:solidFill>
                  <a:srgbClr val="0000FF"/>
                </a:solidFill>
                <a:latin typeface="+mn-lt"/>
                <a:ea typeface="华文中宋" pitchFamily="2" charset="-122"/>
              </a:rPr>
              <a:t>1+1</a:t>
            </a:r>
            <a:r>
              <a:rPr lang="zh-CN" altLang="en-US" sz="2200" dirty="0">
                <a:solidFill>
                  <a:srgbClr val="0000FF"/>
                </a:solidFill>
                <a:latin typeface="+mn-lt"/>
                <a:ea typeface="华文中宋" pitchFamily="2" charset="-122"/>
              </a:rPr>
              <a:t>应为</a:t>
            </a:r>
            <a:r>
              <a:rPr lang="en-US" sz="2200" dirty="0">
                <a:solidFill>
                  <a:srgbClr val="0000FF"/>
                </a:solidFill>
                <a:latin typeface="+mn-lt"/>
                <a:ea typeface="华文中宋" pitchFamily="2" charset="-122"/>
              </a:rPr>
              <a:t>00H</a:t>
            </a:r>
            <a:endParaRPr lang="zh-CN" altLang="en-US" sz="2200" dirty="0">
              <a:solidFill>
                <a:srgbClr val="0000FF"/>
              </a:solidFill>
              <a:latin typeface="+mn-lt"/>
              <a:ea typeface="华文中宋" pitchFamily="2" charset="-122"/>
            </a:endParaRPr>
          </a:p>
          <a:p>
            <a:pPr>
              <a:spcBef>
                <a:spcPts val="0"/>
              </a:spcBef>
              <a:buNone/>
            </a:pPr>
            <a:r>
              <a:rPr lang="en-US" sz="2200" dirty="0">
                <a:solidFill>
                  <a:srgbClr val="0000FF"/>
                </a:solidFill>
                <a:latin typeface="+mn-lt"/>
                <a:ea typeface="华文中宋" pitchFamily="2" charset="-122"/>
              </a:rPr>
              <a:t>	JNZ   	D6              	</a:t>
            </a:r>
            <a:r>
              <a:rPr lang="zh-CN" altLang="en-US" sz="2200" dirty="0">
                <a:solidFill>
                  <a:srgbClr val="0000FF"/>
                </a:solidFill>
                <a:latin typeface="+mn-lt"/>
                <a:ea typeface="华文中宋" pitchFamily="2" charset="-122"/>
              </a:rPr>
              <a:t>；非</a:t>
            </a:r>
            <a:r>
              <a:rPr lang="zh-CN" altLang="en-US" sz="2200" dirty="0">
                <a:solidFill>
                  <a:srgbClr val="0000FF"/>
                </a:solidFill>
                <a:ea typeface="华文中宋" pitchFamily="2" charset="-122"/>
              </a:rPr>
              <a:t>全</a:t>
            </a:r>
            <a:r>
              <a:rPr lang="en-US" altLang="zh-CN" sz="2200" dirty="0">
                <a:solidFill>
                  <a:srgbClr val="0000FF"/>
                </a:solidFill>
                <a:ea typeface="华文中宋" pitchFamily="2" charset="-122"/>
              </a:rPr>
              <a:t>1</a:t>
            </a:r>
            <a:r>
              <a:rPr lang="zh-CN" altLang="en-US" sz="2200" dirty="0">
                <a:solidFill>
                  <a:srgbClr val="0000FF"/>
                </a:solidFill>
                <a:latin typeface="+mn-lt"/>
                <a:ea typeface="华文中宋" pitchFamily="2" charset="-122"/>
              </a:rPr>
              <a:t>，转</a:t>
            </a:r>
            <a:r>
              <a:rPr lang="zh-CN" altLang="en-US" sz="2200" cap="small" dirty="0">
                <a:solidFill>
                  <a:srgbClr val="0000FF"/>
                </a:solidFill>
                <a:latin typeface="+mn-lt"/>
                <a:ea typeface="华文中宋" pitchFamily="2" charset="-122"/>
              </a:rPr>
              <a:t>出错处理程序</a:t>
            </a:r>
            <a:endParaRPr lang="zh-CN" altLang="en-US" sz="2200" dirty="0">
              <a:solidFill>
                <a:srgbClr val="0000FF"/>
              </a:solidFill>
              <a:latin typeface="+mn-lt"/>
              <a:ea typeface="华文中宋" pitchFamily="2" charset="-122"/>
            </a:endParaRPr>
          </a:p>
          <a:p>
            <a:pPr>
              <a:spcBef>
                <a:spcPts val="0"/>
              </a:spcBef>
              <a:buNone/>
            </a:pPr>
            <a:r>
              <a:rPr lang="en-US" altLang="zh-CN" sz="2200" cap="small" dirty="0">
                <a:solidFill>
                  <a:srgbClr val="0000FF"/>
                </a:solidFill>
                <a:latin typeface="+mn-lt"/>
                <a:ea typeface="华文中宋" pitchFamily="2" charset="-122"/>
              </a:rPr>
              <a:t>		</a:t>
            </a:r>
            <a:r>
              <a:rPr lang="zh-CN" altLang="en-US" sz="2200" cap="small" dirty="0">
                <a:solidFill>
                  <a:srgbClr val="0000FF"/>
                </a:solidFill>
                <a:latin typeface="+mn-lt"/>
                <a:ea typeface="华文中宋" pitchFamily="2" charset="-122"/>
              </a:rPr>
              <a:t>┆</a:t>
            </a:r>
            <a:r>
              <a:rPr lang="en-US" sz="2200" cap="small" dirty="0">
                <a:solidFill>
                  <a:srgbClr val="0000FF"/>
                </a:solidFill>
                <a:latin typeface="+mn-lt"/>
                <a:ea typeface="华文中宋" pitchFamily="2" charset="-122"/>
              </a:rPr>
              <a:t>                          </a:t>
            </a:r>
          </a:p>
          <a:p>
            <a:pPr>
              <a:spcBef>
                <a:spcPts val="0"/>
              </a:spcBef>
              <a:buNone/>
            </a:pPr>
            <a:r>
              <a:rPr lang="en-US" sz="2200" dirty="0">
                <a:solidFill>
                  <a:srgbClr val="0000FF"/>
                </a:solidFill>
                <a:latin typeface="+mn-lt"/>
                <a:ea typeface="华文中宋" pitchFamily="2" charset="-122"/>
              </a:rPr>
              <a:t>D6:</a:t>
            </a:r>
            <a:r>
              <a:rPr lang="en-US" sz="2200" cap="small" dirty="0">
                <a:solidFill>
                  <a:srgbClr val="0000FF"/>
                </a:solidFill>
                <a:latin typeface="+mn-lt"/>
                <a:ea typeface="华文中宋" pitchFamily="2" charset="-122"/>
              </a:rPr>
              <a:t>                         	  	</a:t>
            </a:r>
            <a:r>
              <a:rPr lang="zh-CN" altLang="en-US" sz="2200" cap="small" dirty="0">
                <a:solidFill>
                  <a:srgbClr val="0000FF"/>
                </a:solidFill>
                <a:latin typeface="+mn-lt"/>
                <a:ea typeface="华文中宋" pitchFamily="2" charset="-122"/>
              </a:rPr>
              <a:t>；出错处理程序</a:t>
            </a:r>
            <a:endParaRPr lang="zh-CN" altLang="en-US" sz="2200" dirty="0">
              <a:solidFill>
                <a:srgbClr val="0000FF"/>
              </a:solidFill>
              <a:latin typeface="+mn-lt"/>
              <a:ea typeface="华文中宋" pitchFamily="2" charset="-122"/>
            </a:endParaRPr>
          </a:p>
          <a:p>
            <a:pPr>
              <a:spcBef>
                <a:spcPts val="0"/>
              </a:spcBef>
              <a:buNone/>
            </a:pPr>
            <a:endParaRPr lang="zh-CN" altLang="en-US" sz="2400" dirty="0">
              <a:latin typeface="+mn-lt"/>
            </a:endParaRPr>
          </a:p>
        </p:txBody>
      </p:sp>
    </p:spTree>
    <p:extLst>
      <p:ext uri="{BB962C8B-B14F-4D97-AF65-F5344CB8AC3E}">
        <p14:creationId xmlns:p14="http://schemas.microsoft.com/office/powerpoint/2010/main" val="29831034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3" name="文本框 337922"/>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37924" name="文本框 337923"/>
          <p:cNvSpPr txBox="1"/>
          <p:nvPr/>
        </p:nvSpPr>
        <p:spPr>
          <a:xfrm>
            <a:off x="250825" y="765175"/>
            <a:ext cx="8642350" cy="5615640"/>
          </a:xfrm>
          <a:prstGeom prst="rect">
            <a:avLst/>
          </a:prstGeom>
          <a:noFill/>
          <a:ln w="9525">
            <a:noFill/>
          </a:ln>
        </p:spPr>
        <p:txBody>
          <a:bodyPr>
            <a:spAutoFit/>
          </a:bodyPr>
          <a:lstStyle/>
          <a:p>
            <a:pPr lvl="0" eaLnBrk="0" hangingPunct="0">
              <a:lnSpc>
                <a:spcPct val="110000"/>
              </a:lnSpc>
            </a:pPr>
            <a:r>
              <a:rPr lang="zh-CN" altLang="zh-CN" sz="2400" b="1" dirty="0">
                <a:solidFill>
                  <a:srgbClr val="FF00FF"/>
                </a:solidFill>
                <a:latin typeface="Arial" panose="020B0604020202020204" pitchFamily="34" charset="0"/>
              </a:rPr>
              <a:t>（2）OCW2</a:t>
            </a:r>
          </a:p>
          <a:p>
            <a:pPr lvl="0" eaLnBrk="0" hangingPunct="0">
              <a:lnSpc>
                <a:spcPct val="110000"/>
              </a:lnSpc>
            </a:pPr>
            <a:r>
              <a:rPr lang="zh-CN" altLang="zh-CN" sz="2400" b="1" dirty="0">
                <a:latin typeface="Arial" panose="020B0604020202020204" pitchFamily="34" charset="0"/>
              </a:rPr>
              <a:t>OCW2</a:t>
            </a:r>
            <a:r>
              <a:rPr lang="zh-CN" altLang="en-US" sz="2400" b="1" dirty="0">
                <a:latin typeface="Arial" panose="020B0604020202020204" pitchFamily="34" charset="0"/>
              </a:rPr>
              <a:t>：</a:t>
            </a:r>
            <a:r>
              <a:rPr lang="zh-CN" altLang="zh-CN" sz="2400" b="1" dirty="0">
                <a:latin typeface="Arial" panose="020B0604020202020204" pitchFamily="34" charset="0"/>
              </a:rPr>
              <a:t>用于设置中断优先级循环方式和中断结束方式：</a:t>
            </a:r>
          </a:p>
          <a:p>
            <a:pPr lvl="0" eaLnBrk="0" hangingPunct="0">
              <a:lnSpc>
                <a:spcPct val="110000"/>
              </a:lnSpc>
            </a:pPr>
            <a:endParaRPr lang="zh-CN" altLang="en-US" sz="2400" b="1" dirty="0">
              <a:latin typeface="Arial" panose="020B0604020202020204" pitchFamily="34" charset="0"/>
            </a:endParaRPr>
          </a:p>
          <a:p>
            <a:pPr lvl="0" eaLnBrk="0" hangingPunct="0">
              <a:lnSpc>
                <a:spcPct val="110000"/>
              </a:lnSpc>
            </a:pPr>
            <a:endParaRPr lang="zh-CN" altLang="en-US" sz="2400" b="1" dirty="0">
              <a:latin typeface="Arial" panose="020B0604020202020204" pitchFamily="34" charset="0"/>
            </a:endParaRPr>
          </a:p>
          <a:p>
            <a:pPr lvl="0" eaLnBrk="0" hangingPunct="0">
              <a:lnSpc>
                <a:spcPct val="110000"/>
              </a:lnSpc>
            </a:pPr>
            <a:endParaRPr lang="zh-CN" altLang="en-US" sz="2400" b="1" dirty="0">
              <a:latin typeface="Arial" panose="020B0604020202020204" pitchFamily="34" charset="0"/>
            </a:endParaRPr>
          </a:p>
          <a:p>
            <a:pPr lvl="0" eaLnBrk="0" hangingPunct="0">
              <a:lnSpc>
                <a:spcPct val="110000"/>
              </a:lnSpc>
            </a:pPr>
            <a:endParaRPr lang="zh-CN" altLang="en-US" sz="2400" b="1" dirty="0">
              <a:latin typeface="Arial" panose="020B0604020202020204" pitchFamily="34" charset="0"/>
            </a:endParaRPr>
          </a:p>
          <a:p>
            <a:pPr lvl="0" eaLnBrk="0" hangingPunct="0">
              <a:lnSpc>
                <a:spcPct val="110000"/>
              </a:lnSpc>
            </a:pPr>
            <a:endParaRPr lang="zh-CN" altLang="zh-CN" sz="2400" b="1" dirty="0">
              <a:latin typeface="Arial" panose="020B0604020202020204" pitchFamily="34" charset="0"/>
            </a:endParaRPr>
          </a:p>
          <a:p>
            <a:pPr lvl="0" eaLnBrk="0" hangingPunct="0">
              <a:lnSpc>
                <a:spcPct val="110000"/>
              </a:lnSpc>
            </a:pPr>
            <a:r>
              <a:rPr lang="zh-CN" altLang="zh-CN" sz="2000" b="1" dirty="0">
                <a:latin typeface="Arial" panose="020B0604020202020204" pitchFamily="34" charset="0"/>
              </a:rPr>
              <a:t>D7：R位，优先级方式控制位。D7=0，中断优先级固定（即IR</a:t>
            </a:r>
            <a:r>
              <a:rPr lang="zh-CN" altLang="zh-CN" sz="2000" b="1" baseline="-25000" dirty="0">
                <a:latin typeface="Arial" panose="020B0604020202020204" pitchFamily="34" charset="0"/>
              </a:rPr>
              <a:t>0</a:t>
            </a:r>
            <a:r>
              <a:rPr lang="zh-CN" altLang="zh-CN" sz="2000" b="1" dirty="0">
                <a:latin typeface="Arial" panose="020B0604020202020204" pitchFamily="34" charset="0"/>
              </a:rPr>
              <a:t>最高，IR</a:t>
            </a:r>
            <a:r>
              <a:rPr lang="zh-CN" altLang="zh-CN" sz="2000" b="1" baseline="-25000" dirty="0">
                <a:latin typeface="Arial" panose="020B0604020202020204" pitchFamily="34" charset="0"/>
              </a:rPr>
              <a:t>7</a:t>
            </a:r>
            <a:r>
              <a:rPr lang="zh-CN" altLang="zh-CN" sz="2000" b="1" dirty="0">
                <a:latin typeface="Arial" panose="020B0604020202020204" pitchFamily="34" charset="0"/>
              </a:rPr>
              <a:t>最低）；D7=1时，中断优先级自动循环。</a:t>
            </a:r>
          </a:p>
          <a:p>
            <a:pPr lvl="0" eaLnBrk="0" hangingPunct="0">
              <a:lnSpc>
                <a:spcPct val="110000"/>
              </a:lnSpc>
            </a:pPr>
            <a:r>
              <a:rPr lang="zh-CN" altLang="zh-CN" sz="2000" b="1" dirty="0">
                <a:latin typeface="Arial" panose="020B0604020202020204" pitchFamily="34" charset="0"/>
              </a:rPr>
              <a:t>D6：SL位，决定D2～D0是否有效。D6=1</a:t>
            </a:r>
            <a:r>
              <a:rPr lang="zh-CN" altLang="en-US" sz="2000" b="1" dirty="0">
                <a:latin typeface="Arial" panose="020B0604020202020204" pitchFamily="34" charset="0"/>
              </a:rPr>
              <a:t>，</a:t>
            </a:r>
            <a:r>
              <a:rPr lang="zh-CN" altLang="zh-CN" sz="2000" b="1" dirty="0">
                <a:latin typeface="Arial" panose="020B0604020202020204" pitchFamily="34" charset="0"/>
              </a:rPr>
              <a:t>有效；D6=0</a:t>
            </a:r>
            <a:r>
              <a:rPr lang="zh-CN" altLang="en-US" sz="2000" b="1" dirty="0">
                <a:latin typeface="Arial" panose="020B0604020202020204" pitchFamily="34" charset="0"/>
              </a:rPr>
              <a:t>，</a:t>
            </a:r>
            <a:r>
              <a:rPr lang="zh-CN" altLang="zh-CN" sz="2000" b="1" dirty="0">
                <a:latin typeface="Arial" panose="020B0604020202020204" pitchFamily="34" charset="0"/>
              </a:rPr>
              <a:t>无效。</a:t>
            </a:r>
          </a:p>
          <a:p>
            <a:pPr lvl="0" eaLnBrk="0" hangingPunct="0">
              <a:lnSpc>
                <a:spcPct val="110000"/>
              </a:lnSpc>
            </a:pPr>
            <a:r>
              <a:rPr lang="zh-CN" altLang="zh-CN" sz="2000" b="1" dirty="0">
                <a:latin typeface="Arial" panose="020B0604020202020204" pitchFamily="34" charset="0"/>
              </a:rPr>
              <a:t>D5：EOI位，中断结束命令位。 D5=1，中断服务程序结束时向8259A回送中断结束命令EOI，以便使中断服务寄存器ISR中当前最高优先级位复位，或由L2～L0表示的优先级位复位。</a:t>
            </a:r>
          </a:p>
          <a:p>
            <a:pPr lvl="0" eaLnBrk="0" hangingPunct="0">
              <a:lnSpc>
                <a:spcPct val="110000"/>
              </a:lnSpc>
            </a:pPr>
            <a:r>
              <a:rPr lang="zh-CN" altLang="zh-CN" sz="2000" b="1" dirty="0">
                <a:latin typeface="Arial" panose="020B0604020202020204" pitchFamily="34" charset="0"/>
              </a:rPr>
              <a:t>D4～D3：OCW1的特征位，D4D3=00。</a:t>
            </a:r>
          </a:p>
          <a:p>
            <a:pPr lvl="0" eaLnBrk="0" hangingPunct="0">
              <a:lnSpc>
                <a:spcPct val="110000"/>
              </a:lnSpc>
            </a:pPr>
            <a:r>
              <a:rPr lang="zh-CN" altLang="zh-CN" sz="2000" b="1" dirty="0">
                <a:latin typeface="Arial" panose="020B0604020202020204" pitchFamily="34" charset="0"/>
              </a:rPr>
              <a:t>D2～D0：指定L2～L0。</a:t>
            </a:r>
            <a:endParaRPr lang="en-US" altLang="zh-CN" sz="2000" b="1" dirty="0">
              <a:latin typeface="Arial" panose="020B0604020202020204" pitchFamily="34" charset="0"/>
            </a:endParaRPr>
          </a:p>
        </p:txBody>
      </p:sp>
      <p:pic>
        <p:nvPicPr>
          <p:cNvPr id="337926" name="图片 337925"/>
          <p:cNvPicPr>
            <a:picLocks noChangeAspect="1"/>
          </p:cNvPicPr>
          <p:nvPr/>
        </p:nvPicPr>
        <p:blipFill>
          <a:blip r:embed="rId2"/>
          <a:stretch>
            <a:fillRect/>
          </a:stretch>
        </p:blipFill>
        <p:spPr>
          <a:xfrm>
            <a:off x="1619250" y="1809750"/>
            <a:ext cx="6913563" cy="1474788"/>
          </a:xfrm>
          <a:prstGeom prst="rect">
            <a:avLst/>
          </a:prstGeom>
          <a:noFill/>
          <a:ln w="9525">
            <a:noFill/>
          </a:ln>
        </p:spPr>
      </p:pic>
      <p:sp>
        <p:nvSpPr>
          <p:cNvPr id="6"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50" name="矩形 338949"/>
          <p:cNvSpPr/>
          <p:nvPr/>
        </p:nvSpPr>
        <p:spPr>
          <a:xfrm>
            <a:off x="2555875" y="895350"/>
            <a:ext cx="3049588" cy="393700"/>
          </a:xfrm>
          <a:prstGeom prst="rect">
            <a:avLst/>
          </a:prstGeom>
          <a:noFill/>
          <a:ln w="9525">
            <a:noFill/>
          </a:ln>
        </p:spPr>
        <p:txBody>
          <a:bodyPr wrap="none" anchor="ctr">
            <a:spAutoFit/>
          </a:bodyPr>
          <a:lstStyle/>
          <a:p>
            <a:pPr lvl="0" algn="just">
              <a:lnSpc>
                <a:spcPct val="110000"/>
              </a:lnSpc>
            </a:pPr>
            <a:r>
              <a:rPr lang="zh-CN" altLang="en-US" sz="1800" dirty="0">
                <a:latin typeface="Arial" panose="020B0604020202020204" pitchFamily="34" charset="0"/>
                <a:ea typeface="宋体" panose="02010600030101010101" pitchFamily="2" charset="-122"/>
              </a:rPr>
              <a:t>表</a:t>
            </a:r>
            <a:r>
              <a:rPr lang="en-US" altLang="zh-CN" sz="1800">
                <a:latin typeface="Arial" panose="020B0604020202020204" pitchFamily="34" charset="0"/>
                <a:ea typeface="宋体" panose="02010600030101010101" pitchFamily="2" charset="-122"/>
              </a:rPr>
              <a:t>8-2 OCW</a:t>
            </a:r>
            <a:r>
              <a:rPr lang="en-US" altLang="zh-CN" sz="1800" baseline="-25000">
                <a:latin typeface="Arial" panose="020B0604020202020204" pitchFamily="34" charset="0"/>
                <a:ea typeface="宋体" panose="02010600030101010101" pitchFamily="2" charset="-122"/>
              </a:rPr>
              <a:t>2</a:t>
            </a:r>
            <a:r>
              <a:rPr lang="zh-CN" altLang="en-US" sz="1800" dirty="0">
                <a:latin typeface="Arial" panose="020B0604020202020204" pitchFamily="34" charset="0"/>
                <a:ea typeface="宋体" panose="02010600030101010101" pitchFamily="2" charset="-122"/>
              </a:rPr>
              <a:t>规定的工作方式</a:t>
            </a:r>
          </a:p>
        </p:txBody>
      </p:sp>
      <p:graphicFrame>
        <p:nvGraphicFramePr>
          <p:cNvPr id="339320" name="表格 339319"/>
          <p:cNvGraphicFramePr/>
          <p:nvPr/>
        </p:nvGraphicFramePr>
        <p:xfrm>
          <a:off x="250825" y="1412875"/>
          <a:ext cx="8713788" cy="4824413"/>
        </p:xfrm>
        <a:graphic>
          <a:graphicData uri="http://schemas.openxmlformats.org/drawingml/2006/table">
            <a:tbl>
              <a:tblPr/>
              <a:tblGrid>
                <a:gridCol w="720725">
                  <a:extLst>
                    <a:ext uri="{9D8B030D-6E8A-4147-A177-3AD203B41FA5}">
                      <a16:colId xmlns:a16="http://schemas.microsoft.com/office/drawing/2014/main" val="20000"/>
                    </a:ext>
                  </a:extLst>
                </a:gridCol>
                <a:gridCol w="792163">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2198687">
                  <a:extLst>
                    <a:ext uri="{9D8B030D-6E8A-4147-A177-3AD203B41FA5}">
                      <a16:colId xmlns:a16="http://schemas.microsoft.com/office/drawing/2014/main" val="20003"/>
                    </a:ext>
                  </a:extLst>
                </a:gridCol>
                <a:gridCol w="1339850">
                  <a:extLst>
                    <a:ext uri="{9D8B030D-6E8A-4147-A177-3AD203B41FA5}">
                      <a16:colId xmlns:a16="http://schemas.microsoft.com/office/drawing/2014/main" val="20004"/>
                    </a:ext>
                  </a:extLst>
                </a:gridCol>
                <a:gridCol w="2798763">
                  <a:extLst>
                    <a:ext uri="{9D8B030D-6E8A-4147-A177-3AD203B41FA5}">
                      <a16:colId xmlns:a16="http://schemas.microsoft.com/office/drawing/2014/main" val="20005"/>
                    </a:ext>
                  </a:extLst>
                </a:gridCol>
              </a:tblGrid>
              <a:tr h="93980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269875" algn="ctr">
                        <a:spcBef>
                          <a:spcPct val="0"/>
                        </a:spcBef>
                        <a:buClrTx/>
                        <a:buNone/>
                      </a:pPr>
                      <a:r>
                        <a:rPr lang="en-US" altLang="zh-CN" sz="1200">
                          <a:latin typeface="Times New Roman" panose="02020603050405020304" pitchFamily="18" charset="0"/>
                          <a:ea typeface="Times New Roman" panose="02020603050405020304" pitchFamily="18" charset="0"/>
                        </a:rPr>
                        <a:t>D</a:t>
                      </a:r>
                      <a:r>
                        <a:rPr lang="en-US" altLang="zh-CN" sz="1200" baseline="-30000">
                          <a:latin typeface="Times New Roman" panose="02020603050405020304" pitchFamily="18" charset="0"/>
                          <a:ea typeface="Times New Roman" panose="02020603050405020304" pitchFamily="18" charset="0"/>
                        </a:rPr>
                        <a:t>7</a:t>
                      </a:r>
                    </a:p>
                    <a:p>
                      <a:pPr marL="0" lvl="0" indent="269875" algn="ctr">
                        <a:spcBef>
                          <a:spcPct val="0"/>
                        </a:spcBef>
                        <a:buClrTx/>
                        <a:buNone/>
                      </a:pPr>
                      <a:endParaRPr lang="en-US" altLang="zh-CN" sz="1200"/>
                    </a:p>
                    <a:p>
                      <a:pPr marL="0" lvl="0" indent="269875" eaLnBrk="0" hangingPunct="0">
                        <a:spcBef>
                          <a:spcPct val="0"/>
                        </a:spcBef>
                        <a:buNone/>
                      </a:pPr>
                      <a:r>
                        <a:rPr lang="en-US" altLang="zh-CN" sz="1200">
                          <a:latin typeface="Times New Roman" panose="02020603050405020304" pitchFamily="18" charset="0"/>
                          <a:ea typeface="Times New Roman" panose="02020603050405020304" pitchFamily="18" charset="0"/>
                        </a:rPr>
                        <a:t>(R)</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9D9D9"/>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269875" algn="ctr">
                        <a:spcBef>
                          <a:spcPct val="0"/>
                        </a:spcBef>
                        <a:buClrTx/>
                        <a:buNone/>
                      </a:pPr>
                      <a:r>
                        <a:rPr lang="en-US" altLang="zh-CN" sz="1200">
                          <a:latin typeface="Times New Roman" panose="02020603050405020304" pitchFamily="18" charset="0"/>
                          <a:ea typeface="Times New Roman" panose="02020603050405020304" pitchFamily="18" charset="0"/>
                        </a:rPr>
                        <a:t>D</a:t>
                      </a:r>
                      <a:r>
                        <a:rPr lang="en-US" altLang="zh-CN" sz="1200" baseline="-30000">
                          <a:latin typeface="Times New Roman" panose="02020603050405020304" pitchFamily="18" charset="0"/>
                          <a:ea typeface="Times New Roman" panose="02020603050405020304" pitchFamily="18" charset="0"/>
                        </a:rPr>
                        <a:t>6</a:t>
                      </a:r>
                      <a:endParaRPr lang="en-US" altLang="zh-CN" sz="1200"/>
                    </a:p>
                    <a:p>
                      <a:pPr marL="0" lvl="0" indent="269875" algn="ctr" eaLnBrk="0" hangingPunct="0">
                        <a:spcBef>
                          <a:spcPct val="0"/>
                        </a:spcBef>
                        <a:buNone/>
                      </a:pPr>
                      <a:r>
                        <a:rPr lang="en-US" altLang="zh-CN" sz="1200">
                          <a:latin typeface="Times New Roman" panose="02020603050405020304" pitchFamily="18" charset="0"/>
                          <a:ea typeface="Times New Roman" panose="02020603050405020304" pitchFamily="18" charset="0"/>
                        </a:rPr>
                        <a:t>(SL)</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9D9D9"/>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269875" algn="ctr">
                        <a:spcBef>
                          <a:spcPct val="0"/>
                        </a:spcBef>
                        <a:buClrTx/>
                        <a:buNone/>
                      </a:pPr>
                      <a:r>
                        <a:rPr lang="en-US" altLang="zh-CN" sz="1200">
                          <a:latin typeface="Times New Roman" panose="02020603050405020304" pitchFamily="18" charset="0"/>
                          <a:ea typeface="Times New Roman" panose="02020603050405020304" pitchFamily="18" charset="0"/>
                        </a:rPr>
                        <a:t>D</a:t>
                      </a:r>
                      <a:r>
                        <a:rPr lang="en-US" altLang="zh-CN" sz="1200" baseline="-30000">
                          <a:latin typeface="Times New Roman" panose="02020603050405020304" pitchFamily="18" charset="0"/>
                          <a:ea typeface="Times New Roman" panose="02020603050405020304" pitchFamily="18" charset="0"/>
                        </a:rPr>
                        <a:t>5</a:t>
                      </a:r>
                      <a:endParaRPr lang="en-US" altLang="zh-CN" sz="1200"/>
                    </a:p>
                    <a:p>
                      <a:pPr marL="0" lvl="0" indent="269875" algn="ctr" eaLnBrk="0" hangingPunct="0">
                        <a:spcBef>
                          <a:spcPct val="0"/>
                        </a:spcBef>
                        <a:buNone/>
                      </a:pPr>
                      <a:r>
                        <a:rPr lang="en-US" altLang="zh-CN" sz="1200">
                          <a:latin typeface="Times New Roman" panose="02020603050405020304" pitchFamily="18" charset="0"/>
                          <a:ea typeface="Times New Roman" panose="02020603050405020304" pitchFamily="18" charset="0"/>
                        </a:rPr>
                        <a:t>(EOI)</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9D9D9"/>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zh-CN" altLang="en-US" sz="1200" dirty="0">
                          <a:latin typeface="Times New Roman" panose="02020603050405020304" pitchFamily="18" charset="0"/>
                          <a:ea typeface="Times New Roman" panose="02020603050405020304" pitchFamily="18" charset="0"/>
                        </a:rPr>
                        <a:t>工作方式</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9D9D9"/>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Times New Roman" panose="02020603050405020304" pitchFamily="18" charset="0"/>
                          <a:ea typeface="Times New Roman" panose="02020603050405020304" pitchFamily="18" charset="0"/>
                        </a:rPr>
                        <a:t>L</a:t>
                      </a:r>
                      <a:r>
                        <a:rPr lang="en-US" altLang="zh-CN" sz="1200" baseline="-30000">
                          <a:latin typeface="Times New Roman" panose="02020603050405020304" pitchFamily="18" charset="0"/>
                          <a:ea typeface="Times New Roman" panose="02020603050405020304" pitchFamily="18" charset="0"/>
                        </a:rPr>
                        <a:t>2</a:t>
                      </a:r>
                      <a:r>
                        <a:rPr lang="en-US" altLang="zh-CN" sz="1200">
                          <a:latin typeface="Times New Roman" panose="02020603050405020304" pitchFamily="18" charset="0"/>
                          <a:ea typeface="Times New Roman" panose="02020603050405020304" pitchFamily="18" charset="0"/>
                        </a:rPr>
                        <a:t>L</a:t>
                      </a:r>
                      <a:r>
                        <a:rPr lang="en-US" altLang="zh-CN" sz="1200" baseline="-30000">
                          <a:latin typeface="Times New Roman" panose="02020603050405020304" pitchFamily="18" charset="0"/>
                          <a:ea typeface="Times New Roman" panose="02020603050405020304" pitchFamily="18" charset="0"/>
                        </a:rPr>
                        <a:t>1</a:t>
                      </a:r>
                      <a:r>
                        <a:rPr lang="en-US" altLang="zh-CN" sz="1200">
                          <a:latin typeface="Times New Roman" panose="02020603050405020304" pitchFamily="18" charset="0"/>
                          <a:ea typeface="Times New Roman" panose="02020603050405020304" pitchFamily="18" charset="0"/>
                        </a:rPr>
                        <a:t>L</a:t>
                      </a:r>
                      <a:r>
                        <a:rPr lang="en-US" altLang="zh-CN" sz="1200" baseline="-30000">
                          <a:latin typeface="Times New Roman" panose="02020603050405020304" pitchFamily="18" charset="0"/>
                          <a:ea typeface="Times New Roman" panose="02020603050405020304" pitchFamily="18" charset="0"/>
                        </a:rPr>
                        <a:t>0</a:t>
                      </a:r>
                      <a:r>
                        <a:rPr lang="zh-CN" altLang="en-US" sz="1200" dirty="0">
                          <a:latin typeface="Times New Roman" panose="02020603050405020304" pitchFamily="18" charset="0"/>
                          <a:ea typeface="Times New Roman" panose="02020603050405020304" pitchFamily="18" charset="0"/>
                        </a:rPr>
                        <a:t>值</a:t>
                      </a:r>
                    </a:p>
                    <a:p>
                      <a:pPr marL="0" lvl="0" indent="0" algn="ctr">
                        <a:spcBef>
                          <a:spcPct val="0"/>
                        </a:spcBef>
                        <a:buClrTx/>
                        <a:buNone/>
                      </a:pPr>
                      <a:r>
                        <a:rPr lang="zh-CN" altLang="en-US" sz="1200" dirty="0">
                          <a:latin typeface="Times New Roman" panose="02020603050405020304" pitchFamily="18" charset="0"/>
                          <a:ea typeface="Times New Roman" panose="02020603050405020304" pitchFamily="18" charset="0"/>
                        </a:rPr>
                        <a:t>有无意义</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9D9D9"/>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zh-CN" altLang="en-US" sz="1200" dirty="0">
                          <a:latin typeface="Times New Roman" panose="02020603050405020304" pitchFamily="18" charset="0"/>
                          <a:ea typeface="Times New Roman" panose="02020603050405020304" pitchFamily="18" charset="0"/>
                        </a:rPr>
                        <a:t>说明</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0"/>
                  </a:ext>
                </a:extLst>
              </a:tr>
              <a:tr h="300038">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1</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0</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0</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中断优先级自动循环方式</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无</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只规定了中断优先级方式</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1625">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0</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0</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0</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设定固定优先级</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2"/>
                  </a:ext>
                </a:extLst>
              </a:tr>
              <a:tr h="682625">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1</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1</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0</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特殊优先级循环方式</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有</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endParaRPr lang="zh-CN" altLang="en-US" sz="12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1625">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0</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1</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0</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gridSpan="3">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无意义</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xBody>
                    <a:bodyPr/>
                    <a:lstStyle/>
                    <a:p>
                      <a:endParaRPr lang="zh-CN"/>
                    </a:p>
                  </a:txBody>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4"/>
                  </a:ext>
                </a:extLst>
              </a:tr>
              <a:tr h="658812">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1</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0</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1</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中断优先级自动循环方式及中断一般结束方式</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无</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规定了中断优先级循环方式，并执行中断返回前的中断一般结束命令，使 对应</a:t>
                      </a:r>
                      <a:r>
                        <a:rPr lang="en-US" altLang="zh-CN" sz="1200">
                          <a:latin typeface="Times New Roman" panose="02020603050405020304" pitchFamily="18" charset="0"/>
                          <a:ea typeface="Times New Roman" panose="02020603050405020304" pitchFamily="18" charset="0"/>
                        </a:rPr>
                        <a:t>ISR</a:t>
                      </a:r>
                      <a:r>
                        <a:rPr lang="zh-CN" altLang="en-US" sz="1200" dirty="0">
                          <a:latin typeface="宋体" panose="02010600030101010101" pitchFamily="2" charset="-122"/>
                          <a:ea typeface="Times New Roman" panose="02020603050405020304" pitchFamily="18" charset="0"/>
                        </a:rPr>
                        <a:t>位清零</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81038">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1</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1</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1</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中断优先级特殊循环方式和特殊中断结束方式</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有</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endParaRPr lang="zh-CN" altLang="en-US" sz="12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79425">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0</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1</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1</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中断特殊结束方式</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有</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中断返回前执行中断特殊结束命令，使相应的</a:t>
                      </a:r>
                      <a:r>
                        <a:rPr lang="en-US" altLang="zh-CN" sz="1200">
                          <a:latin typeface="Times New Roman" panose="02020603050405020304" pitchFamily="18" charset="0"/>
                          <a:ea typeface="Times New Roman" panose="02020603050405020304" pitchFamily="18" charset="0"/>
                        </a:rPr>
                        <a:t>ISR</a:t>
                      </a:r>
                      <a:r>
                        <a:rPr lang="zh-CN" altLang="en-US" sz="1200" dirty="0">
                          <a:latin typeface="宋体" panose="02010600030101010101" pitchFamily="2" charset="-122"/>
                          <a:ea typeface="Times New Roman" panose="02020603050405020304" pitchFamily="18" charset="0"/>
                        </a:rPr>
                        <a:t>位清零</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79425">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0</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0</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ClrTx/>
                        <a:buNone/>
                      </a:pPr>
                      <a:r>
                        <a:rPr lang="en-US" altLang="zh-CN" sz="1200">
                          <a:latin typeface="宋体" panose="02010600030101010101" pitchFamily="2" charset="-122"/>
                          <a:ea typeface="Times New Roman" panose="02020603050405020304" pitchFamily="18" charset="0"/>
                        </a:rPr>
                        <a:t>1</a:t>
                      </a:r>
                      <a:endParaRPr lang="en-US" altLang="zh-CN" sz="120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中断一般结束方式</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无意义</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just">
                        <a:spcBef>
                          <a:spcPct val="0"/>
                        </a:spcBef>
                        <a:buClrTx/>
                        <a:buNone/>
                      </a:pPr>
                      <a:r>
                        <a:rPr lang="zh-CN" altLang="en-US" sz="1200" dirty="0">
                          <a:latin typeface="宋体" panose="02010600030101010101" pitchFamily="2" charset="-122"/>
                          <a:ea typeface="Times New Roman" panose="02020603050405020304" pitchFamily="18" charset="0"/>
                        </a:rPr>
                        <a:t>中断返回前执行中断一般结束命令，使相应的</a:t>
                      </a:r>
                      <a:r>
                        <a:rPr lang="en-US" altLang="zh-CN" sz="1200">
                          <a:latin typeface="Times New Roman" panose="02020603050405020304" pitchFamily="18" charset="0"/>
                          <a:ea typeface="Times New Roman" panose="02020603050405020304" pitchFamily="18" charset="0"/>
                        </a:rPr>
                        <a:t>ISR</a:t>
                      </a:r>
                      <a:r>
                        <a:rPr lang="zh-CN" altLang="en-US" sz="1200" dirty="0">
                          <a:latin typeface="宋体" panose="02010600030101010101" pitchFamily="2" charset="-122"/>
                          <a:ea typeface="Times New Roman" panose="02020603050405020304" pitchFamily="18" charset="0"/>
                        </a:rPr>
                        <a:t>位清零</a:t>
                      </a:r>
                      <a:endParaRPr lang="zh-CN" altLang="en-US" sz="1200" dirty="0">
                        <a:latin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3E8A516-E02E-370A-666A-8F953ED7F8DE}"/>
              </a:ext>
            </a:extLst>
          </p:cNvPr>
          <p:cNvSpPr txBox="1"/>
          <p:nvPr/>
        </p:nvSpPr>
        <p:spPr>
          <a:xfrm>
            <a:off x="237532" y="908720"/>
            <a:ext cx="7992887" cy="3108543"/>
          </a:xfrm>
          <a:prstGeom prst="rect">
            <a:avLst/>
          </a:prstGeom>
          <a:noFill/>
        </p:spPr>
        <p:txBody>
          <a:bodyPr wrap="square">
            <a:spAutoFit/>
          </a:bodyPr>
          <a:lstStyle/>
          <a:p>
            <a:r>
              <a:rPr lang="en-US" altLang="zh-CN" sz="2400" b="1" dirty="0">
                <a:solidFill>
                  <a:srgbClr val="0000FF"/>
                </a:solidFill>
                <a:latin typeface="Arial" panose="020B0604020202020204" pitchFamily="34" charset="0"/>
              </a:rPr>
              <a:t>【</a:t>
            </a:r>
            <a:r>
              <a:rPr lang="zh-CN" altLang="en-US" sz="2400" b="1" dirty="0">
                <a:solidFill>
                  <a:srgbClr val="0000FF"/>
                </a:solidFill>
                <a:latin typeface="Arial" panose="020B0604020202020204" pitchFamily="34" charset="0"/>
              </a:rPr>
              <a:t>例 </a:t>
            </a:r>
            <a:r>
              <a:rPr lang="en-US" altLang="zh-CN" sz="2400" b="1" dirty="0">
                <a:solidFill>
                  <a:srgbClr val="0000FF"/>
                </a:solidFill>
                <a:latin typeface="Arial" panose="020B0604020202020204" pitchFamily="34" charset="0"/>
              </a:rPr>
              <a:t>8.6】</a:t>
            </a:r>
            <a:r>
              <a:rPr lang="zh-CN" altLang="en-US" sz="2400" b="1" dirty="0">
                <a:latin typeface="Arial" panose="020B0604020202020204" pitchFamily="34" charset="0"/>
              </a:rPr>
              <a:t>假设 </a:t>
            </a:r>
            <a:r>
              <a:rPr lang="en-US" altLang="zh-CN" sz="2400" b="1" dirty="0">
                <a:latin typeface="Arial" panose="020B0604020202020204" pitchFamily="34" charset="0"/>
              </a:rPr>
              <a:t>8259A </a:t>
            </a:r>
            <a:r>
              <a:rPr lang="zh-CN" altLang="en-US" sz="2400" b="1" dirty="0">
                <a:latin typeface="Arial" panose="020B0604020202020204" pitchFamily="34" charset="0"/>
              </a:rPr>
              <a:t>的端口地址是 </a:t>
            </a:r>
            <a:r>
              <a:rPr lang="en-US" altLang="zh-CN" sz="2400" b="1" dirty="0">
                <a:latin typeface="Arial" panose="020B0604020202020204" pitchFamily="34" charset="0"/>
              </a:rPr>
              <a:t>20H </a:t>
            </a:r>
            <a:r>
              <a:rPr lang="zh-CN" altLang="en-US" sz="2400" b="1" dirty="0">
                <a:latin typeface="Arial" panose="020B0604020202020204" pitchFamily="34" charset="0"/>
              </a:rPr>
              <a:t>和 </a:t>
            </a:r>
            <a:r>
              <a:rPr lang="en-US" altLang="zh-CN" sz="2400" b="1" dirty="0">
                <a:latin typeface="Arial" panose="020B0604020202020204" pitchFamily="34" charset="0"/>
              </a:rPr>
              <a:t>21H</a:t>
            </a:r>
            <a:r>
              <a:rPr lang="zh-CN" altLang="en-US" sz="2400" b="1" dirty="0">
                <a:latin typeface="Arial" panose="020B0604020202020204" pitchFamily="34" charset="0"/>
              </a:rPr>
              <a:t>。 </a:t>
            </a:r>
            <a:endParaRPr lang="en-US" altLang="zh-CN" sz="2400" b="1" dirty="0">
              <a:latin typeface="Arial" panose="020B0604020202020204" pitchFamily="34" charset="0"/>
            </a:endParaRPr>
          </a:p>
          <a:p>
            <a:r>
              <a:rPr lang="zh-CN" altLang="en-US" sz="2400" b="1" dirty="0">
                <a:latin typeface="Arial" panose="020B0604020202020204" pitchFamily="34" charset="0"/>
              </a:rPr>
              <a:t>（</a:t>
            </a:r>
            <a:r>
              <a:rPr lang="en-US" altLang="zh-CN" sz="2400" b="1" dirty="0">
                <a:latin typeface="Arial" panose="020B0604020202020204" pitchFamily="34" charset="0"/>
              </a:rPr>
              <a:t>1</a:t>
            </a:r>
            <a:r>
              <a:rPr lang="zh-CN" altLang="en-US" sz="2400" b="1" dirty="0">
                <a:latin typeface="Arial" panose="020B0604020202020204" pitchFamily="34" charset="0"/>
              </a:rPr>
              <a:t>）写出一般 </a:t>
            </a:r>
            <a:r>
              <a:rPr lang="en-US" altLang="zh-CN" sz="2400" b="1" dirty="0">
                <a:latin typeface="Arial" panose="020B0604020202020204" pitchFamily="34" charset="0"/>
              </a:rPr>
              <a:t>EOI </a:t>
            </a:r>
            <a:r>
              <a:rPr lang="zh-CN" altLang="en-US" sz="2400" b="1" dirty="0">
                <a:latin typeface="Arial" panose="020B0604020202020204" pitchFamily="34" charset="0"/>
              </a:rPr>
              <a:t>命令。 </a:t>
            </a:r>
            <a:endParaRPr lang="en-US" altLang="zh-CN" sz="2400" b="1" dirty="0">
              <a:latin typeface="Arial" panose="020B0604020202020204" pitchFamily="34" charset="0"/>
            </a:endParaRPr>
          </a:p>
          <a:p>
            <a:r>
              <a:rPr lang="zh-CN" altLang="en-US" sz="2400" b="1" dirty="0">
                <a:latin typeface="Arial" panose="020B0604020202020204" pitchFamily="34" charset="0"/>
              </a:rPr>
              <a:t>（</a:t>
            </a:r>
            <a:r>
              <a:rPr lang="en-US" altLang="zh-CN" sz="2400" b="1" dirty="0">
                <a:latin typeface="Arial" panose="020B0604020202020204" pitchFamily="34" charset="0"/>
              </a:rPr>
              <a:t>2</a:t>
            </a:r>
            <a:r>
              <a:rPr lang="zh-CN" altLang="en-US" sz="2400" b="1" dirty="0">
                <a:latin typeface="Arial" panose="020B0604020202020204" pitchFamily="34" charset="0"/>
              </a:rPr>
              <a:t>）写出清 </a:t>
            </a:r>
            <a:r>
              <a:rPr lang="en-US" altLang="zh-CN" sz="2400" b="1" dirty="0">
                <a:latin typeface="Arial" panose="020B0604020202020204" pitchFamily="34" charset="0"/>
              </a:rPr>
              <a:t>ISR </a:t>
            </a:r>
            <a:r>
              <a:rPr lang="zh-CN" altLang="en-US" sz="2400" b="1" dirty="0">
                <a:latin typeface="Arial" panose="020B0604020202020204" pitchFamily="34" charset="0"/>
              </a:rPr>
              <a:t>中 </a:t>
            </a:r>
            <a:r>
              <a:rPr lang="en-US" altLang="zh-CN" sz="2400" b="1" dirty="0">
                <a:latin typeface="Arial" panose="020B0604020202020204" pitchFamily="34" charset="0"/>
              </a:rPr>
              <a:t>IR</a:t>
            </a:r>
            <a:r>
              <a:rPr lang="en-US" altLang="zh-CN" sz="2400" b="1" baseline="-25000" dirty="0">
                <a:latin typeface="Arial" panose="020B0604020202020204" pitchFamily="34" charset="0"/>
              </a:rPr>
              <a:t>5</a:t>
            </a:r>
            <a:r>
              <a:rPr lang="zh-CN" altLang="en-US" sz="2400" b="1" dirty="0">
                <a:latin typeface="Arial" panose="020B0604020202020204" pitchFamily="34" charset="0"/>
              </a:rPr>
              <a:t>中断服务标志位的特殊 </a:t>
            </a:r>
            <a:r>
              <a:rPr lang="en-US" altLang="zh-CN" sz="2400" b="1" dirty="0">
                <a:latin typeface="Arial" panose="020B0604020202020204" pitchFamily="34" charset="0"/>
              </a:rPr>
              <a:t>EOI </a:t>
            </a:r>
            <a:r>
              <a:rPr lang="zh-CN" altLang="en-US" sz="2400" b="1" dirty="0">
                <a:latin typeface="Arial" panose="020B0604020202020204" pitchFamily="34" charset="0"/>
              </a:rPr>
              <a:t>命令。 </a:t>
            </a:r>
            <a:endParaRPr lang="en-US" altLang="zh-CN" sz="2400" b="1" dirty="0">
              <a:latin typeface="Arial" panose="020B0604020202020204" pitchFamily="34" charset="0"/>
            </a:endParaRPr>
          </a:p>
          <a:p>
            <a:endParaRPr lang="en-US" altLang="zh-CN" sz="2400" b="1" dirty="0">
              <a:latin typeface="Arial" panose="020B0604020202020204" pitchFamily="34" charset="0"/>
            </a:endParaRPr>
          </a:p>
          <a:p>
            <a:r>
              <a:rPr lang="zh-CN" altLang="en-US" sz="2000" b="1" dirty="0">
                <a:latin typeface="Arial" panose="020B0604020202020204" pitchFamily="34" charset="0"/>
              </a:rPr>
              <a:t>解答： （</a:t>
            </a:r>
            <a:r>
              <a:rPr lang="en-US" altLang="zh-CN" sz="2000" b="1" dirty="0">
                <a:latin typeface="Arial" panose="020B0604020202020204" pitchFamily="34" charset="0"/>
              </a:rPr>
              <a:t>1</a:t>
            </a:r>
            <a:r>
              <a:rPr lang="zh-CN" altLang="en-US" sz="2000" b="1" dirty="0">
                <a:latin typeface="Arial" panose="020B0604020202020204" pitchFamily="34" charset="0"/>
              </a:rPr>
              <a:t>）</a:t>
            </a:r>
            <a:r>
              <a:rPr lang="en-US" altLang="zh-CN" sz="2000" b="1" dirty="0">
                <a:solidFill>
                  <a:srgbClr val="0000FF"/>
                </a:solidFill>
                <a:latin typeface="Arial" panose="020B0604020202020204" pitchFamily="34" charset="0"/>
              </a:rPr>
              <a:t>MOV AL,00100000B </a:t>
            </a:r>
          </a:p>
          <a:p>
            <a:r>
              <a:rPr lang="en-US" altLang="zh-CN" sz="2000" b="1" dirty="0">
                <a:solidFill>
                  <a:srgbClr val="0000FF"/>
                </a:solidFill>
                <a:latin typeface="Arial" panose="020B0604020202020204" pitchFamily="34" charset="0"/>
              </a:rPr>
              <a:t>                     OUT 20H,AL </a:t>
            </a:r>
          </a:p>
          <a:p>
            <a:endParaRPr lang="en-US" altLang="zh-CN" sz="2000" b="1" dirty="0">
              <a:latin typeface="Arial" panose="020B0604020202020204" pitchFamily="34" charset="0"/>
            </a:endParaRPr>
          </a:p>
          <a:p>
            <a:r>
              <a:rPr lang="en-US" altLang="zh-CN" sz="2000" b="1" dirty="0">
                <a:latin typeface="Arial" panose="020B0604020202020204" pitchFamily="34" charset="0"/>
              </a:rPr>
              <a:t>             </a:t>
            </a:r>
            <a:r>
              <a:rPr lang="zh-CN" altLang="en-US" sz="2000" b="1" dirty="0">
                <a:latin typeface="Arial" panose="020B0604020202020204" pitchFamily="34" charset="0"/>
              </a:rPr>
              <a:t>（</a:t>
            </a:r>
            <a:r>
              <a:rPr lang="en-US" altLang="zh-CN" sz="2000" b="1" dirty="0">
                <a:latin typeface="Arial" panose="020B0604020202020204" pitchFamily="34" charset="0"/>
              </a:rPr>
              <a:t>2</a:t>
            </a:r>
            <a:r>
              <a:rPr lang="zh-CN" altLang="en-US" sz="2000" b="1" dirty="0">
                <a:latin typeface="Arial" panose="020B0604020202020204" pitchFamily="34" charset="0"/>
              </a:rPr>
              <a:t>）</a:t>
            </a:r>
            <a:r>
              <a:rPr lang="en-US" altLang="zh-CN" sz="2000" b="1" dirty="0">
                <a:solidFill>
                  <a:srgbClr val="0000FF"/>
                </a:solidFill>
                <a:latin typeface="Arial" panose="020B0604020202020204" pitchFamily="34" charset="0"/>
              </a:rPr>
              <a:t>MOV AL,01100101B        </a:t>
            </a:r>
            <a:r>
              <a:rPr lang="zh-CN" altLang="en-US" sz="2000" b="1" dirty="0">
                <a:solidFill>
                  <a:srgbClr val="0000FF"/>
                </a:solidFill>
                <a:latin typeface="Arial" panose="020B0604020202020204" pitchFamily="34" charset="0"/>
              </a:rPr>
              <a:t>；</a:t>
            </a:r>
            <a:r>
              <a:rPr lang="en-US" altLang="zh-CN" sz="2000" b="1" dirty="0">
                <a:solidFill>
                  <a:srgbClr val="0000FF"/>
                </a:solidFill>
                <a:latin typeface="Arial" panose="020B0604020202020204" pitchFamily="34" charset="0"/>
              </a:rPr>
              <a:t> L2~L0=101</a:t>
            </a:r>
          </a:p>
          <a:p>
            <a:r>
              <a:rPr lang="en-US" altLang="zh-CN" sz="2000" b="1" dirty="0">
                <a:solidFill>
                  <a:srgbClr val="0000FF"/>
                </a:solidFill>
                <a:latin typeface="Arial" panose="020B0604020202020204" pitchFamily="34" charset="0"/>
              </a:rPr>
              <a:t>                      OUT 20H,A</a:t>
            </a:r>
            <a:endParaRPr lang="zh-CN" altLang="en-US" sz="2000" b="1" dirty="0">
              <a:solidFill>
                <a:srgbClr val="0000FF"/>
              </a:solidFill>
              <a:latin typeface="Arial" panose="020B0604020202020204" pitchFamily="34" charset="0"/>
            </a:endParaRPr>
          </a:p>
        </p:txBody>
      </p:sp>
      <p:sp>
        <p:nvSpPr>
          <p:cNvPr id="5"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extLst>
      <p:ext uri="{BB962C8B-B14F-4D97-AF65-F5344CB8AC3E}">
        <p14:creationId xmlns:p14="http://schemas.microsoft.com/office/powerpoint/2010/main" val="2777452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3E8A516-E02E-370A-666A-8F953ED7F8DE}"/>
              </a:ext>
            </a:extLst>
          </p:cNvPr>
          <p:cNvSpPr txBox="1"/>
          <p:nvPr/>
        </p:nvSpPr>
        <p:spPr>
          <a:xfrm>
            <a:off x="179512" y="908720"/>
            <a:ext cx="8640960" cy="1931298"/>
          </a:xfrm>
          <a:prstGeom prst="rect">
            <a:avLst/>
          </a:prstGeom>
          <a:noFill/>
        </p:spPr>
        <p:txBody>
          <a:bodyPr wrap="square">
            <a:spAutoFit/>
          </a:bodyPr>
          <a:lstStyle/>
          <a:p>
            <a:pPr marL="0" indent="0">
              <a:spcBef>
                <a:spcPts val="300"/>
              </a:spcBef>
              <a:buNone/>
            </a:pPr>
            <a:r>
              <a:rPr lang="en-US" altLang="zh-CN" sz="2400" b="1" dirty="0">
                <a:solidFill>
                  <a:srgbClr val="0000FF"/>
                </a:solidFill>
                <a:latin typeface="Arial" panose="020B0604020202020204" pitchFamily="34" charset="0"/>
              </a:rPr>
              <a:t>【</a:t>
            </a:r>
            <a:r>
              <a:rPr lang="zh-CN" altLang="en-US" sz="2400" b="1" dirty="0">
                <a:solidFill>
                  <a:srgbClr val="0000FF"/>
                </a:solidFill>
                <a:latin typeface="Arial" panose="020B0604020202020204" pitchFamily="34" charset="0"/>
              </a:rPr>
              <a:t>例</a:t>
            </a:r>
            <a:r>
              <a:rPr lang="en-US" altLang="zh-CN" sz="2400" b="1" dirty="0">
                <a:solidFill>
                  <a:srgbClr val="0000FF"/>
                </a:solidFill>
                <a:latin typeface="Arial" panose="020B0604020202020204" pitchFamily="34" charset="0"/>
              </a:rPr>
              <a:t>】</a:t>
            </a:r>
            <a:r>
              <a:rPr lang="zh-CN" altLang="en-US" sz="2400" b="1" dirty="0">
                <a:latin typeface="Arial" panose="020B0604020202020204" pitchFamily="34" charset="0"/>
              </a:rPr>
              <a:t>发</a:t>
            </a:r>
            <a:r>
              <a:rPr lang="en-US" altLang="zh-CN" sz="2400" b="1" dirty="0">
                <a:latin typeface="Arial" panose="020B0604020202020204" pitchFamily="34" charset="0"/>
              </a:rPr>
              <a:t>OCW2</a:t>
            </a:r>
            <a:r>
              <a:rPr lang="zh-CN" altLang="en-US" sz="2400" b="1" dirty="0">
                <a:latin typeface="Arial" panose="020B0604020202020204" pitchFamily="34" charset="0"/>
              </a:rPr>
              <a:t>命令，结束</a:t>
            </a:r>
            <a:r>
              <a:rPr lang="en-US" altLang="zh-CN" sz="2400" b="1" dirty="0">
                <a:latin typeface="Arial" panose="020B0604020202020204" pitchFamily="34" charset="0"/>
              </a:rPr>
              <a:t>2</a:t>
            </a:r>
            <a:r>
              <a:rPr lang="zh-CN" altLang="en-US" sz="2400" b="1" dirty="0">
                <a:latin typeface="Arial" panose="020B0604020202020204" pitchFamily="34" charset="0"/>
              </a:rPr>
              <a:t>级中断，并置优先级为自动循环方式</a:t>
            </a:r>
          </a:p>
          <a:p>
            <a:pPr>
              <a:spcBef>
                <a:spcPts val="300"/>
              </a:spcBef>
              <a:buNone/>
            </a:pPr>
            <a:r>
              <a:rPr lang="en-US" altLang="zh-CN" sz="2400" dirty="0"/>
              <a:t> 	</a:t>
            </a:r>
            <a:r>
              <a:rPr lang="en-US" altLang="zh-CN" sz="2000" b="1" dirty="0">
                <a:solidFill>
                  <a:srgbClr val="0000FF"/>
                </a:solidFill>
                <a:latin typeface="Arial" panose="020B0604020202020204" pitchFamily="34" charset="0"/>
              </a:rPr>
              <a:t>MOV  AL</a:t>
            </a:r>
            <a:r>
              <a:rPr lang="zh-CN" altLang="en-US" sz="2000" b="1" dirty="0">
                <a:solidFill>
                  <a:srgbClr val="0000FF"/>
                </a:solidFill>
                <a:latin typeface="Arial" panose="020B0604020202020204" pitchFamily="34" charset="0"/>
              </a:rPr>
              <a:t>，</a:t>
            </a:r>
            <a:r>
              <a:rPr lang="en-US" altLang="zh-CN" sz="2000" b="1" dirty="0">
                <a:solidFill>
                  <a:srgbClr val="0000FF"/>
                </a:solidFill>
                <a:latin typeface="Arial" panose="020B0604020202020204" pitchFamily="34" charset="0"/>
              </a:rPr>
              <a:t>11100010B   ; OCW2 </a:t>
            </a:r>
            <a:r>
              <a:rPr lang="zh-CN" altLang="en-US" sz="2000" b="1" dirty="0">
                <a:solidFill>
                  <a:srgbClr val="0000FF"/>
                </a:solidFill>
                <a:latin typeface="Arial" panose="020B0604020202020204" pitchFamily="34" charset="0"/>
              </a:rPr>
              <a:t>的</a:t>
            </a:r>
            <a:r>
              <a:rPr lang="en-US" altLang="zh-CN" sz="2000" b="1" dirty="0">
                <a:solidFill>
                  <a:srgbClr val="0000FF"/>
                </a:solidFill>
                <a:latin typeface="Arial" panose="020B0604020202020204" pitchFamily="34" charset="0"/>
              </a:rPr>
              <a:t>SEOI</a:t>
            </a:r>
            <a:r>
              <a:rPr lang="zh-CN" altLang="en-US" sz="2000" b="1" dirty="0">
                <a:solidFill>
                  <a:srgbClr val="0000FF"/>
                </a:solidFill>
                <a:latin typeface="Arial" panose="020B0604020202020204" pitchFamily="34" charset="0"/>
              </a:rPr>
              <a:t>循环命令，</a:t>
            </a:r>
            <a:r>
              <a:rPr lang="en-US" altLang="zh-CN" sz="2000" b="1" dirty="0">
                <a:solidFill>
                  <a:srgbClr val="0000FF"/>
                </a:solidFill>
                <a:latin typeface="Arial" panose="020B0604020202020204" pitchFamily="34" charset="0"/>
              </a:rPr>
              <a:t> L2</a:t>
            </a:r>
            <a:r>
              <a:rPr lang="en-US" altLang="zh-CN" sz="2000" b="1" dirty="0">
                <a:solidFill>
                  <a:srgbClr val="0000FF"/>
                </a:solidFill>
                <a:latin typeface="Arial" panose="020B0604020202020204" pitchFamily="34" charset="0"/>
                <a:sym typeface="Symbol"/>
              </a:rPr>
              <a:t></a:t>
            </a:r>
            <a:r>
              <a:rPr lang="en-US" altLang="zh-CN" sz="2000" b="1" dirty="0">
                <a:solidFill>
                  <a:srgbClr val="0000FF"/>
                </a:solidFill>
                <a:latin typeface="Arial" panose="020B0604020202020204" pitchFamily="34" charset="0"/>
              </a:rPr>
              <a:t>L0=010</a:t>
            </a:r>
            <a:endParaRPr lang="zh-CN" altLang="en-US" sz="2000" b="1" dirty="0">
              <a:solidFill>
                <a:srgbClr val="0000FF"/>
              </a:solidFill>
              <a:latin typeface="Arial" panose="020B0604020202020204" pitchFamily="34" charset="0"/>
            </a:endParaRPr>
          </a:p>
          <a:p>
            <a:pPr>
              <a:spcBef>
                <a:spcPts val="300"/>
              </a:spcBef>
              <a:buNone/>
            </a:pPr>
            <a:r>
              <a:rPr lang="en-US" altLang="zh-CN" sz="2000" b="1" dirty="0">
                <a:solidFill>
                  <a:srgbClr val="0000FF"/>
                </a:solidFill>
                <a:latin typeface="Arial" panose="020B0604020202020204" pitchFamily="34" charset="0"/>
              </a:rPr>
              <a:t>    	OUT  20H</a:t>
            </a:r>
            <a:r>
              <a:rPr lang="zh-CN" altLang="en-US" sz="2000" b="1" dirty="0">
                <a:solidFill>
                  <a:srgbClr val="0000FF"/>
                </a:solidFill>
                <a:latin typeface="Arial" panose="020B0604020202020204" pitchFamily="34" charset="0"/>
              </a:rPr>
              <a:t>，</a:t>
            </a:r>
            <a:r>
              <a:rPr lang="en-US" altLang="zh-CN" sz="2000" b="1" dirty="0">
                <a:solidFill>
                  <a:srgbClr val="0000FF"/>
                </a:solidFill>
                <a:latin typeface="Arial" panose="020B0604020202020204" pitchFamily="34" charset="0"/>
              </a:rPr>
              <a:t>AL       	  ; IS2=0</a:t>
            </a:r>
            <a:r>
              <a:rPr lang="zh-CN" altLang="en-US" sz="2000" b="1" dirty="0">
                <a:solidFill>
                  <a:srgbClr val="0000FF"/>
                </a:solidFill>
                <a:latin typeface="Arial" panose="020B0604020202020204" pitchFamily="34" charset="0"/>
              </a:rPr>
              <a:t>结束</a:t>
            </a:r>
            <a:r>
              <a:rPr lang="en-US" altLang="zh-CN" sz="2000" b="1" dirty="0">
                <a:solidFill>
                  <a:srgbClr val="0000FF"/>
                </a:solidFill>
                <a:latin typeface="Arial" panose="020B0604020202020204" pitchFamily="34" charset="0"/>
              </a:rPr>
              <a:t>2</a:t>
            </a:r>
            <a:r>
              <a:rPr lang="zh-CN" altLang="en-US" sz="2000" b="1" dirty="0">
                <a:solidFill>
                  <a:srgbClr val="0000FF"/>
                </a:solidFill>
                <a:latin typeface="Arial" panose="020B0604020202020204" pitchFamily="34" charset="0"/>
              </a:rPr>
              <a:t>级中断</a:t>
            </a:r>
            <a:endParaRPr lang="en-US" altLang="zh-CN" sz="2000" b="1" dirty="0">
              <a:solidFill>
                <a:srgbClr val="0000FF"/>
              </a:solidFill>
              <a:latin typeface="Arial" panose="020B0604020202020204" pitchFamily="34" charset="0"/>
            </a:endParaRPr>
          </a:p>
          <a:p>
            <a:pPr>
              <a:spcBef>
                <a:spcPts val="300"/>
              </a:spcBef>
              <a:buNone/>
            </a:pPr>
            <a:r>
              <a:rPr lang="en-US" altLang="zh-CN" sz="2000" b="1" dirty="0">
                <a:solidFill>
                  <a:srgbClr val="0000FF"/>
                </a:solidFill>
                <a:latin typeface="Arial" panose="020B0604020202020204" pitchFamily="34" charset="0"/>
              </a:rPr>
              <a:t>                                                      ;</a:t>
            </a:r>
            <a:r>
              <a:rPr lang="zh-CN" altLang="en-US" sz="2000" b="1" dirty="0">
                <a:solidFill>
                  <a:srgbClr val="0000FF"/>
                </a:solidFill>
                <a:latin typeface="Arial" panose="020B0604020202020204" pitchFamily="34" charset="0"/>
              </a:rPr>
              <a:t>优先级</a:t>
            </a:r>
            <a:r>
              <a:rPr lang="en-US" altLang="zh-CN" sz="2000" b="1" dirty="0">
                <a:solidFill>
                  <a:srgbClr val="0000FF"/>
                </a:solidFill>
                <a:latin typeface="Arial" panose="020B0604020202020204" pitchFamily="34" charset="0"/>
              </a:rPr>
              <a:t>IR</a:t>
            </a:r>
            <a:r>
              <a:rPr lang="en-US" altLang="zh-CN" sz="2000" b="1" baseline="-25000" dirty="0">
                <a:solidFill>
                  <a:srgbClr val="0000FF"/>
                </a:solidFill>
                <a:latin typeface="Arial" panose="020B0604020202020204" pitchFamily="34" charset="0"/>
              </a:rPr>
              <a:t>2</a:t>
            </a:r>
            <a:r>
              <a:rPr lang="en-US" altLang="zh-CN" sz="2000" b="1" dirty="0">
                <a:solidFill>
                  <a:srgbClr val="0000FF"/>
                </a:solidFill>
                <a:latin typeface="Arial" panose="020B0604020202020204" pitchFamily="34" charset="0"/>
              </a:rPr>
              <a:t> </a:t>
            </a:r>
            <a:r>
              <a:rPr lang="zh-CN" altLang="en-US" sz="2000" b="1" dirty="0">
                <a:solidFill>
                  <a:srgbClr val="0000FF"/>
                </a:solidFill>
                <a:latin typeface="Arial" panose="020B0604020202020204" pitchFamily="34" charset="0"/>
              </a:rPr>
              <a:t>最低</a:t>
            </a:r>
            <a:r>
              <a:rPr lang="en-US" altLang="zh-CN" sz="2000" b="1" dirty="0">
                <a:solidFill>
                  <a:srgbClr val="0000FF"/>
                </a:solidFill>
                <a:latin typeface="Arial" panose="020B0604020202020204" pitchFamily="34" charset="0"/>
              </a:rPr>
              <a:t>, IR</a:t>
            </a:r>
            <a:r>
              <a:rPr lang="en-US" altLang="zh-CN" sz="2000" b="1" baseline="-25000" dirty="0">
                <a:solidFill>
                  <a:srgbClr val="0000FF"/>
                </a:solidFill>
                <a:latin typeface="Arial" panose="020B0604020202020204" pitchFamily="34" charset="0"/>
              </a:rPr>
              <a:t>3</a:t>
            </a:r>
            <a:r>
              <a:rPr lang="zh-CN" altLang="en-US" sz="2000" b="1" dirty="0">
                <a:solidFill>
                  <a:srgbClr val="0000FF"/>
                </a:solidFill>
                <a:latin typeface="Arial" panose="020B0604020202020204" pitchFamily="34" charset="0"/>
              </a:rPr>
              <a:t>为最高</a:t>
            </a:r>
          </a:p>
        </p:txBody>
      </p:sp>
      <p:sp>
        <p:nvSpPr>
          <p:cNvPr id="5"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
        <p:nvSpPr>
          <p:cNvPr id="6" name="文本框 5">
            <a:extLst>
              <a:ext uri="{FF2B5EF4-FFF2-40B4-BE49-F238E27FC236}">
                <a16:creationId xmlns:a16="http://schemas.microsoft.com/office/drawing/2014/main" id="{4AE8E3C8-38CC-41B4-93E2-0F6F673FB2E1}"/>
              </a:ext>
            </a:extLst>
          </p:cNvPr>
          <p:cNvSpPr txBox="1"/>
          <p:nvPr/>
        </p:nvSpPr>
        <p:spPr>
          <a:xfrm>
            <a:off x="251520" y="3429000"/>
            <a:ext cx="8330914" cy="1815882"/>
          </a:xfrm>
          <a:prstGeom prst="rect">
            <a:avLst/>
          </a:prstGeom>
          <a:noFill/>
        </p:spPr>
        <p:txBody>
          <a:bodyPr wrap="square">
            <a:spAutoFit/>
          </a:bodyPr>
          <a:lstStyle/>
          <a:p>
            <a:pPr marL="0" indent="0" algn="just">
              <a:buNone/>
            </a:pPr>
            <a:r>
              <a:rPr lang="en-US" altLang="zh-CN" sz="2400" b="1" dirty="0">
                <a:solidFill>
                  <a:srgbClr val="0000FF"/>
                </a:solidFill>
                <a:latin typeface="Arial" panose="020B0604020202020204" pitchFamily="34" charset="0"/>
              </a:rPr>
              <a:t>【</a:t>
            </a:r>
            <a:r>
              <a:rPr lang="zh-CN" altLang="en-US" sz="2400" b="1" dirty="0">
                <a:solidFill>
                  <a:srgbClr val="0000FF"/>
                </a:solidFill>
                <a:latin typeface="Arial" panose="020B0604020202020204" pitchFamily="34" charset="0"/>
              </a:rPr>
              <a:t>例</a:t>
            </a:r>
            <a:r>
              <a:rPr lang="en-US" altLang="zh-CN" sz="2400" b="1" dirty="0">
                <a:solidFill>
                  <a:srgbClr val="0000FF"/>
                </a:solidFill>
                <a:latin typeface="Arial" panose="020B0604020202020204" pitchFamily="34" charset="0"/>
              </a:rPr>
              <a:t>】</a:t>
            </a:r>
            <a:r>
              <a:rPr lang="zh-CN" altLang="en-US" sz="2400" b="1" dirty="0">
                <a:latin typeface="Arial" panose="020B0604020202020204" pitchFamily="34" charset="0"/>
              </a:rPr>
              <a:t>要求发</a:t>
            </a:r>
            <a:r>
              <a:rPr lang="en-US" altLang="zh-CN" sz="2400" b="1" dirty="0">
                <a:latin typeface="Arial" panose="020B0604020202020204" pitchFamily="34" charset="0"/>
              </a:rPr>
              <a:t>OCW2</a:t>
            </a:r>
            <a:r>
              <a:rPr lang="zh-CN" altLang="en-US" sz="2400" b="1" dirty="0">
                <a:latin typeface="Arial" panose="020B0604020202020204" pitchFamily="34" charset="0"/>
              </a:rPr>
              <a:t>命令，使</a:t>
            </a:r>
            <a:r>
              <a:rPr lang="en-US" altLang="zh-CN" sz="2400" b="1" dirty="0">
                <a:latin typeface="Arial" panose="020B0604020202020204" pitchFamily="34" charset="0"/>
              </a:rPr>
              <a:t>IR</a:t>
            </a:r>
            <a:r>
              <a:rPr lang="en-US" altLang="zh-CN" sz="2400" b="1" baseline="-25000" dirty="0">
                <a:latin typeface="Arial" panose="020B0604020202020204" pitchFamily="34" charset="0"/>
              </a:rPr>
              <a:t>3</a:t>
            </a:r>
            <a:r>
              <a:rPr lang="zh-CN" altLang="en-US" sz="2400" b="1" dirty="0">
                <a:latin typeface="Arial" panose="020B0604020202020204" pitchFamily="34" charset="0"/>
              </a:rPr>
              <a:t>设为最低优先级，优先权按循环方式给出。</a:t>
            </a:r>
          </a:p>
          <a:p>
            <a:pPr algn="just">
              <a:buNone/>
            </a:pPr>
            <a:r>
              <a:rPr lang="en-US" altLang="zh-CN" sz="2400" dirty="0"/>
              <a:t>   	</a:t>
            </a:r>
            <a:r>
              <a:rPr lang="en-US" altLang="zh-CN" sz="2000" b="1" dirty="0">
                <a:solidFill>
                  <a:srgbClr val="0000FF"/>
                </a:solidFill>
                <a:latin typeface="Arial" panose="020B0604020202020204" pitchFamily="34" charset="0"/>
              </a:rPr>
              <a:t>MOV  AL</a:t>
            </a:r>
            <a:r>
              <a:rPr lang="zh-CN" altLang="en-US" sz="2000" b="1" dirty="0">
                <a:solidFill>
                  <a:srgbClr val="0000FF"/>
                </a:solidFill>
                <a:latin typeface="Arial" panose="020B0604020202020204" pitchFamily="34" charset="0"/>
              </a:rPr>
              <a:t>，</a:t>
            </a:r>
            <a:r>
              <a:rPr lang="en-US" altLang="zh-CN" sz="2000" b="1" dirty="0">
                <a:solidFill>
                  <a:srgbClr val="0000FF"/>
                </a:solidFill>
                <a:latin typeface="Arial" panose="020B0604020202020204" pitchFamily="34" charset="0"/>
              </a:rPr>
              <a:t>11000011B    ; </a:t>
            </a:r>
            <a:r>
              <a:rPr lang="zh-CN" altLang="en-US" sz="2000" b="1" dirty="0">
                <a:solidFill>
                  <a:srgbClr val="0000FF"/>
                </a:solidFill>
                <a:latin typeface="Arial" panose="020B0604020202020204" pitchFamily="34" charset="0"/>
              </a:rPr>
              <a:t>将</a:t>
            </a:r>
            <a:r>
              <a:rPr lang="en-US" altLang="zh-CN" sz="2000" b="1" dirty="0">
                <a:solidFill>
                  <a:srgbClr val="0000FF"/>
                </a:solidFill>
                <a:latin typeface="Arial" panose="020B0604020202020204" pitchFamily="34" charset="0"/>
              </a:rPr>
              <a:t>IR3</a:t>
            </a:r>
            <a:r>
              <a:rPr lang="zh-CN" altLang="en-US" sz="2000" b="1" dirty="0">
                <a:solidFill>
                  <a:srgbClr val="0000FF"/>
                </a:solidFill>
                <a:latin typeface="Arial" panose="020B0604020202020204" pitchFamily="34" charset="0"/>
              </a:rPr>
              <a:t>置为最低优先级，</a:t>
            </a:r>
            <a:endParaRPr lang="en-US" altLang="zh-CN" sz="2000" b="1" dirty="0">
              <a:solidFill>
                <a:srgbClr val="0000FF"/>
              </a:solidFill>
              <a:latin typeface="Arial" panose="020B0604020202020204" pitchFamily="34" charset="0"/>
            </a:endParaRPr>
          </a:p>
          <a:p>
            <a:pPr algn="just">
              <a:buNone/>
            </a:pPr>
            <a:r>
              <a:rPr lang="en-US" altLang="zh-CN" sz="2000" b="1" dirty="0">
                <a:solidFill>
                  <a:srgbClr val="0000FF"/>
                </a:solidFill>
                <a:latin typeface="Arial" panose="020B0604020202020204" pitchFamily="34" charset="0"/>
              </a:rPr>
              <a:t>		                            ;  IR4</a:t>
            </a:r>
            <a:r>
              <a:rPr lang="zh-CN" altLang="en-US" sz="2000" b="1" dirty="0">
                <a:solidFill>
                  <a:srgbClr val="0000FF"/>
                </a:solidFill>
                <a:latin typeface="Arial" panose="020B0604020202020204" pitchFamily="34" charset="0"/>
              </a:rPr>
              <a:t>置为最高优先级</a:t>
            </a:r>
          </a:p>
          <a:p>
            <a:pPr algn="just">
              <a:buNone/>
            </a:pPr>
            <a:r>
              <a:rPr lang="en-US" altLang="zh-CN" sz="2000" b="1" dirty="0">
                <a:solidFill>
                  <a:srgbClr val="0000FF"/>
                </a:solidFill>
                <a:latin typeface="Arial" panose="020B0604020202020204" pitchFamily="34" charset="0"/>
              </a:rPr>
              <a:t>    	OUT  20H</a:t>
            </a:r>
            <a:r>
              <a:rPr lang="zh-CN" altLang="en-US" sz="2000" b="1" dirty="0">
                <a:solidFill>
                  <a:srgbClr val="0000FF"/>
                </a:solidFill>
                <a:latin typeface="Arial" panose="020B0604020202020204" pitchFamily="34" charset="0"/>
              </a:rPr>
              <a:t>，</a:t>
            </a:r>
            <a:r>
              <a:rPr lang="en-US" altLang="zh-CN" sz="2000" b="1" dirty="0">
                <a:solidFill>
                  <a:srgbClr val="0000FF"/>
                </a:solidFill>
                <a:latin typeface="Arial" panose="020B0604020202020204" pitchFamily="34" charset="0"/>
              </a:rPr>
              <a:t>AL</a:t>
            </a:r>
            <a:endParaRPr lang="zh-CN" altLang="en-US" sz="2000" b="1" dirty="0">
              <a:solidFill>
                <a:srgbClr val="0000FF"/>
              </a:solidFill>
              <a:latin typeface="Arial" panose="020B0604020202020204" pitchFamily="34" charset="0"/>
            </a:endParaRPr>
          </a:p>
        </p:txBody>
      </p:sp>
    </p:spTree>
    <p:extLst>
      <p:ext uri="{BB962C8B-B14F-4D97-AF65-F5344CB8AC3E}">
        <p14:creationId xmlns:p14="http://schemas.microsoft.com/office/powerpoint/2010/main" val="20792492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1" name="文本框 339970"/>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339972" name="文本框 339971"/>
          <p:cNvSpPr txBox="1"/>
          <p:nvPr/>
        </p:nvSpPr>
        <p:spPr>
          <a:xfrm>
            <a:off x="250824" y="692696"/>
            <a:ext cx="8785671" cy="6013441"/>
          </a:xfrm>
          <a:prstGeom prst="rect">
            <a:avLst/>
          </a:prstGeom>
          <a:noFill/>
          <a:ln w="9525">
            <a:noFill/>
          </a:ln>
        </p:spPr>
        <p:txBody>
          <a:bodyPr wrap="square">
            <a:spAutoFit/>
          </a:bodyPr>
          <a:lstStyle/>
          <a:p>
            <a:pPr lvl="0" eaLnBrk="0" hangingPunct="0">
              <a:lnSpc>
                <a:spcPct val="105000"/>
              </a:lnSpc>
            </a:pPr>
            <a:r>
              <a:rPr lang="zh-CN" altLang="zh-CN" sz="2400" b="1" dirty="0">
                <a:solidFill>
                  <a:srgbClr val="FF00FF"/>
                </a:solidFill>
                <a:latin typeface="Arial" panose="020B0604020202020204" pitchFamily="34" charset="0"/>
              </a:rPr>
              <a:t>（3）OCW3</a:t>
            </a:r>
          </a:p>
          <a:p>
            <a:pPr lvl="0" eaLnBrk="0" hangingPunct="0">
              <a:lnSpc>
                <a:spcPct val="105000"/>
              </a:lnSpc>
            </a:pPr>
            <a:r>
              <a:rPr lang="zh-CN" altLang="zh-CN" sz="2400" b="1" dirty="0">
                <a:latin typeface="Arial" panose="020B0604020202020204" pitchFamily="34" charset="0"/>
              </a:rPr>
              <a:t>OCW3</a:t>
            </a:r>
            <a:r>
              <a:rPr lang="zh-CN" altLang="en-US" sz="2400" b="1" dirty="0">
                <a:latin typeface="Arial" panose="020B0604020202020204" pitchFamily="34" charset="0"/>
              </a:rPr>
              <a:t>：</a:t>
            </a:r>
            <a:r>
              <a:rPr lang="zh-CN" altLang="zh-CN" sz="2400" b="1" dirty="0">
                <a:latin typeface="Arial" panose="020B0604020202020204" pitchFamily="34" charset="0"/>
              </a:rPr>
              <a:t>管理特殊屏蔽方式和查询方式，控制8259A的中断请求寄存器IRR和中断服务寄存器ISR的读取。</a:t>
            </a:r>
          </a:p>
          <a:p>
            <a:pPr lvl="0" eaLnBrk="0" hangingPunct="0">
              <a:lnSpc>
                <a:spcPct val="105000"/>
              </a:lnSpc>
            </a:pPr>
            <a:r>
              <a:rPr lang="zh-CN" altLang="zh-CN" sz="2400" b="1" dirty="0">
                <a:latin typeface="Arial" panose="020B0604020202020204" pitchFamily="34" charset="0"/>
              </a:rPr>
              <a:t>	</a:t>
            </a:r>
            <a:endParaRPr lang="zh-CN" altLang="en-US" sz="2400" b="1" dirty="0">
              <a:latin typeface="Arial" panose="020B0604020202020204" pitchFamily="34" charset="0"/>
            </a:endParaRPr>
          </a:p>
          <a:p>
            <a:pPr lvl="0" eaLnBrk="0" hangingPunct="0">
              <a:lnSpc>
                <a:spcPct val="105000"/>
              </a:lnSpc>
            </a:pPr>
            <a:endParaRPr lang="zh-CN" altLang="en-US" sz="2400" b="1" dirty="0">
              <a:latin typeface="Arial" panose="020B0604020202020204" pitchFamily="34" charset="0"/>
            </a:endParaRPr>
          </a:p>
          <a:p>
            <a:pPr lvl="0" eaLnBrk="0" hangingPunct="0">
              <a:lnSpc>
                <a:spcPct val="105000"/>
              </a:lnSpc>
            </a:pPr>
            <a:endParaRPr lang="zh-CN" altLang="zh-CN" sz="2400" b="1" dirty="0">
              <a:latin typeface="Arial" panose="020B0604020202020204" pitchFamily="34" charset="0"/>
            </a:endParaRPr>
          </a:p>
          <a:p>
            <a:pPr lvl="0" eaLnBrk="0" hangingPunct="0">
              <a:lnSpc>
                <a:spcPct val="105000"/>
              </a:lnSpc>
            </a:pPr>
            <a:endParaRPr lang="zh-CN" altLang="zh-CN" sz="2400" b="1" dirty="0">
              <a:latin typeface="Arial" panose="020B0604020202020204" pitchFamily="34" charset="0"/>
            </a:endParaRPr>
          </a:p>
          <a:p>
            <a:pPr lvl="0" eaLnBrk="0" hangingPunct="0">
              <a:lnSpc>
                <a:spcPct val="105000"/>
              </a:lnSpc>
            </a:pPr>
            <a:r>
              <a:rPr lang="zh-CN" altLang="zh-CN" sz="2000" b="1" dirty="0">
                <a:latin typeface="Arial" panose="020B0604020202020204" pitchFamily="34" charset="0"/>
              </a:rPr>
              <a:t>D6：特殊屏蔽方式允许位。D6=1</a:t>
            </a:r>
            <a:r>
              <a:rPr lang="zh-CN" altLang="en-US" sz="2000" b="1" dirty="0">
                <a:latin typeface="Arial" panose="020B0604020202020204" pitchFamily="34" charset="0"/>
              </a:rPr>
              <a:t>时</a:t>
            </a:r>
            <a:r>
              <a:rPr lang="zh-CN" altLang="zh-CN" sz="2000" b="1" dirty="0">
                <a:latin typeface="Arial" panose="020B0604020202020204" pitchFamily="34" charset="0"/>
              </a:rPr>
              <a:t>SMM位有效。</a:t>
            </a:r>
          </a:p>
          <a:p>
            <a:pPr lvl="0" eaLnBrk="0" hangingPunct="0">
              <a:lnSpc>
                <a:spcPct val="105000"/>
              </a:lnSpc>
            </a:pPr>
            <a:r>
              <a:rPr lang="zh-CN" altLang="zh-CN" sz="2000" b="1" dirty="0">
                <a:latin typeface="Arial" panose="020B0604020202020204" pitchFamily="34" charset="0"/>
              </a:rPr>
              <a:t>D5：SMM位，与ESMM组合用来设置或取消特殊屏蔽方式。当ESMM＝1，SMM＝1时，设置特殊屏蔽；当ESMM＝1，SMM＝0时，取消特殊屏蔽。</a:t>
            </a:r>
          </a:p>
          <a:p>
            <a:pPr lvl="0" eaLnBrk="0" hangingPunct="0">
              <a:lnSpc>
                <a:spcPct val="105000"/>
              </a:lnSpc>
            </a:pPr>
            <a:r>
              <a:rPr lang="zh-CN" altLang="zh-CN" sz="2000" b="1" dirty="0">
                <a:latin typeface="Arial" panose="020B0604020202020204" pitchFamily="34" charset="0"/>
              </a:rPr>
              <a:t>D4～D3：OCW3的特征位，D4D3=01。</a:t>
            </a:r>
          </a:p>
          <a:p>
            <a:pPr lvl="0" eaLnBrk="0" hangingPunct="0">
              <a:lnSpc>
                <a:spcPct val="105000"/>
              </a:lnSpc>
            </a:pPr>
            <a:r>
              <a:rPr lang="zh-CN" altLang="zh-CN" sz="2000" b="1" dirty="0">
                <a:latin typeface="Arial" panose="020B0604020202020204" pitchFamily="34" charset="0"/>
              </a:rPr>
              <a:t>D2：P位，中断状态查询位。</a:t>
            </a:r>
            <a:r>
              <a:rPr lang="zh-CN" altLang="en-US" sz="2000" b="1" dirty="0">
                <a:latin typeface="Arial" panose="020B0604020202020204" pitchFamily="34" charset="0"/>
              </a:rPr>
              <a:t>若</a:t>
            </a:r>
            <a:r>
              <a:rPr lang="en-US" altLang="zh-CN" sz="2000" b="1" dirty="0">
                <a:latin typeface="Arial" panose="020B0604020202020204" pitchFamily="34" charset="0"/>
              </a:rPr>
              <a:t>P=1</a:t>
            </a:r>
            <a:r>
              <a:rPr lang="zh-CN" altLang="en-US" sz="2000" b="1" dirty="0">
                <a:latin typeface="Arial" panose="020B0604020202020204" pitchFamily="34" charset="0"/>
              </a:rPr>
              <a:t>向</a:t>
            </a:r>
            <a:r>
              <a:rPr lang="en-US" altLang="zh-CN" sz="2000" b="1" dirty="0">
                <a:latin typeface="Arial" panose="020B0604020202020204" pitchFamily="34" charset="0"/>
              </a:rPr>
              <a:t>8529A</a:t>
            </a:r>
            <a:r>
              <a:rPr lang="zh-CN" altLang="en-US" sz="2000" b="1" dirty="0">
                <a:latin typeface="Arial" panose="020B0604020202020204" pitchFamily="34" charset="0"/>
              </a:rPr>
              <a:t>发中断查询命令，紧接着用</a:t>
            </a:r>
            <a:r>
              <a:rPr lang="en-US" altLang="zh-CN" sz="2000" b="1" dirty="0">
                <a:latin typeface="Arial" panose="020B0604020202020204" pitchFamily="34" charset="0"/>
              </a:rPr>
              <a:t>IN</a:t>
            </a:r>
            <a:r>
              <a:rPr lang="zh-CN" altLang="en-US" sz="2000" b="1" dirty="0">
                <a:latin typeface="Arial" panose="020B0604020202020204" pitchFamily="34" charset="0"/>
              </a:rPr>
              <a:t>指令读取中断查询字。</a:t>
            </a:r>
            <a:endParaRPr lang="zh-CN" altLang="zh-CN" sz="2000" b="1" dirty="0">
              <a:latin typeface="Arial" panose="020B0604020202020204" pitchFamily="34" charset="0"/>
            </a:endParaRPr>
          </a:p>
          <a:p>
            <a:pPr lvl="0" eaLnBrk="0" hangingPunct="0">
              <a:lnSpc>
                <a:spcPct val="105000"/>
              </a:lnSpc>
            </a:pPr>
            <a:r>
              <a:rPr lang="zh-CN" altLang="zh-CN" sz="2000" b="1" dirty="0">
                <a:latin typeface="Arial" panose="020B0604020202020204" pitchFamily="34" charset="0"/>
              </a:rPr>
              <a:t>D1：RR位，控制对寄存器的读取。D1=1，允许读取D0所指定的寄存器。</a:t>
            </a:r>
          </a:p>
          <a:p>
            <a:pPr lvl="0" eaLnBrk="0" hangingPunct="0">
              <a:lnSpc>
                <a:spcPct val="105000"/>
              </a:lnSpc>
            </a:pPr>
            <a:r>
              <a:rPr lang="zh-CN" altLang="zh-CN" sz="2000" b="1" dirty="0">
                <a:latin typeface="Arial" panose="020B0604020202020204" pitchFamily="34" charset="0"/>
              </a:rPr>
              <a:t>D0：RIS位，确定读取ISR还是IRR寄存器。在D1=1时，若D0=1，读取ISR寄存器；若D0=0，则读取IRR寄存器。</a:t>
            </a:r>
          </a:p>
          <a:p>
            <a:pPr lvl="0" eaLnBrk="0" hangingPunct="0">
              <a:lnSpc>
                <a:spcPct val="105000"/>
              </a:lnSpc>
            </a:pPr>
            <a:r>
              <a:rPr lang="zh-CN" altLang="zh-CN" sz="2000" b="1" dirty="0">
                <a:latin typeface="Arial" panose="020B0604020202020204" pitchFamily="34" charset="0"/>
              </a:rPr>
              <a:t>OCW3必须写入偶地址，即A0=0，</a:t>
            </a:r>
            <a:r>
              <a:rPr lang="zh-CN" altLang="en-US" sz="2000" b="1" dirty="0">
                <a:latin typeface="Arial" panose="020B0604020202020204" pitchFamily="34" charset="0"/>
              </a:rPr>
              <a:t>且</a:t>
            </a:r>
            <a:r>
              <a:rPr lang="zh-CN" altLang="zh-CN" sz="2000" b="1" dirty="0">
                <a:latin typeface="Arial" panose="020B0604020202020204" pitchFamily="34" charset="0"/>
              </a:rPr>
              <a:t>特征位D4D3=01，以区别于OCW2。</a:t>
            </a:r>
            <a:endParaRPr lang="en-US" altLang="zh-CN" sz="2400" b="1" dirty="0">
              <a:latin typeface="Arial" panose="020B0604020202020204" pitchFamily="34" charset="0"/>
            </a:endParaRPr>
          </a:p>
        </p:txBody>
      </p:sp>
      <p:pic>
        <p:nvPicPr>
          <p:cNvPr id="339974" name="图片 339973"/>
          <p:cNvPicPr>
            <a:picLocks noChangeAspect="1"/>
          </p:cNvPicPr>
          <p:nvPr/>
        </p:nvPicPr>
        <p:blipFill>
          <a:blip r:embed="rId2"/>
          <a:stretch>
            <a:fillRect/>
          </a:stretch>
        </p:blipFill>
        <p:spPr>
          <a:xfrm>
            <a:off x="1511300" y="1942629"/>
            <a:ext cx="6121400" cy="1311275"/>
          </a:xfrm>
          <a:prstGeom prst="rect">
            <a:avLst/>
          </a:prstGeom>
          <a:noFill/>
          <a:ln w="9525">
            <a:noFill/>
          </a:ln>
        </p:spPr>
      </p:pic>
      <p:sp>
        <p:nvSpPr>
          <p:cNvPr id="6"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D0F4E13-3269-8F03-4C95-9389A3EB8BB4}"/>
              </a:ext>
            </a:extLst>
          </p:cNvPr>
          <p:cNvSpPr txBox="1"/>
          <p:nvPr/>
        </p:nvSpPr>
        <p:spPr>
          <a:xfrm>
            <a:off x="1259632" y="1181819"/>
            <a:ext cx="5184576" cy="461665"/>
          </a:xfrm>
          <a:prstGeom prst="rect">
            <a:avLst/>
          </a:prstGeom>
          <a:noFill/>
        </p:spPr>
        <p:txBody>
          <a:bodyPr wrap="square">
            <a:spAutoFit/>
          </a:bodyPr>
          <a:lstStyle/>
          <a:p>
            <a:r>
              <a:rPr lang="en-US" altLang="zh-CN" sz="2400" b="1" dirty="0"/>
              <a:t>8259A </a:t>
            </a:r>
            <a:r>
              <a:rPr lang="zh-CN" altLang="en-US" sz="2400" b="1" dirty="0"/>
              <a:t>的状态寄存器（中断查询字）</a:t>
            </a:r>
          </a:p>
        </p:txBody>
      </p:sp>
      <p:sp>
        <p:nvSpPr>
          <p:cNvPr id="4" name="标题 338945">
            <a:extLst>
              <a:ext uri="{FF2B5EF4-FFF2-40B4-BE49-F238E27FC236}">
                <a16:creationId xmlns:a16="http://schemas.microsoft.com/office/drawing/2014/main" id="{A2B2BF69-851D-0089-7538-9A3734FECD36}"/>
              </a:ext>
            </a:extLst>
          </p:cNvPr>
          <p:cNvSpPr txBox="1">
            <a:spLocks/>
          </p:cNvSpPr>
          <p:nvPr/>
        </p:nvSpPr>
        <p:spPr>
          <a:xfrm>
            <a:off x="1331640" y="188640"/>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pic>
        <p:nvPicPr>
          <p:cNvPr id="5" name="图片 4">
            <a:extLst>
              <a:ext uri="{FF2B5EF4-FFF2-40B4-BE49-F238E27FC236}">
                <a16:creationId xmlns:a16="http://schemas.microsoft.com/office/drawing/2014/main" id="{4EB9AEB4-F224-4D17-B66B-875E7F99DEC2}"/>
              </a:ext>
            </a:extLst>
          </p:cNvPr>
          <p:cNvPicPr>
            <a:picLocks noChangeAspect="1"/>
          </p:cNvPicPr>
          <p:nvPr/>
        </p:nvPicPr>
        <p:blipFill>
          <a:blip r:embed="rId2"/>
          <a:stretch>
            <a:fillRect/>
          </a:stretch>
        </p:blipFill>
        <p:spPr>
          <a:xfrm>
            <a:off x="959645" y="2060848"/>
            <a:ext cx="7440063" cy="1714739"/>
          </a:xfrm>
          <a:prstGeom prst="rect">
            <a:avLst/>
          </a:prstGeom>
        </p:spPr>
      </p:pic>
    </p:spTree>
    <p:extLst>
      <p:ext uri="{BB962C8B-B14F-4D97-AF65-F5344CB8AC3E}">
        <p14:creationId xmlns:p14="http://schemas.microsoft.com/office/powerpoint/2010/main" val="2288476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D0F4E13-3269-8F03-4C95-9389A3EB8BB4}"/>
              </a:ext>
            </a:extLst>
          </p:cNvPr>
          <p:cNvSpPr txBox="1"/>
          <p:nvPr/>
        </p:nvSpPr>
        <p:spPr>
          <a:xfrm>
            <a:off x="107504" y="908720"/>
            <a:ext cx="9036496" cy="6186309"/>
          </a:xfrm>
          <a:prstGeom prst="rect">
            <a:avLst/>
          </a:prstGeom>
          <a:noFill/>
        </p:spPr>
        <p:txBody>
          <a:bodyPr wrap="square">
            <a:spAutoFit/>
          </a:bodyPr>
          <a:lstStyle/>
          <a:p>
            <a:pPr marL="0" indent="0">
              <a:buNone/>
            </a:pPr>
            <a:r>
              <a:rPr lang="en-US" altLang="zh-CN" sz="2400" b="1" dirty="0">
                <a:solidFill>
                  <a:srgbClr val="0000FF"/>
                </a:solidFill>
                <a:latin typeface="Arial" panose="020B0604020202020204" pitchFamily="34" charset="0"/>
              </a:rPr>
              <a:t>【</a:t>
            </a:r>
            <a:r>
              <a:rPr lang="zh-CN" altLang="en-US" sz="2400" b="1" dirty="0">
                <a:solidFill>
                  <a:srgbClr val="0000FF"/>
                </a:solidFill>
                <a:latin typeface="Arial" panose="020B0604020202020204" pitchFamily="34" charset="0"/>
              </a:rPr>
              <a:t>例</a:t>
            </a:r>
            <a:r>
              <a:rPr lang="en-US" altLang="zh-CN" sz="2400" b="1" dirty="0">
                <a:solidFill>
                  <a:srgbClr val="0000FF"/>
                </a:solidFill>
                <a:latin typeface="Arial" panose="020B0604020202020204" pitchFamily="34" charset="0"/>
              </a:rPr>
              <a:t>】</a:t>
            </a:r>
            <a:r>
              <a:rPr lang="zh-CN" altLang="en-US" sz="2400" b="1" dirty="0">
                <a:latin typeface="Arial" panose="020B0604020202020204" pitchFamily="34" charset="0"/>
              </a:rPr>
              <a:t>编写读取中断屏蔽字、中断查询字及中断服务寄存器的程序段。</a:t>
            </a:r>
          </a:p>
          <a:p>
            <a:pPr algn="just">
              <a:buNone/>
            </a:pPr>
            <a:r>
              <a:rPr lang="zh-CN" altLang="en-US" sz="2400" dirty="0">
                <a:latin typeface="+mn-lt"/>
              </a:rPr>
              <a:t>（</a:t>
            </a:r>
            <a:r>
              <a:rPr lang="en-US" altLang="zh-CN" sz="2400" dirty="0">
                <a:latin typeface="+mn-lt"/>
              </a:rPr>
              <a:t>1</a:t>
            </a:r>
            <a:r>
              <a:rPr lang="zh-CN" altLang="en-US" sz="2400" dirty="0">
                <a:latin typeface="+mn-lt"/>
              </a:rPr>
              <a:t>）读取中断屏蔽字的程序段：</a:t>
            </a:r>
          </a:p>
          <a:p>
            <a:pPr>
              <a:spcBef>
                <a:spcPts val="0"/>
              </a:spcBef>
              <a:buNone/>
            </a:pPr>
            <a:r>
              <a:rPr lang="en-US" altLang="zh-CN" sz="2400" dirty="0">
                <a:latin typeface="+mn-lt"/>
              </a:rPr>
              <a:t>           </a:t>
            </a:r>
            <a:r>
              <a:rPr lang="en-US" altLang="zh-CN" sz="2400" dirty="0">
                <a:solidFill>
                  <a:srgbClr val="0000FF"/>
                </a:solidFill>
                <a:latin typeface="+mn-lt"/>
                <a:ea typeface="华文中宋" pitchFamily="2" charset="-122"/>
              </a:rPr>
              <a:t>IN        AL</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21H       </a:t>
            </a:r>
            <a:r>
              <a:rPr lang="zh-CN" altLang="en-US" sz="2400" dirty="0">
                <a:solidFill>
                  <a:srgbClr val="0000FF"/>
                </a:solidFill>
                <a:latin typeface="+mn-lt"/>
                <a:ea typeface="华文中宋" pitchFamily="2" charset="-122"/>
              </a:rPr>
              <a:t>；从奇地址口读</a:t>
            </a:r>
            <a:r>
              <a:rPr lang="en-US" altLang="zh-CN" sz="2400" dirty="0">
                <a:solidFill>
                  <a:srgbClr val="0000FF"/>
                </a:solidFill>
                <a:latin typeface="+mn-lt"/>
                <a:ea typeface="华文中宋" pitchFamily="2" charset="-122"/>
              </a:rPr>
              <a:t>IMR</a:t>
            </a:r>
            <a:r>
              <a:rPr lang="zh-CN" altLang="en-US" sz="2400" dirty="0">
                <a:solidFill>
                  <a:srgbClr val="0000FF"/>
                </a:solidFill>
                <a:latin typeface="+mn-lt"/>
                <a:ea typeface="华文中宋" pitchFamily="2" charset="-122"/>
              </a:rPr>
              <a:t>，获得中断屏蔽字</a:t>
            </a:r>
          </a:p>
          <a:p>
            <a:pPr>
              <a:buNone/>
            </a:pPr>
            <a:r>
              <a:rPr lang="zh-CN" altLang="en-US" sz="2400" dirty="0">
                <a:latin typeface="+mn-lt"/>
              </a:rPr>
              <a:t>（</a:t>
            </a:r>
            <a:r>
              <a:rPr lang="en-US" altLang="zh-CN" sz="2400" dirty="0">
                <a:latin typeface="+mn-lt"/>
              </a:rPr>
              <a:t>2</a:t>
            </a:r>
            <a:r>
              <a:rPr lang="zh-CN" altLang="en-US" sz="2400" dirty="0">
                <a:latin typeface="+mn-lt"/>
              </a:rPr>
              <a:t>）读取中断查询字的程序段：</a:t>
            </a:r>
          </a:p>
          <a:p>
            <a:pPr>
              <a:buNone/>
            </a:pPr>
            <a:r>
              <a:rPr lang="en-US" altLang="zh-CN" sz="2400" dirty="0">
                <a:latin typeface="+mn-lt"/>
              </a:rPr>
              <a:t>  	</a:t>
            </a:r>
            <a:r>
              <a:rPr lang="en-US" altLang="zh-CN" sz="2400" dirty="0">
                <a:solidFill>
                  <a:srgbClr val="0000FF"/>
                </a:solidFill>
                <a:latin typeface="+mn-lt"/>
                <a:ea typeface="华文中宋" pitchFamily="2" charset="-122"/>
              </a:rPr>
              <a:t>MOV   AL</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00001100B  </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OCW</a:t>
            </a:r>
            <a:r>
              <a:rPr lang="en-US" altLang="zh-CN" sz="2400" baseline="-25000" dirty="0">
                <a:solidFill>
                  <a:srgbClr val="0000FF"/>
                </a:solidFill>
                <a:latin typeface="+mn-lt"/>
                <a:ea typeface="华文中宋" pitchFamily="2" charset="-122"/>
              </a:rPr>
              <a:t>3</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P=1</a:t>
            </a:r>
            <a:endParaRPr lang="zh-CN" altLang="en-US" sz="2400" dirty="0">
              <a:solidFill>
                <a:srgbClr val="0000FF"/>
              </a:solidFill>
              <a:latin typeface="+mn-lt"/>
              <a:ea typeface="华文中宋" pitchFamily="2" charset="-122"/>
            </a:endParaRPr>
          </a:p>
          <a:p>
            <a:pPr>
              <a:buNone/>
            </a:pPr>
            <a:r>
              <a:rPr lang="en-US" altLang="zh-CN" sz="2400" dirty="0">
                <a:solidFill>
                  <a:srgbClr val="0000FF"/>
                </a:solidFill>
                <a:latin typeface="+mn-lt"/>
                <a:ea typeface="华文中宋" pitchFamily="2" charset="-122"/>
              </a:rPr>
              <a:t>      	OUT    20H</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AL             </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OCW</a:t>
            </a:r>
            <a:r>
              <a:rPr lang="en-US" altLang="zh-CN" sz="2400" baseline="-25000" dirty="0">
                <a:solidFill>
                  <a:srgbClr val="0000FF"/>
                </a:solidFill>
                <a:latin typeface="+mn-lt"/>
                <a:ea typeface="华文中宋" pitchFamily="2" charset="-122"/>
              </a:rPr>
              <a:t>3</a:t>
            </a:r>
            <a:r>
              <a:rPr lang="zh-CN" altLang="en-US" sz="2400" dirty="0">
                <a:solidFill>
                  <a:srgbClr val="0000FF"/>
                </a:solidFill>
                <a:latin typeface="+mn-lt"/>
                <a:ea typeface="华文中宋" pitchFamily="2" charset="-122"/>
              </a:rPr>
              <a:t>写入偶地址口</a:t>
            </a:r>
          </a:p>
          <a:p>
            <a:r>
              <a:rPr lang="en-US" altLang="zh-CN" sz="2400" dirty="0">
                <a:solidFill>
                  <a:srgbClr val="0000FF"/>
                </a:solidFill>
                <a:latin typeface="+mn-lt"/>
                <a:ea typeface="华文中宋" pitchFamily="2" charset="-122"/>
              </a:rPr>
              <a:t>   	IN       AL</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20H              </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AL</a:t>
            </a:r>
            <a:r>
              <a:rPr lang="zh-CN" altLang="en-US" sz="2400" dirty="0">
                <a:solidFill>
                  <a:srgbClr val="0000FF"/>
                </a:solidFill>
                <a:latin typeface="+mn-lt"/>
                <a:ea typeface="华文中宋" pitchFamily="2" charset="-122"/>
              </a:rPr>
              <a:t>←中断查询字</a:t>
            </a:r>
            <a:r>
              <a:rPr lang="en-US" altLang="zh-CN" sz="2400" dirty="0">
                <a:solidFill>
                  <a:srgbClr val="0000FF"/>
                </a:solidFill>
                <a:latin typeface="+mn-lt"/>
                <a:ea typeface="华文中宋" pitchFamily="2" charset="-122"/>
              </a:rPr>
              <a:t>				                            </a:t>
            </a:r>
            <a:r>
              <a:rPr lang="zh-CN" altLang="en-US" sz="2400" dirty="0">
                <a:solidFill>
                  <a:srgbClr val="0000FF"/>
                </a:solidFill>
                <a:latin typeface="+mn-lt"/>
                <a:ea typeface="华文中宋" pitchFamily="2" charset="-122"/>
              </a:rPr>
              <a:t>；若</a:t>
            </a:r>
            <a:r>
              <a:rPr lang="en-US" altLang="zh-CN" sz="2400" dirty="0">
                <a:solidFill>
                  <a:srgbClr val="0000FF"/>
                </a:solidFill>
                <a:latin typeface="+mn-lt"/>
                <a:ea typeface="华文中宋" pitchFamily="2" charset="-122"/>
              </a:rPr>
              <a:t>AL=10000110B</a:t>
            </a:r>
            <a:r>
              <a:rPr lang="zh-CN" altLang="en-US" sz="2400" dirty="0">
                <a:solidFill>
                  <a:srgbClr val="0000FF"/>
                </a:solidFill>
                <a:latin typeface="+mn-lt"/>
                <a:ea typeface="华文中宋" pitchFamily="2" charset="-122"/>
              </a:rPr>
              <a:t>，表示有中断</a:t>
            </a:r>
          </a:p>
          <a:p>
            <a:pPr>
              <a:buNone/>
            </a:pPr>
            <a:r>
              <a:rPr lang="en-US" altLang="zh-CN" sz="2400" dirty="0">
                <a:solidFill>
                  <a:srgbClr val="0000FF"/>
                </a:solidFill>
                <a:latin typeface="+mn-lt"/>
                <a:ea typeface="华文中宋" pitchFamily="2" charset="-122"/>
              </a:rPr>
              <a:t>                                		      </a:t>
            </a:r>
            <a:r>
              <a:rPr lang="zh-CN" altLang="en-US" sz="2400" dirty="0">
                <a:solidFill>
                  <a:srgbClr val="0000FF"/>
                </a:solidFill>
                <a:latin typeface="+mn-lt"/>
                <a:ea typeface="华文中宋" pitchFamily="2" charset="-122"/>
              </a:rPr>
              <a:t>；请求，且</a:t>
            </a:r>
            <a:r>
              <a:rPr lang="en-US" altLang="zh-CN" sz="2400" dirty="0">
                <a:solidFill>
                  <a:srgbClr val="0000FF"/>
                </a:solidFill>
                <a:latin typeface="+mn-lt"/>
                <a:ea typeface="华文中宋" pitchFamily="2" charset="-122"/>
              </a:rPr>
              <a:t>IR</a:t>
            </a:r>
            <a:r>
              <a:rPr lang="en-US" altLang="zh-CN" sz="2400" baseline="-25000" dirty="0">
                <a:solidFill>
                  <a:srgbClr val="0000FF"/>
                </a:solidFill>
                <a:latin typeface="+mn-lt"/>
                <a:ea typeface="华文中宋" pitchFamily="2" charset="-122"/>
              </a:rPr>
              <a:t>6</a:t>
            </a:r>
            <a:r>
              <a:rPr lang="zh-CN" altLang="en-US" sz="2400" dirty="0">
                <a:solidFill>
                  <a:srgbClr val="0000FF"/>
                </a:solidFill>
                <a:latin typeface="+mn-lt"/>
                <a:ea typeface="华文中宋" pitchFamily="2" charset="-122"/>
              </a:rPr>
              <a:t>上的优先级最高</a:t>
            </a:r>
            <a:endParaRPr lang="en-US" altLang="zh-CN" sz="2400" dirty="0">
              <a:solidFill>
                <a:srgbClr val="0000FF"/>
              </a:solidFill>
              <a:latin typeface="+mn-lt"/>
              <a:ea typeface="华文中宋" pitchFamily="2" charset="-122"/>
            </a:endParaRPr>
          </a:p>
          <a:p>
            <a:pPr>
              <a:buNone/>
            </a:pPr>
            <a:r>
              <a:rPr lang="zh-CN" altLang="en-US" sz="2400" dirty="0">
                <a:latin typeface="+mn-lt"/>
              </a:rPr>
              <a:t>（</a:t>
            </a:r>
            <a:r>
              <a:rPr lang="en-US" altLang="zh-CN" sz="2400" dirty="0">
                <a:latin typeface="+mn-lt"/>
              </a:rPr>
              <a:t>3</a:t>
            </a:r>
            <a:r>
              <a:rPr lang="zh-CN" altLang="en-US" sz="2400" dirty="0">
                <a:latin typeface="+mn-lt"/>
              </a:rPr>
              <a:t>）读取中断服务寄存器</a:t>
            </a:r>
            <a:r>
              <a:rPr lang="en-US" altLang="zh-CN" sz="2400" dirty="0">
                <a:latin typeface="+mn-lt"/>
              </a:rPr>
              <a:t>ISR</a:t>
            </a:r>
            <a:r>
              <a:rPr lang="zh-CN" altLang="en-US" sz="2400" dirty="0">
                <a:latin typeface="+mn-lt"/>
              </a:rPr>
              <a:t>的程序段：</a:t>
            </a:r>
          </a:p>
          <a:p>
            <a:pPr>
              <a:buNone/>
            </a:pPr>
            <a:r>
              <a:rPr lang="en-US" altLang="zh-CN" sz="2400" dirty="0">
                <a:solidFill>
                  <a:srgbClr val="FFFF00"/>
                </a:solidFill>
                <a:latin typeface="+mn-lt"/>
              </a:rPr>
              <a:t>	</a:t>
            </a:r>
            <a:r>
              <a:rPr lang="en-US" altLang="zh-CN" sz="2400" dirty="0">
                <a:solidFill>
                  <a:srgbClr val="0000FF"/>
                </a:solidFill>
                <a:latin typeface="+mn-lt"/>
                <a:ea typeface="华文中宋" pitchFamily="2" charset="-122"/>
              </a:rPr>
              <a:t>MOV	AL</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00001011B 	</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OCW3</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RR-RIS=11</a:t>
            </a:r>
            <a:r>
              <a:rPr lang="zh-CN" altLang="en-US" sz="2400" dirty="0">
                <a:solidFill>
                  <a:srgbClr val="0000FF"/>
                </a:solidFill>
                <a:latin typeface="+mn-lt"/>
                <a:ea typeface="华文中宋" pitchFamily="2" charset="-122"/>
              </a:rPr>
              <a:t>，</a:t>
            </a:r>
            <a:endParaRPr lang="en-US" altLang="zh-CN" sz="2400" dirty="0">
              <a:solidFill>
                <a:srgbClr val="0000FF"/>
              </a:solidFill>
              <a:latin typeface="+mn-lt"/>
              <a:ea typeface="华文中宋" pitchFamily="2" charset="-122"/>
            </a:endParaRPr>
          </a:p>
          <a:p>
            <a:pPr>
              <a:buNone/>
            </a:pPr>
            <a:r>
              <a:rPr lang="en-US" altLang="zh-CN" sz="2400" dirty="0">
                <a:solidFill>
                  <a:srgbClr val="0000FF"/>
                </a:solidFill>
                <a:latin typeface="+mn-lt"/>
                <a:ea typeface="华文中宋" pitchFamily="2" charset="-122"/>
              </a:rPr>
              <a:t>					</a:t>
            </a:r>
            <a:r>
              <a:rPr lang="zh-CN" altLang="en-US" sz="2400" dirty="0">
                <a:solidFill>
                  <a:srgbClr val="0000FF"/>
                </a:solidFill>
                <a:latin typeface="+mn-lt"/>
                <a:ea typeface="华文中宋" pitchFamily="2" charset="-122"/>
              </a:rPr>
              <a:t>；下次读</a:t>
            </a:r>
            <a:r>
              <a:rPr lang="en-US" altLang="zh-CN" sz="2400" dirty="0">
                <a:solidFill>
                  <a:srgbClr val="0000FF"/>
                </a:solidFill>
                <a:latin typeface="+mn-lt"/>
                <a:ea typeface="华文中宋" pitchFamily="2" charset="-122"/>
              </a:rPr>
              <a:t>ISR</a:t>
            </a:r>
            <a:endParaRPr lang="zh-CN" altLang="en-US" sz="2400" dirty="0">
              <a:solidFill>
                <a:srgbClr val="0000FF"/>
              </a:solidFill>
              <a:latin typeface="+mn-lt"/>
              <a:ea typeface="华文中宋" pitchFamily="2" charset="-122"/>
            </a:endParaRPr>
          </a:p>
          <a:p>
            <a:pPr>
              <a:buNone/>
            </a:pPr>
            <a:r>
              <a:rPr lang="en-US" altLang="zh-CN" sz="2400" dirty="0">
                <a:solidFill>
                  <a:srgbClr val="0000FF"/>
                </a:solidFill>
                <a:latin typeface="+mn-lt"/>
                <a:ea typeface="华文中宋" pitchFamily="2" charset="-122"/>
              </a:rPr>
              <a:t>     	OUT 	20H</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AL        	</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OCW3</a:t>
            </a:r>
            <a:r>
              <a:rPr lang="zh-CN" altLang="en-US" sz="2400" dirty="0">
                <a:solidFill>
                  <a:srgbClr val="0000FF"/>
                </a:solidFill>
                <a:latin typeface="+mn-lt"/>
                <a:ea typeface="华文中宋" pitchFamily="2" charset="-122"/>
              </a:rPr>
              <a:t>写入偶地址口</a:t>
            </a:r>
          </a:p>
          <a:p>
            <a:pPr>
              <a:buNone/>
            </a:pPr>
            <a:r>
              <a:rPr lang="en-US" altLang="zh-CN" sz="2400" dirty="0">
                <a:solidFill>
                  <a:srgbClr val="0000FF"/>
                </a:solidFill>
                <a:latin typeface="+mn-lt"/>
                <a:ea typeface="华文中宋" pitchFamily="2" charset="-122"/>
              </a:rPr>
              <a:t>     	IN   	AL</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20H        	</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AL</a:t>
            </a:r>
            <a:r>
              <a:rPr lang="zh-CN" altLang="en-US" sz="2400" dirty="0">
                <a:solidFill>
                  <a:srgbClr val="0000FF"/>
                </a:solidFill>
                <a:latin typeface="+mn-lt"/>
                <a:ea typeface="华文中宋" pitchFamily="2" charset="-122"/>
              </a:rPr>
              <a:t>←</a:t>
            </a:r>
            <a:r>
              <a:rPr lang="en-US" altLang="zh-CN" sz="2400" dirty="0">
                <a:solidFill>
                  <a:srgbClr val="0000FF"/>
                </a:solidFill>
                <a:latin typeface="+mn-lt"/>
                <a:ea typeface="华文中宋" pitchFamily="2" charset="-122"/>
              </a:rPr>
              <a:t>ISR</a:t>
            </a:r>
            <a:r>
              <a:rPr lang="zh-CN" altLang="en-US" sz="2400" dirty="0">
                <a:solidFill>
                  <a:srgbClr val="0000FF"/>
                </a:solidFill>
                <a:latin typeface="+mn-lt"/>
                <a:ea typeface="华文中宋" pitchFamily="2" charset="-122"/>
              </a:rPr>
              <a:t>内容</a:t>
            </a:r>
          </a:p>
          <a:p>
            <a:pPr>
              <a:buNone/>
            </a:pPr>
            <a:endParaRPr lang="zh-CN" altLang="en-US" sz="2400" dirty="0">
              <a:solidFill>
                <a:srgbClr val="0000FF"/>
              </a:solidFill>
              <a:latin typeface="+mn-lt"/>
              <a:ea typeface="华文中宋" pitchFamily="2" charset="-122"/>
            </a:endParaRPr>
          </a:p>
        </p:txBody>
      </p:sp>
      <p:sp>
        <p:nvSpPr>
          <p:cNvPr id="4" name="标题 338945">
            <a:extLst>
              <a:ext uri="{FF2B5EF4-FFF2-40B4-BE49-F238E27FC236}">
                <a16:creationId xmlns:a16="http://schemas.microsoft.com/office/drawing/2014/main" id="{A2B2BF69-851D-0089-7538-9A3734FECD36}"/>
              </a:ext>
            </a:extLst>
          </p:cNvPr>
          <p:cNvSpPr txBox="1">
            <a:spLocks/>
          </p:cNvSpPr>
          <p:nvPr/>
        </p:nvSpPr>
        <p:spPr>
          <a:xfrm>
            <a:off x="1331640" y="188640"/>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extLst>
      <p:ext uri="{BB962C8B-B14F-4D97-AF65-F5344CB8AC3E}">
        <p14:creationId xmlns:p14="http://schemas.microsoft.com/office/powerpoint/2010/main" val="11277048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8" name="矩形 340997"/>
          <p:cNvSpPr/>
          <p:nvPr/>
        </p:nvSpPr>
        <p:spPr>
          <a:xfrm>
            <a:off x="2934983" y="2226337"/>
            <a:ext cx="2943225" cy="366713"/>
          </a:xfrm>
          <a:prstGeom prst="rect">
            <a:avLst/>
          </a:prstGeom>
          <a:noFill/>
          <a:ln w="9525">
            <a:noFill/>
          </a:ln>
        </p:spPr>
        <p:txBody>
          <a:bodyPr wrap="none" anchor="ctr">
            <a:spAutoFit/>
          </a:bodyPr>
          <a:lstStyle/>
          <a:p>
            <a:pPr lvl="0" algn="ctr"/>
            <a:r>
              <a:rPr lang="zh-CN" altLang="en-US" sz="1800" dirty="0">
                <a:latin typeface="Arial" panose="020B0604020202020204" pitchFamily="34" charset="0"/>
                <a:ea typeface="宋体" panose="02010600030101010101" pitchFamily="2" charset="-122"/>
              </a:rPr>
              <a:t>表</a:t>
            </a:r>
            <a:r>
              <a:rPr lang="en-US" altLang="zh-CN" sz="1800" dirty="0">
                <a:latin typeface="Arial" panose="020B0604020202020204" pitchFamily="34" charset="0"/>
                <a:ea typeface="宋体" panose="02010600030101010101" pitchFamily="2" charset="-122"/>
              </a:rPr>
              <a:t>8-3 8259A</a:t>
            </a:r>
            <a:r>
              <a:rPr lang="zh-CN" altLang="en-US" sz="1800" dirty="0">
                <a:latin typeface="Arial" panose="020B0604020202020204" pitchFamily="34" charset="0"/>
                <a:ea typeface="宋体" panose="02010600030101010101" pitchFamily="2" charset="-122"/>
              </a:rPr>
              <a:t>的读</a:t>
            </a:r>
            <a:r>
              <a:rPr lang="en-US" altLang="zh-CN" sz="1800" dirty="0">
                <a:latin typeface="Arial" panose="020B0604020202020204" pitchFamily="34" charset="0"/>
                <a:ea typeface="宋体" panose="02010600030101010101" pitchFamily="2" charset="-122"/>
              </a:rPr>
              <a:t>/</a:t>
            </a:r>
            <a:r>
              <a:rPr lang="zh-CN" altLang="en-US" sz="1800" dirty="0">
                <a:latin typeface="Arial" panose="020B0604020202020204" pitchFamily="34" charset="0"/>
                <a:ea typeface="宋体" panose="02010600030101010101" pitchFamily="2" charset="-122"/>
              </a:rPr>
              <a:t>写操作</a:t>
            </a:r>
          </a:p>
        </p:txBody>
      </p:sp>
      <p:graphicFrame>
        <p:nvGraphicFramePr>
          <p:cNvPr id="341474" name="表格 341473"/>
          <p:cNvGraphicFramePr/>
          <p:nvPr>
            <p:extLst>
              <p:ext uri="{D42A27DB-BD31-4B8C-83A1-F6EECF244321}">
                <p14:modId xmlns:p14="http://schemas.microsoft.com/office/powerpoint/2010/main" val="1653576110"/>
              </p:ext>
            </p:extLst>
          </p:nvPr>
        </p:nvGraphicFramePr>
        <p:xfrm>
          <a:off x="467214" y="2609470"/>
          <a:ext cx="8100518" cy="3787733"/>
        </p:xfrm>
        <a:graphic>
          <a:graphicData uri="http://schemas.openxmlformats.org/drawingml/2006/table">
            <a:tbl>
              <a:tblPr/>
              <a:tblGrid>
                <a:gridCol w="633694">
                  <a:extLst>
                    <a:ext uri="{9D8B030D-6E8A-4147-A177-3AD203B41FA5}">
                      <a16:colId xmlns:a16="http://schemas.microsoft.com/office/drawing/2014/main" val="20000"/>
                    </a:ext>
                  </a:extLst>
                </a:gridCol>
                <a:gridCol w="633694">
                  <a:extLst>
                    <a:ext uri="{9D8B030D-6E8A-4147-A177-3AD203B41FA5}">
                      <a16:colId xmlns:a16="http://schemas.microsoft.com/office/drawing/2014/main" val="20001"/>
                    </a:ext>
                  </a:extLst>
                </a:gridCol>
                <a:gridCol w="632199">
                  <a:extLst>
                    <a:ext uri="{9D8B030D-6E8A-4147-A177-3AD203B41FA5}">
                      <a16:colId xmlns:a16="http://schemas.microsoft.com/office/drawing/2014/main" val="20002"/>
                    </a:ext>
                  </a:extLst>
                </a:gridCol>
                <a:gridCol w="633694">
                  <a:extLst>
                    <a:ext uri="{9D8B030D-6E8A-4147-A177-3AD203B41FA5}">
                      <a16:colId xmlns:a16="http://schemas.microsoft.com/office/drawing/2014/main" val="20003"/>
                    </a:ext>
                  </a:extLst>
                </a:gridCol>
                <a:gridCol w="633694">
                  <a:extLst>
                    <a:ext uri="{9D8B030D-6E8A-4147-A177-3AD203B41FA5}">
                      <a16:colId xmlns:a16="http://schemas.microsoft.com/office/drawing/2014/main" val="20004"/>
                    </a:ext>
                  </a:extLst>
                </a:gridCol>
                <a:gridCol w="663585">
                  <a:extLst>
                    <a:ext uri="{9D8B030D-6E8A-4147-A177-3AD203B41FA5}">
                      <a16:colId xmlns:a16="http://schemas.microsoft.com/office/drawing/2014/main" val="20005"/>
                    </a:ext>
                  </a:extLst>
                </a:gridCol>
                <a:gridCol w="3253657">
                  <a:extLst>
                    <a:ext uri="{9D8B030D-6E8A-4147-A177-3AD203B41FA5}">
                      <a16:colId xmlns:a16="http://schemas.microsoft.com/office/drawing/2014/main" val="20006"/>
                    </a:ext>
                  </a:extLst>
                </a:gridCol>
                <a:gridCol w="1016301">
                  <a:extLst>
                    <a:ext uri="{9D8B030D-6E8A-4147-A177-3AD203B41FA5}">
                      <a16:colId xmlns:a16="http://schemas.microsoft.com/office/drawing/2014/main" val="20007"/>
                    </a:ext>
                  </a:extLst>
                </a:gridCol>
              </a:tblGrid>
              <a:tr h="672804">
                <a:tc>
                  <a:txBody>
                    <a:bodyPr/>
                    <a:lstStyle/>
                    <a:p>
                      <a:pPr lvl="0" algn="ctr">
                        <a:buNone/>
                      </a:pPr>
                      <a:r>
                        <a:rPr lang="zh-CN" altLang="en-US" sz="1400" dirty="0">
                          <a:latin typeface="Times New Roman" panose="02020603050405020304" pitchFamily="18" charset="0"/>
                          <a:ea typeface="Times New Roman" panose="02020603050405020304" pitchFamily="18" charset="0"/>
                        </a:rPr>
                        <a:t>             </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9D9D9"/>
                    </a:solidFill>
                  </a:tcPr>
                </a:tc>
                <a:tc>
                  <a:txBody>
                    <a:bodyPr/>
                    <a:lstStyle/>
                    <a:p>
                      <a:pPr lvl="0" algn="ctr">
                        <a:buNone/>
                      </a:pPr>
                      <a:r>
                        <a:rPr lang="zh-CN" altLang="en-US" sz="1400" dirty="0">
                          <a:latin typeface="Times New Roman" panose="02020603050405020304" pitchFamily="18" charset="0"/>
                          <a:ea typeface="Times New Roman" panose="02020603050405020304" pitchFamily="18" charset="0"/>
                        </a:rPr>
                        <a:t>               </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9D9D9"/>
                    </a:solidFill>
                  </a:tcPr>
                </a:tc>
                <a:tc>
                  <a:txBody>
                    <a:bodyPr/>
                    <a:lstStyle/>
                    <a:p>
                      <a:pPr lvl="0" algn="ctr">
                        <a:buNone/>
                      </a:pPr>
                      <a:r>
                        <a:rPr lang="zh-CN" altLang="en-US" sz="1400" dirty="0">
                          <a:latin typeface="Times New Roman" panose="02020603050405020304" pitchFamily="18" charset="0"/>
                          <a:ea typeface="Times New Roman" panose="02020603050405020304" pitchFamily="18" charset="0"/>
                        </a:rPr>
                        <a:t>                 </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9D9D9"/>
                    </a:solid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A</a:t>
                      </a:r>
                      <a:r>
                        <a:rPr lang="en-US" altLang="zh-CN" sz="1400" baseline="-300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9D9D9"/>
                    </a:solid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D</a:t>
                      </a:r>
                      <a:r>
                        <a:rPr lang="en-US" altLang="zh-CN" sz="1400" baseline="-30000">
                          <a:latin typeface="Times New Roman" panose="02020603050405020304" pitchFamily="18" charset="0"/>
                          <a:ea typeface="Times New Roman" panose="02020603050405020304" pitchFamily="18" charset="0"/>
                        </a:rPr>
                        <a:t>4</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9D9D9"/>
                    </a:solid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D</a:t>
                      </a:r>
                      <a:r>
                        <a:rPr lang="en-US" altLang="zh-CN" sz="1400" baseline="-30000">
                          <a:latin typeface="Times New Roman" panose="02020603050405020304" pitchFamily="18" charset="0"/>
                          <a:ea typeface="Times New Roman" panose="02020603050405020304" pitchFamily="18" charset="0"/>
                        </a:rPr>
                        <a:t>3</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9D9D9"/>
                    </a:solidFill>
                  </a:tcPr>
                </a:tc>
                <a:tc>
                  <a:txBody>
                    <a:bodyPr/>
                    <a:lstStyle/>
                    <a:p>
                      <a:pPr lvl="0" algn="ctr">
                        <a:buNone/>
                      </a:pPr>
                      <a:r>
                        <a:rPr lang="zh-CN" altLang="en-US" sz="1400" dirty="0">
                          <a:latin typeface="Times New Roman" panose="02020603050405020304" pitchFamily="18" charset="0"/>
                          <a:ea typeface="Times New Roman" panose="02020603050405020304" pitchFamily="18" charset="0"/>
                        </a:rPr>
                        <a:t>读写操作</a:t>
                      </a:r>
                      <a:endParaRPr lang="zh-CN" altLang="en-US" sz="1400" dirty="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9D9D9"/>
                    </a:solidFill>
                  </a:tcPr>
                </a:tc>
                <a:tc>
                  <a:txBody>
                    <a:bodyPr/>
                    <a:lstStyle/>
                    <a:p>
                      <a:pPr lvl="0" algn="ctr">
                        <a:buNone/>
                      </a:pPr>
                      <a:r>
                        <a:rPr lang="zh-CN" altLang="en-US" sz="1400" dirty="0">
                          <a:latin typeface="Times New Roman" panose="02020603050405020304" pitchFamily="18" charset="0"/>
                          <a:ea typeface="Times New Roman" panose="02020603050405020304" pitchFamily="18" charset="0"/>
                        </a:rPr>
                        <a:t>指令</a:t>
                      </a:r>
                      <a:endParaRPr lang="zh-CN" altLang="en-US" sz="1400" dirty="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0"/>
                  </a:ext>
                </a:extLst>
              </a:tr>
              <a:tr h="266315">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1</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1</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黑体" panose="02010609060101010101" pitchFamily="49" charset="-122"/>
                        </a:rPr>
                        <a:t>×</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CPU</a:t>
                      </a:r>
                      <a:r>
                        <a:rPr lang="zh-CN" altLang="en-US" sz="1400" dirty="0">
                          <a:latin typeface="Times New Roman" panose="02020603050405020304" pitchFamily="18" charset="0"/>
                          <a:ea typeface="黑体" panose="02010609060101010101" pitchFamily="49" charset="-122"/>
                        </a:rPr>
                        <a:t>写入</a:t>
                      </a:r>
                      <a:r>
                        <a:rPr lang="en-US" altLang="zh-CN" sz="1400">
                          <a:latin typeface="Times New Roman" panose="02020603050405020304" pitchFamily="18" charset="0"/>
                          <a:ea typeface="Times New Roman" panose="02020603050405020304" pitchFamily="18" charset="0"/>
                        </a:rPr>
                        <a:t>ICW</a:t>
                      </a:r>
                      <a:r>
                        <a:rPr lang="en-US" altLang="zh-CN" sz="1400" baseline="-30000">
                          <a:latin typeface="Times New Roman" panose="02020603050405020304" pitchFamily="18" charset="0"/>
                          <a:ea typeface="Times New Roman" panose="02020603050405020304" pitchFamily="18" charset="0"/>
                        </a:rPr>
                        <a:t>1</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4">
                  <a:txBody>
                    <a:bodyPr/>
                    <a:lstStyle/>
                    <a:p>
                      <a:pPr lvl="0" algn="ctr">
                        <a:buNone/>
                      </a:pPr>
                      <a:r>
                        <a:rPr lang="en-US" altLang="zh-CN" sz="1400">
                          <a:latin typeface="Times New Roman" panose="02020603050405020304" pitchFamily="18" charset="0"/>
                          <a:ea typeface="Times New Roman" panose="02020603050405020304" pitchFamily="18" charset="0"/>
                        </a:rPr>
                        <a:t>OUT</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5744">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1</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1</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黑体" panose="02010609060101010101" pitchFamily="49" charset="-122"/>
                        </a:rPr>
                        <a:t>×</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黑体" panose="02010609060101010101" pitchFamily="49" charset="-122"/>
                        </a:rPr>
                        <a:t>×</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CPU</a:t>
                      </a:r>
                      <a:r>
                        <a:rPr lang="zh-CN" altLang="en-US" sz="1400" dirty="0">
                          <a:latin typeface="Times New Roman" panose="02020603050405020304" pitchFamily="18" charset="0"/>
                          <a:ea typeface="黑体" panose="02010609060101010101" pitchFamily="49" charset="-122"/>
                        </a:rPr>
                        <a:t>写入</a:t>
                      </a:r>
                      <a:r>
                        <a:rPr lang="en-US" altLang="zh-CN" sz="1400">
                          <a:latin typeface="Times New Roman" panose="02020603050405020304" pitchFamily="18" charset="0"/>
                          <a:ea typeface="Times New Roman" panose="02020603050405020304" pitchFamily="18" charset="0"/>
                        </a:rPr>
                        <a:t>ICW</a:t>
                      </a:r>
                      <a:r>
                        <a:rPr lang="en-US" altLang="zh-CN" sz="1400" baseline="-30000">
                          <a:latin typeface="Times New Roman" panose="02020603050405020304" pitchFamily="18" charset="0"/>
                          <a:ea typeface="Times New Roman" panose="02020603050405020304" pitchFamily="18" charset="0"/>
                        </a:rPr>
                        <a:t>2</a:t>
                      </a:r>
                      <a:r>
                        <a:rPr lang="zh-CN" altLang="en-US" sz="1400" dirty="0">
                          <a:latin typeface="Times New Roman" panose="02020603050405020304" pitchFamily="18" charset="0"/>
                          <a:ea typeface="Times New Roman" panose="02020603050405020304" pitchFamily="18" charset="0"/>
                        </a:rPr>
                        <a:t>、</a:t>
                      </a:r>
                      <a:r>
                        <a:rPr lang="en-US" altLang="zh-CN" sz="1400">
                          <a:latin typeface="Times New Roman" panose="02020603050405020304" pitchFamily="18" charset="0"/>
                          <a:ea typeface="Times New Roman" panose="02020603050405020304" pitchFamily="18" charset="0"/>
                        </a:rPr>
                        <a:t>ICW</a:t>
                      </a:r>
                      <a:r>
                        <a:rPr lang="en-US" altLang="zh-CN" sz="1400" baseline="-30000">
                          <a:latin typeface="Times New Roman" panose="02020603050405020304" pitchFamily="18" charset="0"/>
                          <a:ea typeface="Times New Roman" panose="02020603050405020304" pitchFamily="18" charset="0"/>
                        </a:rPr>
                        <a:t>3</a:t>
                      </a:r>
                      <a:r>
                        <a:rPr lang="zh-CN" altLang="en-US" sz="1400" dirty="0">
                          <a:latin typeface="Times New Roman" panose="02020603050405020304" pitchFamily="18" charset="0"/>
                          <a:ea typeface="Times New Roman" panose="02020603050405020304" pitchFamily="18" charset="0"/>
                        </a:rPr>
                        <a:t>、</a:t>
                      </a:r>
                      <a:r>
                        <a:rPr lang="en-US" altLang="zh-CN" sz="1400">
                          <a:latin typeface="Times New Roman" panose="02020603050405020304" pitchFamily="18" charset="0"/>
                          <a:ea typeface="Times New Roman" panose="02020603050405020304" pitchFamily="18" charset="0"/>
                        </a:rPr>
                        <a:t>ICW</a:t>
                      </a:r>
                      <a:r>
                        <a:rPr lang="en-US" altLang="zh-CN" sz="1400" baseline="-30000">
                          <a:latin typeface="Times New Roman" panose="02020603050405020304" pitchFamily="18" charset="0"/>
                          <a:ea typeface="Times New Roman" panose="02020603050405020304" pitchFamily="18" charset="0"/>
                        </a:rPr>
                        <a:t>4</a:t>
                      </a:r>
                      <a:r>
                        <a:rPr lang="zh-CN" altLang="en-US" sz="1400" dirty="0">
                          <a:latin typeface="Times New Roman" panose="02020603050405020304" pitchFamily="18" charset="0"/>
                          <a:ea typeface="Times New Roman" panose="02020603050405020304" pitchFamily="18" charset="0"/>
                        </a:rPr>
                        <a:t>、</a:t>
                      </a:r>
                      <a:r>
                        <a:rPr lang="en-US" altLang="zh-CN" sz="1400">
                          <a:latin typeface="Times New Roman" panose="02020603050405020304" pitchFamily="18" charset="0"/>
                          <a:ea typeface="Times New Roman" panose="02020603050405020304" pitchFamily="18" charset="0"/>
                        </a:rPr>
                        <a:t>OCW</a:t>
                      </a:r>
                      <a:r>
                        <a:rPr lang="en-US" altLang="zh-CN" sz="1400" baseline="-30000">
                          <a:latin typeface="Times New Roman" panose="02020603050405020304" pitchFamily="18" charset="0"/>
                          <a:ea typeface="Times New Roman" panose="02020603050405020304" pitchFamily="18" charset="0"/>
                        </a:rPr>
                        <a:t>1</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extLst>
                  <a:ext uri="{0D108BD9-81ED-4DB2-BD59-A6C34878D82A}">
                    <a16:rowId xmlns:a16="http://schemas.microsoft.com/office/drawing/2014/main" val="10002"/>
                  </a:ext>
                </a:extLst>
              </a:tr>
              <a:tr h="267688">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1</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dirty="0">
                          <a:latin typeface="Times New Roman" panose="02020603050405020304" pitchFamily="18" charset="0"/>
                          <a:ea typeface="Times New Roman" panose="02020603050405020304" pitchFamily="18" charset="0"/>
                        </a:rPr>
                        <a:t>0</a:t>
                      </a:r>
                      <a:endParaRPr lang="en-US" altLang="zh-CN" sz="1400" dirty="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CPU</a:t>
                      </a:r>
                      <a:r>
                        <a:rPr lang="zh-CN" altLang="en-US" sz="1400" dirty="0">
                          <a:latin typeface="Times New Roman" panose="02020603050405020304" pitchFamily="18" charset="0"/>
                          <a:ea typeface="黑体" panose="02010609060101010101" pitchFamily="49" charset="-122"/>
                        </a:rPr>
                        <a:t>写入</a:t>
                      </a:r>
                      <a:r>
                        <a:rPr lang="en-US" altLang="zh-CN" sz="1400">
                          <a:latin typeface="Times New Roman" panose="02020603050405020304" pitchFamily="18" charset="0"/>
                          <a:ea typeface="Times New Roman" panose="02020603050405020304" pitchFamily="18" charset="0"/>
                        </a:rPr>
                        <a:t>OCW</a:t>
                      </a:r>
                      <a:r>
                        <a:rPr lang="en-US" altLang="zh-CN" sz="1400" baseline="-30000">
                          <a:latin typeface="Times New Roman" panose="02020603050405020304" pitchFamily="18" charset="0"/>
                          <a:ea typeface="Times New Roman" panose="02020603050405020304" pitchFamily="18" charset="0"/>
                        </a:rPr>
                        <a:t>2</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extLst>
                  <a:ext uri="{0D108BD9-81ED-4DB2-BD59-A6C34878D82A}">
                    <a16:rowId xmlns:a16="http://schemas.microsoft.com/office/drawing/2014/main" val="10003"/>
                  </a:ext>
                </a:extLst>
              </a:tr>
              <a:tr h="267687">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1</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dirty="0">
                          <a:latin typeface="Times New Roman" panose="02020603050405020304" pitchFamily="18" charset="0"/>
                          <a:ea typeface="Times New Roman" panose="02020603050405020304" pitchFamily="18" charset="0"/>
                        </a:rPr>
                        <a:t>0</a:t>
                      </a:r>
                      <a:endParaRPr lang="en-US" altLang="zh-CN" sz="1400" dirty="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1</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CPU</a:t>
                      </a:r>
                      <a:r>
                        <a:rPr lang="zh-CN" altLang="en-US" sz="1400" dirty="0">
                          <a:latin typeface="Times New Roman" panose="02020603050405020304" pitchFamily="18" charset="0"/>
                          <a:ea typeface="黑体" panose="02010609060101010101" pitchFamily="49" charset="-122"/>
                        </a:rPr>
                        <a:t>写入</a:t>
                      </a:r>
                      <a:r>
                        <a:rPr lang="en-US" altLang="zh-CN" sz="1400">
                          <a:latin typeface="Times New Roman" panose="02020603050405020304" pitchFamily="18" charset="0"/>
                          <a:ea typeface="Times New Roman" panose="02020603050405020304" pitchFamily="18" charset="0"/>
                        </a:rPr>
                        <a:t>OCW</a:t>
                      </a:r>
                      <a:r>
                        <a:rPr lang="en-US" altLang="zh-CN" sz="1400" baseline="-30000">
                          <a:latin typeface="Times New Roman" panose="02020603050405020304" pitchFamily="18" charset="0"/>
                          <a:ea typeface="Times New Roman" panose="02020603050405020304" pitchFamily="18" charset="0"/>
                        </a:rPr>
                        <a:t>3</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4"/>
                  </a:ext>
                </a:extLst>
              </a:tr>
              <a:tr h="453010">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1</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endParaRPr lang="zh-CN" altLang="en-US" sz="14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endParaRPr lang="zh-CN" altLang="en-US" sz="14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黑体" panose="02010609060101010101" pitchFamily="49" charset="-122"/>
                        </a:rPr>
                        <a:t>CPU</a:t>
                      </a:r>
                      <a:r>
                        <a:rPr lang="zh-CN" altLang="en-US" sz="1400" dirty="0">
                          <a:latin typeface="Times New Roman" panose="02020603050405020304" pitchFamily="18" charset="0"/>
                          <a:ea typeface="黑体" panose="02010609060101010101" pitchFamily="49" charset="-122"/>
                        </a:rPr>
                        <a:t>读取</a:t>
                      </a:r>
                      <a:r>
                        <a:rPr lang="en-US" altLang="zh-CN" sz="1400">
                          <a:latin typeface="Times New Roman" panose="02020603050405020304" pitchFamily="18" charset="0"/>
                          <a:ea typeface="Times New Roman" panose="02020603050405020304" pitchFamily="18" charset="0"/>
                        </a:rPr>
                        <a:t>IRR/ISR</a:t>
                      </a:r>
                      <a:r>
                        <a:rPr lang="zh-CN" altLang="en-US" sz="1400" dirty="0">
                          <a:latin typeface="Times New Roman" panose="02020603050405020304" pitchFamily="18" charset="0"/>
                          <a:ea typeface="黑体" panose="02010609060101010101" pitchFamily="49" charset="-122"/>
                        </a:rPr>
                        <a:t>、查询字</a:t>
                      </a:r>
                      <a:r>
                        <a:rPr lang="zh-CN" altLang="en-US" sz="1400" dirty="0">
                          <a:latin typeface="Times New Roman" panose="02020603050405020304" pitchFamily="18" charset="0"/>
                          <a:ea typeface="Times New Roman" panose="02020603050405020304" pitchFamily="18" charset="0"/>
                        </a:rPr>
                        <a:t>	</a:t>
                      </a:r>
                      <a:endParaRPr lang="zh-CN" altLang="en-US" sz="1400" dirty="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a:txBody>
                    <a:bodyPr/>
                    <a:lstStyle/>
                    <a:p>
                      <a:pPr lvl="0" algn="ctr">
                        <a:buNone/>
                      </a:pPr>
                      <a:r>
                        <a:rPr lang="en-US" altLang="zh-CN" sz="1400">
                          <a:latin typeface="Times New Roman" panose="02020603050405020304" pitchFamily="18" charset="0"/>
                          <a:ea typeface="Times New Roman" panose="02020603050405020304" pitchFamily="18" charset="0"/>
                        </a:rPr>
                        <a:t>IN</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4383">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0</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1</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1</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endParaRPr lang="zh-CN" altLang="en-US" sz="14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endParaRPr lang="zh-CN" altLang="en-US" sz="14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黑体" panose="02010609060101010101" pitchFamily="49" charset="-122"/>
                        </a:rPr>
                        <a:t>CPU</a:t>
                      </a:r>
                      <a:r>
                        <a:rPr lang="zh-CN" altLang="en-US" sz="1400" dirty="0">
                          <a:latin typeface="Times New Roman" panose="02020603050405020304" pitchFamily="18" charset="0"/>
                          <a:ea typeface="黑体" panose="02010609060101010101" pitchFamily="49" charset="-122"/>
                        </a:rPr>
                        <a:t>读取</a:t>
                      </a:r>
                      <a:r>
                        <a:rPr lang="en-US" altLang="zh-CN" sz="1400">
                          <a:latin typeface="Times New Roman" panose="02020603050405020304" pitchFamily="18" charset="0"/>
                          <a:ea typeface="Times New Roman" panose="02020603050405020304" pitchFamily="18" charset="0"/>
                        </a:rPr>
                        <a:t>IMR</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6"/>
                  </a:ext>
                </a:extLst>
              </a:tr>
              <a:tr h="453010">
                <a:tc>
                  <a:txBody>
                    <a:bodyPr/>
                    <a:lstStyle/>
                    <a:p>
                      <a:pPr lvl="0" algn="ctr">
                        <a:buNone/>
                      </a:pPr>
                      <a:r>
                        <a:rPr lang="en-US" altLang="zh-CN" sz="1400">
                          <a:latin typeface="Times New Roman" panose="02020603050405020304" pitchFamily="18" charset="0"/>
                          <a:ea typeface="Times New Roman" panose="02020603050405020304" pitchFamily="18" charset="0"/>
                        </a:rPr>
                        <a:t>1</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黑体" panose="02010609060101010101" pitchFamily="49" charset="-122"/>
                        </a:rPr>
                        <a:t>×</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黑体" panose="02010609060101010101" pitchFamily="49" charset="-122"/>
                        </a:rPr>
                        <a:t>×</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黑体" panose="02010609060101010101" pitchFamily="49" charset="-122"/>
                        </a:rPr>
                        <a:t>×</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endParaRPr lang="zh-CN" altLang="en-US" sz="14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endParaRPr lang="zh-CN" altLang="en-US" sz="14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zh-CN" altLang="en-US" sz="1400" dirty="0">
                          <a:latin typeface="Times New Roman" panose="02020603050405020304" pitchFamily="18" charset="0"/>
                          <a:ea typeface="Times New Roman" panose="02020603050405020304" pitchFamily="18" charset="0"/>
                        </a:rPr>
                        <a:t>高阻</a:t>
                      </a:r>
                      <a:endParaRPr lang="zh-CN" altLang="en-US" sz="1400" dirty="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endParaRPr lang="zh-CN" altLang="en-US" sz="14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4382">
                <a:tc>
                  <a:txBody>
                    <a:bodyPr/>
                    <a:lstStyle/>
                    <a:p>
                      <a:pPr lvl="0" algn="ctr">
                        <a:buNone/>
                      </a:pPr>
                      <a:r>
                        <a:rPr lang="en-US" altLang="zh-CN" sz="1400">
                          <a:latin typeface="Times New Roman" panose="02020603050405020304" pitchFamily="18" charset="0"/>
                          <a:ea typeface="黑体" panose="02010609060101010101" pitchFamily="49" charset="-122"/>
                        </a:rPr>
                        <a:t>×</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1</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Times New Roman" panose="02020603050405020304" pitchFamily="18" charset="0"/>
                        </a:rPr>
                        <a:t>1</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en-US" altLang="zh-CN" sz="1400">
                          <a:latin typeface="Times New Roman" panose="02020603050405020304" pitchFamily="18" charset="0"/>
                          <a:ea typeface="黑体" panose="02010609060101010101" pitchFamily="49" charset="-122"/>
                        </a:rPr>
                        <a:t>×</a:t>
                      </a:r>
                      <a:endParaRPr lang="en-US" altLang="zh-CN" sz="140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endParaRPr lang="zh-CN" altLang="en-US" sz="14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endParaRPr lang="zh-CN" altLang="en-US" sz="14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lvl="0" algn="ctr">
                        <a:buNone/>
                      </a:pPr>
                      <a:r>
                        <a:rPr lang="zh-CN" altLang="en-US" sz="1400" dirty="0">
                          <a:latin typeface="Times New Roman" panose="02020603050405020304" pitchFamily="18" charset="0"/>
                          <a:ea typeface="Times New Roman" panose="02020603050405020304" pitchFamily="18" charset="0"/>
                        </a:rPr>
                        <a:t>高阻</a:t>
                      </a:r>
                      <a:endParaRPr lang="zh-CN" altLang="en-US" sz="1400" dirty="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endParaRPr lang="zh-CN" altLang="en-US" sz="14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pic>
        <p:nvPicPr>
          <p:cNvPr id="341000" name="图片 340999" descr="wps_clip_image-2058"/>
          <p:cNvPicPr>
            <a:picLocks noChangeAspect="1"/>
          </p:cNvPicPr>
          <p:nvPr/>
        </p:nvPicPr>
        <p:blipFill>
          <a:blip r:embed="rId3"/>
          <a:stretch>
            <a:fillRect/>
          </a:stretch>
        </p:blipFill>
        <p:spPr>
          <a:xfrm>
            <a:off x="543476" y="3008276"/>
            <a:ext cx="287337" cy="269875"/>
          </a:xfrm>
          <a:prstGeom prst="rect">
            <a:avLst/>
          </a:prstGeom>
          <a:noFill/>
          <a:ln w="9525">
            <a:noFill/>
          </a:ln>
        </p:spPr>
      </p:pic>
      <p:pic>
        <p:nvPicPr>
          <p:cNvPr id="341002" name="图片 341001" descr="wps_clip_image-28225"/>
          <p:cNvPicPr>
            <a:picLocks noChangeAspect="1"/>
          </p:cNvPicPr>
          <p:nvPr/>
        </p:nvPicPr>
        <p:blipFill>
          <a:blip r:embed="rId4"/>
          <a:stretch>
            <a:fillRect/>
          </a:stretch>
        </p:blipFill>
        <p:spPr>
          <a:xfrm>
            <a:off x="1079612" y="3007457"/>
            <a:ext cx="287337" cy="215900"/>
          </a:xfrm>
          <a:prstGeom prst="rect">
            <a:avLst/>
          </a:prstGeom>
          <a:noFill/>
          <a:ln w="9525">
            <a:noFill/>
          </a:ln>
        </p:spPr>
      </p:pic>
      <p:pic>
        <p:nvPicPr>
          <p:cNvPr id="341004" name="图片 341003" descr="wps_clip_image-19226"/>
          <p:cNvPicPr>
            <a:picLocks noChangeAspect="1"/>
          </p:cNvPicPr>
          <p:nvPr/>
        </p:nvPicPr>
        <p:blipFill>
          <a:blip r:embed="rId5"/>
          <a:stretch>
            <a:fillRect/>
          </a:stretch>
        </p:blipFill>
        <p:spPr>
          <a:xfrm>
            <a:off x="1691680" y="3007457"/>
            <a:ext cx="360362" cy="250825"/>
          </a:xfrm>
          <a:prstGeom prst="rect">
            <a:avLst/>
          </a:prstGeom>
          <a:noFill/>
          <a:ln w="9525">
            <a:noFill/>
          </a:ln>
        </p:spPr>
      </p:pic>
      <p:sp>
        <p:nvSpPr>
          <p:cNvPr id="2" name="文本框 1">
            <a:extLst>
              <a:ext uri="{FF2B5EF4-FFF2-40B4-BE49-F238E27FC236}">
                <a16:creationId xmlns:a16="http://schemas.microsoft.com/office/drawing/2014/main" id="{95A28B9D-538E-43BA-B8DC-615A51006829}"/>
              </a:ext>
            </a:extLst>
          </p:cNvPr>
          <p:cNvSpPr txBox="1"/>
          <p:nvPr/>
        </p:nvSpPr>
        <p:spPr>
          <a:xfrm>
            <a:off x="323528" y="703347"/>
            <a:ext cx="8712968" cy="1384995"/>
          </a:xfrm>
          <a:prstGeom prst="rect">
            <a:avLst/>
          </a:prstGeom>
          <a:noFill/>
        </p:spPr>
        <p:txBody>
          <a:bodyPr wrap="square">
            <a:spAutoFit/>
          </a:bodyPr>
          <a:lstStyle/>
          <a:p>
            <a:pPr eaLnBrk="0" hangingPunct="0"/>
            <a:r>
              <a:rPr lang="en-US" altLang="zh-CN" sz="2400" b="1" dirty="0">
                <a:solidFill>
                  <a:srgbClr val="0000FF"/>
                </a:solidFill>
                <a:latin typeface="Arial" panose="020B0604020202020204" pitchFamily="34" charset="0"/>
              </a:rPr>
              <a:t>3. 8259A </a:t>
            </a:r>
            <a:r>
              <a:rPr lang="zh-CN" altLang="en-US" sz="2400" b="1" dirty="0">
                <a:solidFill>
                  <a:srgbClr val="0000FF"/>
                </a:solidFill>
                <a:latin typeface="Arial" panose="020B0604020202020204" pitchFamily="34" charset="0"/>
              </a:rPr>
              <a:t>内部寄存器的访问方式</a:t>
            </a:r>
            <a:endParaRPr lang="en-US" altLang="zh-CN" sz="2400" b="1" dirty="0">
              <a:solidFill>
                <a:srgbClr val="0000FF"/>
              </a:solidFill>
              <a:latin typeface="Arial" panose="020B0604020202020204" pitchFamily="34" charset="0"/>
            </a:endParaRPr>
          </a:p>
          <a:p>
            <a:pPr eaLnBrk="0" hangingPunct="0"/>
            <a:r>
              <a:rPr lang="en-US" altLang="zh-CN" sz="2000" b="1" dirty="0">
                <a:latin typeface="Arial" panose="020B0604020202020204" pitchFamily="34" charset="0"/>
              </a:rPr>
              <a:t>8259A </a:t>
            </a:r>
            <a:r>
              <a:rPr lang="zh-CN" altLang="en-US" sz="2000" b="1" dirty="0">
                <a:latin typeface="Arial" panose="020B0604020202020204" pitchFamily="34" charset="0"/>
              </a:rPr>
              <a:t>内部共有 </a:t>
            </a:r>
            <a:r>
              <a:rPr lang="en-US" altLang="zh-CN" sz="2000" b="1" dirty="0">
                <a:latin typeface="Arial" panose="020B0604020202020204" pitchFamily="34" charset="0"/>
              </a:rPr>
              <a:t>11 </a:t>
            </a:r>
            <a:r>
              <a:rPr lang="zh-CN" altLang="en-US" sz="2000" b="1" dirty="0">
                <a:latin typeface="Arial" panose="020B0604020202020204" pitchFamily="34" charset="0"/>
              </a:rPr>
              <a:t>个寄存器，它们分别是 </a:t>
            </a:r>
            <a:r>
              <a:rPr lang="en-US" altLang="zh-CN" sz="2000" b="1" dirty="0">
                <a:latin typeface="Arial" panose="020B0604020202020204" pitchFamily="34" charset="0"/>
              </a:rPr>
              <a:t>IRR</a:t>
            </a:r>
            <a:r>
              <a:rPr lang="zh-CN" altLang="en-US" sz="2000" b="1" dirty="0">
                <a:latin typeface="Arial" panose="020B0604020202020204" pitchFamily="34" charset="0"/>
              </a:rPr>
              <a:t>、</a:t>
            </a:r>
            <a:r>
              <a:rPr lang="en-US" altLang="zh-CN" sz="2000" b="1" dirty="0">
                <a:latin typeface="Arial" panose="020B0604020202020204" pitchFamily="34" charset="0"/>
              </a:rPr>
              <a:t>IMR</a:t>
            </a:r>
            <a:r>
              <a:rPr lang="zh-CN" altLang="en-US" sz="2000" b="1" dirty="0">
                <a:latin typeface="Arial" panose="020B0604020202020204" pitchFamily="34" charset="0"/>
              </a:rPr>
              <a:t>、</a:t>
            </a:r>
            <a:r>
              <a:rPr lang="en-US" altLang="zh-CN" sz="2000" b="1" dirty="0">
                <a:latin typeface="Arial" panose="020B0604020202020204" pitchFamily="34" charset="0"/>
              </a:rPr>
              <a:t>ISR</a:t>
            </a:r>
            <a:r>
              <a:rPr lang="zh-CN" altLang="en-US" sz="2000" b="1" dirty="0">
                <a:latin typeface="Arial" panose="020B0604020202020204" pitchFamily="34" charset="0"/>
              </a:rPr>
              <a:t>、</a:t>
            </a:r>
            <a:r>
              <a:rPr lang="en-US" altLang="zh-CN" sz="2000" b="1" dirty="0">
                <a:latin typeface="Arial" panose="020B0604020202020204" pitchFamily="34" charset="0"/>
              </a:rPr>
              <a:t>ICW1</a:t>
            </a:r>
            <a:r>
              <a:rPr lang="zh-CN" altLang="en-US" sz="2000" b="1" dirty="0">
                <a:latin typeface="Arial" panose="020B0604020202020204" pitchFamily="34" charset="0"/>
              </a:rPr>
              <a:t>～</a:t>
            </a:r>
            <a:r>
              <a:rPr lang="en-US" altLang="zh-CN" sz="2000" b="1" dirty="0">
                <a:latin typeface="Arial" panose="020B0604020202020204" pitchFamily="34" charset="0"/>
              </a:rPr>
              <a:t>ICW4</a:t>
            </a:r>
            <a:r>
              <a:rPr lang="zh-CN" altLang="en-US" sz="2000" b="1" dirty="0">
                <a:latin typeface="Arial" panose="020B0604020202020204" pitchFamily="34" charset="0"/>
              </a:rPr>
              <a:t>、 </a:t>
            </a:r>
            <a:r>
              <a:rPr lang="en-US" altLang="zh-CN" sz="2000" b="1" dirty="0">
                <a:latin typeface="Arial" panose="020B0604020202020204" pitchFamily="34" charset="0"/>
              </a:rPr>
              <a:t>OCW1</a:t>
            </a:r>
            <a:r>
              <a:rPr lang="zh-CN" altLang="en-US" sz="2000" b="1" dirty="0">
                <a:latin typeface="Arial" panose="020B0604020202020204" pitchFamily="34" charset="0"/>
              </a:rPr>
              <a:t>～</a:t>
            </a:r>
            <a:r>
              <a:rPr lang="en-US" altLang="zh-CN" sz="2000" b="1" dirty="0">
                <a:latin typeface="Arial" panose="020B0604020202020204" pitchFamily="34" charset="0"/>
              </a:rPr>
              <a:t>OCW3 </a:t>
            </a:r>
            <a:r>
              <a:rPr lang="zh-CN" altLang="en-US" sz="2000" b="1" dirty="0">
                <a:latin typeface="Arial" panose="020B0604020202020204" pitchFamily="34" charset="0"/>
              </a:rPr>
              <a:t>和状态寄存器。这些寄存器均通过 </a:t>
            </a:r>
            <a:r>
              <a:rPr lang="en-US" altLang="zh-CN" sz="2000" b="1" dirty="0">
                <a:latin typeface="Arial" panose="020B0604020202020204" pitchFamily="34" charset="0"/>
              </a:rPr>
              <a:t>8259A </a:t>
            </a:r>
            <a:r>
              <a:rPr lang="zh-CN" altLang="en-US" sz="2000" b="1" dirty="0">
                <a:latin typeface="Arial" panose="020B0604020202020204" pitchFamily="34" charset="0"/>
              </a:rPr>
              <a:t>的一条地址线 </a:t>
            </a:r>
            <a:r>
              <a:rPr lang="en-US" altLang="zh-CN" sz="2000" b="1" dirty="0">
                <a:latin typeface="Arial" panose="020B0604020202020204" pitchFamily="34" charset="0"/>
              </a:rPr>
              <a:t>A</a:t>
            </a:r>
            <a:r>
              <a:rPr lang="en-US" altLang="zh-CN" sz="2000" b="1" baseline="-25000" dirty="0">
                <a:latin typeface="Arial" panose="020B0604020202020204" pitchFamily="34" charset="0"/>
              </a:rPr>
              <a:t>0</a:t>
            </a:r>
            <a:r>
              <a:rPr lang="en-US" altLang="zh-CN" sz="2000" b="1" dirty="0">
                <a:latin typeface="Arial" panose="020B0604020202020204" pitchFamily="34" charset="0"/>
              </a:rPr>
              <a:t> </a:t>
            </a:r>
            <a:r>
              <a:rPr lang="zh-CN" altLang="en-US" sz="2000" b="1" dirty="0">
                <a:latin typeface="Arial" panose="020B0604020202020204" pitchFamily="34" charset="0"/>
              </a:rPr>
              <a:t>进行访问，即这 </a:t>
            </a:r>
            <a:r>
              <a:rPr lang="en-US" altLang="zh-CN" sz="2000" b="1" dirty="0">
                <a:latin typeface="Arial" panose="020B0604020202020204" pitchFamily="34" charset="0"/>
              </a:rPr>
              <a:t>11 </a:t>
            </a:r>
            <a:r>
              <a:rPr lang="zh-CN" altLang="en-US" sz="2000" b="1" dirty="0">
                <a:latin typeface="Arial" panose="020B0604020202020204" pitchFamily="34" charset="0"/>
              </a:rPr>
              <a:t>个寄存器共用 </a:t>
            </a:r>
            <a:r>
              <a:rPr lang="en-US" altLang="zh-CN" sz="2000" b="1" dirty="0">
                <a:latin typeface="Arial" panose="020B0604020202020204" pitchFamily="34" charset="0"/>
              </a:rPr>
              <a:t>2 </a:t>
            </a:r>
            <a:r>
              <a:rPr lang="zh-CN" altLang="en-US" sz="2000" b="1" dirty="0">
                <a:latin typeface="Arial" panose="020B0604020202020204" pitchFamily="34" charset="0"/>
              </a:rPr>
              <a:t>个端口地址。</a:t>
            </a:r>
          </a:p>
        </p:txBody>
      </p:sp>
      <p:sp>
        <p:nvSpPr>
          <p:cNvPr id="9" name="标题 327681"/>
          <p:cNvSpPr txBox="1">
            <a:spLocks/>
          </p:cNvSpPr>
          <p:nvPr/>
        </p:nvSpPr>
        <p:spPr>
          <a:xfrm>
            <a:off x="1547664" y="223838"/>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a:solidFill>
                  <a:srgbClr val="FF0000"/>
                </a:solidFill>
                <a:ea typeface="隶书" panose="02010509060101010101" pitchFamily="49" charset="-122"/>
              </a:rPr>
              <a:t>8.3  可编程中断控制器8259A</a:t>
            </a:r>
            <a:endParaRPr lang="zh-CN" altLang="en-US" sz="3600" b="1" dirty="0">
              <a:solidFill>
                <a:srgbClr val="FF0000"/>
              </a:solidFill>
              <a:ea typeface="隶书" panose="02010509060101010101" pitchFamily="49"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标题 342017"/>
          <p:cNvSpPr>
            <a:spLocks noGrp="1"/>
          </p:cNvSpPr>
          <p:nvPr>
            <p:ph type="title"/>
          </p:nvPr>
        </p:nvSpPr>
        <p:spPr>
          <a:xfrm>
            <a:off x="1547664" y="170363"/>
            <a:ext cx="6696075" cy="431800"/>
          </a:xfrm>
          <a:ln/>
        </p:spPr>
        <p:txBody>
          <a:bodyPr anchor="ctr"/>
          <a:lstStyle/>
          <a:p>
            <a:pPr lvl="0"/>
            <a:r>
              <a:rPr lang="en-US" altLang="en-US" sz="3600" b="1" dirty="0">
                <a:solidFill>
                  <a:srgbClr val="FF0000"/>
                </a:solidFill>
                <a:ea typeface="隶书" panose="02010509060101010101" pitchFamily="49" charset="-122"/>
              </a:rPr>
              <a:t>8.4  8259A在微机中的编程应用</a:t>
            </a:r>
            <a:endParaRPr lang="zh-CN" altLang="en-US" sz="3600" b="1" dirty="0">
              <a:solidFill>
                <a:srgbClr val="FF0000"/>
              </a:solidFill>
              <a:ea typeface="隶书" panose="02010509060101010101" pitchFamily="49" charset="-122"/>
            </a:endParaRPr>
          </a:p>
        </p:txBody>
      </p:sp>
      <p:sp>
        <p:nvSpPr>
          <p:cNvPr id="342019" name="文本框 342018"/>
          <p:cNvSpPr txBox="1"/>
          <p:nvPr/>
        </p:nvSpPr>
        <p:spPr>
          <a:xfrm>
            <a:off x="34777" y="1134269"/>
            <a:ext cx="6049391" cy="757130"/>
          </a:xfrm>
          <a:prstGeom prst="rect">
            <a:avLst/>
          </a:prstGeom>
          <a:noFill/>
          <a:ln w="9525">
            <a:noFill/>
          </a:ln>
        </p:spPr>
        <p:txBody>
          <a:bodyPr wrap="square">
            <a:spAutoFit/>
          </a:bodyPr>
          <a:lstStyle/>
          <a:p>
            <a:pPr marL="342900" lvl="0" indent="-342900">
              <a:lnSpc>
                <a:spcPct val="90000"/>
              </a:lnSpc>
              <a:spcBef>
                <a:spcPct val="50000"/>
              </a:spcBef>
              <a:buClr>
                <a:schemeClr val="hlink"/>
              </a:buClr>
              <a:buSzPct val="110000"/>
              <a:buFont typeface="Wingdings" panose="05000000000000000000" pitchFamily="2" charset="2"/>
              <a:buNone/>
            </a:pPr>
            <a:r>
              <a:rPr lang="en-US" altLang="zh-CN" sz="2400" b="1" dirty="0">
                <a:solidFill>
                  <a:srgbClr val="0000FF"/>
                </a:solidFill>
                <a:latin typeface="Arial" panose="020B0604020202020204" pitchFamily="34" charset="0"/>
              </a:rPr>
              <a:t>【 </a:t>
            </a:r>
            <a:r>
              <a:rPr lang="zh-CN" altLang="en-US" sz="2400" b="1" dirty="0">
                <a:solidFill>
                  <a:srgbClr val="0000FF"/>
                </a:solidFill>
                <a:latin typeface="Arial" panose="020B0604020202020204" pitchFamily="34" charset="0"/>
              </a:rPr>
              <a:t>例 </a:t>
            </a:r>
            <a:r>
              <a:rPr lang="en-US" altLang="zh-CN" sz="2400" b="1" dirty="0">
                <a:solidFill>
                  <a:srgbClr val="0000FF"/>
                </a:solidFill>
                <a:latin typeface="Arial" panose="020B0604020202020204" pitchFamily="34" charset="0"/>
              </a:rPr>
              <a:t>8.7 】 </a:t>
            </a:r>
            <a:r>
              <a:rPr lang="en-US" altLang="zh-CN" sz="2400" b="1" dirty="0">
                <a:latin typeface="Arial" panose="020B0604020202020204" pitchFamily="34" charset="0"/>
              </a:rPr>
              <a:t>8259A </a:t>
            </a:r>
            <a:r>
              <a:rPr lang="zh-CN" altLang="en-US" sz="2400" b="1" dirty="0">
                <a:latin typeface="Arial" panose="020B0604020202020204" pitchFamily="34" charset="0"/>
              </a:rPr>
              <a:t>在 </a:t>
            </a:r>
            <a:r>
              <a:rPr lang="en-US" altLang="zh-CN" sz="2400" b="1" dirty="0">
                <a:latin typeface="Arial" panose="020B0604020202020204" pitchFamily="34" charset="0"/>
              </a:rPr>
              <a:t>IBMPC/AT </a:t>
            </a:r>
            <a:r>
              <a:rPr lang="zh-CN" altLang="en-US" sz="2400" b="1" dirty="0">
                <a:latin typeface="Arial" panose="020B0604020202020204" pitchFamily="34" charset="0"/>
              </a:rPr>
              <a:t>系统中的硬件连接及初始化编程。</a:t>
            </a:r>
          </a:p>
        </p:txBody>
      </p:sp>
      <p:pic>
        <p:nvPicPr>
          <p:cNvPr id="342022" name="图片 342021" descr="wps_clip_image-2763"/>
          <p:cNvPicPr>
            <a:picLocks noChangeAspect="1"/>
          </p:cNvPicPr>
          <p:nvPr/>
        </p:nvPicPr>
        <p:blipFill>
          <a:blip r:embed="rId2"/>
          <a:stretch>
            <a:fillRect/>
          </a:stretch>
        </p:blipFill>
        <p:spPr>
          <a:xfrm>
            <a:off x="16768" y="2060848"/>
            <a:ext cx="6624736" cy="3532082"/>
          </a:xfrm>
          <a:prstGeom prst="rect">
            <a:avLst/>
          </a:prstGeom>
          <a:noFill/>
          <a:ln w="9525">
            <a:noFill/>
          </a:ln>
        </p:spPr>
      </p:pic>
      <p:sp>
        <p:nvSpPr>
          <p:cNvPr id="5" name="文本框 4">
            <a:extLst>
              <a:ext uri="{FF2B5EF4-FFF2-40B4-BE49-F238E27FC236}">
                <a16:creationId xmlns:a16="http://schemas.microsoft.com/office/drawing/2014/main" id="{1B63179E-D475-4918-BA6B-5627DBFE9225}"/>
              </a:ext>
            </a:extLst>
          </p:cNvPr>
          <p:cNvSpPr txBox="1"/>
          <p:nvPr/>
        </p:nvSpPr>
        <p:spPr>
          <a:xfrm>
            <a:off x="250825" y="692696"/>
            <a:ext cx="8642350" cy="463781"/>
          </a:xfrm>
          <a:prstGeom prst="rect">
            <a:avLst/>
          </a:prstGeom>
          <a:noFill/>
          <a:ln w="9525">
            <a:noFill/>
          </a:ln>
        </p:spPr>
        <p:txBody>
          <a:bodyPr>
            <a:spAutoFit/>
          </a:bodyPr>
          <a:lstStyle/>
          <a:p>
            <a:pPr lvl="0" eaLnBrk="0" hangingPunct="0">
              <a:lnSpc>
                <a:spcPct val="110000"/>
              </a:lnSpc>
            </a:pPr>
            <a:r>
              <a:rPr lang="zh-CN" altLang="en-US" sz="2400" b="1" dirty="0">
                <a:latin typeface="Arial" panose="020B0604020202020204" pitchFamily="34" charset="0"/>
              </a:rPr>
              <a:t>一、</a:t>
            </a:r>
            <a:r>
              <a:rPr lang="en-US" altLang="zh-CN" sz="2400" b="1" dirty="0">
                <a:latin typeface="Arial" panose="020B0604020202020204" pitchFamily="34" charset="0"/>
              </a:rPr>
              <a:t>8259A</a:t>
            </a:r>
            <a:r>
              <a:rPr lang="zh-CN" altLang="en-US" sz="2400" b="1" dirty="0">
                <a:latin typeface="Arial" panose="020B0604020202020204" pitchFamily="34" charset="0"/>
              </a:rPr>
              <a:t>在</a:t>
            </a:r>
            <a:r>
              <a:rPr lang="en-US" altLang="zh-CN" sz="2400" b="1" dirty="0">
                <a:latin typeface="Arial" panose="020B0604020202020204" pitchFamily="34" charset="0"/>
              </a:rPr>
              <a:t>IBM PC/AT</a:t>
            </a:r>
            <a:r>
              <a:rPr lang="zh-CN" altLang="en-US" sz="2400" b="1" dirty="0">
                <a:latin typeface="Arial" panose="020B0604020202020204" pitchFamily="34" charset="0"/>
              </a:rPr>
              <a:t>系统中的应用</a:t>
            </a:r>
            <a:endParaRPr lang="en-US" altLang="zh-CN" sz="2400" b="1" dirty="0">
              <a:latin typeface="Arial" panose="020B0604020202020204" pitchFamily="34" charset="0"/>
            </a:endParaRPr>
          </a:p>
        </p:txBody>
      </p:sp>
      <p:sp>
        <p:nvSpPr>
          <p:cNvPr id="6" name="文本框 5">
            <a:extLst>
              <a:ext uri="{FF2B5EF4-FFF2-40B4-BE49-F238E27FC236}">
                <a16:creationId xmlns:a16="http://schemas.microsoft.com/office/drawing/2014/main" id="{E22D52DA-CEFD-4A07-953E-A5C6EC845243}"/>
              </a:ext>
            </a:extLst>
          </p:cNvPr>
          <p:cNvSpPr txBox="1"/>
          <p:nvPr/>
        </p:nvSpPr>
        <p:spPr>
          <a:xfrm>
            <a:off x="6566445" y="1196752"/>
            <a:ext cx="2627784" cy="4801314"/>
          </a:xfrm>
          <a:prstGeom prst="rect">
            <a:avLst/>
          </a:prstGeom>
          <a:noFill/>
        </p:spPr>
        <p:txBody>
          <a:bodyPr wrap="square">
            <a:spAutoFit/>
          </a:bodyPr>
          <a:lstStyle/>
          <a:p>
            <a:pPr marL="285750" indent="-285750">
              <a:buClr>
                <a:srgbClr val="0000FF"/>
              </a:buClr>
              <a:buFont typeface="Wingdings" panose="05000000000000000000" pitchFamily="2" charset="2"/>
              <a:buChar char="p"/>
            </a:pPr>
            <a:r>
              <a:rPr lang="en-US" altLang="zh-CN" sz="1800" b="1" dirty="0">
                <a:latin typeface="Arial" panose="020B0604020202020204" pitchFamily="34" charset="0"/>
              </a:rPr>
              <a:t> IBM PC/AT</a:t>
            </a:r>
            <a:r>
              <a:rPr lang="zh-CN" altLang="en-US" sz="1800" b="1" dirty="0">
                <a:latin typeface="Arial" panose="020B0604020202020204" pitchFamily="34" charset="0"/>
              </a:rPr>
              <a:t>系统共有两片</a:t>
            </a:r>
            <a:r>
              <a:rPr lang="en-US" altLang="zh-CN" sz="1800" b="1" dirty="0">
                <a:latin typeface="Arial" panose="020B0604020202020204" pitchFamily="34" charset="0"/>
              </a:rPr>
              <a:t>8259A</a:t>
            </a:r>
            <a:r>
              <a:rPr lang="zh-CN" altLang="en-US" sz="1800" b="1" dirty="0">
                <a:latin typeface="Arial" panose="020B0604020202020204" pitchFamily="34" charset="0"/>
              </a:rPr>
              <a:t>芯片，从片的</a:t>
            </a:r>
            <a:r>
              <a:rPr lang="en-US" altLang="zh-CN" sz="1800" b="1" dirty="0">
                <a:latin typeface="Arial" panose="020B0604020202020204" pitchFamily="34" charset="0"/>
              </a:rPr>
              <a:t>INT</a:t>
            </a:r>
            <a:r>
              <a:rPr lang="zh-CN" altLang="en-US" sz="1800" b="1" dirty="0">
                <a:latin typeface="Arial" panose="020B0604020202020204" pitchFamily="34" charset="0"/>
              </a:rPr>
              <a:t>引脚直接连到主片的</a:t>
            </a:r>
            <a:r>
              <a:rPr lang="en-US" altLang="zh-CN" sz="1800" b="1" dirty="0">
                <a:latin typeface="Arial" panose="020B0604020202020204" pitchFamily="34" charset="0"/>
              </a:rPr>
              <a:t>IR</a:t>
            </a:r>
            <a:r>
              <a:rPr lang="en-US" altLang="zh-CN" sz="1800" b="1" baseline="-25000" dirty="0">
                <a:latin typeface="Arial" panose="020B0604020202020204" pitchFamily="34" charset="0"/>
              </a:rPr>
              <a:t>2</a:t>
            </a:r>
            <a:r>
              <a:rPr lang="zh-CN" altLang="en-US" sz="1800" b="1" dirty="0">
                <a:latin typeface="Arial" panose="020B0604020202020204" pitchFamily="34" charset="0"/>
              </a:rPr>
              <a:t>引脚，可接收最多</a:t>
            </a:r>
            <a:r>
              <a:rPr lang="en-US" altLang="zh-CN" sz="1800" b="1" dirty="0">
                <a:latin typeface="Arial" panose="020B0604020202020204" pitchFamily="34" charset="0"/>
              </a:rPr>
              <a:t>15</a:t>
            </a:r>
            <a:r>
              <a:rPr lang="zh-CN" altLang="en-US" sz="1800" b="1" dirty="0">
                <a:latin typeface="Arial" panose="020B0604020202020204" pitchFamily="34" charset="0"/>
              </a:rPr>
              <a:t>级中断。</a:t>
            </a:r>
            <a:endParaRPr lang="en-US" altLang="zh-CN" sz="1800" b="1" dirty="0">
              <a:latin typeface="Arial" panose="020B0604020202020204" pitchFamily="34" charset="0"/>
            </a:endParaRPr>
          </a:p>
          <a:p>
            <a:pPr marL="285750" indent="-285750">
              <a:buClr>
                <a:srgbClr val="0000FF"/>
              </a:buClr>
              <a:buFont typeface="Wingdings" panose="05000000000000000000" pitchFamily="2" charset="2"/>
              <a:buChar char="p"/>
            </a:pPr>
            <a:r>
              <a:rPr lang="zh-CN" altLang="en-US" sz="1800" b="1" dirty="0">
                <a:latin typeface="Arial" panose="020B0604020202020204" pitchFamily="34" charset="0"/>
              </a:rPr>
              <a:t>端口地址主片仍然为</a:t>
            </a:r>
            <a:r>
              <a:rPr lang="en-US" altLang="zh-CN" sz="1800" b="1" dirty="0">
                <a:latin typeface="Arial" panose="020B0604020202020204" pitchFamily="34" charset="0"/>
              </a:rPr>
              <a:t>20H</a:t>
            </a:r>
            <a:r>
              <a:rPr lang="zh-CN" altLang="en-US" sz="1800" b="1" dirty="0">
                <a:latin typeface="Arial" panose="020B0604020202020204" pitchFamily="34" charset="0"/>
              </a:rPr>
              <a:t>和</a:t>
            </a:r>
            <a:r>
              <a:rPr lang="en-US" altLang="zh-CN" sz="1800" b="1" dirty="0">
                <a:latin typeface="Arial" panose="020B0604020202020204" pitchFamily="34" charset="0"/>
              </a:rPr>
              <a:t>21H</a:t>
            </a:r>
            <a:r>
              <a:rPr lang="zh-CN" altLang="en-US" sz="1800" b="1" dirty="0">
                <a:latin typeface="Arial" panose="020B0604020202020204" pitchFamily="34" charset="0"/>
              </a:rPr>
              <a:t>，从片为</a:t>
            </a:r>
            <a:r>
              <a:rPr lang="en-US" altLang="zh-CN" sz="1800" b="1" dirty="0">
                <a:latin typeface="Arial" panose="020B0604020202020204" pitchFamily="34" charset="0"/>
              </a:rPr>
              <a:t>0A0H</a:t>
            </a:r>
            <a:r>
              <a:rPr lang="zh-CN" altLang="en-US" sz="1800" b="1" dirty="0">
                <a:latin typeface="Arial" panose="020B0604020202020204" pitchFamily="34" charset="0"/>
              </a:rPr>
              <a:t>和</a:t>
            </a:r>
            <a:r>
              <a:rPr lang="en-US" altLang="zh-CN" sz="1800" b="1" dirty="0">
                <a:latin typeface="Arial" panose="020B0604020202020204" pitchFamily="34" charset="0"/>
              </a:rPr>
              <a:t>0A1H</a:t>
            </a:r>
            <a:r>
              <a:rPr lang="zh-CN" altLang="en-US" sz="1800" b="1" dirty="0">
                <a:latin typeface="Arial" panose="020B0604020202020204" pitchFamily="34" charset="0"/>
              </a:rPr>
              <a:t>。</a:t>
            </a:r>
            <a:endParaRPr lang="en-US" altLang="zh-CN" sz="1800" b="1" dirty="0">
              <a:latin typeface="Arial" panose="020B0604020202020204" pitchFamily="34" charset="0"/>
            </a:endParaRPr>
          </a:p>
          <a:p>
            <a:pPr marL="285750" indent="-285750">
              <a:buClr>
                <a:srgbClr val="0000FF"/>
              </a:buClr>
              <a:buFont typeface="Wingdings" panose="05000000000000000000" pitchFamily="2" charset="2"/>
              <a:buChar char="p"/>
            </a:pPr>
            <a:r>
              <a:rPr lang="zh-CN" altLang="en-US" sz="1800" b="1" dirty="0">
                <a:latin typeface="Arial" panose="020B0604020202020204" pitchFamily="34" charset="0"/>
              </a:rPr>
              <a:t>主、从片均为边沿触发，均采用完全嵌套方式，优先级依次为</a:t>
            </a:r>
            <a:r>
              <a:rPr lang="en-US" altLang="zh-CN" sz="1800" b="1" dirty="0">
                <a:latin typeface="Arial" panose="020B0604020202020204" pitchFamily="34" charset="0"/>
              </a:rPr>
              <a:t>0</a:t>
            </a:r>
            <a:r>
              <a:rPr lang="zh-CN" altLang="en-US" sz="1800" b="1" dirty="0">
                <a:latin typeface="Arial" panose="020B0604020202020204" pitchFamily="34" charset="0"/>
              </a:rPr>
              <a:t>级，</a:t>
            </a:r>
            <a:r>
              <a:rPr lang="en-US" altLang="zh-CN" sz="1800" b="1" dirty="0">
                <a:latin typeface="Arial" panose="020B0604020202020204" pitchFamily="34" charset="0"/>
              </a:rPr>
              <a:t>1</a:t>
            </a:r>
            <a:r>
              <a:rPr lang="zh-CN" altLang="en-US" sz="1800" b="1" dirty="0">
                <a:latin typeface="Arial" panose="020B0604020202020204" pitchFamily="34" charset="0"/>
              </a:rPr>
              <a:t>级，</a:t>
            </a:r>
            <a:r>
              <a:rPr lang="en-US" altLang="zh-CN" sz="1800" b="1" dirty="0">
                <a:latin typeface="Arial" panose="020B0604020202020204" pitchFamily="34" charset="0"/>
              </a:rPr>
              <a:t>8</a:t>
            </a:r>
            <a:r>
              <a:rPr lang="zh-CN" altLang="en-US" sz="1800" b="1" dirty="0">
                <a:latin typeface="Arial" panose="020B0604020202020204" pitchFamily="34" charset="0"/>
              </a:rPr>
              <a:t>～</a:t>
            </a:r>
            <a:r>
              <a:rPr lang="en-US" altLang="zh-CN" sz="1800" b="1" dirty="0">
                <a:latin typeface="Arial" panose="020B0604020202020204" pitchFamily="34" charset="0"/>
              </a:rPr>
              <a:t>15</a:t>
            </a:r>
            <a:r>
              <a:rPr lang="zh-CN" altLang="en-US" sz="1800" b="1" dirty="0">
                <a:latin typeface="Arial" panose="020B0604020202020204" pitchFamily="34" charset="0"/>
              </a:rPr>
              <a:t>级，</a:t>
            </a:r>
            <a:r>
              <a:rPr lang="en-US" altLang="zh-CN" sz="1800" b="1" dirty="0">
                <a:latin typeface="Arial" panose="020B0604020202020204" pitchFamily="34" charset="0"/>
              </a:rPr>
              <a:t>3</a:t>
            </a:r>
            <a:r>
              <a:rPr lang="zh-CN" altLang="en-US" sz="1800" b="1" dirty="0">
                <a:latin typeface="Arial" panose="020B0604020202020204" pitchFamily="34" charset="0"/>
              </a:rPr>
              <a:t>～</a:t>
            </a:r>
            <a:r>
              <a:rPr lang="en-US" altLang="zh-CN" sz="1800" b="1" dirty="0">
                <a:latin typeface="Arial" panose="020B0604020202020204" pitchFamily="34" charset="0"/>
              </a:rPr>
              <a:t>7</a:t>
            </a:r>
            <a:r>
              <a:rPr lang="zh-CN" altLang="en-US" sz="1800" b="1" dirty="0">
                <a:latin typeface="Arial" panose="020B0604020202020204" pitchFamily="34" charset="0"/>
              </a:rPr>
              <a:t>级。系统采用非缓冲方式，主片的中断类型号为</a:t>
            </a:r>
            <a:r>
              <a:rPr lang="en-US" altLang="zh-CN" sz="1800" b="1" dirty="0">
                <a:latin typeface="Arial" panose="020B0604020202020204" pitchFamily="34" charset="0"/>
              </a:rPr>
              <a:t>08H</a:t>
            </a:r>
            <a:r>
              <a:rPr lang="zh-CN" altLang="en-US" sz="1800" b="1" dirty="0">
                <a:latin typeface="Arial" panose="020B0604020202020204" pitchFamily="34" charset="0"/>
              </a:rPr>
              <a:t>～</a:t>
            </a:r>
            <a:r>
              <a:rPr lang="en-US" altLang="zh-CN" sz="1800" b="1" dirty="0">
                <a:latin typeface="Arial" panose="020B0604020202020204" pitchFamily="34" charset="0"/>
              </a:rPr>
              <a:t>0FH</a:t>
            </a:r>
            <a:r>
              <a:rPr lang="zh-CN" altLang="en-US" sz="1800" b="1" dirty="0">
                <a:latin typeface="Arial" panose="020B0604020202020204" pitchFamily="34" charset="0"/>
              </a:rPr>
              <a:t>，从片的中断类型号为</a:t>
            </a:r>
            <a:r>
              <a:rPr lang="en-US" altLang="zh-CN" sz="1800" b="1" dirty="0">
                <a:latin typeface="Arial" panose="020B0604020202020204" pitchFamily="34" charset="0"/>
              </a:rPr>
              <a:t>70H</a:t>
            </a:r>
            <a:r>
              <a:rPr lang="zh-CN" altLang="en-US" sz="1800" b="1" dirty="0">
                <a:latin typeface="Arial" panose="020B0604020202020204" pitchFamily="34" charset="0"/>
              </a:rPr>
              <a:t>～</a:t>
            </a:r>
            <a:r>
              <a:rPr lang="en-US" altLang="zh-CN" sz="1800" b="1" dirty="0">
                <a:latin typeface="Arial" panose="020B0604020202020204" pitchFamily="34" charset="0"/>
              </a:rPr>
              <a:t>77H</a:t>
            </a:r>
            <a:r>
              <a:rPr lang="zh-CN" altLang="en-US" sz="1800" b="1" dirty="0">
                <a:latin typeface="Arial" panose="020B0604020202020204" pitchFamily="34" charset="0"/>
              </a:rPr>
              <a:t>。</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标题 343041"/>
          <p:cNvSpPr>
            <a:spLocks noGrp="1"/>
          </p:cNvSpPr>
          <p:nvPr>
            <p:ph type="title"/>
          </p:nvPr>
        </p:nvSpPr>
        <p:spPr>
          <a:xfrm>
            <a:off x="1691680" y="188640"/>
            <a:ext cx="6696075" cy="431800"/>
          </a:xfrm>
          <a:ln/>
        </p:spPr>
        <p:txBody>
          <a:bodyPr anchor="ctr"/>
          <a:lstStyle/>
          <a:p>
            <a:pPr lvl="0"/>
            <a:r>
              <a:rPr lang="en-US" altLang="en-US" sz="3600" b="1" dirty="0">
                <a:solidFill>
                  <a:srgbClr val="FF0000"/>
                </a:solidFill>
                <a:ea typeface="隶书" panose="02010509060101010101" pitchFamily="49" charset="-122"/>
              </a:rPr>
              <a:t>8.4  8259A在微机中的编程应用</a:t>
            </a:r>
            <a:endParaRPr lang="zh-CN" altLang="en-US" sz="3600" b="1" dirty="0">
              <a:solidFill>
                <a:srgbClr val="FF0000"/>
              </a:solidFill>
              <a:ea typeface="隶书" panose="02010509060101010101" pitchFamily="49" charset="-122"/>
            </a:endParaRPr>
          </a:p>
        </p:txBody>
      </p:sp>
      <p:sp>
        <p:nvSpPr>
          <p:cNvPr id="343043" name="文本框 343042"/>
          <p:cNvSpPr txBox="1"/>
          <p:nvPr/>
        </p:nvSpPr>
        <p:spPr>
          <a:xfrm>
            <a:off x="468313" y="692150"/>
            <a:ext cx="8208962" cy="6078587"/>
          </a:xfrm>
          <a:prstGeom prst="rect">
            <a:avLst/>
          </a:prstGeom>
          <a:noFill/>
          <a:ln w="9525">
            <a:noFill/>
          </a:ln>
        </p:spPr>
        <p:txBody>
          <a:bodyPr>
            <a:spAutoFit/>
          </a:bodyPr>
          <a:lstStyle/>
          <a:p>
            <a:pPr marL="342900" lvl="0" indent="-342900">
              <a:spcBef>
                <a:spcPct val="50000"/>
              </a:spcBef>
              <a:buClr>
                <a:schemeClr val="hlink"/>
              </a:buClr>
              <a:buSzPct val="110000"/>
              <a:buFont typeface="Wingdings" panose="05000000000000000000" pitchFamily="2" charset="2"/>
              <a:buNone/>
            </a:pPr>
            <a:r>
              <a:rPr lang="zh-CN" altLang="en-US" sz="2000" dirty="0">
                <a:solidFill>
                  <a:srgbClr val="000000"/>
                </a:solidFill>
                <a:latin typeface="Tahoma" panose="020B0604030504040204" pitchFamily="34" charset="0"/>
                <a:ea typeface="宋体" panose="02010600030101010101" pitchFamily="2" charset="-122"/>
              </a:rPr>
              <a:t>根据系统要求和硬件连接图，</a:t>
            </a:r>
            <a:r>
              <a:rPr lang="en-US" altLang="zh-CN" sz="2000" dirty="0">
                <a:solidFill>
                  <a:srgbClr val="000000"/>
                </a:solidFill>
                <a:latin typeface="Tahoma" panose="020B0604030504040204" pitchFamily="34" charset="0"/>
                <a:ea typeface="宋体" panose="02010600030101010101" pitchFamily="2" charset="-122"/>
              </a:rPr>
              <a:t>8259A</a:t>
            </a:r>
            <a:r>
              <a:rPr lang="zh-CN" altLang="en-US" sz="2000" dirty="0">
                <a:solidFill>
                  <a:srgbClr val="000000"/>
                </a:solidFill>
                <a:latin typeface="Tahoma" panose="020B0604030504040204" pitchFamily="34" charset="0"/>
                <a:ea typeface="宋体" panose="02010600030101010101" pitchFamily="2" charset="-122"/>
              </a:rPr>
              <a:t>的主片和从片初始化程序段如下：</a:t>
            </a:r>
          </a:p>
          <a:p>
            <a:pPr marL="342900" lvl="0" indent="-342900">
              <a:spcBef>
                <a:spcPct val="50000"/>
              </a:spcBef>
              <a:buClr>
                <a:schemeClr val="hlink"/>
              </a:buClr>
              <a:buSzPct val="110000"/>
              <a:buFont typeface="Wingdings" panose="05000000000000000000" pitchFamily="2" charset="2"/>
              <a:buNone/>
            </a:pPr>
            <a:r>
              <a:rPr lang="zh-CN" altLang="en-US" sz="1800" dirty="0">
                <a:solidFill>
                  <a:srgbClr val="000000"/>
                </a:solidFill>
                <a:latin typeface="Tahoma" panose="020B0604030504040204" pitchFamily="34" charset="0"/>
                <a:ea typeface="宋体" panose="02010600030101010101" pitchFamily="2" charset="-122"/>
              </a:rPr>
              <a:t>；初始化主片</a:t>
            </a:r>
          </a:p>
          <a:p>
            <a:pPr marL="342900" lvl="0" indent="-342900">
              <a:spcBef>
                <a:spcPct val="50000"/>
              </a:spcBef>
              <a:buClr>
                <a:schemeClr val="hlink"/>
              </a:buClr>
              <a:buSzPct val="110000"/>
              <a:buFont typeface="Wingdings" panose="05000000000000000000" pitchFamily="2" charset="2"/>
              <a:buNone/>
            </a:pPr>
            <a:r>
              <a:rPr lang="en-US" altLang="zh-CN" sz="1800" dirty="0">
                <a:solidFill>
                  <a:srgbClr val="0000FF"/>
                </a:solidFill>
                <a:latin typeface="Tahoma" panose="020B0604030504040204" pitchFamily="34" charset="0"/>
                <a:ea typeface="宋体" panose="02010600030101010101" pitchFamily="2" charset="-122"/>
              </a:rPr>
              <a:t>INTA00	EQU	20H</a:t>
            </a:r>
          </a:p>
          <a:p>
            <a:pPr marL="342900" lvl="0" indent="-342900">
              <a:spcBef>
                <a:spcPct val="50000"/>
              </a:spcBef>
              <a:buClr>
                <a:schemeClr val="hlink"/>
              </a:buClr>
              <a:buSzPct val="110000"/>
              <a:buFont typeface="Wingdings" panose="05000000000000000000" pitchFamily="2" charset="2"/>
              <a:buNone/>
            </a:pPr>
            <a:r>
              <a:rPr lang="en-US" altLang="zh-CN" sz="1800" dirty="0">
                <a:solidFill>
                  <a:srgbClr val="0000FF"/>
                </a:solidFill>
                <a:latin typeface="Tahoma" panose="020B0604030504040204" pitchFamily="34" charset="0"/>
                <a:ea typeface="宋体" panose="02010600030101010101" pitchFamily="2" charset="-122"/>
              </a:rPr>
              <a:t>INTA01	EQU	21H</a:t>
            </a:r>
          </a:p>
          <a:p>
            <a:pPr marL="342900" lvl="0" indent="-342900">
              <a:spcBef>
                <a:spcPct val="50000"/>
              </a:spcBef>
              <a:buClr>
                <a:schemeClr val="hlink"/>
              </a:buClr>
              <a:buSzPct val="110000"/>
              <a:buFont typeface="Wingdings" panose="05000000000000000000" pitchFamily="2" charset="2"/>
              <a:buNone/>
            </a:pPr>
            <a:r>
              <a:rPr lang="en-US" altLang="zh-CN" sz="1800" dirty="0">
                <a:solidFill>
                  <a:srgbClr val="0000FF"/>
                </a:solidFill>
                <a:latin typeface="Tahoma" panose="020B0604030504040204" pitchFamily="34" charset="0"/>
                <a:ea typeface="宋体" panose="02010600030101010101" pitchFamily="2" charset="-122"/>
              </a:rPr>
              <a:t>…</a:t>
            </a:r>
          </a:p>
          <a:p>
            <a:pPr marL="342900" lvl="0" indent="-342900">
              <a:spcBef>
                <a:spcPct val="50000"/>
              </a:spcBef>
              <a:buClr>
                <a:schemeClr val="hlink"/>
              </a:buClr>
              <a:buSzPct val="110000"/>
              <a:buFont typeface="Wingdings" panose="05000000000000000000" pitchFamily="2" charset="2"/>
              <a:buNone/>
            </a:pPr>
            <a:r>
              <a:rPr lang="en-US" altLang="zh-CN" sz="1800" dirty="0">
                <a:solidFill>
                  <a:srgbClr val="0000FF"/>
                </a:solidFill>
                <a:latin typeface="Tahoma" panose="020B0604030504040204" pitchFamily="34" charset="0"/>
                <a:ea typeface="宋体" panose="02010600030101010101" pitchFamily="2" charset="-122"/>
              </a:rPr>
              <a:t>MOV    AL, 00010001B        ;</a:t>
            </a:r>
            <a:r>
              <a:rPr lang="zh-CN" altLang="en-US" sz="1800" dirty="0">
                <a:solidFill>
                  <a:srgbClr val="0000FF"/>
                </a:solidFill>
                <a:latin typeface="Tahoma" panose="020B0604030504040204" pitchFamily="34" charset="0"/>
                <a:ea typeface="宋体" panose="02010600030101010101" pitchFamily="2" charset="-122"/>
              </a:rPr>
              <a:t>设置</a:t>
            </a:r>
            <a:r>
              <a:rPr lang="en-US" altLang="zh-CN" sz="1800" dirty="0">
                <a:solidFill>
                  <a:srgbClr val="0000FF"/>
                </a:solidFill>
                <a:latin typeface="Tahoma" panose="020B0604030504040204" pitchFamily="34" charset="0"/>
                <a:ea typeface="宋体" panose="02010600030101010101" pitchFamily="2" charset="-122"/>
              </a:rPr>
              <a:t>ICW</a:t>
            </a:r>
            <a:r>
              <a:rPr lang="en-US" altLang="zh-CN" sz="1800" baseline="-25000" dirty="0">
                <a:solidFill>
                  <a:srgbClr val="0000FF"/>
                </a:solidFill>
                <a:latin typeface="Tahoma" panose="020B0604030504040204" pitchFamily="34" charset="0"/>
                <a:ea typeface="宋体" panose="02010600030101010101" pitchFamily="2" charset="-122"/>
              </a:rPr>
              <a:t>1</a:t>
            </a:r>
            <a:r>
              <a:rPr lang="zh-CN" altLang="en-US" sz="1800" dirty="0">
                <a:solidFill>
                  <a:srgbClr val="0000FF"/>
                </a:solidFill>
                <a:latin typeface="Tahoma" panose="020B0604030504040204" pitchFamily="34" charset="0"/>
                <a:ea typeface="宋体" panose="02010600030101010101" pitchFamily="2" charset="-122"/>
              </a:rPr>
              <a:t>为边沿触发，多片 </a:t>
            </a:r>
            <a:r>
              <a:rPr lang="en-US" altLang="zh-CN" sz="1800" dirty="0">
                <a:solidFill>
                  <a:srgbClr val="0000FF"/>
                </a:solidFill>
                <a:latin typeface="Tahoma" panose="020B0604030504040204" pitchFamily="34" charset="0"/>
                <a:ea typeface="宋体" panose="02010600030101010101" pitchFamily="2" charset="-122"/>
              </a:rPr>
              <a:t>8259A</a:t>
            </a:r>
            <a:r>
              <a:rPr lang="zh-CN" altLang="en-US" sz="1800" dirty="0">
                <a:solidFill>
                  <a:srgbClr val="0000FF"/>
                </a:solidFill>
                <a:latin typeface="Tahoma" panose="020B0604030504040204" pitchFamily="34" charset="0"/>
                <a:ea typeface="宋体" panose="02010600030101010101" pitchFamily="2" charset="-122"/>
              </a:rPr>
              <a:t>，需要</a:t>
            </a:r>
            <a:r>
              <a:rPr lang="en-US" altLang="zh-CN" sz="1800" dirty="0">
                <a:solidFill>
                  <a:srgbClr val="0000FF"/>
                </a:solidFill>
                <a:latin typeface="Tahoma" panose="020B0604030504040204" pitchFamily="34" charset="0"/>
                <a:ea typeface="宋体" panose="02010600030101010101" pitchFamily="2" charset="-122"/>
              </a:rPr>
              <a:t>ICW</a:t>
            </a:r>
            <a:r>
              <a:rPr lang="en-US" altLang="zh-CN" sz="1800" baseline="-25000" dirty="0">
                <a:solidFill>
                  <a:srgbClr val="0000FF"/>
                </a:solidFill>
                <a:latin typeface="Tahoma" panose="020B0604030504040204" pitchFamily="34" charset="0"/>
                <a:ea typeface="宋体" panose="02010600030101010101" pitchFamily="2" charset="-122"/>
              </a:rPr>
              <a:t>4</a:t>
            </a:r>
            <a:r>
              <a:rPr lang="en-US" altLang="zh-CN" sz="1800" dirty="0">
                <a:solidFill>
                  <a:srgbClr val="0000FF"/>
                </a:solidFill>
                <a:latin typeface="Tahoma" panose="020B0604030504040204" pitchFamily="34" charset="0"/>
                <a:ea typeface="宋体" panose="02010600030101010101" pitchFamily="2" charset="-122"/>
              </a:rPr>
              <a:t> </a:t>
            </a:r>
          </a:p>
          <a:p>
            <a:pPr marL="342900" lvl="0" indent="-342900">
              <a:spcBef>
                <a:spcPct val="50000"/>
              </a:spcBef>
              <a:buClr>
                <a:schemeClr val="hlink"/>
              </a:buClr>
              <a:buSzPct val="110000"/>
              <a:buFont typeface="Wingdings" panose="05000000000000000000" pitchFamily="2" charset="2"/>
              <a:buNone/>
            </a:pPr>
            <a:r>
              <a:rPr lang="en-US" altLang="zh-CN" sz="1800" dirty="0">
                <a:solidFill>
                  <a:srgbClr val="0000FF"/>
                </a:solidFill>
                <a:latin typeface="Tahoma" panose="020B0604030504040204" pitchFamily="34" charset="0"/>
                <a:ea typeface="宋体" panose="02010600030101010101" pitchFamily="2" charset="-122"/>
              </a:rPr>
              <a:t>OUT     INTA00, AL                 	</a:t>
            </a:r>
          </a:p>
          <a:p>
            <a:pPr marL="342900" lvl="0" indent="-342900">
              <a:spcBef>
                <a:spcPct val="50000"/>
              </a:spcBef>
              <a:buClr>
                <a:schemeClr val="hlink"/>
              </a:buClr>
              <a:buSzPct val="110000"/>
              <a:buFont typeface="Wingdings" panose="05000000000000000000" pitchFamily="2" charset="2"/>
              <a:buNone/>
            </a:pPr>
            <a:r>
              <a:rPr lang="en-US" altLang="zh-CN" sz="1800" dirty="0">
                <a:solidFill>
                  <a:srgbClr val="0000FF"/>
                </a:solidFill>
                <a:latin typeface="Tahoma" panose="020B0604030504040204" pitchFamily="34" charset="0"/>
                <a:ea typeface="宋体" panose="02010600030101010101" pitchFamily="2" charset="-122"/>
              </a:rPr>
              <a:t>MOV    AL, 00001000B  	 ;</a:t>
            </a:r>
            <a:r>
              <a:rPr lang="zh-CN" altLang="en-US" sz="1800" dirty="0">
                <a:solidFill>
                  <a:srgbClr val="0000FF"/>
                </a:solidFill>
                <a:latin typeface="Tahoma" panose="020B0604030504040204" pitchFamily="34" charset="0"/>
                <a:ea typeface="宋体" panose="02010600030101010101" pitchFamily="2" charset="-122"/>
              </a:rPr>
              <a:t>设置</a:t>
            </a:r>
            <a:r>
              <a:rPr lang="en-US" altLang="zh-CN" sz="1800" dirty="0">
                <a:solidFill>
                  <a:srgbClr val="0000FF"/>
                </a:solidFill>
                <a:latin typeface="Tahoma" panose="020B0604030504040204" pitchFamily="34" charset="0"/>
                <a:ea typeface="宋体" panose="02010600030101010101" pitchFamily="2" charset="-122"/>
              </a:rPr>
              <a:t>ICW</a:t>
            </a:r>
            <a:r>
              <a:rPr lang="en-US" altLang="zh-CN" sz="1800" baseline="-25000" dirty="0">
                <a:solidFill>
                  <a:srgbClr val="0000FF"/>
                </a:solidFill>
                <a:latin typeface="Tahoma" panose="020B0604030504040204" pitchFamily="34" charset="0"/>
                <a:ea typeface="宋体" panose="02010600030101010101" pitchFamily="2" charset="-122"/>
              </a:rPr>
              <a:t>2</a:t>
            </a:r>
            <a:r>
              <a:rPr lang="zh-CN" altLang="en-US" sz="1800" dirty="0">
                <a:solidFill>
                  <a:srgbClr val="0000FF"/>
                </a:solidFill>
                <a:latin typeface="Tahoma" panose="020B0604030504040204" pitchFamily="34" charset="0"/>
                <a:ea typeface="宋体" panose="02010600030101010101" pitchFamily="2" charset="-122"/>
              </a:rPr>
              <a:t>中断类型码基数为</a:t>
            </a:r>
            <a:r>
              <a:rPr lang="en-US" altLang="zh-CN" sz="1800" dirty="0">
                <a:solidFill>
                  <a:srgbClr val="0000FF"/>
                </a:solidFill>
                <a:latin typeface="Tahoma" panose="020B0604030504040204" pitchFamily="34" charset="0"/>
                <a:ea typeface="宋体" panose="02010600030101010101" pitchFamily="2" charset="-122"/>
              </a:rPr>
              <a:t>08H</a:t>
            </a:r>
          </a:p>
          <a:p>
            <a:pPr marL="342900" lvl="0" indent="-342900">
              <a:spcBef>
                <a:spcPct val="50000"/>
              </a:spcBef>
              <a:buClr>
                <a:schemeClr val="hlink"/>
              </a:buClr>
              <a:buSzPct val="110000"/>
              <a:buFont typeface="Wingdings" panose="05000000000000000000" pitchFamily="2" charset="2"/>
              <a:buNone/>
            </a:pPr>
            <a:r>
              <a:rPr lang="en-US" altLang="zh-CN" sz="1800" dirty="0">
                <a:solidFill>
                  <a:srgbClr val="0000FF"/>
                </a:solidFill>
                <a:latin typeface="Tahoma" panose="020B0604030504040204" pitchFamily="34" charset="0"/>
                <a:ea typeface="宋体" panose="02010600030101010101" pitchFamily="2" charset="-122"/>
              </a:rPr>
              <a:t>OUT     INTA01, AL    	 ;</a:t>
            </a:r>
            <a:r>
              <a:rPr lang="zh-CN" altLang="en-US" sz="1800" dirty="0">
                <a:solidFill>
                  <a:srgbClr val="0000FF"/>
                </a:solidFill>
                <a:latin typeface="Tahoma" panose="020B0604030504040204" pitchFamily="34" charset="0"/>
                <a:ea typeface="宋体" panose="02010600030101010101" pitchFamily="2" charset="-122"/>
              </a:rPr>
              <a:t>可响应的</a:t>
            </a:r>
            <a:r>
              <a:rPr lang="en-US" altLang="zh-CN" sz="1800" dirty="0">
                <a:solidFill>
                  <a:srgbClr val="0000FF"/>
                </a:solidFill>
                <a:latin typeface="Tahoma" panose="020B0604030504040204" pitchFamily="34" charset="0"/>
                <a:ea typeface="宋体" panose="02010600030101010101" pitchFamily="2" charset="-122"/>
              </a:rPr>
              <a:t>8</a:t>
            </a:r>
            <a:r>
              <a:rPr lang="zh-CN" altLang="en-US" sz="1800" dirty="0">
                <a:solidFill>
                  <a:srgbClr val="0000FF"/>
                </a:solidFill>
                <a:latin typeface="Tahoma" panose="020B0604030504040204" pitchFamily="34" charset="0"/>
                <a:ea typeface="宋体" panose="02010600030101010101" pitchFamily="2" charset="-122"/>
              </a:rPr>
              <a:t>个中断类型码为</a:t>
            </a:r>
            <a:r>
              <a:rPr lang="en-US" altLang="zh-CN" sz="1800" dirty="0">
                <a:solidFill>
                  <a:srgbClr val="0000FF"/>
                </a:solidFill>
                <a:latin typeface="Tahoma" panose="020B0604030504040204" pitchFamily="34" charset="0"/>
                <a:ea typeface="宋体" panose="02010600030101010101" pitchFamily="2" charset="-122"/>
              </a:rPr>
              <a:t>08H</a:t>
            </a:r>
            <a:r>
              <a:rPr lang="zh-CN" altLang="en-US" sz="1800" dirty="0">
                <a:solidFill>
                  <a:srgbClr val="0000FF"/>
                </a:solidFill>
                <a:latin typeface="Tahoma" panose="020B0604030504040204" pitchFamily="34" charset="0"/>
                <a:ea typeface="宋体" panose="02010600030101010101" pitchFamily="2" charset="-122"/>
              </a:rPr>
              <a:t>～</a:t>
            </a:r>
            <a:r>
              <a:rPr lang="en-US" altLang="zh-CN" sz="1800" dirty="0">
                <a:solidFill>
                  <a:srgbClr val="0000FF"/>
                </a:solidFill>
                <a:latin typeface="Tahoma" panose="020B0604030504040204" pitchFamily="34" charset="0"/>
                <a:ea typeface="宋体" panose="02010600030101010101" pitchFamily="2" charset="-122"/>
              </a:rPr>
              <a:t>0FH</a:t>
            </a:r>
          </a:p>
          <a:p>
            <a:pPr marL="342900" lvl="0" indent="-342900">
              <a:spcBef>
                <a:spcPct val="50000"/>
              </a:spcBef>
              <a:buClr>
                <a:schemeClr val="hlink"/>
              </a:buClr>
              <a:buSzPct val="110000"/>
              <a:buFont typeface="Wingdings" panose="05000000000000000000" pitchFamily="2" charset="2"/>
              <a:buNone/>
            </a:pPr>
            <a:r>
              <a:rPr lang="en-US" altLang="zh-CN" sz="1800" dirty="0">
                <a:solidFill>
                  <a:srgbClr val="0000FF"/>
                </a:solidFill>
                <a:latin typeface="Tahoma" panose="020B0604030504040204" pitchFamily="34" charset="0"/>
                <a:ea typeface="宋体" panose="02010600030101010101" pitchFamily="2" charset="-122"/>
              </a:rPr>
              <a:t>MOV    AL, 00000100B	 ;</a:t>
            </a:r>
            <a:r>
              <a:rPr lang="zh-CN" altLang="en-US" sz="1800" dirty="0">
                <a:solidFill>
                  <a:srgbClr val="0000FF"/>
                </a:solidFill>
                <a:latin typeface="Tahoma" panose="020B0604030504040204" pitchFamily="34" charset="0"/>
                <a:ea typeface="宋体" panose="02010600030101010101" pitchFamily="2" charset="-122"/>
              </a:rPr>
              <a:t>主片</a:t>
            </a:r>
            <a:r>
              <a:rPr lang="en-US" altLang="zh-CN" sz="1800" dirty="0">
                <a:solidFill>
                  <a:srgbClr val="0000FF"/>
                </a:solidFill>
                <a:latin typeface="Tahoma" panose="020B0604030504040204" pitchFamily="34" charset="0"/>
                <a:ea typeface="宋体" panose="02010600030101010101" pitchFamily="2" charset="-122"/>
              </a:rPr>
              <a:t>IR</a:t>
            </a:r>
            <a:r>
              <a:rPr lang="en-US" altLang="zh-CN" sz="1800" baseline="-25000" dirty="0">
                <a:solidFill>
                  <a:srgbClr val="0000FF"/>
                </a:solidFill>
                <a:latin typeface="Tahoma" panose="020B0604030504040204" pitchFamily="34" charset="0"/>
                <a:ea typeface="宋体" panose="02010600030101010101" pitchFamily="2" charset="-122"/>
              </a:rPr>
              <a:t>2</a:t>
            </a:r>
            <a:r>
              <a:rPr lang="zh-CN" altLang="en-US" sz="1800" dirty="0">
                <a:solidFill>
                  <a:srgbClr val="0000FF"/>
                </a:solidFill>
                <a:latin typeface="Tahoma" panose="020B0604030504040204" pitchFamily="34" charset="0"/>
                <a:ea typeface="宋体" panose="02010600030101010101" pitchFamily="2" charset="-122"/>
              </a:rPr>
              <a:t>引脚上接从片</a:t>
            </a:r>
          </a:p>
          <a:p>
            <a:pPr marL="342900" lvl="0" indent="-342900">
              <a:spcBef>
                <a:spcPct val="50000"/>
              </a:spcBef>
              <a:buClr>
                <a:schemeClr val="hlink"/>
              </a:buClr>
              <a:buSzPct val="110000"/>
              <a:buFont typeface="Wingdings" panose="05000000000000000000" pitchFamily="2" charset="2"/>
              <a:buNone/>
            </a:pPr>
            <a:r>
              <a:rPr lang="en-US" altLang="zh-CN" sz="1800" dirty="0">
                <a:solidFill>
                  <a:srgbClr val="0000FF"/>
                </a:solidFill>
                <a:latin typeface="Tahoma" panose="020B0604030504040204" pitchFamily="34" charset="0"/>
                <a:ea typeface="宋体" panose="02010600030101010101" pitchFamily="2" charset="-122"/>
              </a:rPr>
              <a:t>OUT     INTA01, AL</a:t>
            </a:r>
          </a:p>
          <a:p>
            <a:pPr marL="342900" lvl="0" indent="-342900">
              <a:spcBef>
                <a:spcPct val="50000"/>
              </a:spcBef>
              <a:buClr>
                <a:schemeClr val="hlink"/>
              </a:buClr>
              <a:buSzPct val="110000"/>
              <a:buFont typeface="Wingdings" panose="05000000000000000000" pitchFamily="2" charset="2"/>
              <a:buNone/>
            </a:pPr>
            <a:r>
              <a:rPr lang="en-US" altLang="zh-CN" sz="1800" dirty="0">
                <a:solidFill>
                  <a:srgbClr val="0000FF"/>
                </a:solidFill>
                <a:latin typeface="Tahoma" panose="020B0604030504040204" pitchFamily="34" charset="0"/>
                <a:ea typeface="宋体" panose="02010600030101010101" pitchFamily="2" charset="-122"/>
              </a:rPr>
              <a:t>MOV    AL, 00000001B        ;</a:t>
            </a:r>
            <a:r>
              <a:rPr lang="zh-CN" altLang="en-US" sz="1800" dirty="0">
                <a:solidFill>
                  <a:srgbClr val="0000FF"/>
                </a:solidFill>
                <a:latin typeface="Tahoma" panose="020B0604030504040204" pitchFamily="34" charset="0"/>
                <a:ea typeface="宋体" panose="02010600030101010101" pitchFamily="2" charset="-122"/>
              </a:rPr>
              <a:t>设置</a:t>
            </a:r>
            <a:r>
              <a:rPr lang="en-US" altLang="zh-CN" sz="1800" dirty="0">
                <a:solidFill>
                  <a:srgbClr val="0000FF"/>
                </a:solidFill>
                <a:latin typeface="Tahoma" panose="020B0604030504040204" pitchFamily="34" charset="0"/>
                <a:ea typeface="宋体" panose="02010600030101010101" pitchFamily="2" charset="-122"/>
              </a:rPr>
              <a:t>ICW</a:t>
            </a:r>
            <a:r>
              <a:rPr lang="en-US" altLang="zh-CN" sz="1800" baseline="-25000" dirty="0">
                <a:solidFill>
                  <a:srgbClr val="0000FF"/>
                </a:solidFill>
                <a:latin typeface="Tahoma" panose="020B0604030504040204" pitchFamily="34" charset="0"/>
                <a:ea typeface="宋体" panose="02010600030101010101" pitchFamily="2" charset="-122"/>
              </a:rPr>
              <a:t>4</a:t>
            </a:r>
            <a:r>
              <a:rPr lang="zh-CN" altLang="en-US" sz="1800" dirty="0">
                <a:solidFill>
                  <a:srgbClr val="0000FF"/>
                </a:solidFill>
                <a:latin typeface="Tahoma" panose="020B0604030504040204" pitchFamily="34" charset="0"/>
                <a:ea typeface="宋体" panose="02010600030101010101" pitchFamily="2" charset="-122"/>
              </a:rPr>
              <a:t>为</a:t>
            </a:r>
            <a:r>
              <a:rPr lang="en-US" altLang="zh-CN" sz="1800" dirty="0">
                <a:solidFill>
                  <a:srgbClr val="0000FF"/>
                </a:solidFill>
                <a:latin typeface="Tahoma" panose="020B0604030504040204" pitchFamily="34" charset="0"/>
                <a:ea typeface="宋体" panose="02010600030101010101" pitchFamily="2" charset="-122"/>
              </a:rPr>
              <a:t>8086/8088</a:t>
            </a:r>
            <a:r>
              <a:rPr lang="zh-CN" altLang="en-US" sz="1800" dirty="0">
                <a:solidFill>
                  <a:srgbClr val="0000FF"/>
                </a:solidFill>
                <a:latin typeface="Tahoma" panose="020B0604030504040204" pitchFamily="34" charset="0"/>
                <a:ea typeface="宋体" panose="02010600030101010101" pitchFamily="2" charset="-122"/>
              </a:rPr>
              <a:t>模式，普通</a:t>
            </a:r>
            <a:r>
              <a:rPr lang="en-US" altLang="zh-CN" sz="1800" dirty="0">
                <a:solidFill>
                  <a:srgbClr val="0000FF"/>
                </a:solidFill>
                <a:latin typeface="Tahoma" panose="020B0604030504040204" pitchFamily="34" charset="0"/>
                <a:ea typeface="宋体" panose="02010600030101010101" pitchFamily="2" charset="-122"/>
              </a:rPr>
              <a:t>EOI</a:t>
            </a:r>
            <a:r>
              <a:rPr lang="zh-CN" altLang="en-US" sz="1800" dirty="0">
                <a:solidFill>
                  <a:srgbClr val="0000FF"/>
                </a:solidFill>
                <a:latin typeface="Tahoma" panose="020B0604030504040204" pitchFamily="34" charset="0"/>
                <a:ea typeface="宋体" panose="02010600030101010101" pitchFamily="2" charset="-122"/>
              </a:rPr>
              <a:t>，非缓冲方			  </a:t>
            </a:r>
            <a:r>
              <a:rPr lang="en-US" altLang="zh-CN" sz="1800" dirty="0">
                <a:solidFill>
                  <a:srgbClr val="0000FF"/>
                </a:solidFill>
                <a:latin typeface="Tahoma" panose="020B0604030504040204" pitchFamily="34" charset="0"/>
                <a:ea typeface="宋体" panose="02010600030101010101" pitchFamily="2" charset="-122"/>
              </a:rPr>
              <a:t>;</a:t>
            </a:r>
            <a:r>
              <a:rPr lang="zh-CN" altLang="en-US" sz="1800" dirty="0">
                <a:solidFill>
                  <a:srgbClr val="0000FF"/>
                </a:solidFill>
                <a:latin typeface="Tahoma" panose="020B0604030504040204" pitchFamily="34" charset="0"/>
                <a:ea typeface="宋体" panose="02010600030101010101" pitchFamily="2" charset="-122"/>
              </a:rPr>
              <a:t>式，完全嵌套方式</a:t>
            </a:r>
          </a:p>
          <a:p>
            <a:pPr marL="342900" lvl="0" indent="-342900">
              <a:spcBef>
                <a:spcPct val="50000"/>
              </a:spcBef>
              <a:buClr>
                <a:schemeClr val="hlink"/>
              </a:buClr>
              <a:buSzPct val="110000"/>
              <a:buFont typeface="Wingdings" panose="05000000000000000000" pitchFamily="2" charset="2"/>
              <a:buNone/>
            </a:pPr>
            <a:r>
              <a:rPr lang="en-US" altLang="zh-CN" sz="1800" dirty="0">
                <a:solidFill>
                  <a:srgbClr val="0000FF"/>
                </a:solidFill>
                <a:latin typeface="Tahoma" panose="020B0604030504040204" pitchFamily="34" charset="0"/>
                <a:ea typeface="宋体" panose="02010600030101010101" pitchFamily="2" charset="-122"/>
              </a:rPr>
              <a:t>OUT     INTA01, AL              	</a:t>
            </a:r>
          </a:p>
          <a:p>
            <a:pPr marL="342900" lvl="0" indent="-342900">
              <a:spcBef>
                <a:spcPct val="50000"/>
              </a:spcBef>
              <a:buClr>
                <a:schemeClr val="hlink"/>
              </a:buClr>
              <a:buSzPct val="110000"/>
              <a:buFont typeface="Wingdings" panose="05000000000000000000" pitchFamily="2" charset="2"/>
              <a:buNone/>
            </a:pPr>
            <a:r>
              <a:rPr lang="en-US" altLang="zh-CN" sz="1800" dirty="0">
                <a:solidFill>
                  <a:srgbClr val="0000FF"/>
                </a:solidFill>
                <a:latin typeface="Tahoma" panose="020B0604030504040204" pitchFamily="34" charset="0"/>
                <a:ea typeface="宋体" panose="02010600030101010101" pitchFamily="2" charset="-122"/>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标题 344065"/>
          <p:cNvSpPr>
            <a:spLocks noGrp="1"/>
          </p:cNvSpPr>
          <p:nvPr>
            <p:ph type="title"/>
          </p:nvPr>
        </p:nvSpPr>
        <p:spPr>
          <a:xfrm>
            <a:off x="1619672" y="188640"/>
            <a:ext cx="6696075" cy="431800"/>
          </a:xfrm>
          <a:ln/>
        </p:spPr>
        <p:txBody>
          <a:bodyPr anchor="ctr"/>
          <a:lstStyle/>
          <a:p>
            <a:pPr lvl="0"/>
            <a:r>
              <a:rPr lang="en-US" altLang="en-US" sz="3600" b="1" dirty="0">
                <a:solidFill>
                  <a:srgbClr val="FF0000"/>
                </a:solidFill>
                <a:ea typeface="隶书" panose="02010509060101010101" pitchFamily="49" charset="-122"/>
              </a:rPr>
              <a:t>8.4  8259A在微机中的编程应用</a:t>
            </a:r>
            <a:endParaRPr lang="zh-CN" altLang="en-US" sz="3600" b="1" dirty="0">
              <a:solidFill>
                <a:srgbClr val="FF0000"/>
              </a:solidFill>
              <a:ea typeface="隶书" panose="02010509060101010101" pitchFamily="49" charset="-122"/>
            </a:endParaRPr>
          </a:p>
        </p:txBody>
      </p:sp>
      <p:sp>
        <p:nvSpPr>
          <p:cNvPr id="344067" name="文本框 344066"/>
          <p:cNvSpPr txBox="1"/>
          <p:nvPr/>
        </p:nvSpPr>
        <p:spPr>
          <a:xfrm>
            <a:off x="755576" y="836712"/>
            <a:ext cx="8208962" cy="5743111"/>
          </a:xfrm>
          <a:prstGeom prst="rect">
            <a:avLst/>
          </a:prstGeom>
          <a:noFill/>
          <a:ln w="9525">
            <a:noFill/>
          </a:ln>
        </p:spPr>
        <p:txBody>
          <a:bodyPr>
            <a:spAutoFit/>
          </a:bodyPr>
          <a:lstStyle/>
          <a:p>
            <a:pPr marL="342900" lvl="0" indent="-342900">
              <a:lnSpc>
                <a:spcPct val="105000"/>
              </a:lnSpc>
              <a:spcBef>
                <a:spcPct val="50000"/>
              </a:spcBef>
              <a:buClr>
                <a:schemeClr val="hlink"/>
              </a:buClr>
              <a:buSzPct val="110000"/>
              <a:buFont typeface="Wingdings" panose="05000000000000000000" pitchFamily="2" charset="2"/>
              <a:buNone/>
            </a:pPr>
            <a:r>
              <a:rPr lang="en-US" altLang="zh-CN" b="1" dirty="0">
                <a:latin typeface="Arial" panose="020B0604020202020204" pitchFamily="34" charset="0"/>
              </a:rPr>
              <a:t>;</a:t>
            </a:r>
            <a:r>
              <a:rPr lang="zh-CN" altLang="en-US" b="1" dirty="0">
                <a:latin typeface="Arial" panose="020B0604020202020204" pitchFamily="34" charset="0"/>
              </a:rPr>
              <a:t>初始化从片</a:t>
            </a:r>
          </a:p>
          <a:p>
            <a:pPr marL="342900" indent="-342900">
              <a:spcBef>
                <a:spcPct val="50000"/>
              </a:spcBef>
              <a:buClr>
                <a:schemeClr val="hlink"/>
              </a:buClr>
              <a:buSzPct val="110000"/>
            </a:pPr>
            <a:r>
              <a:rPr lang="en-US" altLang="zh-CN" dirty="0">
                <a:solidFill>
                  <a:srgbClr val="0000FF"/>
                </a:solidFill>
                <a:latin typeface="Tahoma" panose="020B0604030504040204" pitchFamily="34" charset="0"/>
              </a:rPr>
              <a:t>INTB00	EQU	0A0H</a:t>
            </a:r>
          </a:p>
          <a:p>
            <a:pPr marL="342900" indent="-342900">
              <a:spcBef>
                <a:spcPct val="50000"/>
              </a:spcBef>
              <a:buClr>
                <a:schemeClr val="hlink"/>
              </a:buClr>
              <a:buSzPct val="110000"/>
            </a:pPr>
            <a:r>
              <a:rPr lang="en-US" altLang="zh-CN" dirty="0">
                <a:solidFill>
                  <a:srgbClr val="0000FF"/>
                </a:solidFill>
                <a:latin typeface="Tahoma" panose="020B0604030504040204" pitchFamily="34" charset="0"/>
              </a:rPr>
              <a:t>INTB01	EQU	0A1H</a:t>
            </a:r>
          </a:p>
          <a:p>
            <a:pPr marL="342900" indent="-342900">
              <a:spcBef>
                <a:spcPct val="50000"/>
              </a:spcBef>
              <a:buClr>
                <a:schemeClr val="hlink"/>
              </a:buClr>
              <a:buSzPct val="110000"/>
            </a:pPr>
            <a:r>
              <a:rPr lang="en-US" altLang="zh-CN" dirty="0">
                <a:solidFill>
                  <a:srgbClr val="0000FF"/>
                </a:solidFill>
                <a:latin typeface="Tahoma" panose="020B0604030504040204" pitchFamily="34" charset="0"/>
              </a:rPr>
              <a:t>…</a:t>
            </a:r>
          </a:p>
          <a:p>
            <a:pPr marL="342900" indent="-342900">
              <a:spcBef>
                <a:spcPct val="50000"/>
              </a:spcBef>
              <a:buClr>
                <a:schemeClr val="hlink"/>
              </a:buClr>
              <a:buSzPct val="110000"/>
            </a:pPr>
            <a:r>
              <a:rPr lang="en-US" altLang="zh-CN" dirty="0">
                <a:solidFill>
                  <a:srgbClr val="0000FF"/>
                </a:solidFill>
                <a:latin typeface="Tahoma" panose="020B0604030504040204" pitchFamily="34" charset="0"/>
              </a:rPr>
              <a:t>MOV    AL, 00010001B      	;</a:t>
            </a:r>
            <a:r>
              <a:rPr lang="zh-CN" altLang="en-US" dirty="0">
                <a:solidFill>
                  <a:srgbClr val="0000FF"/>
                </a:solidFill>
                <a:latin typeface="Tahoma" panose="020B0604030504040204" pitchFamily="34" charset="0"/>
              </a:rPr>
              <a:t>设置</a:t>
            </a:r>
            <a:r>
              <a:rPr lang="en-US" altLang="zh-CN" dirty="0">
                <a:solidFill>
                  <a:srgbClr val="0000FF"/>
                </a:solidFill>
                <a:latin typeface="Tahoma" panose="020B0604030504040204" pitchFamily="34" charset="0"/>
              </a:rPr>
              <a:t>ICW1</a:t>
            </a:r>
            <a:r>
              <a:rPr lang="zh-CN" altLang="en-US" dirty="0">
                <a:solidFill>
                  <a:srgbClr val="0000FF"/>
                </a:solidFill>
                <a:latin typeface="Tahoma" panose="020B0604030504040204" pitchFamily="34" charset="0"/>
              </a:rPr>
              <a:t>为边沿触发，多片 </a:t>
            </a:r>
            <a:r>
              <a:rPr lang="en-US" altLang="zh-CN" dirty="0">
                <a:solidFill>
                  <a:srgbClr val="0000FF"/>
                </a:solidFill>
                <a:latin typeface="Tahoma" panose="020B0604030504040204" pitchFamily="34" charset="0"/>
              </a:rPr>
              <a:t>8259A</a:t>
            </a:r>
            <a:r>
              <a:rPr lang="zh-CN" altLang="en-US" dirty="0">
                <a:solidFill>
                  <a:srgbClr val="0000FF"/>
                </a:solidFill>
                <a:latin typeface="Tahoma" panose="020B0604030504040204" pitchFamily="34" charset="0"/>
              </a:rPr>
              <a:t>，需要</a:t>
            </a:r>
            <a:r>
              <a:rPr lang="en-US" altLang="zh-CN" dirty="0">
                <a:solidFill>
                  <a:srgbClr val="0000FF"/>
                </a:solidFill>
                <a:latin typeface="Tahoma" panose="020B0604030504040204" pitchFamily="34" charset="0"/>
              </a:rPr>
              <a:t>ICW4</a:t>
            </a:r>
          </a:p>
          <a:p>
            <a:pPr marL="342900" indent="-342900">
              <a:spcBef>
                <a:spcPct val="50000"/>
              </a:spcBef>
              <a:buClr>
                <a:schemeClr val="hlink"/>
              </a:buClr>
              <a:buSzPct val="110000"/>
            </a:pPr>
            <a:r>
              <a:rPr lang="en-US" altLang="zh-CN" dirty="0">
                <a:solidFill>
                  <a:srgbClr val="0000FF"/>
                </a:solidFill>
                <a:latin typeface="Tahoma" panose="020B0604030504040204" pitchFamily="34" charset="0"/>
              </a:rPr>
              <a:t>OUT     INTB00, AL                 	</a:t>
            </a:r>
          </a:p>
          <a:p>
            <a:pPr marL="342900" indent="-342900">
              <a:spcBef>
                <a:spcPct val="50000"/>
              </a:spcBef>
              <a:buClr>
                <a:schemeClr val="hlink"/>
              </a:buClr>
              <a:buSzPct val="110000"/>
            </a:pPr>
            <a:r>
              <a:rPr lang="en-US" altLang="zh-CN" dirty="0">
                <a:solidFill>
                  <a:srgbClr val="0000FF"/>
                </a:solidFill>
                <a:latin typeface="Tahoma" panose="020B0604030504040204" pitchFamily="34" charset="0"/>
              </a:rPr>
              <a:t>MOV    AL, 01110000B  	;</a:t>
            </a:r>
            <a:r>
              <a:rPr lang="zh-CN" altLang="en-US" dirty="0">
                <a:solidFill>
                  <a:srgbClr val="0000FF"/>
                </a:solidFill>
                <a:latin typeface="Tahoma" panose="020B0604030504040204" pitchFamily="34" charset="0"/>
              </a:rPr>
              <a:t>设置</a:t>
            </a:r>
            <a:r>
              <a:rPr lang="en-US" altLang="zh-CN" dirty="0">
                <a:solidFill>
                  <a:srgbClr val="0000FF"/>
                </a:solidFill>
                <a:latin typeface="Tahoma" panose="020B0604030504040204" pitchFamily="34" charset="0"/>
              </a:rPr>
              <a:t>ICW2</a:t>
            </a:r>
            <a:r>
              <a:rPr lang="zh-CN" altLang="en-US" dirty="0">
                <a:solidFill>
                  <a:srgbClr val="0000FF"/>
                </a:solidFill>
                <a:latin typeface="Tahoma" panose="020B0604030504040204" pitchFamily="34" charset="0"/>
              </a:rPr>
              <a:t>中断类型码基数为</a:t>
            </a:r>
            <a:r>
              <a:rPr lang="en-US" altLang="zh-CN" dirty="0">
                <a:solidFill>
                  <a:srgbClr val="0000FF"/>
                </a:solidFill>
                <a:latin typeface="Tahoma" panose="020B0604030504040204" pitchFamily="34" charset="0"/>
              </a:rPr>
              <a:t>70H</a:t>
            </a:r>
          </a:p>
          <a:p>
            <a:pPr marL="342900" indent="-342900">
              <a:spcBef>
                <a:spcPct val="50000"/>
              </a:spcBef>
              <a:buClr>
                <a:schemeClr val="hlink"/>
              </a:buClr>
              <a:buSzPct val="110000"/>
            </a:pPr>
            <a:r>
              <a:rPr lang="en-US" altLang="zh-CN" dirty="0">
                <a:solidFill>
                  <a:srgbClr val="0000FF"/>
                </a:solidFill>
                <a:latin typeface="Tahoma" panose="020B0604030504040204" pitchFamily="34" charset="0"/>
              </a:rPr>
              <a:t>OUT     INTB01, AL    	;</a:t>
            </a:r>
            <a:r>
              <a:rPr lang="zh-CN" altLang="en-US" dirty="0">
                <a:solidFill>
                  <a:srgbClr val="0000FF"/>
                </a:solidFill>
                <a:latin typeface="Tahoma" panose="020B0604030504040204" pitchFamily="34" charset="0"/>
              </a:rPr>
              <a:t>可响应的</a:t>
            </a:r>
            <a:r>
              <a:rPr lang="en-US" altLang="zh-CN" dirty="0">
                <a:solidFill>
                  <a:srgbClr val="0000FF"/>
                </a:solidFill>
                <a:latin typeface="Tahoma" panose="020B0604030504040204" pitchFamily="34" charset="0"/>
              </a:rPr>
              <a:t>8</a:t>
            </a:r>
            <a:r>
              <a:rPr lang="zh-CN" altLang="en-US" dirty="0">
                <a:solidFill>
                  <a:srgbClr val="0000FF"/>
                </a:solidFill>
                <a:latin typeface="Tahoma" panose="020B0604030504040204" pitchFamily="34" charset="0"/>
              </a:rPr>
              <a:t>个中断类型码为</a:t>
            </a:r>
            <a:r>
              <a:rPr lang="en-US" altLang="zh-CN" dirty="0">
                <a:solidFill>
                  <a:srgbClr val="0000FF"/>
                </a:solidFill>
                <a:latin typeface="Tahoma" panose="020B0604030504040204" pitchFamily="34" charset="0"/>
              </a:rPr>
              <a:t>70H</a:t>
            </a:r>
            <a:r>
              <a:rPr lang="zh-CN" altLang="en-US" dirty="0">
                <a:solidFill>
                  <a:srgbClr val="0000FF"/>
                </a:solidFill>
                <a:latin typeface="Tahoma" panose="020B0604030504040204" pitchFamily="34" charset="0"/>
              </a:rPr>
              <a:t>～</a:t>
            </a:r>
            <a:r>
              <a:rPr lang="en-US" altLang="zh-CN" dirty="0">
                <a:solidFill>
                  <a:srgbClr val="0000FF"/>
                </a:solidFill>
                <a:latin typeface="Tahoma" panose="020B0604030504040204" pitchFamily="34" charset="0"/>
              </a:rPr>
              <a:t>77H</a:t>
            </a:r>
            <a:r>
              <a:rPr lang="zh-CN" altLang="en-US" dirty="0">
                <a:solidFill>
                  <a:srgbClr val="0000FF"/>
                </a:solidFill>
                <a:latin typeface="Tahoma" panose="020B0604030504040204" pitchFamily="34" charset="0"/>
              </a:rPr>
              <a:t>。</a:t>
            </a:r>
          </a:p>
          <a:p>
            <a:pPr marL="342900" indent="-342900">
              <a:spcBef>
                <a:spcPct val="50000"/>
              </a:spcBef>
              <a:buClr>
                <a:schemeClr val="hlink"/>
              </a:buClr>
              <a:buSzPct val="110000"/>
            </a:pPr>
            <a:r>
              <a:rPr lang="en-US" altLang="zh-CN" dirty="0">
                <a:solidFill>
                  <a:srgbClr val="0000FF"/>
                </a:solidFill>
                <a:latin typeface="Tahoma" panose="020B0604030504040204" pitchFamily="34" charset="0"/>
              </a:rPr>
              <a:t>MOV    AL, 00000010B	;</a:t>
            </a:r>
            <a:r>
              <a:rPr lang="zh-CN" altLang="en-US" dirty="0">
                <a:solidFill>
                  <a:srgbClr val="0000FF"/>
                </a:solidFill>
                <a:latin typeface="Tahoma" panose="020B0604030504040204" pitchFamily="34" charset="0"/>
              </a:rPr>
              <a:t>从片接主片的</a:t>
            </a:r>
            <a:r>
              <a:rPr lang="en-US" altLang="zh-CN" dirty="0">
                <a:solidFill>
                  <a:srgbClr val="0000FF"/>
                </a:solidFill>
                <a:latin typeface="Tahoma" panose="020B0604030504040204" pitchFamily="34" charset="0"/>
              </a:rPr>
              <a:t>IR2</a:t>
            </a:r>
            <a:r>
              <a:rPr lang="zh-CN" altLang="en-US" dirty="0">
                <a:solidFill>
                  <a:srgbClr val="0000FF"/>
                </a:solidFill>
                <a:latin typeface="Tahoma" panose="020B0604030504040204" pitchFamily="34" charset="0"/>
              </a:rPr>
              <a:t>引脚</a:t>
            </a:r>
          </a:p>
          <a:p>
            <a:pPr marL="342900" indent="-342900">
              <a:spcBef>
                <a:spcPct val="50000"/>
              </a:spcBef>
              <a:buClr>
                <a:schemeClr val="hlink"/>
              </a:buClr>
              <a:buSzPct val="110000"/>
            </a:pPr>
            <a:r>
              <a:rPr lang="en-US" altLang="zh-CN" dirty="0">
                <a:solidFill>
                  <a:srgbClr val="0000FF"/>
                </a:solidFill>
                <a:latin typeface="Tahoma" panose="020B0604030504040204" pitchFamily="34" charset="0"/>
              </a:rPr>
              <a:t>OUT     INTB01, AL</a:t>
            </a:r>
          </a:p>
          <a:p>
            <a:pPr marL="342900" indent="-342900">
              <a:spcBef>
                <a:spcPct val="50000"/>
              </a:spcBef>
              <a:buClr>
                <a:schemeClr val="hlink"/>
              </a:buClr>
              <a:buSzPct val="110000"/>
            </a:pPr>
            <a:r>
              <a:rPr lang="en-US" altLang="zh-CN" dirty="0">
                <a:solidFill>
                  <a:srgbClr val="0000FF"/>
                </a:solidFill>
                <a:latin typeface="Tahoma" panose="020B0604030504040204" pitchFamily="34" charset="0"/>
              </a:rPr>
              <a:t>MOV    AL, 00000001B       ;</a:t>
            </a:r>
            <a:r>
              <a:rPr lang="zh-CN" altLang="en-US" dirty="0">
                <a:solidFill>
                  <a:srgbClr val="0000FF"/>
                </a:solidFill>
                <a:latin typeface="Tahoma" panose="020B0604030504040204" pitchFamily="34" charset="0"/>
              </a:rPr>
              <a:t>设置</a:t>
            </a:r>
            <a:r>
              <a:rPr lang="en-US" altLang="zh-CN" dirty="0">
                <a:solidFill>
                  <a:srgbClr val="0000FF"/>
                </a:solidFill>
                <a:latin typeface="Tahoma" panose="020B0604030504040204" pitchFamily="34" charset="0"/>
              </a:rPr>
              <a:t>ICW4</a:t>
            </a:r>
            <a:r>
              <a:rPr lang="zh-CN" altLang="en-US" dirty="0">
                <a:solidFill>
                  <a:srgbClr val="0000FF"/>
                </a:solidFill>
                <a:latin typeface="Tahoma" panose="020B0604030504040204" pitchFamily="34" charset="0"/>
              </a:rPr>
              <a:t>为</a:t>
            </a:r>
            <a:r>
              <a:rPr lang="en-US" altLang="zh-CN" dirty="0">
                <a:solidFill>
                  <a:srgbClr val="0000FF"/>
                </a:solidFill>
                <a:latin typeface="Tahoma" panose="020B0604030504040204" pitchFamily="34" charset="0"/>
              </a:rPr>
              <a:t>8086/8088</a:t>
            </a:r>
            <a:r>
              <a:rPr lang="zh-CN" altLang="en-US" dirty="0">
                <a:solidFill>
                  <a:srgbClr val="0000FF"/>
                </a:solidFill>
                <a:latin typeface="Tahoma" panose="020B0604030504040204" pitchFamily="34" charset="0"/>
              </a:rPr>
              <a:t>模式，普通</a:t>
            </a:r>
            <a:r>
              <a:rPr lang="en-US" altLang="zh-CN" dirty="0">
                <a:solidFill>
                  <a:srgbClr val="0000FF"/>
                </a:solidFill>
                <a:latin typeface="Tahoma" panose="020B0604030504040204" pitchFamily="34" charset="0"/>
              </a:rPr>
              <a:t>EOI</a:t>
            </a:r>
            <a:r>
              <a:rPr lang="zh-CN" altLang="en-US" dirty="0">
                <a:solidFill>
                  <a:srgbClr val="0000FF"/>
                </a:solidFill>
                <a:latin typeface="Tahoma" panose="020B0604030504040204" pitchFamily="34" charset="0"/>
              </a:rPr>
              <a:t>，非缓冲方			 </a:t>
            </a:r>
            <a:r>
              <a:rPr lang="en-US" altLang="zh-CN" dirty="0">
                <a:solidFill>
                  <a:srgbClr val="0000FF"/>
                </a:solidFill>
                <a:latin typeface="Tahoma" panose="020B0604030504040204" pitchFamily="34" charset="0"/>
              </a:rPr>
              <a:t>;</a:t>
            </a:r>
            <a:r>
              <a:rPr lang="zh-CN" altLang="en-US" dirty="0">
                <a:solidFill>
                  <a:srgbClr val="0000FF"/>
                </a:solidFill>
                <a:latin typeface="Tahoma" panose="020B0604030504040204" pitchFamily="34" charset="0"/>
              </a:rPr>
              <a:t>式，完全嵌套方式</a:t>
            </a:r>
          </a:p>
          <a:p>
            <a:pPr marL="342900" indent="-342900">
              <a:spcBef>
                <a:spcPct val="50000"/>
              </a:spcBef>
              <a:buClr>
                <a:schemeClr val="hlink"/>
              </a:buClr>
              <a:buSzPct val="110000"/>
            </a:pPr>
            <a:r>
              <a:rPr lang="en-US" altLang="zh-CN" dirty="0">
                <a:solidFill>
                  <a:srgbClr val="0000FF"/>
                </a:solidFill>
                <a:latin typeface="Tahoma" panose="020B0604030504040204" pitchFamily="34" charset="0"/>
              </a:rPr>
              <a:t>OUT     INTB01, AL              	</a:t>
            </a:r>
          </a:p>
          <a:p>
            <a:pPr marL="342900" indent="-342900">
              <a:spcBef>
                <a:spcPct val="50000"/>
              </a:spcBef>
              <a:buClr>
                <a:schemeClr val="hlink"/>
              </a:buClr>
              <a:buSzPct val="110000"/>
            </a:pPr>
            <a:r>
              <a:rPr lang="en-US" altLang="zh-CN" dirty="0">
                <a:solidFill>
                  <a:srgbClr val="0000FF"/>
                </a:solidFill>
                <a:latin typeface="Tahoma" panose="020B0604030504040204" pitchFamily="34" charset="0"/>
              </a:rPr>
              <a:t>…</a:t>
            </a:r>
            <a:endParaRPr lang="zh-CN" altLang="en-US" dirty="0">
              <a:solidFill>
                <a:srgbClr val="0000FF"/>
              </a:solidFill>
              <a:latin typeface="Tahoma" panose="020B060403050404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44065">
            <a:extLst>
              <a:ext uri="{FF2B5EF4-FFF2-40B4-BE49-F238E27FC236}">
                <a16:creationId xmlns:a16="http://schemas.microsoft.com/office/drawing/2014/main" id="{C8FD01D0-E56F-0439-811B-40532B8F8F7B}"/>
              </a:ext>
            </a:extLst>
          </p:cNvPr>
          <p:cNvSpPr txBox="1">
            <a:spLocks/>
          </p:cNvSpPr>
          <p:nvPr/>
        </p:nvSpPr>
        <p:spPr>
          <a:xfrm>
            <a:off x="1547664" y="188640"/>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8.4  8259A在微机中的编程应用</a:t>
            </a:r>
            <a:endParaRPr lang="zh-CN" altLang="en-US" sz="3600" b="1" dirty="0">
              <a:solidFill>
                <a:srgbClr val="FF0000"/>
              </a:solidFill>
              <a:ea typeface="隶书" panose="02010509060101010101" pitchFamily="49" charset="-122"/>
            </a:endParaRPr>
          </a:p>
        </p:txBody>
      </p:sp>
      <p:sp>
        <p:nvSpPr>
          <p:cNvPr id="4" name="文本框 3">
            <a:extLst>
              <a:ext uri="{FF2B5EF4-FFF2-40B4-BE49-F238E27FC236}">
                <a16:creationId xmlns:a16="http://schemas.microsoft.com/office/drawing/2014/main" id="{ED94B5A9-7CF4-31F5-2717-2FFB98D95668}"/>
              </a:ext>
            </a:extLst>
          </p:cNvPr>
          <p:cNvSpPr txBox="1"/>
          <p:nvPr/>
        </p:nvSpPr>
        <p:spPr>
          <a:xfrm>
            <a:off x="683568" y="980728"/>
            <a:ext cx="4580388" cy="463781"/>
          </a:xfrm>
          <a:prstGeom prst="rect">
            <a:avLst/>
          </a:prstGeom>
          <a:noFill/>
        </p:spPr>
        <p:txBody>
          <a:bodyPr wrap="square">
            <a:spAutoFit/>
          </a:bodyPr>
          <a:lstStyle/>
          <a:p>
            <a:pPr lvl="0" eaLnBrk="0" hangingPunct="0">
              <a:lnSpc>
                <a:spcPct val="110000"/>
              </a:lnSpc>
            </a:pPr>
            <a:r>
              <a:rPr lang="zh-CN" altLang="en-US" sz="2400" b="1" dirty="0">
                <a:latin typeface="Arial" panose="020B0604020202020204" pitchFamily="34" charset="0"/>
              </a:rPr>
              <a:t>二、</a:t>
            </a:r>
            <a:r>
              <a:rPr lang="en-US" altLang="zh-CN" sz="2400" b="1" dirty="0">
                <a:latin typeface="Arial" panose="020B0604020202020204" pitchFamily="34" charset="0"/>
              </a:rPr>
              <a:t>8259A</a:t>
            </a:r>
            <a:r>
              <a:rPr lang="zh-CN" altLang="en-US" sz="2400" b="1" dirty="0">
                <a:latin typeface="Arial" panose="020B0604020202020204" pitchFamily="34" charset="0"/>
              </a:rPr>
              <a:t>的编程</a:t>
            </a:r>
            <a:endParaRPr lang="en-US" altLang="zh-CN" sz="2400" b="1" dirty="0">
              <a:latin typeface="Arial" panose="020B0604020202020204" pitchFamily="34" charset="0"/>
            </a:endParaRPr>
          </a:p>
        </p:txBody>
      </p:sp>
      <p:sp>
        <p:nvSpPr>
          <p:cNvPr id="6" name="文本框 5">
            <a:extLst>
              <a:ext uri="{FF2B5EF4-FFF2-40B4-BE49-F238E27FC236}">
                <a16:creationId xmlns:a16="http://schemas.microsoft.com/office/drawing/2014/main" id="{DBBEEF6A-88FF-438C-FFC5-88FC0245545C}"/>
              </a:ext>
            </a:extLst>
          </p:cNvPr>
          <p:cNvSpPr txBox="1"/>
          <p:nvPr/>
        </p:nvSpPr>
        <p:spPr>
          <a:xfrm>
            <a:off x="575556" y="1484784"/>
            <a:ext cx="7992888" cy="3046988"/>
          </a:xfrm>
          <a:prstGeom prst="rect">
            <a:avLst/>
          </a:prstGeom>
          <a:noFill/>
        </p:spPr>
        <p:txBody>
          <a:bodyPr wrap="square">
            <a:spAutoFit/>
          </a:bodyPr>
          <a:lstStyle/>
          <a:p>
            <a:r>
              <a:rPr lang="en-US" altLang="zh-CN" sz="2400" b="1" dirty="0">
                <a:latin typeface="Arial" panose="020B0604020202020204" pitchFamily="34" charset="0"/>
              </a:rPr>
              <a:t>8259A </a:t>
            </a:r>
            <a:r>
              <a:rPr lang="zh-CN" altLang="en-US" sz="2400" b="1" dirty="0">
                <a:latin typeface="Arial" panose="020B0604020202020204" pitchFamily="34" charset="0"/>
              </a:rPr>
              <a:t>的编程是由主程序和中断服务程序两个模块构成：</a:t>
            </a:r>
            <a:endParaRPr lang="en-US" altLang="zh-CN" sz="2400" b="1" dirty="0">
              <a:latin typeface="Arial" panose="020B0604020202020204" pitchFamily="34" charset="0"/>
            </a:endParaRPr>
          </a:p>
          <a:p>
            <a:endParaRPr lang="en-US" altLang="zh-CN" sz="2400" b="1" dirty="0">
              <a:latin typeface="Arial" panose="020B0604020202020204" pitchFamily="34" charset="0"/>
            </a:endParaRPr>
          </a:p>
          <a:p>
            <a:r>
              <a:rPr lang="zh-CN" altLang="en-US" sz="2400" b="1" dirty="0">
                <a:solidFill>
                  <a:srgbClr val="0000FF"/>
                </a:solidFill>
                <a:latin typeface="Arial" panose="020B0604020202020204" pitchFamily="34" charset="0"/>
              </a:rPr>
              <a:t>主程序：</a:t>
            </a:r>
            <a:r>
              <a:rPr lang="zh-CN" altLang="en-US" sz="2400" b="1" dirty="0">
                <a:latin typeface="Arial" panose="020B0604020202020204" pitchFamily="34" charset="0"/>
              </a:rPr>
              <a:t>完成 </a:t>
            </a:r>
            <a:r>
              <a:rPr lang="en-US" altLang="zh-CN" sz="2400" b="1" dirty="0">
                <a:latin typeface="Arial" panose="020B0604020202020204" pitchFamily="34" charset="0"/>
              </a:rPr>
              <a:t>8259A </a:t>
            </a:r>
            <a:r>
              <a:rPr lang="zh-CN" altLang="en-US" sz="2400" b="1" dirty="0">
                <a:latin typeface="Arial" panose="020B0604020202020204" pitchFamily="34" charset="0"/>
              </a:rPr>
              <a:t>的初始化， 为中断服务程序做一些必要的准备工作。其中</a:t>
            </a:r>
            <a:r>
              <a:rPr lang="zh-CN" altLang="en-US" sz="2400" b="1" dirty="0">
                <a:solidFill>
                  <a:srgbClr val="0000FF"/>
                </a:solidFill>
                <a:latin typeface="Arial" panose="020B0604020202020204" pitchFamily="34" charset="0"/>
              </a:rPr>
              <a:t>设置中断向量是必须完成的</a:t>
            </a:r>
            <a:endParaRPr lang="en-US" altLang="zh-CN" sz="2400" b="1" dirty="0">
              <a:solidFill>
                <a:srgbClr val="0000FF"/>
              </a:solidFill>
              <a:latin typeface="Arial" panose="020B0604020202020204" pitchFamily="34" charset="0"/>
            </a:endParaRPr>
          </a:p>
          <a:p>
            <a:endParaRPr lang="en-US" altLang="zh-CN" sz="2400" b="1" dirty="0">
              <a:latin typeface="Arial" panose="020B0604020202020204" pitchFamily="34" charset="0"/>
            </a:endParaRPr>
          </a:p>
          <a:p>
            <a:r>
              <a:rPr lang="zh-CN" altLang="en-US" sz="2400" b="1" dirty="0">
                <a:solidFill>
                  <a:srgbClr val="0000FF"/>
                </a:solidFill>
                <a:latin typeface="Arial" panose="020B0604020202020204" pitchFamily="34" charset="0"/>
              </a:rPr>
              <a:t>中断服务程序：</a:t>
            </a:r>
            <a:r>
              <a:rPr lang="zh-CN" altLang="en-US" sz="2400" b="1" dirty="0">
                <a:latin typeface="Arial" panose="020B0604020202020204" pitchFamily="34" charset="0"/>
              </a:rPr>
              <a:t>完成中断源请求的中断服务操作。</a:t>
            </a:r>
            <a:endParaRPr lang="en-US" altLang="zh-CN" sz="2400" b="1" dirty="0">
              <a:latin typeface="Arial" panose="020B0604020202020204" pitchFamily="34" charset="0"/>
            </a:endParaRPr>
          </a:p>
          <a:p>
            <a:r>
              <a:rPr lang="zh-CN" altLang="en-US" sz="2400" b="1" dirty="0">
                <a:latin typeface="Arial" panose="020B0604020202020204" pitchFamily="34" charset="0"/>
              </a:rPr>
              <a:t>所谓设置中断向量，就是将中断服务程序的入口地址，即中断向量写入中断向量表中。</a:t>
            </a:r>
          </a:p>
        </p:txBody>
      </p:sp>
    </p:spTree>
    <p:extLst>
      <p:ext uri="{BB962C8B-B14F-4D97-AF65-F5344CB8AC3E}">
        <p14:creationId xmlns:p14="http://schemas.microsoft.com/office/powerpoint/2010/main" val="9493002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8928720-7B9F-2250-5C44-3929FDBE0D26}"/>
              </a:ext>
            </a:extLst>
          </p:cNvPr>
          <p:cNvSpPr txBox="1"/>
          <p:nvPr/>
        </p:nvSpPr>
        <p:spPr>
          <a:xfrm>
            <a:off x="0" y="744344"/>
            <a:ext cx="9144000" cy="6001643"/>
          </a:xfrm>
          <a:prstGeom prst="rect">
            <a:avLst/>
          </a:prstGeom>
          <a:noFill/>
        </p:spPr>
        <p:txBody>
          <a:bodyPr wrap="square">
            <a:spAutoFit/>
          </a:bodyPr>
          <a:lstStyle/>
          <a:p>
            <a:r>
              <a:rPr lang="en-US" altLang="zh-CN" sz="2400" b="1" dirty="0">
                <a:solidFill>
                  <a:srgbClr val="0000FF"/>
                </a:solidFill>
                <a:latin typeface="Arial" panose="020B0604020202020204" pitchFamily="34" charset="0"/>
              </a:rPr>
              <a:t>【</a:t>
            </a:r>
            <a:r>
              <a:rPr lang="zh-CN" altLang="en-US" sz="2400" b="1" dirty="0">
                <a:solidFill>
                  <a:srgbClr val="0000FF"/>
                </a:solidFill>
                <a:latin typeface="Arial" panose="020B0604020202020204" pitchFamily="34" charset="0"/>
              </a:rPr>
              <a:t>例 </a:t>
            </a:r>
            <a:r>
              <a:rPr lang="en-US" altLang="zh-CN" sz="2400" b="1" dirty="0">
                <a:solidFill>
                  <a:srgbClr val="0000FF"/>
                </a:solidFill>
                <a:latin typeface="Arial" panose="020B0604020202020204" pitchFamily="34" charset="0"/>
              </a:rPr>
              <a:t>8.8】</a:t>
            </a:r>
            <a:r>
              <a:rPr lang="zh-CN" altLang="en-US" sz="2400" b="1" dirty="0">
                <a:latin typeface="Arial" panose="020B0604020202020204" pitchFamily="34" charset="0"/>
              </a:rPr>
              <a:t>设 </a:t>
            </a:r>
            <a:r>
              <a:rPr lang="en-US" altLang="zh-CN" sz="2400" b="1" dirty="0">
                <a:latin typeface="Arial" panose="020B0604020202020204" pitchFamily="34" charset="0"/>
              </a:rPr>
              <a:t>8259A </a:t>
            </a:r>
            <a:r>
              <a:rPr lang="zh-CN" altLang="en-US" sz="2400" b="1" dirty="0">
                <a:latin typeface="Arial" panose="020B0604020202020204" pitchFamily="34" charset="0"/>
              </a:rPr>
              <a:t>的 </a:t>
            </a:r>
            <a:r>
              <a:rPr lang="en-US" altLang="zh-CN" sz="2400" b="1" dirty="0">
                <a:latin typeface="Arial" panose="020B0604020202020204" pitchFamily="34" charset="0"/>
              </a:rPr>
              <a:t>ICW2=08H</a:t>
            </a:r>
            <a:r>
              <a:rPr lang="zh-CN" altLang="en-US" sz="2400" b="1" dirty="0">
                <a:latin typeface="Arial" panose="020B0604020202020204" pitchFamily="34" charset="0"/>
              </a:rPr>
              <a:t>，现使用 </a:t>
            </a:r>
            <a:r>
              <a:rPr lang="en-US" altLang="zh-CN" sz="2400" b="1" dirty="0">
                <a:latin typeface="Arial" panose="020B0604020202020204" pitchFamily="34" charset="0"/>
              </a:rPr>
              <a:t>IR</a:t>
            </a:r>
            <a:r>
              <a:rPr lang="en-US" altLang="zh-CN" sz="2400" b="1" baseline="-25000" dirty="0">
                <a:latin typeface="Arial" panose="020B0604020202020204" pitchFamily="34" charset="0"/>
              </a:rPr>
              <a:t>7</a:t>
            </a:r>
            <a:r>
              <a:rPr lang="en-US" altLang="zh-CN" sz="2400" b="1" dirty="0">
                <a:latin typeface="Arial" panose="020B0604020202020204" pitchFamily="34" charset="0"/>
              </a:rPr>
              <a:t> </a:t>
            </a:r>
            <a:r>
              <a:rPr lang="zh-CN" altLang="en-US" sz="2400" b="1" dirty="0">
                <a:latin typeface="Arial" panose="020B0604020202020204" pitchFamily="34" charset="0"/>
              </a:rPr>
              <a:t>引入硬件中断请求，</a:t>
            </a:r>
            <a:r>
              <a:rPr lang="en-US" altLang="zh-CN" sz="2400" b="1" dirty="0">
                <a:latin typeface="Arial" panose="020B0604020202020204" pitchFamily="34" charset="0"/>
              </a:rPr>
              <a:t>8259A </a:t>
            </a:r>
            <a:r>
              <a:rPr lang="zh-CN" altLang="en-US" sz="2400" b="1" dirty="0">
                <a:latin typeface="Arial" panose="020B0604020202020204" pitchFamily="34" charset="0"/>
              </a:rPr>
              <a:t>的端口地址为 </a:t>
            </a:r>
            <a:r>
              <a:rPr lang="en-US" altLang="zh-CN" sz="2400" b="1" dirty="0">
                <a:latin typeface="Arial" panose="020B0604020202020204" pitchFamily="34" charset="0"/>
              </a:rPr>
              <a:t>20H </a:t>
            </a:r>
            <a:r>
              <a:rPr lang="zh-CN" altLang="en-US" sz="2400" b="1" dirty="0">
                <a:latin typeface="Arial" panose="020B0604020202020204" pitchFamily="34" charset="0"/>
              </a:rPr>
              <a:t>和 </a:t>
            </a:r>
            <a:r>
              <a:rPr lang="en-US" altLang="zh-CN" sz="2400" b="1" dirty="0">
                <a:latin typeface="Arial" panose="020B0604020202020204" pitchFamily="34" charset="0"/>
              </a:rPr>
              <a:t>21H</a:t>
            </a:r>
            <a:r>
              <a:rPr lang="zh-CN" altLang="en-US" sz="2400" b="1" dirty="0">
                <a:latin typeface="Arial" panose="020B0604020202020204" pitchFamily="34" charset="0"/>
              </a:rPr>
              <a:t>，</a:t>
            </a:r>
            <a:r>
              <a:rPr lang="en-US" altLang="zh-CN" sz="2400" b="1" dirty="0">
                <a:latin typeface="Arial" panose="020B0604020202020204" pitchFamily="34" charset="0"/>
              </a:rPr>
              <a:t>8259A </a:t>
            </a:r>
            <a:r>
              <a:rPr lang="zh-CN" altLang="en-US" sz="2400" b="1" dirty="0">
                <a:latin typeface="Arial" panose="020B0604020202020204" pitchFamily="34" charset="0"/>
              </a:rPr>
              <a:t>的中断服务程序入口地址为 </a:t>
            </a:r>
            <a:r>
              <a:rPr lang="en-US" altLang="zh-CN" sz="2400" b="1" dirty="0">
                <a:latin typeface="Arial" panose="020B0604020202020204" pitchFamily="34" charset="0"/>
              </a:rPr>
              <a:t>IRQ7</a:t>
            </a:r>
            <a:r>
              <a:rPr lang="zh-CN" altLang="en-US" sz="2400" b="1" dirty="0">
                <a:latin typeface="Arial" panose="020B0604020202020204" pitchFamily="34" charset="0"/>
              </a:rPr>
              <a:t>，写出设置中断向量的程序代码。 </a:t>
            </a:r>
            <a:endParaRPr lang="en-US" altLang="zh-CN" sz="2400" b="1" dirty="0">
              <a:latin typeface="Arial" panose="020B0604020202020204" pitchFamily="34" charset="0"/>
            </a:endParaRPr>
          </a:p>
          <a:p>
            <a:endParaRPr lang="en-US" altLang="zh-CN" sz="2400" b="1" dirty="0">
              <a:latin typeface="Arial" panose="020B0604020202020204" pitchFamily="34" charset="0"/>
            </a:endParaRPr>
          </a:p>
          <a:p>
            <a:r>
              <a:rPr lang="zh-CN" altLang="en-US" sz="2000" b="1" dirty="0">
                <a:latin typeface="Arial" panose="020B0604020202020204" pitchFamily="34" charset="0"/>
              </a:rPr>
              <a:t>分析：由 </a:t>
            </a:r>
            <a:r>
              <a:rPr lang="en-US" altLang="zh-CN" sz="2000" b="1" dirty="0">
                <a:latin typeface="Arial" panose="020B0604020202020204" pitchFamily="34" charset="0"/>
              </a:rPr>
              <a:t>ICW2=08H</a:t>
            </a:r>
            <a:r>
              <a:rPr lang="zh-CN" altLang="en-US" sz="2000" b="1" dirty="0">
                <a:latin typeface="Arial" panose="020B0604020202020204" pitchFamily="34" charset="0"/>
              </a:rPr>
              <a:t>，可知 </a:t>
            </a:r>
            <a:r>
              <a:rPr lang="en-US" altLang="zh-CN" sz="2000" b="1" dirty="0">
                <a:latin typeface="Arial" panose="020B0604020202020204" pitchFamily="34" charset="0"/>
              </a:rPr>
              <a:t>IR7 </a:t>
            </a:r>
            <a:r>
              <a:rPr lang="zh-CN" altLang="en-US" sz="2000" b="1" dirty="0">
                <a:latin typeface="Arial" panose="020B0604020202020204" pitchFamily="34" charset="0"/>
              </a:rPr>
              <a:t>的中断类型号 </a:t>
            </a:r>
            <a:r>
              <a:rPr lang="en-US" altLang="zh-CN" sz="2000" b="1" dirty="0">
                <a:latin typeface="Arial" panose="020B0604020202020204" pitchFamily="34" charset="0"/>
              </a:rPr>
              <a:t>n=0FH</a:t>
            </a:r>
            <a:r>
              <a:rPr lang="zh-CN" altLang="en-US" sz="2000" b="1" dirty="0">
                <a:latin typeface="Arial" panose="020B0604020202020204" pitchFamily="34" charset="0"/>
              </a:rPr>
              <a:t>，则中断向量应写入 </a:t>
            </a:r>
            <a:r>
              <a:rPr lang="en-US" altLang="zh-CN" sz="2000" b="1" dirty="0">
                <a:latin typeface="Arial" panose="020B0604020202020204" pitchFamily="34" charset="0"/>
              </a:rPr>
              <a:t>4n=3CH </a:t>
            </a:r>
            <a:r>
              <a:rPr lang="zh-CN" altLang="en-US" sz="2000" b="1" dirty="0">
                <a:latin typeface="Arial" panose="020B0604020202020204" pitchFamily="34" charset="0"/>
              </a:rPr>
              <a:t>开始的连续 </a:t>
            </a:r>
            <a:r>
              <a:rPr lang="en-US" altLang="zh-CN" sz="2000" b="1" dirty="0">
                <a:latin typeface="Arial" panose="020B0604020202020204" pitchFamily="34" charset="0"/>
              </a:rPr>
              <a:t>4 </a:t>
            </a:r>
            <a:r>
              <a:rPr lang="zh-CN" altLang="en-US" sz="2000" b="1" dirty="0">
                <a:latin typeface="Arial" panose="020B0604020202020204" pitchFamily="34" charset="0"/>
              </a:rPr>
              <a:t>个字节内存单元。</a:t>
            </a:r>
            <a:endParaRPr lang="en-US" altLang="zh-CN" sz="2000" b="1" dirty="0">
              <a:latin typeface="Arial" panose="020B0604020202020204" pitchFamily="34" charset="0"/>
            </a:endParaRPr>
          </a:p>
          <a:p>
            <a:endParaRPr lang="en-US" altLang="zh-CN" sz="2400" b="1" dirty="0">
              <a:latin typeface="Arial" panose="020B0604020202020204" pitchFamily="34" charset="0"/>
            </a:endParaRPr>
          </a:p>
          <a:p>
            <a:r>
              <a:rPr lang="zh-CN" altLang="en-US" sz="2400" b="1" dirty="0">
                <a:latin typeface="Arial" panose="020B0604020202020204" pitchFamily="34" charset="0"/>
              </a:rPr>
              <a:t> </a:t>
            </a:r>
            <a:r>
              <a:rPr lang="zh-CN" altLang="en-US" sz="2000" dirty="0">
                <a:latin typeface="Arial" panose="020B0604020202020204" pitchFamily="34" charset="0"/>
              </a:rPr>
              <a:t>解答： </a:t>
            </a:r>
            <a:r>
              <a:rPr lang="en-US" altLang="zh-CN" sz="2000" dirty="0">
                <a:solidFill>
                  <a:srgbClr val="0000FF"/>
                </a:solidFill>
                <a:latin typeface="Arial" panose="020B0604020202020204" pitchFamily="34" charset="0"/>
              </a:rPr>
              <a:t>MOV AX, 0 </a:t>
            </a:r>
          </a:p>
          <a:p>
            <a:r>
              <a:rPr lang="en-US" altLang="zh-CN" sz="2000" dirty="0">
                <a:solidFill>
                  <a:srgbClr val="0000FF"/>
                </a:solidFill>
                <a:latin typeface="Arial" panose="020B0604020202020204" pitchFamily="34" charset="0"/>
              </a:rPr>
              <a:t>             MOV ES, AX </a:t>
            </a:r>
          </a:p>
          <a:p>
            <a:r>
              <a:rPr lang="en-US" altLang="zh-CN" sz="2000" dirty="0">
                <a:solidFill>
                  <a:srgbClr val="0000FF"/>
                </a:solidFill>
                <a:latin typeface="Arial" panose="020B0604020202020204" pitchFamily="34" charset="0"/>
              </a:rPr>
              <a:t>             MOV BX, 3CH </a:t>
            </a:r>
          </a:p>
          <a:p>
            <a:r>
              <a:rPr lang="en-US" altLang="zh-CN" sz="2000" dirty="0">
                <a:solidFill>
                  <a:srgbClr val="0000FF"/>
                </a:solidFill>
                <a:latin typeface="Arial" panose="020B0604020202020204" pitchFamily="34" charset="0"/>
              </a:rPr>
              <a:t>             MOV AX, OFFSET IRQ7 </a:t>
            </a:r>
          </a:p>
          <a:p>
            <a:r>
              <a:rPr lang="en-US" altLang="zh-CN" sz="2000" dirty="0">
                <a:solidFill>
                  <a:srgbClr val="0000FF"/>
                </a:solidFill>
                <a:latin typeface="Arial" panose="020B0604020202020204" pitchFamily="34" charset="0"/>
              </a:rPr>
              <a:t>             MOV ES:WORD PTR[BX], AX   ;</a:t>
            </a:r>
            <a:r>
              <a:rPr lang="zh-CN" altLang="en-US" sz="2000" dirty="0">
                <a:solidFill>
                  <a:srgbClr val="0000FF"/>
                </a:solidFill>
                <a:latin typeface="Arial" panose="020B0604020202020204" pitchFamily="34" charset="0"/>
              </a:rPr>
              <a:t>置入中断服务程序入口地址的偏移地址 </a:t>
            </a:r>
            <a:endParaRPr lang="en-US" altLang="zh-CN" sz="2000" dirty="0">
              <a:solidFill>
                <a:srgbClr val="0000FF"/>
              </a:solidFill>
              <a:latin typeface="Arial" panose="020B0604020202020204" pitchFamily="34" charset="0"/>
            </a:endParaRPr>
          </a:p>
          <a:p>
            <a:r>
              <a:rPr lang="en-US" altLang="zh-CN" sz="2000" dirty="0">
                <a:solidFill>
                  <a:srgbClr val="0000FF"/>
                </a:solidFill>
                <a:latin typeface="Arial" panose="020B0604020202020204" pitchFamily="34" charset="0"/>
              </a:rPr>
              <a:t>             MOV AX, SEG IRQ7 </a:t>
            </a:r>
          </a:p>
          <a:p>
            <a:r>
              <a:rPr lang="en-US" altLang="zh-CN" sz="2000" dirty="0">
                <a:solidFill>
                  <a:srgbClr val="0000FF"/>
                </a:solidFill>
                <a:latin typeface="Arial" panose="020B0604020202020204" pitchFamily="34" charset="0"/>
              </a:rPr>
              <a:t>             MOV ES:WORD PTR[BX+2],AX ; </a:t>
            </a:r>
            <a:r>
              <a:rPr lang="zh-CN" altLang="en-US" sz="2000" dirty="0">
                <a:solidFill>
                  <a:srgbClr val="0000FF"/>
                </a:solidFill>
                <a:latin typeface="Arial" panose="020B0604020202020204" pitchFamily="34" charset="0"/>
              </a:rPr>
              <a:t>置入中断服务程序入口地址的段地址</a:t>
            </a:r>
            <a:endParaRPr lang="en-US" altLang="zh-CN" sz="2000" dirty="0">
              <a:solidFill>
                <a:srgbClr val="0000FF"/>
              </a:solidFill>
              <a:latin typeface="Arial" panose="020B0604020202020204" pitchFamily="34" charset="0"/>
            </a:endParaRPr>
          </a:p>
          <a:p>
            <a:r>
              <a:rPr lang="en-US" altLang="zh-CN" sz="2000" dirty="0">
                <a:solidFill>
                  <a:srgbClr val="0000FF"/>
                </a:solidFill>
                <a:latin typeface="Arial" panose="020B0604020202020204" pitchFamily="34" charset="0"/>
              </a:rPr>
              <a:t>             </a:t>
            </a:r>
            <a:r>
              <a:rPr lang="zh-CN" altLang="en-US" sz="2000" dirty="0">
                <a:solidFill>
                  <a:srgbClr val="0000FF"/>
                </a:solidFill>
                <a:latin typeface="Arial" panose="020B0604020202020204" pitchFamily="34" charset="0"/>
              </a:rPr>
              <a:t>    ┇</a:t>
            </a:r>
            <a:endParaRPr lang="en-US" altLang="zh-CN" sz="2000" dirty="0">
              <a:solidFill>
                <a:srgbClr val="0000FF"/>
              </a:solidFill>
              <a:latin typeface="Arial" panose="020B0604020202020204" pitchFamily="34" charset="0"/>
            </a:endParaRPr>
          </a:p>
          <a:p>
            <a:r>
              <a:rPr lang="en-US" altLang="zh-CN" sz="2000" dirty="0">
                <a:solidFill>
                  <a:srgbClr val="0000FF"/>
                </a:solidFill>
                <a:latin typeface="Arial" panose="020B0604020202020204" pitchFamily="34" charset="0"/>
              </a:rPr>
              <a:t>IRQ7</a:t>
            </a:r>
            <a:r>
              <a:rPr lang="zh-CN" altLang="en-US" sz="2000" dirty="0">
                <a:solidFill>
                  <a:srgbClr val="0000FF"/>
                </a:solidFill>
                <a:latin typeface="Arial" panose="020B0604020202020204" pitchFamily="34" charset="0"/>
              </a:rPr>
              <a:t>：                                                      </a:t>
            </a:r>
            <a:r>
              <a:rPr lang="en-US" altLang="zh-CN" sz="2000" dirty="0">
                <a:solidFill>
                  <a:srgbClr val="0000FF"/>
                </a:solidFill>
                <a:latin typeface="Arial" panose="020B0604020202020204" pitchFamily="34" charset="0"/>
              </a:rPr>
              <a:t>; </a:t>
            </a:r>
            <a:r>
              <a:rPr lang="zh-CN" altLang="en-US" sz="2000" dirty="0">
                <a:solidFill>
                  <a:srgbClr val="0000FF"/>
                </a:solidFill>
                <a:latin typeface="Arial" panose="020B0604020202020204" pitchFamily="34" charset="0"/>
              </a:rPr>
              <a:t>中断服务程序 </a:t>
            </a:r>
            <a:endParaRPr lang="en-US" altLang="zh-CN" sz="2000" dirty="0">
              <a:solidFill>
                <a:srgbClr val="0000FF"/>
              </a:solidFill>
              <a:latin typeface="Arial" panose="020B0604020202020204" pitchFamily="34" charset="0"/>
            </a:endParaRPr>
          </a:p>
          <a:p>
            <a:r>
              <a:rPr lang="en-US" altLang="zh-CN" sz="2000">
                <a:solidFill>
                  <a:srgbClr val="0000FF"/>
                </a:solidFill>
                <a:latin typeface="Arial" panose="020B0604020202020204" pitchFamily="34" charset="0"/>
              </a:rPr>
              <a:t>                 </a:t>
            </a:r>
            <a:r>
              <a:rPr lang="zh-CN" altLang="en-US" sz="2000">
                <a:solidFill>
                  <a:srgbClr val="0000FF"/>
                </a:solidFill>
                <a:latin typeface="Arial" panose="020B0604020202020204" pitchFamily="34" charset="0"/>
              </a:rPr>
              <a:t>┇</a:t>
            </a:r>
            <a:endParaRPr lang="en-US" altLang="zh-CN" sz="2000" dirty="0">
              <a:solidFill>
                <a:srgbClr val="0000FF"/>
              </a:solidFill>
              <a:latin typeface="Arial" panose="020B0604020202020204" pitchFamily="34" charset="0"/>
            </a:endParaRPr>
          </a:p>
          <a:p>
            <a:r>
              <a:rPr lang="en-US" altLang="zh-CN" sz="2000" dirty="0">
                <a:solidFill>
                  <a:srgbClr val="0000FF"/>
                </a:solidFill>
                <a:latin typeface="Arial" panose="020B0604020202020204" pitchFamily="34" charset="0"/>
              </a:rPr>
              <a:t>             IRET</a:t>
            </a:r>
            <a:endParaRPr lang="zh-CN" altLang="en-US" sz="2000" dirty="0">
              <a:solidFill>
                <a:srgbClr val="0000FF"/>
              </a:solidFill>
              <a:latin typeface="Arial" panose="020B0604020202020204" pitchFamily="34" charset="0"/>
            </a:endParaRPr>
          </a:p>
        </p:txBody>
      </p:sp>
      <p:sp>
        <p:nvSpPr>
          <p:cNvPr id="4" name="标题 344065">
            <a:extLst>
              <a:ext uri="{FF2B5EF4-FFF2-40B4-BE49-F238E27FC236}">
                <a16:creationId xmlns:a16="http://schemas.microsoft.com/office/drawing/2014/main" id="{A74264F8-E45D-F41D-8F38-B8554360E344}"/>
              </a:ext>
            </a:extLst>
          </p:cNvPr>
          <p:cNvSpPr txBox="1">
            <a:spLocks/>
          </p:cNvSpPr>
          <p:nvPr/>
        </p:nvSpPr>
        <p:spPr>
          <a:xfrm>
            <a:off x="1547664" y="188640"/>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8.4  8259A在微机中的编程应用</a:t>
            </a:r>
            <a:endParaRPr lang="zh-CN" altLang="en-US" sz="3600" b="1" dirty="0">
              <a:solidFill>
                <a:srgbClr val="FF0000"/>
              </a:solidFill>
              <a:ea typeface="隶书" panose="02010509060101010101" pitchFamily="49" charset="-122"/>
            </a:endParaRPr>
          </a:p>
        </p:txBody>
      </p:sp>
    </p:spTree>
    <p:extLst>
      <p:ext uri="{BB962C8B-B14F-4D97-AF65-F5344CB8AC3E}">
        <p14:creationId xmlns:p14="http://schemas.microsoft.com/office/powerpoint/2010/main" val="12102871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44065">
            <a:extLst>
              <a:ext uri="{FF2B5EF4-FFF2-40B4-BE49-F238E27FC236}">
                <a16:creationId xmlns:a16="http://schemas.microsoft.com/office/drawing/2014/main" id="{1C287EF0-CF02-497E-876F-8E92CCBE06F8}"/>
              </a:ext>
            </a:extLst>
          </p:cNvPr>
          <p:cNvSpPr txBox="1">
            <a:spLocks/>
          </p:cNvSpPr>
          <p:nvPr/>
        </p:nvSpPr>
        <p:spPr>
          <a:xfrm>
            <a:off x="1547664" y="188640"/>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8.4  8259A在微机中的编程应用</a:t>
            </a:r>
            <a:endParaRPr lang="zh-CN" altLang="en-US" sz="3600" b="1" dirty="0">
              <a:solidFill>
                <a:srgbClr val="FF0000"/>
              </a:solidFill>
              <a:ea typeface="隶书" panose="02010509060101010101" pitchFamily="49" charset="-122"/>
            </a:endParaRPr>
          </a:p>
        </p:txBody>
      </p:sp>
      <p:sp>
        <p:nvSpPr>
          <p:cNvPr id="3" name="内容占位符 2">
            <a:extLst>
              <a:ext uri="{FF2B5EF4-FFF2-40B4-BE49-F238E27FC236}">
                <a16:creationId xmlns:a16="http://schemas.microsoft.com/office/drawing/2014/main" id="{C1649947-870B-4C79-BC2F-795767BBBCA0}"/>
              </a:ext>
            </a:extLst>
          </p:cNvPr>
          <p:cNvSpPr txBox="1">
            <a:spLocks/>
          </p:cNvSpPr>
          <p:nvPr/>
        </p:nvSpPr>
        <p:spPr>
          <a:xfrm>
            <a:off x="385763" y="980728"/>
            <a:ext cx="8372475" cy="5508972"/>
          </a:xfrm>
          <a:prstGeom prst="rect">
            <a:avLst/>
          </a:prstGeom>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lgn="just">
              <a:spcBef>
                <a:spcPts val="0"/>
              </a:spcBef>
              <a:buClr>
                <a:srgbClr val="0000FF"/>
              </a:buClr>
              <a:buFont typeface="Wingdings" panose="05000000000000000000" pitchFamily="2" charset="2"/>
              <a:buChar char="p"/>
            </a:pPr>
            <a:r>
              <a:rPr lang="en-US" sz="2600" dirty="0"/>
              <a:t>DOS</a:t>
            </a:r>
            <a:r>
              <a:rPr lang="zh-CN" altLang="en-US" sz="2600" dirty="0"/>
              <a:t>功能调用专门提供了在中断向量表中设置和取得中断向量的手段，功能号为</a:t>
            </a:r>
            <a:r>
              <a:rPr lang="en-US" sz="2600" dirty="0"/>
              <a:t>25H</a:t>
            </a:r>
            <a:r>
              <a:rPr lang="zh-CN" altLang="en-US" sz="2600" dirty="0"/>
              <a:t>和</a:t>
            </a:r>
            <a:r>
              <a:rPr lang="en-US" sz="2600" dirty="0"/>
              <a:t>35H</a:t>
            </a:r>
            <a:r>
              <a:rPr lang="zh-CN" altLang="en-US" sz="2600" dirty="0"/>
              <a:t>。</a:t>
            </a:r>
          </a:p>
          <a:p>
            <a:pPr>
              <a:spcBef>
                <a:spcPts val="1200"/>
              </a:spcBef>
              <a:buFontTx/>
              <a:buNone/>
            </a:pPr>
            <a:r>
              <a:rPr lang="zh-CN" altLang="en-US" sz="2600" dirty="0">
                <a:solidFill>
                  <a:srgbClr val="FF00FF"/>
                </a:solidFill>
                <a:ea typeface="黑体" pitchFamily="2" charset="-122"/>
              </a:rPr>
              <a:t>设置中断向量</a:t>
            </a:r>
          </a:p>
          <a:p>
            <a:pPr>
              <a:spcBef>
                <a:spcPts val="0"/>
              </a:spcBef>
              <a:buFontTx/>
              <a:buNone/>
            </a:pPr>
            <a:r>
              <a:rPr lang="zh-CN" altLang="en-US" sz="2400" dirty="0">
                <a:ea typeface="黑体" pitchFamily="2" charset="-122"/>
              </a:rPr>
              <a:t>入口参数</a:t>
            </a:r>
            <a:r>
              <a:rPr lang="en-US" sz="2400" dirty="0">
                <a:ea typeface="黑体" pitchFamily="2" charset="-122"/>
              </a:rPr>
              <a:t>  </a:t>
            </a:r>
            <a:r>
              <a:rPr lang="en-US" sz="2400" dirty="0"/>
              <a:t>DS</a:t>
            </a:r>
            <a:r>
              <a:rPr lang="zh-CN" altLang="en-US" sz="2400" dirty="0"/>
              <a:t>：</a:t>
            </a:r>
            <a:r>
              <a:rPr lang="en-US" sz="2400" dirty="0"/>
              <a:t>DX=</a:t>
            </a:r>
            <a:r>
              <a:rPr lang="zh-CN" altLang="en-US" sz="2400" dirty="0"/>
              <a:t>中断向量（中断服务程序入口地址）</a:t>
            </a:r>
          </a:p>
          <a:p>
            <a:pPr>
              <a:spcBef>
                <a:spcPts val="0"/>
              </a:spcBef>
              <a:buFontTx/>
              <a:buNone/>
            </a:pPr>
            <a:r>
              <a:rPr lang="en-US" sz="2400" dirty="0"/>
              <a:t>          	      AL=</a:t>
            </a:r>
            <a:r>
              <a:rPr lang="zh-CN" altLang="en-US" sz="2400" dirty="0"/>
              <a:t>中断类型号</a:t>
            </a:r>
            <a:r>
              <a:rPr lang="en-US" sz="2400" dirty="0"/>
              <a:t>N</a:t>
            </a:r>
            <a:endParaRPr lang="zh-CN" altLang="en-US" sz="2400" dirty="0"/>
          </a:p>
          <a:p>
            <a:pPr>
              <a:spcBef>
                <a:spcPts val="0"/>
              </a:spcBef>
              <a:buFontTx/>
              <a:buNone/>
            </a:pPr>
            <a:r>
              <a:rPr lang="en-US" sz="2400" dirty="0"/>
              <a:t>                 AH=25H</a:t>
            </a:r>
            <a:r>
              <a:rPr lang="zh-CN" altLang="en-US" sz="2400" dirty="0"/>
              <a:t>（</a:t>
            </a:r>
            <a:r>
              <a:rPr lang="en-US" sz="2400" dirty="0"/>
              <a:t>DOS</a:t>
            </a:r>
            <a:r>
              <a:rPr lang="zh-CN" altLang="en-US" sz="2400" dirty="0"/>
              <a:t>功能号）</a:t>
            </a:r>
          </a:p>
          <a:p>
            <a:pPr>
              <a:spcBef>
                <a:spcPts val="0"/>
              </a:spcBef>
              <a:buFontTx/>
              <a:buNone/>
            </a:pPr>
            <a:r>
              <a:rPr lang="zh-CN" altLang="en-US" sz="2400" dirty="0">
                <a:ea typeface="黑体" pitchFamily="2" charset="-122"/>
              </a:rPr>
              <a:t>执行</a:t>
            </a:r>
            <a:r>
              <a:rPr lang="en-US" sz="2400" dirty="0">
                <a:ea typeface="黑体" pitchFamily="2" charset="-122"/>
              </a:rPr>
              <a:t>    </a:t>
            </a:r>
            <a:r>
              <a:rPr lang="en-US" sz="2400" dirty="0"/>
              <a:t>INT  21H</a:t>
            </a:r>
            <a:r>
              <a:rPr lang="zh-CN" altLang="en-US" sz="2400" dirty="0"/>
              <a:t>指令</a:t>
            </a:r>
          </a:p>
          <a:p>
            <a:pPr algn="just">
              <a:spcBef>
                <a:spcPts val="0"/>
              </a:spcBef>
              <a:buFontTx/>
              <a:buNone/>
            </a:pPr>
            <a:r>
              <a:rPr lang="zh-CN" altLang="en-US" sz="2400" dirty="0">
                <a:ea typeface="黑体" pitchFamily="2" charset="-122"/>
              </a:rPr>
              <a:t>结果</a:t>
            </a:r>
            <a:r>
              <a:rPr lang="en-US" sz="2400" dirty="0">
                <a:ea typeface="黑体" pitchFamily="2" charset="-122"/>
              </a:rPr>
              <a:t>  </a:t>
            </a:r>
            <a:r>
              <a:rPr lang="zh-CN" altLang="en-US" sz="2400" dirty="0"/>
              <a:t>将</a:t>
            </a:r>
            <a:r>
              <a:rPr lang="en-US" sz="2400" dirty="0"/>
              <a:t>AL</a:t>
            </a:r>
            <a:r>
              <a:rPr lang="zh-CN" altLang="en-US" sz="2400" dirty="0"/>
              <a:t>中指定的中断类型号为</a:t>
            </a:r>
            <a:r>
              <a:rPr lang="en-US" sz="2400" dirty="0"/>
              <a:t>N</a:t>
            </a:r>
            <a:r>
              <a:rPr lang="zh-CN" altLang="en-US" sz="2400" dirty="0"/>
              <a:t>的中断向量（</a:t>
            </a:r>
            <a:r>
              <a:rPr lang="en-US" sz="2400" dirty="0"/>
              <a:t>DS</a:t>
            </a:r>
            <a:r>
              <a:rPr lang="zh-CN" altLang="en-US" sz="2400" dirty="0"/>
              <a:t>：</a:t>
            </a:r>
            <a:r>
              <a:rPr lang="en-US" sz="2400" dirty="0"/>
              <a:t>DX</a:t>
            </a:r>
            <a:r>
              <a:rPr lang="zh-CN" altLang="en-US" sz="2400" dirty="0"/>
              <a:t>）置入中断向量表中。</a:t>
            </a:r>
          </a:p>
          <a:p>
            <a:pPr>
              <a:spcBef>
                <a:spcPts val="1200"/>
              </a:spcBef>
              <a:buFontTx/>
              <a:buNone/>
            </a:pPr>
            <a:r>
              <a:rPr lang="zh-CN" altLang="en-US" sz="2600" dirty="0">
                <a:solidFill>
                  <a:srgbClr val="FF00FF"/>
                </a:solidFill>
                <a:ea typeface="黑体" pitchFamily="2" charset="-122"/>
              </a:rPr>
              <a:t>取得中断向量</a:t>
            </a:r>
          </a:p>
          <a:p>
            <a:pPr>
              <a:spcBef>
                <a:spcPts val="0"/>
              </a:spcBef>
              <a:buFontTx/>
              <a:buNone/>
            </a:pPr>
            <a:r>
              <a:rPr lang="zh-CN" altLang="en-US" sz="2400" dirty="0">
                <a:ea typeface="黑体" pitchFamily="2" charset="-122"/>
              </a:rPr>
              <a:t>入口参数</a:t>
            </a:r>
            <a:r>
              <a:rPr lang="en-US" sz="2400" dirty="0">
                <a:ea typeface="黑体" pitchFamily="2" charset="-122"/>
              </a:rPr>
              <a:t>   </a:t>
            </a:r>
            <a:r>
              <a:rPr lang="en-US" sz="2400" dirty="0"/>
              <a:t>AL=</a:t>
            </a:r>
            <a:r>
              <a:rPr lang="zh-CN" altLang="en-US" sz="2400" dirty="0"/>
              <a:t>中断类型号</a:t>
            </a:r>
            <a:r>
              <a:rPr lang="en-US" sz="2400" dirty="0"/>
              <a:t>N</a:t>
            </a:r>
            <a:endParaRPr lang="zh-CN" altLang="en-US" sz="2400" dirty="0"/>
          </a:p>
          <a:p>
            <a:pPr>
              <a:spcBef>
                <a:spcPts val="0"/>
              </a:spcBef>
              <a:buFontTx/>
              <a:buNone/>
            </a:pPr>
            <a:r>
              <a:rPr lang="en-US" sz="2400" dirty="0"/>
              <a:t>                 AH=35H</a:t>
            </a:r>
            <a:r>
              <a:rPr lang="zh-CN" altLang="en-US" sz="2400" dirty="0"/>
              <a:t>（</a:t>
            </a:r>
            <a:r>
              <a:rPr lang="en-US" sz="2400" dirty="0"/>
              <a:t>DOS</a:t>
            </a:r>
            <a:r>
              <a:rPr lang="zh-CN" altLang="en-US" sz="2400" dirty="0"/>
              <a:t>功能号）</a:t>
            </a:r>
          </a:p>
          <a:p>
            <a:pPr>
              <a:spcBef>
                <a:spcPts val="0"/>
              </a:spcBef>
              <a:buFontTx/>
              <a:buNone/>
            </a:pPr>
            <a:r>
              <a:rPr lang="zh-CN" altLang="en-US" sz="2400" dirty="0">
                <a:ea typeface="黑体" pitchFamily="2" charset="-122"/>
              </a:rPr>
              <a:t>执行</a:t>
            </a:r>
            <a:r>
              <a:rPr lang="en-US" sz="2400" dirty="0">
                <a:ea typeface="黑体" pitchFamily="2" charset="-122"/>
              </a:rPr>
              <a:t>    </a:t>
            </a:r>
            <a:r>
              <a:rPr lang="en-US" sz="2400" dirty="0"/>
              <a:t>INT  21H </a:t>
            </a:r>
            <a:r>
              <a:rPr lang="zh-CN" altLang="en-US" sz="2400" dirty="0"/>
              <a:t>指令</a:t>
            </a:r>
          </a:p>
          <a:p>
            <a:pPr algn="just">
              <a:spcBef>
                <a:spcPts val="0"/>
              </a:spcBef>
              <a:buFontTx/>
              <a:buNone/>
            </a:pPr>
            <a:r>
              <a:rPr lang="zh-CN" altLang="en-US" sz="2400" dirty="0">
                <a:ea typeface="黑体" pitchFamily="2" charset="-122"/>
              </a:rPr>
              <a:t>结果</a:t>
            </a:r>
            <a:r>
              <a:rPr lang="en-US" sz="2400" dirty="0">
                <a:ea typeface="黑体" pitchFamily="2" charset="-122"/>
              </a:rPr>
              <a:t>    </a:t>
            </a:r>
            <a:r>
              <a:rPr lang="en-US" sz="2400" dirty="0"/>
              <a:t>N</a:t>
            </a:r>
            <a:r>
              <a:rPr lang="zh-CN" altLang="en-US" sz="2400" dirty="0"/>
              <a:t>号中断的中断向量从中断向量表中取到</a:t>
            </a:r>
            <a:r>
              <a:rPr lang="en-US" sz="2400" dirty="0"/>
              <a:t>ES</a:t>
            </a:r>
            <a:r>
              <a:rPr lang="zh-CN" altLang="en-US" sz="2400" dirty="0"/>
              <a:t>：</a:t>
            </a:r>
            <a:r>
              <a:rPr lang="en-US" sz="2400" dirty="0"/>
              <a:t>BX</a:t>
            </a:r>
            <a:r>
              <a:rPr lang="zh-CN" altLang="en-US" sz="2400" dirty="0"/>
              <a:t>中</a:t>
            </a:r>
          </a:p>
          <a:p>
            <a:pPr>
              <a:spcBef>
                <a:spcPts val="0"/>
              </a:spcBef>
              <a:buFontTx/>
              <a:buNone/>
            </a:pPr>
            <a:endParaRPr lang="zh-CN" altLang="en-US" sz="2400" dirty="0">
              <a:ea typeface="黑体" pitchFamily="2" charset="-122"/>
            </a:endParaRPr>
          </a:p>
        </p:txBody>
      </p:sp>
    </p:spTree>
    <p:extLst>
      <p:ext uri="{BB962C8B-B14F-4D97-AF65-F5344CB8AC3E}">
        <p14:creationId xmlns:p14="http://schemas.microsoft.com/office/powerpoint/2010/main" val="33446458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44065">
            <a:extLst>
              <a:ext uri="{FF2B5EF4-FFF2-40B4-BE49-F238E27FC236}">
                <a16:creationId xmlns:a16="http://schemas.microsoft.com/office/drawing/2014/main" id="{8D00F2E4-592B-4B6D-AB7D-6AB0DC23A159}"/>
              </a:ext>
            </a:extLst>
          </p:cNvPr>
          <p:cNvSpPr txBox="1">
            <a:spLocks/>
          </p:cNvSpPr>
          <p:nvPr/>
        </p:nvSpPr>
        <p:spPr>
          <a:xfrm>
            <a:off x="1547664" y="188640"/>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8.4  8259A在微机中的编程应用</a:t>
            </a:r>
            <a:endParaRPr lang="zh-CN" altLang="en-US" sz="3600" b="1" dirty="0">
              <a:solidFill>
                <a:srgbClr val="FF0000"/>
              </a:solidFill>
              <a:ea typeface="隶书" panose="02010509060101010101" pitchFamily="49" charset="-122"/>
            </a:endParaRPr>
          </a:p>
        </p:txBody>
      </p:sp>
      <p:sp>
        <p:nvSpPr>
          <p:cNvPr id="4" name="文本框 3">
            <a:extLst>
              <a:ext uri="{FF2B5EF4-FFF2-40B4-BE49-F238E27FC236}">
                <a16:creationId xmlns:a16="http://schemas.microsoft.com/office/drawing/2014/main" id="{1B30B2DD-DAC9-4370-8BB0-C6836F59880C}"/>
              </a:ext>
            </a:extLst>
          </p:cNvPr>
          <p:cNvSpPr txBox="1"/>
          <p:nvPr/>
        </p:nvSpPr>
        <p:spPr>
          <a:xfrm>
            <a:off x="291902" y="980728"/>
            <a:ext cx="8456562" cy="1200329"/>
          </a:xfrm>
          <a:prstGeom prst="rect">
            <a:avLst/>
          </a:prstGeom>
          <a:noFill/>
        </p:spPr>
        <p:txBody>
          <a:bodyPr wrap="square">
            <a:spAutoFit/>
          </a:bodyPr>
          <a:lstStyle/>
          <a:p>
            <a:pPr marL="0" indent="0" algn="just">
              <a:buNone/>
            </a:pPr>
            <a:r>
              <a:rPr lang="en-US" altLang="zh-CN" sz="2400" b="1" dirty="0">
                <a:solidFill>
                  <a:srgbClr val="0000FF"/>
                </a:solidFill>
                <a:latin typeface="Arial" panose="020B0604020202020204" pitchFamily="34" charset="0"/>
              </a:rPr>
              <a:t>【</a:t>
            </a:r>
            <a:r>
              <a:rPr lang="zh-CN" altLang="en-US" sz="2400" b="1" dirty="0">
                <a:solidFill>
                  <a:srgbClr val="0000FF"/>
                </a:solidFill>
                <a:latin typeface="Arial" panose="020B0604020202020204" pitchFamily="34" charset="0"/>
              </a:rPr>
              <a:t>例</a:t>
            </a:r>
            <a:r>
              <a:rPr lang="en-US" altLang="zh-CN" sz="2400" b="1" dirty="0">
                <a:solidFill>
                  <a:srgbClr val="0000FF"/>
                </a:solidFill>
                <a:latin typeface="Arial" panose="020B0604020202020204" pitchFamily="34" charset="0"/>
              </a:rPr>
              <a:t>】</a:t>
            </a:r>
            <a:r>
              <a:rPr lang="zh-CN" altLang="en-US" sz="2400" dirty="0">
                <a:latin typeface="+mn-lt"/>
              </a:rPr>
              <a:t>编写中断处理程序，要求主程序运行时，每隔</a:t>
            </a:r>
            <a:r>
              <a:rPr lang="en-US" altLang="zh-CN" sz="2400" dirty="0">
                <a:latin typeface="+mn-lt"/>
              </a:rPr>
              <a:t>10</a:t>
            </a:r>
            <a:r>
              <a:rPr lang="zh-CN" altLang="en-US" sz="2400" dirty="0">
                <a:latin typeface="+mn-lt"/>
              </a:rPr>
              <a:t>秒钟响铃一次，并在</a:t>
            </a:r>
            <a:r>
              <a:rPr lang="en-US" altLang="zh-CN" sz="2400" dirty="0">
                <a:latin typeface="+mn-lt"/>
              </a:rPr>
              <a:t>CRT</a:t>
            </a:r>
            <a:r>
              <a:rPr lang="zh-CN" altLang="en-US" sz="2400" dirty="0">
                <a:latin typeface="+mn-lt"/>
              </a:rPr>
              <a:t>上显示一行信息“</a:t>
            </a:r>
            <a:r>
              <a:rPr lang="en-US" altLang="zh-CN" sz="2400" dirty="0">
                <a:latin typeface="+mn-lt"/>
              </a:rPr>
              <a:t>The bell is ring.</a:t>
            </a:r>
            <a:r>
              <a:rPr lang="zh-CN" altLang="en-US" sz="2400" dirty="0">
                <a:latin typeface="+mn-lt"/>
              </a:rPr>
              <a:t>”，运行一定时间后停止运行。</a:t>
            </a:r>
          </a:p>
        </p:txBody>
      </p:sp>
      <p:sp>
        <p:nvSpPr>
          <p:cNvPr id="6" name="文本框 5">
            <a:extLst>
              <a:ext uri="{FF2B5EF4-FFF2-40B4-BE49-F238E27FC236}">
                <a16:creationId xmlns:a16="http://schemas.microsoft.com/office/drawing/2014/main" id="{8F647F7E-222C-4360-8A74-CE4218F9C4AB}"/>
              </a:ext>
            </a:extLst>
          </p:cNvPr>
          <p:cNvSpPr txBox="1"/>
          <p:nvPr/>
        </p:nvSpPr>
        <p:spPr>
          <a:xfrm>
            <a:off x="467544" y="2182223"/>
            <a:ext cx="7920880" cy="3200876"/>
          </a:xfrm>
          <a:prstGeom prst="rect">
            <a:avLst/>
          </a:prstGeom>
          <a:noFill/>
        </p:spPr>
        <p:txBody>
          <a:bodyPr wrap="square">
            <a:spAutoFit/>
          </a:bodyPr>
          <a:lstStyle/>
          <a:p>
            <a:pPr marL="358775" indent="-358775" algn="just">
              <a:spcBef>
                <a:spcPts val="1200"/>
              </a:spcBef>
              <a:buClr>
                <a:srgbClr val="0000FF"/>
              </a:buClr>
              <a:buFont typeface="Wingdings" panose="05000000000000000000" pitchFamily="2" charset="2"/>
              <a:buChar char="p"/>
            </a:pPr>
            <a:r>
              <a:rPr lang="zh-CN" altLang="en-US" sz="2400" dirty="0">
                <a:latin typeface="+mn-lt"/>
              </a:rPr>
              <a:t>在</a:t>
            </a:r>
            <a:r>
              <a:rPr lang="en-US" altLang="zh-CN" sz="2400" dirty="0">
                <a:latin typeface="+mn-lt"/>
              </a:rPr>
              <a:t>PC</a:t>
            </a:r>
            <a:r>
              <a:rPr lang="zh-CN" altLang="en-US" sz="2400" dirty="0">
                <a:latin typeface="+mn-lt"/>
              </a:rPr>
              <a:t>机中，每隔</a:t>
            </a:r>
            <a:r>
              <a:rPr lang="en-US" altLang="zh-CN" sz="2400" dirty="0">
                <a:latin typeface="+mn-lt"/>
              </a:rPr>
              <a:t>55ms</a:t>
            </a:r>
            <a:r>
              <a:rPr lang="zh-CN" altLang="en-US" sz="2400" dirty="0">
                <a:latin typeface="+mn-lt"/>
              </a:rPr>
              <a:t>执行一次“</a:t>
            </a:r>
            <a:r>
              <a:rPr lang="en-US" altLang="zh-CN" sz="2400" dirty="0">
                <a:latin typeface="+mn-lt"/>
              </a:rPr>
              <a:t>INT 8H</a:t>
            </a:r>
            <a:r>
              <a:rPr lang="zh-CN" altLang="en-US" sz="2400" dirty="0">
                <a:latin typeface="+mn-lt"/>
              </a:rPr>
              <a:t>”中断服务程序。</a:t>
            </a:r>
            <a:r>
              <a:rPr lang="en-US" altLang="zh-CN" sz="2400" dirty="0">
                <a:latin typeface="+mn-lt"/>
              </a:rPr>
              <a:t>PC</a:t>
            </a:r>
            <a:r>
              <a:rPr lang="zh-CN" altLang="en-US" sz="2400" dirty="0">
                <a:latin typeface="+mn-lt"/>
              </a:rPr>
              <a:t>机每产生一次中断都要调用一次</a:t>
            </a:r>
            <a:r>
              <a:rPr lang="en-US" altLang="zh-CN" sz="2400" dirty="0">
                <a:latin typeface="+mn-lt"/>
              </a:rPr>
              <a:t>N=1CH</a:t>
            </a:r>
            <a:r>
              <a:rPr lang="zh-CN" altLang="en-US" sz="2400" dirty="0">
                <a:latin typeface="+mn-lt"/>
              </a:rPr>
              <a:t>的中断处理程序，该处理程序只有一条</a:t>
            </a:r>
            <a:r>
              <a:rPr lang="en-US" altLang="zh-CN" sz="2400" dirty="0">
                <a:latin typeface="+mn-lt"/>
              </a:rPr>
              <a:t>IRET</a:t>
            </a:r>
            <a:r>
              <a:rPr lang="zh-CN" altLang="en-US" sz="2400" dirty="0">
                <a:latin typeface="+mn-lt"/>
              </a:rPr>
              <a:t>指令，用户若有周期性的定时工作要做，就可以利用它，用自己设计的程序替代原有的</a:t>
            </a:r>
            <a:r>
              <a:rPr lang="en-US" altLang="zh-CN" sz="2400" dirty="0">
                <a:latin typeface="+mn-lt"/>
              </a:rPr>
              <a:t>1CH</a:t>
            </a:r>
            <a:r>
              <a:rPr lang="zh-CN" altLang="en-US" sz="2400" dirty="0">
                <a:latin typeface="+mn-lt"/>
              </a:rPr>
              <a:t>中断处理程序。</a:t>
            </a:r>
          </a:p>
          <a:p>
            <a:pPr marL="358775" indent="-358775" algn="just">
              <a:spcBef>
                <a:spcPts val="1200"/>
              </a:spcBef>
              <a:buClr>
                <a:srgbClr val="0000FF"/>
              </a:buClr>
              <a:buFont typeface="Wingdings" panose="05000000000000000000" pitchFamily="2" charset="2"/>
              <a:buChar char="p"/>
            </a:pPr>
            <a:r>
              <a:rPr lang="zh-CN" altLang="en-US" sz="2400" dirty="0">
                <a:latin typeface="+mn-lt"/>
              </a:rPr>
              <a:t>用户编写新的中断处理主程序时，要先保存当前中断向量（</a:t>
            </a:r>
            <a:r>
              <a:rPr lang="en-US" altLang="zh-CN" sz="2400" dirty="0">
                <a:latin typeface="+mn-lt"/>
              </a:rPr>
              <a:t>1CH</a:t>
            </a:r>
            <a:r>
              <a:rPr lang="zh-CN" altLang="en-US" sz="2400" dirty="0">
                <a:latin typeface="+mn-lt"/>
              </a:rPr>
              <a:t>号中断），再设置新的中断向量（完成响铃、显示工作），结束时恢复原中断向量。</a:t>
            </a:r>
          </a:p>
        </p:txBody>
      </p:sp>
    </p:spTree>
    <p:extLst>
      <p:ext uri="{BB962C8B-B14F-4D97-AF65-F5344CB8AC3E}">
        <p14:creationId xmlns:p14="http://schemas.microsoft.com/office/powerpoint/2010/main" val="23256121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44065">
            <a:extLst>
              <a:ext uri="{FF2B5EF4-FFF2-40B4-BE49-F238E27FC236}">
                <a16:creationId xmlns:a16="http://schemas.microsoft.com/office/drawing/2014/main" id="{0371387A-7AD8-4B2D-9E4A-56079D12B412}"/>
              </a:ext>
            </a:extLst>
          </p:cNvPr>
          <p:cNvSpPr txBox="1">
            <a:spLocks/>
          </p:cNvSpPr>
          <p:nvPr/>
        </p:nvSpPr>
        <p:spPr>
          <a:xfrm>
            <a:off x="1547664" y="188640"/>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8.4  8259A在微机中的编程应用</a:t>
            </a:r>
            <a:endParaRPr lang="zh-CN" altLang="en-US" sz="3600" b="1" dirty="0">
              <a:solidFill>
                <a:srgbClr val="FF0000"/>
              </a:solidFill>
              <a:ea typeface="隶书" panose="02010509060101010101" pitchFamily="49" charset="-122"/>
            </a:endParaRPr>
          </a:p>
        </p:txBody>
      </p:sp>
      <p:pic>
        <p:nvPicPr>
          <p:cNvPr id="3" name="内容占位符 3" descr="t-8.24.TIF">
            <a:extLst>
              <a:ext uri="{FF2B5EF4-FFF2-40B4-BE49-F238E27FC236}">
                <a16:creationId xmlns:a16="http://schemas.microsoft.com/office/drawing/2014/main" id="{31BD8349-6B9F-46D6-A320-4AA208D072C6}"/>
              </a:ext>
            </a:extLst>
          </p:cNvPr>
          <p:cNvPicPr>
            <a:picLocks noChangeAspect="1"/>
          </p:cNvPicPr>
          <p:nvPr/>
        </p:nvPicPr>
        <p:blipFill>
          <a:blip r:embed="rId2" cstate="print"/>
          <a:stretch>
            <a:fillRect/>
          </a:stretch>
        </p:blipFill>
        <p:spPr>
          <a:xfrm>
            <a:off x="793750" y="895350"/>
            <a:ext cx="7600950" cy="5671254"/>
          </a:xfrm>
          <a:prstGeom prst="rect">
            <a:avLst/>
          </a:prstGeom>
        </p:spPr>
      </p:pic>
    </p:spTree>
    <p:extLst>
      <p:ext uri="{BB962C8B-B14F-4D97-AF65-F5344CB8AC3E}">
        <p14:creationId xmlns:p14="http://schemas.microsoft.com/office/powerpoint/2010/main" val="39761115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44065">
            <a:extLst>
              <a:ext uri="{FF2B5EF4-FFF2-40B4-BE49-F238E27FC236}">
                <a16:creationId xmlns:a16="http://schemas.microsoft.com/office/drawing/2014/main" id="{C04613F5-3F0B-443A-9512-AC608A6D2EC7}"/>
              </a:ext>
            </a:extLst>
          </p:cNvPr>
          <p:cNvSpPr txBox="1">
            <a:spLocks/>
          </p:cNvSpPr>
          <p:nvPr/>
        </p:nvSpPr>
        <p:spPr>
          <a:xfrm>
            <a:off x="1547664" y="188640"/>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8.4  8259A在微机中的编程应用</a:t>
            </a:r>
            <a:endParaRPr lang="zh-CN" altLang="en-US" sz="3600" b="1" dirty="0">
              <a:solidFill>
                <a:srgbClr val="FF0000"/>
              </a:solidFill>
              <a:ea typeface="隶书" panose="02010509060101010101" pitchFamily="49" charset="-122"/>
            </a:endParaRPr>
          </a:p>
        </p:txBody>
      </p:sp>
      <p:sp>
        <p:nvSpPr>
          <p:cNvPr id="4" name="文本框 3">
            <a:extLst>
              <a:ext uri="{FF2B5EF4-FFF2-40B4-BE49-F238E27FC236}">
                <a16:creationId xmlns:a16="http://schemas.microsoft.com/office/drawing/2014/main" id="{B71AF0CD-B195-4092-8CFC-7EB8C3DADD76}"/>
              </a:ext>
            </a:extLst>
          </p:cNvPr>
          <p:cNvSpPr txBox="1"/>
          <p:nvPr/>
        </p:nvSpPr>
        <p:spPr>
          <a:xfrm>
            <a:off x="107504" y="764704"/>
            <a:ext cx="8496944" cy="6001643"/>
          </a:xfrm>
          <a:prstGeom prst="rect">
            <a:avLst/>
          </a:prstGeom>
          <a:noFill/>
        </p:spPr>
        <p:txBody>
          <a:bodyPr wrap="square">
            <a:spAutoFit/>
          </a:bodyPr>
          <a:lstStyle/>
          <a:p>
            <a:pPr>
              <a:spcBef>
                <a:spcPts val="0"/>
              </a:spcBef>
              <a:buNone/>
            </a:pPr>
            <a:r>
              <a:rPr lang="en-US" altLang="zh-CN" sz="2400" dirty="0">
                <a:solidFill>
                  <a:srgbClr val="0000FF"/>
                </a:solidFill>
                <a:latin typeface="+mn-lt"/>
              </a:rPr>
              <a:t>DATA       SEGMENT		</a:t>
            </a:r>
            <a:r>
              <a:rPr lang="zh-CN" altLang="en-US" sz="2400" dirty="0">
                <a:solidFill>
                  <a:srgbClr val="0000FF"/>
                </a:solidFill>
                <a:latin typeface="+mn-lt"/>
              </a:rPr>
              <a:t>；数据段</a:t>
            </a:r>
          </a:p>
          <a:p>
            <a:pPr>
              <a:spcBef>
                <a:spcPts val="0"/>
              </a:spcBef>
              <a:buNone/>
            </a:pPr>
            <a:r>
              <a:rPr lang="en-US" altLang="zh-CN" sz="2400" dirty="0">
                <a:solidFill>
                  <a:srgbClr val="0000FF"/>
                </a:solidFill>
                <a:latin typeface="+mn-lt"/>
              </a:rPr>
              <a:t>COUNT    DW  1    			</a:t>
            </a:r>
            <a:r>
              <a:rPr lang="zh-CN" altLang="en-US" sz="2400" dirty="0">
                <a:solidFill>
                  <a:srgbClr val="0000FF"/>
                </a:solidFill>
                <a:latin typeface="+mn-lt"/>
              </a:rPr>
              <a:t>；</a:t>
            </a:r>
            <a:r>
              <a:rPr lang="en-US" altLang="zh-CN" sz="2400" dirty="0">
                <a:solidFill>
                  <a:srgbClr val="0000FF"/>
                </a:solidFill>
                <a:latin typeface="+mn-lt"/>
              </a:rPr>
              <a:t>10s</a:t>
            </a:r>
            <a:r>
              <a:rPr lang="zh-CN" altLang="en-US" sz="2400" dirty="0">
                <a:solidFill>
                  <a:srgbClr val="0000FF"/>
                </a:solidFill>
                <a:latin typeface="+mn-lt"/>
              </a:rPr>
              <a:t>计数器首次值置为</a:t>
            </a:r>
            <a:r>
              <a:rPr lang="en-US" altLang="zh-CN" sz="2400" dirty="0">
                <a:solidFill>
                  <a:srgbClr val="0000FF"/>
                </a:solidFill>
                <a:latin typeface="+mn-lt"/>
              </a:rPr>
              <a:t>1</a:t>
            </a:r>
            <a:endParaRPr lang="zh-CN" altLang="en-US" sz="2400" dirty="0">
              <a:solidFill>
                <a:srgbClr val="0000FF"/>
              </a:solidFill>
              <a:latin typeface="+mn-lt"/>
            </a:endParaRPr>
          </a:p>
          <a:p>
            <a:pPr>
              <a:spcBef>
                <a:spcPts val="0"/>
              </a:spcBef>
              <a:buNone/>
            </a:pPr>
            <a:r>
              <a:rPr lang="en-US" altLang="zh-CN" sz="2400" dirty="0">
                <a:solidFill>
                  <a:srgbClr val="0000FF"/>
                </a:solidFill>
                <a:latin typeface="+mn-lt"/>
              </a:rPr>
              <a:t>MESS        DB  ‘The bell is ring.’</a:t>
            </a:r>
            <a:r>
              <a:rPr lang="zh-CN" altLang="en-US" sz="2400" dirty="0">
                <a:solidFill>
                  <a:srgbClr val="0000FF"/>
                </a:solidFill>
                <a:latin typeface="+mn-lt"/>
              </a:rPr>
              <a:t>，</a:t>
            </a:r>
            <a:r>
              <a:rPr lang="en-US" altLang="zh-CN" sz="2400" dirty="0">
                <a:solidFill>
                  <a:srgbClr val="0000FF"/>
                </a:solidFill>
                <a:latin typeface="+mn-lt"/>
              </a:rPr>
              <a:t>0AH</a:t>
            </a:r>
            <a:r>
              <a:rPr lang="zh-CN" altLang="en-US" sz="2400" dirty="0">
                <a:solidFill>
                  <a:srgbClr val="0000FF"/>
                </a:solidFill>
                <a:latin typeface="+mn-lt"/>
              </a:rPr>
              <a:t>，</a:t>
            </a:r>
            <a:r>
              <a:rPr lang="en-US" altLang="zh-CN" sz="2400" dirty="0">
                <a:solidFill>
                  <a:srgbClr val="0000FF"/>
                </a:solidFill>
                <a:latin typeface="+mn-lt"/>
              </a:rPr>
              <a:t>0DH</a:t>
            </a:r>
            <a:r>
              <a:rPr lang="zh-CN" altLang="en-US" sz="2400" dirty="0">
                <a:solidFill>
                  <a:srgbClr val="0000FF"/>
                </a:solidFill>
                <a:latin typeface="+mn-lt"/>
              </a:rPr>
              <a:t>，‘</a:t>
            </a:r>
            <a:r>
              <a:rPr lang="en-US" altLang="zh-CN" sz="2400" dirty="0">
                <a:solidFill>
                  <a:srgbClr val="0000FF"/>
                </a:solidFill>
                <a:latin typeface="+mn-lt"/>
              </a:rPr>
              <a:t>$</a:t>
            </a:r>
            <a:r>
              <a:rPr lang="zh-CN" altLang="en-US" sz="2400" dirty="0">
                <a:solidFill>
                  <a:srgbClr val="0000FF"/>
                </a:solidFill>
                <a:latin typeface="+mn-lt"/>
              </a:rPr>
              <a:t>’</a:t>
            </a:r>
            <a:endParaRPr lang="en-US" altLang="zh-CN" sz="2400" dirty="0">
              <a:solidFill>
                <a:srgbClr val="0000FF"/>
              </a:solidFill>
              <a:latin typeface="+mn-lt"/>
            </a:endParaRPr>
          </a:p>
          <a:p>
            <a:pPr>
              <a:spcBef>
                <a:spcPts val="0"/>
              </a:spcBef>
              <a:buNone/>
            </a:pPr>
            <a:r>
              <a:rPr lang="en-US" altLang="zh-CN" sz="2400" dirty="0">
                <a:solidFill>
                  <a:srgbClr val="0000FF"/>
                </a:solidFill>
                <a:latin typeface="+mn-lt"/>
              </a:rPr>
              <a:t>DATA        ENDS</a:t>
            </a:r>
            <a:endParaRPr lang="zh-CN" altLang="en-US" sz="2400" dirty="0">
              <a:solidFill>
                <a:srgbClr val="0000FF"/>
              </a:solidFill>
              <a:latin typeface="+mn-lt"/>
            </a:endParaRPr>
          </a:p>
          <a:p>
            <a:pPr>
              <a:spcBef>
                <a:spcPts val="0"/>
              </a:spcBef>
              <a:buNone/>
            </a:pPr>
            <a:r>
              <a:rPr lang="en-US" altLang="zh-CN" sz="2400" dirty="0">
                <a:solidFill>
                  <a:srgbClr val="0000FF"/>
                </a:solidFill>
                <a:latin typeface="+mn-lt"/>
              </a:rPr>
              <a:t>;</a:t>
            </a:r>
            <a:r>
              <a:rPr lang="zh-CN" altLang="en-US" sz="2400" dirty="0">
                <a:solidFill>
                  <a:srgbClr val="0000FF"/>
                </a:solidFill>
                <a:latin typeface="+mn-lt"/>
              </a:rPr>
              <a:t>主程序</a:t>
            </a:r>
          </a:p>
          <a:p>
            <a:pPr>
              <a:spcBef>
                <a:spcPts val="0"/>
              </a:spcBef>
              <a:buNone/>
            </a:pPr>
            <a:r>
              <a:rPr lang="en-US" altLang="zh-CN" sz="2400" dirty="0">
                <a:solidFill>
                  <a:srgbClr val="0000FF"/>
                </a:solidFill>
                <a:latin typeface="+mn-lt"/>
              </a:rPr>
              <a:t>CODE      SEGMENT</a:t>
            </a:r>
            <a:endParaRPr lang="zh-CN" altLang="en-US" sz="2400" dirty="0">
              <a:solidFill>
                <a:srgbClr val="0000FF"/>
              </a:solidFill>
              <a:latin typeface="+mn-lt"/>
            </a:endParaRPr>
          </a:p>
          <a:p>
            <a:pPr>
              <a:spcBef>
                <a:spcPts val="0"/>
              </a:spcBef>
              <a:buNone/>
            </a:pPr>
            <a:r>
              <a:rPr lang="en-US" altLang="zh-CN" sz="2400" dirty="0">
                <a:solidFill>
                  <a:srgbClr val="0000FF"/>
                </a:solidFill>
                <a:latin typeface="+mn-lt"/>
              </a:rPr>
              <a:t>                 ASSUME  CS:CODE</a:t>
            </a:r>
            <a:r>
              <a:rPr lang="zh-CN" altLang="en-US" sz="2400" dirty="0">
                <a:solidFill>
                  <a:srgbClr val="0000FF"/>
                </a:solidFill>
                <a:latin typeface="+mn-lt"/>
              </a:rPr>
              <a:t>，</a:t>
            </a:r>
            <a:r>
              <a:rPr lang="en-US" altLang="zh-CN" sz="2400" dirty="0">
                <a:solidFill>
                  <a:srgbClr val="0000FF"/>
                </a:solidFill>
                <a:latin typeface="+mn-lt"/>
              </a:rPr>
              <a:t>DS:DATA</a:t>
            </a:r>
            <a:endParaRPr lang="zh-CN" altLang="en-US" sz="2400" dirty="0">
              <a:solidFill>
                <a:srgbClr val="0000FF"/>
              </a:solidFill>
              <a:latin typeface="+mn-lt"/>
            </a:endParaRPr>
          </a:p>
          <a:p>
            <a:pPr>
              <a:spcBef>
                <a:spcPts val="0"/>
              </a:spcBef>
              <a:buNone/>
            </a:pPr>
            <a:r>
              <a:rPr lang="en-US" altLang="zh-CN" sz="2400" dirty="0">
                <a:solidFill>
                  <a:srgbClr val="0000FF"/>
                </a:solidFill>
                <a:latin typeface="+mn-lt"/>
              </a:rPr>
              <a:t>START: 	</a:t>
            </a:r>
          </a:p>
          <a:p>
            <a:pPr>
              <a:spcBef>
                <a:spcPts val="0"/>
              </a:spcBef>
              <a:buNone/>
            </a:pPr>
            <a:r>
              <a:rPr lang="en-US" altLang="zh-CN" sz="2400" dirty="0">
                <a:solidFill>
                  <a:srgbClr val="0000FF"/>
                </a:solidFill>
                <a:latin typeface="+mn-lt"/>
              </a:rPr>
              <a:t>	MOV    AX</a:t>
            </a:r>
            <a:r>
              <a:rPr lang="zh-CN" altLang="en-US" sz="2400" dirty="0">
                <a:solidFill>
                  <a:srgbClr val="0000FF"/>
                </a:solidFill>
                <a:latin typeface="+mn-lt"/>
              </a:rPr>
              <a:t>，</a:t>
            </a:r>
            <a:r>
              <a:rPr lang="en-US" altLang="zh-CN" sz="2400" dirty="0">
                <a:solidFill>
                  <a:srgbClr val="0000FF"/>
                </a:solidFill>
                <a:latin typeface="+mn-lt"/>
              </a:rPr>
              <a:t>DATA         	</a:t>
            </a:r>
            <a:r>
              <a:rPr lang="zh-CN" altLang="en-US" sz="2400" dirty="0">
                <a:solidFill>
                  <a:srgbClr val="0000FF"/>
                </a:solidFill>
                <a:latin typeface="+mn-lt"/>
              </a:rPr>
              <a:t>；设置数据段</a:t>
            </a:r>
          </a:p>
          <a:p>
            <a:pPr>
              <a:spcBef>
                <a:spcPts val="0"/>
              </a:spcBef>
              <a:buNone/>
            </a:pPr>
            <a:r>
              <a:rPr lang="en-US" altLang="zh-CN" sz="2400" dirty="0">
                <a:solidFill>
                  <a:srgbClr val="0000FF"/>
                </a:solidFill>
                <a:latin typeface="+mn-lt"/>
              </a:rPr>
              <a:t>    	MOV    DS</a:t>
            </a:r>
            <a:r>
              <a:rPr lang="zh-CN" altLang="en-US" sz="2400" dirty="0">
                <a:solidFill>
                  <a:srgbClr val="0000FF"/>
                </a:solidFill>
                <a:latin typeface="+mn-lt"/>
              </a:rPr>
              <a:t>，</a:t>
            </a:r>
            <a:r>
              <a:rPr lang="en-US" altLang="zh-CN" sz="2400" dirty="0">
                <a:solidFill>
                  <a:srgbClr val="0000FF"/>
                </a:solidFill>
                <a:latin typeface="+mn-lt"/>
              </a:rPr>
              <a:t>AX</a:t>
            </a:r>
            <a:endParaRPr lang="zh-CN" altLang="en-US" sz="2400" dirty="0">
              <a:solidFill>
                <a:srgbClr val="0000FF"/>
              </a:solidFill>
              <a:latin typeface="+mn-lt"/>
            </a:endParaRPr>
          </a:p>
          <a:p>
            <a:pPr>
              <a:spcBef>
                <a:spcPts val="0"/>
              </a:spcBef>
              <a:buNone/>
            </a:pPr>
            <a:r>
              <a:rPr lang="en-US" altLang="zh-CN" sz="2400" dirty="0">
                <a:solidFill>
                  <a:srgbClr val="0000FF"/>
                </a:solidFill>
                <a:latin typeface="+mn-lt"/>
              </a:rPr>
              <a:t>      	MOV    AL</a:t>
            </a:r>
            <a:r>
              <a:rPr lang="zh-CN" altLang="en-US" sz="2400" dirty="0">
                <a:solidFill>
                  <a:srgbClr val="0000FF"/>
                </a:solidFill>
                <a:latin typeface="+mn-lt"/>
              </a:rPr>
              <a:t>，</a:t>
            </a:r>
            <a:r>
              <a:rPr lang="en-US" altLang="zh-CN" sz="2400" dirty="0">
                <a:solidFill>
                  <a:srgbClr val="0000FF"/>
                </a:solidFill>
                <a:latin typeface="+mn-lt"/>
              </a:rPr>
              <a:t>1CH		</a:t>
            </a:r>
            <a:r>
              <a:rPr lang="zh-CN" altLang="en-US" sz="2400" dirty="0">
                <a:solidFill>
                  <a:srgbClr val="0000FF"/>
                </a:solidFill>
                <a:latin typeface="+mn-lt"/>
              </a:rPr>
              <a:t>；指向</a:t>
            </a:r>
            <a:r>
              <a:rPr lang="en-US" altLang="zh-CN" sz="2400" dirty="0">
                <a:solidFill>
                  <a:srgbClr val="0000FF"/>
                </a:solidFill>
                <a:latin typeface="+mn-lt"/>
              </a:rPr>
              <a:t>1CH</a:t>
            </a:r>
            <a:r>
              <a:rPr lang="zh-CN" altLang="en-US" sz="2400" dirty="0">
                <a:solidFill>
                  <a:srgbClr val="0000FF"/>
                </a:solidFill>
                <a:latin typeface="+mn-lt"/>
              </a:rPr>
              <a:t>号中断向量</a:t>
            </a:r>
          </a:p>
          <a:p>
            <a:pPr>
              <a:spcBef>
                <a:spcPts val="0"/>
              </a:spcBef>
              <a:buNone/>
            </a:pPr>
            <a:r>
              <a:rPr lang="en-US" altLang="zh-CN" sz="2400" dirty="0">
                <a:solidFill>
                  <a:srgbClr val="0000FF"/>
                </a:solidFill>
                <a:latin typeface="+mn-lt"/>
              </a:rPr>
              <a:t>      	MOV    AH</a:t>
            </a:r>
            <a:r>
              <a:rPr lang="zh-CN" altLang="en-US" sz="2400" dirty="0">
                <a:solidFill>
                  <a:srgbClr val="0000FF"/>
                </a:solidFill>
                <a:latin typeface="+mn-lt"/>
              </a:rPr>
              <a:t>，</a:t>
            </a:r>
            <a:r>
              <a:rPr lang="en-US" altLang="zh-CN" sz="2400" dirty="0">
                <a:solidFill>
                  <a:srgbClr val="0000FF"/>
                </a:solidFill>
                <a:latin typeface="+mn-lt"/>
              </a:rPr>
              <a:t>35H           	</a:t>
            </a:r>
            <a:r>
              <a:rPr lang="zh-CN" altLang="en-US" sz="2400" dirty="0">
                <a:solidFill>
                  <a:srgbClr val="0000FF"/>
                </a:solidFill>
                <a:latin typeface="+mn-lt"/>
              </a:rPr>
              <a:t>；取</a:t>
            </a:r>
            <a:r>
              <a:rPr lang="en-US" altLang="zh-CN" sz="2400" dirty="0">
                <a:solidFill>
                  <a:srgbClr val="0000FF"/>
                </a:solidFill>
                <a:latin typeface="+mn-lt"/>
              </a:rPr>
              <a:t>1CH</a:t>
            </a:r>
            <a:r>
              <a:rPr lang="zh-CN" altLang="en-US" sz="2400" dirty="0">
                <a:solidFill>
                  <a:srgbClr val="0000FF"/>
                </a:solidFill>
                <a:latin typeface="+mn-lt"/>
              </a:rPr>
              <a:t>号中断向量</a:t>
            </a:r>
          </a:p>
          <a:p>
            <a:pPr>
              <a:spcBef>
                <a:spcPts val="0"/>
              </a:spcBef>
              <a:buNone/>
            </a:pPr>
            <a:r>
              <a:rPr lang="en-US" altLang="zh-CN" sz="2400" dirty="0">
                <a:solidFill>
                  <a:srgbClr val="0000FF"/>
                </a:solidFill>
                <a:latin typeface="+mn-lt"/>
              </a:rPr>
              <a:t>      	INT       21H                	</a:t>
            </a:r>
            <a:r>
              <a:rPr lang="zh-CN" altLang="en-US" sz="2400" dirty="0">
                <a:solidFill>
                  <a:srgbClr val="0000FF"/>
                </a:solidFill>
                <a:latin typeface="+mn-lt"/>
              </a:rPr>
              <a:t>；</a:t>
            </a:r>
            <a:r>
              <a:rPr lang="en-US" altLang="zh-CN" sz="2400" dirty="0">
                <a:solidFill>
                  <a:srgbClr val="0000FF"/>
                </a:solidFill>
                <a:latin typeface="+mn-lt"/>
              </a:rPr>
              <a:t>ES</a:t>
            </a:r>
            <a:r>
              <a:rPr lang="zh-CN" altLang="en-US" sz="2400" dirty="0">
                <a:solidFill>
                  <a:srgbClr val="0000FF"/>
                </a:solidFill>
                <a:latin typeface="+mn-lt"/>
              </a:rPr>
              <a:t>：</a:t>
            </a:r>
            <a:r>
              <a:rPr lang="en-US" altLang="zh-CN" sz="2400" dirty="0">
                <a:solidFill>
                  <a:srgbClr val="0000FF"/>
                </a:solidFill>
                <a:latin typeface="+mn-lt"/>
              </a:rPr>
              <a:t>BX</a:t>
            </a:r>
            <a:r>
              <a:rPr lang="zh-CN" altLang="en-US" sz="2400" dirty="0">
                <a:solidFill>
                  <a:srgbClr val="0000FF"/>
                </a:solidFill>
                <a:latin typeface="+mn-lt"/>
              </a:rPr>
              <a:t>←中断向量</a:t>
            </a:r>
          </a:p>
          <a:p>
            <a:pPr>
              <a:spcBef>
                <a:spcPts val="0"/>
              </a:spcBef>
              <a:buNone/>
            </a:pPr>
            <a:r>
              <a:rPr lang="en-US" altLang="zh-CN" sz="2400" dirty="0">
                <a:solidFill>
                  <a:srgbClr val="0000FF"/>
                </a:solidFill>
                <a:latin typeface="+mn-lt"/>
              </a:rPr>
              <a:t>      	PUSH   ES</a:t>
            </a:r>
            <a:endParaRPr lang="zh-CN" altLang="en-US" sz="2400" dirty="0">
              <a:solidFill>
                <a:srgbClr val="0000FF"/>
              </a:solidFill>
              <a:latin typeface="+mn-lt"/>
            </a:endParaRPr>
          </a:p>
          <a:p>
            <a:pPr>
              <a:spcBef>
                <a:spcPts val="0"/>
              </a:spcBef>
              <a:buNone/>
            </a:pPr>
            <a:r>
              <a:rPr lang="en-US" altLang="zh-CN" sz="2400" dirty="0">
                <a:solidFill>
                  <a:srgbClr val="0000FF"/>
                </a:solidFill>
                <a:latin typeface="+mn-lt"/>
              </a:rPr>
              <a:t>      	PUSH   BX               	</a:t>
            </a:r>
            <a:r>
              <a:rPr lang="zh-CN" altLang="en-US" sz="2400" dirty="0">
                <a:solidFill>
                  <a:srgbClr val="0000FF"/>
                </a:solidFill>
                <a:latin typeface="+mn-lt"/>
              </a:rPr>
              <a:t>；</a:t>
            </a:r>
            <a:r>
              <a:rPr lang="en-US" altLang="zh-CN" sz="2400" dirty="0">
                <a:solidFill>
                  <a:srgbClr val="0000FF"/>
                </a:solidFill>
                <a:latin typeface="+mn-lt"/>
              </a:rPr>
              <a:t>1CH</a:t>
            </a:r>
            <a:r>
              <a:rPr lang="zh-CN" altLang="en-US" sz="2400" dirty="0">
                <a:solidFill>
                  <a:srgbClr val="0000FF"/>
                </a:solidFill>
                <a:latin typeface="+mn-lt"/>
              </a:rPr>
              <a:t>中断向量入栈保护</a:t>
            </a:r>
          </a:p>
          <a:p>
            <a:pPr>
              <a:spcBef>
                <a:spcPts val="0"/>
              </a:spcBef>
              <a:buNone/>
            </a:pPr>
            <a:r>
              <a:rPr lang="en-US" altLang="zh-CN" sz="2400" dirty="0">
                <a:solidFill>
                  <a:srgbClr val="0000FF"/>
                </a:solidFill>
                <a:latin typeface="+mn-lt"/>
              </a:rPr>
              <a:t>              PUSH   DS                	</a:t>
            </a:r>
            <a:r>
              <a:rPr lang="zh-CN" altLang="en-US" sz="2400" dirty="0">
                <a:solidFill>
                  <a:srgbClr val="0000FF"/>
                </a:solidFill>
                <a:latin typeface="+mn-lt"/>
              </a:rPr>
              <a:t>；保护</a:t>
            </a:r>
            <a:r>
              <a:rPr lang="en-US" altLang="zh-CN" sz="2400" dirty="0">
                <a:solidFill>
                  <a:srgbClr val="0000FF"/>
                </a:solidFill>
                <a:latin typeface="+mn-lt"/>
              </a:rPr>
              <a:t>DS</a:t>
            </a:r>
            <a:endParaRPr lang="zh-CN" altLang="en-US" sz="2400" dirty="0">
              <a:solidFill>
                <a:srgbClr val="0000FF"/>
              </a:solidFill>
              <a:latin typeface="+mn-lt"/>
            </a:endParaRPr>
          </a:p>
        </p:txBody>
      </p:sp>
    </p:spTree>
    <p:extLst>
      <p:ext uri="{BB962C8B-B14F-4D97-AF65-F5344CB8AC3E}">
        <p14:creationId xmlns:p14="http://schemas.microsoft.com/office/powerpoint/2010/main" val="15060225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44065">
            <a:extLst>
              <a:ext uri="{FF2B5EF4-FFF2-40B4-BE49-F238E27FC236}">
                <a16:creationId xmlns:a16="http://schemas.microsoft.com/office/drawing/2014/main" id="{883EFF81-8FB3-49F5-8967-372A0E8E471C}"/>
              </a:ext>
            </a:extLst>
          </p:cNvPr>
          <p:cNvSpPr txBox="1">
            <a:spLocks/>
          </p:cNvSpPr>
          <p:nvPr/>
        </p:nvSpPr>
        <p:spPr>
          <a:xfrm>
            <a:off x="1547664" y="188640"/>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8.4  8259A在微机中的编程应用</a:t>
            </a:r>
            <a:endParaRPr lang="zh-CN" altLang="en-US" sz="3600" b="1" dirty="0">
              <a:solidFill>
                <a:srgbClr val="FF0000"/>
              </a:solidFill>
              <a:ea typeface="隶书" panose="02010509060101010101" pitchFamily="49" charset="-122"/>
            </a:endParaRPr>
          </a:p>
        </p:txBody>
      </p:sp>
      <p:sp>
        <p:nvSpPr>
          <p:cNvPr id="3" name="内容占位符 2">
            <a:extLst>
              <a:ext uri="{FF2B5EF4-FFF2-40B4-BE49-F238E27FC236}">
                <a16:creationId xmlns:a16="http://schemas.microsoft.com/office/drawing/2014/main" id="{72C0C9AB-FE85-4BB6-942B-7762E20D2E24}"/>
              </a:ext>
            </a:extLst>
          </p:cNvPr>
          <p:cNvSpPr txBox="1">
            <a:spLocks/>
          </p:cNvSpPr>
          <p:nvPr/>
        </p:nvSpPr>
        <p:spPr>
          <a:xfrm>
            <a:off x="179512" y="969218"/>
            <a:ext cx="8784976" cy="5772150"/>
          </a:xfrm>
          <a:prstGeom prst="rect">
            <a:avLst/>
          </a:prstGeom>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spcBef>
                <a:spcPts val="0"/>
              </a:spcBef>
              <a:buFontTx/>
              <a:buNone/>
            </a:pPr>
            <a:r>
              <a:rPr lang="en-US" sz="2400" dirty="0">
                <a:solidFill>
                  <a:srgbClr val="0000FF"/>
                </a:solidFill>
              </a:rPr>
              <a:t>	MOV   DX</a:t>
            </a:r>
            <a:r>
              <a:rPr lang="zh-CN" altLang="en-US" sz="2400" dirty="0">
                <a:solidFill>
                  <a:srgbClr val="0000FF"/>
                </a:solidFill>
              </a:rPr>
              <a:t>，</a:t>
            </a:r>
            <a:r>
              <a:rPr lang="en-US" sz="2400" dirty="0">
                <a:solidFill>
                  <a:srgbClr val="0000FF"/>
                </a:solidFill>
              </a:rPr>
              <a:t>OFFSET RING 	</a:t>
            </a:r>
            <a:r>
              <a:rPr lang="zh-CN" altLang="en-US" sz="2400" dirty="0">
                <a:solidFill>
                  <a:srgbClr val="0000FF"/>
                </a:solidFill>
              </a:rPr>
              <a:t>；</a:t>
            </a:r>
            <a:r>
              <a:rPr lang="en-US" sz="2400" dirty="0">
                <a:solidFill>
                  <a:srgbClr val="0000FF"/>
                </a:solidFill>
              </a:rPr>
              <a:t>DS</a:t>
            </a:r>
            <a:r>
              <a:rPr lang="zh-CN" altLang="en-US" sz="2400" dirty="0">
                <a:solidFill>
                  <a:srgbClr val="0000FF"/>
                </a:solidFill>
              </a:rPr>
              <a:t>：</a:t>
            </a:r>
            <a:r>
              <a:rPr lang="en-US" sz="2400" dirty="0">
                <a:solidFill>
                  <a:srgbClr val="0000FF"/>
                </a:solidFill>
              </a:rPr>
              <a:t>DX</a:t>
            </a:r>
            <a:r>
              <a:rPr lang="zh-CN" altLang="en-US" sz="2400" dirty="0">
                <a:solidFill>
                  <a:srgbClr val="0000FF"/>
                </a:solidFill>
              </a:rPr>
              <a:t>←</a:t>
            </a:r>
            <a:r>
              <a:rPr lang="en-US" sz="2400" dirty="0">
                <a:solidFill>
                  <a:srgbClr val="0000FF"/>
                </a:solidFill>
              </a:rPr>
              <a:t>RING</a:t>
            </a:r>
            <a:r>
              <a:rPr lang="zh-CN" altLang="en-US" sz="2400" dirty="0">
                <a:solidFill>
                  <a:srgbClr val="0000FF"/>
                </a:solidFill>
              </a:rPr>
              <a:t>的</a:t>
            </a:r>
            <a:endParaRPr lang="en-US" altLang="zh-CN" sz="2400" dirty="0">
              <a:solidFill>
                <a:srgbClr val="0000FF"/>
              </a:solidFill>
            </a:endParaRPr>
          </a:p>
          <a:p>
            <a:pPr>
              <a:spcBef>
                <a:spcPts val="0"/>
              </a:spcBef>
              <a:buNone/>
            </a:pPr>
            <a:r>
              <a:rPr lang="en-US" altLang="zh-CN" sz="2400" dirty="0">
                <a:solidFill>
                  <a:srgbClr val="0000FF"/>
                </a:solidFill>
              </a:rPr>
              <a:t>	MOV    AX</a:t>
            </a:r>
            <a:r>
              <a:rPr lang="zh-CN" altLang="en-US" sz="2400" dirty="0">
                <a:solidFill>
                  <a:srgbClr val="0000FF"/>
                </a:solidFill>
              </a:rPr>
              <a:t>，</a:t>
            </a:r>
            <a:r>
              <a:rPr lang="en-US" altLang="zh-CN" sz="2400" dirty="0">
                <a:solidFill>
                  <a:srgbClr val="0000FF"/>
                </a:solidFill>
              </a:rPr>
              <a:t>SEG RING            </a:t>
            </a:r>
            <a:r>
              <a:rPr lang="zh-CN" altLang="en-US" sz="2400" dirty="0">
                <a:solidFill>
                  <a:srgbClr val="0000FF"/>
                </a:solidFill>
              </a:rPr>
              <a:t>；段基址和偏移量</a:t>
            </a:r>
          </a:p>
          <a:p>
            <a:pPr>
              <a:spcBef>
                <a:spcPts val="0"/>
              </a:spcBef>
              <a:buFontTx/>
              <a:buNone/>
            </a:pPr>
            <a:r>
              <a:rPr lang="en-US" sz="2400" dirty="0">
                <a:solidFill>
                  <a:srgbClr val="0000FF"/>
                </a:solidFill>
              </a:rPr>
              <a:t>	MOV    DS</a:t>
            </a:r>
            <a:r>
              <a:rPr lang="zh-CN" altLang="en-US" sz="2400" dirty="0">
                <a:solidFill>
                  <a:srgbClr val="0000FF"/>
                </a:solidFill>
              </a:rPr>
              <a:t>，</a:t>
            </a:r>
            <a:r>
              <a:rPr lang="en-US" sz="2400" dirty="0">
                <a:solidFill>
                  <a:srgbClr val="0000FF"/>
                </a:solidFill>
              </a:rPr>
              <a:t>AX</a:t>
            </a:r>
            <a:endParaRPr lang="zh-CN" altLang="en-US" sz="2400" dirty="0">
              <a:solidFill>
                <a:srgbClr val="0000FF"/>
              </a:solidFill>
            </a:endParaRPr>
          </a:p>
          <a:p>
            <a:pPr>
              <a:spcBef>
                <a:spcPts val="0"/>
              </a:spcBef>
              <a:buFontTx/>
              <a:buNone/>
            </a:pPr>
            <a:r>
              <a:rPr lang="en-US" sz="2400" dirty="0">
                <a:solidFill>
                  <a:srgbClr val="0000FF"/>
                </a:solidFill>
              </a:rPr>
              <a:t>	MOV    AL</a:t>
            </a:r>
            <a:r>
              <a:rPr lang="zh-CN" altLang="en-US" sz="2400" dirty="0">
                <a:solidFill>
                  <a:srgbClr val="0000FF"/>
                </a:solidFill>
              </a:rPr>
              <a:t>，</a:t>
            </a:r>
            <a:r>
              <a:rPr lang="en-US" sz="2400" dirty="0">
                <a:solidFill>
                  <a:srgbClr val="0000FF"/>
                </a:solidFill>
              </a:rPr>
              <a:t>1CH         		</a:t>
            </a:r>
            <a:r>
              <a:rPr lang="zh-CN" altLang="en-US" sz="2400" dirty="0">
                <a:solidFill>
                  <a:srgbClr val="0000FF"/>
                </a:solidFill>
              </a:rPr>
              <a:t>；</a:t>
            </a:r>
            <a:r>
              <a:rPr lang="en-US" sz="2400" dirty="0">
                <a:solidFill>
                  <a:srgbClr val="0000FF"/>
                </a:solidFill>
              </a:rPr>
              <a:t>RING</a:t>
            </a:r>
            <a:r>
              <a:rPr lang="zh-CN" altLang="en-US" sz="2400" dirty="0">
                <a:solidFill>
                  <a:srgbClr val="0000FF"/>
                </a:solidFill>
              </a:rPr>
              <a:t>的中断类型号</a:t>
            </a:r>
          </a:p>
          <a:p>
            <a:pPr>
              <a:spcBef>
                <a:spcPts val="0"/>
              </a:spcBef>
              <a:buFontTx/>
              <a:buNone/>
            </a:pPr>
            <a:r>
              <a:rPr lang="en-US" sz="2400" dirty="0">
                <a:solidFill>
                  <a:srgbClr val="0000FF"/>
                </a:solidFill>
              </a:rPr>
              <a:t>	MOV    AH</a:t>
            </a:r>
            <a:r>
              <a:rPr lang="zh-CN" altLang="en-US" sz="2400" dirty="0">
                <a:solidFill>
                  <a:srgbClr val="0000FF"/>
                </a:solidFill>
              </a:rPr>
              <a:t>，</a:t>
            </a:r>
            <a:r>
              <a:rPr lang="en-US" sz="2400" dirty="0">
                <a:solidFill>
                  <a:srgbClr val="0000FF"/>
                </a:solidFill>
              </a:rPr>
              <a:t>25H</a:t>
            </a:r>
            <a:endParaRPr lang="zh-CN" altLang="en-US" sz="2400" dirty="0">
              <a:solidFill>
                <a:srgbClr val="0000FF"/>
              </a:solidFill>
            </a:endParaRPr>
          </a:p>
          <a:p>
            <a:pPr>
              <a:spcBef>
                <a:spcPts val="0"/>
              </a:spcBef>
              <a:buFontTx/>
              <a:buNone/>
            </a:pPr>
            <a:r>
              <a:rPr lang="en-US" sz="2400" dirty="0">
                <a:solidFill>
                  <a:srgbClr val="0000FF"/>
                </a:solidFill>
              </a:rPr>
              <a:t>	INT       21H              		</a:t>
            </a:r>
            <a:r>
              <a:rPr lang="zh-CN" altLang="en-US" sz="2400" dirty="0">
                <a:solidFill>
                  <a:srgbClr val="0000FF"/>
                </a:solidFill>
              </a:rPr>
              <a:t>；设置</a:t>
            </a:r>
            <a:r>
              <a:rPr lang="en-US" sz="2400" dirty="0">
                <a:solidFill>
                  <a:srgbClr val="0000FF"/>
                </a:solidFill>
              </a:rPr>
              <a:t>RING</a:t>
            </a:r>
            <a:r>
              <a:rPr lang="zh-CN" altLang="en-US" sz="2400" dirty="0">
                <a:solidFill>
                  <a:srgbClr val="0000FF"/>
                </a:solidFill>
              </a:rPr>
              <a:t>的中断向量</a:t>
            </a:r>
          </a:p>
          <a:p>
            <a:pPr>
              <a:spcBef>
                <a:spcPts val="0"/>
              </a:spcBef>
              <a:buFontTx/>
              <a:buNone/>
            </a:pPr>
            <a:r>
              <a:rPr lang="en-US" sz="2400" dirty="0">
                <a:solidFill>
                  <a:srgbClr val="0000FF"/>
                </a:solidFill>
              </a:rPr>
              <a:t>	POP     DS                		</a:t>
            </a:r>
            <a:r>
              <a:rPr lang="zh-CN" altLang="en-US" sz="2400" dirty="0">
                <a:solidFill>
                  <a:srgbClr val="0000FF"/>
                </a:solidFill>
              </a:rPr>
              <a:t>；恢复</a:t>
            </a:r>
            <a:r>
              <a:rPr lang="en-US" sz="2400" dirty="0">
                <a:solidFill>
                  <a:srgbClr val="0000FF"/>
                </a:solidFill>
              </a:rPr>
              <a:t>DS</a:t>
            </a:r>
            <a:endParaRPr lang="zh-CN" altLang="en-US" sz="2400" dirty="0">
              <a:solidFill>
                <a:srgbClr val="0000FF"/>
              </a:solidFill>
            </a:endParaRPr>
          </a:p>
          <a:p>
            <a:pPr>
              <a:spcBef>
                <a:spcPts val="0"/>
              </a:spcBef>
              <a:buFontTx/>
              <a:buNone/>
            </a:pPr>
            <a:r>
              <a:rPr lang="en-US" sz="2400" dirty="0">
                <a:solidFill>
                  <a:srgbClr val="0000FF"/>
                </a:solidFill>
              </a:rPr>
              <a:t>	IN         AL</a:t>
            </a:r>
            <a:r>
              <a:rPr lang="zh-CN" altLang="en-US" sz="2400" dirty="0">
                <a:solidFill>
                  <a:srgbClr val="0000FF"/>
                </a:solidFill>
              </a:rPr>
              <a:t>，</a:t>
            </a:r>
            <a:r>
              <a:rPr lang="en-US" sz="2400" dirty="0">
                <a:solidFill>
                  <a:srgbClr val="0000FF"/>
                </a:solidFill>
              </a:rPr>
              <a:t>21H          	           </a:t>
            </a:r>
            <a:r>
              <a:rPr lang="zh-CN" altLang="en-US" sz="2400" dirty="0">
                <a:solidFill>
                  <a:srgbClr val="0000FF"/>
                </a:solidFill>
              </a:rPr>
              <a:t>；读</a:t>
            </a:r>
            <a:r>
              <a:rPr lang="en-US" sz="2400" dirty="0">
                <a:solidFill>
                  <a:srgbClr val="0000FF"/>
                </a:solidFill>
              </a:rPr>
              <a:t>IMR</a:t>
            </a:r>
            <a:endParaRPr lang="zh-CN" altLang="en-US" sz="2400" dirty="0">
              <a:solidFill>
                <a:srgbClr val="0000FF"/>
              </a:solidFill>
            </a:endParaRPr>
          </a:p>
          <a:p>
            <a:pPr>
              <a:spcBef>
                <a:spcPts val="0"/>
              </a:spcBef>
              <a:buFontTx/>
              <a:buNone/>
            </a:pPr>
            <a:r>
              <a:rPr lang="en-US" sz="2400" dirty="0">
                <a:solidFill>
                  <a:srgbClr val="0000FF"/>
                </a:solidFill>
              </a:rPr>
              <a:t>	AND     AL</a:t>
            </a:r>
            <a:r>
              <a:rPr lang="zh-CN" altLang="en-US" sz="2400" dirty="0">
                <a:solidFill>
                  <a:srgbClr val="0000FF"/>
                </a:solidFill>
              </a:rPr>
              <a:t>，</a:t>
            </a:r>
            <a:r>
              <a:rPr lang="en-US" sz="2400" dirty="0">
                <a:solidFill>
                  <a:srgbClr val="0000FF"/>
                </a:solidFill>
              </a:rPr>
              <a:t>0FEH   		</a:t>
            </a:r>
            <a:r>
              <a:rPr lang="zh-CN" altLang="en-US" sz="2400" dirty="0">
                <a:solidFill>
                  <a:srgbClr val="0000FF"/>
                </a:solidFill>
              </a:rPr>
              <a:t>；使</a:t>
            </a:r>
            <a:r>
              <a:rPr lang="en-US" sz="2400" dirty="0">
                <a:solidFill>
                  <a:srgbClr val="0000FF"/>
                </a:solidFill>
              </a:rPr>
              <a:t>IMR</a:t>
            </a:r>
            <a:r>
              <a:rPr lang="zh-CN" altLang="en-US" sz="2400" dirty="0">
                <a:solidFill>
                  <a:srgbClr val="0000FF"/>
                </a:solidFill>
              </a:rPr>
              <a:t>的</a:t>
            </a:r>
            <a:r>
              <a:rPr lang="en-US" sz="2400" dirty="0">
                <a:solidFill>
                  <a:srgbClr val="0000FF"/>
                </a:solidFill>
              </a:rPr>
              <a:t>D</a:t>
            </a:r>
            <a:r>
              <a:rPr lang="en-US" sz="2400" baseline="-25000" dirty="0">
                <a:solidFill>
                  <a:srgbClr val="0000FF"/>
                </a:solidFill>
              </a:rPr>
              <a:t>0</a:t>
            </a:r>
            <a:r>
              <a:rPr lang="zh-CN" altLang="en-US" sz="2400" dirty="0">
                <a:solidFill>
                  <a:srgbClr val="0000FF"/>
                </a:solidFill>
              </a:rPr>
              <a:t>位</a:t>
            </a:r>
            <a:r>
              <a:rPr lang="en-US" sz="2400" dirty="0">
                <a:solidFill>
                  <a:srgbClr val="0000FF"/>
                </a:solidFill>
              </a:rPr>
              <a:t>=0</a:t>
            </a:r>
            <a:r>
              <a:rPr lang="zh-CN" altLang="en-US" sz="2400" dirty="0">
                <a:solidFill>
                  <a:srgbClr val="0000FF"/>
                </a:solidFill>
              </a:rPr>
              <a:t>，</a:t>
            </a:r>
          </a:p>
          <a:p>
            <a:pPr>
              <a:spcBef>
                <a:spcPts val="0"/>
              </a:spcBef>
              <a:buFontTx/>
              <a:buNone/>
            </a:pPr>
            <a:r>
              <a:rPr lang="en-US" sz="2400" dirty="0">
                <a:solidFill>
                  <a:srgbClr val="0000FF"/>
                </a:solidFill>
              </a:rPr>
              <a:t>	OUT     21H</a:t>
            </a:r>
            <a:r>
              <a:rPr lang="zh-CN" altLang="en-US" sz="2400" dirty="0">
                <a:solidFill>
                  <a:srgbClr val="0000FF"/>
                </a:solidFill>
              </a:rPr>
              <a:t>，</a:t>
            </a:r>
            <a:r>
              <a:rPr lang="en-US" sz="2400" dirty="0">
                <a:solidFill>
                  <a:srgbClr val="0000FF"/>
                </a:solidFill>
              </a:rPr>
              <a:t>AL		           </a:t>
            </a:r>
            <a:r>
              <a:rPr lang="zh-CN" altLang="en-US" sz="2400" dirty="0">
                <a:solidFill>
                  <a:srgbClr val="0000FF"/>
                </a:solidFill>
              </a:rPr>
              <a:t>；以允许</a:t>
            </a:r>
            <a:r>
              <a:rPr lang="en-US" sz="2400" dirty="0">
                <a:solidFill>
                  <a:srgbClr val="0000FF"/>
                </a:solidFill>
              </a:rPr>
              <a:t>IR</a:t>
            </a:r>
            <a:r>
              <a:rPr lang="en-US" sz="2400" baseline="-25000" dirty="0">
                <a:solidFill>
                  <a:srgbClr val="0000FF"/>
                </a:solidFill>
              </a:rPr>
              <a:t>0</a:t>
            </a:r>
            <a:r>
              <a:rPr lang="en-US" sz="2400" dirty="0">
                <a:solidFill>
                  <a:srgbClr val="0000FF"/>
                </a:solidFill>
              </a:rPr>
              <a:t> </a:t>
            </a:r>
            <a:r>
              <a:rPr lang="zh-CN" altLang="en-US" sz="2400" dirty="0">
                <a:solidFill>
                  <a:srgbClr val="0000FF"/>
                </a:solidFill>
              </a:rPr>
              <a:t>中断</a:t>
            </a:r>
          </a:p>
          <a:p>
            <a:pPr>
              <a:spcBef>
                <a:spcPts val="0"/>
              </a:spcBef>
              <a:buFontTx/>
              <a:buNone/>
            </a:pPr>
            <a:r>
              <a:rPr lang="en-US" sz="2400" dirty="0">
                <a:solidFill>
                  <a:srgbClr val="0000FF"/>
                </a:solidFill>
              </a:rPr>
              <a:t>	STI                        		</a:t>
            </a:r>
            <a:r>
              <a:rPr lang="zh-CN" altLang="en-US" sz="2400" dirty="0">
                <a:solidFill>
                  <a:srgbClr val="0000FF"/>
                </a:solidFill>
              </a:rPr>
              <a:t>；开中断，等待定时中断</a:t>
            </a:r>
          </a:p>
          <a:p>
            <a:pPr>
              <a:spcBef>
                <a:spcPts val="0"/>
              </a:spcBef>
              <a:buFontTx/>
              <a:buNone/>
            </a:pPr>
            <a:r>
              <a:rPr lang="en-US" sz="2400" dirty="0">
                <a:solidFill>
                  <a:srgbClr val="0000FF"/>
                </a:solidFill>
              </a:rPr>
              <a:t>    MOV     DI</a:t>
            </a:r>
            <a:r>
              <a:rPr lang="zh-CN" altLang="en-US" sz="2400" dirty="0">
                <a:solidFill>
                  <a:srgbClr val="0000FF"/>
                </a:solidFill>
              </a:rPr>
              <a:t>，</a:t>
            </a:r>
            <a:r>
              <a:rPr lang="en-US" sz="2400" dirty="0">
                <a:solidFill>
                  <a:srgbClr val="0000FF"/>
                </a:solidFill>
              </a:rPr>
              <a:t>20000         	</a:t>
            </a:r>
            <a:r>
              <a:rPr lang="zh-CN" altLang="en-US" sz="2400" dirty="0">
                <a:solidFill>
                  <a:srgbClr val="0000FF"/>
                </a:solidFill>
              </a:rPr>
              <a:t>；延时一定时间</a:t>
            </a:r>
            <a:r>
              <a:rPr lang="en-US" altLang="zh-CN" sz="2400" dirty="0">
                <a:solidFill>
                  <a:srgbClr val="0000FF"/>
                </a:solidFill>
              </a:rPr>
              <a:t>(</a:t>
            </a:r>
            <a:r>
              <a:rPr lang="zh-CN" altLang="en-US" sz="2400" dirty="0">
                <a:solidFill>
                  <a:srgbClr val="0000FF"/>
                </a:solidFill>
              </a:rPr>
              <a:t>自定义</a:t>
            </a:r>
            <a:r>
              <a:rPr lang="en-US" altLang="zh-CN" sz="2400" dirty="0">
                <a:solidFill>
                  <a:srgbClr val="0000FF"/>
                </a:solidFill>
              </a:rPr>
              <a:t>)</a:t>
            </a:r>
            <a:endParaRPr lang="zh-CN" altLang="en-US" sz="2400" dirty="0">
              <a:solidFill>
                <a:srgbClr val="0000FF"/>
              </a:solidFill>
            </a:endParaRPr>
          </a:p>
          <a:p>
            <a:pPr>
              <a:spcBef>
                <a:spcPts val="0"/>
              </a:spcBef>
              <a:buFontTx/>
              <a:buNone/>
            </a:pPr>
            <a:r>
              <a:rPr lang="en-US" sz="2400" dirty="0">
                <a:solidFill>
                  <a:srgbClr val="0000FF"/>
                </a:solidFill>
              </a:rPr>
              <a:t>DELY</a:t>
            </a:r>
            <a:r>
              <a:rPr lang="zh-CN" altLang="en-US" sz="2400" dirty="0">
                <a:solidFill>
                  <a:srgbClr val="0000FF"/>
                </a:solidFill>
              </a:rPr>
              <a:t>：</a:t>
            </a:r>
            <a:endParaRPr lang="en-US" altLang="zh-CN" sz="2400" dirty="0">
              <a:solidFill>
                <a:srgbClr val="0000FF"/>
              </a:solidFill>
            </a:endParaRPr>
          </a:p>
          <a:p>
            <a:pPr>
              <a:spcBef>
                <a:spcPts val="0"/>
              </a:spcBef>
              <a:buFontTx/>
              <a:buNone/>
            </a:pPr>
            <a:r>
              <a:rPr lang="en-US" sz="2400" dirty="0">
                <a:solidFill>
                  <a:srgbClr val="0000FF"/>
                </a:solidFill>
              </a:rPr>
              <a:t>	MOV     SI</a:t>
            </a:r>
            <a:r>
              <a:rPr lang="zh-CN" altLang="en-US" sz="2400" dirty="0">
                <a:solidFill>
                  <a:srgbClr val="0000FF"/>
                </a:solidFill>
              </a:rPr>
              <a:t>，</a:t>
            </a:r>
            <a:r>
              <a:rPr lang="en-US" sz="2400" dirty="0">
                <a:solidFill>
                  <a:srgbClr val="0000FF"/>
                </a:solidFill>
              </a:rPr>
              <a:t>30000</a:t>
            </a:r>
            <a:endParaRPr lang="zh-CN" altLang="en-US" sz="2400" dirty="0">
              <a:solidFill>
                <a:srgbClr val="0000FF"/>
              </a:solidFill>
            </a:endParaRPr>
          </a:p>
          <a:p>
            <a:pPr>
              <a:spcBef>
                <a:spcPts val="0"/>
              </a:spcBef>
              <a:buFontTx/>
              <a:buNone/>
            </a:pPr>
            <a:endParaRPr lang="zh-CN" altLang="en-US" sz="2400" dirty="0">
              <a:solidFill>
                <a:srgbClr val="0000FF"/>
              </a:solidFill>
            </a:endParaRPr>
          </a:p>
          <a:p>
            <a:pPr>
              <a:spcBef>
                <a:spcPts val="0"/>
              </a:spcBef>
              <a:buFontTx/>
              <a:buNone/>
            </a:pPr>
            <a:endParaRPr lang="zh-CN" altLang="en-US" sz="2400" dirty="0">
              <a:solidFill>
                <a:srgbClr val="0000FF"/>
              </a:solidFill>
            </a:endParaRPr>
          </a:p>
        </p:txBody>
      </p:sp>
    </p:spTree>
    <p:extLst>
      <p:ext uri="{BB962C8B-B14F-4D97-AF65-F5344CB8AC3E}">
        <p14:creationId xmlns:p14="http://schemas.microsoft.com/office/powerpoint/2010/main" val="14832369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44065">
            <a:extLst>
              <a:ext uri="{FF2B5EF4-FFF2-40B4-BE49-F238E27FC236}">
                <a16:creationId xmlns:a16="http://schemas.microsoft.com/office/drawing/2014/main" id="{726BDD12-EC00-44D9-B9A4-5ED844AE1C74}"/>
              </a:ext>
            </a:extLst>
          </p:cNvPr>
          <p:cNvSpPr txBox="1">
            <a:spLocks/>
          </p:cNvSpPr>
          <p:nvPr/>
        </p:nvSpPr>
        <p:spPr>
          <a:xfrm>
            <a:off x="1547664" y="188640"/>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8.4  8259A在微机中的编程应用</a:t>
            </a:r>
            <a:endParaRPr lang="zh-CN" altLang="en-US" sz="3600" b="1" dirty="0">
              <a:solidFill>
                <a:srgbClr val="FF0000"/>
              </a:solidFill>
              <a:ea typeface="隶书" panose="02010509060101010101" pitchFamily="49" charset="-122"/>
            </a:endParaRPr>
          </a:p>
        </p:txBody>
      </p:sp>
      <p:sp>
        <p:nvSpPr>
          <p:cNvPr id="4" name="文本框 3">
            <a:extLst>
              <a:ext uri="{FF2B5EF4-FFF2-40B4-BE49-F238E27FC236}">
                <a16:creationId xmlns:a16="http://schemas.microsoft.com/office/drawing/2014/main" id="{FBA8E957-85B4-495B-887A-E2F873436FCC}"/>
              </a:ext>
            </a:extLst>
          </p:cNvPr>
          <p:cNvSpPr txBox="1"/>
          <p:nvPr/>
        </p:nvSpPr>
        <p:spPr>
          <a:xfrm>
            <a:off x="467544" y="982176"/>
            <a:ext cx="7992888" cy="4893647"/>
          </a:xfrm>
          <a:prstGeom prst="rect">
            <a:avLst/>
          </a:prstGeom>
          <a:noFill/>
        </p:spPr>
        <p:txBody>
          <a:bodyPr wrap="square">
            <a:spAutoFit/>
          </a:bodyPr>
          <a:lstStyle/>
          <a:p>
            <a:pPr>
              <a:spcBef>
                <a:spcPts val="0"/>
              </a:spcBef>
              <a:buNone/>
            </a:pPr>
            <a:r>
              <a:rPr lang="en-US" altLang="zh-CN" sz="2400" dirty="0">
                <a:solidFill>
                  <a:srgbClr val="0000FF"/>
                </a:solidFill>
                <a:latin typeface="+mn-lt"/>
              </a:rPr>
              <a:t>DELY1</a:t>
            </a:r>
            <a:r>
              <a:rPr lang="zh-CN" altLang="en-US" sz="2400" dirty="0">
                <a:solidFill>
                  <a:srgbClr val="0000FF"/>
                </a:solidFill>
                <a:latin typeface="+mn-lt"/>
              </a:rPr>
              <a:t>：</a:t>
            </a:r>
            <a:endParaRPr lang="en-US" altLang="zh-CN" sz="2400" dirty="0">
              <a:solidFill>
                <a:srgbClr val="0000FF"/>
              </a:solidFill>
              <a:latin typeface="+mn-lt"/>
            </a:endParaRPr>
          </a:p>
          <a:p>
            <a:pPr>
              <a:spcBef>
                <a:spcPts val="0"/>
              </a:spcBef>
              <a:buNone/>
            </a:pPr>
            <a:r>
              <a:rPr lang="en-US" altLang="zh-CN" sz="2400" dirty="0">
                <a:solidFill>
                  <a:srgbClr val="0000FF"/>
                </a:solidFill>
                <a:latin typeface="+mn-lt"/>
              </a:rPr>
              <a:t>	DEC      SI</a:t>
            </a:r>
            <a:endParaRPr lang="zh-CN" altLang="en-US" sz="2400" dirty="0">
              <a:solidFill>
                <a:srgbClr val="0000FF"/>
              </a:solidFill>
              <a:latin typeface="+mn-lt"/>
            </a:endParaRPr>
          </a:p>
          <a:p>
            <a:pPr>
              <a:spcBef>
                <a:spcPts val="0"/>
              </a:spcBef>
              <a:buNone/>
            </a:pPr>
            <a:r>
              <a:rPr lang="en-US" altLang="zh-CN" sz="2400" dirty="0">
                <a:solidFill>
                  <a:srgbClr val="0000FF"/>
                </a:solidFill>
                <a:latin typeface="+mn-lt"/>
              </a:rPr>
              <a:t>   	JNZ       DELY1 	</a:t>
            </a:r>
          </a:p>
          <a:p>
            <a:pPr>
              <a:spcBef>
                <a:spcPts val="0"/>
              </a:spcBef>
              <a:buNone/>
            </a:pPr>
            <a:r>
              <a:rPr lang="en-US" altLang="zh-CN" sz="2400" dirty="0">
                <a:solidFill>
                  <a:srgbClr val="0000FF"/>
                </a:solidFill>
                <a:latin typeface="+mn-lt"/>
              </a:rPr>
              <a:t>	DEC      DI</a:t>
            </a:r>
            <a:endParaRPr lang="zh-CN" altLang="en-US" sz="2400" dirty="0">
              <a:solidFill>
                <a:srgbClr val="0000FF"/>
              </a:solidFill>
              <a:latin typeface="+mn-lt"/>
            </a:endParaRPr>
          </a:p>
          <a:p>
            <a:pPr>
              <a:spcBef>
                <a:spcPts val="0"/>
              </a:spcBef>
              <a:buNone/>
            </a:pPr>
            <a:r>
              <a:rPr lang="en-US" altLang="zh-CN" sz="2400" dirty="0">
                <a:solidFill>
                  <a:srgbClr val="0000FF"/>
                </a:solidFill>
                <a:latin typeface="+mn-lt"/>
              </a:rPr>
              <a:t>          JNZ       DELY             	  </a:t>
            </a:r>
            <a:r>
              <a:rPr lang="zh-CN" altLang="en-US" sz="2400" dirty="0">
                <a:solidFill>
                  <a:srgbClr val="0000FF"/>
                </a:solidFill>
                <a:latin typeface="+mn-lt"/>
              </a:rPr>
              <a:t>；时间没到，继续循环</a:t>
            </a:r>
          </a:p>
          <a:p>
            <a:pPr>
              <a:spcBef>
                <a:spcPts val="0"/>
              </a:spcBef>
              <a:buNone/>
            </a:pPr>
            <a:r>
              <a:rPr lang="en-US" altLang="zh-CN" sz="2400" dirty="0">
                <a:solidFill>
                  <a:srgbClr val="0000FF"/>
                </a:solidFill>
                <a:latin typeface="+mn-lt"/>
              </a:rPr>
              <a:t>          POP       DX       		  </a:t>
            </a:r>
            <a:r>
              <a:rPr lang="zh-CN" altLang="en-US" sz="2400" dirty="0">
                <a:solidFill>
                  <a:srgbClr val="0000FF"/>
                </a:solidFill>
                <a:latin typeface="+mn-lt"/>
              </a:rPr>
              <a:t>；时间到，原中断向量</a:t>
            </a:r>
            <a:endParaRPr lang="en-US" altLang="zh-CN" sz="2400" dirty="0">
              <a:solidFill>
                <a:srgbClr val="0000FF"/>
              </a:solidFill>
              <a:latin typeface="+mn-lt"/>
            </a:endParaRPr>
          </a:p>
          <a:p>
            <a:pPr>
              <a:spcBef>
                <a:spcPts val="0"/>
              </a:spcBef>
              <a:buNone/>
            </a:pPr>
            <a:r>
              <a:rPr lang="en-US" altLang="zh-CN" sz="2400" dirty="0">
                <a:solidFill>
                  <a:srgbClr val="0000FF"/>
                </a:solidFill>
                <a:latin typeface="+mn-lt"/>
              </a:rPr>
              <a:t>					  </a:t>
            </a:r>
            <a:r>
              <a:rPr lang="zh-CN" altLang="en-US" sz="2400" dirty="0">
                <a:solidFill>
                  <a:srgbClr val="0000FF"/>
                </a:solidFill>
                <a:latin typeface="+mn-lt"/>
              </a:rPr>
              <a:t>；弹出到</a:t>
            </a:r>
            <a:r>
              <a:rPr lang="en-US" altLang="zh-CN" sz="2400" dirty="0">
                <a:solidFill>
                  <a:srgbClr val="0000FF"/>
                </a:solidFill>
                <a:latin typeface="+mn-lt"/>
              </a:rPr>
              <a:t>DS</a:t>
            </a:r>
            <a:r>
              <a:rPr lang="zh-CN" altLang="en-US" sz="2400" dirty="0">
                <a:solidFill>
                  <a:srgbClr val="0000FF"/>
                </a:solidFill>
                <a:latin typeface="+mn-lt"/>
              </a:rPr>
              <a:t>：</a:t>
            </a:r>
            <a:r>
              <a:rPr lang="en-US" altLang="zh-CN" sz="2400" dirty="0">
                <a:solidFill>
                  <a:srgbClr val="0000FF"/>
                </a:solidFill>
                <a:latin typeface="+mn-lt"/>
              </a:rPr>
              <a:t>DX</a:t>
            </a:r>
            <a:r>
              <a:rPr lang="zh-CN" altLang="en-US" sz="2400" dirty="0">
                <a:solidFill>
                  <a:srgbClr val="0000FF"/>
                </a:solidFill>
                <a:latin typeface="+mn-lt"/>
              </a:rPr>
              <a:t>中</a:t>
            </a:r>
          </a:p>
          <a:p>
            <a:pPr>
              <a:spcBef>
                <a:spcPts val="0"/>
              </a:spcBef>
              <a:buNone/>
            </a:pPr>
            <a:r>
              <a:rPr lang="en-US" altLang="zh-CN" sz="2400" dirty="0">
                <a:solidFill>
                  <a:srgbClr val="0000FF"/>
                </a:solidFill>
                <a:latin typeface="+mn-lt"/>
              </a:rPr>
              <a:t>      	POP       DS                  </a:t>
            </a:r>
            <a:endParaRPr lang="zh-CN" altLang="en-US" sz="2400" dirty="0">
              <a:solidFill>
                <a:srgbClr val="0000FF"/>
              </a:solidFill>
              <a:latin typeface="+mn-lt"/>
            </a:endParaRPr>
          </a:p>
          <a:p>
            <a:pPr>
              <a:spcBef>
                <a:spcPts val="0"/>
              </a:spcBef>
              <a:buNone/>
            </a:pPr>
            <a:r>
              <a:rPr lang="en-US" altLang="zh-CN" sz="2400" dirty="0">
                <a:solidFill>
                  <a:srgbClr val="0000FF"/>
                </a:solidFill>
                <a:latin typeface="+mn-lt"/>
              </a:rPr>
              <a:t>           MOV     AL</a:t>
            </a:r>
            <a:r>
              <a:rPr lang="zh-CN" altLang="en-US" sz="2400" dirty="0">
                <a:solidFill>
                  <a:srgbClr val="0000FF"/>
                </a:solidFill>
                <a:latin typeface="+mn-lt"/>
              </a:rPr>
              <a:t>，</a:t>
            </a:r>
            <a:r>
              <a:rPr lang="en-US" altLang="zh-CN" sz="2400" dirty="0">
                <a:solidFill>
                  <a:srgbClr val="0000FF"/>
                </a:solidFill>
                <a:latin typeface="+mn-lt"/>
              </a:rPr>
              <a:t>1CH       	  </a:t>
            </a:r>
            <a:r>
              <a:rPr lang="zh-CN" altLang="en-US" sz="2400" dirty="0">
                <a:solidFill>
                  <a:srgbClr val="0000FF"/>
                </a:solidFill>
                <a:latin typeface="+mn-lt"/>
              </a:rPr>
              <a:t>；中断类型号</a:t>
            </a:r>
          </a:p>
          <a:p>
            <a:pPr>
              <a:spcBef>
                <a:spcPts val="0"/>
              </a:spcBef>
              <a:buNone/>
            </a:pPr>
            <a:r>
              <a:rPr lang="en-US" altLang="zh-CN" sz="2400" dirty="0">
                <a:solidFill>
                  <a:srgbClr val="0000FF"/>
                </a:solidFill>
                <a:latin typeface="+mn-lt"/>
              </a:rPr>
              <a:t>      	MOV     AH</a:t>
            </a:r>
            <a:r>
              <a:rPr lang="zh-CN" altLang="en-US" sz="2400" dirty="0">
                <a:solidFill>
                  <a:srgbClr val="0000FF"/>
                </a:solidFill>
                <a:latin typeface="+mn-lt"/>
              </a:rPr>
              <a:t>，</a:t>
            </a:r>
            <a:r>
              <a:rPr lang="en-US" altLang="zh-CN" sz="2400" dirty="0">
                <a:solidFill>
                  <a:srgbClr val="0000FF"/>
                </a:solidFill>
                <a:latin typeface="+mn-lt"/>
              </a:rPr>
              <a:t>25H        	  </a:t>
            </a:r>
            <a:r>
              <a:rPr lang="zh-CN" altLang="en-US" sz="2400" dirty="0">
                <a:solidFill>
                  <a:srgbClr val="0000FF"/>
                </a:solidFill>
                <a:latin typeface="+mn-lt"/>
              </a:rPr>
              <a:t>；恢复原中断向量</a:t>
            </a:r>
          </a:p>
          <a:p>
            <a:pPr>
              <a:spcBef>
                <a:spcPts val="0"/>
              </a:spcBef>
              <a:buNone/>
            </a:pPr>
            <a:r>
              <a:rPr lang="en-US" altLang="zh-CN" sz="2400" dirty="0">
                <a:solidFill>
                  <a:srgbClr val="0000FF"/>
                </a:solidFill>
                <a:latin typeface="+mn-lt"/>
              </a:rPr>
              <a:t>      	INT        21H              </a:t>
            </a:r>
            <a:endParaRPr lang="zh-CN" altLang="en-US" sz="2400" dirty="0">
              <a:solidFill>
                <a:srgbClr val="0000FF"/>
              </a:solidFill>
              <a:latin typeface="+mn-lt"/>
            </a:endParaRPr>
          </a:p>
          <a:p>
            <a:pPr>
              <a:spcBef>
                <a:spcPts val="0"/>
              </a:spcBef>
              <a:buNone/>
            </a:pPr>
            <a:r>
              <a:rPr lang="en-US" altLang="zh-CN" sz="2400" dirty="0">
                <a:solidFill>
                  <a:srgbClr val="0000FF"/>
                </a:solidFill>
                <a:latin typeface="+mn-lt"/>
              </a:rPr>
              <a:t>      	MOV     AX</a:t>
            </a:r>
            <a:r>
              <a:rPr lang="zh-CN" altLang="en-US" sz="2400" dirty="0">
                <a:solidFill>
                  <a:srgbClr val="0000FF"/>
                </a:solidFill>
                <a:latin typeface="+mn-lt"/>
              </a:rPr>
              <a:t>，</a:t>
            </a:r>
            <a:r>
              <a:rPr lang="en-US" altLang="zh-CN" sz="2400" dirty="0">
                <a:solidFill>
                  <a:srgbClr val="0000FF"/>
                </a:solidFill>
                <a:latin typeface="+mn-lt"/>
              </a:rPr>
              <a:t>4C00H    	  </a:t>
            </a:r>
            <a:r>
              <a:rPr lang="zh-CN" altLang="en-US" sz="2400" dirty="0">
                <a:solidFill>
                  <a:srgbClr val="0000FF"/>
                </a:solidFill>
                <a:latin typeface="+mn-lt"/>
              </a:rPr>
              <a:t>；返回</a:t>
            </a:r>
            <a:r>
              <a:rPr lang="en-US" altLang="zh-CN" sz="2400" dirty="0">
                <a:solidFill>
                  <a:srgbClr val="0000FF"/>
                </a:solidFill>
                <a:latin typeface="+mn-lt"/>
              </a:rPr>
              <a:t>DOS</a:t>
            </a:r>
            <a:endParaRPr lang="zh-CN" altLang="en-US" sz="2400" dirty="0">
              <a:solidFill>
                <a:srgbClr val="0000FF"/>
              </a:solidFill>
              <a:latin typeface="+mn-lt"/>
            </a:endParaRPr>
          </a:p>
          <a:p>
            <a:pPr>
              <a:spcBef>
                <a:spcPts val="0"/>
              </a:spcBef>
              <a:buNone/>
            </a:pPr>
            <a:r>
              <a:rPr lang="en-US" altLang="zh-CN" sz="2400" dirty="0">
                <a:solidFill>
                  <a:srgbClr val="0000FF"/>
                </a:solidFill>
                <a:latin typeface="+mn-lt"/>
              </a:rPr>
              <a:t>      	INT        21H		  </a:t>
            </a:r>
            <a:r>
              <a:rPr lang="zh-CN" altLang="en-US" sz="2400" dirty="0">
                <a:solidFill>
                  <a:srgbClr val="0000FF"/>
                </a:solidFill>
                <a:latin typeface="+mn-lt"/>
              </a:rPr>
              <a:t>；主程序结束</a:t>
            </a:r>
            <a:endParaRPr lang="zh-CN" altLang="en-US" sz="2400" dirty="0">
              <a:solidFill>
                <a:srgbClr val="0000FF"/>
              </a:solidFill>
            </a:endParaRPr>
          </a:p>
        </p:txBody>
      </p:sp>
    </p:spTree>
    <p:extLst>
      <p:ext uri="{BB962C8B-B14F-4D97-AF65-F5344CB8AC3E}">
        <p14:creationId xmlns:p14="http://schemas.microsoft.com/office/powerpoint/2010/main" val="22020919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44065">
            <a:extLst>
              <a:ext uri="{FF2B5EF4-FFF2-40B4-BE49-F238E27FC236}">
                <a16:creationId xmlns:a16="http://schemas.microsoft.com/office/drawing/2014/main" id="{F8BFAA95-E216-421C-B398-183D12E0FA15}"/>
              </a:ext>
            </a:extLst>
          </p:cNvPr>
          <p:cNvSpPr txBox="1">
            <a:spLocks/>
          </p:cNvSpPr>
          <p:nvPr/>
        </p:nvSpPr>
        <p:spPr>
          <a:xfrm>
            <a:off x="1547664" y="188640"/>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8.4  8259A在微机中的编程应用</a:t>
            </a:r>
            <a:endParaRPr lang="zh-CN" altLang="en-US" sz="3600" b="1" dirty="0">
              <a:solidFill>
                <a:srgbClr val="FF0000"/>
              </a:solidFill>
              <a:ea typeface="隶书" panose="02010509060101010101" pitchFamily="49" charset="-122"/>
            </a:endParaRPr>
          </a:p>
        </p:txBody>
      </p:sp>
      <p:sp>
        <p:nvSpPr>
          <p:cNvPr id="3" name="内容占位符 2">
            <a:extLst>
              <a:ext uri="{FF2B5EF4-FFF2-40B4-BE49-F238E27FC236}">
                <a16:creationId xmlns:a16="http://schemas.microsoft.com/office/drawing/2014/main" id="{E55C78A7-A718-40DB-9570-25A8C236523D}"/>
              </a:ext>
            </a:extLst>
          </p:cNvPr>
          <p:cNvSpPr txBox="1">
            <a:spLocks/>
          </p:cNvSpPr>
          <p:nvPr/>
        </p:nvSpPr>
        <p:spPr>
          <a:xfrm>
            <a:off x="107504" y="1052736"/>
            <a:ext cx="8876531" cy="5436964"/>
          </a:xfrm>
          <a:prstGeom prst="rect">
            <a:avLst/>
          </a:prstGeom>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spcBef>
                <a:spcPts val="0"/>
              </a:spcBef>
              <a:buFontTx/>
              <a:buNone/>
            </a:pPr>
            <a:r>
              <a:rPr lang="zh-CN" altLang="en-US" sz="2600" dirty="0">
                <a:solidFill>
                  <a:srgbClr val="0000FF"/>
                </a:solidFill>
              </a:rPr>
              <a:t>；中断服务程序</a:t>
            </a:r>
            <a:r>
              <a:rPr lang="en-US" sz="2600" dirty="0">
                <a:solidFill>
                  <a:srgbClr val="0000FF"/>
                </a:solidFill>
              </a:rPr>
              <a:t>RING</a:t>
            </a:r>
            <a:endParaRPr lang="zh-CN" altLang="en-US" sz="2600" dirty="0">
              <a:solidFill>
                <a:srgbClr val="0000FF"/>
              </a:solidFill>
            </a:endParaRPr>
          </a:p>
          <a:p>
            <a:pPr>
              <a:spcBef>
                <a:spcPts val="0"/>
              </a:spcBef>
              <a:buFontTx/>
              <a:buNone/>
            </a:pPr>
            <a:r>
              <a:rPr lang="en-US" sz="2400" dirty="0">
                <a:solidFill>
                  <a:srgbClr val="0000FF"/>
                </a:solidFill>
              </a:rPr>
              <a:t>RING  PROC  NEAR</a:t>
            </a:r>
            <a:endParaRPr lang="zh-CN" altLang="en-US" sz="2400" dirty="0">
              <a:solidFill>
                <a:srgbClr val="0000FF"/>
              </a:solidFill>
            </a:endParaRPr>
          </a:p>
          <a:p>
            <a:pPr>
              <a:spcBef>
                <a:spcPts val="0"/>
              </a:spcBef>
              <a:buFontTx/>
              <a:buNone/>
            </a:pPr>
            <a:r>
              <a:rPr lang="en-US" sz="2400" dirty="0">
                <a:solidFill>
                  <a:srgbClr val="0000FF"/>
                </a:solidFill>
              </a:rPr>
              <a:t>    		PUSH   DS               	</a:t>
            </a:r>
            <a:r>
              <a:rPr lang="zh-CN" altLang="en-US" sz="2400" dirty="0">
                <a:solidFill>
                  <a:srgbClr val="0000FF"/>
                </a:solidFill>
              </a:rPr>
              <a:t>；保护现场</a:t>
            </a:r>
          </a:p>
          <a:p>
            <a:pPr>
              <a:spcBef>
                <a:spcPts val="0"/>
              </a:spcBef>
              <a:buFontTx/>
              <a:buNone/>
            </a:pPr>
            <a:r>
              <a:rPr lang="en-US" sz="2400" dirty="0">
                <a:solidFill>
                  <a:srgbClr val="0000FF"/>
                </a:solidFill>
              </a:rPr>
              <a:t>     	PUSH   AX</a:t>
            </a:r>
            <a:endParaRPr lang="zh-CN" altLang="en-US" sz="2400" dirty="0">
              <a:solidFill>
                <a:srgbClr val="0000FF"/>
              </a:solidFill>
            </a:endParaRPr>
          </a:p>
          <a:p>
            <a:pPr>
              <a:spcBef>
                <a:spcPts val="0"/>
              </a:spcBef>
              <a:buFontTx/>
              <a:buNone/>
            </a:pPr>
            <a:r>
              <a:rPr lang="en-US" sz="2400" dirty="0">
                <a:solidFill>
                  <a:srgbClr val="0000FF"/>
                </a:solidFill>
              </a:rPr>
              <a:t>       	PUSH   CX</a:t>
            </a:r>
            <a:endParaRPr lang="zh-CN" altLang="en-US" sz="2400" dirty="0">
              <a:solidFill>
                <a:srgbClr val="0000FF"/>
              </a:solidFill>
            </a:endParaRPr>
          </a:p>
          <a:p>
            <a:pPr>
              <a:spcBef>
                <a:spcPts val="0"/>
              </a:spcBef>
              <a:buFontTx/>
              <a:buNone/>
            </a:pPr>
            <a:r>
              <a:rPr lang="en-US" sz="2400" dirty="0">
                <a:solidFill>
                  <a:srgbClr val="0000FF"/>
                </a:solidFill>
              </a:rPr>
              <a:t>   		PUSH   DX</a:t>
            </a:r>
            <a:endParaRPr lang="zh-CN" altLang="en-US" sz="2400" dirty="0">
              <a:solidFill>
                <a:srgbClr val="0000FF"/>
              </a:solidFill>
            </a:endParaRPr>
          </a:p>
          <a:p>
            <a:pPr>
              <a:spcBef>
                <a:spcPts val="0"/>
              </a:spcBef>
              <a:buFontTx/>
              <a:buNone/>
            </a:pPr>
            <a:r>
              <a:rPr lang="en-US" sz="2400" dirty="0">
                <a:solidFill>
                  <a:srgbClr val="0000FF"/>
                </a:solidFill>
              </a:rPr>
              <a:t>     	MOV     AX</a:t>
            </a:r>
            <a:r>
              <a:rPr lang="zh-CN" altLang="en-US" sz="2400" dirty="0">
                <a:solidFill>
                  <a:srgbClr val="0000FF"/>
                </a:solidFill>
              </a:rPr>
              <a:t>，</a:t>
            </a:r>
            <a:r>
              <a:rPr lang="en-US" sz="2400" dirty="0">
                <a:solidFill>
                  <a:srgbClr val="0000FF"/>
                </a:solidFill>
              </a:rPr>
              <a:t>DATA 	           </a:t>
            </a:r>
            <a:r>
              <a:rPr lang="zh-CN" altLang="en-US" sz="2400" dirty="0">
                <a:solidFill>
                  <a:srgbClr val="0000FF"/>
                </a:solidFill>
              </a:rPr>
              <a:t>；设置数据段</a:t>
            </a:r>
          </a:p>
          <a:p>
            <a:pPr>
              <a:spcBef>
                <a:spcPts val="0"/>
              </a:spcBef>
              <a:buFontTx/>
              <a:buNone/>
            </a:pPr>
            <a:r>
              <a:rPr lang="en-US" sz="2400" dirty="0">
                <a:solidFill>
                  <a:srgbClr val="0000FF"/>
                </a:solidFill>
              </a:rPr>
              <a:t>       	MOV     DS</a:t>
            </a:r>
            <a:r>
              <a:rPr lang="zh-CN" altLang="en-US" sz="2400" dirty="0">
                <a:solidFill>
                  <a:srgbClr val="0000FF"/>
                </a:solidFill>
              </a:rPr>
              <a:t>，</a:t>
            </a:r>
            <a:r>
              <a:rPr lang="en-US" sz="2400" dirty="0">
                <a:solidFill>
                  <a:srgbClr val="0000FF"/>
                </a:solidFill>
              </a:rPr>
              <a:t>AX</a:t>
            </a:r>
            <a:endParaRPr lang="zh-CN" altLang="en-US" sz="2400" dirty="0">
              <a:solidFill>
                <a:srgbClr val="0000FF"/>
              </a:solidFill>
            </a:endParaRPr>
          </a:p>
          <a:p>
            <a:pPr>
              <a:spcBef>
                <a:spcPts val="0"/>
              </a:spcBef>
              <a:buFontTx/>
              <a:buNone/>
            </a:pPr>
            <a:r>
              <a:rPr lang="en-US" sz="2400" dirty="0">
                <a:solidFill>
                  <a:srgbClr val="0000FF"/>
                </a:solidFill>
              </a:rPr>
              <a:t>        	STI                        	           </a:t>
            </a:r>
            <a:r>
              <a:rPr lang="zh-CN" altLang="en-US" sz="2400" dirty="0">
                <a:solidFill>
                  <a:srgbClr val="0000FF"/>
                </a:solidFill>
              </a:rPr>
              <a:t>；开中断，允许中断嵌套</a:t>
            </a:r>
          </a:p>
          <a:p>
            <a:pPr>
              <a:spcBef>
                <a:spcPts val="0"/>
              </a:spcBef>
              <a:buFontTx/>
              <a:buNone/>
            </a:pPr>
            <a:r>
              <a:rPr lang="en-US" sz="2400" dirty="0">
                <a:solidFill>
                  <a:srgbClr val="0000FF"/>
                </a:solidFill>
              </a:rPr>
              <a:t>        	DEC  	  COUNT        	</a:t>
            </a:r>
            <a:r>
              <a:rPr lang="zh-CN" altLang="en-US" sz="2400" dirty="0">
                <a:solidFill>
                  <a:srgbClr val="0000FF"/>
                </a:solidFill>
              </a:rPr>
              <a:t>；</a:t>
            </a:r>
            <a:r>
              <a:rPr lang="en-US" sz="2400" dirty="0">
                <a:solidFill>
                  <a:srgbClr val="0000FF"/>
                </a:solidFill>
              </a:rPr>
              <a:t>10s</a:t>
            </a:r>
            <a:r>
              <a:rPr lang="zh-CN" altLang="en-US" sz="2400" dirty="0">
                <a:solidFill>
                  <a:srgbClr val="0000FF"/>
                </a:solidFill>
              </a:rPr>
              <a:t>计数器</a:t>
            </a:r>
            <a:r>
              <a:rPr lang="en-US" sz="2400" dirty="0">
                <a:solidFill>
                  <a:srgbClr val="0000FF"/>
                </a:solidFill>
              </a:rPr>
              <a:t>COUNT</a:t>
            </a:r>
            <a:r>
              <a:rPr lang="zh-CN" altLang="en-US" sz="2400" dirty="0">
                <a:solidFill>
                  <a:srgbClr val="0000FF"/>
                </a:solidFill>
              </a:rPr>
              <a:t>减</a:t>
            </a:r>
            <a:r>
              <a:rPr lang="en-US" sz="2400" dirty="0">
                <a:solidFill>
                  <a:srgbClr val="0000FF"/>
                </a:solidFill>
              </a:rPr>
              <a:t>1</a:t>
            </a:r>
            <a:endParaRPr lang="zh-CN" altLang="en-US" sz="2400" dirty="0">
              <a:solidFill>
                <a:srgbClr val="0000FF"/>
              </a:solidFill>
            </a:endParaRPr>
          </a:p>
          <a:p>
            <a:pPr>
              <a:spcBef>
                <a:spcPts val="0"/>
              </a:spcBef>
              <a:buFontTx/>
              <a:buNone/>
            </a:pPr>
            <a:r>
              <a:rPr lang="en-US" sz="2400" dirty="0">
                <a:solidFill>
                  <a:srgbClr val="0000FF"/>
                </a:solidFill>
              </a:rPr>
              <a:t>        	JNZ  	  EXIT            	</a:t>
            </a:r>
            <a:r>
              <a:rPr lang="zh-CN" altLang="en-US" sz="2400" dirty="0">
                <a:solidFill>
                  <a:srgbClr val="0000FF"/>
                </a:solidFill>
              </a:rPr>
              <a:t>；非</a:t>
            </a:r>
            <a:r>
              <a:rPr lang="en-US" sz="2400" dirty="0">
                <a:solidFill>
                  <a:srgbClr val="0000FF"/>
                </a:solidFill>
              </a:rPr>
              <a:t>0</a:t>
            </a:r>
            <a:r>
              <a:rPr lang="zh-CN" altLang="en-US" sz="2400" dirty="0">
                <a:solidFill>
                  <a:srgbClr val="0000FF"/>
                </a:solidFill>
              </a:rPr>
              <a:t>，</a:t>
            </a:r>
            <a:r>
              <a:rPr lang="en-US" sz="2400" dirty="0">
                <a:solidFill>
                  <a:srgbClr val="0000FF"/>
                </a:solidFill>
              </a:rPr>
              <a:t>10s</a:t>
            </a:r>
            <a:r>
              <a:rPr lang="zh-CN" altLang="en-US" sz="2400" dirty="0">
                <a:solidFill>
                  <a:srgbClr val="0000FF"/>
                </a:solidFill>
              </a:rPr>
              <a:t>时间未到，则退出</a:t>
            </a:r>
          </a:p>
          <a:p>
            <a:pPr>
              <a:spcBef>
                <a:spcPts val="0"/>
              </a:spcBef>
              <a:buFontTx/>
              <a:buNone/>
            </a:pPr>
            <a:r>
              <a:rPr lang="en-US" sz="2400" dirty="0">
                <a:solidFill>
                  <a:srgbClr val="0000FF"/>
                </a:solidFill>
              </a:rPr>
              <a:t>		MOV	  DX</a:t>
            </a:r>
            <a:r>
              <a:rPr lang="zh-CN" altLang="en-US" sz="2400" dirty="0">
                <a:solidFill>
                  <a:srgbClr val="0000FF"/>
                </a:solidFill>
              </a:rPr>
              <a:t>，</a:t>
            </a:r>
            <a:r>
              <a:rPr lang="en-US" sz="2400" dirty="0">
                <a:solidFill>
                  <a:srgbClr val="0000FF"/>
                </a:solidFill>
              </a:rPr>
              <a:t>OFFSET  MESS	</a:t>
            </a:r>
          </a:p>
          <a:p>
            <a:pPr>
              <a:spcBef>
                <a:spcPts val="0"/>
              </a:spcBef>
              <a:buFontTx/>
              <a:buNone/>
            </a:pPr>
            <a:r>
              <a:rPr lang="en-US" altLang="zh-CN" sz="2400" dirty="0">
                <a:solidFill>
                  <a:srgbClr val="0000FF"/>
                </a:solidFill>
              </a:rPr>
              <a:t>					           </a:t>
            </a:r>
            <a:r>
              <a:rPr lang="zh-CN" altLang="en-US" sz="2400" dirty="0">
                <a:solidFill>
                  <a:srgbClr val="0000FF"/>
                </a:solidFill>
              </a:rPr>
              <a:t>；是</a:t>
            </a:r>
            <a:r>
              <a:rPr lang="en-US" sz="2400" dirty="0">
                <a:solidFill>
                  <a:srgbClr val="0000FF"/>
                </a:solidFill>
              </a:rPr>
              <a:t>0</a:t>
            </a:r>
            <a:r>
              <a:rPr lang="zh-CN" altLang="en-US" sz="2400" dirty="0">
                <a:solidFill>
                  <a:srgbClr val="0000FF"/>
                </a:solidFill>
              </a:rPr>
              <a:t>，</a:t>
            </a:r>
            <a:r>
              <a:rPr lang="en-US" sz="2400" dirty="0">
                <a:solidFill>
                  <a:srgbClr val="0000FF"/>
                </a:solidFill>
              </a:rPr>
              <a:t>10s</a:t>
            </a:r>
            <a:r>
              <a:rPr lang="zh-CN" altLang="en-US" sz="2400" dirty="0">
                <a:solidFill>
                  <a:srgbClr val="0000FF"/>
                </a:solidFill>
              </a:rPr>
              <a:t>到，显示提示信息</a:t>
            </a:r>
          </a:p>
          <a:p>
            <a:pPr>
              <a:spcBef>
                <a:spcPts val="0"/>
              </a:spcBef>
              <a:buFontTx/>
              <a:buNone/>
            </a:pPr>
            <a:r>
              <a:rPr lang="en-US" sz="2400" dirty="0">
                <a:solidFill>
                  <a:srgbClr val="0000FF"/>
                </a:solidFill>
              </a:rPr>
              <a:t>        	MOV 	 AH</a:t>
            </a:r>
            <a:r>
              <a:rPr lang="zh-CN" altLang="en-US" sz="2400" dirty="0">
                <a:solidFill>
                  <a:srgbClr val="0000FF"/>
                </a:solidFill>
              </a:rPr>
              <a:t>，</a:t>
            </a:r>
            <a:r>
              <a:rPr lang="en-US" sz="2400" dirty="0">
                <a:solidFill>
                  <a:srgbClr val="0000FF"/>
                </a:solidFill>
              </a:rPr>
              <a:t>09H			</a:t>
            </a:r>
            <a:endParaRPr lang="zh-CN" altLang="en-US" sz="2400" dirty="0">
              <a:solidFill>
                <a:srgbClr val="0000FF"/>
              </a:solidFill>
            </a:endParaRPr>
          </a:p>
          <a:p>
            <a:pPr>
              <a:spcBef>
                <a:spcPts val="0"/>
              </a:spcBef>
              <a:buFontTx/>
              <a:buNone/>
            </a:pPr>
            <a:r>
              <a:rPr lang="en-US" sz="2400" dirty="0">
                <a:solidFill>
                  <a:srgbClr val="0000FF"/>
                </a:solidFill>
              </a:rPr>
              <a:t>        	INT  	 21H</a:t>
            </a:r>
            <a:endParaRPr lang="zh-CN" altLang="en-US" sz="2400" dirty="0">
              <a:solidFill>
                <a:srgbClr val="0000FF"/>
              </a:solidFill>
            </a:endParaRPr>
          </a:p>
          <a:p>
            <a:pPr>
              <a:spcBef>
                <a:spcPts val="0"/>
              </a:spcBef>
              <a:buFontTx/>
              <a:buNone/>
            </a:pPr>
            <a:endParaRPr lang="zh-CN" altLang="en-US" sz="2400" dirty="0">
              <a:solidFill>
                <a:srgbClr val="0000FF"/>
              </a:solidFill>
            </a:endParaRPr>
          </a:p>
        </p:txBody>
      </p:sp>
    </p:spTree>
    <p:extLst>
      <p:ext uri="{BB962C8B-B14F-4D97-AF65-F5344CB8AC3E}">
        <p14:creationId xmlns:p14="http://schemas.microsoft.com/office/powerpoint/2010/main" val="9518332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44065">
            <a:extLst>
              <a:ext uri="{FF2B5EF4-FFF2-40B4-BE49-F238E27FC236}">
                <a16:creationId xmlns:a16="http://schemas.microsoft.com/office/drawing/2014/main" id="{FFB0E0A8-694D-494C-9391-1D636FAE0A3E}"/>
              </a:ext>
            </a:extLst>
          </p:cNvPr>
          <p:cNvSpPr txBox="1">
            <a:spLocks/>
          </p:cNvSpPr>
          <p:nvPr/>
        </p:nvSpPr>
        <p:spPr>
          <a:xfrm>
            <a:off x="1547664" y="188640"/>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8.4  8259A在微机中的编程应用</a:t>
            </a:r>
            <a:endParaRPr lang="zh-CN" altLang="en-US" sz="3600" b="1" dirty="0">
              <a:solidFill>
                <a:srgbClr val="FF0000"/>
              </a:solidFill>
              <a:ea typeface="隶书" panose="02010509060101010101" pitchFamily="49" charset="-122"/>
            </a:endParaRPr>
          </a:p>
        </p:txBody>
      </p:sp>
      <p:sp>
        <p:nvSpPr>
          <p:cNvPr id="3" name="内容占位符 2">
            <a:extLst>
              <a:ext uri="{FF2B5EF4-FFF2-40B4-BE49-F238E27FC236}">
                <a16:creationId xmlns:a16="http://schemas.microsoft.com/office/drawing/2014/main" id="{2AA4BDD8-5804-4A59-8F53-AF9AD39EB021}"/>
              </a:ext>
            </a:extLst>
          </p:cNvPr>
          <p:cNvSpPr txBox="1">
            <a:spLocks/>
          </p:cNvSpPr>
          <p:nvPr/>
        </p:nvSpPr>
        <p:spPr>
          <a:xfrm>
            <a:off x="107504" y="908050"/>
            <a:ext cx="8928991" cy="5949950"/>
          </a:xfrm>
          <a:prstGeom prst="rect">
            <a:avLst/>
          </a:prstGeom>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spcBef>
                <a:spcPts val="0"/>
              </a:spcBef>
              <a:buFontTx/>
              <a:buNone/>
            </a:pPr>
            <a:r>
              <a:rPr lang="en-US" sz="2400" dirty="0">
                <a:solidFill>
                  <a:srgbClr val="0000FF"/>
                </a:solidFill>
              </a:rPr>
              <a:t> 	     MOV  	DX</a:t>
            </a:r>
            <a:r>
              <a:rPr lang="zh-CN" altLang="en-US" sz="2400" dirty="0">
                <a:solidFill>
                  <a:srgbClr val="0000FF"/>
                </a:solidFill>
              </a:rPr>
              <a:t>，</a:t>
            </a:r>
            <a:r>
              <a:rPr lang="en-US" sz="2400" dirty="0">
                <a:solidFill>
                  <a:srgbClr val="0000FF"/>
                </a:solidFill>
              </a:rPr>
              <a:t>100           	</a:t>
            </a:r>
            <a:r>
              <a:rPr lang="zh-CN" altLang="en-US" sz="2400" dirty="0">
                <a:solidFill>
                  <a:srgbClr val="0000FF"/>
                </a:solidFill>
              </a:rPr>
              <a:t>；扬声器通断</a:t>
            </a:r>
            <a:r>
              <a:rPr lang="en-US" sz="2400" dirty="0">
                <a:solidFill>
                  <a:srgbClr val="0000FF"/>
                </a:solidFill>
              </a:rPr>
              <a:t>100</a:t>
            </a:r>
            <a:r>
              <a:rPr lang="zh-CN" altLang="en-US" sz="2400" dirty="0">
                <a:solidFill>
                  <a:srgbClr val="0000FF"/>
                </a:solidFill>
              </a:rPr>
              <a:t>次</a:t>
            </a:r>
          </a:p>
          <a:p>
            <a:pPr>
              <a:spcBef>
                <a:spcPts val="0"/>
              </a:spcBef>
              <a:buFontTx/>
              <a:buNone/>
            </a:pPr>
            <a:r>
              <a:rPr lang="en-US" sz="2400" dirty="0">
                <a:solidFill>
                  <a:srgbClr val="0000FF"/>
                </a:solidFill>
              </a:rPr>
              <a:t>         IN    	AL</a:t>
            </a:r>
            <a:r>
              <a:rPr lang="zh-CN" altLang="en-US" sz="2400" dirty="0">
                <a:solidFill>
                  <a:srgbClr val="0000FF"/>
                </a:solidFill>
              </a:rPr>
              <a:t>，</a:t>
            </a:r>
            <a:r>
              <a:rPr lang="en-US" sz="2400" dirty="0">
                <a:solidFill>
                  <a:srgbClr val="0000FF"/>
                </a:solidFill>
              </a:rPr>
              <a:t>61H           	</a:t>
            </a:r>
            <a:r>
              <a:rPr lang="zh-CN" altLang="en-US" sz="2400" dirty="0">
                <a:solidFill>
                  <a:srgbClr val="0000FF"/>
                </a:solidFill>
              </a:rPr>
              <a:t>；扬声器发声程序</a:t>
            </a:r>
          </a:p>
          <a:p>
            <a:pPr>
              <a:spcBef>
                <a:spcPts val="0"/>
              </a:spcBef>
              <a:buFontTx/>
              <a:buNone/>
            </a:pPr>
            <a:r>
              <a:rPr lang="en-US" sz="2400" dirty="0">
                <a:solidFill>
                  <a:srgbClr val="0000FF"/>
                </a:solidFill>
              </a:rPr>
              <a:t>         AND  	AL</a:t>
            </a:r>
            <a:r>
              <a:rPr lang="zh-CN" altLang="en-US" sz="2400" dirty="0">
                <a:solidFill>
                  <a:srgbClr val="0000FF"/>
                </a:solidFill>
              </a:rPr>
              <a:t>，</a:t>
            </a:r>
            <a:r>
              <a:rPr lang="en-US" sz="2400" dirty="0">
                <a:solidFill>
                  <a:srgbClr val="0000FF"/>
                </a:solidFill>
              </a:rPr>
              <a:t>0FCH         	</a:t>
            </a:r>
            <a:r>
              <a:rPr lang="zh-CN" altLang="en-US" sz="2400" dirty="0">
                <a:solidFill>
                  <a:srgbClr val="0000FF"/>
                </a:solidFill>
              </a:rPr>
              <a:t>；使</a:t>
            </a:r>
            <a:r>
              <a:rPr lang="en-US" sz="2400" dirty="0">
                <a:solidFill>
                  <a:srgbClr val="0000FF"/>
                </a:solidFill>
              </a:rPr>
              <a:t>8255A</a:t>
            </a:r>
            <a:r>
              <a:rPr lang="zh-CN" altLang="en-US" sz="2400" dirty="0">
                <a:solidFill>
                  <a:srgbClr val="0000FF"/>
                </a:solidFill>
              </a:rPr>
              <a:t>的</a:t>
            </a:r>
            <a:r>
              <a:rPr lang="en-US" sz="2400" dirty="0">
                <a:solidFill>
                  <a:srgbClr val="0000FF"/>
                </a:solidFill>
              </a:rPr>
              <a:t>PB</a:t>
            </a:r>
            <a:r>
              <a:rPr lang="en-US" sz="2400" baseline="-25000" dirty="0">
                <a:solidFill>
                  <a:srgbClr val="0000FF"/>
                </a:solidFill>
              </a:rPr>
              <a:t>1</a:t>
            </a:r>
            <a:r>
              <a:rPr lang="en-US" sz="2400" dirty="0">
                <a:solidFill>
                  <a:srgbClr val="0000FF"/>
                </a:solidFill>
              </a:rPr>
              <a:t>PB</a:t>
            </a:r>
            <a:r>
              <a:rPr lang="en-US" sz="2400" baseline="-25000" dirty="0">
                <a:solidFill>
                  <a:srgbClr val="0000FF"/>
                </a:solidFill>
              </a:rPr>
              <a:t>0</a:t>
            </a:r>
            <a:r>
              <a:rPr lang="en-US" sz="2400" dirty="0">
                <a:solidFill>
                  <a:srgbClr val="0000FF"/>
                </a:solidFill>
              </a:rPr>
              <a:t>=00</a:t>
            </a:r>
            <a:endParaRPr lang="zh-CN" altLang="en-US" sz="2400" dirty="0">
              <a:solidFill>
                <a:srgbClr val="0000FF"/>
              </a:solidFill>
            </a:endParaRPr>
          </a:p>
          <a:p>
            <a:pPr>
              <a:spcBef>
                <a:spcPts val="0"/>
              </a:spcBef>
              <a:buFontTx/>
              <a:buNone/>
            </a:pPr>
            <a:r>
              <a:rPr lang="en-US" sz="2400" dirty="0">
                <a:solidFill>
                  <a:srgbClr val="0000FF"/>
                </a:solidFill>
              </a:rPr>
              <a:t>SOUND:	</a:t>
            </a:r>
          </a:p>
          <a:p>
            <a:pPr>
              <a:spcBef>
                <a:spcPts val="0"/>
              </a:spcBef>
              <a:buFontTx/>
              <a:buNone/>
            </a:pPr>
            <a:r>
              <a:rPr lang="en-US" sz="2400" dirty="0">
                <a:solidFill>
                  <a:srgbClr val="0000FF"/>
                </a:solidFill>
              </a:rPr>
              <a:t>	     XOR  	AL</a:t>
            </a:r>
            <a:r>
              <a:rPr lang="zh-CN" altLang="en-US" sz="2400" dirty="0">
                <a:solidFill>
                  <a:srgbClr val="0000FF"/>
                </a:solidFill>
              </a:rPr>
              <a:t>，</a:t>
            </a:r>
            <a:r>
              <a:rPr lang="en-US" sz="2400" dirty="0">
                <a:solidFill>
                  <a:srgbClr val="0000FF"/>
                </a:solidFill>
              </a:rPr>
              <a:t>02H		</a:t>
            </a:r>
            <a:r>
              <a:rPr lang="zh-CN" altLang="en-US" sz="2400" dirty="0">
                <a:solidFill>
                  <a:srgbClr val="0000FF"/>
                </a:solidFill>
              </a:rPr>
              <a:t>；</a:t>
            </a:r>
            <a:r>
              <a:rPr lang="en-US" sz="2400" dirty="0">
                <a:solidFill>
                  <a:srgbClr val="0000FF"/>
                </a:solidFill>
              </a:rPr>
              <a:t>61H</a:t>
            </a:r>
            <a:r>
              <a:rPr lang="zh-CN" altLang="en-US" sz="2400" dirty="0">
                <a:solidFill>
                  <a:srgbClr val="0000FF"/>
                </a:solidFill>
              </a:rPr>
              <a:t>口的</a:t>
            </a:r>
            <a:r>
              <a:rPr lang="en-US" sz="2400" dirty="0">
                <a:solidFill>
                  <a:srgbClr val="0000FF"/>
                </a:solidFill>
              </a:rPr>
              <a:t>D</a:t>
            </a:r>
            <a:r>
              <a:rPr lang="en-US" sz="2400" baseline="-25000" dirty="0">
                <a:solidFill>
                  <a:srgbClr val="0000FF"/>
                </a:solidFill>
              </a:rPr>
              <a:t>1</a:t>
            </a:r>
            <a:r>
              <a:rPr lang="zh-CN" altLang="en-US" sz="2400" dirty="0">
                <a:solidFill>
                  <a:srgbClr val="0000FF"/>
                </a:solidFill>
              </a:rPr>
              <a:t>位（</a:t>
            </a:r>
            <a:r>
              <a:rPr lang="en-US" sz="2400" dirty="0">
                <a:solidFill>
                  <a:srgbClr val="0000FF"/>
                </a:solidFill>
              </a:rPr>
              <a:t>PB</a:t>
            </a:r>
            <a:r>
              <a:rPr lang="en-US" sz="2400" baseline="-25000" dirty="0">
                <a:solidFill>
                  <a:srgbClr val="0000FF"/>
                </a:solidFill>
              </a:rPr>
              <a:t>1</a:t>
            </a:r>
            <a:r>
              <a:rPr lang="zh-CN" altLang="en-US" sz="2400" dirty="0">
                <a:solidFill>
                  <a:srgbClr val="0000FF"/>
                </a:solidFill>
              </a:rPr>
              <a:t>）</a:t>
            </a:r>
          </a:p>
          <a:p>
            <a:pPr>
              <a:spcBef>
                <a:spcPts val="0"/>
              </a:spcBef>
              <a:buFontTx/>
              <a:buNone/>
            </a:pPr>
            <a:r>
              <a:rPr lang="en-US" sz="2400" dirty="0">
                <a:solidFill>
                  <a:srgbClr val="0000FF"/>
                </a:solidFill>
              </a:rPr>
              <a:t>         OUT  	61H</a:t>
            </a:r>
            <a:r>
              <a:rPr lang="zh-CN" altLang="en-US" sz="2400" dirty="0">
                <a:solidFill>
                  <a:srgbClr val="0000FF"/>
                </a:solidFill>
              </a:rPr>
              <a:t>，</a:t>
            </a:r>
            <a:r>
              <a:rPr lang="en-US" sz="2400" dirty="0">
                <a:solidFill>
                  <a:srgbClr val="0000FF"/>
                </a:solidFill>
              </a:rPr>
              <a:t>AL        	</a:t>
            </a:r>
            <a:r>
              <a:rPr lang="zh-CN" altLang="en-US" sz="2400" dirty="0">
                <a:solidFill>
                  <a:srgbClr val="0000FF"/>
                </a:solidFill>
              </a:rPr>
              <a:t>；由</a:t>
            </a:r>
            <a:r>
              <a:rPr lang="en-US" sz="2400" dirty="0">
                <a:solidFill>
                  <a:srgbClr val="0000FF"/>
                </a:solidFill>
              </a:rPr>
              <a:t>1</a:t>
            </a:r>
            <a:r>
              <a:rPr lang="zh-CN" altLang="en-US" sz="2400" dirty="0">
                <a:solidFill>
                  <a:srgbClr val="0000FF"/>
                </a:solidFill>
              </a:rPr>
              <a:t>→</a:t>
            </a:r>
            <a:r>
              <a:rPr lang="en-US" sz="2400" dirty="0">
                <a:solidFill>
                  <a:srgbClr val="0000FF"/>
                </a:solidFill>
              </a:rPr>
              <a:t>0</a:t>
            </a:r>
            <a:r>
              <a:rPr lang="zh-CN" altLang="en-US" sz="2400" dirty="0">
                <a:solidFill>
                  <a:srgbClr val="0000FF"/>
                </a:solidFill>
              </a:rPr>
              <a:t>，由</a:t>
            </a:r>
            <a:r>
              <a:rPr lang="en-US" sz="2400" dirty="0">
                <a:solidFill>
                  <a:srgbClr val="0000FF"/>
                </a:solidFill>
              </a:rPr>
              <a:t>0</a:t>
            </a:r>
            <a:r>
              <a:rPr lang="zh-CN" altLang="en-US" sz="2400" dirty="0">
                <a:solidFill>
                  <a:srgbClr val="0000FF"/>
                </a:solidFill>
              </a:rPr>
              <a:t>→</a:t>
            </a:r>
            <a:r>
              <a:rPr lang="en-US" sz="2400" dirty="0">
                <a:solidFill>
                  <a:srgbClr val="0000FF"/>
                </a:solidFill>
              </a:rPr>
              <a:t>1</a:t>
            </a:r>
            <a:endParaRPr lang="zh-CN" altLang="en-US" sz="2400" dirty="0">
              <a:solidFill>
                <a:srgbClr val="0000FF"/>
              </a:solidFill>
            </a:endParaRPr>
          </a:p>
          <a:p>
            <a:pPr>
              <a:spcBef>
                <a:spcPts val="0"/>
              </a:spcBef>
              <a:buFontTx/>
              <a:buNone/>
            </a:pPr>
            <a:r>
              <a:rPr lang="en-US" sz="2400" dirty="0">
                <a:solidFill>
                  <a:srgbClr val="0000FF"/>
                </a:solidFill>
              </a:rPr>
              <a:t>         MOV  	CX</a:t>
            </a:r>
            <a:r>
              <a:rPr lang="zh-CN" altLang="en-US" sz="2400" dirty="0">
                <a:solidFill>
                  <a:srgbClr val="0000FF"/>
                </a:solidFill>
              </a:rPr>
              <a:t>，</a:t>
            </a:r>
            <a:r>
              <a:rPr lang="en-US" sz="2400" dirty="0">
                <a:solidFill>
                  <a:srgbClr val="0000FF"/>
                </a:solidFill>
              </a:rPr>
              <a:t>140H       	</a:t>
            </a:r>
            <a:r>
              <a:rPr lang="zh-CN" altLang="en-US" sz="2400" dirty="0">
                <a:solidFill>
                  <a:srgbClr val="0000FF"/>
                </a:solidFill>
              </a:rPr>
              <a:t>；延时使方波有一定宽度</a:t>
            </a:r>
          </a:p>
          <a:p>
            <a:pPr>
              <a:spcBef>
                <a:spcPts val="0"/>
              </a:spcBef>
              <a:buFontTx/>
              <a:buNone/>
            </a:pPr>
            <a:r>
              <a:rPr lang="en-US" sz="2400" dirty="0">
                <a:solidFill>
                  <a:srgbClr val="0000FF"/>
                </a:solidFill>
              </a:rPr>
              <a:t>WAIT1: 	</a:t>
            </a:r>
          </a:p>
          <a:p>
            <a:pPr>
              <a:spcBef>
                <a:spcPts val="0"/>
              </a:spcBef>
              <a:buFontTx/>
              <a:buNone/>
            </a:pPr>
            <a:r>
              <a:rPr lang="en-US" sz="2400" dirty="0">
                <a:solidFill>
                  <a:srgbClr val="0000FF"/>
                </a:solidFill>
              </a:rPr>
              <a:t>	     LOOP 	WAIT1</a:t>
            </a:r>
            <a:endParaRPr lang="zh-CN" altLang="en-US" sz="2400" dirty="0">
              <a:solidFill>
                <a:srgbClr val="0000FF"/>
              </a:solidFill>
            </a:endParaRPr>
          </a:p>
          <a:p>
            <a:pPr>
              <a:spcBef>
                <a:spcPts val="0"/>
              </a:spcBef>
              <a:buFontTx/>
              <a:buNone/>
            </a:pPr>
            <a:r>
              <a:rPr lang="en-US" sz="2400" dirty="0">
                <a:solidFill>
                  <a:srgbClr val="0000FF"/>
                </a:solidFill>
              </a:rPr>
              <a:t>         DEC   	DX             		</a:t>
            </a:r>
            <a:r>
              <a:rPr lang="zh-CN" altLang="en-US" sz="2400" dirty="0">
                <a:solidFill>
                  <a:srgbClr val="0000FF"/>
                </a:solidFill>
              </a:rPr>
              <a:t>；通断</a:t>
            </a:r>
            <a:r>
              <a:rPr lang="en-US" sz="2400" dirty="0">
                <a:solidFill>
                  <a:srgbClr val="0000FF"/>
                </a:solidFill>
              </a:rPr>
              <a:t>100</a:t>
            </a:r>
            <a:r>
              <a:rPr lang="zh-CN" altLang="en-US" sz="2400" dirty="0">
                <a:solidFill>
                  <a:srgbClr val="0000FF"/>
                </a:solidFill>
              </a:rPr>
              <a:t>次了吗？</a:t>
            </a:r>
          </a:p>
          <a:p>
            <a:pPr>
              <a:spcBef>
                <a:spcPts val="0"/>
              </a:spcBef>
              <a:buFontTx/>
              <a:buNone/>
            </a:pPr>
            <a:r>
              <a:rPr lang="en-US" sz="2400" dirty="0">
                <a:solidFill>
                  <a:srgbClr val="0000FF"/>
                </a:solidFill>
              </a:rPr>
              <a:t>         JNE    	SOUND            	</a:t>
            </a:r>
            <a:r>
              <a:rPr lang="zh-CN" altLang="en-US" sz="2400" dirty="0">
                <a:solidFill>
                  <a:srgbClr val="0000FF"/>
                </a:solidFill>
              </a:rPr>
              <a:t>；没有，继续发声</a:t>
            </a:r>
          </a:p>
          <a:p>
            <a:pPr>
              <a:spcBef>
                <a:spcPts val="0"/>
              </a:spcBef>
              <a:buFontTx/>
              <a:buNone/>
            </a:pPr>
            <a:r>
              <a:rPr lang="en-US" sz="2400" dirty="0">
                <a:solidFill>
                  <a:srgbClr val="0000FF"/>
                </a:solidFill>
              </a:rPr>
              <a:t>         MOV   	COUNT</a:t>
            </a:r>
            <a:r>
              <a:rPr lang="zh-CN" altLang="en-US" sz="2400" dirty="0">
                <a:solidFill>
                  <a:srgbClr val="0000FF"/>
                </a:solidFill>
              </a:rPr>
              <a:t>，</a:t>
            </a:r>
            <a:r>
              <a:rPr lang="en-US" sz="2400" dirty="0">
                <a:solidFill>
                  <a:srgbClr val="0000FF"/>
                </a:solidFill>
              </a:rPr>
              <a:t>182       	</a:t>
            </a:r>
            <a:r>
              <a:rPr lang="zh-CN" altLang="en-US" sz="2400" dirty="0">
                <a:solidFill>
                  <a:srgbClr val="0000FF"/>
                </a:solidFill>
              </a:rPr>
              <a:t>；已满</a:t>
            </a:r>
            <a:r>
              <a:rPr lang="en-US" sz="2400" dirty="0">
                <a:solidFill>
                  <a:srgbClr val="0000FF"/>
                </a:solidFill>
              </a:rPr>
              <a:t>100</a:t>
            </a:r>
            <a:r>
              <a:rPr lang="zh-CN" altLang="en-US" sz="2400" dirty="0">
                <a:solidFill>
                  <a:srgbClr val="0000FF"/>
                </a:solidFill>
              </a:rPr>
              <a:t>次， </a:t>
            </a:r>
            <a:endParaRPr lang="en-US" altLang="zh-CN" sz="2400" dirty="0">
              <a:solidFill>
                <a:srgbClr val="0000FF"/>
              </a:solidFill>
            </a:endParaRPr>
          </a:p>
          <a:p>
            <a:pPr>
              <a:spcBef>
                <a:spcPts val="0"/>
              </a:spcBef>
              <a:buFontTx/>
              <a:buNone/>
            </a:pPr>
            <a:r>
              <a:rPr lang="en-US" sz="2400" dirty="0">
                <a:solidFill>
                  <a:srgbClr val="0000FF"/>
                </a:solidFill>
              </a:rPr>
              <a:t>	   					</a:t>
            </a:r>
            <a:r>
              <a:rPr lang="zh-CN" altLang="en-US" sz="2400" dirty="0">
                <a:solidFill>
                  <a:srgbClr val="0000FF"/>
                </a:solidFill>
              </a:rPr>
              <a:t>；重置</a:t>
            </a:r>
            <a:r>
              <a:rPr lang="en-US" sz="2400" dirty="0">
                <a:solidFill>
                  <a:srgbClr val="0000FF"/>
                </a:solidFill>
              </a:rPr>
              <a:t>COUNT</a:t>
            </a:r>
            <a:r>
              <a:rPr lang="zh-CN" altLang="en-US" sz="2400" dirty="0">
                <a:solidFill>
                  <a:srgbClr val="0000FF"/>
                </a:solidFill>
              </a:rPr>
              <a:t>←</a:t>
            </a:r>
            <a:r>
              <a:rPr lang="en-US" sz="2400" dirty="0">
                <a:solidFill>
                  <a:srgbClr val="0000FF"/>
                </a:solidFill>
              </a:rPr>
              <a:t>182</a:t>
            </a:r>
            <a:endParaRPr lang="zh-CN" altLang="en-US" sz="2400" dirty="0">
              <a:solidFill>
                <a:srgbClr val="0000FF"/>
              </a:solidFill>
            </a:endParaRPr>
          </a:p>
          <a:p>
            <a:pPr>
              <a:spcBef>
                <a:spcPts val="0"/>
              </a:spcBef>
              <a:buFontTx/>
              <a:buNone/>
            </a:pPr>
            <a:r>
              <a:rPr lang="en-US" sz="2400" dirty="0">
                <a:solidFill>
                  <a:srgbClr val="0000FF"/>
                </a:solidFill>
              </a:rPr>
              <a:t>EXIT</a:t>
            </a:r>
            <a:r>
              <a:rPr lang="zh-CN" altLang="en-US" sz="2400" dirty="0">
                <a:solidFill>
                  <a:srgbClr val="0000FF"/>
                </a:solidFill>
              </a:rPr>
              <a:t>： </a:t>
            </a:r>
            <a:endParaRPr lang="en-US" altLang="zh-CN" sz="2400" dirty="0">
              <a:solidFill>
                <a:srgbClr val="0000FF"/>
              </a:solidFill>
            </a:endParaRPr>
          </a:p>
          <a:p>
            <a:pPr>
              <a:spcBef>
                <a:spcPts val="0"/>
              </a:spcBef>
              <a:buFontTx/>
              <a:buNone/>
            </a:pPr>
            <a:r>
              <a:rPr lang="en-US" sz="2400" dirty="0">
                <a:solidFill>
                  <a:srgbClr val="0000FF"/>
                </a:solidFill>
              </a:rPr>
              <a:t>	     MOV   AL</a:t>
            </a:r>
            <a:r>
              <a:rPr lang="zh-CN" altLang="en-US" sz="2400" dirty="0">
                <a:solidFill>
                  <a:srgbClr val="0000FF"/>
                </a:solidFill>
              </a:rPr>
              <a:t>，</a:t>
            </a:r>
            <a:r>
              <a:rPr lang="en-US" sz="2400" dirty="0">
                <a:solidFill>
                  <a:srgbClr val="0000FF"/>
                </a:solidFill>
              </a:rPr>
              <a:t>20H        		</a:t>
            </a:r>
            <a:r>
              <a:rPr lang="zh-CN" altLang="en-US" sz="2400" dirty="0">
                <a:solidFill>
                  <a:srgbClr val="0000FF"/>
                </a:solidFill>
              </a:rPr>
              <a:t>；用</a:t>
            </a:r>
            <a:r>
              <a:rPr lang="en-US" sz="2400" dirty="0">
                <a:solidFill>
                  <a:srgbClr val="0000FF"/>
                </a:solidFill>
              </a:rPr>
              <a:t>EOI</a:t>
            </a:r>
            <a:r>
              <a:rPr lang="zh-CN" altLang="en-US" sz="2400" dirty="0">
                <a:solidFill>
                  <a:srgbClr val="0000FF"/>
                </a:solidFill>
              </a:rPr>
              <a:t>命令结束中断</a:t>
            </a:r>
          </a:p>
          <a:p>
            <a:pPr>
              <a:spcBef>
                <a:spcPts val="0"/>
              </a:spcBef>
              <a:buFontTx/>
              <a:buNone/>
            </a:pPr>
            <a:r>
              <a:rPr lang="en-US" sz="2400" dirty="0">
                <a:solidFill>
                  <a:srgbClr val="0000FF"/>
                </a:solidFill>
              </a:rPr>
              <a:t>         OUT    20H</a:t>
            </a:r>
            <a:r>
              <a:rPr lang="zh-CN" altLang="en-US" sz="2400" dirty="0">
                <a:solidFill>
                  <a:srgbClr val="0000FF"/>
                </a:solidFill>
              </a:rPr>
              <a:t>，</a:t>
            </a:r>
            <a:r>
              <a:rPr lang="en-US" sz="2400" dirty="0">
                <a:solidFill>
                  <a:srgbClr val="0000FF"/>
                </a:solidFill>
              </a:rPr>
              <a:t>AL </a:t>
            </a:r>
            <a:endParaRPr lang="zh-CN" altLang="en-US" sz="2400" dirty="0">
              <a:solidFill>
                <a:srgbClr val="0000FF"/>
              </a:solidFill>
            </a:endParaRPr>
          </a:p>
        </p:txBody>
      </p:sp>
    </p:spTree>
    <p:extLst>
      <p:ext uri="{BB962C8B-B14F-4D97-AF65-F5344CB8AC3E}">
        <p14:creationId xmlns:p14="http://schemas.microsoft.com/office/powerpoint/2010/main" val="34435970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44065">
            <a:extLst>
              <a:ext uri="{FF2B5EF4-FFF2-40B4-BE49-F238E27FC236}">
                <a16:creationId xmlns:a16="http://schemas.microsoft.com/office/drawing/2014/main" id="{A245552D-2438-4435-AC1E-561A25773A37}"/>
              </a:ext>
            </a:extLst>
          </p:cNvPr>
          <p:cNvSpPr txBox="1">
            <a:spLocks/>
          </p:cNvSpPr>
          <p:nvPr/>
        </p:nvSpPr>
        <p:spPr>
          <a:xfrm>
            <a:off x="1547664" y="188640"/>
            <a:ext cx="6696075" cy="431800"/>
          </a:xfrm>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ltLang="en-US" sz="3600" b="1" dirty="0">
                <a:solidFill>
                  <a:srgbClr val="FF0000"/>
                </a:solidFill>
                <a:ea typeface="隶书" panose="02010509060101010101" pitchFamily="49" charset="-122"/>
              </a:rPr>
              <a:t>8.4  8259A在微机中的编程应用</a:t>
            </a:r>
            <a:endParaRPr lang="zh-CN" altLang="en-US" sz="3600" b="1" dirty="0">
              <a:solidFill>
                <a:srgbClr val="FF0000"/>
              </a:solidFill>
              <a:ea typeface="隶书" panose="02010509060101010101" pitchFamily="49" charset="-122"/>
            </a:endParaRPr>
          </a:p>
        </p:txBody>
      </p:sp>
      <p:sp>
        <p:nvSpPr>
          <p:cNvPr id="3" name="内容占位符 2">
            <a:extLst>
              <a:ext uri="{FF2B5EF4-FFF2-40B4-BE49-F238E27FC236}">
                <a16:creationId xmlns:a16="http://schemas.microsoft.com/office/drawing/2014/main" id="{72EF263A-45D5-4C66-AFBF-450895B65DDE}"/>
              </a:ext>
            </a:extLst>
          </p:cNvPr>
          <p:cNvSpPr txBox="1">
            <a:spLocks/>
          </p:cNvSpPr>
          <p:nvPr/>
        </p:nvSpPr>
        <p:spPr>
          <a:xfrm>
            <a:off x="107504" y="939800"/>
            <a:ext cx="8792021" cy="3422650"/>
          </a:xfrm>
          <a:prstGeom prst="rect">
            <a:avLst/>
          </a:prstGeom>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spcBef>
                <a:spcPts val="0"/>
              </a:spcBef>
              <a:buFontTx/>
              <a:buNone/>
            </a:pPr>
            <a:r>
              <a:rPr lang="en-US" sz="2400" dirty="0">
                <a:solidFill>
                  <a:srgbClr val="0000FF"/>
                </a:solidFill>
              </a:rPr>
              <a:t> 		  POP    DX              </a:t>
            </a:r>
            <a:r>
              <a:rPr lang="zh-CN" altLang="en-US" sz="2400" dirty="0">
                <a:solidFill>
                  <a:srgbClr val="0000FF"/>
                </a:solidFill>
              </a:rPr>
              <a:t>；恢复现场</a:t>
            </a:r>
          </a:p>
          <a:p>
            <a:pPr>
              <a:spcBef>
                <a:spcPts val="0"/>
              </a:spcBef>
              <a:buFontTx/>
              <a:buNone/>
            </a:pPr>
            <a:r>
              <a:rPr lang="en-US" sz="2400" dirty="0">
                <a:solidFill>
                  <a:srgbClr val="0000FF"/>
                </a:solidFill>
              </a:rPr>
              <a:t>       	  POP    CX</a:t>
            </a:r>
            <a:endParaRPr lang="zh-CN" altLang="en-US" sz="2400" dirty="0">
              <a:solidFill>
                <a:srgbClr val="0000FF"/>
              </a:solidFill>
            </a:endParaRPr>
          </a:p>
          <a:p>
            <a:pPr>
              <a:spcBef>
                <a:spcPts val="0"/>
              </a:spcBef>
              <a:buFontTx/>
              <a:buNone/>
            </a:pPr>
            <a:r>
              <a:rPr lang="en-US" sz="2400" dirty="0">
                <a:solidFill>
                  <a:srgbClr val="0000FF"/>
                </a:solidFill>
              </a:rPr>
              <a:t>       	  POP    AX</a:t>
            </a:r>
            <a:endParaRPr lang="zh-CN" altLang="en-US" sz="2400" dirty="0">
              <a:solidFill>
                <a:srgbClr val="0000FF"/>
              </a:solidFill>
            </a:endParaRPr>
          </a:p>
          <a:p>
            <a:pPr>
              <a:spcBef>
                <a:spcPts val="0"/>
              </a:spcBef>
              <a:buFontTx/>
              <a:buNone/>
            </a:pPr>
            <a:r>
              <a:rPr lang="en-US" sz="2400" dirty="0">
                <a:solidFill>
                  <a:srgbClr val="0000FF"/>
                </a:solidFill>
              </a:rPr>
              <a:t>       	  POP    DS</a:t>
            </a:r>
            <a:endParaRPr lang="zh-CN" altLang="en-US" sz="2400" dirty="0">
              <a:solidFill>
                <a:srgbClr val="0000FF"/>
              </a:solidFill>
            </a:endParaRPr>
          </a:p>
          <a:p>
            <a:pPr>
              <a:spcBef>
                <a:spcPts val="0"/>
              </a:spcBef>
              <a:buFontTx/>
              <a:buNone/>
            </a:pPr>
            <a:r>
              <a:rPr lang="en-US" sz="2400" dirty="0">
                <a:solidFill>
                  <a:srgbClr val="0000FF"/>
                </a:solidFill>
              </a:rPr>
              <a:t>       	  IRET                      </a:t>
            </a:r>
            <a:r>
              <a:rPr lang="zh-CN" altLang="en-US" sz="2400" dirty="0">
                <a:solidFill>
                  <a:srgbClr val="0000FF"/>
                </a:solidFill>
              </a:rPr>
              <a:t>；返回主程序，等待下次中断</a:t>
            </a:r>
          </a:p>
          <a:p>
            <a:pPr>
              <a:spcBef>
                <a:spcPts val="0"/>
              </a:spcBef>
              <a:buFontTx/>
              <a:buNone/>
            </a:pPr>
            <a:r>
              <a:rPr lang="en-US" sz="2400" dirty="0">
                <a:solidFill>
                  <a:srgbClr val="0000FF"/>
                </a:solidFill>
              </a:rPr>
              <a:t>RING   ENDP		</a:t>
            </a:r>
            <a:r>
              <a:rPr lang="zh-CN" altLang="en-US" sz="2400" dirty="0">
                <a:solidFill>
                  <a:srgbClr val="0000FF"/>
                </a:solidFill>
              </a:rPr>
              <a:t>；中断服务程序结束</a:t>
            </a:r>
          </a:p>
          <a:p>
            <a:pPr>
              <a:spcBef>
                <a:spcPts val="0"/>
              </a:spcBef>
              <a:buFontTx/>
              <a:buNone/>
            </a:pPr>
            <a:r>
              <a:rPr lang="en-US" sz="2400" dirty="0">
                <a:solidFill>
                  <a:srgbClr val="0000FF"/>
                </a:solidFill>
              </a:rPr>
              <a:t>CODE  ENDS		</a:t>
            </a:r>
            <a:r>
              <a:rPr lang="zh-CN" altLang="en-US" sz="2400" dirty="0">
                <a:solidFill>
                  <a:srgbClr val="0000FF"/>
                </a:solidFill>
              </a:rPr>
              <a:t>；代码段结束</a:t>
            </a:r>
          </a:p>
          <a:p>
            <a:pPr>
              <a:spcBef>
                <a:spcPts val="0"/>
              </a:spcBef>
              <a:buFontTx/>
              <a:buNone/>
            </a:pPr>
            <a:r>
              <a:rPr lang="en-US" sz="2400" dirty="0">
                <a:solidFill>
                  <a:srgbClr val="0000FF"/>
                </a:solidFill>
              </a:rPr>
              <a:t>       	  END    START	</a:t>
            </a:r>
            <a:r>
              <a:rPr lang="zh-CN" altLang="en-US" sz="2400" dirty="0">
                <a:solidFill>
                  <a:srgbClr val="0000FF"/>
                </a:solidFill>
              </a:rPr>
              <a:t>；程序将从</a:t>
            </a:r>
            <a:r>
              <a:rPr lang="en-US" altLang="zh-CN" sz="2400" dirty="0">
                <a:solidFill>
                  <a:srgbClr val="0000FF"/>
                </a:solidFill>
              </a:rPr>
              <a:t>START</a:t>
            </a:r>
            <a:r>
              <a:rPr lang="zh-CN" altLang="en-US" sz="2400" dirty="0">
                <a:solidFill>
                  <a:srgbClr val="0000FF"/>
                </a:solidFill>
              </a:rPr>
              <a:t>执行</a:t>
            </a:r>
          </a:p>
        </p:txBody>
      </p:sp>
    </p:spTree>
    <p:extLst>
      <p:ext uri="{BB962C8B-B14F-4D97-AF65-F5344CB8AC3E}">
        <p14:creationId xmlns:p14="http://schemas.microsoft.com/office/powerpoint/2010/main" val="1007151054"/>
      </p:ext>
    </p:extLst>
  </p:cSld>
  <p:clrMapOvr>
    <a:masterClrMapping/>
  </p:clrMapOvr>
</p:sld>
</file>

<file path=ppt/theme/theme1.xml><?xml version="1.0" encoding="utf-8"?>
<a:theme xmlns:a="http://schemas.openxmlformats.org/drawingml/2006/main" name="接口">
  <a:themeElements>
    <a:clrScheme name="">
      <a:dk1>
        <a:srgbClr val="000000"/>
      </a:dk1>
      <a:lt1>
        <a:srgbClr val="FFFFFF"/>
      </a:lt1>
      <a:dk2>
        <a:srgbClr val="000000"/>
      </a:dk2>
      <a:lt2>
        <a:srgbClr val="808080"/>
      </a:lt2>
      <a:accent1>
        <a:srgbClr val="00CC99"/>
      </a:accent1>
      <a:accent2>
        <a:srgbClr val="333399"/>
      </a:accent2>
      <a:accent3>
        <a:srgbClr val="FFFFFF"/>
      </a:accent3>
      <a:accent4>
        <a:srgbClr val="000000"/>
      </a:accent4>
      <a:accent5>
        <a:srgbClr val="AAE2CA"/>
      </a:accent5>
      <a:accent6>
        <a:srgbClr val="2D2D89"/>
      </a:accent6>
      <a:hlink>
        <a:srgbClr val="FF6600"/>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FF66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00"/>
        </a:accent1>
        <a:accent2>
          <a:srgbClr val="333399"/>
        </a:accent2>
        <a:accent3>
          <a:srgbClr val="FFFFFF"/>
        </a:accent3>
        <a:accent4>
          <a:srgbClr val="000000"/>
        </a:accent4>
        <a:accent5>
          <a:srgbClr val="AAE2AA"/>
        </a:accent5>
        <a:accent6>
          <a:srgbClr val="2D2D89"/>
        </a:accent6>
        <a:hlink>
          <a:srgbClr val="FF66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99"/>
        </a:accent1>
        <a:accent2>
          <a:srgbClr val="333399"/>
        </a:accent2>
        <a:accent3>
          <a:srgbClr val="FFFFFF"/>
        </a:accent3>
        <a:accent4>
          <a:srgbClr val="000000"/>
        </a:accent4>
        <a:accent5>
          <a:srgbClr val="AAE2CA"/>
        </a:accent5>
        <a:accent6>
          <a:srgbClr val="2D2D89"/>
        </a:accent6>
        <a:hlink>
          <a:srgbClr val="FF6600"/>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接口</Template>
  <TotalTime>1466</TotalTime>
  <Words>8510</Words>
  <Application>Microsoft Office PowerPoint</Application>
  <PresentationFormat>全屏显示(4:3)</PresentationFormat>
  <Paragraphs>802</Paragraphs>
  <Slides>80</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80</vt:i4>
      </vt:variant>
    </vt:vector>
  </HeadingPairs>
  <TitlesOfParts>
    <vt:vector size="86" baseType="lpstr">
      <vt:lpstr>宋体</vt:lpstr>
      <vt:lpstr>Arial</vt:lpstr>
      <vt:lpstr>Tahoma</vt:lpstr>
      <vt:lpstr>Times New Roman</vt:lpstr>
      <vt:lpstr>Wingdings</vt:lpstr>
      <vt:lpstr>接口</vt:lpstr>
      <vt:lpstr>PowerPoint 演示文稿</vt:lpstr>
      <vt:lpstr>8.1  中断基础</vt:lpstr>
      <vt:lpstr>8.1  中断基础</vt:lpstr>
      <vt:lpstr>8.1  中断基础</vt:lpstr>
      <vt:lpstr>8.1  中断基础</vt:lpstr>
      <vt:lpstr>8.1  中断基础</vt:lpstr>
      <vt:lpstr>8.1  中断基础</vt:lpstr>
      <vt:lpstr>8.1  中断基础</vt:lpstr>
      <vt:lpstr>8.1  中断基础</vt:lpstr>
      <vt:lpstr>8.1  中断基础</vt:lpstr>
      <vt:lpstr>8.1  中断基础</vt:lpstr>
      <vt:lpstr>8.1  中断基础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8.3  可编程中断控制器8259A</vt:lpstr>
      <vt:lpstr>PowerPoint 演示文稿</vt:lpstr>
      <vt:lpstr>8.3  可编程中断控制器8259A</vt:lpstr>
      <vt:lpstr>8.3  可编程中断控制器8259A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8.4  8259A在微机中的编程应用</vt:lpstr>
      <vt:lpstr>8.4  8259A在微机中的编程应用</vt:lpstr>
      <vt:lpstr>8.4  8259A在微机中的编程应用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谈娴茹</dc:creator>
  <cp:lastModifiedBy>Joy Liu</cp:lastModifiedBy>
  <cp:revision>837</cp:revision>
  <dcterms:created xsi:type="dcterms:W3CDTF">2017-03-15T08:49:01Z</dcterms:created>
  <dcterms:modified xsi:type="dcterms:W3CDTF">2025-03-23T07:35:26Z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2052-10.1.0.6206</vt:lpwstr>
  </property>
</Properties>
</file>