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2"/>
  </p:notesMasterIdLst>
  <p:sldIdLst>
    <p:sldId id="418" r:id="rId2"/>
    <p:sldId id="487" r:id="rId3"/>
    <p:sldId id="611" r:id="rId4"/>
    <p:sldId id="488" r:id="rId5"/>
    <p:sldId id="489" r:id="rId6"/>
    <p:sldId id="490" r:id="rId7"/>
    <p:sldId id="612" r:id="rId8"/>
    <p:sldId id="491" r:id="rId9"/>
    <p:sldId id="493" r:id="rId10"/>
    <p:sldId id="494" r:id="rId11"/>
    <p:sldId id="613" r:id="rId12"/>
    <p:sldId id="628" r:id="rId13"/>
    <p:sldId id="627" r:id="rId14"/>
    <p:sldId id="495" r:id="rId15"/>
    <p:sldId id="496" r:id="rId16"/>
    <p:sldId id="498" r:id="rId17"/>
    <p:sldId id="497" r:id="rId18"/>
    <p:sldId id="499" r:id="rId19"/>
    <p:sldId id="500" r:id="rId20"/>
    <p:sldId id="502" r:id="rId21"/>
    <p:sldId id="503" r:id="rId22"/>
    <p:sldId id="504" r:id="rId23"/>
    <p:sldId id="505" r:id="rId24"/>
    <p:sldId id="506" r:id="rId25"/>
    <p:sldId id="508" r:id="rId26"/>
    <p:sldId id="509" r:id="rId27"/>
    <p:sldId id="510" r:id="rId28"/>
    <p:sldId id="511" r:id="rId29"/>
    <p:sldId id="517" r:id="rId30"/>
    <p:sldId id="514" r:id="rId31"/>
    <p:sldId id="614" r:id="rId32"/>
    <p:sldId id="615" r:id="rId33"/>
    <p:sldId id="616" r:id="rId34"/>
    <p:sldId id="460" r:id="rId35"/>
    <p:sldId id="519" r:id="rId36"/>
    <p:sldId id="520" r:id="rId37"/>
    <p:sldId id="521" r:id="rId38"/>
    <p:sldId id="522" r:id="rId39"/>
    <p:sldId id="523" r:id="rId40"/>
    <p:sldId id="524" r:id="rId41"/>
    <p:sldId id="525" r:id="rId42"/>
    <p:sldId id="526" r:id="rId43"/>
    <p:sldId id="617" r:id="rId44"/>
    <p:sldId id="527" r:id="rId45"/>
    <p:sldId id="528" r:id="rId46"/>
    <p:sldId id="530" r:id="rId47"/>
    <p:sldId id="529" r:id="rId48"/>
    <p:sldId id="531" r:id="rId49"/>
    <p:sldId id="532" r:id="rId50"/>
    <p:sldId id="533" r:id="rId51"/>
    <p:sldId id="535" r:id="rId52"/>
    <p:sldId id="534" r:id="rId53"/>
    <p:sldId id="536" r:id="rId54"/>
    <p:sldId id="537" r:id="rId55"/>
    <p:sldId id="538" r:id="rId56"/>
    <p:sldId id="539" r:id="rId57"/>
    <p:sldId id="540" r:id="rId58"/>
    <p:sldId id="541" r:id="rId59"/>
    <p:sldId id="542" r:id="rId60"/>
    <p:sldId id="543" r:id="rId61"/>
    <p:sldId id="544" r:id="rId62"/>
    <p:sldId id="545" r:id="rId63"/>
    <p:sldId id="632" r:id="rId64"/>
    <p:sldId id="634" r:id="rId65"/>
    <p:sldId id="618" r:id="rId66"/>
    <p:sldId id="619" r:id="rId67"/>
    <p:sldId id="620" r:id="rId68"/>
    <p:sldId id="629" r:id="rId69"/>
    <p:sldId id="630" r:id="rId70"/>
    <p:sldId id="631" r:id="rId71"/>
  </p:sldIdLst>
  <p:sldSz cx="9144000" cy="6858000" type="screen4x3"/>
  <p:notesSz cx="6858000" cy="9144000"/>
  <p:defaultTextStyle>
    <a:defPPr>
      <a:defRPr lang="en-US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6600"/>
    <a:srgbClr val="FF00FF"/>
    <a:srgbClr val="FF0000"/>
    <a:srgbClr val="CCECFF"/>
    <a:srgbClr val="CC0066"/>
    <a:srgbClr val="990099"/>
    <a:srgbClr val="CC0099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83"/>
    <p:restoredTop sz="94603"/>
  </p:normalViewPr>
  <p:slideViewPr>
    <p:cSldViewPr showGuides="1">
      <p:cViewPr varScale="1">
        <p:scale>
          <a:sx n="80" d="100"/>
          <a:sy n="80" d="100"/>
        </p:scale>
        <p:origin x="1555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4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页眉占位符 22529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en-US" sz="1200" dirty="0">
              <a:latin typeface="Tahoma" panose="020B0604030504040204" pitchFamily="34" charset="0"/>
            </a:endParaRPr>
          </a:p>
        </p:txBody>
      </p:sp>
      <p:sp>
        <p:nvSpPr>
          <p:cNvPr id="22531" name="日期占位符 22530"/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/>
            <a:endParaRPr lang="zh-CN" altLang="en-US" sz="1200" dirty="0">
              <a:latin typeface="Tahoma" panose="020B0604030504040204" pitchFamily="34" charset="0"/>
            </a:endParaRPr>
          </a:p>
        </p:txBody>
      </p:sp>
      <p:sp>
        <p:nvSpPr>
          <p:cNvPr id="22532" name="幻灯片图像占位符 2253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2533" name="文本占位符 22532"/>
          <p:cNvSpPr>
            <a:spLocks noGrp="1"/>
          </p:cNvSpPr>
          <p:nvPr>
            <p:ph type="body" sz="quarter" idx="3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2534" name="页脚占位符 22533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/>
            <a:endParaRPr lang="zh-CN" altLang="en-US" sz="1200" dirty="0">
              <a:latin typeface="Tahoma" panose="020B0604030504040204" pitchFamily="34" charset="0"/>
            </a:endParaRPr>
          </a:p>
        </p:txBody>
      </p:sp>
      <p:sp>
        <p:nvSpPr>
          <p:cNvPr id="22535" name="灯片编号占位符 22534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Tahoma" panose="020B0604030504040204" pitchFamily="34" charset="0"/>
              </a:rPr>
              <a:t>‹#›</a:t>
            </a:fld>
            <a:endParaRPr lang="zh-CN" altLang="en-US" sz="120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468203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lvl="0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smtClean="0">
                <a:latin typeface="Tahoma" panose="020B0604030504040204" pitchFamily="34" charset="0"/>
              </a:rPr>
              <a:t>65</a:t>
            </a:fld>
            <a:endParaRPr lang="zh-CN" altLang="en-US" sz="120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073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fld id="{BB962C8B-B14F-4D97-AF65-F5344CB8AC3E}" type="datetime1">
              <a:rPr lang="zh-CN" altLang="en-US" dirty="0"/>
              <a:t>2025/4/26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标题 21094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10947" name="文本占位符 21094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10948" name="日期占位符 21094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>
                <a:latin typeface="Arial" panose="020B0604020202020204" pitchFamily="34" charset="0"/>
              </a:defRPr>
            </a:lvl1pPr>
          </a:lstStyle>
          <a:p>
            <a:pPr lvl="0">
              <a:buClrTx/>
            </a:pPr>
            <a:fld id="{BB962C8B-B14F-4D97-AF65-F5344CB8AC3E}" type="datetime1">
              <a:rPr lang="zh-CN" altLang="en-US" dirty="0"/>
              <a:t>2025/4/26</a:t>
            </a:fld>
            <a:endParaRPr lang="zh-CN" altLang="en-US" dirty="0"/>
          </a:p>
        </p:txBody>
      </p:sp>
      <p:sp>
        <p:nvSpPr>
          <p:cNvPr id="210949" name="页脚占位符 21094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>
                <a:latin typeface="Arial" panose="020B0604020202020204" pitchFamily="34" charset="0"/>
              </a:defRPr>
            </a:lvl1pPr>
          </a:lstStyle>
          <a:p>
            <a:pPr lvl="0">
              <a:buClrTx/>
            </a:pPr>
            <a:endParaRPr lang="zh-CN" altLang="en-US" dirty="0"/>
          </a:p>
        </p:txBody>
      </p:sp>
      <p:sp>
        <p:nvSpPr>
          <p:cNvPr id="210950" name="灯片编号占位符 21094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  <p:sp>
        <p:nvSpPr>
          <p:cNvPr id="210954" name="直接连接符 210953"/>
          <p:cNvSpPr/>
          <p:nvPr userDrawn="1"/>
        </p:nvSpPr>
        <p:spPr>
          <a:xfrm>
            <a:off x="179388" y="765175"/>
            <a:ext cx="8763000" cy="0"/>
          </a:xfrm>
          <a:prstGeom prst="line">
            <a:avLst/>
          </a:prstGeom>
          <a:ln w="539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</p:sp>
      <p:pic>
        <p:nvPicPr>
          <p:cNvPr id="210958" name="图片 210957" descr="上一页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516563" y="6364288"/>
            <a:ext cx="1039812" cy="520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0959" name="图片 210958" descr="退出">
            <a:hlinkClick r:id="" action="ppaction://hlinkshowjump?jump=endshow"/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956550" y="6337300"/>
            <a:ext cx="1039813" cy="520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0960" name="图片 210959" descr="下一页">
            <a:hlinkClick r:id="" action="ppaction://hlinkshowjump?jump=nextslide"/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6772275" y="6364288"/>
            <a:ext cx="1039813" cy="520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Object 18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1"/>
            <a:ext cx="827584" cy="765103"/>
          </a:xfrm>
          <a:prstGeom prst="rect">
            <a:avLst/>
          </a:prstGeom>
          <a:solidFill>
            <a:srgbClr val="458F8F"/>
          </a:solidFill>
          <a:ln w="9525" cmpd="sng">
            <a:solidFill>
              <a:srgbClr val="2B166E"/>
            </a:solidFill>
            <a:miter lim="800000"/>
            <a:headEnd/>
            <a:tailEnd/>
          </a:ln>
        </p:spPr>
      </p:pic>
      <p:pic>
        <p:nvPicPr>
          <p:cNvPr id="13" name="Object 19"/>
          <p:cNvPicPr>
            <a:picLocks noChangeAspect="1" noChangeArrowheads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690" y="72"/>
            <a:ext cx="773982" cy="765101"/>
          </a:xfrm>
          <a:prstGeom prst="rect">
            <a:avLst/>
          </a:prstGeom>
          <a:solidFill>
            <a:srgbClr val="458F8F"/>
          </a:solidFill>
          <a:ln w="9525" cmpd="sng">
            <a:solidFill>
              <a:srgbClr val="2B166E"/>
            </a:solidFill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0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6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7.e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28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31.e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33.e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34.emf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4" name="矩形 215043"/>
          <p:cNvSpPr/>
          <p:nvPr/>
        </p:nvSpPr>
        <p:spPr>
          <a:xfrm>
            <a:off x="1547664" y="188640"/>
            <a:ext cx="7128917" cy="620712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sz="3600" b="1" dirty="0">
                <a:solidFill>
                  <a:srgbClr val="FF0000"/>
                </a:solidFill>
                <a:latin typeface="+mj-lt"/>
                <a:ea typeface="隶书" panose="02010509060101010101" pitchFamily="49" charset="-122"/>
                <a:cs typeface="+mj-cs"/>
              </a:rPr>
              <a:t>第</a:t>
            </a:r>
            <a:r>
              <a:rPr lang="en-US" altLang="zh-CN" sz="3600" b="1" dirty="0">
                <a:solidFill>
                  <a:srgbClr val="FF0000"/>
                </a:solidFill>
                <a:latin typeface="+mj-lt"/>
                <a:ea typeface="隶书" panose="02010509060101010101" pitchFamily="49" charset="-122"/>
                <a:cs typeface="+mj-cs"/>
              </a:rPr>
              <a:t>9</a:t>
            </a:r>
            <a:r>
              <a:rPr lang="zh-CN" altLang="en-US" sz="3600" b="1" dirty="0">
                <a:solidFill>
                  <a:srgbClr val="FF0000"/>
                </a:solidFill>
                <a:latin typeface="+mj-lt"/>
                <a:ea typeface="隶书" panose="02010509060101010101" pitchFamily="49" charset="-122"/>
                <a:cs typeface="+mj-cs"/>
              </a:rPr>
              <a:t>章   可编程接口芯片</a:t>
            </a:r>
          </a:p>
        </p:txBody>
      </p:sp>
      <p:sp>
        <p:nvSpPr>
          <p:cNvPr id="215045" name="矩形 215044"/>
          <p:cNvSpPr/>
          <p:nvPr/>
        </p:nvSpPr>
        <p:spPr>
          <a:xfrm>
            <a:off x="755576" y="1484784"/>
            <a:ext cx="8532813" cy="2231256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>
              <a:buNone/>
              <a:defRPr sz="2800" kern="1200"/>
            </a:lvl2pPr>
            <a:lvl3pPr marL="914400" lvl="2" indent="0" algn="ctr">
              <a:buNone/>
              <a:defRPr sz="2400" kern="1200"/>
            </a:lvl3pPr>
            <a:lvl4pPr marL="1371600" lvl="3" indent="0" algn="ctr">
              <a:buNone/>
              <a:defRPr sz="2000" kern="1200"/>
            </a:lvl4pPr>
            <a:lvl5pPr marL="1828800" lvl="4" indent="0" algn="ctr">
              <a:buNone/>
              <a:defRPr kern="1200"/>
            </a:lvl5pPr>
          </a:lstStyle>
          <a:p>
            <a:pPr lvl="0" algn="l"/>
            <a:r>
              <a:rPr lang="en-US" altLang="en-US" sz="2800" b="1" dirty="0"/>
              <a:t>9.1  并行接口与可编程并行接口8255A及其应用</a:t>
            </a:r>
            <a:endParaRPr lang="zh-CN" altLang="en-US" sz="2800" b="1" dirty="0"/>
          </a:p>
          <a:p>
            <a:pPr lvl="0" algn="l"/>
            <a:r>
              <a:rPr lang="en-US" altLang="zh-CN" sz="2800" b="1" dirty="0"/>
              <a:t>9.2  </a:t>
            </a:r>
            <a:r>
              <a:rPr lang="en-US" altLang="zh-CN" sz="2800" b="1" dirty="0" err="1"/>
              <a:t>可编程定时</a:t>
            </a:r>
            <a:r>
              <a:rPr lang="en-US" altLang="zh-CN" sz="2800" b="1" dirty="0"/>
              <a:t>/计数器8253及其应用</a:t>
            </a:r>
            <a:endParaRPr lang="zh-CN" altLang="en-US" sz="2800" b="1" dirty="0"/>
          </a:p>
          <a:p>
            <a:pPr lvl="0" algn="l"/>
            <a:r>
              <a:rPr lang="en-US" altLang="en-US" sz="2800" b="1" dirty="0"/>
              <a:t>9.3  </a:t>
            </a:r>
            <a:r>
              <a:rPr lang="en-US" altLang="en-US" sz="2800" b="1" dirty="0" err="1"/>
              <a:t>串行通信</a:t>
            </a:r>
            <a:endParaRPr lang="en-US" altLang="zh-CN" sz="2800" b="1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标题 291841"/>
          <p:cNvSpPr>
            <a:spLocks noGrp="1"/>
          </p:cNvSpPr>
          <p:nvPr>
            <p:ph type="title"/>
          </p:nvPr>
        </p:nvSpPr>
        <p:spPr>
          <a:xfrm>
            <a:off x="609600" y="188913"/>
            <a:ext cx="8534400" cy="431800"/>
          </a:xfrm>
          <a:ln/>
        </p:spPr>
        <p:txBody>
          <a:bodyPr anchor="ctr"/>
          <a:lstStyle/>
          <a:p>
            <a:pPr lvl="0"/>
            <a:r>
              <a:rPr lang="en-US" altLang="en-US" sz="2800" b="1" dirty="0">
                <a:solidFill>
                  <a:srgbClr val="FF0000"/>
                </a:solidFill>
                <a:ea typeface="隶书" panose="02010509060101010101" pitchFamily="49" charset="-122"/>
              </a:rPr>
              <a:t>9.1  并行接口与可编程并行接口芯片8255A及其应用</a:t>
            </a:r>
            <a:endParaRPr lang="zh-CN" altLang="en-US" sz="28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91843" name="文本框 291842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1845" name="文本框 291844"/>
          <p:cNvSpPr txBox="1"/>
          <p:nvPr/>
        </p:nvSpPr>
        <p:spPr>
          <a:xfrm>
            <a:off x="467518" y="1821548"/>
            <a:ext cx="8534400" cy="19389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txBody>
          <a:bodyPr wrap="square">
            <a:spAutoFit/>
          </a:bodyPr>
          <a:lstStyle/>
          <a:p>
            <a:pPr lvl="0" eaLnBrk="0" hangingPunct="0"/>
            <a:r>
              <a:rPr lang="zh-CN" altLang="en-US" sz="2400" b="1" dirty="0">
                <a:latin typeface="Arial" panose="020B0604020202020204" pitchFamily="34" charset="0"/>
              </a:rPr>
              <a:t>并行接口分为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硬件连接接口</a:t>
            </a:r>
            <a:r>
              <a:rPr lang="zh-CN" altLang="en-US" sz="2400" b="1" dirty="0">
                <a:latin typeface="Arial" panose="020B0604020202020204" pitchFamily="34" charset="0"/>
              </a:rPr>
              <a:t>和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可编程接口</a:t>
            </a:r>
            <a:r>
              <a:rPr lang="zh-CN" altLang="en-US" sz="2400" b="1" dirty="0">
                <a:latin typeface="Arial" panose="020B0604020202020204" pitchFamily="34" charset="0"/>
              </a:rPr>
              <a:t>。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lvl="0" eaLnBrk="0" hangingPunct="0"/>
            <a:r>
              <a:rPr lang="zh-CN" altLang="en-US" sz="2400" b="1" dirty="0">
                <a:latin typeface="Arial" panose="020B0604020202020204" pitchFamily="34" charset="0"/>
              </a:rPr>
              <a:t>       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硬件接口</a:t>
            </a:r>
            <a:r>
              <a:rPr lang="zh-CN" altLang="en-US" sz="2400" b="1" dirty="0">
                <a:latin typeface="Arial" panose="020B0604020202020204" pitchFamily="34" charset="0"/>
              </a:rPr>
              <a:t>的工作方式及功能用硬件连接设定；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lvl="0" eaLnBrk="0" hangingPunct="0"/>
            <a:r>
              <a:rPr lang="en-US" altLang="zh-CN" sz="2400" b="1" dirty="0">
                <a:latin typeface="Arial" panose="020B0604020202020204" pitchFamily="34" charset="0"/>
              </a:rPr>
              <a:t>       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可编程接口</a:t>
            </a:r>
            <a:r>
              <a:rPr lang="zh-CN" altLang="en-US" sz="2400" b="1" dirty="0">
                <a:latin typeface="Arial" panose="020B0604020202020204" pitchFamily="34" charset="0"/>
              </a:rPr>
              <a:t>的工作方式及功能用软件编程方法改变。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lvl="0" eaLnBrk="0" hangingPunct="0"/>
            <a:endParaRPr lang="en-US" altLang="zh-CN" sz="2400" b="1" dirty="0">
              <a:latin typeface="Arial" panose="020B0604020202020204" pitchFamily="34" charset="0"/>
            </a:endParaRPr>
          </a:p>
          <a:p>
            <a:pPr lvl="0" eaLnBrk="0" hangingPunct="0"/>
            <a:r>
              <a:rPr lang="zh-CN" altLang="en-US" sz="2400" b="1" dirty="0">
                <a:latin typeface="Arial" panose="020B0604020202020204" pitchFamily="34" charset="0"/>
              </a:rPr>
              <a:t>目前大多数微机系统中的并行接口都是可编程的并行接口。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8" name="标题 154627"/>
          <p:cNvSpPr>
            <a:spLocks noGrp="1"/>
          </p:cNvSpPr>
          <p:nvPr>
            <p:ph type="title" idx="4294967295"/>
          </p:nvPr>
        </p:nvSpPr>
        <p:spPr>
          <a:xfrm>
            <a:off x="609600" y="188913"/>
            <a:ext cx="8534400" cy="431800"/>
          </a:xfrm>
          <a:ln/>
        </p:spPr>
        <p:txBody>
          <a:bodyPr anchor="ctr"/>
          <a:lstStyle/>
          <a:p>
            <a:pPr lvl="0"/>
            <a:r>
              <a:rPr lang="en-US" altLang="en-US" sz="2800" b="1">
                <a:solidFill>
                  <a:srgbClr val="FF0000"/>
                </a:solidFill>
                <a:ea typeface="隶书" panose="02010509060101010101" pitchFamily="49" charset="-122"/>
              </a:rPr>
              <a:t>9.1  并行接口与可编程并行接口芯片8255A及其应用</a:t>
            </a:r>
            <a:endParaRPr lang="zh-CN" altLang="en-US" sz="28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154630" name="文本框 154629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4631" name="文本框 154630"/>
          <p:cNvSpPr txBox="1"/>
          <p:nvPr/>
        </p:nvSpPr>
        <p:spPr>
          <a:xfrm>
            <a:off x="250825" y="764704"/>
            <a:ext cx="8713788" cy="378565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一、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</a:rPr>
              <a:t>并行接口的特点、功能与分类</a:t>
            </a:r>
          </a:p>
          <a:p>
            <a:pPr lvl="0" eaLnBrk="0" hangingPunct="0"/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 1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、并行接口的特点：</a:t>
            </a:r>
            <a:endParaRPr lang="en-US" altLang="zh-CN" sz="24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lvl="0" eaLnBrk="0" hangingPunct="0"/>
            <a:endParaRPr lang="zh-CN" altLang="en-US" sz="2400" b="1" dirty="0">
              <a:latin typeface="Arial" panose="020B0604020202020204" pitchFamily="34" charset="0"/>
            </a:endParaRPr>
          </a:p>
          <a:p>
            <a:pPr lvl="0" eaLnBrk="0" hangingPunct="0"/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（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</a:rPr>
              <a:t>1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）</a:t>
            </a:r>
            <a:r>
              <a:rPr lang="zh-CN" altLang="en-US" sz="2400" b="1" dirty="0">
                <a:latin typeface="Arial" panose="020B0604020202020204" pitchFamily="34" charset="0"/>
              </a:rPr>
              <a:t>在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多条数据线</a:t>
            </a:r>
            <a:r>
              <a:rPr lang="zh-CN" altLang="en-US" sz="2400" b="1" dirty="0">
                <a:latin typeface="Arial" panose="020B0604020202020204" pitchFamily="34" charset="0"/>
              </a:rPr>
              <a:t>上以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数据字节</a:t>
            </a:r>
            <a:r>
              <a:rPr lang="zh-CN" altLang="en-US" sz="2400" b="1" dirty="0">
                <a:latin typeface="Arial" panose="020B0604020202020204" pitchFamily="34" charset="0"/>
              </a:rPr>
              <a:t>为单位与外部设备或被控对象传送信息。如打印机接口、</a:t>
            </a:r>
            <a:r>
              <a:rPr lang="en-US" altLang="zh-CN" sz="2400" b="1" dirty="0">
                <a:latin typeface="Arial" panose="020B0604020202020204" pitchFamily="34" charset="0"/>
              </a:rPr>
              <a:t>A/D</a:t>
            </a:r>
            <a:r>
              <a:rPr lang="zh-CN" altLang="en-US" sz="2400" b="1" dirty="0">
                <a:latin typeface="Arial" panose="020B0604020202020204" pitchFamily="34" charset="0"/>
              </a:rPr>
              <a:t>、</a:t>
            </a:r>
            <a:r>
              <a:rPr lang="en-US" altLang="zh-CN" sz="2400" b="1" dirty="0">
                <a:latin typeface="Arial" panose="020B0604020202020204" pitchFamily="34" charset="0"/>
              </a:rPr>
              <a:t>D/A</a:t>
            </a:r>
            <a:r>
              <a:rPr lang="zh-CN" altLang="en-US" sz="2400" b="1" dirty="0">
                <a:latin typeface="Arial" panose="020B0604020202020204" pitchFamily="34" charset="0"/>
              </a:rPr>
              <a:t>转换器接口等。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lvl="0" eaLnBrk="0" hangingPunct="0"/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注意：</a:t>
            </a:r>
            <a:r>
              <a:rPr lang="zh-CN" altLang="en-US" sz="2400" b="1" dirty="0">
                <a:latin typeface="Arial" panose="020B0604020202020204" pitchFamily="34" charset="0"/>
              </a:rPr>
              <a:t>并行接口的“并行”指接口与外部设备或被控对象一侧的并行数据线。 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lvl="0" eaLnBrk="0" hangingPunct="0"/>
            <a:endParaRPr lang="en-US" altLang="zh-CN" sz="2400" b="1" dirty="0">
              <a:latin typeface="Arial" panose="020B0604020202020204" pitchFamily="34" charset="0"/>
            </a:endParaRPr>
          </a:p>
          <a:p>
            <a:pPr lvl="0" eaLnBrk="0" hangingPunct="0"/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（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</a:rPr>
              <a:t>2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）</a:t>
            </a:r>
            <a:r>
              <a:rPr lang="zh-CN" altLang="en-US" sz="2400" b="1" dirty="0">
                <a:latin typeface="Arial" panose="020B0604020202020204" pitchFamily="34" charset="0"/>
              </a:rPr>
              <a:t>除了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并行数据线</a:t>
            </a:r>
            <a:r>
              <a:rPr lang="zh-CN" altLang="en-US" sz="2400" b="1" dirty="0">
                <a:latin typeface="Arial" panose="020B0604020202020204" pitchFamily="34" charset="0"/>
              </a:rPr>
              <a:t>外，至少还要设置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两条握手信号线</a:t>
            </a:r>
            <a:r>
              <a:rPr lang="zh-CN" altLang="en-US" sz="2400" b="1" dirty="0">
                <a:latin typeface="Arial" panose="020B0604020202020204" pitchFamily="34" charset="0"/>
              </a:rPr>
              <a:t>。握手信号线可以是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固定的</a:t>
            </a:r>
            <a:r>
              <a:rPr lang="zh-CN" altLang="en-US" sz="2400" b="1" dirty="0">
                <a:latin typeface="Arial" panose="020B0604020202020204" pitchFamily="34" charset="0"/>
              </a:rPr>
              <a:t>也可以是通过软件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编程指定</a:t>
            </a:r>
            <a:r>
              <a:rPr lang="zh-CN" altLang="en-US" sz="2400" b="1" dirty="0">
                <a:latin typeface="Arial" panose="020B0604020202020204" pitchFamily="34" charset="0"/>
              </a:rPr>
              <a:t>的。 　　</a:t>
            </a:r>
          </a:p>
        </p:txBody>
      </p:sp>
      <p:sp>
        <p:nvSpPr>
          <p:cNvPr id="5" name="文本框 291843"/>
          <p:cNvSpPr txBox="1"/>
          <p:nvPr/>
        </p:nvSpPr>
        <p:spPr>
          <a:xfrm>
            <a:off x="250825" y="4739660"/>
            <a:ext cx="8713788" cy="15696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并行接口中的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位或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位是一起行动的，即使只用到其中的一位，也是一次输入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输出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位或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位。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传送的信息不要求固定的格式。</a:t>
            </a:r>
          </a:p>
        </p:txBody>
      </p:sp>
    </p:spTree>
    <p:extLst>
      <p:ext uri="{BB962C8B-B14F-4D97-AF65-F5344CB8AC3E}">
        <p14:creationId xmlns:p14="http://schemas.microsoft.com/office/powerpoint/2010/main" val="4183737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标题 292865"/>
          <p:cNvSpPr>
            <a:spLocks noGrp="1"/>
          </p:cNvSpPr>
          <p:nvPr>
            <p:ph type="title"/>
          </p:nvPr>
        </p:nvSpPr>
        <p:spPr>
          <a:xfrm>
            <a:off x="609600" y="188913"/>
            <a:ext cx="8534400" cy="431800"/>
          </a:xfrm>
          <a:ln/>
        </p:spPr>
        <p:txBody>
          <a:bodyPr anchor="ctr"/>
          <a:lstStyle/>
          <a:p>
            <a:pPr lvl="0"/>
            <a:r>
              <a:rPr lang="en-US" altLang="en-US" sz="2800" b="1">
                <a:solidFill>
                  <a:srgbClr val="FF0000"/>
                </a:solidFill>
                <a:ea typeface="隶书" panose="02010509060101010101" pitchFamily="49" charset="-122"/>
              </a:rPr>
              <a:t>9.1  并行接口与可编程并行接口芯片8255A及其应用</a:t>
            </a:r>
            <a:endParaRPr lang="zh-CN" altLang="en-US" sz="28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92867" name="文本框 292866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2868" name="文本框 292867"/>
          <p:cNvSpPr txBox="1"/>
          <p:nvPr/>
        </p:nvSpPr>
        <p:spPr>
          <a:xfrm>
            <a:off x="1762993" y="908050"/>
            <a:ext cx="3745111" cy="4572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0" hangingPunct="0"/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典型的并行接口电路图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92871" name="图片 292870" descr="wps_clip_image-95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1403350"/>
            <a:ext cx="7777163" cy="43513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标题 293889"/>
          <p:cNvSpPr>
            <a:spLocks noGrp="1"/>
          </p:cNvSpPr>
          <p:nvPr>
            <p:ph type="title"/>
          </p:nvPr>
        </p:nvSpPr>
        <p:spPr>
          <a:xfrm>
            <a:off x="609600" y="188913"/>
            <a:ext cx="8534400" cy="431800"/>
          </a:xfrm>
          <a:ln/>
        </p:spPr>
        <p:txBody>
          <a:bodyPr anchor="ctr"/>
          <a:lstStyle/>
          <a:p>
            <a:pPr lvl="0"/>
            <a:r>
              <a:rPr lang="en-US" altLang="en-US" sz="2800" b="1">
                <a:solidFill>
                  <a:srgbClr val="FF0000"/>
                </a:solidFill>
                <a:ea typeface="隶书" panose="02010509060101010101" pitchFamily="49" charset="-122"/>
              </a:rPr>
              <a:t>9.1  并行接口与可编程并行接口芯片8255A及其应用</a:t>
            </a:r>
            <a:endParaRPr lang="zh-CN" altLang="en-US" sz="28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93891" name="文本框 293890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3892" name="文本框 293891"/>
          <p:cNvSpPr txBox="1"/>
          <p:nvPr/>
        </p:nvSpPr>
        <p:spPr>
          <a:xfrm>
            <a:off x="250826" y="836712"/>
            <a:ext cx="4464844" cy="12003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0" hangingPunct="0"/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二、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8255A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的内部结构和引脚</a:t>
            </a:r>
            <a:endParaRPr lang="en-US" altLang="zh-CN" sz="2400" b="1" dirty="0">
              <a:solidFill>
                <a:srgbClr val="FF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endParaRPr lang="en-US" altLang="zh-CN" sz="2400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1．8255A的内部结构</a:t>
            </a:r>
          </a:p>
        </p:txBody>
      </p:sp>
      <p:pic>
        <p:nvPicPr>
          <p:cNvPr id="293894" name="图片 293893" descr="wps_clip_image-98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468" y="1252210"/>
            <a:ext cx="5801897" cy="433703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395536" y="2348880"/>
            <a:ext cx="2664296" cy="2169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ts val="33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8255A的内部结构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数据端口</a:t>
            </a:r>
            <a:r>
              <a:rPr lang="en-US" altLang="zh-CN" sz="2400" b="1" dirty="0">
                <a:latin typeface="Arial" panose="020B0604020202020204" pitchFamily="34" charset="0"/>
              </a:rPr>
              <a:t>、</a:t>
            </a:r>
          </a:p>
          <a:p>
            <a:pPr lvl="0" eaLnBrk="0" hangingPunct="0">
              <a:lnSpc>
                <a:spcPts val="3300"/>
              </a:lnSpc>
            </a:pPr>
            <a:r>
              <a:rPr lang="en-US" altLang="zh-CN" sz="2400" b="1" dirty="0" err="1">
                <a:solidFill>
                  <a:srgbClr val="0000FF"/>
                </a:solidFill>
                <a:latin typeface="Arial" panose="020B0604020202020204" pitchFamily="34" charset="0"/>
              </a:rPr>
              <a:t>组控制电路</a:t>
            </a:r>
            <a:r>
              <a:rPr lang="en-US" altLang="zh-CN" sz="2400" b="1" dirty="0">
                <a:latin typeface="Arial" panose="020B0604020202020204" pitchFamily="34" charset="0"/>
              </a:rPr>
              <a:t>、</a:t>
            </a:r>
          </a:p>
          <a:p>
            <a:pPr lvl="0" eaLnBrk="0" hangingPunct="0">
              <a:lnSpc>
                <a:spcPts val="3300"/>
              </a:lnSpc>
            </a:pPr>
            <a:r>
              <a:rPr lang="en-US" altLang="zh-CN" sz="2400" b="1" dirty="0" err="1">
                <a:solidFill>
                  <a:srgbClr val="0000FF"/>
                </a:solidFill>
                <a:latin typeface="Arial" panose="020B0604020202020204" pitchFamily="34" charset="0"/>
              </a:rPr>
              <a:t>数据总线缓冲器</a:t>
            </a:r>
            <a:r>
              <a:rPr lang="en-US" altLang="zh-CN" sz="2400" b="1" dirty="0" err="1">
                <a:latin typeface="Arial" panose="020B0604020202020204" pitchFamily="34" charset="0"/>
              </a:rPr>
              <a:t>、</a:t>
            </a:r>
            <a:r>
              <a:rPr lang="en-US" altLang="zh-CN" sz="2400" b="1" dirty="0" err="1">
                <a:solidFill>
                  <a:srgbClr val="0000FF"/>
                </a:solidFill>
                <a:latin typeface="Arial" panose="020B0604020202020204" pitchFamily="34" charset="0"/>
              </a:rPr>
              <a:t>读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/</a:t>
            </a:r>
            <a:r>
              <a:rPr lang="en-US" altLang="zh-CN" sz="2400" b="1" dirty="0" err="1">
                <a:solidFill>
                  <a:srgbClr val="0000FF"/>
                </a:solidFill>
                <a:latin typeface="Arial" panose="020B0604020202020204" pitchFamily="34" charset="0"/>
              </a:rPr>
              <a:t>写控制逻辑</a:t>
            </a:r>
            <a:r>
              <a:rPr lang="en-US" altLang="zh-CN" sz="2400" b="1" dirty="0">
                <a:latin typeface="Arial" panose="020B0604020202020204" pitchFamily="34" charset="0"/>
              </a:rPr>
              <a:t> 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标题 294913"/>
          <p:cNvSpPr>
            <a:spLocks noGrp="1"/>
          </p:cNvSpPr>
          <p:nvPr>
            <p:ph type="title"/>
          </p:nvPr>
        </p:nvSpPr>
        <p:spPr>
          <a:xfrm>
            <a:off x="609600" y="188913"/>
            <a:ext cx="8534400" cy="431800"/>
          </a:xfrm>
          <a:ln/>
        </p:spPr>
        <p:txBody>
          <a:bodyPr anchor="ctr"/>
          <a:lstStyle/>
          <a:p>
            <a:pPr lvl="0"/>
            <a:r>
              <a:rPr lang="en-US" altLang="en-US" sz="2800" b="1">
                <a:solidFill>
                  <a:srgbClr val="FF0000"/>
                </a:solidFill>
                <a:ea typeface="隶书" panose="02010509060101010101" pitchFamily="49" charset="-122"/>
              </a:rPr>
              <a:t>9.1  并行接口与可编程并行接口芯片8255A及其应用</a:t>
            </a:r>
            <a:endParaRPr lang="zh-CN" altLang="en-US" sz="28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94915" name="文本框 294914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4916" name="文本框 294915"/>
          <p:cNvSpPr txBox="1"/>
          <p:nvPr/>
        </p:nvSpPr>
        <p:spPr>
          <a:xfrm>
            <a:off x="250825" y="1443548"/>
            <a:ext cx="8713788" cy="378565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zh-CN" altLang="en-US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）数据端口</a:t>
            </a:r>
          </a:p>
          <a:p>
            <a:pPr lvl="0" eaLnBrk="0" hangingPunct="0"/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    8255A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有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个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位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的数据端口：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端口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、端口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、端口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lvl="0" indent="-342900" eaLnBrk="0" hangingPunct="0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端口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：有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个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位数据输入锁存器、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个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位数据输出锁存器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缓冲器，端口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用在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数据双向传输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的场合；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lvl="0" indent="-342900" eaLnBrk="0" hangingPunct="0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端口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：有一个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位数据输入缓冲器、一个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位数据输出锁存器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缓冲器。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lvl="0" indent="-342900" eaLnBrk="0" hangingPunct="0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端口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zh-CN" altLang="en-US" sz="2400" dirty="0">
                <a:latin typeface="Arial" panose="020B0604020202020204" pitchFamily="34" charset="0"/>
              </a:rPr>
              <a:t>：有一个</a:t>
            </a:r>
            <a:r>
              <a:rPr lang="en-US" altLang="zh-CN" sz="2400" dirty="0">
                <a:latin typeface="Arial" panose="020B0604020202020204" pitchFamily="34" charset="0"/>
              </a:rPr>
              <a:t>8</a:t>
            </a:r>
            <a:r>
              <a:rPr lang="zh-CN" altLang="en-US" sz="2400" dirty="0">
                <a:latin typeface="Arial" panose="020B0604020202020204" pitchFamily="34" charset="0"/>
              </a:rPr>
              <a:t>位数据输入缓冲器、一个</a:t>
            </a:r>
            <a:r>
              <a:rPr lang="en-US" altLang="zh-CN" sz="2400" dirty="0">
                <a:latin typeface="Arial" panose="020B0604020202020204" pitchFamily="34" charset="0"/>
              </a:rPr>
              <a:t>8</a:t>
            </a:r>
            <a:r>
              <a:rPr lang="zh-CN" altLang="en-US" sz="2400" dirty="0">
                <a:latin typeface="Arial" panose="020B0604020202020204" pitchFamily="34" charset="0"/>
              </a:rPr>
              <a:t>位数据输出锁存器</a:t>
            </a:r>
            <a:r>
              <a:rPr lang="en-US" altLang="zh-CN" sz="2400" dirty="0">
                <a:latin typeface="Arial" panose="020B0604020202020204" pitchFamily="34" charset="0"/>
              </a:rPr>
              <a:t>/</a:t>
            </a:r>
            <a:r>
              <a:rPr lang="zh-CN" altLang="en-US" sz="2400" dirty="0">
                <a:latin typeface="Arial" panose="020B0604020202020204" pitchFamily="34" charset="0"/>
              </a:rPr>
              <a:t>缓冲器。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可作为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位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端口使用，也可分成两个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位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端口使用，还可以定义为控制、状态端口，配合端口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和端口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工作</a:t>
            </a:r>
            <a:r>
              <a:rPr lang="zh-CN" altLang="en-US" sz="2400" dirty="0">
                <a:latin typeface="Arial" panose="020B0604020202020204" pitchFamily="34" charset="0"/>
              </a:rPr>
              <a:t>。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标题 294913"/>
          <p:cNvSpPr>
            <a:spLocks noGrp="1"/>
          </p:cNvSpPr>
          <p:nvPr>
            <p:ph type="title" idx="4294967295"/>
          </p:nvPr>
        </p:nvSpPr>
        <p:spPr>
          <a:xfrm>
            <a:off x="609600" y="188913"/>
            <a:ext cx="8534400" cy="431800"/>
          </a:xfrm>
          <a:ln/>
        </p:spPr>
        <p:txBody>
          <a:bodyPr anchor="ctr"/>
          <a:lstStyle/>
          <a:p>
            <a:pPr lvl="0"/>
            <a:r>
              <a:rPr lang="en-US" altLang="en-US" sz="2800" b="1">
                <a:solidFill>
                  <a:srgbClr val="FF0000"/>
                </a:solidFill>
                <a:ea typeface="隶书" panose="02010509060101010101" pitchFamily="49" charset="-122"/>
              </a:rPr>
              <a:t>9.1  并行接口与可编程并行接口芯片8255A及其应用</a:t>
            </a:r>
            <a:endParaRPr lang="zh-CN" altLang="en-US" sz="28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94915" name="文本框 294914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4916" name="文本框 294915"/>
          <p:cNvSpPr txBox="1"/>
          <p:nvPr/>
        </p:nvSpPr>
        <p:spPr>
          <a:xfrm>
            <a:off x="250825" y="764704"/>
            <a:ext cx="8713788" cy="378565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zh-CN" altLang="en-US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r>
              <a:rPr lang="zh-CN" altLang="en-US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组和</a:t>
            </a:r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r>
              <a:rPr lang="zh-CN" altLang="en-US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组控制部件</a:t>
            </a:r>
          </a:p>
          <a:p>
            <a:pPr lvl="0" eaLnBrk="0" hangingPunct="0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组控制电路（包括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端口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及端口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的高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位）</a:t>
            </a:r>
            <a:endParaRPr lang="en-US" altLang="zh-CN" sz="2400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</a:rPr>
              <a:t>     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组控制电路（包括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</a:rPr>
              <a:t>端口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</a:rPr>
              <a:t>B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</a:rPr>
              <a:t>及端口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</a:rPr>
              <a:t>C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</a:rPr>
              <a:t>的低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</a:rPr>
              <a:t>4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</a:rPr>
              <a:t>位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主要的两个功能：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lvl="0" indent="-342900" eaLnBrk="0" hangingPunct="0">
              <a:buClr>
                <a:srgbClr val="FF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接收来自芯片内部数据总线上的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控制字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，决定两组端口的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工作方式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或者是实现对端口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的按位置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复位操作；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lvl="0" indent="-342900" eaLnBrk="0" hangingPunct="0">
              <a:buClr>
                <a:srgbClr val="FF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二是接收来自读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写控制逻辑电路的读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写命令，产生相应的读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写操作。</a:t>
            </a:r>
          </a:p>
        </p:txBody>
      </p:sp>
    </p:spTree>
    <p:extLst>
      <p:ext uri="{BB962C8B-B14F-4D97-AF65-F5344CB8AC3E}">
        <p14:creationId xmlns:p14="http://schemas.microsoft.com/office/powerpoint/2010/main" val="1175187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标题 295937"/>
          <p:cNvSpPr>
            <a:spLocks noGrp="1"/>
          </p:cNvSpPr>
          <p:nvPr>
            <p:ph type="title"/>
          </p:nvPr>
        </p:nvSpPr>
        <p:spPr>
          <a:xfrm>
            <a:off x="609600" y="188913"/>
            <a:ext cx="8534400" cy="431800"/>
          </a:xfrm>
          <a:ln/>
        </p:spPr>
        <p:txBody>
          <a:bodyPr anchor="ctr"/>
          <a:lstStyle/>
          <a:p>
            <a:pPr lvl="0"/>
            <a:r>
              <a:rPr lang="en-US" altLang="en-US" sz="2800" b="1">
                <a:solidFill>
                  <a:srgbClr val="FF0000"/>
                </a:solidFill>
                <a:ea typeface="隶书" panose="02010509060101010101" pitchFamily="49" charset="-122"/>
              </a:rPr>
              <a:t>9.1  并行接口与可编程并行接口芯片8255A及其应用</a:t>
            </a:r>
            <a:endParaRPr lang="zh-CN" altLang="en-US" sz="28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95939" name="文本框 295938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5940" name="文本框 295939"/>
          <p:cNvSpPr txBox="1"/>
          <p:nvPr/>
        </p:nvSpPr>
        <p:spPr>
          <a:xfrm>
            <a:off x="35496" y="1052736"/>
            <a:ext cx="3820795" cy="489364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0" hangingPunct="0"/>
            <a:r>
              <a:rPr lang="zh-CN" altLang="en-US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）数据总线缓冲器</a:t>
            </a:r>
          </a:p>
          <a:p>
            <a:pPr lvl="0" eaLnBrk="0" hangingPunct="0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    双向、三态的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位数据缓冲器</a:t>
            </a:r>
            <a:r>
              <a:rPr lang="zh-CN" altLang="en-US" sz="2400" dirty="0">
                <a:latin typeface="Arial" panose="020B0604020202020204" pitchFamily="34" charset="0"/>
              </a:rPr>
              <a:t>，实现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8255A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与系统数据总线的</a:t>
            </a:r>
            <a:r>
              <a:rPr lang="zh-CN" altLang="en-US" sz="2400" dirty="0">
                <a:latin typeface="Arial" panose="020B0604020202020204" pitchFamily="34" charset="0"/>
              </a:rPr>
              <a:t>连接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。所有输入数据、输出数据、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发给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8255A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的控制字以及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8255A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的状态信息等都是通过该部件进行传送。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r>
              <a:rPr lang="zh-CN" altLang="en-US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）读</a:t>
            </a:r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写控制逻辑</a:t>
            </a:r>
          </a:p>
          <a:p>
            <a:pPr lvl="0" eaLnBrk="0" hangingPunct="0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完成对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8255A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内部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个数据端口和一个控制端口的译码</a:t>
            </a:r>
          </a:p>
        </p:txBody>
      </p:sp>
      <p:pic>
        <p:nvPicPr>
          <p:cNvPr id="5" name="图片 4" descr="wps_clip_image-9882">
            <a:extLst>
              <a:ext uri="{FF2B5EF4-FFF2-40B4-BE49-F238E27FC236}">
                <a16:creationId xmlns:a16="http://schemas.microsoft.com/office/drawing/2014/main" id="{7181C098-7A55-4E9C-9102-08DBCB894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197" y="1422592"/>
            <a:ext cx="5381307" cy="402263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标题 297985"/>
          <p:cNvSpPr>
            <a:spLocks noGrp="1"/>
          </p:cNvSpPr>
          <p:nvPr>
            <p:ph type="title"/>
          </p:nvPr>
        </p:nvSpPr>
        <p:spPr>
          <a:xfrm>
            <a:off x="609600" y="188913"/>
            <a:ext cx="8534400" cy="431800"/>
          </a:xfrm>
          <a:ln/>
        </p:spPr>
        <p:txBody>
          <a:bodyPr anchor="ctr"/>
          <a:lstStyle/>
          <a:p>
            <a:pPr lvl="0"/>
            <a:r>
              <a:rPr lang="en-US" altLang="en-US" sz="2800" b="1">
                <a:solidFill>
                  <a:srgbClr val="FF0000"/>
                </a:solidFill>
                <a:ea typeface="隶书" panose="02010509060101010101" pitchFamily="49" charset="-122"/>
              </a:rPr>
              <a:t>9.1  并行接口与可编程并行接口芯片8255A及其应用</a:t>
            </a:r>
            <a:endParaRPr lang="zh-CN" altLang="en-US" sz="28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97987" name="文本框 297986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988" name="文本框 297987"/>
          <p:cNvSpPr txBox="1"/>
          <p:nvPr/>
        </p:nvSpPr>
        <p:spPr>
          <a:xfrm>
            <a:off x="250825" y="908050"/>
            <a:ext cx="3169047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0" hangingPunct="0"/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．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8255A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的引脚功能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</a:t>
            </a:r>
            <a:endParaRPr lang="zh-CN" altLang="en-US" sz="2400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97990" name="图片 297989" descr="wps_clip_image-120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9337" y="967177"/>
            <a:ext cx="3169047" cy="522119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827584" y="2058532"/>
            <a:ext cx="2952328" cy="15696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eaLnBrk="0" hangingPunct="0"/>
            <a:r>
              <a:rPr lang="en-US" altLang="zh-CN" sz="2400" dirty="0">
                <a:latin typeface="Arial" panose="020B0604020202020204" pitchFamily="34" charset="0"/>
              </a:rPr>
              <a:t>8255A</a:t>
            </a:r>
            <a:r>
              <a:rPr lang="zh-CN" altLang="en-US" sz="2400" dirty="0">
                <a:latin typeface="Arial" panose="020B0604020202020204" pitchFamily="34" charset="0"/>
              </a:rPr>
              <a:t>采用</a:t>
            </a:r>
            <a:r>
              <a:rPr lang="en-US" altLang="zh-CN" sz="2400" dirty="0">
                <a:latin typeface="Arial" panose="020B0604020202020204" pitchFamily="34" charset="0"/>
              </a:rPr>
              <a:t>NMOS</a:t>
            </a:r>
            <a:r>
              <a:rPr lang="zh-CN" altLang="en-US" sz="2400" dirty="0">
                <a:latin typeface="Arial" panose="020B0604020202020204" pitchFamily="34" charset="0"/>
              </a:rPr>
              <a:t>工艺，单一</a:t>
            </a:r>
            <a:r>
              <a:rPr lang="en-US" altLang="zh-CN" sz="2400" dirty="0">
                <a:latin typeface="Arial" panose="020B0604020202020204" pitchFamily="34" charset="0"/>
              </a:rPr>
              <a:t>+5V</a:t>
            </a:r>
            <a:r>
              <a:rPr lang="zh-CN" altLang="en-US" sz="2400" dirty="0">
                <a:latin typeface="Arial" panose="020B0604020202020204" pitchFamily="34" charset="0"/>
              </a:rPr>
              <a:t>电源，</a:t>
            </a:r>
            <a:r>
              <a:rPr lang="en-US" altLang="zh-CN" sz="2400" dirty="0">
                <a:latin typeface="Arial" panose="020B0604020202020204" pitchFamily="34" charset="0"/>
              </a:rPr>
              <a:t>40</a:t>
            </a:r>
            <a:r>
              <a:rPr lang="zh-CN" altLang="en-US" sz="2400" dirty="0">
                <a:latin typeface="Arial" panose="020B0604020202020204" pitchFamily="34" charset="0"/>
              </a:rPr>
              <a:t>引脚双列直插式封装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标题 299009"/>
          <p:cNvSpPr>
            <a:spLocks noGrp="1"/>
          </p:cNvSpPr>
          <p:nvPr>
            <p:ph type="title"/>
          </p:nvPr>
        </p:nvSpPr>
        <p:spPr>
          <a:xfrm>
            <a:off x="609600" y="188913"/>
            <a:ext cx="8534400" cy="431800"/>
          </a:xfrm>
          <a:ln/>
        </p:spPr>
        <p:txBody>
          <a:bodyPr anchor="ctr"/>
          <a:lstStyle/>
          <a:p>
            <a:pPr lvl="0"/>
            <a:r>
              <a:rPr lang="en-US" altLang="en-US" sz="2800" b="1" dirty="0">
                <a:solidFill>
                  <a:srgbClr val="FF0000"/>
                </a:solidFill>
                <a:ea typeface="隶书" panose="02010509060101010101" pitchFamily="49" charset="-122"/>
              </a:rPr>
              <a:t>9.1  并行接口与可编程并行接口芯片8255A及其应用</a:t>
            </a:r>
            <a:endParaRPr lang="zh-CN" altLang="en-US" sz="28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99011" name="文本框 299010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9012" name="文本框 299011"/>
          <p:cNvSpPr txBox="1"/>
          <p:nvPr/>
        </p:nvSpPr>
        <p:spPr>
          <a:xfrm>
            <a:off x="250825" y="908050"/>
            <a:ext cx="8713788" cy="526297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PA</a:t>
            </a:r>
            <a:r>
              <a:rPr lang="en-US" altLang="zh-CN" sz="2400" baseline="-250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en-US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～</a:t>
            </a:r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PA</a:t>
            </a:r>
            <a:r>
              <a:rPr lang="en-US" altLang="zh-CN" sz="2400" baseline="-250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r>
              <a:rPr lang="zh-CN" altLang="en-US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端口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的数据输入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输出引脚，与外设相连。</a:t>
            </a:r>
          </a:p>
          <a:p>
            <a:pPr lvl="0" eaLnBrk="0" hangingPunct="0"/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PB</a:t>
            </a:r>
            <a:r>
              <a:rPr lang="en-US" altLang="zh-CN" sz="2400" baseline="-250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en-US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～</a:t>
            </a:r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PB</a:t>
            </a:r>
            <a:r>
              <a:rPr lang="en-US" altLang="zh-CN" sz="2400" baseline="-250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r>
              <a:rPr lang="zh-CN" altLang="en-US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端口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的数据输入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输出引脚，与外设相连。</a:t>
            </a:r>
          </a:p>
          <a:p>
            <a:pPr lvl="0" eaLnBrk="0" hangingPunct="0"/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  <a:r>
              <a:rPr lang="en-US" altLang="zh-CN" sz="2400" baseline="-250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en-US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～</a:t>
            </a:r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  <a:r>
              <a:rPr lang="en-US" altLang="zh-CN" sz="2400" baseline="-250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r>
              <a:rPr lang="zh-CN" altLang="en-US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端口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的数据输入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输出引脚，与外设相连。</a:t>
            </a:r>
          </a:p>
          <a:p>
            <a:pPr lvl="0" eaLnBrk="0" hangingPunct="0"/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400" baseline="-250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r>
              <a:rPr lang="zh-CN" altLang="en-US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～</a:t>
            </a:r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400" baseline="-250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en-US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双向、三态数据线。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向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8255A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发送命令、数据，  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r>
              <a:rPr lang="en-US" altLang="zh-CN" sz="2400" dirty="0">
                <a:latin typeface="Arial" panose="020B0604020202020204" pitchFamily="34" charset="0"/>
              </a:rPr>
              <a:t>               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8255A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向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回送状态、数据。</a:t>
            </a:r>
          </a:p>
          <a:p>
            <a:pPr lvl="0" eaLnBrk="0" hangingPunct="0"/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RD</a:t>
            </a:r>
            <a:r>
              <a:rPr lang="zh-CN" altLang="en-US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：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读信号。低电平有效时，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从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8255A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端口中读取数据或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r>
              <a:rPr lang="en-US" altLang="zh-CN" sz="2400" dirty="0">
                <a:latin typeface="Arial" panose="020B0604020202020204" pitchFamily="34" charset="0"/>
              </a:rPr>
              <a:t>              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状态信息。</a:t>
            </a:r>
          </a:p>
          <a:p>
            <a:pPr lvl="0" eaLnBrk="0" hangingPunct="0"/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</a:rPr>
              <a:t>WR</a:t>
            </a:r>
            <a:r>
              <a:rPr lang="zh-CN" altLang="en-US" sz="2400" dirty="0">
                <a:solidFill>
                  <a:srgbClr val="FF00FF"/>
                </a:solidFill>
                <a:latin typeface="Arial" panose="020B0604020202020204" pitchFamily="34" charset="0"/>
              </a:rPr>
              <a:t> </a:t>
            </a:r>
            <a:r>
              <a:rPr lang="zh-CN" altLang="en-US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写信号。低电平有效时，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向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8255A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发送数据或控制命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r>
              <a:rPr lang="en-US" altLang="zh-CN" sz="2400" dirty="0">
                <a:latin typeface="Arial" panose="020B0604020202020204" pitchFamily="34" charset="0"/>
              </a:rPr>
              <a:t>              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令。</a:t>
            </a:r>
          </a:p>
          <a:p>
            <a:pPr lvl="0" eaLnBrk="0" hangingPunct="0"/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RESET</a:t>
            </a:r>
            <a:r>
              <a:rPr lang="zh-CN" altLang="en-US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复位信号。高电平有效时，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8255A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内部的所有寄存器被清零，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三个端口均被设置为输入方式。</a:t>
            </a:r>
          </a:p>
          <a:p>
            <a:pPr lvl="0" eaLnBrk="0" hangingPunct="0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CS</a:t>
            </a:r>
            <a:r>
              <a:rPr lang="zh-CN" altLang="en-US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：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片选信号。低电平有效时，才能对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8255A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进行读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写操作。该片选信号通常由系统地址总线经过地址译码器译码产生。</a:t>
            </a:r>
          </a:p>
          <a:p>
            <a:pPr lvl="0" eaLnBrk="0" hangingPunct="0"/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r>
              <a:rPr lang="en-US" altLang="zh-CN" sz="2400" baseline="-250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r>
              <a:rPr lang="en-US" altLang="zh-CN" sz="2400" baseline="-250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en-US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芯片内部端口地址线，通常与系统地址总线低位相连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B4603D7-1C10-EE23-1542-4A7FC3BED58D}"/>
              </a:ext>
            </a:extLst>
          </p:cNvPr>
          <p:cNvCxnSpPr/>
          <p:nvPr/>
        </p:nvCxnSpPr>
        <p:spPr>
          <a:xfrm>
            <a:off x="323528" y="2780928"/>
            <a:ext cx="360040" cy="0"/>
          </a:xfrm>
          <a:prstGeom prst="line">
            <a:avLst/>
          </a:prstGeom>
          <a:ln>
            <a:solidFill>
              <a:srgbClr val="FF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7777699-1A72-ED2E-0B16-C7428B1B9CDE}"/>
              </a:ext>
            </a:extLst>
          </p:cNvPr>
          <p:cNvCxnSpPr/>
          <p:nvPr/>
        </p:nvCxnSpPr>
        <p:spPr>
          <a:xfrm>
            <a:off x="395536" y="3573016"/>
            <a:ext cx="360040" cy="0"/>
          </a:xfrm>
          <a:prstGeom prst="line">
            <a:avLst/>
          </a:prstGeom>
          <a:ln>
            <a:solidFill>
              <a:srgbClr val="FF00FF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4A2679B-1F89-7267-F17F-FC134D165BAA}"/>
              </a:ext>
            </a:extLst>
          </p:cNvPr>
          <p:cNvCxnSpPr/>
          <p:nvPr/>
        </p:nvCxnSpPr>
        <p:spPr>
          <a:xfrm>
            <a:off x="467544" y="5013176"/>
            <a:ext cx="360040" cy="0"/>
          </a:xfrm>
          <a:prstGeom prst="line">
            <a:avLst/>
          </a:prstGeom>
          <a:ln>
            <a:solidFill>
              <a:srgbClr val="FF00FF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99009">
            <a:extLst>
              <a:ext uri="{FF2B5EF4-FFF2-40B4-BE49-F238E27FC236}">
                <a16:creationId xmlns:a16="http://schemas.microsoft.com/office/drawing/2014/main" id="{D3AE8BD5-8E47-09F1-6950-B03F2199492B}"/>
              </a:ext>
            </a:extLst>
          </p:cNvPr>
          <p:cNvSpPr txBox="1">
            <a:spLocks/>
          </p:cNvSpPr>
          <p:nvPr/>
        </p:nvSpPr>
        <p:spPr>
          <a:xfrm>
            <a:off x="609600" y="188913"/>
            <a:ext cx="8534400" cy="431800"/>
          </a:xfrm>
          <a:ln/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>
                <a:solidFill>
                  <a:srgbClr val="FF0000"/>
                </a:solidFill>
                <a:ea typeface="隶书" panose="02010509060101010101" pitchFamily="49" charset="-122"/>
              </a:rPr>
              <a:t>9.1  并行接口与可编程并行接口芯片8255A及其应用</a:t>
            </a:r>
            <a:endParaRPr lang="zh-CN" altLang="en-US" sz="28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88E871-C32E-F5AE-D395-D02775DF0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015" y="2348880"/>
            <a:ext cx="6667969" cy="2950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3CC50AC-FAB4-2358-A0D8-17D663EC7DF5}"/>
              </a:ext>
            </a:extLst>
          </p:cNvPr>
          <p:cNvSpPr txBox="1"/>
          <p:nvPr/>
        </p:nvSpPr>
        <p:spPr>
          <a:xfrm>
            <a:off x="1238016" y="1052736"/>
            <a:ext cx="69343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A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A</a:t>
            </a:r>
            <a:r>
              <a:rPr lang="en-US" altLang="zh-CN" sz="2400" baseline="-25000" dirty="0"/>
              <a:t>0</a:t>
            </a:r>
            <a:r>
              <a:rPr lang="zh-CN" altLang="en-US" sz="2400" dirty="0"/>
              <a:t>编码用于选择内部端口，和</a:t>
            </a:r>
            <a:r>
              <a:rPr lang="en-US" altLang="zh-CN" sz="2400" dirty="0"/>
              <a:t>CS</a:t>
            </a:r>
            <a:r>
              <a:rPr lang="zh-CN" altLang="en-US" sz="2400" dirty="0"/>
              <a:t>及</a:t>
            </a:r>
            <a:r>
              <a:rPr lang="en-US" altLang="zh-CN" sz="2400" dirty="0"/>
              <a:t>RD</a:t>
            </a:r>
            <a:r>
              <a:rPr lang="zh-CN" altLang="en-US" sz="2400" dirty="0"/>
              <a:t>、</a:t>
            </a:r>
            <a:r>
              <a:rPr lang="en-US" altLang="zh-CN" sz="2400" dirty="0"/>
              <a:t>WR</a:t>
            </a:r>
            <a:r>
              <a:rPr lang="zh-CN" altLang="en-US" sz="2400" dirty="0"/>
              <a:t>完成对</a:t>
            </a:r>
            <a:r>
              <a:rPr lang="en-US" altLang="zh-CN" sz="2400" dirty="0"/>
              <a:t>8255A</a:t>
            </a:r>
            <a:r>
              <a:rPr lang="zh-CN" altLang="en-US" sz="2400" dirty="0"/>
              <a:t>的基本操作，具体如表</a:t>
            </a:r>
            <a:r>
              <a:rPr lang="en-US" altLang="zh-CN" sz="2400" dirty="0"/>
              <a:t>9-1</a:t>
            </a:r>
            <a:r>
              <a:rPr lang="zh-CN" altLang="en-US" sz="2400" dirty="0"/>
              <a:t>：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E92FACB-DDA9-C9F9-6F06-14FA171D36F2}"/>
              </a:ext>
            </a:extLst>
          </p:cNvPr>
          <p:cNvCxnSpPr/>
          <p:nvPr/>
        </p:nvCxnSpPr>
        <p:spPr>
          <a:xfrm>
            <a:off x="5652120" y="1124744"/>
            <a:ext cx="2880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9186BFC-1CBE-5784-9AC0-B9C1A99FA136}"/>
              </a:ext>
            </a:extLst>
          </p:cNvPr>
          <p:cNvCxnSpPr/>
          <p:nvPr/>
        </p:nvCxnSpPr>
        <p:spPr>
          <a:xfrm>
            <a:off x="6300192" y="1124744"/>
            <a:ext cx="3600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6D98BF2-E254-2B2B-9D96-97B9E2357A1D}"/>
              </a:ext>
            </a:extLst>
          </p:cNvPr>
          <p:cNvCxnSpPr/>
          <p:nvPr/>
        </p:nvCxnSpPr>
        <p:spPr>
          <a:xfrm>
            <a:off x="7092280" y="1124744"/>
            <a:ext cx="3600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154956A7-F654-48ED-9ED5-B7525AFA0AF1}"/>
              </a:ext>
            </a:extLst>
          </p:cNvPr>
          <p:cNvSpPr txBox="1"/>
          <p:nvPr/>
        </p:nvSpPr>
        <p:spPr>
          <a:xfrm>
            <a:off x="1238015" y="2924944"/>
            <a:ext cx="6667969" cy="28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E567BBC-925A-4DB3-B330-BE8CC5FF8C7A}"/>
              </a:ext>
            </a:extLst>
          </p:cNvPr>
          <p:cNvSpPr txBox="1"/>
          <p:nvPr/>
        </p:nvSpPr>
        <p:spPr>
          <a:xfrm>
            <a:off x="1238015" y="3805666"/>
            <a:ext cx="6667969" cy="28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3368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99009">
            <a:extLst>
              <a:ext uri="{FF2B5EF4-FFF2-40B4-BE49-F238E27FC236}">
                <a16:creationId xmlns:a16="http://schemas.microsoft.com/office/drawing/2014/main" id="{D3AE8BD5-8E47-09F1-6950-B03F2199492B}"/>
              </a:ext>
            </a:extLst>
          </p:cNvPr>
          <p:cNvSpPr txBox="1">
            <a:spLocks/>
          </p:cNvSpPr>
          <p:nvPr/>
        </p:nvSpPr>
        <p:spPr>
          <a:xfrm>
            <a:off x="609600" y="188913"/>
            <a:ext cx="8534400" cy="431800"/>
          </a:xfrm>
          <a:ln/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>
                <a:solidFill>
                  <a:srgbClr val="FF0000"/>
                </a:solidFill>
                <a:ea typeface="隶书" panose="02010509060101010101" pitchFamily="49" charset="-122"/>
              </a:rPr>
              <a:t>9.1  并行接口与可编程并行接口芯片8255A及其应用</a:t>
            </a:r>
            <a:endParaRPr lang="zh-CN" altLang="en-US" sz="28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88E871-C32E-F5AE-D395-D02775DF0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015" y="2348880"/>
            <a:ext cx="6667969" cy="2950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3CC50AC-FAB4-2358-A0D8-17D663EC7DF5}"/>
              </a:ext>
            </a:extLst>
          </p:cNvPr>
          <p:cNvSpPr txBox="1"/>
          <p:nvPr/>
        </p:nvSpPr>
        <p:spPr>
          <a:xfrm>
            <a:off x="1238016" y="1052736"/>
            <a:ext cx="69343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A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A</a:t>
            </a:r>
            <a:r>
              <a:rPr lang="en-US" altLang="zh-CN" sz="2400" baseline="-25000" dirty="0"/>
              <a:t>0</a:t>
            </a:r>
            <a:r>
              <a:rPr lang="zh-CN" altLang="en-US" sz="2400" dirty="0"/>
              <a:t>编码用于选择内部端口，和</a:t>
            </a:r>
            <a:r>
              <a:rPr lang="en-US" altLang="zh-CN" sz="2400" dirty="0"/>
              <a:t>CS</a:t>
            </a:r>
            <a:r>
              <a:rPr lang="zh-CN" altLang="en-US" sz="2400" dirty="0"/>
              <a:t>及</a:t>
            </a:r>
            <a:r>
              <a:rPr lang="en-US" altLang="zh-CN" sz="2400" dirty="0"/>
              <a:t>RD</a:t>
            </a:r>
            <a:r>
              <a:rPr lang="zh-CN" altLang="en-US" sz="2400" dirty="0"/>
              <a:t>、</a:t>
            </a:r>
            <a:r>
              <a:rPr lang="en-US" altLang="zh-CN" sz="2400" dirty="0"/>
              <a:t>WR</a:t>
            </a:r>
            <a:r>
              <a:rPr lang="zh-CN" altLang="en-US" sz="2400" dirty="0"/>
              <a:t>完成对</a:t>
            </a:r>
            <a:r>
              <a:rPr lang="en-US" altLang="zh-CN" sz="2400" dirty="0"/>
              <a:t>8255A</a:t>
            </a:r>
            <a:r>
              <a:rPr lang="zh-CN" altLang="en-US" sz="2400" dirty="0"/>
              <a:t>的基本操作，具体如表</a:t>
            </a:r>
            <a:r>
              <a:rPr lang="en-US" altLang="zh-CN" sz="2400" dirty="0"/>
              <a:t>9-1</a:t>
            </a:r>
            <a:r>
              <a:rPr lang="zh-CN" altLang="en-US" sz="2400" dirty="0"/>
              <a:t>：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E92FACB-DDA9-C9F9-6F06-14FA171D36F2}"/>
              </a:ext>
            </a:extLst>
          </p:cNvPr>
          <p:cNvCxnSpPr/>
          <p:nvPr/>
        </p:nvCxnSpPr>
        <p:spPr>
          <a:xfrm>
            <a:off x="5652120" y="1124744"/>
            <a:ext cx="2880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9186BFC-1CBE-5784-9AC0-B9C1A99FA136}"/>
              </a:ext>
            </a:extLst>
          </p:cNvPr>
          <p:cNvCxnSpPr/>
          <p:nvPr/>
        </p:nvCxnSpPr>
        <p:spPr>
          <a:xfrm>
            <a:off x="6300192" y="1124744"/>
            <a:ext cx="3600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6D98BF2-E254-2B2B-9D96-97B9E2357A1D}"/>
              </a:ext>
            </a:extLst>
          </p:cNvPr>
          <p:cNvCxnSpPr/>
          <p:nvPr/>
        </p:nvCxnSpPr>
        <p:spPr>
          <a:xfrm>
            <a:off x="7092280" y="1124744"/>
            <a:ext cx="3600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15EB9D98-D948-4325-8800-F55FF32B1AF6}"/>
              </a:ext>
            </a:extLst>
          </p:cNvPr>
          <p:cNvSpPr txBox="1"/>
          <p:nvPr/>
        </p:nvSpPr>
        <p:spPr>
          <a:xfrm>
            <a:off x="1227349" y="3230830"/>
            <a:ext cx="6667969" cy="288000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8EDC259-7F03-4C69-86FA-03B59E9D81B1}"/>
              </a:ext>
            </a:extLst>
          </p:cNvPr>
          <p:cNvSpPr txBox="1"/>
          <p:nvPr/>
        </p:nvSpPr>
        <p:spPr>
          <a:xfrm>
            <a:off x="1232260" y="4096122"/>
            <a:ext cx="6667969" cy="288000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6704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99009">
            <a:extLst>
              <a:ext uri="{FF2B5EF4-FFF2-40B4-BE49-F238E27FC236}">
                <a16:creationId xmlns:a16="http://schemas.microsoft.com/office/drawing/2014/main" id="{D3AE8BD5-8E47-09F1-6950-B03F2199492B}"/>
              </a:ext>
            </a:extLst>
          </p:cNvPr>
          <p:cNvSpPr txBox="1">
            <a:spLocks/>
          </p:cNvSpPr>
          <p:nvPr/>
        </p:nvSpPr>
        <p:spPr>
          <a:xfrm>
            <a:off x="609600" y="188913"/>
            <a:ext cx="8534400" cy="431800"/>
          </a:xfrm>
          <a:ln/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>
                <a:solidFill>
                  <a:srgbClr val="FF0000"/>
                </a:solidFill>
                <a:ea typeface="隶书" panose="02010509060101010101" pitchFamily="49" charset="-122"/>
              </a:rPr>
              <a:t>9.1  并行接口与可编程并行接口芯片8255A及其应用</a:t>
            </a:r>
            <a:endParaRPr lang="zh-CN" altLang="en-US" sz="28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88E871-C32E-F5AE-D395-D02775DF0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015" y="2348880"/>
            <a:ext cx="6667969" cy="2950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3CC50AC-FAB4-2358-A0D8-17D663EC7DF5}"/>
              </a:ext>
            </a:extLst>
          </p:cNvPr>
          <p:cNvSpPr txBox="1"/>
          <p:nvPr/>
        </p:nvSpPr>
        <p:spPr>
          <a:xfrm>
            <a:off x="1238016" y="1052736"/>
            <a:ext cx="69343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A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A</a:t>
            </a:r>
            <a:r>
              <a:rPr lang="en-US" altLang="zh-CN" sz="2400" baseline="-25000" dirty="0"/>
              <a:t>0</a:t>
            </a:r>
            <a:r>
              <a:rPr lang="zh-CN" altLang="en-US" sz="2400" dirty="0"/>
              <a:t>编码用于选择内部端口，和</a:t>
            </a:r>
            <a:r>
              <a:rPr lang="en-US" altLang="zh-CN" sz="2400" dirty="0"/>
              <a:t>CS</a:t>
            </a:r>
            <a:r>
              <a:rPr lang="zh-CN" altLang="en-US" sz="2400" dirty="0"/>
              <a:t>及</a:t>
            </a:r>
            <a:r>
              <a:rPr lang="en-US" altLang="zh-CN" sz="2400" dirty="0"/>
              <a:t>RD</a:t>
            </a:r>
            <a:r>
              <a:rPr lang="zh-CN" altLang="en-US" sz="2400" dirty="0"/>
              <a:t>、</a:t>
            </a:r>
            <a:r>
              <a:rPr lang="en-US" altLang="zh-CN" sz="2400" dirty="0"/>
              <a:t>WR</a:t>
            </a:r>
            <a:r>
              <a:rPr lang="zh-CN" altLang="en-US" sz="2400" dirty="0"/>
              <a:t>完成对</a:t>
            </a:r>
            <a:r>
              <a:rPr lang="en-US" altLang="zh-CN" sz="2400" dirty="0"/>
              <a:t>8255A</a:t>
            </a:r>
            <a:r>
              <a:rPr lang="zh-CN" altLang="en-US" sz="2400" dirty="0"/>
              <a:t>的基本操作，具体如表</a:t>
            </a:r>
            <a:r>
              <a:rPr lang="en-US" altLang="zh-CN" sz="2400" dirty="0"/>
              <a:t>9-1</a:t>
            </a:r>
            <a:r>
              <a:rPr lang="zh-CN" altLang="en-US" sz="2400" dirty="0"/>
              <a:t>：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E92FACB-DDA9-C9F9-6F06-14FA171D36F2}"/>
              </a:ext>
            </a:extLst>
          </p:cNvPr>
          <p:cNvCxnSpPr/>
          <p:nvPr/>
        </p:nvCxnSpPr>
        <p:spPr>
          <a:xfrm>
            <a:off x="5652120" y="1124744"/>
            <a:ext cx="2880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9186BFC-1CBE-5784-9AC0-B9C1A99FA136}"/>
              </a:ext>
            </a:extLst>
          </p:cNvPr>
          <p:cNvCxnSpPr/>
          <p:nvPr/>
        </p:nvCxnSpPr>
        <p:spPr>
          <a:xfrm>
            <a:off x="6300192" y="1124744"/>
            <a:ext cx="3600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6D98BF2-E254-2B2B-9D96-97B9E2357A1D}"/>
              </a:ext>
            </a:extLst>
          </p:cNvPr>
          <p:cNvCxnSpPr/>
          <p:nvPr/>
        </p:nvCxnSpPr>
        <p:spPr>
          <a:xfrm>
            <a:off x="7092280" y="1124744"/>
            <a:ext cx="3600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16B85F10-484D-4C14-B8C5-14A3DF893074}"/>
              </a:ext>
            </a:extLst>
          </p:cNvPr>
          <p:cNvSpPr txBox="1"/>
          <p:nvPr/>
        </p:nvSpPr>
        <p:spPr>
          <a:xfrm>
            <a:off x="1227348" y="3531296"/>
            <a:ext cx="6667969" cy="28800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D2DE3B9-A5B3-4CA4-AB0D-1EEF6092E3B2}"/>
              </a:ext>
            </a:extLst>
          </p:cNvPr>
          <p:cNvSpPr txBox="1"/>
          <p:nvPr/>
        </p:nvSpPr>
        <p:spPr>
          <a:xfrm>
            <a:off x="1241090" y="4395763"/>
            <a:ext cx="6667969" cy="28800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8286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标题 300033"/>
          <p:cNvSpPr>
            <a:spLocks noGrp="1"/>
          </p:cNvSpPr>
          <p:nvPr>
            <p:ph type="title"/>
          </p:nvPr>
        </p:nvSpPr>
        <p:spPr>
          <a:xfrm>
            <a:off x="609600" y="188913"/>
            <a:ext cx="8534400" cy="431800"/>
          </a:xfrm>
          <a:ln/>
        </p:spPr>
        <p:txBody>
          <a:bodyPr anchor="ctr"/>
          <a:lstStyle/>
          <a:p>
            <a:pPr lvl="0"/>
            <a:r>
              <a:rPr lang="en-US" altLang="en-US" sz="2800" b="1">
                <a:solidFill>
                  <a:srgbClr val="FF0000"/>
                </a:solidFill>
                <a:ea typeface="隶书" panose="02010509060101010101" pitchFamily="49" charset="-122"/>
              </a:rPr>
              <a:t>9.1  并行接口与可编程并行接口芯片8255A及其应用</a:t>
            </a:r>
            <a:endParaRPr lang="zh-CN" altLang="en-US" sz="28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00035" name="文本框 300034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0036" name="文本框 300035"/>
          <p:cNvSpPr txBox="1"/>
          <p:nvPr/>
        </p:nvSpPr>
        <p:spPr>
          <a:xfrm>
            <a:off x="250825" y="764704"/>
            <a:ext cx="8713788" cy="489364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三、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</a:rPr>
              <a:t>8255A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的工作方式和控制字</a:t>
            </a:r>
            <a:endParaRPr lang="en-US" altLang="zh-CN" sz="2400" b="1" dirty="0">
              <a:solidFill>
                <a:srgbClr val="FF00FF"/>
              </a:solidFill>
              <a:latin typeface="Arial" panose="020B0604020202020204" pitchFamily="34" charset="0"/>
            </a:endParaRPr>
          </a:p>
          <a:p>
            <a:pPr lvl="0" eaLnBrk="0" hangingPunct="0"/>
            <a:endParaRPr lang="en-US" altLang="zh-CN" sz="2400" b="1" dirty="0">
              <a:solidFill>
                <a:srgbClr val="FF00FF"/>
              </a:solidFill>
              <a:latin typeface="Arial" panose="020B0604020202020204" pitchFamily="34" charset="0"/>
            </a:endParaRPr>
          </a:p>
          <a:p>
            <a:pPr lvl="0" eaLnBrk="0" hangingPunct="0"/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1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．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8255A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的工作方式</a:t>
            </a:r>
          </a:p>
          <a:p>
            <a:pPr marL="342900" lvl="0" indent="-342900" eaLnBrk="0" hangingPunct="0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latin typeface="Arial" panose="020B0604020202020204" pitchFamily="34" charset="0"/>
              </a:rPr>
              <a:t>有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3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种不同</a:t>
            </a:r>
            <a:r>
              <a:rPr lang="zh-CN" altLang="en-US" sz="2400" b="1" dirty="0">
                <a:latin typeface="Arial" panose="020B0604020202020204" pitchFamily="34" charset="0"/>
              </a:rPr>
              <a:t>的工作方式，每种工作方式都有各自的特点；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342900" lvl="0" indent="-342900" eaLnBrk="0" hangingPunct="0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latin typeface="Arial" panose="020B0604020202020204" pitchFamily="34" charset="0"/>
              </a:rPr>
              <a:t>不同工作方式所对应的引脚信号定义和工作时序也不相同；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342900" lvl="0" indent="-342900" eaLnBrk="0" hangingPunct="0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latin typeface="Arial" panose="020B0604020202020204" pitchFamily="34" charset="0"/>
              </a:rPr>
              <a:t>每种工作方式可以通过</a:t>
            </a:r>
            <a:r>
              <a:rPr lang="en-US" altLang="zh-CN" sz="2400" b="1" dirty="0">
                <a:latin typeface="Arial" panose="020B0604020202020204" pitchFamily="34" charset="0"/>
              </a:rPr>
              <a:t>CPU</a:t>
            </a:r>
            <a:r>
              <a:rPr lang="zh-CN" altLang="en-US" sz="2400" b="1" dirty="0">
                <a:latin typeface="Arial" panose="020B0604020202020204" pitchFamily="34" charset="0"/>
              </a:rPr>
              <a:t>向</a:t>
            </a:r>
            <a:r>
              <a:rPr lang="en-US" altLang="zh-CN" sz="2400" b="1" dirty="0">
                <a:latin typeface="Arial" panose="020B0604020202020204" pitchFamily="34" charset="0"/>
              </a:rPr>
              <a:t>8255A</a:t>
            </a:r>
            <a:r>
              <a:rPr lang="zh-CN" altLang="en-US" sz="2400" b="1" dirty="0">
                <a:latin typeface="Arial" panose="020B0604020202020204" pitchFamily="34" charset="0"/>
              </a:rPr>
              <a:t>写命令控制字来设置。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342900" lvl="0" indent="-342900" eaLnBrk="0" hangingPunct="0"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zh-CN" altLang="en-US" sz="2400" b="1" dirty="0">
              <a:latin typeface="Arial" panose="020B0604020202020204" pitchFamily="34" charset="0"/>
            </a:endParaRPr>
          </a:p>
          <a:p>
            <a:pPr lvl="0" eaLnBrk="0" hangingPunct="0"/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（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</a:rPr>
              <a:t>1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）方式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</a:rPr>
              <a:t>0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：基本的输入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</a:rPr>
              <a:t>/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输出工作方式</a:t>
            </a:r>
            <a:endParaRPr lang="en-US" altLang="zh-CN" sz="2400" b="1" dirty="0">
              <a:solidFill>
                <a:srgbClr val="FF00FF"/>
              </a:solidFill>
              <a:latin typeface="Arial" panose="020B0604020202020204" pitchFamily="34" charset="0"/>
            </a:endParaRPr>
          </a:p>
          <a:p>
            <a:pPr lvl="0" eaLnBrk="0" hangingPunct="0"/>
            <a:r>
              <a:rPr lang="zh-CN" altLang="en-US" sz="2400" b="1" dirty="0">
                <a:latin typeface="Arial" panose="020B0604020202020204" pitchFamily="34" charset="0"/>
              </a:rPr>
              <a:t>        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无固定</a:t>
            </a:r>
            <a:r>
              <a:rPr lang="zh-CN" altLang="en-US" sz="2400" b="1" dirty="0">
                <a:latin typeface="Arial" panose="020B0604020202020204" pitchFamily="34" charset="0"/>
              </a:rPr>
              <a:t>的</a:t>
            </a:r>
            <a:r>
              <a:rPr lang="en-US" altLang="zh-CN" sz="2400" b="1" dirty="0">
                <a:latin typeface="Arial" panose="020B0604020202020204" pitchFamily="34" charset="0"/>
              </a:rPr>
              <a:t>I/O</a:t>
            </a:r>
            <a:r>
              <a:rPr lang="zh-CN" altLang="en-US" sz="2400" b="1" dirty="0">
                <a:latin typeface="Arial" panose="020B0604020202020204" pitchFamily="34" charset="0"/>
              </a:rPr>
              <a:t>联络（应答）信号。</a:t>
            </a:r>
            <a:r>
              <a:rPr lang="en-US" altLang="zh-CN" sz="2400" b="1" dirty="0">
                <a:latin typeface="Arial" panose="020B0604020202020204" pitchFamily="34" charset="0"/>
              </a:rPr>
              <a:t>A</a:t>
            </a:r>
            <a:r>
              <a:rPr lang="zh-CN" altLang="en-US" sz="2400" b="1" dirty="0">
                <a:latin typeface="Arial" panose="020B0604020202020204" pitchFamily="34" charset="0"/>
              </a:rPr>
              <a:t>、</a:t>
            </a:r>
            <a:r>
              <a:rPr lang="en-US" altLang="zh-CN" sz="2400" b="1" dirty="0">
                <a:latin typeface="Arial" panose="020B0604020202020204" pitchFamily="34" charset="0"/>
              </a:rPr>
              <a:t>B</a:t>
            </a:r>
            <a:r>
              <a:rPr lang="zh-CN" altLang="en-US" sz="2400" b="1" dirty="0">
                <a:latin typeface="Arial" panose="020B0604020202020204" pitchFamily="34" charset="0"/>
              </a:rPr>
              <a:t>、</a:t>
            </a:r>
            <a:r>
              <a:rPr lang="en-US" altLang="zh-CN" sz="2400" b="1" dirty="0">
                <a:latin typeface="Arial" panose="020B0604020202020204" pitchFamily="34" charset="0"/>
              </a:rPr>
              <a:t>C</a:t>
            </a:r>
            <a:r>
              <a:rPr lang="zh-CN" altLang="en-US" sz="2400" b="1" dirty="0">
                <a:latin typeface="Arial" panose="020B0604020202020204" pitchFamily="34" charset="0"/>
              </a:rPr>
              <a:t>三个端口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都可以工作于方式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0</a:t>
            </a:r>
            <a:r>
              <a:rPr lang="zh-CN" altLang="en-US" sz="2400" b="1" dirty="0">
                <a:latin typeface="Arial" panose="020B0604020202020204" pitchFamily="34" charset="0"/>
              </a:rPr>
              <a:t>，其中端口</a:t>
            </a:r>
            <a:r>
              <a:rPr lang="en-US" altLang="zh-CN" sz="2400" b="1" dirty="0">
                <a:latin typeface="Arial" panose="020B0604020202020204" pitchFamily="34" charset="0"/>
              </a:rPr>
              <a:t>A</a:t>
            </a:r>
            <a:r>
              <a:rPr lang="zh-CN" altLang="en-US" sz="2400" b="1" dirty="0">
                <a:latin typeface="Arial" panose="020B0604020202020204" pitchFamily="34" charset="0"/>
              </a:rPr>
              <a:t>和端口</a:t>
            </a:r>
            <a:r>
              <a:rPr lang="en-US" altLang="zh-CN" sz="2400" b="1" dirty="0">
                <a:latin typeface="Arial" panose="020B0604020202020204" pitchFamily="34" charset="0"/>
              </a:rPr>
              <a:t>B</a:t>
            </a:r>
            <a:r>
              <a:rPr lang="zh-CN" altLang="en-US" sz="2400" b="1" dirty="0">
                <a:latin typeface="Arial" panose="020B0604020202020204" pitchFamily="34" charset="0"/>
              </a:rPr>
              <a:t>可以作为</a:t>
            </a:r>
            <a:r>
              <a:rPr lang="en-US" altLang="zh-CN" sz="2400" b="1" dirty="0">
                <a:latin typeface="Arial" panose="020B0604020202020204" pitchFamily="34" charset="0"/>
              </a:rPr>
              <a:t>8</a:t>
            </a:r>
            <a:r>
              <a:rPr lang="zh-CN" altLang="en-US" sz="2400" b="1" dirty="0">
                <a:latin typeface="Arial" panose="020B0604020202020204" pitchFamily="34" charset="0"/>
              </a:rPr>
              <a:t>位的输入或输出端口使用，端口</a:t>
            </a:r>
            <a:r>
              <a:rPr lang="en-US" altLang="zh-CN" sz="2400" b="1" dirty="0">
                <a:latin typeface="Arial" panose="020B0604020202020204" pitchFamily="34" charset="0"/>
              </a:rPr>
              <a:t>C</a:t>
            </a:r>
            <a:r>
              <a:rPr lang="zh-CN" altLang="en-US" sz="2400" b="1" dirty="0">
                <a:latin typeface="Arial" panose="020B0604020202020204" pitchFamily="34" charset="0"/>
              </a:rPr>
              <a:t>既可以作为</a:t>
            </a:r>
            <a:r>
              <a:rPr lang="en-US" altLang="zh-CN" sz="2400" b="1" dirty="0">
                <a:latin typeface="Arial" panose="020B0604020202020204" pitchFamily="34" charset="0"/>
              </a:rPr>
              <a:t>8</a:t>
            </a:r>
            <a:r>
              <a:rPr lang="zh-CN" altLang="en-US" sz="2400" b="1" dirty="0">
                <a:latin typeface="Arial" panose="020B0604020202020204" pitchFamily="34" charset="0"/>
              </a:rPr>
              <a:t>位的输入或输出端口，也可以作为两个</a:t>
            </a:r>
            <a:r>
              <a:rPr lang="en-US" altLang="zh-CN" sz="2400" b="1" dirty="0">
                <a:latin typeface="Arial" panose="020B0604020202020204" pitchFamily="34" charset="0"/>
              </a:rPr>
              <a:t>4</a:t>
            </a:r>
            <a:r>
              <a:rPr lang="zh-CN" altLang="en-US" sz="2400" b="1" dirty="0">
                <a:latin typeface="Arial" panose="020B0604020202020204" pitchFamily="34" charset="0"/>
              </a:rPr>
              <a:t>位（高</a:t>
            </a:r>
            <a:r>
              <a:rPr lang="en-US" altLang="zh-CN" sz="2400" b="1" dirty="0">
                <a:latin typeface="Arial" panose="020B0604020202020204" pitchFamily="34" charset="0"/>
              </a:rPr>
              <a:t>4</a:t>
            </a:r>
            <a:r>
              <a:rPr lang="zh-CN" altLang="en-US" sz="2400" b="1" dirty="0">
                <a:latin typeface="Arial" panose="020B0604020202020204" pitchFamily="34" charset="0"/>
              </a:rPr>
              <a:t>位和低</a:t>
            </a:r>
            <a:r>
              <a:rPr lang="en-US" altLang="zh-CN" sz="2400" b="1" dirty="0">
                <a:latin typeface="Arial" panose="020B0604020202020204" pitchFamily="34" charset="0"/>
              </a:rPr>
              <a:t>4</a:t>
            </a:r>
            <a:r>
              <a:rPr lang="zh-CN" altLang="en-US" sz="2400" b="1" dirty="0">
                <a:latin typeface="Arial" panose="020B0604020202020204" pitchFamily="34" charset="0"/>
              </a:rPr>
              <a:t>位）的输入或输出端口使用。</a:t>
            </a:r>
            <a:r>
              <a:rPr lang="en-US" altLang="zh-CN" sz="2400" b="1" dirty="0">
                <a:latin typeface="Arial" panose="020B0604020202020204" pitchFamily="34" charset="0"/>
              </a:rPr>
              <a:t>8255A</a:t>
            </a:r>
            <a:r>
              <a:rPr lang="zh-CN" altLang="en-US" sz="2400" b="1" dirty="0">
                <a:latin typeface="Arial" panose="020B0604020202020204" pitchFamily="34" charset="0"/>
              </a:rPr>
              <a:t>可产生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16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种不同的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I/O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组合</a:t>
            </a:r>
            <a:r>
              <a:rPr lang="zh-CN" altLang="en-US" sz="2400" b="1" dirty="0">
                <a:latin typeface="Arial" panose="020B0604020202020204" pitchFamily="34" charset="0"/>
              </a:rPr>
              <a:t>方式。此时，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输出锁存</a:t>
            </a:r>
            <a:r>
              <a:rPr lang="zh-CN" altLang="en-US" sz="2400" b="1" dirty="0">
                <a:latin typeface="Arial" panose="020B0604020202020204" pitchFamily="34" charset="0"/>
              </a:rPr>
              <a:t>，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输入缓冲</a:t>
            </a:r>
            <a:r>
              <a:rPr lang="zh-CN" altLang="en-US" sz="2400" b="1" dirty="0">
                <a:latin typeface="Arial" panose="020B0604020202020204" pitchFamily="34" charset="0"/>
              </a:rPr>
              <a:t>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标题 301057"/>
          <p:cNvSpPr>
            <a:spLocks noGrp="1"/>
          </p:cNvSpPr>
          <p:nvPr>
            <p:ph type="title"/>
          </p:nvPr>
        </p:nvSpPr>
        <p:spPr>
          <a:xfrm>
            <a:off x="609600" y="188913"/>
            <a:ext cx="8534400" cy="431800"/>
          </a:xfrm>
          <a:ln/>
        </p:spPr>
        <p:txBody>
          <a:bodyPr anchor="ctr"/>
          <a:lstStyle/>
          <a:p>
            <a:pPr lvl="0"/>
            <a:r>
              <a:rPr lang="en-US" altLang="en-US" sz="2800" b="1">
                <a:solidFill>
                  <a:srgbClr val="FF0000"/>
                </a:solidFill>
                <a:ea typeface="隶书" panose="02010509060101010101" pitchFamily="49" charset="-122"/>
              </a:rPr>
              <a:t>9.1  并行接口与可编程并行接口芯片8255A及其应用</a:t>
            </a:r>
            <a:endParaRPr lang="zh-CN" altLang="en-US" sz="28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01059" name="文本框 301058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1060" name="文本框 301059"/>
          <p:cNvSpPr txBox="1"/>
          <p:nvPr/>
        </p:nvSpPr>
        <p:spPr>
          <a:xfrm>
            <a:off x="466527" y="911757"/>
            <a:ext cx="8066285" cy="415498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0" hangingPunct="0"/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</a:rPr>
              <a:t>（2）方式1选通的输入/</a:t>
            </a:r>
            <a:r>
              <a:rPr lang="en-US" altLang="zh-CN" sz="2400" b="1" dirty="0" err="1">
                <a:solidFill>
                  <a:srgbClr val="FF00FF"/>
                </a:solidFill>
                <a:latin typeface="Arial" panose="020B0604020202020204" pitchFamily="34" charset="0"/>
              </a:rPr>
              <a:t>输出方式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</a:rPr>
              <a:t>。</a:t>
            </a:r>
          </a:p>
          <a:p>
            <a:pPr lvl="0" eaLnBrk="0" hangingPunct="0"/>
            <a:r>
              <a:rPr lang="en-US" altLang="zh-CN" sz="2400" b="1" dirty="0">
                <a:latin typeface="Arial" panose="020B0604020202020204" pitchFamily="34" charset="0"/>
              </a:rPr>
              <a:t>        端口A和端口B可作为数据的输入或输出端口使用，但必须利用端口C中的某些位提供的选通、应答信号进行工作，信号与端口C中的位有固定的对应关系，不</a:t>
            </a:r>
            <a:r>
              <a:rPr lang="zh-CN" altLang="en-US" sz="2400" b="1" dirty="0">
                <a:latin typeface="Arial" panose="020B0604020202020204" pitchFamily="34" charset="0"/>
              </a:rPr>
              <a:t>能</a:t>
            </a:r>
            <a:r>
              <a:rPr lang="en-US" altLang="zh-CN" sz="2400" b="1" dirty="0" err="1">
                <a:latin typeface="Arial" panose="020B0604020202020204" pitchFamily="34" charset="0"/>
              </a:rPr>
              <a:t>改变</a:t>
            </a:r>
            <a:r>
              <a:rPr lang="en-US" altLang="zh-CN" sz="2400" b="1" dirty="0">
                <a:latin typeface="Arial" panose="020B0604020202020204" pitchFamily="34" charset="0"/>
              </a:rPr>
              <a:t>。</a:t>
            </a:r>
          </a:p>
          <a:p>
            <a:pPr lvl="0" eaLnBrk="0" hangingPunct="0"/>
            <a:r>
              <a:rPr lang="en-US" altLang="zh-CN" sz="2400" b="1" dirty="0">
                <a:latin typeface="Arial" panose="020B0604020202020204" pitchFamily="34" charset="0"/>
              </a:rPr>
              <a:t>        方式1通常用于查询方式或中断方式传送数据。</a:t>
            </a:r>
          </a:p>
          <a:p>
            <a:pPr lvl="0" eaLnBrk="0" hangingPunct="0"/>
            <a:endParaRPr lang="en-US" altLang="zh-CN" sz="2400" b="1" dirty="0">
              <a:latin typeface="Arial" panose="020B0604020202020204" pitchFamily="34" charset="0"/>
            </a:endParaRPr>
          </a:p>
          <a:p>
            <a:pPr lvl="0" eaLnBrk="0" hangingPunct="0"/>
            <a:r>
              <a:rPr lang="en-US" altLang="zh-CN" sz="2400" b="1" dirty="0">
                <a:latin typeface="Arial" panose="020B0604020202020204" pitchFamily="34" charset="0"/>
              </a:rPr>
              <a:t>        C</a:t>
            </a:r>
            <a:r>
              <a:rPr lang="zh-CN" altLang="en-US" sz="2400" b="1" dirty="0">
                <a:latin typeface="Arial" panose="020B0604020202020204" pitchFamily="34" charset="0"/>
              </a:rPr>
              <a:t>口的某些位作为选通和应答信号时，输入和输出工作状态不同，各位所代表的意义也不同。</a:t>
            </a:r>
          </a:p>
          <a:p>
            <a:pPr lvl="0" eaLnBrk="0" hangingPunct="0"/>
            <a:r>
              <a:rPr lang="en-US" altLang="zh-CN" sz="2400" b="1" dirty="0">
                <a:solidFill>
                  <a:srgbClr val="00B0F0"/>
                </a:solidFill>
                <a:latin typeface="Arial" panose="020B0604020202020204" pitchFamily="34" charset="0"/>
              </a:rPr>
              <a:t>1</a:t>
            </a:r>
            <a:r>
              <a:rPr lang="zh-CN" altLang="en-US" sz="2400" b="1" dirty="0">
                <a:solidFill>
                  <a:srgbClr val="00B0F0"/>
                </a:solidFill>
                <a:latin typeface="Arial" panose="020B0604020202020204" pitchFamily="34" charset="0"/>
              </a:rPr>
              <a:t>）方式</a:t>
            </a:r>
            <a:r>
              <a:rPr lang="en-US" altLang="zh-CN" sz="2400" b="1" dirty="0">
                <a:solidFill>
                  <a:srgbClr val="00B0F0"/>
                </a:solidFill>
                <a:latin typeface="Arial" panose="020B0604020202020204" pitchFamily="34" charset="0"/>
              </a:rPr>
              <a:t>1</a:t>
            </a:r>
            <a:r>
              <a:rPr lang="zh-CN" altLang="en-US" sz="2400" b="1" dirty="0">
                <a:solidFill>
                  <a:srgbClr val="00B0F0"/>
                </a:solidFill>
                <a:latin typeface="Arial" panose="020B0604020202020204" pitchFamily="34" charset="0"/>
              </a:rPr>
              <a:t>输入</a:t>
            </a:r>
          </a:p>
          <a:p>
            <a:pPr lvl="0" eaLnBrk="0" hangingPunct="0"/>
            <a:r>
              <a:rPr lang="zh-CN" altLang="en-US" sz="2400" b="1" dirty="0">
                <a:latin typeface="Arial" panose="020B0604020202020204" pitchFamily="34" charset="0"/>
              </a:rPr>
              <a:t>端口</a:t>
            </a:r>
            <a:r>
              <a:rPr lang="en-US" altLang="zh-CN" sz="2400" b="1" dirty="0">
                <a:latin typeface="Arial" panose="020B0604020202020204" pitchFamily="34" charset="0"/>
              </a:rPr>
              <a:t>C</a:t>
            </a:r>
            <a:r>
              <a:rPr lang="zh-CN" altLang="en-US" sz="2400" b="1" dirty="0">
                <a:latin typeface="Arial" panose="020B0604020202020204" pitchFamily="34" charset="0"/>
              </a:rPr>
              <a:t>配合端口</a:t>
            </a:r>
            <a:r>
              <a:rPr lang="en-US" altLang="zh-CN" sz="2400" b="1" dirty="0">
                <a:latin typeface="Arial" panose="020B0604020202020204" pitchFamily="34" charset="0"/>
              </a:rPr>
              <a:t>A</a:t>
            </a:r>
            <a:r>
              <a:rPr lang="zh-CN" altLang="en-US" sz="2400" b="1" dirty="0">
                <a:latin typeface="Arial" panose="020B0604020202020204" pitchFamily="34" charset="0"/>
              </a:rPr>
              <a:t>和端口</a:t>
            </a:r>
            <a:r>
              <a:rPr lang="en-US" altLang="zh-CN" sz="2400" b="1" dirty="0">
                <a:latin typeface="Arial" panose="020B0604020202020204" pitchFamily="34" charset="0"/>
              </a:rPr>
              <a:t>B</a:t>
            </a:r>
            <a:r>
              <a:rPr lang="zh-CN" altLang="en-US" sz="2400" b="1" dirty="0">
                <a:latin typeface="Arial" panose="020B0604020202020204" pitchFamily="34" charset="0"/>
              </a:rPr>
              <a:t>输入数据时，各指定了</a:t>
            </a:r>
            <a:r>
              <a:rPr lang="en-US" altLang="zh-CN" sz="2400" b="1" dirty="0">
                <a:latin typeface="Arial" panose="020B0604020202020204" pitchFamily="34" charset="0"/>
              </a:rPr>
              <a:t>3</a:t>
            </a:r>
            <a:r>
              <a:rPr lang="zh-CN" altLang="en-US" sz="2400" b="1" dirty="0">
                <a:latin typeface="Arial" panose="020B0604020202020204" pitchFamily="34" charset="0"/>
              </a:rPr>
              <a:t>条线用作外部设备和</a:t>
            </a:r>
            <a:r>
              <a:rPr lang="en-US" altLang="zh-CN" sz="2400" b="1" dirty="0">
                <a:latin typeface="Arial" panose="020B0604020202020204" pitchFamily="34" charset="0"/>
              </a:rPr>
              <a:t>CPU</a:t>
            </a:r>
            <a:r>
              <a:rPr lang="zh-CN" altLang="en-US" sz="2400" b="1" dirty="0">
                <a:latin typeface="Arial" panose="020B0604020202020204" pitchFamily="34" charset="0"/>
              </a:rPr>
              <a:t>之间的应答信号。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标题 303105"/>
          <p:cNvSpPr>
            <a:spLocks noGrp="1"/>
          </p:cNvSpPr>
          <p:nvPr>
            <p:ph type="title"/>
          </p:nvPr>
        </p:nvSpPr>
        <p:spPr>
          <a:xfrm>
            <a:off x="609600" y="188913"/>
            <a:ext cx="8534400" cy="431800"/>
          </a:xfrm>
          <a:ln/>
        </p:spPr>
        <p:txBody>
          <a:bodyPr anchor="ctr"/>
          <a:lstStyle/>
          <a:p>
            <a:pPr lvl="0"/>
            <a:r>
              <a:rPr lang="en-US" altLang="en-US" sz="2800" b="1">
                <a:solidFill>
                  <a:srgbClr val="FF0000"/>
                </a:solidFill>
                <a:ea typeface="隶书" panose="02010509060101010101" pitchFamily="49" charset="-122"/>
              </a:rPr>
              <a:t>9.1  并行接口与可编程并行接口芯片8255A及其应用</a:t>
            </a:r>
            <a:endParaRPr lang="zh-CN" altLang="en-US" sz="28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03107" name="文本框 303106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3108" name="文本框 303107"/>
          <p:cNvSpPr txBox="1"/>
          <p:nvPr/>
        </p:nvSpPr>
        <p:spPr>
          <a:xfrm>
            <a:off x="179388" y="3789040"/>
            <a:ext cx="8713787" cy="193899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</a:rPr>
              <a:t>C口的相应选通、应答线定义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</a:p>
          <a:p>
            <a:pPr lvl="0" eaLnBrk="0" hangingPunct="0"/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STB  ：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选通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输入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信号，低电平有效时，表示外部设备已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准备好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数据，8255A可以从数据口读数据到输入锁存器。该信号规定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  <a:r>
              <a:rPr lang="en-US" altLang="zh-CN" sz="2400" baseline="-25000" dirty="0">
                <a:solidFill>
                  <a:srgbClr val="0000FF"/>
                </a:solidFill>
                <a:latin typeface="Arial" panose="020B0604020202020204" pitchFamily="34" charset="0"/>
              </a:rPr>
              <a:t>4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对应A口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  <a:r>
              <a:rPr lang="en-US" altLang="zh-CN" sz="2400" baseline="-25000" dirty="0">
                <a:solidFill>
                  <a:srgbClr val="FF00FF"/>
                </a:solidFill>
                <a:latin typeface="Arial" panose="020B0604020202020204" pitchFamily="34" charset="0"/>
              </a:rPr>
              <a:t>2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对应B口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2285400-0592-5A36-9D6A-96205371221E}"/>
              </a:ext>
            </a:extLst>
          </p:cNvPr>
          <p:cNvCxnSpPr/>
          <p:nvPr/>
        </p:nvCxnSpPr>
        <p:spPr>
          <a:xfrm>
            <a:off x="395536" y="4581128"/>
            <a:ext cx="504056" cy="0"/>
          </a:xfrm>
          <a:prstGeom prst="line">
            <a:avLst/>
          </a:prstGeom>
          <a:ln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985952"/>
            <a:ext cx="5991215" cy="2617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标题 302081"/>
          <p:cNvSpPr>
            <a:spLocks noGrp="1"/>
          </p:cNvSpPr>
          <p:nvPr>
            <p:ph type="title"/>
          </p:nvPr>
        </p:nvSpPr>
        <p:spPr>
          <a:xfrm>
            <a:off x="609600" y="188913"/>
            <a:ext cx="8534400" cy="431800"/>
          </a:xfrm>
          <a:ln/>
        </p:spPr>
        <p:txBody>
          <a:bodyPr anchor="ctr"/>
          <a:lstStyle/>
          <a:p>
            <a:pPr lvl="0"/>
            <a:r>
              <a:rPr lang="en-US" altLang="en-US" sz="2800" b="1">
                <a:solidFill>
                  <a:srgbClr val="FF0000"/>
                </a:solidFill>
                <a:ea typeface="隶书" panose="02010509060101010101" pitchFamily="49" charset="-122"/>
              </a:rPr>
              <a:t>9.1  并行接口与可编程并行接口芯片8255A及其应用</a:t>
            </a:r>
            <a:endParaRPr lang="zh-CN" altLang="en-US" sz="28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02083" name="文本框 302082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2084" name="文本框 302083"/>
          <p:cNvSpPr txBox="1"/>
          <p:nvPr/>
        </p:nvSpPr>
        <p:spPr>
          <a:xfrm>
            <a:off x="250825" y="908050"/>
            <a:ext cx="8713788" cy="563231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</a:rPr>
              <a:t>IBF：</a:t>
            </a:r>
            <a:r>
              <a:rPr lang="en-US" altLang="zh-CN" sz="2400" b="1" dirty="0">
                <a:latin typeface="Arial" panose="020B0604020202020204" pitchFamily="34" charset="0"/>
              </a:rPr>
              <a:t>输入缓冲器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满</a:t>
            </a:r>
            <a:r>
              <a:rPr lang="en-US" altLang="zh-CN" sz="2400" b="1" dirty="0">
                <a:latin typeface="Arial" panose="020B0604020202020204" pitchFamily="34" charset="0"/>
              </a:rPr>
              <a:t>信号，高电平有效时，表示数据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已经锁存</a:t>
            </a:r>
            <a:r>
              <a:rPr lang="en-US" altLang="zh-CN" sz="2400" b="1" dirty="0">
                <a:latin typeface="Arial" panose="020B0604020202020204" pitchFamily="34" charset="0"/>
              </a:rPr>
              <a:t>在输入锁存器中。当CPU从8255A取走数据后，在读信号的上升沿使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IBF信号复位成低电平</a:t>
            </a:r>
            <a:r>
              <a:rPr lang="en-US" altLang="zh-CN" sz="2400" b="1" dirty="0">
                <a:latin typeface="Arial" panose="020B0604020202020204" pitchFamily="34" charset="0"/>
              </a:rPr>
              <a:t>，以通知外部设备输入新的数据。该信号规定用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</a:rPr>
              <a:t>PC</a:t>
            </a:r>
            <a:r>
              <a:rPr lang="en-US" altLang="zh-CN" sz="2400" b="1" baseline="-25000" dirty="0">
                <a:solidFill>
                  <a:srgbClr val="FF00FF"/>
                </a:solidFill>
                <a:latin typeface="Arial" panose="020B0604020202020204" pitchFamily="34" charset="0"/>
              </a:rPr>
              <a:t>5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</a:rPr>
              <a:t>对应于A口</a:t>
            </a:r>
            <a:r>
              <a:rPr lang="en-US" altLang="zh-CN" sz="2400" b="1" dirty="0">
                <a:latin typeface="Arial" panose="020B0604020202020204" pitchFamily="34" charset="0"/>
              </a:rPr>
              <a:t>，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</a:rPr>
              <a:t>用PC</a:t>
            </a:r>
            <a:r>
              <a:rPr lang="en-US" altLang="zh-CN" sz="2400" b="1" baseline="-25000" dirty="0">
                <a:solidFill>
                  <a:srgbClr val="FF00FF"/>
                </a:solidFill>
                <a:latin typeface="Arial" panose="020B0604020202020204" pitchFamily="34" charset="0"/>
              </a:rPr>
              <a:t>1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</a:rPr>
              <a:t>对应于B口</a:t>
            </a:r>
            <a:r>
              <a:rPr lang="en-US" altLang="zh-CN" sz="2400" b="1" dirty="0">
                <a:latin typeface="Arial" panose="020B0604020202020204" pitchFamily="34" charset="0"/>
              </a:rPr>
              <a:t>。</a:t>
            </a:r>
          </a:p>
          <a:p>
            <a:pPr lvl="0" eaLnBrk="0" hangingPunct="0"/>
            <a:endParaRPr lang="en-US" altLang="zh-CN" sz="2400" b="1" dirty="0">
              <a:latin typeface="Arial" panose="020B0604020202020204" pitchFamily="34" charset="0"/>
            </a:endParaRPr>
          </a:p>
          <a:p>
            <a:pPr lvl="0" eaLnBrk="0" hangingPunct="0"/>
            <a:r>
              <a:rPr lang="en-US" altLang="zh-CN" sz="2400" b="1" dirty="0" err="1">
                <a:solidFill>
                  <a:srgbClr val="FF00FF"/>
                </a:solidFill>
                <a:latin typeface="Arial" panose="020B0604020202020204" pitchFamily="34" charset="0"/>
              </a:rPr>
              <a:t>INTR：</a:t>
            </a:r>
            <a:r>
              <a:rPr lang="en-US" altLang="zh-CN" sz="2400" b="1" dirty="0" err="1">
                <a:latin typeface="Arial" panose="020B0604020202020204" pitchFamily="34" charset="0"/>
              </a:rPr>
              <a:t>中断请求信号，高电平有效。在</a:t>
            </a:r>
            <a:r>
              <a:rPr lang="en-US" altLang="zh-CN" sz="2400" b="1" dirty="0">
                <a:latin typeface="Arial" panose="020B0604020202020204" pitchFamily="34" charset="0"/>
              </a:rPr>
              <a:t>       、IBF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</a:rPr>
              <a:t>均为高电平</a:t>
            </a:r>
            <a:r>
              <a:rPr lang="en-US" altLang="zh-CN" sz="2400" b="1" dirty="0">
                <a:latin typeface="Arial" panose="020B0604020202020204" pitchFamily="34" charset="0"/>
              </a:rPr>
              <a:t>时有效，即当数据锁存于数据锁存器，并使IBF信号有效后，在选通信号由低变高的时刻，如果中断允许信号INTE有效，则8255A使INTR有效，向CPU发出中断请求，CPU发出的读信号有效后，INTR端降为低电平。该信号规定用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</a:rPr>
              <a:t>PC</a:t>
            </a:r>
            <a:r>
              <a:rPr lang="en-US" altLang="zh-CN" sz="2400" b="1" baseline="-25000" dirty="0">
                <a:solidFill>
                  <a:srgbClr val="FF00FF"/>
                </a:solidFill>
                <a:latin typeface="Arial" panose="020B0604020202020204" pitchFamily="34" charset="0"/>
              </a:rPr>
              <a:t>3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</a:rPr>
              <a:t>对应于A口，用PC</a:t>
            </a:r>
            <a:r>
              <a:rPr lang="en-US" altLang="zh-CN" sz="2400" b="1" baseline="-25000" dirty="0">
                <a:solidFill>
                  <a:srgbClr val="FF00FF"/>
                </a:solidFill>
                <a:latin typeface="Arial" panose="020B0604020202020204" pitchFamily="34" charset="0"/>
              </a:rPr>
              <a:t>0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</a:rPr>
              <a:t>对应于B口</a:t>
            </a:r>
            <a:r>
              <a:rPr lang="en-US" altLang="zh-CN" sz="2400" b="1" dirty="0">
                <a:latin typeface="Arial" panose="020B0604020202020204" pitchFamily="34" charset="0"/>
              </a:rPr>
              <a:t>。</a:t>
            </a:r>
          </a:p>
          <a:p>
            <a:pPr lvl="0" eaLnBrk="0" hangingPunct="0"/>
            <a:endParaRPr lang="en-US" altLang="zh-CN" sz="2400" b="1" dirty="0">
              <a:latin typeface="Arial" panose="020B0604020202020204" pitchFamily="34" charset="0"/>
            </a:endParaRPr>
          </a:p>
          <a:p>
            <a:pPr lvl="0" eaLnBrk="0" hangingPunct="0"/>
            <a:r>
              <a:rPr lang="en-US" altLang="zh-CN" sz="2400" b="1" dirty="0" err="1">
                <a:solidFill>
                  <a:srgbClr val="FF00FF"/>
                </a:solidFill>
                <a:latin typeface="Arial" panose="020B0604020202020204" pitchFamily="34" charset="0"/>
              </a:rPr>
              <a:t>INTE：</a:t>
            </a:r>
            <a:r>
              <a:rPr lang="en-US" altLang="zh-CN" sz="2400" b="1" dirty="0" err="1">
                <a:latin typeface="Arial" panose="020B0604020202020204" pitchFamily="34" charset="0"/>
              </a:rPr>
              <a:t>中断允许信号。INTE</a:t>
            </a:r>
            <a:r>
              <a:rPr lang="en-US" altLang="zh-CN" sz="2400" b="1" dirty="0">
                <a:latin typeface="Arial" panose="020B0604020202020204" pitchFamily="34" charset="0"/>
              </a:rPr>
              <a:t>=1时允许中断</a:t>
            </a:r>
            <a:r>
              <a:rPr lang="zh-CN" altLang="en-US" sz="2400" b="1" dirty="0">
                <a:latin typeface="Arial" panose="020B0604020202020204" pitchFamily="34" charset="0"/>
              </a:rPr>
              <a:t>，</a:t>
            </a:r>
            <a:r>
              <a:rPr lang="en-US" altLang="zh-CN" sz="2400" b="1" dirty="0">
                <a:latin typeface="Arial" panose="020B0604020202020204" pitchFamily="34" charset="0"/>
              </a:rPr>
              <a:t>INTE=0时禁止中断。该信号没有外部引出端，其置“1”和清“0”通过对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</a:rPr>
              <a:t>PC</a:t>
            </a:r>
            <a:r>
              <a:rPr lang="en-US" altLang="zh-CN" sz="2400" b="1" baseline="-25000" dirty="0">
                <a:solidFill>
                  <a:srgbClr val="FF00FF"/>
                </a:solidFill>
                <a:latin typeface="Arial" panose="020B0604020202020204" pitchFamily="34" charset="0"/>
              </a:rPr>
              <a:t>4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</a:rPr>
              <a:t>和PC</a:t>
            </a:r>
            <a:r>
              <a:rPr lang="en-US" altLang="zh-CN" sz="2400" b="1" baseline="-25000" dirty="0">
                <a:solidFill>
                  <a:srgbClr val="FF00FF"/>
                </a:solidFill>
                <a:latin typeface="Arial" panose="020B0604020202020204" pitchFamily="34" charset="0"/>
              </a:rPr>
              <a:t>2</a:t>
            </a:r>
            <a:r>
              <a:rPr lang="en-US" altLang="zh-CN" sz="2400" b="1" dirty="0">
                <a:latin typeface="Arial" panose="020B0604020202020204" pitchFamily="34" charset="0"/>
              </a:rPr>
              <a:t>的按位置/</a:t>
            </a:r>
            <a:r>
              <a:rPr lang="en-US" altLang="zh-CN" sz="2400" b="1" dirty="0" err="1">
                <a:latin typeface="Arial" panose="020B0604020202020204" pitchFamily="34" charset="0"/>
              </a:rPr>
              <a:t>复位操作完成</a:t>
            </a:r>
            <a:r>
              <a:rPr lang="en-US" altLang="zh-CN" sz="2400" b="1" dirty="0">
                <a:latin typeface="Arial" panose="020B0604020202020204" pitchFamily="34" charset="0"/>
              </a:rPr>
              <a:t>。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pic>
        <p:nvPicPr>
          <p:cNvPr id="5" name="图片 4" descr="wps_clip_image-132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120" y="2808218"/>
            <a:ext cx="433388" cy="3317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标题 304129"/>
          <p:cNvSpPr>
            <a:spLocks noGrp="1"/>
          </p:cNvSpPr>
          <p:nvPr>
            <p:ph type="title"/>
          </p:nvPr>
        </p:nvSpPr>
        <p:spPr>
          <a:xfrm>
            <a:off x="609600" y="188913"/>
            <a:ext cx="8534400" cy="431800"/>
          </a:xfrm>
          <a:ln/>
        </p:spPr>
        <p:txBody>
          <a:bodyPr anchor="ctr"/>
          <a:lstStyle/>
          <a:p>
            <a:pPr lvl="0"/>
            <a:r>
              <a:rPr lang="en-US" altLang="en-US" sz="2800" b="1">
                <a:solidFill>
                  <a:srgbClr val="FF0000"/>
                </a:solidFill>
                <a:ea typeface="隶书" panose="02010509060101010101" pitchFamily="49" charset="-122"/>
              </a:rPr>
              <a:t>9.1  并行接口与可编程并行接口芯片8255A及其应用</a:t>
            </a:r>
            <a:endParaRPr lang="zh-CN" altLang="en-US" sz="28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04131" name="文本框 304130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4132" name="文本框 304131"/>
          <p:cNvSpPr txBox="1"/>
          <p:nvPr/>
        </p:nvSpPr>
        <p:spPr>
          <a:xfrm>
            <a:off x="519906" y="899972"/>
            <a:ext cx="8713788" cy="83099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en-US" altLang="zh-CN" sz="2400" dirty="0">
                <a:solidFill>
                  <a:srgbClr val="00B0F0"/>
                </a:solidFill>
                <a:latin typeface="Arial" panose="020B0604020202020204" pitchFamily="34" charset="0"/>
              </a:rPr>
              <a:t>2</a:t>
            </a:r>
            <a:r>
              <a:rPr lang="zh-CN" altLang="en-US" sz="2400" dirty="0">
                <a:solidFill>
                  <a:srgbClr val="00B0F0"/>
                </a:solidFill>
                <a:latin typeface="Arial" panose="020B0604020202020204" pitchFamily="34" charset="0"/>
              </a:rPr>
              <a:t>）</a:t>
            </a:r>
            <a:r>
              <a:rPr lang="zh-CN" altLang="en-US" sz="2400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方式</a:t>
            </a:r>
            <a:r>
              <a:rPr lang="en-US" altLang="zh-CN" sz="2400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输出</a:t>
            </a:r>
          </a:p>
          <a:p>
            <a:pPr lvl="0" eaLnBrk="0" hangingPunct="0"/>
            <a:r>
              <a:rPr lang="en-US" altLang="zh-CN" sz="2400" dirty="0">
                <a:latin typeface="Arial" panose="020B0604020202020204" pitchFamily="34" charset="0"/>
              </a:rPr>
              <a:t>            </a:t>
            </a:r>
            <a:r>
              <a:rPr lang="zh-CN" altLang="en-US" sz="2400" b="1" dirty="0">
                <a:latin typeface="Arial" panose="020B0604020202020204" pitchFamily="34" charset="0"/>
              </a:rPr>
              <a:t>方式</a:t>
            </a:r>
            <a:r>
              <a:rPr lang="en-US" altLang="zh-CN" sz="2400" b="1" dirty="0">
                <a:latin typeface="Arial" panose="020B0604020202020204" pitchFamily="34" charset="0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</a:rPr>
              <a:t>输出时端口</a:t>
            </a:r>
            <a:r>
              <a:rPr lang="en-US" altLang="zh-CN" sz="2400" b="1" dirty="0">
                <a:latin typeface="Arial" panose="020B0604020202020204" pitchFamily="34" charset="0"/>
              </a:rPr>
              <a:t>C</a:t>
            </a:r>
            <a:r>
              <a:rPr lang="zh-CN" altLang="en-US" sz="2400" b="1" dirty="0">
                <a:latin typeface="Arial" panose="020B0604020202020204" pitchFamily="34" charset="0"/>
              </a:rPr>
              <a:t>各位的含义</a:t>
            </a: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798911"/>
            <a:ext cx="5732259" cy="266419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7BE9E3E-31C5-44F5-A059-E277AE281237}"/>
              </a:ext>
            </a:extLst>
          </p:cNvPr>
          <p:cNvSpPr txBox="1"/>
          <p:nvPr/>
        </p:nvSpPr>
        <p:spPr>
          <a:xfrm>
            <a:off x="827584" y="4463108"/>
            <a:ext cx="7704856" cy="2092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各信号的功能：</a:t>
            </a:r>
          </a:p>
          <a:p>
            <a:pPr lvl="0" eaLnBrk="0" hangingPunct="0">
              <a:lnSpc>
                <a:spcPct val="110000"/>
              </a:lnSpc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OBF</a:t>
            </a:r>
            <a:r>
              <a:rPr lang="zh-CN" altLang="en-US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：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输出缓冲器满信号，低电平有效时，表示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已经把数据输出到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8255A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的相应端口，外部设备可以取走数据了。该信号规定</a:t>
            </a:r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  <a:r>
              <a:rPr lang="en-US" altLang="zh-CN" sz="2400" baseline="-25000" dirty="0">
                <a:solidFill>
                  <a:srgbClr val="FF00FF"/>
                </a:solidFill>
                <a:latin typeface="Arial" panose="020B0604020202020204" pitchFamily="34" charset="0"/>
              </a:rPr>
              <a:t>7</a:t>
            </a:r>
            <a:r>
              <a:rPr lang="zh-CN" altLang="en-US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对应</a:t>
            </a:r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r>
              <a:rPr lang="zh-CN" altLang="en-US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口，</a:t>
            </a:r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  <a:r>
              <a:rPr lang="en-US" altLang="zh-CN" sz="2400" baseline="-250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对应</a:t>
            </a:r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r>
              <a:rPr lang="zh-CN" altLang="en-US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口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</a:p>
          <a:p>
            <a:pPr lvl="0" eaLnBrk="0" hangingPunct="0">
              <a:lnSpc>
                <a:spcPct val="110000"/>
              </a:lnSpc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15B50BD-B741-4FEA-8B90-BA7FF9C82A02}"/>
              </a:ext>
            </a:extLst>
          </p:cNvPr>
          <p:cNvCxnSpPr/>
          <p:nvPr/>
        </p:nvCxnSpPr>
        <p:spPr>
          <a:xfrm>
            <a:off x="1187624" y="4941168"/>
            <a:ext cx="578024" cy="0"/>
          </a:xfrm>
          <a:prstGeom prst="line">
            <a:avLst/>
          </a:prstGeom>
          <a:ln>
            <a:solidFill>
              <a:srgbClr val="FF00FF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标题 305153"/>
          <p:cNvSpPr>
            <a:spLocks noGrp="1"/>
          </p:cNvSpPr>
          <p:nvPr>
            <p:ph type="title"/>
          </p:nvPr>
        </p:nvSpPr>
        <p:spPr>
          <a:xfrm>
            <a:off x="609600" y="188913"/>
            <a:ext cx="8534400" cy="431800"/>
          </a:xfrm>
          <a:ln/>
        </p:spPr>
        <p:txBody>
          <a:bodyPr anchor="ctr"/>
          <a:lstStyle/>
          <a:p>
            <a:pPr lvl="0"/>
            <a:r>
              <a:rPr lang="en-US" altLang="en-US" sz="2800" b="1">
                <a:solidFill>
                  <a:srgbClr val="FF0000"/>
                </a:solidFill>
                <a:ea typeface="隶书" panose="02010509060101010101" pitchFamily="49" charset="-122"/>
              </a:rPr>
              <a:t>9.1  并行接口与可编程并行接口芯片8255A及其应用</a:t>
            </a:r>
            <a:endParaRPr lang="zh-CN" altLang="en-US" sz="28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05155" name="文本框 305154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5156" name="文本框 305155"/>
          <p:cNvSpPr txBox="1"/>
          <p:nvPr/>
        </p:nvSpPr>
        <p:spPr>
          <a:xfrm>
            <a:off x="179512" y="908050"/>
            <a:ext cx="8785101" cy="615476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</a:pPr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ACK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：响应信号，低电平有效时，表示外部设备已经将数据从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8255A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取走。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8255A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一方面利用该信号的下降沿使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OBF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变高，通知外部设备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8255A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没有新的数据，另一方面利用该信号的上升沿使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INTR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变高，向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申请发送新的数据。该信号规定</a:t>
            </a:r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  <a:r>
              <a:rPr lang="en-US" altLang="zh-CN" sz="2400" baseline="-250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</a:t>
            </a:r>
            <a:r>
              <a:rPr lang="zh-CN" altLang="en-US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对应</a:t>
            </a:r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r>
              <a:rPr lang="zh-CN" altLang="en-US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口，</a:t>
            </a:r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  <a:r>
              <a:rPr lang="en-US" altLang="zh-CN" sz="2400" baseline="-250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对应</a:t>
            </a:r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r>
              <a:rPr lang="zh-CN" altLang="en-US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口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>
              <a:lnSpc>
                <a:spcPct val="110000"/>
              </a:lnSpc>
            </a:pPr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INTR</a:t>
            </a:r>
            <a:r>
              <a:rPr lang="zh-CN" altLang="en-US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中断请求信号，高电平有效。该信号是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8255A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向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发出的中断请求信号。当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ACK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OBF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同时为高电平时，如果中断允许信号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INTE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有效（即允许中断），则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8255A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使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INTR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有效，作为请求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进行下一次数据输出的中断请求信号。该信号规定</a:t>
            </a:r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  <a:r>
              <a:rPr lang="en-US" altLang="zh-CN" sz="2400" baseline="-250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对应</a:t>
            </a:r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r>
              <a:rPr lang="zh-CN" altLang="en-US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口，</a:t>
            </a:r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  <a:r>
              <a:rPr lang="en-US" altLang="zh-CN" sz="2400" baseline="-250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en-US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对应</a:t>
            </a:r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r>
              <a:rPr lang="zh-CN" altLang="en-US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口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>
              <a:lnSpc>
                <a:spcPct val="110000"/>
              </a:lnSpc>
            </a:pPr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INTE</a:t>
            </a:r>
            <a:r>
              <a:rPr lang="zh-CN" altLang="en-US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中断允许信号。与方式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下的输入情况相同，其置“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1”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和清“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0”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是通过对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  <a:r>
              <a:rPr lang="en-US" altLang="zh-CN" sz="2400" baseline="-25000" dirty="0">
                <a:latin typeface="Arial" panose="020B0604020202020204" pitchFamily="34" charset="0"/>
                <a:ea typeface="宋体" panose="02010600030101010101" pitchFamily="2" charset="-122"/>
              </a:rPr>
              <a:t>6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  <a:r>
              <a:rPr lang="en-US" altLang="zh-CN" sz="2400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的按位置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复位操作完成的。同样，对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  <a:r>
              <a:rPr lang="en-US" altLang="zh-CN" sz="2400" baseline="-25000" dirty="0">
                <a:latin typeface="Arial" panose="020B0604020202020204" pitchFamily="34" charset="0"/>
                <a:ea typeface="宋体" panose="02010600030101010101" pitchFamily="2" charset="-122"/>
              </a:rPr>
              <a:t>6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  <a:r>
              <a:rPr lang="en-US" altLang="zh-CN" sz="2400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的位操作只影响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INTE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的状态，而不会影响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  <a:r>
              <a:rPr lang="en-US" altLang="zh-CN" sz="2400" baseline="-25000" dirty="0">
                <a:latin typeface="Arial" panose="020B0604020202020204" pitchFamily="34" charset="0"/>
                <a:ea typeface="宋体" panose="02010600030101010101" pitchFamily="2" charset="-122"/>
              </a:rPr>
              <a:t>6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  <a:r>
              <a:rPr lang="en-US" altLang="zh-CN" sz="2400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引脚的电平状态。</a:t>
            </a:r>
          </a:p>
          <a:p>
            <a:pPr lvl="0" eaLnBrk="0" hangingPunct="0">
              <a:lnSpc>
                <a:spcPct val="110000"/>
              </a:lnSpc>
            </a:pP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4048A4C-C057-323B-862B-BE60C7F7CCAD}"/>
              </a:ext>
            </a:extLst>
          </p:cNvPr>
          <p:cNvCxnSpPr/>
          <p:nvPr/>
        </p:nvCxnSpPr>
        <p:spPr>
          <a:xfrm>
            <a:off x="357572" y="984250"/>
            <a:ext cx="504056" cy="0"/>
          </a:xfrm>
          <a:prstGeom prst="line">
            <a:avLst/>
          </a:prstGeom>
          <a:ln>
            <a:solidFill>
              <a:srgbClr val="FF00FF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6DC6984-AF21-41FE-B7A0-26F229ED3226}"/>
              </a:ext>
            </a:extLst>
          </p:cNvPr>
          <p:cNvCxnSpPr/>
          <p:nvPr/>
        </p:nvCxnSpPr>
        <p:spPr>
          <a:xfrm>
            <a:off x="7020272" y="1403350"/>
            <a:ext cx="578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682DD8D-C558-40A5-8F56-BA49EBBD9220}"/>
              </a:ext>
            </a:extLst>
          </p:cNvPr>
          <p:cNvCxnSpPr/>
          <p:nvPr/>
        </p:nvCxnSpPr>
        <p:spPr>
          <a:xfrm>
            <a:off x="3347864" y="3413125"/>
            <a:ext cx="5040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93369D7-1DE0-4D71-97F9-9105DC256863}"/>
              </a:ext>
            </a:extLst>
          </p:cNvPr>
          <p:cNvCxnSpPr/>
          <p:nvPr/>
        </p:nvCxnSpPr>
        <p:spPr>
          <a:xfrm>
            <a:off x="4319972" y="3413125"/>
            <a:ext cx="5040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标题 307201"/>
          <p:cNvSpPr>
            <a:spLocks noGrp="1"/>
          </p:cNvSpPr>
          <p:nvPr>
            <p:ph type="title"/>
          </p:nvPr>
        </p:nvSpPr>
        <p:spPr>
          <a:xfrm>
            <a:off x="609600" y="188913"/>
            <a:ext cx="8534400" cy="431800"/>
          </a:xfrm>
          <a:ln/>
        </p:spPr>
        <p:txBody>
          <a:bodyPr anchor="ctr"/>
          <a:lstStyle/>
          <a:p>
            <a:pPr lvl="0"/>
            <a:r>
              <a:rPr lang="en-US" altLang="en-US" sz="2800" b="1">
                <a:solidFill>
                  <a:srgbClr val="FF0000"/>
                </a:solidFill>
                <a:ea typeface="隶书" panose="02010509060101010101" pitchFamily="49" charset="-122"/>
              </a:rPr>
              <a:t>9.1  并行接口与可编程并行接口芯片8255A及其应用</a:t>
            </a:r>
            <a:endParaRPr lang="zh-CN" altLang="en-US" sz="28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07203" name="文本框 307202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7204" name="文本框 307203"/>
          <p:cNvSpPr txBox="1"/>
          <p:nvPr/>
        </p:nvSpPr>
        <p:spPr>
          <a:xfrm>
            <a:off x="250825" y="908050"/>
            <a:ext cx="216093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0" hangingPunct="0"/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（3）方式2</a:t>
            </a:r>
          </a:p>
        </p:txBody>
      </p:sp>
      <p:sp>
        <p:nvSpPr>
          <p:cNvPr id="2" name="矩形 1"/>
          <p:cNvSpPr/>
          <p:nvPr/>
        </p:nvSpPr>
        <p:spPr>
          <a:xfrm>
            <a:off x="943608" y="2052628"/>
            <a:ext cx="2936304" cy="34163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400" b="1" dirty="0" err="1">
                <a:latin typeface="Arial" panose="020B0604020202020204" pitchFamily="34" charset="0"/>
              </a:rPr>
              <a:t>一种</a:t>
            </a:r>
            <a:r>
              <a:rPr lang="en-US" altLang="zh-CN" sz="2400" b="1" dirty="0" err="1">
                <a:solidFill>
                  <a:srgbClr val="FF00FF"/>
                </a:solidFill>
                <a:latin typeface="Arial" panose="020B0604020202020204" pitchFamily="34" charset="0"/>
              </a:rPr>
              <a:t>双向选通</a:t>
            </a:r>
            <a:r>
              <a:rPr lang="en-US" altLang="zh-CN" sz="2400" b="1" dirty="0" err="1">
                <a:latin typeface="Arial" panose="020B0604020202020204" pitchFamily="34" charset="0"/>
              </a:rPr>
              <a:t>输入输出方式，仅</a:t>
            </a:r>
            <a:r>
              <a:rPr lang="en-US" altLang="zh-CN" sz="2400" b="1" dirty="0" err="1">
                <a:solidFill>
                  <a:srgbClr val="FF00FF"/>
                </a:solidFill>
                <a:latin typeface="Arial" panose="020B0604020202020204" pitchFamily="34" charset="0"/>
              </a:rPr>
              <a:t>适用于端口A</a:t>
            </a:r>
            <a:r>
              <a:rPr lang="en-US" altLang="zh-CN" sz="2400" b="1" dirty="0">
                <a:latin typeface="Arial" panose="020B0604020202020204" pitchFamily="34" charset="0"/>
              </a:rPr>
              <a:t>。</a:t>
            </a:r>
            <a:r>
              <a:rPr lang="zh-CN" altLang="en-US" sz="2400" b="1" dirty="0">
                <a:latin typeface="Arial" panose="020B0604020202020204" pitchFamily="34" charset="0"/>
              </a:rPr>
              <a:t>端口</a:t>
            </a:r>
            <a:r>
              <a:rPr lang="en-US" altLang="zh-CN" sz="2400" b="1" dirty="0">
                <a:latin typeface="Arial" panose="020B0604020202020204" pitchFamily="34" charset="0"/>
              </a:rPr>
              <a:t>A同时既作为输入端口也作为输出端口使用。此时，使用端口C中的5位作为端口A的选通、应答信号</a:t>
            </a:r>
            <a:endParaRPr lang="zh-CN" altLang="en-US" sz="2400" b="1" dirty="0"/>
          </a:p>
        </p:txBody>
      </p:sp>
      <p:pic>
        <p:nvPicPr>
          <p:cNvPr id="7" name="图片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1412875"/>
            <a:ext cx="4023995" cy="38144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标题 308225"/>
          <p:cNvSpPr>
            <a:spLocks noGrp="1"/>
          </p:cNvSpPr>
          <p:nvPr>
            <p:ph type="title"/>
          </p:nvPr>
        </p:nvSpPr>
        <p:spPr>
          <a:xfrm>
            <a:off x="609600" y="188913"/>
            <a:ext cx="8534400" cy="431800"/>
          </a:xfrm>
          <a:ln/>
        </p:spPr>
        <p:txBody>
          <a:bodyPr anchor="ctr"/>
          <a:lstStyle/>
          <a:p>
            <a:pPr lvl="0"/>
            <a:r>
              <a:rPr lang="en-US" altLang="en-US" sz="2800" b="1">
                <a:solidFill>
                  <a:srgbClr val="FF0000"/>
                </a:solidFill>
                <a:ea typeface="隶书" panose="02010509060101010101" pitchFamily="49" charset="-122"/>
              </a:rPr>
              <a:t>9.1  并行接口与可编程并行接口芯片8255A及其应用</a:t>
            </a:r>
            <a:endParaRPr lang="zh-CN" altLang="en-US" sz="28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08227" name="文本框 308226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8228" name="文本框 308227"/>
          <p:cNvSpPr txBox="1"/>
          <p:nvPr/>
        </p:nvSpPr>
        <p:spPr>
          <a:xfrm>
            <a:off x="323528" y="854888"/>
            <a:ext cx="8713788" cy="120032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en-US" altLang="zh-CN" sz="2400" b="1" dirty="0">
                <a:latin typeface="Arial" panose="020B0604020202020204" pitchFamily="34" charset="0"/>
              </a:rPr>
              <a:t>8255A</a:t>
            </a:r>
            <a:r>
              <a:rPr lang="zh-CN" altLang="en-US" sz="2400" b="1" dirty="0">
                <a:latin typeface="Arial" panose="020B0604020202020204" pitchFamily="34" charset="0"/>
              </a:rPr>
              <a:t>工作于方式</a:t>
            </a:r>
            <a:r>
              <a:rPr lang="en-US" altLang="zh-CN" sz="2400" b="1" dirty="0">
                <a:latin typeface="Arial" panose="020B0604020202020204" pitchFamily="34" charset="0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</a:rPr>
              <a:t>或方式</a:t>
            </a:r>
            <a:r>
              <a:rPr lang="en-US" altLang="zh-CN" sz="2400" b="1" dirty="0">
                <a:latin typeface="Arial" panose="020B0604020202020204" pitchFamily="34" charset="0"/>
              </a:rPr>
              <a:t>2</a:t>
            </a:r>
            <a:r>
              <a:rPr lang="zh-CN" altLang="en-US" sz="2400" b="1" dirty="0">
                <a:latin typeface="Arial" panose="020B0604020202020204" pitchFamily="34" charset="0"/>
              </a:rPr>
              <a:t>时，因为</a:t>
            </a:r>
            <a:r>
              <a:rPr lang="en-US" altLang="zh-CN" sz="2400" b="1" dirty="0">
                <a:latin typeface="Arial" panose="020B0604020202020204" pitchFamily="34" charset="0"/>
              </a:rPr>
              <a:t>C</a:t>
            </a:r>
            <a:r>
              <a:rPr lang="zh-CN" altLang="en-US" sz="2400" b="1" dirty="0">
                <a:latin typeface="Arial" panose="020B0604020202020204" pitchFamily="34" charset="0"/>
              </a:rPr>
              <a:t>口的某些位是作为固定联络信号的，所以可以通过读取</a:t>
            </a:r>
            <a:r>
              <a:rPr lang="en-US" altLang="zh-CN" sz="2400" b="1" dirty="0">
                <a:latin typeface="Arial" panose="020B0604020202020204" pitchFamily="34" charset="0"/>
              </a:rPr>
              <a:t>C</a:t>
            </a:r>
            <a:r>
              <a:rPr lang="zh-CN" altLang="en-US" sz="2400" b="1" dirty="0">
                <a:latin typeface="Arial" panose="020B0604020202020204" pitchFamily="34" charset="0"/>
              </a:rPr>
              <a:t>口的内容来测试或检验外部设备的状态。不同的情况下</a:t>
            </a:r>
            <a:r>
              <a:rPr lang="en-US" altLang="zh-CN" sz="2400" b="1" dirty="0">
                <a:latin typeface="Arial" panose="020B0604020202020204" pitchFamily="34" charset="0"/>
              </a:rPr>
              <a:t>C</a:t>
            </a:r>
            <a:r>
              <a:rPr lang="zh-CN" altLang="en-US" sz="2400" b="1" dirty="0">
                <a:latin typeface="Arial" panose="020B0604020202020204" pitchFamily="34" charset="0"/>
              </a:rPr>
              <a:t>口的状态字格式不同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2204864"/>
            <a:ext cx="5496558" cy="3798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标题 309249"/>
          <p:cNvSpPr>
            <a:spLocks noGrp="1"/>
          </p:cNvSpPr>
          <p:nvPr>
            <p:ph type="title"/>
          </p:nvPr>
        </p:nvSpPr>
        <p:spPr>
          <a:xfrm>
            <a:off x="609600" y="188913"/>
            <a:ext cx="8534400" cy="431800"/>
          </a:xfrm>
          <a:ln/>
        </p:spPr>
        <p:txBody>
          <a:bodyPr anchor="ctr"/>
          <a:lstStyle/>
          <a:p>
            <a:pPr lvl="0"/>
            <a:r>
              <a:rPr lang="en-US" altLang="en-US" sz="2800" b="1">
                <a:solidFill>
                  <a:srgbClr val="FF0000"/>
                </a:solidFill>
                <a:ea typeface="隶书" panose="02010509060101010101" pitchFamily="49" charset="-122"/>
              </a:rPr>
              <a:t>9.1  并行接口与可编程并行接口芯片8255A及其应用</a:t>
            </a:r>
            <a:endParaRPr lang="zh-CN" altLang="en-US" sz="28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09251" name="文本框 309250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9252" name="文本框 309251"/>
          <p:cNvSpPr txBox="1"/>
          <p:nvPr/>
        </p:nvSpPr>
        <p:spPr>
          <a:xfrm>
            <a:off x="618586" y="1196752"/>
            <a:ext cx="8129878" cy="304698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0" hangingPunct="0"/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．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8255A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的控制字</a:t>
            </a:r>
            <a:endParaRPr lang="en-US" altLang="zh-CN" sz="24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lvl="0" eaLnBrk="0" hangingPunct="0"/>
            <a:r>
              <a:rPr lang="zh-CN" altLang="en-US" sz="2400" b="1" dirty="0">
                <a:latin typeface="Arial" panose="020B0604020202020204" pitchFamily="34" charset="0"/>
              </a:rPr>
              <a:t>       </a:t>
            </a:r>
            <a:r>
              <a:rPr lang="en-US" altLang="zh-CN" sz="2400" b="1" dirty="0">
                <a:latin typeface="Arial" panose="020B0604020202020204" pitchFamily="34" charset="0"/>
              </a:rPr>
              <a:t>8255A</a:t>
            </a:r>
            <a:r>
              <a:rPr lang="zh-CN" altLang="en-US" sz="2400" b="1" dirty="0">
                <a:latin typeface="Arial" panose="020B0604020202020204" pitchFamily="34" charset="0"/>
              </a:rPr>
              <a:t>有两个控制字：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lvl="0" eaLnBrk="0" hangingPunct="0"/>
            <a:r>
              <a:rPr lang="en-US" altLang="zh-CN" sz="2400" b="1" dirty="0">
                <a:latin typeface="Arial" panose="020B0604020202020204" pitchFamily="34" charset="0"/>
              </a:rPr>
              <a:t>       </a:t>
            </a:r>
            <a:r>
              <a:rPr lang="zh-CN" altLang="en-US" sz="2400" b="1" dirty="0">
                <a:latin typeface="Arial" panose="020B0604020202020204" pitchFamily="34" charset="0"/>
              </a:rPr>
              <a:t>工作方式控制字、</a:t>
            </a:r>
            <a:r>
              <a:rPr lang="en-US" altLang="zh-CN" sz="2400" b="1" dirty="0">
                <a:latin typeface="Arial" panose="020B0604020202020204" pitchFamily="34" charset="0"/>
              </a:rPr>
              <a:t>  </a:t>
            </a:r>
            <a:r>
              <a:rPr lang="zh-CN" altLang="en-US" sz="2400" b="1" dirty="0">
                <a:latin typeface="Arial" panose="020B0604020202020204" pitchFamily="34" charset="0"/>
              </a:rPr>
              <a:t>对</a:t>
            </a:r>
            <a:r>
              <a:rPr lang="en-US" altLang="zh-CN" sz="2400" b="1" dirty="0">
                <a:latin typeface="Arial" panose="020B0604020202020204" pitchFamily="34" charset="0"/>
              </a:rPr>
              <a:t>C</a:t>
            </a:r>
            <a:r>
              <a:rPr lang="zh-CN" altLang="en-US" sz="2400" b="1" dirty="0">
                <a:latin typeface="Arial" panose="020B0604020202020204" pitchFamily="34" charset="0"/>
              </a:rPr>
              <a:t>口的按位置</a:t>
            </a:r>
            <a:r>
              <a:rPr lang="en-US" altLang="zh-CN" sz="2400" b="1" dirty="0">
                <a:latin typeface="Arial" panose="020B0604020202020204" pitchFamily="34" charset="0"/>
              </a:rPr>
              <a:t>/</a:t>
            </a:r>
            <a:r>
              <a:rPr lang="zh-CN" altLang="en-US" sz="2400" b="1" dirty="0">
                <a:latin typeface="Arial" panose="020B0604020202020204" pitchFamily="34" charset="0"/>
              </a:rPr>
              <a:t>复位控制字。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lvl="0" eaLnBrk="0" hangingPunct="0"/>
            <a:r>
              <a:rPr lang="en-US" altLang="zh-CN" sz="2400" b="1" dirty="0">
                <a:latin typeface="Arial" panose="020B0604020202020204" pitchFamily="34" charset="0"/>
              </a:rPr>
              <a:t>       </a:t>
            </a:r>
            <a:r>
              <a:rPr lang="zh-CN" altLang="en-US" sz="2400" b="1" dirty="0">
                <a:latin typeface="Arial" panose="020B0604020202020204" pitchFamily="34" charset="0"/>
              </a:rPr>
              <a:t>两个控制字共用一个端口地址，用标志位区分。</a:t>
            </a:r>
          </a:p>
          <a:p>
            <a:pPr lvl="0" eaLnBrk="0" hangingPunct="0"/>
            <a:endParaRPr lang="en-US" altLang="zh-CN" sz="2400" b="1" dirty="0">
              <a:solidFill>
                <a:srgbClr val="FF00FF"/>
              </a:solidFill>
              <a:latin typeface="Arial" panose="020B0604020202020204" pitchFamily="34" charset="0"/>
            </a:endParaRPr>
          </a:p>
          <a:p>
            <a:pPr lvl="0" eaLnBrk="0" hangingPunct="0"/>
            <a:endParaRPr lang="en-US" altLang="zh-CN" sz="2400" b="1" dirty="0">
              <a:solidFill>
                <a:srgbClr val="FF00FF"/>
              </a:solidFill>
              <a:latin typeface="Arial" panose="020B0604020202020204" pitchFamily="34" charset="0"/>
            </a:endParaRPr>
          </a:p>
          <a:p>
            <a:pPr lvl="0" eaLnBrk="0" hangingPunct="0"/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（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</a:rPr>
              <a:t>1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）工作方式控制字</a:t>
            </a:r>
          </a:p>
          <a:p>
            <a:pPr lvl="0" eaLnBrk="0" hangingPunct="0"/>
            <a:r>
              <a:rPr lang="zh-CN" altLang="en-US" sz="2400" b="1" dirty="0">
                <a:latin typeface="Arial" panose="020B0604020202020204" pitchFamily="34" charset="0"/>
              </a:rPr>
              <a:t>         设置</a:t>
            </a:r>
            <a:r>
              <a:rPr lang="en-US" altLang="zh-CN" sz="2400" b="1" dirty="0">
                <a:latin typeface="Arial" panose="020B0604020202020204" pitchFamily="34" charset="0"/>
              </a:rPr>
              <a:t>8255A</a:t>
            </a:r>
            <a:r>
              <a:rPr lang="zh-CN" altLang="en-US" sz="2400" b="1" dirty="0">
                <a:latin typeface="Arial" panose="020B0604020202020204" pitchFamily="34" charset="0"/>
              </a:rPr>
              <a:t>各数据端口的工作方式及数据传送方向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标题 310273"/>
          <p:cNvSpPr>
            <a:spLocks noGrp="1"/>
          </p:cNvSpPr>
          <p:nvPr>
            <p:ph type="title"/>
          </p:nvPr>
        </p:nvSpPr>
        <p:spPr>
          <a:xfrm>
            <a:off x="609600" y="188913"/>
            <a:ext cx="8534400" cy="431800"/>
          </a:xfrm>
          <a:ln/>
        </p:spPr>
        <p:txBody>
          <a:bodyPr anchor="ctr"/>
          <a:lstStyle/>
          <a:p>
            <a:pPr lvl="0"/>
            <a:r>
              <a:rPr lang="en-US" altLang="en-US" sz="2800" b="1">
                <a:solidFill>
                  <a:srgbClr val="FF0000"/>
                </a:solidFill>
                <a:ea typeface="隶书" panose="02010509060101010101" pitchFamily="49" charset="-122"/>
              </a:rPr>
              <a:t>9.1  并行接口与可编程并行接口芯片8255A及其应用</a:t>
            </a:r>
            <a:endParaRPr lang="zh-CN" altLang="en-US" sz="28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10275" name="文本框 310274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0276" name="文本框 310275"/>
          <p:cNvSpPr txBox="1"/>
          <p:nvPr/>
        </p:nvSpPr>
        <p:spPr>
          <a:xfrm>
            <a:off x="609600" y="3068960"/>
            <a:ext cx="8354888" cy="317804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</a:pP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</a:rPr>
              <a:t>各位的功能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</a:p>
          <a:p>
            <a:pPr lvl="0" eaLnBrk="0" hangingPunct="0">
              <a:lnSpc>
                <a:spcPct val="110000"/>
              </a:lnSpc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：控制字</a:t>
            </a:r>
            <a:r>
              <a:rPr lang="en-US" altLang="zh-CN" sz="20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特征位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0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必须为1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，表示控制字为工作方式控制字。</a:t>
            </a:r>
          </a:p>
          <a:p>
            <a:pPr lvl="0" eaLnBrk="0" hangingPunct="0">
              <a:lnSpc>
                <a:spcPct val="110000"/>
              </a:lnSpc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6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～D</a:t>
            </a:r>
            <a:r>
              <a:rPr lang="en-US" altLang="zh-CN" sz="20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：端口A的工作方式选择。D</a:t>
            </a:r>
            <a:r>
              <a:rPr lang="en-US" altLang="zh-CN" sz="20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6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=00为方式0，D</a:t>
            </a:r>
            <a:r>
              <a:rPr lang="en-US" altLang="zh-CN" sz="20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6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=01为方式1，D</a:t>
            </a:r>
            <a:r>
              <a:rPr lang="en-US" altLang="zh-CN" sz="20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6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=1×为方式2。</a:t>
            </a:r>
          </a:p>
          <a:p>
            <a:pPr lvl="0" eaLnBrk="0" hangingPunct="0">
              <a:lnSpc>
                <a:spcPct val="110000"/>
              </a:lnSpc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：端口A的数据传送方向选择。D</a:t>
            </a:r>
            <a:r>
              <a:rPr lang="en-US" altLang="zh-CN" sz="20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=0为输出，D</a:t>
            </a:r>
            <a:r>
              <a:rPr lang="en-US" altLang="zh-CN" sz="20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=1为输入。</a:t>
            </a:r>
          </a:p>
          <a:p>
            <a:pPr lvl="0" eaLnBrk="0" hangingPunct="0">
              <a:lnSpc>
                <a:spcPct val="110000"/>
              </a:lnSpc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：端口C高4位的数据传送方向选择。D</a:t>
            </a:r>
            <a:r>
              <a:rPr lang="en-US" altLang="zh-CN" sz="20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=0输出，D</a:t>
            </a:r>
            <a:r>
              <a:rPr lang="en-US" altLang="zh-CN" sz="20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=1输入。</a:t>
            </a:r>
          </a:p>
          <a:p>
            <a:pPr lvl="0" eaLnBrk="0" hangingPunct="0">
              <a:lnSpc>
                <a:spcPct val="110000"/>
              </a:lnSpc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：端口B工作方式选择。D</a:t>
            </a:r>
            <a:r>
              <a:rPr lang="en-US" altLang="zh-CN" sz="20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=0表示方式0，D</a:t>
            </a:r>
            <a:r>
              <a:rPr lang="en-US" altLang="zh-CN" sz="20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=1表示方式1</a:t>
            </a:r>
          </a:p>
          <a:p>
            <a:pPr lvl="0" eaLnBrk="0" hangingPunct="0">
              <a:lnSpc>
                <a:spcPct val="110000"/>
              </a:lnSpc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：端口B的数据传送方向选择。D</a:t>
            </a:r>
            <a:r>
              <a:rPr lang="en-US" altLang="zh-CN" sz="20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=0为输出，D</a:t>
            </a:r>
            <a:r>
              <a:rPr lang="en-US" altLang="zh-CN" sz="20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=1为输入。</a:t>
            </a:r>
          </a:p>
          <a:p>
            <a:pPr lvl="0" eaLnBrk="0" hangingPunct="0">
              <a:lnSpc>
                <a:spcPct val="110000"/>
              </a:lnSpc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：端口C低4位的数据传送方向选择。D</a:t>
            </a:r>
            <a:r>
              <a:rPr lang="en-US" altLang="zh-CN" sz="20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=0输出，D</a:t>
            </a:r>
            <a:r>
              <a:rPr lang="en-US" altLang="zh-CN" sz="20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=1输入。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98A2FB4C-0E4F-E24B-751E-A8779DC51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4160" y="803554"/>
            <a:ext cx="5163018" cy="2293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标题 311297"/>
          <p:cNvSpPr>
            <a:spLocks noGrp="1"/>
          </p:cNvSpPr>
          <p:nvPr>
            <p:ph type="title"/>
          </p:nvPr>
        </p:nvSpPr>
        <p:spPr>
          <a:xfrm>
            <a:off x="609600" y="188913"/>
            <a:ext cx="8534400" cy="431800"/>
          </a:xfrm>
          <a:ln/>
        </p:spPr>
        <p:txBody>
          <a:bodyPr anchor="ctr"/>
          <a:lstStyle/>
          <a:p>
            <a:pPr lvl="0"/>
            <a:r>
              <a:rPr lang="en-US" altLang="en-US" sz="2800" b="1">
                <a:solidFill>
                  <a:srgbClr val="FF0000"/>
                </a:solidFill>
                <a:ea typeface="隶书" panose="02010509060101010101" pitchFamily="49" charset="-122"/>
              </a:rPr>
              <a:t>9.1  并行接口与可编程并行接口芯片8255A及其应用</a:t>
            </a:r>
            <a:endParaRPr lang="zh-CN" altLang="en-US" sz="28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11299" name="文本框 311298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1300" name="文本框 311299"/>
          <p:cNvSpPr txBox="1"/>
          <p:nvPr/>
        </p:nvSpPr>
        <p:spPr>
          <a:xfrm>
            <a:off x="250825" y="764704"/>
            <a:ext cx="8713788" cy="83099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</a:rPr>
              <a:t>2）置位/</a:t>
            </a:r>
            <a:r>
              <a:rPr lang="en-US" altLang="zh-CN" sz="2400" b="1" dirty="0" err="1">
                <a:solidFill>
                  <a:srgbClr val="FF00FF"/>
                </a:solidFill>
                <a:latin typeface="Arial" panose="020B0604020202020204" pitchFamily="34" charset="0"/>
              </a:rPr>
              <a:t>复位控制字</a:t>
            </a:r>
            <a:endParaRPr lang="en-US" altLang="zh-CN" sz="2400" b="1" dirty="0">
              <a:solidFill>
                <a:srgbClr val="FF00FF"/>
              </a:solidFill>
              <a:latin typeface="Arial" panose="020B0604020202020204" pitchFamily="34" charset="0"/>
            </a:endParaRPr>
          </a:p>
          <a:p>
            <a:pPr lvl="0" eaLnBrk="0" hangingPunct="0"/>
            <a:r>
              <a:rPr lang="en-US" altLang="zh-CN" sz="2400" b="1" dirty="0" err="1">
                <a:latin typeface="Arial" panose="020B0604020202020204" pitchFamily="34" charset="0"/>
              </a:rPr>
              <a:t>指定端口C的某一位输出为</a:t>
            </a:r>
            <a:r>
              <a:rPr lang="zh-CN" altLang="en-US" sz="2400" b="1" dirty="0">
                <a:latin typeface="Arial" panose="020B0604020202020204" pitchFamily="34" charset="0"/>
              </a:rPr>
              <a:t>高</a:t>
            </a:r>
            <a:r>
              <a:rPr lang="en-US" altLang="zh-CN" sz="2400" b="1" dirty="0" err="1">
                <a:latin typeface="Arial" panose="020B0604020202020204" pitchFamily="34" charset="0"/>
              </a:rPr>
              <a:t>电平（置位</a:t>
            </a:r>
            <a:r>
              <a:rPr lang="en-US" altLang="zh-CN" sz="2400" b="1" dirty="0">
                <a:latin typeface="Arial" panose="020B0604020202020204" pitchFamily="34" charset="0"/>
              </a:rPr>
              <a:t>）</a:t>
            </a:r>
            <a:r>
              <a:rPr lang="zh-CN" altLang="en-US" sz="2400" b="1" dirty="0">
                <a:latin typeface="Arial" panose="020B0604020202020204" pitchFamily="34" charset="0"/>
              </a:rPr>
              <a:t>或</a:t>
            </a:r>
            <a:r>
              <a:rPr lang="en-US" altLang="zh-CN" sz="2400" b="1" dirty="0" err="1">
                <a:latin typeface="Arial" panose="020B0604020202020204" pitchFamily="34" charset="0"/>
              </a:rPr>
              <a:t>低电平（复位</a:t>
            </a:r>
            <a:r>
              <a:rPr lang="zh-CN" altLang="en-US" sz="2400" b="1" dirty="0">
                <a:latin typeface="Arial" panose="020B0604020202020204" pitchFamily="34" charset="0"/>
              </a:rPr>
              <a:t>）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700501"/>
            <a:ext cx="5400600" cy="1679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文本框 312323"/>
          <p:cNvSpPr txBox="1"/>
          <p:nvPr/>
        </p:nvSpPr>
        <p:spPr>
          <a:xfrm>
            <a:off x="529444" y="3514283"/>
            <a:ext cx="8156550" cy="141756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</a:pPr>
            <a:r>
              <a:rPr lang="en-US" altLang="zh-CN" sz="2000" b="1" dirty="0">
                <a:latin typeface="Arial" panose="020B0604020202020204" pitchFamily="34" charset="0"/>
              </a:rPr>
              <a:t>D7</a:t>
            </a:r>
            <a:r>
              <a:rPr lang="zh-CN" altLang="en-US" sz="2000" b="1" dirty="0">
                <a:latin typeface="Arial" panose="020B0604020202020204" pitchFamily="34" charset="0"/>
              </a:rPr>
              <a:t>：特征位，必须为</a:t>
            </a:r>
            <a:r>
              <a:rPr lang="en-US" altLang="zh-CN" sz="2000" b="1" dirty="0">
                <a:latin typeface="Arial" panose="020B0604020202020204" pitchFamily="34" charset="0"/>
              </a:rPr>
              <a:t>0</a:t>
            </a:r>
            <a:r>
              <a:rPr lang="zh-CN" altLang="en-US" sz="2000" b="1" dirty="0">
                <a:latin typeface="Arial" panose="020B0604020202020204" pitchFamily="34" charset="0"/>
              </a:rPr>
              <a:t>，表示控制字是</a:t>
            </a:r>
            <a:r>
              <a:rPr lang="en-US" altLang="zh-CN" sz="2000" b="1" dirty="0">
                <a:latin typeface="Arial" panose="020B0604020202020204" pitchFamily="34" charset="0"/>
              </a:rPr>
              <a:t>C</a:t>
            </a:r>
            <a:r>
              <a:rPr lang="zh-CN" altLang="en-US" sz="2000" b="1" dirty="0">
                <a:latin typeface="Arial" panose="020B0604020202020204" pitchFamily="34" charset="0"/>
              </a:rPr>
              <a:t>口的置位</a:t>
            </a:r>
            <a:r>
              <a:rPr lang="en-US" altLang="zh-CN" sz="2000" b="1" dirty="0">
                <a:latin typeface="Arial" panose="020B0604020202020204" pitchFamily="34" charset="0"/>
              </a:rPr>
              <a:t>/</a:t>
            </a:r>
            <a:r>
              <a:rPr lang="zh-CN" altLang="en-US" sz="2000" b="1" dirty="0">
                <a:latin typeface="Arial" panose="020B0604020202020204" pitchFamily="34" charset="0"/>
              </a:rPr>
              <a:t>复位控制字。</a:t>
            </a:r>
          </a:p>
          <a:p>
            <a:pPr lvl="0" eaLnBrk="0" hangingPunct="0">
              <a:lnSpc>
                <a:spcPct val="110000"/>
              </a:lnSpc>
            </a:pPr>
            <a:r>
              <a:rPr lang="en-US" altLang="zh-CN" sz="2000" b="1" dirty="0">
                <a:latin typeface="Arial" panose="020B0604020202020204" pitchFamily="34" charset="0"/>
              </a:rPr>
              <a:t>D6</a:t>
            </a:r>
            <a:r>
              <a:rPr lang="zh-CN" altLang="en-US" sz="2000" b="1" dirty="0">
                <a:latin typeface="Arial" panose="020B0604020202020204" pitchFamily="34" charset="0"/>
              </a:rPr>
              <a:t>～</a:t>
            </a:r>
            <a:r>
              <a:rPr lang="en-US" altLang="zh-CN" sz="2000" b="1" dirty="0">
                <a:latin typeface="Arial" panose="020B0604020202020204" pitchFamily="34" charset="0"/>
              </a:rPr>
              <a:t>D4</a:t>
            </a:r>
            <a:r>
              <a:rPr lang="zh-CN" altLang="en-US" sz="2000" b="1" dirty="0">
                <a:latin typeface="Arial" panose="020B0604020202020204" pitchFamily="34" charset="0"/>
              </a:rPr>
              <a:t>：未用，可以为任意值。</a:t>
            </a:r>
          </a:p>
          <a:p>
            <a:pPr lvl="0" eaLnBrk="0" hangingPunct="0">
              <a:lnSpc>
                <a:spcPct val="110000"/>
              </a:lnSpc>
            </a:pPr>
            <a:r>
              <a:rPr lang="en-US" altLang="zh-CN" sz="2000" b="1" dirty="0">
                <a:latin typeface="Arial" panose="020B0604020202020204" pitchFamily="34" charset="0"/>
              </a:rPr>
              <a:t>D3</a:t>
            </a:r>
            <a:r>
              <a:rPr lang="zh-CN" altLang="en-US" sz="2000" b="1" dirty="0">
                <a:latin typeface="Arial" panose="020B0604020202020204" pitchFamily="34" charset="0"/>
              </a:rPr>
              <a:t>～</a:t>
            </a:r>
            <a:r>
              <a:rPr lang="en-US" altLang="zh-CN" sz="2000" b="1" dirty="0">
                <a:latin typeface="Arial" panose="020B0604020202020204" pitchFamily="34" charset="0"/>
              </a:rPr>
              <a:t>D1</a:t>
            </a:r>
            <a:r>
              <a:rPr lang="zh-CN" altLang="en-US" sz="2000" b="1" dirty="0">
                <a:latin typeface="Arial" panose="020B0604020202020204" pitchFamily="34" charset="0"/>
              </a:rPr>
              <a:t>：位选择，这</a:t>
            </a:r>
            <a:r>
              <a:rPr lang="en-US" altLang="zh-CN" sz="2000" b="1" dirty="0">
                <a:latin typeface="Arial" panose="020B0604020202020204" pitchFamily="34" charset="0"/>
              </a:rPr>
              <a:t>3</a:t>
            </a:r>
            <a:r>
              <a:rPr lang="zh-CN" altLang="en-US" sz="2000" b="1" dirty="0">
                <a:latin typeface="Arial" panose="020B0604020202020204" pitchFamily="34" charset="0"/>
              </a:rPr>
              <a:t>位组合后可选择</a:t>
            </a:r>
            <a:r>
              <a:rPr lang="en-US" altLang="zh-CN" sz="2000" b="1" dirty="0">
                <a:latin typeface="Arial" panose="020B0604020202020204" pitchFamily="34" charset="0"/>
              </a:rPr>
              <a:t>PC0</a:t>
            </a:r>
            <a:r>
              <a:rPr lang="zh-CN" altLang="en-US" sz="2000" b="1" dirty="0">
                <a:latin typeface="Arial" panose="020B0604020202020204" pitchFamily="34" charset="0"/>
              </a:rPr>
              <a:t>～</a:t>
            </a:r>
            <a:r>
              <a:rPr lang="en-US" altLang="zh-CN" sz="2000" b="1" dirty="0">
                <a:latin typeface="Arial" panose="020B0604020202020204" pitchFamily="34" charset="0"/>
              </a:rPr>
              <a:t>PC7</a:t>
            </a:r>
            <a:r>
              <a:rPr lang="zh-CN" altLang="en-US" sz="2000" b="1" dirty="0">
                <a:latin typeface="Arial" panose="020B0604020202020204" pitchFamily="34" charset="0"/>
              </a:rPr>
              <a:t>中的一位。</a:t>
            </a:r>
          </a:p>
          <a:p>
            <a:pPr lvl="0" eaLnBrk="0" hangingPunct="0">
              <a:lnSpc>
                <a:spcPct val="110000"/>
              </a:lnSpc>
            </a:pPr>
            <a:r>
              <a:rPr lang="en-US" altLang="zh-CN" sz="2000" b="1" dirty="0">
                <a:latin typeface="Arial" panose="020B0604020202020204" pitchFamily="34" charset="0"/>
              </a:rPr>
              <a:t>D0</a:t>
            </a:r>
            <a:r>
              <a:rPr lang="zh-CN" altLang="en-US" sz="2000" b="1" dirty="0">
                <a:latin typeface="Arial" panose="020B0604020202020204" pitchFamily="34" charset="0"/>
              </a:rPr>
              <a:t>：对</a:t>
            </a:r>
            <a:r>
              <a:rPr lang="en-US" altLang="zh-CN" sz="2000" b="1" dirty="0">
                <a:latin typeface="Arial" panose="020B0604020202020204" pitchFamily="34" charset="0"/>
              </a:rPr>
              <a:t>D3~D1</a:t>
            </a:r>
            <a:r>
              <a:rPr lang="zh-CN" altLang="en-US" sz="2000" b="1" dirty="0">
                <a:latin typeface="Arial" panose="020B0604020202020204" pitchFamily="34" charset="0"/>
              </a:rPr>
              <a:t>所选择的位是置位（“</a:t>
            </a:r>
            <a:r>
              <a:rPr lang="en-US" altLang="zh-CN" sz="2000" b="1" dirty="0">
                <a:latin typeface="Arial" panose="020B0604020202020204" pitchFamily="34" charset="0"/>
              </a:rPr>
              <a:t>1”</a:t>
            </a:r>
            <a:r>
              <a:rPr lang="zh-CN" altLang="en-US" sz="2000" b="1" dirty="0">
                <a:latin typeface="Arial" panose="020B0604020202020204" pitchFamily="34" charset="0"/>
              </a:rPr>
              <a:t>）还是复位（“</a:t>
            </a:r>
            <a:r>
              <a:rPr lang="en-US" altLang="zh-CN" sz="2000" b="1" dirty="0">
                <a:latin typeface="Arial" panose="020B0604020202020204" pitchFamily="34" charset="0"/>
              </a:rPr>
              <a:t>0”</a:t>
            </a:r>
            <a:r>
              <a:rPr lang="zh-CN" altLang="en-US" sz="2000" b="1" dirty="0">
                <a:latin typeface="Arial" panose="020B0604020202020204" pitchFamily="34" charset="0"/>
              </a:rPr>
              <a:t>）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8" name="矩形 7"/>
          <p:cNvSpPr/>
          <p:nvPr/>
        </p:nvSpPr>
        <p:spPr>
          <a:xfrm>
            <a:off x="547595" y="5013176"/>
            <a:ext cx="8012534" cy="870046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 wrap="square" anchor="ctr">
            <a:spAutoFit/>
          </a:bodyPr>
          <a:lstStyle/>
          <a:p>
            <a:pPr lvl="0">
              <a:lnSpc>
                <a:spcPct val="110000"/>
              </a:lnSpc>
            </a:pPr>
            <a:r>
              <a:rPr lang="zh-CN" altLang="en-US" sz="2400" b="1" dirty="0">
                <a:latin typeface="Arial" panose="020B0604020202020204" pitchFamily="34" charset="0"/>
              </a:rPr>
              <a:t>示例：把</a:t>
            </a:r>
            <a:r>
              <a:rPr lang="en-US" altLang="zh-CN" sz="2400" b="1" dirty="0">
                <a:latin typeface="Arial" panose="020B0604020202020204" pitchFamily="34" charset="0"/>
              </a:rPr>
              <a:t>C</a:t>
            </a:r>
            <a:r>
              <a:rPr lang="zh-CN" altLang="en-US" sz="2400" b="1" dirty="0">
                <a:latin typeface="Arial" panose="020B0604020202020204" pitchFamily="34" charset="0"/>
              </a:rPr>
              <a:t>口的</a:t>
            </a:r>
            <a:r>
              <a:rPr lang="en-US" altLang="zh-CN" sz="2400" b="1" dirty="0">
                <a:latin typeface="Arial" panose="020B0604020202020204" pitchFamily="34" charset="0"/>
              </a:rPr>
              <a:t>PC2</a:t>
            </a:r>
            <a:r>
              <a:rPr lang="zh-CN" altLang="en-US" sz="2400" b="1" dirty="0">
                <a:latin typeface="Arial" panose="020B0604020202020204" pitchFamily="34" charset="0"/>
              </a:rPr>
              <a:t>置成高电平输出，则命令字为：</a:t>
            </a:r>
            <a:r>
              <a:rPr lang="en-US" altLang="zh-CN" sz="2400" b="1" dirty="0">
                <a:latin typeface="Arial" panose="020B0604020202020204" pitchFamily="34" charset="0"/>
              </a:rPr>
              <a:t>00000101B</a:t>
            </a:r>
            <a:r>
              <a:rPr lang="zh-CN" altLang="en-US" sz="2400" b="1" dirty="0">
                <a:latin typeface="Arial" panose="020B0604020202020204" pitchFamily="34" charset="0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</a:rPr>
              <a:t>05H</a:t>
            </a:r>
            <a:r>
              <a:rPr lang="zh-CN" altLang="en-US" sz="2400" b="1" dirty="0">
                <a:latin typeface="Arial" panose="020B0604020202020204" pitchFamily="34" charset="0"/>
              </a:rPr>
              <a:t>）。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标题 313345"/>
          <p:cNvSpPr>
            <a:spLocks noGrp="1"/>
          </p:cNvSpPr>
          <p:nvPr>
            <p:ph type="title"/>
          </p:nvPr>
        </p:nvSpPr>
        <p:spPr>
          <a:xfrm>
            <a:off x="609600" y="188913"/>
            <a:ext cx="8534400" cy="431800"/>
          </a:xfrm>
          <a:ln/>
        </p:spPr>
        <p:txBody>
          <a:bodyPr anchor="ctr"/>
          <a:lstStyle/>
          <a:p>
            <a:pPr lvl="0"/>
            <a:r>
              <a:rPr lang="en-US" altLang="en-US" sz="2800" b="1">
                <a:solidFill>
                  <a:srgbClr val="FF0000"/>
                </a:solidFill>
                <a:ea typeface="隶书" panose="02010509060101010101" pitchFamily="49" charset="-122"/>
              </a:rPr>
              <a:t>9.1  并行接口与可编程并行接口芯片8255A及其应用</a:t>
            </a:r>
            <a:endParaRPr lang="zh-CN" altLang="en-US" sz="28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13347" name="文本框 313346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3348" name="文本框 313347"/>
          <p:cNvSpPr txBox="1"/>
          <p:nvPr/>
        </p:nvSpPr>
        <p:spPr>
          <a:xfrm>
            <a:off x="250825" y="764704"/>
            <a:ext cx="8713788" cy="15696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四、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8255A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应用举例</a:t>
            </a:r>
            <a:endParaRPr lang="en-US" altLang="zh-CN" sz="2400" b="1" dirty="0">
              <a:solidFill>
                <a:srgbClr val="FF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【例9-1】 </a:t>
            </a:r>
            <a:r>
              <a:rPr lang="en-US" altLang="zh-CN" sz="2400" b="1" dirty="0">
                <a:latin typeface="Arial" panose="020B0604020202020204" pitchFamily="34" charset="0"/>
              </a:rPr>
              <a:t>设8255A</a:t>
            </a:r>
            <a:r>
              <a:rPr lang="zh-CN" altLang="en-US" sz="2400" b="1" dirty="0">
                <a:latin typeface="Arial" panose="020B0604020202020204" pitchFamily="34" charset="0"/>
              </a:rPr>
              <a:t>所有端口</a:t>
            </a:r>
            <a:r>
              <a:rPr lang="en-US" altLang="zh-CN" sz="2400" b="1" dirty="0">
                <a:latin typeface="Arial" panose="020B0604020202020204" pitchFamily="34" charset="0"/>
              </a:rPr>
              <a:t>工作于方式0，端口A为输入，端口B为输出，端口C为输入，试对8255A进行初始化编程，设8255A的端口地址为200H～203H。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313349" name="矩形 313348"/>
          <p:cNvSpPr/>
          <p:nvPr/>
        </p:nvSpPr>
        <p:spPr>
          <a:xfrm>
            <a:off x="431701" y="2316145"/>
            <a:ext cx="8280598" cy="4093428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pPr lvl="0" indent="269875">
              <a:spcBef>
                <a:spcPct val="10000"/>
              </a:spcBef>
              <a:spcAft>
                <a:spcPct val="10000"/>
              </a:spcAft>
              <a:buClrTx/>
            </a:pPr>
            <a:r>
              <a:rPr lang="zh-CN" altLang="en-US" sz="2000" b="1" dirty="0">
                <a:latin typeface="Arial" panose="020B0604020202020204" pitchFamily="34" charset="0"/>
              </a:rPr>
              <a:t>初始化程序段：</a:t>
            </a:r>
          </a:p>
          <a:p>
            <a:pPr lvl="0" indent="269875">
              <a:spcBef>
                <a:spcPct val="10000"/>
              </a:spcBef>
              <a:spcAft>
                <a:spcPct val="10000"/>
              </a:spcAft>
              <a:buClrTx/>
            </a:pPr>
            <a:r>
              <a:rPr lang="en-US" altLang="zh-CN" sz="2000" b="1" dirty="0">
                <a:latin typeface="Arial" panose="020B0604020202020204" pitchFamily="34" charset="0"/>
              </a:rPr>
              <a:t>MOV  DX, 203H         	; 8255A</a:t>
            </a:r>
            <a:r>
              <a:rPr lang="zh-CN" altLang="en-US" sz="2000" b="1" dirty="0">
                <a:latin typeface="Arial" panose="020B0604020202020204" pitchFamily="34" charset="0"/>
              </a:rPr>
              <a:t>控制字端口地址</a:t>
            </a:r>
            <a:r>
              <a:rPr lang="en-US" altLang="zh-CN" sz="2000" b="1" dirty="0">
                <a:latin typeface="Arial" panose="020B0604020202020204" pitchFamily="34" charset="0"/>
              </a:rPr>
              <a:t>203H</a:t>
            </a:r>
          </a:p>
          <a:p>
            <a:pPr lvl="0" indent="269875">
              <a:spcBef>
                <a:spcPct val="10000"/>
              </a:spcBef>
              <a:spcAft>
                <a:spcPct val="10000"/>
              </a:spcAft>
              <a:buClrTx/>
            </a:pPr>
            <a:r>
              <a:rPr lang="en-US" altLang="zh-CN" sz="2000" b="1" dirty="0">
                <a:latin typeface="Arial" panose="020B0604020202020204" pitchFamily="34" charset="0"/>
              </a:rPr>
              <a:t>MOV  AL, 99H         	; </a:t>
            </a:r>
            <a:r>
              <a:rPr lang="zh-CN" altLang="en-US" sz="2000" b="1" dirty="0">
                <a:latin typeface="Arial" panose="020B0604020202020204" pitchFamily="34" charset="0"/>
              </a:rPr>
              <a:t>工作方式控制字</a:t>
            </a:r>
            <a:r>
              <a:rPr lang="en-US" altLang="zh-CN" sz="2000" b="1" dirty="0">
                <a:latin typeface="Arial" panose="020B0604020202020204" pitchFamily="34" charset="0"/>
              </a:rPr>
              <a:t>10011001B</a:t>
            </a:r>
            <a:r>
              <a:rPr lang="zh-CN" altLang="en-US" sz="2000" b="1" dirty="0">
                <a:latin typeface="Arial" panose="020B0604020202020204" pitchFamily="34" charset="0"/>
              </a:rPr>
              <a:t>（</a:t>
            </a:r>
            <a:r>
              <a:rPr lang="en-US" altLang="zh-CN" sz="2000" b="1" dirty="0">
                <a:latin typeface="Arial" panose="020B0604020202020204" pitchFamily="34" charset="0"/>
              </a:rPr>
              <a:t>99H</a:t>
            </a:r>
            <a:r>
              <a:rPr lang="zh-CN" altLang="en-US" sz="2000" b="1" dirty="0">
                <a:latin typeface="Arial" panose="020B0604020202020204" pitchFamily="34" charset="0"/>
              </a:rPr>
              <a:t>）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lvl="0" indent="269875">
              <a:spcBef>
                <a:spcPct val="10000"/>
              </a:spcBef>
              <a:spcAft>
                <a:spcPct val="10000"/>
              </a:spcAft>
              <a:buClrTx/>
            </a:pPr>
            <a:r>
              <a:rPr lang="en-US" altLang="zh-CN" sz="2000" b="1" dirty="0">
                <a:latin typeface="Arial" panose="020B0604020202020204" pitchFamily="34" charset="0"/>
              </a:rPr>
              <a:t>OUT  DX, AL             	; </a:t>
            </a:r>
            <a:r>
              <a:rPr lang="zh-CN" altLang="en-US" sz="2000" b="1" dirty="0">
                <a:latin typeface="Arial" panose="020B0604020202020204" pitchFamily="34" charset="0"/>
              </a:rPr>
              <a:t>送到控制字端口</a:t>
            </a:r>
          </a:p>
          <a:p>
            <a:pPr lvl="0" indent="269875">
              <a:spcBef>
                <a:spcPct val="10000"/>
              </a:spcBef>
              <a:spcAft>
                <a:spcPct val="10000"/>
              </a:spcAft>
              <a:buClrTx/>
            </a:pPr>
            <a:endParaRPr lang="en-US" altLang="zh-CN" sz="2000" b="1" dirty="0">
              <a:latin typeface="Arial" panose="020B0604020202020204" pitchFamily="34" charset="0"/>
            </a:endParaRPr>
          </a:p>
          <a:p>
            <a:pPr lvl="0" indent="269875">
              <a:spcBef>
                <a:spcPct val="10000"/>
              </a:spcBef>
              <a:spcAft>
                <a:spcPct val="10000"/>
              </a:spcAft>
              <a:buClrTx/>
            </a:pPr>
            <a:r>
              <a:rPr lang="zh-CN" altLang="en-US" sz="2000" b="1" dirty="0">
                <a:latin typeface="Arial" panose="020B0604020202020204" pitchFamily="34" charset="0"/>
              </a:rPr>
              <a:t>初始化完成后就可以与</a:t>
            </a:r>
            <a:r>
              <a:rPr lang="en-US" altLang="zh-CN" sz="2000" b="1" dirty="0">
                <a:latin typeface="Arial" panose="020B0604020202020204" pitchFamily="34" charset="0"/>
              </a:rPr>
              <a:t>8255A</a:t>
            </a:r>
            <a:r>
              <a:rPr lang="zh-CN" altLang="en-US" sz="2000" b="1" dirty="0">
                <a:latin typeface="Arial" panose="020B0604020202020204" pitchFamily="34" charset="0"/>
              </a:rPr>
              <a:t>进行数据传送了。如下程序段实现从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lvl="0" indent="269875">
              <a:spcBef>
                <a:spcPct val="10000"/>
              </a:spcBef>
              <a:spcAft>
                <a:spcPct val="10000"/>
              </a:spcAft>
              <a:buClrTx/>
            </a:pPr>
            <a:r>
              <a:rPr lang="en-US" altLang="zh-CN" sz="2000" b="1" dirty="0">
                <a:latin typeface="Arial" panose="020B0604020202020204" pitchFamily="34" charset="0"/>
              </a:rPr>
              <a:t> 8255A</a:t>
            </a:r>
            <a:r>
              <a:rPr lang="zh-CN" altLang="en-US" sz="2000" b="1" dirty="0">
                <a:latin typeface="Arial" panose="020B0604020202020204" pitchFamily="34" charset="0"/>
              </a:rPr>
              <a:t>的端口</a:t>
            </a:r>
            <a:r>
              <a:rPr lang="en-US" altLang="zh-CN" sz="2000" b="1" dirty="0">
                <a:latin typeface="Arial" panose="020B0604020202020204" pitchFamily="34" charset="0"/>
              </a:rPr>
              <a:t>A</a:t>
            </a:r>
            <a:r>
              <a:rPr lang="zh-CN" altLang="en-US" sz="2000" b="1" dirty="0">
                <a:latin typeface="Arial" panose="020B0604020202020204" pitchFamily="34" charset="0"/>
              </a:rPr>
              <a:t>读取一个字节的数据再输出到端口</a:t>
            </a:r>
            <a:r>
              <a:rPr lang="en-US" altLang="zh-CN" sz="2000" b="1" dirty="0">
                <a:latin typeface="Arial" panose="020B0604020202020204" pitchFamily="34" charset="0"/>
              </a:rPr>
              <a:t>B</a:t>
            </a:r>
            <a:r>
              <a:rPr lang="zh-CN" altLang="en-US" sz="2000" b="1" dirty="0">
                <a:latin typeface="Arial" panose="020B0604020202020204" pitchFamily="34" charset="0"/>
              </a:rPr>
              <a:t>。</a:t>
            </a:r>
          </a:p>
          <a:p>
            <a:pPr lvl="0" indent="269875">
              <a:spcBef>
                <a:spcPct val="10000"/>
              </a:spcBef>
              <a:spcAft>
                <a:spcPct val="10000"/>
              </a:spcAft>
              <a:buClrTx/>
            </a:pPr>
            <a:r>
              <a:rPr lang="en-US" altLang="zh-CN" sz="2000" b="1" dirty="0">
                <a:latin typeface="Arial" panose="020B0604020202020204" pitchFamily="34" charset="0"/>
              </a:rPr>
              <a:t> MOV  DX</a:t>
            </a:r>
            <a:r>
              <a:rPr lang="zh-CN" altLang="en-US" sz="2000" b="1" dirty="0">
                <a:latin typeface="Arial" panose="020B0604020202020204" pitchFamily="34" charset="0"/>
              </a:rPr>
              <a:t>，</a:t>
            </a:r>
            <a:r>
              <a:rPr lang="en-US" altLang="zh-CN" sz="2000" b="1" dirty="0">
                <a:latin typeface="Arial" panose="020B0604020202020204" pitchFamily="34" charset="0"/>
              </a:rPr>
              <a:t>200H         	; A</a:t>
            </a:r>
            <a:r>
              <a:rPr lang="zh-CN" altLang="en-US" sz="2000" b="1" dirty="0">
                <a:latin typeface="Arial" panose="020B0604020202020204" pitchFamily="34" charset="0"/>
              </a:rPr>
              <a:t>口地址</a:t>
            </a:r>
            <a:r>
              <a:rPr lang="en-US" altLang="zh-CN" sz="2000" b="1" dirty="0">
                <a:latin typeface="Arial" panose="020B0604020202020204" pitchFamily="34" charset="0"/>
              </a:rPr>
              <a:t>200H</a:t>
            </a:r>
          </a:p>
          <a:p>
            <a:pPr lvl="0" indent="269875">
              <a:spcBef>
                <a:spcPct val="10000"/>
              </a:spcBef>
              <a:spcAft>
                <a:spcPct val="10000"/>
              </a:spcAft>
              <a:buClrTx/>
            </a:pPr>
            <a:r>
              <a:rPr lang="en-US" altLang="zh-CN" sz="2000" b="1" dirty="0">
                <a:latin typeface="Arial" panose="020B0604020202020204" pitchFamily="34" charset="0"/>
              </a:rPr>
              <a:t>IN       AL</a:t>
            </a:r>
            <a:r>
              <a:rPr lang="zh-CN" altLang="en-US" sz="2000" b="1" dirty="0">
                <a:latin typeface="Arial" panose="020B0604020202020204" pitchFamily="34" charset="0"/>
              </a:rPr>
              <a:t>，</a:t>
            </a:r>
            <a:r>
              <a:rPr lang="en-US" altLang="zh-CN" sz="2000" b="1" dirty="0">
                <a:latin typeface="Arial" panose="020B0604020202020204" pitchFamily="34" charset="0"/>
              </a:rPr>
              <a:t>DX		; </a:t>
            </a:r>
            <a:r>
              <a:rPr lang="zh-CN" altLang="en-US" sz="2000" b="1" dirty="0">
                <a:latin typeface="Arial" panose="020B0604020202020204" pitchFamily="34" charset="0"/>
              </a:rPr>
              <a:t>从端口</a:t>
            </a:r>
            <a:r>
              <a:rPr lang="en-US" altLang="zh-CN" sz="2000" b="1" dirty="0">
                <a:latin typeface="Arial" panose="020B0604020202020204" pitchFamily="34" charset="0"/>
              </a:rPr>
              <a:t>A</a:t>
            </a:r>
            <a:r>
              <a:rPr lang="zh-CN" altLang="en-US" sz="2000" b="1" dirty="0">
                <a:latin typeface="Arial" panose="020B0604020202020204" pitchFamily="34" charset="0"/>
              </a:rPr>
              <a:t>读取一个字节</a:t>
            </a:r>
          </a:p>
          <a:p>
            <a:pPr lvl="0" indent="269875">
              <a:spcBef>
                <a:spcPct val="10000"/>
              </a:spcBef>
              <a:spcAft>
                <a:spcPct val="10000"/>
              </a:spcAft>
              <a:buClrTx/>
            </a:pPr>
            <a:r>
              <a:rPr lang="en-US" altLang="zh-CN" sz="2000" b="1" dirty="0">
                <a:latin typeface="Arial" panose="020B0604020202020204" pitchFamily="34" charset="0"/>
              </a:rPr>
              <a:t>MOV  DX, 201H		; B</a:t>
            </a:r>
            <a:r>
              <a:rPr lang="zh-CN" altLang="en-US" sz="2000" b="1" dirty="0">
                <a:latin typeface="Arial" panose="020B0604020202020204" pitchFamily="34" charset="0"/>
              </a:rPr>
              <a:t>口地址</a:t>
            </a:r>
            <a:r>
              <a:rPr lang="en-US" altLang="zh-CN" sz="2000" b="1" dirty="0">
                <a:latin typeface="Arial" panose="020B0604020202020204" pitchFamily="34" charset="0"/>
              </a:rPr>
              <a:t>201H</a:t>
            </a:r>
          </a:p>
          <a:p>
            <a:pPr lvl="0" indent="269875">
              <a:spcBef>
                <a:spcPct val="10000"/>
              </a:spcBef>
              <a:spcAft>
                <a:spcPct val="10000"/>
              </a:spcAft>
              <a:buClrTx/>
            </a:pPr>
            <a:r>
              <a:rPr lang="en-US" altLang="zh-CN" sz="2000" b="1" dirty="0">
                <a:latin typeface="Arial" panose="020B0604020202020204" pitchFamily="34" charset="0"/>
              </a:rPr>
              <a:t>OUT   DX, AL                          ; </a:t>
            </a:r>
            <a:r>
              <a:rPr lang="zh-CN" altLang="en-US" sz="2000" b="1" dirty="0">
                <a:latin typeface="Arial" panose="020B0604020202020204" pitchFamily="34" charset="0"/>
              </a:rPr>
              <a:t>把读到的数据输出到端口</a:t>
            </a:r>
            <a:r>
              <a:rPr lang="en-US" altLang="zh-CN" sz="2000" b="1" dirty="0">
                <a:latin typeface="Arial" panose="020B0604020202020204" pitchFamily="34" charset="0"/>
              </a:rPr>
              <a:t>B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标题 314369"/>
          <p:cNvSpPr>
            <a:spLocks noGrp="1"/>
          </p:cNvSpPr>
          <p:nvPr>
            <p:ph type="title"/>
          </p:nvPr>
        </p:nvSpPr>
        <p:spPr>
          <a:xfrm>
            <a:off x="609600" y="188913"/>
            <a:ext cx="8534400" cy="431800"/>
          </a:xfrm>
          <a:ln/>
        </p:spPr>
        <p:txBody>
          <a:bodyPr anchor="ctr"/>
          <a:lstStyle/>
          <a:p>
            <a:pPr lvl="0"/>
            <a:r>
              <a:rPr lang="en-US" altLang="en-US" sz="2800" b="1">
                <a:solidFill>
                  <a:srgbClr val="FF0000"/>
                </a:solidFill>
                <a:ea typeface="隶书" panose="02010509060101010101" pitchFamily="49" charset="-122"/>
              </a:rPr>
              <a:t>9.1  并行接口与可编程并行接口芯片8255A及其应用</a:t>
            </a:r>
            <a:endParaRPr lang="zh-CN" altLang="en-US" sz="28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14371" name="文本框 314370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4372" name="文本框 314371"/>
          <p:cNvSpPr txBox="1"/>
          <p:nvPr/>
        </p:nvSpPr>
        <p:spPr>
          <a:xfrm>
            <a:off x="250825" y="908050"/>
            <a:ext cx="8713788" cy="120032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【例9-2】</a:t>
            </a:r>
            <a:r>
              <a:rPr lang="en-US" altLang="zh-CN" sz="2400" b="1" dirty="0">
                <a:latin typeface="Arial" panose="020B0604020202020204" pitchFamily="34" charset="0"/>
              </a:rPr>
              <a:t>将8255A 的 A 口作为与打印机的接口，工作于方式0，实现把内存缓冲区 BUFF </a:t>
            </a:r>
            <a:r>
              <a:rPr lang="en-US" altLang="zh-CN" sz="2400" b="1" dirty="0" err="1">
                <a:latin typeface="Arial" panose="020B0604020202020204" pitchFamily="34" charset="0"/>
              </a:rPr>
              <a:t>中的字符打印输出。试完成相应的软硬件设计</a:t>
            </a:r>
            <a:r>
              <a:rPr lang="en-US" altLang="zh-CN" sz="2400" b="1" dirty="0">
                <a:latin typeface="Arial" panose="020B0604020202020204" pitchFamily="34" charset="0"/>
              </a:rPr>
              <a:t>。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314373" name="矩形 314372"/>
          <p:cNvSpPr/>
          <p:nvPr/>
        </p:nvSpPr>
        <p:spPr>
          <a:xfrm>
            <a:off x="309786" y="2467693"/>
            <a:ext cx="8496300" cy="236988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lvl="0" indent="269875">
              <a:spcBef>
                <a:spcPct val="10000"/>
              </a:spcBef>
              <a:spcAft>
                <a:spcPct val="10000"/>
              </a:spcAft>
              <a:buClrTx/>
            </a:pPr>
            <a:r>
              <a:rPr lang="zh-CN" altLang="en-US" sz="2000" b="1" dirty="0">
                <a:latin typeface="Arial" panose="020B0604020202020204" pitchFamily="34" charset="0"/>
              </a:rPr>
              <a:t>分析：在打印机和主机之间采用</a:t>
            </a:r>
            <a:r>
              <a:rPr lang="en-US" altLang="zh-CN" sz="2000" b="1" dirty="0" err="1">
                <a:latin typeface="Arial" panose="020B0604020202020204" pitchFamily="34" charset="0"/>
              </a:rPr>
              <a:t>Centronics</a:t>
            </a:r>
            <a:r>
              <a:rPr lang="zh-CN" altLang="en-US" sz="2000" b="1" dirty="0">
                <a:latin typeface="Arial" panose="020B0604020202020204" pitchFamily="34" charset="0"/>
              </a:rPr>
              <a:t>并行接口，它是国际公认的工业标准</a:t>
            </a:r>
            <a:r>
              <a:rPr lang="en-US" altLang="zh-CN" sz="2000" b="1" dirty="0">
                <a:latin typeface="Arial" panose="020B0604020202020204" pitchFamily="34" charset="0"/>
              </a:rPr>
              <a:t>8</a:t>
            </a:r>
            <a:r>
              <a:rPr lang="zh-CN" altLang="en-US" sz="2000" b="1" dirty="0">
                <a:latin typeface="Arial" panose="020B0604020202020204" pitchFamily="34" charset="0"/>
              </a:rPr>
              <a:t>位并行接口，共有</a:t>
            </a:r>
            <a:r>
              <a:rPr lang="en-US" altLang="zh-CN" sz="2000" b="1" dirty="0">
                <a:latin typeface="Arial" panose="020B0604020202020204" pitchFamily="34" charset="0"/>
              </a:rPr>
              <a:t>36</a:t>
            </a:r>
            <a:r>
              <a:rPr lang="zh-CN" altLang="en-US" sz="2000" b="1" dirty="0">
                <a:latin typeface="Arial" panose="020B0604020202020204" pitchFamily="34" charset="0"/>
              </a:rPr>
              <a:t>条线。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lvl="0" indent="269875">
              <a:spcBef>
                <a:spcPct val="10000"/>
              </a:spcBef>
              <a:spcAft>
                <a:spcPct val="10000"/>
              </a:spcAft>
              <a:buClrTx/>
            </a:pPr>
            <a:endParaRPr lang="zh-CN" altLang="en-US" sz="2000" b="1" dirty="0">
              <a:latin typeface="Arial" panose="020B0604020202020204" pitchFamily="34" charset="0"/>
            </a:endParaRPr>
          </a:p>
          <a:p>
            <a:pPr lvl="0" indent="269875">
              <a:spcBef>
                <a:spcPct val="10000"/>
              </a:spcBef>
              <a:spcAft>
                <a:spcPct val="10000"/>
              </a:spcAft>
              <a:buClrTx/>
            </a:pPr>
            <a:r>
              <a:rPr lang="zh-CN" altLang="en-US" sz="2000" b="1" dirty="0">
                <a:latin typeface="Arial" panose="020B0604020202020204" pitchFamily="34" charset="0"/>
              </a:rPr>
              <a:t>工作流程：主机将要打印的数据送上数据线，然后发选通信号。打印机将数据读入，同时使 </a:t>
            </a:r>
            <a:r>
              <a:rPr lang="en-US" altLang="zh-CN" sz="2000" b="1" dirty="0">
                <a:latin typeface="Arial" panose="020B0604020202020204" pitchFamily="34" charset="0"/>
              </a:rPr>
              <a:t>BUSY </a:t>
            </a:r>
            <a:r>
              <a:rPr lang="zh-CN" altLang="en-US" sz="2000" b="1" dirty="0">
                <a:latin typeface="Arial" panose="020B0604020202020204" pitchFamily="34" charset="0"/>
              </a:rPr>
              <a:t>线为高，通知主机停止传送数据。这时，打印机内部对读入的数据进行处理，处理完以后使 </a:t>
            </a:r>
            <a:r>
              <a:rPr lang="en-US" altLang="zh-CN" sz="2000" b="1" dirty="0">
                <a:latin typeface="Arial" panose="020B0604020202020204" pitchFamily="34" charset="0"/>
              </a:rPr>
              <a:t>ACKNLG</a:t>
            </a:r>
            <a:r>
              <a:rPr lang="zh-CN" altLang="en-US" sz="2000" b="1" dirty="0">
                <a:latin typeface="Arial" panose="020B0604020202020204" pitchFamily="34" charset="0"/>
              </a:rPr>
              <a:t>有效，同时使 </a:t>
            </a:r>
            <a:r>
              <a:rPr lang="en-US" altLang="zh-CN" sz="2000" b="1" dirty="0">
                <a:latin typeface="Arial" panose="020B0604020202020204" pitchFamily="34" charset="0"/>
              </a:rPr>
              <a:t>BUSY </a:t>
            </a:r>
            <a:r>
              <a:rPr lang="zh-CN" altLang="en-US" sz="2000" b="1" dirty="0">
                <a:latin typeface="Arial" panose="020B0604020202020204" pitchFamily="34" charset="0"/>
              </a:rPr>
              <a:t>失效，通知主机可以发下一个数据。</a:t>
            </a:r>
            <a:endParaRPr lang="en-US" altLang="zh-CN" sz="20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标题 315393"/>
          <p:cNvSpPr>
            <a:spLocks noGrp="1"/>
          </p:cNvSpPr>
          <p:nvPr>
            <p:ph type="title"/>
          </p:nvPr>
        </p:nvSpPr>
        <p:spPr>
          <a:xfrm>
            <a:off x="609600" y="188913"/>
            <a:ext cx="8534400" cy="431800"/>
          </a:xfrm>
          <a:ln/>
        </p:spPr>
        <p:txBody>
          <a:bodyPr anchor="ctr"/>
          <a:lstStyle/>
          <a:p>
            <a:pPr lvl="0"/>
            <a:r>
              <a:rPr lang="en-US" altLang="en-US" sz="2800" b="1">
                <a:solidFill>
                  <a:srgbClr val="FF0000"/>
                </a:solidFill>
                <a:ea typeface="隶书" panose="02010509060101010101" pitchFamily="49" charset="-122"/>
              </a:rPr>
              <a:t>9.1  并行接口与可编程并行接口芯片8255A及其应用</a:t>
            </a:r>
            <a:endParaRPr lang="zh-CN" altLang="en-US" sz="28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15395" name="文本框 315394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5396" name="文本框 315395"/>
          <p:cNvSpPr txBox="1"/>
          <p:nvPr/>
        </p:nvSpPr>
        <p:spPr>
          <a:xfrm>
            <a:off x="250825" y="4190914"/>
            <a:ext cx="8569325" cy="24332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</a:pPr>
            <a:r>
              <a:rPr lang="en-US" altLang="zh-CN" sz="2000" b="1" dirty="0" err="1">
                <a:latin typeface="Arial" panose="020B0604020202020204" pitchFamily="34" charset="0"/>
              </a:rPr>
              <a:t>由图可知</a:t>
            </a:r>
            <a:r>
              <a:rPr lang="zh-CN" altLang="en-US" sz="2000" b="1" dirty="0">
                <a:latin typeface="Arial" panose="020B0604020202020204" pitchFamily="34" charset="0"/>
              </a:rPr>
              <a:t>：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lvl="0" eaLnBrk="0" hangingPunct="0">
              <a:lnSpc>
                <a:spcPct val="110000"/>
              </a:lnSpc>
            </a:pPr>
            <a:r>
              <a:rPr lang="en-US" altLang="zh-CN" sz="2000" b="1" dirty="0">
                <a:solidFill>
                  <a:srgbClr val="00B0F0"/>
                </a:solidFill>
                <a:latin typeface="Arial" panose="020B0604020202020204" pitchFamily="34" charset="0"/>
              </a:rPr>
              <a:t>1)</a:t>
            </a:r>
            <a:r>
              <a:rPr lang="en-US" altLang="zh-CN" sz="2000" b="1" dirty="0">
                <a:latin typeface="Arial" panose="020B0604020202020204" pitchFamily="34" charset="0"/>
              </a:rPr>
              <a:t>对 PC0的置位/</a:t>
            </a:r>
            <a:r>
              <a:rPr lang="en-US" altLang="zh-CN" sz="2000" b="1" dirty="0" err="1">
                <a:latin typeface="Arial" panose="020B0604020202020204" pitchFamily="34" charset="0"/>
              </a:rPr>
              <a:t>复位产生选通信号，同时，由</a:t>
            </a:r>
            <a:r>
              <a:rPr lang="en-US" altLang="zh-CN" sz="2000" b="1" dirty="0">
                <a:latin typeface="Arial" panose="020B0604020202020204" pitchFamily="34" charset="0"/>
              </a:rPr>
              <a:t> PC7 </a:t>
            </a:r>
            <a:r>
              <a:rPr lang="en-US" altLang="zh-CN" sz="2000" b="1" dirty="0" err="1">
                <a:latin typeface="Arial" panose="020B0604020202020204" pitchFamily="34" charset="0"/>
              </a:rPr>
              <a:t>接收打印机发出的</a:t>
            </a:r>
            <a:r>
              <a:rPr lang="en-US" altLang="zh-CN" sz="2000" b="1" dirty="0">
                <a:latin typeface="Arial" panose="020B0604020202020204" pitchFamily="34" charset="0"/>
              </a:rPr>
              <a:t>“ BUSY ”</a:t>
            </a:r>
            <a:r>
              <a:rPr lang="en-US" altLang="zh-CN" sz="2000" b="1" dirty="0" err="1">
                <a:latin typeface="Arial" panose="020B0604020202020204" pitchFamily="34" charset="0"/>
              </a:rPr>
              <a:t>信号作为能否输出的查询状态标志</a:t>
            </a:r>
            <a:r>
              <a:rPr lang="en-US" altLang="zh-CN" sz="2000" b="1" dirty="0">
                <a:latin typeface="Arial" panose="020B0604020202020204" pitchFamily="34" charset="0"/>
              </a:rPr>
              <a:t>。 </a:t>
            </a:r>
          </a:p>
          <a:p>
            <a:pPr lvl="0" eaLnBrk="0" hangingPunct="0">
              <a:lnSpc>
                <a:spcPct val="110000"/>
              </a:lnSpc>
            </a:pPr>
            <a:r>
              <a:rPr lang="en-US" altLang="zh-CN" sz="2000" b="1" dirty="0">
                <a:solidFill>
                  <a:srgbClr val="00B0F0"/>
                </a:solidFill>
                <a:latin typeface="Arial" panose="020B0604020202020204" pitchFamily="34" charset="0"/>
              </a:rPr>
              <a:t>2)</a:t>
            </a:r>
            <a:r>
              <a:rPr lang="en-US" altLang="zh-CN" sz="2000" b="1" dirty="0">
                <a:latin typeface="Arial" panose="020B0604020202020204" pitchFamily="34" charset="0"/>
              </a:rPr>
              <a:t>设定8255A的控制字为10001000B（88H） 。即端口A为方式0</a:t>
            </a:r>
            <a:r>
              <a:rPr lang="zh-CN" altLang="en-US" sz="2000" b="1" dirty="0">
                <a:latin typeface="Arial" panose="020B0604020202020204" pitchFamily="34" charset="0"/>
              </a:rPr>
              <a:t>、</a:t>
            </a:r>
            <a:r>
              <a:rPr lang="en-US" altLang="zh-CN" sz="2000" b="1" dirty="0">
                <a:latin typeface="Arial" panose="020B0604020202020204" pitchFamily="34" charset="0"/>
              </a:rPr>
              <a:t>输出；端口C的为方式0</a:t>
            </a:r>
            <a:r>
              <a:rPr lang="zh-CN" altLang="en-US" sz="2000" b="1" dirty="0">
                <a:latin typeface="Arial" panose="020B0604020202020204" pitchFamily="34" charset="0"/>
              </a:rPr>
              <a:t>、</a:t>
            </a:r>
            <a:r>
              <a:rPr lang="en-US" altLang="zh-CN" sz="2000" b="1" dirty="0">
                <a:latin typeface="Arial" panose="020B0604020202020204" pitchFamily="34" charset="0"/>
              </a:rPr>
              <a:t>高4位输入，低4位为输出。</a:t>
            </a:r>
          </a:p>
          <a:p>
            <a:pPr lvl="0" eaLnBrk="0" hangingPunct="0">
              <a:lnSpc>
                <a:spcPct val="110000"/>
              </a:lnSpc>
            </a:pPr>
            <a:r>
              <a:rPr lang="en-US" altLang="zh-CN" sz="2000" b="1" dirty="0">
                <a:solidFill>
                  <a:srgbClr val="00B0F0"/>
                </a:solidFill>
                <a:latin typeface="Arial" panose="020B0604020202020204" pitchFamily="34" charset="0"/>
              </a:rPr>
              <a:t>3)</a:t>
            </a:r>
            <a:r>
              <a:rPr lang="en-US" altLang="zh-CN" sz="2000" b="1" dirty="0">
                <a:latin typeface="Arial" panose="020B0604020202020204" pitchFamily="34" charset="0"/>
              </a:rPr>
              <a:t>选通信号PC0的置位命令为00000001B或01H，复位命令为00000000B或00H。</a:t>
            </a:r>
            <a:endParaRPr lang="zh-CN" altLang="en-US" sz="2000" b="1" dirty="0">
              <a:latin typeface="Arial" panose="020B0604020202020204" pitchFamily="34" charset="0"/>
            </a:endParaRPr>
          </a:p>
        </p:txBody>
      </p:sp>
      <p:pic>
        <p:nvPicPr>
          <p:cNvPr id="315399" name="图片 315398" descr="wps_clip_image-179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713" y="908050"/>
            <a:ext cx="4824412" cy="32972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标题 316417"/>
          <p:cNvSpPr>
            <a:spLocks noGrp="1"/>
          </p:cNvSpPr>
          <p:nvPr>
            <p:ph type="title"/>
          </p:nvPr>
        </p:nvSpPr>
        <p:spPr>
          <a:xfrm>
            <a:off x="609600" y="188913"/>
            <a:ext cx="8534400" cy="431800"/>
          </a:xfrm>
          <a:ln/>
        </p:spPr>
        <p:txBody>
          <a:bodyPr anchor="ctr"/>
          <a:lstStyle/>
          <a:p>
            <a:pPr lvl="0"/>
            <a:r>
              <a:rPr lang="en-US" altLang="en-US" sz="2800" b="1" dirty="0">
                <a:solidFill>
                  <a:srgbClr val="FF0000"/>
                </a:solidFill>
                <a:ea typeface="隶书" panose="02010509060101010101" pitchFamily="49" charset="-122"/>
              </a:rPr>
              <a:t>9.1  并行接口与可编程并行接口芯片8255A及其应用</a:t>
            </a:r>
            <a:endParaRPr lang="zh-CN" altLang="en-US" sz="28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16419" name="文本框 316418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517" y="1425617"/>
            <a:ext cx="4968552" cy="4968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908720"/>
            <a:ext cx="3816424" cy="3933353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</p:spPr>
      </p:pic>
      <p:cxnSp>
        <p:nvCxnSpPr>
          <p:cNvPr id="4" name="直接连接符 3"/>
          <p:cNvCxnSpPr/>
          <p:nvPr/>
        </p:nvCxnSpPr>
        <p:spPr>
          <a:xfrm>
            <a:off x="5220072" y="764704"/>
            <a:ext cx="0" cy="5544616"/>
          </a:xfrm>
          <a:prstGeom prst="line">
            <a:avLst/>
          </a:prstGeom>
          <a:ln w="158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8CEDF5B3-4473-D76F-77B4-4C470210ED0C}"/>
              </a:ext>
            </a:extLst>
          </p:cNvPr>
          <p:cNvSpPr txBox="1"/>
          <p:nvPr/>
        </p:nvSpPr>
        <p:spPr>
          <a:xfrm>
            <a:off x="467543" y="904124"/>
            <a:ext cx="25922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B0F0"/>
                </a:solidFill>
                <a:latin typeface="Arial" panose="020B0604020202020204" pitchFamily="34" charset="0"/>
              </a:rPr>
              <a:t>4</a:t>
            </a:r>
            <a:r>
              <a:rPr lang="zh-CN" altLang="en-US" sz="2000" b="1" dirty="0">
                <a:solidFill>
                  <a:srgbClr val="00B0F0"/>
                </a:solidFill>
                <a:latin typeface="Arial" panose="020B0604020202020204" pitchFamily="34" charset="0"/>
              </a:rPr>
              <a:t>）</a:t>
            </a:r>
            <a:r>
              <a:rPr lang="zh-CN" altLang="en-US" sz="2000" b="1" dirty="0">
                <a:latin typeface="Arial" panose="020B0604020202020204" pitchFamily="34" charset="0"/>
              </a:rPr>
              <a:t>程序设计如下：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标题 322561"/>
          <p:cNvSpPr>
            <a:spLocks noGrp="1"/>
          </p:cNvSpPr>
          <p:nvPr>
            <p:ph type="title"/>
          </p:nvPr>
        </p:nvSpPr>
        <p:spPr>
          <a:xfrm>
            <a:off x="609600" y="188913"/>
            <a:ext cx="8534400" cy="431800"/>
          </a:xfrm>
          <a:ln/>
        </p:spPr>
        <p:txBody>
          <a:bodyPr anchor="ctr"/>
          <a:lstStyle/>
          <a:p>
            <a:pPr lvl="0"/>
            <a:r>
              <a:rPr lang="en-US" altLang="en-US" sz="2800" b="1">
                <a:solidFill>
                  <a:srgbClr val="FF0000"/>
                </a:solidFill>
                <a:ea typeface="隶书" panose="02010509060101010101" pitchFamily="49" charset="-122"/>
              </a:rPr>
              <a:t>9.1  并行接口与可编程并行接口芯片8255A及其应用</a:t>
            </a:r>
            <a:endParaRPr lang="zh-CN" altLang="en-US" sz="28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22563" name="文本框 322562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2564" name="文本框 322563"/>
          <p:cNvSpPr txBox="1"/>
          <p:nvPr/>
        </p:nvSpPr>
        <p:spPr>
          <a:xfrm>
            <a:off x="250825" y="764704"/>
            <a:ext cx="8713788" cy="15696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【例9-3】</a:t>
            </a:r>
            <a:r>
              <a:rPr lang="en-US" altLang="zh-CN" sz="2400" b="1" dirty="0">
                <a:latin typeface="Arial" panose="020B0604020202020204" pitchFamily="34" charset="0"/>
              </a:rPr>
              <a:t>将【例9-2】中 A </a:t>
            </a:r>
            <a:r>
              <a:rPr lang="en-US" altLang="zh-CN" sz="2400" b="1" dirty="0" err="1">
                <a:latin typeface="Arial" panose="020B0604020202020204" pitchFamily="34" charset="0"/>
              </a:rPr>
              <a:t>口的工作方式改为方式</a:t>
            </a:r>
            <a:r>
              <a:rPr lang="en-US" altLang="zh-CN" sz="2400" b="1" dirty="0">
                <a:latin typeface="Arial" panose="020B0604020202020204" pitchFamily="34" charset="0"/>
              </a:rPr>
              <a:t> 1 ，</a:t>
            </a:r>
            <a:r>
              <a:rPr lang="en-US" altLang="zh-CN" sz="2400" b="1" dirty="0" err="1">
                <a:latin typeface="Arial" panose="020B0604020202020204" pitchFamily="34" charset="0"/>
              </a:rPr>
              <a:t>采用中断方式将</a:t>
            </a:r>
            <a:r>
              <a:rPr lang="en-US" altLang="zh-CN" sz="2400" b="1" dirty="0">
                <a:latin typeface="Arial" panose="020B0604020202020204" pitchFamily="34" charset="0"/>
              </a:rPr>
              <a:t> BUFF </a:t>
            </a:r>
            <a:r>
              <a:rPr lang="en-US" altLang="zh-CN" sz="2400" b="1" dirty="0" err="1">
                <a:latin typeface="Arial" panose="020B0604020202020204" pitchFamily="34" charset="0"/>
              </a:rPr>
              <a:t>开始的缓冲区中的</a:t>
            </a:r>
            <a:r>
              <a:rPr lang="en-US" altLang="zh-CN" sz="2400" b="1" dirty="0">
                <a:latin typeface="Arial" panose="020B0604020202020204" pitchFamily="34" charset="0"/>
              </a:rPr>
              <a:t> 100 </a:t>
            </a:r>
            <a:r>
              <a:rPr lang="en-US" altLang="zh-CN" sz="2400" b="1" dirty="0" err="1">
                <a:latin typeface="Arial" panose="020B0604020202020204" pitchFamily="34" charset="0"/>
              </a:rPr>
              <a:t>个字符从打印机输出</a:t>
            </a:r>
            <a:r>
              <a:rPr lang="en-US" altLang="zh-CN" sz="2400" b="1" dirty="0">
                <a:latin typeface="Arial" panose="020B0604020202020204" pitchFamily="34" charset="0"/>
              </a:rPr>
              <a:t>。</a:t>
            </a:r>
            <a:r>
              <a:rPr lang="zh-CN" altLang="en-US" sz="2400" b="1" dirty="0">
                <a:latin typeface="Arial" panose="020B0604020202020204" pitchFamily="34" charset="0"/>
              </a:rPr>
              <a:t>系统的硬件连线如图</a:t>
            </a:r>
            <a:r>
              <a:rPr lang="en-US" altLang="zh-CN" sz="2400" b="1" dirty="0">
                <a:latin typeface="Arial" panose="020B0604020202020204" pitchFamily="34" charset="0"/>
              </a:rPr>
              <a:t>9.11</a:t>
            </a:r>
            <a:r>
              <a:rPr lang="zh-CN" altLang="en-US" sz="2400" b="1" dirty="0">
                <a:latin typeface="Arial" panose="020B0604020202020204" pitchFamily="34" charset="0"/>
              </a:rPr>
              <a:t>所示。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lvl="0" eaLnBrk="0" hangingPunct="0"/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60835"/>
              </p:ext>
            </p:extLst>
          </p:nvPr>
        </p:nvGraphicFramePr>
        <p:xfrm>
          <a:off x="415454" y="2204864"/>
          <a:ext cx="4156546" cy="2778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6" name="Visio" r:id="rId3" imgW="3559251" imgH="2381352" progId="Visio.Drawing.11">
                  <p:embed/>
                </p:oleObj>
              </mc:Choice>
              <mc:Fallback>
                <p:oleObj name="Visio" r:id="rId3" imgW="3559251" imgH="2381352" progId="Visio.Drawing.11">
                  <p:embed/>
                  <p:pic>
                    <p:nvPicPr>
                      <p:cNvPr id="0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454" y="2204864"/>
                        <a:ext cx="4156546" cy="27784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4965979" y="1765604"/>
            <a:ext cx="3745111" cy="4587666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 wrap="square" anchor="ctr">
            <a:spAutoFit/>
          </a:bodyPr>
          <a:lstStyle/>
          <a:p>
            <a:pPr lvl="0" indent="269875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</a:pPr>
            <a:r>
              <a:rPr lang="zh-CN" altLang="en-US" sz="2000" b="1" dirty="0">
                <a:latin typeface="Arial" panose="020B0604020202020204" pitchFamily="34" charset="0"/>
              </a:rPr>
              <a:t>分析：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lvl="0" indent="269875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</a:pPr>
            <a:r>
              <a:rPr lang="en-US" altLang="zh-CN" sz="2000" b="1" dirty="0">
                <a:solidFill>
                  <a:srgbClr val="00B0F0"/>
                </a:solidFill>
                <a:latin typeface="Arial" panose="020B0604020202020204" pitchFamily="34" charset="0"/>
              </a:rPr>
              <a:t>1</a:t>
            </a:r>
            <a:r>
              <a:rPr lang="zh-CN" altLang="en-US" sz="2000" b="1" dirty="0">
                <a:solidFill>
                  <a:srgbClr val="00B0F0"/>
                </a:solidFill>
                <a:latin typeface="Arial" panose="020B0604020202020204" pitchFamily="34" charset="0"/>
              </a:rPr>
              <a:t>）</a:t>
            </a:r>
            <a:r>
              <a:rPr lang="en-US" altLang="zh-CN" sz="2000" b="1" dirty="0">
                <a:latin typeface="Arial" panose="020B0604020202020204" pitchFamily="34" charset="0"/>
              </a:rPr>
              <a:t>8255A </a:t>
            </a:r>
            <a:r>
              <a:rPr lang="zh-CN" altLang="en-US" sz="2000" b="1" dirty="0">
                <a:latin typeface="Arial" panose="020B0604020202020204" pitchFamily="34" charset="0"/>
              </a:rPr>
              <a:t>的工作方式控制字为</a:t>
            </a:r>
            <a:r>
              <a:rPr lang="en-US" altLang="zh-CN" sz="2000" b="1" dirty="0">
                <a:latin typeface="Arial" panose="020B0604020202020204" pitchFamily="34" charset="0"/>
              </a:rPr>
              <a:t>1010XXX0B</a:t>
            </a:r>
            <a:r>
              <a:rPr lang="zh-CN" altLang="en-US" sz="2000" b="1" dirty="0">
                <a:latin typeface="Arial" panose="020B0604020202020204" pitchFamily="34" charset="0"/>
              </a:rPr>
              <a:t>；置位</a:t>
            </a:r>
            <a:r>
              <a:rPr lang="en-US" altLang="zh-CN" sz="2000" b="1" dirty="0">
                <a:latin typeface="Arial" panose="020B0604020202020204" pitchFamily="34" charset="0"/>
              </a:rPr>
              <a:t>PC0 </a:t>
            </a:r>
            <a:r>
              <a:rPr lang="zh-CN" altLang="en-US" sz="2000" b="1" dirty="0">
                <a:latin typeface="Arial" panose="020B0604020202020204" pitchFamily="34" charset="0"/>
              </a:rPr>
              <a:t>的命令字为</a:t>
            </a:r>
            <a:r>
              <a:rPr lang="en-US" altLang="zh-CN" sz="2000" b="1" dirty="0">
                <a:latin typeface="Arial" panose="020B0604020202020204" pitchFamily="34" charset="0"/>
              </a:rPr>
              <a:t>00000001B</a:t>
            </a:r>
            <a:r>
              <a:rPr lang="zh-CN" altLang="en-US" sz="2000" b="1" dirty="0">
                <a:latin typeface="Arial" panose="020B0604020202020204" pitchFamily="34" charset="0"/>
              </a:rPr>
              <a:t>，复位命令字为</a:t>
            </a:r>
            <a:r>
              <a:rPr lang="en-US" altLang="zh-CN" sz="2000" b="1" dirty="0">
                <a:latin typeface="Arial" panose="020B0604020202020204" pitchFamily="34" charset="0"/>
              </a:rPr>
              <a:t>00000000B</a:t>
            </a:r>
            <a:r>
              <a:rPr lang="zh-CN" altLang="en-US" sz="2000" b="1" dirty="0">
                <a:latin typeface="Arial" panose="020B0604020202020204" pitchFamily="34" charset="0"/>
              </a:rPr>
              <a:t>。置位</a:t>
            </a:r>
            <a:r>
              <a:rPr lang="en-US" altLang="zh-CN" sz="2000" b="1" dirty="0">
                <a:latin typeface="Arial" panose="020B0604020202020204" pitchFamily="34" charset="0"/>
              </a:rPr>
              <a:t>PC6</a:t>
            </a:r>
            <a:r>
              <a:rPr lang="zh-CN" altLang="en-US" sz="2000" b="1" dirty="0">
                <a:latin typeface="Arial" panose="020B0604020202020204" pitchFamily="34" charset="0"/>
              </a:rPr>
              <a:t>的命令字为</a:t>
            </a:r>
            <a:r>
              <a:rPr lang="en-US" altLang="zh-CN" sz="2000" b="1" dirty="0">
                <a:latin typeface="Arial" panose="020B0604020202020204" pitchFamily="34" charset="0"/>
              </a:rPr>
              <a:t>00001101B</a:t>
            </a:r>
            <a:r>
              <a:rPr lang="zh-CN" altLang="en-US" sz="2000" b="1" dirty="0">
                <a:latin typeface="Arial" panose="020B0604020202020204" pitchFamily="34" charset="0"/>
              </a:rPr>
              <a:t>。</a:t>
            </a:r>
          </a:p>
          <a:p>
            <a:pPr lvl="0" indent="269875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Tx/>
            </a:pPr>
            <a:r>
              <a:rPr lang="en-US" altLang="zh-CN" sz="2000" b="1" dirty="0">
                <a:solidFill>
                  <a:srgbClr val="00B0F0"/>
                </a:solidFill>
                <a:latin typeface="Arial" panose="020B0604020202020204" pitchFamily="34" charset="0"/>
              </a:rPr>
              <a:t>2</a:t>
            </a:r>
            <a:r>
              <a:rPr lang="zh-CN" altLang="en-US" sz="2000" b="1" dirty="0">
                <a:solidFill>
                  <a:srgbClr val="00B0F0"/>
                </a:solidFill>
                <a:latin typeface="Arial" panose="020B0604020202020204" pitchFamily="34" charset="0"/>
              </a:rPr>
              <a:t>）</a:t>
            </a:r>
            <a:r>
              <a:rPr lang="zh-CN" altLang="en-US" sz="2000" b="1" dirty="0">
                <a:latin typeface="Arial" panose="020B0604020202020204" pitchFamily="34" charset="0"/>
              </a:rPr>
              <a:t>由图</a:t>
            </a:r>
            <a:r>
              <a:rPr lang="en-US" altLang="zh-CN" sz="2000" b="1" dirty="0">
                <a:latin typeface="Arial" panose="020B0604020202020204" pitchFamily="34" charset="0"/>
              </a:rPr>
              <a:t>9.11</a:t>
            </a:r>
            <a:r>
              <a:rPr lang="zh-CN" altLang="en-US" sz="2000" b="1" dirty="0">
                <a:latin typeface="Arial" panose="020B0604020202020204" pitchFamily="34" charset="0"/>
              </a:rPr>
              <a:t>可以分析出， </a:t>
            </a:r>
            <a:r>
              <a:rPr lang="en-US" altLang="zh-CN" sz="2000" b="1" dirty="0">
                <a:latin typeface="Arial" panose="020B0604020202020204" pitchFamily="34" charset="0"/>
              </a:rPr>
              <a:t>8255A </a:t>
            </a:r>
            <a:r>
              <a:rPr lang="zh-CN" altLang="en-US" sz="2000" b="1" dirty="0">
                <a:latin typeface="Arial" panose="020B0604020202020204" pitchFamily="34" charset="0"/>
              </a:rPr>
              <a:t>的 </a:t>
            </a:r>
            <a:r>
              <a:rPr lang="en-US" altLang="zh-CN" sz="2000" b="1" dirty="0">
                <a:latin typeface="Arial" panose="020B0604020202020204" pitchFamily="34" charset="0"/>
              </a:rPr>
              <a:t>4 </a:t>
            </a:r>
            <a:r>
              <a:rPr lang="zh-CN" altLang="en-US" sz="2000" b="1" dirty="0">
                <a:latin typeface="Arial" panose="020B0604020202020204" pitchFamily="34" charset="0"/>
              </a:rPr>
              <a:t>个端口地址分别为</a:t>
            </a:r>
            <a:r>
              <a:rPr lang="en-US" altLang="zh-CN" sz="2000" b="1" dirty="0">
                <a:latin typeface="Arial" panose="020B0604020202020204" pitchFamily="34" charset="0"/>
              </a:rPr>
              <a:t>00H</a:t>
            </a:r>
            <a:r>
              <a:rPr lang="zh-CN" altLang="en-US" sz="2000" b="1" dirty="0">
                <a:latin typeface="Arial" panose="020B0604020202020204" pitchFamily="34" charset="0"/>
              </a:rPr>
              <a:t>、</a:t>
            </a:r>
            <a:r>
              <a:rPr lang="en-US" altLang="zh-CN" sz="2000" b="1" dirty="0">
                <a:latin typeface="Arial" panose="020B0604020202020204" pitchFamily="34" charset="0"/>
              </a:rPr>
              <a:t>01H</a:t>
            </a:r>
            <a:r>
              <a:rPr lang="zh-CN" altLang="en-US" sz="2000" b="1" dirty="0">
                <a:latin typeface="Arial" panose="020B0604020202020204" pitchFamily="34" charset="0"/>
              </a:rPr>
              <a:t>、</a:t>
            </a:r>
            <a:r>
              <a:rPr lang="en-US" altLang="zh-CN" sz="2000" b="1" dirty="0">
                <a:latin typeface="Arial" panose="020B0604020202020204" pitchFamily="34" charset="0"/>
              </a:rPr>
              <a:t>02H</a:t>
            </a:r>
            <a:r>
              <a:rPr lang="zh-CN" altLang="en-US" sz="2000" b="1" dirty="0">
                <a:latin typeface="Arial" panose="020B0604020202020204" pitchFamily="34" charset="0"/>
              </a:rPr>
              <a:t>、</a:t>
            </a:r>
            <a:r>
              <a:rPr lang="en-US" altLang="zh-CN" sz="2000" b="1" dirty="0">
                <a:latin typeface="Arial" panose="020B0604020202020204" pitchFamily="34" charset="0"/>
              </a:rPr>
              <a:t>03H</a:t>
            </a:r>
            <a:r>
              <a:rPr lang="zh-CN" altLang="en-US" sz="2000" b="1" dirty="0">
                <a:latin typeface="Arial" panose="020B0604020202020204" pitchFamily="34" charset="0"/>
              </a:rPr>
              <a:t>。假设 </a:t>
            </a:r>
            <a:r>
              <a:rPr lang="en-US" altLang="zh-CN" sz="2000" b="1" dirty="0">
                <a:latin typeface="Arial" panose="020B0604020202020204" pitchFamily="34" charset="0"/>
              </a:rPr>
              <a:t>8259A </a:t>
            </a:r>
            <a:r>
              <a:rPr lang="zh-CN" altLang="en-US" sz="2000" b="1" dirty="0">
                <a:latin typeface="Arial" panose="020B0604020202020204" pitchFamily="34" charset="0"/>
              </a:rPr>
              <a:t>初始化时送 </a:t>
            </a:r>
            <a:r>
              <a:rPr lang="en-US" altLang="zh-CN" sz="2000" b="1" dirty="0">
                <a:latin typeface="Arial" panose="020B0604020202020204" pitchFamily="34" charset="0"/>
              </a:rPr>
              <a:t>ICW2</a:t>
            </a:r>
            <a:r>
              <a:rPr lang="zh-CN" altLang="en-US" sz="2000" b="1" dirty="0">
                <a:latin typeface="Arial" panose="020B0604020202020204" pitchFamily="34" charset="0"/>
              </a:rPr>
              <a:t>为</a:t>
            </a:r>
            <a:r>
              <a:rPr lang="en-US" altLang="zh-CN" sz="2000" b="1" dirty="0">
                <a:latin typeface="Arial" panose="020B0604020202020204" pitchFamily="34" charset="0"/>
              </a:rPr>
              <a:t>08H</a:t>
            </a:r>
            <a:r>
              <a:rPr lang="zh-CN" altLang="en-US" sz="2000" b="1" dirty="0">
                <a:latin typeface="Arial" panose="020B0604020202020204" pitchFamily="34" charset="0"/>
              </a:rPr>
              <a:t>，则 </a:t>
            </a:r>
            <a:r>
              <a:rPr lang="en-US" altLang="zh-CN" sz="2000" b="1" dirty="0">
                <a:latin typeface="Arial" panose="020B0604020202020204" pitchFamily="34" charset="0"/>
              </a:rPr>
              <a:t>8255A</a:t>
            </a:r>
            <a:r>
              <a:rPr lang="zh-CN" altLang="en-US" sz="2000" b="1" dirty="0">
                <a:latin typeface="Arial" panose="020B0604020202020204" pitchFamily="34" charset="0"/>
              </a:rPr>
              <a:t>端口</a:t>
            </a:r>
            <a:r>
              <a:rPr lang="en-US" altLang="zh-CN" sz="2000" b="1" dirty="0">
                <a:latin typeface="Arial" panose="020B0604020202020204" pitchFamily="34" charset="0"/>
              </a:rPr>
              <a:t>A</a:t>
            </a:r>
            <a:r>
              <a:rPr lang="zh-CN" altLang="en-US" sz="2000" b="1" dirty="0">
                <a:latin typeface="Arial" panose="020B0604020202020204" pitchFamily="34" charset="0"/>
              </a:rPr>
              <a:t>的中断类型号是</a:t>
            </a:r>
            <a:r>
              <a:rPr lang="en-US" altLang="zh-CN" sz="2000" b="1" dirty="0">
                <a:latin typeface="Arial" panose="020B0604020202020204" pitchFamily="34" charset="0"/>
              </a:rPr>
              <a:t>0BH</a:t>
            </a:r>
            <a:r>
              <a:rPr lang="zh-CN" altLang="en-US" sz="2000" b="1" dirty="0">
                <a:latin typeface="Arial" panose="020B0604020202020204" pitchFamily="34" charset="0"/>
              </a:rPr>
              <a:t>，其对应的中断向量在中断向量表中的地址为</a:t>
            </a:r>
            <a:r>
              <a:rPr lang="en-US" altLang="zh-CN" sz="2000" b="1" dirty="0">
                <a:latin typeface="Arial" panose="020B0604020202020204" pitchFamily="34" charset="0"/>
              </a:rPr>
              <a:t>0002CH</a:t>
            </a:r>
            <a:r>
              <a:rPr lang="zh-CN" altLang="en-US" sz="2000" b="1" dirty="0">
                <a:latin typeface="Arial" panose="020B0604020202020204" pitchFamily="34" charset="0"/>
              </a:rPr>
              <a:t>。</a:t>
            </a:r>
            <a:endParaRPr lang="en-US" altLang="zh-CN" sz="20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标题 319489"/>
          <p:cNvSpPr>
            <a:spLocks noGrp="1"/>
          </p:cNvSpPr>
          <p:nvPr>
            <p:ph type="title"/>
          </p:nvPr>
        </p:nvSpPr>
        <p:spPr>
          <a:xfrm>
            <a:off x="609600" y="188913"/>
            <a:ext cx="8534400" cy="431800"/>
          </a:xfrm>
          <a:ln/>
        </p:spPr>
        <p:txBody>
          <a:bodyPr anchor="ctr"/>
          <a:lstStyle/>
          <a:p>
            <a:pPr lvl="0"/>
            <a:r>
              <a:rPr lang="en-US" altLang="en-US" sz="2800" b="1" dirty="0">
                <a:solidFill>
                  <a:srgbClr val="FF0000"/>
                </a:solidFill>
                <a:ea typeface="隶书" panose="02010509060101010101" pitchFamily="49" charset="-122"/>
              </a:rPr>
              <a:t>9.1  并行接口与可编程并行接口芯片8255A及其应用</a:t>
            </a:r>
            <a:endParaRPr lang="zh-CN" altLang="en-US" sz="28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19491" name="文本框 319490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442990"/>
            <a:ext cx="4629348" cy="475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1176957"/>
            <a:ext cx="4032448" cy="4628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直接连接符 7"/>
          <p:cNvCxnSpPr/>
          <p:nvPr/>
        </p:nvCxnSpPr>
        <p:spPr>
          <a:xfrm>
            <a:off x="4788024" y="764704"/>
            <a:ext cx="0" cy="5544616"/>
          </a:xfrm>
          <a:prstGeom prst="line">
            <a:avLst/>
          </a:prstGeom>
          <a:ln w="158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2FCF07F2-D108-8AE5-178E-BF753AAE7255}"/>
              </a:ext>
            </a:extLst>
          </p:cNvPr>
          <p:cNvSpPr txBox="1"/>
          <p:nvPr/>
        </p:nvSpPr>
        <p:spPr>
          <a:xfrm>
            <a:off x="798090" y="796642"/>
            <a:ext cx="25922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B0F0"/>
                </a:solidFill>
                <a:latin typeface="Arial" panose="020B0604020202020204" pitchFamily="34" charset="0"/>
              </a:rPr>
              <a:t>3</a:t>
            </a:r>
            <a:r>
              <a:rPr lang="zh-CN" altLang="en-US" sz="2000" b="1" dirty="0">
                <a:solidFill>
                  <a:srgbClr val="00B0F0"/>
                </a:solidFill>
                <a:latin typeface="Arial" panose="020B0604020202020204" pitchFamily="34" charset="0"/>
              </a:rPr>
              <a:t>）</a:t>
            </a:r>
            <a:r>
              <a:rPr lang="zh-CN" altLang="en-US" sz="2000" b="1" dirty="0">
                <a:latin typeface="Arial" panose="020B0604020202020204" pitchFamily="34" charset="0"/>
              </a:rPr>
              <a:t>程序设计如下：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19489">
            <a:extLst>
              <a:ext uri="{FF2B5EF4-FFF2-40B4-BE49-F238E27FC236}">
                <a16:creationId xmlns:a16="http://schemas.microsoft.com/office/drawing/2014/main" id="{C00CA6DD-0E8E-EB4A-22F1-DDA672E4DB90}"/>
              </a:ext>
            </a:extLst>
          </p:cNvPr>
          <p:cNvSpPr txBox="1">
            <a:spLocks/>
          </p:cNvSpPr>
          <p:nvPr/>
        </p:nvSpPr>
        <p:spPr>
          <a:xfrm>
            <a:off x="609600" y="188913"/>
            <a:ext cx="8534400" cy="431800"/>
          </a:xfrm>
          <a:ln/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rgbClr val="FF0000"/>
                </a:solidFill>
                <a:ea typeface="隶书" panose="02010509060101010101" pitchFamily="49" charset="-122"/>
              </a:rPr>
              <a:t>9.1  并行接口与可编程并行接口芯片8255A及其应用</a:t>
            </a:r>
            <a:endParaRPr lang="zh-CN" altLang="en-US" sz="28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440DA50-336A-225D-9B39-225FE63CACE6}"/>
              </a:ext>
            </a:extLst>
          </p:cNvPr>
          <p:cNvSpPr txBox="1"/>
          <p:nvPr/>
        </p:nvSpPr>
        <p:spPr>
          <a:xfrm>
            <a:off x="607390" y="908720"/>
            <a:ext cx="8280920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【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例 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9.4】</a:t>
            </a:r>
            <a:r>
              <a:rPr lang="zh-CN" altLang="en-US" sz="2400" b="1" dirty="0">
                <a:latin typeface="Arial" panose="020B0604020202020204" pitchFamily="34" charset="0"/>
              </a:rPr>
              <a:t>利用 </a:t>
            </a:r>
            <a:r>
              <a:rPr lang="en-US" altLang="zh-CN" sz="2400" b="1" dirty="0">
                <a:latin typeface="Arial" panose="020B0604020202020204" pitchFamily="34" charset="0"/>
              </a:rPr>
              <a:t>8255A </a:t>
            </a:r>
            <a:r>
              <a:rPr lang="zh-CN" altLang="en-US" sz="2400" b="1" dirty="0">
                <a:latin typeface="Arial" panose="020B0604020202020204" pitchFamily="34" charset="0"/>
              </a:rPr>
              <a:t>将 </a:t>
            </a:r>
            <a:r>
              <a:rPr lang="en-US" altLang="zh-CN" sz="2400" b="1" dirty="0">
                <a:latin typeface="Arial" panose="020B0604020202020204" pitchFamily="34" charset="0"/>
              </a:rPr>
              <a:t>4 </a:t>
            </a:r>
            <a:r>
              <a:rPr lang="zh-CN" altLang="en-US" sz="2400" b="1" dirty="0">
                <a:latin typeface="Arial" panose="020B0604020202020204" pitchFamily="34" charset="0"/>
              </a:rPr>
              <a:t>位开关的二进制状态输入，经程序转换为对应的 </a:t>
            </a:r>
            <a:r>
              <a:rPr lang="en-US" altLang="zh-CN" sz="2400" b="1" dirty="0">
                <a:latin typeface="Arial" panose="020B0604020202020204" pitchFamily="34" charset="0"/>
              </a:rPr>
              <a:t>LED </a:t>
            </a:r>
            <a:r>
              <a:rPr lang="zh-CN" altLang="en-US" sz="2400" b="1" dirty="0">
                <a:latin typeface="Arial" panose="020B0604020202020204" pitchFamily="34" charset="0"/>
              </a:rPr>
              <a:t>段选码（字形码）后，再输出到 </a:t>
            </a:r>
            <a:r>
              <a:rPr lang="en-US" altLang="zh-CN" sz="2400" b="1" dirty="0">
                <a:latin typeface="Arial" panose="020B0604020202020204" pitchFamily="34" charset="0"/>
              </a:rPr>
              <a:t>8 </a:t>
            </a:r>
            <a:r>
              <a:rPr lang="zh-CN" altLang="en-US" sz="2400" b="1" dirty="0">
                <a:latin typeface="Arial" panose="020B0604020202020204" pitchFamily="34" charset="0"/>
              </a:rPr>
              <a:t>位 </a:t>
            </a:r>
            <a:r>
              <a:rPr lang="en-US" altLang="zh-CN" sz="2400" b="1" dirty="0">
                <a:latin typeface="Arial" panose="020B0604020202020204" pitchFamily="34" charset="0"/>
              </a:rPr>
              <a:t>LED </a:t>
            </a:r>
            <a:r>
              <a:rPr lang="zh-CN" altLang="en-US" sz="2400" b="1" dirty="0">
                <a:latin typeface="Arial" panose="020B0604020202020204" pitchFamily="34" charset="0"/>
              </a:rPr>
              <a:t>显示器。试完成相应的软硬件设计。 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endParaRPr lang="en-US" altLang="zh-CN" sz="2400" b="1" dirty="0">
              <a:latin typeface="Arial" panose="020B0604020202020204" pitchFamily="34" charset="0"/>
            </a:endParaRPr>
          </a:p>
          <a:p>
            <a:r>
              <a:rPr lang="zh-CN" altLang="en-US" sz="2000" b="1" dirty="0">
                <a:latin typeface="Arial" panose="020B0604020202020204" pitchFamily="34" charset="0"/>
              </a:rPr>
              <a:t>分析： 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r>
              <a:rPr lang="en-US" altLang="zh-CN" sz="2000" b="1" dirty="0">
                <a:solidFill>
                  <a:srgbClr val="00B0F0"/>
                </a:solidFill>
                <a:latin typeface="Arial" panose="020B0604020202020204" pitchFamily="34" charset="0"/>
              </a:rPr>
              <a:t>1</a:t>
            </a:r>
            <a:r>
              <a:rPr lang="zh-CN" altLang="en-US" sz="2000" b="1" dirty="0">
                <a:solidFill>
                  <a:srgbClr val="00B0F0"/>
                </a:solidFill>
                <a:latin typeface="Arial" panose="020B0604020202020204" pitchFamily="34" charset="0"/>
              </a:rPr>
              <a:t>）</a:t>
            </a:r>
            <a:r>
              <a:rPr lang="zh-CN" altLang="en-US" sz="2000" b="1" dirty="0">
                <a:latin typeface="Arial" panose="020B0604020202020204" pitchFamily="34" charset="0"/>
              </a:rPr>
              <a:t>本系统中有两组外设需要控制，一组是 </a:t>
            </a:r>
            <a:r>
              <a:rPr lang="en-US" altLang="zh-CN" sz="2000" b="1" dirty="0">
                <a:latin typeface="Arial" panose="020B0604020202020204" pitchFamily="34" charset="0"/>
              </a:rPr>
              <a:t>4 </a:t>
            </a:r>
            <a:r>
              <a:rPr lang="zh-CN" altLang="en-US" sz="2000" b="1" dirty="0">
                <a:latin typeface="Arial" panose="020B0604020202020204" pitchFamily="34" charset="0"/>
              </a:rPr>
              <a:t>位开关输入设备，一组是 </a:t>
            </a:r>
            <a:r>
              <a:rPr lang="en-US" altLang="zh-CN" sz="2000" b="1" dirty="0">
                <a:latin typeface="Arial" panose="020B0604020202020204" pitchFamily="34" charset="0"/>
              </a:rPr>
              <a:t>8 </a:t>
            </a:r>
            <a:r>
              <a:rPr lang="zh-CN" altLang="en-US" sz="2000" b="1" dirty="0">
                <a:latin typeface="Arial" panose="020B0604020202020204" pitchFamily="34" charset="0"/>
              </a:rPr>
              <a:t>位 </a:t>
            </a:r>
            <a:r>
              <a:rPr lang="en-US" altLang="zh-CN" sz="2000" b="1" dirty="0">
                <a:latin typeface="Arial" panose="020B0604020202020204" pitchFamily="34" charset="0"/>
              </a:rPr>
              <a:t>LED </a:t>
            </a:r>
            <a:r>
              <a:rPr lang="zh-CN" altLang="en-US" sz="2000" b="1" dirty="0">
                <a:latin typeface="Arial" panose="020B0604020202020204" pitchFamily="34" charset="0"/>
              </a:rPr>
              <a:t>显示 输出设备，由于两组外设均比较简单，在与 </a:t>
            </a:r>
            <a:r>
              <a:rPr lang="en-US" altLang="zh-CN" sz="2000" b="1" dirty="0">
                <a:latin typeface="Arial" panose="020B0604020202020204" pitchFamily="34" charset="0"/>
              </a:rPr>
              <a:t>CPU </a:t>
            </a:r>
            <a:r>
              <a:rPr lang="zh-CN" altLang="en-US" sz="2000" b="1" dirty="0">
                <a:latin typeface="Arial" panose="020B0604020202020204" pitchFamily="34" charset="0"/>
              </a:rPr>
              <a:t>进行数据交换时可以采用无条件方式，故 </a:t>
            </a:r>
            <a:r>
              <a:rPr lang="en-US" altLang="zh-CN" sz="2000" b="1" dirty="0">
                <a:latin typeface="Arial" panose="020B0604020202020204" pitchFamily="34" charset="0"/>
              </a:rPr>
              <a:t>8255A </a:t>
            </a:r>
            <a:r>
              <a:rPr lang="zh-CN" altLang="en-US" sz="2000" b="1" dirty="0">
                <a:latin typeface="Arial" panose="020B0604020202020204" pitchFamily="34" charset="0"/>
              </a:rPr>
              <a:t>在本系统中选择工作方式 </a:t>
            </a:r>
            <a:r>
              <a:rPr lang="en-US" altLang="zh-CN" sz="2000" b="1" dirty="0">
                <a:latin typeface="Arial" panose="020B0604020202020204" pitchFamily="34" charset="0"/>
              </a:rPr>
              <a:t>0</a:t>
            </a:r>
            <a:r>
              <a:rPr lang="zh-CN" altLang="en-US" sz="2000" b="1" dirty="0">
                <a:latin typeface="Arial" panose="020B0604020202020204" pitchFamily="34" charset="0"/>
              </a:rPr>
              <a:t>。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r>
              <a:rPr lang="zh-CN" altLang="en-US" sz="2000" b="1" dirty="0">
                <a:latin typeface="Arial" panose="020B0604020202020204" pitchFamily="34" charset="0"/>
              </a:rPr>
              <a:t> 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r>
              <a:rPr lang="en-US" altLang="zh-CN" sz="2000" b="1" dirty="0">
                <a:solidFill>
                  <a:srgbClr val="00B0F0"/>
                </a:solidFill>
                <a:latin typeface="Arial" panose="020B0604020202020204" pitchFamily="34" charset="0"/>
              </a:rPr>
              <a:t>2</a:t>
            </a:r>
            <a:r>
              <a:rPr lang="zh-CN" altLang="en-US" sz="2000" b="1" dirty="0">
                <a:solidFill>
                  <a:srgbClr val="00B0F0"/>
                </a:solidFill>
                <a:latin typeface="Arial" panose="020B0604020202020204" pitchFamily="34" charset="0"/>
              </a:rPr>
              <a:t>）</a:t>
            </a:r>
            <a:r>
              <a:rPr lang="en-US" altLang="zh-CN" sz="2000" b="1" dirty="0">
                <a:latin typeface="Arial" panose="020B0604020202020204" pitchFamily="34" charset="0"/>
              </a:rPr>
              <a:t>8255A </a:t>
            </a:r>
            <a:r>
              <a:rPr lang="zh-CN" altLang="en-US" sz="2000" b="1" dirty="0">
                <a:latin typeface="Arial" panose="020B0604020202020204" pitchFamily="34" charset="0"/>
              </a:rPr>
              <a:t>在方式 </a:t>
            </a:r>
            <a:r>
              <a:rPr lang="en-US" altLang="zh-CN" sz="2000" b="1" dirty="0">
                <a:latin typeface="Arial" panose="020B0604020202020204" pitchFamily="34" charset="0"/>
              </a:rPr>
              <a:t>0 </a:t>
            </a:r>
            <a:r>
              <a:rPr lang="zh-CN" altLang="en-US" sz="2000" b="1" dirty="0">
                <a:latin typeface="Arial" panose="020B0604020202020204" pitchFamily="34" charset="0"/>
              </a:rPr>
              <a:t>下，</a:t>
            </a:r>
            <a:r>
              <a:rPr lang="en-US" altLang="zh-CN" sz="2000" b="1" dirty="0">
                <a:latin typeface="Arial" panose="020B0604020202020204" pitchFamily="34" charset="0"/>
              </a:rPr>
              <a:t>A </a:t>
            </a:r>
            <a:r>
              <a:rPr lang="zh-CN" altLang="en-US" sz="2000" b="1" dirty="0">
                <a:latin typeface="Arial" panose="020B0604020202020204" pitchFamily="34" charset="0"/>
              </a:rPr>
              <a:t>口和 </a:t>
            </a:r>
            <a:r>
              <a:rPr lang="en-US" altLang="zh-CN" sz="2000" b="1" dirty="0">
                <a:latin typeface="Arial" panose="020B0604020202020204" pitchFamily="34" charset="0"/>
              </a:rPr>
              <a:t>B </a:t>
            </a:r>
            <a:r>
              <a:rPr lang="zh-CN" altLang="en-US" sz="2000" b="1" dirty="0">
                <a:latin typeface="Arial" panose="020B0604020202020204" pitchFamily="34" charset="0"/>
              </a:rPr>
              <a:t>口可以做单向数据输入或输出，</a:t>
            </a:r>
            <a:r>
              <a:rPr lang="en-US" altLang="zh-CN" sz="2000" b="1" dirty="0">
                <a:latin typeface="Arial" panose="020B0604020202020204" pitchFamily="34" charset="0"/>
              </a:rPr>
              <a:t>C </a:t>
            </a:r>
            <a:r>
              <a:rPr lang="zh-CN" altLang="en-US" sz="2000" b="1" dirty="0">
                <a:latin typeface="Arial" panose="020B0604020202020204" pitchFamily="34" charset="0"/>
              </a:rPr>
              <a:t>口的高 </a:t>
            </a:r>
            <a:r>
              <a:rPr lang="en-US" altLang="zh-CN" sz="2000" b="1" dirty="0">
                <a:latin typeface="Arial" panose="020B0604020202020204" pitchFamily="34" charset="0"/>
              </a:rPr>
              <a:t>4 </a:t>
            </a:r>
            <a:r>
              <a:rPr lang="zh-CN" altLang="en-US" sz="2000" b="1" dirty="0">
                <a:latin typeface="Arial" panose="020B0604020202020204" pitchFamily="34" charset="0"/>
              </a:rPr>
              <a:t>位和低 </a:t>
            </a:r>
            <a:r>
              <a:rPr lang="en-US" altLang="zh-CN" sz="2000" b="1" dirty="0">
                <a:latin typeface="Arial" panose="020B0604020202020204" pitchFamily="34" charset="0"/>
              </a:rPr>
              <a:t>4 </a:t>
            </a:r>
            <a:r>
              <a:rPr lang="zh-CN" altLang="en-US" sz="2000" b="1" dirty="0">
                <a:latin typeface="Arial" panose="020B0604020202020204" pitchFamily="34" charset="0"/>
              </a:rPr>
              <a:t>位可以做单向数据输入或输出。据此，本例的硬件电路设计方案不唯一，可以使用 </a:t>
            </a:r>
            <a:r>
              <a:rPr lang="en-US" altLang="zh-CN" sz="2000" b="1" dirty="0">
                <a:latin typeface="Arial" panose="020B0604020202020204" pitchFamily="34" charset="0"/>
              </a:rPr>
              <a:t>A </a:t>
            </a:r>
            <a:r>
              <a:rPr lang="zh-CN" altLang="en-US" sz="2000" b="1" dirty="0">
                <a:latin typeface="Arial" panose="020B0604020202020204" pitchFamily="34" charset="0"/>
              </a:rPr>
              <a:t>口的低 </a:t>
            </a:r>
            <a:r>
              <a:rPr lang="en-US" altLang="zh-CN" sz="2000" b="1" dirty="0">
                <a:latin typeface="Arial" panose="020B0604020202020204" pitchFamily="34" charset="0"/>
              </a:rPr>
              <a:t>4 </a:t>
            </a:r>
            <a:r>
              <a:rPr lang="zh-CN" altLang="en-US" sz="2000" b="1" dirty="0">
                <a:latin typeface="Arial" panose="020B0604020202020204" pitchFamily="34" charset="0"/>
              </a:rPr>
              <a:t>位数据接 </a:t>
            </a:r>
            <a:r>
              <a:rPr lang="en-US" altLang="zh-CN" sz="2000" b="1" dirty="0">
                <a:latin typeface="Arial" panose="020B0604020202020204" pitchFamily="34" charset="0"/>
              </a:rPr>
              <a:t>4 </a:t>
            </a:r>
            <a:r>
              <a:rPr lang="zh-CN" altLang="en-US" sz="2000" b="1" dirty="0">
                <a:latin typeface="Arial" panose="020B0604020202020204" pitchFamily="34" charset="0"/>
              </a:rPr>
              <a:t>位开关，完成输入；使用 </a:t>
            </a:r>
            <a:r>
              <a:rPr lang="en-US" altLang="zh-CN" sz="2000" b="1" dirty="0">
                <a:latin typeface="Arial" panose="020B0604020202020204" pitchFamily="34" charset="0"/>
              </a:rPr>
              <a:t>B </a:t>
            </a:r>
            <a:r>
              <a:rPr lang="zh-CN" altLang="en-US" sz="2000" b="1" dirty="0">
                <a:latin typeface="Arial" panose="020B0604020202020204" pitchFamily="34" charset="0"/>
              </a:rPr>
              <a:t>口的 </a:t>
            </a:r>
            <a:r>
              <a:rPr lang="en-US" altLang="zh-CN" sz="2000" b="1" dirty="0">
                <a:latin typeface="Arial" panose="020B0604020202020204" pitchFamily="34" charset="0"/>
              </a:rPr>
              <a:t>8 </a:t>
            </a:r>
            <a:r>
              <a:rPr lang="zh-CN" altLang="en-US" sz="2000" b="1" dirty="0">
                <a:latin typeface="Arial" panose="020B0604020202020204" pitchFamily="34" charset="0"/>
              </a:rPr>
              <a:t>位数据接 </a:t>
            </a:r>
            <a:r>
              <a:rPr lang="en-US" altLang="zh-CN" sz="2000" b="1" dirty="0">
                <a:latin typeface="Arial" panose="020B0604020202020204" pitchFamily="34" charset="0"/>
              </a:rPr>
              <a:t>LED </a:t>
            </a:r>
            <a:r>
              <a:rPr lang="zh-CN" altLang="en-US" sz="2000" b="1" dirty="0">
                <a:latin typeface="Arial" panose="020B0604020202020204" pitchFamily="34" charset="0"/>
              </a:rPr>
              <a:t>段控，完成输出显示。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r>
              <a:rPr lang="zh-CN" altLang="en-US" sz="2000" b="1" dirty="0"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76026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19489">
            <a:extLst>
              <a:ext uri="{FF2B5EF4-FFF2-40B4-BE49-F238E27FC236}">
                <a16:creationId xmlns:a16="http://schemas.microsoft.com/office/drawing/2014/main" id="{6E4116AE-C69F-3B62-0626-27FF0A433EE3}"/>
              </a:ext>
            </a:extLst>
          </p:cNvPr>
          <p:cNvSpPr txBox="1">
            <a:spLocks/>
          </p:cNvSpPr>
          <p:nvPr/>
        </p:nvSpPr>
        <p:spPr>
          <a:xfrm>
            <a:off x="609600" y="188913"/>
            <a:ext cx="8534400" cy="431800"/>
          </a:xfrm>
          <a:ln/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rgbClr val="FF0000"/>
                </a:solidFill>
                <a:ea typeface="隶书" panose="02010509060101010101" pitchFamily="49" charset="-122"/>
              </a:rPr>
              <a:t>9.1  并行接口与可编程并行接口芯片8255A及其应用</a:t>
            </a:r>
            <a:endParaRPr lang="zh-CN" altLang="en-US" sz="28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322745"/>
            <a:ext cx="7056784" cy="477055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3C9795A-52A1-4AB9-841A-52B8B3A5023E}"/>
              </a:ext>
            </a:extLst>
          </p:cNvPr>
          <p:cNvSpPr txBox="1"/>
          <p:nvPr/>
        </p:nvSpPr>
        <p:spPr>
          <a:xfrm>
            <a:off x="755576" y="953413"/>
            <a:ext cx="4595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00B0F0"/>
                </a:solidFill>
                <a:latin typeface="Arial" panose="020B0604020202020204" pitchFamily="34" charset="0"/>
              </a:rPr>
              <a:t>3</a:t>
            </a:r>
            <a:r>
              <a:rPr lang="zh-CN" altLang="en-US" sz="1800" b="1" dirty="0">
                <a:solidFill>
                  <a:srgbClr val="00B0F0"/>
                </a:solidFill>
                <a:latin typeface="Arial" panose="020B0604020202020204" pitchFamily="34" charset="0"/>
              </a:rPr>
              <a:t>）</a:t>
            </a:r>
            <a:r>
              <a:rPr lang="zh-CN" altLang="en-US" sz="1800" b="1" dirty="0">
                <a:latin typeface="Arial" panose="020B0604020202020204" pitchFamily="34" charset="0"/>
              </a:rPr>
              <a:t>硬件电路连接</a:t>
            </a:r>
            <a:endParaRPr lang="zh-CN" altLang="en-US" sz="20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5007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9666F13-5C87-B87F-3FCF-BE797F5428FC}"/>
              </a:ext>
            </a:extLst>
          </p:cNvPr>
          <p:cNvSpPr txBox="1"/>
          <p:nvPr/>
        </p:nvSpPr>
        <p:spPr>
          <a:xfrm>
            <a:off x="683568" y="836712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B0F0"/>
                </a:solidFill>
              </a:rPr>
              <a:t>4</a:t>
            </a:r>
            <a:r>
              <a:rPr lang="zh-CN" altLang="en-US" dirty="0">
                <a:solidFill>
                  <a:srgbClr val="00B0F0"/>
                </a:solidFill>
              </a:rPr>
              <a:t>）</a:t>
            </a:r>
            <a:r>
              <a:rPr lang="zh-CN" altLang="en-US" dirty="0"/>
              <a:t>设 </a:t>
            </a:r>
            <a:r>
              <a:rPr lang="en-US" altLang="zh-CN" dirty="0"/>
              <a:t>8255A </a:t>
            </a:r>
            <a:r>
              <a:rPr lang="zh-CN" altLang="en-US" dirty="0"/>
              <a:t>端口 </a:t>
            </a:r>
            <a:r>
              <a:rPr lang="en-US" altLang="zh-CN" dirty="0"/>
              <a:t>A </a:t>
            </a:r>
            <a:r>
              <a:rPr lang="zh-CN" altLang="en-US" dirty="0"/>
              <a:t>的地址为 </a:t>
            </a:r>
            <a:r>
              <a:rPr lang="en-US" altLang="zh-CN" dirty="0"/>
              <a:t>D0H</a:t>
            </a:r>
            <a:r>
              <a:rPr lang="zh-CN" altLang="en-US" dirty="0"/>
              <a:t>，端口 </a:t>
            </a:r>
            <a:r>
              <a:rPr lang="en-US" altLang="zh-CN" dirty="0"/>
              <a:t>B </a:t>
            </a:r>
            <a:r>
              <a:rPr lang="zh-CN" altLang="en-US" dirty="0"/>
              <a:t>的地址为 </a:t>
            </a:r>
            <a:r>
              <a:rPr lang="en-US" altLang="zh-CN" dirty="0"/>
              <a:t>D1H</a:t>
            </a:r>
            <a:r>
              <a:rPr lang="zh-CN" altLang="en-US" dirty="0"/>
              <a:t>， 端口 </a:t>
            </a:r>
            <a:r>
              <a:rPr lang="en-US" altLang="zh-CN" dirty="0"/>
              <a:t>C </a:t>
            </a:r>
            <a:r>
              <a:rPr lang="zh-CN" altLang="en-US" dirty="0"/>
              <a:t>的地址为 </a:t>
            </a:r>
            <a:r>
              <a:rPr lang="en-US" altLang="zh-CN" dirty="0"/>
              <a:t>D2H</a:t>
            </a:r>
            <a:r>
              <a:rPr lang="zh-CN" altLang="en-US" dirty="0"/>
              <a:t>，控制口的地址为 </a:t>
            </a:r>
            <a:r>
              <a:rPr lang="en-US" altLang="zh-CN" dirty="0"/>
              <a:t>D3H</a:t>
            </a:r>
            <a:r>
              <a:rPr lang="zh-CN" altLang="en-US" dirty="0"/>
              <a:t>，则本例的初始化及输入、输出控制程序如下：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A3CB89F-347C-B02F-85DB-D3E9FC35D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628801"/>
            <a:ext cx="6527703" cy="4752528"/>
          </a:xfrm>
          <a:prstGeom prst="rect">
            <a:avLst/>
          </a:prstGeom>
        </p:spPr>
      </p:pic>
      <p:sp>
        <p:nvSpPr>
          <p:cNvPr id="6" name="标题 319489">
            <a:extLst>
              <a:ext uri="{FF2B5EF4-FFF2-40B4-BE49-F238E27FC236}">
                <a16:creationId xmlns:a16="http://schemas.microsoft.com/office/drawing/2014/main" id="{6D785E3B-7DA8-34BE-1C6A-0C636745D0F1}"/>
              </a:ext>
            </a:extLst>
          </p:cNvPr>
          <p:cNvSpPr txBox="1">
            <a:spLocks/>
          </p:cNvSpPr>
          <p:nvPr/>
        </p:nvSpPr>
        <p:spPr>
          <a:xfrm>
            <a:off x="609600" y="188913"/>
            <a:ext cx="8534400" cy="431800"/>
          </a:xfrm>
          <a:ln/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rgbClr val="FF0000"/>
                </a:solidFill>
                <a:ea typeface="隶书" panose="02010509060101010101" pitchFamily="49" charset="-122"/>
              </a:rPr>
              <a:t>9.1  并行接口与可编程并行接口芯片8255A及其应用</a:t>
            </a:r>
            <a:endParaRPr lang="zh-CN" altLang="en-US" sz="28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75019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标题 264193"/>
          <p:cNvSpPr>
            <a:spLocks noGrp="1"/>
          </p:cNvSpPr>
          <p:nvPr>
            <p:ph type="title"/>
          </p:nvPr>
        </p:nvSpPr>
        <p:spPr>
          <a:xfrm>
            <a:off x="1044575" y="188913"/>
            <a:ext cx="7704138" cy="431800"/>
          </a:xfrm>
          <a:ln/>
        </p:spPr>
        <p:txBody>
          <a:bodyPr anchor="ctr"/>
          <a:lstStyle/>
          <a:p>
            <a:pPr lvl="0"/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9.2  可编程定时/计数器8253及其应用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64195" name="文本框 264194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4196" name="文本框 264195"/>
          <p:cNvSpPr txBox="1"/>
          <p:nvPr/>
        </p:nvSpPr>
        <p:spPr>
          <a:xfrm>
            <a:off x="250825" y="908050"/>
            <a:ext cx="8713788" cy="526297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一、</a:t>
            </a:r>
            <a:r>
              <a:rPr lang="en-US" altLang="zh-CN" sz="2400" b="1" dirty="0" err="1">
                <a:solidFill>
                  <a:srgbClr val="FF00FF"/>
                </a:solidFill>
                <a:latin typeface="Arial" panose="020B0604020202020204" pitchFamily="34" charset="0"/>
              </a:rPr>
              <a:t>定时与计数概念</a:t>
            </a:r>
            <a:endParaRPr lang="zh-CN" altLang="en-US" sz="2400" b="1" dirty="0">
              <a:solidFill>
                <a:srgbClr val="FF00FF"/>
              </a:solidFill>
              <a:latin typeface="Arial" panose="020B0604020202020204" pitchFamily="34" charset="0"/>
            </a:endParaRPr>
          </a:p>
          <a:p>
            <a:pPr lvl="0" eaLnBrk="0" hangingPunct="0"/>
            <a:endParaRPr lang="en-US" altLang="zh-CN" sz="2400" b="1" dirty="0">
              <a:latin typeface="Arial" panose="020B0604020202020204" pitchFamily="34" charset="0"/>
            </a:endParaRPr>
          </a:p>
          <a:p>
            <a:pPr lvl="0" eaLnBrk="0" hangingPunct="0"/>
            <a:r>
              <a:rPr lang="zh-CN" altLang="en-US" sz="2400" b="1" dirty="0">
                <a:latin typeface="Arial" panose="020B0604020202020204" pitchFamily="34" charset="0"/>
              </a:rPr>
              <a:t>实现定时</a:t>
            </a:r>
            <a:r>
              <a:rPr lang="en-US" altLang="zh-CN" sz="2400" b="1" dirty="0">
                <a:latin typeface="Arial" panose="020B0604020202020204" pitchFamily="34" charset="0"/>
              </a:rPr>
              <a:t>/</a:t>
            </a:r>
            <a:r>
              <a:rPr lang="zh-CN" altLang="en-US" sz="2400" b="1" dirty="0">
                <a:latin typeface="Arial" panose="020B0604020202020204" pitchFamily="34" charset="0"/>
              </a:rPr>
              <a:t>计数的</a:t>
            </a:r>
            <a:r>
              <a:rPr lang="en-US" altLang="zh-CN" sz="2400" b="1" dirty="0">
                <a:latin typeface="Arial" panose="020B0604020202020204" pitchFamily="34" charset="0"/>
              </a:rPr>
              <a:t>3</a:t>
            </a:r>
            <a:r>
              <a:rPr lang="zh-CN" altLang="en-US" sz="2400" b="1" dirty="0">
                <a:latin typeface="Arial" panose="020B0604020202020204" pitchFamily="34" charset="0"/>
              </a:rPr>
              <a:t>种方法：</a:t>
            </a:r>
          </a:p>
          <a:p>
            <a:pPr lvl="0" eaLnBrk="0" hangingPunct="0"/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）软件定时</a:t>
            </a:r>
          </a:p>
          <a:p>
            <a:pPr lvl="0" eaLnBrk="0" hangingPunct="0"/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软件定时：通过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程序段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实现，即采用循环让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执行一段不完成任何其它功能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的程序段，通过改变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循环次数控制执行时间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</a:p>
          <a:p>
            <a:pPr lvl="0" eaLnBrk="0" hangingPunct="0"/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）硬件定时器</a:t>
            </a:r>
          </a:p>
          <a:p>
            <a:pPr lvl="0" eaLnBrk="0" hangingPunct="0"/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由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硬件电路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实现的定时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计数器，如采用专用定时芯片或数字逻辑电路构成定时电路等。</a:t>
            </a:r>
          </a:p>
          <a:p>
            <a:pPr lvl="0" eaLnBrk="0" hangingPunct="0"/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）可编程定时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计数器</a:t>
            </a:r>
          </a:p>
          <a:p>
            <a:pPr lvl="0" eaLnBrk="0" hangingPunct="0"/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一种具有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定时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计数功能的专用芯片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，其定时时间和计数值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由软件确定和改变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。芯片设定好以后可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与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并行工作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，不占用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时间，等计数器计时到预定时间，便自动形成一个输出信号，向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提出中断请求。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标题 324609"/>
          <p:cNvSpPr>
            <a:spLocks noGrp="1"/>
          </p:cNvSpPr>
          <p:nvPr>
            <p:ph type="title"/>
          </p:nvPr>
        </p:nvSpPr>
        <p:spPr>
          <a:xfrm>
            <a:off x="1044575" y="188913"/>
            <a:ext cx="7704138" cy="431800"/>
          </a:xfrm>
          <a:ln/>
        </p:spPr>
        <p:txBody>
          <a:bodyPr anchor="ctr"/>
          <a:lstStyle/>
          <a:p>
            <a:pPr lvl="0"/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9.2  可编程定时/计数器8253及其应用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24611" name="文本框 324610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4612" name="文本框 324611"/>
          <p:cNvSpPr txBox="1"/>
          <p:nvPr/>
        </p:nvSpPr>
        <p:spPr>
          <a:xfrm>
            <a:off x="250825" y="908050"/>
            <a:ext cx="475322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0" hangingPunct="0"/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二、</a:t>
            </a:r>
            <a:r>
              <a:rPr lang="en-US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8253的内部结构和引脚功能</a:t>
            </a:r>
            <a:endParaRPr lang="zh-CN" altLang="en-US" sz="2400" b="1" dirty="0">
              <a:solidFill>
                <a:srgbClr val="FF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24614" name="图片 324613" descr="wps_clip_image-222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4287" y="1648371"/>
            <a:ext cx="5400675" cy="37115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279177" y="2204864"/>
            <a:ext cx="3145110" cy="23083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eaLnBrk="0" hangingPunct="0"/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1</a:t>
            </a:r>
            <a:r>
              <a:rPr lang="zh-CN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 ． 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8253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内部结构</a:t>
            </a:r>
            <a:r>
              <a:rPr lang="zh-CN" altLang="en-US" sz="2400" b="1" dirty="0">
                <a:latin typeface="Arial" panose="020B0604020202020204" pitchFamily="34" charset="0"/>
              </a:rPr>
              <a:t>：</a:t>
            </a:r>
          </a:p>
          <a:p>
            <a:pPr lvl="0" eaLnBrk="0" hangingPunct="0"/>
            <a:r>
              <a:rPr lang="zh-CN" altLang="en-US" sz="2400" b="1" dirty="0">
                <a:latin typeface="Arial" panose="020B0604020202020204" pitchFamily="34" charset="0"/>
              </a:rPr>
              <a:t>由数据总线缓冲器、读</a:t>
            </a:r>
            <a:r>
              <a:rPr lang="en-US" altLang="zh-CN" sz="2400" b="1" dirty="0">
                <a:latin typeface="Arial" panose="020B0604020202020204" pitchFamily="34" charset="0"/>
              </a:rPr>
              <a:t>/</a:t>
            </a:r>
            <a:r>
              <a:rPr lang="zh-CN" altLang="en-US" sz="2400" b="1" dirty="0">
                <a:latin typeface="Arial" panose="020B0604020202020204" pitchFamily="34" charset="0"/>
              </a:rPr>
              <a:t>写控制逻辑、控制字寄存器及</a:t>
            </a:r>
            <a:r>
              <a:rPr lang="en-US" altLang="zh-CN" sz="2400" b="1" dirty="0">
                <a:latin typeface="Arial" panose="020B0604020202020204" pitchFamily="34" charset="0"/>
              </a:rPr>
              <a:t>3</a:t>
            </a:r>
            <a:r>
              <a:rPr lang="zh-CN" altLang="en-US" sz="2400" b="1" dirty="0">
                <a:latin typeface="Arial" panose="020B0604020202020204" pitchFamily="34" charset="0"/>
              </a:rPr>
              <a:t>个计数器（计数器</a:t>
            </a:r>
            <a:r>
              <a:rPr lang="en-US" altLang="zh-CN" sz="2400" b="1" dirty="0">
                <a:latin typeface="Arial" panose="020B0604020202020204" pitchFamily="34" charset="0"/>
              </a:rPr>
              <a:t>0</a:t>
            </a:r>
            <a:r>
              <a:rPr lang="zh-CN" altLang="en-US" sz="2400" b="1" dirty="0">
                <a:latin typeface="Arial" panose="020B0604020202020204" pitchFamily="34" charset="0"/>
              </a:rPr>
              <a:t>、</a:t>
            </a:r>
            <a:r>
              <a:rPr lang="en-US" altLang="zh-CN" sz="2400" b="1" dirty="0">
                <a:latin typeface="Arial" panose="020B0604020202020204" pitchFamily="34" charset="0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</a:rPr>
              <a:t>和</a:t>
            </a:r>
            <a:r>
              <a:rPr lang="en-US" altLang="zh-CN" sz="2400" b="1" dirty="0">
                <a:latin typeface="Arial" panose="020B0604020202020204" pitchFamily="34" charset="0"/>
              </a:rPr>
              <a:t>2</a:t>
            </a:r>
            <a:r>
              <a:rPr lang="zh-CN" altLang="en-US" sz="2400" b="1" dirty="0">
                <a:latin typeface="Arial" panose="020B0604020202020204" pitchFamily="34" charset="0"/>
              </a:rPr>
              <a:t>）组成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65DD6C-E741-86FB-DD3E-4974C17F28C9}"/>
              </a:ext>
            </a:extLst>
          </p:cNvPr>
          <p:cNvSpPr txBox="1"/>
          <p:nvPr/>
        </p:nvSpPr>
        <p:spPr>
          <a:xfrm>
            <a:off x="4744986" y="5040352"/>
            <a:ext cx="388843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图</a:t>
            </a:r>
            <a:r>
              <a:rPr lang="en-US" altLang="zh-CN" sz="1600" dirty="0"/>
              <a:t>9.13 8253</a:t>
            </a:r>
            <a:r>
              <a:rPr lang="zh-CN" altLang="en-US" sz="1600" dirty="0"/>
              <a:t>的内部结构框图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标题 325633"/>
          <p:cNvSpPr>
            <a:spLocks noGrp="1"/>
          </p:cNvSpPr>
          <p:nvPr>
            <p:ph type="title"/>
          </p:nvPr>
        </p:nvSpPr>
        <p:spPr>
          <a:xfrm>
            <a:off x="1044575" y="188913"/>
            <a:ext cx="7704138" cy="431800"/>
          </a:xfrm>
          <a:ln/>
        </p:spPr>
        <p:txBody>
          <a:bodyPr anchor="ctr"/>
          <a:lstStyle/>
          <a:p>
            <a:pPr lvl="0"/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9.2  可编程定时/计数器8253及其应用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25635" name="文本框 325634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5636" name="文本框 325635"/>
          <p:cNvSpPr txBox="1"/>
          <p:nvPr/>
        </p:nvSpPr>
        <p:spPr>
          <a:xfrm>
            <a:off x="250825" y="764704"/>
            <a:ext cx="8713788" cy="563231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</a:rPr>
              <a:t>（1）数据总线缓冲器</a:t>
            </a:r>
          </a:p>
          <a:p>
            <a:pPr lvl="0" eaLnBrk="0" hangingPunct="0"/>
            <a:r>
              <a:rPr lang="en-US" altLang="zh-CN" sz="2400" b="1" dirty="0" err="1">
                <a:latin typeface="Arial" panose="020B0604020202020204" pitchFamily="34" charset="0"/>
              </a:rPr>
              <a:t>数据总线缓冲器</a:t>
            </a:r>
            <a:r>
              <a:rPr lang="zh-CN" altLang="en-US" sz="2400" b="1" dirty="0">
                <a:latin typeface="Arial" panose="020B0604020202020204" pitchFamily="34" charset="0"/>
              </a:rPr>
              <a:t>：</a:t>
            </a:r>
            <a:r>
              <a:rPr lang="en-US" altLang="zh-CN" sz="2400" b="1" dirty="0">
                <a:latin typeface="Arial" panose="020B0604020202020204" pitchFamily="34" charset="0"/>
              </a:rPr>
              <a:t>三态、双向的8位寄存器，8位数据线D</a:t>
            </a:r>
            <a:r>
              <a:rPr lang="en-US" altLang="zh-CN" sz="2400" b="1" baseline="-25000" dirty="0">
                <a:latin typeface="Arial" panose="020B0604020202020204" pitchFamily="34" charset="0"/>
              </a:rPr>
              <a:t>7</a:t>
            </a:r>
            <a:r>
              <a:rPr lang="en-US" altLang="zh-CN" sz="2400" b="1" dirty="0">
                <a:latin typeface="Arial" panose="020B0604020202020204" pitchFamily="34" charset="0"/>
              </a:rPr>
              <a:t>～D</a:t>
            </a:r>
            <a:r>
              <a:rPr lang="en-US" altLang="zh-CN" sz="2400" b="1" baseline="-25000" dirty="0">
                <a:latin typeface="Arial" panose="020B0604020202020204" pitchFamily="34" charset="0"/>
              </a:rPr>
              <a:t>0</a:t>
            </a:r>
            <a:r>
              <a:rPr lang="en-US" altLang="zh-CN" sz="2400" b="1" dirty="0">
                <a:latin typeface="Arial" panose="020B0604020202020204" pitchFamily="34" charset="0"/>
              </a:rPr>
              <a:t>与CPU系统的数据总线连接，构成CPU和8253之间信息传送的通道，CPU通过该数据总线缓冲器向8253写入控制命令、计数初值或读取计数值。</a:t>
            </a:r>
          </a:p>
          <a:p>
            <a:pPr lvl="0" eaLnBrk="0" hangingPunct="0"/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</a:rPr>
              <a:t>（2）读/</a:t>
            </a:r>
            <a:r>
              <a:rPr lang="en-US" altLang="zh-CN" sz="2400" b="1" dirty="0" err="1">
                <a:solidFill>
                  <a:srgbClr val="FF00FF"/>
                </a:solidFill>
                <a:latin typeface="Arial" panose="020B0604020202020204" pitchFamily="34" charset="0"/>
              </a:rPr>
              <a:t>写控制逻辑</a:t>
            </a:r>
            <a:endParaRPr lang="en-US" altLang="zh-CN" sz="2400" b="1" dirty="0">
              <a:solidFill>
                <a:srgbClr val="FF00FF"/>
              </a:solidFill>
              <a:latin typeface="Arial" panose="020B0604020202020204" pitchFamily="34" charset="0"/>
            </a:endParaRPr>
          </a:p>
          <a:p>
            <a:pPr lvl="0" eaLnBrk="0" hangingPunct="0"/>
            <a:r>
              <a:rPr lang="en-US" altLang="zh-CN" sz="2400" b="1" dirty="0">
                <a:latin typeface="Arial" panose="020B0604020202020204" pitchFamily="34" charset="0"/>
              </a:rPr>
              <a:t>读/</a:t>
            </a:r>
            <a:r>
              <a:rPr lang="en-US" altLang="zh-CN" sz="2400" b="1" dirty="0" err="1">
                <a:latin typeface="Arial" panose="020B0604020202020204" pitchFamily="34" charset="0"/>
              </a:rPr>
              <a:t>写控制逻辑</a:t>
            </a:r>
            <a:r>
              <a:rPr lang="zh-CN" altLang="en-US" sz="2400" b="1" dirty="0">
                <a:latin typeface="Arial" panose="020B0604020202020204" pitchFamily="34" charset="0"/>
              </a:rPr>
              <a:t>：</a:t>
            </a:r>
            <a:r>
              <a:rPr lang="en-US" altLang="zh-CN" sz="2400" b="1" dirty="0">
                <a:latin typeface="Arial" panose="020B0604020202020204" pitchFamily="34" charset="0"/>
              </a:rPr>
              <a:t>接收CPU系统总线的读、写控制信号，片选信号和端口选择信号，以决定3个计数器、控制计数器中的哪一个进行工作，以及数据传送的方向。</a:t>
            </a:r>
          </a:p>
          <a:p>
            <a:pPr lvl="0" eaLnBrk="0" hangingPunct="0"/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（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</a:rPr>
              <a:t>3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）控制字寄存器</a:t>
            </a:r>
          </a:p>
          <a:p>
            <a:pPr lvl="0" eaLnBrk="0" hangingPunct="0"/>
            <a:r>
              <a:rPr lang="zh-CN" altLang="en-US" sz="2400" b="1" dirty="0">
                <a:latin typeface="Arial" panose="020B0604020202020204" pitchFamily="34" charset="0"/>
              </a:rPr>
              <a:t>控制字寄存器：只能写入而不能读出的</a:t>
            </a:r>
            <a:r>
              <a:rPr lang="en-US" altLang="zh-CN" sz="2400" b="1" dirty="0">
                <a:latin typeface="Arial" panose="020B0604020202020204" pitchFamily="34" charset="0"/>
              </a:rPr>
              <a:t>8</a:t>
            </a:r>
            <a:r>
              <a:rPr lang="zh-CN" altLang="en-US" sz="2400" b="1" dirty="0">
                <a:latin typeface="Arial" panose="020B0604020202020204" pitchFamily="34" charset="0"/>
              </a:rPr>
              <a:t>位寄存器，接收</a:t>
            </a:r>
            <a:r>
              <a:rPr lang="en-US" altLang="zh-CN" sz="2400" b="1" dirty="0">
                <a:latin typeface="Arial" panose="020B0604020202020204" pitchFamily="34" charset="0"/>
              </a:rPr>
              <a:t>CPU</a:t>
            </a:r>
            <a:r>
              <a:rPr lang="zh-CN" altLang="en-US" sz="2400" b="1" dirty="0">
                <a:latin typeface="Arial" panose="020B0604020202020204" pitchFamily="34" charset="0"/>
              </a:rPr>
              <a:t>送来的控制字，以选择计数器及其相应的工作方式等。</a:t>
            </a:r>
          </a:p>
          <a:p>
            <a:pPr lvl="0" eaLnBrk="0" hangingPunct="0"/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（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</a:rPr>
              <a:t>4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）计数器</a:t>
            </a:r>
          </a:p>
          <a:p>
            <a:pPr lvl="0" eaLnBrk="0" hangingPunct="0"/>
            <a:r>
              <a:rPr lang="en-US" altLang="zh-CN" sz="2400" b="1" dirty="0">
                <a:latin typeface="Arial" panose="020B0604020202020204" pitchFamily="34" charset="0"/>
              </a:rPr>
              <a:t>8253</a:t>
            </a:r>
            <a:r>
              <a:rPr lang="zh-CN" altLang="en-US" sz="2400" b="1" dirty="0">
                <a:latin typeface="Arial" panose="020B0604020202020204" pitchFamily="34" charset="0"/>
              </a:rPr>
              <a:t>内部有</a:t>
            </a:r>
            <a:r>
              <a:rPr lang="en-US" altLang="zh-CN" sz="2400" b="1" dirty="0">
                <a:latin typeface="Arial" panose="020B0604020202020204" pitchFamily="34" charset="0"/>
              </a:rPr>
              <a:t>3</a:t>
            </a:r>
            <a:r>
              <a:rPr lang="zh-CN" altLang="en-US" sz="2400" b="1" dirty="0">
                <a:latin typeface="Arial" panose="020B0604020202020204" pitchFamily="34" charset="0"/>
              </a:rPr>
              <a:t>个相互独立的</a:t>
            </a:r>
            <a:r>
              <a:rPr lang="en-US" altLang="zh-CN" sz="2400" b="1" dirty="0">
                <a:latin typeface="Arial" panose="020B0604020202020204" pitchFamily="34" charset="0"/>
              </a:rPr>
              <a:t>16</a:t>
            </a:r>
            <a:r>
              <a:rPr lang="zh-CN" altLang="en-US" sz="2400" b="1" dirty="0">
                <a:latin typeface="Arial" panose="020B0604020202020204" pitchFamily="34" charset="0"/>
              </a:rPr>
              <a:t>位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减“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1”</a:t>
            </a:r>
            <a:r>
              <a:rPr lang="zh-CN" altLang="en-US" sz="2400" b="1" dirty="0">
                <a:latin typeface="Arial" panose="020B0604020202020204" pitchFamily="34" charset="0"/>
              </a:rPr>
              <a:t>计数器，每个计数器都有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6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种不同的工作方式</a:t>
            </a:r>
            <a:r>
              <a:rPr lang="zh-CN" altLang="en-US" sz="2400" b="1" dirty="0">
                <a:latin typeface="Arial" panose="020B0604020202020204" pitchFamily="34" charset="0"/>
              </a:rPr>
              <a:t>，可按照编程设定的方式工作。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标题 326657"/>
          <p:cNvSpPr>
            <a:spLocks noGrp="1"/>
          </p:cNvSpPr>
          <p:nvPr>
            <p:ph type="title"/>
          </p:nvPr>
        </p:nvSpPr>
        <p:spPr>
          <a:xfrm>
            <a:off x="1044575" y="188913"/>
            <a:ext cx="7704138" cy="431800"/>
          </a:xfrm>
          <a:ln/>
        </p:spPr>
        <p:txBody>
          <a:bodyPr anchor="ctr"/>
          <a:lstStyle/>
          <a:p>
            <a:pPr lvl="0"/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9.2  可编程定时/计数器8253及其应用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26659" name="文本框 326658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6660" name="文本框 326659"/>
          <p:cNvSpPr txBox="1"/>
          <p:nvPr/>
        </p:nvSpPr>
        <p:spPr>
          <a:xfrm>
            <a:off x="250825" y="764704"/>
            <a:ext cx="8713788" cy="83099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zh-CN" altLang="zh-CN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计数器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zh-CN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由一个16位的可</a:t>
            </a:r>
            <a:r>
              <a:rPr lang="zh-CN" altLang="zh-CN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预置初值</a:t>
            </a:r>
            <a:r>
              <a:rPr lang="zh-CN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的寄存器、一个</a:t>
            </a:r>
            <a:r>
              <a:rPr lang="zh-CN" altLang="zh-CN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减1计数器</a:t>
            </a:r>
            <a:r>
              <a:rPr lang="zh-CN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及一个</a:t>
            </a:r>
            <a:r>
              <a:rPr lang="zh-CN" altLang="zh-CN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输出锁存器</a:t>
            </a:r>
            <a:r>
              <a:rPr lang="zh-CN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构成，每个计数器可按二进制或BCD码减1计数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3491880" y="2489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8448407"/>
              </p:ext>
            </p:extLst>
          </p:nvPr>
        </p:nvGraphicFramePr>
        <p:xfrm>
          <a:off x="1835696" y="1833563"/>
          <a:ext cx="4758272" cy="3894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2" name="Visio" r:id="rId3" imgW="3146533" imgH="2564841" progId="Visio.Drawing.11">
                  <p:embed/>
                </p:oleObj>
              </mc:Choice>
              <mc:Fallback>
                <p:oleObj name="Visio" r:id="rId3" imgW="3146533" imgH="2564841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1833563"/>
                        <a:ext cx="4758272" cy="38944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标题 327681"/>
          <p:cNvSpPr>
            <a:spLocks noGrp="1"/>
          </p:cNvSpPr>
          <p:nvPr>
            <p:ph type="title"/>
          </p:nvPr>
        </p:nvSpPr>
        <p:spPr>
          <a:xfrm>
            <a:off x="1044575" y="188913"/>
            <a:ext cx="7704138" cy="431800"/>
          </a:xfrm>
          <a:ln/>
        </p:spPr>
        <p:txBody>
          <a:bodyPr anchor="ctr"/>
          <a:lstStyle/>
          <a:p>
            <a:pPr lvl="0"/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9.2  可编程定时/计数器8253及其应用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27683" name="文本框 327682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684" name="文本框 327683"/>
          <p:cNvSpPr txBox="1"/>
          <p:nvPr/>
        </p:nvSpPr>
        <p:spPr>
          <a:xfrm>
            <a:off x="250825" y="908050"/>
            <a:ext cx="4752975" cy="456124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>
              <a:lnSpc>
                <a:spcPct val="110000"/>
              </a:lnSpc>
            </a:pPr>
            <a:r>
              <a:rPr lang="zh-CN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2．8253引脚功能</a:t>
            </a:r>
          </a:p>
          <a:p>
            <a:pPr lvl="0" eaLnBrk="0" hangingPunct="0">
              <a:lnSpc>
                <a:spcPct val="110000"/>
              </a:lnSpc>
              <a:buClr>
                <a:srgbClr val="FF00FF"/>
              </a:buClr>
            </a:pPr>
            <a:r>
              <a:rPr lang="zh-CN" altLang="zh-CN" sz="2400" b="1" dirty="0">
                <a:latin typeface="Arial" panose="020B0604020202020204" pitchFamily="34" charset="0"/>
              </a:rPr>
              <a:t>双列直插式24脚封装，NMOS工艺制造，单一＋5V电源供电。引脚排列</a:t>
            </a:r>
            <a:r>
              <a:rPr lang="zh-CN" altLang="en-US" sz="2400" b="1" dirty="0">
                <a:latin typeface="Arial" panose="020B0604020202020204" pitchFamily="34" charset="0"/>
              </a:rPr>
              <a:t>（图</a:t>
            </a:r>
            <a:r>
              <a:rPr lang="zh-CN" altLang="zh-CN" sz="2400" b="1" dirty="0">
                <a:latin typeface="Arial" panose="020B0604020202020204" pitchFamily="34" charset="0"/>
              </a:rPr>
              <a:t>9.1</a:t>
            </a:r>
            <a:r>
              <a:rPr lang="en-US" altLang="zh-CN" sz="2400" b="1" dirty="0">
                <a:latin typeface="Arial" panose="020B0604020202020204" pitchFamily="34" charset="0"/>
              </a:rPr>
              <a:t>5</a:t>
            </a:r>
            <a:r>
              <a:rPr lang="zh-CN" altLang="en-US" sz="2400" b="1" dirty="0">
                <a:latin typeface="Arial" panose="020B0604020202020204" pitchFamily="34" charset="0"/>
              </a:rPr>
              <a:t>）。</a:t>
            </a:r>
          </a:p>
          <a:p>
            <a:pPr lvl="0" eaLnBrk="0" hangingPunct="0">
              <a:lnSpc>
                <a:spcPct val="110000"/>
              </a:lnSpc>
            </a:pPr>
            <a:endParaRPr lang="en-US" altLang="zh-CN" sz="2400" b="1" dirty="0">
              <a:latin typeface="Arial" panose="020B0604020202020204" pitchFamily="34" charset="0"/>
            </a:endParaRPr>
          </a:p>
          <a:p>
            <a:pPr lvl="0" eaLnBrk="0" hangingPunct="0">
              <a:lnSpc>
                <a:spcPct val="11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D</a:t>
            </a:r>
            <a:r>
              <a:rPr lang="en-US" altLang="zh-CN" sz="2400" b="1" baseline="-25000" dirty="0">
                <a:latin typeface="Arial" panose="020B0604020202020204" pitchFamily="34" charset="0"/>
              </a:rPr>
              <a:t>7</a:t>
            </a:r>
            <a:r>
              <a:rPr lang="zh-CN" altLang="en-US" sz="2400" b="1" dirty="0">
                <a:latin typeface="Arial" panose="020B0604020202020204" pitchFamily="34" charset="0"/>
              </a:rPr>
              <a:t>～</a:t>
            </a:r>
            <a:r>
              <a:rPr lang="en-US" altLang="zh-CN" sz="2400" b="1" dirty="0">
                <a:latin typeface="Arial" panose="020B0604020202020204" pitchFamily="34" charset="0"/>
              </a:rPr>
              <a:t>D</a:t>
            </a:r>
            <a:r>
              <a:rPr lang="en-US" altLang="zh-CN" sz="2400" b="1" baseline="-25000" dirty="0">
                <a:latin typeface="Arial" panose="020B0604020202020204" pitchFamily="34" charset="0"/>
              </a:rPr>
              <a:t>0</a:t>
            </a:r>
            <a:r>
              <a:rPr lang="zh-CN" altLang="en-US" sz="2400" b="1" dirty="0">
                <a:latin typeface="Arial" panose="020B0604020202020204" pitchFamily="34" charset="0"/>
              </a:rPr>
              <a:t>：双向、三态数据线。与</a:t>
            </a:r>
            <a:r>
              <a:rPr lang="en-US" altLang="zh-CN" sz="2400" b="1" dirty="0">
                <a:latin typeface="Arial" panose="020B0604020202020204" pitchFamily="34" charset="0"/>
              </a:rPr>
              <a:t>CPU</a:t>
            </a:r>
            <a:r>
              <a:rPr lang="zh-CN" altLang="en-US" sz="2400" b="1" dirty="0">
                <a:latin typeface="Arial" panose="020B0604020202020204" pitchFamily="34" charset="0"/>
              </a:rPr>
              <a:t>数据总线相连，传递</a:t>
            </a:r>
            <a:r>
              <a:rPr lang="en-US" altLang="zh-CN" sz="2400" b="1" dirty="0">
                <a:latin typeface="Arial" panose="020B0604020202020204" pitchFamily="34" charset="0"/>
              </a:rPr>
              <a:t>CPU</a:t>
            </a:r>
            <a:r>
              <a:rPr lang="zh-CN" altLang="en-US" sz="2400" b="1" dirty="0">
                <a:latin typeface="Arial" panose="020B0604020202020204" pitchFamily="34" charset="0"/>
              </a:rPr>
              <a:t>与</a:t>
            </a:r>
            <a:r>
              <a:rPr lang="en-US" altLang="zh-CN" sz="2400" b="1" dirty="0">
                <a:latin typeface="Arial" panose="020B0604020202020204" pitchFamily="34" charset="0"/>
              </a:rPr>
              <a:t>8253</a:t>
            </a:r>
            <a:r>
              <a:rPr lang="zh-CN" altLang="en-US" sz="2400" b="1" dirty="0">
                <a:latin typeface="Arial" panose="020B0604020202020204" pitchFamily="34" charset="0"/>
              </a:rPr>
              <a:t>间的数据信息、控制信息和状态信息。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lvl="0" eaLnBrk="0" hangingPunct="0">
              <a:lnSpc>
                <a:spcPct val="110000"/>
              </a:lnSpc>
            </a:pPr>
            <a:r>
              <a:rPr lang="zh-CN" altLang="en-US" sz="2400" b="1" dirty="0">
                <a:latin typeface="Arial" panose="020B0604020202020204" pitchFamily="34" charset="0"/>
              </a:rPr>
              <a:t>具体包括写入</a:t>
            </a:r>
            <a:r>
              <a:rPr lang="en-US" altLang="zh-CN" sz="2400" b="1" dirty="0">
                <a:latin typeface="Arial" panose="020B0604020202020204" pitchFamily="34" charset="0"/>
              </a:rPr>
              <a:t>8253</a:t>
            </a:r>
            <a:r>
              <a:rPr lang="zh-CN" altLang="en-US" sz="2400" b="1" dirty="0">
                <a:latin typeface="Arial" panose="020B0604020202020204" pitchFamily="34" charset="0"/>
              </a:rPr>
              <a:t>的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控制字</a:t>
            </a:r>
            <a:r>
              <a:rPr lang="zh-CN" altLang="en-US" sz="2400" b="1" dirty="0">
                <a:latin typeface="Arial" panose="020B0604020202020204" pitchFamily="34" charset="0"/>
              </a:rPr>
              <a:t>、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计数初值</a:t>
            </a:r>
            <a:r>
              <a:rPr lang="zh-CN" altLang="en-US" sz="2400" b="1" dirty="0">
                <a:latin typeface="Arial" panose="020B0604020202020204" pitchFamily="34" charset="0"/>
              </a:rPr>
              <a:t>、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读计数器的当前值</a:t>
            </a:r>
            <a:r>
              <a:rPr lang="zh-CN" altLang="en-US" sz="2400" b="1" dirty="0">
                <a:latin typeface="Arial" panose="020B0604020202020204" pitchFamily="34" charset="0"/>
              </a:rPr>
              <a:t>。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2128197"/>
              </p:ext>
            </p:extLst>
          </p:nvPr>
        </p:nvGraphicFramePr>
        <p:xfrm>
          <a:off x="4869971" y="1412875"/>
          <a:ext cx="3590461" cy="3888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Visio" r:id="rId3" imgW="1688673" imgH="1823923" progId="Visio.Drawing.11">
                  <p:embed/>
                </p:oleObj>
              </mc:Choice>
              <mc:Fallback>
                <p:oleObj name="Visio" r:id="rId3" imgW="1688673" imgH="1823923" progId="Visio.Drawing.11">
                  <p:embed/>
                  <p:pic>
                    <p:nvPicPr>
                      <p:cNvPr id="0" name="对象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9971" y="1412875"/>
                        <a:ext cx="3590461" cy="388833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D2DA8EB8-92D5-EB3A-63F7-74A234E94163}"/>
              </a:ext>
            </a:extLst>
          </p:cNvPr>
          <p:cNvSpPr txBox="1"/>
          <p:nvPr/>
        </p:nvSpPr>
        <p:spPr>
          <a:xfrm>
            <a:off x="5571783" y="4880113"/>
            <a:ext cx="273630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9.15 8253</a:t>
            </a:r>
            <a:r>
              <a:rPr lang="zh-CN" altLang="en-US" dirty="0"/>
              <a:t>的引脚图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标题 328705"/>
          <p:cNvSpPr>
            <a:spLocks noGrp="1"/>
          </p:cNvSpPr>
          <p:nvPr>
            <p:ph type="title"/>
          </p:nvPr>
        </p:nvSpPr>
        <p:spPr>
          <a:xfrm>
            <a:off x="1044575" y="188913"/>
            <a:ext cx="7704138" cy="431800"/>
          </a:xfrm>
          <a:ln/>
        </p:spPr>
        <p:txBody>
          <a:bodyPr anchor="ctr"/>
          <a:lstStyle/>
          <a:p>
            <a:pPr lvl="0"/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9.2  可编程定时/计数器8253及其应用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28707" name="文本框 328706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8708" name="文本框 328707"/>
          <p:cNvSpPr txBox="1"/>
          <p:nvPr/>
        </p:nvSpPr>
        <p:spPr>
          <a:xfrm>
            <a:off x="250824" y="908050"/>
            <a:ext cx="8785671" cy="4715715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lvl="0" eaLnBrk="0" hangingPunct="0">
              <a:lnSpc>
                <a:spcPct val="105000"/>
              </a:lnSpc>
            </a:pPr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CS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zh-CN" altLang="zh-CN" sz="2400" b="1" dirty="0">
                <a:latin typeface="+mj-lt"/>
              </a:rPr>
              <a:t>片选信号，输入。低电平有效时，8253被选中，允许CPU对其进行读/写操作。</a:t>
            </a:r>
            <a:endParaRPr lang="en-US" altLang="zh-CN" sz="2400" b="1" dirty="0">
              <a:latin typeface="+mj-lt"/>
            </a:endParaRPr>
          </a:p>
          <a:p>
            <a:pPr lvl="0" eaLnBrk="0" hangingPunct="0">
              <a:lnSpc>
                <a:spcPct val="105000"/>
              </a:lnSpc>
            </a:pPr>
            <a:r>
              <a:rPr lang="en-US" altLang="zh-CN" sz="2400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RD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zh-CN" altLang="zh-CN" sz="2400" b="1" dirty="0">
                <a:latin typeface="+mj-lt"/>
                <a:ea typeface="宋体" panose="02010600030101010101" pitchFamily="2" charset="-122"/>
              </a:rPr>
              <a:t>读信号，输入，低电平有效。控制CPU对8253的</a:t>
            </a:r>
            <a:r>
              <a:rPr lang="zh-CN" altLang="zh-CN" sz="2400" b="1" dirty="0">
                <a:solidFill>
                  <a:srgbClr val="FF0000"/>
                </a:solidFill>
                <a:latin typeface="+mj-lt"/>
                <a:ea typeface="宋体" panose="02010600030101010101" pitchFamily="2" charset="-122"/>
              </a:rPr>
              <a:t>读</a:t>
            </a:r>
            <a:r>
              <a:rPr lang="zh-CN" altLang="zh-CN" sz="2400" b="1" dirty="0">
                <a:latin typeface="+mj-lt"/>
                <a:ea typeface="宋体" panose="02010600030101010101" pitchFamily="2" charset="-122"/>
              </a:rPr>
              <a:t>操作，</a:t>
            </a:r>
            <a:endParaRPr lang="en-US" altLang="zh-CN" sz="2400" b="1" dirty="0">
              <a:latin typeface="+mj-lt"/>
              <a:ea typeface="宋体" panose="02010600030101010101" pitchFamily="2" charset="-122"/>
            </a:endParaRPr>
          </a:p>
          <a:p>
            <a:pPr lvl="0" eaLnBrk="0" hangingPunct="0">
              <a:lnSpc>
                <a:spcPct val="105000"/>
              </a:lnSpc>
            </a:pPr>
            <a:r>
              <a:rPr lang="en-US" altLang="zh-CN" sz="2400" b="1" dirty="0">
                <a:latin typeface="+mj-lt"/>
              </a:rPr>
              <a:t>        </a:t>
            </a:r>
            <a:r>
              <a:rPr lang="zh-CN" altLang="zh-CN" sz="2400" b="1" dirty="0">
                <a:latin typeface="+mj-lt"/>
                <a:ea typeface="宋体" panose="02010600030101010101" pitchFamily="2" charset="-122"/>
              </a:rPr>
              <a:t>与A</a:t>
            </a:r>
            <a:r>
              <a:rPr lang="zh-CN" altLang="zh-CN" sz="2400" b="1" baseline="-25000" dirty="0">
                <a:latin typeface="+mj-lt"/>
                <a:ea typeface="宋体" panose="02010600030101010101" pitchFamily="2" charset="-122"/>
              </a:rPr>
              <a:t>1</a:t>
            </a:r>
            <a:r>
              <a:rPr lang="zh-CN" altLang="zh-CN" sz="2400" b="1" dirty="0">
                <a:latin typeface="+mj-lt"/>
                <a:ea typeface="宋体" panose="02010600030101010101" pitchFamily="2" charset="-122"/>
              </a:rPr>
              <a:t>、A</a:t>
            </a:r>
            <a:r>
              <a:rPr lang="zh-CN" altLang="zh-CN" sz="2400" b="1" baseline="-25000" dirty="0">
                <a:latin typeface="+mj-lt"/>
                <a:ea typeface="宋体" panose="02010600030101010101" pitchFamily="2" charset="-122"/>
              </a:rPr>
              <a:t>0</a:t>
            </a:r>
            <a:r>
              <a:rPr lang="zh-CN" altLang="zh-CN" sz="2400" b="1" dirty="0">
                <a:latin typeface="+mj-lt"/>
                <a:ea typeface="宋体" panose="02010600030101010101" pitchFamily="2" charset="-122"/>
              </a:rPr>
              <a:t>信号配合读取某个计数器的</a:t>
            </a:r>
            <a:r>
              <a:rPr lang="zh-CN" altLang="zh-CN" sz="2400" b="1" dirty="0">
                <a:solidFill>
                  <a:srgbClr val="FF00FF"/>
                </a:solidFill>
                <a:latin typeface="+mj-lt"/>
                <a:ea typeface="宋体" panose="02010600030101010101" pitchFamily="2" charset="-122"/>
              </a:rPr>
              <a:t>当前计数值</a:t>
            </a:r>
            <a:r>
              <a:rPr lang="zh-CN" altLang="zh-CN" sz="2400" b="1" dirty="0">
                <a:latin typeface="+mj-lt"/>
                <a:ea typeface="宋体" panose="02010600030101010101" pitchFamily="2" charset="-122"/>
              </a:rPr>
              <a:t>。</a:t>
            </a:r>
          </a:p>
          <a:p>
            <a:pPr lvl="0" eaLnBrk="0" hangingPunct="0">
              <a:lnSpc>
                <a:spcPct val="105000"/>
              </a:lnSpc>
            </a:pP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WR</a:t>
            </a:r>
            <a:r>
              <a:rPr lang="zh-CN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zh-CN" altLang="zh-CN" sz="2400" b="1" dirty="0">
                <a:latin typeface="+mj-lt"/>
                <a:ea typeface="宋体" panose="02010600030101010101" pitchFamily="2" charset="-122"/>
              </a:rPr>
              <a:t>写信号，输入，低电平有效。控制CPU对8253的</a:t>
            </a:r>
            <a:r>
              <a:rPr lang="zh-CN" altLang="zh-CN" sz="2400" b="1" dirty="0">
                <a:solidFill>
                  <a:srgbClr val="FF0000"/>
                </a:solidFill>
                <a:latin typeface="+mj-lt"/>
              </a:rPr>
              <a:t>写</a:t>
            </a:r>
            <a:r>
              <a:rPr lang="zh-CN" altLang="zh-CN" sz="2400" b="1" dirty="0">
                <a:latin typeface="+mj-lt"/>
                <a:ea typeface="宋体" panose="02010600030101010101" pitchFamily="2" charset="-122"/>
              </a:rPr>
              <a:t>操作，</a:t>
            </a:r>
            <a:endParaRPr lang="en-US" altLang="zh-CN" sz="2400" b="1" dirty="0">
              <a:latin typeface="+mj-lt"/>
              <a:ea typeface="宋体" panose="02010600030101010101" pitchFamily="2" charset="-122"/>
            </a:endParaRPr>
          </a:p>
          <a:p>
            <a:pPr lvl="0" eaLnBrk="0" hangingPunct="0">
              <a:lnSpc>
                <a:spcPct val="105000"/>
              </a:lnSpc>
            </a:pPr>
            <a:r>
              <a:rPr lang="en-US" altLang="zh-CN" sz="2400" b="1" dirty="0">
                <a:latin typeface="+mj-lt"/>
              </a:rPr>
              <a:t>         </a:t>
            </a:r>
            <a:r>
              <a:rPr lang="zh-CN" altLang="zh-CN" sz="2400" b="1" dirty="0">
                <a:latin typeface="+mj-lt"/>
                <a:ea typeface="宋体" panose="02010600030101010101" pitchFamily="2" charset="-122"/>
              </a:rPr>
              <a:t>与A</a:t>
            </a:r>
            <a:r>
              <a:rPr lang="zh-CN" altLang="zh-CN" sz="2400" b="1" baseline="-25000" dirty="0">
                <a:latin typeface="+mj-lt"/>
                <a:ea typeface="宋体" panose="02010600030101010101" pitchFamily="2" charset="-122"/>
              </a:rPr>
              <a:t>1</a:t>
            </a:r>
            <a:r>
              <a:rPr lang="zh-CN" altLang="zh-CN" sz="2400" b="1" dirty="0">
                <a:latin typeface="+mj-lt"/>
                <a:ea typeface="宋体" panose="02010600030101010101" pitchFamily="2" charset="-122"/>
              </a:rPr>
              <a:t>、A</a:t>
            </a:r>
            <a:r>
              <a:rPr lang="zh-CN" altLang="zh-CN" sz="2400" b="1" baseline="-25000" dirty="0">
                <a:latin typeface="+mj-lt"/>
                <a:ea typeface="宋体" panose="02010600030101010101" pitchFamily="2" charset="-122"/>
              </a:rPr>
              <a:t>0</a:t>
            </a:r>
            <a:r>
              <a:rPr lang="zh-CN" altLang="zh-CN" sz="2400" b="1" dirty="0">
                <a:latin typeface="+mj-lt"/>
                <a:ea typeface="宋体" panose="02010600030101010101" pitchFamily="2" charset="-122"/>
              </a:rPr>
              <a:t>信号配合决定是</a:t>
            </a:r>
            <a:r>
              <a:rPr lang="zh-CN" altLang="zh-CN" sz="2400" b="1" dirty="0">
                <a:solidFill>
                  <a:srgbClr val="0000FF"/>
                </a:solidFill>
                <a:latin typeface="+mj-lt"/>
                <a:ea typeface="宋体" panose="02010600030101010101" pitchFamily="2" charset="-122"/>
              </a:rPr>
              <a:t>写入控制字还是计数初值</a:t>
            </a:r>
            <a:r>
              <a:rPr lang="zh-CN" altLang="zh-CN" sz="2400" b="1" dirty="0">
                <a:latin typeface="+mj-lt"/>
                <a:ea typeface="宋体" panose="02010600030101010101" pitchFamily="2" charset="-122"/>
              </a:rPr>
              <a:t>。</a:t>
            </a:r>
            <a:endParaRPr lang="zh-CN" altLang="en-US" sz="2400" b="1" dirty="0">
              <a:latin typeface="+mj-lt"/>
              <a:ea typeface="宋体" panose="02010600030101010101" pitchFamily="2" charset="-122"/>
            </a:endParaRPr>
          </a:p>
          <a:p>
            <a:pPr lvl="0" eaLnBrk="0" hangingPunct="0">
              <a:lnSpc>
                <a:spcPct val="105000"/>
              </a:lnSpc>
            </a:pPr>
            <a:r>
              <a:rPr lang="zh-CN" altLang="zh-CN" sz="2400" b="1" dirty="0">
                <a:solidFill>
                  <a:srgbClr val="FF00FF"/>
                </a:solidFill>
                <a:latin typeface="+mj-lt"/>
                <a:ea typeface="宋体" panose="02010600030101010101" pitchFamily="2" charset="-122"/>
              </a:rPr>
              <a:t>CLK</a:t>
            </a:r>
            <a:r>
              <a:rPr lang="zh-CN" altLang="zh-CN" sz="2400" b="1" baseline="-25000" dirty="0">
                <a:solidFill>
                  <a:srgbClr val="FF00FF"/>
                </a:solidFill>
                <a:latin typeface="+mj-lt"/>
                <a:ea typeface="宋体" panose="02010600030101010101" pitchFamily="2" charset="-122"/>
              </a:rPr>
              <a:t>0</a:t>
            </a:r>
            <a:r>
              <a:rPr lang="zh-CN" altLang="zh-CN" sz="2400" b="1" dirty="0">
                <a:solidFill>
                  <a:srgbClr val="FF00FF"/>
                </a:solidFill>
                <a:latin typeface="+mj-lt"/>
                <a:ea typeface="宋体" panose="02010600030101010101" pitchFamily="2" charset="-122"/>
              </a:rPr>
              <a:t>～CLK</a:t>
            </a:r>
            <a:r>
              <a:rPr lang="zh-CN" altLang="zh-CN" sz="2400" b="1" baseline="-25000" dirty="0">
                <a:solidFill>
                  <a:srgbClr val="FF00FF"/>
                </a:solidFill>
                <a:latin typeface="+mj-lt"/>
                <a:ea typeface="宋体" panose="02010600030101010101" pitchFamily="2" charset="-122"/>
              </a:rPr>
              <a:t>2</a:t>
            </a:r>
            <a:r>
              <a:rPr lang="zh-CN" altLang="zh-CN" sz="2400" b="1" dirty="0">
                <a:latin typeface="+mj-lt"/>
                <a:ea typeface="宋体" panose="02010600030101010101" pitchFamily="2" charset="-122"/>
              </a:rPr>
              <a:t>：时钟</a:t>
            </a:r>
            <a:r>
              <a:rPr lang="zh-CN" altLang="zh-CN" sz="2400" b="1" dirty="0">
                <a:solidFill>
                  <a:srgbClr val="0000FF"/>
                </a:solidFill>
                <a:latin typeface="+mj-lt"/>
                <a:ea typeface="宋体" panose="02010600030101010101" pitchFamily="2" charset="-122"/>
              </a:rPr>
              <a:t>脉冲</a:t>
            </a:r>
            <a:r>
              <a:rPr lang="zh-CN" altLang="zh-CN" sz="2400" b="1" dirty="0">
                <a:latin typeface="+mj-lt"/>
                <a:ea typeface="宋体" panose="02010600030101010101" pitchFamily="2" charset="-122"/>
              </a:rPr>
              <a:t>输入信号，输入定时基准脉冲或计数脉</a:t>
            </a:r>
            <a:endParaRPr lang="en-US" altLang="zh-CN" sz="2400" b="1" dirty="0">
              <a:latin typeface="+mj-lt"/>
              <a:ea typeface="宋体" panose="02010600030101010101" pitchFamily="2" charset="-122"/>
            </a:endParaRPr>
          </a:p>
          <a:p>
            <a:pPr lvl="0" eaLnBrk="0" hangingPunct="0">
              <a:lnSpc>
                <a:spcPct val="105000"/>
              </a:lnSpc>
            </a:pPr>
            <a:r>
              <a:rPr lang="en-US" altLang="zh-CN" sz="2400" b="1" dirty="0">
                <a:latin typeface="+mj-lt"/>
              </a:rPr>
              <a:t>         </a:t>
            </a:r>
            <a:r>
              <a:rPr lang="zh-CN" altLang="zh-CN" sz="2400" b="1" dirty="0">
                <a:latin typeface="+mj-lt"/>
                <a:ea typeface="宋体" panose="02010600030101010101" pitchFamily="2" charset="-122"/>
              </a:rPr>
              <a:t>冲。</a:t>
            </a:r>
          </a:p>
          <a:p>
            <a:pPr lvl="0" eaLnBrk="0" hangingPunct="0">
              <a:lnSpc>
                <a:spcPct val="105000"/>
              </a:lnSpc>
            </a:pPr>
            <a:r>
              <a:rPr lang="zh-CN" altLang="zh-CN" sz="2400" b="1" dirty="0">
                <a:solidFill>
                  <a:srgbClr val="FF00FF"/>
                </a:solidFill>
                <a:latin typeface="+mj-lt"/>
                <a:ea typeface="宋体" panose="02010600030101010101" pitchFamily="2" charset="-122"/>
              </a:rPr>
              <a:t>GATE</a:t>
            </a:r>
            <a:r>
              <a:rPr lang="zh-CN" altLang="zh-CN" sz="2400" b="1" baseline="-25000" dirty="0">
                <a:solidFill>
                  <a:srgbClr val="FF00FF"/>
                </a:solidFill>
                <a:latin typeface="+mj-lt"/>
                <a:ea typeface="宋体" panose="02010600030101010101" pitchFamily="2" charset="-122"/>
              </a:rPr>
              <a:t>0</a:t>
            </a:r>
            <a:r>
              <a:rPr lang="zh-CN" altLang="zh-CN" sz="2400" b="1" dirty="0">
                <a:solidFill>
                  <a:srgbClr val="FF00FF"/>
                </a:solidFill>
                <a:latin typeface="+mj-lt"/>
                <a:ea typeface="宋体" panose="02010600030101010101" pitchFamily="2" charset="-122"/>
              </a:rPr>
              <a:t>～GATE</a:t>
            </a:r>
            <a:r>
              <a:rPr lang="zh-CN" altLang="zh-CN" sz="2400" b="1" baseline="-25000" dirty="0">
                <a:solidFill>
                  <a:srgbClr val="FF00FF"/>
                </a:solidFill>
                <a:latin typeface="+mj-lt"/>
                <a:ea typeface="宋体" panose="02010600030101010101" pitchFamily="2" charset="-122"/>
              </a:rPr>
              <a:t>2</a:t>
            </a:r>
            <a:r>
              <a:rPr lang="zh-CN" altLang="zh-CN" sz="2400" b="1" dirty="0">
                <a:latin typeface="+mj-lt"/>
                <a:ea typeface="宋体" panose="02010600030101010101" pitchFamily="2" charset="-122"/>
              </a:rPr>
              <a:t>：</a:t>
            </a:r>
            <a:r>
              <a:rPr lang="zh-CN" altLang="zh-CN" sz="2400" b="1" dirty="0">
                <a:solidFill>
                  <a:srgbClr val="0000FF"/>
                </a:solidFill>
                <a:latin typeface="+mj-lt"/>
              </a:rPr>
              <a:t>门控</a:t>
            </a:r>
            <a:r>
              <a:rPr lang="zh-CN" altLang="zh-CN" sz="2400" b="1" dirty="0">
                <a:latin typeface="+mj-lt"/>
                <a:ea typeface="宋体" panose="02010600030101010101" pitchFamily="2" charset="-122"/>
              </a:rPr>
              <a:t>输入信号，控制计数器的启动或停止。</a:t>
            </a:r>
            <a:endParaRPr lang="en-US" altLang="zh-CN" sz="2400" b="1" dirty="0">
              <a:latin typeface="+mj-lt"/>
              <a:ea typeface="宋体" panose="02010600030101010101" pitchFamily="2" charset="-122"/>
            </a:endParaRPr>
          </a:p>
          <a:p>
            <a:pPr lvl="0" eaLnBrk="0" hangingPunct="0">
              <a:lnSpc>
                <a:spcPct val="105000"/>
              </a:lnSpc>
            </a:pPr>
            <a:r>
              <a:rPr lang="en-US" altLang="zh-CN" sz="2400" b="1" dirty="0">
                <a:latin typeface="+mj-lt"/>
              </a:rPr>
              <a:t>         </a:t>
            </a:r>
            <a:r>
              <a:rPr lang="zh-CN" altLang="zh-CN" sz="2400" b="1" dirty="0">
                <a:latin typeface="+mj-lt"/>
                <a:ea typeface="宋体" panose="02010600030101010101" pitchFamily="2" charset="-122"/>
              </a:rPr>
              <a:t>GATE高电平时，允许计数器工作。</a:t>
            </a:r>
          </a:p>
          <a:p>
            <a:pPr lvl="0" eaLnBrk="0" hangingPunct="0">
              <a:lnSpc>
                <a:spcPct val="105000"/>
              </a:lnSpc>
            </a:pPr>
            <a:r>
              <a:rPr lang="zh-CN" altLang="zh-CN" sz="2400" b="1" dirty="0">
                <a:solidFill>
                  <a:srgbClr val="FF00FF"/>
                </a:solidFill>
                <a:latin typeface="+mj-lt"/>
                <a:ea typeface="宋体" panose="02010600030101010101" pitchFamily="2" charset="-122"/>
              </a:rPr>
              <a:t>OUT</a:t>
            </a:r>
            <a:r>
              <a:rPr lang="zh-CN" altLang="zh-CN" sz="2400" b="1" baseline="-25000" dirty="0">
                <a:solidFill>
                  <a:srgbClr val="FF00FF"/>
                </a:solidFill>
                <a:latin typeface="+mj-lt"/>
                <a:ea typeface="宋体" panose="02010600030101010101" pitchFamily="2" charset="-122"/>
              </a:rPr>
              <a:t>0</a:t>
            </a:r>
            <a:r>
              <a:rPr lang="zh-CN" altLang="zh-CN" sz="2400" b="1" dirty="0">
                <a:solidFill>
                  <a:srgbClr val="FF00FF"/>
                </a:solidFill>
                <a:latin typeface="+mj-lt"/>
                <a:ea typeface="宋体" panose="02010600030101010101" pitchFamily="2" charset="-122"/>
              </a:rPr>
              <a:t>～OUT</a:t>
            </a:r>
            <a:r>
              <a:rPr lang="zh-CN" altLang="zh-CN" sz="2400" b="1" baseline="-25000" dirty="0">
                <a:solidFill>
                  <a:srgbClr val="FF00FF"/>
                </a:solidFill>
                <a:latin typeface="+mj-lt"/>
                <a:ea typeface="宋体" panose="02010600030101010101" pitchFamily="2" charset="-122"/>
              </a:rPr>
              <a:t>2</a:t>
            </a:r>
            <a:r>
              <a:rPr lang="zh-CN" altLang="zh-CN" sz="2400" b="1" dirty="0">
                <a:latin typeface="+mj-lt"/>
                <a:ea typeface="宋体" panose="02010600030101010101" pitchFamily="2" charset="-122"/>
              </a:rPr>
              <a:t>：</a:t>
            </a:r>
            <a:r>
              <a:rPr lang="zh-CN" altLang="zh-CN" sz="2400" b="1" dirty="0">
                <a:solidFill>
                  <a:srgbClr val="0000FF"/>
                </a:solidFill>
                <a:latin typeface="+mj-lt"/>
              </a:rPr>
              <a:t>计数器</a:t>
            </a:r>
            <a:r>
              <a:rPr lang="zh-CN" altLang="zh-CN" sz="2400" b="1" dirty="0">
                <a:latin typeface="+mj-lt"/>
                <a:ea typeface="宋体" panose="02010600030101010101" pitchFamily="2" charset="-122"/>
              </a:rPr>
              <a:t>输出信号，计数结束时，在OUT端产生</a:t>
            </a:r>
            <a:endParaRPr lang="en-US" altLang="zh-CN" sz="2400" b="1" dirty="0">
              <a:latin typeface="+mj-lt"/>
              <a:ea typeface="宋体" panose="02010600030101010101" pitchFamily="2" charset="-122"/>
            </a:endParaRPr>
          </a:p>
          <a:p>
            <a:pPr lvl="0" eaLnBrk="0" hangingPunct="0">
              <a:lnSpc>
                <a:spcPct val="105000"/>
              </a:lnSpc>
            </a:pPr>
            <a:r>
              <a:rPr lang="en-US" altLang="zh-CN" sz="2400" b="1" dirty="0">
                <a:latin typeface="+mj-lt"/>
              </a:rPr>
              <a:t>          </a:t>
            </a:r>
            <a:r>
              <a:rPr lang="zh-CN" altLang="zh-CN" sz="2400" b="1" dirty="0">
                <a:latin typeface="+mj-lt"/>
                <a:ea typeface="宋体" panose="02010600030101010101" pitchFamily="2" charset="-122"/>
              </a:rPr>
              <a:t>输出信号，不同的工作方式有不同的输出波形。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195C4DF-D694-5E4A-9A08-C4FFB5433E9B}"/>
              </a:ext>
            </a:extLst>
          </p:cNvPr>
          <p:cNvCxnSpPr/>
          <p:nvPr/>
        </p:nvCxnSpPr>
        <p:spPr>
          <a:xfrm>
            <a:off x="395536" y="980728"/>
            <a:ext cx="288032" cy="0"/>
          </a:xfrm>
          <a:prstGeom prst="line">
            <a:avLst/>
          </a:prstGeom>
          <a:ln>
            <a:solidFill>
              <a:srgbClr val="FF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70C6CA7-39A7-3AFA-3B6E-EF7F58B46DD8}"/>
              </a:ext>
            </a:extLst>
          </p:cNvPr>
          <p:cNvCxnSpPr/>
          <p:nvPr/>
        </p:nvCxnSpPr>
        <p:spPr>
          <a:xfrm>
            <a:off x="395536" y="1772816"/>
            <a:ext cx="360040" cy="0"/>
          </a:xfrm>
          <a:prstGeom prst="line">
            <a:avLst/>
          </a:prstGeom>
          <a:ln>
            <a:solidFill>
              <a:srgbClr val="FF00FF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7F2B60D-C510-AE42-7C1C-9753AA95122F}"/>
              </a:ext>
            </a:extLst>
          </p:cNvPr>
          <p:cNvCxnSpPr/>
          <p:nvPr/>
        </p:nvCxnSpPr>
        <p:spPr>
          <a:xfrm>
            <a:off x="395536" y="2492896"/>
            <a:ext cx="360040" cy="0"/>
          </a:xfrm>
          <a:prstGeom prst="line">
            <a:avLst/>
          </a:prstGeom>
          <a:ln>
            <a:solidFill>
              <a:srgbClr val="FF00FF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标题 329729"/>
          <p:cNvSpPr>
            <a:spLocks noGrp="1"/>
          </p:cNvSpPr>
          <p:nvPr>
            <p:ph type="title"/>
          </p:nvPr>
        </p:nvSpPr>
        <p:spPr>
          <a:xfrm>
            <a:off x="1044575" y="188913"/>
            <a:ext cx="7704138" cy="431800"/>
          </a:xfrm>
          <a:ln/>
        </p:spPr>
        <p:txBody>
          <a:bodyPr anchor="ctr"/>
          <a:lstStyle/>
          <a:p>
            <a:pPr lvl="0"/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9.2  可编程定时/计数器8253及其应用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29731" name="文本框 329730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9732" name="文本框 329731"/>
          <p:cNvSpPr txBox="1"/>
          <p:nvPr/>
        </p:nvSpPr>
        <p:spPr>
          <a:xfrm>
            <a:off x="250825" y="836613"/>
            <a:ext cx="8713788" cy="161332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>
              <a:lnSpc>
                <a:spcPct val="105000"/>
              </a:lnSpc>
            </a:pPr>
            <a:r>
              <a:rPr lang="zh-CN" altLang="zh-CN" sz="2400" b="1" dirty="0">
                <a:solidFill>
                  <a:srgbClr val="FF00FF"/>
                </a:solidFill>
                <a:latin typeface="+mj-lt"/>
                <a:ea typeface="宋体" panose="02010600030101010101" pitchFamily="2" charset="-122"/>
              </a:rPr>
              <a:t>A</a:t>
            </a:r>
            <a:r>
              <a:rPr lang="zh-CN" altLang="zh-CN" sz="2400" b="1" baseline="-25000" dirty="0">
                <a:solidFill>
                  <a:srgbClr val="FF00FF"/>
                </a:solidFill>
                <a:latin typeface="+mj-lt"/>
                <a:ea typeface="宋体" panose="02010600030101010101" pitchFamily="2" charset="-122"/>
              </a:rPr>
              <a:t>1</a:t>
            </a:r>
            <a:r>
              <a:rPr lang="zh-CN" altLang="zh-CN" sz="2400" b="1" dirty="0">
                <a:solidFill>
                  <a:srgbClr val="FF00FF"/>
                </a:solidFill>
                <a:latin typeface="+mj-lt"/>
                <a:ea typeface="宋体" panose="02010600030101010101" pitchFamily="2" charset="-122"/>
              </a:rPr>
              <a:t>、A</a:t>
            </a:r>
            <a:r>
              <a:rPr lang="zh-CN" altLang="zh-CN" sz="2400" b="1" baseline="-25000" dirty="0">
                <a:solidFill>
                  <a:srgbClr val="FF00FF"/>
                </a:solidFill>
                <a:latin typeface="+mj-lt"/>
                <a:ea typeface="宋体" panose="02010600030101010101" pitchFamily="2" charset="-122"/>
              </a:rPr>
              <a:t>0</a:t>
            </a:r>
            <a:r>
              <a:rPr lang="zh-CN" altLang="zh-CN" sz="2400" b="1" dirty="0">
                <a:latin typeface="+mj-lt"/>
                <a:ea typeface="宋体" panose="02010600030101010101" pitchFamily="2" charset="-122"/>
              </a:rPr>
              <a:t>：端口地址选择线，用于8253</a:t>
            </a:r>
            <a:r>
              <a:rPr lang="zh-CN" altLang="zh-CN" sz="2400" b="1" dirty="0">
                <a:solidFill>
                  <a:srgbClr val="0000FF"/>
                </a:solidFill>
                <a:latin typeface="+mj-lt"/>
                <a:ea typeface="宋体" panose="02010600030101010101" pitchFamily="2" charset="-122"/>
              </a:rPr>
              <a:t>片内译码</a:t>
            </a:r>
            <a:r>
              <a:rPr lang="zh-CN" altLang="zh-CN" sz="2400" b="1" dirty="0">
                <a:latin typeface="+mj-lt"/>
                <a:ea typeface="宋体" panose="02010600030101010101" pitchFamily="2" charset="-122"/>
              </a:rPr>
              <a:t>，以选择内部三个计数器和控制字寄存器端口地址。</a:t>
            </a:r>
          </a:p>
          <a:p>
            <a:pPr lvl="0" eaLnBrk="0" hangingPunct="0">
              <a:lnSpc>
                <a:spcPct val="105000"/>
              </a:lnSpc>
            </a:pPr>
            <a:r>
              <a:rPr lang="en-US" altLang="zh-CN" sz="2400" b="1" dirty="0">
                <a:latin typeface="+mj-lt"/>
              </a:rPr>
              <a:t>   </a:t>
            </a:r>
            <a:r>
              <a:rPr lang="zh-CN" altLang="zh-CN" sz="2400" b="1" dirty="0">
                <a:latin typeface="+mj-lt"/>
                <a:ea typeface="宋体" panose="02010600030101010101" pitchFamily="2" charset="-122"/>
              </a:rPr>
              <a:t>8253共占用4个端口地址，A</a:t>
            </a:r>
            <a:r>
              <a:rPr lang="zh-CN" altLang="zh-CN" sz="2400" b="1" baseline="-25000" dirty="0">
                <a:latin typeface="+mj-lt"/>
                <a:ea typeface="宋体" panose="02010600030101010101" pitchFamily="2" charset="-122"/>
              </a:rPr>
              <a:t>0</a:t>
            </a:r>
            <a:r>
              <a:rPr lang="zh-CN" altLang="zh-CN" sz="2400" b="1" dirty="0">
                <a:latin typeface="+mj-lt"/>
                <a:ea typeface="宋体" panose="02010600030101010101" pitchFamily="2" charset="-122"/>
              </a:rPr>
              <a:t>、A</a:t>
            </a:r>
            <a:r>
              <a:rPr lang="zh-CN" altLang="zh-CN" sz="2400" b="1" baseline="-25000" dirty="0">
                <a:latin typeface="+mj-lt"/>
                <a:ea typeface="宋体" panose="02010600030101010101" pitchFamily="2" charset="-122"/>
              </a:rPr>
              <a:t>1</a:t>
            </a:r>
            <a:r>
              <a:rPr lang="zh-CN" altLang="zh-CN" sz="2400" b="1" dirty="0">
                <a:latin typeface="+mj-lt"/>
                <a:ea typeface="宋体" panose="02010600030101010101" pitchFamily="2" charset="-122"/>
              </a:rPr>
              <a:t>与片选信号及读/写信号共同决定了对8253各端口的操作功能</a:t>
            </a:r>
            <a:r>
              <a:rPr lang="zh-CN" altLang="en-US" sz="2400" b="1" dirty="0">
                <a:latin typeface="+mj-lt"/>
                <a:ea typeface="宋体" panose="02010600030101010101" pitchFamily="2" charset="-122"/>
              </a:rPr>
              <a:t>。</a:t>
            </a:r>
            <a:endParaRPr lang="en-US" altLang="zh-CN" sz="2400" b="1" dirty="0">
              <a:latin typeface="+mj-lt"/>
              <a:ea typeface="宋体" panose="02010600030101010101" pitchFamily="2" charset="-122"/>
            </a:endParaRPr>
          </a:p>
        </p:txBody>
      </p:sp>
      <p:sp>
        <p:nvSpPr>
          <p:cNvPr id="329736" name="矩形 329735"/>
          <p:cNvSpPr/>
          <p:nvPr/>
        </p:nvSpPr>
        <p:spPr>
          <a:xfrm>
            <a:off x="1759145" y="2482719"/>
            <a:ext cx="5179623" cy="46166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 algn="just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表 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9-3 8253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端口地址分配及读写操作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085542"/>
              </p:ext>
            </p:extLst>
          </p:nvPr>
        </p:nvGraphicFramePr>
        <p:xfrm>
          <a:off x="755576" y="2958187"/>
          <a:ext cx="7200802" cy="36425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9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9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33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769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5979"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Times New Roman"/>
                        <a:ea typeface="黑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000">
                        <a:effectLst/>
                        <a:latin typeface="Times New Roman"/>
                        <a:ea typeface="黑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000">
                        <a:effectLst/>
                        <a:latin typeface="Times New Roman"/>
                        <a:ea typeface="黑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A</a:t>
                      </a:r>
                      <a:r>
                        <a:rPr lang="en-US" sz="2000" baseline="-25000" dirty="0">
                          <a:effectLst/>
                        </a:rPr>
                        <a:t>1</a:t>
                      </a:r>
                      <a:endParaRPr lang="zh-CN" sz="20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A</a:t>
                      </a:r>
                      <a:r>
                        <a:rPr lang="en-US" sz="2000" baseline="-25000" dirty="0">
                          <a:effectLst/>
                        </a:rPr>
                        <a:t>0</a:t>
                      </a:r>
                      <a:endParaRPr lang="zh-CN" sz="20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2000" dirty="0">
                          <a:effectLst/>
                        </a:rPr>
                        <a:t>寄存器选择及其操作</a:t>
                      </a:r>
                      <a:endParaRPr lang="zh-CN" sz="20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511"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zh-CN" sz="20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</a:t>
                      </a:r>
                      <a:endParaRPr lang="zh-CN" sz="20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zh-CN" sz="20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zh-CN" sz="20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zh-CN" sz="20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2000" dirty="0">
                          <a:effectLst/>
                        </a:rPr>
                        <a:t>写计数器</a:t>
                      </a:r>
                      <a:r>
                        <a:rPr lang="en-US" sz="2000" dirty="0">
                          <a:effectLst/>
                        </a:rPr>
                        <a:t>0</a:t>
                      </a:r>
                      <a:endParaRPr lang="zh-CN" sz="20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511"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zh-CN" sz="20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zh-CN" sz="20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zh-CN" sz="20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zh-CN" sz="20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zh-CN" sz="20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2000" dirty="0">
                          <a:effectLst/>
                        </a:rPr>
                        <a:t>写计数器</a:t>
                      </a:r>
                      <a:r>
                        <a:rPr lang="en-US" sz="2000" dirty="0">
                          <a:effectLst/>
                        </a:rPr>
                        <a:t>1</a:t>
                      </a:r>
                      <a:endParaRPr lang="zh-CN" sz="20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511"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zh-CN" sz="20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zh-CN" sz="20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zh-CN" sz="20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zh-CN" sz="20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zh-CN" sz="20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2000" dirty="0">
                          <a:effectLst/>
                        </a:rPr>
                        <a:t>写计数器</a:t>
                      </a:r>
                      <a:r>
                        <a:rPr lang="en-US" sz="2000" dirty="0">
                          <a:effectLst/>
                        </a:rPr>
                        <a:t>2</a:t>
                      </a:r>
                      <a:endParaRPr lang="zh-CN" sz="20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511"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zh-CN" sz="20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zh-CN" sz="20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zh-CN" sz="20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zh-CN" sz="20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zh-CN" sz="20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2000" dirty="0">
                          <a:effectLst/>
                        </a:rPr>
                        <a:t>写控制字</a:t>
                      </a:r>
                      <a:endParaRPr lang="zh-CN" sz="20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511"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zh-CN" sz="20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zh-CN" sz="20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zh-CN" sz="20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zh-CN" sz="20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zh-CN" sz="20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2000" dirty="0">
                          <a:effectLst/>
                        </a:rPr>
                        <a:t>读计数器</a:t>
                      </a:r>
                      <a:r>
                        <a:rPr lang="en-US" sz="2000" dirty="0">
                          <a:effectLst/>
                        </a:rPr>
                        <a:t>0</a:t>
                      </a:r>
                      <a:endParaRPr lang="zh-CN" sz="20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9511"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zh-CN" sz="20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zh-CN" sz="20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zh-CN" sz="20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zh-CN" sz="20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zh-CN" sz="20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2000" dirty="0">
                          <a:effectLst/>
                        </a:rPr>
                        <a:t>读计数器</a:t>
                      </a:r>
                      <a:r>
                        <a:rPr lang="en-US" sz="2000" dirty="0">
                          <a:effectLst/>
                        </a:rPr>
                        <a:t>1</a:t>
                      </a:r>
                      <a:endParaRPr lang="zh-CN" sz="20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9511"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zh-CN" sz="20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zh-CN" sz="20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zh-CN" sz="20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</a:t>
                      </a:r>
                      <a:endParaRPr lang="zh-CN" sz="20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zh-CN" sz="20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2000" dirty="0">
                          <a:effectLst/>
                        </a:rPr>
                        <a:t>读计数器</a:t>
                      </a:r>
                      <a:r>
                        <a:rPr lang="en-US" sz="2000" dirty="0">
                          <a:effectLst/>
                        </a:rPr>
                        <a:t>2</a:t>
                      </a:r>
                      <a:endParaRPr lang="zh-CN" sz="20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4259268"/>
              </p:ext>
            </p:extLst>
          </p:nvPr>
        </p:nvGraphicFramePr>
        <p:xfrm>
          <a:off x="920516" y="2852936"/>
          <a:ext cx="460201" cy="529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6" name="公式" r:id="rId3" imgW="191344" imgH="216664" progId="Equation.3">
                  <p:embed/>
                </p:oleObj>
              </mc:Choice>
              <mc:Fallback>
                <p:oleObj name="公式" r:id="rId3" imgW="191344" imgH="216664" progId="Equation.3">
                  <p:embed/>
                  <p:pic>
                    <p:nvPicPr>
                      <p:cNvPr id="0" name="对象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516" y="2852936"/>
                        <a:ext cx="460201" cy="5292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7764413"/>
              </p:ext>
            </p:extLst>
          </p:nvPr>
        </p:nvGraphicFramePr>
        <p:xfrm>
          <a:off x="1587166" y="2852936"/>
          <a:ext cx="532914" cy="4865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" name="公式" r:id="rId5" imgW="216664" imgH="204004" progId="Equation.3">
                  <p:embed/>
                </p:oleObj>
              </mc:Choice>
              <mc:Fallback>
                <p:oleObj name="公式" r:id="rId5" imgW="216664" imgH="204004" progId="Equation.3">
                  <p:embed/>
                  <p:pic>
                    <p:nvPicPr>
                      <p:cNvPr id="0" name="对象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166" y="2852936"/>
                        <a:ext cx="532914" cy="48657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9873088"/>
              </p:ext>
            </p:extLst>
          </p:nvPr>
        </p:nvGraphicFramePr>
        <p:xfrm>
          <a:off x="2299687" y="2857056"/>
          <a:ext cx="532914" cy="4902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8" name="公式" r:id="rId7" imgW="242058" imgH="216407" progId="Equation.3">
                  <p:embed/>
                </p:oleObj>
              </mc:Choice>
              <mc:Fallback>
                <p:oleObj name="公式" r:id="rId7" imgW="242058" imgH="216407" progId="Equation.3">
                  <p:embed/>
                  <p:pic>
                    <p:nvPicPr>
                      <p:cNvPr id="0" name="对象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9687" y="2857056"/>
                        <a:ext cx="532914" cy="49028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标题 330753"/>
          <p:cNvSpPr>
            <a:spLocks noGrp="1"/>
          </p:cNvSpPr>
          <p:nvPr>
            <p:ph type="title"/>
          </p:nvPr>
        </p:nvSpPr>
        <p:spPr>
          <a:xfrm>
            <a:off x="1044575" y="188913"/>
            <a:ext cx="7704138" cy="431800"/>
          </a:xfrm>
          <a:ln/>
        </p:spPr>
        <p:txBody>
          <a:bodyPr anchor="ctr"/>
          <a:lstStyle/>
          <a:p>
            <a:pPr lvl="0"/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9.2  可编程定时/计数器8253及其应用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30755" name="文本框 330754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30756" name="文本框 330755"/>
          <p:cNvSpPr txBox="1"/>
          <p:nvPr/>
        </p:nvSpPr>
        <p:spPr>
          <a:xfrm>
            <a:off x="250825" y="908050"/>
            <a:ext cx="8713788" cy="193899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三、</a:t>
            </a:r>
            <a:r>
              <a:rPr lang="en-US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8253的控制字和工作方式</a:t>
            </a:r>
            <a:endParaRPr lang="zh-CN" altLang="en-US" sz="2400" b="1" dirty="0">
              <a:solidFill>
                <a:srgbClr val="FF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1．8253的控制字</a:t>
            </a:r>
          </a:p>
          <a:p>
            <a:pPr lvl="0" eaLnBrk="0" hangingPunct="0"/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8253</a:t>
            </a:r>
            <a:r>
              <a:rPr lang="en-US" altLang="zh-CN" sz="2400" dirty="0">
                <a:latin typeface="Arial" panose="020B0604020202020204" pitchFamily="34" charset="0"/>
              </a:rPr>
              <a:t>的控制字主要实现4方面功能：选择计数器；设定计数器数据的读、写格式；设置计数器的工作方式；设置计数器计数的数制</a:t>
            </a:r>
            <a:r>
              <a:rPr lang="zh-CN" altLang="en-US" sz="2400" dirty="0">
                <a:latin typeface="Arial" panose="020B0604020202020204" pitchFamily="34" charset="0"/>
              </a:rPr>
              <a:t>。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0763950"/>
              </p:ext>
            </p:extLst>
          </p:nvPr>
        </p:nvGraphicFramePr>
        <p:xfrm>
          <a:off x="1442103" y="2564904"/>
          <a:ext cx="7037198" cy="3528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8" name="Visio" r:id="rId3" imgW="3954678" imgH="1914372" progId="Visio.Drawing.11">
                  <p:embed/>
                </p:oleObj>
              </mc:Choice>
              <mc:Fallback>
                <p:oleObj name="Visio" r:id="rId3" imgW="3954678" imgH="1914372" progId="Visio.Drawing.11">
                  <p:embed/>
                  <p:pic>
                    <p:nvPicPr>
                      <p:cNvPr id="0" name="对象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2103" y="2564904"/>
                        <a:ext cx="7037198" cy="352839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标题 331777"/>
          <p:cNvSpPr>
            <a:spLocks noGrp="1"/>
          </p:cNvSpPr>
          <p:nvPr>
            <p:ph type="title"/>
          </p:nvPr>
        </p:nvSpPr>
        <p:spPr>
          <a:xfrm>
            <a:off x="1044575" y="188913"/>
            <a:ext cx="7704138" cy="431800"/>
          </a:xfrm>
          <a:ln/>
        </p:spPr>
        <p:txBody>
          <a:bodyPr anchor="ctr"/>
          <a:lstStyle/>
          <a:p>
            <a:pPr lvl="0"/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9.2  </a:t>
            </a:r>
            <a:r>
              <a:rPr lang="en-US" altLang="zh-CN" sz="3200" b="1" dirty="0" err="1">
                <a:solidFill>
                  <a:srgbClr val="FF0000"/>
                </a:solidFill>
                <a:ea typeface="隶书" panose="02010509060101010101" pitchFamily="49" charset="-122"/>
              </a:rPr>
              <a:t>可编程定时</a:t>
            </a:r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/计数器8253及其应用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31779" name="文本框 331778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31780" name="文本框 331779"/>
          <p:cNvSpPr txBox="1"/>
          <p:nvPr/>
        </p:nvSpPr>
        <p:spPr>
          <a:xfrm>
            <a:off x="250825" y="908050"/>
            <a:ext cx="8713788" cy="486229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0" hangingPunct="0"/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．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8253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的工作方式</a:t>
            </a:r>
          </a:p>
          <a:p>
            <a:pPr lvl="0" algn="just" eaLnBrk="0" hangingPunct="0"/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algn="just" eaLnBrk="0" hangingPunct="0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8253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有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种不同工作方式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，每一种方式都有其特点和应用范围。三个计数器不论工作在哪种方式下，都应遵循以下规则：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algn="just" eaLnBrk="0" hangingPunct="0"/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algn="just" eaLnBrk="0" hangingPunct="0">
              <a:lnSpc>
                <a:spcPts val="3300"/>
              </a:lnSpc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①控制字写入控制寄存器后，控制逻辑电路复位，输出信号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algn="just" eaLnBrk="0" hangingPunct="0">
              <a:lnSpc>
                <a:spcPts val="33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    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OUT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进入初始状态（高电平或低电平）；</a:t>
            </a:r>
          </a:p>
          <a:p>
            <a:pPr lvl="0" algn="just" eaLnBrk="0" hangingPunct="0">
              <a:lnSpc>
                <a:spcPts val="3300"/>
              </a:lnSpc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②计数初值写入“计数初值寄存器”后，经过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一个时钟周期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送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algn="just" eaLnBrk="0" hangingPunct="0">
              <a:lnSpc>
                <a:spcPts val="33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   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入“减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计数器”；</a:t>
            </a:r>
          </a:p>
          <a:p>
            <a:pPr lvl="0" algn="just" eaLnBrk="0" hangingPunct="0">
              <a:lnSpc>
                <a:spcPts val="3300"/>
              </a:lnSpc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③通常在时钟脉冲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CLK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上升沿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对门控信号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GATE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采样。在不同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algn="just" eaLnBrk="0" hangingPunct="0">
              <a:lnSpc>
                <a:spcPts val="33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   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工作方式下，对门控信号的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触发方式有不同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的要求；</a:t>
            </a:r>
          </a:p>
          <a:p>
            <a:pPr lvl="0" algn="just" eaLnBrk="0" hangingPunct="0">
              <a:lnSpc>
                <a:spcPts val="3300"/>
              </a:lnSpc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④在时钟脉冲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CLK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的下降沿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，计数器减“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1”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计数；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8B8A5C8-57FD-D1E0-DAAA-332DD8EA5D5B}"/>
              </a:ext>
            </a:extLst>
          </p:cNvPr>
          <p:cNvSpPr txBox="1"/>
          <p:nvPr/>
        </p:nvSpPr>
        <p:spPr>
          <a:xfrm>
            <a:off x="827584" y="807095"/>
            <a:ext cx="6552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j-lt"/>
                <a:ea typeface="宋体" panose="02010600030101010101" pitchFamily="2" charset="-122"/>
              </a:rPr>
              <a:t>每一种工作方式在学习时都</a:t>
            </a:r>
            <a:r>
              <a:rPr lang="zh-CN" altLang="en-US" sz="2400" b="1" dirty="0">
                <a:latin typeface="+mj-lt"/>
              </a:rPr>
              <a:t>应关注以下几点：</a:t>
            </a:r>
            <a:endParaRPr lang="zh-CN" altLang="en-US" sz="2400" dirty="0">
              <a:latin typeface="+mj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D777177-800C-1CE4-9C1A-FA7F7EB0596D}"/>
              </a:ext>
            </a:extLst>
          </p:cNvPr>
          <p:cNvSpPr txBox="1"/>
          <p:nvPr/>
        </p:nvSpPr>
        <p:spPr>
          <a:xfrm>
            <a:off x="683568" y="1268760"/>
            <a:ext cx="8064896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rgbClr val="FF00FF"/>
                </a:solidFill>
                <a:latin typeface="+mj-lt"/>
              </a:rPr>
              <a:t>（</a:t>
            </a:r>
            <a:r>
              <a:rPr lang="en-US" altLang="zh-CN" sz="2200" dirty="0">
                <a:solidFill>
                  <a:srgbClr val="FF00FF"/>
                </a:solidFill>
                <a:latin typeface="+mj-lt"/>
              </a:rPr>
              <a:t>1</a:t>
            </a:r>
            <a:r>
              <a:rPr lang="zh-CN" altLang="en-US" sz="2200" dirty="0">
                <a:solidFill>
                  <a:srgbClr val="FF00FF"/>
                </a:solidFill>
                <a:latin typeface="+mj-lt"/>
              </a:rPr>
              <a:t>）计数启动方式 </a:t>
            </a:r>
            <a:endParaRPr lang="en-US" altLang="zh-CN" sz="2200" dirty="0">
              <a:solidFill>
                <a:srgbClr val="FF00FF"/>
              </a:solidFill>
              <a:latin typeface="+mj-lt"/>
            </a:endParaRPr>
          </a:p>
          <a:p>
            <a:r>
              <a:rPr lang="zh-CN" altLang="en-US" sz="2200" dirty="0">
                <a:latin typeface="+mj-lt"/>
              </a:rPr>
              <a:t>计数的开始可分为软件启动和硬件启动。软件启动时，计数初值写入后计数过程随即开 始；硬件启动则是在写入计数初值后由门控信号 </a:t>
            </a:r>
            <a:r>
              <a:rPr lang="en-US" altLang="zh-CN" sz="2200" dirty="0">
                <a:latin typeface="+mj-lt"/>
              </a:rPr>
              <a:t>GATE </a:t>
            </a:r>
            <a:r>
              <a:rPr lang="zh-CN" altLang="en-US" sz="2200" dirty="0">
                <a:latin typeface="+mj-lt"/>
              </a:rPr>
              <a:t>的上升沿触发计数过程。 </a:t>
            </a:r>
            <a:endParaRPr lang="en-US" altLang="zh-CN" sz="2200" dirty="0">
              <a:latin typeface="+mj-lt"/>
            </a:endParaRPr>
          </a:p>
          <a:p>
            <a:r>
              <a:rPr lang="zh-CN" altLang="en-US" sz="2200" dirty="0">
                <a:solidFill>
                  <a:srgbClr val="FF00FF"/>
                </a:solidFill>
                <a:latin typeface="+mj-lt"/>
              </a:rPr>
              <a:t>（</a:t>
            </a:r>
            <a:r>
              <a:rPr lang="en-US" altLang="zh-CN" sz="2200" dirty="0">
                <a:solidFill>
                  <a:srgbClr val="FF00FF"/>
                </a:solidFill>
                <a:latin typeface="+mj-lt"/>
              </a:rPr>
              <a:t>2</a:t>
            </a:r>
            <a:r>
              <a:rPr lang="zh-CN" altLang="en-US" sz="2200" dirty="0">
                <a:solidFill>
                  <a:srgbClr val="FF00FF"/>
                </a:solidFill>
                <a:latin typeface="+mj-lt"/>
              </a:rPr>
              <a:t>）</a:t>
            </a:r>
            <a:r>
              <a:rPr lang="en-US" altLang="zh-CN" sz="2200" dirty="0">
                <a:solidFill>
                  <a:srgbClr val="FF00FF"/>
                </a:solidFill>
                <a:latin typeface="+mj-lt"/>
              </a:rPr>
              <a:t>OUT </a:t>
            </a:r>
            <a:r>
              <a:rPr lang="zh-CN" altLang="en-US" sz="2200" dirty="0">
                <a:solidFill>
                  <a:srgbClr val="FF00FF"/>
                </a:solidFill>
                <a:latin typeface="+mj-lt"/>
              </a:rPr>
              <a:t>输出波形</a:t>
            </a:r>
            <a:endParaRPr lang="en-US" altLang="zh-CN" sz="2200" dirty="0">
              <a:solidFill>
                <a:srgbClr val="FF00FF"/>
              </a:solidFill>
              <a:latin typeface="+mj-lt"/>
            </a:endParaRPr>
          </a:p>
          <a:p>
            <a:r>
              <a:rPr lang="zh-CN" altLang="en-US" sz="2200" dirty="0">
                <a:latin typeface="+mj-lt"/>
              </a:rPr>
              <a:t> </a:t>
            </a:r>
            <a:r>
              <a:rPr lang="en-US" altLang="zh-CN" sz="2200" dirty="0">
                <a:latin typeface="+mj-lt"/>
              </a:rPr>
              <a:t>OUT </a:t>
            </a:r>
            <a:r>
              <a:rPr lang="zh-CN" altLang="en-US" sz="2200" dirty="0">
                <a:latin typeface="+mj-lt"/>
              </a:rPr>
              <a:t>是计数器的输出，在不同的工作方式中其输出的波形各不相同。对于 </a:t>
            </a:r>
            <a:r>
              <a:rPr lang="en-US" altLang="zh-CN" sz="2200" dirty="0">
                <a:latin typeface="+mj-lt"/>
              </a:rPr>
              <a:t>OUT </a:t>
            </a:r>
            <a:r>
              <a:rPr lang="zh-CN" altLang="en-US" sz="2200" dirty="0">
                <a:latin typeface="+mj-lt"/>
              </a:rPr>
              <a:t>的输出波形需要重点关注的几个时刻：一是控制字写入控制寄存器后 </a:t>
            </a:r>
            <a:r>
              <a:rPr lang="en-US" altLang="zh-CN" sz="2200" dirty="0">
                <a:latin typeface="+mj-lt"/>
              </a:rPr>
              <a:t>OUT </a:t>
            </a:r>
            <a:r>
              <a:rPr lang="zh-CN" altLang="en-US" sz="2200" dirty="0">
                <a:latin typeface="+mj-lt"/>
              </a:rPr>
              <a:t>输出的起始电平；二 是计数开始后的电平；三是计数过程中电平变化及计数结束后的电平。</a:t>
            </a:r>
            <a:endParaRPr lang="en-US" altLang="zh-CN" sz="2200" dirty="0">
              <a:latin typeface="+mj-lt"/>
            </a:endParaRPr>
          </a:p>
          <a:p>
            <a:r>
              <a:rPr lang="zh-CN" altLang="en-US" sz="2200" dirty="0">
                <a:solidFill>
                  <a:srgbClr val="FF00FF"/>
                </a:solidFill>
                <a:latin typeface="+mj-lt"/>
              </a:rPr>
              <a:t>（</a:t>
            </a:r>
            <a:r>
              <a:rPr lang="en-US" altLang="zh-CN" sz="2200" dirty="0">
                <a:solidFill>
                  <a:srgbClr val="FF00FF"/>
                </a:solidFill>
                <a:latin typeface="+mj-lt"/>
              </a:rPr>
              <a:t>3</a:t>
            </a:r>
            <a:r>
              <a:rPr lang="zh-CN" altLang="en-US" sz="2200" dirty="0">
                <a:solidFill>
                  <a:srgbClr val="FF00FF"/>
                </a:solidFill>
                <a:latin typeface="+mj-lt"/>
              </a:rPr>
              <a:t>）门控信号 </a:t>
            </a:r>
            <a:r>
              <a:rPr lang="en-US" altLang="zh-CN" sz="2200" dirty="0">
                <a:solidFill>
                  <a:srgbClr val="FF00FF"/>
                </a:solidFill>
                <a:latin typeface="+mj-lt"/>
              </a:rPr>
              <a:t>GATE </a:t>
            </a:r>
            <a:r>
              <a:rPr lang="zh-CN" altLang="en-US" sz="2200" dirty="0">
                <a:solidFill>
                  <a:srgbClr val="FF00FF"/>
                </a:solidFill>
                <a:latin typeface="+mj-lt"/>
              </a:rPr>
              <a:t>对计数过程的影响 </a:t>
            </a:r>
            <a:endParaRPr lang="en-US" altLang="zh-CN" sz="2200" dirty="0">
              <a:solidFill>
                <a:srgbClr val="FF00FF"/>
              </a:solidFill>
              <a:latin typeface="+mj-lt"/>
            </a:endParaRPr>
          </a:p>
          <a:p>
            <a:r>
              <a:rPr lang="zh-CN" altLang="en-US" sz="2200" dirty="0">
                <a:latin typeface="+mj-lt"/>
              </a:rPr>
              <a:t>在软件启动方式中，</a:t>
            </a:r>
            <a:r>
              <a:rPr lang="en-US" altLang="zh-CN" sz="2200" dirty="0">
                <a:latin typeface="+mj-lt"/>
              </a:rPr>
              <a:t>GATE </a:t>
            </a:r>
            <a:r>
              <a:rPr lang="zh-CN" altLang="en-US" sz="2200" dirty="0">
                <a:latin typeface="+mj-lt"/>
              </a:rPr>
              <a:t>为高电平允许计数，低电平停止计数；在硬件启动方式中， </a:t>
            </a:r>
            <a:r>
              <a:rPr lang="en-US" altLang="zh-CN" sz="2200" dirty="0">
                <a:latin typeface="+mj-lt"/>
              </a:rPr>
              <a:t>GATE </a:t>
            </a:r>
            <a:r>
              <a:rPr lang="zh-CN" altLang="en-US" sz="2200" dirty="0">
                <a:latin typeface="+mj-lt"/>
              </a:rPr>
              <a:t>的上升沿重新触发计数过程。 </a:t>
            </a:r>
            <a:endParaRPr lang="en-US" altLang="zh-CN" sz="2200" dirty="0">
              <a:latin typeface="+mj-lt"/>
            </a:endParaRPr>
          </a:p>
          <a:p>
            <a:r>
              <a:rPr lang="zh-CN" altLang="en-US" sz="2200" dirty="0">
                <a:solidFill>
                  <a:srgbClr val="FF00FF"/>
                </a:solidFill>
                <a:latin typeface="+mj-lt"/>
              </a:rPr>
              <a:t>（</a:t>
            </a:r>
            <a:r>
              <a:rPr lang="en-US" altLang="zh-CN" sz="2200" dirty="0">
                <a:solidFill>
                  <a:srgbClr val="FF00FF"/>
                </a:solidFill>
                <a:latin typeface="+mj-lt"/>
              </a:rPr>
              <a:t>4</a:t>
            </a:r>
            <a:r>
              <a:rPr lang="zh-CN" altLang="en-US" sz="2200" dirty="0">
                <a:solidFill>
                  <a:srgbClr val="FF00FF"/>
                </a:solidFill>
                <a:latin typeface="+mj-lt"/>
              </a:rPr>
              <a:t>）单次计数或循环计数 </a:t>
            </a:r>
            <a:endParaRPr lang="en-US" altLang="zh-CN" sz="2200" dirty="0">
              <a:solidFill>
                <a:srgbClr val="FF00FF"/>
              </a:solidFill>
              <a:latin typeface="+mj-lt"/>
            </a:endParaRPr>
          </a:p>
          <a:p>
            <a:r>
              <a:rPr lang="zh-CN" altLang="en-US" sz="2200" dirty="0">
                <a:latin typeface="+mj-lt"/>
              </a:rPr>
              <a:t>减 </a:t>
            </a:r>
            <a:r>
              <a:rPr lang="en-US" altLang="zh-CN" sz="2200" dirty="0">
                <a:latin typeface="+mj-lt"/>
              </a:rPr>
              <a:t>1 </a:t>
            </a:r>
            <a:r>
              <a:rPr lang="zh-CN" altLang="en-US" sz="2200" dirty="0">
                <a:latin typeface="+mj-lt"/>
              </a:rPr>
              <a:t>计数器减至 </a:t>
            </a:r>
            <a:r>
              <a:rPr lang="en-US" altLang="zh-CN" sz="2200" dirty="0">
                <a:latin typeface="+mj-lt"/>
              </a:rPr>
              <a:t>0 </a:t>
            </a:r>
            <a:r>
              <a:rPr lang="zh-CN" altLang="en-US" sz="2200" dirty="0">
                <a:latin typeface="+mj-lt"/>
              </a:rPr>
              <a:t>时计数过程结束，称为单次计数；如果计数初值寄存器将初值重新加载给减 </a:t>
            </a:r>
            <a:r>
              <a:rPr lang="en-US" altLang="zh-CN" sz="2200" dirty="0">
                <a:latin typeface="+mj-lt"/>
              </a:rPr>
              <a:t>1 </a:t>
            </a:r>
            <a:r>
              <a:rPr lang="zh-CN" altLang="en-US" sz="2200" dirty="0">
                <a:latin typeface="+mj-lt"/>
              </a:rPr>
              <a:t>计数器，自动开始下一次计数过程称为循环计数。 </a:t>
            </a:r>
          </a:p>
        </p:txBody>
      </p:sp>
      <p:sp>
        <p:nvSpPr>
          <p:cNvPr id="6" name="标题 331777">
            <a:extLst>
              <a:ext uri="{FF2B5EF4-FFF2-40B4-BE49-F238E27FC236}">
                <a16:creationId xmlns:a16="http://schemas.microsoft.com/office/drawing/2014/main" id="{45340AD2-F6E3-F5FF-77CF-3CD3E4CAB158}"/>
              </a:ext>
            </a:extLst>
          </p:cNvPr>
          <p:cNvSpPr txBox="1">
            <a:spLocks/>
          </p:cNvSpPr>
          <p:nvPr/>
        </p:nvSpPr>
        <p:spPr>
          <a:xfrm>
            <a:off x="1044575" y="188913"/>
            <a:ext cx="7704138" cy="431800"/>
          </a:xfrm>
          <a:ln/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9.2  可编程定时/计数器8253及其应用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60919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标题 332801"/>
          <p:cNvSpPr>
            <a:spLocks noGrp="1"/>
          </p:cNvSpPr>
          <p:nvPr>
            <p:ph type="title"/>
          </p:nvPr>
        </p:nvSpPr>
        <p:spPr>
          <a:xfrm>
            <a:off x="1044575" y="188913"/>
            <a:ext cx="7704138" cy="431800"/>
          </a:xfrm>
          <a:ln/>
        </p:spPr>
        <p:txBody>
          <a:bodyPr anchor="ctr"/>
          <a:lstStyle/>
          <a:p>
            <a:pPr lvl="0"/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9.2  可编程定时/计数器8253及其应用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32803" name="文本框 332802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32804" name="文本框 332803"/>
          <p:cNvSpPr txBox="1"/>
          <p:nvPr/>
        </p:nvSpPr>
        <p:spPr>
          <a:xfrm>
            <a:off x="107504" y="764704"/>
            <a:ext cx="8857109" cy="267765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 eaLnBrk="0" hangingPunct="0"/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（1）方式0—</a:t>
            </a:r>
            <a:r>
              <a:rPr lang="en-US" altLang="zh-CN" sz="2400" b="1" dirty="0" err="1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计数结束时产生中断方式</a:t>
            </a:r>
            <a:endParaRPr lang="en-US" altLang="zh-CN" sz="2400" b="1" dirty="0">
              <a:solidFill>
                <a:srgbClr val="FF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algn="just" eaLnBrk="0" hangingPunct="0"/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algn="just" eaLnBrk="0" hangingPunct="0"/>
            <a:r>
              <a:rPr lang="en-US" altLang="zh-CN" sz="2400" b="1" dirty="0">
                <a:latin typeface="Arial" panose="020B0604020202020204" pitchFamily="34" charset="0"/>
              </a:rPr>
              <a:t>       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</a:rPr>
              <a:t>在写入控制字CW后，OUT立即变为低电平，并且在计数过程中</a:t>
            </a:r>
            <a:r>
              <a:rPr lang="en-US" altLang="zh-CN" sz="2400" b="1" dirty="0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一直维持低电平</a:t>
            </a:r>
            <a:r>
              <a:rPr lang="en-US" altLang="zh-CN" sz="2400" b="1" dirty="0" err="1">
                <a:latin typeface="Arial" panose="020B0604020202020204" pitchFamily="34" charset="0"/>
                <a:ea typeface="宋体" panose="02010600030101010101" pitchFamily="2" charset="-122"/>
              </a:rPr>
              <a:t>。在GATE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=1的前提下，写入计数初值n之后，在信号上升沿之后的下一个CLK脉冲计数值装入计数器，并开始计数。在计数过程中，OUT引脚一直保持低电平，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直到计数为“0”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时，其输出才由低电平变为高电平，并且保持高电平。</a:t>
            </a:r>
          </a:p>
        </p:txBody>
      </p:sp>
      <p:pic>
        <p:nvPicPr>
          <p:cNvPr id="332806" name="图片 332805" descr="wps_clip_image-255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3429000"/>
            <a:ext cx="9010606" cy="252660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A291195-75CE-4768-7A0B-0E05D94CBD16}"/>
              </a:ext>
            </a:extLst>
          </p:cNvPr>
          <p:cNvSpPr txBox="1"/>
          <p:nvPr/>
        </p:nvSpPr>
        <p:spPr>
          <a:xfrm>
            <a:off x="3707904" y="5905084"/>
            <a:ext cx="280831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图 </a:t>
            </a:r>
            <a:r>
              <a:rPr lang="en-US" altLang="zh-CN" sz="1600" dirty="0"/>
              <a:t>9.17 </a:t>
            </a:r>
            <a:r>
              <a:rPr lang="zh-CN" altLang="en-US" sz="1600" dirty="0"/>
              <a:t>方式</a:t>
            </a:r>
            <a:r>
              <a:rPr lang="en-US" altLang="zh-CN" sz="1600" dirty="0"/>
              <a:t>0</a:t>
            </a:r>
            <a:r>
              <a:rPr lang="zh-CN" altLang="en-US" sz="1600" dirty="0"/>
              <a:t>的工作时序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标题 333825"/>
          <p:cNvSpPr>
            <a:spLocks noGrp="1"/>
          </p:cNvSpPr>
          <p:nvPr>
            <p:ph type="title"/>
          </p:nvPr>
        </p:nvSpPr>
        <p:spPr>
          <a:xfrm>
            <a:off x="1044575" y="188913"/>
            <a:ext cx="7704138" cy="431800"/>
          </a:xfrm>
          <a:ln/>
        </p:spPr>
        <p:txBody>
          <a:bodyPr anchor="ctr"/>
          <a:lstStyle/>
          <a:p>
            <a:pPr lvl="0"/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9.2  可编程定时/计数器8253及其应用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33827" name="文本框 333826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33828" name="文本框 333827"/>
          <p:cNvSpPr txBox="1"/>
          <p:nvPr/>
        </p:nvSpPr>
        <p:spPr>
          <a:xfrm>
            <a:off x="250825" y="908050"/>
            <a:ext cx="8713788" cy="379334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0" hangingPunct="0"/>
            <a:r>
              <a:rPr lang="en-US" altLang="zh-CN" sz="2400" b="1" dirty="0">
                <a:latin typeface="Arial" panose="020B0604020202020204" pitchFamily="34" charset="0"/>
              </a:rPr>
              <a:t>方式0的特点：</a:t>
            </a:r>
          </a:p>
          <a:p>
            <a:pPr lvl="0" algn="just" eaLnBrk="0" hangingPunct="0"/>
            <a:endParaRPr lang="en-US" altLang="zh-CN" sz="2400" b="1" dirty="0">
              <a:latin typeface="Arial" panose="020B0604020202020204" pitchFamily="34" charset="0"/>
            </a:endParaRPr>
          </a:p>
          <a:p>
            <a:pPr lvl="0" algn="just" eaLnBrk="0" hangingPunct="0">
              <a:lnSpc>
                <a:spcPts val="33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①  </a:t>
            </a:r>
            <a:r>
              <a:rPr lang="en-US" altLang="zh-CN" sz="2400" b="1" dirty="0" err="1">
                <a:latin typeface="Arial" panose="020B0604020202020204" pitchFamily="34" charset="0"/>
              </a:rPr>
              <a:t>OUT</a:t>
            </a:r>
            <a:r>
              <a:rPr lang="en-US" altLang="zh-CN" sz="2400" b="1" dirty="0" err="1">
                <a:solidFill>
                  <a:srgbClr val="0000FF"/>
                </a:solidFill>
                <a:latin typeface="Arial" panose="020B0604020202020204" pitchFamily="34" charset="0"/>
              </a:rPr>
              <a:t>初始电平为低电平</a:t>
            </a:r>
            <a:r>
              <a:rPr lang="en-US" altLang="zh-CN" sz="2400" b="1" dirty="0">
                <a:latin typeface="Arial" panose="020B0604020202020204" pitchFamily="34" charset="0"/>
              </a:rPr>
              <a:t>； </a:t>
            </a:r>
          </a:p>
          <a:p>
            <a:pPr marL="457200" lvl="0" indent="-457200" algn="just" eaLnBrk="0" hangingPunct="0">
              <a:lnSpc>
                <a:spcPts val="3300"/>
              </a:lnSpc>
              <a:buAutoNum type="circleNumDbPlain" startAt="2"/>
            </a:pPr>
            <a:r>
              <a:rPr lang="en-US" altLang="zh-CN" sz="2400" b="1" dirty="0" err="1">
                <a:latin typeface="Arial" panose="020B0604020202020204" pitchFamily="34" charset="0"/>
              </a:rPr>
              <a:t>计数初值无自动装入功能，若要继续计数，需</a:t>
            </a:r>
            <a:r>
              <a:rPr lang="en-US" altLang="zh-CN" sz="2400" b="1" dirty="0" err="1">
                <a:solidFill>
                  <a:srgbClr val="0000FF"/>
                </a:solidFill>
                <a:latin typeface="Arial" panose="020B0604020202020204" pitchFamily="34" charset="0"/>
              </a:rPr>
              <a:t>重新</a:t>
            </a:r>
            <a:r>
              <a:rPr lang="en-US" altLang="zh-CN" sz="2400" b="1" dirty="0" err="1">
                <a:latin typeface="Arial" panose="020B0604020202020204" pitchFamily="34" charset="0"/>
              </a:rPr>
              <a:t>写入计数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lvl="0" algn="just" eaLnBrk="0" hangingPunct="0">
              <a:lnSpc>
                <a:spcPts val="33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     </a:t>
            </a:r>
            <a:r>
              <a:rPr lang="en-US" altLang="zh-CN" sz="2400" b="1" dirty="0" err="1">
                <a:latin typeface="Arial" panose="020B0604020202020204" pitchFamily="34" charset="0"/>
              </a:rPr>
              <a:t>初值</a:t>
            </a:r>
            <a:r>
              <a:rPr lang="en-US" altLang="zh-CN" sz="2400" b="1" dirty="0">
                <a:latin typeface="Arial" panose="020B0604020202020204" pitchFamily="34" charset="0"/>
              </a:rPr>
              <a:t>；</a:t>
            </a:r>
          </a:p>
          <a:p>
            <a:pPr lvl="0" algn="just" eaLnBrk="0" hangingPunct="0">
              <a:lnSpc>
                <a:spcPts val="33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③ </a:t>
            </a:r>
            <a:r>
              <a:rPr lang="en-US" altLang="zh-CN" sz="2400" b="1" dirty="0" err="1">
                <a:latin typeface="Arial" panose="020B0604020202020204" pitchFamily="34" charset="0"/>
              </a:rPr>
              <a:t>当GATE为</a:t>
            </a:r>
            <a:r>
              <a:rPr lang="en-US" altLang="zh-CN" sz="2400" b="1" dirty="0" err="1">
                <a:solidFill>
                  <a:srgbClr val="0000FF"/>
                </a:solidFill>
                <a:latin typeface="Arial" panose="020B0604020202020204" pitchFamily="34" charset="0"/>
              </a:rPr>
              <a:t>高电平</a:t>
            </a:r>
            <a:r>
              <a:rPr lang="en-US" altLang="zh-CN" sz="2400" b="1" dirty="0" err="1">
                <a:latin typeface="Arial" panose="020B0604020202020204" pitchFamily="34" charset="0"/>
              </a:rPr>
              <a:t>时，才允许计数，且在计数过程中，如果</a:t>
            </a:r>
            <a:r>
              <a:rPr lang="en-US" altLang="zh-CN" sz="2400" b="1" dirty="0">
                <a:latin typeface="Arial" panose="020B0604020202020204" pitchFamily="34" charset="0"/>
              </a:rPr>
              <a:t> </a:t>
            </a:r>
          </a:p>
          <a:p>
            <a:pPr lvl="0" algn="just" eaLnBrk="0" hangingPunct="0">
              <a:lnSpc>
                <a:spcPts val="33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     </a:t>
            </a:r>
            <a:r>
              <a:rPr lang="en-US" altLang="zh-CN" sz="2400" b="1" dirty="0" err="1">
                <a:latin typeface="Arial" panose="020B0604020202020204" pitchFamily="34" charset="0"/>
              </a:rPr>
              <a:t>GATE变为低，则</a:t>
            </a:r>
            <a:r>
              <a:rPr lang="en-US" altLang="zh-CN" sz="2400" b="1" dirty="0" err="1">
                <a:solidFill>
                  <a:srgbClr val="0000FF"/>
                </a:solidFill>
                <a:latin typeface="Arial" panose="020B0604020202020204" pitchFamily="34" charset="0"/>
              </a:rPr>
              <a:t>暂停</a:t>
            </a:r>
            <a:r>
              <a:rPr lang="en-US" altLang="zh-CN" sz="2400" b="1" dirty="0" err="1">
                <a:latin typeface="Arial" panose="020B0604020202020204" pitchFamily="34" charset="0"/>
              </a:rPr>
              <a:t>计数，直到GATE变高后再接着计数</a:t>
            </a:r>
            <a:r>
              <a:rPr lang="en-US" altLang="zh-CN" sz="2400" b="1" dirty="0">
                <a:latin typeface="Arial" panose="020B0604020202020204" pitchFamily="34" charset="0"/>
              </a:rPr>
              <a:t>；</a:t>
            </a:r>
          </a:p>
          <a:p>
            <a:pPr marL="457200" lvl="0" indent="-457200" algn="just" eaLnBrk="0" hangingPunct="0">
              <a:lnSpc>
                <a:spcPts val="3300"/>
              </a:lnSpc>
              <a:buAutoNum type="circleNumDbPlain" startAt="4"/>
            </a:pPr>
            <a:r>
              <a:rPr lang="en-US" altLang="zh-CN" sz="2400" b="1" dirty="0" err="1">
                <a:latin typeface="Arial" panose="020B0604020202020204" pitchFamily="34" charset="0"/>
              </a:rPr>
              <a:t>在计数期间若给计数器装入新值，则会在写入计数初值后</a:t>
            </a:r>
            <a:r>
              <a:rPr lang="en-US" altLang="zh-CN" sz="2400" b="1" dirty="0" err="1">
                <a:solidFill>
                  <a:srgbClr val="0000FF"/>
                </a:solidFill>
                <a:latin typeface="Arial" panose="020B0604020202020204" pitchFamily="34" charset="0"/>
              </a:rPr>
              <a:t>重</a:t>
            </a:r>
            <a:endParaRPr lang="en-US" altLang="zh-CN" sz="24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lvl="0" algn="just" eaLnBrk="0" hangingPunct="0">
              <a:lnSpc>
                <a:spcPts val="33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    </a:t>
            </a:r>
            <a:r>
              <a:rPr lang="en-US" altLang="zh-CN" sz="2400" b="1" dirty="0" err="1">
                <a:solidFill>
                  <a:srgbClr val="0000FF"/>
                </a:solidFill>
                <a:latin typeface="Arial" panose="020B0604020202020204" pitchFamily="34" charset="0"/>
              </a:rPr>
              <a:t>新</a:t>
            </a:r>
            <a:r>
              <a:rPr lang="en-US" altLang="zh-CN" sz="2400" b="1" dirty="0" err="1">
                <a:latin typeface="Arial" panose="020B0604020202020204" pitchFamily="34" charset="0"/>
              </a:rPr>
              <a:t>开始计数过程</a:t>
            </a:r>
            <a:r>
              <a:rPr lang="en-US" altLang="zh-CN" sz="2400" b="1" dirty="0">
                <a:latin typeface="Arial" panose="020B0604020202020204" pitchFamily="34" charset="0"/>
              </a:rPr>
              <a:t>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标题 335873"/>
          <p:cNvSpPr>
            <a:spLocks noGrp="1"/>
          </p:cNvSpPr>
          <p:nvPr>
            <p:ph type="title"/>
          </p:nvPr>
        </p:nvSpPr>
        <p:spPr>
          <a:xfrm>
            <a:off x="1044575" y="188913"/>
            <a:ext cx="7704138" cy="431800"/>
          </a:xfrm>
          <a:ln/>
        </p:spPr>
        <p:txBody>
          <a:bodyPr anchor="ctr"/>
          <a:lstStyle/>
          <a:p>
            <a:pPr lvl="0"/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9.2  可编程定时/计数器8253及其应用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35875" name="文本框 335874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35876" name="文本框 335875"/>
          <p:cNvSpPr txBox="1"/>
          <p:nvPr/>
        </p:nvSpPr>
        <p:spPr>
          <a:xfrm>
            <a:off x="250825" y="908050"/>
            <a:ext cx="8713788" cy="267765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0" hangingPunct="0"/>
            <a:r>
              <a:rPr lang="zh-CN" altLang="en-US" sz="2400" b="1" dirty="0">
                <a:solidFill>
                  <a:srgbClr val="FF00FF"/>
                </a:solidFill>
                <a:latin typeface="+mn-lt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FF00FF"/>
                </a:solidFill>
                <a:latin typeface="+mn-lt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rgbClr val="FF00FF"/>
                </a:solidFill>
                <a:latin typeface="+mn-lt"/>
                <a:ea typeface="宋体" panose="02010600030101010101" pitchFamily="2" charset="-122"/>
              </a:rPr>
              <a:t>）方式</a:t>
            </a:r>
            <a:r>
              <a:rPr lang="en-US" altLang="zh-CN" sz="2400" b="1" dirty="0">
                <a:solidFill>
                  <a:srgbClr val="FF00FF"/>
                </a:solidFill>
                <a:latin typeface="+mn-lt"/>
                <a:ea typeface="宋体" panose="02010600030101010101" pitchFamily="2" charset="-122"/>
              </a:rPr>
              <a:t>1—</a:t>
            </a:r>
            <a:r>
              <a:rPr lang="zh-CN" altLang="en-US" sz="2400" b="1" dirty="0">
                <a:solidFill>
                  <a:srgbClr val="FF00FF"/>
                </a:solidFill>
                <a:latin typeface="+mn-lt"/>
                <a:ea typeface="宋体" panose="02010600030101010101" pitchFamily="2" charset="-122"/>
              </a:rPr>
              <a:t>可重复触发的单稳态触发器</a:t>
            </a:r>
          </a:p>
          <a:p>
            <a:pPr lvl="0" algn="just" eaLnBrk="0" hangingPunct="0"/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      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在写入控制字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CW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后，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OUT</a:t>
            </a:r>
            <a:r>
              <a:rPr lang="zh-CN" altLang="en-US" sz="2400" b="1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立即变为高电平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，写入计数初值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后，计数器并不开始计数，而是直到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GATE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上升沿触发之后的</a:t>
            </a:r>
            <a:r>
              <a:rPr lang="zh-CN" altLang="en-US" sz="2400" b="1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第一个</a:t>
            </a:r>
            <a:r>
              <a:rPr lang="en-US" altLang="zh-CN" sz="2400" b="1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CLK</a:t>
            </a:r>
            <a:r>
              <a:rPr lang="zh-CN" altLang="en-US" sz="2400" b="1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的下降沿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时才启动计数，并使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OUT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引脚由高电平变为低电平。在整个计数过程中，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OUT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引脚始终保持低电平，直到计数为“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0”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时变为高电平。一个计数过程结束后，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OUT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引脚输出一个宽度为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个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CLK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周期的负脉冲。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6437852"/>
              </p:ext>
            </p:extLst>
          </p:nvPr>
        </p:nvGraphicFramePr>
        <p:xfrm>
          <a:off x="683518" y="3668564"/>
          <a:ext cx="8208962" cy="2352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2" name="Visio" r:id="rId3" imgW="6363574" imgH="1820347" progId="Visio.Drawing.11">
                  <p:embed/>
                </p:oleObj>
              </mc:Choice>
              <mc:Fallback>
                <p:oleObj name="Visio" r:id="rId3" imgW="6363574" imgH="1820347" progId="Visio.Drawing.11">
                  <p:embed/>
                  <p:pic>
                    <p:nvPicPr>
                      <p:cNvPr id="0" name="对象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18" y="3668564"/>
                        <a:ext cx="8208962" cy="23527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41723AD9-68E2-DF75-D11B-F24DFD41FADD}"/>
              </a:ext>
            </a:extLst>
          </p:cNvPr>
          <p:cNvSpPr txBox="1"/>
          <p:nvPr/>
        </p:nvSpPr>
        <p:spPr>
          <a:xfrm>
            <a:off x="3851920" y="5661248"/>
            <a:ext cx="280831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图 </a:t>
            </a:r>
            <a:r>
              <a:rPr lang="en-US" altLang="zh-CN" sz="1600" dirty="0"/>
              <a:t>9.18 </a:t>
            </a:r>
            <a:r>
              <a:rPr lang="zh-CN" altLang="en-US" sz="1600" dirty="0"/>
              <a:t>方式</a:t>
            </a:r>
            <a:r>
              <a:rPr lang="en-US" altLang="zh-CN" sz="1600" dirty="0"/>
              <a:t>1</a:t>
            </a:r>
            <a:r>
              <a:rPr lang="zh-CN" altLang="en-US" sz="1600" dirty="0"/>
              <a:t>的工作时序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标题 334849"/>
          <p:cNvSpPr>
            <a:spLocks noGrp="1"/>
          </p:cNvSpPr>
          <p:nvPr>
            <p:ph type="title"/>
          </p:nvPr>
        </p:nvSpPr>
        <p:spPr>
          <a:xfrm>
            <a:off x="1044575" y="188913"/>
            <a:ext cx="7704138" cy="431800"/>
          </a:xfrm>
          <a:ln/>
        </p:spPr>
        <p:txBody>
          <a:bodyPr anchor="ctr"/>
          <a:lstStyle/>
          <a:p>
            <a:pPr lvl="0"/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9.2  可编程定时/计数器8253及其应用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34851" name="文本框 334850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34852" name="文本框 334851"/>
          <p:cNvSpPr txBox="1"/>
          <p:nvPr/>
        </p:nvSpPr>
        <p:spPr>
          <a:xfrm>
            <a:off x="250825" y="908050"/>
            <a:ext cx="8713788" cy="4270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0" hangingPunct="0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方式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的特点：</a:t>
            </a:r>
          </a:p>
          <a:p>
            <a:pPr lvl="0" algn="just" eaLnBrk="0" hangingPunct="0">
              <a:lnSpc>
                <a:spcPts val="3300"/>
              </a:lnSpc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①  硬件启动计数，即由门控信号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GATE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的上升沿触发计数；</a:t>
            </a:r>
          </a:p>
          <a:p>
            <a:pPr lvl="0" algn="just" eaLnBrk="0" hangingPunct="0">
              <a:lnSpc>
                <a:spcPts val="3300"/>
              </a:lnSpc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② 可重复触发。计数到“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0”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后，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不需再次送计数初值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，只要再次出现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GATE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上升沿脉冲，即可产生一个同样宽度的单稳脉冲。</a:t>
            </a:r>
          </a:p>
          <a:p>
            <a:pPr lvl="0" algn="just" eaLnBrk="0" hangingPunct="0">
              <a:lnSpc>
                <a:spcPts val="3300"/>
              </a:lnSpc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③ 计数过程中，若装入新的计数初值，当前计数值将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不受影响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，仍继续计数直到结束。计数结束后，只有再次出现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GATE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上升沿脉冲，才按新初值启动计数。</a:t>
            </a:r>
          </a:p>
          <a:p>
            <a:pPr lvl="0" algn="just" eaLnBrk="0" hangingPunct="0">
              <a:lnSpc>
                <a:spcPts val="3300"/>
              </a:lnSpc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④ 计数过程中，若门控信号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GATE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又产生新的触发脉冲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，则计数器将立即从初值开始重新计数，直到计数结束，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OUT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端才变为高电平。利用这一功能，可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延长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OUT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输出的单脉冲宽度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标题 336897"/>
          <p:cNvSpPr>
            <a:spLocks noGrp="1"/>
          </p:cNvSpPr>
          <p:nvPr>
            <p:ph type="title"/>
          </p:nvPr>
        </p:nvSpPr>
        <p:spPr>
          <a:xfrm>
            <a:off x="1044575" y="188913"/>
            <a:ext cx="7704138" cy="431800"/>
          </a:xfrm>
          <a:ln/>
        </p:spPr>
        <p:txBody>
          <a:bodyPr anchor="ctr"/>
          <a:lstStyle/>
          <a:p>
            <a:pPr lvl="0"/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9.2  可编程定时/计数器8253及其应用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36899" name="文本框 336898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36900" name="文本框 336899"/>
          <p:cNvSpPr txBox="1"/>
          <p:nvPr/>
        </p:nvSpPr>
        <p:spPr>
          <a:xfrm>
            <a:off x="250825" y="908050"/>
            <a:ext cx="8713788" cy="30469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0" hangingPunct="0"/>
            <a:r>
              <a:rPr lang="zh-CN" altLang="en-US" sz="2400" b="1" dirty="0">
                <a:solidFill>
                  <a:srgbClr val="FF00FF"/>
                </a:solidFill>
                <a:latin typeface="+mn-lt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FF00FF"/>
                </a:solidFill>
                <a:latin typeface="+mn-lt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solidFill>
                  <a:srgbClr val="FF00FF"/>
                </a:solidFill>
                <a:latin typeface="+mn-lt"/>
                <a:ea typeface="宋体" panose="02010600030101010101" pitchFamily="2" charset="-122"/>
              </a:rPr>
              <a:t>）方式</a:t>
            </a:r>
            <a:r>
              <a:rPr lang="en-US" altLang="zh-CN" sz="2400" b="1" dirty="0">
                <a:solidFill>
                  <a:srgbClr val="FF00FF"/>
                </a:solidFill>
                <a:latin typeface="+mn-lt"/>
                <a:ea typeface="宋体" panose="02010600030101010101" pitchFamily="2" charset="-122"/>
              </a:rPr>
              <a:t>2—</a:t>
            </a:r>
            <a:r>
              <a:rPr lang="zh-CN" altLang="en-US" sz="2400" b="1" dirty="0">
                <a:solidFill>
                  <a:srgbClr val="FF00FF"/>
                </a:solidFill>
                <a:latin typeface="+mn-lt"/>
                <a:ea typeface="宋体" panose="02010600030101010101" pitchFamily="2" charset="-122"/>
              </a:rPr>
              <a:t>频率发生器（分频器）</a:t>
            </a:r>
          </a:p>
          <a:p>
            <a:pPr lvl="0" algn="just" eaLnBrk="0" hangingPunct="0"/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       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写入控制字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CW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之后，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OUT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立即变为高电平，在写入计数初值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之后第一个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CLK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的下降沿将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装入计数器，在门控信号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GATE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为高电平时，开始减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计数。在计数过程中，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OUT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引脚始终保持高电平，直到计数器减为“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1”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时，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OUT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引脚变为低电平，维持一个时钟周期后（即计数减为“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0”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），又恢复为高电平，同时自动将计数值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加载到计数器，重新启动计数，形成循环计数过程，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OUT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引脚连续输出负脉冲。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5516653"/>
              </p:ext>
            </p:extLst>
          </p:nvPr>
        </p:nvGraphicFramePr>
        <p:xfrm>
          <a:off x="885234" y="3833195"/>
          <a:ext cx="7431182" cy="2476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6" name="Visio" r:id="rId3" imgW="6453632" imgH="1874317" progId="Visio.Drawing.11">
                  <p:embed/>
                </p:oleObj>
              </mc:Choice>
              <mc:Fallback>
                <p:oleObj name="Visio" r:id="rId3" imgW="6453632" imgH="1874317" progId="Visio.Drawing.11">
                  <p:embed/>
                  <p:pic>
                    <p:nvPicPr>
                      <p:cNvPr id="0" name="对象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234" y="3833195"/>
                        <a:ext cx="7431182" cy="247612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0572925E-2C25-F34A-B7C7-9FF387CAD400}"/>
              </a:ext>
            </a:extLst>
          </p:cNvPr>
          <p:cNvSpPr txBox="1"/>
          <p:nvPr/>
        </p:nvSpPr>
        <p:spPr>
          <a:xfrm>
            <a:off x="3779912" y="5987626"/>
            <a:ext cx="280831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图 </a:t>
            </a:r>
            <a:r>
              <a:rPr lang="en-US" altLang="zh-CN" sz="1600" dirty="0"/>
              <a:t>9.19 </a:t>
            </a:r>
            <a:r>
              <a:rPr lang="zh-CN" altLang="en-US" sz="1600" dirty="0"/>
              <a:t>方式</a:t>
            </a:r>
            <a:r>
              <a:rPr lang="en-US" altLang="zh-CN" sz="1600" dirty="0"/>
              <a:t>2</a:t>
            </a:r>
            <a:r>
              <a:rPr lang="zh-CN" altLang="en-US" sz="1600" dirty="0"/>
              <a:t>的工作时序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标题 337921"/>
          <p:cNvSpPr>
            <a:spLocks noGrp="1"/>
          </p:cNvSpPr>
          <p:nvPr>
            <p:ph type="title"/>
          </p:nvPr>
        </p:nvSpPr>
        <p:spPr>
          <a:xfrm>
            <a:off x="1044575" y="188913"/>
            <a:ext cx="7704138" cy="431800"/>
          </a:xfrm>
          <a:ln/>
        </p:spPr>
        <p:txBody>
          <a:bodyPr anchor="ctr"/>
          <a:lstStyle/>
          <a:p>
            <a:pPr lvl="0"/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9.2  可编程定时/计数器8253及其应用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37923" name="文本框 337922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37924" name="文本框 337923"/>
          <p:cNvSpPr txBox="1"/>
          <p:nvPr/>
        </p:nvSpPr>
        <p:spPr>
          <a:xfrm>
            <a:off x="250825" y="908050"/>
            <a:ext cx="8713788" cy="415498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0" hangingPunct="0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方式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的特点：</a:t>
            </a:r>
          </a:p>
          <a:p>
            <a:pPr lvl="0" algn="just" eaLnBrk="0" hangingPunct="0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①  计数初值有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自动装入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功能，不用重新写入计数值，计数过程可由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GATE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信号控制。</a:t>
            </a:r>
          </a:p>
          <a:p>
            <a:pPr lvl="0" algn="just" eaLnBrk="0" hangingPunct="0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②  在计数过程中，当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GATE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为低电平时，暂停计数；在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GATE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变为高电平后的下一个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CLK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脉冲使计数器恢复计数初值，重新开始计数。</a:t>
            </a:r>
          </a:p>
          <a:p>
            <a:pPr lvl="0" algn="just" eaLnBrk="0" hangingPunct="0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③ 若计数初值为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，则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OUT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引脚上每隔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个时钟脉冲就输出一个负脉冲，其频率为输入时钟脉冲频率的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1/n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，故方式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也称为分频器。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OUT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端输出的是输入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CLK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脉冲的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（初值）分频。</a:t>
            </a:r>
          </a:p>
          <a:p>
            <a:pPr lvl="0" algn="just" eaLnBrk="0" hangingPunct="0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④ 在计数过程中，若装入新的计数初值，则当前输出不受影响。在下次自动装入初值时才按新值计数。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标题 338945"/>
          <p:cNvSpPr>
            <a:spLocks noGrp="1"/>
          </p:cNvSpPr>
          <p:nvPr>
            <p:ph type="title"/>
          </p:nvPr>
        </p:nvSpPr>
        <p:spPr>
          <a:xfrm>
            <a:off x="1044575" y="188913"/>
            <a:ext cx="7704138" cy="431800"/>
          </a:xfrm>
          <a:ln/>
        </p:spPr>
        <p:txBody>
          <a:bodyPr anchor="ctr"/>
          <a:lstStyle/>
          <a:p>
            <a:pPr lvl="0"/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9.2  可编程定时/计数器8253及其应用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38947" name="文本框 338946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38948" name="文本框 338947"/>
          <p:cNvSpPr txBox="1"/>
          <p:nvPr/>
        </p:nvSpPr>
        <p:spPr>
          <a:xfrm>
            <a:off x="250825" y="908050"/>
            <a:ext cx="8713788" cy="267765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0" hangingPunct="0"/>
            <a:r>
              <a:rPr lang="zh-CN" altLang="en-US" sz="2400" b="1" dirty="0">
                <a:solidFill>
                  <a:srgbClr val="FF00FF"/>
                </a:solidFill>
                <a:latin typeface="+mn-lt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FF00FF"/>
                </a:solidFill>
                <a:latin typeface="+mn-lt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solidFill>
                  <a:srgbClr val="FF00FF"/>
                </a:solidFill>
                <a:latin typeface="+mn-lt"/>
                <a:ea typeface="宋体" panose="02010600030101010101" pitchFamily="2" charset="-122"/>
              </a:rPr>
              <a:t>）方式</a:t>
            </a:r>
            <a:r>
              <a:rPr lang="en-US" altLang="zh-CN" sz="2400" b="1" dirty="0">
                <a:solidFill>
                  <a:srgbClr val="FF00FF"/>
                </a:solidFill>
                <a:latin typeface="+mn-lt"/>
                <a:ea typeface="宋体" panose="02010600030101010101" pitchFamily="2" charset="-122"/>
              </a:rPr>
              <a:t>3—</a:t>
            </a:r>
            <a:r>
              <a:rPr lang="zh-CN" altLang="en-US" sz="2400" b="1" dirty="0">
                <a:solidFill>
                  <a:srgbClr val="FF00FF"/>
                </a:solidFill>
                <a:latin typeface="+mn-lt"/>
                <a:ea typeface="宋体" panose="02010600030101010101" pitchFamily="2" charset="-122"/>
              </a:rPr>
              <a:t>方波发生器</a:t>
            </a:r>
          </a:p>
          <a:p>
            <a:pPr lvl="0" algn="just" eaLnBrk="0" hangingPunct="0"/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       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与方式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类似，有</a:t>
            </a:r>
            <a:r>
              <a:rPr lang="zh-CN" altLang="en-US" sz="2400" b="1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自动重复计数功能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，但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OUT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引脚输出的波形不同。当计数初值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为偶数时，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OUT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输出</a:t>
            </a:r>
            <a:r>
              <a:rPr lang="zh-CN" altLang="en-US" sz="2400" b="1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对称的方波信号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，正负脉冲的宽度为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n/2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个时钟周期；当计数初值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为奇数时，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OUT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输出不对称的方波信号，正脉冲宽度为（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n+1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）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/2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个时钟周期，负脉冲宽度为（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n-1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）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/2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个时钟周期。方式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的特点与方式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相同，只是输出波形不同。</a:t>
            </a:r>
            <a:endParaRPr lang="en-US" altLang="zh-CN" sz="2400" b="1" dirty="0">
              <a:latin typeface="+mn-lt"/>
              <a:ea typeface="宋体" panose="02010600030101010101" pitchFamily="2" charset="-122"/>
            </a:endParaRPr>
          </a:p>
        </p:txBody>
      </p:sp>
      <p:pic>
        <p:nvPicPr>
          <p:cNvPr id="338950" name="图片 338949" descr="wps_clip_image-261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2" y="3501008"/>
            <a:ext cx="9036708" cy="251983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5DAAAF2-9903-E61B-B1BA-56F671AF0B7D}"/>
              </a:ext>
            </a:extLst>
          </p:cNvPr>
          <p:cNvSpPr txBox="1"/>
          <p:nvPr/>
        </p:nvSpPr>
        <p:spPr>
          <a:xfrm>
            <a:off x="3779912" y="5607871"/>
            <a:ext cx="280831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图 </a:t>
            </a:r>
            <a:r>
              <a:rPr lang="en-US" altLang="zh-CN" sz="1600" dirty="0"/>
              <a:t>9.20 </a:t>
            </a:r>
            <a:r>
              <a:rPr lang="zh-CN" altLang="en-US" sz="1600" dirty="0"/>
              <a:t>方式</a:t>
            </a:r>
            <a:r>
              <a:rPr lang="en-US" altLang="zh-CN" sz="1600" dirty="0"/>
              <a:t>3</a:t>
            </a:r>
            <a:r>
              <a:rPr lang="zh-CN" altLang="en-US" sz="1600" dirty="0"/>
              <a:t>的工作时序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D8A628D-0BB0-4A45-A834-341B0FA28DC1}"/>
              </a:ext>
            </a:extLst>
          </p:cNvPr>
          <p:cNvCxnSpPr/>
          <p:nvPr/>
        </p:nvCxnSpPr>
        <p:spPr>
          <a:xfrm>
            <a:off x="6707857" y="3726557"/>
            <a:ext cx="0" cy="1368152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标题 340993"/>
          <p:cNvSpPr>
            <a:spLocks noGrp="1"/>
          </p:cNvSpPr>
          <p:nvPr>
            <p:ph type="title"/>
          </p:nvPr>
        </p:nvSpPr>
        <p:spPr>
          <a:xfrm>
            <a:off x="1044575" y="188913"/>
            <a:ext cx="7704138" cy="431800"/>
          </a:xfrm>
          <a:ln/>
        </p:spPr>
        <p:txBody>
          <a:bodyPr anchor="ctr"/>
          <a:lstStyle/>
          <a:p>
            <a:pPr lvl="0"/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9.2  可编程定时/计数器8253及其应用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40995" name="文本框 340994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0996" name="文本框 340995"/>
          <p:cNvSpPr txBox="1"/>
          <p:nvPr/>
        </p:nvSpPr>
        <p:spPr>
          <a:xfrm>
            <a:off x="107504" y="908050"/>
            <a:ext cx="8857109" cy="267765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 eaLnBrk="0" hangingPunct="0"/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5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）方式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4—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软件触发的选通计数</a:t>
            </a:r>
          </a:p>
          <a:p>
            <a:pPr lvl="0" algn="just" eaLnBrk="0" hangingPunct="0"/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       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写入控制字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CW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后，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OUT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立即变为高电平，在写入计数初值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之后的第一个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CLK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的下降沿将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装入计数器，待下一个计数脉冲信号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CLK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到来且门控信号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GATE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为高电平时（即软件启动），开始计数。当计数为“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0”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时，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OUT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引脚由高电平变为低电平，维持一个时钟周期后，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OUT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又从低电平变为高电平。一次计数过程结束后，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OUT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引脚输出宽度为一个时钟周期的负脉冲信号。</a:t>
            </a:r>
          </a:p>
        </p:txBody>
      </p:sp>
      <p:pic>
        <p:nvPicPr>
          <p:cNvPr id="340998" name="图片 340997" descr="wps_clip_image-26324"/>
          <p:cNvPicPr>
            <a:picLocks noChangeAspect="1"/>
          </p:cNvPicPr>
          <p:nvPr/>
        </p:nvPicPr>
        <p:blipFill rotWithShape="1">
          <a:blip r:embed="rId2"/>
          <a:srcRect b="14185"/>
          <a:stretch/>
        </p:blipFill>
        <p:spPr>
          <a:xfrm>
            <a:off x="-180528" y="3474189"/>
            <a:ext cx="9361040" cy="225906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D134B89-4288-B4E2-B50E-63D6329E3FA0}"/>
              </a:ext>
            </a:extLst>
          </p:cNvPr>
          <p:cNvSpPr txBox="1"/>
          <p:nvPr/>
        </p:nvSpPr>
        <p:spPr>
          <a:xfrm>
            <a:off x="3311513" y="5733256"/>
            <a:ext cx="280831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图 </a:t>
            </a:r>
            <a:r>
              <a:rPr lang="en-US" altLang="zh-CN" sz="1600" dirty="0"/>
              <a:t>9.21 </a:t>
            </a:r>
            <a:r>
              <a:rPr lang="zh-CN" altLang="en-US" sz="1600" dirty="0"/>
              <a:t>方式</a:t>
            </a:r>
            <a:r>
              <a:rPr lang="en-US" altLang="zh-CN" sz="1600" dirty="0"/>
              <a:t>4</a:t>
            </a:r>
            <a:r>
              <a:rPr lang="zh-CN" altLang="en-US" sz="1600" dirty="0"/>
              <a:t>的工作时序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4A24893-6CAD-4873-B4BD-66FBE28ED849}"/>
              </a:ext>
            </a:extLst>
          </p:cNvPr>
          <p:cNvCxnSpPr/>
          <p:nvPr/>
        </p:nvCxnSpPr>
        <p:spPr>
          <a:xfrm>
            <a:off x="6755482" y="3745607"/>
            <a:ext cx="0" cy="1368152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标题 339969"/>
          <p:cNvSpPr>
            <a:spLocks noGrp="1"/>
          </p:cNvSpPr>
          <p:nvPr>
            <p:ph type="title"/>
          </p:nvPr>
        </p:nvSpPr>
        <p:spPr>
          <a:xfrm>
            <a:off x="1044575" y="188913"/>
            <a:ext cx="7704138" cy="431800"/>
          </a:xfrm>
          <a:ln/>
        </p:spPr>
        <p:txBody>
          <a:bodyPr anchor="ctr"/>
          <a:lstStyle/>
          <a:p>
            <a:pPr lvl="0"/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9.2  可编程定时/计数器8253及其应用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39971" name="文本框 339970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39972" name="文本框 339971"/>
          <p:cNvSpPr txBox="1"/>
          <p:nvPr/>
        </p:nvSpPr>
        <p:spPr>
          <a:xfrm>
            <a:off x="250825" y="908050"/>
            <a:ext cx="8713788" cy="1917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0" hangingPunct="0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方式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的特点：</a:t>
            </a:r>
          </a:p>
          <a:p>
            <a:pPr lvl="0" algn="just" eaLnBrk="0" hangingPunct="0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① 无自动重复计数功能，只有在写入新的计数初值后，才能开始新的计数；</a:t>
            </a:r>
          </a:p>
          <a:p>
            <a:pPr lvl="0" algn="just" eaLnBrk="0" hangingPunct="0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② 若设置的计数初值为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，则在写入计数初值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个时钟脉冲之后，才使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OUT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引脚产生一个负脉冲信号。</a:t>
            </a:r>
            <a:endParaRPr lang="en-US" altLang="zh-CN" sz="2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标题 342017"/>
          <p:cNvSpPr>
            <a:spLocks noGrp="1"/>
          </p:cNvSpPr>
          <p:nvPr>
            <p:ph type="title"/>
          </p:nvPr>
        </p:nvSpPr>
        <p:spPr>
          <a:xfrm>
            <a:off x="1044575" y="188913"/>
            <a:ext cx="7704138" cy="431800"/>
          </a:xfrm>
          <a:ln/>
        </p:spPr>
        <p:txBody>
          <a:bodyPr anchor="ctr"/>
          <a:lstStyle/>
          <a:p>
            <a:pPr lvl="0"/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9.2  可编程定时/计数器8253及其应用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42019" name="文本框 342018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2020" name="文本框 342019"/>
          <p:cNvSpPr txBox="1"/>
          <p:nvPr/>
        </p:nvSpPr>
        <p:spPr>
          <a:xfrm>
            <a:off x="250825" y="908050"/>
            <a:ext cx="8713788" cy="15696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0" hangingPunct="0"/>
            <a:r>
              <a:rPr lang="zh-CN" altLang="en-US" sz="2400" b="1" dirty="0">
                <a:solidFill>
                  <a:srgbClr val="FF00FF"/>
                </a:solidFill>
                <a:latin typeface="+mn-lt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FF00FF"/>
                </a:solidFill>
                <a:latin typeface="+mn-lt"/>
                <a:ea typeface="宋体" panose="02010600030101010101" pitchFamily="2" charset="-122"/>
              </a:rPr>
              <a:t>6</a:t>
            </a:r>
            <a:r>
              <a:rPr lang="zh-CN" altLang="en-US" sz="2400" b="1" dirty="0">
                <a:solidFill>
                  <a:srgbClr val="FF00FF"/>
                </a:solidFill>
                <a:latin typeface="+mn-lt"/>
                <a:ea typeface="宋体" panose="02010600030101010101" pitchFamily="2" charset="-122"/>
              </a:rPr>
              <a:t>）方式</a:t>
            </a:r>
            <a:r>
              <a:rPr lang="en-US" altLang="zh-CN" sz="2400" b="1" dirty="0">
                <a:solidFill>
                  <a:srgbClr val="FF00FF"/>
                </a:solidFill>
                <a:latin typeface="+mn-lt"/>
                <a:ea typeface="宋体" panose="02010600030101010101" pitchFamily="2" charset="-122"/>
              </a:rPr>
              <a:t>5—</a:t>
            </a:r>
            <a:r>
              <a:rPr lang="zh-CN" altLang="en-US" sz="2400" b="1" dirty="0">
                <a:solidFill>
                  <a:srgbClr val="FF00FF"/>
                </a:solidFill>
                <a:latin typeface="+mn-lt"/>
                <a:ea typeface="宋体" panose="02010600030101010101" pitchFamily="2" charset="-122"/>
              </a:rPr>
              <a:t>硬件触发计数器</a:t>
            </a:r>
          </a:p>
          <a:p>
            <a:pPr lvl="0" algn="just" eaLnBrk="0" hangingPunct="0"/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方式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5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与方式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的工作原理相似，也是由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GATE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门控信号的上升沿触发计数器来计数，但它的输出波形为单脉冲选通信号，同方式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。</a:t>
            </a:r>
          </a:p>
        </p:txBody>
      </p:sp>
      <p:pic>
        <p:nvPicPr>
          <p:cNvPr id="342022" name="图片 342021" descr="wps_clip_image-265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00" y="2636912"/>
            <a:ext cx="8941896" cy="2678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DE1F066-EAA2-DCD9-E845-3E7AEB6FD1C0}"/>
              </a:ext>
            </a:extLst>
          </p:cNvPr>
          <p:cNvSpPr txBox="1"/>
          <p:nvPr/>
        </p:nvSpPr>
        <p:spPr>
          <a:xfrm>
            <a:off x="3635896" y="4976396"/>
            <a:ext cx="280831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图 </a:t>
            </a:r>
            <a:r>
              <a:rPr lang="en-US" altLang="zh-CN" sz="1600" dirty="0"/>
              <a:t>9.22 </a:t>
            </a:r>
            <a:r>
              <a:rPr lang="zh-CN" altLang="en-US" sz="1600" dirty="0"/>
              <a:t>方式</a:t>
            </a:r>
            <a:r>
              <a:rPr lang="en-US" altLang="zh-CN" sz="1600" dirty="0"/>
              <a:t>5</a:t>
            </a:r>
            <a:r>
              <a:rPr lang="zh-CN" altLang="en-US" sz="1600" dirty="0"/>
              <a:t>的工作时序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标题 343041"/>
          <p:cNvSpPr>
            <a:spLocks noGrp="1"/>
          </p:cNvSpPr>
          <p:nvPr>
            <p:ph type="title"/>
          </p:nvPr>
        </p:nvSpPr>
        <p:spPr>
          <a:xfrm>
            <a:off x="1044575" y="188913"/>
            <a:ext cx="7704138" cy="431800"/>
          </a:xfrm>
          <a:ln/>
        </p:spPr>
        <p:txBody>
          <a:bodyPr anchor="ctr"/>
          <a:lstStyle/>
          <a:p>
            <a:pPr lvl="0"/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9.2  可编程定时/计数器8253及其应用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43043" name="文本框 343042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3044" name="文本框 343043"/>
          <p:cNvSpPr txBox="1"/>
          <p:nvPr/>
        </p:nvSpPr>
        <p:spPr>
          <a:xfrm>
            <a:off x="250825" y="908050"/>
            <a:ext cx="8713788" cy="526297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0" hangingPunct="0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方式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的特点：</a:t>
            </a:r>
          </a:p>
          <a:p>
            <a:pPr lvl="0" algn="just" eaLnBrk="0" hangingPunct="0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①  硬件启动计数，即由门控信号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GATE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的上升沿触发计数；</a:t>
            </a:r>
          </a:p>
          <a:p>
            <a:pPr lvl="0" algn="just" eaLnBrk="0" hangingPunct="0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② 可重复触发。计数到“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0”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后，不需再次送计数初值，只要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GATE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信号再次出现上升沿，即可产生一个同样宽度的单稳脉冲</a:t>
            </a:r>
          </a:p>
          <a:p>
            <a:pPr lvl="0" algn="just" eaLnBrk="0" hangingPunct="0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③ 计数过程中，若装入新的计数初值，只要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GATE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信号不出现上升沿，则当前输出不受影响。如果在这以后，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GATE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出现上升沿，计数器才开始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按新值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计数。</a:t>
            </a:r>
          </a:p>
          <a:p>
            <a:pPr lvl="0" algn="just" eaLnBrk="0" hangingPunct="0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④ 计数过程中，若门控信号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GATE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又产生新的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触发脉冲，则重新开始计数。此时输出的单脉冲宽度会变长。</a:t>
            </a:r>
          </a:p>
          <a:p>
            <a:pPr lvl="0" algn="just" eaLnBrk="0" hangingPunct="0"/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algn="just" eaLnBrk="0" hangingPunct="0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方式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的输出波形与方式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相同。两种工作方式的区别是：方式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为软件启动计数，即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GATE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＝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，写入计数初值时启动计数；方式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为硬件启动计数，即先写入计数初值，再由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GATE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的上升沿触发后，才启动计数。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标题 344065"/>
          <p:cNvSpPr>
            <a:spLocks noGrp="1"/>
          </p:cNvSpPr>
          <p:nvPr>
            <p:ph type="title"/>
          </p:nvPr>
        </p:nvSpPr>
        <p:spPr>
          <a:xfrm>
            <a:off x="1044575" y="188913"/>
            <a:ext cx="7704138" cy="431800"/>
          </a:xfrm>
          <a:ln/>
        </p:spPr>
        <p:txBody>
          <a:bodyPr anchor="ctr"/>
          <a:lstStyle/>
          <a:p>
            <a:pPr lvl="0"/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9.2  可编程定时/计数器8253及其应用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44067" name="文本框 344066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4068" name="文本框 344067"/>
          <p:cNvSpPr txBox="1"/>
          <p:nvPr/>
        </p:nvSpPr>
        <p:spPr>
          <a:xfrm>
            <a:off x="250825" y="764704"/>
            <a:ext cx="8713788" cy="304698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 eaLnBrk="0" hangingPunct="0"/>
            <a:r>
              <a:rPr lang="en-US" altLang="zh-CN" sz="2400" b="1" dirty="0">
                <a:solidFill>
                  <a:srgbClr val="FF00FF"/>
                </a:solidFill>
                <a:latin typeface="+mn-lt"/>
                <a:ea typeface="宋体" panose="02010600030101010101" pitchFamily="2" charset="-122"/>
              </a:rPr>
              <a:t>8253</a:t>
            </a:r>
            <a:r>
              <a:rPr lang="zh-CN" altLang="en-US" sz="2400" b="1" dirty="0">
                <a:solidFill>
                  <a:srgbClr val="FF00FF"/>
                </a:solidFill>
                <a:latin typeface="+mn-lt"/>
                <a:ea typeface="宋体" panose="02010600030101010101" pitchFamily="2" charset="-122"/>
              </a:rPr>
              <a:t>的</a:t>
            </a:r>
            <a:r>
              <a:rPr lang="en-US" altLang="zh-CN" sz="2400" b="1" dirty="0">
                <a:solidFill>
                  <a:srgbClr val="FF00FF"/>
                </a:solidFill>
                <a:latin typeface="+mn-lt"/>
                <a:ea typeface="宋体" panose="02010600030101010101" pitchFamily="2" charset="-122"/>
              </a:rPr>
              <a:t>6</a:t>
            </a:r>
            <a:r>
              <a:rPr lang="zh-CN" altLang="en-US" sz="2400" b="1" dirty="0">
                <a:solidFill>
                  <a:srgbClr val="FF00FF"/>
                </a:solidFill>
                <a:latin typeface="+mn-lt"/>
                <a:ea typeface="宋体" panose="02010600030101010101" pitchFamily="2" charset="-122"/>
              </a:rPr>
              <a:t>种不同工作</a:t>
            </a:r>
            <a:r>
              <a:rPr lang="zh-CN" altLang="en-US" sz="2400" b="1" dirty="0">
                <a:solidFill>
                  <a:srgbClr val="FF00FF"/>
                </a:solidFill>
                <a:latin typeface="+mn-lt"/>
              </a:rPr>
              <a:t>方式总结：</a:t>
            </a:r>
            <a:endParaRPr lang="zh-CN" altLang="en-US" sz="2400" b="1" dirty="0">
              <a:solidFill>
                <a:srgbClr val="FF00FF"/>
              </a:solidFill>
              <a:latin typeface="+mn-lt"/>
              <a:ea typeface="宋体" panose="02010600030101010101" pitchFamily="2" charset="-122"/>
            </a:endParaRPr>
          </a:p>
          <a:p>
            <a:pPr lvl="0" algn="just" eaLnBrk="0" hangingPunct="0"/>
            <a:r>
              <a:rPr lang="en-US" altLang="zh-CN" sz="2400" b="1" dirty="0">
                <a:solidFill>
                  <a:srgbClr val="00B0F0"/>
                </a:solidFill>
                <a:latin typeface="+mn-lt"/>
              </a:rPr>
              <a:t>1</a:t>
            </a:r>
            <a:r>
              <a:rPr lang="zh-CN" altLang="en-US" sz="2400" b="1" dirty="0">
                <a:solidFill>
                  <a:srgbClr val="00B0F0"/>
                </a:solidFill>
                <a:latin typeface="+mn-lt"/>
              </a:rPr>
              <a:t>）</a:t>
            </a:r>
            <a:r>
              <a:rPr lang="zh-CN" altLang="en-US" sz="2400" b="1" dirty="0">
                <a:latin typeface="+mn-lt"/>
              </a:rPr>
              <a:t>方式 </a:t>
            </a:r>
            <a:r>
              <a:rPr lang="en-US" altLang="zh-CN" sz="2400" b="1" dirty="0">
                <a:latin typeface="+mn-lt"/>
              </a:rPr>
              <a:t>0</a:t>
            </a:r>
            <a:r>
              <a:rPr lang="zh-CN" altLang="en-US" sz="2400" b="1" dirty="0">
                <a:latin typeface="+mn-lt"/>
              </a:rPr>
              <a:t>、</a:t>
            </a:r>
            <a:r>
              <a:rPr lang="en-US" altLang="zh-CN" sz="2400" b="1" dirty="0">
                <a:latin typeface="+mn-lt"/>
              </a:rPr>
              <a:t>2</a:t>
            </a:r>
            <a:r>
              <a:rPr lang="zh-CN" altLang="en-US" sz="2400" b="1" dirty="0">
                <a:latin typeface="+mn-lt"/>
              </a:rPr>
              <a:t>、</a:t>
            </a:r>
            <a:r>
              <a:rPr lang="en-US" altLang="zh-CN" sz="2400" b="1" dirty="0">
                <a:latin typeface="+mn-lt"/>
              </a:rPr>
              <a:t>3</a:t>
            </a:r>
            <a:r>
              <a:rPr lang="zh-CN" altLang="en-US" sz="2400" b="1" dirty="0">
                <a:latin typeface="+mn-lt"/>
              </a:rPr>
              <a:t>、</a:t>
            </a:r>
            <a:r>
              <a:rPr lang="en-US" altLang="zh-CN" sz="2400" b="1" dirty="0">
                <a:latin typeface="+mn-lt"/>
              </a:rPr>
              <a:t>4 </a:t>
            </a:r>
            <a:r>
              <a:rPr lang="zh-CN" altLang="en-US" sz="2400" b="1" dirty="0">
                <a:latin typeface="+mn-lt"/>
              </a:rPr>
              <a:t>为软件触发方式，方式 </a:t>
            </a:r>
            <a:r>
              <a:rPr lang="en-US" altLang="zh-CN" sz="2400" b="1" dirty="0">
                <a:latin typeface="+mn-lt"/>
              </a:rPr>
              <a:t>1</a:t>
            </a:r>
            <a:r>
              <a:rPr lang="zh-CN" altLang="en-US" sz="2400" b="1" dirty="0">
                <a:latin typeface="+mn-lt"/>
              </a:rPr>
              <a:t>、</a:t>
            </a:r>
            <a:r>
              <a:rPr lang="en-US" altLang="zh-CN" sz="2400" b="1" dirty="0">
                <a:latin typeface="+mn-lt"/>
              </a:rPr>
              <a:t>5 </a:t>
            </a:r>
            <a:r>
              <a:rPr lang="zh-CN" altLang="en-US" sz="2400" b="1" dirty="0">
                <a:latin typeface="+mn-lt"/>
              </a:rPr>
              <a:t>为硬件触发方式。 </a:t>
            </a:r>
            <a:endParaRPr lang="en-US" altLang="zh-CN" sz="2400" b="1" dirty="0">
              <a:latin typeface="+mn-lt"/>
            </a:endParaRPr>
          </a:p>
          <a:p>
            <a:pPr lvl="0" algn="just" eaLnBrk="0" hangingPunct="0"/>
            <a:r>
              <a:rPr lang="en-US" altLang="zh-CN" sz="2400" b="1" dirty="0">
                <a:solidFill>
                  <a:srgbClr val="00B0F0"/>
                </a:solidFill>
                <a:latin typeface="+mn-lt"/>
              </a:rPr>
              <a:t>2</a:t>
            </a:r>
            <a:r>
              <a:rPr lang="zh-CN" altLang="en-US" sz="2400" b="1" dirty="0">
                <a:solidFill>
                  <a:srgbClr val="00B0F0"/>
                </a:solidFill>
                <a:latin typeface="+mn-lt"/>
              </a:rPr>
              <a:t>）</a:t>
            </a:r>
            <a:r>
              <a:rPr lang="zh-CN" altLang="en-US" sz="2400" b="1" dirty="0">
                <a:latin typeface="+mn-lt"/>
              </a:rPr>
              <a:t>方式 </a:t>
            </a:r>
            <a:r>
              <a:rPr lang="en-US" altLang="zh-CN" sz="2400" b="1" dirty="0">
                <a:latin typeface="+mn-lt"/>
              </a:rPr>
              <a:t>0</a:t>
            </a:r>
            <a:r>
              <a:rPr lang="zh-CN" altLang="en-US" sz="2400" b="1" dirty="0">
                <a:latin typeface="+mn-lt"/>
              </a:rPr>
              <a:t>、</a:t>
            </a:r>
            <a:r>
              <a:rPr lang="en-US" altLang="zh-CN" sz="2400" b="1" dirty="0">
                <a:latin typeface="+mn-lt"/>
              </a:rPr>
              <a:t>1</a:t>
            </a:r>
            <a:r>
              <a:rPr lang="zh-CN" altLang="en-US" sz="2400" b="1" dirty="0">
                <a:latin typeface="+mn-lt"/>
              </a:rPr>
              <a:t>、</a:t>
            </a:r>
            <a:r>
              <a:rPr lang="en-US" altLang="zh-CN" sz="2400" b="1" dirty="0">
                <a:latin typeface="+mn-lt"/>
              </a:rPr>
              <a:t>4</a:t>
            </a:r>
            <a:r>
              <a:rPr lang="zh-CN" altLang="en-US" sz="2400" b="1" dirty="0">
                <a:latin typeface="+mn-lt"/>
              </a:rPr>
              <a:t>、</a:t>
            </a:r>
            <a:r>
              <a:rPr lang="en-US" altLang="zh-CN" sz="2400" b="1" dirty="0">
                <a:latin typeface="+mn-lt"/>
              </a:rPr>
              <a:t>5 </a:t>
            </a:r>
            <a:r>
              <a:rPr lang="zh-CN" altLang="en-US" sz="2400" b="1" dirty="0">
                <a:latin typeface="+mn-lt"/>
              </a:rPr>
              <a:t>为单次计数，方式 </a:t>
            </a:r>
            <a:r>
              <a:rPr lang="en-US" altLang="zh-CN" sz="2400" b="1" dirty="0">
                <a:latin typeface="+mn-lt"/>
              </a:rPr>
              <a:t>2</a:t>
            </a:r>
            <a:r>
              <a:rPr lang="zh-CN" altLang="en-US" sz="2400" b="1" dirty="0">
                <a:latin typeface="+mn-lt"/>
              </a:rPr>
              <a:t>、</a:t>
            </a:r>
            <a:r>
              <a:rPr lang="en-US" altLang="zh-CN" sz="2400" b="1" dirty="0">
                <a:latin typeface="+mn-lt"/>
              </a:rPr>
              <a:t>3 </a:t>
            </a:r>
            <a:r>
              <a:rPr lang="zh-CN" altLang="en-US" sz="2400" b="1" dirty="0">
                <a:latin typeface="+mn-lt"/>
              </a:rPr>
              <a:t>为循环计数。方式 </a:t>
            </a:r>
            <a:r>
              <a:rPr lang="en-US" altLang="zh-CN" sz="2400" b="1" dirty="0">
                <a:latin typeface="+mn-lt"/>
              </a:rPr>
              <a:t>1</a:t>
            </a:r>
            <a:r>
              <a:rPr lang="zh-CN" altLang="en-US" sz="2400" b="1" dirty="0">
                <a:latin typeface="+mn-lt"/>
              </a:rPr>
              <a:t>、</a:t>
            </a:r>
            <a:r>
              <a:rPr lang="en-US" altLang="zh-CN" sz="2400" b="1" dirty="0">
                <a:latin typeface="+mn-lt"/>
              </a:rPr>
              <a:t>5 </a:t>
            </a:r>
            <a:r>
              <a:rPr lang="zh-CN" altLang="en-US" sz="2400" b="1" dirty="0">
                <a:latin typeface="+mn-lt"/>
              </a:rPr>
              <a:t>在 </a:t>
            </a:r>
            <a:r>
              <a:rPr lang="en-US" altLang="zh-CN" sz="2400" b="1" dirty="0">
                <a:latin typeface="+mn-lt"/>
              </a:rPr>
              <a:t>GATE </a:t>
            </a:r>
            <a:r>
              <a:rPr lang="zh-CN" altLang="en-US" sz="2400" b="1" dirty="0">
                <a:latin typeface="+mn-lt"/>
              </a:rPr>
              <a:t>重复触发 的情况下，也可以实现循环计数。</a:t>
            </a:r>
            <a:endParaRPr lang="en-US" altLang="zh-CN" sz="2400" b="1" dirty="0">
              <a:latin typeface="+mn-lt"/>
            </a:endParaRPr>
          </a:p>
          <a:p>
            <a:pPr lvl="0" algn="just" eaLnBrk="0" hangingPunct="0"/>
            <a:r>
              <a:rPr lang="en-US" altLang="zh-CN" sz="2400" b="1" dirty="0">
                <a:solidFill>
                  <a:srgbClr val="00B0F0"/>
                </a:solidFill>
                <a:latin typeface="+mn-lt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solidFill>
                  <a:srgbClr val="00B0F0"/>
                </a:solidFill>
                <a:latin typeface="+mn-lt"/>
                <a:ea typeface="宋体" panose="02010600030101010101" pitchFamily="2" charset="-122"/>
              </a:rPr>
              <a:t>）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方式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5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的输出波形虽然相同，即都是宽度为一个时钟周期的负脉冲，但方式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可以连续自动工作，方式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由软件触发启动，方式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5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由硬件触发启动。</a:t>
            </a:r>
            <a:endParaRPr lang="en-US" altLang="zh-CN" sz="2400" b="1" dirty="0">
              <a:latin typeface="+mn-lt"/>
              <a:ea typeface="宋体" panose="02010600030101010101" pitchFamily="2" charset="-122"/>
            </a:endParaRPr>
          </a:p>
        </p:txBody>
      </p:sp>
      <p:graphicFrame>
        <p:nvGraphicFramePr>
          <p:cNvPr id="344319" name="表格 344318"/>
          <p:cNvGraphicFramePr/>
          <p:nvPr>
            <p:extLst>
              <p:ext uri="{D42A27DB-BD31-4B8C-83A1-F6EECF244321}">
                <p14:modId xmlns:p14="http://schemas.microsoft.com/office/powerpoint/2010/main" val="2524045540"/>
              </p:ext>
            </p:extLst>
          </p:nvPr>
        </p:nvGraphicFramePr>
        <p:xfrm>
          <a:off x="179388" y="3811693"/>
          <a:ext cx="8713789" cy="2428070"/>
        </p:xfrm>
        <a:graphic>
          <a:graphicData uri="http://schemas.openxmlformats.org/drawingml/2006/table">
            <a:tbl>
              <a:tblPr/>
              <a:tblGrid>
                <a:gridCol w="1181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38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25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53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07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48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zh-CN" altLang="en-US" sz="12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工作方式</a:t>
                      </a:r>
                    </a:p>
                  </a:txBody>
                  <a:tcPr marL="0" marR="0" marT="46800" marB="468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en-US" altLang="zh-CN" sz="12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OUT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触发计数方式</a:t>
                      </a:r>
                    </a:p>
                  </a:txBody>
                  <a:tcPr marL="0" marR="0" marT="46800" marB="468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en-US" altLang="zh-CN" sz="120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OUT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终止计数方式操作</a:t>
                      </a:r>
                    </a:p>
                  </a:txBody>
                  <a:tcPr marL="0" marR="0" marT="46800" marB="468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zh-CN" altLang="en-US" sz="12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初始值自动装载</a:t>
                      </a:r>
                    </a:p>
                  </a:txBody>
                  <a:tcPr marL="0" marR="0" marT="46800" marB="468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zh-CN" altLang="en-US" sz="12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功能</a:t>
                      </a:r>
                    </a:p>
                  </a:txBody>
                  <a:tcPr marL="0" marR="0" marT="46800" marB="468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09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en-US" altLang="zh-CN" sz="120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0</a:t>
                      </a:r>
                      <a:endParaRPr lang="en-US" altLang="zh-CN" sz="1200">
                        <a:latin typeface="Times New Roman" panose="02020603050405020304" pitchFamily="18" charset="0"/>
                      </a:endParaRPr>
                    </a:p>
                  </a:txBody>
                  <a:tcPr marL="0" marR="0" marT="46800" marB="468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高电平</a:t>
                      </a:r>
                      <a:endParaRPr lang="zh-CN" altLang="en-US" sz="1200" dirty="0">
                        <a:latin typeface="Times New Roman" panose="02020603050405020304" pitchFamily="18" charset="0"/>
                      </a:endParaRPr>
                    </a:p>
                  </a:txBody>
                  <a:tcPr marL="0" marR="0" marT="46800" marB="468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低电平</a:t>
                      </a:r>
                      <a:endParaRPr lang="zh-CN" altLang="en-US" sz="1200" dirty="0">
                        <a:latin typeface="Times New Roman" panose="02020603050405020304" pitchFamily="18" charset="0"/>
                      </a:endParaRPr>
                    </a:p>
                  </a:txBody>
                  <a:tcPr marL="0" marR="0" marT="46800" marB="468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无</a:t>
                      </a:r>
                      <a:endParaRPr lang="zh-CN" altLang="en-US" sz="1200" dirty="0">
                        <a:latin typeface="Times New Roman" panose="02020603050405020304" pitchFamily="18" charset="0"/>
                      </a:endParaRPr>
                    </a:p>
                  </a:txBody>
                  <a:tcPr marL="0" marR="0" marT="46800" marB="468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计数（定时）中断</a:t>
                      </a:r>
                      <a:endParaRPr lang="zh-CN" altLang="en-US" sz="1200" dirty="0">
                        <a:latin typeface="Times New Roman" panose="02020603050405020304" pitchFamily="18" charset="0"/>
                      </a:endParaRPr>
                    </a:p>
                  </a:txBody>
                  <a:tcPr marL="0" marR="0" marT="46800" marB="468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09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en-US" altLang="zh-CN" sz="120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1</a:t>
                      </a:r>
                      <a:endParaRPr lang="en-US" altLang="zh-CN" sz="1200">
                        <a:latin typeface="Times New Roman" panose="02020603050405020304" pitchFamily="18" charset="0"/>
                      </a:endParaRPr>
                    </a:p>
                  </a:txBody>
                  <a:tcPr marL="0" marR="0" marT="46800" marB="468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上升沿</a:t>
                      </a:r>
                      <a:endParaRPr lang="zh-CN" altLang="en-US" sz="1200" dirty="0">
                        <a:latin typeface="Times New Roman" panose="02020603050405020304" pitchFamily="18" charset="0"/>
                      </a:endParaRPr>
                    </a:p>
                  </a:txBody>
                  <a:tcPr marL="0" marR="0" marT="46800" marB="468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无影响</a:t>
                      </a:r>
                      <a:endParaRPr lang="zh-CN" altLang="en-US" sz="1200" dirty="0">
                        <a:latin typeface="Times New Roman" panose="02020603050405020304" pitchFamily="18" charset="0"/>
                      </a:endParaRPr>
                    </a:p>
                  </a:txBody>
                  <a:tcPr marL="0" marR="0" marT="46800" marB="468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无</a:t>
                      </a:r>
                      <a:endParaRPr lang="zh-CN" altLang="en-US" sz="1200" dirty="0">
                        <a:latin typeface="Times New Roman" panose="02020603050405020304" pitchFamily="18" charset="0"/>
                      </a:endParaRPr>
                    </a:p>
                  </a:txBody>
                  <a:tcPr marL="0" marR="0" marT="46800" marB="468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单脉冲发生器</a:t>
                      </a:r>
                      <a:endParaRPr lang="zh-CN" altLang="en-US" sz="1200" dirty="0">
                        <a:latin typeface="Times New Roman" panose="02020603050405020304" pitchFamily="18" charset="0"/>
                      </a:endParaRPr>
                    </a:p>
                  </a:txBody>
                  <a:tcPr marL="0" marR="0" marT="46800" marB="468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09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en-US" altLang="zh-CN" sz="120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2</a:t>
                      </a:r>
                      <a:endParaRPr lang="en-US" altLang="zh-CN" sz="1200">
                        <a:latin typeface="Times New Roman" panose="02020603050405020304" pitchFamily="18" charset="0"/>
                      </a:endParaRPr>
                    </a:p>
                  </a:txBody>
                  <a:tcPr marL="0" marR="0" marT="46800" marB="468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高电平或上升沿</a:t>
                      </a:r>
                      <a:endParaRPr lang="zh-CN" altLang="en-US" sz="1200" dirty="0">
                        <a:latin typeface="Times New Roman" panose="02020603050405020304" pitchFamily="18" charset="0"/>
                      </a:endParaRPr>
                    </a:p>
                  </a:txBody>
                  <a:tcPr marL="0" marR="0" marT="46800" marB="468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低电平</a:t>
                      </a:r>
                      <a:endParaRPr lang="zh-CN" altLang="en-US" sz="1200" dirty="0">
                        <a:latin typeface="Times New Roman" panose="02020603050405020304" pitchFamily="18" charset="0"/>
                      </a:endParaRPr>
                    </a:p>
                  </a:txBody>
                  <a:tcPr marL="0" marR="0" marT="46800" marB="468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有</a:t>
                      </a:r>
                      <a:endParaRPr lang="zh-CN" altLang="en-US" sz="1200" dirty="0">
                        <a:latin typeface="Times New Roman" panose="02020603050405020304" pitchFamily="18" charset="0"/>
                      </a:endParaRPr>
                    </a:p>
                  </a:txBody>
                  <a:tcPr marL="0" marR="0" marT="46800" marB="468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频率发生器或分频器</a:t>
                      </a:r>
                      <a:endParaRPr lang="zh-CN" altLang="en-US" sz="1200" dirty="0">
                        <a:latin typeface="Times New Roman" panose="02020603050405020304" pitchFamily="18" charset="0"/>
                      </a:endParaRPr>
                    </a:p>
                  </a:txBody>
                  <a:tcPr marL="0" marR="0" marT="46800" marB="468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09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en-US" altLang="zh-CN" sz="120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3</a:t>
                      </a:r>
                      <a:endParaRPr lang="en-US" altLang="zh-CN" sz="1200">
                        <a:latin typeface="Times New Roman" panose="02020603050405020304" pitchFamily="18" charset="0"/>
                      </a:endParaRPr>
                    </a:p>
                  </a:txBody>
                  <a:tcPr marL="0" marR="0" marT="46800" marB="468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高电平或上升沿</a:t>
                      </a:r>
                      <a:endParaRPr lang="zh-CN" altLang="en-US" sz="1200" dirty="0">
                        <a:latin typeface="Times New Roman" panose="02020603050405020304" pitchFamily="18" charset="0"/>
                      </a:endParaRPr>
                    </a:p>
                  </a:txBody>
                  <a:tcPr marL="0" marR="0" marT="46800" marB="468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低电平</a:t>
                      </a:r>
                      <a:endParaRPr lang="zh-CN" altLang="en-US" sz="1200" dirty="0">
                        <a:latin typeface="Times New Roman" panose="02020603050405020304" pitchFamily="18" charset="0"/>
                      </a:endParaRPr>
                    </a:p>
                  </a:txBody>
                  <a:tcPr marL="0" marR="0" marT="46800" marB="468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有</a:t>
                      </a:r>
                      <a:endParaRPr lang="zh-CN" altLang="en-US" sz="1200" dirty="0">
                        <a:latin typeface="Times New Roman" panose="02020603050405020304" pitchFamily="18" charset="0"/>
                      </a:endParaRPr>
                    </a:p>
                  </a:txBody>
                  <a:tcPr marL="0" marR="0" marT="46800" marB="468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方波发生器或分频器</a:t>
                      </a:r>
                      <a:endParaRPr lang="zh-CN" altLang="en-US" sz="1200" dirty="0">
                        <a:latin typeface="Times New Roman" panose="02020603050405020304" pitchFamily="18" charset="0"/>
                      </a:endParaRPr>
                    </a:p>
                  </a:txBody>
                  <a:tcPr marL="0" marR="0" marT="46800" marB="468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09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en-US" altLang="zh-CN" sz="120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4</a:t>
                      </a:r>
                      <a:endParaRPr lang="en-US" altLang="zh-CN" sz="1200">
                        <a:latin typeface="Times New Roman" panose="02020603050405020304" pitchFamily="18" charset="0"/>
                      </a:endParaRPr>
                    </a:p>
                  </a:txBody>
                  <a:tcPr marL="0" marR="0" marT="46800" marB="468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高电平</a:t>
                      </a:r>
                      <a:endParaRPr lang="zh-CN" altLang="en-US" sz="1200" dirty="0">
                        <a:latin typeface="Times New Roman" panose="02020603050405020304" pitchFamily="18" charset="0"/>
                      </a:endParaRPr>
                    </a:p>
                  </a:txBody>
                  <a:tcPr marL="0" marR="0" marT="46800" marB="468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低电平</a:t>
                      </a:r>
                      <a:endParaRPr lang="zh-CN" altLang="en-US" sz="1200" dirty="0">
                        <a:latin typeface="Times New Roman" panose="02020603050405020304" pitchFamily="18" charset="0"/>
                      </a:endParaRPr>
                    </a:p>
                  </a:txBody>
                  <a:tcPr marL="0" marR="0" marT="46800" marB="468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无</a:t>
                      </a:r>
                      <a:endParaRPr lang="zh-CN" altLang="en-US" sz="1200" dirty="0">
                        <a:latin typeface="Times New Roman" panose="02020603050405020304" pitchFamily="18" charset="0"/>
                      </a:endParaRPr>
                    </a:p>
                  </a:txBody>
                  <a:tcPr marL="0" marR="0" marT="46800" marB="468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单脉冲发生器</a:t>
                      </a:r>
                      <a:endParaRPr lang="zh-CN" altLang="en-US" sz="1200" dirty="0">
                        <a:latin typeface="Times New Roman" panose="02020603050405020304" pitchFamily="18" charset="0"/>
                      </a:endParaRPr>
                    </a:p>
                  </a:txBody>
                  <a:tcPr marL="0" marR="0" marT="46800" marB="468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09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en-US" altLang="zh-CN" sz="120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5</a:t>
                      </a:r>
                      <a:endParaRPr lang="en-US" altLang="zh-CN" sz="1200">
                        <a:latin typeface="Times New Roman" panose="02020603050405020304" pitchFamily="18" charset="0"/>
                      </a:endParaRPr>
                    </a:p>
                  </a:txBody>
                  <a:tcPr marL="0" marR="0" marT="46800" marB="468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上升沿</a:t>
                      </a:r>
                      <a:endParaRPr lang="zh-CN" altLang="en-US" sz="1200" dirty="0">
                        <a:latin typeface="Times New Roman" panose="02020603050405020304" pitchFamily="18" charset="0"/>
                      </a:endParaRPr>
                    </a:p>
                  </a:txBody>
                  <a:tcPr marL="0" marR="0" marT="46800" marB="468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无影响</a:t>
                      </a:r>
                      <a:endParaRPr lang="zh-CN" altLang="en-US" sz="1200" dirty="0">
                        <a:latin typeface="Times New Roman" panose="02020603050405020304" pitchFamily="18" charset="0"/>
                      </a:endParaRPr>
                    </a:p>
                  </a:txBody>
                  <a:tcPr marL="0" marR="0" marT="46800" marB="468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无</a:t>
                      </a:r>
                      <a:endParaRPr lang="zh-CN" altLang="en-US" sz="1200" dirty="0">
                        <a:latin typeface="Times New Roman" panose="02020603050405020304" pitchFamily="18" charset="0"/>
                      </a:endParaRPr>
                    </a:p>
                  </a:txBody>
                  <a:tcPr marL="0" marR="0" marT="46800" marB="468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None/>
                      </a:pPr>
                      <a:r>
                        <a:rPr lang="zh-CN" altLang="en-US" sz="1200" dirty="0"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单脉冲发生器</a:t>
                      </a:r>
                      <a:endParaRPr lang="zh-CN" altLang="en-US" sz="1200" dirty="0">
                        <a:latin typeface="Times New Roman" panose="02020603050405020304" pitchFamily="18" charset="0"/>
                      </a:endParaRPr>
                    </a:p>
                  </a:txBody>
                  <a:tcPr marL="0" marR="0" marT="46800" marB="4680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标题 345089"/>
          <p:cNvSpPr>
            <a:spLocks noGrp="1"/>
          </p:cNvSpPr>
          <p:nvPr>
            <p:ph type="title"/>
          </p:nvPr>
        </p:nvSpPr>
        <p:spPr>
          <a:xfrm>
            <a:off x="1044575" y="188913"/>
            <a:ext cx="7704138" cy="431800"/>
          </a:xfrm>
          <a:ln/>
        </p:spPr>
        <p:txBody>
          <a:bodyPr anchor="ctr"/>
          <a:lstStyle/>
          <a:p>
            <a:pPr lvl="0"/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9.2  可编程定时/计数器8253及其应用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45091" name="文本框 345090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5092" name="文本框 345091"/>
          <p:cNvSpPr txBox="1"/>
          <p:nvPr/>
        </p:nvSpPr>
        <p:spPr>
          <a:xfrm>
            <a:off x="250825" y="764704"/>
            <a:ext cx="8713788" cy="563231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四、</a:t>
            </a:r>
            <a:r>
              <a:rPr lang="en-US" altLang="en-U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8253的初始化编程及应用举例</a:t>
            </a:r>
            <a:endParaRPr lang="zh-CN" altLang="en-US" sz="2400" b="1" dirty="0">
              <a:solidFill>
                <a:srgbClr val="FF00FF"/>
              </a:solidFill>
              <a:latin typeface="Arial" panose="020B0604020202020204" pitchFamily="34" charset="0"/>
            </a:endParaRPr>
          </a:p>
          <a:p>
            <a:pPr lvl="0" eaLnBrk="0" hangingPunct="0"/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1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．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8253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的初始化编程</a:t>
            </a:r>
          </a:p>
          <a:p>
            <a:pPr lvl="0" eaLnBrk="0" hangingPunct="0"/>
            <a:r>
              <a:rPr lang="en-US" altLang="zh-CN" sz="2400" b="1" dirty="0">
                <a:latin typeface="Arial" panose="020B0604020202020204" pitchFamily="34" charset="0"/>
              </a:rPr>
              <a:t>8253</a:t>
            </a:r>
            <a:r>
              <a:rPr lang="zh-CN" altLang="en-US" sz="2400" b="1" dirty="0">
                <a:latin typeface="Arial" panose="020B0604020202020204" pitchFamily="34" charset="0"/>
              </a:rPr>
              <a:t>工作之前须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先初始化</a:t>
            </a:r>
            <a:r>
              <a:rPr lang="zh-CN" altLang="en-US" sz="2400" b="1" dirty="0">
                <a:latin typeface="Arial" panose="020B0604020202020204" pitchFamily="34" charset="0"/>
              </a:rPr>
              <a:t>（设定其工作方式和计数初值）。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lvl="0" eaLnBrk="0" hangingPunct="0"/>
            <a:r>
              <a:rPr lang="zh-CN" altLang="en-US" sz="2400" b="1" dirty="0">
                <a:latin typeface="Arial" panose="020B0604020202020204" pitchFamily="34" charset="0"/>
              </a:rPr>
              <a:t>初始化编程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顺序较灵活</a:t>
            </a:r>
            <a:r>
              <a:rPr lang="zh-CN" altLang="en-US" sz="2400" b="1" dirty="0">
                <a:latin typeface="Arial" panose="020B0604020202020204" pitchFamily="34" charset="0"/>
              </a:rPr>
              <a:t>：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342900" lvl="0" indent="-342900" eaLnBrk="0" hangingPunct="0">
              <a:buClr>
                <a:srgbClr val="FF00FF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latin typeface="Arial" panose="020B0604020202020204" pitchFamily="34" charset="0"/>
              </a:rPr>
              <a:t>可以写入一个计数器的控制字和计数初值之后，再写入另一个计数器的控制字和计数初值；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342900" lvl="0" indent="-342900" eaLnBrk="0" hangingPunct="0">
              <a:buClr>
                <a:srgbClr val="FF00FF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latin typeface="Arial" panose="020B0604020202020204" pitchFamily="34" charset="0"/>
              </a:rPr>
              <a:t>可以把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所有计数器</a:t>
            </a:r>
            <a:r>
              <a:rPr lang="zh-CN" altLang="en-US" sz="2400" b="1" dirty="0">
                <a:latin typeface="Arial" panose="020B0604020202020204" pitchFamily="34" charset="0"/>
              </a:rPr>
              <a:t>的控制字都写入之后，再写入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各自的</a:t>
            </a:r>
            <a:r>
              <a:rPr lang="zh-CN" altLang="en-US" sz="2400" b="1" dirty="0">
                <a:latin typeface="Arial" panose="020B0604020202020204" pitchFamily="34" charset="0"/>
              </a:rPr>
              <a:t>计数初值。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lvl="0" eaLnBrk="0" hangingPunct="0"/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注意</a:t>
            </a:r>
            <a:r>
              <a:rPr lang="zh-CN" altLang="en-US" sz="2400" b="1" dirty="0">
                <a:latin typeface="Arial" panose="020B0604020202020204" pitchFamily="34" charset="0"/>
              </a:rPr>
              <a:t>：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342900" lvl="0" indent="-342900" eaLnBrk="0" hangingPunct="0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Arial" panose="020B0604020202020204" pitchFamily="34" charset="0"/>
              </a:rPr>
              <a:t>计数器的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控制字须写在其计数初值之前</a:t>
            </a:r>
            <a:r>
              <a:rPr lang="zh-CN" altLang="en-US" sz="2400" b="1" dirty="0">
                <a:latin typeface="Arial" panose="020B0604020202020204" pitchFamily="34" charset="0"/>
              </a:rPr>
              <a:t>；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342900" lvl="0" indent="-342900" eaLnBrk="0" hangingPunct="0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Arial" panose="020B0604020202020204" pitchFamily="34" charset="0"/>
              </a:rPr>
              <a:t>如果写入的计数初值为</a:t>
            </a:r>
            <a:r>
              <a:rPr lang="en-US" altLang="zh-CN" sz="2400" b="1" dirty="0">
                <a:latin typeface="Arial" panose="020B0604020202020204" pitchFamily="34" charset="0"/>
              </a:rPr>
              <a:t>8</a:t>
            </a:r>
            <a:r>
              <a:rPr lang="zh-CN" altLang="en-US" sz="2400" b="1" dirty="0">
                <a:latin typeface="Arial" panose="020B0604020202020204" pitchFamily="34" charset="0"/>
              </a:rPr>
              <a:t>位，则只需写低</a:t>
            </a:r>
            <a:r>
              <a:rPr lang="en-US" altLang="zh-CN" sz="2400" b="1" dirty="0">
                <a:latin typeface="Arial" panose="020B0604020202020204" pitchFamily="34" charset="0"/>
              </a:rPr>
              <a:t>8</a:t>
            </a:r>
            <a:r>
              <a:rPr lang="zh-CN" altLang="en-US" sz="2400" b="1" dirty="0">
                <a:latin typeface="Arial" panose="020B0604020202020204" pitchFamily="34" charset="0"/>
              </a:rPr>
              <a:t>位；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342900" lvl="0" indent="-342900" eaLnBrk="0" hangingPunct="0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Arial" panose="020B0604020202020204" pitchFamily="34" charset="0"/>
              </a:rPr>
              <a:t>如果计数初值为</a:t>
            </a:r>
            <a:r>
              <a:rPr lang="en-US" altLang="zh-CN" sz="2400" b="1" dirty="0">
                <a:latin typeface="Arial" panose="020B0604020202020204" pitchFamily="34" charset="0"/>
              </a:rPr>
              <a:t>16</a:t>
            </a:r>
            <a:r>
              <a:rPr lang="zh-CN" altLang="en-US" sz="2400" b="1" dirty="0">
                <a:latin typeface="Arial" panose="020B0604020202020204" pitchFamily="34" charset="0"/>
              </a:rPr>
              <a:t>位，且其低</a:t>
            </a:r>
            <a:r>
              <a:rPr lang="en-US" altLang="zh-CN" sz="2400" b="1" dirty="0">
                <a:latin typeface="Arial" panose="020B0604020202020204" pitchFamily="34" charset="0"/>
              </a:rPr>
              <a:t>8</a:t>
            </a:r>
            <a:r>
              <a:rPr lang="zh-CN" altLang="en-US" sz="2400" b="1" dirty="0">
                <a:latin typeface="Arial" panose="020B0604020202020204" pitchFamily="34" charset="0"/>
              </a:rPr>
              <a:t>位为</a:t>
            </a:r>
            <a:r>
              <a:rPr lang="en-US" altLang="zh-CN" sz="2400" b="1" dirty="0">
                <a:latin typeface="Arial" panose="020B0604020202020204" pitchFamily="34" charset="0"/>
              </a:rPr>
              <a:t>0</a:t>
            </a:r>
            <a:r>
              <a:rPr lang="zh-CN" altLang="en-US" sz="2400" b="1" dirty="0">
                <a:latin typeface="Arial" panose="020B0604020202020204" pitchFamily="34" charset="0"/>
              </a:rPr>
              <a:t>，则只写计数值的高</a:t>
            </a:r>
            <a:r>
              <a:rPr lang="en-US" altLang="zh-CN" sz="2400" b="1" dirty="0">
                <a:latin typeface="Arial" panose="020B0604020202020204" pitchFamily="34" charset="0"/>
              </a:rPr>
              <a:t>8</a:t>
            </a:r>
            <a:r>
              <a:rPr lang="zh-CN" altLang="en-US" sz="2400" b="1" dirty="0">
                <a:latin typeface="Arial" panose="020B0604020202020204" pitchFamily="34" charset="0"/>
              </a:rPr>
              <a:t>位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342900" lvl="0" indent="-342900" eaLnBrk="0" hangingPunct="0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Arial" panose="020B0604020202020204" pitchFamily="34" charset="0"/>
              </a:rPr>
              <a:t>如果计数初值为</a:t>
            </a:r>
            <a:r>
              <a:rPr lang="en-US" altLang="zh-CN" sz="2400" b="1" dirty="0">
                <a:latin typeface="Arial" panose="020B0604020202020204" pitchFamily="34" charset="0"/>
              </a:rPr>
              <a:t>16</a:t>
            </a:r>
            <a:r>
              <a:rPr lang="zh-CN" altLang="en-US" sz="2400" b="1" dirty="0">
                <a:latin typeface="Arial" panose="020B0604020202020204" pitchFamily="34" charset="0"/>
              </a:rPr>
              <a:t>位，且高、低</a:t>
            </a:r>
            <a:r>
              <a:rPr lang="en-US" altLang="zh-CN" sz="2400" b="1" dirty="0">
                <a:latin typeface="Arial" panose="020B0604020202020204" pitchFamily="34" charset="0"/>
              </a:rPr>
              <a:t>8</a:t>
            </a:r>
            <a:r>
              <a:rPr lang="zh-CN" altLang="en-US" sz="2400" b="1" dirty="0">
                <a:latin typeface="Arial" panose="020B0604020202020204" pitchFamily="34" charset="0"/>
              </a:rPr>
              <a:t>位都不为</a:t>
            </a:r>
            <a:r>
              <a:rPr lang="en-US" altLang="zh-CN" sz="2400" b="1" dirty="0">
                <a:latin typeface="Arial" panose="020B0604020202020204" pitchFamily="34" charset="0"/>
              </a:rPr>
              <a:t>0</a:t>
            </a:r>
            <a:r>
              <a:rPr lang="zh-CN" altLang="en-US" sz="2400" b="1" dirty="0">
                <a:latin typeface="Arial" panose="020B0604020202020204" pitchFamily="34" charset="0"/>
              </a:rPr>
              <a:t>，则需分两次写入，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先写入低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8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位</a:t>
            </a:r>
            <a:r>
              <a:rPr lang="zh-CN" altLang="en-US" sz="2400" b="1" dirty="0">
                <a:latin typeface="Arial" panose="020B0604020202020204" pitchFamily="34" charset="0"/>
              </a:rPr>
              <a:t>，再写入高</a:t>
            </a:r>
            <a:r>
              <a:rPr lang="en-US" altLang="zh-CN" sz="2400" b="1" dirty="0">
                <a:latin typeface="Arial" panose="020B0604020202020204" pitchFamily="34" charset="0"/>
              </a:rPr>
              <a:t>8</a:t>
            </a:r>
            <a:r>
              <a:rPr lang="zh-CN" altLang="en-US" sz="2400" b="1" dirty="0">
                <a:latin typeface="Arial" panose="020B0604020202020204" pitchFamily="34" charset="0"/>
              </a:rPr>
              <a:t>位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标题 346113"/>
          <p:cNvSpPr>
            <a:spLocks noGrp="1"/>
          </p:cNvSpPr>
          <p:nvPr>
            <p:ph type="title"/>
          </p:nvPr>
        </p:nvSpPr>
        <p:spPr>
          <a:xfrm>
            <a:off x="1044575" y="188913"/>
            <a:ext cx="7704138" cy="431800"/>
          </a:xfrm>
          <a:ln/>
        </p:spPr>
        <p:txBody>
          <a:bodyPr anchor="ctr"/>
          <a:lstStyle/>
          <a:p>
            <a:pPr lvl="0"/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9.2  可编程定时/计数器8253及其应用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46115" name="文本框 346114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6116" name="文本框 346115"/>
          <p:cNvSpPr txBox="1"/>
          <p:nvPr/>
        </p:nvSpPr>
        <p:spPr>
          <a:xfrm>
            <a:off x="250825" y="908050"/>
            <a:ext cx="8713788" cy="120032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9-5】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在某微机系统中，设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8253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的端口地址为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2A0H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～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2A3H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，现要求其计数器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工作于方式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，按二进制计数，计数初值为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5080H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，则初始化程序段为：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6117" name="矩形 346116"/>
          <p:cNvSpPr/>
          <p:nvPr/>
        </p:nvSpPr>
        <p:spPr>
          <a:xfrm>
            <a:off x="323850" y="2332544"/>
            <a:ext cx="8392041" cy="3046988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 indent="800100">
              <a:buClrTx/>
            </a:pP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MOV   DX,2A3H       	; 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控制字端口地址为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2A3H</a:t>
            </a:r>
          </a:p>
          <a:p>
            <a:pPr lvl="0" indent="800100">
              <a:buClrTx/>
            </a:pP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MOV    AL,32H          ; 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控制字为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00110010B</a:t>
            </a:r>
          </a:p>
          <a:p>
            <a:pPr lvl="0" indent="800100">
              <a:buClrTx/>
            </a:pP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OUT    DX,AL            	; 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写入控制字到端口地址</a:t>
            </a:r>
          </a:p>
          <a:p>
            <a:pPr lvl="0" indent="800100">
              <a:buClrTx/>
            </a:pP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MOV   DX,2A0H        ; 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计数器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端口地址为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2A0H</a:t>
            </a:r>
          </a:p>
          <a:p>
            <a:pPr lvl="0" indent="800100">
              <a:buClrTx/>
            </a:pP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MOV   AL,80H</a:t>
            </a:r>
          </a:p>
          <a:p>
            <a:pPr lvl="0" indent="800100">
              <a:buClrTx/>
            </a:pP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OUT    DX,AL            ; 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先写计数初值的低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位到计数器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</a:p>
          <a:p>
            <a:pPr lvl="0" indent="800100">
              <a:buClrTx/>
            </a:pP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MOV   AL,50H</a:t>
            </a:r>
          </a:p>
          <a:p>
            <a:pPr lvl="0" indent="800100">
              <a:buClrTx/>
            </a:pP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OUT   DX,AL            	; 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再写计数初值的高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位到计数器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标题 347137"/>
          <p:cNvSpPr>
            <a:spLocks noGrp="1"/>
          </p:cNvSpPr>
          <p:nvPr>
            <p:ph type="title"/>
          </p:nvPr>
        </p:nvSpPr>
        <p:spPr>
          <a:xfrm>
            <a:off x="1044575" y="188913"/>
            <a:ext cx="7704138" cy="431800"/>
          </a:xfrm>
          <a:ln/>
        </p:spPr>
        <p:txBody>
          <a:bodyPr anchor="ctr"/>
          <a:lstStyle/>
          <a:p>
            <a:pPr lvl="0"/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9.2  可编程定时/计数器8253及其应用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47139" name="文本框 347138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7140" name="文本框 347139"/>
          <p:cNvSpPr txBox="1"/>
          <p:nvPr/>
        </p:nvSpPr>
        <p:spPr>
          <a:xfrm>
            <a:off x="250825" y="908050"/>
            <a:ext cx="8713788" cy="15696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9-6】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在某微机系统中，设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8253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的端口地址为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40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～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43H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，现要求计数器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工作于方式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，计数初值为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1234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，按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BCD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码计数；计数器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工作于方式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，计数初值为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61H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，采用二进制计数，则其初始化程序段为：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7142" name="矩形 347141"/>
          <p:cNvSpPr/>
          <p:nvPr/>
        </p:nvSpPr>
        <p:spPr>
          <a:xfrm>
            <a:off x="755650" y="2636838"/>
            <a:ext cx="8064500" cy="314007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lvl="0" indent="800100">
              <a:buClrTx/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MOV   AL,00110111B	; 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计数器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控制字</a:t>
            </a:r>
          </a:p>
          <a:p>
            <a:pPr lvl="0" indent="800100">
              <a:buClrTx/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OUT   43H,AL		; 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写入控制端口</a:t>
            </a:r>
          </a:p>
          <a:p>
            <a:pPr lvl="0" indent="800100">
              <a:buClrTx/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MOV   AX,1234H   	; 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计数初值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1234H</a:t>
            </a:r>
          </a:p>
          <a:p>
            <a:pPr lvl="0" indent="800100">
              <a:buClrTx/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OUT   40H,AL		; 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写入计数器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的低字节</a:t>
            </a:r>
          </a:p>
          <a:p>
            <a:pPr lvl="0" indent="800100">
              <a:buClrTx/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MOV   AL,AH		</a:t>
            </a:r>
          </a:p>
          <a:p>
            <a:pPr lvl="0" indent="800100">
              <a:buClrTx/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OUT   40H, AL		; 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写入计数器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的高字节</a:t>
            </a:r>
          </a:p>
          <a:p>
            <a:pPr lvl="0" indent="800100">
              <a:buClrTx/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MOV   AL,10010100B	; 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计数器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控制字</a:t>
            </a:r>
          </a:p>
          <a:p>
            <a:pPr lvl="0" indent="800100">
              <a:buClrTx/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OUT   43H,AL                   ; 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写入控制端口</a:t>
            </a:r>
          </a:p>
          <a:p>
            <a:pPr lvl="0" indent="800100">
              <a:buClrTx/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MOV   AL,61H		; 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计数初值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61H</a:t>
            </a:r>
          </a:p>
          <a:p>
            <a:pPr lvl="0" indent="800100">
              <a:buClrTx/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OUT   42H,AL		;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写入计数器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的低字节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标题 348161"/>
          <p:cNvSpPr>
            <a:spLocks noGrp="1"/>
          </p:cNvSpPr>
          <p:nvPr>
            <p:ph type="title"/>
          </p:nvPr>
        </p:nvSpPr>
        <p:spPr>
          <a:xfrm>
            <a:off x="1044575" y="188913"/>
            <a:ext cx="7704138" cy="431800"/>
          </a:xfrm>
          <a:ln/>
        </p:spPr>
        <p:txBody>
          <a:bodyPr anchor="ctr"/>
          <a:lstStyle/>
          <a:p>
            <a:pPr lvl="0"/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9.2  可编程定时/计数器8253及其应用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48163" name="文本框 348162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164" name="文本框 348163"/>
          <p:cNvSpPr txBox="1"/>
          <p:nvPr/>
        </p:nvSpPr>
        <p:spPr>
          <a:xfrm>
            <a:off x="250825" y="908050"/>
            <a:ext cx="8713788" cy="83099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/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9-7】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设某微机系统中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8253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的端口地址为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2A0H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～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2A3H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，要求读取计数器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的计数值，采用锁存器锁存方式。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8166" name="矩形 348165"/>
          <p:cNvSpPr/>
          <p:nvPr/>
        </p:nvSpPr>
        <p:spPr>
          <a:xfrm>
            <a:off x="395288" y="2307644"/>
            <a:ext cx="8137152" cy="3046988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pPr lvl="0" indent="266700">
              <a:buClrTx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	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MOV   DX,2A3H</a:t>
            </a:r>
          </a:p>
          <a:p>
            <a:pPr lvl="0" indent="266700">
              <a:buClrTx/>
            </a:pP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	MOV   AL,40H	; 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计数器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的锁存命令</a:t>
            </a:r>
          </a:p>
          <a:p>
            <a:pPr lvl="0" indent="266700">
              <a:buClrTx/>
            </a:pP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	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OUT   DX,AL</a:t>
            </a:r>
          </a:p>
          <a:p>
            <a:pPr lvl="0" indent="266700">
              <a:buClrTx/>
            </a:pP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	MOV   DX,2A1H	</a:t>
            </a:r>
          </a:p>
          <a:p>
            <a:pPr lvl="0" indent="266700">
              <a:buClrTx/>
            </a:pP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	IN   AL,DX                ; 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读取计数器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的低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位数据</a:t>
            </a:r>
          </a:p>
          <a:p>
            <a:pPr lvl="0" indent="266700">
              <a:buClrTx/>
            </a:pP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	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MOV   AH,AL            ; 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暂存于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AH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中</a:t>
            </a:r>
          </a:p>
          <a:p>
            <a:pPr lvl="0" indent="266700">
              <a:buClrTx/>
            </a:pP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	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IN   AL,DX                ; 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读取计数器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的高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位数据</a:t>
            </a:r>
          </a:p>
          <a:p>
            <a:pPr lvl="0" indent="266700">
              <a:buClrTx/>
            </a:pP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	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XCHG   AL,AH         ; AX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中为计数器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位计数值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标题 349185"/>
          <p:cNvSpPr>
            <a:spLocks noGrp="1"/>
          </p:cNvSpPr>
          <p:nvPr>
            <p:ph type="title"/>
          </p:nvPr>
        </p:nvSpPr>
        <p:spPr>
          <a:xfrm>
            <a:off x="1044575" y="188913"/>
            <a:ext cx="7704138" cy="431800"/>
          </a:xfrm>
          <a:ln/>
        </p:spPr>
        <p:txBody>
          <a:bodyPr anchor="ctr"/>
          <a:lstStyle/>
          <a:p>
            <a:pPr lvl="0"/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9.2  可编程定时/计数器8253及其应用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49187" name="文本框 349186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9188" name="文本框 349187"/>
          <p:cNvSpPr txBox="1"/>
          <p:nvPr/>
        </p:nvSpPr>
        <p:spPr>
          <a:xfrm>
            <a:off x="250825" y="908050"/>
            <a:ext cx="8713788" cy="15696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0" hangingPunct="0"/>
            <a:r>
              <a:rPr lang="en-US" altLang="zh-CN" sz="2400" b="1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．</a:t>
            </a:r>
            <a:r>
              <a:rPr lang="en-US" altLang="zh-CN" sz="2400" b="1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8253</a:t>
            </a:r>
            <a:r>
              <a:rPr lang="zh-CN" altLang="en-US" sz="2400" b="1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在微机中的应用</a:t>
            </a:r>
          </a:p>
          <a:p>
            <a:pPr lvl="0" algn="just" eaLnBrk="0" hangingPunct="0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在微机系统中，经常要采用定时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计数器进行定时或计数控制。如在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PC/XT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系统中，计数器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用于定时时钟，计数器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用于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DRAM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定时刷新，计数器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用于驱动扬声器工作。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477710"/>
            <a:ext cx="6696744" cy="38316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标题 350209"/>
          <p:cNvSpPr>
            <a:spLocks noGrp="1"/>
          </p:cNvSpPr>
          <p:nvPr>
            <p:ph type="title"/>
          </p:nvPr>
        </p:nvSpPr>
        <p:spPr>
          <a:xfrm>
            <a:off x="1044575" y="188913"/>
            <a:ext cx="7704138" cy="431800"/>
          </a:xfrm>
          <a:ln/>
        </p:spPr>
        <p:txBody>
          <a:bodyPr anchor="ctr"/>
          <a:lstStyle/>
          <a:p>
            <a:pPr lvl="0"/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9.2  可编程定时/计数器8253及其应用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50211" name="文本框 350210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0212" name="文本框 350211"/>
          <p:cNvSpPr txBox="1"/>
          <p:nvPr/>
        </p:nvSpPr>
        <p:spPr>
          <a:xfrm>
            <a:off x="250825" y="908050"/>
            <a:ext cx="8569325" cy="415498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0" hangingPunct="0">
              <a:lnSpc>
                <a:spcPct val="110000"/>
              </a:lnSpc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计数器0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方式3，GATE</a:t>
            </a:r>
            <a:r>
              <a:rPr lang="en-US" altLang="zh-CN" sz="24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接高电平，OUT</a:t>
            </a:r>
            <a:r>
              <a:rPr lang="en-US" altLang="zh-CN" sz="24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直接接8259A的IR</a:t>
            </a:r>
            <a:r>
              <a:rPr lang="en-US" altLang="zh-CN" sz="24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（总线的IRQ</a:t>
            </a:r>
            <a:r>
              <a:rPr lang="en-US" altLang="zh-CN" sz="24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）引脚，每隔55ms产生一次定时中断，用于系统实时时钟和磁盘驱动器的电机定时。</a:t>
            </a:r>
          </a:p>
          <a:p>
            <a:pPr lvl="0" algn="just" eaLnBrk="0" hangingPunct="0">
              <a:lnSpc>
                <a:spcPct val="110000"/>
              </a:lnSpc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计数器1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方式2，GATE</a:t>
            </a:r>
            <a:r>
              <a:rPr lang="en-US" altLang="zh-CN" sz="24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接高电平，OUT</a:t>
            </a:r>
            <a:r>
              <a:rPr lang="en-US" altLang="zh-CN" sz="24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输出经D触发器后作为对DMA控制器8237A通道0的DREQ</a:t>
            </a:r>
            <a:r>
              <a:rPr lang="en-US" altLang="zh-CN" sz="24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信号，每隔15.1μs定时启动刷新DRAM。</a:t>
            </a:r>
          </a:p>
          <a:p>
            <a:pPr lvl="0" algn="just" eaLnBrk="0" hangingPunct="0">
              <a:lnSpc>
                <a:spcPct val="110000"/>
              </a:lnSpc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计数器2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方式3，GATE</a:t>
            </a:r>
            <a:r>
              <a:rPr lang="en-US" altLang="zh-CN" sz="24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由8255A芯片的PB</a:t>
            </a:r>
            <a:r>
              <a:rPr lang="en-US" altLang="zh-CN" sz="24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控制，当PB</a:t>
            </a:r>
            <a:r>
              <a:rPr lang="en-US" altLang="zh-CN" sz="24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的输出使GATE</a:t>
            </a:r>
            <a:r>
              <a:rPr lang="en-US" altLang="zh-CN" sz="24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为高电平时，计数器2方能工作，OUT</a:t>
            </a:r>
            <a:r>
              <a:rPr lang="en-US" altLang="zh-CN" sz="24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输出的方波与8255A芯片的PB</a:t>
            </a:r>
            <a:r>
              <a:rPr lang="en-US" altLang="zh-CN" sz="24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信号共同接入一个“与”门来控制扬声器的音调，扬声器发声的长短取决于OUT</a:t>
            </a:r>
            <a:r>
              <a:rPr lang="en-US" altLang="zh-CN" sz="24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信号延续时间的多少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标题 351233"/>
          <p:cNvSpPr>
            <a:spLocks noGrp="1"/>
          </p:cNvSpPr>
          <p:nvPr>
            <p:ph type="title"/>
          </p:nvPr>
        </p:nvSpPr>
        <p:spPr>
          <a:xfrm>
            <a:off x="1044575" y="188913"/>
            <a:ext cx="7704138" cy="431800"/>
          </a:xfrm>
          <a:ln/>
        </p:spPr>
        <p:txBody>
          <a:bodyPr anchor="ctr"/>
          <a:lstStyle/>
          <a:p>
            <a:pPr lvl="0"/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9.2  </a:t>
            </a:r>
            <a:r>
              <a:rPr lang="en-US" altLang="zh-CN" sz="3200" b="1" dirty="0" err="1">
                <a:solidFill>
                  <a:srgbClr val="FF0000"/>
                </a:solidFill>
                <a:ea typeface="隶书" panose="02010509060101010101" pitchFamily="49" charset="-122"/>
              </a:rPr>
              <a:t>可编程定时</a:t>
            </a:r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/计数器8253及其应用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51235" name="文本框 351234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1236" name="文本框 351235"/>
          <p:cNvSpPr txBox="1"/>
          <p:nvPr/>
        </p:nvSpPr>
        <p:spPr>
          <a:xfrm>
            <a:off x="250825" y="908050"/>
            <a:ext cx="8569325" cy="46397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0" hangingPunct="0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各个计数器的计数初值计算：</a:t>
            </a:r>
          </a:p>
          <a:p>
            <a:pPr lvl="0" algn="just" eaLnBrk="0" hangingPunct="0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	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algn="just" eaLnBrk="0" hangingPunct="0">
              <a:lnSpc>
                <a:spcPts val="3300"/>
              </a:lnSpc>
            </a:pP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计数器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55ms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54.925493ms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）产生一次中断，即每秒产生  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algn="just" eaLnBrk="0" hangingPunct="0">
              <a:lnSpc>
                <a:spcPts val="3300"/>
              </a:lnSpc>
            </a:pPr>
            <a:r>
              <a:rPr lang="en-US" altLang="zh-CN" sz="2400" dirty="0">
                <a:latin typeface="Arial" panose="020B0604020202020204" pitchFamily="34" charset="0"/>
              </a:rPr>
              <a:t>  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18.206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次中断请求，所以，计数初值＝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1.19318MHz÷18.206</a:t>
            </a:r>
          </a:p>
          <a:p>
            <a:pPr lvl="0" algn="just" eaLnBrk="0" hangingPunct="0">
              <a:lnSpc>
                <a:spcPts val="3300"/>
              </a:lnSpc>
            </a:pPr>
            <a:r>
              <a:rPr lang="en-US" altLang="zh-CN" sz="2400" dirty="0">
                <a:latin typeface="Arial" panose="020B0604020202020204" pitchFamily="34" charset="0"/>
              </a:rPr>
              <a:t>   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＝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65536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（即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0000H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）；</a:t>
            </a:r>
          </a:p>
          <a:p>
            <a:pPr lvl="0" algn="just" eaLnBrk="0" hangingPunct="0">
              <a:lnSpc>
                <a:spcPts val="3300"/>
              </a:lnSpc>
            </a:pP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</a:rPr>
              <a:t>计数器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</a:rPr>
              <a:t>1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：在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PC/XT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计算机中，要求在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2ms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内进行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128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次刷新操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algn="just" eaLnBrk="0" hangingPunct="0">
              <a:lnSpc>
                <a:spcPts val="3300"/>
              </a:lnSpc>
            </a:pPr>
            <a:r>
              <a:rPr lang="en-US" altLang="zh-CN" sz="2400" dirty="0">
                <a:latin typeface="Arial" panose="020B0604020202020204" pitchFamily="34" charset="0"/>
              </a:rPr>
              <a:t>     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作，由此可计算出每隔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2ms÷128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＝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15.084ms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必须进行一次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algn="just" eaLnBrk="0" hangingPunct="0">
              <a:lnSpc>
                <a:spcPts val="3300"/>
              </a:lnSpc>
            </a:pPr>
            <a:r>
              <a:rPr lang="en-US" altLang="zh-CN" sz="2400" dirty="0">
                <a:latin typeface="Arial" panose="020B0604020202020204" pitchFamily="34" charset="0"/>
              </a:rPr>
              <a:t>     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刷新操作。所以 ，计数初始值＝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15.084ms×1.19318 MHz</a:t>
            </a:r>
          </a:p>
          <a:p>
            <a:pPr lvl="0" algn="just" eaLnBrk="0" hangingPunct="0">
              <a:lnSpc>
                <a:spcPts val="3300"/>
              </a:lnSpc>
            </a:pPr>
            <a:r>
              <a:rPr lang="en-US" altLang="zh-CN" sz="2400" dirty="0">
                <a:latin typeface="Arial" panose="020B0604020202020204" pitchFamily="34" charset="0"/>
              </a:rPr>
              <a:t>      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＝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17.997 9≈18</a:t>
            </a:r>
          </a:p>
          <a:p>
            <a:pPr lvl="0" algn="just" eaLnBrk="0" hangingPunct="0">
              <a:lnSpc>
                <a:spcPts val="3300"/>
              </a:lnSpc>
            </a:pP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</a:rPr>
              <a:t>计数器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</a:rPr>
              <a:t>2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：假设扬声器的发声频率为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1kHz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，则计数初值＝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algn="just" eaLnBrk="0" hangingPunct="0">
              <a:lnSpc>
                <a:spcPts val="3300"/>
              </a:lnSpc>
            </a:pPr>
            <a:r>
              <a:rPr lang="en-US" altLang="zh-CN" sz="2400" dirty="0">
                <a:latin typeface="Arial" panose="020B0604020202020204" pitchFamily="34" charset="0"/>
              </a:rPr>
              <a:t>       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1.19318 MHz÷1kHz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＝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1193.18≈1190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51233">
            <a:extLst>
              <a:ext uri="{FF2B5EF4-FFF2-40B4-BE49-F238E27FC236}">
                <a16:creationId xmlns:a16="http://schemas.microsoft.com/office/drawing/2014/main" id="{DD875DD7-34E4-4155-87FF-85DD70477A74}"/>
              </a:ext>
            </a:extLst>
          </p:cNvPr>
          <p:cNvSpPr txBox="1">
            <a:spLocks/>
          </p:cNvSpPr>
          <p:nvPr/>
        </p:nvSpPr>
        <p:spPr>
          <a:xfrm>
            <a:off x="1044575" y="188913"/>
            <a:ext cx="7704138" cy="431800"/>
          </a:xfrm>
          <a:ln/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9.2  </a:t>
            </a:r>
            <a:r>
              <a:rPr lang="en-US" altLang="zh-CN" sz="3200" b="1" dirty="0" err="1">
                <a:solidFill>
                  <a:srgbClr val="FF0000"/>
                </a:solidFill>
                <a:ea typeface="隶书" panose="02010509060101010101" pitchFamily="49" charset="-122"/>
              </a:rPr>
              <a:t>可编程定时</a:t>
            </a:r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/计数器8253及其应用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B80A2CB-5356-44A1-A14A-4AD1D8EA8BF9}"/>
              </a:ext>
            </a:extLst>
          </p:cNvPr>
          <p:cNvSpPr txBox="1"/>
          <p:nvPr/>
        </p:nvSpPr>
        <p:spPr>
          <a:xfrm>
            <a:off x="107503" y="836712"/>
            <a:ext cx="8784977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1325" indent="-441325">
              <a:spcBef>
                <a:spcPts val="600"/>
              </a:spcBef>
            </a:pPr>
            <a:r>
              <a:rPr lang="zh-CN" altLang="en-US" sz="2400" dirty="0"/>
              <a:t>对计数器</a:t>
            </a:r>
            <a:r>
              <a:rPr lang="en-US" altLang="zh-CN" sz="2400" dirty="0"/>
              <a:t>0</a:t>
            </a:r>
            <a:r>
              <a:rPr lang="zh-CN" altLang="en-US" sz="2400" dirty="0"/>
              <a:t>进行初始化的程序</a:t>
            </a:r>
            <a:r>
              <a:rPr lang="en-US" altLang="zh-CN" sz="2400" dirty="0"/>
              <a:t>:</a:t>
            </a:r>
            <a:endParaRPr lang="zh-CN" altLang="en-US" sz="2400" dirty="0"/>
          </a:p>
          <a:p>
            <a:pPr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       </a:t>
            </a:r>
            <a:r>
              <a:rPr lang="en-US" altLang="zh-CN" sz="2400" dirty="0">
                <a:solidFill>
                  <a:srgbClr val="0000FF"/>
                </a:solidFill>
              </a:rPr>
              <a:t>MOV	AL</a:t>
            </a:r>
            <a:r>
              <a:rPr lang="zh-CN" altLang="en-US" sz="2400" dirty="0">
                <a:solidFill>
                  <a:srgbClr val="0000FF"/>
                </a:solidFill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</a:rPr>
              <a:t>00110110B</a:t>
            </a:r>
            <a:r>
              <a:rPr lang="zh-CN" altLang="en-US" sz="2400" dirty="0">
                <a:solidFill>
                  <a:srgbClr val="0000FF"/>
                </a:solidFill>
              </a:rPr>
              <a:t> </a:t>
            </a:r>
            <a:r>
              <a:rPr lang="en-US" altLang="zh-CN" sz="2400" dirty="0">
                <a:solidFill>
                  <a:srgbClr val="0000FF"/>
                </a:solidFill>
              </a:rPr>
              <a:t>	</a:t>
            </a:r>
          </a:p>
          <a:p>
            <a:pPr>
              <a:spcBef>
                <a:spcPts val="600"/>
              </a:spcBef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   ；控制字</a:t>
            </a:r>
            <a:r>
              <a:rPr lang="en-US" altLang="zh-CN" sz="2400" dirty="0">
                <a:solidFill>
                  <a:srgbClr val="0000FF"/>
                </a:solidFill>
              </a:rPr>
              <a:t>: </a:t>
            </a:r>
            <a:r>
              <a:rPr lang="zh-CN" altLang="en-US" sz="2400" dirty="0">
                <a:solidFill>
                  <a:srgbClr val="0000FF"/>
                </a:solidFill>
              </a:rPr>
              <a:t>计算器</a:t>
            </a:r>
            <a:r>
              <a:rPr lang="en-US" altLang="zh-CN" sz="2400" dirty="0">
                <a:solidFill>
                  <a:srgbClr val="0000FF"/>
                </a:solidFill>
              </a:rPr>
              <a:t>0, </a:t>
            </a:r>
            <a:r>
              <a:rPr lang="zh-CN" altLang="en-US" sz="2400" dirty="0">
                <a:solidFill>
                  <a:srgbClr val="0000FF"/>
                </a:solidFill>
              </a:rPr>
              <a:t>先读写低字节后高字节</a:t>
            </a:r>
            <a:r>
              <a:rPr lang="en-US" altLang="zh-CN" sz="2400" dirty="0">
                <a:solidFill>
                  <a:srgbClr val="0000FF"/>
                </a:solidFill>
              </a:rPr>
              <a:t>, </a:t>
            </a:r>
            <a:r>
              <a:rPr lang="zh-CN" altLang="en-US" sz="2400" dirty="0">
                <a:solidFill>
                  <a:srgbClr val="0000FF"/>
                </a:solidFill>
              </a:rPr>
              <a:t>方式</a:t>
            </a:r>
            <a:r>
              <a:rPr lang="en-US" altLang="zh-CN" sz="2400" dirty="0">
                <a:solidFill>
                  <a:srgbClr val="0000FF"/>
                </a:solidFill>
              </a:rPr>
              <a:t>3, </a:t>
            </a:r>
            <a:r>
              <a:rPr lang="zh-CN" altLang="en-US" sz="2400" dirty="0">
                <a:solidFill>
                  <a:srgbClr val="0000FF"/>
                </a:solidFill>
              </a:rPr>
              <a:t>二进制计数</a:t>
            </a:r>
          </a:p>
          <a:p>
            <a:pPr>
              <a:spcBef>
                <a:spcPts val="600"/>
              </a:spcBef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       </a:t>
            </a:r>
            <a:r>
              <a:rPr lang="en-US" altLang="zh-CN" sz="2400" dirty="0">
                <a:solidFill>
                  <a:srgbClr val="0000FF"/>
                </a:solidFill>
              </a:rPr>
              <a:t>OUT	43H</a:t>
            </a:r>
            <a:r>
              <a:rPr lang="zh-CN" altLang="en-US" sz="2400" dirty="0">
                <a:solidFill>
                  <a:srgbClr val="0000FF"/>
                </a:solidFill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</a:rPr>
              <a:t>AL		</a:t>
            </a:r>
            <a:r>
              <a:rPr lang="zh-CN" altLang="en-US" sz="2400" dirty="0">
                <a:solidFill>
                  <a:srgbClr val="0000FF"/>
                </a:solidFill>
              </a:rPr>
              <a:t>；写入控制字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       </a:t>
            </a:r>
            <a:r>
              <a:rPr lang="en-US" altLang="zh-CN" sz="2400" dirty="0">
                <a:solidFill>
                  <a:srgbClr val="0000FF"/>
                </a:solidFill>
              </a:rPr>
              <a:t>MOV	AL</a:t>
            </a:r>
            <a:r>
              <a:rPr lang="zh-CN" altLang="en-US" sz="2400" dirty="0">
                <a:solidFill>
                  <a:srgbClr val="0000FF"/>
                </a:solidFill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</a:rPr>
              <a:t>0			</a:t>
            </a:r>
            <a:r>
              <a:rPr lang="zh-CN" altLang="en-US" sz="2400" dirty="0">
                <a:solidFill>
                  <a:srgbClr val="0000FF"/>
                </a:solidFill>
              </a:rPr>
              <a:t>；预置计数值</a:t>
            </a:r>
            <a:r>
              <a:rPr lang="en-US" altLang="zh-CN" sz="2400" dirty="0">
                <a:solidFill>
                  <a:srgbClr val="0000FF"/>
                </a:solidFill>
              </a:rPr>
              <a:t>n=65536</a:t>
            </a:r>
            <a:endParaRPr lang="zh-CN" altLang="en-US" sz="2400" dirty="0">
              <a:solidFill>
                <a:srgbClr val="0000FF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       </a:t>
            </a:r>
            <a:r>
              <a:rPr lang="en-US" altLang="zh-CN" sz="2400" dirty="0">
                <a:solidFill>
                  <a:srgbClr val="0000FF"/>
                </a:solidFill>
              </a:rPr>
              <a:t>OUT	40H</a:t>
            </a:r>
            <a:r>
              <a:rPr lang="zh-CN" altLang="en-US" sz="2400" dirty="0">
                <a:solidFill>
                  <a:srgbClr val="0000FF"/>
                </a:solidFill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</a:rPr>
              <a:t>AL		</a:t>
            </a:r>
            <a:r>
              <a:rPr lang="zh-CN" altLang="en-US" sz="2400" dirty="0">
                <a:solidFill>
                  <a:srgbClr val="0000FF"/>
                </a:solidFill>
              </a:rPr>
              <a:t>；先写低字节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       </a:t>
            </a:r>
            <a:r>
              <a:rPr lang="en-US" altLang="zh-CN" sz="2400" dirty="0">
                <a:solidFill>
                  <a:srgbClr val="0000FF"/>
                </a:solidFill>
              </a:rPr>
              <a:t>OUT	40H</a:t>
            </a:r>
            <a:r>
              <a:rPr lang="zh-CN" altLang="en-US" sz="2400" dirty="0">
                <a:solidFill>
                  <a:srgbClr val="0000FF"/>
                </a:solidFill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</a:rPr>
              <a:t>AL		</a:t>
            </a:r>
            <a:r>
              <a:rPr lang="zh-CN" altLang="en-US" sz="2400" dirty="0">
                <a:solidFill>
                  <a:srgbClr val="0000FF"/>
                </a:solidFill>
              </a:rPr>
              <a:t>；后写高字节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C00F4BF-4AB9-46E5-B631-3B788EDD8949}"/>
              </a:ext>
            </a:extLst>
          </p:cNvPr>
          <p:cNvSpPr txBox="1"/>
          <p:nvPr/>
        </p:nvSpPr>
        <p:spPr>
          <a:xfrm>
            <a:off x="251519" y="3928988"/>
            <a:ext cx="849719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初始化计数器</a:t>
            </a:r>
            <a:r>
              <a:rPr lang="en-US" altLang="zh-CN" sz="2400" dirty="0"/>
              <a:t>1</a:t>
            </a:r>
            <a:r>
              <a:rPr lang="zh-CN" altLang="en-US" sz="2400" dirty="0"/>
              <a:t>的程序为</a:t>
            </a:r>
            <a:r>
              <a:rPr lang="en-US" altLang="zh-CN" sz="2400" dirty="0"/>
              <a:t>:</a:t>
            </a:r>
            <a:endParaRPr lang="zh-CN" altLang="en-US" sz="2400" dirty="0"/>
          </a:p>
          <a:p>
            <a:pPr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       </a:t>
            </a:r>
            <a:r>
              <a:rPr lang="en-US" altLang="zh-CN" sz="2400" dirty="0">
                <a:solidFill>
                  <a:srgbClr val="0000FF"/>
                </a:solidFill>
              </a:rPr>
              <a:t>MOV	  AL</a:t>
            </a:r>
            <a:r>
              <a:rPr lang="zh-CN" altLang="en-US" sz="2400" dirty="0">
                <a:solidFill>
                  <a:srgbClr val="0000FF"/>
                </a:solidFill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</a:rPr>
              <a:t>01010101B	</a:t>
            </a:r>
          </a:p>
          <a:p>
            <a:pPr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；控制字</a:t>
            </a:r>
            <a:r>
              <a:rPr lang="en-US" altLang="zh-CN" sz="2400" dirty="0">
                <a:solidFill>
                  <a:srgbClr val="0000FF"/>
                </a:solidFill>
              </a:rPr>
              <a:t>:</a:t>
            </a:r>
            <a:r>
              <a:rPr lang="zh-CN" altLang="en-US" sz="2400" dirty="0">
                <a:solidFill>
                  <a:srgbClr val="0000FF"/>
                </a:solidFill>
              </a:rPr>
              <a:t>计数器</a:t>
            </a:r>
            <a:r>
              <a:rPr lang="en-US" altLang="zh-CN" sz="2400" dirty="0">
                <a:solidFill>
                  <a:srgbClr val="0000FF"/>
                </a:solidFill>
              </a:rPr>
              <a:t>1</a:t>
            </a:r>
            <a:r>
              <a:rPr lang="zh-CN" altLang="en-US" sz="2400" dirty="0">
                <a:solidFill>
                  <a:srgbClr val="0000FF"/>
                </a:solidFill>
              </a:rPr>
              <a:t>，只写低字节，方式</a:t>
            </a:r>
            <a:r>
              <a:rPr lang="en-US" altLang="zh-CN" sz="2400" dirty="0">
                <a:solidFill>
                  <a:srgbClr val="0000FF"/>
                </a:solidFill>
              </a:rPr>
              <a:t>2</a:t>
            </a:r>
            <a:r>
              <a:rPr lang="zh-CN" altLang="en-US" sz="2400" dirty="0">
                <a:solidFill>
                  <a:srgbClr val="0000FF"/>
                </a:solidFill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</a:rPr>
              <a:t>BCD</a:t>
            </a:r>
            <a:r>
              <a:rPr lang="zh-CN" altLang="en-US" sz="2400" dirty="0">
                <a:solidFill>
                  <a:srgbClr val="0000FF"/>
                </a:solidFill>
              </a:rPr>
              <a:t>计数</a:t>
            </a:r>
          </a:p>
          <a:p>
            <a:pPr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       </a:t>
            </a:r>
            <a:r>
              <a:rPr lang="en-US" altLang="zh-CN" sz="2400" dirty="0">
                <a:solidFill>
                  <a:srgbClr val="0000FF"/>
                </a:solidFill>
              </a:rPr>
              <a:t>OUT	  43H</a:t>
            </a:r>
            <a:r>
              <a:rPr lang="zh-CN" altLang="en-US" sz="2400" dirty="0">
                <a:solidFill>
                  <a:srgbClr val="0000FF"/>
                </a:solidFill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</a:rPr>
              <a:t>AL		</a:t>
            </a:r>
            <a:r>
              <a:rPr lang="zh-CN" altLang="en-US" sz="2400" dirty="0">
                <a:solidFill>
                  <a:srgbClr val="0000FF"/>
                </a:solidFill>
              </a:rPr>
              <a:t>；写入控制字</a:t>
            </a:r>
          </a:p>
          <a:p>
            <a:pPr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       </a:t>
            </a:r>
            <a:r>
              <a:rPr lang="en-US" altLang="zh-CN" sz="2400" dirty="0">
                <a:solidFill>
                  <a:srgbClr val="0000FF"/>
                </a:solidFill>
              </a:rPr>
              <a:t>MOV	  AL</a:t>
            </a:r>
            <a:r>
              <a:rPr lang="zh-CN" altLang="en-US" sz="2400" dirty="0">
                <a:solidFill>
                  <a:srgbClr val="0000FF"/>
                </a:solidFill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</a:rPr>
              <a:t>18H		</a:t>
            </a:r>
            <a:r>
              <a:rPr lang="zh-CN" altLang="en-US" sz="2400" dirty="0">
                <a:solidFill>
                  <a:srgbClr val="0000FF"/>
                </a:solidFill>
              </a:rPr>
              <a:t>；预置初值</a:t>
            </a:r>
            <a:r>
              <a:rPr lang="en-US" altLang="zh-CN" sz="2400" dirty="0">
                <a:solidFill>
                  <a:srgbClr val="0000FF"/>
                </a:solidFill>
              </a:rPr>
              <a:t>BCD</a:t>
            </a:r>
            <a:r>
              <a:rPr lang="zh-CN" altLang="en-US" sz="2400" dirty="0">
                <a:solidFill>
                  <a:srgbClr val="0000FF"/>
                </a:solidFill>
              </a:rPr>
              <a:t>数</a:t>
            </a:r>
            <a:r>
              <a:rPr lang="en-US" altLang="zh-CN" sz="2400" dirty="0">
                <a:solidFill>
                  <a:srgbClr val="0000FF"/>
                </a:solidFill>
              </a:rPr>
              <a:t>18</a:t>
            </a:r>
            <a:endParaRPr lang="zh-CN" altLang="en-US" sz="2400" dirty="0">
              <a:solidFill>
                <a:srgbClr val="0000FF"/>
              </a:solidFill>
            </a:endParaRPr>
          </a:p>
          <a:p>
            <a:pPr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       </a:t>
            </a:r>
            <a:r>
              <a:rPr lang="en-US" altLang="zh-CN" sz="2400" dirty="0">
                <a:solidFill>
                  <a:srgbClr val="0000FF"/>
                </a:solidFill>
              </a:rPr>
              <a:t>OUT	  41H</a:t>
            </a:r>
            <a:r>
              <a:rPr lang="zh-CN" altLang="en-US" sz="2400" dirty="0">
                <a:solidFill>
                  <a:srgbClr val="0000FF"/>
                </a:solidFill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</a:rPr>
              <a:t>AL		</a:t>
            </a:r>
            <a:r>
              <a:rPr lang="zh-CN" altLang="en-US" sz="2400" dirty="0">
                <a:solidFill>
                  <a:srgbClr val="0000FF"/>
                </a:solidFill>
              </a:rPr>
              <a:t>；送入低字节</a:t>
            </a:r>
          </a:p>
        </p:txBody>
      </p:sp>
    </p:spTree>
    <p:extLst>
      <p:ext uri="{BB962C8B-B14F-4D97-AF65-F5344CB8AC3E}">
        <p14:creationId xmlns:p14="http://schemas.microsoft.com/office/powerpoint/2010/main" val="193772095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51233">
            <a:extLst>
              <a:ext uri="{FF2B5EF4-FFF2-40B4-BE49-F238E27FC236}">
                <a16:creationId xmlns:a16="http://schemas.microsoft.com/office/drawing/2014/main" id="{DD875DD7-34E4-4155-87FF-85DD70477A74}"/>
              </a:ext>
            </a:extLst>
          </p:cNvPr>
          <p:cNvSpPr txBox="1">
            <a:spLocks/>
          </p:cNvSpPr>
          <p:nvPr/>
        </p:nvSpPr>
        <p:spPr>
          <a:xfrm>
            <a:off x="1044575" y="188913"/>
            <a:ext cx="7704138" cy="431800"/>
          </a:xfrm>
          <a:ln/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9.2  </a:t>
            </a:r>
            <a:r>
              <a:rPr lang="en-US" altLang="zh-CN" sz="3200" b="1" dirty="0" err="1">
                <a:solidFill>
                  <a:srgbClr val="FF0000"/>
                </a:solidFill>
                <a:ea typeface="隶书" panose="02010509060101010101" pitchFamily="49" charset="-122"/>
              </a:rPr>
              <a:t>可编程定时</a:t>
            </a:r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/计数器8253及其应用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B80A2CB-5356-44A1-A14A-4AD1D8EA8BF9}"/>
              </a:ext>
            </a:extLst>
          </p:cNvPr>
          <p:cNvSpPr txBox="1"/>
          <p:nvPr/>
        </p:nvSpPr>
        <p:spPr>
          <a:xfrm>
            <a:off x="107504" y="836712"/>
            <a:ext cx="9036496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1325" indent="-441325">
              <a:spcBef>
                <a:spcPts val="600"/>
              </a:spcBef>
            </a:pPr>
            <a:r>
              <a:rPr lang="zh-CN" altLang="en-US" sz="2000" dirty="0"/>
              <a:t>对计数器</a:t>
            </a:r>
            <a:r>
              <a:rPr lang="en-US" altLang="zh-CN" sz="2000" dirty="0"/>
              <a:t>2</a:t>
            </a:r>
            <a:r>
              <a:rPr lang="zh-CN" altLang="en-US" sz="2000" dirty="0"/>
              <a:t>的发声驱动程序</a:t>
            </a:r>
            <a:r>
              <a:rPr lang="en-US" altLang="zh-CN" sz="2000" dirty="0"/>
              <a:t>:</a:t>
            </a:r>
            <a:endParaRPr lang="zh-CN" altLang="en-US" sz="2000" dirty="0"/>
          </a:p>
          <a:p>
            <a:pPr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00FF"/>
                </a:solidFill>
              </a:rPr>
              <a:t>BEEP   PROC    FAR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00FF"/>
                </a:solidFill>
              </a:rPr>
              <a:t>       MOV	AL</a:t>
            </a:r>
            <a:r>
              <a:rPr lang="zh-CN" altLang="en-US" sz="2000" dirty="0">
                <a:solidFill>
                  <a:srgbClr val="0000FF"/>
                </a:solidFill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</a:rPr>
              <a:t>10110110B</a:t>
            </a:r>
            <a:r>
              <a:rPr lang="zh-CN" altLang="en-US" sz="2000" dirty="0">
                <a:solidFill>
                  <a:srgbClr val="0000FF"/>
                </a:solidFill>
              </a:rPr>
              <a:t> </a:t>
            </a:r>
            <a:r>
              <a:rPr lang="en-US" altLang="zh-CN" sz="2000" dirty="0">
                <a:solidFill>
                  <a:srgbClr val="0000FF"/>
                </a:solidFill>
              </a:rPr>
              <a:t>	</a:t>
            </a:r>
          </a:p>
          <a:p>
            <a:pPr>
              <a:spcBef>
                <a:spcPts val="600"/>
              </a:spcBef>
              <a:buNone/>
            </a:pPr>
            <a:r>
              <a:rPr lang="zh-CN" altLang="en-US" sz="2000" dirty="0">
                <a:solidFill>
                  <a:srgbClr val="0000FF"/>
                </a:solidFill>
              </a:rPr>
              <a:t>   ；控制字</a:t>
            </a:r>
            <a:r>
              <a:rPr lang="en-US" altLang="zh-CN" sz="2000" dirty="0">
                <a:solidFill>
                  <a:srgbClr val="0000FF"/>
                </a:solidFill>
              </a:rPr>
              <a:t>:</a:t>
            </a:r>
            <a:r>
              <a:rPr lang="zh-CN" altLang="en-US" sz="2000" dirty="0">
                <a:solidFill>
                  <a:srgbClr val="0000FF"/>
                </a:solidFill>
              </a:rPr>
              <a:t>计数器</a:t>
            </a:r>
            <a:r>
              <a:rPr lang="en-US" altLang="zh-CN" sz="2000" dirty="0">
                <a:solidFill>
                  <a:srgbClr val="0000FF"/>
                </a:solidFill>
              </a:rPr>
              <a:t>2, </a:t>
            </a:r>
            <a:r>
              <a:rPr lang="zh-CN" altLang="en-US" sz="2000" dirty="0">
                <a:solidFill>
                  <a:srgbClr val="0000FF"/>
                </a:solidFill>
              </a:rPr>
              <a:t>先读写低字节后高字节</a:t>
            </a:r>
            <a:r>
              <a:rPr lang="en-US" altLang="zh-CN" sz="2000" dirty="0">
                <a:solidFill>
                  <a:srgbClr val="0000FF"/>
                </a:solidFill>
              </a:rPr>
              <a:t>, </a:t>
            </a:r>
            <a:r>
              <a:rPr lang="zh-CN" altLang="en-US" sz="2000" dirty="0">
                <a:solidFill>
                  <a:srgbClr val="0000FF"/>
                </a:solidFill>
              </a:rPr>
              <a:t>方式</a:t>
            </a:r>
            <a:r>
              <a:rPr lang="en-US" altLang="zh-CN" sz="2000" dirty="0">
                <a:solidFill>
                  <a:srgbClr val="0000FF"/>
                </a:solidFill>
              </a:rPr>
              <a:t>3, </a:t>
            </a:r>
            <a:r>
              <a:rPr lang="zh-CN" altLang="en-US" sz="2000" dirty="0">
                <a:solidFill>
                  <a:srgbClr val="0000FF"/>
                </a:solidFill>
              </a:rPr>
              <a:t>二进制计数</a:t>
            </a:r>
          </a:p>
          <a:p>
            <a:pPr>
              <a:spcBef>
                <a:spcPts val="600"/>
              </a:spcBef>
              <a:buNone/>
            </a:pPr>
            <a:r>
              <a:rPr lang="zh-CN" altLang="en-US" sz="2000" dirty="0">
                <a:solidFill>
                  <a:srgbClr val="0000FF"/>
                </a:solidFill>
              </a:rPr>
              <a:t>       </a:t>
            </a:r>
            <a:r>
              <a:rPr lang="en-US" altLang="zh-CN" sz="2000" dirty="0">
                <a:solidFill>
                  <a:srgbClr val="0000FF"/>
                </a:solidFill>
              </a:rPr>
              <a:t>OUT	43H</a:t>
            </a:r>
            <a:r>
              <a:rPr lang="zh-CN" altLang="en-US" sz="2000" dirty="0">
                <a:solidFill>
                  <a:srgbClr val="0000FF"/>
                </a:solidFill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</a:rPr>
              <a:t>AL	</a:t>
            </a:r>
            <a:r>
              <a:rPr lang="zh-CN" altLang="en-US" sz="2000" dirty="0">
                <a:solidFill>
                  <a:srgbClr val="0000FF"/>
                </a:solidFill>
              </a:rPr>
              <a:t>；写入控制字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000" dirty="0">
                <a:solidFill>
                  <a:srgbClr val="0000FF"/>
                </a:solidFill>
              </a:rPr>
              <a:t>       </a:t>
            </a:r>
            <a:r>
              <a:rPr lang="en-US" altLang="zh-CN" sz="2000" dirty="0">
                <a:solidFill>
                  <a:srgbClr val="0000FF"/>
                </a:solidFill>
              </a:rPr>
              <a:t>MOV	AX</a:t>
            </a:r>
            <a:r>
              <a:rPr lang="zh-CN" altLang="en-US" sz="2000" dirty="0">
                <a:solidFill>
                  <a:srgbClr val="0000FF"/>
                </a:solidFill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</a:rPr>
              <a:t>1193	</a:t>
            </a:r>
            <a:r>
              <a:rPr lang="zh-CN" altLang="en-US" sz="2000" dirty="0">
                <a:solidFill>
                  <a:srgbClr val="0000FF"/>
                </a:solidFill>
              </a:rPr>
              <a:t>；预置计数值</a:t>
            </a:r>
            <a:r>
              <a:rPr lang="en-US" altLang="zh-CN" sz="2000" dirty="0">
                <a:solidFill>
                  <a:srgbClr val="0000FF"/>
                </a:solidFill>
              </a:rPr>
              <a:t>n=1193</a:t>
            </a:r>
            <a:endParaRPr lang="zh-CN" altLang="en-US" sz="2000" dirty="0">
              <a:solidFill>
                <a:srgbClr val="0000FF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000" dirty="0">
                <a:solidFill>
                  <a:srgbClr val="0000FF"/>
                </a:solidFill>
              </a:rPr>
              <a:t>       </a:t>
            </a:r>
            <a:r>
              <a:rPr lang="en-US" altLang="zh-CN" sz="2000" dirty="0">
                <a:solidFill>
                  <a:srgbClr val="0000FF"/>
                </a:solidFill>
              </a:rPr>
              <a:t>OUT	42H</a:t>
            </a:r>
            <a:r>
              <a:rPr lang="zh-CN" altLang="en-US" sz="2000" dirty="0">
                <a:solidFill>
                  <a:srgbClr val="0000FF"/>
                </a:solidFill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</a:rPr>
              <a:t>AL	</a:t>
            </a:r>
            <a:r>
              <a:rPr lang="zh-CN" altLang="en-US" sz="2000" dirty="0">
                <a:solidFill>
                  <a:srgbClr val="0000FF"/>
                </a:solidFill>
              </a:rPr>
              <a:t>；先写低字节</a:t>
            </a:r>
            <a:endParaRPr lang="en-US" altLang="zh-CN" sz="2000" dirty="0">
              <a:solidFill>
                <a:srgbClr val="0000FF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00FF"/>
                </a:solidFill>
              </a:rPr>
              <a:t>       MOV             AL</a:t>
            </a:r>
            <a:r>
              <a:rPr lang="zh-CN" altLang="en-US" sz="2000" dirty="0">
                <a:solidFill>
                  <a:srgbClr val="0000FF"/>
                </a:solidFill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</a:rPr>
              <a:t>AH</a:t>
            </a:r>
            <a:endParaRPr lang="zh-CN" altLang="en-US" sz="2000" dirty="0">
              <a:solidFill>
                <a:srgbClr val="0000FF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000" dirty="0">
                <a:solidFill>
                  <a:srgbClr val="0000FF"/>
                </a:solidFill>
              </a:rPr>
              <a:t>       </a:t>
            </a:r>
            <a:r>
              <a:rPr lang="en-US" altLang="zh-CN" sz="2000" dirty="0">
                <a:solidFill>
                  <a:srgbClr val="0000FF"/>
                </a:solidFill>
              </a:rPr>
              <a:t>OUT	42H</a:t>
            </a:r>
            <a:r>
              <a:rPr lang="zh-CN" altLang="en-US" sz="2000" dirty="0">
                <a:solidFill>
                  <a:srgbClr val="0000FF"/>
                </a:solidFill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</a:rPr>
              <a:t>AL	</a:t>
            </a:r>
            <a:r>
              <a:rPr lang="zh-CN" altLang="en-US" sz="2000" dirty="0">
                <a:solidFill>
                  <a:srgbClr val="0000FF"/>
                </a:solidFill>
              </a:rPr>
              <a:t>；后写高字节</a:t>
            </a:r>
            <a:endParaRPr lang="en-US" altLang="zh-CN" sz="2000" dirty="0">
              <a:solidFill>
                <a:srgbClr val="0000FF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00FF"/>
                </a:solidFill>
              </a:rPr>
              <a:t>       IN                 AL</a:t>
            </a:r>
            <a:r>
              <a:rPr lang="zh-CN" altLang="en-US" sz="2000" dirty="0">
                <a:solidFill>
                  <a:srgbClr val="0000FF"/>
                </a:solidFill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</a:rPr>
              <a:t>61H	</a:t>
            </a:r>
            <a:r>
              <a:rPr lang="zh-CN" altLang="en-US" sz="2000" dirty="0">
                <a:solidFill>
                  <a:srgbClr val="0000FF"/>
                </a:solidFill>
              </a:rPr>
              <a:t>；读</a:t>
            </a:r>
            <a:r>
              <a:rPr lang="en-US" altLang="zh-CN" sz="2000" dirty="0">
                <a:solidFill>
                  <a:srgbClr val="0000FF"/>
                </a:solidFill>
              </a:rPr>
              <a:t>8255A</a:t>
            </a:r>
            <a:r>
              <a:rPr lang="zh-CN" altLang="en-US" sz="2000" dirty="0">
                <a:solidFill>
                  <a:srgbClr val="0000FF"/>
                </a:solidFill>
              </a:rPr>
              <a:t>的</a:t>
            </a:r>
            <a:r>
              <a:rPr lang="en-US" altLang="zh-CN" sz="2000" dirty="0">
                <a:solidFill>
                  <a:srgbClr val="0000FF"/>
                </a:solidFill>
              </a:rPr>
              <a:t>B</a:t>
            </a:r>
            <a:r>
              <a:rPr lang="zh-CN" altLang="en-US" sz="2000" dirty="0">
                <a:solidFill>
                  <a:srgbClr val="0000FF"/>
                </a:solidFill>
              </a:rPr>
              <a:t>口</a:t>
            </a:r>
            <a:endParaRPr lang="en-US" altLang="zh-CN" sz="2000" dirty="0">
              <a:solidFill>
                <a:srgbClr val="0000FF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00FF"/>
                </a:solidFill>
              </a:rPr>
              <a:t>       MOV            AH</a:t>
            </a:r>
            <a:r>
              <a:rPr lang="zh-CN" altLang="en-US" sz="2000" dirty="0">
                <a:solidFill>
                  <a:srgbClr val="0000FF"/>
                </a:solidFill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</a:rPr>
              <a:t>AL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00FF"/>
                </a:solidFill>
              </a:rPr>
              <a:t>       OR                AL</a:t>
            </a:r>
            <a:r>
              <a:rPr lang="zh-CN" altLang="en-US" sz="2000" dirty="0">
                <a:solidFill>
                  <a:srgbClr val="0000FF"/>
                </a:solidFill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</a:rPr>
              <a:t>03H	</a:t>
            </a:r>
            <a:r>
              <a:rPr lang="zh-CN" altLang="en-US" sz="2000" dirty="0">
                <a:solidFill>
                  <a:srgbClr val="0000FF"/>
                </a:solidFill>
              </a:rPr>
              <a:t>；使</a:t>
            </a:r>
            <a:r>
              <a:rPr lang="en-US" altLang="zh-CN" sz="2000" dirty="0">
                <a:solidFill>
                  <a:srgbClr val="0000FF"/>
                </a:solidFill>
              </a:rPr>
              <a:t>PB</a:t>
            </a:r>
            <a:r>
              <a:rPr lang="en-US" altLang="zh-CN" sz="2000" baseline="-25000" dirty="0">
                <a:solidFill>
                  <a:srgbClr val="0000FF"/>
                </a:solidFill>
              </a:rPr>
              <a:t>1</a:t>
            </a:r>
            <a:r>
              <a:rPr lang="zh-CN" altLang="en-US" sz="2000" dirty="0">
                <a:solidFill>
                  <a:srgbClr val="0000FF"/>
                </a:solidFill>
              </a:rPr>
              <a:t>和</a:t>
            </a:r>
            <a:r>
              <a:rPr lang="en-US" altLang="zh-CN" sz="2000" dirty="0">
                <a:solidFill>
                  <a:srgbClr val="0000FF"/>
                </a:solidFill>
              </a:rPr>
              <a:t>PB</a:t>
            </a:r>
            <a:r>
              <a:rPr lang="en-US" altLang="zh-CN" sz="2000" baseline="-25000" dirty="0">
                <a:solidFill>
                  <a:srgbClr val="0000FF"/>
                </a:solidFill>
              </a:rPr>
              <a:t>0</a:t>
            </a:r>
            <a:r>
              <a:rPr lang="zh-CN" altLang="en-US" sz="2000" dirty="0">
                <a:solidFill>
                  <a:srgbClr val="0000FF"/>
                </a:solidFill>
              </a:rPr>
              <a:t>均为</a:t>
            </a:r>
            <a:r>
              <a:rPr lang="en-US" altLang="zh-CN" sz="2000" dirty="0">
                <a:solidFill>
                  <a:srgbClr val="0000FF"/>
                </a:solidFill>
              </a:rPr>
              <a:t>0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00FF"/>
                </a:solidFill>
              </a:rPr>
              <a:t>       OUT             61H</a:t>
            </a:r>
            <a:r>
              <a:rPr lang="zh-CN" altLang="en-US" sz="2000" dirty="0">
                <a:solidFill>
                  <a:srgbClr val="0000FF"/>
                </a:solidFill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</a:rPr>
              <a:t>AL	</a:t>
            </a:r>
            <a:r>
              <a:rPr lang="zh-CN" altLang="en-US" sz="2000" dirty="0">
                <a:solidFill>
                  <a:srgbClr val="0000FF"/>
                </a:solidFill>
              </a:rPr>
              <a:t>；打开</a:t>
            </a:r>
            <a:r>
              <a:rPr lang="en-US" altLang="zh-CN" sz="2000" dirty="0">
                <a:solidFill>
                  <a:srgbClr val="0000FF"/>
                </a:solidFill>
              </a:rPr>
              <a:t>GATE</a:t>
            </a:r>
            <a:r>
              <a:rPr lang="en-US" altLang="zh-CN" sz="2000" baseline="-25000" dirty="0">
                <a:solidFill>
                  <a:srgbClr val="0000FF"/>
                </a:solidFill>
              </a:rPr>
              <a:t>2</a:t>
            </a:r>
            <a:r>
              <a:rPr lang="zh-CN" altLang="en-US" sz="2000" dirty="0">
                <a:solidFill>
                  <a:srgbClr val="0000FF"/>
                </a:solidFill>
              </a:rPr>
              <a:t>门，</a:t>
            </a:r>
            <a:r>
              <a:rPr lang="en-US" altLang="zh-CN" sz="2000" dirty="0">
                <a:solidFill>
                  <a:srgbClr val="0000FF"/>
                </a:solidFill>
              </a:rPr>
              <a:t>OUT</a:t>
            </a:r>
            <a:r>
              <a:rPr lang="en-US" altLang="zh-CN" sz="2000" baseline="-25000" dirty="0">
                <a:solidFill>
                  <a:srgbClr val="0000FF"/>
                </a:solidFill>
              </a:rPr>
              <a:t>2</a:t>
            </a:r>
            <a:r>
              <a:rPr lang="zh-CN" altLang="en-US" sz="2000" dirty="0">
                <a:solidFill>
                  <a:srgbClr val="0000FF"/>
                </a:solidFill>
              </a:rPr>
              <a:t>输出方波</a:t>
            </a:r>
            <a:endParaRPr lang="en-US" altLang="zh-CN" sz="2000" dirty="0">
              <a:solidFill>
                <a:srgbClr val="0000FF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00FF"/>
                </a:solidFill>
              </a:rPr>
              <a:t>       ……			</a:t>
            </a:r>
            <a:r>
              <a:rPr lang="zh-CN" altLang="en-US" sz="2000" dirty="0">
                <a:solidFill>
                  <a:srgbClr val="0000FF"/>
                </a:solidFill>
              </a:rPr>
              <a:t>；循环延时</a:t>
            </a:r>
            <a:endParaRPr lang="en-US" altLang="zh-CN" sz="2000" dirty="0">
              <a:solidFill>
                <a:srgbClr val="0000FF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00FF"/>
                </a:solidFill>
              </a:rPr>
              <a:t>       MOV           AL</a:t>
            </a:r>
            <a:r>
              <a:rPr lang="zh-CN" altLang="en-US" sz="2000" dirty="0">
                <a:solidFill>
                  <a:srgbClr val="0000FF"/>
                </a:solidFill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</a:rPr>
              <a:t>AH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00FF"/>
                </a:solidFill>
              </a:rPr>
              <a:t>       OUT            61H</a:t>
            </a:r>
            <a:r>
              <a:rPr lang="zh-CN" altLang="en-US" sz="2000" dirty="0">
                <a:solidFill>
                  <a:srgbClr val="0000FF"/>
                </a:solidFill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</a:rPr>
              <a:t>AL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00FF"/>
                </a:solidFill>
              </a:rPr>
              <a:t>       RET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00FF"/>
                </a:solidFill>
              </a:rPr>
              <a:t>BEEP  ENDP</a:t>
            </a:r>
            <a:endParaRPr lang="zh-CN" altLang="en-US" sz="20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00622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07563B4-5F18-931B-DEBE-1EA1668B4B95}"/>
              </a:ext>
            </a:extLst>
          </p:cNvPr>
          <p:cNvSpPr txBox="1"/>
          <p:nvPr/>
        </p:nvSpPr>
        <p:spPr>
          <a:xfrm>
            <a:off x="683568" y="908720"/>
            <a:ext cx="45803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n-lt"/>
              </a:rPr>
              <a:t>3.8253 </a:t>
            </a:r>
            <a:r>
              <a:rPr lang="zh-CN" altLang="en-US" sz="2400" b="1" dirty="0">
                <a:solidFill>
                  <a:srgbClr val="0000FF"/>
                </a:solidFill>
                <a:latin typeface="+mn-lt"/>
              </a:rPr>
              <a:t>的应用实例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1A3F2CE-A803-3420-86AA-231E6606761B}"/>
              </a:ext>
            </a:extLst>
          </p:cNvPr>
          <p:cNvSpPr txBox="1"/>
          <p:nvPr/>
        </p:nvSpPr>
        <p:spPr>
          <a:xfrm>
            <a:off x="755576" y="1262365"/>
            <a:ext cx="784887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n-lt"/>
              </a:rPr>
              <a:t>【</a:t>
            </a:r>
            <a:r>
              <a:rPr lang="zh-CN" altLang="en-US" sz="2400" b="1" dirty="0">
                <a:solidFill>
                  <a:srgbClr val="0000FF"/>
                </a:solidFill>
                <a:latin typeface="+mn-lt"/>
              </a:rPr>
              <a:t>例 </a:t>
            </a:r>
            <a:r>
              <a:rPr lang="en-US" altLang="zh-CN" sz="2400" b="1" dirty="0">
                <a:solidFill>
                  <a:srgbClr val="0000FF"/>
                </a:solidFill>
                <a:latin typeface="+mn-lt"/>
              </a:rPr>
              <a:t>9.8】</a:t>
            </a:r>
            <a:r>
              <a:rPr lang="zh-CN" altLang="en-US" sz="2400" b="1" dirty="0">
                <a:latin typeface="+mn-lt"/>
              </a:rPr>
              <a:t>在 </a:t>
            </a:r>
            <a:r>
              <a:rPr lang="en-US" altLang="zh-CN" sz="2400" b="1" dirty="0">
                <a:latin typeface="+mn-lt"/>
              </a:rPr>
              <a:t>8086 </a:t>
            </a:r>
            <a:r>
              <a:rPr lang="zh-CN" altLang="en-US" sz="2400" b="1" dirty="0">
                <a:latin typeface="+mn-lt"/>
              </a:rPr>
              <a:t>系统中，现有频率为 </a:t>
            </a:r>
            <a:r>
              <a:rPr lang="en-US" altLang="zh-CN" sz="2400" b="1" dirty="0">
                <a:latin typeface="+mn-lt"/>
              </a:rPr>
              <a:t>1MHz</a:t>
            </a:r>
            <a:r>
              <a:rPr lang="zh-CN" altLang="en-US" sz="2400" b="1" dirty="0">
                <a:latin typeface="+mn-lt"/>
              </a:rPr>
              <a:t>的信号源，使用 </a:t>
            </a:r>
            <a:r>
              <a:rPr lang="en-US" altLang="zh-CN" sz="2400" b="1" dirty="0">
                <a:latin typeface="+mn-lt"/>
              </a:rPr>
              <a:t>8253 </a:t>
            </a:r>
            <a:r>
              <a:rPr lang="zh-CN" altLang="en-US" sz="2400" b="1" dirty="0">
                <a:latin typeface="+mn-lt"/>
              </a:rPr>
              <a:t>实现输出周期 </a:t>
            </a:r>
            <a:r>
              <a:rPr lang="en-US" altLang="zh-CN" sz="2400" b="1" dirty="0">
                <a:latin typeface="+mn-lt"/>
              </a:rPr>
              <a:t>1s </a:t>
            </a:r>
            <a:r>
              <a:rPr lang="zh-CN" altLang="en-US" sz="2400" b="1" dirty="0">
                <a:latin typeface="+mn-lt"/>
              </a:rPr>
              <a:t>的方波信号。请设计硬件接口电路并编写相应的驱动程序。 </a:t>
            </a:r>
            <a:endParaRPr lang="en-US" altLang="zh-CN" sz="2400" b="1" dirty="0">
              <a:latin typeface="+mn-lt"/>
            </a:endParaRPr>
          </a:p>
          <a:p>
            <a:endParaRPr lang="en-US" altLang="zh-CN" sz="2400" b="1" dirty="0">
              <a:latin typeface="+mn-lt"/>
            </a:endParaRPr>
          </a:p>
          <a:p>
            <a:r>
              <a:rPr lang="zh-CN" altLang="en-US" sz="2000" b="1" dirty="0">
                <a:latin typeface="+mn-lt"/>
              </a:rPr>
              <a:t>分析： </a:t>
            </a:r>
            <a:endParaRPr lang="en-US" altLang="zh-CN" sz="2000" b="1" dirty="0">
              <a:latin typeface="+mn-lt"/>
            </a:endParaRPr>
          </a:p>
          <a:p>
            <a:r>
              <a:rPr lang="zh-CN" altLang="en-US" sz="2000" b="1" dirty="0">
                <a:solidFill>
                  <a:srgbClr val="FF00FF"/>
                </a:solidFill>
                <a:latin typeface="+mn-lt"/>
              </a:rPr>
              <a:t>（</a:t>
            </a:r>
            <a:r>
              <a:rPr lang="en-US" altLang="zh-CN" sz="2000" b="1" dirty="0">
                <a:solidFill>
                  <a:srgbClr val="FF00FF"/>
                </a:solidFill>
                <a:latin typeface="+mn-lt"/>
              </a:rPr>
              <a:t>1</a:t>
            </a:r>
            <a:r>
              <a:rPr lang="zh-CN" altLang="en-US" sz="2000" b="1" dirty="0">
                <a:solidFill>
                  <a:srgbClr val="FF00FF"/>
                </a:solidFill>
                <a:latin typeface="+mn-lt"/>
              </a:rPr>
              <a:t>）</a:t>
            </a:r>
            <a:r>
              <a:rPr lang="zh-CN" altLang="en-US" sz="2000" b="1" dirty="0">
                <a:latin typeface="+mn-lt"/>
              </a:rPr>
              <a:t>输出方波信号，</a:t>
            </a:r>
            <a:r>
              <a:rPr lang="en-US" altLang="zh-CN" sz="2000" b="1" dirty="0">
                <a:latin typeface="+mn-lt"/>
              </a:rPr>
              <a:t>8253 </a:t>
            </a:r>
            <a:r>
              <a:rPr lang="zh-CN" altLang="en-US" sz="2000" b="1" dirty="0">
                <a:latin typeface="+mn-lt"/>
              </a:rPr>
              <a:t>选择方式 </a:t>
            </a:r>
            <a:r>
              <a:rPr lang="en-US" altLang="zh-CN" sz="2000" b="1" dirty="0">
                <a:latin typeface="+mn-lt"/>
              </a:rPr>
              <a:t>3 </a:t>
            </a:r>
            <a:r>
              <a:rPr lang="zh-CN" altLang="en-US" sz="2000" b="1" dirty="0">
                <a:latin typeface="+mn-lt"/>
              </a:rPr>
              <a:t>对信号源进行分频。 </a:t>
            </a:r>
            <a:endParaRPr lang="en-US" altLang="zh-CN" sz="2000" b="1" dirty="0">
              <a:latin typeface="+mn-lt"/>
            </a:endParaRPr>
          </a:p>
          <a:p>
            <a:r>
              <a:rPr lang="zh-CN" altLang="en-US" sz="2000" b="1" dirty="0">
                <a:solidFill>
                  <a:srgbClr val="FF00FF"/>
                </a:solidFill>
                <a:latin typeface="+mn-lt"/>
              </a:rPr>
              <a:t>（</a:t>
            </a:r>
            <a:r>
              <a:rPr lang="en-US" altLang="zh-CN" sz="2000" b="1" dirty="0">
                <a:solidFill>
                  <a:srgbClr val="FF00FF"/>
                </a:solidFill>
                <a:latin typeface="+mn-lt"/>
              </a:rPr>
              <a:t>2</a:t>
            </a:r>
            <a:r>
              <a:rPr lang="zh-CN" altLang="en-US" sz="2000" b="1" dirty="0">
                <a:solidFill>
                  <a:srgbClr val="FF00FF"/>
                </a:solidFill>
                <a:latin typeface="+mn-lt"/>
              </a:rPr>
              <a:t>）</a:t>
            </a:r>
            <a:r>
              <a:rPr lang="zh-CN" altLang="en-US" sz="2000" b="1" dirty="0">
                <a:latin typeface="+mn-lt"/>
              </a:rPr>
              <a:t>如果想得到周期 </a:t>
            </a:r>
            <a:r>
              <a:rPr lang="en-US" altLang="zh-CN" sz="2000" b="1" dirty="0">
                <a:latin typeface="+mn-lt"/>
              </a:rPr>
              <a:t>1s </a:t>
            </a:r>
            <a:r>
              <a:rPr lang="zh-CN" altLang="en-US" sz="2000" b="1" dirty="0">
                <a:latin typeface="+mn-lt"/>
              </a:rPr>
              <a:t>的方波，此例中需要将 </a:t>
            </a:r>
            <a:r>
              <a:rPr lang="en-US" altLang="zh-CN" sz="2000" b="1" dirty="0">
                <a:latin typeface="+mn-lt"/>
              </a:rPr>
              <a:t>1MHZ </a:t>
            </a:r>
            <a:r>
              <a:rPr lang="zh-CN" altLang="en-US" sz="2000" b="1" dirty="0">
                <a:latin typeface="+mn-lt"/>
              </a:rPr>
              <a:t>信号分频为 </a:t>
            </a:r>
            <a:r>
              <a:rPr lang="en-US" altLang="zh-CN" sz="2000" b="1" dirty="0">
                <a:latin typeface="+mn-lt"/>
              </a:rPr>
              <a:t>1HZ</a:t>
            </a:r>
            <a:r>
              <a:rPr lang="zh-CN" altLang="en-US" sz="2000" b="1" dirty="0">
                <a:latin typeface="+mn-lt"/>
              </a:rPr>
              <a:t>，分频倍数为 </a:t>
            </a:r>
            <a:r>
              <a:rPr lang="en-US" altLang="zh-CN" sz="2000" b="1" dirty="0">
                <a:latin typeface="+mn-lt"/>
              </a:rPr>
              <a:t>10</a:t>
            </a:r>
            <a:r>
              <a:rPr lang="en-US" altLang="zh-CN" sz="2000" b="1" baseline="30000" dirty="0">
                <a:latin typeface="+mn-lt"/>
              </a:rPr>
              <a:t>6</a:t>
            </a:r>
            <a:r>
              <a:rPr lang="zh-CN" altLang="en-US" sz="2000" b="1" dirty="0">
                <a:latin typeface="+mn-lt"/>
              </a:rPr>
              <a:t>。</a:t>
            </a:r>
            <a:r>
              <a:rPr lang="en-US" altLang="zh-CN" sz="2000" b="1" dirty="0">
                <a:latin typeface="+mn-lt"/>
              </a:rPr>
              <a:t>8253 </a:t>
            </a:r>
            <a:r>
              <a:rPr lang="zh-CN" altLang="en-US" sz="2000" b="1" dirty="0">
                <a:latin typeface="+mn-lt"/>
              </a:rPr>
              <a:t>的计数器是 </a:t>
            </a:r>
            <a:r>
              <a:rPr lang="en-US" altLang="zh-CN" sz="2000" b="1" dirty="0">
                <a:latin typeface="+mn-lt"/>
              </a:rPr>
              <a:t>16 </a:t>
            </a:r>
            <a:r>
              <a:rPr lang="zh-CN" altLang="en-US" sz="2000" b="1" dirty="0">
                <a:latin typeface="+mn-lt"/>
              </a:rPr>
              <a:t>位的，最大计数值为 </a:t>
            </a:r>
            <a:r>
              <a:rPr lang="en-US" altLang="zh-CN" sz="2000" b="1" dirty="0">
                <a:latin typeface="+mn-lt"/>
              </a:rPr>
              <a:t>2 </a:t>
            </a:r>
            <a:r>
              <a:rPr lang="en-US" altLang="zh-CN" sz="2000" b="1" baseline="30000" dirty="0">
                <a:latin typeface="+mn-lt"/>
              </a:rPr>
              <a:t>16</a:t>
            </a:r>
            <a:r>
              <a:rPr lang="en-US" altLang="zh-CN" sz="2000" b="1" dirty="0">
                <a:latin typeface="+mn-lt"/>
              </a:rPr>
              <a:t>=65536</a:t>
            </a:r>
            <a:r>
              <a:rPr lang="zh-CN" altLang="en-US" sz="2000" b="1" dirty="0">
                <a:latin typeface="+mn-lt"/>
              </a:rPr>
              <a:t>，也就是说一个计数器最多可以将 </a:t>
            </a:r>
            <a:r>
              <a:rPr lang="en-US" altLang="zh-CN" sz="2000" b="1" dirty="0">
                <a:latin typeface="+mn-lt"/>
              </a:rPr>
              <a:t>CLK </a:t>
            </a:r>
            <a:r>
              <a:rPr lang="zh-CN" altLang="en-US" sz="2000" b="1" dirty="0">
                <a:latin typeface="+mn-lt"/>
              </a:rPr>
              <a:t>信号分频 </a:t>
            </a:r>
            <a:r>
              <a:rPr lang="en-US" altLang="zh-CN" sz="2000" b="1" dirty="0">
                <a:latin typeface="+mn-lt"/>
              </a:rPr>
              <a:t>65536 </a:t>
            </a:r>
            <a:r>
              <a:rPr lang="zh-CN" altLang="en-US" sz="2000" b="1" dirty="0">
                <a:latin typeface="+mn-lt"/>
              </a:rPr>
              <a:t>倍。因为 </a:t>
            </a:r>
            <a:r>
              <a:rPr lang="en-US" altLang="zh-CN" sz="2000" b="1" dirty="0">
                <a:latin typeface="+mn-lt"/>
              </a:rPr>
              <a:t>65536&lt;10</a:t>
            </a:r>
            <a:r>
              <a:rPr lang="en-US" altLang="zh-CN" sz="2000" b="1" baseline="30000" dirty="0">
                <a:latin typeface="+mn-lt"/>
              </a:rPr>
              <a:t>6</a:t>
            </a:r>
            <a:r>
              <a:rPr lang="zh-CN" altLang="zh-CN" sz="2000" b="1" dirty="0">
                <a:latin typeface="+mn-lt"/>
              </a:rPr>
              <a:t>，所以仅使用</a:t>
            </a:r>
            <a:r>
              <a:rPr lang="en-US" altLang="zh-CN" sz="2000" b="1" dirty="0">
                <a:latin typeface="+mn-lt"/>
              </a:rPr>
              <a:t>8253</a:t>
            </a:r>
            <a:r>
              <a:rPr lang="zh-CN" altLang="zh-CN" sz="2000" b="1" dirty="0">
                <a:latin typeface="+mn-lt"/>
              </a:rPr>
              <a:t>的一个计数器不能实现，只能采用两个计数器级联的方式。</a:t>
            </a:r>
            <a:r>
              <a:rPr lang="en-US" altLang="zh-CN" sz="2000" b="1" dirty="0">
                <a:latin typeface="+mn-lt"/>
              </a:rPr>
              <a:t>8253</a:t>
            </a:r>
            <a:r>
              <a:rPr lang="zh-CN" altLang="zh-CN" sz="2000" b="1" dirty="0">
                <a:latin typeface="+mn-lt"/>
              </a:rPr>
              <a:t>有</a:t>
            </a:r>
            <a:r>
              <a:rPr lang="en-US" altLang="zh-CN" sz="2000" b="1" dirty="0">
                <a:latin typeface="+mn-lt"/>
              </a:rPr>
              <a:t>3</a:t>
            </a:r>
            <a:r>
              <a:rPr lang="zh-CN" altLang="zh-CN" sz="2000" b="1" dirty="0">
                <a:latin typeface="+mn-lt"/>
              </a:rPr>
              <a:t>个计数器，可以使用其中的任意</a:t>
            </a:r>
            <a:r>
              <a:rPr lang="en-US" altLang="zh-CN" sz="2000" b="1" dirty="0">
                <a:latin typeface="+mn-lt"/>
              </a:rPr>
              <a:t>2</a:t>
            </a:r>
            <a:r>
              <a:rPr lang="zh-CN" altLang="zh-CN" sz="2000" b="1" dirty="0">
                <a:latin typeface="+mn-lt"/>
              </a:rPr>
              <a:t>个级联，故设计方案不唯一。</a:t>
            </a:r>
            <a:endParaRPr lang="en-US" altLang="zh-CN" sz="2000" b="1" dirty="0">
              <a:latin typeface="+mn-lt"/>
            </a:endParaRPr>
          </a:p>
          <a:p>
            <a:r>
              <a:rPr lang="zh-CN" altLang="en-US" sz="2000" b="1" dirty="0">
                <a:solidFill>
                  <a:srgbClr val="FF00FF"/>
                </a:solidFill>
                <a:latin typeface="+mn-lt"/>
              </a:rPr>
              <a:t>（</a:t>
            </a:r>
            <a:r>
              <a:rPr lang="en-US" altLang="zh-CN" sz="2000" b="1" dirty="0">
                <a:solidFill>
                  <a:srgbClr val="FF00FF"/>
                </a:solidFill>
                <a:latin typeface="+mn-lt"/>
              </a:rPr>
              <a:t>3</a:t>
            </a:r>
            <a:r>
              <a:rPr lang="zh-CN" altLang="en-US" sz="2000" b="1" dirty="0">
                <a:solidFill>
                  <a:srgbClr val="FF00FF"/>
                </a:solidFill>
                <a:latin typeface="+mn-lt"/>
              </a:rPr>
              <a:t>）</a:t>
            </a:r>
            <a:r>
              <a:rPr lang="zh-CN" altLang="zh-CN" sz="2000" b="1" dirty="0">
                <a:latin typeface="+mn-lt"/>
              </a:rPr>
              <a:t>本例中采用计数器</a:t>
            </a:r>
            <a:r>
              <a:rPr lang="en-US" altLang="zh-CN" sz="2000" b="1" dirty="0">
                <a:latin typeface="+mn-lt"/>
              </a:rPr>
              <a:t>0</a:t>
            </a:r>
            <a:r>
              <a:rPr lang="zh-CN" altLang="zh-CN" sz="2000" b="1" dirty="0">
                <a:latin typeface="+mn-lt"/>
              </a:rPr>
              <a:t>和计数器</a:t>
            </a:r>
            <a:r>
              <a:rPr lang="en-US" altLang="zh-CN" sz="2000" b="1" dirty="0">
                <a:latin typeface="+mn-lt"/>
              </a:rPr>
              <a:t>1</a:t>
            </a:r>
            <a:r>
              <a:rPr lang="zh-CN" altLang="zh-CN" sz="2000" b="1" dirty="0">
                <a:latin typeface="+mn-lt"/>
              </a:rPr>
              <a:t>级联，也就是计数器</a:t>
            </a:r>
            <a:r>
              <a:rPr lang="en-US" altLang="zh-CN" sz="2000" b="1" dirty="0">
                <a:latin typeface="+mn-lt"/>
              </a:rPr>
              <a:t>0</a:t>
            </a:r>
            <a:r>
              <a:rPr lang="zh-CN" altLang="zh-CN" sz="2000" b="1" dirty="0">
                <a:latin typeface="+mn-lt"/>
              </a:rPr>
              <a:t>对</a:t>
            </a:r>
            <a:r>
              <a:rPr lang="en-US" altLang="zh-CN" sz="2000" b="1" dirty="0">
                <a:latin typeface="+mn-lt"/>
              </a:rPr>
              <a:t>1MHZ</a:t>
            </a:r>
            <a:r>
              <a:rPr lang="zh-CN" altLang="zh-CN" sz="2000" b="1" dirty="0">
                <a:latin typeface="+mn-lt"/>
              </a:rPr>
              <a:t>信号源进行分频后，</a:t>
            </a:r>
            <a:r>
              <a:rPr lang="en-US" altLang="zh-CN" sz="2000" b="1" dirty="0">
                <a:latin typeface="+mn-lt"/>
              </a:rPr>
              <a:t>OUT0</a:t>
            </a:r>
            <a:r>
              <a:rPr lang="zh-CN" altLang="zh-CN" sz="2000" b="1" dirty="0">
                <a:latin typeface="+mn-lt"/>
              </a:rPr>
              <a:t>输出的信号作为计数器</a:t>
            </a:r>
            <a:r>
              <a:rPr lang="en-US" altLang="zh-CN" sz="2000" b="1" dirty="0">
                <a:latin typeface="+mn-lt"/>
              </a:rPr>
              <a:t>1</a:t>
            </a:r>
            <a:r>
              <a:rPr lang="zh-CN" altLang="zh-CN" sz="2000" b="1" dirty="0">
                <a:latin typeface="+mn-lt"/>
              </a:rPr>
              <a:t>的计数脉冲连至</a:t>
            </a:r>
            <a:r>
              <a:rPr lang="en-US" altLang="zh-CN" sz="2000" b="1" dirty="0">
                <a:latin typeface="+mn-lt"/>
              </a:rPr>
              <a:t>CLK1</a:t>
            </a:r>
            <a:r>
              <a:rPr lang="zh-CN" altLang="zh-CN" sz="2000" b="1" dirty="0">
                <a:latin typeface="+mn-lt"/>
              </a:rPr>
              <a:t>，具体硬件连接设计如图</a:t>
            </a:r>
            <a:r>
              <a:rPr lang="en-US" altLang="zh-CN" sz="2000" b="1" dirty="0">
                <a:latin typeface="+mn-lt"/>
              </a:rPr>
              <a:t>9.24</a:t>
            </a:r>
            <a:r>
              <a:rPr lang="zh-CN" altLang="zh-CN" sz="2000" b="1" dirty="0">
                <a:latin typeface="+mn-lt"/>
              </a:rPr>
              <a:t>所示。</a:t>
            </a:r>
          </a:p>
          <a:p>
            <a:endParaRPr lang="zh-CN" altLang="en-US" sz="2000" b="1" dirty="0">
              <a:latin typeface="+mn-lt"/>
            </a:endParaRPr>
          </a:p>
        </p:txBody>
      </p:sp>
      <p:sp>
        <p:nvSpPr>
          <p:cNvPr id="6" name="标题 351233">
            <a:extLst>
              <a:ext uri="{FF2B5EF4-FFF2-40B4-BE49-F238E27FC236}">
                <a16:creationId xmlns:a16="http://schemas.microsoft.com/office/drawing/2014/main" id="{B632698E-2420-47F3-C49A-9064E3FFE575}"/>
              </a:ext>
            </a:extLst>
          </p:cNvPr>
          <p:cNvSpPr txBox="1">
            <a:spLocks/>
          </p:cNvSpPr>
          <p:nvPr/>
        </p:nvSpPr>
        <p:spPr>
          <a:xfrm>
            <a:off x="1044575" y="188913"/>
            <a:ext cx="7704138" cy="431800"/>
          </a:xfrm>
          <a:ln/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9.2  可编程定时/计数器8253及其应用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470623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7540DBE-1F35-FF1E-9EC0-4A2D60FA7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346" y="1196752"/>
            <a:ext cx="7065308" cy="4464496"/>
          </a:xfrm>
          <a:prstGeom prst="rect">
            <a:avLst/>
          </a:prstGeom>
        </p:spPr>
      </p:pic>
      <p:sp>
        <p:nvSpPr>
          <p:cNvPr id="6" name="标题 351233">
            <a:extLst>
              <a:ext uri="{FF2B5EF4-FFF2-40B4-BE49-F238E27FC236}">
                <a16:creationId xmlns:a16="http://schemas.microsoft.com/office/drawing/2014/main" id="{F5F737B8-0B2A-455D-9D12-61D470F6D6BA}"/>
              </a:ext>
            </a:extLst>
          </p:cNvPr>
          <p:cNvSpPr txBox="1">
            <a:spLocks/>
          </p:cNvSpPr>
          <p:nvPr/>
        </p:nvSpPr>
        <p:spPr>
          <a:xfrm>
            <a:off x="1044575" y="188913"/>
            <a:ext cx="7704138" cy="431800"/>
          </a:xfrm>
          <a:ln/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9.2  可编程定时/计数器8253及其应用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119861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427509B-765C-C76D-BC7A-3C2C79BE257A}"/>
              </a:ext>
            </a:extLst>
          </p:cNvPr>
          <p:cNvSpPr txBox="1"/>
          <p:nvPr/>
        </p:nvSpPr>
        <p:spPr>
          <a:xfrm>
            <a:off x="467544" y="836712"/>
            <a:ext cx="8208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假设 </a:t>
            </a:r>
            <a:r>
              <a:rPr lang="en-US" altLang="zh-CN" dirty="0"/>
              <a:t>8253 </a:t>
            </a:r>
            <a:r>
              <a:rPr lang="zh-CN" altLang="en-US" dirty="0"/>
              <a:t>的 </a:t>
            </a:r>
            <a:r>
              <a:rPr lang="en-US" altLang="zh-CN" dirty="0"/>
              <a:t>4 </a:t>
            </a:r>
            <a:r>
              <a:rPr lang="zh-CN" altLang="en-US" dirty="0"/>
              <a:t>个端口地址分别为 </a:t>
            </a:r>
            <a:r>
              <a:rPr lang="en-US" altLang="zh-CN" dirty="0"/>
              <a:t>0640H</a:t>
            </a:r>
            <a:r>
              <a:rPr lang="zh-CN" altLang="en-US" dirty="0"/>
              <a:t>、</a:t>
            </a:r>
            <a:r>
              <a:rPr lang="en-US" altLang="zh-CN" dirty="0"/>
              <a:t>0642H</a:t>
            </a:r>
            <a:r>
              <a:rPr lang="zh-CN" altLang="en-US" dirty="0"/>
              <a:t>、</a:t>
            </a:r>
            <a:r>
              <a:rPr lang="en-US" altLang="zh-CN" dirty="0"/>
              <a:t>0644H </a:t>
            </a:r>
            <a:r>
              <a:rPr lang="zh-CN" altLang="en-US" dirty="0"/>
              <a:t>和 </a:t>
            </a:r>
            <a:r>
              <a:rPr lang="en-US" altLang="zh-CN" dirty="0"/>
              <a:t>0646H</a:t>
            </a:r>
            <a:r>
              <a:rPr lang="zh-CN" altLang="en-US" dirty="0"/>
              <a:t>，设置两个计数器各分频 </a:t>
            </a:r>
            <a:r>
              <a:rPr lang="en-US" altLang="zh-CN" dirty="0"/>
              <a:t>1000 </a:t>
            </a:r>
            <a:r>
              <a:rPr lang="zh-CN" altLang="en-US" dirty="0"/>
              <a:t>倍，则实现本例功能的软件驱动程序如下：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D681FB5-F36E-400E-A879-C517C8283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483043"/>
            <a:ext cx="6309955" cy="5186044"/>
          </a:xfrm>
          <a:prstGeom prst="rect">
            <a:avLst/>
          </a:prstGeom>
        </p:spPr>
      </p:pic>
      <p:sp>
        <p:nvSpPr>
          <p:cNvPr id="6" name="标题 351233">
            <a:extLst>
              <a:ext uri="{FF2B5EF4-FFF2-40B4-BE49-F238E27FC236}">
                <a16:creationId xmlns:a16="http://schemas.microsoft.com/office/drawing/2014/main" id="{76FAA24D-7C13-A668-9D58-561457FAF252}"/>
              </a:ext>
            </a:extLst>
          </p:cNvPr>
          <p:cNvSpPr txBox="1">
            <a:spLocks/>
          </p:cNvSpPr>
          <p:nvPr/>
        </p:nvSpPr>
        <p:spPr>
          <a:xfrm>
            <a:off x="1044575" y="188913"/>
            <a:ext cx="7704138" cy="431800"/>
          </a:xfrm>
          <a:ln/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9.2  </a:t>
            </a:r>
            <a:r>
              <a:rPr lang="en-US" altLang="zh-CN" sz="3200" b="1" dirty="0" err="1">
                <a:solidFill>
                  <a:srgbClr val="FF0000"/>
                </a:solidFill>
                <a:ea typeface="隶书" panose="02010509060101010101" pitchFamily="49" charset="-122"/>
              </a:rPr>
              <a:t>可编程定时</a:t>
            </a:r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/计数器8253及其应用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ECB6638-16BD-4DFB-B379-5285600EDCD9}"/>
              </a:ext>
            </a:extLst>
          </p:cNvPr>
          <p:cNvSpPr txBox="1"/>
          <p:nvPr/>
        </p:nvSpPr>
        <p:spPr>
          <a:xfrm>
            <a:off x="2133475" y="3142476"/>
            <a:ext cx="816249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CON8253</a:t>
            </a:r>
            <a:endParaRPr lang="zh-CN" altLang="en-US" sz="11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37636BD-BDE9-4219-81BB-3C07C3636892}"/>
              </a:ext>
            </a:extLst>
          </p:cNvPr>
          <p:cNvSpPr txBox="1"/>
          <p:nvPr/>
        </p:nvSpPr>
        <p:spPr>
          <a:xfrm>
            <a:off x="2133475" y="3670775"/>
            <a:ext cx="816249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A8253</a:t>
            </a:r>
            <a:endParaRPr lang="zh-CN" altLang="en-US" sz="1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E8F2ED0-A462-4AED-88F7-C80886529F18}"/>
              </a:ext>
            </a:extLst>
          </p:cNvPr>
          <p:cNvSpPr txBox="1"/>
          <p:nvPr/>
        </p:nvSpPr>
        <p:spPr>
          <a:xfrm>
            <a:off x="2133474" y="4517419"/>
            <a:ext cx="816249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CON8253</a:t>
            </a:r>
            <a:endParaRPr lang="zh-CN" altLang="en-US" sz="10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17F599D-6183-4055-B740-E9A539828D7D}"/>
              </a:ext>
            </a:extLst>
          </p:cNvPr>
          <p:cNvSpPr txBox="1"/>
          <p:nvPr/>
        </p:nvSpPr>
        <p:spPr>
          <a:xfrm>
            <a:off x="2152549" y="5039854"/>
            <a:ext cx="816249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B8253</a:t>
            </a:r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10503489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51233">
            <a:extLst>
              <a:ext uri="{FF2B5EF4-FFF2-40B4-BE49-F238E27FC236}">
                <a16:creationId xmlns:a16="http://schemas.microsoft.com/office/drawing/2014/main" id="{50F1EE86-662C-4C2C-ADEA-6AF10C60425E}"/>
              </a:ext>
            </a:extLst>
          </p:cNvPr>
          <p:cNvSpPr txBox="1">
            <a:spLocks/>
          </p:cNvSpPr>
          <p:nvPr/>
        </p:nvSpPr>
        <p:spPr>
          <a:xfrm>
            <a:off x="1044575" y="188913"/>
            <a:ext cx="7704138" cy="431800"/>
          </a:xfrm>
          <a:ln/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9.2  </a:t>
            </a:r>
            <a:r>
              <a:rPr lang="en-US" altLang="zh-CN" sz="3200" b="1" dirty="0" err="1">
                <a:solidFill>
                  <a:srgbClr val="FF0000"/>
                </a:solidFill>
                <a:ea typeface="隶书" panose="02010509060101010101" pitchFamily="49" charset="-122"/>
              </a:rPr>
              <a:t>可编程定时</a:t>
            </a:r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/计数器8253及其应用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F3D3BA9-5989-45D0-9A57-22FB27B101C8}"/>
              </a:ext>
            </a:extLst>
          </p:cNvPr>
          <p:cNvSpPr txBox="1"/>
          <p:nvPr/>
        </p:nvSpPr>
        <p:spPr>
          <a:xfrm>
            <a:off x="539551" y="1052736"/>
            <a:ext cx="8209161" cy="2086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+mn-lt"/>
              </a:rPr>
              <a:t>【</a:t>
            </a:r>
            <a:r>
              <a:rPr lang="zh-CN" altLang="en-US" sz="2400" b="1" dirty="0">
                <a:solidFill>
                  <a:srgbClr val="0000FF"/>
                </a:solidFill>
                <a:latin typeface="+mn-lt"/>
              </a:rPr>
              <a:t>例</a:t>
            </a:r>
            <a:r>
              <a:rPr lang="en-US" altLang="zh-CN" sz="2400" b="1" dirty="0">
                <a:solidFill>
                  <a:srgbClr val="0000FF"/>
                </a:solidFill>
                <a:latin typeface="+mn-lt"/>
              </a:rPr>
              <a:t>】</a:t>
            </a:r>
            <a:r>
              <a:rPr lang="zh-CN" altLang="en-US" sz="2400" b="1" dirty="0">
                <a:latin typeface="+mn-lt"/>
              </a:rPr>
              <a:t>现有频率为</a:t>
            </a:r>
            <a:r>
              <a:rPr lang="en-US" altLang="zh-CN" sz="2400" b="1" dirty="0">
                <a:latin typeface="+mn-lt"/>
              </a:rPr>
              <a:t>2MHz</a:t>
            </a:r>
            <a:r>
              <a:rPr lang="zh-CN" altLang="en-US" sz="2400" b="1" dirty="0">
                <a:latin typeface="+mn-lt"/>
              </a:rPr>
              <a:t>的信号源，利用</a:t>
            </a:r>
            <a:r>
              <a:rPr lang="en-US" altLang="zh-CN" sz="2400" b="1" dirty="0">
                <a:latin typeface="+mn-lt"/>
              </a:rPr>
              <a:t>8253</a:t>
            </a:r>
            <a:r>
              <a:rPr lang="zh-CN" altLang="en-US" sz="2400" b="1" dirty="0">
                <a:latin typeface="+mn-lt"/>
              </a:rPr>
              <a:t>控制</a:t>
            </a:r>
            <a:r>
              <a:rPr lang="en-US" altLang="zh-CN" sz="2400" b="1" dirty="0">
                <a:latin typeface="+mn-lt"/>
              </a:rPr>
              <a:t>LED</a:t>
            </a:r>
            <a:r>
              <a:rPr lang="zh-CN" altLang="en-US" sz="2400" b="1" dirty="0">
                <a:latin typeface="+mn-lt"/>
              </a:rPr>
              <a:t>发光管的点亮和熄灭，要求点亮</a:t>
            </a:r>
            <a:r>
              <a:rPr lang="en-US" altLang="zh-CN" sz="2400" b="1" dirty="0">
                <a:latin typeface="+mn-lt"/>
              </a:rPr>
              <a:t>10s</a:t>
            </a:r>
            <a:r>
              <a:rPr lang="zh-CN" altLang="en-US" sz="2400" b="1" dirty="0">
                <a:latin typeface="+mn-lt"/>
              </a:rPr>
              <a:t>，熄灭</a:t>
            </a:r>
            <a:r>
              <a:rPr lang="en-US" altLang="zh-CN" sz="2400" b="1" dirty="0">
                <a:latin typeface="+mn-lt"/>
              </a:rPr>
              <a:t>10s</a:t>
            </a:r>
            <a:r>
              <a:rPr lang="zh-CN" altLang="en-US" sz="2400" b="1" dirty="0">
                <a:latin typeface="+mn-lt"/>
              </a:rPr>
              <a:t>，再重复。编写初始化程序。</a:t>
            </a:r>
            <a:endParaRPr lang="en-US" altLang="zh-CN" sz="2400" b="1" dirty="0">
              <a:latin typeface="+mn-lt"/>
            </a:endParaRPr>
          </a:p>
          <a:p>
            <a:pPr marL="261938" indent="-261938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US" altLang="zh-CN" sz="2400" b="1" dirty="0">
                <a:latin typeface="+mn-lt"/>
              </a:rPr>
              <a:t>8253</a:t>
            </a:r>
            <a:r>
              <a:rPr lang="zh-CN" altLang="en-US" sz="2400" b="1" dirty="0">
                <a:latin typeface="+mn-lt"/>
              </a:rPr>
              <a:t>各端口地址为</a:t>
            </a:r>
            <a:r>
              <a:rPr lang="en-US" altLang="zh-CN" sz="2400" b="1" dirty="0">
                <a:latin typeface="+mn-lt"/>
              </a:rPr>
              <a:t>81H</a:t>
            </a:r>
            <a:r>
              <a:rPr lang="zh-CN" altLang="en-US" sz="2400" b="1" dirty="0">
                <a:latin typeface="+mn-lt"/>
              </a:rPr>
              <a:t>、</a:t>
            </a:r>
            <a:r>
              <a:rPr lang="en-US" altLang="zh-CN" sz="2400" b="1" dirty="0">
                <a:latin typeface="+mn-lt"/>
              </a:rPr>
              <a:t>83H</a:t>
            </a:r>
            <a:r>
              <a:rPr lang="zh-CN" altLang="en-US" sz="2400" b="1" dirty="0">
                <a:latin typeface="+mn-lt"/>
              </a:rPr>
              <a:t>、</a:t>
            </a:r>
            <a:r>
              <a:rPr lang="en-US" altLang="zh-CN" sz="2400" b="1" dirty="0">
                <a:latin typeface="+mn-lt"/>
              </a:rPr>
              <a:t>85H</a:t>
            </a:r>
            <a:r>
              <a:rPr lang="zh-CN" altLang="en-US" sz="2400" b="1" dirty="0">
                <a:latin typeface="+mn-lt"/>
              </a:rPr>
              <a:t>和</a:t>
            </a:r>
            <a:r>
              <a:rPr lang="en-US" altLang="zh-CN" sz="2400" b="1" dirty="0">
                <a:latin typeface="+mn-lt"/>
              </a:rPr>
              <a:t>87H</a:t>
            </a:r>
            <a:r>
              <a:rPr lang="zh-CN" altLang="en-US" sz="2400" b="1" dirty="0">
                <a:latin typeface="+mn-lt"/>
              </a:rPr>
              <a:t>；</a:t>
            </a:r>
            <a:endParaRPr lang="en-US" altLang="zh-CN" sz="2400" b="1" dirty="0">
              <a:latin typeface="+mn-lt"/>
            </a:endParaRPr>
          </a:p>
          <a:p>
            <a:pPr marL="261938" indent="-261938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400" b="1" dirty="0">
                <a:latin typeface="+mn-lt"/>
              </a:rPr>
              <a:t>数据线</a:t>
            </a:r>
            <a:r>
              <a:rPr lang="en-US" altLang="zh-CN" sz="2400" b="1" dirty="0">
                <a:latin typeface="+mn-lt"/>
              </a:rPr>
              <a:t>D7~ D0</a:t>
            </a:r>
            <a:r>
              <a:rPr lang="zh-CN" altLang="en-US" sz="2400" b="1" dirty="0">
                <a:latin typeface="+mn-lt"/>
              </a:rPr>
              <a:t>与</a:t>
            </a:r>
            <a:r>
              <a:rPr lang="en-US" altLang="zh-CN" sz="2400" b="1" dirty="0">
                <a:latin typeface="+mn-lt"/>
              </a:rPr>
              <a:t>CPU</a:t>
            </a:r>
            <a:r>
              <a:rPr lang="zh-CN" altLang="en-US" sz="2400" b="1" dirty="0">
                <a:latin typeface="+mn-lt"/>
              </a:rPr>
              <a:t>的</a:t>
            </a:r>
            <a:r>
              <a:rPr lang="en-US" altLang="zh-CN" sz="2400" b="1" dirty="0">
                <a:latin typeface="+mn-lt"/>
              </a:rPr>
              <a:t>D15~D8</a:t>
            </a:r>
            <a:r>
              <a:rPr lang="zh-CN" altLang="en-US" sz="2400" b="1" dirty="0">
                <a:latin typeface="+mn-lt"/>
              </a:rPr>
              <a:t>相连，以选中奇地址口</a:t>
            </a:r>
            <a:r>
              <a:rPr lang="en-US" altLang="zh-CN" sz="2400" b="1" dirty="0">
                <a:latin typeface="+mn-lt"/>
              </a:rPr>
              <a:t>;</a:t>
            </a:r>
          </a:p>
          <a:p>
            <a:pPr marL="261938" indent="-261938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US" altLang="zh-CN" sz="2400" b="1" dirty="0">
                <a:latin typeface="+mn-lt"/>
              </a:rPr>
              <a:t>OUT1</a:t>
            </a:r>
            <a:r>
              <a:rPr lang="zh-CN" altLang="en-US" sz="2400" b="1" dirty="0">
                <a:latin typeface="+mn-lt"/>
              </a:rPr>
              <a:t>连到</a:t>
            </a:r>
            <a:r>
              <a:rPr lang="en-US" altLang="zh-CN" sz="2400" b="1" dirty="0">
                <a:latin typeface="+mn-lt"/>
              </a:rPr>
              <a:t>LED</a:t>
            </a:r>
            <a:r>
              <a:rPr lang="zh-CN" altLang="en-US" sz="2400" b="1" dirty="0">
                <a:latin typeface="+mn-lt"/>
              </a:rPr>
              <a:t>，高电平点亮</a:t>
            </a:r>
            <a:r>
              <a:rPr lang="en-US" altLang="zh-CN" sz="2400" b="1" dirty="0">
                <a:latin typeface="+mn-lt"/>
              </a:rPr>
              <a:t>LED</a:t>
            </a:r>
            <a:r>
              <a:rPr lang="zh-CN" altLang="en-US" sz="2400" b="1" dirty="0">
                <a:latin typeface="+mn-lt"/>
              </a:rPr>
              <a:t>，低电平熄灭</a:t>
            </a:r>
            <a:r>
              <a:rPr lang="en-US" altLang="zh-CN" sz="2400" b="1" dirty="0">
                <a:latin typeface="+mn-lt"/>
              </a:rPr>
              <a:t>LED</a:t>
            </a:r>
            <a:r>
              <a:rPr lang="zh-CN" altLang="en-US" sz="2400" b="1" dirty="0">
                <a:latin typeface="+mn-lt"/>
              </a:rPr>
              <a:t>。 </a:t>
            </a:r>
            <a:endParaRPr lang="en-US" altLang="zh-CN" sz="2400" b="1" dirty="0">
              <a:latin typeface="+mn-lt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C25E4C7-A67D-4B94-B0A3-D82EC6F651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3207087"/>
            <a:ext cx="6134100" cy="30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1247710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51233">
            <a:extLst>
              <a:ext uri="{FF2B5EF4-FFF2-40B4-BE49-F238E27FC236}">
                <a16:creationId xmlns:a16="http://schemas.microsoft.com/office/drawing/2014/main" id="{B0BFA460-3895-4554-A58F-00178545F791}"/>
              </a:ext>
            </a:extLst>
          </p:cNvPr>
          <p:cNvSpPr txBox="1">
            <a:spLocks/>
          </p:cNvSpPr>
          <p:nvPr/>
        </p:nvSpPr>
        <p:spPr>
          <a:xfrm>
            <a:off x="1044575" y="188913"/>
            <a:ext cx="7704138" cy="431800"/>
          </a:xfrm>
          <a:ln/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9.2  </a:t>
            </a:r>
            <a:r>
              <a:rPr lang="en-US" altLang="zh-CN" sz="3200" b="1" dirty="0" err="1">
                <a:solidFill>
                  <a:srgbClr val="FF0000"/>
                </a:solidFill>
                <a:ea typeface="隶书" panose="02010509060101010101" pitchFamily="49" charset="-122"/>
              </a:rPr>
              <a:t>可编程定时</a:t>
            </a:r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/计数器8253及其应用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237DB4A-C569-4C7B-8FC6-1BDBC77758E3}"/>
              </a:ext>
            </a:extLst>
          </p:cNvPr>
          <p:cNvSpPr txBox="1"/>
          <p:nvPr/>
        </p:nvSpPr>
        <p:spPr>
          <a:xfrm>
            <a:off x="539551" y="1176368"/>
            <a:ext cx="820916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8775" indent="-358775" algn="just"/>
            <a:r>
              <a:rPr lang="zh-CN" altLang="en-US" sz="2400" dirty="0"/>
              <a:t>编程使</a:t>
            </a:r>
            <a:r>
              <a:rPr lang="en-US" altLang="zh-CN" sz="2400" dirty="0"/>
              <a:t>OUT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输出周期</a:t>
            </a:r>
            <a:r>
              <a:rPr lang="en-US" altLang="zh-CN" sz="2400" dirty="0"/>
              <a:t>20</a:t>
            </a:r>
            <a:r>
              <a:rPr lang="zh-CN" altLang="en-US" sz="2400" dirty="0"/>
              <a:t>秒、占空比</a:t>
            </a:r>
            <a:r>
              <a:rPr lang="en-US" altLang="zh-CN" sz="2400" dirty="0"/>
              <a:t>1∶1</a:t>
            </a:r>
            <a:r>
              <a:rPr lang="zh-CN" altLang="en-US" sz="2400" dirty="0"/>
              <a:t>的方波，便能使</a:t>
            </a:r>
            <a:r>
              <a:rPr lang="en-US" altLang="zh-CN" sz="2400" dirty="0"/>
              <a:t>LED</a:t>
            </a:r>
            <a:r>
              <a:rPr lang="zh-CN" altLang="en-US" sz="2400" dirty="0"/>
              <a:t>按</a:t>
            </a:r>
            <a:r>
              <a:rPr lang="en-US" altLang="zh-CN" sz="2400" dirty="0"/>
              <a:t>10s</a:t>
            </a:r>
            <a:r>
              <a:rPr lang="zh-CN" altLang="en-US" sz="2400" dirty="0"/>
              <a:t>间隔交替点亮和熄灭。</a:t>
            </a:r>
            <a:endParaRPr lang="en-US" altLang="zh-CN" sz="2400" dirty="0"/>
          </a:p>
          <a:p>
            <a:pPr marL="358775" indent="-358775" algn="just"/>
            <a:r>
              <a:rPr lang="zh-CN" altLang="en-US" sz="2400" dirty="0"/>
              <a:t>若将</a:t>
            </a:r>
            <a:r>
              <a:rPr lang="en-US" altLang="zh-CN" sz="2400" dirty="0"/>
              <a:t>2MHz</a:t>
            </a:r>
            <a:r>
              <a:rPr lang="zh-CN" altLang="en-US" sz="2400" dirty="0"/>
              <a:t>时钟加到</a:t>
            </a:r>
            <a:r>
              <a:rPr lang="en-US" altLang="zh-CN" sz="2400" dirty="0"/>
              <a:t>CLK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端，</a:t>
            </a:r>
            <a:r>
              <a:rPr lang="en-US" altLang="zh-CN" sz="2400" dirty="0"/>
              <a:t>OUT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输出的脉冲周期最大为</a:t>
            </a:r>
            <a:r>
              <a:rPr lang="en-US" altLang="zh-CN" sz="2400" dirty="0"/>
              <a:t>0.5μs×65536=32768μs=32.768ms</a:t>
            </a:r>
            <a:r>
              <a:rPr lang="zh-CN" altLang="en-US" sz="2400" dirty="0"/>
              <a:t>，达不到</a:t>
            </a:r>
            <a:r>
              <a:rPr lang="en-US" altLang="zh-CN" sz="2400" dirty="0"/>
              <a:t>20</a:t>
            </a:r>
            <a:r>
              <a:rPr lang="zh-CN" altLang="en-US" sz="2400" dirty="0"/>
              <a:t>秒。可用几个通道级连的方案来解决。即</a:t>
            </a:r>
            <a:endParaRPr lang="en-US" altLang="zh-CN" sz="2400" dirty="0"/>
          </a:p>
          <a:p>
            <a:pPr algn="just">
              <a:buFont typeface="Wingdings" pitchFamily="2" charset="2"/>
              <a:buChar char="Ø"/>
            </a:pPr>
            <a:r>
              <a:rPr lang="en-US" altLang="zh-CN" sz="2400" dirty="0"/>
              <a:t>CLK</a:t>
            </a:r>
            <a:r>
              <a:rPr lang="en-US" altLang="zh-CN" sz="2400" baseline="-25000" dirty="0"/>
              <a:t>0</a:t>
            </a:r>
            <a:r>
              <a:rPr lang="zh-CN" altLang="en-US" sz="2400" dirty="0"/>
              <a:t>输入</a:t>
            </a:r>
            <a:r>
              <a:rPr lang="en-US" altLang="zh-CN" sz="2400" dirty="0"/>
              <a:t>2MHz</a:t>
            </a:r>
            <a:r>
              <a:rPr lang="zh-CN" altLang="en-US" sz="2400" dirty="0"/>
              <a:t>时钟信号，置通道</a:t>
            </a:r>
            <a:r>
              <a:rPr lang="en-US" altLang="zh-CN" sz="2400" dirty="0"/>
              <a:t>0</a:t>
            </a:r>
            <a:r>
              <a:rPr lang="zh-CN" altLang="en-US" sz="2400" dirty="0"/>
              <a:t>为方式</a:t>
            </a:r>
            <a:r>
              <a:rPr lang="en-US" altLang="zh-CN" sz="2400" dirty="0"/>
              <a:t>2</a:t>
            </a:r>
            <a:r>
              <a:rPr lang="zh-CN" altLang="en-US" sz="2400" dirty="0"/>
              <a:t>。计数初值</a:t>
            </a:r>
            <a:r>
              <a:rPr lang="en-US" altLang="zh-CN" sz="2400" dirty="0"/>
              <a:t>N</a:t>
            </a:r>
            <a:r>
              <a:rPr lang="en-US" altLang="zh-CN" sz="2400" baseline="-25000" dirty="0"/>
              <a:t>0</a:t>
            </a:r>
            <a:r>
              <a:rPr lang="en-US" altLang="zh-CN" sz="2400" dirty="0"/>
              <a:t>=5000</a:t>
            </a:r>
            <a:r>
              <a:rPr lang="zh-CN" altLang="en-US" sz="2400" dirty="0"/>
              <a:t>，从</a:t>
            </a:r>
            <a:r>
              <a:rPr lang="en-US" altLang="zh-CN" sz="2400" dirty="0"/>
              <a:t>OUT</a:t>
            </a:r>
            <a:r>
              <a:rPr lang="en-US" altLang="zh-CN" sz="2400" baseline="-25000" dirty="0"/>
              <a:t>0</a:t>
            </a:r>
            <a:r>
              <a:rPr lang="zh-CN" altLang="en-US" sz="2400" dirty="0"/>
              <a:t>端得到负脉冲序列，其频率为</a:t>
            </a:r>
            <a:r>
              <a:rPr lang="en-US" altLang="zh-CN" sz="2400" dirty="0"/>
              <a:t>2MHz/5000=400Hz</a:t>
            </a:r>
            <a:r>
              <a:rPr lang="zh-CN" altLang="en-US" sz="2400" dirty="0"/>
              <a:t>，周期</a:t>
            </a:r>
            <a:r>
              <a:rPr lang="en-US" altLang="zh-CN" sz="2400" dirty="0"/>
              <a:t>2.5ms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algn="just">
              <a:buFont typeface="Wingdings" pitchFamily="2" charset="2"/>
              <a:buChar char="Ø"/>
            </a:pPr>
            <a:r>
              <a:rPr lang="zh-CN" altLang="en-US" sz="2400" dirty="0"/>
              <a:t>再把它输入</a:t>
            </a:r>
            <a:r>
              <a:rPr lang="en-US" altLang="zh-CN" sz="2400" dirty="0"/>
              <a:t>CLK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，并设通道</a:t>
            </a:r>
            <a:r>
              <a:rPr lang="en-US" altLang="zh-CN" sz="2400" dirty="0"/>
              <a:t>1</a:t>
            </a:r>
            <a:r>
              <a:rPr lang="zh-CN" altLang="en-US" sz="2400" dirty="0"/>
              <a:t>为方式</a:t>
            </a:r>
            <a:r>
              <a:rPr lang="en-US" altLang="zh-CN" sz="2400" dirty="0"/>
              <a:t>3</a:t>
            </a:r>
            <a:r>
              <a:rPr lang="zh-CN" altLang="en-US" sz="2400" dirty="0"/>
              <a:t>。为了使</a:t>
            </a:r>
            <a:r>
              <a:rPr lang="en-US" altLang="zh-CN" sz="2400" dirty="0"/>
              <a:t>OUT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输出周期为</a:t>
            </a:r>
            <a:r>
              <a:rPr lang="en-US" altLang="zh-CN" sz="2400" dirty="0"/>
              <a:t>20</a:t>
            </a:r>
            <a:r>
              <a:rPr lang="zh-CN" altLang="en-US" sz="2400" dirty="0"/>
              <a:t>秒（频率为</a:t>
            </a:r>
            <a:r>
              <a:rPr lang="en-US" altLang="zh-CN" sz="2400" dirty="0"/>
              <a:t>1/20=0.05Hz</a:t>
            </a:r>
            <a:r>
              <a:rPr lang="zh-CN" altLang="en-US" sz="2400" dirty="0"/>
              <a:t>）的方波，应取时间常数</a:t>
            </a:r>
            <a:r>
              <a:rPr lang="en-US" altLang="zh-CN" sz="2400" dirty="0"/>
              <a:t>N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=400Hz/0.05Hz=8000</a:t>
            </a:r>
            <a:r>
              <a:rPr lang="zh-CN" altLang="en-US" sz="24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6668433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51233">
            <a:extLst>
              <a:ext uri="{FF2B5EF4-FFF2-40B4-BE49-F238E27FC236}">
                <a16:creationId xmlns:a16="http://schemas.microsoft.com/office/drawing/2014/main" id="{992D9C49-5763-4026-9C94-D892B44DFF6D}"/>
              </a:ext>
            </a:extLst>
          </p:cNvPr>
          <p:cNvSpPr txBox="1">
            <a:spLocks/>
          </p:cNvSpPr>
          <p:nvPr/>
        </p:nvSpPr>
        <p:spPr>
          <a:xfrm>
            <a:off x="1044575" y="188913"/>
            <a:ext cx="7704138" cy="431800"/>
          </a:xfrm>
          <a:ln/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9.2  </a:t>
            </a:r>
            <a:r>
              <a:rPr lang="en-US" altLang="zh-CN" sz="3200" b="1" dirty="0" err="1">
                <a:solidFill>
                  <a:srgbClr val="FF0000"/>
                </a:solidFill>
                <a:ea typeface="隶书" panose="02010509060101010101" pitchFamily="49" charset="-122"/>
              </a:rPr>
              <a:t>可编程定时</a:t>
            </a:r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/计数器8253及其应用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0E2C69-AF21-4AC8-BD9B-06F30C575438}"/>
              </a:ext>
            </a:extLst>
          </p:cNvPr>
          <p:cNvSpPr txBox="1">
            <a:spLocks/>
          </p:cNvSpPr>
          <p:nvPr/>
        </p:nvSpPr>
        <p:spPr>
          <a:xfrm>
            <a:off x="107505" y="980728"/>
            <a:ext cx="8712968" cy="5556250"/>
          </a:xfrm>
          <a:prstGeom prst="rect">
            <a:avLst/>
          </a:prstGeom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       </a:t>
            </a:r>
            <a:r>
              <a:rPr lang="en-US" sz="2400" dirty="0">
                <a:solidFill>
                  <a:srgbClr val="0000FF"/>
                </a:solidFill>
              </a:rPr>
              <a:t>MOV	AL</a:t>
            </a:r>
            <a:r>
              <a:rPr lang="zh-CN" altLang="en-US" sz="2400" dirty="0">
                <a:solidFill>
                  <a:srgbClr val="0000FF"/>
                </a:solidFill>
              </a:rPr>
              <a:t>，</a:t>
            </a:r>
            <a:r>
              <a:rPr lang="en-US" sz="2400" dirty="0">
                <a:solidFill>
                  <a:srgbClr val="0000FF"/>
                </a:solidFill>
              </a:rPr>
              <a:t>00110101B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；计数器</a:t>
            </a:r>
            <a:r>
              <a:rPr lang="en-US" sz="2400" dirty="0">
                <a:solidFill>
                  <a:srgbClr val="0000FF"/>
                </a:solidFill>
              </a:rPr>
              <a:t>0</a:t>
            </a:r>
            <a:r>
              <a:rPr lang="zh-CN" altLang="en-US" sz="2400" dirty="0">
                <a:solidFill>
                  <a:srgbClr val="0000FF"/>
                </a:solidFill>
              </a:rPr>
              <a:t>控制字，先读写低字节后高字节，方式</a:t>
            </a:r>
            <a:r>
              <a:rPr lang="en-US" sz="2400" dirty="0">
                <a:solidFill>
                  <a:srgbClr val="0000FF"/>
                </a:solidFill>
              </a:rPr>
              <a:t>2</a:t>
            </a:r>
            <a:r>
              <a:rPr lang="zh-CN" altLang="en-US" sz="2400" dirty="0">
                <a:solidFill>
                  <a:srgbClr val="0000FF"/>
                </a:solidFill>
              </a:rPr>
              <a:t>，</a:t>
            </a:r>
            <a:r>
              <a:rPr lang="en-US" sz="2400" dirty="0">
                <a:solidFill>
                  <a:srgbClr val="0000FF"/>
                </a:solidFill>
              </a:rPr>
              <a:t>BCD</a:t>
            </a:r>
            <a:r>
              <a:rPr lang="zh-CN" altLang="en-US" sz="2400" dirty="0">
                <a:solidFill>
                  <a:srgbClr val="0000FF"/>
                </a:solidFill>
              </a:rPr>
              <a:t>计数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       </a:t>
            </a:r>
            <a:r>
              <a:rPr lang="en-US" sz="2400" dirty="0">
                <a:solidFill>
                  <a:srgbClr val="0000FF"/>
                </a:solidFill>
              </a:rPr>
              <a:t>OUT</a:t>
            </a:r>
            <a:r>
              <a:rPr lang="zh-CN" altLang="en-US" sz="2400" dirty="0">
                <a:solidFill>
                  <a:srgbClr val="0000FF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</a:rPr>
              <a:t>	87H</a:t>
            </a:r>
            <a:r>
              <a:rPr lang="zh-CN" altLang="en-US" sz="2400" dirty="0">
                <a:solidFill>
                  <a:srgbClr val="0000FF"/>
                </a:solidFill>
              </a:rPr>
              <a:t>，</a:t>
            </a:r>
            <a:r>
              <a:rPr lang="en-US" sz="2400" dirty="0">
                <a:solidFill>
                  <a:srgbClr val="0000FF"/>
                </a:solidFill>
              </a:rPr>
              <a:t>AL</a:t>
            </a:r>
            <a:endParaRPr lang="zh-CN" altLang="en-US" sz="2400" dirty="0">
              <a:solidFill>
                <a:srgbClr val="0000FF"/>
              </a:solidFill>
            </a:endParaRPr>
          </a:p>
          <a:p>
            <a:pPr>
              <a:spcBef>
                <a:spcPts val="0"/>
              </a:spcBef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       </a:t>
            </a:r>
            <a:r>
              <a:rPr lang="en-US" sz="2400" dirty="0">
                <a:solidFill>
                  <a:srgbClr val="0000FF"/>
                </a:solidFill>
              </a:rPr>
              <a:t>MOV	AL</a:t>
            </a:r>
            <a:r>
              <a:rPr lang="zh-CN" altLang="en-US" sz="2400" dirty="0">
                <a:solidFill>
                  <a:srgbClr val="0000FF"/>
                </a:solidFill>
              </a:rPr>
              <a:t>，</a:t>
            </a:r>
            <a:r>
              <a:rPr lang="en-US" sz="2400" dirty="0">
                <a:solidFill>
                  <a:srgbClr val="0000FF"/>
                </a:solidFill>
              </a:rPr>
              <a:t>00H		</a:t>
            </a:r>
            <a:r>
              <a:rPr lang="zh-CN" altLang="en-US" sz="2400" dirty="0">
                <a:solidFill>
                  <a:srgbClr val="0000FF"/>
                </a:solidFill>
              </a:rPr>
              <a:t>；计数初值低字节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       </a:t>
            </a:r>
            <a:r>
              <a:rPr lang="en-US" sz="2400" dirty="0">
                <a:solidFill>
                  <a:srgbClr val="0000FF"/>
                </a:solidFill>
              </a:rPr>
              <a:t>OUT	</a:t>
            </a:r>
            <a:r>
              <a:rPr lang="zh-CN" altLang="en-US" sz="2400" dirty="0">
                <a:solidFill>
                  <a:srgbClr val="0000FF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</a:rPr>
              <a:t>81H</a:t>
            </a:r>
            <a:r>
              <a:rPr lang="zh-CN" altLang="en-US" sz="2400" dirty="0">
                <a:solidFill>
                  <a:srgbClr val="0000FF"/>
                </a:solidFill>
              </a:rPr>
              <a:t>，</a:t>
            </a:r>
            <a:r>
              <a:rPr lang="en-US" sz="2400" dirty="0">
                <a:solidFill>
                  <a:srgbClr val="0000FF"/>
                </a:solidFill>
              </a:rPr>
              <a:t>AL</a:t>
            </a:r>
            <a:endParaRPr lang="zh-CN" altLang="en-US" sz="2400" dirty="0">
              <a:solidFill>
                <a:srgbClr val="0000FF"/>
              </a:solidFill>
            </a:endParaRPr>
          </a:p>
          <a:p>
            <a:pPr>
              <a:spcBef>
                <a:spcPts val="0"/>
              </a:spcBef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       </a:t>
            </a:r>
            <a:r>
              <a:rPr lang="en-US" sz="2400" dirty="0">
                <a:solidFill>
                  <a:srgbClr val="0000FF"/>
                </a:solidFill>
              </a:rPr>
              <a:t>MOV	AL</a:t>
            </a:r>
            <a:r>
              <a:rPr lang="zh-CN" altLang="en-US" sz="2400" dirty="0">
                <a:solidFill>
                  <a:srgbClr val="0000FF"/>
                </a:solidFill>
              </a:rPr>
              <a:t>，</a:t>
            </a:r>
            <a:r>
              <a:rPr lang="en-US" sz="2400" dirty="0">
                <a:solidFill>
                  <a:srgbClr val="0000FF"/>
                </a:solidFill>
              </a:rPr>
              <a:t>50H		</a:t>
            </a:r>
            <a:r>
              <a:rPr lang="zh-CN" altLang="en-US" sz="2400" dirty="0">
                <a:solidFill>
                  <a:srgbClr val="0000FF"/>
                </a:solidFill>
              </a:rPr>
              <a:t>；计数初值高字节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       </a:t>
            </a:r>
            <a:r>
              <a:rPr lang="en-US" sz="2400" dirty="0">
                <a:solidFill>
                  <a:srgbClr val="0000FF"/>
                </a:solidFill>
              </a:rPr>
              <a:t>OUT</a:t>
            </a:r>
            <a:r>
              <a:rPr lang="zh-CN" altLang="en-US" sz="2400" dirty="0">
                <a:solidFill>
                  <a:srgbClr val="0000FF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</a:rPr>
              <a:t>	81H</a:t>
            </a:r>
            <a:r>
              <a:rPr lang="zh-CN" altLang="en-US" sz="2400" dirty="0">
                <a:solidFill>
                  <a:srgbClr val="0000FF"/>
                </a:solidFill>
              </a:rPr>
              <a:t>，</a:t>
            </a:r>
            <a:r>
              <a:rPr lang="en-US" sz="2400" dirty="0">
                <a:solidFill>
                  <a:srgbClr val="0000FF"/>
                </a:solidFill>
              </a:rPr>
              <a:t>AL</a:t>
            </a:r>
            <a:endParaRPr lang="zh-CN" altLang="en-US" sz="2400" dirty="0">
              <a:solidFill>
                <a:srgbClr val="0000FF"/>
              </a:solidFill>
            </a:endParaRPr>
          </a:p>
          <a:p>
            <a:pPr>
              <a:spcBef>
                <a:spcPts val="0"/>
              </a:spcBef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       </a:t>
            </a:r>
            <a:r>
              <a:rPr lang="en-US" sz="2400" dirty="0">
                <a:solidFill>
                  <a:srgbClr val="0000FF"/>
                </a:solidFill>
              </a:rPr>
              <a:t>MOV	AL</a:t>
            </a:r>
            <a:r>
              <a:rPr lang="zh-CN" altLang="en-US" sz="2400" dirty="0">
                <a:solidFill>
                  <a:srgbClr val="0000FF"/>
                </a:solidFill>
              </a:rPr>
              <a:t>，</a:t>
            </a:r>
            <a:r>
              <a:rPr lang="en-US" sz="2400" dirty="0">
                <a:solidFill>
                  <a:srgbClr val="0000FF"/>
                </a:solidFill>
              </a:rPr>
              <a:t>01110111B		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；计时器</a:t>
            </a:r>
            <a:r>
              <a:rPr lang="en-US" sz="2400" dirty="0">
                <a:solidFill>
                  <a:srgbClr val="0000FF"/>
                </a:solidFill>
              </a:rPr>
              <a:t>1</a:t>
            </a:r>
            <a:r>
              <a:rPr lang="zh-CN" altLang="en-US" sz="2400" dirty="0">
                <a:solidFill>
                  <a:srgbClr val="0000FF"/>
                </a:solidFill>
              </a:rPr>
              <a:t>控制字，先读写低字节后高字节，方式</a:t>
            </a:r>
            <a:r>
              <a:rPr lang="en-US" sz="2400" dirty="0">
                <a:solidFill>
                  <a:srgbClr val="0000FF"/>
                </a:solidFill>
              </a:rPr>
              <a:t>3</a:t>
            </a:r>
            <a:r>
              <a:rPr lang="zh-CN" altLang="en-US" sz="2400" dirty="0">
                <a:solidFill>
                  <a:srgbClr val="0000FF"/>
                </a:solidFill>
              </a:rPr>
              <a:t>，</a:t>
            </a:r>
            <a:r>
              <a:rPr lang="en-US" sz="2400" dirty="0">
                <a:solidFill>
                  <a:srgbClr val="0000FF"/>
                </a:solidFill>
              </a:rPr>
              <a:t>BCD</a:t>
            </a:r>
            <a:r>
              <a:rPr lang="zh-CN" altLang="en-US" sz="2400" dirty="0">
                <a:solidFill>
                  <a:srgbClr val="0000FF"/>
                </a:solidFill>
              </a:rPr>
              <a:t>计数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       </a:t>
            </a:r>
            <a:r>
              <a:rPr lang="en-US" sz="2400" dirty="0">
                <a:solidFill>
                  <a:srgbClr val="0000FF"/>
                </a:solidFill>
              </a:rPr>
              <a:t>OUT	87H</a:t>
            </a:r>
            <a:r>
              <a:rPr lang="zh-CN" altLang="en-US" sz="2400" dirty="0">
                <a:solidFill>
                  <a:srgbClr val="0000FF"/>
                </a:solidFill>
              </a:rPr>
              <a:t>，</a:t>
            </a:r>
            <a:r>
              <a:rPr lang="en-US" sz="2400" dirty="0">
                <a:solidFill>
                  <a:srgbClr val="0000FF"/>
                </a:solidFill>
              </a:rPr>
              <a:t>AL</a:t>
            </a:r>
            <a:endParaRPr lang="zh-CN" altLang="en-US" sz="2400" dirty="0">
              <a:solidFill>
                <a:srgbClr val="0000FF"/>
              </a:solidFill>
            </a:endParaRPr>
          </a:p>
          <a:p>
            <a:pPr>
              <a:spcBef>
                <a:spcPts val="0"/>
              </a:spcBef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       </a:t>
            </a:r>
            <a:r>
              <a:rPr lang="en-US" sz="2400" dirty="0">
                <a:solidFill>
                  <a:srgbClr val="0000FF"/>
                </a:solidFill>
              </a:rPr>
              <a:t>MOV	AL</a:t>
            </a:r>
            <a:r>
              <a:rPr lang="zh-CN" altLang="en-US" sz="2400" dirty="0">
                <a:solidFill>
                  <a:srgbClr val="0000FF"/>
                </a:solidFill>
              </a:rPr>
              <a:t>，</a:t>
            </a:r>
            <a:r>
              <a:rPr lang="en-US" sz="2400" dirty="0">
                <a:solidFill>
                  <a:srgbClr val="0000FF"/>
                </a:solidFill>
              </a:rPr>
              <a:t>00H		</a:t>
            </a:r>
            <a:r>
              <a:rPr lang="zh-CN" altLang="en-US" sz="2400" dirty="0">
                <a:solidFill>
                  <a:srgbClr val="0000FF"/>
                </a:solidFill>
              </a:rPr>
              <a:t>；计数初值低字节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       </a:t>
            </a:r>
            <a:r>
              <a:rPr lang="en-US" sz="2400" dirty="0">
                <a:solidFill>
                  <a:srgbClr val="0000FF"/>
                </a:solidFill>
              </a:rPr>
              <a:t>OUT	83H</a:t>
            </a:r>
            <a:r>
              <a:rPr lang="zh-CN" altLang="en-US" sz="2400" dirty="0">
                <a:solidFill>
                  <a:srgbClr val="0000FF"/>
                </a:solidFill>
              </a:rPr>
              <a:t>，</a:t>
            </a:r>
            <a:r>
              <a:rPr lang="en-US" sz="2400" dirty="0">
                <a:solidFill>
                  <a:srgbClr val="0000FF"/>
                </a:solidFill>
              </a:rPr>
              <a:t>AL</a:t>
            </a:r>
            <a:endParaRPr lang="zh-CN" altLang="en-US" sz="2400" dirty="0">
              <a:solidFill>
                <a:srgbClr val="0000FF"/>
              </a:solidFill>
            </a:endParaRPr>
          </a:p>
          <a:p>
            <a:pPr>
              <a:spcBef>
                <a:spcPts val="0"/>
              </a:spcBef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       </a:t>
            </a:r>
            <a:r>
              <a:rPr lang="en-US" sz="2400" dirty="0">
                <a:solidFill>
                  <a:srgbClr val="0000FF"/>
                </a:solidFill>
              </a:rPr>
              <a:t>MOV	AL</a:t>
            </a:r>
            <a:r>
              <a:rPr lang="zh-CN" altLang="en-US" sz="2400" dirty="0">
                <a:solidFill>
                  <a:srgbClr val="0000FF"/>
                </a:solidFill>
              </a:rPr>
              <a:t>，</a:t>
            </a:r>
            <a:r>
              <a:rPr lang="en-US" sz="2400" dirty="0">
                <a:solidFill>
                  <a:srgbClr val="0000FF"/>
                </a:solidFill>
              </a:rPr>
              <a:t>80H		</a:t>
            </a:r>
            <a:r>
              <a:rPr lang="zh-CN" altLang="en-US" sz="2400" dirty="0">
                <a:solidFill>
                  <a:srgbClr val="0000FF"/>
                </a:solidFill>
              </a:rPr>
              <a:t>；计数初值高字节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       </a:t>
            </a:r>
            <a:r>
              <a:rPr lang="en-US" sz="2400" dirty="0">
                <a:solidFill>
                  <a:srgbClr val="0000FF"/>
                </a:solidFill>
              </a:rPr>
              <a:t>OUT	83H</a:t>
            </a:r>
            <a:r>
              <a:rPr lang="zh-CN" altLang="en-US" sz="2400" dirty="0">
                <a:solidFill>
                  <a:srgbClr val="0000FF"/>
                </a:solidFill>
              </a:rPr>
              <a:t>，</a:t>
            </a:r>
            <a:r>
              <a:rPr lang="en-US" sz="2400" dirty="0">
                <a:solidFill>
                  <a:srgbClr val="0000FF"/>
                </a:solidFill>
              </a:rPr>
              <a:t>AL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1345930"/>
      </p:ext>
    </p:extLst>
  </p:cSld>
  <p:clrMapOvr>
    <a:masterClrMapping/>
  </p:clrMapOvr>
</p:sld>
</file>

<file path=ppt/theme/theme1.xml><?xml version="1.0" encoding="utf-8"?>
<a:theme xmlns:a="http://schemas.openxmlformats.org/drawingml/2006/main" name="接口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99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89"/>
      </a:accent6>
      <a:hlink>
        <a:srgbClr val="FF6600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FF66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00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E2AA"/>
        </a:accent5>
        <a:accent6>
          <a:srgbClr val="2D2D89"/>
        </a:accent6>
        <a:hlink>
          <a:srgbClr val="FF66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89"/>
        </a:accent6>
        <a:hlink>
          <a:srgbClr val="FF66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接口</Template>
  <TotalTime>1479</TotalTime>
  <Words>7232</Words>
  <Application>Microsoft Office PowerPoint</Application>
  <PresentationFormat>全屏显示(4:3)</PresentationFormat>
  <Paragraphs>543</Paragraphs>
  <Slides>70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70</vt:i4>
      </vt:variant>
    </vt:vector>
  </HeadingPairs>
  <TitlesOfParts>
    <vt:vector size="78" baseType="lpstr">
      <vt:lpstr>宋体</vt:lpstr>
      <vt:lpstr>Arial</vt:lpstr>
      <vt:lpstr>Tahoma</vt:lpstr>
      <vt:lpstr>Times New Roman</vt:lpstr>
      <vt:lpstr>Wingdings</vt:lpstr>
      <vt:lpstr>接口</vt:lpstr>
      <vt:lpstr>Visio</vt:lpstr>
      <vt:lpstr>公式</vt:lpstr>
      <vt:lpstr>PowerPoint 演示文稿</vt:lpstr>
      <vt:lpstr>9.1  并行接口与可编程并行接口芯片8255A及其应用</vt:lpstr>
      <vt:lpstr>9.1  并行接口与可编程并行接口芯片8255A及其应用</vt:lpstr>
      <vt:lpstr>9.1  并行接口与可编程并行接口芯片8255A及其应用</vt:lpstr>
      <vt:lpstr>9.1  并行接口与可编程并行接口芯片8255A及其应用</vt:lpstr>
      <vt:lpstr>9.1  并行接口与可编程并行接口芯片8255A及其应用</vt:lpstr>
      <vt:lpstr>9.1  并行接口与可编程并行接口芯片8255A及其应用</vt:lpstr>
      <vt:lpstr>9.1  并行接口与可编程并行接口芯片8255A及其应用</vt:lpstr>
      <vt:lpstr>9.1  并行接口与可编程并行接口芯片8255A及其应用</vt:lpstr>
      <vt:lpstr>9.1  并行接口与可编程并行接口芯片8255A及其应用</vt:lpstr>
      <vt:lpstr>PowerPoint 演示文稿</vt:lpstr>
      <vt:lpstr>PowerPoint 演示文稿</vt:lpstr>
      <vt:lpstr>PowerPoint 演示文稿</vt:lpstr>
      <vt:lpstr>9.1  并行接口与可编程并行接口芯片8255A及其应用</vt:lpstr>
      <vt:lpstr>9.1  并行接口与可编程并行接口芯片8255A及其应用</vt:lpstr>
      <vt:lpstr>9.1  并行接口与可编程并行接口芯片8255A及其应用</vt:lpstr>
      <vt:lpstr>9.1  并行接口与可编程并行接口芯片8255A及其应用</vt:lpstr>
      <vt:lpstr>9.1  并行接口与可编程并行接口芯片8255A及其应用</vt:lpstr>
      <vt:lpstr>9.1  并行接口与可编程并行接口芯片8255A及其应用</vt:lpstr>
      <vt:lpstr>9.1  并行接口与可编程并行接口芯片8255A及其应用</vt:lpstr>
      <vt:lpstr>9.1  并行接口与可编程并行接口芯片8255A及其应用</vt:lpstr>
      <vt:lpstr>9.1  并行接口与可编程并行接口芯片8255A及其应用</vt:lpstr>
      <vt:lpstr>9.1  并行接口与可编程并行接口芯片8255A及其应用</vt:lpstr>
      <vt:lpstr>9.1  并行接口与可编程并行接口芯片8255A及其应用</vt:lpstr>
      <vt:lpstr>9.1  并行接口与可编程并行接口芯片8255A及其应用</vt:lpstr>
      <vt:lpstr>9.1  并行接口与可编程并行接口芯片8255A及其应用</vt:lpstr>
      <vt:lpstr>9.1  并行接口与可编程并行接口芯片8255A及其应用</vt:lpstr>
      <vt:lpstr>9.1  并行接口与可编程并行接口芯片8255A及其应用</vt:lpstr>
      <vt:lpstr>9.1  并行接口与可编程并行接口芯片8255A及其应用</vt:lpstr>
      <vt:lpstr>9.1  并行接口与可编程并行接口芯片8255A及其应用</vt:lpstr>
      <vt:lpstr>PowerPoint 演示文稿</vt:lpstr>
      <vt:lpstr>PowerPoint 演示文稿</vt:lpstr>
      <vt:lpstr>PowerPoint 演示文稿</vt:lpstr>
      <vt:lpstr>9.2  可编程定时/计数器8253及其应用</vt:lpstr>
      <vt:lpstr>9.2  可编程定时/计数器8253及其应用</vt:lpstr>
      <vt:lpstr>9.2  可编程定时/计数器8253及其应用</vt:lpstr>
      <vt:lpstr>9.2  可编程定时/计数器8253及其应用</vt:lpstr>
      <vt:lpstr>9.2  可编程定时/计数器8253及其应用</vt:lpstr>
      <vt:lpstr>9.2  可编程定时/计数器8253及其应用</vt:lpstr>
      <vt:lpstr>9.2  可编程定时/计数器8253及其应用</vt:lpstr>
      <vt:lpstr>9.2  可编程定时/计数器8253及其应用</vt:lpstr>
      <vt:lpstr>9.2  可编程定时/计数器8253及其应用</vt:lpstr>
      <vt:lpstr>PowerPoint 演示文稿</vt:lpstr>
      <vt:lpstr>9.2  可编程定时/计数器8253及其应用</vt:lpstr>
      <vt:lpstr>9.2  可编程定时/计数器8253及其应用</vt:lpstr>
      <vt:lpstr>9.2  可编程定时/计数器8253及其应用</vt:lpstr>
      <vt:lpstr>9.2  可编程定时/计数器8253及其应用</vt:lpstr>
      <vt:lpstr>9.2  可编程定时/计数器8253及其应用</vt:lpstr>
      <vt:lpstr>9.2  可编程定时/计数器8253及其应用</vt:lpstr>
      <vt:lpstr>9.2  可编程定时/计数器8253及其应用</vt:lpstr>
      <vt:lpstr>9.2  可编程定时/计数器8253及其应用</vt:lpstr>
      <vt:lpstr>9.2  可编程定时/计数器8253及其应用</vt:lpstr>
      <vt:lpstr>9.2  可编程定时/计数器8253及其应用</vt:lpstr>
      <vt:lpstr>9.2  可编程定时/计数器8253及其应用</vt:lpstr>
      <vt:lpstr>9.2  可编程定时/计数器8253及其应用</vt:lpstr>
      <vt:lpstr>9.2  可编程定时/计数器8253及其应用</vt:lpstr>
      <vt:lpstr>9.2  可编程定时/计数器8253及其应用</vt:lpstr>
      <vt:lpstr>9.2  可编程定时/计数器8253及其应用</vt:lpstr>
      <vt:lpstr>9.2  可编程定时/计数器8253及其应用</vt:lpstr>
      <vt:lpstr>9.2  可编程定时/计数器8253及其应用</vt:lpstr>
      <vt:lpstr>9.2  可编程定时/计数器8253及其应用</vt:lpstr>
      <vt:lpstr>9.2  可编程定时/计数器8253及其应用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谈娴茹</dc:creator>
  <cp:lastModifiedBy>Joy Liu</cp:lastModifiedBy>
  <cp:revision>894</cp:revision>
  <dcterms:created xsi:type="dcterms:W3CDTF">2017-03-15T08:49:20Z</dcterms:created>
  <dcterms:modified xsi:type="dcterms:W3CDTF">2025-04-26T03:31:58Z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2052-10.1.0.6206</vt:lpwstr>
  </property>
</Properties>
</file>