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9"/>
  </p:notesMasterIdLst>
  <p:sldIdLst>
    <p:sldId id="418" r:id="rId2"/>
    <p:sldId id="368" r:id="rId3"/>
    <p:sldId id="460" r:id="rId4"/>
    <p:sldId id="461" r:id="rId5"/>
    <p:sldId id="609" r:id="rId6"/>
    <p:sldId id="610" r:id="rId7"/>
    <p:sldId id="613" r:id="rId8"/>
    <p:sldId id="684" r:id="rId9"/>
    <p:sldId id="464" r:id="rId10"/>
    <p:sldId id="465" r:id="rId11"/>
    <p:sldId id="540" r:id="rId12"/>
    <p:sldId id="466" r:id="rId13"/>
    <p:sldId id="467" r:id="rId14"/>
    <p:sldId id="468" r:id="rId15"/>
    <p:sldId id="469" r:id="rId16"/>
    <p:sldId id="470" r:id="rId17"/>
    <p:sldId id="474" r:id="rId18"/>
    <p:sldId id="541" r:id="rId19"/>
    <p:sldId id="475" r:id="rId20"/>
    <p:sldId id="476" r:id="rId21"/>
    <p:sldId id="477" r:id="rId22"/>
    <p:sldId id="478" r:id="rId23"/>
    <p:sldId id="479" r:id="rId24"/>
    <p:sldId id="480" r:id="rId25"/>
    <p:sldId id="481" r:id="rId26"/>
    <p:sldId id="482" r:id="rId27"/>
    <p:sldId id="483" r:id="rId28"/>
    <p:sldId id="484" r:id="rId29"/>
    <p:sldId id="487" r:id="rId30"/>
    <p:sldId id="488" r:id="rId31"/>
    <p:sldId id="489" r:id="rId32"/>
    <p:sldId id="490" r:id="rId33"/>
    <p:sldId id="491" r:id="rId34"/>
    <p:sldId id="492" r:id="rId35"/>
    <p:sldId id="493" r:id="rId36"/>
    <p:sldId id="494" r:id="rId37"/>
    <p:sldId id="495" r:id="rId38"/>
    <p:sldId id="496" r:id="rId39"/>
    <p:sldId id="497" r:id="rId40"/>
    <p:sldId id="499" r:id="rId41"/>
    <p:sldId id="501" r:id="rId42"/>
    <p:sldId id="502" r:id="rId43"/>
    <p:sldId id="503" r:id="rId44"/>
    <p:sldId id="504" r:id="rId45"/>
    <p:sldId id="505" r:id="rId46"/>
    <p:sldId id="507" r:id="rId47"/>
    <p:sldId id="506" r:id="rId48"/>
    <p:sldId id="508" r:id="rId49"/>
    <p:sldId id="509" r:id="rId50"/>
    <p:sldId id="510" r:id="rId51"/>
    <p:sldId id="511" r:id="rId52"/>
    <p:sldId id="512" r:id="rId53"/>
    <p:sldId id="513" r:id="rId54"/>
    <p:sldId id="514" r:id="rId55"/>
    <p:sldId id="515" r:id="rId56"/>
    <p:sldId id="516" r:id="rId57"/>
    <p:sldId id="517" r:id="rId58"/>
    <p:sldId id="518" r:id="rId59"/>
    <p:sldId id="519" r:id="rId60"/>
    <p:sldId id="520" r:id="rId61"/>
    <p:sldId id="521" r:id="rId62"/>
    <p:sldId id="522" r:id="rId63"/>
    <p:sldId id="523" r:id="rId64"/>
    <p:sldId id="524" r:id="rId65"/>
    <p:sldId id="525" r:id="rId66"/>
    <p:sldId id="527" r:id="rId67"/>
    <p:sldId id="528" r:id="rId68"/>
    <p:sldId id="685" r:id="rId69"/>
    <p:sldId id="686" r:id="rId70"/>
    <p:sldId id="687" r:id="rId71"/>
    <p:sldId id="688" r:id="rId72"/>
    <p:sldId id="690" r:id="rId73"/>
    <p:sldId id="689" r:id="rId74"/>
    <p:sldId id="691" r:id="rId75"/>
    <p:sldId id="692" r:id="rId76"/>
    <p:sldId id="530" r:id="rId77"/>
    <p:sldId id="531" r:id="rId78"/>
    <p:sldId id="693" r:id="rId79"/>
    <p:sldId id="532" r:id="rId80"/>
    <p:sldId id="694" r:id="rId81"/>
    <p:sldId id="533" r:id="rId82"/>
    <p:sldId id="695" r:id="rId83"/>
    <p:sldId id="534" r:id="rId84"/>
    <p:sldId id="535" r:id="rId85"/>
    <p:sldId id="536" r:id="rId86"/>
    <p:sldId id="537" r:id="rId87"/>
    <p:sldId id="539" r:id="rId88"/>
  </p:sldIdLst>
  <p:sldSz cx="9144000" cy="6858000" type="screen4x3"/>
  <p:notesSz cx="6858000" cy="9144000"/>
  <p:defaultTextStyle>
    <a:defPPr>
      <a:defRPr lang="en-US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9pPr>
  </p:defaultTextStyle>
  <p:extLst>
    <p:ext uri="{EFAFB233-063F-42B5-8137-9DF3F51BA10A}">
      <p15:sldGuideLst xmlns:p15="http://schemas.microsoft.com/office/powerpoint/2012/main">
        <p15:guide id="1" orient="horz" pos="2151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0000FF"/>
    <a:srgbClr val="FF00FF"/>
    <a:srgbClr val="FFFFCC"/>
    <a:srgbClr val="CC0066"/>
    <a:srgbClr val="990099"/>
    <a:srgbClr val="CC0099"/>
    <a:srgbClr val="FF3399"/>
    <a:srgbClr val="FF66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82"/>
    <p:restoredTop sz="94603"/>
  </p:normalViewPr>
  <p:slideViewPr>
    <p:cSldViewPr showGuides="1">
      <p:cViewPr varScale="1">
        <p:scale>
          <a:sx n="80" d="100"/>
          <a:sy n="80" d="100"/>
        </p:scale>
        <p:origin x="1555" y="43"/>
      </p:cViewPr>
      <p:guideLst>
        <p:guide orient="horz" pos="2151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43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页眉占位符 22529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en-US" sz="1200" dirty="0">
              <a:latin typeface="Tahoma" panose="020B0604030504040204" pitchFamily="34" charset="0"/>
            </a:endParaRPr>
          </a:p>
        </p:txBody>
      </p:sp>
      <p:sp>
        <p:nvSpPr>
          <p:cNvPr id="22531" name="日期占位符 22530"/>
          <p:cNvSpPr>
            <a:spLocks noGrp="1"/>
          </p:cNvSpPr>
          <p:nvPr>
            <p:ph type="dt" idx="1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/>
            <a:endParaRPr lang="zh-CN" altLang="en-US" sz="1200" dirty="0">
              <a:latin typeface="Tahoma" panose="020B0604030504040204" pitchFamily="34" charset="0"/>
            </a:endParaRPr>
          </a:p>
        </p:txBody>
      </p:sp>
      <p:sp>
        <p:nvSpPr>
          <p:cNvPr id="22532" name="幻灯片图像占位符 22531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2533" name="文本占位符 22532"/>
          <p:cNvSpPr>
            <a:spLocks noGrp="1"/>
          </p:cNvSpPr>
          <p:nvPr>
            <p:ph type="body" sz="quarter" idx="3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2534" name="页脚占位符 22533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/>
            <a:endParaRPr lang="zh-CN" altLang="en-US" sz="1200" dirty="0">
              <a:latin typeface="Tahoma" panose="020B0604030504040204" pitchFamily="34" charset="0"/>
            </a:endParaRPr>
          </a:p>
        </p:txBody>
      </p:sp>
      <p:sp>
        <p:nvSpPr>
          <p:cNvPr id="22535" name="灯片编号占位符 22534"/>
          <p:cNvSpPr>
            <a:spLocks noGrp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Tahoma" panose="020B0604030504040204" pitchFamily="34" charset="0"/>
              </a:rPr>
              <a:t>‹#›</a:t>
            </a:fld>
            <a:endParaRPr lang="zh-CN" altLang="en-US" sz="1200" dirty="0">
              <a:latin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lvl="0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幻灯片图像占位符 342017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42019" name="文本占位符 34201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sz="1200" dirty="0">
                <a:latin typeface="Tahoma" panose="020B0604030504040204" pitchFamily="34" charset="0"/>
              </a:rPr>
              <a:t>66</a:t>
            </a:fld>
            <a:endParaRPr lang="zh-CN" altLang="en-US" sz="1200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幻灯片图像占位符 344065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44067" name="文本占位符 34406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sz="1200" dirty="0">
                <a:latin typeface="Tahoma" panose="020B0604030504040204" pitchFamily="34" charset="0"/>
              </a:rPr>
              <a:t>67</a:t>
            </a:fld>
            <a:endParaRPr lang="zh-CN" altLang="en-US" sz="1200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幻灯片图像占位符 344065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44067" name="文本占位符 34406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sz="1200" dirty="0">
                <a:latin typeface="Tahoma" panose="020B0604030504040204" pitchFamily="34" charset="0"/>
              </a:rPr>
              <a:t>68</a:t>
            </a:fld>
            <a:endParaRPr lang="zh-CN" altLang="en-US" sz="1200" dirty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03388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幻灯片图像占位符 344065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44067" name="文本占位符 34406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sz="1200" dirty="0">
                <a:latin typeface="Tahoma" panose="020B0604030504040204" pitchFamily="34" charset="0"/>
              </a:rPr>
              <a:t>69</a:t>
            </a:fld>
            <a:endParaRPr lang="zh-CN" altLang="en-US" sz="1200" dirty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68082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幻灯片图像占位符 344065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44067" name="文本占位符 34406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sz="1200" dirty="0">
                <a:latin typeface="Tahoma" panose="020B0604030504040204" pitchFamily="34" charset="0"/>
              </a:rPr>
              <a:t>70</a:t>
            </a:fld>
            <a:endParaRPr lang="zh-CN" altLang="en-US" sz="1200" dirty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47148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幻灯片图像占位符 344065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44067" name="文本占位符 34406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sz="1200" dirty="0">
                <a:latin typeface="Tahoma" panose="020B0604030504040204" pitchFamily="34" charset="0"/>
              </a:rPr>
              <a:t>71</a:t>
            </a:fld>
            <a:endParaRPr lang="zh-CN" altLang="en-US" sz="1200" dirty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17860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幻灯片图像占位符 344065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44067" name="文本占位符 34406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sz="1200" dirty="0">
                <a:latin typeface="Tahoma" panose="020B0604030504040204" pitchFamily="34" charset="0"/>
              </a:rPr>
              <a:t>72</a:t>
            </a:fld>
            <a:endParaRPr lang="zh-CN" altLang="en-US" sz="1200" dirty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88347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幻灯片图像占位符 344065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44067" name="文本占位符 34406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sz="1200" dirty="0">
                <a:latin typeface="Tahoma" panose="020B0604030504040204" pitchFamily="34" charset="0"/>
              </a:rPr>
              <a:t>73</a:t>
            </a:fld>
            <a:endParaRPr lang="zh-CN" altLang="en-US" sz="1200" dirty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01028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幻灯片图像占位符 344065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44067" name="文本占位符 34406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sz="1200" dirty="0">
                <a:latin typeface="Tahoma" panose="020B0604030504040204" pitchFamily="34" charset="0"/>
              </a:rPr>
              <a:t>74</a:t>
            </a:fld>
            <a:endParaRPr lang="zh-CN" altLang="en-US" sz="1200" dirty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89983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幻灯片图像占位符 344065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44067" name="文本占位符 34406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sz="1200" dirty="0">
                <a:latin typeface="Tahoma" panose="020B0604030504040204" pitchFamily="34" charset="0"/>
              </a:rPr>
              <a:t>75</a:t>
            </a:fld>
            <a:endParaRPr lang="zh-CN" altLang="en-US" sz="1200" dirty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10043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62" name="幻灯片图像占位符 34816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48163" name="文本占位符 34816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sz="1200" dirty="0">
                <a:latin typeface="Tahoma" panose="020B0604030504040204" pitchFamily="34" charset="0"/>
              </a:rPr>
              <a:t>76</a:t>
            </a:fld>
            <a:endParaRPr lang="zh-CN" altLang="en-US" sz="1200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10" name="幻灯片图像占位符 350209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50211" name="文本占位符 35021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sz="1200" dirty="0">
                <a:latin typeface="Tahoma" panose="020B0604030504040204" pitchFamily="34" charset="0"/>
              </a:rPr>
              <a:t>77</a:t>
            </a:fld>
            <a:endParaRPr lang="zh-CN" altLang="en-US" sz="1200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10" name="幻灯片图像占位符 350209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50211" name="文本占位符 35021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sz="1200" dirty="0">
                <a:latin typeface="Tahoma" panose="020B0604030504040204" pitchFamily="34" charset="0"/>
              </a:rPr>
              <a:t>78</a:t>
            </a:fld>
            <a:endParaRPr lang="zh-CN" altLang="en-US" sz="1200" dirty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38268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258" name="幻灯片图像占位符 352257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52259" name="文本占位符 35225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sz="1200" dirty="0">
                <a:latin typeface="Tahoma" panose="020B0604030504040204" pitchFamily="34" charset="0"/>
              </a:rPr>
              <a:t>79</a:t>
            </a:fld>
            <a:endParaRPr lang="zh-CN" altLang="en-US" sz="1200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06" name="幻灯片图像占位符 354305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54307" name="文本占位符 35430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sz="1200" dirty="0">
                <a:latin typeface="Tahoma" panose="020B0604030504040204" pitchFamily="34" charset="0"/>
              </a:rPr>
              <a:t>81</a:t>
            </a:fld>
            <a:endParaRPr lang="zh-CN" altLang="en-US" sz="1200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4" name="幻灯片图像占位符 356353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56355" name="文本占位符 35635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sz="1200" dirty="0">
                <a:latin typeface="Tahoma" panose="020B0604030504040204" pitchFamily="34" charset="0"/>
              </a:rPr>
              <a:t>83</a:t>
            </a:fld>
            <a:endParaRPr lang="zh-CN" altLang="en-US" sz="1200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2" name="幻灯片图像占位符 35840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58403" name="文本占位符 35840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sz="1200" dirty="0">
                <a:latin typeface="Tahoma" panose="020B0604030504040204" pitchFamily="34" charset="0"/>
              </a:rPr>
              <a:t>84</a:t>
            </a:fld>
            <a:endParaRPr lang="zh-CN" altLang="en-US" sz="1200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50" name="幻灯片图像占位符 360449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60451" name="文本占位符 36045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sz="1200" dirty="0">
                <a:latin typeface="Tahoma" panose="020B0604030504040204" pitchFamily="34" charset="0"/>
              </a:rPr>
              <a:t>85</a:t>
            </a:fld>
            <a:endParaRPr lang="zh-CN" altLang="en-US" sz="1200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幻灯片图像占位符 362497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62499" name="文本占位符 36249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sz="1200" dirty="0">
                <a:latin typeface="Tahoma" panose="020B0604030504040204" pitchFamily="34" charset="0"/>
              </a:rPr>
              <a:t>86</a:t>
            </a:fld>
            <a:endParaRPr lang="zh-CN" altLang="en-US" sz="1200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594" name="幻灯片图像占位符 366593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66595" name="文本占位符 36659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sz="1200" dirty="0">
                <a:latin typeface="Tahoma" panose="020B0604030504040204" pitchFamily="34" charset="0"/>
              </a:rPr>
              <a:t>87</a:t>
            </a:fld>
            <a:endParaRPr lang="zh-CN" altLang="en-US" sz="1200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lrTx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buClrTx/>
            </a:pPr>
            <a:fld id="{BB962C8B-B14F-4D97-AF65-F5344CB8AC3E}" type="datetime1">
              <a:rPr lang="zh-CN" altLang="en-US" dirty="0"/>
              <a:t>2025/2/25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lrTx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lrTx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lrTx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lrTx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lrTx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lrTx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lrTx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lrTx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lrTx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lrTx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buClrTx/>
            </a:pPr>
            <a:fld id="{BB962C8B-B14F-4D97-AF65-F5344CB8AC3E}" type="datetime1">
              <a:rPr lang="zh-CN" altLang="en-US" dirty="0"/>
              <a:t>2025/2/25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lrTx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标题 21094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210947" name="文本占位符 210946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10948" name="日期占位符 21094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>
                <a:latin typeface="Arial" panose="020B0604020202020204" pitchFamily="34" charset="0"/>
              </a:defRPr>
            </a:lvl1pPr>
          </a:lstStyle>
          <a:p>
            <a:pPr lvl="0">
              <a:buClrTx/>
            </a:pPr>
            <a:fld id="{BB962C8B-B14F-4D97-AF65-F5344CB8AC3E}" type="datetime1">
              <a:rPr lang="zh-CN" altLang="en-US" dirty="0"/>
              <a:t>2025/2/25</a:t>
            </a:fld>
            <a:endParaRPr lang="zh-CN" altLang="en-US" dirty="0"/>
          </a:p>
        </p:txBody>
      </p:sp>
      <p:sp>
        <p:nvSpPr>
          <p:cNvPr id="210949" name="页脚占位符 21094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>
                <a:latin typeface="Arial" panose="020B0604020202020204" pitchFamily="34" charset="0"/>
              </a:defRPr>
            </a:lvl1pPr>
          </a:lstStyle>
          <a:p>
            <a:pPr lvl="0">
              <a:buClrTx/>
            </a:pPr>
            <a:endParaRPr lang="zh-CN" altLang="en-US" dirty="0"/>
          </a:p>
        </p:txBody>
      </p:sp>
      <p:sp>
        <p:nvSpPr>
          <p:cNvPr id="210950" name="灯片编号占位符 21094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lvl="0">
              <a:buClrTx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  <p:sp>
        <p:nvSpPr>
          <p:cNvPr id="210954" name="直接连接符 210953"/>
          <p:cNvSpPr/>
          <p:nvPr userDrawn="1"/>
        </p:nvSpPr>
        <p:spPr>
          <a:xfrm>
            <a:off x="179388" y="765175"/>
            <a:ext cx="8763000" cy="0"/>
          </a:xfrm>
          <a:prstGeom prst="line">
            <a:avLst/>
          </a:prstGeom>
          <a:ln w="53975" cap="flat" cmpd="sng">
            <a:solidFill>
              <a:srgbClr val="CC99FF"/>
            </a:solidFill>
            <a:prstDash val="solid"/>
            <a:miter/>
            <a:headEnd type="none" w="med" len="med"/>
            <a:tailEnd type="none" w="med" len="med"/>
          </a:ln>
        </p:spPr>
      </p:sp>
      <p:pic>
        <p:nvPicPr>
          <p:cNvPr id="210958" name="图片 210957" descr="上一页">
            <a:hlinkClick r:id="" action="ppaction://hlinkshowjump?jump=previousslide"/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5589588" y="6364288"/>
            <a:ext cx="1039812" cy="5207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0959" name="图片 210958" descr="退出">
            <a:hlinkClick r:id="" action="ppaction://hlinkshowjump?jump=endshow"/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7956550" y="6364288"/>
            <a:ext cx="1039813" cy="5207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0960" name="图片 210959" descr="下一页">
            <a:hlinkClick r:id="" action="ppaction://hlinkshowjump?jump=nextslide"/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6772275" y="6364288"/>
            <a:ext cx="1039813" cy="5207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" name="Object 18"/>
          <p:cNvPicPr>
            <a:picLocks noChangeAspect="1" noChangeArrowheads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1"/>
            <a:ext cx="827584" cy="765103"/>
          </a:xfrm>
          <a:prstGeom prst="rect">
            <a:avLst/>
          </a:prstGeom>
          <a:solidFill>
            <a:srgbClr val="458F8F"/>
          </a:solidFill>
          <a:ln w="9525" cmpd="sng">
            <a:solidFill>
              <a:srgbClr val="2B166E"/>
            </a:solidFill>
            <a:miter lim="800000"/>
            <a:headEnd/>
            <a:tailEnd/>
          </a:ln>
        </p:spPr>
      </p:pic>
      <p:pic>
        <p:nvPicPr>
          <p:cNvPr id="13" name="Object 19"/>
          <p:cNvPicPr>
            <a:picLocks noChangeAspect="1" noChangeArrowheads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690" y="72"/>
            <a:ext cx="773982" cy="765101"/>
          </a:xfrm>
          <a:prstGeom prst="rect">
            <a:avLst/>
          </a:prstGeom>
          <a:solidFill>
            <a:srgbClr val="458F8F"/>
          </a:solidFill>
          <a:ln w="9525" cmpd="sng">
            <a:solidFill>
              <a:srgbClr val="2B166E"/>
            </a:solidFill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20.wmf"/><Relationship Id="rId5" Type="http://schemas.openxmlformats.org/officeDocument/2006/relationships/oleObject" Target="../embeddings/oleObject2.bin"/><Relationship Id="rId10" Type="http://schemas.openxmlformats.org/officeDocument/2006/relationships/oleObject" Target="../embeddings/oleObject6.bin"/><Relationship Id="rId4" Type="http://schemas.openxmlformats.org/officeDocument/2006/relationships/image" Target="../media/image18.wmf"/><Relationship Id="rId9" Type="http://schemas.openxmlformats.org/officeDocument/2006/relationships/image" Target="../media/image19.wmf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22.w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24.png"/><Relationship Id="rId4" Type="http://schemas.openxmlformats.org/officeDocument/2006/relationships/image" Target="../media/image23.wmf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30.emf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4" name="矩形 215043"/>
          <p:cNvSpPr/>
          <p:nvPr/>
        </p:nvSpPr>
        <p:spPr>
          <a:xfrm>
            <a:off x="2699793" y="116632"/>
            <a:ext cx="4104456" cy="620712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algn="ctr"/>
            <a:r>
              <a:rPr lang="zh-CN" altLang="en-US" sz="3200" b="1" dirty="0">
                <a:solidFill>
                  <a:srgbClr val="0000CC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第</a:t>
            </a:r>
            <a:r>
              <a:rPr lang="en-US" altLang="zh-CN" sz="3200" b="1" dirty="0">
                <a:solidFill>
                  <a:srgbClr val="0000CC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2</a:t>
            </a:r>
            <a:r>
              <a:rPr lang="zh-CN" altLang="en-US" sz="3200" b="1" dirty="0">
                <a:solidFill>
                  <a:srgbClr val="0000CC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章 </a:t>
            </a:r>
            <a:r>
              <a:rPr lang="en-US" altLang="zh-CN" sz="3200" b="1" dirty="0">
                <a:solidFill>
                  <a:srgbClr val="0000CC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80x86</a:t>
            </a:r>
            <a:r>
              <a:rPr lang="zh-CN" altLang="zh-CN" sz="3200" b="1" dirty="0">
                <a:solidFill>
                  <a:srgbClr val="0000CC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微处理器</a:t>
            </a:r>
            <a:endParaRPr lang="zh-CN" altLang="en-US" sz="3200" b="1" dirty="0">
              <a:solidFill>
                <a:srgbClr val="0000CC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215045" name="矩形 215044"/>
          <p:cNvSpPr/>
          <p:nvPr/>
        </p:nvSpPr>
        <p:spPr>
          <a:xfrm>
            <a:off x="683270" y="1628378"/>
            <a:ext cx="7777162" cy="29527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>
              <a:buNone/>
              <a:defRPr sz="2800" kern="1200"/>
            </a:lvl2pPr>
            <a:lvl3pPr marL="914400" lvl="2" indent="0" algn="ctr">
              <a:buNone/>
              <a:defRPr sz="2400" kern="1200"/>
            </a:lvl3pPr>
            <a:lvl4pPr marL="1371600" lvl="3" indent="0" algn="ctr">
              <a:buNone/>
              <a:defRPr sz="2000" kern="1200"/>
            </a:lvl4pPr>
            <a:lvl5pPr marL="1828800" lvl="4" indent="0" algn="ctr">
              <a:buNone/>
              <a:defRPr kern="1200"/>
            </a:lvl5pPr>
          </a:lstStyle>
          <a:p>
            <a:pPr lvl="0" algn="l"/>
            <a:r>
              <a:rPr lang="en-US" altLang="zh-CN" b="1" dirty="0"/>
              <a:t>2.1 8086</a:t>
            </a:r>
            <a:r>
              <a:rPr lang="zh-CN" altLang="en-US" b="1" dirty="0"/>
              <a:t>微处理器</a:t>
            </a:r>
          </a:p>
          <a:p>
            <a:pPr lvl="0" algn="l"/>
            <a:r>
              <a:rPr lang="en-US" altLang="zh-CN" b="1" dirty="0"/>
              <a:t>2.2</a:t>
            </a:r>
            <a:r>
              <a:rPr lang="en-US" altLang="zh-CN" dirty="0"/>
              <a:t> </a:t>
            </a:r>
            <a:r>
              <a:rPr lang="en-US" altLang="zh-CN" b="1" dirty="0"/>
              <a:t>8086 CPU</a:t>
            </a:r>
            <a:r>
              <a:rPr lang="zh-CN" altLang="zh-CN" b="1" dirty="0"/>
              <a:t>的存储器组织及</a:t>
            </a:r>
            <a:r>
              <a:rPr lang="en-US" altLang="zh-CN" b="1" dirty="0"/>
              <a:t>I/O</a:t>
            </a:r>
            <a:r>
              <a:rPr lang="zh-CN" altLang="zh-CN" b="1" dirty="0"/>
              <a:t>结构</a:t>
            </a:r>
            <a:endParaRPr lang="zh-CN" altLang="en-US" b="1" dirty="0"/>
          </a:p>
          <a:p>
            <a:pPr algn="l">
              <a:buClrTx/>
              <a:buSzTx/>
              <a:buFontTx/>
            </a:pPr>
            <a:r>
              <a:rPr lang="zh-CN" altLang="zh-CN" b="1" dirty="0">
                <a:cs typeface="+mn-ea"/>
              </a:rPr>
              <a:t>2.3 8086微处理器的外部引脚及工作模式</a:t>
            </a:r>
          </a:p>
          <a:p>
            <a:pPr lvl="0" algn="l">
              <a:buClrTx/>
              <a:buSzTx/>
              <a:buFontTx/>
            </a:pPr>
            <a:r>
              <a:rPr lang="zh-CN" altLang="zh-CN" b="1" dirty="0">
                <a:cs typeface="+mn-ea"/>
              </a:rPr>
              <a:t>2.4 8086 微处理器的总线操作与时序 </a:t>
            </a:r>
          </a:p>
          <a:p>
            <a:pPr lvl="0" algn="l"/>
            <a:r>
              <a:rPr lang="en-US" altLang="zh-CN" b="1" dirty="0"/>
              <a:t>2.5 Intel</a:t>
            </a:r>
            <a:r>
              <a:rPr lang="zh-CN" altLang="en-US" b="1" dirty="0"/>
              <a:t>的其他微处理器</a:t>
            </a:r>
            <a:r>
              <a:rPr lang="zh-CN" altLang="en-US" dirty="0"/>
              <a:t> </a:t>
            </a:r>
            <a:endParaRPr lang="en-US" altLang="zh-CN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8" name="标题 154627"/>
          <p:cNvSpPr>
            <a:spLocks noGrp="1"/>
          </p:cNvSpPr>
          <p:nvPr>
            <p:ph type="title"/>
          </p:nvPr>
        </p:nvSpPr>
        <p:spPr>
          <a:xfrm>
            <a:off x="2627784" y="188640"/>
            <a:ext cx="3527425" cy="431800"/>
          </a:xfrm>
        </p:spPr>
        <p:txBody>
          <a:bodyPr anchor="ctr"/>
          <a:lstStyle/>
          <a:p>
            <a:pPr lvl="0"/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2.1 8086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微处理器</a:t>
            </a:r>
            <a:endParaRPr lang="zh-CN" altLang="en-US" sz="4000" dirty="0"/>
          </a:p>
        </p:txBody>
      </p:sp>
      <p:sp>
        <p:nvSpPr>
          <p:cNvPr id="154630" name="文本框 154629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4632" name="矩形 154631"/>
          <p:cNvSpPr/>
          <p:nvPr/>
        </p:nvSpPr>
        <p:spPr>
          <a:xfrm>
            <a:off x="539750" y="1411288"/>
            <a:ext cx="7993063" cy="345757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lvl="0">
              <a:lnSpc>
                <a:spcPct val="115000"/>
              </a:lnSpc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对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Intel 8086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微处理器的了解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:</a:t>
            </a:r>
          </a:p>
          <a:p>
            <a:pPr lvl="0">
              <a:lnSpc>
                <a:spcPct val="115000"/>
              </a:lnSpc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典型的</a:t>
            </a:r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16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位微处理器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;</a:t>
            </a:r>
          </a:p>
          <a:p>
            <a:pPr lvl="0">
              <a:lnSpc>
                <a:spcPct val="115000"/>
              </a:lnSpc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采用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HMOS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工艺制造，芯片上集成了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29000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个晶体管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;</a:t>
            </a:r>
          </a:p>
          <a:p>
            <a:pPr lvl="0">
              <a:lnSpc>
                <a:spcPct val="115000"/>
              </a:lnSpc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用单一的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+5V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电源，被封装在标准</a:t>
            </a:r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</a:rPr>
              <a:t>40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引脚的双列直插式（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DIP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）管壳内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;</a:t>
            </a:r>
          </a:p>
          <a:p>
            <a:pPr lvl="0">
              <a:lnSpc>
                <a:spcPct val="115000"/>
              </a:lnSpc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时钟频率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5MHz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～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10MHz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，内、外部数据总线均为</a:t>
            </a:r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</a:rPr>
              <a:t>16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条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;</a:t>
            </a:r>
          </a:p>
          <a:p>
            <a:pPr lvl="0">
              <a:lnSpc>
                <a:spcPct val="115000"/>
              </a:lnSpc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地址总线</a:t>
            </a:r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</a:rPr>
              <a:t>20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条，可寻址的存储空间为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sz="2400" b="1" baseline="30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20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=1MB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，其中的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16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条地址总线，可以访问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sz="2400" b="1" baseline="30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16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=64KB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的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I/O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端口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5" name="文本框 264194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64197" name="矩形 264196"/>
          <p:cNvSpPr/>
          <p:nvPr/>
        </p:nvSpPr>
        <p:spPr>
          <a:xfrm>
            <a:off x="250825" y="836613"/>
            <a:ext cx="5256213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>
              <a:buClrTx/>
            </a:pP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一、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8086 CPU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的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</a:rPr>
              <a:t>内部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结构</a:t>
            </a:r>
          </a:p>
        </p:txBody>
      </p:sp>
      <p:sp>
        <p:nvSpPr>
          <p:cNvPr id="264198" name="矩形 264197"/>
          <p:cNvSpPr/>
          <p:nvPr/>
        </p:nvSpPr>
        <p:spPr>
          <a:xfrm>
            <a:off x="395288" y="1412875"/>
            <a:ext cx="8348662" cy="83099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>
              <a:buClrTx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采用</a:t>
            </a:r>
            <a:r>
              <a:rPr lang="zh-CN" altLang="en-US" sz="24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流水线处理技术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：将指令执行部件（ 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EU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）和总线接口部件（ </a:t>
            </a:r>
            <a:r>
              <a:rPr lang="en-US" altLang="zh-CN" sz="2400" b="1" dirty="0">
                <a:latin typeface="Arial" panose="020B0604020202020204" pitchFamily="34" charset="0"/>
              </a:rPr>
              <a:t>BI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U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）分为两个独立的部分，并可并行操作。</a:t>
            </a:r>
          </a:p>
        </p:txBody>
      </p:sp>
      <p:sp>
        <p:nvSpPr>
          <p:cNvPr id="264201" name="矩形 264200"/>
          <p:cNvSpPr/>
          <p:nvPr/>
        </p:nvSpPr>
        <p:spPr>
          <a:xfrm>
            <a:off x="395288" y="2174875"/>
            <a:ext cx="8424862" cy="8223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algn="l"/>
            <a:r>
              <a:rPr lang="zh-CN" altLang="en-US" sz="2400" b="1" dirty="0"/>
              <a:t>流水技术</a:t>
            </a:r>
            <a:r>
              <a:rPr lang="en-US" altLang="zh-CN" sz="2400" b="1"/>
              <a:t>:</a:t>
            </a:r>
            <a:r>
              <a:rPr lang="zh-CN" altLang="en-US" sz="2400" b="1" dirty="0"/>
              <a:t>在执行指令时预取下一条指令的技术</a:t>
            </a:r>
            <a:r>
              <a:rPr lang="en-US" altLang="zh-CN" sz="2400" b="1"/>
              <a:t>,</a:t>
            </a:r>
            <a:r>
              <a:rPr lang="zh-CN" altLang="en-US" sz="2400" b="1" dirty="0"/>
              <a:t>是一种实现多条指令重叠执行的重要技术</a:t>
            </a:r>
            <a:endParaRPr lang="en-US" altLang="zh-CN" sz="2400" b="1"/>
          </a:p>
        </p:txBody>
      </p:sp>
      <p:graphicFrame>
        <p:nvGraphicFramePr>
          <p:cNvPr id="264238" name="表格 264237"/>
          <p:cNvGraphicFramePr/>
          <p:nvPr/>
        </p:nvGraphicFramePr>
        <p:xfrm>
          <a:off x="1474788" y="3302000"/>
          <a:ext cx="6056313" cy="213360"/>
        </p:xfrm>
        <a:graphic>
          <a:graphicData uri="http://schemas.openxmlformats.org/drawingml/2006/table">
            <a:tbl>
              <a:tblPr/>
              <a:tblGrid>
                <a:gridCol w="722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27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800" b="1" dirty="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800" b="1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800" b="1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800" b="1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800" b="1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800" b="1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800" b="1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800" b="1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64265" name="文本框 264264"/>
          <p:cNvSpPr txBox="1"/>
          <p:nvPr/>
        </p:nvSpPr>
        <p:spPr>
          <a:xfrm>
            <a:off x="1282700" y="2997200"/>
            <a:ext cx="67056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>
              <a:buClrTx/>
            </a:pPr>
            <a:r>
              <a:rPr lang="en-US" altLang="zh-CN" sz="1800" b="1">
                <a:latin typeface="Tahoma" panose="020B0604030504040204" pitchFamily="34" charset="0"/>
                <a:ea typeface="宋体" panose="02010600030101010101" pitchFamily="2" charset="-122"/>
              </a:rPr>
              <a:t>0         1         2        3         4         5         6         7         8 </a:t>
            </a:r>
          </a:p>
        </p:txBody>
      </p:sp>
      <p:sp>
        <p:nvSpPr>
          <p:cNvPr id="264266" name="文本框 264265"/>
          <p:cNvSpPr txBox="1"/>
          <p:nvPr/>
        </p:nvSpPr>
        <p:spPr>
          <a:xfrm>
            <a:off x="1492250" y="3573463"/>
            <a:ext cx="4648200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>
              <a:buClrTx/>
            </a:pPr>
            <a:r>
              <a:rPr lang="zh-CN" altLang="en-US" sz="1800" b="1" dirty="0">
                <a:solidFill>
                  <a:srgbClr val="FF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取指</a:t>
            </a:r>
            <a:r>
              <a:rPr lang="zh-CN" altLang="en-US" sz="1800" b="1" dirty="0">
                <a:latin typeface="Tahoma" panose="020B0604030504040204" pitchFamily="34" charset="0"/>
                <a:ea typeface="宋体" panose="02010600030101010101" pitchFamily="2" charset="-122"/>
              </a:rPr>
              <a:t>     译码  计算</a:t>
            </a:r>
            <a:r>
              <a:rPr lang="en-US" altLang="zh-CN" sz="1800" b="1">
                <a:latin typeface="Tahoma" panose="020B0604030504040204" pitchFamily="34" charset="0"/>
                <a:ea typeface="宋体" panose="02010600030101010101" pitchFamily="2" charset="-122"/>
              </a:rPr>
              <a:t>EA   </a:t>
            </a:r>
            <a:r>
              <a:rPr lang="zh-CN" altLang="en-US" sz="1800" b="1" dirty="0">
                <a:latin typeface="Tahoma" panose="020B0604030504040204" pitchFamily="34" charset="0"/>
                <a:ea typeface="宋体" panose="02010600030101010101" pitchFamily="2" charset="-122"/>
              </a:rPr>
              <a:t>取数    执行  存结果</a:t>
            </a:r>
          </a:p>
        </p:txBody>
      </p:sp>
      <p:sp>
        <p:nvSpPr>
          <p:cNvPr id="264267" name="文本框 264266"/>
          <p:cNvSpPr txBox="1"/>
          <p:nvPr/>
        </p:nvSpPr>
        <p:spPr>
          <a:xfrm>
            <a:off x="2349500" y="3933825"/>
            <a:ext cx="46482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>
              <a:buClrTx/>
            </a:pPr>
            <a:r>
              <a:rPr lang="zh-CN" altLang="en-US" sz="1800" b="1" dirty="0">
                <a:solidFill>
                  <a:srgbClr val="FF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取指</a:t>
            </a:r>
            <a:r>
              <a:rPr lang="zh-CN" altLang="en-US" sz="1800" b="1" dirty="0">
                <a:latin typeface="Tahoma" panose="020B0604030504040204" pitchFamily="34" charset="0"/>
                <a:ea typeface="宋体" panose="02010600030101010101" pitchFamily="2" charset="-122"/>
              </a:rPr>
              <a:t>     译码  计算</a:t>
            </a:r>
            <a:r>
              <a:rPr lang="en-US" altLang="zh-CN" sz="1800" b="1">
                <a:latin typeface="Tahoma" panose="020B0604030504040204" pitchFamily="34" charset="0"/>
                <a:ea typeface="宋体" panose="02010600030101010101" pitchFamily="2" charset="-122"/>
              </a:rPr>
              <a:t>EA   </a:t>
            </a:r>
            <a:r>
              <a:rPr lang="zh-CN" altLang="en-US" sz="1800" b="1" dirty="0">
                <a:latin typeface="Tahoma" panose="020B0604030504040204" pitchFamily="34" charset="0"/>
                <a:ea typeface="宋体" panose="02010600030101010101" pitchFamily="2" charset="-122"/>
              </a:rPr>
              <a:t>取数    执行  存结果</a:t>
            </a:r>
          </a:p>
        </p:txBody>
      </p:sp>
      <p:sp>
        <p:nvSpPr>
          <p:cNvPr id="264268" name="文本框 264267"/>
          <p:cNvSpPr txBox="1"/>
          <p:nvPr/>
        </p:nvSpPr>
        <p:spPr>
          <a:xfrm>
            <a:off x="3111500" y="4292600"/>
            <a:ext cx="46482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>
              <a:buClrTx/>
            </a:pPr>
            <a:r>
              <a:rPr lang="zh-CN" altLang="en-US" sz="1800" b="1" dirty="0">
                <a:solidFill>
                  <a:srgbClr val="FF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取指</a:t>
            </a:r>
            <a:r>
              <a:rPr lang="zh-CN" altLang="en-US" sz="1800" b="1" dirty="0">
                <a:latin typeface="Tahoma" panose="020B0604030504040204" pitchFamily="34" charset="0"/>
                <a:ea typeface="宋体" panose="02010600030101010101" pitchFamily="2" charset="-122"/>
              </a:rPr>
              <a:t>     译码  计算</a:t>
            </a:r>
            <a:r>
              <a:rPr lang="en-US" altLang="zh-CN" sz="1800" b="1">
                <a:latin typeface="Tahoma" panose="020B0604030504040204" pitchFamily="34" charset="0"/>
                <a:ea typeface="宋体" panose="02010600030101010101" pitchFamily="2" charset="-122"/>
              </a:rPr>
              <a:t>EA   </a:t>
            </a:r>
            <a:r>
              <a:rPr lang="zh-CN" altLang="en-US" sz="1800" b="1" dirty="0">
                <a:latin typeface="Tahoma" panose="020B0604030504040204" pitchFamily="34" charset="0"/>
                <a:ea typeface="宋体" panose="02010600030101010101" pitchFamily="2" charset="-122"/>
              </a:rPr>
              <a:t>取数    执行  存结果</a:t>
            </a:r>
          </a:p>
        </p:txBody>
      </p:sp>
      <p:sp>
        <p:nvSpPr>
          <p:cNvPr id="264269" name="文本框 264268"/>
          <p:cNvSpPr txBox="1"/>
          <p:nvPr/>
        </p:nvSpPr>
        <p:spPr>
          <a:xfrm>
            <a:off x="34925" y="3644900"/>
            <a:ext cx="1368425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ctr">
              <a:buClrTx/>
            </a:pPr>
            <a:r>
              <a:rPr lang="zh-CN" altLang="en-US" sz="1800" b="1" dirty="0">
                <a:latin typeface="Tahoma" panose="020B0604030504040204" pitchFamily="34" charset="0"/>
                <a:ea typeface="宋体" panose="02010600030101010101" pitchFamily="2" charset="-122"/>
              </a:rPr>
              <a:t>第一条指令</a:t>
            </a:r>
          </a:p>
        </p:txBody>
      </p:sp>
      <p:sp>
        <p:nvSpPr>
          <p:cNvPr id="264270" name="文本框 264269"/>
          <p:cNvSpPr txBox="1"/>
          <p:nvPr/>
        </p:nvSpPr>
        <p:spPr>
          <a:xfrm>
            <a:off x="825500" y="4005263"/>
            <a:ext cx="1370013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ctr">
              <a:buClrTx/>
            </a:pPr>
            <a:r>
              <a:rPr lang="zh-CN" altLang="en-US" sz="1800" b="1" dirty="0">
                <a:latin typeface="Tahoma" panose="020B0604030504040204" pitchFamily="34" charset="0"/>
                <a:ea typeface="宋体" panose="02010600030101010101" pitchFamily="2" charset="-122"/>
              </a:rPr>
              <a:t>第二条指令</a:t>
            </a:r>
          </a:p>
        </p:txBody>
      </p:sp>
      <p:sp>
        <p:nvSpPr>
          <p:cNvPr id="264271" name="文本框 264270"/>
          <p:cNvSpPr txBox="1"/>
          <p:nvPr/>
        </p:nvSpPr>
        <p:spPr>
          <a:xfrm>
            <a:off x="1511300" y="4365625"/>
            <a:ext cx="1404938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ctr">
              <a:buClrTx/>
            </a:pPr>
            <a:r>
              <a:rPr lang="zh-CN" altLang="en-US" sz="1800" b="1" dirty="0">
                <a:latin typeface="Tahoma" panose="020B0604030504040204" pitchFamily="34" charset="0"/>
                <a:ea typeface="宋体" panose="02010600030101010101" pitchFamily="2" charset="-122"/>
              </a:rPr>
              <a:t>第三条指令</a:t>
            </a:r>
          </a:p>
        </p:txBody>
      </p:sp>
      <p:graphicFrame>
        <p:nvGraphicFramePr>
          <p:cNvPr id="264274" name="表格 264273"/>
          <p:cNvGraphicFramePr/>
          <p:nvPr/>
        </p:nvGraphicFramePr>
        <p:xfrm>
          <a:off x="2305050" y="4065588"/>
          <a:ext cx="4572000" cy="213360"/>
        </p:xfrm>
        <a:graphic>
          <a:graphicData uri="http://schemas.openxmlformats.org/drawingml/2006/table">
            <a:tbl>
              <a:tblPr/>
              <a:tblGrid>
                <a:gridCol w="785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81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27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800" dirty="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80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80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80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80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80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4316" name="表格 264315"/>
          <p:cNvGraphicFramePr/>
          <p:nvPr/>
        </p:nvGraphicFramePr>
        <p:xfrm>
          <a:off x="3062288" y="4413250"/>
          <a:ext cx="4572000" cy="21336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272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800" dirty="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80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80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80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80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800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4317" name="表格 264316"/>
          <p:cNvGraphicFramePr/>
          <p:nvPr/>
        </p:nvGraphicFramePr>
        <p:xfrm>
          <a:off x="1454150" y="3675063"/>
          <a:ext cx="4572000" cy="249238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9238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900" b="1" dirty="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900" b="1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900" b="1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900" b="1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900" b="1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900" b="1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64340" name="矩形 264339"/>
          <p:cNvSpPr/>
          <p:nvPr/>
        </p:nvSpPr>
        <p:spPr>
          <a:xfrm>
            <a:off x="179388" y="4911725"/>
            <a:ext cx="850265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>
              <a:buClrTx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可见，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条指令共需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个时间单位，即可全部执行完；如果完全串行执行，则需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3X6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＝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18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个时间单位</a:t>
            </a:r>
          </a:p>
        </p:txBody>
      </p:sp>
      <p:sp>
        <p:nvSpPr>
          <p:cNvPr id="20" name="标题 154627"/>
          <p:cNvSpPr txBox="1"/>
          <p:nvPr/>
        </p:nvSpPr>
        <p:spPr>
          <a:xfrm>
            <a:off x="2627784" y="188640"/>
            <a:ext cx="3527425" cy="431800"/>
          </a:xfrm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>
                <a:solidFill>
                  <a:srgbClr val="FF0000"/>
                </a:solidFill>
                <a:ea typeface="隶书" panose="02010509060101010101" pitchFamily="49" charset="-122"/>
              </a:rPr>
              <a:t>2.1 8086</a:t>
            </a:r>
            <a:r>
              <a:rPr lang="zh-CN" altLang="en-US" sz="3200" b="1">
                <a:solidFill>
                  <a:srgbClr val="FF0000"/>
                </a:solidFill>
                <a:ea typeface="隶书" panose="02010509060101010101" pitchFamily="49" charset="-122"/>
              </a:rPr>
              <a:t>微处理器</a:t>
            </a:r>
            <a:endParaRPr lang="zh-CN" alt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403985" y="4004945"/>
            <a:ext cx="1676400" cy="381000"/>
          </a:xfrm>
          <a:prstGeom prst="rect">
            <a:avLst/>
          </a:prstGeom>
          <a:solidFill>
            <a:srgbClr val="CCFFCC"/>
          </a:solidFill>
          <a:ln w="12700" cap="flat" cmpd="sng">
            <a:solidFill>
              <a:srgbClr val="99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5218" name="矩形 265217">
            <a:hlinkClick r:id="" action="ppaction://noaction"/>
          </p:cNvPr>
          <p:cNvSpPr/>
          <p:nvPr/>
        </p:nvSpPr>
        <p:spPr>
          <a:xfrm>
            <a:off x="1447800" y="914400"/>
            <a:ext cx="1371600" cy="2438400"/>
          </a:xfrm>
          <a:prstGeom prst="rect">
            <a:avLst/>
          </a:prstGeom>
          <a:solidFill>
            <a:srgbClr val="CCFFCC"/>
          </a:solidFill>
          <a:ln w="12700" cap="flat" cmpd="sng">
            <a:solidFill>
              <a:srgbClr val="99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5219" name="直接连接符 265218"/>
          <p:cNvSpPr/>
          <p:nvPr/>
        </p:nvSpPr>
        <p:spPr>
          <a:xfrm>
            <a:off x="1447800" y="2743200"/>
            <a:ext cx="1371600" cy="0"/>
          </a:xfrm>
          <a:prstGeom prst="line">
            <a:avLst/>
          </a:prstGeom>
          <a:ln w="12700" cap="flat" cmpd="sng">
            <a:solidFill>
              <a:srgbClr val="99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20" name="直接连接符 265219"/>
          <p:cNvSpPr/>
          <p:nvPr/>
        </p:nvSpPr>
        <p:spPr>
          <a:xfrm>
            <a:off x="1447800" y="3048000"/>
            <a:ext cx="1371600" cy="0"/>
          </a:xfrm>
          <a:prstGeom prst="line">
            <a:avLst/>
          </a:prstGeom>
          <a:ln w="12700" cap="flat" cmpd="sng">
            <a:solidFill>
              <a:srgbClr val="99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21" name="直接连接符 265220"/>
          <p:cNvSpPr/>
          <p:nvPr/>
        </p:nvSpPr>
        <p:spPr>
          <a:xfrm>
            <a:off x="1447800" y="1219200"/>
            <a:ext cx="1371600" cy="0"/>
          </a:xfrm>
          <a:prstGeom prst="line">
            <a:avLst/>
          </a:prstGeom>
          <a:ln w="12700" cap="flat" cmpd="sng">
            <a:solidFill>
              <a:srgbClr val="99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22" name="直接连接符 265221"/>
          <p:cNvSpPr/>
          <p:nvPr/>
        </p:nvSpPr>
        <p:spPr>
          <a:xfrm>
            <a:off x="1447800" y="1524000"/>
            <a:ext cx="1371600" cy="0"/>
          </a:xfrm>
          <a:prstGeom prst="line">
            <a:avLst/>
          </a:prstGeom>
          <a:ln w="12700" cap="flat" cmpd="sng">
            <a:solidFill>
              <a:srgbClr val="99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23" name="直接连接符 265222"/>
          <p:cNvSpPr/>
          <p:nvPr/>
        </p:nvSpPr>
        <p:spPr>
          <a:xfrm>
            <a:off x="1447800" y="1828800"/>
            <a:ext cx="1371600" cy="0"/>
          </a:xfrm>
          <a:prstGeom prst="line">
            <a:avLst/>
          </a:prstGeom>
          <a:ln w="12700" cap="flat" cmpd="sng">
            <a:solidFill>
              <a:srgbClr val="99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24" name="直接连接符 265223">
            <a:hlinkClick r:id="" action="ppaction://noaction"/>
          </p:cNvPr>
          <p:cNvSpPr/>
          <p:nvPr/>
        </p:nvSpPr>
        <p:spPr>
          <a:xfrm>
            <a:off x="1447800" y="2133600"/>
            <a:ext cx="1371600" cy="0"/>
          </a:xfrm>
          <a:prstGeom prst="line">
            <a:avLst/>
          </a:prstGeom>
          <a:ln w="12700" cap="flat" cmpd="sng">
            <a:solidFill>
              <a:srgbClr val="99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25" name="直接连接符 265224"/>
          <p:cNvSpPr/>
          <p:nvPr/>
        </p:nvSpPr>
        <p:spPr>
          <a:xfrm>
            <a:off x="1447800" y="2438400"/>
            <a:ext cx="1371600" cy="0"/>
          </a:xfrm>
          <a:prstGeom prst="line">
            <a:avLst/>
          </a:prstGeom>
          <a:ln w="12700" cap="flat" cmpd="sng">
            <a:solidFill>
              <a:srgbClr val="99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26" name="直接连接符 265225"/>
          <p:cNvSpPr/>
          <p:nvPr/>
        </p:nvSpPr>
        <p:spPr>
          <a:xfrm>
            <a:off x="2133600" y="914400"/>
            <a:ext cx="0" cy="1219200"/>
          </a:xfrm>
          <a:prstGeom prst="line">
            <a:avLst/>
          </a:prstGeom>
          <a:ln w="12700" cap="flat" cmpd="sng">
            <a:solidFill>
              <a:srgbClr val="99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27" name="任意多边形 265226">
            <a:hlinkClick r:id="" action="ppaction://noaction"/>
          </p:cNvPr>
          <p:cNvSpPr/>
          <p:nvPr/>
        </p:nvSpPr>
        <p:spPr>
          <a:xfrm>
            <a:off x="1219200" y="4419600"/>
            <a:ext cx="1905000" cy="762000"/>
          </a:xfrm>
          <a:custGeom>
            <a:avLst/>
            <a:gdLst/>
            <a:ahLst/>
            <a:cxnLst/>
            <a:rect l="0" t="0" r="0" b="0"/>
            <a:pathLst>
              <a:path w="1200" h="480">
                <a:moveTo>
                  <a:pt x="0" y="0"/>
                </a:moveTo>
                <a:lnTo>
                  <a:pt x="384" y="0"/>
                </a:lnTo>
                <a:lnTo>
                  <a:pt x="480" y="192"/>
                </a:lnTo>
                <a:lnTo>
                  <a:pt x="720" y="192"/>
                </a:lnTo>
                <a:lnTo>
                  <a:pt x="816" y="0"/>
                </a:lnTo>
                <a:lnTo>
                  <a:pt x="1200" y="0"/>
                </a:lnTo>
                <a:lnTo>
                  <a:pt x="912" y="480"/>
                </a:lnTo>
                <a:lnTo>
                  <a:pt x="240" y="480"/>
                </a:lnTo>
                <a:lnTo>
                  <a:pt x="0" y="0"/>
                </a:lnTo>
                <a:close/>
              </a:path>
            </a:pathLst>
          </a:custGeom>
          <a:solidFill>
            <a:srgbClr val="FFCC99">
              <a:alpha val="100000"/>
            </a:srgbClr>
          </a:solidFill>
          <a:ln w="12700" cap="flat" cmpd="sng">
            <a:solidFill>
              <a:srgbClr val="99330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5228" name="直接连接符 265227"/>
          <p:cNvSpPr/>
          <p:nvPr/>
        </p:nvSpPr>
        <p:spPr>
          <a:xfrm>
            <a:off x="2133600" y="3352800"/>
            <a:ext cx="0" cy="533400"/>
          </a:xfrm>
          <a:prstGeom prst="line">
            <a:avLst/>
          </a:prstGeom>
          <a:ln w="76200" cap="flat" cmpd="sng">
            <a:solidFill>
              <a:srgbClr val="996600"/>
            </a:solidFill>
            <a:prstDash val="solid"/>
            <a:headEnd type="triangle" w="sm" len="sm"/>
            <a:tailEnd type="triangle" w="sm" len="sm"/>
          </a:ln>
        </p:spPr>
      </p:sp>
      <p:sp>
        <p:nvSpPr>
          <p:cNvPr id="265229" name="直接连接符 265228"/>
          <p:cNvSpPr/>
          <p:nvPr/>
        </p:nvSpPr>
        <p:spPr>
          <a:xfrm>
            <a:off x="1600200" y="3886200"/>
            <a:ext cx="0" cy="533400"/>
          </a:xfrm>
          <a:prstGeom prst="line">
            <a:avLst/>
          </a:prstGeom>
          <a:ln w="76200" cap="flat" cmpd="sng">
            <a:solidFill>
              <a:srgbClr val="996600"/>
            </a:solidFill>
            <a:prstDash val="solid"/>
            <a:headEnd type="triangle" w="sm" len="sm"/>
            <a:tailEnd type="triangle" w="sm" len="sm"/>
          </a:ln>
        </p:spPr>
      </p:sp>
      <p:sp>
        <p:nvSpPr>
          <p:cNvPr id="265230" name="直接连接符 265229"/>
          <p:cNvSpPr/>
          <p:nvPr/>
        </p:nvSpPr>
        <p:spPr>
          <a:xfrm>
            <a:off x="2819400" y="3886200"/>
            <a:ext cx="0" cy="533400"/>
          </a:xfrm>
          <a:prstGeom prst="line">
            <a:avLst/>
          </a:prstGeom>
          <a:ln w="76200" cap="flat" cmpd="sng">
            <a:solidFill>
              <a:srgbClr val="996600"/>
            </a:solidFill>
            <a:prstDash val="solid"/>
            <a:headEnd type="triangle" w="sm" len="sm"/>
            <a:tailEnd type="triangle" w="sm" len="sm"/>
          </a:ln>
        </p:spPr>
      </p:sp>
      <p:sp>
        <p:nvSpPr>
          <p:cNvPr id="265231" name="矩形 265230"/>
          <p:cNvSpPr/>
          <p:nvPr/>
        </p:nvSpPr>
        <p:spPr>
          <a:xfrm>
            <a:off x="1371600" y="5791200"/>
            <a:ext cx="1676400" cy="381000"/>
          </a:xfrm>
          <a:prstGeom prst="rect">
            <a:avLst/>
          </a:prstGeom>
          <a:solidFill>
            <a:srgbClr val="CCFFCC"/>
          </a:solidFill>
          <a:ln w="12700" cap="flat" cmpd="sng">
            <a:solidFill>
              <a:srgbClr val="99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5232" name="直接连接符 265231"/>
          <p:cNvSpPr/>
          <p:nvPr/>
        </p:nvSpPr>
        <p:spPr>
          <a:xfrm>
            <a:off x="2438400" y="5181600"/>
            <a:ext cx="0" cy="609600"/>
          </a:xfrm>
          <a:prstGeom prst="line">
            <a:avLst/>
          </a:prstGeom>
          <a:ln w="28575" cap="flat" cmpd="sng">
            <a:solidFill>
              <a:srgbClr val="996600"/>
            </a:solidFill>
            <a:prstDash val="solid"/>
            <a:headEnd type="none" w="med" len="med"/>
            <a:tailEnd type="triangle" w="sm" len="lg"/>
          </a:ln>
        </p:spPr>
      </p:sp>
      <p:sp>
        <p:nvSpPr>
          <p:cNvPr id="265233" name="直接连接符 265232"/>
          <p:cNvSpPr/>
          <p:nvPr/>
        </p:nvSpPr>
        <p:spPr>
          <a:xfrm>
            <a:off x="990600" y="3886200"/>
            <a:ext cx="0" cy="1600200"/>
          </a:xfrm>
          <a:prstGeom prst="line">
            <a:avLst/>
          </a:prstGeom>
          <a:ln w="76200" cap="flat" cmpd="sng">
            <a:solidFill>
              <a:srgbClr val="996600"/>
            </a:solidFill>
            <a:prstDash val="solid"/>
            <a:headEnd type="triangle" w="sm" len="med"/>
            <a:tailEnd type="none" w="med" len="med"/>
          </a:ln>
        </p:spPr>
      </p:sp>
      <p:sp>
        <p:nvSpPr>
          <p:cNvPr id="265234" name="直接连接符 265233"/>
          <p:cNvSpPr/>
          <p:nvPr/>
        </p:nvSpPr>
        <p:spPr>
          <a:xfrm>
            <a:off x="990600" y="5486400"/>
            <a:ext cx="914400" cy="0"/>
          </a:xfrm>
          <a:prstGeom prst="line">
            <a:avLst/>
          </a:prstGeom>
          <a:ln w="76200" cap="flat" cmpd="sng">
            <a:solidFill>
              <a:srgbClr val="9966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35" name="直接连接符 265234"/>
          <p:cNvSpPr/>
          <p:nvPr/>
        </p:nvSpPr>
        <p:spPr>
          <a:xfrm>
            <a:off x="1905000" y="5181600"/>
            <a:ext cx="0" cy="304800"/>
          </a:xfrm>
          <a:prstGeom prst="line">
            <a:avLst/>
          </a:prstGeom>
          <a:ln w="76200" cap="flat" cmpd="sng">
            <a:solidFill>
              <a:srgbClr val="9966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36" name="直接连接符 265235"/>
          <p:cNvSpPr/>
          <p:nvPr/>
        </p:nvSpPr>
        <p:spPr>
          <a:xfrm>
            <a:off x="152400" y="3886200"/>
            <a:ext cx="5181600" cy="0"/>
          </a:xfrm>
          <a:prstGeom prst="line">
            <a:avLst/>
          </a:prstGeom>
          <a:ln w="117475" cap="flat" cmpd="sng">
            <a:solidFill>
              <a:srgbClr val="9966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37" name="直接连接符 265236"/>
          <p:cNvSpPr/>
          <p:nvPr/>
        </p:nvSpPr>
        <p:spPr>
          <a:xfrm>
            <a:off x="457200" y="3886200"/>
            <a:ext cx="0" cy="2667000"/>
          </a:xfrm>
          <a:prstGeom prst="line">
            <a:avLst/>
          </a:prstGeom>
          <a:ln w="76200" cap="flat" cmpd="sng">
            <a:solidFill>
              <a:srgbClr val="996600"/>
            </a:solidFill>
            <a:prstDash val="solid"/>
            <a:headEnd type="triangle" w="sm" len="med"/>
            <a:tailEnd type="none" w="med" len="med"/>
          </a:ln>
        </p:spPr>
      </p:sp>
      <p:sp>
        <p:nvSpPr>
          <p:cNvPr id="265238" name="直接连接符 265237"/>
          <p:cNvSpPr/>
          <p:nvPr/>
        </p:nvSpPr>
        <p:spPr>
          <a:xfrm>
            <a:off x="457200" y="6553200"/>
            <a:ext cx="1828800" cy="0"/>
          </a:xfrm>
          <a:prstGeom prst="line">
            <a:avLst/>
          </a:prstGeom>
          <a:ln w="76200" cap="flat" cmpd="sng">
            <a:solidFill>
              <a:srgbClr val="9966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39" name="直接连接符 265238"/>
          <p:cNvSpPr/>
          <p:nvPr/>
        </p:nvSpPr>
        <p:spPr>
          <a:xfrm>
            <a:off x="2286000" y="6172200"/>
            <a:ext cx="0" cy="381000"/>
          </a:xfrm>
          <a:prstGeom prst="line">
            <a:avLst/>
          </a:prstGeom>
          <a:ln w="76200" cap="flat" cmpd="sng">
            <a:solidFill>
              <a:srgbClr val="9966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40" name="任意多边形 265239">
            <a:hlinkClick r:id="" action="ppaction://noaction"/>
          </p:cNvPr>
          <p:cNvSpPr/>
          <p:nvPr/>
        </p:nvSpPr>
        <p:spPr>
          <a:xfrm>
            <a:off x="5334000" y="609600"/>
            <a:ext cx="1600200" cy="609600"/>
          </a:xfrm>
          <a:custGeom>
            <a:avLst/>
            <a:gdLst/>
            <a:ahLst/>
            <a:cxnLst/>
            <a:rect l="0" t="0" r="0" b="0"/>
            <a:pathLst>
              <a:path w="1008" h="384">
                <a:moveTo>
                  <a:pt x="0" y="384"/>
                </a:moveTo>
                <a:lnTo>
                  <a:pt x="288" y="384"/>
                </a:lnTo>
                <a:lnTo>
                  <a:pt x="384" y="192"/>
                </a:lnTo>
                <a:lnTo>
                  <a:pt x="624" y="192"/>
                </a:lnTo>
                <a:lnTo>
                  <a:pt x="720" y="384"/>
                </a:lnTo>
                <a:lnTo>
                  <a:pt x="1008" y="384"/>
                </a:lnTo>
                <a:lnTo>
                  <a:pt x="816" y="0"/>
                </a:lnTo>
                <a:lnTo>
                  <a:pt x="144" y="0"/>
                </a:lnTo>
                <a:lnTo>
                  <a:pt x="0" y="384"/>
                </a:lnTo>
                <a:close/>
              </a:path>
            </a:pathLst>
          </a:custGeom>
          <a:solidFill>
            <a:srgbClr val="B2B2B2">
              <a:alpha val="100000"/>
            </a:srgbClr>
          </a:solidFill>
          <a:ln w="12700" cap="flat" cmpd="sng">
            <a:solidFill>
              <a:srgbClr val="99330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5241" name="矩形 265240">
            <a:hlinkClick r:id="" action="ppaction://noaction"/>
          </p:cNvPr>
          <p:cNvSpPr/>
          <p:nvPr/>
        </p:nvSpPr>
        <p:spPr>
          <a:xfrm>
            <a:off x="5486400" y="1676400"/>
            <a:ext cx="1371600" cy="1905000"/>
          </a:xfrm>
          <a:prstGeom prst="rect">
            <a:avLst/>
          </a:prstGeom>
          <a:solidFill>
            <a:srgbClr val="CCFFCC"/>
          </a:solidFill>
          <a:ln w="12700" cap="flat" cmpd="sng">
            <a:solidFill>
              <a:srgbClr val="99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lvl="0" algn="ctr"/>
            <a:endParaRPr lang="zh-CN" altLang="en-US" sz="1800" b="1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5242" name="直接连接符 265241"/>
          <p:cNvSpPr/>
          <p:nvPr/>
        </p:nvSpPr>
        <p:spPr>
          <a:xfrm>
            <a:off x="5486400" y="2895600"/>
            <a:ext cx="1371600" cy="0"/>
          </a:xfrm>
          <a:prstGeom prst="line">
            <a:avLst/>
          </a:prstGeom>
          <a:ln w="12700" cap="flat" cmpd="sng">
            <a:solidFill>
              <a:srgbClr val="99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43" name="直接连接符 265242"/>
          <p:cNvSpPr/>
          <p:nvPr/>
        </p:nvSpPr>
        <p:spPr>
          <a:xfrm>
            <a:off x="5486400" y="2590800"/>
            <a:ext cx="1371600" cy="0"/>
          </a:xfrm>
          <a:prstGeom prst="line">
            <a:avLst/>
          </a:prstGeom>
          <a:ln w="12700" cap="flat" cmpd="sng">
            <a:solidFill>
              <a:srgbClr val="99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44" name="直接连接符 265243"/>
          <p:cNvSpPr/>
          <p:nvPr/>
        </p:nvSpPr>
        <p:spPr>
          <a:xfrm>
            <a:off x="5486400" y="1981200"/>
            <a:ext cx="1371600" cy="0"/>
          </a:xfrm>
          <a:prstGeom prst="line">
            <a:avLst/>
          </a:prstGeom>
          <a:ln w="12700" cap="flat" cmpd="sng">
            <a:solidFill>
              <a:srgbClr val="99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45" name="直接连接符 265244"/>
          <p:cNvSpPr/>
          <p:nvPr/>
        </p:nvSpPr>
        <p:spPr>
          <a:xfrm>
            <a:off x="5486400" y="2286000"/>
            <a:ext cx="1371600" cy="0"/>
          </a:xfrm>
          <a:prstGeom prst="line">
            <a:avLst/>
          </a:prstGeom>
          <a:ln w="12700" cap="flat" cmpd="sng">
            <a:solidFill>
              <a:srgbClr val="99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46" name="直接连接符 265245"/>
          <p:cNvSpPr/>
          <p:nvPr/>
        </p:nvSpPr>
        <p:spPr>
          <a:xfrm>
            <a:off x="5486400" y="3200400"/>
            <a:ext cx="1371600" cy="0"/>
          </a:xfrm>
          <a:prstGeom prst="line">
            <a:avLst/>
          </a:prstGeom>
          <a:ln w="12700" cap="flat" cmpd="sng">
            <a:solidFill>
              <a:srgbClr val="99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47" name="矩形 265246"/>
          <p:cNvSpPr/>
          <p:nvPr/>
        </p:nvSpPr>
        <p:spPr>
          <a:xfrm>
            <a:off x="3505200" y="4419600"/>
            <a:ext cx="1143000" cy="762000"/>
          </a:xfrm>
          <a:prstGeom prst="rect">
            <a:avLst/>
          </a:prstGeom>
          <a:solidFill>
            <a:srgbClr val="FF9900"/>
          </a:solidFill>
          <a:ln w="12700" cap="flat" cmpd="sng">
            <a:solidFill>
              <a:srgbClr val="99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5248" name="矩形 265247"/>
          <p:cNvSpPr/>
          <p:nvPr/>
        </p:nvSpPr>
        <p:spPr>
          <a:xfrm>
            <a:off x="5334000" y="4572000"/>
            <a:ext cx="1371600" cy="457200"/>
          </a:xfrm>
          <a:prstGeom prst="rect">
            <a:avLst/>
          </a:prstGeom>
          <a:solidFill>
            <a:srgbClr val="CCFFFF"/>
          </a:solidFill>
          <a:ln w="12700" cap="flat" cmpd="sng">
            <a:solidFill>
              <a:srgbClr val="99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5249" name="矩形 265248"/>
          <p:cNvSpPr/>
          <p:nvPr/>
        </p:nvSpPr>
        <p:spPr>
          <a:xfrm>
            <a:off x="7239000" y="2209800"/>
            <a:ext cx="1143000" cy="838200"/>
          </a:xfrm>
          <a:prstGeom prst="rect">
            <a:avLst/>
          </a:prstGeom>
          <a:solidFill>
            <a:srgbClr val="FF9900"/>
          </a:solidFill>
          <a:ln w="12700" cap="flat" cmpd="sng">
            <a:solidFill>
              <a:srgbClr val="99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5250" name="直接连接符 265249"/>
          <p:cNvSpPr/>
          <p:nvPr/>
        </p:nvSpPr>
        <p:spPr>
          <a:xfrm>
            <a:off x="8382000" y="2667000"/>
            <a:ext cx="762000" cy="0"/>
          </a:xfrm>
          <a:prstGeom prst="line">
            <a:avLst/>
          </a:prstGeom>
          <a:ln w="117475" cap="flat" cmpd="sng">
            <a:solidFill>
              <a:srgbClr val="996600"/>
            </a:solidFill>
            <a:prstDash val="solid"/>
            <a:headEnd type="triangle" w="sm" len="sm"/>
            <a:tailEnd type="triangle" w="sm" len="sm"/>
          </a:ln>
        </p:spPr>
      </p:sp>
      <p:sp>
        <p:nvSpPr>
          <p:cNvPr id="265251" name="直接连接符 265250"/>
          <p:cNvSpPr/>
          <p:nvPr/>
        </p:nvSpPr>
        <p:spPr>
          <a:xfrm>
            <a:off x="8001000" y="152400"/>
            <a:ext cx="0" cy="2057400"/>
          </a:xfrm>
          <a:prstGeom prst="line">
            <a:avLst/>
          </a:prstGeom>
          <a:ln w="117475" cap="flat" cmpd="sng">
            <a:solidFill>
              <a:srgbClr val="996600"/>
            </a:solidFill>
            <a:prstDash val="solid"/>
            <a:headEnd type="none" w="med" len="med"/>
            <a:tailEnd type="triangle" w="sm" len="sm"/>
          </a:ln>
        </p:spPr>
      </p:sp>
      <p:sp>
        <p:nvSpPr>
          <p:cNvPr id="265252" name="直接连接符 265251"/>
          <p:cNvSpPr/>
          <p:nvPr/>
        </p:nvSpPr>
        <p:spPr>
          <a:xfrm>
            <a:off x="6096000" y="381000"/>
            <a:ext cx="1828800" cy="0"/>
          </a:xfrm>
          <a:prstGeom prst="line">
            <a:avLst/>
          </a:prstGeom>
          <a:ln w="76200" cap="flat" cmpd="sng">
            <a:solidFill>
              <a:srgbClr val="996600"/>
            </a:solidFill>
            <a:prstDash val="solid"/>
            <a:headEnd type="none" w="med" len="med"/>
            <a:tailEnd type="triangle" w="sm" len="sm"/>
          </a:ln>
        </p:spPr>
      </p:sp>
      <p:sp>
        <p:nvSpPr>
          <p:cNvPr id="265253" name="直接连接符 265252"/>
          <p:cNvSpPr/>
          <p:nvPr/>
        </p:nvSpPr>
        <p:spPr>
          <a:xfrm>
            <a:off x="6096000" y="381000"/>
            <a:ext cx="0" cy="228600"/>
          </a:xfrm>
          <a:prstGeom prst="line">
            <a:avLst/>
          </a:prstGeom>
          <a:ln w="76200" cap="flat" cmpd="sng">
            <a:solidFill>
              <a:srgbClr val="99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54" name="直接连接符 265253"/>
          <p:cNvSpPr/>
          <p:nvPr/>
        </p:nvSpPr>
        <p:spPr>
          <a:xfrm>
            <a:off x="5638800" y="1219200"/>
            <a:ext cx="0" cy="457200"/>
          </a:xfrm>
          <a:prstGeom prst="line">
            <a:avLst/>
          </a:prstGeom>
          <a:ln w="76200" cap="flat" cmpd="sng">
            <a:solidFill>
              <a:srgbClr val="996600"/>
            </a:solidFill>
            <a:prstDash val="solid"/>
            <a:headEnd type="triangle" w="sm" len="sm"/>
            <a:tailEnd type="none" w="med" len="med"/>
          </a:ln>
        </p:spPr>
      </p:sp>
      <p:sp>
        <p:nvSpPr>
          <p:cNvPr id="265255" name="直接连接符 265254"/>
          <p:cNvSpPr/>
          <p:nvPr/>
        </p:nvSpPr>
        <p:spPr>
          <a:xfrm>
            <a:off x="6629400" y="1219200"/>
            <a:ext cx="0" cy="457200"/>
          </a:xfrm>
          <a:prstGeom prst="line">
            <a:avLst/>
          </a:prstGeom>
          <a:ln w="76200" cap="flat" cmpd="sng">
            <a:solidFill>
              <a:srgbClr val="996600"/>
            </a:solidFill>
            <a:prstDash val="solid"/>
            <a:headEnd type="triangle" w="sm" len="sm"/>
            <a:tailEnd type="triangle" w="sm" len="sm"/>
          </a:ln>
        </p:spPr>
      </p:sp>
      <p:sp>
        <p:nvSpPr>
          <p:cNvPr id="265256" name="直接连接符 265255"/>
          <p:cNvSpPr/>
          <p:nvPr/>
        </p:nvSpPr>
        <p:spPr>
          <a:xfrm>
            <a:off x="6629400" y="1447800"/>
            <a:ext cx="1371600" cy="0"/>
          </a:xfrm>
          <a:prstGeom prst="line">
            <a:avLst/>
          </a:prstGeom>
          <a:ln w="76200" cap="flat" cmpd="sng">
            <a:solidFill>
              <a:srgbClr val="996600"/>
            </a:solidFill>
            <a:prstDash val="solid"/>
            <a:headEnd type="triangle" w="sm" len="sm"/>
            <a:tailEnd type="triangle" w="sm" len="sm"/>
          </a:ln>
        </p:spPr>
      </p:sp>
      <p:sp>
        <p:nvSpPr>
          <p:cNvPr id="265257" name="文本框 265256"/>
          <p:cNvSpPr txBox="1"/>
          <p:nvPr/>
        </p:nvSpPr>
        <p:spPr>
          <a:xfrm>
            <a:off x="5530850" y="3214688"/>
            <a:ext cx="1335088" cy="366712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pPr lvl="0"/>
            <a:r>
              <a:rPr lang="zh-CN" altLang="en-US" sz="18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内部暂存器</a:t>
            </a:r>
            <a:endParaRPr lang="zh-CN" altLang="en-US" sz="1800" b="1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5258" name="文本框 265257"/>
          <p:cNvSpPr txBox="1"/>
          <p:nvPr/>
        </p:nvSpPr>
        <p:spPr>
          <a:xfrm>
            <a:off x="5562600" y="2895600"/>
            <a:ext cx="1066800" cy="3667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lvl="0">
              <a:spcBef>
                <a:spcPct val="50000"/>
              </a:spcBef>
            </a:pPr>
            <a:r>
              <a:rPr lang="zh-CN" altLang="zh-CN" sz="18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</a:t>
            </a:r>
            <a:r>
              <a:rPr lang="en-US" altLang="zh-CN" sz="18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IP</a:t>
            </a:r>
          </a:p>
        </p:txBody>
      </p:sp>
      <p:sp>
        <p:nvSpPr>
          <p:cNvPr id="265259" name="文本框 265258"/>
          <p:cNvSpPr txBox="1"/>
          <p:nvPr/>
        </p:nvSpPr>
        <p:spPr>
          <a:xfrm>
            <a:off x="5638800" y="2590800"/>
            <a:ext cx="990600" cy="3667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lvl="0">
              <a:spcBef>
                <a:spcPct val="50000"/>
              </a:spcBef>
            </a:pPr>
            <a:r>
              <a:rPr lang="zh-CN" altLang="en-US" sz="18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en-US" altLang="zh-CN" sz="18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ES</a:t>
            </a:r>
          </a:p>
        </p:txBody>
      </p:sp>
      <p:sp>
        <p:nvSpPr>
          <p:cNvPr id="265260" name="文本框 265259"/>
          <p:cNvSpPr txBox="1"/>
          <p:nvPr/>
        </p:nvSpPr>
        <p:spPr>
          <a:xfrm>
            <a:off x="5791200" y="2286000"/>
            <a:ext cx="609600" cy="3667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lvl="0">
              <a:spcBef>
                <a:spcPct val="50000"/>
              </a:spcBef>
            </a:pPr>
            <a:r>
              <a:rPr lang="zh-CN" altLang="en-US" sz="18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SS</a:t>
            </a:r>
          </a:p>
        </p:txBody>
      </p:sp>
      <p:sp>
        <p:nvSpPr>
          <p:cNvPr id="265261" name="文本框 265260"/>
          <p:cNvSpPr txBox="1"/>
          <p:nvPr/>
        </p:nvSpPr>
        <p:spPr>
          <a:xfrm>
            <a:off x="5791200" y="1981200"/>
            <a:ext cx="685800" cy="3667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lvl="0">
              <a:spcBef>
                <a:spcPct val="50000"/>
              </a:spcBef>
            </a:pPr>
            <a:r>
              <a:rPr lang="zh-CN" altLang="en-US" sz="18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DS</a:t>
            </a:r>
          </a:p>
        </p:txBody>
      </p:sp>
      <p:sp>
        <p:nvSpPr>
          <p:cNvPr id="265262" name="文本框 265261"/>
          <p:cNvSpPr txBox="1"/>
          <p:nvPr/>
        </p:nvSpPr>
        <p:spPr>
          <a:xfrm>
            <a:off x="5791200" y="1676400"/>
            <a:ext cx="838200" cy="3667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lvl="0">
              <a:spcBef>
                <a:spcPct val="50000"/>
              </a:spcBef>
            </a:pPr>
            <a:r>
              <a:rPr lang="zh-CN" altLang="en-US" sz="18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CS</a:t>
            </a:r>
          </a:p>
        </p:txBody>
      </p:sp>
      <p:sp>
        <p:nvSpPr>
          <p:cNvPr id="265263" name="文本框 265262">
            <a:hlinkClick r:id="" action="ppaction://noaction"/>
          </p:cNvPr>
          <p:cNvSpPr txBox="1"/>
          <p:nvPr/>
        </p:nvSpPr>
        <p:spPr>
          <a:xfrm>
            <a:off x="7239000" y="2286000"/>
            <a:ext cx="1295400" cy="64135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lvl="0">
              <a:spcBef>
                <a:spcPct val="50000"/>
              </a:spcBef>
            </a:pPr>
            <a:r>
              <a:rPr lang="zh-CN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输入</a:t>
            </a:r>
            <a:r>
              <a: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zh-CN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输出控制电路</a:t>
            </a:r>
            <a:endParaRPr lang="zh-CN" altLang="en-US" sz="18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5264" name="文本框 265263"/>
          <p:cNvSpPr txBox="1"/>
          <p:nvPr/>
        </p:nvSpPr>
        <p:spPr>
          <a:xfrm>
            <a:off x="8755063" y="2946400"/>
            <a:ext cx="274637" cy="1905000"/>
          </a:xfrm>
          <a:prstGeom prst="rect">
            <a:avLst/>
          </a:prstGeom>
          <a:noFill/>
          <a:ln w="12700">
            <a:noFill/>
          </a:ln>
        </p:spPr>
        <p:txBody>
          <a:bodyPr vert="eaVert" lIns="0" rIns="0">
            <a:spAutoFit/>
          </a:bodyPr>
          <a:lstStyle/>
          <a:p>
            <a:pPr lvl="0">
              <a:spcBef>
                <a:spcPct val="50000"/>
              </a:spcBef>
            </a:pPr>
            <a:r>
              <a:rPr lang="zh-CN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外部总线</a:t>
            </a:r>
            <a:endParaRPr lang="zh-CN" altLang="en-US" sz="18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5265" name="直接连接符 265264"/>
          <p:cNvSpPr/>
          <p:nvPr/>
        </p:nvSpPr>
        <p:spPr>
          <a:xfrm>
            <a:off x="4648200" y="4800600"/>
            <a:ext cx="685800" cy="0"/>
          </a:xfrm>
          <a:prstGeom prst="line">
            <a:avLst/>
          </a:prstGeom>
          <a:ln w="95250" cap="flat" cmpd="sng">
            <a:solidFill>
              <a:srgbClr val="996600"/>
            </a:solidFill>
            <a:prstDash val="solid"/>
            <a:headEnd type="triangle" w="sm" len="sm"/>
            <a:tailEnd type="none" w="med" len="med"/>
          </a:ln>
        </p:spPr>
      </p:sp>
      <p:sp>
        <p:nvSpPr>
          <p:cNvPr id="265266" name="直接连接符 265265"/>
          <p:cNvSpPr/>
          <p:nvPr/>
        </p:nvSpPr>
        <p:spPr>
          <a:xfrm>
            <a:off x="8001000" y="3048000"/>
            <a:ext cx="0" cy="1752600"/>
          </a:xfrm>
          <a:prstGeom prst="line">
            <a:avLst/>
          </a:prstGeom>
          <a:ln w="101600" cap="flat" cmpd="sng">
            <a:solidFill>
              <a:srgbClr val="9966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67" name="直接连接符 265266"/>
          <p:cNvSpPr/>
          <p:nvPr/>
        </p:nvSpPr>
        <p:spPr>
          <a:xfrm>
            <a:off x="6705600" y="4800600"/>
            <a:ext cx="1295400" cy="0"/>
          </a:xfrm>
          <a:prstGeom prst="line">
            <a:avLst/>
          </a:prstGeom>
          <a:ln w="95250" cap="flat" cmpd="sng">
            <a:solidFill>
              <a:srgbClr val="996600"/>
            </a:solidFill>
            <a:prstDash val="solid"/>
            <a:headEnd type="triangle" w="sm" len="sm"/>
            <a:tailEnd type="none" w="med" len="med"/>
          </a:ln>
        </p:spPr>
      </p:sp>
      <p:sp>
        <p:nvSpPr>
          <p:cNvPr id="265268" name="直接连接符 265267"/>
          <p:cNvSpPr/>
          <p:nvPr/>
        </p:nvSpPr>
        <p:spPr>
          <a:xfrm>
            <a:off x="5105400" y="3886200"/>
            <a:ext cx="0" cy="914400"/>
          </a:xfrm>
          <a:prstGeom prst="line">
            <a:avLst/>
          </a:prstGeom>
          <a:ln w="88900" cap="flat" cmpd="sng">
            <a:solidFill>
              <a:srgbClr val="996600"/>
            </a:solidFill>
            <a:prstDash val="solid"/>
            <a:headEnd type="triangle" w="sm" len="sm"/>
            <a:tailEnd type="none" w="med" len="med"/>
          </a:ln>
        </p:spPr>
      </p:sp>
      <p:sp>
        <p:nvSpPr>
          <p:cNvPr id="265269" name="直接连接符 265268"/>
          <p:cNvSpPr/>
          <p:nvPr/>
        </p:nvSpPr>
        <p:spPr>
          <a:xfrm>
            <a:off x="4953000" y="3429000"/>
            <a:ext cx="533400" cy="0"/>
          </a:xfrm>
          <a:prstGeom prst="line">
            <a:avLst/>
          </a:prstGeom>
          <a:ln w="88900" cap="flat" cmpd="sng">
            <a:solidFill>
              <a:srgbClr val="996600"/>
            </a:solidFill>
            <a:prstDash val="solid"/>
            <a:headEnd type="none" w="med" len="med"/>
            <a:tailEnd type="triangle" w="sm" len="sm"/>
          </a:ln>
        </p:spPr>
      </p:sp>
      <p:sp>
        <p:nvSpPr>
          <p:cNvPr id="265270" name="直接连接符 265269"/>
          <p:cNvSpPr/>
          <p:nvPr/>
        </p:nvSpPr>
        <p:spPr>
          <a:xfrm flipH="1">
            <a:off x="4953000" y="3429000"/>
            <a:ext cx="1588" cy="381000"/>
          </a:xfrm>
          <a:prstGeom prst="line">
            <a:avLst/>
          </a:prstGeom>
          <a:ln w="88900" cap="flat" cmpd="sng">
            <a:solidFill>
              <a:srgbClr val="996600"/>
            </a:solidFill>
            <a:prstDash val="solid"/>
            <a:headEnd type="none" w="med" len="med"/>
            <a:tailEnd type="triangle" w="sm" len="sm"/>
          </a:ln>
        </p:spPr>
      </p:sp>
      <p:sp>
        <p:nvSpPr>
          <p:cNvPr id="265271" name="文本框 265270">
            <a:hlinkClick r:id="" action="ppaction://noaction"/>
          </p:cNvPr>
          <p:cNvSpPr txBox="1"/>
          <p:nvPr/>
        </p:nvSpPr>
        <p:spPr>
          <a:xfrm>
            <a:off x="3581400" y="4495800"/>
            <a:ext cx="1143000" cy="64135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lvl="0">
              <a:spcBef>
                <a:spcPct val="50000"/>
              </a:spcBef>
            </a:pPr>
            <a:r>
              <a:rPr lang="zh-CN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执行部分控制电路</a:t>
            </a:r>
            <a:endParaRPr lang="zh-CN" altLang="en-US" sz="18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5272" name="直接连接符 265271"/>
          <p:cNvSpPr/>
          <p:nvPr/>
        </p:nvSpPr>
        <p:spPr>
          <a:xfrm>
            <a:off x="3352800" y="3581400"/>
            <a:ext cx="0" cy="2362200"/>
          </a:xfrm>
          <a:prstGeom prst="line">
            <a:avLst/>
          </a:prstGeom>
          <a:ln w="25400" cap="flat" cmpd="sng">
            <a:solidFill>
              <a:srgbClr val="FF66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73" name="直接连接符 265272"/>
          <p:cNvSpPr/>
          <p:nvPr/>
        </p:nvSpPr>
        <p:spPr>
          <a:xfrm>
            <a:off x="2667000" y="3581400"/>
            <a:ext cx="685800" cy="0"/>
          </a:xfrm>
          <a:prstGeom prst="line">
            <a:avLst/>
          </a:prstGeom>
          <a:ln w="25400" cap="flat" cmpd="sng">
            <a:solidFill>
              <a:srgbClr val="FF66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74" name="直接连接符 265273"/>
          <p:cNvSpPr/>
          <p:nvPr/>
        </p:nvSpPr>
        <p:spPr>
          <a:xfrm>
            <a:off x="2667000" y="3352800"/>
            <a:ext cx="0" cy="228600"/>
          </a:xfrm>
          <a:prstGeom prst="line">
            <a:avLst/>
          </a:prstGeom>
          <a:ln w="25400" cap="flat" cmpd="sng">
            <a:solidFill>
              <a:srgbClr val="FF6600"/>
            </a:solidFill>
            <a:prstDash val="solid"/>
            <a:headEnd type="triangle" w="sm" len="med"/>
            <a:tailEnd type="none" w="med" len="med"/>
          </a:ln>
        </p:spPr>
      </p:sp>
      <p:sp>
        <p:nvSpPr>
          <p:cNvPr id="265275" name="直接连接符 265274"/>
          <p:cNvSpPr/>
          <p:nvPr/>
        </p:nvSpPr>
        <p:spPr>
          <a:xfrm>
            <a:off x="2895600" y="4800600"/>
            <a:ext cx="609600" cy="0"/>
          </a:xfrm>
          <a:prstGeom prst="line">
            <a:avLst/>
          </a:prstGeom>
          <a:ln w="25400" cap="flat" cmpd="sng">
            <a:solidFill>
              <a:srgbClr val="FF6600"/>
            </a:solidFill>
            <a:prstDash val="solid"/>
            <a:headEnd type="triangle" w="sm" len="med"/>
            <a:tailEnd type="none" w="med" len="med"/>
          </a:ln>
        </p:spPr>
      </p:sp>
      <p:sp>
        <p:nvSpPr>
          <p:cNvPr id="265276" name="直接连接符 265275"/>
          <p:cNvSpPr/>
          <p:nvPr/>
        </p:nvSpPr>
        <p:spPr>
          <a:xfrm>
            <a:off x="3048000" y="5943600"/>
            <a:ext cx="304800" cy="0"/>
          </a:xfrm>
          <a:prstGeom prst="line">
            <a:avLst/>
          </a:prstGeom>
          <a:ln w="25400" cap="flat" cmpd="sng">
            <a:solidFill>
              <a:srgbClr val="FF6600"/>
            </a:solidFill>
            <a:prstDash val="solid"/>
            <a:headEnd type="triangle" w="sm" len="med"/>
            <a:tailEnd type="none" w="med" len="med"/>
          </a:ln>
        </p:spPr>
      </p:sp>
      <p:sp>
        <p:nvSpPr>
          <p:cNvPr id="265277" name="直接连接符 265276"/>
          <p:cNvSpPr/>
          <p:nvPr/>
        </p:nvSpPr>
        <p:spPr>
          <a:xfrm>
            <a:off x="5562600" y="4572000"/>
            <a:ext cx="0" cy="457200"/>
          </a:xfrm>
          <a:prstGeom prst="line">
            <a:avLst/>
          </a:prstGeom>
          <a:ln w="12700" cap="flat" cmpd="sng">
            <a:solidFill>
              <a:srgbClr val="996600"/>
            </a:solidFill>
            <a:prstDash val="solid"/>
            <a:headEnd type="none" w="med" len="med"/>
            <a:tailEnd type="none" w="sm" len="sm"/>
          </a:ln>
        </p:spPr>
      </p:sp>
      <p:sp>
        <p:nvSpPr>
          <p:cNvPr id="265278" name="直接连接符 265277"/>
          <p:cNvSpPr/>
          <p:nvPr/>
        </p:nvSpPr>
        <p:spPr>
          <a:xfrm>
            <a:off x="5791200" y="4572000"/>
            <a:ext cx="0" cy="457200"/>
          </a:xfrm>
          <a:prstGeom prst="line">
            <a:avLst/>
          </a:prstGeom>
          <a:ln w="12700" cap="flat" cmpd="sng">
            <a:solidFill>
              <a:srgbClr val="996600"/>
            </a:solidFill>
            <a:prstDash val="solid"/>
            <a:headEnd type="none" w="med" len="med"/>
            <a:tailEnd type="none" w="sm" len="sm"/>
          </a:ln>
        </p:spPr>
      </p:sp>
      <p:sp>
        <p:nvSpPr>
          <p:cNvPr id="265279" name="直接连接符 265278"/>
          <p:cNvSpPr/>
          <p:nvPr/>
        </p:nvSpPr>
        <p:spPr>
          <a:xfrm>
            <a:off x="6019800" y="4572000"/>
            <a:ext cx="0" cy="457200"/>
          </a:xfrm>
          <a:prstGeom prst="line">
            <a:avLst/>
          </a:prstGeom>
          <a:ln w="12700" cap="flat" cmpd="sng">
            <a:solidFill>
              <a:srgbClr val="996600"/>
            </a:solidFill>
            <a:prstDash val="solid"/>
            <a:headEnd type="none" w="med" len="med"/>
            <a:tailEnd type="none" w="sm" len="sm"/>
          </a:ln>
        </p:spPr>
      </p:sp>
      <p:sp>
        <p:nvSpPr>
          <p:cNvPr id="265280" name="直接连接符 265279"/>
          <p:cNvSpPr/>
          <p:nvPr/>
        </p:nvSpPr>
        <p:spPr>
          <a:xfrm>
            <a:off x="6248400" y="4572000"/>
            <a:ext cx="0" cy="457200"/>
          </a:xfrm>
          <a:prstGeom prst="line">
            <a:avLst/>
          </a:prstGeom>
          <a:ln w="12700" cap="flat" cmpd="sng">
            <a:solidFill>
              <a:srgbClr val="996600"/>
            </a:solidFill>
            <a:prstDash val="solid"/>
            <a:headEnd type="none" w="med" len="med"/>
            <a:tailEnd type="none" w="sm" len="sm"/>
          </a:ln>
        </p:spPr>
      </p:sp>
      <p:sp>
        <p:nvSpPr>
          <p:cNvPr id="265281" name="直接连接符 265280"/>
          <p:cNvSpPr/>
          <p:nvPr/>
        </p:nvSpPr>
        <p:spPr>
          <a:xfrm>
            <a:off x="6477000" y="4572000"/>
            <a:ext cx="0" cy="457200"/>
          </a:xfrm>
          <a:prstGeom prst="line">
            <a:avLst/>
          </a:prstGeom>
          <a:ln w="12700" cap="flat" cmpd="sng">
            <a:solidFill>
              <a:srgbClr val="996600"/>
            </a:solidFill>
            <a:prstDash val="solid"/>
            <a:headEnd type="none" w="med" len="med"/>
            <a:tailEnd type="none" w="sm" len="sm"/>
          </a:ln>
        </p:spPr>
      </p:sp>
      <p:sp>
        <p:nvSpPr>
          <p:cNvPr id="265282" name="文本框 265281">
            <a:hlinkClick r:id="" action="ppaction://noaction"/>
          </p:cNvPr>
          <p:cNvSpPr txBox="1"/>
          <p:nvPr/>
        </p:nvSpPr>
        <p:spPr>
          <a:xfrm>
            <a:off x="5334000" y="4648200"/>
            <a:ext cx="1447800" cy="366713"/>
          </a:xfrm>
          <a:prstGeom prst="rect">
            <a:avLst/>
          </a:prstGeom>
          <a:noFill/>
          <a:ln w="88900">
            <a:noFill/>
          </a:ln>
        </p:spPr>
        <p:txBody>
          <a:bodyPr>
            <a:spAutoFit/>
          </a:bodyPr>
          <a:lstStyle/>
          <a:p>
            <a:pPr lvl="0">
              <a:spcBef>
                <a:spcPct val="50000"/>
              </a:spcBef>
            </a:pPr>
            <a:r>
              <a:rPr lang="en-US" altLang="zh-CN" sz="18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1 2  3  4  5  6</a:t>
            </a:r>
          </a:p>
        </p:txBody>
      </p:sp>
      <p:sp>
        <p:nvSpPr>
          <p:cNvPr id="265283" name="直接连接符 265282"/>
          <p:cNvSpPr/>
          <p:nvPr/>
        </p:nvSpPr>
        <p:spPr>
          <a:xfrm>
            <a:off x="4800600" y="304800"/>
            <a:ext cx="0" cy="6324600"/>
          </a:xfrm>
          <a:prstGeom prst="line">
            <a:avLst/>
          </a:prstGeom>
          <a:ln w="12700" cap="flat" cmpd="sng">
            <a:solidFill>
              <a:srgbClr val="333333"/>
            </a:solidFill>
            <a:prstDash val="lgDashDot"/>
            <a:headEnd type="none" w="med" len="med"/>
            <a:tailEnd type="none" w="sm" len="sm"/>
          </a:ln>
        </p:spPr>
      </p:sp>
      <p:sp>
        <p:nvSpPr>
          <p:cNvPr id="265284" name="直接连接符 265283"/>
          <p:cNvSpPr/>
          <p:nvPr/>
        </p:nvSpPr>
        <p:spPr>
          <a:xfrm>
            <a:off x="8686800" y="228600"/>
            <a:ext cx="0" cy="6324600"/>
          </a:xfrm>
          <a:prstGeom prst="line">
            <a:avLst/>
          </a:prstGeom>
          <a:ln w="12700" cap="flat" cmpd="sng">
            <a:solidFill>
              <a:srgbClr val="000000"/>
            </a:solidFill>
            <a:prstDash val="lgDashDot"/>
            <a:headEnd type="none" w="med" len="med"/>
            <a:tailEnd type="none" w="sm" len="sm"/>
          </a:ln>
        </p:spPr>
      </p:sp>
      <p:sp>
        <p:nvSpPr>
          <p:cNvPr id="265285" name="文本框 265284"/>
          <p:cNvSpPr txBox="1"/>
          <p:nvPr/>
        </p:nvSpPr>
        <p:spPr>
          <a:xfrm>
            <a:off x="5900738" y="533400"/>
            <a:ext cx="533400" cy="457200"/>
          </a:xfrm>
          <a:prstGeom prst="rect">
            <a:avLst/>
          </a:prstGeom>
          <a:noFill/>
          <a:ln w="88900">
            <a:noFill/>
          </a:ln>
        </p:spPr>
        <p:txBody>
          <a:bodyPr>
            <a:spAutoFit/>
          </a:bodyPr>
          <a:lstStyle/>
          <a:p>
            <a:pPr lvl="0">
              <a:spcBef>
                <a:spcPct val="50000"/>
              </a:spcBef>
            </a:pPr>
            <a:r>
              <a:rPr lang="zh-CN" altLang="en-US" sz="2400" b="1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∑</a:t>
            </a:r>
          </a:p>
        </p:txBody>
      </p:sp>
      <p:sp>
        <p:nvSpPr>
          <p:cNvPr id="265286" name="文本框 265285"/>
          <p:cNvSpPr txBox="1"/>
          <p:nvPr/>
        </p:nvSpPr>
        <p:spPr>
          <a:xfrm>
            <a:off x="1752600" y="4724400"/>
            <a:ext cx="838200" cy="457200"/>
          </a:xfrm>
          <a:prstGeom prst="rect">
            <a:avLst/>
          </a:prstGeom>
          <a:noFill/>
          <a:ln w="88900">
            <a:noFill/>
          </a:ln>
        </p:spPr>
        <p:txBody>
          <a:bodyPr>
            <a:spAutoFit/>
          </a:bodyPr>
          <a:lstStyle/>
          <a:p>
            <a:pPr lvl="0">
              <a:spcBef>
                <a:spcPct val="50000"/>
              </a:spcBef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ALU</a:t>
            </a:r>
            <a:endParaRPr lang="en-US" altLang="zh-CN" sz="18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5287" name="文本框 265286">
            <a:hlinkClick r:id="" action="ppaction://noaction"/>
          </p:cNvPr>
          <p:cNvSpPr txBox="1"/>
          <p:nvPr/>
        </p:nvSpPr>
        <p:spPr>
          <a:xfrm>
            <a:off x="1447800" y="5791200"/>
            <a:ext cx="1524000" cy="366713"/>
          </a:xfrm>
          <a:prstGeom prst="rect">
            <a:avLst/>
          </a:prstGeom>
          <a:noFill/>
          <a:ln w="88900">
            <a:noFill/>
          </a:ln>
        </p:spPr>
        <p:txBody>
          <a:bodyPr>
            <a:spAutoFit/>
          </a:bodyPr>
          <a:lstStyle/>
          <a:p>
            <a:pPr lvl="0">
              <a:spcBef>
                <a:spcPct val="50000"/>
              </a:spcBef>
            </a:pPr>
            <a:r>
              <a:rPr lang="zh-CN" altLang="en-US" sz="18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标志寄存器</a:t>
            </a:r>
            <a:endParaRPr lang="zh-CN" altLang="en-US" sz="1800" b="1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65288" name="组合 265287"/>
          <p:cNvGrpSpPr/>
          <p:nvPr/>
        </p:nvGrpSpPr>
        <p:grpSpPr>
          <a:xfrm>
            <a:off x="1371600" y="914400"/>
            <a:ext cx="1524000" cy="2500313"/>
            <a:chOff x="864" y="576"/>
            <a:chExt cx="960" cy="1575"/>
          </a:xfrm>
        </p:grpSpPr>
        <p:sp>
          <p:nvSpPr>
            <p:cNvPr id="265289" name="文本框 265288"/>
            <p:cNvSpPr txBox="1"/>
            <p:nvPr/>
          </p:nvSpPr>
          <p:spPr>
            <a:xfrm>
              <a:off x="864" y="576"/>
              <a:ext cx="960" cy="231"/>
            </a:xfrm>
            <a:prstGeom prst="rect">
              <a:avLst/>
            </a:prstGeom>
            <a:noFill/>
            <a:ln w="88900">
              <a:noFill/>
            </a:ln>
          </p:spPr>
          <p:txBody>
            <a:bodyPr>
              <a:spAutoFit/>
            </a:bodyPr>
            <a:lstStyle/>
            <a:p>
              <a:pPr lvl="0">
                <a:spcBef>
                  <a:spcPct val="50000"/>
                </a:spcBef>
              </a:pPr>
              <a:r>
                <a:rPr lang="zh-CN" altLang="en-US" sz="1800" b="1">
                  <a:latin typeface="Times New Roman" panose="02020603050405020304" pitchFamily="18" charset="0"/>
                  <a:ea typeface="宋体" panose="02010600030101010101" pitchFamily="2" charset="-122"/>
                </a:rPr>
                <a:t>   </a:t>
              </a:r>
              <a:r>
                <a:rPr lang="en-US" altLang="zh-CN" sz="18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AH      AL</a:t>
              </a:r>
              <a:r>
                <a:rPr lang="en-US" altLang="zh-CN" sz="1800" b="1">
                  <a:latin typeface="Times New Roman" panose="02020603050405020304" pitchFamily="18" charset="0"/>
                  <a:ea typeface="宋体" panose="02010600030101010101" pitchFamily="2" charset="-122"/>
                </a:rPr>
                <a:t>   </a:t>
              </a:r>
            </a:p>
          </p:txBody>
        </p:sp>
        <p:sp>
          <p:nvSpPr>
            <p:cNvPr id="265290" name="文本框 265289"/>
            <p:cNvSpPr txBox="1"/>
            <p:nvPr/>
          </p:nvSpPr>
          <p:spPr>
            <a:xfrm>
              <a:off x="912" y="768"/>
              <a:ext cx="864" cy="231"/>
            </a:xfrm>
            <a:prstGeom prst="rect">
              <a:avLst/>
            </a:prstGeom>
            <a:noFill/>
            <a:ln w="88900">
              <a:noFill/>
            </a:ln>
          </p:spPr>
          <p:txBody>
            <a:bodyPr>
              <a:spAutoFit/>
            </a:bodyPr>
            <a:lstStyle/>
            <a:p>
              <a:pPr lvl="0">
                <a:spcBef>
                  <a:spcPct val="50000"/>
                </a:spcBef>
              </a:pPr>
              <a:r>
                <a:rPr lang="zh-CN" altLang="en-US" sz="1800" b="1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8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BH      BL</a:t>
              </a:r>
            </a:p>
          </p:txBody>
        </p:sp>
        <p:sp>
          <p:nvSpPr>
            <p:cNvPr id="265291" name="文本框 265290"/>
            <p:cNvSpPr txBox="1"/>
            <p:nvPr/>
          </p:nvSpPr>
          <p:spPr>
            <a:xfrm>
              <a:off x="960" y="960"/>
              <a:ext cx="816" cy="231"/>
            </a:xfrm>
            <a:prstGeom prst="rect">
              <a:avLst/>
            </a:prstGeom>
            <a:noFill/>
            <a:ln w="88900">
              <a:noFill/>
            </a:ln>
          </p:spPr>
          <p:txBody>
            <a:bodyPr>
              <a:spAutoFit/>
            </a:bodyPr>
            <a:lstStyle/>
            <a:p>
              <a:pPr lvl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CH      CL</a:t>
              </a:r>
            </a:p>
          </p:txBody>
        </p:sp>
        <p:sp>
          <p:nvSpPr>
            <p:cNvPr id="265292" name="文本框 265291"/>
            <p:cNvSpPr txBox="1"/>
            <p:nvPr/>
          </p:nvSpPr>
          <p:spPr>
            <a:xfrm>
              <a:off x="912" y="1152"/>
              <a:ext cx="864" cy="231"/>
            </a:xfrm>
            <a:prstGeom prst="rect">
              <a:avLst/>
            </a:prstGeom>
            <a:noFill/>
            <a:ln w="88900">
              <a:noFill/>
            </a:ln>
          </p:spPr>
          <p:txBody>
            <a:bodyPr>
              <a:spAutoFit/>
            </a:bodyPr>
            <a:lstStyle/>
            <a:p>
              <a:pPr lvl="0">
                <a:spcBef>
                  <a:spcPct val="50000"/>
                </a:spcBef>
              </a:pPr>
              <a:r>
                <a:rPr lang="zh-CN" altLang="en-US" sz="1800" b="1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8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DH      DL</a:t>
              </a:r>
            </a:p>
          </p:txBody>
        </p:sp>
        <p:sp>
          <p:nvSpPr>
            <p:cNvPr id="265293" name="文本框 265292"/>
            <p:cNvSpPr txBox="1"/>
            <p:nvPr/>
          </p:nvSpPr>
          <p:spPr>
            <a:xfrm>
              <a:off x="1056" y="1344"/>
              <a:ext cx="576" cy="231"/>
            </a:xfrm>
            <a:prstGeom prst="rect">
              <a:avLst/>
            </a:prstGeom>
            <a:noFill/>
            <a:ln w="88900">
              <a:noFill/>
            </a:ln>
          </p:spPr>
          <p:txBody>
            <a:bodyPr>
              <a:spAutoFit/>
            </a:bodyPr>
            <a:lstStyle/>
            <a:p>
              <a:pPr lvl="0">
                <a:spcBef>
                  <a:spcPct val="50000"/>
                </a:spcBef>
              </a:pPr>
              <a:r>
                <a:rPr lang="zh-CN" altLang="en-US" sz="1800" b="1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zh-CN" altLang="en-US" sz="18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</a:t>
              </a:r>
              <a:r>
                <a:rPr lang="en-US" altLang="zh-CN" sz="18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SP</a:t>
              </a:r>
            </a:p>
          </p:txBody>
        </p:sp>
        <p:sp>
          <p:nvSpPr>
            <p:cNvPr id="265294" name="文本框 265293"/>
            <p:cNvSpPr txBox="1"/>
            <p:nvPr/>
          </p:nvSpPr>
          <p:spPr>
            <a:xfrm>
              <a:off x="1056" y="1536"/>
              <a:ext cx="528" cy="231"/>
            </a:xfrm>
            <a:prstGeom prst="rect">
              <a:avLst/>
            </a:prstGeom>
            <a:noFill/>
            <a:ln w="88900">
              <a:noFill/>
            </a:ln>
          </p:spPr>
          <p:txBody>
            <a:bodyPr>
              <a:spAutoFit/>
            </a:bodyPr>
            <a:lstStyle/>
            <a:p>
              <a:pPr lvl="0">
                <a:spcBef>
                  <a:spcPct val="50000"/>
                </a:spcBef>
              </a:pPr>
              <a:r>
                <a:rPr lang="zh-CN" altLang="en-US" sz="1800" b="1">
                  <a:latin typeface="Times New Roman" panose="02020603050405020304" pitchFamily="18" charset="0"/>
                  <a:ea typeface="宋体" panose="02010600030101010101" pitchFamily="2" charset="-122"/>
                </a:rPr>
                <a:t>    </a:t>
              </a:r>
              <a:r>
                <a:rPr lang="en-US" altLang="zh-CN" sz="18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BP</a:t>
              </a:r>
            </a:p>
          </p:txBody>
        </p:sp>
        <p:sp>
          <p:nvSpPr>
            <p:cNvPr id="265295" name="文本框 265294"/>
            <p:cNvSpPr txBox="1"/>
            <p:nvPr/>
          </p:nvSpPr>
          <p:spPr>
            <a:xfrm>
              <a:off x="1056" y="1728"/>
              <a:ext cx="576" cy="231"/>
            </a:xfrm>
            <a:prstGeom prst="rect">
              <a:avLst/>
            </a:prstGeom>
            <a:noFill/>
            <a:ln w="88900">
              <a:noFill/>
            </a:ln>
          </p:spPr>
          <p:txBody>
            <a:bodyPr>
              <a:spAutoFit/>
            </a:bodyPr>
            <a:lstStyle/>
            <a:p>
              <a:pPr lvl="0">
                <a:spcBef>
                  <a:spcPct val="50000"/>
                </a:spcBef>
              </a:pPr>
              <a:r>
                <a:rPr lang="zh-CN" altLang="en-US" sz="1800" b="1">
                  <a:latin typeface="Times New Roman" panose="02020603050405020304" pitchFamily="18" charset="0"/>
                  <a:ea typeface="宋体" panose="02010600030101010101" pitchFamily="2" charset="-122"/>
                </a:rPr>
                <a:t>    </a:t>
              </a:r>
              <a:r>
                <a:rPr lang="en-US" altLang="zh-CN" sz="18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SI</a:t>
              </a:r>
            </a:p>
          </p:txBody>
        </p:sp>
        <p:sp>
          <p:nvSpPr>
            <p:cNvPr id="265296" name="文本框 265295"/>
            <p:cNvSpPr txBox="1"/>
            <p:nvPr/>
          </p:nvSpPr>
          <p:spPr>
            <a:xfrm>
              <a:off x="1104" y="1920"/>
              <a:ext cx="480" cy="231"/>
            </a:xfrm>
            <a:prstGeom prst="rect">
              <a:avLst/>
            </a:prstGeom>
            <a:noFill/>
            <a:ln w="88900">
              <a:noFill/>
            </a:ln>
          </p:spPr>
          <p:txBody>
            <a:bodyPr>
              <a:spAutoFit/>
            </a:bodyPr>
            <a:lstStyle/>
            <a:p>
              <a:pPr lvl="0">
                <a:spcBef>
                  <a:spcPct val="50000"/>
                </a:spcBef>
              </a:pPr>
              <a:r>
                <a:rPr lang="zh-CN" altLang="en-US" sz="18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</a:t>
              </a:r>
              <a:r>
                <a:rPr lang="en-US" altLang="zh-CN" sz="18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DI</a:t>
              </a:r>
            </a:p>
          </p:txBody>
        </p:sp>
      </p:grpSp>
      <p:sp>
        <p:nvSpPr>
          <p:cNvPr id="265297" name="文本框 265296"/>
          <p:cNvSpPr txBox="1"/>
          <p:nvPr/>
        </p:nvSpPr>
        <p:spPr>
          <a:xfrm>
            <a:off x="685800" y="1143000"/>
            <a:ext cx="838200" cy="901700"/>
          </a:xfrm>
          <a:prstGeom prst="rect">
            <a:avLst/>
          </a:prstGeom>
          <a:noFill/>
          <a:ln w="88900">
            <a:noFill/>
          </a:ln>
        </p:spPr>
        <p:txBody>
          <a:bodyPr>
            <a:spAutoFit/>
          </a:bodyPr>
          <a:lstStyle/>
          <a:p>
            <a:pPr lvl="0">
              <a:lnSpc>
                <a:spcPct val="65000"/>
              </a:lnSpc>
              <a:spcBef>
                <a:spcPct val="50000"/>
              </a:spcBef>
            </a:pPr>
            <a:r>
              <a:rPr lang="zh-CN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通用</a:t>
            </a:r>
          </a:p>
          <a:p>
            <a:pPr lvl="0">
              <a:lnSpc>
                <a:spcPct val="65000"/>
              </a:lnSpc>
              <a:spcBef>
                <a:spcPct val="50000"/>
              </a:spcBef>
            </a:pPr>
            <a:r>
              <a:rPr lang="zh-CN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寄存</a:t>
            </a:r>
          </a:p>
          <a:p>
            <a:pPr lvl="0">
              <a:lnSpc>
                <a:spcPct val="65000"/>
              </a:lnSpc>
              <a:spcBef>
                <a:spcPct val="50000"/>
              </a:spcBef>
            </a:pPr>
            <a:r>
              <a:rPr lang="zh-CN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器</a:t>
            </a:r>
            <a:endParaRPr lang="zh-CN" altLang="en-US" sz="18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5298" name="文本框 265297"/>
          <p:cNvSpPr txBox="1"/>
          <p:nvPr/>
        </p:nvSpPr>
        <p:spPr>
          <a:xfrm>
            <a:off x="4876800" y="381000"/>
            <a:ext cx="685800" cy="915988"/>
          </a:xfrm>
          <a:prstGeom prst="rect">
            <a:avLst/>
          </a:prstGeom>
          <a:noFill/>
          <a:ln w="88900">
            <a:noFill/>
          </a:ln>
        </p:spPr>
        <p:txBody>
          <a:bodyPr>
            <a:spAutoFit/>
          </a:bodyPr>
          <a:lstStyle/>
          <a:p>
            <a:pPr lvl="0">
              <a:spcBef>
                <a:spcPct val="50000"/>
              </a:spcBef>
            </a:pPr>
            <a:r>
              <a:rPr lang="zh-CN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地址加法器</a:t>
            </a:r>
            <a:endParaRPr lang="zh-CN" altLang="en-US" sz="18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5299" name="文本框 265298"/>
          <p:cNvSpPr txBox="1"/>
          <p:nvPr/>
        </p:nvSpPr>
        <p:spPr>
          <a:xfrm>
            <a:off x="5257800" y="5105400"/>
            <a:ext cx="1905000" cy="366713"/>
          </a:xfrm>
          <a:prstGeom prst="rect">
            <a:avLst/>
          </a:prstGeom>
          <a:noFill/>
          <a:ln w="88900">
            <a:noFill/>
          </a:ln>
        </p:spPr>
        <p:txBody>
          <a:bodyPr>
            <a:spAutoFit/>
          </a:bodyPr>
          <a:lstStyle/>
          <a:p>
            <a:pPr lvl="0">
              <a:spcBef>
                <a:spcPct val="50000"/>
              </a:spcBef>
            </a:pPr>
            <a:r>
              <a:rPr lang="zh-CN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指令队列缓冲器</a:t>
            </a:r>
            <a:endParaRPr lang="zh-CN" altLang="en-US" sz="18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5300" name="文本框 265299">
            <a:hlinkClick r:id="" action="ppaction://noaction"/>
          </p:cNvPr>
          <p:cNvSpPr txBox="1"/>
          <p:nvPr/>
        </p:nvSpPr>
        <p:spPr>
          <a:xfrm>
            <a:off x="3184525" y="6075363"/>
            <a:ext cx="1828800" cy="336550"/>
          </a:xfrm>
          <a:prstGeom prst="rect">
            <a:avLst/>
          </a:prstGeom>
          <a:noFill/>
          <a:ln w="88900">
            <a:noFill/>
          </a:ln>
        </p:spPr>
        <p:txBody>
          <a:bodyPr>
            <a:spAutoFit/>
          </a:bodyPr>
          <a:lstStyle/>
          <a:p>
            <a:pPr lvl="0">
              <a:spcBef>
                <a:spcPct val="50000"/>
              </a:spcBef>
            </a:pPr>
            <a:r>
              <a:rPr lang="zh-CN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执行部件 （</a:t>
            </a:r>
            <a:r>
              <a:rPr lang="en-US" altLang="zh-CN" sz="16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EU)</a:t>
            </a:r>
          </a:p>
        </p:txBody>
      </p:sp>
      <p:sp>
        <p:nvSpPr>
          <p:cNvPr id="265301" name="文本框 265300">
            <a:hlinkClick r:id="" action="ppaction://noaction"/>
          </p:cNvPr>
          <p:cNvSpPr txBox="1"/>
          <p:nvPr/>
        </p:nvSpPr>
        <p:spPr>
          <a:xfrm>
            <a:off x="5715000" y="6096000"/>
            <a:ext cx="2590800" cy="336550"/>
          </a:xfrm>
          <a:prstGeom prst="rect">
            <a:avLst/>
          </a:prstGeom>
          <a:noFill/>
          <a:ln w="88900">
            <a:noFill/>
          </a:ln>
        </p:spPr>
        <p:txBody>
          <a:bodyPr>
            <a:spAutoFit/>
          </a:bodyPr>
          <a:lstStyle/>
          <a:p>
            <a:pPr lvl="0">
              <a:spcBef>
                <a:spcPct val="50000"/>
              </a:spcBef>
            </a:pPr>
            <a:r>
              <a:rPr lang="zh-CN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总线接口部件 （</a:t>
            </a:r>
            <a:r>
              <a:rPr lang="en-US" altLang="zh-CN" sz="16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BIU)</a:t>
            </a:r>
          </a:p>
        </p:txBody>
      </p:sp>
      <p:sp>
        <p:nvSpPr>
          <p:cNvPr id="265302" name="直接连接符 265301"/>
          <p:cNvSpPr/>
          <p:nvPr/>
        </p:nvSpPr>
        <p:spPr>
          <a:xfrm flipH="1">
            <a:off x="3730625" y="3730625"/>
            <a:ext cx="381000" cy="306388"/>
          </a:xfrm>
          <a:prstGeom prst="line">
            <a:avLst/>
          </a:prstGeom>
          <a:ln w="12700" cap="flat" cmpd="sng">
            <a:solidFill>
              <a:srgbClr val="A50021"/>
            </a:solidFill>
            <a:prstDash val="solid"/>
            <a:headEnd type="none" w="med" len="med"/>
            <a:tailEnd type="none" w="sm" len="sm"/>
          </a:ln>
        </p:spPr>
      </p:sp>
      <p:sp>
        <p:nvSpPr>
          <p:cNvPr id="265303" name="文本框 265302"/>
          <p:cNvSpPr txBox="1"/>
          <p:nvPr/>
        </p:nvSpPr>
        <p:spPr>
          <a:xfrm>
            <a:off x="3409950" y="3357245"/>
            <a:ext cx="1466850" cy="337185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lvl="0">
              <a:spcBef>
                <a:spcPct val="50000"/>
              </a:spcBef>
            </a:pPr>
            <a:r>
              <a:rPr lang="zh-CN" altLang="en-US" sz="16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数据总线</a:t>
            </a:r>
            <a:r>
              <a:rPr lang="en-US" altLang="zh-CN" sz="16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16</a:t>
            </a:r>
            <a:r>
              <a:rPr lang="zh-CN" altLang="en-US" sz="16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位</a:t>
            </a:r>
          </a:p>
        </p:txBody>
      </p:sp>
      <p:sp>
        <p:nvSpPr>
          <p:cNvPr id="265304" name="直接连接符 265303"/>
          <p:cNvSpPr/>
          <p:nvPr/>
        </p:nvSpPr>
        <p:spPr>
          <a:xfrm flipH="1">
            <a:off x="7086600" y="228600"/>
            <a:ext cx="381000" cy="304800"/>
          </a:xfrm>
          <a:prstGeom prst="line">
            <a:avLst/>
          </a:prstGeom>
          <a:ln w="12700" cap="flat" cmpd="sng">
            <a:solidFill>
              <a:srgbClr val="A50021"/>
            </a:solidFill>
            <a:prstDash val="solid"/>
            <a:headEnd type="none" w="med" len="med"/>
            <a:tailEnd type="none" w="sm" len="sm"/>
          </a:ln>
        </p:spPr>
      </p:sp>
      <p:sp>
        <p:nvSpPr>
          <p:cNvPr id="265305" name="文本框 265304"/>
          <p:cNvSpPr txBox="1"/>
          <p:nvPr/>
        </p:nvSpPr>
        <p:spPr>
          <a:xfrm>
            <a:off x="6934200" y="457200"/>
            <a:ext cx="914400" cy="33655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lvl="0">
              <a:spcBef>
                <a:spcPct val="50000"/>
              </a:spcBef>
            </a:pPr>
            <a:r>
              <a:rPr lang="en-US" altLang="zh-CN" sz="16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20</a:t>
            </a:r>
            <a:r>
              <a:rPr lang="zh-CN" altLang="en-US" sz="16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位</a:t>
            </a:r>
          </a:p>
        </p:txBody>
      </p:sp>
      <p:sp>
        <p:nvSpPr>
          <p:cNvPr id="265306" name="直接连接符 265305"/>
          <p:cNvSpPr/>
          <p:nvPr/>
        </p:nvSpPr>
        <p:spPr>
          <a:xfrm flipH="1">
            <a:off x="7239000" y="1295400"/>
            <a:ext cx="304800" cy="304800"/>
          </a:xfrm>
          <a:prstGeom prst="line">
            <a:avLst/>
          </a:prstGeom>
          <a:ln w="12700" cap="flat" cmpd="sng">
            <a:solidFill>
              <a:srgbClr val="A50021"/>
            </a:solidFill>
            <a:prstDash val="solid"/>
            <a:headEnd type="none" w="med" len="med"/>
            <a:tailEnd type="none" w="sm" len="sm"/>
          </a:ln>
        </p:spPr>
      </p:sp>
      <p:sp>
        <p:nvSpPr>
          <p:cNvPr id="265307" name="文本框 265306"/>
          <p:cNvSpPr txBox="1"/>
          <p:nvPr/>
        </p:nvSpPr>
        <p:spPr>
          <a:xfrm>
            <a:off x="7086600" y="1524000"/>
            <a:ext cx="838200" cy="33655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lvl="0">
              <a:spcBef>
                <a:spcPct val="50000"/>
              </a:spcBef>
            </a:pPr>
            <a:r>
              <a:rPr lang="en-US" altLang="zh-CN" sz="16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16</a:t>
            </a:r>
            <a:r>
              <a:rPr lang="zh-CN" altLang="en-US" sz="16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位</a:t>
            </a:r>
          </a:p>
        </p:txBody>
      </p:sp>
      <p:sp>
        <p:nvSpPr>
          <p:cNvPr id="265308" name="直接连接符 265307"/>
          <p:cNvSpPr/>
          <p:nvPr/>
        </p:nvSpPr>
        <p:spPr>
          <a:xfrm flipH="1">
            <a:off x="4953000" y="4648200"/>
            <a:ext cx="304800" cy="304800"/>
          </a:xfrm>
          <a:prstGeom prst="line">
            <a:avLst/>
          </a:prstGeom>
          <a:ln w="12700" cap="flat" cmpd="sng">
            <a:solidFill>
              <a:srgbClr val="A50021"/>
            </a:solidFill>
            <a:prstDash val="solid"/>
            <a:headEnd type="none" w="med" len="med"/>
            <a:tailEnd type="none" w="sm" len="sm"/>
          </a:ln>
        </p:spPr>
      </p:sp>
      <p:sp>
        <p:nvSpPr>
          <p:cNvPr id="265309" name="文本框 265308"/>
          <p:cNvSpPr txBox="1"/>
          <p:nvPr/>
        </p:nvSpPr>
        <p:spPr>
          <a:xfrm>
            <a:off x="4800600" y="4876800"/>
            <a:ext cx="762000" cy="33655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lvl="0">
              <a:spcBef>
                <a:spcPct val="50000"/>
              </a:spcBef>
            </a:pPr>
            <a:r>
              <a:rPr lang="en-US" altLang="zh-CN" sz="1600" b="1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r>
              <a:rPr lang="zh-CN" altLang="en-US" sz="1600" b="1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位</a:t>
            </a:r>
          </a:p>
        </p:txBody>
      </p:sp>
      <p:sp>
        <p:nvSpPr>
          <p:cNvPr id="265310" name="文本框 265309"/>
          <p:cNvSpPr txBox="1"/>
          <p:nvPr/>
        </p:nvSpPr>
        <p:spPr>
          <a:xfrm>
            <a:off x="1641477" y="162719"/>
            <a:ext cx="2992437" cy="457200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lvl="0">
              <a:spcBef>
                <a:spcPct val="5000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8086CPU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内部结构图</a:t>
            </a:r>
          </a:p>
        </p:txBody>
      </p:sp>
      <p:sp>
        <p:nvSpPr>
          <p:cNvPr id="6" name="文本框 5">
            <a:hlinkClick r:id="" action="ppaction://noaction"/>
          </p:cNvPr>
          <p:cNvSpPr txBox="1"/>
          <p:nvPr/>
        </p:nvSpPr>
        <p:spPr>
          <a:xfrm>
            <a:off x="1542415" y="4004945"/>
            <a:ext cx="1524000" cy="368300"/>
          </a:xfrm>
          <a:prstGeom prst="rect">
            <a:avLst/>
          </a:prstGeom>
          <a:noFill/>
          <a:ln w="88900">
            <a:noFill/>
          </a:ln>
        </p:spPr>
        <p:txBody>
          <a:bodyPr>
            <a:spAutoFit/>
          </a:bodyPr>
          <a:lstStyle/>
          <a:p>
            <a:pPr lvl="0">
              <a:spcBef>
                <a:spcPct val="50000"/>
              </a:spcBef>
            </a:pPr>
            <a:r>
              <a:rPr lang="zh-CN" altLang="en-US" sz="18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暂存寄存器</a:t>
            </a:r>
            <a:endParaRPr lang="zh-CN" altLang="en-US" sz="1800" b="1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865120" y="937895"/>
            <a:ext cx="66929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AX</a:t>
            </a:r>
          </a:p>
          <a:p>
            <a:r>
              <a:rPr lang="en-US" altLang="zh-CN"/>
              <a:t>BX</a:t>
            </a:r>
          </a:p>
          <a:p>
            <a:r>
              <a:rPr lang="en-US" altLang="zh-CN"/>
              <a:t>CX</a:t>
            </a:r>
          </a:p>
          <a:p>
            <a:r>
              <a:rPr lang="en-US" altLang="zh-CN"/>
              <a:t>DX</a:t>
            </a:r>
          </a:p>
        </p:txBody>
      </p:sp>
    </p:spTree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36" name="直接连接符 265235"/>
          <p:cNvSpPr/>
          <p:nvPr/>
        </p:nvSpPr>
        <p:spPr>
          <a:xfrm>
            <a:off x="4806315" y="3886200"/>
            <a:ext cx="527685" cy="635"/>
          </a:xfrm>
          <a:prstGeom prst="line">
            <a:avLst/>
          </a:prstGeom>
          <a:ln w="117475" cap="flat" cmpd="sng">
            <a:solidFill>
              <a:srgbClr val="9966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40" name="任意多边形 265239">
            <a:hlinkClick r:id="" action="ppaction://noaction"/>
          </p:cNvPr>
          <p:cNvSpPr/>
          <p:nvPr/>
        </p:nvSpPr>
        <p:spPr>
          <a:xfrm>
            <a:off x="5334000" y="609600"/>
            <a:ext cx="1600200" cy="609600"/>
          </a:xfrm>
          <a:custGeom>
            <a:avLst/>
            <a:gdLst/>
            <a:ahLst/>
            <a:cxnLst/>
            <a:rect l="0" t="0" r="0" b="0"/>
            <a:pathLst>
              <a:path w="1008" h="384">
                <a:moveTo>
                  <a:pt x="0" y="384"/>
                </a:moveTo>
                <a:lnTo>
                  <a:pt x="288" y="384"/>
                </a:lnTo>
                <a:lnTo>
                  <a:pt x="384" y="192"/>
                </a:lnTo>
                <a:lnTo>
                  <a:pt x="624" y="192"/>
                </a:lnTo>
                <a:lnTo>
                  <a:pt x="720" y="384"/>
                </a:lnTo>
                <a:lnTo>
                  <a:pt x="1008" y="384"/>
                </a:lnTo>
                <a:lnTo>
                  <a:pt x="816" y="0"/>
                </a:lnTo>
                <a:lnTo>
                  <a:pt x="144" y="0"/>
                </a:lnTo>
                <a:lnTo>
                  <a:pt x="0" y="384"/>
                </a:lnTo>
                <a:close/>
              </a:path>
            </a:pathLst>
          </a:custGeom>
          <a:solidFill>
            <a:srgbClr val="B2B2B2">
              <a:alpha val="100000"/>
            </a:srgbClr>
          </a:solidFill>
          <a:ln w="12700" cap="flat" cmpd="sng">
            <a:solidFill>
              <a:srgbClr val="99330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5241" name="矩形 265240">
            <a:hlinkClick r:id="" action="ppaction://noaction"/>
          </p:cNvPr>
          <p:cNvSpPr/>
          <p:nvPr/>
        </p:nvSpPr>
        <p:spPr>
          <a:xfrm>
            <a:off x="5486400" y="1676400"/>
            <a:ext cx="1371600" cy="1905000"/>
          </a:xfrm>
          <a:prstGeom prst="rect">
            <a:avLst/>
          </a:prstGeom>
          <a:solidFill>
            <a:srgbClr val="CCFFCC"/>
          </a:solidFill>
          <a:ln w="12700" cap="flat" cmpd="sng">
            <a:solidFill>
              <a:srgbClr val="99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lvl="0" algn="ctr"/>
            <a:endParaRPr lang="zh-CN" altLang="en-US" sz="1800" b="1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5242" name="直接连接符 265241"/>
          <p:cNvSpPr/>
          <p:nvPr/>
        </p:nvSpPr>
        <p:spPr>
          <a:xfrm>
            <a:off x="5486400" y="2895600"/>
            <a:ext cx="1371600" cy="0"/>
          </a:xfrm>
          <a:prstGeom prst="line">
            <a:avLst/>
          </a:prstGeom>
          <a:ln w="12700" cap="flat" cmpd="sng">
            <a:solidFill>
              <a:srgbClr val="99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43" name="直接连接符 265242"/>
          <p:cNvSpPr/>
          <p:nvPr/>
        </p:nvSpPr>
        <p:spPr>
          <a:xfrm>
            <a:off x="5486400" y="2590800"/>
            <a:ext cx="1371600" cy="0"/>
          </a:xfrm>
          <a:prstGeom prst="line">
            <a:avLst/>
          </a:prstGeom>
          <a:ln w="12700" cap="flat" cmpd="sng">
            <a:solidFill>
              <a:srgbClr val="99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44" name="直接连接符 265243"/>
          <p:cNvSpPr/>
          <p:nvPr/>
        </p:nvSpPr>
        <p:spPr>
          <a:xfrm>
            <a:off x="5486400" y="1981200"/>
            <a:ext cx="1371600" cy="0"/>
          </a:xfrm>
          <a:prstGeom prst="line">
            <a:avLst/>
          </a:prstGeom>
          <a:ln w="12700" cap="flat" cmpd="sng">
            <a:solidFill>
              <a:srgbClr val="99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45" name="直接连接符 265244"/>
          <p:cNvSpPr/>
          <p:nvPr/>
        </p:nvSpPr>
        <p:spPr>
          <a:xfrm>
            <a:off x="5486400" y="2286000"/>
            <a:ext cx="1371600" cy="0"/>
          </a:xfrm>
          <a:prstGeom prst="line">
            <a:avLst/>
          </a:prstGeom>
          <a:ln w="12700" cap="flat" cmpd="sng">
            <a:solidFill>
              <a:srgbClr val="99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46" name="直接连接符 265245"/>
          <p:cNvSpPr/>
          <p:nvPr/>
        </p:nvSpPr>
        <p:spPr>
          <a:xfrm>
            <a:off x="5486400" y="3200400"/>
            <a:ext cx="1371600" cy="0"/>
          </a:xfrm>
          <a:prstGeom prst="line">
            <a:avLst/>
          </a:prstGeom>
          <a:ln w="12700" cap="flat" cmpd="sng">
            <a:solidFill>
              <a:srgbClr val="99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48" name="矩形 265247"/>
          <p:cNvSpPr/>
          <p:nvPr/>
        </p:nvSpPr>
        <p:spPr>
          <a:xfrm>
            <a:off x="5334000" y="4572000"/>
            <a:ext cx="1371600" cy="457200"/>
          </a:xfrm>
          <a:prstGeom prst="rect">
            <a:avLst/>
          </a:prstGeom>
          <a:solidFill>
            <a:srgbClr val="CCFFFF"/>
          </a:solidFill>
          <a:ln w="12700" cap="flat" cmpd="sng">
            <a:solidFill>
              <a:srgbClr val="99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5249" name="矩形 265248"/>
          <p:cNvSpPr/>
          <p:nvPr/>
        </p:nvSpPr>
        <p:spPr>
          <a:xfrm>
            <a:off x="7239000" y="2209800"/>
            <a:ext cx="1143000" cy="838200"/>
          </a:xfrm>
          <a:prstGeom prst="rect">
            <a:avLst/>
          </a:prstGeom>
          <a:solidFill>
            <a:srgbClr val="FF9900"/>
          </a:solidFill>
          <a:ln w="12700" cap="flat" cmpd="sng">
            <a:solidFill>
              <a:srgbClr val="99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5250" name="直接连接符 265249"/>
          <p:cNvSpPr/>
          <p:nvPr/>
        </p:nvSpPr>
        <p:spPr>
          <a:xfrm>
            <a:off x="8382000" y="2667000"/>
            <a:ext cx="762000" cy="0"/>
          </a:xfrm>
          <a:prstGeom prst="line">
            <a:avLst/>
          </a:prstGeom>
          <a:ln w="117475" cap="flat" cmpd="sng">
            <a:solidFill>
              <a:srgbClr val="996600"/>
            </a:solidFill>
            <a:prstDash val="solid"/>
            <a:headEnd type="triangle" w="sm" len="sm"/>
            <a:tailEnd type="triangle" w="sm" len="sm"/>
          </a:ln>
        </p:spPr>
      </p:sp>
      <p:sp>
        <p:nvSpPr>
          <p:cNvPr id="265251" name="直接连接符 265250"/>
          <p:cNvSpPr/>
          <p:nvPr/>
        </p:nvSpPr>
        <p:spPr>
          <a:xfrm>
            <a:off x="8001000" y="152400"/>
            <a:ext cx="0" cy="2057400"/>
          </a:xfrm>
          <a:prstGeom prst="line">
            <a:avLst/>
          </a:prstGeom>
          <a:ln w="117475" cap="flat" cmpd="sng">
            <a:solidFill>
              <a:srgbClr val="996600"/>
            </a:solidFill>
            <a:prstDash val="solid"/>
            <a:headEnd type="none" w="med" len="med"/>
            <a:tailEnd type="triangle" w="sm" len="sm"/>
          </a:ln>
        </p:spPr>
      </p:sp>
      <p:sp>
        <p:nvSpPr>
          <p:cNvPr id="265252" name="直接连接符 265251"/>
          <p:cNvSpPr/>
          <p:nvPr/>
        </p:nvSpPr>
        <p:spPr>
          <a:xfrm>
            <a:off x="6096000" y="381000"/>
            <a:ext cx="1828800" cy="0"/>
          </a:xfrm>
          <a:prstGeom prst="line">
            <a:avLst/>
          </a:prstGeom>
          <a:ln w="76200" cap="flat" cmpd="sng">
            <a:solidFill>
              <a:srgbClr val="996600"/>
            </a:solidFill>
            <a:prstDash val="solid"/>
            <a:headEnd type="none" w="med" len="med"/>
            <a:tailEnd type="triangle" w="sm" len="sm"/>
          </a:ln>
        </p:spPr>
      </p:sp>
      <p:sp>
        <p:nvSpPr>
          <p:cNvPr id="265253" name="直接连接符 265252"/>
          <p:cNvSpPr/>
          <p:nvPr/>
        </p:nvSpPr>
        <p:spPr>
          <a:xfrm>
            <a:off x="6096000" y="381000"/>
            <a:ext cx="0" cy="228600"/>
          </a:xfrm>
          <a:prstGeom prst="line">
            <a:avLst/>
          </a:prstGeom>
          <a:ln w="76200" cap="flat" cmpd="sng">
            <a:solidFill>
              <a:srgbClr val="99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54" name="直接连接符 265253"/>
          <p:cNvSpPr/>
          <p:nvPr/>
        </p:nvSpPr>
        <p:spPr>
          <a:xfrm>
            <a:off x="5638800" y="1219200"/>
            <a:ext cx="0" cy="457200"/>
          </a:xfrm>
          <a:prstGeom prst="line">
            <a:avLst/>
          </a:prstGeom>
          <a:ln w="76200" cap="flat" cmpd="sng">
            <a:solidFill>
              <a:srgbClr val="996600"/>
            </a:solidFill>
            <a:prstDash val="solid"/>
            <a:headEnd type="triangle" w="sm" len="sm"/>
            <a:tailEnd type="none" w="med" len="med"/>
          </a:ln>
        </p:spPr>
      </p:sp>
      <p:sp>
        <p:nvSpPr>
          <p:cNvPr id="265255" name="直接连接符 265254"/>
          <p:cNvSpPr/>
          <p:nvPr/>
        </p:nvSpPr>
        <p:spPr>
          <a:xfrm>
            <a:off x="6629400" y="1219200"/>
            <a:ext cx="0" cy="457200"/>
          </a:xfrm>
          <a:prstGeom prst="line">
            <a:avLst/>
          </a:prstGeom>
          <a:ln w="76200" cap="flat" cmpd="sng">
            <a:solidFill>
              <a:srgbClr val="996600"/>
            </a:solidFill>
            <a:prstDash val="solid"/>
            <a:headEnd type="triangle" w="sm" len="sm"/>
            <a:tailEnd type="triangle" w="sm" len="sm"/>
          </a:ln>
        </p:spPr>
      </p:sp>
      <p:sp>
        <p:nvSpPr>
          <p:cNvPr id="265256" name="直接连接符 265255"/>
          <p:cNvSpPr/>
          <p:nvPr/>
        </p:nvSpPr>
        <p:spPr>
          <a:xfrm>
            <a:off x="6629400" y="1447800"/>
            <a:ext cx="1371600" cy="0"/>
          </a:xfrm>
          <a:prstGeom prst="line">
            <a:avLst/>
          </a:prstGeom>
          <a:ln w="76200" cap="flat" cmpd="sng">
            <a:solidFill>
              <a:srgbClr val="996600"/>
            </a:solidFill>
            <a:prstDash val="solid"/>
            <a:headEnd type="triangle" w="sm" len="sm"/>
            <a:tailEnd type="triangle" w="sm" len="sm"/>
          </a:ln>
        </p:spPr>
      </p:sp>
      <p:sp>
        <p:nvSpPr>
          <p:cNvPr id="265257" name="文本框 265256"/>
          <p:cNvSpPr txBox="1"/>
          <p:nvPr/>
        </p:nvSpPr>
        <p:spPr>
          <a:xfrm>
            <a:off x="5530850" y="3214688"/>
            <a:ext cx="1335088" cy="366712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pPr lvl="0"/>
            <a:r>
              <a:rPr lang="zh-CN" altLang="en-US" sz="18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内部暂存器</a:t>
            </a:r>
            <a:endParaRPr lang="zh-CN" altLang="en-US" sz="1800" b="1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5258" name="文本框 265257"/>
          <p:cNvSpPr txBox="1"/>
          <p:nvPr/>
        </p:nvSpPr>
        <p:spPr>
          <a:xfrm>
            <a:off x="5562600" y="2895600"/>
            <a:ext cx="1066800" cy="3667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lvl="0">
              <a:spcBef>
                <a:spcPct val="50000"/>
              </a:spcBef>
            </a:pPr>
            <a:r>
              <a:rPr lang="zh-CN" altLang="zh-CN" sz="18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</a:t>
            </a:r>
            <a:r>
              <a:rPr lang="en-US" altLang="zh-CN" sz="18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IP</a:t>
            </a:r>
          </a:p>
        </p:txBody>
      </p:sp>
      <p:sp>
        <p:nvSpPr>
          <p:cNvPr id="265259" name="文本框 265258"/>
          <p:cNvSpPr txBox="1"/>
          <p:nvPr/>
        </p:nvSpPr>
        <p:spPr>
          <a:xfrm>
            <a:off x="5638800" y="2590800"/>
            <a:ext cx="990600" cy="3667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lvl="0">
              <a:spcBef>
                <a:spcPct val="50000"/>
              </a:spcBef>
            </a:pPr>
            <a:r>
              <a:rPr lang="zh-CN" altLang="en-US" sz="18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en-US" altLang="zh-CN" sz="18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ES</a:t>
            </a:r>
          </a:p>
        </p:txBody>
      </p:sp>
      <p:sp>
        <p:nvSpPr>
          <p:cNvPr id="265260" name="文本框 265259"/>
          <p:cNvSpPr txBox="1"/>
          <p:nvPr/>
        </p:nvSpPr>
        <p:spPr>
          <a:xfrm>
            <a:off x="5791200" y="2286000"/>
            <a:ext cx="609600" cy="3667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lvl="0">
              <a:spcBef>
                <a:spcPct val="50000"/>
              </a:spcBef>
            </a:pPr>
            <a:r>
              <a:rPr lang="zh-CN" altLang="en-US" sz="18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SS</a:t>
            </a:r>
          </a:p>
        </p:txBody>
      </p:sp>
      <p:sp>
        <p:nvSpPr>
          <p:cNvPr id="265261" name="文本框 265260"/>
          <p:cNvSpPr txBox="1"/>
          <p:nvPr/>
        </p:nvSpPr>
        <p:spPr>
          <a:xfrm>
            <a:off x="5791200" y="1981200"/>
            <a:ext cx="685800" cy="3667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lvl="0">
              <a:spcBef>
                <a:spcPct val="50000"/>
              </a:spcBef>
            </a:pPr>
            <a:r>
              <a:rPr lang="zh-CN" altLang="en-US" sz="18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DS</a:t>
            </a:r>
          </a:p>
        </p:txBody>
      </p:sp>
      <p:sp>
        <p:nvSpPr>
          <p:cNvPr id="265262" name="文本框 265261"/>
          <p:cNvSpPr txBox="1"/>
          <p:nvPr/>
        </p:nvSpPr>
        <p:spPr>
          <a:xfrm>
            <a:off x="5791200" y="1676400"/>
            <a:ext cx="838200" cy="3667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lvl="0">
              <a:spcBef>
                <a:spcPct val="50000"/>
              </a:spcBef>
            </a:pPr>
            <a:r>
              <a:rPr lang="zh-CN" altLang="en-US" sz="18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CS</a:t>
            </a:r>
          </a:p>
        </p:txBody>
      </p:sp>
      <p:sp>
        <p:nvSpPr>
          <p:cNvPr id="265263" name="文本框 265262">
            <a:hlinkClick r:id="" action="ppaction://noaction"/>
          </p:cNvPr>
          <p:cNvSpPr txBox="1"/>
          <p:nvPr/>
        </p:nvSpPr>
        <p:spPr>
          <a:xfrm>
            <a:off x="7239000" y="2286000"/>
            <a:ext cx="1295400" cy="64135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lvl="0">
              <a:spcBef>
                <a:spcPct val="50000"/>
              </a:spcBef>
            </a:pPr>
            <a:r>
              <a:rPr lang="zh-CN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输入</a:t>
            </a:r>
            <a:r>
              <a: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zh-CN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输出控制电路</a:t>
            </a:r>
            <a:endParaRPr lang="zh-CN" altLang="en-US" sz="18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5264" name="文本框 265263"/>
          <p:cNvSpPr txBox="1"/>
          <p:nvPr/>
        </p:nvSpPr>
        <p:spPr>
          <a:xfrm>
            <a:off x="8755063" y="2946400"/>
            <a:ext cx="274637" cy="1905000"/>
          </a:xfrm>
          <a:prstGeom prst="rect">
            <a:avLst/>
          </a:prstGeom>
          <a:noFill/>
          <a:ln w="12700">
            <a:noFill/>
          </a:ln>
        </p:spPr>
        <p:txBody>
          <a:bodyPr vert="eaVert" lIns="0" rIns="0">
            <a:spAutoFit/>
          </a:bodyPr>
          <a:lstStyle/>
          <a:p>
            <a:pPr lvl="0">
              <a:spcBef>
                <a:spcPct val="50000"/>
              </a:spcBef>
            </a:pPr>
            <a:r>
              <a:rPr lang="zh-CN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外部总线</a:t>
            </a:r>
            <a:endParaRPr lang="zh-CN" altLang="en-US" sz="18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5265" name="直接连接符 265264"/>
          <p:cNvSpPr/>
          <p:nvPr/>
        </p:nvSpPr>
        <p:spPr>
          <a:xfrm>
            <a:off x="4648200" y="4800600"/>
            <a:ext cx="685800" cy="0"/>
          </a:xfrm>
          <a:prstGeom prst="line">
            <a:avLst/>
          </a:prstGeom>
          <a:ln w="95250" cap="flat" cmpd="sng">
            <a:solidFill>
              <a:srgbClr val="996600"/>
            </a:solidFill>
            <a:prstDash val="solid"/>
            <a:headEnd type="triangle" w="sm" len="sm"/>
            <a:tailEnd type="none" w="med" len="med"/>
          </a:ln>
        </p:spPr>
      </p:sp>
      <p:sp>
        <p:nvSpPr>
          <p:cNvPr id="265266" name="直接连接符 265265"/>
          <p:cNvSpPr/>
          <p:nvPr/>
        </p:nvSpPr>
        <p:spPr>
          <a:xfrm>
            <a:off x="8001000" y="3048000"/>
            <a:ext cx="0" cy="1752600"/>
          </a:xfrm>
          <a:prstGeom prst="line">
            <a:avLst/>
          </a:prstGeom>
          <a:ln w="101600" cap="flat" cmpd="sng">
            <a:solidFill>
              <a:srgbClr val="9966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67" name="直接连接符 265266"/>
          <p:cNvSpPr/>
          <p:nvPr/>
        </p:nvSpPr>
        <p:spPr>
          <a:xfrm>
            <a:off x="6705600" y="4800600"/>
            <a:ext cx="1295400" cy="0"/>
          </a:xfrm>
          <a:prstGeom prst="line">
            <a:avLst/>
          </a:prstGeom>
          <a:ln w="95250" cap="flat" cmpd="sng">
            <a:solidFill>
              <a:srgbClr val="996600"/>
            </a:solidFill>
            <a:prstDash val="solid"/>
            <a:headEnd type="triangle" w="sm" len="sm"/>
            <a:tailEnd type="none" w="med" len="med"/>
          </a:ln>
        </p:spPr>
      </p:sp>
      <p:sp>
        <p:nvSpPr>
          <p:cNvPr id="265268" name="直接连接符 265267"/>
          <p:cNvSpPr/>
          <p:nvPr/>
        </p:nvSpPr>
        <p:spPr>
          <a:xfrm>
            <a:off x="5105400" y="3886200"/>
            <a:ext cx="0" cy="914400"/>
          </a:xfrm>
          <a:prstGeom prst="line">
            <a:avLst/>
          </a:prstGeom>
          <a:ln w="88900" cap="flat" cmpd="sng">
            <a:solidFill>
              <a:srgbClr val="996600"/>
            </a:solidFill>
            <a:prstDash val="solid"/>
            <a:headEnd type="triangle" w="sm" len="sm"/>
            <a:tailEnd type="none" w="med" len="med"/>
          </a:ln>
        </p:spPr>
      </p:sp>
      <p:sp>
        <p:nvSpPr>
          <p:cNvPr id="265269" name="直接连接符 265268"/>
          <p:cNvSpPr/>
          <p:nvPr/>
        </p:nvSpPr>
        <p:spPr>
          <a:xfrm>
            <a:off x="4953000" y="3429000"/>
            <a:ext cx="533400" cy="0"/>
          </a:xfrm>
          <a:prstGeom prst="line">
            <a:avLst/>
          </a:prstGeom>
          <a:ln w="88900" cap="flat" cmpd="sng">
            <a:solidFill>
              <a:srgbClr val="996600"/>
            </a:solidFill>
            <a:prstDash val="solid"/>
            <a:headEnd type="none" w="med" len="med"/>
            <a:tailEnd type="triangle" w="sm" len="sm"/>
          </a:ln>
        </p:spPr>
      </p:sp>
      <p:sp>
        <p:nvSpPr>
          <p:cNvPr id="265270" name="直接连接符 265269"/>
          <p:cNvSpPr/>
          <p:nvPr/>
        </p:nvSpPr>
        <p:spPr>
          <a:xfrm flipH="1">
            <a:off x="4953000" y="3429000"/>
            <a:ext cx="1588" cy="381000"/>
          </a:xfrm>
          <a:prstGeom prst="line">
            <a:avLst/>
          </a:prstGeom>
          <a:ln w="88900" cap="flat" cmpd="sng">
            <a:solidFill>
              <a:srgbClr val="996600"/>
            </a:solidFill>
            <a:prstDash val="solid"/>
            <a:headEnd type="none" w="med" len="med"/>
            <a:tailEnd type="triangle" w="sm" len="sm"/>
          </a:ln>
        </p:spPr>
      </p:sp>
      <p:sp>
        <p:nvSpPr>
          <p:cNvPr id="265277" name="直接连接符 265276"/>
          <p:cNvSpPr/>
          <p:nvPr/>
        </p:nvSpPr>
        <p:spPr>
          <a:xfrm>
            <a:off x="5562600" y="4572000"/>
            <a:ext cx="0" cy="457200"/>
          </a:xfrm>
          <a:prstGeom prst="line">
            <a:avLst/>
          </a:prstGeom>
          <a:ln w="12700" cap="flat" cmpd="sng">
            <a:solidFill>
              <a:srgbClr val="996600"/>
            </a:solidFill>
            <a:prstDash val="solid"/>
            <a:headEnd type="none" w="med" len="med"/>
            <a:tailEnd type="none" w="sm" len="sm"/>
          </a:ln>
        </p:spPr>
      </p:sp>
      <p:sp>
        <p:nvSpPr>
          <p:cNvPr id="265278" name="直接连接符 265277"/>
          <p:cNvSpPr/>
          <p:nvPr/>
        </p:nvSpPr>
        <p:spPr>
          <a:xfrm>
            <a:off x="5791200" y="4572000"/>
            <a:ext cx="0" cy="457200"/>
          </a:xfrm>
          <a:prstGeom prst="line">
            <a:avLst/>
          </a:prstGeom>
          <a:ln w="12700" cap="flat" cmpd="sng">
            <a:solidFill>
              <a:srgbClr val="996600"/>
            </a:solidFill>
            <a:prstDash val="solid"/>
            <a:headEnd type="none" w="med" len="med"/>
            <a:tailEnd type="none" w="sm" len="sm"/>
          </a:ln>
        </p:spPr>
      </p:sp>
      <p:sp>
        <p:nvSpPr>
          <p:cNvPr id="265279" name="直接连接符 265278"/>
          <p:cNvSpPr/>
          <p:nvPr/>
        </p:nvSpPr>
        <p:spPr>
          <a:xfrm>
            <a:off x="6019800" y="4572000"/>
            <a:ext cx="0" cy="457200"/>
          </a:xfrm>
          <a:prstGeom prst="line">
            <a:avLst/>
          </a:prstGeom>
          <a:ln w="12700" cap="flat" cmpd="sng">
            <a:solidFill>
              <a:srgbClr val="996600"/>
            </a:solidFill>
            <a:prstDash val="solid"/>
            <a:headEnd type="none" w="med" len="med"/>
            <a:tailEnd type="none" w="sm" len="sm"/>
          </a:ln>
        </p:spPr>
      </p:sp>
      <p:sp>
        <p:nvSpPr>
          <p:cNvPr id="265280" name="直接连接符 265279"/>
          <p:cNvSpPr/>
          <p:nvPr/>
        </p:nvSpPr>
        <p:spPr>
          <a:xfrm>
            <a:off x="6248400" y="4572000"/>
            <a:ext cx="0" cy="457200"/>
          </a:xfrm>
          <a:prstGeom prst="line">
            <a:avLst/>
          </a:prstGeom>
          <a:ln w="12700" cap="flat" cmpd="sng">
            <a:solidFill>
              <a:srgbClr val="996600"/>
            </a:solidFill>
            <a:prstDash val="solid"/>
            <a:headEnd type="none" w="med" len="med"/>
            <a:tailEnd type="none" w="sm" len="sm"/>
          </a:ln>
        </p:spPr>
      </p:sp>
      <p:sp>
        <p:nvSpPr>
          <p:cNvPr id="265281" name="直接连接符 265280"/>
          <p:cNvSpPr/>
          <p:nvPr/>
        </p:nvSpPr>
        <p:spPr>
          <a:xfrm>
            <a:off x="6477000" y="4572000"/>
            <a:ext cx="0" cy="457200"/>
          </a:xfrm>
          <a:prstGeom prst="line">
            <a:avLst/>
          </a:prstGeom>
          <a:ln w="12700" cap="flat" cmpd="sng">
            <a:solidFill>
              <a:srgbClr val="996600"/>
            </a:solidFill>
            <a:prstDash val="solid"/>
            <a:headEnd type="none" w="med" len="med"/>
            <a:tailEnd type="none" w="sm" len="sm"/>
          </a:ln>
        </p:spPr>
      </p:sp>
      <p:sp>
        <p:nvSpPr>
          <p:cNvPr id="265282" name="文本框 265281">
            <a:hlinkClick r:id="" action="ppaction://noaction"/>
          </p:cNvPr>
          <p:cNvSpPr txBox="1"/>
          <p:nvPr/>
        </p:nvSpPr>
        <p:spPr>
          <a:xfrm>
            <a:off x="5334000" y="4648200"/>
            <a:ext cx="1447800" cy="366713"/>
          </a:xfrm>
          <a:prstGeom prst="rect">
            <a:avLst/>
          </a:prstGeom>
          <a:noFill/>
          <a:ln w="88900">
            <a:noFill/>
          </a:ln>
        </p:spPr>
        <p:txBody>
          <a:bodyPr>
            <a:spAutoFit/>
          </a:bodyPr>
          <a:lstStyle/>
          <a:p>
            <a:pPr lvl="0">
              <a:spcBef>
                <a:spcPct val="50000"/>
              </a:spcBef>
            </a:pPr>
            <a:r>
              <a:rPr lang="en-US" altLang="zh-CN" sz="18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1 2  3  4  5  6</a:t>
            </a:r>
          </a:p>
        </p:txBody>
      </p:sp>
      <p:sp>
        <p:nvSpPr>
          <p:cNvPr id="265283" name="直接连接符 265282"/>
          <p:cNvSpPr/>
          <p:nvPr/>
        </p:nvSpPr>
        <p:spPr>
          <a:xfrm>
            <a:off x="4800600" y="304800"/>
            <a:ext cx="0" cy="6324600"/>
          </a:xfrm>
          <a:prstGeom prst="line">
            <a:avLst/>
          </a:prstGeom>
          <a:ln w="12700" cap="flat" cmpd="sng">
            <a:solidFill>
              <a:srgbClr val="333333"/>
            </a:solidFill>
            <a:prstDash val="lgDashDot"/>
            <a:headEnd type="none" w="med" len="med"/>
            <a:tailEnd type="none" w="sm" len="sm"/>
          </a:ln>
        </p:spPr>
      </p:sp>
      <p:sp>
        <p:nvSpPr>
          <p:cNvPr id="265284" name="直接连接符 265283"/>
          <p:cNvSpPr/>
          <p:nvPr/>
        </p:nvSpPr>
        <p:spPr>
          <a:xfrm>
            <a:off x="8686800" y="228600"/>
            <a:ext cx="0" cy="6324600"/>
          </a:xfrm>
          <a:prstGeom prst="line">
            <a:avLst/>
          </a:prstGeom>
          <a:ln w="12700" cap="flat" cmpd="sng">
            <a:solidFill>
              <a:srgbClr val="000000"/>
            </a:solidFill>
            <a:prstDash val="lgDashDot"/>
            <a:headEnd type="none" w="med" len="med"/>
            <a:tailEnd type="none" w="sm" len="sm"/>
          </a:ln>
        </p:spPr>
      </p:sp>
      <p:sp>
        <p:nvSpPr>
          <p:cNvPr id="265285" name="文本框 265284"/>
          <p:cNvSpPr txBox="1"/>
          <p:nvPr/>
        </p:nvSpPr>
        <p:spPr>
          <a:xfrm>
            <a:off x="5900738" y="533400"/>
            <a:ext cx="533400" cy="457200"/>
          </a:xfrm>
          <a:prstGeom prst="rect">
            <a:avLst/>
          </a:prstGeom>
          <a:noFill/>
          <a:ln w="88900">
            <a:noFill/>
          </a:ln>
        </p:spPr>
        <p:txBody>
          <a:bodyPr>
            <a:spAutoFit/>
          </a:bodyPr>
          <a:lstStyle/>
          <a:p>
            <a:pPr lvl="0">
              <a:spcBef>
                <a:spcPct val="50000"/>
              </a:spcBef>
            </a:pPr>
            <a:r>
              <a:rPr lang="zh-CN" altLang="en-US" sz="2400" b="1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∑</a:t>
            </a:r>
          </a:p>
        </p:txBody>
      </p:sp>
      <p:sp>
        <p:nvSpPr>
          <p:cNvPr id="265298" name="文本框 265297"/>
          <p:cNvSpPr txBox="1"/>
          <p:nvPr/>
        </p:nvSpPr>
        <p:spPr>
          <a:xfrm>
            <a:off x="4876800" y="381000"/>
            <a:ext cx="685800" cy="915988"/>
          </a:xfrm>
          <a:prstGeom prst="rect">
            <a:avLst/>
          </a:prstGeom>
          <a:noFill/>
          <a:ln w="88900">
            <a:noFill/>
          </a:ln>
        </p:spPr>
        <p:txBody>
          <a:bodyPr>
            <a:spAutoFit/>
          </a:bodyPr>
          <a:lstStyle/>
          <a:p>
            <a:pPr lvl="0">
              <a:spcBef>
                <a:spcPct val="50000"/>
              </a:spcBef>
            </a:pPr>
            <a:r>
              <a:rPr lang="zh-CN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地址加法器</a:t>
            </a:r>
            <a:endParaRPr lang="zh-CN" altLang="en-US" sz="18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5299" name="文本框 265298"/>
          <p:cNvSpPr txBox="1"/>
          <p:nvPr/>
        </p:nvSpPr>
        <p:spPr>
          <a:xfrm>
            <a:off x="5257800" y="5105400"/>
            <a:ext cx="1905000" cy="366713"/>
          </a:xfrm>
          <a:prstGeom prst="rect">
            <a:avLst/>
          </a:prstGeom>
          <a:noFill/>
          <a:ln w="88900">
            <a:noFill/>
          </a:ln>
        </p:spPr>
        <p:txBody>
          <a:bodyPr>
            <a:spAutoFit/>
          </a:bodyPr>
          <a:lstStyle/>
          <a:p>
            <a:pPr lvl="0">
              <a:spcBef>
                <a:spcPct val="50000"/>
              </a:spcBef>
            </a:pPr>
            <a:r>
              <a:rPr lang="zh-CN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指令队列缓冲器</a:t>
            </a:r>
            <a:endParaRPr lang="zh-CN" altLang="en-US" sz="18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5301" name="文本框 265300">
            <a:hlinkClick r:id="" action="ppaction://noaction"/>
          </p:cNvPr>
          <p:cNvSpPr txBox="1"/>
          <p:nvPr/>
        </p:nvSpPr>
        <p:spPr>
          <a:xfrm>
            <a:off x="5715000" y="6096000"/>
            <a:ext cx="2590800" cy="336550"/>
          </a:xfrm>
          <a:prstGeom prst="rect">
            <a:avLst/>
          </a:prstGeom>
          <a:noFill/>
          <a:ln w="88900">
            <a:noFill/>
          </a:ln>
        </p:spPr>
        <p:txBody>
          <a:bodyPr>
            <a:spAutoFit/>
          </a:bodyPr>
          <a:lstStyle/>
          <a:p>
            <a:pPr lvl="0">
              <a:spcBef>
                <a:spcPct val="50000"/>
              </a:spcBef>
            </a:pPr>
            <a:r>
              <a:rPr lang="zh-CN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总线接口部件 （</a:t>
            </a:r>
            <a:r>
              <a:rPr lang="en-US" altLang="zh-CN" sz="16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BIU)</a:t>
            </a:r>
          </a:p>
        </p:txBody>
      </p:sp>
      <p:sp>
        <p:nvSpPr>
          <p:cNvPr id="265304" name="直接连接符 265303"/>
          <p:cNvSpPr/>
          <p:nvPr/>
        </p:nvSpPr>
        <p:spPr>
          <a:xfrm flipH="1">
            <a:off x="7086600" y="228600"/>
            <a:ext cx="381000" cy="304800"/>
          </a:xfrm>
          <a:prstGeom prst="line">
            <a:avLst/>
          </a:prstGeom>
          <a:ln w="12700" cap="flat" cmpd="sng">
            <a:solidFill>
              <a:srgbClr val="A50021"/>
            </a:solidFill>
            <a:prstDash val="solid"/>
            <a:headEnd type="none" w="med" len="med"/>
            <a:tailEnd type="none" w="sm" len="sm"/>
          </a:ln>
        </p:spPr>
      </p:sp>
      <p:sp>
        <p:nvSpPr>
          <p:cNvPr id="265305" name="文本框 265304"/>
          <p:cNvSpPr txBox="1"/>
          <p:nvPr/>
        </p:nvSpPr>
        <p:spPr>
          <a:xfrm>
            <a:off x="6934200" y="457200"/>
            <a:ext cx="914400" cy="33655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lvl="0">
              <a:spcBef>
                <a:spcPct val="50000"/>
              </a:spcBef>
            </a:pPr>
            <a:r>
              <a:rPr lang="en-US" altLang="zh-CN" sz="16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20</a:t>
            </a:r>
            <a:r>
              <a:rPr lang="zh-CN" altLang="en-US" sz="16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位</a:t>
            </a:r>
          </a:p>
        </p:txBody>
      </p:sp>
      <p:sp>
        <p:nvSpPr>
          <p:cNvPr id="265306" name="直接连接符 265305"/>
          <p:cNvSpPr/>
          <p:nvPr/>
        </p:nvSpPr>
        <p:spPr>
          <a:xfrm flipH="1">
            <a:off x="7239000" y="1295400"/>
            <a:ext cx="304800" cy="304800"/>
          </a:xfrm>
          <a:prstGeom prst="line">
            <a:avLst/>
          </a:prstGeom>
          <a:ln w="12700" cap="flat" cmpd="sng">
            <a:solidFill>
              <a:srgbClr val="A50021"/>
            </a:solidFill>
            <a:prstDash val="solid"/>
            <a:headEnd type="none" w="med" len="med"/>
            <a:tailEnd type="none" w="sm" len="sm"/>
          </a:ln>
        </p:spPr>
      </p:sp>
      <p:sp>
        <p:nvSpPr>
          <p:cNvPr id="265307" name="文本框 265306"/>
          <p:cNvSpPr txBox="1"/>
          <p:nvPr/>
        </p:nvSpPr>
        <p:spPr>
          <a:xfrm>
            <a:off x="7086600" y="1524000"/>
            <a:ext cx="838200" cy="33655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lvl="0">
              <a:spcBef>
                <a:spcPct val="50000"/>
              </a:spcBef>
            </a:pPr>
            <a:r>
              <a:rPr lang="en-US" altLang="zh-CN" sz="16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16</a:t>
            </a:r>
            <a:r>
              <a:rPr lang="zh-CN" altLang="en-US" sz="16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位</a:t>
            </a:r>
          </a:p>
        </p:txBody>
      </p:sp>
      <p:sp>
        <p:nvSpPr>
          <p:cNvPr id="265308" name="直接连接符 265307"/>
          <p:cNvSpPr/>
          <p:nvPr/>
        </p:nvSpPr>
        <p:spPr>
          <a:xfrm flipH="1">
            <a:off x="4953000" y="4648200"/>
            <a:ext cx="304800" cy="304800"/>
          </a:xfrm>
          <a:prstGeom prst="line">
            <a:avLst/>
          </a:prstGeom>
          <a:ln w="12700" cap="flat" cmpd="sng">
            <a:solidFill>
              <a:srgbClr val="A50021"/>
            </a:solidFill>
            <a:prstDash val="solid"/>
            <a:headEnd type="none" w="med" len="med"/>
            <a:tailEnd type="none" w="sm" len="sm"/>
          </a:ln>
        </p:spPr>
      </p:sp>
      <p:sp>
        <p:nvSpPr>
          <p:cNvPr id="265309" name="文本框 265308"/>
          <p:cNvSpPr txBox="1"/>
          <p:nvPr/>
        </p:nvSpPr>
        <p:spPr>
          <a:xfrm>
            <a:off x="4800600" y="4876800"/>
            <a:ext cx="762000" cy="33655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lvl="0">
              <a:spcBef>
                <a:spcPct val="50000"/>
              </a:spcBef>
            </a:pPr>
            <a:r>
              <a:rPr lang="en-US" altLang="zh-CN" sz="1600" b="1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r>
              <a:rPr lang="zh-CN" altLang="en-US" sz="1600" b="1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位</a:t>
            </a:r>
          </a:p>
        </p:txBody>
      </p:sp>
      <p:sp>
        <p:nvSpPr>
          <p:cNvPr id="265310" name="文本框 265309"/>
          <p:cNvSpPr txBox="1"/>
          <p:nvPr/>
        </p:nvSpPr>
        <p:spPr>
          <a:xfrm>
            <a:off x="1641477" y="162719"/>
            <a:ext cx="2992437" cy="457200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lvl="0">
              <a:spcBef>
                <a:spcPct val="5000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8086CPU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内部结构图</a:t>
            </a:r>
          </a:p>
        </p:txBody>
      </p:sp>
      <p:sp>
        <p:nvSpPr>
          <p:cNvPr id="18" name="文本框 17"/>
          <p:cNvSpPr txBox="1"/>
          <p:nvPr>
            <p:custDataLst>
              <p:tags r:id="rId1"/>
            </p:custDataLst>
          </p:nvPr>
        </p:nvSpPr>
        <p:spPr>
          <a:xfrm>
            <a:off x="4873625" y="4526915"/>
            <a:ext cx="69342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/>
              <a:t>数据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07950" y="891540"/>
            <a:ext cx="4572000" cy="57378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533400" lvl="0" indent="-533400">
              <a:lnSpc>
                <a:spcPct val="90000"/>
              </a:lnSpc>
              <a:buClrTx/>
              <a:buFont typeface="Wingdings 3" panose="05040102010807070707" pitchFamily="18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sym typeface="+mn-ea"/>
              </a:rPr>
              <a:t>BIU</a:t>
            </a:r>
            <a:r>
              <a:rPr lang="en-US" altLang="zh-CN" sz="2400" b="1" dirty="0">
                <a:sym typeface="+mn-ea"/>
              </a:rPr>
              <a:t>:CPU</a:t>
            </a:r>
            <a:r>
              <a:rPr lang="zh-CN" altLang="en-US" sz="2400" b="1" dirty="0">
                <a:sym typeface="+mn-ea"/>
              </a:rPr>
              <a:t>与存储器及</a:t>
            </a:r>
            <a:r>
              <a:rPr lang="en-US" altLang="zh-CN" sz="2400" b="1" dirty="0">
                <a:sym typeface="+mn-ea"/>
              </a:rPr>
              <a:t>I/O</a:t>
            </a:r>
            <a:r>
              <a:rPr lang="zh-CN" altLang="en-US" sz="2400" b="1" dirty="0">
                <a:sym typeface="+mn-ea"/>
              </a:rPr>
              <a:t>的接口，内部由</a:t>
            </a:r>
            <a:r>
              <a:rPr lang="en-US" altLang="zh-CN" sz="2400" b="1" dirty="0">
                <a:sym typeface="+mn-ea"/>
              </a:rPr>
              <a:t>20</a:t>
            </a:r>
            <a:r>
              <a:rPr lang="zh-CN" altLang="en-US" sz="2400" b="1" dirty="0">
                <a:sym typeface="+mn-ea"/>
              </a:rPr>
              <a:t>位地址加法器、指令队列缓冲器、内部寄存器和总线控制逻辑等组成；完成取指令、指令排队、读</a:t>
            </a:r>
            <a:r>
              <a:rPr lang="en-US" altLang="zh-CN" sz="2400" b="1" dirty="0">
                <a:sym typeface="+mn-ea"/>
              </a:rPr>
              <a:t>/</a:t>
            </a:r>
            <a:r>
              <a:rPr lang="zh-CN" altLang="en-US" sz="2400" b="1" dirty="0">
                <a:sym typeface="+mn-ea"/>
              </a:rPr>
              <a:t>写操作数、地址转换与总线控制等工作。</a:t>
            </a:r>
            <a:endParaRPr lang="zh-CN" altLang="en-US" sz="2400" b="1" dirty="0"/>
          </a:p>
          <a:p>
            <a:pPr marL="533400" lvl="0" indent="-533400">
              <a:lnSpc>
                <a:spcPct val="90000"/>
              </a:lnSpc>
              <a:buClrTx/>
              <a:buFont typeface="Wingdings 3" panose="05040102010807070707" pitchFamily="18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sym typeface="+mn-ea"/>
              </a:rPr>
              <a:t>20</a:t>
            </a:r>
            <a:r>
              <a:rPr lang="zh-CN" altLang="en-US" sz="2400" b="1" dirty="0">
                <a:solidFill>
                  <a:srgbClr val="0000FF"/>
                </a:solidFill>
                <a:sym typeface="+mn-ea"/>
              </a:rPr>
              <a:t>位地址加法器</a:t>
            </a:r>
            <a:r>
              <a:rPr lang="zh-CN" altLang="en-US" sz="2400" b="1" dirty="0">
                <a:sym typeface="+mn-ea"/>
              </a:rPr>
              <a:t>：将逻辑地址变换成</a:t>
            </a:r>
            <a:r>
              <a:rPr lang="en-US" altLang="zh-CN" sz="2400" b="1" dirty="0">
                <a:sym typeface="+mn-ea"/>
              </a:rPr>
              <a:t>20</a:t>
            </a:r>
            <a:r>
              <a:rPr lang="zh-CN" altLang="en-US" sz="2400" b="1" dirty="0">
                <a:sym typeface="+mn-ea"/>
              </a:rPr>
              <a:t>位物理地址，完成地址加法操作</a:t>
            </a:r>
            <a:r>
              <a:rPr lang="zh-CN" altLang="en-US" sz="2400" dirty="0">
                <a:sym typeface="+mn-ea"/>
              </a:rPr>
              <a:t> </a:t>
            </a:r>
            <a:endParaRPr lang="zh-CN" altLang="en-US" sz="2400" b="1" dirty="0"/>
          </a:p>
          <a:p>
            <a:pPr marL="533400" lvl="0" indent="-533400">
              <a:lnSpc>
                <a:spcPct val="90000"/>
              </a:lnSpc>
              <a:buClrTx/>
              <a:buNone/>
            </a:pPr>
            <a:r>
              <a:rPr lang="zh-CN" altLang="en-US" sz="2400" b="1" dirty="0">
                <a:solidFill>
                  <a:srgbClr val="0000FF"/>
                </a:solidFill>
                <a:sym typeface="+mn-ea"/>
              </a:rPr>
              <a:t>指令队列缓冲器</a:t>
            </a:r>
            <a:r>
              <a:rPr lang="zh-CN" altLang="en-US" b="1" dirty="0">
                <a:sym typeface="+mn-ea"/>
              </a:rPr>
              <a:t>：</a:t>
            </a:r>
            <a:r>
              <a:rPr lang="zh-CN" altLang="en-US" sz="2400" b="1" dirty="0">
                <a:sym typeface="+mn-ea"/>
              </a:rPr>
              <a:t>具有</a:t>
            </a:r>
            <a:r>
              <a:rPr lang="en-US" altLang="zh-CN" sz="2400" b="1" dirty="0">
                <a:solidFill>
                  <a:srgbClr val="FF00FF"/>
                </a:solidFill>
                <a:sym typeface="+mn-ea"/>
              </a:rPr>
              <a:t>6</a:t>
            </a:r>
            <a:r>
              <a:rPr lang="zh-CN" altLang="en-US" sz="2400" b="1" dirty="0">
                <a:sym typeface="+mn-ea"/>
              </a:rPr>
              <a:t>字节的“先进先出”的</a:t>
            </a:r>
            <a:r>
              <a:rPr lang="en-US" altLang="zh-CN" sz="2400" b="1" dirty="0">
                <a:sym typeface="+mn-ea"/>
              </a:rPr>
              <a:t>RAM</a:t>
            </a:r>
            <a:r>
              <a:rPr lang="zh-CN" altLang="en-US" sz="2400" b="1" dirty="0">
                <a:sym typeface="+mn-ea"/>
              </a:rPr>
              <a:t>存储器，按顺序存放</a:t>
            </a:r>
            <a:r>
              <a:rPr lang="en-US" altLang="zh-CN" sz="2400" b="1" dirty="0">
                <a:sym typeface="+mn-ea"/>
              </a:rPr>
              <a:t>CPU</a:t>
            </a:r>
            <a:r>
              <a:rPr lang="zh-CN" altLang="en-US" sz="2400" b="1" dirty="0">
                <a:sym typeface="+mn-ea"/>
              </a:rPr>
              <a:t>要执行的指令，并送入</a:t>
            </a:r>
            <a:r>
              <a:rPr lang="en-US" altLang="zh-CN" sz="2400" b="1" dirty="0">
                <a:sym typeface="+mn-ea"/>
              </a:rPr>
              <a:t>EU</a:t>
            </a:r>
            <a:r>
              <a:rPr lang="zh-CN" altLang="en-US" sz="2400" b="1" dirty="0">
                <a:sym typeface="+mn-ea"/>
              </a:rPr>
              <a:t>中去执行</a:t>
            </a:r>
            <a:r>
              <a:rPr lang="zh-CN" altLang="en-US" dirty="0">
                <a:sym typeface="+mn-ea"/>
              </a:rPr>
              <a:t> </a:t>
            </a:r>
            <a:endParaRPr lang="zh-CN" altLang="en-US" dirty="0"/>
          </a:p>
          <a:p>
            <a:pPr marL="533400" lvl="0" indent="-533400">
              <a:lnSpc>
                <a:spcPct val="90000"/>
              </a:lnSpc>
              <a:buClrTx/>
              <a:buNone/>
            </a:pPr>
            <a:r>
              <a:rPr lang="zh-CN" altLang="en-US" sz="2400" b="1" dirty="0">
                <a:solidFill>
                  <a:srgbClr val="0000FF"/>
                </a:solidFill>
                <a:sym typeface="+mn-ea"/>
              </a:rPr>
              <a:t>总线控制电路</a:t>
            </a:r>
            <a:r>
              <a:rPr lang="zh-CN" altLang="en-US" dirty="0">
                <a:sym typeface="+mn-ea"/>
              </a:rPr>
              <a:t>：</a:t>
            </a:r>
            <a:r>
              <a:rPr lang="zh-CN" altLang="en-US" sz="2400" b="1" dirty="0">
                <a:sym typeface="+mn-ea"/>
              </a:rPr>
              <a:t>产生并发出总线控制信号，实现对存储器或</a:t>
            </a:r>
            <a:r>
              <a:rPr lang="en-US" altLang="zh-CN" sz="2400" b="1" dirty="0">
                <a:sym typeface="+mn-ea"/>
              </a:rPr>
              <a:t>I/O</a:t>
            </a:r>
            <a:r>
              <a:rPr lang="zh-CN" altLang="en-US" sz="2400" b="1" dirty="0">
                <a:sym typeface="+mn-ea"/>
              </a:rPr>
              <a:t>端口的读</a:t>
            </a:r>
            <a:r>
              <a:rPr lang="en-US" altLang="zh-CN" sz="2400" b="1" dirty="0">
                <a:sym typeface="+mn-ea"/>
              </a:rPr>
              <a:t>/</a:t>
            </a:r>
            <a:r>
              <a:rPr lang="zh-CN" altLang="en-US" sz="2400" b="1" dirty="0">
                <a:sym typeface="+mn-ea"/>
              </a:rPr>
              <a:t>写控制</a:t>
            </a:r>
            <a:r>
              <a:rPr lang="zh-CN" altLang="en-US" dirty="0">
                <a:sym typeface="+mn-ea"/>
              </a:rPr>
              <a:t> </a:t>
            </a:r>
          </a:p>
        </p:txBody>
      </p:sp>
    </p:spTree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403985" y="4004945"/>
            <a:ext cx="1676400" cy="381000"/>
          </a:xfrm>
          <a:prstGeom prst="rect">
            <a:avLst/>
          </a:prstGeom>
          <a:solidFill>
            <a:srgbClr val="CCFFCC"/>
          </a:solidFill>
          <a:ln w="12700" cap="flat" cmpd="sng">
            <a:solidFill>
              <a:srgbClr val="99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文本框 5">
            <a:hlinkClick r:id="" action="ppaction://noaction"/>
          </p:cNvPr>
          <p:cNvSpPr txBox="1"/>
          <p:nvPr/>
        </p:nvSpPr>
        <p:spPr>
          <a:xfrm>
            <a:off x="1542415" y="4004945"/>
            <a:ext cx="1524000" cy="368300"/>
          </a:xfrm>
          <a:prstGeom prst="rect">
            <a:avLst/>
          </a:prstGeom>
          <a:noFill/>
          <a:ln w="88900">
            <a:noFill/>
          </a:ln>
        </p:spPr>
        <p:txBody>
          <a:bodyPr>
            <a:spAutoFit/>
          </a:bodyPr>
          <a:lstStyle/>
          <a:p>
            <a:pPr lvl="0">
              <a:spcBef>
                <a:spcPct val="50000"/>
              </a:spcBef>
            </a:pPr>
            <a:r>
              <a:rPr lang="zh-CN" altLang="en-US" sz="18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暂存寄存器</a:t>
            </a:r>
            <a:endParaRPr lang="zh-CN" altLang="en-US" sz="1800" b="1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5218" name="矩形 265217">
            <a:hlinkClick r:id="" action="ppaction://noaction"/>
          </p:cNvPr>
          <p:cNvSpPr/>
          <p:nvPr/>
        </p:nvSpPr>
        <p:spPr>
          <a:xfrm>
            <a:off x="1447800" y="914400"/>
            <a:ext cx="1371600" cy="2438400"/>
          </a:xfrm>
          <a:prstGeom prst="rect">
            <a:avLst/>
          </a:prstGeom>
          <a:solidFill>
            <a:srgbClr val="CCFFCC"/>
          </a:solidFill>
          <a:ln w="12700" cap="flat" cmpd="sng">
            <a:solidFill>
              <a:srgbClr val="99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5219" name="直接连接符 265218"/>
          <p:cNvSpPr/>
          <p:nvPr/>
        </p:nvSpPr>
        <p:spPr>
          <a:xfrm>
            <a:off x="1447800" y="2743200"/>
            <a:ext cx="1371600" cy="0"/>
          </a:xfrm>
          <a:prstGeom prst="line">
            <a:avLst/>
          </a:prstGeom>
          <a:ln w="12700" cap="flat" cmpd="sng">
            <a:solidFill>
              <a:srgbClr val="99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20" name="直接连接符 265219"/>
          <p:cNvSpPr/>
          <p:nvPr/>
        </p:nvSpPr>
        <p:spPr>
          <a:xfrm>
            <a:off x="1447800" y="3048000"/>
            <a:ext cx="1371600" cy="0"/>
          </a:xfrm>
          <a:prstGeom prst="line">
            <a:avLst/>
          </a:prstGeom>
          <a:ln w="12700" cap="flat" cmpd="sng">
            <a:solidFill>
              <a:srgbClr val="99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21" name="直接连接符 265220"/>
          <p:cNvSpPr/>
          <p:nvPr/>
        </p:nvSpPr>
        <p:spPr>
          <a:xfrm>
            <a:off x="1447800" y="1219200"/>
            <a:ext cx="1371600" cy="0"/>
          </a:xfrm>
          <a:prstGeom prst="line">
            <a:avLst/>
          </a:prstGeom>
          <a:ln w="12700" cap="flat" cmpd="sng">
            <a:solidFill>
              <a:srgbClr val="99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22" name="直接连接符 265221"/>
          <p:cNvSpPr/>
          <p:nvPr/>
        </p:nvSpPr>
        <p:spPr>
          <a:xfrm>
            <a:off x="1447800" y="1524000"/>
            <a:ext cx="1371600" cy="0"/>
          </a:xfrm>
          <a:prstGeom prst="line">
            <a:avLst/>
          </a:prstGeom>
          <a:ln w="12700" cap="flat" cmpd="sng">
            <a:solidFill>
              <a:srgbClr val="99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23" name="直接连接符 265222"/>
          <p:cNvSpPr/>
          <p:nvPr/>
        </p:nvSpPr>
        <p:spPr>
          <a:xfrm>
            <a:off x="1447800" y="1828800"/>
            <a:ext cx="1371600" cy="0"/>
          </a:xfrm>
          <a:prstGeom prst="line">
            <a:avLst/>
          </a:prstGeom>
          <a:ln w="12700" cap="flat" cmpd="sng">
            <a:solidFill>
              <a:srgbClr val="99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24" name="直接连接符 265223">
            <a:hlinkClick r:id="" action="ppaction://noaction"/>
          </p:cNvPr>
          <p:cNvSpPr/>
          <p:nvPr/>
        </p:nvSpPr>
        <p:spPr>
          <a:xfrm>
            <a:off x="1447800" y="2133600"/>
            <a:ext cx="1371600" cy="0"/>
          </a:xfrm>
          <a:prstGeom prst="line">
            <a:avLst/>
          </a:prstGeom>
          <a:ln w="12700" cap="flat" cmpd="sng">
            <a:solidFill>
              <a:srgbClr val="99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25" name="直接连接符 265224"/>
          <p:cNvSpPr/>
          <p:nvPr/>
        </p:nvSpPr>
        <p:spPr>
          <a:xfrm>
            <a:off x="1447800" y="2438400"/>
            <a:ext cx="1371600" cy="0"/>
          </a:xfrm>
          <a:prstGeom prst="line">
            <a:avLst/>
          </a:prstGeom>
          <a:ln w="12700" cap="flat" cmpd="sng">
            <a:solidFill>
              <a:srgbClr val="99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26" name="直接连接符 265225"/>
          <p:cNvSpPr/>
          <p:nvPr/>
        </p:nvSpPr>
        <p:spPr>
          <a:xfrm>
            <a:off x="2133600" y="914400"/>
            <a:ext cx="0" cy="1219200"/>
          </a:xfrm>
          <a:prstGeom prst="line">
            <a:avLst/>
          </a:prstGeom>
          <a:ln w="12700" cap="flat" cmpd="sng">
            <a:solidFill>
              <a:srgbClr val="99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27" name="任意多边形 265226">
            <a:hlinkClick r:id="" action="ppaction://noaction"/>
          </p:cNvPr>
          <p:cNvSpPr/>
          <p:nvPr/>
        </p:nvSpPr>
        <p:spPr>
          <a:xfrm>
            <a:off x="1219200" y="4419600"/>
            <a:ext cx="1905000" cy="762000"/>
          </a:xfrm>
          <a:custGeom>
            <a:avLst/>
            <a:gdLst/>
            <a:ahLst/>
            <a:cxnLst/>
            <a:rect l="0" t="0" r="0" b="0"/>
            <a:pathLst>
              <a:path w="1200" h="480">
                <a:moveTo>
                  <a:pt x="0" y="0"/>
                </a:moveTo>
                <a:lnTo>
                  <a:pt x="384" y="0"/>
                </a:lnTo>
                <a:lnTo>
                  <a:pt x="480" y="192"/>
                </a:lnTo>
                <a:lnTo>
                  <a:pt x="720" y="192"/>
                </a:lnTo>
                <a:lnTo>
                  <a:pt x="816" y="0"/>
                </a:lnTo>
                <a:lnTo>
                  <a:pt x="1200" y="0"/>
                </a:lnTo>
                <a:lnTo>
                  <a:pt x="912" y="480"/>
                </a:lnTo>
                <a:lnTo>
                  <a:pt x="240" y="480"/>
                </a:lnTo>
                <a:lnTo>
                  <a:pt x="0" y="0"/>
                </a:lnTo>
                <a:close/>
              </a:path>
            </a:pathLst>
          </a:custGeom>
          <a:solidFill>
            <a:srgbClr val="FFCC99">
              <a:alpha val="100000"/>
            </a:srgbClr>
          </a:solidFill>
          <a:ln w="12700" cap="flat" cmpd="sng">
            <a:solidFill>
              <a:srgbClr val="99330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5228" name="直接连接符 265227"/>
          <p:cNvSpPr/>
          <p:nvPr/>
        </p:nvSpPr>
        <p:spPr>
          <a:xfrm>
            <a:off x="2133600" y="3352800"/>
            <a:ext cx="0" cy="533400"/>
          </a:xfrm>
          <a:prstGeom prst="line">
            <a:avLst/>
          </a:prstGeom>
          <a:ln w="76200" cap="flat" cmpd="sng">
            <a:solidFill>
              <a:srgbClr val="996600"/>
            </a:solidFill>
            <a:prstDash val="solid"/>
            <a:headEnd type="triangle" w="sm" len="sm"/>
            <a:tailEnd type="triangle" w="sm" len="sm"/>
          </a:ln>
        </p:spPr>
      </p:sp>
      <p:sp>
        <p:nvSpPr>
          <p:cNvPr id="265229" name="直接连接符 265228"/>
          <p:cNvSpPr/>
          <p:nvPr/>
        </p:nvSpPr>
        <p:spPr>
          <a:xfrm>
            <a:off x="1600200" y="3886200"/>
            <a:ext cx="0" cy="533400"/>
          </a:xfrm>
          <a:prstGeom prst="line">
            <a:avLst/>
          </a:prstGeom>
          <a:ln w="76200" cap="flat" cmpd="sng">
            <a:solidFill>
              <a:srgbClr val="996600"/>
            </a:solidFill>
            <a:prstDash val="solid"/>
            <a:headEnd type="triangle" w="sm" len="sm"/>
            <a:tailEnd type="triangle" w="sm" len="sm"/>
          </a:ln>
        </p:spPr>
      </p:sp>
      <p:sp>
        <p:nvSpPr>
          <p:cNvPr id="265230" name="直接连接符 265229"/>
          <p:cNvSpPr/>
          <p:nvPr/>
        </p:nvSpPr>
        <p:spPr>
          <a:xfrm>
            <a:off x="2819400" y="3886200"/>
            <a:ext cx="0" cy="533400"/>
          </a:xfrm>
          <a:prstGeom prst="line">
            <a:avLst/>
          </a:prstGeom>
          <a:ln w="76200" cap="flat" cmpd="sng">
            <a:solidFill>
              <a:srgbClr val="996600"/>
            </a:solidFill>
            <a:prstDash val="solid"/>
            <a:headEnd type="triangle" w="sm" len="sm"/>
            <a:tailEnd type="triangle" w="sm" len="sm"/>
          </a:ln>
        </p:spPr>
      </p:sp>
      <p:sp>
        <p:nvSpPr>
          <p:cNvPr id="265231" name="矩形 265230"/>
          <p:cNvSpPr/>
          <p:nvPr/>
        </p:nvSpPr>
        <p:spPr>
          <a:xfrm>
            <a:off x="1371600" y="5791200"/>
            <a:ext cx="1676400" cy="381000"/>
          </a:xfrm>
          <a:prstGeom prst="rect">
            <a:avLst/>
          </a:prstGeom>
          <a:solidFill>
            <a:srgbClr val="CCFFCC"/>
          </a:solidFill>
          <a:ln w="12700" cap="flat" cmpd="sng">
            <a:solidFill>
              <a:srgbClr val="99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5232" name="直接连接符 265231"/>
          <p:cNvSpPr/>
          <p:nvPr/>
        </p:nvSpPr>
        <p:spPr>
          <a:xfrm>
            <a:off x="2438400" y="5181600"/>
            <a:ext cx="0" cy="609600"/>
          </a:xfrm>
          <a:prstGeom prst="line">
            <a:avLst/>
          </a:prstGeom>
          <a:ln w="28575" cap="flat" cmpd="sng">
            <a:solidFill>
              <a:srgbClr val="996600"/>
            </a:solidFill>
            <a:prstDash val="solid"/>
            <a:headEnd type="none" w="med" len="med"/>
            <a:tailEnd type="triangle" w="sm" len="lg"/>
          </a:ln>
        </p:spPr>
      </p:sp>
      <p:sp>
        <p:nvSpPr>
          <p:cNvPr id="265233" name="直接连接符 265232"/>
          <p:cNvSpPr/>
          <p:nvPr/>
        </p:nvSpPr>
        <p:spPr>
          <a:xfrm>
            <a:off x="990600" y="3886200"/>
            <a:ext cx="0" cy="1600200"/>
          </a:xfrm>
          <a:prstGeom prst="line">
            <a:avLst/>
          </a:prstGeom>
          <a:ln w="76200" cap="flat" cmpd="sng">
            <a:solidFill>
              <a:srgbClr val="996600"/>
            </a:solidFill>
            <a:prstDash val="solid"/>
            <a:headEnd type="triangle" w="sm" len="med"/>
            <a:tailEnd type="none" w="med" len="med"/>
          </a:ln>
        </p:spPr>
      </p:sp>
      <p:sp>
        <p:nvSpPr>
          <p:cNvPr id="265234" name="直接连接符 265233"/>
          <p:cNvSpPr/>
          <p:nvPr/>
        </p:nvSpPr>
        <p:spPr>
          <a:xfrm>
            <a:off x="990600" y="5486400"/>
            <a:ext cx="914400" cy="0"/>
          </a:xfrm>
          <a:prstGeom prst="line">
            <a:avLst/>
          </a:prstGeom>
          <a:ln w="76200" cap="flat" cmpd="sng">
            <a:solidFill>
              <a:srgbClr val="9966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35" name="直接连接符 265234"/>
          <p:cNvSpPr/>
          <p:nvPr/>
        </p:nvSpPr>
        <p:spPr>
          <a:xfrm>
            <a:off x="1905000" y="5181600"/>
            <a:ext cx="0" cy="304800"/>
          </a:xfrm>
          <a:prstGeom prst="line">
            <a:avLst/>
          </a:prstGeom>
          <a:ln w="76200" cap="flat" cmpd="sng">
            <a:solidFill>
              <a:srgbClr val="9966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36" name="直接连接符 265235"/>
          <p:cNvSpPr/>
          <p:nvPr/>
        </p:nvSpPr>
        <p:spPr>
          <a:xfrm>
            <a:off x="152400" y="3886200"/>
            <a:ext cx="4706620" cy="635"/>
          </a:xfrm>
          <a:prstGeom prst="line">
            <a:avLst/>
          </a:prstGeom>
          <a:ln w="117475" cap="flat" cmpd="sng">
            <a:solidFill>
              <a:srgbClr val="9966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37" name="直接连接符 265236"/>
          <p:cNvSpPr/>
          <p:nvPr/>
        </p:nvSpPr>
        <p:spPr>
          <a:xfrm>
            <a:off x="457200" y="3886200"/>
            <a:ext cx="0" cy="2667000"/>
          </a:xfrm>
          <a:prstGeom prst="line">
            <a:avLst/>
          </a:prstGeom>
          <a:ln w="76200" cap="flat" cmpd="sng">
            <a:solidFill>
              <a:srgbClr val="996600"/>
            </a:solidFill>
            <a:prstDash val="solid"/>
            <a:headEnd type="triangle" w="sm" len="med"/>
            <a:tailEnd type="none" w="med" len="med"/>
          </a:ln>
        </p:spPr>
      </p:sp>
      <p:sp>
        <p:nvSpPr>
          <p:cNvPr id="265238" name="直接连接符 265237"/>
          <p:cNvSpPr/>
          <p:nvPr/>
        </p:nvSpPr>
        <p:spPr>
          <a:xfrm>
            <a:off x="457200" y="6553200"/>
            <a:ext cx="1828800" cy="0"/>
          </a:xfrm>
          <a:prstGeom prst="line">
            <a:avLst/>
          </a:prstGeom>
          <a:ln w="76200" cap="flat" cmpd="sng">
            <a:solidFill>
              <a:srgbClr val="9966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39" name="直接连接符 265238"/>
          <p:cNvSpPr/>
          <p:nvPr/>
        </p:nvSpPr>
        <p:spPr>
          <a:xfrm>
            <a:off x="2286000" y="6172200"/>
            <a:ext cx="0" cy="381000"/>
          </a:xfrm>
          <a:prstGeom prst="line">
            <a:avLst/>
          </a:prstGeom>
          <a:ln w="76200" cap="flat" cmpd="sng">
            <a:solidFill>
              <a:srgbClr val="9966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47" name="矩形 265246"/>
          <p:cNvSpPr/>
          <p:nvPr/>
        </p:nvSpPr>
        <p:spPr>
          <a:xfrm>
            <a:off x="3505200" y="4419600"/>
            <a:ext cx="1143000" cy="762000"/>
          </a:xfrm>
          <a:prstGeom prst="rect">
            <a:avLst/>
          </a:prstGeom>
          <a:solidFill>
            <a:srgbClr val="FF9900"/>
          </a:solidFill>
          <a:ln w="12700" cap="flat" cmpd="sng">
            <a:solidFill>
              <a:srgbClr val="99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5265" name="直接连接符 265264"/>
          <p:cNvSpPr/>
          <p:nvPr/>
        </p:nvSpPr>
        <p:spPr>
          <a:xfrm>
            <a:off x="4648200" y="4800600"/>
            <a:ext cx="685800" cy="0"/>
          </a:xfrm>
          <a:prstGeom prst="line">
            <a:avLst/>
          </a:prstGeom>
          <a:ln w="95250" cap="flat" cmpd="sng">
            <a:solidFill>
              <a:srgbClr val="996600"/>
            </a:solidFill>
            <a:prstDash val="solid"/>
            <a:headEnd type="triangle" w="sm" len="sm"/>
            <a:tailEnd type="none" w="med" len="med"/>
          </a:ln>
        </p:spPr>
      </p:sp>
      <p:sp>
        <p:nvSpPr>
          <p:cNvPr id="265271" name="文本框 265270">
            <a:hlinkClick r:id="" action="ppaction://noaction"/>
          </p:cNvPr>
          <p:cNvSpPr txBox="1"/>
          <p:nvPr/>
        </p:nvSpPr>
        <p:spPr>
          <a:xfrm>
            <a:off x="3581400" y="4495800"/>
            <a:ext cx="1143000" cy="64135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lvl="0">
              <a:spcBef>
                <a:spcPct val="50000"/>
              </a:spcBef>
            </a:pPr>
            <a:r>
              <a:rPr lang="zh-CN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执行部分控制电路</a:t>
            </a:r>
            <a:endParaRPr lang="zh-CN" altLang="en-US" sz="18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5272" name="直接连接符 265271"/>
          <p:cNvSpPr/>
          <p:nvPr/>
        </p:nvSpPr>
        <p:spPr>
          <a:xfrm>
            <a:off x="3352800" y="3581400"/>
            <a:ext cx="0" cy="2362200"/>
          </a:xfrm>
          <a:prstGeom prst="line">
            <a:avLst/>
          </a:prstGeom>
          <a:ln w="25400" cap="flat" cmpd="sng">
            <a:solidFill>
              <a:srgbClr val="FF66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73" name="直接连接符 265272"/>
          <p:cNvSpPr/>
          <p:nvPr/>
        </p:nvSpPr>
        <p:spPr>
          <a:xfrm>
            <a:off x="2667000" y="3581400"/>
            <a:ext cx="685800" cy="0"/>
          </a:xfrm>
          <a:prstGeom prst="line">
            <a:avLst/>
          </a:prstGeom>
          <a:ln w="25400" cap="flat" cmpd="sng">
            <a:solidFill>
              <a:srgbClr val="FF66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74" name="直接连接符 265273"/>
          <p:cNvSpPr/>
          <p:nvPr/>
        </p:nvSpPr>
        <p:spPr>
          <a:xfrm>
            <a:off x="2667000" y="3352800"/>
            <a:ext cx="0" cy="228600"/>
          </a:xfrm>
          <a:prstGeom prst="line">
            <a:avLst/>
          </a:prstGeom>
          <a:ln w="25400" cap="flat" cmpd="sng">
            <a:solidFill>
              <a:srgbClr val="FF6600"/>
            </a:solidFill>
            <a:prstDash val="solid"/>
            <a:headEnd type="triangle" w="sm" len="med"/>
            <a:tailEnd type="none" w="med" len="med"/>
          </a:ln>
        </p:spPr>
      </p:sp>
      <p:sp>
        <p:nvSpPr>
          <p:cNvPr id="265275" name="直接连接符 265274"/>
          <p:cNvSpPr/>
          <p:nvPr/>
        </p:nvSpPr>
        <p:spPr>
          <a:xfrm>
            <a:off x="2895600" y="4800600"/>
            <a:ext cx="609600" cy="0"/>
          </a:xfrm>
          <a:prstGeom prst="line">
            <a:avLst/>
          </a:prstGeom>
          <a:ln w="25400" cap="flat" cmpd="sng">
            <a:solidFill>
              <a:srgbClr val="FF6600"/>
            </a:solidFill>
            <a:prstDash val="solid"/>
            <a:headEnd type="triangle" w="sm" len="med"/>
            <a:tailEnd type="none" w="med" len="med"/>
          </a:ln>
        </p:spPr>
      </p:sp>
      <p:sp>
        <p:nvSpPr>
          <p:cNvPr id="265276" name="直接连接符 265275"/>
          <p:cNvSpPr/>
          <p:nvPr/>
        </p:nvSpPr>
        <p:spPr>
          <a:xfrm>
            <a:off x="3048000" y="5943600"/>
            <a:ext cx="304800" cy="0"/>
          </a:xfrm>
          <a:prstGeom prst="line">
            <a:avLst/>
          </a:prstGeom>
          <a:ln w="25400" cap="flat" cmpd="sng">
            <a:solidFill>
              <a:srgbClr val="FF6600"/>
            </a:solidFill>
            <a:prstDash val="solid"/>
            <a:headEnd type="triangle" w="sm" len="med"/>
            <a:tailEnd type="none" w="med" len="med"/>
          </a:ln>
        </p:spPr>
      </p:sp>
      <p:sp>
        <p:nvSpPr>
          <p:cNvPr id="265283" name="直接连接符 265282"/>
          <p:cNvSpPr/>
          <p:nvPr/>
        </p:nvSpPr>
        <p:spPr>
          <a:xfrm>
            <a:off x="4800600" y="304800"/>
            <a:ext cx="0" cy="6324600"/>
          </a:xfrm>
          <a:prstGeom prst="line">
            <a:avLst/>
          </a:prstGeom>
          <a:ln w="12700" cap="flat" cmpd="sng">
            <a:solidFill>
              <a:srgbClr val="333333"/>
            </a:solidFill>
            <a:prstDash val="lgDashDot"/>
            <a:headEnd type="none" w="med" len="med"/>
            <a:tailEnd type="none" w="sm" len="sm"/>
          </a:ln>
        </p:spPr>
      </p:sp>
      <p:sp>
        <p:nvSpPr>
          <p:cNvPr id="265286" name="文本框 265285"/>
          <p:cNvSpPr txBox="1"/>
          <p:nvPr/>
        </p:nvSpPr>
        <p:spPr>
          <a:xfrm>
            <a:off x="1752600" y="4724400"/>
            <a:ext cx="838200" cy="457200"/>
          </a:xfrm>
          <a:prstGeom prst="rect">
            <a:avLst/>
          </a:prstGeom>
          <a:noFill/>
          <a:ln w="88900">
            <a:noFill/>
          </a:ln>
        </p:spPr>
        <p:txBody>
          <a:bodyPr>
            <a:spAutoFit/>
          </a:bodyPr>
          <a:lstStyle/>
          <a:p>
            <a:pPr lvl="0">
              <a:spcBef>
                <a:spcPct val="50000"/>
              </a:spcBef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ALU</a:t>
            </a:r>
            <a:endParaRPr lang="en-US" altLang="zh-CN" sz="18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5287" name="文本框 265286">
            <a:hlinkClick r:id="" action="ppaction://noaction"/>
          </p:cNvPr>
          <p:cNvSpPr txBox="1"/>
          <p:nvPr/>
        </p:nvSpPr>
        <p:spPr>
          <a:xfrm>
            <a:off x="1447800" y="5791200"/>
            <a:ext cx="1524000" cy="366713"/>
          </a:xfrm>
          <a:prstGeom prst="rect">
            <a:avLst/>
          </a:prstGeom>
          <a:noFill/>
          <a:ln w="88900">
            <a:noFill/>
          </a:ln>
        </p:spPr>
        <p:txBody>
          <a:bodyPr>
            <a:spAutoFit/>
          </a:bodyPr>
          <a:lstStyle/>
          <a:p>
            <a:pPr lvl="0">
              <a:spcBef>
                <a:spcPct val="50000"/>
              </a:spcBef>
            </a:pPr>
            <a:r>
              <a:rPr lang="zh-CN" altLang="en-US" sz="18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标志寄存器</a:t>
            </a:r>
            <a:endParaRPr lang="zh-CN" altLang="en-US" sz="1800" b="1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65288" name="组合 265287"/>
          <p:cNvGrpSpPr/>
          <p:nvPr/>
        </p:nvGrpSpPr>
        <p:grpSpPr>
          <a:xfrm>
            <a:off x="1371600" y="914400"/>
            <a:ext cx="1524000" cy="2500313"/>
            <a:chOff x="864" y="576"/>
            <a:chExt cx="960" cy="1575"/>
          </a:xfrm>
        </p:grpSpPr>
        <p:sp>
          <p:nvSpPr>
            <p:cNvPr id="265289" name="文本框 265288"/>
            <p:cNvSpPr txBox="1"/>
            <p:nvPr/>
          </p:nvSpPr>
          <p:spPr>
            <a:xfrm>
              <a:off x="864" y="576"/>
              <a:ext cx="960" cy="231"/>
            </a:xfrm>
            <a:prstGeom prst="rect">
              <a:avLst/>
            </a:prstGeom>
            <a:noFill/>
            <a:ln w="88900">
              <a:noFill/>
            </a:ln>
          </p:spPr>
          <p:txBody>
            <a:bodyPr>
              <a:spAutoFit/>
            </a:bodyPr>
            <a:lstStyle/>
            <a:p>
              <a:pPr lvl="0">
                <a:spcBef>
                  <a:spcPct val="50000"/>
                </a:spcBef>
              </a:pPr>
              <a:r>
                <a:rPr lang="zh-CN" altLang="en-US" sz="1800" b="1">
                  <a:latin typeface="Times New Roman" panose="02020603050405020304" pitchFamily="18" charset="0"/>
                  <a:ea typeface="宋体" panose="02010600030101010101" pitchFamily="2" charset="-122"/>
                </a:rPr>
                <a:t>   </a:t>
              </a:r>
              <a:r>
                <a:rPr lang="en-US" altLang="zh-CN" sz="18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AH      AL</a:t>
              </a:r>
              <a:r>
                <a:rPr lang="en-US" altLang="zh-CN" sz="1800" b="1">
                  <a:latin typeface="Times New Roman" panose="02020603050405020304" pitchFamily="18" charset="0"/>
                  <a:ea typeface="宋体" panose="02010600030101010101" pitchFamily="2" charset="-122"/>
                </a:rPr>
                <a:t>   </a:t>
              </a:r>
            </a:p>
          </p:txBody>
        </p:sp>
        <p:sp>
          <p:nvSpPr>
            <p:cNvPr id="265290" name="文本框 265289"/>
            <p:cNvSpPr txBox="1"/>
            <p:nvPr/>
          </p:nvSpPr>
          <p:spPr>
            <a:xfrm>
              <a:off x="912" y="768"/>
              <a:ext cx="864" cy="231"/>
            </a:xfrm>
            <a:prstGeom prst="rect">
              <a:avLst/>
            </a:prstGeom>
            <a:noFill/>
            <a:ln w="88900">
              <a:noFill/>
            </a:ln>
          </p:spPr>
          <p:txBody>
            <a:bodyPr>
              <a:spAutoFit/>
            </a:bodyPr>
            <a:lstStyle/>
            <a:p>
              <a:pPr lvl="0">
                <a:spcBef>
                  <a:spcPct val="50000"/>
                </a:spcBef>
              </a:pPr>
              <a:r>
                <a:rPr lang="zh-CN" altLang="en-US" sz="1800" b="1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8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BH      BL</a:t>
              </a:r>
            </a:p>
          </p:txBody>
        </p:sp>
        <p:sp>
          <p:nvSpPr>
            <p:cNvPr id="265291" name="文本框 265290"/>
            <p:cNvSpPr txBox="1"/>
            <p:nvPr/>
          </p:nvSpPr>
          <p:spPr>
            <a:xfrm>
              <a:off x="960" y="960"/>
              <a:ext cx="816" cy="231"/>
            </a:xfrm>
            <a:prstGeom prst="rect">
              <a:avLst/>
            </a:prstGeom>
            <a:noFill/>
            <a:ln w="88900">
              <a:noFill/>
            </a:ln>
          </p:spPr>
          <p:txBody>
            <a:bodyPr>
              <a:spAutoFit/>
            </a:bodyPr>
            <a:lstStyle/>
            <a:p>
              <a:pPr lvl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CH      CL</a:t>
              </a:r>
            </a:p>
          </p:txBody>
        </p:sp>
        <p:sp>
          <p:nvSpPr>
            <p:cNvPr id="265292" name="文本框 265291"/>
            <p:cNvSpPr txBox="1"/>
            <p:nvPr/>
          </p:nvSpPr>
          <p:spPr>
            <a:xfrm>
              <a:off x="912" y="1152"/>
              <a:ext cx="864" cy="231"/>
            </a:xfrm>
            <a:prstGeom prst="rect">
              <a:avLst/>
            </a:prstGeom>
            <a:noFill/>
            <a:ln w="88900">
              <a:noFill/>
            </a:ln>
          </p:spPr>
          <p:txBody>
            <a:bodyPr>
              <a:spAutoFit/>
            </a:bodyPr>
            <a:lstStyle/>
            <a:p>
              <a:pPr lvl="0">
                <a:spcBef>
                  <a:spcPct val="50000"/>
                </a:spcBef>
              </a:pPr>
              <a:r>
                <a:rPr lang="zh-CN" altLang="en-US" sz="1800" b="1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8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DH      DL</a:t>
              </a:r>
            </a:p>
          </p:txBody>
        </p:sp>
        <p:sp>
          <p:nvSpPr>
            <p:cNvPr id="265293" name="文本框 265292"/>
            <p:cNvSpPr txBox="1"/>
            <p:nvPr/>
          </p:nvSpPr>
          <p:spPr>
            <a:xfrm>
              <a:off x="1056" y="1344"/>
              <a:ext cx="576" cy="231"/>
            </a:xfrm>
            <a:prstGeom prst="rect">
              <a:avLst/>
            </a:prstGeom>
            <a:noFill/>
            <a:ln w="88900">
              <a:noFill/>
            </a:ln>
          </p:spPr>
          <p:txBody>
            <a:bodyPr>
              <a:spAutoFit/>
            </a:bodyPr>
            <a:lstStyle/>
            <a:p>
              <a:pPr lvl="0">
                <a:spcBef>
                  <a:spcPct val="50000"/>
                </a:spcBef>
              </a:pPr>
              <a:r>
                <a:rPr lang="zh-CN" altLang="en-US" sz="1800" b="1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zh-CN" altLang="en-US" sz="18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</a:t>
              </a:r>
              <a:r>
                <a:rPr lang="en-US" altLang="zh-CN" sz="18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SP</a:t>
              </a:r>
            </a:p>
          </p:txBody>
        </p:sp>
        <p:sp>
          <p:nvSpPr>
            <p:cNvPr id="265294" name="文本框 265293"/>
            <p:cNvSpPr txBox="1"/>
            <p:nvPr/>
          </p:nvSpPr>
          <p:spPr>
            <a:xfrm>
              <a:off x="1056" y="1536"/>
              <a:ext cx="528" cy="231"/>
            </a:xfrm>
            <a:prstGeom prst="rect">
              <a:avLst/>
            </a:prstGeom>
            <a:noFill/>
            <a:ln w="88900">
              <a:noFill/>
            </a:ln>
          </p:spPr>
          <p:txBody>
            <a:bodyPr>
              <a:spAutoFit/>
            </a:bodyPr>
            <a:lstStyle/>
            <a:p>
              <a:pPr lvl="0">
                <a:spcBef>
                  <a:spcPct val="50000"/>
                </a:spcBef>
              </a:pPr>
              <a:r>
                <a:rPr lang="zh-CN" altLang="en-US" sz="1800" b="1">
                  <a:latin typeface="Times New Roman" panose="02020603050405020304" pitchFamily="18" charset="0"/>
                  <a:ea typeface="宋体" panose="02010600030101010101" pitchFamily="2" charset="-122"/>
                </a:rPr>
                <a:t>    </a:t>
              </a:r>
              <a:r>
                <a:rPr lang="en-US" altLang="zh-CN" sz="18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BP</a:t>
              </a:r>
            </a:p>
          </p:txBody>
        </p:sp>
        <p:sp>
          <p:nvSpPr>
            <p:cNvPr id="265295" name="文本框 265294"/>
            <p:cNvSpPr txBox="1"/>
            <p:nvPr/>
          </p:nvSpPr>
          <p:spPr>
            <a:xfrm>
              <a:off x="1056" y="1728"/>
              <a:ext cx="576" cy="231"/>
            </a:xfrm>
            <a:prstGeom prst="rect">
              <a:avLst/>
            </a:prstGeom>
            <a:noFill/>
            <a:ln w="88900">
              <a:noFill/>
            </a:ln>
          </p:spPr>
          <p:txBody>
            <a:bodyPr>
              <a:spAutoFit/>
            </a:bodyPr>
            <a:lstStyle/>
            <a:p>
              <a:pPr lvl="0">
                <a:spcBef>
                  <a:spcPct val="50000"/>
                </a:spcBef>
              </a:pPr>
              <a:r>
                <a:rPr lang="zh-CN" altLang="en-US" sz="1800" b="1">
                  <a:latin typeface="Times New Roman" panose="02020603050405020304" pitchFamily="18" charset="0"/>
                  <a:ea typeface="宋体" panose="02010600030101010101" pitchFamily="2" charset="-122"/>
                </a:rPr>
                <a:t>    </a:t>
              </a:r>
              <a:r>
                <a:rPr lang="en-US" altLang="zh-CN" sz="18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SI</a:t>
              </a:r>
            </a:p>
          </p:txBody>
        </p:sp>
        <p:sp>
          <p:nvSpPr>
            <p:cNvPr id="265296" name="文本框 265295"/>
            <p:cNvSpPr txBox="1"/>
            <p:nvPr/>
          </p:nvSpPr>
          <p:spPr>
            <a:xfrm>
              <a:off x="1104" y="1920"/>
              <a:ext cx="480" cy="231"/>
            </a:xfrm>
            <a:prstGeom prst="rect">
              <a:avLst/>
            </a:prstGeom>
            <a:noFill/>
            <a:ln w="88900">
              <a:noFill/>
            </a:ln>
          </p:spPr>
          <p:txBody>
            <a:bodyPr>
              <a:spAutoFit/>
            </a:bodyPr>
            <a:lstStyle/>
            <a:p>
              <a:pPr lvl="0">
                <a:spcBef>
                  <a:spcPct val="50000"/>
                </a:spcBef>
              </a:pPr>
              <a:r>
                <a:rPr lang="zh-CN" altLang="en-US" sz="18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</a:t>
              </a:r>
              <a:r>
                <a:rPr lang="en-US" altLang="zh-CN" sz="18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DI</a:t>
              </a:r>
            </a:p>
          </p:txBody>
        </p:sp>
      </p:grpSp>
      <p:sp>
        <p:nvSpPr>
          <p:cNvPr id="265297" name="文本框 265296"/>
          <p:cNvSpPr txBox="1"/>
          <p:nvPr/>
        </p:nvSpPr>
        <p:spPr>
          <a:xfrm>
            <a:off x="685800" y="1143000"/>
            <a:ext cx="838200" cy="901700"/>
          </a:xfrm>
          <a:prstGeom prst="rect">
            <a:avLst/>
          </a:prstGeom>
          <a:noFill/>
          <a:ln w="88900">
            <a:noFill/>
          </a:ln>
        </p:spPr>
        <p:txBody>
          <a:bodyPr>
            <a:spAutoFit/>
          </a:bodyPr>
          <a:lstStyle/>
          <a:p>
            <a:pPr lvl="0">
              <a:lnSpc>
                <a:spcPct val="65000"/>
              </a:lnSpc>
              <a:spcBef>
                <a:spcPct val="50000"/>
              </a:spcBef>
            </a:pPr>
            <a:r>
              <a:rPr lang="zh-CN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通用</a:t>
            </a:r>
          </a:p>
          <a:p>
            <a:pPr lvl="0">
              <a:lnSpc>
                <a:spcPct val="65000"/>
              </a:lnSpc>
              <a:spcBef>
                <a:spcPct val="50000"/>
              </a:spcBef>
            </a:pPr>
            <a:r>
              <a:rPr lang="zh-CN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寄存</a:t>
            </a:r>
          </a:p>
          <a:p>
            <a:pPr lvl="0">
              <a:lnSpc>
                <a:spcPct val="65000"/>
              </a:lnSpc>
              <a:spcBef>
                <a:spcPct val="50000"/>
              </a:spcBef>
            </a:pPr>
            <a:r>
              <a:rPr lang="zh-CN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器</a:t>
            </a:r>
            <a:endParaRPr lang="zh-CN" altLang="en-US" sz="18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5300" name="文本框 265299">
            <a:hlinkClick r:id="" action="ppaction://noaction"/>
          </p:cNvPr>
          <p:cNvSpPr txBox="1"/>
          <p:nvPr/>
        </p:nvSpPr>
        <p:spPr>
          <a:xfrm>
            <a:off x="3184525" y="6075363"/>
            <a:ext cx="1828800" cy="336550"/>
          </a:xfrm>
          <a:prstGeom prst="rect">
            <a:avLst/>
          </a:prstGeom>
          <a:noFill/>
          <a:ln w="88900">
            <a:noFill/>
          </a:ln>
        </p:spPr>
        <p:txBody>
          <a:bodyPr>
            <a:spAutoFit/>
          </a:bodyPr>
          <a:lstStyle/>
          <a:p>
            <a:pPr lvl="0">
              <a:spcBef>
                <a:spcPct val="50000"/>
              </a:spcBef>
            </a:pPr>
            <a:r>
              <a:rPr lang="zh-CN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执行部件 （</a:t>
            </a:r>
            <a:r>
              <a:rPr lang="en-US" altLang="zh-CN" sz="16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EU)</a:t>
            </a:r>
          </a:p>
        </p:txBody>
      </p:sp>
      <p:sp>
        <p:nvSpPr>
          <p:cNvPr id="265302" name="直接连接符 265301"/>
          <p:cNvSpPr/>
          <p:nvPr/>
        </p:nvSpPr>
        <p:spPr>
          <a:xfrm flipH="1">
            <a:off x="3730625" y="3730625"/>
            <a:ext cx="381000" cy="306388"/>
          </a:xfrm>
          <a:prstGeom prst="line">
            <a:avLst/>
          </a:prstGeom>
          <a:ln w="12700" cap="flat" cmpd="sng">
            <a:solidFill>
              <a:srgbClr val="A50021"/>
            </a:solidFill>
            <a:prstDash val="solid"/>
            <a:headEnd type="none" w="med" len="med"/>
            <a:tailEnd type="none" w="sm" len="sm"/>
          </a:ln>
        </p:spPr>
      </p:sp>
      <p:sp>
        <p:nvSpPr>
          <p:cNvPr id="265309" name="文本框 265308"/>
          <p:cNvSpPr txBox="1"/>
          <p:nvPr/>
        </p:nvSpPr>
        <p:spPr>
          <a:xfrm>
            <a:off x="4800600" y="4876800"/>
            <a:ext cx="762000" cy="33655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lvl="0">
              <a:spcBef>
                <a:spcPct val="50000"/>
              </a:spcBef>
            </a:pPr>
            <a:r>
              <a:rPr lang="en-US" altLang="zh-CN" sz="1600" b="1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r>
              <a:rPr lang="zh-CN" altLang="en-US" sz="1600" b="1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位</a:t>
            </a:r>
          </a:p>
        </p:txBody>
      </p:sp>
      <p:sp>
        <p:nvSpPr>
          <p:cNvPr id="265310" name="文本框 265309"/>
          <p:cNvSpPr txBox="1"/>
          <p:nvPr/>
        </p:nvSpPr>
        <p:spPr>
          <a:xfrm>
            <a:off x="1641477" y="162719"/>
            <a:ext cx="2992437" cy="457200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lvl="0">
              <a:spcBef>
                <a:spcPct val="5000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8086CPU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内部结构图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4815205" y="1060450"/>
            <a:ext cx="4225925" cy="22739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sym typeface="+mn-ea"/>
              </a:rPr>
              <a:t>EU</a:t>
            </a:r>
            <a:r>
              <a:rPr lang="zh-CN" altLang="en-US" sz="2400" b="1" dirty="0">
                <a:latin typeface="宋体" panose="02010600030101010101" pitchFamily="2" charset="-122"/>
                <a:sym typeface="+mn-ea"/>
              </a:rPr>
              <a:t>：</a:t>
            </a:r>
            <a:r>
              <a:rPr lang="zh-CN" altLang="en-US" sz="2400" b="1" dirty="0">
                <a:sym typeface="+mn-ea"/>
              </a:rPr>
              <a:t>接收从</a:t>
            </a:r>
            <a:r>
              <a:rPr lang="en-US" altLang="zh-CN" sz="2400" b="1" dirty="0">
                <a:sym typeface="+mn-ea"/>
              </a:rPr>
              <a:t>BIU</a:t>
            </a:r>
            <a:r>
              <a:rPr lang="zh-CN" altLang="en-US" sz="2400" b="1" dirty="0">
                <a:sym typeface="+mn-ea"/>
              </a:rPr>
              <a:t>指令队列中取来的指令代码，经过分析、译码后形成各种实时控制信号，向</a:t>
            </a:r>
            <a:r>
              <a:rPr lang="en-US" altLang="zh-CN" sz="2400" b="1" dirty="0">
                <a:sym typeface="+mn-ea"/>
              </a:rPr>
              <a:t>EU</a:t>
            </a:r>
            <a:r>
              <a:rPr lang="zh-CN" altLang="en-US" sz="2400" b="1" dirty="0">
                <a:sym typeface="+mn-ea"/>
              </a:rPr>
              <a:t>内各功能部件发送相应的控制命令，完成每条指令所规定的操作</a:t>
            </a:r>
          </a:p>
        </p:txBody>
      </p:sp>
      <p:sp>
        <p:nvSpPr>
          <p:cNvPr id="268293" name="矩形 268292"/>
          <p:cNvSpPr/>
          <p:nvPr/>
        </p:nvSpPr>
        <p:spPr>
          <a:xfrm>
            <a:off x="4860925" y="3716655"/>
            <a:ext cx="3964940" cy="92583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533400" lvl="0" indent="-533400">
              <a:buClrTx/>
              <a:buFont typeface="Wingdings 3" panose="05040102010807070707" pitchFamily="18" charset="2"/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EU</a:t>
            </a:r>
            <a:r>
              <a:rPr lang="zh-CN" altLang="en-US" sz="2400" b="1" dirty="0">
                <a:latin typeface="宋体" panose="02010600030101010101" pitchFamily="2" charset="-122"/>
              </a:rPr>
              <a:t>由</a:t>
            </a:r>
            <a:r>
              <a:rPr lang="en-US" altLang="zh-CN" sz="2400" b="1" dirty="0">
                <a:latin typeface="宋体" panose="02010600030101010101" pitchFamily="2" charset="-122"/>
              </a:rPr>
              <a:t>ALU</a:t>
            </a:r>
            <a:r>
              <a:rPr lang="zh-CN" altLang="en-US" sz="2400" b="1" dirty="0">
                <a:latin typeface="宋体" panose="02010600030101010101" pitchFamily="2" charset="-122"/>
              </a:rPr>
              <a:t>、标志寄存器、</a:t>
            </a:r>
            <a:r>
              <a:rPr lang="en-US" altLang="zh-CN" sz="2400" b="1" dirty="0">
                <a:latin typeface="宋体" panose="02010600030101010101" pitchFamily="2" charset="-122"/>
              </a:rPr>
              <a:t>8</a:t>
            </a:r>
            <a:r>
              <a:rPr lang="zh-CN" altLang="en-US" sz="2400" b="1" dirty="0">
                <a:latin typeface="宋体" panose="02010600030101010101" pitchFamily="2" charset="-122"/>
              </a:rPr>
              <a:t>个通用寄存器、暂存器、队列控制逻辑与时序控制逻辑（</a:t>
            </a:r>
            <a:r>
              <a:rPr lang="en-US" altLang="zh-CN" sz="2400" b="1" dirty="0">
                <a:latin typeface="宋体" panose="02010600030101010101" pitchFamily="2" charset="-122"/>
              </a:rPr>
              <a:t>EU</a:t>
            </a:r>
            <a:r>
              <a:rPr lang="zh-CN" altLang="en-US" sz="2400" b="1" dirty="0">
                <a:latin typeface="宋体" panose="02010600030101010101" pitchFamily="2" charset="-122"/>
              </a:rPr>
              <a:t>控制器）等组成；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409950" y="3357245"/>
            <a:ext cx="1466850" cy="337185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lvl="0">
              <a:spcBef>
                <a:spcPct val="50000"/>
              </a:spcBef>
            </a:pPr>
            <a:r>
              <a:rPr lang="zh-CN" altLang="en-US" sz="16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数据总线</a:t>
            </a:r>
            <a:r>
              <a:rPr lang="en-US" altLang="zh-CN" sz="16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16</a:t>
            </a:r>
            <a:r>
              <a:rPr lang="zh-CN" altLang="en-US" sz="16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位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865120" y="937895"/>
            <a:ext cx="66929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AX</a:t>
            </a:r>
          </a:p>
          <a:p>
            <a:r>
              <a:rPr lang="en-US" altLang="zh-CN"/>
              <a:t>BX</a:t>
            </a:r>
          </a:p>
          <a:p>
            <a:r>
              <a:rPr lang="en-US" altLang="zh-CN"/>
              <a:t>CX</a:t>
            </a:r>
          </a:p>
          <a:p>
            <a:r>
              <a:rPr lang="en-US" altLang="zh-CN"/>
              <a:t>DX</a:t>
            </a:r>
          </a:p>
        </p:txBody>
      </p:sp>
    </p:spTree>
  </p:cSld>
  <p:clrMapOvr>
    <a:masterClrMapping/>
  </p:clrMapOvr>
  <p:transition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403985" y="4004945"/>
            <a:ext cx="1676400" cy="381000"/>
          </a:xfrm>
          <a:prstGeom prst="rect">
            <a:avLst/>
          </a:prstGeom>
          <a:solidFill>
            <a:srgbClr val="CCFFCC"/>
          </a:solidFill>
          <a:ln w="12700" cap="flat" cmpd="sng">
            <a:solidFill>
              <a:srgbClr val="99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5218" name="矩形 265217">
            <a:hlinkClick r:id="" action="ppaction://noaction"/>
          </p:cNvPr>
          <p:cNvSpPr/>
          <p:nvPr/>
        </p:nvSpPr>
        <p:spPr>
          <a:xfrm>
            <a:off x="1447800" y="914400"/>
            <a:ext cx="1371600" cy="2438400"/>
          </a:xfrm>
          <a:prstGeom prst="rect">
            <a:avLst/>
          </a:prstGeom>
          <a:solidFill>
            <a:srgbClr val="CCFFCC"/>
          </a:solidFill>
          <a:ln w="12700" cap="flat" cmpd="sng">
            <a:solidFill>
              <a:srgbClr val="99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5219" name="直接连接符 265218"/>
          <p:cNvSpPr/>
          <p:nvPr/>
        </p:nvSpPr>
        <p:spPr>
          <a:xfrm>
            <a:off x="1447800" y="2743200"/>
            <a:ext cx="1371600" cy="0"/>
          </a:xfrm>
          <a:prstGeom prst="line">
            <a:avLst/>
          </a:prstGeom>
          <a:ln w="12700" cap="flat" cmpd="sng">
            <a:solidFill>
              <a:srgbClr val="99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20" name="直接连接符 265219"/>
          <p:cNvSpPr/>
          <p:nvPr/>
        </p:nvSpPr>
        <p:spPr>
          <a:xfrm>
            <a:off x="1447800" y="3048000"/>
            <a:ext cx="1371600" cy="0"/>
          </a:xfrm>
          <a:prstGeom prst="line">
            <a:avLst/>
          </a:prstGeom>
          <a:ln w="12700" cap="flat" cmpd="sng">
            <a:solidFill>
              <a:srgbClr val="99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21" name="直接连接符 265220"/>
          <p:cNvSpPr/>
          <p:nvPr/>
        </p:nvSpPr>
        <p:spPr>
          <a:xfrm>
            <a:off x="1447800" y="1219200"/>
            <a:ext cx="1371600" cy="0"/>
          </a:xfrm>
          <a:prstGeom prst="line">
            <a:avLst/>
          </a:prstGeom>
          <a:ln w="12700" cap="flat" cmpd="sng">
            <a:solidFill>
              <a:srgbClr val="99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22" name="直接连接符 265221"/>
          <p:cNvSpPr/>
          <p:nvPr/>
        </p:nvSpPr>
        <p:spPr>
          <a:xfrm>
            <a:off x="1447800" y="1524000"/>
            <a:ext cx="1371600" cy="0"/>
          </a:xfrm>
          <a:prstGeom prst="line">
            <a:avLst/>
          </a:prstGeom>
          <a:ln w="12700" cap="flat" cmpd="sng">
            <a:solidFill>
              <a:srgbClr val="99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23" name="直接连接符 265222"/>
          <p:cNvSpPr/>
          <p:nvPr/>
        </p:nvSpPr>
        <p:spPr>
          <a:xfrm>
            <a:off x="1447800" y="1828800"/>
            <a:ext cx="1371600" cy="0"/>
          </a:xfrm>
          <a:prstGeom prst="line">
            <a:avLst/>
          </a:prstGeom>
          <a:ln w="12700" cap="flat" cmpd="sng">
            <a:solidFill>
              <a:srgbClr val="99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24" name="直接连接符 265223">
            <a:hlinkClick r:id="" action="ppaction://noaction"/>
          </p:cNvPr>
          <p:cNvSpPr/>
          <p:nvPr/>
        </p:nvSpPr>
        <p:spPr>
          <a:xfrm>
            <a:off x="1447800" y="2133600"/>
            <a:ext cx="1371600" cy="0"/>
          </a:xfrm>
          <a:prstGeom prst="line">
            <a:avLst/>
          </a:prstGeom>
          <a:ln w="12700" cap="flat" cmpd="sng">
            <a:solidFill>
              <a:srgbClr val="99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25" name="直接连接符 265224"/>
          <p:cNvSpPr/>
          <p:nvPr/>
        </p:nvSpPr>
        <p:spPr>
          <a:xfrm>
            <a:off x="1447800" y="2438400"/>
            <a:ext cx="1371600" cy="0"/>
          </a:xfrm>
          <a:prstGeom prst="line">
            <a:avLst/>
          </a:prstGeom>
          <a:ln w="12700" cap="flat" cmpd="sng">
            <a:solidFill>
              <a:srgbClr val="99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26" name="直接连接符 265225"/>
          <p:cNvSpPr/>
          <p:nvPr/>
        </p:nvSpPr>
        <p:spPr>
          <a:xfrm>
            <a:off x="2133600" y="914400"/>
            <a:ext cx="0" cy="1219200"/>
          </a:xfrm>
          <a:prstGeom prst="line">
            <a:avLst/>
          </a:prstGeom>
          <a:ln w="12700" cap="flat" cmpd="sng">
            <a:solidFill>
              <a:srgbClr val="99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27" name="任意多边形 265226">
            <a:hlinkClick r:id="" action="ppaction://noaction"/>
          </p:cNvPr>
          <p:cNvSpPr/>
          <p:nvPr/>
        </p:nvSpPr>
        <p:spPr>
          <a:xfrm>
            <a:off x="1219200" y="4419600"/>
            <a:ext cx="1905000" cy="762000"/>
          </a:xfrm>
          <a:custGeom>
            <a:avLst/>
            <a:gdLst/>
            <a:ahLst/>
            <a:cxnLst/>
            <a:rect l="0" t="0" r="0" b="0"/>
            <a:pathLst>
              <a:path w="1200" h="480">
                <a:moveTo>
                  <a:pt x="0" y="0"/>
                </a:moveTo>
                <a:lnTo>
                  <a:pt x="384" y="0"/>
                </a:lnTo>
                <a:lnTo>
                  <a:pt x="480" y="192"/>
                </a:lnTo>
                <a:lnTo>
                  <a:pt x="720" y="192"/>
                </a:lnTo>
                <a:lnTo>
                  <a:pt x="816" y="0"/>
                </a:lnTo>
                <a:lnTo>
                  <a:pt x="1200" y="0"/>
                </a:lnTo>
                <a:lnTo>
                  <a:pt x="912" y="480"/>
                </a:lnTo>
                <a:lnTo>
                  <a:pt x="240" y="480"/>
                </a:lnTo>
                <a:lnTo>
                  <a:pt x="0" y="0"/>
                </a:lnTo>
                <a:close/>
              </a:path>
            </a:pathLst>
          </a:custGeom>
          <a:solidFill>
            <a:srgbClr val="FFCC99">
              <a:alpha val="100000"/>
            </a:srgbClr>
          </a:solidFill>
          <a:ln w="12700" cap="flat" cmpd="sng">
            <a:solidFill>
              <a:srgbClr val="99330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5228" name="直接连接符 265227"/>
          <p:cNvSpPr/>
          <p:nvPr/>
        </p:nvSpPr>
        <p:spPr>
          <a:xfrm>
            <a:off x="2133600" y="3352800"/>
            <a:ext cx="0" cy="533400"/>
          </a:xfrm>
          <a:prstGeom prst="line">
            <a:avLst/>
          </a:prstGeom>
          <a:ln w="76200" cap="flat" cmpd="sng">
            <a:solidFill>
              <a:srgbClr val="996600"/>
            </a:solidFill>
            <a:prstDash val="solid"/>
            <a:headEnd type="triangle" w="sm" len="sm"/>
            <a:tailEnd type="triangle" w="sm" len="sm"/>
          </a:ln>
        </p:spPr>
      </p:sp>
      <p:sp>
        <p:nvSpPr>
          <p:cNvPr id="265229" name="直接连接符 265228"/>
          <p:cNvSpPr/>
          <p:nvPr/>
        </p:nvSpPr>
        <p:spPr>
          <a:xfrm>
            <a:off x="1600200" y="3886200"/>
            <a:ext cx="0" cy="533400"/>
          </a:xfrm>
          <a:prstGeom prst="line">
            <a:avLst/>
          </a:prstGeom>
          <a:ln w="76200" cap="flat" cmpd="sng">
            <a:solidFill>
              <a:srgbClr val="996600"/>
            </a:solidFill>
            <a:prstDash val="solid"/>
            <a:headEnd type="triangle" w="sm" len="sm"/>
            <a:tailEnd type="triangle" w="sm" len="sm"/>
          </a:ln>
        </p:spPr>
      </p:sp>
      <p:sp>
        <p:nvSpPr>
          <p:cNvPr id="265230" name="直接连接符 265229"/>
          <p:cNvSpPr/>
          <p:nvPr/>
        </p:nvSpPr>
        <p:spPr>
          <a:xfrm>
            <a:off x="2819400" y="3886200"/>
            <a:ext cx="0" cy="533400"/>
          </a:xfrm>
          <a:prstGeom prst="line">
            <a:avLst/>
          </a:prstGeom>
          <a:ln w="76200" cap="flat" cmpd="sng">
            <a:solidFill>
              <a:srgbClr val="996600"/>
            </a:solidFill>
            <a:prstDash val="solid"/>
            <a:headEnd type="triangle" w="sm" len="sm"/>
            <a:tailEnd type="triangle" w="sm" len="sm"/>
          </a:ln>
        </p:spPr>
      </p:sp>
      <p:sp>
        <p:nvSpPr>
          <p:cNvPr id="265231" name="矩形 265230"/>
          <p:cNvSpPr/>
          <p:nvPr/>
        </p:nvSpPr>
        <p:spPr>
          <a:xfrm>
            <a:off x="1371600" y="5791200"/>
            <a:ext cx="1676400" cy="381000"/>
          </a:xfrm>
          <a:prstGeom prst="rect">
            <a:avLst/>
          </a:prstGeom>
          <a:solidFill>
            <a:srgbClr val="CCFFCC"/>
          </a:solidFill>
          <a:ln w="12700" cap="flat" cmpd="sng">
            <a:solidFill>
              <a:srgbClr val="99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5232" name="直接连接符 265231"/>
          <p:cNvSpPr/>
          <p:nvPr/>
        </p:nvSpPr>
        <p:spPr>
          <a:xfrm>
            <a:off x="2438400" y="5181600"/>
            <a:ext cx="0" cy="609600"/>
          </a:xfrm>
          <a:prstGeom prst="line">
            <a:avLst/>
          </a:prstGeom>
          <a:ln w="28575" cap="flat" cmpd="sng">
            <a:solidFill>
              <a:srgbClr val="996600"/>
            </a:solidFill>
            <a:prstDash val="solid"/>
            <a:headEnd type="none" w="med" len="med"/>
            <a:tailEnd type="triangle" w="sm" len="lg"/>
          </a:ln>
        </p:spPr>
      </p:sp>
      <p:sp>
        <p:nvSpPr>
          <p:cNvPr id="265233" name="直接连接符 265232"/>
          <p:cNvSpPr/>
          <p:nvPr/>
        </p:nvSpPr>
        <p:spPr>
          <a:xfrm>
            <a:off x="990600" y="3886200"/>
            <a:ext cx="0" cy="1600200"/>
          </a:xfrm>
          <a:prstGeom prst="line">
            <a:avLst/>
          </a:prstGeom>
          <a:ln w="76200" cap="flat" cmpd="sng">
            <a:solidFill>
              <a:srgbClr val="996600"/>
            </a:solidFill>
            <a:prstDash val="solid"/>
            <a:headEnd type="triangle" w="sm" len="med"/>
            <a:tailEnd type="none" w="med" len="med"/>
          </a:ln>
        </p:spPr>
      </p:sp>
      <p:sp>
        <p:nvSpPr>
          <p:cNvPr id="265234" name="直接连接符 265233"/>
          <p:cNvSpPr/>
          <p:nvPr/>
        </p:nvSpPr>
        <p:spPr>
          <a:xfrm>
            <a:off x="990600" y="5486400"/>
            <a:ext cx="914400" cy="0"/>
          </a:xfrm>
          <a:prstGeom prst="line">
            <a:avLst/>
          </a:prstGeom>
          <a:ln w="76200" cap="flat" cmpd="sng">
            <a:solidFill>
              <a:srgbClr val="9966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35" name="直接连接符 265234"/>
          <p:cNvSpPr/>
          <p:nvPr/>
        </p:nvSpPr>
        <p:spPr>
          <a:xfrm>
            <a:off x="1905000" y="5181600"/>
            <a:ext cx="0" cy="304800"/>
          </a:xfrm>
          <a:prstGeom prst="line">
            <a:avLst/>
          </a:prstGeom>
          <a:ln w="76200" cap="flat" cmpd="sng">
            <a:solidFill>
              <a:srgbClr val="9966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36" name="直接连接符 265235"/>
          <p:cNvSpPr/>
          <p:nvPr/>
        </p:nvSpPr>
        <p:spPr>
          <a:xfrm>
            <a:off x="152400" y="3886200"/>
            <a:ext cx="4706620" cy="635"/>
          </a:xfrm>
          <a:prstGeom prst="line">
            <a:avLst/>
          </a:prstGeom>
          <a:ln w="117475" cap="flat" cmpd="sng">
            <a:solidFill>
              <a:srgbClr val="9966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37" name="直接连接符 265236"/>
          <p:cNvSpPr/>
          <p:nvPr/>
        </p:nvSpPr>
        <p:spPr>
          <a:xfrm>
            <a:off x="457200" y="3886200"/>
            <a:ext cx="0" cy="2667000"/>
          </a:xfrm>
          <a:prstGeom prst="line">
            <a:avLst/>
          </a:prstGeom>
          <a:ln w="76200" cap="flat" cmpd="sng">
            <a:solidFill>
              <a:srgbClr val="996600"/>
            </a:solidFill>
            <a:prstDash val="solid"/>
            <a:headEnd type="triangle" w="sm" len="med"/>
            <a:tailEnd type="none" w="med" len="med"/>
          </a:ln>
        </p:spPr>
      </p:sp>
      <p:sp>
        <p:nvSpPr>
          <p:cNvPr id="265238" name="直接连接符 265237"/>
          <p:cNvSpPr/>
          <p:nvPr/>
        </p:nvSpPr>
        <p:spPr>
          <a:xfrm>
            <a:off x="457200" y="6553200"/>
            <a:ext cx="1828800" cy="0"/>
          </a:xfrm>
          <a:prstGeom prst="line">
            <a:avLst/>
          </a:prstGeom>
          <a:ln w="76200" cap="flat" cmpd="sng">
            <a:solidFill>
              <a:srgbClr val="9966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39" name="直接连接符 265238"/>
          <p:cNvSpPr/>
          <p:nvPr/>
        </p:nvSpPr>
        <p:spPr>
          <a:xfrm>
            <a:off x="2286000" y="6172200"/>
            <a:ext cx="0" cy="381000"/>
          </a:xfrm>
          <a:prstGeom prst="line">
            <a:avLst/>
          </a:prstGeom>
          <a:ln w="76200" cap="flat" cmpd="sng">
            <a:solidFill>
              <a:srgbClr val="9966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47" name="矩形 265246"/>
          <p:cNvSpPr/>
          <p:nvPr/>
        </p:nvSpPr>
        <p:spPr>
          <a:xfrm>
            <a:off x="3505200" y="4419600"/>
            <a:ext cx="1143000" cy="762000"/>
          </a:xfrm>
          <a:prstGeom prst="rect">
            <a:avLst/>
          </a:prstGeom>
          <a:solidFill>
            <a:srgbClr val="FF9900"/>
          </a:solidFill>
          <a:ln w="12700" cap="flat" cmpd="sng">
            <a:solidFill>
              <a:srgbClr val="99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5265" name="直接连接符 265264"/>
          <p:cNvSpPr/>
          <p:nvPr/>
        </p:nvSpPr>
        <p:spPr>
          <a:xfrm>
            <a:off x="4648200" y="4800600"/>
            <a:ext cx="403860" cy="635"/>
          </a:xfrm>
          <a:prstGeom prst="line">
            <a:avLst/>
          </a:prstGeom>
          <a:ln w="95250" cap="flat" cmpd="sng">
            <a:solidFill>
              <a:srgbClr val="996600"/>
            </a:solidFill>
            <a:prstDash val="solid"/>
            <a:headEnd type="triangle" w="sm" len="sm"/>
            <a:tailEnd type="none" w="med" len="med"/>
          </a:ln>
        </p:spPr>
      </p:sp>
      <p:sp>
        <p:nvSpPr>
          <p:cNvPr id="265271" name="文本框 265270">
            <a:hlinkClick r:id="" action="ppaction://noaction"/>
          </p:cNvPr>
          <p:cNvSpPr txBox="1"/>
          <p:nvPr/>
        </p:nvSpPr>
        <p:spPr>
          <a:xfrm>
            <a:off x="3581400" y="4495800"/>
            <a:ext cx="1143000" cy="64135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lvl="0">
              <a:spcBef>
                <a:spcPct val="50000"/>
              </a:spcBef>
            </a:pPr>
            <a:r>
              <a:rPr lang="zh-CN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执行部分控制电路</a:t>
            </a:r>
            <a:endParaRPr lang="zh-CN" altLang="en-US" sz="18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5272" name="直接连接符 265271"/>
          <p:cNvSpPr/>
          <p:nvPr/>
        </p:nvSpPr>
        <p:spPr>
          <a:xfrm>
            <a:off x="3352800" y="3581400"/>
            <a:ext cx="0" cy="2362200"/>
          </a:xfrm>
          <a:prstGeom prst="line">
            <a:avLst/>
          </a:prstGeom>
          <a:ln w="25400" cap="flat" cmpd="sng">
            <a:solidFill>
              <a:srgbClr val="FF66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73" name="直接连接符 265272"/>
          <p:cNvSpPr/>
          <p:nvPr/>
        </p:nvSpPr>
        <p:spPr>
          <a:xfrm>
            <a:off x="2667000" y="3581400"/>
            <a:ext cx="685800" cy="0"/>
          </a:xfrm>
          <a:prstGeom prst="line">
            <a:avLst/>
          </a:prstGeom>
          <a:ln w="25400" cap="flat" cmpd="sng">
            <a:solidFill>
              <a:srgbClr val="FF66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74" name="直接连接符 265273"/>
          <p:cNvSpPr/>
          <p:nvPr/>
        </p:nvSpPr>
        <p:spPr>
          <a:xfrm>
            <a:off x="2667000" y="3352800"/>
            <a:ext cx="0" cy="228600"/>
          </a:xfrm>
          <a:prstGeom prst="line">
            <a:avLst/>
          </a:prstGeom>
          <a:ln w="25400" cap="flat" cmpd="sng">
            <a:solidFill>
              <a:srgbClr val="FF6600"/>
            </a:solidFill>
            <a:prstDash val="solid"/>
            <a:headEnd type="triangle" w="sm" len="med"/>
            <a:tailEnd type="none" w="med" len="med"/>
          </a:ln>
        </p:spPr>
      </p:sp>
      <p:sp>
        <p:nvSpPr>
          <p:cNvPr id="265275" name="直接连接符 265274"/>
          <p:cNvSpPr/>
          <p:nvPr/>
        </p:nvSpPr>
        <p:spPr>
          <a:xfrm>
            <a:off x="2895600" y="4800600"/>
            <a:ext cx="609600" cy="0"/>
          </a:xfrm>
          <a:prstGeom prst="line">
            <a:avLst/>
          </a:prstGeom>
          <a:ln w="25400" cap="flat" cmpd="sng">
            <a:solidFill>
              <a:srgbClr val="FF6600"/>
            </a:solidFill>
            <a:prstDash val="solid"/>
            <a:headEnd type="triangle" w="sm" len="med"/>
            <a:tailEnd type="none" w="med" len="med"/>
          </a:ln>
        </p:spPr>
      </p:sp>
      <p:sp>
        <p:nvSpPr>
          <p:cNvPr id="265276" name="直接连接符 265275"/>
          <p:cNvSpPr/>
          <p:nvPr/>
        </p:nvSpPr>
        <p:spPr>
          <a:xfrm>
            <a:off x="3048000" y="5943600"/>
            <a:ext cx="304800" cy="0"/>
          </a:xfrm>
          <a:prstGeom prst="line">
            <a:avLst/>
          </a:prstGeom>
          <a:ln w="25400" cap="flat" cmpd="sng">
            <a:solidFill>
              <a:srgbClr val="FF6600"/>
            </a:solidFill>
            <a:prstDash val="solid"/>
            <a:headEnd type="triangle" w="sm" len="med"/>
            <a:tailEnd type="none" w="med" len="med"/>
          </a:ln>
        </p:spPr>
      </p:sp>
      <p:sp>
        <p:nvSpPr>
          <p:cNvPr id="265283" name="直接连接符 265282"/>
          <p:cNvSpPr/>
          <p:nvPr/>
        </p:nvSpPr>
        <p:spPr>
          <a:xfrm>
            <a:off x="4800600" y="304800"/>
            <a:ext cx="0" cy="6324600"/>
          </a:xfrm>
          <a:prstGeom prst="line">
            <a:avLst/>
          </a:prstGeom>
          <a:ln w="12700" cap="flat" cmpd="sng">
            <a:solidFill>
              <a:srgbClr val="333333"/>
            </a:solidFill>
            <a:prstDash val="lgDashDot"/>
            <a:headEnd type="none" w="med" len="med"/>
            <a:tailEnd type="none" w="sm" len="sm"/>
          </a:ln>
        </p:spPr>
      </p:sp>
      <p:sp>
        <p:nvSpPr>
          <p:cNvPr id="265286" name="文本框 265285"/>
          <p:cNvSpPr txBox="1"/>
          <p:nvPr/>
        </p:nvSpPr>
        <p:spPr>
          <a:xfrm>
            <a:off x="1752600" y="4724400"/>
            <a:ext cx="838200" cy="457200"/>
          </a:xfrm>
          <a:prstGeom prst="rect">
            <a:avLst/>
          </a:prstGeom>
          <a:noFill/>
          <a:ln w="88900">
            <a:noFill/>
          </a:ln>
        </p:spPr>
        <p:txBody>
          <a:bodyPr>
            <a:spAutoFit/>
          </a:bodyPr>
          <a:lstStyle/>
          <a:p>
            <a:pPr lvl="0">
              <a:spcBef>
                <a:spcPct val="50000"/>
              </a:spcBef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ALU</a:t>
            </a:r>
            <a:endParaRPr lang="en-US" altLang="zh-CN" sz="18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5287" name="文本框 265286">
            <a:hlinkClick r:id="" action="ppaction://noaction"/>
          </p:cNvPr>
          <p:cNvSpPr txBox="1"/>
          <p:nvPr/>
        </p:nvSpPr>
        <p:spPr>
          <a:xfrm>
            <a:off x="1447800" y="5835015"/>
            <a:ext cx="1524000" cy="366713"/>
          </a:xfrm>
          <a:prstGeom prst="rect">
            <a:avLst/>
          </a:prstGeom>
          <a:noFill/>
          <a:ln w="88900">
            <a:noFill/>
          </a:ln>
        </p:spPr>
        <p:txBody>
          <a:bodyPr>
            <a:spAutoFit/>
          </a:bodyPr>
          <a:lstStyle/>
          <a:p>
            <a:pPr lvl="0">
              <a:spcBef>
                <a:spcPct val="50000"/>
              </a:spcBef>
            </a:pPr>
            <a:r>
              <a:rPr lang="zh-CN" altLang="en-US" sz="18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标志寄存器</a:t>
            </a:r>
            <a:endParaRPr lang="zh-CN" altLang="en-US" sz="1800" b="1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65288" name="组合 265287"/>
          <p:cNvGrpSpPr/>
          <p:nvPr/>
        </p:nvGrpSpPr>
        <p:grpSpPr>
          <a:xfrm>
            <a:off x="1371600" y="914400"/>
            <a:ext cx="1524000" cy="2500313"/>
            <a:chOff x="864" y="576"/>
            <a:chExt cx="960" cy="1575"/>
          </a:xfrm>
        </p:grpSpPr>
        <p:sp>
          <p:nvSpPr>
            <p:cNvPr id="265289" name="文本框 265288"/>
            <p:cNvSpPr txBox="1"/>
            <p:nvPr/>
          </p:nvSpPr>
          <p:spPr>
            <a:xfrm>
              <a:off x="864" y="576"/>
              <a:ext cx="960" cy="231"/>
            </a:xfrm>
            <a:prstGeom prst="rect">
              <a:avLst/>
            </a:prstGeom>
            <a:noFill/>
            <a:ln w="88900">
              <a:noFill/>
            </a:ln>
          </p:spPr>
          <p:txBody>
            <a:bodyPr>
              <a:spAutoFit/>
            </a:bodyPr>
            <a:lstStyle/>
            <a:p>
              <a:pPr lvl="0">
                <a:spcBef>
                  <a:spcPct val="50000"/>
                </a:spcBef>
              </a:pPr>
              <a:r>
                <a:rPr lang="zh-CN" altLang="en-US" sz="1800" b="1">
                  <a:latin typeface="Times New Roman" panose="02020603050405020304" pitchFamily="18" charset="0"/>
                  <a:ea typeface="宋体" panose="02010600030101010101" pitchFamily="2" charset="-122"/>
                </a:rPr>
                <a:t>   </a:t>
              </a:r>
              <a:r>
                <a:rPr lang="en-US" altLang="zh-CN" sz="18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AH      AL</a:t>
              </a:r>
              <a:r>
                <a:rPr lang="en-US" altLang="zh-CN" sz="1800" b="1">
                  <a:latin typeface="Times New Roman" panose="02020603050405020304" pitchFamily="18" charset="0"/>
                  <a:ea typeface="宋体" panose="02010600030101010101" pitchFamily="2" charset="-122"/>
                </a:rPr>
                <a:t>   </a:t>
              </a:r>
            </a:p>
          </p:txBody>
        </p:sp>
        <p:sp>
          <p:nvSpPr>
            <p:cNvPr id="265290" name="文本框 265289"/>
            <p:cNvSpPr txBox="1"/>
            <p:nvPr/>
          </p:nvSpPr>
          <p:spPr>
            <a:xfrm>
              <a:off x="912" y="768"/>
              <a:ext cx="864" cy="231"/>
            </a:xfrm>
            <a:prstGeom prst="rect">
              <a:avLst/>
            </a:prstGeom>
            <a:noFill/>
            <a:ln w="88900">
              <a:noFill/>
            </a:ln>
          </p:spPr>
          <p:txBody>
            <a:bodyPr>
              <a:spAutoFit/>
            </a:bodyPr>
            <a:lstStyle/>
            <a:p>
              <a:pPr lvl="0">
                <a:spcBef>
                  <a:spcPct val="50000"/>
                </a:spcBef>
              </a:pPr>
              <a:r>
                <a:rPr lang="zh-CN" altLang="en-US" sz="1800" b="1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8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BH      BL</a:t>
              </a:r>
            </a:p>
          </p:txBody>
        </p:sp>
        <p:sp>
          <p:nvSpPr>
            <p:cNvPr id="265291" name="文本框 265290"/>
            <p:cNvSpPr txBox="1"/>
            <p:nvPr/>
          </p:nvSpPr>
          <p:spPr>
            <a:xfrm>
              <a:off x="960" y="960"/>
              <a:ext cx="816" cy="231"/>
            </a:xfrm>
            <a:prstGeom prst="rect">
              <a:avLst/>
            </a:prstGeom>
            <a:noFill/>
            <a:ln w="88900">
              <a:noFill/>
            </a:ln>
          </p:spPr>
          <p:txBody>
            <a:bodyPr>
              <a:spAutoFit/>
            </a:bodyPr>
            <a:lstStyle/>
            <a:p>
              <a:pPr lvl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CH      CL</a:t>
              </a:r>
            </a:p>
          </p:txBody>
        </p:sp>
        <p:sp>
          <p:nvSpPr>
            <p:cNvPr id="265292" name="文本框 265291"/>
            <p:cNvSpPr txBox="1"/>
            <p:nvPr/>
          </p:nvSpPr>
          <p:spPr>
            <a:xfrm>
              <a:off x="912" y="1152"/>
              <a:ext cx="864" cy="231"/>
            </a:xfrm>
            <a:prstGeom prst="rect">
              <a:avLst/>
            </a:prstGeom>
            <a:noFill/>
            <a:ln w="88900">
              <a:noFill/>
            </a:ln>
          </p:spPr>
          <p:txBody>
            <a:bodyPr>
              <a:spAutoFit/>
            </a:bodyPr>
            <a:lstStyle/>
            <a:p>
              <a:pPr lvl="0">
                <a:spcBef>
                  <a:spcPct val="50000"/>
                </a:spcBef>
              </a:pPr>
              <a:r>
                <a:rPr lang="zh-CN" altLang="en-US" sz="1800" b="1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8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DH      DL</a:t>
              </a:r>
            </a:p>
          </p:txBody>
        </p:sp>
        <p:sp>
          <p:nvSpPr>
            <p:cNvPr id="265293" name="文本框 265292"/>
            <p:cNvSpPr txBox="1"/>
            <p:nvPr/>
          </p:nvSpPr>
          <p:spPr>
            <a:xfrm>
              <a:off x="1056" y="1344"/>
              <a:ext cx="576" cy="231"/>
            </a:xfrm>
            <a:prstGeom prst="rect">
              <a:avLst/>
            </a:prstGeom>
            <a:noFill/>
            <a:ln w="88900">
              <a:noFill/>
            </a:ln>
          </p:spPr>
          <p:txBody>
            <a:bodyPr>
              <a:spAutoFit/>
            </a:bodyPr>
            <a:lstStyle/>
            <a:p>
              <a:pPr lvl="0">
                <a:spcBef>
                  <a:spcPct val="50000"/>
                </a:spcBef>
              </a:pPr>
              <a:r>
                <a:rPr lang="zh-CN" altLang="en-US" sz="1800" b="1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zh-CN" altLang="en-US" sz="18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</a:t>
              </a:r>
              <a:r>
                <a:rPr lang="en-US" altLang="zh-CN" sz="18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SP</a:t>
              </a:r>
            </a:p>
          </p:txBody>
        </p:sp>
        <p:sp>
          <p:nvSpPr>
            <p:cNvPr id="265294" name="文本框 265293"/>
            <p:cNvSpPr txBox="1"/>
            <p:nvPr/>
          </p:nvSpPr>
          <p:spPr>
            <a:xfrm>
              <a:off x="1056" y="1536"/>
              <a:ext cx="528" cy="231"/>
            </a:xfrm>
            <a:prstGeom prst="rect">
              <a:avLst/>
            </a:prstGeom>
            <a:noFill/>
            <a:ln w="88900">
              <a:noFill/>
            </a:ln>
          </p:spPr>
          <p:txBody>
            <a:bodyPr>
              <a:spAutoFit/>
            </a:bodyPr>
            <a:lstStyle/>
            <a:p>
              <a:pPr lvl="0">
                <a:spcBef>
                  <a:spcPct val="50000"/>
                </a:spcBef>
              </a:pPr>
              <a:r>
                <a:rPr lang="zh-CN" altLang="en-US" sz="1800" b="1">
                  <a:latin typeface="Times New Roman" panose="02020603050405020304" pitchFamily="18" charset="0"/>
                  <a:ea typeface="宋体" panose="02010600030101010101" pitchFamily="2" charset="-122"/>
                </a:rPr>
                <a:t>    </a:t>
              </a:r>
              <a:r>
                <a:rPr lang="en-US" altLang="zh-CN" sz="18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BP</a:t>
              </a:r>
            </a:p>
          </p:txBody>
        </p:sp>
        <p:sp>
          <p:nvSpPr>
            <p:cNvPr id="265295" name="文本框 265294"/>
            <p:cNvSpPr txBox="1"/>
            <p:nvPr/>
          </p:nvSpPr>
          <p:spPr>
            <a:xfrm>
              <a:off x="1056" y="1728"/>
              <a:ext cx="576" cy="231"/>
            </a:xfrm>
            <a:prstGeom prst="rect">
              <a:avLst/>
            </a:prstGeom>
            <a:noFill/>
            <a:ln w="88900">
              <a:noFill/>
            </a:ln>
          </p:spPr>
          <p:txBody>
            <a:bodyPr>
              <a:spAutoFit/>
            </a:bodyPr>
            <a:lstStyle/>
            <a:p>
              <a:pPr lvl="0">
                <a:spcBef>
                  <a:spcPct val="50000"/>
                </a:spcBef>
              </a:pPr>
              <a:r>
                <a:rPr lang="zh-CN" altLang="en-US" sz="1800" b="1">
                  <a:latin typeface="Times New Roman" panose="02020603050405020304" pitchFamily="18" charset="0"/>
                  <a:ea typeface="宋体" panose="02010600030101010101" pitchFamily="2" charset="-122"/>
                </a:rPr>
                <a:t>    </a:t>
              </a:r>
              <a:r>
                <a:rPr lang="en-US" altLang="zh-CN" sz="18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SI</a:t>
              </a:r>
            </a:p>
          </p:txBody>
        </p:sp>
        <p:sp>
          <p:nvSpPr>
            <p:cNvPr id="265296" name="文本框 265295"/>
            <p:cNvSpPr txBox="1"/>
            <p:nvPr/>
          </p:nvSpPr>
          <p:spPr>
            <a:xfrm>
              <a:off x="1104" y="1920"/>
              <a:ext cx="480" cy="231"/>
            </a:xfrm>
            <a:prstGeom prst="rect">
              <a:avLst/>
            </a:prstGeom>
            <a:noFill/>
            <a:ln w="88900">
              <a:noFill/>
            </a:ln>
          </p:spPr>
          <p:txBody>
            <a:bodyPr>
              <a:spAutoFit/>
            </a:bodyPr>
            <a:lstStyle/>
            <a:p>
              <a:pPr lvl="0">
                <a:spcBef>
                  <a:spcPct val="50000"/>
                </a:spcBef>
              </a:pPr>
              <a:r>
                <a:rPr lang="zh-CN" altLang="en-US" sz="18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</a:t>
              </a:r>
              <a:r>
                <a:rPr lang="en-US" altLang="zh-CN" sz="18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DI</a:t>
              </a:r>
            </a:p>
          </p:txBody>
        </p:sp>
      </p:grpSp>
      <p:sp>
        <p:nvSpPr>
          <p:cNvPr id="265297" name="文本框 265296"/>
          <p:cNvSpPr txBox="1"/>
          <p:nvPr/>
        </p:nvSpPr>
        <p:spPr>
          <a:xfrm>
            <a:off x="685800" y="1143000"/>
            <a:ext cx="838200" cy="901700"/>
          </a:xfrm>
          <a:prstGeom prst="rect">
            <a:avLst/>
          </a:prstGeom>
          <a:noFill/>
          <a:ln w="88900">
            <a:noFill/>
          </a:ln>
        </p:spPr>
        <p:txBody>
          <a:bodyPr>
            <a:spAutoFit/>
          </a:bodyPr>
          <a:lstStyle/>
          <a:p>
            <a:pPr lvl="0">
              <a:lnSpc>
                <a:spcPct val="65000"/>
              </a:lnSpc>
              <a:spcBef>
                <a:spcPct val="50000"/>
              </a:spcBef>
            </a:pPr>
            <a:r>
              <a:rPr lang="zh-CN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通用</a:t>
            </a:r>
          </a:p>
          <a:p>
            <a:pPr lvl="0">
              <a:lnSpc>
                <a:spcPct val="65000"/>
              </a:lnSpc>
              <a:spcBef>
                <a:spcPct val="50000"/>
              </a:spcBef>
            </a:pPr>
            <a:r>
              <a:rPr lang="zh-CN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寄存</a:t>
            </a:r>
          </a:p>
          <a:p>
            <a:pPr lvl="0">
              <a:lnSpc>
                <a:spcPct val="65000"/>
              </a:lnSpc>
              <a:spcBef>
                <a:spcPct val="50000"/>
              </a:spcBef>
            </a:pPr>
            <a:r>
              <a:rPr lang="zh-CN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器</a:t>
            </a:r>
            <a:endParaRPr lang="zh-CN" altLang="en-US" sz="18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5300" name="文本框 265299">
            <a:hlinkClick r:id="" action="ppaction://noaction"/>
          </p:cNvPr>
          <p:cNvSpPr txBox="1"/>
          <p:nvPr/>
        </p:nvSpPr>
        <p:spPr>
          <a:xfrm>
            <a:off x="3184525" y="6075363"/>
            <a:ext cx="1828800" cy="336550"/>
          </a:xfrm>
          <a:prstGeom prst="rect">
            <a:avLst/>
          </a:prstGeom>
          <a:noFill/>
          <a:ln w="88900">
            <a:noFill/>
          </a:ln>
        </p:spPr>
        <p:txBody>
          <a:bodyPr>
            <a:spAutoFit/>
          </a:bodyPr>
          <a:lstStyle/>
          <a:p>
            <a:pPr lvl="0">
              <a:spcBef>
                <a:spcPct val="50000"/>
              </a:spcBef>
            </a:pPr>
            <a:r>
              <a:rPr lang="zh-CN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执行部件 （</a:t>
            </a:r>
            <a:r>
              <a:rPr lang="en-US" altLang="zh-CN" sz="16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EU)</a:t>
            </a:r>
          </a:p>
        </p:txBody>
      </p:sp>
      <p:sp>
        <p:nvSpPr>
          <p:cNvPr id="265302" name="直接连接符 265301"/>
          <p:cNvSpPr/>
          <p:nvPr/>
        </p:nvSpPr>
        <p:spPr>
          <a:xfrm flipH="1">
            <a:off x="3730625" y="3730625"/>
            <a:ext cx="381000" cy="306388"/>
          </a:xfrm>
          <a:prstGeom prst="line">
            <a:avLst/>
          </a:prstGeom>
          <a:ln w="12700" cap="flat" cmpd="sng">
            <a:solidFill>
              <a:srgbClr val="A50021"/>
            </a:solidFill>
            <a:prstDash val="solid"/>
            <a:headEnd type="none" w="med" len="med"/>
            <a:tailEnd type="none" w="sm" len="sm"/>
          </a:ln>
        </p:spPr>
      </p:sp>
      <p:sp>
        <p:nvSpPr>
          <p:cNvPr id="265309" name="文本框 265308"/>
          <p:cNvSpPr txBox="1"/>
          <p:nvPr/>
        </p:nvSpPr>
        <p:spPr>
          <a:xfrm>
            <a:off x="4585335" y="4876800"/>
            <a:ext cx="762000" cy="33655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lvl="0">
              <a:spcBef>
                <a:spcPct val="50000"/>
              </a:spcBef>
            </a:pPr>
            <a:r>
              <a:rPr lang="en-US" altLang="zh-CN" sz="1600" b="1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r>
              <a:rPr lang="zh-CN" altLang="en-US" sz="1600" b="1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位</a:t>
            </a:r>
          </a:p>
        </p:txBody>
      </p:sp>
      <p:sp>
        <p:nvSpPr>
          <p:cNvPr id="265310" name="文本框 265309"/>
          <p:cNvSpPr txBox="1"/>
          <p:nvPr/>
        </p:nvSpPr>
        <p:spPr>
          <a:xfrm>
            <a:off x="1641477" y="162719"/>
            <a:ext cx="2992437" cy="457200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lvl="0">
              <a:spcBef>
                <a:spcPct val="5000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8086CPU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内部结构图</a:t>
            </a:r>
          </a:p>
        </p:txBody>
      </p:sp>
      <p:sp>
        <p:nvSpPr>
          <p:cNvPr id="268291" name="文本框 268290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68294" name="矩形 268293"/>
          <p:cNvSpPr/>
          <p:nvPr/>
        </p:nvSpPr>
        <p:spPr>
          <a:xfrm>
            <a:off x="5074920" y="1041718"/>
            <a:ext cx="3983355" cy="101473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pPr lvl="0"/>
            <a:r>
              <a:rPr lang="zh-CN" altLang="en-US" sz="20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算术逻辑单元</a:t>
            </a:r>
            <a:r>
              <a:rPr lang="en-US" altLang="zh-CN" sz="20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ALU </a:t>
            </a:r>
            <a:r>
              <a:rPr lang="zh-CN" altLang="en-US" sz="20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位算术逻辑运算部件，实现对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16</a:t>
            </a:r>
            <a:r>
              <a:rPr lang="en-US" altLang="zh-CN" sz="2000" b="1" dirty="0">
                <a:latin typeface="宋体" panose="02010600030101010101" pitchFamily="2" charset="-122"/>
              </a:rPr>
              <a:t>/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位二进制操作数的算术、逻辑运算 </a:t>
            </a:r>
          </a:p>
        </p:txBody>
      </p:sp>
      <p:sp>
        <p:nvSpPr>
          <p:cNvPr id="268295" name="矩形 268294"/>
          <p:cNvSpPr/>
          <p:nvPr/>
        </p:nvSpPr>
        <p:spPr>
          <a:xfrm>
            <a:off x="5085080" y="2195513"/>
            <a:ext cx="3731260" cy="101473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pPr lvl="0"/>
            <a:r>
              <a:rPr lang="zh-CN" altLang="en-US" sz="20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暂存寄存器：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16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位寄存器，主要功能是暂时保存数据，并向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ALU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提供参与运算的操作数 </a:t>
            </a:r>
          </a:p>
        </p:txBody>
      </p:sp>
      <p:sp>
        <p:nvSpPr>
          <p:cNvPr id="3" name="矩形 2"/>
          <p:cNvSpPr/>
          <p:nvPr/>
        </p:nvSpPr>
        <p:spPr>
          <a:xfrm>
            <a:off x="5074920" y="3360103"/>
            <a:ext cx="4027170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pPr lvl="0"/>
            <a:r>
              <a:rPr lang="zh-CN" altLang="en-US" sz="20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标志寄存器：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一个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16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位的寄存器</a:t>
            </a:r>
          </a:p>
        </p:txBody>
      </p:sp>
      <p:sp>
        <p:nvSpPr>
          <p:cNvPr id="4" name="矩形 3"/>
          <p:cNvSpPr/>
          <p:nvPr/>
        </p:nvSpPr>
        <p:spPr>
          <a:xfrm>
            <a:off x="5003800" y="4476751"/>
            <a:ext cx="3983355" cy="193802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pPr lvl="0"/>
            <a:r>
              <a:rPr lang="en-US" altLang="zh-CN" sz="20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EU</a:t>
            </a:r>
            <a:r>
              <a:rPr lang="zh-CN" altLang="en-US" sz="20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控制器：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接收从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BIU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指令队列中取来的指令代码，经分析、译码后形成各种实时控制信号，向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EU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内各功能部件发送相应的控制命令，以完成每条指令所规定的操作。</a:t>
            </a:r>
          </a:p>
        </p:txBody>
      </p:sp>
      <p:sp>
        <p:nvSpPr>
          <p:cNvPr id="5" name="矩形 4"/>
          <p:cNvSpPr/>
          <p:nvPr/>
        </p:nvSpPr>
        <p:spPr>
          <a:xfrm>
            <a:off x="5058410" y="3845878"/>
            <a:ext cx="4027170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pPr lvl="0"/>
            <a:r>
              <a:rPr lang="zh-CN" altLang="en-US" sz="20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通用寄存器：</a:t>
            </a:r>
            <a:r>
              <a:rPr lang="en-US" altLang="zh-CN" sz="20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个</a:t>
            </a:r>
            <a:r>
              <a:rPr lang="en-US" altLang="zh-CN" sz="2000" b="1" dirty="0">
                <a:latin typeface="Arial" panose="020B0604020202020204" pitchFamily="34" charset="0"/>
                <a:ea typeface="宋体" panose="02010600030101010101" pitchFamily="2" charset="-122"/>
              </a:rPr>
              <a:t>16</a:t>
            </a:r>
            <a:r>
              <a:rPr lang="zh-CN" altLang="en-US" sz="2000" b="1" dirty="0">
                <a:latin typeface="Arial" panose="020B0604020202020204" pitchFamily="34" charset="0"/>
                <a:ea typeface="宋体" panose="02010600030101010101" pitchFamily="2" charset="-122"/>
              </a:rPr>
              <a:t>位的寄存器</a:t>
            </a:r>
          </a:p>
        </p:txBody>
      </p:sp>
      <p:sp>
        <p:nvSpPr>
          <p:cNvPr id="6" name="文本框 5">
            <a:hlinkClick r:id="" action="ppaction://noaction"/>
          </p:cNvPr>
          <p:cNvSpPr txBox="1"/>
          <p:nvPr/>
        </p:nvSpPr>
        <p:spPr>
          <a:xfrm>
            <a:off x="1542415" y="4004945"/>
            <a:ext cx="1524000" cy="368300"/>
          </a:xfrm>
          <a:prstGeom prst="rect">
            <a:avLst/>
          </a:prstGeom>
          <a:noFill/>
          <a:ln w="88900">
            <a:noFill/>
          </a:ln>
        </p:spPr>
        <p:txBody>
          <a:bodyPr>
            <a:spAutoFit/>
          </a:bodyPr>
          <a:lstStyle/>
          <a:p>
            <a:pPr lvl="0">
              <a:spcBef>
                <a:spcPct val="50000"/>
              </a:spcBef>
            </a:pPr>
            <a:r>
              <a:rPr lang="zh-CN" altLang="en-US" sz="18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暂存寄存器</a:t>
            </a:r>
            <a:endParaRPr lang="zh-CN" altLang="en-US" sz="1800" b="1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409950" y="3357245"/>
            <a:ext cx="1466850" cy="337185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lvl="0">
              <a:spcBef>
                <a:spcPct val="50000"/>
              </a:spcBef>
            </a:pPr>
            <a:r>
              <a:rPr lang="zh-CN" altLang="en-US" sz="16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数据总线</a:t>
            </a:r>
            <a:r>
              <a:rPr lang="en-US" altLang="zh-CN" sz="16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16</a:t>
            </a:r>
            <a:r>
              <a:rPr lang="zh-CN" altLang="en-US" sz="16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位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865120" y="937895"/>
            <a:ext cx="66929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AX</a:t>
            </a:r>
          </a:p>
          <a:p>
            <a:r>
              <a:rPr lang="en-US" altLang="zh-CN"/>
              <a:t>BX</a:t>
            </a:r>
          </a:p>
          <a:p>
            <a:r>
              <a:rPr lang="en-US" altLang="zh-CN"/>
              <a:t>CX</a:t>
            </a:r>
          </a:p>
          <a:p>
            <a:r>
              <a:rPr lang="en-US" altLang="zh-CN"/>
              <a:t>DX</a:t>
            </a:r>
          </a:p>
        </p:txBody>
      </p:sp>
    </p:spTree>
  </p:cSld>
  <p:clrMapOvr>
    <a:masterClrMapping/>
  </p:clrMapOvr>
  <p:transition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403985" y="4004945"/>
            <a:ext cx="1676400" cy="381000"/>
          </a:xfrm>
          <a:prstGeom prst="rect">
            <a:avLst/>
          </a:prstGeom>
          <a:solidFill>
            <a:srgbClr val="CCFFCC"/>
          </a:solidFill>
          <a:ln w="12700" cap="flat" cmpd="sng">
            <a:solidFill>
              <a:srgbClr val="99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5218" name="矩形 265217">
            <a:hlinkClick r:id="" action="ppaction://noaction"/>
          </p:cNvPr>
          <p:cNvSpPr/>
          <p:nvPr/>
        </p:nvSpPr>
        <p:spPr>
          <a:xfrm>
            <a:off x="1447800" y="914400"/>
            <a:ext cx="1371600" cy="2438400"/>
          </a:xfrm>
          <a:prstGeom prst="rect">
            <a:avLst/>
          </a:prstGeom>
          <a:solidFill>
            <a:srgbClr val="CCFFCC"/>
          </a:solidFill>
          <a:ln w="12700" cap="flat" cmpd="sng">
            <a:solidFill>
              <a:srgbClr val="99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5219" name="直接连接符 265218"/>
          <p:cNvSpPr/>
          <p:nvPr/>
        </p:nvSpPr>
        <p:spPr>
          <a:xfrm>
            <a:off x="1447800" y="2743200"/>
            <a:ext cx="1371600" cy="0"/>
          </a:xfrm>
          <a:prstGeom prst="line">
            <a:avLst/>
          </a:prstGeom>
          <a:ln w="12700" cap="flat" cmpd="sng">
            <a:solidFill>
              <a:srgbClr val="99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20" name="直接连接符 265219"/>
          <p:cNvSpPr/>
          <p:nvPr/>
        </p:nvSpPr>
        <p:spPr>
          <a:xfrm>
            <a:off x="1447800" y="3048000"/>
            <a:ext cx="1371600" cy="0"/>
          </a:xfrm>
          <a:prstGeom prst="line">
            <a:avLst/>
          </a:prstGeom>
          <a:ln w="12700" cap="flat" cmpd="sng">
            <a:solidFill>
              <a:srgbClr val="99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21" name="直接连接符 265220"/>
          <p:cNvSpPr/>
          <p:nvPr/>
        </p:nvSpPr>
        <p:spPr>
          <a:xfrm>
            <a:off x="1447800" y="1219200"/>
            <a:ext cx="1371600" cy="0"/>
          </a:xfrm>
          <a:prstGeom prst="line">
            <a:avLst/>
          </a:prstGeom>
          <a:ln w="12700" cap="flat" cmpd="sng">
            <a:solidFill>
              <a:srgbClr val="99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22" name="直接连接符 265221"/>
          <p:cNvSpPr/>
          <p:nvPr/>
        </p:nvSpPr>
        <p:spPr>
          <a:xfrm>
            <a:off x="1447800" y="1524000"/>
            <a:ext cx="1371600" cy="0"/>
          </a:xfrm>
          <a:prstGeom prst="line">
            <a:avLst/>
          </a:prstGeom>
          <a:ln w="12700" cap="flat" cmpd="sng">
            <a:solidFill>
              <a:srgbClr val="99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23" name="直接连接符 265222"/>
          <p:cNvSpPr/>
          <p:nvPr/>
        </p:nvSpPr>
        <p:spPr>
          <a:xfrm>
            <a:off x="1447800" y="1828800"/>
            <a:ext cx="1371600" cy="0"/>
          </a:xfrm>
          <a:prstGeom prst="line">
            <a:avLst/>
          </a:prstGeom>
          <a:ln w="12700" cap="flat" cmpd="sng">
            <a:solidFill>
              <a:srgbClr val="99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24" name="直接连接符 265223">
            <a:hlinkClick r:id="" action="ppaction://noaction"/>
          </p:cNvPr>
          <p:cNvSpPr/>
          <p:nvPr/>
        </p:nvSpPr>
        <p:spPr>
          <a:xfrm>
            <a:off x="1447800" y="2133600"/>
            <a:ext cx="1371600" cy="0"/>
          </a:xfrm>
          <a:prstGeom prst="line">
            <a:avLst/>
          </a:prstGeom>
          <a:ln w="12700" cap="flat" cmpd="sng">
            <a:solidFill>
              <a:srgbClr val="99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25" name="直接连接符 265224"/>
          <p:cNvSpPr/>
          <p:nvPr/>
        </p:nvSpPr>
        <p:spPr>
          <a:xfrm>
            <a:off x="1447800" y="2438400"/>
            <a:ext cx="1371600" cy="0"/>
          </a:xfrm>
          <a:prstGeom prst="line">
            <a:avLst/>
          </a:prstGeom>
          <a:ln w="12700" cap="flat" cmpd="sng">
            <a:solidFill>
              <a:srgbClr val="99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26" name="直接连接符 265225"/>
          <p:cNvSpPr/>
          <p:nvPr/>
        </p:nvSpPr>
        <p:spPr>
          <a:xfrm>
            <a:off x="2133600" y="914400"/>
            <a:ext cx="0" cy="1219200"/>
          </a:xfrm>
          <a:prstGeom prst="line">
            <a:avLst/>
          </a:prstGeom>
          <a:ln w="12700" cap="flat" cmpd="sng">
            <a:solidFill>
              <a:srgbClr val="99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27" name="任意多边形 265226">
            <a:hlinkClick r:id="" action="ppaction://noaction"/>
          </p:cNvPr>
          <p:cNvSpPr/>
          <p:nvPr/>
        </p:nvSpPr>
        <p:spPr>
          <a:xfrm>
            <a:off x="1219200" y="4419600"/>
            <a:ext cx="1905000" cy="762000"/>
          </a:xfrm>
          <a:custGeom>
            <a:avLst/>
            <a:gdLst/>
            <a:ahLst/>
            <a:cxnLst/>
            <a:rect l="0" t="0" r="0" b="0"/>
            <a:pathLst>
              <a:path w="1200" h="480">
                <a:moveTo>
                  <a:pt x="0" y="0"/>
                </a:moveTo>
                <a:lnTo>
                  <a:pt x="384" y="0"/>
                </a:lnTo>
                <a:lnTo>
                  <a:pt x="480" y="192"/>
                </a:lnTo>
                <a:lnTo>
                  <a:pt x="720" y="192"/>
                </a:lnTo>
                <a:lnTo>
                  <a:pt x="816" y="0"/>
                </a:lnTo>
                <a:lnTo>
                  <a:pt x="1200" y="0"/>
                </a:lnTo>
                <a:lnTo>
                  <a:pt x="912" y="480"/>
                </a:lnTo>
                <a:lnTo>
                  <a:pt x="240" y="480"/>
                </a:lnTo>
                <a:lnTo>
                  <a:pt x="0" y="0"/>
                </a:lnTo>
                <a:close/>
              </a:path>
            </a:pathLst>
          </a:custGeom>
          <a:solidFill>
            <a:srgbClr val="FFCC99">
              <a:alpha val="100000"/>
            </a:srgbClr>
          </a:solidFill>
          <a:ln w="12700" cap="flat" cmpd="sng">
            <a:solidFill>
              <a:srgbClr val="99330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5228" name="直接连接符 265227"/>
          <p:cNvSpPr/>
          <p:nvPr/>
        </p:nvSpPr>
        <p:spPr>
          <a:xfrm>
            <a:off x="2133600" y="3352800"/>
            <a:ext cx="0" cy="533400"/>
          </a:xfrm>
          <a:prstGeom prst="line">
            <a:avLst/>
          </a:prstGeom>
          <a:ln w="76200" cap="flat" cmpd="sng">
            <a:solidFill>
              <a:srgbClr val="996600"/>
            </a:solidFill>
            <a:prstDash val="solid"/>
            <a:headEnd type="triangle" w="sm" len="sm"/>
            <a:tailEnd type="triangle" w="sm" len="sm"/>
          </a:ln>
        </p:spPr>
      </p:sp>
      <p:sp>
        <p:nvSpPr>
          <p:cNvPr id="265229" name="直接连接符 265228"/>
          <p:cNvSpPr/>
          <p:nvPr/>
        </p:nvSpPr>
        <p:spPr>
          <a:xfrm>
            <a:off x="1600200" y="3886200"/>
            <a:ext cx="0" cy="533400"/>
          </a:xfrm>
          <a:prstGeom prst="line">
            <a:avLst/>
          </a:prstGeom>
          <a:ln w="76200" cap="flat" cmpd="sng">
            <a:solidFill>
              <a:srgbClr val="996600"/>
            </a:solidFill>
            <a:prstDash val="solid"/>
            <a:headEnd type="triangle" w="sm" len="sm"/>
            <a:tailEnd type="triangle" w="sm" len="sm"/>
          </a:ln>
        </p:spPr>
      </p:sp>
      <p:sp>
        <p:nvSpPr>
          <p:cNvPr id="265230" name="直接连接符 265229"/>
          <p:cNvSpPr/>
          <p:nvPr/>
        </p:nvSpPr>
        <p:spPr>
          <a:xfrm>
            <a:off x="2819400" y="3886200"/>
            <a:ext cx="0" cy="533400"/>
          </a:xfrm>
          <a:prstGeom prst="line">
            <a:avLst/>
          </a:prstGeom>
          <a:ln w="76200" cap="flat" cmpd="sng">
            <a:solidFill>
              <a:srgbClr val="996600"/>
            </a:solidFill>
            <a:prstDash val="solid"/>
            <a:headEnd type="triangle" w="sm" len="sm"/>
            <a:tailEnd type="triangle" w="sm" len="sm"/>
          </a:ln>
        </p:spPr>
      </p:sp>
      <p:sp>
        <p:nvSpPr>
          <p:cNvPr id="265231" name="矩形 265230"/>
          <p:cNvSpPr/>
          <p:nvPr/>
        </p:nvSpPr>
        <p:spPr>
          <a:xfrm>
            <a:off x="1371600" y="5791200"/>
            <a:ext cx="1676400" cy="381000"/>
          </a:xfrm>
          <a:prstGeom prst="rect">
            <a:avLst/>
          </a:prstGeom>
          <a:solidFill>
            <a:srgbClr val="CCFFCC"/>
          </a:solidFill>
          <a:ln w="12700" cap="flat" cmpd="sng">
            <a:solidFill>
              <a:srgbClr val="99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5232" name="直接连接符 265231"/>
          <p:cNvSpPr/>
          <p:nvPr/>
        </p:nvSpPr>
        <p:spPr>
          <a:xfrm>
            <a:off x="2438400" y="5181600"/>
            <a:ext cx="0" cy="609600"/>
          </a:xfrm>
          <a:prstGeom prst="line">
            <a:avLst/>
          </a:prstGeom>
          <a:ln w="28575" cap="flat" cmpd="sng">
            <a:solidFill>
              <a:srgbClr val="996600"/>
            </a:solidFill>
            <a:prstDash val="solid"/>
            <a:headEnd type="none" w="med" len="med"/>
            <a:tailEnd type="triangle" w="sm" len="lg"/>
          </a:ln>
        </p:spPr>
      </p:sp>
      <p:sp>
        <p:nvSpPr>
          <p:cNvPr id="265233" name="直接连接符 265232"/>
          <p:cNvSpPr/>
          <p:nvPr/>
        </p:nvSpPr>
        <p:spPr>
          <a:xfrm>
            <a:off x="990600" y="3886200"/>
            <a:ext cx="0" cy="1600200"/>
          </a:xfrm>
          <a:prstGeom prst="line">
            <a:avLst/>
          </a:prstGeom>
          <a:ln w="76200" cap="flat" cmpd="sng">
            <a:solidFill>
              <a:srgbClr val="996600"/>
            </a:solidFill>
            <a:prstDash val="solid"/>
            <a:headEnd type="triangle" w="sm" len="med"/>
            <a:tailEnd type="none" w="med" len="med"/>
          </a:ln>
        </p:spPr>
      </p:sp>
      <p:sp>
        <p:nvSpPr>
          <p:cNvPr id="265234" name="直接连接符 265233"/>
          <p:cNvSpPr/>
          <p:nvPr/>
        </p:nvSpPr>
        <p:spPr>
          <a:xfrm>
            <a:off x="990600" y="5486400"/>
            <a:ext cx="914400" cy="0"/>
          </a:xfrm>
          <a:prstGeom prst="line">
            <a:avLst/>
          </a:prstGeom>
          <a:ln w="76200" cap="flat" cmpd="sng">
            <a:solidFill>
              <a:srgbClr val="9966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35" name="直接连接符 265234"/>
          <p:cNvSpPr/>
          <p:nvPr/>
        </p:nvSpPr>
        <p:spPr>
          <a:xfrm>
            <a:off x="1905000" y="5181600"/>
            <a:ext cx="0" cy="304800"/>
          </a:xfrm>
          <a:prstGeom prst="line">
            <a:avLst/>
          </a:prstGeom>
          <a:ln w="76200" cap="flat" cmpd="sng">
            <a:solidFill>
              <a:srgbClr val="9966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36" name="直接连接符 265235"/>
          <p:cNvSpPr/>
          <p:nvPr/>
        </p:nvSpPr>
        <p:spPr>
          <a:xfrm>
            <a:off x="152400" y="3886200"/>
            <a:ext cx="5181600" cy="0"/>
          </a:xfrm>
          <a:prstGeom prst="line">
            <a:avLst/>
          </a:prstGeom>
          <a:ln w="117475" cap="flat" cmpd="sng">
            <a:solidFill>
              <a:srgbClr val="9966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37" name="直接连接符 265236"/>
          <p:cNvSpPr/>
          <p:nvPr/>
        </p:nvSpPr>
        <p:spPr>
          <a:xfrm>
            <a:off x="457200" y="3886200"/>
            <a:ext cx="0" cy="2667000"/>
          </a:xfrm>
          <a:prstGeom prst="line">
            <a:avLst/>
          </a:prstGeom>
          <a:ln w="76200" cap="flat" cmpd="sng">
            <a:solidFill>
              <a:srgbClr val="996600"/>
            </a:solidFill>
            <a:prstDash val="solid"/>
            <a:headEnd type="triangle" w="sm" len="med"/>
            <a:tailEnd type="none" w="med" len="med"/>
          </a:ln>
        </p:spPr>
      </p:sp>
      <p:sp>
        <p:nvSpPr>
          <p:cNvPr id="265238" name="直接连接符 265237"/>
          <p:cNvSpPr/>
          <p:nvPr/>
        </p:nvSpPr>
        <p:spPr>
          <a:xfrm>
            <a:off x="457200" y="6553200"/>
            <a:ext cx="1828800" cy="0"/>
          </a:xfrm>
          <a:prstGeom prst="line">
            <a:avLst/>
          </a:prstGeom>
          <a:ln w="76200" cap="flat" cmpd="sng">
            <a:solidFill>
              <a:srgbClr val="9966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39" name="直接连接符 265238"/>
          <p:cNvSpPr/>
          <p:nvPr/>
        </p:nvSpPr>
        <p:spPr>
          <a:xfrm>
            <a:off x="2286000" y="6172200"/>
            <a:ext cx="0" cy="381000"/>
          </a:xfrm>
          <a:prstGeom prst="line">
            <a:avLst/>
          </a:prstGeom>
          <a:ln w="76200" cap="flat" cmpd="sng">
            <a:solidFill>
              <a:srgbClr val="9966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40" name="任意多边形 265239">
            <a:hlinkClick r:id="" action="ppaction://noaction"/>
          </p:cNvPr>
          <p:cNvSpPr/>
          <p:nvPr/>
        </p:nvSpPr>
        <p:spPr>
          <a:xfrm>
            <a:off x="5334000" y="609600"/>
            <a:ext cx="1600200" cy="609600"/>
          </a:xfrm>
          <a:custGeom>
            <a:avLst/>
            <a:gdLst/>
            <a:ahLst/>
            <a:cxnLst/>
            <a:rect l="0" t="0" r="0" b="0"/>
            <a:pathLst>
              <a:path w="1008" h="384">
                <a:moveTo>
                  <a:pt x="0" y="384"/>
                </a:moveTo>
                <a:lnTo>
                  <a:pt x="288" y="384"/>
                </a:lnTo>
                <a:lnTo>
                  <a:pt x="384" y="192"/>
                </a:lnTo>
                <a:lnTo>
                  <a:pt x="624" y="192"/>
                </a:lnTo>
                <a:lnTo>
                  <a:pt x="720" y="384"/>
                </a:lnTo>
                <a:lnTo>
                  <a:pt x="1008" y="384"/>
                </a:lnTo>
                <a:lnTo>
                  <a:pt x="816" y="0"/>
                </a:lnTo>
                <a:lnTo>
                  <a:pt x="144" y="0"/>
                </a:lnTo>
                <a:lnTo>
                  <a:pt x="0" y="384"/>
                </a:lnTo>
                <a:close/>
              </a:path>
            </a:pathLst>
          </a:custGeom>
          <a:solidFill>
            <a:srgbClr val="B2B2B2">
              <a:alpha val="100000"/>
            </a:srgbClr>
          </a:solidFill>
          <a:ln w="12700" cap="flat" cmpd="sng">
            <a:solidFill>
              <a:srgbClr val="993300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5241" name="矩形 265240">
            <a:hlinkClick r:id="" action="ppaction://noaction"/>
          </p:cNvPr>
          <p:cNvSpPr/>
          <p:nvPr/>
        </p:nvSpPr>
        <p:spPr>
          <a:xfrm>
            <a:off x="5486400" y="1676400"/>
            <a:ext cx="1371600" cy="1905000"/>
          </a:xfrm>
          <a:prstGeom prst="rect">
            <a:avLst/>
          </a:prstGeom>
          <a:solidFill>
            <a:srgbClr val="CCFFCC"/>
          </a:solidFill>
          <a:ln w="12700" cap="flat" cmpd="sng">
            <a:solidFill>
              <a:srgbClr val="99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lvl="0" algn="ctr"/>
            <a:endParaRPr lang="zh-CN" altLang="en-US" sz="1800" b="1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5242" name="直接连接符 265241"/>
          <p:cNvSpPr/>
          <p:nvPr/>
        </p:nvSpPr>
        <p:spPr>
          <a:xfrm>
            <a:off x="5486400" y="2895600"/>
            <a:ext cx="1371600" cy="0"/>
          </a:xfrm>
          <a:prstGeom prst="line">
            <a:avLst/>
          </a:prstGeom>
          <a:ln w="12700" cap="flat" cmpd="sng">
            <a:solidFill>
              <a:srgbClr val="99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43" name="直接连接符 265242"/>
          <p:cNvSpPr/>
          <p:nvPr/>
        </p:nvSpPr>
        <p:spPr>
          <a:xfrm>
            <a:off x="5486400" y="2590800"/>
            <a:ext cx="1371600" cy="0"/>
          </a:xfrm>
          <a:prstGeom prst="line">
            <a:avLst/>
          </a:prstGeom>
          <a:ln w="12700" cap="flat" cmpd="sng">
            <a:solidFill>
              <a:srgbClr val="99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44" name="直接连接符 265243"/>
          <p:cNvSpPr/>
          <p:nvPr/>
        </p:nvSpPr>
        <p:spPr>
          <a:xfrm>
            <a:off x="5486400" y="1981200"/>
            <a:ext cx="1371600" cy="0"/>
          </a:xfrm>
          <a:prstGeom prst="line">
            <a:avLst/>
          </a:prstGeom>
          <a:ln w="12700" cap="flat" cmpd="sng">
            <a:solidFill>
              <a:srgbClr val="99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45" name="直接连接符 265244"/>
          <p:cNvSpPr/>
          <p:nvPr/>
        </p:nvSpPr>
        <p:spPr>
          <a:xfrm>
            <a:off x="5486400" y="2286000"/>
            <a:ext cx="1371600" cy="0"/>
          </a:xfrm>
          <a:prstGeom prst="line">
            <a:avLst/>
          </a:prstGeom>
          <a:ln w="12700" cap="flat" cmpd="sng">
            <a:solidFill>
              <a:srgbClr val="99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46" name="直接连接符 265245"/>
          <p:cNvSpPr/>
          <p:nvPr/>
        </p:nvSpPr>
        <p:spPr>
          <a:xfrm>
            <a:off x="5486400" y="3200400"/>
            <a:ext cx="1371600" cy="0"/>
          </a:xfrm>
          <a:prstGeom prst="line">
            <a:avLst/>
          </a:prstGeom>
          <a:ln w="12700" cap="flat" cmpd="sng">
            <a:solidFill>
              <a:srgbClr val="99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47" name="矩形 265246"/>
          <p:cNvSpPr/>
          <p:nvPr/>
        </p:nvSpPr>
        <p:spPr>
          <a:xfrm>
            <a:off x="3505200" y="4419600"/>
            <a:ext cx="1143000" cy="762000"/>
          </a:xfrm>
          <a:prstGeom prst="rect">
            <a:avLst/>
          </a:prstGeom>
          <a:solidFill>
            <a:srgbClr val="FF9900"/>
          </a:solidFill>
          <a:ln w="12700" cap="flat" cmpd="sng">
            <a:solidFill>
              <a:srgbClr val="99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5248" name="矩形 265247"/>
          <p:cNvSpPr/>
          <p:nvPr/>
        </p:nvSpPr>
        <p:spPr>
          <a:xfrm>
            <a:off x="5334000" y="4572000"/>
            <a:ext cx="1371600" cy="457200"/>
          </a:xfrm>
          <a:prstGeom prst="rect">
            <a:avLst/>
          </a:prstGeom>
          <a:solidFill>
            <a:srgbClr val="CCFFFF"/>
          </a:solidFill>
          <a:ln w="12700" cap="flat" cmpd="sng">
            <a:solidFill>
              <a:srgbClr val="99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5249" name="矩形 265248"/>
          <p:cNvSpPr/>
          <p:nvPr/>
        </p:nvSpPr>
        <p:spPr>
          <a:xfrm>
            <a:off x="7239000" y="2209800"/>
            <a:ext cx="1143000" cy="838200"/>
          </a:xfrm>
          <a:prstGeom prst="rect">
            <a:avLst/>
          </a:prstGeom>
          <a:solidFill>
            <a:srgbClr val="FF9900"/>
          </a:solidFill>
          <a:ln w="12700" cap="flat" cmpd="sng">
            <a:solidFill>
              <a:srgbClr val="99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5250" name="直接连接符 265249"/>
          <p:cNvSpPr/>
          <p:nvPr/>
        </p:nvSpPr>
        <p:spPr>
          <a:xfrm>
            <a:off x="8382000" y="2667000"/>
            <a:ext cx="762000" cy="0"/>
          </a:xfrm>
          <a:prstGeom prst="line">
            <a:avLst/>
          </a:prstGeom>
          <a:ln w="117475" cap="flat" cmpd="sng">
            <a:solidFill>
              <a:srgbClr val="996600"/>
            </a:solidFill>
            <a:prstDash val="solid"/>
            <a:headEnd type="triangle" w="sm" len="sm"/>
            <a:tailEnd type="triangle" w="sm" len="sm"/>
          </a:ln>
        </p:spPr>
      </p:sp>
      <p:sp>
        <p:nvSpPr>
          <p:cNvPr id="265251" name="直接连接符 265250"/>
          <p:cNvSpPr/>
          <p:nvPr/>
        </p:nvSpPr>
        <p:spPr>
          <a:xfrm>
            <a:off x="8001000" y="152400"/>
            <a:ext cx="0" cy="2057400"/>
          </a:xfrm>
          <a:prstGeom prst="line">
            <a:avLst/>
          </a:prstGeom>
          <a:ln w="117475" cap="flat" cmpd="sng">
            <a:solidFill>
              <a:srgbClr val="996600"/>
            </a:solidFill>
            <a:prstDash val="solid"/>
            <a:headEnd type="none" w="med" len="med"/>
            <a:tailEnd type="triangle" w="sm" len="sm"/>
          </a:ln>
        </p:spPr>
      </p:sp>
      <p:sp>
        <p:nvSpPr>
          <p:cNvPr id="265252" name="直接连接符 265251"/>
          <p:cNvSpPr/>
          <p:nvPr/>
        </p:nvSpPr>
        <p:spPr>
          <a:xfrm>
            <a:off x="6096000" y="381000"/>
            <a:ext cx="1828800" cy="0"/>
          </a:xfrm>
          <a:prstGeom prst="line">
            <a:avLst/>
          </a:prstGeom>
          <a:ln w="76200" cap="flat" cmpd="sng">
            <a:solidFill>
              <a:srgbClr val="996600"/>
            </a:solidFill>
            <a:prstDash val="solid"/>
            <a:headEnd type="none" w="med" len="med"/>
            <a:tailEnd type="triangle" w="sm" len="sm"/>
          </a:ln>
        </p:spPr>
      </p:sp>
      <p:sp>
        <p:nvSpPr>
          <p:cNvPr id="265253" name="直接连接符 265252"/>
          <p:cNvSpPr/>
          <p:nvPr/>
        </p:nvSpPr>
        <p:spPr>
          <a:xfrm>
            <a:off x="6096000" y="381000"/>
            <a:ext cx="0" cy="228600"/>
          </a:xfrm>
          <a:prstGeom prst="line">
            <a:avLst/>
          </a:prstGeom>
          <a:ln w="76200" cap="flat" cmpd="sng">
            <a:solidFill>
              <a:srgbClr val="9933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54" name="直接连接符 265253"/>
          <p:cNvSpPr/>
          <p:nvPr/>
        </p:nvSpPr>
        <p:spPr>
          <a:xfrm>
            <a:off x="5638800" y="1219200"/>
            <a:ext cx="0" cy="457200"/>
          </a:xfrm>
          <a:prstGeom prst="line">
            <a:avLst/>
          </a:prstGeom>
          <a:ln w="76200" cap="flat" cmpd="sng">
            <a:solidFill>
              <a:srgbClr val="996600"/>
            </a:solidFill>
            <a:prstDash val="solid"/>
            <a:headEnd type="triangle" w="sm" len="sm"/>
            <a:tailEnd type="none" w="med" len="med"/>
          </a:ln>
        </p:spPr>
      </p:sp>
      <p:sp>
        <p:nvSpPr>
          <p:cNvPr id="265255" name="直接连接符 265254"/>
          <p:cNvSpPr/>
          <p:nvPr/>
        </p:nvSpPr>
        <p:spPr>
          <a:xfrm>
            <a:off x="6629400" y="1219200"/>
            <a:ext cx="0" cy="457200"/>
          </a:xfrm>
          <a:prstGeom prst="line">
            <a:avLst/>
          </a:prstGeom>
          <a:ln w="76200" cap="flat" cmpd="sng">
            <a:solidFill>
              <a:srgbClr val="996600"/>
            </a:solidFill>
            <a:prstDash val="solid"/>
            <a:headEnd type="triangle" w="sm" len="sm"/>
            <a:tailEnd type="triangle" w="sm" len="sm"/>
          </a:ln>
        </p:spPr>
      </p:sp>
      <p:sp>
        <p:nvSpPr>
          <p:cNvPr id="265256" name="直接连接符 265255"/>
          <p:cNvSpPr/>
          <p:nvPr/>
        </p:nvSpPr>
        <p:spPr>
          <a:xfrm>
            <a:off x="6629400" y="1447800"/>
            <a:ext cx="1371600" cy="0"/>
          </a:xfrm>
          <a:prstGeom prst="line">
            <a:avLst/>
          </a:prstGeom>
          <a:ln w="76200" cap="flat" cmpd="sng">
            <a:solidFill>
              <a:srgbClr val="996600"/>
            </a:solidFill>
            <a:prstDash val="solid"/>
            <a:headEnd type="triangle" w="sm" len="sm"/>
            <a:tailEnd type="triangle" w="sm" len="sm"/>
          </a:ln>
        </p:spPr>
      </p:sp>
      <p:sp>
        <p:nvSpPr>
          <p:cNvPr id="265257" name="文本框 265256"/>
          <p:cNvSpPr txBox="1"/>
          <p:nvPr/>
        </p:nvSpPr>
        <p:spPr>
          <a:xfrm>
            <a:off x="5530850" y="3214688"/>
            <a:ext cx="1335088" cy="366712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pPr lvl="0"/>
            <a:r>
              <a:rPr lang="zh-CN" altLang="en-US" sz="18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内部暂存器</a:t>
            </a:r>
            <a:endParaRPr lang="zh-CN" altLang="en-US" sz="1800" b="1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5258" name="文本框 265257"/>
          <p:cNvSpPr txBox="1"/>
          <p:nvPr/>
        </p:nvSpPr>
        <p:spPr>
          <a:xfrm>
            <a:off x="5562600" y="2895600"/>
            <a:ext cx="1066800" cy="3667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lvl="0">
              <a:spcBef>
                <a:spcPct val="50000"/>
              </a:spcBef>
            </a:pPr>
            <a:r>
              <a:rPr lang="zh-CN" altLang="zh-CN" sz="1800" b="1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</a:t>
            </a:r>
            <a:r>
              <a:rPr lang="en-US" altLang="zh-CN" sz="18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IP</a:t>
            </a:r>
          </a:p>
        </p:txBody>
      </p:sp>
      <p:sp>
        <p:nvSpPr>
          <p:cNvPr id="265259" name="文本框 265258"/>
          <p:cNvSpPr txBox="1"/>
          <p:nvPr/>
        </p:nvSpPr>
        <p:spPr>
          <a:xfrm>
            <a:off x="5638800" y="2590800"/>
            <a:ext cx="990600" cy="3667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lvl="0">
              <a:spcBef>
                <a:spcPct val="50000"/>
              </a:spcBef>
            </a:pPr>
            <a:r>
              <a:rPr lang="zh-CN" altLang="en-US" sz="18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en-US" altLang="zh-CN" sz="18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ES</a:t>
            </a:r>
          </a:p>
        </p:txBody>
      </p:sp>
      <p:sp>
        <p:nvSpPr>
          <p:cNvPr id="265260" name="文本框 265259"/>
          <p:cNvSpPr txBox="1"/>
          <p:nvPr/>
        </p:nvSpPr>
        <p:spPr>
          <a:xfrm>
            <a:off x="5791200" y="2286000"/>
            <a:ext cx="609600" cy="3667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lvl="0">
              <a:spcBef>
                <a:spcPct val="50000"/>
              </a:spcBef>
            </a:pPr>
            <a:r>
              <a:rPr lang="zh-CN" altLang="en-US" sz="18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SS</a:t>
            </a:r>
          </a:p>
        </p:txBody>
      </p:sp>
      <p:sp>
        <p:nvSpPr>
          <p:cNvPr id="265261" name="文本框 265260"/>
          <p:cNvSpPr txBox="1"/>
          <p:nvPr/>
        </p:nvSpPr>
        <p:spPr>
          <a:xfrm>
            <a:off x="5791200" y="1981200"/>
            <a:ext cx="685800" cy="3667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lvl="0">
              <a:spcBef>
                <a:spcPct val="50000"/>
              </a:spcBef>
            </a:pPr>
            <a:r>
              <a:rPr lang="zh-CN" altLang="en-US" sz="18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DS</a:t>
            </a:r>
          </a:p>
        </p:txBody>
      </p:sp>
      <p:sp>
        <p:nvSpPr>
          <p:cNvPr id="265262" name="文本框 265261"/>
          <p:cNvSpPr txBox="1"/>
          <p:nvPr/>
        </p:nvSpPr>
        <p:spPr>
          <a:xfrm>
            <a:off x="5791200" y="1676400"/>
            <a:ext cx="838200" cy="3667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lvl="0">
              <a:spcBef>
                <a:spcPct val="50000"/>
              </a:spcBef>
            </a:pPr>
            <a:r>
              <a:rPr lang="zh-CN" altLang="en-US" sz="18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CS</a:t>
            </a:r>
          </a:p>
        </p:txBody>
      </p:sp>
      <p:sp>
        <p:nvSpPr>
          <p:cNvPr id="265263" name="文本框 265262">
            <a:hlinkClick r:id="" action="ppaction://noaction"/>
          </p:cNvPr>
          <p:cNvSpPr txBox="1"/>
          <p:nvPr/>
        </p:nvSpPr>
        <p:spPr>
          <a:xfrm>
            <a:off x="7239000" y="2286000"/>
            <a:ext cx="1295400" cy="64135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lvl="0">
              <a:spcBef>
                <a:spcPct val="50000"/>
              </a:spcBef>
            </a:pPr>
            <a:r>
              <a:rPr lang="zh-CN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输入</a:t>
            </a:r>
            <a:r>
              <a: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zh-CN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输出控制电路</a:t>
            </a:r>
            <a:endParaRPr lang="zh-CN" altLang="en-US" sz="18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5264" name="文本框 265263"/>
          <p:cNvSpPr txBox="1"/>
          <p:nvPr/>
        </p:nvSpPr>
        <p:spPr>
          <a:xfrm>
            <a:off x="8755063" y="2946400"/>
            <a:ext cx="274637" cy="1905000"/>
          </a:xfrm>
          <a:prstGeom prst="rect">
            <a:avLst/>
          </a:prstGeom>
          <a:noFill/>
          <a:ln w="12700">
            <a:noFill/>
          </a:ln>
        </p:spPr>
        <p:txBody>
          <a:bodyPr vert="eaVert" lIns="0" rIns="0">
            <a:spAutoFit/>
          </a:bodyPr>
          <a:lstStyle/>
          <a:p>
            <a:pPr lvl="0">
              <a:spcBef>
                <a:spcPct val="50000"/>
              </a:spcBef>
            </a:pPr>
            <a:r>
              <a:rPr lang="zh-CN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外部总线</a:t>
            </a:r>
            <a:endParaRPr lang="zh-CN" altLang="en-US" sz="18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5265" name="直接连接符 265264"/>
          <p:cNvSpPr/>
          <p:nvPr/>
        </p:nvSpPr>
        <p:spPr>
          <a:xfrm>
            <a:off x="4648200" y="4800600"/>
            <a:ext cx="685800" cy="0"/>
          </a:xfrm>
          <a:prstGeom prst="line">
            <a:avLst/>
          </a:prstGeom>
          <a:ln w="95250" cap="flat" cmpd="sng">
            <a:solidFill>
              <a:srgbClr val="996600"/>
            </a:solidFill>
            <a:prstDash val="solid"/>
            <a:headEnd type="triangle" w="sm" len="sm"/>
            <a:tailEnd type="none" w="med" len="med"/>
          </a:ln>
        </p:spPr>
      </p:sp>
      <p:sp>
        <p:nvSpPr>
          <p:cNvPr id="265266" name="直接连接符 265265"/>
          <p:cNvSpPr/>
          <p:nvPr/>
        </p:nvSpPr>
        <p:spPr>
          <a:xfrm>
            <a:off x="8001000" y="3048000"/>
            <a:ext cx="0" cy="1752600"/>
          </a:xfrm>
          <a:prstGeom prst="line">
            <a:avLst/>
          </a:prstGeom>
          <a:ln w="101600" cap="flat" cmpd="sng">
            <a:solidFill>
              <a:srgbClr val="9966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67" name="直接连接符 265266"/>
          <p:cNvSpPr/>
          <p:nvPr/>
        </p:nvSpPr>
        <p:spPr>
          <a:xfrm>
            <a:off x="6705600" y="4800600"/>
            <a:ext cx="1295400" cy="0"/>
          </a:xfrm>
          <a:prstGeom prst="line">
            <a:avLst/>
          </a:prstGeom>
          <a:ln w="95250" cap="flat" cmpd="sng">
            <a:solidFill>
              <a:srgbClr val="996600"/>
            </a:solidFill>
            <a:prstDash val="solid"/>
            <a:headEnd type="triangle" w="sm" len="sm"/>
            <a:tailEnd type="none" w="med" len="med"/>
          </a:ln>
        </p:spPr>
      </p:sp>
      <p:sp>
        <p:nvSpPr>
          <p:cNvPr id="265268" name="直接连接符 265267"/>
          <p:cNvSpPr/>
          <p:nvPr/>
        </p:nvSpPr>
        <p:spPr>
          <a:xfrm>
            <a:off x="5105400" y="3886200"/>
            <a:ext cx="0" cy="914400"/>
          </a:xfrm>
          <a:prstGeom prst="line">
            <a:avLst/>
          </a:prstGeom>
          <a:ln w="88900" cap="flat" cmpd="sng">
            <a:solidFill>
              <a:srgbClr val="996600"/>
            </a:solidFill>
            <a:prstDash val="solid"/>
            <a:headEnd type="triangle" w="sm" len="sm"/>
            <a:tailEnd type="none" w="med" len="med"/>
          </a:ln>
        </p:spPr>
      </p:sp>
      <p:sp>
        <p:nvSpPr>
          <p:cNvPr id="265269" name="直接连接符 265268"/>
          <p:cNvSpPr/>
          <p:nvPr/>
        </p:nvSpPr>
        <p:spPr>
          <a:xfrm>
            <a:off x="4953000" y="3429000"/>
            <a:ext cx="533400" cy="0"/>
          </a:xfrm>
          <a:prstGeom prst="line">
            <a:avLst/>
          </a:prstGeom>
          <a:ln w="88900" cap="flat" cmpd="sng">
            <a:solidFill>
              <a:srgbClr val="996600"/>
            </a:solidFill>
            <a:prstDash val="solid"/>
            <a:headEnd type="none" w="med" len="med"/>
            <a:tailEnd type="triangle" w="sm" len="sm"/>
          </a:ln>
        </p:spPr>
      </p:sp>
      <p:sp>
        <p:nvSpPr>
          <p:cNvPr id="265270" name="直接连接符 265269"/>
          <p:cNvSpPr/>
          <p:nvPr/>
        </p:nvSpPr>
        <p:spPr>
          <a:xfrm flipH="1">
            <a:off x="4953000" y="3429000"/>
            <a:ext cx="1588" cy="381000"/>
          </a:xfrm>
          <a:prstGeom prst="line">
            <a:avLst/>
          </a:prstGeom>
          <a:ln w="88900" cap="flat" cmpd="sng">
            <a:solidFill>
              <a:srgbClr val="996600"/>
            </a:solidFill>
            <a:prstDash val="solid"/>
            <a:headEnd type="none" w="med" len="med"/>
            <a:tailEnd type="triangle" w="sm" len="sm"/>
          </a:ln>
        </p:spPr>
      </p:sp>
      <p:sp>
        <p:nvSpPr>
          <p:cNvPr id="265271" name="文本框 265270">
            <a:hlinkClick r:id="" action="ppaction://noaction"/>
          </p:cNvPr>
          <p:cNvSpPr txBox="1"/>
          <p:nvPr/>
        </p:nvSpPr>
        <p:spPr>
          <a:xfrm>
            <a:off x="3581400" y="4495800"/>
            <a:ext cx="1143000" cy="64135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lvl="0">
              <a:spcBef>
                <a:spcPct val="50000"/>
              </a:spcBef>
            </a:pPr>
            <a:r>
              <a:rPr lang="zh-CN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执行部分控制电路</a:t>
            </a:r>
            <a:endParaRPr lang="zh-CN" altLang="en-US" sz="18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5272" name="直接连接符 265271"/>
          <p:cNvSpPr/>
          <p:nvPr/>
        </p:nvSpPr>
        <p:spPr>
          <a:xfrm>
            <a:off x="3352800" y="3581400"/>
            <a:ext cx="0" cy="2362200"/>
          </a:xfrm>
          <a:prstGeom prst="line">
            <a:avLst/>
          </a:prstGeom>
          <a:ln w="25400" cap="flat" cmpd="sng">
            <a:solidFill>
              <a:srgbClr val="FF66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73" name="直接连接符 265272"/>
          <p:cNvSpPr/>
          <p:nvPr/>
        </p:nvSpPr>
        <p:spPr>
          <a:xfrm>
            <a:off x="2667000" y="3581400"/>
            <a:ext cx="685800" cy="0"/>
          </a:xfrm>
          <a:prstGeom prst="line">
            <a:avLst/>
          </a:prstGeom>
          <a:ln w="25400" cap="flat" cmpd="sng">
            <a:solidFill>
              <a:srgbClr val="FF66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5274" name="直接连接符 265273"/>
          <p:cNvSpPr/>
          <p:nvPr/>
        </p:nvSpPr>
        <p:spPr>
          <a:xfrm>
            <a:off x="2667000" y="3352800"/>
            <a:ext cx="0" cy="228600"/>
          </a:xfrm>
          <a:prstGeom prst="line">
            <a:avLst/>
          </a:prstGeom>
          <a:ln w="25400" cap="flat" cmpd="sng">
            <a:solidFill>
              <a:srgbClr val="FF6600"/>
            </a:solidFill>
            <a:prstDash val="solid"/>
            <a:headEnd type="triangle" w="sm" len="med"/>
            <a:tailEnd type="none" w="med" len="med"/>
          </a:ln>
        </p:spPr>
      </p:sp>
      <p:sp>
        <p:nvSpPr>
          <p:cNvPr id="265275" name="直接连接符 265274"/>
          <p:cNvSpPr/>
          <p:nvPr/>
        </p:nvSpPr>
        <p:spPr>
          <a:xfrm>
            <a:off x="2895600" y="4800600"/>
            <a:ext cx="609600" cy="0"/>
          </a:xfrm>
          <a:prstGeom prst="line">
            <a:avLst/>
          </a:prstGeom>
          <a:ln w="25400" cap="flat" cmpd="sng">
            <a:solidFill>
              <a:srgbClr val="FF6600"/>
            </a:solidFill>
            <a:prstDash val="solid"/>
            <a:headEnd type="triangle" w="sm" len="med"/>
            <a:tailEnd type="none" w="med" len="med"/>
          </a:ln>
        </p:spPr>
      </p:sp>
      <p:sp>
        <p:nvSpPr>
          <p:cNvPr id="265276" name="直接连接符 265275"/>
          <p:cNvSpPr/>
          <p:nvPr/>
        </p:nvSpPr>
        <p:spPr>
          <a:xfrm>
            <a:off x="3048000" y="5943600"/>
            <a:ext cx="304800" cy="0"/>
          </a:xfrm>
          <a:prstGeom prst="line">
            <a:avLst/>
          </a:prstGeom>
          <a:ln w="25400" cap="flat" cmpd="sng">
            <a:solidFill>
              <a:srgbClr val="FF6600"/>
            </a:solidFill>
            <a:prstDash val="solid"/>
            <a:headEnd type="triangle" w="sm" len="med"/>
            <a:tailEnd type="none" w="med" len="med"/>
          </a:ln>
        </p:spPr>
      </p:sp>
      <p:sp>
        <p:nvSpPr>
          <p:cNvPr id="265277" name="直接连接符 265276"/>
          <p:cNvSpPr/>
          <p:nvPr/>
        </p:nvSpPr>
        <p:spPr>
          <a:xfrm>
            <a:off x="5562600" y="4572000"/>
            <a:ext cx="0" cy="457200"/>
          </a:xfrm>
          <a:prstGeom prst="line">
            <a:avLst/>
          </a:prstGeom>
          <a:ln w="12700" cap="flat" cmpd="sng">
            <a:solidFill>
              <a:srgbClr val="996600"/>
            </a:solidFill>
            <a:prstDash val="solid"/>
            <a:headEnd type="none" w="med" len="med"/>
            <a:tailEnd type="none" w="sm" len="sm"/>
          </a:ln>
        </p:spPr>
      </p:sp>
      <p:sp>
        <p:nvSpPr>
          <p:cNvPr id="265278" name="直接连接符 265277"/>
          <p:cNvSpPr/>
          <p:nvPr/>
        </p:nvSpPr>
        <p:spPr>
          <a:xfrm>
            <a:off x="5791200" y="4572000"/>
            <a:ext cx="0" cy="457200"/>
          </a:xfrm>
          <a:prstGeom prst="line">
            <a:avLst/>
          </a:prstGeom>
          <a:ln w="12700" cap="flat" cmpd="sng">
            <a:solidFill>
              <a:srgbClr val="996600"/>
            </a:solidFill>
            <a:prstDash val="solid"/>
            <a:headEnd type="none" w="med" len="med"/>
            <a:tailEnd type="none" w="sm" len="sm"/>
          </a:ln>
        </p:spPr>
      </p:sp>
      <p:sp>
        <p:nvSpPr>
          <p:cNvPr id="265279" name="直接连接符 265278"/>
          <p:cNvSpPr/>
          <p:nvPr/>
        </p:nvSpPr>
        <p:spPr>
          <a:xfrm>
            <a:off x="6019800" y="4572000"/>
            <a:ext cx="0" cy="457200"/>
          </a:xfrm>
          <a:prstGeom prst="line">
            <a:avLst/>
          </a:prstGeom>
          <a:ln w="12700" cap="flat" cmpd="sng">
            <a:solidFill>
              <a:srgbClr val="996600"/>
            </a:solidFill>
            <a:prstDash val="solid"/>
            <a:headEnd type="none" w="med" len="med"/>
            <a:tailEnd type="none" w="sm" len="sm"/>
          </a:ln>
        </p:spPr>
      </p:sp>
      <p:sp>
        <p:nvSpPr>
          <p:cNvPr id="265280" name="直接连接符 265279"/>
          <p:cNvSpPr/>
          <p:nvPr/>
        </p:nvSpPr>
        <p:spPr>
          <a:xfrm>
            <a:off x="6248400" y="4572000"/>
            <a:ext cx="0" cy="457200"/>
          </a:xfrm>
          <a:prstGeom prst="line">
            <a:avLst/>
          </a:prstGeom>
          <a:ln w="12700" cap="flat" cmpd="sng">
            <a:solidFill>
              <a:srgbClr val="996600"/>
            </a:solidFill>
            <a:prstDash val="solid"/>
            <a:headEnd type="none" w="med" len="med"/>
            <a:tailEnd type="none" w="sm" len="sm"/>
          </a:ln>
        </p:spPr>
      </p:sp>
      <p:sp>
        <p:nvSpPr>
          <p:cNvPr id="265281" name="直接连接符 265280"/>
          <p:cNvSpPr/>
          <p:nvPr/>
        </p:nvSpPr>
        <p:spPr>
          <a:xfrm>
            <a:off x="6477000" y="4572000"/>
            <a:ext cx="0" cy="457200"/>
          </a:xfrm>
          <a:prstGeom prst="line">
            <a:avLst/>
          </a:prstGeom>
          <a:ln w="12700" cap="flat" cmpd="sng">
            <a:solidFill>
              <a:srgbClr val="996600"/>
            </a:solidFill>
            <a:prstDash val="solid"/>
            <a:headEnd type="none" w="med" len="med"/>
            <a:tailEnd type="none" w="sm" len="sm"/>
          </a:ln>
        </p:spPr>
      </p:sp>
      <p:sp>
        <p:nvSpPr>
          <p:cNvPr id="265282" name="文本框 265281">
            <a:hlinkClick r:id="" action="ppaction://noaction"/>
          </p:cNvPr>
          <p:cNvSpPr txBox="1"/>
          <p:nvPr/>
        </p:nvSpPr>
        <p:spPr>
          <a:xfrm>
            <a:off x="5334000" y="4648200"/>
            <a:ext cx="1447800" cy="366713"/>
          </a:xfrm>
          <a:prstGeom prst="rect">
            <a:avLst/>
          </a:prstGeom>
          <a:noFill/>
          <a:ln w="88900">
            <a:noFill/>
          </a:ln>
        </p:spPr>
        <p:txBody>
          <a:bodyPr>
            <a:spAutoFit/>
          </a:bodyPr>
          <a:lstStyle/>
          <a:p>
            <a:pPr lvl="0">
              <a:spcBef>
                <a:spcPct val="50000"/>
              </a:spcBef>
            </a:pPr>
            <a:r>
              <a:rPr lang="en-US" altLang="zh-CN" sz="18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1 2  3  4  5  6</a:t>
            </a:r>
          </a:p>
        </p:txBody>
      </p:sp>
      <p:sp>
        <p:nvSpPr>
          <p:cNvPr id="265283" name="直接连接符 265282"/>
          <p:cNvSpPr/>
          <p:nvPr/>
        </p:nvSpPr>
        <p:spPr>
          <a:xfrm>
            <a:off x="4800600" y="304800"/>
            <a:ext cx="0" cy="6324600"/>
          </a:xfrm>
          <a:prstGeom prst="line">
            <a:avLst/>
          </a:prstGeom>
          <a:ln w="12700" cap="flat" cmpd="sng">
            <a:solidFill>
              <a:srgbClr val="333333"/>
            </a:solidFill>
            <a:prstDash val="lgDashDot"/>
            <a:headEnd type="none" w="med" len="med"/>
            <a:tailEnd type="none" w="sm" len="sm"/>
          </a:ln>
        </p:spPr>
      </p:sp>
      <p:sp>
        <p:nvSpPr>
          <p:cNvPr id="265284" name="直接连接符 265283"/>
          <p:cNvSpPr/>
          <p:nvPr/>
        </p:nvSpPr>
        <p:spPr>
          <a:xfrm>
            <a:off x="8686800" y="228600"/>
            <a:ext cx="0" cy="6324600"/>
          </a:xfrm>
          <a:prstGeom prst="line">
            <a:avLst/>
          </a:prstGeom>
          <a:ln w="12700" cap="flat" cmpd="sng">
            <a:solidFill>
              <a:srgbClr val="000000"/>
            </a:solidFill>
            <a:prstDash val="lgDashDot"/>
            <a:headEnd type="none" w="med" len="med"/>
            <a:tailEnd type="none" w="sm" len="sm"/>
          </a:ln>
        </p:spPr>
      </p:sp>
      <p:sp>
        <p:nvSpPr>
          <p:cNvPr id="265285" name="文本框 265284"/>
          <p:cNvSpPr txBox="1"/>
          <p:nvPr/>
        </p:nvSpPr>
        <p:spPr>
          <a:xfrm>
            <a:off x="5900738" y="533400"/>
            <a:ext cx="533400" cy="457200"/>
          </a:xfrm>
          <a:prstGeom prst="rect">
            <a:avLst/>
          </a:prstGeom>
          <a:noFill/>
          <a:ln w="88900">
            <a:noFill/>
          </a:ln>
        </p:spPr>
        <p:txBody>
          <a:bodyPr>
            <a:spAutoFit/>
          </a:bodyPr>
          <a:lstStyle/>
          <a:p>
            <a:pPr lvl="0">
              <a:spcBef>
                <a:spcPct val="50000"/>
              </a:spcBef>
            </a:pPr>
            <a:r>
              <a:rPr lang="zh-CN" altLang="en-US" sz="2400" b="1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∑</a:t>
            </a:r>
          </a:p>
        </p:txBody>
      </p:sp>
      <p:sp>
        <p:nvSpPr>
          <p:cNvPr id="265286" name="文本框 265285"/>
          <p:cNvSpPr txBox="1"/>
          <p:nvPr/>
        </p:nvSpPr>
        <p:spPr>
          <a:xfrm>
            <a:off x="1752600" y="4724400"/>
            <a:ext cx="838200" cy="457200"/>
          </a:xfrm>
          <a:prstGeom prst="rect">
            <a:avLst/>
          </a:prstGeom>
          <a:noFill/>
          <a:ln w="88900">
            <a:noFill/>
          </a:ln>
        </p:spPr>
        <p:txBody>
          <a:bodyPr>
            <a:spAutoFit/>
          </a:bodyPr>
          <a:lstStyle/>
          <a:p>
            <a:pPr lvl="0">
              <a:spcBef>
                <a:spcPct val="50000"/>
              </a:spcBef>
            </a:pP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ALU</a:t>
            </a:r>
            <a:endParaRPr lang="en-US" altLang="zh-CN" sz="18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5287" name="文本框 265286">
            <a:hlinkClick r:id="" action="ppaction://noaction"/>
          </p:cNvPr>
          <p:cNvSpPr txBox="1"/>
          <p:nvPr/>
        </p:nvSpPr>
        <p:spPr>
          <a:xfrm>
            <a:off x="1447800" y="5791200"/>
            <a:ext cx="1524000" cy="366713"/>
          </a:xfrm>
          <a:prstGeom prst="rect">
            <a:avLst/>
          </a:prstGeom>
          <a:noFill/>
          <a:ln w="88900">
            <a:noFill/>
          </a:ln>
        </p:spPr>
        <p:txBody>
          <a:bodyPr>
            <a:spAutoFit/>
          </a:bodyPr>
          <a:lstStyle/>
          <a:p>
            <a:pPr lvl="0">
              <a:spcBef>
                <a:spcPct val="50000"/>
              </a:spcBef>
            </a:pPr>
            <a:r>
              <a:rPr lang="zh-CN" altLang="en-US" sz="18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标志寄存器</a:t>
            </a:r>
            <a:endParaRPr lang="zh-CN" altLang="en-US" sz="1800" b="1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65288" name="组合 265287"/>
          <p:cNvGrpSpPr/>
          <p:nvPr/>
        </p:nvGrpSpPr>
        <p:grpSpPr>
          <a:xfrm>
            <a:off x="1371600" y="914400"/>
            <a:ext cx="1524000" cy="2500313"/>
            <a:chOff x="864" y="576"/>
            <a:chExt cx="960" cy="1575"/>
          </a:xfrm>
        </p:grpSpPr>
        <p:sp>
          <p:nvSpPr>
            <p:cNvPr id="265289" name="文本框 265288"/>
            <p:cNvSpPr txBox="1"/>
            <p:nvPr/>
          </p:nvSpPr>
          <p:spPr>
            <a:xfrm>
              <a:off x="864" y="576"/>
              <a:ext cx="960" cy="231"/>
            </a:xfrm>
            <a:prstGeom prst="rect">
              <a:avLst/>
            </a:prstGeom>
            <a:noFill/>
            <a:ln w="88900">
              <a:noFill/>
            </a:ln>
          </p:spPr>
          <p:txBody>
            <a:bodyPr>
              <a:spAutoFit/>
            </a:bodyPr>
            <a:lstStyle/>
            <a:p>
              <a:pPr lvl="0">
                <a:spcBef>
                  <a:spcPct val="50000"/>
                </a:spcBef>
              </a:pPr>
              <a:r>
                <a:rPr lang="zh-CN" altLang="en-US" sz="1800" b="1">
                  <a:latin typeface="Times New Roman" panose="02020603050405020304" pitchFamily="18" charset="0"/>
                  <a:ea typeface="宋体" panose="02010600030101010101" pitchFamily="2" charset="-122"/>
                </a:rPr>
                <a:t>   </a:t>
              </a:r>
              <a:r>
                <a:rPr lang="en-US" altLang="zh-CN" sz="18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AH      AL</a:t>
              </a:r>
              <a:r>
                <a:rPr lang="en-US" altLang="zh-CN" sz="1800" b="1">
                  <a:latin typeface="Times New Roman" panose="02020603050405020304" pitchFamily="18" charset="0"/>
                  <a:ea typeface="宋体" panose="02010600030101010101" pitchFamily="2" charset="-122"/>
                </a:rPr>
                <a:t>   </a:t>
              </a:r>
            </a:p>
          </p:txBody>
        </p:sp>
        <p:sp>
          <p:nvSpPr>
            <p:cNvPr id="265290" name="文本框 265289"/>
            <p:cNvSpPr txBox="1"/>
            <p:nvPr/>
          </p:nvSpPr>
          <p:spPr>
            <a:xfrm>
              <a:off x="912" y="768"/>
              <a:ext cx="864" cy="231"/>
            </a:xfrm>
            <a:prstGeom prst="rect">
              <a:avLst/>
            </a:prstGeom>
            <a:noFill/>
            <a:ln w="88900">
              <a:noFill/>
            </a:ln>
          </p:spPr>
          <p:txBody>
            <a:bodyPr>
              <a:spAutoFit/>
            </a:bodyPr>
            <a:lstStyle/>
            <a:p>
              <a:pPr lvl="0">
                <a:spcBef>
                  <a:spcPct val="50000"/>
                </a:spcBef>
              </a:pPr>
              <a:r>
                <a:rPr lang="zh-CN" altLang="en-US" sz="1800" b="1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8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BH      BL</a:t>
              </a:r>
            </a:p>
          </p:txBody>
        </p:sp>
        <p:sp>
          <p:nvSpPr>
            <p:cNvPr id="265291" name="文本框 265290"/>
            <p:cNvSpPr txBox="1"/>
            <p:nvPr/>
          </p:nvSpPr>
          <p:spPr>
            <a:xfrm>
              <a:off x="960" y="960"/>
              <a:ext cx="816" cy="231"/>
            </a:xfrm>
            <a:prstGeom prst="rect">
              <a:avLst/>
            </a:prstGeom>
            <a:noFill/>
            <a:ln w="88900">
              <a:noFill/>
            </a:ln>
          </p:spPr>
          <p:txBody>
            <a:bodyPr>
              <a:spAutoFit/>
            </a:bodyPr>
            <a:lstStyle/>
            <a:p>
              <a:pPr lvl="0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CH      CL</a:t>
              </a:r>
            </a:p>
          </p:txBody>
        </p:sp>
        <p:sp>
          <p:nvSpPr>
            <p:cNvPr id="265292" name="文本框 265291"/>
            <p:cNvSpPr txBox="1"/>
            <p:nvPr/>
          </p:nvSpPr>
          <p:spPr>
            <a:xfrm>
              <a:off x="912" y="1152"/>
              <a:ext cx="864" cy="231"/>
            </a:xfrm>
            <a:prstGeom prst="rect">
              <a:avLst/>
            </a:prstGeom>
            <a:noFill/>
            <a:ln w="88900">
              <a:noFill/>
            </a:ln>
          </p:spPr>
          <p:txBody>
            <a:bodyPr>
              <a:spAutoFit/>
            </a:bodyPr>
            <a:lstStyle/>
            <a:p>
              <a:pPr lvl="0">
                <a:spcBef>
                  <a:spcPct val="50000"/>
                </a:spcBef>
              </a:pPr>
              <a:r>
                <a:rPr lang="zh-CN" altLang="en-US" sz="1800" b="1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8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DH      DL</a:t>
              </a:r>
            </a:p>
          </p:txBody>
        </p:sp>
        <p:sp>
          <p:nvSpPr>
            <p:cNvPr id="265293" name="文本框 265292"/>
            <p:cNvSpPr txBox="1"/>
            <p:nvPr/>
          </p:nvSpPr>
          <p:spPr>
            <a:xfrm>
              <a:off x="1056" y="1344"/>
              <a:ext cx="576" cy="231"/>
            </a:xfrm>
            <a:prstGeom prst="rect">
              <a:avLst/>
            </a:prstGeom>
            <a:noFill/>
            <a:ln w="88900">
              <a:noFill/>
            </a:ln>
          </p:spPr>
          <p:txBody>
            <a:bodyPr>
              <a:spAutoFit/>
            </a:bodyPr>
            <a:lstStyle/>
            <a:p>
              <a:pPr lvl="0">
                <a:spcBef>
                  <a:spcPct val="50000"/>
                </a:spcBef>
              </a:pPr>
              <a:r>
                <a:rPr lang="zh-CN" altLang="en-US" sz="1800" b="1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zh-CN" altLang="en-US" sz="18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</a:t>
              </a:r>
              <a:r>
                <a:rPr lang="en-US" altLang="zh-CN" sz="18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SP</a:t>
              </a:r>
            </a:p>
          </p:txBody>
        </p:sp>
        <p:sp>
          <p:nvSpPr>
            <p:cNvPr id="265294" name="文本框 265293"/>
            <p:cNvSpPr txBox="1"/>
            <p:nvPr/>
          </p:nvSpPr>
          <p:spPr>
            <a:xfrm>
              <a:off x="1056" y="1536"/>
              <a:ext cx="528" cy="231"/>
            </a:xfrm>
            <a:prstGeom prst="rect">
              <a:avLst/>
            </a:prstGeom>
            <a:noFill/>
            <a:ln w="88900">
              <a:noFill/>
            </a:ln>
          </p:spPr>
          <p:txBody>
            <a:bodyPr>
              <a:spAutoFit/>
            </a:bodyPr>
            <a:lstStyle/>
            <a:p>
              <a:pPr lvl="0">
                <a:spcBef>
                  <a:spcPct val="50000"/>
                </a:spcBef>
              </a:pPr>
              <a:r>
                <a:rPr lang="zh-CN" altLang="en-US" sz="1800" b="1">
                  <a:latin typeface="Times New Roman" panose="02020603050405020304" pitchFamily="18" charset="0"/>
                  <a:ea typeface="宋体" panose="02010600030101010101" pitchFamily="2" charset="-122"/>
                </a:rPr>
                <a:t>    </a:t>
              </a:r>
              <a:r>
                <a:rPr lang="en-US" altLang="zh-CN" sz="18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BP</a:t>
              </a:r>
            </a:p>
          </p:txBody>
        </p:sp>
        <p:sp>
          <p:nvSpPr>
            <p:cNvPr id="265295" name="文本框 265294"/>
            <p:cNvSpPr txBox="1"/>
            <p:nvPr/>
          </p:nvSpPr>
          <p:spPr>
            <a:xfrm>
              <a:off x="1056" y="1728"/>
              <a:ext cx="576" cy="231"/>
            </a:xfrm>
            <a:prstGeom prst="rect">
              <a:avLst/>
            </a:prstGeom>
            <a:noFill/>
            <a:ln w="88900">
              <a:noFill/>
            </a:ln>
          </p:spPr>
          <p:txBody>
            <a:bodyPr>
              <a:spAutoFit/>
            </a:bodyPr>
            <a:lstStyle/>
            <a:p>
              <a:pPr lvl="0">
                <a:spcBef>
                  <a:spcPct val="50000"/>
                </a:spcBef>
              </a:pPr>
              <a:r>
                <a:rPr lang="zh-CN" altLang="en-US" sz="1800" b="1">
                  <a:latin typeface="Times New Roman" panose="02020603050405020304" pitchFamily="18" charset="0"/>
                  <a:ea typeface="宋体" panose="02010600030101010101" pitchFamily="2" charset="-122"/>
                </a:rPr>
                <a:t>    </a:t>
              </a:r>
              <a:r>
                <a:rPr lang="en-US" altLang="zh-CN" sz="18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SI</a:t>
              </a:r>
            </a:p>
          </p:txBody>
        </p:sp>
        <p:sp>
          <p:nvSpPr>
            <p:cNvPr id="265296" name="文本框 265295"/>
            <p:cNvSpPr txBox="1"/>
            <p:nvPr/>
          </p:nvSpPr>
          <p:spPr>
            <a:xfrm>
              <a:off x="1104" y="1920"/>
              <a:ext cx="480" cy="231"/>
            </a:xfrm>
            <a:prstGeom prst="rect">
              <a:avLst/>
            </a:prstGeom>
            <a:noFill/>
            <a:ln w="88900">
              <a:noFill/>
            </a:ln>
          </p:spPr>
          <p:txBody>
            <a:bodyPr>
              <a:spAutoFit/>
            </a:bodyPr>
            <a:lstStyle/>
            <a:p>
              <a:pPr lvl="0">
                <a:spcBef>
                  <a:spcPct val="50000"/>
                </a:spcBef>
              </a:pPr>
              <a:r>
                <a:rPr lang="zh-CN" altLang="en-US" sz="18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 </a:t>
              </a:r>
              <a:r>
                <a:rPr lang="en-US" altLang="zh-CN" sz="1800" b="1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DI</a:t>
              </a:r>
            </a:p>
          </p:txBody>
        </p:sp>
      </p:grpSp>
      <p:sp>
        <p:nvSpPr>
          <p:cNvPr id="265297" name="文本框 265296"/>
          <p:cNvSpPr txBox="1"/>
          <p:nvPr/>
        </p:nvSpPr>
        <p:spPr>
          <a:xfrm>
            <a:off x="685800" y="1143000"/>
            <a:ext cx="838200" cy="901700"/>
          </a:xfrm>
          <a:prstGeom prst="rect">
            <a:avLst/>
          </a:prstGeom>
          <a:noFill/>
          <a:ln w="88900">
            <a:noFill/>
          </a:ln>
        </p:spPr>
        <p:txBody>
          <a:bodyPr>
            <a:spAutoFit/>
          </a:bodyPr>
          <a:lstStyle/>
          <a:p>
            <a:pPr lvl="0">
              <a:lnSpc>
                <a:spcPct val="65000"/>
              </a:lnSpc>
              <a:spcBef>
                <a:spcPct val="50000"/>
              </a:spcBef>
            </a:pPr>
            <a:r>
              <a:rPr lang="zh-CN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通用</a:t>
            </a:r>
          </a:p>
          <a:p>
            <a:pPr lvl="0">
              <a:lnSpc>
                <a:spcPct val="65000"/>
              </a:lnSpc>
              <a:spcBef>
                <a:spcPct val="50000"/>
              </a:spcBef>
            </a:pPr>
            <a:r>
              <a:rPr lang="zh-CN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寄存</a:t>
            </a:r>
          </a:p>
          <a:p>
            <a:pPr lvl="0">
              <a:lnSpc>
                <a:spcPct val="65000"/>
              </a:lnSpc>
              <a:spcBef>
                <a:spcPct val="50000"/>
              </a:spcBef>
            </a:pPr>
            <a:r>
              <a:rPr lang="zh-CN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器</a:t>
            </a:r>
            <a:endParaRPr lang="zh-CN" altLang="en-US" sz="18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5298" name="文本框 265297"/>
          <p:cNvSpPr txBox="1"/>
          <p:nvPr/>
        </p:nvSpPr>
        <p:spPr>
          <a:xfrm>
            <a:off x="4876800" y="381000"/>
            <a:ext cx="685800" cy="915988"/>
          </a:xfrm>
          <a:prstGeom prst="rect">
            <a:avLst/>
          </a:prstGeom>
          <a:noFill/>
          <a:ln w="88900">
            <a:noFill/>
          </a:ln>
        </p:spPr>
        <p:txBody>
          <a:bodyPr>
            <a:spAutoFit/>
          </a:bodyPr>
          <a:lstStyle/>
          <a:p>
            <a:pPr lvl="0">
              <a:spcBef>
                <a:spcPct val="50000"/>
              </a:spcBef>
            </a:pPr>
            <a:r>
              <a:rPr lang="zh-CN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地址加法器</a:t>
            </a:r>
            <a:endParaRPr lang="zh-CN" altLang="en-US" sz="18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5299" name="文本框 265298"/>
          <p:cNvSpPr txBox="1"/>
          <p:nvPr/>
        </p:nvSpPr>
        <p:spPr>
          <a:xfrm>
            <a:off x="5257800" y="5105400"/>
            <a:ext cx="1905000" cy="366713"/>
          </a:xfrm>
          <a:prstGeom prst="rect">
            <a:avLst/>
          </a:prstGeom>
          <a:noFill/>
          <a:ln w="88900">
            <a:noFill/>
          </a:ln>
        </p:spPr>
        <p:txBody>
          <a:bodyPr>
            <a:spAutoFit/>
          </a:bodyPr>
          <a:lstStyle/>
          <a:p>
            <a:pPr lvl="0">
              <a:spcBef>
                <a:spcPct val="50000"/>
              </a:spcBef>
            </a:pPr>
            <a:r>
              <a:rPr lang="zh-CN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指令队列缓冲器</a:t>
            </a:r>
            <a:endParaRPr lang="zh-CN" altLang="en-US" sz="18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5300" name="文本框 265299">
            <a:hlinkClick r:id="" action="ppaction://noaction"/>
          </p:cNvPr>
          <p:cNvSpPr txBox="1"/>
          <p:nvPr/>
        </p:nvSpPr>
        <p:spPr>
          <a:xfrm>
            <a:off x="3184525" y="6075363"/>
            <a:ext cx="1828800" cy="336550"/>
          </a:xfrm>
          <a:prstGeom prst="rect">
            <a:avLst/>
          </a:prstGeom>
          <a:noFill/>
          <a:ln w="88900">
            <a:noFill/>
          </a:ln>
        </p:spPr>
        <p:txBody>
          <a:bodyPr>
            <a:spAutoFit/>
          </a:bodyPr>
          <a:lstStyle/>
          <a:p>
            <a:pPr lvl="0">
              <a:spcBef>
                <a:spcPct val="50000"/>
              </a:spcBef>
            </a:pPr>
            <a:r>
              <a:rPr lang="zh-CN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执行部件 （</a:t>
            </a:r>
            <a:r>
              <a:rPr lang="en-US" altLang="zh-CN" sz="16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EU)</a:t>
            </a:r>
          </a:p>
        </p:txBody>
      </p:sp>
      <p:sp>
        <p:nvSpPr>
          <p:cNvPr id="265301" name="文本框 265300">
            <a:hlinkClick r:id="" action="ppaction://noaction"/>
          </p:cNvPr>
          <p:cNvSpPr txBox="1"/>
          <p:nvPr/>
        </p:nvSpPr>
        <p:spPr>
          <a:xfrm>
            <a:off x="5715000" y="6096000"/>
            <a:ext cx="2590800" cy="336550"/>
          </a:xfrm>
          <a:prstGeom prst="rect">
            <a:avLst/>
          </a:prstGeom>
          <a:noFill/>
          <a:ln w="88900">
            <a:noFill/>
          </a:ln>
        </p:spPr>
        <p:txBody>
          <a:bodyPr>
            <a:spAutoFit/>
          </a:bodyPr>
          <a:lstStyle/>
          <a:p>
            <a:pPr lvl="0">
              <a:spcBef>
                <a:spcPct val="50000"/>
              </a:spcBef>
            </a:pPr>
            <a:r>
              <a:rPr lang="zh-CN" alt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总线接口部件 （</a:t>
            </a:r>
            <a:r>
              <a:rPr lang="en-US" altLang="zh-CN" sz="16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BIU)</a:t>
            </a:r>
          </a:p>
        </p:txBody>
      </p:sp>
      <p:sp>
        <p:nvSpPr>
          <p:cNvPr id="265302" name="直接连接符 265301"/>
          <p:cNvSpPr/>
          <p:nvPr/>
        </p:nvSpPr>
        <p:spPr>
          <a:xfrm flipH="1">
            <a:off x="3730625" y="3730625"/>
            <a:ext cx="381000" cy="306388"/>
          </a:xfrm>
          <a:prstGeom prst="line">
            <a:avLst/>
          </a:prstGeom>
          <a:ln w="12700" cap="flat" cmpd="sng">
            <a:solidFill>
              <a:srgbClr val="A50021"/>
            </a:solidFill>
            <a:prstDash val="solid"/>
            <a:headEnd type="none" w="med" len="med"/>
            <a:tailEnd type="none" w="sm" len="sm"/>
          </a:ln>
        </p:spPr>
      </p:sp>
      <p:sp>
        <p:nvSpPr>
          <p:cNvPr id="265303" name="文本框 265302"/>
          <p:cNvSpPr txBox="1"/>
          <p:nvPr/>
        </p:nvSpPr>
        <p:spPr>
          <a:xfrm>
            <a:off x="3409950" y="3357245"/>
            <a:ext cx="1466850" cy="337185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lvl="0">
              <a:spcBef>
                <a:spcPct val="50000"/>
              </a:spcBef>
            </a:pPr>
            <a:r>
              <a:rPr lang="zh-CN" altLang="en-US" sz="16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数据总线</a:t>
            </a:r>
            <a:r>
              <a:rPr lang="en-US" altLang="zh-CN" sz="16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16</a:t>
            </a:r>
            <a:r>
              <a:rPr lang="zh-CN" altLang="en-US" sz="16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位</a:t>
            </a:r>
          </a:p>
        </p:txBody>
      </p:sp>
      <p:sp>
        <p:nvSpPr>
          <p:cNvPr id="265304" name="直接连接符 265303"/>
          <p:cNvSpPr/>
          <p:nvPr/>
        </p:nvSpPr>
        <p:spPr>
          <a:xfrm flipH="1">
            <a:off x="7086600" y="228600"/>
            <a:ext cx="381000" cy="304800"/>
          </a:xfrm>
          <a:prstGeom prst="line">
            <a:avLst/>
          </a:prstGeom>
          <a:ln w="12700" cap="flat" cmpd="sng">
            <a:solidFill>
              <a:srgbClr val="A50021"/>
            </a:solidFill>
            <a:prstDash val="solid"/>
            <a:headEnd type="none" w="med" len="med"/>
            <a:tailEnd type="none" w="sm" len="sm"/>
          </a:ln>
        </p:spPr>
      </p:sp>
      <p:sp>
        <p:nvSpPr>
          <p:cNvPr id="265305" name="文本框 265304"/>
          <p:cNvSpPr txBox="1"/>
          <p:nvPr/>
        </p:nvSpPr>
        <p:spPr>
          <a:xfrm>
            <a:off x="6934200" y="457200"/>
            <a:ext cx="914400" cy="33655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lvl="0">
              <a:spcBef>
                <a:spcPct val="50000"/>
              </a:spcBef>
            </a:pPr>
            <a:r>
              <a:rPr lang="en-US" altLang="zh-CN" sz="16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20</a:t>
            </a:r>
            <a:r>
              <a:rPr lang="zh-CN" altLang="en-US" sz="16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位</a:t>
            </a:r>
          </a:p>
        </p:txBody>
      </p:sp>
      <p:sp>
        <p:nvSpPr>
          <p:cNvPr id="265306" name="直接连接符 265305"/>
          <p:cNvSpPr/>
          <p:nvPr/>
        </p:nvSpPr>
        <p:spPr>
          <a:xfrm flipH="1">
            <a:off x="7239000" y="1295400"/>
            <a:ext cx="304800" cy="304800"/>
          </a:xfrm>
          <a:prstGeom prst="line">
            <a:avLst/>
          </a:prstGeom>
          <a:ln w="12700" cap="flat" cmpd="sng">
            <a:solidFill>
              <a:srgbClr val="A50021"/>
            </a:solidFill>
            <a:prstDash val="solid"/>
            <a:headEnd type="none" w="med" len="med"/>
            <a:tailEnd type="none" w="sm" len="sm"/>
          </a:ln>
        </p:spPr>
      </p:sp>
      <p:sp>
        <p:nvSpPr>
          <p:cNvPr id="265307" name="文本框 265306"/>
          <p:cNvSpPr txBox="1"/>
          <p:nvPr/>
        </p:nvSpPr>
        <p:spPr>
          <a:xfrm>
            <a:off x="7086600" y="1524000"/>
            <a:ext cx="838200" cy="33655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lvl="0">
              <a:spcBef>
                <a:spcPct val="50000"/>
              </a:spcBef>
            </a:pPr>
            <a:r>
              <a:rPr lang="en-US" altLang="zh-CN" sz="16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16</a:t>
            </a:r>
            <a:r>
              <a:rPr lang="zh-CN" altLang="en-US" sz="1600" b="1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位</a:t>
            </a:r>
          </a:p>
        </p:txBody>
      </p:sp>
      <p:sp>
        <p:nvSpPr>
          <p:cNvPr id="265308" name="直接连接符 265307"/>
          <p:cNvSpPr/>
          <p:nvPr/>
        </p:nvSpPr>
        <p:spPr>
          <a:xfrm flipH="1">
            <a:off x="4953000" y="4648200"/>
            <a:ext cx="304800" cy="304800"/>
          </a:xfrm>
          <a:prstGeom prst="line">
            <a:avLst/>
          </a:prstGeom>
          <a:ln w="12700" cap="flat" cmpd="sng">
            <a:solidFill>
              <a:srgbClr val="A50021"/>
            </a:solidFill>
            <a:prstDash val="solid"/>
            <a:headEnd type="none" w="med" len="med"/>
            <a:tailEnd type="none" w="sm" len="sm"/>
          </a:ln>
        </p:spPr>
      </p:sp>
      <p:sp>
        <p:nvSpPr>
          <p:cNvPr id="265309" name="文本框 265308"/>
          <p:cNvSpPr txBox="1"/>
          <p:nvPr/>
        </p:nvSpPr>
        <p:spPr>
          <a:xfrm>
            <a:off x="4800600" y="4876800"/>
            <a:ext cx="762000" cy="33655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lvl="0">
              <a:spcBef>
                <a:spcPct val="50000"/>
              </a:spcBef>
            </a:pPr>
            <a:r>
              <a:rPr lang="en-US" altLang="zh-CN" sz="1600" b="1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r>
              <a:rPr lang="zh-CN" altLang="en-US" sz="1600" b="1">
                <a:solidFill>
                  <a:srgbClr val="0066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位</a:t>
            </a:r>
          </a:p>
        </p:txBody>
      </p:sp>
      <p:sp>
        <p:nvSpPr>
          <p:cNvPr id="265310" name="文本框 265309"/>
          <p:cNvSpPr txBox="1"/>
          <p:nvPr/>
        </p:nvSpPr>
        <p:spPr>
          <a:xfrm>
            <a:off x="1641477" y="162719"/>
            <a:ext cx="2992437" cy="457200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lvl="0">
              <a:spcBef>
                <a:spcPct val="5000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8086CPU</a:t>
            </a: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内部结构图</a:t>
            </a:r>
          </a:p>
        </p:txBody>
      </p:sp>
      <p:sp>
        <p:nvSpPr>
          <p:cNvPr id="6" name="文本框 5">
            <a:hlinkClick r:id="" action="ppaction://noaction"/>
          </p:cNvPr>
          <p:cNvSpPr txBox="1"/>
          <p:nvPr/>
        </p:nvSpPr>
        <p:spPr>
          <a:xfrm>
            <a:off x="1542415" y="4004945"/>
            <a:ext cx="1524000" cy="368300"/>
          </a:xfrm>
          <a:prstGeom prst="rect">
            <a:avLst/>
          </a:prstGeom>
          <a:noFill/>
          <a:ln w="88900">
            <a:noFill/>
          </a:ln>
        </p:spPr>
        <p:txBody>
          <a:bodyPr>
            <a:spAutoFit/>
          </a:bodyPr>
          <a:lstStyle/>
          <a:p>
            <a:pPr lvl="0">
              <a:spcBef>
                <a:spcPct val="50000"/>
              </a:spcBef>
            </a:pPr>
            <a:r>
              <a:rPr lang="zh-CN" altLang="en-US" sz="18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暂存寄存器</a:t>
            </a:r>
            <a:endParaRPr lang="zh-CN" altLang="en-US" sz="1800" b="1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865120" y="937895"/>
            <a:ext cx="66929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AX</a:t>
            </a:r>
          </a:p>
          <a:p>
            <a:r>
              <a:rPr lang="en-US" altLang="zh-CN"/>
              <a:t>BX</a:t>
            </a:r>
          </a:p>
          <a:p>
            <a:r>
              <a:rPr lang="en-US" altLang="zh-CN"/>
              <a:t>CX</a:t>
            </a:r>
          </a:p>
          <a:p>
            <a:r>
              <a:rPr lang="en-US" altLang="zh-CN"/>
              <a:t>DX</a:t>
            </a:r>
          </a:p>
        </p:txBody>
      </p:sp>
    </p:spTree>
  </p:cSld>
  <p:clrMapOvr>
    <a:masterClrMapping/>
  </p:clrMapOvr>
  <p:transition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5" name="文本框 269314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69321" name="矩形 269320"/>
          <p:cNvSpPr/>
          <p:nvPr/>
        </p:nvSpPr>
        <p:spPr>
          <a:xfrm>
            <a:off x="179388" y="836613"/>
            <a:ext cx="3960564" cy="503237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 algn="l"/>
            <a:r>
              <a:rPr lang="zh-CN" altLang="en-US" sz="28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二、</a:t>
            </a:r>
            <a:r>
              <a:rPr lang="en-US" altLang="zh-CN" sz="28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8086</a:t>
            </a:r>
            <a:r>
              <a:rPr lang="zh-CN" altLang="en-US" sz="28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的寄存器结构</a:t>
            </a:r>
          </a:p>
        </p:txBody>
      </p:sp>
      <p:sp>
        <p:nvSpPr>
          <p:cNvPr id="269323" name="矩形 269322"/>
          <p:cNvSpPr/>
          <p:nvPr/>
        </p:nvSpPr>
        <p:spPr>
          <a:xfrm>
            <a:off x="250825" y="2349500"/>
            <a:ext cx="2555875" cy="24003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95000"/>
              </a:lnSpc>
              <a:spcBef>
                <a:spcPct val="5000"/>
              </a:spcBef>
              <a:buClrTx/>
              <a:buNone/>
            </a:pPr>
            <a:r>
              <a:rPr lang="zh-CN" altLang="en-US" sz="2400" b="1" dirty="0">
                <a:solidFill>
                  <a:srgbClr val="FF00FF"/>
                </a:solidFill>
              </a:rPr>
              <a:t>寄存器：</a:t>
            </a:r>
            <a:r>
              <a:rPr lang="zh-CN" altLang="en-US" sz="2400" b="1" dirty="0"/>
              <a:t>是</a:t>
            </a:r>
            <a:r>
              <a:rPr lang="en-US" altLang="zh-CN" sz="2400" b="1" dirty="0"/>
              <a:t>CPU</a:t>
            </a:r>
            <a:r>
              <a:rPr lang="zh-CN" altLang="en-US" sz="2400" b="1" dirty="0"/>
              <a:t>内部</a:t>
            </a:r>
            <a:r>
              <a:rPr lang="zh-CN" altLang="en-US" sz="2400" b="1" dirty="0">
                <a:solidFill>
                  <a:srgbClr val="0000FF"/>
                </a:solidFill>
              </a:rPr>
              <a:t>临时</a:t>
            </a:r>
            <a:r>
              <a:rPr lang="zh-CN" altLang="en-US" sz="2400" b="1" dirty="0"/>
              <a:t>存放数据的部件。</a:t>
            </a:r>
          </a:p>
        </p:txBody>
      </p:sp>
      <p:pic>
        <p:nvPicPr>
          <p:cNvPr id="269324" name="图片 2693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300" y="1484313"/>
            <a:ext cx="4537075" cy="43211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标题 154627"/>
          <p:cNvSpPr txBox="1"/>
          <p:nvPr/>
        </p:nvSpPr>
        <p:spPr>
          <a:xfrm>
            <a:off x="2627784" y="188640"/>
            <a:ext cx="3527425" cy="431800"/>
          </a:xfrm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>
                <a:solidFill>
                  <a:srgbClr val="FF0000"/>
                </a:solidFill>
                <a:ea typeface="隶书" panose="02010509060101010101" pitchFamily="49" charset="-122"/>
              </a:rPr>
              <a:t>2.1 8086</a:t>
            </a:r>
            <a:r>
              <a:rPr lang="zh-CN" altLang="en-US" sz="3200" b="1">
                <a:solidFill>
                  <a:srgbClr val="FF0000"/>
                </a:solidFill>
                <a:ea typeface="隶书" panose="02010509060101010101" pitchFamily="49" charset="-122"/>
              </a:rPr>
              <a:t>微处理器</a:t>
            </a:r>
            <a:endParaRPr lang="zh-CN" alt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9" name="文本框 270338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70343" name="文本框 270342">
            <a:hlinkClick r:id="" action="ppaction://noaction"/>
          </p:cNvPr>
          <p:cNvSpPr txBox="1"/>
          <p:nvPr/>
        </p:nvSpPr>
        <p:spPr>
          <a:xfrm>
            <a:off x="196850" y="855663"/>
            <a:ext cx="30067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、数据</a:t>
            </a:r>
            <a:r>
              <a:rPr lang="zh-CN" altLang="en-US" sz="2400" b="1" dirty="0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通用寄存器</a:t>
            </a:r>
            <a:endParaRPr lang="zh-CN" altLang="en-US" sz="2400" b="1" dirty="0">
              <a:solidFill>
                <a:srgbClr val="0000CC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70344" name="矩形 270343"/>
          <p:cNvSpPr/>
          <p:nvPr/>
        </p:nvSpPr>
        <p:spPr>
          <a:xfrm>
            <a:off x="158750" y="1414463"/>
            <a:ext cx="4124325" cy="1824037"/>
          </a:xfrm>
          <a:prstGeom prst="rect">
            <a:avLst/>
          </a:prstGeom>
          <a:solidFill>
            <a:srgbClr val="C0C0C0"/>
          </a:solidFill>
          <a:ln w="9525">
            <a:noFill/>
          </a:ln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95000"/>
              </a:lnSpc>
              <a:spcBef>
                <a:spcPct val="5000"/>
              </a:spcBef>
              <a:buClrTx/>
              <a:buNone/>
            </a:pPr>
            <a:r>
              <a:rPr lang="zh-CN" altLang="en-US" sz="2400" b="1" dirty="0"/>
              <a:t>包括</a:t>
            </a:r>
            <a:r>
              <a:rPr lang="en-US" altLang="zh-CN" sz="2400" b="1">
                <a:solidFill>
                  <a:srgbClr val="FF00FF"/>
                </a:solidFill>
              </a:rPr>
              <a:t>AX</a:t>
            </a:r>
            <a:r>
              <a:rPr lang="en-US" altLang="zh-CN" sz="2400" b="1"/>
              <a:t>,</a:t>
            </a:r>
            <a:r>
              <a:rPr lang="en-US" altLang="zh-CN" sz="2400" b="1">
                <a:solidFill>
                  <a:srgbClr val="FF00FF"/>
                </a:solidFill>
              </a:rPr>
              <a:t>BX</a:t>
            </a:r>
            <a:r>
              <a:rPr lang="en-US" altLang="zh-CN" sz="2400" b="1"/>
              <a:t>,</a:t>
            </a:r>
            <a:r>
              <a:rPr lang="en-US" altLang="zh-CN" sz="2400" b="1">
                <a:solidFill>
                  <a:srgbClr val="FF00FF"/>
                </a:solidFill>
              </a:rPr>
              <a:t>CX</a:t>
            </a:r>
            <a:r>
              <a:rPr lang="zh-CN" altLang="en-US" sz="2400" b="1" dirty="0"/>
              <a:t>和</a:t>
            </a:r>
            <a:r>
              <a:rPr lang="en-US" altLang="zh-CN" sz="2400" b="1">
                <a:solidFill>
                  <a:srgbClr val="FF00FF"/>
                </a:solidFill>
              </a:rPr>
              <a:t>DX</a:t>
            </a:r>
            <a:r>
              <a:rPr lang="zh-CN" altLang="en-US" sz="2400" b="1" dirty="0"/>
              <a:t>四个</a:t>
            </a:r>
            <a:r>
              <a:rPr lang="en-US" altLang="zh-CN" sz="2400" b="1">
                <a:solidFill>
                  <a:srgbClr val="FF00FF"/>
                </a:solidFill>
              </a:rPr>
              <a:t>16</a:t>
            </a:r>
            <a:r>
              <a:rPr lang="zh-CN" altLang="en-US" sz="2400" b="1" dirty="0">
                <a:solidFill>
                  <a:srgbClr val="FF00FF"/>
                </a:solidFill>
              </a:rPr>
              <a:t>位</a:t>
            </a:r>
            <a:r>
              <a:rPr lang="zh-CN" altLang="en-US" sz="2400" b="1" dirty="0"/>
              <a:t>寄存器。其中任意一个寄存器均可分为两个</a:t>
            </a:r>
            <a:r>
              <a:rPr lang="en-US" altLang="zh-CN" sz="2400" b="1"/>
              <a:t>8</a:t>
            </a:r>
            <a:r>
              <a:rPr lang="zh-CN" altLang="en-US" sz="2400" b="1" dirty="0"/>
              <a:t>位寄存器使用，它们的特殊用途和隐含性质如下表所示 </a:t>
            </a:r>
          </a:p>
        </p:txBody>
      </p:sp>
      <p:sp>
        <p:nvSpPr>
          <p:cNvPr id="270346" name="文本框 270345"/>
          <p:cNvSpPr txBox="1"/>
          <p:nvPr/>
        </p:nvSpPr>
        <p:spPr>
          <a:xfrm>
            <a:off x="4291013" y="887413"/>
            <a:ext cx="4852987" cy="2527300"/>
          </a:xfrm>
          <a:prstGeom prst="rect">
            <a:avLst/>
          </a:prstGeom>
          <a:solidFill>
            <a:srgbClr val="A50021"/>
          </a:solidFill>
          <a:ln w="9525">
            <a:noFill/>
          </a:ln>
        </p:spPr>
        <p:txBody>
          <a:bodyPr>
            <a:spAutoFit/>
          </a:bodyPr>
          <a:lstStyle/>
          <a:p>
            <a:pPr lvl="0">
              <a:spcBef>
                <a:spcPct val="50000"/>
              </a:spcBef>
              <a:buClrTx/>
            </a:pPr>
            <a:r>
              <a:rPr lang="zh-CN" altLang="en-US" sz="2800" b="1" dirty="0">
                <a:solidFill>
                  <a:srgbClr val="FFFF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rgbClr val="FFFF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通用寄存器中的 </a:t>
            </a:r>
            <a:r>
              <a:rPr lang="en-US" altLang="zh-CN" sz="2400" b="1">
                <a:solidFill>
                  <a:srgbClr val="FFFF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4 </a:t>
            </a:r>
            <a:r>
              <a:rPr lang="zh-CN" altLang="en-US" sz="2400" b="1" dirty="0">
                <a:solidFill>
                  <a:srgbClr val="FFFF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个数据寄存器可以分成</a:t>
            </a:r>
            <a:r>
              <a:rPr lang="en-US" altLang="zh-CN" sz="2400" b="1">
                <a:solidFill>
                  <a:srgbClr val="FFFF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8</a:t>
            </a:r>
            <a:r>
              <a:rPr lang="zh-CN" altLang="en-US" sz="2400" b="1" dirty="0">
                <a:solidFill>
                  <a:srgbClr val="FFFF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个</a:t>
            </a:r>
            <a:r>
              <a:rPr lang="en-US" altLang="zh-CN" sz="2400" b="1">
                <a:solidFill>
                  <a:srgbClr val="FFFF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8</a:t>
            </a:r>
            <a:r>
              <a:rPr lang="zh-CN" altLang="en-US" sz="2400" b="1" dirty="0">
                <a:solidFill>
                  <a:srgbClr val="FFFF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位寄存器使用：</a:t>
            </a:r>
          </a:p>
          <a:p>
            <a:pPr lvl="0">
              <a:lnSpc>
                <a:spcPct val="40000"/>
              </a:lnSpc>
              <a:spcBef>
                <a:spcPct val="50000"/>
              </a:spcBef>
              <a:buClrTx/>
            </a:pPr>
            <a:r>
              <a:rPr lang="en-US" altLang="zh-CN" sz="2400" b="1">
                <a:solidFill>
                  <a:srgbClr val="FFFF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AX→AH</a:t>
            </a:r>
            <a:r>
              <a:rPr lang="zh-CN" altLang="en-US" sz="2400" b="1">
                <a:solidFill>
                  <a:srgbClr val="FFFF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400" b="1">
                <a:solidFill>
                  <a:srgbClr val="FFFF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AL       BX →BH</a:t>
            </a:r>
            <a:r>
              <a:rPr lang="zh-CN" altLang="en-US" sz="2400" b="1">
                <a:solidFill>
                  <a:srgbClr val="FFFF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400" b="1">
                <a:solidFill>
                  <a:srgbClr val="FFFF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BL</a:t>
            </a:r>
          </a:p>
          <a:p>
            <a:pPr lvl="0">
              <a:lnSpc>
                <a:spcPct val="40000"/>
              </a:lnSpc>
              <a:spcBef>
                <a:spcPct val="50000"/>
              </a:spcBef>
              <a:buClrTx/>
            </a:pPr>
            <a:r>
              <a:rPr lang="en-US" altLang="zh-CN" sz="2400" b="1">
                <a:solidFill>
                  <a:srgbClr val="FFFF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CX→CH</a:t>
            </a:r>
            <a:r>
              <a:rPr lang="zh-CN" altLang="en-US" sz="2400" b="1">
                <a:solidFill>
                  <a:srgbClr val="FFFF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400" b="1">
                <a:solidFill>
                  <a:srgbClr val="FFFF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CL       DX →DH</a:t>
            </a:r>
            <a:r>
              <a:rPr lang="zh-CN" altLang="en-US" sz="2400" b="1" dirty="0">
                <a:solidFill>
                  <a:srgbClr val="FFFF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400" b="1">
                <a:solidFill>
                  <a:srgbClr val="FFFF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DL</a:t>
            </a:r>
          </a:p>
          <a:p>
            <a:pPr lvl="0">
              <a:lnSpc>
                <a:spcPct val="40000"/>
              </a:lnSpc>
              <a:spcBef>
                <a:spcPct val="50000"/>
              </a:spcBef>
              <a:buClrTx/>
            </a:pPr>
            <a:r>
              <a:rPr lang="zh-CN" altLang="en-US" sz="2400" b="1" dirty="0">
                <a:solidFill>
                  <a:srgbClr val="FFFF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程序员可利用数据寄存器的这种</a:t>
            </a:r>
          </a:p>
          <a:p>
            <a:pPr lvl="0">
              <a:lnSpc>
                <a:spcPct val="40000"/>
              </a:lnSpc>
              <a:spcBef>
                <a:spcPct val="50000"/>
              </a:spcBef>
              <a:buClrTx/>
            </a:pPr>
            <a:r>
              <a:rPr lang="zh-CN" altLang="en-US" sz="2400" b="1" dirty="0">
                <a:solidFill>
                  <a:srgbClr val="FFFF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“可分可合”的特性，灵活地处理</a:t>
            </a:r>
          </a:p>
          <a:p>
            <a:pPr lvl="0">
              <a:lnSpc>
                <a:spcPct val="40000"/>
              </a:lnSpc>
              <a:spcBef>
                <a:spcPct val="50000"/>
              </a:spcBef>
              <a:buClrTx/>
            </a:pPr>
            <a:r>
              <a:rPr lang="zh-CN" altLang="en-US" sz="2400" b="1" dirty="0">
                <a:solidFill>
                  <a:srgbClr val="FFFF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字</a:t>
            </a:r>
            <a:r>
              <a:rPr lang="en-US" altLang="zh-CN" sz="2400" b="1">
                <a:solidFill>
                  <a:srgbClr val="FFFF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2400" b="1" dirty="0">
                <a:solidFill>
                  <a:srgbClr val="FFFF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字节的信息。 </a:t>
            </a:r>
            <a:endParaRPr lang="zh-CN" altLang="en-US" sz="2400" b="1">
              <a:solidFill>
                <a:srgbClr val="FFFFFF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323528" y="3635149"/>
            <a:ext cx="8315325" cy="129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15000"/>
              </a:spcBef>
            </a:pPr>
            <a:r>
              <a:rPr lang="zh-CN" altLang="en-US" b="1" dirty="0">
                <a:solidFill>
                  <a:srgbClr val="0000FF"/>
                </a:solidFill>
                <a:ea typeface="楷体_GB2312" pitchFamily="49" charset="-122"/>
              </a:rPr>
              <a:t>用途</a:t>
            </a:r>
            <a:r>
              <a:rPr lang="zh-CN" altLang="en-US" b="1" dirty="0">
                <a:ea typeface="楷体_GB2312" pitchFamily="49" charset="-122"/>
              </a:rPr>
              <a:t>：存放</a:t>
            </a:r>
            <a:r>
              <a:rPr lang="en-US" altLang="zh-CN" b="1" dirty="0">
                <a:ea typeface="楷体_GB2312" pitchFamily="49" charset="-122"/>
              </a:rPr>
              <a:t>8</a:t>
            </a:r>
            <a:r>
              <a:rPr lang="zh-CN" altLang="en-US" b="1" dirty="0">
                <a:ea typeface="楷体_GB2312" pitchFamily="49" charset="-122"/>
              </a:rPr>
              <a:t>位或</a:t>
            </a:r>
            <a:r>
              <a:rPr lang="en-US" altLang="zh-CN" b="1" dirty="0">
                <a:ea typeface="楷体_GB2312" pitchFamily="49" charset="-122"/>
              </a:rPr>
              <a:t>16</a:t>
            </a:r>
            <a:r>
              <a:rPr lang="zh-CN" altLang="en-US" b="1" dirty="0">
                <a:ea typeface="楷体_GB2312" pitchFamily="49" charset="-122"/>
              </a:rPr>
              <a:t>位操作数或中间结果， 以提高</a:t>
            </a:r>
            <a:r>
              <a:rPr lang="en-US" altLang="zh-CN" b="1" dirty="0">
                <a:ea typeface="楷体_GB2312" pitchFamily="49" charset="-122"/>
              </a:rPr>
              <a:t>CPU</a:t>
            </a:r>
            <a:r>
              <a:rPr lang="zh-CN" altLang="en-US" b="1" dirty="0">
                <a:ea typeface="楷体_GB2312" pitchFamily="49" charset="-122"/>
              </a:rPr>
              <a:t>的</a:t>
            </a:r>
          </a:p>
          <a:p>
            <a:pPr>
              <a:spcBef>
                <a:spcPct val="15000"/>
              </a:spcBef>
            </a:pPr>
            <a:r>
              <a:rPr lang="zh-CN" altLang="en-US" b="1" dirty="0">
                <a:ea typeface="楷体_GB2312" pitchFamily="49" charset="-122"/>
              </a:rPr>
              <a:t>            运算速度（减少存取</a:t>
            </a:r>
            <a:r>
              <a:rPr lang="en-US" altLang="zh-CN" b="1" dirty="0">
                <a:ea typeface="楷体_GB2312" pitchFamily="49" charset="-122"/>
              </a:rPr>
              <a:t>MEM</a:t>
            </a:r>
            <a:r>
              <a:rPr lang="zh-CN" altLang="en-US" b="1" dirty="0">
                <a:ea typeface="楷体_GB2312" pitchFamily="49" charset="-122"/>
              </a:rPr>
              <a:t>的时间）</a:t>
            </a:r>
          </a:p>
          <a:p>
            <a:pPr>
              <a:spcBef>
                <a:spcPct val="15000"/>
              </a:spcBef>
            </a:pPr>
            <a:r>
              <a:rPr lang="zh-CN" altLang="en-US" b="1" dirty="0">
                <a:ea typeface="楷体_GB2312" pitchFamily="49" charset="-122"/>
              </a:rPr>
              <a:t>            </a:t>
            </a:r>
            <a:r>
              <a:rPr lang="zh-CN" altLang="en-US" b="1" dirty="0">
                <a:solidFill>
                  <a:schemeClr val="tx2"/>
                </a:solidFill>
                <a:ea typeface="楷体_GB2312" pitchFamily="49" charset="-122"/>
              </a:rPr>
              <a:t>其中，</a:t>
            </a:r>
            <a:r>
              <a:rPr lang="en-US" altLang="zh-CN" b="1" dirty="0">
                <a:solidFill>
                  <a:schemeClr val="tx2"/>
                </a:solidFill>
                <a:ea typeface="楷体_GB2312" pitchFamily="49" charset="-122"/>
              </a:rPr>
              <a:t>AX</a:t>
            </a:r>
            <a:r>
              <a:rPr lang="zh-CN" altLang="en-US" b="1" dirty="0">
                <a:solidFill>
                  <a:schemeClr val="tx2"/>
                </a:solidFill>
                <a:ea typeface="楷体_GB2312" pitchFamily="49" charset="-122"/>
              </a:rPr>
              <a:t>是</a:t>
            </a:r>
            <a:r>
              <a:rPr lang="en-US" altLang="zh-CN" b="1" dirty="0">
                <a:solidFill>
                  <a:schemeClr val="tx2"/>
                </a:solidFill>
                <a:ea typeface="楷体_GB2312" pitchFamily="49" charset="-122"/>
              </a:rPr>
              <a:t>CPU</a:t>
            </a:r>
            <a:r>
              <a:rPr lang="zh-CN" altLang="en-US" b="1" dirty="0">
                <a:solidFill>
                  <a:schemeClr val="tx2"/>
                </a:solidFill>
                <a:ea typeface="楷体_GB2312" pitchFamily="49" charset="-122"/>
              </a:rPr>
              <a:t>使用最多的一个寄存器，功能最强。</a:t>
            </a:r>
          </a:p>
        </p:txBody>
      </p:sp>
      <p:grpSp>
        <p:nvGrpSpPr>
          <p:cNvPr id="9" name="Group 73"/>
          <p:cNvGrpSpPr/>
          <p:nvPr/>
        </p:nvGrpSpPr>
        <p:grpSpPr bwMode="auto">
          <a:xfrm>
            <a:off x="430684" y="5142696"/>
            <a:ext cx="8101012" cy="836613"/>
            <a:chOff x="657" y="1842"/>
            <a:chExt cx="5103" cy="527"/>
          </a:xfrm>
        </p:grpSpPr>
        <p:sp>
          <p:nvSpPr>
            <p:cNvPr id="10" name="Rectangle 70"/>
            <p:cNvSpPr>
              <a:spLocks noChangeArrowheads="1"/>
            </p:cNvSpPr>
            <p:nvPr/>
          </p:nvSpPr>
          <p:spPr bwMode="auto">
            <a:xfrm>
              <a:off x="657" y="1963"/>
              <a:ext cx="909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200" b="1" dirty="0"/>
                <a:t>AX</a:t>
              </a:r>
              <a:r>
                <a:rPr lang="zh-CN" altLang="en-US" sz="2200" b="1" dirty="0"/>
                <a:t>的作用</a:t>
              </a:r>
            </a:p>
          </p:txBody>
        </p:sp>
        <p:sp>
          <p:nvSpPr>
            <p:cNvPr id="11" name="Rectangle 71"/>
            <p:cNvSpPr>
              <a:spLocks noChangeArrowheads="1"/>
            </p:cNvSpPr>
            <p:nvPr/>
          </p:nvSpPr>
          <p:spPr bwMode="auto">
            <a:xfrm>
              <a:off x="1519" y="1842"/>
              <a:ext cx="4241" cy="5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FF66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zh-CN" altLang="en-US" sz="2200" b="1" dirty="0"/>
                <a:t>算术逻辑运算之前保存一个操作数，之后保存结果 。</a:t>
              </a:r>
            </a:p>
            <a:p>
              <a:pPr>
                <a:spcBef>
                  <a:spcPct val="20000"/>
                </a:spcBef>
              </a:pPr>
              <a:r>
                <a:rPr lang="en-US" altLang="zh-CN" sz="2200" b="1" dirty="0"/>
                <a:t>CPU</a:t>
              </a:r>
              <a:r>
                <a:rPr lang="zh-CN" altLang="en-US" sz="2200" b="1" dirty="0"/>
                <a:t>与 </a:t>
              </a:r>
              <a:r>
                <a:rPr lang="en-US" altLang="zh-CN" sz="2200" b="1" dirty="0"/>
                <a:t>I/O</a:t>
              </a:r>
              <a:r>
                <a:rPr lang="zh-CN" altLang="en-US" sz="2200" b="1" dirty="0"/>
                <a:t>、</a:t>
              </a:r>
              <a:r>
                <a:rPr lang="en-US" altLang="zh-CN" sz="2200" b="1" dirty="0"/>
                <a:t>MEM</a:t>
              </a:r>
              <a:r>
                <a:rPr lang="zh-CN" altLang="en-US" sz="2200" b="1" dirty="0"/>
                <a:t>交换数据所用到的最多的寄存器。</a:t>
              </a:r>
            </a:p>
          </p:txBody>
        </p:sp>
        <p:sp>
          <p:nvSpPr>
            <p:cNvPr id="12" name="AutoShape 72"/>
            <p:cNvSpPr/>
            <p:nvPr/>
          </p:nvSpPr>
          <p:spPr bwMode="auto">
            <a:xfrm>
              <a:off x="1474" y="1888"/>
              <a:ext cx="91" cy="408"/>
            </a:xfrm>
            <a:prstGeom prst="leftBrace">
              <a:avLst>
                <a:gd name="adj1" fmla="val 37363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b="1"/>
            </a:p>
          </p:txBody>
        </p:sp>
      </p:grpSp>
      <p:sp>
        <p:nvSpPr>
          <p:cNvPr id="13" name="标题 154627"/>
          <p:cNvSpPr txBox="1"/>
          <p:nvPr/>
        </p:nvSpPr>
        <p:spPr>
          <a:xfrm>
            <a:off x="2627784" y="188640"/>
            <a:ext cx="3527425" cy="431800"/>
          </a:xfrm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>
                <a:solidFill>
                  <a:srgbClr val="FF0000"/>
                </a:solidFill>
                <a:ea typeface="隶书" panose="02010509060101010101" pitchFamily="49" charset="-122"/>
              </a:rPr>
              <a:t>2.1 8086</a:t>
            </a:r>
            <a:r>
              <a:rPr lang="zh-CN" altLang="en-US" sz="3200" b="1">
                <a:solidFill>
                  <a:srgbClr val="FF0000"/>
                </a:solidFill>
                <a:ea typeface="隶书" panose="02010509060101010101" pitchFamily="49" charset="-122"/>
              </a:rPr>
              <a:t>微处理器</a:t>
            </a:r>
            <a:endParaRPr lang="zh-CN" alt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703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703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03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70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0346" grpId="0" animBg="1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9" name="文本框 270338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pic>
        <p:nvPicPr>
          <p:cNvPr id="270348" name="图片 27034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888" y="3573463"/>
            <a:ext cx="6546850" cy="28082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Rectangle 12"/>
          <p:cNvSpPr>
            <a:spLocks noChangeArrowheads="1"/>
          </p:cNvSpPr>
          <p:nvPr/>
        </p:nvSpPr>
        <p:spPr bwMode="auto">
          <a:xfrm>
            <a:off x="395536" y="836712"/>
            <a:ext cx="8568952" cy="2585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15000"/>
              </a:spcBef>
            </a:pPr>
            <a:r>
              <a:rPr lang="zh-CN" altLang="en-US" sz="2400" b="1" dirty="0">
                <a:solidFill>
                  <a:srgbClr val="0000FF"/>
                </a:solidFill>
              </a:rPr>
              <a:t>特殊用法</a:t>
            </a:r>
            <a:r>
              <a:rPr lang="zh-CN" altLang="en-US" sz="2400" b="1" dirty="0"/>
              <a:t>：</a:t>
            </a:r>
          </a:p>
          <a:p>
            <a:pPr>
              <a:spcBef>
                <a:spcPct val="15000"/>
              </a:spcBef>
            </a:pPr>
            <a:r>
              <a:rPr lang="zh-CN" altLang="en-US" sz="2400" b="1" dirty="0"/>
              <a:t>            </a:t>
            </a:r>
            <a:r>
              <a:rPr lang="en-US" altLang="zh-CN" sz="2400" b="1" dirty="0"/>
              <a:t>AX — </a:t>
            </a:r>
            <a:r>
              <a:rPr lang="zh-CN" altLang="en-US" sz="2400" b="1" dirty="0"/>
              <a:t>算术运算、</a:t>
            </a:r>
            <a:r>
              <a:rPr lang="en-US" altLang="zh-CN" sz="2400" b="1" dirty="0"/>
              <a:t>I/O</a:t>
            </a:r>
            <a:r>
              <a:rPr lang="zh-CN" altLang="en-US" sz="2400" b="1" dirty="0"/>
              <a:t>传输的主要寄存器（</a:t>
            </a:r>
            <a:r>
              <a:rPr lang="en-US" altLang="zh-CN" sz="2400" b="1" dirty="0"/>
              <a:t>Accumulator</a:t>
            </a:r>
            <a:r>
              <a:rPr lang="zh-CN" altLang="en-US" sz="2400" b="1" dirty="0"/>
              <a:t>）</a:t>
            </a:r>
          </a:p>
          <a:p>
            <a:pPr>
              <a:spcBef>
                <a:spcPct val="15000"/>
              </a:spcBef>
            </a:pPr>
            <a:r>
              <a:rPr lang="zh-CN" altLang="en-US" sz="2400" b="1" dirty="0"/>
              <a:t>            </a:t>
            </a:r>
            <a:r>
              <a:rPr lang="en-US" altLang="zh-CN" sz="2400" b="1" dirty="0"/>
              <a:t>BX — </a:t>
            </a:r>
            <a:r>
              <a:rPr lang="zh-CN" altLang="en-US" sz="2400" b="1" dirty="0"/>
              <a:t>计算地址时用作基址</a:t>
            </a:r>
            <a:r>
              <a:rPr lang="en-US" altLang="zh-CN" sz="2400" b="1" dirty="0"/>
              <a:t>Reg. </a:t>
            </a:r>
            <a:r>
              <a:rPr lang="zh-CN" altLang="en-US" sz="2400" b="1" dirty="0"/>
              <a:t>（</a:t>
            </a:r>
            <a:r>
              <a:rPr lang="en-US" altLang="zh-CN" sz="2400" b="1" dirty="0"/>
              <a:t>Base</a:t>
            </a:r>
            <a:r>
              <a:rPr lang="zh-CN" altLang="en-US" sz="2400" b="1" dirty="0"/>
              <a:t>）</a:t>
            </a:r>
          </a:p>
          <a:p>
            <a:pPr>
              <a:spcBef>
                <a:spcPct val="15000"/>
              </a:spcBef>
            </a:pPr>
            <a:r>
              <a:rPr lang="zh-CN" altLang="en-US" sz="2400" b="1" dirty="0"/>
              <a:t>            </a:t>
            </a:r>
            <a:r>
              <a:rPr lang="en-US" altLang="zh-CN" sz="2400" b="1" dirty="0"/>
              <a:t>CX — </a:t>
            </a:r>
            <a:r>
              <a:rPr lang="zh-CN" altLang="en-US" sz="2400" b="1" dirty="0"/>
              <a:t>计数器，循环或移位时用。（</a:t>
            </a:r>
            <a:r>
              <a:rPr lang="en-US" altLang="zh-CN" sz="2400" b="1" dirty="0"/>
              <a:t>Counter</a:t>
            </a:r>
            <a:r>
              <a:rPr lang="zh-CN" altLang="en-US" sz="2400" b="1" dirty="0"/>
              <a:t>）</a:t>
            </a:r>
          </a:p>
          <a:p>
            <a:pPr>
              <a:spcBef>
                <a:spcPct val="15000"/>
              </a:spcBef>
            </a:pPr>
            <a:r>
              <a:rPr lang="zh-CN" altLang="en-US" sz="2400" b="1" dirty="0"/>
              <a:t>            </a:t>
            </a:r>
            <a:r>
              <a:rPr lang="en-US" altLang="zh-CN" sz="2400" b="1" dirty="0"/>
              <a:t>DX—  I/O </a:t>
            </a:r>
            <a:r>
              <a:rPr lang="zh-CN" altLang="en-US" sz="2400" b="1" dirty="0"/>
              <a:t>操作时用于保存</a:t>
            </a:r>
            <a:r>
              <a:rPr lang="en-US" altLang="zh-CN" sz="2400" b="1" dirty="0"/>
              <a:t>I/O</a:t>
            </a:r>
            <a:r>
              <a:rPr lang="zh-CN" altLang="en-US" sz="2400" b="1" dirty="0"/>
              <a:t>端口地址，</a:t>
            </a:r>
          </a:p>
          <a:p>
            <a:pPr>
              <a:spcBef>
                <a:spcPct val="15000"/>
              </a:spcBef>
            </a:pPr>
            <a:r>
              <a:rPr lang="zh-CN" altLang="en-US" sz="2400" b="1" dirty="0"/>
              <a:t>                       或字的乘除法运算时用来存放高</a:t>
            </a:r>
            <a:r>
              <a:rPr lang="en-US" altLang="zh-CN" sz="2400" b="1" dirty="0"/>
              <a:t>16</a:t>
            </a:r>
            <a:r>
              <a:rPr lang="zh-CN" altLang="en-US" sz="2400" b="1" dirty="0"/>
              <a:t>位。（</a:t>
            </a:r>
            <a:r>
              <a:rPr lang="en-US" altLang="zh-CN" sz="2400" b="1" dirty="0"/>
              <a:t>Data</a:t>
            </a:r>
            <a:r>
              <a:rPr lang="zh-CN" altLang="en-US" sz="2400" b="1" dirty="0"/>
              <a:t>）</a:t>
            </a:r>
          </a:p>
        </p:txBody>
      </p:sp>
      <p:sp>
        <p:nvSpPr>
          <p:cNvPr id="6" name="标题 154627"/>
          <p:cNvSpPr txBox="1"/>
          <p:nvPr/>
        </p:nvSpPr>
        <p:spPr>
          <a:xfrm>
            <a:off x="2627784" y="188640"/>
            <a:ext cx="3527425" cy="431800"/>
          </a:xfrm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>
                <a:solidFill>
                  <a:srgbClr val="FF0000"/>
                </a:solidFill>
                <a:ea typeface="隶书" panose="02010509060101010101" pitchFamily="49" charset="-122"/>
              </a:rPr>
              <a:t>2.1 8086</a:t>
            </a:r>
            <a:r>
              <a:rPr lang="zh-CN" altLang="en-US" sz="3200" b="1">
                <a:solidFill>
                  <a:srgbClr val="FF0000"/>
                </a:solidFill>
                <a:ea typeface="隶书" panose="02010509060101010101" pitchFamily="49" charset="-122"/>
              </a:rPr>
              <a:t>微处理器</a:t>
            </a:r>
            <a:endParaRPr lang="zh-CN" alt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3" name="文本框 271362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71368" name="文本框 271367">
            <a:hlinkClick r:id="" action="ppaction://noaction"/>
          </p:cNvPr>
          <p:cNvSpPr txBox="1"/>
          <p:nvPr/>
        </p:nvSpPr>
        <p:spPr>
          <a:xfrm>
            <a:off x="196850" y="898525"/>
            <a:ext cx="314483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defPPr>
              <a:defRPr lang="en-US"/>
            </a:defPPr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defRPr sz="2400" b="1">
                <a:solidFill>
                  <a:srgbClr val="0000CC"/>
                </a:solidFill>
                <a:latin typeface="宋体" panose="02010600030101010101" pitchFamily="2" charset="-122"/>
              </a:defRPr>
            </a:lvl1pPr>
          </a:lstStyle>
          <a:p>
            <a:r>
              <a:rPr lang="en-US" altLang="zh-CN" dirty="0"/>
              <a:t>2</a:t>
            </a:r>
            <a:r>
              <a:rPr lang="zh-CN" altLang="en-US" dirty="0"/>
              <a:t>、指针和变址寄存器</a:t>
            </a:r>
          </a:p>
        </p:txBody>
      </p:sp>
      <p:sp>
        <p:nvSpPr>
          <p:cNvPr id="271369" name="矩形 271368"/>
          <p:cNvSpPr/>
          <p:nvPr/>
        </p:nvSpPr>
        <p:spPr>
          <a:xfrm>
            <a:off x="354013" y="1681163"/>
            <a:ext cx="8539162" cy="289996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95000"/>
              </a:lnSpc>
              <a:spcBef>
                <a:spcPct val="5000"/>
              </a:spcBef>
              <a:buClrTx/>
              <a:buNone/>
            </a:pPr>
            <a:r>
              <a:rPr lang="zh-CN" altLang="en-US" sz="2400" b="1" dirty="0"/>
              <a:t>经常用于存储器寻址时，提供</a:t>
            </a:r>
            <a:r>
              <a:rPr lang="zh-CN" altLang="en-US" sz="2400" b="1" dirty="0">
                <a:solidFill>
                  <a:srgbClr val="FF00FF"/>
                </a:solidFill>
              </a:rPr>
              <a:t>偏移地址</a:t>
            </a:r>
            <a:r>
              <a:rPr lang="zh-CN" altLang="en-US" sz="2400" b="1" dirty="0"/>
              <a:t>。</a:t>
            </a:r>
          </a:p>
          <a:p>
            <a:pPr marL="0" lvl="0" indent="0">
              <a:lnSpc>
                <a:spcPct val="95000"/>
              </a:lnSpc>
              <a:spcBef>
                <a:spcPct val="5000"/>
              </a:spcBef>
              <a:buClrTx/>
              <a:buNone/>
            </a:pPr>
            <a:r>
              <a:rPr lang="en-US" altLang="zh-CN" sz="2400" b="1" dirty="0">
                <a:solidFill>
                  <a:srgbClr val="FF00FF"/>
                </a:solidFill>
              </a:rPr>
              <a:t>SP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堆栈指针寄存器</a:t>
            </a:r>
            <a:r>
              <a:rPr lang="en-US" altLang="zh-CN" sz="2400" b="1" dirty="0"/>
              <a:t>):</a:t>
            </a:r>
            <a:r>
              <a:rPr lang="zh-CN" altLang="en-US" sz="2400" b="1" dirty="0"/>
              <a:t>与</a:t>
            </a:r>
            <a:r>
              <a:rPr lang="en-US" altLang="zh-CN" sz="2400" b="1" dirty="0"/>
              <a:t> SS(</a:t>
            </a:r>
            <a:r>
              <a:rPr lang="zh-CN" altLang="en-US" sz="2400" b="1" u="sng" dirty="0">
                <a:solidFill>
                  <a:srgbClr val="0000FF"/>
                </a:solidFill>
              </a:rPr>
              <a:t>堆栈</a:t>
            </a:r>
            <a:r>
              <a:rPr lang="zh-CN" altLang="en-US" sz="2400" b="1" dirty="0"/>
              <a:t>段寄存器</a:t>
            </a:r>
            <a:r>
              <a:rPr lang="en-US" altLang="zh-CN" sz="2400" b="1" dirty="0"/>
              <a:t>)</a:t>
            </a:r>
            <a:r>
              <a:rPr lang="zh-CN" altLang="en-US" sz="2400" b="1" dirty="0"/>
              <a:t>一起确定栈顶的当前位置；</a:t>
            </a:r>
          </a:p>
          <a:p>
            <a:pPr marL="0" lvl="0" indent="0">
              <a:lnSpc>
                <a:spcPct val="95000"/>
              </a:lnSpc>
              <a:spcBef>
                <a:spcPct val="5000"/>
              </a:spcBef>
              <a:buClrTx/>
              <a:buNone/>
            </a:pPr>
            <a:r>
              <a:rPr lang="en-US" altLang="zh-CN" sz="2400" b="1" dirty="0">
                <a:solidFill>
                  <a:srgbClr val="FF00FF"/>
                </a:solidFill>
              </a:rPr>
              <a:t>BP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基址指针寄存器</a:t>
            </a:r>
            <a:r>
              <a:rPr lang="en-US" altLang="zh-CN" sz="2400" b="1" dirty="0"/>
              <a:t>): </a:t>
            </a:r>
            <a:r>
              <a:rPr lang="zh-CN" altLang="en-US" sz="2400" b="1" dirty="0"/>
              <a:t>与</a:t>
            </a:r>
            <a:r>
              <a:rPr lang="en-US" altLang="zh-CN" sz="2400" b="1" dirty="0"/>
              <a:t>SS</a:t>
            </a:r>
            <a:r>
              <a:rPr lang="zh-CN" altLang="en-US" sz="2400" b="1" dirty="0"/>
              <a:t>用来确定堆栈段中的某一存储单元的地址；</a:t>
            </a:r>
          </a:p>
          <a:p>
            <a:pPr marL="0" lvl="0" indent="0">
              <a:lnSpc>
                <a:spcPct val="95000"/>
              </a:lnSpc>
              <a:spcBef>
                <a:spcPct val="5000"/>
              </a:spcBef>
              <a:buClrTx/>
              <a:buNone/>
            </a:pPr>
            <a:r>
              <a:rPr lang="en-US" altLang="zh-CN" sz="2400" b="1" dirty="0">
                <a:solidFill>
                  <a:srgbClr val="FF00FF"/>
                </a:solidFill>
              </a:rPr>
              <a:t>SI</a:t>
            </a:r>
            <a:r>
              <a:rPr lang="zh-CN" altLang="en-US" sz="2400" b="1" dirty="0"/>
              <a:t>和</a:t>
            </a:r>
            <a:r>
              <a:rPr lang="en-US" altLang="zh-CN" sz="2400" b="1" dirty="0">
                <a:solidFill>
                  <a:srgbClr val="FF00FF"/>
                </a:solidFill>
              </a:rPr>
              <a:t>DI</a:t>
            </a:r>
            <a:r>
              <a:rPr lang="zh-CN" altLang="en-US" sz="2400" b="1" dirty="0">
                <a:solidFill>
                  <a:srgbClr val="FF00FF"/>
                </a:solidFill>
              </a:rPr>
              <a:t>：</a:t>
            </a:r>
            <a:r>
              <a:rPr lang="zh-CN" altLang="en-US" sz="2400" b="1" dirty="0"/>
              <a:t>主要用于存放存储单元在段内的偏移地址，可实现多种存储器操作数的寻址方式，为以不同的地址形式访问存储单元提供方便。</a:t>
            </a:r>
          </a:p>
        </p:txBody>
      </p:sp>
      <p:sp>
        <p:nvSpPr>
          <p:cNvPr id="6" name="标题 154627"/>
          <p:cNvSpPr txBox="1"/>
          <p:nvPr/>
        </p:nvSpPr>
        <p:spPr>
          <a:xfrm>
            <a:off x="2627784" y="188640"/>
            <a:ext cx="3527425" cy="431800"/>
          </a:xfrm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>
                <a:solidFill>
                  <a:srgbClr val="FF0000"/>
                </a:solidFill>
                <a:ea typeface="隶书" panose="02010509060101010101" pitchFamily="49" charset="-122"/>
              </a:rPr>
              <a:t>2.1 8086</a:t>
            </a:r>
            <a:r>
              <a:rPr lang="zh-CN" altLang="en-US" sz="3200" b="1">
                <a:solidFill>
                  <a:srgbClr val="FF0000"/>
                </a:solidFill>
                <a:ea typeface="隶书" panose="02010509060101010101" pitchFamily="49" charset="-122"/>
              </a:rPr>
              <a:t>微处理器</a:t>
            </a:r>
            <a:endParaRPr lang="zh-CN" alt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7" name="文本框 272386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72391" name="矩形 272390"/>
          <p:cNvSpPr/>
          <p:nvPr/>
        </p:nvSpPr>
        <p:spPr>
          <a:xfrm>
            <a:off x="250825" y="1341438"/>
            <a:ext cx="8713788" cy="172752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90000"/>
              </a:lnSpc>
              <a:buFont typeface="Symbol" panose="05050102010706020507" pitchFamily="18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sym typeface="Symbol" panose="05050102010706020507" pitchFamily="18" charset="2"/>
              </a:rPr>
              <a:t>堆栈：</a:t>
            </a:r>
            <a:r>
              <a:rPr lang="zh-CN" altLang="en-US" sz="2400" b="1" dirty="0">
                <a:sym typeface="Symbol" panose="05050102010706020507" pitchFamily="18" charset="2"/>
              </a:rPr>
              <a:t>按照“</a:t>
            </a:r>
            <a:r>
              <a:rPr lang="zh-CN" altLang="en-US" sz="2400" b="1" dirty="0">
                <a:solidFill>
                  <a:srgbClr val="FF00FF"/>
                </a:solidFill>
                <a:sym typeface="Symbol" panose="05050102010706020507" pitchFamily="18" charset="2"/>
              </a:rPr>
              <a:t>先进后出</a:t>
            </a:r>
            <a:r>
              <a:rPr lang="zh-CN" altLang="en-US" sz="2400" b="1" dirty="0">
                <a:sym typeface="Symbol" panose="05050102010706020507" pitchFamily="18" charset="2"/>
              </a:rPr>
              <a:t>”的原则存取数据</a:t>
            </a:r>
          </a:p>
          <a:p>
            <a:pPr marL="0" lvl="0" indent="0">
              <a:lnSpc>
                <a:spcPct val="90000"/>
              </a:lnSpc>
              <a:buFont typeface="Symbol" panose="05050102010706020507" pitchFamily="18" charset="2"/>
              <a:buNone/>
            </a:pPr>
            <a:r>
              <a:rPr lang="zh-CN" altLang="en-US" sz="2400" b="1" dirty="0">
                <a:sym typeface="Symbol" panose="05050102010706020507" pitchFamily="18" charset="2"/>
              </a:rPr>
              <a:t>       </a:t>
            </a:r>
            <a:r>
              <a:rPr lang="en-US" altLang="zh-CN" sz="2400" b="1" dirty="0">
                <a:sym typeface="Symbol" panose="05050102010706020507" pitchFamily="18" charset="2"/>
              </a:rPr>
              <a:t>INTEL</a:t>
            </a:r>
            <a:r>
              <a:rPr lang="zh-CN" altLang="en-US" sz="2400" b="1" dirty="0">
                <a:sym typeface="Symbol" panose="05050102010706020507" pitchFamily="18" charset="2"/>
              </a:rPr>
              <a:t>系列的</a:t>
            </a:r>
            <a:r>
              <a:rPr lang="en-US" altLang="zh-CN" sz="2400" b="1" dirty="0">
                <a:sym typeface="Symbol" panose="05050102010706020507" pitchFamily="18" charset="2"/>
              </a:rPr>
              <a:t>CPU</a:t>
            </a:r>
            <a:r>
              <a:rPr lang="zh-CN" altLang="en-US" sz="2400" b="1" dirty="0">
                <a:sym typeface="Symbol" panose="05050102010706020507" pitchFamily="18" charset="2"/>
              </a:rPr>
              <a:t>用内存作为堆栈，段地址存放在</a:t>
            </a:r>
            <a:r>
              <a:rPr lang="en-US" altLang="zh-CN" sz="2400" b="1" dirty="0">
                <a:sym typeface="Symbol" panose="05050102010706020507" pitchFamily="18" charset="2"/>
              </a:rPr>
              <a:t>SS</a:t>
            </a:r>
            <a:r>
              <a:rPr lang="zh-CN" altLang="en-US" sz="2400" b="1" dirty="0">
                <a:sym typeface="Symbol" panose="05050102010706020507" pitchFamily="18" charset="2"/>
              </a:rPr>
              <a:t>中，栈顶地址存放在</a:t>
            </a:r>
            <a:r>
              <a:rPr lang="en-US" altLang="zh-CN" sz="2400" b="1" dirty="0">
                <a:sym typeface="Symbol" panose="05050102010706020507" pitchFamily="18" charset="2"/>
              </a:rPr>
              <a:t>SP</a:t>
            </a:r>
            <a:r>
              <a:rPr lang="zh-CN" altLang="en-US" sz="2400" b="1" dirty="0">
                <a:sym typeface="Symbol" panose="05050102010706020507" pitchFamily="18" charset="2"/>
              </a:rPr>
              <a:t>中；</a:t>
            </a:r>
            <a:r>
              <a:rPr lang="en-US" altLang="zh-CN" sz="2400" b="1" dirty="0">
                <a:sym typeface="Symbol" panose="05050102010706020507" pitchFamily="18" charset="2"/>
              </a:rPr>
              <a:t>8086 CPU</a:t>
            </a:r>
            <a:r>
              <a:rPr lang="zh-CN" altLang="en-US" sz="2400" b="1" dirty="0">
                <a:sym typeface="Symbol" panose="05050102010706020507" pitchFamily="18" charset="2"/>
              </a:rPr>
              <a:t>堆栈操作以</a:t>
            </a:r>
            <a:r>
              <a:rPr lang="zh-CN" altLang="en-US" sz="2400" b="1" dirty="0">
                <a:solidFill>
                  <a:srgbClr val="FF00FF"/>
                </a:solidFill>
                <a:sym typeface="Symbol" panose="05050102010706020507" pitchFamily="18" charset="2"/>
              </a:rPr>
              <a:t>字</a:t>
            </a:r>
            <a:r>
              <a:rPr lang="zh-CN" altLang="en-US" sz="2400" b="1" dirty="0">
                <a:sym typeface="Symbol" panose="05050102010706020507" pitchFamily="18" charset="2"/>
              </a:rPr>
              <a:t>为单位，把数据推入堆栈称“</a:t>
            </a:r>
            <a:r>
              <a:rPr lang="zh-CN" altLang="en-US" sz="2400" b="1" dirty="0">
                <a:solidFill>
                  <a:srgbClr val="C00000"/>
                </a:solidFill>
                <a:sym typeface="Symbol" panose="05050102010706020507" pitchFamily="18" charset="2"/>
              </a:rPr>
              <a:t>压入（</a:t>
            </a:r>
            <a:r>
              <a:rPr lang="en-US" altLang="zh-CN" sz="2400" b="1" dirty="0">
                <a:solidFill>
                  <a:srgbClr val="C00000"/>
                </a:solidFill>
                <a:sym typeface="Symbol" panose="05050102010706020507" pitchFamily="18" charset="2"/>
              </a:rPr>
              <a:t>PUSH</a:t>
            </a:r>
            <a:r>
              <a:rPr lang="zh-CN" altLang="en-US" sz="2400" b="1" dirty="0">
                <a:solidFill>
                  <a:srgbClr val="C00000"/>
                </a:solidFill>
                <a:sym typeface="Symbol" panose="05050102010706020507" pitchFamily="18" charset="2"/>
              </a:rPr>
              <a:t>）</a:t>
            </a:r>
            <a:r>
              <a:rPr lang="zh-CN" altLang="en-US" sz="2400" b="1" dirty="0">
                <a:sym typeface="Symbol" panose="05050102010706020507" pitchFamily="18" charset="2"/>
              </a:rPr>
              <a:t>”操作，从堆栈中取数据称“</a:t>
            </a:r>
            <a:r>
              <a:rPr lang="zh-CN" altLang="en-US" sz="2400" b="1" dirty="0">
                <a:solidFill>
                  <a:srgbClr val="C00000"/>
                </a:solidFill>
                <a:sym typeface="Symbol" panose="05050102010706020507" pitchFamily="18" charset="2"/>
              </a:rPr>
              <a:t>弹出（</a:t>
            </a:r>
            <a:r>
              <a:rPr lang="en-US" altLang="zh-CN" sz="2400" b="1" dirty="0">
                <a:solidFill>
                  <a:srgbClr val="C00000"/>
                </a:solidFill>
                <a:sym typeface="Symbol" panose="05050102010706020507" pitchFamily="18" charset="2"/>
              </a:rPr>
              <a:t>POP</a:t>
            </a:r>
            <a:r>
              <a:rPr lang="zh-CN" altLang="en-US" sz="2400" b="1" dirty="0">
                <a:solidFill>
                  <a:srgbClr val="C00000"/>
                </a:solidFill>
                <a:sym typeface="Symbol" panose="05050102010706020507" pitchFamily="18" charset="2"/>
              </a:rPr>
              <a:t>）</a:t>
            </a:r>
            <a:r>
              <a:rPr lang="zh-CN" altLang="en-US" sz="2400" b="1" dirty="0">
                <a:sym typeface="Symbol" panose="05050102010706020507" pitchFamily="18" charset="2"/>
              </a:rPr>
              <a:t>”操作</a:t>
            </a:r>
            <a:r>
              <a:rPr lang="zh-CN" altLang="en-US" dirty="0">
                <a:sym typeface="Symbol" panose="05050102010706020507" pitchFamily="18" charset="2"/>
              </a:rPr>
              <a:t>  </a:t>
            </a:r>
          </a:p>
        </p:txBody>
      </p:sp>
      <p:sp>
        <p:nvSpPr>
          <p:cNvPr id="272392" name="矩形 272391"/>
          <p:cNvSpPr/>
          <p:nvPr/>
        </p:nvSpPr>
        <p:spPr>
          <a:xfrm>
            <a:off x="250825" y="3368675"/>
            <a:ext cx="8569325" cy="2308324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>
              <a:buClrTx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为什么要用堆栈？</a:t>
            </a:r>
          </a:p>
          <a:p>
            <a:pPr lvl="0">
              <a:buClrTx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主程序调用子程序（子程序调用子程序，或处理中断服务程序），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CPU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必须把主程序调用子程序指令的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下一条指令的地址（或中断时的断点）即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PC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值保留下来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，才能保证子程序（或中断服务程序）执行完之后正确返回到主程序继续执行；另外，调用子程序之前的有关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REG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、标志位也要及时正确的保存下来。</a:t>
            </a:r>
          </a:p>
        </p:txBody>
      </p:sp>
      <p:sp>
        <p:nvSpPr>
          <p:cNvPr id="7" name="标题 154627"/>
          <p:cNvSpPr txBox="1"/>
          <p:nvPr/>
        </p:nvSpPr>
        <p:spPr>
          <a:xfrm>
            <a:off x="2627784" y="188640"/>
            <a:ext cx="3527425" cy="431800"/>
          </a:xfrm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>
                <a:solidFill>
                  <a:srgbClr val="FF0000"/>
                </a:solidFill>
                <a:ea typeface="隶书" panose="02010509060101010101" pitchFamily="49" charset="-122"/>
              </a:rPr>
              <a:t>2.1 8086</a:t>
            </a:r>
            <a:r>
              <a:rPr lang="zh-CN" altLang="en-US" sz="3200" b="1">
                <a:solidFill>
                  <a:srgbClr val="FF0000"/>
                </a:solidFill>
                <a:ea typeface="隶书" panose="02010509060101010101" pitchFamily="49" charset="-122"/>
              </a:rPr>
              <a:t>微处理器</a:t>
            </a:r>
            <a:endParaRPr lang="zh-CN" alt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1" name="文本框 273410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73415" name="文本框 273414">
            <a:hlinkClick r:id="" action="ppaction://noaction"/>
          </p:cNvPr>
          <p:cNvSpPr txBox="1"/>
          <p:nvPr/>
        </p:nvSpPr>
        <p:spPr>
          <a:xfrm>
            <a:off x="196850" y="811213"/>
            <a:ext cx="314483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>
              <a:buClrTx/>
            </a:pPr>
            <a:r>
              <a:rPr lang="en-US" altLang="zh-CN" sz="2400" b="1" dirty="0">
                <a:solidFill>
                  <a:srgbClr val="0000CC"/>
                </a:solidFill>
                <a:latin typeface="宋体" panose="02010600030101010101" pitchFamily="2" charset="-122"/>
              </a:rPr>
              <a:t>3</a:t>
            </a:r>
            <a:r>
              <a:rPr lang="zh-CN" altLang="en-US" sz="2400" b="1" dirty="0">
                <a:solidFill>
                  <a:srgbClr val="0000CC"/>
                </a:solidFill>
                <a:latin typeface="宋体" panose="02010600030101010101" pitchFamily="2" charset="-122"/>
              </a:rPr>
              <a:t>、指令指针寄存器</a:t>
            </a:r>
            <a:r>
              <a:rPr lang="en-US" altLang="zh-CN" sz="2400" b="1" dirty="0">
                <a:solidFill>
                  <a:srgbClr val="0000CC"/>
                </a:solidFill>
                <a:latin typeface="宋体" panose="02010600030101010101" pitchFamily="2" charset="-122"/>
              </a:rPr>
              <a:t>IP</a:t>
            </a:r>
          </a:p>
        </p:txBody>
      </p:sp>
      <p:sp>
        <p:nvSpPr>
          <p:cNvPr id="273416" name="矩形 273415"/>
          <p:cNvSpPr/>
          <p:nvPr/>
        </p:nvSpPr>
        <p:spPr>
          <a:xfrm>
            <a:off x="196850" y="1312863"/>
            <a:ext cx="8693150" cy="892001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95000"/>
              </a:lnSpc>
              <a:spcBef>
                <a:spcPct val="5000"/>
              </a:spcBef>
              <a:buClrTx/>
              <a:buNone/>
            </a:pPr>
            <a:r>
              <a:rPr lang="zh-CN" altLang="en-US" sz="2400" b="1" dirty="0"/>
              <a:t>存放</a:t>
            </a:r>
            <a:r>
              <a:rPr lang="zh-CN" altLang="en-US" sz="2400" b="1" dirty="0">
                <a:solidFill>
                  <a:srgbClr val="0000FF"/>
                </a:solidFill>
              </a:rPr>
              <a:t>代码段</a:t>
            </a:r>
            <a:r>
              <a:rPr lang="zh-CN" altLang="en-US" sz="2400" b="1" dirty="0"/>
              <a:t>中的偏移地址。在程序运行过程中，始终指向下一条指令的首地址，与</a:t>
            </a:r>
            <a:r>
              <a:rPr lang="en-US" altLang="zh-CN" sz="2400" b="1" dirty="0"/>
              <a:t>CS</a:t>
            </a:r>
            <a:r>
              <a:rPr lang="zh-CN" altLang="en-US" sz="2400" b="1" dirty="0"/>
              <a:t>一起形成取下一条指令的实际地址</a:t>
            </a:r>
            <a:endParaRPr lang="en-US" altLang="zh-CN" sz="2800" b="1" dirty="0"/>
          </a:p>
        </p:txBody>
      </p:sp>
      <p:sp>
        <p:nvSpPr>
          <p:cNvPr id="273417" name="文本框 273416">
            <a:hlinkClick r:id="" action="ppaction://noaction"/>
          </p:cNvPr>
          <p:cNvSpPr txBox="1"/>
          <p:nvPr/>
        </p:nvSpPr>
        <p:spPr>
          <a:xfrm>
            <a:off x="34925" y="2708275"/>
            <a:ext cx="32416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624205" lvl="0" indent="-624205">
              <a:buClrTx/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400" b="1" dirty="0">
                <a:solidFill>
                  <a:srgbClr val="0000CC"/>
                </a:solidFill>
                <a:latin typeface="宋体" panose="02010600030101010101" pitchFamily="2" charset="-122"/>
              </a:rPr>
              <a:t>、标志寄存器 </a:t>
            </a:r>
            <a:r>
              <a:rPr lang="en-US" altLang="zh-CN" sz="2400" b="1" dirty="0">
                <a:solidFill>
                  <a:srgbClr val="0000CC"/>
                </a:solidFill>
                <a:latin typeface="宋体" panose="02010600030101010101" pitchFamily="2" charset="-122"/>
              </a:rPr>
              <a:t>Flags</a:t>
            </a:r>
            <a:r>
              <a:rPr lang="zh-CN" altLang="en-US" sz="2400" b="1" dirty="0">
                <a:solidFill>
                  <a:srgbClr val="0000CC"/>
                </a:solidFill>
                <a:latin typeface="宋体" panose="02010600030101010101" pitchFamily="2" charset="-122"/>
              </a:rPr>
              <a:t> </a:t>
            </a:r>
          </a:p>
        </p:txBody>
      </p:sp>
      <p:sp>
        <p:nvSpPr>
          <p:cNvPr id="273419" name="矩形 273418"/>
          <p:cNvSpPr/>
          <p:nvPr/>
        </p:nvSpPr>
        <p:spPr>
          <a:xfrm>
            <a:off x="196850" y="3789040"/>
            <a:ext cx="8732837" cy="223224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just">
              <a:buClrTx/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Flags</a:t>
            </a:r>
            <a:r>
              <a:rPr lang="zh-CN" altLang="en-US" sz="2400" b="1" dirty="0"/>
              <a:t>：共</a:t>
            </a:r>
            <a:r>
              <a:rPr lang="en-US" altLang="zh-CN" sz="2400" b="1" dirty="0"/>
              <a:t>16</a:t>
            </a:r>
            <a:r>
              <a:rPr lang="zh-CN" altLang="en-US" sz="2400" b="1" dirty="0"/>
              <a:t>位，一般把</a:t>
            </a:r>
            <a:r>
              <a:rPr lang="zh-CN" altLang="en-US" sz="2400" b="1" dirty="0">
                <a:solidFill>
                  <a:srgbClr val="0000FF"/>
                </a:solidFill>
              </a:rPr>
              <a:t>每一位分别</a:t>
            </a:r>
            <a:r>
              <a:rPr lang="zh-CN" altLang="en-US" sz="2400" b="1" dirty="0"/>
              <a:t>使用，</a:t>
            </a:r>
            <a:r>
              <a:rPr lang="en-US" altLang="zh-CN" sz="2400" b="1" dirty="0"/>
              <a:t>8086</a:t>
            </a:r>
            <a:r>
              <a:rPr lang="zh-CN" altLang="en-US" sz="2400" b="1" dirty="0"/>
              <a:t>使用其中的</a:t>
            </a:r>
            <a:r>
              <a:rPr lang="en-US" altLang="zh-CN" sz="2400" b="1" dirty="0">
                <a:solidFill>
                  <a:srgbClr val="0000FF"/>
                </a:solidFill>
              </a:rPr>
              <a:t>9</a:t>
            </a:r>
            <a:r>
              <a:rPr lang="zh-CN" altLang="en-US" sz="2400" b="1" dirty="0"/>
              <a:t>位，用于存放当前</a:t>
            </a:r>
            <a:r>
              <a:rPr lang="zh-CN" altLang="en-US" sz="2400" b="1" dirty="0">
                <a:solidFill>
                  <a:srgbClr val="0000FF"/>
                </a:solidFill>
              </a:rPr>
              <a:t>程序执行的状况和运算结果的特征</a:t>
            </a:r>
            <a:r>
              <a:rPr lang="zh-CN" altLang="en-US" sz="2400" b="1" dirty="0"/>
              <a:t>。</a:t>
            </a:r>
            <a:r>
              <a:rPr lang="en-US" altLang="zh-CN" sz="2400" b="1" dirty="0"/>
              <a:t>9</a:t>
            </a:r>
            <a:r>
              <a:rPr lang="zh-CN" altLang="en-US" sz="2400" b="1" dirty="0"/>
              <a:t>个标志位分为二组：</a:t>
            </a:r>
          </a:p>
          <a:p>
            <a:pPr marL="0" lvl="0" indent="0" algn="just">
              <a:buClrTx/>
              <a:buNone/>
            </a:pPr>
            <a:r>
              <a:rPr lang="zh-CN" altLang="en-US" sz="2400" b="1" dirty="0">
                <a:solidFill>
                  <a:srgbClr val="FF00FF"/>
                </a:solidFill>
              </a:rPr>
              <a:t>状态标志</a:t>
            </a:r>
            <a:r>
              <a:rPr lang="en-US" altLang="zh-CN" sz="2400" b="1" dirty="0"/>
              <a:t>:</a:t>
            </a:r>
            <a:r>
              <a:rPr lang="zh-CN" altLang="en-US" sz="2400" b="1" dirty="0"/>
              <a:t>反映指令执行的结果（受算术运算等指令结果的影响）；</a:t>
            </a:r>
          </a:p>
          <a:p>
            <a:pPr marL="0" lvl="0" indent="0" algn="just">
              <a:buClrTx/>
              <a:buNone/>
            </a:pPr>
            <a:r>
              <a:rPr lang="zh-CN" altLang="en-US" sz="2400" b="1" dirty="0">
                <a:solidFill>
                  <a:srgbClr val="FF00FF"/>
                </a:solidFill>
              </a:rPr>
              <a:t>控制标志</a:t>
            </a:r>
            <a:r>
              <a:rPr lang="zh-CN" altLang="en-US" sz="2400" b="1" dirty="0"/>
              <a:t>：通过指令来设置，以控制某些指令的执行方式。 </a:t>
            </a:r>
          </a:p>
        </p:txBody>
      </p:sp>
      <p:pic>
        <p:nvPicPr>
          <p:cNvPr id="273420" name="图片 2734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8200" y="2492375"/>
            <a:ext cx="5730875" cy="1035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标题 154627"/>
          <p:cNvSpPr txBox="1"/>
          <p:nvPr/>
        </p:nvSpPr>
        <p:spPr>
          <a:xfrm>
            <a:off x="2627784" y="188640"/>
            <a:ext cx="3527425" cy="431800"/>
          </a:xfrm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>
                <a:solidFill>
                  <a:srgbClr val="FF0000"/>
                </a:solidFill>
                <a:ea typeface="隶书" panose="02010509060101010101" pitchFamily="49" charset="-122"/>
              </a:rPr>
              <a:t>2.1 8086</a:t>
            </a:r>
            <a:r>
              <a:rPr lang="zh-CN" altLang="en-US" sz="3200" b="1">
                <a:solidFill>
                  <a:srgbClr val="FF0000"/>
                </a:solidFill>
                <a:ea typeface="隶书" panose="02010509060101010101" pitchFamily="49" charset="-122"/>
              </a:rPr>
              <a:t>微处理器</a:t>
            </a:r>
            <a:endParaRPr lang="zh-CN" altLang="en-US" sz="4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5" name="文本框 274434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74441" name="矩形 274440"/>
          <p:cNvSpPr/>
          <p:nvPr/>
        </p:nvSpPr>
        <p:spPr>
          <a:xfrm>
            <a:off x="304800" y="1511300"/>
            <a:ext cx="8650288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>
              <a:buClrTx/>
              <a:buNone/>
            </a:pPr>
            <a:r>
              <a:rPr lang="zh-CN" altLang="en-US" sz="2400" b="1" dirty="0"/>
              <a:t>标志寄存器的格式及各位的含义</a:t>
            </a:r>
          </a:p>
          <a:p>
            <a:pPr lvl="0">
              <a:buClrTx/>
              <a:buNone/>
            </a:pPr>
            <a:endParaRPr lang="zh-CN" altLang="en-US" sz="2400" b="1" dirty="0"/>
          </a:p>
        </p:txBody>
      </p:sp>
      <p:graphicFrame>
        <p:nvGraphicFramePr>
          <p:cNvPr id="274442" name="表格 274441"/>
          <p:cNvGraphicFramePr/>
          <p:nvPr/>
        </p:nvGraphicFramePr>
        <p:xfrm>
          <a:off x="685800" y="2349500"/>
          <a:ext cx="6629400" cy="755650"/>
        </p:xfrm>
        <a:graphic>
          <a:graphicData uri="http://schemas.openxmlformats.org/drawingml/2006/table">
            <a:tbl>
              <a:tblPr/>
              <a:tblGrid>
                <a:gridCol w="414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3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3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3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43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43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43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433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433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1433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1433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1433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1433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14337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1433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14337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5877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ClrTx/>
                        <a:buNone/>
                      </a:pPr>
                      <a:r>
                        <a:rPr lang="en-US" altLang="zh-CN" sz="1400" b="1"/>
                        <a:t>15</a:t>
                      </a:r>
                    </a:p>
                  </a:txBody>
                  <a:tcPr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ClrTx/>
                        <a:buNone/>
                      </a:pPr>
                      <a:r>
                        <a:rPr lang="en-US" altLang="zh-CN" sz="1400" b="1"/>
                        <a:t>14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ClrTx/>
                        <a:buNone/>
                      </a:pPr>
                      <a:r>
                        <a:rPr lang="en-US" altLang="zh-CN" sz="1400" b="1"/>
                        <a:t>13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ClrTx/>
                        <a:buNone/>
                      </a:pPr>
                      <a:r>
                        <a:rPr lang="en-US" altLang="zh-CN" sz="1400" b="1"/>
                        <a:t>12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ClrTx/>
                        <a:buNone/>
                      </a:pPr>
                      <a:r>
                        <a:rPr lang="en-US" altLang="zh-CN" sz="1400" b="1"/>
                        <a:t>11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ClrTx/>
                        <a:buNone/>
                      </a:pPr>
                      <a:r>
                        <a:rPr lang="en-US" altLang="zh-CN" sz="1400" b="1"/>
                        <a:t>10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ClrTx/>
                        <a:buNone/>
                      </a:pPr>
                      <a:r>
                        <a:rPr lang="en-US" altLang="zh-CN" sz="1400" b="1"/>
                        <a:t>9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ClrTx/>
                        <a:buNone/>
                      </a:pPr>
                      <a:r>
                        <a:rPr lang="en-US" altLang="zh-CN" sz="1400" b="1"/>
                        <a:t>8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ClrTx/>
                        <a:buNone/>
                      </a:pPr>
                      <a:r>
                        <a:rPr lang="en-US" altLang="zh-CN" sz="1400" b="1"/>
                        <a:t>7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ClrTx/>
                        <a:buNone/>
                      </a:pPr>
                      <a:r>
                        <a:rPr lang="en-US" altLang="zh-CN" sz="1400" b="1"/>
                        <a:t>6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ClrTx/>
                        <a:buNone/>
                      </a:pPr>
                      <a:r>
                        <a:rPr lang="en-US" altLang="zh-CN" sz="1400" b="1"/>
                        <a:t>5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ClrTx/>
                        <a:buNone/>
                      </a:pPr>
                      <a:r>
                        <a:rPr lang="en-US" altLang="zh-CN" sz="1400" b="1"/>
                        <a:t>4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ClrTx/>
                        <a:buNone/>
                      </a:pPr>
                      <a:r>
                        <a:rPr lang="en-US" altLang="zh-CN" sz="1400" b="1"/>
                        <a:t>3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ClrTx/>
                        <a:buNone/>
                      </a:pPr>
                      <a:r>
                        <a:rPr lang="en-US" altLang="zh-CN" sz="1400" b="1"/>
                        <a:t>2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ClrTx/>
                        <a:buNone/>
                      </a:pPr>
                      <a:r>
                        <a:rPr lang="en-US" altLang="zh-CN" sz="1400" b="1"/>
                        <a:t>1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ClrTx/>
                        <a:buNone/>
                      </a:pPr>
                      <a:r>
                        <a:rPr lang="en-US" altLang="zh-CN" sz="1400" b="1"/>
                        <a:t>0</a:t>
                      </a:r>
                    </a:p>
                  </a:txBody>
                  <a:tcPr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875"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ClrTx/>
                        <a:buNone/>
                      </a:pPr>
                      <a:endParaRPr lang="zh-CN" altLang="en-US" sz="1200" b="1" dirty="0"/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ClrTx/>
                        <a:buNone/>
                      </a:pPr>
                      <a:endParaRPr lang="zh-CN" altLang="en-US" sz="1200" b="1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ClrTx/>
                        <a:buNone/>
                      </a:pPr>
                      <a:endParaRPr lang="zh-CN" altLang="en-US" sz="1200" b="1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ClrTx/>
                        <a:buNone/>
                      </a:pPr>
                      <a:endParaRPr lang="zh-CN" altLang="en-US" sz="1200" b="1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ClrTx/>
                        <a:buNone/>
                      </a:pPr>
                      <a:r>
                        <a:rPr lang="en-US" altLang="zh-CN" sz="1200" b="1"/>
                        <a:t>OF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ClrTx/>
                        <a:buNone/>
                      </a:pPr>
                      <a:r>
                        <a:rPr lang="en-US" altLang="zh-CN" sz="1200" b="1"/>
                        <a:t>DF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ClrTx/>
                        <a:buNone/>
                      </a:pPr>
                      <a:r>
                        <a:rPr lang="en-US" altLang="zh-CN" sz="1200" b="1"/>
                        <a:t>IF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ClrTx/>
                        <a:buNone/>
                      </a:pPr>
                      <a:r>
                        <a:rPr lang="en-US" altLang="zh-CN" sz="1200" b="1"/>
                        <a:t>TF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ClrTx/>
                        <a:buNone/>
                      </a:pPr>
                      <a:r>
                        <a:rPr lang="en-US" altLang="zh-CN" sz="1200" b="1"/>
                        <a:t>SF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ClrTx/>
                        <a:buNone/>
                      </a:pPr>
                      <a:r>
                        <a:rPr lang="en-US" altLang="zh-CN" sz="1200" b="1"/>
                        <a:t>ZF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ClrTx/>
                        <a:buNone/>
                      </a:pPr>
                      <a:endParaRPr lang="zh-CN" altLang="en-US" sz="1200" b="1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ClrTx/>
                        <a:buNone/>
                      </a:pPr>
                      <a:r>
                        <a:rPr lang="en-US" altLang="zh-CN" sz="1200" b="1"/>
                        <a:t>AF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ClrTx/>
                        <a:buNone/>
                      </a:pPr>
                      <a:endParaRPr lang="zh-CN" altLang="en-US" sz="1200" b="1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ClrTx/>
                        <a:buNone/>
                      </a:pPr>
                      <a:r>
                        <a:rPr lang="en-US" altLang="zh-CN" sz="1200" b="1"/>
                        <a:t>PF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ClrTx/>
                        <a:buNone/>
                      </a:pPr>
                      <a:endParaRPr lang="zh-CN" altLang="en-US" sz="1200" b="1" dirty="0"/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•"/>
                        <a:defRPr sz="2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lvl="1" indent="-285750">
                        <a:defRPr sz="2400" kern="1200"/>
                      </a:lvl2pPr>
                      <a:lvl3pPr marL="1143000" lvl="2" indent="-228600">
                        <a:defRPr sz="2000" kern="1200"/>
                      </a:lvl3pPr>
                      <a:lvl4pPr marL="1600200" lvl="3" indent="-228600">
                        <a:defRPr sz="1800" kern="1200"/>
                      </a:lvl4pPr>
                      <a:lvl5pPr marL="2057400" lvl="4" indent="-228600">
                        <a:defRPr sz="1800" kern="1200"/>
                      </a:lvl5pPr>
                    </a:lstStyle>
                    <a:p>
                      <a:pPr marL="0" lvl="0" indent="0">
                        <a:buClrTx/>
                        <a:buNone/>
                      </a:pPr>
                      <a:r>
                        <a:rPr lang="en-US" altLang="zh-CN" sz="1200" b="1"/>
                        <a:t>CF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74512" name="文本框 274511"/>
          <p:cNvSpPr txBox="1"/>
          <p:nvPr/>
        </p:nvSpPr>
        <p:spPr>
          <a:xfrm>
            <a:off x="8504238" y="3532188"/>
            <a:ext cx="458787" cy="1676400"/>
          </a:xfrm>
          <a:prstGeom prst="rect">
            <a:avLst/>
          </a:prstGeom>
          <a:noFill/>
          <a:ln w="9525">
            <a:noFill/>
          </a:ln>
        </p:spPr>
        <p:txBody>
          <a:bodyPr vert="eaVert">
            <a:spAutoFit/>
          </a:bodyPr>
          <a:lstStyle/>
          <a:p>
            <a:pPr lvl="0" algn="ctr">
              <a:buClrTx/>
            </a:pPr>
            <a:r>
              <a:rPr lang="zh-CN" altLang="en-US" sz="1800" b="1" dirty="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状态标志</a:t>
            </a:r>
          </a:p>
        </p:txBody>
      </p:sp>
      <p:grpSp>
        <p:nvGrpSpPr>
          <p:cNvPr id="274513" name="组合 274512"/>
          <p:cNvGrpSpPr/>
          <p:nvPr/>
        </p:nvGrpSpPr>
        <p:grpSpPr>
          <a:xfrm>
            <a:off x="533400" y="3074988"/>
            <a:ext cx="7924800" cy="2424112"/>
            <a:chOff x="336" y="2256"/>
            <a:chExt cx="4992" cy="1527"/>
          </a:xfrm>
        </p:grpSpPr>
        <p:sp>
          <p:nvSpPr>
            <p:cNvPr id="274514" name="文本框 274513"/>
            <p:cNvSpPr txBox="1"/>
            <p:nvPr/>
          </p:nvSpPr>
          <p:spPr>
            <a:xfrm>
              <a:off x="814" y="2448"/>
              <a:ext cx="69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algn="ctr">
                <a:buClrTx/>
              </a:pPr>
              <a:r>
                <a:rPr lang="zh-CN" altLang="en-US" sz="1800" b="1" dirty="0">
                  <a:solidFill>
                    <a:schemeClr val="tx2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方向标志</a:t>
              </a:r>
            </a:p>
          </p:txBody>
        </p:sp>
        <p:sp>
          <p:nvSpPr>
            <p:cNvPr id="274515" name="文本框 274514"/>
            <p:cNvSpPr txBox="1"/>
            <p:nvPr/>
          </p:nvSpPr>
          <p:spPr>
            <a:xfrm>
              <a:off x="768" y="2688"/>
              <a:ext cx="81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ctr">
                <a:buClrTx/>
              </a:pPr>
              <a:r>
                <a:rPr lang="zh-CN" altLang="en-US" sz="1800" b="1" dirty="0">
                  <a:solidFill>
                    <a:schemeClr val="tx2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中断标志</a:t>
              </a:r>
            </a:p>
          </p:txBody>
        </p:sp>
        <p:sp>
          <p:nvSpPr>
            <p:cNvPr id="274516" name="文本框 274515"/>
            <p:cNvSpPr txBox="1"/>
            <p:nvPr/>
          </p:nvSpPr>
          <p:spPr>
            <a:xfrm>
              <a:off x="816" y="2928"/>
              <a:ext cx="694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algn="ctr">
                <a:buClrTx/>
              </a:pPr>
              <a:r>
                <a:rPr lang="zh-CN" altLang="en-US" sz="1800" b="1" dirty="0">
                  <a:solidFill>
                    <a:schemeClr val="tx2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单步标志</a:t>
              </a:r>
            </a:p>
          </p:txBody>
        </p:sp>
        <p:sp>
          <p:nvSpPr>
            <p:cNvPr id="274518" name="文本框 274517"/>
            <p:cNvSpPr txBox="1"/>
            <p:nvPr/>
          </p:nvSpPr>
          <p:spPr>
            <a:xfrm>
              <a:off x="336" y="2464"/>
              <a:ext cx="289" cy="626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 anchor="t">
              <a:spAutoFit/>
            </a:bodyPr>
            <a:lstStyle/>
            <a:p>
              <a:pPr lvl="0" algn="ctr">
                <a:buClrTx/>
              </a:pPr>
              <a:r>
                <a:rPr lang="zh-CN" altLang="en-US" sz="1800" b="1" dirty="0">
                  <a:solidFill>
                    <a:schemeClr val="tx2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控制标志</a:t>
              </a:r>
            </a:p>
          </p:txBody>
        </p:sp>
        <p:sp>
          <p:nvSpPr>
            <p:cNvPr id="274519" name="左大括号 274518"/>
            <p:cNvSpPr/>
            <p:nvPr/>
          </p:nvSpPr>
          <p:spPr>
            <a:xfrm>
              <a:off x="624" y="2496"/>
              <a:ext cx="192" cy="576"/>
            </a:xfrm>
            <a:prstGeom prst="leftBrace">
              <a:avLst>
                <a:gd name="adj1" fmla="val 39583"/>
                <a:gd name="adj2" fmla="val 50000"/>
              </a:avLst>
            </a:prstGeom>
            <a:noFill/>
            <a:ln w="952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4520" name="文本框 274519"/>
            <p:cNvSpPr txBox="1"/>
            <p:nvPr/>
          </p:nvSpPr>
          <p:spPr>
            <a:xfrm>
              <a:off x="4414" y="2400"/>
              <a:ext cx="69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algn="ctr">
                <a:buClrTx/>
              </a:pPr>
              <a:r>
                <a:rPr lang="zh-CN" altLang="en-US" sz="1800" b="1" dirty="0">
                  <a:solidFill>
                    <a:schemeClr val="tx2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进位标志</a:t>
              </a:r>
            </a:p>
          </p:txBody>
        </p:sp>
        <p:sp>
          <p:nvSpPr>
            <p:cNvPr id="274521" name="文本框 274520"/>
            <p:cNvSpPr txBox="1"/>
            <p:nvPr/>
          </p:nvSpPr>
          <p:spPr>
            <a:xfrm>
              <a:off x="4413" y="2640"/>
              <a:ext cx="69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algn="ctr">
                <a:buClrTx/>
              </a:pPr>
              <a:r>
                <a:rPr lang="zh-CN" altLang="en-US" sz="1800" b="1" dirty="0">
                  <a:solidFill>
                    <a:schemeClr val="tx2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奇偶标志</a:t>
              </a:r>
            </a:p>
          </p:txBody>
        </p:sp>
        <p:sp>
          <p:nvSpPr>
            <p:cNvPr id="274522" name="文本框 274521"/>
            <p:cNvSpPr txBox="1"/>
            <p:nvPr/>
          </p:nvSpPr>
          <p:spPr>
            <a:xfrm>
              <a:off x="4368" y="2880"/>
              <a:ext cx="864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ctr">
                <a:buClrTx/>
              </a:pPr>
              <a:r>
                <a:rPr lang="zh-CN" altLang="en-US" sz="1800" b="1" dirty="0">
                  <a:solidFill>
                    <a:schemeClr val="tx2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半进位标志</a:t>
              </a:r>
            </a:p>
          </p:txBody>
        </p:sp>
        <p:sp>
          <p:nvSpPr>
            <p:cNvPr id="274523" name="文本框 274522"/>
            <p:cNvSpPr txBox="1"/>
            <p:nvPr/>
          </p:nvSpPr>
          <p:spPr>
            <a:xfrm>
              <a:off x="4415" y="3120"/>
              <a:ext cx="551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algn="ctr">
                <a:buClrTx/>
              </a:pPr>
              <a:r>
                <a:rPr lang="zh-CN" altLang="en-US" sz="1800" b="1" dirty="0">
                  <a:solidFill>
                    <a:schemeClr val="tx2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零标志</a:t>
              </a:r>
            </a:p>
          </p:txBody>
        </p:sp>
        <p:sp>
          <p:nvSpPr>
            <p:cNvPr id="274524" name="文本框 274523"/>
            <p:cNvSpPr txBox="1"/>
            <p:nvPr/>
          </p:nvSpPr>
          <p:spPr>
            <a:xfrm>
              <a:off x="4414" y="3360"/>
              <a:ext cx="69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algn="ctr">
                <a:buClrTx/>
              </a:pPr>
              <a:r>
                <a:rPr lang="zh-CN" altLang="en-US" sz="1800" b="1" dirty="0">
                  <a:solidFill>
                    <a:schemeClr val="tx2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符号标志</a:t>
              </a:r>
            </a:p>
          </p:txBody>
        </p:sp>
        <p:sp>
          <p:nvSpPr>
            <p:cNvPr id="274525" name="文本框 274524"/>
            <p:cNvSpPr txBox="1"/>
            <p:nvPr/>
          </p:nvSpPr>
          <p:spPr>
            <a:xfrm>
              <a:off x="4414" y="3552"/>
              <a:ext cx="69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algn="ctr">
                <a:buClrTx/>
              </a:pPr>
              <a:r>
                <a:rPr lang="zh-CN" altLang="en-US" sz="1800" b="1" dirty="0">
                  <a:solidFill>
                    <a:schemeClr val="tx2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溢出标志</a:t>
              </a:r>
            </a:p>
          </p:txBody>
        </p:sp>
        <p:sp>
          <p:nvSpPr>
            <p:cNvPr id="274526" name="右大括号 274525"/>
            <p:cNvSpPr/>
            <p:nvPr/>
          </p:nvSpPr>
          <p:spPr>
            <a:xfrm>
              <a:off x="5088" y="2496"/>
              <a:ext cx="240" cy="1200"/>
            </a:xfrm>
            <a:prstGeom prst="rightBrace">
              <a:avLst>
                <a:gd name="adj1" fmla="val 41666"/>
                <a:gd name="adj2" fmla="val 50000"/>
              </a:avLst>
            </a:prstGeom>
            <a:noFill/>
            <a:ln w="9525" cap="flat" cmpd="sng">
              <a:solidFill>
                <a:schemeClr val="hlink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lvl="0" algn="ctr">
                <a:buClrTx/>
              </a:pPr>
              <a:endParaRPr lang="zh-CN" altLang="en-US" sz="1800" b="1" dirty="0">
                <a:solidFill>
                  <a:srgbClr val="FFFF99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4527" name="直接连接符 274526"/>
            <p:cNvSpPr/>
            <p:nvPr/>
          </p:nvSpPr>
          <p:spPr>
            <a:xfrm>
              <a:off x="1440" y="2592"/>
              <a:ext cx="43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4528" name="直接连接符 274527"/>
            <p:cNvSpPr/>
            <p:nvPr/>
          </p:nvSpPr>
          <p:spPr>
            <a:xfrm flipV="1">
              <a:off x="1872" y="2256"/>
              <a:ext cx="0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4529" name="直接连接符 274528"/>
            <p:cNvSpPr/>
            <p:nvPr/>
          </p:nvSpPr>
          <p:spPr>
            <a:xfrm>
              <a:off x="1440" y="2784"/>
              <a:ext cx="67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4530" name="直接连接符 274529"/>
            <p:cNvSpPr/>
            <p:nvPr/>
          </p:nvSpPr>
          <p:spPr>
            <a:xfrm flipV="1">
              <a:off x="2112" y="2256"/>
              <a:ext cx="0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4531" name="直接连接符 274530"/>
            <p:cNvSpPr/>
            <p:nvPr/>
          </p:nvSpPr>
          <p:spPr>
            <a:xfrm>
              <a:off x="1440" y="3072"/>
              <a:ext cx="96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4532" name="直接连接符 274531"/>
            <p:cNvSpPr/>
            <p:nvPr/>
          </p:nvSpPr>
          <p:spPr>
            <a:xfrm flipV="1">
              <a:off x="2400" y="2256"/>
              <a:ext cx="0" cy="81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4533" name="直接连接符 274532"/>
            <p:cNvSpPr/>
            <p:nvPr/>
          </p:nvSpPr>
          <p:spPr>
            <a:xfrm flipV="1">
              <a:off x="2640" y="2256"/>
              <a:ext cx="0" cy="120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4534" name="直接连接符 274533"/>
            <p:cNvSpPr/>
            <p:nvPr/>
          </p:nvSpPr>
          <p:spPr>
            <a:xfrm flipV="1">
              <a:off x="2928" y="2256"/>
              <a:ext cx="0" cy="96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4535" name="直接连接符 274534"/>
            <p:cNvSpPr/>
            <p:nvPr/>
          </p:nvSpPr>
          <p:spPr>
            <a:xfrm flipV="1">
              <a:off x="3408" y="2256"/>
              <a:ext cx="0" cy="72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4536" name="直接连接符 274535"/>
            <p:cNvSpPr/>
            <p:nvPr/>
          </p:nvSpPr>
          <p:spPr>
            <a:xfrm flipV="1">
              <a:off x="3984" y="2256"/>
              <a:ext cx="0" cy="4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4537" name="直接连接符 274536"/>
            <p:cNvSpPr/>
            <p:nvPr/>
          </p:nvSpPr>
          <p:spPr>
            <a:xfrm flipV="1">
              <a:off x="4416" y="2256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4538" name="直接连接符 274537"/>
            <p:cNvSpPr/>
            <p:nvPr/>
          </p:nvSpPr>
          <p:spPr>
            <a:xfrm flipV="1">
              <a:off x="1584" y="2256"/>
              <a:ext cx="0" cy="14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4539" name="直接连接符 274538"/>
            <p:cNvSpPr/>
            <p:nvPr/>
          </p:nvSpPr>
          <p:spPr>
            <a:xfrm>
              <a:off x="1584" y="3696"/>
              <a:ext cx="28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4540" name="直接连接符 274539"/>
            <p:cNvSpPr/>
            <p:nvPr/>
          </p:nvSpPr>
          <p:spPr>
            <a:xfrm>
              <a:off x="2640" y="3456"/>
              <a:ext cx="182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4541" name="直接连接符 274540"/>
            <p:cNvSpPr/>
            <p:nvPr/>
          </p:nvSpPr>
          <p:spPr>
            <a:xfrm>
              <a:off x="3408" y="2976"/>
              <a:ext cx="105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4542" name="直接连接符 274541"/>
            <p:cNvSpPr/>
            <p:nvPr/>
          </p:nvSpPr>
          <p:spPr>
            <a:xfrm>
              <a:off x="3984" y="2736"/>
              <a:ext cx="4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4543" name="直接连接符 274542"/>
            <p:cNvSpPr/>
            <p:nvPr/>
          </p:nvSpPr>
          <p:spPr>
            <a:xfrm flipV="1">
              <a:off x="2928" y="3216"/>
              <a:ext cx="15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74544" name="直接连接符 274543"/>
            <p:cNvSpPr/>
            <p:nvPr/>
          </p:nvSpPr>
          <p:spPr>
            <a:xfrm>
              <a:off x="4416" y="2544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9" name="标题 154627"/>
          <p:cNvSpPr txBox="1"/>
          <p:nvPr/>
        </p:nvSpPr>
        <p:spPr>
          <a:xfrm>
            <a:off x="2627784" y="188640"/>
            <a:ext cx="3527425" cy="431800"/>
          </a:xfrm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>
                <a:solidFill>
                  <a:srgbClr val="FF0000"/>
                </a:solidFill>
                <a:ea typeface="隶书" panose="02010509060101010101" pitchFamily="49" charset="-122"/>
              </a:rPr>
              <a:t>2.1 8086</a:t>
            </a:r>
            <a:r>
              <a:rPr lang="zh-CN" altLang="en-US" sz="3200" b="1">
                <a:solidFill>
                  <a:srgbClr val="FF0000"/>
                </a:solidFill>
                <a:ea typeface="隶书" panose="02010509060101010101" pitchFamily="49" charset="-122"/>
              </a:rPr>
              <a:t>微处理器</a:t>
            </a:r>
            <a:endParaRPr lang="zh-CN" alt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9" name="文本框 275458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7" name="Group 58"/>
          <p:cNvGrpSpPr/>
          <p:nvPr/>
        </p:nvGrpSpPr>
        <p:grpSpPr bwMode="auto">
          <a:xfrm>
            <a:off x="133350" y="1052736"/>
            <a:ext cx="9010650" cy="5253038"/>
            <a:chOff x="84" y="902"/>
            <a:chExt cx="5676" cy="3309"/>
          </a:xfrm>
        </p:grpSpPr>
        <p:grpSp>
          <p:nvGrpSpPr>
            <p:cNvPr id="8" name="Group 57"/>
            <p:cNvGrpSpPr/>
            <p:nvPr/>
          </p:nvGrpSpPr>
          <p:grpSpPr bwMode="auto">
            <a:xfrm>
              <a:off x="84" y="902"/>
              <a:ext cx="5676" cy="2191"/>
              <a:chOff x="84" y="811"/>
              <a:chExt cx="5676" cy="2191"/>
            </a:xfrm>
          </p:grpSpPr>
          <p:sp>
            <p:nvSpPr>
              <p:cNvPr id="13" name="Text Box 135"/>
              <p:cNvSpPr txBox="1">
                <a:spLocks noChangeArrowheads="1"/>
              </p:cNvSpPr>
              <p:nvPr/>
            </p:nvSpPr>
            <p:spPr bwMode="auto">
              <a:xfrm>
                <a:off x="408" y="811"/>
                <a:ext cx="5352" cy="21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>
                  <a:lnSpc>
                    <a:spcPct val="95000"/>
                  </a:lnSpc>
                  <a:spcBef>
                    <a:spcPct val="10000"/>
                  </a:spcBef>
                </a:pPr>
                <a:r>
                  <a:rPr lang="zh-CN" altLang="en-US" sz="2000" b="1" dirty="0">
                    <a:solidFill>
                      <a:srgbClr val="0000CC"/>
                    </a:solidFill>
                    <a:ea typeface="楷体_GB2312" pitchFamily="49" charset="-122"/>
                  </a:rPr>
                  <a:t>进位标志</a:t>
                </a:r>
                <a:r>
                  <a:rPr lang="en-US" altLang="zh-CN" sz="2000" b="1" dirty="0">
                    <a:solidFill>
                      <a:srgbClr val="0000CC"/>
                    </a:solidFill>
                    <a:ea typeface="楷体_GB2312" pitchFamily="49" charset="-122"/>
                  </a:rPr>
                  <a:t>CF(Carry Flag)</a:t>
                </a:r>
                <a:r>
                  <a:rPr lang="zh-CN" altLang="en-US" sz="2000" b="1" dirty="0">
                    <a:solidFill>
                      <a:srgbClr val="0000CC"/>
                    </a:solidFill>
                    <a:ea typeface="楷体_GB2312" pitchFamily="49" charset="-122"/>
                  </a:rPr>
                  <a:t>：</a:t>
                </a:r>
                <a:r>
                  <a:rPr lang="zh-CN" altLang="en-US" sz="2000" b="1" dirty="0">
                    <a:ea typeface="楷体_GB2312" pitchFamily="49" charset="-122"/>
                  </a:rPr>
                  <a:t>当结果的最高位</a:t>
                </a:r>
                <a:r>
                  <a:rPr lang="en-US" altLang="zh-CN" sz="2000" b="1" dirty="0">
                    <a:ea typeface="楷体_GB2312" pitchFamily="49" charset="-122"/>
                  </a:rPr>
                  <a:t>(D</a:t>
                </a:r>
                <a:r>
                  <a:rPr lang="en-US" altLang="zh-CN" sz="2000" b="1" baseline="-25000" dirty="0">
                    <a:ea typeface="楷体_GB2312" pitchFamily="49" charset="-122"/>
                  </a:rPr>
                  <a:t>15</a:t>
                </a:r>
                <a:r>
                  <a:rPr lang="en-US" altLang="zh-CN" sz="2000" b="1" dirty="0">
                    <a:ea typeface="楷体_GB2312" pitchFamily="49" charset="-122"/>
                  </a:rPr>
                  <a:t> </a:t>
                </a:r>
                <a:r>
                  <a:rPr lang="zh-CN" altLang="en-US" sz="2000" b="1" dirty="0">
                    <a:ea typeface="楷体_GB2312" pitchFamily="49" charset="-122"/>
                  </a:rPr>
                  <a:t>或</a:t>
                </a:r>
                <a:r>
                  <a:rPr lang="en-US" altLang="zh-CN" sz="2000" b="1" dirty="0">
                    <a:ea typeface="楷体_GB2312" pitchFamily="49" charset="-122"/>
                  </a:rPr>
                  <a:t>D</a:t>
                </a:r>
                <a:r>
                  <a:rPr lang="en-US" altLang="zh-CN" sz="2000" b="1" baseline="-25000" dirty="0">
                    <a:ea typeface="楷体_GB2312" pitchFamily="49" charset="-122"/>
                  </a:rPr>
                  <a:t>7</a:t>
                </a:r>
                <a:r>
                  <a:rPr lang="en-US" altLang="zh-CN" sz="2000" b="1" dirty="0">
                    <a:ea typeface="楷体_GB2312" pitchFamily="49" charset="-122"/>
                  </a:rPr>
                  <a:t>)</a:t>
                </a:r>
                <a:r>
                  <a:rPr lang="zh-CN" altLang="en-US" sz="2000" b="1" dirty="0">
                    <a:ea typeface="楷体_GB2312" pitchFamily="49" charset="-122"/>
                  </a:rPr>
                  <a:t>产生一个进位或借位</a:t>
                </a:r>
                <a:r>
                  <a:rPr lang="en-US" altLang="zh-CN" sz="2000" b="1" dirty="0">
                    <a:ea typeface="楷体_GB2312" pitchFamily="49" charset="-122"/>
                  </a:rPr>
                  <a:t>,  </a:t>
                </a:r>
              </a:p>
              <a:p>
                <a:pPr eaLnBrk="0" hangingPunct="0">
                  <a:lnSpc>
                    <a:spcPct val="95000"/>
                  </a:lnSpc>
                  <a:spcBef>
                    <a:spcPct val="10000"/>
                  </a:spcBef>
                </a:pPr>
                <a:r>
                  <a:rPr lang="en-US" altLang="zh-CN" sz="2000" b="1" dirty="0">
                    <a:ea typeface="楷体_GB2312" pitchFamily="49" charset="-122"/>
                  </a:rPr>
                  <a:t>                                                </a:t>
                </a:r>
                <a:r>
                  <a:rPr lang="zh-CN" altLang="en-US" sz="2000" b="1" dirty="0">
                    <a:ea typeface="楷体_GB2312" pitchFamily="49" charset="-122"/>
                  </a:rPr>
                  <a:t>则</a:t>
                </a:r>
                <a:r>
                  <a:rPr lang="en-US" altLang="zh-CN" sz="2000" b="1" dirty="0">
                    <a:ea typeface="楷体_GB2312" pitchFamily="49" charset="-122"/>
                  </a:rPr>
                  <a:t>CF=1</a:t>
                </a:r>
                <a:r>
                  <a:rPr lang="zh-CN" altLang="en-US" sz="2000" b="1" dirty="0">
                    <a:ea typeface="楷体_GB2312" pitchFamily="49" charset="-122"/>
                  </a:rPr>
                  <a:t>，否则</a:t>
                </a:r>
                <a:r>
                  <a:rPr lang="en-US" altLang="zh-CN" sz="2000" b="1" dirty="0">
                    <a:ea typeface="楷体_GB2312" pitchFamily="49" charset="-122"/>
                  </a:rPr>
                  <a:t>CF=0</a:t>
                </a:r>
                <a:r>
                  <a:rPr lang="zh-CN" altLang="en-US" sz="2000" b="1" dirty="0">
                    <a:solidFill>
                      <a:schemeClr val="folHlink"/>
                    </a:solidFill>
                    <a:ea typeface="楷体_GB2312" pitchFamily="49" charset="-122"/>
                  </a:rPr>
                  <a:t>。</a:t>
                </a:r>
              </a:p>
              <a:p>
                <a:pPr eaLnBrk="0" hangingPunct="0">
                  <a:lnSpc>
                    <a:spcPct val="95000"/>
                  </a:lnSpc>
                  <a:spcBef>
                    <a:spcPct val="10000"/>
                  </a:spcBef>
                </a:pPr>
                <a:r>
                  <a:rPr lang="zh-CN" altLang="en-US" sz="2000" b="1" dirty="0">
                    <a:solidFill>
                      <a:srgbClr val="0000CC"/>
                    </a:solidFill>
                    <a:ea typeface="楷体_GB2312" pitchFamily="49" charset="-122"/>
                  </a:rPr>
                  <a:t>溢出标志</a:t>
                </a:r>
                <a:r>
                  <a:rPr lang="en-US" altLang="zh-CN" sz="2000" b="1" dirty="0">
                    <a:solidFill>
                      <a:srgbClr val="0000CC"/>
                    </a:solidFill>
                    <a:ea typeface="楷体_GB2312" pitchFamily="49" charset="-122"/>
                  </a:rPr>
                  <a:t>OF(Overflow Flag): </a:t>
                </a:r>
                <a:r>
                  <a:rPr lang="zh-CN" altLang="en-US" sz="2000" b="1" dirty="0">
                    <a:ea typeface="楷体_GB2312" pitchFamily="49" charset="-122"/>
                  </a:rPr>
                  <a:t>当带符号数的运算结果超出－</a:t>
                </a:r>
                <a:r>
                  <a:rPr lang="en-US" altLang="zh-CN" sz="2000" b="1" dirty="0">
                    <a:ea typeface="楷体_GB2312" pitchFamily="49" charset="-122"/>
                  </a:rPr>
                  <a:t>2</a:t>
                </a:r>
                <a:r>
                  <a:rPr lang="en-US" altLang="zh-CN" sz="2000" b="1" baseline="30000" dirty="0">
                    <a:ea typeface="楷体_GB2312" pitchFamily="49" charset="-122"/>
                  </a:rPr>
                  <a:t>n-1</a:t>
                </a:r>
                <a:r>
                  <a:rPr lang="zh-CN" altLang="en-US" sz="2000" b="1" dirty="0">
                    <a:ea typeface="楷体_GB2312" pitchFamily="49" charset="-122"/>
                  </a:rPr>
                  <a:t>～ </a:t>
                </a:r>
                <a:r>
                  <a:rPr lang="en-US" altLang="zh-CN" sz="2000" b="1" dirty="0">
                    <a:ea typeface="楷体_GB2312" pitchFamily="49" charset="-122"/>
                  </a:rPr>
                  <a:t>2</a:t>
                </a:r>
                <a:r>
                  <a:rPr lang="en-US" altLang="zh-CN" sz="2000" b="1" baseline="30000" dirty="0">
                    <a:ea typeface="楷体_GB2312" pitchFamily="49" charset="-122"/>
                  </a:rPr>
                  <a:t>n-1</a:t>
                </a:r>
                <a:r>
                  <a:rPr lang="zh-CN" altLang="en-US" sz="2000" b="1" dirty="0">
                    <a:ea typeface="楷体_GB2312" pitchFamily="49" charset="-122"/>
                  </a:rPr>
                  <a:t>－</a:t>
                </a:r>
                <a:r>
                  <a:rPr lang="en-US" altLang="zh-CN" sz="2000" b="1" dirty="0">
                    <a:ea typeface="楷体_GB2312" pitchFamily="49" charset="-122"/>
                  </a:rPr>
                  <a:t>1</a:t>
                </a:r>
              </a:p>
              <a:p>
                <a:pPr eaLnBrk="0" hangingPunct="0">
                  <a:lnSpc>
                    <a:spcPct val="95000"/>
                  </a:lnSpc>
                  <a:spcBef>
                    <a:spcPct val="10000"/>
                  </a:spcBef>
                </a:pPr>
                <a:r>
                  <a:rPr lang="en-US" altLang="zh-CN" sz="2000" b="1" dirty="0">
                    <a:ea typeface="楷体_GB2312" pitchFamily="49" charset="-122"/>
                  </a:rPr>
                  <a:t>                                                    </a:t>
                </a:r>
                <a:r>
                  <a:rPr lang="zh-CN" altLang="en-US" sz="2000" b="1" dirty="0">
                    <a:ea typeface="楷体_GB2312" pitchFamily="49" charset="-122"/>
                  </a:rPr>
                  <a:t>时，溢出，</a:t>
                </a:r>
                <a:r>
                  <a:rPr lang="en-US" altLang="zh-CN" sz="2000" b="1" dirty="0">
                    <a:ea typeface="楷体_GB2312" pitchFamily="49" charset="-122"/>
                  </a:rPr>
                  <a:t>OF=1</a:t>
                </a:r>
                <a:r>
                  <a:rPr lang="zh-CN" altLang="en-US" sz="2000" b="1" dirty="0">
                    <a:ea typeface="楷体_GB2312" pitchFamily="49" charset="-122"/>
                  </a:rPr>
                  <a:t>，否则</a:t>
                </a:r>
                <a:r>
                  <a:rPr lang="en-US" altLang="zh-CN" sz="2000" b="1" dirty="0">
                    <a:ea typeface="楷体_GB2312" pitchFamily="49" charset="-122"/>
                  </a:rPr>
                  <a:t>OF=0</a:t>
                </a:r>
                <a:r>
                  <a:rPr lang="zh-CN" altLang="en-US" sz="2000" b="1" dirty="0">
                    <a:ea typeface="楷体_GB2312" pitchFamily="49" charset="-122"/>
                  </a:rPr>
                  <a:t>。</a:t>
                </a:r>
                <a:r>
                  <a:rPr lang="zh-CN" altLang="en-US" sz="2000" b="1" dirty="0">
                    <a:solidFill>
                      <a:schemeClr val="folHlink"/>
                    </a:solidFill>
                    <a:ea typeface="楷体_GB2312" pitchFamily="49" charset="-122"/>
                  </a:rPr>
                  <a:t>                                                              </a:t>
                </a:r>
              </a:p>
              <a:p>
                <a:pPr eaLnBrk="0" hangingPunct="0">
                  <a:lnSpc>
                    <a:spcPct val="95000"/>
                  </a:lnSpc>
                  <a:spcBef>
                    <a:spcPct val="10000"/>
                  </a:spcBef>
                </a:pPr>
                <a:r>
                  <a:rPr lang="zh-CN" altLang="en-US" sz="2000" b="1" dirty="0">
                    <a:solidFill>
                      <a:srgbClr val="0000CC"/>
                    </a:solidFill>
                    <a:ea typeface="楷体_GB2312" pitchFamily="49" charset="-122"/>
                  </a:rPr>
                  <a:t>符号标志</a:t>
                </a:r>
                <a:r>
                  <a:rPr lang="en-US" altLang="zh-CN" sz="2000" b="1" dirty="0">
                    <a:solidFill>
                      <a:srgbClr val="0000CC"/>
                    </a:solidFill>
                    <a:ea typeface="楷体_GB2312" pitchFamily="49" charset="-122"/>
                  </a:rPr>
                  <a:t>SF(Sign Flag): </a:t>
                </a:r>
                <a:r>
                  <a:rPr lang="zh-CN" altLang="en-US" sz="2000" b="1" dirty="0">
                    <a:ea typeface="楷体_GB2312" pitchFamily="49" charset="-122"/>
                  </a:rPr>
                  <a:t>结果的最高位</a:t>
                </a:r>
                <a:r>
                  <a:rPr lang="en-US" altLang="zh-CN" sz="2000" b="1" dirty="0">
                    <a:ea typeface="楷体_GB2312" pitchFamily="49" charset="-122"/>
                  </a:rPr>
                  <a:t>(D</a:t>
                </a:r>
                <a:r>
                  <a:rPr lang="en-US" altLang="zh-CN" sz="2000" b="1" baseline="-25000" dirty="0">
                    <a:ea typeface="楷体_GB2312" pitchFamily="49" charset="-122"/>
                  </a:rPr>
                  <a:t>15</a:t>
                </a:r>
                <a:r>
                  <a:rPr lang="en-US" altLang="zh-CN" sz="2000" b="1" dirty="0">
                    <a:ea typeface="楷体_GB2312" pitchFamily="49" charset="-122"/>
                  </a:rPr>
                  <a:t> </a:t>
                </a:r>
                <a:r>
                  <a:rPr lang="zh-CN" altLang="en-US" sz="2000" b="1" dirty="0">
                    <a:ea typeface="楷体_GB2312" pitchFamily="49" charset="-122"/>
                  </a:rPr>
                  <a:t>或</a:t>
                </a:r>
                <a:r>
                  <a:rPr lang="en-US" altLang="zh-CN" sz="2000" b="1" dirty="0">
                    <a:ea typeface="楷体_GB2312" pitchFamily="49" charset="-122"/>
                  </a:rPr>
                  <a:t>D</a:t>
                </a:r>
                <a:r>
                  <a:rPr lang="en-US" altLang="zh-CN" sz="2000" b="1" baseline="-25000" dirty="0">
                    <a:ea typeface="楷体_GB2312" pitchFamily="49" charset="-122"/>
                  </a:rPr>
                  <a:t>7</a:t>
                </a:r>
                <a:r>
                  <a:rPr lang="en-US" altLang="zh-CN" sz="2000" b="1" dirty="0">
                    <a:ea typeface="楷体_GB2312" pitchFamily="49" charset="-122"/>
                  </a:rPr>
                  <a:t>)</a:t>
                </a:r>
                <a:r>
                  <a:rPr lang="zh-CN" altLang="en-US" sz="2000" b="1" dirty="0">
                    <a:ea typeface="楷体_GB2312" pitchFamily="49" charset="-122"/>
                  </a:rPr>
                  <a:t>为</a:t>
                </a:r>
                <a:r>
                  <a:rPr lang="en-US" altLang="zh-CN" sz="2000" b="1" dirty="0">
                    <a:ea typeface="楷体_GB2312" pitchFamily="49" charset="-122"/>
                  </a:rPr>
                  <a:t>1</a:t>
                </a:r>
                <a:r>
                  <a:rPr lang="zh-CN" altLang="en-US" sz="2000" b="1" dirty="0">
                    <a:ea typeface="楷体_GB2312" pitchFamily="49" charset="-122"/>
                  </a:rPr>
                  <a:t>，则</a:t>
                </a:r>
                <a:r>
                  <a:rPr lang="en-US" altLang="zh-CN" sz="2000" b="1" dirty="0">
                    <a:ea typeface="楷体_GB2312" pitchFamily="49" charset="-122"/>
                  </a:rPr>
                  <a:t>SF=1</a:t>
                </a:r>
                <a:r>
                  <a:rPr lang="zh-CN" altLang="en-US" sz="2000" b="1" dirty="0">
                    <a:ea typeface="楷体_GB2312" pitchFamily="49" charset="-122"/>
                  </a:rPr>
                  <a:t>，否则 </a:t>
                </a:r>
                <a:r>
                  <a:rPr lang="en-US" altLang="zh-CN" sz="2000" b="1" dirty="0">
                    <a:ea typeface="楷体_GB2312" pitchFamily="49" charset="-122"/>
                  </a:rPr>
                  <a:t>SF=0.                                                  </a:t>
                </a:r>
              </a:p>
              <a:p>
                <a:pPr eaLnBrk="0" hangingPunct="0">
                  <a:lnSpc>
                    <a:spcPct val="95000"/>
                  </a:lnSpc>
                  <a:spcBef>
                    <a:spcPct val="40000"/>
                  </a:spcBef>
                </a:pPr>
                <a:r>
                  <a:rPr lang="zh-CN" altLang="en-US" sz="2000" b="1" dirty="0">
                    <a:solidFill>
                      <a:srgbClr val="0000CC"/>
                    </a:solidFill>
                    <a:ea typeface="楷体_GB2312" pitchFamily="49" charset="-122"/>
                  </a:rPr>
                  <a:t>零标志</a:t>
                </a:r>
                <a:r>
                  <a:rPr lang="en-US" altLang="zh-CN" sz="2000" b="1" dirty="0">
                    <a:solidFill>
                      <a:srgbClr val="0000CC"/>
                    </a:solidFill>
                    <a:ea typeface="楷体_GB2312" pitchFamily="49" charset="-122"/>
                  </a:rPr>
                  <a:t>ZF(Zero Flag)</a:t>
                </a:r>
                <a:r>
                  <a:rPr lang="zh-CN" altLang="en-US" sz="2000" b="1" dirty="0">
                    <a:solidFill>
                      <a:srgbClr val="0000CC"/>
                    </a:solidFill>
                    <a:ea typeface="楷体_GB2312" pitchFamily="49" charset="-122"/>
                  </a:rPr>
                  <a:t>：</a:t>
                </a:r>
                <a:r>
                  <a:rPr lang="zh-CN" altLang="en-US" sz="2000" b="1" dirty="0">
                    <a:ea typeface="楷体_GB2312" pitchFamily="49" charset="-122"/>
                  </a:rPr>
                  <a:t> 若运算的结果为</a:t>
                </a:r>
                <a:r>
                  <a:rPr lang="en-US" altLang="zh-CN" sz="2000" b="1" dirty="0">
                    <a:ea typeface="楷体_GB2312" pitchFamily="49" charset="-122"/>
                  </a:rPr>
                  <a:t>0</a:t>
                </a:r>
                <a:r>
                  <a:rPr lang="zh-CN" altLang="en-US" sz="2000" b="1" dirty="0">
                    <a:ea typeface="楷体_GB2312" pitchFamily="49" charset="-122"/>
                  </a:rPr>
                  <a:t>，则</a:t>
                </a:r>
                <a:r>
                  <a:rPr lang="en-US" altLang="zh-CN" sz="2000" b="1" dirty="0">
                    <a:ea typeface="楷体_GB2312" pitchFamily="49" charset="-122"/>
                  </a:rPr>
                  <a:t>ZF=1</a:t>
                </a:r>
                <a:r>
                  <a:rPr lang="zh-CN" altLang="en-US" sz="2000" b="1" dirty="0">
                    <a:ea typeface="楷体_GB2312" pitchFamily="49" charset="-122"/>
                  </a:rPr>
                  <a:t>，否则</a:t>
                </a:r>
                <a:r>
                  <a:rPr lang="en-US" altLang="zh-CN" sz="2000" b="1" dirty="0">
                    <a:ea typeface="楷体_GB2312" pitchFamily="49" charset="-122"/>
                  </a:rPr>
                  <a:t>ZF=0</a:t>
                </a:r>
                <a:r>
                  <a:rPr lang="zh-CN" altLang="en-US" sz="2000" b="1" dirty="0">
                    <a:ea typeface="楷体_GB2312" pitchFamily="49" charset="-122"/>
                  </a:rPr>
                  <a:t>。</a:t>
                </a:r>
              </a:p>
              <a:p>
                <a:pPr eaLnBrk="0" hangingPunct="0">
                  <a:lnSpc>
                    <a:spcPct val="95000"/>
                  </a:lnSpc>
                  <a:spcBef>
                    <a:spcPct val="40000"/>
                  </a:spcBef>
                </a:pPr>
                <a:r>
                  <a:rPr lang="zh-CN" altLang="en-US" sz="2000" b="1" dirty="0">
                    <a:solidFill>
                      <a:srgbClr val="0000CC"/>
                    </a:solidFill>
                    <a:ea typeface="楷体_GB2312" pitchFamily="49" charset="-122"/>
                  </a:rPr>
                  <a:t>奇偶标志</a:t>
                </a:r>
                <a:r>
                  <a:rPr lang="en-US" altLang="zh-CN" sz="2000" b="1" dirty="0">
                    <a:solidFill>
                      <a:srgbClr val="0000CC"/>
                    </a:solidFill>
                    <a:ea typeface="楷体_GB2312" pitchFamily="49" charset="-122"/>
                  </a:rPr>
                  <a:t>PF(Parity Flag): </a:t>
                </a:r>
                <a:r>
                  <a:rPr lang="zh-CN" altLang="en-US" sz="2000" b="1" dirty="0">
                    <a:ea typeface="楷体_GB2312" pitchFamily="49" charset="-122"/>
                  </a:rPr>
                  <a:t>若运算结果的低</a:t>
                </a:r>
                <a:r>
                  <a:rPr lang="en-US" altLang="zh-CN" sz="2000" b="1" dirty="0">
                    <a:ea typeface="楷体_GB2312" pitchFamily="49" charset="-122"/>
                  </a:rPr>
                  <a:t>8</a:t>
                </a:r>
                <a:r>
                  <a:rPr lang="zh-CN" altLang="en-US" sz="2000" b="1" dirty="0">
                    <a:ea typeface="楷体_GB2312" pitchFamily="49" charset="-122"/>
                  </a:rPr>
                  <a:t>位中‘</a:t>
                </a:r>
                <a:r>
                  <a:rPr lang="en-US" altLang="zh-CN" sz="2000" b="1" dirty="0">
                    <a:ea typeface="楷体_GB2312" pitchFamily="49" charset="-122"/>
                  </a:rPr>
                  <a:t>1’</a:t>
                </a:r>
                <a:r>
                  <a:rPr lang="zh-CN" altLang="en-US" sz="2000" b="1" dirty="0">
                    <a:ea typeface="楷体_GB2312" pitchFamily="49" charset="-122"/>
                  </a:rPr>
                  <a:t>的个数为偶数，则</a:t>
                </a:r>
              </a:p>
              <a:p>
                <a:pPr eaLnBrk="0" hangingPunct="0">
                  <a:lnSpc>
                    <a:spcPct val="95000"/>
                  </a:lnSpc>
                  <a:spcBef>
                    <a:spcPct val="10000"/>
                  </a:spcBef>
                </a:pPr>
                <a:r>
                  <a:rPr lang="zh-CN" altLang="en-US" sz="2000" b="1" dirty="0">
                    <a:ea typeface="楷体_GB2312" pitchFamily="49" charset="-122"/>
                  </a:rPr>
                  <a:t>                                              </a:t>
                </a:r>
                <a:r>
                  <a:rPr lang="en-US" altLang="zh-CN" sz="2000" b="1" dirty="0">
                    <a:ea typeface="楷体_GB2312" pitchFamily="49" charset="-122"/>
                  </a:rPr>
                  <a:t>PF=1</a:t>
                </a:r>
                <a:r>
                  <a:rPr lang="zh-CN" altLang="en-US" sz="2000" b="1" dirty="0">
                    <a:ea typeface="楷体_GB2312" pitchFamily="49" charset="-122"/>
                  </a:rPr>
                  <a:t>，否则，</a:t>
                </a:r>
                <a:r>
                  <a:rPr lang="en-US" altLang="zh-CN" sz="2000" b="1" dirty="0">
                    <a:ea typeface="楷体_GB2312" pitchFamily="49" charset="-122"/>
                  </a:rPr>
                  <a:t>PF=0</a:t>
                </a:r>
                <a:r>
                  <a:rPr lang="zh-CN" altLang="en-US" sz="2000" b="1" dirty="0">
                    <a:ea typeface="楷体_GB2312" pitchFamily="49" charset="-122"/>
                  </a:rPr>
                  <a:t>。</a:t>
                </a:r>
              </a:p>
              <a:p>
                <a:pPr eaLnBrk="0" hangingPunct="0">
                  <a:lnSpc>
                    <a:spcPct val="95000"/>
                  </a:lnSpc>
                  <a:spcBef>
                    <a:spcPct val="10000"/>
                  </a:spcBef>
                </a:pPr>
                <a:r>
                  <a:rPr lang="zh-CN" altLang="en-US" sz="2000" b="1" dirty="0">
                    <a:solidFill>
                      <a:srgbClr val="0000CC"/>
                    </a:solidFill>
                    <a:ea typeface="楷体_GB2312" pitchFamily="49" charset="-122"/>
                  </a:rPr>
                  <a:t>辅助进位标志</a:t>
                </a:r>
                <a:r>
                  <a:rPr lang="en-US" altLang="zh-CN" sz="2000" b="1" dirty="0">
                    <a:solidFill>
                      <a:srgbClr val="0000CC"/>
                    </a:solidFill>
                    <a:ea typeface="楷体_GB2312" pitchFamily="49" charset="-122"/>
                  </a:rPr>
                  <a:t>AF(Auxiliary Flag)</a:t>
                </a:r>
                <a:r>
                  <a:rPr lang="zh-CN" altLang="en-US" sz="2000" b="1" dirty="0">
                    <a:solidFill>
                      <a:srgbClr val="0000CC"/>
                    </a:solidFill>
                    <a:ea typeface="楷体_GB2312" pitchFamily="49" charset="-122"/>
                  </a:rPr>
                  <a:t>：</a:t>
                </a:r>
                <a:r>
                  <a:rPr lang="zh-CN" altLang="en-US" sz="2000" b="1" dirty="0">
                    <a:ea typeface="楷体_GB2312" pitchFamily="49" charset="-122"/>
                  </a:rPr>
                  <a:t>在进行</a:t>
                </a:r>
                <a:r>
                  <a:rPr lang="en-US" altLang="zh-CN" sz="2000" b="1" dirty="0">
                    <a:ea typeface="楷体_GB2312" pitchFamily="49" charset="-122"/>
                  </a:rPr>
                  <a:t>8</a:t>
                </a:r>
                <a:r>
                  <a:rPr lang="zh-CN" altLang="en-US" sz="2000" b="1" dirty="0">
                    <a:ea typeface="楷体_GB2312" pitchFamily="49" charset="-122"/>
                  </a:rPr>
                  <a:t>位或</a:t>
                </a:r>
                <a:r>
                  <a:rPr lang="en-US" altLang="zh-CN" sz="2000" b="1" dirty="0">
                    <a:ea typeface="楷体_GB2312" pitchFamily="49" charset="-122"/>
                  </a:rPr>
                  <a:t>16</a:t>
                </a:r>
                <a:r>
                  <a:rPr lang="zh-CN" altLang="en-US" sz="2000" b="1" dirty="0">
                    <a:ea typeface="楷体_GB2312" pitchFamily="49" charset="-122"/>
                  </a:rPr>
                  <a:t>位数运算时，由低</a:t>
                </a:r>
                <a:r>
                  <a:rPr lang="en-US" altLang="zh-CN" sz="2000" b="1" dirty="0">
                    <a:ea typeface="楷体_GB2312" pitchFamily="49" charset="-122"/>
                  </a:rPr>
                  <a:t>4</a:t>
                </a:r>
                <a:r>
                  <a:rPr lang="zh-CN" altLang="en-US" sz="2000" b="1" dirty="0">
                    <a:ea typeface="楷体_GB2312" pitchFamily="49" charset="-122"/>
                  </a:rPr>
                  <a:t>位向</a:t>
                </a:r>
              </a:p>
              <a:p>
                <a:pPr eaLnBrk="0" hangingPunct="0">
                  <a:lnSpc>
                    <a:spcPct val="95000"/>
                  </a:lnSpc>
                  <a:spcBef>
                    <a:spcPct val="10000"/>
                  </a:spcBef>
                </a:pPr>
                <a:r>
                  <a:rPr lang="zh-CN" altLang="en-US" sz="2000" b="1" dirty="0">
                    <a:ea typeface="楷体_GB2312" pitchFamily="49" charset="-122"/>
                  </a:rPr>
                  <a:t>                                         高</a:t>
                </a:r>
                <a:r>
                  <a:rPr lang="en-US" altLang="zh-CN" sz="2000" b="1" dirty="0">
                    <a:ea typeface="楷体_GB2312" pitchFamily="49" charset="-122"/>
                  </a:rPr>
                  <a:t>4</a:t>
                </a:r>
                <a:r>
                  <a:rPr lang="zh-CN" altLang="en-US" sz="2000" b="1" dirty="0">
                    <a:ea typeface="楷体_GB2312" pitchFamily="49" charset="-122"/>
                  </a:rPr>
                  <a:t>位</a:t>
                </a:r>
                <a:r>
                  <a:rPr lang="en-US" altLang="zh-CN" sz="2000" b="1" dirty="0">
                    <a:ea typeface="楷体_GB2312" pitchFamily="49" charset="-122"/>
                  </a:rPr>
                  <a:t>(D</a:t>
                </a:r>
                <a:r>
                  <a:rPr lang="en-US" altLang="zh-CN" sz="2000" b="1" baseline="-25000" dirty="0">
                    <a:ea typeface="楷体_GB2312" pitchFamily="49" charset="-122"/>
                  </a:rPr>
                  <a:t>3</a:t>
                </a:r>
                <a:r>
                  <a:rPr lang="zh-CN" altLang="en-US" sz="2000" b="1" dirty="0">
                    <a:ea typeface="楷体_GB2312" pitchFamily="49" charset="-122"/>
                  </a:rPr>
                  <a:t>向</a:t>
                </a:r>
                <a:r>
                  <a:rPr lang="en-US" altLang="zh-CN" sz="2000" b="1" dirty="0">
                    <a:ea typeface="楷体_GB2312" pitchFamily="49" charset="-122"/>
                  </a:rPr>
                  <a:t>D</a:t>
                </a:r>
                <a:r>
                  <a:rPr lang="en-US" altLang="zh-CN" sz="2000" b="1" baseline="-25000" dirty="0">
                    <a:ea typeface="楷体_GB2312" pitchFamily="49" charset="-122"/>
                  </a:rPr>
                  <a:t>4</a:t>
                </a:r>
                <a:r>
                  <a:rPr lang="en-US" altLang="zh-CN" sz="2000" b="1" dirty="0">
                    <a:ea typeface="楷体_GB2312" pitchFamily="49" charset="-122"/>
                  </a:rPr>
                  <a:t>)</a:t>
                </a:r>
                <a:r>
                  <a:rPr lang="zh-CN" altLang="en-US" sz="2000" b="1" dirty="0">
                    <a:ea typeface="楷体_GB2312" pitchFamily="49" charset="-122"/>
                  </a:rPr>
                  <a:t>有进位或借位，则</a:t>
                </a:r>
                <a:r>
                  <a:rPr lang="en-US" altLang="zh-CN" sz="2000" b="1" dirty="0">
                    <a:ea typeface="楷体_GB2312" pitchFamily="49" charset="-122"/>
                  </a:rPr>
                  <a:t>AF=1</a:t>
                </a:r>
                <a:r>
                  <a:rPr lang="zh-CN" altLang="en-US" sz="2000" b="1" dirty="0">
                    <a:ea typeface="楷体_GB2312" pitchFamily="49" charset="-122"/>
                  </a:rPr>
                  <a:t>，否则</a:t>
                </a:r>
                <a:r>
                  <a:rPr lang="en-US" altLang="zh-CN" sz="2000" b="1" dirty="0">
                    <a:ea typeface="楷体_GB2312" pitchFamily="49" charset="-122"/>
                  </a:rPr>
                  <a:t>AF=0.</a:t>
                </a:r>
              </a:p>
            </p:txBody>
          </p:sp>
          <p:sp>
            <p:nvSpPr>
              <p:cNvPr id="14" name="Text Box 136"/>
              <p:cNvSpPr txBox="1">
                <a:spLocks noChangeArrowheads="1"/>
              </p:cNvSpPr>
              <p:nvPr/>
            </p:nvSpPr>
            <p:spPr bwMode="auto">
              <a:xfrm>
                <a:off x="84" y="1196"/>
                <a:ext cx="456" cy="10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>
                  <a:lnSpc>
                    <a:spcPct val="80000"/>
                  </a:lnSpc>
                  <a:spcBef>
                    <a:spcPct val="50000"/>
                  </a:spcBef>
                </a:pPr>
                <a:endParaRPr lang="en-US" altLang="zh-CN" sz="1600" b="1">
                  <a:solidFill>
                    <a:srgbClr val="006666"/>
                  </a:solidFill>
                  <a:ea typeface="楷体_GB2312" pitchFamily="49" charset="-122"/>
                </a:endParaRPr>
              </a:p>
              <a:p>
                <a:pPr eaLnBrk="0" hangingPunct="0">
                  <a:lnSpc>
                    <a:spcPct val="80000"/>
                  </a:lnSpc>
                  <a:spcBef>
                    <a:spcPct val="50000"/>
                  </a:spcBef>
                </a:pPr>
                <a:r>
                  <a:rPr lang="zh-CN" altLang="en-US" sz="1800" b="1">
                    <a:solidFill>
                      <a:srgbClr val="FF3300"/>
                    </a:solidFill>
                    <a:ea typeface="楷体_GB2312" pitchFamily="49" charset="-122"/>
                  </a:rPr>
                  <a:t>状</a:t>
                </a:r>
              </a:p>
              <a:p>
                <a:pPr eaLnBrk="0" hangingPunct="0">
                  <a:lnSpc>
                    <a:spcPct val="80000"/>
                  </a:lnSpc>
                  <a:spcBef>
                    <a:spcPct val="50000"/>
                  </a:spcBef>
                </a:pPr>
                <a:r>
                  <a:rPr lang="zh-CN" altLang="en-US" sz="1800" b="1">
                    <a:solidFill>
                      <a:srgbClr val="FF3300"/>
                    </a:solidFill>
                    <a:ea typeface="楷体_GB2312" pitchFamily="49" charset="-122"/>
                  </a:rPr>
                  <a:t>态</a:t>
                </a:r>
              </a:p>
              <a:p>
                <a:pPr eaLnBrk="0" hangingPunct="0">
                  <a:lnSpc>
                    <a:spcPct val="80000"/>
                  </a:lnSpc>
                  <a:spcBef>
                    <a:spcPct val="50000"/>
                  </a:spcBef>
                </a:pPr>
                <a:r>
                  <a:rPr lang="zh-CN" altLang="en-US" sz="1800" b="1">
                    <a:solidFill>
                      <a:srgbClr val="FF3300"/>
                    </a:solidFill>
                    <a:ea typeface="楷体_GB2312" pitchFamily="49" charset="-122"/>
                  </a:rPr>
                  <a:t>标</a:t>
                </a:r>
              </a:p>
              <a:p>
                <a:pPr eaLnBrk="0" hangingPunct="0">
                  <a:lnSpc>
                    <a:spcPct val="80000"/>
                  </a:lnSpc>
                  <a:spcBef>
                    <a:spcPct val="50000"/>
                  </a:spcBef>
                </a:pPr>
                <a:r>
                  <a:rPr lang="zh-CN" altLang="en-US" sz="1800" b="1">
                    <a:solidFill>
                      <a:srgbClr val="FF3300"/>
                    </a:solidFill>
                    <a:ea typeface="楷体_GB2312" pitchFamily="49" charset="-122"/>
                  </a:rPr>
                  <a:t>志</a:t>
                </a:r>
              </a:p>
            </p:txBody>
          </p:sp>
          <p:sp>
            <p:nvSpPr>
              <p:cNvPr id="15" name="AutoShape 137"/>
              <p:cNvSpPr/>
              <p:nvPr/>
            </p:nvSpPr>
            <p:spPr bwMode="auto">
              <a:xfrm>
                <a:off x="348" y="907"/>
                <a:ext cx="96" cy="1926"/>
              </a:xfrm>
              <a:prstGeom prst="leftBrace">
                <a:avLst>
                  <a:gd name="adj1" fmla="val 167187"/>
                  <a:gd name="adj2" fmla="val 50000"/>
                </a:avLst>
              </a:prstGeom>
              <a:noFill/>
              <a:ln w="12700">
                <a:solidFill>
                  <a:srgbClr val="9933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algn="ctr">
                  <a:lnSpc>
                    <a:spcPct val="80000"/>
                  </a:lnSpc>
                </a:pPr>
                <a:endParaRPr lang="zh-CN" altLang="zh-CN" sz="2400" b="1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9" name="Group 56"/>
            <p:cNvGrpSpPr/>
            <p:nvPr/>
          </p:nvGrpSpPr>
          <p:grpSpPr bwMode="auto">
            <a:xfrm>
              <a:off x="84" y="3067"/>
              <a:ext cx="5676" cy="1144"/>
              <a:chOff x="84" y="3067"/>
              <a:chExt cx="5676" cy="1144"/>
            </a:xfrm>
          </p:grpSpPr>
          <p:sp>
            <p:nvSpPr>
              <p:cNvPr id="10" name="Text Box 139"/>
              <p:cNvSpPr txBox="1">
                <a:spLocks noChangeArrowheads="1"/>
              </p:cNvSpPr>
              <p:nvPr/>
            </p:nvSpPr>
            <p:spPr bwMode="auto">
              <a:xfrm>
                <a:off x="84" y="3067"/>
                <a:ext cx="372" cy="10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>
                  <a:lnSpc>
                    <a:spcPct val="80000"/>
                  </a:lnSpc>
                  <a:spcBef>
                    <a:spcPct val="50000"/>
                  </a:spcBef>
                </a:pPr>
                <a:endParaRPr lang="en-US" altLang="zh-CN" sz="1600" b="1">
                  <a:solidFill>
                    <a:srgbClr val="CC6600"/>
                  </a:solidFill>
                  <a:ea typeface="楷体_GB2312" pitchFamily="49" charset="-122"/>
                </a:endParaRPr>
              </a:p>
              <a:p>
                <a:pPr eaLnBrk="0" hangingPunct="0">
                  <a:lnSpc>
                    <a:spcPct val="80000"/>
                  </a:lnSpc>
                  <a:spcBef>
                    <a:spcPct val="30000"/>
                  </a:spcBef>
                </a:pPr>
                <a:r>
                  <a:rPr lang="zh-CN" altLang="en-US" sz="2000" b="1">
                    <a:solidFill>
                      <a:srgbClr val="FF3300"/>
                    </a:solidFill>
                    <a:ea typeface="楷体_GB2312" pitchFamily="49" charset="-122"/>
                  </a:rPr>
                  <a:t>控</a:t>
                </a:r>
              </a:p>
              <a:p>
                <a:pPr eaLnBrk="0" hangingPunct="0">
                  <a:lnSpc>
                    <a:spcPct val="80000"/>
                  </a:lnSpc>
                  <a:spcBef>
                    <a:spcPct val="30000"/>
                  </a:spcBef>
                </a:pPr>
                <a:r>
                  <a:rPr lang="zh-CN" altLang="en-US" sz="2000" b="1">
                    <a:solidFill>
                      <a:srgbClr val="FF3300"/>
                    </a:solidFill>
                    <a:ea typeface="楷体_GB2312" pitchFamily="49" charset="-122"/>
                  </a:rPr>
                  <a:t>制</a:t>
                </a:r>
              </a:p>
              <a:p>
                <a:pPr eaLnBrk="0" hangingPunct="0">
                  <a:lnSpc>
                    <a:spcPct val="80000"/>
                  </a:lnSpc>
                  <a:spcBef>
                    <a:spcPct val="30000"/>
                  </a:spcBef>
                </a:pPr>
                <a:r>
                  <a:rPr lang="zh-CN" altLang="en-US" sz="2000" b="1">
                    <a:solidFill>
                      <a:srgbClr val="FF3300"/>
                    </a:solidFill>
                    <a:ea typeface="楷体_GB2312" pitchFamily="49" charset="-122"/>
                  </a:rPr>
                  <a:t>标</a:t>
                </a:r>
              </a:p>
              <a:p>
                <a:pPr eaLnBrk="0" hangingPunct="0">
                  <a:lnSpc>
                    <a:spcPct val="80000"/>
                  </a:lnSpc>
                  <a:spcBef>
                    <a:spcPct val="30000"/>
                  </a:spcBef>
                </a:pPr>
                <a:r>
                  <a:rPr lang="zh-CN" altLang="en-US" sz="2000" b="1">
                    <a:solidFill>
                      <a:srgbClr val="FF3300"/>
                    </a:solidFill>
                    <a:ea typeface="楷体_GB2312" pitchFamily="49" charset="-122"/>
                  </a:rPr>
                  <a:t>志</a:t>
                </a:r>
              </a:p>
            </p:txBody>
          </p:sp>
          <p:sp>
            <p:nvSpPr>
              <p:cNvPr id="11" name="AutoShape 140"/>
              <p:cNvSpPr/>
              <p:nvPr/>
            </p:nvSpPr>
            <p:spPr bwMode="auto">
              <a:xfrm>
                <a:off x="348" y="3253"/>
                <a:ext cx="48" cy="816"/>
              </a:xfrm>
              <a:prstGeom prst="leftBrace">
                <a:avLst>
                  <a:gd name="adj1" fmla="val 141667"/>
                  <a:gd name="adj2" fmla="val 50000"/>
                </a:avLst>
              </a:prstGeom>
              <a:noFill/>
              <a:ln w="9525">
                <a:solidFill>
                  <a:srgbClr val="8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</a:pPr>
                <a:endParaRPr kumimoji="0" lang="zh-CN" altLang="zh-CN" sz="2400" b="1"/>
              </a:p>
            </p:txBody>
          </p:sp>
          <p:sp>
            <p:nvSpPr>
              <p:cNvPr id="12" name="Rectangle 141"/>
              <p:cNvSpPr>
                <a:spLocks noChangeArrowheads="1"/>
              </p:cNvSpPr>
              <p:nvPr/>
            </p:nvSpPr>
            <p:spPr bwMode="auto">
              <a:xfrm>
                <a:off x="396" y="3157"/>
                <a:ext cx="5364" cy="10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0" hangingPunct="0">
                  <a:lnSpc>
                    <a:spcPct val="95000"/>
                  </a:lnSpc>
                  <a:spcBef>
                    <a:spcPct val="10000"/>
                  </a:spcBef>
                </a:pPr>
                <a:r>
                  <a:rPr kumimoji="1" lang="zh-CN" altLang="en-US" sz="2000" b="1" dirty="0">
                    <a:solidFill>
                      <a:srgbClr val="0000CC"/>
                    </a:solidFill>
                    <a:ea typeface="楷体_GB2312" pitchFamily="49" charset="-122"/>
                  </a:rPr>
                  <a:t>方向标志</a:t>
                </a:r>
                <a:r>
                  <a:rPr kumimoji="1" lang="en-US" altLang="zh-CN" sz="2000" b="1" dirty="0">
                    <a:solidFill>
                      <a:srgbClr val="0000CC"/>
                    </a:solidFill>
                    <a:ea typeface="楷体_GB2312" pitchFamily="49" charset="-122"/>
                  </a:rPr>
                  <a:t>DF(Direction Flag)</a:t>
                </a:r>
                <a:r>
                  <a:rPr kumimoji="1" lang="zh-CN" altLang="en-US" sz="2000" b="1" dirty="0">
                    <a:solidFill>
                      <a:srgbClr val="0000CC"/>
                    </a:solidFill>
                    <a:ea typeface="楷体_GB2312" pitchFamily="49" charset="-122"/>
                  </a:rPr>
                  <a:t>： </a:t>
                </a:r>
                <a:r>
                  <a:rPr lang="en-US" altLang="zh-CN" b="1" dirty="0"/>
                  <a:t>DF=1 </a:t>
                </a:r>
                <a:r>
                  <a:rPr lang="zh-CN" altLang="en-US" b="1" dirty="0"/>
                  <a:t>，串操作时地址自动减量；</a:t>
                </a:r>
              </a:p>
              <a:p>
                <a:pPr eaLnBrk="0" hangingPunct="0">
                  <a:lnSpc>
                    <a:spcPct val="95000"/>
                  </a:lnSpc>
                  <a:spcBef>
                    <a:spcPct val="10000"/>
                  </a:spcBef>
                </a:pPr>
                <a:r>
                  <a:rPr kumimoji="1" lang="zh-CN" altLang="en-US" sz="2000" b="1" dirty="0">
                    <a:solidFill>
                      <a:srgbClr val="0000CC"/>
                    </a:solidFill>
                    <a:ea typeface="楷体_GB2312" pitchFamily="49" charset="-122"/>
                  </a:rPr>
                  <a:t>                                                      </a:t>
                </a:r>
                <a:r>
                  <a:rPr kumimoji="1" lang="en-US" altLang="zh-CN" sz="2000" b="1" dirty="0">
                    <a:solidFill>
                      <a:srgbClr val="0000CC"/>
                    </a:solidFill>
                    <a:ea typeface="楷体_GB2312" pitchFamily="49" charset="-122"/>
                  </a:rPr>
                  <a:t>DF=0</a:t>
                </a:r>
                <a:r>
                  <a:rPr kumimoji="1" lang="zh-CN" altLang="en-US" sz="2000" b="1" dirty="0">
                    <a:solidFill>
                      <a:srgbClr val="0000CC"/>
                    </a:solidFill>
                    <a:ea typeface="楷体_GB2312" pitchFamily="49" charset="-122"/>
                  </a:rPr>
                  <a:t>，串操作时地址自动增量。</a:t>
                </a:r>
              </a:p>
              <a:p>
                <a:pPr eaLnBrk="0" hangingPunct="0">
                  <a:lnSpc>
                    <a:spcPct val="95000"/>
                  </a:lnSpc>
                  <a:spcBef>
                    <a:spcPct val="10000"/>
                  </a:spcBef>
                </a:pPr>
                <a:r>
                  <a:rPr kumimoji="1" lang="zh-CN" altLang="en-US" sz="2000" b="1" dirty="0">
                    <a:solidFill>
                      <a:srgbClr val="0000CC"/>
                    </a:solidFill>
                    <a:ea typeface="楷体_GB2312" pitchFamily="49" charset="-122"/>
                  </a:rPr>
                  <a:t>中断允许标志</a:t>
                </a:r>
                <a:r>
                  <a:rPr kumimoji="1" lang="en-US" altLang="zh-CN" sz="2000" b="1" dirty="0">
                    <a:solidFill>
                      <a:srgbClr val="0000CC"/>
                    </a:solidFill>
                    <a:ea typeface="楷体_GB2312" pitchFamily="49" charset="-122"/>
                  </a:rPr>
                  <a:t>IF(Interrupt Enable Flag)</a:t>
                </a:r>
                <a:r>
                  <a:rPr kumimoji="1" lang="zh-CN" altLang="en-US" sz="2000" b="1" dirty="0">
                    <a:solidFill>
                      <a:srgbClr val="0000CC"/>
                    </a:solidFill>
                    <a:ea typeface="楷体_GB2312" pitchFamily="49" charset="-122"/>
                  </a:rPr>
                  <a:t>：</a:t>
                </a:r>
                <a:r>
                  <a:rPr lang="en-US" altLang="zh-CN" b="1" dirty="0"/>
                  <a:t>IF=1</a:t>
                </a:r>
                <a:r>
                  <a:rPr lang="zh-CN" altLang="en-US" b="1" dirty="0"/>
                  <a:t>，允许</a:t>
                </a:r>
                <a:r>
                  <a:rPr lang="en-US" altLang="zh-CN" b="1" dirty="0"/>
                  <a:t>CPU</a:t>
                </a:r>
                <a:r>
                  <a:rPr lang="zh-CN" altLang="en-US" b="1" dirty="0"/>
                  <a:t>接收外部中断</a:t>
                </a:r>
              </a:p>
              <a:p>
                <a:pPr eaLnBrk="0" hangingPunct="0">
                  <a:lnSpc>
                    <a:spcPct val="95000"/>
                  </a:lnSpc>
                  <a:spcBef>
                    <a:spcPct val="10000"/>
                  </a:spcBef>
                </a:pPr>
                <a:r>
                  <a:rPr kumimoji="1" lang="zh-CN" altLang="en-US" sz="2000" b="1" dirty="0">
                    <a:solidFill>
                      <a:srgbClr val="0000CC"/>
                    </a:solidFill>
                    <a:ea typeface="楷体_GB2312" pitchFamily="49" charset="-122"/>
                  </a:rPr>
                  <a:t>                                                                       请求，</a:t>
                </a:r>
                <a:r>
                  <a:rPr kumimoji="1" lang="en-US" altLang="zh-CN" sz="2000" b="1" dirty="0">
                    <a:solidFill>
                      <a:srgbClr val="0000CC"/>
                    </a:solidFill>
                    <a:ea typeface="楷体_GB2312" pitchFamily="49" charset="-122"/>
                  </a:rPr>
                  <a:t>IF=0</a:t>
                </a:r>
                <a:r>
                  <a:rPr kumimoji="1" lang="zh-CN" altLang="en-US" sz="2000" b="1" dirty="0">
                    <a:solidFill>
                      <a:srgbClr val="0000CC"/>
                    </a:solidFill>
                    <a:ea typeface="楷体_GB2312" pitchFamily="49" charset="-122"/>
                  </a:rPr>
                  <a:t>，屏蔽外部中断请求</a:t>
                </a:r>
              </a:p>
              <a:p>
                <a:pPr eaLnBrk="0" hangingPunct="0">
                  <a:lnSpc>
                    <a:spcPct val="95000"/>
                  </a:lnSpc>
                  <a:spcBef>
                    <a:spcPct val="10000"/>
                  </a:spcBef>
                </a:pPr>
                <a:r>
                  <a:rPr kumimoji="1" lang="zh-CN" altLang="en-US" sz="2000" b="1" dirty="0">
                    <a:solidFill>
                      <a:srgbClr val="0000CC"/>
                    </a:solidFill>
                    <a:ea typeface="楷体_GB2312" pitchFamily="49" charset="-122"/>
                  </a:rPr>
                  <a:t>单步标志</a:t>
                </a:r>
                <a:r>
                  <a:rPr kumimoji="1" lang="en-US" altLang="zh-CN" sz="2000" b="1" dirty="0">
                    <a:solidFill>
                      <a:srgbClr val="0000CC"/>
                    </a:solidFill>
                    <a:ea typeface="楷体_GB2312" pitchFamily="49" charset="-122"/>
                  </a:rPr>
                  <a:t>TF(Trap Flag)</a:t>
                </a:r>
                <a:r>
                  <a:rPr kumimoji="1" lang="zh-CN" altLang="en-US" sz="2000" b="1" dirty="0">
                    <a:solidFill>
                      <a:srgbClr val="0000CC"/>
                    </a:solidFill>
                    <a:ea typeface="楷体_GB2312" pitchFamily="49" charset="-122"/>
                  </a:rPr>
                  <a:t>： </a:t>
                </a:r>
                <a:r>
                  <a:rPr lang="en-US" altLang="zh-CN" b="1" dirty="0"/>
                  <a:t>TF=1</a:t>
                </a:r>
                <a:r>
                  <a:rPr lang="zh-CN" altLang="en-US" b="1" dirty="0"/>
                  <a:t>，使处理进入单步方式，以便于调试。</a:t>
                </a:r>
              </a:p>
            </p:txBody>
          </p:sp>
        </p:grpSp>
      </p:grpSp>
      <p:sp>
        <p:nvSpPr>
          <p:cNvPr id="16" name="标题 154627"/>
          <p:cNvSpPr txBox="1"/>
          <p:nvPr/>
        </p:nvSpPr>
        <p:spPr>
          <a:xfrm>
            <a:off x="2627784" y="188640"/>
            <a:ext cx="3527425" cy="431800"/>
          </a:xfrm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>
                <a:solidFill>
                  <a:srgbClr val="FF0000"/>
                </a:solidFill>
                <a:ea typeface="隶书" panose="02010509060101010101" pitchFamily="49" charset="-122"/>
              </a:rPr>
              <a:t>2.1 8086</a:t>
            </a:r>
            <a:r>
              <a:rPr lang="zh-CN" altLang="en-US" sz="3200" b="1">
                <a:solidFill>
                  <a:srgbClr val="FF0000"/>
                </a:solidFill>
                <a:ea typeface="隶书" panose="02010509060101010101" pitchFamily="49" charset="-122"/>
              </a:rPr>
              <a:t>微处理器</a:t>
            </a:r>
            <a:endParaRPr lang="zh-CN" alt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59" name="矩形 279558"/>
          <p:cNvSpPr/>
          <p:nvPr/>
        </p:nvSpPr>
        <p:spPr>
          <a:xfrm>
            <a:off x="179388" y="1089452"/>
            <a:ext cx="8713787" cy="830997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lvl="0"/>
            <a:r>
              <a:rPr lang="zh-CN" altLang="en-US" sz="24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示例</a:t>
            </a:r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：将数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5439H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与数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456AH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相加，并分析相加运算对标志位的影响 </a:t>
            </a:r>
          </a:p>
        </p:txBody>
      </p:sp>
      <p:pic>
        <p:nvPicPr>
          <p:cNvPr id="279560" name="图片 27955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163" y="1844675"/>
            <a:ext cx="2305050" cy="1079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79561" name="矩形 279560"/>
          <p:cNvSpPr/>
          <p:nvPr/>
        </p:nvSpPr>
        <p:spPr>
          <a:xfrm>
            <a:off x="1259632" y="3525426"/>
            <a:ext cx="6191646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pPr lvl="0"/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CF=0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PF=1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AF=1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ZF=0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OF=1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SF=1 </a:t>
            </a:r>
          </a:p>
        </p:txBody>
      </p:sp>
      <p:sp>
        <p:nvSpPr>
          <p:cNvPr id="6" name="标题 154627"/>
          <p:cNvSpPr txBox="1"/>
          <p:nvPr/>
        </p:nvSpPr>
        <p:spPr>
          <a:xfrm>
            <a:off x="2627784" y="188640"/>
            <a:ext cx="3527425" cy="431800"/>
          </a:xfrm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>
                <a:solidFill>
                  <a:srgbClr val="FF0000"/>
                </a:solidFill>
                <a:ea typeface="隶书" panose="02010509060101010101" pitchFamily="49" charset="-122"/>
              </a:rPr>
              <a:t>2.1 8086</a:t>
            </a:r>
            <a:r>
              <a:rPr lang="zh-CN" altLang="en-US" sz="3200" b="1">
                <a:solidFill>
                  <a:srgbClr val="FF0000"/>
                </a:solidFill>
                <a:ea typeface="隶书" panose="02010509060101010101" pitchFamily="49" charset="-122"/>
              </a:rPr>
              <a:t>微处理器</a:t>
            </a:r>
            <a:endParaRPr lang="zh-CN" altLang="en-US" sz="4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468313" y="581025"/>
            <a:ext cx="7178675" cy="457200"/>
          </a:xfrm>
          <a:prstGeom prst="rect">
            <a:avLst/>
          </a:prstGeom>
          <a:solidFill>
            <a:schemeClr val="accent3">
              <a:lumMod val="85000"/>
            </a:schemeClr>
          </a:solidFill>
          <a:ln>
            <a:noFill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 dirty="0">
                <a:solidFill>
                  <a:srgbClr val="0000FF"/>
                </a:solidFill>
                <a:ea typeface="楷体_GB2312" pitchFamily="49" charset="-122"/>
              </a:rPr>
              <a:t>例：执行</a:t>
            </a:r>
            <a:r>
              <a:rPr lang="en-US" altLang="zh-CN" b="1" dirty="0">
                <a:solidFill>
                  <a:srgbClr val="0000FF"/>
                </a:solidFill>
                <a:ea typeface="楷体_GB2312" pitchFamily="49" charset="-122"/>
              </a:rPr>
              <a:t>2345H</a:t>
            </a:r>
            <a:r>
              <a:rPr lang="zh-CN" altLang="en-US" b="1" dirty="0">
                <a:solidFill>
                  <a:srgbClr val="0000FF"/>
                </a:solidFill>
                <a:ea typeface="楷体_GB2312" pitchFamily="49" charset="-122"/>
              </a:rPr>
              <a:t>－</a:t>
            </a:r>
            <a:r>
              <a:rPr lang="en-US" altLang="zh-CN" b="1" dirty="0">
                <a:solidFill>
                  <a:srgbClr val="0000FF"/>
                </a:solidFill>
                <a:ea typeface="楷体_GB2312" pitchFamily="49" charset="-122"/>
              </a:rPr>
              <a:t>3219H</a:t>
            </a:r>
            <a:r>
              <a:rPr lang="zh-CN" altLang="en-US" b="1" dirty="0">
                <a:solidFill>
                  <a:srgbClr val="0000FF"/>
                </a:solidFill>
                <a:ea typeface="楷体_GB2312" pitchFamily="49" charset="-122"/>
              </a:rPr>
              <a:t>，分析对状态标志位的影响。</a:t>
            </a:r>
          </a:p>
        </p:txBody>
      </p:sp>
      <p:grpSp>
        <p:nvGrpSpPr>
          <p:cNvPr id="10" name="Group 113"/>
          <p:cNvGrpSpPr/>
          <p:nvPr/>
        </p:nvGrpSpPr>
        <p:grpSpPr bwMode="auto">
          <a:xfrm>
            <a:off x="635000" y="1157288"/>
            <a:ext cx="8113713" cy="2055812"/>
            <a:chOff x="192" y="432"/>
            <a:chExt cx="5111" cy="1295"/>
          </a:xfrm>
        </p:grpSpPr>
        <p:sp>
          <p:nvSpPr>
            <p:cNvPr id="11" name="Line 75"/>
            <p:cNvSpPr>
              <a:spLocks noChangeShapeType="1"/>
            </p:cNvSpPr>
            <p:nvPr/>
          </p:nvSpPr>
          <p:spPr bwMode="auto">
            <a:xfrm>
              <a:off x="480" y="1296"/>
              <a:ext cx="4823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b="1"/>
            </a:p>
          </p:txBody>
        </p:sp>
        <p:grpSp>
          <p:nvGrpSpPr>
            <p:cNvPr id="12" name="Group 111"/>
            <p:cNvGrpSpPr/>
            <p:nvPr/>
          </p:nvGrpSpPr>
          <p:grpSpPr bwMode="auto">
            <a:xfrm>
              <a:off x="192" y="432"/>
              <a:ext cx="4895" cy="1295"/>
              <a:chOff x="350" y="542"/>
              <a:chExt cx="4895" cy="1295"/>
            </a:xfrm>
          </p:grpSpPr>
          <p:sp>
            <p:nvSpPr>
              <p:cNvPr id="13" name="Rectangle 11"/>
              <p:cNvSpPr>
                <a:spLocks noChangeArrowheads="1"/>
              </p:cNvSpPr>
              <p:nvPr/>
            </p:nvSpPr>
            <p:spPr bwMode="auto">
              <a:xfrm>
                <a:off x="1214" y="542"/>
                <a:ext cx="288" cy="288"/>
              </a:xfrm>
              <a:prstGeom prst="rect">
                <a:avLst/>
              </a:prstGeom>
              <a:solidFill>
                <a:srgbClr val="E6E6E6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/>
              <a:p>
                <a:pPr>
                  <a:spcBef>
                    <a:spcPct val="20000"/>
                  </a:spcBef>
                </a:pPr>
                <a:endParaRPr kumimoji="0" lang="zh-CN" altLang="zh-CN" sz="2400" b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/>
            </p:nvSpPr>
            <p:spPr bwMode="auto">
              <a:xfrm>
                <a:off x="1321" y="606"/>
                <a:ext cx="73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8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1</a:t>
                </a:r>
                <a:endParaRPr lang="en-US" altLang="zh-CN" sz="2400" b="1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/>
            </p:nvSpPr>
            <p:spPr bwMode="auto">
              <a:xfrm>
                <a:off x="1502" y="542"/>
                <a:ext cx="288" cy="288"/>
              </a:xfrm>
              <a:prstGeom prst="rect">
                <a:avLst/>
              </a:prstGeom>
              <a:solidFill>
                <a:srgbClr val="E6E6E6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/>
              <a:p>
                <a:pPr>
                  <a:spcBef>
                    <a:spcPct val="20000"/>
                  </a:spcBef>
                </a:pPr>
                <a:endParaRPr kumimoji="0" lang="zh-CN" altLang="zh-CN" sz="2400" b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/>
            </p:nvSpPr>
            <p:spPr bwMode="auto">
              <a:xfrm>
                <a:off x="1609" y="606"/>
                <a:ext cx="73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8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0</a:t>
                </a:r>
                <a:endParaRPr lang="en-US" altLang="zh-CN" sz="2400" b="1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/>
            </p:nvSpPr>
            <p:spPr bwMode="auto">
              <a:xfrm>
                <a:off x="1790" y="542"/>
                <a:ext cx="288" cy="288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/>
              <a:p>
                <a:pPr>
                  <a:spcBef>
                    <a:spcPct val="20000"/>
                  </a:spcBef>
                </a:pPr>
                <a:endParaRPr kumimoji="0" lang="zh-CN" altLang="zh-CN" sz="2400" b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18" name="Rectangle 16"/>
              <p:cNvSpPr>
                <a:spLocks noChangeArrowheads="1"/>
              </p:cNvSpPr>
              <p:nvPr/>
            </p:nvSpPr>
            <p:spPr bwMode="auto">
              <a:xfrm>
                <a:off x="1897" y="606"/>
                <a:ext cx="73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8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0</a:t>
                </a:r>
                <a:endParaRPr lang="en-US" altLang="zh-CN" sz="2400" b="1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" name="Rectangle 17"/>
              <p:cNvSpPr>
                <a:spLocks noChangeArrowheads="1"/>
              </p:cNvSpPr>
              <p:nvPr/>
            </p:nvSpPr>
            <p:spPr bwMode="auto">
              <a:xfrm>
                <a:off x="2078" y="542"/>
                <a:ext cx="288" cy="288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/>
              <a:p>
                <a:pPr>
                  <a:spcBef>
                    <a:spcPct val="20000"/>
                  </a:spcBef>
                </a:pPr>
                <a:endParaRPr kumimoji="0" lang="zh-CN" altLang="zh-CN" sz="2400" b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20" name="Rectangle 18"/>
              <p:cNvSpPr>
                <a:spLocks noChangeArrowheads="1"/>
              </p:cNvSpPr>
              <p:nvPr/>
            </p:nvSpPr>
            <p:spPr bwMode="auto">
              <a:xfrm>
                <a:off x="2185" y="606"/>
                <a:ext cx="73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8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0</a:t>
                </a:r>
                <a:endParaRPr lang="en-US" altLang="zh-CN" sz="2400" b="1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" name="Rectangle 19"/>
              <p:cNvSpPr>
                <a:spLocks noChangeArrowheads="1"/>
              </p:cNvSpPr>
              <p:nvPr/>
            </p:nvSpPr>
            <p:spPr bwMode="auto">
              <a:xfrm>
                <a:off x="2366" y="542"/>
                <a:ext cx="288" cy="288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/>
              <a:p>
                <a:pPr>
                  <a:spcBef>
                    <a:spcPct val="20000"/>
                  </a:spcBef>
                </a:pPr>
                <a:endParaRPr kumimoji="0" lang="zh-CN" altLang="zh-CN" sz="2400" b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22" name="Rectangle 20"/>
              <p:cNvSpPr>
                <a:spLocks noChangeArrowheads="1"/>
              </p:cNvSpPr>
              <p:nvPr/>
            </p:nvSpPr>
            <p:spPr bwMode="auto">
              <a:xfrm>
                <a:off x="2473" y="606"/>
                <a:ext cx="73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8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1</a:t>
                </a:r>
                <a:endParaRPr lang="en-US" altLang="zh-CN" sz="2400" b="1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" name="Rectangle 21"/>
              <p:cNvSpPr>
                <a:spLocks noChangeArrowheads="1"/>
              </p:cNvSpPr>
              <p:nvPr/>
            </p:nvSpPr>
            <p:spPr bwMode="auto">
              <a:xfrm>
                <a:off x="2654" y="542"/>
                <a:ext cx="288" cy="288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/>
              <a:p>
                <a:pPr>
                  <a:spcBef>
                    <a:spcPct val="20000"/>
                  </a:spcBef>
                </a:pPr>
                <a:endParaRPr kumimoji="0" lang="zh-CN" altLang="zh-CN" sz="2400" b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24" name="Rectangle 22"/>
              <p:cNvSpPr>
                <a:spLocks noChangeArrowheads="1"/>
              </p:cNvSpPr>
              <p:nvPr/>
            </p:nvSpPr>
            <p:spPr bwMode="auto">
              <a:xfrm>
                <a:off x="2761" y="606"/>
                <a:ext cx="73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8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1</a:t>
                </a:r>
                <a:endParaRPr lang="en-US" altLang="zh-CN" sz="2400" b="1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" name="Rectangle 23"/>
              <p:cNvSpPr>
                <a:spLocks noChangeArrowheads="1"/>
              </p:cNvSpPr>
              <p:nvPr/>
            </p:nvSpPr>
            <p:spPr bwMode="auto">
              <a:xfrm>
                <a:off x="2942" y="542"/>
                <a:ext cx="288" cy="288"/>
              </a:xfrm>
              <a:prstGeom prst="rect">
                <a:avLst/>
              </a:prstGeom>
              <a:solidFill>
                <a:srgbClr val="E6E6E6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/>
              <a:p>
                <a:pPr>
                  <a:spcBef>
                    <a:spcPct val="20000"/>
                  </a:spcBef>
                </a:pPr>
                <a:endParaRPr kumimoji="0" lang="zh-CN" altLang="zh-CN" sz="2400" b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26" name="Rectangle 24"/>
              <p:cNvSpPr>
                <a:spLocks noChangeArrowheads="1"/>
              </p:cNvSpPr>
              <p:nvPr/>
            </p:nvSpPr>
            <p:spPr bwMode="auto">
              <a:xfrm>
                <a:off x="3049" y="606"/>
                <a:ext cx="73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8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0</a:t>
                </a:r>
                <a:endParaRPr lang="en-US" altLang="zh-CN" sz="2400" b="1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7" name="Rectangle 25"/>
              <p:cNvSpPr>
                <a:spLocks noChangeArrowheads="1"/>
              </p:cNvSpPr>
              <p:nvPr/>
            </p:nvSpPr>
            <p:spPr bwMode="auto">
              <a:xfrm>
                <a:off x="3230" y="542"/>
                <a:ext cx="288" cy="288"/>
              </a:xfrm>
              <a:prstGeom prst="rect">
                <a:avLst/>
              </a:prstGeom>
              <a:solidFill>
                <a:srgbClr val="E6E6E6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/>
              <a:p>
                <a:pPr>
                  <a:spcBef>
                    <a:spcPct val="20000"/>
                  </a:spcBef>
                </a:pPr>
                <a:endParaRPr kumimoji="0" lang="zh-CN" altLang="zh-CN" sz="2400" b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28" name="Rectangle 26"/>
              <p:cNvSpPr>
                <a:spLocks noChangeArrowheads="1"/>
              </p:cNvSpPr>
              <p:nvPr/>
            </p:nvSpPr>
            <p:spPr bwMode="auto">
              <a:xfrm>
                <a:off x="3337" y="606"/>
                <a:ext cx="73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8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1</a:t>
                </a:r>
                <a:endParaRPr lang="en-US" altLang="zh-CN" sz="2400" b="1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" name="Rectangle 27"/>
              <p:cNvSpPr>
                <a:spLocks noChangeArrowheads="1"/>
              </p:cNvSpPr>
              <p:nvPr/>
            </p:nvSpPr>
            <p:spPr bwMode="auto">
              <a:xfrm>
                <a:off x="3518" y="542"/>
                <a:ext cx="287" cy="288"/>
              </a:xfrm>
              <a:prstGeom prst="rect">
                <a:avLst/>
              </a:prstGeom>
              <a:solidFill>
                <a:srgbClr val="E6E6E6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/>
              <a:p>
                <a:pPr>
                  <a:spcBef>
                    <a:spcPct val="20000"/>
                  </a:spcBef>
                </a:pPr>
                <a:endParaRPr kumimoji="0" lang="zh-CN" altLang="zh-CN" sz="2400" b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30" name="Rectangle 28"/>
              <p:cNvSpPr>
                <a:spLocks noChangeArrowheads="1"/>
              </p:cNvSpPr>
              <p:nvPr/>
            </p:nvSpPr>
            <p:spPr bwMode="auto">
              <a:xfrm>
                <a:off x="3625" y="606"/>
                <a:ext cx="73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8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0</a:t>
                </a:r>
                <a:endParaRPr lang="en-US" altLang="zh-CN" sz="2400" b="1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" name="Rectangle 29"/>
              <p:cNvSpPr>
                <a:spLocks noChangeArrowheads="1"/>
              </p:cNvSpPr>
              <p:nvPr/>
            </p:nvSpPr>
            <p:spPr bwMode="auto">
              <a:xfrm>
                <a:off x="3805" y="542"/>
                <a:ext cx="288" cy="288"/>
              </a:xfrm>
              <a:prstGeom prst="rect">
                <a:avLst/>
              </a:prstGeom>
              <a:solidFill>
                <a:srgbClr val="E6E6E6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/>
              <a:p>
                <a:pPr>
                  <a:spcBef>
                    <a:spcPct val="20000"/>
                  </a:spcBef>
                </a:pPr>
                <a:endParaRPr kumimoji="0" lang="zh-CN" altLang="zh-CN" sz="2400" b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32" name="Rectangle 30"/>
              <p:cNvSpPr>
                <a:spLocks noChangeArrowheads="1"/>
              </p:cNvSpPr>
              <p:nvPr/>
            </p:nvSpPr>
            <p:spPr bwMode="auto">
              <a:xfrm>
                <a:off x="3913" y="606"/>
                <a:ext cx="73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8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0</a:t>
                </a:r>
                <a:endParaRPr lang="en-US" altLang="zh-CN" sz="2400" b="1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" name="Rectangle 31"/>
              <p:cNvSpPr>
                <a:spLocks noChangeArrowheads="1"/>
              </p:cNvSpPr>
              <p:nvPr/>
            </p:nvSpPr>
            <p:spPr bwMode="auto">
              <a:xfrm>
                <a:off x="4093" y="542"/>
                <a:ext cx="288" cy="288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/>
              <a:p>
                <a:pPr>
                  <a:spcBef>
                    <a:spcPct val="20000"/>
                  </a:spcBef>
                </a:pPr>
                <a:endParaRPr kumimoji="0" lang="zh-CN" altLang="zh-CN" sz="2400" b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34" name="Rectangle 32"/>
              <p:cNvSpPr>
                <a:spLocks noChangeArrowheads="1"/>
              </p:cNvSpPr>
              <p:nvPr/>
            </p:nvSpPr>
            <p:spPr bwMode="auto">
              <a:xfrm>
                <a:off x="4201" y="606"/>
                <a:ext cx="73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8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0</a:t>
                </a:r>
                <a:endParaRPr lang="en-US" altLang="zh-CN" sz="2400" b="1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" name="Rectangle 33"/>
              <p:cNvSpPr>
                <a:spLocks noChangeArrowheads="1"/>
              </p:cNvSpPr>
              <p:nvPr/>
            </p:nvSpPr>
            <p:spPr bwMode="auto">
              <a:xfrm>
                <a:off x="4381" y="542"/>
                <a:ext cx="288" cy="288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/>
              <a:p>
                <a:pPr>
                  <a:spcBef>
                    <a:spcPct val="20000"/>
                  </a:spcBef>
                </a:pPr>
                <a:endParaRPr kumimoji="0" lang="zh-CN" altLang="zh-CN" sz="2400" b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36" name="Rectangle 34"/>
              <p:cNvSpPr>
                <a:spLocks noChangeArrowheads="1"/>
              </p:cNvSpPr>
              <p:nvPr/>
            </p:nvSpPr>
            <p:spPr bwMode="auto">
              <a:xfrm>
                <a:off x="4488" y="606"/>
                <a:ext cx="73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8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1</a:t>
                </a:r>
                <a:endParaRPr lang="en-US" altLang="zh-CN" sz="2400" b="1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7" name="Rectangle 35"/>
              <p:cNvSpPr>
                <a:spLocks noChangeArrowheads="1"/>
              </p:cNvSpPr>
              <p:nvPr/>
            </p:nvSpPr>
            <p:spPr bwMode="auto">
              <a:xfrm>
                <a:off x="4669" y="542"/>
                <a:ext cx="288" cy="288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/>
              <a:p>
                <a:pPr>
                  <a:spcBef>
                    <a:spcPct val="20000"/>
                  </a:spcBef>
                </a:pPr>
                <a:endParaRPr kumimoji="0" lang="zh-CN" altLang="zh-CN" sz="2400" b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38" name="Rectangle 36"/>
              <p:cNvSpPr>
                <a:spLocks noChangeArrowheads="1"/>
              </p:cNvSpPr>
              <p:nvPr/>
            </p:nvSpPr>
            <p:spPr bwMode="auto">
              <a:xfrm>
                <a:off x="4776" y="606"/>
                <a:ext cx="73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8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0</a:t>
                </a:r>
                <a:endParaRPr lang="en-US" altLang="zh-CN" sz="2400" b="1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9" name="Rectangle 37"/>
              <p:cNvSpPr>
                <a:spLocks noChangeArrowheads="1"/>
              </p:cNvSpPr>
              <p:nvPr/>
            </p:nvSpPr>
            <p:spPr bwMode="auto">
              <a:xfrm>
                <a:off x="4957" y="542"/>
                <a:ext cx="288" cy="288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/>
              <a:p>
                <a:pPr>
                  <a:spcBef>
                    <a:spcPct val="20000"/>
                  </a:spcBef>
                </a:pPr>
                <a:endParaRPr kumimoji="0" lang="zh-CN" altLang="zh-CN" sz="2400" b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40" name="Rectangle 38"/>
              <p:cNvSpPr>
                <a:spLocks noChangeArrowheads="1"/>
              </p:cNvSpPr>
              <p:nvPr/>
            </p:nvSpPr>
            <p:spPr bwMode="auto">
              <a:xfrm>
                <a:off x="5064" y="606"/>
                <a:ext cx="73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8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1</a:t>
                </a:r>
                <a:endParaRPr lang="en-US" altLang="zh-CN" sz="2400" b="1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1" name="Rectangle 39"/>
              <p:cNvSpPr>
                <a:spLocks noChangeArrowheads="1"/>
              </p:cNvSpPr>
              <p:nvPr/>
            </p:nvSpPr>
            <p:spPr bwMode="auto">
              <a:xfrm>
                <a:off x="926" y="542"/>
                <a:ext cx="288" cy="288"/>
              </a:xfrm>
              <a:prstGeom prst="rect">
                <a:avLst/>
              </a:prstGeom>
              <a:solidFill>
                <a:srgbClr val="E6E6E6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/>
              <a:p>
                <a:pPr>
                  <a:spcBef>
                    <a:spcPct val="20000"/>
                  </a:spcBef>
                </a:pPr>
                <a:endParaRPr kumimoji="0" lang="zh-CN" altLang="zh-CN" sz="2400" b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42" name="Rectangle 40"/>
              <p:cNvSpPr>
                <a:spLocks noChangeArrowheads="1"/>
              </p:cNvSpPr>
              <p:nvPr/>
            </p:nvSpPr>
            <p:spPr bwMode="auto">
              <a:xfrm>
                <a:off x="1033" y="606"/>
                <a:ext cx="73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8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0</a:t>
                </a:r>
                <a:endParaRPr lang="en-US" altLang="zh-CN" sz="2400" b="1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3" name="Rectangle 41"/>
              <p:cNvSpPr>
                <a:spLocks noChangeArrowheads="1"/>
              </p:cNvSpPr>
              <p:nvPr/>
            </p:nvSpPr>
            <p:spPr bwMode="auto">
              <a:xfrm>
                <a:off x="638" y="542"/>
                <a:ext cx="288" cy="288"/>
              </a:xfrm>
              <a:prstGeom prst="rect">
                <a:avLst/>
              </a:prstGeom>
              <a:solidFill>
                <a:srgbClr val="E6E6E6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/>
              <a:p>
                <a:pPr>
                  <a:spcBef>
                    <a:spcPct val="20000"/>
                  </a:spcBef>
                </a:pPr>
                <a:endParaRPr kumimoji="0" lang="zh-CN" altLang="zh-CN" sz="2400" b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44" name="Rectangle 42"/>
              <p:cNvSpPr>
                <a:spLocks noChangeArrowheads="1"/>
              </p:cNvSpPr>
              <p:nvPr/>
            </p:nvSpPr>
            <p:spPr bwMode="auto">
              <a:xfrm>
                <a:off x="745" y="606"/>
                <a:ext cx="73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8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0</a:t>
                </a:r>
                <a:endParaRPr lang="en-US" altLang="zh-CN" sz="2400" b="1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5" name="Rectangle 43"/>
              <p:cNvSpPr>
                <a:spLocks noChangeArrowheads="1"/>
              </p:cNvSpPr>
              <p:nvPr/>
            </p:nvSpPr>
            <p:spPr bwMode="auto">
              <a:xfrm>
                <a:off x="638" y="974"/>
                <a:ext cx="288" cy="288"/>
              </a:xfrm>
              <a:prstGeom prst="rect">
                <a:avLst/>
              </a:prstGeom>
              <a:solidFill>
                <a:srgbClr val="E6E6E6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/>
              <a:p>
                <a:pPr>
                  <a:spcBef>
                    <a:spcPct val="20000"/>
                  </a:spcBef>
                </a:pPr>
                <a:endParaRPr kumimoji="0" lang="zh-CN" altLang="zh-CN" sz="2400" b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46" name="Rectangle 44"/>
              <p:cNvSpPr>
                <a:spLocks noChangeArrowheads="1"/>
              </p:cNvSpPr>
              <p:nvPr/>
            </p:nvSpPr>
            <p:spPr bwMode="auto">
              <a:xfrm>
                <a:off x="745" y="1038"/>
                <a:ext cx="73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8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1</a:t>
                </a:r>
                <a:endParaRPr lang="en-US" altLang="zh-CN" sz="2400" b="1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7" name="Rectangle 45"/>
              <p:cNvSpPr>
                <a:spLocks noChangeArrowheads="1"/>
              </p:cNvSpPr>
              <p:nvPr/>
            </p:nvSpPr>
            <p:spPr bwMode="auto">
              <a:xfrm>
                <a:off x="926" y="974"/>
                <a:ext cx="288" cy="288"/>
              </a:xfrm>
              <a:prstGeom prst="rect">
                <a:avLst/>
              </a:prstGeom>
              <a:solidFill>
                <a:srgbClr val="E6E6E6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/>
              <a:p>
                <a:pPr>
                  <a:spcBef>
                    <a:spcPct val="20000"/>
                  </a:spcBef>
                </a:pPr>
                <a:endParaRPr kumimoji="0" lang="zh-CN" altLang="zh-CN" sz="2400" b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48" name="Rectangle 46"/>
              <p:cNvSpPr>
                <a:spLocks noChangeArrowheads="1"/>
              </p:cNvSpPr>
              <p:nvPr/>
            </p:nvSpPr>
            <p:spPr bwMode="auto">
              <a:xfrm>
                <a:off x="1033" y="1038"/>
                <a:ext cx="73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8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1</a:t>
                </a:r>
                <a:endParaRPr lang="en-US" altLang="zh-CN" sz="2400" b="1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9" name="Rectangle 47"/>
              <p:cNvSpPr>
                <a:spLocks noChangeArrowheads="1"/>
              </p:cNvSpPr>
              <p:nvPr/>
            </p:nvSpPr>
            <p:spPr bwMode="auto">
              <a:xfrm>
                <a:off x="1214" y="974"/>
                <a:ext cx="288" cy="288"/>
              </a:xfrm>
              <a:prstGeom prst="rect">
                <a:avLst/>
              </a:prstGeom>
              <a:solidFill>
                <a:srgbClr val="E6E6E6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/>
              <a:p>
                <a:pPr>
                  <a:spcBef>
                    <a:spcPct val="20000"/>
                  </a:spcBef>
                </a:pPr>
                <a:endParaRPr kumimoji="0" lang="zh-CN" altLang="zh-CN" sz="2400" b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50" name="Rectangle 48"/>
              <p:cNvSpPr>
                <a:spLocks noChangeArrowheads="1"/>
              </p:cNvSpPr>
              <p:nvPr/>
            </p:nvSpPr>
            <p:spPr bwMode="auto">
              <a:xfrm>
                <a:off x="1321" y="1038"/>
                <a:ext cx="73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8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0</a:t>
                </a:r>
                <a:endParaRPr lang="en-US" altLang="zh-CN" sz="2400" b="1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1" name="Rectangle 49"/>
              <p:cNvSpPr>
                <a:spLocks noChangeArrowheads="1"/>
              </p:cNvSpPr>
              <p:nvPr/>
            </p:nvSpPr>
            <p:spPr bwMode="auto">
              <a:xfrm>
                <a:off x="1502" y="974"/>
                <a:ext cx="288" cy="288"/>
              </a:xfrm>
              <a:prstGeom prst="rect">
                <a:avLst/>
              </a:prstGeom>
              <a:solidFill>
                <a:srgbClr val="E6E6E6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/>
              <a:p>
                <a:pPr>
                  <a:spcBef>
                    <a:spcPct val="20000"/>
                  </a:spcBef>
                </a:pPr>
                <a:endParaRPr kumimoji="0" lang="zh-CN" altLang="zh-CN" sz="2400" b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52" name="Rectangle 50"/>
              <p:cNvSpPr>
                <a:spLocks noChangeArrowheads="1"/>
              </p:cNvSpPr>
              <p:nvPr/>
            </p:nvSpPr>
            <p:spPr bwMode="auto">
              <a:xfrm>
                <a:off x="1609" y="1038"/>
                <a:ext cx="73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8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0</a:t>
                </a:r>
                <a:endParaRPr lang="en-US" altLang="zh-CN" sz="2400" b="1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3" name="Rectangle 51"/>
              <p:cNvSpPr>
                <a:spLocks noChangeArrowheads="1"/>
              </p:cNvSpPr>
              <p:nvPr/>
            </p:nvSpPr>
            <p:spPr bwMode="auto">
              <a:xfrm>
                <a:off x="1790" y="974"/>
                <a:ext cx="288" cy="288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/>
              <a:p>
                <a:pPr>
                  <a:spcBef>
                    <a:spcPct val="20000"/>
                  </a:spcBef>
                </a:pPr>
                <a:endParaRPr kumimoji="0" lang="zh-CN" altLang="zh-CN" sz="2400" b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54" name="Rectangle 52"/>
              <p:cNvSpPr>
                <a:spLocks noChangeArrowheads="1"/>
              </p:cNvSpPr>
              <p:nvPr/>
            </p:nvSpPr>
            <p:spPr bwMode="auto">
              <a:xfrm>
                <a:off x="1897" y="1038"/>
                <a:ext cx="73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8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1</a:t>
                </a:r>
                <a:endParaRPr lang="en-US" altLang="zh-CN" sz="2400" b="1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5" name="Rectangle 53"/>
              <p:cNvSpPr>
                <a:spLocks noChangeArrowheads="1"/>
              </p:cNvSpPr>
              <p:nvPr/>
            </p:nvSpPr>
            <p:spPr bwMode="auto">
              <a:xfrm>
                <a:off x="2078" y="974"/>
                <a:ext cx="288" cy="288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/>
              <a:p>
                <a:pPr>
                  <a:spcBef>
                    <a:spcPct val="20000"/>
                  </a:spcBef>
                </a:pPr>
                <a:endParaRPr kumimoji="0" lang="zh-CN" altLang="zh-CN" sz="2400" b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56" name="Rectangle 54"/>
              <p:cNvSpPr>
                <a:spLocks noChangeArrowheads="1"/>
              </p:cNvSpPr>
              <p:nvPr/>
            </p:nvSpPr>
            <p:spPr bwMode="auto">
              <a:xfrm>
                <a:off x="2185" y="1038"/>
                <a:ext cx="73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8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1</a:t>
                </a:r>
                <a:endParaRPr lang="en-US" altLang="zh-CN" sz="2400" b="1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7" name="Rectangle 55"/>
              <p:cNvSpPr>
                <a:spLocks noChangeArrowheads="1"/>
              </p:cNvSpPr>
              <p:nvPr/>
            </p:nvSpPr>
            <p:spPr bwMode="auto">
              <a:xfrm>
                <a:off x="2366" y="974"/>
                <a:ext cx="288" cy="288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/>
              <a:p>
                <a:pPr>
                  <a:spcBef>
                    <a:spcPct val="20000"/>
                  </a:spcBef>
                </a:pPr>
                <a:endParaRPr kumimoji="0" lang="zh-CN" altLang="zh-CN" sz="2400" b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58" name="Rectangle 56"/>
              <p:cNvSpPr>
                <a:spLocks noChangeArrowheads="1"/>
              </p:cNvSpPr>
              <p:nvPr/>
            </p:nvSpPr>
            <p:spPr bwMode="auto">
              <a:xfrm>
                <a:off x="2473" y="1038"/>
                <a:ext cx="73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8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0</a:t>
                </a:r>
                <a:endParaRPr lang="en-US" altLang="zh-CN" sz="2400" b="1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9" name="Rectangle 57"/>
              <p:cNvSpPr>
                <a:spLocks noChangeArrowheads="1"/>
              </p:cNvSpPr>
              <p:nvPr/>
            </p:nvSpPr>
            <p:spPr bwMode="auto">
              <a:xfrm>
                <a:off x="2654" y="974"/>
                <a:ext cx="288" cy="288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/>
              <a:p>
                <a:pPr>
                  <a:spcBef>
                    <a:spcPct val="20000"/>
                  </a:spcBef>
                </a:pPr>
                <a:endParaRPr kumimoji="0" lang="zh-CN" altLang="zh-CN" sz="2400" b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60" name="Rectangle 58"/>
              <p:cNvSpPr>
                <a:spLocks noChangeArrowheads="1"/>
              </p:cNvSpPr>
              <p:nvPr/>
            </p:nvSpPr>
            <p:spPr bwMode="auto">
              <a:xfrm>
                <a:off x="2761" y="1038"/>
                <a:ext cx="73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8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1</a:t>
                </a:r>
                <a:endParaRPr lang="en-US" altLang="zh-CN" sz="2400" b="1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" name="Rectangle 59"/>
              <p:cNvSpPr>
                <a:spLocks noChangeArrowheads="1"/>
              </p:cNvSpPr>
              <p:nvPr/>
            </p:nvSpPr>
            <p:spPr bwMode="auto">
              <a:xfrm>
                <a:off x="2942" y="974"/>
                <a:ext cx="288" cy="288"/>
              </a:xfrm>
              <a:prstGeom prst="rect">
                <a:avLst/>
              </a:prstGeom>
              <a:solidFill>
                <a:srgbClr val="E6E6E6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/>
              <a:p>
                <a:pPr>
                  <a:spcBef>
                    <a:spcPct val="20000"/>
                  </a:spcBef>
                </a:pPr>
                <a:endParaRPr kumimoji="0" lang="zh-CN" altLang="zh-CN" sz="2400" b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62" name="Rectangle 60"/>
              <p:cNvSpPr>
                <a:spLocks noChangeArrowheads="1"/>
              </p:cNvSpPr>
              <p:nvPr/>
            </p:nvSpPr>
            <p:spPr bwMode="auto">
              <a:xfrm>
                <a:off x="3049" y="1038"/>
                <a:ext cx="73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8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1</a:t>
                </a:r>
                <a:endParaRPr lang="en-US" altLang="zh-CN" sz="2400" b="1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3" name="Rectangle 61"/>
              <p:cNvSpPr>
                <a:spLocks noChangeArrowheads="1"/>
              </p:cNvSpPr>
              <p:nvPr/>
            </p:nvSpPr>
            <p:spPr bwMode="auto">
              <a:xfrm>
                <a:off x="3230" y="974"/>
                <a:ext cx="288" cy="288"/>
              </a:xfrm>
              <a:prstGeom prst="rect">
                <a:avLst/>
              </a:prstGeom>
              <a:solidFill>
                <a:srgbClr val="E6E6E6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/>
              <a:p>
                <a:pPr>
                  <a:spcBef>
                    <a:spcPct val="20000"/>
                  </a:spcBef>
                </a:pPr>
                <a:endParaRPr kumimoji="0" lang="zh-CN" altLang="zh-CN" sz="2400" b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64" name="Rectangle 62"/>
              <p:cNvSpPr>
                <a:spLocks noChangeArrowheads="1"/>
              </p:cNvSpPr>
              <p:nvPr/>
            </p:nvSpPr>
            <p:spPr bwMode="auto">
              <a:xfrm>
                <a:off x="3337" y="1038"/>
                <a:ext cx="73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8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1</a:t>
                </a:r>
                <a:endParaRPr lang="en-US" altLang="zh-CN" sz="2400" b="1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5" name="Rectangle 63"/>
              <p:cNvSpPr>
                <a:spLocks noChangeArrowheads="1"/>
              </p:cNvSpPr>
              <p:nvPr/>
            </p:nvSpPr>
            <p:spPr bwMode="auto">
              <a:xfrm>
                <a:off x="3518" y="974"/>
                <a:ext cx="287" cy="288"/>
              </a:xfrm>
              <a:prstGeom prst="rect">
                <a:avLst/>
              </a:prstGeom>
              <a:solidFill>
                <a:srgbClr val="E6E6E6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/>
              <a:p>
                <a:pPr>
                  <a:spcBef>
                    <a:spcPct val="20000"/>
                  </a:spcBef>
                </a:pPr>
                <a:endParaRPr kumimoji="0" lang="zh-CN" altLang="zh-CN" sz="2400" b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66" name="Rectangle 64"/>
              <p:cNvSpPr>
                <a:spLocks noChangeArrowheads="1"/>
              </p:cNvSpPr>
              <p:nvPr/>
            </p:nvSpPr>
            <p:spPr bwMode="auto">
              <a:xfrm>
                <a:off x="3625" y="1038"/>
                <a:ext cx="73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8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1</a:t>
                </a:r>
                <a:endParaRPr lang="en-US" altLang="zh-CN" sz="2400" b="1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7" name="Rectangle 65"/>
              <p:cNvSpPr>
                <a:spLocks noChangeArrowheads="1"/>
              </p:cNvSpPr>
              <p:nvPr/>
            </p:nvSpPr>
            <p:spPr bwMode="auto">
              <a:xfrm>
                <a:off x="3805" y="974"/>
                <a:ext cx="288" cy="288"/>
              </a:xfrm>
              <a:prstGeom prst="rect">
                <a:avLst/>
              </a:prstGeom>
              <a:solidFill>
                <a:srgbClr val="E6E6E6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/>
              <a:p>
                <a:pPr>
                  <a:spcBef>
                    <a:spcPct val="20000"/>
                  </a:spcBef>
                </a:pPr>
                <a:endParaRPr kumimoji="0" lang="zh-CN" altLang="zh-CN" sz="2400" b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68" name="Rectangle 66"/>
              <p:cNvSpPr>
                <a:spLocks noChangeArrowheads="1"/>
              </p:cNvSpPr>
              <p:nvPr/>
            </p:nvSpPr>
            <p:spPr bwMode="auto">
              <a:xfrm>
                <a:off x="3913" y="1038"/>
                <a:ext cx="73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8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0</a:t>
                </a:r>
                <a:endParaRPr lang="en-US" altLang="zh-CN" sz="2400" b="1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" name="Rectangle 67"/>
              <p:cNvSpPr>
                <a:spLocks noChangeArrowheads="1"/>
              </p:cNvSpPr>
              <p:nvPr/>
            </p:nvSpPr>
            <p:spPr bwMode="auto">
              <a:xfrm>
                <a:off x="4093" y="974"/>
                <a:ext cx="288" cy="288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/>
              <a:p>
                <a:pPr>
                  <a:spcBef>
                    <a:spcPct val="20000"/>
                  </a:spcBef>
                </a:pPr>
                <a:endParaRPr kumimoji="0" lang="zh-CN" altLang="zh-CN" sz="2400" b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70" name="Rectangle 68"/>
              <p:cNvSpPr>
                <a:spLocks noChangeArrowheads="1"/>
              </p:cNvSpPr>
              <p:nvPr/>
            </p:nvSpPr>
            <p:spPr bwMode="auto">
              <a:xfrm>
                <a:off x="4201" y="1038"/>
                <a:ext cx="73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8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0</a:t>
                </a:r>
                <a:endParaRPr lang="en-US" altLang="zh-CN" sz="2400" b="1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1" name="Rectangle 69"/>
              <p:cNvSpPr>
                <a:spLocks noChangeArrowheads="1"/>
              </p:cNvSpPr>
              <p:nvPr/>
            </p:nvSpPr>
            <p:spPr bwMode="auto">
              <a:xfrm>
                <a:off x="4381" y="974"/>
                <a:ext cx="288" cy="288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/>
              <a:p>
                <a:pPr>
                  <a:spcBef>
                    <a:spcPct val="20000"/>
                  </a:spcBef>
                </a:pPr>
                <a:endParaRPr kumimoji="0" lang="zh-CN" altLang="zh-CN" sz="2400" b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72" name="Rectangle 70"/>
              <p:cNvSpPr>
                <a:spLocks noChangeArrowheads="1"/>
              </p:cNvSpPr>
              <p:nvPr/>
            </p:nvSpPr>
            <p:spPr bwMode="auto">
              <a:xfrm>
                <a:off x="4488" y="1038"/>
                <a:ext cx="73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8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1</a:t>
                </a:r>
                <a:endParaRPr lang="en-US" altLang="zh-CN" sz="2400" b="1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3" name="Rectangle 71"/>
              <p:cNvSpPr>
                <a:spLocks noChangeArrowheads="1"/>
              </p:cNvSpPr>
              <p:nvPr/>
            </p:nvSpPr>
            <p:spPr bwMode="auto">
              <a:xfrm>
                <a:off x="4669" y="974"/>
                <a:ext cx="288" cy="288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/>
              <a:p>
                <a:pPr>
                  <a:spcBef>
                    <a:spcPct val="20000"/>
                  </a:spcBef>
                </a:pPr>
                <a:endParaRPr kumimoji="0" lang="zh-CN" altLang="zh-CN" sz="2400" b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74" name="Rectangle 72"/>
              <p:cNvSpPr>
                <a:spLocks noChangeArrowheads="1"/>
              </p:cNvSpPr>
              <p:nvPr/>
            </p:nvSpPr>
            <p:spPr bwMode="auto">
              <a:xfrm>
                <a:off x="4776" y="1038"/>
                <a:ext cx="73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8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1</a:t>
                </a:r>
                <a:endParaRPr lang="en-US" altLang="zh-CN" sz="2400" b="1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5" name="Rectangle 73"/>
              <p:cNvSpPr>
                <a:spLocks noChangeArrowheads="1"/>
              </p:cNvSpPr>
              <p:nvPr/>
            </p:nvSpPr>
            <p:spPr bwMode="auto">
              <a:xfrm>
                <a:off x="4957" y="974"/>
                <a:ext cx="288" cy="288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/>
              <a:p>
                <a:pPr>
                  <a:spcBef>
                    <a:spcPct val="20000"/>
                  </a:spcBef>
                </a:pPr>
                <a:endParaRPr kumimoji="0" lang="zh-CN" altLang="zh-CN" sz="2400" b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76" name="Rectangle 74"/>
              <p:cNvSpPr>
                <a:spLocks noChangeArrowheads="1"/>
              </p:cNvSpPr>
              <p:nvPr/>
            </p:nvSpPr>
            <p:spPr bwMode="auto">
              <a:xfrm>
                <a:off x="5064" y="1038"/>
                <a:ext cx="73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8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1</a:t>
                </a:r>
                <a:endParaRPr lang="en-US" altLang="zh-CN" sz="2400" b="1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7" name="Line 76"/>
              <p:cNvSpPr>
                <a:spLocks noChangeShapeType="1"/>
              </p:cNvSpPr>
              <p:nvPr/>
            </p:nvSpPr>
            <p:spPr bwMode="auto">
              <a:xfrm>
                <a:off x="350" y="1405"/>
                <a:ext cx="288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78" name="Rectangle 77"/>
              <p:cNvSpPr>
                <a:spLocks noChangeArrowheads="1"/>
              </p:cNvSpPr>
              <p:nvPr/>
            </p:nvSpPr>
            <p:spPr bwMode="auto">
              <a:xfrm>
                <a:off x="458" y="1038"/>
                <a:ext cx="73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8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+</a:t>
                </a:r>
                <a:endParaRPr lang="en-US" altLang="zh-CN" sz="2400" b="1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9" name="Rectangle 78"/>
              <p:cNvSpPr>
                <a:spLocks noChangeArrowheads="1"/>
              </p:cNvSpPr>
              <p:nvPr/>
            </p:nvSpPr>
            <p:spPr bwMode="auto">
              <a:xfrm>
                <a:off x="4957" y="1549"/>
                <a:ext cx="288" cy="288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/>
              <a:p>
                <a:pPr>
                  <a:spcBef>
                    <a:spcPct val="20000"/>
                  </a:spcBef>
                </a:pPr>
                <a:endParaRPr kumimoji="0" lang="zh-CN" altLang="zh-CN" sz="2400" b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80" name="Rectangle 79"/>
              <p:cNvSpPr>
                <a:spLocks noChangeArrowheads="1"/>
              </p:cNvSpPr>
              <p:nvPr/>
            </p:nvSpPr>
            <p:spPr bwMode="auto">
              <a:xfrm>
                <a:off x="5064" y="1613"/>
                <a:ext cx="73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8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0</a:t>
                </a:r>
                <a:endParaRPr lang="en-US" altLang="zh-CN" sz="2400" b="1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1" name="Rectangle 80"/>
              <p:cNvSpPr>
                <a:spLocks noChangeArrowheads="1"/>
              </p:cNvSpPr>
              <p:nvPr/>
            </p:nvSpPr>
            <p:spPr bwMode="auto">
              <a:xfrm>
                <a:off x="4669" y="1549"/>
                <a:ext cx="288" cy="288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/>
              <a:p>
                <a:pPr>
                  <a:spcBef>
                    <a:spcPct val="20000"/>
                  </a:spcBef>
                </a:pPr>
                <a:endParaRPr kumimoji="0" lang="zh-CN" altLang="zh-CN" sz="2400" b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82" name="Rectangle 81"/>
              <p:cNvSpPr>
                <a:spLocks noChangeArrowheads="1"/>
              </p:cNvSpPr>
              <p:nvPr/>
            </p:nvSpPr>
            <p:spPr bwMode="auto">
              <a:xfrm>
                <a:off x="4776" y="1613"/>
                <a:ext cx="73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8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0</a:t>
                </a:r>
                <a:endParaRPr lang="en-US" altLang="zh-CN" sz="2400" b="1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3" name="Rectangle 82"/>
              <p:cNvSpPr>
                <a:spLocks noChangeArrowheads="1"/>
              </p:cNvSpPr>
              <p:nvPr/>
            </p:nvSpPr>
            <p:spPr bwMode="auto">
              <a:xfrm>
                <a:off x="4381" y="1549"/>
                <a:ext cx="288" cy="288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/>
              <a:p>
                <a:pPr>
                  <a:spcBef>
                    <a:spcPct val="20000"/>
                  </a:spcBef>
                </a:pPr>
                <a:endParaRPr kumimoji="0" lang="zh-CN" altLang="zh-CN" sz="2400" b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84" name="Rectangle 83"/>
              <p:cNvSpPr>
                <a:spLocks noChangeArrowheads="1"/>
              </p:cNvSpPr>
              <p:nvPr/>
            </p:nvSpPr>
            <p:spPr bwMode="auto">
              <a:xfrm>
                <a:off x="4488" y="1613"/>
                <a:ext cx="73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8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1</a:t>
                </a:r>
                <a:endParaRPr lang="en-US" altLang="zh-CN" sz="2400" b="1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5" name="Rectangle 84"/>
              <p:cNvSpPr>
                <a:spLocks noChangeArrowheads="1"/>
              </p:cNvSpPr>
              <p:nvPr/>
            </p:nvSpPr>
            <p:spPr bwMode="auto">
              <a:xfrm>
                <a:off x="4093" y="1549"/>
                <a:ext cx="288" cy="288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/>
              <a:p>
                <a:pPr>
                  <a:spcBef>
                    <a:spcPct val="20000"/>
                  </a:spcBef>
                </a:pPr>
                <a:endParaRPr kumimoji="0" lang="zh-CN" altLang="zh-CN" sz="2400" b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86" name="Rectangle 85"/>
              <p:cNvSpPr>
                <a:spLocks noChangeArrowheads="1"/>
              </p:cNvSpPr>
              <p:nvPr/>
            </p:nvSpPr>
            <p:spPr bwMode="auto">
              <a:xfrm>
                <a:off x="4201" y="1613"/>
                <a:ext cx="73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8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1</a:t>
                </a:r>
                <a:endParaRPr lang="en-US" altLang="zh-CN" sz="2400" b="1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7" name="Rectangle 86"/>
              <p:cNvSpPr>
                <a:spLocks noChangeArrowheads="1"/>
              </p:cNvSpPr>
              <p:nvPr/>
            </p:nvSpPr>
            <p:spPr bwMode="auto">
              <a:xfrm>
                <a:off x="3805" y="1549"/>
                <a:ext cx="288" cy="288"/>
              </a:xfrm>
              <a:prstGeom prst="rect">
                <a:avLst/>
              </a:prstGeom>
              <a:solidFill>
                <a:srgbClr val="E6E6E6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/>
              <a:p>
                <a:pPr>
                  <a:spcBef>
                    <a:spcPct val="20000"/>
                  </a:spcBef>
                </a:pPr>
                <a:endParaRPr kumimoji="0" lang="zh-CN" altLang="zh-CN" sz="2400" b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88" name="Rectangle 87"/>
              <p:cNvSpPr>
                <a:spLocks noChangeArrowheads="1"/>
              </p:cNvSpPr>
              <p:nvPr/>
            </p:nvSpPr>
            <p:spPr bwMode="auto">
              <a:xfrm>
                <a:off x="3913" y="1613"/>
                <a:ext cx="73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8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0</a:t>
                </a:r>
                <a:endParaRPr lang="en-US" altLang="zh-CN" sz="2400" b="1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9" name="Rectangle 88"/>
              <p:cNvSpPr>
                <a:spLocks noChangeArrowheads="1"/>
              </p:cNvSpPr>
              <p:nvPr/>
            </p:nvSpPr>
            <p:spPr bwMode="auto">
              <a:xfrm>
                <a:off x="3518" y="1549"/>
                <a:ext cx="287" cy="288"/>
              </a:xfrm>
              <a:prstGeom prst="rect">
                <a:avLst/>
              </a:prstGeom>
              <a:solidFill>
                <a:srgbClr val="E6E6E6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/>
              <a:p>
                <a:pPr>
                  <a:spcBef>
                    <a:spcPct val="20000"/>
                  </a:spcBef>
                </a:pPr>
                <a:endParaRPr kumimoji="0" lang="zh-CN" altLang="zh-CN" sz="2400" b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90" name="Rectangle 89"/>
              <p:cNvSpPr>
                <a:spLocks noChangeArrowheads="1"/>
              </p:cNvSpPr>
              <p:nvPr/>
            </p:nvSpPr>
            <p:spPr bwMode="auto">
              <a:xfrm>
                <a:off x="3625" y="1613"/>
                <a:ext cx="73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8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1</a:t>
                </a:r>
                <a:endParaRPr lang="en-US" altLang="zh-CN" sz="2400" b="1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1" name="Rectangle 90"/>
              <p:cNvSpPr>
                <a:spLocks noChangeArrowheads="1"/>
              </p:cNvSpPr>
              <p:nvPr/>
            </p:nvSpPr>
            <p:spPr bwMode="auto">
              <a:xfrm>
                <a:off x="3230" y="1549"/>
                <a:ext cx="288" cy="288"/>
              </a:xfrm>
              <a:prstGeom prst="rect">
                <a:avLst/>
              </a:prstGeom>
              <a:solidFill>
                <a:srgbClr val="E6E6E6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/>
              <a:p>
                <a:pPr>
                  <a:spcBef>
                    <a:spcPct val="20000"/>
                  </a:spcBef>
                </a:pPr>
                <a:endParaRPr kumimoji="0" lang="zh-CN" altLang="zh-CN" sz="2400" b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92" name="Rectangle 91"/>
              <p:cNvSpPr>
                <a:spLocks noChangeArrowheads="1"/>
              </p:cNvSpPr>
              <p:nvPr/>
            </p:nvSpPr>
            <p:spPr bwMode="auto">
              <a:xfrm>
                <a:off x="3337" y="1613"/>
                <a:ext cx="73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8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0</a:t>
                </a:r>
                <a:endParaRPr lang="en-US" altLang="zh-CN" sz="2400" b="1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3" name="Rectangle 92"/>
              <p:cNvSpPr>
                <a:spLocks noChangeArrowheads="1"/>
              </p:cNvSpPr>
              <p:nvPr/>
            </p:nvSpPr>
            <p:spPr bwMode="auto">
              <a:xfrm>
                <a:off x="2942" y="1549"/>
                <a:ext cx="288" cy="288"/>
              </a:xfrm>
              <a:prstGeom prst="rect">
                <a:avLst/>
              </a:prstGeom>
              <a:solidFill>
                <a:srgbClr val="E6E6E6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/>
              <a:p>
                <a:pPr>
                  <a:spcBef>
                    <a:spcPct val="20000"/>
                  </a:spcBef>
                </a:pPr>
                <a:endParaRPr kumimoji="0" lang="zh-CN" altLang="zh-CN" sz="2400" b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94" name="Rectangle 93"/>
              <p:cNvSpPr>
                <a:spLocks noChangeArrowheads="1"/>
              </p:cNvSpPr>
              <p:nvPr/>
            </p:nvSpPr>
            <p:spPr bwMode="auto">
              <a:xfrm>
                <a:off x="3049" y="1613"/>
                <a:ext cx="73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8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0</a:t>
                </a:r>
                <a:endParaRPr lang="en-US" altLang="zh-CN" sz="2400" b="1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5" name="Rectangle 94"/>
              <p:cNvSpPr>
                <a:spLocks noChangeArrowheads="1"/>
              </p:cNvSpPr>
              <p:nvPr/>
            </p:nvSpPr>
            <p:spPr bwMode="auto">
              <a:xfrm>
                <a:off x="2654" y="1549"/>
                <a:ext cx="288" cy="288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/>
              <a:p>
                <a:pPr>
                  <a:spcBef>
                    <a:spcPct val="20000"/>
                  </a:spcBef>
                </a:pPr>
                <a:endParaRPr kumimoji="0" lang="zh-CN" altLang="zh-CN" sz="2400" b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96" name="Rectangle 95"/>
              <p:cNvSpPr>
                <a:spLocks noChangeArrowheads="1"/>
              </p:cNvSpPr>
              <p:nvPr/>
            </p:nvSpPr>
            <p:spPr bwMode="auto">
              <a:xfrm>
                <a:off x="2761" y="1613"/>
                <a:ext cx="73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8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1</a:t>
                </a:r>
                <a:endParaRPr lang="en-US" altLang="zh-CN" sz="2400" b="1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7" name="Rectangle 96"/>
              <p:cNvSpPr>
                <a:spLocks noChangeArrowheads="1"/>
              </p:cNvSpPr>
              <p:nvPr/>
            </p:nvSpPr>
            <p:spPr bwMode="auto">
              <a:xfrm>
                <a:off x="2366" y="1549"/>
                <a:ext cx="288" cy="288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/>
              <a:p>
                <a:pPr>
                  <a:spcBef>
                    <a:spcPct val="20000"/>
                  </a:spcBef>
                </a:pPr>
                <a:endParaRPr kumimoji="0" lang="zh-CN" altLang="zh-CN" sz="2400" b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98" name="Rectangle 97"/>
              <p:cNvSpPr>
                <a:spLocks noChangeArrowheads="1"/>
              </p:cNvSpPr>
              <p:nvPr/>
            </p:nvSpPr>
            <p:spPr bwMode="auto">
              <a:xfrm>
                <a:off x="2473" y="1613"/>
                <a:ext cx="73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8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0</a:t>
                </a:r>
                <a:endParaRPr lang="en-US" altLang="zh-CN" sz="2400" b="1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9" name="Rectangle 98"/>
              <p:cNvSpPr>
                <a:spLocks noChangeArrowheads="1"/>
              </p:cNvSpPr>
              <p:nvPr/>
            </p:nvSpPr>
            <p:spPr bwMode="auto">
              <a:xfrm>
                <a:off x="2078" y="1549"/>
                <a:ext cx="288" cy="288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/>
              <a:p>
                <a:pPr>
                  <a:spcBef>
                    <a:spcPct val="20000"/>
                  </a:spcBef>
                </a:pPr>
                <a:endParaRPr kumimoji="0" lang="zh-CN" altLang="zh-CN" sz="2400" b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100" name="Rectangle 99"/>
              <p:cNvSpPr>
                <a:spLocks noChangeArrowheads="1"/>
              </p:cNvSpPr>
              <p:nvPr/>
            </p:nvSpPr>
            <p:spPr bwMode="auto">
              <a:xfrm>
                <a:off x="2185" y="1613"/>
                <a:ext cx="73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8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0</a:t>
                </a:r>
                <a:endParaRPr lang="en-US" altLang="zh-CN" sz="2400" b="1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1" name="Rectangle 100"/>
              <p:cNvSpPr>
                <a:spLocks noChangeArrowheads="1"/>
              </p:cNvSpPr>
              <p:nvPr/>
            </p:nvSpPr>
            <p:spPr bwMode="auto">
              <a:xfrm>
                <a:off x="1790" y="1549"/>
                <a:ext cx="288" cy="288"/>
              </a:xfrm>
              <a:prstGeom prst="rect">
                <a:avLst/>
              </a:prstGeom>
              <a:solidFill>
                <a:srgbClr val="00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/>
              <a:p>
                <a:pPr>
                  <a:spcBef>
                    <a:spcPct val="20000"/>
                  </a:spcBef>
                </a:pPr>
                <a:endParaRPr kumimoji="0" lang="zh-CN" altLang="zh-CN" sz="2400" b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102" name="Rectangle 101"/>
              <p:cNvSpPr>
                <a:spLocks noChangeArrowheads="1"/>
              </p:cNvSpPr>
              <p:nvPr/>
            </p:nvSpPr>
            <p:spPr bwMode="auto">
              <a:xfrm>
                <a:off x="1897" y="1613"/>
                <a:ext cx="73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8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0</a:t>
                </a:r>
                <a:endParaRPr lang="en-US" altLang="zh-CN" sz="2400" b="1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3" name="Rectangle 102"/>
              <p:cNvSpPr>
                <a:spLocks noChangeArrowheads="1"/>
              </p:cNvSpPr>
              <p:nvPr/>
            </p:nvSpPr>
            <p:spPr bwMode="auto">
              <a:xfrm>
                <a:off x="1502" y="1549"/>
                <a:ext cx="288" cy="288"/>
              </a:xfrm>
              <a:prstGeom prst="rect">
                <a:avLst/>
              </a:prstGeom>
              <a:solidFill>
                <a:srgbClr val="E6E6E6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/>
              <a:p>
                <a:pPr>
                  <a:spcBef>
                    <a:spcPct val="20000"/>
                  </a:spcBef>
                </a:pPr>
                <a:endParaRPr kumimoji="0" lang="zh-CN" altLang="zh-CN" sz="2400" b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104" name="Rectangle 103"/>
              <p:cNvSpPr>
                <a:spLocks noChangeArrowheads="1"/>
              </p:cNvSpPr>
              <p:nvPr/>
            </p:nvSpPr>
            <p:spPr bwMode="auto">
              <a:xfrm>
                <a:off x="1609" y="1613"/>
                <a:ext cx="73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8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1</a:t>
                </a:r>
                <a:endParaRPr lang="en-US" altLang="zh-CN" sz="2400" b="1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5" name="Rectangle 104"/>
              <p:cNvSpPr>
                <a:spLocks noChangeArrowheads="1"/>
              </p:cNvSpPr>
              <p:nvPr/>
            </p:nvSpPr>
            <p:spPr bwMode="auto">
              <a:xfrm>
                <a:off x="1214" y="1549"/>
                <a:ext cx="288" cy="288"/>
              </a:xfrm>
              <a:prstGeom prst="rect">
                <a:avLst/>
              </a:prstGeom>
              <a:solidFill>
                <a:srgbClr val="E6E6E6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/>
              <a:p>
                <a:pPr>
                  <a:spcBef>
                    <a:spcPct val="20000"/>
                  </a:spcBef>
                </a:pPr>
                <a:endParaRPr kumimoji="0" lang="zh-CN" altLang="zh-CN" sz="2400" b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106" name="Rectangle 105"/>
              <p:cNvSpPr>
                <a:spLocks noChangeArrowheads="1"/>
              </p:cNvSpPr>
              <p:nvPr/>
            </p:nvSpPr>
            <p:spPr bwMode="auto">
              <a:xfrm>
                <a:off x="1321" y="1613"/>
                <a:ext cx="73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8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1</a:t>
                </a:r>
                <a:endParaRPr lang="en-US" altLang="zh-CN" sz="2400" b="1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7" name="Rectangle 106"/>
              <p:cNvSpPr>
                <a:spLocks noChangeArrowheads="1"/>
              </p:cNvSpPr>
              <p:nvPr/>
            </p:nvSpPr>
            <p:spPr bwMode="auto">
              <a:xfrm>
                <a:off x="926" y="1549"/>
                <a:ext cx="288" cy="288"/>
              </a:xfrm>
              <a:prstGeom prst="rect">
                <a:avLst/>
              </a:prstGeom>
              <a:solidFill>
                <a:srgbClr val="E6E6E6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/>
              <a:p>
                <a:pPr>
                  <a:spcBef>
                    <a:spcPct val="20000"/>
                  </a:spcBef>
                </a:pPr>
                <a:endParaRPr kumimoji="0" lang="zh-CN" altLang="zh-CN" sz="2400" b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108" name="Rectangle 107"/>
              <p:cNvSpPr>
                <a:spLocks noChangeArrowheads="1"/>
              </p:cNvSpPr>
              <p:nvPr/>
            </p:nvSpPr>
            <p:spPr bwMode="auto">
              <a:xfrm>
                <a:off x="1033" y="1613"/>
                <a:ext cx="73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8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1</a:t>
                </a:r>
                <a:endParaRPr lang="en-US" altLang="zh-CN" sz="2400" b="1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9" name="Rectangle 108"/>
              <p:cNvSpPr>
                <a:spLocks noChangeArrowheads="1"/>
              </p:cNvSpPr>
              <p:nvPr/>
            </p:nvSpPr>
            <p:spPr bwMode="auto">
              <a:xfrm>
                <a:off x="638" y="1549"/>
                <a:ext cx="288" cy="288"/>
              </a:xfrm>
              <a:prstGeom prst="rect">
                <a:avLst/>
              </a:prstGeom>
              <a:solidFill>
                <a:srgbClr val="E6E6E6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/>
              <a:p>
                <a:pPr>
                  <a:spcBef>
                    <a:spcPct val="20000"/>
                  </a:spcBef>
                </a:pPr>
                <a:endParaRPr kumimoji="0" lang="zh-CN" altLang="zh-CN" sz="2400" b="1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  <p:sp>
            <p:nvSpPr>
              <p:cNvPr id="110" name="Rectangle 109"/>
              <p:cNvSpPr>
                <a:spLocks noChangeArrowheads="1"/>
              </p:cNvSpPr>
              <p:nvPr/>
            </p:nvSpPr>
            <p:spPr bwMode="auto">
              <a:xfrm>
                <a:off x="745" y="1613"/>
                <a:ext cx="73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800" b="1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1</a:t>
                </a:r>
                <a:endParaRPr lang="en-US" altLang="zh-CN" sz="2400" b="1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111" name="Text Box 112"/>
          <p:cNvSpPr txBox="1">
            <a:spLocks noChangeArrowheads="1"/>
          </p:cNvSpPr>
          <p:nvPr/>
        </p:nvSpPr>
        <p:spPr bwMode="auto">
          <a:xfrm>
            <a:off x="539750" y="3356992"/>
            <a:ext cx="8424863" cy="2899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10000"/>
              </a:spcBef>
            </a:pPr>
            <a:r>
              <a:rPr lang="zh-CN" altLang="en-US" b="1" dirty="0">
                <a:ea typeface="楷体_GB2312" pitchFamily="49" charset="-122"/>
              </a:rPr>
              <a:t>标志：</a:t>
            </a:r>
          </a:p>
          <a:p>
            <a:pPr>
              <a:spcBef>
                <a:spcPct val="10000"/>
              </a:spcBef>
            </a:pPr>
            <a:r>
              <a:rPr lang="zh-CN" altLang="en-US" b="1" dirty="0">
                <a:ea typeface="楷体_GB2312" pitchFamily="49" charset="-122"/>
              </a:rPr>
              <a:t>    运算结果最高位为</a:t>
            </a:r>
            <a:r>
              <a:rPr lang="en-US" altLang="zh-CN" b="1" dirty="0">
                <a:ea typeface="楷体_GB2312" pitchFamily="49" charset="-122"/>
              </a:rPr>
              <a:t>1	                                          ∴</a:t>
            </a:r>
            <a:r>
              <a:rPr lang="en-US" altLang="zh-CN" b="1" dirty="0">
                <a:solidFill>
                  <a:schemeClr val="folHlink"/>
                </a:solidFill>
                <a:ea typeface="楷体_GB2312" pitchFamily="49" charset="-122"/>
              </a:rPr>
              <a:t>SF=1</a:t>
            </a:r>
            <a:r>
              <a:rPr lang="en-US" altLang="zh-CN" b="1" dirty="0">
                <a:ea typeface="楷体_GB2312" pitchFamily="49" charset="-122"/>
              </a:rPr>
              <a:t>  </a:t>
            </a:r>
          </a:p>
          <a:p>
            <a:pPr>
              <a:spcBef>
                <a:spcPct val="10000"/>
              </a:spcBef>
            </a:pPr>
            <a:r>
              <a:rPr lang="en-US" altLang="zh-CN" b="1" dirty="0">
                <a:ea typeface="楷体_GB2312" pitchFamily="49" charset="-122"/>
              </a:rPr>
              <a:t>    </a:t>
            </a:r>
            <a:r>
              <a:rPr lang="zh-CN" altLang="en-US" b="1" dirty="0">
                <a:ea typeface="楷体_GB2312" pitchFamily="49" charset="-122"/>
              </a:rPr>
              <a:t>运算结果本身≠</a:t>
            </a:r>
            <a:r>
              <a:rPr lang="en-US" altLang="zh-CN" b="1" dirty="0">
                <a:ea typeface="楷体_GB2312" pitchFamily="49" charset="-122"/>
              </a:rPr>
              <a:t>0 		                               	      ∴</a:t>
            </a:r>
            <a:r>
              <a:rPr lang="en-US" altLang="zh-CN" b="1" dirty="0">
                <a:solidFill>
                  <a:schemeClr val="folHlink"/>
                </a:solidFill>
                <a:ea typeface="楷体_GB2312" pitchFamily="49" charset="-122"/>
              </a:rPr>
              <a:t>ZF=0</a:t>
            </a:r>
          </a:p>
          <a:p>
            <a:pPr>
              <a:spcBef>
                <a:spcPct val="10000"/>
              </a:spcBef>
            </a:pPr>
            <a:r>
              <a:rPr lang="en-US" altLang="zh-CN" b="1" dirty="0">
                <a:ea typeface="楷体_GB2312" pitchFamily="49" charset="-122"/>
              </a:rPr>
              <a:t>    </a:t>
            </a:r>
            <a:r>
              <a:rPr lang="zh-CN" altLang="en-US" b="1" dirty="0">
                <a:ea typeface="楷体_GB2312" pitchFamily="49" charset="-122"/>
              </a:rPr>
              <a:t>低</a:t>
            </a:r>
            <a:r>
              <a:rPr lang="en-US" altLang="zh-CN" b="1" dirty="0">
                <a:ea typeface="楷体_GB2312" pitchFamily="49" charset="-122"/>
              </a:rPr>
              <a:t>8</a:t>
            </a:r>
            <a:r>
              <a:rPr lang="zh-CN" altLang="en-US" b="1" dirty="0">
                <a:ea typeface="楷体_GB2312" pitchFamily="49" charset="-122"/>
              </a:rPr>
              <a:t>位中</a:t>
            </a:r>
            <a:r>
              <a:rPr lang="en-US" altLang="zh-CN" b="1" dirty="0">
                <a:ea typeface="楷体_GB2312" pitchFamily="49" charset="-122"/>
              </a:rPr>
              <a:t>1</a:t>
            </a:r>
            <a:r>
              <a:rPr lang="zh-CN" altLang="en-US" b="1" dirty="0">
                <a:ea typeface="楷体_GB2312" pitchFamily="49" charset="-122"/>
              </a:rPr>
              <a:t>的个数为奇数个                                          ∴</a:t>
            </a:r>
            <a:r>
              <a:rPr lang="en-US" altLang="zh-CN" b="1" dirty="0">
                <a:solidFill>
                  <a:schemeClr val="folHlink"/>
                </a:solidFill>
                <a:ea typeface="楷体_GB2312" pitchFamily="49" charset="-122"/>
              </a:rPr>
              <a:t>PF=0 </a:t>
            </a:r>
            <a:r>
              <a:rPr lang="en-US" altLang="zh-CN" b="1" dirty="0">
                <a:ea typeface="楷体_GB2312" pitchFamily="49" charset="-122"/>
              </a:rPr>
              <a:t> </a:t>
            </a:r>
          </a:p>
          <a:p>
            <a:pPr>
              <a:spcBef>
                <a:spcPct val="10000"/>
              </a:spcBef>
            </a:pPr>
            <a:r>
              <a:rPr lang="en-US" altLang="zh-CN" b="1" dirty="0">
                <a:ea typeface="楷体_GB2312" pitchFamily="49" charset="-122"/>
              </a:rPr>
              <a:t>    </a:t>
            </a:r>
            <a:r>
              <a:rPr lang="zh-CN" altLang="en-US" b="1" dirty="0">
                <a:ea typeface="楷体_GB2312" pitchFamily="49" charset="-122"/>
              </a:rPr>
              <a:t>最高位没有进位（</a:t>
            </a:r>
            <a:r>
              <a:rPr lang="zh-CN" altLang="en-US" b="1" dirty="0">
                <a:solidFill>
                  <a:schemeClr val="hlink"/>
                </a:solidFill>
                <a:ea typeface="楷体_GB2312" pitchFamily="49" charset="-122"/>
              </a:rPr>
              <a:t>无进位，有借位</a:t>
            </a:r>
            <a:r>
              <a:rPr lang="zh-CN" altLang="en-US" b="1" dirty="0">
                <a:ea typeface="楷体_GB2312" pitchFamily="49" charset="-122"/>
              </a:rPr>
              <a:t>）                      ∴</a:t>
            </a:r>
            <a:r>
              <a:rPr lang="en-US" altLang="zh-CN" b="1" dirty="0">
                <a:solidFill>
                  <a:schemeClr val="folHlink"/>
                </a:solidFill>
                <a:ea typeface="楷体_GB2312" pitchFamily="49" charset="-122"/>
              </a:rPr>
              <a:t>CF=1</a:t>
            </a:r>
          </a:p>
          <a:p>
            <a:pPr>
              <a:spcBef>
                <a:spcPct val="10000"/>
              </a:spcBef>
            </a:pPr>
            <a:r>
              <a:rPr lang="en-US" altLang="zh-CN" b="1" dirty="0">
                <a:ea typeface="楷体_GB2312" pitchFamily="49" charset="-122"/>
              </a:rPr>
              <a:t>    D</a:t>
            </a:r>
            <a:r>
              <a:rPr lang="en-US" altLang="zh-CN" b="1" baseline="-25000" dirty="0">
                <a:ea typeface="楷体_GB2312" pitchFamily="49" charset="-122"/>
              </a:rPr>
              <a:t>3</a:t>
            </a:r>
            <a:r>
              <a:rPr lang="zh-CN" altLang="en-US" b="1" dirty="0">
                <a:ea typeface="楷体_GB2312" pitchFamily="49" charset="-122"/>
              </a:rPr>
              <a:t>位向</a:t>
            </a:r>
            <a:r>
              <a:rPr lang="en-US" altLang="zh-CN" b="1" dirty="0">
                <a:ea typeface="楷体_GB2312" pitchFamily="49" charset="-122"/>
              </a:rPr>
              <a:t>D</a:t>
            </a:r>
            <a:r>
              <a:rPr lang="en-US" altLang="zh-CN" b="1" baseline="-25000" dirty="0">
                <a:ea typeface="楷体_GB2312" pitchFamily="49" charset="-122"/>
              </a:rPr>
              <a:t>4</a:t>
            </a:r>
            <a:r>
              <a:rPr lang="zh-CN" altLang="en-US" b="1" dirty="0">
                <a:ea typeface="楷体_GB2312" pitchFamily="49" charset="-122"/>
              </a:rPr>
              <a:t>位无进位（</a:t>
            </a:r>
            <a:r>
              <a:rPr lang="zh-CN" altLang="en-US" b="1" dirty="0">
                <a:solidFill>
                  <a:schemeClr val="hlink"/>
                </a:solidFill>
                <a:ea typeface="楷体_GB2312" pitchFamily="49" charset="-122"/>
              </a:rPr>
              <a:t>无进位，有借位</a:t>
            </a:r>
            <a:r>
              <a:rPr lang="zh-CN" altLang="en-US" b="1" dirty="0">
                <a:ea typeface="楷体_GB2312" pitchFamily="49" charset="-122"/>
              </a:rPr>
              <a:t> ）	      ∴</a:t>
            </a:r>
            <a:r>
              <a:rPr lang="en-US" altLang="zh-CN" b="1" dirty="0">
                <a:solidFill>
                  <a:schemeClr val="folHlink"/>
                </a:solidFill>
                <a:ea typeface="楷体_GB2312" pitchFamily="49" charset="-122"/>
              </a:rPr>
              <a:t>AF=1</a:t>
            </a:r>
          </a:p>
          <a:p>
            <a:pPr>
              <a:spcBef>
                <a:spcPct val="10000"/>
              </a:spcBef>
            </a:pPr>
            <a:r>
              <a:rPr lang="en-US" altLang="zh-CN" b="1" dirty="0">
                <a:ea typeface="楷体_GB2312" pitchFamily="49" charset="-122"/>
              </a:rPr>
              <a:t>    </a:t>
            </a:r>
            <a:r>
              <a:rPr lang="zh-CN" altLang="en-US" b="1" dirty="0">
                <a:ea typeface="楷体_GB2312" pitchFamily="49" charset="-122"/>
              </a:rPr>
              <a:t>次高位向最高位没有进位 ，最高位向前没有进位 ∴</a:t>
            </a:r>
            <a:r>
              <a:rPr lang="en-US" altLang="zh-CN" b="1" dirty="0">
                <a:solidFill>
                  <a:schemeClr val="folHlink"/>
                </a:solidFill>
                <a:ea typeface="楷体_GB2312" pitchFamily="49" charset="-122"/>
              </a:rPr>
              <a:t>OF=0</a:t>
            </a:r>
          </a:p>
        </p:txBody>
      </p:sp>
      <p:sp>
        <p:nvSpPr>
          <p:cNvPr id="112" name="标题 154627"/>
          <p:cNvSpPr txBox="1"/>
          <p:nvPr/>
        </p:nvSpPr>
        <p:spPr>
          <a:xfrm>
            <a:off x="2627784" y="188640"/>
            <a:ext cx="3527425" cy="431800"/>
          </a:xfrm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>
                <a:solidFill>
                  <a:srgbClr val="FF0000"/>
                </a:solidFill>
                <a:ea typeface="隶书" panose="02010509060101010101" pitchFamily="49" charset="-122"/>
              </a:rPr>
              <a:t>2.1 8086</a:t>
            </a:r>
            <a:r>
              <a:rPr lang="zh-CN" altLang="en-US" sz="3200" b="1">
                <a:solidFill>
                  <a:srgbClr val="FF0000"/>
                </a:solidFill>
                <a:ea typeface="隶书" panose="02010509060101010101" pitchFamily="49" charset="-122"/>
              </a:rPr>
              <a:t>微处理器</a:t>
            </a:r>
            <a:endParaRPr lang="zh-CN" alt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82" name="文本框 280581">
            <a:hlinkClick r:id="" action="ppaction://noaction"/>
          </p:cNvPr>
          <p:cNvSpPr txBox="1"/>
          <p:nvPr/>
        </p:nvSpPr>
        <p:spPr>
          <a:xfrm>
            <a:off x="3416300" y="811213"/>
            <a:ext cx="18764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>
              <a:buClrTx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控制标志位</a:t>
            </a: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0583" name="矩形 280582"/>
          <p:cNvSpPr/>
          <p:nvPr/>
        </p:nvSpPr>
        <p:spPr>
          <a:xfrm>
            <a:off x="107950" y="1431925"/>
            <a:ext cx="8896350" cy="1349003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buClrTx/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控制标志位</a:t>
            </a:r>
            <a:r>
              <a:rPr lang="zh-CN" altLang="en-US" sz="2400" b="1" dirty="0"/>
              <a:t>：控制</a:t>
            </a:r>
            <a:r>
              <a:rPr lang="en-US" altLang="zh-CN" sz="2400" b="1" dirty="0"/>
              <a:t>CPU</a:t>
            </a:r>
            <a:r>
              <a:rPr lang="zh-CN" altLang="en-US" sz="2400" b="1" dirty="0"/>
              <a:t>的操作，需通过</a:t>
            </a:r>
            <a:r>
              <a:rPr lang="zh-CN" altLang="en-US" sz="2400" b="1" dirty="0">
                <a:solidFill>
                  <a:srgbClr val="0000FF"/>
                </a:solidFill>
              </a:rPr>
              <a:t>专门指令</a:t>
            </a:r>
            <a:r>
              <a:rPr lang="zh-CN" altLang="en-US" sz="2400" b="1" dirty="0"/>
              <a:t>改变。</a:t>
            </a:r>
          </a:p>
          <a:p>
            <a:pPr marL="0" lvl="0" indent="0">
              <a:buClrTx/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追踪标志</a:t>
            </a:r>
            <a:r>
              <a:rPr lang="en-US" altLang="zh-CN" sz="2400" b="1" dirty="0">
                <a:solidFill>
                  <a:srgbClr val="0000FF"/>
                </a:solidFill>
              </a:rPr>
              <a:t>TF</a:t>
            </a:r>
            <a:r>
              <a:rPr lang="zh-CN" altLang="en-US" sz="2400" b="1" dirty="0">
                <a:solidFill>
                  <a:srgbClr val="0000FF"/>
                </a:solidFill>
              </a:rPr>
              <a:t> ：</a:t>
            </a:r>
            <a:r>
              <a:rPr lang="en-US" altLang="zh-CN" sz="2400" b="1" dirty="0"/>
              <a:t>TF=1</a:t>
            </a:r>
            <a:r>
              <a:rPr lang="zh-CN" altLang="en-US" sz="2400" b="1" dirty="0"/>
              <a:t>，</a:t>
            </a:r>
            <a:r>
              <a:rPr lang="en-US" altLang="zh-CN" sz="2400" b="1" dirty="0"/>
              <a:t>CPU</a:t>
            </a:r>
            <a:r>
              <a:rPr lang="zh-CN" altLang="en-US" sz="2400" b="1" dirty="0"/>
              <a:t>进入单步执行方式。主要用于程序的调试。</a:t>
            </a:r>
            <a:endParaRPr lang="en-US" altLang="zh-CN" sz="2400" b="1" dirty="0"/>
          </a:p>
        </p:txBody>
      </p:sp>
      <p:sp>
        <p:nvSpPr>
          <p:cNvPr id="280584" name="矩形 280583"/>
          <p:cNvSpPr/>
          <p:nvPr/>
        </p:nvSpPr>
        <p:spPr>
          <a:xfrm>
            <a:off x="223044" y="3284984"/>
            <a:ext cx="8807450" cy="8636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buClrTx/>
              <a:buNone/>
            </a:pPr>
            <a:r>
              <a:rPr lang="zh-CN" altLang="zh-CN" sz="2400" b="1" dirty="0">
                <a:solidFill>
                  <a:srgbClr val="0000FF"/>
                </a:solidFill>
              </a:rPr>
              <a:t>方向标志</a:t>
            </a:r>
            <a:r>
              <a:rPr lang="en-US" altLang="zh-CN" sz="2400" b="1" dirty="0">
                <a:solidFill>
                  <a:srgbClr val="0000FF"/>
                </a:solidFill>
              </a:rPr>
              <a:t>DF</a:t>
            </a:r>
            <a:r>
              <a:rPr lang="zh-CN" altLang="en-US" sz="2400" b="1" dirty="0">
                <a:solidFill>
                  <a:srgbClr val="0000FF"/>
                </a:solidFill>
              </a:rPr>
              <a:t>：</a:t>
            </a:r>
            <a:r>
              <a:rPr lang="zh-CN" altLang="en-US" sz="2400" b="1" dirty="0"/>
              <a:t>决定在串操作指令执行时指针的调整</a:t>
            </a:r>
            <a:r>
              <a:rPr lang="zh-CN" altLang="en-US" sz="2400" b="1" dirty="0">
                <a:solidFill>
                  <a:srgbClr val="0000FF"/>
                </a:solidFill>
              </a:rPr>
              <a:t>方向</a:t>
            </a:r>
            <a:r>
              <a:rPr lang="zh-CN" altLang="en-US" sz="2400" b="1" dirty="0"/>
              <a:t>。</a:t>
            </a:r>
          </a:p>
        </p:txBody>
      </p:sp>
      <p:sp>
        <p:nvSpPr>
          <p:cNvPr id="280586" name="矩形 280585"/>
          <p:cNvSpPr/>
          <p:nvPr/>
        </p:nvSpPr>
        <p:spPr>
          <a:xfrm>
            <a:off x="144463" y="4437063"/>
            <a:ext cx="8964612" cy="936153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buClrTx/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中断允许标志</a:t>
            </a:r>
            <a:r>
              <a:rPr lang="en-US" altLang="zh-CN" sz="2400" b="1" dirty="0">
                <a:solidFill>
                  <a:srgbClr val="0000FF"/>
                </a:solidFill>
              </a:rPr>
              <a:t>IF</a:t>
            </a:r>
            <a:r>
              <a:rPr lang="zh-CN" altLang="en-US" sz="2400" b="1" dirty="0">
                <a:solidFill>
                  <a:srgbClr val="0000FF"/>
                </a:solidFill>
              </a:rPr>
              <a:t>：</a:t>
            </a:r>
            <a:r>
              <a:rPr lang="zh-CN" altLang="en-US" sz="2400" b="1" dirty="0"/>
              <a:t>决定</a:t>
            </a:r>
            <a:r>
              <a:rPr lang="en-US" altLang="zh-CN" sz="2400" b="1" dirty="0"/>
              <a:t>CPU</a:t>
            </a:r>
            <a:r>
              <a:rPr lang="zh-CN" altLang="en-US" sz="2400" b="1" dirty="0"/>
              <a:t>是否响应</a:t>
            </a:r>
            <a:r>
              <a:rPr lang="en-US" altLang="zh-CN" sz="2400" b="1" dirty="0"/>
              <a:t>CPU</a:t>
            </a:r>
            <a:r>
              <a:rPr lang="zh-CN" altLang="en-US" sz="2400" b="1" dirty="0"/>
              <a:t>外部的可屏蔽中断发出的中断请求。规定</a:t>
            </a:r>
            <a:r>
              <a:rPr lang="en-US" altLang="zh-CN" sz="2400" b="1" dirty="0"/>
              <a:t>IF</a:t>
            </a:r>
            <a:r>
              <a:rPr lang="en-US" altLang="zh-CN" sz="2400" b="1" dirty="0">
                <a:solidFill>
                  <a:srgbClr val="FF00FF"/>
                </a:solidFill>
              </a:rPr>
              <a:t>=1</a:t>
            </a:r>
            <a:r>
              <a:rPr lang="zh-CN" altLang="en-US" sz="2400" b="1" dirty="0"/>
              <a:t>时，</a:t>
            </a:r>
            <a:r>
              <a:rPr lang="en-US" altLang="zh-CN" sz="2400" b="1" dirty="0"/>
              <a:t>CPU</a:t>
            </a:r>
            <a:r>
              <a:rPr lang="zh-CN" altLang="en-US" sz="2400" b="1" dirty="0"/>
              <a:t>响应</a:t>
            </a:r>
            <a:r>
              <a:rPr lang="en-US" altLang="zh-CN" sz="2400" b="1" dirty="0"/>
              <a:t> </a:t>
            </a:r>
            <a:r>
              <a:rPr lang="zh-CN" altLang="en-US" sz="2400" b="1" dirty="0"/>
              <a:t>；</a:t>
            </a:r>
            <a:r>
              <a:rPr lang="en-US" altLang="zh-CN" sz="2400" b="1" dirty="0"/>
              <a:t>IF</a:t>
            </a:r>
            <a:r>
              <a:rPr lang="en-US" altLang="zh-CN" sz="2400" b="1" dirty="0">
                <a:solidFill>
                  <a:srgbClr val="FF00FF"/>
                </a:solidFill>
              </a:rPr>
              <a:t>=0</a:t>
            </a:r>
            <a:r>
              <a:rPr lang="zh-CN" altLang="en-US" sz="2400" b="1" dirty="0"/>
              <a:t>时，</a:t>
            </a:r>
            <a:r>
              <a:rPr lang="en-US" altLang="zh-CN" sz="2400" b="1" dirty="0"/>
              <a:t>CPU</a:t>
            </a:r>
            <a:r>
              <a:rPr lang="zh-CN" altLang="en-US" sz="2400" b="1" dirty="0"/>
              <a:t>不响应</a:t>
            </a:r>
          </a:p>
        </p:txBody>
      </p:sp>
      <p:sp>
        <p:nvSpPr>
          <p:cNvPr id="280587" name="矩形 280586"/>
          <p:cNvSpPr/>
          <p:nvPr/>
        </p:nvSpPr>
        <p:spPr>
          <a:xfrm>
            <a:off x="586581" y="5551488"/>
            <a:ext cx="7513811" cy="4616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DF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与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IF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CPU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提供有</a:t>
            </a:r>
            <a:r>
              <a:rPr lang="zh-CN" altLang="en-US" sz="2400" b="1" dirty="0">
                <a:latin typeface="Arial" panose="020B0604020202020204" pitchFamily="34" charset="0"/>
              </a:rPr>
              <a:t>专门指令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改变值，</a:t>
            </a:r>
            <a:r>
              <a:rPr lang="en-US" altLang="zh-CN" sz="2400" b="1" dirty="0"/>
              <a:t>TF</a:t>
            </a:r>
            <a:r>
              <a:rPr lang="zh-CN" altLang="en-US" sz="2400" b="1" dirty="0"/>
              <a:t>没有提供</a:t>
            </a:r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标题 154627"/>
          <p:cNvSpPr txBox="1"/>
          <p:nvPr/>
        </p:nvSpPr>
        <p:spPr>
          <a:xfrm>
            <a:off x="2627784" y="188640"/>
            <a:ext cx="3527425" cy="431800"/>
          </a:xfrm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>
                <a:solidFill>
                  <a:srgbClr val="FF0000"/>
                </a:solidFill>
                <a:ea typeface="隶书" panose="02010509060101010101" pitchFamily="49" charset="-122"/>
              </a:rPr>
              <a:t>2.1 8086</a:t>
            </a:r>
            <a:r>
              <a:rPr lang="zh-CN" altLang="en-US" sz="3200" b="1">
                <a:solidFill>
                  <a:srgbClr val="FF0000"/>
                </a:solidFill>
                <a:ea typeface="隶书" panose="02010509060101010101" pitchFamily="49" charset="-122"/>
              </a:rPr>
              <a:t>微处理器</a:t>
            </a:r>
            <a:endParaRPr lang="zh-CN" altLang="en-US" sz="4000" dirty="0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08" name="矩形 281607"/>
          <p:cNvSpPr/>
          <p:nvPr/>
        </p:nvSpPr>
        <p:spPr>
          <a:xfrm>
            <a:off x="207963" y="1466850"/>
            <a:ext cx="8778875" cy="32575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buNone/>
            </a:pPr>
            <a:r>
              <a:rPr lang="zh-CN" altLang="en-US" sz="2400" b="1" dirty="0"/>
              <a:t>专门存放</a:t>
            </a:r>
            <a:r>
              <a:rPr lang="zh-CN" altLang="en-US" sz="2400" b="1" dirty="0">
                <a:solidFill>
                  <a:srgbClr val="0000FF"/>
                </a:solidFill>
              </a:rPr>
              <a:t>段地址</a:t>
            </a:r>
            <a:r>
              <a:rPr lang="zh-CN" altLang="en-US" sz="2400" b="1" dirty="0"/>
              <a:t>的寄存器，</a:t>
            </a:r>
            <a:r>
              <a:rPr lang="en-US" altLang="zh-CN" sz="2400" b="1" dirty="0"/>
              <a:t>8086</a:t>
            </a:r>
            <a:r>
              <a:rPr lang="zh-CN" altLang="en-US" sz="2400" b="1" dirty="0"/>
              <a:t>共有</a:t>
            </a:r>
            <a:r>
              <a:rPr lang="en-US" altLang="zh-CN" sz="2400" b="1" dirty="0">
                <a:solidFill>
                  <a:srgbClr val="0000FF"/>
                </a:solidFill>
              </a:rPr>
              <a:t>4</a:t>
            </a:r>
            <a:r>
              <a:rPr lang="zh-CN" altLang="en-US" sz="2400" b="1" dirty="0"/>
              <a:t>个： </a:t>
            </a:r>
          </a:p>
          <a:p>
            <a:pPr marL="0" lvl="0" indent="0">
              <a:buNone/>
            </a:pPr>
            <a:r>
              <a:rPr lang="zh-CN" altLang="en-US" sz="2400" b="1" dirty="0"/>
              <a:t>　　</a:t>
            </a:r>
            <a:r>
              <a:rPr lang="en-US" altLang="zh-CN" sz="2400" b="1" dirty="0"/>
              <a:t>CS</a:t>
            </a:r>
            <a:r>
              <a:rPr lang="zh-CN" altLang="en-US" sz="2400" b="1" dirty="0">
                <a:ea typeface="Times New Roman" panose="02020603050405020304" pitchFamily="18" charset="0"/>
              </a:rPr>
              <a:t>－</a:t>
            </a:r>
            <a:r>
              <a:rPr lang="zh-CN" altLang="en-US" sz="2400" b="1" dirty="0"/>
              <a:t>代码段段寄存器；</a:t>
            </a:r>
          </a:p>
          <a:p>
            <a:pPr marL="0" lvl="0" indent="0">
              <a:buNone/>
            </a:pPr>
            <a:r>
              <a:rPr lang="zh-CN" altLang="en-US" sz="2400" b="1" dirty="0"/>
              <a:t>       </a:t>
            </a:r>
            <a:r>
              <a:rPr lang="en-US" altLang="zh-CN" sz="2400" b="1" dirty="0"/>
              <a:t>DS</a:t>
            </a:r>
            <a:r>
              <a:rPr lang="zh-CN" altLang="en-US" sz="2400" b="1" dirty="0">
                <a:ea typeface="Times New Roman" panose="02020603050405020304" pitchFamily="18" charset="0"/>
              </a:rPr>
              <a:t>－</a:t>
            </a:r>
            <a:r>
              <a:rPr lang="zh-CN" altLang="en-US" sz="2400" b="1" dirty="0"/>
              <a:t>数据段段寄存器；</a:t>
            </a:r>
          </a:p>
          <a:p>
            <a:pPr marL="0" lvl="0" indent="0">
              <a:buNone/>
            </a:pPr>
            <a:r>
              <a:rPr lang="zh-CN" altLang="en-US" sz="2400" b="1" dirty="0"/>
              <a:t>       </a:t>
            </a:r>
            <a:r>
              <a:rPr lang="en-US" altLang="zh-CN" sz="2400" b="1" dirty="0"/>
              <a:t>ES</a:t>
            </a:r>
            <a:r>
              <a:rPr lang="zh-CN" altLang="en-US" sz="2400" b="1" dirty="0">
                <a:ea typeface="Times New Roman" panose="02020603050405020304" pitchFamily="18" charset="0"/>
              </a:rPr>
              <a:t>－</a:t>
            </a:r>
            <a:r>
              <a:rPr lang="zh-CN" altLang="en-US" sz="2400" b="1" dirty="0"/>
              <a:t>附加段段寄存器 ；</a:t>
            </a:r>
          </a:p>
          <a:p>
            <a:pPr marL="0" lvl="0" indent="0">
              <a:buNone/>
            </a:pPr>
            <a:r>
              <a:rPr lang="zh-CN" altLang="en-US" sz="2400" b="1" dirty="0"/>
              <a:t>       </a:t>
            </a:r>
            <a:r>
              <a:rPr lang="en-US" altLang="zh-CN" sz="2400" b="1" dirty="0"/>
              <a:t>SS</a:t>
            </a:r>
            <a:r>
              <a:rPr lang="zh-CN" altLang="en-US" sz="2400" b="1" dirty="0">
                <a:ea typeface="Times New Roman" panose="02020603050405020304" pitchFamily="18" charset="0"/>
              </a:rPr>
              <a:t>－</a:t>
            </a:r>
            <a:r>
              <a:rPr lang="zh-CN" altLang="en-US" sz="2400" b="1" dirty="0"/>
              <a:t>堆栈段段寄存器。</a:t>
            </a:r>
          </a:p>
          <a:p>
            <a:pPr marL="0" lvl="0" indent="0">
              <a:buNone/>
            </a:pPr>
            <a:r>
              <a:rPr lang="zh-CN" altLang="en-US" sz="2400" b="1" dirty="0"/>
              <a:t>段寄存器都为</a:t>
            </a:r>
            <a:r>
              <a:rPr lang="en-US" altLang="zh-CN" sz="2400" b="1" dirty="0">
                <a:solidFill>
                  <a:srgbClr val="0000FF"/>
                </a:solidFill>
              </a:rPr>
              <a:t>16</a:t>
            </a:r>
            <a:r>
              <a:rPr lang="zh-CN" altLang="en-US" sz="2400" b="1" dirty="0"/>
              <a:t>位，用于存放相应逻辑段的段地址</a:t>
            </a:r>
            <a:endParaRPr lang="en-US" altLang="zh-CN" sz="2400" b="1" dirty="0"/>
          </a:p>
        </p:txBody>
      </p:sp>
      <p:sp>
        <p:nvSpPr>
          <p:cNvPr id="281609" name="文本框 281608">
            <a:hlinkClick r:id="" action="ppaction://noaction"/>
          </p:cNvPr>
          <p:cNvSpPr txBox="1"/>
          <p:nvPr/>
        </p:nvSpPr>
        <p:spPr>
          <a:xfrm>
            <a:off x="196850" y="898525"/>
            <a:ext cx="314483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rgbClr val="0000CC"/>
                </a:solidFill>
                <a:latin typeface="宋体" panose="02010600030101010101" pitchFamily="2" charset="-122"/>
              </a:rPr>
              <a:t>5</a:t>
            </a:r>
            <a:r>
              <a:rPr lang="zh-CN" altLang="en-US" sz="2400" b="1" dirty="0">
                <a:solidFill>
                  <a:srgbClr val="0000CC"/>
                </a:solidFill>
                <a:latin typeface="宋体" panose="02010600030101010101" pitchFamily="2" charset="-122"/>
              </a:rPr>
              <a:t>、段寄存器</a:t>
            </a:r>
          </a:p>
        </p:txBody>
      </p:sp>
      <p:sp>
        <p:nvSpPr>
          <p:cNvPr id="5" name="标题 154627"/>
          <p:cNvSpPr txBox="1"/>
          <p:nvPr/>
        </p:nvSpPr>
        <p:spPr>
          <a:xfrm>
            <a:off x="2627784" y="188640"/>
            <a:ext cx="3527425" cy="431800"/>
          </a:xfrm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>
                <a:solidFill>
                  <a:srgbClr val="FF0000"/>
                </a:solidFill>
                <a:ea typeface="隶书" panose="02010509060101010101" pitchFamily="49" charset="-122"/>
              </a:rPr>
              <a:t>2.1 8086</a:t>
            </a:r>
            <a:r>
              <a:rPr lang="zh-CN" altLang="en-US" sz="3200" b="1">
                <a:solidFill>
                  <a:srgbClr val="FF0000"/>
                </a:solidFill>
                <a:ea typeface="隶书" panose="02010509060101010101" pitchFamily="49" charset="-122"/>
              </a:rPr>
              <a:t>微处理器</a:t>
            </a:r>
            <a:endParaRPr lang="zh-CN" altLang="en-US" sz="4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26" name="标题 282625"/>
          <p:cNvSpPr>
            <a:spLocks noGrp="1"/>
          </p:cNvSpPr>
          <p:nvPr>
            <p:ph type="title"/>
          </p:nvPr>
        </p:nvSpPr>
        <p:spPr>
          <a:xfrm>
            <a:off x="1044575" y="188913"/>
            <a:ext cx="7631881" cy="431800"/>
          </a:xfrm>
        </p:spPr>
        <p:txBody>
          <a:bodyPr anchor="ctr"/>
          <a:lstStyle/>
          <a:p>
            <a:pPr lvl="0"/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2.2 8086CPU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存储器组织及</a:t>
            </a:r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I/O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结构 </a:t>
            </a:r>
          </a:p>
        </p:txBody>
      </p:sp>
      <p:sp>
        <p:nvSpPr>
          <p:cNvPr id="282629" name="文本框 282628">
            <a:hlinkClick r:id="" action="ppaction://noaction"/>
          </p:cNvPr>
          <p:cNvSpPr txBox="1"/>
          <p:nvPr/>
        </p:nvSpPr>
        <p:spPr>
          <a:xfrm>
            <a:off x="279400" y="1531640"/>
            <a:ext cx="400526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00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１、存储单元的地址</a:t>
            </a:r>
            <a:endParaRPr lang="zh-CN" altLang="en-US" sz="2400" b="1" dirty="0">
              <a:solidFill>
                <a:srgbClr val="0000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2630" name="矩形 282629"/>
          <p:cNvSpPr/>
          <p:nvPr/>
        </p:nvSpPr>
        <p:spPr>
          <a:xfrm>
            <a:off x="179388" y="2277294"/>
            <a:ext cx="8804275" cy="309592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物理地址</a:t>
            </a:r>
            <a:r>
              <a:rPr lang="zh-CN" altLang="en-US" sz="2400" b="1" dirty="0"/>
              <a:t>：每个存储单元的唯一地址。 </a:t>
            </a:r>
          </a:p>
          <a:p>
            <a:pPr lvl="0">
              <a:buNone/>
            </a:pPr>
            <a:r>
              <a:rPr lang="zh-CN" altLang="en-US" sz="2400" b="1" dirty="0">
                <a:sym typeface="Wingdings" panose="05000000000000000000" pitchFamily="2" charset="2"/>
              </a:rPr>
              <a:t>（</a:t>
            </a:r>
            <a:r>
              <a:rPr lang="en-US" altLang="zh-CN" sz="2400" b="1" dirty="0">
                <a:sym typeface="Wingdings" panose="05000000000000000000" pitchFamily="2" charset="2"/>
              </a:rPr>
              <a:t>1</a:t>
            </a:r>
            <a:r>
              <a:rPr lang="zh-CN" altLang="en-US" sz="2400" b="1" dirty="0">
                <a:sym typeface="Wingdings" panose="05000000000000000000" pitchFamily="2" charset="2"/>
              </a:rPr>
              <a:t>）</a:t>
            </a:r>
            <a:r>
              <a:rPr lang="zh-CN" altLang="en-US" sz="2400" b="1" dirty="0"/>
              <a:t>物理地址的空间呈线性增长，从</a:t>
            </a:r>
            <a:r>
              <a:rPr lang="en-US" altLang="zh-CN" sz="2400" b="1" dirty="0"/>
              <a:t>0</a:t>
            </a:r>
            <a:r>
              <a:rPr lang="zh-CN" altLang="en-US" sz="2400" b="1" dirty="0"/>
              <a:t>开始编号，顺序每次加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。</a:t>
            </a:r>
          </a:p>
          <a:p>
            <a:pPr lvl="0"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）在</a:t>
            </a:r>
            <a:r>
              <a:rPr lang="zh-CN" altLang="en-US" sz="2400" b="1" dirty="0">
                <a:solidFill>
                  <a:srgbClr val="0000FF"/>
                </a:solidFill>
              </a:rPr>
              <a:t>机器里，</a:t>
            </a:r>
            <a:r>
              <a:rPr lang="zh-CN" altLang="en-US" sz="2400" b="1" dirty="0"/>
              <a:t>物理地址</a:t>
            </a:r>
            <a:r>
              <a:rPr lang="zh-CN" altLang="en-US" sz="2400" b="1" dirty="0">
                <a:solidFill>
                  <a:srgbClr val="0000FF"/>
                </a:solidFill>
              </a:rPr>
              <a:t>用无符号二进制数</a:t>
            </a:r>
            <a:r>
              <a:rPr lang="zh-CN" altLang="en-US" sz="2400" b="1" dirty="0"/>
              <a:t>表示，</a:t>
            </a:r>
            <a:r>
              <a:rPr lang="zh-CN" altLang="en-US" sz="2400" b="1" dirty="0">
                <a:solidFill>
                  <a:srgbClr val="0000FF"/>
                </a:solidFill>
              </a:rPr>
              <a:t>书写格式</a:t>
            </a:r>
            <a:r>
              <a:rPr lang="zh-CN" altLang="en-US" sz="2400" b="1" dirty="0"/>
              <a:t>为十六进制数。如</a:t>
            </a:r>
            <a:r>
              <a:rPr lang="en-US" altLang="zh-CN" sz="2400" b="1" dirty="0"/>
              <a:t>23450H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0A209FH</a:t>
            </a:r>
            <a:r>
              <a:rPr lang="zh-CN" altLang="en-US" sz="2400" b="1" dirty="0"/>
              <a:t>。</a:t>
            </a:r>
          </a:p>
          <a:p>
            <a:pPr lvl="0"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3</a:t>
            </a:r>
            <a:r>
              <a:rPr lang="zh-CN" altLang="en-US" sz="2400" b="1" dirty="0"/>
              <a:t>） </a:t>
            </a:r>
            <a:r>
              <a:rPr lang="en-US" altLang="zh-CN" sz="2400" b="1" dirty="0"/>
              <a:t>8086</a:t>
            </a:r>
            <a:r>
              <a:rPr lang="zh-CN" altLang="en-US" sz="2400" b="1" dirty="0"/>
              <a:t>的内存以字节编址（数据在内存中</a:t>
            </a:r>
            <a:r>
              <a:rPr lang="zh-CN" altLang="en-US" sz="2400" b="1" dirty="0">
                <a:solidFill>
                  <a:srgbClr val="0000FF"/>
                </a:solidFill>
              </a:rPr>
              <a:t>以字节为单位</a:t>
            </a:r>
            <a:r>
              <a:rPr lang="zh-CN" altLang="en-US" sz="2400" b="1" dirty="0"/>
              <a:t>进行存储），每个内存单元地址唯一，存放一个字节。字节是</a:t>
            </a:r>
            <a:r>
              <a:rPr lang="en-US" altLang="zh-CN" sz="2400" b="1" dirty="0"/>
              <a:t>8086</a:t>
            </a:r>
            <a:r>
              <a:rPr lang="zh-CN" altLang="en-US" sz="2400" b="1" dirty="0"/>
              <a:t>中最基本的数据</a:t>
            </a:r>
            <a:r>
              <a:rPr lang="zh-CN" altLang="en-US" sz="2400" b="1" dirty="0">
                <a:solidFill>
                  <a:srgbClr val="0000FF"/>
                </a:solidFill>
              </a:rPr>
              <a:t>存取</a:t>
            </a:r>
            <a:r>
              <a:rPr lang="zh-CN" altLang="en-US" sz="2400" b="1" dirty="0"/>
              <a:t>单位。</a:t>
            </a:r>
          </a:p>
        </p:txBody>
      </p:sp>
      <p:sp>
        <p:nvSpPr>
          <p:cNvPr id="6" name="文本框 282628">
            <a:hlinkClick r:id="" action="ppaction://noaction"/>
          </p:cNvPr>
          <p:cNvSpPr txBox="1"/>
          <p:nvPr/>
        </p:nvSpPr>
        <p:spPr>
          <a:xfrm>
            <a:off x="251520" y="764704"/>
            <a:ext cx="4536504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</a:rPr>
              <a:t>一、存储单元的地址和内容</a:t>
            </a:r>
            <a:endParaRPr lang="zh-CN" altLang="en-US" sz="2800" b="1" dirty="0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6" name="矩形 283655"/>
          <p:cNvSpPr/>
          <p:nvPr/>
        </p:nvSpPr>
        <p:spPr>
          <a:xfrm>
            <a:off x="250825" y="3511550"/>
            <a:ext cx="8642350" cy="2677656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>
              <a:buClrTx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存取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个字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或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双字的方法：</a:t>
            </a:r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>
              <a:buClr>
                <a:srgbClr val="FF00FF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１个字占据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两个相邻的内存单元，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低字节放在低地址单元，高字节放在高地址单元；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字的地址由其低地址来表示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</a:p>
          <a:p>
            <a:pPr lvl="0">
              <a:buClrTx/>
            </a:pPr>
            <a:endParaRPr lang="zh-CN" altLang="en-US" sz="24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>
              <a:buClrTx/>
            </a:pP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双字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类似字。</a:t>
            </a:r>
          </a:p>
          <a:p>
            <a:pPr lvl="0">
              <a:buClr>
                <a:srgbClr val="FF00FF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对于同一个内存地址，既可以看作是字节单元的地址，也可以看作是字或双字单元的地址，取决于存取的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数据类型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</a:p>
        </p:txBody>
      </p:sp>
      <p:pic>
        <p:nvPicPr>
          <p:cNvPr id="283659" name="图片 2836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150" y="908720"/>
            <a:ext cx="5689600" cy="20875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83661" name="矩形 283660"/>
          <p:cNvSpPr/>
          <p:nvPr/>
        </p:nvSpPr>
        <p:spPr>
          <a:xfrm>
            <a:off x="3190875" y="3082008"/>
            <a:ext cx="2493963" cy="33655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lvl="0"/>
            <a:r>
              <a:rPr lang="zh-CN" altLang="en-US" sz="1600" b="1" dirty="0">
                <a:latin typeface="Arial" panose="020B0604020202020204" pitchFamily="34" charset="0"/>
                <a:ea typeface="宋体" panose="02010600030101010101" pitchFamily="2" charset="-122"/>
              </a:rPr>
              <a:t>物理地址顺序排列示意图 </a:t>
            </a:r>
          </a:p>
        </p:txBody>
      </p:sp>
      <p:sp>
        <p:nvSpPr>
          <p:cNvPr id="6" name="标题 282625"/>
          <p:cNvSpPr txBox="1"/>
          <p:nvPr/>
        </p:nvSpPr>
        <p:spPr>
          <a:xfrm>
            <a:off x="1044575" y="188913"/>
            <a:ext cx="7631881" cy="431800"/>
          </a:xfrm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>
                <a:solidFill>
                  <a:srgbClr val="FF0000"/>
                </a:solidFill>
                <a:ea typeface="隶书" panose="02010509060101010101" pitchFamily="49" charset="-122"/>
              </a:rPr>
              <a:t>2.2 8086CPU</a:t>
            </a:r>
            <a:r>
              <a:rPr lang="zh-CN" altLang="en-US" sz="3200" b="1">
                <a:solidFill>
                  <a:srgbClr val="FF0000"/>
                </a:solidFill>
                <a:ea typeface="隶书" panose="02010509060101010101" pitchFamily="49" charset="-122"/>
              </a:rPr>
              <a:t>存储器组织及</a:t>
            </a:r>
            <a:r>
              <a:rPr lang="en-US" altLang="zh-CN" sz="3200" b="1">
                <a:solidFill>
                  <a:srgbClr val="FF0000"/>
                </a:solidFill>
                <a:ea typeface="隶书" panose="02010509060101010101" pitchFamily="49" charset="-122"/>
              </a:rPr>
              <a:t>I/O</a:t>
            </a:r>
            <a:r>
              <a:rPr lang="zh-CN" altLang="en-US" sz="3200" b="1">
                <a:solidFill>
                  <a:srgbClr val="FF0000"/>
                </a:solidFill>
                <a:ea typeface="隶书" panose="02010509060101010101" pitchFamily="49" charset="-122"/>
              </a:rPr>
              <a:t>结构 </a:t>
            </a:r>
            <a:endParaRPr lang="zh-CN" altLang="en-US" sz="32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8" name="矩形 284677"/>
          <p:cNvSpPr/>
          <p:nvPr/>
        </p:nvSpPr>
        <p:spPr>
          <a:xfrm>
            <a:off x="237684" y="890141"/>
            <a:ext cx="8713788" cy="26828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>
              <a:spcBef>
                <a:spcPct val="0"/>
              </a:spcBef>
              <a:buClrTx/>
              <a:buNone/>
            </a:pPr>
            <a:r>
              <a:rPr lang="en-US" altLang="zh-CN" sz="2400" b="1" dirty="0">
                <a:solidFill>
                  <a:srgbClr val="0000CC"/>
                </a:solidFill>
              </a:rPr>
              <a:t>2</a:t>
            </a:r>
            <a:r>
              <a:rPr lang="zh-CN" altLang="en-US" sz="2400" b="1" dirty="0">
                <a:solidFill>
                  <a:srgbClr val="0000CC"/>
                </a:solidFill>
              </a:rPr>
              <a:t>、存储单元的内容 ：</a:t>
            </a:r>
            <a:r>
              <a:rPr lang="zh-CN" altLang="en-US" sz="2400" b="1" dirty="0"/>
              <a:t>存储单元中所存放的信息</a:t>
            </a:r>
            <a:r>
              <a:rPr lang="zh-CN" altLang="en-US" sz="2400" b="1" dirty="0">
                <a:solidFill>
                  <a:srgbClr val="0000CC"/>
                </a:solidFill>
              </a:rPr>
              <a:t>。</a:t>
            </a:r>
            <a:endParaRPr lang="zh-CN" altLang="en-US" sz="2400" b="1" dirty="0"/>
          </a:p>
          <a:p>
            <a:pPr lvl="0">
              <a:spcBef>
                <a:spcPct val="0"/>
              </a:spcBef>
              <a:buClrTx/>
              <a:buNone/>
            </a:pPr>
            <a:endParaRPr lang="en-US" altLang="zh-CN" sz="2400" b="1" i="1" dirty="0"/>
          </a:p>
          <a:p>
            <a:pPr lvl="0">
              <a:spcBef>
                <a:spcPct val="0"/>
              </a:spcBef>
              <a:buClrTx/>
              <a:buNone/>
            </a:pPr>
            <a:r>
              <a:rPr lang="zh-CN" altLang="en-US" sz="2400" b="1" i="1" dirty="0"/>
              <a:t>说明</a:t>
            </a:r>
            <a:r>
              <a:rPr lang="zh-CN" altLang="en-US" sz="2400" b="1" dirty="0">
                <a:sym typeface="Wingdings" panose="05000000000000000000" pitchFamily="2" charset="2"/>
              </a:rPr>
              <a:t>：</a:t>
            </a:r>
            <a:endParaRPr lang="en-US" altLang="zh-CN" sz="2400" b="1" dirty="0">
              <a:sym typeface="Wingdings" panose="05000000000000000000" pitchFamily="2" charset="2"/>
            </a:endParaRPr>
          </a:p>
          <a:p>
            <a:pPr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/>
              <a:t>在指令中，若</a:t>
            </a:r>
            <a:r>
              <a:rPr lang="en-US" altLang="zh-CN" sz="2400" b="1" dirty="0"/>
              <a:t>X</a:t>
            </a:r>
            <a:r>
              <a:rPr lang="zh-CN" altLang="en-US" sz="2400" b="1" dirty="0"/>
              <a:t>表示某单元的地址，则</a:t>
            </a:r>
            <a:r>
              <a:rPr lang="en-US" altLang="zh-CN" sz="2400" b="1" dirty="0"/>
              <a:t>[X]</a:t>
            </a:r>
            <a:r>
              <a:rPr lang="zh-CN" altLang="en-US" sz="2400" b="1" dirty="0"/>
              <a:t>表示</a:t>
            </a:r>
            <a:r>
              <a:rPr lang="en-US" altLang="zh-CN" sz="2400" b="1" dirty="0"/>
              <a:t>X</a:t>
            </a:r>
            <a:r>
              <a:rPr lang="zh-CN" altLang="en-US" sz="2400" b="1" dirty="0"/>
              <a:t>单元的内容，并且可以嵌套。</a:t>
            </a:r>
            <a:endParaRPr lang="en-US" altLang="zh-CN" sz="2400" b="1" dirty="0"/>
          </a:p>
          <a:p>
            <a:pPr lvl="0"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/>
              <a:t>存储器的特性：取之不尽，新信息存入覆盖原有信息。</a:t>
            </a:r>
          </a:p>
        </p:txBody>
      </p:sp>
      <p:sp>
        <p:nvSpPr>
          <p:cNvPr id="4" name="标题 282625"/>
          <p:cNvSpPr txBox="1"/>
          <p:nvPr/>
        </p:nvSpPr>
        <p:spPr>
          <a:xfrm>
            <a:off x="1044575" y="188913"/>
            <a:ext cx="7631881" cy="431800"/>
          </a:xfrm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>
                <a:solidFill>
                  <a:srgbClr val="FF0000"/>
                </a:solidFill>
                <a:ea typeface="隶书" panose="02010509060101010101" pitchFamily="49" charset="-122"/>
              </a:rPr>
              <a:t>2.2 8086CPU</a:t>
            </a:r>
            <a:r>
              <a:rPr lang="zh-CN" altLang="en-US" sz="3200" b="1">
                <a:solidFill>
                  <a:srgbClr val="FF0000"/>
                </a:solidFill>
                <a:ea typeface="隶书" panose="02010509060101010101" pitchFamily="49" charset="-122"/>
              </a:rPr>
              <a:t>存储器组织及</a:t>
            </a:r>
            <a:r>
              <a:rPr lang="en-US" altLang="zh-CN" sz="3200" b="1">
                <a:solidFill>
                  <a:srgbClr val="FF0000"/>
                </a:solidFill>
                <a:ea typeface="隶书" panose="02010509060101010101" pitchFamily="49" charset="-122"/>
              </a:rPr>
              <a:t>I/O</a:t>
            </a:r>
            <a:r>
              <a:rPr lang="zh-CN" altLang="en-US" sz="3200" b="1">
                <a:solidFill>
                  <a:srgbClr val="FF0000"/>
                </a:solidFill>
                <a:ea typeface="隶书" panose="02010509060101010101" pitchFamily="49" charset="-122"/>
              </a:rPr>
              <a:t>结构 </a:t>
            </a:r>
            <a:endParaRPr lang="zh-CN" altLang="en-US" sz="32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701" name="矩形 285700"/>
          <p:cNvSpPr/>
          <p:nvPr/>
        </p:nvSpPr>
        <p:spPr>
          <a:xfrm>
            <a:off x="468313" y="803604"/>
            <a:ext cx="6054863" cy="52322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lvl="0"/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</a:rPr>
              <a:t>二．存储器的分段与物理地址的形成 </a:t>
            </a:r>
          </a:p>
        </p:txBody>
      </p:sp>
      <p:sp>
        <p:nvSpPr>
          <p:cNvPr id="285702" name="矩形 285701"/>
          <p:cNvSpPr/>
          <p:nvPr/>
        </p:nvSpPr>
        <p:spPr>
          <a:xfrm>
            <a:off x="131945" y="1832248"/>
            <a:ext cx="3097213" cy="45720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lvl="0" defTabSz="179705">
              <a:tabLst>
                <a:tab pos="263525" algn="l"/>
              </a:tabLst>
            </a:pPr>
            <a:r>
              <a:rPr lang="en-US" altLang="zh-CN" sz="2400" b="1" dirty="0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、存储器的分段</a:t>
            </a:r>
          </a:p>
        </p:txBody>
      </p:sp>
      <p:sp>
        <p:nvSpPr>
          <p:cNvPr id="285703" name="矩形 285702"/>
          <p:cNvSpPr/>
          <p:nvPr/>
        </p:nvSpPr>
        <p:spPr>
          <a:xfrm>
            <a:off x="251520" y="2420888"/>
            <a:ext cx="8967788" cy="3744416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 eaLnBrk="0" hangingPunct="0">
              <a:spcBef>
                <a:spcPct val="5000"/>
              </a:spcBef>
              <a:buNone/>
            </a:pPr>
            <a:r>
              <a:rPr lang="zh-CN" altLang="en-US" sz="2400" b="1" dirty="0">
                <a:solidFill>
                  <a:srgbClr val="FF00FF"/>
                </a:solidFill>
              </a:rPr>
              <a:t>分段原因</a:t>
            </a:r>
            <a:r>
              <a:rPr lang="zh-CN" altLang="en-US" sz="2400" b="1" dirty="0"/>
              <a:t>：</a:t>
            </a:r>
            <a:r>
              <a:rPr lang="en-US" altLang="zh-CN" sz="2400" dirty="0"/>
              <a:t>8086 CPU</a:t>
            </a:r>
            <a:r>
              <a:rPr lang="zh-CN" altLang="en-US" sz="2400" dirty="0"/>
              <a:t>有</a:t>
            </a:r>
            <a:r>
              <a:rPr lang="en-US" altLang="zh-CN" sz="2400" dirty="0">
                <a:solidFill>
                  <a:schemeClr val="hlink"/>
                </a:solidFill>
              </a:rPr>
              <a:t>20</a:t>
            </a:r>
            <a:r>
              <a:rPr lang="zh-CN" altLang="en-US" sz="2400" dirty="0"/>
              <a:t>根地址线，</a:t>
            </a:r>
            <a:r>
              <a:rPr lang="en-US" altLang="zh-CN" sz="2400" dirty="0">
                <a:solidFill>
                  <a:schemeClr val="hlink"/>
                </a:solidFill>
              </a:rPr>
              <a:t>16</a:t>
            </a:r>
            <a:r>
              <a:rPr lang="zh-CN" altLang="en-US" sz="2400" dirty="0"/>
              <a:t>根数据线。</a:t>
            </a:r>
            <a:r>
              <a:rPr lang="en-US" altLang="zh-CN" sz="2400" dirty="0"/>
              <a:t>CPU</a:t>
            </a:r>
            <a:r>
              <a:rPr lang="zh-CN" altLang="en-US" sz="2400" dirty="0"/>
              <a:t>内部寄存器都是</a:t>
            </a:r>
            <a:r>
              <a:rPr lang="en-US" altLang="zh-CN" sz="2400" dirty="0">
                <a:solidFill>
                  <a:schemeClr val="hlink"/>
                </a:solidFill>
              </a:rPr>
              <a:t>16</a:t>
            </a:r>
            <a:r>
              <a:rPr lang="zh-CN" altLang="en-US" sz="2400" dirty="0"/>
              <a:t>位的。存放地址的寄存器是</a:t>
            </a:r>
            <a:r>
              <a:rPr lang="en-US" altLang="zh-CN" sz="2400" dirty="0">
                <a:solidFill>
                  <a:schemeClr val="hlink"/>
                </a:solidFill>
              </a:rPr>
              <a:t>16</a:t>
            </a:r>
            <a:r>
              <a:rPr lang="zh-CN" altLang="en-US" sz="2400" dirty="0"/>
              <a:t>位的，只可表示</a:t>
            </a:r>
            <a:r>
              <a:rPr lang="en-US" altLang="zh-CN" sz="2400" dirty="0">
                <a:solidFill>
                  <a:schemeClr val="hlink"/>
                </a:solidFill>
              </a:rPr>
              <a:t>16</a:t>
            </a:r>
            <a:r>
              <a:rPr lang="zh-CN" altLang="en-US" sz="2400" dirty="0"/>
              <a:t>位的地址。为了能寻址</a:t>
            </a:r>
            <a:r>
              <a:rPr lang="en-US" altLang="zh-CN" sz="2400" dirty="0"/>
              <a:t>1MB</a:t>
            </a:r>
            <a:r>
              <a:rPr lang="zh-CN" altLang="en-US" sz="2400" dirty="0"/>
              <a:t>地址空间，</a:t>
            </a:r>
            <a:r>
              <a:rPr lang="en-US" altLang="zh-CN" sz="2400" dirty="0"/>
              <a:t>8086</a:t>
            </a:r>
            <a:r>
              <a:rPr lang="zh-CN" altLang="en-US" sz="2400" dirty="0"/>
              <a:t>对存储器进行分段管理。</a:t>
            </a:r>
            <a:endParaRPr lang="en-US" altLang="zh-CN" sz="2400" dirty="0"/>
          </a:p>
          <a:p>
            <a:pPr marL="0" indent="0" eaLnBrk="0" hangingPunct="0">
              <a:spcBef>
                <a:spcPct val="5000"/>
              </a:spcBef>
              <a:buNone/>
            </a:pPr>
            <a:endParaRPr lang="en-US" altLang="zh-CN" sz="2400" dirty="0"/>
          </a:p>
          <a:p>
            <a:pPr marL="0" indent="0" eaLnBrk="0" hangingPunct="0">
              <a:spcBef>
                <a:spcPct val="5000"/>
              </a:spcBef>
              <a:buNone/>
            </a:pPr>
            <a:r>
              <a:rPr lang="zh-CN" altLang="en-US" sz="2400" b="1" dirty="0">
                <a:solidFill>
                  <a:srgbClr val="FF00FF"/>
                </a:solidFill>
              </a:rPr>
              <a:t>段的分法</a:t>
            </a:r>
            <a:r>
              <a:rPr lang="zh-CN" altLang="en-US" sz="2400" b="1" dirty="0"/>
              <a:t>：把</a:t>
            </a:r>
            <a:r>
              <a:rPr lang="en-US" altLang="zh-CN" sz="2400" b="1" dirty="0"/>
              <a:t>1MB</a:t>
            </a:r>
            <a:r>
              <a:rPr lang="zh-CN" altLang="en-US" sz="2400" b="1" dirty="0"/>
              <a:t>内存空间划分成若干个</a:t>
            </a:r>
            <a:r>
              <a:rPr lang="zh-CN" altLang="en-US" sz="2400" b="1" dirty="0">
                <a:solidFill>
                  <a:srgbClr val="0000FF"/>
                </a:solidFill>
              </a:rPr>
              <a:t>逻辑段</a:t>
            </a:r>
            <a:r>
              <a:rPr lang="zh-CN" altLang="en-US" sz="2400" b="1" dirty="0"/>
              <a:t>（简称为段）</a:t>
            </a:r>
            <a:r>
              <a:rPr lang="zh-CN" altLang="en-US" dirty="0"/>
              <a:t> </a:t>
            </a:r>
            <a:r>
              <a:rPr lang="zh-CN" altLang="en-US" sz="2400" b="1" dirty="0"/>
              <a:t>，每个段的要求为</a:t>
            </a:r>
            <a:r>
              <a:rPr lang="zh-CN" altLang="en-US" b="1" dirty="0"/>
              <a:t>：</a:t>
            </a:r>
            <a:endParaRPr lang="zh-CN" altLang="en-US" sz="2400" b="1" dirty="0"/>
          </a:p>
          <a:p>
            <a:pPr marL="0" lvl="0" indent="0"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/>
              <a:t>   段的</a:t>
            </a:r>
            <a:r>
              <a:rPr lang="zh-CN" altLang="en-US" sz="2400" b="1" dirty="0">
                <a:solidFill>
                  <a:srgbClr val="0000FF"/>
                </a:solidFill>
              </a:rPr>
              <a:t>起始地址</a:t>
            </a:r>
            <a:r>
              <a:rPr lang="zh-CN" altLang="en-US" sz="2400" b="1" dirty="0"/>
              <a:t>必须是</a:t>
            </a:r>
            <a:r>
              <a:rPr lang="en-US" altLang="zh-CN" sz="2400" b="1" dirty="0">
                <a:solidFill>
                  <a:srgbClr val="0000FF"/>
                </a:solidFill>
              </a:rPr>
              <a:t>16</a:t>
            </a:r>
            <a:r>
              <a:rPr lang="zh-CN" altLang="en-US" sz="2400" b="1" dirty="0">
                <a:solidFill>
                  <a:srgbClr val="0000FF"/>
                </a:solidFill>
              </a:rPr>
              <a:t>的倍数</a:t>
            </a:r>
            <a:r>
              <a:rPr lang="zh-CN" altLang="en-US" sz="2400" b="1" dirty="0"/>
              <a:t>，即</a:t>
            </a:r>
            <a:r>
              <a:rPr lang="zh-CN" altLang="en-US" sz="2400" b="1" dirty="0">
                <a:solidFill>
                  <a:srgbClr val="0000FF"/>
                </a:solidFill>
              </a:rPr>
              <a:t>最低</a:t>
            </a:r>
            <a:r>
              <a:rPr lang="en-US" altLang="zh-CN" sz="2400" b="1" dirty="0">
                <a:solidFill>
                  <a:srgbClr val="0000FF"/>
                </a:solidFill>
              </a:rPr>
              <a:t>4</a:t>
            </a:r>
            <a:r>
              <a:rPr lang="zh-CN" altLang="en-US" sz="2400" b="1" dirty="0">
                <a:solidFill>
                  <a:srgbClr val="0000FF"/>
                </a:solidFill>
              </a:rPr>
              <a:t>位</a:t>
            </a:r>
            <a:r>
              <a:rPr lang="zh-CN" altLang="en-US" sz="2400" b="1" dirty="0"/>
              <a:t>二进制全为</a:t>
            </a:r>
            <a:r>
              <a:rPr lang="en-US" altLang="zh-CN" sz="2400" b="1" dirty="0"/>
              <a:t>0</a:t>
            </a:r>
            <a:r>
              <a:rPr lang="zh-CN" altLang="en-US" sz="2400" b="1" dirty="0"/>
              <a:t>；</a:t>
            </a:r>
            <a:endParaRPr lang="en-US" altLang="zh-CN" sz="2400" b="1" dirty="0"/>
          </a:p>
          <a:p>
            <a:pPr marL="0" lvl="0" indent="0"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chemeClr val="hlink"/>
                </a:solidFill>
              </a:rPr>
              <a:t>  </a:t>
            </a:r>
            <a:r>
              <a:rPr lang="zh-CN" altLang="en-US" sz="2400" b="1" dirty="0"/>
              <a:t>每个段最大为</a:t>
            </a:r>
            <a:r>
              <a:rPr lang="en-US" altLang="zh-CN" sz="2400" b="1" dirty="0"/>
              <a:t>64KB</a:t>
            </a:r>
            <a:r>
              <a:rPr lang="zh-CN" altLang="en-US" sz="2400" b="1" dirty="0"/>
              <a:t>（</a:t>
            </a:r>
            <a:r>
              <a:rPr lang="en-US" altLang="zh-CN" sz="2400" dirty="0"/>
              <a:t>2</a:t>
            </a:r>
            <a:r>
              <a:rPr lang="en-US" altLang="zh-CN" sz="2400" baseline="30000" dirty="0"/>
              <a:t>16</a:t>
            </a:r>
            <a:r>
              <a:rPr lang="zh-CN" altLang="en-US" sz="2400" dirty="0"/>
              <a:t>）</a:t>
            </a:r>
            <a:r>
              <a:rPr lang="zh-CN" altLang="en-US" sz="2400" b="1" dirty="0"/>
              <a:t>  </a:t>
            </a:r>
          </a:p>
        </p:txBody>
      </p:sp>
      <p:sp>
        <p:nvSpPr>
          <p:cNvPr id="7" name="Rectangle 114"/>
          <p:cNvSpPr>
            <a:spLocks noChangeArrowheads="1"/>
          </p:cNvSpPr>
          <p:nvPr/>
        </p:nvSpPr>
        <p:spPr bwMode="auto">
          <a:xfrm>
            <a:off x="395536" y="1375941"/>
            <a:ext cx="83629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000" b="1" dirty="0">
                <a:solidFill>
                  <a:srgbClr val="C00000"/>
                </a:solidFill>
              </a:rPr>
              <a:t>8086/8088</a:t>
            </a:r>
            <a:r>
              <a:rPr lang="zh-CN" altLang="en-US" sz="2000" b="1" dirty="0">
                <a:solidFill>
                  <a:srgbClr val="C00000"/>
                </a:solidFill>
              </a:rPr>
              <a:t>率先打破微处理器只能访问</a:t>
            </a:r>
            <a:r>
              <a:rPr lang="en-US" altLang="zh-CN" sz="2000" b="1" dirty="0">
                <a:solidFill>
                  <a:srgbClr val="C00000"/>
                </a:solidFill>
              </a:rPr>
              <a:t>64KB</a:t>
            </a:r>
            <a:r>
              <a:rPr lang="zh-CN" altLang="en-US" sz="2000" b="1" dirty="0">
                <a:solidFill>
                  <a:srgbClr val="C00000"/>
                </a:solidFill>
              </a:rPr>
              <a:t>存储空间的限制，可寻址</a:t>
            </a:r>
            <a:r>
              <a:rPr lang="en-US" altLang="zh-CN" sz="2000" b="1" dirty="0">
                <a:solidFill>
                  <a:srgbClr val="C00000"/>
                </a:solidFill>
              </a:rPr>
              <a:t>1MB</a:t>
            </a:r>
            <a:r>
              <a:rPr lang="zh-CN" altLang="en-US" sz="2000" b="1" dirty="0">
                <a:solidFill>
                  <a:srgbClr val="C00000"/>
                </a:solidFill>
              </a:rPr>
              <a:t>。</a:t>
            </a:r>
          </a:p>
        </p:txBody>
      </p:sp>
      <p:sp>
        <p:nvSpPr>
          <p:cNvPr id="8" name="标题 282625"/>
          <p:cNvSpPr txBox="1"/>
          <p:nvPr/>
        </p:nvSpPr>
        <p:spPr>
          <a:xfrm>
            <a:off x="1044575" y="188913"/>
            <a:ext cx="7631881" cy="431800"/>
          </a:xfrm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>
                <a:solidFill>
                  <a:srgbClr val="FF0000"/>
                </a:solidFill>
                <a:ea typeface="隶书" panose="02010509060101010101" pitchFamily="49" charset="-122"/>
              </a:rPr>
              <a:t>2.2 8086CPU</a:t>
            </a:r>
            <a:r>
              <a:rPr lang="zh-CN" altLang="en-US" sz="3200" b="1">
                <a:solidFill>
                  <a:srgbClr val="FF0000"/>
                </a:solidFill>
                <a:ea typeface="隶书" panose="02010509060101010101" pitchFamily="49" charset="-122"/>
              </a:rPr>
              <a:t>存储器组织及</a:t>
            </a:r>
            <a:r>
              <a:rPr lang="en-US" altLang="zh-CN" sz="3200" b="1">
                <a:solidFill>
                  <a:srgbClr val="FF0000"/>
                </a:solidFill>
                <a:ea typeface="隶书" panose="02010509060101010101" pitchFamily="49" charset="-122"/>
              </a:rPr>
              <a:t>I/O</a:t>
            </a:r>
            <a:r>
              <a:rPr lang="zh-CN" altLang="en-US" sz="3200" b="1">
                <a:solidFill>
                  <a:srgbClr val="FF0000"/>
                </a:solidFill>
                <a:ea typeface="隶书" panose="02010509060101010101" pitchFamily="49" charset="-122"/>
              </a:rPr>
              <a:t>结构 </a:t>
            </a:r>
            <a:endParaRPr lang="zh-CN" altLang="en-US" sz="32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27" name="矩形 286726"/>
          <p:cNvSpPr/>
          <p:nvPr/>
        </p:nvSpPr>
        <p:spPr>
          <a:xfrm>
            <a:off x="250825" y="838200"/>
            <a:ext cx="8699500" cy="403096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indent="0">
              <a:spcBef>
                <a:spcPct val="50000"/>
              </a:spcBef>
              <a:buClr>
                <a:srgbClr val="0000FF"/>
              </a:buClr>
              <a:buSzPct val="75000"/>
              <a:buNone/>
            </a:pPr>
            <a:r>
              <a:rPr lang="zh-CN" altLang="en-US" sz="2400" b="1" dirty="0"/>
              <a:t>逻辑段之间关系：可以</a:t>
            </a:r>
            <a:r>
              <a:rPr lang="zh-CN" altLang="en-US" sz="2400" b="1" dirty="0">
                <a:solidFill>
                  <a:srgbClr val="0000FF"/>
                </a:solidFill>
              </a:rPr>
              <a:t>重叠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如</a:t>
            </a:r>
            <a:r>
              <a:rPr lang="en-US" altLang="zh-CN" sz="2400" b="1" dirty="0"/>
              <a:t>B</a:t>
            </a:r>
            <a:r>
              <a:rPr lang="zh-CN" altLang="en-US" sz="2400" b="1" dirty="0"/>
              <a:t>和</a:t>
            </a:r>
            <a:r>
              <a:rPr lang="en-US" altLang="zh-CN" sz="2400" b="1" dirty="0"/>
              <a:t>C</a:t>
            </a:r>
            <a:r>
              <a:rPr lang="zh-CN" altLang="en-US" sz="2400" b="1" dirty="0"/>
              <a:t>段</a:t>
            </a:r>
            <a:r>
              <a:rPr lang="en-US" altLang="zh-CN" sz="2400" b="1" dirty="0"/>
              <a:t>)</a:t>
            </a:r>
            <a:r>
              <a:rPr lang="zh-CN" altLang="en-US" sz="2400" b="1" dirty="0"/>
              <a:t>，可以连续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如</a:t>
            </a:r>
            <a:r>
              <a:rPr lang="en-US" altLang="zh-CN" sz="2400" b="1" dirty="0"/>
              <a:t>C</a:t>
            </a:r>
            <a:r>
              <a:rPr lang="zh-CN" altLang="en-US" sz="2400" b="1" dirty="0"/>
              <a:t>和</a:t>
            </a:r>
            <a:r>
              <a:rPr lang="en-US" altLang="zh-CN" sz="2400" b="1" dirty="0"/>
              <a:t>D</a:t>
            </a:r>
            <a:r>
              <a:rPr lang="zh-CN" altLang="en-US" sz="2400" b="1" dirty="0"/>
              <a:t>段</a:t>
            </a:r>
            <a:r>
              <a:rPr lang="en-US" altLang="zh-CN" sz="2400" b="1" dirty="0"/>
              <a:t>)</a:t>
            </a:r>
            <a:r>
              <a:rPr lang="zh-CN" altLang="en-US" sz="2400" b="1" dirty="0"/>
              <a:t>可以不连 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如</a:t>
            </a:r>
            <a:r>
              <a:rPr lang="en-US" altLang="zh-CN" sz="2400" b="1" dirty="0"/>
              <a:t>A</a:t>
            </a:r>
            <a:r>
              <a:rPr lang="zh-CN" altLang="en-US" sz="2400" b="1" dirty="0"/>
              <a:t>和</a:t>
            </a:r>
            <a:r>
              <a:rPr lang="en-US" altLang="zh-CN" sz="2400" b="1" dirty="0"/>
              <a:t>B</a:t>
            </a:r>
            <a:r>
              <a:rPr lang="zh-CN" altLang="en-US" sz="2400" b="1" dirty="0"/>
              <a:t>段</a:t>
            </a:r>
            <a:r>
              <a:rPr lang="en-US" altLang="zh-CN" sz="2400" b="1" dirty="0"/>
              <a:t>)</a:t>
            </a:r>
            <a:r>
              <a:rPr lang="zh-CN" altLang="en-US" sz="2400" b="1" dirty="0"/>
              <a:t>。段的</a:t>
            </a:r>
            <a:r>
              <a:rPr lang="zh-CN" altLang="en-US" sz="2400" b="1" dirty="0">
                <a:solidFill>
                  <a:srgbClr val="0000FF"/>
                </a:solidFill>
              </a:rPr>
              <a:t>起始地址</a:t>
            </a:r>
            <a:r>
              <a:rPr lang="zh-CN" altLang="en-US" sz="2400" b="1" dirty="0"/>
              <a:t>的</a:t>
            </a:r>
            <a:r>
              <a:rPr lang="zh-CN" altLang="en-US" sz="2400" b="1" dirty="0">
                <a:solidFill>
                  <a:srgbClr val="0000FF"/>
                </a:solidFill>
              </a:rPr>
              <a:t>计算</a:t>
            </a:r>
            <a:r>
              <a:rPr lang="zh-CN" altLang="en-US" sz="2400" b="1" dirty="0"/>
              <a:t>和</a:t>
            </a:r>
            <a:r>
              <a:rPr lang="zh-CN" altLang="en-US" sz="2400" b="1" dirty="0">
                <a:solidFill>
                  <a:srgbClr val="0000FF"/>
                </a:solidFill>
              </a:rPr>
              <a:t>分配</a:t>
            </a:r>
            <a:r>
              <a:rPr lang="zh-CN" altLang="en-US" sz="2400" b="1" dirty="0"/>
              <a:t>通常由操作系统完成</a:t>
            </a:r>
          </a:p>
          <a:p>
            <a:pPr lvl="0">
              <a:spcBef>
                <a:spcPct val="5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400" b="1" i="1" dirty="0"/>
              <a:t>说明</a:t>
            </a:r>
            <a:r>
              <a:rPr lang="zh-CN" altLang="en-US" sz="2400" b="1" dirty="0"/>
              <a:t>：</a:t>
            </a:r>
            <a:r>
              <a:rPr lang="zh-CN" altLang="en-US" sz="2400" b="1" dirty="0">
                <a:solidFill>
                  <a:srgbClr val="0000FF"/>
                </a:solidFill>
              </a:rPr>
              <a:t>段地址</a:t>
            </a:r>
            <a:r>
              <a:rPr lang="zh-CN" altLang="en-US" sz="2400" b="1" dirty="0"/>
              <a:t>表示段的起始地址</a:t>
            </a:r>
            <a:r>
              <a:rPr lang="en-US" altLang="zh-CN" sz="2400" b="1" dirty="0"/>
              <a:t>(</a:t>
            </a:r>
            <a:r>
              <a:rPr lang="en-US" altLang="zh-CN" sz="2400" b="1" dirty="0" err="1"/>
              <a:t>xxxxxH</a:t>
            </a:r>
            <a:r>
              <a:rPr lang="en-US" altLang="zh-CN" sz="2400" b="1" dirty="0"/>
              <a:t>)</a:t>
            </a:r>
            <a:r>
              <a:rPr lang="zh-CN" altLang="en-US" sz="2400" b="1" dirty="0"/>
              <a:t>，</a:t>
            </a:r>
          </a:p>
          <a:p>
            <a:pPr lvl="0">
              <a:spcBef>
                <a:spcPct val="5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400" b="1" dirty="0"/>
              <a:t>只有形式为</a:t>
            </a:r>
            <a:r>
              <a:rPr lang="en-US" altLang="zh-CN" sz="2400" b="1" dirty="0">
                <a:solidFill>
                  <a:srgbClr val="0000FF"/>
                </a:solidFill>
              </a:rPr>
              <a:t>xxxx0H</a:t>
            </a:r>
            <a:r>
              <a:rPr lang="zh-CN" altLang="en-US" sz="2400" b="1" dirty="0"/>
              <a:t>的地址才能作</a:t>
            </a:r>
          </a:p>
          <a:p>
            <a:pPr lvl="0">
              <a:spcBef>
                <a:spcPct val="5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400" b="1" dirty="0"/>
              <a:t>段的起始地址，该起始地址存入</a:t>
            </a:r>
            <a:r>
              <a:rPr lang="en-US" altLang="zh-CN" sz="2400" b="1" dirty="0"/>
              <a:t>16</a:t>
            </a:r>
            <a:r>
              <a:rPr lang="zh-CN" altLang="en-US" sz="2400" b="1" dirty="0"/>
              <a:t>位寄存</a:t>
            </a:r>
          </a:p>
          <a:p>
            <a:pPr lvl="0">
              <a:spcBef>
                <a:spcPct val="5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400" b="1" dirty="0"/>
              <a:t>器时，将</a:t>
            </a:r>
            <a:r>
              <a:rPr lang="en-US" altLang="zh-CN" sz="2400" b="1" dirty="0">
                <a:solidFill>
                  <a:srgbClr val="0000FF"/>
                </a:solidFill>
              </a:rPr>
              <a:t>0</a:t>
            </a:r>
            <a:r>
              <a:rPr lang="zh-CN" altLang="en-US" sz="2400" b="1" dirty="0">
                <a:solidFill>
                  <a:srgbClr val="0000FF"/>
                </a:solidFill>
              </a:rPr>
              <a:t>省略</a:t>
            </a:r>
            <a:r>
              <a:rPr lang="zh-CN" altLang="en-US" sz="2400" b="1" dirty="0"/>
              <a:t>即可。存放在</a:t>
            </a:r>
            <a:r>
              <a:rPr lang="en-US" altLang="zh-CN" sz="2400" b="1" dirty="0"/>
              <a:t>CS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DS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SS</a:t>
            </a:r>
            <a:r>
              <a:rPr lang="zh-CN" altLang="en-US" sz="2400" b="1" dirty="0"/>
              <a:t>、</a:t>
            </a:r>
          </a:p>
          <a:p>
            <a:pPr lvl="0">
              <a:spcBef>
                <a:spcPct val="5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 dirty="0"/>
              <a:t>ES</a:t>
            </a:r>
            <a:r>
              <a:rPr lang="zh-CN" altLang="en-US" sz="2400" b="1" dirty="0"/>
              <a:t>段寄存器中</a:t>
            </a:r>
          </a:p>
        </p:txBody>
      </p:sp>
      <p:pic>
        <p:nvPicPr>
          <p:cNvPr id="286728" name="图片 2867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8184" y="1988840"/>
            <a:ext cx="2843213" cy="29511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标题 282625"/>
          <p:cNvSpPr txBox="1"/>
          <p:nvPr/>
        </p:nvSpPr>
        <p:spPr>
          <a:xfrm>
            <a:off x="1044575" y="188913"/>
            <a:ext cx="7631881" cy="431800"/>
          </a:xfrm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>
                <a:solidFill>
                  <a:srgbClr val="FF0000"/>
                </a:solidFill>
                <a:ea typeface="隶书" panose="02010509060101010101" pitchFamily="49" charset="-122"/>
              </a:rPr>
              <a:t>2.2 8086CPU</a:t>
            </a:r>
            <a:r>
              <a:rPr lang="zh-CN" altLang="en-US" sz="3200" b="1">
                <a:solidFill>
                  <a:srgbClr val="FF0000"/>
                </a:solidFill>
                <a:ea typeface="隶书" panose="02010509060101010101" pitchFamily="49" charset="-122"/>
              </a:rPr>
              <a:t>存储器组织及</a:t>
            </a:r>
            <a:r>
              <a:rPr lang="en-US" altLang="zh-CN" sz="3200" b="1">
                <a:solidFill>
                  <a:srgbClr val="FF0000"/>
                </a:solidFill>
                <a:ea typeface="隶书" panose="02010509060101010101" pitchFamily="49" charset="-122"/>
              </a:rPr>
              <a:t>I/O</a:t>
            </a:r>
            <a:r>
              <a:rPr lang="zh-CN" altLang="en-US" sz="3200" b="1">
                <a:solidFill>
                  <a:srgbClr val="FF0000"/>
                </a:solidFill>
                <a:ea typeface="隶书" panose="02010509060101010101" pitchFamily="49" charset="-122"/>
              </a:rPr>
              <a:t>结构 </a:t>
            </a:r>
            <a:endParaRPr lang="zh-CN" altLang="en-US" sz="32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49" name="矩形 287748"/>
          <p:cNvSpPr/>
          <p:nvPr/>
        </p:nvSpPr>
        <p:spPr>
          <a:xfrm>
            <a:off x="250825" y="1425575"/>
            <a:ext cx="8699500" cy="1427361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>
              <a:buClrTx/>
              <a:buNone/>
            </a:pPr>
            <a:r>
              <a:rPr lang="zh-CN" altLang="en-US" sz="2400" b="1" dirty="0"/>
              <a:t>存储器分段后，对内存的访问就</a:t>
            </a:r>
            <a:r>
              <a:rPr lang="zh-CN" altLang="en-US" sz="2400" b="1" dirty="0">
                <a:solidFill>
                  <a:srgbClr val="FF00FF"/>
                </a:solidFill>
              </a:rPr>
              <a:t>可以使用逻辑地址和物理地址</a:t>
            </a:r>
            <a:r>
              <a:rPr lang="zh-CN" altLang="en-US" sz="2400" b="1" dirty="0"/>
              <a:t>。</a:t>
            </a:r>
          </a:p>
          <a:p>
            <a:pPr lvl="0">
              <a:buClrTx/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逻辑地址</a:t>
            </a:r>
            <a:r>
              <a:rPr lang="zh-CN" altLang="en-US" sz="2400" b="1" dirty="0"/>
              <a:t>：程序设计时所使用的地址。表示为：</a:t>
            </a:r>
            <a:endParaRPr lang="en-US" altLang="zh-CN" sz="2400" b="1" dirty="0"/>
          </a:p>
          <a:p>
            <a:pPr lvl="0">
              <a:buClrTx/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                          </a:t>
            </a:r>
            <a:r>
              <a:rPr lang="zh-CN" altLang="en-US" sz="2400" b="1" dirty="0">
                <a:solidFill>
                  <a:srgbClr val="0000FF"/>
                </a:solidFill>
              </a:rPr>
              <a:t>段地址</a:t>
            </a:r>
            <a:r>
              <a:rPr lang="en-US" altLang="zh-CN" sz="2400" b="1" dirty="0">
                <a:solidFill>
                  <a:srgbClr val="0000FF"/>
                </a:solidFill>
              </a:rPr>
              <a:t>:</a:t>
            </a:r>
            <a:r>
              <a:rPr lang="zh-CN" altLang="en-US" sz="2400" b="1" dirty="0">
                <a:solidFill>
                  <a:srgbClr val="0000FF"/>
                </a:solidFill>
              </a:rPr>
              <a:t>偏移地址</a:t>
            </a:r>
          </a:p>
        </p:txBody>
      </p:sp>
      <p:sp>
        <p:nvSpPr>
          <p:cNvPr id="287750" name="矩形 287749"/>
          <p:cNvSpPr/>
          <p:nvPr/>
        </p:nvSpPr>
        <p:spPr>
          <a:xfrm>
            <a:off x="107950" y="836613"/>
            <a:ext cx="38163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>
              <a:buClrTx/>
            </a:pP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</a:rPr>
              <a:t>2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、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逻辑地址与物理地址</a:t>
            </a:r>
          </a:p>
        </p:txBody>
      </p:sp>
      <p:sp>
        <p:nvSpPr>
          <p:cNvPr id="287751" name="矩形 287750"/>
          <p:cNvSpPr/>
          <p:nvPr/>
        </p:nvSpPr>
        <p:spPr>
          <a:xfrm>
            <a:off x="250825" y="3140968"/>
            <a:ext cx="8121650" cy="83099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>
              <a:spcBef>
                <a:spcPct val="20000"/>
              </a:spcBef>
              <a:buClrTx/>
            </a:pP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偏移地址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（段内偏移或有效地址或偏移量）：所访问的存储单元距段的起始地址之间的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字节距离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287752" name="矩形 287751"/>
          <p:cNvSpPr/>
          <p:nvPr/>
        </p:nvSpPr>
        <p:spPr>
          <a:xfrm>
            <a:off x="344487" y="4259997"/>
            <a:ext cx="8512175" cy="1200329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>
              <a:spcBef>
                <a:spcPct val="20000"/>
              </a:spcBef>
              <a:buClrTx/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“段地值”和“偏移地址”均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16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位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。“段地值”由段寄存器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CS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DS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SS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ES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提供；“偏移地址”由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BX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BP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SP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SI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DI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IP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或以这些寄存器的组合形式提供。</a:t>
            </a:r>
          </a:p>
        </p:txBody>
      </p:sp>
      <p:sp>
        <p:nvSpPr>
          <p:cNvPr id="7" name="标题 282625"/>
          <p:cNvSpPr txBox="1"/>
          <p:nvPr/>
        </p:nvSpPr>
        <p:spPr>
          <a:xfrm>
            <a:off x="1044575" y="188913"/>
            <a:ext cx="7631881" cy="431800"/>
          </a:xfrm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>
                <a:solidFill>
                  <a:srgbClr val="FF0000"/>
                </a:solidFill>
                <a:ea typeface="隶书" panose="02010509060101010101" pitchFamily="49" charset="-122"/>
              </a:rPr>
              <a:t>2.2 8086CPU</a:t>
            </a:r>
            <a:r>
              <a:rPr lang="zh-CN" altLang="en-US" sz="3200" b="1">
                <a:solidFill>
                  <a:srgbClr val="FF0000"/>
                </a:solidFill>
                <a:ea typeface="隶书" panose="02010509060101010101" pitchFamily="49" charset="-122"/>
              </a:rPr>
              <a:t>存储器组织及</a:t>
            </a:r>
            <a:r>
              <a:rPr lang="en-US" altLang="zh-CN" sz="3200" b="1">
                <a:solidFill>
                  <a:srgbClr val="FF0000"/>
                </a:solidFill>
                <a:ea typeface="隶书" panose="02010509060101010101" pitchFamily="49" charset="-122"/>
              </a:rPr>
              <a:t>I/O</a:t>
            </a:r>
            <a:r>
              <a:rPr lang="zh-CN" altLang="en-US" sz="3200" b="1">
                <a:solidFill>
                  <a:srgbClr val="FF0000"/>
                </a:solidFill>
                <a:ea typeface="隶书" panose="02010509060101010101" pitchFamily="49" charset="-122"/>
              </a:rPr>
              <a:t>结构 </a:t>
            </a:r>
            <a:endParaRPr lang="zh-CN" altLang="en-US" sz="32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11560" y="5661248"/>
            <a:ext cx="55258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注意：</a:t>
            </a:r>
            <a:r>
              <a:rPr lang="en-US" altLang="zh-CN" sz="2400" b="1" dirty="0">
                <a:solidFill>
                  <a:srgbClr val="002060"/>
                </a:solidFill>
                <a:latin typeface="Arial" panose="020B0604020202020204" pitchFamily="34" charset="0"/>
              </a:rPr>
              <a:t>SP</a:t>
            </a:r>
            <a:r>
              <a:rPr lang="zh-CN" altLang="en-US" sz="2400" b="1" dirty="0">
                <a:solidFill>
                  <a:srgbClr val="002060"/>
                </a:solidFill>
                <a:latin typeface="Arial" panose="020B0604020202020204" pitchFamily="34" charset="0"/>
              </a:rPr>
              <a:t>与</a:t>
            </a:r>
            <a:r>
              <a:rPr lang="en-US" altLang="zh-CN" sz="2400" b="1" dirty="0">
                <a:solidFill>
                  <a:srgbClr val="002060"/>
                </a:solidFill>
                <a:latin typeface="Arial" panose="020B0604020202020204" pitchFamily="34" charset="0"/>
              </a:rPr>
              <a:t>IP</a:t>
            </a:r>
            <a:r>
              <a:rPr lang="zh-CN" altLang="en-US" sz="2400" b="1" dirty="0">
                <a:solidFill>
                  <a:srgbClr val="002060"/>
                </a:solidFill>
                <a:latin typeface="Arial" panose="020B0604020202020204" pitchFamily="34" charset="0"/>
              </a:rPr>
              <a:t>没有提供给用户编程使用</a:t>
            </a:r>
            <a:endParaRPr lang="zh-CN" altLang="en-US" sz="24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3" name="矩形 288772"/>
          <p:cNvSpPr/>
          <p:nvPr/>
        </p:nvSpPr>
        <p:spPr>
          <a:xfrm>
            <a:off x="223838" y="2565400"/>
            <a:ext cx="8699500" cy="1799704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buClrTx/>
              <a:buFont typeface="Wingdings" panose="05000000000000000000" pitchFamily="2" charset="2"/>
              <a:buNone/>
            </a:pPr>
            <a:r>
              <a:rPr lang="zh-CN" altLang="en-US" sz="2400" b="1" dirty="0"/>
              <a:t>逻辑地址：用户</a:t>
            </a:r>
            <a:r>
              <a:rPr lang="zh-CN" altLang="en-US" sz="2400" b="1" dirty="0">
                <a:solidFill>
                  <a:srgbClr val="0000FF"/>
                </a:solidFill>
              </a:rPr>
              <a:t>程序设计</a:t>
            </a:r>
            <a:r>
              <a:rPr lang="zh-CN" altLang="en-US" sz="2400" b="1" dirty="0"/>
              <a:t>时采用的地址；同一个物理地址可对应多个逻辑地址。对逻辑地址通过转换，能找到所对应的物理地址。</a:t>
            </a:r>
            <a:r>
              <a:rPr lang="zh-CN" altLang="en-US" dirty="0"/>
              <a:t> </a:t>
            </a:r>
          </a:p>
          <a:p>
            <a:pPr marL="0" lvl="0" indent="0">
              <a:buClrTx/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转换方法</a:t>
            </a:r>
            <a:r>
              <a:rPr lang="zh-CN" altLang="en-US" sz="2400" b="1" dirty="0"/>
              <a:t>：</a:t>
            </a:r>
          </a:p>
        </p:txBody>
      </p:sp>
      <p:sp>
        <p:nvSpPr>
          <p:cNvPr id="288774" name="矩形 288773"/>
          <p:cNvSpPr/>
          <p:nvPr/>
        </p:nvSpPr>
        <p:spPr>
          <a:xfrm>
            <a:off x="250825" y="836613"/>
            <a:ext cx="8642350" cy="1200329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>
              <a:buClrTx/>
            </a:pP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物理地址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：数据在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存储器中实际存放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的地址，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CPU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访问存储器时实际输出的地址。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8086 CPU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的存储空间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sz="2400" b="1" baseline="30000" dirty="0">
                <a:latin typeface="Arial" panose="020B0604020202020204" pitchFamily="34" charset="0"/>
                <a:ea typeface="宋体" panose="02010600030101010101" pitchFamily="2" charset="-122"/>
              </a:rPr>
              <a:t>20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＝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1MB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，地址范围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00000H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到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FFFFFH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267744" y="4509120"/>
            <a:ext cx="47291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>
              <a:spcBef>
                <a:spcPct val="20000"/>
              </a:spcBef>
              <a:buClr>
                <a:schemeClr val="hlink"/>
              </a:buClr>
            </a:pP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物理地址＝段地值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</a:rPr>
              <a:t>×16+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偏移地址</a:t>
            </a:r>
          </a:p>
        </p:txBody>
      </p:sp>
      <p:sp>
        <p:nvSpPr>
          <p:cNvPr id="6" name="标题 282625"/>
          <p:cNvSpPr txBox="1"/>
          <p:nvPr/>
        </p:nvSpPr>
        <p:spPr>
          <a:xfrm>
            <a:off x="1044575" y="188913"/>
            <a:ext cx="7631881" cy="431800"/>
          </a:xfrm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>
                <a:solidFill>
                  <a:srgbClr val="FF0000"/>
                </a:solidFill>
                <a:ea typeface="隶书" panose="02010509060101010101" pitchFamily="49" charset="-122"/>
              </a:rPr>
              <a:t>2.2 8086CPU</a:t>
            </a:r>
            <a:r>
              <a:rPr lang="zh-CN" altLang="en-US" sz="3200" b="1">
                <a:solidFill>
                  <a:srgbClr val="FF0000"/>
                </a:solidFill>
                <a:ea typeface="隶书" panose="02010509060101010101" pitchFamily="49" charset="-122"/>
              </a:rPr>
              <a:t>存储器组织及</a:t>
            </a:r>
            <a:r>
              <a:rPr lang="en-US" altLang="zh-CN" sz="3200" b="1">
                <a:solidFill>
                  <a:srgbClr val="FF0000"/>
                </a:solidFill>
                <a:ea typeface="隶书" panose="02010509060101010101" pitchFamily="49" charset="-122"/>
              </a:rPr>
              <a:t>I/O</a:t>
            </a:r>
            <a:r>
              <a:rPr lang="zh-CN" altLang="en-US" sz="3200" b="1">
                <a:solidFill>
                  <a:srgbClr val="FF0000"/>
                </a:solidFill>
                <a:ea typeface="隶书" panose="02010509060101010101" pitchFamily="49" charset="-122"/>
              </a:rPr>
              <a:t>结构 </a:t>
            </a:r>
            <a:endParaRPr lang="zh-CN" altLang="en-US" sz="32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97" name="矩形 289796"/>
          <p:cNvSpPr/>
          <p:nvPr/>
        </p:nvSpPr>
        <p:spPr>
          <a:xfrm>
            <a:off x="539750" y="981075"/>
            <a:ext cx="5327650" cy="431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>
              <a:defRPr sz="2400" kern="1200"/>
            </a:lvl2pPr>
            <a:lvl3pPr marL="1143000" lvl="2" indent="-228600">
              <a:defRPr sz="2000" kern="1200"/>
            </a:lvl3pPr>
            <a:lvl4pPr marL="1600200" lvl="3" indent="-228600">
              <a:defRPr sz="1800" kern="1200"/>
            </a:lvl4pPr>
            <a:lvl5pPr marL="2057400" lvl="4" indent="-228600">
              <a:defRPr sz="1800" kern="1200"/>
            </a:lvl5pPr>
          </a:lstStyle>
          <a:p>
            <a:pPr lvl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 dirty="0"/>
              <a:t>存储器的分段结构和物理地址的形成 </a:t>
            </a:r>
          </a:p>
          <a:p>
            <a:pPr lvl="0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400" b="1" dirty="0"/>
          </a:p>
        </p:txBody>
      </p:sp>
      <p:sp>
        <p:nvSpPr>
          <p:cNvPr id="289798" name="矩形 289797"/>
          <p:cNvSpPr/>
          <p:nvPr/>
        </p:nvSpPr>
        <p:spPr>
          <a:xfrm>
            <a:off x="479425" y="2189163"/>
            <a:ext cx="2867025" cy="574675"/>
          </a:xfrm>
          <a:prstGeom prst="rect">
            <a:avLst/>
          </a:prstGeom>
          <a:noFill/>
          <a:ln w="31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9799" name="矩形 289798"/>
          <p:cNvSpPr/>
          <p:nvPr/>
        </p:nvSpPr>
        <p:spPr>
          <a:xfrm>
            <a:off x="1554163" y="2316163"/>
            <a:ext cx="1217612" cy="35083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 lvl="0" algn="ctr">
              <a:buClrTx/>
            </a:pPr>
            <a:r>
              <a:rPr lang="zh-CN" altLang="en-US" sz="2300" b="1" dirty="0">
                <a:latin typeface="宋体" panose="02010600030101010101" pitchFamily="2" charset="-122"/>
                <a:ea typeface="宋体" panose="02010600030101010101" pitchFamily="2" charset="-122"/>
              </a:rPr>
              <a:t>段地址</a:t>
            </a:r>
            <a:endParaRPr lang="zh-CN" altLang="en-US" sz="1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9800" name="矩形 289799"/>
          <p:cNvSpPr/>
          <p:nvPr/>
        </p:nvSpPr>
        <p:spPr>
          <a:xfrm>
            <a:off x="3346450" y="2189163"/>
            <a:ext cx="1147763" cy="574675"/>
          </a:xfrm>
          <a:prstGeom prst="rect">
            <a:avLst/>
          </a:prstGeom>
          <a:noFill/>
          <a:ln w="31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9801" name="矩形 289800"/>
          <p:cNvSpPr/>
          <p:nvPr/>
        </p:nvSpPr>
        <p:spPr>
          <a:xfrm>
            <a:off x="3584575" y="2352675"/>
            <a:ext cx="811213" cy="2746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pPr lvl="0" algn="ctr">
              <a:buClrTx/>
            </a:pPr>
            <a:r>
              <a:rPr lang="en-US" altLang="zh-CN" sz="1800" b="1">
                <a:latin typeface="宋体" panose="02010600030101010101" pitchFamily="2" charset="-122"/>
                <a:ea typeface="宋体" panose="02010600030101010101" pitchFamily="2" charset="-122"/>
              </a:rPr>
              <a:t>0 0 0 0</a:t>
            </a:r>
            <a:endParaRPr lang="en-US" altLang="zh-CN" sz="18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9802" name="矩形 289801"/>
          <p:cNvSpPr/>
          <p:nvPr/>
        </p:nvSpPr>
        <p:spPr>
          <a:xfrm>
            <a:off x="3441065" y="1779588"/>
            <a:ext cx="1058863" cy="27463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 lvl="0" algn="ctr">
              <a:buClrTx/>
            </a:pPr>
            <a:r>
              <a:rPr lang="en-US" altLang="zh-CN" sz="1800" b="1">
                <a:latin typeface="宋体" panose="02010600030101010101" pitchFamily="2" charset="-122"/>
                <a:ea typeface="宋体" panose="02010600030101010101" pitchFamily="2" charset="-122"/>
              </a:rPr>
              <a:t>3 2 1 0</a:t>
            </a:r>
            <a:endParaRPr lang="en-US" altLang="zh-CN" sz="18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9803" name="矩形 289802"/>
          <p:cNvSpPr/>
          <p:nvPr/>
        </p:nvSpPr>
        <p:spPr>
          <a:xfrm>
            <a:off x="731838" y="1779588"/>
            <a:ext cx="2549525" cy="27463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pPr lvl="0" algn="ctr">
              <a:buClrTx/>
            </a:pPr>
            <a:r>
              <a:rPr lang="en-US" altLang="zh-CN" sz="1800" b="1">
                <a:latin typeface="宋体" panose="02010600030101010101" pitchFamily="2" charset="-122"/>
                <a:ea typeface="宋体" panose="02010600030101010101" pitchFamily="2" charset="-122"/>
              </a:rPr>
              <a:t>15                   0</a:t>
            </a:r>
            <a:endParaRPr lang="en-US" altLang="zh-CN" sz="18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9804" name="直接连接符 289803"/>
          <p:cNvSpPr/>
          <p:nvPr/>
        </p:nvSpPr>
        <p:spPr>
          <a:xfrm>
            <a:off x="766763" y="2763838"/>
            <a:ext cx="1587" cy="1300162"/>
          </a:xfrm>
          <a:prstGeom prst="line">
            <a:avLst/>
          </a:prstGeom>
          <a:ln w="508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9805" name="任意多边形 289804"/>
          <p:cNvSpPr/>
          <p:nvPr/>
        </p:nvSpPr>
        <p:spPr>
          <a:xfrm>
            <a:off x="676275" y="4019550"/>
            <a:ext cx="179388" cy="177800"/>
          </a:xfrm>
          <a:custGeom>
            <a:avLst/>
            <a:gdLst/>
            <a:ahLst/>
            <a:cxnLst/>
            <a:rect l="0" t="0" r="0" b="0"/>
            <a:pathLst>
              <a:path w="113" h="112">
                <a:moveTo>
                  <a:pt x="57" y="112"/>
                </a:moveTo>
                <a:lnTo>
                  <a:pt x="0" y="0"/>
                </a:lnTo>
                <a:lnTo>
                  <a:pt x="7" y="4"/>
                </a:lnTo>
                <a:lnTo>
                  <a:pt x="15" y="6"/>
                </a:lnTo>
                <a:lnTo>
                  <a:pt x="23" y="8"/>
                </a:lnTo>
                <a:lnTo>
                  <a:pt x="31" y="10"/>
                </a:lnTo>
                <a:lnTo>
                  <a:pt x="39" y="12"/>
                </a:lnTo>
                <a:lnTo>
                  <a:pt x="49" y="14"/>
                </a:lnTo>
                <a:lnTo>
                  <a:pt x="57" y="14"/>
                </a:lnTo>
                <a:lnTo>
                  <a:pt x="65" y="14"/>
                </a:lnTo>
                <a:lnTo>
                  <a:pt x="73" y="12"/>
                </a:lnTo>
                <a:lnTo>
                  <a:pt x="81" y="10"/>
                </a:lnTo>
                <a:lnTo>
                  <a:pt x="89" y="8"/>
                </a:lnTo>
                <a:lnTo>
                  <a:pt x="97" y="6"/>
                </a:lnTo>
                <a:lnTo>
                  <a:pt x="105" y="4"/>
                </a:lnTo>
                <a:lnTo>
                  <a:pt x="113" y="0"/>
                </a:lnTo>
                <a:lnTo>
                  <a:pt x="57" y="112"/>
                </a:lnTo>
                <a:close/>
              </a:path>
            </a:pathLst>
          </a:cu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9806" name="矩形 289805"/>
          <p:cNvSpPr/>
          <p:nvPr/>
        </p:nvSpPr>
        <p:spPr>
          <a:xfrm>
            <a:off x="1339850" y="3049588"/>
            <a:ext cx="3154363" cy="574675"/>
          </a:xfrm>
          <a:prstGeom prst="rect">
            <a:avLst/>
          </a:prstGeom>
          <a:noFill/>
          <a:ln w="31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9807" name="矩形 289806"/>
          <p:cNvSpPr/>
          <p:nvPr/>
        </p:nvSpPr>
        <p:spPr>
          <a:xfrm>
            <a:off x="2416175" y="3176588"/>
            <a:ext cx="1363663" cy="350837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 lvl="0" algn="ctr">
              <a:buClrTx/>
            </a:pPr>
            <a:r>
              <a:rPr lang="zh-CN" altLang="en-US" sz="2300" b="1" dirty="0">
                <a:latin typeface="宋体" panose="02010600030101010101" pitchFamily="2" charset="-122"/>
                <a:ea typeface="宋体" panose="02010600030101010101" pitchFamily="2" charset="-122"/>
              </a:rPr>
              <a:t>偏移地址</a:t>
            </a:r>
            <a:endParaRPr lang="zh-CN" altLang="en-US" sz="1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9808" name="直接连接符 289807"/>
          <p:cNvSpPr/>
          <p:nvPr/>
        </p:nvSpPr>
        <p:spPr>
          <a:xfrm>
            <a:off x="3921125" y="3624263"/>
            <a:ext cx="1588" cy="439737"/>
          </a:xfrm>
          <a:prstGeom prst="line">
            <a:avLst/>
          </a:prstGeom>
          <a:ln w="508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9809" name="任意多边形 289808"/>
          <p:cNvSpPr/>
          <p:nvPr/>
        </p:nvSpPr>
        <p:spPr>
          <a:xfrm>
            <a:off x="3830638" y="4019550"/>
            <a:ext cx="179387" cy="177800"/>
          </a:xfrm>
          <a:custGeom>
            <a:avLst/>
            <a:gdLst/>
            <a:ahLst/>
            <a:cxnLst/>
            <a:rect l="0" t="0" r="0" b="0"/>
            <a:pathLst>
              <a:path w="113" h="112">
                <a:moveTo>
                  <a:pt x="57" y="112"/>
                </a:moveTo>
                <a:lnTo>
                  <a:pt x="0" y="0"/>
                </a:lnTo>
                <a:lnTo>
                  <a:pt x="9" y="4"/>
                </a:lnTo>
                <a:lnTo>
                  <a:pt x="17" y="6"/>
                </a:lnTo>
                <a:lnTo>
                  <a:pt x="25" y="8"/>
                </a:lnTo>
                <a:lnTo>
                  <a:pt x="33" y="10"/>
                </a:lnTo>
                <a:lnTo>
                  <a:pt x="41" y="12"/>
                </a:lnTo>
                <a:lnTo>
                  <a:pt x="49" y="14"/>
                </a:lnTo>
                <a:lnTo>
                  <a:pt x="57" y="14"/>
                </a:lnTo>
                <a:lnTo>
                  <a:pt x="65" y="14"/>
                </a:lnTo>
                <a:lnTo>
                  <a:pt x="75" y="12"/>
                </a:lnTo>
                <a:lnTo>
                  <a:pt x="83" y="10"/>
                </a:lnTo>
                <a:lnTo>
                  <a:pt x="91" y="8"/>
                </a:lnTo>
                <a:lnTo>
                  <a:pt x="99" y="6"/>
                </a:lnTo>
                <a:lnTo>
                  <a:pt x="107" y="4"/>
                </a:lnTo>
                <a:lnTo>
                  <a:pt x="113" y="0"/>
                </a:lnTo>
                <a:lnTo>
                  <a:pt x="57" y="112"/>
                </a:lnTo>
                <a:close/>
              </a:path>
            </a:pathLst>
          </a:cu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9810" name="任意多边形 289809"/>
          <p:cNvSpPr/>
          <p:nvPr/>
        </p:nvSpPr>
        <p:spPr>
          <a:xfrm>
            <a:off x="479425" y="4197350"/>
            <a:ext cx="4014788" cy="720725"/>
          </a:xfrm>
          <a:custGeom>
            <a:avLst/>
            <a:gdLst/>
            <a:ahLst/>
            <a:cxnLst/>
            <a:rect l="0" t="0" r="0" b="0"/>
            <a:pathLst>
              <a:path w="2529" h="454">
                <a:moveTo>
                  <a:pt x="0" y="0"/>
                </a:moveTo>
                <a:lnTo>
                  <a:pt x="1084" y="0"/>
                </a:lnTo>
                <a:lnTo>
                  <a:pt x="1265" y="181"/>
                </a:lnTo>
                <a:lnTo>
                  <a:pt x="1445" y="0"/>
                </a:lnTo>
                <a:lnTo>
                  <a:pt x="2529" y="0"/>
                </a:lnTo>
                <a:lnTo>
                  <a:pt x="2258" y="454"/>
                </a:lnTo>
                <a:lnTo>
                  <a:pt x="271" y="454"/>
                </a:lnTo>
                <a:lnTo>
                  <a:pt x="0" y="0"/>
                </a:lnTo>
                <a:close/>
              </a:path>
            </a:pathLst>
          </a:custGeom>
          <a:noFill/>
          <a:ln w="31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9811" name="矩形 289810"/>
          <p:cNvSpPr/>
          <p:nvPr/>
        </p:nvSpPr>
        <p:spPr>
          <a:xfrm>
            <a:off x="1841500" y="4397375"/>
            <a:ext cx="1468438" cy="3508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pPr lvl="0" algn="ctr">
              <a:buClrTx/>
            </a:pPr>
            <a:r>
              <a:rPr lang="zh-CN" altLang="en-US" sz="2300" b="1" dirty="0">
                <a:latin typeface="宋体" panose="02010600030101010101" pitchFamily="2" charset="-122"/>
                <a:ea typeface="宋体" panose="02010600030101010101" pitchFamily="2" charset="-122"/>
              </a:rPr>
              <a:t>地址加法器</a:t>
            </a:r>
            <a:endParaRPr lang="zh-CN" altLang="en-US" sz="1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9812" name="直接连接符 289811"/>
          <p:cNvSpPr/>
          <p:nvPr/>
        </p:nvSpPr>
        <p:spPr>
          <a:xfrm>
            <a:off x="2487613" y="4918075"/>
            <a:ext cx="1587" cy="292100"/>
          </a:xfrm>
          <a:prstGeom prst="line">
            <a:avLst/>
          </a:prstGeom>
          <a:ln w="50800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9813" name="任意多边形 289812"/>
          <p:cNvSpPr/>
          <p:nvPr/>
        </p:nvSpPr>
        <p:spPr>
          <a:xfrm>
            <a:off x="2397125" y="5165725"/>
            <a:ext cx="179388" cy="182563"/>
          </a:xfrm>
          <a:custGeom>
            <a:avLst/>
            <a:gdLst/>
            <a:ahLst/>
            <a:cxnLst/>
            <a:rect l="0" t="0" r="0" b="0"/>
            <a:pathLst>
              <a:path w="113" h="115">
                <a:moveTo>
                  <a:pt x="57" y="115"/>
                </a:moveTo>
                <a:lnTo>
                  <a:pt x="0" y="0"/>
                </a:lnTo>
                <a:lnTo>
                  <a:pt x="8" y="4"/>
                </a:lnTo>
                <a:lnTo>
                  <a:pt x="14" y="6"/>
                </a:lnTo>
                <a:lnTo>
                  <a:pt x="22" y="10"/>
                </a:lnTo>
                <a:lnTo>
                  <a:pt x="32" y="12"/>
                </a:lnTo>
                <a:lnTo>
                  <a:pt x="40" y="12"/>
                </a:lnTo>
                <a:lnTo>
                  <a:pt x="48" y="14"/>
                </a:lnTo>
                <a:lnTo>
                  <a:pt x="57" y="14"/>
                </a:lnTo>
                <a:lnTo>
                  <a:pt x="65" y="14"/>
                </a:lnTo>
                <a:lnTo>
                  <a:pt x="73" y="12"/>
                </a:lnTo>
                <a:lnTo>
                  <a:pt x="81" y="12"/>
                </a:lnTo>
                <a:lnTo>
                  <a:pt x="91" y="10"/>
                </a:lnTo>
                <a:lnTo>
                  <a:pt x="99" y="6"/>
                </a:lnTo>
                <a:lnTo>
                  <a:pt x="105" y="4"/>
                </a:lnTo>
                <a:lnTo>
                  <a:pt x="113" y="0"/>
                </a:lnTo>
                <a:lnTo>
                  <a:pt x="57" y="115"/>
                </a:lnTo>
                <a:close/>
              </a:path>
            </a:pathLst>
          </a:cu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9814" name="矩形 289813"/>
          <p:cNvSpPr/>
          <p:nvPr/>
        </p:nvSpPr>
        <p:spPr>
          <a:xfrm>
            <a:off x="909638" y="5348288"/>
            <a:ext cx="3154362" cy="573087"/>
          </a:xfrm>
          <a:prstGeom prst="rect">
            <a:avLst/>
          </a:prstGeom>
          <a:noFill/>
          <a:ln w="31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9815" name="矩形 289814"/>
          <p:cNvSpPr/>
          <p:nvPr/>
        </p:nvSpPr>
        <p:spPr>
          <a:xfrm>
            <a:off x="1985963" y="5473700"/>
            <a:ext cx="1433512" cy="35083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 lvl="0" algn="ctr">
              <a:buClrTx/>
            </a:pPr>
            <a:r>
              <a:rPr lang="zh-CN" altLang="en-US" sz="2300" b="1" dirty="0">
                <a:latin typeface="宋体" panose="02010600030101010101" pitchFamily="2" charset="-122"/>
                <a:ea typeface="宋体" panose="02010600030101010101" pitchFamily="2" charset="-122"/>
              </a:rPr>
              <a:t>物理地址</a:t>
            </a:r>
            <a:endParaRPr lang="zh-CN" altLang="en-US" sz="1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9817" name="矩形 289816"/>
          <p:cNvSpPr/>
          <p:nvPr/>
        </p:nvSpPr>
        <p:spPr>
          <a:xfrm>
            <a:off x="1498600" y="2782888"/>
            <a:ext cx="231775" cy="27463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pPr lvl="0" algn="ctr">
              <a:buClrTx/>
            </a:pPr>
            <a:r>
              <a:rPr lang="en-US" altLang="zh-CN" sz="1800" b="1">
                <a:latin typeface="宋体" panose="02010600030101010101" pitchFamily="2" charset="-122"/>
                <a:ea typeface="宋体" panose="02010600030101010101" pitchFamily="2" charset="-122"/>
              </a:rPr>
              <a:t>15</a:t>
            </a:r>
            <a:endParaRPr lang="en-US" altLang="zh-CN" sz="18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9818" name="矩形 289817"/>
          <p:cNvSpPr/>
          <p:nvPr/>
        </p:nvSpPr>
        <p:spPr>
          <a:xfrm>
            <a:off x="3852863" y="5080000"/>
            <a:ext cx="115887" cy="2746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pPr lvl="0" algn="ctr">
              <a:buClrTx/>
            </a:pPr>
            <a:r>
              <a:rPr lang="en-US" altLang="zh-CN" sz="1800" b="1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endParaRPr lang="en-US" altLang="zh-CN" sz="18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9819" name="矩形 289818"/>
          <p:cNvSpPr/>
          <p:nvPr/>
        </p:nvSpPr>
        <p:spPr>
          <a:xfrm>
            <a:off x="1033463" y="5013325"/>
            <a:ext cx="442912" cy="27463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 lvl="0" algn="ctr">
              <a:buClrTx/>
            </a:pPr>
            <a:r>
              <a:rPr lang="en-US" altLang="zh-CN" sz="1800" b="1">
                <a:latin typeface="宋体" panose="02010600030101010101" pitchFamily="2" charset="-122"/>
                <a:ea typeface="宋体" panose="02010600030101010101" pitchFamily="2" charset="-122"/>
              </a:rPr>
              <a:t>19</a:t>
            </a:r>
            <a:endParaRPr lang="en-US" altLang="zh-CN" sz="18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9820" name="矩形 289819"/>
          <p:cNvSpPr/>
          <p:nvPr/>
        </p:nvSpPr>
        <p:spPr>
          <a:xfrm>
            <a:off x="7162800" y="1963738"/>
            <a:ext cx="922338" cy="347662"/>
          </a:xfrm>
          <a:prstGeom prst="rect">
            <a:avLst/>
          </a:prstGeom>
          <a:noFill/>
          <a:ln w="31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9821" name="矩形 289820"/>
          <p:cNvSpPr/>
          <p:nvPr/>
        </p:nvSpPr>
        <p:spPr>
          <a:xfrm>
            <a:off x="7162800" y="2311400"/>
            <a:ext cx="922338" cy="346075"/>
          </a:xfrm>
          <a:prstGeom prst="rect">
            <a:avLst/>
          </a:prstGeom>
          <a:noFill/>
          <a:ln w="31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9822" name="矩形 289821"/>
          <p:cNvSpPr/>
          <p:nvPr/>
        </p:nvSpPr>
        <p:spPr>
          <a:xfrm>
            <a:off x="7162800" y="2657475"/>
            <a:ext cx="922338" cy="346075"/>
          </a:xfrm>
          <a:prstGeom prst="rect">
            <a:avLst/>
          </a:prstGeom>
          <a:noFill/>
          <a:ln w="31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9823" name="矩形 289822"/>
          <p:cNvSpPr/>
          <p:nvPr/>
        </p:nvSpPr>
        <p:spPr>
          <a:xfrm>
            <a:off x="7162800" y="3003550"/>
            <a:ext cx="922338" cy="346075"/>
          </a:xfrm>
          <a:prstGeom prst="rect">
            <a:avLst/>
          </a:prstGeom>
          <a:noFill/>
          <a:ln w="31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9824" name="矩形 289823"/>
          <p:cNvSpPr/>
          <p:nvPr/>
        </p:nvSpPr>
        <p:spPr>
          <a:xfrm>
            <a:off x="7162800" y="3349625"/>
            <a:ext cx="922338" cy="346075"/>
          </a:xfrm>
          <a:prstGeom prst="rect">
            <a:avLst/>
          </a:prstGeom>
          <a:noFill/>
          <a:ln w="31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9825" name="矩形 289824"/>
          <p:cNvSpPr/>
          <p:nvPr/>
        </p:nvSpPr>
        <p:spPr>
          <a:xfrm>
            <a:off x="7462838" y="3465513"/>
            <a:ext cx="304800" cy="12223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pPr lvl="0"/>
            <a:r>
              <a:rPr lang="en-US" altLang="zh-CN" sz="800" b="1">
                <a:latin typeface="宋体" panose="02010600030101010101" pitchFamily="2" charset="-122"/>
                <a:ea typeface="宋体" panose="02010600030101010101" pitchFamily="2" charset="-122"/>
              </a:rPr>
              <a:t>......</a:t>
            </a:r>
            <a:endParaRPr lang="en-US" altLang="zh-CN" sz="2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9826" name="矩形 289825"/>
          <p:cNvSpPr/>
          <p:nvPr/>
        </p:nvSpPr>
        <p:spPr>
          <a:xfrm>
            <a:off x="7162800" y="3695700"/>
            <a:ext cx="922338" cy="346075"/>
          </a:xfrm>
          <a:prstGeom prst="rect">
            <a:avLst/>
          </a:prstGeom>
          <a:noFill/>
          <a:ln w="31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9827" name="矩形 289826"/>
          <p:cNvSpPr/>
          <p:nvPr/>
        </p:nvSpPr>
        <p:spPr>
          <a:xfrm>
            <a:off x="7162800" y="4041775"/>
            <a:ext cx="922338" cy="346075"/>
          </a:xfrm>
          <a:prstGeom prst="rect">
            <a:avLst/>
          </a:prstGeom>
          <a:noFill/>
          <a:ln w="31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9828" name="矩形 289827"/>
          <p:cNvSpPr/>
          <p:nvPr/>
        </p:nvSpPr>
        <p:spPr>
          <a:xfrm>
            <a:off x="7162800" y="4387850"/>
            <a:ext cx="922338" cy="346075"/>
          </a:xfrm>
          <a:prstGeom prst="rect">
            <a:avLst/>
          </a:prstGeom>
          <a:noFill/>
          <a:ln w="31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9829" name="矩形 289828"/>
          <p:cNvSpPr/>
          <p:nvPr/>
        </p:nvSpPr>
        <p:spPr>
          <a:xfrm>
            <a:off x="7162800" y="4733925"/>
            <a:ext cx="922338" cy="346075"/>
          </a:xfrm>
          <a:prstGeom prst="rect">
            <a:avLst/>
          </a:prstGeom>
          <a:noFill/>
          <a:ln w="31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9830" name="矩形 289829"/>
          <p:cNvSpPr/>
          <p:nvPr/>
        </p:nvSpPr>
        <p:spPr>
          <a:xfrm>
            <a:off x="8170863" y="2728913"/>
            <a:ext cx="533400" cy="2127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pPr lvl="0"/>
            <a:r>
              <a:rPr lang="en-US" altLang="zh-CN" sz="1400" b="1">
                <a:latin typeface="宋体" panose="02010600030101010101" pitchFamily="2" charset="-122"/>
                <a:ea typeface="宋体" panose="02010600030101010101" pitchFamily="2" charset="-122"/>
              </a:rPr>
              <a:t>20000H</a:t>
            </a:r>
            <a:endParaRPr lang="en-US" altLang="zh-CN" sz="2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9831" name="矩形 289830"/>
          <p:cNvSpPr/>
          <p:nvPr/>
        </p:nvSpPr>
        <p:spPr>
          <a:xfrm>
            <a:off x="8154988" y="3770313"/>
            <a:ext cx="533400" cy="2127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pPr lvl="0"/>
            <a:r>
              <a:rPr lang="en-US" altLang="zh-CN" sz="1400" b="1">
                <a:latin typeface="宋体" panose="02010600030101010101" pitchFamily="2" charset="-122"/>
                <a:ea typeface="宋体" panose="02010600030101010101" pitchFamily="2" charset="-122"/>
              </a:rPr>
              <a:t>25F60H</a:t>
            </a:r>
            <a:endParaRPr lang="en-US" altLang="zh-CN" sz="2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9832" name="矩形 289831"/>
          <p:cNvSpPr/>
          <p:nvPr/>
        </p:nvSpPr>
        <p:spPr>
          <a:xfrm>
            <a:off x="8154988" y="4116388"/>
            <a:ext cx="533400" cy="2127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pPr lvl="0"/>
            <a:r>
              <a:rPr lang="en-US" altLang="zh-CN" sz="1400" b="1">
                <a:latin typeface="宋体" panose="02010600030101010101" pitchFamily="2" charset="-122"/>
                <a:ea typeface="宋体" panose="02010600030101010101" pitchFamily="2" charset="-122"/>
              </a:rPr>
              <a:t>25F61H</a:t>
            </a:r>
            <a:endParaRPr lang="en-US" altLang="zh-CN" sz="2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9833" name="矩形 289832"/>
          <p:cNvSpPr/>
          <p:nvPr/>
        </p:nvSpPr>
        <p:spPr>
          <a:xfrm>
            <a:off x="8154988" y="4462463"/>
            <a:ext cx="533400" cy="2127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pPr lvl="0"/>
            <a:r>
              <a:rPr lang="en-US" altLang="zh-CN" sz="1400" b="1">
                <a:latin typeface="宋体" panose="02010600030101010101" pitchFamily="2" charset="-122"/>
                <a:ea typeface="宋体" panose="02010600030101010101" pitchFamily="2" charset="-122"/>
              </a:rPr>
              <a:t>25F62H</a:t>
            </a:r>
            <a:endParaRPr lang="en-US" altLang="zh-CN" sz="2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9834" name="矩形 289833"/>
          <p:cNvSpPr/>
          <p:nvPr/>
        </p:nvSpPr>
        <p:spPr>
          <a:xfrm>
            <a:off x="8154988" y="4808538"/>
            <a:ext cx="533400" cy="2127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pPr lvl="0"/>
            <a:r>
              <a:rPr lang="en-US" altLang="zh-CN" sz="1400" b="1">
                <a:latin typeface="宋体" panose="02010600030101010101" pitchFamily="2" charset="-122"/>
                <a:ea typeface="宋体" panose="02010600030101010101" pitchFamily="2" charset="-122"/>
              </a:rPr>
              <a:t>25F63H</a:t>
            </a:r>
            <a:endParaRPr lang="en-US" altLang="zh-CN" sz="2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9835" name="矩形 289834"/>
          <p:cNvSpPr/>
          <p:nvPr/>
        </p:nvSpPr>
        <p:spPr>
          <a:xfrm>
            <a:off x="7162800" y="5080000"/>
            <a:ext cx="922338" cy="347663"/>
          </a:xfrm>
          <a:prstGeom prst="rect">
            <a:avLst/>
          </a:prstGeom>
          <a:noFill/>
          <a:ln w="31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9836" name="矩形 289835"/>
          <p:cNvSpPr/>
          <p:nvPr/>
        </p:nvSpPr>
        <p:spPr>
          <a:xfrm>
            <a:off x="7162800" y="5427663"/>
            <a:ext cx="922338" cy="346075"/>
          </a:xfrm>
          <a:prstGeom prst="rect">
            <a:avLst/>
          </a:prstGeom>
          <a:noFill/>
          <a:ln w="31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9837" name="直接连接符 289836"/>
          <p:cNvSpPr/>
          <p:nvPr/>
        </p:nvSpPr>
        <p:spPr>
          <a:xfrm>
            <a:off x="7162800" y="1617663"/>
            <a:ext cx="1588" cy="346075"/>
          </a:xfrm>
          <a:prstGeom prst="line">
            <a:avLst/>
          </a:prstGeom>
          <a:ln w="317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9838" name="直接连接符 289837"/>
          <p:cNvSpPr/>
          <p:nvPr/>
        </p:nvSpPr>
        <p:spPr>
          <a:xfrm>
            <a:off x="8085138" y="1617663"/>
            <a:ext cx="1587" cy="365125"/>
          </a:xfrm>
          <a:prstGeom prst="line">
            <a:avLst/>
          </a:prstGeom>
          <a:ln w="317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9839" name="直接连接符 289838"/>
          <p:cNvSpPr/>
          <p:nvPr/>
        </p:nvSpPr>
        <p:spPr>
          <a:xfrm>
            <a:off x="6467475" y="2771775"/>
            <a:ext cx="695325" cy="1588"/>
          </a:xfrm>
          <a:prstGeom prst="line">
            <a:avLst/>
          </a:prstGeom>
          <a:ln w="2857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9840" name="直接连接符 289839"/>
          <p:cNvSpPr/>
          <p:nvPr/>
        </p:nvSpPr>
        <p:spPr>
          <a:xfrm>
            <a:off x="6467475" y="4503738"/>
            <a:ext cx="695325" cy="1587"/>
          </a:xfrm>
          <a:prstGeom prst="line">
            <a:avLst/>
          </a:prstGeom>
          <a:ln w="2857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9841" name="矩形 289840"/>
          <p:cNvSpPr/>
          <p:nvPr/>
        </p:nvSpPr>
        <p:spPr>
          <a:xfrm>
            <a:off x="5313363" y="2657475"/>
            <a:ext cx="1154112" cy="346075"/>
          </a:xfrm>
          <a:prstGeom prst="rect">
            <a:avLst/>
          </a:prstGeom>
          <a:noFill/>
          <a:ln w="31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9842" name="矩形 289841"/>
          <p:cNvSpPr/>
          <p:nvPr/>
        </p:nvSpPr>
        <p:spPr>
          <a:xfrm>
            <a:off x="5659438" y="2728913"/>
            <a:ext cx="444500" cy="2127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pPr lvl="0"/>
            <a:r>
              <a:rPr lang="en-US" altLang="zh-CN" sz="1400" b="1">
                <a:latin typeface="宋体" panose="02010600030101010101" pitchFamily="2" charset="-122"/>
                <a:ea typeface="宋体" panose="02010600030101010101" pitchFamily="2" charset="-122"/>
              </a:rPr>
              <a:t>2000H</a:t>
            </a:r>
            <a:endParaRPr lang="en-US" altLang="zh-CN" sz="2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9843" name="直接连接符 289842"/>
          <p:cNvSpPr/>
          <p:nvPr/>
        </p:nvSpPr>
        <p:spPr>
          <a:xfrm>
            <a:off x="5313363" y="4503738"/>
            <a:ext cx="1154112" cy="1587"/>
          </a:xfrm>
          <a:prstGeom prst="line">
            <a:avLst/>
          </a:prstGeom>
          <a:ln w="2857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9845" name="矩形 289844"/>
          <p:cNvSpPr/>
          <p:nvPr/>
        </p:nvSpPr>
        <p:spPr>
          <a:xfrm>
            <a:off x="5541963" y="2349500"/>
            <a:ext cx="974725" cy="27463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 lvl="0"/>
            <a:r>
              <a:rPr lang="zh-CN" altLang="en-US" sz="1800" b="1" dirty="0">
                <a:latin typeface="宋体" panose="02010600030101010101" pitchFamily="2" charset="-122"/>
                <a:ea typeface="宋体" panose="02010600030101010101" pitchFamily="2" charset="-122"/>
              </a:rPr>
              <a:t>段地址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091038" y="3076363"/>
            <a:ext cx="273050" cy="1072717"/>
            <a:chOff x="4819650" y="3157538"/>
            <a:chExt cx="177800" cy="858837"/>
          </a:xfrm>
        </p:grpSpPr>
        <p:sp>
          <p:nvSpPr>
            <p:cNvPr id="289846" name="矩形 289845"/>
            <p:cNvSpPr/>
            <p:nvPr/>
          </p:nvSpPr>
          <p:spPr>
            <a:xfrm>
              <a:off x="4819650" y="3157538"/>
              <a:ext cx="177800" cy="2127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lvl="0"/>
              <a:r>
                <a:rPr lang="zh-CN" altLang="en-US" sz="1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逻</a:t>
              </a:r>
              <a:endPara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9847" name="矩形 289846"/>
            <p:cNvSpPr/>
            <p:nvPr/>
          </p:nvSpPr>
          <p:spPr>
            <a:xfrm>
              <a:off x="4819650" y="3371850"/>
              <a:ext cx="177800" cy="2127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lvl="0"/>
              <a:r>
                <a:rPr lang="zh-CN" altLang="en-US" sz="1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辑</a:t>
              </a:r>
              <a:endPara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9848" name="矩形 289847"/>
            <p:cNvSpPr/>
            <p:nvPr/>
          </p:nvSpPr>
          <p:spPr>
            <a:xfrm>
              <a:off x="4819650" y="3587750"/>
              <a:ext cx="177800" cy="2127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lvl="0"/>
              <a:r>
                <a:rPr lang="zh-CN" altLang="en-US" sz="1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地</a:t>
              </a:r>
              <a:endPara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9849" name="矩形 289848"/>
            <p:cNvSpPr/>
            <p:nvPr/>
          </p:nvSpPr>
          <p:spPr>
            <a:xfrm>
              <a:off x="4819650" y="3803650"/>
              <a:ext cx="177800" cy="2127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>
              <a:spAutoFit/>
            </a:bodyPr>
            <a:lstStyle/>
            <a:p>
              <a:pPr lvl="0"/>
              <a:r>
                <a:rPr lang="zh-CN" altLang="en-US" sz="1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址</a:t>
              </a:r>
              <a:endPara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89850" name="直接连接符 289849"/>
          <p:cNvSpPr/>
          <p:nvPr/>
        </p:nvSpPr>
        <p:spPr>
          <a:xfrm flipH="1">
            <a:off x="6700838" y="2895600"/>
            <a:ext cx="4762" cy="338138"/>
          </a:xfrm>
          <a:prstGeom prst="line">
            <a:avLst/>
          </a:prstGeom>
          <a:ln w="2857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9851" name="任意多边形 289850"/>
          <p:cNvSpPr/>
          <p:nvPr/>
        </p:nvSpPr>
        <p:spPr>
          <a:xfrm>
            <a:off x="6638925" y="2771775"/>
            <a:ext cx="120650" cy="120650"/>
          </a:xfrm>
          <a:custGeom>
            <a:avLst/>
            <a:gdLst/>
            <a:ahLst/>
            <a:cxnLst/>
            <a:rect l="0" t="0" r="0" b="0"/>
            <a:pathLst>
              <a:path w="76" h="76">
                <a:moveTo>
                  <a:pt x="38" y="0"/>
                </a:moveTo>
                <a:lnTo>
                  <a:pt x="76" y="76"/>
                </a:lnTo>
                <a:lnTo>
                  <a:pt x="71" y="73"/>
                </a:lnTo>
                <a:lnTo>
                  <a:pt x="67" y="71"/>
                </a:lnTo>
                <a:lnTo>
                  <a:pt x="60" y="70"/>
                </a:lnTo>
                <a:lnTo>
                  <a:pt x="55" y="68"/>
                </a:lnTo>
                <a:lnTo>
                  <a:pt x="49" y="68"/>
                </a:lnTo>
                <a:lnTo>
                  <a:pt x="44" y="67"/>
                </a:lnTo>
                <a:lnTo>
                  <a:pt x="38" y="67"/>
                </a:lnTo>
                <a:lnTo>
                  <a:pt x="33" y="67"/>
                </a:lnTo>
                <a:lnTo>
                  <a:pt x="28" y="68"/>
                </a:lnTo>
                <a:lnTo>
                  <a:pt x="21" y="68"/>
                </a:lnTo>
                <a:lnTo>
                  <a:pt x="17" y="70"/>
                </a:lnTo>
                <a:lnTo>
                  <a:pt x="10" y="71"/>
                </a:lnTo>
                <a:lnTo>
                  <a:pt x="5" y="73"/>
                </a:lnTo>
                <a:lnTo>
                  <a:pt x="0" y="76"/>
                </a:lnTo>
                <a:lnTo>
                  <a:pt x="38" y="0"/>
                </a:lnTo>
                <a:close/>
              </a:path>
            </a:pathLst>
          </a:custGeom>
          <a:noFill/>
          <a:ln w="952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9852" name="直接连接符 289851"/>
          <p:cNvSpPr/>
          <p:nvPr/>
        </p:nvSpPr>
        <p:spPr>
          <a:xfrm>
            <a:off x="6699250" y="4041775"/>
            <a:ext cx="1588" cy="371475"/>
          </a:xfrm>
          <a:prstGeom prst="line">
            <a:avLst/>
          </a:prstGeom>
          <a:ln w="2857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89853" name="任意多边形 289852"/>
          <p:cNvSpPr/>
          <p:nvPr/>
        </p:nvSpPr>
        <p:spPr>
          <a:xfrm>
            <a:off x="6638925" y="4383088"/>
            <a:ext cx="120650" cy="120650"/>
          </a:xfrm>
          <a:custGeom>
            <a:avLst/>
            <a:gdLst/>
            <a:ahLst/>
            <a:cxnLst/>
            <a:rect l="0" t="0" r="0" b="0"/>
            <a:pathLst>
              <a:path w="76" h="76">
                <a:moveTo>
                  <a:pt x="38" y="76"/>
                </a:moveTo>
                <a:lnTo>
                  <a:pt x="0" y="0"/>
                </a:lnTo>
                <a:lnTo>
                  <a:pt x="5" y="3"/>
                </a:lnTo>
                <a:lnTo>
                  <a:pt x="10" y="5"/>
                </a:lnTo>
                <a:lnTo>
                  <a:pt x="17" y="6"/>
                </a:lnTo>
                <a:lnTo>
                  <a:pt x="21" y="8"/>
                </a:lnTo>
                <a:lnTo>
                  <a:pt x="28" y="8"/>
                </a:lnTo>
                <a:lnTo>
                  <a:pt x="33" y="10"/>
                </a:lnTo>
                <a:lnTo>
                  <a:pt x="38" y="10"/>
                </a:lnTo>
                <a:lnTo>
                  <a:pt x="44" y="10"/>
                </a:lnTo>
                <a:lnTo>
                  <a:pt x="49" y="8"/>
                </a:lnTo>
                <a:lnTo>
                  <a:pt x="55" y="8"/>
                </a:lnTo>
                <a:lnTo>
                  <a:pt x="60" y="6"/>
                </a:lnTo>
                <a:lnTo>
                  <a:pt x="67" y="5"/>
                </a:lnTo>
                <a:lnTo>
                  <a:pt x="71" y="3"/>
                </a:lnTo>
                <a:lnTo>
                  <a:pt x="76" y="0"/>
                </a:lnTo>
                <a:lnTo>
                  <a:pt x="38" y="76"/>
                </a:lnTo>
                <a:close/>
              </a:path>
            </a:pathLst>
          </a:custGeom>
          <a:noFill/>
          <a:ln w="9525" cap="flat" cmpd="sng">
            <a:solidFill>
              <a:schemeClr val="tx2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9854" name="矩形 289853"/>
          <p:cNvSpPr/>
          <p:nvPr/>
        </p:nvSpPr>
        <p:spPr>
          <a:xfrm>
            <a:off x="5953125" y="3371850"/>
            <a:ext cx="1066800" cy="2127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pPr lvl="0"/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段内偏移地址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9855" name="矩形 289854"/>
          <p:cNvSpPr/>
          <p:nvPr/>
        </p:nvSpPr>
        <p:spPr>
          <a:xfrm>
            <a:off x="6267450" y="3587750"/>
            <a:ext cx="444500" cy="2127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/>
          <a:p>
            <a:pPr lvl="0"/>
            <a:r>
              <a:rPr lang="en-US" altLang="zh-CN" sz="1400" b="1">
                <a:latin typeface="宋体" panose="02010600030101010101" pitchFamily="2" charset="-122"/>
                <a:ea typeface="宋体" panose="02010600030101010101" pitchFamily="2" charset="-122"/>
              </a:rPr>
              <a:t>5F62H</a:t>
            </a:r>
            <a:endParaRPr lang="en-US" altLang="zh-CN" sz="2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9856" name="矩形 289855"/>
          <p:cNvSpPr/>
          <p:nvPr/>
        </p:nvSpPr>
        <p:spPr>
          <a:xfrm>
            <a:off x="1295400" y="6096000"/>
            <a:ext cx="270033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ctr">
              <a:buClrTx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物理地址的形成</a:t>
            </a:r>
          </a:p>
        </p:txBody>
      </p:sp>
      <p:sp>
        <p:nvSpPr>
          <p:cNvPr id="289857" name="矩形 289856"/>
          <p:cNvSpPr/>
          <p:nvPr/>
        </p:nvSpPr>
        <p:spPr>
          <a:xfrm>
            <a:off x="5410200" y="5876925"/>
            <a:ext cx="326548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ctr">
              <a:buClrTx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逻辑地址与物理地址</a:t>
            </a:r>
          </a:p>
        </p:txBody>
      </p:sp>
      <p:sp>
        <p:nvSpPr>
          <p:cNvPr id="289858" name="任意多边形 289857"/>
          <p:cNvSpPr/>
          <p:nvPr/>
        </p:nvSpPr>
        <p:spPr>
          <a:xfrm>
            <a:off x="3836988" y="4033838"/>
            <a:ext cx="179387" cy="177800"/>
          </a:xfrm>
          <a:custGeom>
            <a:avLst/>
            <a:gdLst/>
            <a:ahLst/>
            <a:cxnLst/>
            <a:rect l="0" t="0" r="0" b="0"/>
            <a:pathLst>
              <a:path w="113" h="112">
                <a:moveTo>
                  <a:pt x="57" y="112"/>
                </a:moveTo>
                <a:lnTo>
                  <a:pt x="0" y="0"/>
                </a:lnTo>
                <a:lnTo>
                  <a:pt x="9" y="4"/>
                </a:lnTo>
                <a:lnTo>
                  <a:pt x="17" y="6"/>
                </a:lnTo>
                <a:lnTo>
                  <a:pt x="25" y="8"/>
                </a:lnTo>
                <a:lnTo>
                  <a:pt x="33" y="10"/>
                </a:lnTo>
                <a:lnTo>
                  <a:pt x="41" y="12"/>
                </a:lnTo>
                <a:lnTo>
                  <a:pt x="49" y="14"/>
                </a:lnTo>
                <a:lnTo>
                  <a:pt x="57" y="14"/>
                </a:lnTo>
                <a:lnTo>
                  <a:pt x="65" y="14"/>
                </a:lnTo>
                <a:lnTo>
                  <a:pt x="75" y="12"/>
                </a:lnTo>
                <a:lnTo>
                  <a:pt x="83" y="10"/>
                </a:lnTo>
                <a:lnTo>
                  <a:pt x="91" y="8"/>
                </a:lnTo>
                <a:lnTo>
                  <a:pt x="99" y="6"/>
                </a:lnTo>
                <a:lnTo>
                  <a:pt x="107" y="4"/>
                </a:lnTo>
                <a:lnTo>
                  <a:pt x="113" y="0"/>
                </a:lnTo>
                <a:lnTo>
                  <a:pt x="57" y="112"/>
                </a:lnTo>
                <a:close/>
              </a:path>
            </a:pathLst>
          </a:custGeom>
          <a:solidFill>
            <a:schemeClr val="tx2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9859" name="任意多边形 289858"/>
          <p:cNvSpPr/>
          <p:nvPr/>
        </p:nvSpPr>
        <p:spPr>
          <a:xfrm>
            <a:off x="684213" y="4033838"/>
            <a:ext cx="179387" cy="177800"/>
          </a:xfrm>
          <a:custGeom>
            <a:avLst/>
            <a:gdLst/>
            <a:ahLst/>
            <a:cxnLst/>
            <a:rect l="0" t="0" r="0" b="0"/>
            <a:pathLst>
              <a:path w="113" h="112">
                <a:moveTo>
                  <a:pt x="57" y="112"/>
                </a:moveTo>
                <a:lnTo>
                  <a:pt x="0" y="0"/>
                </a:lnTo>
                <a:lnTo>
                  <a:pt x="9" y="4"/>
                </a:lnTo>
                <a:lnTo>
                  <a:pt x="17" y="6"/>
                </a:lnTo>
                <a:lnTo>
                  <a:pt x="25" y="8"/>
                </a:lnTo>
                <a:lnTo>
                  <a:pt x="33" y="10"/>
                </a:lnTo>
                <a:lnTo>
                  <a:pt x="41" y="12"/>
                </a:lnTo>
                <a:lnTo>
                  <a:pt x="49" y="14"/>
                </a:lnTo>
                <a:lnTo>
                  <a:pt x="57" y="14"/>
                </a:lnTo>
                <a:lnTo>
                  <a:pt x="65" y="14"/>
                </a:lnTo>
                <a:lnTo>
                  <a:pt x="75" y="12"/>
                </a:lnTo>
                <a:lnTo>
                  <a:pt x="83" y="10"/>
                </a:lnTo>
                <a:lnTo>
                  <a:pt x="91" y="8"/>
                </a:lnTo>
                <a:lnTo>
                  <a:pt x="99" y="6"/>
                </a:lnTo>
                <a:lnTo>
                  <a:pt x="107" y="4"/>
                </a:lnTo>
                <a:lnTo>
                  <a:pt x="113" y="0"/>
                </a:lnTo>
                <a:lnTo>
                  <a:pt x="57" y="112"/>
                </a:lnTo>
                <a:close/>
              </a:path>
            </a:pathLst>
          </a:custGeom>
          <a:solidFill>
            <a:schemeClr val="tx2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9860" name="任意多边形 289859"/>
          <p:cNvSpPr/>
          <p:nvPr/>
        </p:nvSpPr>
        <p:spPr>
          <a:xfrm>
            <a:off x="2405063" y="5181600"/>
            <a:ext cx="179387" cy="177800"/>
          </a:xfrm>
          <a:custGeom>
            <a:avLst/>
            <a:gdLst/>
            <a:ahLst/>
            <a:cxnLst/>
            <a:rect l="0" t="0" r="0" b="0"/>
            <a:pathLst>
              <a:path w="113" h="112">
                <a:moveTo>
                  <a:pt x="57" y="112"/>
                </a:moveTo>
                <a:lnTo>
                  <a:pt x="0" y="0"/>
                </a:lnTo>
                <a:lnTo>
                  <a:pt x="9" y="4"/>
                </a:lnTo>
                <a:lnTo>
                  <a:pt x="17" y="6"/>
                </a:lnTo>
                <a:lnTo>
                  <a:pt x="25" y="8"/>
                </a:lnTo>
                <a:lnTo>
                  <a:pt x="33" y="10"/>
                </a:lnTo>
                <a:lnTo>
                  <a:pt x="41" y="12"/>
                </a:lnTo>
                <a:lnTo>
                  <a:pt x="49" y="14"/>
                </a:lnTo>
                <a:lnTo>
                  <a:pt x="57" y="14"/>
                </a:lnTo>
                <a:lnTo>
                  <a:pt x="65" y="14"/>
                </a:lnTo>
                <a:lnTo>
                  <a:pt x="75" y="12"/>
                </a:lnTo>
                <a:lnTo>
                  <a:pt x="83" y="10"/>
                </a:lnTo>
                <a:lnTo>
                  <a:pt x="91" y="8"/>
                </a:lnTo>
                <a:lnTo>
                  <a:pt x="99" y="6"/>
                </a:lnTo>
                <a:lnTo>
                  <a:pt x="107" y="4"/>
                </a:lnTo>
                <a:lnTo>
                  <a:pt x="113" y="0"/>
                </a:lnTo>
                <a:lnTo>
                  <a:pt x="57" y="112"/>
                </a:lnTo>
                <a:close/>
              </a:path>
            </a:pathLst>
          </a:custGeom>
          <a:solidFill>
            <a:schemeClr val="tx2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标题 282625"/>
          <p:cNvSpPr txBox="1"/>
          <p:nvPr/>
        </p:nvSpPr>
        <p:spPr>
          <a:xfrm>
            <a:off x="1044575" y="188913"/>
            <a:ext cx="7631881" cy="431800"/>
          </a:xfrm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>
                <a:solidFill>
                  <a:srgbClr val="FF0000"/>
                </a:solidFill>
                <a:ea typeface="隶书" panose="02010509060101010101" pitchFamily="49" charset="-122"/>
              </a:rPr>
              <a:t>2.2 8086CPU</a:t>
            </a:r>
            <a:r>
              <a:rPr lang="zh-CN" altLang="en-US" sz="3200" b="1">
                <a:solidFill>
                  <a:srgbClr val="FF0000"/>
                </a:solidFill>
                <a:ea typeface="隶书" panose="02010509060101010101" pitchFamily="49" charset="-122"/>
              </a:rPr>
              <a:t>存储器组织及</a:t>
            </a:r>
            <a:r>
              <a:rPr lang="en-US" altLang="zh-CN" sz="3200" b="1">
                <a:solidFill>
                  <a:srgbClr val="FF0000"/>
                </a:solidFill>
                <a:ea typeface="隶书" panose="02010509060101010101" pitchFamily="49" charset="-122"/>
              </a:rPr>
              <a:t>I/O</a:t>
            </a:r>
            <a:r>
              <a:rPr lang="zh-CN" altLang="en-US" sz="3200" b="1">
                <a:solidFill>
                  <a:srgbClr val="FF0000"/>
                </a:solidFill>
                <a:ea typeface="隶书" panose="02010509060101010101" pitchFamily="49" charset="-122"/>
              </a:rPr>
              <a:t>结构 </a:t>
            </a:r>
            <a:endParaRPr lang="zh-CN" altLang="en-US" sz="32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67" name="矩形 292866"/>
          <p:cNvSpPr/>
          <p:nvPr/>
        </p:nvSpPr>
        <p:spPr>
          <a:xfrm>
            <a:off x="250825" y="789931"/>
            <a:ext cx="2916183" cy="461665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lvl="0"/>
            <a:r>
              <a:rPr lang="en-US" altLang="zh-CN" sz="2400" b="1" dirty="0">
                <a:solidFill>
                  <a:srgbClr val="0000CC"/>
                </a:solidFill>
                <a:latin typeface="Arial" panose="020B0604020202020204" pitchFamily="34" charset="0"/>
              </a:rPr>
              <a:t>3</a:t>
            </a:r>
            <a:r>
              <a:rPr lang="zh-CN" altLang="en-US" sz="2400" b="1" dirty="0">
                <a:solidFill>
                  <a:srgbClr val="0000CC"/>
                </a:solidFill>
                <a:latin typeface="Arial" panose="020B0604020202020204" pitchFamily="34" charset="0"/>
              </a:rPr>
              <a:t>、</a:t>
            </a:r>
            <a:r>
              <a:rPr lang="zh-CN" altLang="en-US" sz="2400" b="1" dirty="0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段寄存器的引用 </a:t>
            </a:r>
          </a:p>
        </p:txBody>
      </p:sp>
      <p:sp>
        <p:nvSpPr>
          <p:cNvPr id="292868" name="矩形 292867"/>
          <p:cNvSpPr/>
          <p:nvPr/>
        </p:nvSpPr>
        <p:spPr>
          <a:xfrm>
            <a:off x="234950" y="1331913"/>
            <a:ext cx="8729663" cy="2745159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buClrTx/>
              <a:buNone/>
            </a:pPr>
            <a:r>
              <a:rPr lang="zh-CN" altLang="en-US" sz="2400" b="1" dirty="0"/>
              <a:t>段寄存器为分段管理而设置。</a:t>
            </a:r>
            <a:r>
              <a:rPr lang="en-US" altLang="zh-CN" sz="2400" b="1" dirty="0"/>
              <a:t>4</a:t>
            </a:r>
            <a:r>
              <a:rPr lang="zh-CN" altLang="en-US" sz="2400" b="1" dirty="0"/>
              <a:t>个段寄存器</a:t>
            </a:r>
            <a:r>
              <a:rPr lang="zh-CN" altLang="en-US" sz="2400" dirty="0"/>
              <a:t> </a:t>
            </a:r>
            <a:r>
              <a:rPr lang="zh-CN" altLang="en-US" sz="2400" b="1" dirty="0"/>
              <a:t>（</a:t>
            </a:r>
            <a:r>
              <a:rPr lang="en-US" altLang="zh-CN" sz="2400" b="1" dirty="0"/>
              <a:t>CS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DS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ES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SS</a:t>
            </a:r>
            <a:r>
              <a:rPr lang="zh-CN" altLang="en-US" sz="2400" b="1" dirty="0"/>
              <a:t>）可同时访问</a:t>
            </a:r>
            <a:r>
              <a:rPr lang="en-US" altLang="zh-CN" sz="2400" b="1" dirty="0"/>
              <a:t>4</a:t>
            </a:r>
            <a:r>
              <a:rPr lang="zh-CN" altLang="en-US" sz="2400" b="1" dirty="0"/>
              <a:t>个不同含义的段。</a:t>
            </a:r>
          </a:p>
          <a:p>
            <a:pPr marL="0" lvl="0" indent="0">
              <a:buClrTx/>
              <a:buNone/>
            </a:pPr>
            <a:r>
              <a:rPr lang="zh-CN" altLang="en-US" sz="2400" b="1" dirty="0"/>
              <a:t>段寄存器及其偏移地址的引用关系</a:t>
            </a:r>
          </a:p>
          <a:p>
            <a:pPr marL="0" lvl="0" indent="0">
              <a:buClrTx/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CS</a:t>
            </a:r>
            <a:r>
              <a:rPr lang="zh-CN" altLang="en-US" sz="2400" b="1" dirty="0">
                <a:solidFill>
                  <a:srgbClr val="0000FF"/>
                </a:solidFill>
              </a:rPr>
              <a:t>：</a:t>
            </a:r>
            <a:r>
              <a:rPr lang="en-US" altLang="zh-CN" sz="2400" b="1" dirty="0">
                <a:solidFill>
                  <a:srgbClr val="0000FF"/>
                </a:solidFill>
              </a:rPr>
              <a:t>IP    </a:t>
            </a:r>
            <a:r>
              <a:rPr lang="zh-CN" altLang="en-US" sz="2400" b="1" dirty="0"/>
              <a:t>取</a:t>
            </a:r>
            <a:r>
              <a:rPr lang="zh-CN" altLang="en-US" sz="2400" b="1" dirty="0">
                <a:solidFill>
                  <a:srgbClr val="0000FF"/>
                </a:solidFill>
              </a:rPr>
              <a:t>下次要执行的指令</a:t>
            </a:r>
            <a:r>
              <a:rPr lang="zh-CN" altLang="en-US" sz="2400" b="1" dirty="0"/>
              <a:t>。</a:t>
            </a:r>
          </a:p>
          <a:p>
            <a:pPr marL="0" lvl="0" indent="0">
              <a:buClrTx/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SS</a:t>
            </a:r>
            <a:r>
              <a:rPr lang="zh-CN" altLang="en-US" sz="2400" b="1" dirty="0">
                <a:solidFill>
                  <a:srgbClr val="0000FF"/>
                </a:solidFill>
              </a:rPr>
              <a:t>：</a:t>
            </a:r>
            <a:r>
              <a:rPr lang="en-US" altLang="zh-CN" sz="2400" b="1" dirty="0">
                <a:solidFill>
                  <a:srgbClr val="0000FF"/>
                </a:solidFill>
              </a:rPr>
              <a:t>SP</a:t>
            </a:r>
            <a:r>
              <a:rPr lang="en-US" altLang="zh-CN" sz="2400" b="1" dirty="0"/>
              <a:t>   </a:t>
            </a:r>
            <a:r>
              <a:rPr lang="zh-CN" altLang="en-US" sz="2400" b="1" dirty="0"/>
              <a:t>访问栈顶单元。</a:t>
            </a:r>
            <a:endParaRPr lang="en-US" altLang="zh-CN" sz="2400" b="1" dirty="0"/>
          </a:p>
          <a:p>
            <a:pPr marL="0" lvl="0" indent="0">
              <a:buClrTx/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SS</a:t>
            </a:r>
            <a:r>
              <a:rPr lang="zh-CN" altLang="en-US" sz="2400" b="1" dirty="0">
                <a:solidFill>
                  <a:srgbClr val="0000FF"/>
                </a:solidFill>
              </a:rPr>
              <a:t>：</a:t>
            </a:r>
            <a:r>
              <a:rPr lang="en-US" altLang="zh-CN" sz="2400" b="1" dirty="0">
                <a:solidFill>
                  <a:srgbClr val="0000FF"/>
                </a:solidFill>
              </a:rPr>
              <a:t>BP   </a:t>
            </a:r>
            <a:r>
              <a:rPr lang="zh-CN" altLang="en-US" sz="2400" b="1" dirty="0"/>
              <a:t>可访问</a:t>
            </a:r>
            <a:r>
              <a:rPr lang="zh-CN" altLang="en-US" sz="2400" b="1" dirty="0">
                <a:solidFill>
                  <a:srgbClr val="0000FF"/>
                </a:solidFill>
              </a:rPr>
              <a:t>整个堆栈</a:t>
            </a:r>
            <a:r>
              <a:rPr lang="zh-CN" altLang="en-US" sz="2400" b="1" dirty="0"/>
              <a:t>。 </a:t>
            </a:r>
          </a:p>
        </p:txBody>
      </p:sp>
      <p:pic>
        <p:nvPicPr>
          <p:cNvPr id="292902" name="图片 2929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8144" y="2133600"/>
            <a:ext cx="2279650" cy="25193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矩形 1"/>
          <p:cNvSpPr/>
          <p:nvPr/>
        </p:nvSpPr>
        <p:spPr>
          <a:xfrm>
            <a:off x="250825" y="4077072"/>
            <a:ext cx="561732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400" b="1" dirty="0">
                <a:solidFill>
                  <a:srgbClr val="0000FF"/>
                </a:solidFill>
              </a:rPr>
              <a:t>DS</a:t>
            </a:r>
            <a:r>
              <a:rPr lang="zh-CN" altLang="en-US" sz="2400" b="1" dirty="0"/>
              <a:t>数据段和</a:t>
            </a:r>
            <a:r>
              <a:rPr lang="en-US" altLang="zh-CN" sz="2400" b="1" dirty="0">
                <a:solidFill>
                  <a:srgbClr val="0000FF"/>
                </a:solidFill>
              </a:rPr>
              <a:t>ES</a:t>
            </a:r>
            <a:r>
              <a:rPr lang="zh-CN" altLang="en-US" sz="2400" b="1" dirty="0"/>
              <a:t>附加段，存取操作数时，二者之一与一个偏移地址合并可得到存储单元的物理地址。该偏移地址可以是</a:t>
            </a:r>
            <a:r>
              <a:rPr lang="zh-CN" altLang="en-US" sz="2400" b="1" dirty="0">
                <a:solidFill>
                  <a:srgbClr val="0000FF"/>
                </a:solidFill>
              </a:rPr>
              <a:t>具体数值、符号地址</a:t>
            </a:r>
            <a:r>
              <a:rPr lang="zh-CN" altLang="en-US" sz="2400" b="1" dirty="0"/>
              <a:t>和</a:t>
            </a:r>
            <a:r>
              <a:rPr lang="zh-CN" altLang="en-US" sz="2400" b="1" dirty="0">
                <a:solidFill>
                  <a:srgbClr val="0000FF"/>
                </a:solidFill>
              </a:rPr>
              <a:t>指针寄存器的值</a:t>
            </a:r>
            <a:r>
              <a:rPr lang="zh-CN" altLang="en-US" sz="2400" b="1" dirty="0"/>
              <a:t>等之一，具体由指令的</a:t>
            </a:r>
            <a:r>
              <a:rPr lang="zh-CN" altLang="en-US" sz="2400" b="1" dirty="0">
                <a:solidFill>
                  <a:srgbClr val="0000FF"/>
                </a:solidFill>
              </a:rPr>
              <a:t>寻址方式</a:t>
            </a:r>
            <a:r>
              <a:rPr lang="zh-CN" altLang="en-US" sz="2400" b="1" dirty="0"/>
              <a:t>决定 。 </a:t>
            </a:r>
          </a:p>
        </p:txBody>
      </p:sp>
      <p:sp>
        <p:nvSpPr>
          <p:cNvPr id="7" name="标题 282625"/>
          <p:cNvSpPr txBox="1"/>
          <p:nvPr/>
        </p:nvSpPr>
        <p:spPr>
          <a:xfrm>
            <a:off x="1044575" y="188913"/>
            <a:ext cx="7631881" cy="431800"/>
          </a:xfrm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>
                <a:solidFill>
                  <a:srgbClr val="FF0000"/>
                </a:solidFill>
                <a:ea typeface="隶书" panose="02010509060101010101" pitchFamily="49" charset="-122"/>
              </a:rPr>
              <a:t>2.2 8086CPU</a:t>
            </a:r>
            <a:r>
              <a:rPr lang="zh-CN" altLang="en-US" sz="3200" b="1">
                <a:solidFill>
                  <a:srgbClr val="FF0000"/>
                </a:solidFill>
                <a:ea typeface="隶书" panose="02010509060101010101" pitchFamily="49" charset="-122"/>
              </a:rPr>
              <a:t>存储器组织及</a:t>
            </a:r>
            <a:r>
              <a:rPr lang="en-US" altLang="zh-CN" sz="3200" b="1">
                <a:solidFill>
                  <a:srgbClr val="FF0000"/>
                </a:solidFill>
                <a:ea typeface="隶书" panose="02010509060101010101" pitchFamily="49" charset="-122"/>
              </a:rPr>
              <a:t>I/O</a:t>
            </a:r>
            <a:r>
              <a:rPr lang="zh-CN" altLang="en-US" sz="3200" b="1">
                <a:solidFill>
                  <a:srgbClr val="FF0000"/>
                </a:solidFill>
                <a:ea typeface="隶书" panose="02010509060101010101" pitchFamily="49" charset="-122"/>
              </a:rPr>
              <a:t>结构 </a:t>
            </a:r>
            <a:endParaRPr lang="zh-CN" altLang="en-US" sz="32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180280" y="908720"/>
            <a:ext cx="8712200" cy="2352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"/>
              </a:spcBef>
            </a:pPr>
            <a:r>
              <a:rPr lang="zh-CN" altLang="en-US" sz="2300" b="1" dirty="0">
                <a:solidFill>
                  <a:srgbClr val="FF00FF"/>
                </a:solidFill>
                <a:ea typeface="楷体_GB2312" pitchFamily="49" charset="-122"/>
              </a:rPr>
              <a:t>段缺省和段替换规则</a:t>
            </a:r>
            <a:r>
              <a:rPr lang="zh-CN" altLang="en-US" sz="2300" b="1" dirty="0">
                <a:ea typeface="楷体_GB2312" pitchFamily="49" charset="-122"/>
              </a:rPr>
              <a:t>（</a:t>
            </a:r>
            <a:r>
              <a:rPr lang="en-US" altLang="zh-CN" sz="2300" b="1" dirty="0">
                <a:ea typeface="楷体_GB2312" pitchFamily="49" charset="-122"/>
              </a:rPr>
              <a:t>CPU</a:t>
            </a:r>
            <a:r>
              <a:rPr lang="zh-CN" altLang="en-US" sz="2300" b="1" dirty="0">
                <a:ea typeface="楷体_GB2312" pitchFamily="49" charset="-122"/>
              </a:rPr>
              <a:t>对段访问时应遵循这个原则） </a:t>
            </a:r>
            <a:r>
              <a:rPr lang="zh-CN" altLang="en-US" sz="2300" b="1" dirty="0">
                <a:solidFill>
                  <a:schemeClr val="folHlink"/>
                </a:solidFill>
                <a:ea typeface="楷体_GB2312" pitchFamily="49" charset="-122"/>
              </a:rPr>
              <a:t>：</a:t>
            </a:r>
          </a:p>
          <a:p>
            <a:pPr>
              <a:spcBef>
                <a:spcPct val="20000"/>
              </a:spcBef>
            </a:pPr>
            <a:r>
              <a:rPr lang="zh-CN" altLang="en-US" sz="2300" b="1" dirty="0">
                <a:solidFill>
                  <a:schemeClr val="hlink"/>
                </a:solidFill>
                <a:ea typeface="楷体_GB2312" pitchFamily="49" charset="-122"/>
              </a:rPr>
              <a:t>段缺省：</a:t>
            </a:r>
            <a:r>
              <a:rPr lang="zh-CN" altLang="en-US" sz="2300" b="1" dirty="0">
                <a:ea typeface="楷体_GB2312" pitchFamily="49" charset="-122"/>
              </a:rPr>
              <a:t>段寄存器名不出现在指令中，由</a:t>
            </a:r>
            <a:r>
              <a:rPr lang="en-US" altLang="zh-CN" sz="2300" b="1" dirty="0">
                <a:ea typeface="楷体_GB2312" pitchFamily="49" charset="-122"/>
              </a:rPr>
              <a:t>CPU</a:t>
            </a:r>
            <a:r>
              <a:rPr lang="zh-CN" altLang="en-US" sz="2300" b="1" dirty="0">
                <a:ea typeface="楷体_GB2312" pitchFamily="49" charset="-122"/>
              </a:rPr>
              <a:t>对存储器的操作性质隐含指定；</a:t>
            </a:r>
          </a:p>
          <a:p>
            <a:pPr>
              <a:spcBef>
                <a:spcPct val="20000"/>
              </a:spcBef>
            </a:pPr>
            <a:r>
              <a:rPr lang="zh-CN" altLang="en-US" sz="2300" b="1" dirty="0">
                <a:solidFill>
                  <a:schemeClr val="hlink"/>
                </a:solidFill>
                <a:ea typeface="楷体_GB2312" pitchFamily="49" charset="-122"/>
              </a:rPr>
              <a:t>搭配规则：</a:t>
            </a:r>
            <a:r>
              <a:rPr lang="zh-CN" altLang="en-US" sz="2300" b="1" dirty="0">
                <a:ea typeface="楷体_GB2312" pitchFamily="49" charset="-122"/>
              </a:rPr>
              <a:t>段寄存器和寄存器</a:t>
            </a:r>
            <a:r>
              <a:rPr lang="en-US" altLang="zh-CN" sz="2300" b="1" dirty="0">
                <a:ea typeface="楷体_GB2312" pitchFamily="49" charset="-122"/>
              </a:rPr>
              <a:t>(</a:t>
            </a:r>
            <a:r>
              <a:rPr lang="zh-CN" altLang="en-US" sz="2300" b="1" dirty="0">
                <a:ea typeface="楷体_GB2312" pitchFamily="49" charset="-122"/>
              </a:rPr>
              <a:t>指针、变址</a:t>
            </a:r>
            <a:r>
              <a:rPr lang="en-US" altLang="zh-CN" sz="2300" b="1" dirty="0">
                <a:ea typeface="楷体_GB2312" pitchFamily="49" charset="-122"/>
              </a:rPr>
              <a:t>)</a:t>
            </a:r>
            <a:r>
              <a:rPr lang="zh-CN" altLang="en-US" sz="2300" b="1" dirty="0">
                <a:ea typeface="楷体_GB2312" pitchFamily="49" charset="-122"/>
              </a:rPr>
              <a:t>有较固定的配用关系；</a:t>
            </a:r>
          </a:p>
          <a:p>
            <a:pPr>
              <a:spcBef>
                <a:spcPct val="20000"/>
              </a:spcBef>
            </a:pPr>
            <a:r>
              <a:rPr lang="zh-CN" altLang="en-US" sz="2300" b="1" dirty="0">
                <a:solidFill>
                  <a:schemeClr val="hlink"/>
                </a:solidFill>
                <a:ea typeface="楷体_GB2312" pitchFamily="49" charset="-122"/>
              </a:rPr>
              <a:t>替换（超越）规则：</a:t>
            </a:r>
            <a:r>
              <a:rPr lang="zh-CN" altLang="en-US" sz="2300" b="1" dirty="0">
                <a:ea typeface="楷体_GB2312" pitchFamily="49" charset="-122"/>
              </a:rPr>
              <a:t>在指令前可加上“</a:t>
            </a:r>
            <a:r>
              <a:rPr lang="en-US" altLang="zh-CN" sz="2300" b="1" dirty="0">
                <a:ea typeface="楷体_GB2312" pitchFamily="49" charset="-122"/>
              </a:rPr>
              <a:t>CS”</a:t>
            </a:r>
            <a:r>
              <a:rPr lang="zh-CN" altLang="en-US" sz="2300" b="1" dirty="0">
                <a:ea typeface="楷体_GB2312" pitchFamily="49" charset="-122"/>
              </a:rPr>
              <a:t>，”</a:t>
            </a:r>
            <a:r>
              <a:rPr lang="en-US" altLang="zh-CN" sz="2300" b="1" dirty="0">
                <a:ea typeface="楷体_GB2312" pitchFamily="49" charset="-122"/>
              </a:rPr>
              <a:t>DS”</a:t>
            </a:r>
            <a:r>
              <a:rPr lang="zh-CN" altLang="en-US" sz="2300" b="1" dirty="0">
                <a:ea typeface="楷体_GB2312" pitchFamily="49" charset="-122"/>
              </a:rPr>
              <a:t>，”</a:t>
            </a:r>
            <a:r>
              <a:rPr lang="en-US" altLang="zh-CN" sz="2300" b="1" dirty="0">
                <a:ea typeface="楷体_GB2312" pitchFamily="49" charset="-122"/>
              </a:rPr>
              <a:t>SS”</a:t>
            </a:r>
            <a:r>
              <a:rPr lang="zh-CN" altLang="en-US" sz="2300" b="1" dirty="0">
                <a:ea typeface="楷体_GB2312" pitchFamily="49" charset="-122"/>
              </a:rPr>
              <a:t>等前缀，</a:t>
            </a:r>
          </a:p>
          <a:p>
            <a:pPr>
              <a:spcBef>
                <a:spcPct val="5000"/>
              </a:spcBef>
            </a:pPr>
            <a:r>
              <a:rPr lang="zh-CN" altLang="en-US" sz="2300" b="1" dirty="0">
                <a:ea typeface="楷体_GB2312" pitchFamily="49" charset="-122"/>
              </a:rPr>
              <a:t>                                     以指定的段寄存器替代隐含的段寄存器。</a:t>
            </a:r>
          </a:p>
        </p:txBody>
      </p:sp>
      <p:sp>
        <p:nvSpPr>
          <p:cNvPr id="10" name="Text Box 2"/>
          <p:cNvSpPr txBox="1">
            <a:spLocks noChangeArrowheads="1"/>
          </p:cNvSpPr>
          <p:nvPr/>
        </p:nvSpPr>
        <p:spPr bwMode="auto">
          <a:xfrm>
            <a:off x="107504" y="3442295"/>
            <a:ext cx="8820150" cy="2899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1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u"/>
            </a:pPr>
            <a:r>
              <a:rPr lang="en-US" altLang="zh-CN" b="1" dirty="0">
                <a:ea typeface="楷体_GB2312" pitchFamily="49" charset="-122"/>
              </a:rPr>
              <a:t> </a:t>
            </a:r>
            <a:r>
              <a:rPr lang="zh-CN" altLang="en-US" b="1" dirty="0">
                <a:ea typeface="楷体_GB2312" pitchFamily="49" charset="-122"/>
              </a:rPr>
              <a:t>存储器分段的一般规律：</a:t>
            </a:r>
          </a:p>
          <a:p>
            <a:pPr>
              <a:spcBef>
                <a:spcPct val="1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b="1" dirty="0"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chemeClr val="folHlink"/>
                </a:solidFill>
                <a:ea typeface="楷体_GB2312" pitchFamily="49" charset="-122"/>
              </a:rPr>
              <a:t>   </a:t>
            </a:r>
            <a:r>
              <a:rPr lang="zh-CN" altLang="en-US" b="1" dirty="0">
                <a:solidFill>
                  <a:srgbClr val="C00000"/>
                </a:solidFill>
                <a:ea typeface="楷体_GB2312" pitchFamily="49" charset="-122"/>
              </a:rPr>
              <a:t>可独立分开（最大不重叠</a:t>
            </a:r>
            <a:r>
              <a:rPr lang="en-US" altLang="zh-CN" b="1" dirty="0">
                <a:solidFill>
                  <a:srgbClr val="C00000"/>
                </a:solidFill>
                <a:ea typeface="楷体_GB2312" pitchFamily="49" charset="-122"/>
              </a:rPr>
              <a:t>16</a:t>
            </a:r>
            <a:r>
              <a:rPr lang="zh-CN" altLang="en-US" b="1" dirty="0">
                <a:solidFill>
                  <a:srgbClr val="C00000"/>
                </a:solidFill>
                <a:ea typeface="楷体_GB2312" pitchFamily="49" charset="-122"/>
              </a:rPr>
              <a:t>个段）</a:t>
            </a:r>
          </a:p>
          <a:p>
            <a:pPr>
              <a:spcBef>
                <a:spcPct val="1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C00000"/>
                </a:solidFill>
                <a:ea typeface="楷体_GB2312" pitchFamily="49" charset="-122"/>
              </a:rPr>
              <a:t>    连续</a:t>
            </a:r>
          </a:p>
          <a:p>
            <a:pPr>
              <a:spcBef>
                <a:spcPct val="1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C00000"/>
                </a:solidFill>
                <a:ea typeface="楷体_GB2312" pitchFamily="49" charset="-122"/>
              </a:rPr>
              <a:t>    重叠（部分重叠或完全重叠）</a:t>
            </a:r>
          </a:p>
          <a:p>
            <a:pPr>
              <a:spcBef>
                <a:spcPct val="10000"/>
              </a:spcBef>
            </a:pPr>
            <a:r>
              <a:rPr lang="zh-CN" altLang="en-US" b="1" dirty="0">
                <a:ea typeface="楷体_GB2312" pitchFamily="49" charset="-122"/>
              </a:rPr>
              <a:t>        如：数据段和附加段完全重叠，堆栈段和附加段部分重叠。</a:t>
            </a:r>
          </a:p>
          <a:p>
            <a:pPr>
              <a:spcBef>
                <a:spcPct val="10000"/>
              </a:spcBef>
            </a:pPr>
            <a:r>
              <a:rPr lang="zh-CN" altLang="en-US" b="1" dirty="0">
                <a:ea typeface="楷体_GB2312" pitchFamily="49" charset="-122"/>
              </a:rPr>
              <a:t>                因此，对一个具体的存储单元，可以属于一个逻辑段，</a:t>
            </a:r>
          </a:p>
          <a:p>
            <a:pPr>
              <a:spcBef>
                <a:spcPct val="10000"/>
              </a:spcBef>
            </a:pPr>
            <a:r>
              <a:rPr lang="zh-CN" altLang="en-US" b="1" dirty="0">
                <a:ea typeface="楷体_GB2312" pitchFamily="49" charset="-122"/>
              </a:rPr>
              <a:t>                也可以同时属于几个逻辑段。</a:t>
            </a:r>
          </a:p>
        </p:txBody>
      </p:sp>
      <p:sp>
        <p:nvSpPr>
          <p:cNvPr id="5" name="标题 282625"/>
          <p:cNvSpPr txBox="1"/>
          <p:nvPr/>
        </p:nvSpPr>
        <p:spPr>
          <a:xfrm>
            <a:off x="1044575" y="188913"/>
            <a:ext cx="7631881" cy="431800"/>
          </a:xfrm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>
                <a:solidFill>
                  <a:srgbClr val="FF0000"/>
                </a:solidFill>
                <a:ea typeface="隶书" panose="02010509060101010101" pitchFamily="49" charset="-122"/>
              </a:rPr>
              <a:t>2.2 8086CPU</a:t>
            </a:r>
            <a:r>
              <a:rPr lang="zh-CN" altLang="en-US" sz="3200" b="1">
                <a:solidFill>
                  <a:srgbClr val="FF0000"/>
                </a:solidFill>
                <a:ea typeface="隶书" panose="02010509060101010101" pitchFamily="49" charset="-122"/>
              </a:rPr>
              <a:t>存储器组织及</a:t>
            </a:r>
            <a:r>
              <a:rPr lang="en-US" altLang="zh-CN" sz="3200" b="1">
                <a:solidFill>
                  <a:srgbClr val="FF0000"/>
                </a:solidFill>
                <a:ea typeface="隶书" panose="02010509060101010101" pitchFamily="49" charset="-122"/>
              </a:rPr>
              <a:t>I/O</a:t>
            </a:r>
            <a:r>
              <a:rPr lang="zh-CN" altLang="en-US" sz="3200" b="1">
                <a:solidFill>
                  <a:srgbClr val="FF0000"/>
                </a:solidFill>
                <a:ea typeface="隶书" panose="02010509060101010101" pitchFamily="49" charset="-122"/>
              </a:rPr>
              <a:t>结构 </a:t>
            </a:r>
            <a:endParaRPr lang="zh-CN" altLang="en-US" sz="32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16" name="文本框 294915">
            <a:hlinkClick r:id="" action="ppaction://noaction"/>
          </p:cNvPr>
          <p:cNvSpPr txBox="1"/>
          <p:nvPr/>
        </p:nvSpPr>
        <p:spPr>
          <a:xfrm>
            <a:off x="169863" y="831850"/>
            <a:ext cx="593566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段寄存器及其指针寄存器的引用关系  </a:t>
            </a:r>
          </a:p>
        </p:txBody>
      </p:sp>
      <p:pic>
        <p:nvPicPr>
          <p:cNvPr id="294918" name="图片 2949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50" y="1989138"/>
            <a:ext cx="7632700" cy="3311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标题 282625"/>
          <p:cNvSpPr txBox="1"/>
          <p:nvPr/>
        </p:nvSpPr>
        <p:spPr>
          <a:xfrm>
            <a:off x="1044575" y="188913"/>
            <a:ext cx="7631881" cy="431800"/>
          </a:xfrm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>
                <a:solidFill>
                  <a:srgbClr val="FF0000"/>
                </a:solidFill>
                <a:ea typeface="隶书" panose="02010509060101010101" pitchFamily="49" charset="-122"/>
              </a:rPr>
              <a:t>2.2 8086CPU</a:t>
            </a:r>
            <a:r>
              <a:rPr lang="zh-CN" altLang="en-US" sz="3200" b="1">
                <a:solidFill>
                  <a:srgbClr val="FF0000"/>
                </a:solidFill>
                <a:ea typeface="隶书" panose="02010509060101010101" pitchFamily="49" charset="-122"/>
              </a:rPr>
              <a:t>存储器组织及</a:t>
            </a:r>
            <a:r>
              <a:rPr lang="en-US" altLang="zh-CN" sz="3200" b="1">
                <a:solidFill>
                  <a:srgbClr val="FF0000"/>
                </a:solidFill>
                <a:ea typeface="隶书" panose="02010509060101010101" pitchFamily="49" charset="-122"/>
              </a:rPr>
              <a:t>I/O</a:t>
            </a:r>
            <a:r>
              <a:rPr lang="zh-CN" altLang="en-US" sz="3200" b="1">
                <a:solidFill>
                  <a:srgbClr val="FF0000"/>
                </a:solidFill>
                <a:ea typeface="隶书" panose="02010509060101010101" pitchFamily="49" charset="-122"/>
              </a:rPr>
              <a:t>结构 </a:t>
            </a:r>
            <a:endParaRPr lang="zh-CN" altLang="en-US" sz="32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41" name="矩形 295940"/>
          <p:cNvSpPr/>
          <p:nvPr/>
        </p:nvSpPr>
        <p:spPr>
          <a:xfrm>
            <a:off x="179388" y="836712"/>
            <a:ext cx="4224233" cy="52322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lvl="0"/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</a:rPr>
              <a:t>三、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</a:rPr>
              <a:t>8086 CPU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</a:rPr>
              <a:t>的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</a:rPr>
              <a:t>I/O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</a:rPr>
              <a:t>结构 </a:t>
            </a:r>
          </a:p>
        </p:txBody>
      </p:sp>
      <p:sp>
        <p:nvSpPr>
          <p:cNvPr id="295942" name="矩形 295941"/>
          <p:cNvSpPr/>
          <p:nvPr/>
        </p:nvSpPr>
        <p:spPr>
          <a:xfrm>
            <a:off x="323850" y="2083314"/>
            <a:ext cx="8569325" cy="179126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lvl="0">
              <a:lnSpc>
                <a:spcPct val="115000"/>
              </a:lnSpc>
            </a:pP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8086 CPU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用地址总线的</a:t>
            </a:r>
            <a:r>
              <a:rPr lang="zh-CN" altLang="en-US" sz="24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低</a:t>
            </a:r>
            <a:r>
              <a:rPr lang="en-US" altLang="zh-CN" sz="24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16</a:t>
            </a:r>
            <a:r>
              <a:rPr lang="zh-CN" altLang="en-US" sz="24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位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r>
              <a:rPr lang="en-US" altLang="zh-CN" sz="2400" b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15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～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r>
              <a:rPr lang="en-US" altLang="zh-CN" sz="2400" b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寻址端口地址，可访问的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I/O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端口地址有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sz="2400" b="1" baseline="30000" dirty="0">
                <a:latin typeface="Arial" panose="020B0604020202020204" pitchFamily="34" charset="0"/>
                <a:ea typeface="宋体" panose="02010600030101010101" pitchFamily="2" charset="-122"/>
              </a:rPr>
              <a:t>16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=</a:t>
            </a:r>
            <a:r>
              <a:rPr lang="en-US" altLang="zh-CN" sz="24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64K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个，地址范围为</a:t>
            </a:r>
            <a:r>
              <a:rPr lang="en-US" altLang="zh-CN" sz="24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0000H</a:t>
            </a:r>
            <a:r>
              <a:rPr lang="zh-CN" altLang="en-US" sz="24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～</a:t>
            </a:r>
            <a:r>
              <a:rPr lang="en-US" altLang="zh-CN" sz="24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FFFFH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，实际上只使用了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r>
              <a:rPr lang="en-US" altLang="zh-CN" sz="2400" b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9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～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r>
              <a:rPr lang="en-US" altLang="zh-CN" sz="2400" b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共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10 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条地址线作为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I/O 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端口的寻址线，故最多可寻址</a:t>
            </a:r>
            <a:r>
              <a:rPr lang="en-US" altLang="zh-CN" sz="24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1024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个端口地址，地址范围为</a:t>
            </a:r>
            <a:r>
              <a:rPr lang="en-US" altLang="zh-CN" sz="24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0000H</a:t>
            </a:r>
            <a:r>
              <a:rPr lang="zh-CN" altLang="en-US" sz="24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～</a:t>
            </a:r>
            <a:r>
              <a:rPr lang="en-US" altLang="zh-CN" sz="24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03FFH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。 </a:t>
            </a:r>
          </a:p>
        </p:txBody>
      </p:sp>
      <p:sp>
        <p:nvSpPr>
          <p:cNvPr id="5" name="标题 282625"/>
          <p:cNvSpPr txBox="1"/>
          <p:nvPr/>
        </p:nvSpPr>
        <p:spPr>
          <a:xfrm>
            <a:off x="1044575" y="188913"/>
            <a:ext cx="7631881" cy="431800"/>
          </a:xfrm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>
                <a:solidFill>
                  <a:srgbClr val="FF0000"/>
                </a:solidFill>
                <a:ea typeface="隶书" panose="02010509060101010101" pitchFamily="49" charset="-122"/>
              </a:rPr>
              <a:t>2.2 8086CPU</a:t>
            </a:r>
            <a:r>
              <a:rPr lang="zh-CN" altLang="en-US" sz="3200" b="1">
                <a:solidFill>
                  <a:srgbClr val="FF0000"/>
                </a:solidFill>
                <a:ea typeface="隶书" panose="02010509060101010101" pitchFamily="49" charset="-122"/>
              </a:rPr>
              <a:t>存储器组织及</a:t>
            </a:r>
            <a:r>
              <a:rPr lang="en-US" altLang="zh-CN" sz="3200" b="1">
                <a:solidFill>
                  <a:srgbClr val="FF0000"/>
                </a:solidFill>
                <a:ea typeface="隶书" panose="02010509060101010101" pitchFamily="49" charset="-122"/>
              </a:rPr>
              <a:t>I/O</a:t>
            </a:r>
            <a:r>
              <a:rPr lang="zh-CN" altLang="en-US" sz="3200" b="1">
                <a:solidFill>
                  <a:srgbClr val="FF0000"/>
                </a:solidFill>
                <a:ea typeface="隶书" panose="02010509060101010101" pitchFamily="49" charset="-122"/>
              </a:rPr>
              <a:t>结构 </a:t>
            </a:r>
            <a:endParaRPr lang="zh-CN" altLang="en-US" sz="32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5" name="矩形 296964"/>
          <p:cNvSpPr/>
          <p:nvPr/>
        </p:nvSpPr>
        <p:spPr>
          <a:xfrm>
            <a:off x="250825" y="836613"/>
            <a:ext cx="294163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>
              <a:buClrTx/>
            </a:pP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一、总线周期的定义</a:t>
            </a:r>
          </a:p>
        </p:txBody>
      </p:sp>
      <p:sp>
        <p:nvSpPr>
          <p:cNvPr id="296966" name="矩形 296965"/>
          <p:cNvSpPr/>
          <p:nvPr/>
        </p:nvSpPr>
        <p:spPr>
          <a:xfrm>
            <a:off x="179388" y="1268413"/>
            <a:ext cx="8785225" cy="330517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lvl="0">
              <a:lnSpc>
                <a:spcPct val="110000"/>
              </a:lnSpc>
              <a:buClrTx/>
            </a:pPr>
            <a:r>
              <a:rPr lang="zh-CN" altLang="en-US" sz="2400" b="1" dirty="0">
                <a:solidFill>
                  <a:srgbClr val="452DF5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时钟周期</a:t>
            </a:r>
            <a:r>
              <a:rPr lang="en-US" altLang="zh-CN" sz="2400" b="1" dirty="0">
                <a:solidFill>
                  <a:srgbClr val="452DF5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: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主时钟的两个脉冲前沿的时间间隔，又称为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T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状态（即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一个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T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状态就是一个时钟周期</a:t>
            </a:r>
            <a:r>
              <a:rPr lang="zh-CN" altLang="en-US" sz="1800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）。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是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CPU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执行操作的最小时间单位，如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8086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的时钟频率为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5MHz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，则一个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T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状态为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200NS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</a:p>
          <a:p>
            <a:pPr lvl="0">
              <a:lnSpc>
                <a:spcPct val="110000"/>
              </a:lnSpc>
              <a:buClrTx/>
            </a:pPr>
            <a:r>
              <a:rPr lang="zh-CN" altLang="en-US" sz="2400" b="1" dirty="0">
                <a:solidFill>
                  <a:srgbClr val="452DF5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总线周期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又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称为</a:t>
            </a:r>
            <a:r>
              <a:rPr lang="zh-CN" altLang="en-US" sz="2400" b="1" dirty="0">
                <a:solidFill>
                  <a:srgbClr val="452DF5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机器周期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或</a:t>
            </a:r>
            <a:r>
              <a:rPr lang="en-US" altLang="zh-CN" sz="2400" b="1" dirty="0">
                <a:solidFill>
                  <a:srgbClr val="452DF5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M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周期，是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CPU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从存储器或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I/O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端口读写一个字节或字所需要的时间。总线周期通常包含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个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T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状态：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T</a:t>
            </a:r>
            <a:r>
              <a:rPr lang="en-US" altLang="zh-CN" sz="2400" b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T</a:t>
            </a:r>
            <a:r>
              <a:rPr lang="en-US" altLang="zh-CN" sz="2400" b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T</a:t>
            </a:r>
            <a:r>
              <a:rPr lang="en-US" altLang="zh-CN" sz="2400" b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T</a:t>
            </a:r>
            <a:r>
              <a:rPr lang="en-US" altLang="zh-CN" sz="2400" b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</a:p>
          <a:p>
            <a:pPr lvl="0">
              <a:lnSpc>
                <a:spcPct val="110000"/>
              </a:lnSpc>
              <a:buClrTx/>
            </a:pPr>
            <a:r>
              <a:rPr lang="zh-CN" altLang="en-US" sz="2400" b="1" dirty="0">
                <a:solidFill>
                  <a:srgbClr val="452DF5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指令周期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一条指令（的取出和）执行所需的时间。一条指令执行需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～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5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个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指令周期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</a:p>
        </p:txBody>
      </p:sp>
      <p:sp>
        <p:nvSpPr>
          <p:cNvPr id="296967" name="矩形 296966"/>
          <p:cNvSpPr/>
          <p:nvPr/>
        </p:nvSpPr>
        <p:spPr>
          <a:xfrm>
            <a:off x="250825" y="4581525"/>
            <a:ext cx="8640763" cy="19177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>
              <a:buClrTx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结论：</a:t>
            </a:r>
          </a:p>
          <a:p>
            <a:pPr lvl="1">
              <a:buClrTx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8086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中不同指令的指令周期是不等长的。</a:t>
            </a:r>
          </a:p>
          <a:p>
            <a:pPr lvl="1">
              <a:buClrTx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）各条指令的指令周期虽各不相同，但它们仍然由一些基本的总线周期</a:t>
            </a:r>
            <a:r>
              <a:rPr lang="zh-CN" altLang="en-US" sz="24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组成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  <a:r>
              <a:rPr lang="zh-CN" altLang="en-US" sz="24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存储器读或写总线周期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；</a:t>
            </a:r>
            <a:r>
              <a:rPr lang="zh-CN" altLang="en-US" sz="24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输入</a:t>
            </a:r>
            <a:r>
              <a:rPr lang="en-US" altLang="zh-CN" sz="2400" b="1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24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输出端口的读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或</a:t>
            </a:r>
            <a:r>
              <a:rPr lang="zh-CN" altLang="en-US" sz="24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写总线周期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；</a:t>
            </a:r>
            <a:r>
              <a:rPr lang="zh-CN" altLang="en-US" sz="24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中断响应周期</a:t>
            </a:r>
          </a:p>
        </p:txBody>
      </p:sp>
      <p:sp>
        <p:nvSpPr>
          <p:cNvPr id="6" name="矩形 5"/>
          <p:cNvSpPr/>
          <p:nvPr/>
        </p:nvSpPr>
        <p:spPr>
          <a:xfrm>
            <a:off x="682625" y="188913"/>
            <a:ext cx="7849815" cy="4318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2.3 8086 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微处理器的外部引脚及工作模式</a:t>
            </a:r>
            <a:r>
              <a:rPr lang="zh-CN" altLang="en-US" dirty="0"/>
              <a:t>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69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69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6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90" name="右大括号 297989"/>
          <p:cNvSpPr/>
          <p:nvPr/>
        </p:nvSpPr>
        <p:spPr>
          <a:xfrm>
            <a:off x="4800600" y="3192463"/>
            <a:ext cx="76200" cy="533400"/>
          </a:xfrm>
          <a:prstGeom prst="rightBrace">
            <a:avLst>
              <a:gd name="adj1" fmla="val 58333"/>
              <a:gd name="adj2" fmla="val 50000"/>
            </a:avLst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7991" name="直接连接符 297990"/>
          <p:cNvSpPr/>
          <p:nvPr/>
        </p:nvSpPr>
        <p:spPr>
          <a:xfrm>
            <a:off x="2514600" y="3344863"/>
            <a:ext cx="0" cy="457200"/>
          </a:xfrm>
          <a:prstGeom prst="line">
            <a:avLst/>
          </a:prstGeom>
          <a:ln w="9525">
            <a:noFill/>
          </a:ln>
        </p:spPr>
      </p:sp>
      <p:sp>
        <p:nvSpPr>
          <p:cNvPr id="297992" name="直接连接符 297991"/>
          <p:cNvSpPr/>
          <p:nvPr/>
        </p:nvSpPr>
        <p:spPr>
          <a:xfrm>
            <a:off x="1828800" y="2963863"/>
            <a:ext cx="228600" cy="0"/>
          </a:xfrm>
          <a:prstGeom prst="line">
            <a:avLst/>
          </a:prstGeom>
          <a:ln w="9525">
            <a:noFill/>
          </a:ln>
        </p:spPr>
      </p:sp>
      <p:sp>
        <p:nvSpPr>
          <p:cNvPr id="297993" name="直接连接符 297992"/>
          <p:cNvSpPr/>
          <p:nvPr/>
        </p:nvSpPr>
        <p:spPr>
          <a:xfrm>
            <a:off x="1752600" y="3040063"/>
            <a:ext cx="304800" cy="0"/>
          </a:xfrm>
          <a:prstGeom prst="line">
            <a:avLst/>
          </a:prstGeom>
          <a:ln w="9525">
            <a:noFill/>
          </a:ln>
        </p:spPr>
      </p:sp>
      <p:sp>
        <p:nvSpPr>
          <p:cNvPr id="297994" name="直接连接符 297993"/>
          <p:cNvSpPr/>
          <p:nvPr/>
        </p:nvSpPr>
        <p:spPr>
          <a:xfrm>
            <a:off x="2057400" y="2811463"/>
            <a:ext cx="381000" cy="0"/>
          </a:xfrm>
          <a:prstGeom prst="line">
            <a:avLst/>
          </a:prstGeom>
          <a:ln w="9525">
            <a:noFill/>
          </a:ln>
        </p:spPr>
      </p:sp>
      <p:sp>
        <p:nvSpPr>
          <p:cNvPr id="297995" name="直接连接符 297994"/>
          <p:cNvSpPr/>
          <p:nvPr/>
        </p:nvSpPr>
        <p:spPr>
          <a:xfrm>
            <a:off x="2057400" y="2811463"/>
            <a:ext cx="381000" cy="0"/>
          </a:xfrm>
          <a:prstGeom prst="line">
            <a:avLst/>
          </a:prstGeom>
          <a:ln w="9525">
            <a:noFill/>
          </a:ln>
        </p:spPr>
      </p:sp>
      <p:sp>
        <p:nvSpPr>
          <p:cNvPr id="297996" name="直接连接符 297995"/>
          <p:cNvSpPr/>
          <p:nvPr/>
        </p:nvSpPr>
        <p:spPr>
          <a:xfrm>
            <a:off x="2057400" y="2887663"/>
            <a:ext cx="381000" cy="0"/>
          </a:xfrm>
          <a:prstGeom prst="line">
            <a:avLst/>
          </a:prstGeom>
          <a:ln w="9525">
            <a:noFill/>
          </a:ln>
        </p:spPr>
      </p:sp>
      <p:sp>
        <p:nvSpPr>
          <p:cNvPr id="297997" name="直接连接符 297996"/>
          <p:cNvSpPr/>
          <p:nvPr/>
        </p:nvSpPr>
        <p:spPr>
          <a:xfrm>
            <a:off x="1905000" y="4564063"/>
            <a:ext cx="0" cy="6096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998" name="直接连接符 297997"/>
          <p:cNvSpPr/>
          <p:nvPr/>
        </p:nvSpPr>
        <p:spPr>
          <a:xfrm>
            <a:off x="2362200" y="4564063"/>
            <a:ext cx="0" cy="6096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999" name="直接连接符 297998"/>
          <p:cNvSpPr/>
          <p:nvPr/>
        </p:nvSpPr>
        <p:spPr>
          <a:xfrm>
            <a:off x="2590800" y="4564063"/>
            <a:ext cx="0" cy="6096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00" name="直接连接符 297999"/>
          <p:cNvSpPr/>
          <p:nvPr/>
        </p:nvSpPr>
        <p:spPr>
          <a:xfrm>
            <a:off x="2819400" y="4564063"/>
            <a:ext cx="0" cy="6096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01" name="直接连接符 298000"/>
          <p:cNvSpPr/>
          <p:nvPr/>
        </p:nvSpPr>
        <p:spPr>
          <a:xfrm>
            <a:off x="3048000" y="4564063"/>
            <a:ext cx="0" cy="6096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02" name="直接连接符 298001"/>
          <p:cNvSpPr/>
          <p:nvPr/>
        </p:nvSpPr>
        <p:spPr>
          <a:xfrm>
            <a:off x="3276600" y="4564063"/>
            <a:ext cx="0" cy="6096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03" name="直接连接符 298002"/>
          <p:cNvSpPr/>
          <p:nvPr/>
        </p:nvSpPr>
        <p:spPr>
          <a:xfrm>
            <a:off x="3505200" y="4564063"/>
            <a:ext cx="0" cy="6096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04" name="直接连接符 298003"/>
          <p:cNvSpPr/>
          <p:nvPr/>
        </p:nvSpPr>
        <p:spPr>
          <a:xfrm>
            <a:off x="3962400" y="4564063"/>
            <a:ext cx="0" cy="6096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05" name="直接连接符 298004"/>
          <p:cNvSpPr/>
          <p:nvPr/>
        </p:nvSpPr>
        <p:spPr>
          <a:xfrm>
            <a:off x="4191000" y="4564063"/>
            <a:ext cx="0" cy="6096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06" name="直接连接符 298005"/>
          <p:cNvSpPr/>
          <p:nvPr/>
        </p:nvSpPr>
        <p:spPr>
          <a:xfrm>
            <a:off x="4419600" y="4564063"/>
            <a:ext cx="0" cy="6096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07" name="直接连接符 298006"/>
          <p:cNvSpPr/>
          <p:nvPr/>
        </p:nvSpPr>
        <p:spPr>
          <a:xfrm>
            <a:off x="4648200" y="4564063"/>
            <a:ext cx="0" cy="6096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08" name="直接连接符 298007"/>
          <p:cNvSpPr/>
          <p:nvPr/>
        </p:nvSpPr>
        <p:spPr>
          <a:xfrm>
            <a:off x="4876800" y="4564063"/>
            <a:ext cx="0" cy="6096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09" name="直接连接符 298008"/>
          <p:cNvSpPr/>
          <p:nvPr/>
        </p:nvSpPr>
        <p:spPr>
          <a:xfrm>
            <a:off x="5105400" y="4564063"/>
            <a:ext cx="0" cy="6096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10" name="直接连接符 298009"/>
          <p:cNvSpPr/>
          <p:nvPr/>
        </p:nvSpPr>
        <p:spPr>
          <a:xfrm>
            <a:off x="5334000" y="4564063"/>
            <a:ext cx="0" cy="6096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11" name="直接连接符 298010"/>
          <p:cNvSpPr/>
          <p:nvPr/>
        </p:nvSpPr>
        <p:spPr>
          <a:xfrm>
            <a:off x="5562600" y="4564063"/>
            <a:ext cx="0" cy="6096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12" name="直接连接符 298011"/>
          <p:cNvSpPr/>
          <p:nvPr/>
        </p:nvSpPr>
        <p:spPr>
          <a:xfrm>
            <a:off x="5791200" y="4564063"/>
            <a:ext cx="0" cy="6096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13" name="直接连接符 298012"/>
          <p:cNvSpPr/>
          <p:nvPr/>
        </p:nvSpPr>
        <p:spPr>
          <a:xfrm>
            <a:off x="6019800" y="4564063"/>
            <a:ext cx="0" cy="6096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14" name="直接连接符 298013"/>
          <p:cNvSpPr/>
          <p:nvPr/>
        </p:nvSpPr>
        <p:spPr>
          <a:xfrm>
            <a:off x="6248400" y="4564063"/>
            <a:ext cx="0" cy="6096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15" name="直接连接符 298014"/>
          <p:cNvSpPr/>
          <p:nvPr/>
        </p:nvSpPr>
        <p:spPr>
          <a:xfrm>
            <a:off x="6477000" y="4564063"/>
            <a:ext cx="0" cy="6096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16" name="直接连接符 298015"/>
          <p:cNvSpPr/>
          <p:nvPr/>
        </p:nvSpPr>
        <p:spPr>
          <a:xfrm>
            <a:off x="6705600" y="4564063"/>
            <a:ext cx="0" cy="6096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17" name="直接连接符 298016"/>
          <p:cNvSpPr/>
          <p:nvPr/>
        </p:nvSpPr>
        <p:spPr>
          <a:xfrm>
            <a:off x="6934200" y="4564063"/>
            <a:ext cx="0" cy="6096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18" name="直接连接符 298017"/>
          <p:cNvSpPr/>
          <p:nvPr/>
        </p:nvSpPr>
        <p:spPr>
          <a:xfrm>
            <a:off x="7162800" y="4564063"/>
            <a:ext cx="0" cy="6096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19" name="直接连接符 298018"/>
          <p:cNvSpPr/>
          <p:nvPr/>
        </p:nvSpPr>
        <p:spPr>
          <a:xfrm>
            <a:off x="2133600" y="4564063"/>
            <a:ext cx="0" cy="6096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20" name="直接连接符 298019"/>
          <p:cNvSpPr/>
          <p:nvPr/>
        </p:nvSpPr>
        <p:spPr>
          <a:xfrm>
            <a:off x="1676400" y="4564063"/>
            <a:ext cx="0" cy="6096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21" name="直接连接符 298020"/>
          <p:cNvSpPr/>
          <p:nvPr/>
        </p:nvSpPr>
        <p:spPr>
          <a:xfrm>
            <a:off x="1447800" y="4564063"/>
            <a:ext cx="0" cy="6096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22" name="直接连接符 298021"/>
          <p:cNvSpPr/>
          <p:nvPr/>
        </p:nvSpPr>
        <p:spPr>
          <a:xfrm>
            <a:off x="3733800" y="4564063"/>
            <a:ext cx="0" cy="6096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23" name="直接连接符 298022"/>
          <p:cNvSpPr/>
          <p:nvPr/>
        </p:nvSpPr>
        <p:spPr>
          <a:xfrm>
            <a:off x="1219200" y="5173663"/>
            <a:ext cx="2286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24" name="直接连接符 298023"/>
          <p:cNvSpPr/>
          <p:nvPr/>
        </p:nvSpPr>
        <p:spPr>
          <a:xfrm>
            <a:off x="1676400" y="5173663"/>
            <a:ext cx="2286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25" name="直接连接符 298024"/>
          <p:cNvSpPr/>
          <p:nvPr/>
        </p:nvSpPr>
        <p:spPr>
          <a:xfrm>
            <a:off x="2133600" y="5173663"/>
            <a:ext cx="2286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26" name="直接连接符 298025"/>
          <p:cNvSpPr/>
          <p:nvPr/>
        </p:nvSpPr>
        <p:spPr>
          <a:xfrm>
            <a:off x="2590800" y="5173663"/>
            <a:ext cx="2286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27" name="直接连接符 298026"/>
          <p:cNvSpPr/>
          <p:nvPr/>
        </p:nvSpPr>
        <p:spPr>
          <a:xfrm>
            <a:off x="3048000" y="5173663"/>
            <a:ext cx="2286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28" name="直接连接符 298027"/>
          <p:cNvSpPr/>
          <p:nvPr/>
        </p:nvSpPr>
        <p:spPr>
          <a:xfrm>
            <a:off x="3505200" y="5173663"/>
            <a:ext cx="2286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29" name="直接连接符 298028"/>
          <p:cNvSpPr/>
          <p:nvPr/>
        </p:nvSpPr>
        <p:spPr>
          <a:xfrm>
            <a:off x="3962400" y="5173663"/>
            <a:ext cx="2286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30" name="直接连接符 298029"/>
          <p:cNvSpPr/>
          <p:nvPr/>
        </p:nvSpPr>
        <p:spPr>
          <a:xfrm>
            <a:off x="4419600" y="5173663"/>
            <a:ext cx="2286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31" name="直接连接符 298030"/>
          <p:cNvSpPr/>
          <p:nvPr/>
        </p:nvSpPr>
        <p:spPr>
          <a:xfrm>
            <a:off x="4876800" y="5173663"/>
            <a:ext cx="2286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32" name="直接连接符 298031"/>
          <p:cNvSpPr/>
          <p:nvPr/>
        </p:nvSpPr>
        <p:spPr>
          <a:xfrm>
            <a:off x="5334000" y="5173663"/>
            <a:ext cx="2286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33" name="直接连接符 298032"/>
          <p:cNvSpPr/>
          <p:nvPr/>
        </p:nvSpPr>
        <p:spPr>
          <a:xfrm>
            <a:off x="6248400" y="5173663"/>
            <a:ext cx="2286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34" name="直接连接符 298033"/>
          <p:cNvSpPr/>
          <p:nvPr/>
        </p:nvSpPr>
        <p:spPr>
          <a:xfrm>
            <a:off x="6705600" y="5173663"/>
            <a:ext cx="2286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35" name="直接连接符 298034"/>
          <p:cNvSpPr/>
          <p:nvPr/>
        </p:nvSpPr>
        <p:spPr>
          <a:xfrm>
            <a:off x="7162800" y="5173663"/>
            <a:ext cx="2286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36" name="直接连接符 298035"/>
          <p:cNvSpPr/>
          <p:nvPr/>
        </p:nvSpPr>
        <p:spPr>
          <a:xfrm>
            <a:off x="1447800" y="4564063"/>
            <a:ext cx="2286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37" name="直接连接符 298036"/>
          <p:cNvSpPr/>
          <p:nvPr/>
        </p:nvSpPr>
        <p:spPr>
          <a:xfrm>
            <a:off x="1905000" y="4564063"/>
            <a:ext cx="2286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38" name="直接连接符 298037"/>
          <p:cNvSpPr/>
          <p:nvPr/>
        </p:nvSpPr>
        <p:spPr>
          <a:xfrm>
            <a:off x="2362200" y="4564063"/>
            <a:ext cx="2286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39" name="直接连接符 298038"/>
          <p:cNvSpPr/>
          <p:nvPr/>
        </p:nvSpPr>
        <p:spPr>
          <a:xfrm>
            <a:off x="2819400" y="4564063"/>
            <a:ext cx="2286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40" name="直接连接符 298039"/>
          <p:cNvSpPr/>
          <p:nvPr/>
        </p:nvSpPr>
        <p:spPr>
          <a:xfrm>
            <a:off x="3733800" y="4564063"/>
            <a:ext cx="2286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41" name="直接连接符 298040"/>
          <p:cNvSpPr/>
          <p:nvPr/>
        </p:nvSpPr>
        <p:spPr>
          <a:xfrm>
            <a:off x="3276600" y="4564063"/>
            <a:ext cx="2286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42" name="直接连接符 298041"/>
          <p:cNvSpPr/>
          <p:nvPr/>
        </p:nvSpPr>
        <p:spPr>
          <a:xfrm>
            <a:off x="4191000" y="4564063"/>
            <a:ext cx="2286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43" name="直接连接符 298042"/>
          <p:cNvSpPr/>
          <p:nvPr/>
        </p:nvSpPr>
        <p:spPr>
          <a:xfrm>
            <a:off x="4648200" y="4564063"/>
            <a:ext cx="2286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44" name="直接连接符 298043"/>
          <p:cNvSpPr/>
          <p:nvPr/>
        </p:nvSpPr>
        <p:spPr>
          <a:xfrm>
            <a:off x="5105400" y="4564063"/>
            <a:ext cx="2286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45" name="直接连接符 298044"/>
          <p:cNvSpPr/>
          <p:nvPr/>
        </p:nvSpPr>
        <p:spPr>
          <a:xfrm>
            <a:off x="5562600" y="4564063"/>
            <a:ext cx="2286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46" name="直接连接符 298045"/>
          <p:cNvSpPr/>
          <p:nvPr/>
        </p:nvSpPr>
        <p:spPr>
          <a:xfrm>
            <a:off x="6019800" y="4564063"/>
            <a:ext cx="2286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47" name="直接连接符 298046"/>
          <p:cNvSpPr/>
          <p:nvPr/>
        </p:nvSpPr>
        <p:spPr>
          <a:xfrm>
            <a:off x="6477000" y="4564063"/>
            <a:ext cx="2286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48" name="直接连接符 298047"/>
          <p:cNvSpPr/>
          <p:nvPr/>
        </p:nvSpPr>
        <p:spPr>
          <a:xfrm>
            <a:off x="6934200" y="4564063"/>
            <a:ext cx="2286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49" name="直接连接符 298048"/>
          <p:cNvSpPr/>
          <p:nvPr/>
        </p:nvSpPr>
        <p:spPr>
          <a:xfrm flipV="1">
            <a:off x="1447800" y="2344738"/>
            <a:ext cx="0" cy="20574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50" name="直接连接符 298049"/>
          <p:cNvSpPr/>
          <p:nvPr/>
        </p:nvSpPr>
        <p:spPr>
          <a:xfrm flipV="1">
            <a:off x="8305800" y="2278063"/>
            <a:ext cx="0" cy="20574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51" name="直接连接符 298050"/>
          <p:cNvSpPr/>
          <p:nvPr/>
        </p:nvSpPr>
        <p:spPr>
          <a:xfrm flipV="1">
            <a:off x="3276600" y="3382963"/>
            <a:ext cx="0" cy="6858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52" name="直接连接符 298051"/>
          <p:cNvSpPr/>
          <p:nvPr/>
        </p:nvSpPr>
        <p:spPr>
          <a:xfrm flipV="1">
            <a:off x="5105400" y="3382963"/>
            <a:ext cx="0" cy="6096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53" name="直接连接符 298052"/>
          <p:cNvSpPr/>
          <p:nvPr/>
        </p:nvSpPr>
        <p:spPr>
          <a:xfrm>
            <a:off x="4419600" y="3725863"/>
            <a:ext cx="7620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98054" name="直接连接符 298053"/>
          <p:cNvSpPr/>
          <p:nvPr/>
        </p:nvSpPr>
        <p:spPr>
          <a:xfrm flipH="1">
            <a:off x="3352800" y="3725863"/>
            <a:ext cx="6096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98055" name="直接连接符 298054"/>
          <p:cNvSpPr/>
          <p:nvPr/>
        </p:nvSpPr>
        <p:spPr>
          <a:xfrm>
            <a:off x="7391400" y="4564063"/>
            <a:ext cx="0" cy="6096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56" name="直接连接符 298055"/>
          <p:cNvSpPr/>
          <p:nvPr/>
        </p:nvSpPr>
        <p:spPr>
          <a:xfrm>
            <a:off x="7391400" y="4564063"/>
            <a:ext cx="2286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57" name="直接连接符 298056"/>
          <p:cNvSpPr/>
          <p:nvPr/>
        </p:nvSpPr>
        <p:spPr>
          <a:xfrm>
            <a:off x="7620000" y="4564063"/>
            <a:ext cx="0" cy="6096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58" name="直接连接符 298057"/>
          <p:cNvSpPr/>
          <p:nvPr/>
        </p:nvSpPr>
        <p:spPr>
          <a:xfrm>
            <a:off x="7620000" y="5173663"/>
            <a:ext cx="2286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59" name="直接连接符 298058"/>
          <p:cNvSpPr/>
          <p:nvPr/>
        </p:nvSpPr>
        <p:spPr>
          <a:xfrm flipV="1">
            <a:off x="7848600" y="4564063"/>
            <a:ext cx="0" cy="6096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60" name="直接连接符 298059"/>
          <p:cNvSpPr/>
          <p:nvPr/>
        </p:nvSpPr>
        <p:spPr>
          <a:xfrm>
            <a:off x="7848600" y="4564063"/>
            <a:ext cx="2286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61" name="直接连接符 298060"/>
          <p:cNvSpPr/>
          <p:nvPr/>
        </p:nvSpPr>
        <p:spPr>
          <a:xfrm>
            <a:off x="8077200" y="4564063"/>
            <a:ext cx="0" cy="6096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62" name="直接连接符 298061"/>
          <p:cNvSpPr/>
          <p:nvPr/>
        </p:nvSpPr>
        <p:spPr>
          <a:xfrm>
            <a:off x="8077200" y="5173663"/>
            <a:ext cx="2286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63" name="文本框 298062"/>
          <p:cNvSpPr txBox="1"/>
          <p:nvPr/>
        </p:nvSpPr>
        <p:spPr>
          <a:xfrm>
            <a:off x="5715000" y="4945063"/>
            <a:ext cx="304800" cy="33655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/>
          <a:p>
            <a:pPr lvl="0">
              <a:spcBef>
                <a:spcPct val="50000"/>
              </a:spcBef>
              <a:buClr>
                <a:srgbClr val="800000"/>
              </a:buClr>
            </a:pPr>
            <a:r>
              <a:rPr lang="zh-CN" altLang="en-US" sz="1600" b="1">
                <a:latin typeface="Times New Roman" panose="02020603050405020304" pitchFamily="18" charset="0"/>
                <a:ea typeface="Arial Unicode MS" panose="020B0604020202020204" pitchFamily="34" charset="-122"/>
              </a:rPr>
              <a:t>∬</a:t>
            </a:r>
          </a:p>
        </p:txBody>
      </p:sp>
      <p:sp>
        <p:nvSpPr>
          <p:cNvPr id="298064" name="直接连接符 298063"/>
          <p:cNvSpPr/>
          <p:nvPr/>
        </p:nvSpPr>
        <p:spPr>
          <a:xfrm>
            <a:off x="5791200" y="5173663"/>
            <a:ext cx="762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65" name="直接连接符 298064"/>
          <p:cNvSpPr/>
          <p:nvPr/>
        </p:nvSpPr>
        <p:spPr>
          <a:xfrm>
            <a:off x="5943600" y="5173663"/>
            <a:ext cx="762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66" name="矩形 298065"/>
          <p:cNvSpPr/>
          <p:nvPr/>
        </p:nvSpPr>
        <p:spPr>
          <a:xfrm>
            <a:off x="5791200" y="3557588"/>
            <a:ext cx="381000" cy="33655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/>
          <a:p>
            <a:pPr lvl="0">
              <a:spcBef>
                <a:spcPct val="20000"/>
              </a:spcBef>
              <a:buClr>
                <a:srgbClr val="800000"/>
              </a:buClr>
            </a:pPr>
            <a:r>
              <a:rPr lang="zh-CN" altLang="en-US" sz="1600" b="1">
                <a:latin typeface="Times New Roman" panose="02020603050405020304" pitchFamily="18" charset="0"/>
                <a:ea typeface="Arial Unicode MS" panose="020B0604020202020204" pitchFamily="34" charset="-122"/>
              </a:rPr>
              <a:t>∬</a:t>
            </a:r>
          </a:p>
        </p:txBody>
      </p:sp>
      <p:sp>
        <p:nvSpPr>
          <p:cNvPr id="298067" name="直接连接符 298066"/>
          <p:cNvSpPr/>
          <p:nvPr/>
        </p:nvSpPr>
        <p:spPr>
          <a:xfrm flipV="1">
            <a:off x="6477000" y="3459163"/>
            <a:ext cx="0" cy="5334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68" name="直接连接符 298067"/>
          <p:cNvSpPr/>
          <p:nvPr/>
        </p:nvSpPr>
        <p:spPr>
          <a:xfrm>
            <a:off x="6019800" y="3738563"/>
            <a:ext cx="4572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98069" name="直接连接符 298068"/>
          <p:cNvSpPr/>
          <p:nvPr/>
        </p:nvSpPr>
        <p:spPr>
          <a:xfrm flipH="1">
            <a:off x="6477000" y="3725863"/>
            <a:ext cx="5334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98070" name="直接连接符 298069"/>
          <p:cNvSpPr/>
          <p:nvPr/>
        </p:nvSpPr>
        <p:spPr>
          <a:xfrm>
            <a:off x="7543800" y="3738563"/>
            <a:ext cx="7620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98071" name="直接连接符 298070"/>
          <p:cNvSpPr/>
          <p:nvPr/>
        </p:nvSpPr>
        <p:spPr>
          <a:xfrm flipH="1">
            <a:off x="5105400" y="3725863"/>
            <a:ext cx="8382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98072" name="直接连接符 298071"/>
          <p:cNvSpPr/>
          <p:nvPr/>
        </p:nvSpPr>
        <p:spPr>
          <a:xfrm>
            <a:off x="2895600" y="3725863"/>
            <a:ext cx="3810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98073" name="直接连接符 298072"/>
          <p:cNvSpPr/>
          <p:nvPr/>
        </p:nvSpPr>
        <p:spPr>
          <a:xfrm flipH="1">
            <a:off x="1447800" y="3725863"/>
            <a:ext cx="4572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98074" name="文本框 298073"/>
          <p:cNvSpPr txBox="1"/>
          <p:nvPr/>
        </p:nvSpPr>
        <p:spPr>
          <a:xfrm>
            <a:off x="3886200" y="3497263"/>
            <a:ext cx="573088" cy="45720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/>
          <a:p>
            <a:pPr lvl="0">
              <a:spcBef>
                <a:spcPct val="20000"/>
              </a:spcBef>
              <a:buClr>
                <a:srgbClr val="800000"/>
              </a:buClr>
            </a:pPr>
            <a:r>
              <a:rPr lang="en-US" altLang="zh-CN" sz="2400" b="1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lang="en-US" altLang="zh-CN" sz="2400" b="1" baseline="-25000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endParaRPr lang="en-US" altLang="zh-CN" sz="2400" b="1">
              <a:solidFill>
                <a:srgbClr val="8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98075" name="矩形 298074"/>
          <p:cNvSpPr/>
          <p:nvPr/>
        </p:nvSpPr>
        <p:spPr>
          <a:xfrm>
            <a:off x="7010400" y="3497263"/>
            <a:ext cx="573088" cy="457200"/>
          </a:xfrm>
          <a:prstGeom prst="rect">
            <a:avLst/>
          </a:prstGeom>
          <a:noFill/>
          <a:ln w="19050">
            <a:noFill/>
          </a:ln>
        </p:spPr>
        <p:txBody>
          <a:bodyPr wrap="none" anchor="t">
            <a:spAutoFit/>
          </a:bodyPr>
          <a:lstStyle/>
          <a:p>
            <a:pPr lvl="0">
              <a:spcBef>
                <a:spcPct val="20000"/>
              </a:spcBef>
              <a:buClr>
                <a:srgbClr val="800000"/>
              </a:buClr>
            </a:pPr>
            <a:r>
              <a:rPr lang="en-US" altLang="zh-CN" sz="2400" b="1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lang="en-US" altLang="zh-CN" sz="2400" b="1" baseline="-25000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5</a:t>
            </a:r>
          </a:p>
        </p:txBody>
      </p:sp>
      <p:sp>
        <p:nvSpPr>
          <p:cNvPr id="298076" name="文本框 298075"/>
          <p:cNvSpPr txBox="1"/>
          <p:nvPr/>
        </p:nvSpPr>
        <p:spPr>
          <a:xfrm>
            <a:off x="304800" y="4945063"/>
            <a:ext cx="914400" cy="45720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/>
          <a:p>
            <a:pPr lvl="0">
              <a:spcBef>
                <a:spcPct val="50000"/>
              </a:spcBef>
              <a:buClr>
                <a:srgbClr val="800000"/>
              </a:buClr>
            </a:pPr>
            <a:r>
              <a:rPr lang="en-US" altLang="zh-CN" sz="2400" b="1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CLK</a:t>
            </a:r>
          </a:p>
        </p:txBody>
      </p:sp>
      <p:sp>
        <p:nvSpPr>
          <p:cNvPr id="298077" name="文本框 298076"/>
          <p:cNvSpPr txBox="1"/>
          <p:nvPr/>
        </p:nvSpPr>
        <p:spPr>
          <a:xfrm>
            <a:off x="2743200" y="4183063"/>
            <a:ext cx="457200" cy="33655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/>
          <a:p>
            <a:pPr lvl="0">
              <a:spcBef>
                <a:spcPct val="20000"/>
              </a:spcBef>
              <a:buClr>
                <a:srgbClr val="800000"/>
              </a:buClr>
            </a:pPr>
            <a:r>
              <a:rPr lang="en-US" altLang="zh-CN" sz="1600" b="1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lang="en-US" altLang="zh-CN" sz="1600" b="1" baseline="-25000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4</a:t>
            </a:r>
          </a:p>
        </p:txBody>
      </p:sp>
      <p:sp>
        <p:nvSpPr>
          <p:cNvPr id="298078" name="矩形 298077"/>
          <p:cNvSpPr/>
          <p:nvPr/>
        </p:nvSpPr>
        <p:spPr>
          <a:xfrm>
            <a:off x="2286000" y="4206875"/>
            <a:ext cx="457200" cy="33655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/>
          <a:p>
            <a:pPr lvl="0">
              <a:spcBef>
                <a:spcPct val="20000"/>
              </a:spcBef>
              <a:buClr>
                <a:srgbClr val="800000"/>
              </a:buClr>
            </a:pPr>
            <a:r>
              <a:rPr lang="en-US" altLang="zh-CN" sz="1600" b="1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lang="en-US" altLang="zh-CN" sz="1600" b="1" baseline="-25000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</a:p>
        </p:txBody>
      </p:sp>
      <p:sp>
        <p:nvSpPr>
          <p:cNvPr id="298079" name="矩形 298078"/>
          <p:cNvSpPr/>
          <p:nvPr/>
        </p:nvSpPr>
        <p:spPr>
          <a:xfrm>
            <a:off x="1447800" y="4206875"/>
            <a:ext cx="388938" cy="336550"/>
          </a:xfrm>
          <a:prstGeom prst="rect">
            <a:avLst/>
          </a:prstGeom>
          <a:noFill/>
          <a:ln w="19050">
            <a:noFill/>
          </a:ln>
        </p:spPr>
        <p:txBody>
          <a:bodyPr wrap="none" anchor="t">
            <a:spAutoFit/>
          </a:bodyPr>
          <a:lstStyle/>
          <a:p>
            <a:pPr lvl="0">
              <a:spcBef>
                <a:spcPct val="20000"/>
              </a:spcBef>
              <a:buClr>
                <a:srgbClr val="800000"/>
              </a:buClr>
            </a:pPr>
            <a:r>
              <a:rPr lang="en-US" altLang="zh-CN" sz="1600" b="1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lang="en-US" altLang="zh-CN" sz="1600" b="1" baseline="-25000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</a:p>
        </p:txBody>
      </p:sp>
      <p:sp>
        <p:nvSpPr>
          <p:cNvPr id="298080" name="矩形 298079"/>
          <p:cNvSpPr/>
          <p:nvPr/>
        </p:nvSpPr>
        <p:spPr>
          <a:xfrm>
            <a:off x="1828800" y="4183063"/>
            <a:ext cx="457200" cy="336550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/>
          <a:p>
            <a:pPr lvl="0">
              <a:spcBef>
                <a:spcPct val="20000"/>
              </a:spcBef>
              <a:buClr>
                <a:srgbClr val="800000"/>
              </a:buClr>
            </a:pPr>
            <a:r>
              <a:rPr lang="en-US" altLang="zh-CN" sz="1600" b="1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lang="en-US" altLang="zh-CN" sz="1600" b="1" baseline="-25000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</a:p>
        </p:txBody>
      </p:sp>
      <p:sp>
        <p:nvSpPr>
          <p:cNvPr id="298081" name="直接连接符 298080"/>
          <p:cNvSpPr/>
          <p:nvPr/>
        </p:nvSpPr>
        <p:spPr>
          <a:xfrm flipV="1">
            <a:off x="8305800" y="4564063"/>
            <a:ext cx="0" cy="6096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82" name="直接连接符 298081"/>
          <p:cNvSpPr/>
          <p:nvPr/>
        </p:nvSpPr>
        <p:spPr>
          <a:xfrm>
            <a:off x="8305800" y="4564063"/>
            <a:ext cx="2286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83" name="直接连接符 298082"/>
          <p:cNvSpPr/>
          <p:nvPr/>
        </p:nvSpPr>
        <p:spPr>
          <a:xfrm>
            <a:off x="8534400" y="4564063"/>
            <a:ext cx="0" cy="6096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84" name="直接连接符 298083"/>
          <p:cNvSpPr/>
          <p:nvPr/>
        </p:nvSpPr>
        <p:spPr>
          <a:xfrm>
            <a:off x="8534400" y="5173663"/>
            <a:ext cx="2286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8085" name="文本框 298084"/>
          <p:cNvSpPr txBox="1"/>
          <p:nvPr/>
        </p:nvSpPr>
        <p:spPr>
          <a:xfrm>
            <a:off x="1855470" y="3494088"/>
            <a:ext cx="1276350" cy="754062"/>
          </a:xfrm>
          <a:prstGeom prst="rect">
            <a:avLst/>
          </a:prstGeom>
          <a:noFill/>
          <a:ln w="19050">
            <a:noFill/>
          </a:ln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>
              <a:buNone/>
            </a:pPr>
            <a:r>
              <a:rPr lang="zh-CN" altLang="en-US" sz="2400"/>
              <a:t>    </a:t>
            </a:r>
            <a:r>
              <a:rPr lang="en-US" altLang="zh-CN" sz="2400"/>
              <a:t>M</a:t>
            </a:r>
            <a:r>
              <a:rPr lang="en-US" altLang="zh-CN" sz="2400" baseline="-25000"/>
              <a:t>1</a:t>
            </a:r>
          </a:p>
          <a:p>
            <a:pPr lvl="0">
              <a:buNone/>
            </a:pPr>
            <a:r>
              <a:rPr lang="zh-CN" altLang="en-US" sz="1800" dirty="0"/>
              <a:t>机器周期</a:t>
            </a:r>
          </a:p>
        </p:txBody>
      </p:sp>
      <p:sp>
        <p:nvSpPr>
          <p:cNvPr id="298086" name="直接连接符 298085"/>
          <p:cNvSpPr/>
          <p:nvPr/>
        </p:nvSpPr>
        <p:spPr>
          <a:xfrm>
            <a:off x="6172200" y="2963863"/>
            <a:ext cx="20574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98087" name="直接连接符 298086"/>
          <p:cNvSpPr/>
          <p:nvPr/>
        </p:nvSpPr>
        <p:spPr>
          <a:xfrm flipH="1">
            <a:off x="1447800" y="2887663"/>
            <a:ext cx="20574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98088" name="文本框 298087"/>
          <p:cNvSpPr txBox="1"/>
          <p:nvPr/>
        </p:nvSpPr>
        <p:spPr>
          <a:xfrm>
            <a:off x="3565525" y="2497138"/>
            <a:ext cx="2603500" cy="849312"/>
          </a:xfrm>
          <a:prstGeom prst="rect">
            <a:avLst/>
          </a:prstGeom>
          <a:noFill/>
          <a:ln w="19050">
            <a:noFill/>
          </a:ln>
        </p:spPr>
        <p:txBody>
          <a:bodyPr wrap="none" anchor="t">
            <a:spAutoFit/>
          </a:bodyPr>
          <a:lstStyle/>
          <a:p>
            <a:pPr lvl="0">
              <a:spcBef>
                <a:spcPct val="20000"/>
              </a:spcBef>
              <a:buClr>
                <a:srgbClr val="800000"/>
              </a:buClr>
            </a:pPr>
            <a:r>
              <a:rPr lang="zh-CN" altLang="en-US" sz="2800" b="1" dirty="0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    指令周期</a:t>
            </a:r>
          </a:p>
          <a:p>
            <a:pPr lvl="0">
              <a:spcBef>
                <a:spcPct val="20000"/>
              </a:spcBef>
              <a:buClr>
                <a:srgbClr val="800000"/>
              </a:buClr>
            </a:pPr>
            <a:r>
              <a:rPr lang="zh-CN" altLang="en-US" sz="1800" b="1" dirty="0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（包括</a:t>
            </a:r>
            <a:r>
              <a:rPr lang="en-US" altLang="zh-CN" sz="1800" b="1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1~5</a:t>
            </a:r>
            <a:r>
              <a:rPr lang="zh-CN" altLang="en-US" sz="1800" b="1" dirty="0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个机器周期）</a:t>
            </a:r>
          </a:p>
        </p:txBody>
      </p:sp>
      <p:sp>
        <p:nvSpPr>
          <p:cNvPr id="298089" name="文本框 298088"/>
          <p:cNvSpPr txBox="1"/>
          <p:nvPr/>
        </p:nvSpPr>
        <p:spPr>
          <a:xfrm>
            <a:off x="228600" y="1363663"/>
            <a:ext cx="7467600" cy="519112"/>
          </a:xfrm>
          <a:prstGeom prst="rect">
            <a:avLst/>
          </a:prstGeom>
          <a:noFill/>
          <a:ln w="19050">
            <a:noFill/>
          </a:ln>
        </p:spPr>
        <p:txBody>
          <a:bodyPr>
            <a:spAutoFit/>
          </a:bodyPr>
          <a:lstStyle/>
          <a:p>
            <a:pPr lvl="0">
              <a:spcBef>
                <a:spcPct val="20000"/>
              </a:spcBef>
              <a:buClr>
                <a:srgbClr val="800000"/>
              </a:buClr>
            </a:pPr>
            <a:r>
              <a:rPr lang="zh-CN" altLang="en-US" sz="2800" b="1" dirty="0">
                <a:solidFill>
                  <a:srgbClr val="800000"/>
                </a:solidFill>
                <a:latin typeface="Times New Roman" panose="02020603050405020304" pitchFamily="18" charset="0"/>
                <a:ea typeface="楷体_GB2312" pitchFamily="49" charset="-122"/>
              </a:rPr>
              <a:t>指令周期、机器周期与时钟周期的关系图</a:t>
            </a:r>
          </a:p>
        </p:txBody>
      </p:sp>
      <p:sp>
        <p:nvSpPr>
          <p:cNvPr id="105" name="矩形 104"/>
          <p:cNvSpPr/>
          <p:nvPr/>
        </p:nvSpPr>
        <p:spPr>
          <a:xfrm>
            <a:off x="682625" y="188913"/>
            <a:ext cx="7849815" cy="4318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2.3 8086 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微处理器的外部引脚及工作模式</a:t>
            </a:r>
            <a:r>
              <a:rPr lang="zh-CN" altLang="en-US" dirty="0"/>
              <a:t>  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112" name="矩形 299111"/>
          <p:cNvSpPr/>
          <p:nvPr/>
        </p:nvSpPr>
        <p:spPr>
          <a:xfrm>
            <a:off x="250825" y="1555750"/>
            <a:ext cx="8642350" cy="2665413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179705" lvl="1" indent="0" defTabSz="247650">
              <a:buNone/>
              <a:tabLst>
                <a:tab pos="952500" algn="l"/>
                <a:tab pos="1524000" algn="l"/>
              </a:tabLst>
            </a:pPr>
            <a:r>
              <a:rPr lang="zh-CN" altLang="en-US" sz="2400" b="1" dirty="0"/>
              <a:t>根据所连的</a:t>
            </a:r>
            <a:r>
              <a:rPr lang="zh-CN" altLang="en-US" sz="2400" b="1" dirty="0">
                <a:solidFill>
                  <a:srgbClr val="452DF5"/>
                </a:solidFill>
              </a:rPr>
              <a:t>存储器和外设</a:t>
            </a:r>
            <a:r>
              <a:rPr lang="zh-CN" altLang="en-US" sz="2400" b="1" dirty="0"/>
              <a:t>的规模， </a:t>
            </a:r>
            <a:r>
              <a:rPr lang="en-US" altLang="zh-CN" sz="2400" b="1" dirty="0"/>
              <a:t>8086</a:t>
            </a:r>
            <a:r>
              <a:rPr lang="zh-CN" altLang="en-US" sz="2400" b="1" dirty="0"/>
              <a:t>可以有</a:t>
            </a:r>
            <a:r>
              <a:rPr lang="zh-CN" altLang="en-US" sz="2400" b="1" dirty="0">
                <a:solidFill>
                  <a:srgbClr val="452DF5"/>
                </a:solidFill>
              </a:rPr>
              <a:t>两种</a:t>
            </a:r>
            <a:r>
              <a:rPr lang="zh-CN" altLang="en-US" sz="2400" b="1" dirty="0"/>
              <a:t>不同的工作模式。</a:t>
            </a:r>
          </a:p>
          <a:p>
            <a:pPr marL="179705" lvl="1" indent="0" defTabSz="247650">
              <a:buNone/>
              <a:tabLst>
                <a:tab pos="952500" algn="l"/>
                <a:tab pos="1524000" algn="l"/>
              </a:tabLst>
            </a:pPr>
            <a:r>
              <a:rPr lang="zh-CN" altLang="en-US" sz="2400" b="1" dirty="0">
                <a:solidFill>
                  <a:srgbClr val="FF00FF"/>
                </a:solidFill>
              </a:rPr>
              <a:t>最小模式</a:t>
            </a:r>
            <a:r>
              <a:rPr lang="zh-CN" altLang="en-US" sz="2400" b="1" dirty="0"/>
              <a:t>：系统中只有</a:t>
            </a:r>
            <a:r>
              <a:rPr lang="zh-CN" altLang="en-US" sz="2400" b="1" dirty="0">
                <a:solidFill>
                  <a:srgbClr val="FF00FF"/>
                </a:solidFill>
              </a:rPr>
              <a:t>一个</a:t>
            </a:r>
            <a:r>
              <a:rPr lang="en-US" altLang="zh-CN" sz="2400" b="1" dirty="0"/>
              <a:t>8086</a:t>
            </a:r>
            <a:r>
              <a:rPr lang="zh-CN" altLang="en-US" sz="2400" b="1" dirty="0"/>
              <a:t>微处理器，所有的总线控制信号都直接由</a:t>
            </a:r>
            <a:r>
              <a:rPr lang="en-US" altLang="zh-CN" sz="2400" b="1" dirty="0"/>
              <a:t>8086 CPU</a:t>
            </a:r>
            <a:r>
              <a:rPr lang="zh-CN" altLang="en-US" sz="2400" b="1" dirty="0"/>
              <a:t>产生；</a:t>
            </a:r>
          </a:p>
          <a:p>
            <a:pPr marL="179705" lvl="1" indent="0" defTabSz="247650">
              <a:buNone/>
              <a:tabLst>
                <a:tab pos="952500" algn="l"/>
                <a:tab pos="1524000" algn="l"/>
              </a:tabLst>
            </a:pPr>
            <a:r>
              <a:rPr lang="zh-CN" altLang="en-US" sz="2400" b="1" dirty="0">
                <a:solidFill>
                  <a:srgbClr val="FF00FF"/>
                </a:solidFill>
              </a:rPr>
              <a:t>最大模式</a:t>
            </a:r>
            <a:r>
              <a:rPr lang="zh-CN" altLang="en-US" sz="2400" b="1" dirty="0"/>
              <a:t>：系统中总是包含</a:t>
            </a:r>
            <a:r>
              <a:rPr lang="zh-CN" altLang="en-US" sz="2400" b="1" dirty="0">
                <a:solidFill>
                  <a:srgbClr val="FF00FF"/>
                </a:solidFill>
              </a:rPr>
              <a:t>两个</a:t>
            </a:r>
            <a:r>
              <a:rPr lang="zh-CN" altLang="en-US" sz="2400" b="1" dirty="0"/>
              <a:t>或</a:t>
            </a:r>
            <a:r>
              <a:rPr lang="zh-CN" altLang="en-US" sz="2400" b="1" dirty="0">
                <a:solidFill>
                  <a:srgbClr val="FF00FF"/>
                </a:solidFill>
              </a:rPr>
              <a:t>多个</a:t>
            </a:r>
            <a:r>
              <a:rPr lang="zh-CN" altLang="en-US" sz="2400" b="1" dirty="0"/>
              <a:t>微处理器，其中主处理器是</a:t>
            </a:r>
            <a:r>
              <a:rPr lang="en-US" altLang="zh-CN" sz="2400" b="1" dirty="0"/>
              <a:t>8086</a:t>
            </a:r>
            <a:r>
              <a:rPr lang="zh-CN" altLang="en-US" sz="2400" b="1" dirty="0"/>
              <a:t>，其它的处理器称为协处理器</a:t>
            </a:r>
            <a:r>
              <a:rPr lang="zh-CN" altLang="en-US" sz="3200" dirty="0"/>
              <a:t> </a:t>
            </a:r>
          </a:p>
        </p:txBody>
      </p:sp>
      <p:sp>
        <p:nvSpPr>
          <p:cNvPr id="299113" name="矩形 299112"/>
          <p:cNvSpPr/>
          <p:nvPr/>
        </p:nvSpPr>
        <p:spPr>
          <a:xfrm>
            <a:off x="827088" y="4508500"/>
            <a:ext cx="6869112" cy="1225550"/>
          </a:xfrm>
          <a:noFill/>
          <a:ln w="9525">
            <a:noFill/>
          </a:ln>
        </p:spPr>
        <p:txBody>
          <a:bodyPr/>
          <a:lstStyle/>
          <a:p>
            <a:pPr marL="342900" lvl="0" indent="-342900" algn="just">
              <a:lnSpc>
                <a:spcPct val="13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q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引脚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33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决定工作模式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:      </a:t>
            </a:r>
          </a:p>
          <a:p>
            <a:pPr marL="342900" lvl="0" indent="-342900">
              <a:lnSpc>
                <a:spcPct val="13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q"/>
            </a:pP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  <a:sym typeface="Monotype Sorts" pitchFamily="2" charset="2"/>
              </a:rPr>
              <a:t> 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两种模式下引脚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24~31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有不同的名称和意义</a:t>
            </a:r>
          </a:p>
        </p:txBody>
      </p:sp>
      <p:sp>
        <p:nvSpPr>
          <p:cNvPr id="299115" name="矩形 299114"/>
          <p:cNvSpPr/>
          <p:nvPr/>
        </p:nvSpPr>
        <p:spPr>
          <a:xfrm>
            <a:off x="395288" y="836712"/>
            <a:ext cx="5089855" cy="52322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>
              <a:buClrTx/>
            </a:pP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二、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8086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CPU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的两种工作模式</a:t>
            </a:r>
          </a:p>
        </p:txBody>
      </p:sp>
      <p:sp>
        <p:nvSpPr>
          <p:cNvPr id="6" name="矩形 5"/>
          <p:cNvSpPr/>
          <p:nvPr/>
        </p:nvSpPr>
        <p:spPr>
          <a:xfrm>
            <a:off x="682625" y="188913"/>
            <a:ext cx="7849815" cy="4318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2.3 8086 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微处理器的外部引脚及工作模式</a:t>
            </a:r>
            <a:r>
              <a:rPr lang="zh-CN" altLang="en-US" dirty="0"/>
              <a:t>  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37" name="矩形 300036"/>
          <p:cNvSpPr/>
          <p:nvPr/>
        </p:nvSpPr>
        <p:spPr>
          <a:xfrm>
            <a:off x="250825" y="764704"/>
            <a:ext cx="4990469" cy="52322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>
              <a:buClrTx/>
            </a:pP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</a:rPr>
              <a:t>三、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</a:rPr>
              <a:t>8086CPU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</a:rPr>
              <a:t>的引脚及其功能</a:t>
            </a:r>
          </a:p>
        </p:txBody>
      </p:sp>
      <p:sp>
        <p:nvSpPr>
          <p:cNvPr id="300038" name="矩形 300037"/>
          <p:cNvSpPr/>
          <p:nvPr/>
        </p:nvSpPr>
        <p:spPr>
          <a:xfrm>
            <a:off x="323850" y="1263650"/>
            <a:ext cx="2969083" cy="46166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>
              <a:buClrTx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学习引脚前的说明：</a:t>
            </a:r>
          </a:p>
        </p:txBody>
      </p:sp>
      <p:sp>
        <p:nvSpPr>
          <p:cNvPr id="300039" name="矩形 300038"/>
          <p:cNvSpPr/>
          <p:nvPr/>
        </p:nvSpPr>
        <p:spPr>
          <a:xfrm>
            <a:off x="323850" y="1764696"/>
            <a:ext cx="8569325" cy="156966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lvl="0" indent="269875">
              <a:buClr>
                <a:srgbClr val="FF00FF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  引脚功能   指引脚所起的作用，引脚名称大致可以反映，是记忆的基础</a:t>
            </a:r>
            <a:r>
              <a:rPr lang="zh-CN" altLang="en-US" sz="2400" b="1" dirty="0">
                <a:latin typeface="Arial" panose="020B0604020202020204" pitchFamily="34" charset="0"/>
              </a:rPr>
              <a:t>。引脚的几种情况（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引脚功能单一、配合不同的用法有不同的功能、不同的时间段里有不同的功能、通过初始化编程设计功能和属性）。</a:t>
            </a:r>
          </a:p>
        </p:txBody>
      </p:sp>
      <p:sp>
        <p:nvSpPr>
          <p:cNvPr id="300040" name="矩形 300039"/>
          <p:cNvSpPr/>
          <p:nvPr/>
        </p:nvSpPr>
        <p:spPr>
          <a:xfrm>
            <a:off x="322263" y="3356992"/>
            <a:ext cx="8497887" cy="1200329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lvl="0">
              <a:buClr>
                <a:srgbClr val="FF00FF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  引脚流向   引脚方向，从芯片本身流向外部（输出），从外部流入芯片（输入），抑或是双向。譬如，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CPU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的地址线是输出；数据线是双向；控制线（输出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输入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300041" name="矩形 300040"/>
          <p:cNvSpPr/>
          <p:nvPr/>
        </p:nvSpPr>
        <p:spPr>
          <a:xfrm>
            <a:off x="323850" y="4653741"/>
            <a:ext cx="8569325" cy="156845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lvl="0">
              <a:buClr>
                <a:srgbClr val="FF00FF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  有效方式   引脚发挥作用时的特征。引脚</a:t>
            </a:r>
            <a:r>
              <a:rPr lang="zh-CN" altLang="en-US" sz="2400" b="1" dirty="0">
                <a:latin typeface="Arial" panose="020B0604020202020204" pitchFamily="34" charset="0"/>
              </a:rPr>
              <a:t>的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两种有效方式：电平有效（高电平和低电平）；</a:t>
            </a:r>
            <a:r>
              <a:rPr lang="en-US" altLang="zh-CN" sz="2400" b="1" dirty="0">
                <a:latin typeface="Arial" panose="020B0604020202020204" pitchFamily="34" charset="0"/>
              </a:rPr>
              <a:t>  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边沿有效（上升沿有效和下降沿有效，主要针对输入）。低电平有效引脚通常在引脚名上加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一条小横线 </a:t>
            </a:r>
          </a:p>
        </p:txBody>
      </p:sp>
      <p:sp>
        <p:nvSpPr>
          <p:cNvPr id="8" name="矩形 7"/>
          <p:cNvSpPr/>
          <p:nvPr/>
        </p:nvSpPr>
        <p:spPr>
          <a:xfrm>
            <a:off x="682625" y="188913"/>
            <a:ext cx="7849815" cy="4318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2.3 8086 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微处理器的外部引脚及工作模式</a:t>
            </a:r>
            <a:r>
              <a:rPr lang="zh-CN" altLang="en-US" dirty="0"/>
              <a:t>  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064" name="图片 30106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3075" y="1125538"/>
            <a:ext cx="4176713" cy="46085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1065" name="矩形 301064"/>
          <p:cNvSpPr/>
          <p:nvPr/>
        </p:nvSpPr>
        <p:spPr>
          <a:xfrm>
            <a:off x="539750" y="1700213"/>
            <a:ext cx="2889250" cy="26479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>
              <a:buClrTx/>
            </a:pP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8086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微处理器是一个双列直插式、具有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40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个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引脚的器件，受封装引线数目限制，涉及某些引线用来传送多于一种类型的信号</a:t>
            </a:r>
          </a:p>
        </p:txBody>
      </p:sp>
      <p:sp>
        <p:nvSpPr>
          <p:cNvPr id="5" name="矩形 4"/>
          <p:cNvSpPr/>
          <p:nvPr/>
        </p:nvSpPr>
        <p:spPr>
          <a:xfrm>
            <a:off x="682625" y="188913"/>
            <a:ext cx="7849815" cy="4318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2.3 8086 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微处理器的外部引脚及工作模式</a:t>
            </a:r>
            <a:r>
              <a:rPr lang="zh-CN" altLang="en-US" dirty="0"/>
              <a:t>  </a:t>
            </a:r>
          </a:p>
        </p:txBody>
      </p:sp>
      <p:sp>
        <p:nvSpPr>
          <p:cNvPr id="6" name="直接连接符 5">
            <a:extLst>
              <a:ext uri="{FF2B5EF4-FFF2-40B4-BE49-F238E27FC236}">
                <a16:creationId xmlns:a16="http://schemas.microsoft.com/office/drawing/2014/main" id="{8E437451-07A8-4576-A99C-0CBE28C6D720}"/>
              </a:ext>
            </a:extLst>
          </p:cNvPr>
          <p:cNvSpPr/>
          <p:nvPr/>
        </p:nvSpPr>
        <p:spPr>
          <a:xfrm>
            <a:off x="7164288" y="3481958"/>
            <a:ext cx="25548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5" name="矩形 302084"/>
          <p:cNvSpPr/>
          <p:nvPr/>
        </p:nvSpPr>
        <p:spPr>
          <a:xfrm>
            <a:off x="323850" y="792163"/>
            <a:ext cx="564673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lvl="0"/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．两种工作模式下具有相同功能的引脚 </a:t>
            </a:r>
          </a:p>
        </p:txBody>
      </p:sp>
      <p:sp>
        <p:nvSpPr>
          <p:cNvPr id="302086" name="矩形 302085"/>
          <p:cNvSpPr/>
          <p:nvPr/>
        </p:nvSpPr>
        <p:spPr>
          <a:xfrm>
            <a:off x="250825" y="1484313"/>
            <a:ext cx="8642350" cy="985043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>
              <a:defRPr sz="2400" kern="1200"/>
            </a:lvl2pPr>
            <a:lvl3pPr marL="1143000" lvl="2" indent="-228600">
              <a:defRPr sz="2000" kern="1200"/>
            </a:lvl3pPr>
            <a:lvl4pPr marL="1600200" lvl="3" indent="-228600">
              <a:defRPr sz="1800" kern="1200"/>
            </a:lvl4pPr>
            <a:lvl5pPr marL="2057400" lvl="4" indent="-228600">
              <a:defRPr sz="1800" kern="1200"/>
            </a:lvl5pPr>
          </a:lstStyle>
          <a:p>
            <a:pPr marL="0" lvl="0" indent="0">
              <a:buClrTx/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）</a:t>
            </a:r>
            <a:r>
              <a:rPr lang="en-US" altLang="zh-CN" sz="2400" b="1" dirty="0"/>
              <a:t>GND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V</a:t>
            </a:r>
            <a:r>
              <a:rPr lang="en-US" altLang="zh-CN" sz="2400" b="1" baseline="-25000" dirty="0">
                <a:solidFill>
                  <a:schemeClr val="tx1"/>
                </a:solidFill>
                <a:uFillTx/>
              </a:rPr>
              <a:t>CC</a:t>
            </a:r>
            <a:r>
              <a:rPr lang="zh-CN" altLang="en-US" sz="2400" b="1" dirty="0"/>
              <a:t>，地和电源</a:t>
            </a:r>
          </a:p>
          <a:p>
            <a:pPr marL="0" lvl="0" indent="0">
              <a:buClrTx/>
              <a:buNone/>
            </a:pPr>
            <a:r>
              <a:rPr lang="zh-CN" altLang="en-US" sz="2400" b="1" dirty="0"/>
              <a:t>  第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20</a:t>
            </a:r>
            <a:r>
              <a:rPr lang="zh-CN" altLang="en-US" sz="2400" b="1" dirty="0"/>
              <a:t>脚为地；第</a:t>
            </a:r>
            <a:r>
              <a:rPr lang="en-US" altLang="zh-CN" sz="2400" b="1" dirty="0"/>
              <a:t>40</a:t>
            </a:r>
            <a:r>
              <a:rPr lang="zh-CN" altLang="en-US" sz="2400" b="1" dirty="0"/>
              <a:t>脚为电源，</a:t>
            </a:r>
            <a:r>
              <a:rPr lang="en-US" altLang="zh-CN" sz="2400" b="1" dirty="0"/>
              <a:t>8086</a:t>
            </a:r>
            <a:r>
              <a:rPr lang="zh-CN" altLang="en-US" sz="2400" b="1" dirty="0"/>
              <a:t>用单一的十</a:t>
            </a:r>
            <a:r>
              <a:rPr lang="en-US" altLang="zh-CN" sz="2400" b="1" dirty="0"/>
              <a:t>5V</a:t>
            </a:r>
            <a:r>
              <a:rPr lang="zh-CN" altLang="en-US" sz="2400" b="1" dirty="0"/>
              <a:t>电压</a:t>
            </a:r>
          </a:p>
          <a:p>
            <a:pPr marL="0" lvl="0" indent="0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）</a:t>
            </a:r>
            <a:r>
              <a:rPr lang="en-US" altLang="zh-CN" sz="2400" b="1" dirty="0"/>
              <a:t>AD</a:t>
            </a:r>
            <a:r>
              <a:rPr lang="en-US" altLang="zh-CN" sz="2400" b="1" baseline="-25000" dirty="0"/>
              <a:t>0</a:t>
            </a:r>
            <a:r>
              <a:rPr lang="en-US" altLang="zh-CN" sz="2400" b="1" dirty="0"/>
              <a:t>~AD</a:t>
            </a:r>
            <a:r>
              <a:rPr lang="en-US" altLang="zh-CN" sz="2400" b="1" baseline="-25000" dirty="0"/>
              <a:t>15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双向，三态</a:t>
            </a:r>
            <a:r>
              <a:rPr lang="en-US" altLang="zh-CN" sz="2400" b="1" dirty="0"/>
              <a:t>)</a:t>
            </a:r>
            <a:r>
              <a:rPr lang="zh-CN" altLang="en-US" sz="2400" b="1" dirty="0"/>
              <a:t>：地址</a:t>
            </a:r>
            <a:r>
              <a:rPr lang="en-US" altLang="zh-CN" sz="2400" b="1" dirty="0"/>
              <a:t>/</a:t>
            </a:r>
            <a:r>
              <a:rPr lang="zh-CN" altLang="en-US" sz="2400" b="1" dirty="0"/>
              <a:t>数据复用引脚线。</a:t>
            </a:r>
            <a:endParaRPr lang="en-US" altLang="zh-CN" sz="2400" b="1" dirty="0"/>
          </a:p>
          <a:p>
            <a:pPr marL="0" lvl="0" indent="0">
              <a:lnSpc>
                <a:spcPct val="115000"/>
              </a:lnSpc>
              <a:buFont typeface="Wingdings" panose="05000000000000000000" pitchFamily="2" charset="2"/>
              <a:buNone/>
            </a:pPr>
            <a:endParaRPr lang="en-US" altLang="zh-CN" sz="2400" b="1" dirty="0"/>
          </a:p>
          <a:p>
            <a:pPr marL="0" lvl="0" indent="0">
              <a:lnSpc>
                <a:spcPct val="115000"/>
              </a:lnSpc>
              <a:buFont typeface="Wingdings" panose="05000000000000000000" pitchFamily="2" charset="2"/>
              <a:buNone/>
            </a:pPr>
            <a:endParaRPr lang="en-US" altLang="zh-CN" sz="2400" b="1" dirty="0"/>
          </a:p>
          <a:p>
            <a:pPr marL="0" lvl="0" indent="0">
              <a:lnSpc>
                <a:spcPct val="115000"/>
              </a:lnSpc>
              <a:buFont typeface="Wingdings" panose="05000000000000000000" pitchFamily="2" charset="2"/>
              <a:buNone/>
            </a:pPr>
            <a:endParaRPr lang="en-US" altLang="zh-CN" sz="2400" b="1" dirty="0"/>
          </a:p>
          <a:p>
            <a:pPr marL="0" lvl="0" indent="0">
              <a:lnSpc>
                <a:spcPct val="115000"/>
              </a:lnSpc>
              <a:buFont typeface="Wingdings" panose="05000000000000000000" pitchFamily="2" charset="2"/>
              <a:buNone/>
            </a:pPr>
            <a:endParaRPr lang="en-US" altLang="zh-CN" sz="2400" b="1" dirty="0"/>
          </a:p>
        </p:txBody>
      </p:sp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468313" y="5501853"/>
            <a:ext cx="4032250" cy="87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400" b="1" dirty="0"/>
              <a:t> </a:t>
            </a:r>
            <a:r>
              <a:rPr lang="en-US" altLang="zh-CN" sz="2300" b="1" dirty="0"/>
              <a:t>③ </a:t>
            </a:r>
            <a:r>
              <a:rPr lang="zh-CN" altLang="en-US" sz="2300" b="1" dirty="0"/>
              <a:t>在</a:t>
            </a:r>
            <a:r>
              <a:rPr lang="en-US" altLang="zh-CN" sz="2300" b="1" dirty="0">
                <a:hlinkClick r:id="rId2" action="ppaction://hlinksldjump"/>
              </a:rPr>
              <a:t>DMA</a:t>
            </a:r>
            <a:r>
              <a:rPr lang="zh-CN" altLang="en-US" sz="2300" b="1" dirty="0">
                <a:hlinkClick r:id="rId2" action="ppaction://hlinksldjump"/>
              </a:rPr>
              <a:t>方式</a:t>
            </a:r>
            <a:r>
              <a:rPr lang="zh-CN" altLang="en-US" sz="2300" b="1" dirty="0"/>
              <a:t>时，这些引脚成</a:t>
            </a:r>
            <a:r>
              <a:rPr lang="zh-CN" altLang="en-US" sz="2300" b="1" dirty="0">
                <a:solidFill>
                  <a:srgbClr val="0000FF"/>
                </a:solidFill>
              </a:rPr>
              <a:t>浮空</a:t>
            </a:r>
            <a:r>
              <a:rPr lang="zh-CN" altLang="en-US" sz="2300" b="1" dirty="0"/>
              <a:t>状态。 </a:t>
            </a:r>
          </a:p>
        </p:txBody>
      </p:sp>
      <p:sp>
        <p:nvSpPr>
          <p:cNvPr id="6" name="Rectangle 20"/>
          <p:cNvSpPr>
            <a:spLocks noChangeArrowheads="1"/>
          </p:cNvSpPr>
          <p:nvPr/>
        </p:nvSpPr>
        <p:spPr bwMode="auto">
          <a:xfrm>
            <a:off x="468313" y="4174307"/>
            <a:ext cx="4248150" cy="1249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300" b="1" dirty="0"/>
              <a:t>② </a:t>
            </a:r>
            <a:r>
              <a:rPr lang="zh-CN" altLang="en-US" sz="2300" b="1" dirty="0"/>
              <a:t>之后，经转换开关→数据总线</a:t>
            </a:r>
            <a:r>
              <a:rPr lang="en-US" altLang="zh-CN" sz="2300" b="1" dirty="0"/>
              <a:t>D</a:t>
            </a:r>
            <a:r>
              <a:rPr lang="en-US" altLang="zh-CN" sz="2300" b="1" baseline="-25000" dirty="0"/>
              <a:t>15</a:t>
            </a:r>
            <a:r>
              <a:rPr lang="zh-CN" altLang="en-US" sz="2300" b="1" dirty="0"/>
              <a:t>～</a:t>
            </a:r>
            <a:r>
              <a:rPr lang="en-US" altLang="zh-CN" sz="2300" b="1" dirty="0"/>
              <a:t>D</a:t>
            </a:r>
            <a:r>
              <a:rPr lang="en-US" altLang="zh-CN" sz="2300" b="1" baseline="-25000" dirty="0"/>
              <a:t>0</a:t>
            </a:r>
            <a:r>
              <a:rPr lang="zh-CN" altLang="en-US" sz="2300" b="1" dirty="0"/>
              <a:t>，传送数据，直到总线周期结束。</a:t>
            </a:r>
          </a:p>
        </p:txBody>
      </p:sp>
      <p:sp>
        <p:nvSpPr>
          <p:cNvPr id="7" name="Rectangle 21"/>
          <p:cNvSpPr>
            <a:spLocks noChangeArrowheads="1"/>
          </p:cNvSpPr>
          <p:nvPr/>
        </p:nvSpPr>
        <p:spPr bwMode="auto">
          <a:xfrm>
            <a:off x="468313" y="2924944"/>
            <a:ext cx="3960813" cy="1249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  <a:spcBef>
                <a:spcPct val="5000"/>
              </a:spcBef>
            </a:pPr>
            <a:r>
              <a:rPr lang="en-US" altLang="zh-CN" sz="2300" b="1" dirty="0"/>
              <a:t>① </a:t>
            </a:r>
            <a:r>
              <a:rPr lang="zh-CN" altLang="en-US" sz="2300" b="1" dirty="0"/>
              <a:t>在每个总线周期的</a:t>
            </a:r>
            <a:r>
              <a:rPr lang="en-US" altLang="zh-CN" sz="2300" b="1" dirty="0"/>
              <a:t>T</a:t>
            </a:r>
            <a:r>
              <a:rPr lang="en-US" altLang="zh-CN" sz="2300" b="1" baseline="-25000" dirty="0"/>
              <a:t>1</a:t>
            </a:r>
            <a:r>
              <a:rPr lang="zh-CN" altLang="en-US" sz="2300" b="1" dirty="0"/>
              <a:t>，作地址总线低</a:t>
            </a:r>
            <a:r>
              <a:rPr lang="en-US" altLang="zh-CN" sz="2300" b="1" dirty="0"/>
              <a:t>16</a:t>
            </a:r>
            <a:r>
              <a:rPr lang="zh-CN" altLang="en-US" sz="2300" b="1" dirty="0"/>
              <a:t>位</a:t>
            </a:r>
            <a:r>
              <a:rPr lang="en-US" altLang="zh-CN" sz="2300" b="1" dirty="0"/>
              <a:t>A</a:t>
            </a:r>
            <a:r>
              <a:rPr lang="en-US" altLang="zh-CN" sz="2300" b="1" baseline="-25000" dirty="0"/>
              <a:t>15</a:t>
            </a:r>
            <a:r>
              <a:rPr lang="zh-CN" altLang="en-US" sz="2300" b="1" dirty="0"/>
              <a:t>～</a:t>
            </a:r>
            <a:r>
              <a:rPr lang="en-US" altLang="zh-CN" sz="2300" b="1" dirty="0"/>
              <a:t>A</a:t>
            </a:r>
            <a:r>
              <a:rPr lang="en-US" altLang="zh-CN" sz="2300" b="1" baseline="-25000" dirty="0"/>
              <a:t>0</a:t>
            </a:r>
            <a:r>
              <a:rPr lang="zh-CN" altLang="en-US" sz="2300" b="1" dirty="0"/>
              <a:t>，用于寻址</a:t>
            </a:r>
            <a:r>
              <a:rPr lang="en-US" altLang="zh-CN" sz="2300" b="1" dirty="0"/>
              <a:t>MEM</a:t>
            </a:r>
            <a:r>
              <a:rPr lang="zh-CN" altLang="en-US" sz="2300" b="1" dirty="0"/>
              <a:t>或</a:t>
            </a:r>
            <a:r>
              <a:rPr lang="en-US" altLang="zh-CN" sz="2300" b="1" dirty="0"/>
              <a:t>I/O</a:t>
            </a:r>
            <a:r>
              <a:rPr lang="zh-CN" altLang="en-US" sz="2300" b="1" dirty="0"/>
              <a:t>端口。</a:t>
            </a:r>
          </a:p>
        </p:txBody>
      </p:sp>
      <p:sp>
        <p:nvSpPr>
          <p:cNvPr id="2" name="矩形 1"/>
          <p:cNvSpPr/>
          <p:nvPr/>
        </p:nvSpPr>
        <p:spPr>
          <a:xfrm>
            <a:off x="5220072" y="3194001"/>
            <a:ext cx="3528392" cy="1791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</a:pPr>
            <a:r>
              <a:rPr lang="zh-CN" altLang="en-US" sz="2400" b="1" dirty="0"/>
              <a:t>可见：复用信号使用</a:t>
            </a:r>
            <a:r>
              <a:rPr lang="zh-CN" altLang="en-US" sz="2400" b="1" dirty="0">
                <a:solidFill>
                  <a:srgbClr val="0000CC"/>
                </a:solidFill>
              </a:rPr>
              <a:t>时间</a:t>
            </a:r>
            <a:r>
              <a:rPr lang="zh-CN" altLang="en-US" sz="2400" b="1" dirty="0"/>
              <a:t>加以划分。要求在</a:t>
            </a:r>
            <a:r>
              <a:rPr lang="en-US" altLang="zh-CN" sz="2400" b="1" dirty="0"/>
              <a:t>T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1</a:t>
            </a:r>
            <a:r>
              <a:rPr lang="zh-CN" altLang="en-US" sz="2400" b="1" dirty="0"/>
              <a:t>状态线出现</a:t>
            </a:r>
            <a:r>
              <a:rPr lang="en-US" altLang="zh-CN" sz="2400" b="1" dirty="0"/>
              <a:t>16</a:t>
            </a:r>
            <a:r>
              <a:rPr lang="zh-CN" altLang="en-US" sz="2400" b="1" dirty="0"/>
              <a:t>位地址时，用</a:t>
            </a:r>
            <a:r>
              <a:rPr lang="zh-CN" altLang="en-US" sz="2400" b="1" dirty="0">
                <a:solidFill>
                  <a:srgbClr val="0000FF"/>
                </a:solidFill>
              </a:rPr>
              <a:t>地址锁存器</a:t>
            </a:r>
            <a:r>
              <a:rPr lang="zh-CN" altLang="en-US" sz="2400" b="1" dirty="0"/>
              <a:t>加以锁存。</a:t>
            </a:r>
          </a:p>
        </p:txBody>
      </p:sp>
      <p:sp>
        <p:nvSpPr>
          <p:cNvPr id="9" name="矩形 8"/>
          <p:cNvSpPr/>
          <p:nvPr/>
        </p:nvSpPr>
        <p:spPr>
          <a:xfrm>
            <a:off x="682625" y="188913"/>
            <a:ext cx="7849815" cy="4318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2.3 8086 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微处理器的外部引脚及工作模式</a:t>
            </a:r>
            <a:r>
              <a:rPr lang="zh-CN" altLang="en-US" dirty="0"/>
              <a:t>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矩形 303105"/>
          <p:cNvSpPr/>
          <p:nvPr/>
        </p:nvSpPr>
        <p:spPr>
          <a:xfrm>
            <a:off x="395287" y="980728"/>
            <a:ext cx="8569325" cy="306545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>
              <a:lnSpc>
                <a:spcPct val="115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l9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/S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—A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l6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/S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3  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地址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状态复用引脚，输出</a:t>
            </a:r>
          </a:p>
          <a:p>
            <a:pPr lvl="0">
              <a:lnSpc>
                <a:spcPct val="115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</a:t>
            </a:r>
            <a:r>
              <a:rPr lang="zh-CN" altLang="en-US" sz="2400" b="1" dirty="0"/>
              <a:t>：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表示最高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位地址线，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需地址锁存器对高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位地址锁存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  <a:p>
            <a:pPr lvl="0">
              <a:lnSpc>
                <a:spcPct val="115000"/>
              </a:lnSpc>
            </a:pPr>
            <a:r>
              <a:rPr lang="en-US" altLang="zh-CN" sz="2400" b="1" dirty="0"/>
              <a:t>T</a:t>
            </a:r>
            <a:r>
              <a:rPr lang="en-US" altLang="zh-CN" sz="2400" b="1" baseline="-25000" dirty="0"/>
              <a:t>2</a:t>
            </a:r>
            <a:r>
              <a:rPr lang="en-US" altLang="zh-CN" sz="2400" b="1" dirty="0"/>
              <a:t> ~T</a:t>
            </a:r>
            <a:r>
              <a:rPr lang="en-US" altLang="zh-CN" sz="2400" b="1" baseline="-25000" dirty="0"/>
              <a:t>4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状态提供状态信息。其中：</a:t>
            </a:r>
          </a:p>
          <a:p>
            <a:pPr lvl="0">
              <a:lnSpc>
                <a:spcPct val="115000"/>
              </a:lnSpc>
            </a:pPr>
            <a:r>
              <a:rPr lang="en-US" altLang="zh-CN" sz="2400" b="1" dirty="0">
                <a:solidFill>
                  <a:srgbClr val="452DF5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lang="en-US" altLang="zh-CN" sz="2400" b="1" baseline="-25000" dirty="0">
                <a:solidFill>
                  <a:srgbClr val="452DF5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en-US" altLang="zh-CN" sz="2400" b="1" dirty="0">
                <a:solidFill>
                  <a:srgbClr val="452DF5"/>
                </a:solidFill>
              </a:rPr>
              <a:t> S</a:t>
            </a:r>
            <a:r>
              <a:rPr lang="en-US" altLang="zh-CN" sz="2400" b="1" baseline="-25000" dirty="0">
                <a:solidFill>
                  <a:srgbClr val="452DF5"/>
                </a:solidFill>
              </a:rPr>
              <a:t>6</a:t>
            </a:r>
            <a:r>
              <a:rPr lang="en-US" altLang="zh-CN" sz="2400" b="1" dirty="0"/>
              <a:t>= 0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指示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8086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当前与总线相连，在</a:t>
            </a:r>
            <a:r>
              <a:rPr lang="en-US" altLang="zh-CN" sz="2400" b="1" dirty="0"/>
              <a:t>T</a:t>
            </a:r>
            <a:r>
              <a:rPr lang="en-US" altLang="zh-CN" sz="2400" b="1" baseline="-25000" dirty="0"/>
              <a:t>2</a:t>
            </a:r>
            <a:r>
              <a:rPr lang="en-US" altLang="zh-CN" sz="2400" b="1" dirty="0"/>
              <a:t> ~T</a:t>
            </a:r>
            <a:r>
              <a:rPr lang="en-US" altLang="zh-CN" sz="2400" b="1" baseline="-25000" dirty="0"/>
              <a:t>4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状态，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=0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（低）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>
              <a:lnSpc>
                <a:spcPct val="115000"/>
              </a:lnSpc>
            </a:pPr>
            <a:r>
              <a:rPr lang="en-US" altLang="zh-CN" sz="2400" b="1" dirty="0">
                <a:solidFill>
                  <a:srgbClr val="452DF5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lang="en-US" altLang="zh-CN" sz="2400" b="1" baseline="-25000" dirty="0">
                <a:solidFill>
                  <a:srgbClr val="452DF5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：中断允许标志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IF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的状态，</a:t>
            </a:r>
            <a:r>
              <a:rPr lang="en-US" altLang="zh-CN" sz="2400" b="1" dirty="0">
                <a:solidFill>
                  <a:srgbClr val="452DF5"/>
                </a:solidFill>
              </a:rPr>
              <a:t> S</a:t>
            </a:r>
            <a:r>
              <a:rPr lang="en-US" altLang="zh-CN" sz="2400" b="1" baseline="-25000" dirty="0">
                <a:solidFill>
                  <a:srgbClr val="452DF5"/>
                </a:solidFill>
              </a:rPr>
              <a:t>5 </a:t>
            </a:r>
            <a:r>
              <a:rPr lang="en-US" altLang="zh-CN" sz="2400" b="1" dirty="0"/>
              <a:t>=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表示允许可屏蔽中断请求；</a:t>
            </a:r>
            <a:r>
              <a:rPr lang="en-US" altLang="zh-CN" sz="2400" b="1" dirty="0">
                <a:solidFill>
                  <a:srgbClr val="452DF5"/>
                </a:solidFill>
              </a:rPr>
              <a:t> S</a:t>
            </a:r>
            <a:r>
              <a:rPr lang="en-US" altLang="zh-CN" sz="2400" b="1" baseline="-25000" dirty="0">
                <a:solidFill>
                  <a:srgbClr val="452DF5"/>
                </a:solidFill>
              </a:rPr>
              <a:t>5 </a:t>
            </a:r>
            <a:r>
              <a:rPr lang="en-US" altLang="zh-CN" sz="2400" b="1" dirty="0"/>
              <a:t>=0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禁止一切可屏蔽中断。</a:t>
            </a:r>
          </a:p>
          <a:p>
            <a:pPr lvl="0">
              <a:lnSpc>
                <a:spcPct val="115000"/>
              </a:lnSpc>
            </a:pPr>
            <a:r>
              <a:rPr lang="en-US" altLang="zh-CN" sz="2400" b="1" dirty="0">
                <a:solidFill>
                  <a:srgbClr val="452DF5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lang="en-US" altLang="zh-CN" sz="2400" b="1" baseline="-25000" dirty="0">
                <a:solidFill>
                  <a:srgbClr val="452DF5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400" b="1" dirty="0">
                <a:solidFill>
                  <a:srgbClr val="452DF5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2400" b="1" dirty="0">
                <a:solidFill>
                  <a:srgbClr val="452DF5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lang="en-US" altLang="zh-CN" sz="2400" b="1" baseline="-25000" dirty="0">
                <a:solidFill>
                  <a:srgbClr val="452DF5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：组合起来指出当前正在使用的段寄存器，具体规定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50" y="4005064"/>
            <a:ext cx="7488238" cy="24653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矩形 5"/>
          <p:cNvSpPr/>
          <p:nvPr/>
        </p:nvSpPr>
        <p:spPr>
          <a:xfrm>
            <a:off x="682625" y="188913"/>
            <a:ext cx="7849815" cy="4318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2.3 8086 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微处理器的外部引脚及工作模式</a:t>
            </a:r>
            <a:r>
              <a:rPr lang="zh-CN" altLang="en-US" dirty="0"/>
              <a:t>  </a:t>
            </a:r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5" name="矩形 305154"/>
          <p:cNvSpPr/>
          <p:nvPr/>
        </p:nvSpPr>
        <p:spPr>
          <a:xfrm>
            <a:off x="35496" y="889000"/>
            <a:ext cx="8208963" cy="4524315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>
            <a:spAutoFit/>
          </a:bodyPr>
          <a:lstStyle/>
          <a:p>
            <a:pPr lvl="0"/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（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NMI   </a:t>
            </a:r>
            <a:r>
              <a:rPr lang="zh-CN" altLang="en-US" sz="2400" b="1" dirty="0">
                <a:solidFill>
                  <a:srgbClr val="452DF5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非屏蔽中断输入引脚</a:t>
            </a:r>
          </a:p>
          <a:p>
            <a:pPr lvl="0"/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不受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IF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影响，也不能用软件屏蔽。每当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NMI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端进入一个正沿触发信号时，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CPU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就会在结束当前指令后执行对应于中断类型号为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的非屏蔽中断处理程序。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/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/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INTR     </a:t>
            </a:r>
            <a:r>
              <a:rPr lang="zh-CN" altLang="en-US" sz="2400" b="1" dirty="0">
                <a:solidFill>
                  <a:srgbClr val="452DF5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可屏蔽中断请求信号，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输入</a:t>
            </a:r>
          </a:p>
          <a:p>
            <a:pPr lvl="0"/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CPU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在执行每条指令的最后一个时钟周期后对该信号进行采样，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IF=1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且接收到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INTR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信号，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CPU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就会在结束当前指令后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，响应中断请求，执行中断处理程序。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/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/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RD   </a:t>
            </a:r>
            <a:r>
              <a:rPr lang="zh-CN" altLang="en-US" sz="2400" b="1" dirty="0">
                <a:solidFill>
                  <a:srgbClr val="452DF5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读信号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，输出</a:t>
            </a:r>
          </a:p>
          <a:p>
            <a:pPr lvl="0"/>
            <a:r>
              <a:rPr lang="zh-CN" altLang="en-US" sz="2400" b="1" dirty="0"/>
              <a:t>与</a:t>
            </a:r>
            <a:r>
              <a:rPr lang="en-US" altLang="zh-CN" sz="2400" b="1" dirty="0"/>
              <a:t>M/IO</a:t>
            </a:r>
            <a:r>
              <a:rPr lang="zh-CN" altLang="en-US" sz="2400" b="1" dirty="0"/>
              <a:t>联合，决定是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对内存或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I/O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端口的读操作。</a:t>
            </a:r>
          </a:p>
        </p:txBody>
      </p:sp>
      <p:sp>
        <p:nvSpPr>
          <p:cNvPr id="305158" name="直接连接符 305157"/>
          <p:cNvSpPr/>
          <p:nvPr/>
        </p:nvSpPr>
        <p:spPr>
          <a:xfrm>
            <a:off x="827584" y="5013176"/>
            <a:ext cx="360363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" name="直接连接符 6"/>
          <p:cNvSpPr/>
          <p:nvPr/>
        </p:nvSpPr>
        <p:spPr>
          <a:xfrm>
            <a:off x="899319" y="4653136"/>
            <a:ext cx="360363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" name="矩形 7"/>
          <p:cNvSpPr/>
          <p:nvPr/>
        </p:nvSpPr>
        <p:spPr>
          <a:xfrm>
            <a:off x="682625" y="188913"/>
            <a:ext cx="7849815" cy="4318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2.3 8086 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微处理器的外部引脚及工作模式</a:t>
            </a:r>
            <a:r>
              <a:rPr lang="zh-CN" altLang="en-US" dirty="0"/>
              <a:t>  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24686C5-3B07-40C6-A01C-1F29CC505D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288" y="3953991"/>
            <a:ext cx="2219597" cy="24490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E8A3A9BA-E05B-4322-B283-1DAF08DDE5B4}"/>
              </a:ext>
            </a:extLst>
          </p:cNvPr>
          <p:cNvSpPr/>
          <p:nvPr/>
        </p:nvSpPr>
        <p:spPr>
          <a:xfrm>
            <a:off x="8244459" y="5200625"/>
            <a:ext cx="14396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5" name="矩形 307204"/>
          <p:cNvSpPr/>
          <p:nvPr/>
        </p:nvSpPr>
        <p:spPr>
          <a:xfrm>
            <a:off x="395288" y="1341438"/>
            <a:ext cx="8497887" cy="4154984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>
              <a:buClrTx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TEST     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测试信号输入</a:t>
            </a:r>
          </a:p>
          <a:p>
            <a:pPr lvl="0">
              <a:buClrTx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与指令</a:t>
            </a:r>
            <a:r>
              <a:rPr lang="en-US" altLang="zh-CN" sz="2400" b="1" dirty="0">
                <a:solidFill>
                  <a:srgbClr val="452DF5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WAIT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结合起来使用，在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CPU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执行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WAIT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指令时，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CPU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处于空转状态进行等待；当</a:t>
            </a:r>
            <a:r>
              <a:rPr lang="en-US" altLang="zh-CN" sz="2400" b="1" dirty="0">
                <a:latin typeface="Arial" panose="020B0604020202020204" pitchFamily="34" charset="0"/>
              </a:rPr>
              <a:t>TEST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有效时，等待状态结束。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>
              <a:buClrTx/>
            </a:pPr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>
              <a:buClrTx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11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MN/MX  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最小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最大组态控制信号输入</a:t>
            </a:r>
          </a:p>
          <a:p>
            <a:pPr lvl="0">
              <a:buClrTx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固定接</a:t>
            </a:r>
            <a:r>
              <a:rPr lang="zh-CN" altLang="en-US" sz="2400" b="1" dirty="0">
                <a:solidFill>
                  <a:srgbClr val="452DF5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十</a:t>
            </a:r>
            <a:r>
              <a:rPr lang="en-US" altLang="zh-CN" sz="2400" b="1" dirty="0">
                <a:solidFill>
                  <a:srgbClr val="452DF5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5v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CPU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处于</a:t>
            </a:r>
            <a:r>
              <a:rPr lang="zh-CN" altLang="en-US" sz="2400" b="1" dirty="0">
                <a:solidFill>
                  <a:srgbClr val="452DF5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最小模式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；接</a:t>
            </a:r>
            <a:r>
              <a:rPr lang="zh-CN" altLang="en-US" sz="2400" b="1" dirty="0">
                <a:solidFill>
                  <a:srgbClr val="452DF5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地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CPU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处于</a:t>
            </a:r>
            <a:r>
              <a:rPr lang="zh-CN" altLang="en-US" sz="2400" b="1" dirty="0">
                <a:solidFill>
                  <a:srgbClr val="452DF5"/>
                </a:solidFill>
                <a:latin typeface="Arial" panose="020B0604020202020204" pitchFamily="34" charset="0"/>
              </a:rPr>
              <a:t>最大模式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</a:p>
          <a:p>
            <a:pPr lvl="0">
              <a:buClrTx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    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>
              <a:buClrTx/>
            </a:pP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说明：以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上是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8086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工作在最小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最大模式时都用的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>
              <a:buClrTx/>
            </a:pP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>
              <a:buClrTx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第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24—3l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脚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个信号，在最小模式和最大模式下有不同的名称和定义。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1512094" y="1427163"/>
            <a:ext cx="802307" cy="1454150"/>
            <a:chOff x="1512094" y="1427163"/>
            <a:chExt cx="802307" cy="1454150"/>
          </a:xfrm>
        </p:grpSpPr>
        <p:sp>
          <p:nvSpPr>
            <p:cNvPr id="307206" name="直接连接符 307205"/>
            <p:cNvSpPr/>
            <p:nvPr/>
          </p:nvSpPr>
          <p:spPr>
            <a:xfrm>
              <a:off x="1512094" y="1427163"/>
              <a:ext cx="75565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207" name="直接连接符 307206"/>
            <p:cNvSpPr/>
            <p:nvPr/>
          </p:nvSpPr>
          <p:spPr>
            <a:xfrm>
              <a:off x="1954038" y="2881313"/>
              <a:ext cx="36036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8" name="矩形 7"/>
          <p:cNvSpPr/>
          <p:nvPr/>
        </p:nvSpPr>
        <p:spPr>
          <a:xfrm>
            <a:off x="682625" y="188913"/>
            <a:ext cx="7849815" cy="4318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2.3 8086 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微处理器的外部引脚及工作模式</a:t>
            </a:r>
            <a:r>
              <a:rPr lang="zh-CN" altLang="en-US" dirty="0"/>
              <a:t>  </a:t>
            </a:r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31" name="矩形 308230"/>
          <p:cNvSpPr/>
          <p:nvPr/>
        </p:nvSpPr>
        <p:spPr>
          <a:xfrm>
            <a:off x="323850" y="863600"/>
            <a:ext cx="38084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lvl="0"/>
            <a:r>
              <a:rPr lang="en-US" altLang="zh-CN" sz="2400" b="1" dirty="0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、最小模式下的引脚信号 </a:t>
            </a:r>
          </a:p>
        </p:txBody>
      </p:sp>
      <p:sp>
        <p:nvSpPr>
          <p:cNvPr id="308232" name="矩形 308231"/>
          <p:cNvSpPr/>
          <p:nvPr/>
        </p:nvSpPr>
        <p:spPr>
          <a:xfrm>
            <a:off x="-36511" y="1311275"/>
            <a:ext cx="7272807" cy="5539978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（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INTA     </a:t>
            </a:r>
            <a:r>
              <a:rPr lang="zh-CN" altLang="en-US" sz="2400" b="1" dirty="0">
                <a:solidFill>
                  <a:srgbClr val="452DF5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中断响应信号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，输出</a:t>
            </a:r>
          </a:p>
          <a:p>
            <a:pPr lvl="0"/>
            <a:r>
              <a:rPr lang="zh-CN" altLang="en-US" sz="2400" b="1" dirty="0"/>
              <a:t>是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对外设中断请求的响应信号。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中断响应周期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由两个连续的总线周期组成，在每个响应周期的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W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状态，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INTA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均有效；在第二个中断响应周期，外设端口往数据总线上发送中断类型号，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CPU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根据中断向量而转向中断处理程序。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/>
            <a:br>
              <a:rPr lang="zh-CN" altLang="en-US" sz="1800" b="1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ALE   </a:t>
            </a:r>
            <a:r>
              <a:rPr lang="zh-CN" altLang="en-US" sz="2400" b="1" dirty="0">
                <a:solidFill>
                  <a:srgbClr val="452DF5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地址锁存允许信号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en-US" sz="2400" b="1" dirty="0"/>
              <a:t>输出，高电平有效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/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状态，当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AD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15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～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AD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19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/A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～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16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/S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上出现地址信号时，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ALE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有效，将地址信息锁存到地址锁存器中。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/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/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DEN     </a:t>
            </a:r>
            <a:r>
              <a:rPr lang="zh-CN" altLang="en-US" sz="2400" b="1" dirty="0">
                <a:solidFill>
                  <a:srgbClr val="452DF5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数据允许信号</a:t>
            </a:r>
          </a:p>
          <a:p>
            <a:pPr lvl="0"/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在用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8286/8287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作为数据总线收发器时，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DEN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为收发器提供一个控制信号，表示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CPU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当前准备发送或接收一个数据。</a:t>
            </a:r>
          </a:p>
        </p:txBody>
      </p:sp>
      <p:sp>
        <p:nvSpPr>
          <p:cNvPr id="308233" name="直接连接符 308232"/>
          <p:cNvSpPr/>
          <p:nvPr/>
        </p:nvSpPr>
        <p:spPr>
          <a:xfrm>
            <a:off x="900113" y="1360488"/>
            <a:ext cx="665163" cy="158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8234" name="直接连接符 308233"/>
          <p:cNvSpPr/>
          <p:nvPr/>
        </p:nvSpPr>
        <p:spPr>
          <a:xfrm>
            <a:off x="819035" y="5301208"/>
            <a:ext cx="663575" cy="158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" name="矩形 7"/>
          <p:cNvSpPr/>
          <p:nvPr/>
        </p:nvSpPr>
        <p:spPr>
          <a:xfrm>
            <a:off x="682625" y="188913"/>
            <a:ext cx="7849815" cy="4318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2.3 8086 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微处理器的外部引脚及工作模式</a:t>
            </a:r>
            <a:r>
              <a:rPr lang="zh-CN" altLang="en-US" dirty="0"/>
              <a:t>  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64BB4CF-E03B-4009-9DA9-F2B4432B7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5448" y="4221088"/>
            <a:ext cx="1958552" cy="216103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直接连接符 8">
            <a:extLst>
              <a:ext uri="{FF2B5EF4-FFF2-40B4-BE49-F238E27FC236}">
                <a16:creationId xmlns:a16="http://schemas.microsoft.com/office/drawing/2014/main" id="{D4DA455A-ABD2-4C92-8FDA-4CE763103794}"/>
              </a:ext>
            </a:extLst>
          </p:cNvPr>
          <p:cNvSpPr/>
          <p:nvPr/>
        </p:nvSpPr>
        <p:spPr>
          <a:xfrm>
            <a:off x="1369740" y="2471230"/>
            <a:ext cx="665163" cy="158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914E787C-4960-4DDE-87A6-FEDC718C8E53}"/>
              </a:ext>
            </a:extLst>
          </p:cNvPr>
          <p:cNvSpPr/>
          <p:nvPr/>
        </p:nvSpPr>
        <p:spPr>
          <a:xfrm>
            <a:off x="8536683" y="5320258"/>
            <a:ext cx="14396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55" name="矩形 309254"/>
          <p:cNvSpPr/>
          <p:nvPr/>
        </p:nvSpPr>
        <p:spPr>
          <a:xfrm>
            <a:off x="144145" y="836930"/>
            <a:ext cx="5057140" cy="600075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square">
            <a:spAutoFit/>
          </a:bodyPr>
          <a:lstStyle/>
          <a:p>
            <a:pPr lvl="0"/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DT/R  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数据收</a:t>
            </a:r>
            <a:r>
              <a:rPr lang="en-US" altLang="zh-CN" sz="1800" b="1" dirty="0"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发信号，输出</a:t>
            </a:r>
          </a:p>
          <a:p>
            <a:pPr lvl="0"/>
            <a:r>
              <a:rPr lang="en-US" altLang="zh-CN" sz="2400" b="1" dirty="0">
                <a:solidFill>
                  <a:srgbClr val="452DF5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DT/R</a:t>
            </a:r>
            <a:r>
              <a:rPr lang="zh-CN" altLang="en-US" sz="2400" b="1" dirty="0">
                <a:solidFill>
                  <a:srgbClr val="452DF5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用</a:t>
            </a:r>
            <a:r>
              <a:rPr lang="zh-CN" altLang="en-US" sz="2400" b="1" dirty="0">
                <a:solidFill>
                  <a:srgbClr val="452DF5"/>
                </a:solidFill>
              </a:rPr>
              <a:t>于</a:t>
            </a:r>
            <a:r>
              <a:rPr lang="zh-CN" altLang="en-US" sz="2400" b="1" dirty="0">
                <a:solidFill>
                  <a:srgbClr val="452DF5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控制</a:t>
            </a:r>
            <a:r>
              <a:rPr lang="en-US" altLang="zh-CN" sz="2400" b="1" dirty="0">
                <a:solidFill>
                  <a:srgbClr val="452DF5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8286/8287</a:t>
            </a:r>
            <a:r>
              <a:rPr lang="zh-CN" altLang="en-US" sz="2400" b="1" dirty="0">
                <a:solidFill>
                  <a:srgbClr val="452DF5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的数据传送方向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DT/R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为高电平表示数据发送；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DT/R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为低表示数据接收。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DMA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方式时，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DT/R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为高阻态。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/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/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（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M/IO   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存储器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输入输出控制信号，输出</a:t>
            </a:r>
          </a:p>
          <a:p>
            <a:pPr lvl="0"/>
            <a:r>
              <a:rPr lang="zh-CN" altLang="en-US" sz="2400" b="1" dirty="0">
                <a:solidFill>
                  <a:srgbClr val="452DF5"/>
                </a:solidFill>
              </a:rPr>
              <a:t>决定</a:t>
            </a:r>
            <a:r>
              <a:rPr lang="en-US" altLang="zh-CN" sz="2400" b="1" dirty="0">
                <a:solidFill>
                  <a:srgbClr val="452DF5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CPU</a:t>
            </a:r>
            <a:r>
              <a:rPr lang="zh-CN" altLang="en-US" sz="2400" b="1" dirty="0">
                <a:solidFill>
                  <a:srgbClr val="452DF5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是对存储器还是输入</a:t>
            </a:r>
            <a:r>
              <a:rPr lang="en-US" altLang="zh-CN" sz="2400" b="1" dirty="0">
                <a:solidFill>
                  <a:srgbClr val="452DF5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zh-CN" altLang="en-US" sz="2400" b="1" dirty="0">
                <a:solidFill>
                  <a:srgbClr val="452DF5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输出访问的控制信号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。高电平表示与</a:t>
            </a:r>
            <a:r>
              <a:rPr lang="zh-CN" altLang="en-US" sz="2400" b="1" dirty="0">
                <a:sym typeface="+mn-ea"/>
              </a:rPr>
              <a:t>存储器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之间；低电平表示与</a:t>
            </a:r>
            <a:r>
              <a:rPr lang="zh-CN" altLang="en-US" sz="2400" b="1" dirty="0">
                <a:sym typeface="+mn-ea"/>
              </a:rPr>
              <a:t>输入</a:t>
            </a:r>
            <a:r>
              <a:rPr lang="en-US" altLang="zh-CN" sz="2400" b="1" dirty="0">
                <a:sym typeface="+mn-ea"/>
              </a:rPr>
              <a:t>/</a:t>
            </a:r>
            <a:r>
              <a:rPr lang="zh-CN" altLang="en-US" sz="2400" b="1" dirty="0">
                <a:sym typeface="+mn-ea"/>
              </a:rPr>
              <a:t>输出端口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之间。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/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0"/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（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WR  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写信号，输出</a:t>
            </a:r>
          </a:p>
          <a:p>
            <a:pPr lvl="0"/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与</a:t>
            </a:r>
            <a:r>
              <a:rPr lang="en-US" altLang="zh-CN" sz="2400" b="1" dirty="0"/>
              <a:t>M/IO</a:t>
            </a:r>
            <a:r>
              <a:rPr lang="zh-CN" altLang="en-US" sz="2400" b="1" dirty="0"/>
              <a:t>信号联合，表示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CPU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当前正在进行的是存储器还是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I/O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的写操作。</a:t>
            </a:r>
          </a:p>
        </p:txBody>
      </p:sp>
      <p:sp>
        <p:nvSpPr>
          <p:cNvPr id="309260" name="直接连接符 309259"/>
          <p:cNvSpPr/>
          <p:nvPr/>
        </p:nvSpPr>
        <p:spPr>
          <a:xfrm>
            <a:off x="991095" y="1298480"/>
            <a:ext cx="196529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" name="矩形 14"/>
          <p:cNvSpPr/>
          <p:nvPr/>
        </p:nvSpPr>
        <p:spPr>
          <a:xfrm>
            <a:off x="682625" y="188913"/>
            <a:ext cx="7849815" cy="4318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2.3 8086 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微处理器的外部引脚及工作模式</a:t>
            </a:r>
            <a:r>
              <a:rPr lang="zh-CN" altLang="en-US" dirty="0"/>
              <a:t>  </a:t>
            </a:r>
          </a:p>
        </p:txBody>
      </p:sp>
      <p:pic>
        <p:nvPicPr>
          <p:cNvPr id="301064" name="图片 30106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7990" y="1700530"/>
            <a:ext cx="3415665" cy="376872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4" name="组合 3"/>
          <p:cNvGrpSpPr/>
          <p:nvPr/>
        </p:nvGrpSpPr>
        <p:grpSpPr>
          <a:xfrm>
            <a:off x="937692" y="3140156"/>
            <a:ext cx="800068" cy="2938937"/>
            <a:chOff x="846191" y="2839801"/>
            <a:chExt cx="800068" cy="2938937"/>
          </a:xfrm>
        </p:grpSpPr>
        <p:sp>
          <p:nvSpPr>
            <p:cNvPr id="5" name="直接连接符 4"/>
            <p:cNvSpPr/>
            <p:nvPr/>
          </p:nvSpPr>
          <p:spPr>
            <a:xfrm>
              <a:off x="919274" y="5346308"/>
              <a:ext cx="68677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" name="直接连接符 5"/>
            <p:cNvSpPr/>
            <p:nvPr/>
          </p:nvSpPr>
          <p:spPr>
            <a:xfrm>
              <a:off x="1350386" y="2839801"/>
              <a:ext cx="29587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" name="直接连接符 6"/>
            <p:cNvSpPr/>
            <p:nvPr/>
          </p:nvSpPr>
          <p:spPr>
            <a:xfrm>
              <a:off x="846191" y="5778738"/>
              <a:ext cx="29587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2B1E31A8-98F3-41EA-8EBA-0C75BB94997E}"/>
              </a:ext>
            </a:extLst>
          </p:cNvPr>
          <p:cNvSpPr/>
          <p:nvPr/>
        </p:nvSpPr>
        <p:spPr>
          <a:xfrm>
            <a:off x="1475656" y="907132"/>
            <a:ext cx="25548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0B05BEEE-13FA-4E19-9305-2D20762547DE}"/>
              </a:ext>
            </a:extLst>
          </p:cNvPr>
          <p:cNvSpPr/>
          <p:nvPr/>
        </p:nvSpPr>
        <p:spPr>
          <a:xfrm>
            <a:off x="7859985" y="3635499"/>
            <a:ext cx="25548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87" name="矩形 310286"/>
          <p:cNvSpPr/>
          <p:nvPr/>
        </p:nvSpPr>
        <p:spPr>
          <a:xfrm>
            <a:off x="539750" y="1260475"/>
            <a:ext cx="8064500" cy="463511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>
              <a:spcBef>
                <a:spcPct val="5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（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sz="2400" b="1" dirty="0"/>
              <a:t>HOLD  </a:t>
            </a:r>
            <a:r>
              <a:rPr lang="zh-CN" altLang="en-US" sz="2400" b="1" dirty="0">
                <a:solidFill>
                  <a:schemeClr val="hlink"/>
                </a:solidFill>
              </a:rPr>
              <a:t>保持请求信号，输入，高电平有效。</a:t>
            </a:r>
          </a:p>
          <a:p>
            <a:pPr algn="just">
              <a:spcBef>
                <a:spcPct val="5000"/>
              </a:spcBef>
            </a:pPr>
            <a:r>
              <a:rPr lang="zh-CN" altLang="en-US" sz="2400" b="1" dirty="0"/>
              <a:t>    当</a:t>
            </a:r>
            <a:r>
              <a:rPr lang="en-US" altLang="zh-CN" sz="2400" b="1" dirty="0"/>
              <a:t>DMA</a:t>
            </a:r>
            <a:r>
              <a:rPr lang="zh-CN" altLang="en-US" sz="2400" b="1" dirty="0"/>
              <a:t>操作或外部处理器要求通过总线传送数据时，</a:t>
            </a:r>
          </a:p>
          <a:p>
            <a:pPr algn="just">
              <a:spcBef>
                <a:spcPct val="5000"/>
              </a:spcBef>
            </a:pPr>
            <a:r>
              <a:rPr lang="zh-CN" altLang="en-US" sz="2400" b="1" dirty="0"/>
              <a:t>     </a:t>
            </a:r>
            <a:r>
              <a:rPr lang="en-US" altLang="zh-CN" sz="2400" b="1" dirty="0"/>
              <a:t>HOLD</a:t>
            </a:r>
            <a:r>
              <a:rPr lang="zh-CN" altLang="en-US" sz="2400" b="1" dirty="0"/>
              <a:t>信号为高，表示外界请求主</a:t>
            </a:r>
            <a:r>
              <a:rPr lang="en-US" altLang="zh-CN" sz="2400" b="1" dirty="0"/>
              <a:t>CPU</a:t>
            </a:r>
            <a:r>
              <a:rPr lang="zh-CN" altLang="en-US" sz="2400" b="1" dirty="0"/>
              <a:t>让出对总线的控制权。 </a:t>
            </a:r>
          </a:p>
          <a:p>
            <a:pPr lvl="0"/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spcBef>
                <a:spcPct val="5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（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HLDA  </a:t>
            </a:r>
            <a:r>
              <a:rPr lang="zh-CN" altLang="en-US" sz="2400" b="1" dirty="0">
                <a:solidFill>
                  <a:schemeClr val="hlink"/>
                </a:solidFill>
              </a:rPr>
              <a:t>保持响应信号，输出，高电平有效。</a:t>
            </a:r>
            <a:endParaRPr lang="en-US" altLang="zh-CN" sz="2400" b="1" dirty="0">
              <a:solidFill>
                <a:schemeClr val="hlink"/>
              </a:solidFill>
            </a:endParaRPr>
          </a:p>
          <a:p>
            <a:pPr algn="just">
              <a:spcBef>
                <a:spcPct val="5000"/>
              </a:spcBef>
            </a:pPr>
            <a:endParaRPr lang="zh-CN" altLang="en-US" sz="2400" b="1" dirty="0">
              <a:solidFill>
                <a:schemeClr val="hlink"/>
              </a:solidFill>
            </a:endParaRPr>
          </a:p>
          <a:p>
            <a:pPr algn="just">
              <a:spcBef>
                <a:spcPct val="5000"/>
              </a:spcBef>
            </a:pPr>
            <a:r>
              <a:rPr lang="zh-CN" altLang="en-US" sz="2400" b="1" dirty="0"/>
              <a:t>   ①当</a:t>
            </a:r>
            <a:r>
              <a:rPr lang="en-US" altLang="zh-CN" sz="2400" b="1" dirty="0"/>
              <a:t>CPU</a:t>
            </a:r>
            <a:r>
              <a:rPr lang="zh-CN" altLang="en-US" sz="2400" b="1" dirty="0"/>
              <a:t>同意让出总线控制权时，输出</a:t>
            </a:r>
            <a:r>
              <a:rPr lang="en-US" altLang="zh-CN" sz="2400" b="1" dirty="0"/>
              <a:t>HLDA</a:t>
            </a:r>
            <a:r>
              <a:rPr lang="zh-CN" altLang="en-US" sz="2400" b="1" dirty="0"/>
              <a:t>高电平信号，通知外界可以使用总线。同时，现有主</a:t>
            </a:r>
            <a:r>
              <a:rPr lang="en-US" altLang="zh-CN" sz="2400" b="1" dirty="0"/>
              <a:t>CPU</a:t>
            </a:r>
            <a:r>
              <a:rPr lang="zh-CN" altLang="en-US" sz="2400" b="1" dirty="0">
                <a:solidFill>
                  <a:schemeClr val="hlink"/>
                </a:solidFill>
              </a:rPr>
              <a:t>所有具“三态”的线，都进入浮空状态；</a:t>
            </a:r>
          </a:p>
          <a:p>
            <a:pPr algn="just">
              <a:spcBef>
                <a:spcPct val="5000"/>
              </a:spcBef>
            </a:pPr>
            <a:r>
              <a:rPr lang="zh-CN" altLang="en-US" sz="2400" b="1" dirty="0"/>
              <a:t>   ②当</a:t>
            </a:r>
            <a:r>
              <a:rPr lang="en-US" altLang="zh-CN" sz="2400" b="1" dirty="0"/>
              <a:t>HOLD</a:t>
            </a:r>
            <a:r>
              <a:rPr lang="zh-CN" altLang="en-US" sz="2400" b="1" dirty="0"/>
              <a:t>变为低电平时，主</a:t>
            </a:r>
            <a:r>
              <a:rPr lang="en-US" altLang="zh-CN" sz="2400" b="1" dirty="0"/>
              <a:t>CPU</a:t>
            </a:r>
            <a:r>
              <a:rPr lang="zh-CN" altLang="en-US" sz="2400" b="1" dirty="0"/>
              <a:t>也把</a:t>
            </a:r>
            <a:r>
              <a:rPr lang="en-US" altLang="zh-CN" sz="2400" b="1" dirty="0"/>
              <a:t>HLDA</a:t>
            </a:r>
            <a:r>
              <a:rPr lang="zh-CN" altLang="en-US" sz="2400" b="1" dirty="0"/>
              <a:t>变为低电平，此时它又重新获得总线控制权。</a:t>
            </a:r>
          </a:p>
        </p:txBody>
      </p:sp>
      <p:sp>
        <p:nvSpPr>
          <p:cNvPr id="5" name="矩形 4"/>
          <p:cNvSpPr/>
          <p:nvPr/>
        </p:nvSpPr>
        <p:spPr>
          <a:xfrm>
            <a:off x="682625" y="188913"/>
            <a:ext cx="7849815" cy="4318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2.3 8086 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微处理器的外部引脚及工作模式</a:t>
            </a:r>
            <a:r>
              <a:rPr lang="zh-CN" altLang="en-US" dirty="0"/>
              <a:t>  </a:t>
            </a:r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9" name="矩形 311298"/>
          <p:cNvSpPr/>
          <p:nvPr/>
        </p:nvSpPr>
        <p:spPr>
          <a:xfrm>
            <a:off x="323850" y="861368"/>
            <a:ext cx="3844322" cy="461665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lvl="0"/>
            <a:r>
              <a:rPr lang="en-US" altLang="zh-CN" sz="2400" b="1" dirty="0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lang="zh-CN" altLang="en-US" sz="2400" b="1" dirty="0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、最大模式下的引脚信号 </a:t>
            </a:r>
          </a:p>
        </p:txBody>
      </p:sp>
      <p:sp>
        <p:nvSpPr>
          <p:cNvPr id="311303" name="文本框 311302"/>
          <p:cNvSpPr txBox="1"/>
          <p:nvPr/>
        </p:nvSpPr>
        <p:spPr>
          <a:xfrm>
            <a:off x="395288" y="1341438"/>
            <a:ext cx="8569325" cy="933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>
              <a:lnSpc>
                <a:spcPct val="115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            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总线周期状态信号（输出，低电平有效）</a:t>
            </a:r>
          </a:p>
          <a:p>
            <a:pPr lvl="0">
              <a:lnSpc>
                <a:spcPct val="115000"/>
              </a:lnSpc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总线周期状态信号输出，分别对应最小方式的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DEN,DT/R,M/IO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</a:p>
        </p:txBody>
      </p:sp>
      <p:pic>
        <p:nvPicPr>
          <p:cNvPr id="311304" name="图片 31130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013" y="1484313"/>
            <a:ext cx="954087" cy="2238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1306" name="图片 31130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3933155"/>
            <a:ext cx="4895850" cy="20161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Rectangle 22"/>
          <p:cNvSpPr>
            <a:spLocks noChangeArrowheads="1"/>
          </p:cNvSpPr>
          <p:nvPr/>
        </p:nvSpPr>
        <p:spPr bwMode="auto">
          <a:xfrm>
            <a:off x="539552" y="2246760"/>
            <a:ext cx="8136904" cy="1614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ct val="10000"/>
              </a:spcBef>
            </a:pPr>
            <a:r>
              <a:rPr lang="en-US" altLang="zh-CN" sz="2300" b="1" dirty="0"/>
              <a:t>①</a:t>
            </a:r>
            <a:r>
              <a:rPr lang="zh-CN" altLang="en-US" sz="2300" b="1" dirty="0">
                <a:solidFill>
                  <a:srgbClr val="0000FF"/>
                </a:solidFill>
              </a:rPr>
              <a:t>多</a:t>
            </a:r>
            <a:r>
              <a:rPr lang="en-US" altLang="zh-CN" sz="2300" b="1" dirty="0">
                <a:solidFill>
                  <a:srgbClr val="0000FF"/>
                </a:solidFill>
              </a:rPr>
              <a:t>CPU</a:t>
            </a:r>
            <a:r>
              <a:rPr lang="zh-CN" altLang="en-US" sz="2300" b="1" dirty="0">
                <a:solidFill>
                  <a:srgbClr val="0000FF"/>
                </a:solidFill>
              </a:rPr>
              <a:t>模式下，它们的不同组合，表示</a:t>
            </a:r>
            <a:r>
              <a:rPr lang="en-US" altLang="zh-CN" sz="2300" b="1" dirty="0">
                <a:solidFill>
                  <a:srgbClr val="0000FF"/>
                </a:solidFill>
              </a:rPr>
              <a:t>CPU</a:t>
            </a:r>
            <a:r>
              <a:rPr lang="zh-CN" altLang="en-US" sz="2300" b="1" dirty="0">
                <a:solidFill>
                  <a:srgbClr val="0000FF"/>
                </a:solidFill>
              </a:rPr>
              <a:t>总线周期的状态。</a:t>
            </a:r>
          </a:p>
          <a:p>
            <a:pPr>
              <a:lnSpc>
                <a:spcPct val="105000"/>
              </a:lnSpc>
              <a:spcBef>
                <a:spcPct val="10000"/>
              </a:spcBef>
            </a:pPr>
            <a:r>
              <a:rPr lang="zh-CN" altLang="en-US" sz="2300" b="1" dirty="0"/>
              <a:t>② 此组信号→ </a:t>
            </a:r>
            <a:r>
              <a:rPr lang="en-US" altLang="zh-CN" sz="2300" b="1" dirty="0"/>
              <a:t>8288</a:t>
            </a:r>
            <a:r>
              <a:rPr lang="zh-CN" altLang="en-US" sz="2300" b="1" dirty="0"/>
              <a:t>总线控制器，</a:t>
            </a:r>
            <a:r>
              <a:rPr lang="en-US" altLang="zh-CN" sz="2300" b="1" dirty="0"/>
              <a:t>8288</a:t>
            </a:r>
            <a:r>
              <a:rPr lang="zh-CN" altLang="en-US" sz="2300" b="1" dirty="0"/>
              <a:t>利用它们的不同组合，产生访问</a:t>
            </a:r>
            <a:r>
              <a:rPr lang="en-US" altLang="zh-CN" sz="2300" b="1" dirty="0"/>
              <a:t>MEM</a:t>
            </a:r>
            <a:r>
              <a:rPr lang="zh-CN" altLang="en-US" sz="2300" b="1" dirty="0"/>
              <a:t>或</a:t>
            </a:r>
            <a:r>
              <a:rPr lang="en-US" altLang="zh-CN" sz="2300" b="1" dirty="0"/>
              <a:t>I/O</a:t>
            </a:r>
            <a:r>
              <a:rPr lang="zh-CN" altLang="en-US" sz="2300" b="1" dirty="0"/>
              <a:t>的控制信号或中断响应信号。</a:t>
            </a:r>
          </a:p>
        </p:txBody>
      </p:sp>
      <p:sp>
        <p:nvSpPr>
          <p:cNvPr id="9" name="矩形 8"/>
          <p:cNvSpPr/>
          <p:nvPr/>
        </p:nvSpPr>
        <p:spPr>
          <a:xfrm>
            <a:off x="682625" y="188913"/>
            <a:ext cx="7849815" cy="4318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2.3 8086 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微处理器的外部引脚及工作模式</a:t>
            </a:r>
            <a:r>
              <a:rPr lang="zh-CN" altLang="en-US" dirty="0"/>
              <a:t>  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DC3228B-DC25-438A-B3AE-7AED16F415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288" y="3953991"/>
            <a:ext cx="2219597" cy="24490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F1A93E3A-362C-4549-99AA-764F59CCD229}"/>
              </a:ext>
            </a:extLst>
          </p:cNvPr>
          <p:cNvSpPr/>
          <p:nvPr/>
        </p:nvSpPr>
        <p:spPr>
          <a:xfrm>
            <a:off x="8244459" y="5200625"/>
            <a:ext cx="14396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51" name="矩形 313350"/>
          <p:cNvSpPr/>
          <p:nvPr/>
        </p:nvSpPr>
        <p:spPr>
          <a:xfrm>
            <a:off x="395288" y="1192213"/>
            <a:ext cx="8424862" cy="463105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>
              <a:buClrTx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）             </a:t>
            </a:r>
            <a:r>
              <a:rPr lang="zh-CN" altLang="en-US" sz="2400" b="1" dirty="0">
                <a:solidFill>
                  <a:srgbClr val="0000FF"/>
                </a:solidFill>
              </a:rPr>
              <a:t>请求</a:t>
            </a:r>
            <a:r>
              <a:rPr lang="en-US" altLang="zh-CN" sz="2400" b="1" dirty="0">
                <a:solidFill>
                  <a:srgbClr val="0000FF"/>
                </a:solidFill>
              </a:rPr>
              <a:t>/</a:t>
            </a:r>
            <a:r>
              <a:rPr lang="zh-CN" altLang="en-US" sz="2400" b="1" dirty="0">
                <a:solidFill>
                  <a:srgbClr val="0000FF"/>
                </a:solidFill>
              </a:rPr>
              <a:t>允许控制信号，双向、三态、低电平有效</a:t>
            </a:r>
            <a:r>
              <a:rPr lang="zh-CN" altLang="en-US" sz="2400" dirty="0"/>
              <a:t>供外部主控设备</a:t>
            </a:r>
            <a:r>
              <a:rPr lang="en-US" altLang="zh-CN" sz="2400" dirty="0"/>
              <a:t>(</a:t>
            </a:r>
            <a:r>
              <a:rPr lang="zh-CN" altLang="en-US" sz="2400" dirty="0"/>
              <a:t>如协处理器</a:t>
            </a:r>
            <a:r>
              <a:rPr lang="en-US" altLang="zh-CN" sz="2400" dirty="0"/>
              <a:t>)</a:t>
            </a:r>
            <a:r>
              <a:rPr lang="zh-CN" altLang="en-US" sz="2400" dirty="0"/>
              <a:t>用来请求总线控制权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>
              <a:buClrTx/>
            </a:pP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zh-CN" altLang="en-US" sz="2400" dirty="0"/>
              <a:t>由外部主控设备向</a:t>
            </a:r>
            <a:r>
              <a:rPr lang="en-US" altLang="zh-CN" sz="2400" dirty="0"/>
              <a:t>8086</a:t>
            </a:r>
            <a:r>
              <a:rPr lang="zh-CN" altLang="en-US" sz="2400" dirty="0"/>
              <a:t>输入请求总线控制权的信号</a:t>
            </a:r>
            <a:r>
              <a:rPr lang="en-US" altLang="zh-CN" sz="2400" dirty="0"/>
              <a:t>(HOLD)</a:t>
            </a:r>
            <a:r>
              <a:rPr lang="zh-CN" altLang="en-US" sz="2400" dirty="0"/>
              <a:t>，若</a:t>
            </a:r>
            <a:r>
              <a:rPr lang="en-US" altLang="zh-CN" sz="2400" dirty="0"/>
              <a:t>8086</a:t>
            </a:r>
            <a:r>
              <a:rPr lang="zh-CN" altLang="en-US" sz="2400" dirty="0"/>
              <a:t>可以让出控制权，则在同一条线上输出允许使用总线的回答信号</a:t>
            </a:r>
            <a:r>
              <a:rPr lang="en-US" altLang="zh-CN" sz="2400" dirty="0"/>
              <a:t>(HLDA)</a:t>
            </a:r>
            <a:r>
              <a:rPr lang="zh-CN" altLang="en-US" sz="2400" dirty="0"/>
              <a:t>。 </a:t>
            </a:r>
            <a:r>
              <a:rPr lang="en-US" altLang="zh-CN" sz="2400" b="1" dirty="0">
                <a:solidFill>
                  <a:srgbClr val="0000FF"/>
                </a:solidFill>
              </a:rPr>
              <a:t>RQ/GT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0</a:t>
            </a:r>
            <a:r>
              <a:rPr lang="zh-CN" altLang="en-US" sz="2400" b="1" dirty="0">
                <a:solidFill>
                  <a:srgbClr val="0000FF"/>
                </a:solidFill>
              </a:rPr>
              <a:t>的优先权 </a:t>
            </a:r>
            <a:r>
              <a:rPr lang="en-US" altLang="zh-CN" sz="2400" b="1" dirty="0">
                <a:solidFill>
                  <a:srgbClr val="0000FF"/>
                </a:solidFill>
              </a:rPr>
              <a:t>&gt; RQ/GT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1</a:t>
            </a:r>
            <a:r>
              <a:rPr lang="zh-CN" altLang="en-US" sz="2400" b="1" dirty="0">
                <a:solidFill>
                  <a:srgbClr val="0000FF"/>
                </a:solidFill>
              </a:rPr>
              <a:t>的优先权 </a:t>
            </a:r>
            <a:r>
              <a:rPr lang="zh-CN" altLang="en-US" sz="2400" dirty="0">
                <a:solidFill>
                  <a:schemeClr val="hlink"/>
                </a:solidFill>
              </a:rPr>
              <a:t>。</a:t>
            </a:r>
          </a:p>
          <a:p>
            <a:pPr lvl="0">
              <a:buClrTx/>
            </a:pPr>
            <a:endParaRPr lang="en-US" altLang="zh-CN" sz="2400" b="1" dirty="0">
              <a:latin typeface="Arial" panose="020B0604020202020204" pitchFamily="34" charset="0"/>
            </a:endParaRPr>
          </a:p>
          <a:p>
            <a:pPr lvl="0">
              <a:buClrTx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）       总线封锁信号，输出</a:t>
            </a:r>
          </a:p>
          <a:p>
            <a:pPr>
              <a:lnSpc>
                <a:spcPct val="105000"/>
              </a:lnSpc>
              <a:spcBef>
                <a:spcPct val="5000"/>
              </a:spcBef>
            </a:pPr>
            <a:r>
              <a:rPr lang="zh-CN" altLang="en-US" sz="2400" dirty="0"/>
              <a:t>用来封锁外部主控设备的请求。当        信号为低时，外部主控设备不能占用总线。 </a:t>
            </a:r>
          </a:p>
          <a:p>
            <a:pPr>
              <a:lnSpc>
                <a:spcPct val="105000"/>
              </a:lnSpc>
              <a:spcBef>
                <a:spcPct val="5000"/>
              </a:spcBef>
            </a:pPr>
            <a:r>
              <a:rPr lang="en-US" altLang="zh-CN" sz="2400" dirty="0"/>
              <a:t>      </a:t>
            </a:r>
            <a:r>
              <a:rPr lang="zh-CN" altLang="en-US" sz="2400" dirty="0"/>
              <a:t>这个信号配合指令来实现。若某条指令加上前缀          ，则</a:t>
            </a:r>
            <a:r>
              <a:rPr lang="en-US" altLang="zh-CN" sz="2400" dirty="0"/>
              <a:t>CPU</a:t>
            </a:r>
            <a:r>
              <a:rPr lang="zh-CN" altLang="en-US" sz="2400" dirty="0"/>
              <a:t>执行这条指令时，       引脚为低，并保持到指令结束。</a:t>
            </a:r>
          </a:p>
        </p:txBody>
      </p:sp>
      <p:sp>
        <p:nvSpPr>
          <p:cNvPr id="313355" name="矩形 313354"/>
          <p:cNvSpPr/>
          <p:nvPr/>
        </p:nvSpPr>
        <p:spPr>
          <a:xfrm>
            <a:off x="0" y="33337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13354" name="对象 313353"/>
          <p:cNvGraphicFramePr/>
          <p:nvPr/>
        </p:nvGraphicFramePr>
        <p:xfrm>
          <a:off x="1259632" y="3900488"/>
          <a:ext cx="536575" cy="261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2" r:id="rId3" imgW="393700" imgH="190500" progId="Equation.DSMT4">
                  <p:embed/>
                </p:oleObj>
              </mc:Choice>
              <mc:Fallback>
                <p:oleObj r:id="rId3" imgW="393700" imgH="1905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59632" y="3900488"/>
                        <a:ext cx="536575" cy="2619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3371" name="矩形 313370"/>
          <p:cNvSpPr/>
          <p:nvPr/>
        </p:nvSpPr>
        <p:spPr>
          <a:xfrm>
            <a:off x="0" y="33337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13370" name="对象 313369"/>
          <p:cNvGraphicFramePr/>
          <p:nvPr/>
        </p:nvGraphicFramePr>
        <p:xfrm>
          <a:off x="7308304" y="5013176"/>
          <a:ext cx="539750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3" r:id="rId5" imgW="393700" imgH="190500" progId="Equation.DSMT4">
                  <p:embed/>
                </p:oleObj>
              </mc:Choice>
              <mc:Fallback>
                <p:oleObj r:id="rId5" imgW="393700" imgH="190500" progId="Equation.DSMT4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308304" y="5013176"/>
                        <a:ext cx="539750" cy="263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3373" name="矩形 313372"/>
          <p:cNvSpPr/>
          <p:nvPr/>
        </p:nvSpPr>
        <p:spPr>
          <a:xfrm>
            <a:off x="0" y="33337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13372" name="对象 313371"/>
          <p:cNvGraphicFramePr/>
          <p:nvPr/>
        </p:nvGraphicFramePr>
        <p:xfrm>
          <a:off x="5076056" y="4221088"/>
          <a:ext cx="539750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4" r:id="rId6" imgW="393700" imgH="190500" progId="Equation.DSMT4">
                  <p:embed/>
                </p:oleObj>
              </mc:Choice>
              <mc:Fallback>
                <p:oleObj r:id="rId6" imgW="393700" imgH="190500" progId="Equation.DSMT4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076056" y="4221088"/>
                        <a:ext cx="539750" cy="263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3375" name="矩形 313374"/>
          <p:cNvSpPr/>
          <p:nvPr/>
        </p:nvSpPr>
        <p:spPr>
          <a:xfrm>
            <a:off x="0" y="333375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13374" name="对象 313373"/>
          <p:cNvGraphicFramePr/>
          <p:nvPr/>
        </p:nvGraphicFramePr>
        <p:xfrm>
          <a:off x="3419872" y="5445224"/>
          <a:ext cx="539750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5" r:id="rId7" imgW="393700" imgH="190500" progId="Equation.DSMT4">
                  <p:embed/>
                </p:oleObj>
              </mc:Choice>
              <mc:Fallback>
                <p:oleObj r:id="rId7" imgW="393700" imgH="190500" progId="Equation.DSMT4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19872" y="5445224"/>
                        <a:ext cx="539750" cy="263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3382" name="对象 313381"/>
          <p:cNvGraphicFramePr/>
          <p:nvPr/>
        </p:nvGraphicFramePr>
        <p:xfrm>
          <a:off x="1187450" y="1341438"/>
          <a:ext cx="542925" cy="255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6" r:id="rId8" imgW="469900" imgH="215900" progId="Equation.DSMT4">
                  <p:embed/>
                </p:oleObj>
              </mc:Choice>
              <mc:Fallback>
                <p:oleObj r:id="rId8" imgW="469900" imgH="215900" progId="Equation.DSMT4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187450" y="1341438"/>
                        <a:ext cx="542925" cy="2555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3381" name="对象 313380"/>
          <p:cNvGraphicFramePr/>
          <p:nvPr/>
        </p:nvGraphicFramePr>
        <p:xfrm>
          <a:off x="1763713" y="1341438"/>
          <a:ext cx="565150" cy="255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7" r:id="rId10" imgW="481965" imgH="215900" progId="Equation.DSMT4">
                  <p:embed/>
                </p:oleObj>
              </mc:Choice>
              <mc:Fallback>
                <p:oleObj r:id="rId10" imgW="481965" imgH="215900" progId="Equation.DSMT4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763713" y="1341438"/>
                        <a:ext cx="565150" cy="2555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3383" name="矩形 313382"/>
          <p:cNvSpPr/>
          <p:nvPr/>
        </p:nvSpPr>
        <p:spPr>
          <a:xfrm>
            <a:off x="0" y="29575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3384" name="矩形 313383"/>
          <p:cNvSpPr/>
          <p:nvPr/>
        </p:nvSpPr>
        <p:spPr>
          <a:xfrm>
            <a:off x="0" y="3176588"/>
            <a:ext cx="311150" cy="244475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lvl="0"/>
            <a:r>
              <a:rPr lang="zh-CN" altLang="en-US" sz="1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、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3385" name="矩形 313384"/>
          <p:cNvSpPr/>
          <p:nvPr/>
        </p:nvSpPr>
        <p:spPr>
          <a:xfrm>
            <a:off x="0" y="3640138"/>
            <a:ext cx="222250" cy="26035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lvl="0"/>
            <a:r>
              <a:rPr lang="zh-CN" altLang="en-US" sz="1100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682625" y="188913"/>
            <a:ext cx="7849815" cy="4318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2.3 8086 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微处理器的外部引脚及工作模式</a:t>
            </a:r>
            <a:r>
              <a:rPr lang="zh-CN" altLang="en-US" dirty="0"/>
              <a:t>  </a:t>
            </a:r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324" name="文本框 312323"/>
          <p:cNvSpPr txBox="1"/>
          <p:nvPr/>
        </p:nvSpPr>
        <p:spPr>
          <a:xfrm>
            <a:off x="395288" y="908050"/>
            <a:ext cx="8353425" cy="178879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>
              <a:lnSpc>
                <a:spcPct val="115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QS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QS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指令队列状态信号，输出</a:t>
            </a:r>
          </a:p>
          <a:p>
            <a:pPr lvl="0">
              <a:lnSpc>
                <a:spcPct val="115000"/>
              </a:lnSpc>
            </a:pPr>
            <a:r>
              <a:rPr lang="en-US" altLang="zh-CN" sz="2400" dirty="0"/>
              <a:t>QS</a:t>
            </a:r>
            <a:r>
              <a:rPr lang="en-US" altLang="zh-CN" sz="2400" baseline="-25000" dirty="0">
                <a:solidFill>
                  <a:schemeClr val="tx1"/>
                </a:solidFill>
                <a:uFillTx/>
              </a:rPr>
              <a:t>1</a:t>
            </a:r>
            <a:r>
              <a:rPr lang="zh-CN" altLang="en-US" sz="2400" dirty="0"/>
              <a:t>和</a:t>
            </a:r>
            <a:r>
              <a:rPr lang="en-US" altLang="zh-CN" sz="2400" dirty="0"/>
              <a:t>QS</a:t>
            </a:r>
            <a:r>
              <a:rPr lang="en-US" altLang="zh-CN" sz="2400" baseline="-25000" dirty="0">
                <a:solidFill>
                  <a:schemeClr val="tx1"/>
                </a:solidFill>
                <a:uFillTx/>
              </a:rPr>
              <a:t>0</a:t>
            </a:r>
            <a:r>
              <a:rPr lang="zh-CN" altLang="en-US" sz="2400" dirty="0"/>
              <a:t>的编码反映了</a:t>
            </a:r>
            <a:r>
              <a:rPr lang="en-US" altLang="zh-CN" sz="2400" dirty="0"/>
              <a:t>CPU</a:t>
            </a:r>
            <a:r>
              <a:rPr lang="zh-CN" altLang="en-US" sz="2400" dirty="0"/>
              <a:t>内部当前的指令队列状态，以便外部主控设备对</a:t>
            </a:r>
            <a:r>
              <a:rPr lang="en-US" altLang="zh-CN" sz="2400" dirty="0"/>
              <a:t>8086</a:t>
            </a:r>
            <a:r>
              <a:rPr lang="zh-CN" altLang="en-US" sz="2400" dirty="0"/>
              <a:t>进行跟踪。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具体的代码组合对应的含义见下表：</a:t>
            </a:r>
          </a:p>
        </p:txBody>
      </p:sp>
      <p:pic>
        <p:nvPicPr>
          <p:cNvPr id="312325" name="图片 3123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350" y="2776538"/>
            <a:ext cx="6192838" cy="18764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矩形 5"/>
          <p:cNvSpPr/>
          <p:nvPr/>
        </p:nvSpPr>
        <p:spPr>
          <a:xfrm>
            <a:off x="682625" y="188913"/>
            <a:ext cx="7849815" cy="4318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2.3 8086 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微处理器的外部引脚及工作模式</a:t>
            </a:r>
            <a:r>
              <a:rPr lang="zh-CN" altLang="en-US" dirty="0"/>
              <a:t>  </a:t>
            </a:r>
          </a:p>
        </p:txBody>
      </p: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3" name="矩形 319492"/>
          <p:cNvSpPr/>
          <p:nvPr/>
        </p:nvSpPr>
        <p:spPr>
          <a:xfrm>
            <a:off x="250825" y="803603"/>
            <a:ext cx="6856364" cy="52322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</a:rPr>
              <a:t>四、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</a:rPr>
              <a:t>8086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</a:rPr>
              <a:t>微处理器两种模式下的系统结构 </a:t>
            </a:r>
          </a:p>
        </p:txBody>
      </p:sp>
      <p:sp>
        <p:nvSpPr>
          <p:cNvPr id="319495" name="矩形 319494"/>
          <p:cNvSpPr/>
          <p:nvPr/>
        </p:nvSpPr>
        <p:spPr>
          <a:xfrm>
            <a:off x="0" y="12811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19494" name="对象 319493"/>
          <p:cNvGraphicFramePr/>
          <p:nvPr/>
        </p:nvGraphicFramePr>
        <p:xfrm>
          <a:off x="3378200" y="1196975"/>
          <a:ext cx="5514975" cy="5040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99" r:id="rId3" imgW="5545455" imgH="4878070" progId="Visio.Drawing.11">
                  <p:embed/>
                </p:oleObj>
              </mc:Choice>
              <mc:Fallback>
                <p:oleObj r:id="rId3" imgW="5545455" imgH="4878070" progId="Visio.Drawing.11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78200" y="1196975"/>
                        <a:ext cx="5514975" cy="5040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9497" name="矩形 319496"/>
          <p:cNvSpPr/>
          <p:nvPr/>
        </p:nvSpPr>
        <p:spPr>
          <a:xfrm>
            <a:off x="251669" y="2060848"/>
            <a:ext cx="3024187" cy="2677656"/>
          </a:xfrm>
          <a:prstGeom prst="rect">
            <a:avLst/>
          </a:prstGeom>
          <a:solidFill>
            <a:srgbClr val="FFFFCC"/>
          </a:solidFill>
          <a:ln w="9525">
            <a:noFill/>
          </a:ln>
        </p:spPr>
        <p:txBody>
          <a:bodyPr anchor="ctr">
            <a:spAutoFit/>
          </a:bodyPr>
          <a:lstStyle/>
          <a:p>
            <a:pPr lvl="0"/>
            <a:r>
              <a:rPr lang="en-US" altLang="zh-CN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CPU</a:t>
            </a:r>
            <a:r>
              <a:rPr lang="zh-CN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的           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引脚接＋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5V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时，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8086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工作于最小模式。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/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特点：所有总线控制信号直接由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8086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产生，系统中的总线控制逻辑电路被减到最少 </a:t>
            </a:r>
          </a:p>
        </p:txBody>
      </p:sp>
      <p:graphicFrame>
        <p:nvGraphicFramePr>
          <p:cNvPr id="319496" name="对象 319495"/>
          <p:cNvGraphicFramePr/>
          <p:nvPr/>
        </p:nvGraphicFramePr>
        <p:xfrm>
          <a:off x="1259632" y="2132856"/>
          <a:ext cx="864096" cy="360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0" r:id="rId5" imgW="546100" imgH="190500" progId="Equation.DSMT4">
                  <p:embed/>
                </p:oleObj>
              </mc:Choice>
              <mc:Fallback>
                <p:oleObj r:id="rId5" imgW="546100" imgH="190500" progId="Equation.DSMT4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59632" y="2132856"/>
                        <a:ext cx="864096" cy="3600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/>
          <p:nvPr/>
        </p:nvSpPr>
        <p:spPr>
          <a:xfrm>
            <a:off x="682625" y="188913"/>
            <a:ext cx="7849815" cy="4318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2.3 8086 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微处理器的外部引脚及工作模式</a:t>
            </a:r>
            <a:r>
              <a:rPr lang="zh-CN" altLang="en-US" dirty="0"/>
              <a:t>  </a:t>
            </a:r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6" name="矩形 320515"/>
          <p:cNvSpPr/>
          <p:nvPr/>
        </p:nvSpPr>
        <p:spPr>
          <a:xfrm>
            <a:off x="0" y="12811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0518" name="矩形 320517"/>
          <p:cNvSpPr/>
          <p:nvPr/>
        </p:nvSpPr>
        <p:spPr>
          <a:xfrm>
            <a:off x="468313" y="1988840"/>
            <a:ext cx="3024187" cy="3416320"/>
          </a:xfrm>
          <a:prstGeom prst="rect">
            <a:avLst/>
          </a:prstGeom>
          <a:solidFill>
            <a:srgbClr val="FFFFCC"/>
          </a:solidFill>
          <a:ln w="9525">
            <a:noFill/>
          </a:ln>
        </p:spPr>
        <p:txBody>
          <a:bodyPr anchor="ctr">
            <a:spAutoFit/>
          </a:bodyPr>
          <a:lstStyle/>
          <a:p>
            <a:pPr lvl="0"/>
            <a:r>
              <a:rPr lang="en-US" altLang="zh-CN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CPU</a:t>
            </a:r>
            <a:r>
              <a:rPr lang="zh-CN" alt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的           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引脚接地时，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8086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工作于最大模式。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/>
            <a:r>
              <a:rPr lang="zh-CN" altLang="en-US" sz="2400" b="1" dirty="0">
                <a:latin typeface="Arial" panose="020B0604020202020204" pitchFamily="34" charset="0"/>
              </a:rPr>
              <a:t>特点：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系统的许多控制信号由总线控制器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8288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对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8086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发出的控制信号进行</a:t>
            </a:r>
            <a:r>
              <a:rPr lang="zh-CN" altLang="en-US" sz="24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变换和组合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，从而得到各种系统控制信号 </a:t>
            </a:r>
          </a:p>
        </p:txBody>
      </p:sp>
      <p:graphicFrame>
        <p:nvGraphicFramePr>
          <p:cNvPr id="320519" name="对象 320518"/>
          <p:cNvGraphicFramePr/>
          <p:nvPr/>
        </p:nvGraphicFramePr>
        <p:xfrm>
          <a:off x="1475656" y="2060848"/>
          <a:ext cx="878607" cy="3355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" r:id="rId3" imgW="546100" imgH="190500" progId="Equation.DSMT4">
                  <p:embed/>
                </p:oleObj>
              </mc:Choice>
              <mc:Fallback>
                <p:oleObj r:id="rId3" imgW="546100" imgH="190500" progId="Equation.DSMT4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75656" y="2060848"/>
                        <a:ext cx="878607" cy="33553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0521" name="矩形 320520"/>
          <p:cNvSpPr/>
          <p:nvPr/>
        </p:nvSpPr>
        <p:spPr>
          <a:xfrm>
            <a:off x="0" y="128111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20522" name="图片 3205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8400" y="1268413"/>
            <a:ext cx="5256213" cy="47529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矩形 9"/>
          <p:cNvSpPr/>
          <p:nvPr/>
        </p:nvSpPr>
        <p:spPr>
          <a:xfrm>
            <a:off x="250825" y="803603"/>
            <a:ext cx="6856364" cy="52322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</a:rPr>
              <a:t>四、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20204" pitchFamily="34" charset="0"/>
              </a:rPr>
              <a:t>8086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</a:rPr>
              <a:t>微处理器两种模式下的系统结构 </a:t>
            </a:r>
          </a:p>
        </p:txBody>
      </p:sp>
      <p:sp>
        <p:nvSpPr>
          <p:cNvPr id="11" name="矩形 10"/>
          <p:cNvSpPr/>
          <p:nvPr/>
        </p:nvSpPr>
        <p:spPr>
          <a:xfrm>
            <a:off x="682625" y="188913"/>
            <a:ext cx="7849815" cy="4318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2.3 8086 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微处理器的外部引脚及工作模式</a:t>
            </a:r>
            <a:r>
              <a:rPr lang="zh-CN" altLang="en-US" dirty="0"/>
              <a:t>  </a:t>
            </a:r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矩形 321537"/>
          <p:cNvSpPr/>
          <p:nvPr/>
        </p:nvSpPr>
        <p:spPr>
          <a:xfrm>
            <a:off x="1042665" y="188913"/>
            <a:ext cx="7273751" cy="431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2.4 8086 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微处理器的总线操作与时序</a:t>
            </a:r>
            <a:r>
              <a:rPr lang="zh-CN" altLang="en-US" dirty="0"/>
              <a:t>  </a:t>
            </a:r>
          </a:p>
        </p:txBody>
      </p:sp>
      <p:sp>
        <p:nvSpPr>
          <p:cNvPr id="321542" name="矩形 321541"/>
          <p:cNvSpPr/>
          <p:nvPr/>
        </p:nvSpPr>
        <p:spPr>
          <a:xfrm>
            <a:off x="179388" y="1538198"/>
            <a:ext cx="5113337" cy="465137"/>
          </a:xfrm>
          <a:noFill/>
          <a:ln w="9525">
            <a:noFill/>
          </a:ln>
        </p:spPr>
        <p:txBody>
          <a:bodyPr/>
          <a:lstStyle/>
          <a:p>
            <a:pPr marL="342900" lvl="0" indent="-342900" algn="just">
              <a:spcBef>
                <a:spcPct val="50000"/>
              </a:spcBef>
              <a:buClr>
                <a:srgbClr val="FF0000"/>
              </a:buClr>
              <a:buFont typeface="Monotype Sorts" pitchFamily="2" charset="2"/>
              <a:buNone/>
            </a:pPr>
            <a:r>
              <a:rPr lang="zh-CN" altLang="en-US" sz="280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sym typeface="Wingdings 2" panose="05020102010507070707" pitchFamily="18" charset="2"/>
              </a:rPr>
              <a:t></a:t>
            </a:r>
            <a:r>
              <a:rPr lang="zh-CN" altLang="en-US" sz="2800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CPU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在时钟信号的控制下工作</a:t>
            </a:r>
          </a:p>
        </p:txBody>
      </p:sp>
      <p:grpSp>
        <p:nvGrpSpPr>
          <p:cNvPr id="321543" name="组合 321542"/>
          <p:cNvGrpSpPr/>
          <p:nvPr/>
        </p:nvGrpSpPr>
        <p:grpSpPr>
          <a:xfrm>
            <a:off x="827088" y="2041435"/>
            <a:ext cx="7224712" cy="723900"/>
            <a:chOff x="825" y="1128"/>
            <a:chExt cx="4551" cy="456"/>
          </a:xfrm>
        </p:grpSpPr>
        <p:sp>
          <p:nvSpPr>
            <p:cNvPr id="321544" name="文本框 321543"/>
            <p:cNvSpPr txBox="1">
              <a:spLocks noChangeAspect="1"/>
            </p:cNvSpPr>
            <p:nvPr/>
          </p:nvSpPr>
          <p:spPr>
            <a:xfrm>
              <a:off x="825" y="1226"/>
              <a:ext cx="615" cy="286"/>
            </a:xfrm>
            <a:prstGeom prst="rect">
              <a:avLst/>
            </a:prstGeom>
            <a:noFill/>
            <a:ln w="38100">
              <a:noFill/>
            </a:ln>
          </p:spPr>
          <p:txBody>
            <a:bodyPr lIns="0" tIns="0" rIns="0" bIns="0"/>
            <a:lstStyle/>
            <a:p>
              <a:pPr lvl="0" algn="just"/>
              <a:r>
                <a:rPr lang="en-US" altLang="zh-CN" sz="2800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CLK</a:t>
              </a:r>
            </a:p>
          </p:txBody>
        </p:sp>
        <p:grpSp>
          <p:nvGrpSpPr>
            <p:cNvPr id="321545" name="组合 321544"/>
            <p:cNvGrpSpPr/>
            <p:nvPr/>
          </p:nvGrpSpPr>
          <p:grpSpPr>
            <a:xfrm>
              <a:off x="1473" y="1128"/>
              <a:ext cx="1551" cy="456"/>
              <a:chOff x="1185" y="2016"/>
              <a:chExt cx="1551" cy="456"/>
            </a:xfrm>
          </p:grpSpPr>
          <p:grpSp>
            <p:nvGrpSpPr>
              <p:cNvPr id="321546" name="组合 321545"/>
              <p:cNvGrpSpPr/>
              <p:nvPr/>
            </p:nvGrpSpPr>
            <p:grpSpPr>
              <a:xfrm>
                <a:off x="1185" y="2016"/>
                <a:ext cx="783" cy="456"/>
                <a:chOff x="1185" y="2016"/>
                <a:chExt cx="1235" cy="456"/>
              </a:xfrm>
            </p:grpSpPr>
            <p:grpSp>
              <p:nvGrpSpPr>
                <p:cNvPr id="321547" name="组合 321546"/>
                <p:cNvGrpSpPr/>
                <p:nvPr/>
              </p:nvGrpSpPr>
              <p:grpSpPr>
                <a:xfrm>
                  <a:off x="1296" y="2016"/>
                  <a:ext cx="1124" cy="456"/>
                  <a:chOff x="1296" y="2016"/>
                  <a:chExt cx="1124" cy="456"/>
                </a:xfrm>
              </p:grpSpPr>
              <p:sp>
                <p:nvSpPr>
                  <p:cNvPr id="321548" name="直接连接符 321547"/>
                  <p:cNvSpPr>
                    <a:spLocks noChangeAspect="1"/>
                  </p:cNvSpPr>
                  <p:nvPr/>
                </p:nvSpPr>
                <p:spPr>
                  <a:xfrm>
                    <a:off x="1296" y="2016"/>
                    <a:ext cx="340" cy="1"/>
                  </a:xfrm>
                  <a:prstGeom prst="line">
                    <a:avLst/>
                  </a:prstGeom>
                  <a:ln w="38100" cap="flat" cmpd="sng">
                    <a:solidFill>
                      <a:srgbClr val="FF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21549" name="直接连接符 321548"/>
                  <p:cNvSpPr>
                    <a:spLocks noChangeAspect="1"/>
                  </p:cNvSpPr>
                  <p:nvPr/>
                </p:nvSpPr>
                <p:spPr>
                  <a:xfrm>
                    <a:off x="1629" y="2016"/>
                    <a:ext cx="111" cy="454"/>
                  </a:xfrm>
                  <a:prstGeom prst="line">
                    <a:avLst/>
                  </a:prstGeom>
                  <a:ln w="38100" cap="flat" cmpd="sng">
                    <a:solidFill>
                      <a:srgbClr val="FF00FF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21550" name="直接连接符 321549"/>
                  <p:cNvSpPr>
                    <a:spLocks noChangeAspect="1"/>
                  </p:cNvSpPr>
                  <p:nvPr/>
                </p:nvSpPr>
                <p:spPr>
                  <a:xfrm>
                    <a:off x="1740" y="2470"/>
                    <a:ext cx="680" cy="2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321551" name="直接连接符 321550"/>
                <p:cNvSpPr>
                  <a:spLocks noChangeAspect="1"/>
                </p:cNvSpPr>
                <p:nvPr/>
              </p:nvSpPr>
              <p:spPr>
                <a:xfrm flipV="1">
                  <a:off x="1185" y="2016"/>
                  <a:ext cx="111" cy="454"/>
                </a:xfrm>
                <a:prstGeom prst="line">
                  <a:avLst/>
                </a:prstGeom>
                <a:ln w="38100" cap="flat" cmpd="sng">
                  <a:solidFill>
                    <a:srgbClr val="0000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321552" name="组合 321551"/>
              <p:cNvGrpSpPr/>
              <p:nvPr/>
            </p:nvGrpSpPr>
            <p:grpSpPr>
              <a:xfrm>
                <a:off x="1953" y="2016"/>
                <a:ext cx="783" cy="456"/>
                <a:chOff x="1185" y="2016"/>
                <a:chExt cx="1235" cy="456"/>
              </a:xfrm>
            </p:grpSpPr>
            <p:grpSp>
              <p:nvGrpSpPr>
                <p:cNvPr id="321553" name="组合 321552"/>
                <p:cNvGrpSpPr/>
                <p:nvPr/>
              </p:nvGrpSpPr>
              <p:grpSpPr>
                <a:xfrm>
                  <a:off x="1296" y="2016"/>
                  <a:ext cx="1124" cy="456"/>
                  <a:chOff x="1296" y="2016"/>
                  <a:chExt cx="1124" cy="456"/>
                </a:xfrm>
              </p:grpSpPr>
              <p:sp>
                <p:nvSpPr>
                  <p:cNvPr id="321554" name="直接连接符 321553"/>
                  <p:cNvSpPr>
                    <a:spLocks noChangeAspect="1"/>
                  </p:cNvSpPr>
                  <p:nvPr/>
                </p:nvSpPr>
                <p:spPr>
                  <a:xfrm>
                    <a:off x="1296" y="2016"/>
                    <a:ext cx="340" cy="1"/>
                  </a:xfrm>
                  <a:prstGeom prst="line">
                    <a:avLst/>
                  </a:prstGeom>
                  <a:ln w="38100" cap="flat" cmpd="sng">
                    <a:solidFill>
                      <a:srgbClr val="FF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21555" name="直接连接符 321554"/>
                  <p:cNvSpPr>
                    <a:spLocks noChangeAspect="1"/>
                  </p:cNvSpPr>
                  <p:nvPr/>
                </p:nvSpPr>
                <p:spPr>
                  <a:xfrm>
                    <a:off x="1629" y="2016"/>
                    <a:ext cx="111" cy="454"/>
                  </a:xfrm>
                  <a:prstGeom prst="line">
                    <a:avLst/>
                  </a:prstGeom>
                  <a:ln w="38100" cap="flat" cmpd="sng">
                    <a:solidFill>
                      <a:srgbClr val="FF00FF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21556" name="直接连接符 321555"/>
                  <p:cNvSpPr>
                    <a:spLocks noChangeAspect="1"/>
                  </p:cNvSpPr>
                  <p:nvPr/>
                </p:nvSpPr>
                <p:spPr>
                  <a:xfrm>
                    <a:off x="1740" y="2470"/>
                    <a:ext cx="680" cy="2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321557" name="直接连接符 321556"/>
                <p:cNvSpPr>
                  <a:spLocks noChangeAspect="1"/>
                </p:cNvSpPr>
                <p:nvPr/>
              </p:nvSpPr>
              <p:spPr>
                <a:xfrm flipV="1">
                  <a:off x="1185" y="2016"/>
                  <a:ext cx="111" cy="454"/>
                </a:xfrm>
                <a:prstGeom prst="line">
                  <a:avLst/>
                </a:prstGeom>
                <a:ln w="38100" cap="flat" cmpd="sng">
                  <a:solidFill>
                    <a:srgbClr val="0000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grpSp>
          <p:nvGrpSpPr>
            <p:cNvPr id="321558" name="组合 321557"/>
            <p:cNvGrpSpPr/>
            <p:nvPr/>
          </p:nvGrpSpPr>
          <p:grpSpPr>
            <a:xfrm>
              <a:off x="3024" y="1128"/>
              <a:ext cx="1551" cy="456"/>
              <a:chOff x="1185" y="2016"/>
              <a:chExt cx="1551" cy="456"/>
            </a:xfrm>
          </p:grpSpPr>
          <p:grpSp>
            <p:nvGrpSpPr>
              <p:cNvPr id="321559" name="组合 321558"/>
              <p:cNvGrpSpPr/>
              <p:nvPr/>
            </p:nvGrpSpPr>
            <p:grpSpPr>
              <a:xfrm>
                <a:off x="1185" y="2016"/>
                <a:ext cx="783" cy="456"/>
                <a:chOff x="1185" y="2016"/>
                <a:chExt cx="1235" cy="456"/>
              </a:xfrm>
            </p:grpSpPr>
            <p:grpSp>
              <p:nvGrpSpPr>
                <p:cNvPr id="321560" name="组合 321559"/>
                <p:cNvGrpSpPr/>
                <p:nvPr/>
              </p:nvGrpSpPr>
              <p:grpSpPr>
                <a:xfrm>
                  <a:off x="1296" y="2016"/>
                  <a:ext cx="1124" cy="456"/>
                  <a:chOff x="1296" y="2016"/>
                  <a:chExt cx="1124" cy="456"/>
                </a:xfrm>
              </p:grpSpPr>
              <p:sp>
                <p:nvSpPr>
                  <p:cNvPr id="321561" name="直接连接符 321560"/>
                  <p:cNvSpPr>
                    <a:spLocks noChangeAspect="1"/>
                  </p:cNvSpPr>
                  <p:nvPr/>
                </p:nvSpPr>
                <p:spPr>
                  <a:xfrm>
                    <a:off x="1296" y="2016"/>
                    <a:ext cx="340" cy="1"/>
                  </a:xfrm>
                  <a:prstGeom prst="line">
                    <a:avLst/>
                  </a:prstGeom>
                  <a:ln w="38100" cap="flat" cmpd="sng">
                    <a:solidFill>
                      <a:srgbClr val="FF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21562" name="直接连接符 321561"/>
                  <p:cNvSpPr>
                    <a:spLocks noChangeAspect="1"/>
                  </p:cNvSpPr>
                  <p:nvPr/>
                </p:nvSpPr>
                <p:spPr>
                  <a:xfrm>
                    <a:off x="1629" y="2016"/>
                    <a:ext cx="111" cy="454"/>
                  </a:xfrm>
                  <a:prstGeom prst="line">
                    <a:avLst/>
                  </a:prstGeom>
                  <a:ln w="38100" cap="flat" cmpd="sng">
                    <a:solidFill>
                      <a:srgbClr val="FF00FF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21563" name="直接连接符 321562"/>
                  <p:cNvSpPr>
                    <a:spLocks noChangeAspect="1"/>
                  </p:cNvSpPr>
                  <p:nvPr/>
                </p:nvSpPr>
                <p:spPr>
                  <a:xfrm>
                    <a:off x="1740" y="2470"/>
                    <a:ext cx="680" cy="2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321564" name="直接连接符 321563"/>
                <p:cNvSpPr>
                  <a:spLocks noChangeAspect="1"/>
                </p:cNvSpPr>
                <p:nvPr/>
              </p:nvSpPr>
              <p:spPr>
                <a:xfrm flipV="1">
                  <a:off x="1185" y="2016"/>
                  <a:ext cx="111" cy="454"/>
                </a:xfrm>
                <a:prstGeom prst="line">
                  <a:avLst/>
                </a:prstGeom>
                <a:ln w="38100" cap="flat" cmpd="sng">
                  <a:solidFill>
                    <a:srgbClr val="0000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321565" name="组合 321564"/>
              <p:cNvGrpSpPr/>
              <p:nvPr/>
            </p:nvGrpSpPr>
            <p:grpSpPr>
              <a:xfrm>
                <a:off x="1953" y="2016"/>
                <a:ext cx="783" cy="456"/>
                <a:chOff x="1185" y="2016"/>
                <a:chExt cx="1235" cy="456"/>
              </a:xfrm>
            </p:grpSpPr>
            <p:grpSp>
              <p:nvGrpSpPr>
                <p:cNvPr id="321566" name="组合 321565"/>
                <p:cNvGrpSpPr/>
                <p:nvPr/>
              </p:nvGrpSpPr>
              <p:grpSpPr>
                <a:xfrm>
                  <a:off x="1296" y="2016"/>
                  <a:ext cx="1124" cy="456"/>
                  <a:chOff x="1296" y="2016"/>
                  <a:chExt cx="1124" cy="456"/>
                </a:xfrm>
              </p:grpSpPr>
              <p:sp>
                <p:nvSpPr>
                  <p:cNvPr id="321567" name="直接连接符 321566"/>
                  <p:cNvSpPr>
                    <a:spLocks noChangeAspect="1"/>
                  </p:cNvSpPr>
                  <p:nvPr/>
                </p:nvSpPr>
                <p:spPr>
                  <a:xfrm>
                    <a:off x="1296" y="2016"/>
                    <a:ext cx="340" cy="1"/>
                  </a:xfrm>
                  <a:prstGeom prst="line">
                    <a:avLst/>
                  </a:prstGeom>
                  <a:ln w="38100" cap="flat" cmpd="sng">
                    <a:solidFill>
                      <a:srgbClr val="FF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21568" name="直接连接符 321567"/>
                  <p:cNvSpPr>
                    <a:spLocks noChangeAspect="1"/>
                  </p:cNvSpPr>
                  <p:nvPr/>
                </p:nvSpPr>
                <p:spPr>
                  <a:xfrm>
                    <a:off x="1629" y="2016"/>
                    <a:ext cx="111" cy="454"/>
                  </a:xfrm>
                  <a:prstGeom prst="line">
                    <a:avLst/>
                  </a:prstGeom>
                  <a:ln w="38100" cap="flat" cmpd="sng">
                    <a:solidFill>
                      <a:srgbClr val="FF00FF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21569" name="直接连接符 321568"/>
                  <p:cNvSpPr>
                    <a:spLocks noChangeAspect="1"/>
                  </p:cNvSpPr>
                  <p:nvPr/>
                </p:nvSpPr>
                <p:spPr>
                  <a:xfrm>
                    <a:off x="1740" y="2470"/>
                    <a:ext cx="680" cy="2"/>
                  </a:xfrm>
                  <a:prstGeom prst="line">
                    <a:avLst/>
                  </a:prstGeom>
                  <a:ln w="381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321570" name="直接连接符 321569"/>
                <p:cNvSpPr>
                  <a:spLocks noChangeAspect="1"/>
                </p:cNvSpPr>
                <p:nvPr/>
              </p:nvSpPr>
              <p:spPr>
                <a:xfrm flipV="1">
                  <a:off x="1185" y="2016"/>
                  <a:ext cx="111" cy="454"/>
                </a:xfrm>
                <a:prstGeom prst="line">
                  <a:avLst/>
                </a:prstGeom>
                <a:ln w="38100" cap="flat" cmpd="sng">
                  <a:solidFill>
                    <a:srgbClr val="0000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grpSp>
          <p:nvGrpSpPr>
            <p:cNvPr id="321571" name="组合 321570"/>
            <p:cNvGrpSpPr/>
            <p:nvPr/>
          </p:nvGrpSpPr>
          <p:grpSpPr>
            <a:xfrm>
              <a:off x="4593" y="1128"/>
              <a:ext cx="783" cy="456"/>
              <a:chOff x="1185" y="2016"/>
              <a:chExt cx="1235" cy="456"/>
            </a:xfrm>
          </p:grpSpPr>
          <p:grpSp>
            <p:nvGrpSpPr>
              <p:cNvPr id="321572" name="组合 321571"/>
              <p:cNvGrpSpPr/>
              <p:nvPr/>
            </p:nvGrpSpPr>
            <p:grpSpPr>
              <a:xfrm>
                <a:off x="1296" y="2016"/>
                <a:ext cx="1124" cy="456"/>
                <a:chOff x="1296" y="2016"/>
                <a:chExt cx="1124" cy="456"/>
              </a:xfrm>
            </p:grpSpPr>
            <p:sp>
              <p:nvSpPr>
                <p:cNvPr id="321573" name="直接连接符 321572"/>
                <p:cNvSpPr>
                  <a:spLocks noChangeAspect="1"/>
                </p:cNvSpPr>
                <p:nvPr/>
              </p:nvSpPr>
              <p:spPr>
                <a:xfrm>
                  <a:off x="1296" y="2016"/>
                  <a:ext cx="340" cy="1"/>
                </a:xfrm>
                <a:prstGeom prst="line">
                  <a:avLst/>
                </a:prstGeom>
                <a:ln w="38100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21574" name="直接连接符 321573"/>
                <p:cNvSpPr>
                  <a:spLocks noChangeAspect="1"/>
                </p:cNvSpPr>
                <p:nvPr/>
              </p:nvSpPr>
              <p:spPr>
                <a:xfrm>
                  <a:off x="1629" y="2016"/>
                  <a:ext cx="111" cy="454"/>
                </a:xfrm>
                <a:prstGeom prst="line">
                  <a:avLst/>
                </a:prstGeom>
                <a:ln w="38100" cap="flat" cmpd="sng">
                  <a:solidFill>
                    <a:srgbClr val="FF00FF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21575" name="直接连接符 321574"/>
                <p:cNvSpPr>
                  <a:spLocks noChangeAspect="1"/>
                </p:cNvSpPr>
                <p:nvPr/>
              </p:nvSpPr>
              <p:spPr>
                <a:xfrm>
                  <a:off x="1740" y="2470"/>
                  <a:ext cx="680" cy="2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321576" name="直接连接符 321575"/>
              <p:cNvSpPr>
                <a:spLocks noChangeAspect="1"/>
              </p:cNvSpPr>
              <p:nvPr/>
            </p:nvSpPr>
            <p:spPr>
              <a:xfrm flipV="1">
                <a:off x="1185" y="2016"/>
                <a:ext cx="111" cy="454"/>
              </a:xfrm>
              <a:prstGeom prst="line">
                <a:avLst/>
              </a:prstGeom>
              <a:ln w="38100" cap="flat" cmpd="sng">
                <a:solidFill>
                  <a:srgbClr val="0000FF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321577" name="矩形 321576"/>
          <p:cNvSpPr/>
          <p:nvPr/>
        </p:nvSpPr>
        <p:spPr>
          <a:xfrm>
            <a:off x="184150" y="3487648"/>
            <a:ext cx="8959850" cy="2677656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indent="-342900"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时钟</a:t>
            </a:r>
            <a:r>
              <a:rPr lang="zh-CN" altLang="en-US" sz="2400" b="1" dirty="0">
                <a:solidFill>
                  <a:srgbClr val="0000FF"/>
                </a:solidFill>
              </a:rPr>
              <a:t>周期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zh-CN" altLang="en-US" sz="2400" dirty="0"/>
              <a:t>又称为</a:t>
            </a:r>
            <a:r>
              <a:rPr lang="en-US" altLang="zh-CN" sz="2400" b="1" dirty="0">
                <a:latin typeface="Arial" panose="020B0604020202020204" pitchFamily="34" charset="0"/>
              </a:rPr>
              <a:t>T</a:t>
            </a:r>
            <a:r>
              <a:rPr lang="zh-CN" altLang="en-US" sz="2400" b="1" dirty="0">
                <a:latin typeface="Arial" panose="020B0604020202020204" pitchFamily="34" charset="0"/>
              </a:rPr>
              <a:t>状态（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周期）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zh-CN" altLang="en-US" sz="2400" dirty="0"/>
              <a:t>是</a:t>
            </a:r>
            <a:r>
              <a:rPr lang="en-US" altLang="zh-CN" sz="2400" dirty="0"/>
              <a:t>CPU</a:t>
            </a:r>
            <a:r>
              <a:rPr lang="zh-CN" altLang="en-US" sz="2400" dirty="0"/>
              <a:t>动作处理的最小时间单位。</a:t>
            </a:r>
            <a:endParaRPr lang="zh-CN" altLang="en-US" sz="2400" dirty="0">
              <a:solidFill>
                <a:schemeClr val="hlink"/>
              </a:solidFill>
            </a:endParaRPr>
          </a:p>
          <a:p>
            <a:r>
              <a:rPr lang="zh-CN" altLang="en-US" sz="2400" b="1" dirty="0">
                <a:solidFill>
                  <a:srgbClr val="FF00FF"/>
                </a:solidFill>
              </a:rPr>
              <a:t>时钟周期值的大小由系统时钟（晶振频率）来确定，</a:t>
            </a:r>
            <a:r>
              <a:rPr lang="en-US" altLang="zh-CN" sz="2400" b="1" dirty="0">
                <a:solidFill>
                  <a:srgbClr val="FF00FF"/>
                </a:solidFill>
              </a:rPr>
              <a:t>T=1/f</a:t>
            </a:r>
          </a:p>
          <a:p>
            <a:endParaRPr lang="en-US" altLang="zh-CN" sz="2400" b="1" dirty="0">
              <a:solidFill>
                <a:srgbClr val="FF00FF"/>
              </a:solidFill>
            </a:endParaRPr>
          </a:p>
          <a:p>
            <a:pPr lvl="0"/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  <a:sym typeface="Wingdings 2" panose="05020102010507070707" pitchFamily="18" charset="2"/>
              </a:rPr>
              <a:t>   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CPU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所有的操作都以时钟信号为基准，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CPU 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按严格的时间标准发出地址，控制信号，存储器、接口也按严格的时间标准送出或接受数据。</a:t>
            </a:r>
          </a:p>
        </p:txBody>
      </p:sp>
      <p:grpSp>
        <p:nvGrpSpPr>
          <p:cNvPr id="321578" name="组合 321577"/>
          <p:cNvGrpSpPr/>
          <p:nvPr/>
        </p:nvGrpSpPr>
        <p:grpSpPr>
          <a:xfrm>
            <a:off x="3486468" y="2041435"/>
            <a:ext cx="1295400" cy="1295400"/>
            <a:chOff x="2256" y="2064"/>
            <a:chExt cx="816" cy="816"/>
          </a:xfrm>
        </p:grpSpPr>
        <p:sp>
          <p:nvSpPr>
            <p:cNvPr id="321579" name="直接连接符 321578"/>
            <p:cNvSpPr>
              <a:spLocks noChangeAspect="1"/>
            </p:cNvSpPr>
            <p:nvPr/>
          </p:nvSpPr>
          <p:spPr>
            <a:xfrm>
              <a:off x="3072" y="2064"/>
              <a:ext cx="0" cy="816"/>
            </a:xfrm>
            <a:prstGeom prst="line">
              <a:avLst/>
            </a:prstGeom>
            <a:ln w="38100" cap="flat" cmpd="sng">
              <a:solidFill>
                <a:srgbClr val="339966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1580" name="直接连接符 321579"/>
            <p:cNvSpPr>
              <a:spLocks noChangeAspect="1"/>
            </p:cNvSpPr>
            <p:nvPr/>
          </p:nvSpPr>
          <p:spPr>
            <a:xfrm>
              <a:off x="2256" y="2064"/>
              <a:ext cx="0" cy="816"/>
            </a:xfrm>
            <a:prstGeom prst="line">
              <a:avLst/>
            </a:prstGeom>
            <a:ln w="38100" cap="flat" cmpd="sng">
              <a:solidFill>
                <a:srgbClr val="339966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1581" name="直接连接符 321580"/>
            <p:cNvSpPr>
              <a:spLocks noChangeAspect="1"/>
            </p:cNvSpPr>
            <p:nvPr/>
          </p:nvSpPr>
          <p:spPr>
            <a:xfrm>
              <a:off x="2256" y="2736"/>
              <a:ext cx="816" cy="0"/>
            </a:xfrm>
            <a:prstGeom prst="line">
              <a:avLst/>
            </a:prstGeom>
            <a:ln w="38100" cap="flat" cmpd="sng">
              <a:solidFill>
                <a:srgbClr val="000000"/>
              </a:solidFill>
              <a:prstDash val="solid"/>
              <a:headEnd type="triangle" w="med" len="med"/>
              <a:tailEnd type="triangle" w="med" len="med"/>
            </a:ln>
          </p:spPr>
        </p:sp>
        <p:sp>
          <p:nvSpPr>
            <p:cNvPr id="321582" name="文本框 321581"/>
            <p:cNvSpPr txBox="1">
              <a:spLocks noChangeAspect="1"/>
            </p:cNvSpPr>
            <p:nvPr/>
          </p:nvSpPr>
          <p:spPr>
            <a:xfrm>
              <a:off x="2528" y="2592"/>
              <a:ext cx="227" cy="281"/>
            </a:xfrm>
            <a:prstGeom prst="rect">
              <a:avLst/>
            </a:prstGeom>
            <a:solidFill>
              <a:schemeClr val="bg1"/>
            </a:solidFill>
            <a:ln w="38100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pPr lvl="0" algn="ctr"/>
              <a:r>
                <a:rPr lang="en-US" altLang="zh-CN" sz="2800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</a:p>
          </p:txBody>
        </p:sp>
      </p:grpSp>
      <p:sp>
        <p:nvSpPr>
          <p:cNvPr id="321583" name="矩形 321582"/>
          <p:cNvSpPr/>
          <p:nvPr/>
        </p:nvSpPr>
        <p:spPr>
          <a:xfrm>
            <a:off x="323850" y="811213"/>
            <a:ext cx="2432744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>
              <a:buClrTx/>
            </a:pPr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一、时钟信号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62" name="矩形 322561"/>
          <p:cNvSpPr/>
          <p:nvPr/>
        </p:nvSpPr>
        <p:spPr>
          <a:xfrm>
            <a:off x="250825" y="836712"/>
            <a:ext cx="8713788" cy="1587500"/>
          </a:xfrm>
          <a:noFill/>
          <a:ln w="9525">
            <a:noFill/>
          </a:ln>
        </p:spPr>
        <p:txBody>
          <a:bodyPr/>
          <a:lstStyle/>
          <a:p>
            <a:pPr marL="522605" lvl="1" indent="-342900"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00FF"/>
                </a:solidFill>
              </a:rPr>
              <a:t>总线周期：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CPU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通过总线完成与存储器、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I/O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端口之间的操作，统称为总线操作。执行一个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总线操作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所需要的时间称为</a:t>
            </a:r>
            <a:r>
              <a:rPr lang="zh-CN" altLang="en-US" sz="2400" b="1" dirty="0">
                <a:solidFill>
                  <a:srgbClr val="3333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总线周期，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一个基本的总线周期通常包含 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4 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个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T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状态，</a:t>
            </a:r>
          </a:p>
          <a:p>
            <a:pPr marL="182880" lvl="1" indent="-3175">
              <a:buClrTx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    按时间的先后顺序分别称为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T</a:t>
            </a:r>
            <a:r>
              <a:rPr lang="en-US" altLang="zh-CN" sz="2400" b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T</a:t>
            </a:r>
            <a:r>
              <a:rPr lang="en-US" altLang="zh-CN" sz="2400" b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T</a:t>
            </a:r>
            <a:r>
              <a:rPr lang="en-US" altLang="zh-CN" sz="2400" b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T</a:t>
            </a:r>
            <a:r>
              <a:rPr lang="en-US" altLang="zh-CN" sz="2400" b="1" baseline="-25000" dirty="0"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  <a:endParaRPr lang="zh-CN" altLang="en-US" sz="2400" b="1" baseline="-25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322565" name="组合 322564"/>
          <p:cNvGrpSpPr/>
          <p:nvPr/>
        </p:nvGrpSpPr>
        <p:grpSpPr>
          <a:xfrm>
            <a:off x="0" y="3213100"/>
            <a:ext cx="8305800" cy="2133600"/>
            <a:chOff x="-96" y="960"/>
            <a:chExt cx="5232" cy="1248"/>
          </a:xfrm>
        </p:grpSpPr>
        <p:grpSp>
          <p:nvGrpSpPr>
            <p:cNvPr id="322566" name="组合 322565"/>
            <p:cNvGrpSpPr/>
            <p:nvPr/>
          </p:nvGrpSpPr>
          <p:grpSpPr>
            <a:xfrm>
              <a:off x="528" y="960"/>
              <a:ext cx="4608" cy="1248"/>
              <a:chOff x="336" y="1278"/>
              <a:chExt cx="5184" cy="1554"/>
            </a:xfrm>
          </p:grpSpPr>
          <p:grpSp>
            <p:nvGrpSpPr>
              <p:cNvPr id="322567" name="组合 322566"/>
              <p:cNvGrpSpPr>
                <a:grpSpLocks noChangeAspect="1"/>
              </p:cNvGrpSpPr>
              <p:nvPr/>
            </p:nvGrpSpPr>
            <p:grpSpPr>
              <a:xfrm>
                <a:off x="336" y="1811"/>
                <a:ext cx="5184" cy="432"/>
                <a:chOff x="952" y="11217"/>
                <a:chExt cx="10205" cy="681"/>
              </a:xfrm>
            </p:grpSpPr>
            <p:sp>
              <p:nvSpPr>
                <p:cNvPr id="322568" name="直接连接符 322567"/>
                <p:cNvSpPr>
                  <a:spLocks noChangeAspect="1"/>
                </p:cNvSpPr>
                <p:nvPr/>
              </p:nvSpPr>
              <p:spPr>
                <a:xfrm>
                  <a:off x="952" y="11217"/>
                  <a:ext cx="786" cy="0"/>
                </a:xfrm>
                <a:prstGeom prst="line">
                  <a:avLst/>
                </a:prstGeom>
                <a:ln w="381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22569" name="直接连接符 322568"/>
                <p:cNvSpPr>
                  <a:spLocks noChangeAspect="1"/>
                </p:cNvSpPr>
                <p:nvPr/>
              </p:nvSpPr>
              <p:spPr>
                <a:xfrm>
                  <a:off x="1738" y="11217"/>
                  <a:ext cx="262" cy="681"/>
                </a:xfrm>
                <a:prstGeom prst="line">
                  <a:avLst/>
                </a:prstGeom>
                <a:ln w="381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22570" name="直接连接符 322569"/>
                <p:cNvSpPr>
                  <a:spLocks noChangeAspect="1"/>
                </p:cNvSpPr>
                <p:nvPr/>
              </p:nvSpPr>
              <p:spPr>
                <a:xfrm>
                  <a:off x="2000" y="11898"/>
                  <a:ext cx="786" cy="0"/>
                </a:xfrm>
                <a:prstGeom prst="line">
                  <a:avLst/>
                </a:prstGeom>
                <a:ln w="381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22571" name="直接连接符 322570"/>
                <p:cNvSpPr>
                  <a:spLocks noChangeAspect="1"/>
                </p:cNvSpPr>
                <p:nvPr/>
              </p:nvSpPr>
              <p:spPr>
                <a:xfrm flipV="1">
                  <a:off x="2786" y="11217"/>
                  <a:ext cx="262" cy="681"/>
                </a:xfrm>
                <a:prstGeom prst="line">
                  <a:avLst/>
                </a:prstGeom>
                <a:ln w="381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22572" name="直接连接符 322571"/>
                <p:cNvSpPr>
                  <a:spLocks noChangeAspect="1"/>
                </p:cNvSpPr>
                <p:nvPr/>
              </p:nvSpPr>
              <p:spPr>
                <a:xfrm>
                  <a:off x="3048" y="11217"/>
                  <a:ext cx="786" cy="0"/>
                </a:xfrm>
                <a:prstGeom prst="line">
                  <a:avLst/>
                </a:prstGeom>
                <a:ln w="381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grpSp>
              <p:nvGrpSpPr>
                <p:cNvPr id="322573" name="组合 322572"/>
                <p:cNvGrpSpPr>
                  <a:grpSpLocks noChangeAspect="1"/>
                </p:cNvGrpSpPr>
                <p:nvPr/>
              </p:nvGrpSpPr>
              <p:grpSpPr>
                <a:xfrm>
                  <a:off x="3834" y="11217"/>
                  <a:ext cx="3145" cy="681"/>
                  <a:chOff x="3834" y="11217"/>
                  <a:chExt cx="3145" cy="681"/>
                </a:xfrm>
              </p:grpSpPr>
              <p:sp>
                <p:nvSpPr>
                  <p:cNvPr id="322574" name="直接连接符 322573"/>
                  <p:cNvSpPr>
                    <a:spLocks noChangeAspect="1"/>
                  </p:cNvSpPr>
                  <p:nvPr/>
                </p:nvSpPr>
                <p:spPr>
                  <a:xfrm>
                    <a:off x="3834" y="11217"/>
                    <a:ext cx="262" cy="681"/>
                  </a:xfrm>
                  <a:prstGeom prst="line">
                    <a:avLst/>
                  </a:prstGeom>
                  <a:ln w="38100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22575" name="直接连接符 322574"/>
                  <p:cNvSpPr>
                    <a:spLocks noChangeAspect="1"/>
                  </p:cNvSpPr>
                  <p:nvPr/>
                </p:nvSpPr>
                <p:spPr>
                  <a:xfrm>
                    <a:off x="4096" y="11898"/>
                    <a:ext cx="787" cy="0"/>
                  </a:xfrm>
                  <a:prstGeom prst="line">
                    <a:avLst/>
                  </a:prstGeom>
                  <a:ln w="38100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22576" name="直接连接符 322575"/>
                  <p:cNvSpPr>
                    <a:spLocks noChangeAspect="1"/>
                  </p:cNvSpPr>
                  <p:nvPr/>
                </p:nvSpPr>
                <p:spPr>
                  <a:xfrm flipV="1">
                    <a:off x="4883" y="11217"/>
                    <a:ext cx="262" cy="681"/>
                  </a:xfrm>
                  <a:prstGeom prst="line">
                    <a:avLst/>
                  </a:prstGeom>
                  <a:ln w="38100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22577" name="直接连接符 322576"/>
                  <p:cNvSpPr>
                    <a:spLocks noChangeAspect="1"/>
                  </p:cNvSpPr>
                  <p:nvPr/>
                </p:nvSpPr>
                <p:spPr>
                  <a:xfrm>
                    <a:off x="5145" y="11217"/>
                    <a:ext cx="786" cy="0"/>
                  </a:xfrm>
                  <a:prstGeom prst="line">
                    <a:avLst/>
                  </a:prstGeom>
                  <a:ln w="38100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22578" name="直接连接符 322577"/>
                  <p:cNvSpPr>
                    <a:spLocks noChangeAspect="1"/>
                  </p:cNvSpPr>
                  <p:nvPr/>
                </p:nvSpPr>
                <p:spPr>
                  <a:xfrm>
                    <a:off x="5931" y="11217"/>
                    <a:ext cx="262" cy="681"/>
                  </a:xfrm>
                  <a:prstGeom prst="line">
                    <a:avLst/>
                  </a:prstGeom>
                  <a:ln w="38100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22579" name="直接连接符 322578"/>
                  <p:cNvSpPr>
                    <a:spLocks noChangeAspect="1"/>
                  </p:cNvSpPr>
                  <p:nvPr/>
                </p:nvSpPr>
                <p:spPr>
                  <a:xfrm>
                    <a:off x="6193" y="11898"/>
                    <a:ext cx="786" cy="0"/>
                  </a:xfrm>
                  <a:prstGeom prst="line">
                    <a:avLst/>
                  </a:prstGeom>
                  <a:ln w="38100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322580" name="直接连接符 322579"/>
                <p:cNvSpPr>
                  <a:spLocks noChangeAspect="1"/>
                </p:cNvSpPr>
                <p:nvPr/>
              </p:nvSpPr>
              <p:spPr>
                <a:xfrm flipV="1">
                  <a:off x="6979" y="11217"/>
                  <a:ext cx="262" cy="681"/>
                </a:xfrm>
                <a:prstGeom prst="line">
                  <a:avLst/>
                </a:prstGeom>
                <a:ln w="381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22581" name="直接连接符 322580"/>
                <p:cNvSpPr>
                  <a:spLocks noChangeAspect="1"/>
                </p:cNvSpPr>
                <p:nvPr/>
              </p:nvSpPr>
              <p:spPr>
                <a:xfrm>
                  <a:off x="7241" y="11217"/>
                  <a:ext cx="786" cy="0"/>
                </a:xfrm>
                <a:prstGeom prst="line">
                  <a:avLst/>
                </a:prstGeom>
                <a:ln w="381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grpSp>
              <p:nvGrpSpPr>
                <p:cNvPr id="322582" name="组合 322581"/>
                <p:cNvGrpSpPr>
                  <a:grpSpLocks noChangeAspect="1"/>
                </p:cNvGrpSpPr>
                <p:nvPr/>
              </p:nvGrpSpPr>
              <p:grpSpPr>
                <a:xfrm>
                  <a:off x="8012" y="11217"/>
                  <a:ext cx="3145" cy="681"/>
                  <a:chOff x="3834" y="11217"/>
                  <a:chExt cx="3145" cy="681"/>
                </a:xfrm>
              </p:grpSpPr>
              <p:sp>
                <p:nvSpPr>
                  <p:cNvPr id="322583" name="直接连接符 322582"/>
                  <p:cNvSpPr>
                    <a:spLocks noChangeAspect="1"/>
                  </p:cNvSpPr>
                  <p:nvPr/>
                </p:nvSpPr>
                <p:spPr>
                  <a:xfrm>
                    <a:off x="3834" y="11217"/>
                    <a:ext cx="262" cy="681"/>
                  </a:xfrm>
                  <a:prstGeom prst="line">
                    <a:avLst/>
                  </a:prstGeom>
                  <a:ln w="38100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22584" name="直接连接符 322583"/>
                  <p:cNvSpPr>
                    <a:spLocks noChangeAspect="1"/>
                  </p:cNvSpPr>
                  <p:nvPr/>
                </p:nvSpPr>
                <p:spPr>
                  <a:xfrm>
                    <a:off x="4096" y="11898"/>
                    <a:ext cx="787" cy="0"/>
                  </a:xfrm>
                  <a:prstGeom prst="line">
                    <a:avLst/>
                  </a:prstGeom>
                  <a:ln w="38100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22585" name="直接连接符 322584"/>
                  <p:cNvSpPr>
                    <a:spLocks noChangeAspect="1"/>
                  </p:cNvSpPr>
                  <p:nvPr/>
                </p:nvSpPr>
                <p:spPr>
                  <a:xfrm flipV="1">
                    <a:off x="4883" y="11217"/>
                    <a:ext cx="262" cy="681"/>
                  </a:xfrm>
                  <a:prstGeom prst="line">
                    <a:avLst/>
                  </a:prstGeom>
                  <a:ln w="38100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22586" name="直接连接符 322585"/>
                  <p:cNvSpPr>
                    <a:spLocks noChangeAspect="1"/>
                  </p:cNvSpPr>
                  <p:nvPr/>
                </p:nvSpPr>
                <p:spPr>
                  <a:xfrm>
                    <a:off x="5145" y="11217"/>
                    <a:ext cx="786" cy="0"/>
                  </a:xfrm>
                  <a:prstGeom prst="line">
                    <a:avLst/>
                  </a:prstGeom>
                  <a:ln w="38100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22587" name="直接连接符 322586"/>
                  <p:cNvSpPr>
                    <a:spLocks noChangeAspect="1"/>
                  </p:cNvSpPr>
                  <p:nvPr/>
                </p:nvSpPr>
                <p:spPr>
                  <a:xfrm>
                    <a:off x="5931" y="11217"/>
                    <a:ext cx="262" cy="681"/>
                  </a:xfrm>
                  <a:prstGeom prst="line">
                    <a:avLst/>
                  </a:prstGeom>
                  <a:ln w="38100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22588" name="直接连接符 322587"/>
                  <p:cNvSpPr>
                    <a:spLocks noChangeAspect="1"/>
                  </p:cNvSpPr>
                  <p:nvPr/>
                </p:nvSpPr>
                <p:spPr>
                  <a:xfrm>
                    <a:off x="6193" y="11898"/>
                    <a:ext cx="786" cy="0"/>
                  </a:xfrm>
                  <a:prstGeom prst="line">
                    <a:avLst/>
                  </a:prstGeom>
                  <a:ln w="38100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</p:grpSp>
          <p:grpSp>
            <p:nvGrpSpPr>
              <p:cNvPr id="322589" name="组合 322588"/>
              <p:cNvGrpSpPr/>
              <p:nvPr/>
            </p:nvGrpSpPr>
            <p:grpSpPr>
              <a:xfrm>
                <a:off x="732" y="1296"/>
                <a:ext cx="4257" cy="1536"/>
                <a:chOff x="732" y="960"/>
                <a:chExt cx="4257" cy="2160"/>
              </a:xfrm>
            </p:grpSpPr>
            <p:sp>
              <p:nvSpPr>
                <p:cNvPr id="322590" name="直接连接符 322589"/>
                <p:cNvSpPr>
                  <a:spLocks noChangeAspect="1"/>
                </p:cNvSpPr>
                <p:nvPr/>
              </p:nvSpPr>
              <p:spPr>
                <a:xfrm>
                  <a:off x="732" y="960"/>
                  <a:ext cx="0" cy="2159"/>
                </a:xfrm>
                <a:prstGeom prst="line">
                  <a:avLst/>
                </a:prstGeom>
                <a:ln w="381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22591" name="直接连接符 322590"/>
                <p:cNvSpPr>
                  <a:spLocks noChangeAspect="1"/>
                </p:cNvSpPr>
                <p:nvPr/>
              </p:nvSpPr>
              <p:spPr>
                <a:xfrm>
                  <a:off x="4989" y="961"/>
                  <a:ext cx="0" cy="2159"/>
                </a:xfrm>
                <a:prstGeom prst="line">
                  <a:avLst/>
                </a:prstGeom>
                <a:ln w="381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22592" name="直接连接符 322591"/>
                <p:cNvSpPr>
                  <a:spLocks noChangeAspect="1"/>
                </p:cNvSpPr>
                <p:nvPr/>
              </p:nvSpPr>
              <p:spPr>
                <a:xfrm>
                  <a:off x="1799" y="961"/>
                  <a:ext cx="0" cy="1383"/>
                </a:xfrm>
                <a:prstGeom prst="line">
                  <a:avLst/>
                </a:prstGeom>
                <a:ln w="381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22593" name="直接连接符 322592"/>
                <p:cNvSpPr>
                  <a:spLocks noChangeAspect="1"/>
                </p:cNvSpPr>
                <p:nvPr/>
              </p:nvSpPr>
              <p:spPr>
                <a:xfrm>
                  <a:off x="2866" y="961"/>
                  <a:ext cx="0" cy="1383"/>
                </a:xfrm>
                <a:prstGeom prst="line">
                  <a:avLst/>
                </a:prstGeom>
                <a:ln w="381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22594" name="直接连接符 322593"/>
                <p:cNvSpPr>
                  <a:spLocks noChangeAspect="1"/>
                </p:cNvSpPr>
                <p:nvPr/>
              </p:nvSpPr>
              <p:spPr>
                <a:xfrm>
                  <a:off x="3922" y="973"/>
                  <a:ext cx="0" cy="1383"/>
                </a:xfrm>
                <a:prstGeom prst="line">
                  <a:avLst/>
                </a:prstGeom>
                <a:ln w="38100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322595" name="直接连接符 322594"/>
              <p:cNvSpPr>
                <a:spLocks noChangeAspect="1"/>
              </p:cNvSpPr>
              <p:nvPr/>
            </p:nvSpPr>
            <p:spPr>
              <a:xfrm flipH="1">
                <a:off x="732" y="2628"/>
                <a:ext cx="1584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322596" name="直接连接符 322595"/>
              <p:cNvSpPr>
                <a:spLocks noChangeAspect="1"/>
              </p:cNvSpPr>
              <p:nvPr/>
            </p:nvSpPr>
            <p:spPr>
              <a:xfrm rot="10800000" flipH="1">
                <a:off x="3558" y="2602"/>
                <a:ext cx="1440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322597" name="文本框 322596"/>
              <p:cNvSpPr txBox="1">
                <a:spLocks noChangeAspect="1"/>
              </p:cNvSpPr>
              <p:nvPr/>
            </p:nvSpPr>
            <p:spPr>
              <a:xfrm>
                <a:off x="2276" y="2400"/>
                <a:ext cx="1189" cy="431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/>
              <a:lstStyle/>
              <a:p>
                <a:pPr lvl="0" algn="just"/>
                <a:r>
                  <a:rPr lang="zh-CN" altLang="en-US" sz="2800" dirty="0"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r>
                  <a:rPr lang="zh-CN" altLang="en-US" sz="2400" dirty="0"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</a:rPr>
                  <a:t>总线周期</a:t>
                </a:r>
              </a:p>
            </p:txBody>
          </p:sp>
          <p:sp>
            <p:nvSpPr>
              <p:cNvPr id="322598" name="直接连接符 322597"/>
              <p:cNvSpPr>
                <a:spLocks noChangeAspect="1"/>
              </p:cNvSpPr>
              <p:nvPr/>
            </p:nvSpPr>
            <p:spPr>
              <a:xfrm flipH="1">
                <a:off x="732" y="1436"/>
                <a:ext cx="346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322599" name="直接连接符 322598"/>
              <p:cNvSpPr>
                <a:spLocks noChangeAspect="1"/>
              </p:cNvSpPr>
              <p:nvPr/>
            </p:nvSpPr>
            <p:spPr>
              <a:xfrm>
                <a:off x="1453" y="1436"/>
                <a:ext cx="346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322600" name="文本框 322599"/>
              <p:cNvSpPr txBox="1">
                <a:spLocks noChangeAspect="1"/>
              </p:cNvSpPr>
              <p:nvPr/>
            </p:nvSpPr>
            <p:spPr>
              <a:xfrm>
                <a:off x="1138" y="1278"/>
                <a:ext cx="315" cy="546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0" tIns="0" rIns="0" bIns="0"/>
              <a:lstStyle/>
              <a:p>
                <a:pPr lvl="0" algn="just"/>
                <a:r>
                  <a:rPr lang="en-US" altLang="zh-CN" sz="2400"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</a:rPr>
                  <a:t>T</a:t>
                </a:r>
                <a:r>
                  <a:rPr lang="en-US" altLang="zh-CN" sz="2400" baseline="-25000"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322601" name="直接连接符 322600"/>
              <p:cNvSpPr>
                <a:spLocks noChangeAspect="1"/>
              </p:cNvSpPr>
              <p:nvPr/>
            </p:nvSpPr>
            <p:spPr>
              <a:xfrm flipH="1">
                <a:off x="1809" y="1436"/>
                <a:ext cx="346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322602" name="直接连接符 322601"/>
              <p:cNvSpPr>
                <a:spLocks noChangeAspect="1"/>
              </p:cNvSpPr>
              <p:nvPr/>
            </p:nvSpPr>
            <p:spPr>
              <a:xfrm>
                <a:off x="2530" y="1436"/>
                <a:ext cx="346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322603" name="文本框 322602"/>
              <p:cNvSpPr txBox="1">
                <a:spLocks noChangeAspect="1"/>
              </p:cNvSpPr>
              <p:nvPr/>
            </p:nvSpPr>
            <p:spPr>
              <a:xfrm>
                <a:off x="2215" y="1278"/>
                <a:ext cx="315" cy="546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0" tIns="0" rIns="0" bIns="0"/>
              <a:lstStyle/>
              <a:p>
                <a:pPr lvl="0" algn="just"/>
                <a:r>
                  <a:rPr lang="en-US" altLang="zh-CN" sz="2400"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</a:rPr>
                  <a:t>T</a:t>
                </a:r>
                <a:r>
                  <a:rPr lang="en-US" altLang="zh-CN" sz="2400" baseline="-25000"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</a:p>
            </p:txBody>
          </p:sp>
          <p:sp>
            <p:nvSpPr>
              <p:cNvPr id="322604" name="直接连接符 322603"/>
              <p:cNvSpPr>
                <a:spLocks noChangeAspect="1"/>
              </p:cNvSpPr>
              <p:nvPr/>
            </p:nvSpPr>
            <p:spPr>
              <a:xfrm flipH="1">
                <a:off x="2866" y="1436"/>
                <a:ext cx="345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322605" name="直接连接符 322604"/>
              <p:cNvSpPr>
                <a:spLocks noChangeAspect="1"/>
              </p:cNvSpPr>
              <p:nvPr/>
            </p:nvSpPr>
            <p:spPr>
              <a:xfrm>
                <a:off x="3587" y="1436"/>
                <a:ext cx="345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322606" name="文本框 322605"/>
              <p:cNvSpPr txBox="1">
                <a:spLocks noChangeAspect="1"/>
              </p:cNvSpPr>
              <p:nvPr/>
            </p:nvSpPr>
            <p:spPr>
              <a:xfrm>
                <a:off x="3272" y="1278"/>
                <a:ext cx="315" cy="546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0" tIns="0" rIns="0" bIns="0"/>
              <a:lstStyle/>
              <a:p>
                <a:pPr lvl="0" algn="just"/>
                <a:r>
                  <a:rPr lang="en-US" altLang="zh-CN" sz="2400"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</a:rPr>
                  <a:t>T</a:t>
                </a:r>
                <a:r>
                  <a:rPr lang="en-US" altLang="zh-CN" sz="2400" baseline="-25000"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</a:rPr>
                  <a:t>3</a:t>
                </a:r>
              </a:p>
            </p:txBody>
          </p:sp>
          <p:sp>
            <p:nvSpPr>
              <p:cNvPr id="322607" name="直接连接符 322606"/>
              <p:cNvSpPr>
                <a:spLocks noChangeAspect="1"/>
              </p:cNvSpPr>
              <p:nvPr/>
            </p:nvSpPr>
            <p:spPr>
              <a:xfrm flipH="1">
                <a:off x="3932" y="1436"/>
                <a:ext cx="346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322608" name="直接连接符 322607"/>
              <p:cNvSpPr>
                <a:spLocks noChangeAspect="1"/>
              </p:cNvSpPr>
              <p:nvPr/>
            </p:nvSpPr>
            <p:spPr>
              <a:xfrm>
                <a:off x="4653" y="1436"/>
                <a:ext cx="346" cy="0"/>
              </a:xfrm>
              <a:prstGeom prst="line">
                <a:avLst/>
              </a:prstGeom>
              <a:ln w="38100" cap="flat" cmpd="sng">
                <a:solidFill>
                  <a:srgbClr val="000000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322609" name="文本框 322608"/>
              <p:cNvSpPr txBox="1">
                <a:spLocks noChangeAspect="1"/>
              </p:cNvSpPr>
              <p:nvPr/>
            </p:nvSpPr>
            <p:spPr>
              <a:xfrm>
                <a:off x="4338" y="1278"/>
                <a:ext cx="315" cy="546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lIns="0" tIns="0" rIns="0" bIns="0"/>
              <a:lstStyle/>
              <a:p>
                <a:pPr lvl="0" algn="just"/>
                <a:r>
                  <a:rPr lang="en-US" altLang="zh-CN" sz="2400"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</a:rPr>
                  <a:t>T</a:t>
                </a:r>
                <a:r>
                  <a:rPr lang="en-US" altLang="zh-CN" sz="2400" baseline="-25000">
                    <a:effectLst>
                      <a:outerShdw blurRad="38100" dist="38100" dir="2700000">
                        <a:srgbClr val="C0C0C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</a:rPr>
                  <a:t>4</a:t>
                </a:r>
              </a:p>
            </p:txBody>
          </p:sp>
        </p:grpSp>
        <p:sp>
          <p:nvSpPr>
            <p:cNvPr id="322610" name="文本框 322609"/>
            <p:cNvSpPr txBox="1"/>
            <p:nvPr/>
          </p:nvSpPr>
          <p:spPr>
            <a:xfrm>
              <a:off x="-96" y="1440"/>
              <a:ext cx="672" cy="26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lvl="0" algn="ctr">
                <a:spcBef>
                  <a:spcPct val="50000"/>
                </a:spcBef>
              </a:pPr>
              <a:r>
                <a:rPr lang="en-US" altLang="zh-CN" sz="2400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</a:rPr>
                <a:t>CLK</a:t>
              </a:r>
            </a:p>
          </p:txBody>
        </p:sp>
      </p:grpSp>
      <p:sp>
        <p:nvSpPr>
          <p:cNvPr id="322611" name="矩形 322610"/>
          <p:cNvSpPr/>
          <p:nvPr/>
        </p:nvSpPr>
        <p:spPr>
          <a:xfrm>
            <a:off x="7812088" y="2971800"/>
            <a:ext cx="528637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>
              <a:buClrTx/>
            </a:pPr>
            <a:r>
              <a:rPr lang="en-US" altLang="zh-CN" sz="2400" b="1" err="1">
                <a:latin typeface="Arial" panose="020B0604020202020204" pitchFamily="34" charset="0"/>
                <a:ea typeface="宋体" panose="02010600030101010101" pitchFamily="2" charset="-122"/>
              </a:rPr>
              <a:t>T</a:t>
            </a:r>
            <a:r>
              <a:rPr lang="en-US" altLang="zh-CN" sz="2400" b="1" baseline="-25000" err="1">
                <a:latin typeface="Arial" panose="020B0604020202020204" pitchFamily="34" charset="0"/>
                <a:ea typeface="宋体" panose="02010600030101010101" pitchFamily="2" charset="-122"/>
              </a:rPr>
              <a:t>w</a:t>
            </a:r>
            <a:endParaRPr lang="en-US" altLang="zh-CN" sz="2400" b="1" baseline="-250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1042665" y="188913"/>
            <a:ext cx="7273751" cy="431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2.4 8086 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微处理器的总线操作与时序</a:t>
            </a:r>
            <a:r>
              <a:rPr lang="zh-CN" altLang="en-US" dirty="0"/>
              <a:t>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2000"/>
                                        <p:tgtEl>
                                          <p:spTgt spid="322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261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7" name="文本框 323586"/>
          <p:cNvSpPr txBox="1"/>
          <p:nvPr/>
        </p:nvSpPr>
        <p:spPr>
          <a:xfrm>
            <a:off x="142875" y="836613"/>
            <a:ext cx="8750300" cy="1200329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指令周期：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执行一条指令所需要的时间，是取指令、执行指令、取操作数、存放结果所需时间的总和，一般以总线周期为单位。故一个指令周期通常包含多个总线周期</a:t>
            </a:r>
          </a:p>
        </p:txBody>
      </p:sp>
      <p:sp>
        <p:nvSpPr>
          <p:cNvPr id="323588" name="矩形 323587"/>
          <p:cNvSpPr/>
          <p:nvPr/>
        </p:nvSpPr>
        <p:spPr>
          <a:xfrm>
            <a:off x="251520" y="4581128"/>
            <a:ext cx="8424863" cy="9366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lvl="0" indent="-342900" algn="just">
              <a:lnSpc>
                <a:spcPct val="110000"/>
              </a:lnSpc>
              <a:buClr>
                <a:srgbClr val="FF00FF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不同指令的指令周期是不同的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;</a:t>
            </a:r>
          </a:p>
          <a:p>
            <a:pPr marL="342900" lvl="0" indent="-342900" algn="just">
              <a:lnSpc>
                <a:spcPct val="110000"/>
              </a:lnSpc>
              <a:buClr>
                <a:srgbClr val="FF00FF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同一类型的指令，由于操作数不同，指令周期也不同</a:t>
            </a:r>
          </a:p>
        </p:txBody>
      </p:sp>
      <p:sp>
        <p:nvSpPr>
          <p:cNvPr id="323591" name="文本框 323590"/>
          <p:cNvSpPr txBox="1"/>
          <p:nvPr/>
        </p:nvSpPr>
        <p:spPr>
          <a:xfrm>
            <a:off x="395288" y="1989138"/>
            <a:ext cx="8353425" cy="2087934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lvl="0" indent="-342900" algn="just">
              <a:lnSpc>
                <a:spcPct val="110000"/>
              </a:lnSpc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示例：   执行    </a:t>
            </a:r>
            <a:r>
              <a:rPr lang="en-US" altLang="zh-CN" sz="2400" b="1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ADD  [ BX ],  AX  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指令，包含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:</a:t>
            </a:r>
          </a:p>
          <a:p>
            <a:pPr marL="1143000" lvl="2" indent="-228600" algn="just">
              <a:lnSpc>
                <a:spcPct val="110000"/>
              </a:lnSpc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 1) 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取指令                                             </a:t>
            </a:r>
            <a:r>
              <a:rPr lang="zh-CN" altLang="en-US" sz="2400" b="1" dirty="0">
                <a:solidFill>
                  <a:srgbClr val="FF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存储器读周期</a:t>
            </a:r>
          </a:p>
          <a:p>
            <a:pPr marL="1143000" lvl="2" indent="-228600" algn="just">
              <a:lnSpc>
                <a:spcPct val="110000"/>
              </a:lnSpc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2) 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取 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( DS:BX )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内存单元操作数          </a:t>
            </a:r>
            <a:r>
              <a:rPr lang="zh-CN" altLang="en-US" sz="2400" b="1" dirty="0">
                <a:solidFill>
                  <a:srgbClr val="FF00FF"/>
                </a:solidFill>
                <a:latin typeface="Arial" panose="020B0604020202020204" pitchFamily="34" charset="0"/>
              </a:rPr>
              <a:t>存储器读周期 </a:t>
            </a:r>
          </a:p>
          <a:p>
            <a:pPr marL="1143000" lvl="2" indent="-228600" algn="just">
              <a:lnSpc>
                <a:spcPct val="110000"/>
              </a:lnSpc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3) 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存放结果到 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( DS:BX )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内存单元      </a:t>
            </a:r>
            <a:r>
              <a:rPr lang="zh-CN" altLang="en-US" sz="2400" b="1" dirty="0">
                <a:solidFill>
                  <a:srgbClr val="FF00FF"/>
                </a:solidFill>
                <a:latin typeface="Arial" panose="020B0604020202020204" pitchFamily="34" charset="0"/>
              </a:rPr>
              <a:t>存储器写周期</a:t>
            </a:r>
            <a:endParaRPr lang="en-US" altLang="zh-CN" sz="2400" b="1" dirty="0">
              <a:solidFill>
                <a:srgbClr val="FF00FF"/>
              </a:solidFill>
              <a:latin typeface="Arial" panose="020B0604020202020204" pitchFamily="34" charset="0"/>
            </a:endParaRPr>
          </a:p>
          <a:p>
            <a:pPr marL="1143000" lvl="2" indent="-228600" algn="just">
              <a:lnSpc>
                <a:spcPct val="110000"/>
              </a:lnSpc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rgbClr val="002060"/>
                </a:solidFill>
                <a:latin typeface="Arial" panose="020B0604020202020204" pitchFamily="34" charset="0"/>
              </a:rPr>
              <a:t>共包含</a:t>
            </a:r>
            <a:r>
              <a:rPr lang="en-US" altLang="zh-CN" sz="2400" b="1" dirty="0">
                <a:solidFill>
                  <a:srgbClr val="FF00FF"/>
                </a:solidFill>
                <a:latin typeface="Arial" panose="020B0604020202020204" pitchFamily="34" charset="0"/>
              </a:rPr>
              <a:t>3</a:t>
            </a:r>
            <a:r>
              <a:rPr lang="zh-CN" altLang="en-US" sz="2400" b="1" dirty="0">
                <a:solidFill>
                  <a:srgbClr val="002060"/>
                </a:solidFill>
                <a:latin typeface="Arial" panose="020B0604020202020204" pitchFamily="34" charset="0"/>
              </a:rPr>
              <a:t>个周期</a:t>
            </a:r>
          </a:p>
        </p:txBody>
      </p:sp>
      <p:sp>
        <p:nvSpPr>
          <p:cNvPr id="323592" name="矩形 323591"/>
          <p:cNvSpPr/>
          <p:nvPr/>
        </p:nvSpPr>
        <p:spPr>
          <a:xfrm>
            <a:off x="682625" y="188913"/>
            <a:ext cx="8353425" cy="431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2.4 8086 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微处理器的总线操作与时序  </a:t>
            </a:r>
            <a:endParaRPr lang="zh-CN" altLang="en-US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4" name="矩形 324613"/>
          <p:cNvSpPr/>
          <p:nvPr/>
        </p:nvSpPr>
        <p:spPr>
          <a:xfrm>
            <a:off x="682625" y="188913"/>
            <a:ext cx="8353425" cy="431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2.4 8086 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微处理器的总线操作与时序  </a:t>
            </a:r>
            <a:endParaRPr lang="zh-CN" altLang="en-US" dirty="0"/>
          </a:p>
        </p:txBody>
      </p:sp>
      <p:sp>
        <p:nvSpPr>
          <p:cNvPr id="324615" name="矩形 324614"/>
          <p:cNvSpPr/>
          <p:nvPr/>
        </p:nvSpPr>
        <p:spPr>
          <a:xfrm>
            <a:off x="323850" y="817548"/>
            <a:ext cx="3530134" cy="52322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lvl="0"/>
            <a:r>
              <a:rPr lang="zh-CN" altLang="en-US" sz="28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二、总线操作与时序 </a:t>
            </a:r>
          </a:p>
        </p:txBody>
      </p:sp>
      <p:sp>
        <p:nvSpPr>
          <p:cNvPr id="324616" name="矩形 324615"/>
          <p:cNvSpPr/>
          <p:nvPr/>
        </p:nvSpPr>
        <p:spPr>
          <a:xfrm>
            <a:off x="304800" y="1414463"/>
            <a:ext cx="8610600" cy="1552575"/>
          </a:xfrm>
          <a:noFill/>
          <a:ln w="9525">
            <a:noFill/>
          </a:ln>
        </p:spPr>
        <p:txBody>
          <a:bodyPr vert="horz" wrap="square" lIns="91440" tIns="45720" rIns="91440" bIns="45720" anchor="t">
            <a:spAutoFit/>
          </a:bodyPr>
          <a:lstStyle/>
          <a:p>
            <a:pPr lvl="0"/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、基本概念</a:t>
            </a:r>
          </a:p>
          <a:p>
            <a:pPr lvl="0"/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时序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：芯片上的引脚信号在时钟信号的统一控制下，按一定的时间顺序发出有效信号，这个时间顺序就是</a:t>
            </a: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时序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。如：存储器读、写操作时序等</a:t>
            </a:r>
          </a:p>
        </p:txBody>
      </p:sp>
      <p:sp>
        <p:nvSpPr>
          <p:cNvPr id="324618" name="文本框 324617"/>
          <p:cNvSpPr txBox="1"/>
          <p:nvPr/>
        </p:nvSpPr>
        <p:spPr>
          <a:xfrm>
            <a:off x="419100" y="2967038"/>
            <a:ext cx="84963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>
              <a:spcBef>
                <a:spcPct val="50000"/>
              </a:spcBef>
            </a:pP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时序图：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描述某一操作过程中，芯片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总线上有关引脚信号随时间发生变化的关系图</a:t>
            </a:r>
          </a:p>
        </p:txBody>
      </p:sp>
      <p:sp>
        <p:nvSpPr>
          <p:cNvPr id="324619" name="矩形 324618"/>
          <p:cNvSpPr/>
          <p:nvPr/>
        </p:nvSpPr>
        <p:spPr>
          <a:xfrm>
            <a:off x="323850" y="4217988"/>
            <a:ext cx="8470900" cy="1516062"/>
          </a:xfrm>
          <a:prstGeom prst="rect">
            <a:avLst/>
          </a:prstGeom>
          <a:solidFill>
            <a:srgbClr val="FFFFCC"/>
          </a:solidFill>
          <a:ln w="9525">
            <a:noFill/>
          </a:ln>
        </p:spPr>
        <p:txBody>
          <a:bodyPr>
            <a:spAutoFit/>
          </a:bodyPr>
          <a:lstStyle/>
          <a:p>
            <a:pPr lvl="0">
              <a:lnSpc>
                <a:spcPct val="130000"/>
              </a:lnSpc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时序图以时钟脉冲信号作为横坐标轴，表示时间顺序；纵轴上是有关操作的引脚信号随时间发生变化的情况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时序图中左边出现的事件发生在右边之前</a:t>
            </a:r>
            <a:endParaRPr lang="zh-CN" altLang="en-US" sz="1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矩形 325633"/>
          <p:cNvSpPr/>
          <p:nvPr/>
        </p:nvSpPr>
        <p:spPr>
          <a:xfrm>
            <a:off x="682625" y="188913"/>
            <a:ext cx="8353425" cy="431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2.4 8086 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微处理器的总线操作与时序  </a:t>
            </a:r>
            <a:endParaRPr lang="zh-CN" altLang="en-US" dirty="0"/>
          </a:p>
        </p:txBody>
      </p:sp>
      <p:sp>
        <p:nvSpPr>
          <p:cNvPr id="325640" name="矩形 325639"/>
          <p:cNvSpPr/>
          <p:nvPr/>
        </p:nvSpPr>
        <p:spPr>
          <a:xfrm>
            <a:off x="395288" y="792163"/>
            <a:ext cx="5829300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lvl="0"/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8086 CPU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的几个基本总线操作及时序 </a:t>
            </a:r>
          </a:p>
        </p:txBody>
      </p:sp>
      <p:pic>
        <p:nvPicPr>
          <p:cNvPr id="325641" name="图片 3256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050" y="1700213"/>
            <a:ext cx="4913313" cy="25368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25642" name="矩形 325641"/>
          <p:cNvSpPr/>
          <p:nvPr/>
        </p:nvSpPr>
        <p:spPr>
          <a:xfrm>
            <a:off x="2771775" y="4437063"/>
            <a:ext cx="2549525" cy="366712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lvl="0"/>
            <a:r>
              <a:rPr lang="zh-CN" altLang="en-US" sz="1800" b="1" dirty="0">
                <a:latin typeface="Arial" panose="020B0604020202020204" pitchFamily="34" charset="0"/>
                <a:ea typeface="宋体" panose="02010600030101010101" pitchFamily="2" charset="-122"/>
              </a:rPr>
              <a:t>系统的复位和启动操作 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矩形 326657"/>
          <p:cNvSpPr/>
          <p:nvPr/>
        </p:nvSpPr>
        <p:spPr>
          <a:xfrm>
            <a:off x="682625" y="188913"/>
            <a:ext cx="8353425" cy="431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2.4 8086 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微处理器的总线操作与时序  </a:t>
            </a:r>
            <a:endParaRPr lang="zh-CN" altLang="en-US" dirty="0"/>
          </a:p>
        </p:txBody>
      </p:sp>
      <p:pic>
        <p:nvPicPr>
          <p:cNvPr id="326662" name="图片 32666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88" y="2058988"/>
            <a:ext cx="4586287" cy="42497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26663" name="文本框 326662"/>
          <p:cNvSpPr txBox="1"/>
          <p:nvPr/>
        </p:nvSpPr>
        <p:spPr>
          <a:xfrm>
            <a:off x="914400" y="874713"/>
            <a:ext cx="6897688" cy="1041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设：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( DS )=2000H, (BX)=300AH,  (2300AH)=82H</a:t>
            </a:r>
          </a:p>
          <a:p>
            <a:pPr lvl="0">
              <a:lnSpc>
                <a:spcPct val="130000"/>
              </a:lnSpc>
            </a:pP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结合指令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MOV  AL, [ BX ]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的执行，描述时序</a:t>
            </a:r>
            <a:endParaRPr lang="en-US" altLang="zh-CN" sz="2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6664" name="矩形 326663"/>
          <p:cNvSpPr/>
          <p:nvPr/>
        </p:nvSpPr>
        <p:spPr>
          <a:xfrm>
            <a:off x="5076825" y="2673350"/>
            <a:ext cx="3581400" cy="32766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 algn="just">
              <a:spcAft>
                <a:spcPct val="30000"/>
              </a:spcAft>
              <a:buNone/>
            </a:pPr>
            <a:r>
              <a:rPr lang="zh-CN" altLang="en-US" sz="2000" b="1" dirty="0"/>
              <a:t>（</a:t>
            </a:r>
            <a:r>
              <a:rPr lang="en-US" altLang="zh-CN" sz="2000" b="1"/>
              <a:t>1</a:t>
            </a:r>
            <a:r>
              <a:rPr lang="zh-CN" altLang="en-US" sz="2000" b="1" dirty="0"/>
              <a:t>）</a:t>
            </a:r>
            <a:r>
              <a:rPr lang="en-US" altLang="zh-CN" sz="2000" b="1"/>
              <a:t>M/IO</a:t>
            </a:r>
            <a:r>
              <a:rPr lang="zh-CN" altLang="en-US" sz="2000" b="1" dirty="0"/>
              <a:t>变高</a:t>
            </a:r>
          </a:p>
          <a:p>
            <a:pPr lvl="0" algn="just">
              <a:spcAft>
                <a:spcPct val="30000"/>
              </a:spcAft>
              <a:buNone/>
            </a:pPr>
            <a:r>
              <a:rPr lang="zh-CN" altLang="en-US" sz="2000" b="1" dirty="0"/>
              <a:t>  </a:t>
            </a:r>
            <a:r>
              <a:rPr lang="en-US" altLang="zh-CN" sz="2000" b="1"/>
              <a:t>CPU</a:t>
            </a:r>
            <a:r>
              <a:rPr lang="zh-CN" altLang="zh-CN" sz="2000" b="1" dirty="0"/>
              <a:t>将对</a:t>
            </a:r>
            <a:r>
              <a:rPr lang="zh-CN" altLang="en-US" sz="2000" b="1" dirty="0"/>
              <a:t>内存进行操作</a:t>
            </a:r>
          </a:p>
          <a:p>
            <a:pPr lvl="0" algn="just">
              <a:buNone/>
            </a:pPr>
            <a:r>
              <a:rPr lang="zh-CN" altLang="en-US" sz="2000" b="1" dirty="0"/>
              <a:t>（</a:t>
            </a:r>
            <a:r>
              <a:rPr lang="en-US" altLang="zh-CN" sz="2000" b="1"/>
              <a:t>2</a:t>
            </a:r>
            <a:r>
              <a:rPr lang="zh-CN" altLang="en-US" sz="2000" b="1" dirty="0"/>
              <a:t>） </a:t>
            </a:r>
            <a:r>
              <a:rPr lang="en-US" altLang="zh-CN" sz="2000" b="1"/>
              <a:t>A</a:t>
            </a:r>
            <a:r>
              <a:rPr lang="en-US" altLang="zh-CN" sz="2000" b="1" baseline="-25000"/>
              <a:t>19</a:t>
            </a:r>
            <a:r>
              <a:rPr lang="en-US" altLang="zh-CN" sz="2000" b="1"/>
              <a:t>~A</a:t>
            </a:r>
            <a:r>
              <a:rPr lang="en-US" altLang="zh-CN" sz="2000" b="1" baseline="-25000"/>
              <a:t>0</a:t>
            </a:r>
            <a:r>
              <a:rPr lang="zh-CN" altLang="en-US" sz="2000" b="1" dirty="0"/>
              <a:t>上出现地址信号</a:t>
            </a:r>
          </a:p>
          <a:p>
            <a:pPr lvl="0" algn="just">
              <a:buNone/>
            </a:pPr>
            <a:r>
              <a:rPr lang="zh-CN" altLang="en-US" sz="2000" b="1" dirty="0"/>
              <a:t>   </a:t>
            </a:r>
            <a:r>
              <a:rPr lang="en-US" altLang="zh-CN" sz="2000" b="1"/>
              <a:t>0010 0101 0000 </a:t>
            </a:r>
            <a:r>
              <a:rPr lang="en-US" altLang="zh-CN" sz="2000" b="1" err="1"/>
              <a:t>0000</a:t>
            </a:r>
            <a:r>
              <a:rPr lang="en-US" altLang="zh-CN" sz="2000" b="1"/>
              <a:t> 1100</a:t>
            </a:r>
          </a:p>
          <a:p>
            <a:pPr lvl="0" algn="just">
              <a:spcBef>
                <a:spcPct val="0"/>
              </a:spcBef>
              <a:buNone/>
            </a:pPr>
            <a:r>
              <a:rPr lang="en-US" altLang="zh-CN" sz="2000" b="1"/>
              <a:t>   A</a:t>
            </a:r>
            <a:r>
              <a:rPr lang="en-US" altLang="zh-CN" sz="2000" b="1" baseline="-25000"/>
              <a:t>19</a:t>
            </a:r>
            <a:r>
              <a:rPr lang="en-US" altLang="zh-CN" sz="2000" b="1"/>
              <a:t>    A</a:t>
            </a:r>
            <a:r>
              <a:rPr lang="en-US" altLang="zh-CN" sz="2000" b="1" baseline="-25000"/>
              <a:t>15</a:t>
            </a:r>
            <a:r>
              <a:rPr lang="en-US" altLang="zh-CN" sz="2000" b="1"/>
              <a:t>   A</a:t>
            </a:r>
            <a:r>
              <a:rPr lang="en-US" altLang="zh-CN" sz="2000" b="1" baseline="-25000"/>
              <a:t>11</a:t>
            </a:r>
            <a:r>
              <a:rPr lang="en-US" altLang="zh-CN" sz="2000" b="1"/>
              <a:t>    A</a:t>
            </a:r>
            <a:r>
              <a:rPr lang="en-US" altLang="zh-CN" sz="2000" b="1" baseline="-25000"/>
              <a:t>7</a:t>
            </a:r>
            <a:r>
              <a:rPr lang="en-US" altLang="zh-CN" sz="2000" b="1"/>
              <a:t>     A</a:t>
            </a:r>
            <a:r>
              <a:rPr lang="en-US" altLang="zh-CN" sz="2000" b="1" baseline="-25000"/>
              <a:t>3</a:t>
            </a:r>
            <a:r>
              <a:rPr lang="en-US" altLang="zh-CN" sz="2000" b="1"/>
              <a:t>  A</a:t>
            </a:r>
            <a:r>
              <a:rPr lang="en-US" altLang="zh-CN" sz="2000" b="1" baseline="-25000"/>
              <a:t>0</a:t>
            </a:r>
            <a:endParaRPr lang="en-US" altLang="zh-CN" sz="2000" b="1"/>
          </a:p>
          <a:p>
            <a:pPr lvl="0" algn="just">
              <a:spcBef>
                <a:spcPct val="50000"/>
              </a:spcBef>
              <a:spcAft>
                <a:spcPct val="30000"/>
              </a:spcAft>
              <a:buNone/>
            </a:pPr>
            <a:r>
              <a:rPr lang="zh-CN" altLang="en-US" sz="2000" b="1" dirty="0"/>
              <a:t>（</a:t>
            </a:r>
            <a:r>
              <a:rPr lang="en-US" altLang="zh-CN" sz="2000" b="1"/>
              <a:t>3</a:t>
            </a:r>
            <a:r>
              <a:rPr lang="zh-CN" altLang="en-US" sz="2000" b="1" dirty="0"/>
              <a:t>）</a:t>
            </a:r>
            <a:r>
              <a:rPr lang="en-US" altLang="zh-CN" sz="2000" b="1"/>
              <a:t>ALE</a:t>
            </a:r>
            <a:r>
              <a:rPr lang="zh-CN" altLang="en-US" sz="2000" b="1" dirty="0"/>
              <a:t>上出现正脉冲信号</a:t>
            </a:r>
          </a:p>
          <a:p>
            <a:pPr lvl="0" algn="just">
              <a:spcAft>
                <a:spcPct val="30000"/>
              </a:spcAft>
              <a:buNone/>
            </a:pPr>
            <a:r>
              <a:rPr lang="zh-CN" altLang="en-US" sz="2000" b="1" dirty="0"/>
              <a:t>（</a:t>
            </a:r>
            <a:r>
              <a:rPr lang="en-US" altLang="zh-CN" sz="2000" b="1"/>
              <a:t>4</a:t>
            </a:r>
            <a:r>
              <a:rPr lang="zh-CN" altLang="en-US" sz="2000" b="1" dirty="0"/>
              <a:t>） </a:t>
            </a:r>
            <a:r>
              <a:rPr lang="en-US" altLang="zh-CN" sz="2000" b="1"/>
              <a:t>DT/R</a:t>
            </a:r>
            <a:r>
              <a:rPr lang="zh-CN" altLang="en-US" sz="2000" b="1" dirty="0"/>
              <a:t>变低，</a:t>
            </a:r>
          </a:p>
          <a:p>
            <a:pPr lvl="0" algn="just">
              <a:spcAft>
                <a:spcPct val="30000"/>
              </a:spcAft>
              <a:buNone/>
            </a:pPr>
            <a:r>
              <a:rPr lang="zh-CN" altLang="en-US" sz="2000" b="1" dirty="0"/>
              <a:t>   数据收发器处于接受状态</a:t>
            </a:r>
          </a:p>
        </p:txBody>
      </p:sp>
      <p:sp>
        <p:nvSpPr>
          <p:cNvPr id="326665" name="文本框 326664"/>
          <p:cNvSpPr txBox="1"/>
          <p:nvPr/>
        </p:nvSpPr>
        <p:spPr>
          <a:xfrm>
            <a:off x="5686425" y="2063750"/>
            <a:ext cx="1046163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>
              <a:spcBef>
                <a:spcPct val="50000"/>
              </a:spcBef>
            </a:pP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20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</a:t>
            </a:r>
          </a:p>
        </p:txBody>
      </p:sp>
      <p:sp>
        <p:nvSpPr>
          <p:cNvPr id="326666" name="矩形 326665"/>
          <p:cNvSpPr/>
          <p:nvPr/>
        </p:nvSpPr>
        <p:spPr>
          <a:xfrm>
            <a:off x="1835150" y="2044700"/>
            <a:ext cx="539750" cy="288925"/>
          </a:xfrm>
          <a:prstGeom prst="rect">
            <a:avLst/>
          </a:prstGeom>
          <a:solidFill>
            <a:srgbClr val="FFFF9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lvl="0" algn="ctr">
              <a:buClrTx/>
            </a:pPr>
            <a:r>
              <a:rPr lang="en-US" altLang="zh-CN" sz="1400" b="1">
                <a:latin typeface="Arial" panose="020B0604020202020204" pitchFamily="34" charset="0"/>
                <a:ea typeface="宋体" panose="02010600030101010101" pitchFamily="2" charset="-122"/>
              </a:rPr>
              <a:t>T</a:t>
            </a:r>
            <a:r>
              <a:rPr lang="en-US" altLang="zh-CN" sz="1400" b="1" baseline="-2500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</a:p>
        </p:txBody>
      </p:sp>
      <p:grpSp>
        <p:nvGrpSpPr>
          <p:cNvPr id="326670" name="组合 326669"/>
          <p:cNvGrpSpPr/>
          <p:nvPr/>
        </p:nvGrpSpPr>
        <p:grpSpPr>
          <a:xfrm>
            <a:off x="6011863" y="2708275"/>
            <a:ext cx="374650" cy="2492375"/>
            <a:chOff x="3787" y="1706"/>
            <a:chExt cx="236" cy="1570"/>
          </a:xfrm>
        </p:grpSpPr>
        <p:sp>
          <p:nvSpPr>
            <p:cNvPr id="326667" name="直接连接符 326666"/>
            <p:cNvSpPr/>
            <p:nvPr/>
          </p:nvSpPr>
          <p:spPr>
            <a:xfrm>
              <a:off x="3787" y="1706"/>
              <a:ext cx="1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6668" name="直接连接符 326667"/>
            <p:cNvSpPr/>
            <p:nvPr/>
          </p:nvSpPr>
          <p:spPr>
            <a:xfrm>
              <a:off x="3887" y="3276"/>
              <a:ext cx="1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66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66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66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66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266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266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266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266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266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266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66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266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266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266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266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266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6664" grpId="0" build="p" advAuto="100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2" name="矩形 327681"/>
          <p:cNvSpPr/>
          <p:nvPr/>
        </p:nvSpPr>
        <p:spPr>
          <a:xfrm>
            <a:off x="682625" y="188913"/>
            <a:ext cx="8353425" cy="431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2.4 8086 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微处理器的总线操作与时序  </a:t>
            </a:r>
            <a:endParaRPr lang="zh-CN" altLang="en-US" dirty="0"/>
          </a:p>
        </p:txBody>
      </p:sp>
      <p:pic>
        <p:nvPicPr>
          <p:cNvPr id="327683" name="图片 32768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88" y="2058988"/>
            <a:ext cx="4586287" cy="42497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27686" name="文本框 327685"/>
          <p:cNvSpPr txBox="1"/>
          <p:nvPr/>
        </p:nvSpPr>
        <p:spPr>
          <a:xfrm>
            <a:off x="5686425" y="2063750"/>
            <a:ext cx="2286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>
              <a:spcBef>
                <a:spcPct val="50000"/>
              </a:spcBef>
            </a:pP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20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</a:t>
            </a:r>
          </a:p>
        </p:txBody>
      </p:sp>
      <p:sp>
        <p:nvSpPr>
          <p:cNvPr id="327691" name="矩形 327690"/>
          <p:cNvSpPr/>
          <p:nvPr/>
        </p:nvSpPr>
        <p:spPr>
          <a:xfrm>
            <a:off x="2447925" y="2044700"/>
            <a:ext cx="539750" cy="288925"/>
          </a:xfrm>
          <a:prstGeom prst="rect">
            <a:avLst/>
          </a:prstGeom>
          <a:solidFill>
            <a:srgbClr val="FFFF9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lvl="0" algn="ctr">
              <a:buClrTx/>
            </a:pPr>
            <a:r>
              <a:rPr lang="en-US" altLang="zh-CN" sz="1400" b="1">
                <a:latin typeface="Arial" panose="020B0604020202020204" pitchFamily="34" charset="0"/>
                <a:ea typeface="宋体" panose="02010600030101010101" pitchFamily="2" charset="-122"/>
              </a:rPr>
              <a:t>T</a:t>
            </a:r>
            <a:r>
              <a:rPr lang="en-US" altLang="zh-CN" sz="1400" b="1" baseline="-2500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327692" name="矩形 327691"/>
          <p:cNvSpPr/>
          <p:nvPr/>
        </p:nvSpPr>
        <p:spPr>
          <a:xfrm>
            <a:off x="5076825" y="2520950"/>
            <a:ext cx="3581400" cy="37877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 algn="just">
              <a:lnSpc>
                <a:spcPct val="90000"/>
              </a:lnSpc>
              <a:buNone/>
            </a:pPr>
            <a:r>
              <a:rPr lang="zh-CN" altLang="en-US" sz="2000" b="1" dirty="0"/>
              <a:t>（</a:t>
            </a:r>
            <a:r>
              <a:rPr lang="en-US" altLang="zh-CN" sz="2000" b="1"/>
              <a:t>5</a:t>
            </a:r>
            <a:r>
              <a:rPr lang="zh-CN" altLang="en-US" sz="2000" b="1" dirty="0"/>
              <a:t>）</a:t>
            </a:r>
            <a:r>
              <a:rPr lang="en-US" altLang="zh-CN" sz="2000" b="1"/>
              <a:t>A</a:t>
            </a:r>
            <a:r>
              <a:rPr lang="en-US" altLang="zh-CN" sz="2000" b="1" baseline="-25000"/>
              <a:t>19</a:t>
            </a:r>
            <a:r>
              <a:rPr lang="en-US" altLang="zh-CN" sz="2000" b="1"/>
              <a:t>~A</a:t>
            </a:r>
            <a:r>
              <a:rPr lang="en-US" altLang="zh-CN" sz="2000" b="1" baseline="-25000"/>
              <a:t>16</a:t>
            </a:r>
            <a:r>
              <a:rPr lang="zh-CN" altLang="en-US" sz="2000" b="1" dirty="0"/>
              <a:t>上出现状态信号</a:t>
            </a:r>
          </a:p>
          <a:p>
            <a:pPr lvl="0" algn="just">
              <a:lnSpc>
                <a:spcPct val="90000"/>
              </a:lnSpc>
              <a:buNone/>
            </a:pPr>
            <a:r>
              <a:rPr lang="zh-CN" altLang="en-US" sz="2000" b="1" dirty="0"/>
              <a:t>     </a:t>
            </a:r>
            <a:r>
              <a:rPr lang="en-US" altLang="zh-CN" sz="2000" b="1"/>
              <a:t>0   IF    1     1</a:t>
            </a:r>
          </a:p>
          <a:p>
            <a:pPr lvl="0" algn="just">
              <a:lnSpc>
                <a:spcPct val="90000"/>
              </a:lnSpc>
              <a:buNone/>
            </a:pPr>
            <a:r>
              <a:rPr lang="en-US" altLang="zh-CN" sz="2000" b="1"/>
              <a:t>    S</a:t>
            </a:r>
            <a:r>
              <a:rPr lang="en-US" altLang="zh-CN" sz="2000" b="1" baseline="-25000"/>
              <a:t>6</a:t>
            </a:r>
            <a:r>
              <a:rPr lang="en-US" altLang="zh-CN" sz="2000" b="1"/>
              <a:t>  S</a:t>
            </a:r>
            <a:r>
              <a:rPr lang="en-US" altLang="zh-CN" sz="2000" b="1" baseline="-25000"/>
              <a:t>5</a:t>
            </a:r>
            <a:r>
              <a:rPr lang="en-US" altLang="zh-CN" sz="2000" b="1"/>
              <a:t>   S</a:t>
            </a:r>
            <a:r>
              <a:rPr lang="en-US" altLang="zh-CN" sz="2000" b="1" baseline="-25000"/>
              <a:t>4  </a:t>
            </a:r>
            <a:r>
              <a:rPr lang="en-US" altLang="zh-CN" sz="2000" b="1"/>
              <a:t>S</a:t>
            </a:r>
            <a:r>
              <a:rPr lang="en-US" altLang="zh-CN" sz="2000" b="1" baseline="-25000"/>
              <a:t>3</a:t>
            </a:r>
            <a:r>
              <a:rPr lang="en-US" altLang="zh-CN" sz="2000" b="1"/>
              <a:t>  </a:t>
            </a:r>
            <a:r>
              <a:rPr lang="zh-CN" altLang="en-US" sz="2000" b="1" dirty="0"/>
              <a:t>使用</a:t>
            </a:r>
            <a:r>
              <a:rPr lang="en-US" altLang="zh-CN" sz="2000" b="1"/>
              <a:t>DS</a:t>
            </a:r>
          </a:p>
          <a:p>
            <a:pPr lvl="0" algn="just">
              <a:lnSpc>
                <a:spcPct val="90000"/>
              </a:lnSpc>
              <a:buNone/>
            </a:pPr>
            <a:r>
              <a:rPr lang="en-US" altLang="zh-CN" sz="2000" b="1">
                <a:latin typeface="宋体" panose="02010600030101010101" pitchFamily="2" charset="-122"/>
              </a:rPr>
              <a:t>  </a:t>
            </a:r>
            <a:endParaRPr lang="en-US" altLang="zh-CN" sz="2000" b="1"/>
          </a:p>
          <a:p>
            <a:pPr lvl="0" algn="just">
              <a:lnSpc>
                <a:spcPct val="90000"/>
              </a:lnSpc>
              <a:spcBef>
                <a:spcPct val="50000"/>
              </a:spcBef>
              <a:buNone/>
            </a:pPr>
            <a:r>
              <a:rPr lang="zh-CN" altLang="en-US" sz="2000" b="1" dirty="0"/>
              <a:t>（</a:t>
            </a:r>
            <a:r>
              <a:rPr lang="en-US" altLang="zh-CN" sz="2000" b="1"/>
              <a:t>6</a:t>
            </a:r>
            <a:r>
              <a:rPr lang="zh-CN" altLang="en-US" sz="2000" b="1" dirty="0"/>
              <a:t>）</a:t>
            </a:r>
            <a:r>
              <a:rPr lang="en-US" altLang="zh-CN" sz="2000" b="1"/>
              <a:t>AD</a:t>
            </a:r>
            <a:r>
              <a:rPr lang="en-US" altLang="zh-CN" sz="2000" b="1" baseline="-25000"/>
              <a:t>7</a:t>
            </a:r>
            <a:r>
              <a:rPr lang="en-US" altLang="zh-CN" sz="2000" b="1"/>
              <a:t>~AD</a:t>
            </a:r>
            <a:r>
              <a:rPr lang="en-US" altLang="zh-CN" sz="2000" b="1" baseline="-25000"/>
              <a:t>0</a:t>
            </a:r>
            <a:r>
              <a:rPr lang="zh-CN" altLang="en-US" sz="2000" b="1" dirty="0"/>
              <a:t>变高阻态</a:t>
            </a:r>
          </a:p>
          <a:p>
            <a:pPr lvl="0">
              <a:lnSpc>
                <a:spcPct val="130000"/>
              </a:lnSpc>
              <a:buClr>
                <a:srgbClr val="6600FF"/>
              </a:buClr>
              <a:buFont typeface="Monotype Sorts" pitchFamily="2" charset="2"/>
              <a:buNone/>
            </a:pPr>
            <a:r>
              <a:rPr lang="zh-CN" altLang="en-US" sz="2000" b="1" dirty="0"/>
              <a:t>（</a:t>
            </a:r>
            <a:r>
              <a:rPr lang="en-US" altLang="zh-CN" sz="2000" b="1"/>
              <a:t>7</a:t>
            </a:r>
            <a:r>
              <a:rPr lang="zh-CN" altLang="en-US" sz="2000" b="1" dirty="0"/>
              <a:t>）</a:t>
            </a:r>
            <a:r>
              <a:rPr lang="en-US" altLang="zh-CN" sz="2000" b="1"/>
              <a:t>RD</a:t>
            </a:r>
            <a:r>
              <a:rPr lang="zh-CN" altLang="en-US" sz="2000" b="1" dirty="0"/>
              <a:t>变低</a:t>
            </a:r>
          </a:p>
          <a:p>
            <a:pPr lvl="0">
              <a:lnSpc>
                <a:spcPct val="130000"/>
              </a:lnSpc>
              <a:buClr>
                <a:srgbClr val="6600FF"/>
              </a:buClr>
              <a:buFont typeface="Monotype Sorts" pitchFamily="2" charset="2"/>
              <a:buNone/>
            </a:pPr>
            <a:r>
              <a:rPr lang="zh-CN" altLang="en-US" sz="2000" b="1" dirty="0"/>
              <a:t>   发给内存</a:t>
            </a:r>
            <a:r>
              <a:rPr lang="en-US" altLang="zh-CN" sz="2000" b="1"/>
              <a:t>, CPU</a:t>
            </a:r>
            <a:r>
              <a:rPr lang="zh-CN" altLang="en-US" sz="2000" b="1" dirty="0"/>
              <a:t>将进行读操作</a:t>
            </a:r>
          </a:p>
          <a:p>
            <a:pPr lvl="0">
              <a:lnSpc>
                <a:spcPct val="130000"/>
              </a:lnSpc>
              <a:buClr>
                <a:srgbClr val="6600FF"/>
              </a:buClr>
              <a:buFont typeface="Monotype Sorts" pitchFamily="2" charset="2"/>
              <a:buNone/>
            </a:pPr>
            <a:r>
              <a:rPr lang="zh-CN" altLang="en-US" sz="2000" b="1" dirty="0"/>
              <a:t>（</a:t>
            </a:r>
            <a:r>
              <a:rPr lang="en-US" altLang="zh-CN" sz="2000" b="1"/>
              <a:t>8</a:t>
            </a:r>
            <a:r>
              <a:rPr lang="zh-CN" altLang="en-US" sz="2000" b="1" dirty="0"/>
              <a:t>）</a:t>
            </a:r>
            <a:r>
              <a:rPr lang="en-US" altLang="zh-CN" sz="2000" b="1"/>
              <a:t>DEN </a:t>
            </a:r>
            <a:r>
              <a:rPr lang="zh-CN" altLang="en-US" sz="2000" b="1" dirty="0"/>
              <a:t>变低</a:t>
            </a:r>
          </a:p>
          <a:p>
            <a:pPr lvl="0">
              <a:lnSpc>
                <a:spcPct val="130000"/>
              </a:lnSpc>
              <a:buClr>
                <a:srgbClr val="6600FF"/>
              </a:buClr>
              <a:buFont typeface="Monotype Sorts" pitchFamily="2" charset="2"/>
              <a:buNone/>
            </a:pPr>
            <a:r>
              <a:rPr lang="zh-CN" altLang="en-US" sz="2000" b="1" dirty="0"/>
              <a:t>   允许数据收发器进行数据传送</a:t>
            </a:r>
          </a:p>
          <a:p>
            <a:pPr lvl="0" algn="just">
              <a:lnSpc>
                <a:spcPct val="90000"/>
              </a:lnSpc>
              <a:spcBef>
                <a:spcPct val="50000"/>
              </a:spcBef>
              <a:buNone/>
            </a:pPr>
            <a:endParaRPr lang="zh-CN" altLang="en-US" sz="2000" b="1" dirty="0">
              <a:latin typeface="宋体" panose="02010600030101010101" pitchFamily="2" charset="-122"/>
            </a:endParaRPr>
          </a:p>
        </p:txBody>
      </p:sp>
      <p:grpSp>
        <p:nvGrpSpPr>
          <p:cNvPr id="327696" name="组合 327695"/>
          <p:cNvGrpSpPr/>
          <p:nvPr/>
        </p:nvGrpSpPr>
        <p:grpSpPr>
          <a:xfrm>
            <a:off x="5724525" y="4394200"/>
            <a:ext cx="503238" cy="906463"/>
            <a:chOff x="3606" y="2768"/>
            <a:chExt cx="317" cy="571"/>
          </a:xfrm>
        </p:grpSpPr>
        <p:sp>
          <p:nvSpPr>
            <p:cNvPr id="327694" name="直接连接符 327693"/>
            <p:cNvSpPr/>
            <p:nvPr/>
          </p:nvSpPr>
          <p:spPr>
            <a:xfrm>
              <a:off x="3615" y="2768"/>
              <a:ext cx="18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7695" name="直接连接符 327694"/>
            <p:cNvSpPr/>
            <p:nvPr/>
          </p:nvSpPr>
          <p:spPr>
            <a:xfrm>
              <a:off x="3606" y="3339"/>
              <a:ext cx="31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76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76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76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76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276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276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276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276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276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276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76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276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276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276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276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276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276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276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692" grpId="0" build="p" advAuto="100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706" name="矩形 328705"/>
          <p:cNvSpPr/>
          <p:nvPr/>
        </p:nvSpPr>
        <p:spPr>
          <a:xfrm>
            <a:off x="682625" y="188913"/>
            <a:ext cx="8353425" cy="431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2.4 8086 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微处理器的总线操作与时序  </a:t>
            </a:r>
            <a:endParaRPr lang="zh-CN" altLang="en-US" dirty="0"/>
          </a:p>
        </p:txBody>
      </p:sp>
      <p:pic>
        <p:nvPicPr>
          <p:cNvPr id="328707" name="图片 3287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88" y="2058988"/>
            <a:ext cx="4586287" cy="42497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28709" name="文本框 328708"/>
          <p:cNvSpPr txBox="1"/>
          <p:nvPr/>
        </p:nvSpPr>
        <p:spPr>
          <a:xfrm>
            <a:off x="5686425" y="2063750"/>
            <a:ext cx="2286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>
              <a:spcBef>
                <a:spcPct val="50000"/>
              </a:spcBef>
            </a:pP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20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</a:t>
            </a:r>
          </a:p>
        </p:txBody>
      </p:sp>
      <p:sp>
        <p:nvSpPr>
          <p:cNvPr id="328710" name="矩形 328709"/>
          <p:cNvSpPr/>
          <p:nvPr/>
        </p:nvSpPr>
        <p:spPr>
          <a:xfrm>
            <a:off x="3024188" y="2044700"/>
            <a:ext cx="539750" cy="288925"/>
          </a:xfrm>
          <a:prstGeom prst="rect">
            <a:avLst/>
          </a:prstGeom>
          <a:solidFill>
            <a:srgbClr val="FFFF9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lvl="0" algn="ctr">
              <a:buClrTx/>
            </a:pPr>
            <a:r>
              <a:rPr lang="en-US" altLang="zh-CN" sz="1400" b="1">
                <a:latin typeface="Arial" panose="020B0604020202020204" pitchFamily="34" charset="0"/>
                <a:ea typeface="宋体" panose="02010600030101010101" pitchFamily="2" charset="-122"/>
              </a:rPr>
              <a:t>T</a:t>
            </a:r>
            <a:r>
              <a:rPr lang="en-US" altLang="zh-CN" sz="1400" b="1" baseline="-25000"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328715" name="矩形 328714"/>
          <p:cNvSpPr/>
          <p:nvPr/>
        </p:nvSpPr>
        <p:spPr>
          <a:xfrm>
            <a:off x="5076825" y="2852738"/>
            <a:ext cx="3690938" cy="16764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algn="just">
              <a:lnSpc>
                <a:spcPct val="130000"/>
              </a:lnSpc>
              <a:spcAft>
                <a:spcPct val="20000"/>
              </a:spcAft>
              <a:buClr>
                <a:srgbClr val="6600FF"/>
              </a:buClr>
              <a:buFont typeface="Monotype Sorts" pitchFamily="2" charset="2"/>
              <a:buNone/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9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AD</a:t>
            </a:r>
            <a:r>
              <a:rPr lang="en-US" altLang="zh-CN" sz="20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~AD</a:t>
            </a:r>
            <a:r>
              <a:rPr lang="en-US" altLang="zh-CN" sz="20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上出现数据信号</a:t>
            </a:r>
          </a:p>
          <a:p>
            <a:pPr lvl="1" algn="just">
              <a:spcAft>
                <a:spcPct val="20000"/>
              </a:spcAft>
              <a:buClr>
                <a:srgbClr val="6600FF"/>
              </a:buClr>
              <a:buFont typeface="Monotype Sorts" pitchFamily="2" charset="2"/>
              <a:buNone/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1 0 0 0 0 0 1 0</a:t>
            </a:r>
          </a:p>
          <a:p>
            <a:pPr lvl="1" algn="just">
              <a:spcAft>
                <a:spcPct val="20000"/>
              </a:spcAft>
              <a:buClr>
                <a:srgbClr val="6600FF"/>
              </a:buClr>
              <a:buFont typeface="Monotype Sorts" pitchFamily="2" charset="2"/>
              <a:buNone/>
            </a:pP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 AD</a:t>
            </a:r>
            <a:r>
              <a:rPr lang="en-US" altLang="zh-CN" sz="20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                  AD</a:t>
            </a:r>
            <a:r>
              <a:rPr lang="en-US" altLang="zh-CN" sz="20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  <a:p>
            <a:pPr lvl="0" algn="just">
              <a:lnSpc>
                <a:spcPct val="130000"/>
              </a:lnSpc>
              <a:spcAft>
                <a:spcPct val="20000"/>
              </a:spcAft>
              <a:buClr>
                <a:srgbClr val="6600FF"/>
              </a:buClr>
              <a:buFont typeface="Monotype Sorts" pitchFamily="2" charset="2"/>
              <a:buNone/>
            </a:pP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zh-CN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数据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由 </a:t>
            </a: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2300AH 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内存单元送出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54" name="矩形 330753"/>
          <p:cNvSpPr/>
          <p:nvPr/>
        </p:nvSpPr>
        <p:spPr>
          <a:xfrm>
            <a:off x="682625" y="188913"/>
            <a:ext cx="8353425" cy="431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2.4 8086 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微处理器的总线操作与时序  </a:t>
            </a:r>
            <a:endParaRPr lang="zh-CN" altLang="en-US" dirty="0"/>
          </a:p>
        </p:txBody>
      </p:sp>
      <p:pic>
        <p:nvPicPr>
          <p:cNvPr id="330755" name="图片 3307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88" y="2058988"/>
            <a:ext cx="4586287" cy="42497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30757" name="文本框 330756"/>
          <p:cNvSpPr txBox="1"/>
          <p:nvPr/>
        </p:nvSpPr>
        <p:spPr>
          <a:xfrm>
            <a:off x="5686425" y="2063750"/>
            <a:ext cx="2286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>
              <a:spcBef>
                <a:spcPct val="50000"/>
              </a:spcBef>
            </a:pP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20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</a:t>
            </a:r>
          </a:p>
        </p:txBody>
      </p:sp>
      <p:sp>
        <p:nvSpPr>
          <p:cNvPr id="330758" name="矩形 330757"/>
          <p:cNvSpPr/>
          <p:nvPr/>
        </p:nvSpPr>
        <p:spPr>
          <a:xfrm>
            <a:off x="3606800" y="2044700"/>
            <a:ext cx="539750" cy="288925"/>
          </a:xfrm>
          <a:prstGeom prst="rect">
            <a:avLst/>
          </a:prstGeom>
          <a:solidFill>
            <a:srgbClr val="FFFF9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lvl="0" algn="ctr">
              <a:buClrTx/>
            </a:pPr>
            <a:r>
              <a:rPr lang="en-US" altLang="zh-CN" sz="1400" b="1">
                <a:latin typeface="Arial" panose="020B0604020202020204" pitchFamily="34" charset="0"/>
                <a:ea typeface="宋体" panose="02010600030101010101" pitchFamily="2" charset="-122"/>
              </a:rPr>
              <a:t>T</a:t>
            </a:r>
            <a:r>
              <a:rPr lang="en-US" altLang="zh-CN" sz="1400" b="1" baseline="-25000"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330760" name="文本框 330759"/>
          <p:cNvSpPr txBox="1"/>
          <p:nvPr/>
        </p:nvSpPr>
        <p:spPr>
          <a:xfrm>
            <a:off x="5364163" y="2776538"/>
            <a:ext cx="3311525" cy="23812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lstStyle/>
          <a:p>
            <a:pPr lvl="0" algn="just">
              <a:lnSpc>
                <a:spcPct val="130000"/>
              </a:lnSpc>
              <a:buClr>
                <a:srgbClr val="6600FF"/>
              </a:buClr>
              <a:buSzPct val="55000"/>
              <a:buFont typeface="Monotype Sorts" pitchFamily="2" charset="2"/>
              <a:buNone/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 </a:t>
            </a: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RD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变高，</a:t>
            </a:r>
          </a:p>
          <a:p>
            <a:pPr lvl="0" algn="just">
              <a:lnSpc>
                <a:spcPct val="130000"/>
              </a:lnSpc>
              <a:buClr>
                <a:srgbClr val="6600FF"/>
              </a:buClr>
              <a:buSzPct val="55000"/>
              <a:buFont typeface="Monotype Sorts" pitchFamily="2" charset="2"/>
              <a:buNone/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CPU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从数据线上读数据</a:t>
            </a: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</a:p>
          <a:p>
            <a:pPr lvl="0" algn="just">
              <a:lnSpc>
                <a:spcPct val="130000"/>
              </a:lnSpc>
              <a:buClr>
                <a:srgbClr val="6600FF"/>
              </a:buClr>
              <a:buSzPct val="55000"/>
              <a:buFont typeface="Monotype Sorts" pitchFamily="2" charset="2"/>
              <a:buNone/>
            </a:pP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将数据</a:t>
            </a: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82H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读到</a:t>
            </a: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AL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中</a:t>
            </a:r>
          </a:p>
          <a:p>
            <a:pPr lvl="0" algn="just">
              <a:lnSpc>
                <a:spcPct val="130000"/>
              </a:lnSpc>
              <a:buClr>
                <a:srgbClr val="6600FF"/>
              </a:buClr>
              <a:buSzPct val="55000"/>
              <a:buFont typeface="Monotype Sorts" pitchFamily="2" charset="2"/>
              <a:buNone/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11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 </a:t>
            </a: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DEN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变高，</a:t>
            </a:r>
          </a:p>
          <a:p>
            <a:pPr lvl="0" algn="just">
              <a:lnSpc>
                <a:spcPct val="130000"/>
              </a:lnSpc>
              <a:buClr>
                <a:srgbClr val="6600FF"/>
              </a:buClr>
              <a:buSzPct val="55000"/>
              <a:buFont typeface="Monotype Sorts" pitchFamily="2" charset="2"/>
              <a:buNone/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数据收发器与总线断开，    </a:t>
            </a:r>
          </a:p>
          <a:p>
            <a:pPr lvl="0" algn="just">
              <a:lnSpc>
                <a:spcPct val="130000"/>
              </a:lnSpc>
              <a:buClr>
                <a:srgbClr val="6600FF"/>
              </a:buClr>
              <a:buSzPct val="55000"/>
              <a:buFont typeface="Monotype Sorts" pitchFamily="2" charset="2"/>
              <a:buNone/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</a:t>
            </a: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AD</a:t>
            </a:r>
            <a:r>
              <a:rPr lang="en-US" altLang="zh-CN" sz="20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~AD</a:t>
            </a:r>
            <a:r>
              <a:rPr lang="en-US" altLang="zh-CN" sz="20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变高阻态</a:t>
            </a:r>
          </a:p>
        </p:txBody>
      </p:sp>
      <p:grpSp>
        <p:nvGrpSpPr>
          <p:cNvPr id="330767" name="组合 330766"/>
          <p:cNvGrpSpPr/>
          <p:nvPr/>
        </p:nvGrpSpPr>
        <p:grpSpPr>
          <a:xfrm>
            <a:off x="6199188" y="2881313"/>
            <a:ext cx="503237" cy="1195387"/>
            <a:chOff x="3905" y="1815"/>
            <a:chExt cx="317" cy="753"/>
          </a:xfrm>
        </p:grpSpPr>
        <p:sp>
          <p:nvSpPr>
            <p:cNvPr id="330765" name="直接连接符 330764"/>
            <p:cNvSpPr/>
            <p:nvPr/>
          </p:nvSpPr>
          <p:spPr>
            <a:xfrm>
              <a:off x="3923" y="1815"/>
              <a:ext cx="18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0766" name="直接连接符 330765"/>
            <p:cNvSpPr/>
            <p:nvPr/>
          </p:nvSpPr>
          <p:spPr>
            <a:xfrm>
              <a:off x="3905" y="2568"/>
              <a:ext cx="31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07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07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0760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78" name="矩形 331777"/>
          <p:cNvSpPr/>
          <p:nvPr/>
        </p:nvSpPr>
        <p:spPr>
          <a:xfrm>
            <a:off x="682625" y="188913"/>
            <a:ext cx="8353425" cy="431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2.4 8086 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微处理器的总线操作与时序  </a:t>
            </a:r>
            <a:endParaRPr lang="zh-CN" altLang="en-US" dirty="0"/>
          </a:p>
        </p:txBody>
      </p:sp>
      <p:sp>
        <p:nvSpPr>
          <p:cNvPr id="331785" name="文本框 331784"/>
          <p:cNvSpPr txBox="1"/>
          <p:nvPr/>
        </p:nvSpPr>
        <p:spPr>
          <a:xfrm>
            <a:off x="107950" y="836613"/>
            <a:ext cx="7992442" cy="105259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示例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：假设：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DS =7000H, DI=200BH,  BL=6DH</a:t>
            </a:r>
          </a:p>
          <a:p>
            <a:pPr lvl="0">
              <a:lnSpc>
                <a:spcPct val="13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结合指令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MOV   [ DI ], BL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的执行，描述时序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1786" name="矩形 331785"/>
          <p:cNvSpPr/>
          <p:nvPr/>
        </p:nvSpPr>
        <p:spPr>
          <a:xfrm>
            <a:off x="5076825" y="2705100"/>
            <a:ext cx="3887788" cy="29559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 algn="just">
              <a:spcAft>
                <a:spcPct val="30000"/>
              </a:spcAft>
              <a:buNone/>
            </a:pPr>
            <a:r>
              <a:rPr lang="zh-CN" altLang="en-US" sz="2000" b="1" dirty="0"/>
              <a:t>（</a:t>
            </a:r>
            <a:r>
              <a:rPr lang="en-US" altLang="zh-CN" sz="2000" b="1"/>
              <a:t>1</a:t>
            </a:r>
            <a:r>
              <a:rPr lang="zh-CN" altLang="en-US" sz="2000" b="1" dirty="0"/>
              <a:t>）</a:t>
            </a:r>
            <a:r>
              <a:rPr lang="en-US" altLang="zh-CN" sz="2000" b="1"/>
              <a:t>M/IO</a:t>
            </a:r>
            <a:r>
              <a:rPr lang="zh-CN" altLang="en-US" sz="2000" b="1" dirty="0">
                <a:latin typeface="楷体_GB2312" pitchFamily="49" charset="-122"/>
              </a:rPr>
              <a:t>变高</a:t>
            </a:r>
            <a:endParaRPr lang="zh-CN" altLang="en-US" sz="2000" b="1" dirty="0">
              <a:latin typeface="宋体" panose="02010600030101010101" pitchFamily="2" charset="-122"/>
            </a:endParaRPr>
          </a:p>
          <a:p>
            <a:pPr lvl="0" algn="just">
              <a:spcAft>
                <a:spcPct val="30000"/>
              </a:spcAft>
              <a:buNone/>
            </a:pPr>
            <a:r>
              <a:rPr lang="zh-CN" altLang="en-US" sz="2000" b="1" dirty="0">
                <a:latin typeface="宋体" panose="02010600030101010101" pitchFamily="2" charset="-122"/>
              </a:rPr>
              <a:t>  </a:t>
            </a:r>
            <a:r>
              <a:rPr lang="en-US" altLang="zh-CN" sz="2000" b="1"/>
              <a:t>CPU</a:t>
            </a:r>
            <a:r>
              <a:rPr lang="zh-CN" altLang="zh-CN" sz="2000" b="1" dirty="0">
                <a:latin typeface="楷体_GB2312" pitchFamily="49" charset="-122"/>
              </a:rPr>
              <a:t>将对</a:t>
            </a:r>
            <a:r>
              <a:rPr lang="zh-CN" altLang="en-US" sz="2000" b="1" dirty="0">
                <a:latin typeface="楷体_GB2312" pitchFamily="49" charset="-122"/>
              </a:rPr>
              <a:t>内存进行操作</a:t>
            </a:r>
          </a:p>
          <a:p>
            <a:pPr lvl="0" algn="just">
              <a:buNone/>
            </a:pPr>
            <a:r>
              <a:rPr lang="zh-CN" altLang="en-US" sz="2000" b="1" dirty="0">
                <a:latin typeface="宋体" panose="02010600030101010101" pitchFamily="2" charset="-122"/>
              </a:rPr>
              <a:t>（</a:t>
            </a:r>
            <a:r>
              <a:rPr lang="en-US" altLang="zh-CN" sz="2000" b="1">
                <a:latin typeface="宋体" panose="02010600030101010101" pitchFamily="2" charset="-122"/>
              </a:rPr>
              <a:t>2</a:t>
            </a:r>
            <a:r>
              <a:rPr lang="zh-CN" altLang="en-US" sz="2000" b="1" dirty="0">
                <a:latin typeface="宋体" panose="02010600030101010101" pitchFamily="2" charset="-122"/>
              </a:rPr>
              <a:t>）</a:t>
            </a:r>
            <a:r>
              <a:rPr lang="en-US" altLang="zh-CN" sz="2000" b="1"/>
              <a:t>A</a:t>
            </a:r>
            <a:r>
              <a:rPr lang="en-US" altLang="zh-CN" sz="2000" b="1" baseline="-25000">
                <a:latin typeface="Times New Roman" panose="02020603050405020304" pitchFamily="18" charset="0"/>
              </a:rPr>
              <a:t>19</a:t>
            </a:r>
            <a:r>
              <a:rPr lang="en-US" altLang="zh-CN" sz="2000" b="1"/>
              <a:t>~A</a:t>
            </a:r>
            <a:r>
              <a:rPr lang="en-US" altLang="zh-CN" sz="2000" b="1" baseline="-25000">
                <a:latin typeface="Times New Roman" panose="02020603050405020304" pitchFamily="18" charset="0"/>
              </a:rPr>
              <a:t>0</a:t>
            </a:r>
            <a:r>
              <a:rPr lang="zh-CN" altLang="en-US" sz="2000" b="1" dirty="0">
                <a:latin typeface="楷体_GB2312" pitchFamily="49" charset="-122"/>
              </a:rPr>
              <a:t>上出现地址信号</a:t>
            </a:r>
            <a:endParaRPr lang="zh-CN" altLang="en-US" sz="2000" b="1" dirty="0">
              <a:latin typeface="宋体" panose="02010600030101010101" pitchFamily="2" charset="-122"/>
            </a:endParaRPr>
          </a:p>
          <a:p>
            <a:pPr lvl="0" algn="just">
              <a:buNone/>
            </a:pPr>
            <a:r>
              <a:rPr lang="zh-CN" altLang="en-US" sz="2000" b="1" dirty="0">
                <a:latin typeface="宋体" panose="02010600030101010101" pitchFamily="2" charset="-122"/>
              </a:rPr>
              <a:t>  </a:t>
            </a:r>
            <a:r>
              <a:rPr lang="en-US" altLang="zh-CN" sz="2000" b="1">
                <a:latin typeface="宋体" panose="02010600030101010101" pitchFamily="2" charset="-122"/>
              </a:rPr>
              <a:t>0111 0010 0000 </a:t>
            </a:r>
            <a:r>
              <a:rPr lang="en-US" altLang="zh-CN" sz="2000" b="1" err="1">
                <a:latin typeface="宋体" panose="02010600030101010101" pitchFamily="2" charset="-122"/>
              </a:rPr>
              <a:t>0000</a:t>
            </a:r>
            <a:r>
              <a:rPr lang="en-US" altLang="zh-CN" sz="2000" b="1">
                <a:latin typeface="宋体" panose="02010600030101010101" pitchFamily="2" charset="-122"/>
              </a:rPr>
              <a:t> 1011</a:t>
            </a:r>
          </a:p>
          <a:p>
            <a:pPr lvl="0" algn="just">
              <a:spcBef>
                <a:spcPct val="0"/>
              </a:spcBef>
              <a:buNone/>
            </a:pPr>
            <a:r>
              <a:rPr lang="en-US" altLang="zh-CN" sz="2000" b="1">
                <a:latin typeface="宋体" panose="02010600030101010101" pitchFamily="2" charset="-122"/>
              </a:rPr>
              <a:t>  A</a:t>
            </a:r>
            <a:r>
              <a:rPr lang="en-US" altLang="zh-CN" sz="2000" b="1" baseline="-25000">
                <a:latin typeface="宋体" panose="02010600030101010101" pitchFamily="2" charset="-122"/>
              </a:rPr>
              <a:t>19</a:t>
            </a:r>
            <a:r>
              <a:rPr lang="en-US" altLang="zh-CN" sz="2000" b="1">
                <a:latin typeface="宋体" panose="02010600030101010101" pitchFamily="2" charset="-122"/>
              </a:rPr>
              <a:t>  A</a:t>
            </a:r>
            <a:r>
              <a:rPr lang="en-US" altLang="zh-CN" sz="2000" b="1" baseline="-25000">
                <a:latin typeface="宋体" panose="02010600030101010101" pitchFamily="2" charset="-122"/>
              </a:rPr>
              <a:t>15</a:t>
            </a:r>
            <a:r>
              <a:rPr lang="en-US" altLang="zh-CN" sz="2000" b="1">
                <a:latin typeface="宋体" panose="02010600030101010101" pitchFamily="2" charset="-122"/>
              </a:rPr>
              <a:t>   A</a:t>
            </a:r>
            <a:r>
              <a:rPr lang="en-US" altLang="zh-CN" sz="2000" b="1" baseline="-25000">
                <a:latin typeface="宋体" panose="02010600030101010101" pitchFamily="2" charset="-122"/>
              </a:rPr>
              <a:t>11</a:t>
            </a:r>
            <a:r>
              <a:rPr lang="en-US" altLang="zh-CN" sz="2000" b="1">
                <a:latin typeface="宋体" panose="02010600030101010101" pitchFamily="2" charset="-122"/>
              </a:rPr>
              <a:t>   A</a:t>
            </a:r>
            <a:r>
              <a:rPr lang="en-US" altLang="zh-CN" sz="2000" b="1" baseline="-25000">
                <a:latin typeface="宋体" panose="02010600030101010101" pitchFamily="2" charset="-122"/>
              </a:rPr>
              <a:t>7</a:t>
            </a:r>
            <a:r>
              <a:rPr lang="en-US" altLang="zh-CN" sz="2000" b="1">
                <a:latin typeface="宋体" panose="02010600030101010101" pitchFamily="2" charset="-122"/>
              </a:rPr>
              <a:t>   A</a:t>
            </a:r>
            <a:r>
              <a:rPr lang="en-US" altLang="zh-CN" sz="2000" b="1" baseline="-25000">
                <a:latin typeface="宋体" panose="02010600030101010101" pitchFamily="2" charset="-122"/>
              </a:rPr>
              <a:t>3</a:t>
            </a:r>
            <a:r>
              <a:rPr lang="en-US" altLang="zh-CN" sz="2000" b="1">
                <a:latin typeface="宋体" panose="02010600030101010101" pitchFamily="2" charset="-122"/>
              </a:rPr>
              <a:t>  A</a:t>
            </a:r>
            <a:r>
              <a:rPr lang="en-US" altLang="zh-CN" sz="2000" b="1" baseline="-25000">
                <a:latin typeface="宋体" panose="02010600030101010101" pitchFamily="2" charset="-122"/>
              </a:rPr>
              <a:t>0</a:t>
            </a:r>
            <a:endParaRPr lang="en-US" altLang="zh-CN" sz="2000" b="1">
              <a:latin typeface="宋体" panose="02010600030101010101" pitchFamily="2" charset="-122"/>
            </a:endParaRPr>
          </a:p>
          <a:p>
            <a:pPr lvl="0" algn="just">
              <a:spcBef>
                <a:spcPct val="50000"/>
              </a:spcBef>
              <a:spcAft>
                <a:spcPct val="30000"/>
              </a:spcAft>
              <a:buNone/>
            </a:pPr>
            <a:r>
              <a:rPr lang="zh-CN" altLang="en-US" sz="2000" b="1" dirty="0">
                <a:latin typeface="宋体" panose="02010600030101010101" pitchFamily="2" charset="-122"/>
              </a:rPr>
              <a:t>（</a:t>
            </a:r>
            <a:r>
              <a:rPr lang="en-US" altLang="zh-CN" sz="2000" b="1">
                <a:latin typeface="宋体" panose="02010600030101010101" pitchFamily="2" charset="-122"/>
              </a:rPr>
              <a:t>3</a:t>
            </a:r>
            <a:r>
              <a:rPr lang="zh-CN" altLang="en-US" sz="2000" b="1" dirty="0">
                <a:latin typeface="宋体" panose="02010600030101010101" pitchFamily="2" charset="-122"/>
              </a:rPr>
              <a:t>）</a:t>
            </a:r>
            <a:r>
              <a:rPr lang="en-US" altLang="zh-CN" sz="2000" b="1"/>
              <a:t>ALE</a:t>
            </a:r>
            <a:r>
              <a:rPr lang="zh-CN" altLang="en-US" sz="2000" b="1" dirty="0">
                <a:latin typeface="楷体_GB2312" pitchFamily="49" charset="-122"/>
              </a:rPr>
              <a:t>上出现正脉冲信号</a:t>
            </a:r>
            <a:endParaRPr lang="zh-CN" altLang="en-US" sz="2000" b="1" dirty="0">
              <a:latin typeface="宋体" panose="02010600030101010101" pitchFamily="2" charset="-122"/>
            </a:endParaRPr>
          </a:p>
          <a:p>
            <a:pPr lvl="0" algn="just">
              <a:spcAft>
                <a:spcPct val="30000"/>
              </a:spcAft>
              <a:buNone/>
            </a:pPr>
            <a:r>
              <a:rPr lang="zh-CN" altLang="en-US" sz="2000" b="1" dirty="0">
                <a:latin typeface="宋体" panose="02010600030101010101" pitchFamily="2" charset="-122"/>
              </a:rPr>
              <a:t>（</a:t>
            </a:r>
            <a:r>
              <a:rPr lang="en-US" altLang="zh-CN" sz="2000" b="1">
                <a:latin typeface="宋体" panose="02010600030101010101" pitchFamily="2" charset="-122"/>
              </a:rPr>
              <a:t>4</a:t>
            </a:r>
            <a:r>
              <a:rPr lang="zh-CN" altLang="en-US" sz="2000" b="1" dirty="0">
                <a:latin typeface="宋体" panose="02010600030101010101" pitchFamily="2" charset="-122"/>
              </a:rPr>
              <a:t>）</a:t>
            </a:r>
            <a:r>
              <a:rPr lang="en-US" altLang="zh-CN" sz="2000" b="1"/>
              <a:t>DT/R</a:t>
            </a:r>
            <a:r>
              <a:rPr lang="zh-CN" altLang="en-US" sz="2000" b="1" dirty="0">
                <a:latin typeface="楷体_GB2312" pitchFamily="49" charset="-122"/>
              </a:rPr>
              <a:t>变高，数据收发器发送</a:t>
            </a:r>
          </a:p>
        </p:txBody>
      </p:sp>
      <p:sp>
        <p:nvSpPr>
          <p:cNvPr id="331787" name="文本框 331786"/>
          <p:cNvSpPr txBox="1"/>
          <p:nvPr/>
        </p:nvSpPr>
        <p:spPr>
          <a:xfrm>
            <a:off x="5973763" y="2063750"/>
            <a:ext cx="1046162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>
              <a:spcBef>
                <a:spcPct val="50000"/>
              </a:spcBef>
            </a:pP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20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</a:t>
            </a:r>
          </a:p>
        </p:txBody>
      </p:sp>
      <p:grpSp>
        <p:nvGrpSpPr>
          <p:cNvPr id="331792" name="组合 331791"/>
          <p:cNvGrpSpPr/>
          <p:nvPr/>
        </p:nvGrpSpPr>
        <p:grpSpPr>
          <a:xfrm>
            <a:off x="5724525" y="2751138"/>
            <a:ext cx="590550" cy="2492375"/>
            <a:chOff x="3606" y="1733"/>
            <a:chExt cx="372" cy="1570"/>
          </a:xfrm>
        </p:grpSpPr>
        <p:sp>
          <p:nvSpPr>
            <p:cNvPr id="331789" name="直接连接符 331788"/>
            <p:cNvSpPr/>
            <p:nvPr/>
          </p:nvSpPr>
          <p:spPr>
            <a:xfrm>
              <a:off x="3797" y="1733"/>
              <a:ext cx="18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1790" name="直接连接符 331789"/>
            <p:cNvSpPr/>
            <p:nvPr/>
          </p:nvSpPr>
          <p:spPr>
            <a:xfrm>
              <a:off x="3606" y="3003"/>
              <a:ext cx="31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1791" name="直接连接符 331790"/>
            <p:cNvSpPr/>
            <p:nvPr/>
          </p:nvSpPr>
          <p:spPr>
            <a:xfrm>
              <a:off x="3833" y="3303"/>
              <a:ext cx="1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pic>
        <p:nvPicPr>
          <p:cNvPr id="331794" name="图片 33179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50" y="2349500"/>
            <a:ext cx="3095625" cy="31670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31793" name="矩形 331792"/>
          <p:cNvSpPr/>
          <p:nvPr/>
        </p:nvSpPr>
        <p:spPr>
          <a:xfrm>
            <a:off x="1774825" y="2349500"/>
            <a:ext cx="395288" cy="288925"/>
          </a:xfrm>
          <a:prstGeom prst="rect">
            <a:avLst/>
          </a:prstGeom>
          <a:solidFill>
            <a:srgbClr val="FFFF9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lvl="0" algn="ctr">
              <a:buClrTx/>
            </a:pPr>
            <a:r>
              <a:rPr lang="en-US" altLang="zh-CN" sz="1400" b="1">
                <a:latin typeface="Arial" panose="020B0604020202020204" pitchFamily="34" charset="0"/>
                <a:ea typeface="宋体" panose="02010600030101010101" pitchFamily="2" charset="-122"/>
              </a:rPr>
              <a:t>T</a:t>
            </a:r>
            <a:r>
              <a:rPr lang="en-US" altLang="zh-CN" sz="1400" b="1" baseline="-2500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17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17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17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17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317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317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317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317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317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317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317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317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317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317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786" grpId="0" build="p" advAuto="100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802" name="矩形 332801"/>
          <p:cNvSpPr/>
          <p:nvPr/>
        </p:nvSpPr>
        <p:spPr>
          <a:xfrm>
            <a:off x="682625" y="188913"/>
            <a:ext cx="8353425" cy="431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2.4 8086 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微处理器的总线操作与时序  </a:t>
            </a:r>
            <a:endParaRPr lang="zh-CN" altLang="en-US" dirty="0"/>
          </a:p>
        </p:txBody>
      </p:sp>
      <p:pic>
        <p:nvPicPr>
          <p:cNvPr id="332803" name="图片 3328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88" y="1341438"/>
            <a:ext cx="4248150" cy="44656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32806" name="文本框 332805"/>
          <p:cNvSpPr txBox="1"/>
          <p:nvPr/>
        </p:nvSpPr>
        <p:spPr>
          <a:xfrm>
            <a:off x="5973763" y="1412875"/>
            <a:ext cx="1046162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>
              <a:spcBef>
                <a:spcPct val="50000"/>
              </a:spcBef>
            </a:pP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20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</a:t>
            </a:r>
          </a:p>
        </p:txBody>
      </p:sp>
      <p:sp>
        <p:nvSpPr>
          <p:cNvPr id="332812" name="文本占位符 332811"/>
          <p:cNvSpPr>
            <a:spLocks noGrp="1"/>
          </p:cNvSpPr>
          <p:nvPr>
            <p:ph type="body" idx="1"/>
          </p:nvPr>
        </p:nvSpPr>
        <p:spPr>
          <a:xfrm>
            <a:off x="4973638" y="1828800"/>
            <a:ext cx="3770312" cy="4267200"/>
          </a:xfrm>
        </p:spPr>
        <p:txBody>
          <a:bodyPr lIns="0" tIns="0" rIns="0" bIns="0"/>
          <a:lstStyle/>
          <a:p>
            <a:pPr lvl="0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2000" b="1" dirty="0">
                <a:latin typeface="宋体" panose="02010600030101010101" pitchFamily="2" charset="-122"/>
              </a:rPr>
              <a:t>（</a:t>
            </a:r>
            <a:r>
              <a:rPr lang="en-US" altLang="zh-CN" sz="2000" b="1">
                <a:latin typeface="宋体" panose="02010600030101010101" pitchFamily="2" charset="-122"/>
              </a:rPr>
              <a:t>5</a:t>
            </a:r>
            <a:r>
              <a:rPr lang="zh-CN" altLang="en-US" sz="2000" b="1" dirty="0">
                <a:latin typeface="宋体" panose="02010600030101010101" pitchFamily="2" charset="-122"/>
              </a:rPr>
              <a:t>）</a:t>
            </a:r>
            <a:r>
              <a:rPr lang="zh-CN" altLang="en-US" sz="2000" b="1" dirty="0"/>
              <a:t> </a:t>
            </a:r>
            <a:r>
              <a:rPr lang="en-US" altLang="zh-CN" sz="2000" b="1"/>
              <a:t>WR</a:t>
            </a:r>
            <a:r>
              <a:rPr lang="zh-CN" altLang="en-US" sz="2000" b="1" dirty="0"/>
              <a:t>变低，</a:t>
            </a:r>
          </a:p>
          <a:p>
            <a:pPr lvl="0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2000" b="1" dirty="0"/>
              <a:t>     发给内存， </a:t>
            </a:r>
            <a:r>
              <a:rPr lang="en-US" altLang="zh-CN" sz="2000" b="1"/>
              <a:t>CPU</a:t>
            </a:r>
            <a:r>
              <a:rPr lang="zh-CN" altLang="en-US" sz="2000" b="1" dirty="0"/>
              <a:t>将进行写操作</a:t>
            </a:r>
          </a:p>
          <a:p>
            <a:pPr lvl="0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2000" b="1" dirty="0"/>
              <a:t>（</a:t>
            </a:r>
            <a:r>
              <a:rPr lang="en-US" altLang="zh-CN" sz="2000" b="1"/>
              <a:t>6</a:t>
            </a:r>
            <a:r>
              <a:rPr lang="zh-CN" altLang="en-US" sz="2000" b="1" dirty="0"/>
              <a:t>） </a:t>
            </a:r>
            <a:r>
              <a:rPr lang="en-US" altLang="zh-CN" sz="2000" b="1"/>
              <a:t>A</a:t>
            </a:r>
            <a:r>
              <a:rPr lang="en-US" altLang="zh-CN" sz="2000" b="1" baseline="-25000"/>
              <a:t>19</a:t>
            </a:r>
            <a:r>
              <a:rPr lang="en-US" altLang="zh-CN" sz="2000" b="1"/>
              <a:t>~A</a:t>
            </a:r>
            <a:r>
              <a:rPr lang="en-US" altLang="zh-CN" sz="2000" b="1" baseline="-25000"/>
              <a:t>16</a:t>
            </a:r>
            <a:r>
              <a:rPr lang="zh-CN" altLang="en-US" sz="2000" b="1" dirty="0"/>
              <a:t>上出现状态信号</a:t>
            </a:r>
            <a:endParaRPr lang="zh-CN" altLang="en-US" sz="2000" b="1" dirty="0">
              <a:latin typeface="宋体" panose="02010600030101010101" pitchFamily="2" charset="-122"/>
            </a:endParaRPr>
          </a:p>
          <a:p>
            <a:pPr lvl="0" algn="just">
              <a:spcBef>
                <a:spcPct val="0"/>
              </a:spcBef>
              <a:buNone/>
            </a:pPr>
            <a:r>
              <a:rPr lang="zh-CN" altLang="en-US" sz="2000" b="1" dirty="0">
                <a:latin typeface="宋体" panose="02010600030101010101" pitchFamily="2" charset="-122"/>
              </a:rPr>
              <a:t>   </a:t>
            </a:r>
            <a:r>
              <a:rPr lang="en-US" altLang="zh-CN" sz="2000" b="1">
                <a:latin typeface="宋体" panose="02010600030101010101" pitchFamily="2" charset="-122"/>
              </a:rPr>
              <a:t>0   IF   1   1</a:t>
            </a:r>
          </a:p>
          <a:p>
            <a:pPr lvl="0" algn="just">
              <a:spcBef>
                <a:spcPct val="0"/>
              </a:spcBef>
              <a:buNone/>
            </a:pPr>
            <a:r>
              <a:rPr lang="en-US" altLang="zh-CN" sz="2000" b="1">
                <a:latin typeface="宋体" panose="02010600030101010101" pitchFamily="2" charset="-122"/>
              </a:rPr>
              <a:t>  S6  S5   S4  S3  </a:t>
            </a:r>
            <a:r>
              <a:rPr lang="zh-CN" altLang="en-US" sz="2000" b="1" dirty="0"/>
              <a:t>使用</a:t>
            </a:r>
            <a:r>
              <a:rPr lang="en-US" altLang="zh-CN" sz="2000" b="1">
                <a:latin typeface="宋体" panose="02010600030101010101" pitchFamily="2" charset="-122"/>
              </a:rPr>
              <a:t>DS</a:t>
            </a:r>
          </a:p>
          <a:p>
            <a:pPr lvl="0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2000" b="1" dirty="0"/>
              <a:t>（</a:t>
            </a:r>
            <a:r>
              <a:rPr lang="en-US" altLang="zh-CN" sz="2000" b="1"/>
              <a:t>7</a:t>
            </a:r>
            <a:r>
              <a:rPr lang="zh-CN" altLang="en-US" sz="2000" b="1" dirty="0"/>
              <a:t>） </a:t>
            </a:r>
            <a:r>
              <a:rPr lang="en-US" altLang="zh-CN" sz="2000" b="1"/>
              <a:t>DEN </a:t>
            </a:r>
            <a:r>
              <a:rPr lang="zh-CN" altLang="en-US" sz="2000" b="1" dirty="0"/>
              <a:t>变低，</a:t>
            </a:r>
          </a:p>
          <a:p>
            <a:pPr lvl="0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2000" b="1" dirty="0"/>
              <a:t>  允许数据收发器进行数据传送</a:t>
            </a:r>
          </a:p>
          <a:p>
            <a:pPr lvl="0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2000" b="1" dirty="0"/>
              <a:t>（</a:t>
            </a:r>
            <a:r>
              <a:rPr lang="en-US" altLang="zh-CN" sz="2000" b="1"/>
              <a:t>8</a:t>
            </a:r>
            <a:r>
              <a:rPr lang="zh-CN" altLang="en-US" sz="2000" b="1" dirty="0"/>
              <a:t>） </a:t>
            </a:r>
            <a:r>
              <a:rPr lang="en-US" altLang="zh-CN" sz="2000" b="1"/>
              <a:t>AD</a:t>
            </a:r>
            <a:r>
              <a:rPr lang="en-US" altLang="zh-CN" sz="2000" b="1" baseline="-25000"/>
              <a:t>7</a:t>
            </a:r>
            <a:r>
              <a:rPr lang="en-US" altLang="zh-CN" sz="2000" b="1"/>
              <a:t>~AD</a:t>
            </a:r>
            <a:r>
              <a:rPr lang="en-US" altLang="zh-CN" sz="2000" b="1" baseline="-25000"/>
              <a:t>0</a:t>
            </a:r>
            <a:r>
              <a:rPr lang="zh-CN" altLang="en-US" sz="2000" b="1" dirty="0"/>
              <a:t>上出现数据信号</a:t>
            </a:r>
          </a:p>
          <a:p>
            <a:pPr lvl="0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2000" b="1" dirty="0"/>
              <a:t>   即</a:t>
            </a:r>
            <a:r>
              <a:rPr lang="en-US" altLang="zh-CN" sz="2000" b="1"/>
              <a:t>BL</a:t>
            </a:r>
            <a:r>
              <a:rPr lang="zh-CN" altLang="en-US" sz="2000" b="1" dirty="0"/>
              <a:t>的内容</a:t>
            </a:r>
          </a:p>
          <a:p>
            <a:pPr lvl="2">
              <a:spcBef>
                <a:spcPct val="0"/>
              </a:spcBef>
              <a:buNone/>
            </a:pPr>
            <a:r>
              <a:rPr lang="zh-CN" altLang="en-US" sz="2000" b="1" dirty="0"/>
              <a:t>   </a:t>
            </a:r>
            <a:r>
              <a:rPr lang="en-US" altLang="zh-CN" sz="2000" b="1"/>
              <a:t>0 1 1 0  1 1 0 1</a:t>
            </a:r>
          </a:p>
          <a:p>
            <a:pPr lvl="2">
              <a:spcBef>
                <a:spcPct val="0"/>
              </a:spcBef>
              <a:buNone/>
            </a:pPr>
            <a:r>
              <a:rPr lang="en-US" altLang="zh-CN" sz="2000" b="1">
                <a:latin typeface="宋体" panose="02010600030101010101" pitchFamily="2" charset="-122"/>
              </a:rPr>
              <a:t>AD</a:t>
            </a:r>
            <a:r>
              <a:rPr lang="en-US" altLang="zh-CN" sz="2000" b="1" baseline="-25000">
                <a:latin typeface="宋体" panose="02010600030101010101" pitchFamily="2" charset="-122"/>
              </a:rPr>
              <a:t>7</a:t>
            </a:r>
            <a:r>
              <a:rPr lang="en-US" altLang="zh-CN" sz="2000" b="1"/>
              <a:t>                    </a:t>
            </a:r>
            <a:r>
              <a:rPr lang="en-US" altLang="zh-CN" sz="2000" b="1">
                <a:latin typeface="宋体" panose="02010600030101010101" pitchFamily="2" charset="-122"/>
              </a:rPr>
              <a:t>AD</a:t>
            </a:r>
            <a:r>
              <a:rPr lang="en-US" altLang="zh-CN" sz="2000" b="1" baseline="-25000">
                <a:latin typeface="宋体" panose="02010600030101010101" pitchFamily="2" charset="-122"/>
              </a:rPr>
              <a:t>0</a:t>
            </a:r>
          </a:p>
        </p:txBody>
      </p:sp>
      <p:sp>
        <p:nvSpPr>
          <p:cNvPr id="332814" name="直接连接符 332813"/>
          <p:cNvSpPr/>
          <p:nvPr/>
        </p:nvSpPr>
        <p:spPr>
          <a:xfrm>
            <a:off x="5678488" y="1890544"/>
            <a:ext cx="381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2815" name="直接连接符 332814"/>
          <p:cNvSpPr/>
          <p:nvPr/>
        </p:nvSpPr>
        <p:spPr>
          <a:xfrm>
            <a:off x="5720461" y="3688080"/>
            <a:ext cx="504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2816" name="矩形 332815"/>
          <p:cNvSpPr/>
          <p:nvPr/>
        </p:nvSpPr>
        <p:spPr>
          <a:xfrm>
            <a:off x="2339975" y="1355725"/>
            <a:ext cx="468313" cy="288925"/>
          </a:xfrm>
          <a:prstGeom prst="rect">
            <a:avLst/>
          </a:prstGeom>
          <a:solidFill>
            <a:srgbClr val="FFFF9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lvl="0" algn="ctr">
              <a:buClrTx/>
            </a:pPr>
            <a:r>
              <a:rPr lang="en-US" altLang="zh-CN" sz="1400" b="1">
                <a:latin typeface="Arial" panose="020B0604020202020204" pitchFamily="34" charset="0"/>
                <a:ea typeface="宋体" panose="02010600030101010101" pitchFamily="2" charset="-122"/>
              </a:rPr>
              <a:t>T</a:t>
            </a:r>
            <a:r>
              <a:rPr lang="en-US" altLang="zh-CN" sz="1400" b="1" baseline="-2500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矩形 333825"/>
          <p:cNvSpPr/>
          <p:nvPr/>
        </p:nvSpPr>
        <p:spPr>
          <a:xfrm>
            <a:off x="682625" y="188913"/>
            <a:ext cx="8353425" cy="431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2.4 8086 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微处理器的总线操作与时序  </a:t>
            </a:r>
            <a:endParaRPr lang="zh-CN" altLang="en-US" dirty="0"/>
          </a:p>
        </p:txBody>
      </p:sp>
      <p:pic>
        <p:nvPicPr>
          <p:cNvPr id="333827" name="图片 3338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88" y="1341438"/>
            <a:ext cx="4248150" cy="44656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33828" name="文本框 333827"/>
          <p:cNvSpPr txBox="1"/>
          <p:nvPr/>
        </p:nvSpPr>
        <p:spPr>
          <a:xfrm>
            <a:off x="5973763" y="1412875"/>
            <a:ext cx="1046162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>
              <a:spcBef>
                <a:spcPct val="50000"/>
              </a:spcBef>
            </a:pP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20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</a:t>
            </a:r>
          </a:p>
        </p:txBody>
      </p:sp>
      <p:sp>
        <p:nvSpPr>
          <p:cNvPr id="333832" name="矩形 333831"/>
          <p:cNvSpPr/>
          <p:nvPr/>
        </p:nvSpPr>
        <p:spPr>
          <a:xfrm>
            <a:off x="2851150" y="1284288"/>
            <a:ext cx="468313" cy="288925"/>
          </a:xfrm>
          <a:prstGeom prst="rect">
            <a:avLst/>
          </a:prstGeom>
          <a:solidFill>
            <a:srgbClr val="FFFF9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lvl="0" algn="ctr">
              <a:buClrTx/>
            </a:pPr>
            <a:r>
              <a:rPr lang="en-US" altLang="zh-CN" sz="1400" b="1">
                <a:latin typeface="Arial" panose="020B0604020202020204" pitchFamily="34" charset="0"/>
                <a:ea typeface="宋体" panose="02010600030101010101" pitchFamily="2" charset="-122"/>
              </a:rPr>
              <a:t>T</a:t>
            </a:r>
            <a:r>
              <a:rPr lang="en-US" altLang="zh-CN" sz="1400" b="1" baseline="-25000"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333833" name="文本框 333832"/>
          <p:cNvSpPr txBox="1"/>
          <p:nvPr/>
        </p:nvSpPr>
        <p:spPr>
          <a:xfrm>
            <a:off x="5219700" y="2286000"/>
            <a:ext cx="3581400" cy="8540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9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）继续提供状态信号</a:t>
            </a: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  <a:r>
              <a:rPr lang="en-US" altLang="zh-CN" sz="20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~S</a:t>
            </a:r>
            <a:r>
              <a:rPr lang="en-US" altLang="zh-CN" sz="20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</a:p>
          <a:p>
            <a:pPr lvl="0">
              <a:spcBef>
                <a:spcPct val="50000"/>
              </a:spcBef>
            </a:pP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           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数据信号</a:t>
            </a: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lang="en-US" altLang="zh-CN" sz="20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~D</a:t>
            </a:r>
            <a:r>
              <a:rPr lang="en-US" altLang="zh-CN" sz="20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333834" name="文本框 333833"/>
          <p:cNvSpPr txBox="1"/>
          <p:nvPr/>
        </p:nvSpPr>
        <p:spPr>
          <a:xfrm>
            <a:off x="5219700" y="3429000"/>
            <a:ext cx="35814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）维持有关控制信号不变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0" name="矩形 334849"/>
          <p:cNvSpPr/>
          <p:nvPr/>
        </p:nvSpPr>
        <p:spPr>
          <a:xfrm>
            <a:off x="682625" y="188913"/>
            <a:ext cx="8353425" cy="431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2.4 8086 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微处理器的总线操作与时序  </a:t>
            </a:r>
            <a:endParaRPr lang="zh-CN" altLang="en-US" dirty="0"/>
          </a:p>
        </p:txBody>
      </p:sp>
      <p:pic>
        <p:nvPicPr>
          <p:cNvPr id="334851" name="图片 3348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88" y="1341438"/>
            <a:ext cx="4248150" cy="44656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34852" name="文本框 334851"/>
          <p:cNvSpPr txBox="1"/>
          <p:nvPr/>
        </p:nvSpPr>
        <p:spPr>
          <a:xfrm>
            <a:off x="5973763" y="1412875"/>
            <a:ext cx="1046162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algn="just">
              <a:spcBef>
                <a:spcPct val="50000"/>
              </a:spcBef>
            </a:pP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20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状态</a:t>
            </a:r>
          </a:p>
        </p:txBody>
      </p:sp>
      <p:sp>
        <p:nvSpPr>
          <p:cNvPr id="334856" name="矩形 334855"/>
          <p:cNvSpPr/>
          <p:nvPr/>
        </p:nvSpPr>
        <p:spPr>
          <a:xfrm>
            <a:off x="3887788" y="1355725"/>
            <a:ext cx="468312" cy="288925"/>
          </a:xfrm>
          <a:prstGeom prst="rect">
            <a:avLst/>
          </a:prstGeom>
          <a:solidFill>
            <a:srgbClr val="FFFF9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lvl="0" algn="ctr">
              <a:buClrTx/>
            </a:pPr>
            <a:r>
              <a:rPr lang="en-US" altLang="zh-CN" sz="1400" b="1">
                <a:latin typeface="Arial" panose="020B0604020202020204" pitchFamily="34" charset="0"/>
                <a:ea typeface="宋体" panose="02010600030101010101" pitchFamily="2" charset="-122"/>
              </a:rPr>
              <a:t>T</a:t>
            </a:r>
            <a:r>
              <a:rPr lang="en-US" altLang="zh-CN" sz="1400" b="1" baseline="-25000"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334859" name="文本框 334858"/>
          <p:cNvSpPr txBox="1"/>
          <p:nvPr/>
        </p:nvSpPr>
        <p:spPr>
          <a:xfrm>
            <a:off x="5219700" y="2286000"/>
            <a:ext cx="3581400" cy="2473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11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  </a:t>
            </a: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WR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变高，</a:t>
            </a:r>
          </a:p>
          <a:p>
            <a:pPr lvl="0">
              <a:lnSpc>
                <a:spcPct val="130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将数据</a:t>
            </a:r>
            <a:r>
              <a:rPr lang="zh-CN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线上的数据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DH</a:t>
            </a:r>
          </a:p>
          <a:p>
            <a:pPr lvl="0">
              <a:lnSpc>
                <a:spcPct val="130000"/>
              </a:lnSpc>
            </a:pP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写到 </a:t>
            </a: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7200BH 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内存单元中</a:t>
            </a:r>
          </a:p>
          <a:p>
            <a:pPr lvl="0">
              <a:lnSpc>
                <a:spcPct val="130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12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） </a:t>
            </a: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DEN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变高，</a:t>
            </a:r>
          </a:p>
          <a:p>
            <a:pPr lvl="0">
              <a:lnSpc>
                <a:spcPct val="130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数据收发器与总线断开，</a:t>
            </a:r>
          </a:p>
          <a:p>
            <a:pPr lvl="0">
              <a:lnSpc>
                <a:spcPct val="130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AD</a:t>
            </a:r>
            <a:r>
              <a:rPr lang="en-US" altLang="zh-CN" sz="20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~AD</a:t>
            </a:r>
            <a:r>
              <a:rPr lang="en-US" altLang="zh-CN" sz="2000" b="1" baseline="-2500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变高阻态</a:t>
            </a:r>
          </a:p>
        </p:txBody>
      </p:sp>
      <p:sp>
        <p:nvSpPr>
          <p:cNvPr id="334860" name="直接连接符 334859"/>
          <p:cNvSpPr/>
          <p:nvPr/>
        </p:nvSpPr>
        <p:spPr>
          <a:xfrm>
            <a:off x="6207125" y="2420112"/>
            <a:ext cx="381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4861" name="直接连接符 334860"/>
          <p:cNvSpPr/>
          <p:nvPr/>
        </p:nvSpPr>
        <p:spPr>
          <a:xfrm>
            <a:off x="6143117" y="3601212"/>
            <a:ext cx="540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4" name="矩形 335873"/>
          <p:cNvSpPr/>
          <p:nvPr/>
        </p:nvSpPr>
        <p:spPr>
          <a:xfrm>
            <a:off x="682625" y="188913"/>
            <a:ext cx="8353425" cy="431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2.4 8086 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微处理器的总线操作与时序  </a:t>
            </a:r>
            <a:endParaRPr lang="zh-CN" altLang="en-US" dirty="0"/>
          </a:p>
        </p:txBody>
      </p:sp>
      <p:pic>
        <p:nvPicPr>
          <p:cNvPr id="335881" name="图片 33588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713" y="1125538"/>
            <a:ext cx="4752975" cy="42481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898" name="矩形 336897"/>
          <p:cNvSpPr/>
          <p:nvPr/>
        </p:nvSpPr>
        <p:spPr>
          <a:xfrm>
            <a:off x="682625" y="188913"/>
            <a:ext cx="8353425" cy="431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2.4 8086 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微处理器的总线操作与时序  </a:t>
            </a:r>
            <a:endParaRPr lang="zh-CN" altLang="en-US" dirty="0"/>
          </a:p>
        </p:txBody>
      </p:sp>
      <p:sp>
        <p:nvSpPr>
          <p:cNvPr id="336901" name="矩形 336900"/>
          <p:cNvSpPr/>
          <p:nvPr/>
        </p:nvSpPr>
        <p:spPr>
          <a:xfrm>
            <a:off x="0" y="22907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36900" name="对象 336899"/>
          <p:cNvGraphicFramePr/>
          <p:nvPr/>
        </p:nvGraphicFramePr>
        <p:xfrm>
          <a:off x="2843213" y="1412875"/>
          <a:ext cx="6121400" cy="299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7" r:id="rId3" imgW="5046980" imgH="2151380" progId="Visio.Drawing.11">
                  <p:embed/>
                </p:oleObj>
              </mc:Choice>
              <mc:Fallback>
                <p:oleObj r:id="rId3" imgW="5046980" imgH="2151380" progId="Visio.Drawing.11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43213" y="1412875"/>
                        <a:ext cx="6121400" cy="299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6902" name="矩形 336901"/>
          <p:cNvSpPr/>
          <p:nvPr/>
        </p:nvSpPr>
        <p:spPr>
          <a:xfrm>
            <a:off x="4203700" y="4581525"/>
            <a:ext cx="4208463" cy="366713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lvl="0"/>
            <a:r>
              <a:rPr lang="en-US" altLang="zh-CN" sz="1800" b="1">
                <a:latin typeface="Arial" panose="020B0604020202020204" pitchFamily="34" charset="0"/>
                <a:ea typeface="宋体" panose="02010600030101010101" pitchFamily="2" charset="-122"/>
              </a:rPr>
              <a:t>8086</a:t>
            </a:r>
            <a:r>
              <a:rPr lang="zh-CN" altLang="en-US" sz="1800" b="1" dirty="0">
                <a:latin typeface="Arial" panose="020B0604020202020204" pitchFamily="34" charset="0"/>
                <a:ea typeface="宋体" panose="02010600030101010101" pitchFamily="2" charset="-122"/>
              </a:rPr>
              <a:t>最小模式下的总线请求与响应时序 </a:t>
            </a:r>
          </a:p>
        </p:txBody>
      </p:sp>
      <p:sp>
        <p:nvSpPr>
          <p:cNvPr id="336903" name="矩形 336902"/>
          <p:cNvSpPr/>
          <p:nvPr/>
        </p:nvSpPr>
        <p:spPr>
          <a:xfrm>
            <a:off x="107950" y="1411605"/>
            <a:ext cx="2808605" cy="3675380"/>
          </a:xfrm>
          <a:prstGeom prst="rect">
            <a:avLst/>
          </a:prstGeom>
          <a:solidFill>
            <a:srgbClr val="FFFFCC"/>
          </a:solidFill>
          <a:ln w="9525">
            <a:noFill/>
          </a:ln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179705" lvl="1" indent="0">
              <a:lnSpc>
                <a:spcPct val="110000"/>
              </a:lnSpc>
              <a:buNone/>
            </a:pPr>
            <a:r>
              <a:rPr lang="en-US" sz="2000" b="1" dirty="0"/>
              <a:t>CPU</a:t>
            </a:r>
            <a:r>
              <a:rPr lang="zh-CN" altLang="en-US" sz="2000" b="1" dirty="0"/>
              <a:t>在每个时钟周期的上升沿检测</a:t>
            </a:r>
            <a:r>
              <a:rPr lang="en-US" altLang="zh-CN" sz="2000" b="1" dirty="0"/>
              <a:t>HOLD</a:t>
            </a:r>
            <a:r>
              <a:rPr lang="zh-CN" altLang="en-US" sz="2000" b="1" dirty="0"/>
              <a:t>信号，收到有效的</a:t>
            </a:r>
            <a:r>
              <a:rPr lang="en-US" altLang="zh-CN" sz="2000" b="1" dirty="0"/>
              <a:t>HOLD</a:t>
            </a:r>
            <a:r>
              <a:rPr lang="zh-CN" altLang="en-US" sz="2000" b="1" dirty="0"/>
              <a:t>信号后，如果允许让出总线，就在当前总线周期完成时，发出</a:t>
            </a:r>
            <a:r>
              <a:rPr lang="en-US" altLang="zh-CN" sz="2000" b="1" dirty="0"/>
              <a:t>HLDA</a:t>
            </a:r>
            <a:r>
              <a:rPr lang="zh-CN" altLang="en-US" sz="2000" b="1" dirty="0"/>
              <a:t>信号，让出总线控制权，将所有具有三态的输出线置于高阻态。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22" name="矩形 337921"/>
          <p:cNvSpPr/>
          <p:nvPr/>
        </p:nvSpPr>
        <p:spPr>
          <a:xfrm>
            <a:off x="682625" y="188913"/>
            <a:ext cx="8353425" cy="431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2.4 8086 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微处理器的总线操作与时序  </a:t>
            </a:r>
            <a:endParaRPr lang="zh-CN" altLang="en-US" dirty="0"/>
          </a:p>
        </p:txBody>
      </p:sp>
      <p:sp>
        <p:nvSpPr>
          <p:cNvPr id="337923" name="矩形 337922"/>
          <p:cNvSpPr/>
          <p:nvPr/>
        </p:nvSpPr>
        <p:spPr>
          <a:xfrm>
            <a:off x="0" y="22907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37927" name="图片 3379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603" y="1917065"/>
            <a:ext cx="5897562" cy="27368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36903" name="矩形 336902"/>
          <p:cNvSpPr/>
          <p:nvPr/>
        </p:nvSpPr>
        <p:spPr>
          <a:xfrm>
            <a:off x="107950" y="1267778"/>
            <a:ext cx="2808288" cy="4681537"/>
          </a:xfrm>
          <a:prstGeom prst="rect">
            <a:avLst/>
          </a:prstGeom>
          <a:solidFill>
            <a:srgbClr val="FFFFCC"/>
          </a:solidFill>
          <a:ln w="9525">
            <a:noFill/>
          </a:ln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32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•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–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179705" lvl="1" indent="0">
              <a:lnSpc>
                <a:spcPct val="110000"/>
              </a:lnSpc>
              <a:buNone/>
            </a:pPr>
            <a:r>
              <a:rPr lang="zh-CN" altLang="en-US" sz="2000" b="1" dirty="0"/>
              <a:t>当外部中断源通过</a:t>
            </a:r>
            <a:r>
              <a:rPr lang="en-US" altLang="zh-CN" sz="2000" b="1" dirty="0"/>
              <a:t>INTR</a:t>
            </a:r>
            <a:r>
              <a:rPr lang="zh-CN" altLang="en-US" sz="2000" b="1" dirty="0"/>
              <a:t>向</a:t>
            </a:r>
            <a:r>
              <a:rPr lang="en-US" altLang="zh-CN" sz="2000" b="1" dirty="0"/>
              <a:t>CPU</a:t>
            </a:r>
            <a:r>
              <a:rPr lang="zh-CN" altLang="en-US" sz="2000" b="1" dirty="0"/>
              <a:t>发出中断请求，在</a:t>
            </a:r>
            <a:r>
              <a:rPr lang="en-US" altLang="zh-CN" sz="2000" b="1" dirty="0"/>
              <a:t>IF=1</a:t>
            </a:r>
            <a:r>
              <a:rPr lang="zh-CN" altLang="en-US" sz="2000" b="1" dirty="0"/>
              <a:t>条件下，</a:t>
            </a:r>
            <a:r>
              <a:rPr lang="en-US" altLang="zh-CN" sz="2000" b="1" dirty="0"/>
              <a:t>CPU</a:t>
            </a:r>
            <a:r>
              <a:rPr lang="zh-CN" altLang="en-US" sz="2000" b="1" dirty="0"/>
              <a:t>在当前指令执行完以后，响应中断；响应时执行两个中断响应周期。在每个周期都输出</a:t>
            </a:r>
            <a:r>
              <a:rPr lang="en-US" altLang="zh-CN" sz="2000" b="1" dirty="0"/>
              <a:t>INTA</a:t>
            </a:r>
            <a:r>
              <a:rPr lang="zh-CN" altLang="en-US" sz="2000" b="1" dirty="0"/>
              <a:t>中断响应信号；第一个响应周期：</a:t>
            </a:r>
            <a:r>
              <a:rPr lang="en-US" altLang="zh-CN" sz="2000" b="1" dirty="0"/>
              <a:t>D</a:t>
            </a:r>
            <a:r>
              <a:rPr lang="en-US" altLang="zh-CN" sz="2000" b="1" baseline="-25000" dirty="0"/>
              <a:t>15</a:t>
            </a:r>
            <a:r>
              <a:rPr lang="en-US" altLang="zh-CN" sz="2000" b="1" dirty="0"/>
              <a:t>~AD</a:t>
            </a:r>
            <a:r>
              <a:rPr lang="en-US" altLang="zh-CN" sz="2000" b="1" baseline="-25000" dirty="0"/>
              <a:t>0</a:t>
            </a:r>
            <a:r>
              <a:rPr lang="zh-CN" altLang="en-US" sz="2000" b="1" dirty="0"/>
              <a:t>浮空；第二个响应周期：外设向数据总线送中断向量</a:t>
            </a:r>
            <a:endParaRPr lang="zh-CN" altLang="en-US" sz="1800" b="1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6" name="矩形 340995"/>
          <p:cNvSpPr/>
          <p:nvPr/>
        </p:nvSpPr>
        <p:spPr>
          <a:xfrm>
            <a:off x="250825" y="792163"/>
            <a:ext cx="374967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lvl="0"/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一、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Intel 80486 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微处理器 </a:t>
            </a:r>
          </a:p>
        </p:txBody>
      </p:sp>
      <p:sp>
        <p:nvSpPr>
          <p:cNvPr id="340997" name="矩形 340996"/>
          <p:cNvSpPr/>
          <p:nvPr/>
        </p:nvSpPr>
        <p:spPr>
          <a:xfrm>
            <a:off x="323850" y="1547813"/>
            <a:ext cx="8424863" cy="447357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lvl="0"/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80486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是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Intel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的第二款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32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位微处理器，是为了支持多处理机系统而设计的</a:t>
            </a:r>
          </a:p>
          <a:p>
            <a:pPr lvl="0"/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80486 CPU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的主要特点 </a:t>
            </a:r>
          </a:p>
          <a:p>
            <a:pPr lvl="0"/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） 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80486 CPU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具有保护、存储器管理、任务转换、分页功能、片内高速缓存器和浮点数运算部件 ；</a:t>
            </a:r>
          </a:p>
          <a:p>
            <a:pPr lvl="0"/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）能运行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Windows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DOS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OS/2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和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UNIX V/386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等操作系统 </a:t>
            </a:r>
          </a:p>
          <a:p>
            <a:pPr lvl="0"/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）具有完整的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RISC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内核，使得常用指令的执行时间都只需要一个时钟周期 </a:t>
            </a:r>
          </a:p>
          <a:p>
            <a:pPr lvl="0"/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）采用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8KB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统一的代码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Cache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和数据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Cache </a:t>
            </a:r>
          </a:p>
          <a:p>
            <a:pPr lvl="0"/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5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）内部的自测试功能包括执行代码和访问数据时的断点陷阱  </a:t>
            </a:r>
          </a:p>
        </p:txBody>
      </p:sp>
      <p:sp>
        <p:nvSpPr>
          <p:cNvPr id="6" name="标题 365569"/>
          <p:cNvSpPr>
            <a:spLocks noGrp="1"/>
          </p:cNvSpPr>
          <p:nvPr>
            <p:ph type="ctrTitle"/>
          </p:nvPr>
        </p:nvSpPr>
        <p:spPr>
          <a:xfrm>
            <a:off x="1837928" y="44450"/>
            <a:ext cx="5110336" cy="577850"/>
          </a:xfrm>
        </p:spPr>
        <p:txBody>
          <a:bodyPr vert="horz" wrap="square" lIns="91440" tIns="45720" rIns="91440" bIns="45720" anchor="ctr"/>
          <a:lstStyle/>
          <a:p>
            <a:pPr defTabSz="914400"/>
            <a:r>
              <a:rPr lang="en-US" altLang="zh-CN" sz="3200" b="1" kern="1200" baseline="0" dirty="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2.5 Intel</a:t>
            </a:r>
            <a:r>
              <a:rPr lang="zh-CN" altLang="en-US" sz="3200" b="1" kern="1200" baseline="0" dirty="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的其他微处理器 </a:t>
            </a:r>
            <a:endParaRPr lang="zh-CN" altLang="en-US" sz="4400" kern="1200" baseline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5" name="矩形 343044"/>
          <p:cNvSpPr/>
          <p:nvPr/>
        </p:nvSpPr>
        <p:spPr>
          <a:xfrm>
            <a:off x="468313" y="863600"/>
            <a:ext cx="3548062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lvl="0"/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80486 CPU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内部结构 </a:t>
            </a:r>
          </a:p>
        </p:txBody>
      </p:sp>
      <p:pic>
        <p:nvPicPr>
          <p:cNvPr id="343046" name="图片 34304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1320801"/>
            <a:ext cx="7488832" cy="5137524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标题 365569"/>
          <p:cNvSpPr>
            <a:spLocks noGrp="1"/>
          </p:cNvSpPr>
          <p:nvPr>
            <p:ph type="ctrTitle"/>
          </p:nvPr>
        </p:nvSpPr>
        <p:spPr>
          <a:xfrm>
            <a:off x="1837928" y="44450"/>
            <a:ext cx="5110336" cy="577850"/>
          </a:xfrm>
        </p:spPr>
        <p:txBody>
          <a:bodyPr vert="horz" wrap="square" lIns="91440" tIns="45720" rIns="91440" bIns="45720" anchor="ctr"/>
          <a:lstStyle/>
          <a:p>
            <a:pPr defTabSz="914400"/>
            <a:r>
              <a:rPr lang="en-US" altLang="zh-CN" sz="3200" b="1" kern="1200" baseline="0" dirty="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2.5 Intel</a:t>
            </a:r>
            <a:r>
              <a:rPr lang="zh-CN" altLang="en-US" sz="3200" b="1" kern="1200" baseline="0" dirty="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的其他微处理器 </a:t>
            </a:r>
            <a:endParaRPr lang="zh-CN" altLang="en-US" sz="4400" kern="1200" baseline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5" name="矩形 343044"/>
          <p:cNvSpPr/>
          <p:nvPr/>
        </p:nvSpPr>
        <p:spPr>
          <a:xfrm>
            <a:off x="468313" y="863600"/>
            <a:ext cx="3548062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lvl="0"/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80486 CPU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内部结构 </a:t>
            </a:r>
          </a:p>
        </p:txBody>
      </p:sp>
      <p:pic>
        <p:nvPicPr>
          <p:cNvPr id="343046" name="图片 34304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1320800"/>
            <a:ext cx="7488832" cy="5137524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标题 365569"/>
          <p:cNvSpPr>
            <a:spLocks noGrp="1"/>
          </p:cNvSpPr>
          <p:nvPr>
            <p:ph type="ctrTitle"/>
          </p:nvPr>
        </p:nvSpPr>
        <p:spPr>
          <a:xfrm>
            <a:off x="1837928" y="44450"/>
            <a:ext cx="5110336" cy="577850"/>
          </a:xfrm>
        </p:spPr>
        <p:txBody>
          <a:bodyPr vert="horz" wrap="square" lIns="91440" tIns="45720" rIns="91440" bIns="45720" anchor="ctr"/>
          <a:lstStyle/>
          <a:p>
            <a:pPr defTabSz="914400"/>
            <a:r>
              <a:rPr lang="en-US" altLang="zh-CN" sz="3200" b="1" kern="1200" baseline="0" dirty="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2.5 Intel</a:t>
            </a:r>
            <a:r>
              <a:rPr lang="zh-CN" altLang="en-US" sz="3200" b="1" kern="1200" baseline="0" dirty="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的其他微处理器 </a:t>
            </a:r>
            <a:endParaRPr lang="zh-CN" altLang="en-US" sz="4400" kern="1200" baseline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E325594-C55E-4169-A167-88EFAD151CA3}"/>
              </a:ext>
            </a:extLst>
          </p:cNvPr>
          <p:cNvSpPr/>
          <p:nvPr/>
        </p:nvSpPr>
        <p:spPr>
          <a:xfrm>
            <a:off x="5652120" y="1484784"/>
            <a:ext cx="3023567" cy="4752528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140BC81-6810-4318-BAB7-74922BE90DF2}"/>
              </a:ext>
            </a:extLst>
          </p:cNvPr>
          <p:cNvSpPr txBox="1"/>
          <p:nvPr/>
        </p:nvSpPr>
        <p:spPr>
          <a:xfrm>
            <a:off x="611560" y="5085184"/>
            <a:ext cx="468128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1.</a:t>
            </a:r>
            <a:r>
              <a:rPr lang="zh-CN" altLang="en-US" dirty="0">
                <a:solidFill>
                  <a:srgbClr val="FF0000"/>
                </a:solidFill>
              </a:rPr>
              <a:t>总线接口部件</a:t>
            </a:r>
          </a:p>
          <a:p>
            <a:r>
              <a:rPr lang="en-US" altLang="zh-CN" dirty="0"/>
              <a:t>BIU</a:t>
            </a:r>
            <a:r>
              <a:rPr lang="zh-CN" altLang="en-US" dirty="0"/>
              <a:t>与外部总线连接，用于管理访问存储器或</a:t>
            </a:r>
            <a:r>
              <a:rPr lang="en-US" altLang="zh-CN" dirty="0"/>
              <a:t>I/O</a:t>
            </a:r>
            <a:r>
              <a:rPr lang="zh-CN" altLang="en-US" dirty="0"/>
              <a:t>端口地址、数据和控制总线。</a:t>
            </a:r>
            <a:endParaRPr lang="en-US" altLang="zh-CN" dirty="0"/>
          </a:p>
          <a:p>
            <a:r>
              <a:rPr lang="en-US" altLang="zh-CN" dirty="0"/>
              <a:t>BIU</a:t>
            </a:r>
            <a:r>
              <a:rPr lang="zh-CN" altLang="en-US" dirty="0"/>
              <a:t>对内主要与指令预取部件和</a:t>
            </a:r>
            <a:r>
              <a:rPr lang="en-US" altLang="zh-CN" dirty="0"/>
              <a:t>Cache</a:t>
            </a:r>
            <a:r>
              <a:rPr lang="zh-CN" altLang="en-US" dirty="0"/>
              <a:t>部件交换信息。</a:t>
            </a:r>
          </a:p>
        </p:txBody>
      </p:sp>
    </p:spTree>
    <p:extLst>
      <p:ext uri="{BB962C8B-B14F-4D97-AF65-F5344CB8AC3E}">
        <p14:creationId xmlns:p14="http://schemas.microsoft.com/office/powerpoint/2010/main" val="71673329"/>
      </p:ext>
    </p:extLst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5" name="矩形 343044"/>
          <p:cNvSpPr/>
          <p:nvPr/>
        </p:nvSpPr>
        <p:spPr>
          <a:xfrm>
            <a:off x="468313" y="863600"/>
            <a:ext cx="3548062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lvl="0"/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80486 CPU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内部结构 </a:t>
            </a:r>
          </a:p>
        </p:txBody>
      </p:sp>
      <p:pic>
        <p:nvPicPr>
          <p:cNvPr id="343046" name="图片 34304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1320800"/>
            <a:ext cx="7488832" cy="5137524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标题 365569"/>
          <p:cNvSpPr>
            <a:spLocks noGrp="1"/>
          </p:cNvSpPr>
          <p:nvPr>
            <p:ph type="ctrTitle"/>
          </p:nvPr>
        </p:nvSpPr>
        <p:spPr>
          <a:xfrm>
            <a:off x="1837928" y="44450"/>
            <a:ext cx="5110336" cy="577850"/>
          </a:xfrm>
        </p:spPr>
        <p:txBody>
          <a:bodyPr vert="horz" wrap="square" lIns="91440" tIns="45720" rIns="91440" bIns="45720" anchor="ctr"/>
          <a:lstStyle/>
          <a:p>
            <a:pPr defTabSz="914400"/>
            <a:r>
              <a:rPr lang="en-US" altLang="zh-CN" sz="3200" b="1" kern="1200" baseline="0" dirty="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2.5 Intel</a:t>
            </a:r>
            <a:r>
              <a:rPr lang="zh-CN" altLang="en-US" sz="3200" b="1" kern="1200" baseline="0" dirty="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的其他微处理器 </a:t>
            </a:r>
            <a:endParaRPr lang="zh-CN" altLang="en-US" sz="4400" kern="1200" baseline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E325594-C55E-4169-A167-88EFAD151CA3}"/>
              </a:ext>
            </a:extLst>
          </p:cNvPr>
          <p:cNvSpPr/>
          <p:nvPr/>
        </p:nvSpPr>
        <p:spPr>
          <a:xfrm>
            <a:off x="4398777" y="3573016"/>
            <a:ext cx="1454764" cy="1317724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C1965E9-E4C7-4DA2-A4F2-9F9E2D3091DD}"/>
              </a:ext>
            </a:extLst>
          </p:cNvPr>
          <p:cNvSpPr txBox="1"/>
          <p:nvPr/>
        </p:nvSpPr>
        <p:spPr>
          <a:xfrm>
            <a:off x="683568" y="5212867"/>
            <a:ext cx="46805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2.</a:t>
            </a:r>
            <a:r>
              <a:rPr lang="zh-CN" altLang="en-US" dirty="0">
                <a:solidFill>
                  <a:srgbClr val="FF0000"/>
                </a:solidFill>
              </a:rPr>
              <a:t>指令预取部件</a:t>
            </a:r>
          </a:p>
          <a:p>
            <a:r>
              <a:rPr lang="zh-CN" altLang="en-US" dirty="0"/>
              <a:t>在总线空闲周期，形成存储器地址，向</a:t>
            </a:r>
            <a:r>
              <a:rPr lang="en-US" altLang="zh-CN" dirty="0"/>
              <a:t>BIU</a:t>
            </a:r>
            <a:r>
              <a:rPr lang="zh-CN" altLang="en-US" dirty="0"/>
              <a:t>发出预取指令请求。</a:t>
            </a:r>
          </a:p>
        </p:txBody>
      </p:sp>
    </p:spTree>
    <p:extLst>
      <p:ext uri="{BB962C8B-B14F-4D97-AF65-F5344CB8AC3E}">
        <p14:creationId xmlns:p14="http://schemas.microsoft.com/office/powerpoint/2010/main" val="2165185196"/>
      </p:ext>
    </p:extLst>
  </p:cSld>
  <p:clrMapOvr>
    <a:masterClrMapping/>
  </p:clrMapOvr>
  <p:transition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5" name="矩形 343044"/>
          <p:cNvSpPr/>
          <p:nvPr/>
        </p:nvSpPr>
        <p:spPr>
          <a:xfrm>
            <a:off x="468313" y="863600"/>
            <a:ext cx="3548062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lvl="0"/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80486 CPU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内部结构 </a:t>
            </a:r>
          </a:p>
        </p:txBody>
      </p:sp>
      <p:pic>
        <p:nvPicPr>
          <p:cNvPr id="343046" name="图片 34304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1320800"/>
            <a:ext cx="7488832" cy="5137524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标题 365569"/>
          <p:cNvSpPr>
            <a:spLocks noGrp="1"/>
          </p:cNvSpPr>
          <p:nvPr>
            <p:ph type="ctrTitle"/>
          </p:nvPr>
        </p:nvSpPr>
        <p:spPr>
          <a:xfrm>
            <a:off x="1837928" y="44450"/>
            <a:ext cx="5110336" cy="577850"/>
          </a:xfrm>
        </p:spPr>
        <p:txBody>
          <a:bodyPr vert="horz" wrap="square" lIns="91440" tIns="45720" rIns="91440" bIns="45720" anchor="ctr"/>
          <a:lstStyle/>
          <a:p>
            <a:pPr defTabSz="914400"/>
            <a:r>
              <a:rPr lang="en-US" altLang="zh-CN" sz="3200" b="1" kern="1200" baseline="0" dirty="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2.5 Intel</a:t>
            </a:r>
            <a:r>
              <a:rPr lang="zh-CN" altLang="en-US" sz="3200" b="1" kern="1200" baseline="0" dirty="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的其他微处理器 </a:t>
            </a:r>
            <a:endParaRPr lang="zh-CN" altLang="en-US" sz="4400" kern="1200" baseline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E325594-C55E-4169-A167-88EFAD151CA3}"/>
              </a:ext>
            </a:extLst>
          </p:cNvPr>
          <p:cNvSpPr/>
          <p:nvPr/>
        </p:nvSpPr>
        <p:spPr>
          <a:xfrm>
            <a:off x="3491880" y="4122192"/>
            <a:ext cx="1008112" cy="746968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0222D96-36A2-4DE5-95D6-5D1C3D271354}"/>
              </a:ext>
            </a:extLst>
          </p:cNvPr>
          <p:cNvSpPr txBox="1"/>
          <p:nvPr/>
        </p:nvSpPr>
        <p:spPr>
          <a:xfrm>
            <a:off x="971600" y="5301208"/>
            <a:ext cx="41764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3.</a:t>
            </a:r>
            <a:r>
              <a:rPr lang="zh-CN" altLang="en-US" dirty="0">
                <a:solidFill>
                  <a:srgbClr val="FF0000"/>
                </a:solidFill>
              </a:rPr>
              <a:t>指令译码部件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读取指令并译码，将其转换成控制信号。</a:t>
            </a:r>
          </a:p>
        </p:txBody>
      </p:sp>
    </p:spTree>
    <p:extLst>
      <p:ext uri="{BB962C8B-B14F-4D97-AF65-F5344CB8AC3E}">
        <p14:creationId xmlns:p14="http://schemas.microsoft.com/office/powerpoint/2010/main" val="3393910523"/>
      </p:ext>
    </p:extLst>
  </p:cSld>
  <p:clrMapOvr>
    <a:masterClrMapping/>
  </p:clrMapOvr>
  <p:transition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5" name="矩形 343044"/>
          <p:cNvSpPr/>
          <p:nvPr/>
        </p:nvSpPr>
        <p:spPr>
          <a:xfrm>
            <a:off x="468313" y="863600"/>
            <a:ext cx="3548062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lvl="0"/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80486 CPU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内部结构 </a:t>
            </a:r>
          </a:p>
        </p:txBody>
      </p:sp>
      <p:pic>
        <p:nvPicPr>
          <p:cNvPr id="343046" name="图片 34304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1320800"/>
            <a:ext cx="7488832" cy="5137524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标题 365569"/>
          <p:cNvSpPr>
            <a:spLocks noGrp="1"/>
          </p:cNvSpPr>
          <p:nvPr>
            <p:ph type="ctrTitle"/>
          </p:nvPr>
        </p:nvSpPr>
        <p:spPr>
          <a:xfrm>
            <a:off x="1837928" y="44450"/>
            <a:ext cx="5110336" cy="577850"/>
          </a:xfrm>
        </p:spPr>
        <p:txBody>
          <a:bodyPr vert="horz" wrap="square" lIns="91440" tIns="45720" rIns="91440" bIns="45720" anchor="ctr"/>
          <a:lstStyle/>
          <a:p>
            <a:pPr defTabSz="914400"/>
            <a:r>
              <a:rPr lang="en-US" altLang="zh-CN" sz="3200" b="1" kern="1200" baseline="0" dirty="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2.5 Intel</a:t>
            </a:r>
            <a:r>
              <a:rPr lang="zh-CN" altLang="en-US" sz="3200" b="1" kern="1200" baseline="0" dirty="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的其他微处理器 </a:t>
            </a:r>
            <a:endParaRPr lang="zh-CN" altLang="en-US" sz="4400" kern="1200" baseline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E325594-C55E-4169-A167-88EFAD151CA3}"/>
              </a:ext>
            </a:extLst>
          </p:cNvPr>
          <p:cNvSpPr/>
          <p:nvPr/>
        </p:nvSpPr>
        <p:spPr>
          <a:xfrm>
            <a:off x="2224063" y="4149080"/>
            <a:ext cx="1008112" cy="96299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491EDF5-5846-4779-8995-04D6DDAF4370}"/>
              </a:ext>
            </a:extLst>
          </p:cNvPr>
          <p:cNvSpPr txBox="1"/>
          <p:nvPr/>
        </p:nvSpPr>
        <p:spPr>
          <a:xfrm>
            <a:off x="971600" y="5229200"/>
            <a:ext cx="46805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4.</a:t>
            </a:r>
            <a:r>
              <a:rPr lang="zh-CN" altLang="en-US" dirty="0">
                <a:solidFill>
                  <a:srgbClr val="FF0000"/>
                </a:solidFill>
              </a:rPr>
              <a:t>控制和保护测试单元部件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对整数执行部件、浮点运算部分、分段管理部件进行控制。</a:t>
            </a:r>
          </a:p>
        </p:txBody>
      </p:sp>
    </p:spTree>
    <p:extLst>
      <p:ext uri="{BB962C8B-B14F-4D97-AF65-F5344CB8AC3E}">
        <p14:creationId xmlns:p14="http://schemas.microsoft.com/office/powerpoint/2010/main" val="3891487773"/>
      </p:ext>
    </p:extLst>
  </p:cSld>
  <p:clrMapOvr>
    <a:masterClrMapping/>
  </p:clrMapOvr>
  <p:transition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5" name="矩形 343044"/>
          <p:cNvSpPr/>
          <p:nvPr/>
        </p:nvSpPr>
        <p:spPr>
          <a:xfrm>
            <a:off x="468313" y="863600"/>
            <a:ext cx="3548062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lvl="0"/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80486 CPU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内部结构 </a:t>
            </a:r>
          </a:p>
        </p:txBody>
      </p:sp>
      <p:pic>
        <p:nvPicPr>
          <p:cNvPr id="343046" name="图片 34304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1320800"/>
            <a:ext cx="7488832" cy="5137524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标题 365569"/>
          <p:cNvSpPr>
            <a:spLocks noGrp="1"/>
          </p:cNvSpPr>
          <p:nvPr>
            <p:ph type="ctrTitle"/>
          </p:nvPr>
        </p:nvSpPr>
        <p:spPr>
          <a:xfrm>
            <a:off x="1837928" y="44450"/>
            <a:ext cx="5110336" cy="577850"/>
          </a:xfrm>
        </p:spPr>
        <p:txBody>
          <a:bodyPr vert="horz" wrap="square" lIns="91440" tIns="45720" rIns="91440" bIns="45720" anchor="ctr"/>
          <a:lstStyle/>
          <a:p>
            <a:pPr defTabSz="914400"/>
            <a:r>
              <a:rPr lang="en-US" altLang="zh-CN" sz="3200" b="1" kern="1200" baseline="0" dirty="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2.5 Intel</a:t>
            </a:r>
            <a:r>
              <a:rPr lang="zh-CN" altLang="en-US" sz="3200" b="1" kern="1200" baseline="0" dirty="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的其他微处理器 </a:t>
            </a:r>
            <a:endParaRPr lang="zh-CN" altLang="en-US" sz="4400" kern="1200" baseline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E325594-C55E-4169-A167-88EFAD151CA3}"/>
              </a:ext>
            </a:extLst>
          </p:cNvPr>
          <p:cNvSpPr/>
          <p:nvPr/>
        </p:nvSpPr>
        <p:spPr>
          <a:xfrm>
            <a:off x="1234232" y="4122192"/>
            <a:ext cx="1008112" cy="96299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E4A9A51-C2C9-4386-A603-651380C611FD}"/>
              </a:ext>
            </a:extLst>
          </p:cNvPr>
          <p:cNvSpPr txBox="1"/>
          <p:nvPr/>
        </p:nvSpPr>
        <p:spPr>
          <a:xfrm>
            <a:off x="971600" y="5229200"/>
            <a:ext cx="468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5.</a:t>
            </a:r>
            <a:r>
              <a:rPr lang="zh-CN" altLang="en-US" dirty="0">
                <a:solidFill>
                  <a:srgbClr val="FF0000"/>
                </a:solidFill>
              </a:rPr>
              <a:t>浮点运算部件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788963"/>
      </p:ext>
    </p:extLst>
  </p:cSld>
  <p:clrMapOvr>
    <a:masterClrMapping/>
  </p:clrMapOvr>
  <p:transition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5" name="矩形 343044"/>
          <p:cNvSpPr/>
          <p:nvPr/>
        </p:nvSpPr>
        <p:spPr>
          <a:xfrm>
            <a:off x="468313" y="863600"/>
            <a:ext cx="3548062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lvl="0"/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80486 CPU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内部结构 </a:t>
            </a:r>
          </a:p>
        </p:txBody>
      </p:sp>
      <p:pic>
        <p:nvPicPr>
          <p:cNvPr id="343046" name="图片 34304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1320800"/>
            <a:ext cx="7488832" cy="5137524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标题 365569"/>
          <p:cNvSpPr>
            <a:spLocks noGrp="1"/>
          </p:cNvSpPr>
          <p:nvPr>
            <p:ph type="ctrTitle"/>
          </p:nvPr>
        </p:nvSpPr>
        <p:spPr>
          <a:xfrm>
            <a:off x="1837928" y="44450"/>
            <a:ext cx="5110336" cy="577850"/>
          </a:xfrm>
        </p:spPr>
        <p:txBody>
          <a:bodyPr vert="horz" wrap="square" lIns="91440" tIns="45720" rIns="91440" bIns="45720" anchor="ctr"/>
          <a:lstStyle/>
          <a:p>
            <a:pPr defTabSz="914400"/>
            <a:r>
              <a:rPr lang="en-US" altLang="zh-CN" sz="3200" b="1" kern="1200" baseline="0" dirty="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2.5 Intel</a:t>
            </a:r>
            <a:r>
              <a:rPr lang="zh-CN" altLang="en-US" sz="3200" b="1" kern="1200" baseline="0" dirty="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的其他微处理器 </a:t>
            </a:r>
            <a:endParaRPr lang="zh-CN" altLang="en-US" sz="4400" kern="1200" baseline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E325594-C55E-4169-A167-88EFAD151CA3}"/>
              </a:ext>
            </a:extLst>
          </p:cNvPr>
          <p:cNvSpPr/>
          <p:nvPr/>
        </p:nvSpPr>
        <p:spPr>
          <a:xfrm>
            <a:off x="1115616" y="2204864"/>
            <a:ext cx="1152128" cy="1152128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085AD4F-9434-4B0F-80E5-EFB8170A553D}"/>
              </a:ext>
            </a:extLst>
          </p:cNvPr>
          <p:cNvSpPr txBox="1"/>
          <p:nvPr/>
        </p:nvSpPr>
        <p:spPr>
          <a:xfrm>
            <a:off x="971600" y="5229200"/>
            <a:ext cx="468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6.</a:t>
            </a:r>
            <a:r>
              <a:rPr lang="zh-CN" altLang="en-US" dirty="0">
                <a:solidFill>
                  <a:srgbClr val="FF0000"/>
                </a:solidFill>
              </a:rPr>
              <a:t>整数执行部件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9854090"/>
      </p:ext>
    </p:extLst>
  </p:cSld>
  <p:clrMapOvr>
    <a:masterClrMapping/>
  </p:clrMapOvr>
  <p:transition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5" name="矩形 343044"/>
          <p:cNvSpPr/>
          <p:nvPr/>
        </p:nvSpPr>
        <p:spPr>
          <a:xfrm>
            <a:off x="468313" y="863600"/>
            <a:ext cx="3548062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lvl="0"/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80486 CPU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内部结构 </a:t>
            </a:r>
          </a:p>
        </p:txBody>
      </p:sp>
      <p:pic>
        <p:nvPicPr>
          <p:cNvPr id="343046" name="图片 34304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1320800"/>
            <a:ext cx="7488832" cy="5137524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标题 365569"/>
          <p:cNvSpPr>
            <a:spLocks noGrp="1"/>
          </p:cNvSpPr>
          <p:nvPr>
            <p:ph type="ctrTitle"/>
          </p:nvPr>
        </p:nvSpPr>
        <p:spPr>
          <a:xfrm>
            <a:off x="1837928" y="44450"/>
            <a:ext cx="5110336" cy="577850"/>
          </a:xfrm>
        </p:spPr>
        <p:txBody>
          <a:bodyPr vert="horz" wrap="square" lIns="91440" tIns="45720" rIns="91440" bIns="45720" anchor="ctr"/>
          <a:lstStyle/>
          <a:p>
            <a:pPr defTabSz="914400"/>
            <a:r>
              <a:rPr lang="en-US" altLang="zh-CN" sz="3200" b="1" kern="1200" baseline="0" dirty="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2.5 Intel</a:t>
            </a:r>
            <a:r>
              <a:rPr lang="zh-CN" altLang="en-US" sz="3200" b="1" kern="1200" baseline="0" dirty="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的其他微处理器 </a:t>
            </a:r>
            <a:endParaRPr lang="zh-CN" altLang="en-US" sz="4400" kern="1200" baseline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E325594-C55E-4169-A167-88EFAD151CA3}"/>
              </a:ext>
            </a:extLst>
          </p:cNvPr>
          <p:cNvSpPr/>
          <p:nvPr/>
        </p:nvSpPr>
        <p:spPr>
          <a:xfrm>
            <a:off x="2411760" y="1916832"/>
            <a:ext cx="1944216" cy="1512168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957A04C-74F1-431C-967A-34CC74AC0DBC}"/>
              </a:ext>
            </a:extLst>
          </p:cNvPr>
          <p:cNvSpPr txBox="1"/>
          <p:nvPr/>
        </p:nvSpPr>
        <p:spPr>
          <a:xfrm>
            <a:off x="971600" y="5157192"/>
            <a:ext cx="38779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7.</a:t>
            </a:r>
            <a:r>
              <a:rPr lang="zh-CN" altLang="en-US" dirty="0">
                <a:solidFill>
                  <a:srgbClr val="FF0000"/>
                </a:solidFill>
              </a:rPr>
              <a:t>分段部件和分页部件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实现存储器保护和虚拟存储器管理。</a:t>
            </a:r>
          </a:p>
        </p:txBody>
      </p:sp>
    </p:spTree>
    <p:extLst>
      <p:ext uri="{BB962C8B-B14F-4D97-AF65-F5344CB8AC3E}">
        <p14:creationId xmlns:p14="http://schemas.microsoft.com/office/powerpoint/2010/main" val="3315404869"/>
      </p:ext>
    </p:extLst>
  </p:cSld>
  <p:clrMapOvr>
    <a:masterClrMapping/>
  </p:clrMapOvr>
  <p:transition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5" name="矩形 343044"/>
          <p:cNvSpPr/>
          <p:nvPr/>
        </p:nvSpPr>
        <p:spPr>
          <a:xfrm>
            <a:off x="468313" y="863600"/>
            <a:ext cx="3548062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lvl="0"/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80486 CPU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内部结构 </a:t>
            </a:r>
          </a:p>
        </p:txBody>
      </p:sp>
      <p:pic>
        <p:nvPicPr>
          <p:cNvPr id="343046" name="图片 34304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1320800"/>
            <a:ext cx="7488832" cy="5137524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标题 365569"/>
          <p:cNvSpPr>
            <a:spLocks noGrp="1"/>
          </p:cNvSpPr>
          <p:nvPr>
            <p:ph type="ctrTitle"/>
          </p:nvPr>
        </p:nvSpPr>
        <p:spPr>
          <a:xfrm>
            <a:off x="1837928" y="44450"/>
            <a:ext cx="5110336" cy="577850"/>
          </a:xfrm>
        </p:spPr>
        <p:txBody>
          <a:bodyPr vert="horz" wrap="square" lIns="91440" tIns="45720" rIns="91440" bIns="45720" anchor="ctr"/>
          <a:lstStyle/>
          <a:p>
            <a:pPr defTabSz="914400"/>
            <a:r>
              <a:rPr lang="en-US" altLang="zh-CN" sz="3200" b="1" kern="1200" baseline="0" dirty="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2.5 Intel</a:t>
            </a:r>
            <a:r>
              <a:rPr lang="zh-CN" altLang="en-US" sz="3200" b="1" kern="1200" baseline="0" dirty="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的其他微处理器 </a:t>
            </a:r>
            <a:endParaRPr lang="zh-CN" altLang="en-US" sz="4400" kern="1200" baseline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E325594-C55E-4169-A167-88EFAD151CA3}"/>
              </a:ext>
            </a:extLst>
          </p:cNvPr>
          <p:cNvSpPr/>
          <p:nvPr/>
        </p:nvSpPr>
        <p:spPr>
          <a:xfrm>
            <a:off x="4499992" y="2060848"/>
            <a:ext cx="1080120" cy="1296144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7F62DA5-FB3C-42E3-B8B1-74D1B9E10076}"/>
              </a:ext>
            </a:extLst>
          </p:cNvPr>
          <p:cNvSpPr txBox="1"/>
          <p:nvPr/>
        </p:nvSpPr>
        <p:spPr>
          <a:xfrm>
            <a:off x="971601" y="5157192"/>
            <a:ext cx="47525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8.</a:t>
            </a:r>
            <a:r>
              <a:rPr lang="zh-CN" altLang="en-US" dirty="0">
                <a:solidFill>
                  <a:srgbClr val="FF0000"/>
                </a:solidFill>
              </a:rPr>
              <a:t>高速缓存</a:t>
            </a:r>
            <a:r>
              <a:rPr lang="en-US" altLang="zh-CN" dirty="0">
                <a:solidFill>
                  <a:srgbClr val="FF0000"/>
                </a:solidFill>
              </a:rPr>
              <a:t>Cache</a:t>
            </a:r>
            <a:r>
              <a:rPr lang="zh-CN" altLang="en-US" dirty="0">
                <a:solidFill>
                  <a:srgbClr val="FF0000"/>
                </a:solidFill>
              </a:rPr>
              <a:t>管理部件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在绝大多数情况下，</a:t>
            </a:r>
            <a:r>
              <a:rPr lang="en-US" altLang="zh-CN" dirty="0"/>
              <a:t>CPU</a:t>
            </a:r>
            <a:r>
              <a:rPr lang="zh-CN" altLang="en-US" dirty="0"/>
              <a:t>能在片内</a:t>
            </a:r>
            <a:r>
              <a:rPr lang="en-US" altLang="zh-CN" dirty="0"/>
              <a:t>Cache</a:t>
            </a:r>
            <a:r>
              <a:rPr lang="zh-CN" altLang="en-US" dirty="0"/>
              <a:t>中存取数据和指令</a:t>
            </a:r>
          </a:p>
        </p:txBody>
      </p:sp>
    </p:spTree>
    <p:extLst>
      <p:ext uri="{BB962C8B-B14F-4D97-AF65-F5344CB8AC3E}">
        <p14:creationId xmlns:p14="http://schemas.microsoft.com/office/powerpoint/2010/main" val="1415812598"/>
      </p:ext>
    </p:extLst>
  </p:cSld>
  <p:clrMapOvr>
    <a:masterClrMapping/>
  </p:clrMapOvr>
  <p:transition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147" name="矩形 347146"/>
          <p:cNvSpPr/>
          <p:nvPr/>
        </p:nvSpPr>
        <p:spPr>
          <a:xfrm>
            <a:off x="323850" y="797803"/>
            <a:ext cx="4115229" cy="830997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lvl="0"/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80486 CPU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的寄存器结构</a:t>
            </a: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/>
            <a:r>
              <a:rPr lang="en-US" altLang="zh-CN" sz="2400" b="1" dirty="0">
                <a:latin typeface="Arial" panose="020B0604020202020204" pitchFamily="34" charset="0"/>
              </a:rPr>
              <a:t>1</a:t>
            </a:r>
            <a:r>
              <a:rPr lang="zh-CN" altLang="en-US" sz="2400" b="1" dirty="0">
                <a:latin typeface="Arial" panose="020B0604020202020204" pitchFamily="34" charset="0"/>
              </a:rPr>
              <a:t>）基本寄存器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</a:p>
        </p:txBody>
      </p:sp>
      <p:pic>
        <p:nvPicPr>
          <p:cNvPr id="347148" name="图片 34714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350" y="1629047"/>
            <a:ext cx="6235700" cy="50403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标题 365569"/>
          <p:cNvSpPr>
            <a:spLocks noGrp="1"/>
          </p:cNvSpPr>
          <p:nvPr>
            <p:ph type="ctrTitle"/>
          </p:nvPr>
        </p:nvSpPr>
        <p:spPr>
          <a:xfrm>
            <a:off x="1837928" y="44450"/>
            <a:ext cx="5110336" cy="577850"/>
          </a:xfrm>
        </p:spPr>
        <p:txBody>
          <a:bodyPr vert="horz" wrap="square" lIns="91440" tIns="45720" rIns="91440" bIns="45720" anchor="ctr"/>
          <a:lstStyle/>
          <a:p>
            <a:pPr defTabSz="914400"/>
            <a:r>
              <a:rPr lang="en-US" altLang="zh-CN" sz="3200" b="1" kern="1200" baseline="0" dirty="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2.5 Intel</a:t>
            </a:r>
            <a:r>
              <a:rPr lang="zh-CN" altLang="en-US" sz="3200" b="1" kern="1200" baseline="0" dirty="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的其他微处理器 </a:t>
            </a:r>
            <a:endParaRPr lang="zh-CN" altLang="en-US" sz="4400" kern="1200" baseline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9189" name="图片 3491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288" y="1412875"/>
            <a:ext cx="8281987" cy="12414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标题 365569"/>
          <p:cNvSpPr>
            <a:spLocks noGrp="1"/>
          </p:cNvSpPr>
          <p:nvPr>
            <p:ph type="ctrTitle"/>
          </p:nvPr>
        </p:nvSpPr>
        <p:spPr>
          <a:xfrm>
            <a:off x="1837928" y="44450"/>
            <a:ext cx="5110336" cy="577850"/>
          </a:xfrm>
        </p:spPr>
        <p:txBody>
          <a:bodyPr vert="horz" wrap="square" lIns="91440" tIns="45720" rIns="91440" bIns="45720" anchor="ctr"/>
          <a:lstStyle/>
          <a:p>
            <a:pPr defTabSz="914400"/>
            <a:r>
              <a:rPr lang="en-US" altLang="zh-CN" sz="3200" b="1" kern="1200" baseline="0" dirty="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2.5 Intel</a:t>
            </a:r>
            <a:r>
              <a:rPr lang="zh-CN" altLang="en-US" sz="3200" b="1" kern="1200" baseline="0" dirty="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的其他微处理器 </a:t>
            </a:r>
            <a:endParaRPr lang="zh-CN" altLang="en-US" sz="4400" kern="1200" baseline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2E95FDD-8762-4937-B41D-19B5DC69A73E}"/>
              </a:ext>
            </a:extLst>
          </p:cNvPr>
          <p:cNvSpPr txBox="1"/>
          <p:nvPr/>
        </p:nvSpPr>
        <p:spPr>
          <a:xfrm>
            <a:off x="5076056" y="2852936"/>
            <a:ext cx="34563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I/O</a:t>
            </a:r>
            <a:r>
              <a:rPr lang="zh-CN" altLang="en-US" dirty="0"/>
              <a:t>特权级标志：用于确定需要执行的</a:t>
            </a:r>
            <a:r>
              <a:rPr lang="en-US" altLang="zh-CN" dirty="0"/>
              <a:t>I/O</a:t>
            </a:r>
            <a:r>
              <a:rPr lang="zh-CN" altLang="en-US" dirty="0"/>
              <a:t>敏感指令的特权级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E975097-7180-4425-9E5D-67E62DE13F7B}"/>
              </a:ext>
            </a:extLst>
          </p:cNvPr>
          <p:cNvSpPr txBox="1"/>
          <p:nvPr/>
        </p:nvSpPr>
        <p:spPr>
          <a:xfrm>
            <a:off x="4932040" y="3861048"/>
            <a:ext cx="36724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嵌套任务标志：在保护模式下，指示当前执行的任务是否嵌套于另一个任务。</a:t>
            </a:r>
            <a:r>
              <a:rPr lang="en-US" altLang="zh-CN" dirty="0"/>
              <a:t>NT=1</a:t>
            </a:r>
            <a:r>
              <a:rPr lang="zh-CN" altLang="en-US" dirty="0"/>
              <a:t>表示任务被嵌套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AF09303-CC06-4BEE-98E9-23A59FC5046C}"/>
              </a:ext>
            </a:extLst>
          </p:cNvPr>
          <p:cNvSpPr txBox="1"/>
          <p:nvPr/>
        </p:nvSpPr>
        <p:spPr>
          <a:xfrm>
            <a:off x="4932039" y="5301208"/>
            <a:ext cx="37452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恢复标志：与调试寄存器一起使用，用于保证不重复处理断点。当</a:t>
            </a:r>
            <a:r>
              <a:rPr lang="en-US" altLang="zh-CN" dirty="0"/>
              <a:t>RF=1</a:t>
            </a:r>
            <a:r>
              <a:rPr lang="zh-CN" altLang="en-US" dirty="0"/>
              <a:t>时，即使遇到断点和或故障也不产生异常中断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2E03780-C99C-45CC-A8D0-9B0A1B20C954}"/>
              </a:ext>
            </a:extLst>
          </p:cNvPr>
          <p:cNvSpPr txBox="1"/>
          <p:nvPr/>
        </p:nvSpPr>
        <p:spPr>
          <a:xfrm>
            <a:off x="289621" y="3969060"/>
            <a:ext cx="24482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虚拟</a:t>
            </a:r>
            <a:r>
              <a:rPr lang="en-US" altLang="zh-CN" dirty="0"/>
              <a:t>8086</a:t>
            </a:r>
            <a:r>
              <a:rPr lang="zh-CN" altLang="en-US" dirty="0"/>
              <a:t>模式标志：</a:t>
            </a:r>
            <a:r>
              <a:rPr lang="en-US" altLang="zh-CN" dirty="0"/>
              <a:t>VM=1</a:t>
            </a:r>
            <a:r>
              <a:rPr lang="zh-CN" altLang="en-US" dirty="0"/>
              <a:t>启用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FB72C70-E9D5-4E49-B2D1-46AF4D4CF2C6}"/>
              </a:ext>
            </a:extLst>
          </p:cNvPr>
          <p:cNvSpPr txBox="1"/>
          <p:nvPr/>
        </p:nvSpPr>
        <p:spPr>
          <a:xfrm>
            <a:off x="152463" y="2806831"/>
            <a:ext cx="24482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队列检查标志：字、双字边界对齐检查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BCEB51B5-72A1-4FFC-906A-FDA4B46AA1DE}"/>
              </a:ext>
            </a:extLst>
          </p:cNvPr>
          <p:cNvCxnSpPr>
            <a:cxnSpLocks/>
          </p:cNvCxnSpPr>
          <p:nvPr/>
        </p:nvCxnSpPr>
        <p:spPr>
          <a:xfrm>
            <a:off x="3275856" y="2132856"/>
            <a:ext cx="21247" cy="20708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79BB1F83-B4CB-49BB-AB88-77EDC587B608}"/>
              </a:ext>
            </a:extLst>
          </p:cNvPr>
          <p:cNvCxnSpPr/>
          <p:nvPr/>
        </p:nvCxnSpPr>
        <p:spPr>
          <a:xfrm>
            <a:off x="4657725" y="3140968"/>
            <a:ext cx="43204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0BAD0409-AE81-4335-BF34-48AB80E057A6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4207768" y="4322713"/>
            <a:ext cx="724272" cy="18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7FAAFE39-AC32-41AC-97DF-96A19F8F7A69}"/>
              </a:ext>
            </a:extLst>
          </p:cNvPr>
          <p:cNvCxnSpPr>
            <a:cxnSpLocks/>
          </p:cNvCxnSpPr>
          <p:nvPr/>
        </p:nvCxnSpPr>
        <p:spPr>
          <a:xfrm>
            <a:off x="4211960" y="2132856"/>
            <a:ext cx="0" cy="21898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0A0966C-1123-49FD-ADEC-BA417E50E070}"/>
              </a:ext>
            </a:extLst>
          </p:cNvPr>
          <p:cNvCxnSpPr>
            <a:cxnSpLocks/>
          </p:cNvCxnSpPr>
          <p:nvPr/>
        </p:nvCxnSpPr>
        <p:spPr>
          <a:xfrm>
            <a:off x="3601988" y="2132856"/>
            <a:ext cx="0" cy="36724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A461DB86-5473-4D77-9D6C-975A3723868D}"/>
              </a:ext>
            </a:extLst>
          </p:cNvPr>
          <p:cNvCxnSpPr>
            <a:cxnSpLocks/>
          </p:cNvCxnSpPr>
          <p:nvPr/>
        </p:nvCxnSpPr>
        <p:spPr>
          <a:xfrm>
            <a:off x="3601988" y="5800055"/>
            <a:ext cx="136815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B45EE082-7B56-41C2-BA53-7CAF2715FEF2}"/>
              </a:ext>
            </a:extLst>
          </p:cNvPr>
          <p:cNvCxnSpPr>
            <a:cxnSpLocks/>
          </p:cNvCxnSpPr>
          <p:nvPr/>
        </p:nvCxnSpPr>
        <p:spPr>
          <a:xfrm flipH="1">
            <a:off x="2400139" y="4191803"/>
            <a:ext cx="88634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78AF4A9C-8E68-453C-AE1E-E2F07CD73685}"/>
              </a:ext>
            </a:extLst>
          </p:cNvPr>
          <p:cNvCxnSpPr>
            <a:cxnSpLocks/>
          </p:cNvCxnSpPr>
          <p:nvPr/>
        </p:nvCxnSpPr>
        <p:spPr>
          <a:xfrm>
            <a:off x="2936417" y="2118767"/>
            <a:ext cx="10269" cy="10008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AE9EF699-2E70-44D8-93A2-9DBAA652BAE6}"/>
              </a:ext>
            </a:extLst>
          </p:cNvPr>
          <p:cNvCxnSpPr>
            <a:cxnSpLocks/>
          </p:cNvCxnSpPr>
          <p:nvPr/>
        </p:nvCxnSpPr>
        <p:spPr>
          <a:xfrm flipH="1">
            <a:off x="2353013" y="3101389"/>
            <a:ext cx="59367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68B785BA-8060-45FE-A735-B495351E4379}"/>
              </a:ext>
            </a:extLst>
          </p:cNvPr>
          <p:cNvCxnSpPr>
            <a:cxnSpLocks/>
          </p:cNvCxnSpPr>
          <p:nvPr/>
        </p:nvCxnSpPr>
        <p:spPr>
          <a:xfrm>
            <a:off x="4657725" y="2148359"/>
            <a:ext cx="10269" cy="10008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9190" name="图片 34918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168" y="1412776"/>
            <a:ext cx="6697663" cy="27368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标题 365569"/>
          <p:cNvSpPr>
            <a:spLocks noGrp="1"/>
          </p:cNvSpPr>
          <p:nvPr>
            <p:ph type="ctrTitle"/>
          </p:nvPr>
        </p:nvSpPr>
        <p:spPr>
          <a:xfrm>
            <a:off x="1837928" y="44450"/>
            <a:ext cx="5110336" cy="577850"/>
          </a:xfrm>
        </p:spPr>
        <p:txBody>
          <a:bodyPr vert="horz" wrap="square" lIns="91440" tIns="45720" rIns="91440" bIns="45720" anchor="ctr"/>
          <a:lstStyle/>
          <a:p>
            <a:pPr defTabSz="914400"/>
            <a:r>
              <a:rPr lang="en-US" altLang="zh-CN" sz="3200" b="1" kern="1200" baseline="0" dirty="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2.5 Intel</a:t>
            </a:r>
            <a:r>
              <a:rPr lang="zh-CN" altLang="en-US" sz="3200" b="1" kern="1200" baseline="0" dirty="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的其他微处理器 </a:t>
            </a:r>
            <a:endParaRPr lang="zh-CN" altLang="en-US" sz="4400" kern="1200" baseline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F8BC6F5-D041-47B4-BBF4-F9F16C1040E6}"/>
              </a:ext>
            </a:extLst>
          </p:cNvPr>
          <p:cNvSpPr txBox="1"/>
          <p:nvPr/>
        </p:nvSpPr>
        <p:spPr>
          <a:xfrm flipH="1">
            <a:off x="922450" y="4302899"/>
            <a:ext cx="729909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FF6600"/>
              </a:buClr>
              <a:buFont typeface="Wingdings" panose="05000000000000000000" pitchFamily="2" charset="2"/>
              <a:buChar char="u"/>
            </a:pPr>
            <a:r>
              <a:rPr lang="en-US" altLang="zh-CN" sz="2400" dirty="0"/>
              <a:t>6</a:t>
            </a:r>
            <a:r>
              <a:rPr lang="zh-CN" altLang="en-US" sz="2400" dirty="0"/>
              <a:t>个</a:t>
            </a:r>
            <a:r>
              <a:rPr lang="en-US" altLang="zh-CN" sz="2400" dirty="0"/>
              <a:t>16</a:t>
            </a:r>
            <a:r>
              <a:rPr lang="zh-CN" altLang="en-US" sz="2400" dirty="0"/>
              <a:t>位段寄存器存放段地址（实地址模式）或选择符（保护模式）</a:t>
            </a:r>
            <a:endParaRPr lang="en-US" altLang="zh-CN" sz="2400" dirty="0"/>
          </a:p>
          <a:p>
            <a:pPr marL="285750" indent="-285750">
              <a:buClr>
                <a:srgbClr val="FF6600"/>
              </a:buClr>
              <a:buFont typeface="Wingdings" panose="05000000000000000000" pitchFamily="2" charset="2"/>
              <a:buChar char="u"/>
            </a:pPr>
            <a:r>
              <a:rPr lang="zh-CN" altLang="en-US" sz="2400" dirty="0"/>
              <a:t>在保护模式下每个段寄存器都有一个相对应的段描述符</a:t>
            </a:r>
          </a:p>
        </p:txBody>
      </p:sp>
    </p:spTree>
    <p:extLst>
      <p:ext uri="{BB962C8B-B14F-4D97-AF65-F5344CB8AC3E}">
        <p14:creationId xmlns:p14="http://schemas.microsoft.com/office/powerpoint/2010/main" val="515625428"/>
      </p:ext>
    </p:extLst>
  </p:cSld>
  <p:clrMapOvr>
    <a:masterClrMapping/>
  </p:clrMapOvr>
  <p:transition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237" name="图片 3512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286" y="1168588"/>
            <a:ext cx="7367428" cy="220376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标题 365569"/>
          <p:cNvSpPr>
            <a:spLocks noGrp="1"/>
          </p:cNvSpPr>
          <p:nvPr>
            <p:ph type="ctrTitle"/>
          </p:nvPr>
        </p:nvSpPr>
        <p:spPr>
          <a:xfrm>
            <a:off x="1837928" y="44450"/>
            <a:ext cx="5110336" cy="577850"/>
          </a:xfrm>
        </p:spPr>
        <p:txBody>
          <a:bodyPr vert="horz" wrap="square" lIns="91440" tIns="45720" rIns="91440" bIns="45720" anchor="ctr"/>
          <a:lstStyle/>
          <a:p>
            <a:pPr defTabSz="914400"/>
            <a:r>
              <a:rPr lang="en-US" altLang="zh-CN" sz="3200" b="1" kern="1200" baseline="0" dirty="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2.5 Intel</a:t>
            </a:r>
            <a:r>
              <a:rPr lang="zh-CN" altLang="en-US" sz="3200" b="1" kern="1200" baseline="0" dirty="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的其他微处理器 </a:t>
            </a:r>
            <a:endParaRPr lang="zh-CN" altLang="en-US" sz="4400" kern="1200" baseline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286CA98-109F-4713-8F56-39BAA3F750B9}"/>
              </a:ext>
            </a:extLst>
          </p:cNvPr>
          <p:cNvSpPr txBox="1"/>
          <p:nvPr/>
        </p:nvSpPr>
        <p:spPr>
          <a:xfrm>
            <a:off x="683568" y="741620"/>
            <a:ext cx="42370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2)</a:t>
            </a:r>
            <a:r>
              <a:rPr lang="zh-CN" altLang="en-US" sz="2400" dirty="0"/>
              <a:t>系统寄存器</a:t>
            </a:r>
            <a:r>
              <a:rPr lang="en-US" altLang="zh-CN" sz="2400" dirty="0"/>
              <a:t>-</a:t>
            </a:r>
            <a:r>
              <a:rPr lang="zh-CN" altLang="en-US" sz="2400" dirty="0"/>
              <a:t>系统地址寄存器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F5499D4-2436-43F9-8D47-AC0258277F2C}"/>
              </a:ext>
            </a:extLst>
          </p:cNvPr>
          <p:cNvSpPr txBox="1"/>
          <p:nvPr/>
        </p:nvSpPr>
        <p:spPr>
          <a:xfrm>
            <a:off x="539552" y="3372356"/>
            <a:ext cx="784887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FF6600"/>
              </a:buClr>
              <a:buFont typeface="Wingdings" panose="05000000000000000000" pitchFamily="2" charset="2"/>
              <a:buChar char="u"/>
            </a:pPr>
            <a:r>
              <a:rPr lang="zh-CN" altLang="en-US" sz="2000" dirty="0"/>
              <a:t>全局描述符表寄存器</a:t>
            </a:r>
            <a:r>
              <a:rPr lang="en-US" altLang="zh-CN" sz="2000" dirty="0"/>
              <a:t>GDTR</a:t>
            </a:r>
            <a:r>
              <a:rPr lang="zh-CN" altLang="en-US" sz="2000" dirty="0"/>
              <a:t>：全局描述符表</a:t>
            </a:r>
            <a:r>
              <a:rPr lang="en-US" altLang="zh-CN" sz="2000" dirty="0"/>
              <a:t>GDT</a:t>
            </a:r>
            <a:r>
              <a:rPr lang="zh-CN" altLang="en-US" sz="2000" dirty="0"/>
              <a:t>中包含了操作系统使用的、各任务公用的描述符。</a:t>
            </a:r>
            <a:r>
              <a:rPr lang="en-US" altLang="zh-CN" sz="2000" dirty="0"/>
              <a:t>GDTR</a:t>
            </a:r>
            <a:r>
              <a:rPr lang="zh-CN" altLang="en-US" sz="2000" dirty="0"/>
              <a:t>中含有</a:t>
            </a:r>
            <a:r>
              <a:rPr lang="en-US" altLang="zh-CN" sz="2000" dirty="0"/>
              <a:t>GDT</a:t>
            </a:r>
            <a:r>
              <a:rPr lang="zh-CN" altLang="en-US" sz="2000" dirty="0"/>
              <a:t>的</a:t>
            </a:r>
            <a:r>
              <a:rPr lang="en-US" altLang="zh-CN" sz="2000" dirty="0"/>
              <a:t>32</a:t>
            </a:r>
            <a:r>
              <a:rPr lang="zh-CN" altLang="en-US" sz="2000" dirty="0"/>
              <a:t>位线性基址和</a:t>
            </a:r>
            <a:r>
              <a:rPr lang="en-US" altLang="zh-CN" sz="2000" dirty="0"/>
              <a:t>16</a:t>
            </a:r>
            <a:r>
              <a:rPr lang="zh-CN" altLang="en-US" sz="2000" dirty="0"/>
              <a:t>位限长。</a:t>
            </a:r>
            <a:endParaRPr lang="en-US" altLang="zh-CN" sz="2000" dirty="0"/>
          </a:p>
          <a:p>
            <a:pPr marL="285750" indent="-285750">
              <a:buClr>
                <a:srgbClr val="FF6600"/>
              </a:buClr>
              <a:buFont typeface="Wingdings" panose="05000000000000000000" pitchFamily="2" charset="2"/>
              <a:buChar char="u"/>
            </a:pPr>
            <a:r>
              <a:rPr lang="zh-CN" altLang="en-US" sz="2000" dirty="0"/>
              <a:t>中断描述符表寄存器</a:t>
            </a:r>
            <a:r>
              <a:rPr lang="en-US" altLang="zh-CN" sz="2000" dirty="0"/>
              <a:t>IDTR</a:t>
            </a:r>
            <a:r>
              <a:rPr lang="zh-CN" altLang="en-US" sz="2000" dirty="0"/>
              <a:t>：所有中断描述符集中放在中断描述符表</a:t>
            </a:r>
            <a:r>
              <a:rPr lang="en-US" altLang="zh-CN" sz="2000" dirty="0"/>
              <a:t>IDT</a:t>
            </a:r>
            <a:r>
              <a:rPr lang="zh-CN" altLang="en-US" sz="2000" dirty="0"/>
              <a:t>中。</a:t>
            </a:r>
            <a:r>
              <a:rPr lang="en-US" altLang="zh-CN" sz="2000" dirty="0"/>
              <a:t>IDTR</a:t>
            </a:r>
            <a:r>
              <a:rPr lang="zh-CN" altLang="en-US" sz="2000" dirty="0"/>
              <a:t>中含有</a:t>
            </a:r>
            <a:r>
              <a:rPr lang="en-US" altLang="zh-CN" sz="2000" dirty="0"/>
              <a:t>IDT</a:t>
            </a:r>
            <a:r>
              <a:rPr lang="zh-CN" altLang="en-US" sz="2000" dirty="0"/>
              <a:t>的基址和限长。</a:t>
            </a:r>
            <a:endParaRPr lang="en-US" altLang="zh-CN" sz="2000" dirty="0"/>
          </a:p>
          <a:p>
            <a:pPr marL="285750" indent="-285750">
              <a:buClr>
                <a:srgbClr val="FF6600"/>
              </a:buClr>
              <a:buFont typeface="Wingdings" panose="05000000000000000000" pitchFamily="2" charset="2"/>
              <a:buChar char="u"/>
            </a:pPr>
            <a:r>
              <a:rPr lang="zh-CN" altLang="en-US" sz="2000" dirty="0"/>
              <a:t>局部描述符表寄存器</a:t>
            </a:r>
            <a:r>
              <a:rPr lang="en-US" altLang="zh-CN" sz="2000" dirty="0"/>
              <a:t>LDTR</a:t>
            </a:r>
            <a:r>
              <a:rPr lang="zh-CN" altLang="en-US" sz="2000" dirty="0"/>
              <a:t>：局部描述符表</a:t>
            </a:r>
            <a:r>
              <a:rPr lang="en-US" altLang="zh-CN" sz="2000" dirty="0"/>
              <a:t>LDT</a:t>
            </a:r>
            <a:r>
              <a:rPr lang="zh-CN" altLang="en-US" sz="2000" dirty="0"/>
              <a:t>包含了某一任务专用的描述符。</a:t>
            </a:r>
            <a:r>
              <a:rPr lang="en-US" altLang="zh-CN" sz="2000" dirty="0"/>
              <a:t>LDTR</a:t>
            </a:r>
            <a:r>
              <a:rPr lang="zh-CN" altLang="en-US" sz="2000" dirty="0"/>
              <a:t>中存放当前任务的</a:t>
            </a:r>
            <a:r>
              <a:rPr lang="en-US" altLang="zh-CN" sz="2000" dirty="0"/>
              <a:t>LDT</a:t>
            </a:r>
            <a:r>
              <a:rPr lang="zh-CN" altLang="en-US" sz="2000" dirty="0"/>
              <a:t>选择符，对应的</a:t>
            </a:r>
            <a:r>
              <a:rPr lang="en-US" altLang="zh-CN" sz="2000" dirty="0"/>
              <a:t>LDT</a:t>
            </a:r>
            <a:r>
              <a:rPr lang="zh-CN" altLang="en-US" sz="2000" dirty="0"/>
              <a:t>描述符防止</a:t>
            </a:r>
            <a:r>
              <a:rPr lang="en-US" altLang="zh-CN" sz="2000" dirty="0"/>
              <a:t>LDT</a:t>
            </a:r>
            <a:r>
              <a:rPr lang="zh-CN" altLang="en-US" sz="2000" dirty="0"/>
              <a:t>描述符寄存器中</a:t>
            </a:r>
            <a:endParaRPr lang="en-US" altLang="zh-CN" sz="2000" dirty="0"/>
          </a:p>
          <a:p>
            <a:pPr marL="285750" indent="-285750">
              <a:buClr>
                <a:srgbClr val="FF6600"/>
              </a:buClr>
              <a:buFont typeface="Wingdings" panose="05000000000000000000" pitchFamily="2" charset="2"/>
              <a:buChar char="u"/>
            </a:pPr>
            <a:r>
              <a:rPr lang="zh-CN" altLang="en-US" sz="2000" dirty="0"/>
              <a:t>任务寄存器</a:t>
            </a:r>
            <a:r>
              <a:rPr lang="en-US" altLang="zh-CN" sz="2000" dirty="0"/>
              <a:t>TR</a:t>
            </a:r>
            <a:r>
              <a:rPr lang="zh-CN" altLang="en-US" sz="2000" dirty="0"/>
              <a:t>：每一个任务都有一个任务状态段</a:t>
            </a:r>
            <a:r>
              <a:rPr lang="en-US" altLang="zh-CN" sz="2000" dirty="0"/>
              <a:t>TSS</a:t>
            </a:r>
            <a:r>
              <a:rPr lang="zh-CN" altLang="en-US" sz="2000" dirty="0"/>
              <a:t>。当前任务的</a:t>
            </a:r>
            <a:r>
              <a:rPr lang="en-US" altLang="zh-CN" sz="2000" dirty="0"/>
              <a:t>TSS</a:t>
            </a:r>
            <a:r>
              <a:rPr lang="zh-CN" altLang="en-US" sz="2000" dirty="0"/>
              <a:t>选择符存放在</a:t>
            </a:r>
            <a:r>
              <a:rPr lang="en-US" altLang="zh-CN" sz="2000" dirty="0"/>
              <a:t>TR</a:t>
            </a:r>
            <a:r>
              <a:rPr lang="zh-CN" altLang="en-US" sz="2000" dirty="0"/>
              <a:t>中，</a:t>
            </a:r>
            <a:r>
              <a:rPr lang="en-US" altLang="zh-CN" sz="2000" dirty="0"/>
              <a:t>TSS</a:t>
            </a:r>
            <a:r>
              <a:rPr lang="zh-CN" altLang="en-US" sz="2000" dirty="0"/>
              <a:t>描述符存放在</a:t>
            </a:r>
            <a:r>
              <a:rPr lang="en-US" altLang="zh-CN" sz="2000" dirty="0"/>
              <a:t>TSS</a:t>
            </a:r>
            <a:r>
              <a:rPr lang="zh-CN" altLang="en-US" sz="2000" dirty="0"/>
              <a:t>描述符寄存器中</a:t>
            </a:r>
          </a:p>
        </p:txBody>
      </p:sp>
    </p:spTree>
  </p:cSld>
  <p:clrMapOvr>
    <a:masterClrMapping/>
  </p:clrMapOvr>
  <p:transition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365569">
            <a:extLst>
              <a:ext uri="{FF2B5EF4-FFF2-40B4-BE49-F238E27FC236}">
                <a16:creationId xmlns:a16="http://schemas.microsoft.com/office/drawing/2014/main" id="{ECD1E8D5-51FC-4700-8BFA-C40FD170156B}"/>
              </a:ext>
            </a:extLst>
          </p:cNvPr>
          <p:cNvSpPr txBox="1">
            <a:spLocks/>
          </p:cNvSpPr>
          <p:nvPr/>
        </p:nvSpPr>
        <p:spPr>
          <a:xfrm>
            <a:off x="1837928" y="44450"/>
            <a:ext cx="5110336" cy="577850"/>
          </a:xfrm>
          <a:prstGeom prst="rect">
            <a:avLst/>
          </a:prstGeom>
        </p:spPr>
        <p:txBody>
          <a:bodyPr vert="horz" wrap="square" lIns="91440" tIns="45720" rIns="91440" bIns="45720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2.5 Intel</a:t>
            </a:r>
            <a:r>
              <a:rPr lang="zh-CN" altLang="en-US" sz="3200" b="1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的其他微处理器 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41D2F8B-B15B-47C8-AD32-8EBA6B38C829}"/>
              </a:ext>
            </a:extLst>
          </p:cNvPr>
          <p:cNvSpPr txBox="1"/>
          <p:nvPr/>
        </p:nvSpPr>
        <p:spPr>
          <a:xfrm>
            <a:off x="323528" y="1124744"/>
            <a:ext cx="208823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段选择符</a:t>
            </a:r>
            <a:endParaRPr lang="en-US" altLang="zh-CN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C728DDA-89D5-4AF1-A693-887F0F07C284}"/>
              </a:ext>
            </a:extLst>
          </p:cNvPr>
          <p:cNvSpPr txBox="1"/>
          <p:nvPr/>
        </p:nvSpPr>
        <p:spPr>
          <a:xfrm>
            <a:off x="251520" y="5787668"/>
            <a:ext cx="172819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GDTR</a:t>
            </a:r>
            <a:endParaRPr lang="zh-CN" altLang="en-US" dirty="0"/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51FD6718-03BE-4A10-A30F-55968FDEBB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1183866"/>
              </p:ext>
            </p:extLst>
          </p:nvPr>
        </p:nvGraphicFramePr>
        <p:xfrm>
          <a:off x="2726804" y="1601629"/>
          <a:ext cx="1823864" cy="4370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3864">
                  <a:extLst>
                    <a:ext uri="{9D8B030D-6E8A-4147-A177-3AD203B41FA5}">
                      <a16:colId xmlns:a16="http://schemas.microsoft.com/office/drawing/2014/main" val="72055518"/>
                    </a:ext>
                  </a:extLst>
                </a:gridCol>
              </a:tblGrid>
              <a:tr h="696303">
                <a:tc>
                  <a:txBody>
                    <a:bodyPr/>
                    <a:lstStyle/>
                    <a:p>
                      <a:pPr algn="ctr"/>
                      <a:endParaRPr lang="zh-CN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398791"/>
                  </a:ext>
                </a:extLst>
              </a:tr>
              <a:tr h="387211">
                <a:tc>
                  <a:txBody>
                    <a:bodyPr/>
                    <a:lstStyle/>
                    <a:p>
                      <a:pPr marL="0" marR="0" lvl="0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/>
                        <a:t>段描述符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1314941"/>
                  </a:ext>
                </a:extLst>
              </a:tr>
              <a:tr h="716686">
                <a:tc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702745"/>
                  </a:ext>
                </a:extLst>
              </a:tr>
              <a:tr h="38721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TSS</a:t>
                      </a:r>
                      <a:r>
                        <a:rPr lang="zh-CN" altLang="en-US" sz="1800" dirty="0"/>
                        <a:t>描述符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9256239"/>
                  </a:ext>
                </a:extLst>
              </a:tr>
              <a:tr h="692909">
                <a:tc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790391"/>
                  </a:ext>
                </a:extLst>
              </a:tr>
              <a:tr h="38721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LDT</a:t>
                      </a:r>
                      <a:r>
                        <a:rPr lang="zh-CN" altLang="en-US" sz="1800" dirty="0"/>
                        <a:t>描述符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6565192"/>
                  </a:ext>
                </a:extLst>
              </a:tr>
              <a:tr h="715963">
                <a:tc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8498377"/>
                  </a:ext>
                </a:extLst>
              </a:tr>
              <a:tr h="38721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/>
                        <a:t>第</a:t>
                      </a:r>
                      <a:r>
                        <a:rPr lang="en-US" altLang="zh-CN" sz="1800" dirty="0"/>
                        <a:t>0</a:t>
                      </a:r>
                      <a:r>
                        <a:rPr lang="zh-CN" altLang="en-US" sz="1800" dirty="0"/>
                        <a:t>向为空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2533928"/>
                  </a:ext>
                </a:extLst>
              </a:tr>
            </a:tbl>
          </a:graphicData>
        </a:graphic>
      </p:graphicFrame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C06247C3-2055-4B57-B04F-0B7088F6C702}"/>
              </a:ext>
            </a:extLst>
          </p:cNvPr>
          <p:cNvCxnSpPr/>
          <p:nvPr/>
        </p:nvCxnSpPr>
        <p:spPr>
          <a:xfrm>
            <a:off x="3635896" y="1782108"/>
            <a:ext cx="0" cy="35074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5BF12CA7-6D54-41E5-B4C5-0B4B3A133468}"/>
              </a:ext>
            </a:extLst>
          </p:cNvPr>
          <p:cNvCxnSpPr/>
          <p:nvPr/>
        </p:nvCxnSpPr>
        <p:spPr>
          <a:xfrm>
            <a:off x="3626557" y="2852936"/>
            <a:ext cx="0" cy="35074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1179C73B-4258-45AA-8D6C-2FC9C3734A1F}"/>
              </a:ext>
            </a:extLst>
          </p:cNvPr>
          <p:cNvCxnSpPr/>
          <p:nvPr/>
        </p:nvCxnSpPr>
        <p:spPr>
          <a:xfrm>
            <a:off x="3635896" y="4005064"/>
            <a:ext cx="0" cy="35074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20F77150-68A7-48BD-AB98-7BE071A54E34}"/>
              </a:ext>
            </a:extLst>
          </p:cNvPr>
          <p:cNvCxnSpPr/>
          <p:nvPr/>
        </p:nvCxnSpPr>
        <p:spPr>
          <a:xfrm>
            <a:off x="3640299" y="5094476"/>
            <a:ext cx="0" cy="35074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C4033061-1AA6-4D61-A2A9-06C58BA172FF}"/>
              </a:ext>
            </a:extLst>
          </p:cNvPr>
          <p:cNvSpPr txBox="1"/>
          <p:nvPr/>
        </p:nvSpPr>
        <p:spPr>
          <a:xfrm>
            <a:off x="2726804" y="1278285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GDT</a:t>
            </a:r>
            <a:r>
              <a:rPr lang="zh-CN" altLang="en-US" dirty="0"/>
              <a:t>表</a:t>
            </a: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E3F5F67E-6F02-42C6-A618-9A8460ABD90E}"/>
              </a:ext>
            </a:extLst>
          </p:cNvPr>
          <p:cNvCxnSpPr>
            <a:stCxn id="5" idx="3"/>
          </p:cNvCxnSpPr>
          <p:nvPr/>
        </p:nvCxnSpPr>
        <p:spPr>
          <a:xfrm>
            <a:off x="1979712" y="5972334"/>
            <a:ext cx="74709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30182FC8-98D9-4212-8755-DBCC6E5D461A}"/>
              </a:ext>
            </a:extLst>
          </p:cNvPr>
          <p:cNvSpPr txBox="1"/>
          <p:nvPr/>
        </p:nvSpPr>
        <p:spPr>
          <a:xfrm>
            <a:off x="2555776" y="558924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</a:t>
            </a:r>
            <a:endParaRPr lang="zh-CN" altLang="en-US" dirty="0"/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1E9BA9B9-FF81-44F1-B21D-E90562961A08}"/>
              </a:ext>
            </a:extLst>
          </p:cNvPr>
          <p:cNvCxnSpPr>
            <a:cxnSpLocks/>
          </p:cNvCxnSpPr>
          <p:nvPr/>
        </p:nvCxnSpPr>
        <p:spPr>
          <a:xfrm>
            <a:off x="1403648" y="1494076"/>
            <a:ext cx="0" cy="9988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812A9ED8-1533-4C79-8E1C-874879AB2F60}"/>
              </a:ext>
            </a:extLst>
          </p:cNvPr>
          <p:cNvCxnSpPr/>
          <p:nvPr/>
        </p:nvCxnSpPr>
        <p:spPr>
          <a:xfrm>
            <a:off x="1403648" y="2492896"/>
            <a:ext cx="132315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262F2368-8540-4B35-8E7E-E0CA8E7C559F}"/>
              </a:ext>
            </a:extLst>
          </p:cNvPr>
          <p:cNvSpPr txBox="1"/>
          <p:nvPr/>
        </p:nvSpPr>
        <p:spPr>
          <a:xfrm>
            <a:off x="251520" y="4458057"/>
            <a:ext cx="172819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LDT</a:t>
            </a:r>
            <a:r>
              <a:rPr lang="zh-CN" altLang="en-US" dirty="0"/>
              <a:t>选择符</a:t>
            </a: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3B48FB50-CD48-4E9D-945D-FDCED4F2F422}"/>
              </a:ext>
            </a:extLst>
          </p:cNvPr>
          <p:cNvCxnSpPr/>
          <p:nvPr/>
        </p:nvCxnSpPr>
        <p:spPr>
          <a:xfrm>
            <a:off x="1979712" y="4653136"/>
            <a:ext cx="74709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表格 6">
            <a:extLst>
              <a:ext uri="{FF2B5EF4-FFF2-40B4-BE49-F238E27FC236}">
                <a16:creationId xmlns:a16="http://schemas.microsoft.com/office/drawing/2014/main" id="{B1B8BD72-FF59-46ED-9D99-A1EFE13C37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140437"/>
              </p:ext>
            </p:extLst>
          </p:nvPr>
        </p:nvGraphicFramePr>
        <p:xfrm>
          <a:off x="6804248" y="3192477"/>
          <a:ext cx="1823864" cy="1470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3864">
                  <a:extLst>
                    <a:ext uri="{9D8B030D-6E8A-4147-A177-3AD203B41FA5}">
                      <a16:colId xmlns:a16="http://schemas.microsoft.com/office/drawing/2014/main" val="72055518"/>
                    </a:ext>
                  </a:extLst>
                </a:gridCol>
              </a:tblGrid>
              <a:tr h="696303">
                <a:tc>
                  <a:txBody>
                    <a:bodyPr/>
                    <a:lstStyle/>
                    <a:p>
                      <a:pPr algn="ctr"/>
                      <a:endParaRPr lang="zh-CN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398791"/>
                  </a:ext>
                </a:extLst>
              </a:tr>
              <a:tr h="38721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1#</a:t>
                      </a:r>
                      <a:r>
                        <a:rPr lang="zh-CN" altLang="en-US" sz="1800" dirty="0"/>
                        <a:t>描述符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6565192"/>
                  </a:ext>
                </a:extLst>
              </a:tr>
              <a:tr h="38721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0#</a:t>
                      </a:r>
                      <a:r>
                        <a:rPr lang="zh-CN" altLang="en-US" sz="1800" dirty="0"/>
                        <a:t>描述符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2533928"/>
                  </a:ext>
                </a:extLst>
              </a:tr>
            </a:tbl>
          </a:graphicData>
        </a:graphic>
      </p:graphicFrame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335BA271-948B-4933-A8D2-450477C7BAA9}"/>
              </a:ext>
            </a:extLst>
          </p:cNvPr>
          <p:cNvCxnSpPr/>
          <p:nvPr/>
        </p:nvCxnSpPr>
        <p:spPr>
          <a:xfrm>
            <a:off x="7740352" y="3356992"/>
            <a:ext cx="0" cy="35074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A7C0135F-5337-4231-9263-40889AA731D0}"/>
              </a:ext>
            </a:extLst>
          </p:cNvPr>
          <p:cNvSpPr txBox="1"/>
          <p:nvPr/>
        </p:nvSpPr>
        <p:spPr>
          <a:xfrm>
            <a:off x="6876014" y="2824595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LDT</a:t>
            </a:r>
            <a:r>
              <a:rPr lang="zh-CN" altLang="en-US" dirty="0"/>
              <a:t>表</a:t>
            </a:r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1385E139-28DA-42ED-8A69-D98429474A25}"/>
              </a:ext>
            </a:extLst>
          </p:cNvPr>
          <p:cNvCxnSpPr>
            <a:cxnSpLocks/>
          </p:cNvCxnSpPr>
          <p:nvPr/>
        </p:nvCxnSpPr>
        <p:spPr>
          <a:xfrm>
            <a:off x="4572000" y="4653136"/>
            <a:ext cx="2232248" cy="100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DAC1FA43-7763-4C7B-A467-27827C7D70D6}"/>
              </a:ext>
            </a:extLst>
          </p:cNvPr>
          <p:cNvSpPr txBox="1"/>
          <p:nvPr/>
        </p:nvSpPr>
        <p:spPr>
          <a:xfrm>
            <a:off x="1403648" y="1667004"/>
            <a:ext cx="10538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TI=0</a:t>
            </a:r>
          </a:p>
          <a:p>
            <a:r>
              <a:rPr lang="en-US" altLang="zh-CN" dirty="0"/>
              <a:t>Index=X</a:t>
            </a:r>
            <a:endParaRPr lang="zh-CN" altLang="en-US" dirty="0"/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7B546C37-D393-4A9D-BF81-F24E37D7E0C3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2411760" y="1309410"/>
            <a:ext cx="532859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FE9B95EA-C983-4541-B775-604926C36A35}"/>
              </a:ext>
            </a:extLst>
          </p:cNvPr>
          <p:cNvCxnSpPr/>
          <p:nvPr/>
        </p:nvCxnSpPr>
        <p:spPr>
          <a:xfrm>
            <a:off x="7740352" y="1278285"/>
            <a:ext cx="0" cy="19253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9F71C497-9AA2-45B1-838B-353FF0A50847}"/>
              </a:ext>
            </a:extLst>
          </p:cNvPr>
          <p:cNvSpPr txBox="1"/>
          <p:nvPr/>
        </p:nvSpPr>
        <p:spPr>
          <a:xfrm>
            <a:off x="7694633" y="1475026"/>
            <a:ext cx="10538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TI=1</a:t>
            </a:r>
          </a:p>
          <a:p>
            <a:r>
              <a:rPr lang="en-US" altLang="zh-CN" dirty="0"/>
              <a:t>Index=X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421E866-F72B-4355-8EA6-55D99E7CEC2E}"/>
              </a:ext>
            </a:extLst>
          </p:cNvPr>
          <p:cNvSpPr txBox="1"/>
          <p:nvPr/>
        </p:nvSpPr>
        <p:spPr>
          <a:xfrm>
            <a:off x="202371" y="3406586"/>
            <a:ext cx="172819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TR</a:t>
            </a:r>
            <a:r>
              <a:rPr lang="zh-CN" altLang="en-US" dirty="0"/>
              <a:t>选择符</a:t>
            </a: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81AD4C3B-8190-4A91-9685-604F00CB069A}"/>
              </a:ext>
            </a:extLst>
          </p:cNvPr>
          <p:cNvCxnSpPr/>
          <p:nvPr/>
        </p:nvCxnSpPr>
        <p:spPr>
          <a:xfrm>
            <a:off x="1930563" y="3573016"/>
            <a:ext cx="74709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表格 6">
            <a:extLst>
              <a:ext uri="{FF2B5EF4-FFF2-40B4-BE49-F238E27FC236}">
                <a16:creationId xmlns:a16="http://schemas.microsoft.com/office/drawing/2014/main" id="{66254C99-844B-4B7D-94F4-FAC90BD7DA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9917540"/>
              </p:ext>
            </p:extLst>
          </p:nvPr>
        </p:nvGraphicFramePr>
        <p:xfrm>
          <a:off x="5308808" y="2183824"/>
          <a:ext cx="1298421" cy="1470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421">
                  <a:extLst>
                    <a:ext uri="{9D8B030D-6E8A-4147-A177-3AD203B41FA5}">
                      <a16:colId xmlns:a16="http://schemas.microsoft.com/office/drawing/2014/main" val="72055518"/>
                    </a:ext>
                  </a:extLst>
                </a:gridCol>
              </a:tblGrid>
              <a:tr h="696303">
                <a:tc>
                  <a:txBody>
                    <a:bodyPr/>
                    <a:lstStyle/>
                    <a:p>
                      <a:pPr algn="ctr"/>
                      <a:endParaRPr lang="zh-CN" alt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398791"/>
                  </a:ext>
                </a:extLst>
              </a:tr>
              <a:tr h="387211">
                <a:tc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6565192"/>
                  </a:ext>
                </a:extLst>
              </a:tr>
              <a:tr h="387211">
                <a:tc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2533928"/>
                  </a:ext>
                </a:extLst>
              </a:tr>
            </a:tbl>
          </a:graphicData>
        </a:graphic>
      </p:graphicFrame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7656C3D7-FB78-4BA0-898B-57B3EE0D9F2B}"/>
              </a:ext>
            </a:extLst>
          </p:cNvPr>
          <p:cNvCxnSpPr/>
          <p:nvPr/>
        </p:nvCxnSpPr>
        <p:spPr>
          <a:xfrm>
            <a:off x="5940152" y="2418914"/>
            <a:ext cx="0" cy="35074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B9309CAE-E691-4100-B149-6B92D251E39B}"/>
              </a:ext>
            </a:extLst>
          </p:cNvPr>
          <p:cNvSpPr txBox="1"/>
          <p:nvPr/>
        </p:nvSpPr>
        <p:spPr>
          <a:xfrm>
            <a:off x="5269185" y="1864090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TSS</a:t>
            </a:r>
            <a:endParaRPr lang="zh-CN" altLang="en-US" dirty="0"/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B18D41C7-9C35-4883-804A-35233B05E520}"/>
              </a:ext>
            </a:extLst>
          </p:cNvPr>
          <p:cNvCxnSpPr/>
          <p:nvPr/>
        </p:nvCxnSpPr>
        <p:spPr>
          <a:xfrm>
            <a:off x="4560193" y="3645024"/>
            <a:ext cx="74709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061310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284" name="图片 35328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375" y="1484313"/>
            <a:ext cx="6408738" cy="32972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标题 365569"/>
          <p:cNvSpPr>
            <a:spLocks noGrp="1"/>
          </p:cNvSpPr>
          <p:nvPr>
            <p:ph type="ctrTitle"/>
          </p:nvPr>
        </p:nvSpPr>
        <p:spPr>
          <a:xfrm>
            <a:off x="1837928" y="44450"/>
            <a:ext cx="5110336" cy="577850"/>
          </a:xfrm>
        </p:spPr>
        <p:txBody>
          <a:bodyPr vert="horz" wrap="square" lIns="91440" tIns="45720" rIns="91440" bIns="45720" anchor="ctr"/>
          <a:lstStyle/>
          <a:p>
            <a:pPr defTabSz="914400"/>
            <a:r>
              <a:rPr lang="en-US" altLang="zh-CN" sz="3200" b="1" kern="1200" baseline="0" dirty="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2.5 Intel</a:t>
            </a:r>
            <a:r>
              <a:rPr lang="zh-CN" altLang="en-US" sz="3200" b="1" kern="1200" baseline="0" dirty="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的其他微处理器 </a:t>
            </a:r>
            <a:endParaRPr lang="zh-CN" altLang="en-US" sz="4400" kern="1200" baseline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365569">
            <a:extLst>
              <a:ext uri="{FF2B5EF4-FFF2-40B4-BE49-F238E27FC236}">
                <a16:creationId xmlns:a16="http://schemas.microsoft.com/office/drawing/2014/main" id="{45088A82-B414-441C-8F51-7F9CAA9E4E99}"/>
              </a:ext>
            </a:extLst>
          </p:cNvPr>
          <p:cNvSpPr txBox="1">
            <a:spLocks/>
          </p:cNvSpPr>
          <p:nvPr/>
        </p:nvSpPr>
        <p:spPr>
          <a:xfrm>
            <a:off x="1837928" y="44450"/>
            <a:ext cx="5110336" cy="577850"/>
          </a:xfrm>
          <a:prstGeom prst="rect">
            <a:avLst/>
          </a:prstGeom>
        </p:spPr>
        <p:txBody>
          <a:bodyPr vert="horz" wrap="square" lIns="91440" tIns="45720" rIns="91440" bIns="45720"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2.5 Intel</a:t>
            </a:r>
            <a:r>
              <a:rPr lang="zh-CN" altLang="en-US" sz="3200" b="1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的其他微处理器 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805301D-4A18-4840-95B3-3B6D5C0FDCB7}"/>
              </a:ext>
            </a:extLst>
          </p:cNvPr>
          <p:cNvSpPr txBox="1"/>
          <p:nvPr/>
        </p:nvSpPr>
        <p:spPr>
          <a:xfrm>
            <a:off x="745311" y="1124744"/>
            <a:ext cx="392928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2)</a:t>
            </a:r>
            <a:r>
              <a:rPr lang="zh-CN" altLang="en-US" sz="2400" dirty="0"/>
              <a:t>系统寄存器</a:t>
            </a:r>
            <a:r>
              <a:rPr lang="en-US" altLang="zh-CN" sz="2400" dirty="0"/>
              <a:t>-</a:t>
            </a:r>
            <a:r>
              <a:rPr lang="zh-CN" altLang="en-US" sz="2400" dirty="0"/>
              <a:t>控制寄存器</a:t>
            </a:r>
          </a:p>
          <a:p>
            <a:r>
              <a:rPr lang="en-US" altLang="zh-CN" sz="2400" dirty="0"/>
              <a:t>3)</a:t>
            </a:r>
            <a:r>
              <a:rPr lang="zh-CN" altLang="en-US" sz="2400" dirty="0"/>
              <a:t>调试寄存器和测试寄存器</a:t>
            </a:r>
            <a:endParaRPr lang="en-US" altLang="zh-CN" sz="2400" dirty="0"/>
          </a:p>
          <a:p>
            <a:r>
              <a:rPr lang="en-US" altLang="zh-CN" sz="2400" dirty="0"/>
              <a:t>4)</a:t>
            </a:r>
            <a:r>
              <a:rPr lang="zh-CN" altLang="en-US" sz="2400" dirty="0"/>
              <a:t>浮点寄存器</a:t>
            </a:r>
          </a:p>
        </p:txBody>
      </p:sp>
    </p:spTree>
    <p:extLst>
      <p:ext uri="{BB962C8B-B14F-4D97-AF65-F5344CB8AC3E}">
        <p14:creationId xmlns:p14="http://schemas.microsoft.com/office/powerpoint/2010/main" val="109213245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334" name="图片 3553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0813" y="615156"/>
            <a:ext cx="5148262" cy="57991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55332" name="矩形 355331"/>
          <p:cNvSpPr/>
          <p:nvPr/>
        </p:nvSpPr>
        <p:spPr>
          <a:xfrm>
            <a:off x="34925" y="884238"/>
            <a:ext cx="4160838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lvl="0"/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80486 CPU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主要引脚信号 </a:t>
            </a:r>
          </a:p>
        </p:txBody>
      </p:sp>
      <p:sp>
        <p:nvSpPr>
          <p:cNvPr id="355333" name="矩形 355332"/>
          <p:cNvSpPr/>
          <p:nvPr/>
        </p:nvSpPr>
        <p:spPr>
          <a:xfrm>
            <a:off x="323850" y="1543050"/>
            <a:ext cx="2160588" cy="4838700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lvl="0"/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80486 CPU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采用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PGA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封装形式，共有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168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个引脚信号，其中包括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30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个地址引脚信号、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32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个数据引脚信号、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35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个控制引脚信号、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24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个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VCC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引脚信号、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28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个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VSS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引脚信号和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19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个空脚 </a:t>
            </a:r>
          </a:p>
        </p:txBody>
      </p:sp>
      <p:sp>
        <p:nvSpPr>
          <p:cNvPr id="7" name="标题 365569"/>
          <p:cNvSpPr>
            <a:spLocks noGrp="1"/>
          </p:cNvSpPr>
          <p:nvPr>
            <p:ph type="ctrTitle"/>
          </p:nvPr>
        </p:nvSpPr>
        <p:spPr>
          <a:xfrm>
            <a:off x="1837928" y="44450"/>
            <a:ext cx="5110336" cy="577850"/>
          </a:xfrm>
        </p:spPr>
        <p:txBody>
          <a:bodyPr vert="horz" wrap="square" lIns="91440" tIns="45720" rIns="91440" bIns="45720" anchor="ctr"/>
          <a:lstStyle/>
          <a:p>
            <a:pPr defTabSz="914400"/>
            <a:r>
              <a:rPr lang="en-US" altLang="zh-CN" sz="3200" b="1" kern="1200" baseline="0" dirty="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2.5 Intel</a:t>
            </a:r>
            <a:r>
              <a:rPr lang="zh-CN" altLang="en-US" sz="3200" b="1" kern="1200" baseline="0" dirty="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的其他微处理器 </a:t>
            </a:r>
            <a:endParaRPr lang="zh-CN" altLang="en-US" sz="4400" kern="1200" baseline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382" name="矩形 357381"/>
          <p:cNvSpPr/>
          <p:nvPr/>
        </p:nvSpPr>
        <p:spPr>
          <a:xfrm>
            <a:off x="179388" y="811213"/>
            <a:ext cx="5484812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pPr lvl="0"/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5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80486 CPU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的存储器组织及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I/O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结构 </a:t>
            </a:r>
          </a:p>
        </p:txBody>
      </p:sp>
      <p:pic>
        <p:nvPicPr>
          <p:cNvPr id="357383" name="图片 35738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5738" y="1844675"/>
            <a:ext cx="5148262" cy="28797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57384" name="矩形 357383"/>
          <p:cNvSpPr/>
          <p:nvPr/>
        </p:nvSpPr>
        <p:spPr>
          <a:xfrm>
            <a:off x="395288" y="1569512"/>
            <a:ext cx="3168650" cy="3785652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lvl="0"/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80486 CPU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有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32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条地址总线，可寻址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en-US" altLang="zh-CN" sz="2400" b="1" baseline="30000" dirty="0">
                <a:latin typeface="Arial" panose="020B0604020202020204" pitchFamily="34" charset="0"/>
                <a:ea typeface="宋体" panose="02010600030101010101" pitchFamily="2" charset="-122"/>
              </a:rPr>
              <a:t>32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=4GB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的存储器空间，地址范围是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00000000H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～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FFFFFFFFH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32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条地址总线中的低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16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位地址用作对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64KB I/O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端口的寻址，地址范围是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0000H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～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FFFFH </a:t>
            </a:r>
          </a:p>
        </p:txBody>
      </p:sp>
      <p:sp>
        <p:nvSpPr>
          <p:cNvPr id="7" name="标题 365569"/>
          <p:cNvSpPr>
            <a:spLocks noGrp="1"/>
          </p:cNvSpPr>
          <p:nvPr>
            <p:ph type="ctrTitle"/>
          </p:nvPr>
        </p:nvSpPr>
        <p:spPr>
          <a:xfrm>
            <a:off x="1837928" y="44450"/>
            <a:ext cx="5110336" cy="577850"/>
          </a:xfrm>
        </p:spPr>
        <p:txBody>
          <a:bodyPr vert="horz" wrap="square" lIns="91440" tIns="45720" rIns="91440" bIns="45720" anchor="ctr"/>
          <a:lstStyle/>
          <a:p>
            <a:pPr defTabSz="914400"/>
            <a:r>
              <a:rPr lang="en-US" altLang="zh-CN" sz="3200" b="1" kern="1200" baseline="0" dirty="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2.5 Intel</a:t>
            </a:r>
            <a:r>
              <a:rPr lang="zh-CN" altLang="en-US" sz="3200" b="1" kern="1200" baseline="0" dirty="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的其他微处理器 </a:t>
            </a:r>
            <a:endParaRPr lang="zh-CN" altLang="en-US" sz="4400" kern="1200" baseline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365569"/>
          <p:cNvSpPr>
            <a:spLocks noGrp="1"/>
          </p:cNvSpPr>
          <p:nvPr>
            <p:ph type="ctrTitle"/>
          </p:nvPr>
        </p:nvSpPr>
        <p:spPr>
          <a:xfrm>
            <a:off x="1837928" y="44450"/>
            <a:ext cx="5110336" cy="577850"/>
          </a:xfrm>
        </p:spPr>
        <p:txBody>
          <a:bodyPr vert="horz" wrap="square" lIns="91440" tIns="45720" rIns="91440" bIns="45720" anchor="ctr"/>
          <a:lstStyle/>
          <a:p>
            <a:pPr defTabSz="914400"/>
            <a:r>
              <a:rPr lang="en-US" altLang="zh-CN" sz="3200" b="1" kern="1200" baseline="0" dirty="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2.5 Intel</a:t>
            </a:r>
            <a:r>
              <a:rPr lang="zh-CN" altLang="en-US" sz="3200" b="1" kern="1200" baseline="0" dirty="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的其他微处理器 </a:t>
            </a:r>
            <a:endParaRPr lang="zh-CN" altLang="en-US" sz="4400" kern="1200" baseline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4D878E6-1A29-4787-8FE8-804A147D6B9E}"/>
              </a:ext>
            </a:extLst>
          </p:cNvPr>
          <p:cNvSpPr txBox="1"/>
          <p:nvPr/>
        </p:nvSpPr>
        <p:spPr>
          <a:xfrm>
            <a:off x="539552" y="756712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存储器寻址</a:t>
            </a:r>
            <a:endParaRPr lang="en-US" altLang="zh-CN" sz="2400" dirty="0"/>
          </a:p>
        </p:txBody>
      </p:sp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908B35BC-D3AD-465D-B48F-41AA506A4B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7589315"/>
              </p:ext>
            </p:extLst>
          </p:nvPr>
        </p:nvGraphicFramePr>
        <p:xfrm>
          <a:off x="1500337" y="1153319"/>
          <a:ext cx="660005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1963718656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843298592"/>
                    </a:ext>
                  </a:extLst>
                </a:gridCol>
                <a:gridCol w="884379">
                  <a:extLst>
                    <a:ext uri="{9D8B030D-6E8A-4147-A177-3AD203B41FA5}">
                      <a16:colId xmlns:a16="http://schemas.microsoft.com/office/drawing/2014/main" val="2033164055"/>
                    </a:ext>
                  </a:extLst>
                </a:gridCol>
                <a:gridCol w="942865">
                  <a:extLst>
                    <a:ext uri="{9D8B030D-6E8A-4147-A177-3AD203B41FA5}">
                      <a16:colId xmlns:a16="http://schemas.microsoft.com/office/drawing/2014/main" val="1969286452"/>
                    </a:ext>
                  </a:extLst>
                </a:gridCol>
                <a:gridCol w="942865">
                  <a:extLst>
                    <a:ext uri="{9D8B030D-6E8A-4147-A177-3AD203B41FA5}">
                      <a16:colId xmlns:a16="http://schemas.microsoft.com/office/drawing/2014/main" val="1609572981"/>
                    </a:ext>
                  </a:extLst>
                </a:gridCol>
                <a:gridCol w="942865">
                  <a:extLst>
                    <a:ext uri="{9D8B030D-6E8A-4147-A177-3AD203B41FA5}">
                      <a16:colId xmlns:a16="http://schemas.microsoft.com/office/drawing/2014/main" val="4003984731"/>
                    </a:ext>
                  </a:extLst>
                </a:gridCol>
                <a:gridCol w="942865">
                  <a:extLst>
                    <a:ext uri="{9D8B030D-6E8A-4147-A177-3AD203B41FA5}">
                      <a16:colId xmlns:a16="http://schemas.microsoft.com/office/drawing/2014/main" val="3055840854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sz="2400" b="1" i="0" u="none" kern="1200" baseline="-250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物理地址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800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zh-CN" altLang="en-US" sz="2400" b="1" i="0" u="none" kern="1200" baseline="-250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输出信号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1" i="0" u="none" kern="1200" baseline="-250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1" i="0" u="none" kern="1200" baseline="-250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1" i="0" u="none" kern="1200" baseline="-250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1125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CN" sz="1800" baseline="-25000" dirty="0">
                          <a:solidFill>
                            <a:schemeClr val="tx1"/>
                          </a:solidFill>
                        </a:rPr>
                        <a:t>31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…A</a:t>
                      </a:r>
                      <a:r>
                        <a:rPr lang="en-US" altLang="zh-CN" sz="1800" b="1" i="0" u="none" kern="1200" baseline="-2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800" b="1" i="0" u="none" kern="1200" baseline="-25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CN" sz="1800" b="1" i="0" u="none" kern="1200" baseline="-2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CN" sz="1800" b="1" i="0" u="none" kern="1200" baseline="-2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BE</a:t>
                      </a:r>
                      <a:r>
                        <a:rPr lang="en-US" altLang="zh-CN" sz="1800" b="1" i="0" u="none" kern="1200" baseline="-2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CN" altLang="en-US" sz="1800" b="1" i="0" u="none" kern="1200" baseline="-25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BE</a:t>
                      </a:r>
                      <a:r>
                        <a:rPr lang="en-US" altLang="zh-CN" sz="1800" b="1" i="0" u="none" kern="1200" baseline="-2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800" b="1" i="0" u="none" kern="1200" baseline="-25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BE</a:t>
                      </a:r>
                      <a:r>
                        <a:rPr lang="en-US" altLang="zh-CN" sz="1800" b="1" i="0" u="none" kern="1200" baseline="-2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CN" altLang="en-US" sz="1800" b="1" i="0" u="none" kern="1200" baseline="-25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BE</a:t>
                      </a:r>
                      <a:r>
                        <a:rPr lang="en-US" altLang="zh-CN" sz="1800" b="1" i="0" u="none" kern="1200" baseline="-2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b="1" i="0" u="none" kern="1200" baseline="-25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2210717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marL="0" marR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800" dirty="0"/>
                    </a:p>
                    <a:p>
                      <a:pPr marL="0" marR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800" dirty="0"/>
                    </a:p>
                    <a:p>
                      <a:pPr marL="0" marR="0" lvl="0" indent="0" algn="l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A</a:t>
                      </a:r>
                      <a:r>
                        <a:rPr lang="en-US" altLang="zh-CN" sz="1800" baseline="-25000" dirty="0"/>
                        <a:t>31</a:t>
                      </a:r>
                      <a:r>
                        <a:rPr lang="en-US" altLang="zh-CN" sz="1800" dirty="0"/>
                        <a:t>…</a:t>
                      </a:r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altLang="zh-CN" sz="1800" b="1" i="0" u="none" kern="1200" baseline="-2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CN" altLang="en-US" sz="1800" b="1" i="0" u="none" kern="1200" baseline="-250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X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/>
                        <a:t>X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X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396946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X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X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915403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X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5214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0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4228270"/>
                  </a:ext>
                </a:extLst>
              </a:tr>
            </a:tbl>
          </a:graphicData>
        </a:graphic>
      </p:graphicFrame>
      <p:graphicFrame>
        <p:nvGraphicFramePr>
          <p:cNvPr id="4" name="表格 5">
            <a:extLst>
              <a:ext uri="{FF2B5EF4-FFF2-40B4-BE49-F238E27FC236}">
                <a16:creationId xmlns:a16="http://schemas.microsoft.com/office/drawing/2014/main" id="{04E50E99-6293-4066-BC08-2ED7498EFA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9739988"/>
              </p:ext>
            </p:extLst>
          </p:nvPr>
        </p:nvGraphicFramePr>
        <p:xfrm>
          <a:off x="251520" y="3742725"/>
          <a:ext cx="1479747" cy="2456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9747">
                  <a:extLst>
                    <a:ext uri="{9D8B030D-6E8A-4147-A177-3AD203B41FA5}">
                      <a16:colId xmlns:a16="http://schemas.microsoft.com/office/drawing/2014/main" val="20121594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solidFill>
                            <a:sysClr val="windowText" lastClr="000000"/>
                          </a:solidFill>
                        </a:rPr>
                        <a:t>FFFFFFFFH</a:t>
                      </a:r>
                      <a:endParaRPr lang="zh-CN" altLang="en-US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88760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solidFill>
                            <a:sysClr val="windowText" lastClr="000000"/>
                          </a:solidFill>
                        </a:rPr>
                        <a:t>FFFFFFFBH</a:t>
                      </a:r>
                      <a:endParaRPr lang="zh-CN" altLang="en-US" sz="1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7328357"/>
                  </a:ext>
                </a:extLst>
              </a:tr>
              <a:tr h="972904">
                <a:tc>
                  <a:txBody>
                    <a:bodyPr/>
                    <a:lstStyle/>
                    <a:p>
                      <a:pPr algn="ctr"/>
                      <a:endParaRPr lang="en-US" altLang="zh-CN" sz="18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/>
                      <a:r>
                        <a:rPr lang="zh-CN" altLang="en-US" sz="1800" dirty="0">
                          <a:solidFill>
                            <a:sysClr val="windowText" lastClr="000000"/>
                          </a:solidFill>
                        </a:rPr>
                        <a:t>存储体</a:t>
                      </a:r>
                      <a:r>
                        <a:rPr lang="en-US" altLang="zh-CN" sz="1800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zh-CN" altLang="en-US" sz="1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548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ysClr val="windowText" lastClr="000000"/>
                          </a:solidFill>
                        </a:rPr>
                        <a:t>7H</a:t>
                      </a:r>
                      <a:endParaRPr lang="zh-CN" altLang="en-US" sz="1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2632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ysClr val="windowText" lastClr="000000"/>
                          </a:solidFill>
                        </a:rPr>
                        <a:t>3H</a:t>
                      </a:r>
                      <a:endParaRPr lang="zh-CN" altLang="en-US" sz="1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8448772"/>
                  </a:ext>
                </a:extLst>
              </a:tr>
            </a:tbl>
          </a:graphicData>
        </a:graphic>
      </p:graphicFrame>
      <p:graphicFrame>
        <p:nvGraphicFramePr>
          <p:cNvPr id="7" name="表格 5">
            <a:extLst>
              <a:ext uri="{FF2B5EF4-FFF2-40B4-BE49-F238E27FC236}">
                <a16:creationId xmlns:a16="http://schemas.microsoft.com/office/drawing/2014/main" id="{BE3D3DB7-7032-4412-A61C-026A9AA480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7259803"/>
              </p:ext>
            </p:extLst>
          </p:nvPr>
        </p:nvGraphicFramePr>
        <p:xfrm>
          <a:off x="2389102" y="3742725"/>
          <a:ext cx="1479747" cy="2456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9747">
                  <a:extLst>
                    <a:ext uri="{9D8B030D-6E8A-4147-A177-3AD203B41FA5}">
                      <a16:colId xmlns:a16="http://schemas.microsoft.com/office/drawing/2014/main" val="20121594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solidFill>
                            <a:sysClr val="windowText" lastClr="000000"/>
                          </a:solidFill>
                        </a:rPr>
                        <a:t>FFFFFFFEH</a:t>
                      </a:r>
                      <a:endParaRPr lang="zh-CN" altLang="en-US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88760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solidFill>
                            <a:sysClr val="windowText" lastClr="000000"/>
                          </a:solidFill>
                        </a:rPr>
                        <a:t>FFFFFFFAH</a:t>
                      </a:r>
                      <a:endParaRPr lang="zh-CN" altLang="en-US" sz="1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7328357"/>
                  </a:ext>
                </a:extLst>
              </a:tr>
              <a:tr h="972904">
                <a:tc>
                  <a:txBody>
                    <a:bodyPr/>
                    <a:lstStyle/>
                    <a:p>
                      <a:pPr algn="ctr"/>
                      <a:endParaRPr lang="en-US" altLang="zh-CN" sz="18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/>
                      <a:r>
                        <a:rPr lang="zh-CN" altLang="en-US" sz="1800" dirty="0">
                          <a:solidFill>
                            <a:sysClr val="windowText" lastClr="000000"/>
                          </a:solidFill>
                        </a:rPr>
                        <a:t>存储体</a:t>
                      </a:r>
                      <a:r>
                        <a:rPr lang="en-US" altLang="zh-CN" sz="180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zh-CN" altLang="en-US" sz="1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548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ysClr val="windowText" lastClr="000000"/>
                          </a:solidFill>
                        </a:rPr>
                        <a:t>6H</a:t>
                      </a:r>
                      <a:endParaRPr lang="zh-CN" altLang="en-US" sz="1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2632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ysClr val="windowText" lastClr="000000"/>
                          </a:solidFill>
                        </a:rPr>
                        <a:t>2H</a:t>
                      </a:r>
                      <a:endParaRPr lang="zh-CN" altLang="en-US" sz="1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8448772"/>
                  </a:ext>
                </a:extLst>
              </a:tr>
            </a:tbl>
          </a:graphicData>
        </a:graphic>
      </p:graphicFrame>
      <p:graphicFrame>
        <p:nvGraphicFramePr>
          <p:cNvPr id="8" name="表格 5">
            <a:extLst>
              <a:ext uri="{FF2B5EF4-FFF2-40B4-BE49-F238E27FC236}">
                <a16:creationId xmlns:a16="http://schemas.microsoft.com/office/drawing/2014/main" id="{D1854C81-15C0-4410-83A8-85F55D9B82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8059310"/>
              </p:ext>
            </p:extLst>
          </p:nvPr>
        </p:nvGraphicFramePr>
        <p:xfrm>
          <a:off x="4572000" y="3752473"/>
          <a:ext cx="1513977" cy="2456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3977">
                  <a:extLst>
                    <a:ext uri="{9D8B030D-6E8A-4147-A177-3AD203B41FA5}">
                      <a16:colId xmlns:a16="http://schemas.microsoft.com/office/drawing/2014/main" val="20121594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solidFill>
                            <a:sysClr val="windowText" lastClr="000000"/>
                          </a:solidFill>
                        </a:rPr>
                        <a:t>FFFFFFFDH</a:t>
                      </a:r>
                      <a:endParaRPr lang="zh-CN" altLang="en-US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88760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solidFill>
                            <a:sysClr val="windowText" lastClr="000000"/>
                          </a:solidFill>
                        </a:rPr>
                        <a:t>FFFFFFF9H</a:t>
                      </a:r>
                      <a:endParaRPr lang="zh-CN" altLang="en-US" sz="1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7328357"/>
                  </a:ext>
                </a:extLst>
              </a:tr>
              <a:tr h="972904">
                <a:tc>
                  <a:txBody>
                    <a:bodyPr/>
                    <a:lstStyle/>
                    <a:p>
                      <a:pPr algn="ctr"/>
                      <a:endParaRPr lang="en-US" altLang="zh-CN" sz="18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/>
                      <a:r>
                        <a:rPr lang="zh-CN" altLang="en-US" sz="1800" dirty="0">
                          <a:solidFill>
                            <a:sysClr val="windowText" lastClr="000000"/>
                          </a:solidFill>
                        </a:rPr>
                        <a:t>存储体</a:t>
                      </a:r>
                      <a:r>
                        <a:rPr lang="en-US" altLang="zh-CN" sz="180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548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ysClr val="windowText" lastClr="000000"/>
                          </a:solidFill>
                        </a:rPr>
                        <a:t>5H</a:t>
                      </a:r>
                      <a:endParaRPr lang="zh-CN" altLang="en-US" sz="1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2632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ysClr val="windowText" lastClr="000000"/>
                          </a:solidFill>
                        </a:rPr>
                        <a:t>1H</a:t>
                      </a:r>
                      <a:endParaRPr lang="zh-CN" altLang="en-US" sz="1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8448772"/>
                  </a:ext>
                </a:extLst>
              </a:tr>
            </a:tbl>
          </a:graphicData>
        </a:graphic>
      </p:graphicFrame>
      <p:graphicFrame>
        <p:nvGraphicFramePr>
          <p:cNvPr id="9" name="表格 5">
            <a:extLst>
              <a:ext uri="{FF2B5EF4-FFF2-40B4-BE49-F238E27FC236}">
                <a16:creationId xmlns:a16="http://schemas.microsoft.com/office/drawing/2014/main" id="{02636A23-CCCA-4D4A-A8D8-4CBD3598B7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461837"/>
              </p:ext>
            </p:extLst>
          </p:nvPr>
        </p:nvGraphicFramePr>
        <p:xfrm>
          <a:off x="6804248" y="3750732"/>
          <a:ext cx="1513977" cy="2456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3977">
                  <a:extLst>
                    <a:ext uri="{9D8B030D-6E8A-4147-A177-3AD203B41FA5}">
                      <a16:colId xmlns:a16="http://schemas.microsoft.com/office/drawing/2014/main" val="20121594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solidFill>
                            <a:sysClr val="windowText" lastClr="000000"/>
                          </a:solidFill>
                        </a:rPr>
                        <a:t>FFFFFFFCH</a:t>
                      </a:r>
                      <a:endParaRPr lang="zh-CN" altLang="en-US" sz="1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88760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solidFill>
                            <a:sysClr val="windowText" lastClr="000000"/>
                          </a:solidFill>
                        </a:rPr>
                        <a:t>FFFFFFF8H</a:t>
                      </a:r>
                      <a:endParaRPr lang="zh-CN" altLang="en-US" sz="1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7328357"/>
                  </a:ext>
                </a:extLst>
              </a:tr>
              <a:tr h="972904">
                <a:tc>
                  <a:txBody>
                    <a:bodyPr/>
                    <a:lstStyle/>
                    <a:p>
                      <a:pPr algn="ctr"/>
                      <a:endParaRPr lang="en-US" altLang="zh-CN" sz="18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/>
                      <a:r>
                        <a:rPr lang="zh-CN" altLang="en-US" sz="1800" dirty="0">
                          <a:solidFill>
                            <a:sysClr val="windowText" lastClr="000000"/>
                          </a:solidFill>
                        </a:rPr>
                        <a:t>存储体</a:t>
                      </a:r>
                      <a:r>
                        <a:rPr lang="en-US" altLang="zh-CN" sz="1800" dirty="0">
                          <a:solidFill>
                            <a:sysClr val="windowText" lastClr="000000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548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ysClr val="windowText" lastClr="000000"/>
                          </a:solidFill>
                        </a:rPr>
                        <a:t>4H</a:t>
                      </a:r>
                      <a:endParaRPr lang="zh-CN" altLang="en-US" sz="1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2632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ysClr val="windowText" lastClr="000000"/>
                          </a:solidFill>
                        </a:rPr>
                        <a:t>0H</a:t>
                      </a:r>
                      <a:endParaRPr lang="zh-CN" altLang="en-US" sz="18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8448772"/>
                  </a:ext>
                </a:extLst>
              </a:tr>
            </a:tbl>
          </a:graphicData>
        </a:graphic>
      </p:graphicFrame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7AAF861E-23CD-4598-9836-692619BE75D9}"/>
              </a:ext>
            </a:extLst>
          </p:cNvPr>
          <p:cNvCxnSpPr>
            <a:cxnSpLocks/>
          </p:cNvCxnSpPr>
          <p:nvPr/>
        </p:nvCxnSpPr>
        <p:spPr>
          <a:xfrm>
            <a:off x="1731267" y="4894853"/>
            <a:ext cx="248445" cy="0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1D073621-70BA-4793-AC70-E55DB3C7A5BD}"/>
              </a:ext>
            </a:extLst>
          </p:cNvPr>
          <p:cNvSpPr txBox="1"/>
          <p:nvPr/>
        </p:nvSpPr>
        <p:spPr>
          <a:xfrm>
            <a:off x="1711181" y="5101585"/>
            <a:ext cx="556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BE</a:t>
            </a:r>
            <a:r>
              <a:rPr lang="en-US" altLang="zh-CN" baseline="-25000" dirty="0"/>
              <a:t>3</a:t>
            </a:r>
            <a:endParaRPr lang="zh-CN" altLang="en-US" baseline="-25000" dirty="0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64C9F04E-C9EE-459F-972F-3EE364529B50}"/>
              </a:ext>
            </a:extLst>
          </p:cNvPr>
          <p:cNvCxnSpPr>
            <a:cxnSpLocks/>
          </p:cNvCxnSpPr>
          <p:nvPr/>
        </p:nvCxnSpPr>
        <p:spPr>
          <a:xfrm>
            <a:off x="1787779" y="5149210"/>
            <a:ext cx="2880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BAC22E6D-76BB-4AF0-ADFA-4B9AC275FBB2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1979712" y="4894853"/>
            <a:ext cx="9751" cy="2067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129A979E-D809-4C02-90E5-061BC5582D8F}"/>
              </a:ext>
            </a:extLst>
          </p:cNvPr>
          <p:cNvCxnSpPr>
            <a:cxnSpLocks/>
          </p:cNvCxnSpPr>
          <p:nvPr/>
        </p:nvCxnSpPr>
        <p:spPr>
          <a:xfrm>
            <a:off x="3891507" y="4894853"/>
            <a:ext cx="248445" cy="0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08D2B793-F543-4BE9-82C3-FC945F07329D}"/>
              </a:ext>
            </a:extLst>
          </p:cNvPr>
          <p:cNvSpPr txBox="1"/>
          <p:nvPr/>
        </p:nvSpPr>
        <p:spPr>
          <a:xfrm>
            <a:off x="3871421" y="5101585"/>
            <a:ext cx="556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BE</a:t>
            </a:r>
            <a:r>
              <a:rPr lang="en-US" altLang="zh-CN" baseline="-25000" dirty="0"/>
              <a:t>2</a:t>
            </a:r>
            <a:endParaRPr lang="zh-CN" altLang="en-US" baseline="-25000" dirty="0"/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779F1207-33DD-4EBF-9C01-12D4D3BA3E9A}"/>
              </a:ext>
            </a:extLst>
          </p:cNvPr>
          <p:cNvCxnSpPr>
            <a:cxnSpLocks/>
          </p:cNvCxnSpPr>
          <p:nvPr/>
        </p:nvCxnSpPr>
        <p:spPr>
          <a:xfrm>
            <a:off x="3948019" y="5149210"/>
            <a:ext cx="2880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362D1B90-648A-48E1-B8D2-A71054815A63}"/>
              </a:ext>
            </a:extLst>
          </p:cNvPr>
          <p:cNvCxnSpPr>
            <a:cxnSpLocks/>
            <a:endCxn id="21" idx="0"/>
          </p:cNvCxnSpPr>
          <p:nvPr/>
        </p:nvCxnSpPr>
        <p:spPr>
          <a:xfrm>
            <a:off x="4139952" y="4894853"/>
            <a:ext cx="9751" cy="2067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EFF08CE4-D1E4-4F66-A85D-94F0547AF763}"/>
              </a:ext>
            </a:extLst>
          </p:cNvPr>
          <p:cNvCxnSpPr>
            <a:cxnSpLocks/>
          </p:cNvCxnSpPr>
          <p:nvPr/>
        </p:nvCxnSpPr>
        <p:spPr>
          <a:xfrm>
            <a:off x="6127817" y="4894853"/>
            <a:ext cx="248445" cy="0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B4A38DA9-0669-413C-934A-6821A2602CCC}"/>
              </a:ext>
            </a:extLst>
          </p:cNvPr>
          <p:cNvSpPr txBox="1"/>
          <p:nvPr/>
        </p:nvSpPr>
        <p:spPr>
          <a:xfrm>
            <a:off x="6107731" y="5101585"/>
            <a:ext cx="556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BE</a:t>
            </a:r>
            <a:r>
              <a:rPr lang="en-US" altLang="zh-CN" baseline="-25000" dirty="0"/>
              <a:t>1</a:t>
            </a:r>
            <a:endParaRPr lang="zh-CN" altLang="en-US" baseline="-25000" dirty="0"/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53CE84F0-2615-409B-9E97-AC2ACA41E9BD}"/>
              </a:ext>
            </a:extLst>
          </p:cNvPr>
          <p:cNvCxnSpPr>
            <a:cxnSpLocks/>
          </p:cNvCxnSpPr>
          <p:nvPr/>
        </p:nvCxnSpPr>
        <p:spPr>
          <a:xfrm>
            <a:off x="6184329" y="5149210"/>
            <a:ext cx="2880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9DD30E95-BCCB-416D-A969-AE990ACF04F3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6376262" y="4894853"/>
            <a:ext cx="9751" cy="2067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73C10621-17D4-480D-8A91-F83E3A05D0A8}"/>
              </a:ext>
            </a:extLst>
          </p:cNvPr>
          <p:cNvCxnSpPr>
            <a:cxnSpLocks/>
          </p:cNvCxnSpPr>
          <p:nvPr/>
        </p:nvCxnSpPr>
        <p:spPr>
          <a:xfrm>
            <a:off x="8336502" y="4894853"/>
            <a:ext cx="248445" cy="0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9F8E4A40-553D-49A6-BF8C-AA21B9959DAE}"/>
              </a:ext>
            </a:extLst>
          </p:cNvPr>
          <p:cNvSpPr txBox="1"/>
          <p:nvPr/>
        </p:nvSpPr>
        <p:spPr>
          <a:xfrm>
            <a:off x="8316416" y="5101585"/>
            <a:ext cx="5565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BE</a:t>
            </a:r>
            <a:r>
              <a:rPr lang="en-US" altLang="zh-CN" baseline="-25000" dirty="0"/>
              <a:t>0</a:t>
            </a:r>
            <a:endParaRPr lang="zh-CN" altLang="en-US" baseline="-25000" dirty="0"/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D0DE1DB1-10AC-4449-8AC5-1BDDF03C98B7}"/>
              </a:ext>
            </a:extLst>
          </p:cNvPr>
          <p:cNvCxnSpPr>
            <a:cxnSpLocks/>
          </p:cNvCxnSpPr>
          <p:nvPr/>
        </p:nvCxnSpPr>
        <p:spPr>
          <a:xfrm>
            <a:off x="8393014" y="5149210"/>
            <a:ext cx="2880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3F517924-66D8-457C-B756-F8FCFE321911}"/>
              </a:ext>
            </a:extLst>
          </p:cNvPr>
          <p:cNvCxnSpPr>
            <a:cxnSpLocks/>
            <a:endCxn id="29" idx="0"/>
          </p:cNvCxnSpPr>
          <p:nvPr/>
        </p:nvCxnSpPr>
        <p:spPr>
          <a:xfrm>
            <a:off x="8584947" y="4894853"/>
            <a:ext cx="9751" cy="2067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3FC8E883-4155-43C1-97CE-8B67F239D946}"/>
              </a:ext>
            </a:extLst>
          </p:cNvPr>
          <p:cNvCxnSpPr>
            <a:cxnSpLocks/>
          </p:cNvCxnSpPr>
          <p:nvPr/>
        </p:nvCxnSpPr>
        <p:spPr>
          <a:xfrm>
            <a:off x="4613920" y="1581175"/>
            <a:ext cx="2880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82259648-BD2F-4DCA-82AA-C03AF118AD39}"/>
              </a:ext>
            </a:extLst>
          </p:cNvPr>
          <p:cNvCxnSpPr>
            <a:cxnSpLocks/>
          </p:cNvCxnSpPr>
          <p:nvPr/>
        </p:nvCxnSpPr>
        <p:spPr>
          <a:xfrm>
            <a:off x="5550024" y="1581175"/>
            <a:ext cx="2880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3AD63241-4F44-407F-AA87-DD0C8028F575}"/>
              </a:ext>
            </a:extLst>
          </p:cNvPr>
          <p:cNvCxnSpPr>
            <a:cxnSpLocks/>
          </p:cNvCxnSpPr>
          <p:nvPr/>
        </p:nvCxnSpPr>
        <p:spPr>
          <a:xfrm>
            <a:off x="6510511" y="1581175"/>
            <a:ext cx="2880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5450DE02-BE9E-4E13-9E70-82D29577120B}"/>
              </a:ext>
            </a:extLst>
          </p:cNvPr>
          <p:cNvCxnSpPr>
            <a:cxnSpLocks/>
          </p:cNvCxnSpPr>
          <p:nvPr/>
        </p:nvCxnSpPr>
        <p:spPr>
          <a:xfrm>
            <a:off x="7441282" y="1581175"/>
            <a:ext cx="28803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箭头: 右 32">
            <a:extLst>
              <a:ext uri="{FF2B5EF4-FFF2-40B4-BE49-F238E27FC236}">
                <a16:creationId xmlns:a16="http://schemas.microsoft.com/office/drawing/2014/main" id="{1D9E18F3-A21C-472B-AAB8-31B0EDDA04EA}"/>
              </a:ext>
            </a:extLst>
          </p:cNvPr>
          <p:cNvSpPr/>
          <p:nvPr/>
        </p:nvSpPr>
        <p:spPr>
          <a:xfrm>
            <a:off x="405287" y="3429025"/>
            <a:ext cx="7479081" cy="161299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箭头: 下 37">
            <a:extLst>
              <a:ext uri="{FF2B5EF4-FFF2-40B4-BE49-F238E27FC236}">
                <a16:creationId xmlns:a16="http://schemas.microsoft.com/office/drawing/2014/main" id="{66E99306-BD7E-46F5-BEFC-98FF56EDC658}"/>
              </a:ext>
            </a:extLst>
          </p:cNvPr>
          <p:cNvSpPr/>
          <p:nvPr/>
        </p:nvSpPr>
        <p:spPr>
          <a:xfrm>
            <a:off x="899592" y="3542700"/>
            <a:ext cx="144016" cy="200025"/>
          </a:xfrm>
          <a:prstGeom prst="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箭头: 下 39">
            <a:extLst>
              <a:ext uri="{FF2B5EF4-FFF2-40B4-BE49-F238E27FC236}">
                <a16:creationId xmlns:a16="http://schemas.microsoft.com/office/drawing/2014/main" id="{20C91469-C15D-4B9A-AA8B-C2FD41268FBF}"/>
              </a:ext>
            </a:extLst>
          </p:cNvPr>
          <p:cNvSpPr/>
          <p:nvPr/>
        </p:nvSpPr>
        <p:spPr>
          <a:xfrm>
            <a:off x="3056967" y="3546232"/>
            <a:ext cx="144016" cy="200025"/>
          </a:xfrm>
          <a:prstGeom prst="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箭头: 下 40">
            <a:extLst>
              <a:ext uri="{FF2B5EF4-FFF2-40B4-BE49-F238E27FC236}">
                <a16:creationId xmlns:a16="http://schemas.microsoft.com/office/drawing/2014/main" id="{C50B3C81-3308-49B1-94B6-638ED455FCDA}"/>
              </a:ext>
            </a:extLst>
          </p:cNvPr>
          <p:cNvSpPr/>
          <p:nvPr/>
        </p:nvSpPr>
        <p:spPr>
          <a:xfrm>
            <a:off x="5220072" y="3542700"/>
            <a:ext cx="144016" cy="200025"/>
          </a:xfrm>
          <a:prstGeom prst="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箭头: 下 41">
            <a:extLst>
              <a:ext uri="{FF2B5EF4-FFF2-40B4-BE49-F238E27FC236}">
                <a16:creationId xmlns:a16="http://schemas.microsoft.com/office/drawing/2014/main" id="{D4C7326D-435D-4BB5-AAB9-658932345ADB}"/>
              </a:ext>
            </a:extLst>
          </p:cNvPr>
          <p:cNvSpPr/>
          <p:nvPr/>
        </p:nvSpPr>
        <p:spPr>
          <a:xfrm>
            <a:off x="7452320" y="3542700"/>
            <a:ext cx="144016" cy="200025"/>
          </a:xfrm>
          <a:prstGeom prst="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1990E9BF-A483-4F0E-B863-B4E1FB503CF4}"/>
              </a:ext>
            </a:extLst>
          </p:cNvPr>
          <p:cNvSpPr txBox="1"/>
          <p:nvPr/>
        </p:nvSpPr>
        <p:spPr>
          <a:xfrm>
            <a:off x="107504" y="3112393"/>
            <a:ext cx="985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/>
              <a:t>A</a:t>
            </a:r>
            <a:r>
              <a:rPr lang="en-US" altLang="zh-CN" sz="1800" baseline="-25000" dirty="0"/>
              <a:t>31</a:t>
            </a:r>
            <a:r>
              <a:rPr lang="en-US" altLang="zh-CN" sz="1800" dirty="0"/>
              <a:t>…</a:t>
            </a:r>
            <a:r>
              <a:rPr lang="en-US" altLang="zh-CN" sz="1800" dirty="0">
                <a:solidFill>
                  <a:schemeClr val="tx1"/>
                </a:solidFill>
              </a:rPr>
              <a:t>A</a:t>
            </a:r>
            <a:r>
              <a:rPr lang="en-US" altLang="zh-CN" sz="1800" i="0" u="none" kern="1200" baseline="-25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</a:t>
            </a:r>
            <a:endParaRPr lang="zh-CN" altLang="en-US" dirty="0"/>
          </a:p>
        </p:txBody>
      </p:sp>
      <p:sp>
        <p:nvSpPr>
          <p:cNvPr id="43" name="箭头: 上下 42">
            <a:extLst>
              <a:ext uri="{FF2B5EF4-FFF2-40B4-BE49-F238E27FC236}">
                <a16:creationId xmlns:a16="http://schemas.microsoft.com/office/drawing/2014/main" id="{F87F32E7-6E94-42D4-B1AF-7295901B1CC6}"/>
              </a:ext>
            </a:extLst>
          </p:cNvPr>
          <p:cNvSpPr/>
          <p:nvPr/>
        </p:nvSpPr>
        <p:spPr>
          <a:xfrm>
            <a:off x="923974" y="6212328"/>
            <a:ext cx="168984" cy="426715"/>
          </a:xfrm>
          <a:prstGeom prst="up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2AE2147E-0A95-467F-9B43-1EEEC4F21DB8}"/>
              </a:ext>
            </a:extLst>
          </p:cNvPr>
          <p:cNvSpPr txBox="1"/>
          <p:nvPr/>
        </p:nvSpPr>
        <p:spPr>
          <a:xfrm>
            <a:off x="1023682" y="6189327"/>
            <a:ext cx="1172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/>
              <a:t>D</a:t>
            </a:r>
            <a:r>
              <a:rPr lang="en-US" altLang="zh-CN" sz="1800" baseline="-25000" dirty="0"/>
              <a:t>31</a:t>
            </a:r>
            <a:r>
              <a:rPr lang="en-US" altLang="zh-CN" sz="1800" dirty="0"/>
              <a:t>…D</a:t>
            </a:r>
            <a:r>
              <a:rPr lang="en-US" altLang="zh-CN" sz="1800" i="0" u="none" kern="1200" baseline="-25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24</a:t>
            </a:r>
            <a:endParaRPr lang="zh-CN" altLang="en-US" dirty="0"/>
          </a:p>
        </p:txBody>
      </p:sp>
      <p:sp>
        <p:nvSpPr>
          <p:cNvPr id="46" name="箭头: 上下 45">
            <a:extLst>
              <a:ext uri="{FF2B5EF4-FFF2-40B4-BE49-F238E27FC236}">
                <a16:creationId xmlns:a16="http://schemas.microsoft.com/office/drawing/2014/main" id="{4F62A2A5-2D51-4C05-B9D2-04C32A67B312}"/>
              </a:ext>
            </a:extLst>
          </p:cNvPr>
          <p:cNvSpPr/>
          <p:nvPr/>
        </p:nvSpPr>
        <p:spPr>
          <a:xfrm>
            <a:off x="3011516" y="6229997"/>
            <a:ext cx="168984" cy="426715"/>
          </a:xfrm>
          <a:prstGeom prst="up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CFA2B421-12DC-4B51-AC5E-A44C8BBB5719}"/>
              </a:ext>
            </a:extLst>
          </p:cNvPr>
          <p:cNvSpPr txBox="1"/>
          <p:nvPr/>
        </p:nvSpPr>
        <p:spPr>
          <a:xfrm>
            <a:off x="3111224" y="6206996"/>
            <a:ext cx="1172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/>
              <a:t>D</a:t>
            </a:r>
            <a:r>
              <a:rPr lang="en-US" altLang="zh-CN" baseline="-25000" dirty="0"/>
              <a:t>23</a:t>
            </a:r>
            <a:r>
              <a:rPr lang="en-US" altLang="zh-CN" sz="1800" dirty="0"/>
              <a:t>…D</a:t>
            </a:r>
            <a:r>
              <a:rPr lang="en-US" altLang="zh-CN" baseline="-25000" dirty="0">
                <a:latin typeface="+mn-lt"/>
                <a:ea typeface="+mn-ea"/>
                <a:cs typeface="+mn-cs"/>
              </a:rPr>
              <a:t>16</a:t>
            </a:r>
            <a:endParaRPr lang="zh-CN" altLang="en-US" dirty="0"/>
          </a:p>
        </p:txBody>
      </p:sp>
      <p:sp>
        <p:nvSpPr>
          <p:cNvPr id="48" name="箭头: 上下 47">
            <a:extLst>
              <a:ext uri="{FF2B5EF4-FFF2-40B4-BE49-F238E27FC236}">
                <a16:creationId xmlns:a16="http://schemas.microsoft.com/office/drawing/2014/main" id="{86627FDF-B8CD-40CC-863D-1F8D4DCD693E}"/>
              </a:ext>
            </a:extLst>
          </p:cNvPr>
          <p:cNvSpPr/>
          <p:nvPr/>
        </p:nvSpPr>
        <p:spPr>
          <a:xfrm>
            <a:off x="5243764" y="6212688"/>
            <a:ext cx="168984" cy="426715"/>
          </a:xfrm>
          <a:prstGeom prst="up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2F34B18B-6B16-4244-A895-0FFBACEC94EC}"/>
              </a:ext>
            </a:extLst>
          </p:cNvPr>
          <p:cNvSpPr txBox="1"/>
          <p:nvPr/>
        </p:nvSpPr>
        <p:spPr>
          <a:xfrm>
            <a:off x="5343472" y="6189687"/>
            <a:ext cx="1172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/>
              <a:t>D</a:t>
            </a:r>
            <a:r>
              <a:rPr lang="en-US" altLang="zh-CN" sz="1800" baseline="-25000" dirty="0"/>
              <a:t>15</a:t>
            </a:r>
            <a:r>
              <a:rPr lang="en-US" altLang="zh-CN" sz="1800" dirty="0"/>
              <a:t>…D</a:t>
            </a:r>
            <a:r>
              <a:rPr lang="en-US" altLang="zh-CN" sz="1800" baseline="-25000" dirty="0">
                <a:latin typeface="+mn-lt"/>
                <a:ea typeface="+mn-ea"/>
                <a:cs typeface="+mn-cs"/>
              </a:rPr>
              <a:t>8</a:t>
            </a:r>
            <a:endParaRPr lang="zh-CN" altLang="en-US" dirty="0"/>
          </a:p>
        </p:txBody>
      </p:sp>
      <p:sp>
        <p:nvSpPr>
          <p:cNvPr id="50" name="箭头: 上下 49">
            <a:extLst>
              <a:ext uri="{FF2B5EF4-FFF2-40B4-BE49-F238E27FC236}">
                <a16:creationId xmlns:a16="http://schemas.microsoft.com/office/drawing/2014/main" id="{3759A325-8458-4A5C-AD7B-99F430885143}"/>
              </a:ext>
            </a:extLst>
          </p:cNvPr>
          <p:cNvSpPr/>
          <p:nvPr/>
        </p:nvSpPr>
        <p:spPr>
          <a:xfrm>
            <a:off x="7476012" y="6235930"/>
            <a:ext cx="168984" cy="426715"/>
          </a:xfrm>
          <a:prstGeom prst="up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3C7D47E8-A813-4CD7-A624-A0FEEA42BEF7}"/>
              </a:ext>
            </a:extLst>
          </p:cNvPr>
          <p:cNvSpPr txBox="1"/>
          <p:nvPr/>
        </p:nvSpPr>
        <p:spPr>
          <a:xfrm>
            <a:off x="7575720" y="6212929"/>
            <a:ext cx="1172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/>
              <a:t>D</a:t>
            </a:r>
            <a:r>
              <a:rPr lang="en-US" altLang="zh-CN" baseline="-25000" dirty="0"/>
              <a:t>7</a:t>
            </a:r>
            <a:r>
              <a:rPr lang="en-US" altLang="zh-CN" sz="1800" dirty="0"/>
              <a:t>…D</a:t>
            </a:r>
            <a:r>
              <a:rPr lang="en-US" altLang="zh-CN" baseline="-25000" dirty="0">
                <a:latin typeface="+mn-lt"/>
                <a:ea typeface="+mn-ea"/>
                <a:cs typeface="+mn-cs"/>
              </a:rPr>
              <a:t>0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476" name="矩形 361475"/>
          <p:cNvSpPr/>
          <p:nvPr/>
        </p:nvSpPr>
        <p:spPr>
          <a:xfrm>
            <a:off x="242888" y="981075"/>
            <a:ext cx="8650287" cy="520382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lvl="0"/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6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80486 CPU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的工作模式</a:t>
            </a:r>
          </a:p>
          <a:p>
            <a:pPr lvl="0">
              <a:buClrTx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）实地址模式</a:t>
            </a:r>
          </a:p>
          <a:p>
            <a:pPr lvl="0">
              <a:buClrTx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实地址模式是最基本的工作方式，与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16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位微处理器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8086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的实地址模式保持兼容</a:t>
            </a:r>
          </a:p>
          <a:p>
            <a:pPr lvl="0">
              <a:buClrTx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）保护模式  </a:t>
            </a:r>
          </a:p>
          <a:p>
            <a:pPr lvl="0">
              <a:buClrTx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保护模式是在程序运行过程中，为了防止以下情况的发生而引入的。 </a:t>
            </a:r>
          </a:p>
          <a:p>
            <a:pPr lvl="0">
              <a:buClrTx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① 应用程序破坏系统程序； </a:t>
            </a:r>
          </a:p>
          <a:p>
            <a:pPr lvl="0">
              <a:buClrTx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② 某一应用程序破坏了其它应用程序； </a:t>
            </a:r>
          </a:p>
          <a:p>
            <a:pPr lvl="0">
              <a:buClrTx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③ 错误地把数据当作程序运行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0">
              <a:buClrTx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）虚拟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8086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模式 </a:t>
            </a:r>
          </a:p>
          <a:p>
            <a:pPr lvl="0">
              <a:buClrTx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虚拟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8086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模式是一种既有保护功能又能执行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16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位微处理器软件的工作方式，其工作原理与保护模式相同，但程序指定的逻辑地址与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8086 CPU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相同，可以看做是保护模式的一种子方式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5" name="标题 365569"/>
          <p:cNvSpPr>
            <a:spLocks noGrp="1"/>
          </p:cNvSpPr>
          <p:nvPr>
            <p:ph type="ctrTitle"/>
          </p:nvPr>
        </p:nvSpPr>
        <p:spPr>
          <a:xfrm>
            <a:off x="1837928" y="44450"/>
            <a:ext cx="5110336" cy="577850"/>
          </a:xfrm>
        </p:spPr>
        <p:txBody>
          <a:bodyPr vert="horz" wrap="square" lIns="91440" tIns="45720" rIns="91440" bIns="45720" anchor="ctr"/>
          <a:lstStyle/>
          <a:p>
            <a:pPr defTabSz="914400"/>
            <a:r>
              <a:rPr lang="en-US" altLang="zh-CN" sz="3200" b="1" kern="1200" baseline="0" dirty="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2.5 Intel</a:t>
            </a:r>
            <a:r>
              <a:rPr lang="zh-CN" altLang="en-US" sz="3200" b="1" kern="1200" baseline="0" dirty="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的其他微处理器 </a:t>
            </a:r>
            <a:endParaRPr lang="zh-CN" altLang="en-US" sz="4400" kern="1200" baseline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570" name="标题 365569"/>
          <p:cNvSpPr>
            <a:spLocks noGrp="1"/>
          </p:cNvSpPr>
          <p:nvPr>
            <p:ph type="ctrTitle"/>
          </p:nvPr>
        </p:nvSpPr>
        <p:spPr>
          <a:xfrm>
            <a:off x="2195513" y="80963"/>
            <a:ext cx="5110336" cy="577850"/>
          </a:xfrm>
        </p:spPr>
        <p:txBody>
          <a:bodyPr vert="horz" wrap="square" lIns="91440" tIns="45720" rIns="91440" bIns="45720" anchor="ctr"/>
          <a:lstStyle/>
          <a:p>
            <a:pPr defTabSz="914400"/>
            <a:r>
              <a:rPr lang="en-US" altLang="zh-CN" sz="3200" b="1" kern="1200" baseline="0" dirty="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2.5 Intel</a:t>
            </a:r>
            <a:r>
              <a:rPr lang="zh-CN" altLang="en-US" sz="3200" b="1" kern="1200" baseline="0" dirty="0">
                <a:solidFill>
                  <a:srgbClr val="FF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的其他微处理器 </a:t>
            </a:r>
            <a:endParaRPr lang="zh-CN" altLang="en-US" sz="4400" kern="1200" baseline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65576" name="矩形 365575"/>
          <p:cNvSpPr/>
          <p:nvPr/>
        </p:nvSpPr>
        <p:spPr>
          <a:xfrm>
            <a:off x="171452" y="1431157"/>
            <a:ext cx="8640762" cy="1015663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lvl="0"/>
            <a:r>
              <a:rPr lang="en-US" altLang="zh-CN" sz="2000" b="1" dirty="0">
                <a:latin typeface="Arial" panose="020B0604020202020204" pitchFamily="34" charset="0"/>
              </a:rPr>
              <a:t>1</a:t>
            </a:r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</a:rPr>
              <a:t>、超线程技术：</a:t>
            </a:r>
            <a:r>
              <a:rPr lang="zh-CN" altLang="en-US" sz="2000" b="1" dirty="0">
                <a:latin typeface="Arial" panose="020B0604020202020204" pitchFamily="34" charset="0"/>
              </a:rPr>
              <a:t>利用特殊硬件指令，把多线程处理器内部的两个逻辑内核模拟成两个物理芯片，从而使单个处理器能“享用”线程级的并行计算的处理器技术 。引入超线程技术的</a:t>
            </a:r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</a:rPr>
              <a:t>目的</a:t>
            </a:r>
            <a:r>
              <a:rPr lang="zh-CN" altLang="en-US" sz="2000" b="1" dirty="0">
                <a:latin typeface="Arial" panose="020B0604020202020204" pitchFamily="34" charset="0"/>
              </a:rPr>
              <a:t>是为了提高</a:t>
            </a:r>
            <a:r>
              <a:rPr lang="en-US" altLang="zh-CN" sz="2000" b="1" dirty="0">
                <a:latin typeface="Arial" panose="020B0604020202020204" pitchFamily="34" charset="0"/>
              </a:rPr>
              <a:t>CPU</a:t>
            </a:r>
            <a:r>
              <a:rPr lang="zh-CN" altLang="en-US" sz="2000" b="1" dirty="0">
                <a:latin typeface="Arial" panose="020B0604020202020204" pitchFamily="34" charset="0"/>
              </a:rPr>
              <a:t>的并行运算性能</a:t>
            </a:r>
            <a:r>
              <a:rPr lang="zh-CN" altLang="en-US" sz="2000" dirty="0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365578" name="矩形 365577"/>
          <p:cNvSpPr/>
          <p:nvPr/>
        </p:nvSpPr>
        <p:spPr>
          <a:xfrm>
            <a:off x="212025" y="2780928"/>
            <a:ext cx="8569325" cy="1015663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lvl="0"/>
            <a:r>
              <a:rPr lang="en-US" altLang="zh-CN" sz="2000" b="1" dirty="0">
                <a:latin typeface="Arial" panose="020B0604020202020204" pitchFamily="34" charset="0"/>
              </a:rPr>
              <a:t>2</a:t>
            </a:r>
            <a:r>
              <a:rPr lang="zh-CN" altLang="en-US" sz="2000" b="1" dirty="0">
                <a:latin typeface="Arial" panose="020B0604020202020204" pitchFamily="34" charset="0"/>
              </a:rPr>
              <a:t>、</a:t>
            </a:r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</a:rPr>
              <a:t>多核技术</a:t>
            </a:r>
            <a:r>
              <a:rPr lang="zh-CN" altLang="en-US" sz="2000" b="1" dirty="0">
                <a:latin typeface="Arial" panose="020B0604020202020204" pitchFamily="34" charset="0"/>
              </a:rPr>
              <a:t>即</a:t>
            </a:r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</a:rPr>
              <a:t>多核微处理器</a:t>
            </a:r>
            <a:r>
              <a:rPr lang="zh-CN" altLang="en-US" sz="2000" b="1" dirty="0">
                <a:latin typeface="Arial" panose="020B0604020202020204" pitchFamily="34" charset="0"/>
              </a:rPr>
              <a:t>：在一个处理器上集成两个或两个以上处理器核，并通过并行总线将各处理器核连接起来，从而提高计算能力。</a:t>
            </a:r>
            <a:r>
              <a:rPr lang="zh-CN" altLang="zh-CN" sz="2000" b="1" dirty="0">
                <a:latin typeface="Arial" panose="020B0604020202020204" pitchFamily="34" charset="0"/>
              </a:rPr>
              <a:t>目前的处理器都是多核处理器，不管通用的、专用的乃至异构微处理器</a:t>
            </a:r>
            <a:endParaRPr lang="zh-CN" altLang="en-US" sz="2000" b="1" dirty="0">
              <a:latin typeface="Arial" panose="020B0604020202020204" pitchFamily="34" charset="0"/>
            </a:endParaRPr>
          </a:p>
        </p:txBody>
      </p:sp>
      <p:sp>
        <p:nvSpPr>
          <p:cNvPr id="365580" name="矩形 365579"/>
          <p:cNvSpPr/>
          <p:nvPr/>
        </p:nvSpPr>
        <p:spPr>
          <a:xfrm>
            <a:off x="238409" y="4005064"/>
            <a:ext cx="8542941" cy="707886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pPr lvl="0"/>
            <a:r>
              <a:rPr lang="en-US" altLang="zh-CN" sz="2000" b="1" dirty="0">
                <a:latin typeface="Arial" panose="020B0604020202020204" pitchFamily="34" charset="0"/>
              </a:rPr>
              <a:t>3</a:t>
            </a:r>
            <a:r>
              <a:rPr lang="zh-CN" altLang="en-US" sz="2000" b="1" dirty="0">
                <a:latin typeface="Arial" panose="020B0604020202020204" pitchFamily="34" charset="0"/>
              </a:rPr>
              <a:t>、</a:t>
            </a:r>
            <a:r>
              <a:rPr lang="zh-CN" altLang="zh-CN" sz="2000" b="1" dirty="0">
                <a:solidFill>
                  <a:srgbClr val="0000FF"/>
                </a:solidFill>
                <a:latin typeface="Arial" panose="020B0604020202020204" pitchFamily="34" charset="0"/>
              </a:rPr>
              <a:t>流⽔线与超级流⽔线技术</a:t>
            </a:r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</a:rPr>
              <a:t>：</a:t>
            </a:r>
            <a:r>
              <a:rPr lang="zh-CN" altLang="zh-CN" sz="2000" dirty="0"/>
              <a:t> </a:t>
            </a:r>
            <a:r>
              <a:rPr lang="zh-CN" altLang="zh-CN" sz="2000" b="1" dirty="0">
                <a:latin typeface="Arial" panose="020B0604020202020204" pitchFamily="34" charset="0"/>
              </a:rPr>
              <a:t>⼀种将每条指令分解为多步，让各步操作重叠，从⽽实现⼏条指令并行处理的技术</a:t>
            </a:r>
            <a:endParaRPr lang="zh-CN" altLang="en-US" sz="2000" b="1" dirty="0">
              <a:latin typeface="Arial" panose="020B0604020202020204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42889" y="803603"/>
            <a:ext cx="2816944" cy="52322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pPr lvl="0"/>
            <a:r>
              <a:rPr lang="zh-CN" altLang="en-US" sz="2800" b="1" dirty="0">
                <a:solidFill>
                  <a:srgbClr val="0000CC"/>
                </a:solidFill>
                <a:latin typeface="Arial" panose="020B0604020202020204" pitchFamily="34" charset="0"/>
              </a:rPr>
              <a:t>二、 </a:t>
            </a:r>
            <a:r>
              <a:rPr lang="en-US" altLang="zh-CN" sz="2800" b="1" dirty="0">
                <a:solidFill>
                  <a:srgbClr val="0000CC"/>
                </a:solidFill>
              </a:rPr>
              <a:t>CPU</a:t>
            </a:r>
            <a:r>
              <a:rPr lang="zh-CN" altLang="zh-CN" sz="2800" b="1" dirty="0">
                <a:solidFill>
                  <a:srgbClr val="0000CC"/>
                </a:solidFill>
              </a:rPr>
              <a:t>新技术</a:t>
            </a:r>
            <a:endParaRPr lang="zh-CN" altLang="en-US" sz="2800" b="1" dirty="0">
              <a:solidFill>
                <a:srgbClr val="0000CC"/>
              </a:solidFill>
              <a:latin typeface="Arial" panose="020B0604020202020204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72721" y="4921423"/>
            <a:ext cx="8542941" cy="707886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spAutoFit/>
          </a:bodyPr>
          <a:lstStyle/>
          <a:p>
            <a:r>
              <a:rPr lang="en-US" altLang="zh-CN" sz="2000" b="1" dirty="0">
                <a:latin typeface="Arial" panose="020B0604020202020204" pitchFamily="34" charset="0"/>
              </a:rPr>
              <a:t>4</a:t>
            </a:r>
            <a:r>
              <a:rPr lang="zh-CN" altLang="en-US" sz="2000" b="1" dirty="0">
                <a:latin typeface="Arial" panose="020B0604020202020204" pitchFamily="34" charset="0"/>
              </a:rPr>
              <a:t>、</a:t>
            </a:r>
            <a:r>
              <a:rPr lang="zh-CN" altLang="zh-CN" sz="2000" b="1" dirty="0">
                <a:solidFill>
                  <a:srgbClr val="0000FF"/>
                </a:solidFill>
                <a:latin typeface="Arial" panose="020B0604020202020204" pitchFamily="34" charset="0"/>
              </a:rPr>
              <a:t>超标量技术</a:t>
            </a:r>
            <a:r>
              <a:rPr lang="zh-CN" altLang="en-US" sz="2000" b="1" dirty="0">
                <a:solidFill>
                  <a:srgbClr val="0000FF"/>
                </a:solidFill>
                <a:latin typeface="Arial" panose="020B0604020202020204" pitchFamily="34" charset="0"/>
              </a:rPr>
              <a:t>：</a:t>
            </a:r>
            <a:r>
              <a:rPr lang="zh-CN" altLang="zh-CN" sz="2000" b="1" dirty="0">
                <a:latin typeface="Arial" panose="020B0604020202020204" pitchFamily="34" charset="0"/>
              </a:rPr>
              <a:t>在</a:t>
            </a:r>
            <a:r>
              <a:rPr lang="en-US" altLang="zh-CN" sz="2000" b="1" dirty="0">
                <a:latin typeface="Arial" panose="020B0604020202020204" pitchFamily="34" charset="0"/>
              </a:rPr>
              <a:t>CPU</a:t>
            </a:r>
            <a:r>
              <a:rPr lang="zh-CN" altLang="zh-CN" sz="2000" b="1" dirty="0">
                <a:latin typeface="Arial" panose="020B0604020202020204" pitchFamily="34" charset="0"/>
              </a:rPr>
              <a:t>中有⼀条以上的流⽔线，并且在每个时钟周期内可以完成多条指令</a:t>
            </a:r>
            <a:endParaRPr lang="zh-CN" altLang="en-US" sz="20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2.7,&quot;left&quot;:90.05,&quot;top&quot;:340.45,&quot;width&quot;:564.1}"/>
</p:tagLst>
</file>

<file path=ppt/theme/theme1.xml><?xml version="1.0" encoding="utf-8"?>
<a:theme xmlns:a="http://schemas.openxmlformats.org/drawingml/2006/main" name="接口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99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89"/>
      </a:accent6>
      <a:hlink>
        <a:srgbClr val="FF6600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FF66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00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AAE2AA"/>
        </a:accent5>
        <a:accent6>
          <a:srgbClr val="2D2D89"/>
        </a:accent6>
        <a:hlink>
          <a:srgbClr val="FF66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89"/>
        </a:accent6>
        <a:hlink>
          <a:srgbClr val="FF66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接口</Template>
  <TotalTime>349</TotalTime>
  <Words>7942</Words>
  <Application>Microsoft Office PowerPoint</Application>
  <PresentationFormat>全屏显示(4:3)</PresentationFormat>
  <Paragraphs>914</Paragraphs>
  <Slides>87</Slides>
  <Notes>20</Notes>
  <HiddenSlides>24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87</vt:i4>
      </vt:variant>
    </vt:vector>
  </HeadingPairs>
  <TitlesOfParts>
    <vt:vector size="100" baseType="lpstr">
      <vt:lpstr>Monotype Sorts</vt:lpstr>
      <vt:lpstr>楷体_GB2312</vt:lpstr>
      <vt:lpstr>隶书</vt:lpstr>
      <vt:lpstr>宋体</vt:lpstr>
      <vt:lpstr>Arial</vt:lpstr>
      <vt:lpstr>Symbol</vt:lpstr>
      <vt:lpstr>Tahoma</vt:lpstr>
      <vt:lpstr>Times New Roman</vt:lpstr>
      <vt:lpstr>Wingdings</vt:lpstr>
      <vt:lpstr>Wingdings 3</vt:lpstr>
      <vt:lpstr>接口</vt:lpstr>
      <vt:lpstr>Equation.DSMT4</vt:lpstr>
      <vt:lpstr>Visio.Drawing.11</vt:lpstr>
      <vt:lpstr>PowerPoint 演示文稿</vt:lpstr>
      <vt:lpstr>2.1 8086微处理器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2.2 8086CPU存储器组织及I/O结构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2.5 Intel的其他微处理器 </vt:lpstr>
      <vt:lpstr>2.5 Intel的其他微处理器 </vt:lpstr>
      <vt:lpstr>2.5 Intel的其他微处理器 </vt:lpstr>
      <vt:lpstr>2.5 Intel的其他微处理器 </vt:lpstr>
      <vt:lpstr>2.5 Intel的其他微处理器 </vt:lpstr>
      <vt:lpstr>2.5 Intel的其他微处理器 </vt:lpstr>
      <vt:lpstr>2.5 Intel的其他微处理器 </vt:lpstr>
      <vt:lpstr>2.5 Intel的其他微处理器 </vt:lpstr>
      <vt:lpstr>2.5 Intel的其他微处理器 </vt:lpstr>
      <vt:lpstr>2.5 Intel的其他微处理器 </vt:lpstr>
      <vt:lpstr>2.5 Intel的其他微处理器 </vt:lpstr>
      <vt:lpstr>2.5 Intel的其他微处理器 </vt:lpstr>
      <vt:lpstr>2.5 Intel的其他微处理器 </vt:lpstr>
      <vt:lpstr>2.5 Intel的其他微处理器 </vt:lpstr>
      <vt:lpstr>PowerPoint 演示文稿</vt:lpstr>
      <vt:lpstr>2.5 Intel的其他微处理器 </vt:lpstr>
      <vt:lpstr>PowerPoint 演示文稿</vt:lpstr>
      <vt:lpstr>2.5 Intel的其他微处理器 </vt:lpstr>
      <vt:lpstr>2.5 Intel的其他微处理器 </vt:lpstr>
      <vt:lpstr>2.5 Intel的其他微处理器 </vt:lpstr>
      <vt:lpstr>2.5 Intel的其他微处理器 </vt:lpstr>
      <vt:lpstr>2.5 Intel的其他微处理器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Joy Liu</cp:lastModifiedBy>
  <cp:revision>930</cp:revision>
  <dcterms:created xsi:type="dcterms:W3CDTF">2017-03-15T06:55:00Z</dcterms:created>
  <dcterms:modified xsi:type="dcterms:W3CDTF">2025-02-25T01:47:01Z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2052-12.1.0.19302</vt:lpwstr>
  </property>
  <property fmtid="{D5CDD505-2E9C-101B-9397-08002B2CF9AE}" pid="3" name="ICV">
    <vt:lpwstr>1E7FCFA3F904478C86AAF49654C4A8BB_12</vt:lpwstr>
  </property>
</Properties>
</file>